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343" r:id="rId3"/>
    <p:sldId id="318" r:id="rId4"/>
    <p:sldId id="321" r:id="rId5"/>
    <p:sldId id="319" r:id="rId6"/>
    <p:sldId id="320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2" r:id="rId26"/>
    <p:sldId id="340" r:id="rId27"/>
    <p:sldId id="341" r:id="rId28"/>
    <p:sldId id="274" r:id="rId29"/>
  </p:sldIdLst>
  <p:sldSz cx="9144000" cy="6858000" type="screen4x3"/>
  <p:notesSz cx="6669088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34F"/>
    <a:srgbClr val="F4C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69120" autoAdjust="0"/>
  </p:normalViewPr>
  <p:slideViewPr>
    <p:cSldViewPr snapToGrid="0" snapToObjects="1">
      <p:cViewPr>
        <p:scale>
          <a:sx n="40" d="100"/>
          <a:sy n="40" d="100"/>
        </p:scale>
        <p:origin x="154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36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155" y="0"/>
            <a:ext cx="288936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249DF-1F06-4A5E-B425-1737E08538C0}" type="datetimeFigureOut">
              <a:rPr lang="en-GB" smtClean="0"/>
              <a:t>09/03/2018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88936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155" y="9377363"/>
            <a:ext cx="288936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170C8-BE22-4DF9-863E-89EC9B6678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233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1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1A69C-352B-43B9-AE28-0996A6EA73E5}" type="datetimeFigureOut">
              <a:rPr lang="en-GB" smtClean="0"/>
              <a:pPr/>
              <a:t>09/03/2018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689515"/>
            <a:ext cx="533527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377317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582B9D-753F-4FD4-BB27-488C70B508F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33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225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234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Point about ASC: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Growing research in area – ask EPs</a:t>
            </a:r>
            <a:r>
              <a:rPr lang="en-US" baseline="0" dirty="0" smtClean="0"/>
              <a:t> if they have seen a link?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aseline="0" dirty="0" smtClean="0"/>
              <a:t>Male brain ideas; fixed pathway/understanding; boundary between special interest and identity; are those with ASC acting out of a non-binary way from a younger age?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884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1.  Linking with CAMHS – very</a:t>
            </a:r>
            <a:r>
              <a:rPr lang="en-US" baseline="0" dirty="0" smtClean="0"/>
              <a:t> important</a:t>
            </a:r>
            <a:endParaRPr lang="en-US" dirty="0" smtClean="0"/>
          </a:p>
          <a:p>
            <a:pPr marL="228600" indent="-228600">
              <a:buAutoNum type="arabicPeriod" startAt="2"/>
            </a:pPr>
            <a:r>
              <a:rPr lang="en-US" baseline="0" dirty="0" smtClean="0"/>
              <a:t>Focus on gender roles in the family and getting to know you time.  Over time – useful as part of adolescent identity development and important factor before making decisions</a:t>
            </a:r>
          </a:p>
          <a:p>
            <a:pPr marL="0" indent="0">
              <a:buNone/>
            </a:pPr>
            <a:r>
              <a:rPr lang="en-US" baseline="0" dirty="0" smtClean="0"/>
              <a:t>6.  17+ new patients can be referred to adult services through GPs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3420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Assessment: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smtClean="0"/>
              <a:t>Refer back to the 4-6 sessions (</a:t>
            </a:r>
            <a:r>
              <a:rPr lang="en-US" baseline="0" dirty="0" smtClean="0"/>
              <a:t>Focus on gender roles in the family and getting to know you time.  Over time – useful as part of adolescent identity development and important factor before making decisions</a:t>
            </a:r>
            <a:r>
              <a:rPr lang="en-GB" baseline="0" dirty="0" smtClean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err="1" smtClean="0"/>
              <a:t>Approx</a:t>
            </a:r>
            <a:r>
              <a:rPr lang="en-US" baseline="0" dirty="0" smtClean="0"/>
              <a:t> one third go forward for clinical intervention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smtClean="0"/>
              <a:t>Encourage CYP to hold slightly any sense of certainty – much change happens for CYP naturally (identity)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aseline="0" dirty="0" smtClean="0"/>
              <a:t>Blockers: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smtClean="0"/>
              <a:t>Used when CYP are highly distressed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smtClean="0"/>
              <a:t>Halts puberty - reaching a neutral body state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smtClean="0"/>
              <a:t>Medically reversible (but not psychologically) – so still a period of exploration – can come off and readjust (puberty continues from where it left off)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smtClean="0"/>
              <a:t>Used for at least one year and until at least 16 years of age (can start on these when under 10 since 2010)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aseline="0" dirty="0" smtClean="0"/>
              <a:t>Cross-sex hormones: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smtClean="0"/>
              <a:t>Considered carefully over time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aseline="0" dirty="0" smtClean="0"/>
              <a:t>10% are from BME groups</a:t>
            </a:r>
            <a:endParaRPr lang="en-GB" baseline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770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may or may not be a diagnosis when referred to the service</a:t>
            </a:r>
          </a:p>
          <a:p>
            <a:endParaRPr lang="en-US" dirty="0" smtClean="0"/>
          </a:p>
          <a:p>
            <a:r>
              <a:rPr lang="en-US" dirty="0" smtClean="0"/>
              <a:t>Rarely diagnosed at a younger age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4925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502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Stonewall: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Inclusive curriculum guide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Posters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Anti-bullying week lesson plan (primary)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Anti-bullying week assembly (secondary)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‘Getting started’ document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Much more…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582B9D-753F-4FD4-BB27-488C70B508F1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521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Grey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6" name="Picture 15" descr="AfC_RGB-Colour_ForGreyBackground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16" y="5662725"/>
            <a:ext cx="2979704" cy="77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673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15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rait imag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262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(on grey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7532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(on grey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3396376" y="3460261"/>
            <a:ext cx="2434231" cy="0"/>
          </a:xfrm>
          <a:prstGeom prst="line">
            <a:avLst/>
          </a:prstGeom>
          <a:ln w="9525" cmpd="sng">
            <a:solidFill>
              <a:srgbClr val="F4C2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49683" y="2627088"/>
            <a:ext cx="5447880" cy="780685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 smtClean="0"/>
              <a:t>Thank you </a:t>
            </a:r>
            <a:endParaRPr lang="en-US" dirty="0"/>
          </a:p>
        </p:txBody>
      </p:sp>
      <p:pic>
        <p:nvPicPr>
          <p:cNvPr id="6" name="Picture 5" descr="AfC_RGB-Colour_ForGreyBackground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16" y="5662725"/>
            <a:ext cx="2979704" cy="772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/>
          <p:cNvSpPr>
            <a:spLocks noGrp="1"/>
          </p:cNvSpPr>
          <p:nvPr>
            <p:ph type="body" idx="10"/>
          </p:nvPr>
        </p:nvSpPr>
        <p:spPr>
          <a:xfrm>
            <a:off x="3579959" y="459738"/>
            <a:ext cx="4993429" cy="51911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3000" b="1" baseline="0">
                <a:solidFill>
                  <a:srgbClr val="47434F"/>
                </a:solidFill>
                <a:latin typeface="+mj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654175" y="1789113"/>
            <a:ext cx="6121400" cy="4144135"/>
          </a:xfrm>
        </p:spPr>
        <p:txBody>
          <a:bodyPr>
            <a:normAutofit/>
          </a:bodyPr>
          <a:lstStyle>
            <a:lvl1pPr marL="257175" indent="-257175">
              <a:lnSpc>
                <a:spcPct val="120000"/>
              </a:lnSpc>
              <a:defRPr sz="1400" baseline="0">
                <a:solidFill>
                  <a:srgbClr val="47434F"/>
                </a:solidFill>
                <a:latin typeface="+mn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99411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A823C-80D3-9242-A3DC-1A2C6C879196}" type="datetimeFigureOut">
              <a:rPr lang="en-US" smtClean="0"/>
              <a:pPr/>
              <a:t>3/9/2018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3231D-557D-0245-BFA8-91B4157E4F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53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5" r:id="rId3"/>
    <p:sldLayoutId id="2147483661" r:id="rId4"/>
    <p:sldLayoutId id="2147483667" r:id="rId5"/>
    <p:sldLayoutId id="2147483668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nWu44AqF0iI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gids.nhs.uk/guidance-school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stonewall.org.uk/our-work/education-resources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940053" y="3847549"/>
            <a:ext cx="5280144" cy="0"/>
          </a:xfrm>
          <a:prstGeom prst="line">
            <a:avLst/>
          </a:prstGeom>
          <a:ln w="9525" cmpd="sng">
            <a:solidFill>
              <a:srgbClr val="F4C2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741715" y="2765182"/>
            <a:ext cx="5704114" cy="11398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An introduction to working with gender diverse young people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1939925" y="3999305"/>
            <a:ext cx="5280025" cy="695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solidFill>
                  <a:schemeClr val="bg1"/>
                </a:solidFill>
              </a:rPr>
              <a:t>Sophie and Adam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62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5999" y="3105835"/>
            <a:ext cx="54733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smtClean="0">
                <a:hlinkClick r:id="rId2"/>
              </a:rPr>
              <a:t>www.youtube.com/watch?v=nWu44AqF0iI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5" name="Text Placeholder 1"/>
          <p:cNvSpPr>
            <a:spLocks noGrp="1"/>
          </p:cNvSpPr>
          <p:nvPr>
            <p:ph type="body" idx="10"/>
          </p:nvPr>
        </p:nvSpPr>
        <p:spPr>
          <a:xfrm>
            <a:off x="1994263" y="459738"/>
            <a:ext cx="6579125" cy="519113"/>
          </a:xfrm>
        </p:spPr>
        <p:txBody>
          <a:bodyPr/>
          <a:lstStyle/>
          <a:p>
            <a:r>
              <a:rPr lang="en-US" dirty="0" smtClean="0"/>
              <a:t>Girl toys vs boy toys: The experiment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455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182881" y="2802343"/>
            <a:ext cx="8390508" cy="519113"/>
          </a:xfrm>
        </p:spPr>
        <p:txBody>
          <a:bodyPr/>
          <a:lstStyle/>
          <a:p>
            <a:pPr algn="ctr"/>
            <a:r>
              <a:rPr lang="en-US" dirty="0" smtClean="0"/>
              <a:t>Who has had experience of working with CYP where gender identity is a factor?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70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Key words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Gender diversity/nonconformity</a:t>
            </a:r>
          </a:p>
          <a:p>
            <a:r>
              <a:rPr lang="en-US" dirty="0" smtClean="0"/>
              <a:t>The extent to which a person’s gender identity, role or expression differs from the cultural norms prescribed for people of a particular sex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Gender dysphoria</a:t>
            </a:r>
          </a:p>
          <a:p>
            <a:r>
              <a:rPr lang="en-US" dirty="0" smtClean="0"/>
              <a:t>The marked incongruence between one’s experienced/expressed gender and birth-assigned gender (based on physiological sex characteristics).</a:t>
            </a:r>
          </a:p>
          <a:p>
            <a:r>
              <a:rPr lang="en-US" dirty="0" smtClean="0"/>
              <a:t>Of at least 6 months duration and associated with clinically significant distress or impairment in social, occupational or other important areas of functioning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Social transition</a:t>
            </a:r>
          </a:p>
          <a:p>
            <a:r>
              <a:rPr lang="en-US" dirty="0" smtClean="0"/>
              <a:t>Identifying as a new gender (i.e. no medical intervention)</a:t>
            </a:r>
          </a:p>
        </p:txBody>
      </p:sp>
    </p:spTree>
    <p:extLst>
      <p:ext uri="{BB962C8B-B14F-4D97-AF65-F5344CB8AC3E}">
        <p14:creationId xmlns:p14="http://schemas.microsoft.com/office/powerpoint/2010/main" val="159750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GIDS</a:t>
            </a:r>
          </a:p>
          <a:p>
            <a:r>
              <a:rPr lang="en-US" sz="1800" dirty="0" smtClean="0"/>
              <a:t>Gender Identity Development Service</a:t>
            </a:r>
            <a:endParaRPr lang="en-GB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654175" y="2224545"/>
            <a:ext cx="6121400" cy="16507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Established in 1989</a:t>
            </a:r>
          </a:p>
          <a:p>
            <a:r>
              <a:rPr lang="en-US" sz="2000" dirty="0" smtClean="0"/>
              <a:t>Main bases in London (</a:t>
            </a:r>
            <a:r>
              <a:rPr lang="en-US" sz="2000" dirty="0" err="1" smtClean="0"/>
              <a:t>Tavistock</a:t>
            </a:r>
            <a:r>
              <a:rPr lang="en-US" sz="2000" dirty="0" smtClean="0"/>
              <a:t>) and Leeds</a:t>
            </a:r>
          </a:p>
          <a:p>
            <a:r>
              <a:rPr lang="en-US" sz="2000" dirty="0" smtClean="0"/>
              <a:t>CYP up until the age of 18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5049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emographics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Many more older teenagers than primary school children.  Of the younger children they do see, many have socially transitioned before going to the service.</a:t>
            </a:r>
          </a:p>
          <a:p>
            <a:r>
              <a:rPr lang="en-US" dirty="0" smtClean="0"/>
              <a:t>Currently seeing more people assigned female at birth (though not for the youngest children)</a:t>
            </a:r>
          </a:p>
          <a:p>
            <a:r>
              <a:rPr lang="en-US" dirty="0" smtClean="0"/>
              <a:t>CYP with a diagnosis of ASC are over-represented, particularly in birth assigned females</a:t>
            </a:r>
          </a:p>
          <a:p>
            <a:r>
              <a:rPr lang="en-US" dirty="0" smtClean="0"/>
              <a:t>Disproportionately high number of CLA</a:t>
            </a:r>
          </a:p>
          <a:p>
            <a:r>
              <a:rPr lang="en-US" dirty="0" smtClean="0"/>
              <a:t>Increasing numbers presenting in mid-teens with no history of gender dysphoria</a:t>
            </a:r>
          </a:p>
          <a:p>
            <a:r>
              <a:rPr lang="en-US" dirty="0" smtClean="0"/>
              <a:t>Range of different identities, e.g. non-binary</a:t>
            </a:r>
          </a:p>
          <a:p>
            <a:r>
              <a:rPr lang="en-US" dirty="0" smtClean="0"/>
              <a:t>Not everyone will continue to identify as trans or non-binary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090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34"/>
            <a:ext cx="9144000" cy="683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63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300"/>
            <a:ext cx="9144000" cy="61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98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GIDS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Multi-disciplinary team: families often seen by a pair of workers</a:t>
            </a:r>
          </a:p>
          <a:p>
            <a:r>
              <a:rPr lang="en-US" dirty="0" smtClean="0"/>
              <a:t>Holistic, psychosocial assessment typically consisting of 4-6 appointments over 6 month period</a:t>
            </a:r>
          </a:p>
          <a:p>
            <a:r>
              <a:rPr lang="en-US" dirty="0" smtClean="0"/>
              <a:t>Ongoing psychological input</a:t>
            </a:r>
          </a:p>
          <a:p>
            <a:r>
              <a:rPr lang="en-US" dirty="0" smtClean="0"/>
              <a:t>Groups and family days</a:t>
            </a:r>
          </a:p>
          <a:p>
            <a:r>
              <a:rPr lang="en-US" dirty="0" smtClean="0"/>
              <a:t>Staged approach to physical intervention</a:t>
            </a:r>
          </a:p>
          <a:p>
            <a:r>
              <a:rPr lang="en-US" dirty="0" smtClean="0"/>
              <a:t>Transitions to adult services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50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Aims of the GIDS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Encouraging parents and YP where possible to hold lightly any sense of certainty when it comes to longer term outcomes</a:t>
            </a:r>
          </a:p>
          <a:p>
            <a:r>
              <a:rPr lang="en-US" dirty="0" smtClean="0"/>
              <a:t>Helping parents/YP have the space to make informed choices</a:t>
            </a:r>
          </a:p>
          <a:p>
            <a:r>
              <a:rPr lang="en-US" dirty="0" smtClean="0"/>
              <a:t>Encouraging YP to try out and experiment with a range of identities</a:t>
            </a:r>
          </a:p>
          <a:p>
            <a:r>
              <a:rPr lang="en-US" dirty="0" smtClean="0"/>
              <a:t>Be mindful of the urge to ask why, but instead ask how are YP living their gender and what do they need to do this well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755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2647407" y="459738"/>
            <a:ext cx="5925982" cy="519113"/>
          </a:xfrm>
        </p:spPr>
        <p:txBody>
          <a:bodyPr/>
          <a:lstStyle/>
          <a:p>
            <a:r>
              <a:rPr lang="en-US" dirty="0" smtClean="0"/>
              <a:t>Common topics during assessment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Past and current gender feelings and changes over time;</a:t>
            </a:r>
          </a:p>
          <a:p>
            <a:r>
              <a:rPr lang="en-US" dirty="0" smtClean="0"/>
              <a:t>Exploration of gender identity feelings – Adolescents are increasingly seeking to be another, not necessarily ‘the opposite’, gender;</a:t>
            </a:r>
          </a:p>
          <a:p>
            <a:r>
              <a:rPr lang="en-US" dirty="0" smtClean="0"/>
              <a:t>What transition the YP has made/is considering;</a:t>
            </a:r>
          </a:p>
          <a:p>
            <a:r>
              <a:rPr lang="en-US" dirty="0" smtClean="0"/>
              <a:t>The nature and intensity of any distress;</a:t>
            </a:r>
          </a:p>
          <a:p>
            <a:r>
              <a:rPr lang="en-US" dirty="0" smtClean="0"/>
              <a:t>Experiences of puberty or anticipated ideas about pubertal development;</a:t>
            </a:r>
          </a:p>
          <a:p>
            <a:r>
              <a:rPr lang="en-US" dirty="0" smtClean="0"/>
              <a:t>Parents’ or </a:t>
            </a:r>
            <a:r>
              <a:rPr lang="en-US" dirty="0" err="1" smtClean="0"/>
              <a:t>carers’</a:t>
            </a:r>
            <a:r>
              <a:rPr lang="en-US" dirty="0" smtClean="0"/>
              <a:t> stance towards the child’s gender, point at which they knew about gender feelings;</a:t>
            </a:r>
          </a:p>
          <a:p>
            <a:r>
              <a:rPr lang="en-US" dirty="0" smtClean="0"/>
              <a:t>Associated difficulties and ability to give informed consent;</a:t>
            </a:r>
          </a:p>
          <a:p>
            <a:r>
              <a:rPr lang="en-US" dirty="0" smtClean="0"/>
              <a:t>Relationships in the family and wider context;</a:t>
            </a:r>
          </a:p>
          <a:p>
            <a:r>
              <a:rPr lang="en-US" dirty="0" smtClean="0"/>
              <a:t>Significant life events for the whole family;</a:t>
            </a:r>
          </a:p>
          <a:p>
            <a:r>
              <a:rPr lang="en-US" dirty="0" smtClean="0"/>
              <a:t>Relevant parental or family spiritual, religious and cultural beliefs.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284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"/>
            <a:ext cx="9144000" cy="685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29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1985555" y="459738"/>
            <a:ext cx="6587834" cy="519113"/>
          </a:xfrm>
        </p:spPr>
        <p:txBody>
          <a:bodyPr/>
          <a:lstStyle/>
          <a:p>
            <a:r>
              <a:rPr lang="en-US" dirty="0" smtClean="0"/>
              <a:t>Buying time or arresting development?</a:t>
            </a:r>
          </a:p>
          <a:p>
            <a:r>
              <a:rPr lang="en-US" sz="2000" dirty="0" smtClean="0"/>
              <a:t>(</a:t>
            </a:r>
            <a:r>
              <a:rPr lang="en-US" sz="2000" dirty="0" err="1" smtClean="0"/>
              <a:t>Giovanardi</a:t>
            </a:r>
            <a:r>
              <a:rPr lang="en-US" sz="2000" dirty="0" smtClean="0"/>
              <a:t>, 2017)</a:t>
            </a:r>
            <a:endParaRPr lang="en-GB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Many professionals are critical of early pubertal suppression.  They argue:</a:t>
            </a:r>
          </a:p>
          <a:p>
            <a:r>
              <a:rPr lang="en-US" dirty="0" smtClean="0"/>
              <a:t>YP is not sufficiently mature or authentically free to make such a decision;</a:t>
            </a:r>
          </a:p>
          <a:p>
            <a:r>
              <a:rPr lang="en-US" dirty="0" smtClean="0"/>
              <a:t>Impossible to make a GD diagnosis with any certainty in adolescence because gender identity is still fluctuating;</a:t>
            </a:r>
          </a:p>
          <a:p>
            <a:r>
              <a:rPr lang="en-US" dirty="0" smtClean="0"/>
              <a:t>Puberty suppression may inhibit a ‘spontaneous formation’ of a consistent gender identity, which sometimes develops through a crisis of gender;</a:t>
            </a:r>
          </a:p>
          <a:p>
            <a:r>
              <a:rPr lang="en-US" dirty="0" smtClean="0"/>
              <a:t>Considering the high proportion of </a:t>
            </a:r>
            <a:r>
              <a:rPr lang="en-US" dirty="0" err="1" smtClean="0"/>
              <a:t>desisters</a:t>
            </a:r>
            <a:r>
              <a:rPr lang="en-US" dirty="0" smtClean="0"/>
              <a:t>, early physical treatment may be premature and inappropriate;</a:t>
            </a:r>
          </a:p>
          <a:p>
            <a:r>
              <a:rPr lang="en-US" dirty="0" smtClean="0"/>
              <a:t>Research about the effects of early intervention on the development of bone mass and growth and on brain development is still limited – can’t know long term effects;</a:t>
            </a:r>
          </a:p>
          <a:p>
            <a:r>
              <a:rPr lang="en-US" dirty="0" smtClean="0"/>
              <a:t>Impact on sexuality not studied – blocking of hormones may prevent age-appropriate socio-sexual experiences;</a:t>
            </a:r>
          </a:p>
          <a:p>
            <a:r>
              <a:rPr lang="en-US" dirty="0" smtClean="0"/>
              <a:t>May limit exploration of sexual orientation.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742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2342607" y="459738"/>
            <a:ext cx="6230782" cy="519113"/>
          </a:xfrm>
        </p:spPr>
        <p:txBody>
          <a:bodyPr/>
          <a:lstStyle/>
          <a:p>
            <a:r>
              <a:rPr lang="en-US" dirty="0" smtClean="0"/>
              <a:t>Discussion: Have you asked yourself?</a:t>
            </a:r>
          </a:p>
          <a:p>
            <a:r>
              <a:rPr lang="en-US" sz="1800" dirty="0" smtClean="0"/>
              <a:t>(sharing only what you are comfortable with)</a:t>
            </a:r>
            <a:endParaRPr lang="en-GB" sz="1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How do you identify currently in terms of your sexuality and gender identity?</a:t>
            </a:r>
          </a:p>
          <a:p>
            <a:r>
              <a:rPr lang="en-US" dirty="0" smtClean="0"/>
              <a:t>At what point did you </a:t>
            </a:r>
            <a:r>
              <a:rPr lang="en-US" dirty="0" err="1" smtClean="0"/>
              <a:t>realise</a:t>
            </a:r>
            <a:r>
              <a:rPr lang="en-US" dirty="0" smtClean="0"/>
              <a:t> that you were male, female, gender fluid, queer, straight, gay, lesbian, bisexual, etc.?  And how did your parents react?</a:t>
            </a:r>
          </a:p>
          <a:p>
            <a:r>
              <a:rPr lang="en-US" dirty="0" smtClean="0"/>
              <a:t>What factors might have contributed to the development of your sexuality and gender identity?  What has constrained or facilitated exploration of these over time?</a:t>
            </a:r>
          </a:p>
          <a:p>
            <a:r>
              <a:rPr lang="en-US" dirty="0" smtClean="0"/>
              <a:t>Do you think it will change in the future?  How do you know?</a:t>
            </a:r>
          </a:p>
          <a:p>
            <a:r>
              <a:rPr lang="en-US" dirty="0" smtClean="0"/>
              <a:t>When are you at your most masculine/feminine/gender neutral?  To what extent does your gender expression vary across contexts?  Has this got anything to do with your sexuality and if so, what?</a:t>
            </a:r>
          </a:p>
          <a:p>
            <a:r>
              <a:rPr lang="en-US" dirty="0" smtClean="0"/>
              <a:t>How has your experience of gender and sexuality impacted your life choices and how do you understand others’ identities?</a:t>
            </a:r>
          </a:p>
        </p:txBody>
      </p:sp>
    </p:spTree>
    <p:extLst>
      <p:ext uri="{BB962C8B-B14F-4D97-AF65-F5344CB8AC3E}">
        <p14:creationId xmlns:p14="http://schemas.microsoft.com/office/powerpoint/2010/main" val="69856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Gender Dysphoria</a:t>
            </a:r>
            <a:endParaRPr lang="en-GB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654175" y="1789113"/>
            <a:ext cx="6121400" cy="414413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Gender diversity/nonconformity</a:t>
            </a:r>
          </a:p>
          <a:p>
            <a:r>
              <a:rPr lang="en-US" dirty="0" smtClean="0"/>
              <a:t>The extent to which a person’s gender identity, role or expression differs from the cultural norms prescribed for people of a particular sex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Gender dysphoria</a:t>
            </a:r>
          </a:p>
          <a:p>
            <a:r>
              <a:rPr lang="en-US" dirty="0" smtClean="0"/>
              <a:t>The </a:t>
            </a:r>
            <a:r>
              <a:rPr lang="en-US" b="1" dirty="0" smtClean="0"/>
              <a:t>marked incongruence between one’s experienced/expressed gender and birth-assigned gender (based on physiological sex characteristics).</a:t>
            </a:r>
          </a:p>
          <a:p>
            <a:r>
              <a:rPr lang="en-US" dirty="0" smtClean="0"/>
              <a:t>Of at least 6 months duration and associated with </a:t>
            </a:r>
            <a:r>
              <a:rPr lang="en-US" b="1" dirty="0" smtClean="0"/>
              <a:t>clinically significant distress </a:t>
            </a:r>
            <a:r>
              <a:rPr lang="en-US" dirty="0" smtClean="0"/>
              <a:t>or impairment in social, occupational or other important areas of functioning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Only </a:t>
            </a:r>
            <a:r>
              <a:rPr lang="en-US" b="1" dirty="0" smtClean="0"/>
              <a:t>some</a:t>
            </a:r>
            <a:r>
              <a:rPr lang="en-US" dirty="0" smtClean="0"/>
              <a:t> gender diverse people experience gender dysphoria at </a:t>
            </a:r>
            <a:r>
              <a:rPr lang="en-US" b="1" dirty="0" smtClean="0"/>
              <a:t>some</a:t>
            </a:r>
            <a:r>
              <a:rPr lang="en-US" dirty="0" smtClean="0"/>
              <a:t> point in their lives.</a:t>
            </a:r>
          </a:p>
        </p:txBody>
      </p:sp>
    </p:spTree>
    <p:extLst>
      <p:ext uri="{BB962C8B-B14F-4D97-AF65-F5344CB8AC3E}">
        <p14:creationId xmlns:p14="http://schemas.microsoft.com/office/powerpoint/2010/main" val="288773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Gender Dysphoria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 smtClean="0"/>
              <a:t>In children</a:t>
            </a:r>
            <a:r>
              <a:rPr lang="en-US" dirty="0" smtClean="0"/>
              <a:t> – strong desire to be of the other gender/insistence that he/she is the other gender.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smtClean="0"/>
              <a:t>Plus, at least 5 from:</a:t>
            </a:r>
          </a:p>
          <a:p>
            <a:pPr lvl="2"/>
            <a:r>
              <a:rPr lang="en-US" sz="1400" dirty="0" smtClean="0"/>
              <a:t>(Strong) Preference for cross-dressing;</a:t>
            </a:r>
          </a:p>
          <a:p>
            <a:pPr lvl="2"/>
            <a:r>
              <a:rPr lang="en-US" sz="1400" dirty="0" smtClean="0"/>
              <a:t>Cross-gender roles in make-believe play;</a:t>
            </a:r>
          </a:p>
          <a:p>
            <a:pPr lvl="2"/>
            <a:r>
              <a:rPr lang="en-US" sz="1400" dirty="0" smtClean="0"/>
              <a:t>Toys/games of the other gender;</a:t>
            </a:r>
          </a:p>
          <a:p>
            <a:pPr lvl="2"/>
            <a:r>
              <a:rPr lang="en-US" sz="1400" dirty="0" smtClean="0"/>
              <a:t>Playmates of the other gender;</a:t>
            </a:r>
          </a:p>
          <a:p>
            <a:pPr lvl="2"/>
            <a:r>
              <a:rPr lang="en-US" sz="1400" dirty="0" smtClean="0"/>
              <a:t>Rejection of gender-typical play;</a:t>
            </a:r>
          </a:p>
          <a:p>
            <a:pPr lvl="2"/>
            <a:r>
              <a:rPr lang="en-US" sz="1400" dirty="0" smtClean="0"/>
              <a:t>Dislike of sexual anatomy;</a:t>
            </a:r>
          </a:p>
          <a:p>
            <a:pPr lvl="2"/>
            <a:r>
              <a:rPr lang="en-US" sz="1400" dirty="0" smtClean="0"/>
              <a:t>Desire for primary and/or secondary sex characteristics that match one’s experienced gender.</a:t>
            </a:r>
          </a:p>
        </p:txBody>
      </p:sp>
    </p:spTree>
    <p:extLst>
      <p:ext uri="{BB962C8B-B14F-4D97-AF65-F5344CB8AC3E}">
        <p14:creationId xmlns:p14="http://schemas.microsoft.com/office/powerpoint/2010/main" val="127274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Gender Dysphoria</a:t>
            </a:r>
            <a:endParaRPr lang="en-GB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1654175" y="1789113"/>
            <a:ext cx="6121400" cy="4144135"/>
          </a:xfrm>
        </p:spPr>
        <p:txBody>
          <a:bodyPr/>
          <a:lstStyle/>
          <a:p>
            <a:r>
              <a:rPr lang="en-US" b="1" dirty="0" smtClean="0"/>
              <a:t>In adolescents/adults</a:t>
            </a:r>
            <a:r>
              <a:rPr lang="en-US" dirty="0" smtClean="0"/>
              <a:t> – </a:t>
            </a:r>
            <a:r>
              <a:rPr lang="en-US" b="1" dirty="0" smtClean="0"/>
              <a:t>at least 2 from: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 smtClean="0"/>
              <a:t>Marked incongruence between experienced/expressed gender and primary and/or secondary sex characteristics (actual/anticipated);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 smtClean="0"/>
              <a:t>(Strong) Desire to be rid of these (or prevent development);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 smtClean="0"/>
              <a:t>Desire for the primary and/or secondary sex characteristics of the other gender;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 smtClean="0"/>
              <a:t>Desire to be of the/an other gender;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 smtClean="0"/>
              <a:t>Desire to be treated as the/an other gender;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 smtClean="0"/>
              <a:t>Conviction that one has the typical feelings of the/an other gender.</a:t>
            </a:r>
          </a:p>
          <a:p>
            <a:pPr marL="0" indent="0">
              <a:buNone/>
            </a:pPr>
            <a:r>
              <a:rPr lang="en-US" b="1" dirty="0"/>
              <a:t>	</a:t>
            </a: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19577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Social sources of distress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Lack of support or acceptance</a:t>
            </a:r>
          </a:p>
          <a:p>
            <a:r>
              <a:rPr lang="en-US" dirty="0" smtClean="0"/>
              <a:t>Being </a:t>
            </a:r>
            <a:r>
              <a:rPr lang="en-US" dirty="0" err="1" smtClean="0"/>
              <a:t>misgendered</a:t>
            </a:r>
            <a:endParaRPr lang="en-US" dirty="0" smtClean="0"/>
          </a:p>
          <a:p>
            <a:r>
              <a:rPr lang="en-US" dirty="0" smtClean="0"/>
              <a:t>Bullying; homophobic and transphobic comments</a:t>
            </a:r>
          </a:p>
          <a:p>
            <a:r>
              <a:rPr lang="en-US" dirty="0" smtClean="0"/>
              <a:t>Increasing gender differentiation (e.g. among friendship groups)</a:t>
            </a:r>
          </a:p>
          <a:p>
            <a:r>
              <a:rPr lang="en-US" dirty="0" smtClean="0"/>
              <a:t>Worries about passing, or about others finding out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YP with GD are more likely to be at risk of prejudice, stigma, transphobia, individual, institutional, and societal discrimination and violence (Hendricks &amp; </a:t>
            </a:r>
            <a:r>
              <a:rPr lang="en-US" dirty="0" err="1" smtClean="0"/>
              <a:t>Testa</a:t>
            </a:r>
            <a:r>
              <a:rPr lang="en-US" dirty="0" smtClean="0"/>
              <a:t>, 2012)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229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7"/>
            <a:ext cx="9144000" cy="684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6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"/>
            <a:ext cx="9144000" cy="685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2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" y="0"/>
            <a:ext cx="9129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20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" y="0"/>
            <a:ext cx="91411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32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5"/>
            <a:ext cx="9144000" cy="685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0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smtClean="0"/>
              <a:t>How to help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Psycho-education – what we know about development, education, social areas;</a:t>
            </a:r>
          </a:p>
          <a:p>
            <a:r>
              <a:rPr lang="en-US" dirty="0" smtClean="0"/>
              <a:t>Watchful waiting;</a:t>
            </a:r>
          </a:p>
          <a:p>
            <a:r>
              <a:rPr lang="en-US" dirty="0" smtClean="0"/>
              <a:t>Explore ideas about sexuality and families;</a:t>
            </a:r>
          </a:p>
          <a:p>
            <a:r>
              <a:rPr lang="en-US" dirty="0" smtClean="0"/>
              <a:t>Listening to the narrative of the CYP;</a:t>
            </a:r>
          </a:p>
          <a:p>
            <a:r>
              <a:rPr lang="en-US" dirty="0" smtClean="0"/>
              <a:t>Take a position of curiosity – what happened before/after?  Wider context?</a:t>
            </a:r>
          </a:p>
          <a:p>
            <a:r>
              <a:rPr lang="en-US" dirty="0" smtClean="0"/>
              <a:t>Tolerating and understanding loss – processing grief;</a:t>
            </a:r>
          </a:p>
          <a:p>
            <a:r>
              <a:rPr lang="en-US" dirty="0" smtClean="0"/>
              <a:t>Making sense of who they are and where they’re at.</a:t>
            </a:r>
          </a:p>
        </p:txBody>
      </p:sp>
    </p:spTree>
    <p:extLst>
      <p:ext uri="{BB962C8B-B14F-4D97-AF65-F5344CB8AC3E}">
        <p14:creationId xmlns:p14="http://schemas.microsoft.com/office/powerpoint/2010/main" val="227819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819341" y="2619464"/>
            <a:ext cx="7976316" cy="3467828"/>
          </a:xfrm>
        </p:spPr>
        <p:txBody>
          <a:bodyPr/>
          <a:lstStyle/>
          <a:p>
            <a:pPr algn="ctr"/>
            <a:r>
              <a:rPr lang="en-US" i="1" dirty="0" smtClean="0"/>
              <a:t>“If we weren’t so binary, there’d be nothing to transition to”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19535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3074127" y="459738"/>
            <a:ext cx="5499262" cy="519113"/>
          </a:xfrm>
        </p:spPr>
        <p:txBody>
          <a:bodyPr/>
          <a:lstStyle/>
          <a:p>
            <a:r>
              <a:rPr lang="en-US" dirty="0" smtClean="0"/>
              <a:t>Resources / Further information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BPS guidelines: ‘Guidelines and literature review for psychologists working therapeutically with sexual and gender minority clients’</a:t>
            </a:r>
          </a:p>
          <a:p>
            <a:r>
              <a:rPr lang="en-US" dirty="0" smtClean="0"/>
              <a:t>Brighton &amp; Hove Trans* Inclusion </a:t>
            </a:r>
            <a:r>
              <a:rPr lang="en-US" dirty="0"/>
              <a:t>Schools Toolkit: </a:t>
            </a: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gids.nhs.uk/guidance-schools</a:t>
            </a:r>
            <a:endParaRPr lang="en-US" dirty="0" smtClean="0"/>
          </a:p>
          <a:p>
            <a:r>
              <a:rPr lang="en-US" dirty="0"/>
              <a:t>Stonewall resources: </a:t>
            </a:r>
            <a:r>
              <a:rPr lang="en-US" dirty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www.stonewall.org.uk/our-work/education-resources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773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7"/>
            <a:ext cx="9144000" cy="68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24989" y="2627088"/>
            <a:ext cx="5447880" cy="78068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latin typeface="+mj-lt"/>
              </a:rPr>
              <a:t>Questions?</a:t>
            </a:r>
          </a:p>
          <a:p>
            <a:r>
              <a:rPr lang="en-US" sz="1200" dirty="0" smtClean="0"/>
              <a:t>(N.B. don’t ask any as we won’t know the answers)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92891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Master_presentation</Template>
  <TotalTime>608</TotalTime>
  <Words>1472</Words>
  <Application>Microsoft Office PowerPoint</Application>
  <PresentationFormat>On-screen Show (4:3)</PresentationFormat>
  <Paragraphs>159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ICT Shared Service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Rossello</dc:creator>
  <cp:lastModifiedBy>Sophie Casson</cp:lastModifiedBy>
  <cp:revision>80</cp:revision>
  <cp:lastPrinted>2016-10-31T08:59:44Z</cp:lastPrinted>
  <dcterms:created xsi:type="dcterms:W3CDTF">2016-10-25T15:04:16Z</dcterms:created>
  <dcterms:modified xsi:type="dcterms:W3CDTF">2018-03-09T11:57:42Z</dcterms:modified>
</cp:coreProperties>
</file>