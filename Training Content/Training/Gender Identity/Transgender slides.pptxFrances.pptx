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6" r:id="rId3"/>
    <p:sldId id="262" r:id="rId4"/>
    <p:sldId id="264" r:id="rId5"/>
  </p:sldIdLst>
  <p:sldSz cx="12192000" cy="6858000"/>
  <p:notesSz cx="6742113"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20" d="100"/>
          <a:sy n="120" d="100"/>
        </p:scale>
        <p:origin x="-120" y="-3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73908D3-0417-49BE-8596-2C391A6D35AB}" type="datetimeFigureOut">
              <a:rPr lang="en-GB" smtClean="0"/>
              <a:t>11/12/2018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1757816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73908D3-0417-49BE-8596-2C391A6D35AB}" type="datetimeFigureOut">
              <a:rPr lang="en-GB" smtClean="0"/>
              <a:t>11/12/2018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1687149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73908D3-0417-49BE-8596-2C391A6D35AB}" type="datetimeFigureOut">
              <a:rPr lang="en-GB" smtClean="0"/>
              <a:t>11/12/2018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3961929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73908D3-0417-49BE-8596-2C391A6D35AB}" type="datetimeFigureOut">
              <a:rPr lang="en-GB" smtClean="0"/>
              <a:t>11/12/2018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4176907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73908D3-0417-49BE-8596-2C391A6D35AB}" type="datetimeFigureOut">
              <a:rPr lang="en-GB" smtClean="0"/>
              <a:t>11/12/2018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437336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73908D3-0417-49BE-8596-2C391A6D35AB}" type="datetimeFigureOut">
              <a:rPr lang="en-GB" smtClean="0"/>
              <a:t>11/12/2018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2382606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908D3-0417-49BE-8596-2C391A6D35AB}" type="datetimeFigureOut">
              <a:rPr lang="en-GB" smtClean="0"/>
              <a:t>11/12/2018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108426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3908D3-0417-49BE-8596-2C391A6D35AB}" type="datetimeFigureOut">
              <a:rPr lang="en-GB" smtClean="0"/>
              <a:t>11/12/2018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3187614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3908D3-0417-49BE-8596-2C391A6D35AB}" type="datetimeFigureOut">
              <a:rPr lang="en-GB" smtClean="0"/>
              <a:t>11/12/2018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277553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73908D3-0417-49BE-8596-2C391A6D35AB}" type="datetimeFigureOut">
              <a:rPr lang="en-GB" smtClean="0"/>
              <a:t>11/12/2018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428472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73908D3-0417-49BE-8596-2C391A6D35AB}" type="datetimeFigureOut">
              <a:rPr lang="en-GB" smtClean="0"/>
              <a:t>11/12/2018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B6BA20-21B1-4022-BA3B-596119C7337F}" type="slidenum">
              <a:rPr lang="en-GB" smtClean="0"/>
              <a:t>‹#›</a:t>
            </a:fld>
            <a:endParaRPr lang="en-GB"/>
          </a:p>
        </p:txBody>
      </p:sp>
    </p:spTree>
    <p:extLst>
      <p:ext uri="{BB962C8B-B14F-4D97-AF65-F5344CB8AC3E}">
        <p14:creationId xmlns:p14="http://schemas.microsoft.com/office/powerpoint/2010/main" val="4016945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3908D3-0417-49BE-8596-2C391A6D35AB}" type="datetimeFigureOut">
              <a:rPr lang="en-GB" smtClean="0"/>
              <a:t>11/12/2018</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B6BA20-21B1-4022-BA3B-596119C7337F}" type="slidenum">
              <a:rPr lang="en-GB" smtClean="0"/>
              <a:t>‹#›</a:t>
            </a:fld>
            <a:endParaRPr lang="en-GB"/>
          </a:p>
        </p:txBody>
      </p:sp>
    </p:spTree>
    <p:extLst>
      <p:ext uri="{BB962C8B-B14F-4D97-AF65-F5344CB8AC3E}">
        <p14:creationId xmlns:p14="http://schemas.microsoft.com/office/powerpoint/2010/main" val="256838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www.mermaidsuk.org.uk/young-voic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397"/>
          </a:xfrm>
        </p:spPr>
        <p:txBody>
          <a:bodyPr>
            <a:normAutofit/>
          </a:bodyPr>
          <a:lstStyle/>
          <a:p>
            <a:r>
              <a:rPr lang="en-GB" sz="2800" dirty="0" smtClean="0"/>
              <a:t>                                                 FACTS</a:t>
            </a:r>
            <a:endParaRPr lang="en-GB" sz="2800" dirty="0"/>
          </a:p>
        </p:txBody>
      </p:sp>
      <p:sp>
        <p:nvSpPr>
          <p:cNvPr id="3" name="Content Placeholder 2"/>
          <p:cNvSpPr>
            <a:spLocks noGrp="1"/>
          </p:cNvSpPr>
          <p:nvPr>
            <p:ph idx="1"/>
          </p:nvPr>
        </p:nvSpPr>
        <p:spPr>
          <a:xfrm>
            <a:off x="838200" y="1137037"/>
            <a:ext cx="10515600" cy="5039926"/>
          </a:xfrm>
        </p:spPr>
        <p:txBody>
          <a:bodyPr>
            <a:normAutofit fontScale="85000" lnSpcReduction="20000"/>
          </a:bodyPr>
          <a:lstStyle/>
          <a:p>
            <a:r>
              <a:rPr lang="en-GB" sz="2400" dirty="0"/>
              <a:t>L</a:t>
            </a:r>
            <a:r>
              <a:rPr lang="en-GB" sz="2400" dirty="0" smtClean="0"/>
              <a:t>ack of research in the UK in relation to the views of youth and their parents. We need to understand the types of support that they feel would help them have more positive experiences.</a:t>
            </a:r>
          </a:p>
          <a:p>
            <a:r>
              <a:rPr lang="en-GB" sz="2400" dirty="0" smtClean="0"/>
              <a:t>Gender recognition Act (2004) provides legal recognition of their gender identity by providing a gender recognition certificate when they reach 18 years. </a:t>
            </a:r>
          </a:p>
          <a:p>
            <a:r>
              <a:rPr lang="en-GB" sz="2400" dirty="0" smtClean="0"/>
              <a:t>Lack of training and guidance for schools and LA.</a:t>
            </a:r>
          </a:p>
          <a:p>
            <a:r>
              <a:rPr lang="en-GB" sz="2400" dirty="0" smtClean="0"/>
              <a:t>Single sex schools do not lose their status if  a pupil undergoes reassignment and remains at school.</a:t>
            </a:r>
          </a:p>
          <a:p>
            <a:r>
              <a:rPr lang="en-GB" sz="2400" dirty="0" smtClean="0"/>
              <a:t>Transgender youth experience high levels of bullying (64%)- survey of 11-18 years.</a:t>
            </a:r>
          </a:p>
          <a:p>
            <a:r>
              <a:rPr lang="en-GB" sz="2400" dirty="0" smtClean="0"/>
              <a:t>68% of transgender youth skip school because of bullying. </a:t>
            </a:r>
          </a:p>
          <a:p>
            <a:r>
              <a:rPr lang="en-GB" sz="2400" dirty="0" smtClean="0"/>
              <a:t>Wait time for specialist gender identity development service (Tavistock &amp; Portman NHS Trust based in London, Leeds and Exeter) is currently 14 months.</a:t>
            </a:r>
          </a:p>
          <a:p>
            <a:r>
              <a:rPr lang="en-GB" sz="2400" dirty="0" smtClean="0"/>
              <a:t>Wellbeing, mental health and self-confidence improves when there is acceptance and understanding at home, school and the community.</a:t>
            </a:r>
          </a:p>
          <a:p>
            <a:r>
              <a:rPr lang="en-GB" sz="2400" dirty="0" smtClean="0"/>
              <a:t>Schools/organisations should not require the person to change their name through deed poll to call the person by their preferred name (known as name).</a:t>
            </a:r>
          </a:p>
          <a:p>
            <a:pPr marL="0" indent="0">
              <a:buNone/>
            </a:pPr>
            <a:r>
              <a:rPr lang="en-GB" sz="2400" dirty="0" smtClean="0"/>
              <a:t> </a:t>
            </a:r>
            <a:endParaRPr lang="en-GB" sz="2400" dirty="0"/>
          </a:p>
        </p:txBody>
      </p:sp>
    </p:spTree>
    <p:extLst>
      <p:ext uri="{BB962C8B-B14F-4D97-AF65-F5344CB8AC3E}">
        <p14:creationId xmlns:p14="http://schemas.microsoft.com/office/powerpoint/2010/main" val="220892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9788" y="365125"/>
            <a:ext cx="10515600" cy="891181"/>
          </a:xfrm>
        </p:spPr>
        <p:txBody>
          <a:bodyPr>
            <a:normAutofit/>
          </a:bodyPr>
          <a:lstStyle/>
          <a:p>
            <a:r>
              <a:rPr lang="en-GB" sz="3200" dirty="0" smtClean="0"/>
              <a:t>                         What does the research tell us?</a:t>
            </a:r>
            <a:endParaRPr lang="en-GB" sz="3200" dirty="0"/>
          </a:p>
        </p:txBody>
      </p:sp>
      <p:sp>
        <p:nvSpPr>
          <p:cNvPr id="5" name="Text Placeholder 4"/>
          <p:cNvSpPr>
            <a:spLocks noGrp="1"/>
          </p:cNvSpPr>
          <p:nvPr>
            <p:ph type="body" idx="1"/>
          </p:nvPr>
        </p:nvSpPr>
        <p:spPr>
          <a:xfrm>
            <a:off x="839788" y="1256306"/>
            <a:ext cx="5157787" cy="286247"/>
          </a:xfrm>
        </p:spPr>
        <p:txBody>
          <a:bodyPr>
            <a:noAutofit/>
          </a:bodyPr>
          <a:lstStyle/>
          <a:p>
            <a:r>
              <a:rPr lang="en-GB" sz="1800" dirty="0" smtClean="0"/>
              <a:t>UK Studies</a:t>
            </a:r>
          </a:p>
        </p:txBody>
      </p:sp>
      <p:sp>
        <p:nvSpPr>
          <p:cNvPr id="6" name="Content Placeholder 5"/>
          <p:cNvSpPr>
            <a:spLocks noGrp="1"/>
          </p:cNvSpPr>
          <p:nvPr>
            <p:ph sz="half" idx="2"/>
          </p:nvPr>
        </p:nvSpPr>
        <p:spPr>
          <a:xfrm>
            <a:off x="839788" y="1542553"/>
            <a:ext cx="5157787" cy="4647110"/>
          </a:xfrm>
        </p:spPr>
        <p:txBody>
          <a:bodyPr>
            <a:normAutofit lnSpcReduction="10000"/>
          </a:bodyPr>
          <a:lstStyle/>
          <a:p>
            <a:r>
              <a:rPr lang="en-GB" sz="1600" dirty="0"/>
              <a:t>Average age when they knew they felt different from their assigned sex at birth 7.9 years.</a:t>
            </a:r>
          </a:p>
          <a:p>
            <a:r>
              <a:rPr lang="en-GB" sz="1600" dirty="0"/>
              <a:t>76% of transgender </a:t>
            </a:r>
            <a:r>
              <a:rPr lang="en-GB" sz="1600" dirty="0" err="1" smtClean="0"/>
              <a:t>yp</a:t>
            </a:r>
            <a:r>
              <a:rPr lang="en-GB" sz="1600" dirty="0" smtClean="0"/>
              <a:t> </a:t>
            </a:r>
            <a:r>
              <a:rPr lang="en-GB" sz="1600" dirty="0"/>
              <a:t>were aware of this before they left primary school but did not have the vocabulary to describe it until 15.4 years .</a:t>
            </a:r>
          </a:p>
          <a:p>
            <a:r>
              <a:rPr lang="en-GB" sz="1600" dirty="0"/>
              <a:t>Peak ages of referrals to Gender Identity Services are 15-16 years</a:t>
            </a:r>
            <a:r>
              <a:rPr lang="en-GB" sz="1600" dirty="0" smtClean="0"/>
              <a:t>.</a:t>
            </a:r>
          </a:p>
          <a:p>
            <a:r>
              <a:rPr lang="en-GB" sz="1600" dirty="0" smtClean="0"/>
              <a:t>77% of pupils have never been taught at school about gender identity and the meaning of trans.</a:t>
            </a:r>
          </a:p>
          <a:p>
            <a:r>
              <a:rPr lang="en-GB" sz="1600" dirty="0" smtClean="0"/>
              <a:t>Policies in schools against transphobia encourage bullying to be reported.</a:t>
            </a:r>
          </a:p>
          <a:p>
            <a:r>
              <a:rPr lang="en-GB" sz="1600" dirty="0" smtClean="0"/>
              <a:t>Parents fear for their child’s safety.</a:t>
            </a:r>
          </a:p>
          <a:p>
            <a:r>
              <a:rPr lang="en-GB" sz="1600" dirty="0" smtClean="0"/>
              <a:t>Schools/LAs lack awareness, training and understanding in how to best support the young people and respond to bullying from peers.</a:t>
            </a:r>
          </a:p>
          <a:p>
            <a:r>
              <a:rPr lang="en-GB" sz="1600" dirty="0" smtClean="0"/>
              <a:t>1</a:t>
            </a:r>
            <a:r>
              <a:rPr lang="en-GB" sz="1600" baseline="30000" dirty="0" smtClean="0"/>
              <a:t>st</a:t>
            </a:r>
            <a:r>
              <a:rPr lang="en-GB" sz="1600" dirty="0" smtClean="0"/>
              <a:t> most important thing they need is emotional support and 2</a:t>
            </a:r>
            <a:r>
              <a:rPr lang="en-GB" sz="1600" baseline="30000" dirty="0" smtClean="0"/>
              <a:t>nd</a:t>
            </a:r>
            <a:r>
              <a:rPr lang="en-GB" sz="1600" dirty="0" smtClean="0"/>
              <a:t> access to support groups.</a:t>
            </a:r>
          </a:p>
          <a:p>
            <a:pPr marL="0" indent="0">
              <a:buNone/>
            </a:pPr>
            <a:endParaRPr lang="en-GB" sz="2000" dirty="0"/>
          </a:p>
          <a:p>
            <a:endParaRPr lang="en-GB" dirty="0"/>
          </a:p>
        </p:txBody>
      </p:sp>
      <p:sp>
        <p:nvSpPr>
          <p:cNvPr id="7" name="Text Placeholder 6"/>
          <p:cNvSpPr>
            <a:spLocks noGrp="1"/>
          </p:cNvSpPr>
          <p:nvPr>
            <p:ph type="body" sz="quarter" idx="3"/>
          </p:nvPr>
        </p:nvSpPr>
        <p:spPr>
          <a:xfrm>
            <a:off x="6172200" y="1256307"/>
            <a:ext cx="5183188" cy="691764"/>
          </a:xfrm>
        </p:spPr>
        <p:txBody>
          <a:bodyPr>
            <a:normAutofit/>
          </a:bodyPr>
          <a:lstStyle/>
          <a:p>
            <a:r>
              <a:rPr lang="en-GB" sz="2000" dirty="0" smtClean="0"/>
              <a:t>US studies</a:t>
            </a:r>
          </a:p>
          <a:p>
            <a:endParaRPr lang="en-GB" sz="2000" i="1" dirty="0" smtClean="0"/>
          </a:p>
        </p:txBody>
      </p:sp>
      <p:sp>
        <p:nvSpPr>
          <p:cNvPr id="8" name="Content Placeholder 7"/>
          <p:cNvSpPr>
            <a:spLocks noGrp="1"/>
          </p:cNvSpPr>
          <p:nvPr>
            <p:ph sz="quarter" idx="4"/>
          </p:nvPr>
        </p:nvSpPr>
        <p:spPr>
          <a:xfrm>
            <a:off x="6172200" y="1542553"/>
            <a:ext cx="5183188" cy="4647109"/>
          </a:xfrm>
        </p:spPr>
        <p:txBody>
          <a:bodyPr>
            <a:normAutofit lnSpcReduction="10000"/>
          </a:bodyPr>
          <a:lstStyle/>
          <a:p>
            <a:r>
              <a:rPr lang="en-GB" sz="1600" dirty="0"/>
              <a:t>Transgender </a:t>
            </a:r>
            <a:r>
              <a:rPr lang="en-GB" sz="1600" dirty="0" err="1"/>
              <a:t>yp</a:t>
            </a:r>
            <a:r>
              <a:rPr lang="en-GB" sz="1600" dirty="0"/>
              <a:t> choose schools based on acceptability of gender non-conformity and safety </a:t>
            </a:r>
            <a:r>
              <a:rPr lang="en-GB" sz="1600" dirty="0" smtClean="0"/>
              <a:t>rather than quality of teaching and proximity to home.</a:t>
            </a:r>
          </a:p>
          <a:p>
            <a:r>
              <a:rPr lang="en-GB" sz="1600" dirty="0" smtClean="0"/>
              <a:t>Specific training for staff on how to intervene is important.</a:t>
            </a:r>
          </a:p>
          <a:p>
            <a:r>
              <a:rPr lang="en-GB" sz="1600" dirty="0" smtClean="0"/>
              <a:t>Specific gay-straight alliance groups supported feeling safe, understood and belongingness in the school community.</a:t>
            </a:r>
          </a:p>
          <a:p>
            <a:r>
              <a:rPr lang="en-GB" sz="1600" dirty="0" smtClean="0"/>
              <a:t>Specific issues to be taught within the school curriculum.</a:t>
            </a:r>
          </a:p>
          <a:p>
            <a:r>
              <a:rPr lang="en-GB" sz="1600" dirty="0" smtClean="0"/>
              <a:t>More intervention by school staff in response to bullying and harassment from peers.</a:t>
            </a:r>
          </a:p>
          <a:p>
            <a:r>
              <a:rPr lang="en-GB" sz="1600" dirty="0" smtClean="0"/>
              <a:t>59-62% negative parental responses- often treating it as a phase or put boundaries around it.</a:t>
            </a:r>
          </a:p>
          <a:p>
            <a:r>
              <a:rPr lang="en-GB" sz="1600" dirty="0" smtClean="0"/>
              <a:t>Support groups for parents and mentoring schemes for trans youth as it connects them to others in their situation.</a:t>
            </a:r>
          </a:p>
          <a:p>
            <a:pPr marL="0" indent="0">
              <a:buNone/>
            </a:pPr>
            <a:r>
              <a:rPr lang="en-GB" sz="1800" dirty="0"/>
              <a:t> </a:t>
            </a:r>
            <a:r>
              <a:rPr lang="en-GB" sz="1800" dirty="0" smtClean="0"/>
              <a:t>    </a:t>
            </a:r>
            <a:endParaRPr lang="en-GB" sz="1800" dirty="0"/>
          </a:p>
          <a:p>
            <a:endParaRPr lang="en-GB" dirty="0"/>
          </a:p>
        </p:txBody>
      </p:sp>
    </p:spTree>
    <p:extLst>
      <p:ext uri="{BB962C8B-B14F-4D97-AF65-F5344CB8AC3E}">
        <p14:creationId xmlns:p14="http://schemas.microsoft.com/office/powerpoint/2010/main" val="2337132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779863"/>
          </a:xfrm>
        </p:spPr>
        <p:txBody>
          <a:bodyPr>
            <a:normAutofit/>
          </a:bodyPr>
          <a:lstStyle/>
          <a:p>
            <a:r>
              <a:rPr lang="en-GB" sz="2800" dirty="0" smtClean="0"/>
              <a:t>                                  Good Practice Guidelines</a:t>
            </a:r>
            <a:endParaRPr lang="en-GB" sz="2800" dirty="0"/>
          </a:p>
        </p:txBody>
      </p:sp>
      <p:sp>
        <p:nvSpPr>
          <p:cNvPr id="7" name="Content Placeholder 6"/>
          <p:cNvSpPr>
            <a:spLocks noGrp="1"/>
          </p:cNvSpPr>
          <p:nvPr>
            <p:ph sz="half" idx="1"/>
          </p:nvPr>
        </p:nvSpPr>
        <p:spPr>
          <a:xfrm>
            <a:off x="838200" y="1144988"/>
            <a:ext cx="5181600" cy="5031975"/>
          </a:xfrm>
        </p:spPr>
        <p:txBody>
          <a:bodyPr>
            <a:normAutofit fontScale="92500" lnSpcReduction="10000"/>
          </a:bodyPr>
          <a:lstStyle/>
          <a:p>
            <a:pPr marL="0" indent="0">
              <a:buNone/>
            </a:pPr>
            <a:r>
              <a:rPr lang="en-GB" sz="2000" dirty="0" smtClean="0"/>
              <a:t>     WHOLE SCHOOL/ORGANISATION LEVEL</a:t>
            </a:r>
          </a:p>
          <a:p>
            <a:r>
              <a:rPr lang="en-GB" sz="1400" dirty="0" smtClean="0"/>
              <a:t>Use of appropriate gender neutral language that reduces stereotypes </a:t>
            </a:r>
          </a:p>
          <a:p>
            <a:r>
              <a:rPr lang="en-GB" sz="1400" dirty="0" smtClean="0"/>
              <a:t>Promote a culture of acceptance, belonging and safety</a:t>
            </a:r>
          </a:p>
          <a:p>
            <a:r>
              <a:rPr lang="en-GB" sz="1400" dirty="0" smtClean="0"/>
              <a:t>Challenge inappropriate language/comments – name the behaviour ‘ that is transphobic language/behaviour, I feel uncomfortable with jokes like that….</a:t>
            </a:r>
          </a:p>
          <a:p>
            <a:r>
              <a:rPr lang="en-GB" sz="1400" dirty="0" smtClean="0"/>
              <a:t>Whole school/organisation policy and guidelines on equality, inclusion, anti-bullying, wellbeing and gender equality should be updated</a:t>
            </a:r>
          </a:p>
          <a:p>
            <a:r>
              <a:rPr lang="en-GB" sz="1400" dirty="0" smtClean="0"/>
              <a:t>Appropriately adapted working and learning context e.g. unisex toilets, gender free dress code </a:t>
            </a:r>
          </a:p>
          <a:p>
            <a:r>
              <a:rPr lang="en-GB" sz="1400" dirty="0" smtClean="0"/>
              <a:t>Diversity explored through the curriculum</a:t>
            </a:r>
          </a:p>
          <a:p>
            <a:r>
              <a:rPr lang="en-GB" sz="1400" dirty="0" smtClean="0"/>
              <a:t>Organise staff training to improve awareness, understanding and how to intervene</a:t>
            </a:r>
          </a:p>
          <a:p>
            <a:r>
              <a:rPr lang="en-GB" sz="1400" dirty="0" smtClean="0"/>
              <a:t>Private changing rooms</a:t>
            </a:r>
          </a:p>
          <a:p>
            <a:r>
              <a:rPr lang="en-GB" sz="1400" dirty="0" smtClean="0"/>
              <a:t>Ensure records are up to date and reflect the reassigned gender and name  and that other related boards such as exam boards are informed</a:t>
            </a:r>
          </a:p>
          <a:p>
            <a:r>
              <a:rPr lang="en-GB" sz="1400" dirty="0" smtClean="0"/>
              <a:t>Create support and safe spaces in school</a:t>
            </a:r>
          </a:p>
          <a:p>
            <a:r>
              <a:rPr lang="en-GB" sz="1400" dirty="0" smtClean="0"/>
              <a:t>Fluid, joint problem solving arrangements with regards to PE and choice of PE activity</a:t>
            </a:r>
          </a:p>
          <a:p>
            <a:r>
              <a:rPr lang="en-GB" sz="1400" dirty="0" smtClean="0"/>
              <a:t>Health care and injections should be handled sensitively</a:t>
            </a:r>
          </a:p>
          <a:p>
            <a:pPr marL="0" indent="0">
              <a:buNone/>
            </a:pPr>
            <a:endParaRPr lang="en-GB" sz="1400" dirty="0" smtClean="0"/>
          </a:p>
          <a:p>
            <a:pPr marL="0" indent="0">
              <a:buNone/>
            </a:pPr>
            <a:endParaRPr lang="en-GB" sz="1400" dirty="0"/>
          </a:p>
        </p:txBody>
      </p:sp>
      <p:sp>
        <p:nvSpPr>
          <p:cNvPr id="8" name="Content Placeholder 7"/>
          <p:cNvSpPr>
            <a:spLocks noGrp="1"/>
          </p:cNvSpPr>
          <p:nvPr>
            <p:ph sz="half" idx="2"/>
          </p:nvPr>
        </p:nvSpPr>
        <p:spPr>
          <a:xfrm>
            <a:off x="6172200" y="1081378"/>
            <a:ext cx="5181600" cy="5095586"/>
          </a:xfrm>
        </p:spPr>
        <p:txBody>
          <a:bodyPr>
            <a:normAutofit fontScale="92500" lnSpcReduction="10000"/>
          </a:bodyPr>
          <a:lstStyle/>
          <a:p>
            <a:pPr marL="0" indent="0">
              <a:buNone/>
            </a:pPr>
            <a:r>
              <a:rPr lang="en-GB" sz="2000" dirty="0" smtClean="0"/>
              <a:t>                           INDIVIDUAL LEVEL</a:t>
            </a:r>
          </a:p>
          <a:p>
            <a:r>
              <a:rPr lang="en-GB" sz="1400" dirty="0" smtClean="0"/>
              <a:t>Ask, listen and respect- use chosen name, pronoun, title and explore their needs, wishes and types of support that work for them </a:t>
            </a:r>
          </a:p>
          <a:p>
            <a:r>
              <a:rPr lang="en-GB" sz="1400" dirty="0" smtClean="0"/>
              <a:t>Recognise and apologise for mistakes </a:t>
            </a:r>
            <a:r>
              <a:rPr lang="en-GB" sz="1400" smtClean="0"/>
              <a:t>as appropriate</a:t>
            </a:r>
            <a:r>
              <a:rPr lang="en-GB" sz="1400" smtClean="0"/>
              <a:t> </a:t>
            </a:r>
            <a:r>
              <a:rPr lang="en-GB" sz="1400" dirty="0" smtClean="0"/>
              <a:t>and move on </a:t>
            </a:r>
          </a:p>
          <a:p>
            <a:r>
              <a:rPr lang="en-GB" sz="1400" dirty="0" smtClean="0"/>
              <a:t>Ensure and protect confidentiality that adheres to the safety and welfare of the young person</a:t>
            </a:r>
          </a:p>
          <a:p>
            <a:r>
              <a:rPr lang="en-GB" sz="1400" dirty="0" smtClean="0"/>
              <a:t>Schools/organisations should not disclose personal information without the person’s consent</a:t>
            </a:r>
          </a:p>
          <a:p>
            <a:r>
              <a:rPr lang="en-GB" sz="1400" dirty="0" smtClean="0"/>
              <a:t>Provide a named person for them to check in with of their choice</a:t>
            </a:r>
          </a:p>
          <a:p>
            <a:r>
              <a:rPr lang="en-GB" sz="1400" dirty="0" smtClean="0"/>
              <a:t>Acceptance of fluidity as part of the transition process</a:t>
            </a:r>
          </a:p>
          <a:p>
            <a:r>
              <a:rPr lang="en-GB" sz="1400" dirty="0" smtClean="0"/>
              <a:t>Flexibility with school uniform with the input of the young person</a:t>
            </a:r>
          </a:p>
          <a:p>
            <a:r>
              <a:rPr lang="en-GB" sz="1400" dirty="0" smtClean="0"/>
              <a:t>Memorandum of understanding- agreement between young person and school/ organisation that makes sure that you access what you are entitled to and that you feel safe and accepted- duty of care to the individual</a:t>
            </a:r>
          </a:p>
          <a:p>
            <a:endParaRPr lang="en-GB" sz="1400" dirty="0" smtClean="0"/>
          </a:p>
          <a:p>
            <a:endParaRPr lang="en-GB" sz="1400" dirty="0" smtClean="0"/>
          </a:p>
          <a:p>
            <a:endParaRPr lang="en-GB" sz="1400" dirty="0" smtClean="0"/>
          </a:p>
          <a:p>
            <a:endParaRPr lang="en-GB" sz="1400" dirty="0"/>
          </a:p>
        </p:txBody>
      </p:sp>
    </p:spTree>
    <p:extLst>
      <p:ext uri="{BB962C8B-B14F-4D97-AF65-F5344CB8AC3E}">
        <p14:creationId xmlns:p14="http://schemas.microsoft.com/office/powerpoint/2010/main" val="2086669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4934"/>
          </a:xfrm>
        </p:spPr>
        <p:txBody>
          <a:bodyPr>
            <a:normAutofit fontScale="90000"/>
          </a:bodyPr>
          <a:lstStyle/>
          <a:p>
            <a:r>
              <a:rPr lang="en-GB" dirty="0" smtClean="0"/>
              <a:t>                       </a:t>
            </a:r>
            <a:r>
              <a:rPr lang="en-GB" sz="2800" dirty="0" smtClean="0"/>
              <a:t>The voice of the young person</a:t>
            </a:r>
            <a:endParaRPr lang="en-GB" sz="2800" dirty="0"/>
          </a:p>
        </p:txBody>
      </p:sp>
      <p:sp>
        <p:nvSpPr>
          <p:cNvPr id="3" name="Content Placeholder 2"/>
          <p:cNvSpPr>
            <a:spLocks noGrp="1"/>
          </p:cNvSpPr>
          <p:nvPr>
            <p:ph idx="1"/>
          </p:nvPr>
        </p:nvSpPr>
        <p:spPr>
          <a:xfrm>
            <a:off x="838200" y="1160890"/>
            <a:ext cx="10515600" cy="5016073"/>
          </a:xfrm>
        </p:spPr>
        <p:txBody>
          <a:bodyPr>
            <a:normAutofit fontScale="92500" lnSpcReduction="20000"/>
          </a:bodyPr>
          <a:lstStyle/>
          <a:p>
            <a:pPr marL="0" indent="0">
              <a:buNone/>
            </a:pPr>
            <a:r>
              <a:rPr lang="en-GB" sz="2000" dirty="0" smtClean="0">
                <a:hlinkClick r:id="rId2"/>
              </a:rPr>
              <a:t>www.mermaidsuk.org.uk/young-voices.html</a:t>
            </a:r>
            <a:endParaRPr lang="en-GB" sz="2000" dirty="0" smtClean="0"/>
          </a:p>
          <a:p>
            <a:pPr marL="0" indent="0" fontAlgn="base">
              <a:buNone/>
            </a:pPr>
            <a:r>
              <a:rPr lang="en-GB" dirty="0"/>
              <a:t>How's about starting a normal life?</a:t>
            </a:r>
            <a:br>
              <a:rPr lang="en-GB" dirty="0"/>
            </a:br>
            <a:r>
              <a:rPr lang="en-GB" dirty="0"/>
              <a:t>But won't starting in the middle always be difficult?</a:t>
            </a:r>
            <a:br>
              <a:rPr lang="en-GB" dirty="0"/>
            </a:br>
            <a:r>
              <a:rPr lang="en-GB" dirty="0"/>
              <a:t>But I suppose I never thought life would be so, well - tricky!</a:t>
            </a:r>
            <a:br>
              <a:rPr lang="en-GB" dirty="0"/>
            </a:br>
            <a:r>
              <a:rPr lang="en-GB" dirty="0"/>
              <a:t>What happens when the only thought that occupies your mind is "I WANT TO BE NORMAL!" and suddenly you realise that's the only thing you'll NEVER be. Of course you have friends offering to help.</a:t>
            </a:r>
          </a:p>
          <a:p>
            <a:pPr marL="0" indent="0" fontAlgn="base">
              <a:buNone/>
            </a:pPr>
            <a:r>
              <a:rPr lang="en-GB" dirty="0"/>
              <a:t>But when they will never truly understand, what's the point? As soon as you get close to normality somebody moves the barriers. Sometimes I try to convince myself that I am normal, it's just the ones who don't understand or don't try to, who aren't normal.</a:t>
            </a:r>
          </a:p>
          <a:p>
            <a:pPr marL="0" indent="0" fontAlgn="base">
              <a:buNone/>
            </a:pPr>
            <a:r>
              <a:rPr lang="en-GB" dirty="0"/>
              <a:t>Somehow, I never can truly convince myself enough. But when I ask for help what happens? Nothing.</a:t>
            </a:r>
            <a:br>
              <a:rPr lang="en-GB" dirty="0"/>
            </a:br>
            <a:r>
              <a:rPr lang="en-GB" dirty="0"/>
              <a:t>Exactly. Perhaps I'm being selfish, stubborn, paranoid, or one of the thousand other things I've been called.</a:t>
            </a:r>
            <a:br>
              <a:rPr lang="en-GB" dirty="0"/>
            </a:br>
            <a:r>
              <a:rPr lang="en-GB" dirty="0"/>
              <a:t>Why does it all have to be so f****** hard?</a:t>
            </a:r>
          </a:p>
          <a:p>
            <a:pPr marL="0" indent="0">
              <a:buNone/>
            </a:pPr>
            <a:endParaRPr lang="en-GB" sz="2000" dirty="0"/>
          </a:p>
        </p:txBody>
      </p:sp>
    </p:spTree>
    <p:extLst>
      <p:ext uri="{BB962C8B-B14F-4D97-AF65-F5344CB8AC3E}">
        <p14:creationId xmlns:p14="http://schemas.microsoft.com/office/powerpoint/2010/main" val="696443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748</Words>
  <Application>Microsoft Office PowerPoint</Application>
  <PresentationFormat>Custom</PresentationFormat>
  <Paragraphs>60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                                                 FACTS</vt:lpstr>
      <vt:lpstr>                         What does the research tell us?</vt:lpstr>
      <vt:lpstr>                                  Good Practice Guidelines</vt:lpstr>
      <vt:lpstr>                       The voice of the young person</vt:lpstr>
    </vt:vector>
  </TitlesOfParts>
  <Company>University College London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Transgender Equality First Report 2015-2016 largest Survey of LGBTQ 16-25 in England with a significant rate response of trans young people</dc:title>
  <dc:creator>Frances Lee</dc:creator>
  <cp:lastModifiedBy>localprofile</cp:lastModifiedBy>
  <cp:revision>28</cp:revision>
  <cp:lastPrinted>2018-12-11T15:25:04Z</cp:lastPrinted>
  <dcterms:created xsi:type="dcterms:W3CDTF">2018-11-28T15:58:47Z</dcterms:created>
  <dcterms:modified xsi:type="dcterms:W3CDTF">2018-12-11T15:33:33Z</dcterms:modified>
</cp:coreProperties>
</file>