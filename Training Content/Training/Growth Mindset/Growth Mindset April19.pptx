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handoutMasterIdLst>
    <p:handoutMasterId r:id="rId31"/>
  </p:handoutMasterIdLst>
  <p:sldIdLst>
    <p:sldId id="256" r:id="rId2"/>
    <p:sldId id="302" r:id="rId3"/>
    <p:sldId id="298"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274" r:id="rId29"/>
  </p:sldIdLst>
  <p:sldSz cx="9144000" cy="6858000" type="screen4x3"/>
  <p:notesSz cx="6669088"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8" autoAdjust="0"/>
    <p:restoredTop sz="82604" autoAdjust="0"/>
  </p:normalViewPr>
  <p:slideViewPr>
    <p:cSldViewPr snapToGrid="0" snapToObjects="1">
      <p:cViewPr varScale="1">
        <p:scale>
          <a:sx n="110" d="100"/>
          <a:sy n="110" d="100"/>
        </p:scale>
        <p:origin x="-164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250" cy="49371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8250" y="0"/>
            <a:ext cx="2889250" cy="493713"/>
          </a:xfrm>
          <a:prstGeom prst="rect">
            <a:avLst/>
          </a:prstGeom>
        </p:spPr>
        <p:txBody>
          <a:bodyPr vert="horz" lIns="91440" tIns="45720" rIns="91440" bIns="45720" rtlCol="0"/>
          <a:lstStyle>
            <a:lvl1pPr algn="r">
              <a:defRPr sz="1200"/>
            </a:lvl1pPr>
          </a:lstStyle>
          <a:p>
            <a:fld id="{807922F5-05AF-4AC9-9D3A-F1D29D7E3436}" type="datetimeFigureOut">
              <a:rPr lang="en-GB" smtClean="0"/>
              <a:t>30/04/2019</a:t>
            </a:fld>
            <a:endParaRPr lang="en-GB"/>
          </a:p>
        </p:txBody>
      </p:sp>
      <p:sp>
        <p:nvSpPr>
          <p:cNvPr id="4" name="Footer Placeholder 3"/>
          <p:cNvSpPr>
            <a:spLocks noGrp="1"/>
          </p:cNvSpPr>
          <p:nvPr>
            <p:ph type="ftr" sz="quarter" idx="2"/>
          </p:nvPr>
        </p:nvSpPr>
        <p:spPr>
          <a:xfrm>
            <a:off x="0" y="9377363"/>
            <a:ext cx="2889250" cy="493712"/>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8250" y="9377363"/>
            <a:ext cx="2889250" cy="493712"/>
          </a:xfrm>
          <a:prstGeom prst="rect">
            <a:avLst/>
          </a:prstGeom>
        </p:spPr>
        <p:txBody>
          <a:bodyPr vert="horz" lIns="91440" tIns="45720" rIns="91440" bIns="45720" rtlCol="0" anchor="b"/>
          <a:lstStyle>
            <a:lvl1pPr algn="r">
              <a:defRPr sz="1200"/>
            </a:lvl1pPr>
          </a:lstStyle>
          <a:p>
            <a:fld id="{D41F9A52-B45A-43BA-B2EA-09B293F6982B}" type="slidenum">
              <a:rPr lang="en-GB" smtClean="0"/>
              <a:t>‹#›</a:t>
            </a:fld>
            <a:endParaRPr lang="en-GB"/>
          </a:p>
        </p:txBody>
      </p:sp>
    </p:spTree>
    <p:extLst>
      <p:ext uri="{BB962C8B-B14F-4D97-AF65-F5344CB8AC3E}">
        <p14:creationId xmlns:p14="http://schemas.microsoft.com/office/powerpoint/2010/main" val="18291746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3633"/>
          </a:xfrm>
          <a:prstGeom prst="rect">
            <a:avLst/>
          </a:prstGeom>
        </p:spPr>
        <p:txBody>
          <a:bodyPr vert="horz" lIns="91440" tIns="45720" rIns="91440" bIns="45720" rtlCol="0"/>
          <a:lstStyle>
            <a:lvl1pPr algn="r">
              <a:defRPr sz="1200"/>
            </a:lvl1pPr>
          </a:lstStyle>
          <a:p>
            <a:fld id="{7C41A69C-352B-43B9-AE28-0996A6EA73E5}" type="datetimeFigureOut">
              <a:rPr lang="en-GB" smtClean="0"/>
              <a:pPr/>
              <a:t>30/04/2019</a:t>
            </a:fld>
            <a:endParaRPr lang="en-GB"/>
          </a:p>
        </p:txBody>
      </p:sp>
      <p:sp>
        <p:nvSpPr>
          <p:cNvPr id="4" name="Slide Image Placeholder 3"/>
          <p:cNvSpPr>
            <a:spLocks noGrp="1" noRot="1" noChangeAspect="1"/>
          </p:cNvSpPr>
          <p:nvPr>
            <p:ph type="sldImg" idx="2"/>
          </p:nvPr>
        </p:nvSpPr>
        <p:spPr>
          <a:xfrm>
            <a:off x="866775" y="739775"/>
            <a:ext cx="4935538" cy="370363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689515"/>
            <a:ext cx="5335270" cy="444269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377316"/>
            <a:ext cx="2889938" cy="493633"/>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1800906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a:t>
            </a:fld>
            <a:endParaRPr lang="en-GB"/>
          </a:p>
        </p:txBody>
      </p:sp>
    </p:spTree>
    <p:extLst>
      <p:ext uri="{BB962C8B-B14F-4D97-AF65-F5344CB8AC3E}">
        <p14:creationId xmlns:p14="http://schemas.microsoft.com/office/powerpoint/2010/main" val="656443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3</a:t>
            </a:fld>
            <a:endParaRPr lang="en-GB"/>
          </a:p>
        </p:txBody>
      </p:sp>
    </p:spTree>
    <p:extLst>
      <p:ext uri="{BB962C8B-B14F-4D97-AF65-F5344CB8AC3E}">
        <p14:creationId xmlns:p14="http://schemas.microsoft.com/office/powerpoint/2010/main" val="268921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4</a:t>
            </a:fld>
            <a:endParaRPr lang="en-GB"/>
          </a:p>
        </p:txBody>
      </p:sp>
    </p:spTree>
    <p:extLst>
      <p:ext uri="{BB962C8B-B14F-4D97-AF65-F5344CB8AC3E}">
        <p14:creationId xmlns:p14="http://schemas.microsoft.com/office/powerpoint/2010/main" val="3330520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Ask for anymore examples that people know of</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5</a:t>
            </a:fld>
            <a:endParaRPr lang="en-GB"/>
          </a:p>
        </p:txBody>
      </p:sp>
    </p:spTree>
    <p:extLst>
      <p:ext uri="{BB962C8B-B14F-4D97-AF65-F5344CB8AC3E}">
        <p14:creationId xmlns:p14="http://schemas.microsoft.com/office/powerpoint/2010/main" val="2472573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Intelligence is a malleable quality to be developed</a:t>
            </a:r>
          </a:p>
          <a:p>
            <a:r>
              <a:rPr lang="en-GB" altLang="en-US" dirty="0" smtClean="0"/>
              <a:t>The hand you are dealt is just a starting point for development.</a:t>
            </a:r>
          </a:p>
          <a:p>
            <a:r>
              <a:rPr lang="en-GB" altLang="en-US" dirty="0" smtClean="0"/>
              <a:t>Everyone</a:t>
            </a:r>
            <a:r>
              <a:rPr lang="en-GB" altLang="en-US" baseline="0" dirty="0" smtClean="0"/>
              <a:t> can change and grow through application and experience</a:t>
            </a:r>
          </a:p>
          <a:p>
            <a:r>
              <a:rPr lang="en-GB" altLang="en-US" baseline="0" dirty="0" smtClean="0"/>
              <a:t>A persons true potential is unknown and unknowable</a:t>
            </a:r>
          </a:p>
          <a:p>
            <a:endParaRPr lang="en-GB" dirty="0" smtClean="0"/>
          </a:p>
          <a:p>
            <a:r>
              <a:rPr lang="en-GB" altLang="en-US" dirty="0" smtClean="0"/>
              <a:t>She argues that about 20% of learners are in the middle of these extremes and the rest are equally divided between the 2 extremes.</a:t>
            </a:r>
          </a:p>
          <a:p>
            <a:r>
              <a:rPr lang="en-GB" altLang="en-US" dirty="0" smtClean="0"/>
              <a:t>She categorises the extremes into </a:t>
            </a:r>
          </a:p>
          <a:p>
            <a:r>
              <a:rPr lang="en-GB" altLang="en-US" dirty="0" smtClean="0"/>
              <a:t>FIXED MINDSETS: intelligence is static and</a:t>
            </a:r>
          </a:p>
          <a:p>
            <a:r>
              <a:rPr lang="en-GB" altLang="en-US" dirty="0" smtClean="0"/>
              <a:t>GROWTH MINDSETS: intelligence can be developed</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6</a:t>
            </a:fld>
            <a:endParaRPr lang="en-GB"/>
          </a:p>
        </p:txBody>
      </p:sp>
    </p:spTree>
    <p:extLst>
      <p:ext uri="{BB962C8B-B14F-4D97-AF65-F5344CB8AC3E}">
        <p14:creationId xmlns:p14="http://schemas.microsoft.com/office/powerpoint/2010/main" val="3879190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Young adult having</a:t>
            </a:r>
            <a:r>
              <a:rPr lang="en-GB" baseline="0" dirty="0" smtClean="0"/>
              <a:t> a really bad day</a:t>
            </a:r>
          </a:p>
          <a:p>
            <a:r>
              <a:rPr lang="en-GB" baseline="0" dirty="0" smtClean="0"/>
              <a:t>Go to a class that is really important to you and you like a lot. The teacher gives back a  test paper you have done. You got a C+</a:t>
            </a:r>
          </a:p>
          <a:p>
            <a:r>
              <a:rPr lang="en-GB" baseline="0" dirty="0" smtClean="0"/>
              <a:t>That evening you go back to your car and find you have a parking ticket.</a:t>
            </a:r>
          </a:p>
          <a:p>
            <a:r>
              <a:rPr lang="en-GB" baseline="0" dirty="0" smtClean="0"/>
              <a:t>You call your best friend to share your experience and are sort of brushed off</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7</a:t>
            </a:fld>
            <a:endParaRPr lang="en-GB"/>
          </a:p>
        </p:txBody>
      </p:sp>
    </p:spTree>
    <p:extLst>
      <p:ext uri="{BB962C8B-B14F-4D97-AF65-F5344CB8AC3E}">
        <p14:creationId xmlns:p14="http://schemas.microsoft.com/office/powerpoint/2010/main" val="52267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Equivalent to Year 8</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8</a:t>
            </a:fld>
            <a:endParaRPr lang="en-GB"/>
          </a:p>
        </p:txBody>
      </p:sp>
    </p:spTree>
    <p:extLst>
      <p:ext uri="{BB962C8B-B14F-4D97-AF65-F5344CB8AC3E}">
        <p14:creationId xmlns:p14="http://schemas.microsoft.com/office/powerpoint/2010/main" val="538544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9</a:t>
            </a:fld>
            <a:endParaRPr lang="en-GB"/>
          </a:p>
        </p:txBody>
      </p:sp>
    </p:spTree>
    <p:extLst>
      <p:ext uri="{BB962C8B-B14F-4D97-AF65-F5344CB8AC3E}">
        <p14:creationId xmlns:p14="http://schemas.microsoft.com/office/powerpoint/2010/main" val="2795903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10</a:t>
            </a:fld>
            <a:endParaRPr lang="en-GB"/>
          </a:p>
        </p:txBody>
      </p:sp>
    </p:spTree>
    <p:extLst>
      <p:ext uri="{BB962C8B-B14F-4D97-AF65-F5344CB8AC3E}">
        <p14:creationId xmlns:p14="http://schemas.microsoft.com/office/powerpoint/2010/main" val="2855730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11</a:t>
            </a:fld>
            <a:endParaRPr lang="en-GB"/>
          </a:p>
        </p:txBody>
      </p:sp>
    </p:spTree>
    <p:extLst>
      <p:ext uri="{BB962C8B-B14F-4D97-AF65-F5344CB8AC3E}">
        <p14:creationId xmlns:p14="http://schemas.microsoft.com/office/powerpoint/2010/main" val="1046137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Beware of </a:t>
            </a:r>
            <a:r>
              <a:rPr lang="en-GB" dirty="0" err="1" smtClean="0"/>
              <a:t>emphathising</a:t>
            </a:r>
            <a:r>
              <a:rPr lang="en-GB" dirty="0" smtClean="0"/>
              <a:t> when this reinforces a fixed </a:t>
            </a:r>
            <a:r>
              <a:rPr lang="en-GB" dirty="0" err="1" smtClean="0"/>
              <a:t>mindset</a:t>
            </a:r>
            <a:endParaRPr lang="en-GB" dirty="0" smtClean="0"/>
          </a:p>
          <a:p>
            <a:r>
              <a:rPr lang="en-GB" dirty="0" smtClean="0"/>
              <a:t>Discussion in small groups</a:t>
            </a:r>
          </a:p>
          <a:p>
            <a:r>
              <a:rPr lang="en-GB" dirty="0" smtClean="0"/>
              <a:t>Take feedback – create flip chart</a:t>
            </a:r>
          </a:p>
          <a:p>
            <a:r>
              <a:rPr lang="en-GB" dirty="0" smtClean="0"/>
              <a:t>Give further ideas – </a:t>
            </a:r>
            <a:r>
              <a:rPr lang="en-GB" dirty="0" err="1" smtClean="0"/>
              <a:t>pg</a:t>
            </a:r>
            <a:r>
              <a:rPr lang="en-GB" dirty="0" smtClean="0"/>
              <a:t> 26/27</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12</a:t>
            </a:fld>
            <a:endParaRPr lang="en-GB"/>
          </a:p>
        </p:txBody>
      </p:sp>
    </p:spTree>
    <p:extLst>
      <p:ext uri="{BB962C8B-B14F-4D97-AF65-F5344CB8AC3E}">
        <p14:creationId xmlns:p14="http://schemas.microsoft.com/office/powerpoint/2010/main" val="3251019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13</a:t>
            </a:fld>
            <a:endParaRPr lang="en-GB"/>
          </a:p>
        </p:txBody>
      </p:sp>
    </p:spTree>
    <p:extLst>
      <p:ext uri="{BB962C8B-B14F-4D97-AF65-F5344CB8AC3E}">
        <p14:creationId xmlns:p14="http://schemas.microsoft.com/office/powerpoint/2010/main" val="2549427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each case these student’s words imply they have a fixed sum of intelligence which it is</a:t>
            </a:r>
            <a:r>
              <a:rPr lang="en-GB" baseline="0" dirty="0" smtClean="0"/>
              <a:t> impossible to change.</a:t>
            </a:r>
          </a:p>
          <a:p>
            <a:r>
              <a:rPr lang="en-GB" baseline="0" dirty="0" smtClean="0"/>
              <a:t>We want to shift student language away from this by using reframing (not telling them directly they shouldn’t think like this):</a:t>
            </a:r>
          </a:p>
          <a:p>
            <a:pPr>
              <a:buFontTx/>
              <a:buChar char="-"/>
            </a:pPr>
            <a:r>
              <a:rPr lang="en-GB" baseline="0" dirty="0" smtClean="0"/>
              <a:t>Listen to what the student says</a:t>
            </a:r>
          </a:p>
          <a:p>
            <a:pPr>
              <a:buFontTx/>
              <a:buChar char="-"/>
            </a:pPr>
            <a:r>
              <a:rPr lang="en-GB" baseline="0" dirty="0" smtClean="0"/>
              <a:t>Consider how you could reframe the student’s words back to them so that they take on a different meaning</a:t>
            </a:r>
          </a:p>
          <a:p>
            <a:pPr>
              <a:buFontTx/>
              <a:buChar char="-"/>
            </a:pPr>
            <a:r>
              <a:rPr lang="en-GB" baseline="0" dirty="0" smtClean="0"/>
              <a:t>Speak the words to the student</a:t>
            </a:r>
          </a:p>
          <a:p>
            <a:pPr>
              <a:buFontTx/>
              <a:buChar char="-"/>
            </a:pPr>
            <a:r>
              <a:rPr lang="en-GB" baseline="0" dirty="0" smtClean="0"/>
              <a:t>If </a:t>
            </a:r>
            <a:r>
              <a:rPr lang="en-GB" baseline="0" dirty="0" err="1" smtClean="0"/>
              <a:t>approrpiate</a:t>
            </a:r>
            <a:r>
              <a:rPr lang="en-GB" baseline="0" dirty="0" smtClean="0"/>
              <a:t> draw the student’s attention to the difference between their initial words and your reframed version</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14</a:t>
            </a:fld>
            <a:endParaRPr lang="en-GB"/>
          </a:p>
        </p:txBody>
      </p:sp>
    </p:spTree>
    <p:extLst>
      <p:ext uri="{BB962C8B-B14F-4D97-AF65-F5344CB8AC3E}">
        <p14:creationId xmlns:p14="http://schemas.microsoft.com/office/powerpoint/2010/main" val="4050654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15</a:t>
            </a:fld>
            <a:endParaRPr lang="en-GB"/>
          </a:p>
        </p:txBody>
      </p:sp>
    </p:spTree>
    <p:extLst>
      <p:ext uri="{BB962C8B-B14F-4D97-AF65-F5344CB8AC3E}">
        <p14:creationId xmlns:p14="http://schemas.microsoft.com/office/powerpoint/2010/main" val="3381936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smtClean="0"/>
              <a:t>“Wow, you’re really smart! ”  </a:t>
            </a:r>
          </a:p>
          <a:p>
            <a:pPr lvl="1"/>
            <a:r>
              <a:rPr lang="en-GB" dirty="0" smtClean="0"/>
              <a:t>“Look at how well you did on this project. You are so intelligent! </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16</a:t>
            </a:fld>
            <a:endParaRPr lang="en-GB"/>
          </a:p>
        </p:txBody>
      </p:sp>
    </p:spTree>
    <p:extLst>
      <p:ext uri="{BB962C8B-B14F-4D97-AF65-F5344CB8AC3E}">
        <p14:creationId xmlns:p14="http://schemas.microsoft.com/office/powerpoint/2010/main" val="192464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17</a:t>
            </a:fld>
            <a:endParaRPr lang="en-GB"/>
          </a:p>
        </p:txBody>
      </p:sp>
    </p:spTree>
    <p:extLst>
      <p:ext uri="{BB962C8B-B14F-4D97-AF65-F5344CB8AC3E}">
        <p14:creationId xmlns:p14="http://schemas.microsoft.com/office/powerpoint/2010/main" val="23722255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smtClean="0"/>
              <a:t>Pg</a:t>
            </a:r>
            <a:r>
              <a:rPr lang="en-GB" dirty="0" smtClean="0"/>
              <a:t> 70</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18</a:t>
            </a:fld>
            <a:endParaRPr lang="en-GB"/>
          </a:p>
        </p:txBody>
      </p:sp>
    </p:spTree>
    <p:extLst>
      <p:ext uri="{BB962C8B-B14F-4D97-AF65-F5344CB8AC3E}">
        <p14:creationId xmlns:p14="http://schemas.microsoft.com/office/powerpoint/2010/main" val="38016490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smtClean="0"/>
              <a:t>Pg</a:t>
            </a:r>
            <a:r>
              <a:rPr lang="en-GB" dirty="0" smtClean="0"/>
              <a:t> 70/71</a:t>
            </a:r>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19</a:t>
            </a:fld>
            <a:endParaRPr lang="en-GB"/>
          </a:p>
        </p:txBody>
      </p:sp>
    </p:spTree>
    <p:extLst>
      <p:ext uri="{BB962C8B-B14F-4D97-AF65-F5344CB8AC3E}">
        <p14:creationId xmlns:p14="http://schemas.microsoft.com/office/powerpoint/2010/main" val="3076156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Discuss ways of doing this in the classroom</a:t>
            </a:r>
          </a:p>
          <a:p>
            <a:endParaRPr lang="en-GB" dirty="0" smtClean="0"/>
          </a:p>
          <a:p>
            <a:r>
              <a:rPr lang="en-GB" dirty="0" smtClean="0"/>
              <a:t>Suggestions:</a:t>
            </a:r>
          </a:p>
          <a:p>
            <a:r>
              <a:rPr lang="en-GB" dirty="0" smtClean="0"/>
              <a:t>Mistake quotas (</a:t>
            </a:r>
            <a:r>
              <a:rPr lang="en-GB" dirty="0" err="1" smtClean="0"/>
              <a:t>pg</a:t>
            </a:r>
            <a:r>
              <a:rPr lang="en-GB" dirty="0" smtClean="0"/>
              <a:t> 42)</a:t>
            </a:r>
          </a:p>
          <a:p>
            <a:r>
              <a:rPr lang="en-GB" dirty="0" smtClean="0"/>
              <a:t>Mistake discussions (</a:t>
            </a:r>
            <a:r>
              <a:rPr lang="en-GB" dirty="0" err="1" smtClean="0"/>
              <a:t>pg</a:t>
            </a:r>
            <a:r>
              <a:rPr lang="en-GB" dirty="0" smtClean="0"/>
              <a:t> 48)</a:t>
            </a:r>
          </a:p>
          <a:p>
            <a:endParaRPr lang="en-GB"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20</a:t>
            </a:fld>
            <a:endParaRPr lang="en-GB"/>
          </a:p>
        </p:txBody>
      </p:sp>
    </p:spTree>
    <p:extLst>
      <p:ext uri="{BB962C8B-B14F-4D97-AF65-F5344CB8AC3E}">
        <p14:creationId xmlns:p14="http://schemas.microsoft.com/office/powerpoint/2010/main" val="1140718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GB" dirty="0" smtClean="0"/>
              <a:t>Nine-year-old Elizabeth was on her way to her first gymnastics meet. Lanky, flexible, and energetic, she was just right for gymnastics, and she loved it. Of course, she was a little nervous about competing, but she was good at gymnastics and felt confident of doing well. She had even thought about the perfect place in her room to hang the ribbon she would win.</a:t>
            </a:r>
          </a:p>
          <a:p>
            <a:pPr>
              <a:defRPr/>
            </a:pPr>
            <a:r>
              <a:rPr lang="en-GB" dirty="0" smtClean="0"/>
              <a:t>In the first event, the floor exercises, Elizabeth went first. Although she did a nice job, the scoring changed after the first few girls and she lost. Elizabeth also did well in the other events, but not well enough to win. By the end of the evening, she had received no ribbons and was devastated.</a:t>
            </a:r>
          </a:p>
          <a:p>
            <a:endParaRPr lang="en-GB"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21</a:t>
            </a:fld>
            <a:endParaRPr lang="en-GB"/>
          </a:p>
        </p:txBody>
      </p:sp>
    </p:spTree>
    <p:extLst>
      <p:ext uri="{BB962C8B-B14F-4D97-AF65-F5344CB8AC3E}">
        <p14:creationId xmlns:p14="http://schemas.microsoft.com/office/powerpoint/2010/main" val="29152905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GB" dirty="0" smtClean="0"/>
              <a:t>There is a strong message in our society about how to boost children’s self-esteem, and a main part of that message is: Protect them from failure ! While this may help with the immediate problem of a child’s disappointment, it can be harmful in the long run. Why?</a:t>
            </a:r>
          </a:p>
          <a:p>
            <a:pPr>
              <a:defRPr/>
            </a:pPr>
            <a:r>
              <a:rPr lang="en-GB" dirty="0" smtClean="0"/>
              <a:t>Let’s look at the five possible reactions from a </a:t>
            </a:r>
            <a:r>
              <a:rPr lang="en-GB" dirty="0" err="1" smtClean="0"/>
              <a:t>mindset</a:t>
            </a:r>
            <a:r>
              <a:rPr lang="en-GB" dirty="0" smtClean="0"/>
              <a:t> point of view [and listen to the messages:]</a:t>
            </a:r>
          </a:p>
          <a:p>
            <a:pPr>
              <a:defRPr/>
            </a:pPr>
            <a:r>
              <a:rPr lang="en-GB" dirty="0" smtClean="0"/>
              <a:t>The first (you thought she was the best) is basically insincere. She was not the best – you know it, and she does too. This offers her no recipe for how to recover or how to improve.</a:t>
            </a:r>
          </a:p>
          <a:p>
            <a:pPr>
              <a:defRPr/>
            </a:pPr>
            <a:r>
              <a:rPr lang="en-GB" dirty="0" smtClean="0"/>
              <a:t>The second (she was robbed) places blame on others, when in fact the problem was mostly with her performance, not the judges. Do you want her to grow up blaming others for her deficiencies?</a:t>
            </a:r>
          </a:p>
          <a:p>
            <a:pPr>
              <a:defRPr/>
            </a:pPr>
            <a:r>
              <a:rPr lang="en-GB" dirty="0" smtClean="0"/>
              <a:t>The third (reassure her that gymnastics doesn’t really matter) teaches her to devalue something if she doesn’t do well in it right away. Is this really the message you want to send?</a:t>
            </a:r>
          </a:p>
          <a:p>
            <a:pPr>
              <a:defRPr/>
            </a:pPr>
            <a:r>
              <a:rPr lang="en-GB" dirty="0" smtClean="0"/>
              <a:t>The fourth (she has the ability) may be the most dangerous message of all. Does ability automatically take you where you want to go? If Elizabeth didn’t win this meet, why should she win the next one?</a:t>
            </a:r>
          </a:p>
          <a:p>
            <a:pPr>
              <a:defRPr/>
            </a:pPr>
            <a:r>
              <a:rPr lang="en-GB" dirty="0" smtClean="0"/>
              <a:t>The last option (tell her she didn’t deserve to win) seems </a:t>
            </a:r>
            <a:r>
              <a:rPr lang="en-GB" dirty="0" err="1" smtClean="0"/>
              <a:t>hardhearted</a:t>
            </a:r>
            <a:r>
              <a:rPr lang="en-GB" dirty="0" smtClean="0"/>
              <a:t> under the circumstances. And of course you wouldn’t say it quite that way. But that’s pretty much what her growth-minded father told he.</a:t>
            </a:r>
          </a:p>
          <a:p>
            <a:pPr>
              <a:defRPr/>
            </a:pPr>
            <a:r>
              <a:rPr lang="en-GB" dirty="0" smtClean="0"/>
              <a:t> </a:t>
            </a:r>
          </a:p>
          <a:p>
            <a:pPr>
              <a:defRPr/>
            </a:pPr>
            <a:endParaRPr lang="en-GB"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22</a:t>
            </a:fld>
            <a:endParaRPr lang="en-GB"/>
          </a:p>
        </p:txBody>
      </p:sp>
    </p:spTree>
    <p:extLst>
      <p:ext uri="{BB962C8B-B14F-4D97-AF65-F5344CB8AC3E}">
        <p14:creationId xmlns:p14="http://schemas.microsoft.com/office/powerpoint/2010/main" val="32076720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23</a:t>
            </a:fld>
            <a:endParaRPr lang="en-GB"/>
          </a:p>
        </p:txBody>
      </p:sp>
    </p:spTree>
    <p:extLst>
      <p:ext uri="{BB962C8B-B14F-4D97-AF65-F5344CB8AC3E}">
        <p14:creationId xmlns:p14="http://schemas.microsoft.com/office/powerpoint/2010/main" val="6861732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24</a:t>
            </a:fld>
            <a:endParaRPr lang="en-GB"/>
          </a:p>
        </p:txBody>
      </p:sp>
    </p:spTree>
    <p:extLst>
      <p:ext uri="{BB962C8B-B14F-4D97-AF65-F5344CB8AC3E}">
        <p14:creationId xmlns:p14="http://schemas.microsoft.com/office/powerpoint/2010/main" val="27328670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25</a:t>
            </a:fld>
            <a:endParaRPr lang="en-GB"/>
          </a:p>
        </p:txBody>
      </p:sp>
    </p:spTree>
    <p:extLst>
      <p:ext uri="{BB962C8B-B14F-4D97-AF65-F5344CB8AC3E}">
        <p14:creationId xmlns:p14="http://schemas.microsoft.com/office/powerpoint/2010/main" val="33260684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26</a:t>
            </a:fld>
            <a:endParaRPr lang="en-GB"/>
          </a:p>
        </p:txBody>
      </p:sp>
    </p:spTree>
    <p:extLst>
      <p:ext uri="{BB962C8B-B14F-4D97-AF65-F5344CB8AC3E}">
        <p14:creationId xmlns:p14="http://schemas.microsoft.com/office/powerpoint/2010/main" val="17336912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27</a:t>
            </a:fld>
            <a:endParaRPr lang="en-GB"/>
          </a:p>
        </p:txBody>
      </p:sp>
    </p:spTree>
    <p:extLst>
      <p:ext uri="{BB962C8B-B14F-4D97-AF65-F5344CB8AC3E}">
        <p14:creationId xmlns:p14="http://schemas.microsoft.com/office/powerpoint/2010/main" val="4032427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28</a:t>
            </a:fld>
            <a:endParaRPr lang="en-GB"/>
          </a:p>
        </p:txBody>
      </p:sp>
    </p:spTree>
    <p:extLst>
      <p:ext uri="{BB962C8B-B14F-4D97-AF65-F5344CB8AC3E}">
        <p14:creationId xmlns:p14="http://schemas.microsoft.com/office/powerpoint/2010/main" val="1468409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4/30/2019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www.classdojo.com/"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3847549"/>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5" name="Title 1"/>
          <p:cNvSpPr txBox="1">
            <a:spLocks/>
          </p:cNvSpPr>
          <p:nvPr/>
        </p:nvSpPr>
        <p:spPr>
          <a:xfrm>
            <a:off x="685800" y="525463"/>
            <a:ext cx="7772400" cy="1270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ltLang="en-US" sz="4000" dirty="0" smtClean="0">
              <a:solidFill>
                <a:schemeClr val="bg1"/>
              </a:solidFill>
              <a:latin typeface="Calibri" pitchFamily="34" charset="0"/>
            </a:endParaRPr>
          </a:p>
        </p:txBody>
      </p:sp>
      <p:sp>
        <p:nvSpPr>
          <p:cNvPr id="6" name="Subtitle 2"/>
          <p:cNvSpPr txBox="1">
            <a:spLocks/>
          </p:cNvSpPr>
          <p:nvPr/>
        </p:nvSpPr>
        <p:spPr>
          <a:xfrm>
            <a:off x="1264023" y="2212975"/>
            <a:ext cx="6176683" cy="342582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charset="0"/>
              <a:buNone/>
            </a:pPr>
            <a:endParaRPr lang="en-US" altLang="en-US" sz="2800" dirty="0" smtClean="0"/>
          </a:p>
        </p:txBody>
      </p:sp>
      <p:sp>
        <p:nvSpPr>
          <p:cNvPr id="7" name="Title 1"/>
          <p:cNvSpPr txBox="1">
            <a:spLocks/>
          </p:cNvSpPr>
          <p:nvPr/>
        </p:nvSpPr>
        <p:spPr>
          <a:xfrm>
            <a:off x="685800" y="2829164"/>
            <a:ext cx="7772400" cy="1470025"/>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dirty="0" smtClean="0">
                <a:solidFill>
                  <a:schemeClr val="bg1"/>
                </a:solidFill>
              </a:rPr>
              <a:t>Growth </a:t>
            </a:r>
            <a:r>
              <a:rPr lang="en-GB" dirty="0" err="1" smtClean="0">
                <a:solidFill>
                  <a:schemeClr val="bg1"/>
                </a:solidFill>
              </a:rPr>
              <a:t>Mindset</a:t>
            </a:r>
            <a:endParaRPr lang="en-GB" dirty="0">
              <a:solidFill>
                <a:schemeClr val="bg1"/>
              </a:solidFill>
            </a:endParaRPr>
          </a:p>
        </p:txBody>
      </p:sp>
    </p:spTree>
    <p:extLst>
      <p:ext uri="{BB962C8B-B14F-4D97-AF65-F5344CB8AC3E}">
        <p14:creationId xmlns:p14="http://schemas.microsoft.com/office/powerpoint/2010/main" val="41886237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88894" y="1470212"/>
            <a:ext cx="7628965" cy="4655951"/>
          </a:xfrm>
          <a:prstGeom prst="rect">
            <a:avLst/>
          </a:prstGeom>
        </p:spPr>
        <p:txBody>
          <a:bodyPr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defRPr/>
            </a:pPr>
            <a:endParaRPr lang="en-US" sz="2000" dirty="0">
              <a:latin typeface="Calibri" charset="0"/>
            </a:endParaRPr>
          </a:p>
        </p:txBody>
      </p:sp>
      <p:sp>
        <p:nvSpPr>
          <p:cNvPr id="6" name="Title 1"/>
          <p:cNvSpPr txBox="1">
            <a:spLocks/>
          </p:cNvSpPr>
          <p:nvPr/>
        </p:nvSpPr>
        <p:spPr>
          <a:xfrm>
            <a:off x="457200" y="342900"/>
            <a:ext cx="8229600" cy="787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altLang="en-US" sz="2800" dirty="0" smtClean="0">
              <a:latin typeface="Calibri" pitchFamily="34" charset="0"/>
            </a:endParaRPr>
          </a:p>
        </p:txBody>
      </p:sp>
      <p:pic>
        <p:nvPicPr>
          <p:cNvPr id="4" name="Content Placeholder 3" descr="quiz.jpg"/>
          <p:cNvPicPr>
            <a:picLocks noChangeAspect="1"/>
          </p:cNvPicPr>
          <p:nvPr/>
        </p:nvPicPr>
        <p:blipFill>
          <a:blip r:embed="rId3" cstate="print"/>
          <a:stretch>
            <a:fillRect/>
          </a:stretch>
        </p:blipFill>
        <p:spPr>
          <a:xfrm>
            <a:off x="2294945" y="2653902"/>
            <a:ext cx="4616862" cy="2585443"/>
          </a:xfrm>
          <a:prstGeom prst="rect">
            <a:avLst/>
          </a:prstGeom>
        </p:spPr>
      </p:pic>
      <p:sp>
        <p:nvSpPr>
          <p:cNvPr id="7" name="Title 1"/>
          <p:cNvSpPr txBox="1">
            <a:spLocks/>
          </p:cNvSpPr>
          <p:nvPr/>
        </p:nvSpPr>
        <p:spPr>
          <a:xfrm>
            <a:off x="457200" y="1258049"/>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Quiz</a:t>
            </a:r>
            <a:endParaRPr lang="en-GB" dirty="0"/>
          </a:p>
        </p:txBody>
      </p:sp>
    </p:spTree>
    <p:extLst>
      <p:ext uri="{BB962C8B-B14F-4D97-AF65-F5344CB8AC3E}">
        <p14:creationId xmlns:p14="http://schemas.microsoft.com/office/powerpoint/2010/main" val="19741923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inking_Face_Emoji-Emoji-Island.png"/>
          <p:cNvPicPr>
            <a:picLocks noChangeAspect="1"/>
          </p:cNvPicPr>
          <p:nvPr/>
        </p:nvPicPr>
        <p:blipFill>
          <a:blip r:embed="rId3" cstate="print"/>
          <a:stretch>
            <a:fillRect/>
          </a:stretch>
        </p:blipFill>
        <p:spPr>
          <a:xfrm>
            <a:off x="1691680" y="3717032"/>
            <a:ext cx="2564904" cy="2564904"/>
          </a:xfrm>
          <a:prstGeom prst="rect">
            <a:avLst/>
          </a:prstGeom>
        </p:spPr>
      </p:pic>
      <p:sp>
        <p:nvSpPr>
          <p:cNvPr id="3" name="Oval Callout 2"/>
          <p:cNvSpPr/>
          <p:nvPr/>
        </p:nvSpPr>
        <p:spPr>
          <a:xfrm>
            <a:off x="2699792" y="836712"/>
            <a:ext cx="6192688" cy="3168352"/>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3707904" y="1412776"/>
            <a:ext cx="4248472" cy="1569660"/>
          </a:xfrm>
          <a:prstGeom prst="rect">
            <a:avLst/>
          </a:prstGeom>
          <a:noFill/>
        </p:spPr>
        <p:txBody>
          <a:bodyPr wrap="square" rtlCol="0">
            <a:spAutoFit/>
          </a:bodyPr>
          <a:lstStyle/>
          <a:p>
            <a:pPr algn="ctr"/>
            <a:r>
              <a:rPr lang="en-GB" sz="4800" dirty="0" smtClean="0"/>
              <a:t>Are people born clever?</a:t>
            </a:r>
            <a:endParaRPr lang="en-GB" sz="4800" dirty="0"/>
          </a:p>
        </p:txBody>
      </p:sp>
    </p:spTree>
    <p:extLst>
      <p:ext uri="{BB962C8B-B14F-4D97-AF65-F5344CB8AC3E}">
        <p14:creationId xmlns:p14="http://schemas.microsoft.com/office/powerpoint/2010/main" val="19698424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857670"/>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Born with it?</a:t>
            </a:r>
            <a:endParaRPr lang="en-GB" dirty="0"/>
          </a:p>
        </p:txBody>
      </p:sp>
      <p:sp>
        <p:nvSpPr>
          <p:cNvPr id="3" name="Content Placeholder 2"/>
          <p:cNvSpPr txBox="1">
            <a:spLocks/>
          </p:cNvSpPr>
          <p:nvPr/>
        </p:nvSpPr>
        <p:spPr>
          <a:xfrm>
            <a:off x="457200" y="1600200"/>
            <a:ext cx="8229600" cy="4525963"/>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Einstein's teacher said that he was “academically subnormal.”</a:t>
            </a:r>
          </a:p>
          <a:p>
            <a:r>
              <a:rPr lang="en-GB" smtClean="0"/>
              <a:t>Michael Jordan's coach said that he “wasn’t more talented than other people.”</a:t>
            </a:r>
          </a:p>
          <a:p>
            <a:r>
              <a:rPr lang="en-GB" smtClean="0"/>
              <a:t>Walt Disney was told that he lacked “creative imagination.”</a:t>
            </a:r>
            <a:endParaRPr lang="en-GB" dirty="0"/>
          </a:p>
        </p:txBody>
      </p:sp>
    </p:spTree>
    <p:extLst>
      <p:ext uri="{BB962C8B-B14F-4D97-AF65-F5344CB8AC3E}">
        <p14:creationId xmlns:p14="http://schemas.microsoft.com/office/powerpoint/2010/main" val="32106166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rowth vs fixed.jpg"/>
          <p:cNvPicPr>
            <a:picLocks noChangeAspect="1"/>
          </p:cNvPicPr>
          <p:nvPr/>
        </p:nvPicPr>
        <p:blipFill>
          <a:blip r:embed="rId3" cstate="print"/>
          <a:stretch>
            <a:fillRect/>
          </a:stretch>
        </p:blipFill>
        <p:spPr>
          <a:xfrm>
            <a:off x="1282878" y="522436"/>
            <a:ext cx="6444208" cy="3624867"/>
          </a:xfrm>
          <a:prstGeom prst="rect">
            <a:avLst/>
          </a:prstGeom>
        </p:spPr>
      </p:pic>
      <p:sp>
        <p:nvSpPr>
          <p:cNvPr id="3" name="Rectangle 2"/>
          <p:cNvSpPr/>
          <p:nvPr/>
        </p:nvSpPr>
        <p:spPr>
          <a:xfrm>
            <a:off x="467544" y="4149080"/>
            <a:ext cx="8280920" cy="2308324"/>
          </a:xfrm>
          <a:prstGeom prst="rect">
            <a:avLst/>
          </a:prstGeom>
        </p:spPr>
        <p:txBody>
          <a:bodyPr wrap="square">
            <a:spAutoFit/>
          </a:bodyPr>
          <a:lstStyle/>
          <a:p>
            <a:pPr algn="ctr"/>
            <a:r>
              <a:rPr lang="en-GB" altLang="en-US" sz="2400" i="1" dirty="0" smtClean="0"/>
              <a:t>The research of Carol S. </a:t>
            </a:r>
            <a:r>
              <a:rPr lang="en-GB" altLang="en-US" sz="2400" i="1" dirty="0" err="1" smtClean="0"/>
              <a:t>Dweck</a:t>
            </a:r>
            <a:endParaRPr lang="en-GB" altLang="en-US" sz="2400" i="1" dirty="0" smtClean="0"/>
          </a:p>
          <a:p>
            <a:pPr>
              <a:buFontTx/>
              <a:buChar char="-"/>
            </a:pPr>
            <a:r>
              <a:rPr lang="en-GB" altLang="en-US" sz="2400" dirty="0" smtClean="0"/>
              <a:t>Belief about ability</a:t>
            </a:r>
          </a:p>
          <a:p>
            <a:pPr>
              <a:buFontTx/>
              <a:buChar char="-"/>
            </a:pPr>
            <a:r>
              <a:rPr lang="en-GB" altLang="en-US" sz="2400" dirty="0" smtClean="0"/>
              <a:t>Affects decisions related to learning</a:t>
            </a:r>
          </a:p>
          <a:p>
            <a:pPr>
              <a:buFontTx/>
              <a:buChar char="-"/>
            </a:pPr>
            <a:r>
              <a:rPr lang="en-GB" altLang="en-US" sz="2400" dirty="0" smtClean="0"/>
              <a:t>Fixed mindset: intelligence and ability are fixed traits and there is very little you can do to improve it.</a:t>
            </a:r>
          </a:p>
          <a:p>
            <a:pPr>
              <a:buFontTx/>
              <a:buChar char="-"/>
            </a:pPr>
            <a:r>
              <a:rPr lang="en-GB" altLang="en-US" sz="2400" dirty="0" smtClean="0"/>
              <a:t>Growth mindset: intelligence and ability can be developed</a:t>
            </a:r>
          </a:p>
        </p:txBody>
      </p:sp>
    </p:spTree>
    <p:extLst>
      <p:ext uri="{BB962C8B-B14F-4D97-AF65-F5344CB8AC3E}">
        <p14:creationId xmlns:p14="http://schemas.microsoft.com/office/powerpoint/2010/main" val="21603136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Imagine...</a:t>
            </a:r>
            <a:endParaRPr lang="en-GB"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smtClean="0"/>
          </a:p>
          <a:p>
            <a:pPr>
              <a:buFont typeface="Arial"/>
              <a:buNone/>
            </a:pPr>
            <a:endParaRPr lang="en-GB" smtClean="0"/>
          </a:p>
          <a:p>
            <a:r>
              <a:rPr lang="en-GB" smtClean="0"/>
              <a:t>What would you think?</a:t>
            </a:r>
          </a:p>
          <a:p>
            <a:r>
              <a:rPr lang="en-GB" smtClean="0"/>
              <a:t>What would you feel?</a:t>
            </a:r>
          </a:p>
          <a:p>
            <a:r>
              <a:rPr lang="en-GB" smtClean="0"/>
              <a:t>What would you do?</a:t>
            </a:r>
            <a:endParaRPr lang="en-GB" dirty="0"/>
          </a:p>
        </p:txBody>
      </p:sp>
      <p:pic>
        <p:nvPicPr>
          <p:cNvPr id="4" name="Picture 3" descr="bad day.jpg"/>
          <p:cNvPicPr>
            <a:picLocks noChangeAspect="1"/>
          </p:cNvPicPr>
          <p:nvPr/>
        </p:nvPicPr>
        <p:blipFill>
          <a:blip r:embed="rId3" cstate="print"/>
          <a:stretch>
            <a:fillRect/>
          </a:stretch>
        </p:blipFill>
        <p:spPr>
          <a:xfrm>
            <a:off x="5796136" y="1484784"/>
            <a:ext cx="1952625" cy="2343150"/>
          </a:xfrm>
          <a:prstGeom prst="rect">
            <a:avLst/>
          </a:prstGeom>
        </p:spPr>
      </p:pic>
      <p:pic>
        <p:nvPicPr>
          <p:cNvPr id="5" name="Content Placeholder 3" descr="life sucks.jpg"/>
          <p:cNvPicPr>
            <a:picLocks noChangeAspect="1"/>
          </p:cNvPicPr>
          <p:nvPr/>
        </p:nvPicPr>
        <p:blipFill>
          <a:blip r:embed="rId4" cstate="print"/>
          <a:stretch>
            <a:fillRect/>
          </a:stretch>
        </p:blipFill>
        <p:spPr>
          <a:xfrm>
            <a:off x="5600873" y="4173538"/>
            <a:ext cx="2343150" cy="1952625"/>
          </a:xfrm>
          <a:prstGeom prst="rect">
            <a:avLst/>
          </a:prstGeom>
        </p:spPr>
      </p:pic>
    </p:spTree>
    <p:extLst>
      <p:ext uri="{BB962C8B-B14F-4D97-AF65-F5344CB8AC3E}">
        <p14:creationId xmlns:p14="http://schemas.microsoft.com/office/powerpoint/2010/main" val="41152956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Dweck’s research: transition to 7</a:t>
            </a:r>
            <a:r>
              <a:rPr lang="en-GB" baseline="30000" smtClean="0"/>
              <a:t>th</a:t>
            </a:r>
            <a:r>
              <a:rPr lang="en-GB" smtClean="0"/>
              <a:t> grade</a:t>
            </a:r>
            <a:endParaRPr lang="en-GB" dirty="0"/>
          </a:p>
        </p:txBody>
      </p:sp>
      <p:sp>
        <p:nvSpPr>
          <p:cNvPr id="3" name="Content Placeholder 2"/>
          <p:cNvSpPr txBox="1">
            <a:spLocks/>
          </p:cNvSpPr>
          <p:nvPr/>
        </p:nvSpPr>
        <p:spPr>
          <a:xfrm>
            <a:off x="457200" y="1600200"/>
            <a:ext cx="8229600" cy="4525963"/>
          </a:xfrm>
          <a:prstGeom prst="rect">
            <a:avLst/>
          </a:prstGeom>
        </p:spPr>
        <p:txBody>
          <a:bodyPr>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Work gets harder, kids begin to struggle</a:t>
            </a:r>
          </a:p>
          <a:p>
            <a:r>
              <a:rPr lang="en-GB" smtClean="0"/>
              <a:t>Assessed whether students with identical achievement scores at the beginning of 7th grade had fixed or growth mindsets</a:t>
            </a:r>
          </a:p>
          <a:p>
            <a:r>
              <a:rPr lang="en-GB" smtClean="0"/>
              <a:t>Fixed mindset students were focused on grades.</a:t>
            </a:r>
          </a:p>
          <a:p>
            <a:r>
              <a:rPr lang="en-GB" smtClean="0"/>
              <a:t>Growth mindset students said learning was more important than getting good grades. </a:t>
            </a:r>
          </a:p>
          <a:p>
            <a:r>
              <a:rPr lang="en-GB" smtClean="0"/>
              <a:t>Math grades rose dramatically in the growth mindset group as compared to the fixed mindset group.</a:t>
            </a:r>
            <a:endParaRPr lang="en-GB" dirty="0"/>
          </a:p>
        </p:txBody>
      </p:sp>
    </p:spTree>
    <p:extLst>
      <p:ext uri="{BB962C8B-B14F-4D97-AF65-F5344CB8AC3E}">
        <p14:creationId xmlns:p14="http://schemas.microsoft.com/office/powerpoint/2010/main" val="1571461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descr="download.jpg"/>
          <p:cNvPicPr>
            <a:picLocks noChangeAspect="1"/>
          </p:cNvPicPr>
          <p:nvPr/>
        </p:nvPicPr>
        <p:blipFill>
          <a:blip r:embed="rId3" cstate="print"/>
          <a:stretch>
            <a:fillRect/>
          </a:stretch>
        </p:blipFill>
        <p:spPr>
          <a:xfrm>
            <a:off x="1259633" y="1544127"/>
            <a:ext cx="6109330" cy="3829087"/>
          </a:xfrm>
          <a:prstGeom prst="rect">
            <a:avLst/>
          </a:prstGeom>
        </p:spPr>
      </p:pic>
    </p:spTree>
    <p:extLst>
      <p:ext uri="{BB962C8B-B14F-4D97-AF65-F5344CB8AC3E}">
        <p14:creationId xmlns:p14="http://schemas.microsoft.com/office/powerpoint/2010/main" val="74996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If you believe in a fixed mindset</a:t>
            </a:r>
            <a:endParaRPr lang="en-GB" dirty="0"/>
          </a:p>
        </p:txBody>
      </p:sp>
      <p:sp>
        <p:nvSpPr>
          <p:cNvPr id="3" name="Content Placeholder 2"/>
          <p:cNvSpPr txBox="1">
            <a:spLocks/>
          </p:cNvSpPr>
          <p:nvPr/>
        </p:nvSpPr>
        <p:spPr>
          <a:xfrm>
            <a:off x="457200" y="1600200"/>
            <a:ext cx="8229600" cy="4525963"/>
          </a:xfrm>
          <a:prstGeom prst="rect">
            <a:avLst/>
          </a:prstGeom>
        </p:spPr>
        <p:txBody>
          <a:bodyPr>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Success/ achievement should come naturally. If I have to work hard then I’m not very smart.</a:t>
            </a:r>
          </a:p>
          <a:p>
            <a:r>
              <a:rPr lang="en-GB" smtClean="0"/>
              <a:t>Hide mistakes and conceal deficiencies.</a:t>
            </a:r>
          </a:p>
          <a:p>
            <a:r>
              <a:rPr lang="en-GB" smtClean="0"/>
              <a:t>Tend to create PERFORMANCE goals.  They believe that a person’s POTENTIAL can be MEASURED. They aim to receive validation from others. Receiving low marks mean that they are not smart. Both success and failure cause ANXIETY.</a:t>
            </a:r>
          </a:p>
          <a:p>
            <a:r>
              <a:rPr lang="en-GB" smtClean="0"/>
              <a:t>Fixed mindset students have no recipe for recovering from failure, and instead tend to: </a:t>
            </a:r>
          </a:p>
          <a:p>
            <a:pPr lvl="1"/>
            <a:r>
              <a:rPr lang="en-GB" smtClean="0"/>
              <a:t>Give up </a:t>
            </a:r>
          </a:p>
          <a:p>
            <a:pPr lvl="1"/>
            <a:r>
              <a:rPr lang="en-GB" smtClean="0"/>
              <a:t>Blame others or circumstances </a:t>
            </a:r>
          </a:p>
          <a:p>
            <a:pPr lvl="1"/>
            <a:r>
              <a:rPr lang="en-GB" smtClean="0"/>
              <a:t>Try to feel superior in some other way</a:t>
            </a:r>
            <a:endParaRPr lang="en-GB" dirty="0"/>
          </a:p>
        </p:txBody>
      </p:sp>
    </p:spTree>
    <p:extLst>
      <p:ext uri="{BB962C8B-B14F-4D97-AF65-F5344CB8AC3E}">
        <p14:creationId xmlns:p14="http://schemas.microsoft.com/office/powerpoint/2010/main" val="26459834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If you believe in a growth mindset</a:t>
            </a:r>
            <a:endParaRPr lang="en-GB" dirty="0"/>
          </a:p>
        </p:txBody>
      </p:sp>
      <p:sp>
        <p:nvSpPr>
          <p:cNvPr id="3" name="Content Placeholder 2"/>
          <p:cNvSpPr txBox="1">
            <a:spLocks/>
          </p:cNvSpPr>
          <p:nvPr/>
        </p:nvSpPr>
        <p:spPr>
          <a:xfrm>
            <a:off x="457200" y="1600200"/>
            <a:ext cx="8229600" cy="4525963"/>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Work hard. Effort is key!</a:t>
            </a:r>
          </a:p>
          <a:p>
            <a:r>
              <a:rPr lang="en-GB" smtClean="0"/>
              <a:t>Confront setbacks.  Learn from mistakes.</a:t>
            </a:r>
          </a:p>
          <a:p>
            <a:r>
              <a:rPr lang="en-GB" smtClean="0"/>
              <a:t>Those with a growth mindset tend to create LEARNING goals.  The goal is MASTERY and COMPETENCE. Scores and marks reflect how people are doing NOW and do not measure a person’s potential.  Creating goals for learning has shown to INCREASE PERFORMANCE and enjoyment and decrease negative emotion. </a:t>
            </a:r>
            <a:endParaRPr lang="en-GB" dirty="0"/>
          </a:p>
        </p:txBody>
      </p:sp>
    </p:spTree>
    <p:extLst>
      <p:ext uri="{BB962C8B-B14F-4D97-AF65-F5344CB8AC3E}">
        <p14:creationId xmlns:p14="http://schemas.microsoft.com/office/powerpoint/2010/main" val="17891773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Language</a:t>
            </a:r>
            <a:endParaRPr lang="en-GB"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a:buNone/>
            </a:pPr>
            <a:r>
              <a:rPr lang="en-GB" smtClean="0"/>
              <a:t>Our words tell students what we believe and what we value</a:t>
            </a:r>
          </a:p>
          <a:p>
            <a:r>
              <a:rPr lang="en-GB" smtClean="0"/>
              <a:t>What words and phrases would you associate with a growth mindset?</a:t>
            </a:r>
          </a:p>
          <a:p>
            <a:r>
              <a:rPr lang="en-GB" smtClean="0"/>
              <a:t>What language would you be using in your classroom?</a:t>
            </a:r>
          </a:p>
          <a:p>
            <a:pPr>
              <a:buFont typeface="Arial"/>
              <a:buNone/>
            </a:pPr>
            <a:endParaRPr lang="en-GB" dirty="0"/>
          </a:p>
        </p:txBody>
      </p:sp>
    </p:spTree>
    <p:extLst>
      <p:ext uri="{BB962C8B-B14F-4D97-AF65-F5344CB8AC3E}">
        <p14:creationId xmlns:p14="http://schemas.microsoft.com/office/powerpoint/2010/main" val="12522845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Introducing growth mindset language</a:t>
            </a:r>
            <a:endParaRPr lang="en-GB"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Create a wall display based around the words</a:t>
            </a:r>
          </a:p>
          <a:p>
            <a:r>
              <a:rPr lang="en-GB" smtClean="0"/>
              <a:t>Get students to create work (posters, guides, leaflets) based on the words</a:t>
            </a:r>
          </a:p>
          <a:p>
            <a:r>
              <a:rPr lang="en-GB" smtClean="0"/>
              <a:t>Use the words as part of the feedback you deliver, both written and verbal</a:t>
            </a:r>
          </a:p>
          <a:p>
            <a:r>
              <a:rPr lang="en-GB" smtClean="0"/>
              <a:t>Start a class game of ‘spot the example’</a:t>
            </a:r>
          </a:p>
          <a:p>
            <a:r>
              <a:rPr lang="en-GB" smtClean="0"/>
              <a:t>Model using the words in conversation</a:t>
            </a:r>
            <a:endParaRPr lang="en-GB" dirty="0"/>
          </a:p>
        </p:txBody>
      </p:sp>
    </p:spTree>
    <p:extLst>
      <p:ext uri="{BB962C8B-B14F-4D97-AF65-F5344CB8AC3E}">
        <p14:creationId xmlns:p14="http://schemas.microsoft.com/office/powerpoint/2010/main" val="18425490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Reframing language</a:t>
            </a:r>
            <a:endParaRPr lang="en-GB"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I can’t do it</a:t>
            </a:r>
          </a:p>
          <a:p>
            <a:r>
              <a:rPr lang="en-GB" smtClean="0"/>
              <a:t>I’ll never be able to do it</a:t>
            </a:r>
          </a:p>
          <a:p>
            <a:r>
              <a:rPr lang="en-GB" smtClean="0"/>
              <a:t>This isn’t me</a:t>
            </a:r>
          </a:p>
          <a:p>
            <a:r>
              <a:rPr lang="en-GB" smtClean="0"/>
              <a:t>I’m not an Art person</a:t>
            </a:r>
          </a:p>
          <a:p>
            <a:r>
              <a:rPr lang="en-GB" smtClean="0"/>
              <a:t>There’s no way I’ll ever be able to get the hang of this</a:t>
            </a:r>
            <a:endParaRPr lang="en-GB" dirty="0"/>
          </a:p>
        </p:txBody>
      </p:sp>
    </p:spTree>
    <p:extLst>
      <p:ext uri="{BB962C8B-B14F-4D97-AF65-F5344CB8AC3E}">
        <p14:creationId xmlns:p14="http://schemas.microsoft.com/office/powerpoint/2010/main" val="36091831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Metaphors and similes</a:t>
            </a:r>
            <a:endParaRPr lang="en-GB" dirty="0"/>
          </a:p>
        </p:txBody>
      </p:sp>
      <p:sp>
        <p:nvSpPr>
          <p:cNvPr id="3" name="Content Placeholder 2"/>
          <p:cNvSpPr txBox="1">
            <a:spLocks/>
          </p:cNvSpPr>
          <p:nvPr/>
        </p:nvSpPr>
        <p:spPr>
          <a:xfrm>
            <a:off x="457200" y="1600200"/>
            <a:ext cx="8229600" cy="4525963"/>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Your brain is like a muscle – it gets stronger the more you use it </a:t>
            </a:r>
            <a:r>
              <a:rPr lang="en-GB" smtClean="0">
                <a:hlinkClick r:id="rId3"/>
              </a:rPr>
              <a:t>www.classdojo.com</a:t>
            </a:r>
            <a:endParaRPr lang="en-GB" smtClean="0"/>
          </a:p>
          <a:p>
            <a:r>
              <a:rPr lang="en-GB" smtClean="0"/>
              <a:t>Feedback is your friend; it’s there to help you</a:t>
            </a:r>
          </a:p>
          <a:p>
            <a:r>
              <a:rPr lang="en-GB" smtClean="0"/>
              <a:t>Effort is a vector – it needs direction as well as size</a:t>
            </a:r>
          </a:p>
          <a:p>
            <a:r>
              <a:rPr lang="en-GB" smtClean="0"/>
              <a:t>Challenges are brain food</a:t>
            </a:r>
          </a:p>
          <a:p>
            <a:r>
              <a:rPr lang="en-GB" smtClean="0"/>
              <a:t>Mistakes are the building blocks of understanding</a:t>
            </a:r>
            <a:endParaRPr lang="en-GB" dirty="0"/>
          </a:p>
        </p:txBody>
      </p:sp>
    </p:spTree>
    <p:extLst>
      <p:ext uri="{BB962C8B-B14F-4D97-AF65-F5344CB8AC3E}">
        <p14:creationId xmlns:p14="http://schemas.microsoft.com/office/powerpoint/2010/main" val="5206552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Praise</a:t>
            </a:r>
            <a:endParaRPr lang="en-GB" dirty="0"/>
          </a:p>
        </p:txBody>
      </p:sp>
      <p:sp>
        <p:nvSpPr>
          <p:cNvPr id="3" name="Content Placeholder 2"/>
          <p:cNvSpPr txBox="1">
            <a:spLocks/>
          </p:cNvSpPr>
          <p:nvPr/>
        </p:nvSpPr>
        <p:spPr>
          <a:xfrm>
            <a:off x="457200" y="1600200"/>
            <a:ext cx="8229600" cy="4525963"/>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Praising intelligence makes children fragile. </a:t>
            </a:r>
          </a:p>
          <a:p>
            <a:r>
              <a:rPr lang="en-GB" smtClean="0"/>
              <a:t>Our tendency to praise able/successful children for their intelligence may actually be detrimental to their long-term intellectual growth and development.</a:t>
            </a:r>
          </a:p>
          <a:p>
            <a:r>
              <a:rPr lang="en-GB" smtClean="0"/>
              <a:t>Students praised for intelligence:</a:t>
            </a:r>
          </a:p>
          <a:p>
            <a:pPr lvl="1"/>
            <a:r>
              <a:rPr lang="en-GB" smtClean="0"/>
              <a:t>Selected easier tasks when given choice</a:t>
            </a:r>
          </a:p>
          <a:p>
            <a:pPr lvl="1"/>
            <a:r>
              <a:rPr lang="en-GB" smtClean="0"/>
              <a:t>Lied about their scores in an effort to look “smart”</a:t>
            </a:r>
            <a:endParaRPr lang="en-GB" dirty="0"/>
          </a:p>
        </p:txBody>
      </p:sp>
    </p:spTree>
    <p:extLst>
      <p:ext uri="{BB962C8B-B14F-4D97-AF65-F5344CB8AC3E}">
        <p14:creationId xmlns:p14="http://schemas.microsoft.com/office/powerpoint/2010/main" val="439117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p:cNvSpPr txBox="1">
            <a:spLocks/>
          </p:cNvSpPr>
          <p:nvPr/>
        </p:nvSpPr>
        <p:spPr>
          <a:xfrm>
            <a:off x="0" y="333375"/>
            <a:ext cx="9144000" cy="663575"/>
          </a:xfrm>
          <a:prstGeom prst="rect">
            <a:avLst/>
          </a:prstGeom>
        </p:spPr>
        <p:txBody>
          <a:bodyPr>
            <a:normAutofit fontScale="5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Messages About Success</a:t>
            </a:r>
            <a:br>
              <a:rPr lang="en-GB" altLang="en-US" smtClean="0"/>
            </a:br>
            <a:endParaRPr lang="en-GB" altLang="en-US" dirty="0" smtClean="0"/>
          </a:p>
        </p:txBody>
      </p:sp>
      <p:sp>
        <p:nvSpPr>
          <p:cNvPr id="3" name="Content Placeholder 4"/>
          <p:cNvSpPr txBox="1">
            <a:spLocks/>
          </p:cNvSpPr>
          <p:nvPr/>
        </p:nvSpPr>
        <p:spPr>
          <a:xfrm>
            <a:off x="179388" y="908050"/>
            <a:ext cx="8964612" cy="5401270"/>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2"/>
              <a:buNone/>
            </a:pPr>
            <a:r>
              <a:rPr lang="en-GB" altLang="en-US" sz="2400" smtClean="0"/>
              <a:t>Listen for the messages in the following examples:</a:t>
            </a:r>
          </a:p>
          <a:p>
            <a:pPr>
              <a:buFont typeface="Wingdings" charset="2"/>
              <a:buNone/>
            </a:pPr>
            <a:r>
              <a:rPr lang="en-GB" altLang="en-US" sz="2400" i="1" smtClean="0">
                <a:solidFill>
                  <a:srgbClr val="00B050"/>
                </a:solidFill>
              </a:rPr>
              <a:t>“You learned that so quickly! You’re so smart!”</a:t>
            </a:r>
          </a:p>
          <a:p>
            <a:pPr>
              <a:buFont typeface="Wingdings" charset="2"/>
              <a:buNone/>
            </a:pPr>
            <a:r>
              <a:rPr lang="en-GB" altLang="en-US" sz="2400" i="1" smtClean="0">
                <a:solidFill>
                  <a:srgbClr val="00B050"/>
                </a:solidFill>
              </a:rPr>
              <a:t>“Look at that drawing. Martha, is he the next Picasso or what?”</a:t>
            </a:r>
          </a:p>
          <a:p>
            <a:pPr>
              <a:buFont typeface="Wingdings" charset="2"/>
              <a:buNone/>
            </a:pPr>
            <a:r>
              <a:rPr lang="en-GB" altLang="en-US" sz="2400" i="1" smtClean="0">
                <a:solidFill>
                  <a:srgbClr val="00B050"/>
                </a:solidFill>
              </a:rPr>
              <a:t>“You’re so brilliant, you got an A without even studying!”</a:t>
            </a:r>
          </a:p>
          <a:p>
            <a:pPr>
              <a:buFont typeface="Wingdings" charset="2"/>
              <a:buNone/>
            </a:pPr>
            <a:endParaRPr lang="en-GB" altLang="en-US" sz="2400" smtClean="0"/>
          </a:p>
          <a:p>
            <a:pPr>
              <a:buFont typeface="Wingdings" charset="2"/>
              <a:buNone/>
            </a:pPr>
            <a:r>
              <a:rPr lang="en-GB" altLang="en-US" sz="2400" smtClean="0"/>
              <a:t>If you’re like most parents, you hear these as supportive,</a:t>
            </a:r>
          </a:p>
          <a:p>
            <a:pPr>
              <a:buFont typeface="Wingdings" charset="2"/>
              <a:buNone/>
            </a:pPr>
            <a:r>
              <a:rPr lang="en-GB" altLang="en-US" sz="2400" smtClean="0"/>
              <a:t>esteem-boosting messages. But listen more closely. See if you can hear another message. It’s the ones that children hear:</a:t>
            </a:r>
          </a:p>
          <a:p>
            <a:pPr>
              <a:buFont typeface="Wingdings" charset="2"/>
              <a:buNone/>
            </a:pPr>
            <a:endParaRPr lang="en-GB" altLang="en-US" sz="2400" smtClean="0"/>
          </a:p>
          <a:p>
            <a:pPr>
              <a:buFont typeface="Wingdings" charset="2"/>
              <a:buNone/>
            </a:pPr>
            <a:r>
              <a:rPr lang="en-GB" altLang="en-US" sz="2400" smtClean="0">
                <a:solidFill>
                  <a:srgbClr val="FF0000"/>
                </a:solidFill>
              </a:rPr>
              <a:t>“If I don’t learn something quickly, I’m not smart.”</a:t>
            </a:r>
          </a:p>
          <a:p>
            <a:pPr>
              <a:buFont typeface="Wingdings" charset="2"/>
              <a:buNone/>
            </a:pPr>
            <a:r>
              <a:rPr lang="en-GB" altLang="en-US" sz="2400" smtClean="0">
                <a:solidFill>
                  <a:srgbClr val="FF0000"/>
                </a:solidFill>
              </a:rPr>
              <a:t>“I shouldn’t try drawing anything hard or they’ll see I’m no Picasso.”</a:t>
            </a:r>
          </a:p>
          <a:p>
            <a:pPr>
              <a:buFont typeface="Wingdings" charset="2"/>
              <a:buNone/>
            </a:pPr>
            <a:r>
              <a:rPr lang="en-GB" altLang="en-US" sz="2400" smtClean="0">
                <a:solidFill>
                  <a:srgbClr val="FF0000"/>
                </a:solidFill>
              </a:rPr>
              <a:t>“I’d better quit studying or they won’t think I’m brilliant.”</a:t>
            </a:r>
          </a:p>
          <a:p>
            <a:endParaRPr lang="en-GB" altLang="en-US" dirty="0" smtClean="0"/>
          </a:p>
        </p:txBody>
      </p:sp>
    </p:spTree>
    <p:extLst>
      <p:ext uri="{BB962C8B-B14F-4D97-AF65-F5344CB8AC3E}">
        <p14:creationId xmlns:p14="http://schemas.microsoft.com/office/powerpoint/2010/main" val="15090891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Praise effort!</a:t>
            </a:r>
            <a:endParaRPr lang="en-GB"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Students who were praised for effort:</a:t>
            </a:r>
          </a:p>
          <a:p>
            <a:pPr lvl="1"/>
            <a:r>
              <a:rPr lang="en-GB" smtClean="0"/>
              <a:t>Overwhelmingly (90%) chose more challenging tasks</a:t>
            </a:r>
          </a:p>
          <a:p>
            <a:pPr lvl="1"/>
            <a:r>
              <a:rPr lang="en-GB" smtClean="0"/>
              <a:t>Showed higher levels of engagement and achievement</a:t>
            </a:r>
            <a:endParaRPr lang="en-GB" dirty="0"/>
          </a:p>
        </p:txBody>
      </p:sp>
    </p:spTree>
    <p:extLst>
      <p:ext uri="{BB962C8B-B14F-4D97-AF65-F5344CB8AC3E}">
        <p14:creationId xmlns:p14="http://schemas.microsoft.com/office/powerpoint/2010/main" val="27546423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Providing feedback-based praise</a:t>
            </a:r>
            <a:endParaRPr lang="en-GB"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a:buNone/>
            </a:pPr>
            <a:r>
              <a:rPr lang="en-GB" smtClean="0"/>
              <a:t>Have a go at rewording the following examples of trait-based praise:</a:t>
            </a:r>
          </a:p>
          <a:p>
            <a:r>
              <a:rPr lang="en-GB" smtClean="0"/>
              <a:t>Great work from you – just as I would expect!</a:t>
            </a:r>
          </a:p>
          <a:p>
            <a:r>
              <a:rPr lang="en-GB" smtClean="0"/>
              <a:t>You’re amazing!</a:t>
            </a:r>
          </a:p>
          <a:p>
            <a:r>
              <a:rPr lang="en-GB" smtClean="0"/>
              <a:t>You’re so clever</a:t>
            </a:r>
          </a:p>
          <a:p>
            <a:r>
              <a:rPr lang="en-GB" smtClean="0"/>
              <a:t>I know a bright girl like you would get it right</a:t>
            </a:r>
          </a:p>
          <a:p>
            <a:r>
              <a:rPr lang="en-GB" smtClean="0"/>
              <a:t>Great answer, you little genius!</a:t>
            </a:r>
          </a:p>
          <a:p>
            <a:pPr>
              <a:buFont typeface="Arial"/>
              <a:buNone/>
            </a:pPr>
            <a:endParaRPr lang="en-GB" dirty="0"/>
          </a:p>
        </p:txBody>
      </p:sp>
    </p:spTree>
    <p:extLst>
      <p:ext uri="{BB962C8B-B14F-4D97-AF65-F5344CB8AC3E}">
        <p14:creationId xmlns:p14="http://schemas.microsoft.com/office/powerpoint/2010/main" val="559470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Mistakes</a:t>
            </a:r>
            <a:endParaRPr lang="en-GB" dirty="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mtClean="0"/>
              <a:t>Help students to perceive mistakes and failure as a useful part of the learning process</a:t>
            </a:r>
          </a:p>
          <a:p>
            <a:r>
              <a:rPr lang="en-GB" smtClean="0"/>
              <a:t>When learning something new it is to be expected that we will make mistakes</a:t>
            </a:r>
          </a:p>
          <a:p>
            <a:r>
              <a:rPr lang="en-GB" smtClean="0"/>
              <a:t>Putting the emotional experience of failure aside and looking objectively at what happened and why so that we can improve</a:t>
            </a:r>
            <a:endParaRPr lang="en-GB" dirty="0"/>
          </a:p>
        </p:txBody>
      </p:sp>
    </p:spTree>
    <p:extLst>
      <p:ext uri="{BB962C8B-B14F-4D97-AF65-F5344CB8AC3E}">
        <p14:creationId xmlns:p14="http://schemas.microsoft.com/office/powerpoint/2010/main" val="3753491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mtClean="0"/>
              <a:t>Elizabeth</a:t>
            </a:r>
            <a:endParaRPr lang="en-GB" dirty="0"/>
          </a:p>
        </p:txBody>
      </p:sp>
      <p:pic>
        <p:nvPicPr>
          <p:cNvPr id="3" name="Content Placeholder 3" descr="gymnastics.jpg"/>
          <p:cNvPicPr>
            <a:picLocks noChangeAspect="1"/>
          </p:cNvPicPr>
          <p:nvPr/>
        </p:nvPicPr>
        <p:blipFill>
          <a:blip r:embed="rId3" cstate="print"/>
          <a:stretch>
            <a:fillRect/>
          </a:stretch>
        </p:blipFill>
        <p:spPr>
          <a:xfrm>
            <a:off x="3275856" y="1700808"/>
            <a:ext cx="2599730" cy="3906698"/>
          </a:xfrm>
          <a:prstGeom prst="rect">
            <a:avLst/>
          </a:prstGeom>
        </p:spPr>
      </p:pic>
    </p:spTree>
    <p:extLst>
      <p:ext uri="{BB962C8B-B14F-4D97-AF65-F5344CB8AC3E}">
        <p14:creationId xmlns:p14="http://schemas.microsoft.com/office/powerpoint/2010/main" val="1383031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Messages about failure</a:t>
            </a:r>
            <a:endParaRPr lang="en-GB" altLang="en-US" dirty="0" smtClean="0"/>
          </a:p>
        </p:txBody>
      </p:sp>
      <p:sp>
        <p:nvSpPr>
          <p:cNvPr id="3" name="Content Placeholder 2"/>
          <p:cNvSpPr txBox="1">
            <a:spLocks/>
          </p:cNvSpPr>
          <p:nvPr/>
        </p:nvSpPr>
        <p:spPr>
          <a:xfrm>
            <a:off x="0" y="1484784"/>
            <a:ext cx="9144000" cy="453707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2"/>
              <a:buNone/>
            </a:pPr>
            <a:r>
              <a:rPr lang="en-GB" altLang="en-US" sz="2800" dirty="0" smtClean="0"/>
              <a:t>What would you do if you were Elizabeth’s parents?</a:t>
            </a:r>
          </a:p>
          <a:p>
            <a:pPr marL="514350" indent="-514350">
              <a:buFont typeface="+mj-lt"/>
              <a:buAutoNum type="arabicPeriod"/>
            </a:pPr>
            <a:r>
              <a:rPr lang="en-GB" altLang="en-US" sz="2800" dirty="0" smtClean="0"/>
              <a:t>Tell Elizabeth you thought she was the best.</a:t>
            </a:r>
          </a:p>
          <a:p>
            <a:pPr marL="514350" indent="-514350">
              <a:buFont typeface="+mj-lt"/>
              <a:buAutoNum type="arabicPeriod"/>
            </a:pPr>
            <a:r>
              <a:rPr lang="en-GB" altLang="en-US" sz="2800" dirty="0" smtClean="0"/>
              <a:t>Tell her she was robbed of a ribbon that was rightfully hers.</a:t>
            </a:r>
          </a:p>
          <a:p>
            <a:pPr marL="514350" indent="-514350">
              <a:buFont typeface="+mj-lt"/>
              <a:buAutoNum type="arabicPeriod"/>
            </a:pPr>
            <a:r>
              <a:rPr lang="en-GB" altLang="en-US" sz="2800" dirty="0" smtClean="0"/>
              <a:t>Reassure her that gymnastics is not that important</a:t>
            </a:r>
          </a:p>
          <a:p>
            <a:pPr marL="514350" indent="-514350">
              <a:buFont typeface="+mj-lt"/>
              <a:buAutoNum type="arabicPeriod"/>
            </a:pPr>
            <a:r>
              <a:rPr lang="en-GB" altLang="en-US" sz="2800" dirty="0" smtClean="0"/>
              <a:t>Tell her she has the ability and will surely win next time.</a:t>
            </a:r>
          </a:p>
          <a:p>
            <a:pPr marL="514350" indent="-514350">
              <a:buFont typeface="+mj-lt"/>
              <a:buAutoNum type="arabicPeriod"/>
            </a:pPr>
            <a:r>
              <a:rPr lang="en-GB" altLang="en-US" sz="2800" dirty="0" smtClean="0"/>
              <a:t>Tell her she didn’t deserve to win.</a:t>
            </a:r>
          </a:p>
          <a:p>
            <a:pPr>
              <a:buFont typeface="Wingdings" charset="2"/>
              <a:buNone/>
            </a:pPr>
            <a:endParaRPr lang="en-GB" altLang="en-US" dirty="0" smtClean="0"/>
          </a:p>
        </p:txBody>
      </p:sp>
    </p:spTree>
    <p:extLst>
      <p:ext uri="{BB962C8B-B14F-4D97-AF65-F5344CB8AC3E}">
        <p14:creationId xmlns:p14="http://schemas.microsoft.com/office/powerpoint/2010/main" val="2254582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How to motivate learners to develop a growth mindset</a:t>
            </a:r>
            <a:endParaRPr lang="en-GB" altLang="en-US" dirty="0" smtClean="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2400" smtClean="0"/>
              <a:t>Intelligence: demonstrate that it is isn’t fixed</a:t>
            </a:r>
          </a:p>
          <a:p>
            <a:r>
              <a:rPr lang="en-GB" altLang="en-US" sz="2400" smtClean="0"/>
              <a:t>Potential: full potential can only be reached through constant learning.</a:t>
            </a:r>
          </a:p>
          <a:p>
            <a:r>
              <a:rPr lang="en-GB" altLang="en-US" sz="2400" smtClean="0"/>
              <a:t>Validation: show the learner they can become whoever they wish to be.</a:t>
            </a:r>
          </a:p>
          <a:p>
            <a:r>
              <a:rPr lang="en-GB" altLang="en-US" sz="2400" smtClean="0"/>
              <a:t>Challenge: get them to welcome challenge and be willing to take reasonable risks to overcome and improve.</a:t>
            </a:r>
          </a:p>
          <a:p>
            <a:r>
              <a:rPr lang="en-GB" altLang="en-US" sz="2400" smtClean="0"/>
              <a:t>Learning: get them to value learning for what it will do for them.</a:t>
            </a:r>
            <a:endParaRPr lang="en-GB" altLang="en-US" sz="2400" dirty="0" smtClean="0"/>
          </a:p>
        </p:txBody>
      </p:sp>
    </p:spTree>
    <p:extLst>
      <p:ext uri="{BB962C8B-B14F-4D97-AF65-F5344CB8AC3E}">
        <p14:creationId xmlns:p14="http://schemas.microsoft.com/office/powerpoint/2010/main" val="901309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How to motivate learners to develop a growth mindset</a:t>
            </a:r>
            <a:endParaRPr lang="en-GB" altLang="en-US" dirty="0" smtClean="0"/>
          </a:p>
        </p:txBody>
      </p:sp>
      <p:sp>
        <p:nvSpPr>
          <p:cNvPr id="3" name="Content Placeholder 2"/>
          <p:cNvSpPr txBox="1">
            <a:spLocks/>
          </p:cNvSpPr>
          <p:nvPr/>
        </p:nvSpPr>
        <p:spPr>
          <a:xfrm>
            <a:off x="457200" y="1600200"/>
            <a:ext cx="8229600" cy="4525963"/>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2800" smtClean="0"/>
              <a:t>Praise effort as much as you praise results</a:t>
            </a:r>
          </a:p>
          <a:p>
            <a:r>
              <a:rPr lang="en-GB" altLang="en-US" sz="2800" smtClean="0"/>
              <a:t>Don’t make praise person-centred – success comes from hard work</a:t>
            </a:r>
          </a:p>
          <a:p>
            <a:r>
              <a:rPr lang="en-GB" altLang="en-US" sz="2800" smtClean="0"/>
              <a:t>Don’t allow learners who fail to consider themselves to be a failure. Get them to analyse what went wrong and put it right next time.</a:t>
            </a:r>
          </a:p>
          <a:p>
            <a:r>
              <a:rPr lang="en-GB" altLang="en-US" sz="2800" smtClean="0"/>
              <a:t>Emphasise that knowledge and skills can be cultivated and that effort is required for learning.</a:t>
            </a:r>
            <a:endParaRPr lang="en-GB" altLang="en-US" sz="2800" dirty="0" smtClean="0"/>
          </a:p>
        </p:txBody>
      </p:sp>
    </p:spTree>
    <p:extLst>
      <p:ext uri="{BB962C8B-B14F-4D97-AF65-F5344CB8AC3E}">
        <p14:creationId xmlns:p14="http://schemas.microsoft.com/office/powerpoint/2010/main" val="1573494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z="3200" smtClean="0"/>
              <a:t>How to motivate learners to develop a growth mindset</a:t>
            </a:r>
            <a:endParaRPr lang="en-GB" altLang="en-US" sz="3200" dirty="0" smtClean="0"/>
          </a:p>
        </p:txBody>
      </p:sp>
      <p:sp>
        <p:nvSpPr>
          <p:cNvPr id="3" name="Content Placeholder 2"/>
          <p:cNvSpPr txBox="1">
            <a:spLocks/>
          </p:cNvSpPr>
          <p:nvPr/>
        </p:nvSpPr>
        <p:spPr>
          <a:xfrm>
            <a:off x="179512" y="1628800"/>
            <a:ext cx="8713787" cy="4124325"/>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2800" smtClean="0"/>
              <a:t>Make use of analogies, metaphors and role models to demonstrate what can be achieved through hard work and effort.</a:t>
            </a:r>
          </a:p>
          <a:p>
            <a:r>
              <a:rPr lang="en-GB" altLang="en-US" sz="2800" smtClean="0"/>
              <a:t>Don’t allow learners to blame the teacher or the task for their failure. Get them to reflect on the effort they put in or the strategies they adopted to prepare for learning. Encourage use of self-assessment and peer assessment.</a:t>
            </a:r>
          </a:p>
          <a:p>
            <a:r>
              <a:rPr lang="en-GB" altLang="en-US" sz="2800" smtClean="0"/>
              <a:t>Convince your learners that every setback is a challenge and that every challenge is an opportunity to improve.</a:t>
            </a:r>
            <a:endParaRPr lang="en-GB" altLang="en-US" sz="2800" dirty="0" smtClean="0"/>
          </a:p>
        </p:txBody>
      </p:sp>
    </p:spTree>
    <p:extLst>
      <p:ext uri="{BB962C8B-B14F-4D97-AF65-F5344CB8AC3E}">
        <p14:creationId xmlns:p14="http://schemas.microsoft.com/office/powerpoint/2010/main" val="1226703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altLang="en-US" smtClean="0"/>
              <a:t>What will you do next?</a:t>
            </a:r>
            <a:endParaRPr lang="en-GB" altLang="en-US" dirty="0" smtClean="0"/>
          </a:p>
        </p:txBody>
      </p:sp>
      <p:sp>
        <p:nvSpPr>
          <p:cNvPr id="3" name="Content Placeholder 2"/>
          <p:cNvSpPr txBox="1">
            <a:spLocks/>
          </p:cNvSpPr>
          <p:nvPr/>
        </p:nvSpPr>
        <p:spPr>
          <a:xfrm>
            <a:off x="457200" y="1600200"/>
            <a:ext cx="8229600" cy="4525963"/>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2"/>
              <a:buNone/>
            </a:pPr>
            <a:r>
              <a:rPr lang="en-GB" altLang="en-US" smtClean="0"/>
              <a:t>Spend a few minutes of reflection, either on your own, or with a partner.</a:t>
            </a:r>
          </a:p>
          <a:p>
            <a:r>
              <a:rPr lang="en-GB" altLang="en-US" smtClean="0"/>
              <a:t>What will you start doing?</a:t>
            </a:r>
          </a:p>
          <a:p>
            <a:r>
              <a:rPr lang="en-GB" altLang="en-US" smtClean="0"/>
              <a:t>What will you do more of?</a:t>
            </a:r>
          </a:p>
          <a:p>
            <a:r>
              <a:rPr lang="en-GB" altLang="en-US" smtClean="0"/>
              <a:t>What will you stop doing?</a:t>
            </a:r>
          </a:p>
          <a:p>
            <a:pPr>
              <a:buFont typeface="Arial"/>
              <a:buNone/>
            </a:pPr>
            <a:endParaRPr lang="en-GB" altLang="en-US" smtClean="0"/>
          </a:p>
          <a:p>
            <a:pPr>
              <a:buFont typeface="Arial"/>
              <a:buNone/>
            </a:pPr>
            <a:r>
              <a:rPr lang="en-GB" altLang="en-US" smtClean="0"/>
              <a:t>‘Doing’ could be re-read as ‘saying’</a:t>
            </a:r>
          </a:p>
          <a:p>
            <a:pPr>
              <a:buFont typeface="Arial"/>
              <a:buNone/>
            </a:pPr>
            <a:r>
              <a:rPr lang="en-GB" altLang="en-US" smtClean="0"/>
              <a:t>Write your ideas down.</a:t>
            </a:r>
            <a:endParaRPr lang="en-GB" altLang="en-US" dirty="0" smtClean="0"/>
          </a:p>
        </p:txBody>
      </p:sp>
    </p:spTree>
    <p:extLst>
      <p:ext uri="{BB962C8B-B14F-4D97-AF65-F5344CB8AC3E}">
        <p14:creationId xmlns:p14="http://schemas.microsoft.com/office/powerpoint/2010/main" val="2655643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smtClean="0"/>
              <a:t>References</a:t>
            </a:r>
            <a:endParaRPr lang="en-US" altLang="en-US" dirty="0" smtClean="0"/>
          </a:p>
        </p:txBody>
      </p:sp>
      <p:sp>
        <p:nvSpPr>
          <p:cNvPr id="3" name="Content Placeholder 2"/>
          <p:cNvSpPr txBox="1">
            <a:spLocks/>
          </p:cNvSpPr>
          <p:nvPr/>
        </p:nvSpPr>
        <p:spPr>
          <a:xfrm>
            <a:off x="457200" y="1600200"/>
            <a:ext cx="8229600" cy="4525963"/>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altLang="en-US" sz="1800" smtClean="0">
                <a:latin typeface="Helvetica" pitchFamily="34" charset="0"/>
                <a:cs typeface="Helvetica" pitchFamily="34" charset="0"/>
              </a:rPr>
              <a:t>Brummelman, E., Thomaes, S., Orobio de Castro, B., Overbeek, G., &amp; Bushman, B. J. (2014). “That’s Not Just Beautiful--That's Incredibly Beautiful!”: The Adverse Impact of Inflated Praise on Children With Low Self-Esteem. </a:t>
            </a:r>
            <a:r>
              <a:rPr lang="en-GB" altLang="en-US" sz="1800" i="1" smtClean="0">
                <a:latin typeface="Helvetica" pitchFamily="34" charset="0"/>
                <a:cs typeface="Helvetica" pitchFamily="34" charset="0"/>
              </a:rPr>
              <a:t>Psychological Science</a:t>
            </a:r>
            <a:r>
              <a:rPr lang="en-GB" altLang="en-US" sz="1800" smtClean="0">
                <a:latin typeface="Helvetica" pitchFamily="34" charset="0"/>
                <a:cs typeface="Helvetica" pitchFamily="34" charset="0"/>
              </a:rPr>
              <a:t>, </a:t>
            </a:r>
            <a:r>
              <a:rPr lang="en-GB" altLang="en-US" sz="1800" i="1" smtClean="0">
                <a:latin typeface="Helvetica" pitchFamily="34" charset="0"/>
                <a:cs typeface="Helvetica" pitchFamily="34" charset="0"/>
              </a:rPr>
              <a:t>25</a:t>
            </a:r>
            <a:r>
              <a:rPr lang="en-GB" altLang="en-US" sz="1800" smtClean="0">
                <a:latin typeface="Helvetica" pitchFamily="34" charset="0"/>
                <a:cs typeface="Helvetica" pitchFamily="34" charset="0"/>
              </a:rPr>
              <a:t>(3), 728–735. doi:10.1177/0956797613514251</a:t>
            </a:r>
          </a:p>
          <a:p>
            <a:r>
              <a:rPr lang="en-GB" altLang="en-US" sz="1800" smtClean="0">
                <a:latin typeface="Helvetica" pitchFamily="34" charset="0"/>
                <a:cs typeface="Helvetica" pitchFamily="34" charset="0"/>
              </a:rPr>
              <a:t>Brummelman, E., Thomaes, S., Overbeek, G., Orobio de Castro, B., van den Hout, M. A., &amp; Bushman, B. J. (2014). On feeding those hungry for praise: Person praise backfires in   with low self-esteem. </a:t>
            </a:r>
            <a:r>
              <a:rPr lang="en-US" altLang="en-US" sz="1800" i="1" smtClean="0">
                <a:latin typeface="Helvetica" pitchFamily="34" charset="0"/>
                <a:cs typeface="Helvetica" pitchFamily="34" charset="0"/>
              </a:rPr>
              <a:t>Journal of Experimental Psychology: General, 143</a:t>
            </a:r>
            <a:r>
              <a:rPr lang="en-GB" altLang="en-US" sz="1800" i="1" smtClean="0">
                <a:latin typeface="Helvetica" pitchFamily="34" charset="0"/>
                <a:cs typeface="Helvetica" pitchFamily="34" charset="0"/>
              </a:rPr>
              <a:t>(1</a:t>
            </a:r>
            <a:r>
              <a:rPr lang="en-GB" altLang="en-US" sz="1800" smtClean="0">
                <a:latin typeface="Helvetica" pitchFamily="34" charset="0"/>
                <a:cs typeface="Helvetica" pitchFamily="34" charset="0"/>
              </a:rPr>
              <a:t>), 9-14. doi:10.1037/a0031917</a:t>
            </a:r>
          </a:p>
          <a:p>
            <a:r>
              <a:rPr lang="en-GB" altLang="en-US" sz="1800" smtClean="0">
                <a:latin typeface="Helvetica" pitchFamily="34" charset="0"/>
                <a:cs typeface="Helvetica" pitchFamily="34" charset="0"/>
              </a:rPr>
              <a:t>Dweck, C. S. (2012) Minset: How You Can Fulfil Your Potential. London: Robinson</a:t>
            </a:r>
          </a:p>
          <a:p>
            <a:r>
              <a:rPr lang="en-GB" altLang="en-US" sz="1800" smtClean="0">
                <a:latin typeface="Helvetica" pitchFamily="34" charset="0"/>
                <a:cs typeface="Helvetica" pitchFamily="34" charset="0"/>
              </a:rPr>
              <a:t>Gershon, M. (2016). How to develop growth mindsets in the classroom: The complete guide. </a:t>
            </a:r>
          </a:p>
          <a:p>
            <a:r>
              <a:rPr lang="en-GB" altLang="en-US" sz="1800" smtClean="0">
                <a:latin typeface="Helvetica" pitchFamily="34" charset="0"/>
                <a:cs typeface="Helvetica" pitchFamily="34" charset="0"/>
              </a:rPr>
              <a:t>Mueller, C &amp; Dweck, C. (1998). Praise for Intelligence Can Undermine Children's Motivation and Performance . </a:t>
            </a:r>
            <a:r>
              <a:rPr lang="en-GB" altLang="en-US" sz="1800" i="1" smtClean="0">
                <a:latin typeface="Helvetica" pitchFamily="34" charset="0"/>
                <a:cs typeface="Helvetica" pitchFamily="34" charset="0"/>
              </a:rPr>
              <a:t>Journal for Personality and Social Psychology</a:t>
            </a:r>
            <a:r>
              <a:rPr lang="en-GB" altLang="en-US" sz="1800" smtClean="0">
                <a:latin typeface="Helvetica" pitchFamily="34" charset="0"/>
                <a:cs typeface="Helvetica" pitchFamily="34" charset="0"/>
              </a:rPr>
              <a:t>, 75(1), 33-52</a:t>
            </a:r>
          </a:p>
          <a:p>
            <a:endParaRPr lang="en-GB" altLang="en-US" sz="1800" smtClean="0">
              <a:latin typeface="Helvetica" pitchFamily="34" charset="0"/>
              <a:cs typeface="Helvetica" pitchFamily="34" charset="0"/>
            </a:endParaRPr>
          </a:p>
          <a:p>
            <a:endParaRPr lang="en-GB" altLang="en-US" sz="1800" dirty="0" smtClean="0"/>
          </a:p>
        </p:txBody>
      </p:sp>
    </p:spTree>
    <p:extLst>
      <p:ext uri="{BB962C8B-B14F-4D97-AF65-F5344CB8AC3E}">
        <p14:creationId xmlns:p14="http://schemas.microsoft.com/office/powerpoint/2010/main" val="1652294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normAutofit fontScale="70000" lnSpcReduction="20000"/>
          </a:bodyPr>
          <a:lstStyle/>
          <a:p>
            <a:r>
              <a:rPr lang="en-US" dirty="0" smtClean="0"/>
              <a:t>Thank you</a:t>
            </a:r>
          </a:p>
          <a:p>
            <a:r>
              <a:rPr lang="en-US" dirty="0" smtClean="0">
                <a:latin typeface="+mj-lt"/>
              </a:rPr>
              <a:t>You’re feedback is valued! </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Powerpoint_master_template</Template>
  <TotalTime>144</TotalTime>
  <Words>2174</Words>
  <Application>Microsoft Office PowerPoint</Application>
  <PresentationFormat>On-screen Show (4:3)</PresentationFormat>
  <Paragraphs>202</Paragraphs>
  <Slides>28</Slides>
  <Notes>28</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Powerpoint_master_template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12</cp:revision>
  <cp:lastPrinted>2019-04-30T08:50:23Z</cp:lastPrinted>
  <dcterms:created xsi:type="dcterms:W3CDTF">2017-09-05T13:13:18Z</dcterms:created>
  <dcterms:modified xsi:type="dcterms:W3CDTF">2019-04-30T09:06:00Z</dcterms:modified>
</cp:coreProperties>
</file>