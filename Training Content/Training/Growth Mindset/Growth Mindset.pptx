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9" r:id="rId3"/>
    <p:sldId id="275" r:id="rId4"/>
    <p:sldId id="276" r:id="rId5"/>
    <p:sldId id="277" r:id="rId6"/>
    <p:sldId id="279" r:id="rId7"/>
    <p:sldId id="278" r:id="rId8"/>
    <p:sldId id="286" r:id="rId9"/>
    <p:sldId id="268" r:id="rId10"/>
    <p:sldId id="266" r:id="rId11"/>
    <p:sldId id="270" r:id="rId12"/>
    <p:sldId id="287" r:id="rId13"/>
    <p:sldId id="288" r:id="rId14"/>
    <p:sldId id="289" r:id="rId15"/>
    <p:sldId id="282" r:id="rId16"/>
    <p:sldId id="291" r:id="rId17"/>
    <p:sldId id="283" r:id="rId18"/>
    <p:sldId id="292" r:id="rId19"/>
    <p:sldId id="271" r:id="rId20"/>
    <p:sldId id="294" r:id="rId21"/>
    <p:sldId id="293" r:id="rId22"/>
    <p:sldId id="258" r:id="rId23"/>
    <p:sldId id="259" r:id="rId24"/>
    <p:sldId id="260" r:id="rId25"/>
    <p:sldId id="263" r:id="rId26"/>
    <p:sldId id="26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6" d="100"/>
          <a:sy n="126" d="100"/>
        </p:scale>
        <p:origin x="-119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47DF5B-2651-41BC-A4C6-29EDEA08BA90}" type="datetimeFigureOut">
              <a:rPr lang="en-GB" smtClean="0"/>
              <a:pPr/>
              <a:t>30/04/2019</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FEA4CDF-2A1D-4CD1-8F21-552A4DE0D198}" type="slidenum">
              <a:rPr lang="en-GB" smtClean="0"/>
              <a:pPr/>
              <a:t>‹#›</a:t>
            </a:fld>
            <a:endParaRPr lang="en-GB"/>
          </a:p>
        </p:txBody>
      </p:sp>
    </p:spTree>
    <p:extLst>
      <p:ext uri="{BB962C8B-B14F-4D97-AF65-F5344CB8AC3E}">
        <p14:creationId xmlns:p14="http://schemas.microsoft.com/office/powerpoint/2010/main" val="38794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Discuss</a:t>
            </a:r>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3</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Does anyone know of anymore examples?</a:t>
            </a:r>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4</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Intelligence is a malleable quality to be developed</a:t>
            </a:r>
          </a:p>
          <a:p>
            <a:r>
              <a:rPr lang="en-GB" altLang="en-US" dirty="0" smtClean="0"/>
              <a:t>The hand you are dealt is just a starting point for development.</a:t>
            </a:r>
          </a:p>
          <a:p>
            <a:r>
              <a:rPr lang="en-GB" altLang="en-US" dirty="0" smtClean="0"/>
              <a:t>Everyone</a:t>
            </a:r>
            <a:r>
              <a:rPr lang="en-GB" altLang="en-US" baseline="0" dirty="0" smtClean="0"/>
              <a:t> can change and grow through application and experience</a:t>
            </a:r>
          </a:p>
          <a:p>
            <a:r>
              <a:rPr lang="en-GB" altLang="en-US" baseline="0" dirty="0" smtClean="0"/>
              <a:t>A persons true potential is unknown and unknowable</a:t>
            </a:r>
          </a:p>
          <a:p>
            <a:endParaRPr lang="en-GB" dirty="0" smtClean="0"/>
          </a:p>
          <a:p>
            <a:r>
              <a:rPr lang="en-GB" altLang="en-US" dirty="0" smtClean="0"/>
              <a:t>She argues that about 20% of learners are in the middle of these extremes and the rest are equally divided between the 2 extremes.</a:t>
            </a:r>
          </a:p>
          <a:p>
            <a:r>
              <a:rPr lang="en-GB" altLang="en-US" dirty="0" smtClean="0"/>
              <a:t>She categorises the extremes into </a:t>
            </a:r>
          </a:p>
          <a:p>
            <a:r>
              <a:rPr lang="en-GB" altLang="en-US" dirty="0" smtClean="0"/>
              <a:t>FIXED MINDSETS: intelligence is static and</a:t>
            </a:r>
          </a:p>
          <a:p>
            <a:r>
              <a:rPr lang="en-GB" altLang="en-US" dirty="0" smtClean="0"/>
              <a:t>GROWTH MINDSETS: intelligence can be developed</a:t>
            </a:r>
          </a:p>
          <a:p>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5</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dirty="0" smtClean="0"/>
              <a:t>Young adult having</a:t>
            </a:r>
            <a:r>
              <a:rPr lang="en-GB" baseline="0" dirty="0" smtClean="0"/>
              <a:t> a really bad day</a:t>
            </a:r>
          </a:p>
          <a:p>
            <a:r>
              <a:rPr lang="en-GB" baseline="0" dirty="0" smtClean="0"/>
              <a:t>Go to a class that is really important to you and you like a lot. The teacher gives back a  test paper you have done. You got a C+</a:t>
            </a:r>
          </a:p>
          <a:p>
            <a:r>
              <a:rPr lang="en-GB" baseline="0" dirty="0" smtClean="0"/>
              <a:t>That evening you go back to your car and find you have a parking ticket.</a:t>
            </a:r>
          </a:p>
          <a:p>
            <a:r>
              <a:rPr lang="en-GB" baseline="0" dirty="0" smtClean="0"/>
              <a:t>You call your best friend to share your experience and are sort of brushed off</a:t>
            </a:r>
          </a:p>
          <a:p>
            <a:endParaRPr lang="en-GB" baseline="0" dirty="0" smtClean="0"/>
          </a:p>
          <a:p>
            <a:r>
              <a:rPr lang="en-GB" baseline="0" dirty="0" smtClean="0"/>
              <a:t>Fixed mindset said: feel like a reject, total failure, loser, worthless and dumb, everyone’s better than me – see what happened as direct measure of their competence and worth. See lives as pitiful, world is out to get me, nobody loves me, life is unfair and all efforts are useless, </a:t>
            </a:r>
            <a:r>
              <a:rPr lang="en-GB" baseline="0" dirty="0" err="1" smtClean="0"/>
              <a:t>i’m</a:t>
            </a:r>
            <a:r>
              <a:rPr lang="en-GB" baseline="0" dirty="0" smtClean="0"/>
              <a:t> the most unlucky person on earth.</a:t>
            </a:r>
          </a:p>
          <a:p>
            <a:r>
              <a:rPr lang="en-GB" baseline="0" dirty="0" smtClean="0"/>
              <a:t>Just low self esteem or </a:t>
            </a:r>
            <a:r>
              <a:rPr lang="en-GB" baseline="0" dirty="0" err="1" smtClean="0"/>
              <a:t>pesimists</a:t>
            </a:r>
            <a:r>
              <a:rPr lang="en-GB" baseline="0" dirty="0" smtClean="0"/>
              <a:t>? When they aren’t coping with failure feel just as worthy and optimistic as people with a growth mindset.</a:t>
            </a:r>
          </a:p>
          <a:p>
            <a:r>
              <a:rPr lang="en-GB" baseline="0" dirty="0" smtClean="0"/>
              <a:t>How do they cope? Not bother putting so much effort in again, yell at someone, break something, do nothing, give up.</a:t>
            </a:r>
          </a:p>
          <a:p>
            <a:r>
              <a:rPr lang="en-GB" baseline="0" dirty="0" smtClean="0"/>
              <a:t>But nothing catastrophic or irreparable has happened.</a:t>
            </a:r>
          </a:p>
          <a:p>
            <a:endParaRPr lang="en-GB" baseline="0" dirty="0" smtClean="0"/>
          </a:p>
          <a:p>
            <a:r>
              <a:rPr lang="en-GB" baseline="0" dirty="0" smtClean="0"/>
              <a:t>How do people with GM think? I need to try harder in class, be more careful when parking the car, find out what’s bothering my friend</a:t>
            </a:r>
          </a:p>
          <a:p>
            <a:r>
              <a:rPr lang="en-GB" baseline="0" dirty="0" smtClean="0"/>
              <a:t>How do they cope? Directly. Studying harder or in a different way, pay the ticket, work things out with my friend next time we speak.</a:t>
            </a:r>
          </a:p>
          <a:p>
            <a:endParaRPr lang="en-GB" baseline="0" dirty="0" smtClean="0"/>
          </a:p>
          <a:p>
            <a:r>
              <a:rPr lang="en-GB" dirty="0" smtClean="0"/>
              <a:t>GM do not label themselves – feel distressed but ready to take risks, confront challenges and keep working at them</a:t>
            </a:r>
          </a:p>
          <a:p>
            <a:r>
              <a:rPr lang="en-GB" dirty="0" smtClean="0"/>
              <a:t>FM – risk and effort might reveal inadequacies and show you were</a:t>
            </a:r>
            <a:r>
              <a:rPr lang="en-GB" baseline="0" dirty="0" smtClean="0"/>
              <a:t> not up to the task. </a:t>
            </a:r>
            <a:endParaRPr lang="en-GB" dirty="0" smtClean="0"/>
          </a:p>
          <a:p>
            <a:r>
              <a:rPr lang="en-GB" dirty="0" smtClean="0"/>
              <a:t>The view you adopt for yourself profoundly effects the way you live your life.</a:t>
            </a:r>
          </a:p>
          <a:p>
            <a:r>
              <a:rPr lang="en-GB" dirty="0" smtClean="0"/>
              <a:t>Fixed mindset – urgency to prove yourself over and over so don’t look or feel deficient</a:t>
            </a:r>
          </a:p>
          <a:p>
            <a:r>
              <a:rPr lang="en-GB" dirty="0" smtClean="0"/>
              <a:t>Alfred </a:t>
            </a:r>
            <a:r>
              <a:rPr lang="en-GB" dirty="0" err="1" smtClean="0"/>
              <a:t>Binet</a:t>
            </a:r>
            <a:r>
              <a:rPr lang="en-GB" dirty="0" smtClean="0"/>
              <a:t> – designed tests to identify children who were not </a:t>
            </a:r>
            <a:r>
              <a:rPr lang="en-GB" dirty="0" err="1" smtClean="0"/>
              <a:t>profitting</a:t>
            </a:r>
            <a:r>
              <a:rPr lang="en-GB" dirty="0" smtClean="0"/>
              <a:t> from Paris schools so</a:t>
            </a:r>
            <a:r>
              <a:rPr lang="en-GB" baseline="0" dirty="0" smtClean="0"/>
              <a:t> that educational programmes could be designed to get them back on track. </a:t>
            </a:r>
          </a:p>
          <a:p>
            <a:endParaRPr lang="en-GB" dirty="0" smtClean="0"/>
          </a:p>
          <a:p>
            <a:r>
              <a:rPr lang="en-GB" dirty="0" smtClean="0"/>
              <a:t>OUR BELIEFS AFFECT OUR</a:t>
            </a:r>
            <a:r>
              <a:rPr lang="en-GB" baseline="0" dirty="0" smtClean="0"/>
              <a:t> THINKING AND ACTIONS</a:t>
            </a:r>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6</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Equivalent to Year 8</a:t>
            </a:r>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7</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Beware of </a:t>
            </a:r>
            <a:r>
              <a:rPr lang="en-GB" dirty="0" err="1" smtClean="0"/>
              <a:t>emphathising</a:t>
            </a:r>
            <a:r>
              <a:rPr lang="en-GB" dirty="0" smtClean="0"/>
              <a:t> when this reinforces a fixed mindset</a:t>
            </a:r>
          </a:p>
          <a:p>
            <a:r>
              <a:rPr lang="en-GB" dirty="0" smtClean="0"/>
              <a:t>Discussion in small groups</a:t>
            </a:r>
          </a:p>
          <a:p>
            <a:r>
              <a:rPr lang="en-GB" dirty="0" smtClean="0"/>
              <a:t>Take feedback – create flip chart</a:t>
            </a:r>
          </a:p>
          <a:p>
            <a:r>
              <a:rPr lang="en-GB" dirty="0" smtClean="0"/>
              <a:t>Give further ideas – pg 26/27</a:t>
            </a:r>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11</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In each case these student’s words imply they have a fixed sum of intelligence which it is</a:t>
            </a:r>
            <a:r>
              <a:rPr lang="en-GB" baseline="0" dirty="0" smtClean="0"/>
              <a:t> impossible to change.</a:t>
            </a:r>
          </a:p>
          <a:p>
            <a:r>
              <a:rPr lang="en-GB" baseline="0" dirty="0" smtClean="0"/>
              <a:t>We want to shift student language away from this by using reframing (not telling them directly they shouldn’t think like this):</a:t>
            </a:r>
          </a:p>
          <a:p>
            <a:pPr>
              <a:buFontTx/>
              <a:buChar char="-"/>
            </a:pPr>
            <a:r>
              <a:rPr lang="en-GB" baseline="0" dirty="0" smtClean="0"/>
              <a:t>Listen to what the student says</a:t>
            </a:r>
          </a:p>
          <a:p>
            <a:pPr>
              <a:buFontTx/>
              <a:buChar char="-"/>
            </a:pPr>
            <a:r>
              <a:rPr lang="en-GB" baseline="0" dirty="0" smtClean="0"/>
              <a:t>Consider how you could reframe the student’s words back to them so that they take on a different meaning</a:t>
            </a:r>
          </a:p>
          <a:p>
            <a:pPr>
              <a:buFontTx/>
              <a:buChar char="-"/>
            </a:pPr>
            <a:r>
              <a:rPr lang="en-GB" baseline="0" dirty="0" smtClean="0"/>
              <a:t>Speak the words to the student</a:t>
            </a:r>
          </a:p>
          <a:p>
            <a:pPr>
              <a:buFontTx/>
              <a:buChar char="-"/>
            </a:pPr>
            <a:r>
              <a:rPr lang="en-GB" baseline="0" dirty="0" smtClean="0"/>
              <a:t>If </a:t>
            </a:r>
            <a:r>
              <a:rPr lang="en-GB" baseline="0" dirty="0" err="1" smtClean="0"/>
              <a:t>approrpiate</a:t>
            </a:r>
            <a:r>
              <a:rPr lang="en-GB" baseline="0" dirty="0" smtClean="0"/>
              <a:t> draw the student’s attention to the difference between their initial words and your reframed version</a:t>
            </a:r>
          </a:p>
          <a:p>
            <a:pPr>
              <a:buFontTx/>
              <a:buChar char="-"/>
            </a:pPr>
            <a:endParaRPr lang="en-GB" baseline="0" dirty="0" smtClean="0"/>
          </a:p>
          <a:p>
            <a:pPr>
              <a:buFontTx/>
              <a:buNone/>
            </a:pPr>
            <a:r>
              <a:rPr lang="en-GB" baseline="0" dirty="0" smtClean="0"/>
              <a:t>Activity: in pairs try reframing these student statements</a:t>
            </a:r>
          </a:p>
          <a:p>
            <a:pPr>
              <a:buFontTx/>
              <a:buNone/>
            </a:pPr>
            <a:endParaRPr lang="en-GB" baseline="0" dirty="0" smtClean="0"/>
          </a:p>
          <a:p>
            <a:pPr>
              <a:buFontTx/>
              <a:buNone/>
            </a:pPr>
            <a:r>
              <a:rPr lang="en-GB" baseline="0" dirty="0" smtClean="0"/>
              <a:t>Other technique: ‘yet’</a:t>
            </a:r>
          </a:p>
        </p:txBody>
      </p:sp>
      <p:sp>
        <p:nvSpPr>
          <p:cNvPr id="4" name="Slide Number Placeholder 3"/>
          <p:cNvSpPr>
            <a:spLocks noGrp="1"/>
          </p:cNvSpPr>
          <p:nvPr>
            <p:ph type="sldNum" sz="quarter" idx="10"/>
          </p:nvPr>
        </p:nvSpPr>
        <p:spPr/>
        <p:txBody>
          <a:bodyPr/>
          <a:lstStyle/>
          <a:p>
            <a:fld id="{1FEA4CDF-2A1D-4CD1-8F21-552A4DE0D198}" type="slidenum">
              <a:rPr lang="en-GB" smtClean="0"/>
              <a:pPr/>
              <a:t>13</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r>
              <a:rPr lang="en-GB" dirty="0" smtClean="0"/>
              <a:t>“Wow, you’re really smart! ”  </a:t>
            </a:r>
          </a:p>
          <a:p>
            <a:pPr lvl="1"/>
            <a:r>
              <a:rPr lang="en-GB" dirty="0" smtClean="0"/>
              <a:t>“Look at how well you did on this project. You are so intelligent! </a:t>
            </a:r>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15</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Pg 70</a:t>
            </a:r>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17</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Pg 70/71</a:t>
            </a:r>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18</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Discuss ways of doing this in the classroom</a:t>
            </a:r>
          </a:p>
          <a:p>
            <a:endParaRPr lang="en-GB" dirty="0" smtClean="0"/>
          </a:p>
          <a:p>
            <a:r>
              <a:rPr lang="en-GB" dirty="0" smtClean="0"/>
              <a:t>Suggestions:</a:t>
            </a:r>
          </a:p>
          <a:p>
            <a:r>
              <a:rPr lang="en-GB" dirty="0" smtClean="0"/>
              <a:t>Mistake quotas (pg 42)</a:t>
            </a:r>
          </a:p>
          <a:p>
            <a:r>
              <a:rPr lang="en-GB" dirty="0" smtClean="0"/>
              <a:t>Mistake discussions (pg 48)</a:t>
            </a:r>
          </a:p>
          <a:p>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19</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GB" dirty="0" smtClean="0"/>
              <a:t>Nine-year-old Elizabeth was on her way to her first gymnastics meet. Lanky, flexible, and energetic, she was just right for gymnastics, and she loved it. Of course, she was a little nervous about competing, but she was good at gymnastics and felt confident of doing well. She had even thought about the perfect place in her room to hang the ribbon she would win.</a:t>
            </a:r>
          </a:p>
          <a:p>
            <a:pPr>
              <a:defRPr/>
            </a:pPr>
            <a:r>
              <a:rPr lang="en-GB" dirty="0" smtClean="0"/>
              <a:t>In the first event, the floor exercises, Elizabeth went first. Although she did a nice job, the scoring changed after the first few girls and she lost. Elizabeth also did well in the other events, but not well enough to win. By the end of the evening, she had received no ribbons and was devastated.</a:t>
            </a:r>
          </a:p>
          <a:p>
            <a:endParaRPr lang="en-GB" dirty="0"/>
          </a:p>
        </p:txBody>
      </p:sp>
      <p:sp>
        <p:nvSpPr>
          <p:cNvPr id="4" name="Slide Number Placeholder 3"/>
          <p:cNvSpPr>
            <a:spLocks noGrp="1"/>
          </p:cNvSpPr>
          <p:nvPr>
            <p:ph type="sldNum" sz="quarter" idx="10"/>
          </p:nvPr>
        </p:nvSpPr>
        <p:spPr/>
        <p:txBody>
          <a:bodyPr/>
          <a:lstStyle/>
          <a:p>
            <a:fld id="{1FEA4CDF-2A1D-4CD1-8F21-552A4DE0D198}" type="slidenum">
              <a:rPr lang="en-GB" smtClean="0"/>
              <a:pPr/>
              <a:t>20</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77500" lnSpcReduction="20000"/>
          </a:bodyPr>
          <a:lstStyle/>
          <a:p>
            <a:pPr>
              <a:defRPr/>
            </a:pPr>
            <a:endParaRPr lang="en-GB" dirty="0"/>
          </a:p>
          <a:p>
            <a:pPr>
              <a:defRPr/>
            </a:pPr>
            <a:r>
              <a:rPr lang="en-GB" dirty="0"/>
              <a:t>There is a strong message in our society about how to boost children’s self-esteem, and a main part of that message is: Protect them from failure ! While this may help with the immediate problem of a child’s disappointment, it can be harmful in the long run. Why?</a:t>
            </a:r>
          </a:p>
          <a:p>
            <a:pPr>
              <a:defRPr/>
            </a:pPr>
            <a:r>
              <a:rPr lang="en-GB" dirty="0"/>
              <a:t>Let’s look at the five possible reactions from a mindset point of view [and listen to the messages:]</a:t>
            </a:r>
          </a:p>
          <a:p>
            <a:pPr>
              <a:defRPr/>
            </a:pPr>
            <a:r>
              <a:rPr lang="en-GB" dirty="0"/>
              <a:t>The first (you thought she was the best) is basically insincere. She was not the best – you know it, and she does too. This offers her no recipe for how to recover or how to improve.</a:t>
            </a:r>
          </a:p>
          <a:p>
            <a:pPr>
              <a:defRPr/>
            </a:pPr>
            <a:r>
              <a:rPr lang="en-GB" dirty="0"/>
              <a:t>The second (she was robbed) places blame on others, when in fact the problem was mostly with her performance, not the judges. Do you want her to grow up blaming others for her deficiencies?</a:t>
            </a:r>
          </a:p>
          <a:p>
            <a:pPr>
              <a:defRPr/>
            </a:pPr>
            <a:r>
              <a:rPr lang="en-GB" dirty="0"/>
              <a:t>The third (reassure her that gymnastics doesn’t really matter) teaches her to devalue something if she doesn’t do well in it right away. Is this really the message you want to send?</a:t>
            </a:r>
          </a:p>
          <a:p>
            <a:pPr>
              <a:defRPr/>
            </a:pPr>
            <a:r>
              <a:rPr lang="en-GB" dirty="0"/>
              <a:t>The fourth (she has the ability) may be the most dangerous message of all. Does ability automatically take you where you want to go? If Elizabeth didn’t win this meet, why should she win the next one?</a:t>
            </a:r>
          </a:p>
          <a:p>
            <a:pPr>
              <a:defRPr/>
            </a:pPr>
            <a:r>
              <a:rPr lang="en-GB" dirty="0"/>
              <a:t>The last option (tell her she didn’t deserve to win) seems hardhearted under the circumstances. And of course you wouldn’t say it quite that way. But that’s pretty much what her growth-minded father told he.</a:t>
            </a:r>
          </a:p>
          <a:p>
            <a:pPr>
              <a:defRPr/>
            </a:pPr>
            <a:r>
              <a:rPr lang="en-GB" dirty="0"/>
              <a:t> </a:t>
            </a:r>
          </a:p>
          <a:p>
            <a:pPr>
              <a:defRPr/>
            </a:pPr>
            <a:endParaRPr lang="en-GB" dirty="0"/>
          </a:p>
        </p:txBody>
      </p:sp>
      <p:sp>
        <p:nvSpPr>
          <p:cNvPr id="49156" name="Slide Number Placeholder 3"/>
          <p:cNvSpPr>
            <a:spLocks noGrp="1"/>
          </p:cNvSpPr>
          <p:nvPr>
            <p:ph type="sldNum" sz="quarter" idx="5"/>
          </p:nvPr>
        </p:nvSpPr>
        <p:spPr>
          <a:noFill/>
          <a:ln>
            <a:miter lim="800000"/>
            <a:headEnd/>
            <a:tailEnd/>
          </a:ln>
        </p:spPr>
        <p:txBody>
          <a:bodyPr/>
          <a:lstStyle/>
          <a:p>
            <a:fld id="{78C28070-4908-4C59-B6AB-D66584398305}" type="slidenum">
              <a:rPr lang="en-GB" altLang="en-US"/>
              <a:pPr/>
              <a:t>21</a:t>
            </a:fld>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p:spPr>
        <p:txBody>
          <a:bodyPr/>
          <a:lstStyle/>
          <a:p>
            <a:r>
              <a:rPr lang="en-GB" altLang="en-US" smtClean="0"/>
              <a:t>Intelligence can be developed through hard work and the accumulation of knwoeldge and understanding.</a:t>
            </a:r>
          </a:p>
          <a:p>
            <a:r>
              <a:rPr lang="en-GB" altLang="en-US" smtClean="0"/>
              <a:t>Validation – and should never have to justify themselves to others.</a:t>
            </a:r>
          </a:p>
          <a:p>
            <a:endParaRPr lang="en-GB" altLang="en-US" smtClean="0"/>
          </a:p>
          <a:p>
            <a:r>
              <a:rPr lang="en-GB" altLang="en-US" smtClean="0"/>
              <a:t>Growth mindset learners are motivated by an inner desire to improve rather than by external stimuli.</a:t>
            </a:r>
          </a:p>
          <a:p>
            <a:r>
              <a:rPr lang="en-GB" altLang="en-US" smtClean="0"/>
              <a:t>As teachers, we often assume that learning will inevitably lead to achievement and is, therefore, worth the effort. According to a number of research reports, nearly half of learners at all levels don’t share this view.</a:t>
            </a:r>
          </a:p>
          <a:p>
            <a:endParaRPr lang="en-GB" altLang="en-US" smtClean="0"/>
          </a:p>
          <a:p>
            <a:endParaRPr lang="en-GB" altLang="en-US" smtClean="0"/>
          </a:p>
          <a:p>
            <a:endParaRPr lang="en-GB" altLang="en-US" smtClean="0"/>
          </a:p>
        </p:txBody>
      </p:sp>
      <p:sp>
        <p:nvSpPr>
          <p:cNvPr id="47108" name="Slide Number Placeholder 3"/>
          <p:cNvSpPr>
            <a:spLocks noGrp="1"/>
          </p:cNvSpPr>
          <p:nvPr>
            <p:ph type="sldNum" sz="quarter" idx="5"/>
          </p:nvPr>
        </p:nvSpPr>
        <p:spPr>
          <a:noFill/>
          <a:ln>
            <a:miter lim="800000"/>
            <a:headEnd/>
            <a:tailEnd/>
          </a:ln>
        </p:spPr>
        <p:txBody>
          <a:bodyPr/>
          <a:lstStyle/>
          <a:p>
            <a:fld id="{AE733FDB-47DC-4AB9-BCE9-C3A85E15C234}" type="slidenum">
              <a:rPr lang="en-GB" altLang="en-US"/>
              <a:pPr/>
              <a:t>22</a:t>
            </a:fld>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p:spPr>
        <p:txBody>
          <a:bodyPr/>
          <a:lstStyle/>
          <a:p>
            <a:r>
              <a:rPr lang="en-GB" altLang="en-US" smtClean="0"/>
              <a:t>‘you really tried hard there’ rather than ‘you’re naturally good at this’</a:t>
            </a:r>
          </a:p>
        </p:txBody>
      </p:sp>
      <p:sp>
        <p:nvSpPr>
          <p:cNvPr id="48132" name="Slide Number Placeholder 3"/>
          <p:cNvSpPr>
            <a:spLocks noGrp="1"/>
          </p:cNvSpPr>
          <p:nvPr>
            <p:ph type="sldNum" sz="quarter" idx="5"/>
          </p:nvPr>
        </p:nvSpPr>
        <p:spPr>
          <a:noFill/>
          <a:ln>
            <a:miter lim="800000"/>
            <a:headEnd/>
            <a:tailEnd/>
          </a:ln>
        </p:spPr>
        <p:txBody>
          <a:bodyPr/>
          <a:lstStyle/>
          <a:p>
            <a:fld id="{1437F97A-BDB1-4F78-8702-BB34B8B4076B}" type="slidenum">
              <a:rPr lang="en-GB" altLang="en-US"/>
              <a:pPr/>
              <a:t>23</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81EC2B9-FA45-48AB-BA4A-62CE2E91C4A6}" type="datetimeFigureOut">
              <a:rPr lang="en-GB" smtClean="0"/>
              <a:pPr/>
              <a:t>30/04/2019</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A9FBF22-C1A4-4299-91E6-8B7B2E18B6AB}"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1EC2B9-FA45-48AB-BA4A-62CE2E91C4A6}" type="datetimeFigureOut">
              <a:rPr lang="en-GB" smtClean="0"/>
              <a:pPr/>
              <a:t>30/04/2019</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9FBF22-C1A4-4299-91E6-8B7B2E18B6AB}"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www.classdojo.co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Growth Mindset</a:t>
            </a:r>
            <a:endParaRPr lang="en-GB" dirty="0"/>
          </a:p>
        </p:txBody>
      </p:sp>
      <p:sp>
        <p:nvSpPr>
          <p:cNvPr id="3" name="Subtitle 2"/>
          <p:cNvSpPr>
            <a:spLocks noGrp="1"/>
          </p:cNvSpPr>
          <p:nvPr>
            <p:ph type="subTitle" idx="1"/>
          </p:nvPr>
        </p:nvSpPr>
        <p:spPr/>
        <p:txBody>
          <a:bodyPr/>
          <a:lstStyle/>
          <a:p>
            <a:r>
              <a:rPr lang="en-GB" dirty="0" smtClean="0"/>
              <a:t>Dr Jennifer Head</a:t>
            </a:r>
          </a:p>
          <a:p>
            <a:r>
              <a:rPr lang="en-GB" dirty="0" smtClean="0"/>
              <a:t>Educational Psychologist</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Quiz</a:t>
            </a:r>
            <a:endParaRPr lang="en-GB" dirty="0"/>
          </a:p>
        </p:txBody>
      </p:sp>
      <p:pic>
        <p:nvPicPr>
          <p:cNvPr id="4" name="Content Placeholder 3" descr="quiz.jpg"/>
          <p:cNvPicPr>
            <a:picLocks noGrp="1" noChangeAspect="1"/>
          </p:cNvPicPr>
          <p:nvPr>
            <p:ph idx="1"/>
          </p:nvPr>
        </p:nvPicPr>
        <p:blipFill>
          <a:blip r:embed="rId2" cstate="print"/>
          <a:stretch>
            <a:fillRect/>
          </a:stretch>
        </p:blipFill>
        <p:spPr>
          <a:xfrm>
            <a:off x="1835696" y="2132856"/>
            <a:ext cx="5547302" cy="3106489"/>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Callout 3"/>
          <p:cNvSpPr/>
          <p:nvPr/>
        </p:nvSpPr>
        <p:spPr>
          <a:xfrm>
            <a:off x="2699792" y="836712"/>
            <a:ext cx="6192688" cy="3168352"/>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3707904" y="1412776"/>
            <a:ext cx="4248472" cy="1569660"/>
          </a:xfrm>
          <a:prstGeom prst="rect">
            <a:avLst/>
          </a:prstGeom>
          <a:noFill/>
        </p:spPr>
        <p:txBody>
          <a:bodyPr wrap="square" rtlCol="0">
            <a:spAutoFit/>
          </a:bodyPr>
          <a:lstStyle/>
          <a:p>
            <a:pPr algn="ctr"/>
            <a:r>
              <a:rPr lang="en-GB" sz="4800" dirty="0" smtClean="0"/>
              <a:t>Are people born clever?</a:t>
            </a:r>
            <a:endParaRPr lang="en-GB" sz="4800" dirty="0"/>
          </a:p>
        </p:txBody>
      </p:sp>
      <p:pic>
        <p:nvPicPr>
          <p:cNvPr id="6" name="Picture 5" descr="Thinking_Face_Emoji-Emoji-Island.png"/>
          <p:cNvPicPr>
            <a:picLocks noChangeAspect="1"/>
          </p:cNvPicPr>
          <p:nvPr/>
        </p:nvPicPr>
        <p:blipFill>
          <a:blip r:embed="rId3" cstate="print"/>
          <a:stretch>
            <a:fillRect/>
          </a:stretch>
        </p:blipFill>
        <p:spPr>
          <a:xfrm>
            <a:off x="1691680" y="3717032"/>
            <a:ext cx="2564904" cy="25649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Born with it?</a:t>
            </a:r>
            <a:endParaRPr lang="en-GB" dirty="0"/>
          </a:p>
        </p:txBody>
      </p:sp>
      <p:sp>
        <p:nvSpPr>
          <p:cNvPr id="3" name="Content Placeholder 2"/>
          <p:cNvSpPr>
            <a:spLocks noGrp="1"/>
          </p:cNvSpPr>
          <p:nvPr>
            <p:ph idx="1"/>
          </p:nvPr>
        </p:nvSpPr>
        <p:spPr/>
        <p:txBody>
          <a:bodyPr>
            <a:normAutofit/>
          </a:bodyPr>
          <a:lstStyle/>
          <a:p>
            <a:r>
              <a:rPr lang="en-GB" dirty="0" smtClean="0"/>
              <a:t>Einstein's teacher said that he was “academically subnormal.”</a:t>
            </a:r>
          </a:p>
          <a:p>
            <a:r>
              <a:rPr lang="en-GB" dirty="0" smtClean="0"/>
              <a:t>Michael Jordan's coach said that he “wasn’t more talented than other people.”</a:t>
            </a:r>
          </a:p>
          <a:p>
            <a:r>
              <a:rPr lang="en-GB" dirty="0" smtClean="0"/>
              <a:t>Walt Disney was told that he lacked “creative imagination.”</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owth vs fixed.jpg"/>
          <p:cNvPicPr>
            <a:picLocks noChangeAspect="1"/>
          </p:cNvPicPr>
          <p:nvPr/>
        </p:nvPicPr>
        <p:blipFill>
          <a:blip r:embed="rId3" cstate="print"/>
          <a:stretch>
            <a:fillRect/>
          </a:stretch>
        </p:blipFill>
        <p:spPr>
          <a:xfrm>
            <a:off x="1403648" y="332656"/>
            <a:ext cx="6444208" cy="3624867"/>
          </a:xfrm>
          <a:prstGeom prst="rect">
            <a:avLst/>
          </a:prstGeom>
        </p:spPr>
      </p:pic>
      <p:sp>
        <p:nvSpPr>
          <p:cNvPr id="7" name="Rectangle 6"/>
          <p:cNvSpPr/>
          <p:nvPr/>
        </p:nvSpPr>
        <p:spPr>
          <a:xfrm>
            <a:off x="467544" y="4149080"/>
            <a:ext cx="8280920" cy="2308324"/>
          </a:xfrm>
          <a:prstGeom prst="rect">
            <a:avLst/>
          </a:prstGeom>
        </p:spPr>
        <p:txBody>
          <a:bodyPr wrap="square">
            <a:spAutoFit/>
          </a:bodyPr>
          <a:lstStyle/>
          <a:p>
            <a:pPr algn="ctr"/>
            <a:r>
              <a:rPr lang="en-GB" altLang="en-US" sz="2400" i="1" dirty="0" smtClean="0"/>
              <a:t>The research of Carol S. </a:t>
            </a:r>
            <a:r>
              <a:rPr lang="en-GB" altLang="en-US" sz="2400" i="1" dirty="0" err="1" smtClean="0"/>
              <a:t>Dweck</a:t>
            </a:r>
            <a:endParaRPr lang="en-GB" altLang="en-US" sz="2400" i="1" dirty="0" smtClean="0"/>
          </a:p>
          <a:p>
            <a:pPr>
              <a:buFontTx/>
              <a:buChar char="-"/>
            </a:pPr>
            <a:r>
              <a:rPr lang="en-GB" altLang="en-US" sz="2400" dirty="0" smtClean="0"/>
              <a:t>Belief about ability</a:t>
            </a:r>
          </a:p>
          <a:p>
            <a:pPr>
              <a:buFontTx/>
              <a:buChar char="-"/>
            </a:pPr>
            <a:r>
              <a:rPr lang="en-GB" altLang="en-US" sz="2400" dirty="0" smtClean="0"/>
              <a:t>Affects decisions related to learning</a:t>
            </a:r>
          </a:p>
          <a:p>
            <a:pPr>
              <a:buFontTx/>
              <a:buChar char="-"/>
            </a:pPr>
            <a:r>
              <a:rPr lang="en-GB" altLang="en-US" sz="2400" dirty="0" smtClean="0"/>
              <a:t>Fixed mindset: intelligence and ability are fixed traits and there is very little you can do to improve it.</a:t>
            </a:r>
          </a:p>
          <a:p>
            <a:pPr>
              <a:buFontTx/>
              <a:buChar char="-"/>
            </a:pPr>
            <a:r>
              <a:rPr lang="en-GB" altLang="en-US" sz="2400" dirty="0" smtClean="0"/>
              <a:t>Growth mindset: intelligence and ability can be developed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Imagine...</a:t>
            </a:r>
            <a:endParaRPr lang="en-GB" dirty="0"/>
          </a:p>
        </p:txBody>
      </p:sp>
      <p:sp>
        <p:nvSpPr>
          <p:cNvPr id="3" name="Content Placeholder 2"/>
          <p:cNvSpPr>
            <a:spLocks noGrp="1"/>
          </p:cNvSpPr>
          <p:nvPr>
            <p:ph idx="1"/>
          </p:nvPr>
        </p:nvSpPr>
        <p:spPr/>
        <p:txBody>
          <a:bodyPr/>
          <a:lstStyle/>
          <a:p>
            <a:endParaRPr lang="en-GB" dirty="0" smtClean="0"/>
          </a:p>
          <a:p>
            <a:pPr>
              <a:buNone/>
            </a:pPr>
            <a:endParaRPr lang="en-GB" dirty="0" smtClean="0"/>
          </a:p>
          <a:p>
            <a:r>
              <a:rPr lang="en-GB" dirty="0" smtClean="0"/>
              <a:t>What would you think?</a:t>
            </a:r>
          </a:p>
          <a:p>
            <a:r>
              <a:rPr lang="en-GB" dirty="0" smtClean="0"/>
              <a:t>What would you feel?</a:t>
            </a:r>
          </a:p>
          <a:p>
            <a:r>
              <a:rPr lang="en-GB" dirty="0" smtClean="0"/>
              <a:t>What would you do?</a:t>
            </a:r>
            <a:endParaRPr lang="en-GB" dirty="0"/>
          </a:p>
        </p:txBody>
      </p:sp>
      <p:pic>
        <p:nvPicPr>
          <p:cNvPr id="4" name="Picture 3" descr="bad day.jpg"/>
          <p:cNvPicPr>
            <a:picLocks noChangeAspect="1"/>
          </p:cNvPicPr>
          <p:nvPr/>
        </p:nvPicPr>
        <p:blipFill>
          <a:blip r:embed="rId3" cstate="print"/>
          <a:stretch>
            <a:fillRect/>
          </a:stretch>
        </p:blipFill>
        <p:spPr>
          <a:xfrm>
            <a:off x="5796136" y="1484784"/>
            <a:ext cx="1952625" cy="2343150"/>
          </a:xfrm>
          <a:prstGeom prst="rect">
            <a:avLst/>
          </a:prstGeom>
        </p:spPr>
      </p:pic>
      <p:pic>
        <p:nvPicPr>
          <p:cNvPr id="5" name="Content Placeholder 3" descr="life sucks.jpg"/>
          <p:cNvPicPr>
            <a:picLocks noChangeAspect="1"/>
          </p:cNvPicPr>
          <p:nvPr/>
        </p:nvPicPr>
        <p:blipFill>
          <a:blip r:embed="rId4" cstate="print"/>
          <a:stretch>
            <a:fillRect/>
          </a:stretch>
        </p:blipFill>
        <p:spPr>
          <a:xfrm>
            <a:off x="5652120" y="4293096"/>
            <a:ext cx="2343150" cy="19526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Dweck’s</a:t>
            </a:r>
            <a:r>
              <a:rPr lang="en-GB" dirty="0" smtClean="0"/>
              <a:t> research: transition to 7</a:t>
            </a:r>
            <a:r>
              <a:rPr lang="en-GB" baseline="30000" dirty="0" smtClean="0"/>
              <a:t>th</a:t>
            </a:r>
            <a:r>
              <a:rPr lang="en-GB" dirty="0" smtClean="0"/>
              <a:t> grade</a:t>
            </a:r>
            <a:endParaRPr lang="en-GB" dirty="0"/>
          </a:p>
        </p:txBody>
      </p:sp>
      <p:sp>
        <p:nvSpPr>
          <p:cNvPr id="3" name="Content Placeholder 2"/>
          <p:cNvSpPr>
            <a:spLocks noGrp="1"/>
          </p:cNvSpPr>
          <p:nvPr>
            <p:ph idx="1"/>
          </p:nvPr>
        </p:nvSpPr>
        <p:spPr/>
        <p:txBody>
          <a:bodyPr>
            <a:normAutofit fontScale="92500" lnSpcReduction="20000"/>
          </a:bodyPr>
          <a:lstStyle/>
          <a:p>
            <a:r>
              <a:rPr lang="en-GB" dirty="0" smtClean="0"/>
              <a:t>Work gets harder, kids begin to struggle</a:t>
            </a:r>
          </a:p>
          <a:p>
            <a:r>
              <a:rPr lang="en-GB" dirty="0" smtClean="0"/>
              <a:t>Assessed whether students with identical achievement scores at the beginning of 7th grade had fixed or growth mindsets</a:t>
            </a:r>
          </a:p>
          <a:p>
            <a:r>
              <a:rPr lang="en-GB" dirty="0" smtClean="0"/>
              <a:t>Fixed mindset students were focused on grades.</a:t>
            </a:r>
          </a:p>
          <a:p>
            <a:r>
              <a:rPr lang="en-GB" dirty="0" smtClean="0"/>
              <a:t>Growth mindset students said learning was more important than getting good grades. </a:t>
            </a:r>
          </a:p>
          <a:p>
            <a:r>
              <a:rPr lang="en-GB" dirty="0" smtClean="0"/>
              <a:t>Math grades rose dramatically in the growth mindset group as compared to the fixed mindset group.</a:t>
            </a:r>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download.jpg"/>
          <p:cNvPicPr>
            <a:picLocks noGrp="1" noChangeAspect="1"/>
          </p:cNvPicPr>
          <p:nvPr>
            <p:ph idx="1"/>
          </p:nvPr>
        </p:nvPicPr>
        <p:blipFill>
          <a:blip r:embed="rId2" cstate="print"/>
          <a:stretch>
            <a:fillRect/>
          </a:stretch>
        </p:blipFill>
        <p:spPr>
          <a:xfrm>
            <a:off x="1259632" y="1196752"/>
            <a:ext cx="6663570" cy="4176463"/>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If you believe in a fixed mindset</a:t>
            </a:r>
            <a:endParaRPr lang="en-GB" dirty="0"/>
          </a:p>
        </p:txBody>
      </p:sp>
      <p:sp>
        <p:nvSpPr>
          <p:cNvPr id="3" name="Content Placeholder 2"/>
          <p:cNvSpPr>
            <a:spLocks noGrp="1"/>
          </p:cNvSpPr>
          <p:nvPr>
            <p:ph idx="1"/>
          </p:nvPr>
        </p:nvSpPr>
        <p:spPr/>
        <p:txBody>
          <a:bodyPr>
            <a:normAutofit fontScale="77500" lnSpcReduction="20000"/>
          </a:bodyPr>
          <a:lstStyle/>
          <a:p>
            <a:r>
              <a:rPr lang="en-GB" dirty="0" smtClean="0"/>
              <a:t>Success/ achievement should come naturally. If I have to work hard then I’m not very smart.</a:t>
            </a:r>
          </a:p>
          <a:p>
            <a:r>
              <a:rPr lang="en-GB" dirty="0" smtClean="0"/>
              <a:t>Hide mistakes and conceal deficiencies.</a:t>
            </a:r>
          </a:p>
          <a:p>
            <a:r>
              <a:rPr lang="en-GB" dirty="0" smtClean="0"/>
              <a:t>Tend to create PERFORMANCE goals.  They believe that a person’s POTENTIAL can be MEASURED. They aim to receive validation from others. Receiving low marks mean that they are not smart. Both success and failure cause ANXIETY.</a:t>
            </a:r>
          </a:p>
          <a:p>
            <a:r>
              <a:rPr lang="en-GB" dirty="0" smtClean="0"/>
              <a:t>Fixed mindset students have no recipe for recovering from failure, and instead tend to: </a:t>
            </a:r>
          </a:p>
          <a:p>
            <a:pPr lvl="1"/>
            <a:r>
              <a:rPr lang="en-GB" dirty="0" smtClean="0"/>
              <a:t>Give up </a:t>
            </a:r>
          </a:p>
          <a:p>
            <a:pPr lvl="1"/>
            <a:r>
              <a:rPr lang="en-GB" dirty="0" smtClean="0"/>
              <a:t>Blame others or circumstances </a:t>
            </a:r>
          </a:p>
          <a:p>
            <a:pPr lvl="1"/>
            <a:r>
              <a:rPr lang="en-GB" dirty="0" smtClean="0"/>
              <a:t>Try to feel superior in some other way</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If you believe in a growth mindset</a:t>
            </a:r>
            <a:endParaRPr lang="en-GB" dirty="0"/>
          </a:p>
        </p:txBody>
      </p:sp>
      <p:sp>
        <p:nvSpPr>
          <p:cNvPr id="3" name="Content Placeholder 2"/>
          <p:cNvSpPr>
            <a:spLocks noGrp="1"/>
          </p:cNvSpPr>
          <p:nvPr>
            <p:ph idx="1"/>
          </p:nvPr>
        </p:nvSpPr>
        <p:spPr/>
        <p:txBody>
          <a:bodyPr>
            <a:normAutofit lnSpcReduction="10000"/>
          </a:bodyPr>
          <a:lstStyle/>
          <a:p>
            <a:r>
              <a:rPr lang="en-GB" dirty="0" smtClean="0"/>
              <a:t>Work hard. Effort is key!</a:t>
            </a:r>
          </a:p>
          <a:p>
            <a:r>
              <a:rPr lang="en-GB" dirty="0" smtClean="0"/>
              <a:t>Confront setbacks.  Learn from mistakes.</a:t>
            </a:r>
          </a:p>
          <a:p>
            <a:r>
              <a:rPr lang="en-GB" dirty="0" smtClean="0"/>
              <a:t>Those with a growth mindset tend to create LEARNING goals.  The goal is MASTERY and COMPETENCE. Scores and marks reflect how people are doing NOW and do not measure a person’s potential.  Creating goals for learning has shown to INCREASE PERFORMANCE and enjoyment and decrease negative emotion. </a:t>
            </a: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Language</a:t>
            </a:r>
            <a:endParaRPr lang="en-GB" dirty="0"/>
          </a:p>
        </p:txBody>
      </p:sp>
      <p:sp>
        <p:nvSpPr>
          <p:cNvPr id="3" name="Content Placeholder 2"/>
          <p:cNvSpPr>
            <a:spLocks noGrp="1"/>
          </p:cNvSpPr>
          <p:nvPr>
            <p:ph idx="1"/>
          </p:nvPr>
        </p:nvSpPr>
        <p:spPr/>
        <p:txBody>
          <a:bodyPr/>
          <a:lstStyle/>
          <a:p>
            <a:pPr>
              <a:buNone/>
            </a:pPr>
            <a:r>
              <a:rPr lang="en-GB" dirty="0" smtClean="0"/>
              <a:t>Our words tell students what we believe and what we value</a:t>
            </a:r>
          </a:p>
          <a:p>
            <a:r>
              <a:rPr lang="en-GB" dirty="0" smtClean="0"/>
              <a:t>What words and phrases would you associate with a growth mindset?</a:t>
            </a:r>
          </a:p>
          <a:p>
            <a:r>
              <a:rPr lang="en-GB" dirty="0" smtClean="0"/>
              <a:t>What language would you be using in your classroom?</a:t>
            </a:r>
          </a:p>
          <a:p>
            <a:pPr>
              <a:buNone/>
            </a:pP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Introducing growth mindset language</a:t>
            </a:r>
            <a:endParaRPr lang="en-GB" dirty="0"/>
          </a:p>
        </p:txBody>
      </p:sp>
      <p:sp>
        <p:nvSpPr>
          <p:cNvPr id="3" name="Content Placeholder 2"/>
          <p:cNvSpPr>
            <a:spLocks noGrp="1"/>
          </p:cNvSpPr>
          <p:nvPr>
            <p:ph idx="1"/>
          </p:nvPr>
        </p:nvSpPr>
        <p:spPr/>
        <p:txBody>
          <a:bodyPr/>
          <a:lstStyle/>
          <a:p>
            <a:r>
              <a:rPr lang="en-GB" dirty="0" smtClean="0"/>
              <a:t>Create a wall display based around the words</a:t>
            </a:r>
          </a:p>
          <a:p>
            <a:r>
              <a:rPr lang="en-GB" dirty="0" smtClean="0"/>
              <a:t>Get students to create work (posters, guides, leaflets) based on the words</a:t>
            </a:r>
          </a:p>
          <a:p>
            <a:r>
              <a:rPr lang="en-GB" dirty="0" smtClean="0"/>
              <a:t>Use the words as part of the feedback you deliver, both written and verbal</a:t>
            </a:r>
          </a:p>
          <a:p>
            <a:r>
              <a:rPr lang="en-GB" dirty="0" smtClean="0"/>
              <a:t>Start a class game of ‘spot the example’</a:t>
            </a:r>
          </a:p>
          <a:p>
            <a:r>
              <a:rPr lang="en-GB" dirty="0" smtClean="0"/>
              <a:t>Model using the words in conversation</a:t>
            </a:r>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Reframing language</a:t>
            </a:r>
            <a:endParaRPr lang="en-GB" dirty="0"/>
          </a:p>
        </p:txBody>
      </p:sp>
      <p:sp>
        <p:nvSpPr>
          <p:cNvPr id="3" name="Content Placeholder 2"/>
          <p:cNvSpPr>
            <a:spLocks noGrp="1"/>
          </p:cNvSpPr>
          <p:nvPr>
            <p:ph idx="1"/>
          </p:nvPr>
        </p:nvSpPr>
        <p:spPr/>
        <p:txBody>
          <a:bodyPr/>
          <a:lstStyle/>
          <a:p>
            <a:r>
              <a:rPr lang="en-GB" dirty="0" smtClean="0"/>
              <a:t>I can’t do it</a:t>
            </a:r>
          </a:p>
          <a:p>
            <a:r>
              <a:rPr lang="en-GB" dirty="0" smtClean="0"/>
              <a:t>I’ll never be able to do it</a:t>
            </a:r>
          </a:p>
          <a:p>
            <a:r>
              <a:rPr lang="en-GB" dirty="0" smtClean="0"/>
              <a:t>This isn’t me</a:t>
            </a:r>
          </a:p>
          <a:p>
            <a:r>
              <a:rPr lang="en-GB" dirty="0" smtClean="0"/>
              <a:t>I’m not an Art person</a:t>
            </a:r>
          </a:p>
          <a:p>
            <a:r>
              <a:rPr lang="en-GB" dirty="0" smtClean="0"/>
              <a:t>There’s no way I’ll ever be able to get the hang of this</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Metaphors and similes</a:t>
            </a:r>
            <a:endParaRPr lang="en-GB" dirty="0"/>
          </a:p>
        </p:txBody>
      </p:sp>
      <p:sp>
        <p:nvSpPr>
          <p:cNvPr id="3" name="Content Placeholder 2"/>
          <p:cNvSpPr>
            <a:spLocks noGrp="1"/>
          </p:cNvSpPr>
          <p:nvPr>
            <p:ph idx="1"/>
          </p:nvPr>
        </p:nvSpPr>
        <p:spPr/>
        <p:txBody>
          <a:bodyPr>
            <a:normAutofit/>
          </a:bodyPr>
          <a:lstStyle/>
          <a:p>
            <a:r>
              <a:rPr lang="en-GB" dirty="0" smtClean="0"/>
              <a:t>Your brain is like a muscle – it gets stronger the more you use it </a:t>
            </a:r>
            <a:r>
              <a:rPr lang="en-GB" dirty="0" smtClean="0">
                <a:hlinkClick r:id="rId2"/>
              </a:rPr>
              <a:t>www.classdojo.com</a:t>
            </a:r>
            <a:endParaRPr lang="en-GB" dirty="0" smtClean="0"/>
          </a:p>
          <a:p>
            <a:r>
              <a:rPr lang="en-GB" dirty="0" smtClean="0"/>
              <a:t>Feedback is your friend; it’s there to help you</a:t>
            </a:r>
          </a:p>
          <a:p>
            <a:r>
              <a:rPr lang="en-GB" dirty="0" smtClean="0"/>
              <a:t>Effort is a vector – it needs direction as well as size</a:t>
            </a:r>
          </a:p>
          <a:p>
            <a:r>
              <a:rPr lang="en-GB" dirty="0" smtClean="0"/>
              <a:t>Challenges are brain food</a:t>
            </a:r>
          </a:p>
          <a:p>
            <a:r>
              <a:rPr lang="en-GB" dirty="0" smtClean="0"/>
              <a:t>Mistakes are the building blocks of understanding</a:t>
            </a: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Praise</a:t>
            </a:r>
            <a:endParaRPr lang="en-GB" dirty="0"/>
          </a:p>
        </p:txBody>
      </p:sp>
      <p:sp>
        <p:nvSpPr>
          <p:cNvPr id="3" name="Content Placeholder 2"/>
          <p:cNvSpPr>
            <a:spLocks noGrp="1"/>
          </p:cNvSpPr>
          <p:nvPr>
            <p:ph idx="1"/>
          </p:nvPr>
        </p:nvSpPr>
        <p:spPr/>
        <p:txBody>
          <a:bodyPr>
            <a:normAutofit/>
          </a:bodyPr>
          <a:lstStyle/>
          <a:p>
            <a:r>
              <a:rPr lang="en-GB" dirty="0" smtClean="0"/>
              <a:t>Praising intelligence makes children fragile. </a:t>
            </a:r>
          </a:p>
          <a:p>
            <a:r>
              <a:rPr lang="en-GB" dirty="0" smtClean="0"/>
              <a:t>Our tendency to praise able/successful children for their intelligence may actually be detrimental to their long-term intellectual growth and development.</a:t>
            </a:r>
          </a:p>
          <a:p>
            <a:r>
              <a:rPr lang="en-GB" dirty="0" smtClean="0"/>
              <a:t>Students praised for intelligence:</a:t>
            </a:r>
          </a:p>
          <a:p>
            <a:pPr lvl="1"/>
            <a:r>
              <a:rPr lang="en-GB" dirty="0" smtClean="0"/>
              <a:t>Selected easier tasks when given choice</a:t>
            </a:r>
          </a:p>
          <a:p>
            <a:pPr lvl="1"/>
            <a:r>
              <a:rPr lang="en-GB" dirty="0" smtClean="0"/>
              <a:t>Lied about their scores in an effort to look “smart”</a:t>
            </a:r>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0" y="333375"/>
            <a:ext cx="9144000" cy="663575"/>
          </a:xfrm>
        </p:spPr>
        <p:txBody>
          <a:bodyPr>
            <a:normAutofit fontScale="90000"/>
          </a:bodyPr>
          <a:lstStyle/>
          <a:p>
            <a:r>
              <a:rPr lang="en-GB" altLang="en-US" dirty="0" smtClean="0"/>
              <a:t>Messages About Success</a:t>
            </a:r>
            <a:br>
              <a:rPr lang="en-GB" altLang="en-US" dirty="0" smtClean="0"/>
            </a:br>
            <a:endParaRPr lang="en-GB" altLang="en-US" dirty="0" smtClean="0"/>
          </a:p>
        </p:txBody>
      </p:sp>
      <p:sp>
        <p:nvSpPr>
          <p:cNvPr id="27651" name="Content Placeholder 4"/>
          <p:cNvSpPr>
            <a:spLocks noGrp="1"/>
          </p:cNvSpPr>
          <p:nvPr>
            <p:ph idx="1"/>
          </p:nvPr>
        </p:nvSpPr>
        <p:spPr>
          <a:xfrm>
            <a:off x="179388" y="908050"/>
            <a:ext cx="8964612" cy="5401270"/>
          </a:xfrm>
        </p:spPr>
        <p:txBody>
          <a:bodyPr>
            <a:normAutofit/>
          </a:bodyPr>
          <a:lstStyle/>
          <a:p>
            <a:pPr>
              <a:buFont typeface="Wingdings" charset="2"/>
              <a:buNone/>
            </a:pPr>
            <a:r>
              <a:rPr lang="en-GB" altLang="en-US" sz="2400" dirty="0" smtClean="0"/>
              <a:t>Listen for the messages in the following examples:</a:t>
            </a:r>
          </a:p>
          <a:p>
            <a:pPr>
              <a:buFont typeface="Wingdings" charset="2"/>
              <a:buNone/>
            </a:pPr>
            <a:r>
              <a:rPr lang="en-GB" altLang="en-US" sz="2400" i="1" dirty="0" smtClean="0">
                <a:solidFill>
                  <a:srgbClr val="00B050"/>
                </a:solidFill>
              </a:rPr>
              <a:t>“You learned that so quickly! You’re so smart!”</a:t>
            </a:r>
          </a:p>
          <a:p>
            <a:pPr>
              <a:buFont typeface="Wingdings" charset="2"/>
              <a:buNone/>
            </a:pPr>
            <a:r>
              <a:rPr lang="en-GB" altLang="en-US" sz="2400" i="1" dirty="0" smtClean="0">
                <a:solidFill>
                  <a:srgbClr val="00B050"/>
                </a:solidFill>
              </a:rPr>
              <a:t>“Look at that drawing. Martha, is he the next Picasso or what?”</a:t>
            </a:r>
          </a:p>
          <a:p>
            <a:pPr>
              <a:buFont typeface="Wingdings" charset="2"/>
              <a:buNone/>
            </a:pPr>
            <a:r>
              <a:rPr lang="en-GB" altLang="en-US" sz="2400" i="1" dirty="0" smtClean="0">
                <a:solidFill>
                  <a:srgbClr val="00B050"/>
                </a:solidFill>
              </a:rPr>
              <a:t>“You’re so brilliant, you got an A without even studying!”</a:t>
            </a:r>
          </a:p>
          <a:p>
            <a:pPr>
              <a:buFont typeface="Wingdings" charset="2"/>
              <a:buNone/>
            </a:pPr>
            <a:endParaRPr lang="en-GB" altLang="en-US" sz="2400" dirty="0" smtClean="0"/>
          </a:p>
          <a:p>
            <a:pPr>
              <a:buFont typeface="Wingdings" charset="2"/>
              <a:buNone/>
            </a:pPr>
            <a:r>
              <a:rPr lang="en-GB" altLang="en-US" sz="2400" dirty="0" smtClean="0"/>
              <a:t>If you’re like most parents, you hear these as supportive,</a:t>
            </a:r>
          </a:p>
          <a:p>
            <a:pPr>
              <a:buFont typeface="Wingdings" charset="2"/>
              <a:buNone/>
            </a:pPr>
            <a:r>
              <a:rPr lang="en-GB" altLang="en-US" sz="2400" dirty="0" smtClean="0"/>
              <a:t>esteem-boosting messages. But listen more closely. See if you can hear another message. It’s the ones that children hear:</a:t>
            </a:r>
          </a:p>
          <a:p>
            <a:pPr>
              <a:buFont typeface="Wingdings" charset="2"/>
              <a:buNone/>
            </a:pPr>
            <a:endParaRPr lang="en-GB" altLang="en-US" sz="2400" dirty="0" smtClean="0"/>
          </a:p>
          <a:p>
            <a:pPr>
              <a:buFont typeface="Wingdings" charset="2"/>
              <a:buNone/>
            </a:pPr>
            <a:r>
              <a:rPr lang="en-GB" altLang="en-US" sz="2400" dirty="0" smtClean="0">
                <a:solidFill>
                  <a:srgbClr val="FF0000"/>
                </a:solidFill>
              </a:rPr>
              <a:t>“If I don’t learn something quickly, I’m not smart.”</a:t>
            </a:r>
          </a:p>
          <a:p>
            <a:pPr>
              <a:buFont typeface="Wingdings" charset="2"/>
              <a:buNone/>
            </a:pPr>
            <a:r>
              <a:rPr lang="en-GB" altLang="en-US" sz="2400" dirty="0" smtClean="0">
                <a:solidFill>
                  <a:srgbClr val="FF0000"/>
                </a:solidFill>
              </a:rPr>
              <a:t>“I shouldn’t try drawing anything hard or they’ll see I’m no Picasso.”</a:t>
            </a:r>
          </a:p>
          <a:p>
            <a:pPr>
              <a:buFont typeface="Wingdings" charset="2"/>
              <a:buNone/>
            </a:pPr>
            <a:r>
              <a:rPr lang="en-GB" altLang="en-US" sz="2400" dirty="0" smtClean="0">
                <a:solidFill>
                  <a:srgbClr val="FF0000"/>
                </a:solidFill>
              </a:rPr>
              <a:t>“I’d better quit studying or they won’t think I’m brilliant.”</a:t>
            </a:r>
          </a:p>
          <a:p>
            <a:endParaRPr lang="en-GB" altLang="en-US"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Praise effort!</a:t>
            </a:r>
            <a:endParaRPr lang="en-GB" dirty="0"/>
          </a:p>
        </p:txBody>
      </p:sp>
      <p:sp>
        <p:nvSpPr>
          <p:cNvPr id="3" name="Content Placeholder 2"/>
          <p:cNvSpPr>
            <a:spLocks noGrp="1"/>
          </p:cNvSpPr>
          <p:nvPr>
            <p:ph idx="1"/>
          </p:nvPr>
        </p:nvSpPr>
        <p:spPr/>
        <p:txBody>
          <a:bodyPr/>
          <a:lstStyle/>
          <a:p>
            <a:r>
              <a:rPr lang="en-GB" dirty="0" smtClean="0"/>
              <a:t>Students who were praised for effort:</a:t>
            </a:r>
          </a:p>
          <a:p>
            <a:pPr lvl="1"/>
            <a:r>
              <a:rPr lang="en-GB" dirty="0" smtClean="0"/>
              <a:t>Overwhelmingly (90%) chose more challenging tasks</a:t>
            </a:r>
          </a:p>
          <a:p>
            <a:pPr lvl="1"/>
            <a:r>
              <a:rPr lang="en-GB" dirty="0" smtClean="0"/>
              <a:t>Showed higher levels of engagement and achievement</a:t>
            </a:r>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Providing feedback-based praise</a:t>
            </a:r>
            <a:endParaRPr lang="en-GB" dirty="0"/>
          </a:p>
        </p:txBody>
      </p:sp>
      <p:sp>
        <p:nvSpPr>
          <p:cNvPr id="3" name="Content Placeholder 2"/>
          <p:cNvSpPr>
            <a:spLocks noGrp="1"/>
          </p:cNvSpPr>
          <p:nvPr>
            <p:ph idx="1"/>
          </p:nvPr>
        </p:nvSpPr>
        <p:spPr/>
        <p:txBody>
          <a:bodyPr/>
          <a:lstStyle/>
          <a:p>
            <a:pPr>
              <a:buNone/>
            </a:pPr>
            <a:r>
              <a:rPr lang="en-GB" dirty="0" smtClean="0"/>
              <a:t>Have a go at rewording the following examples of trait-based praise:</a:t>
            </a:r>
          </a:p>
          <a:p>
            <a:r>
              <a:rPr lang="en-GB" dirty="0" smtClean="0"/>
              <a:t>Great work from you – just as I would expect!</a:t>
            </a:r>
          </a:p>
          <a:p>
            <a:r>
              <a:rPr lang="en-GB" dirty="0" smtClean="0"/>
              <a:t>You’re amazing!</a:t>
            </a:r>
          </a:p>
          <a:p>
            <a:r>
              <a:rPr lang="en-GB" dirty="0" smtClean="0"/>
              <a:t>You’re so clever</a:t>
            </a:r>
          </a:p>
          <a:p>
            <a:r>
              <a:rPr lang="en-GB" dirty="0" smtClean="0"/>
              <a:t>I know a bright girl like you would get it right</a:t>
            </a:r>
          </a:p>
          <a:p>
            <a:r>
              <a:rPr lang="en-GB" dirty="0" smtClean="0"/>
              <a:t>Great answer, you little genius!</a:t>
            </a:r>
          </a:p>
          <a:p>
            <a:pPr>
              <a:buNone/>
            </a:pPr>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Mistakes</a:t>
            </a:r>
            <a:endParaRPr lang="en-GB" dirty="0"/>
          </a:p>
        </p:txBody>
      </p:sp>
      <p:sp>
        <p:nvSpPr>
          <p:cNvPr id="3" name="Content Placeholder 2"/>
          <p:cNvSpPr>
            <a:spLocks noGrp="1"/>
          </p:cNvSpPr>
          <p:nvPr>
            <p:ph idx="1"/>
          </p:nvPr>
        </p:nvSpPr>
        <p:spPr/>
        <p:txBody>
          <a:bodyPr/>
          <a:lstStyle/>
          <a:p>
            <a:r>
              <a:rPr lang="en-GB" dirty="0" smtClean="0"/>
              <a:t>Help students to perceive mistakes and failure as a useful part of the learning process</a:t>
            </a:r>
          </a:p>
          <a:p>
            <a:r>
              <a:rPr lang="en-GB" dirty="0" smtClean="0"/>
              <a:t>When learning something new it is to be expected that we will make mistakes</a:t>
            </a:r>
          </a:p>
          <a:p>
            <a:r>
              <a:rPr lang="en-GB" dirty="0" smtClean="0"/>
              <a:t>Putting the emotional experience of failure aside and looking objectively at what happened and why so that we can improve</a:t>
            </a:r>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Elizabeth</a:t>
            </a:r>
            <a:endParaRPr lang="en-GB" dirty="0"/>
          </a:p>
        </p:txBody>
      </p:sp>
      <p:pic>
        <p:nvPicPr>
          <p:cNvPr id="4" name="Content Placeholder 3" descr="gymnastics.jpg"/>
          <p:cNvPicPr>
            <a:picLocks noGrp="1" noChangeAspect="1"/>
          </p:cNvPicPr>
          <p:nvPr>
            <p:ph idx="1"/>
          </p:nvPr>
        </p:nvPicPr>
        <p:blipFill>
          <a:blip r:embed="rId3" cstate="print"/>
          <a:stretch>
            <a:fillRect/>
          </a:stretch>
        </p:blipFill>
        <p:spPr>
          <a:xfrm>
            <a:off x="3275856" y="1700808"/>
            <a:ext cx="2599730" cy="3906698"/>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GB" altLang="en-US" dirty="0" smtClean="0"/>
              <a:t>Messages about failure</a:t>
            </a:r>
          </a:p>
        </p:txBody>
      </p:sp>
      <p:sp>
        <p:nvSpPr>
          <p:cNvPr id="28675" name="Content Placeholder 2"/>
          <p:cNvSpPr>
            <a:spLocks noGrp="1"/>
          </p:cNvSpPr>
          <p:nvPr>
            <p:ph idx="1"/>
          </p:nvPr>
        </p:nvSpPr>
        <p:spPr>
          <a:xfrm>
            <a:off x="0" y="1484784"/>
            <a:ext cx="9144000" cy="4537075"/>
          </a:xfrm>
        </p:spPr>
        <p:txBody>
          <a:bodyPr/>
          <a:lstStyle/>
          <a:p>
            <a:pPr>
              <a:buFont typeface="Wingdings" charset="2"/>
              <a:buNone/>
            </a:pPr>
            <a:r>
              <a:rPr lang="en-GB" altLang="en-US" sz="2800" dirty="0" smtClean="0"/>
              <a:t>What would you do if you were Elizabeth’s parents?</a:t>
            </a:r>
          </a:p>
          <a:p>
            <a:r>
              <a:rPr lang="en-GB" altLang="en-US" sz="2800" dirty="0" smtClean="0"/>
              <a:t>Tell Elizabeth you thought she was the best.</a:t>
            </a:r>
          </a:p>
          <a:p>
            <a:r>
              <a:rPr lang="en-GB" altLang="en-US" sz="2800" dirty="0" smtClean="0"/>
              <a:t>Tell her she was robbed of a ribbon that was rightfully hers.</a:t>
            </a:r>
          </a:p>
          <a:p>
            <a:r>
              <a:rPr lang="en-GB" altLang="en-US" sz="2800" dirty="0" smtClean="0"/>
              <a:t>Reassure her that gymnastics is not that important</a:t>
            </a:r>
          </a:p>
          <a:p>
            <a:r>
              <a:rPr lang="en-GB" altLang="en-US" sz="2800" dirty="0" smtClean="0"/>
              <a:t>Tell her she has the ability and will surely win next time.</a:t>
            </a:r>
          </a:p>
          <a:p>
            <a:r>
              <a:rPr lang="en-GB" altLang="en-US" sz="2800" dirty="0" smtClean="0"/>
              <a:t>Tell her she didn’t deserve to win.</a:t>
            </a:r>
          </a:p>
          <a:p>
            <a:pPr>
              <a:buFont typeface="Wingdings" charset="2"/>
              <a:buNone/>
            </a:pPr>
            <a:endParaRPr lang="en-GB" altLang="en-US"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normAutofit fontScale="90000"/>
          </a:bodyPr>
          <a:lstStyle/>
          <a:p>
            <a:r>
              <a:rPr lang="en-GB" altLang="en-US" dirty="0" smtClean="0"/>
              <a:t>How to motivate learners to develop a growth </a:t>
            </a:r>
            <a:r>
              <a:rPr lang="en-GB" altLang="en-US" dirty="0" err="1" smtClean="0"/>
              <a:t>mindset</a:t>
            </a:r>
            <a:endParaRPr lang="en-GB" altLang="en-US" dirty="0" smtClean="0"/>
          </a:p>
        </p:txBody>
      </p:sp>
      <p:sp>
        <p:nvSpPr>
          <p:cNvPr id="24579" name="Content Placeholder 2"/>
          <p:cNvSpPr>
            <a:spLocks noGrp="1"/>
          </p:cNvSpPr>
          <p:nvPr>
            <p:ph idx="1"/>
          </p:nvPr>
        </p:nvSpPr>
        <p:spPr/>
        <p:txBody>
          <a:bodyPr/>
          <a:lstStyle/>
          <a:p>
            <a:r>
              <a:rPr lang="en-GB" altLang="en-US" sz="2400" dirty="0" smtClean="0"/>
              <a:t>Intelligence: demonstrate that it is isn’t fixed</a:t>
            </a:r>
          </a:p>
          <a:p>
            <a:r>
              <a:rPr lang="en-GB" altLang="en-US" sz="2400" dirty="0" smtClean="0"/>
              <a:t>Potential: full potential can only be reached through constant learning.</a:t>
            </a:r>
          </a:p>
          <a:p>
            <a:r>
              <a:rPr lang="en-GB" altLang="en-US" sz="2400" dirty="0" smtClean="0"/>
              <a:t>Validation: show the learner they can become whoever they wish to be.</a:t>
            </a:r>
          </a:p>
          <a:p>
            <a:r>
              <a:rPr lang="en-GB" altLang="en-US" sz="2400" dirty="0" smtClean="0"/>
              <a:t>Challenge: get them to welcome challenge and be willing to take reasonable risks to overcome and improve.</a:t>
            </a:r>
          </a:p>
          <a:p>
            <a:r>
              <a:rPr lang="en-GB" altLang="en-US" sz="2400" dirty="0" smtClean="0"/>
              <a:t>Learning: get them to value learning for what it will do for them.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normAutofit fontScale="90000"/>
          </a:bodyPr>
          <a:lstStyle/>
          <a:p>
            <a:r>
              <a:rPr lang="en-GB" altLang="en-US" dirty="0" smtClean="0"/>
              <a:t>How to motivate learners to develop a growth </a:t>
            </a:r>
            <a:r>
              <a:rPr lang="en-GB" altLang="en-US" dirty="0" err="1" smtClean="0"/>
              <a:t>mindset</a:t>
            </a:r>
            <a:endParaRPr lang="en-GB" altLang="en-US" dirty="0" smtClean="0"/>
          </a:p>
        </p:txBody>
      </p:sp>
      <p:sp>
        <p:nvSpPr>
          <p:cNvPr id="25603" name="Content Placeholder 2"/>
          <p:cNvSpPr>
            <a:spLocks noGrp="1"/>
          </p:cNvSpPr>
          <p:nvPr>
            <p:ph idx="1"/>
          </p:nvPr>
        </p:nvSpPr>
        <p:spPr/>
        <p:txBody>
          <a:bodyPr/>
          <a:lstStyle/>
          <a:p>
            <a:r>
              <a:rPr lang="en-GB" altLang="en-US" sz="2800" dirty="0" smtClean="0"/>
              <a:t>Praise effort as much as you praise results</a:t>
            </a:r>
          </a:p>
          <a:p>
            <a:r>
              <a:rPr lang="en-GB" altLang="en-US" sz="2800" dirty="0" smtClean="0"/>
              <a:t>Don’t make praise person-centred – success comes from hard work</a:t>
            </a:r>
          </a:p>
          <a:p>
            <a:r>
              <a:rPr lang="en-GB" altLang="en-US" sz="2800" dirty="0" smtClean="0"/>
              <a:t>Don’t allow learners who fail to consider themselves to be a failure. Get them to analyse what went wrong and put it right next time.</a:t>
            </a:r>
          </a:p>
          <a:p>
            <a:r>
              <a:rPr lang="en-GB" altLang="en-US" sz="2800" dirty="0" smtClean="0"/>
              <a:t>Emphasise that knowledge and skills can be cultivated and that effort is required for learning.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GB" altLang="en-US" sz="3200" dirty="0" smtClean="0"/>
              <a:t>How to motivate learners to develop a growth </a:t>
            </a:r>
            <a:r>
              <a:rPr lang="en-GB" altLang="en-US" sz="3200" dirty="0" err="1" smtClean="0"/>
              <a:t>mindset</a:t>
            </a:r>
            <a:endParaRPr lang="en-GB" altLang="en-US" sz="3200" dirty="0" smtClean="0"/>
          </a:p>
        </p:txBody>
      </p:sp>
      <p:sp>
        <p:nvSpPr>
          <p:cNvPr id="26627" name="Content Placeholder 2"/>
          <p:cNvSpPr>
            <a:spLocks noGrp="1"/>
          </p:cNvSpPr>
          <p:nvPr>
            <p:ph idx="1"/>
          </p:nvPr>
        </p:nvSpPr>
        <p:spPr>
          <a:xfrm>
            <a:off x="179512" y="1628800"/>
            <a:ext cx="8713787" cy="4124325"/>
          </a:xfrm>
        </p:spPr>
        <p:txBody>
          <a:bodyPr/>
          <a:lstStyle/>
          <a:p>
            <a:r>
              <a:rPr lang="en-GB" altLang="en-US" sz="2800" dirty="0" smtClean="0"/>
              <a:t>Make use of analogies, metaphors and role models to demonstrate what can be achieved through hard work and effort.</a:t>
            </a:r>
          </a:p>
          <a:p>
            <a:r>
              <a:rPr lang="en-GB" altLang="en-US" sz="2800" dirty="0" smtClean="0"/>
              <a:t>Don’t allow learners to blame the teacher or the task for their failure. Get them to reflect on the effort they put in or the strategies they adopted to prepare for learning. Encourage use of self-assessment and peer assessment.</a:t>
            </a:r>
          </a:p>
          <a:p>
            <a:r>
              <a:rPr lang="en-GB" altLang="en-US" sz="2800" dirty="0" smtClean="0"/>
              <a:t>Convince your learners that every setback is a challenge and that every challenge is an opportunity to improve.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GB" altLang="en-US" dirty="0" smtClean="0"/>
              <a:t>What will you do next?</a:t>
            </a:r>
          </a:p>
        </p:txBody>
      </p:sp>
      <p:sp>
        <p:nvSpPr>
          <p:cNvPr id="29699" name="Content Placeholder 2"/>
          <p:cNvSpPr>
            <a:spLocks noGrp="1"/>
          </p:cNvSpPr>
          <p:nvPr>
            <p:ph idx="1"/>
          </p:nvPr>
        </p:nvSpPr>
        <p:spPr/>
        <p:txBody>
          <a:bodyPr>
            <a:normAutofit lnSpcReduction="10000"/>
          </a:bodyPr>
          <a:lstStyle/>
          <a:p>
            <a:pPr>
              <a:buFont typeface="Wingdings" charset="2"/>
              <a:buNone/>
            </a:pPr>
            <a:r>
              <a:rPr lang="en-GB" altLang="en-US" dirty="0" smtClean="0"/>
              <a:t>Spend a few minutes of reflection, either on your own, or with a partner.</a:t>
            </a:r>
          </a:p>
          <a:p>
            <a:r>
              <a:rPr lang="en-GB" altLang="en-US" dirty="0" smtClean="0"/>
              <a:t>What will you start doing?</a:t>
            </a:r>
          </a:p>
          <a:p>
            <a:r>
              <a:rPr lang="en-GB" altLang="en-US" dirty="0" smtClean="0"/>
              <a:t>What will you do more of?</a:t>
            </a:r>
          </a:p>
          <a:p>
            <a:r>
              <a:rPr lang="en-GB" altLang="en-US" dirty="0" smtClean="0"/>
              <a:t>What will you stop doing?</a:t>
            </a:r>
          </a:p>
          <a:p>
            <a:pPr>
              <a:buNone/>
            </a:pPr>
            <a:endParaRPr lang="en-GB" altLang="en-US" dirty="0" smtClean="0"/>
          </a:p>
          <a:p>
            <a:pPr>
              <a:buNone/>
            </a:pPr>
            <a:r>
              <a:rPr lang="en-GB" altLang="en-US" dirty="0" smtClean="0"/>
              <a:t>‘Doing’ could be re-read as ‘saying’</a:t>
            </a:r>
          </a:p>
          <a:p>
            <a:pPr>
              <a:buNone/>
            </a:pPr>
            <a:r>
              <a:rPr lang="en-GB" altLang="en-US" dirty="0" smtClean="0"/>
              <a:t>Write your ideas down.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dirty="0" smtClean="0"/>
              <a:t>References</a:t>
            </a:r>
          </a:p>
        </p:txBody>
      </p:sp>
      <p:sp>
        <p:nvSpPr>
          <p:cNvPr id="30723" name="Content Placeholder 2"/>
          <p:cNvSpPr>
            <a:spLocks noGrp="1"/>
          </p:cNvSpPr>
          <p:nvPr>
            <p:ph idx="1"/>
          </p:nvPr>
        </p:nvSpPr>
        <p:spPr/>
        <p:txBody>
          <a:bodyPr>
            <a:normAutofit lnSpcReduction="10000"/>
          </a:bodyPr>
          <a:lstStyle/>
          <a:p>
            <a:r>
              <a:rPr lang="en-GB" altLang="en-US" sz="1800" dirty="0" err="1" smtClean="0">
                <a:latin typeface="Helvetica" pitchFamily="34" charset="0"/>
                <a:cs typeface="Helvetica" pitchFamily="34" charset="0"/>
              </a:rPr>
              <a:t>Brummelman</a:t>
            </a:r>
            <a:r>
              <a:rPr lang="en-GB" altLang="en-US" sz="1800" dirty="0" smtClean="0">
                <a:latin typeface="Helvetica" pitchFamily="34" charset="0"/>
                <a:cs typeface="Helvetica" pitchFamily="34" charset="0"/>
              </a:rPr>
              <a:t>, E., </a:t>
            </a:r>
            <a:r>
              <a:rPr lang="en-GB" altLang="en-US" sz="1800" dirty="0" err="1" smtClean="0">
                <a:latin typeface="Helvetica" pitchFamily="34" charset="0"/>
                <a:cs typeface="Helvetica" pitchFamily="34" charset="0"/>
              </a:rPr>
              <a:t>Thomaes</a:t>
            </a:r>
            <a:r>
              <a:rPr lang="en-GB" altLang="en-US" sz="1800" dirty="0" smtClean="0">
                <a:latin typeface="Helvetica" pitchFamily="34" charset="0"/>
                <a:cs typeface="Helvetica" pitchFamily="34" charset="0"/>
              </a:rPr>
              <a:t>, S., </a:t>
            </a:r>
            <a:r>
              <a:rPr lang="en-GB" altLang="en-US" sz="1800" dirty="0" err="1" smtClean="0">
                <a:latin typeface="Helvetica" pitchFamily="34" charset="0"/>
                <a:cs typeface="Helvetica" pitchFamily="34" charset="0"/>
              </a:rPr>
              <a:t>Orobio</a:t>
            </a:r>
            <a:r>
              <a:rPr lang="en-GB" altLang="en-US" sz="1800" dirty="0" smtClean="0">
                <a:latin typeface="Helvetica" pitchFamily="34" charset="0"/>
                <a:cs typeface="Helvetica" pitchFamily="34" charset="0"/>
              </a:rPr>
              <a:t> de Castro, B., </a:t>
            </a:r>
            <a:r>
              <a:rPr lang="en-GB" altLang="en-US" sz="1800" dirty="0" err="1" smtClean="0">
                <a:latin typeface="Helvetica" pitchFamily="34" charset="0"/>
                <a:cs typeface="Helvetica" pitchFamily="34" charset="0"/>
              </a:rPr>
              <a:t>Overbeek</a:t>
            </a:r>
            <a:r>
              <a:rPr lang="en-GB" altLang="en-US" sz="1800" dirty="0" smtClean="0">
                <a:latin typeface="Helvetica" pitchFamily="34" charset="0"/>
                <a:cs typeface="Helvetica" pitchFamily="34" charset="0"/>
              </a:rPr>
              <a:t>, G., &amp; Bushman, B. J. (2014). “That’s Not Just Beautiful--That's Incredibly Beautiful!”: The Adverse Impact of Inflated Praise on Children With Low Self-Esteem. </a:t>
            </a:r>
            <a:r>
              <a:rPr lang="en-GB" altLang="en-US" sz="1800" i="1" dirty="0" smtClean="0">
                <a:latin typeface="Helvetica" pitchFamily="34" charset="0"/>
                <a:cs typeface="Helvetica" pitchFamily="34" charset="0"/>
              </a:rPr>
              <a:t>Psychological Science</a:t>
            </a:r>
            <a:r>
              <a:rPr lang="en-GB" altLang="en-US" sz="1800" dirty="0" smtClean="0">
                <a:latin typeface="Helvetica" pitchFamily="34" charset="0"/>
                <a:cs typeface="Helvetica" pitchFamily="34" charset="0"/>
              </a:rPr>
              <a:t>, </a:t>
            </a:r>
            <a:r>
              <a:rPr lang="en-GB" altLang="en-US" sz="1800" i="1" dirty="0" smtClean="0">
                <a:latin typeface="Helvetica" pitchFamily="34" charset="0"/>
                <a:cs typeface="Helvetica" pitchFamily="34" charset="0"/>
              </a:rPr>
              <a:t>25</a:t>
            </a:r>
            <a:r>
              <a:rPr lang="en-GB" altLang="en-US" sz="1800" dirty="0" smtClean="0">
                <a:latin typeface="Helvetica" pitchFamily="34" charset="0"/>
                <a:cs typeface="Helvetica" pitchFamily="34" charset="0"/>
              </a:rPr>
              <a:t>(3), 728–735. doi:10.1177/0956797613514251</a:t>
            </a:r>
          </a:p>
          <a:p>
            <a:r>
              <a:rPr lang="en-GB" altLang="en-US" sz="1800" dirty="0" err="1" smtClean="0">
                <a:latin typeface="Helvetica" pitchFamily="34" charset="0"/>
                <a:cs typeface="Helvetica" pitchFamily="34" charset="0"/>
              </a:rPr>
              <a:t>Brummelman</a:t>
            </a:r>
            <a:r>
              <a:rPr lang="en-GB" altLang="en-US" sz="1800" dirty="0" smtClean="0">
                <a:latin typeface="Helvetica" pitchFamily="34" charset="0"/>
                <a:cs typeface="Helvetica" pitchFamily="34" charset="0"/>
              </a:rPr>
              <a:t>, E., </a:t>
            </a:r>
            <a:r>
              <a:rPr lang="en-GB" altLang="en-US" sz="1800" dirty="0" err="1" smtClean="0">
                <a:latin typeface="Helvetica" pitchFamily="34" charset="0"/>
                <a:cs typeface="Helvetica" pitchFamily="34" charset="0"/>
              </a:rPr>
              <a:t>Thomaes</a:t>
            </a:r>
            <a:r>
              <a:rPr lang="en-GB" altLang="en-US" sz="1800" dirty="0" smtClean="0">
                <a:latin typeface="Helvetica" pitchFamily="34" charset="0"/>
                <a:cs typeface="Helvetica" pitchFamily="34" charset="0"/>
              </a:rPr>
              <a:t>, S., </a:t>
            </a:r>
            <a:r>
              <a:rPr lang="en-GB" altLang="en-US" sz="1800" dirty="0" err="1" smtClean="0">
                <a:latin typeface="Helvetica" pitchFamily="34" charset="0"/>
                <a:cs typeface="Helvetica" pitchFamily="34" charset="0"/>
              </a:rPr>
              <a:t>Overbeek</a:t>
            </a:r>
            <a:r>
              <a:rPr lang="en-GB" altLang="en-US" sz="1800" dirty="0" smtClean="0">
                <a:latin typeface="Helvetica" pitchFamily="34" charset="0"/>
                <a:cs typeface="Helvetica" pitchFamily="34" charset="0"/>
              </a:rPr>
              <a:t>, G., </a:t>
            </a:r>
            <a:r>
              <a:rPr lang="en-GB" altLang="en-US" sz="1800" dirty="0" err="1" smtClean="0">
                <a:latin typeface="Helvetica" pitchFamily="34" charset="0"/>
                <a:cs typeface="Helvetica" pitchFamily="34" charset="0"/>
              </a:rPr>
              <a:t>Orobio</a:t>
            </a:r>
            <a:r>
              <a:rPr lang="en-GB" altLang="en-US" sz="1800" dirty="0" smtClean="0">
                <a:latin typeface="Helvetica" pitchFamily="34" charset="0"/>
                <a:cs typeface="Helvetica" pitchFamily="34" charset="0"/>
              </a:rPr>
              <a:t> de Castro, B., van den </a:t>
            </a:r>
            <a:r>
              <a:rPr lang="en-GB" altLang="en-US" sz="1800" dirty="0" err="1" smtClean="0">
                <a:latin typeface="Helvetica" pitchFamily="34" charset="0"/>
                <a:cs typeface="Helvetica" pitchFamily="34" charset="0"/>
              </a:rPr>
              <a:t>Hout</a:t>
            </a:r>
            <a:r>
              <a:rPr lang="en-GB" altLang="en-US" sz="1800" dirty="0" smtClean="0">
                <a:latin typeface="Helvetica" pitchFamily="34" charset="0"/>
                <a:cs typeface="Helvetica" pitchFamily="34" charset="0"/>
              </a:rPr>
              <a:t>, M. A., &amp; Bushman, B. J. (2014). On feeding those hungry for praise: Person praise backfires in   with low self-esteem. </a:t>
            </a:r>
            <a:r>
              <a:rPr lang="en-US" altLang="en-US" sz="1800" i="1" dirty="0" smtClean="0">
                <a:latin typeface="Helvetica" pitchFamily="34" charset="0"/>
                <a:cs typeface="Helvetica" pitchFamily="34" charset="0"/>
              </a:rPr>
              <a:t>Journal of Experimental Psychology: General, 143</a:t>
            </a:r>
            <a:r>
              <a:rPr lang="en-GB" altLang="en-US" sz="1800" i="1" dirty="0" smtClean="0">
                <a:latin typeface="Helvetica" pitchFamily="34" charset="0"/>
                <a:cs typeface="Helvetica" pitchFamily="34" charset="0"/>
              </a:rPr>
              <a:t>(1</a:t>
            </a:r>
            <a:r>
              <a:rPr lang="en-GB" altLang="en-US" sz="1800" dirty="0" smtClean="0">
                <a:latin typeface="Helvetica" pitchFamily="34" charset="0"/>
                <a:cs typeface="Helvetica" pitchFamily="34" charset="0"/>
              </a:rPr>
              <a:t>), 9-14. doi:10.1037/a0031917</a:t>
            </a:r>
          </a:p>
          <a:p>
            <a:r>
              <a:rPr lang="en-GB" altLang="en-US" sz="1800" dirty="0" err="1" smtClean="0">
                <a:latin typeface="Helvetica" pitchFamily="34" charset="0"/>
                <a:cs typeface="Helvetica" pitchFamily="34" charset="0"/>
              </a:rPr>
              <a:t>Dweck</a:t>
            </a:r>
            <a:r>
              <a:rPr lang="en-GB" altLang="en-US" sz="1800" dirty="0" smtClean="0">
                <a:latin typeface="Helvetica" pitchFamily="34" charset="0"/>
                <a:cs typeface="Helvetica" pitchFamily="34" charset="0"/>
              </a:rPr>
              <a:t>, C. S. (2012) </a:t>
            </a:r>
            <a:r>
              <a:rPr lang="en-GB" altLang="en-US" sz="1800" dirty="0" err="1" smtClean="0">
                <a:latin typeface="Helvetica" pitchFamily="34" charset="0"/>
                <a:cs typeface="Helvetica" pitchFamily="34" charset="0"/>
              </a:rPr>
              <a:t>Minset</a:t>
            </a:r>
            <a:r>
              <a:rPr lang="en-GB" altLang="en-US" sz="1800" dirty="0" smtClean="0">
                <a:latin typeface="Helvetica" pitchFamily="34" charset="0"/>
                <a:cs typeface="Helvetica" pitchFamily="34" charset="0"/>
              </a:rPr>
              <a:t>: How You Can Fulfil Your Potential. London: Robinson</a:t>
            </a:r>
          </a:p>
          <a:p>
            <a:r>
              <a:rPr lang="en-GB" altLang="en-US" sz="1800" dirty="0" err="1" smtClean="0">
                <a:latin typeface="Helvetica" pitchFamily="34" charset="0"/>
                <a:cs typeface="Helvetica" pitchFamily="34" charset="0"/>
              </a:rPr>
              <a:t>Gershon</a:t>
            </a:r>
            <a:r>
              <a:rPr lang="en-GB" altLang="en-US" sz="1800" dirty="0" smtClean="0">
                <a:latin typeface="Helvetica" pitchFamily="34" charset="0"/>
                <a:cs typeface="Helvetica" pitchFamily="34" charset="0"/>
              </a:rPr>
              <a:t>, M. (2016). How to develop growth mindsets in the classroom: The complete guide. </a:t>
            </a:r>
          </a:p>
          <a:p>
            <a:r>
              <a:rPr lang="en-GB" altLang="en-US" sz="1800" dirty="0" smtClean="0">
                <a:latin typeface="Helvetica" pitchFamily="34" charset="0"/>
                <a:cs typeface="Helvetica" pitchFamily="34" charset="0"/>
              </a:rPr>
              <a:t>Mueller, C &amp; </a:t>
            </a:r>
            <a:r>
              <a:rPr lang="en-GB" altLang="en-US" sz="1800" dirty="0" err="1" smtClean="0">
                <a:latin typeface="Helvetica" pitchFamily="34" charset="0"/>
                <a:cs typeface="Helvetica" pitchFamily="34" charset="0"/>
              </a:rPr>
              <a:t>Dweck</a:t>
            </a:r>
            <a:r>
              <a:rPr lang="en-GB" altLang="en-US" sz="1800" dirty="0" smtClean="0">
                <a:latin typeface="Helvetica" pitchFamily="34" charset="0"/>
                <a:cs typeface="Helvetica" pitchFamily="34" charset="0"/>
              </a:rPr>
              <a:t>, C. (1998). Praise for Intelligence Can Undermine Children's Motivation and Performance . </a:t>
            </a:r>
            <a:r>
              <a:rPr lang="en-GB" altLang="en-US" sz="1800" i="1" dirty="0" smtClean="0">
                <a:latin typeface="Helvetica" pitchFamily="34" charset="0"/>
                <a:cs typeface="Helvetica" pitchFamily="34" charset="0"/>
              </a:rPr>
              <a:t>Journal for Personality and Social Psychology</a:t>
            </a:r>
            <a:r>
              <a:rPr lang="en-GB" altLang="en-US" sz="1800" dirty="0" smtClean="0">
                <a:latin typeface="Helvetica" pitchFamily="34" charset="0"/>
                <a:cs typeface="Helvetica" pitchFamily="34" charset="0"/>
              </a:rPr>
              <a:t>, 75(1), 33-52</a:t>
            </a:r>
          </a:p>
          <a:p>
            <a:endParaRPr lang="en-GB" altLang="en-US" sz="1800" dirty="0" smtClean="0">
              <a:latin typeface="Helvetica" pitchFamily="34" charset="0"/>
              <a:cs typeface="Helvetica" pitchFamily="34" charset="0"/>
            </a:endParaRPr>
          </a:p>
          <a:p>
            <a:endParaRPr lang="en-GB" altLang="en-US" sz="1800"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2570</Words>
  <Application>Microsoft Office PowerPoint</Application>
  <PresentationFormat>On-screen Show (4:3)</PresentationFormat>
  <Paragraphs>218</Paragraphs>
  <Slides>26</Slides>
  <Notes>15</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Growth Mindset</vt:lpstr>
      <vt:lpstr>Quiz</vt:lpstr>
      <vt:lpstr>PowerPoint Presentation</vt:lpstr>
      <vt:lpstr>Born with it?</vt:lpstr>
      <vt:lpstr>PowerPoint Presentation</vt:lpstr>
      <vt:lpstr>Imagine...</vt:lpstr>
      <vt:lpstr>Dweck’s research: transition to 7th grade</vt:lpstr>
      <vt:lpstr>PowerPoint Presentation</vt:lpstr>
      <vt:lpstr>If you believe in a fixed mindset</vt:lpstr>
      <vt:lpstr>If you believe in a growth mindset</vt:lpstr>
      <vt:lpstr>Language</vt:lpstr>
      <vt:lpstr>Introducing growth mindset language</vt:lpstr>
      <vt:lpstr>Reframing language</vt:lpstr>
      <vt:lpstr>Metaphors and similes</vt:lpstr>
      <vt:lpstr>Praise</vt:lpstr>
      <vt:lpstr>Messages About Success </vt:lpstr>
      <vt:lpstr>Praise effort!</vt:lpstr>
      <vt:lpstr>Providing feedback-based praise</vt:lpstr>
      <vt:lpstr>Mistakes</vt:lpstr>
      <vt:lpstr>Elizabeth</vt:lpstr>
      <vt:lpstr>Messages about failure</vt:lpstr>
      <vt:lpstr>How to motivate learners to develop a growth mindset</vt:lpstr>
      <vt:lpstr>How to motivate learners to develop a growth mindset</vt:lpstr>
      <vt:lpstr>How to motivate learners to develop a growth mindset</vt:lpstr>
      <vt:lpstr>What will you do next?</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Jenny</dc:creator>
  <cp:lastModifiedBy>localprofile</cp:lastModifiedBy>
  <cp:revision>23</cp:revision>
  <dcterms:created xsi:type="dcterms:W3CDTF">2019-04-26T20:57:52Z</dcterms:created>
  <dcterms:modified xsi:type="dcterms:W3CDTF">2019-04-30T08:47:17Z</dcterms:modified>
</cp:coreProperties>
</file>