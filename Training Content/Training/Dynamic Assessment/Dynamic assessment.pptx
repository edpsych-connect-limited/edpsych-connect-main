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727" r:id="rId2"/>
  </p:sldMasterIdLst>
  <p:notesMasterIdLst>
    <p:notesMasterId r:id="rId39"/>
  </p:notesMasterIdLst>
  <p:handoutMasterIdLst>
    <p:handoutMasterId r:id="rId40"/>
  </p:handoutMasterIdLst>
  <p:sldIdLst>
    <p:sldId id="533" r:id="rId3"/>
    <p:sldId id="534" r:id="rId4"/>
    <p:sldId id="676" r:id="rId5"/>
    <p:sldId id="706" r:id="rId6"/>
    <p:sldId id="650" r:id="rId7"/>
    <p:sldId id="675" r:id="rId8"/>
    <p:sldId id="677" r:id="rId9"/>
    <p:sldId id="678" r:id="rId10"/>
    <p:sldId id="708" r:id="rId11"/>
    <p:sldId id="679" r:id="rId12"/>
    <p:sldId id="680" r:id="rId13"/>
    <p:sldId id="681" r:id="rId14"/>
    <p:sldId id="682" r:id="rId15"/>
    <p:sldId id="686" r:id="rId16"/>
    <p:sldId id="687" r:id="rId17"/>
    <p:sldId id="690" r:id="rId18"/>
    <p:sldId id="692" r:id="rId19"/>
    <p:sldId id="693" r:id="rId20"/>
    <p:sldId id="694" r:id="rId21"/>
    <p:sldId id="695" r:id="rId22"/>
    <p:sldId id="698" r:id="rId23"/>
    <p:sldId id="700" r:id="rId24"/>
    <p:sldId id="712" r:id="rId25"/>
    <p:sldId id="713" r:id="rId26"/>
    <p:sldId id="702" r:id="rId27"/>
    <p:sldId id="688" r:id="rId28"/>
    <p:sldId id="705" r:id="rId29"/>
    <p:sldId id="697" r:id="rId30"/>
    <p:sldId id="699" r:id="rId31"/>
    <p:sldId id="704" r:id="rId32"/>
    <p:sldId id="710" r:id="rId33"/>
    <p:sldId id="711" r:id="rId34"/>
    <p:sldId id="701" r:id="rId35"/>
    <p:sldId id="689" r:id="rId36"/>
    <p:sldId id="668" r:id="rId37"/>
    <p:sldId id="669" r:id="rId38"/>
  </p:sldIdLst>
  <p:sldSz cx="9144000" cy="6858000" type="screen4x3"/>
  <p:notesSz cx="6797675" cy="9926638"/>
  <p:custDataLst>
    <p:tags r:id="rId41"/>
  </p:custDataLst>
  <p:defaultTextStyle>
    <a:defPPr>
      <a:defRPr lang="en-GB"/>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727C"/>
    <a:srgbClr val="6296C3"/>
    <a:srgbClr val="7FAF1F"/>
    <a:srgbClr val="F2B137"/>
    <a:srgbClr val="4583A3"/>
    <a:srgbClr val="3390FF"/>
    <a:srgbClr val="FFF9A1"/>
    <a:srgbClr val="8C8CF0"/>
    <a:srgbClr val="6E6EEC"/>
    <a:srgbClr val="AFBAE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6" d="100"/>
          <a:sy n="126" d="100"/>
        </p:scale>
        <p:origin x="-1194"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C74E47-34D1-5C43-AD7A-842AE0B3483F}" type="doc">
      <dgm:prSet loTypeId="urn:microsoft.com/office/officeart/2005/8/layout/radial4" loCatId="" qsTypeId="urn:microsoft.com/office/officeart/2005/8/quickstyle/simple4" qsCatId="simple" csTypeId="urn:microsoft.com/office/officeart/2005/8/colors/accent1_2" csCatId="accent1" phldr="1"/>
      <dgm:spPr/>
      <dgm:t>
        <a:bodyPr/>
        <a:lstStyle/>
        <a:p>
          <a:endParaRPr lang="en-US"/>
        </a:p>
      </dgm:t>
    </dgm:pt>
    <dgm:pt modelId="{64833E68-A266-3A47-AD43-386AFCE218CF}">
      <dgm:prSet phldrT="[Text]"/>
      <dgm:spPr>
        <a:solidFill>
          <a:schemeClr val="bg1">
            <a:lumMod val="50000"/>
          </a:schemeClr>
        </a:solidFill>
      </dgm:spPr>
      <dgm:t>
        <a:bodyPr/>
        <a:lstStyle/>
        <a:p>
          <a:r>
            <a:rPr lang="en-US" dirty="0" smtClean="0"/>
            <a:t>Dynamic Assessment</a:t>
          </a:r>
          <a:endParaRPr lang="en-US" dirty="0"/>
        </a:p>
      </dgm:t>
    </dgm:pt>
    <dgm:pt modelId="{45CF9C68-7415-AC47-8478-35B24A4BCEB1}" type="parTrans" cxnId="{F2BB15B3-BF81-A84B-A2FB-CE1CF9ADBFDB}">
      <dgm:prSet/>
      <dgm:spPr/>
      <dgm:t>
        <a:bodyPr/>
        <a:lstStyle/>
        <a:p>
          <a:endParaRPr lang="en-US"/>
        </a:p>
      </dgm:t>
    </dgm:pt>
    <dgm:pt modelId="{5082902B-CE3E-3F4B-B0D1-A3564E83A541}" type="sibTrans" cxnId="{F2BB15B3-BF81-A84B-A2FB-CE1CF9ADBFDB}">
      <dgm:prSet/>
      <dgm:spPr/>
      <dgm:t>
        <a:bodyPr/>
        <a:lstStyle/>
        <a:p>
          <a:endParaRPr lang="en-US"/>
        </a:p>
      </dgm:t>
    </dgm:pt>
    <dgm:pt modelId="{BF47D8FF-CDE5-BA43-972A-8CC708AC84DA}">
      <dgm:prSet phldrT="[Text]"/>
      <dgm:spPr>
        <a:blipFill rotWithShape="0">
          <a:blip xmlns:r="http://schemas.openxmlformats.org/officeDocument/2006/relationships" r:embed="rId1"/>
          <a:stretch>
            <a:fillRect/>
          </a:stretch>
        </a:blipFill>
      </dgm:spPr>
      <dgm:t>
        <a:bodyPr/>
        <a:lstStyle/>
        <a:p>
          <a:endParaRPr lang="en-US" dirty="0">
            <a:solidFill>
              <a:srgbClr val="000000"/>
            </a:solidFill>
          </a:endParaRPr>
        </a:p>
      </dgm:t>
    </dgm:pt>
    <dgm:pt modelId="{B9CC5FF3-2EF5-9941-87A3-1F753E392E27}" type="parTrans" cxnId="{040A951C-032B-5A43-AA27-135D9593E432}">
      <dgm:prSet/>
      <dgm:spPr/>
      <dgm:t>
        <a:bodyPr/>
        <a:lstStyle/>
        <a:p>
          <a:endParaRPr lang="en-US"/>
        </a:p>
      </dgm:t>
    </dgm:pt>
    <dgm:pt modelId="{BE2F8A80-5BFE-814B-9BA0-92BBD79C3591}" type="sibTrans" cxnId="{040A951C-032B-5A43-AA27-135D9593E432}">
      <dgm:prSet/>
      <dgm:spPr/>
      <dgm:t>
        <a:bodyPr/>
        <a:lstStyle/>
        <a:p>
          <a:endParaRPr lang="en-US"/>
        </a:p>
      </dgm:t>
    </dgm:pt>
    <dgm:pt modelId="{9549F68D-DD09-D14F-8C6E-7B7470A5ECD5}">
      <dgm:prSet phldrT="[Text]"/>
      <dgm:spPr>
        <a:blipFill rotWithShape="0">
          <a:blip xmlns:r="http://schemas.openxmlformats.org/officeDocument/2006/relationships" r:embed="rId2"/>
          <a:stretch>
            <a:fillRect/>
          </a:stretch>
        </a:blipFill>
      </dgm:spPr>
      <dgm:t>
        <a:bodyPr/>
        <a:lstStyle/>
        <a:p>
          <a:endParaRPr lang="en-US" dirty="0">
            <a:solidFill>
              <a:srgbClr val="000000"/>
            </a:solidFill>
          </a:endParaRPr>
        </a:p>
      </dgm:t>
    </dgm:pt>
    <dgm:pt modelId="{3F433E1F-C60D-744D-AE3E-99856199D437}" type="sibTrans" cxnId="{2E4E8265-F992-674E-AF23-DFEEDAE41D74}">
      <dgm:prSet/>
      <dgm:spPr/>
      <dgm:t>
        <a:bodyPr/>
        <a:lstStyle/>
        <a:p>
          <a:endParaRPr lang="en-US"/>
        </a:p>
      </dgm:t>
    </dgm:pt>
    <dgm:pt modelId="{6478E0A0-5871-814E-A872-1E8C12A24FE9}" type="parTrans" cxnId="{2E4E8265-F992-674E-AF23-DFEEDAE41D74}">
      <dgm:prSet/>
      <dgm:spPr/>
      <dgm:t>
        <a:bodyPr/>
        <a:lstStyle/>
        <a:p>
          <a:endParaRPr lang="en-US"/>
        </a:p>
      </dgm:t>
    </dgm:pt>
    <dgm:pt modelId="{8A66DC94-2232-E843-AEA1-2093A4575CED}">
      <dgm:prSet phldrT="[Text]"/>
      <dgm:spPr>
        <a:blipFill rotWithShape="0">
          <a:blip xmlns:r="http://schemas.openxmlformats.org/officeDocument/2006/relationships" r:embed="rId3"/>
          <a:stretch>
            <a:fillRect/>
          </a:stretch>
        </a:blipFill>
      </dgm:spPr>
      <dgm:t>
        <a:bodyPr/>
        <a:lstStyle/>
        <a:p>
          <a:endParaRPr lang="en-US" b="0" dirty="0">
            <a:solidFill>
              <a:schemeClr val="tx1"/>
            </a:solidFill>
          </a:endParaRPr>
        </a:p>
      </dgm:t>
    </dgm:pt>
    <dgm:pt modelId="{7C6A4F2B-5BF5-FE45-A883-79F27A5EB4C1}" type="sibTrans" cxnId="{122E291F-657B-8447-BF59-4ED1E61F856B}">
      <dgm:prSet/>
      <dgm:spPr/>
      <dgm:t>
        <a:bodyPr/>
        <a:lstStyle/>
        <a:p>
          <a:endParaRPr lang="en-US"/>
        </a:p>
      </dgm:t>
    </dgm:pt>
    <dgm:pt modelId="{895839F8-A979-4249-A1F8-A856AF7ECFCD}" type="parTrans" cxnId="{122E291F-657B-8447-BF59-4ED1E61F856B}">
      <dgm:prSet/>
      <dgm:spPr/>
      <dgm:t>
        <a:bodyPr/>
        <a:lstStyle/>
        <a:p>
          <a:endParaRPr lang="en-US"/>
        </a:p>
      </dgm:t>
    </dgm:pt>
    <dgm:pt modelId="{B057C505-2F52-1941-8FBC-69B13177FE98}" type="pres">
      <dgm:prSet presAssocID="{F2C74E47-34D1-5C43-AD7A-842AE0B3483F}" presName="cycle" presStyleCnt="0">
        <dgm:presLayoutVars>
          <dgm:chMax val="1"/>
          <dgm:dir/>
          <dgm:animLvl val="ctr"/>
          <dgm:resizeHandles val="exact"/>
        </dgm:presLayoutVars>
      </dgm:prSet>
      <dgm:spPr/>
      <dgm:t>
        <a:bodyPr/>
        <a:lstStyle/>
        <a:p>
          <a:endParaRPr lang="en-US"/>
        </a:p>
      </dgm:t>
    </dgm:pt>
    <dgm:pt modelId="{79854FA2-A1D9-EA43-BA4B-58040CB60028}" type="pres">
      <dgm:prSet presAssocID="{64833E68-A266-3A47-AD43-386AFCE218CF}" presName="centerShape" presStyleLbl="node0" presStyleIdx="0" presStyleCnt="1"/>
      <dgm:spPr/>
      <dgm:t>
        <a:bodyPr/>
        <a:lstStyle/>
        <a:p>
          <a:endParaRPr lang="en-US"/>
        </a:p>
      </dgm:t>
    </dgm:pt>
    <dgm:pt modelId="{DAC07D35-68E5-A04A-A10F-DFEDBCF4E68A}" type="pres">
      <dgm:prSet presAssocID="{895839F8-A979-4249-A1F8-A856AF7ECFCD}" presName="parTrans" presStyleLbl="bgSibTrans2D1" presStyleIdx="0" presStyleCnt="3" custLinFactNeighborX="9038" custLinFactNeighborY="-13830"/>
      <dgm:spPr/>
      <dgm:t>
        <a:bodyPr/>
        <a:lstStyle/>
        <a:p>
          <a:endParaRPr lang="en-US"/>
        </a:p>
      </dgm:t>
    </dgm:pt>
    <dgm:pt modelId="{F012F78A-23C9-2045-97F9-FBE86D59EDA3}" type="pres">
      <dgm:prSet presAssocID="{8A66DC94-2232-E843-AEA1-2093A4575CED}" presName="node" presStyleLbl="node1" presStyleIdx="0" presStyleCnt="3" custScaleY="152258" custRadScaleRad="98535" custRadScaleInc="-15696">
        <dgm:presLayoutVars>
          <dgm:bulletEnabled val="1"/>
        </dgm:presLayoutVars>
      </dgm:prSet>
      <dgm:spPr/>
      <dgm:t>
        <a:bodyPr/>
        <a:lstStyle/>
        <a:p>
          <a:endParaRPr lang="en-US"/>
        </a:p>
      </dgm:t>
    </dgm:pt>
    <dgm:pt modelId="{CD7C448C-218F-7E4E-AF90-268B81EDCD9B}" type="pres">
      <dgm:prSet presAssocID="{B9CC5FF3-2EF5-9941-87A3-1F753E392E27}" presName="parTrans" presStyleLbl="bgSibTrans2D1" presStyleIdx="1" presStyleCnt="3" custLinFactNeighborX="-8916" custLinFactNeighborY="-765"/>
      <dgm:spPr/>
      <dgm:t>
        <a:bodyPr/>
        <a:lstStyle/>
        <a:p>
          <a:endParaRPr lang="en-US"/>
        </a:p>
      </dgm:t>
    </dgm:pt>
    <dgm:pt modelId="{61FE983B-6F22-9046-A4BF-CD8434989548}" type="pres">
      <dgm:prSet presAssocID="{BF47D8FF-CDE5-BA43-972A-8CC708AC84DA}" presName="node" presStyleLbl="node1" presStyleIdx="1" presStyleCnt="3" custScaleY="127205" custRadScaleRad="103019" custRadScaleInc="108872">
        <dgm:presLayoutVars>
          <dgm:bulletEnabled val="1"/>
        </dgm:presLayoutVars>
      </dgm:prSet>
      <dgm:spPr/>
      <dgm:t>
        <a:bodyPr/>
        <a:lstStyle/>
        <a:p>
          <a:endParaRPr lang="en-US"/>
        </a:p>
      </dgm:t>
    </dgm:pt>
    <dgm:pt modelId="{84CAF2E0-852F-7240-9AC7-F4498678C5D5}" type="pres">
      <dgm:prSet presAssocID="{6478E0A0-5871-814E-A872-1E8C12A24FE9}" presName="parTrans" presStyleLbl="bgSibTrans2D1" presStyleIdx="2" presStyleCnt="3" custAng="21533988" custScaleX="69553" custLinFactNeighborX="-4890" custLinFactNeighborY="79131"/>
      <dgm:spPr/>
      <dgm:t>
        <a:bodyPr/>
        <a:lstStyle/>
        <a:p>
          <a:endParaRPr lang="en-US"/>
        </a:p>
      </dgm:t>
    </dgm:pt>
    <dgm:pt modelId="{98337BFE-8F7D-7349-A8B6-6EE32A75B077}" type="pres">
      <dgm:prSet presAssocID="{9549F68D-DD09-D14F-8C6E-7B7470A5ECD5}" presName="node" presStyleLbl="node1" presStyleIdx="2" presStyleCnt="3" custScaleY="123267" custRadScaleRad="95044" custRadScaleInc="-89833">
        <dgm:presLayoutVars>
          <dgm:bulletEnabled val="1"/>
        </dgm:presLayoutVars>
      </dgm:prSet>
      <dgm:spPr/>
      <dgm:t>
        <a:bodyPr/>
        <a:lstStyle/>
        <a:p>
          <a:endParaRPr lang="en-US"/>
        </a:p>
      </dgm:t>
    </dgm:pt>
  </dgm:ptLst>
  <dgm:cxnLst>
    <dgm:cxn modelId="{2E4E8265-F992-674E-AF23-DFEEDAE41D74}" srcId="{64833E68-A266-3A47-AD43-386AFCE218CF}" destId="{9549F68D-DD09-D14F-8C6E-7B7470A5ECD5}" srcOrd="2" destOrd="0" parTransId="{6478E0A0-5871-814E-A872-1E8C12A24FE9}" sibTransId="{3F433E1F-C60D-744D-AE3E-99856199D437}"/>
    <dgm:cxn modelId="{191F913D-66C1-427A-BAA0-E75B004505FE}" type="presOf" srcId="{6478E0A0-5871-814E-A872-1E8C12A24FE9}" destId="{84CAF2E0-852F-7240-9AC7-F4498678C5D5}" srcOrd="0" destOrd="0" presId="urn:microsoft.com/office/officeart/2005/8/layout/radial4"/>
    <dgm:cxn modelId="{122E291F-657B-8447-BF59-4ED1E61F856B}" srcId="{64833E68-A266-3A47-AD43-386AFCE218CF}" destId="{8A66DC94-2232-E843-AEA1-2093A4575CED}" srcOrd="0" destOrd="0" parTransId="{895839F8-A979-4249-A1F8-A856AF7ECFCD}" sibTransId="{7C6A4F2B-5BF5-FE45-A883-79F27A5EB4C1}"/>
    <dgm:cxn modelId="{C6AF329F-8AB1-4719-992C-8B22FDC4BFBF}" type="presOf" srcId="{895839F8-A979-4249-A1F8-A856AF7ECFCD}" destId="{DAC07D35-68E5-A04A-A10F-DFEDBCF4E68A}" srcOrd="0" destOrd="0" presId="urn:microsoft.com/office/officeart/2005/8/layout/radial4"/>
    <dgm:cxn modelId="{714DB407-D459-497D-824E-0697C6553EE6}" type="presOf" srcId="{F2C74E47-34D1-5C43-AD7A-842AE0B3483F}" destId="{B057C505-2F52-1941-8FBC-69B13177FE98}" srcOrd="0" destOrd="0" presId="urn:microsoft.com/office/officeart/2005/8/layout/radial4"/>
    <dgm:cxn modelId="{D4612A73-F197-4B9B-B625-9AA28873833F}" type="presOf" srcId="{64833E68-A266-3A47-AD43-386AFCE218CF}" destId="{79854FA2-A1D9-EA43-BA4B-58040CB60028}" srcOrd="0" destOrd="0" presId="urn:microsoft.com/office/officeart/2005/8/layout/radial4"/>
    <dgm:cxn modelId="{83EA42E4-E5F8-422D-99D7-D16C57CC7580}" type="presOf" srcId="{BF47D8FF-CDE5-BA43-972A-8CC708AC84DA}" destId="{61FE983B-6F22-9046-A4BF-CD8434989548}" srcOrd="0" destOrd="0" presId="urn:microsoft.com/office/officeart/2005/8/layout/radial4"/>
    <dgm:cxn modelId="{040A951C-032B-5A43-AA27-135D9593E432}" srcId="{64833E68-A266-3A47-AD43-386AFCE218CF}" destId="{BF47D8FF-CDE5-BA43-972A-8CC708AC84DA}" srcOrd="1" destOrd="0" parTransId="{B9CC5FF3-2EF5-9941-87A3-1F753E392E27}" sibTransId="{BE2F8A80-5BFE-814B-9BA0-92BBD79C3591}"/>
    <dgm:cxn modelId="{F2BB15B3-BF81-A84B-A2FB-CE1CF9ADBFDB}" srcId="{F2C74E47-34D1-5C43-AD7A-842AE0B3483F}" destId="{64833E68-A266-3A47-AD43-386AFCE218CF}" srcOrd="0" destOrd="0" parTransId="{45CF9C68-7415-AC47-8478-35B24A4BCEB1}" sibTransId="{5082902B-CE3E-3F4B-B0D1-A3564E83A541}"/>
    <dgm:cxn modelId="{6FA161B2-C921-4E7B-AECD-3B0943894369}" type="presOf" srcId="{8A66DC94-2232-E843-AEA1-2093A4575CED}" destId="{F012F78A-23C9-2045-97F9-FBE86D59EDA3}" srcOrd="0" destOrd="0" presId="urn:microsoft.com/office/officeart/2005/8/layout/radial4"/>
    <dgm:cxn modelId="{424757CD-245C-40FC-BA8E-F86C8F575811}" type="presOf" srcId="{B9CC5FF3-2EF5-9941-87A3-1F753E392E27}" destId="{CD7C448C-218F-7E4E-AF90-268B81EDCD9B}" srcOrd="0" destOrd="0" presId="urn:microsoft.com/office/officeart/2005/8/layout/radial4"/>
    <dgm:cxn modelId="{0772E939-1CE1-4EA6-A137-379B6AB2084D}" type="presOf" srcId="{9549F68D-DD09-D14F-8C6E-7B7470A5ECD5}" destId="{98337BFE-8F7D-7349-A8B6-6EE32A75B077}" srcOrd="0" destOrd="0" presId="urn:microsoft.com/office/officeart/2005/8/layout/radial4"/>
    <dgm:cxn modelId="{408491FE-92AB-4CAD-AD27-911480219352}" type="presParOf" srcId="{B057C505-2F52-1941-8FBC-69B13177FE98}" destId="{79854FA2-A1D9-EA43-BA4B-58040CB60028}" srcOrd="0" destOrd="0" presId="urn:microsoft.com/office/officeart/2005/8/layout/radial4"/>
    <dgm:cxn modelId="{C31F4106-86BD-44BA-B5B8-08034603D4A4}" type="presParOf" srcId="{B057C505-2F52-1941-8FBC-69B13177FE98}" destId="{DAC07D35-68E5-A04A-A10F-DFEDBCF4E68A}" srcOrd="1" destOrd="0" presId="urn:microsoft.com/office/officeart/2005/8/layout/radial4"/>
    <dgm:cxn modelId="{143D5B30-4285-4290-9A8F-8954647E26D6}" type="presParOf" srcId="{B057C505-2F52-1941-8FBC-69B13177FE98}" destId="{F012F78A-23C9-2045-97F9-FBE86D59EDA3}" srcOrd="2" destOrd="0" presId="urn:microsoft.com/office/officeart/2005/8/layout/radial4"/>
    <dgm:cxn modelId="{C8D2D421-5E52-4DC5-8963-7B91E48D92F9}" type="presParOf" srcId="{B057C505-2F52-1941-8FBC-69B13177FE98}" destId="{CD7C448C-218F-7E4E-AF90-268B81EDCD9B}" srcOrd="3" destOrd="0" presId="urn:microsoft.com/office/officeart/2005/8/layout/radial4"/>
    <dgm:cxn modelId="{3B4459DD-E236-4644-AF81-1E4D587899CF}" type="presParOf" srcId="{B057C505-2F52-1941-8FBC-69B13177FE98}" destId="{61FE983B-6F22-9046-A4BF-CD8434989548}" srcOrd="4" destOrd="0" presId="urn:microsoft.com/office/officeart/2005/8/layout/radial4"/>
    <dgm:cxn modelId="{533097FF-4013-410F-8796-B5B8577E2B1C}" type="presParOf" srcId="{B057C505-2F52-1941-8FBC-69B13177FE98}" destId="{84CAF2E0-852F-7240-9AC7-F4498678C5D5}" srcOrd="5" destOrd="0" presId="urn:microsoft.com/office/officeart/2005/8/layout/radial4"/>
    <dgm:cxn modelId="{9F8C2479-1DDC-49DE-A649-23A00C052E58}" type="presParOf" srcId="{B057C505-2F52-1941-8FBC-69B13177FE98}" destId="{98337BFE-8F7D-7349-A8B6-6EE32A75B077}"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C74E47-34D1-5C43-AD7A-842AE0B3483F}" type="doc">
      <dgm:prSet loTypeId="urn:microsoft.com/office/officeart/2005/8/layout/radial4" loCatId="" qsTypeId="urn:microsoft.com/office/officeart/2005/8/quickstyle/simple4" qsCatId="simple" csTypeId="urn:microsoft.com/office/officeart/2005/8/colors/accent1_2" csCatId="accent1" phldr="1"/>
      <dgm:spPr/>
      <dgm:t>
        <a:bodyPr/>
        <a:lstStyle/>
        <a:p>
          <a:endParaRPr lang="en-US"/>
        </a:p>
      </dgm:t>
    </dgm:pt>
    <dgm:pt modelId="{64833E68-A266-3A47-AD43-386AFCE218CF}">
      <dgm:prSet phldrT="[Text]"/>
      <dgm:spPr>
        <a:solidFill>
          <a:schemeClr val="bg1">
            <a:lumMod val="50000"/>
          </a:schemeClr>
        </a:solidFill>
      </dgm:spPr>
      <dgm:t>
        <a:bodyPr/>
        <a:lstStyle/>
        <a:p>
          <a:r>
            <a:rPr lang="en-US" dirty="0" smtClean="0"/>
            <a:t>Dynamic Assessment</a:t>
          </a:r>
          <a:endParaRPr lang="en-US" dirty="0"/>
        </a:p>
      </dgm:t>
    </dgm:pt>
    <dgm:pt modelId="{45CF9C68-7415-AC47-8478-35B24A4BCEB1}" type="parTrans" cxnId="{F2BB15B3-BF81-A84B-A2FB-CE1CF9ADBFDB}">
      <dgm:prSet/>
      <dgm:spPr/>
      <dgm:t>
        <a:bodyPr/>
        <a:lstStyle/>
        <a:p>
          <a:endParaRPr lang="en-US"/>
        </a:p>
      </dgm:t>
    </dgm:pt>
    <dgm:pt modelId="{5082902B-CE3E-3F4B-B0D1-A3564E83A541}" type="sibTrans" cxnId="{F2BB15B3-BF81-A84B-A2FB-CE1CF9ADBFDB}">
      <dgm:prSet/>
      <dgm:spPr/>
      <dgm:t>
        <a:bodyPr/>
        <a:lstStyle/>
        <a:p>
          <a:endParaRPr lang="en-US"/>
        </a:p>
      </dgm:t>
    </dgm:pt>
    <dgm:pt modelId="{8A66DC94-2232-E843-AEA1-2093A4575CED}">
      <dgm:prSet phldrT="[Text]"/>
      <dgm:spPr>
        <a:solidFill>
          <a:srgbClr val="E2727C"/>
        </a:solidFill>
      </dgm:spPr>
      <dgm:t>
        <a:bodyPr/>
        <a:lstStyle/>
        <a:p>
          <a:r>
            <a:rPr lang="en-US" b="0" dirty="0" err="1" smtClean="0">
              <a:solidFill>
                <a:schemeClr val="tx1"/>
              </a:solidFill>
            </a:rPr>
            <a:t>Vygotsky</a:t>
          </a:r>
          <a:endParaRPr lang="en-US" b="0" dirty="0">
            <a:solidFill>
              <a:schemeClr val="tx1"/>
            </a:solidFill>
          </a:endParaRPr>
        </a:p>
      </dgm:t>
    </dgm:pt>
    <dgm:pt modelId="{895839F8-A979-4249-A1F8-A856AF7ECFCD}" type="parTrans" cxnId="{122E291F-657B-8447-BF59-4ED1E61F856B}">
      <dgm:prSet/>
      <dgm:spPr/>
      <dgm:t>
        <a:bodyPr/>
        <a:lstStyle/>
        <a:p>
          <a:endParaRPr lang="en-US"/>
        </a:p>
      </dgm:t>
    </dgm:pt>
    <dgm:pt modelId="{7C6A4F2B-5BF5-FE45-A883-79F27A5EB4C1}" type="sibTrans" cxnId="{122E291F-657B-8447-BF59-4ED1E61F856B}">
      <dgm:prSet/>
      <dgm:spPr/>
      <dgm:t>
        <a:bodyPr/>
        <a:lstStyle/>
        <a:p>
          <a:endParaRPr lang="en-US"/>
        </a:p>
      </dgm:t>
    </dgm:pt>
    <dgm:pt modelId="{BF47D8FF-CDE5-BA43-972A-8CC708AC84DA}">
      <dgm:prSet phldrT="[Text]"/>
      <dgm:spPr>
        <a:solidFill>
          <a:srgbClr val="6E6EEC"/>
        </a:solidFill>
      </dgm:spPr>
      <dgm:t>
        <a:bodyPr/>
        <a:lstStyle/>
        <a:p>
          <a:r>
            <a:rPr lang="en-US" dirty="0" smtClean="0">
              <a:solidFill>
                <a:srgbClr val="000000"/>
              </a:solidFill>
            </a:rPr>
            <a:t>Luria</a:t>
          </a:r>
          <a:endParaRPr lang="en-US" dirty="0">
            <a:solidFill>
              <a:srgbClr val="000000"/>
            </a:solidFill>
          </a:endParaRPr>
        </a:p>
      </dgm:t>
    </dgm:pt>
    <dgm:pt modelId="{B9CC5FF3-2EF5-9941-87A3-1F753E392E27}" type="parTrans" cxnId="{040A951C-032B-5A43-AA27-135D9593E432}">
      <dgm:prSet/>
      <dgm:spPr/>
      <dgm:t>
        <a:bodyPr/>
        <a:lstStyle/>
        <a:p>
          <a:endParaRPr lang="en-US"/>
        </a:p>
      </dgm:t>
    </dgm:pt>
    <dgm:pt modelId="{BE2F8A80-5BFE-814B-9BA0-92BBD79C3591}" type="sibTrans" cxnId="{040A951C-032B-5A43-AA27-135D9593E432}">
      <dgm:prSet/>
      <dgm:spPr/>
      <dgm:t>
        <a:bodyPr/>
        <a:lstStyle/>
        <a:p>
          <a:endParaRPr lang="en-US"/>
        </a:p>
      </dgm:t>
    </dgm:pt>
    <dgm:pt modelId="{9549F68D-DD09-D14F-8C6E-7B7470A5ECD5}">
      <dgm:prSet phldrT="[Text]"/>
      <dgm:spPr>
        <a:solidFill>
          <a:srgbClr val="3390FF"/>
        </a:solidFill>
      </dgm:spPr>
      <dgm:t>
        <a:bodyPr/>
        <a:lstStyle/>
        <a:p>
          <a:r>
            <a:rPr lang="en-US" dirty="0" smtClean="0">
              <a:solidFill>
                <a:srgbClr val="000000"/>
              </a:solidFill>
            </a:rPr>
            <a:t>Feuerstein</a:t>
          </a:r>
          <a:endParaRPr lang="en-US" dirty="0">
            <a:solidFill>
              <a:srgbClr val="000000"/>
            </a:solidFill>
          </a:endParaRPr>
        </a:p>
      </dgm:t>
    </dgm:pt>
    <dgm:pt modelId="{6478E0A0-5871-814E-A872-1E8C12A24FE9}" type="parTrans" cxnId="{2E4E8265-F992-674E-AF23-DFEEDAE41D74}">
      <dgm:prSet/>
      <dgm:spPr/>
      <dgm:t>
        <a:bodyPr/>
        <a:lstStyle/>
        <a:p>
          <a:endParaRPr lang="en-US"/>
        </a:p>
      </dgm:t>
    </dgm:pt>
    <dgm:pt modelId="{3F433E1F-C60D-744D-AE3E-99856199D437}" type="sibTrans" cxnId="{2E4E8265-F992-674E-AF23-DFEEDAE41D74}">
      <dgm:prSet/>
      <dgm:spPr/>
      <dgm:t>
        <a:bodyPr/>
        <a:lstStyle/>
        <a:p>
          <a:endParaRPr lang="en-US"/>
        </a:p>
      </dgm:t>
    </dgm:pt>
    <dgm:pt modelId="{B057C505-2F52-1941-8FBC-69B13177FE98}" type="pres">
      <dgm:prSet presAssocID="{F2C74E47-34D1-5C43-AD7A-842AE0B3483F}" presName="cycle" presStyleCnt="0">
        <dgm:presLayoutVars>
          <dgm:chMax val="1"/>
          <dgm:dir/>
          <dgm:animLvl val="ctr"/>
          <dgm:resizeHandles val="exact"/>
        </dgm:presLayoutVars>
      </dgm:prSet>
      <dgm:spPr/>
      <dgm:t>
        <a:bodyPr/>
        <a:lstStyle/>
        <a:p>
          <a:endParaRPr lang="en-US"/>
        </a:p>
      </dgm:t>
    </dgm:pt>
    <dgm:pt modelId="{79854FA2-A1D9-EA43-BA4B-58040CB60028}" type="pres">
      <dgm:prSet presAssocID="{64833E68-A266-3A47-AD43-386AFCE218CF}" presName="centerShape" presStyleLbl="node0" presStyleIdx="0" presStyleCnt="1"/>
      <dgm:spPr/>
      <dgm:t>
        <a:bodyPr/>
        <a:lstStyle/>
        <a:p>
          <a:endParaRPr lang="en-US"/>
        </a:p>
      </dgm:t>
    </dgm:pt>
    <dgm:pt modelId="{DAC07D35-68E5-A04A-A10F-DFEDBCF4E68A}" type="pres">
      <dgm:prSet presAssocID="{895839F8-A979-4249-A1F8-A856AF7ECFCD}" presName="parTrans" presStyleLbl="bgSibTrans2D1" presStyleIdx="0" presStyleCnt="3" custLinFactNeighborX="9038" custLinFactNeighborY="-13830"/>
      <dgm:spPr/>
      <dgm:t>
        <a:bodyPr/>
        <a:lstStyle/>
        <a:p>
          <a:endParaRPr lang="en-US"/>
        </a:p>
      </dgm:t>
    </dgm:pt>
    <dgm:pt modelId="{F012F78A-23C9-2045-97F9-FBE86D59EDA3}" type="pres">
      <dgm:prSet presAssocID="{8A66DC94-2232-E843-AEA1-2093A4575CED}" presName="node" presStyleLbl="node1" presStyleIdx="0" presStyleCnt="3" custRadScaleRad="98535" custRadScaleInc="-15696">
        <dgm:presLayoutVars>
          <dgm:bulletEnabled val="1"/>
        </dgm:presLayoutVars>
      </dgm:prSet>
      <dgm:spPr/>
      <dgm:t>
        <a:bodyPr/>
        <a:lstStyle/>
        <a:p>
          <a:endParaRPr lang="en-US"/>
        </a:p>
      </dgm:t>
    </dgm:pt>
    <dgm:pt modelId="{CD7C448C-218F-7E4E-AF90-268B81EDCD9B}" type="pres">
      <dgm:prSet presAssocID="{B9CC5FF3-2EF5-9941-87A3-1F753E392E27}" presName="parTrans" presStyleLbl="bgSibTrans2D1" presStyleIdx="1" presStyleCnt="3" custLinFactNeighborX="-8916" custLinFactNeighborY="-765"/>
      <dgm:spPr/>
      <dgm:t>
        <a:bodyPr/>
        <a:lstStyle/>
        <a:p>
          <a:endParaRPr lang="en-US"/>
        </a:p>
      </dgm:t>
    </dgm:pt>
    <dgm:pt modelId="{61FE983B-6F22-9046-A4BF-CD8434989548}" type="pres">
      <dgm:prSet presAssocID="{BF47D8FF-CDE5-BA43-972A-8CC708AC84DA}" presName="node" presStyleLbl="node1" presStyleIdx="1" presStyleCnt="3" custRadScaleRad="103019" custRadScaleInc="108872">
        <dgm:presLayoutVars>
          <dgm:bulletEnabled val="1"/>
        </dgm:presLayoutVars>
      </dgm:prSet>
      <dgm:spPr/>
      <dgm:t>
        <a:bodyPr/>
        <a:lstStyle/>
        <a:p>
          <a:endParaRPr lang="en-US"/>
        </a:p>
      </dgm:t>
    </dgm:pt>
    <dgm:pt modelId="{84CAF2E0-852F-7240-9AC7-F4498678C5D5}" type="pres">
      <dgm:prSet presAssocID="{6478E0A0-5871-814E-A872-1E8C12A24FE9}" presName="parTrans" presStyleLbl="bgSibTrans2D1" presStyleIdx="2" presStyleCnt="3" custAng="21533988" custScaleX="69553" custLinFactNeighborX="-4890" custLinFactNeighborY="79131"/>
      <dgm:spPr/>
      <dgm:t>
        <a:bodyPr/>
        <a:lstStyle/>
        <a:p>
          <a:endParaRPr lang="en-US"/>
        </a:p>
      </dgm:t>
    </dgm:pt>
    <dgm:pt modelId="{98337BFE-8F7D-7349-A8B6-6EE32A75B077}" type="pres">
      <dgm:prSet presAssocID="{9549F68D-DD09-D14F-8C6E-7B7470A5ECD5}" presName="node" presStyleLbl="node1" presStyleIdx="2" presStyleCnt="3" custRadScaleRad="95044" custRadScaleInc="-89833">
        <dgm:presLayoutVars>
          <dgm:bulletEnabled val="1"/>
        </dgm:presLayoutVars>
      </dgm:prSet>
      <dgm:spPr/>
      <dgm:t>
        <a:bodyPr/>
        <a:lstStyle/>
        <a:p>
          <a:endParaRPr lang="en-US"/>
        </a:p>
      </dgm:t>
    </dgm:pt>
  </dgm:ptLst>
  <dgm:cxnLst>
    <dgm:cxn modelId="{2E4E8265-F992-674E-AF23-DFEEDAE41D74}" srcId="{64833E68-A266-3A47-AD43-386AFCE218CF}" destId="{9549F68D-DD09-D14F-8C6E-7B7470A5ECD5}" srcOrd="2" destOrd="0" parTransId="{6478E0A0-5871-814E-A872-1E8C12A24FE9}" sibTransId="{3F433E1F-C60D-744D-AE3E-99856199D437}"/>
    <dgm:cxn modelId="{122E291F-657B-8447-BF59-4ED1E61F856B}" srcId="{64833E68-A266-3A47-AD43-386AFCE218CF}" destId="{8A66DC94-2232-E843-AEA1-2093A4575CED}" srcOrd="0" destOrd="0" parTransId="{895839F8-A979-4249-A1F8-A856AF7ECFCD}" sibTransId="{7C6A4F2B-5BF5-FE45-A883-79F27A5EB4C1}"/>
    <dgm:cxn modelId="{958B3B6B-517B-374E-8F45-160F1619C507}" type="presOf" srcId="{BF47D8FF-CDE5-BA43-972A-8CC708AC84DA}" destId="{61FE983B-6F22-9046-A4BF-CD8434989548}" srcOrd="0" destOrd="0" presId="urn:microsoft.com/office/officeart/2005/8/layout/radial4"/>
    <dgm:cxn modelId="{675AB806-97F1-D847-BBE3-EED4B2CF73FA}" type="presOf" srcId="{F2C74E47-34D1-5C43-AD7A-842AE0B3483F}" destId="{B057C505-2F52-1941-8FBC-69B13177FE98}" srcOrd="0" destOrd="0" presId="urn:microsoft.com/office/officeart/2005/8/layout/radial4"/>
    <dgm:cxn modelId="{3ABF31E9-C029-D34C-8C31-3C96AD9C7960}" type="presOf" srcId="{9549F68D-DD09-D14F-8C6E-7B7470A5ECD5}" destId="{98337BFE-8F7D-7349-A8B6-6EE32A75B077}" srcOrd="0" destOrd="0" presId="urn:microsoft.com/office/officeart/2005/8/layout/radial4"/>
    <dgm:cxn modelId="{72A96F76-2387-D044-B79D-B9769246B788}" type="presOf" srcId="{6478E0A0-5871-814E-A872-1E8C12A24FE9}" destId="{84CAF2E0-852F-7240-9AC7-F4498678C5D5}" srcOrd="0" destOrd="0" presId="urn:microsoft.com/office/officeart/2005/8/layout/radial4"/>
    <dgm:cxn modelId="{F917BE31-74C3-E040-80E8-42F727A2F580}" type="presOf" srcId="{8A66DC94-2232-E843-AEA1-2093A4575CED}" destId="{F012F78A-23C9-2045-97F9-FBE86D59EDA3}" srcOrd="0" destOrd="0" presId="urn:microsoft.com/office/officeart/2005/8/layout/radial4"/>
    <dgm:cxn modelId="{F9AB0A3F-39B8-C943-B0F8-7A57325C6397}" type="presOf" srcId="{64833E68-A266-3A47-AD43-386AFCE218CF}" destId="{79854FA2-A1D9-EA43-BA4B-58040CB60028}" srcOrd="0" destOrd="0" presId="urn:microsoft.com/office/officeart/2005/8/layout/radial4"/>
    <dgm:cxn modelId="{F05787F3-1756-F94E-94A0-CD1FFB6A53E8}" type="presOf" srcId="{895839F8-A979-4249-A1F8-A856AF7ECFCD}" destId="{DAC07D35-68E5-A04A-A10F-DFEDBCF4E68A}" srcOrd="0" destOrd="0" presId="urn:microsoft.com/office/officeart/2005/8/layout/radial4"/>
    <dgm:cxn modelId="{040A951C-032B-5A43-AA27-135D9593E432}" srcId="{64833E68-A266-3A47-AD43-386AFCE218CF}" destId="{BF47D8FF-CDE5-BA43-972A-8CC708AC84DA}" srcOrd="1" destOrd="0" parTransId="{B9CC5FF3-2EF5-9941-87A3-1F753E392E27}" sibTransId="{BE2F8A80-5BFE-814B-9BA0-92BBD79C3591}"/>
    <dgm:cxn modelId="{F2BB15B3-BF81-A84B-A2FB-CE1CF9ADBFDB}" srcId="{F2C74E47-34D1-5C43-AD7A-842AE0B3483F}" destId="{64833E68-A266-3A47-AD43-386AFCE218CF}" srcOrd="0" destOrd="0" parTransId="{45CF9C68-7415-AC47-8478-35B24A4BCEB1}" sibTransId="{5082902B-CE3E-3F4B-B0D1-A3564E83A541}"/>
    <dgm:cxn modelId="{6D2A11F4-BB50-1648-ACCD-7A5D17BE497D}" type="presOf" srcId="{B9CC5FF3-2EF5-9941-87A3-1F753E392E27}" destId="{CD7C448C-218F-7E4E-AF90-268B81EDCD9B}" srcOrd="0" destOrd="0" presId="urn:microsoft.com/office/officeart/2005/8/layout/radial4"/>
    <dgm:cxn modelId="{2E6A9D2E-9B14-4342-B8DE-F37D698F5BBC}" type="presParOf" srcId="{B057C505-2F52-1941-8FBC-69B13177FE98}" destId="{79854FA2-A1D9-EA43-BA4B-58040CB60028}" srcOrd="0" destOrd="0" presId="urn:microsoft.com/office/officeart/2005/8/layout/radial4"/>
    <dgm:cxn modelId="{025FC7E9-28B8-184A-8DF9-2BC99B5824FC}" type="presParOf" srcId="{B057C505-2F52-1941-8FBC-69B13177FE98}" destId="{DAC07D35-68E5-A04A-A10F-DFEDBCF4E68A}" srcOrd="1" destOrd="0" presId="urn:microsoft.com/office/officeart/2005/8/layout/radial4"/>
    <dgm:cxn modelId="{5990BB28-5D73-384D-80DD-14909FFA534C}" type="presParOf" srcId="{B057C505-2F52-1941-8FBC-69B13177FE98}" destId="{F012F78A-23C9-2045-97F9-FBE86D59EDA3}" srcOrd="2" destOrd="0" presId="urn:microsoft.com/office/officeart/2005/8/layout/radial4"/>
    <dgm:cxn modelId="{264DCFB1-15DE-5C4D-8BFD-9D748B28D077}" type="presParOf" srcId="{B057C505-2F52-1941-8FBC-69B13177FE98}" destId="{CD7C448C-218F-7E4E-AF90-268B81EDCD9B}" srcOrd="3" destOrd="0" presId="urn:microsoft.com/office/officeart/2005/8/layout/radial4"/>
    <dgm:cxn modelId="{C282CE34-1CFD-D74E-A8AE-693BE3879629}" type="presParOf" srcId="{B057C505-2F52-1941-8FBC-69B13177FE98}" destId="{61FE983B-6F22-9046-A4BF-CD8434989548}" srcOrd="4" destOrd="0" presId="urn:microsoft.com/office/officeart/2005/8/layout/radial4"/>
    <dgm:cxn modelId="{9601B788-DEAB-5B4D-A19B-D4EA5EA19E73}" type="presParOf" srcId="{B057C505-2F52-1941-8FBC-69B13177FE98}" destId="{84CAF2E0-852F-7240-9AC7-F4498678C5D5}" srcOrd="5" destOrd="0" presId="urn:microsoft.com/office/officeart/2005/8/layout/radial4"/>
    <dgm:cxn modelId="{F1F698B4-A531-BE4D-8E3E-4FFB72284098}" type="presParOf" srcId="{B057C505-2F52-1941-8FBC-69B13177FE98}" destId="{98337BFE-8F7D-7349-A8B6-6EE32A75B077}"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BC1516-59F5-0646-85C1-4D1BB625B89F}" type="doc">
      <dgm:prSet loTypeId="urn:microsoft.com/office/officeart/2005/8/layout/cycle1" loCatId="" qsTypeId="urn:microsoft.com/office/officeart/2005/8/quickstyle/simple4" qsCatId="simple" csTypeId="urn:microsoft.com/office/officeart/2005/8/colors/accent1_2" csCatId="accent1" phldr="1"/>
      <dgm:spPr/>
      <dgm:t>
        <a:bodyPr/>
        <a:lstStyle/>
        <a:p>
          <a:endParaRPr lang="en-US"/>
        </a:p>
      </dgm:t>
    </dgm:pt>
    <dgm:pt modelId="{E5589FF8-2F2E-8141-BA89-B2F6EE1636ED}">
      <dgm:prSet phldrT="[Text]"/>
      <dgm:spPr/>
      <dgm:t>
        <a:bodyPr/>
        <a:lstStyle/>
        <a:p>
          <a:r>
            <a:rPr lang="en-US" dirty="0" smtClean="0"/>
            <a:t>Student brings cognitive abilities to the task / Task requires cognitive processes from student</a:t>
          </a:r>
          <a:endParaRPr lang="en-US" dirty="0"/>
        </a:p>
      </dgm:t>
    </dgm:pt>
    <dgm:pt modelId="{D9861FED-1F1B-374C-A282-99C0BC17448B}" type="parTrans" cxnId="{AA44CAA0-D55F-CB43-9FF0-9D21824CB126}">
      <dgm:prSet/>
      <dgm:spPr/>
      <dgm:t>
        <a:bodyPr/>
        <a:lstStyle/>
        <a:p>
          <a:endParaRPr lang="en-US"/>
        </a:p>
      </dgm:t>
    </dgm:pt>
    <dgm:pt modelId="{85C145C7-2A83-AD4C-9AAB-7AF8E6BB6E83}" type="sibTrans" cxnId="{AA44CAA0-D55F-CB43-9FF0-9D21824CB126}">
      <dgm:prSet/>
      <dgm:spPr>
        <a:solidFill>
          <a:srgbClr val="FF6600"/>
        </a:solidFill>
      </dgm:spPr>
      <dgm:t>
        <a:bodyPr/>
        <a:lstStyle/>
        <a:p>
          <a:endParaRPr lang="en-US"/>
        </a:p>
      </dgm:t>
    </dgm:pt>
    <dgm:pt modelId="{9DA29B95-2B61-9A4A-BFA0-937E2468EAEA}">
      <dgm:prSet phldrT="[Text]"/>
      <dgm:spPr/>
      <dgm:t>
        <a:bodyPr/>
        <a:lstStyle/>
        <a:p>
          <a:r>
            <a:rPr lang="en-US" dirty="0" smtClean="0"/>
            <a:t>Mediator analyses task / Task determines mediation</a:t>
          </a:r>
          <a:endParaRPr lang="en-US" dirty="0"/>
        </a:p>
      </dgm:t>
    </dgm:pt>
    <dgm:pt modelId="{92A14BD6-B8F0-5A47-AE1F-8890B445F1C8}" type="parTrans" cxnId="{A379C7F9-2CCF-6C45-9189-6647BCF1CE3B}">
      <dgm:prSet/>
      <dgm:spPr/>
      <dgm:t>
        <a:bodyPr/>
        <a:lstStyle/>
        <a:p>
          <a:endParaRPr lang="en-US"/>
        </a:p>
      </dgm:t>
    </dgm:pt>
    <dgm:pt modelId="{EB3EECA8-6021-3448-B691-016E122753E5}" type="sibTrans" cxnId="{A379C7F9-2CCF-6C45-9189-6647BCF1CE3B}">
      <dgm:prSet/>
      <dgm:spPr>
        <a:solidFill>
          <a:srgbClr val="3390FF"/>
        </a:solidFill>
      </dgm:spPr>
      <dgm:t>
        <a:bodyPr/>
        <a:lstStyle/>
        <a:p>
          <a:endParaRPr lang="en-US"/>
        </a:p>
      </dgm:t>
    </dgm:pt>
    <dgm:pt modelId="{06372359-C17A-1749-9A35-25886E995C29}">
      <dgm:prSet phldrT="[Text]"/>
      <dgm:spPr/>
      <dgm:t>
        <a:bodyPr/>
        <a:lstStyle/>
        <a:p>
          <a:r>
            <a:rPr lang="en-US" dirty="0" smtClean="0"/>
            <a:t>Mediator analyses student’s cognitive abilities / Student requires support from mediator</a:t>
          </a:r>
          <a:endParaRPr lang="en-US" dirty="0"/>
        </a:p>
      </dgm:t>
    </dgm:pt>
    <dgm:pt modelId="{7E7EDA0E-A9B7-8247-B978-7DC56B231C66}" type="sibTrans" cxnId="{151956FC-F18B-E949-8660-5D632DA90799}">
      <dgm:prSet/>
      <dgm:spPr>
        <a:solidFill>
          <a:srgbClr val="7FAF1F"/>
        </a:solidFill>
      </dgm:spPr>
      <dgm:t>
        <a:bodyPr/>
        <a:lstStyle/>
        <a:p>
          <a:endParaRPr lang="en-US"/>
        </a:p>
      </dgm:t>
    </dgm:pt>
    <dgm:pt modelId="{F649D05A-F395-9F4C-A819-ACB15119E931}" type="parTrans" cxnId="{151956FC-F18B-E949-8660-5D632DA90799}">
      <dgm:prSet/>
      <dgm:spPr/>
      <dgm:t>
        <a:bodyPr/>
        <a:lstStyle/>
        <a:p>
          <a:endParaRPr lang="en-US"/>
        </a:p>
      </dgm:t>
    </dgm:pt>
    <dgm:pt modelId="{9A8E4B78-3A1A-CC4C-AD4A-DEC910595DD0}" type="pres">
      <dgm:prSet presAssocID="{19BC1516-59F5-0646-85C1-4D1BB625B89F}" presName="cycle" presStyleCnt="0">
        <dgm:presLayoutVars>
          <dgm:dir/>
          <dgm:resizeHandles val="exact"/>
        </dgm:presLayoutVars>
      </dgm:prSet>
      <dgm:spPr/>
      <dgm:t>
        <a:bodyPr/>
        <a:lstStyle/>
        <a:p>
          <a:endParaRPr lang="en-US"/>
        </a:p>
      </dgm:t>
    </dgm:pt>
    <dgm:pt modelId="{EB2FCD0D-EF51-3641-BF9E-4ED5813196C1}" type="pres">
      <dgm:prSet presAssocID="{E5589FF8-2F2E-8141-BA89-B2F6EE1636ED}" presName="dummy" presStyleCnt="0"/>
      <dgm:spPr/>
    </dgm:pt>
    <dgm:pt modelId="{07DA044F-21A4-5D49-819C-AF794F4FF564}" type="pres">
      <dgm:prSet presAssocID="{E5589FF8-2F2E-8141-BA89-B2F6EE1636ED}" presName="node" presStyleLbl="revTx" presStyleIdx="0" presStyleCnt="3">
        <dgm:presLayoutVars>
          <dgm:bulletEnabled val="1"/>
        </dgm:presLayoutVars>
      </dgm:prSet>
      <dgm:spPr/>
      <dgm:t>
        <a:bodyPr/>
        <a:lstStyle/>
        <a:p>
          <a:endParaRPr lang="en-US"/>
        </a:p>
      </dgm:t>
    </dgm:pt>
    <dgm:pt modelId="{7BAACDB3-A869-684B-A35D-CCC09C2C5C9D}" type="pres">
      <dgm:prSet presAssocID="{85C145C7-2A83-AD4C-9AAB-7AF8E6BB6E83}" presName="sibTrans" presStyleLbl="node1" presStyleIdx="0" presStyleCnt="3"/>
      <dgm:spPr/>
      <dgm:t>
        <a:bodyPr/>
        <a:lstStyle/>
        <a:p>
          <a:endParaRPr lang="en-US"/>
        </a:p>
      </dgm:t>
    </dgm:pt>
    <dgm:pt modelId="{ED1C960F-2455-FE4C-A6B8-C9ACFEA62605}" type="pres">
      <dgm:prSet presAssocID="{06372359-C17A-1749-9A35-25886E995C29}" presName="dummy" presStyleCnt="0"/>
      <dgm:spPr/>
    </dgm:pt>
    <dgm:pt modelId="{5133257D-296A-C341-A4B7-2A6A3AA2094C}" type="pres">
      <dgm:prSet presAssocID="{06372359-C17A-1749-9A35-25886E995C29}" presName="node" presStyleLbl="revTx" presStyleIdx="1" presStyleCnt="3">
        <dgm:presLayoutVars>
          <dgm:bulletEnabled val="1"/>
        </dgm:presLayoutVars>
      </dgm:prSet>
      <dgm:spPr/>
      <dgm:t>
        <a:bodyPr/>
        <a:lstStyle/>
        <a:p>
          <a:endParaRPr lang="en-US"/>
        </a:p>
      </dgm:t>
    </dgm:pt>
    <dgm:pt modelId="{03384FCA-850F-8540-B3ED-04F3BFE9B1E8}" type="pres">
      <dgm:prSet presAssocID="{7E7EDA0E-A9B7-8247-B978-7DC56B231C66}" presName="sibTrans" presStyleLbl="node1" presStyleIdx="1" presStyleCnt="3"/>
      <dgm:spPr/>
      <dgm:t>
        <a:bodyPr/>
        <a:lstStyle/>
        <a:p>
          <a:endParaRPr lang="en-US"/>
        </a:p>
      </dgm:t>
    </dgm:pt>
    <dgm:pt modelId="{A0B8C17E-DDBF-6C46-BB95-60B539D3199E}" type="pres">
      <dgm:prSet presAssocID="{9DA29B95-2B61-9A4A-BFA0-937E2468EAEA}" presName="dummy" presStyleCnt="0"/>
      <dgm:spPr/>
    </dgm:pt>
    <dgm:pt modelId="{1FFBD877-2BC7-6746-999B-EFF006D09EA3}" type="pres">
      <dgm:prSet presAssocID="{9DA29B95-2B61-9A4A-BFA0-937E2468EAEA}" presName="node" presStyleLbl="revTx" presStyleIdx="2" presStyleCnt="3">
        <dgm:presLayoutVars>
          <dgm:bulletEnabled val="1"/>
        </dgm:presLayoutVars>
      </dgm:prSet>
      <dgm:spPr/>
      <dgm:t>
        <a:bodyPr/>
        <a:lstStyle/>
        <a:p>
          <a:endParaRPr lang="en-US"/>
        </a:p>
      </dgm:t>
    </dgm:pt>
    <dgm:pt modelId="{5B300ACE-EA13-AE4F-BBFB-9080F6497469}" type="pres">
      <dgm:prSet presAssocID="{EB3EECA8-6021-3448-B691-016E122753E5}" presName="sibTrans" presStyleLbl="node1" presStyleIdx="2" presStyleCnt="3"/>
      <dgm:spPr/>
      <dgm:t>
        <a:bodyPr/>
        <a:lstStyle/>
        <a:p>
          <a:endParaRPr lang="en-US"/>
        </a:p>
      </dgm:t>
    </dgm:pt>
  </dgm:ptLst>
  <dgm:cxnLst>
    <dgm:cxn modelId="{AA44CAA0-D55F-CB43-9FF0-9D21824CB126}" srcId="{19BC1516-59F5-0646-85C1-4D1BB625B89F}" destId="{E5589FF8-2F2E-8141-BA89-B2F6EE1636ED}" srcOrd="0" destOrd="0" parTransId="{D9861FED-1F1B-374C-A282-99C0BC17448B}" sibTransId="{85C145C7-2A83-AD4C-9AAB-7AF8E6BB6E83}"/>
    <dgm:cxn modelId="{9BB71DB8-4E5C-0048-A8E9-6D1A97A67D46}" type="presOf" srcId="{06372359-C17A-1749-9A35-25886E995C29}" destId="{5133257D-296A-C341-A4B7-2A6A3AA2094C}" srcOrd="0" destOrd="0" presId="urn:microsoft.com/office/officeart/2005/8/layout/cycle1"/>
    <dgm:cxn modelId="{9A48B43E-6458-C64B-A9D2-95358BF66694}" type="presOf" srcId="{7E7EDA0E-A9B7-8247-B978-7DC56B231C66}" destId="{03384FCA-850F-8540-B3ED-04F3BFE9B1E8}" srcOrd="0" destOrd="0" presId="urn:microsoft.com/office/officeart/2005/8/layout/cycle1"/>
    <dgm:cxn modelId="{151956FC-F18B-E949-8660-5D632DA90799}" srcId="{19BC1516-59F5-0646-85C1-4D1BB625B89F}" destId="{06372359-C17A-1749-9A35-25886E995C29}" srcOrd="1" destOrd="0" parTransId="{F649D05A-F395-9F4C-A819-ACB15119E931}" sibTransId="{7E7EDA0E-A9B7-8247-B978-7DC56B231C66}"/>
    <dgm:cxn modelId="{1EA2F535-9112-AA4F-A28D-1E2517B6E6F0}" type="presOf" srcId="{E5589FF8-2F2E-8141-BA89-B2F6EE1636ED}" destId="{07DA044F-21A4-5D49-819C-AF794F4FF564}" srcOrd="0" destOrd="0" presId="urn:microsoft.com/office/officeart/2005/8/layout/cycle1"/>
    <dgm:cxn modelId="{1D7E5B0B-8C1F-7243-B626-2071CA38210C}" type="presOf" srcId="{9DA29B95-2B61-9A4A-BFA0-937E2468EAEA}" destId="{1FFBD877-2BC7-6746-999B-EFF006D09EA3}" srcOrd="0" destOrd="0" presId="urn:microsoft.com/office/officeart/2005/8/layout/cycle1"/>
    <dgm:cxn modelId="{A379C7F9-2CCF-6C45-9189-6647BCF1CE3B}" srcId="{19BC1516-59F5-0646-85C1-4D1BB625B89F}" destId="{9DA29B95-2B61-9A4A-BFA0-937E2468EAEA}" srcOrd="2" destOrd="0" parTransId="{92A14BD6-B8F0-5A47-AE1F-8890B445F1C8}" sibTransId="{EB3EECA8-6021-3448-B691-016E122753E5}"/>
    <dgm:cxn modelId="{AE152CD7-041E-B046-A0BB-EFCE3B1A9BC3}" type="presOf" srcId="{85C145C7-2A83-AD4C-9AAB-7AF8E6BB6E83}" destId="{7BAACDB3-A869-684B-A35D-CCC09C2C5C9D}" srcOrd="0" destOrd="0" presId="urn:microsoft.com/office/officeart/2005/8/layout/cycle1"/>
    <dgm:cxn modelId="{69731AD6-0D2C-DF4B-B21C-9A9591B49BFD}" type="presOf" srcId="{EB3EECA8-6021-3448-B691-016E122753E5}" destId="{5B300ACE-EA13-AE4F-BBFB-9080F6497469}" srcOrd="0" destOrd="0" presId="urn:microsoft.com/office/officeart/2005/8/layout/cycle1"/>
    <dgm:cxn modelId="{7120BD23-7F1B-0E40-8D9D-D1220B76E53C}" type="presOf" srcId="{19BC1516-59F5-0646-85C1-4D1BB625B89F}" destId="{9A8E4B78-3A1A-CC4C-AD4A-DEC910595DD0}" srcOrd="0" destOrd="0" presId="urn:microsoft.com/office/officeart/2005/8/layout/cycle1"/>
    <dgm:cxn modelId="{8F18EE65-4A17-C643-9850-E9C6D7DEAD51}" type="presParOf" srcId="{9A8E4B78-3A1A-CC4C-AD4A-DEC910595DD0}" destId="{EB2FCD0D-EF51-3641-BF9E-4ED5813196C1}" srcOrd="0" destOrd="0" presId="urn:microsoft.com/office/officeart/2005/8/layout/cycle1"/>
    <dgm:cxn modelId="{B9DF6FFC-CCF3-F845-A549-1F8C2C4763E6}" type="presParOf" srcId="{9A8E4B78-3A1A-CC4C-AD4A-DEC910595DD0}" destId="{07DA044F-21A4-5D49-819C-AF794F4FF564}" srcOrd="1" destOrd="0" presId="urn:microsoft.com/office/officeart/2005/8/layout/cycle1"/>
    <dgm:cxn modelId="{22F71D43-152F-E44A-B89B-25D6C1F06C85}" type="presParOf" srcId="{9A8E4B78-3A1A-CC4C-AD4A-DEC910595DD0}" destId="{7BAACDB3-A869-684B-A35D-CCC09C2C5C9D}" srcOrd="2" destOrd="0" presId="urn:microsoft.com/office/officeart/2005/8/layout/cycle1"/>
    <dgm:cxn modelId="{CFA2022A-CE6F-4442-95BB-2E2DF960B7A3}" type="presParOf" srcId="{9A8E4B78-3A1A-CC4C-AD4A-DEC910595DD0}" destId="{ED1C960F-2455-FE4C-A6B8-C9ACFEA62605}" srcOrd="3" destOrd="0" presId="urn:microsoft.com/office/officeart/2005/8/layout/cycle1"/>
    <dgm:cxn modelId="{55E767CE-F8C9-6048-9CF9-D820768A1C83}" type="presParOf" srcId="{9A8E4B78-3A1A-CC4C-AD4A-DEC910595DD0}" destId="{5133257D-296A-C341-A4B7-2A6A3AA2094C}" srcOrd="4" destOrd="0" presId="urn:microsoft.com/office/officeart/2005/8/layout/cycle1"/>
    <dgm:cxn modelId="{D50FB160-1464-C14C-BD6B-A596AD4BC3A7}" type="presParOf" srcId="{9A8E4B78-3A1A-CC4C-AD4A-DEC910595DD0}" destId="{03384FCA-850F-8540-B3ED-04F3BFE9B1E8}" srcOrd="5" destOrd="0" presId="urn:microsoft.com/office/officeart/2005/8/layout/cycle1"/>
    <dgm:cxn modelId="{DA82721B-DEB2-7A45-B2F0-B3ED6F2F5AB3}" type="presParOf" srcId="{9A8E4B78-3A1A-CC4C-AD4A-DEC910595DD0}" destId="{A0B8C17E-DDBF-6C46-BB95-60B539D3199E}" srcOrd="6" destOrd="0" presId="urn:microsoft.com/office/officeart/2005/8/layout/cycle1"/>
    <dgm:cxn modelId="{CD6BB945-9EA1-CF40-9735-D7BEBA51B6D0}" type="presParOf" srcId="{9A8E4B78-3A1A-CC4C-AD4A-DEC910595DD0}" destId="{1FFBD877-2BC7-6746-999B-EFF006D09EA3}" srcOrd="7" destOrd="0" presId="urn:microsoft.com/office/officeart/2005/8/layout/cycle1"/>
    <dgm:cxn modelId="{154CD603-675D-384A-A3D8-29AA31C24C9C}" type="presParOf" srcId="{9A8E4B78-3A1A-CC4C-AD4A-DEC910595DD0}" destId="{5B300ACE-EA13-AE4F-BBFB-9080F6497469}" srcOrd="8"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B79D1AC-9D73-9C43-A3E3-8185CE41BBE5}" type="doc">
      <dgm:prSet loTypeId="urn:microsoft.com/office/officeart/2005/8/layout/default" loCatId="" qsTypeId="urn:microsoft.com/office/officeart/2005/8/quickstyle/3D9" qsCatId="3D" csTypeId="urn:microsoft.com/office/officeart/2005/8/colors/accent1_2" csCatId="accent1" phldr="1"/>
      <dgm:spPr/>
      <dgm:t>
        <a:bodyPr/>
        <a:lstStyle/>
        <a:p>
          <a:endParaRPr lang="en-US"/>
        </a:p>
      </dgm:t>
    </dgm:pt>
    <dgm:pt modelId="{ED5895EA-593D-454C-82E3-356F27085618}">
      <dgm:prSet phldrT="[Text]"/>
      <dgm:spPr>
        <a:solidFill>
          <a:srgbClr val="FFFF00"/>
        </a:solidFill>
      </dgm:spPr>
      <dgm:t>
        <a:bodyPr/>
        <a:lstStyle/>
        <a:p>
          <a:r>
            <a:rPr lang="en-US" dirty="0" smtClean="0">
              <a:ln>
                <a:solidFill>
                  <a:schemeClr val="bg2"/>
                </a:solidFill>
              </a:ln>
            </a:rPr>
            <a:t>Interleaving</a:t>
          </a:r>
          <a:endParaRPr lang="en-US" dirty="0">
            <a:ln>
              <a:solidFill>
                <a:schemeClr val="bg2"/>
              </a:solidFill>
            </a:ln>
          </a:endParaRPr>
        </a:p>
      </dgm:t>
    </dgm:pt>
    <dgm:pt modelId="{0F2ECCE5-891E-1844-81DB-402E91453691}" type="parTrans" cxnId="{BDF71BDE-2EE9-E243-95E1-EB1629CEF138}">
      <dgm:prSet/>
      <dgm:spPr/>
      <dgm:t>
        <a:bodyPr/>
        <a:lstStyle/>
        <a:p>
          <a:endParaRPr lang="en-US"/>
        </a:p>
      </dgm:t>
    </dgm:pt>
    <dgm:pt modelId="{0C788C35-3F85-2F4D-A9F6-BEDC805ABED8}" type="sibTrans" cxnId="{BDF71BDE-2EE9-E243-95E1-EB1629CEF138}">
      <dgm:prSet/>
      <dgm:spPr/>
      <dgm:t>
        <a:bodyPr/>
        <a:lstStyle/>
        <a:p>
          <a:endParaRPr lang="en-US"/>
        </a:p>
      </dgm:t>
    </dgm:pt>
    <dgm:pt modelId="{1724603A-0B57-5343-BEA1-418A9C4393E4}">
      <dgm:prSet phldrT="[Text]"/>
      <dgm:spPr>
        <a:solidFill>
          <a:srgbClr val="7FAF1F"/>
        </a:solidFill>
      </dgm:spPr>
      <dgm:t>
        <a:bodyPr/>
        <a:lstStyle/>
        <a:p>
          <a:r>
            <a:rPr lang="en-US" dirty="0" smtClean="0">
              <a:ln>
                <a:solidFill>
                  <a:schemeClr val="bg2"/>
                </a:solidFill>
              </a:ln>
            </a:rPr>
            <a:t>Spaced learning</a:t>
          </a:r>
          <a:endParaRPr lang="en-US" dirty="0">
            <a:ln>
              <a:solidFill>
                <a:schemeClr val="bg2"/>
              </a:solidFill>
            </a:ln>
          </a:endParaRPr>
        </a:p>
      </dgm:t>
    </dgm:pt>
    <dgm:pt modelId="{E8124685-0ACC-104C-9579-0265A8CAEDD5}" type="parTrans" cxnId="{5CF3C90E-3FB3-7A4D-AA0F-20DF81B97275}">
      <dgm:prSet/>
      <dgm:spPr/>
      <dgm:t>
        <a:bodyPr/>
        <a:lstStyle/>
        <a:p>
          <a:endParaRPr lang="en-US"/>
        </a:p>
      </dgm:t>
    </dgm:pt>
    <dgm:pt modelId="{58156F03-2723-F647-BBE1-2C506264C47E}" type="sibTrans" cxnId="{5CF3C90E-3FB3-7A4D-AA0F-20DF81B97275}">
      <dgm:prSet/>
      <dgm:spPr/>
      <dgm:t>
        <a:bodyPr/>
        <a:lstStyle/>
        <a:p>
          <a:endParaRPr lang="en-US"/>
        </a:p>
      </dgm:t>
    </dgm:pt>
    <dgm:pt modelId="{21E780B5-A6E6-0449-A8FC-2E1F7632535F}">
      <dgm:prSet phldrT="[Text]"/>
      <dgm:spPr>
        <a:solidFill>
          <a:srgbClr val="FF6600"/>
        </a:solidFill>
      </dgm:spPr>
      <dgm:t>
        <a:bodyPr/>
        <a:lstStyle/>
        <a:p>
          <a:r>
            <a:rPr lang="en-US" dirty="0" smtClean="0"/>
            <a:t>The testing </a:t>
          </a:r>
          <a:r>
            <a:rPr lang="en-US" dirty="0" smtClean="0">
              <a:ln>
                <a:solidFill>
                  <a:schemeClr val="bg2"/>
                </a:solidFill>
              </a:ln>
            </a:rPr>
            <a:t>effect</a:t>
          </a:r>
          <a:endParaRPr lang="en-US" dirty="0">
            <a:ln>
              <a:solidFill>
                <a:schemeClr val="bg2"/>
              </a:solidFill>
            </a:ln>
          </a:endParaRPr>
        </a:p>
      </dgm:t>
    </dgm:pt>
    <dgm:pt modelId="{8939BA40-5123-C140-B4D9-6C7AB17025A2}" type="parTrans" cxnId="{C88B00D0-2A53-934C-8369-62B143EFCEF4}">
      <dgm:prSet/>
      <dgm:spPr/>
      <dgm:t>
        <a:bodyPr/>
        <a:lstStyle/>
        <a:p>
          <a:endParaRPr lang="en-US"/>
        </a:p>
      </dgm:t>
    </dgm:pt>
    <dgm:pt modelId="{F2DF53CE-6E47-F742-AD60-68C523459647}" type="sibTrans" cxnId="{C88B00D0-2A53-934C-8369-62B143EFCEF4}">
      <dgm:prSet/>
      <dgm:spPr/>
      <dgm:t>
        <a:bodyPr/>
        <a:lstStyle/>
        <a:p>
          <a:endParaRPr lang="en-US"/>
        </a:p>
      </dgm:t>
    </dgm:pt>
    <dgm:pt modelId="{29C50357-19DD-A245-BD7A-191E305CAB43}" type="pres">
      <dgm:prSet presAssocID="{9B79D1AC-9D73-9C43-A3E3-8185CE41BBE5}" presName="diagram" presStyleCnt="0">
        <dgm:presLayoutVars>
          <dgm:dir/>
          <dgm:resizeHandles val="exact"/>
        </dgm:presLayoutVars>
      </dgm:prSet>
      <dgm:spPr/>
      <dgm:t>
        <a:bodyPr/>
        <a:lstStyle/>
        <a:p>
          <a:endParaRPr lang="en-GB"/>
        </a:p>
      </dgm:t>
    </dgm:pt>
    <dgm:pt modelId="{493DC416-43BB-444D-9009-33B18BB7A78F}" type="pres">
      <dgm:prSet presAssocID="{ED5895EA-593D-454C-82E3-356F27085618}" presName="node" presStyleLbl="node1" presStyleIdx="0" presStyleCnt="3">
        <dgm:presLayoutVars>
          <dgm:bulletEnabled val="1"/>
        </dgm:presLayoutVars>
      </dgm:prSet>
      <dgm:spPr/>
      <dgm:t>
        <a:bodyPr/>
        <a:lstStyle/>
        <a:p>
          <a:endParaRPr lang="en-GB"/>
        </a:p>
      </dgm:t>
    </dgm:pt>
    <dgm:pt modelId="{8EF0AFAF-FEB9-5842-AEA5-B7639A920FB2}" type="pres">
      <dgm:prSet presAssocID="{0C788C35-3F85-2F4D-A9F6-BEDC805ABED8}" presName="sibTrans" presStyleCnt="0"/>
      <dgm:spPr/>
    </dgm:pt>
    <dgm:pt modelId="{446A89E3-A7B1-B847-9F3B-C14A13EFB6A3}" type="pres">
      <dgm:prSet presAssocID="{1724603A-0B57-5343-BEA1-418A9C4393E4}" presName="node" presStyleLbl="node1" presStyleIdx="1" presStyleCnt="3">
        <dgm:presLayoutVars>
          <dgm:bulletEnabled val="1"/>
        </dgm:presLayoutVars>
      </dgm:prSet>
      <dgm:spPr/>
      <dgm:t>
        <a:bodyPr/>
        <a:lstStyle/>
        <a:p>
          <a:endParaRPr lang="en-GB"/>
        </a:p>
      </dgm:t>
    </dgm:pt>
    <dgm:pt modelId="{9FCA551A-B040-324B-A4B9-613E86A1F4CD}" type="pres">
      <dgm:prSet presAssocID="{58156F03-2723-F647-BBE1-2C506264C47E}" presName="sibTrans" presStyleCnt="0"/>
      <dgm:spPr/>
    </dgm:pt>
    <dgm:pt modelId="{563E20D1-6C80-3E4C-A8E0-9D7D85D15665}" type="pres">
      <dgm:prSet presAssocID="{21E780B5-A6E6-0449-A8FC-2E1F7632535F}" presName="node" presStyleLbl="node1" presStyleIdx="2" presStyleCnt="3">
        <dgm:presLayoutVars>
          <dgm:bulletEnabled val="1"/>
        </dgm:presLayoutVars>
      </dgm:prSet>
      <dgm:spPr/>
      <dgm:t>
        <a:bodyPr/>
        <a:lstStyle/>
        <a:p>
          <a:endParaRPr lang="en-GB"/>
        </a:p>
      </dgm:t>
    </dgm:pt>
  </dgm:ptLst>
  <dgm:cxnLst>
    <dgm:cxn modelId="{BDF71BDE-2EE9-E243-95E1-EB1629CEF138}" srcId="{9B79D1AC-9D73-9C43-A3E3-8185CE41BBE5}" destId="{ED5895EA-593D-454C-82E3-356F27085618}" srcOrd="0" destOrd="0" parTransId="{0F2ECCE5-891E-1844-81DB-402E91453691}" sibTransId="{0C788C35-3F85-2F4D-A9F6-BEDC805ABED8}"/>
    <dgm:cxn modelId="{31885490-CEA5-9544-B893-30A584F66345}" type="presOf" srcId="{ED5895EA-593D-454C-82E3-356F27085618}" destId="{493DC416-43BB-444D-9009-33B18BB7A78F}" srcOrd="0" destOrd="0" presId="urn:microsoft.com/office/officeart/2005/8/layout/default"/>
    <dgm:cxn modelId="{115F8559-A1CC-8842-A527-22886FF4448F}" type="presOf" srcId="{9B79D1AC-9D73-9C43-A3E3-8185CE41BBE5}" destId="{29C50357-19DD-A245-BD7A-191E305CAB43}" srcOrd="0" destOrd="0" presId="urn:microsoft.com/office/officeart/2005/8/layout/default"/>
    <dgm:cxn modelId="{5CF3C90E-3FB3-7A4D-AA0F-20DF81B97275}" srcId="{9B79D1AC-9D73-9C43-A3E3-8185CE41BBE5}" destId="{1724603A-0B57-5343-BEA1-418A9C4393E4}" srcOrd="1" destOrd="0" parTransId="{E8124685-0ACC-104C-9579-0265A8CAEDD5}" sibTransId="{58156F03-2723-F647-BBE1-2C506264C47E}"/>
    <dgm:cxn modelId="{588AC042-99E0-E44E-B781-3694FD9E4359}" type="presOf" srcId="{21E780B5-A6E6-0449-A8FC-2E1F7632535F}" destId="{563E20D1-6C80-3E4C-A8E0-9D7D85D15665}" srcOrd="0" destOrd="0" presId="urn:microsoft.com/office/officeart/2005/8/layout/default"/>
    <dgm:cxn modelId="{7EDDF44A-B421-8E45-9414-FD8F7F2BE0CB}" type="presOf" srcId="{1724603A-0B57-5343-BEA1-418A9C4393E4}" destId="{446A89E3-A7B1-B847-9F3B-C14A13EFB6A3}" srcOrd="0" destOrd="0" presId="urn:microsoft.com/office/officeart/2005/8/layout/default"/>
    <dgm:cxn modelId="{C88B00D0-2A53-934C-8369-62B143EFCEF4}" srcId="{9B79D1AC-9D73-9C43-A3E3-8185CE41BBE5}" destId="{21E780B5-A6E6-0449-A8FC-2E1F7632535F}" srcOrd="2" destOrd="0" parTransId="{8939BA40-5123-C140-B4D9-6C7AB17025A2}" sibTransId="{F2DF53CE-6E47-F742-AD60-68C523459647}"/>
    <dgm:cxn modelId="{CDE9FBC1-FD91-3D42-ABEE-49C03CDD6698}" type="presParOf" srcId="{29C50357-19DD-A245-BD7A-191E305CAB43}" destId="{493DC416-43BB-444D-9009-33B18BB7A78F}" srcOrd="0" destOrd="0" presId="urn:microsoft.com/office/officeart/2005/8/layout/default"/>
    <dgm:cxn modelId="{9829082B-2CDA-864B-B3C8-83ECB8EFA44F}" type="presParOf" srcId="{29C50357-19DD-A245-BD7A-191E305CAB43}" destId="{8EF0AFAF-FEB9-5842-AEA5-B7639A920FB2}" srcOrd="1" destOrd="0" presId="urn:microsoft.com/office/officeart/2005/8/layout/default"/>
    <dgm:cxn modelId="{06044129-1940-D644-B0D8-8D528BD4BA96}" type="presParOf" srcId="{29C50357-19DD-A245-BD7A-191E305CAB43}" destId="{446A89E3-A7B1-B847-9F3B-C14A13EFB6A3}" srcOrd="2" destOrd="0" presId="urn:microsoft.com/office/officeart/2005/8/layout/default"/>
    <dgm:cxn modelId="{88C0D834-FFFB-9347-9AB9-AB1B1D0D6DB3}" type="presParOf" srcId="{29C50357-19DD-A245-BD7A-191E305CAB43}" destId="{9FCA551A-B040-324B-A4B9-613E86A1F4CD}" srcOrd="3" destOrd="0" presId="urn:microsoft.com/office/officeart/2005/8/layout/default"/>
    <dgm:cxn modelId="{3033CC3D-BE30-BA49-9362-6C53820EC5C1}" type="presParOf" srcId="{29C50357-19DD-A245-BD7A-191E305CAB43}" destId="{563E20D1-6C80-3E4C-A8E0-9D7D85D15665}"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GB"/>
          </a:p>
        </p:txBody>
      </p:sp>
      <p:sp>
        <p:nvSpPr>
          <p:cNvPr id="20483"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GB"/>
          </a:p>
        </p:txBody>
      </p:sp>
      <p:sp>
        <p:nvSpPr>
          <p:cNvPr id="20484" name="Rectangle 4"/>
          <p:cNvSpPr>
            <a:spLocks noGrp="1" noChangeArrowheads="1"/>
          </p:cNvSpPr>
          <p:nvPr>
            <p:ph type="ftr" sz="quarter" idx="2"/>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GB"/>
          </a:p>
        </p:txBody>
      </p:sp>
      <p:sp>
        <p:nvSpPr>
          <p:cNvPr id="20485" name="Rectangle 5"/>
          <p:cNvSpPr>
            <a:spLocks noGrp="1" noChangeArrowheads="1"/>
          </p:cNvSpPr>
          <p:nvPr>
            <p:ph type="sldNum" sz="quarter" idx="3"/>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746991AC-9D98-0048-9E42-F618865E3D30}" type="slidenum">
              <a:rPr lang="en-GB"/>
              <a:pPr>
                <a:defRPr/>
              </a:pPr>
              <a:t>‹#›</a:t>
            </a:fld>
            <a:endParaRPr lang="en-GB"/>
          </a:p>
        </p:txBody>
      </p:sp>
    </p:spTree>
    <p:extLst>
      <p:ext uri="{BB962C8B-B14F-4D97-AF65-F5344CB8AC3E}">
        <p14:creationId xmlns:p14="http://schemas.microsoft.com/office/powerpoint/2010/main" val="16627984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GB"/>
          </a:p>
        </p:txBody>
      </p:sp>
      <p:sp>
        <p:nvSpPr>
          <p:cNvPr id="23555" name="Rectangle 3"/>
          <p:cNvSpPr>
            <a:spLocks noGrp="1" noChangeArrowheads="1"/>
          </p:cNvSpPr>
          <p:nvPr>
            <p:ph type="dt"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GB"/>
          </a:p>
        </p:txBody>
      </p:sp>
      <p:sp>
        <p:nvSpPr>
          <p:cNvPr id="18436"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3557" name="Rectangle 5"/>
          <p:cNvSpPr>
            <a:spLocks noGrp="1" noChangeArrowheads="1"/>
          </p:cNvSpPr>
          <p:nvPr>
            <p:ph type="body" sz="quarter" idx="3"/>
          </p:nvPr>
        </p:nvSpPr>
        <p:spPr bwMode="auto">
          <a:xfrm>
            <a:off x="679450" y="4714876"/>
            <a:ext cx="5438775"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23558" name="Rectangle 6"/>
          <p:cNvSpPr>
            <a:spLocks noGrp="1" noChangeArrowheads="1"/>
          </p:cNvSpPr>
          <p:nvPr>
            <p:ph type="ftr" sz="quarter" idx="4"/>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GB"/>
          </a:p>
        </p:txBody>
      </p:sp>
      <p:sp>
        <p:nvSpPr>
          <p:cNvPr id="23559" name="Rectangle 7"/>
          <p:cNvSpPr>
            <a:spLocks noGrp="1" noChangeArrowheads="1"/>
          </p:cNvSpPr>
          <p:nvPr>
            <p:ph type="sldNum" sz="quarter" idx="5"/>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89F4CDCD-DD8B-2946-B34B-EC2C66B739C5}" type="slidenum">
              <a:rPr lang="en-GB"/>
              <a:pPr>
                <a:defRPr/>
              </a:pPr>
              <a:t>‹#›</a:t>
            </a:fld>
            <a:endParaRPr lang="en-GB"/>
          </a:p>
        </p:txBody>
      </p:sp>
    </p:spTree>
    <p:extLst>
      <p:ext uri="{BB962C8B-B14F-4D97-AF65-F5344CB8AC3E}">
        <p14:creationId xmlns:p14="http://schemas.microsoft.com/office/powerpoint/2010/main" val="1315212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6E04D09-B011-AE4F-9B5E-933A892F99A9}" type="slidenum">
              <a:rPr lang="en-GB" sz="1200">
                <a:solidFill>
                  <a:srgbClr val="000000"/>
                </a:solidFill>
              </a:rPr>
              <a:pPr eaLnBrk="1" hangingPunct="1"/>
              <a:t>1</a:t>
            </a:fld>
            <a:endParaRPr lang="en-GB" sz="1200">
              <a:solidFill>
                <a:srgbClr val="000000"/>
              </a:solidFill>
            </a:endParaRPr>
          </a:p>
        </p:txBody>
      </p:sp>
      <p:sp>
        <p:nvSpPr>
          <p:cNvPr id="20482" name="Rectangle 2"/>
          <p:cNvSpPr>
            <a:spLocks noGrp="1" noRot="1" noChangeAspect="1" noChangeArrowheads="1" noTextEdit="1"/>
          </p:cNvSpPr>
          <p:nvPr>
            <p:ph type="sldImg"/>
          </p:nvPr>
        </p:nvSpPr>
        <p:spPr>
          <a:xfrm>
            <a:off x="917575" y="744538"/>
            <a:ext cx="4964113" cy="3722687"/>
          </a:xfrm>
          <a:ln/>
        </p:spPr>
      </p:sp>
      <p:sp>
        <p:nvSpPr>
          <p:cNvPr id="20483" name="Rectangle 3"/>
          <p:cNvSpPr>
            <a:spLocks noGrp="1" noChangeArrowheads="1"/>
          </p:cNvSpPr>
          <p:nvPr>
            <p:ph type="body" idx="1"/>
          </p:nvPr>
        </p:nvSpPr>
        <p:spPr>
          <a:xfrm>
            <a:off x="906463" y="4716464"/>
            <a:ext cx="4984750" cy="4465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extLst>
      <p:ext uri="{BB962C8B-B14F-4D97-AF65-F5344CB8AC3E}">
        <p14:creationId xmlns:p14="http://schemas.microsoft.com/office/powerpoint/2010/main" val="3742658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a:ln/>
        </p:spPr>
      </p:sp>
      <p:sp>
        <p:nvSpPr>
          <p:cNvPr id="2253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a:spcBef>
                <a:spcPct val="0"/>
              </a:spcBef>
            </a:pPr>
            <a:endParaRPr lang="en-US"/>
          </a:p>
        </p:txBody>
      </p:sp>
      <p:sp>
        <p:nvSpPr>
          <p:cNvPr id="22531"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fld id="{89218BE9-A982-3046-B1D3-E40C794F19F7}" type="slidenum">
              <a:rPr lang="en-GB" sz="1200">
                <a:latin typeface="Calibri" charset="0"/>
              </a:rPr>
              <a:pPr algn="r" eaLnBrk="1" hangingPunct="1"/>
              <a:t>2</a:t>
            </a:fld>
            <a:endParaRPr lang="en-GB" sz="1200">
              <a:latin typeface="Calibri" charset="0"/>
            </a:endParaRPr>
          </a:p>
        </p:txBody>
      </p:sp>
    </p:spTree>
    <p:extLst>
      <p:ext uri="{BB962C8B-B14F-4D97-AF65-F5344CB8AC3E}">
        <p14:creationId xmlns:p14="http://schemas.microsoft.com/office/powerpoint/2010/main" val="2777257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5</a:t>
            </a:fld>
            <a:endParaRPr lang="en-GB" sz="1200">
              <a:latin typeface="Calibri" charset="0"/>
            </a:endParaRPr>
          </a:p>
        </p:txBody>
      </p:sp>
    </p:spTree>
    <p:extLst>
      <p:ext uri="{BB962C8B-B14F-4D97-AF65-F5344CB8AC3E}">
        <p14:creationId xmlns:p14="http://schemas.microsoft.com/office/powerpoint/2010/main" val="2662076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6</a:t>
            </a:fld>
            <a:endParaRPr lang="en-GB" sz="1200">
              <a:latin typeface="Calibri" charset="0"/>
            </a:endParaRPr>
          </a:p>
        </p:txBody>
      </p:sp>
    </p:spTree>
    <p:extLst>
      <p:ext uri="{BB962C8B-B14F-4D97-AF65-F5344CB8AC3E}">
        <p14:creationId xmlns:p14="http://schemas.microsoft.com/office/powerpoint/2010/main" val="1122409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7</a:t>
            </a:fld>
            <a:endParaRPr lang="en-GB" sz="1200">
              <a:latin typeface="Calibri" charset="0"/>
            </a:endParaRPr>
          </a:p>
        </p:txBody>
      </p:sp>
    </p:spTree>
    <p:extLst>
      <p:ext uri="{BB962C8B-B14F-4D97-AF65-F5344CB8AC3E}">
        <p14:creationId xmlns:p14="http://schemas.microsoft.com/office/powerpoint/2010/main" val="3458900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8</a:t>
            </a:fld>
            <a:endParaRPr lang="en-GB" sz="1200">
              <a:latin typeface="Calibri" charset="0"/>
            </a:endParaRPr>
          </a:p>
        </p:txBody>
      </p:sp>
    </p:spTree>
    <p:extLst>
      <p:ext uri="{BB962C8B-B14F-4D97-AF65-F5344CB8AC3E}">
        <p14:creationId xmlns:p14="http://schemas.microsoft.com/office/powerpoint/2010/main" val="2692798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r>
              <a:rPr lang="en-GB" dirty="0" smtClean="0"/>
              <a:t>Spearman</a:t>
            </a:r>
            <a:r>
              <a:rPr lang="en-GB" baseline="0" dirty="0" smtClean="0"/>
              <a:t> - general intelligence</a:t>
            </a:r>
          </a:p>
          <a:p>
            <a:pPr lvl="1">
              <a:spcBef>
                <a:spcPct val="0"/>
              </a:spcBef>
            </a:pPr>
            <a:r>
              <a:rPr lang="en-GB" baseline="0" dirty="0" smtClean="0"/>
              <a:t>Gardner – multiple intelligences</a:t>
            </a:r>
          </a:p>
          <a:p>
            <a:pPr lvl="1">
              <a:spcBef>
                <a:spcPct val="0"/>
              </a:spcBef>
            </a:pPr>
            <a:r>
              <a:rPr lang="en-GB" baseline="0" dirty="0" smtClean="0"/>
              <a:t>Sternberg – </a:t>
            </a:r>
            <a:r>
              <a:rPr lang="en-GB" baseline="0" dirty="0" err="1" smtClean="0"/>
              <a:t>triarchic</a:t>
            </a:r>
            <a:r>
              <a:rPr lang="en-GB" baseline="0" dirty="0" smtClean="0"/>
              <a:t> theory – analytical, creative, practical</a:t>
            </a:r>
          </a:p>
          <a:p>
            <a:pPr lvl="1">
              <a:spcBef>
                <a:spcPct val="0"/>
              </a:spcBef>
            </a:pPr>
            <a:endParaRPr lang="en-GB" baseline="0" dirty="0" smtClean="0"/>
          </a:p>
          <a:p>
            <a:pPr lvl="1">
              <a:spcBef>
                <a:spcPct val="0"/>
              </a:spcBef>
            </a:pPr>
            <a:endParaRPr lang="en-GB" baseline="0" dirty="0" smtClean="0"/>
          </a:p>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16</a:t>
            </a:fld>
            <a:endParaRPr lang="en-GB" sz="1200">
              <a:latin typeface="Calibri" charset="0"/>
            </a:endParaRPr>
          </a:p>
        </p:txBody>
      </p:sp>
    </p:spTree>
    <p:extLst>
      <p:ext uri="{BB962C8B-B14F-4D97-AF65-F5344CB8AC3E}">
        <p14:creationId xmlns:p14="http://schemas.microsoft.com/office/powerpoint/2010/main" val="3123981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Stimulus</a:t>
            </a:r>
            <a:r>
              <a:rPr lang="en-GB" baseline="0" dirty="0" smtClean="0"/>
              <a:t> – response / Stimulus – organism – response / H = mediator</a:t>
            </a:r>
            <a:endParaRPr lang="en-GB" dirty="0"/>
          </a:p>
        </p:txBody>
      </p:sp>
      <p:sp>
        <p:nvSpPr>
          <p:cNvPr id="4" name="Slide Number Placeholder 3"/>
          <p:cNvSpPr>
            <a:spLocks noGrp="1"/>
          </p:cNvSpPr>
          <p:nvPr>
            <p:ph type="sldNum" sz="quarter" idx="10"/>
          </p:nvPr>
        </p:nvSpPr>
        <p:spPr/>
        <p:txBody>
          <a:bodyPr/>
          <a:lstStyle/>
          <a:p>
            <a:pPr>
              <a:defRPr/>
            </a:pPr>
            <a:fld id="{89F4CDCD-DD8B-2946-B34B-EC2C66B739C5}" type="slidenum">
              <a:rPr lang="en-GB" smtClean="0"/>
              <a:pPr>
                <a:defRPr/>
              </a:pPr>
              <a:t>18</a:t>
            </a:fld>
            <a:endParaRPr lang="en-GB"/>
          </a:p>
        </p:txBody>
      </p:sp>
    </p:spTree>
    <p:extLst>
      <p:ext uri="{BB962C8B-B14F-4D97-AF65-F5344CB8AC3E}">
        <p14:creationId xmlns:p14="http://schemas.microsoft.com/office/powerpoint/2010/main" val="2221479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Early 20</a:t>
            </a:r>
            <a:r>
              <a:rPr lang="en-US" baseline="30000" dirty="0" smtClean="0"/>
              <a:t>th</a:t>
            </a:r>
            <a:r>
              <a:rPr lang="en-US" dirty="0" smtClean="0"/>
              <a:t> century Europe – dominated by psychoanalysis, </a:t>
            </a:r>
            <a:r>
              <a:rPr lang="en-US" dirty="0" err="1" smtClean="0"/>
              <a:t>behaviourism</a:t>
            </a:r>
            <a:r>
              <a:rPr lang="en-US" dirty="0" smtClean="0"/>
              <a:t>, psychometrics</a:t>
            </a:r>
            <a:endParaRPr lang="en-US" dirty="0"/>
          </a:p>
        </p:txBody>
      </p:sp>
      <p:sp>
        <p:nvSpPr>
          <p:cNvPr id="4" name="Slide Number Placeholder 3"/>
          <p:cNvSpPr>
            <a:spLocks noGrp="1"/>
          </p:cNvSpPr>
          <p:nvPr>
            <p:ph type="sldNum" sz="quarter" idx="10"/>
          </p:nvPr>
        </p:nvSpPr>
        <p:spPr/>
        <p:txBody>
          <a:bodyPr/>
          <a:lstStyle/>
          <a:p>
            <a:fld id="{BCC73150-97D7-D04D-AEC2-A4749AA0002B}" type="slidenum">
              <a:rPr lang="en-US" smtClean="0">
                <a:solidFill>
                  <a:prstClr val="black"/>
                </a:solidFill>
              </a:rPr>
              <a:pPr/>
              <a:t>24</a:t>
            </a:fld>
            <a:endParaRPr lang="en-US">
              <a:solidFill>
                <a:prstClr val="black"/>
              </a:solidFill>
            </a:endParaRPr>
          </a:p>
        </p:txBody>
      </p:sp>
    </p:spTree>
    <p:extLst>
      <p:ext uri="{BB962C8B-B14F-4D97-AF65-F5344CB8AC3E}">
        <p14:creationId xmlns:p14="http://schemas.microsoft.com/office/powerpoint/2010/main" val="4209388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26</a:t>
            </a:fld>
            <a:endParaRPr lang="en-GB" sz="1200">
              <a:latin typeface="Calibri" charset="0"/>
            </a:endParaRPr>
          </a:p>
        </p:txBody>
      </p:sp>
    </p:spTree>
    <p:extLst>
      <p:ext uri="{BB962C8B-B14F-4D97-AF65-F5344CB8AC3E}">
        <p14:creationId xmlns:p14="http://schemas.microsoft.com/office/powerpoint/2010/main" val="2532647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27</a:t>
            </a:fld>
            <a:endParaRPr lang="en-GB" sz="1200">
              <a:latin typeface="Calibri" charset="0"/>
            </a:endParaRPr>
          </a:p>
        </p:txBody>
      </p:sp>
    </p:spTree>
    <p:extLst>
      <p:ext uri="{BB962C8B-B14F-4D97-AF65-F5344CB8AC3E}">
        <p14:creationId xmlns:p14="http://schemas.microsoft.com/office/powerpoint/2010/main" val="2663947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r>
              <a:rPr lang="en-GB"/>
              <a:t>Working Memory</a:t>
            </a:r>
          </a:p>
          <a:p>
            <a:pPr>
              <a:spcBef>
                <a:spcPct val="0"/>
              </a:spcBef>
            </a:pPr>
            <a:r>
              <a:rPr lang="en-GB"/>
              <a:t>Baddeley (1992) – Components</a:t>
            </a:r>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28</a:t>
            </a:fld>
            <a:endParaRPr lang="en-GB" sz="1200">
              <a:latin typeface="Calibri" charset="0"/>
            </a:endParaRPr>
          </a:p>
        </p:txBody>
      </p:sp>
    </p:spTree>
    <p:extLst>
      <p:ext uri="{BB962C8B-B14F-4D97-AF65-F5344CB8AC3E}">
        <p14:creationId xmlns:p14="http://schemas.microsoft.com/office/powerpoint/2010/main" val="3749820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29</a:t>
            </a:fld>
            <a:endParaRPr lang="en-GB" sz="1200">
              <a:latin typeface="Calibri" charset="0"/>
            </a:endParaRPr>
          </a:p>
        </p:txBody>
      </p:sp>
    </p:spTree>
    <p:extLst>
      <p:ext uri="{BB962C8B-B14F-4D97-AF65-F5344CB8AC3E}">
        <p14:creationId xmlns:p14="http://schemas.microsoft.com/office/powerpoint/2010/main" val="2060229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30</a:t>
            </a:fld>
            <a:endParaRPr lang="en-GB" sz="1200">
              <a:latin typeface="Calibri" charset="0"/>
            </a:endParaRPr>
          </a:p>
        </p:txBody>
      </p:sp>
    </p:spTree>
    <p:extLst>
      <p:ext uri="{BB962C8B-B14F-4D97-AF65-F5344CB8AC3E}">
        <p14:creationId xmlns:p14="http://schemas.microsoft.com/office/powerpoint/2010/main" val="4245723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r>
              <a:rPr lang="en-GB" dirty="0" smtClean="0"/>
              <a:t>Spearman</a:t>
            </a:r>
            <a:r>
              <a:rPr lang="en-GB" baseline="0" dirty="0" smtClean="0"/>
              <a:t> general intelligence</a:t>
            </a:r>
          </a:p>
          <a:p>
            <a:pPr lvl="1">
              <a:spcBef>
                <a:spcPct val="0"/>
              </a:spcBef>
            </a:pPr>
            <a:r>
              <a:rPr lang="en-GB" baseline="0" dirty="0" smtClean="0"/>
              <a:t>Gardner – multiple intelligences</a:t>
            </a:r>
          </a:p>
          <a:p>
            <a:pPr lvl="1">
              <a:spcBef>
                <a:spcPct val="0"/>
              </a:spcBef>
            </a:pPr>
            <a:r>
              <a:rPr lang="en-GB" baseline="0" dirty="0" smtClean="0"/>
              <a:t>Sternberg – </a:t>
            </a:r>
            <a:r>
              <a:rPr lang="en-GB" baseline="0" dirty="0" err="1" smtClean="0"/>
              <a:t>triarchic</a:t>
            </a:r>
            <a:r>
              <a:rPr lang="en-GB" baseline="0" dirty="0" smtClean="0"/>
              <a:t> theory – analytical, creative</a:t>
            </a:r>
            <a:r>
              <a:rPr lang="en-GB" baseline="0" smtClean="0"/>
              <a:t>, practical</a:t>
            </a:r>
          </a:p>
          <a:p>
            <a:pPr lvl="1">
              <a:spcBef>
                <a:spcPct val="0"/>
              </a:spcBef>
            </a:pPr>
            <a:endParaRPr lang="en-GB" baseline="0" dirty="0" smtClean="0"/>
          </a:p>
          <a:p>
            <a:pPr lvl="1">
              <a:spcBef>
                <a:spcPct val="0"/>
              </a:spcBef>
            </a:pPr>
            <a:endParaRPr lang="en-GB" baseline="0" dirty="0" smtClean="0"/>
          </a:p>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31</a:t>
            </a:fld>
            <a:endParaRPr lang="en-GB" sz="1200">
              <a:latin typeface="Calibri" charset="0"/>
            </a:endParaRPr>
          </a:p>
        </p:txBody>
      </p:sp>
    </p:spTree>
    <p:extLst>
      <p:ext uri="{BB962C8B-B14F-4D97-AF65-F5344CB8AC3E}">
        <p14:creationId xmlns:p14="http://schemas.microsoft.com/office/powerpoint/2010/main" val="3862856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r>
              <a:rPr lang="en-GB" dirty="0" smtClean="0"/>
              <a:t>Spearman</a:t>
            </a:r>
            <a:r>
              <a:rPr lang="en-GB" baseline="0" dirty="0" smtClean="0"/>
              <a:t> general intelligence</a:t>
            </a:r>
          </a:p>
          <a:p>
            <a:pPr lvl="1">
              <a:spcBef>
                <a:spcPct val="0"/>
              </a:spcBef>
            </a:pPr>
            <a:r>
              <a:rPr lang="en-GB" baseline="0" dirty="0" smtClean="0"/>
              <a:t>Gardner – multiple intelligences</a:t>
            </a:r>
          </a:p>
          <a:p>
            <a:pPr lvl="1">
              <a:spcBef>
                <a:spcPct val="0"/>
              </a:spcBef>
            </a:pPr>
            <a:r>
              <a:rPr lang="en-GB" baseline="0" dirty="0" smtClean="0"/>
              <a:t>Sternberg – </a:t>
            </a:r>
            <a:r>
              <a:rPr lang="en-GB" baseline="0" dirty="0" err="1" smtClean="0"/>
              <a:t>triarchic</a:t>
            </a:r>
            <a:r>
              <a:rPr lang="en-GB" baseline="0" dirty="0" smtClean="0"/>
              <a:t> theory – analytical, creative</a:t>
            </a:r>
            <a:r>
              <a:rPr lang="en-GB" baseline="0" smtClean="0"/>
              <a:t>, practical</a:t>
            </a:r>
          </a:p>
          <a:p>
            <a:pPr lvl="1">
              <a:spcBef>
                <a:spcPct val="0"/>
              </a:spcBef>
            </a:pPr>
            <a:endParaRPr lang="en-GB" baseline="0" dirty="0" smtClean="0"/>
          </a:p>
          <a:p>
            <a:pPr lvl="1">
              <a:spcBef>
                <a:spcPct val="0"/>
              </a:spcBef>
            </a:pPr>
            <a:endParaRPr lang="en-GB" baseline="0" dirty="0" smtClean="0"/>
          </a:p>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32</a:t>
            </a:fld>
            <a:endParaRPr lang="en-GB" sz="1200">
              <a:latin typeface="Calibri" charset="0"/>
            </a:endParaRPr>
          </a:p>
        </p:txBody>
      </p:sp>
    </p:spTree>
    <p:extLst>
      <p:ext uri="{BB962C8B-B14F-4D97-AF65-F5344CB8AC3E}">
        <p14:creationId xmlns:p14="http://schemas.microsoft.com/office/powerpoint/2010/main" val="2712279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34</a:t>
            </a:fld>
            <a:endParaRPr lang="en-GB" sz="1200">
              <a:latin typeface="Calibri" charset="0"/>
            </a:endParaRPr>
          </a:p>
        </p:txBody>
      </p:sp>
    </p:spTree>
    <p:extLst>
      <p:ext uri="{BB962C8B-B14F-4D97-AF65-F5344CB8AC3E}">
        <p14:creationId xmlns:p14="http://schemas.microsoft.com/office/powerpoint/2010/main" val="1151894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Slide Image Placeholder 1"/>
          <p:cNvSpPr>
            <a:spLocks noGrp="1" noRot="1" noChangeAspect="1" noTextEdit="1"/>
          </p:cNvSpPr>
          <p:nvPr>
            <p:ph type="sldImg"/>
          </p:nvPr>
        </p:nvSpPr>
        <p:spPr>
          <a:ln/>
        </p:spPr>
      </p:sp>
      <p:sp>
        <p:nvSpPr>
          <p:cNvPr id="284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a:spcBef>
                <a:spcPct val="0"/>
              </a:spcBef>
            </a:pPr>
            <a:endParaRPr lang="en-US"/>
          </a:p>
        </p:txBody>
      </p:sp>
      <p:sp>
        <p:nvSpPr>
          <p:cNvPr id="284676"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478F1687-CCCA-0940-87E5-53956F852917}" type="slidenum">
              <a:rPr lang="en-GB" sz="1200">
                <a:latin typeface="Calibri" charset="0"/>
              </a:rPr>
              <a:pPr algn="r" eaLnBrk="1" hangingPunct="1"/>
              <a:t>35</a:t>
            </a:fld>
            <a:endParaRPr lang="en-GB" sz="1200">
              <a:latin typeface="Calibri" charset="0"/>
            </a:endParaRPr>
          </a:p>
        </p:txBody>
      </p:sp>
    </p:spTree>
    <p:extLst>
      <p:ext uri="{BB962C8B-B14F-4D97-AF65-F5344CB8AC3E}">
        <p14:creationId xmlns:p14="http://schemas.microsoft.com/office/powerpoint/2010/main" val="3356238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Rectangle 2"/>
          <p:cNvSpPr>
            <a:spLocks noGrp="1"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0" hangingPunct="0"/>
            <a:endParaRPr lang="en-US" sz="4400">
              <a:solidFill>
                <a:schemeClr val="tx2"/>
              </a:solidFill>
            </a:endParaRPr>
          </a:p>
        </p:txBody>
      </p:sp>
      <p:sp>
        <p:nvSpPr>
          <p:cNvPr id="3" name="Rectangle 3"/>
          <p:cNvSpPr>
            <a:spLocks noGrp="1"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0" hangingPunct="0">
              <a:spcBef>
                <a:spcPct val="20000"/>
              </a:spcBef>
              <a:buFontTx/>
              <a:buChar char="•"/>
            </a:pPr>
            <a:endParaRPr lang="en-US" sz="3200"/>
          </a:p>
        </p:txBody>
      </p:sp>
    </p:spTree>
    <p:extLst>
      <p:ext uri="{BB962C8B-B14F-4D97-AF65-F5344CB8AC3E}">
        <p14:creationId xmlns:p14="http://schemas.microsoft.com/office/powerpoint/2010/main" val="1672723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345E94E-9DA1-7F42-ABA7-F5D97234638D}" type="slidenum">
              <a:rPr lang="en-GB"/>
              <a:pPr>
                <a:defRPr/>
              </a:pPr>
              <a:t>‹#›</a:t>
            </a:fld>
            <a:endParaRPr lang="en-GB"/>
          </a:p>
        </p:txBody>
      </p:sp>
    </p:spTree>
    <p:extLst>
      <p:ext uri="{BB962C8B-B14F-4D97-AF65-F5344CB8AC3E}">
        <p14:creationId xmlns:p14="http://schemas.microsoft.com/office/powerpoint/2010/main" val="1367792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C8FDCAA-1D33-5048-A616-B2203B046A13}" type="slidenum">
              <a:rPr lang="en-GB"/>
              <a:pPr>
                <a:defRPr/>
              </a:pPr>
              <a:t>‹#›</a:t>
            </a:fld>
            <a:endParaRPr lang="en-GB"/>
          </a:p>
        </p:txBody>
      </p:sp>
    </p:spTree>
    <p:extLst>
      <p:ext uri="{BB962C8B-B14F-4D97-AF65-F5344CB8AC3E}">
        <p14:creationId xmlns:p14="http://schemas.microsoft.com/office/powerpoint/2010/main" val="1139695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4AA7E84-8826-D64E-919E-249D12B2D5C6}" type="slidenum">
              <a:rPr lang="en-GB"/>
              <a:pPr>
                <a:defRPr/>
              </a:pPr>
              <a:t>‹#›</a:t>
            </a:fld>
            <a:endParaRPr lang="en-GB"/>
          </a:p>
        </p:txBody>
      </p:sp>
    </p:spTree>
    <p:extLst>
      <p:ext uri="{BB962C8B-B14F-4D97-AF65-F5344CB8AC3E}">
        <p14:creationId xmlns:p14="http://schemas.microsoft.com/office/powerpoint/2010/main" val="2437644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47BE34E6-2B83-7443-A6C9-07D9E98B230A}" type="slidenum">
              <a:rPr lang="en-GB"/>
              <a:pPr>
                <a:defRPr/>
              </a:pPr>
              <a:t>‹#›</a:t>
            </a:fld>
            <a:endParaRPr lang="en-GB"/>
          </a:p>
        </p:txBody>
      </p:sp>
    </p:spTree>
    <p:extLst>
      <p:ext uri="{BB962C8B-B14F-4D97-AF65-F5344CB8AC3E}">
        <p14:creationId xmlns:p14="http://schemas.microsoft.com/office/powerpoint/2010/main" val="4183140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30F5C022-C58B-1843-8C94-BB8F3B1D6E69}" type="slidenum">
              <a:rPr lang="en-GB"/>
              <a:pPr>
                <a:defRPr/>
              </a:pPr>
              <a:t>‹#›</a:t>
            </a:fld>
            <a:endParaRPr lang="en-GB"/>
          </a:p>
        </p:txBody>
      </p:sp>
    </p:spTree>
    <p:extLst>
      <p:ext uri="{BB962C8B-B14F-4D97-AF65-F5344CB8AC3E}">
        <p14:creationId xmlns:p14="http://schemas.microsoft.com/office/powerpoint/2010/main" val="1067387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0ECCC2DA-C92C-AB4F-8AB9-EBA81F2EF0F4}" type="slidenum">
              <a:rPr lang="en-GB"/>
              <a:pPr>
                <a:defRPr/>
              </a:pPr>
              <a:t>‹#›</a:t>
            </a:fld>
            <a:endParaRPr lang="en-GB"/>
          </a:p>
        </p:txBody>
      </p:sp>
    </p:spTree>
    <p:extLst>
      <p:ext uri="{BB962C8B-B14F-4D97-AF65-F5344CB8AC3E}">
        <p14:creationId xmlns:p14="http://schemas.microsoft.com/office/powerpoint/2010/main" val="2342715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EAA095F8-598D-7146-AD4E-D9E085142BCA}" type="slidenum">
              <a:rPr lang="en-GB"/>
              <a:pPr>
                <a:defRPr/>
              </a:pPr>
              <a:t>‹#›</a:t>
            </a:fld>
            <a:endParaRPr lang="en-GB"/>
          </a:p>
        </p:txBody>
      </p:sp>
    </p:spTree>
    <p:extLst>
      <p:ext uri="{BB962C8B-B14F-4D97-AF65-F5344CB8AC3E}">
        <p14:creationId xmlns:p14="http://schemas.microsoft.com/office/powerpoint/2010/main" val="2407430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838EABB-05E3-7244-A352-359B835D8BFF}" type="slidenum">
              <a:rPr lang="en-GB"/>
              <a:pPr>
                <a:defRPr/>
              </a:pPr>
              <a:t>‹#›</a:t>
            </a:fld>
            <a:endParaRPr lang="en-GB"/>
          </a:p>
        </p:txBody>
      </p:sp>
    </p:spTree>
    <p:extLst>
      <p:ext uri="{BB962C8B-B14F-4D97-AF65-F5344CB8AC3E}">
        <p14:creationId xmlns:p14="http://schemas.microsoft.com/office/powerpoint/2010/main" val="4023418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8087E07-F223-1A4B-806F-760D68803C18}" type="slidenum">
              <a:rPr lang="en-GB"/>
              <a:pPr>
                <a:defRPr/>
              </a:pPr>
              <a:t>‹#›</a:t>
            </a:fld>
            <a:endParaRPr lang="en-GB"/>
          </a:p>
        </p:txBody>
      </p:sp>
    </p:spTree>
    <p:extLst>
      <p:ext uri="{BB962C8B-B14F-4D97-AF65-F5344CB8AC3E}">
        <p14:creationId xmlns:p14="http://schemas.microsoft.com/office/powerpoint/2010/main" val="3401554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6E7F749-6369-5140-9639-229F25F414C6}" type="slidenum">
              <a:rPr lang="en-GB"/>
              <a:pPr>
                <a:defRPr/>
              </a:pPr>
              <a:t>‹#›</a:t>
            </a:fld>
            <a:endParaRPr lang="en-GB"/>
          </a:p>
        </p:txBody>
      </p:sp>
    </p:spTree>
    <p:extLst>
      <p:ext uri="{BB962C8B-B14F-4D97-AF65-F5344CB8AC3E}">
        <p14:creationId xmlns:p14="http://schemas.microsoft.com/office/powerpoint/2010/main" val="14239060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B0F613C-CF02-4D45-BE00-714BFF57870A}" type="slidenum">
              <a:rPr lang="en-GB"/>
              <a:pPr>
                <a:defRPr/>
              </a:pPr>
              <a:t>‹#›</a:t>
            </a:fld>
            <a:endParaRPr lang="en-GB"/>
          </a:p>
        </p:txBody>
      </p:sp>
    </p:spTree>
    <p:extLst>
      <p:ext uri="{BB962C8B-B14F-4D97-AF65-F5344CB8AC3E}">
        <p14:creationId xmlns:p14="http://schemas.microsoft.com/office/powerpoint/2010/main" val="210689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F82031A1-D5DF-A440-9ECC-EABD73143655}" type="slidenum">
              <a:rPr lang="en-GB"/>
              <a:pPr>
                <a:defRPr/>
              </a:pPr>
              <a:t>‹#›</a:t>
            </a:fld>
            <a:endParaRPr lang="en-GB"/>
          </a:p>
        </p:txBody>
      </p:sp>
    </p:spTree>
    <p:extLst>
      <p:ext uri="{BB962C8B-B14F-4D97-AF65-F5344CB8AC3E}">
        <p14:creationId xmlns:p14="http://schemas.microsoft.com/office/powerpoint/2010/main" val="39461580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GB"/>
          </a:p>
        </p:txBody>
      </p:sp>
      <p:sp>
        <p:nvSpPr>
          <p:cNvPr id="3" name="SmartArt Placeholder 2"/>
          <p:cNvSpPr>
            <a:spLocks noGrp="1"/>
          </p:cNvSpPr>
          <p:nvPr>
            <p:ph type="dgm" idx="1"/>
          </p:nvPr>
        </p:nvSpPr>
        <p:spPr>
          <a:xfrm>
            <a:off x="457200" y="1600200"/>
            <a:ext cx="8229600" cy="4525963"/>
          </a:xfrm>
        </p:spPr>
        <p:txBody>
          <a:bodyPr/>
          <a:lstStyle/>
          <a:p>
            <a:pPr lvl="0"/>
            <a:endParaRPr lang="en-GB"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BFCF4DD-8B0F-9546-8033-7FB130DE51C1}" type="slidenum">
              <a:rPr lang="en-GB"/>
              <a:pPr>
                <a:defRPr/>
              </a:pPr>
              <a:t>‹#›</a:t>
            </a:fld>
            <a:endParaRPr lang="en-GB"/>
          </a:p>
        </p:txBody>
      </p:sp>
    </p:spTree>
    <p:extLst>
      <p:ext uri="{BB962C8B-B14F-4D97-AF65-F5344CB8AC3E}">
        <p14:creationId xmlns:p14="http://schemas.microsoft.com/office/powerpoint/2010/main" val="1165746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12A6A5C-00B1-0D4B-B5E4-78D431D89FC8}" type="slidenum">
              <a:rPr lang="en-GB"/>
              <a:pPr>
                <a:defRPr/>
              </a:pPr>
              <a:t>‹#›</a:t>
            </a:fld>
            <a:endParaRPr lang="en-GB"/>
          </a:p>
        </p:txBody>
      </p:sp>
    </p:spTree>
    <p:extLst>
      <p:ext uri="{BB962C8B-B14F-4D97-AF65-F5344CB8AC3E}">
        <p14:creationId xmlns:p14="http://schemas.microsoft.com/office/powerpoint/2010/main" val="362732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328166" y="1295400"/>
            <a:ext cx="6487668" cy="3152887"/>
          </a:xfrm>
          <a:prstGeom prst="rect">
            <a:avLst/>
          </a:prstGeo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p>
            <a:pPr fontAlgn="auto">
              <a:spcBef>
                <a:spcPts val="2000"/>
              </a:spcBef>
              <a:spcAft>
                <a:spcPts val="0"/>
              </a:spcAft>
              <a:buClr>
                <a:srgbClr val="2C7C9F">
                  <a:lumMod val="60000"/>
                  <a:lumOff val="40000"/>
                </a:srgbClr>
              </a:buClr>
              <a:buSzPct val="110000"/>
              <a:buFont typeface="Wingdings 2" pitchFamily="18" charset="2"/>
              <a:buNone/>
            </a:pPr>
            <a:endParaRPr sz="3200">
              <a:solidFill>
                <a:prstClr val="black">
                  <a:lumMod val="65000"/>
                  <a:lumOff val="35000"/>
                </a:prstClr>
              </a:solidFill>
              <a:latin typeface="News Gothic MT"/>
              <a:ea typeface="+mn-ea"/>
              <a:cs typeface="+mn-cs"/>
            </a:endParaRPr>
          </a:p>
        </p:txBody>
      </p:sp>
      <p:sp>
        <p:nvSpPr>
          <p:cNvPr id="2" name="Title 1"/>
          <p:cNvSpPr>
            <a:spLocks noGrp="1"/>
          </p:cNvSpPr>
          <p:nvPr>
            <p:ph type="ctrTitle"/>
          </p:nvPr>
        </p:nvSpPr>
        <p:spPr>
          <a:xfrm>
            <a:off x="1322921" y="1523999"/>
            <a:ext cx="6498158" cy="1724867"/>
          </a:xfrm>
        </p:spPr>
        <p:txBody>
          <a:bodyPr vert="horz" lIns="91440" tIns="45720" rIns="91440" bIns="45720" rtlCol="0" anchor="b" anchorCtr="0">
            <a:noAutofit/>
          </a:bodyPr>
          <a:lstStyle>
            <a:lvl1pPr marL="0" indent="0" algn="ctr" defTabSz="914400"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mj-lt"/>
                <a:ea typeface="+mj-ea"/>
                <a:cs typeface="+mj-cs"/>
              </a:defRPr>
            </a:lvl1pPr>
          </a:lstStyle>
          <a:p>
            <a:r>
              <a:rPr lang="en-GB" smtClean="0"/>
              <a:t>Click to edit Master title style</a:t>
            </a:r>
            <a:endParaRPr/>
          </a:p>
        </p:txBody>
      </p:sp>
      <p:sp>
        <p:nvSpPr>
          <p:cNvPr id="3" name="Subtitle 2"/>
          <p:cNvSpPr>
            <a:spLocks noGrp="1"/>
          </p:cNvSpPr>
          <p:nvPr>
            <p:ph type="subTitle" idx="1"/>
          </p:nvPr>
        </p:nvSpPr>
        <p:spPr>
          <a:xfrm>
            <a:off x="1322921" y="3299012"/>
            <a:ext cx="6498159" cy="916641"/>
          </a:xfrm>
        </p:spPr>
        <p:txBody>
          <a:bodyPr vert="horz" lIns="91440" tIns="45720" rIns="91440" bIns="45720" rtlCol="0">
            <a:normAutofit/>
          </a:bodyPr>
          <a:lstStyle>
            <a:lvl1pPr marL="0" indent="0" algn="ctr" defTabSz="914400"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dirty="0"/>
          </a:p>
        </p:txBody>
      </p:sp>
      <p:sp>
        <p:nvSpPr>
          <p:cNvPr id="4" name="Date Placeholder 3"/>
          <p:cNvSpPr>
            <a:spLocks noGrp="1"/>
          </p:cNvSpPr>
          <p:nvPr>
            <p:ph type="dt" sz="half" idx="10"/>
          </p:nvPr>
        </p:nvSpPr>
        <p:spPr/>
        <p:txBody>
          <a:bodyPr/>
          <a:lstStyle/>
          <a:p>
            <a:fld id="{416BC485-9C97-9644-B1BA-CBA0EF90FABF}" type="datetime1">
              <a:rPr lang="en-GB" smtClean="0">
                <a:solidFill>
                  <a:prstClr val="white"/>
                </a:solidFill>
              </a:rPr>
              <a:pPr/>
              <a:t>17/11/2017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1052798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Date Placeholder 3"/>
          <p:cNvSpPr>
            <a:spLocks noGrp="1"/>
          </p:cNvSpPr>
          <p:nvPr>
            <p:ph type="dt" sz="half" idx="10"/>
          </p:nvPr>
        </p:nvSpPr>
        <p:spPr/>
        <p:txBody>
          <a:bodyPr/>
          <a:lstStyle/>
          <a:p>
            <a:fld id="{61F97A0E-9F6F-E348-B3B5-763579602245}" type="datetime1">
              <a:rPr lang="en-GB" smtClean="0">
                <a:solidFill>
                  <a:prstClr val="white"/>
                </a:solidFill>
              </a:rPr>
              <a:pPr/>
              <a:t>17/11/2017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503864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8" y="3352801"/>
            <a:ext cx="8416925" cy="1470025"/>
          </a:xfrm>
        </p:spPr>
        <p:txBody>
          <a:bodyPr/>
          <a:lstStyle/>
          <a:p>
            <a:r>
              <a:rPr lang="en-GB" smtClean="0"/>
              <a:t>Click to edit Master title style</a:t>
            </a:r>
            <a:endParaRPr dirty="0"/>
          </a:p>
        </p:txBody>
      </p:sp>
      <p:sp>
        <p:nvSpPr>
          <p:cNvPr id="3" name="Subtitle 2"/>
          <p:cNvSpPr>
            <a:spLocks noGrp="1"/>
          </p:cNvSpPr>
          <p:nvPr>
            <p:ph type="subTitle" idx="1"/>
          </p:nvPr>
        </p:nvSpPr>
        <p:spPr>
          <a:xfrm>
            <a:off x="363538" y="4771029"/>
            <a:ext cx="8416925" cy="972671"/>
          </a:xfrm>
        </p:spPr>
        <p:txBody>
          <a:bodyPr>
            <a:normAutofit/>
          </a:bodyPr>
          <a:lstStyle>
            <a:lvl1pPr marL="0" indent="0" algn="ctr">
              <a:spcBef>
                <a:spcPts val="30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dirty="0"/>
          </a:p>
        </p:txBody>
      </p:sp>
      <p:sp>
        <p:nvSpPr>
          <p:cNvPr id="4" name="Date Placeholder 3"/>
          <p:cNvSpPr>
            <a:spLocks noGrp="1"/>
          </p:cNvSpPr>
          <p:nvPr>
            <p:ph type="dt" sz="half" idx="10"/>
          </p:nvPr>
        </p:nvSpPr>
        <p:spPr/>
        <p:txBody>
          <a:bodyPr/>
          <a:lstStyle/>
          <a:p>
            <a:fld id="{8A05B6B2-CA55-B24D-93D5-4738F246ED5F}" type="datetime1">
              <a:rPr lang="en-GB" smtClean="0">
                <a:solidFill>
                  <a:prstClr val="white"/>
                </a:solidFill>
              </a:rPr>
              <a:pPr/>
              <a:t>17/11/2017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
        <p:nvSpPr>
          <p:cNvPr id="9" name="Picture Placeholder 2"/>
          <p:cNvSpPr>
            <a:spLocks noGrp="1"/>
          </p:cNvSpPr>
          <p:nvPr>
            <p:ph type="pic" idx="13"/>
          </p:nvPr>
        </p:nvSpPr>
        <p:spPr>
          <a:xfrm>
            <a:off x="370980" y="363538"/>
            <a:ext cx="8402040" cy="2836862"/>
          </a:xfrm>
          <a:ln w="3175">
            <a:solidFill>
              <a:schemeClr val="bg1"/>
            </a:solidFill>
          </a:ln>
          <a:effectLst>
            <a:outerShdw blurRad="63500" sx="100500" sy="100500" algn="ctr"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smtClean="0"/>
              <a:t>Drag picture to placeholder or click icon to add</a:t>
            </a:r>
            <a:endParaRPr/>
          </a:p>
        </p:txBody>
      </p:sp>
    </p:spTree>
    <p:extLst>
      <p:ext uri="{BB962C8B-B14F-4D97-AF65-F5344CB8AC3E}">
        <p14:creationId xmlns:p14="http://schemas.microsoft.com/office/powerpoint/2010/main" val="24576389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5" y="2403144"/>
            <a:ext cx="8056563" cy="1362075"/>
          </a:xfrm>
        </p:spPr>
        <p:txBody>
          <a:bodyPr anchor="b" anchorCtr="0"/>
          <a:lstStyle>
            <a:lvl1pPr algn="ctr">
              <a:defRPr sz="4600" b="0" cap="none" baseline="0"/>
            </a:lvl1pPr>
          </a:lstStyle>
          <a:p>
            <a:r>
              <a:rPr lang="en-GB" smtClean="0"/>
              <a:t>Click to edit Master title style</a:t>
            </a:r>
            <a:endParaRPr/>
          </a:p>
        </p:txBody>
      </p:sp>
      <p:sp>
        <p:nvSpPr>
          <p:cNvPr id="3" name="Text Placeholder 2"/>
          <p:cNvSpPr>
            <a:spLocks noGrp="1"/>
          </p:cNvSpPr>
          <p:nvPr>
            <p:ph type="body" idx="1"/>
          </p:nvPr>
        </p:nvSpPr>
        <p:spPr>
          <a:xfrm>
            <a:off x="549275" y="3736005"/>
            <a:ext cx="8056563" cy="1500187"/>
          </a:xfrm>
        </p:spPr>
        <p:txBody>
          <a:bodyPr anchor="t" anchorCtr="0">
            <a:normAutofit/>
          </a:bodyPr>
          <a:lstStyle>
            <a:lvl1pPr marL="0" indent="0" algn="ctr">
              <a:spcBef>
                <a:spcPts val="300"/>
              </a:spcBef>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p>
            <a:fld id="{13ABE876-13A3-3D4B-BAC2-3C8EC52BA701}" type="datetime1">
              <a:rPr lang="en-GB" smtClean="0">
                <a:solidFill>
                  <a:prstClr val="white"/>
                </a:solidFill>
              </a:rPr>
              <a:pPr/>
              <a:t>17/11/2017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9395795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1336956"/>
          </a:xfrm>
        </p:spPr>
        <p:txBody>
          <a:bodyPr/>
          <a:lstStyle/>
          <a:p>
            <a:r>
              <a:rPr lang="en-GB" smtClean="0"/>
              <a:t>Click to edit Master title style</a:t>
            </a:r>
            <a:endParaRPr/>
          </a:p>
        </p:txBody>
      </p:sp>
      <p:sp>
        <p:nvSpPr>
          <p:cNvPr id="3" name="Content Placeholder 2"/>
          <p:cNvSpPr>
            <a:spLocks noGrp="1"/>
          </p:cNvSpPr>
          <p:nvPr>
            <p:ph sz="half" idx="1"/>
          </p:nvPr>
        </p:nvSpPr>
        <p:spPr>
          <a:xfrm>
            <a:off x="549275"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Content Placeholder 3"/>
          <p:cNvSpPr>
            <a:spLocks noGrp="1"/>
          </p:cNvSpPr>
          <p:nvPr>
            <p:ph sz="half" idx="2"/>
          </p:nvPr>
        </p:nvSpPr>
        <p:spPr>
          <a:xfrm>
            <a:off x="4751071"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5" name="Date Placeholder 4"/>
          <p:cNvSpPr>
            <a:spLocks noGrp="1"/>
          </p:cNvSpPr>
          <p:nvPr>
            <p:ph type="dt" sz="half" idx="10"/>
          </p:nvPr>
        </p:nvSpPr>
        <p:spPr/>
        <p:txBody>
          <a:bodyPr/>
          <a:lstStyle/>
          <a:p>
            <a:fld id="{83470D51-E423-A547-B38C-78AAAA26F86A}" type="datetime1">
              <a:rPr lang="en-GB" smtClean="0">
                <a:solidFill>
                  <a:prstClr val="white"/>
                </a:solidFill>
              </a:rPr>
              <a:pPr/>
              <a:t>17/11/2017</a:t>
            </a:fld>
            <a:endParaRPr lang="en-US">
              <a:solidFill>
                <a:prstClr val="white"/>
              </a:solidFill>
            </a:endParaRPr>
          </a:p>
        </p:txBody>
      </p:sp>
      <p:sp>
        <p:nvSpPr>
          <p:cNvPr id="6" name="Footer Placeholder 5"/>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7" name="Slide Number Placeholder 6"/>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0947926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107576"/>
            <a:ext cx="8042276" cy="1336956"/>
          </a:xfrm>
        </p:spPr>
        <p:txBody>
          <a:bodyPr/>
          <a:lstStyle>
            <a:lvl1pPr>
              <a:defRPr/>
            </a:lvl1pPr>
          </a:lstStyle>
          <a:p>
            <a:r>
              <a:rPr lang="en-GB" smtClean="0"/>
              <a:t>Click to edit Master title style</a:t>
            </a:r>
            <a:endParaRPr/>
          </a:p>
        </p:txBody>
      </p:sp>
      <p:sp>
        <p:nvSpPr>
          <p:cNvPr id="3" name="Text Placeholder 2"/>
          <p:cNvSpPr>
            <a:spLocks noGrp="1"/>
          </p:cNvSpPr>
          <p:nvPr>
            <p:ph type="body" idx="1"/>
          </p:nvPr>
        </p:nvSpPr>
        <p:spPr>
          <a:xfrm>
            <a:off x="549274"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549274"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5" name="Text Placeholder 4"/>
          <p:cNvSpPr>
            <a:spLocks noGrp="1"/>
          </p:cNvSpPr>
          <p:nvPr>
            <p:ph type="body" sz="quarter" idx="3"/>
          </p:nvPr>
        </p:nvSpPr>
        <p:spPr>
          <a:xfrm>
            <a:off x="4751070"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751070"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7" name="Date Placeholder 6"/>
          <p:cNvSpPr>
            <a:spLocks noGrp="1"/>
          </p:cNvSpPr>
          <p:nvPr>
            <p:ph type="dt" sz="half" idx="10"/>
          </p:nvPr>
        </p:nvSpPr>
        <p:spPr/>
        <p:txBody>
          <a:bodyPr/>
          <a:lstStyle/>
          <a:p>
            <a:fld id="{21111D1B-9013-1A45-9539-CDF5183CCA81}" type="datetime1">
              <a:rPr lang="en-GB" smtClean="0">
                <a:solidFill>
                  <a:prstClr val="white"/>
                </a:solidFill>
              </a:rPr>
              <a:pPr/>
              <a:t>17/11/2017</a:t>
            </a:fld>
            <a:endParaRPr lang="en-US">
              <a:solidFill>
                <a:prstClr val="white"/>
              </a:solidFill>
            </a:endParaRPr>
          </a:p>
        </p:txBody>
      </p:sp>
      <p:sp>
        <p:nvSpPr>
          <p:cNvPr id="8" name="Footer Placeholder 7"/>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9" name="Slide Number Placeholder 8"/>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5310815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Date Placeholder 2"/>
          <p:cNvSpPr>
            <a:spLocks noGrp="1"/>
          </p:cNvSpPr>
          <p:nvPr>
            <p:ph type="dt" sz="half" idx="10"/>
          </p:nvPr>
        </p:nvSpPr>
        <p:spPr/>
        <p:txBody>
          <a:bodyPr/>
          <a:lstStyle/>
          <a:p>
            <a:fld id="{B1D117E4-F70A-6946-A09A-2DA0EE1858D4}" type="datetime1">
              <a:rPr lang="en-GB" smtClean="0">
                <a:solidFill>
                  <a:prstClr val="white"/>
                </a:solidFill>
              </a:rPr>
              <a:pPr/>
              <a:t>17/11/2017</a:t>
            </a:fld>
            <a:endParaRPr lang="en-US">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5" name="Slide Number Placeholder 4"/>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0280681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6722E-FA8A-4942-A9A2-FDCADB3A9103}" type="datetime1">
              <a:rPr lang="en-GB" smtClean="0">
                <a:solidFill>
                  <a:prstClr val="white"/>
                </a:solidFill>
              </a:rPr>
              <a:pPr/>
              <a:t>17/11/2017</a:t>
            </a:fld>
            <a:endParaRPr lang="en-US">
              <a:solidFill>
                <a:prstClr val="white"/>
              </a:solidFill>
            </a:endParaRPr>
          </a:p>
        </p:txBody>
      </p:sp>
      <p:sp>
        <p:nvSpPr>
          <p:cNvPr id="3" name="Footer Placeholder 2"/>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4" name="Slide Number Placeholder 3"/>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77821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611872"/>
            <a:ext cx="3840480" cy="1162050"/>
          </a:xfrm>
        </p:spPr>
        <p:txBody>
          <a:bodyPr anchor="b"/>
          <a:lstStyle>
            <a:lvl1pPr algn="ctr">
              <a:defRPr sz="3600" b="0"/>
            </a:lvl1pPr>
          </a:lstStyle>
          <a:p>
            <a:r>
              <a:rPr lang="en-GB" smtClean="0"/>
              <a:t>Click to edit Master title style</a:t>
            </a:r>
            <a:endParaRPr/>
          </a:p>
        </p:txBody>
      </p:sp>
      <p:sp>
        <p:nvSpPr>
          <p:cNvPr id="3" name="Content Placeholder 2"/>
          <p:cNvSpPr>
            <a:spLocks noGrp="1"/>
          </p:cNvSpPr>
          <p:nvPr>
            <p:ph idx="1"/>
          </p:nvPr>
        </p:nvSpPr>
        <p:spPr>
          <a:xfrm>
            <a:off x="4742824" y="368300"/>
            <a:ext cx="384048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Text Placeholder 3"/>
          <p:cNvSpPr>
            <a:spLocks noGrp="1"/>
          </p:cNvSpPr>
          <p:nvPr>
            <p:ph type="body" sz="half" idx="2"/>
          </p:nvPr>
        </p:nvSpPr>
        <p:spPr>
          <a:xfrm>
            <a:off x="533399" y="1787856"/>
            <a:ext cx="3840480"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9BBE0AE1-2B90-2346-839E-218EDC6EE9D2}" type="datetime1">
              <a:rPr lang="en-GB" smtClean="0">
                <a:solidFill>
                  <a:prstClr val="white"/>
                </a:solidFill>
              </a:rPr>
              <a:pPr/>
              <a:t>17/11/2017</a:t>
            </a:fld>
            <a:endParaRPr lang="en-US">
              <a:solidFill>
                <a:prstClr val="white"/>
              </a:solidFill>
            </a:endParaRPr>
          </a:p>
        </p:txBody>
      </p:sp>
      <p:sp>
        <p:nvSpPr>
          <p:cNvPr id="6" name="Footer Placeholder 5"/>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7" name="Slide Number Placeholder 6"/>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1699525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8" y="611872"/>
            <a:ext cx="4079545" cy="1162050"/>
          </a:xfrm>
        </p:spPr>
        <p:txBody>
          <a:bodyPr anchor="b"/>
          <a:lstStyle>
            <a:lvl1pPr algn="ctr">
              <a:defRPr sz="3600" b="0"/>
            </a:lvl1pPr>
          </a:lstStyle>
          <a:p>
            <a:r>
              <a:rPr lang="en-GB" smtClean="0"/>
              <a:t>Click to edit Master title style</a:t>
            </a:r>
            <a:endParaRPr/>
          </a:p>
        </p:txBody>
      </p:sp>
      <p:sp>
        <p:nvSpPr>
          <p:cNvPr id="4" name="Text Placeholder 3"/>
          <p:cNvSpPr>
            <a:spLocks noGrp="1"/>
          </p:cNvSpPr>
          <p:nvPr>
            <p:ph type="body" sz="half" idx="2"/>
          </p:nvPr>
        </p:nvSpPr>
        <p:spPr>
          <a:xfrm>
            <a:off x="533398" y="1787856"/>
            <a:ext cx="4079545"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FC175750-1083-914D-89FA-E9A42E0C6148}" type="datetime1">
              <a:rPr lang="en-GB" smtClean="0">
                <a:solidFill>
                  <a:prstClr val="white"/>
                </a:solidFill>
              </a:rPr>
              <a:pPr/>
              <a:t>17/11/2017</a:t>
            </a:fld>
            <a:endParaRPr lang="en-US">
              <a:solidFill>
                <a:prstClr val="white"/>
              </a:solidFill>
            </a:endParaRPr>
          </a:p>
        </p:txBody>
      </p:sp>
      <p:sp>
        <p:nvSpPr>
          <p:cNvPr id="6" name="Footer Placeholder 5"/>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7" name="Slide Number Placeholder 6"/>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
        <p:nvSpPr>
          <p:cNvPr id="8" name="Picture Placeholder 2"/>
          <p:cNvSpPr>
            <a:spLocks noGrp="1"/>
          </p:cNvSpPr>
          <p:nvPr>
            <p:ph type="pic" idx="1"/>
          </p:nvPr>
        </p:nvSpPr>
        <p:spPr>
          <a:xfrm>
            <a:off x="5090617" y="359392"/>
            <a:ext cx="3657600" cy="5318077"/>
          </a:xfr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smtClean="0"/>
              <a:t>Drag picture to placeholder or click icon to add</a:t>
            </a:r>
            <a:endParaRPr/>
          </a:p>
        </p:txBody>
      </p:sp>
    </p:spTree>
    <p:extLst>
      <p:ext uri="{BB962C8B-B14F-4D97-AF65-F5344CB8AC3E}">
        <p14:creationId xmlns:p14="http://schemas.microsoft.com/office/powerpoint/2010/main" val="1653595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Date Placeholder 3"/>
          <p:cNvSpPr>
            <a:spLocks noGrp="1"/>
          </p:cNvSpPr>
          <p:nvPr>
            <p:ph type="dt" sz="half" idx="10"/>
          </p:nvPr>
        </p:nvSpPr>
        <p:spPr/>
        <p:txBody>
          <a:bodyPr/>
          <a:lstStyle/>
          <a:p>
            <a:fld id="{6E89C457-956B-3647-8145-E1C23BC7F6FE}" type="datetime1">
              <a:rPr lang="en-GB" smtClean="0">
                <a:solidFill>
                  <a:prstClr val="white"/>
                </a:solidFill>
              </a:rPr>
              <a:pPr/>
              <a:t>17/11/2017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6955940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368301"/>
            <a:ext cx="1524000" cy="5575300"/>
          </a:xfrm>
        </p:spPr>
        <p:txBody>
          <a:bodyPr vert="eaVert"/>
          <a:lstStyle/>
          <a:p>
            <a:r>
              <a:rPr lang="en-GB" smtClean="0"/>
              <a:t>Click to edit Master title style</a:t>
            </a:r>
            <a:endParaRPr/>
          </a:p>
        </p:txBody>
      </p:sp>
      <p:sp>
        <p:nvSpPr>
          <p:cNvPr id="3" name="Vertical Text Placeholder 2"/>
          <p:cNvSpPr>
            <a:spLocks noGrp="1"/>
          </p:cNvSpPr>
          <p:nvPr>
            <p:ph type="body" orient="vert" idx="1"/>
          </p:nvPr>
        </p:nvSpPr>
        <p:spPr>
          <a:xfrm>
            <a:off x="549274" y="368301"/>
            <a:ext cx="6689726" cy="5575300"/>
          </a:xfrm>
        </p:spPr>
        <p:txBody>
          <a:bodyPr vert="eaVert"/>
          <a:lstStyle>
            <a:lvl5pPr>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Date Placeholder 3"/>
          <p:cNvSpPr>
            <a:spLocks noGrp="1"/>
          </p:cNvSpPr>
          <p:nvPr>
            <p:ph type="dt" sz="half" idx="10"/>
          </p:nvPr>
        </p:nvSpPr>
        <p:spPr/>
        <p:txBody>
          <a:bodyPr/>
          <a:lstStyle/>
          <a:p>
            <a:fld id="{380E00D6-3F8A-C44E-825D-9B265E0411A9}" type="datetime1">
              <a:rPr lang="en-GB" smtClean="0">
                <a:solidFill>
                  <a:prstClr val="white"/>
                </a:solidFill>
              </a:rPr>
              <a:pPr/>
              <a:t>17/11/2017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441401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9629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mn-ea"/>
                <a:cs typeface="+mn-cs"/>
              </a:defRPr>
            </a:lvl1pPr>
          </a:lstStyle>
          <a:p>
            <a:pPr>
              <a:defRPr/>
            </a:pPr>
            <a:endParaRPr lang="en-GB"/>
          </a:p>
        </p:txBody>
      </p:sp>
      <p:sp>
        <p:nvSpPr>
          <p:cNvPr id="39629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mn-ea"/>
                <a:cs typeface="+mn-cs"/>
              </a:defRPr>
            </a:lvl1pPr>
          </a:lstStyle>
          <a:p>
            <a:pPr>
              <a:defRPr/>
            </a:pPr>
            <a:endParaRPr lang="en-GB"/>
          </a:p>
        </p:txBody>
      </p:sp>
      <p:sp>
        <p:nvSpPr>
          <p:cNvPr id="39629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C050D478-3140-DB48-AFF1-76642BC528CE}"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713"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107576"/>
            <a:ext cx="8042276" cy="1336956"/>
          </a:xfrm>
          <a:prstGeom prst="rect">
            <a:avLst/>
          </a:prstGeom>
        </p:spPr>
        <p:txBody>
          <a:bodyPr vert="horz" lIns="91440" tIns="45720" rIns="91440" bIns="45720" rtlCol="0" anchor="b" anchorCtr="0">
            <a:noAutofit/>
          </a:bodyPr>
          <a:lstStyle/>
          <a:p>
            <a:r>
              <a:rPr lang="en-GB" smtClean="0"/>
              <a:t>Click to edit Master title style</a:t>
            </a:r>
            <a:endParaRPr/>
          </a:p>
        </p:txBody>
      </p:sp>
      <p:sp>
        <p:nvSpPr>
          <p:cNvPr id="3" name="Text Placeholder 2"/>
          <p:cNvSpPr>
            <a:spLocks noGrp="1"/>
          </p:cNvSpPr>
          <p:nvPr>
            <p:ph type="body" idx="1"/>
          </p:nvPr>
        </p:nvSpPr>
        <p:spPr>
          <a:xfrm>
            <a:off x="549275" y="1600201"/>
            <a:ext cx="8042276" cy="43434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Date Placeholder 3"/>
          <p:cNvSpPr>
            <a:spLocks noGrp="1"/>
          </p:cNvSpPr>
          <p:nvPr>
            <p:ph type="dt" sz="half" idx="2"/>
          </p:nvPr>
        </p:nvSpPr>
        <p:spPr>
          <a:xfrm>
            <a:off x="5629835" y="6275668"/>
            <a:ext cx="2133600" cy="365125"/>
          </a:xfrm>
          <a:prstGeom prst="rect">
            <a:avLst/>
          </a:prstGeom>
        </p:spPr>
        <p:txBody>
          <a:bodyPr vert="horz" lIns="91440" tIns="45720" rIns="91440" bIns="45720" rtlCol="0" anchor="ctr"/>
          <a:lstStyle>
            <a:lvl1pPr algn="r">
              <a:defRPr sz="1200">
                <a:solidFill>
                  <a:schemeClr val="bg1"/>
                </a:solidFill>
              </a:defRPr>
            </a:lvl1pPr>
          </a:lstStyle>
          <a:p>
            <a:pPr defTabSz="457200" fontAlgn="auto">
              <a:spcBef>
                <a:spcPts val="0"/>
              </a:spcBef>
              <a:spcAft>
                <a:spcPts val="0"/>
              </a:spcAft>
            </a:pPr>
            <a:fld id="{D6E60ADF-6E3D-7242-84DC-6CAD9338BEB6}" type="datetime1">
              <a:rPr lang="en-GB" smtClean="0">
                <a:solidFill>
                  <a:prstClr val="white"/>
                </a:solidFill>
                <a:latin typeface="News Gothic MT"/>
                <a:ea typeface="+mn-ea"/>
                <a:cs typeface="+mn-cs"/>
              </a:rPr>
              <a:pPr defTabSz="457200" fontAlgn="auto">
                <a:spcBef>
                  <a:spcPts val="0"/>
                </a:spcBef>
                <a:spcAft>
                  <a:spcPts val="0"/>
                </a:spcAft>
              </a:pPr>
              <a:t>17/11/2017</a:t>
            </a:fld>
            <a:endParaRPr lang="en-US">
              <a:solidFill>
                <a:prstClr val="white"/>
              </a:solidFill>
              <a:latin typeface="News Gothic MT"/>
              <a:ea typeface="+mn-ea"/>
              <a:cs typeface="+mn-cs"/>
            </a:endParaRPr>
          </a:p>
        </p:txBody>
      </p:sp>
      <p:sp>
        <p:nvSpPr>
          <p:cNvPr id="5" name="Footer Placeholder 4"/>
          <p:cNvSpPr>
            <a:spLocks noGrp="1"/>
          </p:cNvSpPr>
          <p:nvPr>
            <p:ph type="ftr" sz="quarter" idx="3"/>
          </p:nvPr>
        </p:nvSpPr>
        <p:spPr>
          <a:xfrm>
            <a:off x="264458" y="6275668"/>
            <a:ext cx="4840941" cy="365125"/>
          </a:xfrm>
          <a:prstGeom prst="rect">
            <a:avLst/>
          </a:prstGeom>
        </p:spPr>
        <p:txBody>
          <a:bodyPr vert="horz" lIns="91440" tIns="45720" rIns="91440" bIns="45720" rtlCol="0" anchor="ctr"/>
          <a:lstStyle>
            <a:lvl1pPr algn="l">
              <a:defRPr sz="1200">
                <a:solidFill>
                  <a:schemeClr val="bg1"/>
                </a:solidFill>
              </a:defRPr>
            </a:lvl1pPr>
          </a:lstStyle>
          <a:p>
            <a:pPr defTabSz="457200" fontAlgn="auto">
              <a:spcBef>
                <a:spcPts val="0"/>
              </a:spcBef>
              <a:spcAft>
                <a:spcPts val="0"/>
              </a:spcAft>
            </a:pPr>
            <a:r>
              <a:rPr lang="en-US" smtClean="0">
                <a:solidFill>
                  <a:prstClr val="white"/>
                </a:solidFill>
                <a:latin typeface="News Gothic MT"/>
                <a:ea typeface="+mn-ea"/>
                <a:cs typeface="+mn-cs"/>
              </a:rPr>
              <a:t>www.head-ways.co.uk</a:t>
            </a:r>
            <a:endParaRPr lang="en-US">
              <a:solidFill>
                <a:prstClr val="white"/>
              </a:solidFill>
              <a:latin typeface="News Gothic MT"/>
              <a:ea typeface="+mn-ea"/>
              <a:cs typeface="+mn-cs"/>
            </a:endParaRPr>
          </a:p>
        </p:txBody>
      </p:sp>
      <p:sp>
        <p:nvSpPr>
          <p:cNvPr id="6" name="Slide Number Placeholder 5"/>
          <p:cNvSpPr>
            <a:spLocks noGrp="1"/>
          </p:cNvSpPr>
          <p:nvPr>
            <p:ph type="sldNum" sz="quarter" idx="4"/>
          </p:nvPr>
        </p:nvSpPr>
        <p:spPr>
          <a:xfrm>
            <a:off x="7897906" y="6275668"/>
            <a:ext cx="990600" cy="365125"/>
          </a:xfrm>
          <a:prstGeom prst="rect">
            <a:avLst/>
          </a:prstGeom>
        </p:spPr>
        <p:txBody>
          <a:bodyPr vert="horz" lIns="91440" tIns="45720" rIns="91440" bIns="45720" rtlCol="0" anchor="ctr"/>
          <a:lstStyle>
            <a:lvl1pPr algn="r">
              <a:defRPr sz="3600">
                <a:solidFill>
                  <a:schemeClr val="bg1"/>
                </a:solidFill>
              </a:defRPr>
            </a:lvl1pPr>
          </a:lstStyle>
          <a:p>
            <a:pPr defTabSz="457200" fontAlgn="auto">
              <a:spcBef>
                <a:spcPts val="0"/>
              </a:spcBef>
              <a:spcAft>
                <a:spcPts val="0"/>
              </a:spcAft>
            </a:pPr>
            <a:fld id="{05941128-ED90-C541-AAA2-A2AE6E9B5366}" type="slidenum">
              <a:rPr lang="en-US" smtClean="0">
                <a:solidFill>
                  <a:prstClr val="white"/>
                </a:solidFill>
                <a:latin typeface="News Gothic MT"/>
                <a:ea typeface="+mn-ea"/>
                <a:cs typeface="+mn-cs"/>
              </a:rPr>
              <a:pPr defTabSz="457200" fontAlgn="auto">
                <a:spcBef>
                  <a:spcPts val="0"/>
                </a:spcBef>
                <a:spcAft>
                  <a:spcPts val="0"/>
                </a:spcAft>
              </a:pPr>
              <a:t>‹#›</a:t>
            </a:fld>
            <a:endParaRPr lang="en-US">
              <a:solidFill>
                <a:prstClr val="white"/>
              </a:solidFill>
              <a:latin typeface="News Gothic MT"/>
              <a:ea typeface="+mn-ea"/>
              <a:cs typeface="+mn-cs"/>
            </a:endParaRPr>
          </a:p>
        </p:txBody>
      </p:sp>
    </p:spTree>
    <p:extLst>
      <p:ext uri="{BB962C8B-B14F-4D97-AF65-F5344CB8AC3E}">
        <p14:creationId xmlns:p14="http://schemas.microsoft.com/office/powerpoint/2010/main" val="1902491062"/>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sldNum="0" hdr="0" dt="0"/>
  <p:txStyles>
    <p:titleStyle>
      <a:lvl1pPr algn="ctr" defTabSz="914400" rtl="0" eaLnBrk="1" latinLnBrk="0" hangingPunct="1">
        <a:spcBef>
          <a:spcPct val="0"/>
        </a:spcBef>
        <a:buNone/>
        <a:defRPr sz="4600" kern="1200">
          <a:solidFill>
            <a:schemeClr val="accent1"/>
          </a:solidFill>
          <a:latin typeface="+mj-lt"/>
          <a:ea typeface="+mj-ea"/>
          <a:cs typeface="+mj-cs"/>
        </a:defRPr>
      </a:lvl1pPr>
    </p:titleStyle>
    <p:bodyStyle>
      <a:lvl1pPr marL="349250" indent="-349250" algn="l" defTabSz="914400" rtl="0" eaLnBrk="1" latinLnBrk="0" hangingPunct="1">
        <a:spcBef>
          <a:spcPts val="2000"/>
        </a:spcBef>
        <a:buClr>
          <a:schemeClr val="accent1">
            <a:lumMod val="60000"/>
            <a:lumOff val="40000"/>
          </a:schemeClr>
        </a:buClr>
        <a:buSzPct val="110000"/>
        <a:buFont typeface="Wingdings 2" pitchFamily="18" charset="2"/>
        <a:buChar char=""/>
        <a:defRPr sz="24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75000"/>
          </a:schemeClr>
        </a:buClr>
        <a:buSzPct val="110000"/>
        <a:buFont typeface="Wingdings 2" pitchFamily="18" charset="2"/>
        <a:buChar char=""/>
        <a:defRPr sz="2200" kern="1200">
          <a:solidFill>
            <a:schemeClr val="tx1">
              <a:lumMod val="65000"/>
              <a:lumOff val="35000"/>
            </a:schemeClr>
          </a:solidFill>
          <a:latin typeface="+mn-lt"/>
          <a:ea typeface="+mn-ea"/>
          <a:cs typeface="+mn-cs"/>
        </a:defRPr>
      </a:lvl2pPr>
      <a:lvl3pPr marL="96837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2000" kern="1200">
          <a:solidFill>
            <a:schemeClr val="tx1">
              <a:lumMod val="65000"/>
              <a:lumOff val="35000"/>
            </a:schemeClr>
          </a:solidFill>
          <a:latin typeface="+mn-lt"/>
          <a:ea typeface="+mn-ea"/>
          <a:cs typeface="+mn-cs"/>
        </a:defRPr>
      </a:lvl3pPr>
      <a:lvl4pPr marL="1263650" indent="-295275" algn="l" defTabSz="914400" rtl="0" eaLnBrk="1" latinLnBrk="0" hangingPunct="1">
        <a:spcBef>
          <a:spcPts val="600"/>
        </a:spcBef>
        <a:buClr>
          <a:schemeClr val="accent1">
            <a:lumMod val="75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4pPr>
      <a:lvl5pPr marL="154622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5pPr>
      <a:lvl6pPr marL="1828800"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1177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398713"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26892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8.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3.xml"/><Relationship Id="rId5" Type="http://schemas.openxmlformats.org/officeDocument/2006/relationships/image" Target="../media/image18.jpe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image" Target="../media/image17.gif"/><Relationship Id="rId1" Type="http://schemas.openxmlformats.org/officeDocument/2006/relationships/slideLayout" Target="../slideLayouts/slideLayout8.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7.jpg"/></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hyperlink" Target="http://www.google.co.uk/url?sa=i&amp;rct=j&amp;q=&amp;esrc=s&amp;source=images&amp;cd=&amp;cad=rja&amp;uact=8&amp;ved=0CAcQjRxqFQoTCIyGgJSnjcgCFWia2wodeGkMOA&amp;url=http://www.gracepointwellness.org/5-depression/article/13009-sociology-of-depression-effects-of-culture&amp;psig=AFQjCNEegioJEQ6CadZ3MCUvN1EkNC7sog&amp;ust=1443102834646483" TargetMode="Externa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6.jpeg"/><Relationship Id="rId7" Type="http://schemas.openxmlformats.org/officeDocument/2006/relationships/diagramColors" Target="../diagrams/colors4.xml"/><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sz="quarter" idx="4294967295"/>
          </p:nvPr>
        </p:nvSpPr>
        <p:spPr>
          <a:xfrm>
            <a:off x="827088" y="549275"/>
            <a:ext cx="7678737" cy="1800225"/>
          </a:xfrm>
          <a:solidFill>
            <a:srgbClr val="FFF9A1"/>
          </a:solidFill>
          <a:ln w="50800">
            <a:solidFill>
              <a:srgbClr val="FF0000"/>
            </a:solidFill>
            <a:miter lim="800000"/>
            <a:headEnd/>
            <a:tailEnd/>
          </a:ln>
        </p:spPr>
        <p:txBody>
          <a:bodyPr/>
          <a:lstStyle/>
          <a:p>
            <a:pPr eaLnBrk="1" hangingPunct="1"/>
            <a:r>
              <a:rPr lang="en-GB" sz="3200" dirty="0">
                <a:latin typeface="Arial" charset="0"/>
              </a:rPr>
              <a:t/>
            </a:r>
            <a:br>
              <a:rPr lang="en-GB" sz="3200" dirty="0">
                <a:latin typeface="Arial" charset="0"/>
              </a:rPr>
            </a:br>
            <a:r>
              <a:rPr lang="en-GB" sz="3200" dirty="0">
                <a:solidFill>
                  <a:schemeClr val="accent2"/>
                </a:solidFill>
                <a:latin typeface="Arial" charset="0"/>
              </a:rPr>
              <a:t> </a:t>
            </a:r>
            <a:br>
              <a:rPr lang="en-GB" sz="3200" dirty="0">
                <a:solidFill>
                  <a:schemeClr val="accent2"/>
                </a:solidFill>
                <a:latin typeface="Arial" charset="0"/>
              </a:rPr>
            </a:br>
            <a:r>
              <a:rPr lang="en-GB" sz="4000" b="1" dirty="0" smtClean="0">
                <a:solidFill>
                  <a:srgbClr val="FF6600"/>
                </a:solidFill>
                <a:latin typeface="Arial" charset="0"/>
              </a:rPr>
              <a:t>Dynamic Assessment</a:t>
            </a:r>
            <a:br>
              <a:rPr lang="en-GB" sz="4000" b="1" dirty="0" smtClean="0">
                <a:solidFill>
                  <a:srgbClr val="FF6600"/>
                </a:solidFill>
                <a:latin typeface="Arial" charset="0"/>
              </a:rPr>
            </a:br>
            <a:r>
              <a:rPr lang="en-GB" sz="3200" dirty="0" smtClean="0">
                <a:solidFill>
                  <a:srgbClr val="FF6600"/>
                </a:solidFill>
                <a:latin typeface="Arial" charset="0"/>
              </a:rPr>
              <a:t>Introductory session – Learning theories</a:t>
            </a:r>
            <a:r>
              <a:rPr lang="en-GB" sz="4000" dirty="0">
                <a:solidFill>
                  <a:srgbClr val="3390FF"/>
                </a:solidFill>
                <a:latin typeface="Arial" charset="0"/>
              </a:rPr>
              <a:t/>
            </a:r>
            <a:br>
              <a:rPr lang="en-GB" sz="4000" dirty="0">
                <a:solidFill>
                  <a:srgbClr val="3390FF"/>
                </a:solidFill>
                <a:latin typeface="Arial" charset="0"/>
              </a:rPr>
            </a:br>
            <a:r>
              <a:rPr lang="en-GB" sz="4000" dirty="0">
                <a:solidFill>
                  <a:srgbClr val="FF6600"/>
                </a:solidFill>
                <a:latin typeface="Arial" charset="0"/>
              </a:rPr>
              <a:t/>
            </a:r>
            <a:br>
              <a:rPr lang="en-GB" sz="4000" dirty="0">
                <a:solidFill>
                  <a:srgbClr val="FF6600"/>
                </a:solidFill>
                <a:latin typeface="Arial" charset="0"/>
              </a:rPr>
            </a:br>
            <a:endParaRPr lang="en-GB" sz="4000" dirty="0">
              <a:solidFill>
                <a:srgbClr val="FF6600"/>
              </a:solidFill>
              <a:latin typeface="Arial" charset="0"/>
            </a:endParaRPr>
          </a:p>
        </p:txBody>
      </p:sp>
      <p:sp>
        <p:nvSpPr>
          <p:cNvPr id="19458" name="Rectangle 3"/>
          <p:cNvSpPr>
            <a:spLocks noChangeArrowheads="1"/>
          </p:cNvSpPr>
          <p:nvPr/>
        </p:nvSpPr>
        <p:spPr bwMode="auto">
          <a:xfrm>
            <a:off x="323850" y="2636838"/>
            <a:ext cx="838200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GB" sz="4800">
                <a:solidFill>
                  <a:srgbClr val="000000"/>
                </a:solidFill>
              </a:rPr>
              <a:t/>
            </a:r>
            <a:br>
              <a:rPr lang="en-GB" sz="4800">
                <a:solidFill>
                  <a:srgbClr val="000000"/>
                </a:solidFill>
              </a:rPr>
            </a:br>
            <a:r>
              <a:rPr lang="en-GB" sz="4800">
                <a:solidFill>
                  <a:srgbClr val="000000"/>
                </a:solidFill>
              </a:rPr>
              <a:t/>
            </a:r>
            <a:br>
              <a:rPr lang="en-GB" sz="4800">
                <a:solidFill>
                  <a:srgbClr val="000000"/>
                </a:solidFill>
              </a:rPr>
            </a:br>
            <a:endParaRPr lang="en-GB" sz="4800">
              <a:solidFill>
                <a:srgbClr val="000000"/>
              </a:solidFill>
            </a:endParaRPr>
          </a:p>
        </p:txBody>
      </p:sp>
      <p:sp>
        <p:nvSpPr>
          <p:cNvPr id="19459" name="Text Box 4"/>
          <p:cNvSpPr txBox="1">
            <a:spLocks noChangeArrowheads="1"/>
          </p:cNvSpPr>
          <p:nvPr/>
        </p:nvSpPr>
        <p:spPr bwMode="auto">
          <a:xfrm>
            <a:off x="304800" y="29718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endParaRPr lang="en-US">
              <a:solidFill>
                <a:srgbClr val="000000"/>
              </a:solidFill>
            </a:endParaRPr>
          </a:p>
        </p:txBody>
      </p:sp>
      <p:pic>
        <p:nvPicPr>
          <p:cNvPr id="19460" name="Picture 3"/>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076825" y="2565400"/>
            <a:ext cx="3743325"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8" name="Text Box 12"/>
          <p:cNvSpPr txBox="1">
            <a:spLocks noChangeArrowheads="1"/>
          </p:cNvSpPr>
          <p:nvPr/>
        </p:nvSpPr>
        <p:spPr bwMode="auto">
          <a:xfrm>
            <a:off x="755576" y="2924944"/>
            <a:ext cx="424815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sz="4000" dirty="0" smtClean="0">
                <a:solidFill>
                  <a:srgbClr val="FF6600"/>
                </a:solidFill>
                <a:latin typeface="Calibri" charset="0"/>
                <a:cs typeface="+mn-cs"/>
              </a:rPr>
              <a:t>Dr Klair </a:t>
            </a:r>
            <a:r>
              <a:rPr lang="en-GB" sz="4000" dirty="0">
                <a:solidFill>
                  <a:srgbClr val="FF6600"/>
                </a:solidFill>
                <a:latin typeface="Calibri" charset="0"/>
                <a:cs typeface="+mn-cs"/>
              </a:rPr>
              <a:t>Norman</a:t>
            </a:r>
          </a:p>
          <a:p>
            <a:pPr algn="ctr">
              <a:spcBef>
                <a:spcPct val="50000"/>
              </a:spcBef>
              <a:defRPr/>
            </a:pPr>
            <a:endParaRPr lang="en-GB" sz="1600" dirty="0">
              <a:latin typeface="Calibri" charset="0"/>
              <a:cs typeface="+mn-cs"/>
            </a:endParaRPr>
          </a:p>
          <a:p>
            <a:pPr algn="ctr">
              <a:spcBef>
                <a:spcPct val="50000"/>
              </a:spcBef>
              <a:defRPr/>
            </a:pPr>
            <a:r>
              <a:rPr lang="en-GB" sz="2800" dirty="0" smtClean="0">
                <a:solidFill>
                  <a:srgbClr val="7FAF1F"/>
                </a:solidFill>
                <a:latin typeface="Calibri" charset="0"/>
                <a:cs typeface="+mn-cs"/>
              </a:rPr>
              <a:t>Academic Programme Tutor (Y3) </a:t>
            </a:r>
            <a:r>
              <a:rPr lang="en-GB" sz="2800" dirty="0">
                <a:solidFill>
                  <a:srgbClr val="3390FF"/>
                </a:solidFill>
                <a:latin typeface="Calibri" charset="0"/>
                <a:cs typeface="+mn-cs"/>
              </a:rPr>
              <a:t>/ </a:t>
            </a:r>
            <a:r>
              <a:rPr lang="en-GB" sz="2800" smtClean="0">
                <a:solidFill>
                  <a:srgbClr val="3390FF"/>
                </a:solidFill>
                <a:latin typeface="Calibri" charset="0"/>
                <a:cs typeface="+mn-cs"/>
              </a:rPr>
              <a:t>EP Bournemouth </a:t>
            </a:r>
            <a:r>
              <a:rPr lang="en-GB" sz="2800" dirty="0" smtClean="0">
                <a:solidFill>
                  <a:srgbClr val="3390FF"/>
                </a:solidFill>
                <a:latin typeface="Calibri" charset="0"/>
                <a:cs typeface="+mn-cs"/>
              </a:rPr>
              <a:t>Council</a:t>
            </a:r>
            <a:endParaRPr lang="en-GB" sz="2800" dirty="0">
              <a:solidFill>
                <a:srgbClr val="3390FF"/>
              </a:solidFill>
              <a:latin typeface="Calibri" charset="0"/>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extBox 3"/>
          <p:cNvSpPr txBox="1">
            <a:spLocks noChangeArrowheads="1"/>
          </p:cNvSpPr>
          <p:nvPr/>
        </p:nvSpPr>
        <p:spPr bwMode="auto">
          <a:xfrm>
            <a:off x="323850" y="981075"/>
            <a:ext cx="8280400" cy="6986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lnSpc>
                <a:spcPct val="250000"/>
              </a:lnSpc>
              <a:spcAft>
                <a:spcPts val="1200"/>
              </a:spcAft>
              <a:buFont typeface="Arial" charset="0"/>
              <a:buChar char="•"/>
            </a:pPr>
            <a:r>
              <a:rPr lang="en-GB" sz="2000" dirty="0" smtClean="0">
                <a:solidFill>
                  <a:srgbClr val="FF6600"/>
                </a:solidFill>
                <a:latin typeface="Calibri" charset="0"/>
              </a:rPr>
              <a:t>To revise, revisit and critically appraise theories of learning and intelligence                                                                                   </a:t>
            </a:r>
          </a:p>
          <a:p>
            <a:pPr eaLnBrk="1" hangingPunct="1">
              <a:lnSpc>
                <a:spcPct val="150000"/>
              </a:lnSpc>
              <a:spcAft>
                <a:spcPts val="1200"/>
              </a:spcAft>
              <a:buFont typeface="Arial" charset="0"/>
              <a:buChar char="•"/>
            </a:pPr>
            <a:r>
              <a:rPr lang="en-GB" sz="2000" dirty="0" smtClean="0">
                <a:solidFill>
                  <a:srgbClr val="7FAF1F"/>
                </a:solidFill>
                <a:latin typeface="Calibri" charset="0"/>
              </a:rPr>
              <a:t>To have a basic theoretical grounding in key learning theories that take account of the environmental and socio-cultural aspects of intellectual development and to recognise how these inform Dynamic Assessment    </a:t>
            </a:r>
            <a:endParaRPr lang="en-GB" sz="2000" dirty="0">
              <a:solidFill>
                <a:srgbClr val="7FAF1F"/>
              </a:solidFill>
              <a:latin typeface="Calibri" charset="0"/>
            </a:endParaRPr>
          </a:p>
          <a:p>
            <a:pPr eaLnBrk="1" hangingPunct="1">
              <a:lnSpc>
                <a:spcPct val="150000"/>
              </a:lnSpc>
              <a:spcAft>
                <a:spcPts val="1200"/>
              </a:spcAft>
              <a:buFont typeface="Arial" charset="0"/>
              <a:buChar char="•"/>
            </a:pPr>
            <a:r>
              <a:rPr lang="en-GB" sz="2000" dirty="0">
                <a:solidFill>
                  <a:srgbClr val="3390FF"/>
                </a:solidFill>
                <a:latin typeface="Calibri" charset="0"/>
              </a:rPr>
              <a:t>To </a:t>
            </a:r>
            <a:r>
              <a:rPr lang="en-GB" sz="2000" dirty="0" smtClean="0">
                <a:solidFill>
                  <a:srgbClr val="3390FF"/>
                </a:solidFill>
                <a:latin typeface="Calibri" charset="0"/>
              </a:rPr>
              <a:t>gain </a:t>
            </a:r>
            <a:r>
              <a:rPr lang="en-GB" sz="2000" dirty="0" smtClean="0">
                <a:solidFill>
                  <a:srgbClr val="3390FF"/>
                </a:solidFill>
                <a:latin typeface="Calibri"/>
                <a:cs typeface="Calibri"/>
              </a:rPr>
              <a:t>knowledge </a:t>
            </a:r>
            <a:r>
              <a:rPr lang="en-US" sz="2000" dirty="0" smtClean="0">
                <a:solidFill>
                  <a:srgbClr val="3390FF"/>
                </a:solidFill>
                <a:latin typeface="Calibri"/>
                <a:cs typeface="Calibri"/>
              </a:rPr>
              <a:t>of </a:t>
            </a:r>
            <a:r>
              <a:rPr lang="en-US" sz="2000" dirty="0">
                <a:solidFill>
                  <a:srgbClr val="3390FF"/>
                </a:solidFill>
                <a:latin typeface="Calibri"/>
                <a:cs typeface="Calibri"/>
              </a:rPr>
              <a:t>the range of cognitive abilities that the learner brings to their learning</a:t>
            </a:r>
            <a:r>
              <a:rPr lang="en-US" sz="2000" dirty="0" smtClean="0">
                <a:solidFill>
                  <a:srgbClr val="3390FF"/>
                </a:solidFill>
                <a:latin typeface="Calibri"/>
                <a:cs typeface="Calibri"/>
              </a:rPr>
              <a:t>.</a:t>
            </a:r>
            <a:endParaRPr lang="en-GB" sz="2000" dirty="0">
              <a:solidFill>
                <a:srgbClr val="3390FF"/>
              </a:solidFill>
              <a:latin typeface="Calibri" charset="0"/>
            </a:endParaRPr>
          </a:p>
          <a:p>
            <a:pPr eaLnBrk="1" hangingPunct="1">
              <a:lnSpc>
                <a:spcPct val="150000"/>
              </a:lnSpc>
              <a:spcAft>
                <a:spcPts val="1200"/>
              </a:spcAft>
              <a:buFont typeface="Arial" charset="0"/>
              <a:buChar char="•"/>
            </a:pPr>
            <a:r>
              <a:rPr lang="en-GB" sz="2000" dirty="0" smtClean="0">
                <a:solidFill>
                  <a:srgbClr val="FF0000"/>
                </a:solidFill>
                <a:latin typeface="Calibri" charset="0"/>
              </a:rPr>
              <a:t>To consider what current evidence tells us about                                       learning and how this might influence the role and actions                             of an EP</a:t>
            </a:r>
            <a:endParaRPr lang="en-GB" sz="2000" dirty="0">
              <a:solidFill>
                <a:srgbClr val="FF0000"/>
              </a:solidFill>
              <a:latin typeface="Calibri" charset="0"/>
            </a:endParaRPr>
          </a:p>
          <a:p>
            <a:pPr marL="457200" indent="-457200" eaLnBrk="1" hangingPunct="1">
              <a:lnSpc>
                <a:spcPct val="250000"/>
              </a:lnSpc>
              <a:buFont typeface="+mj-lt"/>
              <a:buAutoNum type="arabicPeriod"/>
              <a:defRPr/>
            </a:pPr>
            <a:endParaRPr lang="en-GB" sz="2000" dirty="0" smtClean="0">
              <a:solidFill>
                <a:srgbClr val="FF6600"/>
              </a:solidFill>
              <a:latin typeface="Calibri" charset="0"/>
            </a:endParaRPr>
          </a:p>
          <a:p>
            <a:pPr marL="0" indent="0" eaLnBrk="1" hangingPunct="1">
              <a:lnSpc>
                <a:spcPct val="250000"/>
              </a:lnSpc>
              <a:defRPr/>
            </a:pPr>
            <a:endParaRPr lang="en-GB" sz="2000" dirty="0" smtClean="0">
              <a:latin typeface="Calibri" charset="0"/>
            </a:endParaRPr>
          </a:p>
          <a:p>
            <a:pPr eaLnBrk="1" hangingPunct="1">
              <a:buFont typeface="Arial" charset="0"/>
              <a:buChar char="•"/>
              <a:defRPr/>
            </a:pPr>
            <a:endParaRPr lang="en-GB" sz="1800" dirty="0" smtClean="0">
              <a:latin typeface="Calibri" charset="0"/>
            </a:endParaRPr>
          </a:p>
        </p:txBody>
      </p:sp>
      <p:sp>
        <p:nvSpPr>
          <p:cNvPr id="21506" name="TextBox 4"/>
          <p:cNvSpPr txBox="1">
            <a:spLocks noChangeArrowheads="1"/>
          </p:cNvSpPr>
          <p:nvPr/>
        </p:nvSpPr>
        <p:spPr bwMode="auto">
          <a:xfrm>
            <a:off x="611188" y="236538"/>
            <a:ext cx="34559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GB" sz="4400" b="1"/>
              <a:t>Aims</a:t>
            </a:r>
          </a:p>
        </p:txBody>
      </p:sp>
      <p:pic>
        <p:nvPicPr>
          <p:cNvPr id="21507"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876256" y="4293096"/>
            <a:ext cx="2277770" cy="2564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555776" y="1772816"/>
            <a:ext cx="4466208" cy="4466208"/>
          </a:xfrm>
          <a:prstGeom prst="rect">
            <a:avLst/>
          </a:prstGeom>
        </p:spPr>
      </p:pic>
      <p:sp>
        <p:nvSpPr>
          <p:cNvPr id="4" name="TextBox 3"/>
          <p:cNvSpPr txBox="1"/>
          <p:nvPr/>
        </p:nvSpPr>
        <p:spPr>
          <a:xfrm>
            <a:off x="539552" y="404664"/>
            <a:ext cx="6984776" cy="769441"/>
          </a:xfrm>
          <a:prstGeom prst="rect">
            <a:avLst/>
          </a:prstGeom>
          <a:noFill/>
        </p:spPr>
        <p:txBody>
          <a:bodyPr wrap="square" rtlCol="0">
            <a:spAutoFit/>
          </a:bodyPr>
          <a:lstStyle/>
          <a:p>
            <a:r>
              <a:rPr lang="en-US" sz="4400" b="1" dirty="0" smtClean="0">
                <a:latin typeface="Calibri"/>
                <a:cs typeface="Calibri"/>
              </a:rPr>
              <a:t>Test your knowledge…</a:t>
            </a:r>
            <a:endParaRPr lang="en-US" sz="4400" b="1" dirty="0">
              <a:latin typeface="Calibri"/>
              <a:cs typeface="Calibri"/>
            </a:endParaRPr>
          </a:p>
        </p:txBody>
      </p:sp>
    </p:spTree>
    <p:extLst>
      <p:ext uri="{BB962C8B-B14F-4D97-AF65-F5344CB8AC3E}">
        <p14:creationId xmlns:p14="http://schemas.microsoft.com/office/powerpoint/2010/main" val="1425962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62000" y="1098550"/>
            <a:ext cx="3456827" cy="2114426"/>
          </a:xfrm>
          <a:prstGeom prst="rect">
            <a:avLst/>
          </a:prstGeom>
        </p:spPr>
      </p:pic>
      <p:pic>
        <p:nvPicPr>
          <p:cNvPr id="3" name="Picture 2" descr="Piaget.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508104" y="620688"/>
            <a:ext cx="2517654" cy="2526893"/>
          </a:xfrm>
          <a:prstGeom prst="rect">
            <a:avLst/>
          </a:prstGeom>
        </p:spPr>
      </p:pic>
      <p:pic>
        <p:nvPicPr>
          <p:cNvPr id="4" name="Picture 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051720" y="3645024"/>
            <a:ext cx="2053588" cy="2610827"/>
          </a:xfrm>
          <a:prstGeom prst="rect">
            <a:avLst/>
          </a:prstGeom>
        </p:spPr>
      </p:pic>
      <p:pic>
        <p:nvPicPr>
          <p:cNvPr id="6" name="Picture 5"/>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5004048" y="3831412"/>
            <a:ext cx="3260204" cy="2238050"/>
          </a:xfrm>
          <a:prstGeom prst="rect">
            <a:avLst/>
          </a:prstGeom>
        </p:spPr>
      </p:pic>
    </p:spTree>
    <p:extLst>
      <p:ext uri="{BB962C8B-B14F-4D97-AF65-F5344CB8AC3E}">
        <p14:creationId xmlns:p14="http://schemas.microsoft.com/office/powerpoint/2010/main" val="401524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
        <p:nvSpPr>
          <p:cNvPr id="2" name="Chevron 1"/>
          <p:cNvSpPr/>
          <p:nvPr/>
        </p:nvSpPr>
        <p:spPr>
          <a:xfrm>
            <a:off x="1115616" y="1844824"/>
            <a:ext cx="2952328" cy="792088"/>
          </a:xfrm>
          <a:prstGeom prst="chevron">
            <a:avLst/>
          </a:prstGeom>
          <a:solidFill>
            <a:srgbClr val="7FAF1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4" name="Chevron 3"/>
          <p:cNvSpPr/>
          <p:nvPr/>
        </p:nvSpPr>
        <p:spPr>
          <a:xfrm>
            <a:off x="3203848" y="3284984"/>
            <a:ext cx="2952328" cy="792088"/>
          </a:xfrm>
          <a:prstGeom prst="chevron">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6" name="Chevron 5"/>
          <p:cNvSpPr/>
          <p:nvPr/>
        </p:nvSpPr>
        <p:spPr>
          <a:xfrm>
            <a:off x="5148064" y="4797152"/>
            <a:ext cx="2952328" cy="792088"/>
          </a:xfrm>
          <a:prstGeom prst="chevron">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p:cNvSpPr txBox="1"/>
          <p:nvPr/>
        </p:nvSpPr>
        <p:spPr>
          <a:xfrm>
            <a:off x="1547664" y="1916832"/>
            <a:ext cx="2736304" cy="738664"/>
          </a:xfrm>
          <a:prstGeom prst="rect">
            <a:avLst/>
          </a:prstGeom>
          <a:noFill/>
        </p:spPr>
        <p:txBody>
          <a:bodyPr wrap="square" rtlCol="0">
            <a:spAutoFit/>
          </a:bodyPr>
          <a:lstStyle/>
          <a:p>
            <a:r>
              <a:rPr lang="en-US" sz="2400" dirty="0" smtClean="0"/>
              <a:t>Watson/Skinner</a:t>
            </a:r>
          </a:p>
          <a:p>
            <a:endParaRPr lang="en-US" dirty="0"/>
          </a:p>
        </p:txBody>
      </p:sp>
      <p:sp>
        <p:nvSpPr>
          <p:cNvPr id="7" name="TextBox 6"/>
          <p:cNvSpPr txBox="1"/>
          <p:nvPr/>
        </p:nvSpPr>
        <p:spPr>
          <a:xfrm>
            <a:off x="3347864" y="3356992"/>
            <a:ext cx="2736304" cy="461665"/>
          </a:xfrm>
          <a:prstGeom prst="rect">
            <a:avLst/>
          </a:prstGeom>
          <a:noFill/>
        </p:spPr>
        <p:txBody>
          <a:bodyPr wrap="square" rtlCol="0">
            <a:spAutoFit/>
          </a:bodyPr>
          <a:lstStyle/>
          <a:p>
            <a:pPr algn="ctr"/>
            <a:r>
              <a:rPr lang="en-US" sz="2400" dirty="0" smtClean="0"/>
              <a:t>Piaget </a:t>
            </a:r>
            <a:endParaRPr lang="en-US" sz="2400" dirty="0"/>
          </a:p>
        </p:txBody>
      </p:sp>
      <p:sp>
        <p:nvSpPr>
          <p:cNvPr id="9" name="TextBox 8"/>
          <p:cNvSpPr txBox="1"/>
          <p:nvPr/>
        </p:nvSpPr>
        <p:spPr>
          <a:xfrm>
            <a:off x="5508104" y="4941168"/>
            <a:ext cx="2160240" cy="461665"/>
          </a:xfrm>
          <a:prstGeom prst="rect">
            <a:avLst/>
          </a:prstGeom>
          <a:noFill/>
        </p:spPr>
        <p:txBody>
          <a:bodyPr wrap="square" rtlCol="0">
            <a:spAutoFit/>
          </a:bodyPr>
          <a:lstStyle/>
          <a:p>
            <a:pPr algn="ctr"/>
            <a:r>
              <a:rPr lang="en-US" sz="2400" dirty="0" smtClean="0"/>
              <a:t>Bandura</a:t>
            </a:r>
            <a:endParaRPr lang="en-US" sz="2400" dirty="0"/>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9512" y="3861048"/>
            <a:ext cx="2687176" cy="268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21711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
        <p:nvSpPr>
          <p:cNvPr id="2" name="Chevron 1"/>
          <p:cNvSpPr/>
          <p:nvPr/>
        </p:nvSpPr>
        <p:spPr>
          <a:xfrm>
            <a:off x="611560" y="1484784"/>
            <a:ext cx="2952328" cy="792088"/>
          </a:xfrm>
          <a:prstGeom prst="chevron">
            <a:avLst/>
          </a:prstGeom>
          <a:solidFill>
            <a:srgbClr val="7FAF1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p:cNvSpPr txBox="1"/>
          <p:nvPr/>
        </p:nvSpPr>
        <p:spPr>
          <a:xfrm>
            <a:off x="971600" y="1628800"/>
            <a:ext cx="2736304" cy="738664"/>
          </a:xfrm>
          <a:prstGeom prst="rect">
            <a:avLst/>
          </a:prstGeom>
          <a:noFill/>
        </p:spPr>
        <p:txBody>
          <a:bodyPr wrap="square" rtlCol="0">
            <a:spAutoFit/>
          </a:bodyPr>
          <a:lstStyle/>
          <a:p>
            <a:r>
              <a:rPr lang="en-US" sz="2400" dirty="0" smtClean="0"/>
              <a:t>Watson/Skinner</a:t>
            </a:r>
          </a:p>
          <a:p>
            <a:endParaRPr lang="en-US" dirty="0"/>
          </a:p>
        </p:txBody>
      </p:sp>
      <p:sp>
        <p:nvSpPr>
          <p:cNvPr id="10" name="TextBox 9"/>
          <p:cNvSpPr txBox="1"/>
          <p:nvPr/>
        </p:nvSpPr>
        <p:spPr>
          <a:xfrm>
            <a:off x="755576" y="2636912"/>
            <a:ext cx="8136904" cy="3847207"/>
          </a:xfrm>
          <a:prstGeom prst="rect">
            <a:avLst/>
          </a:prstGeom>
          <a:noFill/>
        </p:spPr>
        <p:txBody>
          <a:bodyPr wrap="square" rtlCol="0">
            <a:spAutoFit/>
          </a:bodyPr>
          <a:lstStyle/>
          <a:p>
            <a:pPr marL="285750" indent="-285750">
              <a:buFont typeface="Arial"/>
              <a:buChar char="•"/>
            </a:pPr>
            <a:r>
              <a:rPr lang="en-US" sz="2800" dirty="0" smtClean="0"/>
              <a:t>Operant conditioning and ‘Law of Effect’</a:t>
            </a:r>
          </a:p>
          <a:p>
            <a:pPr marL="285750" indent="-285750">
              <a:buFont typeface="Arial"/>
              <a:buChar char="•"/>
            </a:pPr>
            <a:endParaRPr lang="en-US" sz="2800" dirty="0"/>
          </a:p>
          <a:p>
            <a:pPr marL="285750" indent="-285750">
              <a:buFont typeface="Arial"/>
              <a:buChar char="•"/>
            </a:pPr>
            <a:r>
              <a:rPr lang="en-US" sz="2800" dirty="0" smtClean="0"/>
              <a:t>Informs sanction and reward systems of many modern schools</a:t>
            </a:r>
          </a:p>
          <a:p>
            <a:pPr marL="285750" indent="-285750">
              <a:buFont typeface="Arial"/>
              <a:buChar char="•"/>
            </a:pPr>
            <a:endParaRPr lang="en-US" sz="2800" dirty="0"/>
          </a:p>
          <a:p>
            <a:pPr marL="285750" indent="-285750">
              <a:buFont typeface="Arial"/>
              <a:buChar char="•"/>
            </a:pPr>
            <a:r>
              <a:rPr lang="en-US" sz="2800" dirty="0" smtClean="0">
                <a:solidFill>
                  <a:srgbClr val="8C8CF0"/>
                </a:solidFill>
              </a:rPr>
              <a:t>Tends to overlook the importance of intrinsic motivation and some evidence suggests rewards and praise can be deleterious</a:t>
            </a:r>
          </a:p>
          <a:p>
            <a:pPr marL="285750" indent="-285750">
              <a:buFont typeface="Arial"/>
              <a:buChar char="•"/>
            </a:pPr>
            <a:endParaRPr lang="en-US" sz="2000" dirty="0"/>
          </a:p>
        </p:txBody>
      </p:sp>
    </p:spTree>
    <p:extLst>
      <p:ext uri="{BB962C8B-B14F-4D97-AF65-F5344CB8AC3E}">
        <p14:creationId xmlns:p14="http://schemas.microsoft.com/office/powerpoint/2010/main" val="28602364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hevron 7"/>
          <p:cNvSpPr/>
          <p:nvPr/>
        </p:nvSpPr>
        <p:spPr>
          <a:xfrm>
            <a:off x="467544" y="1484784"/>
            <a:ext cx="2952328" cy="792088"/>
          </a:xfrm>
          <a:prstGeom prst="chevron">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
        <p:nvSpPr>
          <p:cNvPr id="10" name="TextBox 9"/>
          <p:cNvSpPr txBox="1"/>
          <p:nvPr/>
        </p:nvSpPr>
        <p:spPr>
          <a:xfrm>
            <a:off x="683568" y="2579906"/>
            <a:ext cx="8136904" cy="4278094"/>
          </a:xfrm>
          <a:prstGeom prst="rect">
            <a:avLst/>
          </a:prstGeom>
          <a:noFill/>
        </p:spPr>
        <p:txBody>
          <a:bodyPr wrap="square" rtlCol="0">
            <a:spAutoFit/>
          </a:bodyPr>
          <a:lstStyle/>
          <a:p>
            <a:pPr marL="285750" indent="-285750">
              <a:buFont typeface="Arial"/>
              <a:buChar char="•"/>
            </a:pPr>
            <a:r>
              <a:rPr lang="en-US" sz="2800" dirty="0" smtClean="0"/>
              <a:t>Assimilation and accommodation. Baseline assessments to inform learning.</a:t>
            </a:r>
          </a:p>
          <a:p>
            <a:endParaRPr lang="en-US" sz="2800" dirty="0" smtClean="0"/>
          </a:p>
          <a:p>
            <a:pPr marL="285750" indent="-285750">
              <a:buFont typeface="Arial"/>
              <a:buChar char="•"/>
            </a:pPr>
            <a:r>
              <a:rPr lang="en-US" sz="2800" dirty="0" smtClean="0"/>
              <a:t>Developmental stage theory (sensorimotor, preoperational, concrete, formal) and assessments of cognitive capacities.</a:t>
            </a:r>
            <a:endParaRPr lang="en-US" sz="2800" dirty="0"/>
          </a:p>
          <a:p>
            <a:endParaRPr lang="en-US" sz="2800" dirty="0"/>
          </a:p>
          <a:p>
            <a:pPr marL="285750" indent="-285750">
              <a:buFont typeface="Arial"/>
              <a:buChar char="•"/>
            </a:pPr>
            <a:r>
              <a:rPr lang="en-US" sz="2800" dirty="0" smtClean="0">
                <a:solidFill>
                  <a:srgbClr val="8C8CF0"/>
                </a:solidFill>
              </a:rPr>
              <a:t>Underestimates children’s abilities and overlooks cultural effects</a:t>
            </a:r>
          </a:p>
          <a:p>
            <a:pPr marL="285750" indent="-285750">
              <a:buFont typeface="Arial"/>
              <a:buChar char="•"/>
            </a:pPr>
            <a:endParaRPr lang="en-US" sz="2000" dirty="0"/>
          </a:p>
        </p:txBody>
      </p:sp>
      <p:sp>
        <p:nvSpPr>
          <p:cNvPr id="7" name="TextBox 6"/>
          <p:cNvSpPr txBox="1"/>
          <p:nvPr/>
        </p:nvSpPr>
        <p:spPr>
          <a:xfrm>
            <a:off x="683568" y="1628800"/>
            <a:ext cx="2736304" cy="461665"/>
          </a:xfrm>
          <a:prstGeom prst="rect">
            <a:avLst/>
          </a:prstGeom>
          <a:noFill/>
        </p:spPr>
        <p:txBody>
          <a:bodyPr wrap="square" rtlCol="0">
            <a:spAutoFit/>
          </a:bodyPr>
          <a:lstStyle/>
          <a:p>
            <a:pPr algn="ctr"/>
            <a:r>
              <a:rPr lang="en-US" sz="2400" dirty="0" smtClean="0"/>
              <a:t>Piaget</a:t>
            </a:r>
            <a:endParaRPr lang="en-US" sz="2400" dirty="0"/>
          </a:p>
        </p:txBody>
      </p:sp>
    </p:spTree>
    <p:extLst>
      <p:ext uri="{BB962C8B-B14F-4D97-AF65-F5344CB8AC3E}">
        <p14:creationId xmlns:p14="http://schemas.microsoft.com/office/powerpoint/2010/main" val="12130637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
        <p:nvSpPr>
          <p:cNvPr id="10" name="TextBox 9"/>
          <p:cNvSpPr txBox="1"/>
          <p:nvPr/>
        </p:nvSpPr>
        <p:spPr>
          <a:xfrm>
            <a:off x="755576" y="2636912"/>
            <a:ext cx="8136904" cy="3416320"/>
          </a:xfrm>
          <a:prstGeom prst="rect">
            <a:avLst/>
          </a:prstGeom>
          <a:noFill/>
        </p:spPr>
        <p:txBody>
          <a:bodyPr wrap="square" rtlCol="0">
            <a:spAutoFit/>
          </a:bodyPr>
          <a:lstStyle/>
          <a:p>
            <a:pPr marL="285750" indent="-285750">
              <a:buFont typeface="Arial"/>
              <a:buChar char="•"/>
            </a:pPr>
            <a:r>
              <a:rPr lang="en-US" sz="2800" dirty="0" smtClean="0"/>
              <a:t>Social learning theory</a:t>
            </a:r>
          </a:p>
          <a:p>
            <a:endParaRPr lang="en-US" sz="2800" dirty="0" smtClean="0"/>
          </a:p>
          <a:p>
            <a:pPr marL="285750" indent="-285750">
              <a:buFont typeface="Arial"/>
              <a:buChar char="•"/>
            </a:pPr>
            <a:r>
              <a:rPr lang="en-US" sz="2800" dirty="0" smtClean="0"/>
              <a:t>The importance of observational learning, modelling and reciprocal determinism </a:t>
            </a:r>
            <a:endParaRPr lang="en-US" sz="2800" dirty="0"/>
          </a:p>
          <a:p>
            <a:endParaRPr lang="en-US" sz="2800" dirty="0"/>
          </a:p>
          <a:p>
            <a:pPr marL="285750" indent="-285750">
              <a:buFont typeface="Arial"/>
              <a:buChar char="•"/>
            </a:pPr>
            <a:r>
              <a:rPr lang="en-US" sz="2800" dirty="0" smtClean="0">
                <a:solidFill>
                  <a:srgbClr val="8C8CF0"/>
                </a:solidFill>
              </a:rPr>
              <a:t>Ignores physiological states and learning differences</a:t>
            </a:r>
          </a:p>
          <a:p>
            <a:pPr marL="285750" indent="-285750">
              <a:buFont typeface="Arial"/>
              <a:buChar char="•"/>
            </a:pPr>
            <a:endParaRPr lang="en-US" sz="2000" dirty="0"/>
          </a:p>
        </p:txBody>
      </p:sp>
      <p:sp>
        <p:nvSpPr>
          <p:cNvPr id="6" name="Chevron 5"/>
          <p:cNvSpPr/>
          <p:nvPr/>
        </p:nvSpPr>
        <p:spPr>
          <a:xfrm>
            <a:off x="467544" y="1484784"/>
            <a:ext cx="2952328" cy="792088"/>
          </a:xfrm>
          <a:prstGeom prst="chevron">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899592" y="1628800"/>
            <a:ext cx="2160240" cy="461665"/>
          </a:xfrm>
          <a:prstGeom prst="rect">
            <a:avLst/>
          </a:prstGeom>
          <a:noFill/>
        </p:spPr>
        <p:txBody>
          <a:bodyPr wrap="square" rtlCol="0">
            <a:spAutoFit/>
          </a:bodyPr>
          <a:lstStyle/>
          <a:p>
            <a:pPr algn="ctr"/>
            <a:r>
              <a:rPr lang="en-US" sz="2400" dirty="0" smtClean="0"/>
              <a:t>Bandura</a:t>
            </a:r>
            <a:endParaRPr lang="en-US" sz="2400" dirty="0"/>
          </a:p>
        </p:txBody>
      </p:sp>
    </p:spTree>
    <p:extLst>
      <p:ext uri="{BB962C8B-B14F-4D97-AF65-F5344CB8AC3E}">
        <p14:creationId xmlns:p14="http://schemas.microsoft.com/office/powerpoint/2010/main" val="33113432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90801663"/>
              </p:ext>
            </p:extLst>
          </p:nvPr>
        </p:nvGraphicFramePr>
        <p:xfrm>
          <a:off x="1259632" y="1628800"/>
          <a:ext cx="6696744" cy="4608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Tree>
    <p:extLst>
      <p:ext uri="{BB962C8B-B14F-4D97-AF65-F5344CB8AC3E}">
        <p14:creationId xmlns:p14="http://schemas.microsoft.com/office/powerpoint/2010/main" val="2232974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96189470"/>
              </p:ext>
            </p:extLst>
          </p:nvPr>
        </p:nvGraphicFramePr>
        <p:xfrm>
          <a:off x="1259632" y="1628800"/>
          <a:ext cx="6696744" cy="4608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Tree>
    <p:extLst>
      <p:ext uri="{BB962C8B-B14F-4D97-AF65-F5344CB8AC3E}">
        <p14:creationId xmlns:p14="http://schemas.microsoft.com/office/powerpoint/2010/main" val="891704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536" y="548680"/>
            <a:ext cx="1862845" cy="1490276"/>
            <a:chOff x="56549" y="1229452"/>
            <a:chExt cx="1862845" cy="1490276"/>
          </a:xfrm>
        </p:grpSpPr>
        <p:sp>
          <p:nvSpPr>
            <p:cNvPr id="3" name="Rounded Rectangle 2"/>
            <p:cNvSpPr/>
            <p:nvPr/>
          </p:nvSpPr>
          <p:spPr>
            <a:xfrm>
              <a:off x="56549" y="1229452"/>
              <a:ext cx="1862845" cy="1490276"/>
            </a:xfrm>
            <a:prstGeom prst="roundRect">
              <a:avLst>
                <a:gd name="adj" fmla="val 10000"/>
              </a:avLst>
            </a:prstGeom>
            <a:solidFill>
              <a:schemeClr val="accent5">
                <a:lumMod val="50000"/>
              </a:schemeClr>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100198" y="1273101"/>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b="0" kern="1200" dirty="0" err="1" smtClean="0">
                  <a:solidFill>
                    <a:schemeClr val="tx1"/>
                  </a:solidFill>
                </a:rPr>
                <a:t>Vygotsky</a:t>
              </a:r>
              <a:endParaRPr lang="en-US" sz="2700" b="0" kern="1200" dirty="0">
                <a:solidFill>
                  <a:schemeClr val="tx1"/>
                </a:solidFill>
              </a:endParaRPr>
            </a:p>
          </p:txBody>
        </p:sp>
      </p:grpSp>
      <p:sp>
        <p:nvSpPr>
          <p:cNvPr id="5" name="TextBox 4"/>
          <p:cNvSpPr txBox="1"/>
          <p:nvPr/>
        </p:nvSpPr>
        <p:spPr>
          <a:xfrm>
            <a:off x="2483768" y="692696"/>
            <a:ext cx="6552728" cy="1015663"/>
          </a:xfrm>
          <a:prstGeom prst="rect">
            <a:avLst/>
          </a:prstGeom>
          <a:noFill/>
        </p:spPr>
        <p:txBody>
          <a:bodyPr wrap="square" rtlCol="0">
            <a:spAutoFit/>
          </a:bodyPr>
          <a:lstStyle/>
          <a:p>
            <a:r>
              <a:rPr lang="en-US" sz="2000" b="1" i="1" dirty="0" smtClean="0">
                <a:solidFill>
                  <a:srgbClr val="4583A3"/>
                </a:solidFill>
              </a:rPr>
              <a:t>Intellectual development results from interplay between spontaneous natural development and the social interaction of children with adults and peers</a:t>
            </a:r>
            <a:endParaRPr lang="en-US" sz="2000" b="1" i="1" dirty="0">
              <a:solidFill>
                <a:srgbClr val="4583A3"/>
              </a:solidFill>
            </a:endParaRPr>
          </a:p>
        </p:txBody>
      </p:sp>
      <p:sp>
        <p:nvSpPr>
          <p:cNvPr id="6" name="TextBox 5"/>
          <p:cNvSpPr txBox="1"/>
          <p:nvPr/>
        </p:nvSpPr>
        <p:spPr>
          <a:xfrm>
            <a:off x="611560" y="2420888"/>
            <a:ext cx="7920880" cy="3416320"/>
          </a:xfrm>
          <a:prstGeom prst="rect">
            <a:avLst/>
          </a:prstGeom>
          <a:noFill/>
        </p:spPr>
        <p:txBody>
          <a:bodyPr wrap="square" rtlCol="0">
            <a:spAutoFit/>
          </a:bodyPr>
          <a:lstStyle/>
          <a:p>
            <a:pPr marL="342900" indent="-342900">
              <a:buFont typeface="Arial"/>
              <a:buChar char="•"/>
            </a:pPr>
            <a:r>
              <a:rPr lang="en-US" sz="2400" dirty="0" smtClean="0"/>
              <a:t>The concept of PSYCHOLOGICAL TOOLS</a:t>
            </a:r>
          </a:p>
          <a:p>
            <a:pPr marL="342900" indent="-342900">
              <a:buFont typeface="Arial"/>
              <a:buChar char="•"/>
            </a:pPr>
            <a:endParaRPr lang="en-US" sz="2400" dirty="0"/>
          </a:p>
          <a:p>
            <a:pPr marL="342900" indent="-342900">
              <a:buFont typeface="Arial"/>
              <a:buChar char="•"/>
            </a:pPr>
            <a:r>
              <a:rPr lang="en-US" sz="2400" dirty="0" smtClean="0"/>
              <a:t>The role of MEDIATION in the development of intellectual functioning</a:t>
            </a:r>
          </a:p>
          <a:p>
            <a:pPr marL="342900" indent="-342900">
              <a:buFont typeface="Arial"/>
              <a:buChar char="•"/>
            </a:pPr>
            <a:endParaRPr lang="en-US" sz="2400" dirty="0"/>
          </a:p>
          <a:p>
            <a:pPr marL="342900" indent="-342900">
              <a:buFont typeface="Arial"/>
              <a:buChar char="•"/>
            </a:pPr>
            <a:r>
              <a:rPr lang="en-US" sz="2400" dirty="0" smtClean="0"/>
              <a:t>The role of social adaptation through interaction with MORE COMPETENT OTHERS</a:t>
            </a:r>
          </a:p>
          <a:p>
            <a:pPr marL="342900" indent="-342900">
              <a:buFont typeface="Arial"/>
              <a:buChar char="•"/>
            </a:pPr>
            <a:endParaRPr lang="en-US" sz="2400" dirty="0"/>
          </a:p>
          <a:p>
            <a:pPr marL="342900" indent="-342900">
              <a:buFont typeface="Arial"/>
              <a:buChar char="•"/>
            </a:pPr>
            <a:r>
              <a:rPr lang="en-US" sz="2400" dirty="0" smtClean="0"/>
              <a:t>The Zone of Proximal Development (ZPD)</a:t>
            </a:r>
            <a:endParaRPr lang="en-US" sz="2400" dirty="0"/>
          </a:p>
        </p:txBody>
      </p:sp>
    </p:spTree>
    <p:extLst>
      <p:ext uri="{BB962C8B-B14F-4D97-AF65-F5344CB8AC3E}">
        <p14:creationId xmlns:p14="http://schemas.microsoft.com/office/powerpoint/2010/main" val="1885978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536" y="548680"/>
            <a:ext cx="1862845" cy="1490276"/>
            <a:chOff x="56549" y="1229452"/>
            <a:chExt cx="1862845" cy="1490276"/>
          </a:xfrm>
        </p:grpSpPr>
        <p:sp>
          <p:nvSpPr>
            <p:cNvPr id="3" name="Rounded Rectangle 2"/>
            <p:cNvSpPr/>
            <p:nvPr/>
          </p:nvSpPr>
          <p:spPr>
            <a:xfrm>
              <a:off x="56549" y="1229452"/>
              <a:ext cx="1862845" cy="1490276"/>
            </a:xfrm>
            <a:prstGeom prst="roundRect">
              <a:avLst>
                <a:gd name="adj" fmla="val 10000"/>
              </a:avLst>
            </a:prstGeom>
            <a:solidFill>
              <a:schemeClr val="accent5">
                <a:lumMod val="50000"/>
              </a:schemeClr>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100198" y="1273101"/>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b="0" kern="1200" dirty="0" err="1" smtClean="0">
                  <a:solidFill>
                    <a:schemeClr val="tx1"/>
                  </a:solidFill>
                </a:rPr>
                <a:t>Vygotsky</a:t>
              </a:r>
              <a:endParaRPr lang="en-US" sz="2700" b="0" kern="1200" dirty="0">
                <a:solidFill>
                  <a:schemeClr val="tx1"/>
                </a:solidFill>
              </a:endParaRPr>
            </a:p>
          </p:txBody>
        </p:sp>
      </p:grpSp>
      <p:sp>
        <p:nvSpPr>
          <p:cNvPr id="5" name="TextBox 4"/>
          <p:cNvSpPr txBox="1"/>
          <p:nvPr/>
        </p:nvSpPr>
        <p:spPr>
          <a:xfrm>
            <a:off x="2483768" y="692696"/>
            <a:ext cx="6552728" cy="1015663"/>
          </a:xfrm>
          <a:prstGeom prst="rect">
            <a:avLst/>
          </a:prstGeom>
          <a:noFill/>
        </p:spPr>
        <p:txBody>
          <a:bodyPr wrap="square" rtlCol="0">
            <a:spAutoFit/>
          </a:bodyPr>
          <a:lstStyle/>
          <a:p>
            <a:r>
              <a:rPr lang="en-US" sz="2000" b="1" i="1" dirty="0" smtClean="0">
                <a:solidFill>
                  <a:srgbClr val="4583A3"/>
                </a:solidFill>
              </a:rPr>
              <a:t>Intellectual development results from interplay between spontaneous natural development and the social interaction of children with adults and peers</a:t>
            </a:r>
            <a:endParaRPr lang="en-US" sz="2000" b="1" i="1" dirty="0">
              <a:solidFill>
                <a:srgbClr val="4583A3"/>
              </a:solidFill>
            </a:endParaRPr>
          </a:p>
        </p:txBody>
      </p:sp>
      <p:pic>
        <p:nvPicPr>
          <p:cNvPr id="7" name="Picture 6"/>
          <p:cNvPicPr>
            <a:picLocks noChangeAspect="1"/>
          </p:cNvPicPr>
          <p:nvPr/>
        </p:nvPicPr>
        <p:blipFill>
          <a:blip r:embed="rId2"/>
          <a:stretch>
            <a:fillRect/>
          </a:stretch>
        </p:blipFill>
        <p:spPr>
          <a:xfrm>
            <a:off x="1907704" y="2096852"/>
            <a:ext cx="5868144" cy="4401108"/>
          </a:xfrm>
          <a:prstGeom prst="rect">
            <a:avLst/>
          </a:prstGeom>
        </p:spPr>
      </p:pic>
      <p:sp>
        <p:nvSpPr>
          <p:cNvPr id="8" name="TextBox 7"/>
          <p:cNvSpPr txBox="1"/>
          <p:nvPr/>
        </p:nvSpPr>
        <p:spPr>
          <a:xfrm>
            <a:off x="179512" y="3933056"/>
            <a:ext cx="3024336" cy="2631490"/>
          </a:xfrm>
          <a:prstGeom prst="rect">
            <a:avLst/>
          </a:prstGeom>
          <a:noFill/>
        </p:spPr>
        <p:txBody>
          <a:bodyPr wrap="square" rtlCol="0">
            <a:spAutoFit/>
          </a:bodyPr>
          <a:lstStyle/>
          <a:p>
            <a:r>
              <a:rPr lang="en-US" sz="1500" dirty="0" smtClean="0"/>
              <a:t>The distance between a child’s “actual development level as determined by independent problem solving” and the higher level of “potential development as determined through problem solving with adult guidance or in collaboration with more capable peers”</a:t>
            </a:r>
          </a:p>
          <a:p>
            <a:endParaRPr lang="en-US" sz="1500" dirty="0"/>
          </a:p>
          <a:p>
            <a:r>
              <a:rPr lang="en-US" sz="1500" dirty="0" err="1" smtClean="0"/>
              <a:t>Vygotsky</a:t>
            </a:r>
            <a:r>
              <a:rPr lang="en-US" sz="1500" dirty="0" smtClean="0"/>
              <a:t>, 1978 p.86</a:t>
            </a:r>
            <a:endParaRPr lang="en-US" sz="1500" dirty="0"/>
          </a:p>
        </p:txBody>
      </p:sp>
    </p:spTree>
    <p:extLst>
      <p:ext uri="{BB962C8B-B14F-4D97-AF65-F5344CB8AC3E}">
        <p14:creationId xmlns:p14="http://schemas.microsoft.com/office/powerpoint/2010/main" val="1741697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536" y="548680"/>
            <a:ext cx="1862845" cy="1490276"/>
            <a:chOff x="56549" y="1229452"/>
            <a:chExt cx="1862845" cy="1490276"/>
          </a:xfrm>
        </p:grpSpPr>
        <p:sp>
          <p:nvSpPr>
            <p:cNvPr id="3" name="Rounded Rectangle 2"/>
            <p:cNvSpPr/>
            <p:nvPr/>
          </p:nvSpPr>
          <p:spPr>
            <a:xfrm>
              <a:off x="56549" y="1229452"/>
              <a:ext cx="1862845" cy="1490276"/>
            </a:xfrm>
            <a:prstGeom prst="roundRect">
              <a:avLst>
                <a:gd name="adj" fmla="val 10000"/>
              </a:avLst>
            </a:prstGeom>
            <a:solidFill>
              <a:schemeClr val="accent5">
                <a:lumMod val="50000"/>
              </a:schemeClr>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100198" y="1273101"/>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b="0" kern="1200" dirty="0" err="1" smtClean="0">
                  <a:solidFill>
                    <a:schemeClr val="tx1"/>
                  </a:solidFill>
                </a:rPr>
                <a:t>Vygotsky</a:t>
              </a:r>
              <a:endParaRPr lang="en-US" sz="2700" b="0" kern="1200" dirty="0">
                <a:solidFill>
                  <a:schemeClr val="tx1"/>
                </a:solidFill>
              </a:endParaRPr>
            </a:p>
          </p:txBody>
        </p:sp>
      </p:grpSp>
      <p:sp>
        <p:nvSpPr>
          <p:cNvPr id="5" name="TextBox 4"/>
          <p:cNvSpPr txBox="1"/>
          <p:nvPr/>
        </p:nvSpPr>
        <p:spPr>
          <a:xfrm>
            <a:off x="2483768" y="692696"/>
            <a:ext cx="6552728" cy="1015663"/>
          </a:xfrm>
          <a:prstGeom prst="rect">
            <a:avLst/>
          </a:prstGeom>
          <a:noFill/>
        </p:spPr>
        <p:txBody>
          <a:bodyPr wrap="square" rtlCol="0">
            <a:spAutoFit/>
          </a:bodyPr>
          <a:lstStyle/>
          <a:p>
            <a:r>
              <a:rPr lang="en-US" sz="2000" b="1" i="1" dirty="0" smtClean="0">
                <a:solidFill>
                  <a:srgbClr val="4583A3"/>
                </a:solidFill>
              </a:rPr>
              <a:t>Intellectual development results from interplay between spontaneous natural development and the social interaction of children with adults and peers</a:t>
            </a:r>
            <a:endParaRPr lang="en-US" sz="2000" b="1" i="1" dirty="0">
              <a:solidFill>
                <a:srgbClr val="4583A3"/>
              </a:solidFill>
            </a:endParaRPr>
          </a:p>
        </p:txBody>
      </p:sp>
      <p:sp>
        <p:nvSpPr>
          <p:cNvPr id="6" name="TextBox 5"/>
          <p:cNvSpPr txBox="1"/>
          <p:nvPr/>
        </p:nvSpPr>
        <p:spPr>
          <a:xfrm>
            <a:off x="611560" y="2420888"/>
            <a:ext cx="7920880" cy="3046988"/>
          </a:xfrm>
          <a:prstGeom prst="rect">
            <a:avLst/>
          </a:prstGeom>
          <a:noFill/>
        </p:spPr>
        <p:txBody>
          <a:bodyPr wrap="square" rtlCol="0">
            <a:spAutoFit/>
          </a:bodyPr>
          <a:lstStyle/>
          <a:p>
            <a:r>
              <a:rPr lang="en-US" sz="2400" dirty="0" smtClean="0"/>
              <a:t>The exterior position of mediators is necessary to ascertain what learners need to know at any given stage and to help advance the learners at a pace suitable to their capabilities (challenging but not frustrating them)</a:t>
            </a:r>
          </a:p>
          <a:p>
            <a:endParaRPr lang="en-US" sz="2400" dirty="0"/>
          </a:p>
          <a:p>
            <a:r>
              <a:rPr lang="en-US" sz="2400" dirty="0" smtClean="0"/>
              <a:t>To help learners, mediators need to use metacognitive strategies so they can </a:t>
            </a:r>
            <a:r>
              <a:rPr lang="en-US" sz="2400" dirty="0" err="1" smtClean="0"/>
              <a:t>organise</a:t>
            </a:r>
            <a:r>
              <a:rPr lang="en-US" sz="2400" dirty="0" smtClean="0"/>
              <a:t>, integrate, apply and </a:t>
            </a:r>
            <a:r>
              <a:rPr lang="en-US" sz="2400" dirty="0" err="1" smtClean="0"/>
              <a:t>generalise</a:t>
            </a:r>
            <a:r>
              <a:rPr lang="en-US" sz="2400" dirty="0" smtClean="0"/>
              <a:t> new knowledge and skills</a:t>
            </a:r>
            <a:endParaRPr lang="en-US" sz="2400" dirty="0"/>
          </a:p>
        </p:txBody>
      </p:sp>
    </p:spTree>
    <p:extLst>
      <p:ext uri="{BB962C8B-B14F-4D97-AF65-F5344CB8AC3E}">
        <p14:creationId xmlns:p14="http://schemas.microsoft.com/office/powerpoint/2010/main" val="3853713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411760" y="548680"/>
            <a:ext cx="6552728" cy="1631216"/>
          </a:xfrm>
          <a:prstGeom prst="rect">
            <a:avLst/>
          </a:prstGeom>
          <a:noFill/>
        </p:spPr>
        <p:txBody>
          <a:bodyPr wrap="square" rtlCol="0">
            <a:spAutoFit/>
          </a:bodyPr>
          <a:lstStyle/>
          <a:p>
            <a:r>
              <a:rPr lang="en-US" sz="2000" b="1" i="1" dirty="0">
                <a:solidFill>
                  <a:srgbClr val="3390FF"/>
                </a:solidFill>
              </a:rPr>
              <a:t>C</a:t>
            </a:r>
            <a:r>
              <a:rPr lang="en-US" sz="2000" b="1" i="1" dirty="0" smtClean="0">
                <a:solidFill>
                  <a:srgbClr val="3390FF"/>
                </a:solidFill>
              </a:rPr>
              <a:t>omplex </a:t>
            </a:r>
            <a:r>
              <a:rPr lang="en-US" sz="2000" b="1" i="1" dirty="0">
                <a:solidFill>
                  <a:srgbClr val="3390FF"/>
                </a:solidFill>
              </a:rPr>
              <a:t>psychological processes have systemic </a:t>
            </a:r>
            <a:r>
              <a:rPr lang="en-US" sz="2000" b="1" i="1" dirty="0" smtClean="0">
                <a:solidFill>
                  <a:srgbClr val="3390FF"/>
                </a:solidFill>
              </a:rPr>
              <a:t>structure. Each </a:t>
            </a:r>
            <a:r>
              <a:rPr lang="en-US" sz="2000" b="1" i="1" dirty="0">
                <a:solidFill>
                  <a:srgbClr val="3390FF"/>
                </a:solidFill>
              </a:rPr>
              <a:t>form of conscious activity represents a complex functional system and takes place through the concerted working of </a:t>
            </a:r>
            <a:r>
              <a:rPr lang="en-US" sz="2000" b="1" i="1" dirty="0" smtClean="0">
                <a:solidFill>
                  <a:srgbClr val="3390FF"/>
                </a:solidFill>
              </a:rPr>
              <a:t>three </a:t>
            </a:r>
            <a:r>
              <a:rPr lang="en-US" sz="2000" b="1" i="1" dirty="0">
                <a:solidFill>
                  <a:srgbClr val="3390FF"/>
                </a:solidFill>
              </a:rPr>
              <a:t>brain </a:t>
            </a:r>
            <a:r>
              <a:rPr lang="en-US" sz="2000" b="1" i="1" dirty="0" smtClean="0">
                <a:solidFill>
                  <a:srgbClr val="3390FF"/>
                </a:solidFill>
              </a:rPr>
              <a:t>units</a:t>
            </a:r>
            <a:endParaRPr lang="en-US" sz="2000" b="1" i="1" dirty="0">
              <a:solidFill>
                <a:srgbClr val="3390FF"/>
              </a:solidFill>
            </a:endParaRPr>
          </a:p>
        </p:txBody>
      </p:sp>
      <p:sp>
        <p:nvSpPr>
          <p:cNvPr id="6" name="TextBox 5"/>
          <p:cNvSpPr txBox="1"/>
          <p:nvPr/>
        </p:nvSpPr>
        <p:spPr>
          <a:xfrm>
            <a:off x="611560" y="2420888"/>
            <a:ext cx="7920880" cy="3785652"/>
          </a:xfrm>
          <a:prstGeom prst="rect">
            <a:avLst/>
          </a:prstGeom>
          <a:noFill/>
        </p:spPr>
        <p:txBody>
          <a:bodyPr wrap="square" rtlCol="0">
            <a:spAutoFit/>
          </a:bodyPr>
          <a:lstStyle/>
          <a:p>
            <a:pPr marL="342900" indent="-342900">
              <a:buFont typeface="Arial"/>
              <a:buChar char="•"/>
            </a:pPr>
            <a:r>
              <a:rPr lang="en-US" sz="2400" dirty="0"/>
              <a:t>T</a:t>
            </a:r>
            <a:r>
              <a:rPr lang="en-US" sz="2400" dirty="0" smtClean="0"/>
              <a:t>hree </a:t>
            </a:r>
            <a:r>
              <a:rPr lang="en-US" sz="2400" dirty="0"/>
              <a:t>principal </a:t>
            </a:r>
            <a:r>
              <a:rPr lang="en-US" sz="2400" dirty="0" smtClean="0"/>
              <a:t>FUNCTIONAL UNITS </a:t>
            </a:r>
            <a:r>
              <a:rPr lang="en-US" sz="2400" dirty="0"/>
              <a:t>of the brain necessary for human mental </a:t>
            </a:r>
            <a:r>
              <a:rPr lang="en-US" sz="2400" dirty="0" smtClean="0"/>
              <a:t>processes</a:t>
            </a:r>
          </a:p>
          <a:p>
            <a:pPr marL="342900" indent="-342900">
              <a:buFont typeface="Arial"/>
              <a:buChar char="•"/>
            </a:pPr>
            <a:endParaRPr lang="en-US" sz="2400" dirty="0"/>
          </a:p>
          <a:p>
            <a:pPr marL="342900" indent="-342900">
              <a:buFont typeface="Arial"/>
              <a:buChar char="•"/>
            </a:pPr>
            <a:r>
              <a:rPr lang="en-US" sz="2400" dirty="0" smtClean="0"/>
              <a:t>The role of FEEDBACK and SPECIFICITY in the development of intellectual functioning</a:t>
            </a:r>
          </a:p>
          <a:p>
            <a:pPr marL="342900" indent="-342900">
              <a:buFont typeface="Arial"/>
              <a:buChar char="•"/>
            </a:pPr>
            <a:endParaRPr lang="en-US" sz="2400" dirty="0"/>
          </a:p>
          <a:p>
            <a:pPr marL="342900" indent="-342900">
              <a:buFont typeface="Arial"/>
              <a:buChar char="•"/>
            </a:pPr>
            <a:r>
              <a:rPr lang="en-US" sz="2400" dirty="0" smtClean="0"/>
              <a:t>The bottom up development of the brain (where defects of the lower zones affect development of higher zones)</a:t>
            </a:r>
          </a:p>
          <a:p>
            <a:pPr marL="342900" indent="-342900">
              <a:buFont typeface="Arial"/>
              <a:buChar char="•"/>
            </a:pPr>
            <a:endParaRPr lang="en-US" sz="2400" dirty="0"/>
          </a:p>
        </p:txBody>
      </p:sp>
      <p:grpSp>
        <p:nvGrpSpPr>
          <p:cNvPr id="7" name="Group 6"/>
          <p:cNvGrpSpPr/>
          <p:nvPr/>
        </p:nvGrpSpPr>
        <p:grpSpPr>
          <a:xfrm>
            <a:off x="395536" y="548680"/>
            <a:ext cx="1862845" cy="1490276"/>
            <a:chOff x="4777348" y="1229452"/>
            <a:chExt cx="1862845" cy="1490276"/>
          </a:xfrm>
        </p:grpSpPr>
        <p:sp>
          <p:nvSpPr>
            <p:cNvPr id="8" name="Rounded Rectangle 7"/>
            <p:cNvSpPr/>
            <p:nvPr/>
          </p:nvSpPr>
          <p:spPr>
            <a:xfrm>
              <a:off x="4777348" y="1229452"/>
              <a:ext cx="1862845" cy="1490276"/>
            </a:xfrm>
            <a:prstGeom prst="roundRect">
              <a:avLst>
                <a:gd name="adj" fmla="val 10000"/>
              </a:avLst>
            </a:prstGeom>
            <a:solidFill>
              <a:srgbClr val="3390FF"/>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9" name="Rounded Rectangle 4"/>
            <p:cNvSpPr/>
            <p:nvPr/>
          </p:nvSpPr>
          <p:spPr>
            <a:xfrm>
              <a:off x="4820997" y="1273101"/>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Luria</a:t>
              </a:r>
              <a:endParaRPr lang="en-US" sz="2700" kern="1200" dirty="0">
                <a:solidFill>
                  <a:srgbClr val="000000"/>
                </a:solidFill>
              </a:endParaRPr>
            </a:p>
          </p:txBody>
        </p:sp>
      </p:grpSp>
    </p:spTree>
    <p:extLst>
      <p:ext uri="{BB962C8B-B14F-4D97-AF65-F5344CB8AC3E}">
        <p14:creationId xmlns:p14="http://schemas.microsoft.com/office/powerpoint/2010/main" val="3909020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55576" y="1340768"/>
            <a:ext cx="8144954" cy="5245350"/>
          </a:xfrm>
          <a:prstGeom prst="rect">
            <a:avLst/>
          </a:prstGeom>
        </p:spPr>
      </p:pic>
      <p:grpSp>
        <p:nvGrpSpPr>
          <p:cNvPr id="7" name="Group 6"/>
          <p:cNvGrpSpPr/>
          <p:nvPr/>
        </p:nvGrpSpPr>
        <p:grpSpPr>
          <a:xfrm>
            <a:off x="395536" y="548680"/>
            <a:ext cx="1862845" cy="1490276"/>
            <a:chOff x="4777348" y="1229452"/>
            <a:chExt cx="1862845" cy="1490276"/>
          </a:xfrm>
        </p:grpSpPr>
        <p:sp>
          <p:nvSpPr>
            <p:cNvPr id="8" name="Rounded Rectangle 7"/>
            <p:cNvSpPr/>
            <p:nvPr/>
          </p:nvSpPr>
          <p:spPr>
            <a:xfrm>
              <a:off x="4777348" y="1229452"/>
              <a:ext cx="1862845" cy="1490276"/>
            </a:xfrm>
            <a:prstGeom prst="roundRect">
              <a:avLst>
                <a:gd name="adj" fmla="val 10000"/>
              </a:avLst>
            </a:prstGeom>
            <a:solidFill>
              <a:srgbClr val="3390FF"/>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9" name="Rounded Rectangle 4"/>
            <p:cNvSpPr/>
            <p:nvPr/>
          </p:nvSpPr>
          <p:spPr>
            <a:xfrm>
              <a:off x="4820997" y="1273101"/>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Luria</a:t>
              </a:r>
              <a:endParaRPr lang="en-US" sz="2700" kern="1200" dirty="0">
                <a:solidFill>
                  <a:srgbClr val="000000"/>
                </a:solidFill>
              </a:endParaRPr>
            </a:p>
          </p:txBody>
        </p:sp>
      </p:grpSp>
      <p:sp>
        <p:nvSpPr>
          <p:cNvPr id="4" name="TextBox 3"/>
          <p:cNvSpPr txBox="1"/>
          <p:nvPr/>
        </p:nvSpPr>
        <p:spPr>
          <a:xfrm>
            <a:off x="2771800" y="476672"/>
            <a:ext cx="5832648" cy="400110"/>
          </a:xfrm>
          <a:prstGeom prst="rect">
            <a:avLst/>
          </a:prstGeom>
          <a:noFill/>
        </p:spPr>
        <p:txBody>
          <a:bodyPr wrap="square" rtlCol="0">
            <a:spAutoFit/>
          </a:bodyPr>
          <a:lstStyle/>
          <a:p>
            <a:r>
              <a:rPr lang="en-US" sz="2000" b="1" i="1" dirty="0" smtClean="0">
                <a:solidFill>
                  <a:srgbClr val="3390FF"/>
                </a:solidFill>
              </a:rPr>
              <a:t>Influenced NEURODEVELOPMENTAL theories</a:t>
            </a:r>
            <a:endParaRPr lang="en-US" sz="2000" b="1" i="1" dirty="0">
              <a:solidFill>
                <a:srgbClr val="3390FF"/>
              </a:solidFill>
            </a:endParaRPr>
          </a:p>
        </p:txBody>
      </p:sp>
    </p:spTree>
    <p:extLst>
      <p:ext uri="{BB962C8B-B14F-4D97-AF65-F5344CB8AC3E}">
        <p14:creationId xmlns:p14="http://schemas.microsoft.com/office/powerpoint/2010/main" val="2228024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Intelligence:</a:t>
            </a:r>
            <a:endParaRPr lang="en-GB" sz="4400" b="1" dirty="0">
              <a:latin typeface="Nyala" charset="0"/>
            </a:endParaRPr>
          </a:p>
        </p:txBody>
      </p:sp>
      <p:sp>
        <p:nvSpPr>
          <p:cNvPr id="2" name="Chevron 1"/>
          <p:cNvSpPr/>
          <p:nvPr/>
        </p:nvSpPr>
        <p:spPr>
          <a:xfrm>
            <a:off x="1115616" y="1844824"/>
            <a:ext cx="2952328" cy="792088"/>
          </a:xfrm>
          <a:prstGeom prst="chevron">
            <a:avLst/>
          </a:prstGeom>
          <a:solidFill>
            <a:srgbClr val="FFF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4" name="Chevron 3"/>
          <p:cNvSpPr/>
          <p:nvPr/>
        </p:nvSpPr>
        <p:spPr>
          <a:xfrm>
            <a:off x="3203848" y="3284984"/>
            <a:ext cx="2952328" cy="792088"/>
          </a:xfrm>
          <a:prstGeom prst="chevron">
            <a:avLst/>
          </a:prstGeom>
          <a:solidFill>
            <a:srgbClr val="F2B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6" name="Chevron 5"/>
          <p:cNvSpPr/>
          <p:nvPr/>
        </p:nvSpPr>
        <p:spPr>
          <a:xfrm>
            <a:off x="5148064" y="4797152"/>
            <a:ext cx="2952328" cy="792088"/>
          </a:xfrm>
          <a:prstGeom prst="chevron">
            <a:avLst/>
          </a:prstGeom>
          <a:solidFill>
            <a:srgbClr val="E27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p:cNvSpPr txBox="1"/>
          <p:nvPr/>
        </p:nvSpPr>
        <p:spPr>
          <a:xfrm>
            <a:off x="1547664" y="1916832"/>
            <a:ext cx="2736304" cy="738664"/>
          </a:xfrm>
          <a:prstGeom prst="rect">
            <a:avLst/>
          </a:prstGeom>
          <a:noFill/>
        </p:spPr>
        <p:txBody>
          <a:bodyPr wrap="square" rtlCol="0">
            <a:spAutoFit/>
          </a:bodyPr>
          <a:lstStyle/>
          <a:p>
            <a:r>
              <a:rPr lang="en-US" sz="2400" dirty="0" smtClean="0"/>
              <a:t>Spearman</a:t>
            </a:r>
          </a:p>
          <a:p>
            <a:endParaRPr lang="en-US" dirty="0"/>
          </a:p>
        </p:txBody>
      </p:sp>
      <p:sp>
        <p:nvSpPr>
          <p:cNvPr id="7" name="TextBox 6"/>
          <p:cNvSpPr txBox="1"/>
          <p:nvPr/>
        </p:nvSpPr>
        <p:spPr>
          <a:xfrm>
            <a:off x="3347864" y="3356992"/>
            <a:ext cx="2736304" cy="461665"/>
          </a:xfrm>
          <a:prstGeom prst="rect">
            <a:avLst/>
          </a:prstGeom>
          <a:noFill/>
        </p:spPr>
        <p:txBody>
          <a:bodyPr wrap="square" rtlCol="0">
            <a:spAutoFit/>
          </a:bodyPr>
          <a:lstStyle/>
          <a:p>
            <a:pPr algn="ctr"/>
            <a:r>
              <a:rPr lang="en-US" sz="2400" dirty="0" smtClean="0"/>
              <a:t>Gardner</a:t>
            </a:r>
            <a:endParaRPr lang="en-US" sz="2400" dirty="0"/>
          </a:p>
        </p:txBody>
      </p:sp>
      <p:sp>
        <p:nvSpPr>
          <p:cNvPr id="9" name="TextBox 8"/>
          <p:cNvSpPr txBox="1"/>
          <p:nvPr/>
        </p:nvSpPr>
        <p:spPr>
          <a:xfrm>
            <a:off x="5364088" y="4941168"/>
            <a:ext cx="2160240" cy="461665"/>
          </a:xfrm>
          <a:prstGeom prst="rect">
            <a:avLst/>
          </a:prstGeom>
          <a:noFill/>
        </p:spPr>
        <p:txBody>
          <a:bodyPr wrap="square" rtlCol="0">
            <a:spAutoFit/>
          </a:bodyPr>
          <a:lstStyle/>
          <a:p>
            <a:pPr algn="ctr"/>
            <a:r>
              <a:rPr lang="en-US" sz="2400" dirty="0" smtClean="0"/>
              <a:t>Sternberg</a:t>
            </a:r>
            <a:endParaRPr lang="en-US" sz="2400" dirty="0"/>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9512" y="3861048"/>
            <a:ext cx="2687176" cy="268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55949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23528" y="404664"/>
            <a:ext cx="1862845" cy="1490276"/>
            <a:chOff x="2416949" y="706"/>
            <a:chExt cx="1862845" cy="1490276"/>
          </a:xfrm>
        </p:grpSpPr>
        <p:sp>
          <p:nvSpPr>
            <p:cNvPr id="3" name="Rounded Rectangle 2"/>
            <p:cNvSpPr/>
            <p:nvPr/>
          </p:nvSpPr>
          <p:spPr>
            <a:xfrm>
              <a:off x="2416949" y="706"/>
              <a:ext cx="1862845" cy="1490276"/>
            </a:xfrm>
            <a:prstGeom prst="roundRect">
              <a:avLst>
                <a:gd name="adj" fmla="val 10000"/>
              </a:avLst>
            </a:prstGeom>
            <a:solidFill>
              <a:srgbClr val="6E6EEC"/>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2460598" y="44355"/>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Feuerstein</a:t>
              </a:r>
              <a:endParaRPr lang="en-US" sz="2700" kern="1200" dirty="0">
                <a:solidFill>
                  <a:srgbClr val="000000"/>
                </a:solidFill>
              </a:endParaRPr>
            </a:p>
          </p:txBody>
        </p:sp>
      </p:grpSp>
      <p:sp>
        <p:nvSpPr>
          <p:cNvPr id="7" name="TextBox 6"/>
          <p:cNvSpPr txBox="1"/>
          <p:nvPr/>
        </p:nvSpPr>
        <p:spPr>
          <a:xfrm>
            <a:off x="2771800" y="620688"/>
            <a:ext cx="5544616" cy="707886"/>
          </a:xfrm>
          <a:prstGeom prst="rect">
            <a:avLst/>
          </a:prstGeom>
          <a:noFill/>
        </p:spPr>
        <p:txBody>
          <a:bodyPr wrap="square" rtlCol="0">
            <a:spAutoFit/>
          </a:bodyPr>
          <a:lstStyle/>
          <a:p>
            <a:r>
              <a:rPr lang="en-US" sz="2000" b="1" i="1" dirty="0" smtClean="0">
                <a:solidFill>
                  <a:srgbClr val="6E6EEC"/>
                </a:solidFill>
              </a:rPr>
              <a:t>Intelligence is “not fixed but rather modifiable”</a:t>
            </a:r>
            <a:endParaRPr lang="en-US" sz="2000" b="1" i="1" dirty="0">
              <a:solidFill>
                <a:srgbClr val="6E6EEC"/>
              </a:solidFill>
            </a:endParaRPr>
          </a:p>
        </p:txBody>
      </p:sp>
      <p:sp>
        <p:nvSpPr>
          <p:cNvPr id="8" name="TextBox 7"/>
          <p:cNvSpPr txBox="1"/>
          <p:nvPr/>
        </p:nvSpPr>
        <p:spPr>
          <a:xfrm>
            <a:off x="314317" y="2420888"/>
            <a:ext cx="8640960" cy="3539430"/>
          </a:xfrm>
          <a:prstGeom prst="rect">
            <a:avLst/>
          </a:prstGeom>
          <a:noFill/>
        </p:spPr>
        <p:txBody>
          <a:bodyPr wrap="square" rtlCol="0">
            <a:spAutoFit/>
          </a:bodyPr>
          <a:lstStyle/>
          <a:p>
            <a:r>
              <a:rPr lang="en-US" sz="2400" dirty="0" smtClean="0"/>
              <a:t>According to Feuerstein, intelligence “is the direct result of mediated learning experience (MLE), whereby a child’s cognitive abilities are developed unconsciously through the cultural stimuli passed on by his or her parents and grandparents. In cases where the cultural pattern has been broken, the child fails to develop cognitive skills and may well be (falsely) </a:t>
            </a:r>
            <a:r>
              <a:rPr lang="en-US" sz="2400" dirty="0" err="1" smtClean="0"/>
              <a:t>categorised</a:t>
            </a:r>
            <a:r>
              <a:rPr lang="en-US" sz="2400" dirty="0" smtClean="0"/>
              <a:t> as having learning difficulties”</a:t>
            </a:r>
          </a:p>
          <a:p>
            <a:endParaRPr lang="en-US" sz="2400" dirty="0" smtClean="0"/>
          </a:p>
          <a:p>
            <a:pPr algn="r"/>
            <a:endParaRPr lang="en-US" sz="1600" dirty="0" smtClean="0"/>
          </a:p>
          <a:p>
            <a:pPr algn="r"/>
            <a:r>
              <a:rPr lang="en-US" sz="1600" dirty="0" smtClean="0"/>
              <a:t>Sharron, 1987 “</a:t>
            </a:r>
            <a:r>
              <a:rPr lang="en-US" sz="1600" i="1" dirty="0" smtClean="0"/>
              <a:t>Changing Children’s Minds”</a:t>
            </a:r>
            <a:endParaRPr lang="en-US" sz="1600" dirty="0"/>
          </a:p>
        </p:txBody>
      </p:sp>
    </p:spTree>
    <p:extLst>
      <p:ext uri="{BB962C8B-B14F-4D97-AF65-F5344CB8AC3E}">
        <p14:creationId xmlns:p14="http://schemas.microsoft.com/office/powerpoint/2010/main" val="3280108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23528" y="404664"/>
            <a:ext cx="1862845" cy="1490276"/>
            <a:chOff x="2416949" y="706"/>
            <a:chExt cx="1862845" cy="1490276"/>
          </a:xfrm>
        </p:grpSpPr>
        <p:sp>
          <p:nvSpPr>
            <p:cNvPr id="3" name="Rounded Rectangle 2"/>
            <p:cNvSpPr/>
            <p:nvPr/>
          </p:nvSpPr>
          <p:spPr>
            <a:xfrm>
              <a:off x="2416949" y="706"/>
              <a:ext cx="1862845" cy="1490276"/>
            </a:xfrm>
            <a:prstGeom prst="roundRect">
              <a:avLst>
                <a:gd name="adj" fmla="val 10000"/>
              </a:avLst>
            </a:prstGeom>
            <a:solidFill>
              <a:srgbClr val="6E6EEC"/>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2460598" y="44355"/>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Feuerstein</a:t>
              </a:r>
              <a:endParaRPr lang="en-US" sz="2700" kern="1200" dirty="0">
                <a:solidFill>
                  <a:srgbClr val="000000"/>
                </a:solidFill>
              </a:endParaRPr>
            </a:p>
          </p:txBody>
        </p:sp>
      </p:grpSp>
      <p:sp>
        <p:nvSpPr>
          <p:cNvPr id="7" name="TextBox 6"/>
          <p:cNvSpPr txBox="1"/>
          <p:nvPr/>
        </p:nvSpPr>
        <p:spPr>
          <a:xfrm>
            <a:off x="2771800" y="620688"/>
            <a:ext cx="5544616" cy="707886"/>
          </a:xfrm>
          <a:prstGeom prst="rect">
            <a:avLst/>
          </a:prstGeom>
          <a:noFill/>
        </p:spPr>
        <p:txBody>
          <a:bodyPr wrap="square" rtlCol="0">
            <a:spAutoFit/>
          </a:bodyPr>
          <a:lstStyle/>
          <a:p>
            <a:r>
              <a:rPr lang="en-US" sz="2000" b="1" i="1" dirty="0" smtClean="0">
                <a:solidFill>
                  <a:srgbClr val="6E6EEC"/>
                </a:solidFill>
              </a:rPr>
              <a:t>Intelligence is “not fixed but rather modifiable”</a:t>
            </a:r>
            <a:endParaRPr lang="en-US" sz="2000" b="1" i="1" dirty="0">
              <a:solidFill>
                <a:srgbClr val="6E6EEC"/>
              </a:solidFill>
            </a:endParaRPr>
          </a:p>
        </p:txBody>
      </p:sp>
      <p:sp>
        <p:nvSpPr>
          <p:cNvPr id="8" name="TextBox 7"/>
          <p:cNvSpPr txBox="1"/>
          <p:nvPr/>
        </p:nvSpPr>
        <p:spPr>
          <a:xfrm>
            <a:off x="323528" y="2132856"/>
            <a:ext cx="8640960" cy="4708981"/>
          </a:xfrm>
          <a:prstGeom prst="rect">
            <a:avLst/>
          </a:prstGeom>
          <a:noFill/>
        </p:spPr>
        <p:txBody>
          <a:bodyPr wrap="square" rtlCol="0">
            <a:spAutoFit/>
          </a:bodyPr>
          <a:lstStyle/>
          <a:p>
            <a:pPr marL="342900" indent="-342900">
              <a:buFont typeface="Arial"/>
              <a:buChar char="•"/>
            </a:pPr>
            <a:r>
              <a:rPr lang="en-US" sz="2200" dirty="0" smtClean="0"/>
              <a:t>Introduced the MEDIATED LEARNING EXPERIENCE (MLE) and INSTRUMENTAL ENRICHMENT</a:t>
            </a:r>
            <a:endParaRPr lang="en-US" sz="2400" dirty="0"/>
          </a:p>
          <a:p>
            <a:r>
              <a:rPr lang="en-US" sz="2400" dirty="0" smtClean="0">
                <a:sym typeface="Wingdings"/>
              </a:rPr>
              <a:t>      </a:t>
            </a:r>
          </a:p>
          <a:p>
            <a:r>
              <a:rPr lang="en-US" sz="2400" dirty="0" smtClean="0">
                <a:sym typeface="Wingdings"/>
              </a:rPr>
              <a:t>  </a:t>
            </a:r>
            <a:endParaRPr lang="en-US" sz="2400" dirty="0" smtClean="0">
              <a:latin typeface="Wingdings"/>
              <a:ea typeface="Wingdings"/>
              <a:cs typeface="Wingdings"/>
              <a:sym typeface="Wingdings"/>
            </a:endParaRPr>
          </a:p>
          <a:p>
            <a:r>
              <a:rPr lang="en-US" sz="2400" dirty="0">
                <a:latin typeface="Wingdings"/>
                <a:ea typeface="Wingdings"/>
                <a:cs typeface="Wingdings"/>
                <a:sym typeface="Wingdings"/>
              </a:rPr>
              <a:t> </a:t>
            </a:r>
            <a:endParaRPr lang="en-US" sz="2400" dirty="0" smtClean="0">
              <a:latin typeface="+mj-lt"/>
            </a:endParaRPr>
          </a:p>
          <a:p>
            <a:r>
              <a:rPr lang="en-US" sz="2400" dirty="0" smtClean="0"/>
              <a:t>        </a:t>
            </a:r>
            <a:endParaRPr lang="en-US" sz="2400" dirty="0" smtClean="0">
              <a:latin typeface="Wingdings"/>
              <a:ea typeface="Wingdings"/>
              <a:cs typeface="Wingdings"/>
              <a:sym typeface="Wingdings"/>
            </a:endParaRPr>
          </a:p>
          <a:p>
            <a:r>
              <a:rPr lang="en-US" sz="2400" dirty="0">
                <a:latin typeface="Wingdings"/>
                <a:ea typeface="Wingdings"/>
                <a:cs typeface="Wingdings"/>
                <a:sym typeface="Wingdings"/>
              </a:rPr>
              <a:t>	 </a:t>
            </a:r>
            <a:r>
              <a:rPr lang="en-US" sz="2400" dirty="0" smtClean="0">
                <a:latin typeface="Wingdings"/>
                <a:ea typeface="Wingdings"/>
                <a:cs typeface="Wingdings"/>
                <a:sym typeface="Wingdings"/>
              </a:rPr>
              <a:t> </a:t>
            </a:r>
            <a:endParaRPr lang="en-US" sz="2400" dirty="0"/>
          </a:p>
          <a:p>
            <a:pPr marL="342900" indent="-342900">
              <a:buFont typeface="Arial"/>
              <a:buChar char="•"/>
            </a:pPr>
            <a:r>
              <a:rPr lang="en-US" sz="2200" dirty="0" smtClean="0"/>
              <a:t>The role of the MLE as the crucial ingredient that determines STRUCTURAL COGNITIVE MODIFIABILITY</a:t>
            </a:r>
          </a:p>
          <a:p>
            <a:endParaRPr lang="en-US" sz="2200" dirty="0"/>
          </a:p>
          <a:p>
            <a:pPr marL="342900" indent="-342900">
              <a:buFont typeface="Arial"/>
              <a:buChar char="•"/>
            </a:pPr>
            <a:r>
              <a:rPr lang="en-US" sz="2200" dirty="0" smtClean="0"/>
              <a:t>DISTAL and PROXIMAL determinants of intellectual development</a:t>
            </a:r>
          </a:p>
          <a:p>
            <a:pPr marL="342900" indent="-342900">
              <a:buFont typeface="Arial"/>
              <a:buChar char="•"/>
            </a:pPr>
            <a:endParaRPr lang="en-US" sz="2400" dirty="0"/>
          </a:p>
          <a:p>
            <a:endParaRPr lang="en-US" sz="2400" dirty="0"/>
          </a:p>
        </p:txBody>
      </p:sp>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83568" y="3212976"/>
            <a:ext cx="3456384" cy="1353138"/>
          </a:xfrm>
          <a:prstGeom prst="rect">
            <a:avLst/>
          </a:prstGeom>
        </p:spPr>
      </p:pic>
    </p:spTree>
    <p:extLst>
      <p:ext uri="{BB962C8B-B14F-4D97-AF65-F5344CB8AC3E}">
        <p14:creationId xmlns:p14="http://schemas.microsoft.com/office/powerpoint/2010/main" val="4145942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91679" y="1178750"/>
            <a:ext cx="7572333" cy="5679250"/>
          </a:xfrm>
          <a:prstGeom prst="rect">
            <a:avLst/>
          </a:prstGeom>
        </p:spPr>
      </p:pic>
      <p:sp>
        <p:nvSpPr>
          <p:cNvPr id="7" name="TextBox 6"/>
          <p:cNvSpPr txBox="1"/>
          <p:nvPr/>
        </p:nvSpPr>
        <p:spPr>
          <a:xfrm>
            <a:off x="2771800" y="620688"/>
            <a:ext cx="5544616" cy="707886"/>
          </a:xfrm>
          <a:prstGeom prst="rect">
            <a:avLst/>
          </a:prstGeom>
          <a:noFill/>
        </p:spPr>
        <p:txBody>
          <a:bodyPr wrap="square" rtlCol="0">
            <a:spAutoFit/>
          </a:bodyPr>
          <a:lstStyle/>
          <a:p>
            <a:r>
              <a:rPr lang="en-US" sz="2000" b="1" i="1" dirty="0" smtClean="0">
                <a:solidFill>
                  <a:srgbClr val="6E6EEC"/>
                </a:solidFill>
              </a:rPr>
              <a:t>Intelligence is “not fixed but rather modifiable”</a:t>
            </a:r>
            <a:endParaRPr lang="en-US" sz="2000" b="1" i="1" dirty="0">
              <a:solidFill>
                <a:srgbClr val="6E6EEC"/>
              </a:solidFill>
            </a:endParaRPr>
          </a:p>
        </p:txBody>
      </p:sp>
      <p:grpSp>
        <p:nvGrpSpPr>
          <p:cNvPr id="2" name="Group 1"/>
          <p:cNvGrpSpPr/>
          <p:nvPr/>
        </p:nvGrpSpPr>
        <p:grpSpPr>
          <a:xfrm>
            <a:off x="323528" y="404664"/>
            <a:ext cx="1862845" cy="1490276"/>
            <a:chOff x="2416949" y="706"/>
            <a:chExt cx="1862845" cy="1490276"/>
          </a:xfrm>
        </p:grpSpPr>
        <p:sp>
          <p:nvSpPr>
            <p:cNvPr id="3" name="Rounded Rectangle 2"/>
            <p:cNvSpPr/>
            <p:nvPr/>
          </p:nvSpPr>
          <p:spPr>
            <a:xfrm>
              <a:off x="2416949" y="706"/>
              <a:ext cx="1862845" cy="1490276"/>
            </a:xfrm>
            <a:prstGeom prst="roundRect">
              <a:avLst>
                <a:gd name="adj" fmla="val 10000"/>
              </a:avLst>
            </a:prstGeom>
            <a:solidFill>
              <a:srgbClr val="6E6EEC"/>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2460598" y="44355"/>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Feuerstein</a:t>
              </a:r>
              <a:endParaRPr lang="en-US" sz="2700" kern="1200" dirty="0">
                <a:solidFill>
                  <a:srgbClr val="000000"/>
                </a:solidFill>
              </a:endParaRPr>
            </a:p>
          </p:txBody>
        </p:sp>
      </p:grpSp>
    </p:spTree>
    <p:extLst>
      <p:ext uri="{BB962C8B-B14F-4D97-AF65-F5344CB8AC3E}">
        <p14:creationId xmlns:p14="http://schemas.microsoft.com/office/powerpoint/2010/main" val="3042595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79512" y="2276872"/>
            <a:ext cx="2448272" cy="1015663"/>
          </a:xfrm>
          <a:prstGeom prst="rect">
            <a:avLst/>
          </a:prstGeom>
          <a:noFill/>
        </p:spPr>
        <p:txBody>
          <a:bodyPr wrap="square" rtlCol="0">
            <a:spAutoFit/>
          </a:bodyPr>
          <a:lstStyle/>
          <a:p>
            <a:r>
              <a:rPr lang="en-US" sz="2000" b="1" i="1" dirty="0" smtClean="0">
                <a:solidFill>
                  <a:srgbClr val="6E6EEC"/>
                </a:solidFill>
              </a:rPr>
              <a:t>A Tripartite Learning Partnership Model</a:t>
            </a:r>
            <a:endParaRPr lang="en-US" sz="2000" b="1" i="1" dirty="0">
              <a:solidFill>
                <a:srgbClr val="6E6EEC"/>
              </a:solidFill>
            </a:endParaRPr>
          </a:p>
        </p:txBody>
      </p:sp>
      <p:grpSp>
        <p:nvGrpSpPr>
          <p:cNvPr id="2" name="Group 1"/>
          <p:cNvGrpSpPr/>
          <p:nvPr/>
        </p:nvGrpSpPr>
        <p:grpSpPr>
          <a:xfrm>
            <a:off x="323528" y="404664"/>
            <a:ext cx="1862845" cy="1490276"/>
            <a:chOff x="2416949" y="706"/>
            <a:chExt cx="1862845" cy="1490276"/>
          </a:xfrm>
        </p:grpSpPr>
        <p:sp>
          <p:nvSpPr>
            <p:cNvPr id="3" name="Rounded Rectangle 2"/>
            <p:cNvSpPr/>
            <p:nvPr/>
          </p:nvSpPr>
          <p:spPr>
            <a:xfrm>
              <a:off x="2416949" y="706"/>
              <a:ext cx="1862845" cy="1490276"/>
            </a:xfrm>
            <a:prstGeom prst="roundRect">
              <a:avLst>
                <a:gd name="adj" fmla="val 10000"/>
              </a:avLst>
            </a:prstGeom>
            <a:solidFill>
              <a:srgbClr val="6E6EEC"/>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2460598" y="44355"/>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Feuerstein</a:t>
              </a:r>
              <a:endParaRPr lang="en-US" sz="2700" kern="1200" dirty="0">
                <a:solidFill>
                  <a:srgbClr val="000000"/>
                </a:solidFill>
              </a:endParaRPr>
            </a:p>
          </p:txBody>
        </p:sp>
      </p:grpSp>
      <p:graphicFrame>
        <p:nvGraphicFramePr>
          <p:cNvPr id="6" name="Diagram 5"/>
          <p:cNvGraphicFramePr/>
          <p:nvPr>
            <p:extLst>
              <p:ext uri="{D42A27DB-BD31-4B8C-83A1-F6EECF244321}">
                <p14:modId xmlns:p14="http://schemas.microsoft.com/office/powerpoint/2010/main" val="2457609938"/>
              </p:ext>
            </p:extLst>
          </p:nvPr>
        </p:nvGraphicFramePr>
        <p:xfrm>
          <a:off x="2915816" y="3140968"/>
          <a:ext cx="4248472" cy="33123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9" name="Straight Connector 8"/>
          <p:cNvCxnSpPr/>
          <p:nvPr/>
        </p:nvCxnSpPr>
        <p:spPr>
          <a:xfrm>
            <a:off x="1475656" y="6525344"/>
            <a:ext cx="7344816" cy="0"/>
          </a:xfrm>
          <a:prstGeom prst="line">
            <a:avLst/>
          </a:prstGeom>
          <a:ln w="76200">
            <a:solidFill>
              <a:srgbClr val="6E6EEC"/>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V="1">
            <a:off x="1475656" y="980728"/>
            <a:ext cx="3744416" cy="5544616"/>
          </a:xfrm>
          <a:prstGeom prst="line">
            <a:avLst/>
          </a:prstGeom>
          <a:ln w="76200">
            <a:solidFill>
              <a:srgbClr val="6E6EEC"/>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flipH="1" flipV="1">
            <a:off x="5220072" y="980728"/>
            <a:ext cx="3528392" cy="5544616"/>
          </a:xfrm>
          <a:prstGeom prst="line">
            <a:avLst/>
          </a:prstGeom>
          <a:ln w="76200">
            <a:solidFill>
              <a:srgbClr val="6E6EE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355976" y="1700808"/>
            <a:ext cx="1728192" cy="461665"/>
          </a:xfrm>
          <a:prstGeom prst="rect">
            <a:avLst/>
          </a:prstGeom>
          <a:noFill/>
        </p:spPr>
        <p:txBody>
          <a:bodyPr wrap="square" rtlCol="0">
            <a:spAutoFit/>
          </a:bodyPr>
          <a:lstStyle/>
          <a:p>
            <a:pPr algn="ctr"/>
            <a:r>
              <a:rPr lang="en-US" sz="2400" b="1" dirty="0" smtClean="0"/>
              <a:t>Task</a:t>
            </a:r>
            <a:endParaRPr lang="en-US" sz="2400" b="1" dirty="0"/>
          </a:p>
        </p:txBody>
      </p:sp>
      <p:sp>
        <p:nvSpPr>
          <p:cNvPr id="37" name="TextBox 36"/>
          <p:cNvSpPr txBox="1"/>
          <p:nvPr/>
        </p:nvSpPr>
        <p:spPr>
          <a:xfrm>
            <a:off x="6660232" y="6021288"/>
            <a:ext cx="1728192" cy="461665"/>
          </a:xfrm>
          <a:prstGeom prst="rect">
            <a:avLst/>
          </a:prstGeom>
          <a:noFill/>
        </p:spPr>
        <p:txBody>
          <a:bodyPr wrap="square" rtlCol="0">
            <a:spAutoFit/>
          </a:bodyPr>
          <a:lstStyle/>
          <a:p>
            <a:pPr algn="ctr"/>
            <a:r>
              <a:rPr lang="en-US" sz="2400" b="1" dirty="0" smtClean="0"/>
              <a:t>Student</a:t>
            </a:r>
            <a:endParaRPr lang="en-US" sz="2400" b="1" dirty="0"/>
          </a:p>
        </p:txBody>
      </p:sp>
      <p:sp>
        <p:nvSpPr>
          <p:cNvPr id="38" name="TextBox 37"/>
          <p:cNvSpPr txBox="1"/>
          <p:nvPr/>
        </p:nvSpPr>
        <p:spPr>
          <a:xfrm>
            <a:off x="1835696" y="6021288"/>
            <a:ext cx="1728192" cy="461665"/>
          </a:xfrm>
          <a:prstGeom prst="rect">
            <a:avLst/>
          </a:prstGeom>
          <a:noFill/>
        </p:spPr>
        <p:txBody>
          <a:bodyPr wrap="square" rtlCol="0">
            <a:spAutoFit/>
          </a:bodyPr>
          <a:lstStyle/>
          <a:p>
            <a:r>
              <a:rPr lang="en-US" sz="2400" b="1" dirty="0" smtClean="0"/>
              <a:t>Mediator</a:t>
            </a:r>
            <a:endParaRPr lang="en-US" sz="2400" b="1" dirty="0"/>
          </a:p>
        </p:txBody>
      </p:sp>
    </p:spTree>
    <p:extLst>
      <p:ext uri="{BB962C8B-B14F-4D97-AF65-F5344CB8AC3E}">
        <p14:creationId xmlns:p14="http://schemas.microsoft.com/office/powerpoint/2010/main" val="1441143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lsclogo.gi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164288" y="4581128"/>
            <a:ext cx="1675751" cy="1989584"/>
          </a:xfrm>
          <a:prstGeom prst="rect">
            <a:avLst/>
          </a:prstGeom>
        </p:spPr>
      </p:pic>
      <p:sp>
        <p:nvSpPr>
          <p:cNvPr id="4" name="TextBox 3"/>
          <p:cNvSpPr txBox="1"/>
          <p:nvPr/>
        </p:nvSpPr>
        <p:spPr>
          <a:xfrm>
            <a:off x="246574" y="1484784"/>
            <a:ext cx="7920880" cy="5047535"/>
          </a:xfrm>
          <a:prstGeom prst="rect">
            <a:avLst/>
          </a:prstGeom>
          <a:noFill/>
        </p:spPr>
        <p:txBody>
          <a:bodyPr wrap="square" rtlCol="0">
            <a:spAutoFit/>
          </a:bodyPr>
          <a:lstStyle/>
          <a:p>
            <a:r>
              <a:rPr lang="en-US" sz="2400" dirty="0" smtClean="0">
                <a:solidFill>
                  <a:schemeClr val="accent6">
                    <a:lumMod val="60000"/>
                    <a:lumOff val="40000"/>
                  </a:schemeClr>
                </a:solidFill>
              </a:rPr>
              <a:t>Questions in psychological assessment are now less concerned with issues as to how to classify and sort children and instead are able to focus on how to best teach the individual child. </a:t>
            </a:r>
          </a:p>
          <a:p>
            <a:endParaRPr lang="en-US" sz="1400" dirty="0"/>
          </a:p>
          <a:p>
            <a:r>
              <a:rPr lang="en-US" sz="2400" dirty="0" smtClean="0">
                <a:solidFill>
                  <a:schemeClr val="accent5">
                    <a:lumMod val="50000"/>
                  </a:schemeClr>
                </a:solidFill>
              </a:rPr>
              <a:t>Dynamic assessment (DA) is grounded in the belief that we learn from about a children’s cognitive development by working WITH them as opposed to assessing their unassisted performance</a:t>
            </a:r>
          </a:p>
          <a:p>
            <a:endParaRPr lang="en-US" sz="1400" dirty="0"/>
          </a:p>
          <a:p>
            <a:r>
              <a:rPr lang="en-US" sz="2400" dirty="0" smtClean="0">
                <a:solidFill>
                  <a:srgbClr val="6296C3"/>
                </a:solidFill>
              </a:rPr>
              <a:t>DA fulfils a different purpose to static assessment,</a:t>
            </a:r>
          </a:p>
          <a:p>
            <a:r>
              <a:rPr lang="en-US" sz="2400" dirty="0">
                <a:solidFill>
                  <a:srgbClr val="6296C3"/>
                </a:solidFill>
              </a:rPr>
              <a:t>i</a:t>
            </a:r>
            <a:r>
              <a:rPr lang="en-US" sz="2400" dirty="0" smtClean="0">
                <a:solidFill>
                  <a:srgbClr val="6296C3"/>
                </a:solidFill>
              </a:rPr>
              <a:t>n that it can empower the child and he/she is</a:t>
            </a:r>
          </a:p>
          <a:p>
            <a:r>
              <a:rPr lang="en-US" sz="2400" dirty="0">
                <a:solidFill>
                  <a:srgbClr val="6296C3"/>
                </a:solidFill>
              </a:rPr>
              <a:t>a</a:t>
            </a:r>
            <a:r>
              <a:rPr lang="en-US" sz="2400" dirty="0" smtClean="0">
                <a:solidFill>
                  <a:srgbClr val="6296C3"/>
                </a:solidFill>
              </a:rPr>
              <a:t>ble to play a more active role in the assessment        and intervention process</a:t>
            </a:r>
            <a:endParaRPr lang="en-US" sz="2400" dirty="0">
              <a:solidFill>
                <a:srgbClr val="6296C3"/>
              </a:solidFill>
            </a:endParaRPr>
          </a:p>
        </p:txBody>
      </p:sp>
      <p:sp>
        <p:nvSpPr>
          <p:cNvPr id="5" name="Rectangle 2"/>
          <p:cNvSpPr txBox="1">
            <a:spLocks noChangeArrowheads="1"/>
          </p:cNvSpPr>
          <p:nvPr/>
        </p:nvSpPr>
        <p:spPr bwMode="auto">
          <a:xfrm>
            <a:off x="323528" y="332657"/>
            <a:ext cx="6408712" cy="792087"/>
          </a:xfrm>
          <a:prstGeom prst="rect">
            <a:avLst/>
          </a:prstGeom>
          <a:solidFill>
            <a:srgbClr val="6296C3"/>
          </a:solidFill>
          <a:ln w="50800">
            <a:solidFill>
              <a:schemeClr val="accent6">
                <a:lumMod val="75000"/>
              </a:schemeClr>
            </a:solidFill>
            <a:miter lim="800000"/>
            <a:headEnd/>
            <a:tailEnd/>
          </a:ln>
          <a:extLs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GB" sz="3200" dirty="0" smtClean="0">
                <a:latin typeface="Arial" charset="0"/>
              </a:rPr>
              <a:t/>
            </a:r>
            <a:br>
              <a:rPr lang="en-GB" sz="3200" dirty="0" smtClean="0">
                <a:latin typeface="Arial" charset="0"/>
              </a:rPr>
            </a:br>
            <a:r>
              <a:rPr lang="en-GB" sz="3200" dirty="0" smtClean="0">
                <a:solidFill>
                  <a:schemeClr val="accent2"/>
                </a:solidFill>
                <a:latin typeface="Arial" charset="0"/>
              </a:rPr>
              <a:t> </a:t>
            </a:r>
            <a:br>
              <a:rPr lang="en-GB" sz="3200" dirty="0" smtClean="0">
                <a:solidFill>
                  <a:schemeClr val="accent2"/>
                </a:solidFill>
                <a:latin typeface="Arial" charset="0"/>
              </a:rPr>
            </a:br>
            <a:endParaRPr lang="en-GB" sz="3200" dirty="0" smtClean="0">
              <a:solidFill>
                <a:schemeClr val="accent2"/>
              </a:solidFill>
              <a:latin typeface="Arial" charset="0"/>
            </a:endParaRPr>
          </a:p>
          <a:p>
            <a:pPr eaLnBrk="1" hangingPunct="1"/>
            <a:r>
              <a:rPr lang="en-GB" sz="4000" b="1" dirty="0" smtClean="0">
                <a:solidFill>
                  <a:srgbClr val="000000"/>
                </a:solidFill>
                <a:latin typeface="Arial" charset="0"/>
              </a:rPr>
              <a:t>Dynamic Assessment</a:t>
            </a:r>
            <a:br>
              <a:rPr lang="en-GB" sz="4000" b="1"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endParaRPr lang="en-GB" sz="4000" dirty="0">
              <a:solidFill>
                <a:srgbClr val="000000"/>
              </a:solidFill>
              <a:latin typeface="Arial" charset="0"/>
            </a:endParaRPr>
          </a:p>
        </p:txBody>
      </p:sp>
    </p:spTree>
    <p:extLst>
      <p:ext uri="{BB962C8B-B14F-4D97-AF65-F5344CB8AC3E}">
        <p14:creationId xmlns:p14="http://schemas.microsoft.com/office/powerpoint/2010/main" val="1192194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lsclogo.gi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308304" y="4653136"/>
            <a:ext cx="1675751" cy="1989584"/>
          </a:xfrm>
          <a:prstGeom prst="rect">
            <a:avLst/>
          </a:prstGeom>
        </p:spPr>
      </p:pic>
      <p:sp>
        <p:nvSpPr>
          <p:cNvPr id="3" name="Rectangle 2"/>
          <p:cNvSpPr txBox="1">
            <a:spLocks noChangeArrowheads="1"/>
          </p:cNvSpPr>
          <p:nvPr/>
        </p:nvSpPr>
        <p:spPr bwMode="auto">
          <a:xfrm>
            <a:off x="323528" y="332657"/>
            <a:ext cx="6408712" cy="792087"/>
          </a:xfrm>
          <a:prstGeom prst="rect">
            <a:avLst/>
          </a:prstGeom>
          <a:solidFill>
            <a:srgbClr val="6296C3"/>
          </a:solidFill>
          <a:ln w="50800">
            <a:solidFill>
              <a:schemeClr val="accent6">
                <a:lumMod val="75000"/>
              </a:schemeClr>
            </a:solidFill>
            <a:miter lim="800000"/>
            <a:headEnd/>
            <a:tailEnd/>
          </a:ln>
          <a:extLs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GB" sz="3200" dirty="0" smtClean="0">
                <a:latin typeface="Arial" charset="0"/>
              </a:rPr>
              <a:t/>
            </a:r>
            <a:br>
              <a:rPr lang="en-GB" sz="3200" dirty="0" smtClean="0">
                <a:latin typeface="Arial" charset="0"/>
              </a:rPr>
            </a:br>
            <a:r>
              <a:rPr lang="en-GB" sz="3200" dirty="0" smtClean="0">
                <a:solidFill>
                  <a:schemeClr val="accent2"/>
                </a:solidFill>
                <a:latin typeface="Arial" charset="0"/>
              </a:rPr>
              <a:t> </a:t>
            </a:r>
            <a:br>
              <a:rPr lang="en-GB" sz="3200" dirty="0" smtClean="0">
                <a:solidFill>
                  <a:schemeClr val="accent2"/>
                </a:solidFill>
                <a:latin typeface="Arial" charset="0"/>
              </a:rPr>
            </a:br>
            <a:endParaRPr lang="en-GB" sz="3200" dirty="0" smtClean="0">
              <a:solidFill>
                <a:schemeClr val="accent2"/>
              </a:solidFill>
              <a:latin typeface="Arial" charset="0"/>
            </a:endParaRPr>
          </a:p>
          <a:p>
            <a:pPr eaLnBrk="1" hangingPunct="1"/>
            <a:r>
              <a:rPr lang="en-GB" sz="4000" b="1" dirty="0" smtClean="0">
                <a:solidFill>
                  <a:srgbClr val="000000"/>
                </a:solidFill>
                <a:latin typeface="Arial" charset="0"/>
              </a:rPr>
              <a:t>Dynamic Assessment</a:t>
            </a:r>
            <a:br>
              <a:rPr lang="en-GB" sz="4000" b="1"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endParaRPr lang="en-GB" sz="4000" dirty="0">
              <a:solidFill>
                <a:srgbClr val="000000"/>
              </a:solidFill>
              <a:latin typeface="Arial" charset="0"/>
            </a:endParaRPr>
          </a:p>
        </p:txBody>
      </p:sp>
      <p:sp>
        <p:nvSpPr>
          <p:cNvPr id="4" name="TextBox 3"/>
          <p:cNvSpPr txBox="1"/>
          <p:nvPr/>
        </p:nvSpPr>
        <p:spPr>
          <a:xfrm>
            <a:off x="251520" y="1484784"/>
            <a:ext cx="7200800" cy="4893647"/>
          </a:xfrm>
          <a:prstGeom prst="rect">
            <a:avLst/>
          </a:prstGeom>
          <a:noFill/>
        </p:spPr>
        <p:txBody>
          <a:bodyPr wrap="square" rtlCol="0">
            <a:spAutoFit/>
          </a:bodyPr>
          <a:lstStyle/>
          <a:p>
            <a:r>
              <a:rPr lang="en-US" sz="2400" dirty="0" smtClean="0">
                <a:solidFill>
                  <a:schemeClr val="bg1">
                    <a:lumMod val="50000"/>
                  </a:schemeClr>
                </a:solidFill>
              </a:rPr>
              <a:t>“</a:t>
            </a:r>
            <a:r>
              <a:rPr lang="en-US" sz="2400" i="1" dirty="0" smtClean="0">
                <a:solidFill>
                  <a:schemeClr val="bg1">
                    <a:lumMod val="50000"/>
                  </a:schemeClr>
                </a:solidFill>
              </a:rPr>
              <a:t>If we wish to determine how far the child’s knowledge base deviates from the norm, we will continue to administer a [norm-referenced] measure. If we wish to determine the content of the child’s knowledge base within a specific domain, we will administer a curriculum-based or criterion-referenced test. If we wish to derive hypotheses about how the child learns, how responsive the child is to attempts to intervene, and what seems to be interfering with the child’s ability to profit from existing attempts at instruction, we will use dynamic assessment.”</a:t>
            </a:r>
          </a:p>
          <a:p>
            <a:r>
              <a:rPr lang="en-US" sz="2400" i="1" dirty="0"/>
              <a:t>	</a:t>
            </a:r>
            <a:r>
              <a:rPr lang="en-US" sz="2400" i="1" dirty="0" smtClean="0"/>
              <a:t>			</a:t>
            </a:r>
            <a:r>
              <a:rPr lang="en-US" sz="2400" i="1" dirty="0" err="1" smtClean="0"/>
              <a:t>Lidz</a:t>
            </a:r>
            <a:r>
              <a:rPr lang="en-US" sz="2400" i="1" dirty="0" smtClean="0"/>
              <a:t>, 1991 p.121-122 </a:t>
            </a:r>
            <a:endParaRPr lang="en-US" sz="2400" dirty="0"/>
          </a:p>
        </p:txBody>
      </p:sp>
    </p:spTree>
    <p:extLst>
      <p:ext uri="{BB962C8B-B14F-4D97-AF65-F5344CB8AC3E}">
        <p14:creationId xmlns:p14="http://schemas.microsoft.com/office/powerpoint/2010/main" val="3052636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1140" y="2967335"/>
            <a:ext cx="6481725" cy="923330"/>
          </a:xfrm>
          <a:prstGeom prst="rect">
            <a:avLst/>
          </a:prstGeom>
          <a:noFill/>
        </p:spPr>
        <p:txBody>
          <a:bodyPr wrap="none" lIns="91440" tIns="45720" rIns="91440" bIns="45720">
            <a:spAutoFit/>
          </a:bodyPr>
          <a:lstStyle/>
          <a:p>
            <a:pPr algn="ctr" defTabSz="457200" fontAlgn="auto">
              <a:spcBef>
                <a:spcPts val="0"/>
              </a:spcBef>
              <a:spcAft>
                <a:spcPts val="0"/>
              </a:spcAft>
            </a:pPr>
            <a:r>
              <a:rPr lang="en-GB" sz="5400" b="1" dirty="0" smtClean="0">
                <a:ln w="12700">
                  <a:solidFill>
                    <a:srgbClr val="09213B">
                      <a:satMod val="155000"/>
                    </a:srgbClr>
                  </a:solidFill>
                  <a:prstDash val="solid"/>
                </a:ln>
                <a:solidFill>
                  <a:srgbClr val="09213B"/>
                </a:solidFill>
                <a:effectLst>
                  <a:outerShdw blurRad="41275" dist="20320" dir="1800000" algn="tl" rotWithShape="0">
                    <a:srgbClr val="000000">
                      <a:alpha val="40000"/>
                    </a:srgbClr>
                  </a:outerShdw>
                </a:effectLst>
                <a:latin typeface="News Gothic MT"/>
                <a:ea typeface="+mn-ea"/>
                <a:cs typeface="+mn-cs"/>
              </a:rPr>
              <a:t>Dynamic Assessment</a:t>
            </a:r>
            <a:endParaRPr lang="en-GB" sz="5400" b="1" dirty="0">
              <a:ln w="12700">
                <a:solidFill>
                  <a:srgbClr val="09213B">
                    <a:satMod val="155000"/>
                  </a:srgbClr>
                </a:solidFill>
                <a:prstDash val="solid"/>
              </a:ln>
              <a:solidFill>
                <a:srgbClr val="09213B"/>
              </a:solidFill>
              <a:effectLst>
                <a:outerShdw blurRad="41275" dist="20320" dir="1800000" algn="tl" rotWithShape="0">
                  <a:srgbClr val="000000">
                    <a:alpha val="40000"/>
                  </a:srgbClr>
                </a:outerShdw>
              </a:effectLst>
              <a:latin typeface="News Gothic MT"/>
              <a:ea typeface="+mn-ea"/>
              <a:cs typeface="+mn-cs"/>
            </a:endParaRPr>
          </a:p>
        </p:txBody>
      </p:sp>
      <p:sp>
        <p:nvSpPr>
          <p:cNvPr id="3" name="Rectangle 2"/>
          <p:cNvSpPr/>
          <p:nvPr/>
        </p:nvSpPr>
        <p:spPr>
          <a:xfrm>
            <a:off x="1637085" y="1027926"/>
            <a:ext cx="4108817" cy="584776"/>
          </a:xfrm>
          <a:prstGeom prst="rect">
            <a:avLst/>
          </a:prstGeom>
          <a:noFill/>
        </p:spPr>
        <p:txBody>
          <a:bodyPr wrap="none" lIns="91440" tIns="45720" rIns="91440" bIns="45720">
            <a:spAutoFit/>
          </a:bodyPr>
          <a:lstStyle/>
          <a:p>
            <a:pPr algn="ctr" defTabSz="457200" fontAlgn="auto">
              <a:spcBef>
                <a:spcPts val="0"/>
              </a:spcBef>
              <a:spcAft>
                <a:spcPts val="0"/>
              </a:spcAft>
            </a:pPr>
            <a:r>
              <a:rPr lang="en-GB" sz="3200" b="1" dirty="0" smtClean="0">
                <a:ln w="10541" cmpd="sng">
                  <a:solidFill>
                    <a:srgbClr val="2C7C9F">
                      <a:shade val="88000"/>
                      <a:satMod val="110000"/>
                    </a:srgbClr>
                  </a:solidFill>
                  <a:prstDash val="solid"/>
                </a:ln>
                <a:gradFill>
                  <a:gsLst>
                    <a:gs pos="0">
                      <a:srgbClr val="2C7C9F">
                        <a:tint val="40000"/>
                        <a:satMod val="250000"/>
                      </a:srgbClr>
                    </a:gs>
                    <a:gs pos="9000">
                      <a:srgbClr val="2C7C9F">
                        <a:tint val="52000"/>
                        <a:satMod val="300000"/>
                      </a:srgbClr>
                    </a:gs>
                    <a:gs pos="50000">
                      <a:srgbClr val="2C7C9F">
                        <a:shade val="20000"/>
                        <a:satMod val="300000"/>
                      </a:srgbClr>
                    </a:gs>
                    <a:gs pos="79000">
                      <a:srgbClr val="2C7C9F">
                        <a:tint val="52000"/>
                        <a:satMod val="300000"/>
                      </a:srgbClr>
                    </a:gs>
                    <a:gs pos="100000">
                      <a:srgbClr val="2C7C9F">
                        <a:tint val="40000"/>
                        <a:satMod val="250000"/>
                      </a:srgbClr>
                    </a:gs>
                  </a:gsLst>
                  <a:lin ang="5400000"/>
                </a:gradFill>
                <a:latin typeface="News Gothic MT"/>
                <a:ea typeface="+mn-ea"/>
                <a:cs typeface="+mn-cs"/>
              </a:rPr>
              <a:t>Interactive assessment</a:t>
            </a:r>
            <a:endParaRPr lang="en-GB" sz="3200" b="1" dirty="0">
              <a:ln w="10541" cmpd="sng">
                <a:solidFill>
                  <a:srgbClr val="2C7C9F">
                    <a:shade val="88000"/>
                    <a:satMod val="110000"/>
                  </a:srgbClr>
                </a:solidFill>
                <a:prstDash val="solid"/>
              </a:ln>
              <a:gradFill>
                <a:gsLst>
                  <a:gs pos="0">
                    <a:srgbClr val="2C7C9F">
                      <a:tint val="40000"/>
                      <a:satMod val="250000"/>
                    </a:srgbClr>
                  </a:gs>
                  <a:gs pos="9000">
                    <a:srgbClr val="2C7C9F">
                      <a:tint val="52000"/>
                      <a:satMod val="300000"/>
                    </a:srgbClr>
                  </a:gs>
                  <a:gs pos="50000">
                    <a:srgbClr val="2C7C9F">
                      <a:shade val="20000"/>
                      <a:satMod val="300000"/>
                    </a:srgbClr>
                  </a:gs>
                  <a:gs pos="79000">
                    <a:srgbClr val="2C7C9F">
                      <a:tint val="52000"/>
                      <a:satMod val="300000"/>
                    </a:srgbClr>
                  </a:gs>
                  <a:gs pos="100000">
                    <a:srgbClr val="2C7C9F">
                      <a:tint val="40000"/>
                      <a:satMod val="250000"/>
                    </a:srgbClr>
                  </a:gs>
                </a:gsLst>
                <a:lin ang="5400000"/>
              </a:gradFill>
              <a:latin typeface="News Gothic MT"/>
              <a:ea typeface="+mn-ea"/>
              <a:cs typeface="+mn-cs"/>
            </a:endParaRPr>
          </a:p>
        </p:txBody>
      </p:sp>
      <p:sp>
        <p:nvSpPr>
          <p:cNvPr id="5" name="Rectangle 4"/>
          <p:cNvSpPr/>
          <p:nvPr/>
        </p:nvSpPr>
        <p:spPr>
          <a:xfrm>
            <a:off x="1953761" y="5952667"/>
            <a:ext cx="4841565" cy="523220"/>
          </a:xfrm>
          <a:prstGeom prst="rect">
            <a:avLst/>
          </a:prstGeom>
          <a:noFill/>
        </p:spPr>
        <p:txBody>
          <a:bodyPr wrap="none" lIns="91440" tIns="45720" rIns="91440" bIns="45720">
            <a:spAutoFit/>
          </a:bodyPr>
          <a:lstStyle/>
          <a:p>
            <a:pPr algn="ctr" defTabSz="457200" fontAlgn="auto">
              <a:spcBef>
                <a:spcPts val="0"/>
              </a:spcBef>
              <a:spcAft>
                <a:spcPts val="0"/>
              </a:spcAft>
            </a:pPr>
            <a:r>
              <a:rPr lang="en-GB" sz="2800" b="1" dirty="0" smtClean="0">
                <a:ln w="12700">
                  <a:solidFill>
                    <a:srgbClr val="09213B">
                      <a:satMod val="155000"/>
                    </a:srgbClr>
                  </a:solidFill>
                  <a:prstDash val="solid"/>
                </a:ln>
                <a:solidFill>
                  <a:srgbClr val="000090"/>
                </a:solidFill>
                <a:effectLst>
                  <a:outerShdw blurRad="41275" dist="20320" dir="1800000" algn="tl" rotWithShape="0">
                    <a:srgbClr val="000000">
                      <a:alpha val="40000"/>
                    </a:srgbClr>
                  </a:outerShdw>
                </a:effectLst>
                <a:latin typeface="News Gothic MT"/>
                <a:ea typeface="+mn-ea"/>
                <a:cs typeface="+mn-cs"/>
              </a:rPr>
              <a:t>Learning Potential assessment</a:t>
            </a:r>
            <a:endParaRPr lang="en-US" sz="2800" b="1" dirty="0">
              <a:ln w="12700">
                <a:solidFill>
                  <a:srgbClr val="09213B">
                    <a:satMod val="155000"/>
                  </a:srgbClr>
                </a:solidFill>
                <a:prstDash val="solid"/>
              </a:ln>
              <a:solidFill>
                <a:srgbClr val="000090"/>
              </a:solidFill>
              <a:effectLst>
                <a:outerShdw blurRad="41275" dist="20320" dir="1800000" algn="tl" rotWithShape="0">
                  <a:srgbClr val="000000">
                    <a:alpha val="40000"/>
                  </a:srgbClr>
                </a:outerShdw>
              </a:effectLst>
              <a:latin typeface="News Gothic MT"/>
              <a:ea typeface="+mn-ea"/>
              <a:cs typeface="+mn-cs"/>
            </a:endParaRPr>
          </a:p>
        </p:txBody>
      </p:sp>
      <p:sp>
        <p:nvSpPr>
          <p:cNvPr id="6" name="Rectangle 5"/>
          <p:cNvSpPr/>
          <p:nvPr/>
        </p:nvSpPr>
        <p:spPr>
          <a:xfrm>
            <a:off x="4640589" y="4004410"/>
            <a:ext cx="3822712" cy="1200329"/>
          </a:xfrm>
          <a:prstGeom prst="rect">
            <a:avLst/>
          </a:prstGeom>
        </p:spPr>
        <p:txBody>
          <a:bodyPr wrap="square">
            <a:spAutoFit/>
          </a:bodyPr>
          <a:lstStyle/>
          <a:p>
            <a:pPr algn="ctr" defTabSz="457200" fontAlgn="auto">
              <a:spcBef>
                <a:spcPts val="0"/>
              </a:spcBef>
              <a:spcAft>
                <a:spcPts val="0"/>
              </a:spcAft>
            </a:pPr>
            <a:r>
              <a:rPr lang="en-GB" sz="3600" b="1" dirty="0" smtClean="0">
                <a:ln w="12700">
                  <a:solidFill>
                    <a:srgbClr val="3D3A48">
                      <a:satMod val="155000"/>
                    </a:srgbClr>
                  </a:solidFill>
                  <a:prstDash val="solid"/>
                </a:ln>
                <a:solidFill>
                  <a:srgbClr val="FF6600"/>
                </a:solidFill>
                <a:effectLst>
                  <a:outerShdw blurRad="41275" dist="20320" dir="1800000" algn="tl" rotWithShape="0">
                    <a:srgbClr val="000000">
                      <a:alpha val="40000"/>
                    </a:srgbClr>
                  </a:outerShdw>
                </a:effectLst>
                <a:latin typeface="News Gothic MT"/>
                <a:ea typeface="+mn-ea"/>
                <a:cs typeface="+mn-cs"/>
              </a:rPr>
              <a:t>Dynamic </a:t>
            </a:r>
          </a:p>
          <a:p>
            <a:pPr algn="ctr" defTabSz="457200" fontAlgn="auto">
              <a:spcBef>
                <a:spcPts val="0"/>
              </a:spcBef>
              <a:spcAft>
                <a:spcPts val="0"/>
              </a:spcAft>
            </a:pPr>
            <a:r>
              <a:rPr lang="en-GB" sz="3600" b="1" dirty="0" smtClean="0">
                <a:ln w="12700">
                  <a:solidFill>
                    <a:srgbClr val="3D3A48">
                      <a:satMod val="155000"/>
                    </a:srgbClr>
                  </a:solidFill>
                  <a:prstDash val="solid"/>
                </a:ln>
                <a:solidFill>
                  <a:srgbClr val="FF6600"/>
                </a:solidFill>
                <a:effectLst>
                  <a:outerShdw blurRad="41275" dist="20320" dir="1800000" algn="tl" rotWithShape="0">
                    <a:srgbClr val="000000">
                      <a:alpha val="40000"/>
                    </a:srgbClr>
                  </a:outerShdw>
                </a:effectLst>
                <a:latin typeface="News Gothic MT"/>
                <a:ea typeface="+mn-ea"/>
                <a:cs typeface="+mn-cs"/>
              </a:rPr>
              <a:t>Testing</a:t>
            </a:r>
            <a:endParaRPr lang="en-US" sz="3600" b="1" dirty="0">
              <a:ln w="12700">
                <a:solidFill>
                  <a:srgbClr val="3D3A48">
                    <a:satMod val="155000"/>
                  </a:srgbClr>
                </a:solidFill>
                <a:prstDash val="solid"/>
              </a:ln>
              <a:solidFill>
                <a:srgbClr val="FF6600"/>
              </a:solidFill>
              <a:effectLst>
                <a:outerShdw blurRad="41275" dist="20320" dir="1800000" algn="tl" rotWithShape="0">
                  <a:srgbClr val="000000">
                    <a:alpha val="40000"/>
                  </a:srgbClr>
                </a:outerShdw>
              </a:effectLst>
              <a:latin typeface="News Gothic MT"/>
              <a:ea typeface="+mn-ea"/>
              <a:cs typeface="+mn-cs"/>
            </a:endParaRPr>
          </a:p>
        </p:txBody>
      </p:sp>
      <p:sp>
        <p:nvSpPr>
          <p:cNvPr id="7" name="Rectangle 6"/>
          <p:cNvSpPr/>
          <p:nvPr/>
        </p:nvSpPr>
        <p:spPr>
          <a:xfrm>
            <a:off x="3948813" y="1767006"/>
            <a:ext cx="3594178" cy="1200329"/>
          </a:xfrm>
          <a:prstGeom prst="rect">
            <a:avLst/>
          </a:prstGeom>
          <a:noFill/>
        </p:spPr>
        <p:txBody>
          <a:bodyPr wrap="none" lIns="91440" tIns="45720" rIns="91440" bIns="45720">
            <a:spAutoFit/>
          </a:bodyPr>
          <a:lstStyle/>
          <a:p>
            <a:pPr defTabSz="457200" fontAlgn="auto">
              <a:spcBef>
                <a:spcPts val="0"/>
              </a:spcBef>
              <a:spcAft>
                <a:spcPts val="0"/>
              </a:spcAft>
            </a:pPr>
            <a:r>
              <a:rPr lang="en-GB" sz="3600" b="1" dirty="0" smtClean="0">
                <a:ln w="12700">
                  <a:solidFill>
                    <a:srgbClr val="09213B">
                      <a:satMod val="155000"/>
                    </a:srgbClr>
                  </a:solidFill>
                  <a:prstDash val="solid"/>
                </a:ln>
                <a:solidFill>
                  <a:srgbClr val="D5EDF4">
                    <a:tint val="85000"/>
                    <a:satMod val="155000"/>
                  </a:srgbClr>
                </a:solidFill>
                <a:effectLst>
                  <a:outerShdw blurRad="41275" dist="20320" dir="1800000" algn="tl" rotWithShape="0">
                    <a:srgbClr val="000000">
                      <a:alpha val="40000"/>
                    </a:srgbClr>
                  </a:outerShdw>
                </a:effectLst>
                <a:latin typeface="News Gothic MT"/>
                <a:ea typeface="+mn-ea"/>
                <a:cs typeface="+mn-cs"/>
              </a:rPr>
              <a:t>Clinical Dynamic </a:t>
            </a:r>
          </a:p>
          <a:p>
            <a:pPr algn="ctr" defTabSz="457200" fontAlgn="auto">
              <a:spcBef>
                <a:spcPts val="0"/>
              </a:spcBef>
              <a:spcAft>
                <a:spcPts val="0"/>
              </a:spcAft>
            </a:pPr>
            <a:r>
              <a:rPr lang="en-GB" sz="3600" b="1" dirty="0" smtClean="0">
                <a:ln w="12700">
                  <a:solidFill>
                    <a:srgbClr val="09213B">
                      <a:satMod val="155000"/>
                    </a:srgbClr>
                  </a:solidFill>
                  <a:prstDash val="solid"/>
                </a:ln>
                <a:solidFill>
                  <a:srgbClr val="D5EDF4">
                    <a:tint val="85000"/>
                    <a:satMod val="155000"/>
                  </a:srgbClr>
                </a:solidFill>
                <a:effectLst>
                  <a:outerShdw blurRad="41275" dist="20320" dir="1800000" algn="tl" rotWithShape="0">
                    <a:srgbClr val="000000">
                      <a:alpha val="40000"/>
                    </a:srgbClr>
                  </a:outerShdw>
                </a:effectLst>
                <a:latin typeface="News Gothic MT"/>
                <a:ea typeface="+mn-ea"/>
                <a:cs typeface="+mn-cs"/>
              </a:rPr>
              <a:t>Assessment</a:t>
            </a:r>
            <a:endParaRPr lang="en-US" sz="3600" b="1" dirty="0">
              <a:ln w="12700">
                <a:solidFill>
                  <a:srgbClr val="09213B">
                    <a:satMod val="155000"/>
                  </a:srgbClr>
                </a:solidFill>
                <a:prstDash val="solid"/>
              </a:ln>
              <a:solidFill>
                <a:srgbClr val="D5EDF4">
                  <a:tint val="85000"/>
                  <a:satMod val="155000"/>
                </a:srgbClr>
              </a:solidFill>
              <a:effectLst>
                <a:outerShdw blurRad="41275" dist="20320" dir="1800000" algn="tl" rotWithShape="0">
                  <a:srgbClr val="000000">
                    <a:alpha val="40000"/>
                  </a:srgbClr>
                </a:outerShdw>
              </a:effectLst>
              <a:latin typeface="News Gothic MT"/>
              <a:ea typeface="+mn-ea"/>
              <a:cs typeface="+mn-cs"/>
            </a:endParaRPr>
          </a:p>
        </p:txBody>
      </p:sp>
      <p:sp>
        <p:nvSpPr>
          <p:cNvPr id="8" name="Rectangle 7"/>
          <p:cNvSpPr/>
          <p:nvPr/>
        </p:nvSpPr>
        <p:spPr>
          <a:xfrm>
            <a:off x="1470979" y="4004410"/>
            <a:ext cx="2790222" cy="1569660"/>
          </a:xfrm>
          <a:prstGeom prst="rect">
            <a:avLst/>
          </a:prstGeom>
          <a:noFill/>
        </p:spPr>
        <p:txBody>
          <a:bodyPr wrap="square" lIns="91440" tIns="45720" rIns="91440" bIns="45720">
            <a:spAutoFit/>
          </a:bodyPr>
          <a:lstStyle/>
          <a:p>
            <a:pPr defTabSz="457200" fontAlgn="auto">
              <a:spcBef>
                <a:spcPts val="0"/>
              </a:spcBef>
              <a:spcAft>
                <a:spcPts val="0"/>
              </a:spcAft>
            </a:pPr>
            <a:r>
              <a:rPr lang="en-GB" sz="3200" b="1" dirty="0" smtClean="0">
                <a:ln w="31550" cmpd="sng">
                  <a:gradFill>
                    <a:gsLst>
                      <a:gs pos="25000">
                        <a:srgbClr val="2C7C9F">
                          <a:shade val="25000"/>
                          <a:satMod val="190000"/>
                        </a:srgbClr>
                      </a:gs>
                      <a:gs pos="80000">
                        <a:srgbClr val="2C7C9F">
                          <a:tint val="75000"/>
                          <a:satMod val="190000"/>
                        </a:srgbClr>
                      </a:gs>
                    </a:gsLst>
                    <a:lin ang="5400000"/>
                  </a:gradFill>
                  <a:prstDash val="solid"/>
                </a:ln>
                <a:solidFill>
                  <a:srgbClr val="FFFFFF"/>
                </a:solidFill>
                <a:effectLst>
                  <a:outerShdw blurRad="41275" dist="12700" dir="12000000" algn="tl" rotWithShape="0">
                    <a:srgbClr val="000000">
                      <a:alpha val="40000"/>
                    </a:srgbClr>
                  </a:outerShdw>
                </a:effectLst>
                <a:latin typeface="News Gothic MT"/>
                <a:ea typeface="+mn-ea"/>
                <a:cs typeface="+mn-cs"/>
              </a:rPr>
              <a:t>Research Dynamic </a:t>
            </a:r>
          </a:p>
          <a:p>
            <a:pPr defTabSz="457200" fontAlgn="auto">
              <a:spcBef>
                <a:spcPts val="0"/>
              </a:spcBef>
              <a:spcAft>
                <a:spcPts val="0"/>
              </a:spcAft>
            </a:pPr>
            <a:r>
              <a:rPr lang="en-GB" sz="3200" b="1" dirty="0" smtClean="0">
                <a:ln w="31550" cmpd="sng">
                  <a:gradFill>
                    <a:gsLst>
                      <a:gs pos="25000">
                        <a:srgbClr val="2C7C9F">
                          <a:shade val="25000"/>
                          <a:satMod val="190000"/>
                        </a:srgbClr>
                      </a:gs>
                      <a:gs pos="80000">
                        <a:srgbClr val="2C7C9F">
                          <a:tint val="75000"/>
                          <a:satMod val="190000"/>
                        </a:srgbClr>
                      </a:gs>
                    </a:gsLst>
                    <a:lin ang="5400000"/>
                  </a:gradFill>
                  <a:prstDash val="solid"/>
                </a:ln>
                <a:solidFill>
                  <a:srgbClr val="FFFFFF"/>
                </a:solidFill>
                <a:effectLst>
                  <a:outerShdw blurRad="41275" dist="12700" dir="12000000" algn="tl" rotWithShape="0">
                    <a:srgbClr val="000000">
                      <a:alpha val="40000"/>
                    </a:srgbClr>
                  </a:outerShdw>
                </a:effectLst>
                <a:latin typeface="News Gothic MT"/>
                <a:ea typeface="+mn-ea"/>
                <a:cs typeface="+mn-cs"/>
              </a:rPr>
              <a:t>Assessment</a:t>
            </a:r>
            <a:endParaRPr lang="en-GB" sz="3200" b="1" dirty="0">
              <a:ln w="31550" cmpd="sng">
                <a:gradFill>
                  <a:gsLst>
                    <a:gs pos="25000">
                      <a:srgbClr val="2C7C9F">
                        <a:shade val="25000"/>
                        <a:satMod val="190000"/>
                      </a:srgbClr>
                    </a:gs>
                    <a:gs pos="80000">
                      <a:srgbClr val="2C7C9F">
                        <a:tint val="75000"/>
                        <a:satMod val="190000"/>
                      </a:srgbClr>
                    </a:gs>
                  </a:gsLst>
                  <a:lin ang="5400000"/>
                </a:gradFill>
                <a:prstDash val="solid"/>
              </a:ln>
              <a:solidFill>
                <a:srgbClr val="FFFFFF"/>
              </a:solidFill>
              <a:effectLst>
                <a:outerShdw blurRad="41275" dist="12700" dir="12000000" algn="tl" rotWithShape="0">
                  <a:srgbClr val="000000">
                    <a:alpha val="40000"/>
                  </a:srgbClr>
                </a:outerShdw>
              </a:effectLst>
              <a:latin typeface="News Gothic MT"/>
              <a:ea typeface="+mn-ea"/>
              <a:cs typeface="+mn-cs"/>
            </a:endParaRPr>
          </a:p>
        </p:txBody>
      </p:sp>
      <p:sp>
        <p:nvSpPr>
          <p:cNvPr id="9" name="Rectangle 8"/>
          <p:cNvSpPr/>
          <p:nvPr/>
        </p:nvSpPr>
        <p:spPr>
          <a:xfrm>
            <a:off x="3768207" y="532125"/>
            <a:ext cx="4095993" cy="369332"/>
          </a:xfrm>
          <a:prstGeom prst="rect">
            <a:avLst/>
          </a:prstGeom>
          <a:noFill/>
        </p:spPr>
        <p:txBody>
          <a:bodyPr wrap="none" lIns="91440" tIns="45720" rIns="91440" bIns="45720">
            <a:spAutoFit/>
          </a:bodyPr>
          <a:lstStyle/>
          <a:p>
            <a:pPr algn="ctr" defTabSz="457200" fontAlgn="auto">
              <a:spcBef>
                <a:spcPts val="0"/>
              </a:spcBef>
              <a:spcAft>
                <a:spcPts val="0"/>
              </a:spcAft>
            </a:pPr>
            <a:r>
              <a:rPr lang="en-GB" b="1" dirty="0" smtClean="0">
                <a:ln w="12700">
                  <a:solidFill>
                    <a:srgbClr val="09213B">
                      <a:satMod val="155000"/>
                    </a:srgbClr>
                  </a:solidFill>
                  <a:prstDash val="solid"/>
                </a:ln>
                <a:solidFill>
                  <a:srgbClr val="660066"/>
                </a:solidFill>
                <a:effectLst>
                  <a:outerShdw blurRad="41275" dist="20320" dir="1800000" algn="tl" rotWithShape="0">
                    <a:srgbClr val="000000">
                      <a:alpha val="40000"/>
                    </a:srgbClr>
                  </a:outerShdw>
                </a:effectLst>
                <a:latin typeface="News Gothic MT"/>
                <a:ea typeface="+mn-ea"/>
                <a:cs typeface="+mn-cs"/>
              </a:rPr>
              <a:t>Curriculum-based Dynamic Assessment</a:t>
            </a:r>
            <a:endParaRPr lang="en-GB" b="1" dirty="0">
              <a:ln w="12700">
                <a:solidFill>
                  <a:srgbClr val="09213B">
                    <a:satMod val="155000"/>
                  </a:srgbClr>
                </a:solidFill>
                <a:prstDash val="solid"/>
              </a:ln>
              <a:solidFill>
                <a:srgbClr val="660066"/>
              </a:solidFill>
              <a:effectLst>
                <a:outerShdw blurRad="41275" dist="20320" dir="1800000" algn="tl" rotWithShape="0">
                  <a:srgbClr val="000000">
                    <a:alpha val="40000"/>
                  </a:srgbClr>
                </a:outerShdw>
              </a:effectLst>
              <a:latin typeface="News Gothic MT"/>
              <a:ea typeface="+mn-ea"/>
              <a:cs typeface="+mn-cs"/>
            </a:endParaRPr>
          </a:p>
        </p:txBody>
      </p:sp>
      <p:sp>
        <p:nvSpPr>
          <p:cNvPr id="10" name="Rectangle 9"/>
          <p:cNvSpPr/>
          <p:nvPr/>
        </p:nvSpPr>
        <p:spPr>
          <a:xfrm>
            <a:off x="264611" y="2202851"/>
            <a:ext cx="3756820" cy="369332"/>
          </a:xfrm>
          <a:prstGeom prst="rect">
            <a:avLst/>
          </a:prstGeom>
          <a:noFill/>
        </p:spPr>
        <p:txBody>
          <a:bodyPr wrap="none" lIns="91440" tIns="45720" rIns="91440" bIns="45720">
            <a:spAutoFit/>
          </a:bodyPr>
          <a:lstStyle/>
          <a:p>
            <a:pPr algn="ctr" defTabSz="457200" fontAlgn="auto">
              <a:spcBef>
                <a:spcPts val="0"/>
              </a:spcBef>
              <a:spcAft>
                <a:spcPts val="0"/>
              </a:spcAft>
            </a:pPr>
            <a:r>
              <a:rPr lang="en-GB" b="1" dirty="0" smtClean="0">
                <a:ln w="12700">
                  <a:solidFill>
                    <a:srgbClr val="09213B">
                      <a:satMod val="155000"/>
                    </a:srgbClr>
                  </a:solidFill>
                  <a:prstDash val="solid"/>
                </a:ln>
                <a:solidFill>
                  <a:srgbClr val="008000"/>
                </a:solidFill>
                <a:effectLst>
                  <a:outerShdw blurRad="41275" dist="20320" dir="1800000" algn="tl" rotWithShape="0">
                    <a:srgbClr val="000000">
                      <a:alpha val="40000"/>
                    </a:srgbClr>
                  </a:outerShdw>
                </a:effectLst>
                <a:latin typeface="News Gothic MT"/>
                <a:ea typeface="+mn-ea"/>
                <a:cs typeface="+mn-cs"/>
              </a:rPr>
              <a:t>Structural Dynamic Assessment</a:t>
            </a:r>
            <a:endParaRPr lang="en-GB" b="1" dirty="0">
              <a:ln w="12700">
                <a:solidFill>
                  <a:srgbClr val="09213B">
                    <a:satMod val="155000"/>
                  </a:srgbClr>
                </a:solidFill>
                <a:prstDash val="solid"/>
              </a:ln>
              <a:solidFill>
                <a:srgbClr val="008000"/>
              </a:solidFill>
              <a:effectLst>
                <a:outerShdw blurRad="41275" dist="20320" dir="1800000" algn="tl" rotWithShape="0">
                  <a:srgbClr val="000000">
                    <a:alpha val="40000"/>
                  </a:srgbClr>
                </a:outerShdw>
              </a:effectLst>
              <a:latin typeface="News Gothic MT"/>
              <a:ea typeface="+mn-ea"/>
              <a:cs typeface="+mn-cs"/>
            </a:endParaRPr>
          </a:p>
        </p:txBody>
      </p:sp>
      <p:sp>
        <p:nvSpPr>
          <p:cNvPr id="11" name="Rectangle 10"/>
          <p:cNvSpPr/>
          <p:nvPr/>
        </p:nvSpPr>
        <p:spPr>
          <a:xfrm>
            <a:off x="3564826" y="5407827"/>
            <a:ext cx="3775393" cy="400110"/>
          </a:xfrm>
          <a:prstGeom prst="rect">
            <a:avLst/>
          </a:prstGeom>
          <a:noFill/>
        </p:spPr>
        <p:txBody>
          <a:bodyPr wrap="none" lIns="91440" tIns="45720" rIns="91440" bIns="45720">
            <a:spAutoFit/>
          </a:bodyPr>
          <a:lstStyle/>
          <a:p>
            <a:pPr algn="ctr" defTabSz="457200" fontAlgn="auto">
              <a:spcBef>
                <a:spcPts val="0"/>
              </a:spcBef>
              <a:spcAft>
                <a:spcPts val="0"/>
              </a:spcAft>
            </a:pPr>
            <a:r>
              <a:rPr lang="en-GB" sz="2000" b="1" dirty="0" smtClean="0">
                <a:ln w="12700">
                  <a:solidFill>
                    <a:srgbClr val="09213B">
                      <a:satMod val="155000"/>
                    </a:srgbClr>
                  </a:solidFill>
                  <a:prstDash val="solid"/>
                </a:ln>
                <a:solidFill>
                  <a:srgbClr val="FF0000"/>
                </a:solidFill>
                <a:effectLst>
                  <a:outerShdw blurRad="41275" dist="20320" dir="1800000" algn="tl" rotWithShape="0">
                    <a:srgbClr val="000000">
                      <a:alpha val="40000"/>
                    </a:srgbClr>
                  </a:outerShdw>
                </a:effectLst>
                <a:latin typeface="News Gothic MT"/>
                <a:ea typeface="+mn-ea"/>
                <a:cs typeface="+mn-cs"/>
              </a:rPr>
              <a:t>Functional Dynamic Assessment</a:t>
            </a:r>
            <a:endParaRPr lang="en-GB" sz="2000" b="1" dirty="0">
              <a:ln w="12700">
                <a:solidFill>
                  <a:srgbClr val="09213B">
                    <a:satMod val="155000"/>
                  </a:srgbClr>
                </a:solidFill>
                <a:prstDash val="solid"/>
              </a:ln>
              <a:solidFill>
                <a:srgbClr val="FF0000"/>
              </a:solidFill>
              <a:effectLst>
                <a:outerShdw blurRad="41275" dist="20320" dir="1800000" algn="tl" rotWithShape="0">
                  <a:srgbClr val="000000">
                    <a:alpha val="40000"/>
                  </a:srgbClr>
                </a:outerShdw>
              </a:effectLst>
              <a:latin typeface="News Gothic MT"/>
              <a:ea typeface="+mn-ea"/>
              <a:cs typeface="+mn-cs"/>
            </a:endParaRPr>
          </a:p>
        </p:txBody>
      </p:sp>
      <p:sp>
        <p:nvSpPr>
          <p:cNvPr id="4" name="Footer Placeholder 3"/>
          <p:cNvSpPr>
            <a:spLocks noGrp="1"/>
          </p:cNvSpPr>
          <p:nvPr>
            <p:ph type="ftr" sz="quarter" idx="11"/>
          </p:nvPr>
        </p:nvSpPr>
        <p:spPr/>
        <p:txBody>
          <a:bodyPr/>
          <a:lstStyle/>
          <a:p>
            <a:r>
              <a:rPr lang="en-US" dirty="0" err="1" smtClean="0">
                <a:solidFill>
                  <a:prstClr val="white"/>
                </a:solidFill>
              </a:rPr>
              <a:t>www.head-ways.co.uk</a:t>
            </a:r>
            <a:endParaRPr lang="en-US" dirty="0">
              <a:solidFill>
                <a:prstClr val="white"/>
              </a:solidFill>
            </a:endParaRPr>
          </a:p>
        </p:txBody>
      </p:sp>
      <p:pic>
        <p:nvPicPr>
          <p:cNvPr id="12" name="Picture 11" descr="Logo1.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373480" y="6264752"/>
            <a:ext cx="1632929" cy="468666"/>
          </a:xfrm>
          <a:prstGeom prst="rect">
            <a:avLst/>
          </a:prstGeom>
        </p:spPr>
      </p:pic>
    </p:spTree>
    <p:extLst>
      <p:ext uri="{BB962C8B-B14F-4D97-AF65-F5344CB8AC3E}">
        <p14:creationId xmlns:p14="http://schemas.microsoft.com/office/powerpoint/2010/main" val="19314829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4-11-30 at 19.42.46.png"/>
          <p:cNvPicPr>
            <a:picLocks noChangeAspect="1"/>
          </p:cNvPicPr>
          <p:nvPr/>
        </p:nvPicPr>
        <p:blipFill>
          <a:blip r:embed="rId3" cstate="email">
            <a:alphaModFix amt="52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0" y="-26902"/>
            <a:ext cx="9144000" cy="6858000"/>
          </a:xfrm>
          <a:prstGeom prst="rect">
            <a:avLst/>
          </a:prstGeom>
        </p:spPr>
      </p:pic>
      <p:sp>
        <p:nvSpPr>
          <p:cNvPr id="5" name="TextBox 4"/>
          <p:cNvSpPr txBox="1"/>
          <p:nvPr/>
        </p:nvSpPr>
        <p:spPr>
          <a:xfrm>
            <a:off x="4405425" y="583557"/>
            <a:ext cx="3151211" cy="1754327"/>
          </a:xfrm>
          <a:prstGeom prst="rect">
            <a:avLst/>
          </a:prstGeom>
          <a:solidFill>
            <a:srgbClr val="FFFF00"/>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fontAlgn="auto">
              <a:spcBef>
                <a:spcPts val="0"/>
              </a:spcBef>
              <a:spcAft>
                <a:spcPts val="0"/>
              </a:spcAft>
            </a:pPr>
            <a:r>
              <a:rPr lang="en-US" b="1" u="sng" dirty="0" smtClean="0">
                <a:solidFill>
                  <a:srgbClr val="D5EDF4">
                    <a:lumMod val="10000"/>
                  </a:srgbClr>
                </a:solidFill>
                <a:latin typeface="Arial Black"/>
                <a:cs typeface="Arial Black"/>
              </a:rPr>
              <a:t> Russia / Northern Europe </a:t>
            </a:r>
          </a:p>
          <a:p>
            <a:pPr marL="285750" indent="-285750" defTabSz="457200" fontAlgn="auto">
              <a:spcBef>
                <a:spcPts val="0"/>
              </a:spcBef>
              <a:spcAft>
                <a:spcPts val="0"/>
              </a:spcAft>
              <a:buFont typeface="Arial"/>
              <a:buChar char="•"/>
            </a:pPr>
            <a:r>
              <a:rPr lang="en-US" b="1" dirty="0" err="1" smtClean="0">
                <a:solidFill>
                  <a:srgbClr val="D5EDF4">
                    <a:lumMod val="10000"/>
                  </a:srgbClr>
                </a:solidFill>
                <a:latin typeface="Arial Black"/>
                <a:cs typeface="Arial Black"/>
              </a:rPr>
              <a:t>Vygotsky</a:t>
            </a:r>
            <a:endParaRPr lang="en-US" b="1" dirty="0" smtClean="0">
              <a:solidFill>
                <a:srgbClr val="D5EDF4">
                  <a:lumMod val="10000"/>
                </a:srgbClr>
              </a:solidFill>
              <a:latin typeface="Arial Black"/>
              <a:cs typeface="Arial Black"/>
            </a:endParaRPr>
          </a:p>
          <a:p>
            <a:pPr marL="285750" indent="-285750" defTabSz="457200" fontAlgn="auto">
              <a:spcBef>
                <a:spcPts val="0"/>
              </a:spcBef>
              <a:spcAft>
                <a:spcPts val="0"/>
              </a:spcAft>
              <a:buFont typeface="Arial"/>
              <a:buChar char="•"/>
            </a:pPr>
            <a:r>
              <a:rPr lang="en-US" b="1" dirty="0" smtClean="0">
                <a:solidFill>
                  <a:srgbClr val="D5EDF4">
                    <a:lumMod val="10000"/>
                  </a:srgbClr>
                </a:solidFill>
                <a:latin typeface="Arial Black"/>
                <a:cs typeface="Arial Black"/>
              </a:rPr>
              <a:t> </a:t>
            </a:r>
            <a:r>
              <a:rPr lang="en-US" b="1" dirty="0" err="1" smtClean="0">
                <a:solidFill>
                  <a:srgbClr val="D5EDF4">
                    <a:lumMod val="10000"/>
                  </a:srgbClr>
                </a:solidFill>
                <a:latin typeface="Arial Black"/>
                <a:cs typeface="Arial Black"/>
              </a:rPr>
              <a:t>Guthke</a:t>
            </a:r>
            <a:r>
              <a:rPr lang="en-US" b="1" dirty="0" smtClean="0">
                <a:solidFill>
                  <a:srgbClr val="D5EDF4">
                    <a:lumMod val="10000"/>
                  </a:srgbClr>
                </a:solidFill>
                <a:latin typeface="Arial Black"/>
                <a:cs typeface="Arial Black"/>
              </a:rPr>
              <a:t> – Learning Potential/ Dynamic testing</a:t>
            </a:r>
          </a:p>
        </p:txBody>
      </p:sp>
      <p:sp>
        <p:nvSpPr>
          <p:cNvPr id="6" name="TextBox 5"/>
          <p:cNvSpPr txBox="1"/>
          <p:nvPr/>
        </p:nvSpPr>
        <p:spPr>
          <a:xfrm>
            <a:off x="5408795" y="2850392"/>
            <a:ext cx="2853335" cy="2277547"/>
          </a:xfrm>
          <a:prstGeom prst="rect">
            <a:avLst/>
          </a:prstGeom>
          <a:solidFill>
            <a:schemeClr val="bg2">
              <a:lumMod val="50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fontAlgn="auto">
              <a:spcBef>
                <a:spcPts val="0"/>
              </a:spcBef>
              <a:spcAft>
                <a:spcPts val="0"/>
              </a:spcAft>
            </a:pPr>
            <a:r>
              <a:rPr lang="en-US" u="sng" dirty="0" smtClean="0">
                <a:solidFill>
                  <a:srgbClr val="09213B">
                    <a:lumMod val="50000"/>
                  </a:srgbClr>
                </a:solidFill>
                <a:latin typeface="Arial Black"/>
                <a:cs typeface="Arial Black"/>
              </a:rPr>
              <a:t> Southern Europe/ Israel</a:t>
            </a:r>
          </a:p>
          <a:p>
            <a:pPr marL="285750" indent="-285750" defTabSz="457200" fontAlgn="auto">
              <a:spcBef>
                <a:spcPts val="0"/>
              </a:spcBef>
              <a:spcAft>
                <a:spcPts val="0"/>
              </a:spcAft>
              <a:buFont typeface="Arial"/>
              <a:buChar char="•"/>
            </a:pPr>
            <a:r>
              <a:rPr lang="en-US" dirty="0" smtClean="0">
                <a:solidFill>
                  <a:srgbClr val="09213B">
                    <a:lumMod val="50000"/>
                  </a:srgbClr>
                </a:solidFill>
                <a:latin typeface="Arial Black"/>
                <a:cs typeface="Arial Black"/>
              </a:rPr>
              <a:t>Piaget/ Rey</a:t>
            </a:r>
          </a:p>
          <a:p>
            <a:pPr marL="285750" indent="-285750" defTabSz="457200" fontAlgn="auto">
              <a:spcBef>
                <a:spcPts val="0"/>
              </a:spcBef>
              <a:spcAft>
                <a:spcPts val="0"/>
              </a:spcAft>
              <a:buFont typeface="Arial"/>
              <a:buChar char="•"/>
            </a:pPr>
            <a:r>
              <a:rPr lang="en-US" dirty="0" smtClean="0">
                <a:solidFill>
                  <a:srgbClr val="09213B">
                    <a:lumMod val="50000"/>
                  </a:srgbClr>
                </a:solidFill>
                <a:latin typeface="Arial Black"/>
                <a:cs typeface="Arial Black"/>
              </a:rPr>
              <a:t>Feuerstein Dynamic assessment</a:t>
            </a:r>
          </a:p>
          <a:p>
            <a:pPr marL="285750" indent="-285750" defTabSz="457200" fontAlgn="auto">
              <a:spcBef>
                <a:spcPts val="0"/>
              </a:spcBef>
              <a:spcAft>
                <a:spcPts val="0"/>
              </a:spcAft>
              <a:buFont typeface="Arial"/>
              <a:buChar char="•"/>
            </a:pPr>
            <a:r>
              <a:rPr lang="en-US" dirty="0" err="1" smtClean="0">
                <a:solidFill>
                  <a:srgbClr val="09213B">
                    <a:lumMod val="50000"/>
                  </a:srgbClr>
                </a:solidFill>
                <a:latin typeface="Arial Black"/>
                <a:cs typeface="Arial Black"/>
              </a:rPr>
              <a:t>Tzuriel</a:t>
            </a:r>
            <a:endParaRPr lang="en-US" dirty="0" smtClean="0">
              <a:solidFill>
                <a:srgbClr val="09213B">
                  <a:lumMod val="50000"/>
                </a:srgbClr>
              </a:solidFill>
              <a:latin typeface="Arial Black"/>
              <a:cs typeface="Arial Black"/>
            </a:endParaRPr>
          </a:p>
          <a:p>
            <a:pPr defTabSz="457200" fontAlgn="auto">
              <a:spcBef>
                <a:spcPts val="0"/>
              </a:spcBef>
              <a:spcAft>
                <a:spcPts val="0"/>
              </a:spcAft>
            </a:pPr>
            <a:endParaRPr lang="en-US" sz="1600" dirty="0">
              <a:solidFill>
                <a:srgbClr val="09213B">
                  <a:lumMod val="50000"/>
                </a:srgbClr>
              </a:solidFill>
              <a:latin typeface="Arial Black"/>
              <a:cs typeface="Arial Black"/>
            </a:endParaRPr>
          </a:p>
        </p:txBody>
      </p:sp>
      <p:sp>
        <p:nvSpPr>
          <p:cNvPr id="7" name="TextBox 6"/>
          <p:cNvSpPr txBox="1"/>
          <p:nvPr/>
        </p:nvSpPr>
        <p:spPr>
          <a:xfrm>
            <a:off x="1285569" y="2207412"/>
            <a:ext cx="2555460" cy="2031325"/>
          </a:xfrm>
          <a:prstGeom prst="rect">
            <a:avLst/>
          </a:prstGeom>
          <a:solidFill>
            <a:schemeClr val="accent5">
              <a:lumMod val="60000"/>
              <a:lumOff val="40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fontAlgn="auto">
              <a:spcBef>
                <a:spcPts val="0"/>
              </a:spcBef>
              <a:spcAft>
                <a:spcPts val="0"/>
              </a:spcAft>
            </a:pPr>
            <a:r>
              <a:rPr lang="en-US" u="sng" dirty="0" smtClean="0">
                <a:solidFill>
                  <a:srgbClr val="D5EDF4">
                    <a:lumMod val="10000"/>
                  </a:srgbClr>
                </a:solidFill>
                <a:latin typeface="Arial Black"/>
                <a:cs typeface="Arial Black"/>
              </a:rPr>
              <a:t>USA </a:t>
            </a:r>
          </a:p>
          <a:p>
            <a:pPr marL="285750" indent="-285750" defTabSz="457200" fontAlgn="auto">
              <a:spcBef>
                <a:spcPts val="0"/>
              </a:spcBef>
              <a:spcAft>
                <a:spcPts val="0"/>
              </a:spcAft>
              <a:buFont typeface="Arial"/>
              <a:buChar char="•"/>
            </a:pPr>
            <a:r>
              <a:rPr lang="en-US" dirty="0" smtClean="0">
                <a:solidFill>
                  <a:srgbClr val="D5EDF4">
                    <a:lumMod val="10000"/>
                  </a:srgbClr>
                </a:solidFill>
                <a:latin typeface="Arial Black"/>
                <a:cs typeface="Arial Black"/>
              </a:rPr>
              <a:t>Haywood / </a:t>
            </a:r>
            <a:r>
              <a:rPr lang="en-US" dirty="0" err="1" smtClean="0">
                <a:solidFill>
                  <a:srgbClr val="D5EDF4">
                    <a:lumMod val="10000"/>
                  </a:srgbClr>
                </a:solidFill>
                <a:latin typeface="Arial Black"/>
                <a:cs typeface="Arial Black"/>
              </a:rPr>
              <a:t>Lidz</a:t>
            </a:r>
            <a:r>
              <a:rPr lang="en-US" dirty="0" smtClean="0">
                <a:solidFill>
                  <a:srgbClr val="D5EDF4">
                    <a:lumMod val="10000"/>
                  </a:srgbClr>
                </a:solidFill>
                <a:latin typeface="Arial Black"/>
                <a:cs typeface="Arial Black"/>
              </a:rPr>
              <a:t> – Interactive assessment </a:t>
            </a:r>
          </a:p>
          <a:p>
            <a:pPr marL="285750" indent="-285750" defTabSz="457200" fontAlgn="auto">
              <a:spcBef>
                <a:spcPts val="0"/>
              </a:spcBef>
              <a:spcAft>
                <a:spcPts val="0"/>
              </a:spcAft>
              <a:buFont typeface="Arial"/>
              <a:buChar char="•"/>
            </a:pPr>
            <a:r>
              <a:rPr lang="en-US" dirty="0" smtClean="0">
                <a:solidFill>
                  <a:srgbClr val="D5EDF4">
                    <a:lumMod val="10000"/>
                  </a:srgbClr>
                </a:solidFill>
                <a:latin typeface="Arial Black"/>
                <a:cs typeface="Arial Black"/>
              </a:rPr>
              <a:t>Sternberg/ </a:t>
            </a:r>
            <a:r>
              <a:rPr lang="en-US" dirty="0" err="1" smtClean="0">
                <a:solidFill>
                  <a:srgbClr val="D5EDF4">
                    <a:lumMod val="10000"/>
                  </a:srgbClr>
                </a:solidFill>
                <a:latin typeface="Arial Black"/>
                <a:cs typeface="Arial Black"/>
              </a:rPr>
              <a:t>Grigorenko</a:t>
            </a:r>
            <a:endParaRPr lang="en-US" dirty="0" smtClean="0">
              <a:solidFill>
                <a:srgbClr val="D5EDF4">
                  <a:lumMod val="10000"/>
                </a:srgbClr>
              </a:solidFill>
              <a:latin typeface="Arial Black"/>
              <a:cs typeface="Arial Black"/>
            </a:endParaRPr>
          </a:p>
          <a:p>
            <a:pPr marL="285750" indent="-285750" defTabSz="457200" fontAlgn="auto">
              <a:spcBef>
                <a:spcPts val="0"/>
              </a:spcBef>
              <a:spcAft>
                <a:spcPts val="0"/>
              </a:spcAft>
              <a:buFont typeface="Arial"/>
              <a:buChar char="•"/>
            </a:pPr>
            <a:r>
              <a:rPr lang="en-US" dirty="0" err="1" smtClean="0">
                <a:solidFill>
                  <a:srgbClr val="D5EDF4">
                    <a:lumMod val="10000"/>
                  </a:srgbClr>
                </a:solidFill>
                <a:latin typeface="Arial Black"/>
                <a:cs typeface="Arial Black"/>
              </a:rPr>
              <a:t>Tzuriel</a:t>
            </a:r>
            <a:endParaRPr lang="en-US" dirty="0" smtClean="0">
              <a:solidFill>
                <a:srgbClr val="D5EDF4">
                  <a:lumMod val="10000"/>
                </a:srgbClr>
              </a:solidFill>
              <a:latin typeface="Arial Black"/>
              <a:cs typeface="Arial Black"/>
            </a:endParaRPr>
          </a:p>
        </p:txBody>
      </p:sp>
      <p:sp>
        <p:nvSpPr>
          <p:cNvPr id="2" name="Footer Placeholder 1"/>
          <p:cNvSpPr>
            <a:spLocks noGrp="1"/>
          </p:cNvSpPr>
          <p:nvPr>
            <p:ph type="ftr" sz="quarter" idx="11"/>
          </p:nvPr>
        </p:nvSpPr>
        <p:spPr/>
        <p:txBody>
          <a:bodyPr/>
          <a:lstStyle/>
          <a:p>
            <a:r>
              <a:rPr lang="en-US" dirty="0" err="1" smtClean="0">
                <a:solidFill>
                  <a:prstClr val="white"/>
                </a:solidFill>
              </a:rPr>
              <a:t>www.head-ways.co.uk</a:t>
            </a:r>
            <a:endParaRPr lang="en-US" dirty="0">
              <a:solidFill>
                <a:prstClr val="white"/>
              </a:solidFill>
            </a:endParaRPr>
          </a:p>
        </p:txBody>
      </p:sp>
      <p:pic>
        <p:nvPicPr>
          <p:cNvPr id="8" name="Picture 7" descr="Logo1.jp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373480" y="6264752"/>
            <a:ext cx="1632929" cy="468666"/>
          </a:xfrm>
          <a:prstGeom prst="rect">
            <a:avLst/>
          </a:prstGeom>
        </p:spPr>
      </p:pic>
      <p:sp>
        <p:nvSpPr>
          <p:cNvPr id="9" name="Left-Right-Up Arrow 8"/>
          <p:cNvSpPr/>
          <p:nvPr/>
        </p:nvSpPr>
        <p:spPr>
          <a:xfrm>
            <a:off x="3841029" y="2614883"/>
            <a:ext cx="1567767" cy="1069858"/>
          </a:xfrm>
          <a:prstGeom prst="leftRigh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457200" fontAlgn="auto">
              <a:spcBef>
                <a:spcPts val="0"/>
              </a:spcBef>
              <a:spcAft>
                <a:spcPts val="0"/>
              </a:spcAft>
            </a:pPr>
            <a:endParaRPr lang="en-US">
              <a:solidFill>
                <a:prstClr val="white"/>
              </a:solidFill>
            </a:endParaRPr>
          </a:p>
        </p:txBody>
      </p:sp>
      <p:sp>
        <p:nvSpPr>
          <p:cNvPr id="10" name="TextBox 9"/>
          <p:cNvSpPr txBox="1"/>
          <p:nvPr/>
        </p:nvSpPr>
        <p:spPr>
          <a:xfrm>
            <a:off x="602409" y="5266262"/>
            <a:ext cx="4379677" cy="830997"/>
          </a:xfrm>
          <a:prstGeom prst="rect">
            <a:avLst/>
          </a:prstGeom>
          <a:noFill/>
        </p:spPr>
        <p:txBody>
          <a:bodyPr wrap="square" rtlCol="0">
            <a:spAutoFit/>
          </a:bodyPr>
          <a:lstStyle/>
          <a:p>
            <a:pPr defTabSz="457200" fontAlgn="auto">
              <a:spcBef>
                <a:spcPts val="0"/>
              </a:spcBef>
              <a:spcAft>
                <a:spcPts val="0"/>
              </a:spcAft>
            </a:pPr>
            <a:r>
              <a:rPr lang="en-US" sz="2400" b="1" dirty="0" smtClean="0">
                <a:solidFill>
                  <a:prstClr val="black"/>
                </a:solidFill>
                <a:latin typeface="News Gothic MT"/>
                <a:ea typeface="+mn-ea"/>
                <a:cs typeface="+mn-cs"/>
              </a:rPr>
              <a:t>Origins of different formats of DA</a:t>
            </a:r>
            <a:endParaRPr lang="en-US" sz="2400" b="1" dirty="0">
              <a:solidFill>
                <a:prstClr val="black"/>
              </a:solidFill>
              <a:latin typeface="News Gothic MT"/>
              <a:ea typeface="+mn-ea"/>
              <a:cs typeface="+mn-cs"/>
            </a:endParaRPr>
          </a:p>
        </p:txBody>
      </p:sp>
    </p:spTree>
    <p:extLst>
      <p:ext uri="{BB962C8B-B14F-4D97-AF65-F5344CB8AC3E}">
        <p14:creationId xmlns:p14="http://schemas.microsoft.com/office/powerpoint/2010/main" val="17875140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lsclogo.gi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308304" y="4653136"/>
            <a:ext cx="1675751" cy="1989584"/>
          </a:xfrm>
          <a:prstGeom prst="rect">
            <a:avLst/>
          </a:prstGeom>
        </p:spPr>
      </p:pic>
      <p:sp>
        <p:nvSpPr>
          <p:cNvPr id="3" name="Rectangle 2"/>
          <p:cNvSpPr txBox="1">
            <a:spLocks noChangeArrowheads="1"/>
          </p:cNvSpPr>
          <p:nvPr/>
        </p:nvSpPr>
        <p:spPr bwMode="auto">
          <a:xfrm>
            <a:off x="577128" y="360513"/>
            <a:ext cx="6408712" cy="792087"/>
          </a:xfrm>
          <a:prstGeom prst="rect">
            <a:avLst/>
          </a:prstGeom>
          <a:solidFill>
            <a:srgbClr val="6296C3"/>
          </a:solidFill>
          <a:ln w="50800">
            <a:solidFill>
              <a:schemeClr val="accent6">
                <a:lumMod val="75000"/>
              </a:schemeClr>
            </a:solidFill>
            <a:miter lim="800000"/>
            <a:headEnd/>
            <a:tailEnd/>
          </a:ln>
          <a:extLs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GB" sz="3200" dirty="0" smtClean="0">
                <a:latin typeface="Arial" charset="0"/>
              </a:rPr>
              <a:t/>
            </a:r>
            <a:br>
              <a:rPr lang="en-GB" sz="3200" dirty="0" smtClean="0">
                <a:latin typeface="Arial" charset="0"/>
              </a:rPr>
            </a:br>
            <a:r>
              <a:rPr lang="en-GB" sz="3200" dirty="0" smtClean="0">
                <a:solidFill>
                  <a:schemeClr val="accent2"/>
                </a:solidFill>
                <a:latin typeface="Arial" charset="0"/>
              </a:rPr>
              <a:t> </a:t>
            </a:r>
            <a:br>
              <a:rPr lang="en-GB" sz="3200" dirty="0" smtClean="0">
                <a:solidFill>
                  <a:schemeClr val="accent2"/>
                </a:solidFill>
                <a:latin typeface="Arial" charset="0"/>
              </a:rPr>
            </a:br>
            <a:endParaRPr lang="en-GB" sz="3200" dirty="0" smtClean="0">
              <a:solidFill>
                <a:schemeClr val="accent2"/>
              </a:solidFill>
              <a:latin typeface="Arial" charset="0"/>
            </a:endParaRPr>
          </a:p>
          <a:p>
            <a:pPr eaLnBrk="1" hangingPunct="1"/>
            <a:r>
              <a:rPr lang="en-GB" sz="4000" b="1" dirty="0" smtClean="0">
                <a:solidFill>
                  <a:srgbClr val="000000"/>
                </a:solidFill>
                <a:latin typeface="Arial" charset="0"/>
              </a:rPr>
              <a:t>Dynamic Assessment</a:t>
            </a:r>
            <a:br>
              <a:rPr lang="en-GB" sz="4000" b="1"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endParaRPr lang="en-GB" sz="4000" dirty="0">
              <a:solidFill>
                <a:srgbClr val="000000"/>
              </a:solidFill>
              <a:latin typeface="Arial" charset="0"/>
            </a:endParaRPr>
          </a:p>
        </p:txBody>
      </p:sp>
      <p:pic>
        <p:nvPicPr>
          <p:cNvPr id="1028" name="Picture 4" descr="https://stibco.nl/images/stories/CMB_tzuriel_web.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03848" y="1728891"/>
            <a:ext cx="1600200" cy="17954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i1.rgstatic.net/i/profile/4895455c2c7594c738_l_a1957.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3804" y="1728891"/>
            <a:ext cx="17145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realtraining.co.uk/wp/wp-content/uploads/2013/11/ruth_square.jp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11560" y="4293096"/>
            <a:ext cx="1728192" cy="17281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strath.ac.uk/media/publications/pressreleases/2012/FraserSQ.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3243" y="4504382"/>
            <a:ext cx="1656184" cy="165618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59532" y="6124654"/>
            <a:ext cx="2160240" cy="369332"/>
          </a:xfrm>
          <a:prstGeom prst="rect">
            <a:avLst/>
          </a:prstGeom>
          <a:noFill/>
        </p:spPr>
        <p:txBody>
          <a:bodyPr wrap="square" rtlCol="0">
            <a:spAutoFit/>
          </a:bodyPr>
          <a:lstStyle/>
          <a:p>
            <a:r>
              <a:rPr lang="en-GB" dirty="0" smtClean="0"/>
              <a:t>Ruth Deutsch</a:t>
            </a:r>
            <a:endParaRPr lang="en-GB" dirty="0"/>
          </a:p>
        </p:txBody>
      </p:sp>
      <p:sp>
        <p:nvSpPr>
          <p:cNvPr id="14" name="TextBox 13"/>
          <p:cNvSpPr txBox="1"/>
          <p:nvPr/>
        </p:nvSpPr>
        <p:spPr>
          <a:xfrm>
            <a:off x="2923828" y="3628203"/>
            <a:ext cx="2160240" cy="369332"/>
          </a:xfrm>
          <a:prstGeom prst="rect">
            <a:avLst/>
          </a:prstGeom>
          <a:noFill/>
        </p:spPr>
        <p:txBody>
          <a:bodyPr wrap="square" rtlCol="0">
            <a:spAutoFit/>
          </a:bodyPr>
          <a:lstStyle/>
          <a:p>
            <a:pPr algn="ctr"/>
            <a:r>
              <a:rPr lang="en-GB" dirty="0" smtClean="0"/>
              <a:t>David </a:t>
            </a:r>
            <a:r>
              <a:rPr lang="en-GB" dirty="0" err="1" smtClean="0"/>
              <a:t>Tzuriel</a:t>
            </a:r>
            <a:endParaRPr lang="en-GB" dirty="0"/>
          </a:p>
        </p:txBody>
      </p:sp>
      <p:sp>
        <p:nvSpPr>
          <p:cNvPr id="15" name="TextBox 14"/>
          <p:cNvSpPr txBox="1"/>
          <p:nvPr/>
        </p:nvSpPr>
        <p:spPr>
          <a:xfrm>
            <a:off x="5508104" y="3628203"/>
            <a:ext cx="2160240" cy="369332"/>
          </a:xfrm>
          <a:prstGeom prst="rect">
            <a:avLst/>
          </a:prstGeom>
          <a:noFill/>
        </p:spPr>
        <p:txBody>
          <a:bodyPr wrap="square" rtlCol="0">
            <a:spAutoFit/>
          </a:bodyPr>
          <a:lstStyle/>
          <a:p>
            <a:r>
              <a:rPr lang="en-GB" dirty="0" smtClean="0"/>
              <a:t>Carol </a:t>
            </a:r>
            <a:r>
              <a:rPr lang="en-GB" dirty="0" err="1" smtClean="0"/>
              <a:t>Lidz</a:t>
            </a:r>
            <a:endParaRPr lang="en-GB" dirty="0"/>
          </a:p>
        </p:txBody>
      </p:sp>
      <p:sp>
        <p:nvSpPr>
          <p:cNvPr id="16" name="TextBox 15"/>
          <p:cNvSpPr txBox="1"/>
          <p:nvPr/>
        </p:nvSpPr>
        <p:spPr>
          <a:xfrm>
            <a:off x="5175060" y="6273388"/>
            <a:ext cx="2160240" cy="369332"/>
          </a:xfrm>
          <a:prstGeom prst="rect">
            <a:avLst/>
          </a:prstGeom>
          <a:noFill/>
        </p:spPr>
        <p:txBody>
          <a:bodyPr wrap="square" rtlCol="0">
            <a:spAutoFit/>
          </a:bodyPr>
          <a:lstStyle/>
          <a:p>
            <a:pPr algn="ctr"/>
            <a:r>
              <a:rPr lang="en-GB" dirty="0" smtClean="0"/>
              <a:t>Fraser </a:t>
            </a:r>
            <a:r>
              <a:rPr lang="en-GB" dirty="0" err="1" smtClean="0"/>
              <a:t>Lauchlan</a:t>
            </a:r>
            <a:endParaRPr lang="en-GB" dirty="0"/>
          </a:p>
        </p:txBody>
      </p:sp>
      <p:pic>
        <p:nvPicPr>
          <p:cNvPr id="4" name="Picture 3"/>
          <p:cNvPicPr>
            <a:picLocks noChangeAspect="1"/>
          </p:cNvPicPr>
          <p:nvPr/>
        </p:nvPicPr>
        <p:blipFill rotWithShape="1">
          <a:blip r:embed="rId7" cstate="email">
            <a:extLst>
              <a:ext uri="{28A0092B-C50C-407E-A947-70E740481C1C}">
                <a14:useLocalDpi xmlns:a14="http://schemas.microsoft.com/office/drawing/2010/main" val="0"/>
              </a:ext>
            </a:extLst>
          </a:blip>
          <a:srcRect r="34399"/>
          <a:stretch/>
        </p:blipFill>
        <p:spPr>
          <a:xfrm>
            <a:off x="642399" y="1721251"/>
            <a:ext cx="1523669" cy="1547168"/>
          </a:xfrm>
          <a:prstGeom prst="rect">
            <a:avLst/>
          </a:prstGeom>
        </p:spPr>
      </p:pic>
      <p:sp>
        <p:nvSpPr>
          <p:cNvPr id="17" name="TextBox 16"/>
          <p:cNvSpPr txBox="1"/>
          <p:nvPr/>
        </p:nvSpPr>
        <p:spPr>
          <a:xfrm>
            <a:off x="611560" y="3508811"/>
            <a:ext cx="2160240" cy="369332"/>
          </a:xfrm>
          <a:prstGeom prst="rect">
            <a:avLst/>
          </a:prstGeom>
          <a:noFill/>
        </p:spPr>
        <p:txBody>
          <a:bodyPr wrap="square" rtlCol="0">
            <a:spAutoFit/>
          </a:bodyPr>
          <a:lstStyle/>
          <a:p>
            <a:pPr algn="ctr"/>
            <a:r>
              <a:rPr lang="en-GB" dirty="0" smtClean="0"/>
              <a:t>Robert Sternberg</a:t>
            </a:r>
            <a:endParaRPr lang="en-GB" dirty="0"/>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03848" y="4293096"/>
            <a:ext cx="1428750" cy="1828800"/>
          </a:xfrm>
          <a:prstGeom prst="rect">
            <a:avLst/>
          </a:prstGeom>
        </p:spPr>
      </p:pic>
      <p:sp>
        <p:nvSpPr>
          <p:cNvPr id="18" name="TextBox 17"/>
          <p:cNvSpPr txBox="1"/>
          <p:nvPr/>
        </p:nvSpPr>
        <p:spPr>
          <a:xfrm>
            <a:off x="2838103" y="6273388"/>
            <a:ext cx="2160240" cy="369332"/>
          </a:xfrm>
          <a:prstGeom prst="rect">
            <a:avLst/>
          </a:prstGeom>
          <a:noFill/>
        </p:spPr>
        <p:txBody>
          <a:bodyPr wrap="square" rtlCol="0">
            <a:spAutoFit/>
          </a:bodyPr>
          <a:lstStyle/>
          <a:p>
            <a:pPr algn="ctr"/>
            <a:r>
              <a:rPr lang="en-GB" dirty="0" smtClean="0"/>
              <a:t>Elena </a:t>
            </a:r>
            <a:r>
              <a:rPr lang="en-GB" dirty="0" err="1" smtClean="0"/>
              <a:t>Grigorenko</a:t>
            </a:r>
            <a:endParaRPr lang="en-GB" dirty="0"/>
          </a:p>
        </p:txBody>
      </p:sp>
    </p:spTree>
    <p:extLst>
      <p:ext uri="{BB962C8B-B14F-4D97-AF65-F5344CB8AC3E}">
        <p14:creationId xmlns:p14="http://schemas.microsoft.com/office/powerpoint/2010/main" val="2849639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80648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000" b="1" dirty="0" smtClean="0">
                <a:latin typeface="Nyala" charset="0"/>
              </a:rPr>
              <a:t>Cognitive abilities of a learner:</a:t>
            </a:r>
            <a:endParaRPr lang="en-GB" sz="40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12703341-3d-little-human-character-with-a-blank-flip-chart-and-whiteboard.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608" y="1700808"/>
            <a:ext cx="4536504" cy="4536504"/>
          </a:xfrm>
          <a:prstGeom prst="rect">
            <a:avLst/>
          </a:prstGeom>
        </p:spPr>
      </p:pic>
    </p:spTree>
    <p:extLst>
      <p:ext uri="{BB962C8B-B14F-4D97-AF65-F5344CB8AC3E}">
        <p14:creationId xmlns:p14="http://schemas.microsoft.com/office/powerpoint/2010/main" val="71021824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179512" y="116632"/>
            <a:ext cx="878497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3900" b="1" dirty="0" smtClean="0">
                <a:latin typeface="Nyala" charset="0"/>
              </a:rPr>
              <a:t>Deficient Cognitive Functions (</a:t>
            </a:r>
            <a:r>
              <a:rPr lang="en-GB" sz="3900" b="1" dirty="0" err="1" smtClean="0">
                <a:latin typeface="Nyala" charset="0"/>
              </a:rPr>
              <a:t>Tzuriel</a:t>
            </a:r>
            <a:r>
              <a:rPr lang="en-GB" sz="3900" b="1" dirty="0">
                <a:latin typeface="Nyala" charset="0"/>
              </a:rPr>
              <a:t>)</a:t>
            </a: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81802" y="980728"/>
            <a:ext cx="2734013" cy="3108543"/>
          </a:xfrm>
          <a:prstGeom prst="rect">
            <a:avLst/>
          </a:prstGeom>
          <a:noFill/>
        </p:spPr>
        <p:txBody>
          <a:bodyPr wrap="square" rtlCol="0">
            <a:spAutoFit/>
          </a:bodyPr>
          <a:lstStyle/>
          <a:p>
            <a:r>
              <a:rPr lang="en-GB" sz="1400" b="1" dirty="0" smtClean="0"/>
              <a:t>INPUT PHASE</a:t>
            </a:r>
          </a:p>
          <a:p>
            <a:endParaRPr lang="en-GB" sz="1400" b="1" dirty="0"/>
          </a:p>
          <a:p>
            <a:r>
              <a:rPr lang="en-GB" sz="1400" dirty="0" smtClean="0"/>
              <a:t>Blurred and sweeping perception</a:t>
            </a:r>
          </a:p>
          <a:p>
            <a:r>
              <a:rPr lang="en-GB" sz="1400" dirty="0" smtClean="0"/>
              <a:t>Impulsive, unsystematic exploratory behaviour</a:t>
            </a:r>
          </a:p>
          <a:p>
            <a:r>
              <a:rPr lang="en-GB" sz="1400" dirty="0" smtClean="0"/>
              <a:t>Receptive verbal tools</a:t>
            </a:r>
          </a:p>
          <a:p>
            <a:r>
              <a:rPr lang="en-GB" sz="1400" dirty="0" smtClean="0"/>
              <a:t>Spatial orientation</a:t>
            </a:r>
          </a:p>
          <a:p>
            <a:r>
              <a:rPr lang="en-GB" sz="1400" dirty="0" smtClean="0"/>
              <a:t>Temporal constructs</a:t>
            </a:r>
          </a:p>
          <a:p>
            <a:r>
              <a:rPr lang="en-GB" sz="1400" dirty="0" smtClean="0"/>
              <a:t>Conservation of constancies</a:t>
            </a:r>
          </a:p>
          <a:p>
            <a:r>
              <a:rPr lang="en-GB" sz="1400" dirty="0" smtClean="0"/>
              <a:t>Need for precision and accuracy</a:t>
            </a:r>
          </a:p>
          <a:p>
            <a:r>
              <a:rPr lang="en-GB" sz="1400" dirty="0" smtClean="0"/>
              <a:t>Simultaneous consideration of two or more pieces of information</a:t>
            </a:r>
            <a:endParaRPr lang="en-GB" sz="1400" dirty="0"/>
          </a:p>
        </p:txBody>
      </p:sp>
      <p:sp>
        <p:nvSpPr>
          <p:cNvPr id="5" name="TextBox 4"/>
          <p:cNvSpPr txBox="1"/>
          <p:nvPr/>
        </p:nvSpPr>
        <p:spPr>
          <a:xfrm>
            <a:off x="2897559" y="980727"/>
            <a:ext cx="2734013" cy="2677656"/>
          </a:xfrm>
          <a:prstGeom prst="rect">
            <a:avLst/>
          </a:prstGeom>
          <a:noFill/>
        </p:spPr>
        <p:txBody>
          <a:bodyPr wrap="square" rtlCol="0">
            <a:spAutoFit/>
          </a:bodyPr>
          <a:lstStyle/>
          <a:p>
            <a:r>
              <a:rPr lang="en-GB" sz="1400" b="1" dirty="0" smtClean="0"/>
              <a:t>ELABORATION PHASE 1</a:t>
            </a:r>
          </a:p>
          <a:p>
            <a:endParaRPr lang="en-GB" sz="1400" b="1" dirty="0" smtClean="0"/>
          </a:p>
          <a:p>
            <a:r>
              <a:rPr lang="en-GB" sz="1400" dirty="0" smtClean="0"/>
              <a:t>Perception of the existence of a problem</a:t>
            </a:r>
          </a:p>
          <a:p>
            <a:r>
              <a:rPr lang="en-GB" sz="1400" dirty="0" smtClean="0"/>
              <a:t>Selecting relevant cues for defining a problem</a:t>
            </a:r>
          </a:p>
          <a:p>
            <a:r>
              <a:rPr lang="en-GB" sz="1400" dirty="0" smtClean="0"/>
              <a:t>Spontaneous comparative behaviour</a:t>
            </a:r>
          </a:p>
          <a:p>
            <a:r>
              <a:rPr lang="en-GB" sz="1400" dirty="0" smtClean="0"/>
              <a:t>Narrowed mental field</a:t>
            </a:r>
          </a:p>
          <a:p>
            <a:r>
              <a:rPr lang="en-GB" sz="1400" dirty="0" smtClean="0"/>
              <a:t>Episodic grasp of reality</a:t>
            </a:r>
          </a:p>
          <a:p>
            <a:r>
              <a:rPr lang="en-GB" sz="1400" dirty="0" smtClean="0"/>
              <a:t>Need for pursuing logical evidence</a:t>
            </a:r>
            <a:endParaRPr lang="en-GB" sz="1400" dirty="0"/>
          </a:p>
        </p:txBody>
      </p:sp>
      <p:sp>
        <p:nvSpPr>
          <p:cNvPr id="6" name="TextBox 5"/>
          <p:cNvSpPr txBox="1"/>
          <p:nvPr/>
        </p:nvSpPr>
        <p:spPr>
          <a:xfrm>
            <a:off x="5657385" y="980727"/>
            <a:ext cx="2734013" cy="2677656"/>
          </a:xfrm>
          <a:prstGeom prst="rect">
            <a:avLst/>
          </a:prstGeom>
          <a:noFill/>
        </p:spPr>
        <p:txBody>
          <a:bodyPr wrap="square" rtlCol="0">
            <a:spAutoFit/>
          </a:bodyPr>
          <a:lstStyle/>
          <a:p>
            <a:r>
              <a:rPr lang="en-GB" sz="1400" b="1" dirty="0" smtClean="0"/>
              <a:t>ELABORATION PHASE 2</a:t>
            </a:r>
          </a:p>
          <a:p>
            <a:endParaRPr lang="en-GB" sz="1400" b="1" dirty="0" smtClean="0"/>
          </a:p>
          <a:p>
            <a:r>
              <a:rPr lang="en-GB" sz="1400" dirty="0" smtClean="0"/>
              <a:t>Internalisation of a learned concept or strategy</a:t>
            </a:r>
          </a:p>
          <a:p>
            <a:r>
              <a:rPr lang="en-GB" sz="1400" dirty="0" smtClean="0"/>
              <a:t>Inferential – hypothetical testing</a:t>
            </a:r>
          </a:p>
          <a:p>
            <a:r>
              <a:rPr lang="en-GB" sz="1400" dirty="0" smtClean="0"/>
              <a:t>Strategies for hypothesis testing</a:t>
            </a:r>
          </a:p>
          <a:p>
            <a:r>
              <a:rPr lang="en-GB" sz="1400" dirty="0" smtClean="0"/>
              <a:t>Define the framework necessary for a solution</a:t>
            </a:r>
          </a:p>
          <a:p>
            <a:r>
              <a:rPr lang="en-GB" sz="1400" dirty="0" smtClean="0"/>
              <a:t>Summative behaviour</a:t>
            </a:r>
          </a:p>
          <a:p>
            <a:r>
              <a:rPr lang="en-GB" sz="1400" dirty="0" smtClean="0"/>
              <a:t>Planning behaviour</a:t>
            </a:r>
          </a:p>
          <a:p>
            <a:r>
              <a:rPr lang="en-GB" sz="1400" dirty="0" smtClean="0"/>
              <a:t>Non-elaboration of cognitive categories</a:t>
            </a:r>
          </a:p>
        </p:txBody>
      </p:sp>
      <p:sp>
        <p:nvSpPr>
          <p:cNvPr id="7" name="TextBox 6"/>
          <p:cNvSpPr txBox="1"/>
          <p:nvPr/>
        </p:nvSpPr>
        <p:spPr>
          <a:xfrm>
            <a:off x="2897558" y="3829981"/>
            <a:ext cx="2734013" cy="2246769"/>
          </a:xfrm>
          <a:prstGeom prst="rect">
            <a:avLst/>
          </a:prstGeom>
          <a:noFill/>
        </p:spPr>
        <p:txBody>
          <a:bodyPr wrap="square" rtlCol="0">
            <a:spAutoFit/>
          </a:bodyPr>
          <a:lstStyle/>
          <a:p>
            <a:r>
              <a:rPr lang="en-GB" sz="1400" b="1" dirty="0" smtClean="0"/>
              <a:t>OUTPUT PHASE </a:t>
            </a:r>
          </a:p>
          <a:p>
            <a:endParaRPr lang="en-GB" sz="1400" b="1" dirty="0" smtClean="0"/>
          </a:p>
          <a:p>
            <a:r>
              <a:rPr lang="en-GB" sz="1400" dirty="0" smtClean="0"/>
              <a:t>Egocentric communication modality</a:t>
            </a:r>
          </a:p>
          <a:p>
            <a:r>
              <a:rPr lang="en-GB" sz="1400" dirty="0" smtClean="0"/>
              <a:t>Projecting virtual relationships</a:t>
            </a:r>
          </a:p>
          <a:p>
            <a:r>
              <a:rPr lang="en-GB" sz="1400" dirty="0" smtClean="0"/>
              <a:t>Trial and error responses</a:t>
            </a:r>
          </a:p>
          <a:p>
            <a:r>
              <a:rPr lang="en-GB" sz="1400" dirty="0" smtClean="0"/>
              <a:t>Verbal tools for communication</a:t>
            </a:r>
          </a:p>
          <a:p>
            <a:r>
              <a:rPr lang="en-GB" sz="1400" dirty="0" smtClean="0"/>
              <a:t>Need for precision and accuracy</a:t>
            </a:r>
          </a:p>
          <a:p>
            <a:r>
              <a:rPr lang="en-GB" sz="1400" dirty="0" smtClean="0"/>
              <a:t>Visual transport</a:t>
            </a:r>
          </a:p>
          <a:p>
            <a:r>
              <a:rPr lang="en-GB" sz="1400" dirty="0" smtClean="0"/>
              <a:t>Acting-out behaviour</a:t>
            </a:r>
          </a:p>
        </p:txBody>
      </p:sp>
    </p:spTree>
    <p:extLst>
      <p:ext uri="{BB962C8B-B14F-4D97-AF65-F5344CB8AC3E}">
        <p14:creationId xmlns:p14="http://schemas.microsoft.com/office/powerpoint/2010/main" val="396500141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251520" y="188640"/>
            <a:ext cx="80648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000" b="1" dirty="0" err="1" smtClean="0">
                <a:latin typeface="Nyala" charset="0"/>
              </a:rPr>
              <a:t>Lauchlan</a:t>
            </a:r>
            <a:r>
              <a:rPr lang="en-GB" sz="4000" b="1" dirty="0" smtClean="0">
                <a:latin typeface="Nyala" charset="0"/>
              </a:rPr>
              <a:t> and </a:t>
            </a:r>
            <a:r>
              <a:rPr lang="en-GB" sz="4000" b="1" dirty="0" err="1" smtClean="0">
                <a:latin typeface="Nyala" charset="0"/>
              </a:rPr>
              <a:t>Carrigan</a:t>
            </a:r>
            <a:r>
              <a:rPr lang="en-GB" sz="4000" b="1" dirty="0" smtClean="0">
                <a:latin typeface="Nyala" charset="0"/>
              </a:rPr>
              <a:t> (2013):</a:t>
            </a:r>
            <a:endParaRPr lang="en-GB" sz="40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e 2"/>
          <p:cNvGraphicFramePr>
            <a:graphicFrameLocks noGrp="1"/>
          </p:cNvGraphicFramePr>
          <p:nvPr>
            <p:extLst>
              <p:ext uri="{D42A27DB-BD31-4B8C-83A1-F6EECF244321}">
                <p14:modId xmlns:p14="http://schemas.microsoft.com/office/powerpoint/2010/main" val="727667577"/>
              </p:ext>
            </p:extLst>
          </p:nvPr>
        </p:nvGraphicFramePr>
        <p:xfrm>
          <a:off x="251520" y="1052736"/>
          <a:ext cx="6840760" cy="5400597"/>
        </p:xfrm>
        <a:graphic>
          <a:graphicData uri="http://schemas.openxmlformats.org/drawingml/2006/table">
            <a:tbl>
              <a:tblPr firstRow="1" bandRow="1">
                <a:tableStyleId>{EB344D84-9AFB-497E-A393-DC336BA19D2E}</a:tableStyleId>
              </a:tblPr>
              <a:tblGrid>
                <a:gridCol w="3420380"/>
                <a:gridCol w="3420380"/>
              </a:tblGrid>
              <a:tr h="600067">
                <a:tc>
                  <a:txBody>
                    <a:bodyPr/>
                    <a:lstStyle/>
                    <a:p>
                      <a:r>
                        <a:rPr lang="en-US" dirty="0" smtClean="0">
                          <a:solidFill>
                            <a:schemeClr val="tx1"/>
                          </a:solidFill>
                        </a:rPr>
                        <a:t>Cognitive</a:t>
                      </a:r>
                      <a:r>
                        <a:rPr lang="en-US" baseline="0" dirty="0" smtClean="0">
                          <a:solidFill>
                            <a:schemeClr val="tx1"/>
                          </a:solidFill>
                        </a:rPr>
                        <a:t> Learning Principles</a:t>
                      </a:r>
                      <a:endParaRPr lang="en-US" dirty="0">
                        <a:solidFill>
                          <a:schemeClr val="tx1"/>
                        </a:solidFill>
                      </a:endParaRPr>
                    </a:p>
                  </a:txBody>
                  <a:tcPr/>
                </a:tc>
                <a:tc>
                  <a:txBody>
                    <a:bodyPr/>
                    <a:lstStyle/>
                    <a:p>
                      <a:r>
                        <a:rPr lang="en-US" dirty="0" smtClean="0">
                          <a:solidFill>
                            <a:srgbClr val="000000"/>
                          </a:solidFill>
                        </a:rPr>
                        <a:t>Affective</a:t>
                      </a:r>
                      <a:r>
                        <a:rPr lang="en-US" baseline="0" dirty="0" smtClean="0">
                          <a:solidFill>
                            <a:srgbClr val="000000"/>
                          </a:solidFill>
                        </a:rPr>
                        <a:t> Learning Principles</a:t>
                      </a:r>
                      <a:endParaRPr lang="en-US" dirty="0">
                        <a:solidFill>
                          <a:srgbClr val="000000"/>
                        </a:solidFill>
                      </a:endParaRPr>
                    </a:p>
                  </a:txBody>
                  <a:tcPr/>
                </a:tc>
              </a:tr>
              <a:tr h="342895">
                <a:tc>
                  <a:txBody>
                    <a:bodyPr/>
                    <a:lstStyle/>
                    <a:p>
                      <a:r>
                        <a:rPr lang="en-US" sz="1600" dirty="0" smtClean="0">
                          <a:solidFill>
                            <a:srgbClr val="000000"/>
                          </a:solidFill>
                        </a:rPr>
                        <a:t>Communication</a:t>
                      </a:r>
                    </a:p>
                  </a:txBody>
                  <a:tcPr/>
                </a:tc>
                <a:tc>
                  <a:txBody>
                    <a:bodyPr/>
                    <a:lstStyle/>
                    <a:p>
                      <a:r>
                        <a:rPr lang="en-US" sz="1600" dirty="0" smtClean="0">
                          <a:solidFill>
                            <a:srgbClr val="000000"/>
                          </a:solidFill>
                        </a:rPr>
                        <a:t>Accessibility</a:t>
                      </a:r>
                      <a:r>
                        <a:rPr lang="en-US" sz="1600" baseline="0" dirty="0" smtClean="0">
                          <a:solidFill>
                            <a:srgbClr val="000000"/>
                          </a:solidFill>
                        </a:rPr>
                        <a:t> to Assistance</a:t>
                      </a:r>
                      <a:endParaRPr lang="en-US" sz="1600" dirty="0">
                        <a:solidFill>
                          <a:srgbClr val="000000"/>
                        </a:solidFill>
                      </a:endParaRPr>
                    </a:p>
                  </a:txBody>
                  <a:tcPr/>
                </a:tc>
              </a:tr>
              <a:tr h="342895">
                <a:tc>
                  <a:txBody>
                    <a:bodyPr/>
                    <a:lstStyle/>
                    <a:p>
                      <a:r>
                        <a:rPr lang="en-US" sz="1600" dirty="0" smtClean="0">
                          <a:solidFill>
                            <a:srgbClr val="000000"/>
                          </a:solidFill>
                        </a:rPr>
                        <a:t>Comparative</a:t>
                      </a:r>
                      <a:r>
                        <a:rPr lang="en-US" sz="1600" baseline="0" dirty="0" smtClean="0">
                          <a:solidFill>
                            <a:srgbClr val="000000"/>
                          </a:solidFill>
                        </a:rPr>
                        <a:t> Behaviour</a:t>
                      </a:r>
                      <a:endParaRPr lang="en-US" sz="1600" dirty="0">
                        <a:solidFill>
                          <a:srgbClr val="000000"/>
                        </a:solidFill>
                      </a:endParaRPr>
                    </a:p>
                  </a:txBody>
                  <a:tcPr/>
                </a:tc>
                <a:tc>
                  <a:txBody>
                    <a:bodyPr/>
                    <a:lstStyle/>
                    <a:p>
                      <a:r>
                        <a:rPr lang="en-US" sz="1600" dirty="0" smtClean="0">
                          <a:solidFill>
                            <a:srgbClr val="000000"/>
                          </a:solidFill>
                        </a:rPr>
                        <a:t>Attention</a:t>
                      </a:r>
                      <a:endParaRPr lang="en-US" sz="1600" dirty="0">
                        <a:solidFill>
                          <a:srgbClr val="000000"/>
                        </a:solidFill>
                      </a:endParaRPr>
                    </a:p>
                  </a:txBody>
                  <a:tcPr/>
                </a:tc>
              </a:tr>
              <a:tr h="342895">
                <a:tc>
                  <a:txBody>
                    <a:bodyPr/>
                    <a:lstStyle/>
                    <a:p>
                      <a:r>
                        <a:rPr lang="en-US" sz="1600" dirty="0" smtClean="0">
                          <a:solidFill>
                            <a:srgbClr val="000000"/>
                          </a:solidFill>
                        </a:rPr>
                        <a:t>Efficiency</a:t>
                      </a:r>
                      <a:endParaRPr lang="en-US" sz="1600" dirty="0">
                        <a:solidFill>
                          <a:srgbClr val="000000"/>
                        </a:solidFill>
                      </a:endParaRPr>
                    </a:p>
                  </a:txBody>
                  <a:tcPr/>
                </a:tc>
                <a:tc>
                  <a:txBody>
                    <a:bodyPr/>
                    <a:lstStyle/>
                    <a:p>
                      <a:r>
                        <a:rPr lang="en-US" sz="1600" dirty="0" smtClean="0">
                          <a:solidFill>
                            <a:srgbClr val="000000"/>
                          </a:solidFill>
                        </a:rPr>
                        <a:t>Concentration</a:t>
                      </a:r>
                      <a:endParaRPr lang="en-US" sz="1600" dirty="0">
                        <a:solidFill>
                          <a:srgbClr val="000000"/>
                        </a:solidFill>
                      </a:endParaRPr>
                    </a:p>
                  </a:txBody>
                  <a:tcPr/>
                </a:tc>
              </a:tr>
              <a:tr h="342895">
                <a:tc>
                  <a:txBody>
                    <a:bodyPr/>
                    <a:lstStyle/>
                    <a:p>
                      <a:r>
                        <a:rPr lang="en-US" sz="1600" dirty="0" smtClean="0">
                          <a:solidFill>
                            <a:srgbClr val="000000"/>
                          </a:solidFill>
                        </a:rPr>
                        <a:t>Exploratory Behaviour</a:t>
                      </a:r>
                      <a:endParaRPr lang="en-US" sz="1600" dirty="0">
                        <a:solidFill>
                          <a:srgbClr val="000000"/>
                        </a:solidFill>
                      </a:endParaRPr>
                    </a:p>
                  </a:txBody>
                  <a:tcPr/>
                </a:tc>
                <a:tc>
                  <a:txBody>
                    <a:bodyPr/>
                    <a:lstStyle/>
                    <a:p>
                      <a:r>
                        <a:rPr lang="en-US" sz="1600" dirty="0" smtClean="0">
                          <a:solidFill>
                            <a:srgbClr val="000000"/>
                          </a:solidFill>
                        </a:rPr>
                        <a:t>Confidence in Correct</a:t>
                      </a:r>
                      <a:r>
                        <a:rPr lang="en-US" sz="1600" baseline="0" dirty="0" smtClean="0">
                          <a:solidFill>
                            <a:srgbClr val="000000"/>
                          </a:solidFill>
                        </a:rPr>
                        <a:t> Response</a:t>
                      </a:r>
                      <a:endParaRPr lang="en-US" sz="1600" dirty="0">
                        <a:solidFill>
                          <a:srgbClr val="000000"/>
                        </a:solidFill>
                      </a:endParaRPr>
                    </a:p>
                  </a:txBody>
                  <a:tcPr/>
                </a:tc>
              </a:tr>
              <a:tr h="342895">
                <a:tc>
                  <a:txBody>
                    <a:bodyPr/>
                    <a:lstStyle/>
                    <a:p>
                      <a:r>
                        <a:rPr lang="en-US" sz="1600" dirty="0" smtClean="0">
                          <a:solidFill>
                            <a:srgbClr val="000000"/>
                          </a:solidFill>
                        </a:rPr>
                        <a:t>Justification of Response</a:t>
                      </a:r>
                      <a:endParaRPr lang="en-US" sz="1600" dirty="0">
                        <a:solidFill>
                          <a:srgbClr val="000000"/>
                        </a:solidFill>
                      </a:endParaRPr>
                    </a:p>
                  </a:txBody>
                  <a:tcPr/>
                </a:tc>
                <a:tc>
                  <a:txBody>
                    <a:bodyPr/>
                    <a:lstStyle/>
                    <a:p>
                      <a:r>
                        <a:rPr lang="en-US" sz="1600" dirty="0" smtClean="0">
                          <a:solidFill>
                            <a:srgbClr val="000000"/>
                          </a:solidFill>
                        </a:rPr>
                        <a:t>Flexible Thinking</a:t>
                      </a:r>
                      <a:endParaRPr lang="en-US" sz="1600" dirty="0">
                        <a:solidFill>
                          <a:srgbClr val="000000"/>
                        </a:solidFill>
                      </a:endParaRPr>
                    </a:p>
                  </a:txBody>
                  <a:tcPr/>
                </a:tc>
              </a:tr>
              <a:tr h="342895">
                <a:tc>
                  <a:txBody>
                    <a:bodyPr/>
                    <a:lstStyle/>
                    <a:p>
                      <a:r>
                        <a:rPr lang="en-US" sz="1600" dirty="0" smtClean="0">
                          <a:solidFill>
                            <a:srgbClr val="000000"/>
                          </a:solidFill>
                        </a:rPr>
                        <a:t>Memory</a:t>
                      </a:r>
                      <a:endParaRPr lang="en-US" sz="1600" dirty="0">
                        <a:solidFill>
                          <a:srgbClr val="000000"/>
                        </a:solidFill>
                      </a:endParaRPr>
                    </a:p>
                  </a:txBody>
                  <a:tcPr/>
                </a:tc>
                <a:tc>
                  <a:txBody>
                    <a:bodyPr/>
                    <a:lstStyle/>
                    <a:p>
                      <a:r>
                        <a:rPr lang="en-US" sz="1600" dirty="0" smtClean="0">
                          <a:solidFill>
                            <a:srgbClr val="000000"/>
                          </a:solidFill>
                        </a:rPr>
                        <a:t>Frustration Tolerance</a:t>
                      </a:r>
                      <a:endParaRPr lang="en-US" sz="1600" dirty="0">
                        <a:solidFill>
                          <a:srgbClr val="000000"/>
                        </a:solidFill>
                      </a:endParaRPr>
                    </a:p>
                  </a:txBody>
                  <a:tcPr/>
                </a:tc>
              </a:tr>
              <a:tr h="342895">
                <a:tc>
                  <a:txBody>
                    <a:bodyPr/>
                    <a:lstStyle/>
                    <a:p>
                      <a:r>
                        <a:rPr lang="en-US" sz="1600" dirty="0" smtClean="0">
                          <a:solidFill>
                            <a:srgbClr val="000000"/>
                          </a:solidFill>
                        </a:rPr>
                        <a:t>Nature of Response</a:t>
                      </a:r>
                      <a:endParaRPr lang="en-US" sz="1600" dirty="0">
                        <a:solidFill>
                          <a:srgbClr val="000000"/>
                        </a:solidFill>
                      </a:endParaRPr>
                    </a:p>
                  </a:txBody>
                  <a:tcPr/>
                </a:tc>
                <a:tc>
                  <a:txBody>
                    <a:bodyPr/>
                    <a:lstStyle/>
                    <a:p>
                      <a:r>
                        <a:rPr lang="en-US" sz="1600" dirty="0" smtClean="0">
                          <a:solidFill>
                            <a:srgbClr val="000000"/>
                          </a:solidFill>
                        </a:rPr>
                        <a:t>Motivation</a:t>
                      </a:r>
                      <a:endParaRPr lang="en-US" sz="1600" dirty="0">
                        <a:solidFill>
                          <a:srgbClr val="000000"/>
                        </a:solidFill>
                      </a:endParaRPr>
                    </a:p>
                  </a:txBody>
                  <a:tcPr/>
                </a:tc>
              </a:tr>
              <a:tr h="342895">
                <a:tc>
                  <a:txBody>
                    <a:bodyPr/>
                    <a:lstStyle/>
                    <a:p>
                      <a:r>
                        <a:rPr lang="en-US" sz="1600" dirty="0" smtClean="0">
                          <a:solidFill>
                            <a:srgbClr val="000000"/>
                          </a:solidFill>
                        </a:rPr>
                        <a:t>Planning</a:t>
                      </a:r>
                      <a:endParaRPr lang="en-US" sz="1600" dirty="0">
                        <a:solidFill>
                          <a:srgbClr val="000000"/>
                        </a:solidFill>
                      </a:endParaRPr>
                    </a:p>
                  </a:txBody>
                  <a:tcPr/>
                </a:tc>
                <a:tc>
                  <a:txBody>
                    <a:bodyPr/>
                    <a:lstStyle/>
                    <a:p>
                      <a:r>
                        <a:rPr lang="en-US" sz="1600" dirty="0" smtClean="0">
                          <a:solidFill>
                            <a:srgbClr val="000000"/>
                          </a:solidFill>
                        </a:rPr>
                        <a:t>Presentation</a:t>
                      </a:r>
                      <a:endParaRPr lang="en-US" sz="1600" dirty="0">
                        <a:solidFill>
                          <a:srgbClr val="000000"/>
                        </a:solidFill>
                      </a:endParaRPr>
                    </a:p>
                  </a:txBody>
                  <a:tcPr/>
                </a:tc>
              </a:tr>
              <a:tr h="342895">
                <a:tc>
                  <a:txBody>
                    <a:bodyPr/>
                    <a:lstStyle/>
                    <a:p>
                      <a:r>
                        <a:rPr lang="en-US" sz="1600" dirty="0" smtClean="0">
                          <a:solidFill>
                            <a:srgbClr val="000000"/>
                          </a:solidFill>
                        </a:rPr>
                        <a:t>Problem Definition</a:t>
                      </a:r>
                      <a:endParaRPr lang="en-US" sz="1600" dirty="0">
                        <a:solidFill>
                          <a:srgbClr val="000000"/>
                        </a:solidFill>
                      </a:endParaRPr>
                    </a:p>
                  </a:txBody>
                  <a:tcPr/>
                </a:tc>
                <a:tc>
                  <a:txBody>
                    <a:bodyPr/>
                    <a:lstStyle/>
                    <a:p>
                      <a:r>
                        <a:rPr lang="en-US" sz="1600" dirty="0" smtClean="0">
                          <a:solidFill>
                            <a:srgbClr val="000000"/>
                          </a:solidFill>
                        </a:rPr>
                        <a:t>Task</a:t>
                      </a:r>
                      <a:r>
                        <a:rPr lang="en-US" sz="1600" baseline="0" dirty="0" smtClean="0">
                          <a:solidFill>
                            <a:srgbClr val="000000"/>
                          </a:solidFill>
                        </a:rPr>
                        <a:t> Perseverance</a:t>
                      </a:r>
                      <a:endParaRPr lang="en-US" sz="1600" dirty="0">
                        <a:solidFill>
                          <a:srgbClr val="000000"/>
                        </a:solidFill>
                      </a:endParaRPr>
                    </a:p>
                  </a:txBody>
                  <a:tcPr/>
                </a:tc>
              </a:tr>
              <a:tr h="342895">
                <a:tc>
                  <a:txBody>
                    <a:bodyPr/>
                    <a:lstStyle/>
                    <a:p>
                      <a:r>
                        <a:rPr lang="en-US" sz="1600" dirty="0" smtClean="0">
                          <a:solidFill>
                            <a:srgbClr val="000000"/>
                          </a:solidFill>
                        </a:rPr>
                        <a:t>Recognition</a:t>
                      </a:r>
                      <a:endParaRPr lang="en-US" sz="1600" dirty="0">
                        <a:solidFill>
                          <a:srgbClr val="000000"/>
                        </a:solidFill>
                      </a:endParaRPr>
                    </a:p>
                  </a:txBody>
                  <a:tcPr/>
                </a:tc>
                <a:tc>
                  <a:txBody>
                    <a:bodyPr/>
                    <a:lstStyle/>
                    <a:p>
                      <a:r>
                        <a:rPr lang="en-US" sz="1600" dirty="0" smtClean="0">
                          <a:solidFill>
                            <a:srgbClr val="000000"/>
                          </a:solidFill>
                        </a:rPr>
                        <a:t>Vitality and Awareness</a:t>
                      </a:r>
                      <a:endParaRPr lang="en-US" sz="1600" dirty="0">
                        <a:solidFill>
                          <a:srgbClr val="000000"/>
                        </a:solidFill>
                      </a:endParaRPr>
                    </a:p>
                  </a:txBody>
                  <a:tcPr/>
                </a:tc>
              </a:tr>
              <a:tr h="342895">
                <a:tc>
                  <a:txBody>
                    <a:bodyPr/>
                    <a:lstStyle/>
                    <a:p>
                      <a:r>
                        <a:rPr lang="en-US" sz="1600" dirty="0" smtClean="0">
                          <a:solidFill>
                            <a:srgbClr val="000000"/>
                          </a:solidFill>
                        </a:rPr>
                        <a:t>Reflectiveness</a:t>
                      </a:r>
                      <a:endParaRPr lang="en-US" sz="1600" dirty="0">
                        <a:solidFill>
                          <a:srgbClr val="000000"/>
                        </a:solidFill>
                      </a:endParaRPr>
                    </a:p>
                  </a:txBody>
                  <a:tcPr/>
                </a:tc>
                <a:tc>
                  <a:txBody>
                    <a:bodyPr/>
                    <a:lstStyle/>
                    <a:p>
                      <a:endParaRPr lang="en-US" sz="1600" dirty="0">
                        <a:solidFill>
                          <a:srgbClr val="000000"/>
                        </a:solidFill>
                      </a:endParaRPr>
                    </a:p>
                  </a:txBody>
                  <a:tcPr/>
                </a:tc>
              </a:tr>
              <a:tr h="342895">
                <a:tc>
                  <a:txBody>
                    <a:bodyPr/>
                    <a:lstStyle/>
                    <a:p>
                      <a:r>
                        <a:rPr lang="en-US" sz="1600" dirty="0" smtClean="0">
                          <a:solidFill>
                            <a:srgbClr val="000000"/>
                          </a:solidFill>
                        </a:rPr>
                        <a:t>Spatial Orientation</a:t>
                      </a:r>
                      <a:endParaRPr lang="en-US" sz="1600" dirty="0">
                        <a:solidFill>
                          <a:srgbClr val="000000"/>
                        </a:solidFill>
                      </a:endParaRPr>
                    </a:p>
                  </a:txBody>
                  <a:tcPr/>
                </a:tc>
                <a:tc>
                  <a:txBody>
                    <a:bodyPr/>
                    <a:lstStyle/>
                    <a:p>
                      <a:endParaRPr lang="en-US" sz="1600" dirty="0">
                        <a:solidFill>
                          <a:srgbClr val="000000"/>
                        </a:solidFill>
                      </a:endParaRPr>
                    </a:p>
                  </a:txBody>
                  <a:tcPr/>
                </a:tc>
              </a:tr>
              <a:tr h="342895">
                <a:tc>
                  <a:txBody>
                    <a:bodyPr/>
                    <a:lstStyle/>
                    <a:p>
                      <a:r>
                        <a:rPr lang="en-US" sz="1600" dirty="0" smtClean="0">
                          <a:solidFill>
                            <a:srgbClr val="000000"/>
                          </a:solidFill>
                        </a:rPr>
                        <a:t>Transfer of Learning</a:t>
                      </a:r>
                      <a:endParaRPr lang="en-US" sz="1600" dirty="0">
                        <a:solidFill>
                          <a:srgbClr val="000000"/>
                        </a:solidFill>
                      </a:endParaRPr>
                    </a:p>
                  </a:txBody>
                  <a:tcPr/>
                </a:tc>
                <a:tc>
                  <a:txBody>
                    <a:bodyPr/>
                    <a:lstStyle/>
                    <a:p>
                      <a:endParaRPr lang="en-US" sz="1600" dirty="0">
                        <a:solidFill>
                          <a:srgbClr val="000000"/>
                        </a:solidFill>
                      </a:endParaRPr>
                    </a:p>
                  </a:txBody>
                  <a:tcPr/>
                </a:tc>
              </a:tr>
              <a:tr h="342895">
                <a:tc>
                  <a:txBody>
                    <a:bodyPr/>
                    <a:lstStyle/>
                    <a:p>
                      <a:r>
                        <a:rPr lang="en-US" sz="1600" dirty="0" smtClean="0">
                          <a:solidFill>
                            <a:srgbClr val="000000"/>
                          </a:solidFill>
                        </a:rPr>
                        <a:t>Vocabulary</a:t>
                      </a:r>
                      <a:endParaRPr lang="en-US" sz="1600" dirty="0">
                        <a:solidFill>
                          <a:srgbClr val="000000"/>
                        </a:solidFill>
                      </a:endParaRPr>
                    </a:p>
                  </a:txBody>
                  <a:tcPr/>
                </a:tc>
                <a:tc>
                  <a:txBody>
                    <a:bodyPr/>
                    <a:lstStyle/>
                    <a:p>
                      <a:endParaRPr lang="en-US" sz="1600" dirty="0">
                        <a:solidFill>
                          <a:srgbClr val="000000"/>
                        </a:solidFill>
                      </a:endParaRPr>
                    </a:p>
                  </a:txBody>
                  <a:tcPr/>
                </a:tc>
              </a:tr>
            </a:tbl>
          </a:graphicData>
        </a:graphic>
      </p:graphicFrame>
    </p:spTree>
    <p:extLst>
      <p:ext uri="{BB962C8B-B14F-4D97-AF65-F5344CB8AC3E}">
        <p14:creationId xmlns:p14="http://schemas.microsoft.com/office/powerpoint/2010/main" val="6825650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179512" y="116632"/>
            <a:ext cx="878497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3900" b="1" dirty="0" smtClean="0">
                <a:latin typeface="Nyala" charset="0"/>
              </a:rPr>
              <a:t>The Cognitive Abilities Profile (CAP)</a:t>
            </a:r>
            <a:endParaRPr lang="en-GB" sz="39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95536" y="1052736"/>
            <a:ext cx="8568952" cy="4893647"/>
          </a:xfrm>
          <a:prstGeom prst="rect">
            <a:avLst/>
          </a:prstGeom>
          <a:noFill/>
        </p:spPr>
        <p:txBody>
          <a:bodyPr wrap="square" rtlCol="0">
            <a:spAutoFit/>
          </a:bodyPr>
          <a:lstStyle/>
          <a:p>
            <a:pPr marL="285750" indent="-285750">
              <a:buFont typeface="Arial" panose="020B0604020202020204" pitchFamily="34" charset="0"/>
              <a:buChar char="•"/>
            </a:pPr>
            <a:r>
              <a:rPr lang="en-GB" sz="2800" dirty="0" smtClean="0"/>
              <a:t>Attention  </a:t>
            </a:r>
          </a:p>
          <a:p>
            <a:pPr marL="285750" indent="-285750">
              <a:buFont typeface="Arial" panose="020B0604020202020204" pitchFamily="34" charset="0"/>
              <a:buChar char="•"/>
            </a:pPr>
            <a:r>
              <a:rPr lang="en-GB" sz="2800" dirty="0" smtClean="0"/>
              <a:t>Perception</a:t>
            </a:r>
          </a:p>
          <a:p>
            <a:pPr marL="285750" indent="-285750">
              <a:buFont typeface="Arial" panose="020B0604020202020204" pitchFamily="34" charset="0"/>
              <a:buChar char="•"/>
            </a:pPr>
            <a:r>
              <a:rPr lang="en-GB" sz="2800" dirty="0" smtClean="0"/>
              <a:t>Memory</a:t>
            </a:r>
          </a:p>
          <a:p>
            <a:pPr marL="285750" indent="-285750">
              <a:buFont typeface="Arial" panose="020B0604020202020204" pitchFamily="34" charset="0"/>
              <a:buChar char="•"/>
            </a:pPr>
            <a:r>
              <a:rPr lang="en-GB" sz="2800" dirty="0" smtClean="0"/>
              <a:t>Language and Communication</a:t>
            </a:r>
          </a:p>
          <a:p>
            <a:pPr marL="285750" indent="-285750">
              <a:buFont typeface="Arial" panose="020B0604020202020204" pitchFamily="34" charset="0"/>
              <a:buChar char="•"/>
            </a:pPr>
            <a:r>
              <a:rPr lang="en-GB" sz="2800" dirty="0" smtClean="0"/>
              <a:t>Reasoning/Logic</a:t>
            </a:r>
          </a:p>
          <a:p>
            <a:pPr marL="285750" indent="-285750">
              <a:buFont typeface="Arial" panose="020B0604020202020204" pitchFamily="34" charset="0"/>
              <a:buChar char="•"/>
            </a:pPr>
            <a:r>
              <a:rPr lang="en-GB" sz="2800" dirty="0" smtClean="0"/>
              <a:t>Strategic Thinking/Metacognition</a:t>
            </a:r>
          </a:p>
          <a:p>
            <a:pPr marL="285750" indent="-285750">
              <a:buFont typeface="Arial" panose="020B0604020202020204" pitchFamily="34" charset="0"/>
              <a:buChar char="•"/>
            </a:pPr>
            <a:endParaRPr lang="en-GB" sz="2800" dirty="0" smtClean="0"/>
          </a:p>
          <a:p>
            <a:pPr marL="285750" indent="-285750">
              <a:buFont typeface="Arial" panose="020B0604020202020204" pitchFamily="34" charset="0"/>
              <a:buChar char="•"/>
            </a:pPr>
            <a:r>
              <a:rPr lang="en-GB" sz="2800" dirty="0" smtClean="0"/>
              <a:t>Behaviours Affecting Learning</a:t>
            </a:r>
          </a:p>
          <a:p>
            <a:r>
              <a:rPr lang="en-GB" sz="2800" dirty="0" smtClean="0"/>
              <a:t>(</a:t>
            </a:r>
            <a:r>
              <a:rPr lang="en-GB" sz="2000" i="1" dirty="0" smtClean="0"/>
              <a:t>Openness to intervention of Adults / Peers; Self-regulation of emotions and overcoming blocking; Self-regulation of movement;</a:t>
            </a:r>
          </a:p>
          <a:p>
            <a:r>
              <a:rPr lang="en-GB" sz="2000" i="1" dirty="0" smtClean="0"/>
              <a:t>Motivation; Curiosity; Response to challenge; Persistence</a:t>
            </a:r>
          </a:p>
          <a:p>
            <a:r>
              <a:rPr lang="en-GB" sz="2000" i="1" dirty="0"/>
              <a:t>a</a:t>
            </a:r>
            <a:r>
              <a:rPr lang="en-GB" sz="2000" i="1" dirty="0" smtClean="0"/>
              <a:t>nd task completion).</a:t>
            </a:r>
            <a:endParaRPr lang="en-GB" sz="2800" dirty="0"/>
          </a:p>
        </p:txBody>
      </p:sp>
    </p:spTree>
    <p:extLst>
      <p:ext uri="{BB962C8B-B14F-4D97-AF65-F5344CB8AC3E}">
        <p14:creationId xmlns:p14="http://schemas.microsoft.com/office/powerpoint/2010/main" val="18178233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179512" y="116632"/>
            <a:ext cx="878497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3900" b="1" dirty="0" smtClean="0">
                <a:latin typeface="Nyala" charset="0"/>
              </a:rPr>
              <a:t>Cognitive Abilities </a:t>
            </a:r>
            <a:endParaRPr lang="en-GB" sz="39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67544" y="1760617"/>
            <a:ext cx="7704856" cy="3108543"/>
          </a:xfrm>
          <a:prstGeom prst="rect">
            <a:avLst/>
          </a:prstGeom>
          <a:noFill/>
        </p:spPr>
        <p:txBody>
          <a:bodyPr wrap="square" rtlCol="0">
            <a:spAutoFit/>
          </a:bodyPr>
          <a:lstStyle/>
          <a:p>
            <a:r>
              <a:rPr lang="en-US" sz="2800" dirty="0" smtClean="0"/>
              <a:t> </a:t>
            </a:r>
            <a:r>
              <a:rPr lang="en-US" sz="2800" dirty="0"/>
              <a:t>“In Britain, there is a great deal of rhetoric about the need for cognitive skills, along with, in my view, a complete lack of appropriate intellectual or financial commitment”</a:t>
            </a:r>
          </a:p>
          <a:p>
            <a:pPr algn="r"/>
            <a:endParaRPr lang="en-US" sz="2800" dirty="0"/>
          </a:p>
          <a:p>
            <a:pPr algn="r"/>
            <a:r>
              <a:rPr lang="en-US" sz="2800" dirty="0"/>
              <a:t>Sharron, 1987 “</a:t>
            </a:r>
            <a:r>
              <a:rPr lang="en-US" sz="2800" i="1" dirty="0"/>
              <a:t>Changing Children’s Minds”</a:t>
            </a:r>
            <a:endParaRPr lang="en-US" sz="2800" dirty="0"/>
          </a:p>
          <a:p>
            <a:pPr marL="285750" indent="-285750">
              <a:buFont typeface="Arial" panose="020B0604020202020204" pitchFamily="34" charset="0"/>
              <a:buChar char="•"/>
            </a:pPr>
            <a:endParaRPr lang="en-GB" sz="2800" dirty="0"/>
          </a:p>
        </p:txBody>
      </p:sp>
    </p:spTree>
    <p:extLst>
      <p:ext uri="{BB962C8B-B14F-4D97-AF65-F5344CB8AC3E}">
        <p14:creationId xmlns:p14="http://schemas.microsoft.com/office/powerpoint/2010/main" val="22612608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Intelligence:</a:t>
            </a:r>
            <a:endParaRPr lang="en-GB" sz="44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524328" y="5301208"/>
            <a:ext cx="1388305" cy="1385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539552" y="1484784"/>
            <a:ext cx="6624736" cy="4678204"/>
          </a:xfrm>
          <a:prstGeom prst="rect">
            <a:avLst/>
          </a:prstGeom>
          <a:noFill/>
        </p:spPr>
        <p:txBody>
          <a:bodyPr wrap="square" rtlCol="0">
            <a:spAutoFit/>
          </a:bodyPr>
          <a:lstStyle/>
          <a:p>
            <a:pPr algn="ctr"/>
            <a:r>
              <a:rPr lang="en-US" sz="2200" dirty="0" smtClean="0"/>
              <a:t>“The most useful item developed by psychological science is the concept of intelligence. For more than a century this sturdy understanding has been tweaked from pure </a:t>
            </a:r>
            <a:r>
              <a:rPr lang="en-US" sz="2200" i="1" dirty="0" smtClean="0"/>
              <a:t>g </a:t>
            </a:r>
            <a:r>
              <a:rPr lang="en-US" sz="2200" dirty="0" smtClean="0"/>
              <a:t>to multiples, from fixed to malleable, admired and despised. Although around the world it may be differently interpreted, there is a basic understanding that individual intelligence is to do with the ability to deal with one’s world. Measures of intelligence are reliable and regularly improved to serve their purpose of predicting intellectual achievement, mostly in school. Its an infinitely more valuable tool than a non-stick pan”</a:t>
            </a:r>
          </a:p>
          <a:p>
            <a:pPr algn="ctr"/>
            <a:endParaRPr lang="en-US" dirty="0" smtClean="0"/>
          </a:p>
          <a:p>
            <a:pPr algn="r"/>
            <a:r>
              <a:rPr lang="en-US" sz="1600" dirty="0" smtClean="0"/>
              <a:t>Professor Joan Freeman. The Psychologist. October 2015</a:t>
            </a:r>
            <a:endParaRPr lang="en-US" sz="1600" dirty="0"/>
          </a:p>
        </p:txBody>
      </p:sp>
    </p:spTree>
    <p:extLst>
      <p:ext uri="{BB962C8B-B14F-4D97-AF65-F5344CB8AC3E}">
        <p14:creationId xmlns:p14="http://schemas.microsoft.com/office/powerpoint/2010/main" val="24436039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Intelligence:</a:t>
            </a:r>
            <a:endParaRPr lang="en-GB" sz="44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524328" y="5301208"/>
            <a:ext cx="1388305" cy="1385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539552" y="1484784"/>
            <a:ext cx="6624736" cy="5262980"/>
          </a:xfrm>
          <a:prstGeom prst="rect">
            <a:avLst/>
          </a:prstGeom>
          <a:noFill/>
        </p:spPr>
        <p:txBody>
          <a:bodyPr wrap="square" rtlCol="0">
            <a:spAutoFit/>
          </a:bodyPr>
          <a:lstStyle/>
          <a:p>
            <a:r>
              <a:rPr lang="en-US" sz="2800" dirty="0" smtClean="0"/>
              <a:t>“Intelligence </a:t>
            </a:r>
            <a:r>
              <a:rPr lang="en-US" sz="2800" dirty="0"/>
              <a:t>has been an important and controversial topic throughout psychology's history. Despite the substantial interest in the subject, there is still considerable disagreement about what exactly constitutes intelligence. In addition to questions of exactly how to define intelligence, the debate continues today about whether accurate measurements are even possible</a:t>
            </a:r>
            <a:r>
              <a:rPr lang="en-US" sz="2800" dirty="0" smtClean="0"/>
              <a:t>.”</a:t>
            </a:r>
          </a:p>
          <a:p>
            <a:pPr algn="ctr"/>
            <a:endParaRPr lang="en-US" sz="2800" dirty="0" smtClean="0"/>
          </a:p>
          <a:p>
            <a:pPr algn="r"/>
            <a:r>
              <a:rPr lang="en-US" sz="1600" dirty="0" err="1" smtClean="0"/>
              <a:t>about.com</a:t>
            </a:r>
            <a:endParaRPr lang="en-US" sz="1600" dirty="0"/>
          </a:p>
        </p:txBody>
      </p:sp>
    </p:spTree>
    <p:extLst>
      <p:ext uri="{BB962C8B-B14F-4D97-AF65-F5344CB8AC3E}">
        <p14:creationId xmlns:p14="http://schemas.microsoft.com/office/powerpoint/2010/main" val="28134305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gracepointwellness.org/images/root/culturestockxpertcom_id14622071_size01.JPG">
            <a:hlinkClick r:id="rId2"/>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9513" y="332656"/>
            <a:ext cx="1944216" cy="18534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339752" y="404664"/>
            <a:ext cx="5832648" cy="1323439"/>
          </a:xfrm>
          <a:prstGeom prst="rect">
            <a:avLst/>
          </a:prstGeom>
          <a:noFill/>
        </p:spPr>
        <p:txBody>
          <a:bodyPr wrap="square" rtlCol="0">
            <a:spAutoFit/>
          </a:bodyPr>
          <a:lstStyle/>
          <a:p>
            <a:r>
              <a:rPr lang="en-GB" sz="4000" b="1" dirty="0" smtClean="0">
                <a:solidFill>
                  <a:srgbClr val="7FAF1F"/>
                </a:solidFill>
              </a:rPr>
              <a:t>Historical, Political Cultural Influences:</a:t>
            </a:r>
            <a:endParaRPr lang="en-GB" sz="4000" b="1" dirty="0">
              <a:solidFill>
                <a:srgbClr val="7FAF1F"/>
              </a:solidFill>
            </a:endParaRPr>
          </a:p>
        </p:txBody>
      </p:sp>
      <p:sp>
        <p:nvSpPr>
          <p:cNvPr id="3" name="TextBox 2"/>
          <p:cNvSpPr txBox="1"/>
          <p:nvPr/>
        </p:nvSpPr>
        <p:spPr>
          <a:xfrm>
            <a:off x="323528" y="2420887"/>
            <a:ext cx="8640960" cy="4462760"/>
          </a:xfrm>
          <a:prstGeom prst="rect">
            <a:avLst/>
          </a:prstGeom>
          <a:noFill/>
        </p:spPr>
        <p:txBody>
          <a:bodyPr wrap="square" rtlCol="0">
            <a:spAutoFit/>
          </a:bodyPr>
          <a:lstStyle/>
          <a:p>
            <a:pPr marL="342900" indent="-342900">
              <a:buFont typeface="Arial" panose="020B0604020202020204" pitchFamily="34" charset="0"/>
              <a:buChar char="•"/>
            </a:pPr>
            <a:r>
              <a:rPr lang="en-GB" sz="2000" dirty="0" smtClean="0"/>
              <a:t>Children have moved from being ‘economically useful’ to being ‘economically useless’ but ‘emotionally priceless’ (</a:t>
            </a:r>
            <a:r>
              <a:rPr lang="en-GB" sz="2000" dirty="0" err="1" smtClean="0"/>
              <a:t>Zelizer</a:t>
            </a:r>
            <a:r>
              <a:rPr lang="en-GB" sz="2000" dirty="0" smtClean="0"/>
              <a:t>, 1994)</a:t>
            </a:r>
          </a:p>
          <a:p>
            <a:pPr marL="342900" indent="-342900">
              <a:buFont typeface="Arial" panose="020B0604020202020204" pitchFamily="34" charset="0"/>
              <a:buChar char="•"/>
            </a:pPr>
            <a:r>
              <a:rPr lang="en-GB" sz="2000" dirty="0" smtClean="0"/>
              <a:t>Children learning in the 21</a:t>
            </a:r>
            <a:r>
              <a:rPr lang="en-GB" sz="2000" baseline="30000" dirty="0" smtClean="0"/>
              <a:t>st</a:t>
            </a:r>
            <a:r>
              <a:rPr lang="en-GB" sz="2000" dirty="0" smtClean="0"/>
              <a:t> century have exposure to opportunities, experiences and information previously unimaginable (</a:t>
            </a:r>
            <a:r>
              <a:rPr lang="en-GB" sz="2000" dirty="0" err="1" smtClean="0"/>
              <a:t>Gray</a:t>
            </a:r>
            <a:r>
              <a:rPr lang="en-GB" sz="2000" dirty="0" smtClean="0"/>
              <a:t> and </a:t>
            </a:r>
            <a:r>
              <a:rPr lang="en-GB" sz="2000" dirty="0" err="1" smtClean="0"/>
              <a:t>Macblain</a:t>
            </a:r>
            <a:r>
              <a:rPr lang="en-GB" sz="2000" dirty="0" smtClean="0"/>
              <a:t>, 2015)</a:t>
            </a:r>
          </a:p>
          <a:p>
            <a:pPr marL="342900" indent="-342900">
              <a:buFont typeface="Arial" panose="020B0604020202020204" pitchFamily="34" charset="0"/>
              <a:buChar char="•"/>
            </a:pPr>
            <a:r>
              <a:rPr lang="en-GB" sz="2000" dirty="0" smtClean="0"/>
              <a:t>Concerns over large corporations having influence over what type of learning takes place in schools (</a:t>
            </a:r>
            <a:r>
              <a:rPr lang="en-GB" sz="2000" dirty="0" err="1" smtClean="0"/>
              <a:t>Illich</a:t>
            </a:r>
            <a:r>
              <a:rPr lang="en-GB" sz="2000" dirty="0" smtClean="0"/>
              <a:t>, cited in </a:t>
            </a:r>
            <a:r>
              <a:rPr lang="en-GB" sz="2000" dirty="0" err="1" smtClean="0"/>
              <a:t>Macblain</a:t>
            </a:r>
            <a:r>
              <a:rPr lang="en-GB" sz="2000" dirty="0" smtClean="0"/>
              <a:t>, 2014).</a:t>
            </a:r>
          </a:p>
          <a:p>
            <a:pPr marL="342900" indent="-342900">
              <a:buFont typeface="Arial" panose="020B0604020202020204" pitchFamily="34" charset="0"/>
              <a:buChar char="•"/>
            </a:pPr>
            <a:r>
              <a:rPr lang="en-GB" sz="2000" dirty="0" smtClean="0"/>
              <a:t>The education system is grossly inadequate; leading us to increasing incompetence through contributing to and supporting a system that expects humans to engage in endless and senseless work to either consume abundant resources or create products (and by-products) that inflict endless damage in their production or disposal, thus heading us to our own extinction. (Raven, 2014)</a:t>
            </a:r>
          </a:p>
          <a:p>
            <a:pPr marL="342900" indent="-342900">
              <a:buFont typeface="Arial" panose="020B0604020202020204" pitchFamily="34" charset="0"/>
              <a:buChar char="•"/>
            </a:pPr>
            <a:endParaRPr lang="en-GB" sz="2400" dirty="0"/>
          </a:p>
        </p:txBody>
      </p:sp>
    </p:spTree>
    <p:extLst>
      <p:ext uri="{BB962C8B-B14F-4D97-AF65-F5344CB8AC3E}">
        <p14:creationId xmlns:p14="http://schemas.microsoft.com/office/powerpoint/2010/main" val="2286012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80648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000" b="1" dirty="0" smtClean="0">
                <a:latin typeface="Nyala" charset="0"/>
              </a:rPr>
              <a:t>From theories to evidence:</a:t>
            </a:r>
            <a:endParaRPr lang="en-GB" sz="40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Diagram 2"/>
          <p:cNvGraphicFramePr/>
          <p:nvPr>
            <p:extLst>
              <p:ext uri="{D42A27DB-BD31-4B8C-83A1-F6EECF244321}">
                <p14:modId xmlns:p14="http://schemas.microsoft.com/office/powerpoint/2010/main" val="1060311797"/>
              </p:ext>
            </p:extLst>
          </p:nvPr>
        </p:nvGraphicFramePr>
        <p:xfrm>
          <a:off x="947609" y="1387627"/>
          <a:ext cx="6768752" cy="43924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406982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Title 1"/>
          <p:cNvSpPr>
            <a:spLocks noGrp="1"/>
          </p:cNvSpPr>
          <p:nvPr>
            <p:ph type="title" idx="4294967295"/>
          </p:nvPr>
        </p:nvSpPr>
        <p:spPr>
          <a:xfrm>
            <a:off x="251520" y="332656"/>
            <a:ext cx="3683000" cy="1143000"/>
          </a:xfrm>
        </p:spPr>
        <p:txBody>
          <a:bodyPr/>
          <a:lstStyle/>
          <a:p>
            <a:pPr algn="l"/>
            <a:r>
              <a:rPr lang="en-GB" b="1" dirty="0" smtClean="0">
                <a:latin typeface="Arial" charset="0"/>
              </a:rPr>
              <a:t>Summary:</a:t>
            </a:r>
            <a:endParaRPr lang="en-GB" b="1" dirty="0">
              <a:latin typeface="Arial" charset="0"/>
            </a:endParaRPr>
          </a:p>
        </p:txBody>
      </p:sp>
      <p:pic>
        <p:nvPicPr>
          <p:cNvPr id="283652" name="Picture 3"/>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660232" y="0"/>
            <a:ext cx="2232248" cy="167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79512" y="1844824"/>
            <a:ext cx="8640960" cy="4955203"/>
          </a:xfrm>
          <a:prstGeom prst="rect">
            <a:avLst/>
          </a:prstGeom>
          <a:noFill/>
        </p:spPr>
        <p:txBody>
          <a:bodyPr wrap="square" rtlCol="0">
            <a:spAutoFit/>
          </a:bodyPr>
          <a:lstStyle/>
          <a:p>
            <a:pPr marL="285750" indent="-285750">
              <a:buFont typeface="Arial"/>
              <a:buChar char="•"/>
            </a:pPr>
            <a:r>
              <a:rPr lang="en-US" sz="2400" dirty="0" smtClean="0"/>
              <a:t>No single theorist offers a complete explanation of children’s learning and each have their strengths and weaknesses</a:t>
            </a:r>
          </a:p>
          <a:p>
            <a:endParaRPr lang="en-US" sz="2400" dirty="0" smtClean="0"/>
          </a:p>
          <a:p>
            <a:pPr marL="285750" indent="-285750">
              <a:buFont typeface="Arial"/>
              <a:buChar char="•"/>
            </a:pPr>
            <a:r>
              <a:rPr lang="en-US" sz="2400" dirty="0" smtClean="0"/>
              <a:t>Cultural, political and historical factors can affect learning (which is seen as a dynamic and evolving set of expectations, opportunities and processes)</a:t>
            </a:r>
          </a:p>
          <a:p>
            <a:endParaRPr lang="en-US" sz="2400" dirty="0" smtClean="0"/>
          </a:p>
          <a:p>
            <a:pPr marL="285750" indent="-285750">
              <a:buFont typeface="Arial"/>
              <a:buChar char="•"/>
            </a:pPr>
            <a:r>
              <a:rPr lang="en-US" sz="2400" dirty="0" smtClean="0"/>
              <a:t>What we normally expect of children and young people and how we assess and support them with their learning can be affected by underpinning theories and beliefs about intelligence, development and utility of certain knowledge/skills (as well as cultural and political influences)</a:t>
            </a:r>
          </a:p>
          <a:p>
            <a:pPr marL="285750" indent="-285750">
              <a:buFont typeface="Arial"/>
              <a:buChar char="•"/>
            </a:pPr>
            <a:endParaRPr lang="en-US" sz="2800" dirty="0"/>
          </a:p>
        </p:txBody>
      </p:sp>
    </p:spTree>
    <p:extLst>
      <p:ext uri="{BB962C8B-B14F-4D97-AF65-F5344CB8AC3E}">
        <p14:creationId xmlns:p14="http://schemas.microsoft.com/office/powerpoint/2010/main" val="39075129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Rectangle 3"/>
          <p:cNvSpPr>
            <a:spLocks noGrp="1" noChangeArrowheads="1"/>
          </p:cNvSpPr>
          <p:nvPr>
            <p:ph type="body" idx="1"/>
          </p:nvPr>
        </p:nvSpPr>
        <p:spPr>
          <a:xfrm>
            <a:off x="457200" y="836613"/>
            <a:ext cx="8229600" cy="5289550"/>
          </a:xfrm>
        </p:spPr>
        <p:txBody>
          <a:bodyPr/>
          <a:lstStyle/>
          <a:p>
            <a:pPr>
              <a:buFontTx/>
              <a:buNone/>
            </a:pPr>
            <a:r>
              <a:rPr lang="en-GB" sz="5400" b="1">
                <a:latin typeface="Nyala" charset="0"/>
              </a:rPr>
              <a:t>Questions?</a:t>
            </a:r>
            <a:r>
              <a:rPr lang="en-GB" sz="4000" b="1">
                <a:latin typeface="Nyala" charset="0"/>
              </a:rPr>
              <a:t> </a:t>
            </a:r>
          </a:p>
        </p:txBody>
      </p:sp>
      <p:pic>
        <p:nvPicPr>
          <p:cNvPr id="285700" name="Picture 4" descr="MC90043151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2514600"/>
            <a:ext cx="18288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121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bbdb79aa-d23b-4dfd-af96-d267cbda7dd4"/>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reez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font script="Hans" typeface="宋体"/>
        <a:font script="Hant" typeface="新細明體"/>
      </a:majorFont>
      <a:minorFont>
        <a:latin typeface="News Gothic MT"/>
        <a:ea typeface=""/>
        <a:cs typeface=""/>
        <a:font script="Jpan" typeface="ＭＳ Ｐゴシック"/>
        <a:font script="Hans" typeface="宋体"/>
        <a:font script="Hant" typeface="新細明體"/>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3492</TotalTime>
  <Words>1762</Words>
  <Application>Microsoft Office PowerPoint</Application>
  <PresentationFormat>On-screen Show (4:3)</PresentationFormat>
  <Paragraphs>289</Paragraphs>
  <Slides>36</Slides>
  <Notes>18</Notes>
  <HiddenSlides>0</HiddenSlides>
  <MMClips>0</MMClips>
  <ScaleCrop>false</ScaleCrop>
  <HeadingPairs>
    <vt:vector size="4" baseType="variant">
      <vt:variant>
        <vt:lpstr>Theme</vt:lpstr>
      </vt:variant>
      <vt:variant>
        <vt:i4>2</vt:i4>
      </vt:variant>
      <vt:variant>
        <vt:lpstr>Slide Titles</vt:lpstr>
      </vt:variant>
      <vt:variant>
        <vt:i4>36</vt:i4>
      </vt:variant>
    </vt:vector>
  </HeadingPairs>
  <TitlesOfParts>
    <vt:vector size="38" baseType="lpstr">
      <vt:lpstr>2_Default Design</vt:lpstr>
      <vt:lpstr>1_Breeze</vt:lpstr>
      <vt:lpstr>   Dynamic Assessment Introductory session – Learning theories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PowerPoint Presentation</vt:lpstr>
    </vt:vector>
  </TitlesOfParts>
  <Company>Southampton City Council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 User</dc:creator>
  <cp:lastModifiedBy>localprofile</cp:lastModifiedBy>
  <cp:revision>211</cp:revision>
  <cp:lastPrinted>2016-09-26T09:58:07Z</cp:lastPrinted>
  <dcterms:created xsi:type="dcterms:W3CDTF">2011-05-06T13:42:05Z</dcterms:created>
  <dcterms:modified xsi:type="dcterms:W3CDTF">2017-11-17T08:06:43Z</dcterms:modified>
</cp:coreProperties>
</file>