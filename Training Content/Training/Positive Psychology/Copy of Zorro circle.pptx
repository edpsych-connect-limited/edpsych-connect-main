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8" r:id="rId8"/>
    <p:sldId id="263" r:id="rId9"/>
    <p:sldId id="270" r:id="rId10"/>
    <p:sldId id="269" r:id="rId11"/>
    <p:sldId id="261" r:id="rId12"/>
    <p:sldId id="264" r:id="rId13"/>
    <p:sldId id="265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2" autoAdjust="0"/>
    <p:restoredTop sz="94778" autoAdjust="0"/>
  </p:normalViewPr>
  <p:slideViewPr>
    <p:cSldViewPr>
      <p:cViewPr>
        <p:scale>
          <a:sx n="94" d="100"/>
          <a:sy n="94" d="100"/>
        </p:scale>
        <p:origin x="-882" y="-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54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06119-B0BE-489D-85F0-1DC96C230646}" type="datetimeFigureOut">
              <a:rPr lang="en-GB" smtClean="0"/>
              <a:t>22/05/2017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345440" y="2942602"/>
            <a:ext cx="7147931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572652" y="2944634"/>
            <a:ext cx="1190348" cy="2459736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12714" y="3136658"/>
            <a:ext cx="910224" cy="2075688"/>
          </a:xfrm>
          <a:prstGeom prst="rect">
            <a:avLst/>
          </a:prstGeom>
          <a:solidFill>
            <a:schemeClr val="accent3">
              <a:alpha val="70000"/>
            </a:schemeClr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45483" y="3055621"/>
            <a:ext cx="6947845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86826" y="4625268"/>
            <a:ext cx="762000" cy="457200"/>
          </a:xfrm>
        </p:spPr>
        <p:txBody>
          <a:bodyPr/>
          <a:lstStyle>
            <a:lvl1pPr algn="ctr"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69160A5-1F36-4AEB-844F-0D94D4BC807A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541822" y="4559276"/>
            <a:ext cx="6755166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8971" y="3139440"/>
            <a:ext cx="6760868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805" y="4648200"/>
            <a:ext cx="6553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spc="3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4705" y="3227033"/>
            <a:ext cx="6629400" cy="1219201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06119-B0BE-489D-85F0-1DC96C230646}" type="datetimeFigureOut">
              <a:rPr lang="en-GB" smtClean="0"/>
              <a:t>22/05/2017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160A5-1F36-4AEB-844F-0D94D4BC807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06119-B0BE-489D-85F0-1DC96C230646}" type="datetimeFigureOut">
              <a:rPr lang="en-GB" smtClean="0"/>
              <a:t>22/05/2017</a:t>
            </a:fld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451976" y="2946400"/>
            <a:ext cx="8265160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67656" y="3048000"/>
            <a:ext cx="8033800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160A5-1F36-4AEB-844F-0D94D4BC807A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6" y="3200399"/>
            <a:ext cx="7696200" cy="1295401"/>
          </a:xfrm>
        </p:spPr>
        <p:txBody>
          <a:bodyPr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000" kern="1200" cap="all" baseline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75496" y="4541520"/>
            <a:ext cx="7818120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4607510"/>
            <a:ext cx="7696200" cy="523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757" y="3124200"/>
            <a:ext cx="7817599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128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06119-B0BE-489D-85F0-1DC96C230646}" type="datetimeFigureOut">
              <a:rPr lang="en-GB" smtClean="0"/>
              <a:t>22/05/2017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160A5-1F36-4AEB-844F-0D94D4BC807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128" y="1722438"/>
            <a:ext cx="4040188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128" y="2438400"/>
            <a:ext cx="4040188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400"/>
            <a:ext cx="4041775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06119-B0BE-489D-85F0-1DC96C230646}" type="datetimeFigureOut">
              <a:rPr lang="en-GB" smtClean="0"/>
              <a:t>22/05/2017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160A5-1F36-4AEB-844F-0D94D4BC807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06119-B0BE-489D-85F0-1DC96C230646}" type="datetimeFigureOut">
              <a:rPr lang="en-GB" smtClean="0"/>
              <a:t>22/05/2017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160A5-1F36-4AEB-844F-0D94D4BC807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ounded Rectangle 10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06119-B0BE-489D-85F0-1DC96C230646}" type="datetimeFigureOut">
              <a:rPr lang="en-GB" smtClean="0"/>
              <a:t>22/05/2017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160A5-1F36-4AEB-844F-0D94D4BC807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ounded Rectangle 11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685800"/>
            <a:ext cx="4572000" cy="52578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06119-B0BE-489D-85F0-1DC96C230646}" type="datetimeFigureOut">
              <a:rPr lang="en-GB" smtClean="0"/>
              <a:t>22/05/2017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160A5-1F36-4AEB-844F-0D94D4BC807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560034" y="1505712"/>
            <a:ext cx="2716566" cy="3523488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6690" y="1642472"/>
            <a:ext cx="2483254" cy="3234328"/>
          </a:xfrm>
          <a:prstGeom prst="rect">
            <a:avLst/>
          </a:prstGeom>
          <a:solidFill>
            <a:srgbClr val="FFFFFF"/>
          </a:solidFill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000" y="2971800"/>
            <a:ext cx="2298634" cy="1752600"/>
          </a:xfrm>
        </p:spPr>
        <p:txBody>
          <a:bodyPr/>
          <a:lstStyle>
            <a:lvl1pPr marL="0" indent="0">
              <a:spcBef>
                <a:spcPts val="4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000" y="1734312"/>
            <a:ext cx="2298634" cy="1191620"/>
          </a:xfrm>
        </p:spPr>
        <p:txBody>
          <a:bodyPr anchor="b">
            <a:normAutofit/>
          </a:bodyPr>
          <a:lstStyle>
            <a:lvl1pPr algn="l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621437"/>
            <a:ext cx="7772400" cy="4331564"/>
          </a:xfrm>
          <a:solidFill>
            <a:schemeClr val="bg2"/>
          </a:solidFill>
          <a:ln>
            <a:noFill/>
          </a:ln>
          <a:effectLst>
            <a:softEdge rad="1270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06119-B0BE-489D-85F0-1DC96C230646}" type="datetimeFigureOut">
              <a:rPr lang="en-GB" smtClean="0"/>
              <a:t>22/05/2017</a:t>
            </a:fld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160A5-1F36-4AEB-844F-0D94D4BC807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685800" y="4953000"/>
            <a:ext cx="7772400" cy="13716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1999" y="5029200"/>
            <a:ext cx="7600765" cy="1202924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914400" y="5638800"/>
            <a:ext cx="7328514" cy="451696"/>
          </a:xfrm>
          <a:prstGeom prst="rect">
            <a:avLst/>
          </a:prstGeom>
          <a:solidFill>
            <a:schemeClr val="accent1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5589" y="5074920"/>
            <a:ext cx="7946136" cy="1097280"/>
          </a:xfrm>
          <a:prstGeom prst="rect">
            <a:avLst/>
          </a:prstGeom>
          <a:noFill/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289" y="5656556"/>
            <a:ext cx="7244736" cy="40171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05400"/>
            <a:ext cx="7328514" cy="523043"/>
          </a:xfrm>
        </p:spPr>
        <p:txBody>
          <a:bodyPr anchor="ctr" anchorCtr="0"/>
          <a:lstStyle>
            <a:lvl1pPr algn="ctr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06119-B0BE-489D-85F0-1DC96C230646}" type="datetimeFigureOut">
              <a:rPr lang="en-GB" smtClean="0"/>
              <a:t>22/05/2017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160A5-1F36-4AEB-844F-0D94D4BC807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61702" y="228600"/>
            <a:ext cx="1859280" cy="6122634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5225" y="351409"/>
            <a:ext cx="1672235" cy="587701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48577" y="395427"/>
            <a:ext cx="1485531" cy="578898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0999"/>
            <a:ext cx="6172200" cy="57912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06119-B0BE-489D-85F0-1DC96C230646}" type="datetimeFigureOut">
              <a:rPr lang="en-GB" smtClean="0"/>
              <a:t>22/05/2017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160A5-1F36-4AEB-844F-0D94D4BC807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ounded Rectangle 6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82296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4E906119-B0BE-489D-85F0-1DC96C230646}" type="datetimeFigureOut">
              <a:rPr lang="en-GB" smtClean="0"/>
              <a:t>22/05/2017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69160A5-1F36-4AEB-844F-0D94D4BC807A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274320" y="278166"/>
            <a:ext cx="8595360" cy="132588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2863" y="372862"/>
            <a:ext cx="8380520" cy="111858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50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IfjDXMM-yzI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The </a:t>
            </a:r>
            <a:r>
              <a:rPr lang="en-GB" dirty="0" err="1" smtClean="0"/>
              <a:t>zorro</a:t>
            </a:r>
            <a:r>
              <a:rPr lang="en-GB" dirty="0" smtClean="0"/>
              <a:t> circle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0319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Activity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5 minutes</a:t>
            </a:r>
          </a:p>
          <a:p>
            <a:endParaRPr lang="en-GB" dirty="0"/>
          </a:p>
          <a:p>
            <a:r>
              <a:rPr lang="en-GB" dirty="0" smtClean="0"/>
              <a:t>Record the three things in your life you have most control over…</a:t>
            </a:r>
          </a:p>
          <a:p>
            <a:endParaRPr lang="en-GB" dirty="0"/>
          </a:p>
          <a:p>
            <a:r>
              <a:rPr lang="en-GB" dirty="0" smtClean="0"/>
              <a:t>Record three things you have no control over. 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4562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‘Thinker’ and the ‘leaper’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752600"/>
            <a:ext cx="8640960" cy="4373563"/>
          </a:xfrm>
        </p:spPr>
        <p:txBody>
          <a:bodyPr/>
          <a:lstStyle/>
          <a:p>
            <a:r>
              <a:rPr lang="en-GB" b="1" dirty="0" smtClean="0"/>
              <a:t>Frontal lobe </a:t>
            </a:r>
            <a:r>
              <a:rPr lang="en-GB" dirty="0" smtClean="0"/>
              <a:t>– The ‘Thinker’. Rational. Think, then react</a:t>
            </a:r>
          </a:p>
          <a:p>
            <a:r>
              <a:rPr lang="en-GB" b="1" dirty="0" smtClean="0"/>
              <a:t>Limbic system </a:t>
            </a:r>
            <a:r>
              <a:rPr lang="en-GB" dirty="0" smtClean="0"/>
              <a:t>– The ‘Jumper’. Animal brain. Fight or flight. The oldest part of the brain. </a:t>
            </a:r>
            <a:endParaRPr lang="en-GB" dirty="0"/>
          </a:p>
        </p:txBody>
      </p:sp>
      <p:pic>
        <p:nvPicPr>
          <p:cNvPr id="1026" name="Picture 2" descr="C:\Users\bagleyc\Desktop\imgre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212976"/>
            <a:ext cx="6242743" cy="3345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2540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Zorro’s training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</a:t>
            </a:r>
            <a:r>
              <a:rPr lang="en-GB" dirty="0" smtClean="0">
                <a:hlinkClick r:id="rId2"/>
              </a:rPr>
              <a:t>www.youtube.com/watch?v=IfjDXMM-yzI</a:t>
            </a:r>
            <a:endParaRPr lang="en-GB" dirty="0" smtClean="0"/>
          </a:p>
          <a:p>
            <a:endParaRPr lang="en-GB" dirty="0"/>
          </a:p>
          <a:p>
            <a:r>
              <a:rPr lang="en-GB" dirty="0" smtClean="0"/>
              <a:t>What does Don Diego (The Master) ask Alejandro to </a:t>
            </a:r>
            <a:r>
              <a:rPr lang="en-GB" dirty="0" smtClean="0"/>
              <a:t>do...?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2017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Key learning points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Zorro circle = a metaphor for how we can achieve our ambitions.</a:t>
            </a:r>
          </a:p>
          <a:p>
            <a:endParaRPr lang="en-GB" dirty="0"/>
          </a:p>
          <a:p>
            <a:r>
              <a:rPr lang="en-GB" dirty="0" smtClean="0"/>
              <a:t>ONE OF THE BIGGEST DRIVERS OF SUCCESS = RECOGNISING THAT OUR BEHAVIOUR MATTERS. We have control. </a:t>
            </a:r>
          </a:p>
          <a:p>
            <a:endParaRPr lang="en-GB" dirty="0"/>
          </a:p>
          <a:p>
            <a:r>
              <a:rPr lang="en-GB" dirty="0" smtClean="0"/>
              <a:t>We are masters of our own fate. </a:t>
            </a:r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4511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psychology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u="sng" dirty="0" smtClean="0"/>
              <a:t>Question:</a:t>
            </a:r>
            <a:r>
              <a:rPr lang="en-GB" dirty="0" smtClean="0"/>
              <a:t> There many ways of explaining WHY we succeed at something. </a:t>
            </a:r>
          </a:p>
          <a:p>
            <a:pPr lvl="2"/>
            <a:r>
              <a:rPr lang="en-GB" u="sng" dirty="0" smtClean="0"/>
              <a:t>What might they be? </a:t>
            </a:r>
          </a:p>
          <a:p>
            <a:pPr marL="685800" lvl="2" indent="0">
              <a:buNone/>
            </a:pPr>
            <a:endParaRPr lang="en-GB" u="sng" dirty="0"/>
          </a:p>
          <a:p>
            <a:pPr marL="685800" lvl="2" indent="0">
              <a:buNone/>
            </a:pPr>
            <a:endParaRPr lang="en-GB" u="sng" dirty="0"/>
          </a:p>
          <a:p>
            <a:pPr marL="685800" lvl="2" indent="0">
              <a:buNone/>
            </a:pPr>
            <a:endParaRPr lang="en-GB" sz="4000" u="sng" dirty="0" smtClean="0"/>
          </a:p>
          <a:p>
            <a:pPr marL="685800" lvl="2" indent="0">
              <a:buNone/>
            </a:pPr>
            <a:r>
              <a:rPr lang="en-GB" sz="4000" b="1" u="sng" dirty="0" smtClean="0"/>
              <a:t>Clue</a:t>
            </a:r>
            <a:r>
              <a:rPr lang="en-GB" sz="4000" b="1" dirty="0" smtClean="0"/>
              <a:t> – Internal and external</a:t>
            </a:r>
            <a:endParaRPr lang="en-GB" sz="4000" b="1" u="sng" dirty="0" smtClean="0"/>
          </a:p>
          <a:p>
            <a:pPr lvl="2"/>
            <a:endParaRPr lang="en-GB" b="1" u="sng" dirty="0"/>
          </a:p>
          <a:p>
            <a:pPr lvl="2"/>
            <a:endParaRPr lang="en-GB" b="1" u="sng" dirty="0" smtClean="0"/>
          </a:p>
          <a:p>
            <a:pPr marL="685800" lvl="2" indent="0">
              <a:buNone/>
            </a:pPr>
            <a:endParaRPr lang="en-GB" u="sng" dirty="0" smtClean="0"/>
          </a:p>
          <a:p>
            <a:pPr marL="685800" lvl="2" indent="0">
              <a:buNone/>
            </a:pPr>
            <a:endParaRPr lang="en-GB" u="sng" dirty="0"/>
          </a:p>
          <a:p>
            <a:pPr marL="685800" lvl="2" indent="0">
              <a:buNone/>
            </a:pPr>
            <a:endParaRPr lang="en-GB" u="sng" dirty="0" smtClean="0"/>
          </a:p>
          <a:p>
            <a:pPr lvl="2"/>
            <a:endParaRPr lang="en-GB" u="sng" dirty="0"/>
          </a:p>
          <a:p>
            <a:pPr lvl="2"/>
            <a:endParaRPr lang="en-GB" u="sng" dirty="0" smtClean="0"/>
          </a:p>
          <a:p>
            <a:pPr lvl="2"/>
            <a:endParaRPr lang="en-GB" u="sng" dirty="0"/>
          </a:p>
          <a:p>
            <a:pPr lvl="2"/>
            <a:endParaRPr lang="en-GB" u="sng" dirty="0" smtClean="0"/>
          </a:p>
          <a:p>
            <a:pPr lvl="2"/>
            <a:endParaRPr lang="en-GB" u="sng" dirty="0"/>
          </a:p>
        </p:txBody>
      </p:sp>
    </p:spTree>
    <p:extLst>
      <p:ext uri="{BB962C8B-B14F-4D97-AF65-F5344CB8AC3E}">
        <p14:creationId xmlns:p14="http://schemas.microsoft.com/office/powerpoint/2010/main" val="2669735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psychology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2">
              <a:buClr>
                <a:schemeClr val="accent1"/>
              </a:buClr>
            </a:pPr>
            <a:r>
              <a:rPr lang="en-GB" sz="2800" b="1" dirty="0"/>
              <a:t>“FEELING THAT WE ARE IN CONTROL, THAT WE ARE MASTERS OF OUR OWN FATE AT WORK AND HOME, IS ONE OF THE STRONGEST DRIVERS OF WELL-BEING AND PERFORMANCE”. </a:t>
            </a:r>
            <a:endParaRPr lang="en-GB" sz="2800" b="1" dirty="0" smtClean="0"/>
          </a:p>
          <a:p>
            <a:pPr marL="342900" lvl="2">
              <a:buClr>
                <a:schemeClr val="accent1"/>
              </a:buClr>
            </a:pPr>
            <a:endParaRPr lang="en-GB" sz="2800" b="1" dirty="0"/>
          </a:p>
          <a:p>
            <a:pPr marL="342900" lvl="2">
              <a:buClr>
                <a:schemeClr val="accent1"/>
              </a:buClr>
            </a:pPr>
            <a:r>
              <a:rPr lang="en-GB" sz="2800" dirty="0" smtClean="0"/>
              <a:t>This is more about how much control we </a:t>
            </a:r>
            <a:r>
              <a:rPr lang="en-GB" sz="2800" i="1" dirty="0" smtClean="0"/>
              <a:t>think </a:t>
            </a:r>
            <a:r>
              <a:rPr lang="en-GB" sz="2800" dirty="0" smtClean="0"/>
              <a:t>we have rather than how much we actually have. </a:t>
            </a:r>
            <a:endParaRPr lang="en-GB" sz="28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5868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Feelings of control internal or external?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6048672"/>
          </a:xfrm>
        </p:spPr>
        <p:txBody>
          <a:bodyPr>
            <a:normAutofit fontScale="70000" lnSpcReduction="20000"/>
          </a:bodyPr>
          <a:lstStyle/>
          <a:p>
            <a:pPr marL="114300" indent="0">
              <a:buNone/>
            </a:pPr>
            <a:endParaRPr lang="en-GB" sz="3400" dirty="0" smtClean="0"/>
          </a:p>
          <a:p>
            <a:pPr marL="114300" indent="0">
              <a:buNone/>
            </a:pPr>
            <a:r>
              <a:rPr lang="en-GB" sz="3400" dirty="0" smtClean="0"/>
              <a:t>1 – “They don’t recognise my talent, I never had a chance”</a:t>
            </a:r>
          </a:p>
          <a:p>
            <a:pPr marL="114300" indent="0">
              <a:buNone/>
            </a:pPr>
            <a:r>
              <a:rPr lang="en-GB" sz="3400" dirty="0" smtClean="0"/>
              <a:t>2 – “I won because I played well”</a:t>
            </a:r>
          </a:p>
          <a:p>
            <a:pPr marL="114300" indent="0">
              <a:buNone/>
            </a:pPr>
            <a:r>
              <a:rPr lang="en-GB" sz="3400" dirty="0" smtClean="0"/>
              <a:t>3- “I </a:t>
            </a:r>
            <a:r>
              <a:rPr lang="en-GB" sz="3400" dirty="0"/>
              <a:t>passed because the test was easy”</a:t>
            </a:r>
          </a:p>
          <a:p>
            <a:pPr marL="114300" indent="0">
              <a:buNone/>
            </a:pPr>
            <a:r>
              <a:rPr lang="en-GB" sz="3400" dirty="0"/>
              <a:t>4</a:t>
            </a:r>
            <a:r>
              <a:rPr lang="en-GB" sz="3400" dirty="0" smtClean="0"/>
              <a:t> – “I succeeded because the other people weren’t very good”</a:t>
            </a:r>
          </a:p>
          <a:p>
            <a:pPr marL="114300" indent="0">
              <a:buNone/>
            </a:pPr>
            <a:r>
              <a:rPr lang="en-GB" sz="3400" dirty="0"/>
              <a:t>5</a:t>
            </a:r>
            <a:r>
              <a:rPr lang="en-GB" sz="3400" dirty="0" smtClean="0"/>
              <a:t> – “They were a great team, that’s why they beat us”</a:t>
            </a:r>
          </a:p>
          <a:p>
            <a:pPr marL="114300" indent="0">
              <a:buNone/>
            </a:pPr>
            <a:r>
              <a:rPr lang="en-GB" sz="3400" dirty="0"/>
              <a:t>6</a:t>
            </a:r>
            <a:r>
              <a:rPr lang="en-GB" sz="3400" dirty="0" smtClean="0"/>
              <a:t> – </a:t>
            </a:r>
            <a:r>
              <a:rPr lang="en-GB" sz="3400" dirty="0"/>
              <a:t>“I can’t do maths, it’s impossible”</a:t>
            </a:r>
          </a:p>
          <a:p>
            <a:pPr marL="114300" indent="0">
              <a:buNone/>
            </a:pPr>
            <a:r>
              <a:rPr lang="en-GB" sz="3400" smtClean="0"/>
              <a:t>7 - “</a:t>
            </a:r>
            <a:r>
              <a:rPr lang="en-GB" sz="3400" dirty="0" smtClean="0"/>
              <a:t>I did loads of revision and that helped</a:t>
            </a:r>
            <a:r>
              <a:rPr lang="en-GB" sz="3400" smtClean="0"/>
              <a:t>” </a:t>
            </a:r>
            <a:endParaRPr lang="en-GB" sz="3400" dirty="0" smtClean="0"/>
          </a:p>
          <a:p>
            <a:pPr marL="114300" indent="0">
              <a:buNone/>
            </a:pPr>
            <a:r>
              <a:rPr lang="en-GB" sz="3400" dirty="0"/>
              <a:t>8</a:t>
            </a:r>
            <a:r>
              <a:rPr lang="en-GB" sz="3400" dirty="0" smtClean="0"/>
              <a:t> – “I’m just not very good at it! What’s the point trying?”</a:t>
            </a:r>
          </a:p>
          <a:p>
            <a:pPr marL="114300" indent="0">
              <a:buNone/>
            </a:pPr>
            <a:r>
              <a:rPr lang="en-GB" sz="3400" dirty="0" smtClean="0"/>
              <a:t>9 - “I reckon if I put some work in I’ve got a chance”</a:t>
            </a:r>
          </a:p>
          <a:p>
            <a:pPr marL="114300" indent="0">
              <a:buNone/>
            </a:pPr>
            <a:r>
              <a:rPr lang="en-GB" sz="3400" dirty="0" smtClean="0"/>
              <a:t>10 – </a:t>
            </a:r>
            <a:r>
              <a:rPr lang="en-GB" sz="3400" b="1" dirty="0" smtClean="0"/>
              <a:t>Anyone want to have a go at making one up?</a:t>
            </a:r>
            <a:endParaRPr lang="en-GB" sz="3400" dirty="0"/>
          </a:p>
          <a:p>
            <a:pPr marL="114300" indent="0">
              <a:buNone/>
            </a:pPr>
            <a:endParaRPr lang="en-GB" dirty="0" smtClean="0"/>
          </a:p>
          <a:p>
            <a:pPr marL="114300" indent="0">
              <a:buNone/>
            </a:pPr>
            <a:endParaRPr lang="en-GB" dirty="0"/>
          </a:p>
          <a:p>
            <a:pPr marL="114300" indent="0">
              <a:buNone/>
            </a:pPr>
            <a:r>
              <a:rPr lang="en-GB" dirty="0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3246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What are the benefits to having an “internal locus of control?”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THE POWER LIES WITHIN THEIR CIRCLE</a:t>
            </a:r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2050" name="Picture 2" descr="C:\Users\bagleyc\Desktop\imgre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420888"/>
            <a:ext cx="3960440" cy="3655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6820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Feelings of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Internals:</a:t>
            </a:r>
          </a:p>
          <a:p>
            <a:pPr lvl="1"/>
            <a:r>
              <a:rPr lang="en-GB" sz="2400" dirty="0" smtClean="0"/>
              <a:t>Higher achievement,</a:t>
            </a:r>
          </a:p>
          <a:p>
            <a:pPr lvl="1"/>
            <a:r>
              <a:rPr lang="en-GB" sz="2400" dirty="0" smtClean="0"/>
              <a:t>Happier at work,</a:t>
            </a:r>
          </a:p>
          <a:p>
            <a:pPr lvl="1"/>
            <a:r>
              <a:rPr lang="en-GB" sz="2400" dirty="0" smtClean="0"/>
              <a:t>Higher motivation,</a:t>
            </a:r>
          </a:p>
          <a:p>
            <a:pPr lvl="1"/>
            <a:r>
              <a:rPr lang="en-GB" sz="2400" dirty="0" smtClean="0"/>
              <a:t>Stronger relationships.</a:t>
            </a:r>
          </a:p>
          <a:p>
            <a:pPr lvl="1"/>
            <a:endParaRPr lang="en-GB" sz="2400" dirty="0"/>
          </a:p>
          <a:p>
            <a:pPr marL="411480" lvl="1" indent="0">
              <a:buNone/>
            </a:pPr>
            <a:r>
              <a:rPr lang="en-GB" sz="2400" dirty="0" smtClean="0"/>
              <a:t>Externals:</a:t>
            </a:r>
          </a:p>
          <a:p>
            <a:pPr lvl="1"/>
            <a:r>
              <a:rPr lang="en-GB" sz="2400" dirty="0" smtClean="0"/>
              <a:t>Helplessness,</a:t>
            </a:r>
          </a:p>
          <a:p>
            <a:pPr lvl="1"/>
            <a:r>
              <a:rPr lang="en-GB" sz="2400" dirty="0" smtClean="0"/>
              <a:t>Events driven be “external forces” outside their “</a:t>
            </a:r>
            <a:r>
              <a:rPr lang="en-GB" sz="2400" dirty="0"/>
              <a:t>Z</a:t>
            </a:r>
            <a:r>
              <a:rPr lang="en-GB" sz="2400" dirty="0" smtClean="0"/>
              <a:t>orro” circle.</a:t>
            </a:r>
          </a:p>
          <a:p>
            <a:pPr lvl="1"/>
            <a:endParaRPr lang="en-GB" sz="2400" dirty="0" smtClean="0"/>
          </a:p>
          <a:p>
            <a:pPr marL="411480" lvl="1" indent="0">
              <a:buNone/>
            </a:pPr>
            <a:endParaRPr lang="en-GB" sz="2400" dirty="0"/>
          </a:p>
          <a:p>
            <a:pPr marL="411480" lvl="1" indent="0">
              <a:buNone/>
            </a:pPr>
            <a:endParaRPr lang="en-GB" sz="2400" dirty="0" smtClean="0"/>
          </a:p>
          <a:p>
            <a:pPr lvl="1"/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089858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Psychological evidence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2002 study – 3000 employees. </a:t>
            </a:r>
            <a:r>
              <a:rPr lang="en-GB" b="1" dirty="0"/>
              <a:t>Greater feelings of control at work = </a:t>
            </a:r>
          </a:p>
          <a:p>
            <a:r>
              <a:rPr lang="en-GB" b="1" dirty="0" smtClean="0"/>
              <a:t>greater </a:t>
            </a:r>
            <a:r>
              <a:rPr lang="en-GB" b="1" dirty="0"/>
              <a:t>job satisfaction, relationships, family life, </a:t>
            </a:r>
            <a:endParaRPr lang="en-GB" b="1" dirty="0" smtClean="0"/>
          </a:p>
          <a:p>
            <a:endParaRPr lang="en-GB" b="1" dirty="0"/>
          </a:p>
          <a:p>
            <a:r>
              <a:rPr lang="en-GB" dirty="0" smtClean="0"/>
              <a:t>Elderly people in a nursing home. </a:t>
            </a:r>
            <a:r>
              <a:rPr lang="en-GB" b="1" dirty="0" smtClean="0"/>
              <a:t>More control over simple tasks: in charge of their own plants, helping to cook at mealtimes </a:t>
            </a:r>
            <a:r>
              <a:rPr lang="en-GB" b="1" dirty="0" err="1" smtClean="0"/>
              <a:t>etc</a:t>
            </a:r>
            <a:r>
              <a:rPr lang="en-GB" b="1" dirty="0" smtClean="0"/>
              <a:t> =</a:t>
            </a:r>
          </a:p>
          <a:p>
            <a:r>
              <a:rPr lang="en-GB" b="1" dirty="0" smtClean="0"/>
              <a:t>Level of happiness increased, live longer!</a:t>
            </a:r>
            <a:endParaRPr lang="en-GB" b="1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481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Psychological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7,400 employees who felt </a:t>
            </a:r>
            <a:r>
              <a:rPr lang="en-GB" b="1" dirty="0" smtClean="0"/>
              <a:t>little control over deadlines imposed by other people =</a:t>
            </a:r>
          </a:p>
          <a:p>
            <a:r>
              <a:rPr lang="en-GB" b="1" dirty="0" smtClean="0"/>
              <a:t>Higher risk of coronary heart disease than others</a:t>
            </a:r>
          </a:p>
          <a:p>
            <a:endParaRPr lang="en-GB" b="1" dirty="0"/>
          </a:p>
          <a:p>
            <a:r>
              <a:rPr lang="en-GB" b="1" dirty="0" smtClean="0"/>
              <a:t>When the “Thinker” wins against the “Jumper”.</a:t>
            </a:r>
          </a:p>
          <a:p>
            <a:endParaRPr lang="en-GB" b="1" dirty="0"/>
          </a:p>
          <a:p>
            <a:r>
              <a:rPr lang="en-GB" b="1" dirty="0" smtClean="0"/>
              <a:t>The danger of “Reach for The Stars”. </a:t>
            </a:r>
          </a:p>
          <a:p>
            <a:endParaRPr lang="en-GB" b="1" dirty="0"/>
          </a:p>
          <a:p>
            <a:endParaRPr lang="en-GB" b="1" dirty="0" smtClean="0"/>
          </a:p>
          <a:p>
            <a:endParaRPr lang="en-GB" b="1" dirty="0"/>
          </a:p>
          <a:p>
            <a:endParaRPr lang="en-GB" b="1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119969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Summary of research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“Don’t write a book… write a page”. </a:t>
            </a:r>
          </a:p>
          <a:p>
            <a:endParaRPr lang="en-GB" dirty="0"/>
          </a:p>
          <a:p>
            <a:r>
              <a:rPr lang="en-GB" dirty="0" smtClean="0"/>
              <a:t>Small, manageable goals</a:t>
            </a:r>
          </a:p>
          <a:p>
            <a:endParaRPr lang="en-GB" dirty="0"/>
          </a:p>
          <a:p>
            <a:r>
              <a:rPr lang="en-GB" dirty="0" smtClean="0"/>
              <a:t>INTERNAL locus of control is preferable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3948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The danger of “reach for the stars”…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752600"/>
            <a:ext cx="8640960" cy="4373563"/>
          </a:xfrm>
        </p:spPr>
        <p:txBody>
          <a:bodyPr/>
          <a:lstStyle/>
          <a:p>
            <a:r>
              <a:rPr lang="en-GB" b="1" dirty="0" smtClean="0"/>
              <a:t>Frontal lobe </a:t>
            </a:r>
            <a:r>
              <a:rPr lang="en-GB" dirty="0" smtClean="0"/>
              <a:t>– The ‘Thinker’. Rational. Think, then react</a:t>
            </a:r>
          </a:p>
          <a:p>
            <a:r>
              <a:rPr lang="en-GB" b="1" dirty="0" smtClean="0"/>
              <a:t>Limbic system </a:t>
            </a:r>
            <a:r>
              <a:rPr lang="en-GB" dirty="0" smtClean="0"/>
              <a:t>– The ‘Jumper’. Animal brain. Fight or flight. The oldest part of the brain. </a:t>
            </a:r>
            <a:endParaRPr lang="en-GB" dirty="0"/>
          </a:p>
        </p:txBody>
      </p:sp>
      <p:pic>
        <p:nvPicPr>
          <p:cNvPr id="1026" name="Picture 2" descr="C:\Users\bagleyc\Desktop\imgre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212976"/>
            <a:ext cx="6242743" cy="3345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9557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othecary">
  <a:themeElements>
    <a:clrScheme name="Apothecary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Apothecary">
      <a:majorFont>
        <a:latin typeface="Book Antiqua"/>
        <a:ea typeface=""/>
        <a:cs typeface=""/>
        <a:font script="Jpan" typeface="HGS明朝B"/>
        <a:font script="Hang" typeface="HY견명조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견명조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3000"/>
            <a:satMod val="14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atMod val="170000"/>
              </a:schemeClr>
              <a:schemeClr val="phClr">
                <a:shade val="70000"/>
                <a:satMod val="13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Apothecary</Template>
  <TotalTime>104</TotalTime>
  <Words>571</Words>
  <Application>Microsoft Office PowerPoint</Application>
  <PresentationFormat>On-screen Show (4:3)</PresentationFormat>
  <Paragraphs>97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Apothecary</vt:lpstr>
      <vt:lpstr>The zorro circle</vt:lpstr>
      <vt:lpstr>Activity</vt:lpstr>
      <vt:lpstr>The ‘Thinker’ and the ‘leaper’</vt:lpstr>
      <vt:lpstr>Zorro’s training</vt:lpstr>
      <vt:lpstr>Key learning points</vt:lpstr>
      <vt:lpstr>The psychology</vt:lpstr>
      <vt:lpstr>The psychology</vt:lpstr>
      <vt:lpstr>Feelings of control internal or external?</vt:lpstr>
      <vt:lpstr>What are the benefits to having an “internal locus of control?”</vt:lpstr>
      <vt:lpstr>Feelings of control</vt:lpstr>
      <vt:lpstr>Psychological evidence</vt:lpstr>
      <vt:lpstr>Psychological evidence</vt:lpstr>
      <vt:lpstr>Summary of research</vt:lpstr>
      <vt:lpstr>The danger of “reach for the stars”…</vt:lpstr>
    </vt:vector>
  </TitlesOfParts>
  <Company>London Borough of Richmond Upon Thames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zorro circle</dc:title>
  <dc:creator>Christopher Bagley</dc:creator>
  <cp:lastModifiedBy>Christopher Bagley</cp:lastModifiedBy>
  <cp:revision>16</cp:revision>
  <dcterms:created xsi:type="dcterms:W3CDTF">2016-05-16T08:34:47Z</dcterms:created>
  <dcterms:modified xsi:type="dcterms:W3CDTF">2017-05-22T12:51:15Z</dcterms:modified>
</cp:coreProperties>
</file>