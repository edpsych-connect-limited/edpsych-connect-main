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2"/>
  </p:sldMasterIdLst>
  <p:notesMasterIdLst>
    <p:notesMasterId r:id="rId17"/>
  </p:notesMasterIdLst>
  <p:handoutMasterIdLst>
    <p:handoutMasterId r:id="rId18"/>
  </p:handoutMasterIdLst>
  <p:sldIdLst>
    <p:sldId id="264" r:id="rId3"/>
    <p:sldId id="291" r:id="rId4"/>
    <p:sldId id="276" r:id="rId5"/>
    <p:sldId id="289" r:id="rId6"/>
    <p:sldId id="284" r:id="rId7"/>
    <p:sldId id="288" r:id="rId8"/>
    <p:sldId id="294" r:id="rId9"/>
    <p:sldId id="283" r:id="rId10"/>
    <p:sldId id="286" r:id="rId11"/>
    <p:sldId id="293" r:id="rId12"/>
    <p:sldId id="295" r:id="rId13"/>
    <p:sldId id="285" r:id="rId14"/>
    <p:sldId id="287" r:id="rId15"/>
    <p:sldId id="266" r:id="rId16"/>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9" pos="3839" userDrawn="1">
          <p15:clr>
            <a:srgbClr val="A4A3A4"/>
          </p15:clr>
        </p15:guide>
        <p15:guide id="10"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5" autoAdjust="0"/>
    <p:restoredTop sz="86176" autoAdjust="0"/>
  </p:normalViewPr>
  <p:slideViewPr>
    <p:cSldViewPr showGuides="1">
      <p:cViewPr varScale="1">
        <p:scale>
          <a:sx n="64" d="100"/>
          <a:sy n="64" d="100"/>
        </p:scale>
        <p:origin x="900" y="66"/>
      </p:cViewPr>
      <p:guideLst>
        <p:guide pos="3839"/>
        <p:guide orient="horz" pos="2160"/>
      </p:guideLst>
    </p:cSldViewPr>
  </p:slideViewPr>
  <p:notesTextViewPr>
    <p:cViewPr>
      <p:scale>
        <a:sx n="75" d="100"/>
        <a:sy n="75" d="100"/>
      </p:scale>
      <p:origin x="0" y="0"/>
    </p:cViewPr>
  </p:notesTextViewPr>
  <p:notesViewPr>
    <p:cSldViewPr>
      <p:cViewPr varScale="1">
        <p:scale>
          <a:sx n="63" d="100"/>
          <a:sy n="63" d="100"/>
        </p:scale>
        <p:origin x="1986"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solidFill>
                <a:schemeClr val="tx2"/>
              </a:solidFill>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973C59C-4E16-4A64-A766-34DB213E11B3}" type="datetimeFigureOut">
              <a:rPr lang="en-US">
                <a:solidFill>
                  <a:schemeClr val="tx2"/>
                </a:solidFill>
              </a:rPr>
              <a:t>12/17/2015</a:t>
            </a:fld>
            <a:endParaRPr>
              <a:solidFill>
                <a:schemeClr val="tx2"/>
              </a:solidFill>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solidFill>
                <a:schemeClr val="tx2"/>
              </a:solidFill>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D77566-CD65-4859-9FA1-43956DC85B8C}" type="slidenum">
              <a:rPr>
                <a:solidFill>
                  <a:schemeClr val="tx2"/>
                </a:solidFill>
              </a:rPr>
              <a:t>‹#›</a:t>
            </a:fld>
            <a:endParaRPr>
              <a:solidFill>
                <a:schemeClr val="tx2"/>
              </a:solidFill>
            </a:endParaRPr>
          </a:p>
        </p:txBody>
      </p:sp>
    </p:spTree>
    <p:extLst>
      <p:ext uri="{BB962C8B-B14F-4D97-AF65-F5344CB8AC3E}">
        <p14:creationId xmlns:p14="http://schemas.microsoft.com/office/powerpoint/2010/main" val="2708798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2"/>
                </a:solidFill>
              </a:defRPr>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2"/>
                </a:solidFill>
              </a:defRPr>
            </a:lvl1pPr>
          </a:lstStyle>
          <a:p>
            <a:fld id="{F95CF31C-F757-429C-A789-86504F04C3BE}" type="datetimeFigureOut">
              <a:rPr lang="en-US"/>
              <a:pPr/>
              <a:t>12/17/2015</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2"/>
                </a:solidFill>
              </a:defRPr>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2"/>
                </a:solidFill>
              </a:defRPr>
            </a:lvl1pPr>
          </a:lstStyle>
          <a:p>
            <a:fld id="{B8796F01-7154-41E0-B48B-A6921757531A}" type="slidenum">
              <a:rPr/>
              <a:pPr/>
              <a:t>‹#›</a:t>
            </a:fld>
            <a:endParaRPr/>
          </a:p>
        </p:txBody>
      </p:sp>
    </p:spTree>
    <p:extLst>
      <p:ext uri="{BB962C8B-B14F-4D97-AF65-F5344CB8AC3E}">
        <p14:creationId xmlns:p14="http://schemas.microsoft.com/office/powerpoint/2010/main" val="44077566"/>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2"/>
        </a:solidFill>
        <a:latin typeface="+mn-lt"/>
        <a:ea typeface="+mn-ea"/>
        <a:cs typeface="+mn-cs"/>
      </a:defRPr>
    </a:lvl1pPr>
    <a:lvl2pPr marL="609493" algn="l" defTabSz="1218987" rtl="0" eaLnBrk="1" latinLnBrk="0" hangingPunct="1">
      <a:defRPr sz="1600" kern="1200">
        <a:solidFill>
          <a:schemeClr val="tx2"/>
        </a:solidFill>
        <a:latin typeface="+mn-lt"/>
        <a:ea typeface="+mn-ea"/>
        <a:cs typeface="+mn-cs"/>
      </a:defRPr>
    </a:lvl2pPr>
    <a:lvl3pPr marL="1218987" algn="l" defTabSz="1218987" rtl="0" eaLnBrk="1" latinLnBrk="0" hangingPunct="1">
      <a:defRPr sz="1600" kern="1200">
        <a:solidFill>
          <a:schemeClr val="tx2"/>
        </a:solidFill>
        <a:latin typeface="+mn-lt"/>
        <a:ea typeface="+mn-ea"/>
        <a:cs typeface="+mn-cs"/>
      </a:defRPr>
    </a:lvl3pPr>
    <a:lvl4pPr marL="1828480" algn="l" defTabSz="1218987" rtl="0" eaLnBrk="1" latinLnBrk="0" hangingPunct="1">
      <a:defRPr sz="1600" kern="1200">
        <a:solidFill>
          <a:schemeClr val="tx2"/>
        </a:solidFill>
        <a:latin typeface="+mn-lt"/>
        <a:ea typeface="+mn-ea"/>
        <a:cs typeface="+mn-cs"/>
      </a:defRPr>
    </a:lvl4pPr>
    <a:lvl5pPr marL="2437973" algn="l" defTabSz="1218987" rtl="0" eaLnBrk="1" latinLnBrk="0" hangingPunct="1">
      <a:defRPr sz="1600" kern="1200">
        <a:solidFill>
          <a:schemeClr val="tx2"/>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Helpful</a:t>
            </a:r>
            <a:r>
              <a:rPr lang="en-GB" baseline="0" dirty="0" smtClean="0"/>
              <a:t> terms.</a:t>
            </a:r>
          </a:p>
          <a:p>
            <a:r>
              <a:rPr lang="en-GB" baseline="0" dirty="0" smtClean="0"/>
              <a:t>Different approaches have been used to teach phonics </a:t>
            </a:r>
            <a:r>
              <a:rPr lang="en-GB" baseline="0" dirty="0" smtClean="0"/>
              <a:t>systematically. </a:t>
            </a:r>
            <a:r>
              <a:rPr lang="en-GB" dirty="0" smtClean="0"/>
              <a:t>All use a planned, sequential introduction of a set of phonic elements along with teaching and practice of those elements…</a:t>
            </a:r>
          </a:p>
          <a:p>
            <a:endParaRPr lang="en-GB" baseline="0" dirty="0" smtClean="0"/>
          </a:p>
          <a:p>
            <a:r>
              <a:rPr lang="en-GB" sz="1600" kern="1200" dirty="0" smtClean="0">
                <a:solidFill>
                  <a:schemeClr val="tx2"/>
                </a:solidFill>
                <a:effectLst/>
                <a:latin typeface="+mn-lt"/>
                <a:ea typeface="+mn-ea"/>
                <a:cs typeface="+mn-cs"/>
              </a:rPr>
              <a:t>Analytic phonics</a:t>
            </a:r>
            <a:r>
              <a:rPr lang="en-GB" sz="1600" kern="1200" baseline="0" dirty="0" smtClean="0">
                <a:solidFill>
                  <a:schemeClr val="tx2"/>
                </a:solidFill>
                <a:effectLst/>
                <a:latin typeface="+mn-lt"/>
                <a:ea typeface="+mn-ea"/>
                <a:cs typeface="+mn-cs"/>
              </a:rPr>
              <a:t> – Whole-to-part </a:t>
            </a:r>
            <a:r>
              <a:rPr lang="en-GB" sz="1600" kern="1200" baseline="0" dirty="0" smtClean="0">
                <a:solidFill>
                  <a:schemeClr val="tx2"/>
                </a:solidFill>
                <a:effectLst/>
                <a:latin typeface="+mn-lt"/>
                <a:ea typeface="+mn-ea"/>
                <a:cs typeface="+mn-cs"/>
              </a:rPr>
              <a:t>approach – teaching is in the context of sight words e.g. pet, park, push</a:t>
            </a:r>
            <a:endParaRPr lang="en-GB" sz="1600" kern="1200" baseline="0" dirty="0" smtClean="0">
              <a:solidFill>
                <a:schemeClr val="tx2"/>
              </a:solidFill>
              <a:effectLst/>
              <a:latin typeface="+mn-lt"/>
              <a:ea typeface="+mn-ea"/>
              <a:cs typeface="+mn-cs"/>
            </a:endParaRPr>
          </a:p>
          <a:p>
            <a:endParaRPr lang="en-GB" sz="1600" kern="1200" baseline="0" dirty="0" smtClean="0">
              <a:solidFill>
                <a:schemeClr val="tx2"/>
              </a:solidFill>
              <a:effectLst/>
              <a:latin typeface="+mn-lt"/>
              <a:ea typeface="+mn-ea"/>
              <a:cs typeface="+mn-cs"/>
            </a:endParaRPr>
          </a:p>
          <a:p>
            <a:r>
              <a:rPr lang="en-GB" sz="1600" kern="1200" baseline="0" dirty="0" smtClean="0">
                <a:solidFill>
                  <a:schemeClr val="tx2"/>
                </a:solidFill>
                <a:effectLst/>
                <a:latin typeface="+mn-lt"/>
                <a:ea typeface="+mn-ea"/>
                <a:cs typeface="+mn-cs"/>
              </a:rPr>
              <a:t>Synthetic phonics – part-to-whole approach. Pronounce each sound and blend them together to make the word. </a:t>
            </a:r>
            <a:r>
              <a:rPr lang="en-GB" sz="1600" kern="1200" baseline="0" dirty="0" smtClean="0">
                <a:solidFill>
                  <a:schemeClr val="tx2"/>
                </a:solidFill>
                <a:effectLst/>
                <a:latin typeface="+mn-lt"/>
                <a:ea typeface="+mn-ea"/>
                <a:cs typeface="+mn-cs"/>
              </a:rPr>
              <a:t>C – A - T</a:t>
            </a:r>
          </a:p>
          <a:p>
            <a:endParaRPr lang="en-GB" sz="1600" kern="1200" baseline="0" dirty="0" smtClean="0">
              <a:solidFill>
                <a:schemeClr val="tx2"/>
              </a:solidFill>
              <a:effectLst/>
              <a:latin typeface="+mn-lt"/>
              <a:ea typeface="+mn-ea"/>
              <a:cs typeface="+mn-cs"/>
            </a:endParaRPr>
          </a:p>
          <a:p>
            <a:r>
              <a:rPr lang="en-GB" sz="1600" kern="1200" baseline="0" dirty="0" smtClean="0">
                <a:solidFill>
                  <a:schemeClr val="tx2"/>
                </a:solidFill>
                <a:effectLst/>
                <a:latin typeface="+mn-lt"/>
                <a:ea typeface="+mn-ea"/>
                <a:cs typeface="+mn-cs"/>
              </a:rPr>
              <a:t>Other approaches include embedded phonic, analogy phonics and onset-rime approaches</a:t>
            </a:r>
            <a:endParaRPr lang="en-GB" dirty="0"/>
          </a:p>
        </p:txBody>
      </p:sp>
      <p:sp>
        <p:nvSpPr>
          <p:cNvPr id="4" name="Slide Number Placeholder 3"/>
          <p:cNvSpPr>
            <a:spLocks noGrp="1"/>
          </p:cNvSpPr>
          <p:nvPr>
            <p:ph type="sldNum" sz="quarter" idx="10"/>
          </p:nvPr>
        </p:nvSpPr>
        <p:spPr/>
        <p:txBody>
          <a:bodyPr/>
          <a:lstStyle/>
          <a:p>
            <a:fld id="{B8796F01-7154-41E0-B48B-A6921757531A}" type="slidenum">
              <a:rPr lang="en-GB" smtClean="0"/>
              <a:pPr/>
              <a:t>2</a:t>
            </a:fld>
            <a:endParaRPr lang="en-GB"/>
          </a:p>
        </p:txBody>
      </p:sp>
    </p:spTree>
    <p:extLst>
      <p:ext uri="{BB962C8B-B14F-4D97-AF65-F5344CB8AC3E}">
        <p14:creationId xmlns:p14="http://schemas.microsoft.com/office/powerpoint/2010/main" val="22799287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VIDEO: http://www.ruthmiskin.com/en/resources/read-write-inc-phonics/</a:t>
            </a:r>
          </a:p>
          <a:p>
            <a:endParaRPr lang="en-GB" dirty="0" smtClean="0"/>
          </a:p>
          <a:p>
            <a:r>
              <a:rPr lang="en-GB" dirty="0" smtClean="0"/>
              <a:t>Quote from: Government</a:t>
            </a:r>
            <a:r>
              <a:rPr lang="en-GB" baseline="0" dirty="0" smtClean="0"/>
              <a:t> produced documents to help schools choose phonics teaching programme. Asked publishers to complete a ‘self-assessment’ form detailing how their product meets governments core criteria for an effective synthetic phonics programme. </a:t>
            </a:r>
            <a:r>
              <a:rPr lang="en-GB" dirty="0" smtClean="0"/>
              <a:t>https://www.gov.uk/government/publications/phonics-self-assessment-form-read-write-inc</a:t>
            </a:r>
          </a:p>
          <a:p>
            <a:r>
              <a:rPr lang="en-GB" dirty="0" smtClean="0"/>
              <a:t> </a:t>
            </a:r>
            <a:endParaRPr lang="en-GB" sz="1600" b="0" i="0" u="none" strike="noStrike" kern="1200" baseline="0" dirty="0" smtClean="0">
              <a:solidFill>
                <a:schemeClr val="tx2"/>
              </a:solidFill>
              <a:effectLst/>
              <a:latin typeface="+mn-lt"/>
              <a:ea typeface="+mn-ea"/>
              <a:cs typeface="+mn-cs"/>
            </a:endParaRPr>
          </a:p>
          <a:p>
            <a:r>
              <a:rPr lang="en-GB" sz="1600" b="0" i="0" u="none" strike="noStrike" kern="1200" baseline="0" dirty="0" smtClean="0">
                <a:solidFill>
                  <a:schemeClr val="tx2"/>
                </a:solidFill>
                <a:latin typeface="+mn-lt"/>
                <a:ea typeface="+mn-ea"/>
                <a:cs typeface="+mn-cs"/>
              </a:rPr>
              <a:t>20-25 minutes daily when learning first sounds, then 10-15 minutes daily for phonics and 30-50 minutes for storybook sessions. </a:t>
            </a:r>
          </a:p>
          <a:p>
            <a:endParaRPr lang="en-GB" sz="1600" b="0" i="0" u="none" strike="noStrike" kern="1200" baseline="0" dirty="0" smtClean="0">
              <a:solidFill>
                <a:schemeClr val="tx2"/>
              </a:solidFill>
              <a:latin typeface="+mn-lt"/>
              <a:ea typeface="+mn-ea"/>
              <a:cs typeface="+mn-cs"/>
            </a:endParaRPr>
          </a:p>
          <a:p>
            <a:pPr marL="0" marR="0" indent="0" algn="l" defTabSz="1218987" rtl="0" eaLnBrk="1" fontAlgn="auto" latinLnBrk="0" hangingPunct="1">
              <a:lnSpc>
                <a:spcPct val="100000"/>
              </a:lnSpc>
              <a:spcBef>
                <a:spcPts val="0"/>
              </a:spcBef>
              <a:spcAft>
                <a:spcPts val="0"/>
              </a:spcAft>
              <a:buClrTx/>
              <a:buSzTx/>
              <a:buFontTx/>
              <a:buNone/>
              <a:tabLst/>
              <a:defRPr/>
            </a:pPr>
            <a:r>
              <a:rPr lang="en-GB" dirty="0" smtClean="0"/>
              <a:t>Ruth </a:t>
            </a:r>
            <a:r>
              <a:rPr lang="en-GB" dirty="0" err="1" smtClean="0"/>
              <a:t>Miskin</a:t>
            </a:r>
            <a:r>
              <a:rPr lang="en-GB" dirty="0" smtClean="0"/>
              <a:t> – </a:t>
            </a:r>
            <a:r>
              <a:rPr lang="en-GB" baseline="0" dirty="0" smtClean="0"/>
              <a:t>According to the website, one of the UK’s leading authorities on teaching children to read. W</a:t>
            </a:r>
            <a:r>
              <a:rPr lang="en-GB" dirty="0" smtClean="0"/>
              <a:t>as a </a:t>
            </a:r>
            <a:r>
              <a:rPr lang="en-GB" dirty="0" err="1" smtClean="0"/>
              <a:t>headteacher</a:t>
            </a:r>
            <a:r>
              <a:rPr lang="en-GB" dirty="0" smtClean="0"/>
              <a:t> in</a:t>
            </a:r>
            <a:r>
              <a:rPr lang="en-GB" baseline="0" dirty="0" smtClean="0"/>
              <a:t> Tower Hamlets. Also been an advisor to the government on literacy teaching since 1997. Concerns have been expressed that she has played an influential role in policy and curriculum development, whilst also having a commercial interest. </a:t>
            </a:r>
            <a:endParaRPr lang="en-GB" dirty="0" smtClean="0"/>
          </a:p>
          <a:p>
            <a:endParaRPr lang="en-GB" sz="1600" b="0" i="0" u="none" strike="noStrike" kern="1200" baseline="0" dirty="0" smtClean="0">
              <a:solidFill>
                <a:schemeClr val="tx2"/>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B8796F01-7154-41E0-B48B-A6921757531A}" type="slidenum">
              <a:rPr lang="en-GB" smtClean="0"/>
              <a:pPr/>
              <a:t>3</a:t>
            </a:fld>
            <a:endParaRPr lang="en-GB"/>
          </a:p>
        </p:txBody>
      </p:sp>
    </p:spTree>
    <p:extLst>
      <p:ext uri="{BB962C8B-B14F-4D97-AF65-F5344CB8AC3E}">
        <p14:creationId xmlns:p14="http://schemas.microsoft.com/office/powerpoint/2010/main" val="24699351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600" b="1" kern="1200" dirty="0" smtClean="0">
                <a:solidFill>
                  <a:schemeClr val="tx2"/>
                </a:solidFill>
                <a:effectLst/>
                <a:latin typeface="+mn-lt"/>
                <a:ea typeface="+mn-ea"/>
                <a:cs typeface="+mn-cs"/>
              </a:rPr>
              <a:t>Speed sounds</a:t>
            </a:r>
          </a:p>
          <a:p>
            <a:pPr marL="0" marR="0" indent="0" algn="l" defTabSz="1218987" rtl="0" eaLnBrk="1" fontAlgn="auto" latinLnBrk="0" hangingPunct="1">
              <a:lnSpc>
                <a:spcPct val="100000"/>
              </a:lnSpc>
              <a:spcBef>
                <a:spcPts val="0"/>
              </a:spcBef>
              <a:spcAft>
                <a:spcPts val="0"/>
              </a:spcAft>
              <a:buClrTx/>
              <a:buSzTx/>
              <a:buFontTx/>
              <a:buNone/>
              <a:tabLst/>
              <a:defRPr/>
            </a:pPr>
            <a:r>
              <a:rPr lang="en-GB" sz="1600" b="0" i="0" u="none" strike="noStrike" kern="1200" baseline="0" dirty="0" smtClean="0">
                <a:solidFill>
                  <a:schemeClr val="tx2"/>
                </a:solidFill>
                <a:latin typeface="+mn-lt"/>
                <a:ea typeface="+mn-ea"/>
                <a:cs typeface="+mn-cs"/>
              </a:rPr>
              <a:t>The 44 sounds and corresponding letters are introduced and taught systematically. </a:t>
            </a:r>
            <a:r>
              <a:rPr lang="en-GB" sz="1600" b="0" kern="1200" dirty="0" smtClean="0">
                <a:solidFill>
                  <a:schemeClr val="tx2"/>
                </a:solidFill>
                <a:effectLst/>
                <a:latin typeface="+mn-lt"/>
                <a:ea typeface="+mn-ea"/>
                <a:cs typeface="+mn-cs"/>
              </a:rPr>
              <a:t>One</a:t>
            </a:r>
            <a:r>
              <a:rPr lang="en-GB" sz="1600" b="0" kern="1200" baseline="0" dirty="0" smtClean="0">
                <a:solidFill>
                  <a:schemeClr val="tx2"/>
                </a:solidFill>
                <a:effectLst/>
                <a:latin typeface="+mn-lt"/>
                <a:ea typeface="+mn-ea"/>
                <a:cs typeface="+mn-cs"/>
              </a:rPr>
              <a:t> sound is the focus of each speed sounds lesson, during which children:</a:t>
            </a:r>
            <a:endParaRPr lang="en-GB" sz="1600" b="0" kern="1200" dirty="0" smtClean="0">
              <a:solidFill>
                <a:schemeClr val="tx2"/>
              </a:solidFill>
              <a:effectLst/>
              <a:latin typeface="+mn-lt"/>
              <a:ea typeface="+mn-ea"/>
              <a:cs typeface="+mn-cs"/>
            </a:endParaRPr>
          </a:p>
          <a:p>
            <a:pPr lvl="1">
              <a:lnSpc>
                <a:spcPct val="120000"/>
              </a:lnSpc>
              <a:buFontTx/>
              <a:buChar char="-"/>
            </a:pPr>
            <a:r>
              <a:rPr lang="en-GB" dirty="0" smtClean="0"/>
              <a:t>Listen to and say sound</a:t>
            </a:r>
          </a:p>
          <a:p>
            <a:pPr lvl="1">
              <a:lnSpc>
                <a:spcPct val="120000"/>
              </a:lnSpc>
              <a:buFontTx/>
              <a:buChar char="-"/>
            </a:pPr>
            <a:r>
              <a:rPr lang="en-GB" dirty="0" smtClean="0"/>
              <a:t>Read sound using the picture</a:t>
            </a:r>
          </a:p>
          <a:p>
            <a:pPr lvl="1">
              <a:lnSpc>
                <a:spcPct val="120000"/>
              </a:lnSpc>
              <a:buFontTx/>
              <a:buChar char="-"/>
            </a:pPr>
            <a:r>
              <a:rPr lang="en-GB" dirty="0" smtClean="0"/>
              <a:t>Write sound using picture-phrase </a:t>
            </a:r>
            <a:endParaRPr lang="en-GB" sz="1600" kern="1200" dirty="0" smtClean="0">
              <a:solidFill>
                <a:schemeClr val="tx2"/>
              </a:solidFill>
              <a:effectLst/>
              <a:latin typeface="+mn-lt"/>
              <a:ea typeface="+mn-ea"/>
              <a:cs typeface="+mn-cs"/>
            </a:endParaRPr>
          </a:p>
          <a:p>
            <a:r>
              <a:rPr lang="en-GB" sz="1600" kern="1200" dirty="0" smtClean="0">
                <a:solidFill>
                  <a:schemeClr val="tx2"/>
                </a:solidFill>
                <a:effectLst/>
                <a:latin typeface="+mn-lt"/>
                <a:ea typeface="+mn-ea"/>
                <a:cs typeface="+mn-cs"/>
              </a:rPr>
              <a:t>Can</a:t>
            </a:r>
            <a:r>
              <a:rPr lang="en-GB" sz="1600" kern="1200" baseline="0" dirty="0" smtClean="0">
                <a:solidFill>
                  <a:schemeClr val="tx2"/>
                </a:solidFill>
                <a:effectLst/>
                <a:latin typeface="+mn-lt"/>
                <a:ea typeface="+mn-ea"/>
                <a:cs typeface="+mn-cs"/>
              </a:rPr>
              <a:t> buy lesson plans for all the speed sound lessons</a:t>
            </a:r>
            <a:endParaRPr lang="en-GB" sz="1600" kern="1200" dirty="0" smtClean="0">
              <a:solidFill>
                <a:schemeClr val="tx2"/>
              </a:solidFill>
              <a:effectLst/>
              <a:latin typeface="+mn-lt"/>
              <a:ea typeface="+mn-ea"/>
              <a:cs typeface="+mn-cs"/>
            </a:endParaRPr>
          </a:p>
          <a:p>
            <a:r>
              <a:rPr lang="en-GB" sz="1600" kern="1200" dirty="0" smtClean="0">
                <a:solidFill>
                  <a:schemeClr val="tx2"/>
                </a:solidFill>
                <a:effectLst/>
                <a:latin typeface="+mn-lt"/>
                <a:ea typeface="+mn-ea"/>
                <a:cs typeface="+mn-cs"/>
              </a:rPr>
              <a:t>Choral work.			</a:t>
            </a:r>
            <a:endParaRPr lang="en-GB" sz="1600" b="0" i="0" kern="1200" dirty="0" smtClean="0">
              <a:solidFill>
                <a:schemeClr val="tx2"/>
              </a:solidFill>
              <a:effectLst/>
              <a:latin typeface="+mn-lt"/>
              <a:ea typeface="+mn-ea"/>
              <a:cs typeface="+mn-cs"/>
            </a:endParaRPr>
          </a:p>
          <a:p>
            <a:pPr marL="0" marR="0" indent="0" algn="l" defTabSz="1218987" rtl="0" eaLnBrk="1" fontAlgn="auto" latinLnBrk="0" hangingPunct="1">
              <a:lnSpc>
                <a:spcPct val="100000"/>
              </a:lnSpc>
              <a:spcBef>
                <a:spcPts val="0"/>
              </a:spcBef>
              <a:spcAft>
                <a:spcPts val="0"/>
              </a:spcAft>
              <a:buClrTx/>
              <a:buSzTx/>
              <a:buFontTx/>
              <a:buNone/>
              <a:tabLst/>
              <a:defRPr/>
            </a:pPr>
            <a:r>
              <a:rPr lang="en-GB" sz="1600" kern="1200" dirty="0" smtClean="0">
                <a:solidFill>
                  <a:schemeClr val="tx2"/>
                </a:solidFill>
                <a:effectLst/>
                <a:latin typeface="+mn-lt"/>
                <a:ea typeface="+mn-ea"/>
                <a:cs typeface="+mn-cs"/>
              </a:rPr>
              <a:t>Fred Talk – children introduced to this character once they know group of sounds. Use a toy/puppet. Says, reads and spells word in pure sounds, never says whole word so children do this for him. “Best way for teachers to become fluent in Fred Talk is to do training.”</a:t>
            </a:r>
          </a:p>
          <a:p>
            <a:pPr marL="0" marR="0" indent="0" algn="l" defTabSz="1218987" rtl="0" eaLnBrk="1" fontAlgn="auto" latinLnBrk="0" hangingPunct="1">
              <a:lnSpc>
                <a:spcPct val="100000"/>
              </a:lnSpc>
              <a:spcBef>
                <a:spcPts val="0"/>
              </a:spcBef>
              <a:spcAft>
                <a:spcPts val="0"/>
              </a:spcAft>
              <a:buClrTx/>
              <a:buSzTx/>
              <a:buFontTx/>
              <a:buNone/>
              <a:tabLst/>
              <a:defRPr/>
            </a:pPr>
            <a:endParaRPr lang="en-GB" sz="1600" b="1" i="0" kern="1200" dirty="0" smtClean="0">
              <a:solidFill>
                <a:schemeClr val="tx2"/>
              </a:solidFill>
              <a:effectLst/>
              <a:latin typeface="+mn-lt"/>
              <a:ea typeface="+mn-ea"/>
              <a:cs typeface="+mn-cs"/>
            </a:endParaRPr>
          </a:p>
          <a:p>
            <a:pPr marL="0" marR="0" indent="0" algn="l" defTabSz="1218987" rtl="0" eaLnBrk="1" fontAlgn="auto" latinLnBrk="0" hangingPunct="1">
              <a:lnSpc>
                <a:spcPct val="100000"/>
              </a:lnSpc>
              <a:spcBef>
                <a:spcPts val="0"/>
              </a:spcBef>
              <a:spcAft>
                <a:spcPts val="0"/>
              </a:spcAft>
              <a:buClrTx/>
              <a:buSzTx/>
              <a:buFontTx/>
              <a:buNone/>
              <a:tabLst/>
              <a:defRPr/>
            </a:pPr>
            <a:r>
              <a:rPr lang="en-GB" sz="1600" b="1" i="0" kern="1200" dirty="0" smtClean="0">
                <a:solidFill>
                  <a:schemeClr val="tx2"/>
                </a:solidFill>
                <a:effectLst/>
                <a:latin typeface="+mn-lt"/>
                <a:ea typeface="+mn-ea"/>
                <a:cs typeface="+mn-cs"/>
              </a:rPr>
              <a:t>Storybooks:</a:t>
            </a:r>
          </a:p>
          <a:p>
            <a:pPr marL="0" marR="0" indent="0" algn="l" defTabSz="1218987" rtl="0" eaLnBrk="1" fontAlgn="auto" latinLnBrk="0" hangingPunct="1">
              <a:lnSpc>
                <a:spcPct val="100000"/>
              </a:lnSpc>
              <a:spcBef>
                <a:spcPts val="0"/>
              </a:spcBef>
              <a:spcAft>
                <a:spcPts val="0"/>
              </a:spcAft>
              <a:buClrTx/>
              <a:buSzTx/>
              <a:buFontTx/>
              <a:buNone/>
              <a:tabLst/>
              <a:defRPr/>
            </a:pPr>
            <a:r>
              <a:rPr lang="en-GB" sz="1600" b="0" i="0" kern="1200" dirty="0" smtClean="0">
                <a:solidFill>
                  <a:schemeClr val="tx2"/>
                </a:solidFill>
                <a:effectLst/>
                <a:latin typeface="+mn-lt"/>
                <a:ea typeface="+mn-ea"/>
                <a:cs typeface="+mn-cs"/>
              </a:rPr>
              <a:t>100 storybooks and 35 non-fiction titles for further phonics practice. These are described as ‘lively and decodable’, could be argued as to how interesting and motivating they are. </a:t>
            </a:r>
            <a:endParaRPr lang="en-GB" sz="1600" b="1" i="0" kern="1200" dirty="0" smtClean="0">
              <a:solidFill>
                <a:schemeClr val="tx2"/>
              </a:solidFill>
              <a:effectLst/>
              <a:latin typeface="+mn-lt"/>
              <a:ea typeface="+mn-ea"/>
              <a:cs typeface="+mn-cs"/>
            </a:endParaRPr>
          </a:p>
          <a:p>
            <a:pPr marL="0" marR="0" indent="0" algn="l" defTabSz="1218987" rtl="0" eaLnBrk="1" fontAlgn="auto" latinLnBrk="0" hangingPunct="1">
              <a:lnSpc>
                <a:spcPct val="100000"/>
              </a:lnSpc>
              <a:spcBef>
                <a:spcPts val="0"/>
              </a:spcBef>
              <a:spcAft>
                <a:spcPts val="0"/>
              </a:spcAft>
              <a:buClrTx/>
              <a:buSzTx/>
              <a:buFontTx/>
              <a:buNone/>
              <a:tabLst/>
              <a:defRPr/>
            </a:pPr>
            <a:r>
              <a:rPr lang="en-GB" sz="1600" b="0" i="0" kern="1200" dirty="0" smtClean="0">
                <a:solidFill>
                  <a:schemeClr val="tx2"/>
                </a:solidFill>
                <a:effectLst/>
                <a:latin typeface="+mn-lt"/>
                <a:ea typeface="+mn-ea"/>
                <a:cs typeface="+mn-cs"/>
              </a:rPr>
              <a:t>Once children</a:t>
            </a:r>
            <a:r>
              <a:rPr lang="en-GB" sz="1600" b="0" i="0" kern="1200" baseline="0" dirty="0" smtClean="0">
                <a:solidFill>
                  <a:schemeClr val="tx2"/>
                </a:solidFill>
                <a:effectLst/>
                <a:latin typeface="+mn-lt"/>
                <a:ea typeface="+mn-ea"/>
                <a:cs typeface="+mn-cs"/>
              </a:rPr>
              <a:t> know set 1 sounds at speed and can blend, move on to ‘ditty’ books. These are meant to be a bridge between reading single words and stories.</a:t>
            </a:r>
            <a:endParaRPr lang="en-GB" sz="1600" b="0" i="0" kern="1200" dirty="0" smtClean="0">
              <a:solidFill>
                <a:schemeClr val="tx2"/>
              </a:solidFill>
              <a:effectLst/>
              <a:latin typeface="+mn-lt"/>
              <a:ea typeface="+mn-ea"/>
              <a:cs typeface="+mn-cs"/>
            </a:endParaRPr>
          </a:p>
          <a:p>
            <a:r>
              <a:rPr lang="en-GB" sz="1600" kern="1200" dirty="0" smtClean="0">
                <a:solidFill>
                  <a:schemeClr val="tx2"/>
                </a:solidFill>
                <a:effectLst/>
                <a:latin typeface="+mn-lt"/>
                <a:ea typeface="+mn-ea"/>
                <a:cs typeface="+mn-cs"/>
              </a:rPr>
              <a:t>Before reading story</a:t>
            </a:r>
            <a:r>
              <a:rPr lang="en-GB" sz="1600" kern="1200" baseline="0" dirty="0" smtClean="0">
                <a:solidFill>
                  <a:schemeClr val="tx2"/>
                </a:solidFill>
                <a:effectLst/>
                <a:latin typeface="+mn-lt"/>
                <a:ea typeface="+mn-ea"/>
                <a:cs typeface="+mn-cs"/>
              </a:rPr>
              <a:t>book</a:t>
            </a:r>
            <a:r>
              <a:rPr lang="en-GB" sz="1600" kern="1200" dirty="0" smtClean="0">
                <a:solidFill>
                  <a:schemeClr val="tx2"/>
                </a:solidFill>
                <a:effectLst/>
                <a:latin typeface="+mn-lt"/>
                <a:ea typeface="+mn-ea"/>
                <a:cs typeface="+mn-cs"/>
              </a:rPr>
              <a:t>,  teacher</a:t>
            </a:r>
            <a:r>
              <a:rPr lang="en-GB" sz="1600" kern="1200" baseline="0" dirty="0" smtClean="0">
                <a:solidFill>
                  <a:schemeClr val="tx2"/>
                </a:solidFill>
                <a:effectLst/>
                <a:latin typeface="+mn-lt"/>
                <a:ea typeface="+mn-ea"/>
                <a:cs typeface="+mn-cs"/>
              </a:rPr>
              <a:t> </a:t>
            </a:r>
            <a:r>
              <a:rPr lang="en-GB" sz="1600" kern="1200" dirty="0" smtClean="0">
                <a:solidFill>
                  <a:schemeClr val="tx2"/>
                </a:solidFill>
                <a:effectLst/>
                <a:latin typeface="+mn-lt"/>
                <a:ea typeface="+mn-ea"/>
                <a:cs typeface="+mn-cs"/>
              </a:rPr>
              <a:t>reviews sounds they know and gets children to practice reading words. Teacher introduces story and emphasises vocabulary </a:t>
            </a:r>
          </a:p>
          <a:p>
            <a:r>
              <a:rPr lang="en-GB" sz="1600" kern="1200" dirty="0" smtClean="0">
                <a:solidFill>
                  <a:schemeClr val="tx2"/>
                </a:solidFill>
                <a:effectLst/>
                <a:latin typeface="+mn-lt"/>
                <a:ea typeface="+mn-ea"/>
                <a:cs typeface="+mn-cs"/>
              </a:rPr>
              <a:t>Children read story 3 times. Once to decode, second to check comprehension, third to discuss in depth. They do</a:t>
            </a:r>
            <a:r>
              <a:rPr lang="en-GB" sz="1600" kern="1200" baseline="0" dirty="0" smtClean="0">
                <a:solidFill>
                  <a:schemeClr val="tx2"/>
                </a:solidFill>
                <a:effectLst/>
                <a:latin typeface="+mn-lt"/>
                <a:ea typeface="+mn-ea"/>
                <a:cs typeface="+mn-cs"/>
              </a:rPr>
              <a:t> this in reading pairs, </a:t>
            </a:r>
            <a:endParaRPr lang="en-GB" sz="1600" b="0" i="0" kern="1200" dirty="0" smtClean="0">
              <a:solidFill>
                <a:schemeClr val="tx2"/>
              </a:solidFill>
              <a:effectLst/>
              <a:latin typeface="+mn-lt"/>
              <a:ea typeface="+mn-ea"/>
              <a:cs typeface="+mn-cs"/>
            </a:endParaRPr>
          </a:p>
          <a:p>
            <a:pPr marL="0" marR="0" indent="0" algn="l" defTabSz="1218987" rtl="0" eaLnBrk="1" fontAlgn="auto" latinLnBrk="0" hangingPunct="1">
              <a:lnSpc>
                <a:spcPct val="100000"/>
              </a:lnSpc>
              <a:spcBef>
                <a:spcPts val="0"/>
              </a:spcBef>
              <a:spcAft>
                <a:spcPts val="0"/>
              </a:spcAft>
              <a:buClrTx/>
              <a:buSzTx/>
              <a:buFontTx/>
              <a:buNone/>
              <a:tabLst/>
              <a:defRPr/>
            </a:pPr>
            <a:r>
              <a:rPr lang="en-GB" sz="1600" b="0" i="0" kern="1200" dirty="0" smtClean="0">
                <a:solidFill>
                  <a:schemeClr val="tx2"/>
                </a:solidFill>
                <a:effectLst/>
                <a:latin typeface="+mn-lt"/>
                <a:ea typeface="+mn-ea"/>
                <a:cs typeface="+mn-cs"/>
              </a:rPr>
              <a:t>“Our special ‘three reads’ approach ensures every child gains accuracy, fluency and a good understanding of the text”</a:t>
            </a:r>
          </a:p>
          <a:p>
            <a:endParaRPr lang="en-GB" dirty="0" smtClean="0"/>
          </a:p>
          <a:p>
            <a:r>
              <a:rPr lang="en-GB" b="1" dirty="0" smtClean="0"/>
              <a:t>Get writing!</a:t>
            </a:r>
            <a:r>
              <a:rPr lang="en-GB" b="1" baseline="0" dirty="0" smtClean="0"/>
              <a:t> Books</a:t>
            </a:r>
            <a:r>
              <a:rPr lang="en-GB" baseline="0" dirty="0" smtClean="0"/>
              <a:t>, one for each child. Practice spellings, holding and building a sentence and write based on picture prompts. </a:t>
            </a:r>
            <a:endParaRPr lang="en-GB" dirty="0"/>
          </a:p>
        </p:txBody>
      </p:sp>
      <p:sp>
        <p:nvSpPr>
          <p:cNvPr id="4" name="Slide Number Placeholder 3"/>
          <p:cNvSpPr>
            <a:spLocks noGrp="1"/>
          </p:cNvSpPr>
          <p:nvPr>
            <p:ph type="sldNum" sz="quarter" idx="10"/>
          </p:nvPr>
        </p:nvSpPr>
        <p:spPr/>
        <p:txBody>
          <a:bodyPr/>
          <a:lstStyle/>
          <a:p>
            <a:fld id="{B8796F01-7154-41E0-B48B-A6921757531A}" type="slidenum">
              <a:rPr lang="en-GB" smtClean="0"/>
              <a:pPr/>
              <a:t>4</a:t>
            </a:fld>
            <a:endParaRPr lang="en-GB"/>
          </a:p>
        </p:txBody>
      </p:sp>
    </p:spTree>
    <p:extLst>
      <p:ext uri="{BB962C8B-B14F-4D97-AF65-F5344CB8AC3E}">
        <p14:creationId xmlns:p14="http://schemas.microsoft.com/office/powerpoint/2010/main" val="827858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smtClean="0"/>
              <a:t>Pace</a:t>
            </a:r>
            <a:r>
              <a:rPr lang="en-GB" dirty="0" smtClean="0"/>
              <a:t> – aim to complete programme as quickly as possible. Based on view that “the more quickly children</a:t>
            </a:r>
            <a:r>
              <a:rPr lang="en-GB" baseline="0" dirty="0" smtClean="0"/>
              <a:t> learn to read, the more they want to and the more they understand.” </a:t>
            </a:r>
            <a:r>
              <a:rPr lang="en-GB" dirty="0" smtClean="0"/>
              <a:t>No</a:t>
            </a:r>
            <a:r>
              <a:rPr lang="en-GB" baseline="0" dirty="0" smtClean="0"/>
              <a:t> downtime, ‘silent signals’ used for class management e.g. silent stop signal (hand in air) &amp; my turn, your turn for choral work</a:t>
            </a:r>
          </a:p>
          <a:p>
            <a:endParaRPr lang="en-GB" baseline="0" dirty="0" smtClean="0"/>
          </a:p>
          <a:p>
            <a:r>
              <a:rPr lang="en-GB" b="1" baseline="0" dirty="0" smtClean="0"/>
              <a:t>Praise</a:t>
            </a:r>
            <a:r>
              <a:rPr lang="en-GB" baseline="0" dirty="0" smtClean="0"/>
              <a:t> – teacher praises teaching partners. ‘Praise phrases’ for teaching partner to use (super sounds/wondrous words/remarkable reading) &amp; praise actions to keep children energetic (fireworks and </a:t>
            </a:r>
            <a:r>
              <a:rPr lang="en-GB" baseline="0" dirty="0" err="1" smtClean="0"/>
              <a:t>wooshes</a:t>
            </a:r>
            <a:r>
              <a:rPr lang="en-GB" baseline="0" dirty="0" smtClean="0"/>
              <a:t>, microwaves)</a:t>
            </a:r>
          </a:p>
          <a:p>
            <a:endParaRPr lang="en-GB" baseline="0" dirty="0" smtClean="0"/>
          </a:p>
          <a:p>
            <a:r>
              <a:rPr lang="en-GB" b="1" baseline="0" dirty="0" smtClean="0"/>
              <a:t>Purpose</a:t>
            </a:r>
            <a:r>
              <a:rPr lang="en-GB" baseline="0" dirty="0" smtClean="0"/>
              <a:t> – Made explicit at beginning of each activity. Teacher uses modelling and thinking out loud to make this clear</a:t>
            </a:r>
          </a:p>
          <a:p>
            <a:endParaRPr lang="en-GB" baseline="0" dirty="0" smtClean="0"/>
          </a:p>
          <a:p>
            <a:r>
              <a:rPr lang="en-GB" b="1" baseline="0" dirty="0" smtClean="0"/>
              <a:t>Participation</a:t>
            </a:r>
            <a:r>
              <a:rPr lang="en-GB" baseline="0" dirty="0" smtClean="0"/>
              <a:t> – choral work and partner work</a:t>
            </a:r>
          </a:p>
          <a:p>
            <a:endParaRPr lang="en-GB" baseline="0" dirty="0" smtClean="0"/>
          </a:p>
          <a:p>
            <a:r>
              <a:rPr lang="en-GB" b="1" baseline="0" dirty="0" smtClean="0"/>
              <a:t>Passion</a:t>
            </a:r>
            <a:r>
              <a:rPr lang="en-GB" baseline="0" dirty="0" smtClean="0"/>
              <a:t> – make teaching larger than life. Exaggerate modelling of thinking and behaviour. </a:t>
            </a:r>
          </a:p>
          <a:p>
            <a:endParaRPr lang="en-GB" baseline="0" dirty="0" smtClean="0"/>
          </a:p>
          <a:p>
            <a:pPr marL="0" marR="0" indent="0" algn="l" defTabSz="1218987" rtl="0" eaLnBrk="1" fontAlgn="auto" latinLnBrk="0" hangingPunct="1">
              <a:lnSpc>
                <a:spcPct val="100000"/>
              </a:lnSpc>
              <a:spcBef>
                <a:spcPts val="0"/>
              </a:spcBef>
              <a:spcAft>
                <a:spcPts val="0"/>
              </a:spcAft>
              <a:buClrTx/>
              <a:buSzTx/>
              <a:buFontTx/>
              <a:buNone/>
              <a:tabLst/>
              <a:defRPr/>
            </a:pPr>
            <a:r>
              <a:rPr lang="en-GB" sz="1600" b="1" i="0" u="none" strike="noStrike" kern="1200" baseline="0" dirty="0" smtClean="0">
                <a:solidFill>
                  <a:schemeClr val="tx2"/>
                </a:solidFill>
                <a:latin typeface="+mn-lt"/>
                <a:ea typeface="+mn-ea"/>
                <a:cs typeface="+mn-cs"/>
              </a:rPr>
              <a:t>Assessment  </a:t>
            </a:r>
            <a:r>
              <a:rPr lang="en-GB" sz="1600" b="0" i="0" u="none" strike="noStrike" kern="1200" baseline="0" dirty="0" smtClean="0">
                <a:solidFill>
                  <a:schemeClr val="tx2"/>
                </a:solidFill>
                <a:latin typeface="+mn-lt"/>
                <a:ea typeface="+mn-ea"/>
                <a:cs typeface="+mn-cs"/>
              </a:rPr>
              <a:t>Children are assessed and grouped according to ability and these are adjusted regularly, as appropriate.</a:t>
            </a:r>
          </a:p>
          <a:p>
            <a:endParaRPr lang="en-GB" baseline="0" dirty="0" smtClean="0"/>
          </a:p>
          <a:p>
            <a:r>
              <a:rPr lang="en-GB" b="1" baseline="0" dirty="0" smtClean="0"/>
              <a:t>Fidelity to the teaching programme…</a:t>
            </a:r>
          </a:p>
          <a:p>
            <a:r>
              <a:rPr lang="en-GB" baseline="0" dirty="0" smtClean="0"/>
              <a:t>Training – initial 2 day training for whole school. No cascade training. Encouraged to continue to have development days and follow up trainings. </a:t>
            </a:r>
          </a:p>
          <a:p>
            <a:r>
              <a:rPr lang="en-GB" baseline="0" dirty="0" smtClean="0"/>
              <a:t>Resources – lots of these! As well as storybooks and get writing books, visuals and lesson plans. </a:t>
            </a:r>
          </a:p>
          <a:p>
            <a:r>
              <a:rPr lang="en-GB" baseline="0" dirty="0" smtClean="0"/>
              <a:t>Delivery – school should identify a RWI manager. They are responsible for overseeing the programme and ensuring fidelity. Should be released for the RWI teaching sessions, so they are able to work with those delivering the sessions,. </a:t>
            </a:r>
          </a:p>
          <a:p>
            <a:endParaRPr lang="en-GB" dirty="0"/>
          </a:p>
        </p:txBody>
      </p:sp>
      <p:sp>
        <p:nvSpPr>
          <p:cNvPr id="4" name="Slide Number Placeholder 3"/>
          <p:cNvSpPr>
            <a:spLocks noGrp="1"/>
          </p:cNvSpPr>
          <p:nvPr>
            <p:ph type="sldNum" sz="quarter" idx="10"/>
          </p:nvPr>
        </p:nvSpPr>
        <p:spPr/>
        <p:txBody>
          <a:bodyPr/>
          <a:lstStyle/>
          <a:p>
            <a:fld id="{B8796F01-7154-41E0-B48B-A6921757531A}" type="slidenum">
              <a:rPr lang="en-GB" smtClean="0"/>
              <a:pPr/>
              <a:t>5</a:t>
            </a:fld>
            <a:endParaRPr lang="en-GB"/>
          </a:p>
        </p:txBody>
      </p:sp>
    </p:spTree>
    <p:extLst>
      <p:ext uri="{BB962C8B-B14F-4D97-AF65-F5344CB8AC3E}">
        <p14:creationId xmlns:p14="http://schemas.microsoft.com/office/powerpoint/2010/main" val="8033235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GB" sz="1600" kern="1200" dirty="0" smtClean="0">
                <a:solidFill>
                  <a:schemeClr val="tx2"/>
                </a:solidFill>
                <a:effectLst/>
                <a:latin typeface="+mn-lt"/>
                <a:ea typeface="+mn-ea"/>
                <a:cs typeface="+mn-cs"/>
              </a:rPr>
              <a:t>Reading wars – Educationalists, government, psychologists have been engaged in heated discussions around the most effective way of teaching children to read for many years now. Read</a:t>
            </a:r>
            <a:r>
              <a:rPr lang="en-GB" sz="1600" kern="1200" baseline="0" dirty="0" smtClean="0">
                <a:solidFill>
                  <a:schemeClr val="tx2"/>
                </a:solidFill>
                <a:effectLst/>
                <a:latin typeface="+mn-lt"/>
                <a:ea typeface="+mn-ea"/>
                <a:cs typeface="+mn-cs"/>
              </a:rPr>
              <a:t> Write </a:t>
            </a:r>
            <a:r>
              <a:rPr lang="en-GB" sz="1600" kern="1200" baseline="0" dirty="0" err="1" smtClean="0">
                <a:solidFill>
                  <a:schemeClr val="tx2"/>
                </a:solidFill>
                <a:effectLst/>
                <a:latin typeface="+mn-lt"/>
                <a:ea typeface="+mn-ea"/>
                <a:cs typeface="+mn-cs"/>
              </a:rPr>
              <a:t>Inc</a:t>
            </a:r>
            <a:r>
              <a:rPr lang="en-GB" sz="1600" kern="1200" baseline="0" dirty="0" smtClean="0">
                <a:solidFill>
                  <a:schemeClr val="tx2"/>
                </a:solidFill>
                <a:effectLst/>
                <a:latin typeface="+mn-lt"/>
                <a:ea typeface="+mn-ea"/>
                <a:cs typeface="+mn-cs"/>
              </a:rPr>
              <a:t> sits within the wider, political context of the National Curriculum and literacy practice in schools. Not </a:t>
            </a:r>
            <a:r>
              <a:rPr lang="en-GB" sz="1600" kern="1200" dirty="0" smtClean="0">
                <a:solidFill>
                  <a:schemeClr val="tx2"/>
                </a:solidFill>
                <a:effectLst/>
                <a:latin typeface="+mn-lt"/>
                <a:ea typeface="+mn-ea"/>
                <a:cs typeface="+mn-cs"/>
              </a:rPr>
              <a:t>enough time to go into details, but in summary…</a:t>
            </a:r>
          </a:p>
          <a:p>
            <a:pPr marL="0" marR="0" indent="0" algn="l" defTabSz="1218987" rtl="0" eaLnBrk="1" fontAlgn="auto" latinLnBrk="0" hangingPunct="1">
              <a:lnSpc>
                <a:spcPct val="100000"/>
              </a:lnSpc>
              <a:spcBef>
                <a:spcPts val="0"/>
              </a:spcBef>
              <a:spcAft>
                <a:spcPts val="0"/>
              </a:spcAft>
              <a:buClrTx/>
              <a:buSzTx/>
              <a:buFontTx/>
              <a:buNone/>
              <a:tabLst/>
              <a:defRPr/>
            </a:pPr>
            <a:endParaRPr lang="en-GB" sz="1600" kern="1200" dirty="0" smtClean="0">
              <a:solidFill>
                <a:schemeClr val="tx2"/>
              </a:solidFill>
              <a:effectLst/>
              <a:latin typeface="+mn-lt"/>
              <a:ea typeface="+mn-ea"/>
              <a:cs typeface="+mn-cs"/>
            </a:endParaRPr>
          </a:p>
          <a:p>
            <a:r>
              <a:rPr lang="en-GB" sz="1600" kern="1200" dirty="0" smtClean="0">
                <a:solidFill>
                  <a:schemeClr val="tx2"/>
                </a:solidFill>
                <a:effectLst/>
                <a:latin typeface="+mn-lt"/>
                <a:ea typeface="+mn-ea"/>
                <a:cs typeface="+mn-cs"/>
              </a:rPr>
              <a:t>1988, The National Curriculum was introduced by the conservative government. Mixed approach to reading continued to be practiced in schools.  Literacy standards did not significantly rise. </a:t>
            </a:r>
          </a:p>
          <a:p>
            <a:r>
              <a:rPr lang="en-GB" sz="1600" kern="1200" dirty="0" smtClean="0">
                <a:solidFill>
                  <a:schemeClr val="tx2"/>
                </a:solidFill>
                <a:effectLst/>
                <a:latin typeface="+mn-lt"/>
                <a:ea typeface="+mn-ea"/>
                <a:cs typeface="+mn-cs"/>
              </a:rPr>
              <a:t> </a:t>
            </a:r>
          </a:p>
          <a:p>
            <a:r>
              <a:rPr lang="en-GB" sz="1600" kern="1200" dirty="0" smtClean="0">
                <a:solidFill>
                  <a:schemeClr val="tx2"/>
                </a:solidFill>
                <a:effectLst/>
                <a:latin typeface="+mn-lt"/>
                <a:ea typeface="+mn-ea"/>
                <a:cs typeface="+mn-cs"/>
              </a:rPr>
              <a:t>In 1998 the new Labour Government launched its National Literacy Strategy. This was designed in consultation with all the competing factions in the reading wars. As a result compromises were made: several ways of learning to read were, once again, recommended. “literacy hour”, which formed part of this Strategy, was split into four reading-related activities, with only 15 minutes allotted to phonics. Felt this caused confusion and NLS did not live up to expectations.</a:t>
            </a:r>
          </a:p>
          <a:p>
            <a:r>
              <a:rPr lang="en-GB" sz="1600" kern="1200" dirty="0" smtClean="0">
                <a:solidFill>
                  <a:schemeClr val="tx2"/>
                </a:solidFill>
                <a:effectLst/>
                <a:latin typeface="+mn-lt"/>
                <a:ea typeface="+mn-ea"/>
                <a:cs typeface="+mn-cs"/>
              </a:rPr>
              <a:t> </a:t>
            </a:r>
          </a:p>
          <a:p>
            <a:r>
              <a:rPr lang="en-GB" sz="1600" kern="1200" dirty="0" smtClean="0">
                <a:solidFill>
                  <a:schemeClr val="tx2"/>
                </a:solidFill>
                <a:effectLst/>
                <a:latin typeface="+mn-lt"/>
                <a:ea typeface="+mn-ea"/>
                <a:cs typeface="+mn-cs"/>
              </a:rPr>
              <a:t>2005, the Government commissioned Jim Rose, formerly Director of Inspections at OFSTED, to conduct an independent review into the teaching of early reading in England. His report, published in 2006, came down firmly on the side of synthetic phonics. Proposed</a:t>
            </a:r>
            <a:r>
              <a:rPr lang="en-GB" dirty="0" smtClean="0"/>
              <a:t> model</a:t>
            </a:r>
            <a:r>
              <a:rPr lang="en-GB" baseline="0" dirty="0" smtClean="0"/>
              <a:t> known as ‘Simple view of reading’ . This suggests reading has two essential components, word recognition and language comprehension.  Both are necessary for reading, but model recommends that teachers keep the two elements separate in minds when planning teaching. </a:t>
            </a:r>
          </a:p>
          <a:p>
            <a:endParaRPr lang="en-GB" baseline="0" dirty="0" smtClean="0"/>
          </a:p>
          <a:p>
            <a:r>
              <a:rPr lang="en-GB" baseline="0" dirty="0" smtClean="0"/>
              <a:t>Clear focus on word recognition skills, through phoneme awareness and phonics teaching. Also, repetition and teaching of tricky words. This model suggests that b</a:t>
            </a:r>
            <a:r>
              <a:rPr lang="en-GB" dirty="0" smtClean="0"/>
              <a:t>oosting decoding or word reading skills may by itself lead to an increase in reading comprehension</a:t>
            </a:r>
          </a:p>
          <a:p>
            <a:endParaRPr lang="en-GB" sz="1600" kern="1200" dirty="0" smtClean="0">
              <a:solidFill>
                <a:schemeClr val="tx2"/>
              </a:solidFill>
              <a:effectLst/>
              <a:latin typeface="+mn-lt"/>
              <a:ea typeface="+mn-ea"/>
              <a:cs typeface="+mn-cs"/>
            </a:endParaRPr>
          </a:p>
          <a:p>
            <a:r>
              <a:rPr lang="en-GB" sz="1600" kern="1200" dirty="0" smtClean="0">
                <a:solidFill>
                  <a:schemeClr val="tx2"/>
                </a:solidFill>
                <a:effectLst/>
                <a:latin typeface="+mn-lt"/>
                <a:ea typeface="+mn-ea"/>
                <a:cs typeface="+mn-cs"/>
              </a:rPr>
              <a:t>In 2007, the Government issued new guidance, recommending synthetic phonics to all primary schools. Many teachers objected &amp; felt phonics was prescriptive. Many primary schools complied with requirements by increasing time spent on phonics, but still using mixed methods.  </a:t>
            </a:r>
          </a:p>
          <a:p>
            <a:endParaRPr lang="en-GB" dirty="0" smtClean="0"/>
          </a:p>
          <a:p>
            <a:r>
              <a:rPr lang="en-GB" dirty="0" smtClean="0"/>
              <a:t>In 2012, introduced the phonic screening</a:t>
            </a:r>
            <a:r>
              <a:rPr lang="en-GB" baseline="0" dirty="0" smtClean="0"/>
              <a:t> check for children at the end of Year 1. This aims to check children have “learned phonic decoding to an age-appropriate standard.” Children are asked to read a total of 40 words – 20 real words and 20 made up words. Controversy around this – criticisms include that this does not assess reading for meaning/may confuse children with nonsense words/not linked to later outcomes/</a:t>
            </a:r>
          </a:p>
          <a:p>
            <a:endParaRPr lang="en-GB" baseline="0" dirty="0" smtClean="0"/>
          </a:p>
          <a:p>
            <a:r>
              <a:rPr lang="en-GB" sz="1600" b="0" i="0" kern="1200" dirty="0" smtClean="0">
                <a:solidFill>
                  <a:schemeClr val="tx2"/>
                </a:solidFill>
                <a:effectLst/>
                <a:latin typeface="+mn-lt"/>
                <a:ea typeface="+mn-ea"/>
                <a:cs typeface="+mn-cs"/>
              </a:rPr>
              <a:t>The 2014 National Curriculum continues to emphasise the importance of using</a:t>
            </a:r>
            <a:r>
              <a:rPr lang="en-GB" sz="1600" b="0" i="0" kern="1200" baseline="0" dirty="0" smtClean="0">
                <a:solidFill>
                  <a:schemeClr val="tx2"/>
                </a:solidFill>
                <a:effectLst/>
                <a:latin typeface="+mn-lt"/>
                <a:ea typeface="+mn-ea"/>
                <a:cs typeface="+mn-cs"/>
              </a:rPr>
              <a:t> a systematic, synthetic phonics approach </a:t>
            </a:r>
            <a:r>
              <a:rPr lang="en-GB" sz="1600" b="0" i="0" kern="1200" baseline="0" dirty="0" smtClean="0">
                <a:solidFill>
                  <a:schemeClr val="tx2"/>
                </a:solidFill>
                <a:effectLst/>
                <a:latin typeface="+mn-lt"/>
                <a:ea typeface="+mn-ea"/>
                <a:cs typeface="+mn-cs"/>
              </a:rPr>
              <a:t>to teach reading. </a:t>
            </a:r>
            <a:endParaRPr lang="en-GB" baseline="0" dirty="0" smtClean="0"/>
          </a:p>
          <a:p>
            <a:endParaRPr lang="en-GB" baseline="0" dirty="0" smtClean="0"/>
          </a:p>
          <a:p>
            <a:endParaRPr lang="en-GB" dirty="0"/>
          </a:p>
        </p:txBody>
      </p:sp>
      <p:sp>
        <p:nvSpPr>
          <p:cNvPr id="4" name="Slide Number Placeholder 3"/>
          <p:cNvSpPr>
            <a:spLocks noGrp="1"/>
          </p:cNvSpPr>
          <p:nvPr>
            <p:ph type="sldNum" sz="quarter" idx="10"/>
          </p:nvPr>
        </p:nvSpPr>
        <p:spPr/>
        <p:txBody>
          <a:bodyPr/>
          <a:lstStyle/>
          <a:p>
            <a:fld id="{B8796F01-7154-41E0-B48B-A6921757531A}" type="slidenum">
              <a:rPr lang="en-GB" smtClean="0"/>
              <a:pPr/>
              <a:t>6</a:t>
            </a:fld>
            <a:endParaRPr lang="en-GB"/>
          </a:p>
        </p:txBody>
      </p:sp>
    </p:spTree>
    <p:extLst>
      <p:ext uri="{BB962C8B-B14F-4D97-AF65-F5344CB8AC3E}">
        <p14:creationId xmlns:p14="http://schemas.microsoft.com/office/powerpoint/2010/main" val="18381302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GB" b="0" dirty="0" smtClean="0">
                <a:effectLst/>
              </a:rPr>
              <a:t>Limited</a:t>
            </a:r>
            <a:r>
              <a:rPr lang="en-GB" b="0" baseline="0" dirty="0" smtClean="0">
                <a:effectLst/>
              </a:rPr>
              <a:t> empirical research evaluating Read Write Inc. Will start by considering this, then consider some of the wider research that is relevant to different aspects of the RWI programme.</a:t>
            </a:r>
          </a:p>
          <a:p>
            <a:pPr fontAlgn="base"/>
            <a:endParaRPr lang="en-GB" b="0" baseline="0" dirty="0" smtClean="0">
              <a:effectLst/>
            </a:endParaRPr>
          </a:p>
          <a:p>
            <a:pPr marL="0" marR="0" indent="0" algn="l" defTabSz="1218987" rtl="0" eaLnBrk="1" fontAlgn="base" latinLnBrk="0" hangingPunct="1">
              <a:lnSpc>
                <a:spcPct val="100000"/>
              </a:lnSpc>
              <a:spcBef>
                <a:spcPts val="0"/>
              </a:spcBef>
              <a:spcAft>
                <a:spcPts val="0"/>
              </a:spcAft>
              <a:buClrTx/>
              <a:buSzTx/>
              <a:buFontTx/>
              <a:buNone/>
              <a:tabLst/>
              <a:defRPr/>
            </a:pPr>
            <a:r>
              <a:rPr lang="en-GB" b="0" baseline="0" dirty="0" smtClean="0">
                <a:effectLst/>
              </a:rPr>
              <a:t>On website, there are case studies, under the link of ‘success stories’.  These describe the experiences of an academy network/London Borough case study/five primary schools and 2 special schools. Not clear who wrote these. O</a:t>
            </a:r>
            <a:r>
              <a:rPr lang="en-GB" baseline="0" dirty="0" smtClean="0"/>
              <a:t>utcomes/measures of success are results of phonics screening check, Ofsted reports, end of Key Stage levels. </a:t>
            </a:r>
          </a:p>
          <a:p>
            <a:pPr fontAlgn="base"/>
            <a:endParaRPr lang="en-GB" b="0" dirty="0" smtClean="0">
              <a:effectLst/>
            </a:endParaRPr>
          </a:p>
          <a:p>
            <a:pPr fontAlgn="base"/>
            <a:r>
              <a:rPr lang="en-GB" b="0" dirty="0" smtClean="0">
                <a:effectLst/>
              </a:rPr>
              <a:t>One example…</a:t>
            </a:r>
          </a:p>
          <a:p>
            <a:pPr fontAlgn="base"/>
            <a:r>
              <a:rPr lang="en-GB" b="0" dirty="0" smtClean="0">
                <a:effectLst/>
              </a:rPr>
              <a:t>London Borough of Newham.</a:t>
            </a:r>
            <a:r>
              <a:rPr lang="en-GB" b="0" baseline="0" dirty="0" smtClean="0">
                <a:effectLst/>
              </a:rPr>
              <a:t> </a:t>
            </a:r>
            <a:r>
              <a:rPr lang="en-GB" sz="1600" b="0" i="0" kern="1200" dirty="0" smtClean="0">
                <a:solidFill>
                  <a:schemeClr val="tx2"/>
                </a:solidFill>
                <a:effectLst/>
                <a:latin typeface="+mn-lt"/>
                <a:ea typeface="+mn-ea"/>
                <a:cs typeface="+mn-cs"/>
              </a:rPr>
              <a:t>Newham is one of London’s most deprived boroughs. In 2006, Newham’s score for achieving Level 2+ at Key Stage 1 was 78% - six percentage points below the national average. In 2007, 18 out of 67 Newham schools adopted Ruth’s synthetic phonics programme.</a:t>
            </a:r>
          </a:p>
          <a:p>
            <a:r>
              <a:rPr lang="en-GB" dirty="0" smtClean="0"/>
              <a:t>BUT Newham Reading Guarantee</a:t>
            </a:r>
            <a:r>
              <a:rPr lang="en-GB" baseline="0" dirty="0" smtClean="0"/>
              <a:t> initiated. Aimed to be one of the biggest reading initiatives in the country; funding in synthetic phonic programmes, one-to-one tuition and reading volunteers. </a:t>
            </a:r>
          </a:p>
          <a:p>
            <a:endParaRPr lang="en-GB" baseline="0" dirty="0" smtClean="0"/>
          </a:p>
          <a:p>
            <a:endParaRPr lang="en-GB" baseline="0" dirty="0" smtClean="0"/>
          </a:p>
          <a:p>
            <a:pPr fontAlgn="base"/>
            <a:r>
              <a:rPr lang="en-GB" sz="1600" b="1" i="0" kern="1200" dirty="0" smtClean="0">
                <a:solidFill>
                  <a:schemeClr val="tx2"/>
                </a:solidFill>
                <a:effectLst/>
                <a:latin typeface="+mn-lt"/>
                <a:ea typeface="+mn-ea"/>
                <a:cs typeface="+mn-cs"/>
              </a:rPr>
              <a:t>Ofsted - Reading by six: how the best schools do it</a:t>
            </a:r>
          </a:p>
          <a:p>
            <a:pPr fontAlgn="base"/>
            <a:r>
              <a:rPr lang="en-GB" sz="1600" b="0" i="0" kern="1200" dirty="0" smtClean="0">
                <a:solidFill>
                  <a:schemeClr val="tx2"/>
                </a:solidFill>
                <a:effectLst/>
                <a:latin typeface="+mn-lt"/>
                <a:ea typeface="+mn-ea"/>
                <a:cs typeface="+mn-cs"/>
              </a:rPr>
              <a:t>This report looked at the practice of 12 outstanding schools in different parts of England to demonstrate what works in teaching children to read. Seven of the schools featured use Read Write Inc. Phonics. Schools</a:t>
            </a:r>
            <a:r>
              <a:rPr lang="en-GB" sz="1600" b="0" i="0" kern="1200" baseline="0" dirty="0" smtClean="0">
                <a:solidFill>
                  <a:schemeClr val="tx2"/>
                </a:solidFill>
                <a:effectLst/>
                <a:latin typeface="+mn-lt"/>
                <a:ea typeface="+mn-ea"/>
                <a:cs typeface="+mn-cs"/>
              </a:rPr>
              <a:t> across the UK included, all had above average results in reading in Key Stage 1. Schools visited by Ofsted inspector early in school year, observed phonics, reading and writing sessions. Also met with key staff and looked at data. Then wrote up vignettes. Again, case study approach so difficult to generalise. Report does not that there was not evidence of one programme being more effective that another and would need larger sample. </a:t>
            </a:r>
          </a:p>
          <a:p>
            <a:pPr fontAlgn="base"/>
            <a:endParaRPr lang="en-GB" sz="1600" b="0" i="0" kern="1200" baseline="0" dirty="0" smtClean="0">
              <a:solidFill>
                <a:schemeClr val="tx2"/>
              </a:solidFill>
              <a:effectLst/>
              <a:latin typeface="+mn-lt"/>
              <a:ea typeface="+mn-ea"/>
              <a:cs typeface="+mn-cs"/>
            </a:endParaRPr>
          </a:p>
          <a:p>
            <a:pPr marL="0" marR="0" indent="0" algn="l" defTabSz="1218987" rtl="0" eaLnBrk="1" fontAlgn="base" latinLnBrk="0" hangingPunct="1">
              <a:lnSpc>
                <a:spcPct val="100000"/>
              </a:lnSpc>
              <a:spcBef>
                <a:spcPts val="0"/>
              </a:spcBef>
              <a:spcAft>
                <a:spcPts val="0"/>
              </a:spcAft>
              <a:buClrTx/>
              <a:buSzTx/>
              <a:buFontTx/>
              <a:buNone/>
              <a:tabLst/>
              <a:defRPr/>
            </a:pPr>
            <a:r>
              <a:rPr lang="en-GB" sz="1600" kern="1200" dirty="0" smtClean="0">
                <a:solidFill>
                  <a:schemeClr val="tx2"/>
                </a:solidFill>
                <a:effectLst/>
                <a:latin typeface="+mn-lt"/>
                <a:ea typeface="+mn-ea"/>
                <a:cs typeface="+mn-cs"/>
              </a:rPr>
              <a:t>Common</a:t>
            </a:r>
            <a:r>
              <a:rPr lang="en-GB" sz="1600" kern="1200" baseline="0" dirty="0" smtClean="0">
                <a:solidFill>
                  <a:schemeClr val="tx2"/>
                </a:solidFill>
                <a:effectLst/>
                <a:latin typeface="+mn-lt"/>
                <a:ea typeface="+mn-ea"/>
                <a:cs typeface="+mn-cs"/>
              </a:rPr>
              <a:t> themes identified for these schools include </a:t>
            </a:r>
            <a:r>
              <a:rPr lang="en-GB" sz="1600" kern="1200" dirty="0" smtClean="0">
                <a:solidFill>
                  <a:schemeClr val="tx2"/>
                </a:solidFill>
                <a:effectLst/>
                <a:latin typeface="+mn-lt"/>
                <a:ea typeface="+mn-ea"/>
                <a:cs typeface="+mn-cs"/>
              </a:rPr>
              <a:t>consistency, structure, monitoring, assessment, support and shared commitment. Also that good resources can be a great help</a:t>
            </a:r>
            <a:r>
              <a:rPr lang="en-GB" sz="1600" kern="1200" baseline="0" dirty="0" smtClean="0">
                <a:solidFill>
                  <a:schemeClr val="tx2"/>
                </a:solidFill>
                <a:effectLst/>
                <a:latin typeface="+mn-lt"/>
                <a:ea typeface="+mn-ea"/>
                <a:cs typeface="+mn-cs"/>
              </a:rPr>
              <a:t> and</a:t>
            </a:r>
            <a:r>
              <a:rPr lang="en-GB" sz="1600" kern="1200" dirty="0" smtClean="0">
                <a:solidFill>
                  <a:schemeClr val="tx2"/>
                </a:solidFill>
                <a:effectLst/>
                <a:latin typeface="+mn-lt"/>
                <a:ea typeface="+mn-ea"/>
                <a:cs typeface="+mn-cs"/>
              </a:rPr>
              <a:t> provide systematic structure, reducing the burden of planning, and offering pupils and teachers attractive and well-matched materials.</a:t>
            </a:r>
            <a:r>
              <a:rPr lang="en-GB" sz="1600" kern="1200" baseline="0" dirty="0" smtClean="0">
                <a:solidFill>
                  <a:schemeClr val="tx2"/>
                </a:solidFill>
                <a:effectLst/>
                <a:latin typeface="+mn-lt"/>
                <a:ea typeface="+mn-ea"/>
                <a:cs typeface="+mn-cs"/>
              </a:rPr>
              <a:t> Supports many of the features of the RWI programme. </a:t>
            </a:r>
            <a:endParaRPr lang="en-GB" sz="1600" b="0" i="0" kern="1200" dirty="0" smtClean="0">
              <a:solidFill>
                <a:schemeClr val="tx2"/>
              </a:solidFill>
              <a:effectLst/>
              <a:latin typeface="+mn-lt"/>
              <a:ea typeface="+mn-ea"/>
              <a:cs typeface="+mn-cs"/>
            </a:endParaRPr>
          </a:p>
          <a:p>
            <a:endParaRPr lang="en-GB" dirty="0" smtClean="0"/>
          </a:p>
          <a:p>
            <a:r>
              <a:rPr lang="en-GB" b="1" dirty="0" smtClean="0"/>
              <a:t>Brooks</a:t>
            </a:r>
            <a:r>
              <a:rPr lang="en-GB" dirty="0" smtClean="0"/>
              <a:t> – review of</a:t>
            </a:r>
            <a:r>
              <a:rPr lang="en-GB" baseline="0" dirty="0" smtClean="0"/>
              <a:t> intervention schemes being used in the UK, to support children with reading and writing.</a:t>
            </a:r>
            <a:r>
              <a:rPr lang="en-GB" dirty="0" smtClean="0"/>
              <a:t> Aim to inform schools and help</a:t>
            </a:r>
            <a:r>
              <a:rPr lang="en-GB" baseline="0" dirty="0" smtClean="0"/>
              <a:t> them make decisions about best approaches. </a:t>
            </a:r>
          </a:p>
          <a:p>
            <a:endParaRPr lang="en-GB" baseline="0" dirty="0" smtClean="0"/>
          </a:p>
          <a:p>
            <a:r>
              <a:rPr lang="en-GB" baseline="0" dirty="0" smtClean="0"/>
              <a:t>Analysed 2 unpublished studies data. RWI was being used as a Wave 3 intervention in Bristol and Haringey . Both used one group, pre and post test design. Found children made some progress in reading accuracy and comprehension</a:t>
            </a:r>
          </a:p>
          <a:p>
            <a:endParaRPr lang="en-GB" dirty="0" smtClean="0"/>
          </a:p>
          <a:p>
            <a:r>
              <a:rPr lang="en-GB" sz="1600" kern="1200" dirty="0" smtClean="0">
                <a:solidFill>
                  <a:schemeClr val="tx2"/>
                </a:solidFill>
                <a:effectLst/>
                <a:latin typeface="+mn-lt"/>
                <a:ea typeface="+mn-ea"/>
                <a:cs typeface="+mn-cs"/>
              </a:rPr>
              <a:t>Bristol (2004–05). Participants were 117 Year 2-6 pupils in 12 schools. Identified with SEN (but does not state specifics). </a:t>
            </a:r>
          </a:p>
          <a:p>
            <a:r>
              <a:rPr lang="en-GB" sz="1600" kern="1200" dirty="0" smtClean="0">
                <a:solidFill>
                  <a:schemeClr val="tx2"/>
                </a:solidFill>
                <a:effectLst/>
                <a:latin typeface="+mn-lt"/>
                <a:ea typeface="+mn-ea"/>
                <a:cs typeface="+mn-cs"/>
              </a:rPr>
              <a:t>Length of intervention varied between schools, but average appears to have been about eight </a:t>
            </a:r>
          </a:p>
          <a:p>
            <a:r>
              <a:rPr lang="en-GB" sz="1600" kern="1200" dirty="0" smtClean="0">
                <a:solidFill>
                  <a:schemeClr val="tx2"/>
                </a:solidFill>
                <a:effectLst/>
                <a:latin typeface="+mn-lt"/>
                <a:ea typeface="+mn-ea"/>
                <a:cs typeface="+mn-cs"/>
              </a:rPr>
              <a:t>Ratio gains: reading accuracy 2.3 reading comprehension 2.6 </a:t>
            </a:r>
          </a:p>
          <a:p>
            <a:r>
              <a:rPr lang="en-GB" sz="1600" kern="1200" dirty="0" smtClean="0">
                <a:solidFill>
                  <a:schemeClr val="tx2"/>
                </a:solidFill>
                <a:effectLst/>
                <a:latin typeface="+mn-lt"/>
                <a:ea typeface="+mn-ea"/>
                <a:cs typeface="+mn-cs"/>
              </a:rPr>
              <a:t>Statistical significances: Were not stated and could not be calculated </a:t>
            </a:r>
          </a:p>
          <a:p>
            <a:r>
              <a:rPr lang="en-GB" sz="1600" kern="1200" dirty="0" smtClean="0">
                <a:solidFill>
                  <a:schemeClr val="tx2"/>
                </a:solidFill>
                <a:effectLst/>
                <a:latin typeface="+mn-lt"/>
                <a:ea typeface="+mn-ea"/>
                <a:cs typeface="+mn-cs"/>
              </a:rPr>
              <a:t>The pupils made useful progress in reading accuracy and comprehension.</a:t>
            </a:r>
          </a:p>
          <a:p>
            <a:r>
              <a:rPr lang="en-GB" sz="1600" kern="1200" dirty="0" smtClean="0">
                <a:solidFill>
                  <a:schemeClr val="tx2"/>
                </a:solidFill>
                <a:effectLst/>
                <a:latin typeface="+mn-lt"/>
                <a:ea typeface="+mn-ea"/>
                <a:cs typeface="+mn-cs"/>
              </a:rPr>
              <a:t> </a:t>
            </a:r>
          </a:p>
          <a:p>
            <a:r>
              <a:rPr lang="en-GB" sz="1600" kern="1200" dirty="0" smtClean="0">
                <a:solidFill>
                  <a:schemeClr val="tx2"/>
                </a:solidFill>
                <a:effectLst/>
                <a:latin typeface="+mn-lt"/>
                <a:ea typeface="+mn-ea"/>
                <a:cs typeface="+mn-cs"/>
              </a:rPr>
              <a:t>Haringey (2003–04). Participants were 30 Year 5-6 pupils across seven schools.  Identified as ‘low </a:t>
            </a:r>
            <a:r>
              <a:rPr lang="en-GB" sz="1600" kern="1200" dirty="0" err="1" smtClean="0">
                <a:solidFill>
                  <a:schemeClr val="tx2"/>
                </a:solidFill>
                <a:effectLst/>
                <a:latin typeface="+mn-lt"/>
                <a:ea typeface="+mn-ea"/>
                <a:cs typeface="+mn-cs"/>
              </a:rPr>
              <a:t>attainers</a:t>
            </a:r>
            <a:r>
              <a:rPr lang="en-GB" sz="1600" kern="1200" dirty="0" smtClean="0">
                <a:solidFill>
                  <a:schemeClr val="tx2"/>
                </a:solidFill>
                <a:effectLst/>
                <a:latin typeface="+mn-lt"/>
                <a:ea typeface="+mn-ea"/>
                <a:cs typeface="+mn-cs"/>
              </a:rPr>
              <a:t>’, again no specifics. </a:t>
            </a:r>
          </a:p>
          <a:p>
            <a:r>
              <a:rPr lang="en-GB" sz="1600" kern="1200" dirty="0" smtClean="0">
                <a:solidFill>
                  <a:schemeClr val="tx2"/>
                </a:solidFill>
                <a:effectLst/>
                <a:latin typeface="+mn-lt"/>
                <a:ea typeface="+mn-ea"/>
                <a:cs typeface="+mn-cs"/>
              </a:rPr>
              <a:t>Length of intervention was 20 weeks</a:t>
            </a:r>
          </a:p>
          <a:p>
            <a:r>
              <a:rPr lang="en-GB" sz="1600" kern="1200" dirty="0" smtClean="0">
                <a:solidFill>
                  <a:schemeClr val="tx2"/>
                </a:solidFill>
                <a:effectLst/>
                <a:latin typeface="+mn-lt"/>
                <a:ea typeface="+mn-ea"/>
                <a:cs typeface="+mn-cs"/>
              </a:rPr>
              <a:t>RGs: 3.8 </a:t>
            </a:r>
          </a:p>
          <a:p>
            <a:r>
              <a:rPr lang="en-GB" sz="1600" kern="1200" dirty="0" smtClean="0">
                <a:solidFill>
                  <a:schemeClr val="tx2"/>
                </a:solidFill>
                <a:effectLst/>
                <a:latin typeface="+mn-lt"/>
                <a:ea typeface="+mn-ea"/>
                <a:cs typeface="+mn-cs"/>
              </a:rPr>
              <a:t>Starting and ending levels and progress: Pre-test average score was in the beginner reader range, and many of the pupils were several years behind. However, they made a substantial gain, and their post-test average score was in the semi-literate range. They would still need further structured support.</a:t>
            </a:r>
          </a:p>
          <a:p>
            <a:endParaRPr lang="en-GB" sz="1600" kern="1200" dirty="0" smtClean="0">
              <a:solidFill>
                <a:schemeClr val="tx2"/>
              </a:solidFill>
              <a:effectLst/>
              <a:latin typeface="+mn-lt"/>
              <a:ea typeface="+mn-ea"/>
              <a:cs typeface="+mn-cs"/>
            </a:endParaRPr>
          </a:p>
          <a:p>
            <a:endParaRPr lang="en-GB" sz="1600" kern="1200" dirty="0" smtClean="0">
              <a:solidFill>
                <a:schemeClr val="tx2"/>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B8796F01-7154-41E0-B48B-A6921757531A}" type="slidenum">
              <a:rPr lang="en-GB" smtClean="0"/>
              <a:pPr/>
              <a:t>8</a:t>
            </a:fld>
            <a:endParaRPr lang="en-GB"/>
          </a:p>
        </p:txBody>
      </p:sp>
    </p:spTree>
    <p:extLst>
      <p:ext uri="{BB962C8B-B14F-4D97-AF65-F5344CB8AC3E}">
        <p14:creationId xmlns:p14="http://schemas.microsoft.com/office/powerpoint/2010/main" val="31798759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smtClean="0"/>
              <a:t>Lots of research evaluating synthetic phonics approach. As this is the focus of the RWI approach, will consider evidence base for this. Decided to focus on some of the main studies that were influential in informing government’s current focus on synthetic phonics… </a:t>
            </a:r>
          </a:p>
          <a:p>
            <a:endParaRPr lang="en-GB" baseline="0" dirty="0" smtClean="0"/>
          </a:p>
          <a:p>
            <a:r>
              <a:rPr lang="en-GB" sz="1600" kern="1200" dirty="0" smtClean="0">
                <a:solidFill>
                  <a:schemeClr val="tx2"/>
                </a:solidFill>
                <a:effectLst/>
                <a:latin typeface="+mn-lt"/>
                <a:ea typeface="+mn-ea"/>
                <a:cs typeface="+mn-cs"/>
              </a:rPr>
              <a:t>Clackmannanshire study (Johnston &amp; Watson) – Very influential in the Rose report’s recommendations that synthetic</a:t>
            </a:r>
            <a:r>
              <a:rPr lang="en-GB" sz="1600" kern="1200" baseline="0" dirty="0" smtClean="0">
                <a:solidFill>
                  <a:schemeClr val="tx2"/>
                </a:solidFill>
                <a:effectLst/>
                <a:latin typeface="+mn-lt"/>
                <a:ea typeface="+mn-ea"/>
                <a:cs typeface="+mn-cs"/>
              </a:rPr>
              <a:t> phonics was best approach. </a:t>
            </a:r>
            <a:r>
              <a:rPr lang="en-GB" sz="1600" kern="1200" dirty="0" smtClean="0">
                <a:solidFill>
                  <a:schemeClr val="tx2"/>
                </a:solidFill>
                <a:effectLst/>
                <a:latin typeface="+mn-lt"/>
                <a:ea typeface="+mn-ea"/>
                <a:cs typeface="+mn-cs"/>
              </a:rPr>
              <a:t>This was a seven year study based on schools in Clackmannanshire. Looked at effectiveness of synthetic</a:t>
            </a:r>
            <a:r>
              <a:rPr lang="en-GB" sz="1600" kern="1200" baseline="0" dirty="0" smtClean="0">
                <a:solidFill>
                  <a:schemeClr val="tx2"/>
                </a:solidFill>
                <a:effectLst/>
                <a:latin typeface="+mn-lt"/>
                <a:ea typeface="+mn-ea"/>
                <a:cs typeface="+mn-cs"/>
              </a:rPr>
              <a:t> phonics programme in teaching reading and spelling. </a:t>
            </a:r>
            <a:r>
              <a:rPr lang="en-GB" sz="1600" kern="1200" dirty="0" smtClean="0">
                <a:solidFill>
                  <a:schemeClr val="tx2"/>
                </a:solidFill>
                <a:effectLst/>
                <a:latin typeface="+mn-lt"/>
                <a:ea typeface="+mn-ea"/>
                <a:cs typeface="+mn-cs"/>
              </a:rPr>
              <a:t>Around 300 children in Primary 1 (Reception) were divided into three groups. </a:t>
            </a:r>
            <a:endParaRPr lang="en-GB" sz="1600" kern="1200" dirty="0" smtClean="0">
              <a:solidFill>
                <a:schemeClr val="tx2"/>
              </a:solidFill>
              <a:effectLst/>
              <a:latin typeface="+mn-lt"/>
              <a:ea typeface="+mn-ea"/>
              <a:cs typeface="+mn-cs"/>
            </a:endParaRPr>
          </a:p>
          <a:p>
            <a:endParaRPr lang="en-GB" sz="1600" kern="1200" baseline="0" dirty="0" smtClean="0">
              <a:solidFill>
                <a:schemeClr val="tx2"/>
              </a:solidFill>
              <a:effectLst/>
              <a:latin typeface="+mn-lt"/>
              <a:ea typeface="+mn-ea"/>
              <a:cs typeface="+mn-cs"/>
            </a:endParaRPr>
          </a:p>
          <a:p>
            <a:r>
              <a:rPr lang="en-GB" sz="1600" kern="1200" baseline="0" dirty="0" smtClean="0">
                <a:solidFill>
                  <a:schemeClr val="tx2"/>
                </a:solidFill>
                <a:effectLst/>
                <a:latin typeface="+mn-lt"/>
                <a:ea typeface="+mn-ea"/>
                <a:cs typeface="+mn-cs"/>
              </a:rPr>
              <a:t>Main findings:</a:t>
            </a:r>
          </a:p>
          <a:p>
            <a:r>
              <a:rPr lang="en-GB" sz="1600" kern="1200" baseline="0" dirty="0" smtClean="0">
                <a:solidFill>
                  <a:schemeClr val="tx2"/>
                </a:solidFill>
                <a:effectLst/>
                <a:latin typeface="+mn-lt"/>
                <a:ea typeface="+mn-ea"/>
                <a:cs typeface="+mn-cs"/>
              </a:rPr>
              <a:t>Figure - </a:t>
            </a:r>
            <a:r>
              <a:rPr lang="en-GB" sz="1600" b="0" i="0" kern="1200" dirty="0" smtClean="0">
                <a:solidFill>
                  <a:schemeClr val="tx2"/>
                </a:solidFill>
                <a:effectLst/>
                <a:latin typeface="+mn-lt"/>
                <a:ea typeface="+mn-ea"/>
                <a:cs typeface="+mn-cs"/>
              </a:rPr>
              <a:t>Comparison of children from advantaged and disadvantaged backgrounds learning to read by analytic or synthetic phonics, at the end of year</a:t>
            </a:r>
            <a:r>
              <a:rPr lang="en-GB" sz="1600" b="0" i="0" kern="1200" baseline="0" dirty="0" smtClean="0">
                <a:solidFill>
                  <a:schemeClr val="tx2"/>
                </a:solidFill>
                <a:effectLst/>
                <a:latin typeface="+mn-lt"/>
                <a:ea typeface="+mn-ea"/>
                <a:cs typeface="+mn-cs"/>
              </a:rPr>
              <a:t> 1</a:t>
            </a:r>
            <a:r>
              <a:rPr lang="en-GB" sz="1600" b="0" i="0" kern="1200" dirty="0" smtClean="0">
                <a:solidFill>
                  <a:schemeClr val="tx2"/>
                </a:solidFill>
                <a:effectLst/>
                <a:latin typeface="+mn-lt"/>
                <a:ea typeface="+mn-ea"/>
                <a:cs typeface="+mn-cs"/>
              </a:rPr>
              <a:t>.</a:t>
            </a:r>
            <a:r>
              <a:rPr lang="en-GB" sz="1600" b="0" i="0" kern="1200" baseline="0" dirty="0" smtClean="0">
                <a:solidFill>
                  <a:schemeClr val="tx2"/>
                </a:solidFill>
                <a:effectLst/>
                <a:latin typeface="+mn-lt"/>
                <a:ea typeface="+mn-ea"/>
                <a:cs typeface="+mn-cs"/>
              </a:rPr>
              <a:t> </a:t>
            </a:r>
            <a:r>
              <a:rPr lang="en-GB" sz="1600" b="0" i="0" kern="1200" dirty="0" smtClean="0">
                <a:solidFill>
                  <a:schemeClr val="tx2"/>
                </a:solidFill>
                <a:effectLst/>
                <a:latin typeface="+mn-lt"/>
                <a:ea typeface="+mn-ea"/>
                <a:cs typeface="+mn-cs"/>
              </a:rPr>
              <a:t>with analytic phonics tuition the advantaged children read and spelt significantly better than the disadvantaged children. However, with synthetic phonics teaching there was no difference in word reading or spelling ability according to social background. </a:t>
            </a:r>
          </a:p>
          <a:p>
            <a:endParaRPr lang="en-GB" sz="1600" b="0" i="0" kern="1200" dirty="0" smtClean="0">
              <a:solidFill>
                <a:schemeClr val="tx2"/>
              </a:solidFill>
              <a:effectLst/>
              <a:latin typeface="+mn-lt"/>
              <a:ea typeface="+mn-ea"/>
              <a:cs typeface="+mn-cs"/>
            </a:endParaRPr>
          </a:p>
          <a:p>
            <a:r>
              <a:rPr lang="en-GB" sz="1600" b="0" i="0" kern="1200" dirty="0" smtClean="0">
                <a:solidFill>
                  <a:schemeClr val="tx2"/>
                </a:solidFill>
                <a:effectLst/>
                <a:latin typeface="+mn-lt"/>
                <a:ea typeface="+mn-ea"/>
                <a:cs typeface="+mn-cs"/>
              </a:rPr>
              <a:t>Concluded… </a:t>
            </a:r>
            <a:r>
              <a:rPr lang="en-GB" sz="1600" b="0" i="0" u="none" strike="noStrike" kern="1200" baseline="0" dirty="0" smtClean="0">
                <a:solidFill>
                  <a:schemeClr val="tx2"/>
                </a:solidFill>
                <a:latin typeface="+mn-lt"/>
                <a:ea typeface="+mn-ea"/>
                <a:cs typeface="+mn-cs"/>
              </a:rPr>
              <a:t>‘‘the synthetic phonics approach, as part of the reading curriculum, is more effective than the analytic phonics approach’’</a:t>
            </a:r>
            <a:endParaRPr lang="en-GB" sz="1600" b="0" i="0" kern="1200" dirty="0" smtClean="0">
              <a:solidFill>
                <a:schemeClr val="tx2"/>
              </a:solidFill>
              <a:effectLst/>
              <a:latin typeface="+mn-lt"/>
              <a:ea typeface="+mn-ea"/>
              <a:cs typeface="+mn-cs"/>
            </a:endParaRPr>
          </a:p>
          <a:p>
            <a:endParaRPr lang="en-GB" sz="1600" b="0" i="0" kern="1200" dirty="0" smtClean="0">
              <a:solidFill>
                <a:schemeClr val="tx2"/>
              </a:solidFill>
              <a:effectLst/>
              <a:latin typeface="+mn-lt"/>
              <a:ea typeface="+mn-ea"/>
              <a:cs typeface="+mn-cs"/>
            </a:endParaRPr>
          </a:p>
          <a:p>
            <a:r>
              <a:rPr lang="en-GB" sz="1600" b="0" i="0" kern="1200" dirty="0" smtClean="0">
                <a:solidFill>
                  <a:schemeClr val="tx2"/>
                </a:solidFill>
                <a:effectLst/>
                <a:latin typeface="+mn-lt"/>
                <a:ea typeface="+mn-ea"/>
                <a:cs typeface="+mn-cs"/>
              </a:rPr>
              <a:t>Important</a:t>
            </a:r>
            <a:r>
              <a:rPr lang="en-GB" sz="1600" b="0" i="0" kern="1200" baseline="0" dirty="0" smtClean="0">
                <a:solidFill>
                  <a:schemeClr val="tx2"/>
                </a:solidFill>
                <a:effectLst/>
                <a:latin typeface="+mn-lt"/>
                <a:ea typeface="+mn-ea"/>
                <a:cs typeface="+mn-cs"/>
              </a:rPr>
              <a:t> to note </a:t>
            </a:r>
            <a:r>
              <a:rPr lang="en-GB" sz="1600" b="0" i="0" u="none" strike="noStrike" kern="1200" baseline="0" dirty="0" smtClean="0">
                <a:solidFill>
                  <a:schemeClr val="tx2"/>
                </a:solidFill>
                <a:latin typeface="+mn-lt"/>
                <a:ea typeface="+mn-ea"/>
                <a:cs typeface="+mn-cs"/>
              </a:rPr>
              <a:t>research actually consisted of two experiments that had been previously reported, followed by several years of further testing of the children. </a:t>
            </a:r>
            <a:r>
              <a:rPr lang="en-GB" sz="1600" b="0" i="0" u="none" strike="noStrike" kern="1200" baseline="0" dirty="0" smtClean="0">
                <a:solidFill>
                  <a:schemeClr val="tx2"/>
                </a:solidFill>
                <a:latin typeface="+mn-lt"/>
                <a:ea typeface="+mn-ea"/>
                <a:cs typeface="+mn-cs"/>
              </a:rPr>
              <a:t>These had </a:t>
            </a:r>
            <a:r>
              <a:rPr lang="en-GB" sz="1600" b="0" i="0" u="none" strike="noStrike" kern="1200" baseline="0" dirty="0" smtClean="0">
                <a:solidFill>
                  <a:schemeClr val="tx2"/>
                </a:solidFill>
                <a:latin typeface="+mn-lt"/>
                <a:ea typeface="+mn-ea"/>
                <a:cs typeface="+mn-cs"/>
              </a:rPr>
              <a:t>already been reported in a peer-reviewed journal article in 2004 but the new data, from the further testing of children after that date is only available online and has not been peer reviewed.</a:t>
            </a:r>
            <a:endParaRPr lang="en-GB" sz="1600" b="0" i="0" kern="1200" dirty="0" smtClean="0">
              <a:solidFill>
                <a:schemeClr val="tx2"/>
              </a:solidFill>
              <a:effectLst/>
              <a:latin typeface="+mn-lt"/>
              <a:ea typeface="+mn-ea"/>
              <a:cs typeface="+mn-cs"/>
            </a:endParaRPr>
          </a:p>
          <a:p>
            <a:endParaRPr lang="en-GB" sz="1600" b="0" i="0" kern="1200" dirty="0" smtClean="0">
              <a:solidFill>
                <a:schemeClr val="tx2"/>
              </a:solidFill>
              <a:effectLst/>
              <a:latin typeface="+mn-lt"/>
              <a:ea typeface="+mn-ea"/>
              <a:cs typeface="+mn-cs"/>
            </a:endParaRPr>
          </a:p>
          <a:p>
            <a:r>
              <a:rPr lang="en-GB" sz="1600" b="0" i="0" kern="1200" dirty="0" smtClean="0">
                <a:solidFill>
                  <a:schemeClr val="tx2"/>
                </a:solidFill>
                <a:effectLst/>
                <a:latin typeface="+mn-lt"/>
                <a:ea typeface="+mn-ea"/>
                <a:cs typeface="+mn-cs"/>
              </a:rPr>
              <a:t>Methodological</a:t>
            </a:r>
            <a:r>
              <a:rPr lang="en-GB" sz="1600" b="0" i="0" kern="1200" baseline="0" dirty="0" smtClean="0">
                <a:solidFill>
                  <a:schemeClr val="tx2"/>
                </a:solidFill>
                <a:effectLst/>
                <a:latin typeface="+mn-lt"/>
                <a:ea typeface="+mn-ea"/>
                <a:cs typeface="+mn-cs"/>
              </a:rPr>
              <a:t> flaws –</a:t>
            </a:r>
            <a:r>
              <a:rPr lang="en-GB" sz="1600" b="0" i="0" u="none" strike="noStrike" kern="1200" baseline="0" dirty="0" smtClean="0">
                <a:solidFill>
                  <a:schemeClr val="tx2"/>
                </a:solidFill>
                <a:latin typeface="+mn-lt"/>
                <a:ea typeface="+mn-ea"/>
                <a:cs typeface="+mn-cs"/>
              </a:rPr>
              <a:t>The experience and effectiveness of the people implementing the programmes was not adequately controlled. When look more carefully at what was involved in each group, the </a:t>
            </a:r>
            <a:r>
              <a:rPr lang="en-GB" sz="1600" b="0" i="0" u="none" strike="noStrike" kern="1200" baseline="0" dirty="0" smtClean="0">
                <a:solidFill>
                  <a:schemeClr val="tx2"/>
                </a:solidFill>
                <a:latin typeface="+mn-lt"/>
                <a:ea typeface="+mn-ea"/>
                <a:cs typeface="+mn-cs"/>
              </a:rPr>
              <a:t>synthetic phonics intervention </a:t>
            </a:r>
            <a:r>
              <a:rPr lang="en-GB" sz="1600" b="0" i="0" u="none" strike="noStrike" kern="1200" baseline="0" dirty="0" smtClean="0">
                <a:solidFill>
                  <a:schemeClr val="tx2"/>
                </a:solidFill>
                <a:latin typeface="+mn-lt"/>
                <a:ea typeface="+mn-ea"/>
                <a:cs typeface="+mn-cs"/>
              </a:rPr>
              <a:t>group were taught more and had more input than the comparison groups</a:t>
            </a:r>
            <a:r>
              <a:rPr lang="en-GB" sz="1600" b="0" i="0" u="none" strike="noStrike" kern="1200" baseline="0" dirty="0" smtClean="0">
                <a:solidFill>
                  <a:schemeClr val="tx2"/>
                </a:solidFill>
                <a:latin typeface="+mn-lt"/>
                <a:ea typeface="+mn-ea"/>
                <a:cs typeface="+mn-cs"/>
              </a:rPr>
              <a:t>,(their teaching group was the only one to be taught to read the words independently)  </a:t>
            </a:r>
            <a:r>
              <a:rPr lang="en-GB" sz="1600" b="0" i="0" u="none" strike="noStrike" kern="1200" baseline="0" dirty="0" smtClean="0">
                <a:solidFill>
                  <a:schemeClr val="tx2"/>
                </a:solidFill>
                <a:latin typeface="+mn-lt"/>
                <a:ea typeface="+mn-ea"/>
                <a:cs typeface="+mn-cs"/>
              </a:rPr>
              <a:t>which may have influenced results. </a:t>
            </a:r>
            <a:endParaRPr lang="en-GB" sz="1600" b="0" i="0" u="none" strike="noStrike" kern="1200" baseline="0" dirty="0" smtClean="0">
              <a:solidFill>
                <a:schemeClr val="tx2"/>
              </a:solidFill>
              <a:latin typeface="+mn-lt"/>
              <a:ea typeface="+mn-ea"/>
              <a:cs typeface="+mn-cs"/>
            </a:endParaRPr>
          </a:p>
          <a:p>
            <a:endParaRPr lang="en-GB" sz="1600" b="0" i="0" u="none" strike="noStrike" kern="1200" baseline="0" dirty="0" smtClean="0">
              <a:solidFill>
                <a:schemeClr val="tx2"/>
              </a:solidFill>
              <a:latin typeface="+mn-lt"/>
              <a:ea typeface="+mn-ea"/>
              <a:cs typeface="+mn-cs"/>
            </a:endParaRPr>
          </a:p>
          <a:p>
            <a:r>
              <a:rPr lang="en-GB" sz="1600" b="0" i="0" u="none" strike="noStrike" kern="1200" baseline="0" dirty="0" smtClean="0">
                <a:solidFill>
                  <a:schemeClr val="tx2"/>
                </a:solidFill>
                <a:latin typeface="+mn-lt"/>
                <a:ea typeface="+mn-ea"/>
                <a:cs typeface="+mn-cs"/>
              </a:rPr>
              <a:t>Also</a:t>
            </a:r>
            <a:r>
              <a:rPr lang="en-GB" sz="1600" b="0" i="0" u="none" strike="noStrike" kern="1200" baseline="0" dirty="0" smtClean="0">
                <a:solidFill>
                  <a:schemeClr val="tx2"/>
                </a:solidFill>
                <a:latin typeface="+mn-lt"/>
                <a:ea typeface="+mn-ea"/>
                <a:cs typeface="+mn-cs"/>
              </a:rPr>
              <a:t>, other things were going on in the schools that were not mentioned in the research, for example funding for books, staff development on literacy.</a:t>
            </a:r>
            <a:endParaRPr lang="en-GB" sz="1600" b="0" i="0" kern="1200" dirty="0" smtClean="0">
              <a:solidFill>
                <a:schemeClr val="tx2"/>
              </a:solidFill>
              <a:effectLst/>
              <a:latin typeface="+mn-lt"/>
              <a:ea typeface="+mn-ea"/>
              <a:cs typeface="+mn-cs"/>
            </a:endParaRPr>
          </a:p>
          <a:p>
            <a:endParaRPr lang="en-GB" sz="1600" kern="1200" dirty="0" smtClean="0">
              <a:solidFill>
                <a:schemeClr val="tx2"/>
              </a:solidFill>
              <a:effectLst/>
              <a:latin typeface="+mn-lt"/>
              <a:ea typeface="+mn-ea"/>
              <a:cs typeface="+mn-cs"/>
            </a:endParaRPr>
          </a:p>
          <a:p>
            <a:endParaRPr lang="en-GB" sz="1600" kern="1200" dirty="0" smtClean="0">
              <a:solidFill>
                <a:schemeClr val="tx2"/>
              </a:solidFill>
              <a:effectLst/>
              <a:latin typeface="+mn-lt"/>
              <a:ea typeface="+mn-ea"/>
              <a:cs typeface="+mn-cs"/>
            </a:endParaRPr>
          </a:p>
          <a:p>
            <a:endParaRPr lang="en-GB" sz="1600" kern="1200" dirty="0" smtClean="0">
              <a:solidFill>
                <a:schemeClr val="tx2"/>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B8796F01-7154-41E0-B48B-A6921757531A}" type="slidenum">
              <a:rPr lang="en-GB" smtClean="0"/>
              <a:pPr/>
              <a:t>9</a:t>
            </a:fld>
            <a:endParaRPr lang="en-GB"/>
          </a:p>
        </p:txBody>
      </p:sp>
    </p:spTree>
    <p:extLst>
      <p:ext uri="{BB962C8B-B14F-4D97-AF65-F5344CB8AC3E}">
        <p14:creationId xmlns:p14="http://schemas.microsoft.com/office/powerpoint/2010/main" val="1525528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600" kern="1200" dirty="0" err="1" smtClean="0">
                <a:solidFill>
                  <a:schemeClr val="tx2"/>
                </a:solidFill>
                <a:effectLst/>
                <a:latin typeface="+mn-lt"/>
                <a:ea typeface="+mn-ea"/>
                <a:cs typeface="+mn-cs"/>
              </a:rPr>
              <a:t>Torgerson</a:t>
            </a:r>
            <a:r>
              <a:rPr lang="en-GB" sz="1600" kern="1200" dirty="0" smtClean="0">
                <a:solidFill>
                  <a:schemeClr val="tx2"/>
                </a:solidFill>
                <a:effectLst/>
                <a:latin typeface="+mn-lt"/>
                <a:ea typeface="+mn-ea"/>
                <a:cs typeface="+mn-cs"/>
              </a:rPr>
              <a:t>,</a:t>
            </a:r>
            <a:r>
              <a:rPr lang="en-GB" sz="1600" kern="1200" baseline="0" dirty="0" smtClean="0">
                <a:solidFill>
                  <a:schemeClr val="tx2"/>
                </a:solidFill>
                <a:effectLst/>
                <a:latin typeface="+mn-lt"/>
                <a:ea typeface="+mn-ea"/>
                <a:cs typeface="+mn-cs"/>
              </a:rPr>
              <a:t> Brooks and Hall (2006) </a:t>
            </a:r>
            <a:r>
              <a:rPr lang="en-GB" sz="1600" kern="1200" dirty="0" smtClean="0">
                <a:solidFill>
                  <a:schemeClr val="tx2"/>
                </a:solidFill>
                <a:effectLst/>
                <a:latin typeface="+mn-lt"/>
                <a:ea typeface="+mn-ea"/>
                <a:cs typeface="+mn-cs"/>
              </a:rPr>
              <a:t>A</a:t>
            </a:r>
            <a:r>
              <a:rPr lang="en-GB" sz="1600" kern="1200" baseline="0" dirty="0" smtClean="0">
                <a:solidFill>
                  <a:schemeClr val="tx2"/>
                </a:solidFill>
                <a:effectLst/>
                <a:latin typeface="+mn-lt"/>
                <a:ea typeface="+mn-ea"/>
                <a:cs typeface="+mn-cs"/>
              </a:rPr>
              <a:t> systematic review of experimental research on the use of phonics instruction in teaching of reading and spelling. Inclusion criteria were studies that used Randomised Control Trials that focused on teaching of phonics and compared effectiveness of instruction using systematic phonics vs unsystematic or no phonics instruction. Also, that measured reading as outcome and were interventions that could be found in schools. Identified </a:t>
            </a:r>
            <a:r>
              <a:rPr lang="en-GB" sz="1600" kern="1200" baseline="0" dirty="0" smtClean="0">
                <a:solidFill>
                  <a:schemeClr val="tx2"/>
                </a:solidFill>
                <a:effectLst/>
                <a:latin typeface="+mn-lt"/>
                <a:ea typeface="+mn-ea"/>
                <a:cs typeface="+mn-cs"/>
              </a:rPr>
              <a:t>20 that met criteria, </a:t>
            </a:r>
            <a:r>
              <a:rPr lang="en-GB" sz="1600" kern="1200" baseline="0" dirty="0" smtClean="0">
                <a:solidFill>
                  <a:schemeClr val="tx2"/>
                </a:solidFill>
                <a:effectLst/>
                <a:latin typeface="+mn-lt"/>
                <a:ea typeface="+mn-ea"/>
                <a:cs typeface="+mn-cs"/>
              </a:rPr>
              <a:t>only one of which was UK based. 14 were used in main analysis. </a:t>
            </a:r>
          </a:p>
          <a:p>
            <a:endParaRPr lang="en-GB" sz="1600" kern="1200" baseline="0" dirty="0" smtClean="0">
              <a:solidFill>
                <a:schemeClr val="tx2"/>
              </a:solidFill>
              <a:effectLst/>
              <a:latin typeface="+mn-lt"/>
              <a:ea typeface="+mn-ea"/>
              <a:cs typeface="+mn-cs"/>
            </a:endParaRPr>
          </a:p>
          <a:p>
            <a:r>
              <a:rPr lang="en-GB" sz="1600" kern="1200" baseline="0" dirty="0" smtClean="0">
                <a:solidFill>
                  <a:schemeClr val="tx2"/>
                </a:solidFill>
                <a:effectLst/>
                <a:latin typeface="+mn-lt"/>
                <a:ea typeface="+mn-ea"/>
                <a:cs typeface="+mn-cs"/>
              </a:rPr>
              <a:t>Looking at systematic phonics – teaching letter-sound relationships in organised and explicit way – can apply to both synthetic and analytic phonics. </a:t>
            </a:r>
          </a:p>
          <a:p>
            <a:endParaRPr lang="en-GB" sz="1600" kern="1200" baseline="0" dirty="0" smtClean="0">
              <a:solidFill>
                <a:schemeClr val="tx2"/>
              </a:solidFill>
              <a:effectLst/>
              <a:latin typeface="+mn-lt"/>
              <a:ea typeface="+mn-ea"/>
              <a:cs typeface="+mn-cs"/>
            </a:endParaRPr>
          </a:p>
          <a:p>
            <a:pPr marL="0" marR="0" indent="0" algn="l" defTabSz="1218987" rtl="0" eaLnBrk="1" fontAlgn="auto" latinLnBrk="0" hangingPunct="1">
              <a:lnSpc>
                <a:spcPct val="100000"/>
              </a:lnSpc>
              <a:spcBef>
                <a:spcPts val="0"/>
              </a:spcBef>
              <a:spcAft>
                <a:spcPts val="0"/>
              </a:spcAft>
              <a:buClrTx/>
              <a:buSzTx/>
              <a:buFontTx/>
              <a:buNone/>
              <a:tabLst/>
              <a:defRPr/>
            </a:pPr>
            <a:r>
              <a:rPr lang="en-GB" sz="1600" kern="1200" baseline="0" dirty="0" smtClean="0">
                <a:solidFill>
                  <a:schemeClr val="tx2"/>
                </a:solidFill>
                <a:effectLst/>
                <a:latin typeface="+mn-lt"/>
                <a:ea typeface="+mn-ea"/>
                <a:cs typeface="+mn-cs"/>
              </a:rPr>
              <a:t>Did find evidence that systematic phonics teaching associated with better progress in reading accuracy BUT no significant effect for reading comprehension. </a:t>
            </a:r>
            <a:endParaRPr lang="en-GB" sz="1600" kern="1200" dirty="0" smtClean="0">
              <a:solidFill>
                <a:schemeClr val="tx2"/>
              </a:solidFill>
              <a:effectLst/>
              <a:latin typeface="+mn-lt"/>
              <a:ea typeface="+mn-ea"/>
              <a:cs typeface="+mn-cs"/>
            </a:endParaRPr>
          </a:p>
          <a:p>
            <a:endParaRPr lang="en-GB" sz="1600" kern="1200" baseline="0" dirty="0" smtClean="0">
              <a:solidFill>
                <a:schemeClr val="tx2"/>
              </a:solidFill>
              <a:effectLst/>
              <a:latin typeface="+mn-lt"/>
              <a:ea typeface="+mn-ea"/>
              <a:cs typeface="+mn-cs"/>
            </a:endParaRPr>
          </a:p>
          <a:p>
            <a:r>
              <a:rPr lang="en-GB" sz="1600" kern="1200" baseline="0" dirty="0" smtClean="0">
                <a:solidFill>
                  <a:schemeClr val="tx2"/>
                </a:solidFill>
                <a:effectLst/>
                <a:latin typeface="+mn-lt"/>
                <a:ea typeface="+mn-ea"/>
                <a:cs typeface="+mn-cs"/>
              </a:rPr>
              <a:t>In terms of analytic vs synthetic phonics. There were only three small RCTs that this comparison could be based on. Did report that there was no evidence for either approach being superior and no significant different found between them. This is interesting, as in the Rose report this study is referred to and used as evidence that synthetic approach is superior. </a:t>
            </a:r>
          </a:p>
          <a:p>
            <a:endParaRPr lang="en-GB" sz="1600" kern="1200" baseline="0" dirty="0" smtClean="0">
              <a:solidFill>
                <a:schemeClr val="tx2"/>
              </a:solidFill>
              <a:effectLst/>
              <a:latin typeface="+mn-lt"/>
              <a:ea typeface="+mn-ea"/>
              <a:cs typeface="+mn-cs"/>
            </a:endParaRPr>
          </a:p>
          <a:p>
            <a:r>
              <a:rPr lang="en-GB" sz="1600" kern="1200" baseline="0" dirty="0" smtClean="0">
                <a:solidFill>
                  <a:schemeClr val="tx2"/>
                </a:solidFill>
                <a:effectLst/>
                <a:latin typeface="+mn-lt"/>
                <a:ea typeface="+mn-ea"/>
                <a:cs typeface="+mn-cs"/>
              </a:rPr>
              <a:t>Conclusion: Evidence in review does not suggest reading should be exclusively taught using a phonics approach. Instead, moderate evidence that systematic phonics approach should be used within broader literacy curriculum.</a:t>
            </a:r>
          </a:p>
          <a:p>
            <a:endParaRPr lang="en-GB" sz="1600" kern="1200" baseline="0" dirty="0" smtClean="0">
              <a:solidFill>
                <a:schemeClr val="tx2"/>
              </a:solidFill>
              <a:effectLst/>
              <a:latin typeface="+mn-lt"/>
              <a:ea typeface="+mn-ea"/>
              <a:cs typeface="+mn-cs"/>
            </a:endParaRPr>
          </a:p>
          <a:p>
            <a:r>
              <a:rPr lang="en-GB" sz="1600" kern="1200" baseline="0" dirty="0" smtClean="0">
                <a:solidFill>
                  <a:schemeClr val="tx2"/>
                </a:solidFill>
                <a:effectLst/>
                <a:latin typeface="+mn-lt"/>
                <a:ea typeface="+mn-ea"/>
                <a:cs typeface="+mn-cs"/>
              </a:rPr>
              <a:t>There is an argument that the Rose report places too much weight on synthetic phonics. International research support that systematic phonics instruction is important in early reading programmes.  Although, there is a lack of experimental studies with control groups that identify the important of various factors of systematic phonics instruction. BUT the synthetic phonics approach being superior to other systematic approaches does not have as much support from research evidence.</a:t>
            </a:r>
          </a:p>
          <a:p>
            <a:endParaRPr lang="en-GB" sz="1600" kern="1200" baseline="0" dirty="0" smtClean="0">
              <a:solidFill>
                <a:schemeClr val="tx2"/>
              </a:solidFill>
              <a:effectLst/>
              <a:latin typeface="+mn-lt"/>
              <a:ea typeface="+mn-ea"/>
              <a:cs typeface="+mn-cs"/>
            </a:endParaRPr>
          </a:p>
          <a:p>
            <a:r>
              <a:rPr lang="en-GB" sz="1600" kern="1200" baseline="0" dirty="0" smtClean="0">
                <a:solidFill>
                  <a:schemeClr val="tx2"/>
                </a:solidFill>
                <a:effectLst/>
                <a:latin typeface="+mn-lt"/>
                <a:ea typeface="+mn-ea"/>
                <a:cs typeface="+mn-cs"/>
              </a:rPr>
              <a:t>Again, this is interesting as when looking at government papers (such as Reading by Six), they use the terms systematic and synthetic interchangeably in the report and claim they are the same thing. </a:t>
            </a:r>
          </a:p>
          <a:p>
            <a:endParaRPr lang="en-GB" dirty="0"/>
          </a:p>
        </p:txBody>
      </p:sp>
      <p:sp>
        <p:nvSpPr>
          <p:cNvPr id="4" name="Slide Number Placeholder 3"/>
          <p:cNvSpPr>
            <a:spLocks noGrp="1"/>
          </p:cNvSpPr>
          <p:nvPr>
            <p:ph type="sldNum" sz="quarter" idx="10"/>
          </p:nvPr>
        </p:nvSpPr>
        <p:spPr/>
        <p:txBody>
          <a:bodyPr/>
          <a:lstStyle/>
          <a:p>
            <a:fld id="{B8796F01-7154-41E0-B48B-A6921757531A}" type="slidenum">
              <a:rPr lang="en-GB" smtClean="0"/>
              <a:pPr/>
              <a:t>10</a:t>
            </a:fld>
            <a:endParaRPr lang="en-GB"/>
          </a:p>
        </p:txBody>
      </p:sp>
    </p:spTree>
    <p:extLst>
      <p:ext uri="{BB962C8B-B14F-4D97-AF65-F5344CB8AC3E}">
        <p14:creationId xmlns:p14="http://schemas.microsoft.com/office/powerpoint/2010/main" val="33148102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GB" dirty="0" smtClean="0"/>
              <a:t>Choice of reading material severely restricted. Have to wait to acquire new skills between books &amp; may spend less time practising and applying skills</a:t>
            </a:r>
            <a:endParaRPr lang="en-GB" sz="1800" dirty="0" smtClean="0"/>
          </a:p>
          <a:p>
            <a:endParaRPr lang="en-GB" dirty="0" smtClean="0"/>
          </a:p>
          <a:p>
            <a:r>
              <a:rPr lang="en-GB" dirty="0" err="1" smtClean="0"/>
              <a:t>Solity</a:t>
            </a:r>
            <a:r>
              <a:rPr lang="en-GB" dirty="0" smtClean="0"/>
              <a:t> &amp; </a:t>
            </a:r>
            <a:r>
              <a:rPr lang="en-GB" dirty="0" err="1" smtClean="0"/>
              <a:t>Vousden</a:t>
            </a:r>
            <a:r>
              <a:rPr lang="en-GB" dirty="0" smtClean="0"/>
              <a:t> (2009) </a:t>
            </a:r>
            <a:r>
              <a:rPr lang="en-GB" sz="1600" kern="1200" dirty="0" smtClean="0">
                <a:solidFill>
                  <a:schemeClr val="tx2"/>
                </a:solidFill>
                <a:effectLst/>
                <a:latin typeface="+mn-lt"/>
                <a:ea typeface="+mn-ea"/>
                <a:cs typeface="+mn-cs"/>
              </a:rPr>
              <a:t>Analysed structures of adult books, children’s real books and reading schemes. Looking at demands they make on children’s sight vocabulary and phonic skills.</a:t>
            </a:r>
          </a:p>
          <a:p>
            <a:r>
              <a:rPr lang="en-GB" sz="1600" kern="1200" dirty="0" smtClean="0">
                <a:solidFill>
                  <a:schemeClr val="tx2"/>
                </a:solidFill>
                <a:effectLst/>
                <a:latin typeface="+mn-lt"/>
                <a:ea typeface="+mn-ea"/>
                <a:cs typeface="+mn-cs"/>
              </a:rPr>
              <a:t>Identified that real books offer children same opportunities to develop sight vocabulary and phonic skills as reading schemes.</a:t>
            </a:r>
          </a:p>
          <a:p>
            <a:r>
              <a:rPr lang="en-GB" sz="1600" kern="1200" dirty="0" smtClean="0">
                <a:solidFill>
                  <a:schemeClr val="tx2"/>
                </a:solidFill>
                <a:effectLst/>
                <a:latin typeface="+mn-lt"/>
                <a:ea typeface="+mn-ea"/>
                <a:cs typeface="+mn-cs"/>
              </a:rPr>
              <a:t>Identified an ‘optimal level’ of core phonological, phonic, and sight vocabulary skills that should be taught rigorously and systematically in conjunction with the use of real books, to support children to read effectively.</a:t>
            </a:r>
          </a:p>
          <a:p>
            <a:endParaRPr lang="en-GB" dirty="0" smtClean="0"/>
          </a:p>
          <a:p>
            <a:endParaRPr lang="en-GB" dirty="0"/>
          </a:p>
        </p:txBody>
      </p:sp>
      <p:sp>
        <p:nvSpPr>
          <p:cNvPr id="4" name="Slide Number Placeholder 3"/>
          <p:cNvSpPr>
            <a:spLocks noGrp="1"/>
          </p:cNvSpPr>
          <p:nvPr>
            <p:ph type="sldNum" sz="quarter" idx="10"/>
          </p:nvPr>
        </p:nvSpPr>
        <p:spPr/>
        <p:txBody>
          <a:bodyPr/>
          <a:lstStyle/>
          <a:p>
            <a:fld id="{B8796F01-7154-41E0-B48B-A6921757531A}" type="slidenum">
              <a:rPr lang="en-GB" smtClean="0"/>
              <a:pPr/>
              <a:t>11</a:t>
            </a:fld>
            <a:endParaRPr lang="en-GB"/>
          </a:p>
        </p:txBody>
      </p:sp>
    </p:spTree>
    <p:extLst>
      <p:ext uri="{BB962C8B-B14F-4D97-AF65-F5344CB8AC3E}">
        <p14:creationId xmlns:p14="http://schemas.microsoft.com/office/powerpoint/2010/main" val="36483083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600" kern="1200" baseline="0" dirty="0" smtClean="0">
                <a:solidFill>
                  <a:schemeClr val="tx2"/>
                </a:solidFill>
                <a:effectLst/>
                <a:latin typeface="+mn-lt"/>
                <a:ea typeface="+mn-ea"/>
                <a:cs typeface="+mn-cs"/>
              </a:rPr>
              <a:t>Read Write </a:t>
            </a:r>
            <a:r>
              <a:rPr lang="en-GB" sz="1600" kern="1200" baseline="0" dirty="0" err="1" smtClean="0">
                <a:solidFill>
                  <a:schemeClr val="tx2"/>
                </a:solidFill>
                <a:effectLst/>
                <a:latin typeface="+mn-lt"/>
                <a:ea typeface="+mn-ea"/>
                <a:cs typeface="+mn-cs"/>
              </a:rPr>
              <a:t>Inc</a:t>
            </a:r>
            <a:r>
              <a:rPr lang="en-GB" sz="1600" kern="1200" baseline="0" dirty="0" smtClean="0">
                <a:solidFill>
                  <a:schemeClr val="tx2"/>
                </a:solidFill>
                <a:effectLst/>
                <a:latin typeface="+mn-lt"/>
                <a:ea typeface="+mn-ea"/>
                <a:cs typeface="+mn-cs"/>
              </a:rPr>
              <a:t> programme lists some other key principles. Think about these, as part of what makes it ‘unique’</a:t>
            </a:r>
            <a:endParaRPr lang="en-GB" sz="1600" kern="1200" dirty="0" smtClean="0">
              <a:solidFill>
                <a:schemeClr val="tx2"/>
              </a:solidFill>
              <a:effectLst/>
              <a:latin typeface="+mn-lt"/>
              <a:ea typeface="+mn-ea"/>
              <a:cs typeface="+mn-cs"/>
            </a:endParaRPr>
          </a:p>
          <a:p>
            <a:pPr marL="0" marR="0" indent="0" algn="l" defTabSz="1218987" rtl="0" eaLnBrk="1" fontAlgn="auto" latinLnBrk="0" hangingPunct="1">
              <a:lnSpc>
                <a:spcPct val="100000"/>
              </a:lnSpc>
              <a:spcBef>
                <a:spcPts val="0"/>
              </a:spcBef>
              <a:spcAft>
                <a:spcPts val="0"/>
              </a:spcAft>
              <a:buClrTx/>
              <a:buSzTx/>
              <a:buFontTx/>
              <a:buNone/>
              <a:tabLst/>
              <a:defRPr/>
            </a:pPr>
            <a:endParaRPr lang="en-GB" sz="1600" kern="1200" dirty="0" smtClean="0">
              <a:solidFill>
                <a:schemeClr val="tx2"/>
              </a:solidFill>
              <a:effectLst/>
              <a:latin typeface="+mn-lt"/>
              <a:ea typeface="+mn-ea"/>
              <a:cs typeface="+mn-cs"/>
            </a:endParaRPr>
          </a:p>
          <a:p>
            <a:r>
              <a:rPr lang="en-GB" sz="1600" kern="1200" dirty="0" smtClean="0">
                <a:solidFill>
                  <a:schemeClr val="tx2"/>
                </a:solidFill>
                <a:effectLst/>
                <a:latin typeface="+mn-lt"/>
                <a:ea typeface="+mn-ea"/>
                <a:cs typeface="+mn-cs"/>
              </a:rPr>
              <a:t>Training - Read write </a:t>
            </a:r>
            <a:r>
              <a:rPr lang="en-GB" sz="1600" kern="1200" dirty="0" err="1" smtClean="0">
                <a:solidFill>
                  <a:schemeClr val="tx2"/>
                </a:solidFill>
                <a:effectLst/>
                <a:latin typeface="+mn-lt"/>
                <a:ea typeface="+mn-ea"/>
                <a:cs typeface="+mn-cs"/>
              </a:rPr>
              <a:t>inc</a:t>
            </a:r>
            <a:r>
              <a:rPr lang="en-GB" sz="1600" kern="1200" dirty="0" smtClean="0">
                <a:solidFill>
                  <a:schemeClr val="tx2"/>
                </a:solidFill>
                <a:effectLst/>
                <a:latin typeface="+mn-lt"/>
                <a:ea typeface="+mn-ea"/>
                <a:cs typeface="+mn-cs"/>
              </a:rPr>
              <a:t> is one of the only commercial programmes that</a:t>
            </a:r>
            <a:r>
              <a:rPr lang="en-GB" sz="1600" kern="1200" baseline="0" dirty="0" smtClean="0">
                <a:solidFill>
                  <a:schemeClr val="tx2"/>
                </a:solidFill>
                <a:effectLst/>
                <a:latin typeface="+mn-lt"/>
                <a:ea typeface="+mn-ea"/>
                <a:cs typeface="+mn-cs"/>
              </a:rPr>
              <a:t> offers whole school training packages.</a:t>
            </a:r>
            <a:r>
              <a:rPr lang="en-GB" sz="1600" kern="1200" dirty="0" smtClean="0">
                <a:solidFill>
                  <a:schemeClr val="tx2"/>
                </a:solidFill>
                <a:effectLst/>
                <a:latin typeface="+mn-lt"/>
                <a:ea typeface="+mn-ea"/>
                <a:cs typeface="+mn-cs"/>
              </a:rPr>
              <a:t> Provides professional development for teachers, can access ongoing training and development days. </a:t>
            </a:r>
            <a:endParaRPr lang="en-GB" sz="1600" b="0" i="0" u="none" strike="noStrike" kern="1200" baseline="0" dirty="0" smtClean="0">
              <a:solidFill>
                <a:schemeClr val="tx2"/>
              </a:solidFill>
              <a:latin typeface="+mn-lt"/>
              <a:ea typeface="+mn-ea"/>
              <a:cs typeface="+mn-cs"/>
            </a:endParaRPr>
          </a:p>
          <a:p>
            <a:endParaRPr lang="en-GB" sz="1600" b="0" i="0" u="none" strike="noStrike" kern="1200" baseline="0" dirty="0" smtClean="0">
              <a:solidFill>
                <a:schemeClr val="tx2"/>
              </a:solidFill>
              <a:latin typeface="+mn-lt"/>
              <a:ea typeface="+mn-ea"/>
              <a:cs typeface="+mn-cs"/>
            </a:endParaRPr>
          </a:p>
          <a:p>
            <a:r>
              <a:rPr lang="en-GB" sz="1600" b="0" i="0" u="none" strike="noStrike" kern="1200" baseline="0" dirty="0" smtClean="0">
                <a:solidFill>
                  <a:schemeClr val="tx2"/>
                </a:solidFill>
                <a:latin typeface="+mn-lt"/>
                <a:ea typeface="+mn-ea"/>
                <a:cs typeface="+mn-cs"/>
              </a:rPr>
              <a:t>Eurydice study which looked at reading practices across Europe -  </a:t>
            </a:r>
            <a:r>
              <a:rPr lang="en-GB" sz="1600" b="0" i="0" u="none" strike="noStrike" kern="1200" baseline="0" dirty="0" smtClean="0">
                <a:solidFill>
                  <a:schemeClr val="tx2"/>
                </a:solidFill>
                <a:latin typeface="+mn-lt"/>
                <a:ea typeface="+mn-ea"/>
                <a:cs typeface="+mn-cs"/>
              </a:rPr>
              <a:t>For  </a:t>
            </a:r>
            <a:r>
              <a:rPr lang="en-GB" sz="1600" b="0" i="0" u="none" strike="noStrike" kern="1200" baseline="0" dirty="0" smtClean="0">
                <a:solidFill>
                  <a:schemeClr val="tx2"/>
                </a:solidFill>
                <a:latin typeface="+mn-lt"/>
                <a:ea typeface="+mn-ea"/>
                <a:cs typeface="+mn-cs"/>
              </a:rPr>
              <a:t>CPD of teachers in reading, highlighted importance of developing shared knowledge and an inclusive approach. However RWI perhaps limits teachers understanding to one approach rather than developing reflective, research-oriented practice. </a:t>
            </a:r>
          </a:p>
          <a:p>
            <a:r>
              <a:rPr lang="en-GB" sz="1600" kern="1200" dirty="0" smtClean="0">
                <a:solidFill>
                  <a:schemeClr val="tx2"/>
                </a:solidFill>
                <a:effectLst/>
                <a:latin typeface="+mn-lt"/>
                <a:ea typeface="+mn-ea"/>
                <a:cs typeface="+mn-cs"/>
              </a:rPr>
              <a:t> </a:t>
            </a:r>
          </a:p>
          <a:p>
            <a:r>
              <a:rPr lang="en-GB" sz="1600" kern="1200" dirty="0" smtClean="0">
                <a:solidFill>
                  <a:schemeClr val="tx2"/>
                </a:solidFill>
                <a:effectLst/>
                <a:latin typeface="+mn-lt"/>
                <a:ea typeface="+mn-ea"/>
                <a:cs typeface="+mn-cs"/>
              </a:rPr>
              <a:t>Hall &amp; Harding (2003) </a:t>
            </a:r>
            <a:r>
              <a:rPr lang="en-GB" dirty="0" smtClean="0"/>
              <a:t>A systematic review of effective literacy teaching in the 4 to14 age range of mainstream schooling. </a:t>
            </a:r>
            <a:r>
              <a:rPr lang="en-GB" sz="1600" kern="1200" dirty="0" smtClean="0">
                <a:solidFill>
                  <a:schemeClr val="tx2"/>
                </a:solidFill>
                <a:effectLst/>
                <a:latin typeface="+mn-lt"/>
                <a:ea typeface="+mn-ea"/>
                <a:cs typeface="+mn-cs"/>
              </a:rPr>
              <a:t>Research suggests that effective teachers of literacy consciously and skilfully balance direct skills instruction with more holistic, contextually grounded literacy activities. There is no single best method for teaching literacy that works for all children. Successful teachers tailor their teaching to suit individual circumstances; they build up knowledge of their learners and use that knowledge to advance their skills and understanding. Teachers’ ways of working can  be more important than reliance on a particular package of materials</a:t>
            </a:r>
          </a:p>
          <a:p>
            <a:endParaRPr lang="en-GB" sz="1600" kern="1200" dirty="0" smtClean="0">
              <a:solidFill>
                <a:schemeClr val="tx2"/>
              </a:solidFill>
              <a:effectLst/>
              <a:latin typeface="+mn-lt"/>
              <a:ea typeface="+mn-ea"/>
              <a:cs typeface="+mn-cs"/>
            </a:endParaRPr>
          </a:p>
          <a:p>
            <a:pPr marL="0" marR="0" indent="0" algn="l" defTabSz="1218987" rtl="0" eaLnBrk="1" fontAlgn="auto" latinLnBrk="0" hangingPunct="1">
              <a:lnSpc>
                <a:spcPct val="100000"/>
              </a:lnSpc>
              <a:spcBef>
                <a:spcPts val="0"/>
              </a:spcBef>
              <a:spcAft>
                <a:spcPts val="0"/>
              </a:spcAft>
              <a:buClrTx/>
              <a:buSzTx/>
              <a:buFontTx/>
              <a:buNone/>
              <a:tabLst/>
              <a:defRPr/>
            </a:pPr>
            <a:endParaRPr lang="en-GB" sz="1600" kern="1200" dirty="0" smtClean="0">
              <a:solidFill>
                <a:schemeClr val="tx2"/>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B8796F01-7154-41E0-B48B-A6921757531A}" type="slidenum">
              <a:rPr lang="en-GB" smtClean="0"/>
              <a:pPr/>
              <a:t>12</a:t>
            </a:fld>
            <a:endParaRPr lang="en-GB"/>
          </a:p>
        </p:txBody>
      </p:sp>
    </p:spTree>
    <p:extLst>
      <p:ext uri="{BB962C8B-B14F-4D97-AF65-F5344CB8AC3E}">
        <p14:creationId xmlns:p14="http://schemas.microsoft.com/office/powerpoint/2010/main" val="3176411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GB" sz="1600" kern="1200" dirty="0" smtClean="0">
                <a:solidFill>
                  <a:schemeClr val="tx2"/>
                </a:solidFill>
                <a:effectLst/>
                <a:latin typeface="+mn-lt"/>
                <a:ea typeface="+mn-ea"/>
                <a:cs typeface="+mn-cs"/>
              </a:rPr>
              <a:t>Systematic phonics instruction by itself does not help students acquire all the processes they need to become successful readers. Learning about phonics</a:t>
            </a:r>
            <a:r>
              <a:rPr lang="en-GB" sz="1600" kern="1200" baseline="0" dirty="0" smtClean="0">
                <a:solidFill>
                  <a:schemeClr val="tx2"/>
                </a:solidFill>
                <a:effectLst/>
                <a:latin typeface="+mn-lt"/>
                <a:ea typeface="+mn-ea"/>
                <a:cs typeface="+mn-cs"/>
              </a:rPr>
              <a:t> is a tiny part of learning to read. </a:t>
            </a:r>
            <a:r>
              <a:rPr lang="en-GB" sz="1600" kern="1200" dirty="0" smtClean="0">
                <a:solidFill>
                  <a:schemeClr val="tx2"/>
                </a:solidFill>
                <a:effectLst/>
                <a:latin typeface="+mn-lt"/>
                <a:ea typeface="+mn-ea"/>
                <a:cs typeface="+mn-cs"/>
              </a:rPr>
              <a:t>Acquisition</a:t>
            </a:r>
            <a:r>
              <a:rPr lang="en-GB" sz="1600" kern="1200" baseline="0" dirty="0" smtClean="0">
                <a:solidFill>
                  <a:schemeClr val="tx2"/>
                </a:solidFill>
                <a:effectLst/>
                <a:latin typeface="+mn-lt"/>
                <a:ea typeface="+mn-ea"/>
                <a:cs typeface="+mn-cs"/>
              </a:rPr>
              <a:t> of reading is a complex process. </a:t>
            </a:r>
            <a:r>
              <a:rPr lang="en-GB" sz="1600" kern="1200" dirty="0" smtClean="0">
                <a:solidFill>
                  <a:schemeClr val="tx2"/>
                </a:solidFill>
                <a:effectLst/>
                <a:latin typeface="+mn-lt"/>
                <a:ea typeface="+mn-ea"/>
                <a:cs typeface="+mn-cs"/>
              </a:rPr>
              <a:t>Research shows acquisition</a:t>
            </a:r>
            <a:r>
              <a:rPr lang="en-GB" sz="1600" kern="1200" baseline="0" dirty="0" smtClean="0">
                <a:solidFill>
                  <a:schemeClr val="tx2"/>
                </a:solidFill>
                <a:effectLst/>
                <a:latin typeface="+mn-lt"/>
                <a:ea typeface="+mn-ea"/>
                <a:cs typeface="+mn-cs"/>
              </a:rPr>
              <a:t> of reading skills can be influenced by variety of factors. Learning to read requires a high degree of effort and motivation.  </a:t>
            </a:r>
            <a:r>
              <a:rPr lang="en-GB" sz="1600" kern="1200" dirty="0" smtClean="0">
                <a:solidFill>
                  <a:schemeClr val="tx2"/>
                </a:solidFill>
                <a:effectLst/>
                <a:latin typeface="+mn-lt"/>
                <a:ea typeface="+mn-ea"/>
                <a:cs typeface="+mn-cs"/>
              </a:rPr>
              <a:t>High reading motivation and positive attitudes towards reading are associated with higher reading achievement and frequent reading (Baker &amp; </a:t>
            </a:r>
            <a:r>
              <a:rPr lang="en-GB" sz="1600" kern="1200" dirty="0" err="1" smtClean="0">
                <a:solidFill>
                  <a:schemeClr val="tx2"/>
                </a:solidFill>
                <a:effectLst/>
                <a:latin typeface="+mn-lt"/>
                <a:ea typeface="+mn-ea"/>
                <a:cs typeface="+mn-cs"/>
              </a:rPr>
              <a:t>Wigfield</a:t>
            </a:r>
            <a:r>
              <a:rPr lang="en-GB" sz="1600" kern="1200" dirty="0" smtClean="0">
                <a:solidFill>
                  <a:schemeClr val="tx2"/>
                </a:solidFill>
                <a:effectLst/>
                <a:latin typeface="+mn-lt"/>
                <a:ea typeface="+mn-ea"/>
                <a:cs typeface="+mn-cs"/>
              </a:rPr>
              <a:t>, 1999).</a:t>
            </a:r>
          </a:p>
          <a:p>
            <a:pPr marL="0" marR="0" indent="0" algn="l" defTabSz="1218987" rtl="0" eaLnBrk="1" fontAlgn="auto" latinLnBrk="0" hangingPunct="1">
              <a:lnSpc>
                <a:spcPct val="100000"/>
              </a:lnSpc>
              <a:spcBef>
                <a:spcPts val="0"/>
              </a:spcBef>
              <a:spcAft>
                <a:spcPts val="0"/>
              </a:spcAft>
              <a:buClrTx/>
              <a:buSzTx/>
              <a:buFontTx/>
              <a:buNone/>
              <a:tabLst/>
              <a:defRPr/>
            </a:pPr>
            <a:endParaRPr lang="en-GB" dirty="0" smtClean="0"/>
          </a:p>
          <a:p>
            <a:pPr marL="0" marR="0" indent="0" algn="l" defTabSz="1218987" rtl="0" eaLnBrk="1" fontAlgn="auto" latinLnBrk="0" hangingPunct="1">
              <a:lnSpc>
                <a:spcPct val="100000"/>
              </a:lnSpc>
              <a:spcBef>
                <a:spcPts val="0"/>
              </a:spcBef>
              <a:spcAft>
                <a:spcPts val="0"/>
              </a:spcAft>
              <a:buClrTx/>
              <a:buSzTx/>
              <a:buFontTx/>
              <a:buNone/>
              <a:tabLst/>
              <a:defRPr/>
            </a:pPr>
            <a:r>
              <a:rPr lang="en-GB" dirty="0" smtClean="0"/>
              <a:t>Current trend</a:t>
            </a:r>
            <a:r>
              <a:rPr lang="en-GB" baseline="0" dirty="0" smtClean="0"/>
              <a:t> of synthetic phonics – government big on this, perhaps to the detriment of other approaches &amp; areas of literacy. Wonder about the influence of the phonics screening test. Are schools experiencing downward pressure to implement reading schemes, such as Read Write </a:t>
            </a:r>
            <a:r>
              <a:rPr lang="en-GB" baseline="0" dirty="0" err="1" smtClean="0"/>
              <a:t>Inc</a:t>
            </a:r>
            <a:r>
              <a:rPr lang="en-GB" baseline="0" dirty="0" smtClean="0"/>
              <a:t>?</a:t>
            </a:r>
            <a:endParaRPr lang="en-GB" dirty="0" smtClean="0"/>
          </a:p>
          <a:p>
            <a:pPr marL="0" marR="0" indent="0" algn="l" defTabSz="1218987" rtl="0" eaLnBrk="1" fontAlgn="auto" latinLnBrk="0" hangingPunct="1">
              <a:lnSpc>
                <a:spcPct val="100000"/>
              </a:lnSpc>
              <a:spcBef>
                <a:spcPts val="0"/>
              </a:spcBef>
              <a:spcAft>
                <a:spcPts val="0"/>
              </a:spcAft>
              <a:buClrTx/>
              <a:buSzTx/>
              <a:buFontTx/>
              <a:buNone/>
              <a:tabLst/>
              <a:defRPr/>
            </a:pPr>
            <a:endParaRPr lang="en-GB" dirty="0" smtClean="0"/>
          </a:p>
          <a:p>
            <a:pPr marL="0" marR="0" indent="0" algn="l" defTabSz="1218987" rtl="0" eaLnBrk="1" fontAlgn="auto" latinLnBrk="0" hangingPunct="1">
              <a:lnSpc>
                <a:spcPct val="100000"/>
              </a:lnSpc>
              <a:spcBef>
                <a:spcPts val="0"/>
              </a:spcBef>
              <a:spcAft>
                <a:spcPts val="0"/>
              </a:spcAft>
              <a:buClrTx/>
              <a:buSzTx/>
              <a:buFontTx/>
              <a:buNone/>
              <a:tabLst/>
              <a:defRPr/>
            </a:pPr>
            <a:r>
              <a:rPr lang="en-GB" dirty="0" smtClean="0"/>
              <a:t>Teachers</a:t>
            </a:r>
            <a:r>
              <a:rPr lang="en-GB" baseline="0" dirty="0" smtClean="0"/>
              <a:t> should use a wide range of literary texts (fiction/non-fiction books and magazines and newspapers), not rely on reading scheme books. </a:t>
            </a:r>
            <a:r>
              <a:rPr lang="en-GB" sz="1600" b="0" i="0" u="none" strike="noStrike" kern="1200" baseline="0" dirty="0" smtClean="0">
                <a:solidFill>
                  <a:schemeClr val="tx2"/>
                </a:solidFill>
                <a:latin typeface="+mn-lt"/>
                <a:ea typeface="+mn-ea"/>
                <a:cs typeface="+mn-cs"/>
              </a:rPr>
              <a:t>Integrates skills teaching with more authentic, contextually-grounded literacy activities, responding to the interests of the learner and the literacy contexts of their homes and communities’’</a:t>
            </a:r>
            <a:r>
              <a:rPr lang="en-GB" baseline="0" dirty="0" smtClean="0"/>
              <a:t> Motivation! Especially for readers who take longer to complete the scheme</a:t>
            </a:r>
          </a:p>
          <a:p>
            <a:endParaRPr lang="en-GB" sz="1600" b="0" i="0" u="none" strike="noStrike" kern="1200" baseline="0" dirty="0" smtClean="0">
              <a:solidFill>
                <a:schemeClr val="tx2"/>
              </a:solidFill>
              <a:latin typeface="+mn-lt"/>
              <a:ea typeface="+mn-ea"/>
              <a:cs typeface="+mn-cs"/>
            </a:endParaRPr>
          </a:p>
          <a:p>
            <a:r>
              <a:rPr lang="en-GB" sz="1600" b="0" i="0" u="none" strike="noStrike" kern="1200" baseline="0" dirty="0" smtClean="0">
                <a:solidFill>
                  <a:schemeClr val="tx2"/>
                </a:solidFill>
                <a:latin typeface="+mn-lt"/>
                <a:ea typeface="+mn-ea"/>
                <a:cs typeface="+mn-cs"/>
              </a:rPr>
              <a:t>Evidence indicates that some teaching strategies are more effective in the acquisition of reading than others, no one approach of itself can address the complex nature of reading difficulties. An integrated approach requires that teachers have a thorough understanding of a range of effective strategies, as well as knowing when and why to apply them’.</a:t>
            </a:r>
          </a:p>
          <a:p>
            <a:endParaRPr lang="en-GB" dirty="0" smtClean="0"/>
          </a:p>
          <a:p>
            <a:pPr marL="0" marR="0" indent="0" algn="l" defTabSz="1218987" rtl="0" eaLnBrk="1" fontAlgn="auto" latinLnBrk="0" hangingPunct="1">
              <a:lnSpc>
                <a:spcPct val="100000"/>
              </a:lnSpc>
              <a:spcBef>
                <a:spcPts val="0"/>
              </a:spcBef>
              <a:spcAft>
                <a:spcPts val="0"/>
              </a:spcAft>
              <a:buClrTx/>
              <a:buSzTx/>
              <a:buFontTx/>
              <a:buNone/>
              <a:tabLst/>
              <a:defRPr/>
            </a:pPr>
            <a:r>
              <a:rPr lang="en-GB" dirty="0" smtClean="0"/>
              <a:t>Very clear</a:t>
            </a:r>
            <a:r>
              <a:rPr lang="en-GB" baseline="0" dirty="0" smtClean="0"/>
              <a:t> message that must be consistent/whole school… what about the individuals who don’t succeed? Need a different style of teaching?</a:t>
            </a:r>
          </a:p>
          <a:p>
            <a:pPr marL="0" marR="0" indent="0" algn="l" defTabSz="1218987" rtl="0" eaLnBrk="1" fontAlgn="auto" latinLnBrk="0" hangingPunct="1">
              <a:lnSpc>
                <a:spcPct val="100000"/>
              </a:lnSpc>
              <a:spcBef>
                <a:spcPts val="0"/>
              </a:spcBef>
              <a:spcAft>
                <a:spcPts val="0"/>
              </a:spcAft>
              <a:buClrTx/>
              <a:buSzTx/>
              <a:buFontTx/>
              <a:buNone/>
              <a:tabLst/>
              <a:defRPr/>
            </a:pPr>
            <a:endParaRPr lang="en-GB" baseline="0" dirty="0" smtClean="0"/>
          </a:p>
          <a:p>
            <a:pPr marL="0" marR="0" indent="0" algn="l" defTabSz="1218987" rtl="0" eaLnBrk="1" fontAlgn="auto" latinLnBrk="0" hangingPunct="1">
              <a:lnSpc>
                <a:spcPct val="100000"/>
              </a:lnSpc>
              <a:spcBef>
                <a:spcPts val="0"/>
              </a:spcBef>
              <a:spcAft>
                <a:spcPts val="0"/>
              </a:spcAft>
              <a:buClrTx/>
              <a:buSzTx/>
              <a:buFontTx/>
              <a:buNone/>
              <a:tabLst/>
              <a:defRPr/>
            </a:pPr>
            <a:endParaRPr lang="en-GB" sz="1600" kern="1200" dirty="0" smtClean="0">
              <a:solidFill>
                <a:schemeClr val="tx2"/>
              </a:solidFill>
              <a:effectLst/>
              <a:latin typeface="+mn-lt"/>
              <a:ea typeface="+mn-ea"/>
              <a:cs typeface="+mn-cs"/>
            </a:endParaRPr>
          </a:p>
          <a:p>
            <a:endParaRPr lang="en-GB" dirty="0" smtClean="0"/>
          </a:p>
        </p:txBody>
      </p:sp>
      <p:sp>
        <p:nvSpPr>
          <p:cNvPr id="4" name="Slide Number Placeholder 3"/>
          <p:cNvSpPr>
            <a:spLocks noGrp="1"/>
          </p:cNvSpPr>
          <p:nvPr>
            <p:ph type="sldNum" sz="quarter" idx="10"/>
          </p:nvPr>
        </p:nvSpPr>
        <p:spPr/>
        <p:txBody>
          <a:bodyPr/>
          <a:lstStyle/>
          <a:p>
            <a:fld id="{B8796F01-7154-41E0-B48B-A6921757531A}" type="slidenum">
              <a:rPr lang="en-GB" smtClean="0"/>
              <a:pPr/>
              <a:t>13</a:t>
            </a:fld>
            <a:endParaRPr lang="en-GB"/>
          </a:p>
        </p:txBody>
      </p:sp>
    </p:spTree>
    <p:extLst>
      <p:ext uri="{BB962C8B-B14F-4D97-AF65-F5344CB8AC3E}">
        <p14:creationId xmlns:p14="http://schemas.microsoft.com/office/powerpoint/2010/main" val="38420431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672383" y="1498601"/>
            <a:ext cx="7008574" cy="3298825"/>
          </a:xfrm>
        </p:spPr>
        <p:txBody>
          <a:bodyPr>
            <a:normAutofit/>
          </a:bodyPr>
          <a:lstStyle>
            <a:lvl1pPr>
              <a:lnSpc>
                <a:spcPct val="90000"/>
              </a:lnSpc>
              <a:defRPr sz="5400" cap="none" baseline="0"/>
            </a:lvl1pPr>
          </a:lstStyle>
          <a:p>
            <a:r>
              <a:rPr lang="en-US" smtClean="0"/>
              <a:t>Click to edit Master title style</a:t>
            </a:r>
            <a:endParaRPr/>
          </a:p>
        </p:txBody>
      </p:sp>
      <p:sp>
        <p:nvSpPr>
          <p:cNvPr id="3" name="Subtitle 2"/>
          <p:cNvSpPr>
            <a:spLocks noGrp="1"/>
          </p:cNvSpPr>
          <p:nvPr>
            <p:ph type="subTitle" idx="1"/>
          </p:nvPr>
        </p:nvSpPr>
        <p:spPr>
          <a:xfrm>
            <a:off x="4672383" y="4927600"/>
            <a:ext cx="7008574" cy="1244600"/>
          </a:xfrm>
        </p:spPr>
        <p:txBody>
          <a:bodyPr>
            <a:normAutofit/>
          </a:bodyPr>
          <a:lstStyle>
            <a:lvl1pPr marL="0" indent="0" algn="l">
              <a:spcBef>
                <a:spcPts val="0"/>
              </a:spcBef>
              <a:buNone/>
              <a:defRPr sz="2800" b="0">
                <a:solidFill>
                  <a:schemeClr val="tx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smtClean="0"/>
              <a:t>Click to edit Master subtitle style</a:t>
            </a:r>
            <a:endParaRPr/>
          </a:p>
        </p:txBody>
      </p:sp>
    </p:spTree>
    <p:extLst>
      <p:ext uri="{BB962C8B-B14F-4D97-AF65-F5344CB8AC3E}">
        <p14:creationId xmlns:p14="http://schemas.microsoft.com/office/powerpoint/2010/main" val="3222770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8B5A30F4-0B4E-4E4B-BC36-C30CD13F4E17}" type="datetimeFigureOut">
              <a:rPr lang="en-US"/>
              <a:t>12/17/2015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DA60BA0E-20D0-4E7C-B286-26C960A6788F}" type="slidenum">
              <a:rPr/>
              <a:t>‹#›</a:t>
            </a:fld>
            <a:endParaRPr/>
          </a:p>
        </p:txBody>
      </p:sp>
    </p:spTree>
    <p:extLst>
      <p:ext uri="{BB962C8B-B14F-4D97-AF65-F5344CB8AC3E}">
        <p14:creationId xmlns:p14="http://schemas.microsoft.com/office/powerpoint/2010/main" val="1563524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2589" y="4445000"/>
            <a:ext cx="7008574" cy="1930400"/>
          </a:xfrm>
        </p:spPr>
        <p:txBody>
          <a:bodyPr anchor="t">
            <a:normAutofit/>
          </a:bodyPr>
          <a:lstStyle>
            <a:lvl1pPr algn="l">
              <a:defRPr sz="5400" b="0" cap="none" baseline="0"/>
            </a:lvl1pPr>
          </a:lstStyle>
          <a:p>
            <a:r>
              <a:rPr lang="en-US" smtClean="0"/>
              <a:t>Click to edit Master title style</a:t>
            </a:r>
            <a:endParaRPr/>
          </a:p>
        </p:txBody>
      </p:sp>
      <p:sp>
        <p:nvSpPr>
          <p:cNvPr id="3" name="Text Placeholder 2"/>
          <p:cNvSpPr>
            <a:spLocks noGrp="1"/>
          </p:cNvSpPr>
          <p:nvPr>
            <p:ph type="body" idx="1"/>
          </p:nvPr>
        </p:nvSpPr>
        <p:spPr>
          <a:xfrm>
            <a:off x="812589" y="3124200"/>
            <a:ext cx="7008574" cy="1296987"/>
          </a:xfrm>
        </p:spPr>
        <p:txBody>
          <a:bodyPr anchor="b">
            <a:normAutofit/>
          </a:bodyPr>
          <a:lstStyle>
            <a:lvl1pPr marL="0" indent="0">
              <a:spcBef>
                <a:spcPts val="0"/>
              </a:spcBef>
              <a:buNone/>
              <a:defRPr sz="2800">
                <a:solidFill>
                  <a:schemeClr val="tx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smtClean="0"/>
              <a:t>Click to edit Master text styles</a:t>
            </a:r>
          </a:p>
        </p:txBody>
      </p:sp>
    </p:spTree>
    <p:extLst>
      <p:ext uri="{BB962C8B-B14F-4D97-AF65-F5344CB8AC3E}">
        <p14:creationId xmlns:p14="http://schemas.microsoft.com/office/powerpoint/2010/main" val="41963402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11730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011328">
              <a:defRPr sz="1800"/>
            </a:lvl6pPr>
            <a:lvl7pPr marL="2011328">
              <a:defRPr sz="1800"/>
            </a:lvl7pPr>
            <a:lvl8pPr marL="2011328">
              <a:defRPr sz="1800"/>
            </a:lvl8pPr>
            <a:lvl9pPr marL="2011328">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29755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011328">
              <a:defRPr sz="1800"/>
            </a:lvl6pPr>
            <a:lvl7pPr marL="2011328">
              <a:defRPr sz="1800"/>
            </a:lvl7pPr>
            <a:lvl8pPr marL="2011328">
              <a:defRPr sz="1800"/>
            </a:lvl8pPr>
            <a:lvl9pPr marL="2011328">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2DD204D1-F9BD-4643-8480-6EA41EB484F1}" type="datetimeFigureOut">
              <a:rPr lang="en-US"/>
              <a:t>12/17/2015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EB37DED6-D4C7-42EE-AB49-D2E39E64FDE4}" type="slidenum">
              <a:rPr/>
              <a:t>‹#›</a:t>
            </a:fld>
            <a:endParaRPr/>
          </a:p>
        </p:txBody>
      </p:sp>
    </p:spTree>
    <p:extLst>
      <p:ext uri="{BB962C8B-B14F-4D97-AF65-F5344CB8AC3E}">
        <p14:creationId xmlns:p14="http://schemas.microsoft.com/office/powerpoint/2010/main" val="3489339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112137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smtClean="0"/>
              <a:t>Click to edit Master text styles</a:t>
            </a:r>
          </a:p>
        </p:txBody>
      </p:sp>
      <p:sp>
        <p:nvSpPr>
          <p:cNvPr id="4" name="Content Placeholder 3"/>
          <p:cNvSpPr>
            <a:spLocks noGrp="1"/>
          </p:cNvSpPr>
          <p:nvPr>
            <p:ph sz="half" idx="2"/>
          </p:nvPr>
        </p:nvSpPr>
        <p:spPr>
          <a:xfrm>
            <a:off x="111730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011328">
              <a:defRPr sz="1800"/>
            </a:lvl6pPr>
            <a:lvl7pPr marL="2011328">
              <a:defRPr sz="1800"/>
            </a:lvl7pPr>
            <a:lvl8pPr marL="2011328">
              <a:defRPr sz="1800"/>
            </a:lvl8pPr>
            <a:lvl9pPr marL="2011328">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30162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smtClean="0"/>
              <a:t>Click to edit Master text styles</a:t>
            </a:r>
          </a:p>
        </p:txBody>
      </p:sp>
      <p:sp>
        <p:nvSpPr>
          <p:cNvPr id="6" name="Content Placeholder 5"/>
          <p:cNvSpPr>
            <a:spLocks noGrp="1"/>
          </p:cNvSpPr>
          <p:nvPr>
            <p:ph sz="quarter" idx="4"/>
          </p:nvPr>
        </p:nvSpPr>
        <p:spPr>
          <a:xfrm>
            <a:off x="629755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011328">
              <a:defRPr sz="1800"/>
            </a:lvl6pPr>
            <a:lvl7pPr marL="2011328">
              <a:defRPr sz="1800"/>
            </a:lvl7pPr>
            <a:lvl8pPr marL="2011328">
              <a:defRPr sz="1800"/>
            </a:lvl8pPr>
            <a:lvl9pPr marL="2011328">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2DD204D1-F9BD-4643-8480-6EA41EB484F1}" type="datetimeFigureOut">
              <a:rPr lang="en-US"/>
              <a:t>12/17/2015</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EB37DED6-D4C7-42EE-AB49-D2E39E64FDE4}" type="slidenum">
              <a:rPr/>
              <a:t>‹#›</a:t>
            </a:fld>
            <a:endParaRPr/>
          </a:p>
        </p:txBody>
      </p:sp>
    </p:spTree>
    <p:extLst>
      <p:ext uri="{BB962C8B-B14F-4D97-AF65-F5344CB8AC3E}">
        <p14:creationId xmlns:p14="http://schemas.microsoft.com/office/powerpoint/2010/main" val="355283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2DD204D1-F9BD-4643-8480-6EA41EB484F1}" type="datetimeFigureOut">
              <a:rPr lang="en-US"/>
              <a:t>12/17/2015</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EB37DED6-D4C7-42EE-AB49-D2E39E64FDE4}" type="slidenum">
              <a:rPr/>
              <a:t>‹#›</a:t>
            </a:fld>
            <a:endParaRPr/>
          </a:p>
        </p:txBody>
      </p:sp>
    </p:spTree>
    <p:extLst>
      <p:ext uri="{BB962C8B-B14F-4D97-AF65-F5344CB8AC3E}">
        <p14:creationId xmlns:p14="http://schemas.microsoft.com/office/powerpoint/2010/main" val="3516763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D204D1-F9BD-4643-8480-6EA41EB484F1}" type="datetimeFigureOut">
              <a:rPr lang="en-US"/>
              <a:t>12/17/2015</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EB37DED6-D4C7-42EE-AB49-D2E39E64FDE4}" type="slidenum">
              <a:rPr/>
              <a:t>‹#›</a:t>
            </a:fld>
            <a:endParaRPr/>
          </a:p>
        </p:txBody>
      </p:sp>
    </p:spTree>
    <p:extLst>
      <p:ext uri="{BB962C8B-B14F-4D97-AF65-F5344CB8AC3E}">
        <p14:creationId xmlns:p14="http://schemas.microsoft.com/office/powerpoint/2010/main" val="2068731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3961368" y="0"/>
            <a:ext cx="7922736"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304721" y="1701800"/>
            <a:ext cx="3351927" cy="2844800"/>
          </a:xfrm>
        </p:spPr>
        <p:txBody>
          <a:bodyPr anchor="b">
            <a:normAutofit/>
          </a:bodyPr>
          <a:lstStyle>
            <a:lvl1pPr algn="l">
              <a:defRPr sz="2000" b="1"/>
            </a:lvl1pPr>
          </a:lstStyle>
          <a:p>
            <a:r>
              <a:rPr lang="en-US" smtClean="0"/>
              <a:t>Click to edit Master title style</a:t>
            </a:r>
            <a:endParaRPr/>
          </a:p>
        </p:txBody>
      </p:sp>
      <p:sp>
        <p:nvSpPr>
          <p:cNvPr id="3" name="Content Placeholder 2"/>
          <p:cNvSpPr>
            <a:spLocks noGrp="1"/>
          </p:cNvSpPr>
          <p:nvPr>
            <p:ph idx="1"/>
          </p:nvPr>
        </p:nvSpPr>
        <p:spPr>
          <a:xfrm>
            <a:off x="4469236" y="482600"/>
            <a:ext cx="6805427" cy="5892800"/>
          </a:xfrm>
        </p:spPr>
        <p:txBody>
          <a:bodyPr>
            <a:normAutofit/>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04721" y="4648200"/>
            <a:ext cx="3351927" cy="1727200"/>
          </a:xfrm>
        </p:spPr>
        <p:txBody>
          <a:bodyPr>
            <a:normAutofit/>
          </a:bodyPr>
          <a:lstStyle>
            <a:lvl1pPr marL="0" indent="0">
              <a:spcBef>
                <a:spcPts val="120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6BF754-515F-40B9-8D24-D54D5825B3D0}" type="datetimeFigureOut">
              <a:rPr lang="en-US"/>
              <a:t>12/17/2015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2DFBB78A-01B4-41F2-96B0-677A4A282832}" type="slidenum">
              <a:rPr/>
              <a:t>‹#›</a:t>
            </a:fld>
            <a:endParaRPr/>
          </a:p>
        </p:txBody>
      </p:sp>
    </p:spTree>
    <p:extLst>
      <p:ext uri="{BB962C8B-B14F-4D97-AF65-F5344CB8AC3E}">
        <p14:creationId xmlns:p14="http://schemas.microsoft.com/office/powerpoint/2010/main" val="1968072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2082258" y="0"/>
            <a:ext cx="8024310"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2437765" y="4800600"/>
            <a:ext cx="7313295" cy="762000"/>
          </a:xfrm>
        </p:spPr>
        <p:txBody>
          <a:bodyPr anchor="b">
            <a:normAutofit/>
          </a:bodyPr>
          <a:lstStyle>
            <a:lvl1pPr algn="l">
              <a:defRPr sz="2000" b="1"/>
            </a:lvl1pPr>
          </a:lstStyle>
          <a:p>
            <a:r>
              <a:rPr lang="en-US" smtClean="0"/>
              <a:t>Click to edit Master title style</a:t>
            </a:r>
            <a:endParaRPr/>
          </a:p>
        </p:txBody>
      </p:sp>
      <p:sp>
        <p:nvSpPr>
          <p:cNvPr id="3" name="Picture Placeholder 2"/>
          <p:cNvSpPr>
            <a:spLocks noGrp="1"/>
          </p:cNvSpPr>
          <p:nvPr>
            <p:ph type="pic" idx="1"/>
          </p:nvPr>
        </p:nvSpPr>
        <p:spPr>
          <a:xfrm>
            <a:off x="2437765" y="279401"/>
            <a:ext cx="7313295" cy="4448175"/>
          </a:xfrm>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smtClean="0"/>
              <a:t>Click icon to add picture</a:t>
            </a:r>
            <a:endParaRPr/>
          </a:p>
        </p:txBody>
      </p:sp>
      <p:sp>
        <p:nvSpPr>
          <p:cNvPr id="4" name="Text Placeholder 3"/>
          <p:cNvSpPr>
            <a:spLocks noGrp="1"/>
          </p:cNvSpPr>
          <p:nvPr>
            <p:ph type="body" sz="half" idx="2"/>
          </p:nvPr>
        </p:nvSpPr>
        <p:spPr>
          <a:xfrm>
            <a:off x="2437765" y="5562600"/>
            <a:ext cx="7313295" cy="812800"/>
          </a:xfrm>
        </p:spPr>
        <p:txBody>
          <a:bodyPr>
            <a:normAutofit/>
          </a:bodyPr>
          <a:lstStyle>
            <a:lvl1pPr marL="0" indent="0">
              <a:spcBef>
                <a:spcPts val="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6BF754-515F-40B9-8D24-D54D5825B3D0}" type="datetimeFigureOut">
              <a:rPr lang="en-US"/>
              <a:t>12/17/2015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2DFBB78A-01B4-41F2-96B0-677A4A282832}" type="slidenum">
              <a:rPr/>
              <a:t>‹#›</a:t>
            </a:fld>
            <a:endParaRPr/>
          </a:p>
        </p:txBody>
      </p:sp>
    </p:spTree>
    <p:extLst>
      <p:ext uri="{BB962C8B-B14F-4D97-AF65-F5344CB8AC3E}">
        <p14:creationId xmlns:p14="http://schemas.microsoft.com/office/powerpoint/2010/main" val="1221337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7AECB6C2-1084-4AED-A74A-DF028B0094EA}" type="datetimeFigureOut">
              <a:rPr lang="en-US"/>
              <a:t>12/17/2015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591C5AD9-787D-40FA-8A4D-16A055B9AF81}" type="slidenum">
              <a:rPr/>
              <a:t>‹#›</a:t>
            </a:fld>
            <a:endParaRPr/>
          </a:p>
        </p:txBody>
      </p:sp>
    </p:spTree>
    <p:extLst>
      <p:ext uri="{BB962C8B-B14F-4D97-AF65-F5344CB8AC3E}">
        <p14:creationId xmlns:p14="http://schemas.microsoft.com/office/powerpoint/2010/main" val="1010434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52633" y="274638"/>
            <a:ext cx="1422030" cy="5897561"/>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1117309" y="274638"/>
            <a:ext cx="8532178" cy="589756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7AECB6C2-1084-4AED-A74A-DF028B0094EA}" type="datetimeFigureOut">
              <a:rPr lang="en-US"/>
              <a:t>12/17/2015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591C5AD9-787D-40FA-8A4D-16A055B9AF81}" type="slidenum">
              <a:rPr/>
              <a:t>‹#›</a:t>
            </a:fld>
            <a:endParaRPr/>
          </a:p>
        </p:txBody>
      </p:sp>
    </p:spTree>
    <p:extLst>
      <p:ext uri="{BB962C8B-B14F-4D97-AF65-F5344CB8AC3E}">
        <p14:creationId xmlns:p14="http://schemas.microsoft.com/office/powerpoint/2010/main" val="3650715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p:nvSpPr>
        <p:spPr>
          <a:xfrm>
            <a:off x="304721" y="0"/>
            <a:ext cx="11579384"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Placeholder 1"/>
          <p:cNvSpPr>
            <a:spLocks noGrp="1"/>
          </p:cNvSpPr>
          <p:nvPr>
            <p:ph type="title"/>
          </p:nvPr>
        </p:nvSpPr>
        <p:spPr>
          <a:xfrm>
            <a:off x="1117309" y="76200"/>
            <a:ext cx="10157354" cy="1397000"/>
          </a:xfrm>
          <a:prstGeom prst="rect">
            <a:avLst/>
          </a:prstGeom>
        </p:spPr>
        <p:txBody>
          <a:bodyPr vert="horz" lIns="121899" tIns="60949" rIns="121899" bIns="60949" rtlCol="0" anchor="b">
            <a:normAutofit/>
          </a:bodyPr>
          <a:lstStyle/>
          <a:p>
            <a:r>
              <a:rPr lang="en-US" smtClean="0"/>
              <a:t>Click to edit Master title style</a:t>
            </a:r>
            <a:endParaRPr dirty="0"/>
          </a:p>
        </p:txBody>
      </p:sp>
      <p:sp>
        <p:nvSpPr>
          <p:cNvPr id="3" name="Text Placeholder 2"/>
          <p:cNvSpPr>
            <a:spLocks noGrp="1"/>
          </p:cNvSpPr>
          <p:nvPr>
            <p:ph type="body" idx="1"/>
          </p:nvPr>
        </p:nvSpPr>
        <p:spPr>
          <a:xfrm>
            <a:off x="1117309" y="1701800"/>
            <a:ext cx="10157354" cy="4470400"/>
          </a:xfrm>
          <a:prstGeom prst="rect">
            <a:avLst/>
          </a:prstGeom>
        </p:spPr>
        <p:txBody>
          <a:bodyPr vert="horz" lIns="121899" tIns="60949" rIns="121899" bIns="6094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2"/>
          </p:nvPr>
        </p:nvSpPr>
        <p:spPr>
          <a:xfrm>
            <a:off x="1117309" y="6400801"/>
            <a:ext cx="2742486" cy="320675"/>
          </a:xfrm>
          <a:prstGeom prst="rect">
            <a:avLst/>
          </a:prstGeom>
        </p:spPr>
        <p:txBody>
          <a:bodyPr vert="horz" lIns="121899" tIns="60949" rIns="121899" bIns="60949" rtlCol="0" anchor="b"/>
          <a:lstStyle>
            <a:lvl1pPr algn="l">
              <a:defRPr sz="1200">
                <a:solidFill>
                  <a:schemeClr val="tx2">
                    <a:lumMod val="50000"/>
                    <a:lumOff val="50000"/>
                  </a:schemeClr>
                </a:solidFill>
              </a:defRPr>
            </a:lvl1pPr>
          </a:lstStyle>
          <a:p>
            <a:fld id="{2DD204D1-F9BD-4643-8480-6EA41EB484F1}" type="datetimeFigureOut">
              <a:rPr lang="en-US"/>
              <a:pPr/>
              <a:t>12/17/2015</a:t>
            </a:fld>
            <a:endParaRPr/>
          </a:p>
        </p:txBody>
      </p:sp>
      <p:sp>
        <p:nvSpPr>
          <p:cNvPr id="5" name="Footer Placeholder 4"/>
          <p:cNvSpPr>
            <a:spLocks noGrp="1"/>
          </p:cNvSpPr>
          <p:nvPr>
            <p:ph type="ftr" sz="quarter" idx="3"/>
          </p:nvPr>
        </p:nvSpPr>
        <p:spPr>
          <a:xfrm>
            <a:off x="3907842" y="6400801"/>
            <a:ext cx="6216301" cy="320675"/>
          </a:xfrm>
          <a:prstGeom prst="rect">
            <a:avLst/>
          </a:prstGeom>
        </p:spPr>
        <p:txBody>
          <a:bodyPr vert="horz" lIns="121899" tIns="60949" rIns="121899" bIns="60949" rtlCol="0" anchor="b"/>
          <a:lstStyle>
            <a:lvl1pPr algn="ctr">
              <a:defRPr sz="1200">
                <a:solidFill>
                  <a:schemeClr val="tx2">
                    <a:lumMod val="50000"/>
                    <a:lumOff val="50000"/>
                  </a:schemeClr>
                </a:solidFill>
              </a:defRPr>
            </a:lvl1pPr>
          </a:lstStyle>
          <a:p>
            <a:endParaRPr/>
          </a:p>
        </p:txBody>
      </p:sp>
      <p:sp>
        <p:nvSpPr>
          <p:cNvPr id="6" name="Slide Number Placeholder 5"/>
          <p:cNvSpPr>
            <a:spLocks noGrp="1"/>
          </p:cNvSpPr>
          <p:nvPr>
            <p:ph type="sldNum" sz="quarter" idx="4"/>
          </p:nvPr>
        </p:nvSpPr>
        <p:spPr>
          <a:xfrm>
            <a:off x="10167146" y="6400801"/>
            <a:ext cx="1107518" cy="320675"/>
          </a:xfrm>
          <a:prstGeom prst="rect">
            <a:avLst/>
          </a:prstGeom>
        </p:spPr>
        <p:txBody>
          <a:bodyPr vert="horz" lIns="121899" tIns="60949" rIns="121899" bIns="60949" rtlCol="0" anchor="b"/>
          <a:lstStyle>
            <a:lvl1pPr algn="r">
              <a:defRPr sz="1200">
                <a:solidFill>
                  <a:schemeClr val="tx2">
                    <a:lumMod val="50000"/>
                    <a:lumOff val="50000"/>
                  </a:schemeClr>
                </a:solidFill>
              </a:defRPr>
            </a:lvl1pPr>
          </a:lstStyle>
          <a:p>
            <a:fld id="{EB37DED6-D4C7-42EE-AB49-D2E39E64FDE4}" type="slidenum">
              <a:rPr/>
              <a:pPr/>
              <a:t>‹#›</a:t>
            </a:fld>
            <a:endParaRPr/>
          </a:p>
        </p:txBody>
      </p:sp>
    </p:spTree>
    <p:extLst>
      <p:ext uri="{BB962C8B-B14F-4D97-AF65-F5344CB8AC3E}">
        <p14:creationId xmlns:p14="http://schemas.microsoft.com/office/powerpoint/2010/main" val="1544047913"/>
      </p:ext>
    </p:extLst>
  </p:cSld>
  <p:clrMap bg1="lt1" tx1="dk1" bg2="lt2" tx2="dk2" accent1="accent1" accent2="accent2" accent3="accent3" accent4="accent4" accent5="accent5" accent6="accent6" hlink="hlink" folHlink="folHlink"/>
  <p:sldLayoutIdLst>
    <p:sldLayoutId id="2147483661" r:id="rId1"/>
    <p:sldLayoutId id="2147483679" r:id="rId2"/>
    <p:sldLayoutId id="2147483663" r:id="rId3"/>
    <p:sldLayoutId id="2147483664" r:id="rId4"/>
    <p:sldLayoutId id="2147483665" r:id="rId5"/>
    <p:sldLayoutId id="2147483666" r:id="rId6"/>
    <p:sldLayoutId id="2147483667" r:id="rId7"/>
    <p:sldLayoutId id="2147483675" r:id="rId8"/>
    <p:sldLayoutId id="2147483676" r:id="rId9"/>
    <p:sldLayoutId id="2147483677" r:id="rId10"/>
    <p:sldLayoutId id="2147483678"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txStyles>
    <p:titleStyle>
      <a:lvl1pPr algn="l" defTabSz="1218987" rtl="0" eaLnBrk="1" latinLnBrk="0" hangingPunct="1">
        <a:lnSpc>
          <a:spcPct val="85000"/>
        </a:lnSpc>
        <a:spcBef>
          <a:spcPct val="0"/>
        </a:spcBef>
        <a:buNone/>
        <a:tabLst/>
        <a:defRPr sz="4400" kern="1200" cap="none" baseline="0">
          <a:solidFill>
            <a:schemeClr val="tx1"/>
          </a:solidFill>
          <a:latin typeface="+mj-lt"/>
          <a:ea typeface="+mj-ea"/>
          <a:cs typeface="+mj-cs"/>
        </a:defRPr>
      </a:lvl1pPr>
    </p:titleStyle>
    <p:bodyStyle>
      <a:lvl1pPr marL="304747" indent="-304747" algn="l" defTabSz="1218987" rtl="0" eaLnBrk="1" latinLnBrk="0" hangingPunct="1">
        <a:lnSpc>
          <a:spcPct val="95000"/>
        </a:lnSpc>
        <a:spcBef>
          <a:spcPts val="1866"/>
        </a:spcBef>
        <a:buSzPct val="100000"/>
        <a:buFont typeface="Arial" pitchFamily="34" charset="0"/>
        <a:buChar char="•"/>
        <a:defRPr sz="2400" kern="1200">
          <a:solidFill>
            <a:schemeClr val="tx1"/>
          </a:solidFill>
          <a:latin typeface="+mn-lt"/>
          <a:ea typeface="+mn-ea"/>
          <a:cs typeface="+mn-cs"/>
        </a:defRPr>
      </a:lvl1pPr>
      <a:lvl2pPr marL="731392" indent="-304747" algn="l" defTabSz="1218987" rtl="0" eaLnBrk="1" latinLnBrk="0" hangingPunct="1">
        <a:lnSpc>
          <a:spcPct val="95000"/>
        </a:lnSpc>
        <a:spcBef>
          <a:spcPts val="1066"/>
        </a:spcBef>
        <a:buSzPct val="100000"/>
        <a:buFont typeface="Century Gothic" pitchFamily="34" charset="0"/>
        <a:buChar char="–"/>
        <a:defRPr sz="2000" kern="1200">
          <a:solidFill>
            <a:schemeClr val="tx1"/>
          </a:solidFill>
          <a:latin typeface="+mn-lt"/>
          <a:ea typeface="+mn-ea"/>
          <a:cs typeface="+mn-cs"/>
        </a:defRPr>
      </a:lvl2pPr>
      <a:lvl3pPr marL="1158037" indent="-304747" algn="l" defTabSz="1218987" rtl="0" eaLnBrk="1" latinLnBrk="0" hangingPunct="1">
        <a:lnSpc>
          <a:spcPct val="95000"/>
        </a:lnSpc>
        <a:spcBef>
          <a:spcPts val="1066"/>
        </a:spcBef>
        <a:buSzPct val="100000"/>
        <a:buFont typeface="Century Gothic" pitchFamily="34" charset="0"/>
        <a:buChar char="–"/>
        <a:defRPr sz="1800" kern="1200">
          <a:solidFill>
            <a:schemeClr val="tx1"/>
          </a:solidFill>
          <a:latin typeface="+mn-lt"/>
          <a:ea typeface="+mn-ea"/>
          <a:cs typeface="+mn-cs"/>
        </a:defRPr>
      </a:lvl3pPr>
      <a:lvl4pPr marL="1584683" indent="-304747" algn="l" defTabSz="1218987" rtl="0" eaLnBrk="1" latinLnBrk="0" hangingPunct="1">
        <a:lnSpc>
          <a:spcPct val="95000"/>
        </a:lnSpc>
        <a:spcBef>
          <a:spcPts val="1066"/>
        </a:spcBef>
        <a:buSzPct val="100000"/>
        <a:buFont typeface="Century Gothic" pitchFamily="34" charset="0"/>
        <a:buChar char="–"/>
        <a:defRPr sz="1800" kern="1200">
          <a:solidFill>
            <a:schemeClr val="tx1"/>
          </a:solidFill>
          <a:latin typeface="+mn-lt"/>
          <a:ea typeface="+mn-ea"/>
          <a:cs typeface="+mn-cs"/>
        </a:defRPr>
      </a:lvl4pPr>
      <a:lvl5pPr marL="2011328" indent="-304747" algn="l" defTabSz="1218987" rtl="0" eaLnBrk="1" latinLnBrk="0" hangingPunct="1">
        <a:lnSpc>
          <a:spcPct val="95000"/>
        </a:lnSpc>
        <a:spcBef>
          <a:spcPts val="1066"/>
        </a:spcBef>
        <a:buSzPct val="100000"/>
        <a:buFont typeface="Century Gothic" pitchFamily="34" charset="0"/>
        <a:buChar char="–"/>
        <a:defRPr sz="1800" kern="1200">
          <a:solidFill>
            <a:schemeClr val="tx1"/>
          </a:solidFill>
          <a:latin typeface="+mn-lt"/>
          <a:ea typeface="+mn-ea"/>
          <a:cs typeface="+mn-cs"/>
        </a:defRPr>
      </a:lvl5pPr>
      <a:lvl6pPr marL="2437973" indent="-304747" algn="l" defTabSz="1218987" rtl="0" eaLnBrk="1" latinLnBrk="0" hangingPunct="1">
        <a:lnSpc>
          <a:spcPct val="95000"/>
        </a:lnSpc>
        <a:spcBef>
          <a:spcPts val="1066"/>
        </a:spcBef>
        <a:buSzPct val="90000"/>
        <a:buFont typeface="Century Gothic" pitchFamily="34" charset="0"/>
        <a:buChar char="–"/>
        <a:defRPr sz="1800" kern="1200">
          <a:solidFill>
            <a:schemeClr val="tx1"/>
          </a:solidFill>
          <a:latin typeface="+mn-lt"/>
          <a:ea typeface="+mn-ea"/>
          <a:cs typeface="+mn-cs"/>
        </a:defRPr>
      </a:lvl6pPr>
      <a:lvl7pPr marL="2864619" indent="-304747" algn="l" defTabSz="1218987" rtl="0" eaLnBrk="1" latinLnBrk="0" hangingPunct="1">
        <a:lnSpc>
          <a:spcPct val="95000"/>
        </a:lnSpc>
        <a:spcBef>
          <a:spcPts val="1066"/>
        </a:spcBef>
        <a:buSzPct val="90000"/>
        <a:buFont typeface="Century Gothic" pitchFamily="34" charset="0"/>
        <a:buChar char="–"/>
        <a:defRPr sz="1800" kern="1200">
          <a:solidFill>
            <a:schemeClr val="tx1"/>
          </a:solidFill>
          <a:latin typeface="+mn-lt"/>
          <a:ea typeface="+mn-ea"/>
          <a:cs typeface="+mn-cs"/>
        </a:defRPr>
      </a:lvl7pPr>
      <a:lvl8pPr marL="3291264" indent="-304747" algn="l" defTabSz="1218987" rtl="0" eaLnBrk="1" latinLnBrk="0" hangingPunct="1">
        <a:lnSpc>
          <a:spcPct val="95000"/>
        </a:lnSpc>
        <a:spcBef>
          <a:spcPts val="1066"/>
        </a:spcBef>
        <a:buSzPct val="90000"/>
        <a:buFont typeface="Century Gothic" pitchFamily="34" charset="0"/>
        <a:buChar char="–"/>
        <a:defRPr sz="1800" kern="1200">
          <a:solidFill>
            <a:schemeClr val="tx1"/>
          </a:solidFill>
          <a:latin typeface="+mn-lt"/>
          <a:ea typeface="+mn-ea"/>
          <a:cs typeface="+mn-cs"/>
        </a:defRPr>
      </a:lvl8pPr>
      <a:lvl9pPr marL="3778859" indent="-304747" algn="l" defTabSz="1218987" rtl="0" eaLnBrk="1" latinLnBrk="0" hangingPunct="1">
        <a:lnSpc>
          <a:spcPct val="95000"/>
        </a:lnSpc>
        <a:spcBef>
          <a:spcPts val="1066"/>
        </a:spcBef>
        <a:buSzPct val="90000"/>
        <a:buFont typeface="Century Gothic" pitchFamily="34" charset="0"/>
        <a:buChar char="–"/>
        <a:defRPr sz="1800" kern="120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22204" y="1498601"/>
            <a:ext cx="7458753" cy="3298825"/>
          </a:xfrm>
        </p:spPr>
        <p:txBody>
          <a:bodyPr>
            <a:normAutofit/>
          </a:bodyPr>
          <a:lstStyle/>
          <a:p>
            <a:r>
              <a:rPr lang="en-US" sz="4400" dirty="0" smtClean="0"/>
              <a:t>READ WRITE INC. Phonics</a:t>
            </a:r>
            <a:endParaRPr lang="en-US" sz="4400" dirty="0"/>
          </a:p>
        </p:txBody>
      </p:sp>
      <p:sp>
        <p:nvSpPr>
          <p:cNvPr id="3" name="Subtitle 2"/>
          <p:cNvSpPr>
            <a:spLocks noGrp="1"/>
          </p:cNvSpPr>
          <p:nvPr>
            <p:ph type="subTitle" idx="1"/>
          </p:nvPr>
        </p:nvSpPr>
        <p:spPr/>
        <p:txBody>
          <a:bodyPr>
            <a:normAutofit lnSpcReduction="10000"/>
          </a:bodyPr>
          <a:lstStyle/>
          <a:p>
            <a:pPr algn="r"/>
            <a:r>
              <a:rPr lang="en-US" dirty="0" smtClean="0"/>
              <a:t>“… a synthetic phonics </a:t>
            </a:r>
            <a:r>
              <a:rPr lang="en-US" dirty="0" err="1" smtClean="0"/>
              <a:t>programme</a:t>
            </a:r>
            <a:r>
              <a:rPr lang="en-US" dirty="0" smtClean="0"/>
              <a:t> that ensures reading, writing and spelling success.”</a:t>
            </a:r>
            <a:endParaRPr lang="en-US" dirty="0"/>
          </a:p>
        </p:txBody>
      </p:sp>
      <p:pic>
        <p:nvPicPr>
          <p:cNvPr id="4" name="Picture 4" descr="http://www.sylvesterprimaryschool.co.uk/wp-content/uploads/2015/02/readwriteinc-symbo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1838" y="2565040"/>
            <a:ext cx="2769119" cy="1165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0340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Before we begin…</a:t>
            </a:r>
            <a:endParaRPr lang="en-GB" dirty="0"/>
          </a:p>
        </p:txBody>
      </p:sp>
      <p:sp>
        <p:nvSpPr>
          <p:cNvPr id="3" name="Content Placeholder 2"/>
          <p:cNvSpPr>
            <a:spLocks noGrp="1"/>
          </p:cNvSpPr>
          <p:nvPr>
            <p:ph idx="1"/>
          </p:nvPr>
        </p:nvSpPr>
        <p:spPr>
          <a:xfrm>
            <a:off x="1117309" y="1628800"/>
            <a:ext cx="10377702" cy="5112568"/>
          </a:xfrm>
        </p:spPr>
        <p:txBody>
          <a:bodyPr>
            <a:normAutofit/>
          </a:bodyPr>
          <a:lstStyle/>
          <a:p>
            <a:r>
              <a:rPr lang="en-GB" dirty="0" smtClean="0"/>
              <a:t>Systematic </a:t>
            </a:r>
            <a:r>
              <a:rPr lang="en-GB" dirty="0" smtClean="0"/>
              <a:t>phonics</a:t>
            </a:r>
          </a:p>
          <a:p>
            <a:pPr lvl="1"/>
            <a:r>
              <a:rPr lang="en-GB" dirty="0" smtClean="0"/>
              <a:t>Teaches </a:t>
            </a:r>
            <a:r>
              <a:rPr lang="en-GB" dirty="0" smtClean="0"/>
              <a:t>children </a:t>
            </a:r>
            <a:r>
              <a:rPr lang="en-GB" dirty="0" smtClean="0"/>
              <a:t>letter-sound </a:t>
            </a:r>
            <a:r>
              <a:rPr lang="en-GB" dirty="0" smtClean="0"/>
              <a:t>correspondences in an </a:t>
            </a:r>
            <a:r>
              <a:rPr lang="en-GB" dirty="0" smtClean="0"/>
              <a:t>organised, explicit and sequenced </a:t>
            </a:r>
            <a:r>
              <a:rPr lang="en-GB" dirty="0" smtClean="0"/>
              <a:t>way</a:t>
            </a:r>
            <a:r>
              <a:rPr lang="en-GB" dirty="0" smtClean="0"/>
              <a:t>. This is in contrast to an incidental approach.</a:t>
            </a:r>
            <a:endParaRPr lang="en-GB" dirty="0"/>
          </a:p>
          <a:p>
            <a:r>
              <a:rPr lang="en-GB" dirty="0" smtClean="0"/>
              <a:t>Analytic phonics</a:t>
            </a:r>
          </a:p>
          <a:p>
            <a:pPr lvl="1"/>
            <a:r>
              <a:rPr lang="en-GB" dirty="0" smtClean="0"/>
              <a:t>Children </a:t>
            </a:r>
            <a:r>
              <a:rPr lang="en-GB" dirty="0" smtClean="0"/>
              <a:t>are taught to </a:t>
            </a:r>
            <a:r>
              <a:rPr lang="en-GB" dirty="0" smtClean="0"/>
              <a:t>analyse the letter-sound relationships, once the word is identified. </a:t>
            </a:r>
            <a:r>
              <a:rPr lang="en-GB" dirty="0" smtClean="0"/>
              <a:t>The emphasis is on the initial sound of </a:t>
            </a:r>
            <a:r>
              <a:rPr lang="en-GB" dirty="0" smtClean="0"/>
              <a:t>the word</a:t>
            </a:r>
            <a:r>
              <a:rPr lang="en-GB" dirty="0" smtClean="0"/>
              <a:t>, </a:t>
            </a:r>
            <a:r>
              <a:rPr lang="en-GB" dirty="0" smtClean="0"/>
              <a:t>onset, rime </a:t>
            </a:r>
            <a:r>
              <a:rPr lang="en-GB" dirty="0" smtClean="0"/>
              <a:t>and word families. </a:t>
            </a:r>
            <a:r>
              <a:rPr lang="en-GB" dirty="0" smtClean="0"/>
              <a:t>    </a:t>
            </a:r>
          </a:p>
          <a:p>
            <a:r>
              <a:rPr lang="en-GB" dirty="0" smtClean="0"/>
              <a:t>Synthetic phonics</a:t>
            </a:r>
          </a:p>
          <a:p>
            <a:pPr lvl="1"/>
            <a:r>
              <a:rPr lang="en-GB" dirty="0" smtClean="0"/>
              <a:t>With </a:t>
            </a:r>
            <a:r>
              <a:rPr lang="en-GB" dirty="0"/>
              <a:t>this approach, before children are introduced to books, they are taught letter sounds. After the first few of these have been taught they are shown how these sounds can be blended together to build up words. Defining characteristics are sounding out and </a:t>
            </a:r>
            <a:r>
              <a:rPr lang="en-GB" dirty="0" smtClean="0"/>
              <a:t>blending.</a:t>
            </a:r>
            <a:endParaRPr lang="en-GB" dirty="0"/>
          </a:p>
          <a:p>
            <a:pPr lvl="1"/>
            <a:endParaRPr lang="en-GB" dirty="0" smtClean="0"/>
          </a:p>
        </p:txBody>
      </p:sp>
    </p:spTree>
    <p:extLst>
      <p:ext uri="{BB962C8B-B14F-4D97-AF65-F5344CB8AC3E}">
        <p14:creationId xmlns:p14="http://schemas.microsoft.com/office/powerpoint/2010/main" val="101301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smtClean="0"/>
              <a:t>What is it?</a:t>
            </a:r>
            <a:endParaRPr lang="en-US" dirty="0"/>
          </a:p>
        </p:txBody>
      </p:sp>
      <p:sp>
        <p:nvSpPr>
          <p:cNvPr id="14" name="Content Placeholder 13"/>
          <p:cNvSpPr>
            <a:spLocks noGrp="1"/>
          </p:cNvSpPr>
          <p:nvPr>
            <p:ph idx="1"/>
          </p:nvPr>
        </p:nvSpPr>
        <p:spPr/>
        <p:txBody>
          <a:bodyPr>
            <a:normAutofit fontScale="85000" lnSpcReduction="20000"/>
          </a:bodyPr>
          <a:lstStyle/>
          <a:p>
            <a:pPr marL="0" indent="0" algn="just">
              <a:buNone/>
            </a:pPr>
            <a:r>
              <a:rPr lang="en-GB" dirty="0" smtClean="0"/>
              <a:t>“… </a:t>
            </a:r>
            <a:r>
              <a:rPr lang="en-GB" dirty="0"/>
              <a:t>a dynamic literacy programme based on the rigorous teaching of </a:t>
            </a:r>
            <a:r>
              <a:rPr lang="en-GB" u="sng" dirty="0"/>
              <a:t>synthetic phonics</a:t>
            </a:r>
            <a:r>
              <a:rPr lang="en-GB" dirty="0"/>
              <a:t>. It is designed to get </a:t>
            </a:r>
            <a:r>
              <a:rPr lang="en-GB" u="sng" dirty="0"/>
              <a:t>all children </a:t>
            </a:r>
            <a:r>
              <a:rPr lang="en-GB" dirty="0"/>
              <a:t>reading and writing quickly and easily. The training and resources provide schools with a </a:t>
            </a:r>
            <a:r>
              <a:rPr lang="en-GB" u="sng" dirty="0"/>
              <a:t>cohesive and consistent approach </a:t>
            </a:r>
            <a:r>
              <a:rPr lang="en-GB" dirty="0"/>
              <a:t>to the teaching of phonics and literacy, and to effective classroom management strategies to ensure success for every </a:t>
            </a:r>
            <a:r>
              <a:rPr lang="en-GB" dirty="0" smtClean="0"/>
              <a:t>child.”</a:t>
            </a:r>
          </a:p>
          <a:p>
            <a:pPr marL="0" indent="0" algn="just">
              <a:buNone/>
            </a:pPr>
            <a:endParaRPr lang="en-GB" dirty="0"/>
          </a:p>
          <a:p>
            <a:r>
              <a:rPr lang="en-GB" dirty="0"/>
              <a:t>According to the website, RWI is currently used in more than a quarter of UK primary schools.</a:t>
            </a:r>
          </a:p>
          <a:p>
            <a:r>
              <a:rPr lang="en-US" dirty="0"/>
              <a:t>Developed by Ruth </a:t>
            </a:r>
            <a:r>
              <a:rPr lang="en-US" dirty="0" err="1"/>
              <a:t>Miskin</a:t>
            </a:r>
            <a:endParaRPr lang="en-US" dirty="0"/>
          </a:p>
          <a:p>
            <a:r>
              <a:rPr lang="en-US" dirty="0"/>
              <a:t>Reception – Year 2 (Can use materials up to Year 4)</a:t>
            </a:r>
          </a:p>
          <a:p>
            <a:r>
              <a:rPr lang="en-GB" dirty="0"/>
              <a:t>Whole school approach</a:t>
            </a:r>
          </a:p>
          <a:p>
            <a:r>
              <a:rPr lang="en-GB" dirty="0"/>
              <a:t>Input should be for 60 minutes daily</a:t>
            </a:r>
          </a:p>
          <a:p>
            <a:pPr marL="0" indent="0" algn="just">
              <a:buNone/>
            </a:pPr>
            <a:endParaRPr lang="en-GB" dirty="0" smtClean="0"/>
          </a:p>
          <a:p>
            <a:pPr algn="just"/>
            <a:endParaRPr lang="en-GB" dirty="0"/>
          </a:p>
          <a:p>
            <a:pPr algn="just"/>
            <a:endParaRPr lang="en-GB" dirty="0" smtClean="0"/>
          </a:p>
          <a:p>
            <a:endParaRPr lang="en-US" dirty="0"/>
          </a:p>
        </p:txBody>
      </p:sp>
    </p:spTree>
    <p:extLst>
      <p:ext uri="{BB962C8B-B14F-4D97-AF65-F5344CB8AC3E}">
        <p14:creationId xmlns:p14="http://schemas.microsoft.com/office/powerpoint/2010/main" val="711182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What’s involved?</a:t>
            </a:r>
            <a:endParaRPr lang="en-GB" dirty="0"/>
          </a:p>
        </p:txBody>
      </p:sp>
      <p:sp>
        <p:nvSpPr>
          <p:cNvPr id="3" name="Content Placeholder 2"/>
          <p:cNvSpPr>
            <a:spLocks noGrp="1"/>
          </p:cNvSpPr>
          <p:nvPr>
            <p:ph idx="1"/>
          </p:nvPr>
        </p:nvSpPr>
        <p:spPr>
          <a:xfrm>
            <a:off x="693812" y="1473200"/>
            <a:ext cx="11161239" cy="5124152"/>
          </a:xfrm>
        </p:spPr>
        <p:txBody>
          <a:bodyPr>
            <a:normAutofit lnSpcReduction="10000"/>
          </a:bodyPr>
          <a:lstStyle/>
          <a:p>
            <a:r>
              <a:rPr lang="en-GB" dirty="0" smtClean="0"/>
              <a:t>Speed sounds </a:t>
            </a:r>
          </a:p>
          <a:p>
            <a:pPr lvl="1">
              <a:lnSpc>
                <a:spcPct val="120000"/>
              </a:lnSpc>
              <a:buFontTx/>
              <a:buChar char="-"/>
            </a:pPr>
            <a:r>
              <a:rPr lang="en-GB" dirty="0" smtClean="0"/>
              <a:t>Each of the 44 sounds and corresponding letters are introduced and taught individually.</a:t>
            </a:r>
          </a:p>
          <a:p>
            <a:pPr lvl="1">
              <a:lnSpc>
                <a:spcPct val="120000"/>
              </a:lnSpc>
              <a:buFontTx/>
              <a:buChar char="-"/>
            </a:pPr>
            <a:r>
              <a:rPr lang="en-GB" dirty="0" smtClean="0"/>
              <a:t>Fred talk</a:t>
            </a:r>
          </a:p>
          <a:p>
            <a:pPr marL="0" indent="0">
              <a:buNone/>
            </a:pPr>
            <a:endParaRPr lang="en-GB" dirty="0"/>
          </a:p>
          <a:p>
            <a:r>
              <a:rPr lang="en-GB" dirty="0" smtClean="0"/>
              <a:t>Storybooks</a:t>
            </a:r>
          </a:p>
          <a:p>
            <a:pPr lvl="1"/>
            <a:r>
              <a:rPr lang="en-GB" dirty="0" smtClean="0"/>
              <a:t>Read story three times. 1. Decode – 2. comprehension – 3. </a:t>
            </a:r>
            <a:r>
              <a:rPr lang="en-GB" dirty="0"/>
              <a:t>D</a:t>
            </a:r>
            <a:r>
              <a:rPr lang="en-GB" dirty="0" smtClean="0"/>
              <a:t>iscussion</a:t>
            </a:r>
            <a:endParaRPr lang="en-GB" dirty="0"/>
          </a:p>
          <a:p>
            <a:endParaRPr lang="en-GB" dirty="0" smtClean="0"/>
          </a:p>
          <a:p>
            <a:r>
              <a:rPr lang="en-GB" dirty="0" smtClean="0"/>
              <a:t>Get Writing! Activities</a:t>
            </a:r>
          </a:p>
          <a:p>
            <a:pPr marL="426645" lvl="1" indent="0">
              <a:buNone/>
            </a:pPr>
            <a:r>
              <a:rPr lang="en-GB" dirty="0" smtClean="0"/>
              <a:t>- Each child has a book, in which they practice spellings, building a sentence and write based on picture prompts. </a:t>
            </a:r>
          </a:p>
          <a:p>
            <a:endParaRPr lang="en-GB" dirty="0"/>
          </a:p>
        </p:txBody>
      </p:sp>
      <p:pic>
        <p:nvPicPr>
          <p:cNvPr id="4" name="Picture 3"/>
          <p:cNvPicPr/>
          <p:nvPr/>
        </p:nvPicPr>
        <p:blipFill rotWithShape="1">
          <a:blip r:embed="rId3"/>
          <a:srcRect t="18917" b="19311"/>
          <a:stretch/>
        </p:blipFill>
        <p:spPr bwMode="auto">
          <a:xfrm>
            <a:off x="7009765" y="2420888"/>
            <a:ext cx="4268246" cy="1593329"/>
          </a:xfrm>
          <a:prstGeom prst="rect">
            <a:avLst/>
          </a:prstGeom>
          <a:ln>
            <a:noFill/>
          </a:ln>
          <a:extLst>
            <a:ext uri="{53640926-AAD7-44D8-BBD7-CCE9431645EC}">
              <a14:shadowObscured xmlns:a14="http://schemas.microsoft.com/office/drawing/2010/main"/>
            </a:ext>
          </a:extLst>
        </p:spPr>
      </p:pic>
      <p:sp>
        <p:nvSpPr>
          <p:cNvPr id="5" name="TextBox 4"/>
          <p:cNvSpPr txBox="1"/>
          <p:nvPr/>
        </p:nvSpPr>
        <p:spPr>
          <a:xfrm>
            <a:off x="7009765" y="4035276"/>
            <a:ext cx="4701271" cy="215444"/>
          </a:xfrm>
          <a:prstGeom prst="rect">
            <a:avLst/>
          </a:prstGeom>
          <a:noFill/>
        </p:spPr>
        <p:txBody>
          <a:bodyPr wrap="square" rtlCol="0">
            <a:spAutoFit/>
          </a:bodyPr>
          <a:lstStyle/>
          <a:p>
            <a:r>
              <a:rPr lang="en-GB" sz="800"/>
              <a:t>http://fdslive.oup.com/www.oup.com/oxed/look-inside/9780198461579.pdf?region=uk</a:t>
            </a:r>
            <a:endParaRPr lang="en-GB" sz="800" dirty="0"/>
          </a:p>
        </p:txBody>
      </p:sp>
    </p:spTree>
    <p:extLst>
      <p:ext uri="{BB962C8B-B14F-4D97-AF65-F5344CB8AC3E}">
        <p14:creationId xmlns:p14="http://schemas.microsoft.com/office/powerpoint/2010/main" val="3750774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What’s involved?</a:t>
            </a:r>
            <a:endParaRPr lang="en-GB" dirty="0"/>
          </a:p>
        </p:txBody>
      </p:sp>
      <p:sp>
        <p:nvSpPr>
          <p:cNvPr id="3" name="Content Placeholder 2"/>
          <p:cNvSpPr>
            <a:spLocks noGrp="1"/>
          </p:cNvSpPr>
          <p:nvPr>
            <p:ph idx="1"/>
          </p:nvPr>
        </p:nvSpPr>
        <p:spPr>
          <a:xfrm>
            <a:off x="549796" y="1473200"/>
            <a:ext cx="11017224" cy="4980136"/>
          </a:xfrm>
        </p:spPr>
        <p:txBody>
          <a:bodyPr>
            <a:normAutofit fontScale="92500" lnSpcReduction="10000"/>
          </a:bodyPr>
          <a:lstStyle/>
          <a:p>
            <a:pPr marL="0" indent="0">
              <a:buNone/>
            </a:pPr>
            <a:r>
              <a:rPr lang="en-GB" dirty="0" smtClean="0"/>
              <a:t>Five underlying principles</a:t>
            </a:r>
          </a:p>
          <a:p>
            <a:pPr marL="0" indent="0">
              <a:buNone/>
            </a:pPr>
            <a:r>
              <a:rPr lang="en-GB" dirty="0" smtClean="0"/>
              <a:t>	1. Pace</a:t>
            </a:r>
          </a:p>
          <a:p>
            <a:pPr marL="0" indent="0">
              <a:buNone/>
            </a:pPr>
            <a:r>
              <a:rPr lang="en-GB" dirty="0" smtClean="0"/>
              <a:t>	2. Praise</a:t>
            </a:r>
          </a:p>
          <a:p>
            <a:pPr marL="0" indent="0">
              <a:buNone/>
            </a:pPr>
            <a:r>
              <a:rPr lang="en-GB" dirty="0" smtClean="0"/>
              <a:t>	3. Purpose</a:t>
            </a:r>
          </a:p>
          <a:p>
            <a:pPr marL="0" indent="0">
              <a:buNone/>
            </a:pPr>
            <a:r>
              <a:rPr lang="en-GB" dirty="0" smtClean="0"/>
              <a:t>	4. Participation</a:t>
            </a:r>
          </a:p>
          <a:p>
            <a:pPr marL="0" indent="0">
              <a:buNone/>
            </a:pPr>
            <a:r>
              <a:rPr lang="en-GB" dirty="0"/>
              <a:t>	</a:t>
            </a:r>
            <a:r>
              <a:rPr lang="en-GB" dirty="0" smtClean="0"/>
              <a:t>5. Passion</a:t>
            </a:r>
          </a:p>
          <a:p>
            <a:pPr marL="0" indent="0">
              <a:buNone/>
            </a:pPr>
            <a:endParaRPr lang="en-GB" dirty="0"/>
          </a:p>
          <a:p>
            <a:pPr marL="0" indent="0">
              <a:buNone/>
            </a:pPr>
            <a:r>
              <a:rPr lang="en-GB" dirty="0" smtClean="0"/>
              <a:t>As well as…</a:t>
            </a:r>
          </a:p>
          <a:p>
            <a:pPr marL="0" indent="0">
              <a:buNone/>
            </a:pPr>
            <a:r>
              <a:rPr lang="en-GB" dirty="0" smtClean="0"/>
              <a:t>Repetition, ability grouping, ongoing assessment, fidelity to the teaching programme</a:t>
            </a:r>
            <a:endParaRPr lang="en-GB" dirty="0"/>
          </a:p>
        </p:txBody>
      </p:sp>
    </p:spTree>
    <p:extLst>
      <p:ext uri="{BB962C8B-B14F-4D97-AF65-F5344CB8AC3E}">
        <p14:creationId xmlns:p14="http://schemas.microsoft.com/office/powerpoint/2010/main" val="3043445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What’s it based on?</a:t>
            </a:r>
            <a:endParaRPr lang="en-GB" dirty="0"/>
          </a:p>
        </p:txBody>
      </p:sp>
      <p:sp>
        <p:nvSpPr>
          <p:cNvPr id="3" name="Content Placeholder 2"/>
          <p:cNvSpPr>
            <a:spLocks noGrp="1"/>
          </p:cNvSpPr>
          <p:nvPr>
            <p:ph idx="1"/>
          </p:nvPr>
        </p:nvSpPr>
        <p:spPr/>
        <p:txBody>
          <a:bodyPr/>
          <a:lstStyle/>
          <a:p>
            <a:pPr marL="0" indent="0">
              <a:buNone/>
            </a:pPr>
            <a:r>
              <a:rPr lang="en-GB" b="1" dirty="0"/>
              <a:t>Simple View of Reading</a:t>
            </a:r>
          </a:p>
          <a:p>
            <a:endParaRPr lang="en-GB" dirty="0"/>
          </a:p>
        </p:txBody>
      </p:sp>
      <p:sp>
        <p:nvSpPr>
          <p:cNvPr id="5" name="Quad Arrow 4"/>
          <p:cNvSpPr/>
          <p:nvPr/>
        </p:nvSpPr>
        <p:spPr>
          <a:xfrm>
            <a:off x="4834272" y="1701800"/>
            <a:ext cx="5832648" cy="4699000"/>
          </a:xfrm>
          <a:prstGeom prst="quad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Plus 5"/>
          <p:cNvSpPr/>
          <p:nvPr/>
        </p:nvSpPr>
        <p:spPr>
          <a:xfrm>
            <a:off x="7498568" y="1988840"/>
            <a:ext cx="504056" cy="432048"/>
          </a:xfrm>
          <a:prstGeom prst="mathPlu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Plus 7"/>
          <p:cNvSpPr/>
          <p:nvPr/>
        </p:nvSpPr>
        <p:spPr>
          <a:xfrm>
            <a:off x="9982844" y="3835276"/>
            <a:ext cx="504056" cy="432048"/>
          </a:xfrm>
          <a:prstGeom prst="mathPlu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Minus 6"/>
          <p:cNvSpPr/>
          <p:nvPr/>
        </p:nvSpPr>
        <p:spPr>
          <a:xfrm>
            <a:off x="5014292" y="3835276"/>
            <a:ext cx="648072" cy="432048"/>
          </a:xfrm>
          <a:prstGeom prst="mathMinu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Minus 9"/>
          <p:cNvSpPr/>
          <p:nvPr/>
        </p:nvSpPr>
        <p:spPr>
          <a:xfrm>
            <a:off x="7426560" y="5740152"/>
            <a:ext cx="648072" cy="432048"/>
          </a:xfrm>
          <a:prstGeom prst="mathMinu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p:cNvSpPr txBox="1"/>
          <p:nvPr/>
        </p:nvSpPr>
        <p:spPr>
          <a:xfrm>
            <a:off x="5914392" y="6284268"/>
            <a:ext cx="4572508" cy="461665"/>
          </a:xfrm>
          <a:prstGeom prst="rect">
            <a:avLst/>
          </a:prstGeom>
          <a:noFill/>
        </p:spPr>
        <p:txBody>
          <a:bodyPr wrap="square" rtlCol="0">
            <a:spAutoFit/>
          </a:bodyPr>
          <a:lstStyle/>
          <a:p>
            <a:r>
              <a:rPr lang="en-GB" dirty="0" smtClean="0"/>
              <a:t>Language comprehension</a:t>
            </a:r>
            <a:endParaRPr lang="en-GB" dirty="0"/>
          </a:p>
        </p:txBody>
      </p:sp>
      <p:sp>
        <p:nvSpPr>
          <p:cNvPr id="12" name="TextBox 11"/>
          <p:cNvSpPr txBox="1"/>
          <p:nvPr/>
        </p:nvSpPr>
        <p:spPr>
          <a:xfrm rot="16200000">
            <a:off x="2872227" y="4036492"/>
            <a:ext cx="3109768" cy="461665"/>
          </a:xfrm>
          <a:prstGeom prst="rect">
            <a:avLst/>
          </a:prstGeom>
          <a:noFill/>
        </p:spPr>
        <p:txBody>
          <a:bodyPr wrap="square" rtlCol="0">
            <a:spAutoFit/>
          </a:bodyPr>
          <a:lstStyle/>
          <a:p>
            <a:pPr algn="ctr"/>
            <a:r>
              <a:rPr lang="en-GB" dirty="0" smtClean="0"/>
              <a:t>Word recognition</a:t>
            </a:r>
            <a:endParaRPr lang="en-GB" dirty="0"/>
          </a:p>
        </p:txBody>
      </p:sp>
    </p:spTree>
    <p:extLst>
      <p:ext uri="{BB962C8B-B14F-4D97-AF65-F5344CB8AC3E}">
        <p14:creationId xmlns:p14="http://schemas.microsoft.com/office/powerpoint/2010/main" val="1509364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What’s it based on?</a:t>
            </a:r>
            <a:endParaRPr lang="en-GB" dirty="0"/>
          </a:p>
        </p:txBody>
      </p:sp>
      <p:sp>
        <p:nvSpPr>
          <p:cNvPr id="3" name="Content Placeholder 2"/>
          <p:cNvSpPr>
            <a:spLocks noGrp="1"/>
          </p:cNvSpPr>
          <p:nvPr>
            <p:ph idx="1"/>
          </p:nvPr>
        </p:nvSpPr>
        <p:spPr/>
        <p:txBody>
          <a:bodyPr/>
          <a:lstStyle/>
          <a:p>
            <a:r>
              <a:rPr lang="en-GB" dirty="0" smtClean="0"/>
              <a:t>Reading schemes</a:t>
            </a:r>
          </a:p>
          <a:p>
            <a:pPr lvl="1"/>
            <a:r>
              <a:rPr lang="en-GB" dirty="0" smtClean="0"/>
              <a:t>Series of specially written books</a:t>
            </a:r>
          </a:p>
          <a:p>
            <a:pPr lvl="1"/>
            <a:r>
              <a:rPr lang="en-GB" dirty="0" smtClean="0"/>
              <a:t>Based on premise that written English is largely irregular and difficult to learn, so needs to be simplified for beginner readers</a:t>
            </a:r>
          </a:p>
          <a:p>
            <a:pPr lvl="1"/>
            <a:r>
              <a:rPr lang="en-GB" dirty="0" smtClean="0"/>
              <a:t>Books consist of carefully controlled, restricted vocabulary that are introduced gradually and repeated frequently</a:t>
            </a:r>
          </a:p>
          <a:p>
            <a:pPr marL="426645" lvl="1" indent="0">
              <a:buNone/>
            </a:pPr>
            <a:endParaRPr lang="en-GB" dirty="0"/>
          </a:p>
          <a:p>
            <a:pPr marL="3474112" lvl="8" indent="0" algn="r">
              <a:buNone/>
            </a:pPr>
            <a:r>
              <a:rPr lang="en-GB" dirty="0" smtClean="0"/>
              <a:t>(</a:t>
            </a:r>
            <a:r>
              <a:rPr lang="en-GB" dirty="0" err="1" smtClean="0"/>
              <a:t>Solity</a:t>
            </a:r>
            <a:r>
              <a:rPr lang="en-GB" dirty="0" smtClean="0"/>
              <a:t> &amp; </a:t>
            </a:r>
            <a:r>
              <a:rPr lang="en-GB" dirty="0" err="1" smtClean="0"/>
              <a:t>Vousden</a:t>
            </a:r>
            <a:r>
              <a:rPr lang="en-GB" dirty="0" smtClean="0"/>
              <a:t>, 2009)</a:t>
            </a:r>
          </a:p>
          <a:p>
            <a:pPr lvl="1"/>
            <a:endParaRPr lang="en-GB" dirty="0"/>
          </a:p>
        </p:txBody>
      </p:sp>
    </p:spTree>
    <p:extLst>
      <p:ext uri="{BB962C8B-B14F-4D97-AF65-F5344CB8AC3E}">
        <p14:creationId xmlns:p14="http://schemas.microsoft.com/office/powerpoint/2010/main" val="107361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does the evidence say?</a:t>
            </a:r>
            <a:endParaRPr lang="en-GB" dirty="0"/>
          </a:p>
        </p:txBody>
      </p:sp>
      <p:sp>
        <p:nvSpPr>
          <p:cNvPr id="3" name="Content Placeholder 2"/>
          <p:cNvSpPr>
            <a:spLocks noGrp="1"/>
          </p:cNvSpPr>
          <p:nvPr>
            <p:ph idx="1"/>
          </p:nvPr>
        </p:nvSpPr>
        <p:spPr>
          <a:xfrm>
            <a:off x="765820" y="1340768"/>
            <a:ext cx="10729191" cy="5184576"/>
          </a:xfrm>
        </p:spPr>
        <p:txBody>
          <a:bodyPr>
            <a:normAutofit/>
          </a:bodyPr>
          <a:lstStyle/>
          <a:p>
            <a:r>
              <a:rPr lang="en-GB" dirty="0" smtClean="0"/>
              <a:t>Mainly case studies</a:t>
            </a:r>
          </a:p>
          <a:p>
            <a:pPr lvl="1"/>
            <a:r>
              <a:rPr lang="en-GB" dirty="0" smtClean="0"/>
              <a:t>Academy network, London Borough of Newham, 5 primary schools and 2 special schools</a:t>
            </a:r>
          </a:p>
          <a:p>
            <a:pPr lvl="1"/>
            <a:r>
              <a:rPr lang="en-GB" dirty="0" smtClean="0"/>
              <a:t> Quantitative measures –Phonics screening check results, end of Key Stage 1 &amp; 2 results</a:t>
            </a:r>
          </a:p>
          <a:p>
            <a:pPr lvl="1"/>
            <a:r>
              <a:rPr lang="en-GB" dirty="0" smtClean="0"/>
              <a:t>Qualitative measures – staff reports, Ofsted comments</a:t>
            </a:r>
            <a:endParaRPr lang="en-GB" dirty="0"/>
          </a:p>
          <a:p>
            <a:r>
              <a:rPr lang="en-GB" dirty="0"/>
              <a:t>Reading by 6: how the best schools do </a:t>
            </a:r>
            <a:r>
              <a:rPr lang="en-GB" dirty="0" smtClean="0"/>
              <a:t>it (Ofsted, 2010)</a:t>
            </a:r>
          </a:p>
          <a:p>
            <a:pPr lvl="1"/>
            <a:r>
              <a:rPr lang="en-GB" dirty="0" smtClean="0"/>
              <a:t>Looked at practice of 12 outstanding schools in England</a:t>
            </a:r>
          </a:p>
          <a:p>
            <a:pPr lvl="1"/>
            <a:r>
              <a:rPr lang="en-GB" dirty="0" smtClean="0"/>
              <a:t>Seven of the schools featured used Read Write </a:t>
            </a:r>
            <a:r>
              <a:rPr lang="en-GB" dirty="0" err="1" smtClean="0"/>
              <a:t>Inc</a:t>
            </a:r>
            <a:endParaRPr lang="en-GB" dirty="0"/>
          </a:p>
          <a:p>
            <a:r>
              <a:rPr lang="en-GB" dirty="0" smtClean="0"/>
              <a:t>What works for children and young people with literacy difficulties?: The effectiveness of intervention scheme (Brooks, 2013)</a:t>
            </a:r>
            <a:endParaRPr lang="en-GB" dirty="0"/>
          </a:p>
          <a:p>
            <a:pPr marL="0" indent="0">
              <a:buNone/>
            </a:pPr>
            <a:endParaRPr lang="en-GB" dirty="0"/>
          </a:p>
          <a:p>
            <a:endParaRPr lang="en-GB" dirty="0"/>
          </a:p>
          <a:p>
            <a:endParaRPr lang="en-GB" dirty="0"/>
          </a:p>
        </p:txBody>
      </p:sp>
    </p:spTree>
    <p:extLst>
      <p:ext uri="{BB962C8B-B14F-4D97-AF65-F5344CB8AC3E}">
        <p14:creationId xmlns:p14="http://schemas.microsoft.com/office/powerpoint/2010/main" val="1674465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333772" y="3954428"/>
            <a:ext cx="5400600" cy="2786940"/>
          </a:xfrm>
          <a:prstGeom prst="rect">
            <a:avLst/>
          </a:prstGeom>
        </p:spPr>
      </p:pic>
      <p:sp>
        <p:nvSpPr>
          <p:cNvPr id="2" name="Title 1"/>
          <p:cNvSpPr>
            <a:spLocks noGrp="1"/>
          </p:cNvSpPr>
          <p:nvPr>
            <p:ph type="title"/>
          </p:nvPr>
        </p:nvSpPr>
        <p:spPr/>
        <p:txBody>
          <a:bodyPr/>
          <a:lstStyle/>
          <a:p>
            <a:r>
              <a:rPr lang="en-GB" dirty="0" smtClean="0"/>
              <a:t>What about synthetic phonics?</a:t>
            </a:r>
            <a:endParaRPr lang="en-GB" dirty="0"/>
          </a:p>
        </p:txBody>
      </p:sp>
      <p:sp>
        <p:nvSpPr>
          <p:cNvPr id="3" name="Content Placeholder 2"/>
          <p:cNvSpPr>
            <a:spLocks noGrp="1"/>
          </p:cNvSpPr>
          <p:nvPr>
            <p:ph idx="1"/>
          </p:nvPr>
        </p:nvSpPr>
        <p:spPr>
          <a:xfrm>
            <a:off x="1117309" y="1701800"/>
            <a:ext cx="10157354" cy="5039568"/>
          </a:xfrm>
        </p:spPr>
        <p:txBody>
          <a:bodyPr>
            <a:normAutofit/>
          </a:bodyPr>
          <a:lstStyle/>
          <a:p>
            <a:pPr marL="0" indent="0">
              <a:buNone/>
            </a:pPr>
            <a:r>
              <a:rPr lang="en-GB" dirty="0" smtClean="0"/>
              <a:t>Clackmannanshire study – Johnston &amp; Watson (2005</a:t>
            </a:r>
            <a:r>
              <a:rPr lang="en-GB" dirty="0" smtClean="0"/>
              <a:t>)</a:t>
            </a:r>
          </a:p>
          <a:p>
            <a:pPr lvl="1"/>
            <a:r>
              <a:rPr lang="en-GB" dirty="0" smtClean="0"/>
              <a:t>Very influential in Rose Report recommendations that synthetic phonics is best approach</a:t>
            </a:r>
          </a:p>
          <a:p>
            <a:pPr lvl="1"/>
            <a:r>
              <a:rPr lang="en-GB" dirty="0" smtClean="0"/>
              <a:t>7 year study based in primary schools in Scotland</a:t>
            </a:r>
          </a:p>
          <a:p>
            <a:pPr lvl="1"/>
            <a:r>
              <a:rPr lang="en-GB" dirty="0" smtClean="0"/>
              <a:t>3 groups: 1. Synthetic phonic approach 2. Whole word approach 3. Analytic phonics </a:t>
            </a:r>
            <a:endParaRPr lang="en-GB" dirty="0" smtClean="0"/>
          </a:p>
          <a:p>
            <a:pPr marL="426645" lvl="1" indent="0">
              <a:buNone/>
            </a:pPr>
            <a:r>
              <a:rPr lang="en-GB" dirty="0" smtClean="0"/>
              <a:t> </a:t>
            </a:r>
          </a:p>
          <a:p>
            <a:endParaRPr lang="en-GB" dirty="0" smtClean="0"/>
          </a:p>
          <a:p>
            <a:endParaRPr lang="en-GB" dirty="0"/>
          </a:p>
          <a:p>
            <a:endParaRPr lang="en-GB" dirty="0" smtClean="0"/>
          </a:p>
          <a:p>
            <a:pPr lvl="8"/>
            <a:endParaRPr lang="en-GB" dirty="0"/>
          </a:p>
          <a:p>
            <a:pPr marL="0" indent="0">
              <a:buNone/>
            </a:pPr>
            <a:endParaRPr lang="en-GB" dirty="0" smtClean="0"/>
          </a:p>
          <a:p>
            <a:endParaRPr lang="en-GB" dirty="0"/>
          </a:p>
          <a:p>
            <a:endParaRPr lang="en-GB" dirty="0"/>
          </a:p>
        </p:txBody>
      </p:sp>
      <p:sp>
        <p:nvSpPr>
          <p:cNvPr id="5" name="TextBox 4"/>
          <p:cNvSpPr txBox="1"/>
          <p:nvPr/>
        </p:nvSpPr>
        <p:spPr>
          <a:xfrm>
            <a:off x="740674" y="6685211"/>
            <a:ext cx="5299026" cy="246221"/>
          </a:xfrm>
          <a:prstGeom prst="rect">
            <a:avLst/>
          </a:prstGeom>
          <a:noFill/>
        </p:spPr>
        <p:txBody>
          <a:bodyPr wrap="square" rtlCol="0">
            <a:spAutoFit/>
          </a:bodyPr>
          <a:lstStyle/>
          <a:p>
            <a:r>
              <a:rPr lang="en-GB" sz="1000" dirty="0"/>
              <a:t>http://www.gov.scot/Publications/2005/02/20682/52383</a:t>
            </a:r>
          </a:p>
        </p:txBody>
      </p:sp>
      <p:sp>
        <p:nvSpPr>
          <p:cNvPr id="6" name="TextBox 5"/>
          <p:cNvSpPr txBox="1"/>
          <p:nvPr/>
        </p:nvSpPr>
        <p:spPr>
          <a:xfrm flipV="1">
            <a:off x="1117309" y="2127750"/>
            <a:ext cx="45719" cy="1200329"/>
          </a:xfrm>
          <a:prstGeom prst="rect">
            <a:avLst/>
          </a:prstGeom>
          <a:noFill/>
        </p:spPr>
        <p:txBody>
          <a:bodyPr wrap="square" rtlCol="0">
            <a:spAutoFit/>
          </a:bodyPr>
          <a:lstStyle/>
          <a:p>
            <a:pPr marL="342900" indent="-342900">
              <a:buFontTx/>
              <a:buChar char="-"/>
            </a:pPr>
            <a:endParaRPr lang="en-GB" dirty="0" smtClean="0"/>
          </a:p>
          <a:p>
            <a:pPr marL="342900" indent="-342900">
              <a:buFontTx/>
              <a:buChar char="-"/>
            </a:pPr>
            <a:endParaRPr lang="en-GB" dirty="0" smtClean="0"/>
          </a:p>
          <a:p>
            <a:pPr marL="342900" indent="-342900">
              <a:buFontTx/>
              <a:buChar char="-"/>
            </a:pPr>
            <a:endParaRPr lang="en-GB" dirty="0"/>
          </a:p>
        </p:txBody>
      </p:sp>
      <p:sp>
        <p:nvSpPr>
          <p:cNvPr id="7" name="TextBox 6"/>
          <p:cNvSpPr txBox="1"/>
          <p:nvPr/>
        </p:nvSpPr>
        <p:spPr>
          <a:xfrm>
            <a:off x="6345027" y="4044306"/>
            <a:ext cx="4316155" cy="1938992"/>
          </a:xfrm>
          <a:prstGeom prst="rect">
            <a:avLst/>
          </a:prstGeom>
          <a:noFill/>
        </p:spPr>
        <p:txBody>
          <a:bodyPr wrap="square" rtlCol="0">
            <a:spAutoFit/>
          </a:bodyPr>
          <a:lstStyle/>
          <a:p>
            <a:pPr algn="ctr"/>
            <a:r>
              <a:rPr lang="en-GB" i="1" dirty="0" smtClean="0"/>
              <a:t>The synthetic phonics approach as part of the reading curriculum is more effective than the analytic phonics approach</a:t>
            </a:r>
            <a:endParaRPr lang="en-GB" i="1" dirty="0"/>
          </a:p>
        </p:txBody>
      </p:sp>
    </p:spTree>
    <p:extLst>
      <p:ext uri="{BB962C8B-B14F-4D97-AF65-F5344CB8AC3E}">
        <p14:creationId xmlns:p14="http://schemas.microsoft.com/office/powerpoint/2010/main" val="3968502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about synthetic phonics?</a:t>
            </a:r>
            <a:endParaRPr lang="en-GB" dirty="0"/>
          </a:p>
        </p:txBody>
      </p:sp>
      <p:sp>
        <p:nvSpPr>
          <p:cNvPr id="3" name="Content Placeholder 2"/>
          <p:cNvSpPr>
            <a:spLocks noGrp="1"/>
          </p:cNvSpPr>
          <p:nvPr>
            <p:ph idx="1"/>
          </p:nvPr>
        </p:nvSpPr>
        <p:spPr/>
        <p:txBody>
          <a:bodyPr>
            <a:normAutofit lnSpcReduction="10000"/>
          </a:bodyPr>
          <a:lstStyle/>
          <a:p>
            <a:pPr marL="0" indent="0">
              <a:buNone/>
            </a:pPr>
            <a:r>
              <a:rPr lang="en-GB" dirty="0" smtClean="0"/>
              <a:t>A </a:t>
            </a:r>
            <a:r>
              <a:rPr lang="en-GB" dirty="0"/>
              <a:t>systematic review of the research literature on the use of phonics in the teaching of reading and spelling </a:t>
            </a:r>
            <a:r>
              <a:rPr lang="en-GB" dirty="0" smtClean="0"/>
              <a:t>- </a:t>
            </a:r>
            <a:r>
              <a:rPr lang="en-GB" dirty="0" err="1" smtClean="0"/>
              <a:t>Torgerson</a:t>
            </a:r>
            <a:r>
              <a:rPr lang="en-GB" dirty="0"/>
              <a:t>, Brooks &amp; </a:t>
            </a:r>
            <a:r>
              <a:rPr lang="en-GB" dirty="0" smtClean="0"/>
              <a:t>Hall (2006</a:t>
            </a:r>
            <a:r>
              <a:rPr lang="en-GB" dirty="0"/>
              <a:t>)	</a:t>
            </a:r>
            <a:endParaRPr lang="en-GB" dirty="0"/>
          </a:p>
          <a:p>
            <a:pPr lvl="1"/>
            <a:r>
              <a:rPr lang="en-GB" dirty="0" smtClean="0"/>
              <a:t>Systematic review. Inclusion criteria: Randomised Control Trials of interventions that focused on teaching of phonics; Measured reading as an outcome</a:t>
            </a:r>
          </a:p>
          <a:p>
            <a:pPr lvl="1">
              <a:buFontTx/>
              <a:buChar char="-"/>
            </a:pPr>
            <a:r>
              <a:rPr lang="en-GB" dirty="0" smtClean="0"/>
              <a:t>Found evidence that systematic phonics teaching was associated with better progress in reading accuracy. No significant effect for reading comprehension.</a:t>
            </a:r>
          </a:p>
          <a:p>
            <a:pPr lvl="1">
              <a:buFontTx/>
              <a:buChar char="-"/>
            </a:pPr>
            <a:r>
              <a:rPr lang="en-GB" dirty="0" smtClean="0"/>
              <a:t>Did report </a:t>
            </a:r>
            <a:r>
              <a:rPr lang="en-GB" i="1" dirty="0" smtClean="0"/>
              <a:t>no significant difference</a:t>
            </a:r>
            <a:r>
              <a:rPr lang="en-GB" dirty="0" smtClean="0"/>
              <a:t> in the effect of synthetic vs analytic phonics teaching</a:t>
            </a:r>
            <a:endParaRPr lang="en-GB" dirty="0"/>
          </a:p>
          <a:p>
            <a:pPr marL="0" indent="0">
              <a:buNone/>
            </a:pPr>
            <a:r>
              <a:rPr lang="en-GB" dirty="0"/>
              <a:t>				</a:t>
            </a:r>
          </a:p>
          <a:p>
            <a:endParaRPr lang="en-GB" dirty="0"/>
          </a:p>
        </p:txBody>
      </p:sp>
    </p:spTree>
    <p:extLst>
      <p:ext uri="{BB962C8B-B14F-4D97-AF65-F5344CB8AC3E}">
        <p14:creationId xmlns:p14="http://schemas.microsoft.com/office/powerpoint/2010/main" val="827154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about reading schemes?</a:t>
            </a:r>
            <a:endParaRPr lang="en-GB" dirty="0"/>
          </a:p>
        </p:txBody>
      </p:sp>
      <p:sp>
        <p:nvSpPr>
          <p:cNvPr id="3" name="Content Placeholder 2"/>
          <p:cNvSpPr>
            <a:spLocks noGrp="1"/>
          </p:cNvSpPr>
          <p:nvPr>
            <p:ph idx="1"/>
          </p:nvPr>
        </p:nvSpPr>
        <p:spPr/>
        <p:txBody>
          <a:bodyPr>
            <a:normAutofit fontScale="92500" lnSpcReduction="10000"/>
          </a:bodyPr>
          <a:lstStyle/>
          <a:p>
            <a:pPr marL="0" indent="0">
              <a:buNone/>
            </a:pPr>
            <a:r>
              <a:rPr lang="en-GB" dirty="0" smtClean="0"/>
              <a:t>Real books vs reading schemes: a new perspective from instructional psychology - </a:t>
            </a:r>
            <a:r>
              <a:rPr lang="en-GB" dirty="0" err="1" smtClean="0"/>
              <a:t>Solity</a:t>
            </a:r>
            <a:r>
              <a:rPr lang="en-GB" dirty="0" smtClean="0"/>
              <a:t> &amp; </a:t>
            </a:r>
            <a:r>
              <a:rPr lang="en-GB" dirty="0" err="1" smtClean="0"/>
              <a:t>Vousden</a:t>
            </a:r>
            <a:r>
              <a:rPr lang="en-GB" dirty="0" smtClean="0"/>
              <a:t> (2009) </a:t>
            </a:r>
          </a:p>
          <a:p>
            <a:pPr marL="426645" lvl="1" indent="0">
              <a:buNone/>
            </a:pPr>
            <a:r>
              <a:rPr lang="en-GB" dirty="0" smtClean="0"/>
              <a:t>- </a:t>
            </a:r>
            <a:r>
              <a:rPr lang="en-GB" dirty="0"/>
              <a:t>Identify some disadvantages with the systematic nature of reading schemes</a:t>
            </a:r>
          </a:p>
          <a:p>
            <a:pPr lvl="4"/>
            <a:r>
              <a:rPr lang="en-GB" dirty="0" smtClean="0"/>
              <a:t>Primary </a:t>
            </a:r>
            <a:r>
              <a:rPr lang="en-GB" dirty="0"/>
              <a:t>goal of reading becomes about getting through the reading scheme, as opposed to deriving enjoyment and meaning</a:t>
            </a:r>
          </a:p>
          <a:p>
            <a:pPr lvl="4"/>
            <a:r>
              <a:rPr lang="en-GB" dirty="0" smtClean="0"/>
              <a:t>Choice </a:t>
            </a:r>
            <a:r>
              <a:rPr lang="en-GB" dirty="0"/>
              <a:t>of reading material severely restricted. </a:t>
            </a:r>
            <a:endParaRPr lang="en-GB" dirty="0" smtClean="0"/>
          </a:p>
          <a:p>
            <a:pPr lvl="4"/>
            <a:r>
              <a:rPr lang="en-GB" dirty="0" smtClean="0"/>
              <a:t>Limited </a:t>
            </a:r>
            <a:r>
              <a:rPr lang="en-GB" dirty="0"/>
              <a:t>vocabulary in books reduces opportunities to use books as means to increase children’s vocabulary and general </a:t>
            </a:r>
            <a:r>
              <a:rPr lang="en-GB" dirty="0" smtClean="0"/>
              <a:t>knowledge</a:t>
            </a:r>
            <a:endParaRPr lang="en-GB" dirty="0"/>
          </a:p>
          <a:p>
            <a:pPr marL="0" indent="0">
              <a:buNone/>
            </a:pPr>
            <a:r>
              <a:rPr lang="en-GB" dirty="0" smtClean="0"/>
              <a:t>Levy </a:t>
            </a:r>
            <a:r>
              <a:rPr lang="en-GB" dirty="0"/>
              <a:t>(2009) carried out longitudinal research, looking at young children’s definitions of reading and development of their self-concepts as readers.</a:t>
            </a:r>
          </a:p>
          <a:p>
            <a:pPr lvl="4"/>
            <a:r>
              <a:rPr lang="en-GB" dirty="0"/>
              <a:t>Supported </a:t>
            </a:r>
            <a:r>
              <a:rPr lang="en-GB" dirty="0" err="1"/>
              <a:t>Solity</a:t>
            </a:r>
            <a:r>
              <a:rPr lang="en-GB" dirty="0"/>
              <a:t> &amp; </a:t>
            </a:r>
            <a:r>
              <a:rPr lang="en-GB" dirty="0" err="1"/>
              <a:t>Vousden’s</a:t>
            </a:r>
            <a:r>
              <a:rPr lang="en-GB" dirty="0"/>
              <a:t> arguments. Reading schemes impacted negatively on children’s confidence and enjoyment of reading. Also, influenced children’s definitions of reading.</a:t>
            </a:r>
          </a:p>
          <a:p>
            <a:endParaRPr lang="en-GB" dirty="0"/>
          </a:p>
        </p:txBody>
      </p:sp>
    </p:spTree>
    <p:extLst>
      <p:ext uri="{BB962C8B-B14F-4D97-AF65-F5344CB8AC3E}">
        <p14:creationId xmlns:p14="http://schemas.microsoft.com/office/powerpoint/2010/main" val="3547514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117309" y="1549744"/>
            <a:ext cx="10157354" cy="4278094"/>
          </a:xfrm>
          <a:prstGeom prst="rect">
            <a:avLst/>
          </a:prstGeom>
          <a:noFill/>
        </p:spPr>
        <p:txBody>
          <a:bodyPr wrap="square" rtlCol="0">
            <a:spAutoFit/>
          </a:bodyPr>
          <a:lstStyle/>
          <a:p>
            <a:pPr marL="571500" indent="-571500">
              <a:buFont typeface="Arial" panose="020B0604020202020204" pitchFamily="34" charset="0"/>
              <a:buChar char="•"/>
            </a:pPr>
            <a:r>
              <a:rPr lang="en-GB" dirty="0" smtClean="0">
                <a:latin typeface="+mj-lt"/>
              </a:rPr>
              <a:t>Training</a:t>
            </a:r>
            <a:endParaRPr lang="en-GB" sz="2000" dirty="0" smtClean="0">
              <a:latin typeface="+mj-lt"/>
            </a:endParaRPr>
          </a:p>
          <a:p>
            <a:pPr marL="952393" lvl="1" indent="-342900">
              <a:buFontTx/>
              <a:buChar char="-"/>
            </a:pPr>
            <a:r>
              <a:rPr lang="en-GB" sz="2000" dirty="0" smtClean="0">
                <a:latin typeface="+mj-lt"/>
              </a:rPr>
              <a:t>One </a:t>
            </a:r>
            <a:r>
              <a:rPr lang="en-GB" sz="2000" dirty="0" smtClean="0">
                <a:latin typeface="+mj-lt"/>
              </a:rPr>
              <a:t>of the only programmes to offer whole school training packages. </a:t>
            </a:r>
          </a:p>
          <a:p>
            <a:pPr marL="952393" lvl="1" indent="-342900">
              <a:buFontTx/>
              <a:buChar char="-"/>
            </a:pPr>
            <a:endParaRPr lang="en-GB" sz="2000" dirty="0" smtClean="0">
              <a:latin typeface="+mj-lt"/>
            </a:endParaRPr>
          </a:p>
          <a:p>
            <a:pPr marL="952393" lvl="1" indent="-342900">
              <a:buFontTx/>
              <a:buChar char="-"/>
            </a:pPr>
            <a:r>
              <a:rPr lang="en-GB" sz="2000" dirty="0" smtClean="0">
                <a:latin typeface="+mj-lt"/>
              </a:rPr>
              <a:t>Importance </a:t>
            </a:r>
            <a:r>
              <a:rPr lang="en-GB" sz="2000" dirty="0" smtClean="0">
                <a:latin typeface="+mj-lt"/>
              </a:rPr>
              <a:t>of developing shared knowledge and an inclusive approach in schools (</a:t>
            </a:r>
            <a:r>
              <a:rPr lang="en-GB" sz="2000" dirty="0"/>
              <a:t>De </a:t>
            </a:r>
            <a:r>
              <a:rPr lang="en-GB" sz="2000" dirty="0" err="1"/>
              <a:t>Coster</a:t>
            </a:r>
            <a:r>
              <a:rPr lang="en-GB" sz="2000" dirty="0" smtClean="0"/>
              <a:t>, </a:t>
            </a:r>
            <a:r>
              <a:rPr lang="en-GB" sz="2000" dirty="0" err="1" smtClean="0"/>
              <a:t>Baidak</a:t>
            </a:r>
            <a:r>
              <a:rPr lang="en-GB" sz="2000" dirty="0" smtClean="0"/>
              <a:t>, </a:t>
            </a:r>
            <a:r>
              <a:rPr lang="en-GB" sz="2000" dirty="0" err="1" smtClean="0"/>
              <a:t>Motiejunaite</a:t>
            </a:r>
            <a:r>
              <a:rPr lang="en-GB" sz="2000" dirty="0" smtClean="0"/>
              <a:t> </a:t>
            </a:r>
            <a:r>
              <a:rPr lang="en-GB" sz="2000" dirty="0"/>
              <a:t>&amp; </a:t>
            </a:r>
            <a:r>
              <a:rPr lang="en-GB" sz="2000" dirty="0" err="1" smtClean="0"/>
              <a:t>Noora</a:t>
            </a:r>
            <a:r>
              <a:rPr lang="en-GB" sz="2000" dirty="0" smtClean="0"/>
              <a:t>, 2011</a:t>
            </a:r>
            <a:r>
              <a:rPr lang="en-GB" sz="2000" dirty="0" smtClean="0"/>
              <a:t>)</a:t>
            </a:r>
          </a:p>
          <a:p>
            <a:pPr marL="952393" lvl="1" indent="-342900">
              <a:buFontTx/>
              <a:buChar char="-"/>
            </a:pPr>
            <a:endParaRPr lang="en-GB" sz="2000" dirty="0">
              <a:latin typeface="+mj-lt"/>
            </a:endParaRPr>
          </a:p>
          <a:p>
            <a:pPr lvl="1"/>
            <a:r>
              <a:rPr lang="en-GB" sz="2000" b="1" dirty="0" smtClean="0">
                <a:latin typeface="+mj-lt"/>
              </a:rPr>
              <a:t>BUT</a:t>
            </a:r>
            <a:r>
              <a:rPr lang="en-GB" sz="2000" dirty="0" smtClean="0">
                <a:latin typeface="+mj-lt"/>
              </a:rPr>
              <a:t> does Read Write </a:t>
            </a:r>
            <a:r>
              <a:rPr lang="en-GB" sz="2000" dirty="0" err="1" smtClean="0">
                <a:latin typeface="+mj-lt"/>
              </a:rPr>
              <a:t>Inc</a:t>
            </a:r>
            <a:r>
              <a:rPr lang="en-GB" sz="2000" dirty="0" smtClean="0">
                <a:latin typeface="+mj-lt"/>
              </a:rPr>
              <a:t> limit teachers understanding to one approach rather than developing reflective, research-oriented practice?</a:t>
            </a:r>
          </a:p>
          <a:p>
            <a:pPr marL="952393" lvl="1" indent="-342900">
              <a:buFontTx/>
              <a:buChar char="-"/>
            </a:pPr>
            <a:endParaRPr lang="en-GB" sz="2000" dirty="0">
              <a:latin typeface="+mj-lt"/>
            </a:endParaRPr>
          </a:p>
          <a:p>
            <a:pPr marL="952393" lvl="1" indent="-342900">
              <a:buFontTx/>
              <a:buChar char="-"/>
            </a:pPr>
            <a:r>
              <a:rPr lang="en-GB" sz="2000" dirty="0" smtClean="0">
                <a:latin typeface="+mj-lt"/>
              </a:rPr>
              <a:t>Hall &amp; Harding (2003) Teachers way of working is more important than reliance on a particular package of materials.</a:t>
            </a:r>
            <a:endParaRPr lang="en-GB" sz="2000" dirty="0" smtClean="0">
              <a:latin typeface="+mj-lt"/>
            </a:endParaRPr>
          </a:p>
          <a:p>
            <a:endParaRPr lang="en-GB" dirty="0" smtClean="0">
              <a:latin typeface="+mj-lt"/>
            </a:endParaRPr>
          </a:p>
          <a:p>
            <a:pPr marL="571500" indent="-571500">
              <a:buFont typeface="Arial" panose="020B0604020202020204" pitchFamily="34" charset="0"/>
              <a:buChar char="•"/>
            </a:pPr>
            <a:endParaRPr lang="en-GB" dirty="0">
              <a:latin typeface="+mj-lt"/>
            </a:endParaRPr>
          </a:p>
        </p:txBody>
      </p:sp>
      <p:sp>
        <p:nvSpPr>
          <p:cNvPr id="2" name="Title 1"/>
          <p:cNvSpPr>
            <a:spLocks noGrp="1"/>
          </p:cNvSpPr>
          <p:nvPr>
            <p:ph type="title"/>
          </p:nvPr>
        </p:nvSpPr>
        <p:spPr/>
        <p:txBody>
          <a:bodyPr/>
          <a:lstStyle/>
          <a:p>
            <a:r>
              <a:rPr lang="en-GB" dirty="0" smtClean="0"/>
              <a:t>Anything else?</a:t>
            </a:r>
            <a:endParaRPr lang="en-GB" dirty="0"/>
          </a:p>
        </p:txBody>
      </p:sp>
    </p:spTree>
    <p:extLst>
      <p:ext uri="{BB962C8B-B14F-4D97-AF65-F5344CB8AC3E}">
        <p14:creationId xmlns:p14="http://schemas.microsoft.com/office/powerpoint/2010/main" val="3253711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Conclusions </a:t>
            </a:r>
            <a:endParaRPr lang="en-GB" dirty="0"/>
          </a:p>
        </p:txBody>
      </p:sp>
      <p:sp>
        <p:nvSpPr>
          <p:cNvPr id="3" name="Content Placeholder 2"/>
          <p:cNvSpPr>
            <a:spLocks noGrp="1"/>
          </p:cNvSpPr>
          <p:nvPr>
            <p:ph idx="1"/>
          </p:nvPr>
        </p:nvSpPr>
        <p:spPr>
          <a:xfrm>
            <a:off x="1117309" y="1628800"/>
            <a:ext cx="10157354" cy="4752528"/>
          </a:xfrm>
        </p:spPr>
        <p:txBody>
          <a:bodyPr>
            <a:normAutofit/>
          </a:bodyPr>
          <a:lstStyle/>
          <a:p>
            <a:r>
              <a:rPr lang="en-GB" dirty="0" smtClean="0"/>
              <a:t>Read, Write Inc. is one of the most widely used phonic programmes in UK primary schools</a:t>
            </a:r>
          </a:p>
          <a:p>
            <a:r>
              <a:rPr lang="en-GB" dirty="0" smtClean="0"/>
              <a:t>Limited evidence, </a:t>
            </a:r>
            <a:r>
              <a:rPr lang="en-GB" dirty="0" smtClean="0"/>
              <a:t>mainly </a:t>
            </a:r>
            <a:r>
              <a:rPr lang="en-GB" dirty="0" smtClean="0"/>
              <a:t>from case studies, that RWI supports </a:t>
            </a:r>
            <a:r>
              <a:rPr lang="en-GB" smtClean="0"/>
              <a:t>phonic </a:t>
            </a:r>
            <a:r>
              <a:rPr lang="en-GB" smtClean="0"/>
              <a:t>skills</a:t>
            </a:r>
            <a:endParaRPr lang="en-GB" dirty="0" smtClean="0"/>
          </a:p>
          <a:p>
            <a:r>
              <a:rPr lang="en-GB" dirty="0" smtClean="0"/>
              <a:t>EPs </a:t>
            </a:r>
            <a:r>
              <a:rPr lang="en-GB" dirty="0" smtClean="0"/>
              <a:t>should work with teaching staff to develop their understanding of a range of useful strategies. Also, to encourage them to use a wide range of literary texts and resources to promote reading for pleasure and interest</a:t>
            </a:r>
          </a:p>
          <a:p>
            <a:pPr marL="0" indent="0">
              <a:buNone/>
            </a:pPr>
            <a:endParaRPr lang="en-GB" dirty="0"/>
          </a:p>
        </p:txBody>
      </p:sp>
    </p:spTree>
    <p:extLst>
      <p:ext uri="{BB962C8B-B14F-4D97-AF65-F5344CB8AC3E}">
        <p14:creationId xmlns:p14="http://schemas.microsoft.com/office/powerpoint/2010/main" val="3909769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1804" y="692696"/>
            <a:ext cx="7008574" cy="1930400"/>
          </a:xfrm>
        </p:spPr>
        <p:txBody>
          <a:bodyPr>
            <a:normAutofit fontScale="90000"/>
          </a:bodyPr>
          <a:lstStyle/>
          <a:p>
            <a:r>
              <a:rPr lang="en-GB" dirty="0"/>
              <a:t>“The more that you read, the more things you will know. The more that you learn, the more places you'll </a:t>
            </a:r>
            <a:r>
              <a:rPr lang="en-GB" dirty="0" smtClean="0"/>
              <a:t>go” </a:t>
            </a:r>
            <a:r>
              <a:rPr lang="en-GB" dirty="0"/>
              <a:t>― Dr. Seuss</a:t>
            </a:r>
            <a:endParaRPr lang="en-US" dirty="0"/>
          </a:p>
        </p:txBody>
      </p:sp>
    </p:spTree>
    <p:extLst>
      <p:ext uri="{BB962C8B-B14F-4D97-AF65-F5344CB8AC3E}">
        <p14:creationId xmlns:p14="http://schemas.microsoft.com/office/powerpoint/2010/main" val="1997697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Books 16x9">
  <a:themeElements>
    <a:clrScheme name="Books_16x9">
      <a:dk1>
        <a:srgbClr val="374C81"/>
      </a:dk1>
      <a:lt1>
        <a:srgbClr val="FFFFFF"/>
      </a:lt1>
      <a:dk2>
        <a:srgbClr val="000000"/>
      </a:dk2>
      <a:lt2>
        <a:srgbClr val="EDE5DF"/>
      </a:lt2>
      <a:accent1>
        <a:srgbClr val="414E77"/>
      </a:accent1>
      <a:accent2>
        <a:srgbClr val="70AAC4"/>
      </a:accent2>
      <a:accent3>
        <a:srgbClr val="8B6A94"/>
      </a:accent3>
      <a:accent4>
        <a:srgbClr val="61A796"/>
      </a:accent4>
      <a:accent5>
        <a:srgbClr val="4E5798"/>
      </a:accent5>
      <a:accent6>
        <a:srgbClr val="7E5C5C"/>
      </a:accent6>
      <a:hlink>
        <a:srgbClr val="0070C0"/>
      </a:hlink>
      <a:folHlink>
        <a:srgbClr val="7030A0"/>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extraClrSchemeLst/>
</a:theme>
</file>

<file path=ppt/theme/theme2.xml><?xml version="1.0" encoding="utf-8"?>
<a:theme xmlns:a="http://schemas.openxmlformats.org/drawingml/2006/main" name="Office Theme">
  <a:themeElements>
    <a:clrScheme name="Books16x9">
      <a:dk1>
        <a:srgbClr val="374C81"/>
      </a:dk1>
      <a:lt1>
        <a:srgbClr val="FFFFFF"/>
      </a:lt1>
      <a:dk2>
        <a:srgbClr val="000000"/>
      </a:dk2>
      <a:lt2>
        <a:srgbClr val="EDE5DF"/>
      </a:lt2>
      <a:accent1>
        <a:srgbClr val="414E77"/>
      </a:accent1>
      <a:accent2>
        <a:srgbClr val="70AAC4"/>
      </a:accent2>
      <a:accent3>
        <a:srgbClr val="8B6A94"/>
      </a:accent3>
      <a:accent4>
        <a:srgbClr val="61A796"/>
      </a:accent4>
      <a:accent5>
        <a:srgbClr val="4E5798"/>
      </a:accent5>
      <a:accent6>
        <a:srgbClr val="7E5C5C"/>
      </a:accent6>
      <a:hlink>
        <a:srgbClr val="0070C0"/>
      </a:hlink>
      <a:folHlink>
        <a:srgbClr val="7030A0"/>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extraClrSchemeLst/>
</a:theme>
</file>

<file path=ppt/theme/theme3.xml><?xml version="1.0" encoding="utf-8"?>
<a:theme xmlns:a="http://schemas.openxmlformats.org/drawingml/2006/main" name="Office Theme">
  <a:themeElements>
    <a:clrScheme name="Books16x9">
      <a:dk1>
        <a:srgbClr val="374C81"/>
      </a:dk1>
      <a:lt1>
        <a:srgbClr val="FFFFFF"/>
      </a:lt1>
      <a:dk2>
        <a:srgbClr val="000000"/>
      </a:dk2>
      <a:lt2>
        <a:srgbClr val="EDE5DF"/>
      </a:lt2>
      <a:accent1>
        <a:srgbClr val="414E77"/>
      </a:accent1>
      <a:accent2>
        <a:srgbClr val="70AAC4"/>
      </a:accent2>
      <a:accent3>
        <a:srgbClr val="8B6A94"/>
      </a:accent3>
      <a:accent4>
        <a:srgbClr val="61A796"/>
      </a:accent4>
      <a:accent5>
        <a:srgbClr val="4E5798"/>
      </a:accent5>
      <a:accent6>
        <a:srgbClr val="7E5C5C"/>
      </a:accent6>
      <a:hlink>
        <a:srgbClr val="0070C0"/>
      </a:hlink>
      <a:folHlink>
        <a:srgbClr val="7030A0"/>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E1B558C7-619B-49BE-9097-7FCBDADD4EC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Blue bookstack presentation (widescreen)</Template>
  <TotalTime>0</TotalTime>
  <Words>3377</Words>
  <Application>Microsoft Office PowerPoint</Application>
  <PresentationFormat>Custom</PresentationFormat>
  <Paragraphs>257</Paragraphs>
  <Slides>14</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Century Gothic</vt:lpstr>
      <vt:lpstr>Books 16x9</vt:lpstr>
      <vt:lpstr>READ WRITE INC. Phonics</vt:lpstr>
      <vt:lpstr>Before we begin…</vt:lpstr>
      <vt:lpstr>What is it?</vt:lpstr>
      <vt:lpstr>What’s involved?</vt:lpstr>
      <vt:lpstr>What’s involved?</vt:lpstr>
      <vt:lpstr>What’s it based on?</vt:lpstr>
      <vt:lpstr>What’s it based on?</vt:lpstr>
      <vt:lpstr>What does the evidence say?</vt:lpstr>
      <vt:lpstr>What about synthetic phonics?</vt:lpstr>
      <vt:lpstr>What about synthetic phonics?</vt:lpstr>
      <vt:lpstr>What about reading schemes?</vt:lpstr>
      <vt:lpstr>Anything else?</vt:lpstr>
      <vt:lpstr>Conclusions </vt:lpstr>
      <vt:lpstr>“The more that you read, the more things you will know. The more that you learn, the more places you'll go” ― Dr. Seuss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2015-12-11T15:38:36Z</dcterms:created>
  <dcterms:modified xsi:type="dcterms:W3CDTF">2015-12-17T21:06:52Z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TC027879409991</vt:lpwstr>
  </property>
</Properties>
</file>