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handoutMasterIdLst>
    <p:handoutMasterId r:id="rId30"/>
  </p:handoutMasterIdLst>
  <p:sldIdLst>
    <p:sldId id="256" r:id="rId2"/>
    <p:sldId id="285" r:id="rId3"/>
    <p:sldId id="257" r:id="rId4"/>
    <p:sldId id="259" r:id="rId5"/>
    <p:sldId id="260" r:id="rId6"/>
    <p:sldId id="261" r:id="rId7"/>
    <p:sldId id="269" r:id="rId8"/>
    <p:sldId id="270" r:id="rId9"/>
    <p:sldId id="271" r:id="rId10"/>
    <p:sldId id="262" r:id="rId11"/>
    <p:sldId id="265" r:id="rId12"/>
    <p:sldId id="278" r:id="rId13"/>
    <p:sldId id="267" r:id="rId14"/>
    <p:sldId id="273" r:id="rId15"/>
    <p:sldId id="286" r:id="rId16"/>
    <p:sldId id="293" r:id="rId17"/>
    <p:sldId id="297" r:id="rId18"/>
    <p:sldId id="288" r:id="rId19"/>
    <p:sldId id="275" r:id="rId20"/>
    <p:sldId id="287" r:id="rId21"/>
    <p:sldId id="291" r:id="rId22"/>
    <p:sldId id="299" r:id="rId23"/>
    <p:sldId id="296" r:id="rId24"/>
    <p:sldId id="292" r:id="rId25"/>
    <p:sldId id="258" r:id="rId26"/>
    <p:sldId id="298" r:id="rId27"/>
    <p:sldId id="290" r:id="rId28"/>
  </p:sldIdLst>
  <p:sldSz cx="12192000" cy="6858000"/>
  <p:notesSz cx="7077075" cy="93932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FF99FF"/>
    <a:srgbClr val="FF6600"/>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763" autoAdjust="0"/>
  </p:normalViewPr>
  <p:slideViewPr>
    <p:cSldViewPr snapToGrid="0">
      <p:cViewPr varScale="1">
        <p:scale>
          <a:sx n="59" d="100"/>
          <a:sy n="59" d="100"/>
        </p:scale>
        <p:origin x="78" y="414"/>
      </p:cViewPr>
      <p:guideLst>
        <p:guide orient="horz" pos="2160"/>
        <p:guide pos="3840"/>
      </p:guideLst>
    </p:cSldViewPr>
  </p:slideViewPr>
  <p:notesTextViewPr>
    <p:cViewPr>
      <p:scale>
        <a:sx n="1" d="1"/>
        <a:sy n="1" d="1"/>
      </p:scale>
      <p:origin x="0" y="0"/>
    </p:cViewPr>
  </p:notesTextViewPr>
  <p:notesViewPr>
    <p:cSldViewPr snapToGrid="0">
      <p:cViewPr varScale="1">
        <p:scale>
          <a:sx n="88" d="100"/>
          <a:sy n="88" d="100"/>
        </p:scale>
        <p:origin x="382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71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4008438" y="0"/>
            <a:ext cx="3067050" cy="471488"/>
          </a:xfrm>
          <a:prstGeom prst="rect">
            <a:avLst/>
          </a:prstGeom>
        </p:spPr>
        <p:txBody>
          <a:bodyPr vert="horz" lIns="91440" tIns="45720" rIns="91440" bIns="45720" rtlCol="0"/>
          <a:lstStyle>
            <a:lvl1pPr algn="r">
              <a:defRPr sz="1200"/>
            </a:lvl1pPr>
          </a:lstStyle>
          <a:p>
            <a:fld id="{8C3DC7D9-B19E-45AA-8B6D-E7AF0AF1F4F6}" type="datetimeFigureOut">
              <a:rPr lang="en-GB" smtClean="0"/>
              <a:t>18/12/2014</a:t>
            </a:fld>
            <a:endParaRPr lang="en-GB"/>
          </a:p>
        </p:txBody>
      </p:sp>
      <p:sp>
        <p:nvSpPr>
          <p:cNvPr id="4" name="Footer Placeholder 3"/>
          <p:cNvSpPr>
            <a:spLocks noGrp="1"/>
          </p:cNvSpPr>
          <p:nvPr>
            <p:ph type="ftr" sz="quarter" idx="2"/>
          </p:nvPr>
        </p:nvSpPr>
        <p:spPr>
          <a:xfrm>
            <a:off x="0" y="8921750"/>
            <a:ext cx="3067050" cy="4714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4008438" y="8921750"/>
            <a:ext cx="3067050" cy="471488"/>
          </a:xfrm>
          <a:prstGeom prst="rect">
            <a:avLst/>
          </a:prstGeom>
        </p:spPr>
        <p:txBody>
          <a:bodyPr vert="horz" lIns="91440" tIns="45720" rIns="91440" bIns="45720" rtlCol="0" anchor="b"/>
          <a:lstStyle>
            <a:lvl1pPr algn="r">
              <a:defRPr sz="1200"/>
            </a:lvl1pPr>
          </a:lstStyle>
          <a:p>
            <a:fld id="{7DD56830-444E-496E-BC6B-D3F99280B19F}" type="slidenum">
              <a:rPr lang="en-GB" smtClean="0"/>
              <a:t>‹#›</a:t>
            </a:fld>
            <a:endParaRPr lang="en-GB"/>
          </a:p>
        </p:txBody>
      </p:sp>
    </p:spTree>
    <p:extLst>
      <p:ext uri="{BB962C8B-B14F-4D97-AF65-F5344CB8AC3E}">
        <p14:creationId xmlns:p14="http://schemas.microsoft.com/office/powerpoint/2010/main" val="39121512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71293"/>
          </a:xfrm>
          <a:prstGeom prst="rect">
            <a:avLst/>
          </a:prstGeom>
        </p:spPr>
        <p:txBody>
          <a:bodyPr vert="horz" lIns="94110" tIns="47055" rIns="94110" bIns="47055" rtlCol="0"/>
          <a:lstStyle>
            <a:lvl1pPr algn="l">
              <a:defRPr sz="1200"/>
            </a:lvl1pPr>
          </a:lstStyle>
          <a:p>
            <a:endParaRPr lang="en-GB"/>
          </a:p>
        </p:txBody>
      </p:sp>
      <p:sp>
        <p:nvSpPr>
          <p:cNvPr id="3" name="Date Placeholder 2"/>
          <p:cNvSpPr>
            <a:spLocks noGrp="1"/>
          </p:cNvSpPr>
          <p:nvPr>
            <p:ph type="dt" idx="1"/>
          </p:nvPr>
        </p:nvSpPr>
        <p:spPr>
          <a:xfrm>
            <a:off x="4008705" y="0"/>
            <a:ext cx="3066733" cy="471293"/>
          </a:xfrm>
          <a:prstGeom prst="rect">
            <a:avLst/>
          </a:prstGeom>
        </p:spPr>
        <p:txBody>
          <a:bodyPr vert="horz" lIns="94110" tIns="47055" rIns="94110" bIns="47055" rtlCol="0"/>
          <a:lstStyle>
            <a:lvl1pPr algn="r">
              <a:defRPr sz="1200"/>
            </a:lvl1pPr>
          </a:lstStyle>
          <a:p>
            <a:fld id="{443B6A07-3D10-4C75-90D6-41620F439929}" type="datetimeFigureOut">
              <a:rPr lang="en-GB" smtClean="0"/>
              <a:t>18/12/2014</a:t>
            </a:fld>
            <a:endParaRPr lang="en-GB"/>
          </a:p>
        </p:txBody>
      </p:sp>
      <p:sp>
        <p:nvSpPr>
          <p:cNvPr id="4" name="Slide Image Placeholder 3"/>
          <p:cNvSpPr>
            <a:spLocks noGrp="1" noRot="1" noChangeAspect="1"/>
          </p:cNvSpPr>
          <p:nvPr>
            <p:ph type="sldImg" idx="2"/>
          </p:nvPr>
        </p:nvSpPr>
        <p:spPr>
          <a:xfrm>
            <a:off x="720725" y="1174750"/>
            <a:ext cx="5635625" cy="3170238"/>
          </a:xfrm>
          <a:prstGeom prst="rect">
            <a:avLst/>
          </a:prstGeom>
          <a:noFill/>
          <a:ln w="12700">
            <a:solidFill>
              <a:prstClr val="black"/>
            </a:solidFill>
          </a:ln>
        </p:spPr>
        <p:txBody>
          <a:bodyPr vert="horz" lIns="94110" tIns="47055" rIns="94110" bIns="47055" rtlCol="0" anchor="ctr"/>
          <a:lstStyle/>
          <a:p>
            <a:endParaRPr lang="en-GB"/>
          </a:p>
        </p:txBody>
      </p:sp>
      <p:sp>
        <p:nvSpPr>
          <p:cNvPr id="5" name="Notes Placeholder 4"/>
          <p:cNvSpPr>
            <a:spLocks noGrp="1"/>
          </p:cNvSpPr>
          <p:nvPr>
            <p:ph type="body" sz="quarter" idx="3"/>
          </p:nvPr>
        </p:nvSpPr>
        <p:spPr>
          <a:xfrm>
            <a:off x="707708" y="4520496"/>
            <a:ext cx="5661660" cy="3698587"/>
          </a:xfrm>
          <a:prstGeom prst="rect">
            <a:avLst/>
          </a:prstGeom>
        </p:spPr>
        <p:txBody>
          <a:bodyPr vert="horz" lIns="94110" tIns="47055" rIns="94110" bIns="4705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921946"/>
            <a:ext cx="3066733" cy="471292"/>
          </a:xfrm>
          <a:prstGeom prst="rect">
            <a:avLst/>
          </a:prstGeom>
        </p:spPr>
        <p:txBody>
          <a:bodyPr vert="horz" lIns="94110" tIns="47055" rIns="94110" bIns="47055" rtlCol="0" anchor="b"/>
          <a:lstStyle>
            <a:lvl1pPr algn="l">
              <a:defRPr sz="1200"/>
            </a:lvl1pPr>
          </a:lstStyle>
          <a:p>
            <a:endParaRPr lang="en-GB"/>
          </a:p>
        </p:txBody>
      </p:sp>
      <p:sp>
        <p:nvSpPr>
          <p:cNvPr id="7" name="Slide Number Placeholder 6"/>
          <p:cNvSpPr>
            <a:spLocks noGrp="1"/>
          </p:cNvSpPr>
          <p:nvPr>
            <p:ph type="sldNum" sz="quarter" idx="5"/>
          </p:nvPr>
        </p:nvSpPr>
        <p:spPr>
          <a:xfrm>
            <a:off x="4008705" y="8921946"/>
            <a:ext cx="3066733" cy="471292"/>
          </a:xfrm>
          <a:prstGeom prst="rect">
            <a:avLst/>
          </a:prstGeom>
        </p:spPr>
        <p:txBody>
          <a:bodyPr vert="horz" lIns="94110" tIns="47055" rIns="94110" bIns="47055" rtlCol="0" anchor="b"/>
          <a:lstStyle>
            <a:lvl1pPr algn="r">
              <a:defRPr sz="1200"/>
            </a:lvl1pPr>
          </a:lstStyle>
          <a:p>
            <a:fld id="{B8B65C05-5D9C-40B0-844D-39D0BB180FBD}" type="slidenum">
              <a:rPr lang="en-GB" smtClean="0"/>
              <a:t>‹#›</a:t>
            </a:fld>
            <a:endParaRPr lang="en-GB"/>
          </a:p>
        </p:txBody>
      </p:sp>
    </p:spTree>
    <p:extLst>
      <p:ext uri="{BB962C8B-B14F-4D97-AF65-F5344CB8AC3E}">
        <p14:creationId xmlns:p14="http://schemas.microsoft.com/office/powerpoint/2010/main" val="138230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Introduction – who I am,</a:t>
            </a:r>
            <a:r>
              <a:rPr lang="en-GB" baseline="0" dirty="0" smtClean="0"/>
              <a:t> what I am doing. </a:t>
            </a:r>
          </a:p>
          <a:p>
            <a:endParaRPr lang="en-GB" baseline="0" dirty="0" smtClean="0"/>
          </a:p>
          <a:p>
            <a:r>
              <a:rPr lang="en-GB" baseline="0" dirty="0" smtClean="0"/>
              <a:t>What do people know? Anyone to share ideas?</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a:t>
            </a:fld>
            <a:endParaRPr lang="en-GB"/>
          </a:p>
        </p:txBody>
      </p:sp>
    </p:spTree>
    <p:extLst>
      <p:ext uri="{BB962C8B-B14F-4D97-AF65-F5344CB8AC3E}">
        <p14:creationId xmlns:p14="http://schemas.microsoft.com/office/powerpoint/2010/main" val="690607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Susan </a:t>
            </a:r>
            <a:r>
              <a:rPr lang="en-GB" dirty="0" err="1" smtClean="0"/>
              <a:t>Ebbels</a:t>
            </a:r>
            <a:r>
              <a:rPr lang="en-GB" baseline="0" dirty="0" smtClean="0"/>
              <a:t> – worked as a speech &amp; language therapist, completed a PhD with UCL &amp; now works as </a:t>
            </a:r>
            <a:r>
              <a:rPr lang="en-GB" baseline="0" dirty="0" err="1" smtClean="0"/>
              <a:t>Moorhouse</a:t>
            </a:r>
            <a:r>
              <a:rPr lang="en-GB" baseline="0" dirty="0" smtClean="0"/>
              <a:t> Schools Research and Development coordinator. She is responsible for training and supporting the therapy department in critically appraising research and carrying out intervention studies. She is also an expert advisor to the Royal College of Speech and Language Therapists on school-aged children with language difficulties. </a:t>
            </a:r>
          </a:p>
          <a:p>
            <a:endParaRPr lang="en-GB" baseline="0" dirty="0" smtClean="0"/>
          </a:p>
          <a:p>
            <a:r>
              <a:rPr lang="en-GB" baseline="0" dirty="0" smtClean="0"/>
              <a:t>So this is a woman who probably knows her field quite well! </a:t>
            </a:r>
          </a:p>
          <a:p>
            <a:endParaRPr lang="en-GB" baseline="0" dirty="0" smtClean="0"/>
          </a:p>
          <a:p>
            <a:r>
              <a:rPr lang="en-GB" baseline="0" dirty="0" smtClean="0"/>
              <a:t>Point 2: Research she, and others, have carried out demonstrates …</a:t>
            </a:r>
          </a:p>
          <a:p>
            <a:endParaRPr lang="en-GB" baseline="0" dirty="0" smtClean="0"/>
          </a:p>
          <a:p>
            <a:r>
              <a:rPr lang="en-GB" baseline="0" dirty="0" smtClean="0"/>
              <a:t>Point 3: Children with language difficulties could benefit from the use of shape and colour as a visual means of understanding rules – often their memory for the visual is much better than their memory for the verbal. </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3</a:t>
            </a:fld>
            <a:endParaRPr lang="en-GB"/>
          </a:p>
        </p:txBody>
      </p:sp>
    </p:spTree>
    <p:extLst>
      <p:ext uri="{BB962C8B-B14F-4D97-AF65-F5344CB8AC3E}">
        <p14:creationId xmlns:p14="http://schemas.microsoft.com/office/powerpoint/2010/main" val="3481855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1100">
              <a:defRPr/>
            </a:pPr>
            <a:r>
              <a:rPr lang="en-GB" dirty="0" smtClean="0"/>
              <a:t>If questioned: Dative case –</a:t>
            </a:r>
            <a:r>
              <a:rPr lang="en-GB" baseline="0" dirty="0" smtClean="0"/>
              <a:t> a noun or pronoun is in the dative case when it is used as an indirect object. I.e. </a:t>
            </a:r>
            <a:r>
              <a:rPr lang="en-GB" baseline="0" dirty="0" err="1" smtClean="0"/>
              <a:t>Oma</a:t>
            </a:r>
            <a:r>
              <a:rPr lang="en-GB" baseline="0" dirty="0" smtClean="0"/>
              <a:t> gave me a puppy see: http://www.dailywritingtips.com/what-is-dative-case/</a:t>
            </a:r>
            <a:endParaRPr lang="en-GB" dirty="0" smtClean="0"/>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4</a:t>
            </a:fld>
            <a:endParaRPr lang="en-GB"/>
          </a:p>
        </p:txBody>
      </p:sp>
    </p:spTree>
    <p:extLst>
      <p:ext uri="{BB962C8B-B14F-4D97-AF65-F5344CB8AC3E}">
        <p14:creationId xmlns:p14="http://schemas.microsoft.com/office/powerpoint/2010/main" val="775648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These have been slightly</a:t>
            </a:r>
            <a:r>
              <a:rPr lang="en-GB" baseline="0" dirty="0" smtClean="0"/>
              <a:t> altered since the 2007 </a:t>
            </a:r>
            <a:r>
              <a:rPr lang="en-GB" baseline="0" dirty="0" err="1" smtClean="0"/>
              <a:t>Ebbels</a:t>
            </a:r>
            <a:r>
              <a:rPr lang="en-GB" baseline="0" dirty="0" smtClean="0"/>
              <a:t> paper due to the difficulty of getting yellow to show up on white paper or on a whiteboard.</a:t>
            </a:r>
          </a:p>
          <a:p>
            <a:endParaRPr lang="en-GB" baseline="0" dirty="0" smtClean="0"/>
          </a:p>
          <a:p>
            <a:r>
              <a:rPr lang="en-GB" baseline="0" dirty="0" smtClean="0"/>
              <a:t>On hand out</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5</a:t>
            </a:fld>
            <a:endParaRPr lang="en-GB"/>
          </a:p>
        </p:txBody>
      </p:sp>
    </p:spTree>
    <p:extLst>
      <p:ext uri="{BB962C8B-B14F-4D97-AF65-F5344CB8AC3E}">
        <p14:creationId xmlns:p14="http://schemas.microsoft.com/office/powerpoint/2010/main" val="3010126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rectangular shape for who</a:t>
            </a:r>
            <a:r>
              <a:rPr lang="en-GB" baseline="0" dirty="0" smtClean="0"/>
              <a:t>/what will always be found inside another shape as part of a phrase – we will discuss &amp; practice this more later on.</a:t>
            </a:r>
          </a:p>
          <a:p>
            <a:endParaRPr lang="en-GB" baseline="0" dirty="0" smtClean="0"/>
          </a:p>
          <a:p>
            <a:r>
              <a:rPr lang="en-GB" baseline="0" dirty="0" smtClean="0"/>
              <a:t>On hand out</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6</a:t>
            </a:fld>
            <a:endParaRPr lang="en-GB"/>
          </a:p>
        </p:txBody>
      </p:sp>
    </p:spTree>
    <p:extLst>
      <p:ext uri="{BB962C8B-B14F-4D97-AF65-F5344CB8AC3E}">
        <p14:creationId xmlns:p14="http://schemas.microsoft.com/office/powerpoint/2010/main" val="3542010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To gain</a:t>
            </a:r>
            <a:r>
              <a:rPr lang="en-GB" baseline="0" dirty="0" smtClean="0"/>
              <a:t> full understanding pupils need to know how to read the word (its phonology), what it means and how it is used within a sentence. Coloured underlining helps with that. </a:t>
            </a:r>
          </a:p>
          <a:p>
            <a:endParaRPr lang="en-GB" baseline="0" dirty="0" smtClean="0"/>
          </a:p>
          <a:p>
            <a:pPr marL="0" indent="0">
              <a:buNone/>
            </a:pPr>
            <a:r>
              <a:rPr lang="en-GB" dirty="0" smtClean="0"/>
              <a:t>This is where the use of coloured underlining comes</a:t>
            </a:r>
          </a:p>
          <a:p>
            <a:r>
              <a:rPr lang="en-GB" dirty="0" smtClean="0"/>
              <a:t> into play. </a:t>
            </a:r>
          </a:p>
          <a:p>
            <a:endParaRPr lang="en-GB" dirty="0" smtClean="0"/>
          </a:p>
          <a:p>
            <a:r>
              <a:rPr lang="en-GB" dirty="0" smtClean="0"/>
              <a:t>-Different colours = different meanings which belong to different grammatical categories, double lines indicate irregular plurals, directional horizontal/vertical arrows indicate tense. </a:t>
            </a:r>
          </a:p>
          <a:p>
            <a:r>
              <a:rPr lang="en-GB" dirty="0" smtClean="0"/>
              <a:t>-And in a sentence, you need to know its part of speech (colour) and the argument structure of a verb (shape) </a:t>
            </a:r>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7</a:t>
            </a:fld>
            <a:endParaRPr lang="en-GB"/>
          </a:p>
        </p:txBody>
      </p:sp>
    </p:spTree>
    <p:extLst>
      <p:ext uri="{BB962C8B-B14F-4D97-AF65-F5344CB8AC3E}">
        <p14:creationId xmlns:p14="http://schemas.microsoft.com/office/powerpoint/2010/main" val="2577388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Slide</a:t>
            </a:r>
            <a:r>
              <a:rPr lang="en-GB" baseline="0" dirty="0" smtClean="0"/>
              <a:t> will be missing “is/men/are” at the beginning. Group to guess which words go in before revealing possible answers</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8</a:t>
            </a:fld>
            <a:endParaRPr lang="en-GB"/>
          </a:p>
        </p:txBody>
      </p:sp>
    </p:spTree>
    <p:extLst>
      <p:ext uri="{BB962C8B-B14F-4D97-AF65-F5344CB8AC3E}">
        <p14:creationId xmlns:p14="http://schemas.microsoft.com/office/powerpoint/2010/main" val="305010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Now we start getting</a:t>
            </a:r>
            <a:r>
              <a:rPr lang="en-GB" baseline="0" dirty="0" smtClean="0"/>
              <a:t> a bit more complicated. Assuming the children have got the basics of shape and colour, we can now think about verb tenses. </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9</a:t>
            </a:fld>
            <a:endParaRPr lang="en-GB"/>
          </a:p>
        </p:txBody>
      </p:sp>
    </p:spTree>
    <p:extLst>
      <p:ext uri="{BB962C8B-B14F-4D97-AF65-F5344CB8AC3E}">
        <p14:creationId xmlns:p14="http://schemas.microsoft.com/office/powerpoint/2010/main" val="2419397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View video clip from 10m 5s – 14m</a:t>
            </a:r>
          </a:p>
          <a:p>
            <a:endParaRPr lang="en-GB" dirty="0" smtClean="0"/>
          </a:p>
          <a:p>
            <a:r>
              <a:rPr lang="en-GB" dirty="0" smtClean="0"/>
              <a:t>If video clip doesn’t work, move on to practicing</a:t>
            </a:r>
            <a:r>
              <a:rPr lang="en-GB" baseline="0" dirty="0" smtClean="0"/>
              <a:t> activities.</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10</a:t>
            </a:fld>
            <a:endParaRPr lang="en-GB"/>
          </a:p>
        </p:txBody>
      </p:sp>
    </p:spTree>
    <p:extLst>
      <p:ext uri="{BB962C8B-B14F-4D97-AF65-F5344CB8AC3E}">
        <p14:creationId xmlns:p14="http://schemas.microsoft.com/office/powerpoint/2010/main" val="831742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Again, blank to start with, group </a:t>
            </a:r>
            <a:r>
              <a:rPr lang="en-GB" baseline="0" dirty="0" smtClean="0"/>
              <a:t>to complete hand out and share ideas before giving possible solution</a:t>
            </a:r>
          </a:p>
        </p:txBody>
      </p:sp>
      <p:sp>
        <p:nvSpPr>
          <p:cNvPr id="4" name="Slide Number Placeholder 3"/>
          <p:cNvSpPr>
            <a:spLocks noGrp="1"/>
          </p:cNvSpPr>
          <p:nvPr>
            <p:ph type="sldNum" sz="quarter" idx="10"/>
          </p:nvPr>
        </p:nvSpPr>
        <p:spPr/>
        <p:txBody>
          <a:bodyPr/>
          <a:lstStyle/>
          <a:p>
            <a:fld id="{B8B65C05-5D9C-40B0-844D-39D0BB180FBD}" type="slidenum">
              <a:rPr lang="en-GB" smtClean="0"/>
              <a:t>11</a:t>
            </a:fld>
            <a:endParaRPr lang="en-GB"/>
          </a:p>
        </p:txBody>
      </p:sp>
    </p:spTree>
    <p:extLst>
      <p:ext uri="{BB962C8B-B14F-4D97-AF65-F5344CB8AC3E}">
        <p14:creationId xmlns:p14="http://schemas.microsoft.com/office/powerpoint/2010/main" val="744176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Again, blank to start with, group </a:t>
            </a:r>
            <a:r>
              <a:rPr lang="en-GB" baseline="0" dirty="0" smtClean="0"/>
              <a:t>to complete hand out and share ideas before giving possible solution</a:t>
            </a:r>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12</a:t>
            </a:fld>
            <a:endParaRPr lang="en-GB"/>
          </a:p>
        </p:txBody>
      </p:sp>
    </p:spTree>
    <p:extLst>
      <p:ext uri="{BB962C8B-B14F-4D97-AF65-F5344CB8AC3E}">
        <p14:creationId xmlns:p14="http://schemas.microsoft.com/office/powerpoint/2010/main" val="832496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Other ways to use principles of shape coding in school</a:t>
            </a:r>
            <a:r>
              <a:rPr lang="en-GB" baseline="0" dirty="0" smtClean="0"/>
              <a:t> </a:t>
            </a:r>
            <a:r>
              <a:rPr lang="en-GB" baseline="0" dirty="0" smtClean="0"/>
              <a:t>activities</a:t>
            </a:r>
          </a:p>
          <a:p>
            <a:r>
              <a:rPr lang="en-GB" sz="1200" dirty="0" smtClean="0"/>
              <a:t>You can use shape coding to link narrative and grammar, using the shapes to help plan relevant ideas:</a:t>
            </a:r>
          </a:p>
          <a:p>
            <a:endParaRPr lang="en-GB" sz="1200" dirty="0" smtClean="0"/>
          </a:p>
          <a:p>
            <a:r>
              <a:rPr lang="en-GB" sz="1200" dirty="0" smtClean="0"/>
              <a:t>i.e. setting, characters and actions/events.</a:t>
            </a:r>
          </a:p>
          <a:p>
            <a:endParaRPr lang="en-GB" sz="1200" dirty="0" smtClean="0"/>
          </a:p>
          <a:p>
            <a:r>
              <a:rPr lang="en-GB" sz="1200" dirty="0" smtClean="0"/>
              <a:t>1. where, when, what like?</a:t>
            </a:r>
          </a:p>
          <a:p>
            <a:r>
              <a:rPr lang="en-GB" sz="1200" dirty="0" smtClean="0"/>
              <a:t>2. who?</a:t>
            </a:r>
          </a:p>
          <a:p>
            <a:r>
              <a:rPr lang="en-GB" sz="1200" dirty="0" smtClean="0"/>
              <a:t>3. what did?</a:t>
            </a:r>
          </a:p>
          <a:p>
            <a:endParaRPr lang="en-GB" baseline="0" dirty="0" smtClean="0"/>
          </a:p>
          <a:p>
            <a:endParaRPr lang="en-GB" baseline="0" dirty="0" smtClean="0"/>
          </a:p>
          <a:p>
            <a:r>
              <a:rPr lang="en-GB" baseline="0" dirty="0" smtClean="0"/>
              <a:t>Students then use this plan to help them complete sentences for their story, either in a pre-set set of colour &amp; shape coded boxes or onto a blank page and perhaps using coding to check back.</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13</a:t>
            </a:fld>
            <a:endParaRPr lang="en-GB"/>
          </a:p>
        </p:txBody>
      </p:sp>
    </p:spTree>
    <p:extLst>
      <p:ext uri="{BB962C8B-B14F-4D97-AF65-F5344CB8AC3E}">
        <p14:creationId xmlns:p14="http://schemas.microsoft.com/office/powerpoint/2010/main" val="2668478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smtClean="0"/>
              <a:t>Ebbels</a:t>
            </a:r>
            <a:r>
              <a:rPr lang="en-GB" dirty="0" smtClean="0"/>
              <a:t> states</a:t>
            </a:r>
            <a:r>
              <a:rPr lang="en-GB" baseline="0" dirty="0" smtClean="0"/>
              <a:t> that…</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14</a:t>
            </a:fld>
            <a:endParaRPr lang="en-GB"/>
          </a:p>
        </p:txBody>
      </p:sp>
    </p:spTree>
    <p:extLst>
      <p:ext uri="{BB962C8B-B14F-4D97-AF65-F5344CB8AC3E}">
        <p14:creationId xmlns:p14="http://schemas.microsoft.com/office/powerpoint/2010/main" val="3458808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Approaches that</a:t>
            </a:r>
            <a:r>
              <a:rPr lang="en-GB" baseline="0" dirty="0" smtClean="0"/>
              <a:t> have attempted to teach grammar implicitly to children with speech and language impairments didn’t generally </a:t>
            </a:r>
            <a:r>
              <a:rPr lang="en-GB" baseline="0" dirty="0" smtClean="0"/>
              <a:t>work, children made little or no progress and did not maintain any that they had made.</a:t>
            </a:r>
          </a:p>
          <a:p>
            <a:endParaRPr lang="en-GB" baseline="0" dirty="0" smtClean="0"/>
          </a:p>
          <a:p>
            <a:r>
              <a:rPr lang="en-GB" baseline="0" dirty="0" smtClean="0"/>
              <a:t>Previous approaches to teaching grammar </a:t>
            </a:r>
            <a:r>
              <a:rPr lang="en-GB" baseline="0" dirty="0" smtClean="0"/>
              <a:t>assumed </a:t>
            </a:r>
            <a:r>
              <a:rPr lang="en-GB" baseline="0" dirty="0" smtClean="0"/>
              <a:t>that children with speech and language difficulty have visual strengths and attempted to teach them language rules through these</a:t>
            </a:r>
            <a:r>
              <a:rPr lang="en-GB" baseline="0" dirty="0" smtClean="0"/>
              <a:t>.</a:t>
            </a:r>
          </a:p>
          <a:p>
            <a:endParaRPr lang="en-GB" baseline="0" dirty="0" smtClean="0"/>
          </a:p>
          <a:p>
            <a:r>
              <a:rPr lang="en-GB" baseline="0" dirty="0" smtClean="0"/>
              <a:t>In a paper in 1965, Lea said that “colour-coding parts of speech (using her colour-coding scheme) could help children with “receptive aphasia” to produce written language despite limited comprehension &amp; expressive language. </a:t>
            </a:r>
            <a:r>
              <a:rPr lang="en-GB" baseline="0" dirty="0" err="1" smtClean="0"/>
              <a:t>Kaldor</a:t>
            </a:r>
            <a:r>
              <a:rPr lang="en-GB" baseline="0" dirty="0" smtClean="0"/>
              <a:t>, Robinson &amp; Tanner (2001) described the use of coloured shapes in their programme as aiding language development in children with SLO – BUT this evidence is anecdotal!</a:t>
            </a:r>
          </a:p>
          <a:p>
            <a:endParaRPr lang="en-GB" baseline="0" dirty="0" smtClean="0"/>
          </a:p>
          <a:p>
            <a:r>
              <a:rPr lang="en-GB" baseline="0" dirty="0" smtClean="0"/>
              <a:t>So, often visual cues are used with children with SLI to encourage &amp; stimulate emerging language – still looking for evidence that supports this assumption though. </a:t>
            </a:r>
            <a:endParaRPr lang="en-GB" baseline="0" dirty="0" smtClean="0"/>
          </a:p>
          <a:p>
            <a:endParaRPr lang="en-GB" baseline="0" dirty="0" smtClean="0"/>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15</a:t>
            </a:fld>
            <a:endParaRPr lang="en-GB"/>
          </a:p>
        </p:txBody>
      </p:sp>
    </p:spTree>
    <p:extLst>
      <p:ext uri="{BB962C8B-B14F-4D97-AF65-F5344CB8AC3E}">
        <p14:creationId xmlns:p14="http://schemas.microsoft.com/office/powerpoint/2010/main" val="3536228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GB" dirty="0" smtClean="0"/>
              <a:t>Try teaching in usual implicit manner just increase the amount of teaching (I.e. Fey et al., 1993, 1997and Bishop et al., 2006).</a:t>
            </a:r>
          </a:p>
          <a:p>
            <a:pPr marL="457200" indent="-457200">
              <a:buFont typeface="+mj-lt"/>
              <a:buAutoNum type="arabicPeriod"/>
            </a:pPr>
            <a:r>
              <a:rPr lang="en-GB" dirty="0" smtClean="0"/>
              <a:t>Make the assumption that children with speech and language difficulties have visual strengths.</a:t>
            </a:r>
          </a:p>
          <a:p>
            <a:pPr marL="457200" indent="-457200">
              <a:buFont typeface="+mj-lt"/>
              <a:buAutoNum type="arabicPeriod"/>
            </a:pPr>
            <a:r>
              <a:rPr lang="en-GB" dirty="0" smtClean="0"/>
              <a:t>Realise that </a:t>
            </a:r>
            <a:r>
              <a:rPr lang="en-GB" dirty="0" err="1" smtClean="0"/>
              <a:t>Montesorri</a:t>
            </a:r>
            <a:r>
              <a:rPr lang="en-GB" dirty="0" smtClean="0"/>
              <a:t>  was teaching grammar explicitly with visual methods in the early1900s and base your ‘new’ explicit visual method on his i.e. </a:t>
            </a:r>
          </a:p>
          <a:p>
            <a:endParaRPr lang="en-GB" dirty="0" smtClean="0"/>
          </a:p>
          <a:p>
            <a:r>
              <a:rPr lang="en-GB" dirty="0" smtClean="0"/>
              <a:t>Montessori grammar – lots of recent developments of this approach available – struggled to find original papers</a:t>
            </a:r>
            <a:r>
              <a:rPr lang="en-GB" baseline="0" dirty="0" smtClean="0"/>
              <a:t> documents, mostly just citations of 1912 documents in modern papers. </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16</a:t>
            </a:fld>
            <a:endParaRPr lang="en-GB"/>
          </a:p>
        </p:txBody>
      </p:sp>
    </p:spTree>
    <p:extLst>
      <p:ext uri="{BB962C8B-B14F-4D97-AF65-F5344CB8AC3E}">
        <p14:creationId xmlns:p14="http://schemas.microsoft.com/office/powerpoint/2010/main" val="2166529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Arial" panose="020B0604020202020204" pitchFamily="34" charset="0"/>
              <a:buChar char="•"/>
            </a:pPr>
            <a:r>
              <a:rPr lang="en-GB" dirty="0" smtClean="0"/>
              <a:t>The Colour Pattern Scheme, Lea 1965, 1970</a:t>
            </a:r>
          </a:p>
          <a:p>
            <a:pPr lvl="1">
              <a:buFont typeface="Arial" panose="020B0604020202020204" pitchFamily="34" charset="0"/>
              <a:buChar char="•"/>
            </a:pPr>
            <a:r>
              <a:rPr lang="en-US" dirty="0" smtClean="0"/>
              <a:t>Language Through Reading, Conn, 1973; </a:t>
            </a:r>
          </a:p>
          <a:p>
            <a:pPr lvl="1">
              <a:buFont typeface="Arial" panose="020B0604020202020204" pitchFamily="34" charset="0"/>
              <a:buChar char="•"/>
            </a:pPr>
            <a:r>
              <a:rPr lang="en-US" dirty="0" err="1" smtClean="0"/>
              <a:t>Zwitman</a:t>
            </a:r>
            <a:r>
              <a:rPr lang="en-US" dirty="0" smtClean="0"/>
              <a:t> and </a:t>
            </a:r>
            <a:r>
              <a:rPr lang="en-US" dirty="0" err="1" smtClean="0"/>
              <a:t>Sonderman</a:t>
            </a:r>
            <a:r>
              <a:rPr lang="en-US" dirty="0" smtClean="0"/>
              <a:t>, 1979; </a:t>
            </a:r>
          </a:p>
          <a:p>
            <a:pPr lvl="1">
              <a:buFont typeface="Arial" panose="020B0604020202020204" pitchFamily="34" charset="0"/>
              <a:buChar char="•"/>
            </a:pPr>
            <a:r>
              <a:rPr lang="en-US" dirty="0" err="1" smtClean="0"/>
              <a:t>Colourful</a:t>
            </a:r>
            <a:r>
              <a:rPr lang="en-US" dirty="0" smtClean="0"/>
              <a:t> Semantics, Bryan, 1997; </a:t>
            </a:r>
          </a:p>
          <a:p>
            <a:pPr lvl="1">
              <a:buFont typeface="Arial" panose="020B0604020202020204" pitchFamily="34" charset="0"/>
              <a:buChar char="•"/>
            </a:pPr>
            <a:r>
              <a:rPr lang="en-US" dirty="0" smtClean="0"/>
              <a:t>Spotlights on Language Communication System, </a:t>
            </a:r>
            <a:r>
              <a:rPr lang="en-US" dirty="0" err="1" smtClean="0"/>
              <a:t>Kaldor</a:t>
            </a:r>
            <a:r>
              <a:rPr lang="en-US" dirty="0" smtClean="0"/>
              <a:t> et al., 1999, 2001; </a:t>
            </a:r>
          </a:p>
          <a:p>
            <a:pPr lvl="1">
              <a:buFont typeface="Arial" panose="020B0604020202020204" pitchFamily="34" charset="0"/>
              <a:buChar char="•"/>
            </a:pPr>
            <a:r>
              <a:rPr lang="en-US" dirty="0" smtClean="0"/>
              <a:t>Language Through </a:t>
            </a:r>
            <a:r>
              <a:rPr lang="en-US" dirty="0" err="1" smtClean="0"/>
              <a:t>Colour</a:t>
            </a:r>
            <a:r>
              <a:rPr lang="en-US" dirty="0" smtClean="0"/>
              <a:t>, Gap House School, 2005</a:t>
            </a:r>
            <a:endParaRPr lang="en-US" dirty="0"/>
          </a:p>
        </p:txBody>
      </p:sp>
      <p:sp>
        <p:nvSpPr>
          <p:cNvPr id="4" name="Slide Number Placeholder 3"/>
          <p:cNvSpPr>
            <a:spLocks noGrp="1"/>
          </p:cNvSpPr>
          <p:nvPr>
            <p:ph type="sldNum" sz="quarter" idx="10"/>
          </p:nvPr>
        </p:nvSpPr>
        <p:spPr/>
        <p:txBody>
          <a:bodyPr/>
          <a:lstStyle/>
          <a:p>
            <a:fld id="{B8B65C05-5D9C-40B0-844D-39D0BB180FBD}" type="slidenum">
              <a:rPr lang="en-GB" smtClean="0"/>
              <a:t>17</a:t>
            </a:fld>
            <a:endParaRPr lang="en-GB"/>
          </a:p>
        </p:txBody>
      </p:sp>
    </p:spTree>
    <p:extLst>
      <p:ext uri="{BB962C8B-B14F-4D97-AF65-F5344CB8AC3E}">
        <p14:creationId xmlns:p14="http://schemas.microsoft.com/office/powerpoint/2010/main" val="19536068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Three reports describe case studies using the “</a:t>
            </a:r>
            <a:r>
              <a:rPr lang="en-US" dirty="0" err="1" smtClean="0"/>
              <a:t>Colourful</a:t>
            </a:r>
            <a:r>
              <a:rPr lang="en-US" dirty="0" smtClean="0"/>
              <a:t> Semantics” method: </a:t>
            </a:r>
          </a:p>
          <a:p>
            <a:endParaRPr lang="en-US" dirty="0" smtClean="0"/>
          </a:p>
          <a:p>
            <a:r>
              <a:rPr lang="en-US" dirty="0" smtClean="0"/>
              <a:t>Bryan’s (1997) original study showed a child’s age equivalent score on a simple test of expressive language improved by 12–18 months after only three months of intervention. </a:t>
            </a:r>
          </a:p>
          <a:p>
            <a:r>
              <a:rPr lang="en-US" dirty="0" smtClean="0"/>
              <a:t>Spooner (2002) showed progress on formal language tests in two children </a:t>
            </a:r>
          </a:p>
          <a:p>
            <a:r>
              <a:rPr lang="en-US" dirty="0" err="1" smtClean="0"/>
              <a:t>Guendouzi</a:t>
            </a:r>
            <a:r>
              <a:rPr lang="en-US" dirty="0" smtClean="0"/>
              <a:t> (2003) studied two children with SLI and found that one made some progress in expressive language while the other did not.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None of these case studies include experimental control and it is therefore difficult to know how much of the progress was directly related to the specific intervention method.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other approaches are all limited to basic sentence structures.</a:t>
            </a:r>
            <a:r>
              <a:rPr lang="en-US" baseline="0" dirty="0" smtClean="0"/>
              <a:t> </a:t>
            </a:r>
            <a:r>
              <a:rPr lang="en-US" dirty="0" smtClean="0"/>
              <a:t>While this may be adequate for younger children with SLI, some older children</a:t>
            </a:r>
            <a:r>
              <a:rPr lang="en-US" baseline="0" dirty="0" smtClean="0"/>
              <a:t> </a:t>
            </a:r>
            <a:r>
              <a:rPr lang="en-US" dirty="0" smtClean="0"/>
              <a:t>need work on structures such as </a:t>
            </a:r>
            <a:r>
              <a:rPr lang="en-US" dirty="0" err="1" smtClean="0"/>
              <a:t>wh</a:t>
            </a:r>
            <a:r>
              <a:rPr lang="en-US" dirty="0" smtClean="0"/>
              <a:t>-questions, passives, conjunctions,</a:t>
            </a:r>
            <a:r>
              <a:rPr lang="en-US" baseline="0" dirty="0" smtClean="0"/>
              <a:t> </a:t>
            </a:r>
            <a:r>
              <a:rPr lang="en-US" dirty="0" smtClean="0"/>
              <a:t>tense, aspect and noun-verb agreement. None of the above systems are able to</a:t>
            </a:r>
            <a:r>
              <a:rPr lang="en-US" baseline="0" dirty="0" smtClean="0"/>
              <a:t> </a:t>
            </a:r>
            <a:r>
              <a:rPr lang="en-US" dirty="0" smtClean="0"/>
              <a:t>illustrate all of these structures.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So </a:t>
            </a:r>
            <a:r>
              <a:rPr lang="en-US" dirty="0" err="1" smtClean="0"/>
              <a:t>Ebbels</a:t>
            </a:r>
            <a:r>
              <a:rPr lang="en-US" dirty="0" smtClean="0"/>
              <a:t> designed shape coding</a:t>
            </a:r>
            <a:r>
              <a:rPr lang="en-US" baseline="0" dirty="0" smtClean="0"/>
              <a:t> as a method of explicitly teaching complex grammar rules.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18</a:t>
            </a:fld>
            <a:endParaRPr lang="en-GB"/>
          </a:p>
        </p:txBody>
      </p:sp>
    </p:spTree>
    <p:extLst>
      <p:ext uri="{BB962C8B-B14F-4D97-AF65-F5344CB8AC3E}">
        <p14:creationId xmlns:p14="http://schemas.microsoft.com/office/powerpoint/2010/main" val="3078426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smtClean="0"/>
              <a:t>Ebbels</a:t>
            </a:r>
            <a:r>
              <a:rPr lang="en-GB" baseline="0" dirty="0" smtClean="0"/>
              <a:t> delivers training on the shape coding method and cites the above (lifted from her presentation slides) as her evidence of intervention effectiveness. </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19</a:t>
            </a:fld>
            <a:endParaRPr lang="en-GB"/>
          </a:p>
        </p:txBody>
      </p:sp>
    </p:spTree>
    <p:extLst>
      <p:ext uri="{BB962C8B-B14F-4D97-AF65-F5344CB8AC3E}">
        <p14:creationId xmlns:p14="http://schemas.microsoft.com/office/powerpoint/2010/main" val="3328846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Snapshot of type of research carried out using</a:t>
            </a:r>
            <a:r>
              <a:rPr lang="en-GB" baseline="0" dirty="0" smtClean="0"/>
              <a:t> the shape-coding intervention</a:t>
            </a:r>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20</a:t>
            </a:fld>
            <a:endParaRPr lang="en-GB"/>
          </a:p>
        </p:txBody>
      </p:sp>
    </p:spTree>
    <p:extLst>
      <p:ext uri="{BB962C8B-B14F-4D97-AF65-F5344CB8AC3E}">
        <p14:creationId xmlns:p14="http://schemas.microsoft.com/office/powerpoint/2010/main" val="35357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gn="l" defTabSz="914400" rtl="0" eaLnBrk="1" fontAlgn="auto" latinLnBrk="0" hangingPunct="1">
              <a:lnSpc>
                <a:spcPct val="100000"/>
              </a:lnSpc>
              <a:spcBef>
                <a:spcPts val="0"/>
              </a:spcBef>
              <a:spcAft>
                <a:spcPts val="0"/>
              </a:spcAft>
              <a:buClrTx/>
              <a:buSzTx/>
              <a:buFontTx/>
              <a:buChar char="-"/>
              <a:tabLst/>
              <a:defRPr/>
            </a:pPr>
            <a:r>
              <a:rPr lang="en-GB" baseline="0" dirty="0" smtClean="0"/>
              <a:t>Delivered 1-2-1 by S&amp;L Therapists. </a:t>
            </a:r>
          </a:p>
          <a:p>
            <a:pPr marL="285750" marR="0" indent="-285750" algn="l" defTabSz="914400" rtl="0" eaLnBrk="1" fontAlgn="auto" latinLnBrk="0" hangingPunct="1">
              <a:lnSpc>
                <a:spcPct val="100000"/>
              </a:lnSpc>
              <a:spcBef>
                <a:spcPts val="0"/>
              </a:spcBef>
              <a:spcAft>
                <a:spcPts val="0"/>
              </a:spcAft>
              <a:buClrTx/>
              <a:buSzTx/>
              <a:buFontTx/>
              <a:buChar char="-"/>
              <a:tabLst/>
              <a:defRPr/>
            </a:pPr>
            <a:r>
              <a:rPr lang="en-GB" baseline="0" dirty="0" smtClean="0"/>
              <a:t>Small group.</a:t>
            </a:r>
            <a:endParaRPr lang="en-GB" dirty="0" smtClean="0"/>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22</a:t>
            </a:fld>
            <a:endParaRPr lang="en-GB"/>
          </a:p>
        </p:txBody>
      </p:sp>
    </p:spTree>
    <p:extLst>
      <p:ext uri="{BB962C8B-B14F-4D97-AF65-F5344CB8AC3E}">
        <p14:creationId xmlns:p14="http://schemas.microsoft.com/office/powerpoint/2010/main" val="3510414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smtClean="0"/>
              <a:t>Research on </a:t>
            </a:r>
            <a:r>
              <a:rPr lang="en-GB" baseline="0" dirty="0" err="1" smtClean="0"/>
              <a:t>Ebbels</a:t>
            </a:r>
            <a:r>
              <a:rPr lang="en-GB" baseline="0" dirty="0" smtClean="0"/>
              <a:t> Shape-coding has been generally carried out by </a:t>
            </a:r>
            <a:r>
              <a:rPr lang="en-GB" baseline="0" dirty="0" err="1" smtClean="0"/>
              <a:t>Ebbels</a:t>
            </a:r>
            <a:r>
              <a:rPr lang="en-GB" baseline="0" dirty="0" smtClean="0"/>
              <a:t> herself, including where she delivered the intervention directly to her participants. The case study method has been used often and even in recent research the outcome is that larger studies are required. </a:t>
            </a:r>
          </a:p>
          <a:p>
            <a:r>
              <a:rPr lang="en-GB" baseline="0" dirty="0" smtClean="0"/>
              <a:t>Additionally, each case-study appears to measure the impact of the intervention on different aspects of grammar, which makes it difficult to decipher whether shape-coding has a good general impact or whether shape-coding is only useful for teaching certain aspects of grammar </a:t>
            </a:r>
            <a:r>
              <a:rPr lang="en-GB" baseline="0" dirty="0" err="1" smtClean="0"/>
              <a:t>i.e</a:t>
            </a:r>
            <a:r>
              <a:rPr lang="en-GB" baseline="0" dirty="0" smtClean="0"/>
              <a:t> tenses or </a:t>
            </a:r>
            <a:r>
              <a:rPr lang="en-GB" baseline="0" dirty="0" err="1" smtClean="0"/>
              <a:t>wh</a:t>
            </a:r>
            <a:r>
              <a:rPr lang="en-GB" baseline="0" dirty="0" smtClean="0"/>
              <a:t>- questions. </a:t>
            </a:r>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23</a:t>
            </a:fld>
            <a:endParaRPr lang="en-GB"/>
          </a:p>
        </p:txBody>
      </p:sp>
    </p:spTree>
    <p:extLst>
      <p:ext uri="{BB962C8B-B14F-4D97-AF65-F5344CB8AC3E}">
        <p14:creationId xmlns:p14="http://schemas.microsoft.com/office/powerpoint/2010/main" val="13789929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dirty="0" smtClean="0"/>
              <a:t>Indications suggest that progress can be made using Shape-Coding, and that it can be maintained for varying periods. But does not usually continue after intervention has stopped.</a:t>
            </a:r>
          </a:p>
          <a:p>
            <a:pPr marL="0" indent="0">
              <a:buNone/>
            </a:pPr>
            <a:r>
              <a:rPr lang="en-GB" dirty="0" smtClean="0"/>
              <a:t> </a:t>
            </a:r>
          </a:p>
          <a:p>
            <a:pPr marL="0" indent="0">
              <a:buNone/>
            </a:pPr>
            <a:r>
              <a:rPr lang="en-GB" dirty="0" smtClean="0"/>
              <a:t>Further research required to explore the relationship between the degree of progress and maintenance and whether it is easier to maintain progress for some targets than for others. (i.e. </a:t>
            </a:r>
            <a:r>
              <a:rPr lang="en-GB" dirty="0" err="1" smtClean="0"/>
              <a:t>wh</a:t>
            </a:r>
            <a:r>
              <a:rPr lang="en-GB" dirty="0" smtClean="0"/>
              <a:t>- questions, dative case</a:t>
            </a:r>
            <a:r>
              <a:rPr lang="en-GB" baseline="0" dirty="0" smtClean="0"/>
              <a:t>, passives etc.)</a:t>
            </a:r>
            <a:r>
              <a:rPr lang="en-GB" dirty="0" smtClean="0"/>
              <a:t> </a:t>
            </a:r>
          </a:p>
          <a:p>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In</a:t>
            </a:r>
            <a:r>
              <a:rPr lang="en-GB" baseline="0" dirty="0" smtClean="0"/>
              <a:t> summary, the idea of coding grammar using colour and shape to teach it explicitly is based on the assumption that children with language impairment have visual strengths – I am still researching the evidence that supports this assumption, I think what is likely is that children with language impairment appear to learn better with visual cues BECAUSE they don’t have the language to learn in an auditory fashion as is more commonly used in our classrooms. </a:t>
            </a:r>
          </a:p>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24</a:t>
            </a:fld>
            <a:endParaRPr lang="en-GB"/>
          </a:p>
        </p:txBody>
      </p:sp>
    </p:spTree>
    <p:extLst>
      <p:ext uri="{BB962C8B-B14F-4D97-AF65-F5344CB8AC3E}">
        <p14:creationId xmlns:p14="http://schemas.microsoft.com/office/powerpoint/2010/main" val="35144166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25</a:t>
            </a:fld>
            <a:endParaRPr lang="en-GB"/>
          </a:p>
        </p:txBody>
      </p:sp>
    </p:spTree>
    <p:extLst>
      <p:ext uri="{BB962C8B-B14F-4D97-AF65-F5344CB8AC3E}">
        <p14:creationId xmlns:p14="http://schemas.microsoft.com/office/powerpoint/2010/main" val="498594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8B65C05-5D9C-40B0-844D-39D0BB180FBD}" type="slidenum">
              <a:rPr lang="en-GB" smtClean="0"/>
              <a:t>27</a:t>
            </a:fld>
            <a:endParaRPr lang="en-GB"/>
          </a:p>
        </p:txBody>
      </p:sp>
    </p:spTree>
    <p:extLst>
      <p:ext uri="{BB962C8B-B14F-4D97-AF65-F5344CB8AC3E}">
        <p14:creationId xmlns:p14="http://schemas.microsoft.com/office/powerpoint/2010/main" val="15491378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12/18/2014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12/18/2014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12/18/2014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12/18/2014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12/18/2014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12/18/2014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12/18/2014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12/18/2014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12/18/2014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12/18/2014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12/18/2014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12/18/2014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hyperlink" Target="http://link.brightcove.com/services/player/bcpid2201818662001?bckey=AQ~~,AAAAPmbRRLk~,C5G7jhYNtiefqbodph9K7nzSW_zsUUiE&amp;bctid=2206019732001"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moorhouse.surrey.sch.uk/uploads/Photos%20Matt%20C%202014/308%20Shape%20cod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49"/>
            <a:ext cx="12344400" cy="8229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832759" y="-3749"/>
            <a:ext cx="5698673" cy="1463040"/>
          </a:xfrm>
        </p:spPr>
        <p:txBody>
          <a:bodyPr>
            <a:normAutofit/>
          </a:bodyPr>
          <a:lstStyle/>
          <a:p>
            <a:r>
              <a:rPr lang="en-GB" sz="6000" b="1" dirty="0" smtClean="0">
                <a:solidFill>
                  <a:schemeClr val="bg1"/>
                </a:solidFill>
              </a:rPr>
              <a:t>Shape coding</a:t>
            </a:r>
            <a:endParaRPr lang="en-GB" sz="6000" b="1" dirty="0">
              <a:solidFill>
                <a:schemeClr val="bg1"/>
              </a:solidFill>
            </a:endParaRPr>
          </a:p>
        </p:txBody>
      </p:sp>
      <p:sp>
        <p:nvSpPr>
          <p:cNvPr id="3" name="Subtitle 2"/>
          <p:cNvSpPr>
            <a:spLocks noGrp="1"/>
          </p:cNvSpPr>
          <p:nvPr>
            <p:ph type="subTitle" idx="1"/>
          </p:nvPr>
        </p:nvSpPr>
        <p:spPr>
          <a:xfrm>
            <a:off x="6814457" y="3379531"/>
            <a:ext cx="3200400" cy="1463040"/>
          </a:xfrm>
        </p:spPr>
        <p:txBody>
          <a:bodyPr>
            <a:normAutofit/>
          </a:bodyPr>
          <a:lstStyle/>
          <a:p>
            <a:r>
              <a:rPr lang="en-GB" sz="2400" b="1" dirty="0" smtClean="0">
                <a:solidFill>
                  <a:schemeClr val="tx1"/>
                </a:solidFill>
              </a:rPr>
              <a:t>A Critique </a:t>
            </a:r>
            <a:endParaRPr lang="en-GB" sz="2400" b="1" dirty="0" smtClean="0">
              <a:solidFill>
                <a:schemeClr val="tx1"/>
              </a:solidFill>
            </a:endParaRPr>
          </a:p>
          <a:p>
            <a:endParaRPr lang="en-GB" sz="2400" b="1" dirty="0" smtClean="0">
              <a:solidFill>
                <a:schemeClr val="tx1"/>
              </a:solidFill>
            </a:endParaRPr>
          </a:p>
          <a:p>
            <a:r>
              <a:rPr lang="en-GB" sz="2400" b="1" dirty="0" smtClean="0">
                <a:solidFill>
                  <a:schemeClr val="tx1"/>
                </a:solidFill>
              </a:rPr>
              <a:t>By Rebecca </a:t>
            </a:r>
            <a:r>
              <a:rPr lang="en-GB" sz="2400" b="1" dirty="0" smtClean="0">
                <a:solidFill>
                  <a:schemeClr val="tx1"/>
                </a:solidFill>
              </a:rPr>
              <a:t>Horner</a:t>
            </a:r>
          </a:p>
        </p:txBody>
      </p:sp>
    </p:spTree>
    <p:extLst>
      <p:ext uri="{BB962C8B-B14F-4D97-AF65-F5344CB8AC3E}">
        <p14:creationId xmlns:p14="http://schemas.microsoft.com/office/powerpoint/2010/main" val="42624623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sosceles Triangle 4"/>
          <p:cNvSpPr/>
          <p:nvPr/>
        </p:nvSpPr>
        <p:spPr>
          <a:xfrm rot="5400000">
            <a:off x="4966487" y="1651789"/>
            <a:ext cx="844368" cy="1175171"/>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a:xfrm>
            <a:off x="1111140" y="2014293"/>
            <a:ext cx="10569159" cy="4425250"/>
          </a:xfrm>
        </p:spPr>
        <p:txBody>
          <a:bodyPr>
            <a:normAutofit/>
          </a:bodyPr>
          <a:lstStyle/>
          <a:p>
            <a:pPr marL="457200" indent="-457200">
              <a:buFont typeface="+mj-lt"/>
              <a:buAutoNum type="arabicPeriod"/>
            </a:pPr>
            <a:r>
              <a:rPr lang="en-GB" sz="3600" dirty="0" smtClean="0"/>
              <a:t>The what, when’s, how’s and who’s of shape coding</a:t>
            </a:r>
          </a:p>
          <a:p>
            <a:pPr marL="457200" indent="-457200">
              <a:buFont typeface="+mj-lt"/>
              <a:buAutoNum type="arabicPeriod"/>
            </a:pPr>
            <a:r>
              <a:rPr lang="en-GB" sz="3600" dirty="0" smtClean="0"/>
              <a:t>The why’s of shape coding</a:t>
            </a:r>
          </a:p>
          <a:p>
            <a:pPr marL="630936" lvl="1" indent="-457200">
              <a:buFont typeface="+mj-lt"/>
              <a:buAutoNum type="alphaLcParenR"/>
            </a:pPr>
            <a:r>
              <a:rPr lang="en-GB" sz="3200" dirty="0" smtClean="0"/>
              <a:t>Exploration of underpinning psychology</a:t>
            </a:r>
          </a:p>
          <a:p>
            <a:pPr marL="630936" lvl="1" indent="-457200">
              <a:buFont typeface="+mj-lt"/>
              <a:buAutoNum type="alphaLcParenR"/>
            </a:pPr>
            <a:r>
              <a:rPr lang="en-GB" sz="3200" dirty="0" smtClean="0"/>
              <a:t>Exploration of the evidence of intervention impact</a:t>
            </a:r>
          </a:p>
          <a:p>
            <a:pPr marL="457200" indent="-457200">
              <a:buFont typeface="+mj-lt"/>
              <a:buAutoNum type="arabicPeriod"/>
            </a:pPr>
            <a:r>
              <a:rPr lang="en-GB" sz="3600" dirty="0" smtClean="0"/>
              <a:t>Questions</a:t>
            </a:r>
          </a:p>
        </p:txBody>
      </p:sp>
      <p:sp>
        <p:nvSpPr>
          <p:cNvPr id="6" name="Oval 5"/>
          <p:cNvSpPr/>
          <p:nvPr/>
        </p:nvSpPr>
        <p:spPr>
          <a:xfrm>
            <a:off x="6803066" y="2031537"/>
            <a:ext cx="985664" cy="5553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2220686" y="2084832"/>
            <a:ext cx="1121519" cy="5020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Isosceles Triangle 7"/>
          <p:cNvSpPr/>
          <p:nvPr/>
        </p:nvSpPr>
        <p:spPr>
          <a:xfrm>
            <a:off x="3342206" y="1692031"/>
            <a:ext cx="1229794" cy="84109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912614" y="855690"/>
            <a:ext cx="2343542" cy="836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p:cNvCxnSpPr/>
          <p:nvPr/>
        </p:nvCxnSpPr>
        <p:spPr>
          <a:xfrm flipV="1">
            <a:off x="1176454" y="1569552"/>
            <a:ext cx="1825708" cy="702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1128917" y="1817190"/>
            <a:ext cx="33454" cy="4159864"/>
          </a:xfrm>
          <a:prstGeom prst="straightConnector1">
            <a:avLst/>
          </a:prstGeom>
          <a:ln w="38100">
            <a:headEnd type="oval"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9690410" y="2586860"/>
            <a:ext cx="143850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9690410" y="3709416"/>
            <a:ext cx="143850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9690410" y="4274411"/>
            <a:ext cx="143850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9723864" y="4928616"/>
            <a:ext cx="143850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9690410" y="3096099"/>
            <a:ext cx="1438507"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146" name="Picture 2" descr="http://cdns2.freepik.com/free-photo/word-end-on-the-dices_21078876.jpg"/>
          <p:cNvPicPr>
            <a:picLocks noChangeAspect="1" noChangeArrowheads="1"/>
          </p:cNvPicPr>
          <p:nvPr/>
        </p:nvPicPr>
        <p:blipFill rotWithShape="1">
          <a:blip r:embed="rId2">
            <a:extLst>
              <a:ext uri="{28A0092B-C50C-407E-A947-70E740481C1C}">
                <a14:useLocalDpi xmlns:a14="http://schemas.microsoft.com/office/drawing/2010/main" val="0"/>
              </a:ext>
            </a:extLst>
          </a:blip>
          <a:srcRect l="8311" t="15244" r="5474" b="14136"/>
          <a:stretch/>
        </p:blipFill>
        <p:spPr bwMode="auto">
          <a:xfrm>
            <a:off x="10394322" y="6010423"/>
            <a:ext cx="1530048" cy="74677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c2.staticflickr.com/6/5052/5524669257_ab67585fd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5579" y="965856"/>
            <a:ext cx="1626676" cy="793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1967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024128" y="887349"/>
            <a:ext cx="1280922"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What have </a:t>
            </a:r>
            <a:r>
              <a:rPr lang="en-GB" dirty="0" smtClean="0">
                <a:solidFill>
                  <a:schemeClr val="tx1"/>
                </a:solidFill>
              </a:rPr>
              <a:t>shapes</a:t>
            </a:r>
            <a:r>
              <a:rPr lang="en-GB" dirty="0" smtClean="0"/>
              <a:t> got to do with literacy?</a:t>
            </a:r>
            <a:endParaRPr lang="en-GB" dirty="0"/>
          </a:p>
        </p:txBody>
      </p:sp>
      <p:sp>
        <p:nvSpPr>
          <p:cNvPr id="3" name="Content Placeholder 2"/>
          <p:cNvSpPr>
            <a:spLocks noGrp="1"/>
          </p:cNvSpPr>
          <p:nvPr>
            <p:ph idx="1"/>
          </p:nvPr>
        </p:nvSpPr>
        <p:spPr>
          <a:xfrm>
            <a:off x="1024128" y="2177166"/>
            <a:ext cx="9720073" cy="4023360"/>
          </a:xfrm>
        </p:spPr>
        <p:txBody>
          <a:bodyPr/>
          <a:lstStyle/>
          <a:p>
            <a:r>
              <a:rPr lang="en-GB" dirty="0" smtClean="0"/>
              <a:t>1. Method developed by Susan </a:t>
            </a:r>
            <a:r>
              <a:rPr lang="en-GB" dirty="0" err="1" smtClean="0"/>
              <a:t>Ebbels</a:t>
            </a:r>
            <a:r>
              <a:rPr lang="en-GB" dirty="0" smtClean="0"/>
              <a:t> to help children with specific language impairment (SLI) to develop their literacy skills.</a:t>
            </a:r>
          </a:p>
          <a:p>
            <a:r>
              <a:rPr lang="en-GB" dirty="0" smtClean="0"/>
              <a:t>2. Evidence suggests that children with language difficulties benefit from the specific teaching of grammar rules, as they may not have learned language implicitly in the normal way.</a:t>
            </a:r>
          </a:p>
          <a:p>
            <a:r>
              <a:rPr lang="en-GB" dirty="0" smtClean="0"/>
              <a:t>3. Children with language difficulties appear to benefit from the use of shape and colour as a visual means of understanding grammar rules</a:t>
            </a:r>
            <a:endParaRPr lang="en-GB" dirty="0"/>
          </a:p>
        </p:txBody>
      </p:sp>
      <p:pic>
        <p:nvPicPr>
          <p:cNvPr id="2050" name="Picture 2" descr="SE pho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9976" y="4745960"/>
            <a:ext cx="1835150" cy="176456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flipV="1">
            <a:off x="6486525" y="5591175"/>
            <a:ext cx="2047875" cy="95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581524" y="5257800"/>
            <a:ext cx="1904999"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err="1" smtClean="0"/>
              <a:t>Dr.</a:t>
            </a:r>
            <a:r>
              <a:rPr lang="en-GB" dirty="0" smtClean="0"/>
              <a:t> Susan </a:t>
            </a:r>
            <a:r>
              <a:rPr lang="en-GB" dirty="0" err="1" smtClean="0"/>
              <a:t>Ebbels</a:t>
            </a:r>
            <a:r>
              <a:rPr lang="en-GB" dirty="0" smtClean="0"/>
              <a:t> – </a:t>
            </a:r>
            <a:r>
              <a:rPr lang="en-GB" dirty="0" err="1" smtClean="0"/>
              <a:t>Moorhouse</a:t>
            </a:r>
            <a:r>
              <a:rPr lang="en-GB" dirty="0" smtClean="0"/>
              <a:t> School</a:t>
            </a:r>
            <a:endParaRPr lang="en-GB" dirty="0"/>
          </a:p>
        </p:txBody>
      </p:sp>
      <p:sp>
        <p:nvSpPr>
          <p:cNvPr id="7" name="TextBox 6"/>
          <p:cNvSpPr txBox="1"/>
          <p:nvPr/>
        </p:nvSpPr>
        <p:spPr>
          <a:xfrm>
            <a:off x="3686638" y="3757961"/>
            <a:ext cx="1784195" cy="369332"/>
          </a:xfrm>
          <a:prstGeom prst="rect">
            <a:avLst/>
          </a:prstGeom>
          <a:solidFill>
            <a:schemeClr val="accent4">
              <a:lumMod val="60000"/>
              <a:lumOff val="40000"/>
            </a:schemeClr>
          </a:solidFill>
        </p:spPr>
        <p:txBody>
          <a:bodyPr wrap="square" rtlCol="0">
            <a:spAutoFit/>
          </a:bodyPr>
          <a:lstStyle/>
          <a:p>
            <a:r>
              <a:rPr lang="en-GB" dirty="0" smtClean="0"/>
              <a:t>What evidence?</a:t>
            </a:r>
            <a:endParaRPr lang="en-GB" dirty="0"/>
          </a:p>
        </p:txBody>
      </p:sp>
      <p:cxnSp>
        <p:nvCxnSpPr>
          <p:cNvPr id="10" name="Straight Arrow Connector 9"/>
          <p:cNvCxnSpPr/>
          <p:nvPr/>
        </p:nvCxnSpPr>
        <p:spPr>
          <a:xfrm flipH="1" flipV="1">
            <a:off x="2430966" y="3412273"/>
            <a:ext cx="1255672" cy="5303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79180" y="1527717"/>
            <a:ext cx="138275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534400" y="1527717"/>
            <a:ext cx="1735873"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2305050" y="4523014"/>
            <a:ext cx="3165783" cy="10103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412952" y="5578484"/>
            <a:ext cx="1784195" cy="369332"/>
          </a:xfrm>
          <a:prstGeom prst="rect">
            <a:avLst/>
          </a:prstGeom>
          <a:solidFill>
            <a:schemeClr val="accent4">
              <a:lumMod val="60000"/>
              <a:lumOff val="40000"/>
            </a:schemeClr>
          </a:solidFill>
        </p:spPr>
        <p:txBody>
          <a:bodyPr wrap="square" rtlCol="0">
            <a:spAutoFit/>
          </a:bodyPr>
          <a:lstStyle/>
          <a:p>
            <a:r>
              <a:rPr lang="en-GB" dirty="0" smtClean="0"/>
              <a:t>What evidence?</a:t>
            </a:r>
            <a:endParaRPr lang="en-GB" dirty="0"/>
          </a:p>
        </p:txBody>
      </p:sp>
    </p:spTree>
    <p:extLst>
      <p:ext uri="{BB962C8B-B14F-4D97-AF65-F5344CB8AC3E}">
        <p14:creationId xmlns:p14="http://schemas.microsoft.com/office/powerpoint/2010/main" val="40230613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Isosceles Triangle 19"/>
          <p:cNvSpPr/>
          <p:nvPr/>
        </p:nvSpPr>
        <p:spPr>
          <a:xfrm rot="5400000">
            <a:off x="1063174" y="676280"/>
            <a:ext cx="1043817" cy="1171575"/>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1024128" y="585216"/>
            <a:ext cx="9720072" cy="1491234"/>
          </a:xfrm>
        </p:spPr>
        <p:txBody>
          <a:bodyPr/>
          <a:lstStyle/>
          <a:p>
            <a:r>
              <a:rPr lang="en-GB" dirty="0" smtClean="0"/>
              <a:t>How does it work?</a:t>
            </a:r>
            <a:endParaRPr lang="en-GB" dirty="0"/>
          </a:p>
        </p:txBody>
      </p:sp>
      <p:sp>
        <p:nvSpPr>
          <p:cNvPr id="3" name="Content Placeholder 2"/>
          <p:cNvSpPr>
            <a:spLocks noGrp="1"/>
          </p:cNvSpPr>
          <p:nvPr>
            <p:ph idx="1"/>
          </p:nvPr>
        </p:nvSpPr>
        <p:spPr>
          <a:xfrm>
            <a:off x="1024127" y="1783976"/>
            <a:ext cx="9720073" cy="4688542"/>
          </a:xfrm>
        </p:spPr>
        <p:txBody>
          <a:bodyPr/>
          <a:lstStyle/>
          <a:p>
            <a:r>
              <a:rPr lang="en-GB" dirty="0" smtClean="0"/>
              <a:t>This visual coding system uses: </a:t>
            </a:r>
          </a:p>
          <a:p>
            <a:r>
              <a:rPr lang="en-GB" dirty="0" smtClean="0"/>
              <a:t>-</a:t>
            </a:r>
            <a:r>
              <a:rPr lang="en-GB" dirty="0" smtClean="0">
                <a:solidFill>
                  <a:srgbClr val="FF0000"/>
                </a:solidFill>
              </a:rPr>
              <a:t>colours</a:t>
            </a:r>
            <a:r>
              <a:rPr lang="en-GB" dirty="0" smtClean="0"/>
              <a:t> (parts of speech)</a:t>
            </a:r>
          </a:p>
          <a:p>
            <a:r>
              <a:rPr lang="en-GB" dirty="0" smtClean="0"/>
              <a:t>-arrows (</a:t>
            </a:r>
            <a:r>
              <a:rPr lang="en-GB" dirty="0"/>
              <a:t>verb </a:t>
            </a:r>
            <a:r>
              <a:rPr lang="en-GB" dirty="0" smtClean="0"/>
              <a:t>morphology, tense and aspect)</a:t>
            </a:r>
          </a:p>
          <a:p>
            <a:r>
              <a:rPr lang="en-GB" dirty="0" smtClean="0"/>
              <a:t>-shapes  (Drawn in black around phrases)</a:t>
            </a:r>
          </a:p>
          <a:p>
            <a:endParaRPr lang="en-GB" dirty="0"/>
          </a:p>
          <a:p>
            <a:r>
              <a:rPr lang="en-GB" dirty="0" smtClean="0"/>
              <a:t>It has been used to teach children:</a:t>
            </a:r>
          </a:p>
          <a:p>
            <a:pPr marL="0" indent="0">
              <a:buNone/>
            </a:pPr>
            <a:endParaRPr lang="en-GB" dirty="0"/>
          </a:p>
        </p:txBody>
      </p:sp>
      <p:cxnSp>
        <p:nvCxnSpPr>
          <p:cNvPr id="5" name="Straight Arrow Connector 4"/>
          <p:cNvCxnSpPr/>
          <p:nvPr/>
        </p:nvCxnSpPr>
        <p:spPr>
          <a:xfrm>
            <a:off x="4019505" y="3158961"/>
            <a:ext cx="1864658" cy="0"/>
          </a:xfrm>
          <a:prstGeom prst="straightConnector1">
            <a:avLst/>
          </a:prstGeom>
          <a:ln w="34925">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024126" y="3172408"/>
            <a:ext cx="1121915" cy="55983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1" name="TextBox 10"/>
          <p:cNvSpPr txBox="1"/>
          <p:nvPr/>
        </p:nvSpPr>
        <p:spPr>
          <a:xfrm>
            <a:off x="514350" y="4696368"/>
            <a:ext cx="1733550" cy="369332"/>
          </a:xfrm>
          <a:prstGeom prst="rect">
            <a:avLst/>
          </a:prstGeom>
          <a:solidFill>
            <a:schemeClr val="accent4">
              <a:lumMod val="40000"/>
              <a:lumOff val="60000"/>
            </a:schemeClr>
          </a:solidFill>
        </p:spPr>
        <p:txBody>
          <a:bodyPr wrap="square" rtlCol="0">
            <a:spAutoFit/>
          </a:bodyPr>
          <a:lstStyle/>
          <a:p>
            <a:r>
              <a:rPr lang="en-GB" dirty="0"/>
              <a:t>Parts of </a:t>
            </a:r>
            <a:r>
              <a:rPr lang="en-GB" dirty="0" smtClean="0"/>
              <a:t>speech</a:t>
            </a:r>
            <a:endParaRPr lang="en-GB" dirty="0"/>
          </a:p>
        </p:txBody>
      </p:sp>
      <p:sp>
        <p:nvSpPr>
          <p:cNvPr id="12" name="TextBox 11"/>
          <p:cNvSpPr txBox="1"/>
          <p:nvPr/>
        </p:nvSpPr>
        <p:spPr>
          <a:xfrm>
            <a:off x="2760894" y="6149352"/>
            <a:ext cx="1581150" cy="369332"/>
          </a:xfrm>
          <a:prstGeom prst="rect">
            <a:avLst/>
          </a:prstGeom>
          <a:solidFill>
            <a:schemeClr val="accent1">
              <a:lumMod val="60000"/>
              <a:lumOff val="40000"/>
            </a:schemeClr>
          </a:solidFill>
        </p:spPr>
        <p:txBody>
          <a:bodyPr wrap="square" rtlCol="0">
            <a:spAutoFit/>
          </a:bodyPr>
          <a:lstStyle/>
          <a:p>
            <a:r>
              <a:rPr lang="en-GB" dirty="0" smtClean="0"/>
              <a:t>Questions</a:t>
            </a:r>
            <a:endParaRPr lang="en-GB" dirty="0"/>
          </a:p>
        </p:txBody>
      </p:sp>
      <p:sp>
        <p:nvSpPr>
          <p:cNvPr id="13" name="TextBox 12"/>
          <p:cNvSpPr txBox="1"/>
          <p:nvPr/>
        </p:nvSpPr>
        <p:spPr>
          <a:xfrm>
            <a:off x="9694769" y="4572585"/>
            <a:ext cx="2098862" cy="369332"/>
          </a:xfrm>
          <a:prstGeom prst="rect">
            <a:avLst/>
          </a:prstGeom>
          <a:solidFill>
            <a:schemeClr val="accent5">
              <a:lumMod val="60000"/>
              <a:lumOff val="40000"/>
            </a:schemeClr>
          </a:solidFill>
        </p:spPr>
        <p:txBody>
          <a:bodyPr wrap="square" rtlCol="0">
            <a:spAutoFit/>
          </a:bodyPr>
          <a:lstStyle/>
          <a:p>
            <a:r>
              <a:rPr lang="en-GB" dirty="0" smtClean="0"/>
              <a:t>Past </a:t>
            </a:r>
            <a:r>
              <a:rPr lang="en-GB" dirty="0"/>
              <a:t>vs present </a:t>
            </a:r>
            <a:r>
              <a:rPr lang="en-GB" dirty="0" smtClean="0"/>
              <a:t>tense</a:t>
            </a:r>
            <a:endParaRPr lang="en-GB" dirty="0"/>
          </a:p>
        </p:txBody>
      </p:sp>
      <p:sp>
        <p:nvSpPr>
          <p:cNvPr id="14" name="TextBox 13"/>
          <p:cNvSpPr txBox="1"/>
          <p:nvPr/>
        </p:nvSpPr>
        <p:spPr>
          <a:xfrm>
            <a:off x="5400115" y="4697341"/>
            <a:ext cx="2191870" cy="369332"/>
          </a:xfrm>
          <a:prstGeom prst="rect">
            <a:avLst/>
          </a:prstGeom>
          <a:solidFill>
            <a:schemeClr val="bg2">
              <a:lumMod val="75000"/>
            </a:schemeClr>
          </a:solidFill>
        </p:spPr>
        <p:txBody>
          <a:bodyPr wrap="square" rtlCol="0">
            <a:spAutoFit/>
          </a:bodyPr>
          <a:lstStyle/>
          <a:p>
            <a:r>
              <a:rPr lang="en-GB" dirty="0" smtClean="0"/>
              <a:t>Noun-verb agreement</a:t>
            </a:r>
            <a:endParaRPr lang="en-GB" dirty="0"/>
          </a:p>
        </p:txBody>
      </p:sp>
      <p:sp>
        <p:nvSpPr>
          <p:cNvPr id="15" name="TextBox 14"/>
          <p:cNvSpPr txBox="1"/>
          <p:nvPr/>
        </p:nvSpPr>
        <p:spPr>
          <a:xfrm>
            <a:off x="5400115" y="6044398"/>
            <a:ext cx="2406348" cy="369332"/>
          </a:xfrm>
          <a:prstGeom prst="rect">
            <a:avLst/>
          </a:prstGeom>
          <a:solidFill>
            <a:schemeClr val="accent4">
              <a:lumMod val="40000"/>
              <a:lumOff val="60000"/>
            </a:schemeClr>
          </a:solidFill>
        </p:spPr>
        <p:txBody>
          <a:bodyPr wrap="square" rtlCol="0">
            <a:spAutoFit/>
          </a:bodyPr>
          <a:lstStyle/>
          <a:p>
            <a:r>
              <a:rPr lang="en-GB" dirty="0" smtClean="0"/>
              <a:t>Verb </a:t>
            </a:r>
            <a:r>
              <a:rPr lang="en-GB" dirty="0"/>
              <a:t>argument </a:t>
            </a:r>
            <a:r>
              <a:rPr lang="en-GB" dirty="0" smtClean="0"/>
              <a:t>structure</a:t>
            </a:r>
            <a:endParaRPr lang="en-GB" dirty="0"/>
          </a:p>
        </p:txBody>
      </p:sp>
      <p:sp>
        <p:nvSpPr>
          <p:cNvPr id="16" name="TextBox 15"/>
          <p:cNvSpPr txBox="1"/>
          <p:nvPr/>
        </p:nvSpPr>
        <p:spPr>
          <a:xfrm>
            <a:off x="2459131" y="5312082"/>
            <a:ext cx="2768974" cy="369332"/>
          </a:xfrm>
          <a:prstGeom prst="rect">
            <a:avLst/>
          </a:prstGeom>
          <a:solidFill>
            <a:schemeClr val="accent5">
              <a:lumMod val="60000"/>
              <a:lumOff val="40000"/>
            </a:schemeClr>
          </a:solidFill>
        </p:spPr>
        <p:txBody>
          <a:bodyPr wrap="square" rtlCol="0">
            <a:spAutoFit/>
          </a:bodyPr>
          <a:lstStyle/>
          <a:p>
            <a:r>
              <a:rPr lang="en-GB" dirty="0" smtClean="0"/>
              <a:t>Passive </a:t>
            </a:r>
            <a:r>
              <a:rPr lang="en-GB" dirty="0"/>
              <a:t>vs active </a:t>
            </a:r>
            <a:r>
              <a:rPr lang="en-GB" dirty="0" smtClean="0"/>
              <a:t>sentences</a:t>
            </a:r>
            <a:endParaRPr lang="en-GB" dirty="0"/>
          </a:p>
        </p:txBody>
      </p:sp>
      <p:sp>
        <p:nvSpPr>
          <p:cNvPr id="17" name="TextBox 16"/>
          <p:cNvSpPr txBox="1"/>
          <p:nvPr/>
        </p:nvSpPr>
        <p:spPr>
          <a:xfrm>
            <a:off x="9888574" y="5964686"/>
            <a:ext cx="1711253" cy="369332"/>
          </a:xfrm>
          <a:prstGeom prst="rect">
            <a:avLst/>
          </a:prstGeom>
          <a:solidFill>
            <a:schemeClr val="tx2">
              <a:lumMod val="60000"/>
              <a:lumOff val="40000"/>
            </a:schemeClr>
          </a:solidFill>
        </p:spPr>
        <p:txBody>
          <a:bodyPr wrap="square" rtlCol="0">
            <a:spAutoFit/>
          </a:bodyPr>
          <a:lstStyle/>
          <a:p>
            <a:r>
              <a:rPr lang="en-GB" dirty="0" smtClean="0"/>
              <a:t>Dative sentences</a:t>
            </a:r>
            <a:endParaRPr lang="en-GB" dirty="0"/>
          </a:p>
        </p:txBody>
      </p:sp>
      <p:sp>
        <p:nvSpPr>
          <p:cNvPr id="18" name="TextBox 17"/>
          <p:cNvSpPr txBox="1"/>
          <p:nvPr/>
        </p:nvSpPr>
        <p:spPr>
          <a:xfrm>
            <a:off x="7635573" y="5312082"/>
            <a:ext cx="2187949" cy="369332"/>
          </a:xfrm>
          <a:prstGeom prst="rect">
            <a:avLst/>
          </a:prstGeom>
          <a:solidFill>
            <a:schemeClr val="accent1">
              <a:lumMod val="60000"/>
              <a:lumOff val="40000"/>
            </a:schemeClr>
          </a:solidFill>
        </p:spPr>
        <p:txBody>
          <a:bodyPr wrap="square" rtlCol="0">
            <a:spAutoFit/>
          </a:bodyPr>
          <a:lstStyle/>
          <a:p>
            <a:r>
              <a:rPr lang="en-GB" dirty="0" smtClean="0"/>
              <a:t>Embedded structures</a:t>
            </a:r>
            <a:endParaRPr lang="en-GB" dirty="0"/>
          </a:p>
        </p:txBody>
      </p:sp>
      <p:sp>
        <p:nvSpPr>
          <p:cNvPr id="19" name="TextBox 18"/>
          <p:cNvSpPr txBox="1"/>
          <p:nvPr/>
        </p:nvSpPr>
        <p:spPr>
          <a:xfrm>
            <a:off x="514350" y="5780020"/>
            <a:ext cx="1315126" cy="369332"/>
          </a:xfrm>
          <a:prstGeom prst="rect">
            <a:avLst/>
          </a:prstGeom>
          <a:solidFill>
            <a:schemeClr val="tx2">
              <a:lumMod val="60000"/>
              <a:lumOff val="40000"/>
            </a:schemeClr>
          </a:solidFill>
        </p:spPr>
        <p:txBody>
          <a:bodyPr wrap="square" rtlCol="0">
            <a:spAutoFit/>
          </a:bodyPr>
          <a:lstStyle/>
          <a:p>
            <a:r>
              <a:rPr lang="en-GB" dirty="0"/>
              <a:t>Conjunction</a:t>
            </a:r>
          </a:p>
        </p:txBody>
      </p:sp>
      <p:pic>
        <p:nvPicPr>
          <p:cNvPr id="1026" name="Picture 2" descr="gramm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5856" y="622719"/>
            <a:ext cx="5057775"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51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80">
                                          <p:stCondLst>
                                            <p:cond delay="0"/>
                                          </p:stCondLst>
                                        </p:cTn>
                                        <p:tgtEl>
                                          <p:spTgt spid="16"/>
                                        </p:tgtEl>
                                      </p:cBhvr>
                                    </p:animEffect>
                                    <p:anim calcmode="lin" valueType="num">
                                      <p:cBhvr>
                                        <p:cTn id="12"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7" dur="26">
                                          <p:stCondLst>
                                            <p:cond delay="650"/>
                                          </p:stCondLst>
                                        </p:cTn>
                                        <p:tgtEl>
                                          <p:spTgt spid="16"/>
                                        </p:tgtEl>
                                      </p:cBhvr>
                                      <p:to x="100000" y="60000"/>
                                    </p:animScale>
                                    <p:animScale>
                                      <p:cBhvr>
                                        <p:cTn id="18" dur="166" decel="50000">
                                          <p:stCondLst>
                                            <p:cond delay="676"/>
                                          </p:stCondLst>
                                        </p:cTn>
                                        <p:tgtEl>
                                          <p:spTgt spid="16"/>
                                        </p:tgtEl>
                                      </p:cBhvr>
                                      <p:to x="100000" y="100000"/>
                                    </p:animScale>
                                    <p:animScale>
                                      <p:cBhvr>
                                        <p:cTn id="19" dur="26">
                                          <p:stCondLst>
                                            <p:cond delay="1312"/>
                                          </p:stCondLst>
                                        </p:cTn>
                                        <p:tgtEl>
                                          <p:spTgt spid="16"/>
                                        </p:tgtEl>
                                      </p:cBhvr>
                                      <p:to x="100000" y="80000"/>
                                    </p:animScale>
                                    <p:animScale>
                                      <p:cBhvr>
                                        <p:cTn id="20" dur="166" decel="50000">
                                          <p:stCondLst>
                                            <p:cond delay="1338"/>
                                          </p:stCondLst>
                                        </p:cTn>
                                        <p:tgtEl>
                                          <p:spTgt spid="16"/>
                                        </p:tgtEl>
                                      </p:cBhvr>
                                      <p:to x="100000" y="100000"/>
                                    </p:animScale>
                                    <p:animScale>
                                      <p:cBhvr>
                                        <p:cTn id="21" dur="26">
                                          <p:stCondLst>
                                            <p:cond delay="1642"/>
                                          </p:stCondLst>
                                        </p:cTn>
                                        <p:tgtEl>
                                          <p:spTgt spid="16"/>
                                        </p:tgtEl>
                                      </p:cBhvr>
                                      <p:to x="100000" y="90000"/>
                                    </p:animScale>
                                    <p:animScale>
                                      <p:cBhvr>
                                        <p:cTn id="22" dur="166" decel="50000">
                                          <p:stCondLst>
                                            <p:cond delay="1668"/>
                                          </p:stCondLst>
                                        </p:cTn>
                                        <p:tgtEl>
                                          <p:spTgt spid="16"/>
                                        </p:tgtEl>
                                      </p:cBhvr>
                                      <p:to x="100000" y="100000"/>
                                    </p:animScale>
                                    <p:animScale>
                                      <p:cBhvr>
                                        <p:cTn id="23" dur="26">
                                          <p:stCondLst>
                                            <p:cond delay="1808"/>
                                          </p:stCondLst>
                                        </p:cTn>
                                        <p:tgtEl>
                                          <p:spTgt spid="16"/>
                                        </p:tgtEl>
                                      </p:cBhvr>
                                      <p:to x="100000" y="95000"/>
                                    </p:animScale>
                                    <p:animScale>
                                      <p:cBhvr>
                                        <p:cTn id="24" dur="166" decel="50000">
                                          <p:stCondLst>
                                            <p:cond delay="1834"/>
                                          </p:stCondLst>
                                        </p:cTn>
                                        <p:tgtEl>
                                          <p:spTgt spid="16"/>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1000" fill="hold"/>
                                        <p:tgtEl>
                                          <p:spTgt spid="18"/>
                                        </p:tgtEl>
                                        <p:attrNameLst>
                                          <p:attrName>ppt_w</p:attrName>
                                        </p:attrNameLst>
                                      </p:cBhvr>
                                      <p:tavLst>
                                        <p:tav tm="0">
                                          <p:val>
                                            <p:fltVal val="0"/>
                                          </p:val>
                                        </p:tav>
                                        <p:tav tm="100000">
                                          <p:val>
                                            <p:strVal val="#ppt_w"/>
                                          </p:val>
                                        </p:tav>
                                      </p:tavLst>
                                    </p:anim>
                                    <p:anim calcmode="lin" valueType="num">
                                      <p:cBhvr>
                                        <p:cTn id="35" dur="1000" fill="hold"/>
                                        <p:tgtEl>
                                          <p:spTgt spid="18"/>
                                        </p:tgtEl>
                                        <p:attrNameLst>
                                          <p:attrName>ppt_h</p:attrName>
                                        </p:attrNameLst>
                                      </p:cBhvr>
                                      <p:tavLst>
                                        <p:tav tm="0">
                                          <p:val>
                                            <p:fltVal val="0"/>
                                          </p:val>
                                        </p:tav>
                                        <p:tav tm="100000">
                                          <p:val>
                                            <p:strVal val="#ppt_h"/>
                                          </p:val>
                                        </p:tav>
                                      </p:tavLst>
                                    </p:anim>
                                    <p:anim calcmode="lin" valueType="num">
                                      <p:cBhvr>
                                        <p:cTn id="36" dur="1000" fill="hold"/>
                                        <p:tgtEl>
                                          <p:spTgt spid="18"/>
                                        </p:tgtEl>
                                        <p:attrNameLst>
                                          <p:attrName>style.rotation</p:attrName>
                                        </p:attrNameLst>
                                      </p:cBhvr>
                                      <p:tavLst>
                                        <p:tav tm="0">
                                          <p:val>
                                            <p:fltVal val="90"/>
                                          </p:val>
                                        </p:tav>
                                        <p:tav tm="100000">
                                          <p:val>
                                            <p:fltVal val="0"/>
                                          </p:val>
                                        </p:tav>
                                      </p:tavLst>
                                    </p:anim>
                                    <p:animEffect transition="in" filter="fade">
                                      <p:cBhvr>
                                        <p:cTn id="37" dur="10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45"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000"/>
                                        <p:tgtEl>
                                          <p:spTgt spid="17"/>
                                        </p:tgtEl>
                                      </p:cBhvr>
                                    </p:animEffect>
                                    <p:anim calcmode="lin" valueType="num">
                                      <p:cBhvr>
                                        <p:cTn id="48" dur="2000" fill="hold"/>
                                        <p:tgtEl>
                                          <p:spTgt spid="17"/>
                                        </p:tgtEl>
                                        <p:attrNameLst>
                                          <p:attrName>ppt_w</p:attrName>
                                        </p:attrNameLst>
                                      </p:cBhvr>
                                      <p:tavLst>
                                        <p:tav tm="0" fmla="#ppt_w*sin(2.5*pi*$)">
                                          <p:val>
                                            <p:fltVal val="0"/>
                                          </p:val>
                                        </p:tav>
                                        <p:tav tm="100000">
                                          <p:val>
                                            <p:fltVal val="1"/>
                                          </p:val>
                                        </p:tav>
                                      </p:tavLst>
                                    </p:anim>
                                    <p:anim calcmode="lin" valueType="num">
                                      <p:cBhvr>
                                        <p:cTn id="49" dur="2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barn(inVertical)">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1000" fill="hold"/>
                                        <p:tgtEl>
                                          <p:spTgt spid="12"/>
                                        </p:tgtEl>
                                        <p:attrNameLst>
                                          <p:attrName>ppt_w</p:attrName>
                                        </p:attrNameLst>
                                      </p:cBhvr>
                                      <p:tavLst>
                                        <p:tav tm="0">
                                          <p:val>
                                            <p:fltVal val="0"/>
                                          </p:val>
                                        </p:tav>
                                        <p:tav tm="100000">
                                          <p:val>
                                            <p:strVal val="#ppt_w"/>
                                          </p:val>
                                        </p:tav>
                                      </p:tavLst>
                                    </p:anim>
                                    <p:anim calcmode="lin" valueType="num">
                                      <p:cBhvr>
                                        <p:cTn id="60" dur="1000" fill="hold"/>
                                        <p:tgtEl>
                                          <p:spTgt spid="12"/>
                                        </p:tgtEl>
                                        <p:attrNameLst>
                                          <p:attrName>ppt_h</p:attrName>
                                        </p:attrNameLst>
                                      </p:cBhvr>
                                      <p:tavLst>
                                        <p:tav tm="0">
                                          <p:val>
                                            <p:fltVal val="0"/>
                                          </p:val>
                                        </p:tav>
                                        <p:tav tm="100000">
                                          <p:val>
                                            <p:strVal val="#ppt_h"/>
                                          </p:val>
                                        </p:tav>
                                      </p:tavLst>
                                    </p:anim>
                                    <p:anim calcmode="lin" valueType="num">
                                      <p:cBhvr>
                                        <p:cTn id="61" dur="1000" fill="hold"/>
                                        <p:tgtEl>
                                          <p:spTgt spid="12"/>
                                        </p:tgtEl>
                                        <p:attrNameLst>
                                          <p:attrName>style.rotation</p:attrName>
                                        </p:attrNameLst>
                                      </p:cBhvr>
                                      <p:tavLst>
                                        <p:tav tm="0">
                                          <p:val>
                                            <p:fltVal val="90"/>
                                          </p:val>
                                        </p:tav>
                                        <p:tav tm="100000">
                                          <p:val>
                                            <p:fltVal val="0"/>
                                          </p:val>
                                        </p:tav>
                                      </p:tavLst>
                                    </p:anim>
                                    <p:animEffect transition="in" filter="fade">
                                      <p:cBhvr>
                                        <p:cTn id="62" dur="10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randombar(horizontal)">
                                      <p:cBhvr>
                                        <p:cTn id="6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Shape coding - colours</a:t>
            </a:r>
            <a:endParaRPr lang="en-GB" dirty="0"/>
          </a:p>
        </p:txBody>
      </p:sp>
      <p:sp>
        <p:nvSpPr>
          <p:cNvPr id="3" name="Content Placeholder 2"/>
          <p:cNvSpPr>
            <a:spLocks noGrp="1"/>
          </p:cNvSpPr>
          <p:nvPr>
            <p:ph idx="1"/>
          </p:nvPr>
        </p:nvSpPr>
        <p:spPr/>
        <p:txBody>
          <a:bodyPr/>
          <a:lstStyle/>
          <a:p>
            <a:r>
              <a:rPr lang="en-US" dirty="0" smtClean="0"/>
              <a:t>Noun/Pronouns 					(girl, desk, </a:t>
            </a:r>
            <a:r>
              <a:rPr lang="en-US" dirty="0"/>
              <a:t>I)</a:t>
            </a:r>
          </a:p>
          <a:p>
            <a:r>
              <a:rPr lang="en-US" dirty="0" smtClean="0"/>
              <a:t>Determinative/Possessive </a:t>
            </a:r>
            <a:r>
              <a:rPr lang="en-US" dirty="0"/>
              <a:t>pronouns </a:t>
            </a:r>
            <a:r>
              <a:rPr lang="en-US" dirty="0" smtClean="0"/>
              <a:t>			(</a:t>
            </a:r>
            <a:r>
              <a:rPr lang="en-US" dirty="0"/>
              <a:t>the, a, my)</a:t>
            </a:r>
          </a:p>
          <a:p>
            <a:r>
              <a:rPr lang="en-US" dirty="0"/>
              <a:t>Verb </a:t>
            </a:r>
            <a:r>
              <a:rPr lang="en-US" dirty="0" smtClean="0"/>
              <a:t>							(pull, hit)</a:t>
            </a:r>
            <a:endParaRPr lang="en-US" dirty="0"/>
          </a:p>
          <a:p>
            <a:r>
              <a:rPr lang="en-US" dirty="0"/>
              <a:t>Adjective </a:t>
            </a:r>
            <a:r>
              <a:rPr lang="en-US" dirty="0" smtClean="0"/>
              <a:t>						(happy, soft)</a:t>
            </a:r>
            <a:endParaRPr lang="en-US" dirty="0"/>
          </a:p>
          <a:p>
            <a:r>
              <a:rPr lang="en-US" dirty="0"/>
              <a:t>Preposition </a:t>
            </a:r>
            <a:r>
              <a:rPr lang="en-US" dirty="0" smtClean="0"/>
              <a:t>						(</a:t>
            </a:r>
            <a:r>
              <a:rPr lang="en-US" dirty="0"/>
              <a:t>in, through)</a:t>
            </a:r>
          </a:p>
          <a:p>
            <a:r>
              <a:rPr lang="en-US" dirty="0"/>
              <a:t>Adverb </a:t>
            </a:r>
            <a:r>
              <a:rPr lang="en-US" dirty="0" smtClean="0"/>
              <a:t>						(swiftly, loudly)</a:t>
            </a:r>
            <a:endParaRPr lang="en-US" dirty="0"/>
          </a:p>
          <a:p>
            <a:r>
              <a:rPr lang="en-US" dirty="0"/>
              <a:t>Coordinating conjunction </a:t>
            </a:r>
            <a:r>
              <a:rPr lang="en-US" dirty="0" smtClean="0"/>
              <a:t>				(</a:t>
            </a:r>
            <a:r>
              <a:rPr lang="en-US" dirty="0"/>
              <a:t>and, but, or)</a:t>
            </a:r>
          </a:p>
          <a:p>
            <a:r>
              <a:rPr lang="en-US" dirty="0"/>
              <a:t>Subordinating conjunction </a:t>
            </a:r>
            <a:r>
              <a:rPr lang="en-US" dirty="0" smtClean="0"/>
              <a:t>				(</a:t>
            </a:r>
            <a:r>
              <a:rPr lang="en-US" dirty="0"/>
              <a:t>because, if)</a:t>
            </a:r>
            <a:endParaRPr lang="en-GB" dirty="0"/>
          </a:p>
        </p:txBody>
      </p:sp>
      <p:cxnSp>
        <p:nvCxnSpPr>
          <p:cNvPr id="5" name="Straight Connector 4"/>
          <p:cNvCxnSpPr/>
          <p:nvPr/>
        </p:nvCxnSpPr>
        <p:spPr>
          <a:xfrm>
            <a:off x="1143000" y="2628900"/>
            <a:ext cx="62865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143000" y="3143250"/>
            <a:ext cx="409575" cy="0"/>
          </a:xfrm>
          <a:prstGeom prst="line">
            <a:avLst/>
          </a:prstGeom>
          <a:ln w="25400" cap="rnd">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143000" y="3609975"/>
            <a:ext cx="561975"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143000" y="4095750"/>
            <a:ext cx="1095375" cy="9525"/>
          </a:xfrm>
          <a:prstGeom prst="line">
            <a:avLst/>
          </a:prstGeom>
          <a:ln w="25400" cap="rnd">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143000" y="4610100"/>
            <a:ext cx="1200150" cy="9525"/>
          </a:xfrm>
          <a:prstGeom prst="line">
            <a:avLst/>
          </a:prstGeom>
          <a:ln w="25400" cap="rnd">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43000" y="5086350"/>
            <a:ext cx="847725" cy="0"/>
          </a:xfrm>
          <a:prstGeom prst="line">
            <a:avLst/>
          </a:prstGeom>
          <a:ln w="25400" cap="rnd">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43000" y="5543550"/>
            <a:ext cx="1409700" cy="0"/>
          </a:xfrm>
          <a:prstGeom prst="line">
            <a:avLst/>
          </a:prstGeom>
          <a:ln w="25400" cap="rnd">
            <a:solidFill>
              <a:srgbClr val="80008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143000" y="6038850"/>
            <a:ext cx="1476375" cy="9525"/>
          </a:xfrm>
          <a:prstGeom prst="line">
            <a:avLst/>
          </a:prstGeom>
          <a:ln w="25400" cap="rnd">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143000" y="1590675"/>
            <a:ext cx="120015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552700" y="1590675"/>
            <a:ext cx="1333500"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467225" y="1590675"/>
            <a:ext cx="1704975"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Hexagon 26"/>
          <p:cNvSpPr/>
          <p:nvPr/>
        </p:nvSpPr>
        <p:spPr>
          <a:xfrm>
            <a:off x="2343150" y="962024"/>
            <a:ext cx="1790700"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97491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Shape coding - shapes</a:t>
            </a:r>
            <a:endParaRPr lang="en-GB" dirty="0"/>
          </a:p>
        </p:txBody>
      </p:sp>
      <p:sp>
        <p:nvSpPr>
          <p:cNvPr id="3" name="Content Placeholder 2"/>
          <p:cNvSpPr>
            <a:spLocks noGrp="1"/>
          </p:cNvSpPr>
          <p:nvPr>
            <p:ph idx="1"/>
          </p:nvPr>
        </p:nvSpPr>
        <p:spPr>
          <a:xfrm>
            <a:off x="419100" y="2286000"/>
            <a:ext cx="10325101" cy="4023360"/>
          </a:xfrm>
        </p:spPr>
        <p:txBody>
          <a:bodyPr>
            <a:normAutofit/>
          </a:bodyPr>
          <a:lstStyle/>
          <a:p>
            <a:r>
              <a:rPr lang="en-GB" dirty="0" smtClean="0"/>
              <a:t>Use shapes to group phrases. Link with a colour, question and symbol.</a:t>
            </a:r>
          </a:p>
          <a:p>
            <a:endParaRPr lang="en-GB" dirty="0" smtClean="0"/>
          </a:p>
          <a:p>
            <a:endParaRPr lang="en-GB" dirty="0"/>
          </a:p>
          <a:p>
            <a:endParaRPr lang="en-GB" dirty="0" smtClean="0"/>
          </a:p>
          <a:p>
            <a:pPr marL="0" indent="0">
              <a:buNone/>
            </a:pPr>
            <a:r>
              <a:rPr lang="en-GB" b="1" dirty="0" smtClean="0"/>
              <a:t>Note</a:t>
            </a:r>
            <a:r>
              <a:rPr lang="en-GB" dirty="0" smtClean="0"/>
              <a:t> that </a:t>
            </a:r>
            <a:r>
              <a:rPr lang="en-GB" i="1" dirty="0" smtClean="0"/>
              <a:t>subjects</a:t>
            </a:r>
            <a:r>
              <a:rPr lang="en-GB" dirty="0" smtClean="0"/>
              <a:t> and </a:t>
            </a:r>
            <a:r>
              <a:rPr lang="en-GB" i="1" dirty="0" smtClean="0"/>
              <a:t>objects</a:t>
            </a:r>
            <a:r>
              <a:rPr lang="en-GB" dirty="0" smtClean="0"/>
              <a:t> have different shapes</a:t>
            </a:r>
            <a:endParaRPr lang="en-GB" dirty="0"/>
          </a:p>
        </p:txBody>
      </p:sp>
      <p:pic>
        <p:nvPicPr>
          <p:cNvPr id="6" name="Picture 5"/>
          <p:cNvPicPr/>
          <p:nvPr/>
        </p:nvPicPr>
        <p:blipFill rotWithShape="1">
          <a:blip r:embed="rId3"/>
          <a:srcRect l="82898" t="34469" r="5938" b="54854"/>
          <a:stretch/>
        </p:blipFill>
        <p:spPr bwMode="auto">
          <a:xfrm>
            <a:off x="6238873" y="2770637"/>
            <a:ext cx="2419350" cy="1547577"/>
          </a:xfrm>
          <a:prstGeom prst="rect">
            <a:avLst/>
          </a:prstGeom>
          <a:ln>
            <a:noFill/>
          </a:ln>
          <a:extLst>
            <a:ext uri="{53640926-AAD7-44D8-BBD7-CCE9431645EC}">
              <a14:shadowObscured xmlns:a14="http://schemas.microsoft.com/office/drawing/2010/main"/>
            </a:ext>
          </a:extLst>
        </p:spPr>
      </p:pic>
      <p:pic>
        <p:nvPicPr>
          <p:cNvPr id="7" name="Picture 6"/>
          <p:cNvPicPr/>
          <p:nvPr/>
        </p:nvPicPr>
        <p:blipFill rotWithShape="1">
          <a:blip r:embed="rId3"/>
          <a:srcRect l="58503" t="50230" r="32207" b="38271"/>
          <a:stretch/>
        </p:blipFill>
        <p:spPr bwMode="auto">
          <a:xfrm>
            <a:off x="1036988" y="2830115"/>
            <a:ext cx="1797748" cy="1247775"/>
          </a:xfrm>
          <a:prstGeom prst="rect">
            <a:avLst/>
          </a:prstGeom>
          <a:ln>
            <a:noFill/>
          </a:ln>
          <a:extLst>
            <a:ext uri="{53640926-AAD7-44D8-BBD7-CCE9431645EC}">
              <a14:shadowObscured xmlns:a14="http://schemas.microsoft.com/office/drawing/2010/main"/>
            </a:ext>
          </a:extLst>
        </p:spPr>
      </p:pic>
      <p:pic>
        <p:nvPicPr>
          <p:cNvPr id="8" name="Picture 7"/>
          <p:cNvPicPr/>
          <p:nvPr/>
        </p:nvPicPr>
        <p:blipFill rotWithShape="1">
          <a:blip r:embed="rId3"/>
          <a:srcRect l="69214" t="50294" r="22752" b="38979"/>
          <a:stretch/>
        </p:blipFill>
        <p:spPr bwMode="auto">
          <a:xfrm>
            <a:off x="3471185" y="2830114"/>
            <a:ext cx="1736026" cy="1247775"/>
          </a:xfrm>
          <a:prstGeom prst="rect">
            <a:avLst/>
          </a:prstGeom>
          <a:ln>
            <a:noFill/>
          </a:ln>
          <a:extLst>
            <a:ext uri="{53640926-AAD7-44D8-BBD7-CCE9431645EC}">
              <a14:shadowObscured xmlns:a14="http://schemas.microsoft.com/office/drawing/2010/main"/>
            </a:ext>
          </a:extLst>
        </p:spPr>
      </p:pic>
      <p:pic>
        <p:nvPicPr>
          <p:cNvPr id="9" name="Picture 8"/>
          <p:cNvPicPr/>
          <p:nvPr/>
        </p:nvPicPr>
        <p:blipFill rotWithShape="1">
          <a:blip r:embed="rId3"/>
          <a:srcRect l="82844" t="45352" r="5938" b="41353"/>
          <a:stretch/>
        </p:blipFill>
        <p:spPr bwMode="auto">
          <a:xfrm>
            <a:off x="8985522" y="2689288"/>
            <a:ext cx="2743201" cy="1857375"/>
          </a:xfrm>
          <a:prstGeom prst="rect">
            <a:avLst/>
          </a:prstGeom>
          <a:ln>
            <a:noFill/>
          </a:ln>
          <a:extLst>
            <a:ext uri="{53640926-AAD7-44D8-BBD7-CCE9431645EC}">
              <a14:shadowObscured xmlns:a14="http://schemas.microsoft.com/office/drawing/2010/main"/>
            </a:ext>
          </a:extLst>
        </p:spPr>
      </p:pic>
      <p:pic>
        <p:nvPicPr>
          <p:cNvPr id="11" name="Picture 10"/>
          <p:cNvPicPr/>
          <p:nvPr/>
        </p:nvPicPr>
        <p:blipFill rotWithShape="1">
          <a:blip r:embed="rId3"/>
          <a:srcRect l="55340" t="66454" r="15626" b="22888"/>
          <a:stretch/>
        </p:blipFill>
        <p:spPr bwMode="auto">
          <a:xfrm>
            <a:off x="1284781" y="4982717"/>
            <a:ext cx="6648449" cy="1278256"/>
          </a:xfrm>
          <a:prstGeom prst="rect">
            <a:avLst/>
          </a:prstGeom>
          <a:ln>
            <a:noFill/>
          </a:ln>
          <a:extLst>
            <a:ext uri="{53640926-AAD7-44D8-BBD7-CCE9431645EC}">
              <a14:shadowObscured xmlns:a14="http://schemas.microsoft.com/office/drawing/2010/main"/>
            </a:ext>
          </a:extLst>
        </p:spPr>
      </p:pic>
      <p:grpSp>
        <p:nvGrpSpPr>
          <p:cNvPr id="13" name="Group 12"/>
          <p:cNvGrpSpPr/>
          <p:nvPr/>
        </p:nvGrpSpPr>
        <p:grpSpPr>
          <a:xfrm>
            <a:off x="8303514" y="4647247"/>
            <a:ext cx="2119314" cy="1662113"/>
            <a:chOff x="9429750" y="4647247"/>
            <a:chExt cx="2119314" cy="1662113"/>
          </a:xfrm>
        </p:grpSpPr>
        <p:pic>
          <p:nvPicPr>
            <p:cNvPr id="10" name="Picture 9"/>
            <p:cNvPicPr/>
            <p:nvPr/>
          </p:nvPicPr>
          <p:blipFill rotWithShape="1">
            <a:blip r:embed="rId3"/>
            <a:srcRect l="83121" t="57760" r="6898" b="30422"/>
            <a:stretch/>
          </p:blipFill>
          <p:spPr bwMode="auto">
            <a:xfrm>
              <a:off x="9496426" y="4647247"/>
              <a:ext cx="2052638" cy="1634013"/>
            </a:xfrm>
            <a:prstGeom prst="rect">
              <a:avLst/>
            </a:prstGeom>
            <a:ln>
              <a:noFill/>
            </a:ln>
            <a:extLst>
              <a:ext uri="{53640926-AAD7-44D8-BBD7-CCE9431645EC}">
                <a14:shadowObscured xmlns:a14="http://schemas.microsoft.com/office/drawing/2010/main"/>
              </a:ext>
            </a:extLst>
          </p:spPr>
        </p:pic>
        <p:sp>
          <p:nvSpPr>
            <p:cNvPr id="12" name="Rectangle 11"/>
            <p:cNvSpPr/>
            <p:nvPr/>
          </p:nvSpPr>
          <p:spPr>
            <a:xfrm>
              <a:off x="9429750" y="5810250"/>
              <a:ext cx="466725" cy="4991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extBox 3"/>
          <p:cNvSpPr txBox="1"/>
          <p:nvPr/>
        </p:nvSpPr>
        <p:spPr>
          <a:xfrm>
            <a:off x="5539414" y="6415894"/>
            <a:ext cx="6892217" cy="369332"/>
          </a:xfrm>
          <a:prstGeom prst="rect">
            <a:avLst/>
          </a:prstGeom>
          <a:noFill/>
        </p:spPr>
        <p:txBody>
          <a:bodyPr wrap="square" rtlCol="0">
            <a:spAutoFit/>
          </a:bodyPr>
          <a:lstStyle/>
          <a:p>
            <a:r>
              <a:rPr lang="en-GB" dirty="0" smtClean="0"/>
              <a:t>Images reproduced from Susan </a:t>
            </a:r>
            <a:r>
              <a:rPr lang="en-GB" dirty="0" err="1" smtClean="0"/>
              <a:t>Ebbels</a:t>
            </a:r>
            <a:r>
              <a:rPr lang="en-GB" dirty="0" smtClean="0"/>
              <a:t> original work. See references</a:t>
            </a:r>
            <a:endParaRPr lang="en-GB" dirty="0"/>
          </a:p>
        </p:txBody>
      </p:sp>
      <p:sp>
        <p:nvSpPr>
          <p:cNvPr id="14" name="Hexagon 13"/>
          <p:cNvSpPr/>
          <p:nvPr/>
        </p:nvSpPr>
        <p:spPr>
          <a:xfrm>
            <a:off x="2343150" y="962024"/>
            <a:ext cx="1790700"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15" name="Straight Connector 14"/>
          <p:cNvCxnSpPr/>
          <p:nvPr/>
        </p:nvCxnSpPr>
        <p:spPr>
          <a:xfrm>
            <a:off x="2552700" y="1590675"/>
            <a:ext cx="1333500"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43000" y="1590675"/>
            <a:ext cx="120015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4667461" y="4742392"/>
            <a:ext cx="1079500" cy="646331"/>
          </a:xfrm>
          <a:prstGeom prst="rect">
            <a:avLst/>
          </a:prstGeom>
          <a:noFill/>
        </p:spPr>
        <p:txBody>
          <a:bodyPr wrap="square" rtlCol="0">
            <a:spAutoFit/>
          </a:bodyPr>
          <a:lstStyle/>
          <a:p>
            <a:r>
              <a:rPr lang="en-GB" dirty="0"/>
              <a:t>i</a:t>
            </a:r>
            <a:r>
              <a:rPr lang="en-GB" dirty="0" smtClean="0"/>
              <a:t>s, has, was</a:t>
            </a:r>
            <a:endParaRPr lang="en-GB" dirty="0"/>
          </a:p>
        </p:txBody>
      </p:sp>
    </p:spTree>
    <p:extLst>
      <p:ext uri="{BB962C8B-B14F-4D97-AF65-F5344CB8AC3E}">
        <p14:creationId xmlns:p14="http://schemas.microsoft.com/office/powerpoint/2010/main" val="16406472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Vocabulary learning</a:t>
            </a:r>
            <a:endParaRPr lang="en-GB" dirty="0"/>
          </a:p>
        </p:txBody>
      </p:sp>
      <p:pic>
        <p:nvPicPr>
          <p:cNvPr id="4" name="Picture 3"/>
          <p:cNvPicPr>
            <a:picLocks noChangeAspect="1"/>
          </p:cNvPicPr>
          <p:nvPr/>
        </p:nvPicPr>
        <p:blipFill rotWithShape="1">
          <a:blip r:embed="rId3"/>
          <a:srcRect l="37605" t="41326" r="10104" b="24349"/>
          <a:stretch/>
        </p:blipFill>
        <p:spPr>
          <a:xfrm>
            <a:off x="2955073" y="1551555"/>
            <a:ext cx="6917163" cy="5131979"/>
          </a:xfrm>
          <a:prstGeom prst="rect">
            <a:avLst/>
          </a:prstGeom>
        </p:spPr>
      </p:pic>
      <p:sp>
        <p:nvSpPr>
          <p:cNvPr id="5" name="TextBox 4"/>
          <p:cNvSpPr txBox="1"/>
          <p:nvPr/>
        </p:nvSpPr>
        <p:spPr>
          <a:xfrm>
            <a:off x="10455817" y="5936726"/>
            <a:ext cx="1524000" cy="369332"/>
          </a:xfrm>
          <a:prstGeom prst="rect">
            <a:avLst/>
          </a:prstGeom>
          <a:noFill/>
        </p:spPr>
        <p:txBody>
          <a:bodyPr wrap="square" rtlCol="0">
            <a:spAutoFit/>
          </a:bodyPr>
          <a:lstStyle/>
          <a:p>
            <a:r>
              <a:rPr lang="en-GB" dirty="0" err="1" smtClean="0"/>
              <a:t>Ebbels</a:t>
            </a:r>
            <a:r>
              <a:rPr lang="en-GB" dirty="0" smtClean="0"/>
              <a:t> (2011)</a:t>
            </a:r>
            <a:endParaRPr lang="en-GB" dirty="0"/>
          </a:p>
        </p:txBody>
      </p:sp>
    </p:spTree>
    <p:extLst>
      <p:ext uri="{BB962C8B-B14F-4D97-AF65-F5344CB8AC3E}">
        <p14:creationId xmlns:p14="http://schemas.microsoft.com/office/powerpoint/2010/main" val="42610696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4978" y="-38873"/>
            <a:ext cx="4500563" cy="6858000"/>
          </a:xfrm>
          <a:prstGeom prst="rect">
            <a:avLst/>
          </a:prstGeom>
        </p:spPr>
      </p:pic>
      <p:sp>
        <p:nvSpPr>
          <p:cNvPr id="2" name="Title 1"/>
          <p:cNvSpPr>
            <a:spLocks noGrp="1"/>
          </p:cNvSpPr>
          <p:nvPr>
            <p:ph type="title"/>
          </p:nvPr>
        </p:nvSpPr>
        <p:spPr/>
        <p:txBody>
          <a:bodyPr/>
          <a:lstStyle/>
          <a:p>
            <a:r>
              <a:rPr lang="en-GB" dirty="0" smtClean="0"/>
              <a:t>Subject-verb agreement</a:t>
            </a:r>
            <a:endParaRPr lang="en-GB" dirty="0"/>
          </a:p>
        </p:txBody>
      </p:sp>
      <p:sp>
        <p:nvSpPr>
          <p:cNvPr id="3" name="Content Placeholder 2"/>
          <p:cNvSpPr>
            <a:spLocks noGrp="1"/>
          </p:cNvSpPr>
          <p:nvPr>
            <p:ph idx="1"/>
          </p:nvPr>
        </p:nvSpPr>
        <p:spPr>
          <a:xfrm>
            <a:off x="479341" y="2357718"/>
            <a:ext cx="8817059" cy="4023360"/>
          </a:xfrm>
        </p:spPr>
        <p:txBody>
          <a:bodyPr/>
          <a:lstStyle/>
          <a:p>
            <a:r>
              <a:rPr lang="en-GB" dirty="0" smtClean="0"/>
              <a:t>Double red line = plural nouns		Double blue lines = plural verb</a:t>
            </a:r>
          </a:p>
        </p:txBody>
      </p:sp>
      <p:sp>
        <p:nvSpPr>
          <p:cNvPr id="5" name="Oval 4"/>
          <p:cNvSpPr/>
          <p:nvPr/>
        </p:nvSpPr>
        <p:spPr>
          <a:xfrm>
            <a:off x="1870746" y="3004805"/>
            <a:ext cx="2026023"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2309474" y="3160438"/>
            <a:ext cx="1111624" cy="369332"/>
          </a:xfrm>
          <a:prstGeom prst="rect">
            <a:avLst/>
          </a:prstGeom>
          <a:noFill/>
        </p:spPr>
        <p:txBody>
          <a:bodyPr wrap="square" rtlCol="0">
            <a:spAutoFit/>
          </a:bodyPr>
          <a:lstStyle/>
          <a:p>
            <a:r>
              <a:rPr lang="en-GB" dirty="0" smtClean="0"/>
              <a:t>The man</a:t>
            </a:r>
            <a:endParaRPr lang="en-GB" dirty="0"/>
          </a:p>
        </p:txBody>
      </p:sp>
      <p:sp>
        <p:nvSpPr>
          <p:cNvPr id="8" name="Diamond 7"/>
          <p:cNvSpPr/>
          <p:nvPr/>
        </p:nvSpPr>
        <p:spPr>
          <a:xfrm>
            <a:off x="4111921" y="3004805"/>
            <a:ext cx="699247" cy="699245"/>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4290673" y="3160438"/>
            <a:ext cx="332237" cy="369332"/>
          </a:xfrm>
          <a:prstGeom prst="rect">
            <a:avLst/>
          </a:prstGeom>
          <a:noFill/>
        </p:spPr>
        <p:txBody>
          <a:bodyPr wrap="square" rtlCol="0">
            <a:spAutoFit/>
          </a:bodyPr>
          <a:lstStyle/>
          <a:p>
            <a:r>
              <a:rPr lang="en-GB" dirty="0" smtClean="0"/>
              <a:t>is</a:t>
            </a:r>
            <a:endParaRPr lang="en-GB" dirty="0"/>
          </a:p>
        </p:txBody>
      </p:sp>
      <p:sp>
        <p:nvSpPr>
          <p:cNvPr id="10" name="Cloud Callout 9"/>
          <p:cNvSpPr/>
          <p:nvPr/>
        </p:nvSpPr>
        <p:spPr>
          <a:xfrm>
            <a:off x="5026320" y="2900462"/>
            <a:ext cx="2178423" cy="866343"/>
          </a:xfrm>
          <a:prstGeom prst="cloudCallout">
            <a:avLst>
              <a:gd name="adj1" fmla="val -38940"/>
              <a:gd name="adj2" fmla="val 304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5610522" y="3148967"/>
            <a:ext cx="1281953" cy="369332"/>
          </a:xfrm>
          <a:prstGeom prst="rect">
            <a:avLst/>
          </a:prstGeom>
          <a:noFill/>
        </p:spPr>
        <p:txBody>
          <a:bodyPr wrap="square" rtlCol="0">
            <a:spAutoFit/>
          </a:bodyPr>
          <a:lstStyle/>
          <a:p>
            <a:r>
              <a:rPr lang="en-GB" dirty="0" smtClean="0"/>
              <a:t>happy</a:t>
            </a:r>
            <a:endParaRPr lang="en-GB" dirty="0"/>
          </a:p>
        </p:txBody>
      </p:sp>
      <p:cxnSp>
        <p:nvCxnSpPr>
          <p:cNvPr id="13" name="Straight Connector 12"/>
          <p:cNvCxnSpPr/>
          <p:nvPr/>
        </p:nvCxnSpPr>
        <p:spPr>
          <a:xfrm>
            <a:off x="2426558" y="3518299"/>
            <a:ext cx="259976" cy="0"/>
          </a:xfrm>
          <a:prstGeom prst="line">
            <a:avLst/>
          </a:prstGeom>
          <a:ln w="38100">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718181" y="3502876"/>
            <a:ext cx="4904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326803" y="3502876"/>
            <a:ext cx="25997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11" idx="2"/>
          </p:cNvCxnSpPr>
          <p:nvPr/>
        </p:nvCxnSpPr>
        <p:spPr>
          <a:xfrm>
            <a:off x="5616312" y="3517179"/>
            <a:ext cx="635187" cy="1120"/>
          </a:xfrm>
          <a:prstGeom prst="line">
            <a:avLst/>
          </a:prstGeom>
          <a:ln w="25400" cap="rnd">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902669" y="4079909"/>
            <a:ext cx="2026023"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p:cNvSpPr txBox="1"/>
          <p:nvPr/>
        </p:nvSpPr>
        <p:spPr>
          <a:xfrm>
            <a:off x="2221181" y="4236451"/>
            <a:ext cx="546037" cy="369332"/>
          </a:xfrm>
          <a:prstGeom prst="rect">
            <a:avLst/>
          </a:prstGeom>
          <a:noFill/>
        </p:spPr>
        <p:txBody>
          <a:bodyPr wrap="square" rtlCol="0">
            <a:spAutoFit/>
          </a:bodyPr>
          <a:lstStyle/>
          <a:p>
            <a:r>
              <a:rPr lang="en-GB" dirty="0" smtClean="0"/>
              <a:t>The</a:t>
            </a:r>
            <a:endParaRPr lang="en-GB" dirty="0"/>
          </a:p>
        </p:txBody>
      </p:sp>
      <p:sp>
        <p:nvSpPr>
          <p:cNvPr id="25" name="Diamond 24"/>
          <p:cNvSpPr/>
          <p:nvPr/>
        </p:nvSpPr>
        <p:spPr>
          <a:xfrm>
            <a:off x="4143844" y="4079909"/>
            <a:ext cx="699247" cy="699245"/>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p:cNvSpPr txBox="1"/>
          <p:nvPr/>
        </p:nvSpPr>
        <p:spPr>
          <a:xfrm>
            <a:off x="4252847" y="4224071"/>
            <a:ext cx="569256" cy="369332"/>
          </a:xfrm>
          <a:prstGeom prst="rect">
            <a:avLst/>
          </a:prstGeom>
          <a:noFill/>
        </p:spPr>
        <p:txBody>
          <a:bodyPr wrap="square" rtlCol="0">
            <a:spAutoFit/>
          </a:bodyPr>
          <a:lstStyle/>
          <a:p>
            <a:r>
              <a:rPr lang="en-GB" dirty="0" smtClean="0"/>
              <a:t>are</a:t>
            </a:r>
            <a:endParaRPr lang="en-GB" dirty="0"/>
          </a:p>
        </p:txBody>
      </p:sp>
      <p:sp>
        <p:nvSpPr>
          <p:cNvPr id="27" name="Cloud Callout 26"/>
          <p:cNvSpPr/>
          <p:nvPr/>
        </p:nvSpPr>
        <p:spPr>
          <a:xfrm>
            <a:off x="5058243" y="3975566"/>
            <a:ext cx="2178423" cy="866343"/>
          </a:xfrm>
          <a:prstGeom prst="cloudCallout">
            <a:avLst>
              <a:gd name="adj1" fmla="val -38940"/>
              <a:gd name="adj2" fmla="val 304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p:cNvSpPr txBox="1"/>
          <p:nvPr/>
        </p:nvSpPr>
        <p:spPr>
          <a:xfrm>
            <a:off x="5642445" y="4224071"/>
            <a:ext cx="1281953" cy="369332"/>
          </a:xfrm>
          <a:prstGeom prst="rect">
            <a:avLst/>
          </a:prstGeom>
          <a:noFill/>
        </p:spPr>
        <p:txBody>
          <a:bodyPr wrap="square" rtlCol="0">
            <a:spAutoFit/>
          </a:bodyPr>
          <a:lstStyle/>
          <a:p>
            <a:r>
              <a:rPr lang="en-GB" dirty="0" smtClean="0"/>
              <a:t>happy</a:t>
            </a:r>
            <a:endParaRPr lang="en-GB" dirty="0"/>
          </a:p>
        </p:txBody>
      </p:sp>
      <p:cxnSp>
        <p:nvCxnSpPr>
          <p:cNvPr id="29" name="Straight Connector 28"/>
          <p:cNvCxnSpPr/>
          <p:nvPr/>
        </p:nvCxnSpPr>
        <p:spPr>
          <a:xfrm>
            <a:off x="2458481" y="4593403"/>
            <a:ext cx="259976" cy="0"/>
          </a:xfrm>
          <a:prstGeom prst="line">
            <a:avLst/>
          </a:prstGeom>
          <a:ln w="38100">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750104" y="4577980"/>
            <a:ext cx="4904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4358726" y="4577980"/>
            <a:ext cx="25997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28" idx="2"/>
          </p:cNvCxnSpPr>
          <p:nvPr/>
        </p:nvCxnSpPr>
        <p:spPr>
          <a:xfrm>
            <a:off x="5648235" y="4592283"/>
            <a:ext cx="635187" cy="1120"/>
          </a:xfrm>
          <a:prstGeom prst="line">
            <a:avLst/>
          </a:prstGeom>
          <a:ln w="25400" cap="rnd">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1024128" y="5196676"/>
            <a:ext cx="2953325"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p:cNvSpPr txBox="1"/>
          <p:nvPr/>
        </p:nvSpPr>
        <p:spPr>
          <a:xfrm>
            <a:off x="1177612" y="5361632"/>
            <a:ext cx="2455246" cy="369332"/>
          </a:xfrm>
          <a:prstGeom prst="rect">
            <a:avLst/>
          </a:prstGeom>
          <a:noFill/>
        </p:spPr>
        <p:txBody>
          <a:bodyPr wrap="square" rtlCol="0">
            <a:spAutoFit/>
          </a:bodyPr>
          <a:lstStyle/>
          <a:p>
            <a:r>
              <a:rPr lang="en-GB" dirty="0" smtClean="0"/>
              <a:t>The man and the lady </a:t>
            </a:r>
            <a:endParaRPr lang="en-GB" dirty="0"/>
          </a:p>
        </p:txBody>
      </p:sp>
      <p:sp>
        <p:nvSpPr>
          <p:cNvPr id="35" name="Diamond 34"/>
          <p:cNvSpPr/>
          <p:nvPr/>
        </p:nvSpPr>
        <p:spPr>
          <a:xfrm>
            <a:off x="4192605" y="5196676"/>
            <a:ext cx="699247" cy="699245"/>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loud Callout 36"/>
          <p:cNvSpPr/>
          <p:nvPr/>
        </p:nvSpPr>
        <p:spPr>
          <a:xfrm>
            <a:off x="5107004" y="5092333"/>
            <a:ext cx="2178423" cy="866343"/>
          </a:xfrm>
          <a:prstGeom prst="cloudCallout">
            <a:avLst>
              <a:gd name="adj1" fmla="val -38940"/>
              <a:gd name="adj2" fmla="val 304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p:cNvSpPr txBox="1"/>
          <p:nvPr/>
        </p:nvSpPr>
        <p:spPr>
          <a:xfrm>
            <a:off x="5691206" y="5340838"/>
            <a:ext cx="1281953" cy="369332"/>
          </a:xfrm>
          <a:prstGeom prst="rect">
            <a:avLst/>
          </a:prstGeom>
          <a:noFill/>
        </p:spPr>
        <p:txBody>
          <a:bodyPr wrap="square" rtlCol="0">
            <a:spAutoFit/>
          </a:bodyPr>
          <a:lstStyle/>
          <a:p>
            <a:r>
              <a:rPr lang="en-GB" dirty="0" smtClean="0"/>
              <a:t>happy</a:t>
            </a:r>
            <a:endParaRPr lang="en-GB" dirty="0"/>
          </a:p>
        </p:txBody>
      </p:sp>
      <p:cxnSp>
        <p:nvCxnSpPr>
          <p:cNvPr id="39" name="Straight Connector 38"/>
          <p:cNvCxnSpPr/>
          <p:nvPr/>
        </p:nvCxnSpPr>
        <p:spPr>
          <a:xfrm>
            <a:off x="2507242" y="5710170"/>
            <a:ext cx="259976" cy="0"/>
          </a:xfrm>
          <a:prstGeom prst="line">
            <a:avLst/>
          </a:prstGeom>
          <a:ln w="38100">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798865" y="5694747"/>
            <a:ext cx="4904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407487" y="5694747"/>
            <a:ext cx="25997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endCxn id="38" idx="2"/>
          </p:cNvCxnSpPr>
          <p:nvPr/>
        </p:nvCxnSpPr>
        <p:spPr>
          <a:xfrm>
            <a:off x="5696996" y="5709050"/>
            <a:ext cx="635187" cy="1120"/>
          </a:xfrm>
          <a:prstGeom prst="line">
            <a:avLst/>
          </a:prstGeom>
          <a:ln w="25400" cap="rnd">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750104" y="4676592"/>
            <a:ext cx="4904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372446" y="4676896"/>
            <a:ext cx="25997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407487" y="5808986"/>
            <a:ext cx="25997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297007" y="5710170"/>
            <a:ext cx="259976" cy="0"/>
          </a:xfrm>
          <a:prstGeom prst="line">
            <a:avLst/>
          </a:prstGeom>
          <a:ln w="38100">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588630" y="5694747"/>
            <a:ext cx="4904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2148171" y="5694747"/>
            <a:ext cx="290808" cy="1"/>
          </a:xfrm>
          <a:prstGeom prst="line">
            <a:avLst/>
          </a:prstGeom>
          <a:ln w="38100" cap="rnd">
            <a:solidFill>
              <a:srgbClr val="800080"/>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2722933" y="4244865"/>
            <a:ext cx="566396" cy="369332"/>
          </a:xfrm>
          <a:prstGeom prst="rect">
            <a:avLst/>
          </a:prstGeom>
          <a:noFill/>
        </p:spPr>
        <p:txBody>
          <a:bodyPr wrap="square" rtlCol="0">
            <a:spAutoFit/>
          </a:bodyPr>
          <a:lstStyle/>
          <a:p>
            <a:r>
              <a:rPr lang="en-GB" dirty="0" smtClean="0"/>
              <a:t>men</a:t>
            </a:r>
            <a:endParaRPr lang="en-GB" dirty="0"/>
          </a:p>
        </p:txBody>
      </p:sp>
      <p:sp>
        <p:nvSpPr>
          <p:cNvPr id="53" name="TextBox 52"/>
          <p:cNvSpPr txBox="1"/>
          <p:nvPr/>
        </p:nvSpPr>
        <p:spPr>
          <a:xfrm>
            <a:off x="4277027" y="5311096"/>
            <a:ext cx="569256" cy="369332"/>
          </a:xfrm>
          <a:prstGeom prst="rect">
            <a:avLst/>
          </a:prstGeom>
          <a:noFill/>
        </p:spPr>
        <p:txBody>
          <a:bodyPr wrap="square" rtlCol="0">
            <a:spAutoFit/>
          </a:bodyPr>
          <a:lstStyle/>
          <a:p>
            <a:r>
              <a:rPr lang="en-GB" dirty="0" smtClean="0"/>
              <a:t>are</a:t>
            </a:r>
            <a:endParaRPr lang="en-GB" dirty="0"/>
          </a:p>
        </p:txBody>
      </p:sp>
    </p:spTree>
    <p:extLst>
      <p:ext uri="{BB962C8B-B14F-4D97-AF65-F5344CB8AC3E}">
        <p14:creationId xmlns:p14="http://schemas.microsoft.com/office/powerpoint/2010/main" val="340865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down)">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wipe(down)">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6" grpId="0"/>
      <p:bldP spid="52" grpId="0"/>
      <p:bldP spid="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Verb Tenses</a:t>
            </a:r>
            <a:endParaRPr lang="en-GB" dirty="0"/>
          </a:p>
        </p:txBody>
      </p:sp>
      <p:pic>
        <p:nvPicPr>
          <p:cNvPr id="4" name="Picture 3"/>
          <p:cNvPicPr>
            <a:picLocks noChangeAspect="1"/>
          </p:cNvPicPr>
          <p:nvPr/>
        </p:nvPicPr>
        <p:blipFill rotWithShape="1">
          <a:blip r:embed="rId3"/>
          <a:srcRect l="16530" t="23828" r="25417" b="19791"/>
          <a:stretch/>
        </p:blipFill>
        <p:spPr>
          <a:xfrm>
            <a:off x="2698595" y="1798541"/>
            <a:ext cx="6119783" cy="4754659"/>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6224" y="3200400"/>
            <a:ext cx="3415952" cy="3352800"/>
          </a:xfrm>
          <a:prstGeom prst="rect">
            <a:avLst/>
          </a:prstGeom>
        </p:spPr>
      </p:pic>
    </p:spTree>
    <p:extLst>
      <p:ext uri="{BB962C8B-B14F-4D97-AF65-F5344CB8AC3E}">
        <p14:creationId xmlns:p14="http://schemas.microsoft.com/office/powerpoint/2010/main" val="31042400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Shape coding in action</a:t>
            </a:r>
            <a:endParaRPr lang="en-GB" dirty="0"/>
          </a:p>
        </p:txBody>
      </p:sp>
      <p:sp>
        <p:nvSpPr>
          <p:cNvPr id="3" name="Content Placeholder 2"/>
          <p:cNvSpPr>
            <a:spLocks noGrp="1"/>
          </p:cNvSpPr>
          <p:nvPr>
            <p:ph idx="1"/>
          </p:nvPr>
        </p:nvSpPr>
        <p:spPr>
          <a:xfrm>
            <a:off x="1024128" y="2286000"/>
            <a:ext cx="9720073" cy="1564105"/>
          </a:xfrm>
        </p:spPr>
        <p:txBody>
          <a:bodyPr>
            <a:normAutofit lnSpcReduction="10000"/>
          </a:bodyPr>
          <a:lstStyle/>
          <a:p>
            <a:r>
              <a:rPr lang="en-GB" dirty="0">
                <a:hlinkClick r:id="rId3"/>
              </a:rPr>
              <a:t>http://link.brightcove.com/services/player/bcpid2201818662001?bckey=AQ~~,AAAAPmbRRLk~,</a:t>
            </a:r>
            <a:r>
              <a:rPr lang="en-GB" dirty="0" smtClean="0">
                <a:hlinkClick r:id="rId3"/>
              </a:rPr>
              <a:t>C5G7jhYNtiefqbodph9K7nzSW_zsUUiE&amp;bctid=2206019732001</a:t>
            </a:r>
            <a:endParaRPr lang="en-GB" dirty="0" smtClean="0"/>
          </a:p>
          <a:p>
            <a:endParaRPr lang="en-GB" dirty="0"/>
          </a:p>
          <a:p>
            <a:r>
              <a:rPr lang="en-GB" dirty="0" smtClean="0"/>
              <a:t>Susan </a:t>
            </a:r>
            <a:r>
              <a:rPr lang="en-GB" dirty="0" err="1" smtClean="0"/>
              <a:t>Ebbels</a:t>
            </a:r>
            <a:r>
              <a:rPr lang="en-GB" dirty="0" smtClean="0"/>
              <a:t> demonstrating the use of shape coding. (10.05-14.00)</a:t>
            </a:r>
          </a:p>
          <a:p>
            <a:endParaRPr lang="en-GB" dirty="0"/>
          </a:p>
        </p:txBody>
      </p:sp>
      <p:cxnSp>
        <p:nvCxnSpPr>
          <p:cNvPr id="4" name="Straight Connector 3"/>
          <p:cNvCxnSpPr/>
          <p:nvPr/>
        </p:nvCxnSpPr>
        <p:spPr>
          <a:xfrm>
            <a:off x="1143000" y="1590675"/>
            <a:ext cx="120015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Hexagon 5"/>
          <p:cNvSpPr/>
          <p:nvPr/>
        </p:nvSpPr>
        <p:spPr>
          <a:xfrm>
            <a:off x="2343150" y="962024"/>
            <a:ext cx="1790700"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7" name="Straight Connector 6"/>
          <p:cNvCxnSpPr/>
          <p:nvPr/>
        </p:nvCxnSpPr>
        <p:spPr>
          <a:xfrm>
            <a:off x="2552700" y="1590675"/>
            <a:ext cx="1333500"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2430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 practice</a:t>
            </a:r>
            <a:endParaRPr lang="en-GB" dirty="0"/>
          </a:p>
        </p:txBody>
      </p:sp>
      <p:sp>
        <p:nvSpPr>
          <p:cNvPr id="4" name="Rectangle 3"/>
          <p:cNvSpPr/>
          <p:nvPr/>
        </p:nvSpPr>
        <p:spPr>
          <a:xfrm>
            <a:off x="6074664" y="3016250"/>
            <a:ext cx="1346200" cy="800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911860" y="2959100"/>
            <a:ext cx="1757172" cy="990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iamond 5"/>
          <p:cNvSpPr/>
          <p:nvPr/>
        </p:nvSpPr>
        <p:spPr>
          <a:xfrm>
            <a:off x="2946400" y="2851150"/>
            <a:ext cx="990600" cy="113030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Hexagon 6"/>
          <p:cNvSpPr/>
          <p:nvPr/>
        </p:nvSpPr>
        <p:spPr>
          <a:xfrm>
            <a:off x="4102100" y="2705100"/>
            <a:ext cx="3594100" cy="1498600"/>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p:cNvCxnSpPr/>
          <p:nvPr/>
        </p:nvCxnSpPr>
        <p:spPr>
          <a:xfrm>
            <a:off x="1257300" y="3673475"/>
            <a:ext cx="109220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4535932" y="3673475"/>
            <a:ext cx="1211072" cy="15876"/>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201664" y="3673475"/>
            <a:ext cx="109220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5" idx="4"/>
          </p:cNvCxnSpPr>
          <p:nvPr/>
        </p:nvCxnSpPr>
        <p:spPr>
          <a:xfrm flipV="1">
            <a:off x="1473200" y="3949700"/>
            <a:ext cx="317246" cy="114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11860" y="5245100"/>
            <a:ext cx="1539240" cy="646331"/>
          </a:xfrm>
          <a:prstGeom prst="rect">
            <a:avLst/>
          </a:prstGeom>
          <a:noFill/>
        </p:spPr>
        <p:txBody>
          <a:bodyPr wrap="square" rtlCol="0">
            <a:spAutoFit/>
          </a:bodyPr>
          <a:lstStyle/>
          <a:p>
            <a:r>
              <a:rPr lang="en-GB" dirty="0" smtClean="0"/>
              <a:t>Who? Subject - noun</a:t>
            </a:r>
            <a:endParaRPr lang="en-GB" dirty="0"/>
          </a:p>
        </p:txBody>
      </p:sp>
      <p:cxnSp>
        <p:nvCxnSpPr>
          <p:cNvPr id="18" name="Straight Arrow Connector 17"/>
          <p:cNvCxnSpPr/>
          <p:nvPr/>
        </p:nvCxnSpPr>
        <p:spPr>
          <a:xfrm flipH="1" flipV="1">
            <a:off x="3522726" y="4044464"/>
            <a:ext cx="274574" cy="77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072892" y="4840470"/>
            <a:ext cx="1539240" cy="369332"/>
          </a:xfrm>
          <a:prstGeom prst="rect">
            <a:avLst/>
          </a:prstGeom>
          <a:noFill/>
        </p:spPr>
        <p:txBody>
          <a:bodyPr wrap="square" rtlCol="0">
            <a:spAutoFit/>
          </a:bodyPr>
          <a:lstStyle/>
          <a:p>
            <a:r>
              <a:rPr lang="en-GB" dirty="0" smtClean="0"/>
              <a:t>Aux/Modal </a:t>
            </a:r>
            <a:endParaRPr lang="en-GB" dirty="0"/>
          </a:p>
        </p:txBody>
      </p:sp>
      <p:cxnSp>
        <p:nvCxnSpPr>
          <p:cNvPr id="22" name="Straight Arrow Connector 21"/>
          <p:cNvCxnSpPr/>
          <p:nvPr/>
        </p:nvCxnSpPr>
        <p:spPr>
          <a:xfrm flipH="1" flipV="1">
            <a:off x="6369558" y="4264428"/>
            <a:ext cx="274574" cy="77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074664" y="5084548"/>
            <a:ext cx="1539240" cy="646331"/>
          </a:xfrm>
          <a:prstGeom prst="rect">
            <a:avLst/>
          </a:prstGeom>
          <a:noFill/>
        </p:spPr>
        <p:txBody>
          <a:bodyPr wrap="square" rtlCol="0">
            <a:spAutoFit/>
          </a:bodyPr>
          <a:lstStyle/>
          <a:p>
            <a:r>
              <a:rPr lang="en-GB" dirty="0" smtClean="0"/>
              <a:t>What doing? Phrase </a:t>
            </a:r>
            <a:endParaRPr lang="en-GB" dirty="0"/>
          </a:p>
        </p:txBody>
      </p:sp>
      <p:cxnSp>
        <p:nvCxnSpPr>
          <p:cNvPr id="25" name="Straight Arrow Connector 24"/>
          <p:cNvCxnSpPr/>
          <p:nvPr/>
        </p:nvCxnSpPr>
        <p:spPr>
          <a:xfrm>
            <a:off x="4612132" y="1871149"/>
            <a:ext cx="239268" cy="1545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4134104" y="1441089"/>
            <a:ext cx="717296" cy="369332"/>
          </a:xfrm>
          <a:prstGeom prst="rect">
            <a:avLst/>
          </a:prstGeom>
          <a:noFill/>
        </p:spPr>
        <p:txBody>
          <a:bodyPr wrap="square" rtlCol="0">
            <a:spAutoFit/>
          </a:bodyPr>
          <a:lstStyle/>
          <a:p>
            <a:r>
              <a:rPr lang="en-GB" dirty="0"/>
              <a:t>V</a:t>
            </a:r>
            <a:r>
              <a:rPr lang="en-GB" dirty="0" smtClean="0"/>
              <a:t>erb</a:t>
            </a:r>
            <a:endParaRPr lang="en-GB" dirty="0"/>
          </a:p>
        </p:txBody>
      </p:sp>
      <p:cxnSp>
        <p:nvCxnSpPr>
          <p:cNvPr id="29" name="Straight Arrow Connector 28"/>
          <p:cNvCxnSpPr/>
          <p:nvPr/>
        </p:nvCxnSpPr>
        <p:spPr>
          <a:xfrm>
            <a:off x="6524752" y="1871149"/>
            <a:ext cx="239268" cy="1545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562600" y="1441089"/>
            <a:ext cx="2133600" cy="369332"/>
          </a:xfrm>
          <a:prstGeom prst="rect">
            <a:avLst/>
          </a:prstGeom>
          <a:noFill/>
        </p:spPr>
        <p:txBody>
          <a:bodyPr wrap="square" rtlCol="0">
            <a:spAutoFit/>
          </a:bodyPr>
          <a:lstStyle/>
          <a:p>
            <a:r>
              <a:rPr lang="en-GB" dirty="0" smtClean="0"/>
              <a:t>Who? Object - noun</a:t>
            </a:r>
            <a:endParaRPr lang="en-GB" dirty="0"/>
          </a:p>
        </p:txBody>
      </p:sp>
      <p:sp>
        <p:nvSpPr>
          <p:cNvPr id="31" name="TextBox 30"/>
          <p:cNvSpPr txBox="1"/>
          <p:nvPr/>
        </p:nvSpPr>
        <p:spPr>
          <a:xfrm>
            <a:off x="1257300" y="3200400"/>
            <a:ext cx="1092200" cy="369332"/>
          </a:xfrm>
          <a:prstGeom prst="rect">
            <a:avLst/>
          </a:prstGeom>
          <a:noFill/>
        </p:spPr>
        <p:txBody>
          <a:bodyPr wrap="square" rtlCol="0">
            <a:spAutoFit/>
          </a:bodyPr>
          <a:lstStyle/>
          <a:p>
            <a:r>
              <a:rPr lang="en-GB" dirty="0" smtClean="0"/>
              <a:t>George</a:t>
            </a:r>
            <a:endParaRPr lang="en-GB" dirty="0"/>
          </a:p>
        </p:txBody>
      </p:sp>
      <p:sp>
        <p:nvSpPr>
          <p:cNvPr id="32" name="TextBox 31"/>
          <p:cNvSpPr txBox="1"/>
          <p:nvPr/>
        </p:nvSpPr>
        <p:spPr>
          <a:xfrm>
            <a:off x="3276219" y="3200400"/>
            <a:ext cx="387350" cy="369332"/>
          </a:xfrm>
          <a:prstGeom prst="rect">
            <a:avLst/>
          </a:prstGeom>
          <a:noFill/>
        </p:spPr>
        <p:txBody>
          <a:bodyPr wrap="square" rtlCol="0">
            <a:spAutoFit/>
          </a:bodyPr>
          <a:lstStyle/>
          <a:p>
            <a:r>
              <a:rPr lang="en-GB" dirty="0" smtClean="0"/>
              <a:t>is</a:t>
            </a:r>
            <a:endParaRPr lang="en-GB" dirty="0"/>
          </a:p>
        </p:txBody>
      </p:sp>
      <p:sp>
        <p:nvSpPr>
          <p:cNvPr id="34" name="TextBox 33"/>
          <p:cNvSpPr txBox="1"/>
          <p:nvPr/>
        </p:nvSpPr>
        <p:spPr>
          <a:xfrm>
            <a:off x="4467478" y="3292362"/>
            <a:ext cx="1302385" cy="369332"/>
          </a:xfrm>
          <a:prstGeom prst="rect">
            <a:avLst/>
          </a:prstGeom>
          <a:noFill/>
        </p:spPr>
        <p:txBody>
          <a:bodyPr wrap="square" rtlCol="0">
            <a:spAutoFit/>
          </a:bodyPr>
          <a:lstStyle/>
          <a:p>
            <a:r>
              <a:rPr lang="en-GB" dirty="0" smtClean="0"/>
              <a:t>following</a:t>
            </a:r>
            <a:endParaRPr lang="en-GB" dirty="0"/>
          </a:p>
        </p:txBody>
      </p:sp>
      <p:sp>
        <p:nvSpPr>
          <p:cNvPr id="35" name="TextBox 34"/>
          <p:cNvSpPr txBox="1"/>
          <p:nvPr/>
        </p:nvSpPr>
        <p:spPr>
          <a:xfrm>
            <a:off x="6193091" y="3305175"/>
            <a:ext cx="1302385" cy="369332"/>
          </a:xfrm>
          <a:prstGeom prst="rect">
            <a:avLst/>
          </a:prstGeom>
          <a:noFill/>
        </p:spPr>
        <p:txBody>
          <a:bodyPr wrap="square" rtlCol="0">
            <a:spAutoFit/>
          </a:bodyPr>
          <a:lstStyle/>
          <a:p>
            <a:r>
              <a:rPr lang="en-GB" dirty="0" smtClean="0"/>
              <a:t>Felicity</a:t>
            </a:r>
            <a:endParaRPr lang="en-GB" dirty="0"/>
          </a:p>
        </p:txBody>
      </p:sp>
    </p:spTree>
    <p:extLst>
      <p:ext uri="{BB962C8B-B14F-4D97-AF65-F5344CB8AC3E}">
        <p14:creationId xmlns:p14="http://schemas.microsoft.com/office/powerpoint/2010/main" val="176632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500" fill="hold"/>
                                        <p:tgtEl>
                                          <p:spTgt spid="25"/>
                                        </p:tgtEl>
                                        <p:attrNameLst>
                                          <p:attrName>ppt_x</p:attrName>
                                        </p:attrNameLst>
                                      </p:cBhvr>
                                      <p:tavLst>
                                        <p:tav tm="0">
                                          <p:val>
                                            <p:strVal val="#ppt_x"/>
                                          </p:val>
                                        </p:tav>
                                        <p:tav tm="100000">
                                          <p:val>
                                            <p:strVal val="#ppt_x"/>
                                          </p:val>
                                        </p:tav>
                                      </p:tavLst>
                                    </p:anim>
                                    <p:anim calcmode="lin" valueType="num">
                                      <p:cBhvr additive="base">
                                        <p:cTn id="23" dur="500" fill="hold"/>
                                        <p:tgtEl>
                                          <p:spTgt spid="25"/>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500" fill="hold"/>
                                        <p:tgtEl>
                                          <p:spTgt spid="26"/>
                                        </p:tgtEl>
                                        <p:attrNameLst>
                                          <p:attrName>ppt_x</p:attrName>
                                        </p:attrNameLst>
                                      </p:cBhvr>
                                      <p:tavLst>
                                        <p:tav tm="0">
                                          <p:val>
                                            <p:strVal val="#ppt_x"/>
                                          </p:val>
                                        </p:tav>
                                        <p:tav tm="100000">
                                          <p:val>
                                            <p:strVal val="#ppt_x"/>
                                          </p:val>
                                        </p:tav>
                                      </p:tavLst>
                                    </p:anim>
                                    <p:anim calcmode="lin" valueType="num">
                                      <p:cBhvr additive="base">
                                        <p:cTn id="27"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ppt_x</p:attrName>
                                        </p:attrNameLst>
                                      </p:cBhvr>
                                      <p:tavLst>
                                        <p:tav tm="0">
                                          <p:val>
                                            <p:strVal val="#ppt_x"/>
                                          </p:val>
                                        </p:tav>
                                        <p:tav tm="100000">
                                          <p:val>
                                            <p:strVal val="#ppt_x"/>
                                          </p:val>
                                        </p:tav>
                                      </p:tavLst>
                                    </p:anim>
                                    <p:anim calcmode="lin" valueType="num">
                                      <p:cBhvr additive="base">
                                        <p:cTn id="33" dur="500" fill="hold"/>
                                        <p:tgtEl>
                                          <p:spTgt spid="29"/>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ppt_x"/>
                                          </p:val>
                                        </p:tav>
                                        <p:tav tm="100000">
                                          <p:val>
                                            <p:strVal val="#ppt_x"/>
                                          </p:val>
                                        </p:tav>
                                      </p:tavLst>
                                    </p:anim>
                                    <p:anim calcmode="lin" valueType="num">
                                      <p:cBhvr additive="base">
                                        <p:cTn id="37"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down)">
                                      <p:cBhvr>
                                        <p:cTn id="50" dur="500"/>
                                        <p:tgtEl>
                                          <p:spTgt spid="3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down)">
                                      <p:cBhvr>
                                        <p:cTn id="53" dur="500"/>
                                        <p:tgtEl>
                                          <p:spTgt spid="32"/>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down)">
                                      <p:cBhvr>
                                        <p:cTn id="56" dur="500"/>
                                        <p:tgtEl>
                                          <p:spTgt spid="34"/>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down)">
                                      <p:cBhvr>
                                        <p:cTn id="5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4" grpId="0"/>
      <p:bldP spid="26" grpId="0"/>
      <p:bldP spid="30" grpId="0"/>
      <p:bldP spid="31" grpId="0"/>
      <p:bldP spid="32" grpId="0"/>
      <p:bldP spid="34"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 practice </a:t>
            </a:r>
            <a:endParaRPr lang="en-GB" dirty="0"/>
          </a:p>
        </p:txBody>
      </p:sp>
      <p:sp>
        <p:nvSpPr>
          <p:cNvPr id="31" name="Rectangle 30"/>
          <p:cNvSpPr/>
          <p:nvPr/>
        </p:nvSpPr>
        <p:spPr>
          <a:xfrm>
            <a:off x="7998683" y="3066506"/>
            <a:ext cx="1346200" cy="800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p:cNvSpPr/>
          <p:nvPr/>
        </p:nvSpPr>
        <p:spPr>
          <a:xfrm>
            <a:off x="911860" y="2959100"/>
            <a:ext cx="1757172" cy="990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Diamond 32"/>
          <p:cNvSpPr/>
          <p:nvPr/>
        </p:nvSpPr>
        <p:spPr>
          <a:xfrm>
            <a:off x="2834132" y="2889250"/>
            <a:ext cx="990600" cy="113030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Hexagon 33"/>
          <p:cNvSpPr/>
          <p:nvPr/>
        </p:nvSpPr>
        <p:spPr>
          <a:xfrm>
            <a:off x="6026119" y="2755356"/>
            <a:ext cx="3594100" cy="1498600"/>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Connector 34"/>
          <p:cNvCxnSpPr/>
          <p:nvPr/>
        </p:nvCxnSpPr>
        <p:spPr>
          <a:xfrm>
            <a:off x="1257300" y="3673475"/>
            <a:ext cx="109220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6459951" y="3723731"/>
            <a:ext cx="1211072" cy="15876"/>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8125683" y="3723731"/>
            <a:ext cx="109220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32" idx="4"/>
          </p:cNvCxnSpPr>
          <p:nvPr/>
        </p:nvCxnSpPr>
        <p:spPr>
          <a:xfrm flipV="1">
            <a:off x="1473200" y="3949700"/>
            <a:ext cx="317246" cy="114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911860" y="5245100"/>
            <a:ext cx="1539240" cy="646331"/>
          </a:xfrm>
          <a:prstGeom prst="rect">
            <a:avLst/>
          </a:prstGeom>
          <a:noFill/>
        </p:spPr>
        <p:txBody>
          <a:bodyPr wrap="square" rtlCol="0">
            <a:spAutoFit/>
          </a:bodyPr>
          <a:lstStyle/>
          <a:p>
            <a:r>
              <a:rPr lang="en-GB" dirty="0" smtClean="0"/>
              <a:t>Who? Subject - noun</a:t>
            </a:r>
            <a:endParaRPr lang="en-GB" dirty="0"/>
          </a:p>
        </p:txBody>
      </p:sp>
      <p:cxnSp>
        <p:nvCxnSpPr>
          <p:cNvPr id="40" name="Straight Arrow Connector 39"/>
          <p:cNvCxnSpPr/>
          <p:nvPr/>
        </p:nvCxnSpPr>
        <p:spPr>
          <a:xfrm flipH="1" flipV="1">
            <a:off x="3522726" y="4044464"/>
            <a:ext cx="274574" cy="77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072892" y="4840470"/>
            <a:ext cx="1539240" cy="369332"/>
          </a:xfrm>
          <a:prstGeom prst="rect">
            <a:avLst/>
          </a:prstGeom>
          <a:noFill/>
        </p:spPr>
        <p:txBody>
          <a:bodyPr wrap="square" rtlCol="0">
            <a:spAutoFit/>
          </a:bodyPr>
          <a:lstStyle/>
          <a:p>
            <a:r>
              <a:rPr lang="en-GB" dirty="0" smtClean="0"/>
              <a:t>Aux/Modal </a:t>
            </a:r>
            <a:endParaRPr lang="en-GB" dirty="0"/>
          </a:p>
        </p:txBody>
      </p:sp>
      <p:cxnSp>
        <p:nvCxnSpPr>
          <p:cNvPr id="42" name="Straight Arrow Connector 41"/>
          <p:cNvCxnSpPr/>
          <p:nvPr/>
        </p:nvCxnSpPr>
        <p:spPr>
          <a:xfrm flipH="1" flipV="1">
            <a:off x="8293577" y="4314684"/>
            <a:ext cx="274574" cy="77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998683" y="5134804"/>
            <a:ext cx="1539240" cy="646331"/>
          </a:xfrm>
          <a:prstGeom prst="rect">
            <a:avLst/>
          </a:prstGeom>
          <a:noFill/>
        </p:spPr>
        <p:txBody>
          <a:bodyPr wrap="square" rtlCol="0">
            <a:spAutoFit/>
          </a:bodyPr>
          <a:lstStyle/>
          <a:p>
            <a:r>
              <a:rPr lang="en-GB" dirty="0" smtClean="0"/>
              <a:t>What doing? Phrase </a:t>
            </a:r>
            <a:endParaRPr lang="en-GB" dirty="0"/>
          </a:p>
        </p:txBody>
      </p:sp>
      <p:cxnSp>
        <p:nvCxnSpPr>
          <p:cNvPr id="44" name="Straight Arrow Connector 43"/>
          <p:cNvCxnSpPr/>
          <p:nvPr/>
        </p:nvCxnSpPr>
        <p:spPr>
          <a:xfrm>
            <a:off x="6536151" y="1921405"/>
            <a:ext cx="239268" cy="1545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058123" y="1491345"/>
            <a:ext cx="717296" cy="369332"/>
          </a:xfrm>
          <a:prstGeom prst="rect">
            <a:avLst/>
          </a:prstGeom>
          <a:noFill/>
        </p:spPr>
        <p:txBody>
          <a:bodyPr wrap="square" rtlCol="0">
            <a:spAutoFit/>
          </a:bodyPr>
          <a:lstStyle/>
          <a:p>
            <a:r>
              <a:rPr lang="en-GB" dirty="0"/>
              <a:t>V</a:t>
            </a:r>
            <a:r>
              <a:rPr lang="en-GB" dirty="0" smtClean="0"/>
              <a:t>erb</a:t>
            </a:r>
            <a:endParaRPr lang="en-GB" dirty="0"/>
          </a:p>
        </p:txBody>
      </p:sp>
      <p:cxnSp>
        <p:nvCxnSpPr>
          <p:cNvPr id="46" name="Straight Arrow Connector 45"/>
          <p:cNvCxnSpPr/>
          <p:nvPr/>
        </p:nvCxnSpPr>
        <p:spPr>
          <a:xfrm>
            <a:off x="8448771" y="1921405"/>
            <a:ext cx="239268" cy="1545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7486619" y="1491345"/>
            <a:ext cx="2133600" cy="369332"/>
          </a:xfrm>
          <a:prstGeom prst="rect">
            <a:avLst/>
          </a:prstGeom>
          <a:noFill/>
        </p:spPr>
        <p:txBody>
          <a:bodyPr wrap="square" rtlCol="0">
            <a:spAutoFit/>
          </a:bodyPr>
          <a:lstStyle/>
          <a:p>
            <a:r>
              <a:rPr lang="en-GB" dirty="0" smtClean="0"/>
              <a:t>Who? Object - noun</a:t>
            </a:r>
            <a:endParaRPr lang="en-GB" dirty="0"/>
          </a:p>
        </p:txBody>
      </p:sp>
      <p:sp>
        <p:nvSpPr>
          <p:cNvPr id="48" name="Isosceles Triangle 47"/>
          <p:cNvSpPr/>
          <p:nvPr/>
        </p:nvSpPr>
        <p:spPr>
          <a:xfrm rot="5400000">
            <a:off x="4381459" y="2522401"/>
            <a:ext cx="1219873" cy="1888309"/>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9" name="Straight Arrow Connector 48"/>
          <p:cNvCxnSpPr/>
          <p:nvPr/>
        </p:nvCxnSpPr>
        <p:spPr>
          <a:xfrm>
            <a:off x="4845446" y="2203269"/>
            <a:ext cx="136987" cy="770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253484" y="1774719"/>
            <a:ext cx="717296" cy="369332"/>
          </a:xfrm>
          <a:prstGeom prst="rect">
            <a:avLst/>
          </a:prstGeom>
          <a:noFill/>
        </p:spPr>
        <p:txBody>
          <a:bodyPr wrap="square" rtlCol="0">
            <a:spAutoFit/>
          </a:bodyPr>
          <a:lstStyle/>
          <a:p>
            <a:r>
              <a:rPr lang="en-GB" dirty="0" smtClean="0"/>
              <a:t>How?</a:t>
            </a:r>
            <a:endParaRPr lang="en-GB" dirty="0"/>
          </a:p>
        </p:txBody>
      </p:sp>
      <p:sp>
        <p:nvSpPr>
          <p:cNvPr id="52" name="TextBox 51"/>
          <p:cNvSpPr txBox="1"/>
          <p:nvPr/>
        </p:nvSpPr>
        <p:spPr>
          <a:xfrm>
            <a:off x="1304230" y="3277985"/>
            <a:ext cx="1092200" cy="369332"/>
          </a:xfrm>
          <a:prstGeom prst="rect">
            <a:avLst/>
          </a:prstGeom>
          <a:noFill/>
        </p:spPr>
        <p:txBody>
          <a:bodyPr wrap="square" rtlCol="0">
            <a:spAutoFit/>
          </a:bodyPr>
          <a:lstStyle/>
          <a:p>
            <a:r>
              <a:rPr lang="en-GB" dirty="0" smtClean="0"/>
              <a:t>George</a:t>
            </a:r>
            <a:endParaRPr lang="en-GB" dirty="0"/>
          </a:p>
        </p:txBody>
      </p:sp>
      <p:sp>
        <p:nvSpPr>
          <p:cNvPr id="53" name="TextBox 52"/>
          <p:cNvSpPr txBox="1"/>
          <p:nvPr/>
        </p:nvSpPr>
        <p:spPr>
          <a:xfrm>
            <a:off x="3138139" y="3264672"/>
            <a:ext cx="387350" cy="369332"/>
          </a:xfrm>
          <a:prstGeom prst="rect">
            <a:avLst/>
          </a:prstGeom>
          <a:noFill/>
        </p:spPr>
        <p:txBody>
          <a:bodyPr wrap="square" rtlCol="0">
            <a:spAutoFit/>
          </a:bodyPr>
          <a:lstStyle/>
          <a:p>
            <a:r>
              <a:rPr lang="en-GB" dirty="0" smtClean="0"/>
              <a:t>is</a:t>
            </a:r>
            <a:endParaRPr lang="en-GB" dirty="0"/>
          </a:p>
        </p:txBody>
      </p:sp>
      <p:sp>
        <p:nvSpPr>
          <p:cNvPr id="54" name="TextBox 53"/>
          <p:cNvSpPr txBox="1"/>
          <p:nvPr/>
        </p:nvSpPr>
        <p:spPr>
          <a:xfrm>
            <a:off x="6456836" y="3361603"/>
            <a:ext cx="1302385" cy="369332"/>
          </a:xfrm>
          <a:prstGeom prst="rect">
            <a:avLst/>
          </a:prstGeom>
          <a:noFill/>
        </p:spPr>
        <p:txBody>
          <a:bodyPr wrap="square" rtlCol="0">
            <a:spAutoFit/>
          </a:bodyPr>
          <a:lstStyle/>
          <a:p>
            <a:r>
              <a:rPr lang="en-GB" dirty="0" smtClean="0"/>
              <a:t>following</a:t>
            </a:r>
            <a:endParaRPr lang="en-GB" dirty="0"/>
          </a:p>
        </p:txBody>
      </p:sp>
      <p:sp>
        <p:nvSpPr>
          <p:cNvPr id="55" name="TextBox 54"/>
          <p:cNvSpPr txBox="1"/>
          <p:nvPr/>
        </p:nvSpPr>
        <p:spPr>
          <a:xfrm>
            <a:off x="8278274" y="3335342"/>
            <a:ext cx="1302385" cy="369332"/>
          </a:xfrm>
          <a:prstGeom prst="rect">
            <a:avLst/>
          </a:prstGeom>
          <a:noFill/>
        </p:spPr>
        <p:txBody>
          <a:bodyPr wrap="square" rtlCol="0">
            <a:spAutoFit/>
          </a:bodyPr>
          <a:lstStyle/>
          <a:p>
            <a:r>
              <a:rPr lang="en-GB" dirty="0" smtClean="0"/>
              <a:t>Felicity</a:t>
            </a:r>
            <a:endParaRPr lang="en-GB" dirty="0"/>
          </a:p>
        </p:txBody>
      </p:sp>
      <p:sp>
        <p:nvSpPr>
          <p:cNvPr id="56" name="TextBox 55"/>
          <p:cNvSpPr txBox="1"/>
          <p:nvPr/>
        </p:nvSpPr>
        <p:spPr>
          <a:xfrm>
            <a:off x="4218033" y="3264672"/>
            <a:ext cx="1092200" cy="369332"/>
          </a:xfrm>
          <a:prstGeom prst="rect">
            <a:avLst/>
          </a:prstGeom>
          <a:noFill/>
        </p:spPr>
        <p:txBody>
          <a:bodyPr wrap="square" rtlCol="0">
            <a:spAutoFit/>
          </a:bodyPr>
          <a:lstStyle/>
          <a:p>
            <a:r>
              <a:rPr lang="en-GB" dirty="0" smtClean="0"/>
              <a:t>sneakily </a:t>
            </a:r>
            <a:endParaRPr lang="en-GB" dirty="0"/>
          </a:p>
        </p:txBody>
      </p:sp>
    </p:spTree>
    <p:extLst>
      <p:ext uri="{BB962C8B-B14F-4D97-AF65-F5344CB8AC3E}">
        <p14:creationId xmlns:p14="http://schemas.microsoft.com/office/powerpoint/2010/main" val="393925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down)">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wipe(down)">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wipe(down)">
                                      <p:cBhvr>
                                        <p:cTn id="22" dur="500"/>
                                        <p:tgtEl>
                                          <p:spTgt spid="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wipe(down)">
                                      <p:cBhvr>
                                        <p:cTn id="2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P spid="5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 practice</a:t>
            </a:r>
            <a:endParaRPr lang="en-GB" dirty="0"/>
          </a:p>
        </p:txBody>
      </p:sp>
      <p:pic>
        <p:nvPicPr>
          <p:cNvPr id="4" name="Picture 3"/>
          <p:cNvPicPr>
            <a:picLocks noChangeAspect="1"/>
          </p:cNvPicPr>
          <p:nvPr/>
        </p:nvPicPr>
        <p:blipFill rotWithShape="1">
          <a:blip r:embed="rId3"/>
          <a:srcRect l="9479" t="20183" r="12500" b="19791"/>
          <a:stretch/>
        </p:blipFill>
        <p:spPr>
          <a:xfrm>
            <a:off x="2496633" y="1438508"/>
            <a:ext cx="8321241" cy="5121618"/>
          </a:xfrm>
          <a:prstGeom prst="rect">
            <a:avLst/>
          </a:prstGeom>
        </p:spPr>
      </p:pic>
    </p:spTree>
    <p:extLst>
      <p:ext uri="{BB962C8B-B14F-4D97-AF65-F5344CB8AC3E}">
        <p14:creationId xmlns:p14="http://schemas.microsoft.com/office/powerpoint/2010/main" val="6630879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5800"/>
            <a:ext cx="12192000" cy="7981950"/>
          </a:xfrm>
          <a:prstGeom prst="rect">
            <a:avLst/>
          </a:prstGeom>
        </p:spPr>
      </p:pic>
      <p:sp>
        <p:nvSpPr>
          <p:cNvPr id="2" name="Title 1"/>
          <p:cNvSpPr>
            <a:spLocks noGrp="1"/>
          </p:cNvSpPr>
          <p:nvPr>
            <p:ph type="title"/>
          </p:nvPr>
        </p:nvSpPr>
        <p:spPr/>
        <p:txBody>
          <a:bodyPr>
            <a:normAutofit/>
          </a:bodyPr>
          <a:lstStyle/>
          <a:p>
            <a:r>
              <a:rPr lang="en-GB" sz="6600" dirty="0" smtClean="0">
                <a:solidFill>
                  <a:schemeClr val="bg1"/>
                </a:solidFill>
              </a:rPr>
              <a:t>Note</a:t>
            </a:r>
            <a:endParaRPr lang="en-GB" sz="6600" dirty="0">
              <a:solidFill>
                <a:schemeClr val="bg1"/>
              </a:solidFill>
            </a:endParaRPr>
          </a:p>
        </p:txBody>
      </p:sp>
      <p:sp>
        <p:nvSpPr>
          <p:cNvPr id="3" name="Content Placeholder 2"/>
          <p:cNvSpPr>
            <a:spLocks noGrp="1"/>
          </p:cNvSpPr>
          <p:nvPr>
            <p:ph idx="1"/>
          </p:nvPr>
        </p:nvSpPr>
        <p:spPr/>
        <p:txBody>
          <a:bodyPr>
            <a:normAutofit/>
          </a:bodyPr>
          <a:lstStyle/>
          <a:p>
            <a:r>
              <a:rPr lang="en-GB" sz="2800" dirty="0" smtClean="0">
                <a:solidFill>
                  <a:schemeClr val="bg1"/>
                </a:solidFill>
              </a:rPr>
              <a:t>- shape coding is not a programme: it’s a tool. </a:t>
            </a:r>
          </a:p>
          <a:p>
            <a:r>
              <a:rPr lang="en-GB" sz="2800" dirty="0" smtClean="0">
                <a:solidFill>
                  <a:schemeClr val="bg1"/>
                </a:solidFill>
              </a:rPr>
              <a:t>-gradual withdrawal of shapes is required to develop automatic use/understanding of grammatical structures</a:t>
            </a:r>
          </a:p>
          <a:p>
            <a:r>
              <a:rPr lang="en-GB" sz="2800" dirty="0" smtClean="0">
                <a:solidFill>
                  <a:schemeClr val="bg1"/>
                </a:solidFill>
              </a:rPr>
              <a:t>i.e. activities with shapes/colours, activities where shapes/colours are used only to check answers and activities with no shapes at all. </a:t>
            </a:r>
            <a:endParaRPr lang="en-GB" sz="2800" dirty="0">
              <a:solidFill>
                <a:schemeClr val="bg1"/>
              </a:solidFill>
            </a:endParaRPr>
          </a:p>
        </p:txBody>
      </p:sp>
    </p:spTree>
    <p:extLst>
      <p:ext uri="{BB962C8B-B14F-4D97-AF65-F5344CB8AC3E}">
        <p14:creationId xmlns:p14="http://schemas.microsoft.com/office/powerpoint/2010/main" val="32825758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www.evolllution.com/wp-content/uploads/2012/08/strengths-weaknesses-siz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2192000" cy="810099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smtClean="0">
                <a:solidFill>
                  <a:schemeClr val="bg1"/>
                </a:solidFill>
              </a:rPr>
              <a:t>The Underpinning psychology </a:t>
            </a:r>
            <a:endParaRPr lang="en-GB" dirty="0">
              <a:solidFill>
                <a:schemeClr val="bg1"/>
              </a:solidFill>
            </a:endParaRPr>
          </a:p>
        </p:txBody>
      </p:sp>
      <p:sp>
        <p:nvSpPr>
          <p:cNvPr id="4" name="Hexagon 3"/>
          <p:cNvSpPr/>
          <p:nvPr/>
        </p:nvSpPr>
        <p:spPr>
          <a:xfrm>
            <a:off x="1873405" y="962024"/>
            <a:ext cx="3133493" cy="733425"/>
          </a:xfrm>
          <a:prstGeom prst="hexagon">
            <a:avLst/>
          </a:prstGeom>
          <a:no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5" name="Straight Connector 4"/>
          <p:cNvCxnSpPr/>
          <p:nvPr/>
        </p:nvCxnSpPr>
        <p:spPr>
          <a:xfrm>
            <a:off x="1176454" y="1593231"/>
            <a:ext cx="696951" cy="1393"/>
          </a:xfrm>
          <a:prstGeom prst="line">
            <a:avLst/>
          </a:prstGeom>
          <a:ln w="38100" cap="rnd">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006898" y="1593231"/>
            <a:ext cx="2609385"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023946" y="1593231"/>
            <a:ext cx="2759927"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6779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2.bp.blogspot.com/-rFyCKaoblq0/UxfvzUFAcAI/AAAAAAAAM2I/OLMEwDjwQIM/s1600/Grammar+suuport+pic.png"/>
          <p:cNvPicPr>
            <a:picLocks noChangeAspect="1" noChangeArrowheads="1"/>
          </p:cNvPicPr>
          <p:nvPr/>
        </p:nvPicPr>
        <p:blipFill rotWithShape="1">
          <a:blip r:embed="rId3">
            <a:extLst>
              <a:ext uri="{28A0092B-C50C-407E-A947-70E740481C1C}">
                <a14:useLocalDpi xmlns:a14="http://schemas.microsoft.com/office/drawing/2010/main" val="0"/>
              </a:ext>
            </a:extLst>
          </a:blip>
          <a:srcRect l="1557" t="2022" r="2594" b="2206"/>
          <a:stretch/>
        </p:blipFill>
        <p:spPr bwMode="auto">
          <a:xfrm>
            <a:off x="256478" y="0"/>
            <a:ext cx="8954429" cy="68824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124090" y="3012349"/>
            <a:ext cx="5599773" cy="34624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8" name="Picture 4" descr="http://elizabethmccready.files.wordpress.com/2012/03/montessori-grammar-materials-in-action.jpg?w=587&amp;h=4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0847" y="2001068"/>
            <a:ext cx="6322899" cy="4739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5299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3.bp.blogspot.com/-VEyyxz5QdLQ/TxI3ennpu7I/AAAAAAAAAKI/pRhDVTSldZM/s1600/100_3980.JPG"/>
          <p:cNvPicPr>
            <a:picLocks noChangeAspect="1" noChangeArrowheads="1"/>
          </p:cNvPicPr>
          <p:nvPr/>
        </p:nvPicPr>
        <p:blipFill rotWithShape="1">
          <a:blip r:embed="rId3">
            <a:extLst>
              <a:ext uri="{28A0092B-C50C-407E-A947-70E740481C1C}">
                <a14:useLocalDpi xmlns:a14="http://schemas.microsoft.com/office/drawing/2010/main" val="0"/>
              </a:ext>
            </a:extLst>
          </a:blip>
          <a:srcRect r="-44" b="30570"/>
          <a:stretch/>
        </p:blipFill>
        <p:spPr bwMode="auto">
          <a:xfrm>
            <a:off x="-1" y="0"/>
            <a:ext cx="4898572" cy="259989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2.bp.blogspot.com/-u-0diAoTfVU/UwUESvTK5zI/AAAAAAAAFRs/51SKvpC69VI/s1600/DSC_0894.JPG"/>
          <p:cNvPicPr>
            <a:picLocks noChangeAspect="1" noChangeArrowheads="1"/>
          </p:cNvPicPr>
          <p:nvPr/>
        </p:nvPicPr>
        <p:blipFill rotWithShape="1">
          <a:blip r:embed="rId4">
            <a:extLst>
              <a:ext uri="{28A0092B-C50C-407E-A947-70E740481C1C}">
                <a14:useLocalDpi xmlns:a14="http://schemas.microsoft.com/office/drawing/2010/main" val="0"/>
              </a:ext>
            </a:extLst>
          </a:blip>
          <a:srcRect l="14566" r="16084"/>
          <a:stretch/>
        </p:blipFill>
        <p:spPr bwMode="auto">
          <a:xfrm>
            <a:off x="9252857" y="3965291"/>
            <a:ext cx="2939143" cy="289270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www.janellepublications.com/images/1303.jpg"/>
          <p:cNvPicPr>
            <a:picLocks noChangeAspect="1" noChangeArrowheads="1"/>
          </p:cNvPicPr>
          <p:nvPr/>
        </p:nvPicPr>
        <p:blipFill rotWithShape="1">
          <a:blip r:embed="rId5">
            <a:extLst>
              <a:ext uri="{28A0092B-C50C-407E-A947-70E740481C1C}">
                <a14:useLocalDpi xmlns:a14="http://schemas.microsoft.com/office/drawing/2010/main" val="0"/>
              </a:ext>
            </a:extLst>
          </a:blip>
          <a:srcRect t="2881"/>
          <a:stretch/>
        </p:blipFill>
        <p:spPr bwMode="auto">
          <a:xfrm>
            <a:off x="0" y="3800645"/>
            <a:ext cx="7934325" cy="330245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images.the-teachers-lounge.com/images/KE840008.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0549060">
            <a:off x="4858364" y="1478074"/>
            <a:ext cx="7470454" cy="1979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6673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wantwords.co.uk/school/wp-content/uploads/2013/05/l5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515884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850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14063" t="19811" r="14252" b="21615"/>
          <a:stretch/>
        </p:blipFill>
        <p:spPr>
          <a:xfrm>
            <a:off x="1950667" y="2042213"/>
            <a:ext cx="7134366" cy="4663605"/>
          </a:xfrm>
          <a:prstGeom prst="rect">
            <a:avLst/>
          </a:prstGeom>
        </p:spPr>
      </p:pic>
      <p:sp>
        <p:nvSpPr>
          <p:cNvPr id="3" name="Title 1"/>
          <p:cNvSpPr>
            <a:spLocks noGrp="1"/>
          </p:cNvSpPr>
          <p:nvPr>
            <p:ph type="title"/>
          </p:nvPr>
        </p:nvSpPr>
        <p:spPr>
          <a:xfrm>
            <a:off x="811458" y="555172"/>
            <a:ext cx="9720072" cy="1499616"/>
          </a:xfrm>
        </p:spPr>
        <p:txBody>
          <a:bodyPr/>
          <a:lstStyle/>
          <a:p>
            <a:r>
              <a:rPr lang="en-GB" dirty="0" smtClean="0"/>
              <a:t>The underpinning evidence-base</a:t>
            </a:r>
            <a:endParaRPr lang="en-GB" dirty="0"/>
          </a:p>
        </p:txBody>
      </p:sp>
      <p:sp>
        <p:nvSpPr>
          <p:cNvPr id="5" name="Hexagon 4"/>
          <p:cNvSpPr/>
          <p:nvPr/>
        </p:nvSpPr>
        <p:spPr>
          <a:xfrm>
            <a:off x="1616130" y="931980"/>
            <a:ext cx="3166946"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6" name="Straight Connector 5"/>
          <p:cNvCxnSpPr/>
          <p:nvPr/>
        </p:nvCxnSpPr>
        <p:spPr>
          <a:xfrm>
            <a:off x="963784" y="1563187"/>
            <a:ext cx="696951" cy="1393"/>
          </a:xfrm>
          <a:prstGeom prst="line">
            <a:avLst/>
          </a:prstGeom>
          <a:ln w="38100" cap="rnd">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877862" y="1563187"/>
            <a:ext cx="288259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11276" y="1563187"/>
            <a:ext cx="2759927"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97865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458" y="555172"/>
            <a:ext cx="9720072" cy="1499616"/>
          </a:xfrm>
        </p:spPr>
        <p:txBody>
          <a:bodyPr/>
          <a:lstStyle/>
          <a:p>
            <a:r>
              <a:rPr lang="en-GB" dirty="0" smtClean="0"/>
              <a:t>The underpinning evidence-base</a:t>
            </a:r>
            <a:endParaRPr lang="en-GB" dirty="0"/>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2370280143"/>
              </p:ext>
            </p:extLst>
          </p:nvPr>
        </p:nvGraphicFramePr>
        <p:xfrm>
          <a:off x="213714" y="2047705"/>
          <a:ext cx="11761306" cy="4394200"/>
        </p:xfrm>
        <a:graphic>
          <a:graphicData uri="http://schemas.openxmlformats.org/drawingml/2006/table">
            <a:tbl>
              <a:tblPr firstRow="1" bandRow="1">
                <a:tableStyleId>{10A1B5D5-9B99-4C35-A422-299274C87663}</a:tableStyleId>
              </a:tblPr>
              <a:tblGrid>
                <a:gridCol w="975318"/>
                <a:gridCol w="1273206"/>
                <a:gridCol w="1349115"/>
                <a:gridCol w="796490"/>
                <a:gridCol w="2475570"/>
                <a:gridCol w="4891607"/>
              </a:tblGrid>
              <a:tr h="370840">
                <a:tc>
                  <a:txBody>
                    <a:bodyPr/>
                    <a:lstStyle/>
                    <a:p>
                      <a:r>
                        <a:rPr lang="en-GB" dirty="0" smtClean="0"/>
                        <a:t>Year</a:t>
                      </a:r>
                      <a:endParaRPr lang="en-GB" dirty="0"/>
                    </a:p>
                  </a:txBody>
                  <a:tcPr/>
                </a:tc>
                <a:tc>
                  <a:txBody>
                    <a:bodyPr/>
                    <a:lstStyle/>
                    <a:p>
                      <a:r>
                        <a:rPr lang="en-GB" dirty="0" smtClean="0"/>
                        <a:t>Researcher</a:t>
                      </a:r>
                      <a:endParaRPr lang="en-GB" dirty="0"/>
                    </a:p>
                  </a:txBody>
                  <a:tcPr/>
                </a:tc>
                <a:tc>
                  <a:txBody>
                    <a:bodyPr/>
                    <a:lstStyle/>
                    <a:p>
                      <a:r>
                        <a:rPr lang="en-GB" dirty="0" smtClean="0"/>
                        <a:t>Participants</a:t>
                      </a:r>
                      <a:endParaRPr lang="en-GB" dirty="0"/>
                    </a:p>
                  </a:txBody>
                  <a:tcPr/>
                </a:tc>
                <a:tc>
                  <a:txBody>
                    <a:bodyPr/>
                    <a:lstStyle/>
                    <a:p>
                      <a:r>
                        <a:rPr lang="en-GB" dirty="0" smtClean="0"/>
                        <a:t>Age</a:t>
                      </a:r>
                      <a:endParaRPr lang="en-GB" dirty="0"/>
                    </a:p>
                  </a:txBody>
                  <a:tcPr/>
                </a:tc>
                <a:tc>
                  <a:txBody>
                    <a:bodyPr/>
                    <a:lstStyle/>
                    <a:p>
                      <a:r>
                        <a:rPr lang="en-GB" dirty="0" smtClean="0"/>
                        <a:t>Investigated?</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Findings</a:t>
                      </a:r>
                    </a:p>
                  </a:txBody>
                  <a:tcPr/>
                </a:tc>
              </a:tr>
              <a:tr h="370840">
                <a:tc>
                  <a:txBody>
                    <a:bodyPr/>
                    <a:lstStyle/>
                    <a:p>
                      <a:r>
                        <a:rPr lang="en-GB" dirty="0" smtClean="0"/>
                        <a:t>2001</a:t>
                      </a:r>
                      <a:endParaRPr lang="en-GB" dirty="0"/>
                    </a:p>
                  </a:txBody>
                  <a:tcPr/>
                </a:tc>
                <a:tc>
                  <a:txBody>
                    <a:bodyPr/>
                    <a:lstStyle/>
                    <a:p>
                      <a:r>
                        <a:rPr lang="en-GB" dirty="0" err="1" smtClean="0"/>
                        <a:t>Ebbels</a:t>
                      </a:r>
                      <a:r>
                        <a:rPr lang="en-GB" dirty="0" smtClean="0"/>
                        <a:t> &amp; van der Lely</a:t>
                      </a:r>
                      <a:endParaRPr lang="en-GB" dirty="0"/>
                    </a:p>
                  </a:txBody>
                  <a:tcPr/>
                </a:tc>
                <a:tc>
                  <a:txBody>
                    <a:bodyPr/>
                    <a:lstStyle/>
                    <a:p>
                      <a:r>
                        <a:rPr lang="en-GB" dirty="0" smtClean="0"/>
                        <a:t>4</a:t>
                      </a:r>
                      <a:endParaRPr lang="en-GB" dirty="0"/>
                    </a:p>
                  </a:txBody>
                  <a:tcPr/>
                </a:tc>
                <a:tc>
                  <a:txBody>
                    <a:bodyPr/>
                    <a:lstStyle/>
                    <a:p>
                      <a:r>
                        <a:rPr lang="en-GB" dirty="0" smtClean="0"/>
                        <a:t>11-14 years</a:t>
                      </a:r>
                      <a:endParaRPr lang="en-GB" dirty="0"/>
                    </a:p>
                  </a:txBody>
                  <a:tcPr/>
                </a:tc>
                <a:tc>
                  <a:txBody>
                    <a:bodyPr/>
                    <a:lstStyle/>
                    <a:p>
                      <a:r>
                        <a:rPr lang="en-GB" dirty="0" smtClean="0"/>
                        <a:t>Efficacy of </a:t>
                      </a:r>
                      <a:r>
                        <a:rPr lang="en-GB" dirty="0" smtClean="0"/>
                        <a:t>Shape </a:t>
                      </a:r>
                      <a:r>
                        <a:rPr lang="en-GB" dirty="0" smtClean="0"/>
                        <a:t>Coding for improving expression &amp; comprehension of passives &amp; </a:t>
                      </a:r>
                      <a:r>
                        <a:rPr lang="en-GB" dirty="0" err="1" smtClean="0"/>
                        <a:t>wh</a:t>
                      </a:r>
                      <a:r>
                        <a:rPr lang="en-GB" dirty="0" smtClean="0"/>
                        <a:t>- questions </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¾</a:t>
                      </a:r>
                      <a:r>
                        <a:rPr lang="en-GB" baseline="0" dirty="0" smtClean="0"/>
                        <a:t> showed significant progress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Maintained for 10 weeks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All showed short-term progress with the production of </a:t>
                      </a:r>
                      <a:r>
                        <a:rPr lang="en-GB" baseline="0" dirty="0" err="1" smtClean="0"/>
                        <a:t>wh</a:t>
                      </a:r>
                      <a:r>
                        <a:rPr lang="en-GB" baseline="0" dirty="0" smtClean="0"/>
                        <a:t>- questions, but only one child maintained this at a significant level at follow-up.</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3 who responded best participated in a follow-up</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2/4 maintained progress made in comprehension &amp; passives for 30 weeks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But did not maintain progress in </a:t>
                      </a:r>
                      <a:r>
                        <a:rPr lang="en-GB" baseline="0" dirty="0" err="1" smtClean="0"/>
                        <a:t>wh</a:t>
                      </a:r>
                      <a:r>
                        <a:rPr lang="en-GB" baseline="0" dirty="0" smtClean="0"/>
                        <a:t>- questions</a:t>
                      </a:r>
                      <a:endParaRPr lang="en-GB" dirty="0" smtClean="0"/>
                    </a:p>
                  </a:txBody>
                  <a:tcPr/>
                </a:tc>
              </a:tr>
              <a:tr h="370840">
                <a:tc>
                  <a:txBody>
                    <a:bodyPr/>
                    <a:lstStyle/>
                    <a:p>
                      <a:r>
                        <a:rPr lang="en-GB" dirty="0" smtClean="0"/>
                        <a:t>2007</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err="1" smtClean="0"/>
                        <a:t>Ebbels</a:t>
                      </a:r>
                      <a:r>
                        <a:rPr lang="en-GB" dirty="0" smtClean="0"/>
                        <a:t>, van der Lely &amp; </a:t>
                      </a:r>
                      <a:r>
                        <a:rPr lang="en-GB" dirty="0" err="1" smtClean="0"/>
                        <a:t>Dockerill</a:t>
                      </a:r>
                      <a:endParaRPr lang="en-GB" dirty="0" smtClean="0"/>
                    </a:p>
                  </a:txBody>
                  <a:tcPr/>
                </a:tc>
                <a:tc>
                  <a:txBody>
                    <a:bodyPr/>
                    <a:lstStyle/>
                    <a:p>
                      <a:r>
                        <a:rPr lang="en-GB" dirty="0" smtClean="0"/>
                        <a:t>27</a:t>
                      </a:r>
                      <a:endParaRPr lang="en-GB" dirty="0"/>
                    </a:p>
                  </a:txBody>
                  <a:tcPr/>
                </a:tc>
                <a:tc>
                  <a:txBody>
                    <a:bodyPr/>
                    <a:lstStyle/>
                    <a:p>
                      <a:r>
                        <a:rPr lang="en-GB" dirty="0" smtClean="0"/>
                        <a:t>12+</a:t>
                      </a:r>
                      <a:endParaRPr lang="en-GB" dirty="0"/>
                    </a:p>
                  </a:txBody>
                  <a:tcPr/>
                </a:tc>
                <a:tc>
                  <a:txBody>
                    <a:bodyPr/>
                    <a:lstStyle/>
                    <a:p>
                      <a:r>
                        <a:rPr lang="en-GB" dirty="0" smtClean="0"/>
                        <a:t>Shape Coding V</a:t>
                      </a:r>
                      <a:r>
                        <a:rPr lang="en-GB" baseline="0" dirty="0" smtClean="0"/>
                        <a:t> therapy focused on verb semantic representations V control therapy based on ‘</a:t>
                      </a:r>
                      <a:r>
                        <a:rPr lang="en-GB" baseline="0" dirty="0" err="1" smtClean="0"/>
                        <a:t>inferencing</a:t>
                      </a:r>
                      <a:r>
                        <a:rPr lang="en-GB" baseline="0" dirty="0" smtClean="0"/>
                        <a:t>’</a:t>
                      </a:r>
                      <a:endParaRPr lang="en-GB" dirty="0"/>
                    </a:p>
                  </a:txBody>
                  <a:tcPr/>
                </a:tc>
                <a:tc>
                  <a:txBody>
                    <a:bodyPr/>
                    <a:lstStyle/>
                    <a:p>
                      <a:r>
                        <a:rPr lang="en-GB" dirty="0" smtClean="0"/>
                        <a:t>Both</a:t>
                      </a:r>
                      <a:r>
                        <a:rPr lang="en-GB" baseline="0" dirty="0" smtClean="0"/>
                        <a:t> experimental groups made progress.</a:t>
                      </a:r>
                    </a:p>
                    <a:p>
                      <a:r>
                        <a:rPr lang="en-GB" baseline="0" dirty="0" smtClean="0"/>
                        <a:t>Generalised to control verbs.</a:t>
                      </a:r>
                    </a:p>
                    <a:p>
                      <a:r>
                        <a:rPr lang="en-GB" baseline="0" dirty="0" smtClean="0"/>
                        <a:t>Maintained for 3 months</a:t>
                      </a:r>
                    </a:p>
                    <a:p>
                      <a:r>
                        <a:rPr lang="en-GB" baseline="0" dirty="0" smtClean="0"/>
                        <a:t>Control group made no progress</a:t>
                      </a:r>
                      <a:endParaRPr lang="en-GB" dirty="0"/>
                    </a:p>
                  </a:txBody>
                  <a:tcPr/>
                </a:tc>
              </a:tr>
            </a:tbl>
          </a:graphicData>
        </a:graphic>
      </p:graphicFrame>
      <p:sp>
        <p:nvSpPr>
          <p:cNvPr id="4" name="Hexagon 3"/>
          <p:cNvSpPr/>
          <p:nvPr/>
        </p:nvSpPr>
        <p:spPr>
          <a:xfrm>
            <a:off x="1616130" y="931980"/>
            <a:ext cx="3166946"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5" name="Straight Connector 4"/>
          <p:cNvCxnSpPr/>
          <p:nvPr/>
        </p:nvCxnSpPr>
        <p:spPr>
          <a:xfrm>
            <a:off x="963784" y="1563187"/>
            <a:ext cx="696951" cy="1393"/>
          </a:xfrm>
          <a:prstGeom prst="line">
            <a:avLst/>
          </a:prstGeom>
          <a:ln w="38100" cap="rnd">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877862" y="1563187"/>
            <a:ext cx="288259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11276" y="1563187"/>
            <a:ext cx="2759927"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9423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1"/>
            <p:extLst>
              <p:ext uri="{D42A27DB-BD31-4B8C-83A1-F6EECF244321}">
                <p14:modId xmlns:p14="http://schemas.microsoft.com/office/powerpoint/2010/main" val="3572525324"/>
              </p:ext>
            </p:extLst>
          </p:nvPr>
        </p:nvGraphicFramePr>
        <p:xfrm>
          <a:off x="636816" y="2300201"/>
          <a:ext cx="11266712" cy="3479800"/>
        </p:xfrm>
        <a:graphic>
          <a:graphicData uri="http://schemas.openxmlformats.org/drawingml/2006/table">
            <a:tbl>
              <a:tblPr firstRow="1" bandRow="1">
                <a:tableStyleId>{10A1B5D5-9B99-4C35-A422-299274C87663}</a:tableStyleId>
              </a:tblPr>
              <a:tblGrid>
                <a:gridCol w="934304"/>
                <a:gridCol w="1219065"/>
                <a:gridCol w="1292980"/>
                <a:gridCol w="1207292"/>
                <a:gridCol w="1950532"/>
                <a:gridCol w="4662539"/>
              </a:tblGrid>
              <a:tr h="370840">
                <a:tc>
                  <a:txBody>
                    <a:bodyPr/>
                    <a:lstStyle/>
                    <a:p>
                      <a:r>
                        <a:rPr lang="en-GB" dirty="0" smtClean="0"/>
                        <a:t>Year</a:t>
                      </a:r>
                      <a:endParaRPr lang="en-GB" dirty="0"/>
                    </a:p>
                  </a:txBody>
                  <a:tcPr/>
                </a:tc>
                <a:tc>
                  <a:txBody>
                    <a:bodyPr/>
                    <a:lstStyle/>
                    <a:p>
                      <a:r>
                        <a:rPr lang="en-GB" dirty="0" smtClean="0"/>
                        <a:t>Researcher</a:t>
                      </a:r>
                      <a:endParaRPr lang="en-GB" dirty="0"/>
                    </a:p>
                  </a:txBody>
                  <a:tcPr/>
                </a:tc>
                <a:tc>
                  <a:txBody>
                    <a:bodyPr/>
                    <a:lstStyle/>
                    <a:p>
                      <a:r>
                        <a:rPr lang="en-GB" dirty="0" smtClean="0"/>
                        <a:t>Participants</a:t>
                      </a:r>
                      <a:endParaRPr lang="en-GB" dirty="0"/>
                    </a:p>
                  </a:txBody>
                  <a:tcPr/>
                </a:tc>
                <a:tc>
                  <a:txBody>
                    <a:bodyPr/>
                    <a:lstStyle/>
                    <a:p>
                      <a:r>
                        <a:rPr lang="en-GB" dirty="0" smtClean="0"/>
                        <a:t>Age</a:t>
                      </a:r>
                      <a:endParaRPr lang="en-GB" dirty="0"/>
                    </a:p>
                  </a:txBody>
                  <a:tcPr/>
                </a:tc>
                <a:tc>
                  <a:txBody>
                    <a:bodyPr/>
                    <a:lstStyle/>
                    <a:p>
                      <a:r>
                        <a:rPr lang="en-GB" dirty="0" smtClean="0"/>
                        <a:t>Investigated?</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Findings</a:t>
                      </a:r>
                    </a:p>
                  </a:txBody>
                  <a:tcPr/>
                </a:tc>
              </a:tr>
              <a:tr h="1112520">
                <a:tc>
                  <a:txBody>
                    <a:bodyPr/>
                    <a:lstStyle/>
                    <a:p>
                      <a:r>
                        <a:rPr lang="en-GB" dirty="0" smtClean="0"/>
                        <a:t>2007</a:t>
                      </a:r>
                    </a:p>
                    <a:p>
                      <a:endParaRPr lang="en-GB" dirty="0"/>
                    </a:p>
                  </a:txBody>
                  <a:tcPr/>
                </a:tc>
                <a:tc>
                  <a:txBody>
                    <a:bodyPr/>
                    <a:lstStyle/>
                    <a:p>
                      <a:r>
                        <a:rPr lang="en-GB" dirty="0" err="1" smtClean="0"/>
                        <a:t>Ebbels</a:t>
                      </a:r>
                      <a:endParaRPr lang="en-GB" dirty="0"/>
                    </a:p>
                  </a:txBody>
                  <a:tcPr/>
                </a:tc>
                <a:tc>
                  <a:txBody>
                    <a:bodyPr/>
                    <a:lstStyle/>
                    <a:p>
                      <a:r>
                        <a:rPr lang="en-GB" dirty="0" smtClean="0"/>
                        <a:t>3 (study 1)</a:t>
                      </a:r>
                    </a:p>
                    <a:p>
                      <a:r>
                        <a:rPr lang="en-GB" dirty="0" smtClean="0"/>
                        <a:t>4</a:t>
                      </a:r>
                      <a:r>
                        <a:rPr lang="en-GB" baseline="0" dirty="0" smtClean="0"/>
                        <a:t> (study 2)</a:t>
                      </a:r>
                    </a:p>
                    <a:p>
                      <a:r>
                        <a:rPr lang="en-GB" baseline="0" dirty="0" smtClean="0"/>
                        <a:t>9 (study 3)</a:t>
                      </a:r>
                      <a:endParaRPr lang="en-GB" dirty="0" smtClean="0"/>
                    </a:p>
                  </a:txBody>
                  <a:tcPr/>
                </a:tc>
                <a:tc>
                  <a:txBody>
                    <a:bodyPr/>
                    <a:lstStyle/>
                    <a:p>
                      <a:r>
                        <a:rPr lang="en-GB" dirty="0" smtClean="0"/>
                        <a:t>12-14</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Follow up of 2001 case studies targeting comprehension of dative structure &amp; </a:t>
                      </a:r>
                      <a:r>
                        <a:rPr lang="en-GB" baseline="0" dirty="0" err="1" smtClean="0"/>
                        <a:t>wh</a:t>
                      </a:r>
                      <a:r>
                        <a:rPr lang="en-GB" baseline="0" dirty="0" smtClean="0"/>
                        <a:t>- comparative questions and further development</a:t>
                      </a:r>
                      <a:endParaRPr lang="en-GB" dirty="0" smtClean="0"/>
                    </a:p>
                    <a:p>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All 3 received intervention on datives, but not </a:t>
                      </a:r>
                      <a:r>
                        <a:rPr lang="en-GB" dirty="0" err="1" smtClean="0"/>
                        <a:t>wh</a:t>
                      </a:r>
                      <a:r>
                        <a:rPr lang="en-GB" dirty="0" smtClean="0"/>
                        <a:t>- comparatives due to change in therapist. </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2/3 showed significant</a:t>
                      </a:r>
                      <a:r>
                        <a:rPr lang="en-GB" baseline="0" dirty="0" smtClean="0"/>
                        <a:t> progress in comprehension of datives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1/3 was believed to have STM difficulties which confounded results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2/3 taught </a:t>
                      </a:r>
                      <a:r>
                        <a:rPr lang="en-GB" baseline="0" dirty="0" err="1" smtClean="0"/>
                        <a:t>wh</a:t>
                      </a:r>
                      <a:r>
                        <a:rPr lang="en-GB" baseline="0" dirty="0" smtClean="0"/>
                        <a:t>- </a:t>
                      </a:r>
                      <a:r>
                        <a:rPr lang="en-GB" baseline="0" dirty="0" err="1" smtClean="0"/>
                        <a:t>comparitives</a:t>
                      </a:r>
                      <a:r>
                        <a:rPr lang="en-GB" baseline="0" dirty="0" smtClean="0"/>
                        <a:t> made sig. progress.</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6/9 used past tense more often</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2/9 made progress only when taught as a pair in additional intervention time.</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No control group</a:t>
                      </a:r>
                      <a:endParaRPr lang="en-GB" dirty="0" smtClean="0"/>
                    </a:p>
                  </a:txBody>
                  <a:tcPr/>
                </a:tc>
              </a:tr>
            </a:tbl>
          </a:graphicData>
        </a:graphic>
      </p:graphicFrame>
      <p:sp>
        <p:nvSpPr>
          <p:cNvPr id="9" name="Title 1"/>
          <p:cNvSpPr>
            <a:spLocks noGrp="1"/>
          </p:cNvSpPr>
          <p:nvPr>
            <p:ph type="title"/>
          </p:nvPr>
        </p:nvSpPr>
        <p:spPr>
          <a:xfrm>
            <a:off x="811458" y="555172"/>
            <a:ext cx="9720072" cy="1499616"/>
          </a:xfrm>
        </p:spPr>
        <p:txBody>
          <a:bodyPr/>
          <a:lstStyle/>
          <a:p>
            <a:r>
              <a:rPr lang="en-GB" dirty="0" smtClean="0"/>
              <a:t>The underpinning evidence-base</a:t>
            </a:r>
            <a:endParaRPr lang="en-GB" dirty="0"/>
          </a:p>
        </p:txBody>
      </p:sp>
      <p:sp>
        <p:nvSpPr>
          <p:cNvPr id="11" name="Hexagon 10"/>
          <p:cNvSpPr/>
          <p:nvPr/>
        </p:nvSpPr>
        <p:spPr>
          <a:xfrm>
            <a:off x="1616130" y="931980"/>
            <a:ext cx="3166946"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12" name="Straight Connector 11"/>
          <p:cNvCxnSpPr/>
          <p:nvPr/>
        </p:nvCxnSpPr>
        <p:spPr>
          <a:xfrm>
            <a:off x="963784" y="1563187"/>
            <a:ext cx="696951" cy="1393"/>
          </a:xfrm>
          <a:prstGeom prst="line">
            <a:avLst/>
          </a:prstGeom>
          <a:ln w="38100" cap="rnd">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877862" y="1563187"/>
            <a:ext cx="288259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811276" y="1563187"/>
            <a:ext cx="2759927"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0701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a:p>
        </p:txBody>
      </p:sp>
      <p:graphicFrame>
        <p:nvGraphicFramePr>
          <p:cNvPr id="5" name="Content Placeholder 9"/>
          <p:cNvGraphicFramePr>
            <a:graphicFrameLocks/>
          </p:cNvGraphicFramePr>
          <p:nvPr>
            <p:extLst>
              <p:ext uri="{D42A27DB-BD31-4B8C-83A1-F6EECF244321}">
                <p14:modId xmlns:p14="http://schemas.microsoft.com/office/powerpoint/2010/main" val="859162671"/>
              </p:ext>
            </p:extLst>
          </p:nvPr>
        </p:nvGraphicFramePr>
        <p:xfrm>
          <a:off x="653145" y="1843001"/>
          <a:ext cx="11266712" cy="3205480"/>
        </p:xfrm>
        <a:graphic>
          <a:graphicData uri="http://schemas.openxmlformats.org/drawingml/2006/table">
            <a:tbl>
              <a:tblPr firstRow="1" bandRow="1">
                <a:tableStyleId>{10A1B5D5-9B99-4C35-A422-299274C87663}</a:tableStyleId>
              </a:tblPr>
              <a:tblGrid>
                <a:gridCol w="934304"/>
                <a:gridCol w="1219065"/>
                <a:gridCol w="1292980"/>
                <a:gridCol w="1207292"/>
                <a:gridCol w="1950532"/>
                <a:gridCol w="4662539"/>
              </a:tblGrid>
              <a:tr h="370840">
                <a:tc>
                  <a:txBody>
                    <a:bodyPr/>
                    <a:lstStyle/>
                    <a:p>
                      <a:r>
                        <a:rPr lang="en-GB" dirty="0" smtClean="0"/>
                        <a:t>Year</a:t>
                      </a:r>
                      <a:endParaRPr lang="en-GB" dirty="0"/>
                    </a:p>
                  </a:txBody>
                  <a:tcPr/>
                </a:tc>
                <a:tc>
                  <a:txBody>
                    <a:bodyPr/>
                    <a:lstStyle/>
                    <a:p>
                      <a:r>
                        <a:rPr lang="en-GB" dirty="0" smtClean="0"/>
                        <a:t>Researcher</a:t>
                      </a:r>
                      <a:endParaRPr lang="en-GB" dirty="0"/>
                    </a:p>
                  </a:txBody>
                  <a:tcPr/>
                </a:tc>
                <a:tc>
                  <a:txBody>
                    <a:bodyPr/>
                    <a:lstStyle/>
                    <a:p>
                      <a:r>
                        <a:rPr lang="en-GB" dirty="0" smtClean="0"/>
                        <a:t>Participants</a:t>
                      </a:r>
                      <a:endParaRPr lang="en-GB" dirty="0"/>
                    </a:p>
                  </a:txBody>
                  <a:tcPr/>
                </a:tc>
                <a:tc>
                  <a:txBody>
                    <a:bodyPr/>
                    <a:lstStyle/>
                    <a:p>
                      <a:r>
                        <a:rPr lang="en-GB" dirty="0" smtClean="0"/>
                        <a:t>Age</a:t>
                      </a:r>
                      <a:endParaRPr lang="en-GB" dirty="0"/>
                    </a:p>
                  </a:txBody>
                  <a:tcPr/>
                </a:tc>
                <a:tc>
                  <a:txBody>
                    <a:bodyPr/>
                    <a:lstStyle/>
                    <a:p>
                      <a:r>
                        <a:rPr lang="en-GB" dirty="0" smtClean="0"/>
                        <a:t>Investigated?</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Findings</a:t>
                      </a:r>
                    </a:p>
                  </a:txBody>
                  <a:tcPr/>
                </a:tc>
              </a:tr>
              <a:tr h="1112520">
                <a:tc>
                  <a:txBody>
                    <a:bodyPr/>
                    <a:lstStyle/>
                    <a:p>
                      <a:r>
                        <a:rPr lang="en-GB" dirty="0" smtClean="0"/>
                        <a:t>2011</a:t>
                      </a:r>
                      <a:endParaRPr lang="en-GB" dirty="0"/>
                    </a:p>
                  </a:txBody>
                  <a:tcPr/>
                </a:tc>
                <a:tc>
                  <a:txBody>
                    <a:bodyPr/>
                    <a:lstStyle/>
                    <a:p>
                      <a:r>
                        <a:rPr lang="en-GB" dirty="0" err="1" smtClean="0"/>
                        <a:t>Ebbels</a:t>
                      </a:r>
                      <a:r>
                        <a:rPr lang="en-GB" dirty="0" smtClean="0"/>
                        <a:t>,</a:t>
                      </a:r>
                      <a:r>
                        <a:rPr lang="en-GB" baseline="0" dirty="0" smtClean="0"/>
                        <a:t> </a:t>
                      </a:r>
                      <a:r>
                        <a:rPr lang="en-GB" baseline="0" dirty="0" err="1" smtClean="0"/>
                        <a:t>Maric</a:t>
                      </a:r>
                      <a:r>
                        <a:rPr lang="en-GB" baseline="0" dirty="0" smtClean="0"/>
                        <a:t>, Murphy &amp; Turner</a:t>
                      </a:r>
                      <a:endParaRPr lang="en-GB" dirty="0"/>
                    </a:p>
                  </a:txBody>
                  <a:tcPr/>
                </a:tc>
                <a:tc>
                  <a:txBody>
                    <a:bodyPr/>
                    <a:lstStyle/>
                    <a:p>
                      <a:r>
                        <a:rPr lang="en-GB" dirty="0" smtClean="0"/>
                        <a:t>14</a:t>
                      </a:r>
                      <a:endParaRPr lang="en-GB" dirty="0"/>
                    </a:p>
                  </a:txBody>
                  <a:tcPr/>
                </a:tc>
                <a:tc>
                  <a:txBody>
                    <a:bodyPr/>
                    <a:lstStyle/>
                    <a:p>
                      <a:r>
                        <a:rPr lang="en-GB" dirty="0" smtClean="0"/>
                        <a:t>Secondary </a:t>
                      </a:r>
                      <a:endParaRPr lang="en-GB" dirty="0"/>
                    </a:p>
                  </a:txBody>
                  <a:tcPr/>
                </a:tc>
                <a:tc>
                  <a:txBody>
                    <a:bodyPr/>
                    <a:lstStyle/>
                    <a:p>
                      <a:r>
                        <a:rPr lang="en-US" sz="1800" b="0" i="0" kern="1200" dirty="0" smtClean="0">
                          <a:solidFill>
                            <a:schemeClr val="dk1"/>
                          </a:solidFill>
                          <a:effectLst/>
                          <a:latin typeface="+mn-lt"/>
                          <a:ea typeface="+mn-ea"/>
                          <a:cs typeface="+mn-cs"/>
                        </a:rPr>
                        <a:t>The impact of shape-coding on secondary school-aged children with LI.</a:t>
                      </a:r>
                      <a:r>
                        <a:rPr lang="en-US" sz="1800" b="0" i="0" kern="1200" baseline="0" dirty="0" smtClean="0">
                          <a:solidFill>
                            <a:schemeClr val="dk1"/>
                          </a:solidFill>
                          <a:effectLst/>
                          <a:latin typeface="+mn-lt"/>
                          <a:ea typeface="+mn-ea"/>
                          <a:cs typeface="+mn-cs"/>
                        </a:rPr>
                        <a:t> C</a:t>
                      </a:r>
                      <a:r>
                        <a:rPr lang="en-US" sz="1800" b="0" i="0" kern="1200" dirty="0" smtClean="0">
                          <a:solidFill>
                            <a:schemeClr val="dk1"/>
                          </a:solidFill>
                          <a:effectLst/>
                          <a:latin typeface="+mn-lt"/>
                          <a:ea typeface="+mn-ea"/>
                          <a:cs typeface="+mn-cs"/>
                        </a:rPr>
                        <a:t>omprehension of coordinating conjunctions in a </a:t>
                      </a:r>
                      <a:r>
                        <a:rPr lang="en-US" sz="1800" b="1" i="0" kern="1200" dirty="0" smtClean="0">
                          <a:solidFill>
                            <a:schemeClr val="dk1"/>
                          </a:solidFill>
                          <a:effectLst/>
                          <a:latin typeface="+mn-lt"/>
                          <a:ea typeface="+mn-ea"/>
                          <a:cs typeface="+mn-cs"/>
                        </a:rPr>
                        <a:t>randomized control trial </a:t>
                      </a:r>
                      <a:r>
                        <a:rPr lang="en-US" sz="1800" b="0" i="0" kern="1200" dirty="0" smtClean="0">
                          <a:solidFill>
                            <a:schemeClr val="dk1"/>
                          </a:solidFill>
                          <a:effectLst/>
                          <a:latin typeface="+mn-lt"/>
                          <a:ea typeface="+mn-ea"/>
                          <a:cs typeface="+mn-cs"/>
                        </a:rPr>
                        <a:t>with a</a:t>
                      </a:r>
                      <a:r>
                        <a:rPr lang="en-US" sz="1800" b="0" i="0" kern="1200" baseline="0" dirty="0" smtClean="0">
                          <a:solidFill>
                            <a:schemeClr val="dk1"/>
                          </a:solidFill>
                          <a:effectLst/>
                          <a:latin typeface="+mn-lt"/>
                          <a:ea typeface="+mn-ea"/>
                          <a:cs typeface="+mn-cs"/>
                        </a:rPr>
                        <a:t> blind assessor</a:t>
                      </a:r>
                      <a:endParaRPr lang="en-GB"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Tx/>
                        <a:buChar char="-"/>
                        <a:tabLst/>
                        <a:defRPr/>
                      </a:pPr>
                      <a:r>
                        <a:rPr lang="en-GB" dirty="0" smtClean="0"/>
                        <a:t>Progress</a:t>
                      </a:r>
                      <a:r>
                        <a:rPr lang="en-GB" baseline="0" dirty="0" smtClean="0"/>
                        <a:t> for both groups (experimental plus “waiting” control) in specifically targeted conjunctions., which was maintained over short amount of time. .</a:t>
                      </a:r>
                      <a:endParaRPr lang="en-GB" dirty="0" smtClean="0"/>
                    </a:p>
                  </a:txBody>
                  <a:tcPr/>
                </a:tc>
              </a:tr>
            </a:tbl>
          </a:graphicData>
        </a:graphic>
      </p:graphicFrame>
      <p:sp>
        <p:nvSpPr>
          <p:cNvPr id="6" name="Title 1"/>
          <p:cNvSpPr txBox="1">
            <a:spLocks/>
          </p:cNvSpPr>
          <p:nvPr/>
        </p:nvSpPr>
        <p:spPr>
          <a:xfrm>
            <a:off x="811458" y="555172"/>
            <a:ext cx="9720072"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GB" smtClean="0"/>
              <a:t>The underpinning evidence-base</a:t>
            </a:r>
            <a:endParaRPr lang="en-GB" dirty="0"/>
          </a:p>
        </p:txBody>
      </p:sp>
      <p:sp>
        <p:nvSpPr>
          <p:cNvPr id="7" name="Hexagon 6"/>
          <p:cNvSpPr/>
          <p:nvPr/>
        </p:nvSpPr>
        <p:spPr>
          <a:xfrm>
            <a:off x="1616130" y="931980"/>
            <a:ext cx="3166946" cy="733425"/>
          </a:xfrm>
          <a:prstGeom prst="hexagon">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8" name="Straight Connector 7"/>
          <p:cNvCxnSpPr/>
          <p:nvPr/>
        </p:nvCxnSpPr>
        <p:spPr>
          <a:xfrm>
            <a:off x="963784" y="1563187"/>
            <a:ext cx="696951" cy="1393"/>
          </a:xfrm>
          <a:prstGeom prst="line">
            <a:avLst/>
          </a:prstGeom>
          <a:ln w="38100" cap="rnd">
            <a:solidFill>
              <a:srgbClr val="FF99FF"/>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877862" y="1563187"/>
            <a:ext cx="2882590" cy="0"/>
          </a:xfrm>
          <a:prstGeom prst="line">
            <a:avLst/>
          </a:prstGeom>
          <a:ln w="254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811276" y="1563187"/>
            <a:ext cx="2759927" cy="0"/>
          </a:xfrm>
          <a:prstGeom prst="line">
            <a:avLst/>
          </a:prstGeom>
          <a:ln w="25400" cap="rnd">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427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5" name="Content Placeholder 4"/>
          <p:cNvPicPr>
            <a:picLocks noGrp="1" noChangeAspect="1"/>
          </p:cNvPicPr>
          <p:nvPr>
            <p:ph idx="1"/>
          </p:nvPr>
        </p:nvPicPr>
        <p:blipFill rotWithShape="1">
          <a:blip r:embed="rId3"/>
          <a:srcRect l="20115" t="34928" r="47764" b="29313"/>
          <a:stretch/>
        </p:blipFill>
        <p:spPr>
          <a:xfrm>
            <a:off x="5586761" y="2542479"/>
            <a:ext cx="6250389" cy="3914078"/>
          </a:xfrm>
          <a:prstGeom prst="rect">
            <a:avLst/>
          </a:prstGeom>
        </p:spPr>
      </p:pic>
      <p:pic>
        <p:nvPicPr>
          <p:cNvPr id="4" name="Picture 3"/>
          <p:cNvPicPr>
            <a:picLocks noChangeAspect="1"/>
          </p:cNvPicPr>
          <p:nvPr/>
        </p:nvPicPr>
        <p:blipFill rotWithShape="1">
          <a:blip r:embed="rId4"/>
          <a:srcRect l="26401" t="17567" r="48501" b="40316"/>
          <a:stretch/>
        </p:blipFill>
        <p:spPr>
          <a:xfrm>
            <a:off x="622068" y="501804"/>
            <a:ext cx="4590210" cy="4332603"/>
          </a:xfrm>
          <a:prstGeom prst="rect">
            <a:avLst/>
          </a:prstGeom>
        </p:spPr>
      </p:pic>
      <p:sp>
        <p:nvSpPr>
          <p:cNvPr id="6" name="Oval 5"/>
          <p:cNvSpPr/>
          <p:nvPr/>
        </p:nvSpPr>
        <p:spPr>
          <a:xfrm>
            <a:off x="399044" y="3546089"/>
            <a:ext cx="1842352" cy="73598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p:cNvCxnSpPr/>
          <p:nvPr/>
        </p:nvCxnSpPr>
        <p:spPr>
          <a:xfrm>
            <a:off x="8218449" y="5965902"/>
            <a:ext cx="237521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0510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pic>
        <p:nvPicPr>
          <p:cNvPr id="2050" name="Picture 2" descr="http://www.lightspeedaheadnewsletter.com/wp-content/themes/lightspeedahead/images/img3_g1_2012.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01820" y="783771"/>
            <a:ext cx="8370881" cy="5431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4168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 y="-1548794"/>
            <a:ext cx="12287250" cy="8406794"/>
          </a:xfrm>
          <a:prstGeom prst="rect">
            <a:avLst/>
          </a:prstGeom>
        </p:spPr>
      </p:pic>
      <p:sp>
        <p:nvSpPr>
          <p:cNvPr id="2" name="Title 1"/>
          <p:cNvSpPr>
            <a:spLocks noGrp="1"/>
          </p:cNvSpPr>
          <p:nvPr>
            <p:ph type="title"/>
          </p:nvPr>
        </p:nvSpPr>
        <p:spPr>
          <a:xfrm>
            <a:off x="1024128" y="209659"/>
            <a:ext cx="9720072" cy="1499616"/>
          </a:xfrm>
        </p:spPr>
        <p:txBody>
          <a:bodyPr/>
          <a:lstStyle/>
          <a:p>
            <a:r>
              <a:rPr lang="en-GB" dirty="0" smtClean="0"/>
              <a:t>Useful links</a:t>
            </a:r>
            <a:endParaRPr lang="en-GB" dirty="0"/>
          </a:p>
        </p:txBody>
      </p:sp>
      <p:sp>
        <p:nvSpPr>
          <p:cNvPr id="3" name="Content Placeholder 2"/>
          <p:cNvSpPr>
            <a:spLocks noGrp="1"/>
          </p:cNvSpPr>
          <p:nvPr>
            <p:ph idx="1"/>
          </p:nvPr>
        </p:nvSpPr>
        <p:spPr>
          <a:xfrm>
            <a:off x="702129" y="1224643"/>
            <a:ext cx="10987847" cy="5084717"/>
          </a:xfrm>
        </p:spPr>
        <p:txBody>
          <a:bodyPr>
            <a:normAutofit fontScale="85000" lnSpcReduction="20000"/>
          </a:bodyPr>
          <a:lstStyle/>
          <a:p>
            <a:r>
              <a:rPr lang="en-GB" sz="2600" dirty="0" smtClean="0"/>
              <a:t>- discussion forum run by Susan </a:t>
            </a:r>
            <a:r>
              <a:rPr lang="en-GB" sz="2600" dirty="0" err="1" smtClean="0"/>
              <a:t>Ebbels</a:t>
            </a:r>
            <a:r>
              <a:rPr lang="en-GB" sz="2600" dirty="0"/>
              <a:t> - https://</a:t>
            </a:r>
            <a:r>
              <a:rPr lang="en-GB" sz="2600" dirty="0" smtClean="0"/>
              <a:t>groups.yahoo.com/neo/groups/shapecoding/conversations/messages</a:t>
            </a:r>
          </a:p>
          <a:p>
            <a:endParaRPr lang="en-GB" sz="2600" dirty="0"/>
          </a:p>
          <a:p>
            <a:r>
              <a:rPr lang="en-GB" sz="2600" dirty="0" smtClean="0"/>
              <a:t>- Link to Susan </a:t>
            </a:r>
            <a:r>
              <a:rPr lang="en-GB" sz="2600" dirty="0" err="1" smtClean="0"/>
              <a:t>Ebbels</a:t>
            </a:r>
            <a:r>
              <a:rPr lang="en-GB" sz="2600" dirty="0" smtClean="0"/>
              <a:t> school website and their shape-coding courses/resource shop</a:t>
            </a:r>
          </a:p>
          <a:p>
            <a:r>
              <a:rPr lang="en-GB" sz="2600" dirty="0"/>
              <a:t>http://</a:t>
            </a:r>
            <a:r>
              <a:rPr lang="en-GB" sz="2600" dirty="0" smtClean="0"/>
              <a:t>www.moorhouse.surrey.sch.uk/shape-coding-course</a:t>
            </a:r>
          </a:p>
          <a:p>
            <a:endParaRPr lang="en-GB" sz="2600" dirty="0" smtClean="0"/>
          </a:p>
          <a:p>
            <a:r>
              <a:rPr lang="en-GB" sz="2600" dirty="0" smtClean="0"/>
              <a:t>-Full </a:t>
            </a:r>
            <a:r>
              <a:rPr lang="en-GB" sz="2600" dirty="0" err="1" smtClean="0"/>
              <a:t>vodcast</a:t>
            </a:r>
            <a:endParaRPr lang="en-GB" sz="2600" dirty="0"/>
          </a:p>
          <a:p>
            <a:r>
              <a:rPr lang="en-GB" sz="2600" dirty="0"/>
              <a:t>http://link.brightcove.com/services/player/bcpid2201818662001?bckey=AQ~~,AAAAPmbRRLk~,</a:t>
            </a:r>
            <a:r>
              <a:rPr lang="en-GB" sz="2600" dirty="0" smtClean="0"/>
              <a:t>C5G7jhYNtiefqbodph9K7nzSW_zsUUiE&amp;bctid=2206019732001</a:t>
            </a:r>
          </a:p>
          <a:p>
            <a:endParaRPr lang="en-GB" sz="2600" dirty="0" smtClean="0"/>
          </a:p>
          <a:p>
            <a:pPr marL="0" indent="0">
              <a:buNone/>
            </a:pPr>
            <a:r>
              <a:rPr lang="en-GB" sz="2600" dirty="0" smtClean="0"/>
              <a:t>-PPT from Susan </a:t>
            </a:r>
            <a:r>
              <a:rPr lang="en-GB" sz="2600" dirty="0" err="1" smtClean="0"/>
              <a:t>Ebbels</a:t>
            </a:r>
            <a:endParaRPr lang="en-GB" sz="2600" dirty="0" smtClean="0"/>
          </a:p>
          <a:p>
            <a:pPr marL="0" indent="0">
              <a:buNone/>
            </a:pPr>
            <a:r>
              <a:rPr lang="en-GB" sz="2600" dirty="0"/>
              <a:t>http://www.city.ac.uk/__</a:t>
            </a:r>
            <a:r>
              <a:rPr lang="en-GB" sz="2600" dirty="0" smtClean="0"/>
              <a:t>data/assets/pdf_file/0006/96423/Introduction-to-Shape-Coding-SLCN-conf-hout-Compatibility-Mode.pdf</a:t>
            </a:r>
          </a:p>
          <a:p>
            <a:pPr marL="0" indent="0">
              <a:buNone/>
            </a:pPr>
            <a:endParaRPr lang="en-GB" dirty="0" smtClean="0"/>
          </a:p>
          <a:p>
            <a:endParaRPr lang="en-GB" dirty="0"/>
          </a:p>
          <a:p>
            <a:endParaRPr lang="en-GB" dirty="0"/>
          </a:p>
        </p:txBody>
      </p:sp>
    </p:spTree>
    <p:extLst>
      <p:ext uri="{BB962C8B-B14F-4D97-AF65-F5344CB8AC3E}">
        <p14:creationId xmlns:p14="http://schemas.microsoft.com/office/powerpoint/2010/main" val="30687645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www.precisionnutrition.com/wordpress/wp-content/uploads/2013/02/10Questions.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39" y="0"/>
            <a:ext cx="12548053" cy="8344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5521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(Some) References</a:t>
            </a:r>
            <a:endParaRPr lang="en-GB" dirty="0"/>
          </a:p>
        </p:txBody>
      </p:sp>
      <p:sp>
        <p:nvSpPr>
          <p:cNvPr id="3" name="Content Placeholder 2"/>
          <p:cNvSpPr>
            <a:spLocks noGrp="1"/>
          </p:cNvSpPr>
          <p:nvPr>
            <p:ph idx="1"/>
          </p:nvPr>
        </p:nvSpPr>
        <p:spPr>
          <a:xfrm>
            <a:off x="1024128" y="1618938"/>
            <a:ext cx="9720073" cy="4690422"/>
          </a:xfrm>
        </p:spPr>
        <p:txBody>
          <a:bodyPr>
            <a:normAutofit/>
          </a:bodyPr>
          <a:lstStyle/>
          <a:p>
            <a:pPr marL="0" indent="0">
              <a:buNone/>
            </a:pPr>
            <a:r>
              <a:rPr lang="en-US" dirty="0" err="1" smtClean="0"/>
              <a:t>Ebbels</a:t>
            </a:r>
            <a:r>
              <a:rPr lang="en-US" dirty="0" smtClean="0"/>
              <a:t> &amp; </a:t>
            </a:r>
            <a:r>
              <a:rPr lang="en-US" dirty="0" smtClean="0"/>
              <a:t>van der Lely (2001) Meta-syntactic therapy using visual coding for children with severe persistent SLI. </a:t>
            </a:r>
            <a:r>
              <a:rPr lang="en-US" i="1" dirty="0" smtClean="0"/>
              <a:t>International Journal of Language and Communication Disorders 36, 1; pp. 345-350</a:t>
            </a:r>
            <a:endParaRPr lang="en-US" dirty="0" smtClean="0"/>
          </a:p>
          <a:p>
            <a:pPr marL="0" indent="0">
              <a:buNone/>
            </a:pPr>
            <a:r>
              <a:rPr lang="en-GB" dirty="0" err="1"/>
              <a:t>Ebbels</a:t>
            </a:r>
            <a:r>
              <a:rPr lang="en-GB" dirty="0"/>
              <a:t> (2007) Teaching grammar to school-aged children with specific language impairment using Shape Coding. </a:t>
            </a:r>
            <a:r>
              <a:rPr lang="en-US" i="1" dirty="0"/>
              <a:t>Child Language Teaching and Therapy 23,1; pp. 67–93</a:t>
            </a:r>
          </a:p>
          <a:p>
            <a:pPr marL="0" indent="0">
              <a:buNone/>
            </a:pPr>
            <a:r>
              <a:rPr lang="en-GB" dirty="0" err="1" smtClean="0"/>
              <a:t>Ebbels</a:t>
            </a:r>
            <a:r>
              <a:rPr lang="en-GB" dirty="0" smtClean="0"/>
              <a:t>, van der Lely &amp; </a:t>
            </a:r>
            <a:r>
              <a:rPr lang="en-GB" dirty="0" err="1" smtClean="0"/>
              <a:t>Dockrell</a:t>
            </a:r>
            <a:r>
              <a:rPr lang="en-GB" dirty="0" smtClean="0"/>
              <a:t> (2007) Intervention for verb argument structure in children with </a:t>
            </a:r>
            <a:r>
              <a:rPr lang="en-GB" dirty="0" err="1" smtClean="0"/>
              <a:t>persistant</a:t>
            </a:r>
            <a:r>
              <a:rPr lang="en-GB" dirty="0" smtClean="0"/>
              <a:t> SLI: A randomised control trial. </a:t>
            </a:r>
            <a:r>
              <a:rPr lang="en-GB" i="1" dirty="0" smtClean="0"/>
              <a:t>Journal of Speech, Language and Hearing Research 50, pp.1330-1349</a:t>
            </a:r>
          </a:p>
          <a:p>
            <a:pPr marL="0" indent="0">
              <a:buNone/>
            </a:pPr>
            <a:r>
              <a:rPr lang="en-GB" dirty="0" err="1" smtClean="0"/>
              <a:t>Norbury</a:t>
            </a:r>
            <a:r>
              <a:rPr lang="en-GB" dirty="0" smtClean="0"/>
              <a:t>, Tomblin, Bishop (2008) </a:t>
            </a:r>
            <a:r>
              <a:rPr lang="en-GB" i="1" dirty="0" smtClean="0"/>
              <a:t>Understanding Developmental Language Disorders: From theory to practice.</a:t>
            </a:r>
            <a:r>
              <a:rPr lang="en-GB" dirty="0" smtClean="0"/>
              <a:t> Psychology Press</a:t>
            </a:r>
          </a:p>
          <a:p>
            <a:endParaRPr lang="en-GB" dirty="0"/>
          </a:p>
        </p:txBody>
      </p:sp>
    </p:spTree>
    <p:extLst>
      <p:ext uri="{BB962C8B-B14F-4D97-AF65-F5344CB8AC3E}">
        <p14:creationId xmlns:p14="http://schemas.microsoft.com/office/powerpoint/2010/main" val="32730266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898</TotalTime>
  <Words>2278</Words>
  <Application>Microsoft Office PowerPoint</Application>
  <PresentationFormat>Widescreen</PresentationFormat>
  <Paragraphs>284</Paragraphs>
  <Slides>27</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Tw Cen MT</vt:lpstr>
      <vt:lpstr>Tw Cen MT Condensed</vt:lpstr>
      <vt:lpstr>Wingdings 3</vt:lpstr>
      <vt:lpstr>Integral</vt:lpstr>
      <vt:lpstr>Shape coding</vt:lpstr>
      <vt:lpstr>overview</vt:lpstr>
      <vt:lpstr>What have shapes got to do with literacy?</vt:lpstr>
      <vt:lpstr>How does it work?</vt:lpstr>
      <vt:lpstr>Shape coding - colours</vt:lpstr>
      <vt:lpstr>Shape coding - shapes</vt:lpstr>
      <vt:lpstr>Vocabulary learning</vt:lpstr>
      <vt:lpstr>Subject-verb agreement</vt:lpstr>
      <vt:lpstr>Verb Tenses</vt:lpstr>
      <vt:lpstr>Shape coding in action</vt:lpstr>
      <vt:lpstr>In practice</vt:lpstr>
      <vt:lpstr>In practice </vt:lpstr>
      <vt:lpstr>In practice</vt:lpstr>
      <vt:lpstr>Note</vt:lpstr>
      <vt:lpstr>The Underpinning psychology </vt:lpstr>
      <vt:lpstr>PowerPoint Presentation</vt:lpstr>
      <vt:lpstr>PowerPoint Presentation</vt:lpstr>
      <vt:lpstr>PowerPoint Presentation</vt:lpstr>
      <vt:lpstr>The underpinning evidence-base</vt:lpstr>
      <vt:lpstr>The underpinning evidence-base</vt:lpstr>
      <vt:lpstr>The underpinning evidence-base</vt:lpstr>
      <vt:lpstr>PowerPoint Presentation</vt:lpstr>
      <vt:lpstr>PowerPoint Presentation</vt:lpstr>
      <vt:lpstr>PowerPoint Presentation</vt:lpstr>
      <vt:lpstr>Useful links</vt:lpstr>
      <vt:lpstr>PowerPoint Presentation</vt:lpstr>
      <vt:lpstr>(Some) 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 coding</dc:title>
  <dc:creator>Becca</dc:creator>
  <cp:lastModifiedBy>Becca</cp:lastModifiedBy>
  <cp:revision>65</cp:revision>
  <cp:lastPrinted>2014-06-24T16:10:08Z</cp:lastPrinted>
  <dcterms:created xsi:type="dcterms:W3CDTF">2014-03-06T15:50:38Z</dcterms:created>
  <dcterms:modified xsi:type="dcterms:W3CDTF">2014-12-18T14:24:33Z</dcterms:modified>
</cp:coreProperties>
</file>