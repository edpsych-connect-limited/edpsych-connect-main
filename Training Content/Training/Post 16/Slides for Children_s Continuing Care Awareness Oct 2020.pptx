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1"/>
  </p:notesMasterIdLst>
  <p:handoutMasterIdLst>
    <p:handoutMasterId r:id="rId42"/>
  </p:handoutMasterIdLst>
  <p:sldIdLst>
    <p:sldId id="256" r:id="rId5"/>
    <p:sldId id="270" r:id="rId6"/>
    <p:sldId id="257" r:id="rId7"/>
    <p:sldId id="275" r:id="rId8"/>
    <p:sldId id="276" r:id="rId9"/>
    <p:sldId id="277" r:id="rId10"/>
    <p:sldId id="274" r:id="rId11"/>
    <p:sldId id="282" r:id="rId12"/>
    <p:sldId id="283" r:id="rId13"/>
    <p:sldId id="291" r:id="rId14"/>
    <p:sldId id="292" r:id="rId15"/>
    <p:sldId id="269" r:id="rId16"/>
    <p:sldId id="278" r:id="rId17"/>
    <p:sldId id="279" r:id="rId18"/>
    <p:sldId id="280" r:id="rId19"/>
    <p:sldId id="284" r:id="rId20"/>
    <p:sldId id="281" r:id="rId21"/>
    <p:sldId id="258" r:id="rId22"/>
    <p:sldId id="300" r:id="rId23"/>
    <p:sldId id="301" r:id="rId24"/>
    <p:sldId id="305" r:id="rId25"/>
    <p:sldId id="259" r:id="rId26"/>
    <p:sldId id="293" r:id="rId27"/>
    <p:sldId id="298" r:id="rId28"/>
    <p:sldId id="294" r:id="rId29"/>
    <p:sldId id="263" r:id="rId30"/>
    <p:sldId id="299" r:id="rId31"/>
    <p:sldId id="297" r:id="rId32"/>
    <p:sldId id="261" r:id="rId33"/>
    <p:sldId id="267" r:id="rId34"/>
    <p:sldId id="285" r:id="rId35"/>
    <p:sldId id="311" r:id="rId36"/>
    <p:sldId id="314" r:id="rId37"/>
    <p:sldId id="315" r:id="rId38"/>
    <p:sldId id="316" r:id="rId39"/>
    <p:sldId id="309" r:id="rId40"/>
  </p:sldIdLst>
  <p:sldSz cx="9144000" cy="6858000" type="screen4x3"/>
  <p:notesSz cx="6797675" cy="9926638"/>
  <p:defaultTextStyle>
    <a:defPPr>
      <a:defRPr lang="en-GB"/>
    </a:defPPr>
    <a:lvl1pPr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1pPr>
    <a:lvl2pPr marL="4572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2pPr>
    <a:lvl3pPr marL="9144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3pPr>
    <a:lvl4pPr marL="13716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4pPr>
    <a:lvl5pPr marL="18288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2400" kern="1200">
        <a:solidFill>
          <a:schemeClr val="tx1"/>
        </a:solidFill>
        <a:latin typeface="Times New Roman" pitchFamily="18" charset="0"/>
        <a:ea typeface="+mn-ea"/>
        <a:cs typeface="Times New Roman" pitchFamily="18" charset="0"/>
      </a:defRPr>
    </a:lvl6pPr>
    <a:lvl7pPr marL="2743200" algn="l" defTabSz="914400" rtl="0" eaLnBrk="1" latinLnBrk="0" hangingPunct="1">
      <a:defRPr sz="2400" kern="1200">
        <a:solidFill>
          <a:schemeClr val="tx1"/>
        </a:solidFill>
        <a:latin typeface="Times New Roman" pitchFamily="18" charset="0"/>
        <a:ea typeface="+mn-ea"/>
        <a:cs typeface="Times New Roman" pitchFamily="18" charset="0"/>
      </a:defRPr>
    </a:lvl7pPr>
    <a:lvl8pPr marL="3200400" algn="l" defTabSz="914400" rtl="0" eaLnBrk="1" latinLnBrk="0" hangingPunct="1">
      <a:defRPr sz="2400" kern="1200">
        <a:solidFill>
          <a:schemeClr val="tx1"/>
        </a:solidFill>
        <a:latin typeface="Times New Roman" pitchFamily="18" charset="0"/>
        <a:ea typeface="+mn-ea"/>
        <a:cs typeface="Times New Roman" pitchFamily="18" charset="0"/>
      </a:defRPr>
    </a:lvl8pPr>
    <a:lvl9pPr marL="3657600" algn="l" defTabSz="914400" rtl="0" eaLnBrk="1" latinLnBrk="0" hangingPunct="1">
      <a:defRPr sz="2400" kern="1200">
        <a:solidFill>
          <a:schemeClr val="tx1"/>
        </a:solidFill>
        <a:latin typeface="Times New Roman" pitchFamily="18" charset="0"/>
        <a:ea typeface="+mn-ea"/>
        <a:cs typeface="Times New Roman"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104" d="100"/>
          <a:sy n="104" d="100"/>
        </p:scale>
        <p:origin x="142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506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08"/>
          </a:xfrm>
          <a:prstGeom prst="rect">
            <a:avLst/>
          </a:prstGeom>
        </p:spPr>
        <p:txBody>
          <a:bodyPr vert="horz" lIns="91440" tIns="45720" rIns="91440" bIns="45720" rtlCol="0"/>
          <a:lstStyle>
            <a:lvl1pPr algn="l">
              <a:defRPr sz="1200" smtClean="0">
                <a:latin typeface="Times New Roman" charset="0"/>
                <a:cs typeface="Times New Roman" charset="0"/>
              </a:defRPr>
            </a:lvl1pPr>
          </a:lstStyle>
          <a:p>
            <a:pPr>
              <a:defRPr/>
            </a:pPr>
            <a:endParaRPr lang="en-GB"/>
          </a:p>
        </p:txBody>
      </p:sp>
      <p:sp>
        <p:nvSpPr>
          <p:cNvPr id="3" name="Date Placeholder 2"/>
          <p:cNvSpPr>
            <a:spLocks noGrp="1"/>
          </p:cNvSpPr>
          <p:nvPr>
            <p:ph type="dt" sz="quarter" idx="1"/>
          </p:nvPr>
        </p:nvSpPr>
        <p:spPr>
          <a:xfrm>
            <a:off x="3849688" y="0"/>
            <a:ext cx="2946400" cy="496808"/>
          </a:xfrm>
          <a:prstGeom prst="rect">
            <a:avLst/>
          </a:prstGeom>
        </p:spPr>
        <p:txBody>
          <a:bodyPr vert="horz" lIns="91440" tIns="45720" rIns="91440" bIns="45720" rtlCol="0"/>
          <a:lstStyle>
            <a:lvl1pPr algn="r">
              <a:defRPr sz="1200" smtClean="0">
                <a:latin typeface="Times New Roman" charset="0"/>
                <a:cs typeface="Times New Roman" charset="0"/>
              </a:defRPr>
            </a:lvl1pPr>
          </a:lstStyle>
          <a:p>
            <a:pPr>
              <a:defRPr/>
            </a:pPr>
            <a:fld id="{61D01C12-39FF-480B-ADFC-44230948B6AE}" type="datetimeFigureOut">
              <a:rPr lang="en-GB"/>
              <a:pPr>
                <a:defRPr/>
              </a:pPr>
              <a:t>26/01/2023</a:t>
            </a:fld>
            <a:endParaRPr lang="en-GB"/>
          </a:p>
        </p:txBody>
      </p:sp>
      <p:sp>
        <p:nvSpPr>
          <p:cNvPr id="4" name="Footer Placeholder 3"/>
          <p:cNvSpPr>
            <a:spLocks noGrp="1"/>
          </p:cNvSpPr>
          <p:nvPr>
            <p:ph type="ftr" sz="quarter" idx="2"/>
          </p:nvPr>
        </p:nvSpPr>
        <p:spPr>
          <a:xfrm>
            <a:off x="0" y="9428243"/>
            <a:ext cx="2946400" cy="496808"/>
          </a:xfrm>
          <a:prstGeom prst="rect">
            <a:avLst/>
          </a:prstGeom>
        </p:spPr>
        <p:txBody>
          <a:bodyPr vert="horz" lIns="91440" tIns="45720" rIns="91440" bIns="45720" rtlCol="0" anchor="b"/>
          <a:lstStyle>
            <a:lvl1pPr algn="l">
              <a:defRPr sz="1200" smtClean="0">
                <a:latin typeface="Times New Roman" charset="0"/>
                <a:cs typeface="Times New Roman" charset="0"/>
              </a:defRPr>
            </a:lvl1pPr>
          </a:lstStyle>
          <a:p>
            <a:pPr>
              <a:defRPr/>
            </a:pPr>
            <a:endParaRPr lang="en-GB"/>
          </a:p>
        </p:txBody>
      </p:sp>
      <p:sp>
        <p:nvSpPr>
          <p:cNvPr id="5" name="Slide Number Placeholder 4"/>
          <p:cNvSpPr>
            <a:spLocks noGrp="1"/>
          </p:cNvSpPr>
          <p:nvPr>
            <p:ph type="sldNum" sz="quarter" idx="3"/>
          </p:nvPr>
        </p:nvSpPr>
        <p:spPr>
          <a:xfrm>
            <a:off x="3849688" y="9428243"/>
            <a:ext cx="2946400" cy="496808"/>
          </a:xfrm>
          <a:prstGeom prst="rect">
            <a:avLst/>
          </a:prstGeom>
        </p:spPr>
        <p:txBody>
          <a:bodyPr vert="horz" lIns="91440" tIns="45720" rIns="91440" bIns="45720" rtlCol="0" anchor="b"/>
          <a:lstStyle>
            <a:lvl1pPr algn="r">
              <a:defRPr sz="1200" smtClean="0">
                <a:latin typeface="Times New Roman" charset="0"/>
                <a:cs typeface="Times New Roman" charset="0"/>
              </a:defRPr>
            </a:lvl1pPr>
          </a:lstStyle>
          <a:p>
            <a:pPr>
              <a:defRPr/>
            </a:pPr>
            <a:fld id="{A9D81CCC-6624-40B1-850A-51120E0057F6}" type="slidenum">
              <a:rPr lang="en-GB"/>
              <a:pPr>
                <a:defRPr/>
              </a:pPr>
              <a:t>‹#›</a:t>
            </a:fld>
            <a:endParaRPr lang="en-GB"/>
          </a:p>
        </p:txBody>
      </p:sp>
    </p:spTree>
    <p:extLst>
      <p:ext uri="{BB962C8B-B14F-4D97-AF65-F5344CB8AC3E}">
        <p14:creationId xmlns:p14="http://schemas.microsoft.com/office/powerpoint/2010/main" val="13659671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6275" cy="49836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862" y="1"/>
            <a:ext cx="2946275" cy="498366"/>
          </a:xfrm>
          <a:prstGeom prst="rect">
            <a:avLst/>
          </a:prstGeom>
        </p:spPr>
        <p:txBody>
          <a:bodyPr vert="horz" lIns="91440" tIns="45720" rIns="91440" bIns="45720" rtlCol="0"/>
          <a:lstStyle>
            <a:lvl1pPr algn="r">
              <a:defRPr sz="1200"/>
            </a:lvl1pPr>
          </a:lstStyle>
          <a:p>
            <a:fld id="{BB6FF013-5499-478C-BFB7-9D85EDC4E79E}" type="datetimeFigureOut">
              <a:rPr lang="en-GB" smtClean="0"/>
              <a:t>26/01/2023</a:t>
            </a:fld>
            <a:endParaRPr lang="en-GB"/>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0383" y="4776856"/>
            <a:ext cx="5436909" cy="390895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273"/>
            <a:ext cx="2946275" cy="498366"/>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862" y="9428273"/>
            <a:ext cx="2946275" cy="498366"/>
          </a:xfrm>
          <a:prstGeom prst="rect">
            <a:avLst/>
          </a:prstGeom>
        </p:spPr>
        <p:txBody>
          <a:bodyPr vert="horz" lIns="91440" tIns="45720" rIns="91440" bIns="45720" rtlCol="0" anchor="b"/>
          <a:lstStyle>
            <a:lvl1pPr algn="r">
              <a:defRPr sz="1200"/>
            </a:lvl1pPr>
          </a:lstStyle>
          <a:p>
            <a:fld id="{A8EC9B7C-A1C3-433E-A826-E89A3FFDFAFF}" type="slidenum">
              <a:rPr lang="en-GB" smtClean="0"/>
              <a:t>‹#›</a:t>
            </a:fld>
            <a:endParaRPr lang="en-GB"/>
          </a:p>
        </p:txBody>
      </p:sp>
    </p:spTree>
    <p:extLst>
      <p:ext uri="{BB962C8B-B14F-4D97-AF65-F5344CB8AC3E}">
        <p14:creationId xmlns:p14="http://schemas.microsoft.com/office/powerpoint/2010/main" val="375524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EC9B7C-A1C3-433E-A826-E89A3FFDFAFF}" type="slidenum">
              <a:rPr lang="en-GB" smtClean="0"/>
              <a:t>2</a:t>
            </a:fld>
            <a:endParaRPr lang="en-GB"/>
          </a:p>
        </p:txBody>
      </p:sp>
    </p:spTree>
    <p:extLst>
      <p:ext uri="{BB962C8B-B14F-4D97-AF65-F5344CB8AC3E}">
        <p14:creationId xmlns:p14="http://schemas.microsoft.com/office/powerpoint/2010/main" val="44302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EC9B7C-A1C3-433E-A826-E89A3FFDFAFF}" type="slidenum">
              <a:rPr lang="en-GB" smtClean="0"/>
              <a:t>5</a:t>
            </a:fld>
            <a:endParaRPr lang="en-GB"/>
          </a:p>
        </p:txBody>
      </p:sp>
    </p:spTree>
    <p:extLst>
      <p:ext uri="{BB962C8B-B14F-4D97-AF65-F5344CB8AC3E}">
        <p14:creationId xmlns:p14="http://schemas.microsoft.com/office/powerpoint/2010/main" val="1661027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EC9B7C-A1C3-433E-A826-E89A3FFDFAFF}" type="slidenum">
              <a:rPr lang="en-GB" smtClean="0"/>
              <a:t>13</a:t>
            </a:fld>
            <a:endParaRPr lang="en-GB"/>
          </a:p>
        </p:txBody>
      </p:sp>
    </p:spTree>
    <p:extLst>
      <p:ext uri="{BB962C8B-B14F-4D97-AF65-F5344CB8AC3E}">
        <p14:creationId xmlns:p14="http://schemas.microsoft.com/office/powerpoint/2010/main" val="21790572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GB" alt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GB" alt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ABA6C532-EF0D-42A3-8CBB-E46D86EC6AB3}" type="slidenum">
              <a:rPr lang="en-GB" altLang="en-US" smtClean="0"/>
              <a:pPr>
                <a:defRPr/>
              </a:pPr>
              <a:t>‹#›</a:t>
            </a:fld>
            <a:endParaRPr lang="en-GB"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GB" altLang="en-US"/>
          </a:p>
        </p:txBody>
      </p:sp>
      <p:sp>
        <p:nvSpPr>
          <p:cNvPr id="5" name="Footer Placeholder 4"/>
          <p:cNvSpPr>
            <a:spLocks noGrp="1"/>
          </p:cNvSpPr>
          <p:nvPr>
            <p:ph type="ftr" sz="quarter" idx="11"/>
          </p:nvPr>
        </p:nvSpPr>
        <p:spPr/>
        <p:txBody>
          <a:bodyPr/>
          <a:lstStyle/>
          <a:p>
            <a:pPr>
              <a:defRPr/>
            </a:pPr>
            <a:endParaRPr lang="en-GB" altLang="en-US"/>
          </a:p>
        </p:txBody>
      </p:sp>
      <p:sp>
        <p:nvSpPr>
          <p:cNvPr id="6" name="Slide Number Placeholder 5"/>
          <p:cNvSpPr>
            <a:spLocks noGrp="1"/>
          </p:cNvSpPr>
          <p:nvPr>
            <p:ph type="sldNum" sz="quarter" idx="12"/>
          </p:nvPr>
        </p:nvSpPr>
        <p:spPr/>
        <p:txBody>
          <a:bodyPr/>
          <a:lstStyle/>
          <a:p>
            <a:pPr>
              <a:defRPr/>
            </a:pPr>
            <a:fld id="{1E6DE478-D855-45B4-928F-8CAD8F858577}" type="slidenum">
              <a:rPr lang="en-GB" altLang="en-US" smtClean="0"/>
              <a:pPr>
                <a:defRPr/>
              </a:pPr>
              <a:t>‹#›</a:t>
            </a:fld>
            <a:endParaRPr lang="en-GB" alt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GB" altLang="en-US"/>
          </a:p>
        </p:txBody>
      </p:sp>
      <p:sp>
        <p:nvSpPr>
          <p:cNvPr id="5" name="Footer Placeholder 4"/>
          <p:cNvSpPr>
            <a:spLocks noGrp="1"/>
          </p:cNvSpPr>
          <p:nvPr>
            <p:ph type="ftr" sz="quarter" idx="11"/>
          </p:nvPr>
        </p:nvSpPr>
        <p:spPr/>
        <p:txBody>
          <a:bodyPr/>
          <a:lstStyle/>
          <a:p>
            <a:pPr>
              <a:defRPr/>
            </a:pPr>
            <a:endParaRPr lang="en-GB" altLang="en-US"/>
          </a:p>
        </p:txBody>
      </p:sp>
      <p:sp>
        <p:nvSpPr>
          <p:cNvPr id="6" name="Slide Number Placeholder 5"/>
          <p:cNvSpPr>
            <a:spLocks noGrp="1"/>
          </p:cNvSpPr>
          <p:nvPr>
            <p:ph type="sldNum" sz="quarter" idx="12"/>
          </p:nvPr>
        </p:nvSpPr>
        <p:spPr/>
        <p:txBody>
          <a:bodyPr/>
          <a:lstStyle/>
          <a:p>
            <a:pPr>
              <a:defRPr/>
            </a:pPr>
            <a:fld id="{706EADB3-AD37-440C-83D2-8B57C16511AD}" type="slidenum">
              <a:rPr lang="en-GB" altLang="en-US" smtClean="0"/>
              <a:pPr>
                <a:defRPr/>
              </a:pPr>
              <a:t>‹#›</a:t>
            </a:fld>
            <a:endParaRPr lang="en-GB" alt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GB" altLang="en-US"/>
          </a:p>
        </p:txBody>
      </p:sp>
      <p:sp>
        <p:nvSpPr>
          <p:cNvPr id="6" name="Footer Placeholder 5"/>
          <p:cNvSpPr>
            <a:spLocks noGrp="1"/>
          </p:cNvSpPr>
          <p:nvPr>
            <p:ph type="ftr" sz="quarter" idx="11"/>
          </p:nvPr>
        </p:nvSpPr>
        <p:spPr/>
        <p:txBody>
          <a:bodyPr/>
          <a:lstStyle/>
          <a:p>
            <a:pPr>
              <a:defRPr/>
            </a:pPr>
            <a:endParaRPr lang="en-GB" altLang="en-US"/>
          </a:p>
        </p:txBody>
      </p:sp>
      <p:sp>
        <p:nvSpPr>
          <p:cNvPr id="7" name="Slide Number Placeholder 6"/>
          <p:cNvSpPr>
            <a:spLocks noGrp="1"/>
          </p:cNvSpPr>
          <p:nvPr>
            <p:ph type="sldNum" sz="quarter" idx="12"/>
          </p:nvPr>
        </p:nvSpPr>
        <p:spPr/>
        <p:txBody>
          <a:bodyPr/>
          <a:lstStyle/>
          <a:p>
            <a:pPr>
              <a:defRPr/>
            </a:pPr>
            <a:fld id="{29C1BF49-5535-41E7-A419-55D4036D83D0}" type="slidenum">
              <a:rPr lang="en-GB" altLang="en-US" smtClean="0"/>
              <a:pPr>
                <a:defRPr/>
              </a:pPr>
              <a:t>‹#›</a:t>
            </a:fld>
            <a:endParaRPr lang="en-GB" alt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GB" altLang="en-US"/>
          </a:p>
        </p:txBody>
      </p:sp>
      <p:sp>
        <p:nvSpPr>
          <p:cNvPr id="8" name="Footer Placeholder 7"/>
          <p:cNvSpPr>
            <a:spLocks noGrp="1"/>
          </p:cNvSpPr>
          <p:nvPr>
            <p:ph type="ftr" sz="quarter" idx="11"/>
          </p:nvPr>
        </p:nvSpPr>
        <p:spPr/>
        <p:txBody>
          <a:bodyPr/>
          <a:lstStyle/>
          <a:p>
            <a:pPr>
              <a:defRPr/>
            </a:pPr>
            <a:endParaRPr lang="en-GB" altLang="en-US"/>
          </a:p>
        </p:txBody>
      </p:sp>
      <p:sp>
        <p:nvSpPr>
          <p:cNvPr id="9" name="Slide Number Placeholder 8"/>
          <p:cNvSpPr>
            <a:spLocks noGrp="1"/>
          </p:cNvSpPr>
          <p:nvPr>
            <p:ph type="sldNum" sz="quarter" idx="12"/>
          </p:nvPr>
        </p:nvSpPr>
        <p:spPr/>
        <p:txBody>
          <a:bodyPr/>
          <a:lstStyle/>
          <a:p>
            <a:pPr>
              <a:defRPr/>
            </a:pPr>
            <a:fld id="{7B8C4C77-3569-4B9A-B66B-799BCFB3F695}" type="slidenum">
              <a:rPr lang="en-GB" altLang="en-US" smtClean="0"/>
              <a:pPr>
                <a:defRPr/>
              </a:pPr>
              <a:t>‹#›</a:t>
            </a:fld>
            <a:endParaRPr lang="en-GB"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GB" altLang="en-US"/>
          </a:p>
        </p:txBody>
      </p:sp>
      <p:sp>
        <p:nvSpPr>
          <p:cNvPr id="4" name="Footer Placeholder 3"/>
          <p:cNvSpPr>
            <a:spLocks noGrp="1"/>
          </p:cNvSpPr>
          <p:nvPr>
            <p:ph type="ftr" sz="quarter" idx="11"/>
          </p:nvPr>
        </p:nvSpPr>
        <p:spPr/>
        <p:txBody>
          <a:bodyPr/>
          <a:lstStyle/>
          <a:p>
            <a:pPr>
              <a:defRPr/>
            </a:pPr>
            <a:endParaRPr lang="en-GB" altLang="en-US"/>
          </a:p>
        </p:txBody>
      </p:sp>
      <p:sp>
        <p:nvSpPr>
          <p:cNvPr id="5" name="Slide Number Placeholder 4"/>
          <p:cNvSpPr>
            <a:spLocks noGrp="1"/>
          </p:cNvSpPr>
          <p:nvPr>
            <p:ph type="sldNum" sz="quarter" idx="12"/>
          </p:nvPr>
        </p:nvSpPr>
        <p:spPr/>
        <p:txBody>
          <a:bodyPr/>
          <a:lstStyle/>
          <a:p>
            <a:pPr>
              <a:defRPr/>
            </a:pPr>
            <a:fld id="{E1346102-BA7D-417A-8F56-BDF8B8BC0E83}" type="slidenum">
              <a:rPr lang="en-GB" altLang="en-US" smtClean="0"/>
              <a:pPr>
                <a:defRPr/>
              </a:pPr>
              <a:t>‹#›</a:t>
            </a:fld>
            <a:endParaRPr lang="en-GB" alt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GB" altLang="en-US"/>
          </a:p>
        </p:txBody>
      </p:sp>
      <p:sp>
        <p:nvSpPr>
          <p:cNvPr id="3" name="Footer Placeholder 2"/>
          <p:cNvSpPr>
            <a:spLocks noGrp="1"/>
          </p:cNvSpPr>
          <p:nvPr>
            <p:ph type="ftr" sz="quarter" idx="11"/>
          </p:nvPr>
        </p:nvSpPr>
        <p:spPr/>
        <p:txBody>
          <a:bodyPr/>
          <a:lstStyle/>
          <a:p>
            <a:pPr>
              <a:defRPr/>
            </a:pPr>
            <a:endParaRPr lang="en-GB" altLang="en-US"/>
          </a:p>
        </p:txBody>
      </p:sp>
      <p:sp>
        <p:nvSpPr>
          <p:cNvPr id="4" name="Slide Number Placeholder 3"/>
          <p:cNvSpPr>
            <a:spLocks noGrp="1"/>
          </p:cNvSpPr>
          <p:nvPr>
            <p:ph type="sldNum" sz="quarter" idx="12"/>
          </p:nvPr>
        </p:nvSpPr>
        <p:spPr/>
        <p:txBody>
          <a:bodyPr/>
          <a:lstStyle/>
          <a:p>
            <a:pPr>
              <a:defRPr/>
            </a:pPr>
            <a:fld id="{B2429A7C-D9FF-4804-B3A8-81BBF83C40B5}" type="slidenum">
              <a:rPr lang="en-GB" altLang="en-US" smtClean="0"/>
              <a:pPr>
                <a:defRPr/>
              </a:pPr>
              <a:t>‹#›</a:t>
            </a:fld>
            <a:endParaRPr lang="en-GB"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GB" altLang="en-US"/>
          </a:p>
        </p:txBody>
      </p:sp>
      <p:sp>
        <p:nvSpPr>
          <p:cNvPr id="6" name="Footer Placeholder 5"/>
          <p:cNvSpPr>
            <a:spLocks noGrp="1"/>
          </p:cNvSpPr>
          <p:nvPr>
            <p:ph type="ftr" sz="quarter" idx="11"/>
          </p:nvPr>
        </p:nvSpPr>
        <p:spPr/>
        <p:txBody>
          <a:bodyPr/>
          <a:lstStyle/>
          <a:p>
            <a:pPr>
              <a:defRPr/>
            </a:pPr>
            <a:endParaRPr lang="en-GB" altLang="en-US"/>
          </a:p>
        </p:txBody>
      </p:sp>
      <p:sp>
        <p:nvSpPr>
          <p:cNvPr id="7" name="Slide Number Placeholder 6"/>
          <p:cNvSpPr>
            <a:spLocks noGrp="1"/>
          </p:cNvSpPr>
          <p:nvPr>
            <p:ph type="sldNum" sz="quarter" idx="12"/>
          </p:nvPr>
        </p:nvSpPr>
        <p:spPr/>
        <p:txBody>
          <a:bodyPr/>
          <a:lstStyle/>
          <a:p>
            <a:pPr>
              <a:defRPr/>
            </a:pPr>
            <a:fld id="{C7E5F758-75E1-468A-8930-C80EFC6CAEF9}" type="slidenum">
              <a:rPr lang="en-GB" altLang="en-US" smtClean="0"/>
              <a:pPr>
                <a:defRPr/>
              </a:pPr>
              <a:t>‹#›</a:t>
            </a:fld>
            <a:endParaRPr lang="en-GB"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GB" alt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endParaRPr lang="en-GB" alt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A935933F-A3DC-4980-ABBC-9443508E11F0}" type="slidenum">
              <a:rPr lang="en-GB" altLang="en-US" smtClean="0"/>
              <a:pPr>
                <a:defRPr/>
              </a:pPr>
              <a:t>‹#›</a:t>
            </a:fld>
            <a:endParaRPr lang="en-GB" alt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GB" altLang="en-US"/>
          </a:p>
        </p:txBody>
      </p:sp>
      <p:sp>
        <p:nvSpPr>
          <p:cNvPr id="5" name="Footer Placeholder 4"/>
          <p:cNvSpPr>
            <a:spLocks noGrp="1"/>
          </p:cNvSpPr>
          <p:nvPr>
            <p:ph type="ftr" sz="quarter" idx="11"/>
          </p:nvPr>
        </p:nvSpPr>
        <p:spPr/>
        <p:txBody>
          <a:bodyPr/>
          <a:lstStyle/>
          <a:p>
            <a:pPr>
              <a:defRPr/>
            </a:pPr>
            <a:endParaRPr lang="en-GB" altLang="en-US"/>
          </a:p>
        </p:txBody>
      </p:sp>
      <p:sp>
        <p:nvSpPr>
          <p:cNvPr id="6" name="Slide Number Placeholder 5"/>
          <p:cNvSpPr>
            <a:spLocks noGrp="1"/>
          </p:cNvSpPr>
          <p:nvPr>
            <p:ph type="sldNum" sz="quarter" idx="12"/>
          </p:nvPr>
        </p:nvSpPr>
        <p:spPr/>
        <p:txBody>
          <a:bodyPr/>
          <a:lstStyle/>
          <a:p>
            <a:pPr>
              <a:defRPr/>
            </a:pPr>
            <a:fld id="{FE853B72-CC30-415D-AD2D-88389475D6FE}" type="slidenum">
              <a:rPr lang="en-GB" altLang="en-US" smtClean="0"/>
              <a:pPr>
                <a:defRPr/>
              </a:pPr>
              <a:t>‹#›</a:t>
            </a:fld>
            <a:endParaRPr lang="en-GB"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GB" altLang="en-US"/>
          </a:p>
        </p:txBody>
      </p:sp>
      <p:sp>
        <p:nvSpPr>
          <p:cNvPr id="5" name="Footer Placeholder 4"/>
          <p:cNvSpPr>
            <a:spLocks noGrp="1"/>
          </p:cNvSpPr>
          <p:nvPr>
            <p:ph type="ftr" sz="quarter" idx="11"/>
          </p:nvPr>
        </p:nvSpPr>
        <p:spPr/>
        <p:txBody>
          <a:bodyPr/>
          <a:lstStyle/>
          <a:p>
            <a:pPr>
              <a:defRPr/>
            </a:pPr>
            <a:endParaRPr lang="en-GB" altLang="en-US"/>
          </a:p>
        </p:txBody>
      </p:sp>
      <p:sp>
        <p:nvSpPr>
          <p:cNvPr id="6" name="Slide Number Placeholder 5"/>
          <p:cNvSpPr>
            <a:spLocks noGrp="1"/>
          </p:cNvSpPr>
          <p:nvPr>
            <p:ph type="sldNum" sz="quarter" idx="12"/>
          </p:nvPr>
        </p:nvSpPr>
        <p:spPr/>
        <p:txBody>
          <a:bodyPr/>
          <a:lstStyle/>
          <a:p>
            <a:pPr>
              <a:defRPr/>
            </a:pPr>
            <a:fld id="{1044C005-4F97-4069-953E-8E56D3F7EC1E}" type="slidenum">
              <a:rPr lang="en-GB" altLang="en-US" smtClean="0"/>
              <a:pPr>
                <a:defRPr/>
              </a:pPr>
              <a:t>‹#›</a:t>
            </a:fld>
            <a:endParaRPr lang="en-GB"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GB" alt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GB" alt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D0ADD5E6-BB2A-4DDF-9DF9-0CE36FA579AD}" type="slidenum">
              <a:rPr lang="en-GB" altLang="en-US" smtClean="0"/>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mailto:oxfordhealth.buckschcreferrals@nhs.ne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mailto:oxfordhealth.buckschcreferrals@nhs.net"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836713"/>
            <a:ext cx="7772400" cy="1296143"/>
          </a:xfrm>
        </p:spPr>
        <p:txBody>
          <a:bodyPr>
            <a:normAutofit/>
          </a:bodyPr>
          <a:lstStyle/>
          <a:p>
            <a:pPr eaLnBrk="1" hangingPunct="1"/>
            <a:r>
              <a:rPr lang="en-GB" altLang="en-US" dirty="0">
                <a:solidFill>
                  <a:srgbClr val="0070C0"/>
                </a:solidFill>
              </a:rPr>
              <a:t>NHS CONTINUING CARE</a:t>
            </a:r>
          </a:p>
        </p:txBody>
      </p:sp>
      <p:sp>
        <p:nvSpPr>
          <p:cNvPr id="2051" name="Rectangle 3"/>
          <p:cNvSpPr>
            <a:spLocks noGrp="1" noChangeArrowheads="1"/>
          </p:cNvSpPr>
          <p:nvPr>
            <p:ph type="subTitle" idx="1"/>
          </p:nvPr>
        </p:nvSpPr>
        <p:spPr>
          <a:xfrm>
            <a:off x="1331913" y="2348880"/>
            <a:ext cx="6400800" cy="3312145"/>
          </a:xfrm>
        </p:spPr>
        <p:txBody>
          <a:bodyPr>
            <a:normAutofit/>
          </a:bodyPr>
          <a:lstStyle/>
          <a:p>
            <a:pPr algn="l" eaLnBrk="1" hangingPunct="1"/>
            <a:r>
              <a:rPr lang="en-US" altLang="en-US" dirty="0">
                <a:solidFill>
                  <a:srgbClr val="FF0000"/>
                </a:solidFill>
              </a:rPr>
              <a:t>C</a:t>
            </a:r>
            <a:r>
              <a:rPr lang="en-GB" altLang="en-US" dirty="0" err="1">
                <a:solidFill>
                  <a:srgbClr val="FF0000"/>
                </a:solidFill>
              </a:rPr>
              <a:t>hildren</a:t>
            </a:r>
            <a:r>
              <a:rPr lang="en-GB" altLang="en-US" dirty="0">
                <a:solidFill>
                  <a:srgbClr val="FF0000"/>
                </a:solidFill>
              </a:rPr>
              <a:t> and Young People’s Awareness Training</a:t>
            </a:r>
          </a:p>
          <a:p>
            <a:pPr algn="l" eaLnBrk="1" hangingPunct="1"/>
            <a:endParaRPr lang="en-GB" altLang="en-US" dirty="0">
              <a:solidFill>
                <a:srgbClr val="FF0000"/>
              </a:solidFill>
            </a:endParaRPr>
          </a:p>
          <a:p>
            <a:pPr algn="l" eaLnBrk="1" hangingPunct="1"/>
            <a:r>
              <a:rPr lang="en-GB" altLang="en-US" sz="1600" dirty="0">
                <a:solidFill>
                  <a:schemeClr val="tx1"/>
                </a:solidFill>
              </a:rPr>
              <a:t>Presented by </a:t>
            </a:r>
          </a:p>
          <a:p>
            <a:pPr algn="l" eaLnBrk="1" hangingPunct="1"/>
            <a:r>
              <a:rPr lang="en-GB" altLang="en-US" sz="1600" dirty="0">
                <a:solidFill>
                  <a:schemeClr val="tx1"/>
                </a:solidFill>
              </a:rPr>
              <a:t>Suzanne Awadallah CHC Service Manager  </a:t>
            </a:r>
          </a:p>
          <a:p>
            <a:pPr algn="l" eaLnBrk="1" hangingPunct="1"/>
            <a:r>
              <a:rPr lang="en-GB" altLang="en-US" sz="1600" dirty="0">
                <a:solidFill>
                  <a:schemeClr val="tx1"/>
                </a:solidFill>
              </a:rPr>
              <a:t>and Claire Turnbull Children’s Operational Manager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defRPr/>
            </a:pPr>
            <a:r>
              <a:rPr lang="en-GB" dirty="0"/>
              <a:t>Review the key principles of the </a:t>
            </a:r>
            <a:r>
              <a:rPr lang="en-US" dirty="0"/>
              <a:t>National Framework for Children and Young People’s (CYP) Continuing Care: </a:t>
            </a:r>
          </a:p>
          <a:p>
            <a:pPr marL="457200" indent="-457200">
              <a:defRPr/>
            </a:pPr>
            <a:r>
              <a:rPr lang="en-US" sz="2100" dirty="0"/>
              <a:t>Referral and assessment process</a:t>
            </a:r>
          </a:p>
          <a:p>
            <a:pPr marL="457200" indent="-457200">
              <a:defRPr/>
            </a:pPr>
            <a:r>
              <a:rPr lang="en-US" sz="2100" dirty="0"/>
              <a:t>Consent</a:t>
            </a:r>
          </a:p>
          <a:p>
            <a:pPr marL="457200" indent="-457200">
              <a:defRPr/>
            </a:pPr>
            <a:r>
              <a:rPr lang="en-US" sz="2100" dirty="0"/>
              <a:t>Decision making process</a:t>
            </a:r>
          </a:p>
          <a:p>
            <a:pPr marL="457200" indent="-457200">
              <a:defRPr/>
            </a:pPr>
            <a:r>
              <a:rPr lang="en-US" sz="2100" dirty="0"/>
              <a:t>Care Packages/Placements</a:t>
            </a:r>
          </a:p>
          <a:p>
            <a:pPr marL="457200" indent="-457200">
              <a:defRPr/>
            </a:pPr>
            <a:r>
              <a:rPr lang="en-US" sz="2100" dirty="0"/>
              <a:t>Reviews </a:t>
            </a:r>
          </a:p>
          <a:p>
            <a:pPr marL="457200" indent="-457200">
              <a:defRPr/>
            </a:pPr>
            <a:r>
              <a:rPr lang="en-US" sz="2100" dirty="0"/>
              <a:t>Transitions</a:t>
            </a:r>
          </a:p>
          <a:p>
            <a:pPr marL="457200" indent="-457200">
              <a:defRPr/>
            </a:pPr>
            <a:endParaRPr lang="en-US" dirty="0"/>
          </a:p>
          <a:p>
            <a:pPr marL="0" indent="0">
              <a:buFontTx/>
              <a:buNone/>
              <a:defRPr/>
            </a:pPr>
            <a:endParaRPr lang="en-US" dirty="0"/>
          </a:p>
          <a:p>
            <a:pPr>
              <a:buFont typeface="Wingdings" panose="05000000000000000000" pitchFamily="2" charset="2"/>
              <a:buChar char="Ø"/>
              <a:defRPr/>
            </a:pPr>
            <a:endParaRPr lang="en-GB" dirty="0"/>
          </a:p>
        </p:txBody>
      </p:sp>
      <p:sp>
        <p:nvSpPr>
          <p:cNvPr id="3074" name="Title 1"/>
          <p:cNvSpPr>
            <a:spLocks noGrp="1"/>
          </p:cNvSpPr>
          <p:nvPr>
            <p:ph type="title"/>
          </p:nvPr>
        </p:nvSpPr>
        <p:spPr>
          <a:xfrm>
            <a:off x="467544" y="260648"/>
            <a:ext cx="8229600" cy="1143000"/>
          </a:xfrm>
        </p:spPr>
        <p:txBody>
          <a:bodyPr/>
          <a:lstStyle/>
          <a:p>
            <a:r>
              <a:rPr lang="en-GB" altLang="en-US" dirty="0">
                <a:solidFill>
                  <a:srgbClr val="FF0000"/>
                </a:solidFill>
              </a:rPr>
              <a:t>Objectives for the section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p:txBody>
          <a:bodyPr/>
          <a:lstStyle/>
          <a:p>
            <a:pPr eaLnBrk="1" hangingPunct="1"/>
            <a:endParaRPr lang="en-GB" altLang="en-US" dirty="0"/>
          </a:p>
          <a:p>
            <a:r>
              <a:rPr lang="en-US" altLang="en-US" dirty="0"/>
              <a:t>This framework covers CYP up to their 18th birthday</a:t>
            </a:r>
          </a:p>
          <a:p>
            <a:pPr marL="109728" indent="0">
              <a:buNone/>
            </a:pPr>
            <a:endParaRPr lang="en-GB" altLang="en-US" dirty="0"/>
          </a:p>
          <a:p>
            <a:pPr eaLnBrk="1" hangingPunct="1"/>
            <a:endParaRPr lang="en-GB" altLang="en-US" dirty="0"/>
          </a:p>
          <a:p>
            <a:r>
              <a:rPr lang="en-US" altLang="en-US" dirty="0"/>
              <a:t>A continuing care package may be required when a CYP has complex needs arising from disability, accident or illness that cannot be met by existing universal or specialist services alone.</a:t>
            </a:r>
            <a:endParaRPr lang="en-GB" altLang="en-US" dirty="0"/>
          </a:p>
        </p:txBody>
      </p:sp>
      <p:sp>
        <p:nvSpPr>
          <p:cNvPr id="4098" name="Rectangle 2"/>
          <p:cNvSpPr>
            <a:spLocks noGrp="1" noChangeArrowheads="1"/>
          </p:cNvSpPr>
          <p:nvPr>
            <p:ph type="title"/>
          </p:nvPr>
        </p:nvSpPr>
        <p:spPr>
          <a:xfrm>
            <a:off x="755650" y="620713"/>
            <a:ext cx="7772400" cy="1143000"/>
          </a:xfrm>
        </p:spPr>
        <p:txBody>
          <a:bodyPr>
            <a:normAutofit fontScale="90000"/>
          </a:bodyPr>
          <a:lstStyle/>
          <a:p>
            <a:r>
              <a:rPr lang="en-US" altLang="en-US" dirty="0">
                <a:solidFill>
                  <a:srgbClr val="FF0000"/>
                </a:solidFill>
              </a:rPr>
              <a:t>A revised National Framework was published in January 2016</a:t>
            </a:r>
            <a:endParaRPr lang="en-GB" altLang="en-US"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2BFD4-181A-4467-9310-C7786564C286}"/>
              </a:ext>
            </a:extLst>
          </p:cNvPr>
          <p:cNvSpPr>
            <a:spLocks noGrp="1"/>
          </p:cNvSpPr>
          <p:nvPr>
            <p:ph idx="1"/>
          </p:nvPr>
        </p:nvSpPr>
        <p:spPr>
          <a:xfrm>
            <a:off x="457200" y="1481328"/>
            <a:ext cx="8229600" cy="4525963"/>
          </a:xfrm>
        </p:spPr>
        <p:txBody>
          <a:bodyPr/>
          <a:lstStyle/>
          <a:p>
            <a:r>
              <a:rPr lang="en-US" dirty="0"/>
              <a:t>Some CYP (up to their 18th birthday), may have very complex health needs. These may be the result of congenital conditions, long-term or life limiting or life-threatening conditions, disability, or the after-effects of serious illness or injury.</a:t>
            </a:r>
          </a:p>
          <a:p>
            <a:endParaRPr lang="en-GB" dirty="0"/>
          </a:p>
        </p:txBody>
      </p:sp>
      <p:sp>
        <p:nvSpPr>
          <p:cNvPr id="3" name="Title 2">
            <a:extLst>
              <a:ext uri="{FF2B5EF4-FFF2-40B4-BE49-F238E27FC236}">
                <a16:creationId xmlns:a16="http://schemas.microsoft.com/office/drawing/2014/main" id="{CBEBF537-C103-4F8D-970D-DC24662456C3}"/>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538275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4D38BB-8BA0-48BA-923C-FBE397005239}"/>
              </a:ext>
            </a:extLst>
          </p:cNvPr>
          <p:cNvSpPr>
            <a:spLocks noGrp="1"/>
          </p:cNvSpPr>
          <p:nvPr>
            <p:ph idx="1"/>
          </p:nvPr>
        </p:nvSpPr>
        <p:spPr/>
        <p:txBody>
          <a:bodyPr>
            <a:normAutofit fontScale="92500"/>
          </a:bodyPr>
          <a:lstStyle/>
          <a:p>
            <a:r>
              <a:rPr lang="en-US" dirty="0"/>
              <a:t>These needs may be so complex, that they cannot be met by existing Universal Community Health Services which are routinely provided by Primary Health Services; GP practices, community nursing services, or other Community Services  commissioned by Clinical Commissioning Groups (CCGs) or NHS England. </a:t>
            </a:r>
          </a:p>
          <a:p>
            <a:pPr marL="109728" indent="0">
              <a:buNone/>
            </a:pPr>
            <a:endParaRPr lang="en-US" dirty="0"/>
          </a:p>
          <a:p>
            <a:r>
              <a:rPr lang="en-US" dirty="0"/>
              <a:t>A package of additional health support may be needed. This additional package of care has come to be known as Continuing Care.</a:t>
            </a:r>
            <a:endParaRPr lang="en-GB" dirty="0"/>
          </a:p>
        </p:txBody>
      </p:sp>
      <p:sp>
        <p:nvSpPr>
          <p:cNvPr id="3" name="Title 2">
            <a:extLst>
              <a:ext uri="{FF2B5EF4-FFF2-40B4-BE49-F238E27FC236}">
                <a16:creationId xmlns:a16="http://schemas.microsoft.com/office/drawing/2014/main" id="{BC4C972B-0FA2-4C56-B84C-559E0509C6C4}"/>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565622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955BA2-6A34-405E-A4DB-2C321A9BE126}"/>
              </a:ext>
            </a:extLst>
          </p:cNvPr>
          <p:cNvSpPr>
            <a:spLocks noGrp="1"/>
          </p:cNvSpPr>
          <p:nvPr>
            <p:ph idx="1"/>
          </p:nvPr>
        </p:nvSpPr>
        <p:spPr/>
        <p:txBody>
          <a:bodyPr/>
          <a:lstStyle/>
          <a:p>
            <a:r>
              <a:rPr lang="en-US" dirty="0"/>
              <a:t>The appropriate care of CYP with profound multiple disabilities or chronic severe illness generally involves input from all statutory agencies: Health, Social Care and Education.</a:t>
            </a:r>
          </a:p>
          <a:p>
            <a:pPr marL="109728" indent="0">
              <a:buNone/>
            </a:pPr>
            <a:endParaRPr lang="en-US" dirty="0"/>
          </a:p>
          <a:p>
            <a:r>
              <a:rPr lang="en-US" dirty="0"/>
              <a:t>Parents have the primary responsibility for the care of their child with statutory agencies supporting them to meet the child’s identified outcomes</a:t>
            </a:r>
            <a:endParaRPr lang="en-GB" dirty="0"/>
          </a:p>
        </p:txBody>
      </p:sp>
    </p:spTree>
    <p:extLst>
      <p:ext uri="{BB962C8B-B14F-4D97-AF65-F5344CB8AC3E}">
        <p14:creationId xmlns:p14="http://schemas.microsoft.com/office/powerpoint/2010/main" val="2369126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p:txBody>
          <a:bodyPr/>
          <a:lstStyle/>
          <a:p>
            <a:r>
              <a:rPr lang="en-US" altLang="en-US" dirty="0"/>
              <a:t>OHFT is responsible for the day to day delivery of the NHS National Framework for CYP’s Continuing Care (CC) on behalf of Bucks CCG.</a:t>
            </a:r>
          </a:p>
          <a:p>
            <a:pPr marL="109728" indent="0">
              <a:buNone/>
            </a:pPr>
            <a:endParaRPr lang="en-US" altLang="en-US" dirty="0"/>
          </a:p>
          <a:p>
            <a:r>
              <a:rPr lang="en-US" altLang="en-US" dirty="0"/>
              <a:t>OHFT is responsible for leading the assessment process, administration of the decision-making process and procurement and on-going coordination and reviews of care for CYP who are eligible for CC</a:t>
            </a:r>
            <a:endParaRPr lang="en-GB" altLang="en-US" dirty="0"/>
          </a:p>
        </p:txBody>
      </p:sp>
      <p:sp>
        <p:nvSpPr>
          <p:cNvPr id="5122" name="Title 1"/>
          <p:cNvSpPr>
            <a:spLocks noGrp="1"/>
          </p:cNvSpPr>
          <p:nvPr>
            <p:ph type="title"/>
          </p:nvPr>
        </p:nvSpPr>
        <p:spPr/>
        <p:txBody>
          <a:bodyPr/>
          <a:lstStyle/>
          <a:p>
            <a:pPr algn="ct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305531-D9EB-4560-B299-7F985E2171AB}"/>
              </a:ext>
            </a:extLst>
          </p:cNvPr>
          <p:cNvSpPr>
            <a:spLocks noGrp="1"/>
          </p:cNvSpPr>
          <p:nvPr>
            <p:ph idx="1"/>
          </p:nvPr>
        </p:nvSpPr>
        <p:spPr/>
        <p:txBody>
          <a:bodyPr/>
          <a:lstStyle/>
          <a:p>
            <a:r>
              <a:rPr lang="en-US" dirty="0"/>
              <a:t>Where it is felt that the CYP is likely to meet the criteria a Decision Support Tool assessment will be completed by OHFT Nurse Assessor. </a:t>
            </a:r>
          </a:p>
          <a:p>
            <a:r>
              <a:rPr lang="en-US" dirty="0"/>
              <a:t>The assessment will reflect evidence of health needs that can be mapped to the descriptors within the DST</a:t>
            </a:r>
          </a:p>
          <a:p>
            <a:endParaRPr lang="en-US" dirty="0"/>
          </a:p>
          <a:p>
            <a:r>
              <a:rPr lang="en-US" dirty="0"/>
              <a:t>Evidence includes; risk assessments, case records and 24-hour care diaries/records.</a:t>
            </a:r>
            <a:endParaRPr lang="en-GB" dirty="0"/>
          </a:p>
        </p:txBody>
      </p:sp>
      <p:sp>
        <p:nvSpPr>
          <p:cNvPr id="3" name="Title 2">
            <a:extLst>
              <a:ext uri="{FF2B5EF4-FFF2-40B4-BE49-F238E27FC236}">
                <a16:creationId xmlns:a16="http://schemas.microsoft.com/office/drawing/2014/main" id="{F8BFC737-09B6-418B-B8E8-02E771E326DE}"/>
              </a:ext>
            </a:extLst>
          </p:cNvPr>
          <p:cNvSpPr>
            <a:spLocks noGrp="1"/>
          </p:cNvSpPr>
          <p:nvPr>
            <p:ph type="title"/>
          </p:nvPr>
        </p:nvSpPr>
        <p:spPr/>
        <p:txBody>
          <a:bodyPr/>
          <a:lstStyle/>
          <a:p>
            <a:pPr algn="ctr"/>
            <a:r>
              <a:rPr lang="en-GB" dirty="0">
                <a:solidFill>
                  <a:srgbClr val="FF0000"/>
                </a:solidFill>
              </a:rPr>
              <a:t>Decision Support Tool </a:t>
            </a:r>
          </a:p>
        </p:txBody>
      </p:sp>
    </p:spTree>
    <p:extLst>
      <p:ext uri="{BB962C8B-B14F-4D97-AF65-F5344CB8AC3E}">
        <p14:creationId xmlns:p14="http://schemas.microsoft.com/office/powerpoint/2010/main" val="419246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B09000-E0A1-4B31-B683-B4FFCC796BD0}"/>
              </a:ext>
            </a:extLst>
          </p:cNvPr>
          <p:cNvSpPr>
            <a:spLocks noGrp="1"/>
          </p:cNvSpPr>
          <p:nvPr>
            <p:ph idx="1"/>
          </p:nvPr>
        </p:nvSpPr>
        <p:spPr/>
        <p:txBody>
          <a:bodyPr>
            <a:normAutofit lnSpcReduction="10000"/>
          </a:bodyPr>
          <a:lstStyle/>
          <a:p>
            <a:r>
              <a:rPr lang="en-US" dirty="0"/>
              <a:t>The assessment will be needs-based and options for care will be considered after the decision has been made. </a:t>
            </a:r>
          </a:p>
          <a:p>
            <a:r>
              <a:rPr lang="en-US" dirty="0"/>
              <a:t>The assessment will make use of the evidence of previous health assessments where relevant (reflects current needs), although not to the exclusion of new assessments, or direct contact with CYP and their families. </a:t>
            </a:r>
          </a:p>
          <a:p>
            <a:r>
              <a:rPr lang="en-US" dirty="0"/>
              <a:t>The input of the third sector should be considered in the assessment phase as appropriate.</a:t>
            </a:r>
            <a:endParaRPr lang="en-GB" dirty="0"/>
          </a:p>
        </p:txBody>
      </p:sp>
      <p:sp>
        <p:nvSpPr>
          <p:cNvPr id="3" name="Title 2">
            <a:extLst>
              <a:ext uri="{FF2B5EF4-FFF2-40B4-BE49-F238E27FC236}">
                <a16:creationId xmlns:a16="http://schemas.microsoft.com/office/drawing/2014/main" id="{4B308778-5AFA-4962-9AB0-060198B10FC3}"/>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179702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9E2364-D2A9-4A2B-A3E1-0CA457B9189B}"/>
              </a:ext>
            </a:extLst>
          </p:cNvPr>
          <p:cNvSpPr>
            <a:spLocks noGrp="1"/>
          </p:cNvSpPr>
          <p:nvPr>
            <p:ph idx="1"/>
          </p:nvPr>
        </p:nvSpPr>
        <p:spPr/>
        <p:txBody>
          <a:bodyPr>
            <a:normAutofit lnSpcReduction="10000"/>
          </a:bodyPr>
          <a:lstStyle/>
          <a:p>
            <a:r>
              <a:rPr lang="en-US" dirty="0"/>
              <a:t>Breathing </a:t>
            </a:r>
          </a:p>
          <a:p>
            <a:r>
              <a:rPr lang="en-US" dirty="0"/>
              <a:t>Eating and Drinking</a:t>
            </a:r>
          </a:p>
          <a:p>
            <a:r>
              <a:rPr lang="en-US" dirty="0"/>
              <a:t>Mobility</a:t>
            </a:r>
          </a:p>
          <a:p>
            <a:r>
              <a:rPr lang="en-US" dirty="0"/>
              <a:t>Continence or Elimination </a:t>
            </a:r>
          </a:p>
          <a:p>
            <a:r>
              <a:rPr lang="en-US" dirty="0"/>
              <a:t>Skin and Tissue Viability </a:t>
            </a:r>
          </a:p>
          <a:p>
            <a:r>
              <a:rPr lang="en-US" dirty="0"/>
              <a:t>Communication </a:t>
            </a:r>
          </a:p>
          <a:p>
            <a:r>
              <a:rPr lang="en-US" dirty="0"/>
              <a:t>Drug Therapies and Medication</a:t>
            </a:r>
          </a:p>
          <a:p>
            <a:r>
              <a:rPr lang="en-US" dirty="0"/>
              <a:t>Psychological and Emotional needs</a:t>
            </a:r>
          </a:p>
          <a:p>
            <a:r>
              <a:rPr lang="en-US" dirty="0"/>
              <a:t>Seizure</a:t>
            </a:r>
            <a:r>
              <a:rPr lang="en-GB" dirty="0"/>
              <a:t>s</a:t>
            </a:r>
          </a:p>
          <a:p>
            <a:r>
              <a:rPr lang="en-US" dirty="0"/>
              <a:t>Challenging Behaviour </a:t>
            </a:r>
            <a:endParaRPr lang="en-GB" dirty="0"/>
          </a:p>
          <a:p>
            <a:endParaRPr lang="en-US" dirty="0"/>
          </a:p>
        </p:txBody>
      </p:sp>
      <p:sp>
        <p:nvSpPr>
          <p:cNvPr id="3" name="Title 2">
            <a:extLst>
              <a:ext uri="{FF2B5EF4-FFF2-40B4-BE49-F238E27FC236}">
                <a16:creationId xmlns:a16="http://schemas.microsoft.com/office/drawing/2014/main" id="{1B46C1AA-C35E-4D7E-8759-BB16C1E60275}"/>
              </a:ext>
            </a:extLst>
          </p:cNvPr>
          <p:cNvSpPr>
            <a:spLocks noGrp="1"/>
          </p:cNvSpPr>
          <p:nvPr>
            <p:ph type="title"/>
          </p:nvPr>
        </p:nvSpPr>
        <p:spPr/>
        <p:txBody>
          <a:bodyPr/>
          <a:lstStyle/>
          <a:p>
            <a:pPr algn="ctr"/>
            <a:r>
              <a:rPr lang="en-US" dirty="0">
                <a:solidFill>
                  <a:srgbClr val="FF0000"/>
                </a:solidFill>
              </a:rPr>
              <a:t>Care Domains</a:t>
            </a:r>
            <a:endParaRPr lang="en-GB" dirty="0">
              <a:solidFill>
                <a:srgbClr val="FF0000"/>
              </a:solidFill>
            </a:endParaRPr>
          </a:p>
        </p:txBody>
      </p:sp>
    </p:spTree>
    <p:extLst>
      <p:ext uri="{BB962C8B-B14F-4D97-AF65-F5344CB8AC3E}">
        <p14:creationId xmlns:p14="http://schemas.microsoft.com/office/powerpoint/2010/main" val="700508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0D63D5-695D-4F61-B054-440907C2B3AC}"/>
              </a:ext>
            </a:extLst>
          </p:cNvPr>
          <p:cNvSpPr>
            <a:spLocks noGrp="1"/>
          </p:cNvSpPr>
          <p:nvPr>
            <p:ph idx="1"/>
          </p:nvPr>
        </p:nvSpPr>
        <p:spPr/>
        <p:txBody>
          <a:bodyPr/>
          <a:lstStyle/>
          <a:p>
            <a:r>
              <a:rPr lang="en-US" dirty="0"/>
              <a:t>1 Priority </a:t>
            </a:r>
          </a:p>
          <a:p>
            <a:endParaRPr lang="en-US" dirty="0"/>
          </a:p>
          <a:p>
            <a:pPr marL="109728" indent="0">
              <a:buNone/>
            </a:pPr>
            <a:r>
              <a:rPr lang="en-US" dirty="0"/>
              <a:t>Or </a:t>
            </a:r>
          </a:p>
          <a:p>
            <a:pPr marL="109728" indent="0">
              <a:buNone/>
            </a:pPr>
            <a:endParaRPr lang="en-US" dirty="0"/>
          </a:p>
          <a:p>
            <a:r>
              <a:rPr lang="en-US" dirty="0"/>
              <a:t>1 Severe</a:t>
            </a:r>
          </a:p>
          <a:p>
            <a:pPr marL="109728" indent="0">
              <a:buNone/>
            </a:pPr>
            <a:endParaRPr lang="en-US" dirty="0"/>
          </a:p>
          <a:p>
            <a:pPr marL="109728" indent="0">
              <a:buNone/>
            </a:pPr>
            <a:r>
              <a:rPr lang="en-US" dirty="0"/>
              <a:t>Or </a:t>
            </a:r>
          </a:p>
          <a:p>
            <a:pPr marL="109728" indent="0">
              <a:buNone/>
            </a:pPr>
            <a:endParaRPr lang="en-US" dirty="0"/>
          </a:p>
          <a:p>
            <a:r>
              <a:rPr lang="en-US" dirty="0"/>
              <a:t>3 Highs </a:t>
            </a:r>
            <a:endParaRPr lang="en-GB" dirty="0"/>
          </a:p>
        </p:txBody>
      </p:sp>
      <p:sp>
        <p:nvSpPr>
          <p:cNvPr id="3" name="Title 2">
            <a:extLst>
              <a:ext uri="{FF2B5EF4-FFF2-40B4-BE49-F238E27FC236}">
                <a16:creationId xmlns:a16="http://schemas.microsoft.com/office/drawing/2014/main" id="{6F410F2B-9C23-4B6A-B1F4-97C21DF37B3D}"/>
              </a:ext>
            </a:extLst>
          </p:cNvPr>
          <p:cNvSpPr>
            <a:spLocks noGrp="1"/>
          </p:cNvSpPr>
          <p:nvPr>
            <p:ph type="title"/>
          </p:nvPr>
        </p:nvSpPr>
        <p:spPr/>
        <p:txBody>
          <a:bodyPr/>
          <a:lstStyle/>
          <a:p>
            <a:pPr algn="ctr"/>
            <a:r>
              <a:rPr lang="en-US" dirty="0">
                <a:solidFill>
                  <a:srgbClr val="FF0000"/>
                </a:solidFill>
              </a:rPr>
              <a:t>Eligibility Criteria </a:t>
            </a:r>
            <a:endParaRPr lang="en-GB" dirty="0">
              <a:solidFill>
                <a:srgbClr val="FF0000"/>
              </a:solidFill>
            </a:endParaRPr>
          </a:p>
        </p:txBody>
      </p:sp>
    </p:spTree>
    <p:extLst>
      <p:ext uri="{BB962C8B-B14F-4D97-AF65-F5344CB8AC3E}">
        <p14:creationId xmlns:p14="http://schemas.microsoft.com/office/powerpoint/2010/main" val="3901444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eaLnBrk="1" hangingPunct="1">
              <a:defRPr/>
            </a:pPr>
            <a:endParaRPr lang="en-GB" b="1" dirty="0"/>
          </a:p>
          <a:p>
            <a:pPr>
              <a:defRPr/>
            </a:pPr>
            <a:r>
              <a:rPr lang="en-US" dirty="0"/>
              <a:t>In line with the National Framework guidance OHFT aims to complete the assessment process and confirm the decision within 6 weeks.</a:t>
            </a:r>
          </a:p>
          <a:p>
            <a:pPr>
              <a:defRPr/>
            </a:pPr>
            <a:endParaRPr lang="en-US" dirty="0"/>
          </a:p>
          <a:p>
            <a:pPr>
              <a:defRPr/>
            </a:pPr>
            <a:r>
              <a:rPr lang="en-US" dirty="0"/>
              <a:t>The CC assessment will not be delayed in order to fit within the timescale for an EHC plan assessment.</a:t>
            </a:r>
          </a:p>
          <a:p>
            <a:pPr marL="109728" indent="0">
              <a:buNone/>
              <a:defRPr/>
            </a:pPr>
            <a:endParaRPr lang="en-US" dirty="0"/>
          </a:p>
          <a:p>
            <a:pPr>
              <a:defRPr/>
            </a:pPr>
            <a:r>
              <a:rPr lang="en-US" dirty="0"/>
              <a:t>OHFT will confirm timescales with the CYP and/or their family.</a:t>
            </a:r>
            <a:endParaRPr lang="en-GB" dirty="0"/>
          </a:p>
        </p:txBody>
      </p:sp>
      <p:sp>
        <p:nvSpPr>
          <p:cNvPr id="6146" name="Title 1"/>
          <p:cNvSpPr>
            <a:spLocks noGrp="1"/>
          </p:cNvSpPr>
          <p:nvPr>
            <p:ph type="title"/>
          </p:nvPr>
        </p:nvSpPr>
        <p:spPr/>
        <p:txBody>
          <a:bodyPr>
            <a:normAutofit/>
          </a:bodyPr>
          <a:lstStyle/>
          <a:p>
            <a:pPr algn="ctr" eaLnBrk="1" hangingPunct="1"/>
            <a:r>
              <a:rPr lang="en-US" altLang="en-US" dirty="0"/>
              <a:t>Referral Process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1000"/>
                                        <p:tgtEl>
                                          <p:spTgt spid="6146"/>
                                        </p:tgtEl>
                                      </p:cBhvr>
                                    </p:animEffect>
                                    <p:anim calcmode="lin" valueType="num">
                                      <p:cBhvr>
                                        <p:cTn id="8" dur="1000" fill="hold"/>
                                        <p:tgtEl>
                                          <p:spTgt spid="6146"/>
                                        </p:tgtEl>
                                        <p:attrNameLst>
                                          <p:attrName>ppt_x</p:attrName>
                                        </p:attrNameLst>
                                      </p:cBhvr>
                                      <p:tavLst>
                                        <p:tav tm="0">
                                          <p:val>
                                            <p:strVal val="#ppt_x"/>
                                          </p:val>
                                        </p:tav>
                                        <p:tav tm="100000">
                                          <p:val>
                                            <p:strVal val="#ppt_x"/>
                                          </p:val>
                                        </p:tav>
                                      </p:tavLst>
                                    </p:anim>
                                    <p:anim calcmode="lin" valueType="num">
                                      <p:cBhvr>
                                        <p:cTn id="9" dur="1000" fill="hold"/>
                                        <p:tgtEl>
                                          <p:spTgt spid="61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ABFC37-7A44-4386-B7A2-85AEABF7885F}"/>
              </a:ext>
            </a:extLst>
          </p:cNvPr>
          <p:cNvSpPr>
            <a:spLocks noGrp="1"/>
          </p:cNvSpPr>
          <p:nvPr>
            <p:ph idx="1"/>
          </p:nvPr>
        </p:nvSpPr>
        <p:spPr/>
        <p:txBody>
          <a:bodyPr/>
          <a:lstStyle/>
          <a:p>
            <a:r>
              <a:rPr lang="en-US" dirty="0"/>
              <a:t>A CYP will be referred by a health and social care professional that is currently working with the CYP and is aware of their health care needs and understands the remit of CC.</a:t>
            </a:r>
          </a:p>
          <a:p>
            <a:endParaRPr lang="en-US" dirty="0"/>
          </a:p>
          <a:p>
            <a:r>
              <a:rPr lang="en-US" dirty="0"/>
              <a:t>An OHFT referral form which has the consent form incorporated will then be emailed into the CHC service to the generic inbox:</a:t>
            </a:r>
          </a:p>
          <a:p>
            <a:r>
              <a:rPr lang="en-GB" dirty="0">
                <a:hlinkClick r:id="rId3"/>
              </a:rPr>
              <a:t>oxfordhealth.buckschcreferrals@nhs.net</a:t>
            </a:r>
            <a:endParaRPr lang="en-GB" dirty="0"/>
          </a:p>
          <a:p>
            <a:endParaRPr lang="en-GB" dirty="0"/>
          </a:p>
        </p:txBody>
      </p:sp>
      <p:sp>
        <p:nvSpPr>
          <p:cNvPr id="3" name="Title 2">
            <a:extLst>
              <a:ext uri="{FF2B5EF4-FFF2-40B4-BE49-F238E27FC236}">
                <a16:creationId xmlns:a16="http://schemas.microsoft.com/office/drawing/2014/main" id="{2146D6FB-D6E6-4125-95B2-99E843D1E5C9}"/>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75151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arn(inVertic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arn(inVertical)">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884CF6-C5BA-456E-91C2-003D5EAE7288}"/>
              </a:ext>
            </a:extLst>
          </p:cNvPr>
          <p:cNvSpPr>
            <a:spLocks noGrp="1"/>
          </p:cNvSpPr>
          <p:nvPr>
            <p:ph idx="1"/>
          </p:nvPr>
        </p:nvSpPr>
        <p:spPr/>
        <p:txBody>
          <a:bodyPr>
            <a:normAutofit lnSpcReduction="10000"/>
          </a:bodyPr>
          <a:lstStyle/>
          <a:p>
            <a:r>
              <a:rPr lang="en-US" dirty="0"/>
              <a:t>The referral packs contains a Checklist, however the referrer should use this as a guide when considering needs prior to making a referral. </a:t>
            </a:r>
          </a:p>
          <a:p>
            <a:endParaRPr lang="en-US" dirty="0"/>
          </a:p>
          <a:p>
            <a:r>
              <a:rPr lang="en-US" dirty="0"/>
              <a:t>The Checklist should not be completed by the referrer as it may set unrealistic expectations.</a:t>
            </a:r>
          </a:p>
          <a:p>
            <a:endParaRPr lang="en-US" dirty="0"/>
          </a:p>
          <a:p>
            <a:r>
              <a:rPr lang="en-US" dirty="0"/>
              <a:t>The referrer should send in all of the supporting evidence at the time of submitting the referral </a:t>
            </a:r>
            <a:endParaRPr lang="en-GB" dirty="0"/>
          </a:p>
        </p:txBody>
      </p:sp>
      <p:sp>
        <p:nvSpPr>
          <p:cNvPr id="3" name="Title 2">
            <a:extLst>
              <a:ext uri="{FF2B5EF4-FFF2-40B4-BE49-F238E27FC236}">
                <a16:creationId xmlns:a16="http://schemas.microsoft.com/office/drawing/2014/main" id="{0C2209E2-4F05-490E-84A8-E8B5A1F8844F}"/>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4282217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arn(inVertic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arn(inVertical)">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0A314E-DF2B-4F8E-A578-EEBCCFA462DD}"/>
              </a:ext>
            </a:extLst>
          </p:cNvPr>
          <p:cNvSpPr>
            <a:spLocks noGrp="1"/>
          </p:cNvSpPr>
          <p:nvPr>
            <p:ph idx="1"/>
          </p:nvPr>
        </p:nvSpPr>
        <p:spPr/>
        <p:txBody>
          <a:bodyPr/>
          <a:lstStyle/>
          <a:p>
            <a:r>
              <a:rPr lang="en-US" dirty="0"/>
              <a:t>Once a referral has been submitted the OHFT Children’s Nurse Assessor will review the referral and clinical judgement will be made as to whether a formal assessment needs to be completed using the Decision Support Tool (DST), or if a Checklist will be completed.</a:t>
            </a:r>
            <a:endParaRPr lang="en-GB" dirty="0"/>
          </a:p>
        </p:txBody>
      </p:sp>
      <p:sp>
        <p:nvSpPr>
          <p:cNvPr id="3" name="Title 2">
            <a:extLst>
              <a:ext uri="{FF2B5EF4-FFF2-40B4-BE49-F238E27FC236}">
                <a16:creationId xmlns:a16="http://schemas.microsoft.com/office/drawing/2014/main" id="{92582993-CA60-46E8-9BF9-CEA1A3B10FFF}"/>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506024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389221-D823-49E5-8E98-2E9B2B528DA9}"/>
              </a:ext>
            </a:extLst>
          </p:cNvPr>
          <p:cNvSpPr>
            <a:spLocks noGrp="1"/>
          </p:cNvSpPr>
          <p:nvPr>
            <p:ph idx="1"/>
          </p:nvPr>
        </p:nvSpPr>
        <p:spPr/>
        <p:txBody>
          <a:bodyPr/>
          <a:lstStyle/>
          <a:p>
            <a:r>
              <a:rPr lang="en-US" dirty="0"/>
              <a:t>Informed consent must be obtained before the start of the assessment process and it should be made clear to the CYP and/or their representative that consent is being sought for the complete assessment process and for information sharing.</a:t>
            </a:r>
          </a:p>
          <a:p>
            <a:r>
              <a:rPr lang="en-US" dirty="0"/>
              <a:t>For a CYP under 16-year-old parental consent will be obtained. From the age of 16 plus consent will be obtained in line with the Mental Capacity Act. </a:t>
            </a:r>
            <a:endParaRPr lang="en-GB" dirty="0"/>
          </a:p>
        </p:txBody>
      </p:sp>
      <p:sp>
        <p:nvSpPr>
          <p:cNvPr id="3" name="Title 2">
            <a:extLst>
              <a:ext uri="{FF2B5EF4-FFF2-40B4-BE49-F238E27FC236}">
                <a16:creationId xmlns:a16="http://schemas.microsoft.com/office/drawing/2014/main" id="{BE0E0CD0-9665-4C79-B710-F0273A014FD1}"/>
              </a:ext>
            </a:extLst>
          </p:cNvPr>
          <p:cNvSpPr>
            <a:spLocks noGrp="1"/>
          </p:cNvSpPr>
          <p:nvPr>
            <p:ph type="title"/>
          </p:nvPr>
        </p:nvSpPr>
        <p:spPr/>
        <p:txBody>
          <a:bodyPr/>
          <a:lstStyle/>
          <a:p>
            <a:pPr algn="ctr"/>
            <a:r>
              <a:rPr lang="en-US" dirty="0"/>
              <a:t>Consent </a:t>
            </a:r>
            <a:endParaRPr lang="en-GB" dirty="0"/>
          </a:p>
        </p:txBody>
      </p:sp>
    </p:spTree>
    <p:extLst>
      <p:ext uri="{BB962C8B-B14F-4D97-AF65-F5344CB8AC3E}">
        <p14:creationId xmlns:p14="http://schemas.microsoft.com/office/powerpoint/2010/main" val="428282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724DA3-C370-4A78-8472-8093ED7C6EA9}"/>
              </a:ext>
            </a:extLst>
          </p:cNvPr>
          <p:cNvSpPr>
            <a:spLocks noGrp="1"/>
          </p:cNvSpPr>
          <p:nvPr>
            <p:ph idx="1"/>
          </p:nvPr>
        </p:nvSpPr>
        <p:spPr/>
        <p:txBody>
          <a:bodyPr/>
          <a:lstStyle/>
          <a:p>
            <a:endParaRPr lang="en-US" dirty="0"/>
          </a:p>
          <a:p>
            <a:r>
              <a:rPr lang="en-US" dirty="0"/>
              <a:t>Where it is felt that a CYP will not meet the threshold for CC eligibility OHFT Nurse Assessor will populate a </a:t>
            </a:r>
            <a:r>
              <a:rPr lang="en-US" dirty="0">
                <a:solidFill>
                  <a:srgbClr val="FF0000"/>
                </a:solidFill>
              </a:rPr>
              <a:t>triage</a:t>
            </a:r>
            <a:r>
              <a:rPr lang="en-US" dirty="0"/>
              <a:t> </a:t>
            </a:r>
            <a:r>
              <a:rPr lang="en-US" dirty="0">
                <a:solidFill>
                  <a:srgbClr val="FF0000"/>
                </a:solidFill>
              </a:rPr>
              <a:t>Checklist</a:t>
            </a:r>
            <a:r>
              <a:rPr lang="en-US" dirty="0"/>
              <a:t> to map a CYP needs. </a:t>
            </a:r>
          </a:p>
          <a:p>
            <a:endParaRPr lang="en-US" dirty="0"/>
          </a:p>
          <a:p>
            <a:r>
              <a:rPr lang="en-US" dirty="0"/>
              <a:t>The outcome of this will be presented at OHFT Threshold Panel, which meets on a monthly basis.</a:t>
            </a:r>
            <a:endParaRPr lang="en-GB" dirty="0"/>
          </a:p>
        </p:txBody>
      </p:sp>
      <p:sp>
        <p:nvSpPr>
          <p:cNvPr id="3" name="Title 2">
            <a:extLst>
              <a:ext uri="{FF2B5EF4-FFF2-40B4-BE49-F238E27FC236}">
                <a16:creationId xmlns:a16="http://schemas.microsoft.com/office/drawing/2014/main" id="{17B97BCC-94EF-487A-B1FA-FD99D81E9FA1}"/>
              </a:ext>
            </a:extLst>
          </p:cNvPr>
          <p:cNvSpPr>
            <a:spLocks noGrp="1"/>
          </p:cNvSpPr>
          <p:nvPr>
            <p:ph type="title"/>
          </p:nvPr>
        </p:nvSpPr>
        <p:spPr/>
        <p:txBody>
          <a:bodyPr/>
          <a:lstStyle/>
          <a:p>
            <a:pPr algn="ctr"/>
            <a:r>
              <a:rPr lang="en-GB" dirty="0"/>
              <a:t>Assessment process</a:t>
            </a:r>
          </a:p>
        </p:txBody>
      </p:sp>
    </p:spTree>
    <p:extLst>
      <p:ext uri="{BB962C8B-B14F-4D97-AF65-F5344CB8AC3E}">
        <p14:creationId xmlns:p14="http://schemas.microsoft.com/office/powerpoint/2010/main" val="72781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circle(in)">
                                      <p:cBhvr>
                                        <p:cTn id="7" dur="20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circle(in)">
                                      <p:cBhvr>
                                        <p:cTn id="12"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685800" y="1557338"/>
            <a:ext cx="7772400" cy="4538662"/>
          </a:xfrm>
        </p:spPr>
        <p:txBody>
          <a:bodyPr/>
          <a:lstStyle/>
          <a:p>
            <a:r>
              <a:rPr lang="en-US" altLang="en-US" dirty="0"/>
              <a:t>OHFT will aim to make a decision within 6 weeks as reflected in the National Framework. </a:t>
            </a:r>
          </a:p>
          <a:p>
            <a:endParaRPr lang="en-US" altLang="en-US" dirty="0"/>
          </a:p>
          <a:p>
            <a:r>
              <a:rPr lang="en-US" altLang="en-US" dirty="0"/>
              <a:t>Where it is not possible to do so all parties will be notified and kept informed of the anticipated timeline. </a:t>
            </a:r>
          </a:p>
          <a:p>
            <a:endParaRPr lang="en-US" altLang="en-US" dirty="0"/>
          </a:p>
          <a:p>
            <a:r>
              <a:rPr lang="en-US" altLang="en-US" dirty="0"/>
              <a:t>The draft DST or Checklist the case will be presented to an OHFT threshold Panel.</a:t>
            </a:r>
            <a:endParaRPr lang="en-GB" altLang="en-US" dirty="0"/>
          </a:p>
        </p:txBody>
      </p:sp>
      <p:sp>
        <p:nvSpPr>
          <p:cNvPr id="7170" name="Rectangle 2"/>
          <p:cNvSpPr>
            <a:spLocks noGrp="1" noChangeArrowheads="1"/>
          </p:cNvSpPr>
          <p:nvPr>
            <p:ph type="title"/>
          </p:nvPr>
        </p:nvSpPr>
        <p:spPr/>
        <p:txBody>
          <a:bodyPr/>
          <a:lstStyle/>
          <a:p>
            <a:pPr algn="ctr"/>
            <a:r>
              <a:rPr lang="en-GB" altLang="en-US" dirty="0">
                <a:solidFill>
                  <a:srgbClr val="FF0000"/>
                </a:solidFill>
              </a:rPr>
              <a:t> Decision Making process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wipe(down)">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barn(inVertical)">
                                      <p:cBhvr>
                                        <p:cTn id="12" dur="5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animEffect transition="in" filter="wipe(down)">
                                      <p:cBhvr>
                                        <p:cTn id="17" dur="5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5994F9-17E5-458E-AFDF-4403F1C420DC}"/>
              </a:ext>
            </a:extLst>
          </p:cNvPr>
          <p:cNvSpPr>
            <a:spLocks noGrp="1"/>
          </p:cNvSpPr>
          <p:nvPr>
            <p:ph idx="1"/>
          </p:nvPr>
        </p:nvSpPr>
        <p:spPr/>
        <p:txBody>
          <a:bodyPr/>
          <a:lstStyle/>
          <a:p>
            <a:r>
              <a:rPr lang="en-US" dirty="0"/>
              <a:t>Held monthly and chaired by OHFT on behalf of BCCG</a:t>
            </a:r>
          </a:p>
          <a:p>
            <a:r>
              <a:rPr lang="en-US" dirty="0"/>
              <a:t>Independent, multi-disciplinary panel</a:t>
            </a:r>
          </a:p>
          <a:p>
            <a:r>
              <a:rPr lang="en-US" dirty="0"/>
              <a:t>Eligibility decision making panel</a:t>
            </a:r>
          </a:p>
          <a:p>
            <a:r>
              <a:rPr lang="en-GB" dirty="0"/>
              <a:t>Terms Of Reference</a:t>
            </a:r>
          </a:p>
        </p:txBody>
      </p:sp>
      <p:sp>
        <p:nvSpPr>
          <p:cNvPr id="3" name="Title 2">
            <a:extLst>
              <a:ext uri="{FF2B5EF4-FFF2-40B4-BE49-F238E27FC236}">
                <a16:creationId xmlns:a16="http://schemas.microsoft.com/office/drawing/2014/main" id="{0DEB7AD1-8C42-47CF-BF10-E6CDFDD9E652}"/>
              </a:ext>
            </a:extLst>
          </p:cNvPr>
          <p:cNvSpPr>
            <a:spLocks noGrp="1"/>
          </p:cNvSpPr>
          <p:nvPr>
            <p:ph type="title"/>
          </p:nvPr>
        </p:nvSpPr>
        <p:spPr/>
        <p:txBody>
          <a:bodyPr/>
          <a:lstStyle/>
          <a:p>
            <a:r>
              <a:rPr lang="en-US" dirty="0"/>
              <a:t>Children’s Threshold Panel</a:t>
            </a:r>
            <a:endParaRPr lang="en-GB" dirty="0"/>
          </a:p>
        </p:txBody>
      </p:sp>
    </p:spTree>
    <p:extLst>
      <p:ext uri="{BB962C8B-B14F-4D97-AF65-F5344CB8AC3E}">
        <p14:creationId xmlns:p14="http://schemas.microsoft.com/office/powerpoint/2010/main" val="552839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B05A9B-8214-4637-AEF4-AF1A5A9B8CF2}"/>
              </a:ext>
            </a:extLst>
          </p:cNvPr>
          <p:cNvSpPr>
            <a:spLocks noGrp="1"/>
          </p:cNvSpPr>
          <p:nvPr>
            <p:ph idx="1"/>
          </p:nvPr>
        </p:nvSpPr>
        <p:spPr/>
        <p:txBody>
          <a:bodyPr/>
          <a:lstStyle/>
          <a:p>
            <a:r>
              <a:rPr lang="en-US" dirty="0"/>
              <a:t>Chaired by OHFT senior nurse/manager on behalf of BCCG</a:t>
            </a:r>
          </a:p>
          <a:p>
            <a:r>
              <a:rPr lang="en-US" dirty="0"/>
              <a:t>Nominated Representative from BCC Children’s Team</a:t>
            </a:r>
          </a:p>
          <a:p>
            <a:r>
              <a:rPr lang="en-US" dirty="0"/>
              <a:t>Nominated Medical Representative</a:t>
            </a:r>
          </a:p>
          <a:p>
            <a:r>
              <a:rPr lang="en-US" dirty="0"/>
              <a:t>Continuing Care Assessors</a:t>
            </a:r>
          </a:p>
          <a:p>
            <a:endParaRPr lang="en-US" dirty="0"/>
          </a:p>
          <a:p>
            <a:r>
              <a:rPr lang="en-US" dirty="0"/>
              <a:t>Attendance by invitation</a:t>
            </a:r>
          </a:p>
          <a:p>
            <a:r>
              <a:rPr lang="en-US" dirty="0"/>
              <a:t>Observers agreed in advance with the Chair</a:t>
            </a:r>
            <a:endParaRPr lang="en-GB" dirty="0"/>
          </a:p>
        </p:txBody>
      </p:sp>
      <p:sp>
        <p:nvSpPr>
          <p:cNvPr id="3" name="Title 2">
            <a:extLst>
              <a:ext uri="{FF2B5EF4-FFF2-40B4-BE49-F238E27FC236}">
                <a16:creationId xmlns:a16="http://schemas.microsoft.com/office/drawing/2014/main" id="{01CD7DD3-738A-43AC-A92E-EEBEBC4F4AA7}"/>
              </a:ext>
            </a:extLst>
          </p:cNvPr>
          <p:cNvSpPr>
            <a:spLocks noGrp="1"/>
          </p:cNvSpPr>
          <p:nvPr>
            <p:ph type="title"/>
          </p:nvPr>
        </p:nvSpPr>
        <p:spPr/>
        <p:txBody>
          <a:bodyPr/>
          <a:lstStyle/>
          <a:p>
            <a:r>
              <a:rPr lang="en-US" dirty="0"/>
              <a:t>Panel membership</a:t>
            </a:r>
            <a:endParaRPr lang="en-GB" dirty="0"/>
          </a:p>
        </p:txBody>
      </p:sp>
    </p:spTree>
    <p:extLst>
      <p:ext uri="{BB962C8B-B14F-4D97-AF65-F5344CB8AC3E}">
        <p14:creationId xmlns:p14="http://schemas.microsoft.com/office/powerpoint/2010/main" val="256277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8F5DED-ED9A-4E59-8AD3-93723303A7B7}"/>
              </a:ext>
            </a:extLst>
          </p:cNvPr>
          <p:cNvSpPr>
            <a:spLocks noGrp="1"/>
          </p:cNvSpPr>
          <p:nvPr>
            <p:ph idx="1"/>
          </p:nvPr>
        </p:nvSpPr>
        <p:spPr/>
        <p:txBody>
          <a:bodyPr>
            <a:normAutofit lnSpcReduction="10000"/>
          </a:bodyPr>
          <a:lstStyle/>
          <a:p>
            <a:r>
              <a:rPr lang="en-US" dirty="0"/>
              <a:t>Verbal feedback to families</a:t>
            </a:r>
          </a:p>
          <a:p>
            <a:r>
              <a:rPr lang="en-US" dirty="0"/>
              <a:t>Letters sent to families with panel decisions</a:t>
            </a:r>
          </a:p>
          <a:p>
            <a:r>
              <a:rPr lang="en-US" dirty="0"/>
              <a:t>Minutes sent to families and to panel members</a:t>
            </a:r>
          </a:p>
          <a:p>
            <a:r>
              <a:rPr lang="en-US" dirty="0"/>
              <a:t>Care prescription written by nurse assessor and funding requests made for proposed package</a:t>
            </a:r>
          </a:p>
          <a:p>
            <a:r>
              <a:rPr lang="en-US" dirty="0"/>
              <a:t>PHB request made</a:t>
            </a:r>
          </a:p>
          <a:p>
            <a:r>
              <a:rPr lang="en-US" dirty="0"/>
              <a:t>Brokerage identify appropriate provider once funding agreed (either for interim package until PHB is set up or long term package)</a:t>
            </a:r>
          </a:p>
          <a:p>
            <a:endParaRPr lang="en-GB" dirty="0"/>
          </a:p>
        </p:txBody>
      </p:sp>
      <p:sp>
        <p:nvSpPr>
          <p:cNvPr id="3" name="Title 2">
            <a:extLst>
              <a:ext uri="{FF2B5EF4-FFF2-40B4-BE49-F238E27FC236}">
                <a16:creationId xmlns:a16="http://schemas.microsoft.com/office/drawing/2014/main" id="{A390B184-203A-467E-B37C-FF2874146E58}"/>
              </a:ext>
            </a:extLst>
          </p:cNvPr>
          <p:cNvSpPr>
            <a:spLocks noGrp="1"/>
          </p:cNvSpPr>
          <p:nvPr>
            <p:ph type="title"/>
          </p:nvPr>
        </p:nvSpPr>
        <p:spPr/>
        <p:txBody>
          <a:bodyPr/>
          <a:lstStyle/>
          <a:p>
            <a:r>
              <a:rPr lang="en-US" dirty="0"/>
              <a:t>After Panel</a:t>
            </a:r>
            <a:endParaRPr lang="en-GB" dirty="0"/>
          </a:p>
        </p:txBody>
      </p:sp>
    </p:spTree>
    <p:extLst>
      <p:ext uri="{BB962C8B-B14F-4D97-AF65-F5344CB8AC3E}">
        <p14:creationId xmlns:p14="http://schemas.microsoft.com/office/powerpoint/2010/main" val="3276764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p:txBody>
          <a:bodyPr/>
          <a:lstStyle/>
          <a:p>
            <a:endParaRPr lang="en-US" altLang="en-US" dirty="0"/>
          </a:p>
          <a:p>
            <a:r>
              <a:rPr lang="en-US" altLang="en-US" dirty="0"/>
              <a:t>The decision will be communicated to the CYP and/or their family/representative within 5 working days, this may be initially given as verbal feedback which will then be followed up with a letter explaining the reasons for the decision. </a:t>
            </a:r>
          </a:p>
          <a:p>
            <a:r>
              <a:rPr lang="en-US" altLang="en-US" dirty="0"/>
              <a:t>Panel minutes will also be shared with the CYP and/or their family/representative </a:t>
            </a:r>
            <a:endParaRPr lang="en-GB" altLang="en-US" dirty="0"/>
          </a:p>
        </p:txBody>
      </p:sp>
      <p:sp>
        <p:nvSpPr>
          <p:cNvPr id="8194" name="Rectangle 2"/>
          <p:cNvSpPr>
            <a:spLocks noGrp="1" noChangeArrowheads="1"/>
          </p:cNvSpPr>
          <p:nvPr>
            <p:ph type="title"/>
          </p:nvPr>
        </p:nvSpPr>
        <p:spPr/>
        <p:txBody>
          <a:bodyPr/>
          <a:lstStyle/>
          <a:p>
            <a:r>
              <a:rPr lang="en-GB" altLang="en-US" dirty="0">
                <a:solidFill>
                  <a:srgbClr val="FF0000"/>
                </a:solidFill>
              </a:rPr>
              <a:t>Communication of Outcome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anim calcmode="lin" valueType="num">
                                      <p:cBhvr additive="base">
                                        <p:cTn id="7"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 calcmode="lin" valueType="num">
                                      <p:cBhvr additive="base">
                                        <p:cTn id="13"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F9B8E4-41B9-4EAA-979C-2423FA643A95}"/>
              </a:ext>
            </a:extLst>
          </p:cNvPr>
          <p:cNvSpPr>
            <a:spLocks noGrp="1"/>
          </p:cNvSpPr>
          <p:nvPr>
            <p:ph idx="1"/>
          </p:nvPr>
        </p:nvSpPr>
        <p:spPr/>
        <p:txBody>
          <a:bodyPr>
            <a:normAutofit fontScale="92500" lnSpcReduction="10000"/>
          </a:bodyPr>
          <a:lstStyle/>
          <a:p>
            <a:r>
              <a:rPr lang="en-US" dirty="0"/>
              <a:t>CCG to decide what contribute it will make</a:t>
            </a:r>
          </a:p>
          <a:p>
            <a:r>
              <a:rPr lang="en-US" dirty="0"/>
              <a:t>Usually joint package that will include social care and education</a:t>
            </a:r>
          </a:p>
          <a:p>
            <a:pPr marL="109728" indent="0">
              <a:buNone/>
            </a:pPr>
            <a:endParaRPr lang="en-US" dirty="0"/>
          </a:p>
          <a:p>
            <a:r>
              <a:rPr lang="en-US" dirty="0"/>
              <a:t>Support at home </a:t>
            </a:r>
          </a:p>
          <a:p>
            <a:r>
              <a:rPr lang="en-US" dirty="0"/>
              <a:t>Buildings based respite </a:t>
            </a:r>
          </a:p>
          <a:p>
            <a:r>
              <a:rPr lang="en-US" dirty="0"/>
              <a:t>Residential Placement </a:t>
            </a:r>
          </a:p>
          <a:p>
            <a:endParaRPr lang="en-US" dirty="0">
              <a:solidFill>
                <a:srgbClr val="FF0000"/>
              </a:solidFill>
            </a:endParaRPr>
          </a:p>
          <a:p>
            <a:r>
              <a:rPr lang="en-US" dirty="0"/>
              <a:t>Care will be commissioned from providers that are registered with the Care Quality Commission and are compliant with their regulations. </a:t>
            </a:r>
            <a:endParaRPr lang="en-GB" dirty="0"/>
          </a:p>
        </p:txBody>
      </p:sp>
      <p:sp>
        <p:nvSpPr>
          <p:cNvPr id="3" name="Title 2">
            <a:extLst>
              <a:ext uri="{FF2B5EF4-FFF2-40B4-BE49-F238E27FC236}">
                <a16:creationId xmlns:a16="http://schemas.microsoft.com/office/drawing/2014/main" id="{D2941504-442C-4AD8-B9BD-C8297CB37968}"/>
              </a:ext>
            </a:extLst>
          </p:cNvPr>
          <p:cNvSpPr>
            <a:spLocks noGrp="1"/>
          </p:cNvSpPr>
          <p:nvPr>
            <p:ph type="title"/>
          </p:nvPr>
        </p:nvSpPr>
        <p:spPr/>
        <p:txBody>
          <a:bodyPr/>
          <a:lstStyle/>
          <a:p>
            <a:pPr algn="ctr"/>
            <a:r>
              <a:rPr lang="en-US" dirty="0">
                <a:solidFill>
                  <a:srgbClr val="FF0000"/>
                </a:solidFill>
              </a:rPr>
              <a:t>Commissioning Provision </a:t>
            </a:r>
            <a:endParaRPr lang="en-GB" dirty="0">
              <a:solidFill>
                <a:srgbClr val="FF0000"/>
              </a:solidFill>
            </a:endParaRPr>
          </a:p>
        </p:txBody>
      </p:sp>
    </p:spTree>
    <p:extLst>
      <p:ext uri="{BB962C8B-B14F-4D97-AF65-F5344CB8AC3E}">
        <p14:creationId xmlns:p14="http://schemas.microsoft.com/office/powerpoint/2010/main" val="585940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fade">
                                      <p:cBhvr>
                                        <p:cTn id="13" dur="500"/>
                                        <p:tgtEl>
                                          <p:spTgt spid="2">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 calcmode="lin" valueType="num">
                                      <p:cBhvr additive="base">
                                        <p:cTn id="18"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 calcmode="lin" valueType="num">
                                      <p:cBhvr additive="base">
                                        <p:cTn id="24"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 calcmode="lin" valueType="num">
                                      <p:cBhvr additive="base">
                                        <p:cTn id="30"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 calcmode="lin" valueType="num">
                                      <p:cBhvr additive="base">
                                        <p:cTn id="36"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880B1D-BA2C-4C8A-A70E-FA0576732F09}"/>
              </a:ext>
            </a:extLst>
          </p:cNvPr>
          <p:cNvSpPr>
            <a:spLocks noGrp="1"/>
          </p:cNvSpPr>
          <p:nvPr>
            <p:ph idx="1"/>
          </p:nvPr>
        </p:nvSpPr>
        <p:spPr/>
        <p:txBody>
          <a:bodyPr/>
          <a:lstStyle/>
          <a:p>
            <a:endParaRPr lang="en-US" dirty="0"/>
          </a:p>
          <a:p>
            <a:r>
              <a:rPr lang="en-US" dirty="0"/>
              <a:t>CCHAT – domiciliary based care</a:t>
            </a:r>
          </a:p>
          <a:p>
            <a:pPr marL="109728" indent="0">
              <a:buNone/>
            </a:pPr>
            <a:endParaRPr lang="en-US" dirty="0"/>
          </a:p>
          <a:p>
            <a:r>
              <a:rPr lang="en-US" dirty="0"/>
              <a:t>Tripartite arrangement (Complex Needs Panel) for CYP who require a residential placement </a:t>
            </a:r>
            <a:endParaRPr lang="en-GB" dirty="0"/>
          </a:p>
        </p:txBody>
      </p:sp>
      <p:sp>
        <p:nvSpPr>
          <p:cNvPr id="3" name="Title 2">
            <a:extLst>
              <a:ext uri="{FF2B5EF4-FFF2-40B4-BE49-F238E27FC236}">
                <a16:creationId xmlns:a16="http://schemas.microsoft.com/office/drawing/2014/main" id="{345B445E-03D5-4CA4-82AD-B9D58B536E86}"/>
              </a:ext>
            </a:extLst>
          </p:cNvPr>
          <p:cNvSpPr>
            <a:spLocks noGrp="1"/>
          </p:cNvSpPr>
          <p:nvPr>
            <p:ph type="title"/>
          </p:nvPr>
        </p:nvSpPr>
        <p:spPr/>
        <p:txBody>
          <a:bodyPr>
            <a:normAutofit fontScale="90000"/>
          </a:bodyPr>
          <a:lstStyle/>
          <a:p>
            <a:pPr algn="ctr"/>
            <a:r>
              <a:rPr lang="en-US" sz="4400" dirty="0">
                <a:solidFill>
                  <a:srgbClr val="FF0000"/>
                </a:solidFill>
              </a:rPr>
              <a:t>Resource Allocation Tools</a:t>
            </a:r>
            <a:br>
              <a:rPr lang="en-US" dirty="0"/>
            </a:br>
            <a:endParaRPr lang="en-GB" dirty="0"/>
          </a:p>
        </p:txBody>
      </p:sp>
    </p:spTree>
    <p:extLst>
      <p:ext uri="{BB962C8B-B14F-4D97-AF65-F5344CB8AC3E}">
        <p14:creationId xmlns:p14="http://schemas.microsoft.com/office/powerpoint/2010/main" val="138570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BAA4E1-7DE6-47DC-BFBA-387A22AB40F6}"/>
              </a:ext>
            </a:extLst>
          </p:cNvPr>
          <p:cNvSpPr>
            <a:spLocks noGrp="1"/>
          </p:cNvSpPr>
          <p:nvPr>
            <p:ph idx="1"/>
          </p:nvPr>
        </p:nvSpPr>
        <p:spPr/>
        <p:txBody>
          <a:bodyPr/>
          <a:lstStyle/>
          <a:p>
            <a:r>
              <a:rPr lang="en-US" dirty="0"/>
              <a:t>OHFT will arrange the provision of care in a manner which reflects the choice and preferences of individuals but balances the need for OHFT to arrange care that is safe and effective and makes best use of resources. </a:t>
            </a:r>
          </a:p>
          <a:p>
            <a:r>
              <a:rPr lang="en-US" dirty="0"/>
              <a:t>Following the principles of the CCG’s CHC Equity and Choice Policy.</a:t>
            </a:r>
            <a:endParaRPr lang="en-GB" dirty="0"/>
          </a:p>
        </p:txBody>
      </p:sp>
      <p:sp>
        <p:nvSpPr>
          <p:cNvPr id="3" name="Title 2">
            <a:extLst>
              <a:ext uri="{FF2B5EF4-FFF2-40B4-BE49-F238E27FC236}">
                <a16:creationId xmlns:a16="http://schemas.microsoft.com/office/drawing/2014/main" id="{43FAD72D-21DB-4A8C-850F-1B1C135A5FEA}"/>
              </a:ext>
            </a:extLst>
          </p:cNvPr>
          <p:cNvSpPr>
            <a:spLocks noGrp="1"/>
          </p:cNvSpPr>
          <p:nvPr>
            <p:ph type="title"/>
          </p:nvPr>
        </p:nvSpPr>
        <p:spPr/>
        <p:txBody>
          <a:bodyPr/>
          <a:lstStyle/>
          <a:p>
            <a:pPr algn="ctr"/>
            <a:r>
              <a:rPr lang="en-GB" dirty="0">
                <a:solidFill>
                  <a:srgbClr val="FF0000"/>
                </a:solidFill>
              </a:rPr>
              <a:t>Equity and Choice Policy</a:t>
            </a:r>
          </a:p>
        </p:txBody>
      </p:sp>
    </p:spTree>
    <p:extLst>
      <p:ext uri="{BB962C8B-B14F-4D97-AF65-F5344CB8AC3E}">
        <p14:creationId xmlns:p14="http://schemas.microsoft.com/office/powerpoint/2010/main" val="73887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1"/>
          </p:nvPr>
        </p:nvSpPr>
        <p:spPr/>
        <p:txBody>
          <a:bodyPr/>
          <a:lstStyle/>
          <a:p>
            <a:pPr eaLnBrk="1" hangingPunct="1">
              <a:defRPr/>
            </a:pPr>
            <a:r>
              <a:rPr lang="en-US" altLang="en-US" dirty="0"/>
              <a:t>3/12 and then annual </a:t>
            </a:r>
          </a:p>
          <a:p>
            <a:pPr eaLnBrk="1" hangingPunct="1">
              <a:defRPr/>
            </a:pPr>
            <a:endParaRPr lang="en-US" altLang="en-US" dirty="0"/>
          </a:p>
          <a:p>
            <a:pPr eaLnBrk="1" hangingPunct="1">
              <a:defRPr/>
            </a:pPr>
            <a:r>
              <a:rPr lang="en-US" altLang="en-US" dirty="0"/>
              <a:t>DST will be completed in the same way that the initial assessment took place </a:t>
            </a:r>
            <a:endParaRPr lang="en-GB" altLang="en-US" dirty="0"/>
          </a:p>
        </p:txBody>
      </p:sp>
      <p:sp>
        <p:nvSpPr>
          <p:cNvPr id="11266" name="Title 1"/>
          <p:cNvSpPr>
            <a:spLocks noGrp="1"/>
          </p:cNvSpPr>
          <p:nvPr>
            <p:ph type="title"/>
          </p:nvPr>
        </p:nvSpPr>
        <p:spPr/>
        <p:txBody>
          <a:bodyPr/>
          <a:lstStyle/>
          <a:p>
            <a:pPr algn="ctr" eaLnBrk="1" hangingPunct="1"/>
            <a:r>
              <a:rPr lang="en-GB" altLang="en-US" dirty="0">
                <a:solidFill>
                  <a:srgbClr val="FF0000"/>
                </a:solidFill>
              </a:rPr>
              <a:t>Reviews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5">
                                            <p:txEl>
                                              <p:pRg st="0" end="0"/>
                                            </p:txEl>
                                          </p:spTgt>
                                        </p:tgtEl>
                                        <p:attrNameLst>
                                          <p:attrName>style.visibility</p:attrName>
                                        </p:attrNameLst>
                                      </p:cBhvr>
                                      <p:to>
                                        <p:strVal val="visible"/>
                                      </p:to>
                                    </p:set>
                                    <p:anim calcmode="lin" valueType="num">
                                      <p:cBhvr additive="base">
                                        <p:cTn id="13"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P spid="1126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09559E-468D-4658-A91B-308D0670CEBA}"/>
              </a:ext>
            </a:extLst>
          </p:cNvPr>
          <p:cNvSpPr>
            <a:spLocks noGrp="1"/>
          </p:cNvSpPr>
          <p:nvPr>
            <p:ph idx="1"/>
          </p:nvPr>
        </p:nvSpPr>
        <p:spPr/>
        <p:txBody>
          <a:bodyPr/>
          <a:lstStyle/>
          <a:p>
            <a:r>
              <a:rPr lang="en-US" dirty="0"/>
              <a:t>Following a review if the CYP no longer meets the criteria for Continuing Care 28 days notice will be given to allow the Local Authority  to make appropriate provision</a:t>
            </a:r>
          </a:p>
          <a:p>
            <a:endParaRPr lang="en-US" dirty="0"/>
          </a:p>
          <a:p>
            <a:r>
              <a:rPr lang="en-US" dirty="0"/>
              <a:t>The parents will be notified in writing and the 28 days will be from the date of the letter. </a:t>
            </a:r>
            <a:endParaRPr lang="en-GB" dirty="0"/>
          </a:p>
        </p:txBody>
      </p:sp>
      <p:sp>
        <p:nvSpPr>
          <p:cNvPr id="3" name="Title 2">
            <a:extLst>
              <a:ext uri="{FF2B5EF4-FFF2-40B4-BE49-F238E27FC236}">
                <a16:creationId xmlns:a16="http://schemas.microsoft.com/office/drawing/2014/main" id="{76CFAED9-E75F-4C7D-9CF7-2ED4D769629E}"/>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464168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1000"/>
                                        <p:tgtEl>
                                          <p:spTgt spid="2">
                                            <p:txEl>
                                              <p:pRg st="2" end="2"/>
                                            </p:txEl>
                                          </p:spTgt>
                                        </p:tgtEl>
                                      </p:cBhvr>
                                    </p:animEffect>
                                    <p:anim calcmode="lin" valueType="num">
                                      <p:cBhvr>
                                        <p:cTn id="1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1CBC7D-2908-45C7-8CAC-5318B73424C9}"/>
              </a:ext>
            </a:extLst>
          </p:cNvPr>
          <p:cNvSpPr>
            <a:spLocks noGrp="1"/>
          </p:cNvSpPr>
          <p:nvPr>
            <p:ph idx="1"/>
          </p:nvPr>
        </p:nvSpPr>
        <p:spPr/>
        <p:txBody>
          <a:bodyPr>
            <a:normAutofit lnSpcReduction="10000"/>
          </a:bodyPr>
          <a:lstStyle/>
          <a:p>
            <a:r>
              <a:rPr lang="en-US" dirty="0"/>
              <a:t>Local appeals process</a:t>
            </a:r>
          </a:p>
          <a:p>
            <a:r>
              <a:rPr lang="en-US" dirty="0"/>
              <a:t>3 months following Outcome Letter </a:t>
            </a:r>
          </a:p>
          <a:p>
            <a:r>
              <a:rPr lang="en-US" dirty="0"/>
              <a:t>Reasons for appeal (written submission)</a:t>
            </a:r>
          </a:p>
          <a:p>
            <a:pPr marL="109728" indent="0">
              <a:buNone/>
            </a:pPr>
            <a:r>
              <a:rPr lang="en-US" dirty="0"/>
              <a:t>            Processed flawed</a:t>
            </a:r>
          </a:p>
          <a:p>
            <a:pPr marL="109728" indent="0">
              <a:buNone/>
            </a:pPr>
            <a:r>
              <a:rPr lang="en-US" dirty="0"/>
              <a:t>            Criteria misapplied </a:t>
            </a:r>
          </a:p>
          <a:p>
            <a:pPr marL="109728" indent="0">
              <a:buNone/>
            </a:pPr>
            <a:endParaRPr lang="en-US" dirty="0"/>
          </a:p>
          <a:p>
            <a:pPr marL="109728" indent="0">
              <a:buNone/>
            </a:pPr>
            <a:r>
              <a:rPr lang="en-US" dirty="0"/>
              <a:t>No regional NHSE process for CYP </a:t>
            </a:r>
          </a:p>
          <a:p>
            <a:pPr marL="109728" indent="0">
              <a:buNone/>
            </a:pPr>
            <a:r>
              <a:rPr lang="en-US" dirty="0"/>
              <a:t>If remains unsatisfied – </a:t>
            </a:r>
          </a:p>
          <a:p>
            <a:pPr marL="109728" indent="0">
              <a:buNone/>
            </a:pPr>
            <a:r>
              <a:rPr lang="en-US" dirty="0"/>
              <a:t>                    Complaints process </a:t>
            </a:r>
          </a:p>
          <a:p>
            <a:pPr marL="109728" indent="0">
              <a:buNone/>
            </a:pPr>
            <a:r>
              <a:rPr lang="en-US" dirty="0"/>
              <a:t>                    PHSO </a:t>
            </a:r>
            <a:endParaRPr lang="en-GB" dirty="0"/>
          </a:p>
        </p:txBody>
      </p:sp>
      <p:sp>
        <p:nvSpPr>
          <p:cNvPr id="3" name="Title 2">
            <a:extLst>
              <a:ext uri="{FF2B5EF4-FFF2-40B4-BE49-F238E27FC236}">
                <a16:creationId xmlns:a16="http://schemas.microsoft.com/office/drawing/2014/main" id="{55F4FC09-5F16-4730-8625-37D8674C33C8}"/>
              </a:ext>
            </a:extLst>
          </p:cNvPr>
          <p:cNvSpPr>
            <a:spLocks noGrp="1"/>
          </p:cNvSpPr>
          <p:nvPr>
            <p:ph type="title"/>
          </p:nvPr>
        </p:nvSpPr>
        <p:spPr/>
        <p:txBody>
          <a:bodyPr/>
          <a:lstStyle/>
          <a:p>
            <a:pPr algn="ctr"/>
            <a:r>
              <a:rPr lang="en-US" dirty="0">
                <a:solidFill>
                  <a:srgbClr val="FF0000"/>
                </a:solidFill>
              </a:rPr>
              <a:t>Appeals </a:t>
            </a:r>
            <a:endParaRPr lang="en-GB" dirty="0">
              <a:solidFill>
                <a:srgbClr val="FF0000"/>
              </a:solidFill>
            </a:endParaRPr>
          </a:p>
        </p:txBody>
      </p:sp>
    </p:spTree>
    <p:extLst>
      <p:ext uri="{BB962C8B-B14F-4D97-AF65-F5344CB8AC3E}">
        <p14:creationId xmlns:p14="http://schemas.microsoft.com/office/powerpoint/2010/main" val="3900663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1000"/>
                                        <p:tgtEl>
                                          <p:spTgt spid="2">
                                            <p:txEl>
                                              <p:pRg st="2" end="2"/>
                                            </p:txEl>
                                          </p:spTgt>
                                        </p:tgtEl>
                                      </p:cBhvr>
                                    </p:animEffect>
                                    <p:anim calcmode="lin" valueType="num">
                                      <p:cBhvr>
                                        <p:cTn id="1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1000"/>
                                        <p:tgtEl>
                                          <p:spTgt spid="2">
                                            <p:txEl>
                                              <p:pRg st="3" end="3"/>
                                            </p:txEl>
                                          </p:spTgt>
                                        </p:tgtEl>
                                      </p:cBhvr>
                                    </p:animEffect>
                                    <p:anim calcmode="lin" valueType="num">
                                      <p:cBhvr>
                                        <p:cTn id="2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1000"/>
                                        <p:tgtEl>
                                          <p:spTgt spid="2">
                                            <p:txEl>
                                              <p:pRg st="4" end="4"/>
                                            </p:txEl>
                                          </p:spTgt>
                                        </p:tgtEl>
                                      </p:cBhvr>
                                    </p:animEffect>
                                    <p:anim calcmode="lin" valueType="num">
                                      <p:cBhvr>
                                        <p:cTn id="2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fade">
                                      <p:cBhvr>
                                        <p:cTn id="34" dur="1000"/>
                                        <p:tgtEl>
                                          <p:spTgt spid="2">
                                            <p:txEl>
                                              <p:pRg st="6" end="6"/>
                                            </p:txEl>
                                          </p:spTgt>
                                        </p:tgtEl>
                                      </p:cBhvr>
                                    </p:animEffect>
                                    <p:anim calcmode="lin" valueType="num">
                                      <p:cBhvr>
                                        <p:cTn id="3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animEffect transition="in" filter="fade">
                                      <p:cBhvr>
                                        <p:cTn id="39" dur="1000"/>
                                        <p:tgtEl>
                                          <p:spTgt spid="2">
                                            <p:txEl>
                                              <p:pRg st="7" end="7"/>
                                            </p:txEl>
                                          </p:spTgt>
                                        </p:tgtEl>
                                      </p:cBhvr>
                                    </p:animEffect>
                                    <p:anim calcmode="lin" valueType="num">
                                      <p:cBhvr>
                                        <p:cTn id="40"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
                                            <p:txEl>
                                              <p:pRg st="8" end="8"/>
                                            </p:txEl>
                                          </p:spTgt>
                                        </p:tgtEl>
                                        <p:attrNameLst>
                                          <p:attrName>style.visibility</p:attrName>
                                        </p:attrNameLst>
                                      </p:cBhvr>
                                      <p:to>
                                        <p:strVal val="visible"/>
                                      </p:to>
                                    </p:set>
                                    <p:animEffect transition="in" filter="fade">
                                      <p:cBhvr>
                                        <p:cTn id="44" dur="1000"/>
                                        <p:tgtEl>
                                          <p:spTgt spid="2">
                                            <p:txEl>
                                              <p:pRg st="8" end="8"/>
                                            </p:txEl>
                                          </p:spTgt>
                                        </p:tgtEl>
                                      </p:cBhvr>
                                    </p:animEffect>
                                    <p:anim calcmode="lin" valueType="num">
                                      <p:cBhvr>
                                        <p:cTn id="45"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2">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
                                            <p:txEl>
                                              <p:pRg st="9" end="9"/>
                                            </p:txEl>
                                          </p:spTgt>
                                        </p:tgtEl>
                                        <p:attrNameLst>
                                          <p:attrName>style.visibility</p:attrName>
                                        </p:attrNameLst>
                                      </p:cBhvr>
                                      <p:to>
                                        <p:strVal val="visible"/>
                                      </p:to>
                                    </p:set>
                                    <p:animEffect transition="in" filter="fade">
                                      <p:cBhvr>
                                        <p:cTn id="49" dur="1000"/>
                                        <p:tgtEl>
                                          <p:spTgt spid="2">
                                            <p:txEl>
                                              <p:pRg st="9" end="9"/>
                                            </p:txEl>
                                          </p:spTgt>
                                        </p:tgtEl>
                                      </p:cBhvr>
                                    </p:animEffect>
                                    <p:anim calcmode="lin" valueType="num">
                                      <p:cBhvr>
                                        <p:cTn id="50"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p:txBody>
          <a:bodyPr>
            <a:normAutofit/>
          </a:bodyPr>
          <a:lstStyle/>
          <a:p>
            <a:pPr eaLnBrk="1" hangingPunct="1">
              <a:buFontTx/>
              <a:buNone/>
            </a:pPr>
            <a:r>
              <a:rPr lang="en-US" altLang="en-US" dirty="0"/>
              <a:t>CCG complaints are managed via:</a:t>
            </a:r>
          </a:p>
          <a:p>
            <a:pPr eaLnBrk="1" hangingPunct="1">
              <a:buFontTx/>
              <a:buNone/>
            </a:pPr>
            <a:endParaRPr lang="en-GB" altLang="en-US" dirty="0"/>
          </a:p>
          <a:p>
            <a:pPr marL="109728" indent="0">
              <a:buNone/>
            </a:pPr>
            <a:r>
              <a:rPr lang="en-US" altLang="en-US" dirty="0"/>
              <a:t>Jan Westgarth</a:t>
            </a:r>
          </a:p>
          <a:p>
            <a:pPr marL="109728" indent="0">
              <a:buNone/>
            </a:pPr>
            <a:r>
              <a:rPr lang="en-US" altLang="en-US" dirty="0"/>
              <a:t>Complaints Manager, Buckinghamshire CCG</a:t>
            </a:r>
          </a:p>
          <a:p>
            <a:pPr marL="109728" indent="0">
              <a:buNone/>
            </a:pPr>
            <a:r>
              <a:rPr lang="en-US" altLang="en-US" dirty="0"/>
              <a:t>Tel: 07919 </a:t>
            </a:r>
            <a:r>
              <a:rPr lang="en-US" altLang="en-US"/>
              <a:t>553800 </a:t>
            </a:r>
          </a:p>
          <a:p>
            <a:pPr marL="109728" indent="0">
              <a:buNone/>
            </a:pPr>
            <a:r>
              <a:rPr lang="en-US" altLang="en-US" dirty="0"/>
              <a:t>email: jan.westgarth1@nhs.net   </a:t>
            </a:r>
          </a:p>
          <a:p>
            <a:pPr marL="109728" indent="0">
              <a:buNone/>
            </a:pPr>
            <a:r>
              <a:rPr lang="en-US" altLang="en-US" dirty="0"/>
              <a:t>web: https://www.buckinghamshireccg.nhs.uk/</a:t>
            </a:r>
          </a:p>
          <a:p>
            <a:pPr eaLnBrk="1" hangingPunct="1"/>
            <a:endParaRPr lang="en-GB" altLang="en-US" dirty="0"/>
          </a:p>
        </p:txBody>
      </p:sp>
      <p:sp>
        <p:nvSpPr>
          <p:cNvPr id="12290" name="Rectangle 2"/>
          <p:cNvSpPr>
            <a:spLocks noGrp="1" noChangeArrowheads="1"/>
          </p:cNvSpPr>
          <p:nvPr>
            <p:ph type="title"/>
          </p:nvPr>
        </p:nvSpPr>
        <p:spPr/>
        <p:txBody>
          <a:bodyPr/>
          <a:lstStyle/>
          <a:p>
            <a:pPr algn="ctr"/>
            <a:r>
              <a:rPr lang="en-GB" altLang="en-US" dirty="0">
                <a:solidFill>
                  <a:srgbClr val="FF0000"/>
                </a:solidFill>
              </a:rPr>
              <a:t> Complaints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ppt_x"/>
                                          </p:val>
                                        </p:tav>
                                        <p:tav tm="100000">
                                          <p:val>
                                            <p:strVal val="#ppt_x"/>
                                          </p:val>
                                        </p:tav>
                                      </p:tavLst>
                                    </p:anim>
                                    <p:anim calcmode="lin" valueType="num">
                                      <p:cBhvr additive="base">
                                        <p:cTn id="8" dur="500" fill="hold"/>
                                        <p:tgtEl>
                                          <p:spTgt spid="122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2291">
                                            <p:txEl>
                                              <p:pRg st="0" end="0"/>
                                            </p:txEl>
                                          </p:spTgt>
                                        </p:tgtEl>
                                        <p:attrNameLst>
                                          <p:attrName>style.visibility</p:attrName>
                                        </p:attrNameLst>
                                      </p:cBhvr>
                                      <p:to>
                                        <p:strVal val="visible"/>
                                      </p:to>
                                    </p:set>
                                    <p:animEffect transition="in" filter="barn(inVertical)">
                                      <p:cBhvr>
                                        <p:cTn id="13" dur="500"/>
                                        <p:tgtEl>
                                          <p:spTgt spid="1229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2291">
                                            <p:txEl>
                                              <p:pRg st="2" end="2"/>
                                            </p:txEl>
                                          </p:spTgt>
                                        </p:tgtEl>
                                        <p:attrNameLst>
                                          <p:attrName>style.visibility</p:attrName>
                                        </p:attrNameLst>
                                      </p:cBhvr>
                                      <p:to>
                                        <p:strVal val="visible"/>
                                      </p:to>
                                    </p:set>
                                    <p:animEffect transition="in" filter="barn(inVertical)">
                                      <p:cBhvr>
                                        <p:cTn id="18" dur="500"/>
                                        <p:tgtEl>
                                          <p:spTgt spid="1229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2291">
                                            <p:txEl>
                                              <p:pRg st="3" end="3"/>
                                            </p:txEl>
                                          </p:spTgt>
                                        </p:tgtEl>
                                        <p:attrNameLst>
                                          <p:attrName>style.visibility</p:attrName>
                                        </p:attrNameLst>
                                      </p:cBhvr>
                                      <p:to>
                                        <p:strVal val="visible"/>
                                      </p:to>
                                    </p:set>
                                    <p:animEffect transition="in" filter="barn(inVertical)">
                                      <p:cBhvr>
                                        <p:cTn id="23" dur="500"/>
                                        <p:tgtEl>
                                          <p:spTgt spid="1229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12291">
                                            <p:txEl>
                                              <p:pRg st="4" end="4"/>
                                            </p:txEl>
                                          </p:spTgt>
                                        </p:tgtEl>
                                        <p:attrNameLst>
                                          <p:attrName>style.visibility</p:attrName>
                                        </p:attrNameLst>
                                      </p:cBhvr>
                                      <p:to>
                                        <p:strVal val="visible"/>
                                      </p:to>
                                    </p:set>
                                    <p:animEffect transition="in" filter="barn(inVertical)">
                                      <p:cBhvr>
                                        <p:cTn id="28" dur="500"/>
                                        <p:tgtEl>
                                          <p:spTgt spid="12291">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2291">
                                            <p:txEl>
                                              <p:pRg st="5" end="5"/>
                                            </p:txEl>
                                          </p:spTgt>
                                        </p:tgtEl>
                                        <p:attrNameLst>
                                          <p:attrName>style.visibility</p:attrName>
                                        </p:attrNameLst>
                                      </p:cBhvr>
                                      <p:to>
                                        <p:strVal val="visible"/>
                                      </p:to>
                                    </p:set>
                                    <p:animEffect transition="in" filter="barn(inVertical)">
                                      <p:cBhvr>
                                        <p:cTn id="33" dur="500"/>
                                        <p:tgtEl>
                                          <p:spTgt spid="12291">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12291">
                                            <p:txEl>
                                              <p:pRg st="6" end="6"/>
                                            </p:txEl>
                                          </p:spTgt>
                                        </p:tgtEl>
                                        <p:attrNameLst>
                                          <p:attrName>style.visibility</p:attrName>
                                        </p:attrNameLst>
                                      </p:cBhvr>
                                      <p:to>
                                        <p:strVal val="visible"/>
                                      </p:to>
                                    </p:set>
                                    <p:animEffect transition="in" filter="barn(inVertical)">
                                      <p:cBhvr>
                                        <p:cTn id="38" dur="500"/>
                                        <p:tgtEl>
                                          <p:spTgt spid="12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p:txBody>
          <a:bodyPr/>
          <a:lstStyle/>
          <a:p>
            <a:pPr marL="0" indent="0" eaLnBrk="1" hangingPunct="1">
              <a:buFontTx/>
              <a:buNone/>
            </a:pPr>
            <a:endParaRPr lang="en-US" altLang="en-US" dirty="0"/>
          </a:p>
          <a:p>
            <a:pPr marL="0" indent="0">
              <a:buNone/>
            </a:pPr>
            <a:r>
              <a:rPr lang="en-GB" altLang="en-US" dirty="0">
                <a:hlinkClick r:id="rId2"/>
              </a:rPr>
              <a:t>oxfordhealth.buckschcreferrals@nhs.net</a:t>
            </a:r>
            <a:endParaRPr lang="en-GB" altLang="en-US" dirty="0"/>
          </a:p>
          <a:p>
            <a:pPr marL="0" indent="0">
              <a:buNone/>
            </a:pPr>
            <a:endParaRPr lang="en-US" altLang="en-US" dirty="0"/>
          </a:p>
          <a:p>
            <a:pPr marL="0" indent="0">
              <a:buNone/>
            </a:pPr>
            <a:r>
              <a:rPr lang="en-GB" altLang="en-US" dirty="0"/>
              <a:t>Telephone number 01865 902861</a:t>
            </a:r>
          </a:p>
          <a:p>
            <a:pPr marL="0" indent="0">
              <a:buNone/>
            </a:pPr>
            <a:endParaRPr lang="en-US" altLang="en-US" dirty="0"/>
          </a:p>
          <a:p>
            <a:pPr marL="0" indent="0">
              <a:buNone/>
            </a:pPr>
            <a:endParaRPr lang="en-GB" altLang="en-US" dirty="0"/>
          </a:p>
          <a:p>
            <a:pPr marL="0" indent="0">
              <a:buNone/>
            </a:pPr>
            <a:endParaRPr lang="en-GB" altLang="en-US" dirty="0"/>
          </a:p>
          <a:p>
            <a:pPr marL="0" indent="0">
              <a:buNone/>
            </a:pPr>
            <a:endParaRPr lang="en-GB" altLang="en-US" dirty="0"/>
          </a:p>
          <a:p>
            <a:pPr marL="0" indent="0" eaLnBrk="1" hangingPunct="1">
              <a:buFontTx/>
              <a:buNone/>
            </a:pPr>
            <a:endParaRPr lang="en-US" altLang="en-US" dirty="0"/>
          </a:p>
          <a:p>
            <a:pPr marL="0" indent="0" eaLnBrk="1" hangingPunct="1">
              <a:buFontTx/>
              <a:buNone/>
            </a:pPr>
            <a:endParaRPr lang="en-GB" altLang="en-US" dirty="0"/>
          </a:p>
        </p:txBody>
      </p:sp>
      <p:sp>
        <p:nvSpPr>
          <p:cNvPr id="16386" name="Title 1"/>
          <p:cNvSpPr>
            <a:spLocks noGrp="1"/>
          </p:cNvSpPr>
          <p:nvPr>
            <p:ph type="title"/>
          </p:nvPr>
        </p:nvSpPr>
        <p:spPr/>
        <p:txBody>
          <a:bodyPr/>
          <a:lstStyle/>
          <a:p>
            <a:pPr eaLnBrk="1" hangingPunct="1"/>
            <a:r>
              <a:rPr lang="en-GB" altLang="en-US">
                <a:solidFill>
                  <a:srgbClr val="FF0000"/>
                </a:solidFill>
              </a:rPr>
              <a:t>Contact details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B3A7CC-AD0F-43C6-838C-6BDA9E3F3964}"/>
              </a:ext>
            </a:extLst>
          </p:cNvPr>
          <p:cNvSpPr>
            <a:spLocks noGrp="1"/>
          </p:cNvSpPr>
          <p:nvPr>
            <p:ph idx="1"/>
          </p:nvPr>
        </p:nvSpPr>
        <p:spPr/>
        <p:txBody>
          <a:bodyPr>
            <a:normAutofit fontScale="92500" lnSpcReduction="10000"/>
          </a:bodyPr>
          <a:lstStyle/>
          <a:p>
            <a:pPr marL="109728" indent="0" algn="ctr">
              <a:buNone/>
            </a:pPr>
            <a:r>
              <a:rPr lang="en-US" b="1" u="sng" dirty="0"/>
              <a:t>CYP – funded by Continuing Care (CC):</a:t>
            </a:r>
          </a:p>
          <a:p>
            <a:r>
              <a:rPr lang="en-US" dirty="0"/>
              <a:t>The transition process starts when the child is 14 years old</a:t>
            </a:r>
          </a:p>
          <a:p>
            <a:r>
              <a:rPr lang="en-US" dirty="0"/>
              <a:t>At 16-17 years old an adult checklist will be completed, consideration will be given to the MCA</a:t>
            </a:r>
          </a:p>
          <a:p>
            <a:r>
              <a:rPr lang="en-US" dirty="0"/>
              <a:t>The checklist will be completed by OHFT Children’s Team or CHC Nurse Assessor if the CYP is being funded by CC (if the CYP is not known to CC then the professional involved in their care will complete the referral, checklist and consent as appropriate). </a:t>
            </a:r>
            <a:endParaRPr lang="en-GB" dirty="0"/>
          </a:p>
        </p:txBody>
      </p:sp>
      <p:sp>
        <p:nvSpPr>
          <p:cNvPr id="3" name="Title 2">
            <a:extLst>
              <a:ext uri="{FF2B5EF4-FFF2-40B4-BE49-F238E27FC236}">
                <a16:creationId xmlns:a16="http://schemas.microsoft.com/office/drawing/2014/main" id="{975778A2-D86E-4197-95EA-3491EC3AB858}"/>
              </a:ext>
            </a:extLst>
          </p:cNvPr>
          <p:cNvSpPr>
            <a:spLocks noGrp="1"/>
          </p:cNvSpPr>
          <p:nvPr>
            <p:ph type="title"/>
          </p:nvPr>
        </p:nvSpPr>
        <p:spPr/>
        <p:txBody>
          <a:bodyPr>
            <a:normAutofit fontScale="90000"/>
          </a:bodyPr>
          <a:lstStyle/>
          <a:p>
            <a:r>
              <a:rPr lang="en-GB" dirty="0">
                <a:solidFill>
                  <a:srgbClr val="FF0000"/>
                </a:solidFill>
              </a:rPr>
              <a:t>Transition from Children’s Services </a:t>
            </a:r>
          </a:p>
        </p:txBody>
      </p:sp>
    </p:spTree>
    <p:extLst>
      <p:ext uri="{BB962C8B-B14F-4D97-AF65-F5344CB8AC3E}">
        <p14:creationId xmlns:p14="http://schemas.microsoft.com/office/powerpoint/2010/main" val="285495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15350B-C73D-484B-AEEE-B7CDE4E99192}"/>
              </a:ext>
            </a:extLst>
          </p:cNvPr>
          <p:cNvSpPr>
            <a:spLocks noGrp="1"/>
          </p:cNvSpPr>
          <p:nvPr>
            <p:ph idx="1"/>
          </p:nvPr>
        </p:nvSpPr>
        <p:spPr>
          <a:xfrm>
            <a:off x="457200" y="1700808"/>
            <a:ext cx="8229600" cy="4306483"/>
          </a:xfrm>
        </p:spPr>
        <p:txBody>
          <a:bodyPr>
            <a:normAutofit fontScale="77500" lnSpcReduction="20000"/>
          </a:bodyPr>
          <a:lstStyle/>
          <a:p>
            <a:r>
              <a:rPr lang="en-GB" b="1" dirty="0"/>
              <a:t>Breathing</a:t>
            </a:r>
            <a:r>
              <a:rPr lang="en-GB" dirty="0"/>
              <a:t> – referrer scored High - </a:t>
            </a:r>
            <a:r>
              <a:rPr lang="en-US" dirty="0"/>
              <a:t>Requires high flow air / oxygen to maintain respiratory function overnight or for the majority of the day and night; </a:t>
            </a:r>
          </a:p>
          <a:p>
            <a:endParaRPr lang="en-US" dirty="0"/>
          </a:p>
          <a:p>
            <a:r>
              <a:rPr lang="en-US" b="1" dirty="0"/>
              <a:t>Eating and drinking </a:t>
            </a:r>
            <a:r>
              <a:rPr lang="en-US" dirty="0"/>
              <a:t>– referrer scored Severe - The majority of fluids and nutritional requirements are routinely taken by intravenous means.</a:t>
            </a:r>
          </a:p>
          <a:p>
            <a:endParaRPr lang="en-US" dirty="0"/>
          </a:p>
          <a:p>
            <a:r>
              <a:rPr lang="en-US" b="1" dirty="0"/>
              <a:t>Mobility</a:t>
            </a:r>
            <a:r>
              <a:rPr lang="en-US" dirty="0"/>
              <a:t> – referrer scored Severe - Completely immobile and with an unstable clinical condition such that on movement or transfer there is a high risk of serious physical harm;</a:t>
            </a:r>
          </a:p>
          <a:p>
            <a:pPr marL="109728" indent="0">
              <a:buNone/>
            </a:pPr>
            <a:r>
              <a:rPr lang="en-US" dirty="0"/>
              <a:t>or</a:t>
            </a:r>
          </a:p>
          <a:p>
            <a:pPr marL="109728" indent="0">
              <a:buNone/>
            </a:pPr>
            <a:r>
              <a:rPr lang="en-US" dirty="0"/>
              <a:t>   Positioning is critical to physiological functioning or life.</a:t>
            </a:r>
          </a:p>
          <a:p>
            <a:endParaRPr lang="en-GB" dirty="0"/>
          </a:p>
          <a:p>
            <a:endParaRPr lang="en-GB" dirty="0"/>
          </a:p>
        </p:txBody>
      </p:sp>
      <p:sp>
        <p:nvSpPr>
          <p:cNvPr id="3" name="Title 2">
            <a:extLst>
              <a:ext uri="{FF2B5EF4-FFF2-40B4-BE49-F238E27FC236}">
                <a16:creationId xmlns:a16="http://schemas.microsoft.com/office/drawing/2014/main" id="{EE9ADA26-186B-47CD-8DD4-D530D37D6674}"/>
              </a:ext>
            </a:extLst>
          </p:cNvPr>
          <p:cNvSpPr>
            <a:spLocks noGrp="1"/>
          </p:cNvSpPr>
          <p:nvPr>
            <p:ph type="title"/>
          </p:nvPr>
        </p:nvSpPr>
        <p:spPr/>
        <p:txBody>
          <a:bodyPr>
            <a:normAutofit fontScale="90000"/>
          </a:bodyPr>
          <a:lstStyle/>
          <a:p>
            <a:r>
              <a:rPr lang="en-US" dirty="0"/>
              <a:t>Referral A 13yr old male</a:t>
            </a:r>
            <a:br>
              <a:rPr lang="en-US" dirty="0"/>
            </a:br>
            <a:r>
              <a:rPr lang="en-US" sz="2000" dirty="0"/>
              <a:t>Cerebral palsy, scoliosis, fully dependent for all care, gastrostomy fed, occasional chest infections, BiPAP overnight (not dependent), oxygen for emergency use, vitamin D deficient, doubly incontinent</a:t>
            </a:r>
            <a:endParaRPr lang="en-GB" dirty="0"/>
          </a:p>
        </p:txBody>
      </p:sp>
    </p:spTree>
    <p:extLst>
      <p:ext uri="{BB962C8B-B14F-4D97-AF65-F5344CB8AC3E}">
        <p14:creationId xmlns:p14="http://schemas.microsoft.com/office/powerpoint/2010/main" val="1508103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1905E8-73B3-44F3-82FA-750CE1150CE5}"/>
              </a:ext>
            </a:extLst>
          </p:cNvPr>
          <p:cNvSpPr>
            <a:spLocks noGrp="1"/>
          </p:cNvSpPr>
          <p:nvPr>
            <p:ph idx="1"/>
          </p:nvPr>
        </p:nvSpPr>
        <p:spPr>
          <a:xfrm>
            <a:off x="457200" y="548680"/>
            <a:ext cx="8229600" cy="5458611"/>
          </a:xfrm>
        </p:spPr>
        <p:txBody>
          <a:bodyPr>
            <a:normAutofit fontScale="92500" lnSpcReduction="10000"/>
          </a:bodyPr>
          <a:lstStyle/>
          <a:p>
            <a:r>
              <a:rPr lang="en-US" b="1" dirty="0"/>
              <a:t>Continence</a:t>
            </a:r>
            <a:r>
              <a:rPr lang="en-US" dirty="0"/>
              <a:t> – referrer scored Moderate – doubly incontinent but care is routine</a:t>
            </a:r>
          </a:p>
          <a:p>
            <a:pPr marL="109728" indent="0">
              <a:buNone/>
            </a:pPr>
            <a:endParaRPr lang="en-US" dirty="0"/>
          </a:p>
          <a:p>
            <a:r>
              <a:rPr lang="en-GB" b="1" dirty="0"/>
              <a:t>Skin and Tissue Viability </a:t>
            </a:r>
            <a:r>
              <a:rPr lang="en-GB" dirty="0"/>
              <a:t>– referrer scored Moderate - </a:t>
            </a:r>
            <a:r>
              <a:rPr lang="en-US" dirty="0"/>
              <a:t>high risk of skin breakdown that requires preventative intervention from a skilled </a:t>
            </a:r>
            <a:r>
              <a:rPr lang="en-US" dirty="0" err="1"/>
              <a:t>carer</a:t>
            </a:r>
            <a:r>
              <a:rPr lang="en-US" dirty="0"/>
              <a:t> several times a day, without which skin integrity would break down;</a:t>
            </a:r>
          </a:p>
          <a:p>
            <a:pPr marL="109728" indent="0">
              <a:buNone/>
            </a:pPr>
            <a:endParaRPr lang="en-US" dirty="0"/>
          </a:p>
          <a:p>
            <a:r>
              <a:rPr lang="en-GB" b="1" dirty="0"/>
              <a:t>Communication</a:t>
            </a:r>
            <a:r>
              <a:rPr lang="en-GB" dirty="0"/>
              <a:t> – referrer scored Moderate - </a:t>
            </a:r>
            <a:r>
              <a:rPr lang="en-US" dirty="0"/>
              <a:t>Communication of emotions and fundamental needs is difficult to understand or interpret, even when prompted, unless with familiar people, and requires regular support. </a:t>
            </a:r>
          </a:p>
          <a:p>
            <a:endParaRPr lang="en-GB" dirty="0"/>
          </a:p>
        </p:txBody>
      </p:sp>
      <p:sp>
        <p:nvSpPr>
          <p:cNvPr id="3" name="Title 2">
            <a:extLst>
              <a:ext uri="{FF2B5EF4-FFF2-40B4-BE49-F238E27FC236}">
                <a16:creationId xmlns:a16="http://schemas.microsoft.com/office/drawing/2014/main" id="{8814A338-258E-421C-AA8F-2BE3E09EE83F}"/>
              </a:ext>
            </a:extLst>
          </p:cNvPr>
          <p:cNvSpPr>
            <a:spLocks noGrp="1"/>
          </p:cNvSpPr>
          <p:nvPr>
            <p:ph type="title"/>
          </p:nvPr>
        </p:nvSpPr>
        <p:spPr>
          <a:xfrm>
            <a:off x="457200" y="274638"/>
            <a:ext cx="8229600" cy="58018"/>
          </a:xfrm>
        </p:spPr>
        <p:txBody>
          <a:bodyPr>
            <a:normAutofit fontScale="90000"/>
          </a:bodyPr>
          <a:lstStyle/>
          <a:p>
            <a:endParaRPr lang="en-GB" dirty="0"/>
          </a:p>
        </p:txBody>
      </p:sp>
    </p:spTree>
    <p:extLst>
      <p:ext uri="{BB962C8B-B14F-4D97-AF65-F5344CB8AC3E}">
        <p14:creationId xmlns:p14="http://schemas.microsoft.com/office/powerpoint/2010/main" val="2088988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3B4245-E0ED-431F-9A1C-C3F6E34B2DE2}"/>
              </a:ext>
            </a:extLst>
          </p:cNvPr>
          <p:cNvSpPr>
            <a:spLocks noGrp="1"/>
          </p:cNvSpPr>
          <p:nvPr>
            <p:ph idx="1"/>
          </p:nvPr>
        </p:nvSpPr>
        <p:spPr>
          <a:xfrm>
            <a:off x="457200" y="390674"/>
            <a:ext cx="8229600" cy="6192688"/>
          </a:xfrm>
        </p:spPr>
        <p:txBody>
          <a:bodyPr>
            <a:normAutofit lnSpcReduction="10000"/>
          </a:bodyPr>
          <a:lstStyle/>
          <a:p>
            <a:r>
              <a:rPr lang="en-US" b="1" dirty="0"/>
              <a:t>Drug therapies and medications </a:t>
            </a:r>
            <a:r>
              <a:rPr lang="en-US" dirty="0"/>
              <a:t>– referrer scored High - Drug regime requires management by a registered nurse at least weekly, due to a fluctuating and/or unstable condition;</a:t>
            </a:r>
          </a:p>
          <a:p>
            <a:pPr marL="109728" indent="0">
              <a:buNone/>
            </a:pPr>
            <a:endParaRPr lang="en-US" dirty="0"/>
          </a:p>
          <a:p>
            <a:r>
              <a:rPr lang="en-US" b="1" dirty="0"/>
              <a:t>P&amp;E </a:t>
            </a:r>
            <a:r>
              <a:rPr lang="en-US" dirty="0"/>
              <a:t>– referrer scored Moderate - Requires prompts or significant support to remain within existing infrastructure; </a:t>
            </a:r>
          </a:p>
          <a:p>
            <a:endParaRPr lang="en-US" dirty="0"/>
          </a:p>
          <a:p>
            <a:r>
              <a:rPr lang="en-US" b="1" dirty="0"/>
              <a:t>Seizures</a:t>
            </a:r>
            <a:r>
              <a:rPr lang="en-US" dirty="0"/>
              <a:t> – referrer scored Low – occasional absence seizures but low risk of harm</a:t>
            </a:r>
          </a:p>
          <a:p>
            <a:pPr marL="109728" indent="0">
              <a:buNone/>
            </a:pPr>
            <a:endParaRPr lang="en-US" dirty="0"/>
          </a:p>
          <a:p>
            <a:r>
              <a:rPr lang="en-US" b="1" dirty="0"/>
              <a:t>Challenging </a:t>
            </a:r>
            <a:r>
              <a:rPr lang="en-US" b="1" dirty="0" err="1"/>
              <a:t>Behaviour</a:t>
            </a:r>
            <a:r>
              <a:rPr lang="en-US" b="1" dirty="0"/>
              <a:t>  </a:t>
            </a:r>
            <a:r>
              <a:rPr lang="en-US" dirty="0"/>
              <a:t>referrer scored Low – some incidents of behavior</a:t>
            </a:r>
          </a:p>
          <a:p>
            <a:endParaRPr lang="en-GB" dirty="0"/>
          </a:p>
        </p:txBody>
      </p:sp>
      <p:sp>
        <p:nvSpPr>
          <p:cNvPr id="3" name="Title 2">
            <a:extLst>
              <a:ext uri="{FF2B5EF4-FFF2-40B4-BE49-F238E27FC236}">
                <a16:creationId xmlns:a16="http://schemas.microsoft.com/office/drawing/2014/main" id="{0ABA42FF-6059-427E-8CE1-8C04AB16F01F}"/>
              </a:ext>
            </a:extLst>
          </p:cNvPr>
          <p:cNvSpPr>
            <a:spLocks noGrp="1"/>
          </p:cNvSpPr>
          <p:nvPr>
            <p:ph type="title"/>
          </p:nvPr>
        </p:nvSpPr>
        <p:spPr>
          <a:xfrm>
            <a:off x="457200" y="274638"/>
            <a:ext cx="8229600" cy="58018"/>
          </a:xfrm>
        </p:spPr>
        <p:txBody>
          <a:bodyPr>
            <a:normAutofit fontScale="90000"/>
          </a:bodyPr>
          <a:lstStyle/>
          <a:p>
            <a:endParaRPr lang="en-GB" dirty="0"/>
          </a:p>
        </p:txBody>
      </p:sp>
    </p:spTree>
    <p:extLst>
      <p:ext uri="{BB962C8B-B14F-4D97-AF65-F5344CB8AC3E}">
        <p14:creationId xmlns:p14="http://schemas.microsoft.com/office/powerpoint/2010/main" val="3678526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4066D8-51E6-4DDE-AD98-C5FB2ADC2147}"/>
              </a:ext>
            </a:extLst>
          </p:cNvPr>
          <p:cNvSpPr>
            <a:spLocks noGrp="1"/>
          </p:cNvSpPr>
          <p:nvPr>
            <p:ph idx="1"/>
          </p:nvPr>
        </p:nvSpPr>
        <p:spPr>
          <a:xfrm>
            <a:off x="457200" y="1700808"/>
            <a:ext cx="8229600" cy="4306483"/>
          </a:xfrm>
        </p:spPr>
        <p:txBody>
          <a:bodyPr>
            <a:normAutofit fontScale="77500" lnSpcReduction="20000"/>
          </a:bodyPr>
          <a:lstStyle/>
          <a:p>
            <a:r>
              <a:rPr lang="en-US" dirty="0"/>
              <a:t>Breathing – referrer scored No Additional Needs</a:t>
            </a:r>
          </a:p>
          <a:p>
            <a:r>
              <a:rPr lang="en-US" dirty="0"/>
              <a:t>Eating and Drinking – referrer scored Low – some support required – needs low fat high protein diet</a:t>
            </a:r>
          </a:p>
          <a:p>
            <a:r>
              <a:rPr lang="en-US" dirty="0"/>
              <a:t>Mobility – referrer scored No Additional Needs – fully mobile</a:t>
            </a:r>
          </a:p>
          <a:p>
            <a:r>
              <a:rPr lang="en-US" dirty="0"/>
              <a:t>Continence – referrer scored No Additional Needs – fully continent</a:t>
            </a:r>
          </a:p>
          <a:p>
            <a:r>
              <a:rPr lang="en-US" dirty="0"/>
              <a:t>Skin and Tissue Viability – referrer scored No Additional Needs</a:t>
            </a:r>
          </a:p>
          <a:p>
            <a:r>
              <a:rPr lang="en-US" dirty="0"/>
              <a:t>Communication – referrer scored No Additional Needs</a:t>
            </a:r>
          </a:p>
          <a:p>
            <a:r>
              <a:rPr lang="en-US" dirty="0"/>
              <a:t>P&amp;E – referrer scored No Additional Needs </a:t>
            </a:r>
          </a:p>
          <a:p>
            <a:r>
              <a:rPr lang="en-US" dirty="0"/>
              <a:t>Seizures – referrer scored No Additional Needs</a:t>
            </a:r>
          </a:p>
          <a:p>
            <a:r>
              <a:rPr lang="en-US" dirty="0"/>
              <a:t>Challenging </a:t>
            </a:r>
            <a:r>
              <a:rPr lang="en-US" dirty="0" err="1"/>
              <a:t>Behaviour</a:t>
            </a:r>
            <a:r>
              <a:rPr lang="en-US" dirty="0"/>
              <a:t> – referrer scored No Additional Needs</a:t>
            </a:r>
          </a:p>
          <a:p>
            <a:endParaRPr lang="en-US" dirty="0"/>
          </a:p>
          <a:p>
            <a:endParaRPr lang="en-GB" dirty="0"/>
          </a:p>
        </p:txBody>
      </p:sp>
      <p:sp>
        <p:nvSpPr>
          <p:cNvPr id="3" name="Title 2">
            <a:extLst>
              <a:ext uri="{FF2B5EF4-FFF2-40B4-BE49-F238E27FC236}">
                <a16:creationId xmlns:a16="http://schemas.microsoft.com/office/drawing/2014/main" id="{95E3CAB5-4A97-4452-98C6-4257F2DBE373}"/>
              </a:ext>
            </a:extLst>
          </p:cNvPr>
          <p:cNvSpPr>
            <a:spLocks noGrp="1"/>
          </p:cNvSpPr>
          <p:nvPr>
            <p:ph type="title"/>
          </p:nvPr>
        </p:nvSpPr>
        <p:spPr>
          <a:xfrm>
            <a:off x="457200" y="274638"/>
            <a:ext cx="8229600" cy="1426170"/>
          </a:xfrm>
        </p:spPr>
        <p:txBody>
          <a:bodyPr>
            <a:normAutofit fontScale="90000"/>
          </a:bodyPr>
          <a:lstStyle/>
          <a:p>
            <a:r>
              <a:rPr lang="en-US" dirty="0"/>
              <a:t>Referral B 6yr old male</a:t>
            </a:r>
            <a:br>
              <a:rPr lang="en-US" dirty="0"/>
            </a:br>
            <a:r>
              <a:rPr lang="en-US" sz="2000" dirty="0"/>
              <a:t>Diagnosed with intestinal lymphangiectasia – rare protein losing enteropathy, needs very low fat and high protein diet, low albumin levels</a:t>
            </a:r>
            <a:endParaRPr lang="en-GB" dirty="0"/>
          </a:p>
        </p:txBody>
      </p:sp>
    </p:spTree>
    <p:extLst>
      <p:ext uri="{BB962C8B-B14F-4D97-AF65-F5344CB8AC3E}">
        <p14:creationId xmlns:p14="http://schemas.microsoft.com/office/powerpoint/2010/main" val="26867978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5A520E-1C1A-4363-B563-112D7300ECE5}"/>
              </a:ext>
            </a:extLst>
          </p:cNvPr>
          <p:cNvSpPr>
            <a:spLocks noGrp="1"/>
          </p:cNvSpPr>
          <p:nvPr>
            <p:ph idx="1"/>
          </p:nvPr>
        </p:nvSpPr>
        <p:spPr/>
        <p:txBody>
          <a:bodyPr>
            <a:normAutofit fontScale="77500" lnSpcReduction="20000"/>
          </a:bodyPr>
          <a:lstStyle/>
          <a:p>
            <a:r>
              <a:rPr lang="en-US" dirty="0"/>
              <a:t>Diagnosed with </a:t>
            </a:r>
            <a:r>
              <a:rPr lang="en-US" dirty="0" err="1"/>
              <a:t>Treacher</a:t>
            </a:r>
            <a:r>
              <a:rPr lang="en-US" dirty="0"/>
              <a:t> Collins Syndrome, cleft palate, small jaw, obstructions in nasal passages, tracheostomy sited at 6 weeks old, nasogastric tube for feeding. Hearing impaired – has BAHA</a:t>
            </a:r>
          </a:p>
          <a:p>
            <a:r>
              <a:rPr lang="en-US" dirty="0"/>
              <a:t>Excess secretions, can cough but needs suction to clear airway, suctioned every 2 hours.</a:t>
            </a:r>
          </a:p>
          <a:p>
            <a:r>
              <a:rPr lang="en-US" dirty="0"/>
              <a:t>Difficulties with weight gain prior to tracheostomy. All fluids and nutrition via NGT. Frequent vomiting. NGT has to be repassed frequently. Access only to 1 nostril due to obstructions.</a:t>
            </a:r>
          </a:p>
          <a:p>
            <a:r>
              <a:rPr lang="en-US" dirty="0"/>
              <a:t>Fully dependent for all mobility needs. Doubly incontinent</a:t>
            </a:r>
          </a:p>
          <a:p>
            <a:r>
              <a:rPr lang="en-US" dirty="0"/>
              <a:t>Silent due to tracheostomy, hearing impairment – has BAHA</a:t>
            </a:r>
          </a:p>
          <a:p>
            <a:r>
              <a:rPr lang="en-US" dirty="0"/>
              <a:t>Medications given via NGT</a:t>
            </a:r>
          </a:p>
          <a:p>
            <a:r>
              <a:rPr lang="en-US" dirty="0"/>
              <a:t>No seizures</a:t>
            </a:r>
            <a:endParaRPr lang="en-GB" dirty="0"/>
          </a:p>
        </p:txBody>
      </p:sp>
      <p:sp>
        <p:nvSpPr>
          <p:cNvPr id="3" name="Title 2">
            <a:extLst>
              <a:ext uri="{FF2B5EF4-FFF2-40B4-BE49-F238E27FC236}">
                <a16:creationId xmlns:a16="http://schemas.microsoft.com/office/drawing/2014/main" id="{563D9AF0-4C10-40AB-B399-EED7DA937602}"/>
              </a:ext>
            </a:extLst>
          </p:cNvPr>
          <p:cNvSpPr>
            <a:spLocks noGrp="1"/>
          </p:cNvSpPr>
          <p:nvPr>
            <p:ph type="title"/>
          </p:nvPr>
        </p:nvSpPr>
        <p:spPr/>
        <p:txBody>
          <a:bodyPr>
            <a:normAutofit fontScale="90000"/>
          </a:bodyPr>
          <a:lstStyle/>
          <a:p>
            <a:r>
              <a:rPr lang="en-US" dirty="0"/>
              <a:t>Child B 3 month old baby - new assessment</a:t>
            </a:r>
            <a:endParaRPr lang="en-GB" dirty="0"/>
          </a:p>
        </p:txBody>
      </p:sp>
    </p:spTree>
    <p:extLst>
      <p:ext uri="{BB962C8B-B14F-4D97-AF65-F5344CB8AC3E}">
        <p14:creationId xmlns:p14="http://schemas.microsoft.com/office/powerpoint/2010/main" val="24783197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8CDFC101C5D9429AC42F21F7B75E02" ma:contentTypeVersion="13" ma:contentTypeDescription="Create a new document." ma:contentTypeScope="" ma:versionID="a06cc114182f1eb0f8bcb93f9c240c03">
  <xsd:schema xmlns:xsd="http://www.w3.org/2001/XMLSchema" xmlns:xs="http://www.w3.org/2001/XMLSchema" xmlns:p="http://schemas.microsoft.com/office/2006/metadata/properties" xmlns:ns3="07b01d65-a0c3-4a6d-9d71-3ebe91e9fa5f" xmlns:ns4="3a24879b-81d4-4198-af4b-ceb92dc35ca5" targetNamespace="http://schemas.microsoft.com/office/2006/metadata/properties" ma:root="true" ma:fieldsID="a54889c6f4bd29ade2e8ee264cb4ffa1" ns3:_="" ns4:_="">
    <xsd:import namespace="07b01d65-a0c3-4a6d-9d71-3ebe91e9fa5f"/>
    <xsd:import namespace="3a24879b-81d4-4198-af4b-ceb92dc35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4:SharedWithUsers" minOccurs="0"/>
                <xsd:element ref="ns4:SharedWithDetails" minOccurs="0"/>
                <xsd:element ref="ns4:SharingHintHash" minOccurs="0"/>
                <xsd:element ref="ns3:MediaServiceDateTaken" minOccurs="0"/>
                <xsd:element ref="ns3:MediaServiceLocation" minOccurs="0"/>
                <xsd:element ref="ns3:MediaServiceAutoKeyPoints" minOccurs="0"/>
                <xsd:element ref="ns3:MediaServiceKeyPoint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b01d65-a0c3-4a6d-9d71-3ebe91e9fa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MediaServic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a24879b-81d4-4198-af4b-ceb92dc35ca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8F337D-F1CE-4838-806B-8A05D79E0EFE}">
  <ds:schemaRefs>
    <ds:schemaRef ds:uri="http://schemas.microsoft.com/sharepoint/v3/contenttype/forms"/>
  </ds:schemaRefs>
</ds:datastoreItem>
</file>

<file path=customXml/itemProps2.xml><?xml version="1.0" encoding="utf-8"?>
<ds:datastoreItem xmlns:ds="http://schemas.openxmlformats.org/officeDocument/2006/customXml" ds:itemID="{4BDFDC1A-10C7-4140-B9D6-753BE2730806}">
  <ds:schemaRefs>
    <ds:schemaRef ds:uri="http://purl.org/dc/terms/"/>
    <ds:schemaRef ds:uri="http://schemas.openxmlformats.org/package/2006/metadata/core-properties"/>
    <ds:schemaRef ds:uri="07b01d65-a0c3-4a6d-9d71-3ebe91e9fa5f"/>
    <ds:schemaRef ds:uri="http://schemas.microsoft.com/office/2006/documentManagement/types"/>
    <ds:schemaRef ds:uri="http://schemas.microsoft.com/office/infopath/2007/PartnerControls"/>
    <ds:schemaRef ds:uri="http://purl.org/dc/elements/1.1/"/>
    <ds:schemaRef ds:uri="http://schemas.microsoft.com/office/2006/metadata/properties"/>
    <ds:schemaRef ds:uri="3a24879b-81d4-4198-af4b-ceb92dc35ca5"/>
    <ds:schemaRef ds:uri="http://www.w3.org/XML/1998/namespace"/>
    <ds:schemaRef ds:uri="http://purl.org/dc/dcmitype/"/>
  </ds:schemaRefs>
</ds:datastoreItem>
</file>

<file path=customXml/itemProps3.xml><?xml version="1.0" encoding="utf-8"?>
<ds:datastoreItem xmlns:ds="http://schemas.openxmlformats.org/officeDocument/2006/customXml" ds:itemID="{B71F5420-40B3-4045-B7EF-15B3E27A4C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b01d65-a0c3-4a6d-9d71-3ebe91e9fa5f"/>
    <ds:schemaRef ds:uri="3a24879b-81d4-4198-af4b-ceb92dc35c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Concourse</Template>
  <TotalTime>10995</TotalTime>
  <Words>1988</Words>
  <Application>Microsoft Office PowerPoint</Application>
  <PresentationFormat>On-screen Show (4:3)</PresentationFormat>
  <Paragraphs>213</Paragraphs>
  <Slides>36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Calibri</vt:lpstr>
      <vt:lpstr>Lucida Sans Unicode</vt:lpstr>
      <vt:lpstr>Times New Roman</vt:lpstr>
      <vt:lpstr>Verdana</vt:lpstr>
      <vt:lpstr>Wingdings</vt:lpstr>
      <vt:lpstr>Wingdings 2</vt:lpstr>
      <vt:lpstr>Wingdings 3</vt:lpstr>
      <vt:lpstr>Concourse</vt:lpstr>
      <vt:lpstr>NHS CONTINUING CARE</vt:lpstr>
      <vt:lpstr>Objectives for the section </vt:lpstr>
      <vt:lpstr>A revised National Framework was published in January 2016</vt:lpstr>
      <vt:lpstr>PowerPoint Presentation</vt:lpstr>
      <vt:lpstr>PowerPoint Presentation</vt:lpstr>
      <vt:lpstr>PowerPoint Presentation</vt:lpstr>
      <vt:lpstr>PowerPoint Presentation</vt:lpstr>
      <vt:lpstr>Decision Support Tool </vt:lpstr>
      <vt:lpstr>PowerPoint Presentation</vt:lpstr>
      <vt:lpstr>Care Domains</vt:lpstr>
      <vt:lpstr>Eligibility Criteria </vt:lpstr>
      <vt:lpstr>Referral Process </vt:lpstr>
      <vt:lpstr>PowerPoint Presentation</vt:lpstr>
      <vt:lpstr>PowerPoint Presentation</vt:lpstr>
      <vt:lpstr>PowerPoint Presentation</vt:lpstr>
      <vt:lpstr>Consent </vt:lpstr>
      <vt:lpstr>Assessment process</vt:lpstr>
      <vt:lpstr> Decision Making process </vt:lpstr>
      <vt:lpstr>Children’s Threshold Panel</vt:lpstr>
      <vt:lpstr>Panel membership</vt:lpstr>
      <vt:lpstr>After Panel</vt:lpstr>
      <vt:lpstr>Communication of Outcome</vt:lpstr>
      <vt:lpstr>Commissioning Provision </vt:lpstr>
      <vt:lpstr>Resource Allocation Tools </vt:lpstr>
      <vt:lpstr>Equity and Choice Policy</vt:lpstr>
      <vt:lpstr>Reviews  </vt:lpstr>
      <vt:lpstr>PowerPoint Presentation</vt:lpstr>
      <vt:lpstr>Appeals </vt:lpstr>
      <vt:lpstr> Complaints </vt:lpstr>
      <vt:lpstr>Contact details </vt:lpstr>
      <vt:lpstr>Transition from Children’s Services </vt:lpstr>
      <vt:lpstr>Referral A 13yr old male Cerebral palsy, scoliosis, fully dependent for all care, gastrostomy fed, occasional chest infections, BiPAP overnight (not dependent), oxygen for emergency use, vitamin D deficient, doubly incontinent</vt:lpstr>
      <vt:lpstr>PowerPoint Presentation</vt:lpstr>
      <vt:lpstr>PowerPoint Presentation</vt:lpstr>
      <vt:lpstr>Referral B 6yr old male Diagnosed with intestinal lymphangiectasia – rare protein losing enteropathy, needs very low fat and high protein diet, low albumin levels</vt:lpstr>
      <vt:lpstr>Child B 3 month old baby - new assessment</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NHS CONTINUING HEALTHCARE</dc:title>
  <dc:creator>Nanny</dc:creator>
  <cp:lastModifiedBy>Scott Ighavongbe-Patrick</cp:lastModifiedBy>
  <cp:revision>34</cp:revision>
  <cp:lastPrinted>2019-03-20T09:07:25Z</cp:lastPrinted>
  <dcterms:created xsi:type="dcterms:W3CDTF">2013-05-28T12:20:32Z</dcterms:created>
  <dcterms:modified xsi:type="dcterms:W3CDTF">2023-01-26T17:27:26Z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0x010100D38CDFC101C5D9429AC42F21F7B75E02</vt:lpwstr>
  </property>
</Properties>
</file>