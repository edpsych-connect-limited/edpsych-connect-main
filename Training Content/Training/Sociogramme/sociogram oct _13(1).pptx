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x-fontdata" Extension="fntdata"/>
  <Default ContentType="application/xml" Extension="xml"/>
  <Default ContentType="image/png" Extension="png"/>
  <Default ContentType="application/vnd.ms-excel" Extension="xls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ms-excel" PartName="/ppt/embeddings/Microsoft_Excel_Sheet1.xls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6858000" cx="9144000"/>
  <p:notesSz cx="6669075" cy="9872650"/>
  <p:embeddedFontLst>
    <p:embeddedFont>
      <p:font typeface="Arial Black"/>
      <p:regular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7" roundtripDataSignature="AMtx7mi6YmlSOJPUb8anjw7QWlV+eEko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7943C7C-CA58-4B96-B1C6-D2BB5A9DF406}">
  <a:tblStyle styleId="{B7943C7C-CA58-4B96-B1C6-D2BB5A9DF40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customschemas.google.com/relationships/presentationmetadata" Target="metadata"/><Relationship Id="rId14" Type="http://schemas.openxmlformats.org/officeDocument/2006/relationships/slide" Target="slides/slide8.xml"/><Relationship Id="rId36" Type="http://schemas.openxmlformats.org/officeDocument/2006/relationships/font" Target="fonts/ArialBlack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889250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778250" y="0"/>
            <a:ext cx="2889250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865187" y="739775"/>
            <a:ext cx="4938712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377362"/>
            <a:ext cx="2889250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778250" y="9377362"/>
            <a:ext cx="2889250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865187" y="739775"/>
            <a:ext cx="4938712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865187" y="739775"/>
            <a:ext cx="4938712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865187" y="739775"/>
            <a:ext cx="4938712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865187" y="739775"/>
            <a:ext cx="4938712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865187" y="739775"/>
            <a:ext cx="4938712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865187" y="739775"/>
            <a:ext cx="4938712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/>
          <p:nvPr>
            <p:ph idx="2" type="sldImg"/>
          </p:nvPr>
        </p:nvSpPr>
        <p:spPr>
          <a:xfrm>
            <a:off x="865187" y="739775"/>
            <a:ext cx="4938712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/>
          <p:nvPr>
            <p:ph idx="2" type="sldImg"/>
          </p:nvPr>
        </p:nvSpPr>
        <p:spPr>
          <a:xfrm>
            <a:off x="865187" y="739775"/>
            <a:ext cx="4938712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/>
          <p:nvPr>
            <p:ph idx="1" type="body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:notes"/>
          <p:cNvSpPr/>
          <p:nvPr>
            <p:ph idx="2" type="sldImg"/>
          </p:nvPr>
        </p:nvSpPr>
        <p:spPr>
          <a:xfrm>
            <a:off x="865187" y="739775"/>
            <a:ext cx="4938712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 txBox="1"/>
          <p:nvPr>
            <p:ph idx="1" type="body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:notes"/>
          <p:cNvSpPr/>
          <p:nvPr>
            <p:ph idx="2" type="sldImg"/>
          </p:nvPr>
        </p:nvSpPr>
        <p:spPr>
          <a:xfrm>
            <a:off x="865187" y="739775"/>
            <a:ext cx="4938712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 txBox="1"/>
          <p:nvPr>
            <p:ph idx="1" type="body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:notes"/>
          <p:cNvSpPr/>
          <p:nvPr>
            <p:ph idx="2" type="sldImg"/>
          </p:nvPr>
        </p:nvSpPr>
        <p:spPr>
          <a:xfrm>
            <a:off x="865187" y="739775"/>
            <a:ext cx="4938712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:notes"/>
          <p:cNvSpPr txBox="1"/>
          <p:nvPr>
            <p:ph idx="1" type="body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2:notes"/>
          <p:cNvSpPr/>
          <p:nvPr>
            <p:ph idx="2" type="sldImg"/>
          </p:nvPr>
        </p:nvSpPr>
        <p:spPr>
          <a:xfrm>
            <a:off x="865187" y="739775"/>
            <a:ext cx="4938712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3:notes"/>
          <p:cNvSpPr txBox="1"/>
          <p:nvPr>
            <p:ph idx="1" type="body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3:notes"/>
          <p:cNvSpPr/>
          <p:nvPr>
            <p:ph idx="2" type="sldImg"/>
          </p:nvPr>
        </p:nvSpPr>
        <p:spPr>
          <a:xfrm>
            <a:off x="865187" y="739775"/>
            <a:ext cx="4938712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4:notes"/>
          <p:cNvSpPr txBox="1"/>
          <p:nvPr>
            <p:ph idx="1" type="body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4:notes"/>
          <p:cNvSpPr/>
          <p:nvPr>
            <p:ph idx="2" type="sldImg"/>
          </p:nvPr>
        </p:nvSpPr>
        <p:spPr>
          <a:xfrm>
            <a:off x="865187" y="739775"/>
            <a:ext cx="4938712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5:notes"/>
          <p:cNvSpPr txBox="1"/>
          <p:nvPr>
            <p:ph idx="1" type="body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5:notes"/>
          <p:cNvSpPr/>
          <p:nvPr>
            <p:ph idx="2" type="sldImg"/>
          </p:nvPr>
        </p:nvSpPr>
        <p:spPr>
          <a:xfrm>
            <a:off x="865187" y="739775"/>
            <a:ext cx="4938712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6:notes"/>
          <p:cNvSpPr txBox="1"/>
          <p:nvPr>
            <p:ph idx="1" type="body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6:notes"/>
          <p:cNvSpPr/>
          <p:nvPr>
            <p:ph idx="2" type="sldImg"/>
          </p:nvPr>
        </p:nvSpPr>
        <p:spPr>
          <a:xfrm>
            <a:off x="865187" y="739775"/>
            <a:ext cx="4938712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7:notes"/>
          <p:cNvSpPr txBox="1"/>
          <p:nvPr>
            <p:ph idx="1" type="body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7:notes"/>
          <p:cNvSpPr/>
          <p:nvPr>
            <p:ph idx="2" type="sldImg"/>
          </p:nvPr>
        </p:nvSpPr>
        <p:spPr>
          <a:xfrm>
            <a:off x="865187" y="739775"/>
            <a:ext cx="4938712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8:notes"/>
          <p:cNvSpPr txBox="1"/>
          <p:nvPr>
            <p:ph idx="1" type="body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8:notes"/>
          <p:cNvSpPr/>
          <p:nvPr>
            <p:ph idx="2" type="sldImg"/>
          </p:nvPr>
        </p:nvSpPr>
        <p:spPr>
          <a:xfrm>
            <a:off x="865187" y="739775"/>
            <a:ext cx="4938712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9:notes"/>
          <p:cNvSpPr txBox="1"/>
          <p:nvPr>
            <p:ph idx="1" type="body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9:notes"/>
          <p:cNvSpPr/>
          <p:nvPr>
            <p:ph idx="2" type="sldImg"/>
          </p:nvPr>
        </p:nvSpPr>
        <p:spPr>
          <a:xfrm>
            <a:off x="865187" y="739775"/>
            <a:ext cx="4938712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0:notes"/>
          <p:cNvSpPr txBox="1"/>
          <p:nvPr>
            <p:ph idx="1" type="body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0:notes"/>
          <p:cNvSpPr/>
          <p:nvPr>
            <p:ph idx="2" type="sldImg"/>
          </p:nvPr>
        </p:nvSpPr>
        <p:spPr>
          <a:xfrm>
            <a:off x="865187" y="739775"/>
            <a:ext cx="4938712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1:notes"/>
          <p:cNvSpPr txBox="1"/>
          <p:nvPr>
            <p:ph idx="1" type="body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1:notes"/>
          <p:cNvSpPr/>
          <p:nvPr>
            <p:ph idx="2" type="sldImg"/>
          </p:nvPr>
        </p:nvSpPr>
        <p:spPr>
          <a:xfrm>
            <a:off x="865187" y="739775"/>
            <a:ext cx="4938712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2:notes"/>
          <p:cNvSpPr txBox="1"/>
          <p:nvPr>
            <p:ph idx="1" type="body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2:notes"/>
          <p:cNvSpPr/>
          <p:nvPr>
            <p:ph idx="2" type="sldImg"/>
          </p:nvPr>
        </p:nvSpPr>
        <p:spPr>
          <a:xfrm>
            <a:off x="865187" y="739775"/>
            <a:ext cx="4938712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3:notes"/>
          <p:cNvSpPr txBox="1"/>
          <p:nvPr>
            <p:ph idx="1" type="body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3:notes"/>
          <p:cNvSpPr/>
          <p:nvPr>
            <p:ph idx="2" type="sldImg"/>
          </p:nvPr>
        </p:nvSpPr>
        <p:spPr>
          <a:xfrm>
            <a:off x="865187" y="739775"/>
            <a:ext cx="4938712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4:notes"/>
          <p:cNvSpPr txBox="1"/>
          <p:nvPr>
            <p:ph idx="1" type="body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4:notes"/>
          <p:cNvSpPr/>
          <p:nvPr>
            <p:ph idx="2" type="sldImg"/>
          </p:nvPr>
        </p:nvSpPr>
        <p:spPr>
          <a:xfrm>
            <a:off x="865187" y="739775"/>
            <a:ext cx="4938712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5:notes"/>
          <p:cNvSpPr txBox="1"/>
          <p:nvPr>
            <p:ph idx="1" type="body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5:notes"/>
          <p:cNvSpPr/>
          <p:nvPr>
            <p:ph idx="2" type="sldImg"/>
          </p:nvPr>
        </p:nvSpPr>
        <p:spPr>
          <a:xfrm>
            <a:off x="865187" y="739775"/>
            <a:ext cx="4938712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6:notes"/>
          <p:cNvSpPr txBox="1"/>
          <p:nvPr>
            <p:ph idx="1" type="body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6:notes"/>
          <p:cNvSpPr/>
          <p:nvPr>
            <p:ph idx="2" type="sldImg"/>
          </p:nvPr>
        </p:nvSpPr>
        <p:spPr>
          <a:xfrm>
            <a:off x="865187" y="739775"/>
            <a:ext cx="4938712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7:notes"/>
          <p:cNvSpPr txBox="1"/>
          <p:nvPr>
            <p:ph idx="1" type="body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7:notes"/>
          <p:cNvSpPr/>
          <p:nvPr>
            <p:ph idx="2" type="sldImg"/>
          </p:nvPr>
        </p:nvSpPr>
        <p:spPr>
          <a:xfrm>
            <a:off x="865187" y="739775"/>
            <a:ext cx="4938712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8:notes"/>
          <p:cNvSpPr txBox="1"/>
          <p:nvPr>
            <p:ph idx="1" type="body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8:notes"/>
          <p:cNvSpPr/>
          <p:nvPr>
            <p:ph idx="2" type="sldImg"/>
          </p:nvPr>
        </p:nvSpPr>
        <p:spPr>
          <a:xfrm>
            <a:off x="865187" y="739775"/>
            <a:ext cx="4938712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9:notes"/>
          <p:cNvSpPr txBox="1"/>
          <p:nvPr>
            <p:ph idx="1" type="body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9:notes"/>
          <p:cNvSpPr/>
          <p:nvPr>
            <p:ph idx="2" type="sldImg"/>
          </p:nvPr>
        </p:nvSpPr>
        <p:spPr>
          <a:xfrm>
            <a:off x="865187" y="739775"/>
            <a:ext cx="4938712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1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1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8" name="Google Shape;18;p31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 type="objOnly">
  <p:cSld name="OBJECT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2"/>
          <p:cNvSpPr txBox="1"/>
          <p:nvPr>
            <p:ph idx="1" type="body"/>
          </p:nvPr>
        </p:nvSpPr>
        <p:spPr>
          <a:xfrm>
            <a:off x="685800" y="609600"/>
            <a:ext cx="7772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3" name="Google Shape;23;p32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3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4"/>
          <p:cNvSpPr txBox="1"/>
          <p:nvPr>
            <p:ph type="title"/>
          </p:nvPr>
        </p:nvSpPr>
        <p:spPr>
          <a:xfrm rot="5400000">
            <a:off x="4743450" y="2381250"/>
            <a:ext cx="54864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4"/>
          <p:cNvSpPr txBox="1"/>
          <p:nvPr>
            <p:ph idx="1" type="body"/>
          </p:nvPr>
        </p:nvSpPr>
        <p:spPr>
          <a:xfrm rot="5400000">
            <a:off x="781050" y="514350"/>
            <a:ext cx="5486400" cy="56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3" name="Google Shape;33;p34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4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5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5"/>
          <p:cNvSpPr txBox="1"/>
          <p:nvPr>
            <p:ph idx="1" type="body"/>
          </p:nvPr>
        </p:nvSpPr>
        <p:spPr>
          <a:xfrm rot="5400000">
            <a:off x="2514600" y="152400"/>
            <a:ext cx="41148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9" name="Google Shape;39;p35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5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3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/>
        </p:txBody>
      </p:sp>
      <p:sp>
        <p:nvSpPr>
          <p:cNvPr id="46" name="Google Shape;46;p36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6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9pPr>
          </a:lstStyle>
          <a:p/>
        </p:txBody>
      </p:sp>
      <p:sp>
        <p:nvSpPr>
          <p:cNvPr id="52" name="Google Shape;52;p3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/>
        </p:txBody>
      </p:sp>
      <p:sp>
        <p:nvSpPr>
          <p:cNvPr id="53" name="Google Shape;53;p37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7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8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8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8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9pPr>
          </a:lstStyle>
          <a:p/>
        </p:txBody>
      </p:sp>
      <p:sp>
        <p:nvSpPr>
          <p:cNvPr id="64" name="Google Shape;64;p3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/>
        </p:txBody>
      </p:sp>
      <p:sp>
        <p:nvSpPr>
          <p:cNvPr id="65" name="Google Shape;65;p3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9pPr>
          </a:lstStyle>
          <a:p/>
        </p:txBody>
      </p:sp>
      <p:sp>
        <p:nvSpPr>
          <p:cNvPr id="66" name="Google Shape;66;p3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/>
        </p:txBody>
      </p:sp>
      <p:sp>
        <p:nvSpPr>
          <p:cNvPr id="67" name="Google Shape;67;p39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9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0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0"/>
          <p:cNvSpPr txBox="1"/>
          <p:nvPr>
            <p:ph idx="1" type="body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9pPr>
          </a:lstStyle>
          <a:p/>
        </p:txBody>
      </p:sp>
      <p:sp>
        <p:nvSpPr>
          <p:cNvPr id="73" name="Google Shape;73;p40"/>
          <p:cNvSpPr txBox="1"/>
          <p:nvPr>
            <p:ph idx="2" type="body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9pPr>
          </a:lstStyle>
          <a:p/>
        </p:txBody>
      </p:sp>
      <p:sp>
        <p:nvSpPr>
          <p:cNvPr id="74" name="Google Shape;74;p40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0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0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9pPr>
          </a:lstStyle>
          <a:p/>
        </p:txBody>
      </p:sp>
      <p:sp>
        <p:nvSpPr>
          <p:cNvPr id="80" name="Google Shape;80;p41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9pPr>
          </a:lstStyle>
          <a:p/>
        </p:txBody>
      </p:sp>
      <p:sp>
        <p:nvSpPr>
          <p:cNvPr id="86" name="Google Shape;86;p42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4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" name="Google Shape;11;p30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" name="Google Shape;12;p30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0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0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vmlDrawing" Target="../drawings/vmlDrawing1.vml"/><Relationship Id="rId4" Type="http://schemas.openxmlformats.org/officeDocument/2006/relationships/image" Target="../media/image2.png"/><Relationship Id="rId5" Type="http://schemas.openxmlformats.org/officeDocument/2006/relationships/oleObject" Target="../embeddings/Microsoft_Excel_Sheet1.xls"/><Relationship Id="rId6" Type="http://schemas.openxmlformats.org/officeDocument/2006/relationships/oleObject" Target="../embeddings/Microsoft_Excel_Sheet1.xls"/><Relationship Id="rId7" Type="http://schemas.openxmlformats.org/officeDocument/2006/relationships/image" Target="../media/image8.png"/><Relationship Id="rId8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0" y="125412"/>
            <a:ext cx="914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 Black"/>
              <a:buNone/>
            </a:pPr>
            <a:r>
              <a:rPr b="0" i="0" lang="en-US" sz="14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E D U C A T I O N A L   P S Y C H O L O G Y   S E R V I C E</a:t>
            </a:r>
            <a:endParaRPr/>
          </a:p>
        </p:txBody>
      </p:sp>
      <p:pic>
        <p:nvPicPr>
          <p:cNvPr descr="Image windsor and Maidenhead" id="95" name="Google Shape;9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0" y="6096000"/>
            <a:ext cx="506412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4953000" y="3048000"/>
            <a:ext cx="3429000" cy="2346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b="0" i="0" lang="en-US" sz="32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Sociograms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Mapping Peer Relationships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ocksrgb" id="101" name="Google Shape;10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8850" y="5445125"/>
            <a:ext cx="1547812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 txBox="1"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0" y="125412"/>
            <a:ext cx="914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 D U C A T I O N A L   P S Y C H O L O G Y   S E R V I C E</a:t>
            </a:r>
            <a:endParaRPr/>
          </a:p>
        </p:txBody>
      </p:sp>
      <p:pic>
        <p:nvPicPr>
          <p:cNvPr descr="Image windsor and Maidenhead" id="104" name="Google Shape;10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37587" y="0"/>
            <a:ext cx="506412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 txBox="1"/>
          <p:nvPr/>
        </p:nvSpPr>
        <p:spPr>
          <a:xfrm>
            <a:off x="755650" y="1196975"/>
            <a:ext cx="77041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What is a sociogram?</a:t>
            </a:r>
            <a:endParaRPr/>
          </a:p>
        </p:txBody>
      </p:sp>
      <p:sp>
        <p:nvSpPr>
          <p:cNvPr id="107" name="Google Shape;107;p2"/>
          <p:cNvSpPr txBox="1"/>
          <p:nvPr>
            <p:ph idx="1" type="body"/>
          </p:nvPr>
        </p:nvSpPr>
        <p:spPr>
          <a:xfrm>
            <a:off x="684212" y="17002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sociogram is a visual representation of interpersonal relationships within a group.  </a:t>
            </a:r>
            <a:b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can be especially useful in an educational context, in order to help teachers and other staff understand more about pupils' peer relationships.  It is often a useful starting point for identifying and addressing the social and emotional needs of pupils.</a:t>
            </a:r>
            <a:b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ocksrgb" id="112" name="Google Shape;11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8850" y="5445125"/>
            <a:ext cx="1547812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3"/>
          <p:cNvSpPr txBox="1"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0" y="125412"/>
            <a:ext cx="914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 D U C A T I O N A L   P S Y C H O L O G Y   S E R V I C E</a:t>
            </a:r>
            <a:endParaRPr/>
          </a:p>
        </p:txBody>
      </p:sp>
      <p:pic>
        <p:nvPicPr>
          <p:cNvPr descr="Image windsor and Maidenhead" id="115" name="Google Shape;11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37587" y="0"/>
            <a:ext cx="506412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 txBox="1"/>
          <p:nvPr/>
        </p:nvSpPr>
        <p:spPr>
          <a:xfrm>
            <a:off x="755650" y="1196975"/>
            <a:ext cx="77041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What is a sociogram?</a:t>
            </a:r>
            <a:endParaRPr/>
          </a:p>
        </p:txBody>
      </p:sp>
      <p:sp>
        <p:nvSpPr>
          <p:cNvPr id="118" name="Google Shape;118;p3"/>
          <p:cNvSpPr txBox="1"/>
          <p:nvPr>
            <p:ph idx="1" type="body"/>
          </p:nvPr>
        </p:nvSpPr>
        <p:spPr>
          <a:xfrm>
            <a:off x="684212" y="17002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Sociograms are made on the basis of pupils' nominations of classmates in response to questions.  Pupils nominate three classmates with whom they </a:t>
            </a:r>
            <a:r>
              <a:rPr b="1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like to play/spend free time and three  classmates with whom they </a:t>
            </a:r>
            <a:r>
              <a:rPr b="1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least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like to play/spend free time (wording can vary). 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09600" lvl="0" marL="6096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Recording the positive and negative nominations received by each pupil helps staff to be aware of patterns of acceptance and rejection within the peer group.  </a:t>
            </a:r>
            <a:endParaRPr/>
          </a:p>
          <a:p>
            <a:pPr indent="-482600" lvl="0" marL="6096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09600" lvl="0" marL="6096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sociogram reveals the peer group dynamics of a class or other pupil group in a visual and accessible way.  </a:t>
            </a:r>
            <a:b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ocksrgb" id="123" name="Google Shape;12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8850" y="5445125"/>
            <a:ext cx="1547812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"/>
          <p:cNvSpPr txBox="1"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0" y="125412"/>
            <a:ext cx="914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 Black"/>
              <a:buNone/>
            </a:pPr>
            <a:r>
              <a:rPr b="0" i="0" lang="en-US" sz="14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E D U C A T I O N A L   P S Y C H O L O G Y   S E R V I C E</a:t>
            </a:r>
            <a:endParaRPr/>
          </a:p>
        </p:txBody>
      </p:sp>
      <p:pic>
        <p:nvPicPr>
          <p:cNvPr descr="Image windsor and Maidenhead" id="126" name="Google Shape;12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37587" y="0"/>
            <a:ext cx="506412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"/>
          <p:cNvSpPr txBox="1"/>
          <p:nvPr/>
        </p:nvSpPr>
        <p:spPr>
          <a:xfrm>
            <a:off x="755650" y="1196975"/>
            <a:ext cx="77041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Why focus on peer relationships?</a:t>
            </a:r>
            <a:endParaRPr/>
          </a:p>
        </p:txBody>
      </p:sp>
      <p:pic>
        <p:nvPicPr>
          <p:cNvPr descr="socio-alexander 1" id="129" name="Google Shape;129;p4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1187" y="1916112"/>
            <a:ext cx="2819400" cy="2449512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4"/>
          <p:cNvSpPr txBox="1"/>
          <p:nvPr/>
        </p:nvSpPr>
        <p:spPr>
          <a:xfrm>
            <a:off x="3779837" y="1628775"/>
            <a:ext cx="4932362" cy="3440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Poor peer acceptance is linked to loneliness and social dissatisfaction.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longer term, poor peer relationships are linked to problematic behaviours, aggression, depression and academic achievement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</p:txBody>
      </p:sp>
      <p:sp>
        <p:nvSpPr>
          <p:cNvPr id="131" name="Google Shape;131;p4"/>
          <p:cNvSpPr txBox="1"/>
          <p:nvPr/>
        </p:nvSpPr>
        <p:spPr>
          <a:xfrm>
            <a:off x="468312" y="5270500"/>
            <a:ext cx="6480175" cy="1370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Peer contact and friendship is linked to resilience in the face of adversity.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ocksrgb" id="136" name="Google Shape;13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8850" y="5445125"/>
            <a:ext cx="1547812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5"/>
          <p:cNvSpPr txBox="1"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0" y="125412"/>
            <a:ext cx="914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 Black"/>
              <a:buNone/>
            </a:pPr>
            <a:r>
              <a:rPr b="0" i="0" lang="en-US" sz="14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E D U C A T I O N A L   P S Y C H O L O G Y   S E R V I C E</a:t>
            </a:r>
            <a:endParaRPr/>
          </a:p>
        </p:txBody>
      </p:sp>
      <p:pic>
        <p:nvPicPr>
          <p:cNvPr descr="Image windsor and Maidenhead" id="139" name="Google Shape;13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37587" y="0"/>
            <a:ext cx="506412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5"/>
          <p:cNvSpPr txBox="1"/>
          <p:nvPr/>
        </p:nvSpPr>
        <p:spPr>
          <a:xfrm>
            <a:off x="755650" y="1196975"/>
            <a:ext cx="77041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Goals of Peer Interaction</a:t>
            </a:r>
            <a:endParaRPr/>
          </a:p>
        </p:txBody>
      </p:sp>
      <p:sp>
        <p:nvSpPr>
          <p:cNvPr id="142" name="Google Shape;142;p5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Stage 1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development of co-ordinated play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-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Peers are help givers and companions.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Stage 2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Group Acceptance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-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Peers are evaluators and social comparison becomes more important. </a:t>
            </a:r>
            <a:endParaRPr/>
          </a:p>
          <a:p>
            <a:pPr indent="-1651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Adolescence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Intimacy and self-disclosure.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Peers take over from parents as main confidant. 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ocksrgb" id="147" name="Google Shape;14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8850" y="5445125"/>
            <a:ext cx="1547812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6"/>
          <p:cNvSpPr txBox="1"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0" y="125412"/>
            <a:ext cx="914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 Black"/>
              <a:buNone/>
            </a:pPr>
            <a:r>
              <a:rPr b="0" i="0" lang="en-US" sz="14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E D U C A T I O N A L   P S Y C H O L O G Y   S E R V I C E</a:t>
            </a:r>
            <a:endParaRPr/>
          </a:p>
        </p:txBody>
      </p:sp>
      <p:pic>
        <p:nvPicPr>
          <p:cNvPr descr="Image windsor and Maidenhead"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37587" y="0"/>
            <a:ext cx="506412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"/>
          <p:cNvSpPr txBox="1"/>
          <p:nvPr/>
        </p:nvSpPr>
        <p:spPr>
          <a:xfrm>
            <a:off x="755650" y="1196975"/>
            <a:ext cx="77041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901700" y="8255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Schools can make a difference</a:t>
            </a:r>
            <a:endParaRPr/>
          </a:p>
        </p:txBody>
      </p:sp>
      <p:sp>
        <p:nvSpPr>
          <p:cNvPr id="153" name="Google Shape;153;p6"/>
          <p:cNvSpPr txBox="1"/>
          <p:nvPr/>
        </p:nvSpPr>
        <p:spPr>
          <a:xfrm>
            <a:off x="901700" y="21971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Social and Emotional Learning Programmes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(e.g. SEAL, FRIENDS) can lead to significant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improvements in: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Social and emotional skills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Attitudes about self, others and school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Classroom behaviour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Emotional distress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Achievement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Sociometric measures can be used to identify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higher-risk children.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ocksrgb" id="158" name="Google Shape;15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8850" y="5445125"/>
            <a:ext cx="1547812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7"/>
          <p:cNvSpPr txBox="1"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"/>
          <p:cNvSpPr txBox="1"/>
          <p:nvPr/>
        </p:nvSpPr>
        <p:spPr>
          <a:xfrm>
            <a:off x="0" y="125412"/>
            <a:ext cx="914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 Black"/>
              <a:buNone/>
            </a:pPr>
            <a:r>
              <a:rPr b="0" i="0" lang="en-US" sz="14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E D U C A T I O N A L   P S Y C H O L O G Y   S E R V I C E</a:t>
            </a:r>
            <a:endParaRPr/>
          </a:p>
        </p:txBody>
      </p:sp>
      <p:pic>
        <p:nvPicPr>
          <p:cNvPr descr="Image windsor and Maidenhead" id="161" name="Google Shape;16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37587" y="0"/>
            <a:ext cx="506412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7"/>
          <p:cNvSpPr txBox="1"/>
          <p:nvPr/>
        </p:nvSpPr>
        <p:spPr>
          <a:xfrm>
            <a:off x="755650" y="1196975"/>
            <a:ext cx="77041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7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Interpreting a Sociogram</a:t>
            </a:r>
            <a:endParaRPr/>
          </a:p>
        </p:txBody>
      </p:sp>
      <p:sp>
        <p:nvSpPr>
          <p:cNvPr id="164" name="Google Shape;164;p7"/>
          <p:cNvSpPr txBox="1"/>
          <p:nvPr>
            <p:ph idx="1" type="body"/>
          </p:nvPr>
        </p:nvSpPr>
        <p:spPr>
          <a:xfrm>
            <a:off x="1619250" y="1981200"/>
            <a:ext cx="683895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Average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 few positive and a few negative nominations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Popular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lots of positive nominations and a few negative nominations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Controversial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lots of positive and lots of negative nominations.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Neglected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very few nominations in either category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Rejected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lots of negative nominations and few positive nominations.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539750" y="2060575"/>
            <a:ext cx="792162" cy="504825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539750" y="2852737"/>
            <a:ext cx="792162" cy="504825"/>
          </a:xfrm>
          <a:prstGeom prst="ellipse">
            <a:avLst/>
          </a:prstGeom>
          <a:solidFill>
            <a:srgbClr val="00CC66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539750" y="4437062"/>
            <a:ext cx="792162" cy="504825"/>
          </a:xfrm>
          <a:prstGeom prst="ellipse">
            <a:avLst/>
          </a:prstGeom>
          <a:solidFill>
            <a:srgbClr val="FF66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539750" y="5229225"/>
            <a:ext cx="792162" cy="504825"/>
          </a:xfrm>
          <a:prstGeom prst="ellipse">
            <a:avLst/>
          </a:prstGeom>
          <a:solidFill>
            <a:schemeClr val="fol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539750" y="3644900"/>
            <a:ext cx="792162" cy="504825"/>
          </a:xfrm>
          <a:prstGeom prst="ellipse">
            <a:avLst/>
          </a:prstGeom>
          <a:solidFill>
            <a:srgbClr val="FF9933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 txBox="1"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8"/>
          <p:cNvSpPr txBox="1"/>
          <p:nvPr/>
        </p:nvSpPr>
        <p:spPr>
          <a:xfrm>
            <a:off x="0" y="125412"/>
            <a:ext cx="914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 Black"/>
              <a:buNone/>
            </a:pPr>
            <a:r>
              <a:rPr b="0" i="0" lang="en-US" sz="14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E D U C A T I O N A L   P S Y C H O L O G Y   S E R V I C E</a:t>
            </a:r>
            <a:endParaRPr/>
          </a:p>
        </p:txBody>
      </p:sp>
      <p:pic>
        <p:nvPicPr>
          <p:cNvPr descr="Image windsor and Maidenhead" id="176" name="Google Shape;17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37587" y="0"/>
            <a:ext cx="506412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8"/>
          <p:cNvSpPr txBox="1"/>
          <p:nvPr/>
        </p:nvSpPr>
        <p:spPr>
          <a:xfrm>
            <a:off x="755650" y="1196975"/>
            <a:ext cx="77041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8" name="Google Shape;178;p8"/>
          <p:cNvGraphicFramePr/>
          <p:nvPr/>
        </p:nvGraphicFramePr>
        <p:xfrm>
          <a:off x="1187450" y="1268412"/>
          <a:ext cx="7056437" cy="4537075"/>
        </p:xfrm>
        <a:graphic>
          <a:graphicData uri="http://schemas.openxmlformats.org/presentationml/2006/ole">
            <mc:AlternateContent>
              <mc:Choice Requires="v">
                <p:oleObj r:id="rId5" imgH="4537075" imgW="7056437" progId="Excel.Chart.8" spid="_x0000_s1">
                  <p:embed/>
                </p:oleObj>
              </mc:Choice>
              <mc:Fallback>
                <p:oleObj r:id="rId6" imgH="4537075" imgW="7056437" progId="Excel.Chart.8">
                  <p:embed/>
                  <p:pic>
                    <p:nvPicPr>
                      <p:cNvPr id="178" name="Google Shape;178;p8"/>
                      <p:cNvPicPr preferRelativeResize="0"/>
                      <p:nvPr/>
                    </p:nvPicPr>
                    <p:blipFill rotWithShape="1">
                      <a:blip r:embed="rId7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187450" y="1268412"/>
                        <a:ext cx="7056437" cy="453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9" name="Google Shape;179;p8"/>
          <p:cNvSpPr txBox="1"/>
          <p:nvPr/>
        </p:nvSpPr>
        <p:spPr>
          <a:xfrm>
            <a:off x="684212" y="333375"/>
            <a:ext cx="7559675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8"/>
          <p:cNvSpPr txBox="1"/>
          <p:nvPr/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Peer Status</a:t>
            </a:r>
            <a:endParaRPr/>
          </a:p>
        </p:txBody>
      </p:sp>
      <p:pic>
        <p:nvPicPr>
          <p:cNvPr descr="blocksrgb" id="181" name="Google Shape;181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40650" y="5770562"/>
            <a:ext cx="1187450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ocksrgb" id="186" name="Google Shape;18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8850" y="5445125"/>
            <a:ext cx="1547812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9"/>
          <p:cNvSpPr txBox="1"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9"/>
          <p:cNvSpPr txBox="1"/>
          <p:nvPr/>
        </p:nvSpPr>
        <p:spPr>
          <a:xfrm>
            <a:off x="0" y="125412"/>
            <a:ext cx="914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 Black"/>
              <a:buNone/>
            </a:pPr>
            <a:r>
              <a:rPr b="0" i="0" lang="en-US" sz="14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E D U C A T I O N A L   P S Y C H O L O G Y   S E R V I C E</a:t>
            </a:r>
            <a:endParaRPr/>
          </a:p>
        </p:txBody>
      </p:sp>
      <p:pic>
        <p:nvPicPr>
          <p:cNvPr descr="Image windsor and Maidenhead" id="189" name="Google Shape;18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37587" y="0"/>
            <a:ext cx="506412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9"/>
          <p:cNvSpPr txBox="1"/>
          <p:nvPr/>
        </p:nvSpPr>
        <p:spPr>
          <a:xfrm>
            <a:off x="684212" y="6207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Behavioural Reputation</a:t>
            </a:r>
            <a:endParaRPr/>
          </a:p>
        </p:txBody>
      </p:sp>
      <p:graphicFrame>
        <p:nvGraphicFramePr>
          <p:cNvPr id="191" name="Google Shape;191;p9"/>
          <p:cNvGraphicFramePr/>
          <p:nvPr/>
        </p:nvGraphicFramePr>
        <p:xfrm>
          <a:off x="468312" y="2060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{B7943C7C-CA58-4B96-B1C6-D2BB5A9DF406}</a:tableStyleId>
              </a:tblPr>
              <a:tblGrid>
                <a:gridCol w="3024175"/>
                <a:gridCol w="2520950"/>
                <a:gridCol w="2519350"/>
              </a:tblGrid>
              <a:tr h="2951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1" i="0" lang="en-US" sz="280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Popular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More cooperative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Less disruptive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Less aggressive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Seen as a leader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1" i="0" lang="en-US" sz="280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Rejected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Less cooperative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Seen less as a leader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1" i="0" lang="en-US" sz="280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Controversial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Most disruptive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Most aggressive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ocksrgb" id="196" name="Google Shape;19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8850" y="5445125"/>
            <a:ext cx="1547812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0"/>
          <p:cNvSpPr txBox="1"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0"/>
          <p:cNvSpPr txBox="1"/>
          <p:nvPr/>
        </p:nvSpPr>
        <p:spPr>
          <a:xfrm>
            <a:off x="0" y="125412"/>
            <a:ext cx="914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 Black"/>
              <a:buNone/>
            </a:pPr>
            <a:r>
              <a:rPr b="0" i="0" lang="en-US" sz="14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E D U C A T I O N A L   P S Y C H O L O G Y   S E R V I C E</a:t>
            </a:r>
            <a:endParaRPr/>
          </a:p>
        </p:txBody>
      </p:sp>
      <p:pic>
        <p:nvPicPr>
          <p:cNvPr descr="Image windsor and Maidenhead" id="199" name="Google Shape;19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37587" y="0"/>
            <a:ext cx="506412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0"/>
          <p:cNvSpPr txBox="1"/>
          <p:nvPr/>
        </p:nvSpPr>
        <p:spPr>
          <a:xfrm>
            <a:off x="755650" y="1196975"/>
            <a:ext cx="77041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0"/>
          <p:cNvSpPr txBox="1"/>
          <p:nvPr>
            <p:ph idx="1" type="body"/>
          </p:nvPr>
        </p:nvSpPr>
        <p:spPr>
          <a:xfrm>
            <a:off x="684212" y="1557337"/>
            <a:ext cx="7772400" cy="460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groups look at the 3 sociograms,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completed for a class over the period of 1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year.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general trends can you notice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Look at a couple of children and track those whose status has changed for each sociogram – can you suggest why?</a:t>
            </a:r>
            <a:endParaRPr/>
          </a:p>
        </p:txBody>
      </p:sp>
      <p:sp>
        <p:nvSpPr>
          <p:cNvPr id="202" name="Google Shape;202;p10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Activity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ocksrgb" id="207" name="Google Shape;20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8850" y="5445125"/>
            <a:ext cx="1547812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1"/>
          <p:cNvSpPr txBox="1"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1"/>
          <p:cNvSpPr txBox="1"/>
          <p:nvPr/>
        </p:nvSpPr>
        <p:spPr>
          <a:xfrm>
            <a:off x="0" y="125412"/>
            <a:ext cx="914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 Black"/>
              <a:buNone/>
            </a:pPr>
            <a:r>
              <a:rPr b="0" i="0" lang="en-US" sz="14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E D U C A T I O N A L   P S Y C H O L O G Y   S E R V I C E</a:t>
            </a:r>
            <a:endParaRPr/>
          </a:p>
        </p:txBody>
      </p:sp>
      <p:pic>
        <p:nvPicPr>
          <p:cNvPr descr="Image windsor and Maidenhead" id="210" name="Google Shape;21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37587" y="0"/>
            <a:ext cx="506412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1"/>
          <p:cNvSpPr txBox="1"/>
          <p:nvPr/>
        </p:nvSpPr>
        <p:spPr>
          <a:xfrm>
            <a:off x="755650" y="1196975"/>
            <a:ext cx="77041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1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your group</a:t>
            </a:r>
            <a:endParaRPr/>
          </a:p>
          <a:p>
            <a:pPr indent="-609600" lvl="0" marL="609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will be asking them to tell you 3 children they like/don’t like and this is the data you will be feeding into the spread sheet on the website.</a:t>
            </a:r>
            <a:endParaRPr/>
          </a:p>
          <a:p>
            <a:pPr indent="-609600" lvl="0" marL="609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young children you can show them the class pictures for them to pick children they like/don’t like to play with.</a:t>
            </a:r>
            <a:endParaRPr/>
          </a:p>
          <a:p>
            <a:pPr indent="-609600" lvl="0" marL="609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older children they can complete a sheet.</a:t>
            </a:r>
            <a:endParaRPr/>
          </a:p>
        </p:txBody>
      </p:sp>
      <p:sp>
        <p:nvSpPr>
          <p:cNvPr id="213" name="Google Shape;213;p11"/>
          <p:cNvSpPr txBox="1"/>
          <p:nvPr>
            <p:ph type="title"/>
          </p:nvPr>
        </p:nvSpPr>
        <p:spPr>
          <a:xfrm>
            <a:off x="684212" y="620712"/>
            <a:ext cx="7773987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None/>
            </a:pPr>
            <a:br>
              <a:rPr b="0" i="0" lang="en-US" sz="5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5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Getting started….</a:t>
            </a:r>
            <a:br>
              <a:rPr b="0" i="0" lang="en-US" sz="5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ocksrgb" id="218" name="Google Shape;21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8850" y="5445125"/>
            <a:ext cx="1547812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2"/>
          <p:cNvSpPr txBox="1"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2"/>
          <p:cNvSpPr txBox="1"/>
          <p:nvPr/>
        </p:nvSpPr>
        <p:spPr>
          <a:xfrm>
            <a:off x="0" y="125412"/>
            <a:ext cx="914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 Black"/>
              <a:buNone/>
            </a:pPr>
            <a:r>
              <a:rPr b="0" i="0" lang="en-US" sz="14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E D U C A T I O N A L   P S Y C H O L O G Y   S E R V I C E</a:t>
            </a:r>
            <a:endParaRPr/>
          </a:p>
        </p:txBody>
      </p:sp>
      <p:pic>
        <p:nvPicPr>
          <p:cNvPr descr="Image windsor and Maidenhead" id="221" name="Google Shape;22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37587" y="0"/>
            <a:ext cx="506412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2"/>
          <p:cNvSpPr txBox="1"/>
          <p:nvPr/>
        </p:nvSpPr>
        <p:spPr>
          <a:xfrm>
            <a:off x="755650" y="1196975"/>
            <a:ext cx="77041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2"/>
          <p:cNvSpPr txBox="1"/>
          <p:nvPr/>
        </p:nvSpPr>
        <p:spPr>
          <a:xfrm>
            <a:off x="684212" y="836612"/>
            <a:ext cx="7772400" cy="547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to collect your data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2"/>
          <p:cNvSpPr txBox="1"/>
          <p:nvPr/>
        </p:nvSpPr>
        <p:spPr>
          <a:xfrm>
            <a:off x="323850" y="1700212"/>
            <a:ext cx="8208962" cy="3706812"/>
          </a:xfrm>
          <a:prstGeom prst="rect">
            <a:avLst/>
          </a:prstGeom>
          <a:noFill/>
          <a:ln cap="flat" cmpd="dbl" w="38100">
            <a:solidFill>
              <a:srgbClr val="9696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Class:                                 School:                            Date: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My Code:                            boy  or   girl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the code numbers on your class list to answer each question.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1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three children in my class who I MOST like to play with  ___  ___  ___</a:t>
            </a:r>
            <a:endParaRPr/>
          </a:p>
          <a:p>
            <a:pPr indent="-342900" lvl="4" marL="21717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hang out with ______________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three children in my class who I LEAST like to play with ___  ___  ___</a:t>
            </a:r>
            <a:endParaRPr/>
          </a:p>
          <a:p>
            <a:pPr indent="-342900" lvl="0" marL="342900" marR="0" rtl="0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hang out with ______________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ocksrgb" id="229" name="Google Shape;22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8850" y="5445125"/>
            <a:ext cx="1547812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3"/>
          <p:cNvSpPr txBox="1"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3"/>
          <p:cNvSpPr txBox="1"/>
          <p:nvPr/>
        </p:nvSpPr>
        <p:spPr>
          <a:xfrm>
            <a:off x="0" y="125412"/>
            <a:ext cx="914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 Black"/>
              <a:buNone/>
            </a:pPr>
            <a:r>
              <a:rPr b="0" i="0" lang="en-US" sz="14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E D U C A T I O N A L   P S Y C H O L O G Y   S E R V I C E</a:t>
            </a:r>
            <a:endParaRPr/>
          </a:p>
        </p:txBody>
      </p:sp>
      <p:pic>
        <p:nvPicPr>
          <p:cNvPr descr="Image windsor and Maidenhead" id="232" name="Google Shape;23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37587" y="0"/>
            <a:ext cx="506412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3"/>
          <p:cNvSpPr txBox="1"/>
          <p:nvPr/>
        </p:nvSpPr>
        <p:spPr>
          <a:xfrm>
            <a:off x="755650" y="1196975"/>
            <a:ext cx="77041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3"/>
          <p:cNvSpPr txBox="1"/>
          <p:nvPr/>
        </p:nvSpPr>
        <p:spPr>
          <a:xfrm>
            <a:off x="611187" y="4762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Info Tab</a:t>
            </a:r>
            <a:endParaRPr/>
          </a:p>
        </p:txBody>
      </p:sp>
      <p:graphicFrame>
        <p:nvGraphicFramePr>
          <p:cNvPr id="235" name="Google Shape;235;p13"/>
          <p:cNvGraphicFramePr/>
          <p:nvPr/>
        </p:nvGraphicFramePr>
        <p:xfrm>
          <a:off x="323850" y="13414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{B7943C7C-CA58-4B96-B1C6-D2BB5A9DF406}</a:tableStyleId>
              </a:tblPr>
              <a:tblGrid>
                <a:gridCol w="1768475"/>
                <a:gridCol w="5327650"/>
                <a:gridCol w="392100"/>
              </a:tblGrid>
              <a:tr h="517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School:</a:t>
                      </a:r>
                      <a:endParaRPr/>
                    </a:p>
                  </a:txBody>
                  <a:tcPr marT="45725" marB="45725" marR="91450" marL="91450" anchor="b"/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/>
                </a:tc>
                <a:tc hMerge="1"/>
              </a:tr>
              <a:tr h="5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Class:</a:t>
                      </a:r>
                      <a:endParaRPr/>
                    </a:p>
                  </a:txBody>
                  <a:tcPr marT="45725" marB="45725" marR="91450" marL="91450" anchor="b"/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/>
                </a:tc>
                <a:tc hMerge="1"/>
              </a:tr>
              <a:tr h="517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Date:</a:t>
                      </a:r>
                      <a:endParaRPr/>
                    </a:p>
                  </a:txBody>
                  <a:tcPr marT="45725" marB="45725" marR="91450" marL="91450" anchor="b"/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/>
                </a:tc>
                <a:tc hMerge="1"/>
              </a:tr>
              <a:tr h="5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/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NAME</a:t>
                      </a:r>
                      <a:endParaRPr/>
                    </a:p>
                  </a:txBody>
                  <a:tcPr marT="45725" marB="45725" marR="91450" marL="91450" anchor="b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519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5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ocksrgb" id="240" name="Google Shape;24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8850" y="5445125"/>
            <a:ext cx="1547812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4"/>
          <p:cNvSpPr txBox="1"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4"/>
          <p:cNvSpPr txBox="1"/>
          <p:nvPr/>
        </p:nvSpPr>
        <p:spPr>
          <a:xfrm>
            <a:off x="0" y="125412"/>
            <a:ext cx="914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 D U C A T I O N A L   P S Y C H O L O G Y   S E R V I C E</a:t>
            </a:r>
            <a:endParaRPr/>
          </a:p>
        </p:txBody>
      </p:sp>
      <p:pic>
        <p:nvPicPr>
          <p:cNvPr descr="Image windsor and Maidenhead" id="243" name="Google Shape;24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37587" y="0"/>
            <a:ext cx="506412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4"/>
          <p:cNvSpPr txBox="1"/>
          <p:nvPr/>
        </p:nvSpPr>
        <p:spPr>
          <a:xfrm>
            <a:off x="755650" y="1196975"/>
            <a:ext cx="77041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4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How to analyse your survey</a:t>
            </a:r>
            <a:endParaRPr/>
          </a:p>
        </p:txBody>
      </p:sp>
      <p:sp>
        <p:nvSpPr>
          <p:cNvPr id="246" name="Google Shape;246;p14"/>
          <p:cNvSpPr txBox="1"/>
          <p:nvPr>
            <p:ph idx="1" type="body"/>
          </p:nvPr>
        </p:nvSpPr>
        <p:spPr>
          <a:xfrm>
            <a:off x="684212" y="17002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 the website: </a:t>
            </a:r>
            <a:endParaRPr/>
          </a:p>
          <a:p>
            <a:pPr indent="-609600" lvl="0" marL="6096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http://www.sussex.ac.uk/Users/robinb/socio.html</a:t>
            </a:r>
            <a:endParaRPr/>
          </a:p>
          <a:p>
            <a:pPr indent="-609600" lvl="0" marL="6096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Click ‘Recording and formatting sociometric data’ </a:t>
            </a:r>
            <a:endParaRPr/>
          </a:p>
          <a:p>
            <a:pPr indent="-609600" lvl="0" marL="6096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Download the Excel spreadsheet (click ‘here’)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ocksrgb" id="251" name="Google Shape;2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8850" y="5445125"/>
            <a:ext cx="1547812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5"/>
          <p:cNvSpPr txBox="1"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5"/>
          <p:cNvSpPr txBox="1"/>
          <p:nvPr/>
        </p:nvSpPr>
        <p:spPr>
          <a:xfrm>
            <a:off x="0" y="125412"/>
            <a:ext cx="914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 Black"/>
              <a:buNone/>
            </a:pPr>
            <a:r>
              <a:rPr b="0" i="0" lang="en-US" sz="14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E D U C A T I O N A L   P S Y C H O L O G Y   S E R V I C E</a:t>
            </a:r>
            <a:endParaRPr/>
          </a:p>
        </p:txBody>
      </p:sp>
      <p:pic>
        <p:nvPicPr>
          <p:cNvPr descr="Image windsor and Maidenhead" id="254" name="Google Shape;25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37587" y="0"/>
            <a:ext cx="506412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5"/>
          <p:cNvSpPr txBox="1"/>
          <p:nvPr/>
        </p:nvSpPr>
        <p:spPr>
          <a:xfrm>
            <a:off x="755650" y="1196975"/>
            <a:ext cx="77041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5"/>
          <p:cNvSpPr txBox="1"/>
          <p:nvPr/>
        </p:nvSpPr>
        <p:spPr>
          <a:xfrm>
            <a:off x="755650" y="6207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Tab</a:t>
            </a:r>
            <a:endParaRPr/>
          </a:p>
        </p:txBody>
      </p:sp>
      <p:graphicFrame>
        <p:nvGraphicFramePr>
          <p:cNvPr id="257" name="Google Shape;257;p15"/>
          <p:cNvGraphicFramePr/>
          <p:nvPr/>
        </p:nvGraphicFramePr>
        <p:xfrm>
          <a:off x="395287" y="1628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{B7943C7C-CA58-4B96-B1C6-D2BB5A9DF406}</a:tableStyleId>
              </a:tblPr>
              <a:tblGrid>
                <a:gridCol w="1176325"/>
                <a:gridCol w="1174750"/>
                <a:gridCol w="1176325"/>
                <a:gridCol w="1174750"/>
                <a:gridCol w="1176325"/>
                <a:gridCol w="1174750"/>
                <a:gridCol w="1176325"/>
              </a:tblGrid>
              <a:tr h="549275"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ML1</a:t>
                      </a:r>
                      <a:endParaRPr/>
                    </a:p>
                  </a:txBody>
                  <a:tcPr marT="45725" marB="45725" marR="91450" marL="91450" anchor="b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ML2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ML3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LL1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LL2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LL3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5925"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4 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8 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9 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2 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6 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0850"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2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3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6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8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4 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7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8 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8" name="Google Shape;258;p15"/>
          <p:cNvSpPr txBox="1"/>
          <p:nvPr/>
        </p:nvSpPr>
        <p:spPr>
          <a:xfrm>
            <a:off x="395287" y="5661025"/>
            <a:ext cx="6408737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you have entered the data you will probably want to save the spreadsheet for future reference.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ocksrgb" id="263" name="Google Shape;26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8850" y="5445125"/>
            <a:ext cx="1547812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6"/>
          <p:cNvSpPr txBox="1"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6"/>
          <p:cNvSpPr txBox="1"/>
          <p:nvPr/>
        </p:nvSpPr>
        <p:spPr>
          <a:xfrm>
            <a:off x="0" y="125412"/>
            <a:ext cx="914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 Black"/>
              <a:buNone/>
            </a:pPr>
            <a:r>
              <a:rPr b="0" i="0" lang="en-US" sz="14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E D U C A T I O N A L   P S Y C H O L O G Y   S E R V I C E</a:t>
            </a:r>
            <a:endParaRPr/>
          </a:p>
        </p:txBody>
      </p:sp>
      <p:pic>
        <p:nvPicPr>
          <p:cNvPr descr="Image windsor and Maidenhead" id="266" name="Google Shape;26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37587" y="0"/>
            <a:ext cx="506412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6"/>
          <p:cNvSpPr txBox="1"/>
          <p:nvPr/>
        </p:nvSpPr>
        <p:spPr>
          <a:xfrm>
            <a:off x="755650" y="1196975"/>
            <a:ext cx="77041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6"/>
          <p:cNvSpPr txBox="1"/>
          <p:nvPr/>
        </p:nvSpPr>
        <p:spPr>
          <a:xfrm>
            <a:off x="611187" y="549275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Matrix Tab</a:t>
            </a:r>
            <a:endParaRPr/>
          </a:p>
        </p:txBody>
      </p:sp>
      <p:sp>
        <p:nvSpPr>
          <p:cNvPr id="269" name="Google Shape;269;p16"/>
          <p:cNvSpPr txBox="1"/>
          <p:nvPr/>
        </p:nvSpPr>
        <p:spPr>
          <a:xfrm>
            <a:off x="611187" y="1844675"/>
            <a:ext cx="7489825" cy="2592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summarises the info. you have added.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column maps the nominations for one child onto the other children in the class.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bottom row gives total number of ML and LL nominations for each child.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0" name="Google Shape;270;p16"/>
          <p:cNvGraphicFramePr/>
          <p:nvPr/>
        </p:nvGraphicFramePr>
        <p:xfrm>
          <a:off x="323850" y="4581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{B7943C7C-CA58-4B96-B1C6-D2BB5A9DF406}</a:tableStyleId>
              </a:tblPr>
              <a:tblGrid>
                <a:gridCol w="911225"/>
                <a:gridCol w="768350"/>
                <a:gridCol w="766750"/>
                <a:gridCol w="768350"/>
                <a:gridCol w="768350"/>
                <a:gridCol w="768350"/>
                <a:gridCol w="766750"/>
                <a:gridCol w="769925"/>
                <a:gridCol w="768350"/>
              </a:tblGrid>
              <a:tr h="50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9575"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ML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900"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ocksrgb" id="275" name="Google Shape;27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8850" y="5445125"/>
            <a:ext cx="1547812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7"/>
          <p:cNvSpPr txBox="1"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7"/>
          <p:cNvSpPr txBox="1"/>
          <p:nvPr/>
        </p:nvSpPr>
        <p:spPr>
          <a:xfrm>
            <a:off x="0" y="125412"/>
            <a:ext cx="914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 Black"/>
              <a:buNone/>
            </a:pPr>
            <a:r>
              <a:rPr b="0" i="0" lang="en-US" sz="14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E D U C A T I O N A L   P S Y C H O L O G Y   S E R V I C E</a:t>
            </a:r>
            <a:endParaRPr/>
          </a:p>
        </p:txBody>
      </p:sp>
      <p:pic>
        <p:nvPicPr>
          <p:cNvPr descr="Image windsor and Maidenhead" id="278" name="Google Shape;27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37587" y="0"/>
            <a:ext cx="506412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7"/>
          <p:cNvSpPr txBox="1"/>
          <p:nvPr/>
        </p:nvSpPr>
        <p:spPr>
          <a:xfrm>
            <a:off x="755650" y="1196975"/>
            <a:ext cx="77041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7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Text Tab</a:t>
            </a:r>
            <a:endParaRPr/>
          </a:p>
        </p:txBody>
      </p:sp>
      <p:sp>
        <p:nvSpPr>
          <p:cNvPr id="281" name="Google Shape;281;p17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Highlight data and copy (Edit Menu)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 back to website and download ‘socio file creator’ – choose the appropriate one (most likely ML and LL for Windows).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‘run’ if it asks.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the socio file creator opens press ‘click to paste your data’. The data you copied should go into the box.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28650" y="50800"/>
            <a:ext cx="10401300" cy="675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8"/>
          <p:cNvSpPr txBox="1"/>
          <p:nvPr/>
        </p:nvSpPr>
        <p:spPr>
          <a:xfrm>
            <a:off x="395287" y="2565400"/>
            <a:ext cx="8424862" cy="345598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ocio file creator blank example.tiff" id="292" name="Google Shape;29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5062" y="0"/>
            <a:ext cx="65246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9"/>
          <p:cNvSpPr/>
          <p:nvPr/>
        </p:nvSpPr>
        <p:spPr>
          <a:xfrm rot="1200000">
            <a:off x="474662" y="941387"/>
            <a:ext cx="1439862" cy="64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ocio file creator example.tiff" id="298" name="Google Shape;29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300" y="0"/>
            <a:ext cx="65976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0"/>
          <p:cNvSpPr/>
          <p:nvPr/>
        </p:nvSpPr>
        <p:spPr>
          <a:xfrm rot="1200000">
            <a:off x="2051050" y="5300662"/>
            <a:ext cx="1439862" cy="64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ocksrgb" id="304" name="Google Shape;3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8850" y="5445125"/>
            <a:ext cx="1547812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1"/>
          <p:cNvSpPr txBox="1"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1"/>
          <p:cNvSpPr txBox="1"/>
          <p:nvPr/>
        </p:nvSpPr>
        <p:spPr>
          <a:xfrm>
            <a:off x="0" y="125412"/>
            <a:ext cx="914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 Black"/>
              <a:buNone/>
            </a:pPr>
            <a:r>
              <a:rPr b="0" i="0" lang="en-US" sz="14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E D U C A T I O N A L   P S Y C H O L O G Y   S E R V I C E</a:t>
            </a:r>
            <a:endParaRPr/>
          </a:p>
        </p:txBody>
      </p:sp>
      <p:pic>
        <p:nvPicPr>
          <p:cNvPr descr="Image windsor and Maidenhead" id="307" name="Google Shape;30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37587" y="0"/>
            <a:ext cx="506412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1"/>
          <p:cNvSpPr txBox="1"/>
          <p:nvPr/>
        </p:nvSpPr>
        <p:spPr>
          <a:xfrm>
            <a:off x="755650" y="1196975"/>
            <a:ext cx="77041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1"/>
          <p:cNvSpPr txBox="1"/>
          <p:nvPr/>
        </p:nvSpPr>
        <p:spPr>
          <a:xfrm>
            <a:off x="901700" y="8255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Creating your sociogram</a:t>
            </a:r>
            <a:endParaRPr/>
          </a:p>
        </p:txBody>
      </p:sp>
      <p:sp>
        <p:nvSpPr>
          <p:cNvPr id="310" name="Google Shape;310;p21"/>
          <p:cNvSpPr txBox="1"/>
          <p:nvPr/>
        </p:nvSpPr>
        <p:spPr>
          <a:xfrm>
            <a:off x="827087" y="2060575"/>
            <a:ext cx="7772400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Press ‘create socio.dot file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should get a message ‘socio.dot file has been created. Press OK to quit’. Press OK!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then need to find out where the computer has saved the file!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Tip- use the ‘search’ function to look for files containing ‘socio.dot’.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2"/>
          <p:cNvSpPr txBox="1"/>
          <p:nvPr>
            <p:ph idx="4294967295"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" name="Google Shape;316;p22"/>
          <p:cNvSpPr txBox="1"/>
          <p:nvPr>
            <p:ph idx="4294967295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7" name="Google Shape;31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550" y="44450"/>
            <a:ext cx="7962900" cy="676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2"/>
          <p:cNvSpPr/>
          <p:nvPr/>
        </p:nvSpPr>
        <p:spPr>
          <a:xfrm rot="8940000">
            <a:off x="3635375" y="3644900"/>
            <a:ext cx="1439862" cy="64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>
              <a:alpha val="34509"/>
            </a:schemeClr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ocksrgb" id="323" name="Google Shape;32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8850" y="5445125"/>
            <a:ext cx="1547812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3"/>
          <p:cNvSpPr txBox="1"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3"/>
          <p:cNvSpPr txBox="1"/>
          <p:nvPr/>
        </p:nvSpPr>
        <p:spPr>
          <a:xfrm>
            <a:off x="0" y="125412"/>
            <a:ext cx="914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 Black"/>
              <a:buNone/>
            </a:pPr>
            <a:r>
              <a:rPr b="0" i="0" lang="en-US" sz="14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E D U C A T I O N A L   P S Y C H O L O G Y   S E R V I C E</a:t>
            </a:r>
            <a:endParaRPr/>
          </a:p>
        </p:txBody>
      </p:sp>
      <p:pic>
        <p:nvPicPr>
          <p:cNvPr descr="Image windsor and Maidenhead" id="326" name="Google Shape;32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37587" y="0"/>
            <a:ext cx="506412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3"/>
          <p:cNvSpPr txBox="1"/>
          <p:nvPr/>
        </p:nvSpPr>
        <p:spPr>
          <a:xfrm>
            <a:off x="755650" y="1196975"/>
            <a:ext cx="77041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23"/>
          <p:cNvSpPr txBox="1"/>
          <p:nvPr/>
        </p:nvSpPr>
        <p:spPr>
          <a:xfrm>
            <a:off x="901700" y="8255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Viewing the sociogram</a:t>
            </a:r>
            <a:endParaRPr/>
          </a:p>
        </p:txBody>
      </p:sp>
      <p:sp>
        <p:nvSpPr>
          <p:cNvPr id="329" name="Google Shape;329;p23"/>
          <p:cNvSpPr txBox="1"/>
          <p:nvPr/>
        </p:nvSpPr>
        <p:spPr>
          <a:xfrm>
            <a:off x="684212" y="1844675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 back to the website and click ‘viewing your sociogram’.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‘browse’ and find your file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‘upload’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should get a message ‘generating graph’. This can take 1-2 mins.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Your sociogram will appear below! (If not you might need to right click and choose ‘show picture’)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can then right click on the sociogram and save it to look at later.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88900" y="-882650"/>
            <a:ext cx="9321800" cy="86233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4"/>
          <p:cNvSpPr/>
          <p:nvPr/>
        </p:nvSpPr>
        <p:spPr>
          <a:xfrm rot="8400000">
            <a:off x="1258887" y="4941887"/>
            <a:ext cx="1439862" cy="64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>
              <a:alpha val="18431"/>
            </a:schemeClr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ociogram example.dot.neato.png" id="340" name="Google Shape;34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1400" y="0"/>
            <a:ext cx="65849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ocksrgb" id="345" name="Google Shape;34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8850" y="5445125"/>
            <a:ext cx="1547812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6"/>
          <p:cNvSpPr txBox="1"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6"/>
          <p:cNvSpPr txBox="1"/>
          <p:nvPr/>
        </p:nvSpPr>
        <p:spPr>
          <a:xfrm>
            <a:off x="0" y="125412"/>
            <a:ext cx="914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 Black"/>
              <a:buNone/>
            </a:pPr>
            <a:r>
              <a:rPr b="0" i="0" lang="en-US" sz="14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E D U C A T I O N A L   P S Y C H O L O G Y   S E R V I C E</a:t>
            </a:r>
            <a:endParaRPr/>
          </a:p>
        </p:txBody>
      </p:sp>
      <p:pic>
        <p:nvPicPr>
          <p:cNvPr descr="Image windsor and Maidenhead" id="348" name="Google Shape;34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37587" y="0"/>
            <a:ext cx="506412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6"/>
          <p:cNvSpPr txBox="1"/>
          <p:nvPr/>
        </p:nvSpPr>
        <p:spPr>
          <a:xfrm>
            <a:off x="755650" y="1196975"/>
            <a:ext cx="77041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26"/>
          <p:cNvSpPr txBox="1"/>
          <p:nvPr/>
        </p:nvSpPr>
        <p:spPr>
          <a:xfrm>
            <a:off x="901700" y="8255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Interpreting your sociogram</a:t>
            </a:r>
            <a:endParaRPr/>
          </a:p>
        </p:txBody>
      </p:sp>
      <p:sp>
        <p:nvSpPr>
          <p:cNvPr id="351" name="Google Shape;351;p26"/>
          <p:cNvSpPr txBox="1"/>
          <p:nvPr/>
        </p:nvSpPr>
        <p:spPr>
          <a:xfrm>
            <a:off x="901700" y="21971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child in the class is a node.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Arrows indicate ML nominations.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 headed arrows indicate reciprocated ML nominations.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this is linked to LL, the coloureds nodes suggest the following: 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Green = popular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Grey = rejected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Pink = neglected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Orange = controversial 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White = average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ocksrgb" id="356" name="Google Shape;35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8850" y="5445125"/>
            <a:ext cx="1547812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7"/>
          <p:cNvSpPr txBox="1"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7"/>
          <p:cNvSpPr txBox="1"/>
          <p:nvPr/>
        </p:nvSpPr>
        <p:spPr>
          <a:xfrm>
            <a:off x="0" y="125412"/>
            <a:ext cx="914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 Black"/>
              <a:buNone/>
            </a:pPr>
            <a:r>
              <a:rPr b="0" i="0" lang="en-US" sz="14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E D U C A T I O N A L   P S Y C H O L O G Y   S E R V I C E</a:t>
            </a:r>
            <a:endParaRPr/>
          </a:p>
        </p:txBody>
      </p:sp>
      <p:pic>
        <p:nvPicPr>
          <p:cNvPr descr="Image windsor and Maidenhead" id="359" name="Google Shape;35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37587" y="0"/>
            <a:ext cx="506412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27"/>
          <p:cNvSpPr txBox="1"/>
          <p:nvPr/>
        </p:nvSpPr>
        <p:spPr>
          <a:xfrm>
            <a:off x="755650" y="1196975"/>
            <a:ext cx="77041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7"/>
          <p:cNvSpPr txBox="1"/>
          <p:nvPr/>
        </p:nvSpPr>
        <p:spPr>
          <a:xfrm>
            <a:off x="901700" y="8255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Things to look for…</a:t>
            </a:r>
            <a:endParaRPr/>
          </a:p>
        </p:txBody>
      </p:sp>
      <p:sp>
        <p:nvSpPr>
          <p:cNvPr id="362" name="Google Shape;362;p27"/>
          <p:cNvSpPr txBox="1"/>
          <p:nvPr/>
        </p:nvSpPr>
        <p:spPr>
          <a:xfrm>
            <a:off x="901700" y="21971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rabicPeriod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Look at profile and peer networks of individual children. </a:t>
            </a:r>
            <a:endParaRPr/>
          </a:p>
          <a:p>
            <a:pPr indent="-609600" lvl="0" marL="609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rabicPeriod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Look for groups of pupils that stand out.</a:t>
            </a:r>
            <a:endParaRPr/>
          </a:p>
          <a:p>
            <a:pPr indent="-609600" lvl="0" marL="609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rabicPeriod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Look at the rejected children in more depth. 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ocksrgb" id="367" name="Google Shape;36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8850" y="5445125"/>
            <a:ext cx="1547812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28"/>
          <p:cNvSpPr txBox="1"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8"/>
          <p:cNvSpPr txBox="1"/>
          <p:nvPr/>
        </p:nvSpPr>
        <p:spPr>
          <a:xfrm>
            <a:off x="0" y="125412"/>
            <a:ext cx="914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 Black"/>
              <a:buNone/>
            </a:pPr>
            <a:r>
              <a:rPr b="0" i="0" lang="en-US" sz="14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E D U C A T I O N A L   P S Y C H O L O G Y   S E R V I C E</a:t>
            </a:r>
            <a:endParaRPr/>
          </a:p>
        </p:txBody>
      </p:sp>
      <p:pic>
        <p:nvPicPr>
          <p:cNvPr descr="Image windsor and Maidenhead" id="370" name="Google Shape;37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37587" y="0"/>
            <a:ext cx="506412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8"/>
          <p:cNvSpPr txBox="1"/>
          <p:nvPr/>
        </p:nvSpPr>
        <p:spPr>
          <a:xfrm>
            <a:off x="755650" y="1196975"/>
            <a:ext cx="77041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locksrgb" id="372" name="Google Shape;37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8850" y="5445125"/>
            <a:ext cx="1547812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8"/>
          <p:cNvSpPr txBox="1"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8"/>
          <p:cNvSpPr txBox="1"/>
          <p:nvPr/>
        </p:nvSpPr>
        <p:spPr>
          <a:xfrm>
            <a:off x="0" y="125412"/>
            <a:ext cx="914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 Black"/>
              <a:buNone/>
            </a:pPr>
            <a:r>
              <a:rPr b="0" i="0" lang="en-US" sz="14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E D U C A T I O N A L   P S Y C H O L O G Y   S E R V I C E</a:t>
            </a:r>
            <a:endParaRPr/>
          </a:p>
        </p:txBody>
      </p:sp>
      <p:pic>
        <p:nvPicPr>
          <p:cNvPr descr="Image windsor and Maidenhead" id="375" name="Google Shape;37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37587" y="0"/>
            <a:ext cx="506412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8"/>
          <p:cNvSpPr txBox="1"/>
          <p:nvPr/>
        </p:nvSpPr>
        <p:spPr>
          <a:xfrm>
            <a:off x="755650" y="1196975"/>
            <a:ext cx="77041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8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…so what does this mean?</a:t>
            </a:r>
            <a:endParaRPr/>
          </a:p>
        </p:txBody>
      </p:sp>
      <p:sp>
        <p:nvSpPr>
          <p:cNvPr id="378" name="Google Shape;378;p28"/>
          <p:cNvSpPr txBox="1"/>
          <p:nvPr>
            <p:ph idx="1" type="body"/>
          </p:nvPr>
        </p:nvSpPr>
        <p:spPr>
          <a:xfrm>
            <a:off x="1619250" y="1981200"/>
            <a:ext cx="67691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Popular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Generally socially competent pupils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Controversial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Less stable classification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Often dominant and perceived as popular, but can be disruptive and aggressive, with a significant impact in the class.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1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Neglected/Low social impact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these pupils usually well-adjusted, if shy.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Rejected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 stable classification, i.e. difficult to shift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Most ‘at risk’ and externalise and/or internalise problems.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8"/>
          <p:cNvSpPr/>
          <p:nvPr/>
        </p:nvSpPr>
        <p:spPr>
          <a:xfrm>
            <a:off x="395287" y="1844675"/>
            <a:ext cx="792162" cy="504825"/>
          </a:xfrm>
          <a:prstGeom prst="ellipse">
            <a:avLst/>
          </a:prstGeom>
          <a:solidFill>
            <a:srgbClr val="00CC66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8"/>
          <p:cNvSpPr/>
          <p:nvPr/>
        </p:nvSpPr>
        <p:spPr>
          <a:xfrm>
            <a:off x="395287" y="3933825"/>
            <a:ext cx="792162" cy="504825"/>
          </a:xfrm>
          <a:prstGeom prst="ellipse">
            <a:avLst/>
          </a:prstGeom>
          <a:solidFill>
            <a:srgbClr val="FF66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8"/>
          <p:cNvSpPr/>
          <p:nvPr/>
        </p:nvSpPr>
        <p:spPr>
          <a:xfrm>
            <a:off x="395287" y="4868862"/>
            <a:ext cx="792162" cy="504825"/>
          </a:xfrm>
          <a:prstGeom prst="ellipse">
            <a:avLst/>
          </a:prstGeom>
          <a:solidFill>
            <a:schemeClr val="fol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8"/>
          <p:cNvSpPr/>
          <p:nvPr/>
        </p:nvSpPr>
        <p:spPr>
          <a:xfrm>
            <a:off x="468312" y="2781300"/>
            <a:ext cx="792162" cy="504825"/>
          </a:xfrm>
          <a:prstGeom prst="ellipse">
            <a:avLst/>
          </a:prstGeom>
          <a:solidFill>
            <a:srgbClr val="FF9933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ocksrgb" id="387" name="Google Shape;38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38200"/>
            <a:ext cx="4572000" cy="322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29"/>
          <p:cNvSpPr txBox="1"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9"/>
          <p:cNvSpPr txBox="1"/>
          <p:nvPr/>
        </p:nvSpPr>
        <p:spPr>
          <a:xfrm>
            <a:off x="0" y="125412"/>
            <a:ext cx="914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 Black"/>
              <a:buNone/>
            </a:pPr>
            <a:r>
              <a:rPr b="0" i="0" lang="en-US" sz="14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E D U C A T I O N A L   P S Y C H O L O G Y   S E R V I C E</a:t>
            </a:r>
            <a:endParaRPr/>
          </a:p>
        </p:txBody>
      </p:sp>
      <p:pic>
        <p:nvPicPr>
          <p:cNvPr descr="Image windsor and Maidenhead" id="390" name="Google Shape;39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58200" y="6096000"/>
            <a:ext cx="506412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29"/>
          <p:cNvSpPr txBox="1"/>
          <p:nvPr/>
        </p:nvSpPr>
        <p:spPr>
          <a:xfrm>
            <a:off x="684212" y="4292600"/>
            <a:ext cx="77057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Please do not use or copy any slides without prior permission from RBWM EPS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1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value your evaluation and request that you complete our evaluation feedback form at the end of this session.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9"/>
          <p:cNvSpPr txBox="1"/>
          <p:nvPr/>
        </p:nvSpPr>
        <p:spPr>
          <a:xfrm>
            <a:off x="4572000" y="2852737"/>
            <a:ext cx="29527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 Black"/>
              <a:buNone/>
            </a:pPr>
            <a:r>
              <a:rPr b="0" i="0" lang="en-US" sz="36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2010-09-21T10:51:58Z</dcterms:created>
  <dc:creator>RBWM</dc:creator>
</cp:coreProperties>
</file>