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56" r:id="rId2"/>
    <p:sldId id="273" r:id="rId3"/>
    <p:sldId id="277" r:id="rId4"/>
    <p:sldId id="279" r:id="rId5"/>
    <p:sldId id="259" r:id="rId6"/>
    <p:sldId id="287" r:id="rId7"/>
    <p:sldId id="257" r:id="rId8"/>
    <p:sldId id="258" r:id="rId9"/>
    <p:sldId id="284" r:id="rId10"/>
    <p:sldId id="272" r:id="rId11"/>
    <p:sldId id="276" r:id="rId12"/>
    <p:sldId id="282" r:id="rId13"/>
    <p:sldId id="275" r:id="rId14"/>
    <p:sldId id="278" r:id="rId15"/>
    <p:sldId id="280" r:id="rId16"/>
    <p:sldId id="283" r:id="rId17"/>
    <p:sldId id="286" r:id="rId18"/>
    <p:sldId id="285" r:id="rId19"/>
    <p:sldId id="288" r:id="rId20"/>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8" autoAdjust="0"/>
    <p:restoredTop sz="91684" autoAdjust="0"/>
  </p:normalViewPr>
  <p:slideViewPr>
    <p:cSldViewPr snapToGrid="0">
      <p:cViewPr varScale="1">
        <p:scale>
          <a:sx n="84" d="100"/>
          <a:sy n="84" d="100"/>
        </p:scale>
        <p:origin x="534" y="96"/>
      </p:cViewPr>
      <p:guideLst/>
    </p:cSldViewPr>
  </p:slideViewPr>
  <p:outlineViewPr>
    <p:cViewPr>
      <p:scale>
        <a:sx n="33" d="100"/>
        <a:sy n="33" d="100"/>
      </p:scale>
      <p:origin x="0" y="-11574"/>
    </p:cViewPr>
  </p:outlineViewPr>
  <p:notesTextViewPr>
    <p:cViewPr>
      <p:scale>
        <a:sx n="1" d="1"/>
        <a:sy n="1" d="1"/>
      </p:scale>
      <p:origin x="0" y="0"/>
    </p:cViewPr>
  </p:notesTextViewPr>
  <p:notesViewPr>
    <p:cSldViewPr snapToGrid="0">
      <p:cViewPr>
        <p:scale>
          <a:sx n="90" d="100"/>
          <a:sy n="90" d="100"/>
        </p:scale>
        <p:origin x="2136" y="-12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B625BC3A-AE5F-40A0-B9B4-A299CBB496E0}" type="datetimeFigureOut">
              <a:rPr lang="en-GB" smtClean="0"/>
              <a:t>18/12/2015</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7ADCDD51-732A-44D8-BAFD-3C8216524EC4}" type="slidenum">
              <a:rPr lang="en-GB" smtClean="0"/>
              <a:t>‹#›</a:t>
            </a:fld>
            <a:endParaRPr lang="en-GB"/>
          </a:p>
        </p:txBody>
      </p:sp>
    </p:spTree>
    <p:extLst>
      <p:ext uri="{BB962C8B-B14F-4D97-AF65-F5344CB8AC3E}">
        <p14:creationId xmlns:p14="http://schemas.microsoft.com/office/powerpoint/2010/main" val="3106208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ADCDD51-732A-44D8-BAFD-3C8216524EC4}" type="slidenum">
              <a:rPr lang="en-GB" smtClean="0"/>
              <a:t>1</a:t>
            </a:fld>
            <a:endParaRPr lang="en-GB"/>
          </a:p>
        </p:txBody>
      </p:sp>
    </p:spTree>
    <p:extLst>
      <p:ext uri="{BB962C8B-B14F-4D97-AF65-F5344CB8AC3E}">
        <p14:creationId xmlns:p14="http://schemas.microsoft.com/office/powerpoint/2010/main" val="3062565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ADCDD51-732A-44D8-BAFD-3C8216524EC4}" type="slidenum">
              <a:rPr lang="en-GB" smtClean="0"/>
              <a:t>2</a:t>
            </a:fld>
            <a:endParaRPr lang="en-GB"/>
          </a:p>
        </p:txBody>
      </p:sp>
    </p:spTree>
    <p:extLst>
      <p:ext uri="{BB962C8B-B14F-4D97-AF65-F5344CB8AC3E}">
        <p14:creationId xmlns:p14="http://schemas.microsoft.com/office/powerpoint/2010/main" val="3731890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By end of KS2 children should write legibly, fluently and with increased speed (DfE, 2013) – although speed doesn’t necessarily result in poor handwriting does have significant impact on child’s academic performance (</a:t>
            </a:r>
            <a:r>
              <a:rPr lang="en-GB" dirty="0" err="1" smtClean="0"/>
              <a:t>Kushki</a:t>
            </a:r>
            <a:r>
              <a:rPr lang="en-GB" dirty="0" smtClean="0"/>
              <a:t> et al, 2011</a:t>
            </a:r>
          </a:p>
          <a:p>
            <a:endParaRPr lang="en-GB" dirty="0" smtClean="0"/>
          </a:p>
          <a:p>
            <a:r>
              <a:rPr lang="en-GB" dirty="0" smtClean="0"/>
              <a:t>Legibility refers</a:t>
            </a:r>
            <a:r>
              <a:rPr lang="en-GB" baseline="0" dirty="0" smtClean="0"/>
              <a:t> to the quality of letter formation and alignment (</a:t>
            </a:r>
            <a:r>
              <a:rPr lang="en-GB" baseline="0" dirty="0" err="1" smtClean="0"/>
              <a:t>Feder</a:t>
            </a:r>
            <a:r>
              <a:rPr lang="en-GB" baseline="0" dirty="0" smtClean="0"/>
              <a:t> &amp; </a:t>
            </a:r>
            <a:r>
              <a:rPr lang="en-GB" baseline="0" dirty="0" err="1" smtClean="0"/>
              <a:t>Majnemer</a:t>
            </a:r>
            <a:r>
              <a:rPr lang="en-GB" baseline="0" dirty="0" smtClean="0"/>
              <a:t>, 2007) </a:t>
            </a:r>
          </a:p>
          <a:p>
            <a:endParaRPr lang="en-GB" baseline="0" dirty="0" smtClean="0"/>
          </a:p>
          <a:p>
            <a:r>
              <a:rPr lang="en-GB" baseline="0" dirty="0" smtClean="0"/>
              <a:t>Fluency = composition rate – ability to write in ‘chunks’ (</a:t>
            </a:r>
            <a:r>
              <a:rPr lang="en-GB" baseline="0" dirty="0" err="1" smtClean="0"/>
              <a:t>Latiff</a:t>
            </a:r>
            <a:r>
              <a:rPr lang="en-GB" baseline="0" dirty="0" smtClean="0"/>
              <a:t>, 2008) Automacity leads to fluency and allows writer to focus on word processing (Nelson, 2006) </a:t>
            </a:r>
          </a:p>
          <a:p>
            <a:endParaRPr lang="en-GB" baseline="0" dirty="0" smtClean="0"/>
          </a:p>
          <a:p>
            <a:r>
              <a:rPr lang="en-GB" baseline="0" dirty="0" smtClean="0"/>
              <a:t>Speed to rate of letter production (</a:t>
            </a:r>
            <a:r>
              <a:rPr lang="en-GB" baseline="0" dirty="0" err="1" smtClean="0"/>
              <a:t>Kushki</a:t>
            </a:r>
            <a:r>
              <a:rPr lang="en-GB" baseline="0" dirty="0" smtClean="0"/>
              <a:t> et al, 2011)</a:t>
            </a: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3</a:t>
            </a:fld>
            <a:endParaRPr lang="en-GB"/>
          </a:p>
        </p:txBody>
      </p:sp>
    </p:spTree>
    <p:extLst>
      <p:ext uri="{BB962C8B-B14F-4D97-AF65-F5344CB8AC3E}">
        <p14:creationId xmlns:p14="http://schemas.microsoft.com/office/powerpoint/2010/main" val="1196531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Definitions</a:t>
            </a:r>
            <a:r>
              <a:rPr lang="en-GB" baseline="0" dirty="0" smtClean="0"/>
              <a:t> of each: </a:t>
            </a:r>
          </a:p>
          <a:p>
            <a:endParaRPr lang="en-GB" baseline="0" dirty="0" smtClean="0"/>
          </a:p>
          <a:p>
            <a:r>
              <a:rPr lang="en-GB" dirty="0" smtClean="0"/>
              <a:t>Legibility = possible to read</a:t>
            </a:r>
            <a:r>
              <a:rPr lang="en-GB" baseline="0" dirty="0" smtClean="0"/>
              <a:t> or decipher – linked to form and alignment </a:t>
            </a:r>
            <a:endParaRPr lang="en-GB" dirty="0" smtClean="0"/>
          </a:p>
          <a:p>
            <a:endParaRPr lang="en-GB" dirty="0" smtClean="0"/>
          </a:p>
          <a:p>
            <a:r>
              <a:rPr lang="en-GB" dirty="0" smtClean="0"/>
              <a:t>Form</a:t>
            </a:r>
            <a:r>
              <a:rPr lang="en-GB" baseline="0" dirty="0" smtClean="0"/>
              <a:t> = does the letter make the shape it is supposed to with all lines connected, all straight lines straight and curved lines curved </a:t>
            </a:r>
          </a:p>
          <a:p>
            <a:endParaRPr lang="en-GB" baseline="0" dirty="0" smtClean="0"/>
          </a:p>
          <a:p>
            <a:r>
              <a:rPr lang="en-GB" baseline="0" dirty="0" smtClean="0"/>
              <a:t>Alignment = does the letter rest within 1/16 above or below the base line</a:t>
            </a:r>
          </a:p>
          <a:p>
            <a:endParaRPr lang="en-GB" baseline="0" dirty="0" smtClean="0"/>
          </a:p>
          <a:p>
            <a:r>
              <a:rPr lang="en-GB" baseline="0" dirty="0" smtClean="0"/>
              <a:t>Size </a:t>
            </a:r>
          </a:p>
          <a:p>
            <a:endParaRPr lang="en-GB" baseline="0" dirty="0" smtClean="0"/>
          </a:p>
          <a:p>
            <a:r>
              <a:rPr lang="en-GB" baseline="0" dirty="0" smtClean="0"/>
              <a:t>Spacing</a:t>
            </a:r>
          </a:p>
          <a:p>
            <a:endParaRPr lang="en-GB" baseline="0" dirty="0" smtClean="0"/>
          </a:p>
          <a:p>
            <a:r>
              <a:rPr lang="en-GB" baseline="0" dirty="0" smtClean="0"/>
              <a:t>Rate </a:t>
            </a: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4</a:t>
            </a:fld>
            <a:endParaRPr lang="en-GB"/>
          </a:p>
        </p:txBody>
      </p:sp>
    </p:spTree>
    <p:extLst>
      <p:ext uri="{BB962C8B-B14F-4D97-AF65-F5344CB8AC3E}">
        <p14:creationId xmlns:p14="http://schemas.microsoft.com/office/powerpoint/2010/main" val="1848806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Under-valued and under-represented within the curriculum</a:t>
            </a:r>
            <a:r>
              <a:rPr lang="en-GB" baseline="0" dirty="0" smtClean="0"/>
              <a:t> (</a:t>
            </a:r>
            <a:r>
              <a:rPr lang="en-GB" baseline="0" dirty="0" err="1" smtClean="0"/>
              <a:t>Medwell</a:t>
            </a:r>
            <a:r>
              <a:rPr lang="en-GB" baseline="0" dirty="0" smtClean="0"/>
              <a:t> &amp; Wray, 2008) – new NC doesn’t mention handwriting instruction at all within</a:t>
            </a:r>
            <a:r>
              <a:rPr lang="en-GB" dirty="0" smtClean="0"/>
              <a:t> KS3</a:t>
            </a:r>
            <a:endParaRPr lang="en-GB" baseline="0" dirty="0" smtClean="0"/>
          </a:p>
          <a:p>
            <a:endParaRPr lang="en-GB" dirty="0"/>
          </a:p>
          <a:p>
            <a:r>
              <a:rPr lang="en-GB" baseline="0" dirty="0" smtClean="0"/>
              <a:t>Children can spend between 31%-60% of the school day performing handwriting and other fine</a:t>
            </a:r>
            <a:r>
              <a:rPr lang="en-GB" dirty="0" smtClean="0"/>
              <a:t> motor tasks (McHale &amp; </a:t>
            </a:r>
            <a:r>
              <a:rPr lang="en-GB" dirty="0" err="1" smtClean="0"/>
              <a:t>Cermak</a:t>
            </a:r>
            <a:r>
              <a:rPr lang="en-GB" dirty="0" smtClean="0"/>
              <a:t>, 1992) </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Number of children with handwriting</a:t>
            </a:r>
            <a:r>
              <a:rPr lang="en-GB" dirty="0" smtClean="0"/>
              <a:t> difficulties/dysgraphia is around 10-30% in ??? (Rosenblum, Weiss &amp; </a:t>
            </a:r>
            <a:r>
              <a:rPr lang="en-GB" dirty="0" err="1" smtClean="0"/>
              <a:t>Parush</a:t>
            </a:r>
            <a:r>
              <a:rPr lang="en-GB" dirty="0" smtClean="0"/>
              <a:t>, 2004) – 13% at age 11 years (</a:t>
            </a:r>
            <a:r>
              <a:rPr lang="en-GB" dirty="0" err="1" smtClean="0"/>
              <a:t>Karlsdottir</a:t>
            </a:r>
            <a:r>
              <a:rPr lang="en-GB" dirty="0" smtClean="0"/>
              <a:t> &amp; Stefansson, 2002) </a:t>
            </a:r>
          </a:p>
          <a:p>
            <a:endParaRPr lang="en-GB" dirty="0" smtClean="0"/>
          </a:p>
          <a:p>
            <a:r>
              <a:rPr lang="en-GB" dirty="0" smtClean="0"/>
              <a:t>Linked to other aspects of literacy including composition (</a:t>
            </a:r>
            <a:r>
              <a:rPr lang="en-GB" dirty="0" err="1" smtClean="0"/>
              <a:t>Gathercole</a:t>
            </a:r>
            <a:r>
              <a:rPr lang="en-GB" dirty="0" smtClean="0"/>
              <a:t>, Pickering, Knight &amp; </a:t>
            </a:r>
            <a:r>
              <a:rPr lang="en-GB" dirty="0" err="1" smtClean="0"/>
              <a:t>Stegmann</a:t>
            </a:r>
            <a:r>
              <a:rPr lang="en-GB" dirty="0" smtClean="0"/>
              <a:t>, 2004; Graham et al, 1997), phonological awareness (</a:t>
            </a:r>
            <a:r>
              <a:rPr lang="en-GB" dirty="0" err="1" smtClean="0"/>
              <a:t>Berninger</a:t>
            </a:r>
            <a:r>
              <a:rPr lang="en-GB" dirty="0"/>
              <a:t> </a:t>
            </a:r>
            <a:r>
              <a:rPr lang="en-GB" dirty="0" smtClean="0"/>
              <a:t>et al, 2006) and spelling (Graham, Harris &amp; </a:t>
            </a:r>
            <a:r>
              <a:rPr lang="en-GB" dirty="0" err="1" smtClean="0"/>
              <a:t>Chorzempa</a:t>
            </a:r>
            <a:r>
              <a:rPr lang="en-GB" dirty="0" smtClean="0"/>
              <a:t>, 2002) </a:t>
            </a:r>
          </a:p>
          <a:p>
            <a:endParaRPr lang="en-GB" baseline="0" dirty="0"/>
          </a:p>
          <a:p>
            <a:endParaRPr lang="en-GB" dirty="0" smtClean="0"/>
          </a:p>
          <a:p>
            <a:r>
              <a:rPr lang="en-GB" u="sng" dirty="0" smtClean="0"/>
              <a:t>Consequences of poor handwriting</a:t>
            </a:r>
            <a:r>
              <a:rPr lang="en-GB" u="sng" baseline="0" dirty="0" smtClean="0"/>
              <a:t> </a:t>
            </a:r>
            <a:endParaRPr lang="en-GB" u="sng" dirty="0" smtClean="0"/>
          </a:p>
          <a:p>
            <a:r>
              <a:rPr lang="en-GB" dirty="0" smtClean="0"/>
              <a:t>Difficulties with</a:t>
            </a:r>
            <a:r>
              <a:rPr lang="en-GB" baseline="0" dirty="0" smtClean="0"/>
              <a:t> handwriting can lead to difficulties in other areas of literacy such as composition (Graham, </a:t>
            </a:r>
            <a:r>
              <a:rPr lang="en-GB" baseline="0" dirty="0" err="1" smtClean="0"/>
              <a:t>Berninger</a:t>
            </a:r>
            <a:r>
              <a:rPr lang="en-GB" baseline="0" dirty="0" smtClean="0"/>
              <a:t>, Abbott, Abbott &amp; Whitaker, 1997)</a:t>
            </a:r>
          </a:p>
          <a:p>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Negatively correlated to academic achievement (Graham &amp; Weintraub, 1996) &amp; self-esteem (Laszlo &amp; </a:t>
            </a:r>
            <a:r>
              <a:rPr lang="en-GB" dirty="0" err="1" smtClean="0"/>
              <a:t>Bairstow</a:t>
            </a:r>
            <a:r>
              <a:rPr lang="en-GB" dirty="0" smtClean="0"/>
              <a:t>, 1983)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r>
              <a:rPr lang="en-GB" dirty="0" smtClean="0"/>
              <a:t>Typically struggle with the volume of written work required in school – impede progress, lower self-esteem and increase behavioural </a:t>
            </a:r>
            <a:r>
              <a:rPr lang="en-GB" dirty="0" err="1" smtClean="0"/>
              <a:t>probs</a:t>
            </a:r>
            <a:r>
              <a:rPr lang="en-GB" dirty="0" smtClean="0"/>
              <a:t> (Laszlo &amp; </a:t>
            </a:r>
            <a:r>
              <a:rPr lang="en-GB" dirty="0" err="1" smtClean="0"/>
              <a:t>Bairstow</a:t>
            </a:r>
            <a:r>
              <a:rPr lang="en-GB" dirty="0" smtClean="0"/>
              <a:t>, 1983) </a:t>
            </a:r>
          </a:p>
          <a:p>
            <a:endParaRPr lang="en-GB" dirty="0" smtClean="0"/>
          </a:p>
          <a:p>
            <a:r>
              <a:rPr lang="en-GB" dirty="0" smtClean="0"/>
              <a:t>Mislabelled as non-compliant, lazy or lacking motivation (Sandler et al, 1992) </a:t>
            </a:r>
          </a:p>
          <a:p>
            <a:endParaRPr lang="en-GB" dirty="0" smtClean="0"/>
          </a:p>
          <a:p>
            <a:r>
              <a:rPr lang="en-GB" dirty="0" smtClean="0"/>
              <a:t>Essays with similar content – higher marks given to work with more legible handwriting (Connelly et al, 2006) </a:t>
            </a:r>
          </a:p>
          <a:p>
            <a:endParaRPr lang="en-GB" dirty="0" smtClean="0"/>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5</a:t>
            </a:fld>
            <a:endParaRPr lang="en-GB"/>
          </a:p>
        </p:txBody>
      </p:sp>
    </p:spTree>
    <p:extLst>
      <p:ext uri="{BB962C8B-B14F-4D97-AF65-F5344CB8AC3E}">
        <p14:creationId xmlns:p14="http://schemas.microsoft.com/office/powerpoint/2010/main" val="2299803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Under-valued and under-represented within the curriculum</a:t>
            </a:r>
            <a:r>
              <a:rPr lang="en-GB" baseline="0" dirty="0" smtClean="0"/>
              <a:t> (</a:t>
            </a:r>
            <a:r>
              <a:rPr lang="en-GB" baseline="0" dirty="0" err="1" smtClean="0"/>
              <a:t>Medwell</a:t>
            </a:r>
            <a:r>
              <a:rPr lang="en-GB" baseline="0" dirty="0" smtClean="0"/>
              <a:t> &amp; Wray, 2008) – new NC doesn’t mention handwriting instruction at all within</a:t>
            </a:r>
            <a:r>
              <a:rPr lang="en-GB" dirty="0" smtClean="0"/>
              <a:t> KS3</a:t>
            </a:r>
            <a:endParaRPr lang="en-GB" baseline="0" dirty="0" smtClean="0"/>
          </a:p>
          <a:p>
            <a:endParaRPr lang="en-GB" dirty="0"/>
          </a:p>
          <a:p>
            <a:r>
              <a:rPr lang="en-GB" baseline="0" dirty="0" smtClean="0"/>
              <a:t>Children can spend between 31%-60% of the school day performing handwriting and other fine</a:t>
            </a:r>
            <a:r>
              <a:rPr lang="en-GB" dirty="0" smtClean="0"/>
              <a:t> motor tasks (McHale &amp; </a:t>
            </a:r>
            <a:r>
              <a:rPr lang="en-GB" dirty="0" err="1" smtClean="0"/>
              <a:t>Cermak</a:t>
            </a:r>
            <a:r>
              <a:rPr lang="en-GB" dirty="0" smtClean="0"/>
              <a:t>, 1992) </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Number of children with handwriting</a:t>
            </a:r>
            <a:r>
              <a:rPr lang="en-GB" dirty="0" smtClean="0"/>
              <a:t> difficulties/dysgraphia is around 10-30% in ??? (Rosenblum, Weiss &amp; </a:t>
            </a:r>
            <a:r>
              <a:rPr lang="en-GB" dirty="0" err="1" smtClean="0"/>
              <a:t>Parush</a:t>
            </a:r>
            <a:r>
              <a:rPr lang="en-GB" dirty="0" smtClean="0"/>
              <a:t>, 2004) – 13% at age 11 years (</a:t>
            </a:r>
            <a:r>
              <a:rPr lang="en-GB" dirty="0" err="1" smtClean="0"/>
              <a:t>Karlsdottir</a:t>
            </a:r>
            <a:r>
              <a:rPr lang="en-GB" dirty="0" smtClean="0"/>
              <a:t> &amp; Stefansson, 2002) </a:t>
            </a:r>
          </a:p>
          <a:p>
            <a:endParaRPr lang="en-GB" dirty="0" smtClean="0"/>
          </a:p>
          <a:p>
            <a:r>
              <a:rPr lang="en-GB" dirty="0" smtClean="0"/>
              <a:t>Linked to other aspects of literacy including composition (</a:t>
            </a:r>
            <a:r>
              <a:rPr lang="en-GB" dirty="0" err="1" smtClean="0"/>
              <a:t>Gathercole</a:t>
            </a:r>
            <a:r>
              <a:rPr lang="en-GB" dirty="0" smtClean="0"/>
              <a:t>, Pickering, Knight &amp; </a:t>
            </a:r>
            <a:r>
              <a:rPr lang="en-GB" dirty="0" err="1" smtClean="0"/>
              <a:t>Stegmann</a:t>
            </a:r>
            <a:r>
              <a:rPr lang="en-GB" dirty="0" smtClean="0"/>
              <a:t>, 2004; Graham et al, 1997), phonological awareness (</a:t>
            </a:r>
            <a:r>
              <a:rPr lang="en-GB" dirty="0" err="1" smtClean="0"/>
              <a:t>Berninger</a:t>
            </a:r>
            <a:r>
              <a:rPr lang="en-GB" dirty="0"/>
              <a:t> </a:t>
            </a:r>
            <a:r>
              <a:rPr lang="en-GB" dirty="0" smtClean="0"/>
              <a:t>et al, 2006) and spelling (Graham, Harris &amp; </a:t>
            </a:r>
            <a:r>
              <a:rPr lang="en-GB" dirty="0" err="1" smtClean="0"/>
              <a:t>Chorzempa</a:t>
            </a:r>
            <a:r>
              <a:rPr lang="en-GB" dirty="0" smtClean="0"/>
              <a:t>, 2002) </a:t>
            </a:r>
          </a:p>
          <a:p>
            <a:endParaRPr lang="en-GB" baseline="0" dirty="0"/>
          </a:p>
          <a:p>
            <a:endParaRPr lang="en-GB" dirty="0" smtClean="0"/>
          </a:p>
          <a:p>
            <a:r>
              <a:rPr lang="en-GB" u="sng" dirty="0" smtClean="0"/>
              <a:t>Consequences of poor handwriting</a:t>
            </a:r>
            <a:r>
              <a:rPr lang="en-GB" u="sng" baseline="0" dirty="0" smtClean="0"/>
              <a:t> </a:t>
            </a:r>
            <a:endParaRPr lang="en-GB" u="sng" dirty="0" smtClean="0"/>
          </a:p>
          <a:p>
            <a:r>
              <a:rPr lang="en-GB" dirty="0" smtClean="0"/>
              <a:t>Difficulties with</a:t>
            </a:r>
            <a:r>
              <a:rPr lang="en-GB" baseline="0" dirty="0" smtClean="0"/>
              <a:t> handwriting can lead to difficulties in other areas of literacy such as composition (Graham, </a:t>
            </a:r>
            <a:r>
              <a:rPr lang="en-GB" baseline="0" dirty="0" err="1" smtClean="0"/>
              <a:t>Berninger</a:t>
            </a:r>
            <a:r>
              <a:rPr lang="en-GB" baseline="0" dirty="0" smtClean="0"/>
              <a:t>, Abbott, Abbott &amp; Whitaker, 1997)</a:t>
            </a:r>
          </a:p>
          <a:p>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Negatively correlated to academic achievement (Graham &amp; Weintraub, 1996) &amp; self-esteem (Laszlo &amp; </a:t>
            </a:r>
            <a:r>
              <a:rPr lang="en-GB" dirty="0" err="1" smtClean="0"/>
              <a:t>Bairstow</a:t>
            </a:r>
            <a:r>
              <a:rPr lang="en-GB" dirty="0" smtClean="0"/>
              <a:t>, 1983) </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smtClean="0"/>
          </a:p>
          <a:p>
            <a:r>
              <a:rPr lang="en-GB" dirty="0" smtClean="0"/>
              <a:t>Typically struggle with the volume of written work required in school – impede progress, lower self-esteem and increase behavioural </a:t>
            </a:r>
            <a:r>
              <a:rPr lang="en-GB" dirty="0" err="1" smtClean="0"/>
              <a:t>probs</a:t>
            </a:r>
            <a:r>
              <a:rPr lang="en-GB" dirty="0" smtClean="0"/>
              <a:t> (Laszlo &amp; </a:t>
            </a:r>
            <a:r>
              <a:rPr lang="en-GB" dirty="0" err="1" smtClean="0"/>
              <a:t>Bairstow</a:t>
            </a:r>
            <a:r>
              <a:rPr lang="en-GB" dirty="0" smtClean="0"/>
              <a:t>, 1983) </a:t>
            </a:r>
          </a:p>
          <a:p>
            <a:endParaRPr lang="en-GB" dirty="0" smtClean="0"/>
          </a:p>
          <a:p>
            <a:r>
              <a:rPr lang="en-GB" dirty="0" smtClean="0"/>
              <a:t>Mislabelled as non-compliant, lazy or lacking motivation (Sandler et al, 1992) </a:t>
            </a:r>
          </a:p>
          <a:p>
            <a:endParaRPr lang="en-GB" dirty="0" smtClean="0"/>
          </a:p>
          <a:p>
            <a:r>
              <a:rPr lang="en-GB" dirty="0" smtClean="0"/>
              <a:t>Essays with similar content – higher marks given to work with more legible handwriting (Connelly et al, 2006) </a:t>
            </a:r>
          </a:p>
          <a:p>
            <a:endParaRPr lang="en-GB" dirty="0" smtClean="0"/>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6</a:t>
            </a:fld>
            <a:endParaRPr lang="en-GB"/>
          </a:p>
        </p:txBody>
      </p:sp>
    </p:spTree>
    <p:extLst>
      <p:ext uri="{BB962C8B-B14F-4D97-AF65-F5344CB8AC3E}">
        <p14:creationId xmlns:p14="http://schemas.microsoft.com/office/powerpoint/2010/main" val="2503529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2275" y="363538"/>
            <a:ext cx="5953125" cy="3349625"/>
          </a:xfrm>
        </p:spPr>
      </p:sp>
      <p:sp>
        <p:nvSpPr>
          <p:cNvPr id="3" name="Notes Placeholder 2"/>
          <p:cNvSpPr>
            <a:spLocks noGrp="1"/>
          </p:cNvSpPr>
          <p:nvPr>
            <p:ph type="body" idx="1"/>
          </p:nvPr>
        </p:nvSpPr>
        <p:spPr>
          <a:xfrm>
            <a:off x="679768" y="3832144"/>
            <a:ext cx="5438140" cy="4853665"/>
          </a:xfrm>
        </p:spPr>
        <p:txBody>
          <a:bodyPr/>
          <a:lstStyle/>
          <a:p>
            <a:r>
              <a:rPr lang="en-GB" dirty="0" smtClean="0"/>
              <a:t>Promotes developmentally appropriate practice by using stages from imitation to copying to independent writing, by grouping the letters of similar difficulty, and by using a letter style that uses simple vertical lines. It uses a multisensory approach by modelling letter formations, using verbal descriptions of the strokes, finger tracing, drawing letters in the air, and using various materials to reinforce letter formations. </a:t>
            </a:r>
          </a:p>
          <a:p>
            <a:endParaRPr lang="en-GB" dirty="0" smtClean="0"/>
          </a:p>
          <a:p>
            <a:r>
              <a:rPr lang="en-GB" dirty="0" smtClean="0"/>
              <a:t>Letters are taught in groups, based on similar formation, using modelling, imitation, copying, arm and finger tracing, visual models of the letters, and progresses developmentally from easier to more complex letter forms. </a:t>
            </a:r>
          </a:p>
          <a:p>
            <a:endParaRPr lang="en-GB" dirty="0" smtClean="0"/>
          </a:p>
          <a:p>
            <a:r>
              <a:rPr lang="en-GB" dirty="0" smtClean="0"/>
              <a:t>Letter forms are enhanced by using consistent verbal cues to sequence letter strokes. </a:t>
            </a:r>
          </a:p>
          <a:p>
            <a:endParaRPr lang="en-GB" dirty="0" smtClean="0"/>
          </a:p>
          <a:p>
            <a:r>
              <a:rPr lang="en-GB" dirty="0" smtClean="0"/>
              <a:t>Multi-sensory</a:t>
            </a:r>
            <a:r>
              <a:rPr lang="en-GB" baseline="0" dirty="0" smtClean="0"/>
              <a:t> approach which incorporates a range of sensory experiences such as proprioceptive, tactile, visual, auditory, olfactory. This is a common practice amongst OTs (</a:t>
            </a:r>
            <a:r>
              <a:rPr lang="en-GB" baseline="0" dirty="0" err="1" smtClean="0"/>
              <a:t>Feder</a:t>
            </a:r>
            <a:r>
              <a:rPr lang="en-GB" baseline="0" dirty="0" smtClean="0"/>
              <a:t> et al, 2000)</a:t>
            </a:r>
            <a:endParaRPr lang="en-GB" dirty="0" smtClean="0"/>
          </a:p>
          <a:p>
            <a:endParaRPr lang="en-GB" dirty="0" smtClean="0"/>
          </a:p>
          <a:p>
            <a:r>
              <a:rPr lang="en-GB" dirty="0" smtClean="0"/>
              <a:t>Double line HWT paper with bottom line keeping writing straight and specific verbal instructions e.g. 'bump the lines' and sixe in the placement of the main part of the letter within double lines </a:t>
            </a: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7</a:t>
            </a:fld>
            <a:endParaRPr lang="en-GB"/>
          </a:p>
        </p:txBody>
      </p:sp>
    </p:spTree>
    <p:extLst>
      <p:ext uri="{BB962C8B-B14F-4D97-AF65-F5344CB8AC3E}">
        <p14:creationId xmlns:p14="http://schemas.microsoft.com/office/powerpoint/2010/main" val="38873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 know that poor handwriting does have an impact on academic success, creative writing skills and self-esteem so if this programme supports improvements</a:t>
            </a:r>
            <a:r>
              <a:rPr lang="en-GB" baseline="0" dirty="0" smtClean="0"/>
              <a:t> in handwriting will impact these areas. </a:t>
            </a:r>
          </a:p>
          <a:p>
            <a:endParaRPr lang="en-GB" baseline="0" dirty="0" smtClean="0"/>
          </a:p>
          <a:p>
            <a:r>
              <a:rPr lang="en-GB" baseline="0" dirty="0" smtClean="0"/>
              <a:t>No research has looked at whether HWT improved fine motor skills specifically, however other evidence suggests this is not as strongly linked to handwriting legibility as people think (no direct relationship – Rubin &amp; Henderson, 1982) and that interventions just looking at improving motor control had little impact on handwriting improvements (Howe et al, 2013 – children in handwriting group made significant improvements in legibility compared to VMI group) </a:t>
            </a:r>
          </a:p>
          <a:p>
            <a:endParaRPr lang="en-GB" baseline="0" dirty="0" smtClean="0"/>
          </a:p>
          <a:p>
            <a:r>
              <a:rPr lang="en-GB" baseline="0" dirty="0" smtClean="0"/>
              <a:t>Some research has explored what teachers feel about HWT, but no research into what pupils feel about it and whether it is easier to learn or indeed a more ‘joyful’ experience! </a:t>
            </a:r>
          </a:p>
          <a:p>
            <a:endParaRPr lang="en-GB" baseline="0" dirty="0" smtClean="0"/>
          </a:p>
          <a:p>
            <a:r>
              <a:rPr lang="en-GB" baseline="0" dirty="0" smtClean="0"/>
              <a:t>Some research has explored the multi-sensory approach used and compared this to alternative handwriting programmes. Alternative programmes look at teacher devised curriculums or more cognitive approaches based on Motor Learning Theory which aims to make handwriting a more automatic progress through self-instruction, modelling, practice and self-evaluation. Automacity leads to fluency and allows writer to focus on word processing (Nelson, 2006) </a:t>
            </a:r>
          </a:p>
          <a:p>
            <a:endParaRPr lang="en-GB" baseline="0" dirty="0" smtClean="0"/>
          </a:p>
          <a:p>
            <a:endParaRPr lang="en-GB" baseline="0" dirty="0" smtClean="0"/>
          </a:p>
        </p:txBody>
      </p:sp>
      <p:sp>
        <p:nvSpPr>
          <p:cNvPr id="4" name="Slide Number Placeholder 3"/>
          <p:cNvSpPr>
            <a:spLocks noGrp="1"/>
          </p:cNvSpPr>
          <p:nvPr>
            <p:ph type="sldNum" sz="quarter" idx="10"/>
          </p:nvPr>
        </p:nvSpPr>
        <p:spPr/>
        <p:txBody>
          <a:bodyPr/>
          <a:lstStyle/>
          <a:p>
            <a:fld id="{7ADCDD51-732A-44D8-BAFD-3C8216524EC4}" type="slidenum">
              <a:rPr lang="en-GB" smtClean="0"/>
              <a:t>8</a:t>
            </a:fld>
            <a:endParaRPr lang="en-GB"/>
          </a:p>
        </p:txBody>
      </p:sp>
    </p:spTree>
    <p:extLst>
      <p:ext uri="{BB962C8B-B14F-4D97-AF65-F5344CB8AC3E}">
        <p14:creationId xmlns:p14="http://schemas.microsoft.com/office/powerpoint/2010/main" val="29691678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sng" dirty="0" smtClean="0"/>
              <a:t>Benson</a:t>
            </a:r>
            <a:r>
              <a:rPr lang="en-GB" u="sng" baseline="0" dirty="0" smtClean="0"/>
              <a:t> et al (2012)</a:t>
            </a:r>
          </a:p>
          <a:p>
            <a:pPr marL="171450" indent="-171450">
              <a:buFont typeface="Arial" panose="020B0604020202020204" pitchFamily="34" charset="0"/>
              <a:buChar char="•"/>
            </a:pPr>
            <a:r>
              <a:rPr lang="en-GB" u="none" baseline="0" dirty="0" smtClean="0"/>
              <a:t>First grade teachers’ perceptions of handwriting curricula – 6 teachers</a:t>
            </a:r>
          </a:p>
          <a:p>
            <a:pPr marL="171450" indent="-171450">
              <a:buFont typeface="Arial" panose="020B0604020202020204" pitchFamily="34" charset="0"/>
              <a:buChar char="•"/>
            </a:pPr>
            <a:r>
              <a:rPr lang="en-GB" u="none" baseline="0" dirty="0" smtClean="0"/>
              <a:t>Qualitative – grounded theory – constant comparative analysis of journals </a:t>
            </a:r>
          </a:p>
          <a:p>
            <a:pPr marL="171450" indent="-171450">
              <a:buFont typeface="Arial" panose="020B0604020202020204" pitchFamily="34" charset="0"/>
              <a:buChar char="•"/>
            </a:pPr>
            <a:r>
              <a:rPr lang="en-GB" u="none" baseline="0" dirty="0" smtClean="0"/>
              <a:t>Peterson Directed Method vs HWT – 3 teachers used one and 3 used the other </a:t>
            </a:r>
          </a:p>
          <a:p>
            <a:pPr marL="171450" indent="-171450">
              <a:buFont typeface="Arial" panose="020B0604020202020204" pitchFamily="34" charset="0"/>
              <a:buChar char="•"/>
            </a:pPr>
            <a:r>
              <a:rPr lang="en-GB" u="none" baseline="0" dirty="0" smtClean="0"/>
              <a:t>Teachers perceived HWT to be easier to implement, engaging and effective without having to adapt curriculum paper used in HWT did not match their paper and therefore was frustrating </a:t>
            </a:r>
          </a:p>
          <a:p>
            <a:pPr marL="171450" indent="-171450">
              <a:buFont typeface="Arial" panose="020B0604020202020204" pitchFamily="34" charset="0"/>
              <a:buChar char="•"/>
            </a:pPr>
            <a:r>
              <a:rPr lang="en-GB" u="none" baseline="0" dirty="0" smtClean="0"/>
              <a:t>Teachers felt PDM was boring and not fun and they had to adapt the curriculum to allow more time to practice and may it more interesting </a:t>
            </a:r>
            <a:endParaRPr lang="en-GB" u="none" dirty="0" smtClean="0"/>
          </a:p>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9</a:t>
            </a:fld>
            <a:endParaRPr lang="en-GB"/>
          </a:p>
        </p:txBody>
      </p:sp>
    </p:spTree>
    <p:extLst>
      <p:ext uri="{BB962C8B-B14F-4D97-AF65-F5344CB8AC3E}">
        <p14:creationId xmlns:p14="http://schemas.microsoft.com/office/powerpoint/2010/main" val="631106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u="sng" dirty="0" smtClean="0"/>
              <a:t>3 unpublished master’s theses: </a:t>
            </a:r>
          </a:p>
          <a:p>
            <a:endParaRPr lang="en-GB" dirty="0" smtClean="0"/>
          </a:p>
          <a:p>
            <a:r>
              <a:rPr lang="en-GB" dirty="0" err="1" smtClean="0"/>
              <a:t>Pontello</a:t>
            </a:r>
            <a:r>
              <a:rPr lang="en-GB" dirty="0" smtClean="0"/>
              <a:t> (1999) </a:t>
            </a:r>
          </a:p>
          <a:p>
            <a:pPr marL="171450" indent="-171450">
              <a:buFont typeface="Arial" panose="020B0604020202020204" pitchFamily="34" charset="0"/>
              <a:buChar char="•"/>
            </a:pPr>
            <a:r>
              <a:rPr lang="en-GB" dirty="0" smtClean="0"/>
              <a:t>HWT vs ‘ball and stick’ </a:t>
            </a:r>
          </a:p>
          <a:p>
            <a:pPr marL="171450" indent="-171450">
              <a:buFont typeface="Arial" panose="020B0604020202020204" pitchFamily="34" charset="0"/>
              <a:buChar char="•"/>
            </a:pPr>
            <a:r>
              <a:rPr lang="en-GB" dirty="0" err="1" smtClean="0"/>
              <a:t>Yr</a:t>
            </a:r>
            <a:r>
              <a:rPr lang="en-GB" dirty="0" smtClean="0"/>
              <a:t> 1 students </a:t>
            </a:r>
          </a:p>
          <a:p>
            <a:pPr marL="171450" indent="-171450">
              <a:buFont typeface="Arial" panose="020B0604020202020204" pitchFamily="34" charset="0"/>
              <a:buChar char="•"/>
            </a:pPr>
            <a:r>
              <a:rPr lang="en-GB" dirty="0" err="1" smtClean="0"/>
              <a:t>Signficantly</a:t>
            </a:r>
            <a:r>
              <a:rPr lang="en-GB" baseline="0" dirty="0" smtClean="0"/>
              <a:t> better improvements in handwriting change scores </a:t>
            </a:r>
            <a:endParaRPr lang="en-GB" dirty="0" smtClean="0"/>
          </a:p>
          <a:p>
            <a:endParaRPr lang="en-GB" dirty="0" smtClean="0"/>
          </a:p>
          <a:p>
            <a:r>
              <a:rPr lang="en-GB" dirty="0" smtClean="0"/>
              <a:t>Wade (2002) </a:t>
            </a:r>
          </a:p>
          <a:p>
            <a:pPr marL="171450" indent="-171450">
              <a:buFont typeface="Arial" panose="020B0604020202020204" pitchFamily="34" charset="0"/>
              <a:buChar char="•"/>
            </a:pPr>
            <a:r>
              <a:rPr lang="en-GB" dirty="0" smtClean="0"/>
              <a:t>Kindergarten students – 4-6yrs </a:t>
            </a:r>
          </a:p>
          <a:p>
            <a:pPr marL="171450" indent="-171450">
              <a:buFont typeface="Arial" panose="020B0604020202020204" pitchFamily="34" charset="0"/>
              <a:buChar char="•"/>
            </a:pPr>
            <a:r>
              <a:rPr lang="en-GB" dirty="0" smtClean="0"/>
              <a:t>HWT</a:t>
            </a:r>
            <a:r>
              <a:rPr lang="en-GB" baseline="0" dirty="0" smtClean="0"/>
              <a:t> vs no treatment </a:t>
            </a:r>
          </a:p>
          <a:p>
            <a:pPr marL="171450" indent="-171450">
              <a:buFont typeface="Arial" panose="020B0604020202020204" pitchFamily="34" charset="0"/>
              <a:buChar char="•"/>
            </a:pPr>
            <a:r>
              <a:rPr lang="en-GB" baseline="0" dirty="0" smtClean="0"/>
              <a:t>Might presume that obviously a group receiving an instruction would improve as explicit teaching has been evidenced to be successful e.g. …… </a:t>
            </a:r>
            <a:endParaRPr lang="en-GB" dirty="0" smtClean="0"/>
          </a:p>
          <a:p>
            <a:endParaRPr lang="en-GB" dirty="0" smtClean="0"/>
          </a:p>
          <a:p>
            <a:r>
              <a:rPr lang="en-GB" dirty="0" smtClean="0"/>
              <a:t>Owens (2004) </a:t>
            </a:r>
          </a:p>
          <a:p>
            <a:pPr marL="171450" indent="-171450">
              <a:buFont typeface="Arial" panose="020B0604020202020204" pitchFamily="34" charset="0"/>
              <a:buChar char="•"/>
            </a:pPr>
            <a:r>
              <a:rPr lang="en-GB" dirty="0" smtClean="0"/>
              <a:t>Grade</a:t>
            </a:r>
            <a:r>
              <a:rPr lang="en-GB" baseline="0" dirty="0" smtClean="0"/>
              <a:t> 2 students </a:t>
            </a:r>
          </a:p>
          <a:p>
            <a:pPr marL="171450" indent="-171450">
              <a:buFont typeface="Arial" panose="020B0604020202020204" pitchFamily="34" charset="0"/>
              <a:buChar char="•"/>
            </a:pPr>
            <a:r>
              <a:rPr lang="en-GB" baseline="0" dirty="0" smtClean="0"/>
              <a:t>HWT vs ‘typical’ handwriting instruction – not sure what that looked like </a:t>
            </a:r>
          </a:p>
          <a:p>
            <a:pPr marL="0" indent="0">
              <a:buFont typeface="Arial" panose="020B0604020202020204" pitchFamily="34" charset="0"/>
              <a:buNone/>
            </a:pPr>
            <a:endParaRPr lang="en-GB" baseline="0" dirty="0" smtClean="0"/>
          </a:p>
          <a:p>
            <a:pPr marL="0" indent="0">
              <a:buFont typeface="Arial" panose="020B0604020202020204" pitchFamily="34" charset="0"/>
              <a:buNone/>
            </a:pPr>
            <a:r>
              <a:rPr lang="en-GB" baseline="0" dirty="0" smtClean="0"/>
              <a:t>None of these studies found improvements in legibility, form or rate. </a:t>
            </a:r>
            <a:endParaRPr lang="en-GB" dirty="0" smtClean="0"/>
          </a:p>
          <a:p>
            <a:endParaRPr lang="en-GB" dirty="0" smtClean="0"/>
          </a:p>
          <a:p>
            <a:endParaRPr lang="en-GB" dirty="0" smtClean="0"/>
          </a:p>
          <a:p>
            <a:endParaRPr lang="en-GB" dirty="0" smtClean="0"/>
          </a:p>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10</a:t>
            </a:fld>
            <a:endParaRPr lang="en-GB"/>
          </a:p>
        </p:txBody>
      </p:sp>
    </p:spTree>
    <p:extLst>
      <p:ext uri="{BB962C8B-B14F-4D97-AF65-F5344CB8AC3E}">
        <p14:creationId xmlns:p14="http://schemas.microsoft.com/office/powerpoint/2010/main" val="3964666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Although not in the main definition legibility includes form and alignment</a:t>
            </a:r>
            <a:r>
              <a:rPr lang="en-GB" baseline="0" dirty="0" smtClean="0"/>
              <a:t> </a:t>
            </a: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11</a:t>
            </a:fld>
            <a:endParaRPr lang="en-GB"/>
          </a:p>
        </p:txBody>
      </p:sp>
    </p:spTree>
    <p:extLst>
      <p:ext uri="{BB962C8B-B14F-4D97-AF65-F5344CB8AC3E}">
        <p14:creationId xmlns:p14="http://schemas.microsoft.com/office/powerpoint/2010/main" val="1756233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Marr &amp; </a:t>
            </a:r>
            <a:r>
              <a:rPr lang="en-GB" dirty="0" err="1" smtClean="0"/>
              <a:t>Dimeo</a:t>
            </a:r>
            <a:r>
              <a:rPr lang="en-GB" dirty="0" smtClean="0"/>
              <a:t> (2006) </a:t>
            </a:r>
          </a:p>
          <a:p>
            <a:pPr marL="171450" indent="-171450">
              <a:buFont typeface="Arial" panose="020B0604020202020204" pitchFamily="34" charset="0"/>
              <a:buChar char="•"/>
            </a:pPr>
            <a:r>
              <a:rPr lang="en-GB" dirty="0" smtClean="0"/>
              <a:t>Grades 1-6</a:t>
            </a:r>
          </a:p>
          <a:p>
            <a:pPr marL="171450" indent="-171450">
              <a:buFont typeface="Arial" panose="020B0604020202020204" pitchFamily="34" charset="0"/>
              <a:buChar char="•"/>
            </a:pPr>
            <a:r>
              <a:rPr lang="en-GB" baseline="0" dirty="0" smtClean="0"/>
              <a:t>No comparison group – 26 students – 2 week summer programme – 1 hour a day</a:t>
            </a:r>
          </a:p>
          <a:p>
            <a:pPr marL="171450" indent="-171450">
              <a:buFont typeface="Arial" panose="020B0604020202020204" pitchFamily="34" charset="0"/>
              <a:buChar char="•"/>
            </a:pPr>
            <a:r>
              <a:rPr lang="en-GB" baseline="0" dirty="0" smtClean="0"/>
              <a:t>No improvements in copying, dictation, composition or legibility </a:t>
            </a:r>
            <a:endParaRPr lang="en-GB" dirty="0" smtClean="0"/>
          </a:p>
          <a:p>
            <a:endParaRPr lang="en-GB" dirty="0" smtClean="0"/>
          </a:p>
          <a:p>
            <a:r>
              <a:rPr lang="en-GB" dirty="0" smtClean="0"/>
              <a:t>Schulz-</a:t>
            </a:r>
            <a:r>
              <a:rPr lang="en-GB" dirty="0" err="1" smtClean="0"/>
              <a:t>Krohn</a:t>
            </a:r>
            <a:r>
              <a:rPr lang="en-GB" dirty="0" smtClean="0"/>
              <a:t> et al (2008)</a:t>
            </a:r>
            <a:r>
              <a:rPr lang="en-GB" baseline="0" dirty="0" smtClean="0"/>
              <a:t> </a:t>
            </a:r>
          </a:p>
          <a:p>
            <a:pPr marL="171450" indent="-171450">
              <a:buFont typeface="Arial" panose="020B0604020202020204" pitchFamily="34" charset="0"/>
              <a:buChar char="•"/>
            </a:pPr>
            <a:r>
              <a:rPr lang="en-GB" baseline="0" dirty="0" smtClean="0"/>
              <a:t>15 students liking in a homeless shelter</a:t>
            </a:r>
          </a:p>
          <a:p>
            <a:pPr marL="171450" indent="-171450">
              <a:buFont typeface="Arial" panose="020B0604020202020204" pitchFamily="34" charset="0"/>
              <a:buChar char="•"/>
            </a:pPr>
            <a:r>
              <a:rPr lang="en-GB" baseline="0" dirty="0" smtClean="0"/>
              <a:t>12 sessions – 15 minutes per session – during a homework club</a:t>
            </a:r>
          </a:p>
          <a:p>
            <a:pPr marL="171450" indent="-171450">
              <a:buFont typeface="Arial" panose="020B0604020202020204" pitchFamily="34" charset="0"/>
              <a:buChar char="•"/>
            </a:pPr>
            <a:r>
              <a:rPr lang="en-GB" baseline="0" dirty="0" smtClean="0"/>
              <a:t>6-8 years </a:t>
            </a:r>
          </a:p>
          <a:p>
            <a:pPr marL="171450" indent="-171450">
              <a:buFont typeface="Arial" panose="020B0604020202020204" pitchFamily="34" charset="0"/>
              <a:buChar char="•"/>
            </a:pPr>
            <a:r>
              <a:rPr lang="en-GB" baseline="0" dirty="0" smtClean="0"/>
              <a:t>Assessed using MHA</a:t>
            </a:r>
          </a:p>
          <a:p>
            <a:pPr marL="0" indent="0">
              <a:buFont typeface="Arial" panose="020B0604020202020204" pitchFamily="34" charset="0"/>
              <a:buNone/>
            </a:pP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err="1" smtClean="0"/>
              <a:t>Schneck</a:t>
            </a:r>
            <a:r>
              <a:rPr lang="en-GB" dirty="0" smtClean="0"/>
              <a:t>, </a:t>
            </a:r>
            <a:r>
              <a:rPr lang="en-GB" dirty="0" err="1" smtClean="0"/>
              <a:t>Shasby</a:t>
            </a:r>
            <a:r>
              <a:rPr lang="en-GB" dirty="0" smtClean="0"/>
              <a:t>, Myers &amp; </a:t>
            </a:r>
            <a:r>
              <a:rPr lang="en-GB" dirty="0" err="1" smtClean="0"/>
              <a:t>DePoy</a:t>
            </a:r>
            <a:r>
              <a:rPr lang="en-GB" dirty="0" smtClean="0"/>
              <a:t> Smith (2012)</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smtClean="0"/>
              <a:t>Grade</a:t>
            </a:r>
            <a:r>
              <a:rPr lang="en-GB" baseline="0" dirty="0" smtClean="0"/>
              <a:t> 1 – 121 participants – whole school year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MHA used to compare handwriting skills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Control children accessing a teacher designed programme – no mention of what this entailed – made significant improvements in all areas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HWT group did not make any statistically significant improvements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Change scores were explore and 56% of control and 42% of HWT group improved legibility scores by end of school year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Not logs to show how long it was administered </a:t>
            </a:r>
            <a:endParaRPr lang="en-GB" dirty="0" smtClean="0"/>
          </a:p>
          <a:p>
            <a:endParaRPr lang="en-GB" dirty="0" smtClean="0"/>
          </a:p>
        </p:txBody>
      </p:sp>
      <p:sp>
        <p:nvSpPr>
          <p:cNvPr id="4" name="Slide Number Placeholder 3"/>
          <p:cNvSpPr>
            <a:spLocks noGrp="1"/>
          </p:cNvSpPr>
          <p:nvPr>
            <p:ph type="sldNum" sz="quarter" idx="10"/>
          </p:nvPr>
        </p:nvSpPr>
        <p:spPr/>
        <p:txBody>
          <a:bodyPr/>
          <a:lstStyle/>
          <a:p>
            <a:fld id="{7ADCDD51-732A-44D8-BAFD-3C8216524EC4}" type="slidenum">
              <a:rPr lang="en-GB" smtClean="0"/>
              <a:t>12</a:t>
            </a:fld>
            <a:endParaRPr lang="en-GB"/>
          </a:p>
        </p:txBody>
      </p:sp>
    </p:spTree>
    <p:extLst>
      <p:ext uri="{BB962C8B-B14F-4D97-AF65-F5344CB8AC3E}">
        <p14:creationId xmlns:p14="http://schemas.microsoft.com/office/powerpoint/2010/main" val="895840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0688" y="328613"/>
            <a:ext cx="5956300" cy="3351212"/>
          </a:xfrm>
        </p:spPr>
      </p:sp>
      <p:sp>
        <p:nvSpPr>
          <p:cNvPr id="3" name="Notes Placeholder 2"/>
          <p:cNvSpPr>
            <a:spLocks noGrp="1"/>
          </p:cNvSpPr>
          <p:nvPr>
            <p:ph type="body" idx="1"/>
          </p:nvPr>
        </p:nvSpPr>
        <p:spPr>
          <a:xfrm>
            <a:off x="679768" y="3679204"/>
            <a:ext cx="5438140" cy="3908614"/>
          </a:xfrm>
        </p:spPr>
        <p:txBody>
          <a:bodyPr/>
          <a:lstStyle/>
          <a:p>
            <a:r>
              <a:rPr lang="en-GB" dirty="0" err="1" smtClean="0"/>
              <a:t>Delgato</a:t>
            </a:r>
            <a:r>
              <a:rPr lang="en-GB" dirty="0" smtClean="0"/>
              <a:t> et al (2013) </a:t>
            </a:r>
          </a:p>
          <a:p>
            <a:pPr marL="171450" indent="-171450">
              <a:buFont typeface="Arial" panose="020B0604020202020204" pitchFamily="34" charset="0"/>
              <a:buChar char="•"/>
            </a:pPr>
            <a:r>
              <a:rPr lang="en-GB" dirty="0" smtClean="0"/>
              <a:t>5 pre-school students –</a:t>
            </a:r>
            <a:r>
              <a:rPr lang="en-GB" baseline="0" dirty="0" smtClean="0"/>
              <a:t> SEN provision </a:t>
            </a:r>
          </a:p>
          <a:p>
            <a:pPr marL="171450" indent="-171450">
              <a:buFont typeface="Arial" panose="020B0604020202020204" pitchFamily="34" charset="0"/>
              <a:buChar char="•"/>
            </a:pPr>
            <a:r>
              <a:rPr lang="en-GB" baseline="0" dirty="0" smtClean="0"/>
              <a:t>With and without a teacher-made handwriting racetrack</a:t>
            </a:r>
          </a:p>
          <a:p>
            <a:pPr marL="171450" indent="-171450">
              <a:buFont typeface="Arial" panose="020B0604020202020204" pitchFamily="34" charset="0"/>
              <a:buChar char="•"/>
            </a:pPr>
            <a:r>
              <a:rPr lang="en-GB" baseline="0" dirty="0" smtClean="0"/>
              <a:t>Track is a way of children timing and practicing a skill – trying to go round track as fast as they can – PT basically! </a:t>
            </a:r>
          </a:p>
          <a:p>
            <a:pPr marL="171450" indent="-171450">
              <a:buFont typeface="Arial" panose="020B0604020202020204" pitchFamily="34" charset="0"/>
              <a:buChar char="•"/>
            </a:pPr>
            <a:r>
              <a:rPr lang="en-GB" baseline="0" dirty="0" smtClean="0"/>
              <a:t>Points system in terms of forming lines and some letters accurately – scale 0-12</a:t>
            </a:r>
          </a:p>
          <a:p>
            <a:pPr marL="171450" indent="-171450">
              <a:buFont typeface="Arial" panose="020B0604020202020204" pitchFamily="34" charset="0"/>
              <a:buChar char="•"/>
            </a:pPr>
            <a:r>
              <a:rPr lang="en-GB" baseline="0" dirty="0" smtClean="0"/>
              <a:t>Comparisons of means – no significance or other analysis done </a:t>
            </a:r>
          </a:p>
          <a:p>
            <a:pPr marL="171450" indent="-171450">
              <a:buFont typeface="Arial" panose="020B0604020202020204" pitchFamily="34" charset="0"/>
              <a:buChar char="•"/>
            </a:pPr>
            <a:r>
              <a:rPr lang="en-GB" baseline="0" dirty="0" smtClean="0"/>
              <a:t>2 children improved with HWT, other three made some minor additional improvements with racetrack </a:t>
            </a:r>
          </a:p>
          <a:p>
            <a:pPr marL="171450" indent="-171450">
              <a:buFont typeface="Arial" panose="020B0604020202020204" pitchFamily="34" charset="0"/>
              <a:buChar char="•"/>
            </a:pPr>
            <a:endParaRPr lang="en-GB" baseline="0" dirty="0" smtClean="0"/>
          </a:p>
          <a:p>
            <a:pPr marL="0" indent="0">
              <a:buFont typeface="Arial" panose="020B0604020202020204" pitchFamily="34" charset="0"/>
              <a:buNone/>
            </a:pPr>
            <a:r>
              <a:rPr lang="en-GB" baseline="0" dirty="0" err="1" smtClean="0"/>
              <a:t>Salls</a:t>
            </a:r>
            <a:r>
              <a:rPr lang="en-GB" baseline="0" dirty="0" smtClean="0"/>
              <a:t> et al (2013) </a:t>
            </a:r>
          </a:p>
          <a:p>
            <a:pPr marL="171450" indent="-171450">
              <a:buFont typeface="Arial" panose="020B0604020202020204" pitchFamily="34" charset="0"/>
              <a:buChar char="•"/>
            </a:pPr>
            <a:r>
              <a:rPr lang="en-GB" baseline="0" dirty="0" err="1" smtClean="0"/>
              <a:t>Comparisom</a:t>
            </a:r>
            <a:r>
              <a:rPr lang="en-GB" baseline="0" dirty="0" smtClean="0"/>
              <a:t> of HWT with Peterson Directed Handwriting throughout school year</a:t>
            </a:r>
          </a:p>
          <a:p>
            <a:pPr marL="171450" indent="-171450">
              <a:buFont typeface="Arial" panose="020B0604020202020204" pitchFamily="34" charset="0"/>
              <a:buChar char="•"/>
            </a:pPr>
            <a:r>
              <a:rPr lang="en-GB" baseline="0" dirty="0" smtClean="0"/>
              <a:t>1</a:t>
            </a:r>
            <a:r>
              <a:rPr lang="en-GB" baseline="30000" dirty="0" smtClean="0"/>
              <a:t>st</a:t>
            </a:r>
            <a:r>
              <a:rPr lang="en-GB" baseline="0" dirty="0" smtClean="0"/>
              <a:t> graders – 31 students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smtClean="0"/>
              <a:t>Visual motor integration – VMI (Beery &amp; Beery, 2006) – copying graphics.  </a:t>
            </a:r>
            <a:r>
              <a:rPr lang="en-GB" dirty="0" smtClean="0"/>
              <a:t>Studies have found VMI to be one of most important predictors of handwriting and strongly correlated with writing legibility (</a:t>
            </a:r>
            <a:r>
              <a:rPr lang="en-GB" dirty="0" err="1" smtClean="0"/>
              <a:t>Maeland</a:t>
            </a:r>
            <a:r>
              <a:rPr lang="en-GB" dirty="0" smtClean="0"/>
              <a:t>, 1992; Weil &amp; Amundson, 1994) </a:t>
            </a:r>
            <a:endParaRPr lang="en-GB" baseline="0" dirty="0" smtClean="0"/>
          </a:p>
          <a:p>
            <a:pPr marL="171450" indent="-171450">
              <a:buFont typeface="Arial" panose="020B0604020202020204" pitchFamily="34" charset="0"/>
              <a:buChar char="•"/>
            </a:pPr>
            <a:r>
              <a:rPr lang="en-GB" baseline="0" dirty="0" smtClean="0"/>
              <a:t>MHA</a:t>
            </a:r>
          </a:p>
          <a:p>
            <a:pPr marL="171450" indent="-171450">
              <a:buFont typeface="Arial" panose="020B0604020202020204" pitchFamily="34" charset="0"/>
              <a:buChar char="•"/>
            </a:pPr>
            <a:r>
              <a:rPr lang="en-GB" baseline="0" dirty="0" smtClean="0"/>
              <a:t>Print tool – Olsen &amp; </a:t>
            </a:r>
            <a:r>
              <a:rPr lang="en-GB" baseline="0" dirty="0" err="1" smtClean="0"/>
              <a:t>Knapton</a:t>
            </a:r>
            <a:endParaRPr lang="en-GB" baseline="0" dirty="0" smtClean="0"/>
          </a:p>
          <a:p>
            <a:pPr marL="171450" indent="-171450">
              <a:buFont typeface="Arial" panose="020B0604020202020204" pitchFamily="34" charset="0"/>
              <a:buChar char="•"/>
            </a:pPr>
            <a:r>
              <a:rPr lang="en-GB" baseline="0" dirty="0" smtClean="0"/>
              <a:t>Performance improved for both groups – overall very little between the groups </a:t>
            </a:r>
          </a:p>
          <a:p>
            <a:pPr marL="171450" indent="-171450">
              <a:buFont typeface="Arial" panose="020B0604020202020204" pitchFamily="34" charset="0"/>
              <a:buChar char="•"/>
            </a:pPr>
            <a:r>
              <a:rPr lang="en-GB" baseline="0" dirty="0" smtClean="0"/>
              <a:t>Print tool – both groups saw similar gains over time – not significant differences between the two </a:t>
            </a:r>
          </a:p>
          <a:p>
            <a:pPr marL="171450" indent="-171450">
              <a:buFont typeface="Arial" panose="020B0604020202020204" pitchFamily="34" charset="0"/>
              <a:buChar char="•"/>
            </a:pPr>
            <a:r>
              <a:rPr lang="en-GB" baseline="0" dirty="0" smtClean="0"/>
              <a:t>VMI showed little increase over time in either group – HWT larger gains but small effects </a:t>
            </a:r>
          </a:p>
          <a:p>
            <a:pPr marL="171450" indent="-171450">
              <a:buFont typeface="Arial" panose="020B0604020202020204" pitchFamily="34" charset="0"/>
              <a:buChar char="•"/>
            </a:pPr>
            <a:r>
              <a:rPr lang="en-GB" baseline="0" dirty="0" smtClean="0"/>
              <a:t>MHA – only significant different was for alignment and size where HWT produced higher scores than other – Also significant main effect of time for alignment, rate and size </a:t>
            </a:r>
          </a:p>
          <a:p>
            <a:pPr marL="0" indent="0">
              <a:buFont typeface="Arial" panose="020B0604020202020204" pitchFamily="34" charset="0"/>
              <a:buNone/>
            </a:pPr>
            <a:endParaRPr lang="en-GB" dirty="0" smtClean="0"/>
          </a:p>
          <a:p>
            <a:r>
              <a:rPr lang="en-GB" dirty="0" err="1" smtClean="0"/>
              <a:t>Hape</a:t>
            </a:r>
            <a:r>
              <a:rPr lang="en-GB" baseline="0" dirty="0" smtClean="0"/>
              <a:t> et al (2014) </a:t>
            </a:r>
          </a:p>
          <a:p>
            <a:pPr marL="171450" indent="-171450">
              <a:buFont typeface="Arial" panose="020B0604020202020204" pitchFamily="34" charset="0"/>
              <a:buChar char="•"/>
            </a:pPr>
            <a:r>
              <a:rPr lang="en-GB" baseline="0" dirty="0" smtClean="0"/>
              <a:t>43 first graders </a:t>
            </a:r>
          </a:p>
          <a:p>
            <a:pPr marL="171450" indent="-171450">
              <a:buFont typeface="Arial" panose="020B0604020202020204" pitchFamily="34" charset="0"/>
              <a:buChar char="•"/>
            </a:pPr>
            <a:r>
              <a:rPr lang="en-GB" baseline="0" dirty="0" smtClean="0"/>
              <a:t>HWT vs accepted writers curriculum (Writer’s workshop)</a:t>
            </a:r>
          </a:p>
          <a:p>
            <a:pPr marL="171450" indent="-171450">
              <a:buFont typeface="Arial" panose="020B0604020202020204" pitchFamily="34" charset="0"/>
              <a:buChar char="•"/>
            </a:pPr>
            <a:r>
              <a:rPr lang="en-GB" baseline="0" dirty="0" smtClean="0"/>
              <a:t>Experimental group large effect and control medium effect </a:t>
            </a:r>
          </a:p>
          <a:p>
            <a:pPr marL="171450" indent="-171450">
              <a:buFont typeface="Arial" panose="020B0604020202020204" pitchFamily="34" charset="0"/>
              <a:buChar char="•"/>
            </a:pPr>
            <a:r>
              <a:rPr lang="en-GB" baseline="0" dirty="0" smtClean="0"/>
              <a:t>Used Print Tool – Olsen &amp; </a:t>
            </a:r>
            <a:r>
              <a:rPr lang="en-GB" baseline="0" dirty="0" err="1" smtClean="0"/>
              <a:t>Knapton</a:t>
            </a:r>
            <a:r>
              <a:rPr lang="en-GB" baseline="0" dirty="0" smtClean="0"/>
              <a:t> (2008) – assesses 8 components of handwriting: memory, orientation, placement, size, start, sequence, control, spacing</a:t>
            </a:r>
          </a:p>
          <a:p>
            <a:pPr marL="171450" indent="-171450">
              <a:buFont typeface="Arial" panose="020B0604020202020204" pitchFamily="34" charset="0"/>
              <a:buChar char="•"/>
            </a:pPr>
            <a:endParaRPr lang="en-GB" dirty="0" smtClean="0"/>
          </a:p>
          <a:p>
            <a:r>
              <a:rPr lang="en-GB" dirty="0" smtClean="0"/>
              <a:t>Roberts et al (2014) </a:t>
            </a:r>
          </a:p>
          <a:p>
            <a:pPr marL="171450" indent="-171450">
              <a:buFont typeface="Arial" panose="020B0604020202020204" pitchFamily="34" charset="0"/>
              <a:buChar char="•"/>
            </a:pPr>
            <a:r>
              <a:rPr lang="en-GB" dirty="0" smtClean="0"/>
              <a:t>Cross-over repeated measures – two groups </a:t>
            </a:r>
          </a:p>
          <a:p>
            <a:pPr marL="171450" indent="-171450">
              <a:buFont typeface="Arial" panose="020B0604020202020204" pitchFamily="34" charset="0"/>
              <a:buChar char="•"/>
            </a:pPr>
            <a:r>
              <a:rPr lang="en-GB" dirty="0" smtClean="0"/>
              <a:t>149 participants from 5.8</a:t>
            </a:r>
            <a:r>
              <a:rPr lang="en-GB" baseline="0" dirty="0" smtClean="0"/>
              <a:t> </a:t>
            </a:r>
            <a:r>
              <a:rPr lang="en-GB" baseline="0" dirty="0" err="1" smtClean="0"/>
              <a:t>yrs</a:t>
            </a:r>
            <a:r>
              <a:rPr lang="en-GB" baseline="0" dirty="0" smtClean="0"/>
              <a:t> to 7.1 </a:t>
            </a:r>
            <a:r>
              <a:rPr lang="en-GB" baseline="0" dirty="0" err="1" smtClean="0"/>
              <a:t>yrs</a:t>
            </a:r>
            <a:r>
              <a:rPr lang="en-GB" baseline="0" dirty="0" smtClean="0"/>
              <a:t> </a:t>
            </a:r>
          </a:p>
          <a:p>
            <a:pPr marL="171450" indent="-171450">
              <a:buFont typeface="Arial" panose="020B0604020202020204" pitchFamily="34" charset="0"/>
              <a:buChar char="•"/>
            </a:pPr>
            <a:r>
              <a:rPr lang="en-GB" baseline="0" dirty="0" smtClean="0"/>
              <a:t>20 mins per day – could not be compared as no data for how long teacher intervention was kept – 9 weeks </a:t>
            </a:r>
          </a:p>
          <a:p>
            <a:pPr marL="171450" indent="-171450">
              <a:buFont typeface="Arial" panose="020B0604020202020204" pitchFamily="34" charset="0"/>
              <a:buChar char="•"/>
            </a:pPr>
            <a:r>
              <a:rPr lang="en-GB" baseline="0" dirty="0" smtClean="0"/>
              <a:t>OT supported delivery of HWT – didn’t implement it, but don’t know what support looked like </a:t>
            </a:r>
            <a:endParaRPr lang="en-GB" dirty="0" smtClean="0"/>
          </a:p>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13</a:t>
            </a:fld>
            <a:endParaRPr lang="en-GB"/>
          </a:p>
        </p:txBody>
      </p:sp>
    </p:spTree>
    <p:extLst>
      <p:ext uri="{BB962C8B-B14F-4D97-AF65-F5344CB8AC3E}">
        <p14:creationId xmlns:p14="http://schemas.microsoft.com/office/powerpoint/2010/main" val="2839554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Interesting that form and alignment</a:t>
            </a:r>
            <a:r>
              <a:rPr lang="en-GB" baseline="0" dirty="0" smtClean="0"/>
              <a:t> are related to legibility yet none of the studies showed any improvement in either of these for HWT programme. </a:t>
            </a: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14</a:t>
            </a:fld>
            <a:endParaRPr lang="en-GB"/>
          </a:p>
        </p:txBody>
      </p:sp>
    </p:spTree>
    <p:extLst>
      <p:ext uri="{BB962C8B-B14F-4D97-AF65-F5344CB8AC3E}">
        <p14:creationId xmlns:p14="http://schemas.microsoft.com/office/powerpoint/2010/main" val="28428655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15</a:t>
            </a:fld>
            <a:endParaRPr lang="en-GB"/>
          </a:p>
        </p:txBody>
      </p:sp>
    </p:spTree>
    <p:extLst>
      <p:ext uri="{BB962C8B-B14F-4D97-AF65-F5344CB8AC3E}">
        <p14:creationId xmlns:p14="http://schemas.microsoft.com/office/powerpoint/2010/main" val="32595255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Assessment tool – evaluates</a:t>
            </a:r>
            <a:r>
              <a:rPr lang="en-GB" baseline="0" dirty="0" smtClean="0"/>
              <a:t> memory, orientation, placement, size, start, sequence, control and spacing. </a:t>
            </a:r>
          </a:p>
          <a:p>
            <a:endParaRPr lang="en-GB" baseline="0" dirty="0" smtClean="0"/>
          </a:p>
          <a:p>
            <a:r>
              <a:rPr lang="en-GB" baseline="0" dirty="0" smtClean="0"/>
              <a:t>The factors that HWT had the most impact on was alignment, size and spacing! No mention of legibility or rate – hence why it is not been shown to improve these areas!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smtClean="0"/>
              <a:t>Interventions based on motor skills – 72 first &amp; second graders – USA – those children who had intensive handwriting practice had significant improvements in handwriting legibility compared to children who took part in VMI activities (Howe et al, 2013)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smtClean="0"/>
              <a:t>No difference</a:t>
            </a:r>
            <a:r>
              <a:rPr lang="en-GB" baseline="0" dirty="0" smtClean="0"/>
              <a:t> in handwriting legibility or speed on children who have experienced a kinesthetic training programme compared to usual handwriting practice </a:t>
            </a:r>
            <a:endParaRPr lang="en-GB" dirty="0" smtClean="0"/>
          </a:p>
          <a:p>
            <a:pPr marL="0" indent="0">
              <a:buFont typeface="Arial" panose="020B0604020202020204" pitchFamily="34" charset="0"/>
              <a:buNone/>
            </a:pP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16</a:t>
            </a:fld>
            <a:endParaRPr lang="en-GB"/>
          </a:p>
        </p:txBody>
      </p:sp>
    </p:spTree>
    <p:extLst>
      <p:ext uri="{BB962C8B-B14F-4D97-AF65-F5344CB8AC3E}">
        <p14:creationId xmlns:p14="http://schemas.microsoft.com/office/powerpoint/2010/main" val="4012508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0688" y="420688"/>
            <a:ext cx="5956300" cy="3351212"/>
          </a:xfrm>
        </p:spPr>
      </p:sp>
      <p:sp>
        <p:nvSpPr>
          <p:cNvPr id="3" name="Notes Placeholder 2"/>
          <p:cNvSpPr>
            <a:spLocks noGrp="1"/>
          </p:cNvSpPr>
          <p:nvPr>
            <p:ph type="body" idx="1"/>
          </p:nvPr>
        </p:nvSpPr>
        <p:spPr>
          <a:xfrm>
            <a:off x="694003" y="3771546"/>
            <a:ext cx="5438140" cy="3908614"/>
          </a:xfrm>
        </p:spPr>
        <p:txBody>
          <a:bodyPr/>
          <a:lstStyle/>
          <a:p>
            <a:r>
              <a:rPr lang="en-GB" dirty="0" smtClean="0"/>
              <a:t>Suggestion</a:t>
            </a:r>
            <a:r>
              <a:rPr lang="en-GB" baseline="0" dirty="0" smtClean="0"/>
              <a:t> that orthographic (Ability to recall letter shapes) and memory processes contribute more to handwriting than motor skills (</a:t>
            </a:r>
            <a:r>
              <a:rPr lang="en-GB" baseline="0" dirty="0" err="1" smtClean="0"/>
              <a:t>Berninger</a:t>
            </a:r>
            <a:r>
              <a:rPr lang="en-GB" baseline="0" dirty="0" smtClean="0"/>
              <a:t> &amp; </a:t>
            </a:r>
            <a:r>
              <a:rPr lang="en-GB" baseline="0" dirty="0" err="1" smtClean="0"/>
              <a:t>Amtmann</a:t>
            </a:r>
            <a:r>
              <a:rPr lang="en-GB" baseline="0" dirty="0" smtClean="0"/>
              <a:t>, 2003) </a:t>
            </a:r>
          </a:p>
          <a:p>
            <a:endParaRPr lang="en-GB" baseline="0" dirty="0" smtClean="0"/>
          </a:p>
          <a:p>
            <a:r>
              <a:rPr lang="en-GB" baseline="0" dirty="0" smtClean="0"/>
              <a:t>Orthographic-</a:t>
            </a:r>
            <a:r>
              <a:rPr lang="en-GB" baseline="0" dirty="0" err="1" smtClean="0"/>
              <a:t>mortor</a:t>
            </a:r>
            <a:r>
              <a:rPr lang="en-GB" baseline="0" dirty="0" smtClean="0"/>
              <a:t>-integration (OMI) – ability to call to mind and write letter shapes, groups of letters and words without the allocation of cognitive attention (</a:t>
            </a:r>
            <a:r>
              <a:rPr lang="en-GB" baseline="0" dirty="0" err="1" smtClean="0"/>
              <a:t>Medwell</a:t>
            </a:r>
            <a:r>
              <a:rPr lang="en-GB" baseline="0" dirty="0" smtClean="0"/>
              <a:t> &amp; Wray, 2007) </a:t>
            </a:r>
          </a:p>
          <a:p>
            <a:pPr marL="171450" indent="-171450">
              <a:buFontTx/>
              <a:buChar char="-"/>
            </a:pPr>
            <a:r>
              <a:rPr lang="en-GB" baseline="0" dirty="0" smtClean="0"/>
              <a:t>Mentally coding and rehearsing visual representations and integrating them with motor patterns (</a:t>
            </a:r>
            <a:r>
              <a:rPr lang="en-GB" baseline="0" dirty="0" err="1" smtClean="0"/>
              <a:t>Berninger</a:t>
            </a:r>
            <a:r>
              <a:rPr lang="en-GB" baseline="0" dirty="0" smtClean="0"/>
              <a:t>, 1994) </a:t>
            </a:r>
          </a:p>
          <a:p>
            <a:pPr marL="171450" indent="-171450">
              <a:buFontTx/>
              <a:buChar char="-"/>
            </a:pPr>
            <a:r>
              <a:rPr lang="en-GB" baseline="0" dirty="0" smtClean="0"/>
              <a:t>Lack of automacity can hamper young child’s ability to express ideas in text and account for 50% of variance in written language (Graham et al, 1997; Jones &amp; Christensen, 1999) </a:t>
            </a:r>
          </a:p>
          <a:p>
            <a:pPr marL="171450" indent="-171450">
              <a:buFontTx/>
              <a:buChar char="-"/>
            </a:pPr>
            <a:r>
              <a:rPr lang="en-GB" baseline="0" dirty="0" smtClean="0"/>
              <a:t>Intensive handwriting practice improved OMI for children of all ages (Jones &amp; Christensen, 1999; Christensen, 2005) </a:t>
            </a:r>
          </a:p>
          <a:p>
            <a:pPr marL="171450" indent="-171450">
              <a:buFontTx/>
              <a:buChar char="-"/>
            </a:pPr>
            <a:endParaRPr lang="en-GB" baseline="0" dirty="0" smtClean="0"/>
          </a:p>
          <a:p>
            <a:pPr marL="0" indent="0">
              <a:buFontTx/>
              <a:buNone/>
            </a:pPr>
            <a:r>
              <a:rPr lang="en-GB" baseline="0" dirty="0" smtClean="0"/>
              <a:t>Self-instruction programme – child is involved in the formulation of goals and self-reinforcement can play central role in improving handwriting (Graham &amp; Weintraub, 1996) </a:t>
            </a:r>
          </a:p>
          <a:p>
            <a:pPr marL="171450" indent="-171450">
              <a:buFontTx/>
              <a:buChar char="-"/>
            </a:pPr>
            <a:r>
              <a:rPr lang="en-GB" baseline="0" dirty="0" err="1" smtClean="0"/>
              <a:t>Jongmans</a:t>
            </a:r>
            <a:r>
              <a:rPr lang="en-GB" baseline="0" dirty="0" smtClean="0"/>
              <a:t> et al (2003) – task-orientated self-instruction programme for pupils in ‘dysgraphic’ category – both within mainstream and SEN provision </a:t>
            </a:r>
          </a:p>
          <a:p>
            <a:pPr marL="628650" lvl="1" indent="-171450">
              <a:buFontTx/>
              <a:buChar char="-"/>
            </a:pPr>
            <a:r>
              <a:rPr lang="en-GB" baseline="0" dirty="0" smtClean="0"/>
              <a:t>Involved knowing shape, control over route and transfer from motor to semantic – through writing in context </a:t>
            </a:r>
          </a:p>
          <a:p>
            <a:pPr marL="628650" lvl="1" indent="-171450">
              <a:buFontTx/>
              <a:buChar char="-"/>
            </a:pPr>
            <a:r>
              <a:rPr lang="en-GB" baseline="0" dirty="0" smtClean="0"/>
              <a:t>Repeated simple feedback &amp; short but regular sessions </a:t>
            </a:r>
          </a:p>
          <a:p>
            <a:pPr marL="628650" lvl="1" indent="-171450">
              <a:buFontTx/>
              <a:buChar char="-"/>
            </a:pPr>
            <a:r>
              <a:rPr lang="en-GB" baseline="0" dirty="0" smtClean="0"/>
              <a:t>72% of children no longer classified as dysgraphic and 50% improved in rate </a:t>
            </a:r>
          </a:p>
          <a:p>
            <a:pPr marL="171450" lvl="0" indent="-171450">
              <a:buFontTx/>
              <a:buChar char="-"/>
            </a:pPr>
            <a:r>
              <a:rPr lang="en-GB" baseline="0" dirty="0" smtClean="0"/>
              <a:t>See all Weintraub et al (2007) ??????????</a:t>
            </a:r>
          </a:p>
          <a:p>
            <a:pPr marL="171450" indent="-171450">
              <a:buFontTx/>
              <a:buChar char="-"/>
            </a:pPr>
            <a:endParaRPr lang="en-GB" baseline="0" dirty="0" smtClean="0"/>
          </a:p>
          <a:p>
            <a:pPr marL="171450" indent="-171450">
              <a:buFontTx/>
              <a:buChar char="-"/>
            </a:pPr>
            <a:endParaRPr lang="en-GB" dirty="0"/>
          </a:p>
        </p:txBody>
      </p:sp>
      <p:sp>
        <p:nvSpPr>
          <p:cNvPr id="4" name="Slide Number Placeholder 3"/>
          <p:cNvSpPr>
            <a:spLocks noGrp="1"/>
          </p:cNvSpPr>
          <p:nvPr>
            <p:ph type="sldNum" sz="quarter" idx="10"/>
          </p:nvPr>
        </p:nvSpPr>
        <p:spPr/>
        <p:txBody>
          <a:bodyPr/>
          <a:lstStyle/>
          <a:p>
            <a:fld id="{7ADCDD51-732A-44D8-BAFD-3C8216524EC4}" type="slidenum">
              <a:rPr lang="en-GB" smtClean="0"/>
              <a:t>17</a:t>
            </a:fld>
            <a:endParaRPr lang="en-GB"/>
          </a:p>
        </p:txBody>
      </p:sp>
    </p:spTree>
    <p:extLst>
      <p:ext uri="{BB962C8B-B14F-4D97-AF65-F5344CB8AC3E}">
        <p14:creationId xmlns:p14="http://schemas.microsoft.com/office/powerpoint/2010/main" val="1896904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ADCDD51-732A-44D8-BAFD-3C8216524EC4}" type="slidenum">
              <a:rPr lang="en-GB" smtClean="0"/>
              <a:t>18</a:t>
            </a:fld>
            <a:endParaRPr lang="en-GB"/>
          </a:p>
        </p:txBody>
      </p:sp>
    </p:spTree>
    <p:extLst>
      <p:ext uri="{BB962C8B-B14F-4D97-AF65-F5344CB8AC3E}">
        <p14:creationId xmlns:p14="http://schemas.microsoft.com/office/powerpoint/2010/main" val="2200034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ADCDD51-732A-44D8-BAFD-3C8216524EC4}" type="slidenum">
              <a:rPr lang="en-GB" smtClean="0"/>
              <a:t>19</a:t>
            </a:fld>
            <a:endParaRPr lang="en-GB"/>
          </a:p>
        </p:txBody>
      </p:sp>
    </p:spTree>
    <p:extLst>
      <p:ext uri="{BB962C8B-B14F-4D97-AF65-F5344CB8AC3E}">
        <p14:creationId xmlns:p14="http://schemas.microsoft.com/office/powerpoint/2010/main" val="1959794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12/18/2015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12/18/2015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12/18/2015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12/18/2015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12/18/2015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12/18/2015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12/18/2015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12/18/2015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hwtears.com/hwt"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hwtears.com/hw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smtClean="0"/>
              <a:t>Handwriting Without Tears</a:t>
            </a:r>
            <a:r>
              <a:rPr lang="en-GB" dirty="0">
                <a:solidFill>
                  <a:srgbClr val="111111"/>
                </a:solidFill>
                <a:latin typeface="arial" panose="020B0604020202020204" pitchFamily="34" charset="0"/>
              </a:rPr>
              <a:t> </a:t>
            </a:r>
            <a:r>
              <a:rPr lang="en-GB" dirty="0" smtClean="0">
                <a:solidFill>
                  <a:srgbClr val="111111"/>
                </a:solidFill>
                <a:latin typeface="arial" panose="020B0604020202020204" pitchFamily="34" charset="0"/>
              </a:rPr>
              <a:t>®</a:t>
            </a:r>
            <a:r>
              <a:rPr lang="en-GB" dirty="0" smtClean="0"/>
              <a:t>: Can children really leave the tissues at home? </a:t>
            </a:r>
            <a:endParaRPr lang="en-GB" dirty="0"/>
          </a:p>
        </p:txBody>
      </p:sp>
      <p:sp>
        <p:nvSpPr>
          <p:cNvPr id="3" name="Subtitle 2"/>
          <p:cNvSpPr>
            <a:spLocks noGrp="1"/>
          </p:cNvSpPr>
          <p:nvPr>
            <p:ph type="subTitle" idx="1"/>
          </p:nvPr>
        </p:nvSpPr>
        <p:spPr/>
        <p:txBody>
          <a:bodyPr/>
          <a:lstStyle/>
          <a:p>
            <a:r>
              <a:rPr lang="en-GB" dirty="0" smtClean="0"/>
              <a:t>Emma Fitz-Gerald </a:t>
            </a:r>
            <a:endParaRPr lang="en-GB"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66898" y="4455621"/>
            <a:ext cx="1288782" cy="1718376"/>
          </a:xfrm>
          <a:prstGeom prst="rect">
            <a:avLst/>
          </a:prstGeom>
        </p:spPr>
      </p:pic>
    </p:spTree>
    <p:extLst>
      <p:ext uri="{BB962C8B-B14F-4D97-AF65-F5344CB8AC3E}">
        <p14:creationId xmlns:p14="http://schemas.microsoft.com/office/powerpoint/2010/main" val="15488176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Aims </a:t>
            </a:r>
            <a:endParaRPr lang="en-GB" dirty="0"/>
          </a:p>
        </p:txBody>
      </p:sp>
      <p:sp>
        <p:nvSpPr>
          <p:cNvPr id="3" name="Content Placeholder 2"/>
          <p:cNvSpPr>
            <a:spLocks noGrp="1"/>
          </p:cNvSpPr>
          <p:nvPr>
            <p:ph idx="1"/>
          </p:nvPr>
        </p:nvSpPr>
        <p:spPr/>
        <p:txBody>
          <a:bodyPr/>
          <a:lstStyle/>
          <a:p>
            <a:r>
              <a:rPr lang="en-GB" sz="3200" dirty="0" smtClean="0"/>
              <a:t>What is good handwriting? </a:t>
            </a:r>
          </a:p>
          <a:p>
            <a:r>
              <a:rPr lang="en-GB" sz="3200" dirty="0" smtClean="0"/>
              <a:t>Why is it important? </a:t>
            </a:r>
          </a:p>
          <a:p>
            <a:r>
              <a:rPr lang="en-GB" sz="3200" dirty="0" smtClean="0"/>
              <a:t>What is Handwriting Without Tears</a:t>
            </a:r>
            <a:r>
              <a:rPr lang="en-GB" sz="3200" dirty="0">
                <a:solidFill>
                  <a:srgbClr val="111111"/>
                </a:solidFill>
                <a:latin typeface="arial" panose="020B0604020202020204" pitchFamily="34" charset="0"/>
              </a:rPr>
              <a:t> ®</a:t>
            </a:r>
            <a:r>
              <a:rPr lang="en-GB" sz="3200" dirty="0" smtClean="0"/>
              <a:t> and what does it claim to do?</a:t>
            </a:r>
          </a:p>
          <a:p>
            <a:r>
              <a:rPr lang="en-GB" sz="3200" dirty="0" smtClean="0"/>
              <a:t>What does the research say? </a:t>
            </a:r>
          </a:p>
          <a:p>
            <a:r>
              <a:rPr lang="en-GB" sz="3200" dirty="0" smtClean="0"/>
              <a:t>What are the implications for EP practice? </a:t>
            </a:r>
          </a:p>
          <a:p>
            <a:endParaRPr lang="en-GB" dirty="0"/>
          </a:p>
        </p:txBody>
      </p:sp>
    </p:spTree>
    <p:extLst>
      <p:ext uri="{BB962C8B-B14F-4D97-AF65-F5344CB8AC3E}">
        <p14:creationId xmlns:p14="http://schemas.microsoft.com/office/powerpoint/2010/main" val="22987254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good handwriting?</a:t>
            </a:r>
            <a:endParaRPr lang="en-GB" dirty="0"/>
          </a:p>
        </p:txBody>
      </p:sp>
      <p:sp>
        <p:nvSpPr>
          <p:cNvPr id="3" name="Content Placeholder 2"/>
          <p:cNvSpPr>
            <a:spLocks noGrp="1"/>
          </p:cNvSpPr>
          <p:nvPr>
            <p:ph idx="1"/>
          </p:nvPr>
        </p:nvSpPr>
        <p:spPr/>
        <p:txBody>
          <a:bodyPr>
            <a:normAutofit/>
          </a:bodyPr>
          <a:lstStyle/>
          <a:p>
            <a:pPr marL="0" indent="0">
              <a:buNone/>
            </a:pPr>
            <a:endParaRPr lang="en-GB" sz="4000" dirty="0" smtClean="0"/>
          </a:p>
          <a:p>
            <a:pPr marL="0" indent="0">
              <a:buNone/>
            </a:pPr>
            <a:r>
              <a:rPr lang="en-GB" sz="4000" dirty="0" smtClean="0"/>
              <a:t>The ability to write, “</a:t>
            </a:r>
            <a:r>
              <a:rPr lang="en-GB" sz="4000" dirty="0" smtClean="0">
                <a:solidFill>
                  <a:schemeClr val="tx1"/>
                </a:solidFill>
              </a:rPr>
              <a:t>legibly</a:t>
            </a:r>
            <a:r>
              <a:rPr lang="en-GB" sz="4000" dirty="0" smtClean="0"/>
              <a:t>, fluently and with increased speed” (DfE, 2013, p.36)</a:t>
            </a:r>
            <a:endParaRPr lang="en-GB" sz="4000" dirty="0"/>
          </a:p>
        </p:txBody>
      </p:sp>
    </p:spTree>
    <p:extLst>
      <p:ext uri="{BB962C8B-B14F-4D97-AF65-F5344CB8AC3E}">
        <p14:creationId xmlns:p14="http://schemas.microsoft.com/office/powerpoint/2010/main" val="33695385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are the components of handwriting? </a:t>
            </a:r>
            <a:endParaRPr lang="en-GB" dirty="0"/>
          </a:p>
        </p:txBody>
      </p:sp>
      <p:sp>
        <p:nvSpPr>
          <p:cNvPr id="3" name="Content Placeholder 2"/>
          <p:cNvSpPr>
            <a:spLocks noGrp="1"/>
          </p:cNvSpPr>
          <p:nvPr>
            <p:ph idx="1"/>
          </p:nvPr>
        </p:nvSpPr>
        <p:spPr/>
        <p:txBody>
          <a:bodyPr>
            <a:normAutofit fontScale="92500" lnSpcReduction="10000"/>
          </a:bodyPr>
          <a:lstStyle/>
          <a:p>
            <a:r>
              <a:rPr lang="en-GB" sz="3200" dirty="0" smtClean="0"/>
              <a:t>Legibility</a:t>
            </a:r>
          </a:p>
          <a:p>
            <a:r>
              <a:rPr lang="en-GB" sz="3200" dirty="0" smtClean="0"/>
              <a:t>Form </a:t>
            </a:r>
          </a:p>
          <a:p>
            <a:r>
              <a:rPr lang="en-GB" sz="3200" dirty="0" smtClean="0"/>
              <a:t>Alignment </a:t>
            </a:r>
          </a:p>
          <a:p>
            <a:r>
              <a:rPr lang="en-GB" sz="3200" dirty="0" smtClean="0"/>
              <a:t>Size </a:t>
            </a:r>
          </a:p>
          <a:p>
            <a:r>
              <a:rPr lang="en-GB" sz="3200" dirty="0" smtClean="0"/>
              <a:t>Spacing </a:t>
            </a:r>
          </a:p>
          <a:p>
            <a:r>
              <a:rPr lang="en-GB" sz="3200" dirty="0" smtClean="0"/>
              <a:t>Rate </a:t>
            </a:r>
          </a:p>
          <a:p>
            <a:endParaRPr lang="en-GB" dirty="0"/>
          </a:p>
          <a:p>
            <a:pPr algn="r"/>
            <a:r>
              <a:rPr lang="en-GB" dirty="0" smtClean="0"/>
              <a:t>Minnesota Handwriting Assessment – Riesman (1999)</a:t>
            </a:r>
          </a:p>
        </p:txBody>
      </p:sp>
    </p:spTree>
    <p:extLst>
      <p:ext uri="{BB962C8B-B14F-4D97-AF65-F5344CB8AC3E}">
        <p14:creationId xmlns:p14="http://schemas.microsoft.com/office/powerpoint/2010/main" val="3921692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is handwriting important? </a:t>
            </a:r>
            <a:endParaRPr lang="en-GB" dirty="0"/>
          </a:p>
        </p:txBody>
      </p:sp>
      <p:sp>
        <p:nvSpPr>
          <p:cNvPr id="3" name="Content Placeholder 2"/>
          <p:cNvSpPr>
            <a:spLocks noGrp="1"/>
          </p:cNvSpPr>
          <p:nvPr>
            <p:ph idx="1"/>
          </p:nvPr>
        </p:nvSpPr>
        <p:spPr/>
        <p:txBody>
          <a:bodyPr>
            <a:normAutofit/>
          </a:bodyPr>
          <a:lstStyle/>
          <a:p>
            <a:pPr marL="0" indent="0">
              <a:buNone/>
            </a:pPr>
            <a:r>
              <a:rPr lang="en-GB" sz="3200" dirty="0" smtClean="0"/>
              <a:t>Children can spend between 31%-60% of school day performing handwriting and other fine motor tasks (McHale &amp; </a:t>
            </a:r>
            <a:r>
              <a:rPr lang="en-GB" sz="3200" dirty="0" err="1" smtClean="0"/>
              <a:t>Cermak</a:t>
            </a:r>
            <a:r>
              <a:rPr lang="en-GB" sz="3200" dirty="0" smtClean="0"/>
              <a:t>, 1992)</a:t>
            </a:r>
          </a:p>
          <a:p>
            <a:pPr marL="0" indent="0">
              <a:buNone/>
            </a:pPr>
            <a:r>
              <a:rPr lang="en-GB" sz="3200" dirty="0" smtClean="0"/>
              <a:t>Number of primary school children with difficulties said to range from 10-30% (Rosenblum, Weiss &amp; </a:t>
            </a:r>
            <a:r>
              <a:rPr lang="en-GB" sz="3200" dirty="0" err="1" smtClean="0"/>
              <a:t>Parush</a:t>
            </a:r>
            <a:r>
              <a:rPr lang="en-GB" sz="3200" dirty="0" smtClean="0"/>
              <a:t>, 2004) </a:t>
            </a:r>
          </a:p>
          <a:p>
            <a:pPr marL="0" indent="0">
              <a:buNone/>
            </a:pPr>
            <a:r>
              <a:rPr lang="en-GB" sz="3200" dirty="0" smtClean="0"/>
              <a:t>Linked to other aspects of literacy including composition, phonological awareness and spelling (e.g. </a:t>
            </a:r>
            <a:r>
              <a:rPr lang="en-GB" sz="3200" dirty="0" err="1" smtClean="0"/>
              <a:t>Beringer</a:t>
            </a:r>
            <a:r>
              <a:rPr lang="en-GB" sz="3200" dirty="0" smtClean="0"/>
              <a:t> et al, 2006) </a:t>
            </a:r>
          </a:p>
        </p:txBody>
      </p:sp>
    </p:spTree>
    <p:extLst>
      <p:ext uri="{BB962C8B-B14F-4D97-AF65-F5344CB8AC3E}">
        <p14:creationId xmlns:p14="http://schemas.microsoft.com/office/powerpoint/2010/main" val="3442208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is handwriting important? </a:t>
            </a:r>
            <a:endParaRPr lang="en-GB" dirty="0"/>
          </a:p>
        </p:txBody>
      </p:sp>
      <p:sp>
        <p:nvSpPr>
          <p:cNvPr id="3" name="Content Placeholder 2"/>
          <p:cNvSpPr>
            <a:spLocks noGrp="1"/>
          </p:cNvSpPr>
          <p:nvPr>
            <p:ph idx="1"/>
          </p:nvPr>
        </p:nvSpPr>
        <p:spPr/>
        <p:txBody>
          <a:bodyPr/>
          <a:lstStyle/>
          <a:p>
            <a:pPr marL="0" indent="0">
              <a:buNone/>
            </a:pPr>
            <a:r>
              <a:rPr lang="en-GB" sz="3200" dirty="0" smtClean="0"/>
              <a:t>Poor handwriting is correlated with poorer academic achievement and low self-esteem (e.g. Graham &amp; Weintraub, 1996) </a:t>
            </a:r>
          </a:p>
          <a:p>
            <a:pPr marL="0" indent="0">
              <a:buNone/>
            </a:pPr>
            <a:r>
              <a:rPr lang="en-GB" sz="3200" dirty="0" smtClean="0"/>
              <a:t>Pupils with poor handwriting are likely to be mislabelled as non-compliant, lazy or lacking motivation (Sandler et al, 1992) </a:t>
            </a:r>
          </a:p>
          <a:p>
            <a:pPr marL="0" indent="0">
              <a:buNone/>
            </a:pPr>
            <a:r>
              <a:rPr lang="en-GB" sz="3200" dirty="0" smtClean="0"/>
              <a:t>Pupils will poor handwriting are likely to receive lower marks (</a:t>
            </a:r>
            <a:r>
              <a:rPr lang="en-GB" sz="3200" dirty="0" err="1" smtClean="0"/>
              <a:t>Sweedler</a:t>
            </a:r>
            <a:r>
              <a:rPr lang="en-GB" sz="3200" dirty="0" smtClean="0"/>
              <a:t>-Brown, 1999) </a:t>
            </a:r>
          </a:p>
          <a:p>
            <a:pPr marL="0" indent="0">
              <a:buNone/>
            </a:pPr>
            <a:endParaRPr lang="en-GB" dirty="0"/>
          </a:p>
        </p:txBody>
      </p:sp>
    </p:spTree>
    <p:extLst>
      <p:ext uri="{BB962C8B-B14F-4D97-AF65-F5344CB8AC3E}">
        <p14:creationId xmlns:p14="http://schemas.microsoft.com/office/powerpoint/2010/main" val="1891310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4400" dirty="0" smtClean="0"/>
              <a:t>What is Handwriting Without Tears</a:t>
            </a:r>
            <a:r>
              <a:rPr lang="en-GB" sz="4400" dirty="0">
                <a:solidFill>
                  <a:srgbClr val="111111"/>
                </a:solidFill>
                <a:latin typeface="arial" panose="020B0604020202020204" pitchFamily="34" charset="0"/>
              </a:rPr>
              <a:t>®</a:t>
            </a:r>
            <a:r>
              <a:rPr lang="en-GB" sz="4400" dirty="0" smtClean="0"/>
              <a:t> (HWT)? </a:t>
            </a:r>
            <a:endParaRPr lang="en-GB" sz="4400" dirty="0"/>
          </a:p>
        </p:txBody>
      </p:sp>
      <p:sp>
        <p:nvSpPr>
          <p:cNvPr id="3" name="Content Placeholder 2"/>
          <p:cNvSpPr>
            <a:spLocks noGrp="1"/>
          </p:cNvSpPr>
          <p:nvPr>
            <p:ph idx="1"/>
          </p:nvPr>
        </p:nvSpPr>
        <p:spPr/>
        <p:txBody>
          <a:bodyPr>
            <a:normAutofit fontScale="92500" lnSpcReduction="10000"/>
          </a:bodyPr>
          <a:lstStyle/>
          <a:p>
            <a:r>
              <a:rPr lang="en-GB" dirty="0" smtClean="0"/>
              <a:t>Programme developed by Jan Olsen – Occupational Therapist </a:t>
            </a:r>
          </a:p>
          <a:p>
            <a:r>
              <a:rPr lang="en-GB" dirty="0" smtClean="0"/>
              <a:t>Programme provides the following: </a:t>
            </a:r>
          </a:p>
          <a:p>
            <a:r>
              <a:rPr lang="en-GB" dirty="0" smtClean="0"/>
              <a:t>Teaching strategies</a:t>
            </a:r>
          </a:p>
          <a:p>
            <a:pPr lvl="1"/>
            <a:r>
              <a:rPr lang="en-GB" sz="2000" dirty="0" smtClean="0"/>
              <a:t>Developmental sequence: imitation, copying, independent writing </a:t>
            </a:r>
          </a:p>
          <a:p>
            <a:pPr lvl="1"/>
            <a:r>
              <a:rPr lang="en-GB" sz="2000" dirty="0" smtClean="0"/>
              <a:t>Developmental order of letters </a:t>
            </a:r>
          </a:p>
          <a:p>
            <a:pPr lvl="1"/>
            <a:r>
              <a:rPr lang="en-GB" sz="2000" dirty="0" smtClean="0"/>
              <a:t>Multisensory e.g. music and movement, door tracing, imaginary writing, wet-dry-try</a:t>
            </a:r>
          </a:p>
          <a:p>
            <a:pPr lvl="1"/>
            <a:r>
              <a:rPr lang="en-GB" sz="2000" dirty="0" smtClean="0"/>
              <a:t>Learn and check </a:t>
            </a:r>
          </a:p>
          <a:p>
            <a:pPr lvl="1"/>
            <a:r>
              <a:rPr lang="en-GB" sz="2000" dirty="0" smtClean="0"/>
              <a:t>Review and mastery</a:t>
            </a:r>
          </a:p>
          <a:p>
            <a:pPr marL="201168" lvl="1" indent="0">
              <a:buNone/>
            </a:pPr>
            <a:r>
              <a:rPr lang="en-GB" sz="2000" dirty="0" smtClean="0"/>
              <a:t>Workbooks </a:t>
            </a:r>
          </a:p>
          <a:p>
            <a:pPr lvl="1"/>
            <a:r>
              <a:rPr lang="en-GB" sz="2000" dirty="0" smtClean="0"/>
              <a:t>Black and white</a:t>
            </a:r>
          </a:p>
          <a:p>
            <a:pPr lvl="1"/>
            <a:r>
              <a:rPr lang="en-GB" sz="2000" dirty="0" smtClean="0"/>
              <a:t>Line generalization </a:t>
            </a:r>
          </a:p>
          <a:p>
            <a:pPr marL="201168" lvl="1" indent="0" algn="r">
              <a:buNone/>
            </a:pPr>
            <a:r>
              <a:rPr lang="en-GB" dirty="0">
                <a:hlinkClick r:id="rId3"/>
              </a:rPr>
              <a:t>https://</a:t>
            </a:r>
            <a:r>
              <a:rPr lang="en-GB" dirty="0" smtClean="0">
                <a:hlinkClick r:id="rId3"/>
              </a:rPr>
              <a:t>www.hwtears.com/hwt</a:t>
            </a:r>
            <a:r>
              <a:rPr lang="en-GB" dirty="0" smtClean="0"/>
              <a:t> </a:t>
            </a:r>
          </a:p>
          <a:p>
            <a:pPr marL="0" indent="0">
              <a:buNone/>
            </a:pPr>
            <a:endParaRPr lang="en-GB" dirty="0" smtClean="0"/>
          </a:p>
          <a:p>
            <a:endParaRPr lang="en-GB" dirty="0"/>
          </a:p>
        </p:txBody>
      </p:sp>
    </p:spTree>
    <p:extLst>
      <p:ext uri="{BB962C8B-B14F-4D97-AF65-F5344CB8AC3E}">
        <p14:creationId xmlns:p14="http://schemas.microsoft.com/office/powerpoint/2010/main" val="11120150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Claims </a:t>
            </a:r>
            <a:endParaRPr lang="en-GB" dirty="0"/>
          </a:p>
        </p:txBody>
      </p:sp>
      <p:sp>
        <p:nvSpPr>
          <p:cNvPr id="3" name="Content Placeholder 2"/>
          <p:cNvSpPr>
            <a:spLocks noGrp="1"/>
          </p:cNvSpPr>
          <p:nvPr>
            <p:ph idx="1"/>
          </p:nvPr>
        </p:nvSpPr>
        <p:spPr/>
        <p:txBody>
          <a:bodyPr>
            <a:normAutofit/>
          </a:bodyPr>
          <a:lstStyle/>
          <a:p>
            <a:r>
              <a:rPr lang="en-GB" sz="2400" dirty="0" smtClean="0">
                <a:solidFill>
                  <a:srgbClr val="111111"/>
                </a:solidFill>
              </a:rPr>
              <a:t>Better academic success</a:t>
            </a:r>
          </a:p>
          <a:p>
            <a:r>
              <a:rPr lang="en-GB" sz="2400" dirty="0" smtClean="0">
                <a:solidFill>
                  <a:srgbClr val="111111"/>
                </a:solidFill>
              </a:rPr>
              <a:t>Improves creative writing skills</a:t>
            </a:r>
          </a:p>
          <a:p>
            <a:r>
              <a:rPr lang="en-GB" sz="2400" dirty="0" smtClean="0">
                <a:solidFill>
                  <a:srgbClr val="111111"/>
                </a:solidFill>
              </a:rPr>
              <a:t>Improves fine motor skills</a:t>
            </a:r>
          </a:p>
          <a:p>
            <a:r>
              <a:rPr lang="en-GB" sz="2400" dirty="0" smtClean="0">
                <a:solidFill>
                  <a:srgbClr val="111111"/>
                </a:solidFill>
              </a:rPr>
              <a:t>Easy to teach, easy to learn </a:t>
            </a:r>
          </a:p>
          <a:p>
            <a:r>
              <a:rPr lang="en-GB" sz="2400" dirty="0" smtClean="0">
                <a:solidFill>
                  <a:srgbClr val="111111"/>
                </a:solidFill>
              </a:rPr>
              <a:t>Makes handwriting mastery more joyful</a:t>
            </a:r>
          </a:p>
          <a:p>
            <a:r>
              <a:rPr lang="en-GB" sz="2400" dirty="0" smtClean="0">
                <a:solidFill>
                  <a:srgbClr val="111111"/>
                </a:solidFill>
              </a:rPr>
              <a:t>Improved self-esteem </a:t>
            </a:r>
          </a:p>
          <a:p>
            <a:r>
              <a:rPr lang="en-GB" sz="2400" dirty="0" smtClean="0">
                <a:solidFill>
                  <a:srgbClr val="111111"/>
                </a:solidFill>
              </a:rPr>
              <a:t>Multisensory approach addresses all styles of learning </a:t>
            </a:r>
          </a:p>
          <a:p>
            <a:endParaRPr lang="en-GB" dirty="0"/>
          </a:p>
        </p:txBody>
      </p:sp>
      <p:sp>
        <p:nvSpPr>
          <p:cNvPr id="4" name="Rectangle 3"/>
          <p:cNvSpPr/>
          <p:nvPr/>
        </p:nvSpPr>
        <p:spPr>
          <a:xfrm>
            <a:off x="8117645" y="5499762"/>
            <a:ext cx="3368165" cy="369332"/>
          </a:xfrm>
          <a:prstGeom prst="rect">
            <a:avLst/>
          </a:prstGeom>
        </p:spPr>
        <p:txBody>
          <a:bodyPr wrap="none">
            <a:spAutoFit/>
          </a:bodyPr>
          <a:lstStyle/>
          <a:p>
            <a:pPr marL="201168" lvl="1" indent="0" algn="r">
              <a:buNone/>
            </a:pPr>
            <a:r>
              <a:rPr lang="en-GB" dirty="0">
                <a:hlinkClick r:id="rId3"/>
              </a:rPr>
              <a:t>https://www.hwtears.com/hwt</a:t>
            </a:r>
            <a:r>
              <a:rPr lang="en-GB" dirty="0"/>
              <a:t> </a:t>
            </a:r>
          </a:p>
        </p:txBody>
      </p:sp>
    </p:spTree>
    <p:extLst>
      <p:ext uri="{BB962C8B-B14F-4D97-AF65-F5344CB8AC3E}">
        <p14:creationId xmlns:p14="http://schemas.microsoft.com/office/powerpoint/2010/main" val="34419411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do teachers think? </a:t>
            </a:r>
            <a:endParaRPr lang="en-GB" dirty="0"/>
          </a:p>
        </p:txBody>
      </p:sp>
      <p:sp>
        <p:nvSpPr>
          <p:cNvPr id="3" name="Content Placeholder 2"/>
          <p:cNvSpPr>
            <a:spLocks noGrp="1"/>
          </p:cNvSpPr>
          <p:nvPr>
            <p:ph idx="1"/>
          </p:nvPr>
        </p:nvSpPr>
        <p:spPr/>
        <p:txBody>
          <a:bodyPr>
            <a:normAutofit fontScale="70000" lnSpcReduction="20000"/>
          </a:bodyPr>
          <a:lstStyle/>
          <a:p>
            <a:r>
              <a:rPr lang="en-GB" sz="4600" dirty="0" smtClean="0"/>
              <a:t>Teachers perceived HWT to be easier to implement, more engaging and more effective compared to Peterson Directed Method (PDM)</a:t>
            </a:r>
          </a:p>
          <a:p>
            <a:r>
              <a:rPr lang="en-GB" sz="4600" dirty="0" smtClean="0"/>
              <a:t>Felt the paper was frustrating and didn’t match classroom resources</a:t>
            </a:r>
          </a:p>
          <a:p>
            <a:r>
              <a:rPr lang="en-GB" sz="4600" dirty="0" smtClean="0"/>
              <a:t>Teacher felt PDM was boring and needed adaptations but encouraged practice</a:t>
            </a:r>
            <a:endParaRPr lang="en-GB" sz="4600" dirty="0"/>
          </a:p>
          <a:p>
            <a:endParaRPr lang="en-GB" sz="3600" dirty="0" smtClean="0"/>
          </a:p>
          <a:p>
            <a:pPr algn="r"/>
            <a:r>
              <a:rPr lang="en-GB" sz="3600" dirty="0" smtClean="0"/>
              <a:t>Benson et al (2012) </a:t>
            </a:r>
            <a:endParaRPr lang="en-GB" sz="3600" dirty="0"/>
          </a:p>
        </p:txBody>
      </p:sp>
    </p:spTree>
    <p:extLst>
      <p:ext uri="{BB962C8B-B14F-4D97-AF65-F5344CB8AC3E}">
        <p14:creationId xmlns:p14="http://schemas.microsoft.com/office/powerpoint/2010/main" val="3097725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Research exploring HWT</a:t>
            </a:r>
            <a:endParaRPr lang="en-GB" dirty="0"/>
          </a:p>
        </p:txBody>
      </p:sp>
      <p:sp>
        <p:nvSpPr>
          <p:cNvPr id="3" name="Content Placeholder 2"/>
          <p:cNvSpPr>
            <a:spLocks noGrp="1"/>
          </p:cNvSpPr>
          <p:nvPr>
            <p:ph idx="1"/>
          </p:nvPr>
        </p:nvSpPr>
        <p:spPr/>
        <p:txBody>
          <a:bodyPr>
            <a:normAutofit fontScale="92500" lnSpcReduction="10000"/>
          </a:bodyPr>
          <a:lstStyle/>
          <a:p>
            <a:r>
              <a:rPr lang="en-GB" sz="2800" dirty="0" smtClean="0"/>
              <a:t>Three unpublished master’s theses: </a:t>
            </a:r>
          </a:p>
          <a:p>
            <a:pPr lvl="1"/>
            <a:r>
              <a:rPr lang="en-GB" sz="2800" dirty="0" err="1" smtClean="0"/>
              <a:t>Pontello</a:t>
            </a:r>
            <a:r>
              <a:rPr lang="en-GB" sz="2800" dirty="0" smtClean="0"/>
              <a:t> (1999)</a:t>
            </a:r>
          </a:p>
          <a:p>
            <a:pPr lvl="2"/>
            <a:r>
              <a:rPr lang="en-GB" sz="2800" dirty="0" smtClean="0"/>
              <a:t>Significant improvements in alignment and size </a:t>
            </a:r>
          </a:p>
          <a:p>
            <a:pPr lvl="1"/>
            <a:r>
              <a:rPr lang="en-GB" sz="2800" dirty="0" smtClean="0"/>
              <a:t>Wade (2002)</a:t>
            </a:r>
          </a:p>
          <a:p>
            <a:pPr lvl="2"/>
            <a:r>
              <a:rPr lang="en-GB" sz="2800" dirty="0" smtClean="0"/>
              <a:t>Significant improvement in alignment and spacing </a:t>
            </a:r>
          </a:p>
          <a:p>
            <a:pPr lvl="1"/>
            <a:r>
              <a:rPr lang="en-GB" sz="2800" dirty="0" smtClean="0"/>
              <a:t>Owens (2004) </a:t>
            </a:r>
          </a:p>
          <a:p>
            <a:pPr lvl="2"/>
            <a:r>
              <a:rPr lang="en-GB" sz="2800" dirty="0" smtClean="0"/>
              <a:t>Significant improvements in size and spacing</a:t>
            </a:r>
          </a:p>
          <a:p>
            <a:pPr marL="384048" lvl="2" indent="0" algn="r">
              <a:buNone/>
            </a:pPr>
            <a:r>
              <a:rPr lang="en-GB" sz="2800" dirty="0" smtClean="0"/>
              <a:t>Cited in Roberts et al (2014) </a:t>
            </a:r>
          </a:p>
          <a:p>
            <a:pPr marL="201168" lvl="1" indent="0">
              <a:buNone/>
            </a:pPr>
            <a:endParaRPr lang="en-GB" sz="3200" dirty="0"/>
          </a:p>
          <a:p>
            <a:pPr marL="201168" lvl="1" indent="0">
              <a:buNone/>
            </a:pPr>
            <a:r>
              <a:rPr lang="en-GB" sz="2800" dirty="0" smtClean="0"/>
              <a:t>None of these studies found improvements in </a:t>
            </a:r>
            <a:r>
              <a:rPr lang="en-GB" sz="2800" dirty="0" smtClean="0">
                <a:solidFill>
                  <a:srgbClr val="FF0000"/>
                </a:solidFill>
              </a:rPr>
              <a:t>legibility</a:t>
            </a:r>
            <a:r>
              <a:rPr lang="en-GB" sz="2800" dirty="0" smtClean="0"/>
              <a:t>, </a:t>
            </a:r>
            <a:r>
              <a:rPr lang="en-GB" sz="2800" dirty="0" smtClean="0">
                <a:solidFill>
                  <a:srgbClr val="FF0000"/>
                </a:solidFill>
              </a:rPr>
              <a:t>form</a:t>
            </a:r>
            <a:r>
              <a:rPr lang="en-GB" sz="2800" dirty="0" smtClean="0"/>
              <a:t> or </a:t>
            </a:r>
            <a:r>
              <a:rPr lang="en-GB" sz="2800" dirty="0" smtClean="0">
                <a:solidFill>
                  <a:srgbClr val="FF0000"/>
                </a:solidFill>
              </a:rPr>
              <a:t>rate</a:t>
            </a:r>
            <a:r>
              <a:rPr lang="en-GB" sz="2800" dirty="0" smtClean="0"/>
              <a:t>.</a:t>
            </a:r>
          </a:p>
          <a:p>
            <a:pPr marL="201168" lvl="1" indent="0">
              <a:buNone/>
            </a:pPr>
            <a:endParaRPr lang="en-GB" dirty="0"/>
          </a:p>
        </p:txBody>
      </p:sp>
    </p:spTree>
    <p:extLst>
      <p:ext uri="{BB962C8B-B14F-4D97-AF65-F5344CB8AC3E}">
        <p14:creationId xmlns:p14="http://schemas.microsoft.com/office/powerpoint/2010/main" val="1523934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good handwriting?</a:t>
            </a:r>
            <a:endParaRPr lang="en-GB" dirty="0"/>
          </a:p>
        </p:txBody>
      </p:sp>
      <p:sp>
        <p:nvSpPr>
          <p:cNvPr id="3" name="Content Placeholder 2"/>
          <p:cNvSpPr>
            <a:spLocks noGrp="1"/>
          </p:cNvSpPr>
          <p:nvPr>
            <p:ph idx="1"/>
          </p:nvPr>
        </p:nvSpPr>
        <p:spPr/>
        <p:txBody>
          <a:bodyPr>
            <a:normAutofit/>
          </a:bodyPr>
          <a:lstStyle/>
          <a:p>
            <a:pPr marL="0" indent="0">
              <a:buNone/>
            </a:pPr>
            <a:endParaRPr lang="en-GB" sz="4000" dirty="0" smtClean="0"/>
          </a:p>
          <a:p>
            <a:pPr marL="0" indent="0">
              <a:buNone/>
            </a:pPr>
            <a:r>
              <a:rPr lang="en-GB" sz="4000" dirty="0" smtClean="0"/>
              <a:t>The ability to write, “</a:t>
            </a:r>
            <a:r>
              <a:rPr lang="en-GB" sz="4000" dirty="0" smtClean="0">
                <a:solidFill>
                  <a:srgbClr val="FF0000"/>
                </a:solidFill>
              </a:rPr>
              <a:t>legibly</a:t>
            </a:r>
            <a:r>
              <a:rPr lang="en-GB" sz="4000" dirty="0" smtClean="0"/>
              <a:t>, fluently and with increased </a:t>
            </a:r>
            <a:r>
              <a:rPr lang="en-GB" sz="4000" dirty="0" smtClean="0">
                <a:solidFill>
                  <a:srgbClr val="FF0000"/>
                </a:solidFill>
              </a:rPr>
              <a:t>speed</a:t>
            </a:r>
            <a:r>
              <a:rPr lang="en-GB" sz="4000" dirty="0" smtClean="0"/>
              <a:t>” (DfE, 2013, p.36)</a:t>
            </a:r>
            <a:endParaRPr lang="en-GB" sz="4000" dirty="0"/>
          </a:p>
          <a:p>
            <a:pPr marL="0" indent="0">
              <a:buNone/>
            </a:pPr>
            <a:endParaRPr lang="en-GB" sz="3200" dirty="0" smtClean="0"/>
          </a:p>
        </p:txBody>
      </p:sp>
    </p:spTree>
    <p:extLst>
      <p:ext uri="{BB962C8B-B14F-4D97-AF65-F5344CB8AC3E}">
        <p14:creationId xmlns:p14="http://schemas.microsoft.com/office/powerpoint/2010/main" val="31515808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Published research on HWT</a:t>
            </a:r>
            <a:endParaRPr lang="en-GB" dirty="0"/>
          </a:p>
        </p:txBody>
      </p:sp>
      <p:sp>
        <p:nvSpPr>
          <p:cNvPr id="3" name="Content Placeholder 2"/>
          <p:cNvSpPr>
            <a:spLocks noGrp="1"/>
          </p:cNvSpPr>
          <p:nvPr>
            <p:ph idx="1"/>
          </p:nvPr>
        </p:nvSpPr>
        <p:spPr/>
        <p:txBody>
          <a:bodyPr>
            <a:normAutofit fontScale="85000" lnSpcReduction="20000"/>
          </a:bodyPr>
          <a:lstStyle/>
          <a:p>
            <a:r>
              <a:rPr lang="en-GB" sz="3800" dirty="0" smtClean="0"/>
              <a:t>Marr &amp; </a:t>
            </a:r>
            <a:r>
              <a:rPr lang="en-GB" sz="3800" dirty="0" err="1" smtClean="0"/>
              <a:t>Dimeo</a:t>
            </a:r>
            <a:r>
              <a:rPr lang="en-GB" sz="3800" dirty="0" smtClean="0"/>
              <a:t> (2006) </a:t>
            </a:r>
          </a:p>
          <a:p>
            <a:pPr lvl="1"/>
            <a:r>
              <a:rPr lang="en-GB" sz="3800" dirty="0" smtClean="0"/>
              <a:t>Significant improvements in single-letter formations and parent ratings of handwriting and parent ratings of handwriting </a:t>
            </a:r>
          </a:p>
          <a:p>
            <a:r>
              <a:rPr lang="en-GB" sz="4000" dirty="0" smtClean="0"/>
              <a:t>Schulz-</a:t>
            </a:r>
            <a:r>
              <a:rPr lang="en-GB" sz="4000" dirty="0" err="1" smtClean="0"/>
              <a:t>Krohn</a:t>
            </a:r>
            <a:r>
              <a:rPr lang="en-GB" sz="4000" dirty="0" smtClean="0"/>
              <a:t> et al (2008)</a:t>
            </a:r>
          </a:p>
          <a:p>
            <a:pPr lvl="1"/>
            <a:r>
              <a:rPr lang="en-GB" sz="3800" dirty="0" smtClean="0"/>
              <a:t>Significant improvement in rate</a:t>
            </a:r>
          </a:p>
          <a:p>
            <a:r>
              <a:rPr lang="en-GB" sz="3800" dirty="0" err="1" smtClean="0"/>
              <a:t>Schneck</a:t>
            </a:r>
            <a:r>
              <a:rPr lang="en-GB" sz="3800" dirty="0" smtClean="0"/>
              <a:t>, </a:t>
            </a:r>
            <a:r>
              <a:rPr lang="en-GB" sz="3800" dirty="0" err="1" smtClean="0"/>
              <a:t>Shasby</a:t>
            </a:r>
            <a:r>
              <a:rPr lang="en-GB" sz="3800" dirty="0" smtClean="0"/>
              <a:t>, Myers &amp; </a:t>
            </a:r>
            <a:r>
              <a:rPr lang="en-GB" sz="3800" dirty="0" err="1" smtClean="0"/>
              <a:t>DePoy</a:t>
            </a:r>
            <a:r>
              <a:rPr lang="en-GB" sz="3800" dirty="0" smtClean="0"/>
              <a:t> Smith (2012)</a:t>
            </a:r>
          </a:p>
          <a:p>
            <a:pPr lvl="1"/>
            <a:r>
              <a:rPr lang="en-GB" sz="3600" dirty="0" smtClean="0"/>
              <a:t>Significant improvements in all areas for children accessing the teacher designed programme  </a:t>
            </a:r>
          </a:p>
          <a:p>
            <a:endParaRPr lang="en-GB" sz="4000" dirty="0" smtClean="0"/>
          </a:p>
        </p:txBody>
      </p:sp>
    </p:spTree>
    <p:extLst>
      <p:ext uri="{BB962C8B-B14F-4D97-AF65-F5344CB8AC3E}">
        <p14:creationId xmlns:p14="http://schemas.microsoft.com/office/powerpoint/2010/main" val="39579039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Published research on HWT</a:t>
            </a:r>
            <a:endParaRPr lang="en-GB" dirty="0"/>
          </a:p>
        </p:txBody>
      </p:sp>
      <p:sp>
        <p:nvSpPr>
          <p:cNvPr id="3" name="Content Placeholder 2"/>
          <p:cNvSpPr>
            <a:spLocks noGrp="1"/>
          </p:cNvSpPr>
          <p:nvPr>
            <p:ph idx="1"/>
          </p:nvPr>
        </p:nvSpPr>
        <p:spPr/>
        <p:txBody>
          <a:bodyPr>
            <a:normAutofit fontScale="70000" lnSpcReduction="20000"/>
          </a:bodyPr>
          <a:lstStyle/>
          <a:p>
            <a:r>
              <a:rPr lang="en-GB" sz="3800" dirty="0" err="1" smtClean="0"/>
              <a:t>Delegato</a:t>
            </a:r>
            <a:r>
              <a:rPr lang="en-GB" sz="3800" dirty="0" smtClean="0"/>
              <a:t> et al (2013) </a:t>
            </a:r>
          </a:p>
          <a:p>
            <a:pPr lvl="1"/>
            <a:r>
              <a:rPr lang="en-GB" sz="3800" dirty="0" smtClean="0"/>
              <a:t>HWT increased four participants’ pre-handwriting skills </a:t>
            </a:r>
            <a:endParaRPr lang="en-GB" sz="3800" dirty="0"/>
          </a:p>
          <a:p>
            <a:r>
              <a:rPr lang="en-GB" sz="3800" dirty="0" err="1" smtClean="0"/>
              <a:t>Salls</a:t>
            </a:r>
            <a:r>
              <a:rPr lang="en-GB" sz="3800" dirty="0" smtClean="0"/>
              <a:t> et al (2013) </a:t>
            </a:r>
          </a:p>
          <a:p>
            <a:pPr lvl="1"/>
            <a:r>
              <a:rPr lang="en-GB" sz="3800" dirty="0" smtClean="0"/>
              <a:t>Significant improvements for alignment and size </a:t>
            </a:r>
          </a:p>
          <a:p>
            <a:r>
              <a:rPr lang="en-GB" sz="3800" dirty="0" err="1" smtClean="0"/>
              <a:t>Hape</a:t>
            </a:r>
            <a:r>
              <a:rPr lang="en-GB" sz="3800" dirty="0" smtClean="0"/>
              <a:t> et al (2014) </a:t>
            </a:r>
          </a:p>
          <a:p>
            <a:pPr lvl="1"/>
            <a:r>
              <a:rPr lang="en-GB" sz="3800" dirty="0" smtClean="0"/>
              <a:t>Significant improvements in overall handwriting for both groups </a:t>
            </a:r>
          </a:p>
          <a:p>
            <a:r>
              <a:rPr lang="en-GB" sz="3800" dirty="0" smtClean="0"/>
              <a:t>Roberts et al (2014)</a:t>
            </a:r>
          </a:p>
          <a:p>
            <a:pPr lvl="1"/>
            <a:r>
              <a:rPr lang="en-GB" sz="3800" dirty="0" smtClean="0"/>
              <a:t>Significant improvements in form </a:t>
            </a:r>
          </a:p>
          <a:p>
            <a:pPr lvl="1"/>
            <a:r>
              <a:rPr lang="en-GB" sz="3800" dirty="0" smtClean="0"/>
              <a:t>Group A also made improvement in spacing and Group B also make improvements in alignment and size </a:t>
            </a:r>
          </a:p>
          <a:p>
            <a:pPr marL="201168" lvl="1" indent="0">
              <a:buNone/>
            </a:pPr>
            <a:endParaRPr lang="en-GB" sz="2000" dirty="0"/>
          </a:p>
        </p:txBody>
      </p:sp>
    </p:spTree>
    <p:extLst>
      <p:ext uri="{BB962C8B-B14F-4D97-AF65-F5344CB8AC3E}">
        <p14:creationId xmlns:p14="http://schemas.microsoft.com/office/powerpoint/2010/main" val="11146155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Conclusions from this research</a:t>
            </a:r>
            <a:endParaRPr lang="en-GB" dirty="0"/>
          </a:p>
        </p:txBody>
      </p:sp>
      <p:sp>
        <p:nvSpPr>
          <p:cNvPr id="3" name="Content Placeholder 2"/>
          <p:cNvSpPr>
            <a:spLocks noGrp="1"/>
          </p:cNvSpPr>
          <p:nvPr>
            <p:ph idx="1"/>
          </p:nvPr>
        </p:nvSpPr>
        <p:spPr/>
        <p:txBody>
          <a:bodyPr>
            <a:normAutofit/>
          </a:bodyPr>
          <a:lstStyle/>
          <a:p>
            <a:pPr marL="0" indent="0">
              <a:buNone/>
            </a:pPr>
            <a:r>
              <a:rPr lang="en-GB" sz="3600" dirty="0" smtClean="0"/>
              <a:t>HWT does appear to impact alignment, size and spacing of handwriting </a:t>
            </a:r>
          </a:p>
          <a:p>
            <a:pPr marL="0" indent="0">
              <a:buNone/>
            </a:pPr>
            <a:endParaRPr lang="en-GB" sz="3600" dirty="0" smtClean="0"/>
          </a:p>
          <a:p>
            <a:pPr marL="0" indent="0">
              <a:buNone/>
            </a:pPr>
            <a:r>
              <a:rPr lang="en-GB" sz="3600" dirty="0" smtClean="0"/>
              <a:t>Some evidence it can impact form and rate</a:t>
            </a:r>
          </a:p>
          <a:p>
            <a:pPr marL="0" indent="0">
              <a:buNone/>
            </a:pPr>
            <a:endParaRPr lang="en-GB" sz="3600" dirty="0"/>
          </a:p>
          <a:p>
            <a:pPr marL="0" indent="0">
              <a:buNone/>
            </a:pPr>
            <a:r>
              <a:rPr lang="en-GB" sz="3600" dirty="0" smtClean="0"/>
              <a:t>No evidence it has an impact on </a:t>
            </a:r>
            <a:r>
              <a:rPr lang="en-GB" sz="3600" dirty="0" smtClean="0">
                <a:solidFill>
                  <a:srgbClr val="FF0000"/>
                </a:solidFill>
              </a:rPr>
              <a:t>legibility</a:t>
            </a:r>
            <a:r>
              <a:rPr lang="en-GB" sz="3600" dirty="0" smtClean="0"/>
              <a:t> </a:t>
            </a:r>
            <a:endParaRPr lang="en-GB" sz="3600" dirty="0"/>
          </a:p>
        </p:txBody>
      </p:sp>
    </p:spTree>
    <p:extLst>
      <p:ext uri="{BB962C8B-B14F-4D97-AF65-F5344CB8AC3E}">
        <p14:creationId xmlns:p14="http://schemas.microsoft.com/office/powerpoint/2010/main" val="33088311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good handwriting?</a:t>
            </a:r>
            <a:endParaRPr lang="en-GB" dirty="0"/>
          </a:p>
        </p:txBody>
      </p:sp>
      <p:sp>
        <p:nvSpPr>
          <p:cNvPr id="3" name="Content Placeholder 2"/>
          <p:cNvSpPr>
            <a:spLocks noGrp="1"/>
          </p:cNvSpPr>
          <p:nvPr>
            <p:ph idx="1"/>
          </p:nvPr>
        </p:nvSpPr>
        <p:spPr>
          <a:xfrm>
            <a:off x="1097280" y="1737360"/>
            <a:ext cx="10058400" cy="4023360"/>
          </a:xfrm>
        </p:spPr>
        <p:txBody>
          <a:bodyPr>
            <a:normAutofit/>
          </a:bodyPr>
          <a:lstStyle/>
          <a:p>
            <a:pPr marL="0" indent="0">
              <a:buNone/>
            </a:pPr>
            <a:endParaRPr lang="en-GB" sz="4000" dirty="0" smtClean="0"/>
          </a:p>
          <a:p>
            <a:pPr marL="0" indent="0">
              <a:buNone/>
            </a:pPr>
            <a:r>
              <a:rPr lang="en-GB" sz="4000" dirty="0" smtClean="0"/>
              <a:t>The ability to write, “</a:t>
            </a:r>
            <a:r>
              <a:rPr lang="en-GB" sz="4000" dirty="0" smtClean="0">
                <a:solidFill>
                  <a:srgbClr val="FF0000"/>
                </a:solidFill>
              </a:rPr>
              <a:t>legibly</a:t>
            </a:r>
            <a:r>
              <a:rPr lang="en-GB" sz="4000" dirty="0" smtClean="0"/>
              <a:t>, fluently and with increased </a:t>
            </a:r>
            <a:r>
              <a:rPr lang="en-GB" sz="4000" dirty="0" smtClean="0">
                <a:solidFill>
                  <a:schemeClr val="tx1"/>
                </a:solidFill>
              </a:rPr>
              <a:t>speed</a:t>
            </a:r>
            <a:r>
              <a:rPr lang="en-GB" sz="4000" dirty="0" smtClean="0"/>
              <a:t>” (DfE, 2013, p.36)</a:t>
            </a:r>
            <a:endParaRPr lang="en-GB" sz="4000" dirty="0"/>
          </a:p>
          <a:p>
            <a:pPr marL="0" indent="0">
              <a:buNone/>
            </a:pPr>
            <a:endParaRPr lang="en-GB" sz="3200" dirty="0" smtClean="0"/>
          </a:p>
        </p:txBody>
      </p:sp>
    </p:spTree>
    <p:extLst>
      <p:ext uri="{BB962C8B-B14F-4D97-AF65-F5344CB8AC3E}">
        <p14:creationId xmlns:p14="http://schemas.microsoft.com/office/powerpoint/2010/main" val="257078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Why might this be? </a:t>
            </a:r>
            <a:endParaRPr lang="en-GB" dirty="0"/>
          </a:p>
        </p:txBody>
      </p:sp>
      <p:sp>
        <p:nvSpPr>
          <p:cNvPr id="3" name="Content Placeholder 2"/>
          <p:cNvSpPr>
            <a:spLocks noGrp="1"/>
          </p:cNvSpPr>
          <p:nvPr>
            <p:ph idx="1"/>
          </p:nvPr>
        </p:nvSpPr>
        <p:spPr/>
        <p:txBody>
          <a:bodyPr>
            <a:normAutofit/>
          </a:bodyPr>
          <a:lstStyle/>
          <a:p>
            <a:r>
              <a:rPr lang="en-GB" sz="3600" dirty="0" smtClean="0"/>
              <a:t>Assessment tool is evaluating the programme on different criteria </a:t>
            </a:r>
          </a:p>
          <a:p>
            <a:r>
              <a:rPr lang="en-GB" sz="3600" dirty="0" smtClean="0"/>
              <a:t>Doesn’t impact VMI which is directly correlated to legibility</a:t>
            </a:r>
          </a:p>
          <a:p>
            <a:r>
              <a:rPr lang="en-GB" sz="3600" dirty="0" smtClean="0"/>
              <a:t>No evidence a multi-sensory approach is any more effective than a traditional approach </a:t>
            </a:r>
          </a:p>
        </p:txBody>
      </p:sp>
    </p:spTree>
    <p:extLst>
      <p:ext uri="{BB962C8B-B14F-4D97-AF65-F5344CB8AC3E}">
        <p14:creationId xmlns:p14="http://schemas.microsoft.com/office/powerpoint/2010/main" val="201385395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Implications for practice </a:t>
            </a:r>
            <a:endParaRPr lang="en-GB" dirty="0"/>
          </a:p>
        </p:txBody>
      </p:sp>
      <p:sp>
        <p:nvSpPr>
          <p:cNvPr id="3" name="Content Placeholder 2"/>
          <p:cNvSpPr>
            <a:spLocks noGrp="1"/>
          </p:cNvSpPr>
          <p:nvPr>
            <p:ph idx="1"/>
          </p:nvPr>
        </p:nvSpPr>
        <p:spPr/>
        <p:txBody>
          <a:bodyPr>
            <a:normAutofit/>
          </a:bodyPr>
          <a:lstStyle/>
          <a:p>
            <a:r>
              <a:rPr lang="en-GB" sz="2400" dirty="0" smtClean="0"/>
              <a:t>HWT is likely to support improvement of size, spacing and alignment of handwriting, but has limited impact on legibility. </a:t>
            </a:r>
            <a:endParaRPr lang="en-GB" sz="2400" dirty="0"/>
          </a:p>
          <a:p>
            <a:r>
              <a:rPr lang="en-GB" sz="2400" dirty="0" smtClean="0"/>
              <a:t>Multisensory approaches may be more fun and motivating for teachers and pupils – but have little impact over and above traditional methods of teaching handwriting. </a:t>
            </a:r>
            <a:endParaRPr lang="en-GB" sz="2400" dirty="0"/>
          </a:p>
          <a:p>
            <a:r>
              <a:rPr lang="en-GB" sz="2400" dirty="0" smtClean="0"/>
              <a:t>Other factors which might impact on handwriting could be orthographic-motor-integration (OMI) and working memory. </a:t>
            </a:r>
            <a:endParaRPr lang="en-GB" sz="2400" dirty="0"/>
          </a:p>
          <a:p>
            <a:r>
              <a:rPr lang="en-GB" sz="2400" dirty="0" smtClean="0"/>
              <a:t>Task-orientated self-instruction programmes have had more success for pupils in increasing legibility, fluency and rate of handwriting. </a:t>
            </a:r>
          </a:p>
        </p:txBody>
      </p:sp>
    </p:spTree>
    <p:extLst>
      <p:ext uri="{BB962C8B-B14F-4D97-AF65-F5344CB8AC3E}">
        <p14:creationId xmlns:p14="http://schemas.microsoft.com/office/powerpoint/2010/main" val="41023984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 </a:t>
            </a:r>
            <a:endParaRPr lang="en-GB" dirty="0"/>
          </a:p>
        </p:txBody>
      </p:sp>
      <p:sp>
        <p:nvSpPr>
          <p:cNvPr id="3" name="Content Placeholder 2"/>
          <p:cNvSpPr>
            <a:spLocks noGrp="1"/>
          </p:cNvSpPr>
          <p:nvPr>
            <p:ph idx="1"/>
          </p:nvPr>
        </p:nvSpPr>
        <p:spPr/>
        <p:txBody>
          <a:bodyPr>
            <a:normAutofit fontScale="55000" lnSpcReduction="20000"/>
          </a:bodyPr>
          <a:lstStyle/>
          <a:p>
            <a:r>
              <a:rPr lang="en-GB" sz="2500" dirty="0" smtClean="0"/>
              <a:t>Benson</a:t>
            </a:r>
            <a:r>
              <a:rPr lang="en-GB" sz="2500" dirty="0"/>
              <a:t>, J. D., </a:t>
            </a:r>
            <a:r>
              <a:rPr lang="en-GB" sz="2500" dirty="0" err="1"/>
              <a:t>Salls</a:t>
            </a:r>
            <a:r>
              <a:rPr lang="en-GB" sz="2500" dirty="0"/>
              <a:t>, J., &amp; Perry, C. (2010). A Pilot Study of Teachers’ Perceptions of Two Handwriting Curricula: Handwriting Without Tears and the Peterson Directed Handwriting Method. </a:t>
            </a:r>
            <a:r>
              <a:rPr lang="en-GB" sz="2500" i="1" dirty="0"/>
              <a:t>Journal of Occupational Therapy, Schools, &amp; Early Intervention</a:t>
            </a:r>
            <a:r>
              <a:rPr lang="en-GB" sz="2500" dirty="0"/>
              <a:t>, </a:t>
            </a:r>
            <a:r>
              <a:rPr lang="en-GB" sz="2500" i="1" dirty="0"/>
              <a:t>3</a:t>
            </a:r>
            <a:r>
              <a:rPr lang="en-GB" sz="2500" dirty="0"/>
              <a:t>(4), 319–330. http://doi.org/10.1080/19411243.2010.541741</a:t>
            </a:r>
          </a:p>
          <a:p>
            <a:r>
              <a:rPr lang="en-GB" sz="2500" dirty="0" err="1"/>
              <a:t>Delegato</a:t>
            </a:r>
            <a:r>
              <a:rPr lang="en-GB" sz="2500" dirty="0"/>
              <a:t>, C., McLaughlin, T. F., Derby, K. M., &amp; Schuster, L. (2013). The Effects of Using Handwriting Without Tears and a Handwriting Racetrack to Teach Five Preschool Students with Disabilities Pre Handwriting and Handwriting. </a:t>
            </a:r>
            <a:r>
              <a:rPr lang="en-GB" sz="2500" i="1" dirty="0"/>
              <a:t>Journal of Occupational Therapy, Schools, &amp; Early Intervention</a:t>
            </a:r>
            <a:r>
              <a:rPr lang="en-GB" sz="2500" dirty="0"/>
              <a:t>, </a:t>
            </a:r>
            <a:r>
              <a:rPr lang="en-GB" sz="2500" i="1" dirty="0"/>
              <a:t>6</a:t>
            </a:r>
            <a:r>
              <a:rPr lang="en-GB" sz="2500" dirty="0"/>
              <a:t>(3), 255–268. http://doi.org/10.1080/19411243.2013.850962</a:t>
            </a:r>
          </a:p>
          <a:p>
            <a:r>
              <a:rPr lang="en-GB" sz="2500" dirty="0"/>
              <a:t>Department for Education. (2013). </a:t>
            </a:r>
            <a:r>
              <a:rPr lang="en-GB" sz="2500" i="1" dirty="0"/>
              <a:t>English programmes of study: Key stages 1 and 2</a:t>
            </a:r>
            <a:r>
              <a:rPr lang="en-GB" sz="2500" dirty="0"/>
              <a:t>. London.</a:t>
            </a:r>
          </a:p>
          <a:p>
            <a:r>
              <a:rPr lang="en-GB" sz="2500" dirty="0"/>
              <a:t>Graham, S., &amp; Weintraub, N. (1996). A review of handwriting research: Progress and prospects from 1980 to 1994. </a:t>
            </a:r>
            <a:r>
              <a:rPr lang="en-GB" sz="2500" i="1" dirty="0"/>
              <a:t>Educational Psychology Review</a:t>
            </a:r>
            <a:r>
              <a:rPr lang="en-GB" sz="2500" dirty="0"/>
              <a:t>, </a:t>
            </a:r>
            <a:r>
              <a:rPr lang="en-GB" sz="2500" i="1" dirty="0"/>
              <a:t>8</a:t>
            </a:r>
            <a:r>
              <a:rPr lang="en-GB" sz="2500" dirty="0"/>
              <a:t>(1), 7–87. http://doi.org/10.1007/BF01761831</a:t>
            </a:r>
          </a:p>
          <a:p>
            <a:r>
              <a:rPr lang="en-GB" sz="2500" dirty="0" err="1"/>
              <a:t>Hape</a:t>
            </a:r>
            <a:r>
              <a:rPr lang="en-GB" sz="2500" dirty="0"/>
              <a:t>, K., Flood, N., McArthur, K., </a:t>
            </a:r>
            <a:r>
              <a:rPr lang="en-GB" sz="2500" dirty="0" err="1"/>
              <a:t>Sidara</a:t>
            </a:r>
            <a:r>
              <a:rPr lang="en-GB" sz="2500" dirty="0"/>
              <a:t>, C., Stephens, C., &amp; Welsh, K. (2014). A Pilot Study of the Effectiveness of the Handwriting Without Tears </a:t>
            </a:r>
            <a:r>
              <a:rPr lang="en-GB" sz="2500" baseline="30000" dirty="0"/>
              <a:t>®</a:t>
            </a:r>
            <a:r>
              <a:rPr lang="en-GB" sz="2500" dirty="0"/>
              <a:t> Curriculum in First Grade. </a:t>
            </a:r>
            <a:r>
              <a:rPr lang="en-GB" sz="2500" i="1" dirty="0"/>
              <a:t>Journal of Occupational Therapy, Schools, &amp; Early Intervention</a:t>
            </a:r>
            <a:r>
              <a:rPr lang="en-GB" sz="2500" dirty="0"/>
              <a:t>, </a:t>
            </a:r>
            <a:r>
              <a:rPr lang="en-GB" sz="2500" i="1" dirty="0"/>
              <a:t>7</a:t>
            </a:r>
            <a:r>
              <a:rPr lang="en-GB" sz="2500" dirty="0"/>
              <a:t>(3-4), 284–293. http://doi.org/10.1080/19411243.2014.975071</a:t>
            </a:r>
          </a:p>
          <a:p>
            <a:r>
              <a:rPr lang="en-GB" sz="2500" dirty="0"/>
              <a:t>Marr, D., &amp; </a:t>
            </a:r>
            <a:r>
              <a:rPr lang="en-GB" sz="2500" dirty="0" err="1"/>
              <a:t>Dimeo</a:t>
            </a:r>
            <a:r>
              <a:rPr lang="en-GB" sz="2500" dirty="0"/>
              <a:t>, S. B. (2006). Outcomes associated with a summer handwriting course for elementary students. </a:t>
            </a:r>
            <a:r>
              <a:rPr lang="en-GB" sz="2500" i="1" dirty="0"/>
              <a:t>American Journal of Occupational Therapy</a:t>
            </a:r>
            <a:r>
              <a:rPr lang="en-GB" sz="2500" dirty="0"/>
              <a:t>, </a:t>
            </a:r>
            <a:r>
              <a:rPr lang="en-GB" sz="2500" i="1" dirty="0"/>
              <a:t>60</a:t>
            </a:r>
            <a:r>
              <a:rPr lang="en-GB" sz="2500" dirty="0"/>
              <a:t>(1), 10–15. http://doi.org/10.5014/ajot.60.1.10</a:t>
            </a:r>
          </a:p>
          <a:p>
            <a:r>
              <a:rPr lang="en-GB" sz="2500" dirty="0" err="1"/>
              <a:t>Mchale</a:t>
            </a:r>
            <a:r>
              <a:rPr lang="en-GB" sz="2500" dirty="0"/>
              <a:t>, K., &amp; </a:t>
            </a:r>
            <a:r>
              <a:rPr lang="en-GB" sz="2500" dirty="0" err="1"/>
              <a:t>Cermak</a:t>
            </a:r>
            <a:r>
              <a:rPr lang="en-GB" sz="2500" dirty="0"/>
              <a:t>, S. A. (1992). Fine motor activities in elementary school: Preliminary findings and provisional implications for children with fine motor problems. </a:t>
            </a:r>
            <a:r>
              <a:rPr lang="en-GB" sz="2500" i="1" dirty="0"/>
              <a:t>The American Journal of Occupational Therapy</a:t>
            </a:r>
            <a:r>
              <a:rPr lang="en-GB" sz="2500" dirty="0"/>
              <a:t>, </a:t>
            </a:r>
            <a:r>
              <a:rPr lang="en-GB" sz="2500" i="1" dirty="0"/>
              <a:t>46</a:t>
            </a:r>
            <a:r>
              <a:rPr lang="en-GB" sz="2500" dirty="0"/>
              <a:t>(10), 898–903.</a:t>
            </a:r>
          </a:p>
          <a:p>
            <a:r>
              <a:rPr lang="en-GB" sz="2500" dirty="0" err="1"/>
              <a:t>Reisman</a:t>
            </a:r>
            <a:r>
              <a:rPr lang="en-GB" sz="2500" dirty="0"/>
              <a:t>, J. (1999). The </a:t>
            </a:r>
            <a:r>
              <a:rPr lang="en-GB" sz="2500" dirty="0" err="1"/>
              <a:t>Minnestoa</a:t>
            </a:r>
            <a:r>
              <a:rPr lang="en-GB" sz="2500" dirty="0"/>
              <a:t> Handwriting Assessment. San Antonio, TX: Pearson.</a:t>
            </a:r>
          </a:p>
          <a:p>
            <a:endParaRPr lang="en-GB" dirty="0"/>
          </a:p>
        </p:txBody>
      </p:sp>
    </p:spTree>
    <p:extLst>
      <p:ext uri="{BB962C8B-B14F-4D97-AF65-F5344CB8AC3E}">
        <p14:creationId xmlns:p14="http://schemas.microsoft.com/office/powerpoint/2010/main" val="26040247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References </a:t>
            </a:r>
            <a:endParaRPr lang="en-GB" dirty="0"/>
          </a:p>
        </p:txBody>
      </p:sp>
      <p:sp>
        <p:nvSpPr>
          <p:cNvPr id="3" name="Content Placeholder 2"/>
          <p:cNvSpPr>
            <a:spLocks noGrp="1"/>
          </p:cNvSpPr>
          <p:nvPr>
            <p:ph idx="1"/>
          </p:nvPr>
        </p:nvSpPr>
        <p:spPr/>
        <p:txBody>
          <a:bodyPr>
            <a:normAutofit fontScale="70000" lnSpcReduction="20000"/>
          </a:bodyPr>
          <a:lstStyle/>
          <a:p>
            <a:r>
              <a:rPr lang="en-GB" dirty="0"/>
              <a:t>Roberts, G. I., </a:t>
            </a:r>
            <a:r>
              <a:rPr lang="en-GB" dirty="0" err="1"/>
              <a:t>Derkach</a:t>
            </a:r>
            <a:r>
              <a:rPr lang="en-GB" dirty="0"/>
              <a:t>-Ferguson,  a. F., </a:t>
            </a:r>
            <a:r>
              <a:rPr lang="en-GB" dirty="0" err="1"/>
              <a:t>Siever</a:t>
            </a:r>
            <a:r>
              <a:rPr lang="en-GB" dirty="0"/>
              <a:t>, J. E., &amp; Rose, M. S. (2014). An examination of the effectiveness of Handwriting Without Tears(R) instruction: </a:t>
            </a:r>
            <a:r>
              <a:rPr lang="en-GB" dirty="0" err="1"/>
              <a:t>Examen</a:t>
            </a:r>
            <a:r>
              <a:rPr lang="en-GB" dirty="0"/>
              <a:t> de </a:t>
            </a:r>
            <a:r>
              <a:rPr lang="en-GB" dirty="0" err="1"/>
              <a:t>l’efficacite</a:t>
            </a:r>
            <a:r>
              <a:rPr lang="en-GB" dirty="0"/>
              <a:t> du programme Handwriting Without Tears(R). </a:t>
            </a:r>
            <a:r>
              <a:rPr lang="en-GB" i="1" dirty="0"/>
              <a:t>Canadian Journal of Occupational Therapy</a:t>
            </a:r>
            <a:r>
              <a:rPr lang="en-GB" dirty="0"/>
              <a:t>, </a:t>
            </a:r>
            <a:r>
              <a:rPr lang="en-GB" i="1" dirty="0"/>
              <a:t>81</a:t>
            </a:r>
            <a:r>
              <a:rPr lang="en-GB" dirty="0"/>
              <a:t>(2), 102–113. http://doi.org/10.1177/0008417414527065</a:t>
            </a:r>
          </a:p>
          <a:p>
            <a:r>
              <a:rPr lang="en-GB" dirty="0"/>
              <a:t>Rosenblum, S., Weiss, P. L., &amp; </a:t>
            </a:r>
            <a:r>
              <a:rPr lang="en-GB" dirty="0" err="1"/>
              <a:t>Parush</a:t>
            </a:r>
            <a:r>
              <a:rPr lang="en-GB" dirty="0"/>
              <a:t>, S. (2004). Handwriting evaluation for developmental dysgraphia: Process versus product. </a:t>
            </a:r>
            <a:r>
              <a:rPr lang="en-GB" i="1" dirty="0"/>
              <a:t>Reading and Writing: An Interdisciplinary Journal</a:t>
            </a:r>
            <a:r>
              <a:rPr lang="en-GB" dirty="0"/>
              <a:t>, </a:t>
            </a:r>
            <a:r>
              <a:rPr lang="en-GB" i="1" dirty="0"/>
              <a:t>17</a:t>
            </a:r>
            <a:r>
              <a:rPr lang="en-GB" dirty="0"/>
              <a:t>, 433–458.</a:t>
            </a:r>
          </a:p>
          <a:p>
            <a:r>
              <a:rPr lang="en-GB" dirty="0" err="1"/>
              <a:t>Salls</a:t>
            </a:r>
            <a:r>
              <a:rPr lang="en-GB" dirty="0"/>
              <a:t>, J., Benson, J. D., Hansen, M. a., Cole, K., &amp; </a:t>
            </a:r>
            <a:r>
              <a:rPr lang="en-GB" dirty="0" err="1"/>
              <a:t>Pielielek</a:t>
            </a:r>
            <a:r>
              <a:rPr lang="en-GB" dirty="0"/>
              <a:t>, A. (2013). A Comparison of the Handwriting without Tears Program and Peterson Directed Handwriting Program on Handwriting Performance in Typically Developing First Grade Students. </a:t>
            </a:r>
            <a:r>
              <a:rPr lang="en-GB" i="1" dirty="0"/>
              <a:t>Journal of Occupational Therapy, Schools, &amp; Early Intervention</a:t>
            </a:r>
            <a:r>
              <a:rPr lang="en-GB" dirty="0"/>
              <a:t>, </a:t>
            </a:r>
            <a:r>
              <a:rPr lang="en-GB" i="1" dirty="0"/>
              <a:t>6</a:t>
            </a:r>
            <a:r>
              <a:rPr lang="en-GB" dirty="0"/>
              <a:t>(2), 131–142. http://doi.org/10.1080/19411243.2013.810958</a:t>
            </a:r>
          </a:p>
          <a:p>
            <a:r>
              <a:rPr lang="en-GB" dirty="0"/>
              <a:t>Sandler, A., Watson, T. E., </a:t>
            </a:r>
            <a:r>
              <a:rPr lang="en-GB" dirty="0" err="1"/>
              <a:t>Rooto</a:t>
            </a:r>
            <a:r>
              <a:rPr lang="en-GB" dirty="0"/>
              <a:t>, M., Levine, M. D., </a:t>
            </a:r>
            <a:r>
              <a:rPr lang="en-GB" dirty="0" err="1"/>
              <a:t>Colement</a:t>
            </a:r>
            <a:r>
              <a:rPr lang="en-GB" dirty="0"/>
              <a:t>, W. L., &amp; Hooper, S. R. (1992). Neurodevelopmental study of writing disorders in middle childhood. </a:t>
            </a:r>
            <a:r>
              <a:rPr lang="en-GB" i="1" dirty="0"/>
              <a:t>Developmental and </a:t>
            </a:r>
            <a:r>
              <a:rPr lang="en-GB" i="1" dirty="0" err="1"/>
              <a:t>Behavioral</a:t>
            </a:r>
            <a:r>
              <a:rPr lang="en-GB" i="1" dirty="0"/>
              <a:t> </a:t>
            </a:r>
            <a:r>
              <a:rPr lang="en-GB" i="1" dirty="0" err="1"/>
              <a:t>Pediatrics</a:t>
            </a:r>
            <a:r>
              <a:rPr lang="en-GB" dirty="0"/>
              <a:t>, </a:t>
            </a:r>
            <a:r>
              <a:rPr lang="en-GB" i="1" dirty="0"/>
              <a:t>13</a:t>
            </a:r>
            <a:r>
              <a:rPr lang="en-GB" dirty="0"/>
              <a:t>, 17–23.</a:t>
            </a:r>
          </a:p>
          <a:p>
            <a:r>
              <a:rPr lang="en-GB" dirty="0" err="1"/>
              <a:t>Schneck</a:t>
            </a:r>
            <a:r>
              <a:rPr lang="en-GB" dirty="0"/>
              <a:t>, C., </a:t>
            </a:r>
            <a:r>
              <a:rPr lang="en-GB" dirty="0" err="1"/>
              <a:t>Shasby</a:t>
            </a:r>
            <a:r>
              <a:rPr lang="en-GB" dirty="0"/>
              <a:t>, S., Myers, C., &amp; </a:t>
            </a:r>
            <a:r>
              <a:rPr lang="en-GB" dirty="0" err="1"/>
              <a:t>DePoy</a:t>
            </a:r>
            <a:r>
              <a:rPr lang="en-GB" dirty="0"/>
              <a:t> Smith, M. L. (2012). Handwriting Without Tears versus Teacher-Designed Handwriting Instruction in First Grade Classrooms. </a:t>
            </a:r>
            <a:r>
              <a:rPr lang="en-GB" i="1" dirty="0"/>
              <a:t>Journal of Occupational Therapy, Schools, &amp; Early Intervention</a:t>
            </a:r>
            <a:r>
              <a:rPr lang="en-GB" dirty="0"/>
              <a:t>, </a:t>
            </a:r>
            <a:r>
              <a:rPr lang="en-GB" i="1" dirty="0"/>
              <a:t>5</a:t>
            </a:r>
            <a:r>
              <a:rPr lang="en-GB" dirty="0"/>
              <a:t>(1), 31–42. http://doi.org/10.1080/19411243.2012.675759</a:t>
            </a:r>
          </a:p>
          <a:p>
            <a:r>
              <a:rPr lang="en-GB" dirty="0"/>
              <a:t>Schultz-</a:t>
            </a:r>
            <a:r>
              <a:rPr lang="en-GB" dirty="0" err="1"/>
              <a:t>Krohn</a:t>
            </a:r>
            <a:r>
              <a:rPr lang="en-GB" dirty="0"/>
              <a:t>, W., </a:t>
            </a:r>
            <a:r>
              <a:rPr lang="en-GB" dirty="0" err="1"/>
              <a:t>Boener</a:t>
            </a:r>
            <a:r>
              <a:rPr lang="en-GB" dirty="0"/>
              <a:t>, A., </a:t>
            </a:r>
            <a:r>
              <a:rPr lang="en-GB" dirty="0" err="1"/>
              <a:t>Dinh</a:t>
            </a:r>
            <a:r>
              <a:rPr lang="en-GB" dirty="0"/>
              <a:t>, H., &amp; Phelan, M. (2008). Handwriting Without Tears—A Short-Term Intervention for Children Living in a Homeless Shelter. </a:t>
            </a:r>
            <a:r>
              <a:rPr lang="en-GB" i="1" dirty="0"/>
              <a:t>Journal of Occupational Therapy, Schools, &amp; Early Intervention</a:t>
            </a:r>
            <a:r>
              <a:rPr lang="en-GB" dirty="0"/>
              <a:t>, </a:t>
            </a:r>
            <a:r>
              <a:rPr lang="en-GB" i="1" dirty="0"/>
              <a:t>1</a:t>
            </a:r>
            <a:r>
              <a:rPr lang="en-GB" dirty="0"/>
              <a:t>(3), 271–282. http://doi.org/10.1080/19411240802589338</a:t>
            </a:r>
          </a:p>
          <a:p>
            <a:r>
              <a:rPr lang="en-GB" dirty="0" err="1"/>
              <a:t>Sweedler</a:t>
            </a:r>
            <a:r>
              <a:rPr lang="en-GB" dirty="0"/>
              <a:t>-Brown, C. (1992). The effect of training on the appearance of bias in holistic essay graders. </a:t>
            </a:r>
            <a:r>
              <a:rPr lang="en-GB" i="1" dirty="0"/>
              <a:t>Journal of Research and Development in Education1</a:t>
            </a:r>
            <a:r>
              <a:rPr lang="en-GB" dirty="0"/>
              <a:t>, </a:t>
            </a:r>
            <a:r>
              <a:rPr lang="en-GB" i="1" dirty="0"/>
              <a:t>26</a:t>
            </a:r>
            <a:r>
              <a:rPr lang="en-GB" dirty="0"/>
              <a:t>, 24–29.</a:t>
            </a:r>
          </a:p>
          <a:p>
            <a:endParaRPr lang="en-GB" dirty="0"/>
          </a:p>
        </p:txBody>
      </p:sp>
    </p:spTree>
    <p:extLst>
      <p:ext uri="{BB962C8B-B14F-4D97-AF65-F5344CB8AC3E}">
        <p14:creationId xmlns:p14="http://schemas.microsoft.com/office/powerpoint/2010/main" val="85612350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579</TotalTime>
  <Words>3662</Words>
  <Application>Microsoft Office PowerPoint</Application>
  <PresentationFormat>Widescreen</PresentationFormat>
  <Paragraphs>310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vt:lpstr>
      <vt:lpstr>Calibri</vt:lpstr>
      <vt:lpstr>Calibri Light</vt:lpstr>
      <vt:lpstr>Retrospect</vt:lpstr>
      <vt:lpstr>Handwriting Without Tears ®: Can children really leave the tissues at home? </vt:lpstr>
      <vt:lpstr>Aims </vt:lpstr>
      <vt:lpstr>What is good handwriting?</vt:lpstr>
      <vt:lpstr>What are the components of handwriting? </vt:lpstr>
      <vt:lpstr>Why is handwriting important? </vt:lpstr>
      <vt:lpstr>Why is handwriting important? </vt:lpstr>
      <vt:lpstr>What is Handwriting Without Tears® (HWT)? </vt:lpstr>
      <vt:lpstr>Claims </vt:lpstr>
      <vt:lpstr>What do teachers think? </vt:lpstr>
      <vt:lpstr>Research exploring HWT</vt:lpstr>
      <vt:lpstr>What is good handwriting?</vt:lpstr>
      <vt:lpstr>Published research on HWT</vt:lpstr>
      <vt:lpstr>Published research on HWT</vt:lpstr>
      <vt:lpstr>Conclusions from this research</vt:lpstr>
      <vt:lpstr>What is good handwriting?</vt:lpstr>
      <vt:lpstr>Why might this be? </vt:lpstr>
      <vt:lpstr>Implications for practice </vt:lpstr>
      <vt:lpstr>References </vt:lpstr>
      <vt:lpstr>References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Handwriting Without Tears:</dc:title>
  <dc:creator>Emma Fitz-Gerald</dc:creator>
  <cp:lastModifiedBy>Herring E.</cp:lastModifiedBy>
  <cp:revision>70</cp:revision>
  <cp:lastPrinted>2015-12-17T15:39:26Z</cp:lastPrinted>
  <dcterms:created xsi:type="dcterms:W3CDTF">2015-12-15T18:05:21Z</dcterms:created>
  <dcterms:modified xsi:type="dcterms:W3CDTF">2015-12-18T10:50:18Z</dcterms:modified>
</cp:coreProperties>
</file>