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31" r:id="rId1"/>
  </p:sldMasterIdLst>
  <p:notesMasterIdLst>
    <p:notesMasterId r:id="rId20"/>
  </p:notesMasterIdLst>
  <p:sldIdLst>
    <p:sldId id="256" r:id="rId2"/>
    <p:sldId id="257" r:id="rId3"/>
    <p:sldId id="266" r:id="rId4"/>
    <p:sldId id="267" r:id="rId5"/>
    <p:sldId id="259" r:id="rId6"/>
    <p:sldId id="264" r:id="rId7"/>
    <p:sldId id="265" r:id="rId8"/>
    <p:sldId id="260" r:id="rId9"/>
    <p:sldId id="261" r:id="rId10"/>
    <p:sldId id="262" r:id="rId11"/>
    <p:sldId id="272" r:id="rId12"/>
    <p:sldId id="270" r:id="rId13"/>
    <p:sldId id="271" r:id="rId14"/>
    <p:sldId id="263" r:id="rId15"/>
    <p:sldId id="258" r:id="rId16"/>
    <p:sldId id="275" r:id="rId17"/>
    <p:sldId id="274" r:id="rId18"/>
    <p:sldId id="273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56" autoAdjust="0"/>
    <p:restoredTop sz="90926" autoAdjust="0"/>
  </p:normalViewPr>
  <p:slideViewPr>
    <p:cSldViewPr>
      <p:cViewPr>
        <p:scale>
          <a:sx n="81" d="100"/>
          <a:sy n="81" d="100"/>
        </p:scale>
        <p:origin x="-1024" y="-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952"/>
    </p:cViewPr>
  </p:outlineViewPr>
  <p:notesTextViewPr>
    <p:cViewPr>
      <p:scale>
        <a:sx n="100" d="100"/>
        <a:sy n="100" d="100"/>
      </p:scale>
      <p:origin x="0" y="1296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58CFE6-BA6E-4940-893D-577AAE9DD4C7}" type="doc">
      <dgm:prSet loTypeId="urn:microsoft.com/office/officeart/2008/layout/CircularPictureCallout" loCatId="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9AEBE2-B9FA-2942-9073-B7084BE5E293}">
      <dgm:prSet custT="1"/>
      <dgm:spPr/>
      <dgm:t>
        <a:bodyPr/>
        <a:lstStyle/>
        <a:p>
          <a:r>
            <a:rPr lang="en-US" sz="4400" dirty="0" smtClean="0"/>
            <a:t>Self-Determination Theory</a:t>
          </a:r>
          <a:endParaRPr lang="en-US" sz="4400" dirty="0"/>
        </a:p>
      </dgm:t>
    </dgm:pt>
    <dgm:pt modelId="{D67AA119-FEFB-6443-91DE-674CBAAB2710}" type="parTrans" cxnId="{F1B0989A-5593-FE49-952C-C8511C1EF999}">
      <dgm:prSet/>
      <dgm:spPr/>
      <dgm:t>
        <a:bodyPr/>
        <a:lstStyle/>
        <a:p>
          <a:endParaRPr lang="en-US"/>
        </a:p>
      </dgm:t>
    </dgm:pt>
    <dgm:pt modelId="{3E3043D3-63AE-7B43-8698-B82D639BE516}" type="sibTrans" cxnId="{F1B0989A-5593-FE49-952C-C8511C1EF999}">
      <dgm:prSet/>
      <dgm:spPr/>
      <dgm:t>
        <a:bodyPr/>
        <a:lstStyle/>
        <a:p>
          <a:endParaRPr lang="en-US"/>
        </a:p>
      </dgm:t>
    </dgm:pt>
    <dgm:pt modelId="{5C234E29-8684-4044-B445-20E5DC1F7440}">
      <dgm:prSet phldrT="[Text]" custT="1"/>
      <dgm:spPr/>
      <dgm:t>
        <a:bodyPr/>
        <a:lstStyle/>
        <a:p>
          <a:endParaRPr lang="en-US" sz="2400" dirty="0"/>
        </a:p>
      </dgm:t>
    </dgm:pt>
    <dgm:pt modelId="{5E940BA9-69CE-134F-BD10-5A5E534648C7}" type="parTrans" cxnId="{5909DE3C-7D5D-C84E-8D00-EAFCB21A9422}">
      <dgm:prSet/>
      <dgm:spPr/>
      <dgm:t>
        <a:bodyPr/>
        <a:lstStyle/>
        <a:p>
          <a:endParaRPr lang="en-US"/>
        </a:p>
      </dgm:t>
    </dgm:pt>
    <dgm:pt modelId="{E67CE737-6081-A042-AA36-01E4C9ED7444}" type="sibTrans" cxnId="{5909DE3C-7D5D-C84E-8D00-EAFCB21A9422}">
      <dgm:prSet/>
      <dgm:spPr/>
      <dgm:t>
        <a:bodyPr/>
        <a:lstStyle/>
        <a:p>
          <a:endParaRPr lang="en-US"/>
        </a:p>
      </dgm:t>
    </dgm:pt>
    <dgm:pt modelId="{443BC198-C9FD-514A-BE09-DC473106E8BE}">
      <dgm:prSet/>
      <dgm:spPr/>
      <dgm:t>
        <a:bodyPr/>
        <a:lstStyle/>
        <a:p>
          <a:endParaRPr lang="en-US" dirty="0"/>
        </a:p>
      </dgm:t>
    </dgm:pt>
    <dgm:pt modelId="{6EAA1C08-087D-284B-BEA8-8FA2D63CA4F5}" type="parTrans" cxnId="{8E53C247-1935-CF4D-8A84-A0D79A7CE47D}">
      <dgm:prSet/>
      <dgm:spPr/>
      <dgm:t>
        <a:bodyPr/>
        <a:lstStyle/>
        <a:p>
          <a:endParaRPr lang="en-US"/>
        </a:p>
      </dgm:t>
    </dgm:pt>
    <dgm:pt modelId="{D5ED9D07-7FE4-B04D-A9F0-8B2F7819523A}" type="sibTrans" cxnId="{8E53C247-1935-CF4D-8A84-A0D79A7CE47D}">
      <dgm:prSet/>
      <dgm:spPr/>
      <dgm:t>
        <a:bodyPr/>
        <a:lstStyle/>
        <a:p>
          <a:endParaRPr lang="en-US"/>
        </a:p>
      </dgm:t>
    </dgm:pt>
    <dgm:pt modelId="{92871F9F-1CC2-954A-A8B3-2F35BA844DFD}">
      <dgm:prSet/>
      <dgm:spPr/>
      <dgm:t>
        <a:bodyPr/>
        <a:lstStyle/>
        <a:p>
          <a:endParaRPr lang="en-US"/>
        </a:p>
      </dgm:t>
    </dgm:pt>
    <dgm:pt modelId="{A40CB9C5-03DC-E744-BB1D-683E95F5F60F}" type="parTrans" cxnId="{997B99F3-F414-2D4C-A130-7C291E58FB2A}">
      <dgm:prSet/>
      <dgm:spPr/>
      <dgm:t>
        <a:bodyPr/>
        <a:lstStyle/>
        <a:p>
          <a:endParaRPr lang="en-US"/>
        </a:p>
      </dgm:t>
    </dgm:pt>
    <dgm:pt modelId="{331FB639-58DA-5940-8B1E-0A2FC9681859}" type="sibTrans" cxnId="{997B99F3-F414-2D4C-A130-7C291E58FB2A}">
      <dgm:prSet/>
      <dgm:spPr/>
      <dgm:t>
        <a:bodyPr/>
        <a:lstStyle/>
        <a:p>
          <a:endParaRPr lang="en-US"/>
        </a:p>
      </dgm:t>
    </dgm:pt>
    <dgm:pt modelId="{8D75BD0E-20EC-1E4C-AF07-623B603388A8}" type="pres">
      <dgm:prSet presAssocID="{3958CFE6-BA6E-4940-893D-577AAE9DD4C7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9BB704D6-7FA2-5648-8200-241D8178A1B8}" type="pres">
      <dgm:prSet presAssocID="{3958CFE6-BA6E-4940-893D-577AAE9DD4C7}" presName="Name1" presStyleCnt="0"/>
      <dgm:spPr/>
    </dgm:pt>
    <dgm:pt modelId="{33192B6A-F706-CC41-9415-D9EA864CCDC7}" type="pres">
      <dgm:prSet presAssocID="{3E3043D3-63AE-7B43-8698-B82D639BE516}" presName="picture_1" presStyleCnt="0"/>
      <dgm:spPr/>
    </dgm:pt>
    <dgm:pt modelId="{C09FFA26-68C2-8940-9D9F-A9FFB6A0900A}" type="pres">
      <dgm:prSet presAssocID="{3E3043D3-63AE-7B43-8698-B82D639BE516}" presName="pictureRepeatNode" presStyleLbl="alignImgPlace1" presStyleIdx="0" presStyleCnt="4"/>
      <dgm:spPr/>
      <dgm:t>
        <a:bodyPr/>
        <a:lstStyle/>
        <a:p>
          <a:endParaRPr lang="en-US"/>
        </a:p>
      </dgm:t>
    </dgm:pt>
    <dgm:pt modelId="{95DF52B4-0F81-A641-BAB5-251B7B24BAB0}" type="pres">
      <dgm:prSet presAssocID="{DF9AEBE2-B9FA-2942-9073-B7084BE5E293}" presName="text_1" presStyleLbl="node1" presStyleIdx="0" presStyleCnt="0" custScaleX="140137" custScaleY="154295" custLinFactNeighborX="129" custLinFactNeighborY="-767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0F1AA8-D503-C240-8A4F-0FB49FC6774A}" type="pres">
      <dgm:prSet presAssocID="{D5ED9D07-7FE4-B04D-A9F0-8B2F7819523A}" presName="picture_2" presStyleCnt="0"/>
      <dgm:spPr/>
    </dgm:pt>
    <dgm:pt modelId="{0A42DF2B-3C54-6B4A-BD5B-E3286F11CF95}" type="pres">
      <dgm:prSet presAssocID="{D5ED9D07-7FE4-B04D-A9F0-8B2F7819523A}" presName="pictureRepeatNode" presStyleLbl="alignImgPlace1" presStyleIdx="1" presStyleCnt="4" custLinFactX="-9455" custLinFactNeighborX="-100000" custLinFactNeighborY="12503"/>
      <dgm:spPr/>
      <dgm:t>
        <a:bodyPr/>
        <a:lstStyle/>
        <a:p>
          <a:endParaRPr lang="en-US"/>
        </a:p>
      </dgm:t>
    </dgm:pt>
    <dgm:pt modelId="{F778B67B-30FA-DE47-A934-9D90E59BB634}" type="pres">
      <dgm:prSet presAssocID="{443BC198-C9FD-514A-BE09-DC473106E8BE}" presName="line_2" presStyleLbl="parChTrans1D1" presStyleIdx="0" presStyleCnt="3" custFlipVert="1" custSzY="45720" custScaleX="48569"/>
      <dgm:spPr/>
    </dgm:pt>
    <dgm:pt modelId="{9C6E8B09-7C4E-9848-A8C8-01A92C048B2E}" type="pres">
      <dgm:prSet presAssocID="{443BC198-C9FD-514A-BE09-DC473106E8BE}" presName="textparent_2" presStyleLbl="node1" presStyleIdx="0" presStyleCnt="0"/>
      <dgm:spPr/>
    </dgm:pt>
    <dgm:pt modelId="{EBA2E79C-7326-CE4B-B059-3FA85FE1D9A9}" type="pres">
      <dgm:prSet presAssocID="{443BC198-C9FD-514A-BE09-DC473106E8BE}" presName="text_2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893D2B-E6DF-4645-84F5-5AA2ECF4CF55}" type="pres">
      <dgm:prSet presAssocID="{E67CE737-6081-A042-AA36-01E4C9ED7444}" presName="picture_3" presStyleCnt="0"/>
      <dgm:spPr/>
    </dgm:pt>
    <dgm:pt modelId="{032D6C02-3DD0-0149-BDA2-9D4EC4CFC55E}" type="pres">
      <dgm:prSet presAssocID="{E67CE737-6081-A042-AA36-01E4C9ED7444}" presName="pictureRepeatNode" presStyleLbl="alignImgPlace1" presStyleIdx="2" presStyleCnt="4" custLinFactNeighborX="-36343" custLinFactNeighborY="5928"/>
      <dgm:spPr/>
      <dgm:t>
        <a:bodyPr/>
        <a:lstStyle/>
        <a:p>
          <a:endParaRPr lang="en-US"/>
        </a:p>
      </dgm:t>
    </dgm:pt>
    <dgm:pt modelId="{6F7CEA83-5AF8-E14F-9CC1-076FBD3332A0}" type="pres">
      <dgm:prSet presAssocID="{5C234E29-8684-4044-B445-20E5DC1F7440}" presName="line_3" presStyleLbl="parChTrans1D1" presStyleIdx="1" presStyleCnt="3" custFlipVert="1" custSzY="45720" custScaleX="78165"/>
      <dgm:spPr/>
    </dgm:pt>
    <dgm:pt modelId="{7DD4C433-081C-7A4E-8BA8-97D17F4A4F4D}" type="pres">
      <dgm:prSet presAssocID="{5C234E29-8684-4044-B445-20E5DC1F7440}" presName="textparent_3" presStyleLbl="node1" presStyleIdx="0" presStyleCnt="0"/>
      <dgm:spPr/>
    </dgm:pt>
    <dgm:pt modelId="{A7189CE8-9B55-E74E-A9D7-07315014C5E3}" type="pres">
      <dgm:prSet presAssocID="{5C234E29-8684-4044-B445-20E5DC1F7440}" presName="text_3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32FD06-9517-594F-BAE7-902F0F6DD6EC}" type="pres">
      <dgm:prSet presAssocID="{331FB639-58DA-5940-8B1E-0A2FC9681859}" presName="picture_4" presStyleCnt="0"/>
      <dgm:spPr/>
    </dgm:pt>
    <dgm:pt modelId="{5D67EF76-5572-BA44-BA1A-BBDD5A14A204}" type="pres">
      <dgm:prSet presAssocID="{331FB639-58DA-5940-8B1E-0A2FC9681859}" presName="pictureRepeatNode" presStyleLbl="alignImgPlace1" presStyleIdx="3" presStyleCnt="4" custLinFactNeighborX="-84343" custLinFactNeighborY="5469"/>
      <dgm:spPr/>
      <dgm:t>
        <a:bodyPr/>
        <a:lstStyle/>
        <a:p>
          <a:endParaRPr lang="en-US"/>
        </a:p>
      </dgm:t>
    </dgm:pt>
    <dgm:pt modelId="{2C3C8F6F-C36E-324D-B228-EDC48B1A7502}" type="pres">
      <dgm:prSet presAssocID="{92871F9F-1CC2-954A-A8B3-2F35BA844DFD}" presName="line_4" presStyleLbl="parChTrans1D1" presStyleIdx="2" presStyleCnt="3" custFlipVert="1" custSzY="45719" custScaleX="63190"/>
      <dgm:spPr/>
    </dgm:pt>
    <dgm:pt modelId="{FF23B373-3483-D64C-B35A-D490541C597C}" type="pres">
      <dgm:prSet presAssocID="{92871F9F-1CC2-954A-A8B3-2F35BA844DFD}" presName="textparent_4" presStyleLbl="node1" presStyleIdx="0" presStyleCnt="0"/>
      <dgm:spPr/>
    </dgm:pt>
    <dgm:pt modelId="{773781BA-B530-C946-8CAB-F6AF50987458}" type="pres">
      <dgm:prSet presAssocID="{92871F9F-1CC2-954A-A8B3-2F35BA844DFD}" presName="text_4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6C18713-5174-0E4C-9E56-0913FF27E678}" type="presOf" srcId="{3958CFE6-BA6E-4940-893D-577AAE9DD4C7}" destId="{8D75BD0E-20EC-1E4C-AF07-623B603388A8}" srcOrd="0" destOrd="0" presId="urn:microsoft.com/office/officeart/2008/layout/CircularPictureCallout"/>
    <dgm:cxn modelId="{F1B0989A-5593-FE49-952C-C8511C1EF999}" srcId="{3958CFE6-BA6E-4940-893D-577AAE9DD4C7}" destId="{DF9AEBE2-B9FA-2942-9073-B7084BE5E293}" srcOrd="0" destOrd="0" parTransId="{D67AA119-FEFB-6443-91DE-674CBAAB2710}" sibTransId="{3E3043D3-63AE-7B43-8698-B82D639BE516}"/>
    <dgm:cxn modelId="{5BEC0007-5A6A-A04C-A490-13D82D6933CF}" type="presOf" srcId="{92871F9F-1CC2-954A-A8B3-2F35BA844DFD}" destId="{773781BA-B530-C946-8CAB-F6AF50987458}" srcOrd="0" destOrd="0" presId="urn:microsoft.com/office/officeart/2008/layout/CircularPictureCallout"/>
    <dgm:cxn modelId="{13C8EFE2-3A56-7A40-919F-3CA762B40FC0}" type="presOf" srcId="{D5ED9D07-7FE4-B04D-A9F0-8B2F7819523A}" destId="{0A42DF2B-3C54-6B4A-BD5B-E3286F11CF95}" srcOrd="0" destOrd="0" presId="urn:microsoft.com/office/officeart/2008/layout/CircularPictureCallout"/>
    <dgm:cxn modelId="{3B2918F2-8DB9-C247-9C73-B9B6DFED6586}" type="presOf" srcId="{DF9AEBE2-B9FA-2942-9073-B7084BE5E293}" destId="{95DF52B4-0F81-A641-BAB5-251B7B24BAB0}" srcOrd="0" destOrd="0" presId="urn:microsoft.com/office/officeart/2008/layout/CircularPictureCallout"/>
    <dgm:cxn modelId="{5909DE3C-7D5D-C84E-8D00-EAFCB21A9422}" srcId="{3958CFE6-BA6E-4940-893D-577AAE9DD4C7}" destId="{5C234E29-8684-4044-B445-20E5DC1F7440}" srcOrd="2" destOrd="0" parTransId="{5E940BA9-69CE-134F-BD10-5A5E534648C7}" sibTransId="{E67CE737-6081-A042-AA36-01E4C9ED7444}"/>
    <dgm:cxn modelId="{8313C5B2-E493-2540-86D1-C41B5DAE3022}" type="presOf" srcId="{331FB639-58DA-5940-8B1E-0A2FC9681859}" destId="{5D67EF76-5572-BA44-BA1A-BBDD5A14A204}" srcOrd="0" destOrd="0" presId="urn:microsoft.com/office/officeart/2008/layout/CircularPictureCallout"/>
    <dgm:cxn modelId="{54F14523-073D-A143-93D8-01F8DA63A5CE}" type="presOf" srcId="{443BC198-C9FD-514A-BE09-DC473106E8BE}" destId="{EBA2E79C-7326-CE4B-B059-3FA85FE1D9A9}" srcOrd="0" destOrd="0" presId="urn:microsoft.com/office/officeart/2008/layout/CircularPictureCallout"/>
    <dgm:cxn modelId="{B689F2FA-66A6-394C-A03E-C162CDF646CE}" type="presOf" srcId="{5C234E29-8684-4044-B445-20E5DC1F7440}" destId="{A7189CE8-9B55-E74E-A9D7-07315014C5E3}" srcOrd="0" destOrd="0" presId="urn:microsoft.com/office/officeart/2008/layout/CircularPictureCallout"/>
    <dgm:cxn modelId="{997B99F3-F414-2D4C-A130-7C291E58FB2A}" srcId="{3958CFE6-BA6E-4940-893D-577AAE9DD4C7}" destId="{92871F9F-1CC2-954A-A8B3-2F35BA844DFD}" srcOrd="3" destOrd="0" parTransId="{A40CB9C5-03DC-E744-BB1D-683E95F5F60F}" sibTransId="{331FB639-58DA-5940-8B1E-0A2FC9681859}"/>
    <dgm:cxn modelId="{D4B4F774-5055-1141-B34D-FF33B1FB71BC}" type="presOf" srcId="{3E3043D3-63AE-7B43-8698-B82D639BE516}" destId="{C09FFA26-68C2-8940-9D9F-A9FFB6A0900A}" srcOrd="0" destOrd="0" presId="urn:microsoft.com/office/officeart/2008/layout/CircularPictureCallout"/>
    <dgm:cxn modelId="{5A053C72-00BB-BF42-AE90-DBF3E42BFEE6}" type="presOf" srcId="{E67CE737-6081-A042-AA36-01E4C9ED7444}" destId="{032D6C02-3DD0-0149-BDA2-9D4EC4CFC55E}" srcOrd="0" destOrd="0" presId="urn:microsoft.com/office/officeart/2008/layout/CircularPictureCallout"/>
    <dgm:cxn modelId="{8E53C247-1935-CF4D-8A84-A0D79A7CE47D}" srcId="{3958CFE6-BA6E-4940-893D-577AAE9DD4C7}" destId="{443BC198-C9FD-514A-BE09-DC473106E8BE}" srcOrd="1" destOrd="0" parTransId="{6EAA1C08-087D-284B-BEA8-8FA2D63CA4F5}" sibTransId="{D5ED9D07-7FE4-B04D-A9F0-8B2F7819523A}"/>
    <dgm:cxn modelId="{05A69659-8475-424F-90E2-BCBED5025DC2}" type="presParOf" srcId="{8D75BD0E-20EC-1E4C-AF07-623B603388A8}" destId="{9BB704D6-7FA2-5648-8200-241D8178A1B8}" srcOrd="0" destOrd="0" presId="urn:microsoft.com/office/officeart/2008/layout/CircularPictureCallout"/>
    <dgm:cxn modelId="{3CF684EE-988C-1144-9A87-F9C1B719D46A}" type="presParOf" srcId="{9BB704D6-7FA2-5648-8200-241D8178A1B8}" destId="{33192B6A-F706-CC41-9415-D9EA864CCDC7}" srcOrd="0" destOrd="0" presId="urn:microsoft.com/office/officeart/2008/layout/CircularPictureCallout"/>
    <dgm:cxn modelId="{75592E68-8F5C-BE40-9A79-E93B6AB22079}" type="presParOf" srcId="{33192B6A-F706-CC41-9415-D9EA864CCDC7}" destId="{C09FFA26-68C2-8940-9D9F-A9FFB6A0900A}" srcOrd="0" destOrd="0" presId="urn:microsoft.com/office/officeart/2008/layout/CircularPictureCallout"/>
    <dgm:cxn modelId="{1FFECE46-AB2B-154B-A9FC-DF912050FE38}" type="presParOf" srcId="{9BB704D6-7FA2-5648-8200-241D8178A1B8}" destId="{95DF52B4-0F81-A641-BAB5-251B7B24BAB0}" srcOrd="1" destOrd="0" presId="urn:microsoft.com/office/officeart/2008/layout/CircularPictureCallout"/>
    <dgm:cxn modelId="{7BD85D19-3070-1A4B-8FB9-4818F3F9B7FA}" type="presParOf" srcId="{9BB704D6-7FA2-5648-8200-241D8178A1B8}" destId="{FE0F1AA8-D503-C240-8A4F-0FB49FC6774A}" srcOrd="2" destOrd="0" presId="urn:microsoft.com/office/officeart/2008/layout/CircularPictureCallout"/>
    <dgm:cxn modelId="{8286B7BD-692C-884F-8F9A-A76FAB7D70E2}" type="presParOf" srcId="{FE0F1AA8-D503-C240-8A4F-0FB49FC6774A}" destId="{0A42DF2B-3C54-6B4A-BD5B-E3286F11CF95}" srcOrd="0" destOrd="0" presId="urn:microsoft.com/office/officeart/2008/layout/CircularPictureCallout"/>
    <dgm:cxn modelId="{7093C118-CAC9-9745-BE8B-5FF72D46224C}" type="presParOf" srcId="{9BB704D6-7FA2-5648-8200-241D8178A1B8}" destId="{F778B67B-30FA-DE47-A934-9D90E59BB634}" srcOrd="3" destOrd="0" presId="urn:microsoft.com/office/officeart/2008/layout/CircularPictureCallout"/>
    <dgm:cxn modelId="{7466CF38-FED4-5649-BEDF-5EB6BDF3C665}" type="presParOf" srcId="{9BB704D6-7FA2-5648-8200-241D8178A1B8}" destId="{9C6E8B09-7C4E-9848-A8C8-01A92C048B2E}" srcOrd="4" destOrd="0" presId="urn:microsoft.com/office/officeart/2008/layout/CircularPictureCallout"/>
    <dgm:cxn modelId="{5E2F97B8-56F0-C14D-8CCA-9E13370D7042}" type="presParOf" srcId="{9C6E8B09-7C4E-9848-A8C8-01A92C048B2E}" destId="{EBA2E79C-7326-CE4B-B059-3FA85FE1D9A9}" srcOrd="0" destOrd="0" presId="urn:microsoft.com/office/officeart/2008/layout/CircularPictureCallout"/>
    <dgm:cxn modelId="{2DB223DE-C0CD-5048-A839-A19F92E81B35}" type="presParOf" srcId="{9BB704D6-7FA2-5648-8200-241D8178A1B8}" destId="{20893D2B-E6DF-4645-84F5-5AA2ECF4CF55}" srcOrd="5" destOrd="0" presId="urn:microsoft.com/office/officeart/2008/layout/CircularPictureCallout"/>
    <dgm:cxn modelId="{A6E53541-8500-BC4B-9F1D-20D19CAF24AB}" type="presParOf" srcId="{20893D2B-E6DF-4645-84F5-5AA2ECF4CF55}" destId="{032D6C02-3DD0-0149-BDA2-9D4EC4CFC55E}" srcOrd="0" destOrd="0" presId="urn:microsoft.com/office/officeart/2008/layout/CircularPictureCallout"/>
    <dgm:cxn modelId="{991F101F-79AB-0B43-8D20-63D258234F0D}" type="presParOf" srcId="{9BB704D6-7FA2-5648-8200-241D8178A1B8}" destId="{6F7CEA83-5AF8-E14F-9CC1-076FBD3332A0}" srcOrd="6" destOrd="0" presId="urn:microsoft.com/office/officeart/2008/layout/CircularPictureCallout"/>
    <dgm:cxn modelId="{4E54CF32-D00C-4941-A743-A820BDE6CBCD}" type="presParOf" srcId="{9BB704D6-7FA2-5648-8200-241D8178A1B8}" destId="{7DD4C433-081C-7A4E-8BA8-97D17F4A4F4D}" srcOrd="7" destOrd="0" presId="urn:microsoft.com/office/officeart/2008/layout/CircularPictureCallout"/>
    <dgm:cxn modelId="{4352D083-16DC-1540-9F12-D7E035197C1F}" type="presParOf" srcId="{7DD4C433-081C-7A4E-8BA8-97D17F4A4F4D}" destId="{A7189CE8-9B55-E74E-A9D7-07315014C5E3}" srcOrd="0" destOrd="0" presId="urn:microsoft.com/office/officeart/2008/layout/CircularPictureCallout"/>
    <dgm:cxn modelId="{001FC020-35C9-CB46-91BC-6D340C675A10}" type="presParOf" srcId="{9BB704D6-7FA2-5648-8200-241D8178A1B8}" destId="{2532FD06-9517-594F-BAE7-902F0F6DD6EC}" srcOrd="8" destOrd="0" presId="urn:microsoft.com/office/officeart/2008/layout/CircularPictureCallout"/>
    <dgm:cxn modelId="{F4EF7BA5-77F6-0048-8DC9-9CD5B92D1D74}" type="presParOf" srcId="{2532FD06-9517-594F-BAE7-902F0F6DD6EC}" destId="{5D67EF76-5572-BA44-BA1A-BBDD5A14A204}" srcOrd="0" destOrd="0" presId="urn:microsoft.com/office/officeart/2008/layout/CircularPictureCallout"/>
    <dgm:cxn modelId="{89D7916E-58C0-554F-9004-200F88A527E9}" type="presParOf" srcId="{9BB704D6-7FA2-5648-8200-241D8178A1B8}" destId="{2C3C8F6F-C36E-324D-B228-EDC48B1A7502}" srcOrd="9" destOrd="0" presId="urn:microsoft.com/office/officeart/2008/layout/CircularPictureCallout"/>
    <dgm:cxn modelId="{C772E092-331B-F445-8B9F-E74E6DB5B6EA}" type="presParOf" srcId="{9BB704D6-7FA2-5648-8200-241D8178A1B8}" destId="{FF23B373-3483-D64C-B35A-D490541C597C}" srcOrd="10" destOrd="0" presId="urn:microsoft.com/office/officeart/2008/layout/CircularPictureCallout"/>
    <dgm:cxn modelId="{482F8FB5-C08E-9744-A5F3-BDC72D28611A}" type="presParOf" srcId="{FF23B373-3483-D64C-B35A-D490541C597C}" destId="{773781BA-B530-C946-8CAB-F6AF50987458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C8F6F-C36E-324D-B228-EDC48B1A7502}">
      <dsp:nvSpPr>
        <dsp:cNvPr id="0" name=""/>
        <dsp:cNvSpPr/>
      </dsp:nvSpPr>
      <dsp:spPr>
        <a:xfrm flipV="1">
          <a:off x="3490455" y="3869055"/>
          <a:ext cx="2634714" cy="45719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7CEA83-5AF8-E14F-9CC1-076FBD3332A0}">
      <dsp:nvSpPr>
        <dsp:cNvPr id="0" name=""/>
        <dsp:cNvSpPr/>
      </dsp:nvSpPr>
      <dsp:spPr>
        <a:xfrm flipV="1">
          <a:off x="3112974" y="2415540"/>
          <a:ext cx="2791658" cy="4572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8B67B-30FA-DE47-A934-9D90E59BB634}">
      <dsp:nvSpPr>
        <dsp:cNvPr id="0" name=""/>
        <dsp:cNvSpPr/>
      </dsp:nvSpPr>
      <dsp:spPr>
        <a:xfrm flipV="1">
          <a:off x="3795267" y="962024"/>
          <a:ext cx="2025090" cy="4572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9FFA26-68C2-8940-9D9F-A9FFB6A0900A}">
      <dsp:nvSpPr>
        <dsp:cNvPr id="0" name=""/>
        <dsp:cNvSpPr/>
      </dsp:nvSpPr>
      <dsp:spPr>
        <a:xfrm>
          <a:off x="646606" y="361949"/>
          <a:ext cx="4152900" cy="41529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1">
              <a:tint val="50000"/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95DF52B4-0F81-A641-BAB5-251B7B24BAB0}">
      <dsp:nvSpPr>
        <dsp:cNvPr id="0" name=""/>
        <dsp:cNvSpPr/>
      </dsp:nvSpPr>
      <dsp:spPr>
        <a:xfrm>
          <a:off x="864165" y="1142995"/>
          <a:ext cx="3724639" cy="2114546"/>
        </a:xfrm>
        <a:prstGeom prst="rect">
          <a:avLst/>
        </a:prstGeom>
        <a:noFill/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Self-Determination Theory</a:t>
          </a:r>
          <a:endParaRPr lang="en-US" sz="4400" kern="1200" dirty="0"/>
        </a:p>
      </dsp:txBody>
      <dsp:txXfrm>
        <a:off x="864165" y="1142995"/>
        <a:ext cx="3724639" cy="2114546"/>
      </dsp:txXfrm>
    </dsp:sp>
    <dsp:sp modelId="{0A42DF2B-3C54-6B4A-BD5B-E3286F11CF95}">
      <dsp:nvSpPr>
        <dsp:cNvPr id="0" name=""/>
        <dsp:cNvSpPr/>
      </dsp:nvSpPr>
      <dsp:spPr>
        <a:xfrm>
          <a:off x="4905966" y="517721"/>
          <a:ext cx="1245870" cy="124587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1">
              <a:tint val="50000"/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BA2E79C-7326-CE4B-B059-3FA85FE1D9A9}">
      <dsp:nvSpPr>
        <dsp:cNvPr id="0" name=""/>
        <dsp:cNvSpPr/>
      </dsp:nvSpPr>
      <dsp:spPr>
        <a:xfrm>
          <a:off x="7515503" y="361949"/>
          <a:ext cx="143690" cy="1245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0" rIns="685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7515503" y="361949"/>
        <a:ext cx="143690" cy="1245870"/>
      </dsp:txXfrm>
    </dsp:sp>
    <dsp:sp modelId="{032D6C02-3DD0-0149-BDA2-9D4EC4CFC55E}">
      <dsp:nvSpPr>
        <dsp:cNvPr id="0" name=""/>
        <dsp:cNvSpPr/>
      </dsp:nvSpPr>
      <dsp:spPr>
        <a:xfrm>
          <a:off x="5218828" y="1889320"/>
          <a:ext cx="1245870" cy="124587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1">
              <a:tint val="50000"/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7189CE8-9B55-E74E-A9D7-07315014C5E3}">
      <dsp:nvSpPr>
        <dsp:cNvPr id="0" name=""/>
        <dsp:cNvSpPr/>
      </dsp:nvSpPr>
      <dsp:spPr>
        <a:xfrm>
          <a:off x="6917485" y="1815464"/>
          <a:ext cx="203492" cy="1245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0" rIns="91440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/>
        </a:p>
      </dsp:txBody>
      <dsp:txXfrm>
        <a:off x="6917485" y="1815464"/>
        <a:ext cx="203492" cy="1245870"/>
      </dsp:txXfrm>
    </dsp:sp>
    <dsp:sp modelId="{5D67EF76-5572-BA44-BA1A-BBDD5A14A204}">
      <dsp:nvSpPr>
        <dsp:cNvPr id="0" name=""/>
        <dsp:cNvSpPr/>
      </dsp:nvSpPr>
      <dsp:spPr>
        <a:xfrm>
          <a:off x="5218828" y="3337116"/>
          <a:ext cx="1245870" cy="124587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brightRoom" dir="t"/>
        </a:scene3d>
        <a:sp3d extrusionH="12700" contourW="25400" prstMaterial="flat">
          <a:bevelT w="63500" h="152400" prst="angle"/>
          <a:contourClr>
            <a:schemeClr val="accent1">
              <a:tint val="50000"/>
              <a:hueOff val="0"/>
              <a:satOff val="0"/>
              <a:lumOff val="0"/>
              <a:alphaOff val="0"/>
              <a:shade val="3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73781BA-B530-C946-8CAB-F6AF50987458}">
      <dsp:nvSpPr>
        <dsp:cNvPr id="0" name=""/>
        <dsp:cNvSpPr/>
      </dsp:nvSpPr>
      <dsp:spPr>
        <a:xfrm>
          <a:off x="7515503" y="3268980"/>
          <a:ext cx="143690" cy="1245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0" rIns="685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7515503" y="3268980"/>
        <a:ext cx="143690" cy="12458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57D798F-FA12-2841-94B3-EABEB9DF65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39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Attunement strategy originated in Holland in the 1980s (1986). </a:t>
            </a:r>
          </a:p>
          <a:p>
            <a:endParaRPr lang="en-US" dirty="0" smtClean="0"/>
          </a:p>
          <a:p>
            <a:r>
              <a:rPr lang="en-US" dirty="0" smtClean="0"/>
              <a:t>Developed</a:t>
            </a:r>
            <a:r>
              <a:rPr lang="en-US" baseline="0" dirty="0" smtClean="0"/>
              <a:t> at the University of Utrecht by a team of academics led by </a:t>
            </a:r>
            <a:r>
              <a:rPr lang="en-US" baseline="0" dirty="0" err="1" smtClean="0"/>
              <a:t>Wim</a:t>
            </a:r>
            <a:r>
              <a:rPr lang="en-US" baseline="0" dirty="0" smtClean="0"/>
              <a:t> Van </a:t>
            </a:r>
            <a:r>
              <a:rPr lang="en-US" baseline="0" dirty="0" err="1" smtClean="0"/>
              <a:t>Werkhoven</a:t>
            </a:r>
            <a:r>
              <a:rPr lang="en-US" baseline="0" dirty="0" smtClean="0"/>
              <a:t> </a:t>
            </a:r>
          </a:p>
          <a:p>
            <a:endParaRPr lang="en-US" baseline="0" dirty="0" smtClean="0"/>
          </a:p>
          <a:p>
            <a:r>
              <a:rPr lang="en-US" baseline="0" dirty="0" smtClean="0"/>
              <a:t>It was developed in </a:t>
            </a:r>
            <a:r>
              <a:rPr lang="en-US" baseline="0" dirty="0" err="1" smtClean="0"/>
              <a:t>reponse</a:t>
            </a:r>
            <a:r>
              <a:rPr lang="en-US" baseline="0" dirty="0" smtClean="0"/>
              <a:t> to Dutch legislation calling for greater inclusion for students with special educational needs.</a:t>
            </a:r>
          </a:p>
          <a:p>
            <a:endParaRPr lang="en-US" baseline="0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D798F-FA12-2841-94B3-EABEB9DF65F0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986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415D13-F030-3C4F-A209-85C61ACE74ED}" type="slidenum">
              <a:rPr lang="en-GB"/>
              <a:pPr/>
              <a:t>3</a:t>
            </a:fld>
            <a:endParaRPr lang="en-GB"/>
          </a:p>
        </p:txBody>
      </p:sp>
      <p:sp>
        <p:nvSpPr>
          <p:cNvPr id="1843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School</a:t>
            </a:r>
            <a:r>
              <a:rPr lang="en-GB" baseline="0" dirty="0" smtClean="0"/>
              <a:t> System </a:t>
            </a:r>
            <a:r>
              <a:rPr lang="en-GB" baseline="0" dirty="0" err="1" smtClean="0"/>
              <a:t>Vs</a:t>
            </a:r>
            <a:r>
              <a:rPr lang="en-GB" baseline="0" dirty="0" smtClean="0"/>
              <a:t> The Individual</a:t>
            </a:r>
          </a:p>
          <a:p>
            <a:r>
              <a:rPr lang="en-GB" baseline="0" dirty="0" smtClean="0"/>
              <a:t>System set up in contradiction to our understanding of child development</a:t>
            </a:r>
          </a:p>
          <a:p>
            <a:r>
              <a:rPr lang="en-GB" baseline="0" dirty="0" smtClean="0"/>
              <a:t>(Children develop at different rates, whereas school look at standardised developmental expectations through assessments</a:t>
            </a:r>
          </a:p>
          <a:p>
            <a:endParaRPr lang="en-GB" baseline="0" dirty="0" smtClean="0"/>
          </a:p>
          <a:p>
            <a:r>
              <a:rPr lang="en-GB" dirty="0" smtClean="0"/>
              <a:t>Student </a:t>
            </a:r>
            <a:r>
              <a:rPr lang="en-GB" dirty="0"/>
              <a:t>fails task, or does worse in comparison to peers</a:t>
            </a:r>
          </a:p>
          <a:p>
            <a:endParaRPr lang="en-GB" dirty="0"/>
          </a:p>
          <a:p>
            <a:r>
              <a:rPr lang="en-GB" dirty="0"/>
              <a:t>Attributes results to ability rather than effort</a:t>
            </a:r>
          </a:p>
          <a:p>
            <a:endParaRPr lang="en-GB" dirty="0"/>
          </a:p>
          <a:p>
            <a:r>
              <a:rPr lang="en-GB" dirty="0"/>
              <a:t>Develops low self-efficacy</a:t>
            </a:r>
          </a:p>
          <a:p>
            <a:endParaRPr lang="en-GB" dirty="0"/>
          </a:p>
          <a:p>
            <a:r>
              <a:rPr lang="en-GB" dirty="0"/>
              <a:t>Teacher, who is also subject to performance evaluation based on student results- tries to support but due lack of skill, or understanding of self –efficacy, their support is not rewarded by an improvement in student results. </a:t>
            </a:r>
          </a:p>
          <a:p>
            <a:r>
              <a:rPr lang="en-GB" dirty="0"/>
              <a:t>Teacher turns to those students who reward the teacher input with good results, focus on these students instead.</a:t>
            </a:r>
          </a:p>
          <a:p>
            <a:endParaRPr lang="en-GB" dirty="0"/>
          </a:p>
          <a:p>
            <a:r>
              <a:rPr lang="en-GB" dirty="0"/>
              <a:t>Teacher develops lower expectations of that student</a:t>
            </a:r>
          </a:p>
          <a:p>
            <a:endParaRPr lang="en-GB" dirty="0"/>
          </a:p>
          <a:p>
            <a:r>
              <a:rPr lang="en-GB" dirty="0"/>
              <a:t>Student responds to teacher expectation further re-enforcing their low expectations.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 smtClean="0"/>
              <a:t>Raise teacher Awareness of the impact of their teaching style influences student task behaviour.</a:t>
            </a:r>
          </a:p>
          <a:p>
            <a:endParaRPr lang="en-GB" sz="1200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/>
              <a:t>Develop teacher </a:t>
            </a:r>
            <a:r>
              <a:rPr lang="en-GB" sz="1200" dirty="0" err="1" smtClean="0"/>
              <a:t>attunement</a:t>
            </a:r>
            <a:r>
              <a:rPr lang="en-GB" sz="1200" dirty="0" smtClean="0"/>
              <a:t> to their students needs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/>
              <a:t>Pupils feel more in control of their learning outcomes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D798F-FA12-2841-94B3-EABEB9DF65F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103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7B3CBE-DFE1-3343-B65E-4F78FE98C09B}" type="slidenum">
              <a:rPr lang="en-GB"/>
              <a:pPr/>
              <a:t>5</a:t>
            </a:fld>
            <a:endParaRPr lang="en-GB"/>
          </a:p>
        </p:txBody>
      </p:sp>
      <p:sp>
        <p:nvSpPr>
          <p:cNvPr id="2355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These are the main two theories of the strategy but there are many other strategies involved such as;</a:t>
            </a:r>
          </a:p>
          <a:p>
            <a:r>
              <a:rPr lang="en-GB"/>
              <a:t>Self efficacy</a:t>
            </a:r>
          </a:p>
          <a:p>
            <a:r>
              <a:rPr lang="en-GB"/>
              <a:t>Self regulation</a:t>
            </a:r>
          </a:p>
          <a:p>
            <a:r>
              <a:rPr lang="en-GB"/>
              <a:t>Metacognitive</a:t>
            </a:r>
          </a:p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6A5394-8CE3-3845-89B1-6F630BFC0B42}" type="slidenum">
              <a:rPr lang="en-GB"/>
              <a:pPr/>
              <a:t>6</a:t>
            </a:fld>
            <a:endParaRPr lang="en-GB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cs typeface="Times New Roman" charset="0"/>
              </a:rPr>
              <a:t>SDT identifies three innate psychological needs, competence, autonomy and relationships (</a:t>
            </a:r>
            <a:r>
              <a:rPr lang="en-GB" dirty="0" err="1" smtClean="0">
                <a:cs typeface="Times New Roman" charset="0"/>
              </a:rPr>
              <a:t>Deci</a:t>
            </a:r>
            <a:r>
              <a:rPr lang="en-GB" dirty="0" smtClean="0">
                <a:cs typeface="Times New Roman" charset="0"/>
              </a:rPr>
              <a:t> &amp; Chandler, 1986), when satisfied they enhance a person</a:t>
            </a:r>
            <a:r>
              <a:rPr lang="ja-JP" altLang="en-GB" dirty="0" smtClean="0">
                <a:latin typeface="Arial"/>
                <a:cs typeface="Times New Roman" charset="0"/>
              </a:rPr>
              <a:t>’</a:t>
            </a:r>
            <a:r>
              <a:rPr lang="en-GB" dirty="0" smtClean="0">
                <a:cs typeface="Times New Roman" charset="0"/>
              </a:rPr>
              <a:t>s optimal functioning, through intrinsic motivation (Ryan &amp; </a:t>
            </a:r>
            <a:r>
              <a:rPr lang="en-GB" dirty="0" err="1" smtClean="0">
                <a:cs typeface="Times New Roman" charset="0"/>
              </a:rPr>
              <a:t>Deci</a:t>
            </a:r>
            <a:r>
              <a:rPr lang="en-GB" dirty="0" smtClean="0">
                <a:cs typeface="Times New Roman" charset="0"/>
              </a:rPr>
              <a:t>, 1985)</a:t>
            </a:r>
            <a:r>
              <a:rPr lang="en-GB" dirty="0" smtClean="0">
                <a:cs typeface="+mn-cs"/>
              </a:rPr>
              <a:t>.</a:t>
            </a:r>
            <a:r>
              <a:rPr lang="en-GB" baseline="0" dirty="0" smtClean="0">
                <a:cs typeface="+mn-cs"/>
              </a:rPr>
              <a:t>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>
                <a:cs typeface="+mn-cs"/>
              </a:rPr>
              <a:t>Students that are intrinsically motivated to learn show enhanced creativity, </a:t>
            </a:r>
            <a:r>
              <a:rPr lang="en-GB" baseline="0" dirty="0" err="1" smtClean="0">
                <a:cs typeface="+mn-cs"/>
              </a:rPr>
              <a:t>persistance</a:t>
            </a:r>
            <a:r>
              <a:rPr lang="en-GB" baseline="0" dirty="0" smtClean="0">
                <a:cs typeface="+mn-cs"/>
              </a:rPr>
              <a:t> and performance </a:t>
            </a:r>
            <a:r>
              <a:rPr lang="x-none" sz="1200" kern="1200" dirty="0" smtClean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(Sheldon, Ryan, Rawsthorne, &amp; Ilardi, 1997). </a:t>
            </a: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Questions </a:t>
            </a:r>
            <a:r>
              <a:rPr lang="en-GB" dirty="0"/>
              <a:t>break down task into small steps to develop a sense of mastery/competence</a:t>
            </a:r>
          </a:p>
          <a:p>
            <a:r>
              <a:rPr lang="en-GB" dirty="0"/>
              <a:t>Emphasis is on the teacher guiding the pupils to find the answers for themselves giving them a sense of agency-autonomy</a:t>
            </a:r>
          </a:p>
          <a:p>
            <a:r>
              <a:rPr lang="en-GB" dirty="0"/>
              <a:t>Responsive approach adopted by the teacher helps develop an attuned relationship with students-relationships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Basically</a:t>
            </a:r>
            <a:r>
              <a:rPr lang="en-US" baseline="0" dirty="0" smtClean="0"/>
              <a:t> the teacher helps the student to break down tasks into smaller parts</a:t>
            </a:r>
          </a:p>
          <a:p>
            <a:endParaRPr lang="en-US" baseline="0" dirty="0" smtClean="0"/>
          </a:p>
          <a:p>
            <a:r>
              <a:rPr lang="en-US" baseline="0" dirty="0" smtClean="0"/>
              <a:t>Gets the student to set their own goals related to the task</a:t>
            </a:r>
          </a:p>
          <a:p>
            <a:endParaRPr lang="en-US" baseline="0" dirty="0" smtClean="0"/>
          </a:p>
          <a:p>
            <a:r>
              <a:rPr lang="en-US" baseline="0" dirty="0" smtClean="0"/>
              <a:t>Provides regular immediate feedback</a:t>
            </a:r>
          </a:p>
          <a:p>
            <a:endParaRPr lang="en-US" baseline="0" dirty="0" smtClean="0"/>
          </a:p>
          <a:p>
            <a:r>
              <a:rPr lang="en-US" baseline="0" dirty="0" smtClean="0"/>
              <a:t>Helps student to reflect on performance</a:t>
            </a:r>
          </a:p>
          <a:p>
            <a:endParaRPr lang="en-US" baseline="0" dirty="0" smtClean="0"/>
          </a:p>
          <a:p>
            <a:pPr lvl="0"/>
            <a:r>
              <a:rPr lang="en-US" baseline="0" dirty="0" smtClean="0"/>
              <a:t>Attribution questions, challenge student perceptions</a:t>
            </a:r>
          </a:p>
          <a:p>
            <a:pPr lvl="0"/>
            <a:endParaRPr lang="en-US" baseline="0" dirty="0" smtClean="0"/>
          </a:p>
          <a:p>
            <a:pPr lvl="0"/>
            <a:r>
              <a:rPr lang="x-none" dirty="0" smtClean="0"/>
              <a:t>Why did you succeed?</a:t>
            </a:r>
          </a:p>
          <a:p>
            <a:pPr lvl="0"/>
            <a:r>
              <a:rPr lang="x-none" dirty="0" smtClean="0"/>
              <a:t>Why have you managed to finish?</a:t>
            </a:r>
          </a:p>
          <a:p>
            <a:pPr lvl="0"/>
            <a:r>
              <a:rPr lang="x-none" dirty="0" smtClean="0"/>
              <a:t>Why do you think you have made fewer mistakes?</a:t>
            </a:r>
          </a:p>
          <a:p>
            <a:pPr marL="45720" indent="0">
              <a:buNone/>
            </a:pPr>
            <a:r>
              <a:rPr lang="x-none" dirty="0" smtClean="0"/>
              <a:t> </a:t>
            </a:r>
          </a:p>
          <a:p>
            <a:endParaRPr lang="en-US" baseline="0" dirty="0" smtClean="0"/>
          </a:p>
          <a:p>
            <a:endParaRPr lang="en-US" baseline="0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D798F-FA12-2841-94B3-EABEB9DF65F0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002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9FE8E2-271F-2043-9643-522E9DB9A2D3}" type="slidenum">
              <a:rPr lang="en-GB"/>
              <a:pPr/>
              <a:t>9</a:t>
            </a:fld>
            <a:endParaRPr lang="en-GB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Teachers</a:t>
            </a:r>
            <a:r>
              <a:rPr lang="en-GB" baseline="0" dirty="0" smtClean="0"/>
              <a:t> pair up with another teacher of their choosing. Joint reflection after intervention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Video recording of target  lesson (Video</a:t>
            </a:r>
            <a:r>
              <a:rPr lang="en-GB" baseline="0" dirty="0" smtClean="0"/>
              <a:t> or </a:t>
            </a:r>
            <a:r>
              <a:rPr lang="en-GB" dirty="0" smtClean="0"/>
              <a:t>audio recording)</a:t>
            </a:r>
          </a:p>
          <a:p>
            <a:endParaRPr lang="en-GB" dirty="0" smtClean="0"/>
          </a:p>
          <a:p>
            <a:r>
              <a:rPr lang="en-GB" dirty="0" smtClean="0"/>
              <a:t>1</a:t>
            </a:r>
            <a:r>
              <a:rPr lang="en-GB" dirty="0"/>
              <a:t>/3 of schools used audio recording to implement the strategy instead of video. </a:t>
            </a:r>
          </a:p>
          <a:p>
            <a:r>
              <a:rPr lang="en-GB" dirty="0"/>
              <a:t>While both reported positive results the video studies reported greater </a:t>
            </a:r>
            <a:r>
              <a:rPr lang="en-GB" dirty="0" smtClean="0"/>
              <a:t>benefits</a:t>
            </a:r>
          </a:p>
          <a:p>
            <a:endParaRPr lang="en-GB" dirty="0"/>
          </a:p>
          <a:p>
            <a:r>
              <a:rPr lang="en-GB" dirty="0" smtClean="0"/>
              <a:t>Other studies </a:t>
            </a:r>
            <a:r>
              <a:rPr lang="en-GB" dirty="0"/>
              <a:t>of reflective interventions that used video recording reported quicker results.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FD57F-2734-BD49-8EEB-A8A400A85B45}" type="slidenum">
              <a:rPr lang="en-GB"/>
              <a:pPr/>
              <a:t>10</a:t>
            </a:fld>
            <a:endParaRPr lang="en-GB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>
                <a:latin typeface="Arial Unicode MS" charset="0"/>
                <a:cs typeface="Times New Roman" charset="0"/>
              </a:rPr>
              <a:t>Study of </a:t>
            </a:r>
            <a:r>
              <a:rPr lang="x-none" sz="1200" kern="1200" dirty="0" smtClean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143 teachers</a:t>
            </a:r>
            <a:r>
              <a:rPr lang="x-none" dirty="0" smtClean="0">
                <a:effectLst/>
              </a:rPr>
              <a:t> </a:t>
            </a:r>
            <a:r>
              <a:rPr lang="en-GB" dirty="0" smtClean="0">
                <a:effectLst/>
              </a:rPr>
              <a:t>in the Netherlands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>
                <a:effectLst/>
                <a:latin typeface="Arial Unicode MS" charset="0"/>
                <a:cs typeface="Times New Roman" charset="0"/>
              </a:rPr>
              <a:t>Using interviews, questionnaires, time sampled video recording</a:t>
            </a:r>
            <a:r>
              <a:rPr lang="en-GB" sz="1200" baseline="0" dirty="0" smtClean="0">
                <a:effectLst/>
                <a:latin typeface="Arial Unicode MS" charset="0"/>
                <a:cs typeface="Times New Roman" charset="0"/>
              </a:rPr>
              <a:t> and teacher log books.</a:t>
            </a:r>
            <a:endParaRPr lang="en-GB" sz="1200" dirty="0" smtClean="0">
              <a:latin typeface="Arial Unicode MS" charset="0"/>
              <a:cs typeface="Times New Roman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 smtClean="0">
              <a:latin typeface="Arial Unicode MS" charset="0"/>
              <a:cs typeface="Times New Roman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>
                <a:latin typeface="Arial Unicode MS" charset="0"/>
                <a:cs typeface="Times New Roman" charset="0"/>
              </a:rPr>
              <a:t>Teacher 1:1 instruction increased from 3 minutes to 6.5 minutes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 smtClean="0">
              <a:latin typeface="Arial Unicode MS" charset="0"/>
              <a:cs typeface="Times New Roman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>
                <a:cs typeface="Times New Roman" charset="0"/>
              </a:rPr>
              <a:t>Total group instruction time decreased although not significantly.</a:t>
            </a:r>
            <a:r>
              <a:rPr lang="en-GB" sz="1200" dirty="0" smtClean="0"/>
              <a:t>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 smtClean="0">
              <a:latin typeface="Arial Unicode MS" charset="0"/>
              <a:cs typeface="Times New Roman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 smtClean="0">
              <a:latin typeface="Arial Unicode MS" charset="0"/>
              <a:cs typeface="Times New Roman" charset="0"/>
            </a:endParaRPr>
          </a:p>
          <a:p>
            <a:pPr>
              <a:lnSpc>
                <a:spcPct val="90000"/>
              </a:lnSpc>
            </a:pPr>
            <a:r>
              <a:rPr lang="en-GB" sz="1200" dirty="0" smtClean="0">
                <a:latin typeface="Arial Unicode MS" charset="0"/>
                <a:cs typeface="Times New Roman" charset="0"/>
              </a:rPr>
              <a:t>Change in instruction geared toward explanation and evaluation (1.4 effect size)</a:t>
            </a:r>
          </a:p>
          <a:p>
            <a:pPr>
              <a:lnSpc>
                <a:spcPct val="90000"/>
              </a:lnSpc>
            </a:pPr>
            <a:r>
              <a:rPr lang="en-GB" sz="1200" dirty="0" smtClean="0">
                <a:latin typeface="Arial Unicode MS" charset="0"/>
                <a:cs typeface="Times New Roman" charset="0"/>
              </a:rPr>
              <a:t>Teachers asked more questions (0.8 effect size)</a:t>
            </a:r>
          </a:p>
          <a:p>
            <a:endParaRPr lang="en-GB" dirty="0" smtClean="0"/>
          </a:p>
          <a:p>
            <a:endParaRPr lang="en-GB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Mediating factors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 smtClean="0">
              <a:latin typeface="Times New Roman"/>
              <a:cs typeface="Times New Roman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>
                <a:latin typeface="Times New Roman"/>
                <a:cs typeface="Times New Roman"/>
              </a:rPr>
              <a:t>Greater teacher appreciation and satisfaction with AS = greater effects for students</a:t>
            </a:r>
          </a:p>
          <a:p>
            <a:endParaRPr lang="en-GB" dirty="0"/>
          </a:p>
          <a:p>
            <a:r>
              <a:rPr lang="en-GB" dirty="0"/>
              <a:t>Pupil response mediated teacher responsive practice</a:t>
            </a:r>
          </a:p>
          <a:p>
            <a:r>
              <a:rPr lang="en-GB" dirty="0"/>
              <a:t>(positive response increase teacher </a:t>
            </a:r>
            <a:r>
              <a:rPr lang="en-GB" dirty="0" err="1"/>
              <a:t>responsivity</a:t>
            </a:r>
            <a:r>
              <a:rPr lang="en-GB" dirty="0"/>
              <a:t>)</a:t>
            </a:r>
          </a:p>
          <a:p>
            <a:r>
              <a:rPr lang="en-GB" dirty="0"/>
              <a:t>Age of teacher, older teachers reported greater effect sizes for student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1A9C9A-77E8-A64B-ACBE-22347982293E}" type="slidenum">
              <a:rPr lang="en-GB"/>
              <a:pPr/>
              <a:t>11</a:t>
            </a:fld>
            <a:endParaRPr lang="en-GB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Video recording and extra meeting with training partner</a:t>
            </a:r>
          </a:p>
          <a:p>
            <a:endParaRPr lang="en-GB" dirty="0" smtClean="0"/>
          </a:p>
          <a:p>
            <a:r>
              <a:rPr lang="en-GB" dirty="0" smtClean="0"/>
              <a:t>More time consuming teachers felt</a:t>
            </a:r>
            <a:r>
              <a:rPr lang="en-GB" baseline="0" dirty="0" smtClean="0"/>
              <a:t> it was the lower the reported changes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Schools </a:t>
            </a:r>
            <a:r>
              <a:rPr lang="en-GB" dirty="0"/>
              <a:t>had recently gone through behaviour support training, prior to study. May explain why results were not higher.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Better work quality and quantity </a:t>
            </a:r>
          </a:p>
          <a:p>
            <a:endParaRPr lang="en-US" dirty="0" smtClean="0"/>
          </a:p>
          <a:p>
            <a:r>
              <a:rPr lang="en-US" dirty="0" smtClean="0"/>
              <a:t>True benefits for students</a:t>
            </a:r>
            <a:r>
              <a:rPr lang="en-US" baseline="0" dirty="0" smtClean="0"/>
              <a:t> unknown die to lack of student views in the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D798F-FA12-2841-94B3-EABEB9DF65F0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519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Large scale studies carried out</a:t>
            </a:r>
          </a:p>
          <a:p>
            <a:r>
              <a:rPr lang="en-US" dirty="0" smtClean="0"/>
              <a:t>Design</a:t>
            </a:r>
            <a:r>
              <a:rPr lang="en-US" baseline="0" dirty="0" smtClean="0"/>
              <a:t> took into account context and teacher variables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D798F-FA12-2841-94B3-EABEB9DF65F0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694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E7F003-04B1-6548-9A2B-ED33588ED36F}" type="slidenum">
              <a:rPr lang="en-GB"/>
              <a:pPr/>
              <a:t>15</a:t>
            </a:fld>
            <a:endParaRPr lang="en-GB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Need for long term study to assess the long term effects</a:t>
            </a:r>
          </a:p>
          <a:p>
            <a:r>
              <a:rPr lang="en-GB"/>
              <a:t>Without long term study difficult to say that teacher mindsets were changed.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Based only on the studies from van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Werkhoven</a:t>
            </a:r>
            <a:r>
              <a:rPr lang="en-US" baseline="0" dirty="0" smtClean="0"/>
              <a:t> and colleagues, I would be cautious about recommending the intervention.</a:t>
            </a:r>
          </a:p>
          <a:p>
            <a:endParaRPr lang="en-US" baseline="0" dirty="0" smtClean="0"/>
          </a:p>
          <a:p>
            <a:r>
              <a:rPr lang="en-US" baseline="0" dirty="0" smtClean="0"/>
              <a:t>Not because the studies don’t have positive findings (they do) but they haven’t been researched outside of the van </a:t>
            </a:r>
            <a:r>
              <a:rPr lang="en-US" baseline="0" dirty="0" err="1" smtClean="0"/>
              <a:t>Werkhoven’s</a:t>
            </a:r>
            <a:r>
              <a:rPr lang="en-US" baseline="0" dirty="0" smtClean="0"/>
              <a:t> research group.</a:t>
            </a:r>
          </a:p>
          <a:p>
            <a:endParaRPr lang="en-US" baseline="0" dirty="0" smtClean="0"/>
          </a:p>
          <a:p>
            <a:r>
              <a:rPr lang="en-US" baseline="0" dirty="0" smtClean="0"/>
              <a:t>However, despite this lack of </a:t>
            </a:r>
            <a:r>
              <a:rPr lang="en-US" baseline="0" dirty="0" smtClean="0"/>
              <a:t>depth of r</a:t>
            </a:r>
            <a:r>
              <a:rPr lang="en-US" baseline="0" dirty="0" smtClean="0"/>
              <a:t>esearch</a:t>
            </a:r>
          </a:p>
          <a:p>
            <a:r>
              <a:rPr lang="en-US" baseline="0" dirty="0" smtClean="0"/>
              <a:t>The intervention is similar to other interventions that do have a greater evidence base, such as;</a:t>
            </a:r>
          </a:p>
          <a:p>
            <a:r>
              <a:rPr lang="en-US" baseline="0" dirty="0" smtClean="0"/>
              <a:t>VIG- the use of reflective video feedback to develop responsive teaching is similar to a VIG approach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 attribution training aspect of the intervention is similar to other evidenced based attribution change interventions as well as </a:t>
            </a:r>
            <a:r>
              <a:rPr lang="en-US" baseline="0" dirty="0" err="1" smtClean="0"/>
              <a:t>Dweck’s</a:t>
            </a:r>
            <a:r>
              <a:rPr lang="en-US" baseline="0" dirty="0" smtClean="0"/>
              <a:t>  growth mindsets.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 breaking down of the task, setting of personal goals, short and long term, immediate feedback set up through the task questions are all aspects of Bandura’s </a:t>
            </a:r>
            <a:r>
              <a:rPr lang="en-US" baseline="0" smtClean="0"/>
              <a:t>research on self</a:t>
            </a:r>
            <a:r>
              <a:rPr lang="en-US" baseline="0" dirty="0" smtClean="0"/>
              <a:t>-</a:t>
            </a:r>
            <a:r>
              <a:rPr lang="en-US" baseline="0" smtClean="0"/>
              <a:t>efficacy development.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D798F-FA12-2841-94B3-EABEB9DF65F0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990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Greater</a:t>
            </a:r>
            <a:r>
              <a:rPr lang="en-US" baseline="0" dirty="0" smtClean="0"/>
              <a:t> effect sizes were found for interventions that used outside consultants to supervise the intervention</a:t>
            </a:r>
          </a:p>
          <a:p>
            <a:endParaRPr lang="en-US" baseline="0" dirty="0" smtClean="0"/>
          </a:p>
          <a:p>
            <a:r>
              <a:rPr lang="en-US" baseline="0" dirty="0" smtClean="0"/>
              <a:t>One of the points to come out of the Blatchford, Russell &amp; Webster study on Teaching Assistant effectiveness was how </a:t>
            </a:r>
            <a:r>
              <a:rPr lang="en-US" baseline="0" dirty="0" err="1" smtClean="0"/>
              <a:t>Tas</a:t>
            </a:r>
            <a:r>
              <a:rPr lang="en-US" baseline="0" dirty="0" smtClean="0"/>
              <a:t> worked with students in terms of their one to one instruction.</a:t>
            </a:r>
          </a:p>
          <a:p>
            <a:endParaRPr lang="en-US" baseline="0" dirty="0" smtClean="0"/>
          </a:p>
          <a:p>
            <a:r>
              <a:rPr lang="en-GB" dirty="0" smtClean="0">
                <a:latin typeface="Calibri" charset="0"/>
              </a:rPr>
              <a:t>TAs were more likely to prompt pupils and supply answers</a:t>
            </a:r>
          </a:p>
          <a:p>
            <a:r>
              <a:rPr lang="en-GB" dirty="0" smtClean="0">
                <a:latin typeface="Calibri" charset="0"/>
              </a:rPr>
              <a:t>TA talk more focused with task completion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D798F-FA12-2841-94B3-EABEB9DF65F0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87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8E80666-FB37-4B36-9149-507F3B0178E3}" type="datetimeFigureOut">
              <a:rPr lang="en-US" smtClean="0"/>
              <a:pPr/>
              <a:t>12/16/14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28D5F-77EF-174C-8337-380C7ADE83D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80666-FB37-4B36-9149-507F3B0178E3}" type="datetimeFigureOut">
              <a:rPr lang="en-US" smtClean="0"/>
              <a:pPr/>
              <a:t>12/16/14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ECC-704C-7547-8F6B-51B536A7787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7B6FE-BCC0-7549-9D3D-0AC44B478B6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351CA-E683-0F4D-8024-D3F1A0126EB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A552C-A9C2-E846-A9AF-D97D9E4EE8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A2-0319-9742-B13B-80AD060839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FA26-EF4E-9A4A-BE1C-73FB17ADCBB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FD30AC3-EFBD-F84D-ACA1-8A4335EBF01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961A1A51-6C76-1B4A-AD0D-0C7C7249FAB2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2" r:id="rId1"/>
    <p:sldLayoutId id="2147484433" r:id="rId2"/>
    <p:sldLayoutId id="2147484434" r:id="rId3"/>
    <p:sldLayoutId id="2147484435" r:id="rId4"/>
    <p:sldLayoutId id="2147484436" r:id="rId5"/>
    <p:sldLayoutId id="2147484437" r:id="rId6"/>
    <p:sldLayoutId id="2147484438" r:id="rId7"/>
    <p:sldLayoutId id="2147484439" r:id="rId8"/>
    <p:sldLayoutId id="2147484440" r:id="rId9"/>
    <p:sldLayoutId id="2147484441" r:id="rId10"/>
    <p:sldLayoutId id="214748444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</a:t>
            </a:r>
            <a:r>
              <a:rPr lang="en-GB" dirty="0" err="1" smtClean="0"/>
              <a:t>Attunement</a:t>
            </a:r>
            <a:r>
              <a:rPr lang="en-GB" dirty="0" smtClean="0"/>
              <a:t> Strategy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Challenges the student to become an active learner instead of an inactive learner </a:t>
            </a:r>
            <a:r>
              <a:rPr lang="en-GB" sz="1600" dirty="0">
                <a:cs typeface="Times New Roman" charset="0"/>
              </a:rPr>
              <a:t>(</a:t>
            </a:r>
            <a:r>
              <a:rPr lang="en-GB" sz="1600" dirty="0" err="1">
                <a:cs typeface="Times New Roman" charset="0"/>
              </a:rPr>
              <a:t>Torgesen</a:t>
            </a:r>
            <a:r>
              <a:rPr lang="en-GB" sz="1600" dirty="0">
                <a:cs typeface="Times New Roman" charset="0"/>
              </a:rPr>
              <a:t>, 1977)</a:t>
            </a:r>
            <a:r>
              <a:rPr lang="en-GB" sz="1600" dirty="0" smtClean="0"/>
              <a:t>.</a:t>
            </a:r>
          </a:p>
          <a:p>
            <a:pPr marL="45720" indent="0">
              <a:buNone/>
            </a:pPr>
            <a:endParaRPr lang="en-GB" sz="1600" dirty="0" smtClean="0"/>
          </a:p>
          <a:p>
            <a:r>
              <a:rPr lang="en-GB" dirty="0"/>
              <a:t>Develop self regulated learners through the use of metacognitive, motivational and attribution strategies.</a:t>
            </a:r>
          </a:p>
          <a:p>
            <a:endParaRPr lang="en-GB" dirty="0"/>
          </a:p>
          <a:p>
            <a:pPr marL="45720" indent="0">
              <a:buNone/>
            </a:pPr>
            <a:endParaRPr lang="en-GB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Motivational Model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Motivational Cycles in Education</a:t>
            </a:r>
          </a:p>
        </p:txBody>
      </p:sp>
      <p:sp>
        <p:nvSpPr>
          <p:cNvPr id="12293" name="Text Box 1029"/>
          <p:cNvSpPr txBox="1">
            <a:spLocks noChangeArrowheads="1"/>
          </p:cNvSpPr>
          <p:nvPr/>
        </p:nvSpPr>
        <p:spPr bwMode="auto">
          <a:xfrm>
            <a:off x="3810000" y="1676400"/>
            <a:ext cx="1524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Student fails task</a:t>
            </a:r>
          </a:p>
        </p:txBody>
      </p:sp>
      <p:sp>
        <p:nvSpPr>
          <p:cNvPr id="12294" name="Text Box 1030"/>
          <p:cNvSpPr txBox="1">
            <a:spLocks noChangeArrowheads="1"/>
          </p:cNvSpPr>
          <p:nvPr/>
        </p:nvSpPr>
        <p:spPr bwMode="auto">
          <a:xfrm>
            <a:off x="6172200" y="2362200"/>
            <a:ext cx="1676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/>
              <a:t>Attributes poor score on ability rather than effort</a:t>
            </a:r>
          </a:p>
        </p:txBody>
      </p:sp>
      <p:sp>
        <p:nvSpPr>
          <p:cNvPr id="12296" name="Text Box 1032"/>
          <p:cNvSpPr txBox="1">
            <a:spLocks noChangeArrowheads="1"/>
          </p:cNvSpPr>
          <p:nvPr/>
        </p:nvSpPr>
        <p:spPr bwMode="auto">
          <a:xfrm>
            <a:off x="6019800" y="4267200"/>
            <a:ext cx="1600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Low self efficacy-off task behaviour</a:t>
            </a:r>
          </a:p>
        </p:txBody>
      </p:sp>
      <p:sp>
        <p:nvSpPr>
          <p:cNvPr id="12297" name="Text Box 1033"/>
          <p:cNvSpPr txBox="1">
            <a:spLocks noChangeArrowheads="1"/>
          </p:cNvSpPr>
          <p:nvPr/>
        </p:nvSpPr>
        <p:spPr bwMode="auto">
          <a:xfrm>
            <a:off x="2819400" y="5029200"/>
            <a:ext cx="2209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Teacher support not rewarded with improved results</a:t>
            </a:r>
          </a:p>
        </p:txBody>
      </p:sp>
      <p:sp>
        <p:nvSpPr>
          <p:cNvPr id="12298" name="Text Box 1034"/>
          <p:cNvSpPr txBox="1">
            <a:spLocks noChangeArrowheads="1"/>
          </p:cNvSpPr>
          <p:nvPr/>
        </p:nvSpPr>
        <p:spPr bwMode="auto">
          <a:xfrm>
            <a:off x="990600" y="3505200"/>
            <a:ext cx="2209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Teacher lowers expectations</a:t>
            </a:r>
          </a:p>
        </p:txBody>
      </p:sp>
      <p:sp>
        <p:nvSpPr>
          <p:cNvPr id="12299" name="Text Box 1035"/>
          <p:cNvSpPr txBox="1">
            <a:spLocks noChangeArrowheads="1"/>
          </p:cNvSpPr>
          <p:nvPr/>
        </p:nvSpPr>
        <p:spPr bwMode="auto">
          <a:xfrm>
            <a:off x="1219200" y="2133600"/>
            <a:ext cx="2133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Self-fulfilling prophesy</a:t>
            </a:r>
          </a:p>
        </p:txBody>
      </p:sp>
      <p:sp>
        <p:nvSpPr>
          <p:cNvPr id="12300" name="Arc 1036"/>
          <p:cNvSpPr>
            <a:spLocks/>
          </p:cNvSpPr>
          <p:nvPr/>
        </p:nvSpPr>
        <p:spPr bwMode="auto">
          <a:xfrm>
            <a:off x="5334000" y="1828800"/>
            <a:ext cx="1371600" cy="533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Line 1040"/>
          <p:cNvSpPr>
            <a:spLocks noChangeShapeType="1"/>
          </p:cNvSpPr>
          <p:nvPr/>
        </p:nvSpPr>
        <p:spPr bwMode="auto">
          <a:xfrm flipH="1">
            <a:off x="6781800" y="3657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7" name="Arc 1043"/>
          <p:cNvSpPr>
            <a:spLocks/>
          </p:cNvSpPr>
          <p:nvPr/>
        </p:nvSpPr>
        <p:spPr bwMode="auto">
          <a:xfrm flipH="1" flipV="1">
            <a:off x="1600200" y="4343400"/>
            <a:ext cx="1066800" cy="1447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Arc 1044"/>
          <p:cNvSpPr>
            <a:spLocks/>
          </p:cNvSpPr>
          <p:nvPr/>
        </p:nvSpPr>
        <p:spPr bwMode="auto">
          <a:xfrm flipV="1">
            <a:off x="4953000" y="5791200"/>
            <a:ext cx="10668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0" name="Arc 1046"/>
          <p:cNvSpPr>
            <a:spLocks/>
          </p:cNvSpPr>
          <p:nvPr/>
        </p:nvSpPr>
        <p:spPr bwMode="auto">
          <a:xfrm flipH="1">
            <a:off x="2381250" y="1828800"/>
            <a:ext cx="1200150" cy="3276600"/>
          </a:xfrm>
          <a:custGeom>
            <a:avLst/>
            <a:gdLst>
              <a:gd name="G0" fmla="+- 1 0 0"/>
              <a:gd name="G1" fmla="+- 21600 0 0"/>
              <a:gd name="G2" fmla="+- 21600 0 0"/>
              <a:gd name="T0" fmla="*/ 0 w 10010"/>
              <a:gd name="T1" fmla="*/ 0 h 21600"/>
              <a:gd name="T2" fmla="*/ 10010 w 10010"/>
              <a:gd name="T3" fmla="*/ 2459 h 21600"/>
              <a:gd name="T4" fmla="*/ 1 w 1001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10" h="21600" fill="none" extrusionOk="0">
                <a:moveTo>
                  <a:pt x="0" y="0"/>
                </a:moveTo>
                <a:cubicBezTo>
                  <a:pt x="0" y="0"/>
                  <a:pt x="0" y="-1"/>
                  <a:pt x="1" y="-1"/>
                </a:cubicBezTo>
                <a:cubicBezTo>
                  <a:pt x="3486" y="-1"/>
                  <a:pt x="6920" y="843"/>
                  <a:pt x="10010" y="2458"/>
                </a:cubicBezTo>
              </a:path>
              <a:path w="10010" h="21600" stroke="0" extrusionOk="0">
                <a:moveTo>
                  <a:pt x="0" y="0"/>
                </a:moveTo>
                <a:cubicBezTo>
                  <a:pt x="0" y="0"/>
                  <a:pt x="0" y="-1"/>
                  <a:pt x="1" y="-1"/>
                </a:cubicBezTo>
                <a:cubicBezTo>
                  <a:pt x="3486" y="-1"/>
                  <a:pt x="6920" y="843"/>
                  <a:pt x="10010" y="2458"/>
                </a:cubicBezTo>
                <a:lnTo>
                  <a:pt x="1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2" name="Arc 1048"/>
          <p:cNvSpPr>
            <a:spLocks/>
          </p:cNvSpPr>
          <p:nvPr/>
        </p:nvSpPr>
        <p:spPr bwMode="auto">
          <a:xfrm flipH="1">
            <a:off x="1600200" y="2971800"/>
            <a:ext cx="152400" cy="676275"/>
          </a:xfrm>
          <a:custGeom>
            <a:avLst/>
            <a:gdLst>
              <a:gd name="G0" fmla="+- 0 0 0"/>
              <a:gd name="G1" fmla="+- 20549 0 0"/>
              <a:gd name="G2" fmla="+- 21600 0 0"/>
              <a:gd name="T0" fmla="*/ 6657 w 21600"/>
              <a:gd name="T1" fmla="*/ 0 h 21386"/>
              <a:gd name="T2" fmla="*/ 21584 w 21600"/>
              <a:gd name="T3" fmla="*/ 21386 h 21386"/>
              <a:gd name="T4" fmla="*/ 0 w 21600"/>
              <a:gd name="T5" fmla="*/ 20549 h 21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386" fill="none" extrusionOk="0">
                <a:moveTo>
                  <a:pt x="6656" y="0"/>
                </a:moveTo>
                <a:cubicBezTo>
                  <a:pt x="15565" y="2886"/>
                  <a:pt x="21600" y="11184"/>
                  <a:pt x="21600" y="20549"/>
                </a:cubicBezTo>
                <a:cubicBezTo>
                  <a:pt x="21600" y="20828"/>
                  <a:pt x="21594" y="21107"/>
                  <a:pt x="21583" y="21385"/>
                </a:cubicBezTo>
              </a:path>
              <a:path w="21600" h="21386" stroke="0" extrusionOk="0">
                <a:moveTo>
                  <a:pt x="6656" y="0"/>
                </a:moveTo>
                <a:cubicBezTo>
                  <a:pt x="15565" y="2886"/>
                  <a:pt x="21600" y="11184"/>
                  <a:pt x="21600" y="20549"/>
                </a:cubicBezTo>
                <a:cubicBezTo>
                  <a:pt x="21600" y="20828"/>
                  <a:pt x="21594" y="21107"/>
                  <a:pt x="21583" y="21385"/>
                </a:cubicBezTo>
                <a:lnTo>
                  <a:pt x="0" y="2054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Raise teacher </a:t>
            </a:r>
            <a:r>
              <a:rPr lang="en-GB" sz="2800" dirty="0" smtClean="0"/>
              <a:t>awareness</a:t>
            </a:r>
            <a:endParaRPr lang="en-GB" sz="2800" dirty="0"/>
          </a:p>
          <a:p>
            <a:r>
              <a:rPr lang="en-GB" sz="2800" dirty="0" smtClean="0"/>
              <a:t>Develop Teacher </a:t>
            </a:r>
            <a:r>
              <a:rPr lang="en-GB" sz="2800" dirty="0" err="1" smtClean="0"/>
              <a:t>attunement</a:t>
            </a:r>
            <a:r>
              <a:rPr lang="en-GB" sz="2800" dirty="0" smtClean="0"/>
              <a:t>/responsiveness</a:t>
            </a:r>
          </a:p>
          <a:p>
            <a:r>
              <a:rPr lang="en-GB" sz="2800" dirty="0" smtClean="0"/>
              <a:t>Raise pupil autonomy</a:t>
            </a:r>
          </a:p>
          <a:p>
            <a:r>
              <a:rPr lang="en-GB" sz="2800" dirty="0" smtClean="0"/>
              <a:t>Challenge </a:t>
            </a:r>
            <a:r>
              <a:rPr lang="en-GB" sz="2800" dirty="0"/>
              <a:t>pupil attributions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Aims </a:t>
            </a:r>
            <a:r>
              <a:rPr lang="en-GB" dirty="0"/>
              <a:t>of </a:t>
            </a:r>
            <a:r>
              <a:rPr lang="en-GB" dirty="0" err="1"/>
              <a:t>Attunement</a:t>
            </a:r>
            <a:r>
              <a:rPr lang="en-GB" dirty="0"/>
              <a:t> Strategy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Self-Determination Theory</a:t>
            </a:r>
          </a:p>
          <a:p>
            <a:r>
              <a:rPr lang="en-GB" dirty="0"/>
              <a:t>Attribution Theory</a:t>
            </a:r>
          </a:p>
          <a:p>
            <a:pPr>
              <a:buFontTx/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24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cs typeface="Times New Roman" charset="0"/>
              </a:rPr>
              <a:t>Self-Determination Theory (Ryan &amp; </a:t>
            </a:r>
            <a:r>
              <a:rPr lang="en-GB" dirty="0" err="1">
                <a:cs typeface="Times New Roman" charset="0"/>
              </a:rPr>
              <a:t>Deci</a:t>
            </a:r>
            <a:r>
              <a:rPr lang="en-GB" dirty="0">
                <a:cs typeface="Times New Roman" charset="0"/>
              </a:rPr>
              <a:t>, 2000)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598782057"/>
              </p:ext>
            </p:extLst>
          </p:nvPr>
        </p:nvGraphicFramePr>
        <p:xfrm>
          <a:off x="428033" y="1768280"/>
          <a:ext cx="8305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2590800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Competence</a:t>
            </a:r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988451" y="53340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Relationships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934200" y="403860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r>
              <a:rPr lang="en-US" sz="2800" b="1" dirty="0" smtClean="0"/>
              <a:t>utonomy</a:t>
            </a:r>
            <a:endParaRPr 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cs typeface="Times New Roman" charset="0"/>
              </a:rPr>
              <a:t>Students</a:t>
            </a:r>
            <a:r>
              <a:rPr lang="en-US" dirty="0">
                <a:cs typeface="Times New Roman" charset="0"/>
              </a:rPr>
              <a:t>' beliefs about the reasons for their successes and failures determine whether they persist with a </a:t>
            </a:r>
            <a:r>
              <a:rPr lang="en-US" dirty="0" smtClean="0">
                <a:cs typeface="Times New Roman" charset="0"/>
              </a:rPr>
              <a:t>task (Weiner, 1985</a:t>
            </a:r>
            <a:r>
              <a:rPr lang="en-US" dirty="0">
                <a:cs typeface="Times New Roman" charset="0"/>
              </a:rPr>
              <a:t>) </a:t>
            </a:r>
            <a:endParaRPr lang="en-GB" dirty="0">
              <a:cs typeface="Times New Roman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Arial Unicode MS" charset="0"/>
                <a:cs typeface="Times New Roman" charset="0"/>
              </a:rPr>
              <a:t>Attribution Theory</a:t>
            </a:r>
            <a:br>
              <a:rPr lang="en-GB" dirty="0">
                <a:latin typeface="Arial Unicode MS" charset="0"/>
                <a:cs typeface="Times New Roman" charset="0"/>
              </a:rPr>
            </a:br>
            <a:endParaRPr lang="en-GB" dirty="0">
              <a:latin typeface="Arial Unicode MS" charset="0"/>
              <a:cs typeface="Times New Roman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x-none" dirty="0" smtClean="0"/>
              <a:t> </a:t>
            </a:r>
            <a:r>
              <a:rPr lang="x-none" dirty="0"/>
              <a:t>Attunement Strategy </a:t>
            </a:r>
            <a:r>
              <a:rPr lang="en-GB" dirty="0" smtClean="0"/>
              <a:t>is a set of </a:t>
            </a:r>
            <a:r>
              <a:rPr lang="en-GB" dirty="0"/>
              <a:t>q</a:t>
            </a:r>
            <a:r>
              <a:rPr lang="x-none" dirty="0" smtClean="0"/>
              <a:t>uestions</a:t>
            </a:r>
            <a:r>
              <a:rPr lang="en-GB" dirty="0" smtClean="0"/>
              <a:t> asked at different point of the task</a:t>
            </a:r>
          </a:p>
          <a:p>
            <a:pPr marL="45720" indent="0">
              <a:buNone/>
            </a:pPr>
            <a:endParaRPr lang="x-none" dirty="0"/>
          </a:p>
          <a:p>
            <a:r>
              <a:rPr lang="x-none" dirty="0"/>
              <a:t>Before the Task</a:t>
            </a:r>
          </a:p>
          <a:p>
            <a:pPr marL="45720" indent="0">
              <a:buNone/>
            </a:pPr>
            <a:r>
              <a:rPr lang="x-none" dirty="0"/>
              <a:t> </a:t>
            </a:r>
          </a:p>
          <a:p>
            <a:r>
              <a:rPr lang="x-none" dirty="0"/>
              <a:t>During the Task</a:t>
            </a:r>
          </a:p>
          <a:p>
            <a:pPr marL="45720" indent="0">
              <a:buNone/>
            </a:pPr>
            <a:endParaRPr lang="x-none" dirty="0"/>
          </a:p>
          <a:p>
            <a:r>
              <a:rPr lang="x-none" dirty="0"/>
              <a:t>After the task</a:t>
            </a:r>
          </a:p>
          <a:p>
            <a:pPr marL="45720" indent="0">
              <a:buNone/>
            </a:pPr>
            <a:r>
              <a:rPr lang="x-none" dirty="0" smtClean="0"/>
              <a:t> </a:t>
            </a:r>
            <a:endParaRPr lang="x-none" dirty="0"/>
          </a:p>
          <a:p>
            <a:r>
              <a:rPr lang="x-none" dirty="0"/>
              <a:t>Attribution Questions</a:t>
            </a:r>
          </a:p>
          <a:p>
            <a:pPr marL="45720" indent="0">
              <a:buNone/>
            </a:pPr>
            <a:endParaRPr lang="en-GB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</a:t>
            </a:r>
            <a:r>
              <a:rPr lang="en-GB" dirty="0" err="1" smtClean="0"/>
              <a:t>Attunement</a:t>
            </a:r>
            <a:r>
              <a:rPr lang="en-GB" dirty="0" smtClean="0"/>
              <a:t> Strategy?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Team approach</a:t>
            </a:r>
          </a:p>
          <a:p>
            <a:pPr marL="45720" indent="0">
              <a:buNone/>
            </a:pPr>
            <a:r>
              <a:rPr lang="en-GB" sz="2800" dirty="0" smtClean="0"/>
              <a:t> </a:t>
            </a:r>
          </a:p>
          <a:p>
            <a:r>
              <a:rPr lang="en-GB" sz="2800" dirty="0" smtClean="0"/>
              <a:t>Video Recording</a:t>
            </a:r>
          </a:p>
          <a:p>
            <a:pPr marL="45720" indent="0">
              <a:buNone/>
            </a:pPr>
            <a:endParaRPr lang="en-GB" sz="2800" dirty="0" smtClean="0"/>
          </a:p>
          <a:p>
            <a:endParaRPr lang="en-GB" dirty="0"/>
          </a:p>
          <a:p>
            <a:pPr>
              <a:buFontTx/>
              <a:buNone/>
            </a:pPr>
            <a:r>
              <a:rPr lang="en-GB" dirty="0"/>
              <a:t>    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the Strategy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lnSpc>
                <a:spcPct val="90000"/>
              </a:lnSpc>
              <a:buNone/>
            </a:pPr>
            <a:endParaRPr lang="en-GB" sz="28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GB" sz="2800" dirty="0">
                <a:latin typeface="Times New Roman"/>
                <a:cs typeface="Times New Roman"/>
              </a:rPr>
              <a:t>Improve teacher one to one </a:t>
            </a:r>
            <a:r>
              <a:rPr lang="en-GB" sz="2800" dirty="0" smtClean="0">
                <a:latin typeface="Times New Roman"/>
                <a:cs typeface="Times New Roman"/>
              </a:rPr>
              <a:t>instruction</a:t>
            </a:r>
          </a:p>
          <a:p>
            <a:pPr marL="45720" indent="0">
              <a:lnSpc>
                <a:spcPct val="90000"/>
              </a:lnSpc>
              <a:buNone/>
            </a:pPr>
            <a:endParaRPr lang="en-GB" sz="28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GB" sz="2800" dirty="0">
                <a:latin typeface="Times New Roman"/>
                <a:cs typeface="Times New Roman"/>
              </a:rPr>
              <a:t>Teachers asked more questions </a:t>
            </a:r>
            <a:endParaRPr lang="en-GB" sz="2800" dirty="0" smtClean="0">
              <a:latin typeface="Times New Roman"/>
              <a:cs typeface="Times New Roman"/>
            </a:endParaRPr>
          </a:p>
          <a:p>
            <a:pPr marL="45720" indent="0">
              <a:lnSpc>
                <a:spcPct val="90000"/>
              </a:lnSpc>
              <a:buNone/>
            </a:pPr>
            <a:endParaRPr lang="en-GB" sz="28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GB" sz="2800" dirty="0" smtClean="0">
                <a:latin typeface="Times New Roman"/>
                <a:cs typeface="Times New Roman"/>
              </a:rPr>
              <a:t>Change in </a:t>
            </a:r>
            <a:r>
              <a:rPr lang="en-GB" sz="2800" dirty="0">
                <a:latin typeface="Times New Roman"/>
                <a:cs typeface="Times New Roman"/>
              </a:rPr>
              <a:t>instruction geared toward explanation and evaluation </a:t>
            </a:r>
            <a:endParaRPr lang="en-GB" sz="2800" dirty="0" smtClean="0">
              <a:latin typeface="Times New Roman"/>
              <a:cs typeface="Times New Roman"/>
            </a:endParaRP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Teacher- Pros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/>
                <a:cs typeface="Times New Roman"/>
              </a:rPr>
              <a:t>Time Consuming</a:t>
            </a:r>
          </a:p>
          <a:p>
            <a:endParaRPr lang="en-US" sz="3200" dirty="0" smtClean="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  <a:p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Teacher- Cons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cs typeface="Times New Roman" charset="0"/>
              </a:rPr>
              <a:t>    Pros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cs typeface="Times New Roman" charset="0"/>
              </a:rPr>
              <a:t>Improvements seen after just three weeks</a:t>
            </a:r>
          </a:p>
          <a:p>
            <a:pPr marL="45720" indent="0">
              <a:lnSpc>
                <a:spcPct val="90000"/>
              </a:lnSpc>
              <a:buNone/>
            </a:pPr>
            <a:endParaRPr lang="en-US" dirty="0" smtClean="0">
              <a:cs typeface="Times New Roman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cs typeface="Times New Roman" charset="0"/>
              </a:rPr>
              <a:t>10-20% </a:t>
            </a:r>
            <a:r>
              <a:rPr lang="en-US" dirty="0">
                <a:cs typeface="Times New Roman" charset="0"/>
              </a:rPr>
              <a:t>longer time on </a:t>
            </a:r>
            <a:r>
              <a:rPr lang="en-US" dirty="0" smtClean="0">
                <a:cs typeface="Times New Roman" charset="0"/>
              </a:rPr>
              <a:t>task</a:t>
            </a:r>
          </a:p>
          <a:p>
            <a:pPr marL="45720" indent="0">
              <a:lnSpc>
                <a:spcPct val="90000"/>
              </a:lnSpc>
              <a:buNone/>
            </a:pPr>
            <a:endParaRPr lang="en-US" dirty="0">
              <a:cs typeface="Times New Roman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cs typeface="Times New Roman" charset="0"/>
              </a:rPr>
              <a:t>Teachers</a:t>
            </a:r>
            <a:r>
              <a:rPr lang="ja-JP" altLang="en-GB" dirty="0">
                <a:latin typeface="Arial"/>
                <a:cs typeface="Times New Roman" charset="0"/>
              </a:rPr>
              <a:t>’</a:t>
            </a:r>
            <a:r>
              <a:rPr lang="en-GB" dirty="0">
                <a:cs typeface="Times New Roman" charset="0"/>
              </a:rPr>
              <a:t> report improvement in quantity and quality of a student</a:t>
            </a:r>
            <a:r>
              <a:rPr lang="ja-JP" altLang="en-GB" dirty="0">
                <a:latin typeface="Arial"/>
                <a:cs typeface="Times New Roman" charset="0"/>
              </a:rPr>
              <a:t>’</a:t>
            </a:r>
            <a:r>
              <a:rPr lang="en-GB" dirty="0">
                <a:cs typeface="Times New Roman" charset="0"/>
              </a:rPr>
              <a:t>s </a:t>
            </a:r>
            <a:r>
              <a:rPr lang="en-GB" dirty="0" smtClean="0">
                <a:cs typeface="Times New Roman" charset="0"/>
              </a:rPr>
              <a:t>work </a:t>
            </a:r>
            <a:endParaRPr lang="en-GB" dirty="0">
              <a:cs typeface="Times New Roman" charset="0"/>
            </a:endParaRPr>
          </a:p>
          <a:p>
            <a:pPr marL="45720" indent="0">
              <a:lnSpc>
                <a:spcPct val="90000"/>
              </a:lnSpc>
              <a:buNone/>
            </a:pPr>
            <a:endParaRPr lang="en-GB" dirty="0" smtClean="0">
              <a:cs typeface="Times New Roman" charset="0"/>
            </a:endParaRPr>
          </a:p>
          <a:p>
            <a:pPr>
              <a:lnSpc>
                <a:spcPct val="90000"/>
              </a:lnSpc>
            </a:pPr>
            <a:r>
              <a:rPr lang="en-GB" dirty="0">
                <a:cs typeface="Times New Roman" charset="0"/>
              </a:rPr>
              <a:t>P</a:t>
            </a:r>
            <a:r>
              <a:rPr lang="en-GB" dirty="0" smtClean="0">
                <a:cs typeface="Times New Roman" charset="0"/>
              </a:rPr>
              <a:t>ositive </a:t>
            </a:r>
            <a:r>
              <a:rPr lang="en-GB" dirty="0">
                <a:cs typeface="Times New Roman" charset="0"/>
              </a:rPr>
              <a:t>change </a:t>
            </a:r>
            <a:r>
              <a:rPr lang="en-GB" dirty="0" smtClean="0">
                <a:cs typeface="Times New Roman" charset="0"/>
              </a:rPr>
              <a:t>in student </a:t>
            </a:r>
            <a:r>
              <a:rPr lang="en-GB" dirty="0">
                <a:cs typeface="Times New Roman" charset="0"/>
              </a:rPr>
              <a:t>attitude toward their work </a:t>
            </a:r>
            <a:endParaRPr lang="en-GB" dirty="0" smtClean="0">
              <a:cs typeface="Times New Roman" charset="0"/>
            </a:endParaRPr>
          </a:p>
          <a:p>
            <a:pPr marL="45720" indent="0">
              <a:lnSpc>
                <a:spcPct val="90000"/>
              </a:lnSpc>
              <a:buNone/>
            </a:pPr>
            <a:endParaRPr lang="en-US" dirty="0">
              <a:cs typeface="Times New Roman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cs typeface="Times New Roman" charset="0"/>
              </a:rPr>
              <a:t>The intervention worked quicker the younger the student.</a:t>
            </a:r>
            <a:r>
              <a:rPr lang="en-GB" dirty="0"/>
              <a:t> </a:t>
            </a:r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Student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dirty="0"/>
              <a:t>   Cons</a:t>
            </a:r>
          </a:p>
          <a:p>
            <a:r>
              <a:rPr lang="en-GB" dirty="0"/>
              <a:t>Most benefit for students with least off task </a:t>
            </a:r>
            <a:r>
              <a:rPr lang="en-GB" dirty="0" smtClean="0"/>
              <a:t>behaviour</a:t>
            </a:r>
          </a:p>
          <a:p>
            <a:endParaRPr lang="en-GB" dirty="0"/>
          </a:p>
          <a:p>
            <a:r>
              <a:rPr lang="en-GB" dirty="0" smtClean="0"/>
              <a:t>Students voice missing from the studies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Student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Student on-task </a:t>
            </a:r>
            <a:r>
              <a:rPr lang="en-US" dirty="0" err="1" smtClean="0"/>
              <a:t>behaviour</a:t>
            </a:r>
            <a:r>
              <a:rPr lang="en-US" dirty="0" smtClean="0"/>
              <a:t> increase achieved </a:t>
            </a:r>
            <a:r>
              <a:rPr lang="en-US" dirty="0"/>
              <a:t>in just three weeks</a:t>
            </a:r>
            <a:endParaRPr lang="en-US" dirty="0" smtClean="0"/>
          </a:p>
          <a:p>
            <a:r>
              <a:rPr lang="en-US" dirty="0" smtClean="0"/>
              <a:t>Studies carried out were large scale</a:t>
            </a:r>
          </a:p>
          <a:p>
            <a:r>
              <a:rPr lang="en-US" dirty="0" smtClean="0"/>
              <a:t>Triangulation of data collected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Evidence Base Positives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>
                <a:latin typeface="Times New Roman"/>
                <a:cs typeface="Times New Roman"/>
              </a:rPr>
              <a:t>Evidence base from Van </a:t>
            </a:r>
            <a:r>
              <a:rPr lang="en-GB" sz="2800" dirty="0" err="1" smtClean="0">
                <a:latin typeface="Times New Roman"/>
                <a:cs typeface="Times New Roman"/>
              </a:rPr>
              <a:t>Werkhoven</a:t>
            </a:r>
            <a:r>
              <a:rPr lang="en-GB" sz="2800" dirty="0" smtClean="0">
                <a:latin typeface="Times New Roman"/>
                <a:cs typeface="Times New Roman"/>
              </a:rPr>
              <a:t> and colleagues</a:t>
            </a:r>
          </a:p>
          <a:p>
            <a:r>
              <a:rPr lang="en-GB" sz="2800" dirty="0" smtClean="0">
                <a:latin typeface="Times New Roman"/>
                <a:cs typeface="Times New Roman"/>
              </a:rPr>
              <a:t>Lacks </a:t>
            </a:r>
            <a:r>
              <a:rPr lang="en-GB" sz="2800" dirty="0">
                <a:latin typeface="Times New Roman"/>
                <a:cs typeface="Times New Roman"/>
              </a:rPr>
              <a:t>students voice</a:t>
            </a:r>
          </a:p>
          <a:p>
            <a:r>
              <a:rPr lang="en-GB" sz="2800" dirty="0" smtClean="0">
                <a:latin typeface="Times New Roman"/>
                <a:cs typeface="Times New Roman"/>
              </a:rPr>
              <a:t>Need for </a:t>
            </a:r>
            <a:r>
              <a:rPr lang="en-GB" sz="2800" dirty="0">
                <a:latin typeface="Times New Roman"/>
                <a:cs typeface="Times New Roman"/>
              </a:rPr>
              <a:t>long term </a:t>
            </a:r>
            <a:r>
              <a:rPr lang="en-GB" sz="2800" dirty="0" smtClean="0">
                <a:latin typeface="Times New Roman"/>
                <a:cs typeface="Times New Roman"/>
              </a:rPr>
              <a:t>study of impact</a:t>
            </a:r>
          </a:p>
          <a:p>
            <a:r>
              <a:rPr lang="en-GB" sz="2800" dirty="0" smtClean="0">
                <a:latin typeface="Times New Roman"/>
                <a:cs typeface="Times New Roman"/>
              </a:rPr>
              <a:t>Less beneficial for those students that need the support</a:t>
            </a:r>
          </a:p>
          <a:p>
            <a:r>
              <a:rPr lang="en-GB" sz="2800" dirty="0" smtClean="0">
                <a:latin typeface="Times New Roman"/>
                <a:cs typeface="Times New Roman"/>
              </a:rPr>
              <a:t>Need for more cross cultural/socio-economic studies</a:t>
            </a:r>
            <a:endParaRPr lang="en-GB" sz="2800" dirty="0">
              <a:latin typeface="Times New Roman"/>
              <a:cs typeface="Times New Roman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Evidence Base Negatives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</a:t>
            </a:r>
            <a:r>
              <a:rPr lang="en-US" dirty="0"/>
              <a:t>o</a:t>
            </a:r>
            <a:r>
              <a:rPr lang="en-US" dirty="0" smtClean="0"/>
              <a:t>uld I recommend it?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70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Times New Roman"/>
                <a:cs typeface="Times New Roman"/>
              </a:rPr>
              <a:t>Supervise implementation of intervention</a:t>
            </a:r>
          </a:p>
          <a:p>
            <a:endParaRPr lang="en-US" sz="2800" dirty="0">
              <a:latin typeface="Times New Roman"/>
              <a:cs typeface="Times New Roman"/>
            </a:endParaRPr>
          </a:p>
          <a:p>
            <a:r>
              <a:rPr lang="en-US" sz="2800" dirty="0" smtClean="0">
                <a:latin typeface="Times New Roman"/>
                <a:cs typeface="Times New Roman"/>
              </a:rPr>
              <a:t>TA training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Ep</a:t>
            </a:r>
            <a:r>
              <a:rPr lang="en-US" dirty="0" smtClean="0"/>
              <a:t> </a:t>
            </a:r>
            <a:r>
              <a:rPr lang="en-US" dirty="0" err="1" smtClean="0"/>
              <a:t>rOLE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112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x-none" dirty="0"/>
              <a:t>Ryan, R. M., &amp; Deci, E. L. (2000). Self-determination theory and the facilitation of intrinsic motivation, social development, and well-being. </a:t>
            </a:r>
            <a:r>
              <a:rPr lang="x-none" i="1" dirty="0"/>
              <a:t>The American Psychologist</a:t>
            </a:r>
            <a:r>
              <a:rPr lang="x-none" dirty="0"/>
              <a:t>, </a:t>
            </a:r>
            <a:r>
              <a:rPr lang="x-none" i="1" dirty="0"/>
              <a:t>55</a:t>
            </a:r>
            <a:r>
              <a:rPr lang="x-none" dirty="0"/>
              <a:t>(1), 68–78. doi:10.1037/0003-066X.55.1.68</a:t>
            </a:r>
          </a:p>
          <a:p>
            <a:r>
              <a:rPr lang="en-GB" dirty="0"/>
              <a:t>Stevens, L., Van </a:t>
            </a:r>
            <a:r>
              <a:rPr lang="en-GB" dirty="0" err="1"/>
              <a:t>Werkhoven</a:t>
            </a:r>
            <a:r>
              <a:rPr lang="en-GB" dirty="0"/>
              <a:t>, W., </a:t>
            </a:r>
            <a:r>
              <a:rPr lang="en-GB" dirty="0" err="1"/>
              <a:t>Stokking</a:t>
            </a:r>
            <a:r>
              <a:rPr lang="en-GB" dirty="0"/>
              <a:t>, K., </a:t>
            </a:r>
            <a:r>
              <a:rPr lang="en-GB" dirty="0" err="1"/>
              <a:t>Castelijns</a:t>
            </a:r>
            <a:r>
              <a:rPr lang="en-GB" dirty="0"/>
              <a:t>, J., &amp; </a:t>
            </a:r>
            <a:r>
              <a:rPr lang="en-GB" dirty="0" err="1"/>
              <a:t>Jager</a:t>
            </a:r>
            <a:r>
              <a:rPr lang="en-GB" dirty="0"/>
              <a:t>, A. (2001). Interactive instruction to prevent attention problems in class. </a:t>
            </a:r>
            <a:r>
              <a:rPr lang="en-GB" i="1" dirty="0"/>
              <a:t>Learning Environments Research, 3</a:t>
            </a:r>
            <a:r>
              <a:rPr lang="en-GB" dirty="0"/>
              <a:t>, 265-286.</a:t>
            </a:r>
            <a:endParaRPr lang="x-none" dirty="0"/>
          </a:p>
          <a:p>
            <a:r>
              <a:rPr lang="en-US" dirty="0" err="1" smtClean="0"/>
              <a:t>Torgesen</a:t>
            </a:r>
            <a:r>
              <a:rPr lang="en-US" dirty="0"/>
              <a:t>, J.K. (1977). </a:t>
            </a:r>
            <a:r>
              <a:rPr lang="en-US" dirty="0" smtClean="0"/>
              <a:t>The </a:t>
            </a:r>
            <a:r>
              <a:rPr lang="en-US" dirty="0"/>
              <a:t>Role of Non-specific Factors in the Task Performance of Learning Disabled Children: A Theoretical Assessment</a:t>
            </a:r>
            <a:r>
              <a:rPr lang="en-US" dirty="0" smtClean="0"/>
              <a:t>. </a:t>
            </a:r>
            <a:r>
              <a:rPr lang="en-US" i="1" dirty="0"/>
              <a:t>Journal of Learning Disabilities</a:t>
            </a:r>
            <a:r>
              <a:rPr lang="en-US" dirty="0"/>
              <a:t> 10, 27-34.</a:t>
            </a:r>
            <a:endParaRPr lang="x-none" dirty="0"/>
          </a:p>
          <a:p>
            <a:r>
              <a:rPr lang="en-US" dirty="0" smtClean="0"/>
              <a:t>Weiner</a:t>
            </a:r>
            <a:r>
              <a:rPr lang="en-US" dirty="0"/>
              <a:t>, B. (1985). An </a:t>
            </a:r>
            <a:r>
              <a:rPr lang="en-US" dirty="0" err="1"/>
              <a:t>attributional</a:t>
            </a:r>
            <a:r>
              <a:rPr lang="en-US" dirty="0"/>
              <a:t> theory of achievement motivation and emotion. </a:t>
            </a:r>
            <a:r>
              <a:rPr lang="en-US" i="1" dirty="0"/>
              <a:t>Psychological Review, 92</a:t>
            </a:r>
            <a:r>
              <a:rPr lang="en-US" dirty="0"/>
              <a:t>(4), 548-573.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5483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 Attunement Strategy presentation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Grid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 Attunement Strategy presentation.potx</Template>
  <TotalTime>1437</TotalTime>
  <Words>1418</Words>
  <Application>Microsoft Macintosh PowerPoint</Application>
  <PresentationFormat>On-screen Show (4:3)</PresentationFormat>
  <Paragraphs>216</Paragraphs>
  <Slides>18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 Attunement Strategy presentation</vt:lpstr>
      <vt:lpstr>The Attunement Strategy</vt:lpstr>
      <vt:lpstr>A Motivational Model</vt:lpstr>
      <vt:lpstr>Motivational Cycles in Education</vt:lpstr>
      <vt:lpstr>Aims of Attunement Strategy</vt:lpstr>
      <vt:lpstr>Theory </vt:lpstr>
      <vt:lpstr>Self-Determination Theory (Ryan &amp; Deci, 2000)</vt:lpstr>
      <vt:lpstr>Attribution Theory </vt:lpstr>
      <vt:lpstr>What is Attunement Strategy?</vt:lpstr>
      <vt:lpstr>Implementing the Strategy</vt:lpstr>
      <vt:lpstr>Teacher- Pros </vt:lpstr>
      <vt:lpstr>Teacher- Cons</vt:lpstr>
      <vt:lpstr>The Student</vt:lpstr>
      <vt:lpstr>The Student</vt:lpstr>
      <vt:lpstr>Evidence Base Positives</vt:lpstr>
      <vt:lpstr>Evidence Base Negatives</vt:lpstr>
      <vt:lpstr>Would I recommend it?</vt:lpstr>
      <vt:lpstr>Ep rOLE</vt:lpstr>
      <vt:lpstr>References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Attunement Strategy</dc:title>
  <dc:creator>Patrick Mahon</dc:creator>
  <cp:lastModifiedBy>Patrick</cp:lastModifiedBy>
  <cp:revision>35</cp:revision>
  <dcterms:created xsi:type="dcterms:W3CDTF">2014-11-22T12:09:44Z</dcterms:created>
  <dcterms:modified xsi:type="dcterms:W3CDTF">2014-12-16T17:58:16Z</dcterms:modified>
</cp:coreProperties>
</file>