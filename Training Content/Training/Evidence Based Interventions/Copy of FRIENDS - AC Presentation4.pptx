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89" r:id="rId3"/>
    <p:sldId id="257" r:id="rId4"/>
    <p:sldId id="269" r:id="rId5"/>
    <p:sldId id="258" r:id="rId6"/>
    <p:sldId id="259" r:id="rId7"/>
    <p:sldId id="277" r:id="rId8"/>
    <p:sldId id="282" r:id="rId9"/>
    <p:sldId id="300" r:id="rId10"/>
    <p:sldId id="278" r:id="rId11"/>
    <p:sldId id="279" r:id="rId12"/>
    <p:sldId id="294" r:id="rId13"/>
    <p:sldId id="262" r:id="rId14"/>
    <p:sldId id="297" r:id="rId15"/>
    <p:sldId id="295" r:id="rId16"/>
    <p:sldId id="301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D60093"/>
    <a:srgbClr val="7DB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434" autoAdjust="0"/>
  </p:normalViewPr>
  <p:slideViewPr>
    <p:cSldViewPr snapToGrid="0">
      <p:cViewPr>
        <p:scale>
          <a:sx n="80" d="100"/>
          <a:sy n="80" d="100"/>
        </p:scale>
        <p:origin x="936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DCF0CB-BC96-46D8-99EE-665D6685ACFC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27A7ACDB-001C-46C8-AF27-3325B86E60A4}">
      <dgm:prSet phldrT="[Text]"/>
      <dgm:spPr>
        <a:solidFill>
          <a:srgbClr val="FF6600"/>
        </a:solidFill>
      </dgm:spPr>
      <dgm:t>
        <a:bodyPr/>
        <a:lstStyle/>
        <a:p>
          <a:r>
            <a:rPr lang="en-GB" dirty="0" smtClean="0"/>
            <a:t>Treatment programmes </a:t>
          </a:r>
          <a:endParaRPr lang="en-GB" dirty="0"/>
        </a:p>
      </dgm:t>
    </dgm:pt>
    <dgm:pt modelId="{875413AC-F09D-49D6-A679-DAE0EFFF8000}" type="parTrans" cxnId="{A74F5B90-2424-46AE-A897-4E2818041A23}">
      <dgm:prSet/>
      <dgm:spPr/>
      <dgm:t>
        <a:bodyPr/>
        <a:lstStyle/>
        <a:p>
          <a:endParaRPr lang="en-GB"/>
        </a:p>
      </dgm:t>
    </dgm:pt>
    <dgm:pt modelId="{ED6379FB-E070-4CB8-90F7-001F7B613262}" type="sibTrans" cxnId="{A74F5B90-2424-46AE-A897-4E2818041A23}">
      <dgm:prSet/>
      <dgm:spPr/>
      <dgm:t>
        <a:bodyPr/>
        <a:lstStyle/>
        <a:p>
          <a:endParaRPr lang="en-GB"/>
        </a:p>
      </dgm:t>
    </dgm:pt>
    <dgm:pt modelId="{CFCF33E4-6D58-431D-94A1-3CE2039C4F90}">
      <dgm:prSet phldrT="[Text]"/>
      <dgm:spPr/>
      <dgm:t>
        <a:bodyPr/>
        <a:lstStyle/>
        <a:p>
          <a:r>
            <a:rPr lang="en-GB" dirty="0" smtClean="0"/>
            <a:t>Selective </a:t>
          </a:r>
          <a:r>
            <a:rPr lang="en-GB" dirty="0" smtClean="0"/>
            <a:t>programmes</a:t>
          </a:r>
          <a:endParaRPr lang="en-GB" dirty="0"/>
        </a:p>
      </dgm:t>
    </dgm:pt>
    <dgm:pt modelId="{F8537333-76D1-4C5A-8195-9546BD892C9A}" type="parTrans" cxnId="{E5C0B76D-8FE3-4890-A13B-62CA8249D0A7}">
      <dgm:prSet/>
      <dgm:spPr/>
      <dgm:t>
        <a:bodyPr/>
        <a:lstStyle/>
        <a:p>
          <a:endParaRPr lang="en-GB"/>
        </a:p>
      </dgm:t>
    </dgm:pt>
    <dgm:pt modelId="{7CD32EF7-A397-4851-A67E-7654A21E1781}" type="sibTrans" cxnId="{E5C0B76D-8FE3-4890-A13B-62CA8249D0A7}">
      <dgm:prSet/>
      <dgm:spPr/>
      <dgm:t>
        <a:bodyPr/>
        <a:lstStyle/>
        <a:p>
          <a:endParaRPr lang="en-GB"/>
        </a:p>
      </dgm:t>
    </dgm:pt>
    <dgm:pt modelId="{B1EAC96F-D596-4A3D-B6A0-9C923614DB50}">
      <dgm:prSet phldrT="[Text]"/>
      <dgm:spPr>
        <a:solidFill>
          <a:srgbClr val="92D050"/>
        </a:solidFill>
      </dgm:spPr>
      <dgm:t>
        <a:bodyPr/>
        <a:lstStyle/>
        <a:p>
          <a:r>
            <a:rPr lang="en-GB" dirty="0" smtClean="0"/>
            <a:t>Universal </a:t>
          </a:r>
          <a:r>
            <a:rPr lang="en-GB" dirty="0" smtClean="0"/>
            <a:t>programmes</a:t>
          </a:r>
        </a:p>
      </dgm:t>
    </dgm:pt>
    <dgm:pt modelId="{97D0590B-C865-43FF-B4FA-E2BA474B9777}" type="parTrans" cxnId="{264D8201-95C1-417A-AFE7-25DDD4613E51}">
      <dgm:prSet/>
      <dgm:spPr/>
      <dgm:t>
        <a:bodyPr/>
        <a:lstStyle/>
        <a:p>
          <a:endParaRPr lang="en-GB"/>
        </a:p>
      </dgm:t>
    </dgm:pt>
    <dgm:pt modelId="{DC2E6A94-439F-461F-AF57-ABC50B45F1EF}" type="sibTrans" cxnId="{264D8201-95C1-417A-AFE7-25DDD4613E51}">
      <dgm:prSet/>
      <dgm:spPr/>
      <dgm:t>
        <a:bodyPr/>
        <a:lstStyle/>
        <a:p>
          <a:endParaRPr lang="en-GB"/>
        </a:p>
      </dgm:t>
    </dgm:pt>
    <dgm:pt modelId="{CA09B5EA-6F81-4972-90E4-A78B2A4E8EE9}" type="pres">
      <dgm:prSet presAssocID="{DFDCF0CB-BC96-46D8-99EE-665D6685ACFC}" presName="Name0" presStyleCnt="0">
        <dgm:presLayoutVars>
          <dgm:dir/>
          <dgm:animLvl val="lvl"/>
          <dgm:resizeHandles val="exact"/>
        </dgm:presLayoutVars>
      </dgm:prSet>
      <dgm:spPr/>
    </dgm:pt>
    <dgm:pt modelId="{4CAE315B-03DC-494B-A5C0-A9F529EFF18E}" type="pres">
      <dgm:prSet presAssocID="{27A7ACDB-001C-46C8-AF27-3325B86E60A4}" presName="Name8" presStyleCnt="0"/>
      <dgm:spPr/>
    </dgm:pt>
    <dgm:pt modelId="{FD589FEE-04FC-4B12-B6E6-22AF00381E4A}" type="pres">
      <dgm:prSet presAssocID="{27A7ACDB-001C-46C8-AF27-3325B86E60A4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2DBA1B6-9E53-424A-B3B9-311CEC0DA5A8}" type="pres">
      <dgm:prSet presAssocID="{27A7ACDB-001C-46C8-AF27-3325B86E60A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8E7E18D-5B04-45EF-85EC-52D546F9B0C2}" type="pres">
      <dgm:prSet presAssocID="{CFCF33E4-6D58-431D-94A1-3CE2039C4F90}" presName="Name8" presStyleCnt="0"/>
      <dgm:spPr/>
    </dgm:pt>
    <dgm:pt modelId="{3AA92025-D5E1-4B4E-8C5F-A3293A665C48}" type="pres">
      <dgm:prSet presAssocID="{CFCF33E4-6D58-431D-94A1-3CE2039C4F90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E9CC438-E28F-4F41-99C6-492676DD3934}" type="pres">
      <dgm:prSet presAssocID="{CFCF33E4-6D58-431D-94A1-3CE2039C4F9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F306778-8FEB-419E-9497-BD76688E8133}" type="pres">
      <dgm:prSet presAssocID="{B1EAC96F-D596-4A3D-B6A0-9C923614DB50}" presName="Name8" presStyleCnt="0"/>
      <dgm:spPr/>
    </dgm:pt>
    <dgm:pt modelId="{6DB2F5E8-7700-4AF0-9798-167576690F88}" type="pres">
      <dgm:prSet presAssocID="{B1EAC96F-D596-4A3D-B6A0-9C923614DB50}" presName="level" presStyleLbl="node1" presStyleIdx="2" presStyleCnt="3" custLinFactNeighborX="213" custLinFactNeighborY="-908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71C77BF-D387-4A18-9804-132E17144393}" type="pres">
      <dgm:prSet presAssocID="{B1EAC96F-D596-4A3D-B6A0-9C923614DB5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32DB040-0A9B-43D7-86DE-A7F4ABB83FBD}" type="presOf" srcId="{DFDCF0CB-BC96-46D8-99EE-665D6685ACFC}" destId="{CA09B5EA-6F81-4972-90E4-A78B2A4E8EE9}" srcOrd="0" destOrd="0" presId="urn:microsoft.com/office/officeart/2005/8/layout/pyramid1"/>
    <dgm:cxn modelId="{264D8201-95C1-417A-AFE7-25DDD4613E51}" srcId="{DFDCF0CB-BC96-46D8-99EE-665D6685ACFC}" destId="{B1EAC96F-D596-4A3D-B6A0-9C923614DB50}" srcOrd="2" destOrd="0" parTransId="{97D0590B-C865-43FF-B4FA-E2BA474B9777}" sibTransId="{DC2E6A94-439F-461F-AF57-ABC50B45F1EF}"/>
    <dgm:cxn modelId="{FEE983A3-6FE2-42AC-A1DB-87193E0AE1AC}" type="presOf" srcId="{B1EAC96F-D596-4A3D-B6A0-9C923614DB50}" destId="{6DB2F5E8-7700-4AF0-9798-167576690F88}" srcOrd="0" destOrd="0" presId="urn:microsoft.com/office/officeart/2005/8/layout/pyramid1"/>
    <dgm:cxn modelId="{EE489678-B24D-4370-81C6-E985B5A2BADD}" type="presOf" srcId="{27A7ACDB-001C-46C8-AF27-3325B86E60A4}" destId="{FD589FEE-04FC-4B12-B6E6-22AF00381E4A}" srcOrd="0" destOrd="0" presId="urn:microsoft.com/office/officeart/2005/8/layout/pyramid1"/>
    <dgm:cxn modelId="{3761FADB-43F5-4CE6-938D-BAC41EEEDA7A}" type="presOf" srcId="{27A7ACDB-001C-46C8-AF27-3325B86E60A4}" destId="{62DBA1B6-9E53-424A-B3B9-311CEC0DA5A8}" srcOrd="1" destOrd="0" presId="urn:microsoft.com/office/officeart/2005/8/layout/pyramid1"/>
    <dgm:cxn modelId="{E5C0B76D-8FE3-4890-A13B-62CA8249D0A7}" srcId="{DFDCF0CB-BC96-46D8-99EE-665D6685ACFC}" destId="{CFCF33E4-6D58-431D-94A1-3CE2039C4F90}" srcOrd="1" destOrd="0" parTransId="{F8537333-76D1-4C5A-8195-9546BD892C9A}" sibTransId="{7CD32EF7-A397-4851-A67E-7654A21E1781}"/>
    <dgm:cxn modelId="{A74F5B90-2424-46AE-A897-4E2818041A23}" srcId="{DFDCF0CB-BC96-46D8-99EE-665D6685ACFC}" destId="{27A7ACDB-001C-46C8-AF27-3325B86E60A4}" srcOrd="0" destOrd="0" parTransId="{875413AC-F09D-49D6-A679-DAE0EFFF8000}" sibTransId="{ED6379FB-E070-4CB8-90F7-001F7B613262}"/>
    <dgm:cxn modelId="{ABD01AE2-73A9-4792-8ECD-9E7076733144}" type="presOf" srcId="{B1EAC96F-D596-4A3D-B6A0-9C923614DB50}" destId="{A71C77BF-D387-4A18-9804-132E17144393}" srcOrd="1" destOrd="0" presId="urn:microsoft.com/office/officeart/2005/8/layout/pyramid1"/>
    <dgm:cxn modelId="{B830FFE8-FA77-46D1-9EB0-C0B8418A5DDC}" type="presOf" srcId="{CFCF33E4-6D58-431D-94A1-3CE2039C4F90}" destId="{5E9CC438-E28F-4F41-99C6-492676DD3934}" srcOrd="1" destOrd="0" presId="urn:microsoft.com/office/officeart/2005/8/layout/pyramid1"/>
    <dgm:cxn modelId="{C4D4FD62-8B59-46C2-BFED-5A688042B529}" type="presOf" srcId="{CFCF33E4-6D58-431D-94A1-3CE2039C4F90}" destId="{3AA92025-D5E1-4B4E-8C5F-A3293A665C48}" srcOrd="0" destOrd="0" presId="urn:microsoft.com/office/officeart/2005/8/layout/pyramid1"/>
    <dgm:cxn modelId="{C72EDE4E-C400-4A13-8F76-E291E343C775}" type="presParOf" srcId="{CA09B5EA-6F81-4972-90E4-A78B2A4E8EE9}" destId="{4CAE315B-03DC-494B-A5C0-A9F529EFF18E}" srcOrd="0" destOrd="0" presId="urn:microsoft.com/office/officeart/2005/8/layout/pyramid1"/>
    <dgm:cxn modelId="{6BF3F0EF-A6F4-48A9-AFB0-F73E0F665D2A}" type="presParOf" srcId="{4CAE315B-03DC-494B-A5C0-A9F529EFF18E}" destId="{FD589FEE-04FC-4B12-B6E6-22AF00381E4A}" srcOrd="0" destOrd="0" presId="urn:microsoft.com/office/officeart/2005/8/layout/pyramid1"/>
    <dgm:cxn modelId="{E3F59E39-989B-4B99-8AAE-BF70F825EE1B}" type="presParOf" srcId="{4CAE315B-03DC-494B-A5C0-A9F529EFF18E}" destId="{62DBA1B6-9E53-424A-B3B9-311CEC0DA5A8}" srcOrd="1" destOrd="0" presId="urn:microsoft.com/office/officeart/2005/8/layout/pyramid1"/>
    <dgm:cxn modelId="{F97E6DE3-08B0-467D-98A4-3F25898DA143}" type="presParOf" srcId="{CA09B5EA-6F81-4972-90E4-A78B2A4E8EE9}" destId="{98E7E18D-5B04-45EF-85EC-52D546F9B0C2}" srcOrd="1" destOrd="0" presId="urn:microsoft.com/office/officeart/2005/8/layout/pyramid1"/>
    <dgm:cxn modelId="{54566468-258B-48B6-B796-333D0E879936}" type="presParOf" srcId="{98E7E18D-5B04-45EF-85EC-52D546F9B0C2}" destId="{3AA92025-D5E1-4B4E-8C5F-A3293A665C48}" srcOrd="0" destOrd="0" presId="urn:microsoft.com/office/officeart/2005/8/layout/pyramid1"/>
    <dgm:cxn modelId="{FFCD0E42-F3E8-483A-984F-2CD535D0EB42}" type="presParOf" srcId="{98E7E18D-5B04-45EF-85EC-52D546F9B0C2}" destId="{5E9CC438-E28F-4F41-99C6-492676DD3934}" srcOrd="1" destOrd="0" presId="urn:microsoft.com/office/officeart/2005/8/layout/pyramid1"/>
    <dgm:cxn modelId="{43696B7C-97A5-4C4E-83F4-F0B792C67539}" type="presParOf" srcId="{CA09B5EA-6F81-4972-90E4-A78B2A4E8EE9}" destId="{AF306778-8FEB-419E-9497-BD76688E8133}" srcOrd="2" destOrd="0" presId="urn:microsoft.com/office/officeart/2005/8/layout/pyramid1"/>
    <dgm:cxn modelId="{E9E8E576-B657-4ED8-A472-085CA28A64E5}" type="presParOf" srcId="{AF306778-8FEB-419E-9497-BD76688E8133}" destId="{6DB2F5E8-7700-4AF0-9798-167576690F88}" srcOrd="0" destOrd="0" presId="urn:microsoft.com/office/officeart/2005/8/layout/pyramid1"/>
    <dgm:cxn modelId="{731F50A2-40BD-4341-84FB-C9417315D7F9}" type="presParOf" srcId="{AF306778-8FEB-419E-9497-BD76688E8133}" destId="{A71C77BF-D387-4A18-9804-132E17144393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89FEE-04FC-4B12-B6E6-22AF00381E4A}">
      <dsp:nvSpPr>
        <dsp:cNvPr id="0" name=""/>
        <dsp:cNvSpPr/>
      </dsp:nvSpPr>
      <dsp:spPr>
        <a:xfrm>
          <a:off x="2107826" y="0"/>
          <a:ext cx="2107826" cy="1480389"/>
        </a:xfrm>
        <a:prstGeom prst="trapezoid">
          <a:avLst>
            <a:gd name="adj" fmla="val 71192"/>
          </a:avLst>
        </a:prstGeom>
        <a:solidFill>
          <a:srgbClr val="FF66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 smtClean="0"/>
            <a:t>Treatment programmes </a:t>
          </a:r>
          <a:endParaRPr lang="en-GB" sz="3100" kern="1200" dirty="0"/>
        </a:p>
      </dsp:txBody>
      <dsp:txXfrm>
        <a:off x="2107826" y="0"/>
        <a:ext cx="2107826" cy="1480389"/>
      </dsp:txXfrm>
    </dsp:sp>
    <dsp:sp modelId="{3AA92025-D5E1-4B4E-8C5F-A3293A665C48}">
      <dsp:nvSpPr>
        <dsp:cNvPr id="0" name=""/>
        <dsp:cNvSpPr/>
      </dsp:nvSpPr>
      <dsp:spPr>
        <a:xfrm>
          <a:off x="1053913" y="1480389"/>
          <a:ext cx="4215652" cy="1480389"/>
        </a:xfrm>
        <a:prstGeom prst="trapezoid">
          <a:avLst>
            <a:gd name="adj" fmla="val 711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 smtClean="0"/>
            <a:t>Selective </a:t>
          </a:r>
          <a:r>
            <a:rPr lang="en-GB" sz="3100" kern="1200" dirty="0" smtClean="0"/>
            <a:t>programmes</a:t>
          </a:r>
          <a:endParaRPr lang="en-GB" sz="3100" kern="1200" dirty="0"/>
        </a:p>
      </dsp:txBody>
      <dsp:txXfrm>
        <a:off x="1791652" y="1480389"/>
        <a:ext cx="2740174" cy="1480389"/>
      </dsp:txXfrm>
    </dsp:sp>
    <dsp:sp modelId="{6DB2F5E8-7700-4AF0-9798-167576690F88}">
      <dsp:nvSpPr>
        <dsp:cNvPr id="0" name=""/>
        <dsp:cNvSpPr/>
      </dsp:nvSpPr>
      <dsp:spPr>
        <a:xfrm>
          <a:off x="0" y="2947338"/>
          <a:ext cx="6323478" cy="1480389"/>
        </a:xfrm>
        <a:prstGeom prst="trapezoid">
          <a:avLst>
            <a:gd name="adj" fmla="val 71192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 smtClean="0"/>
            <a:t>Universal </a:t>
          </a:r>
          <a:r>
            <a:rPr lang="en-GB" sz="3100" kern="1200" dirty="0" smtClean="0"/>
            <a:t>programmes</a:t>
          </a:r>
        </a:p>
      </dsp:txBody>
      <dsp:txXfrm>
        <a:off x="1106608" y="2947338"/>
        <a:ext cx="4110261" cy="14803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55E73-86CC-4F27-ADAC-7CA04E69E4F9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AEDB5-AB67-4BF1-AAE2-E228C916E3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18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044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0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84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43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04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425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219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576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Unit of random </a:t>
            </a:r>
            <a:r>
              <a:rPr lang="en-GB" dirty="0" err="1" smtClean="0"/>
              <a:t>assisnment</a:t>
            </a:r>
            <a:r>
              <a:rPr lang="en-GB" dirty="0" smtClean="0"/>
              <a:t> vs unit of </a:t>
            </a:r>
            <a:r>
              <a:rPr lang="en-GB" dirty="0" err="1" smtClean="0"/>
              <a:t>analysos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AEDB5-AB67-4BF1-AAE2-E228C916E32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63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28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89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23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3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54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25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03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03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73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39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7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ABF6D-6787-434F-9FEE-3320C898F427}" type="datetimeFigureOut">
              <a:rPr lang="en-GB" smtClean="0"/>
              <a:t>21/05/2015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F219A-13C9-4EAF-A0AA-27185B6F1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3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957" y="3526571"/>
            <a:ext cx="7772400" cy="2387600"/>
          </a:xfrm>
        </p:spPr>
        <p:txBody>
          <a:bodyPr>
            <a:normAutofit/>
          </a:bodyPr>
          <a:lstStyle/>
          <a:p>
            <a:r>
              <a:rPr lang="en-GB" sz="2000" b="1" dirty="0" smtClean="0"/>
              <a:t>“</a:t>
            </a:r>
            <a:r>
              <a:rPr lang="en-GB" sz="2400" b="1" dirty="0" smtClean="0"/>
              <a:t>Aims </a:t>
            </a:r>
            <a:r>
              <a:rPr lang="en-GB" sz="2400" b="1" dirty="0"/>
              <a:t>to treat and prevent anxiety, increase emotional resilience and problem-solving abilities, and teach lifelong coping skills to young people to protect them against stress and change in later life” (Barrett, 2010). </a:t>
            </a:r>
            <a:r>
              <a:rPr lang="en-GB" sz="2400" dirty="0"/>
              <a:t/>
            </a:r>
            <a:br>
              <a:rPr lang="en-GB" sz="2400" dirty="0"/>
            </a:br>
            <a:endParaRPr lang="en-GB" sz="2400" b="1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99" y="173361"/>
            <a:ext cx="2314422" cy="2072298"/>
          </a:xfrm>
          <a:prstGeom prst="rect">
            <a:avLst/>
          </a:prstGeom>
        </p:spPr>
      </p:pic>
      <p:pic>
        <p:nvPicPr>
          <p:cNvPr id="4" name="Picture 6" descr="FFL_logo_colou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612" y="713546"/>
            <a:ext cx="3386776" cy="306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16" y="173361"/>
            <a:ext cx="2423453" cy="21686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220039"/>
            <a:ext cx="9144000" cy="674069"/>
          </a:xfrm>
          <a:prstGeom prst="rect">
            <a:avLst/>
          </a:prstGeom>
          <a:solidFill>
            <a:srgbClr val="7DBE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/>
          <a:srcRect l="29668" t="35172" r="2560" b="40732"/>
          <a:stretch/>
        </p:blipFill>
        <p:spPr>
          <a:xfrm>
            <a:off x="1544594" y="6339810"/>
            <a:ext cx="5515126" cy="434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/>
          <a:srcRect l="3202" r="71948"/>
          <a:stretch/>
        </p:blipFill>
        <p:spPr>
          <a:xfrm>
            <a:off x="632610" y="6238819"/>
            <a:ext cx="759520" cy="6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Who is it for?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212797"/>
              </p:ext>
            </p:extLst>
          </p:nvPr>
        </p:nvGraphicFramePr>
        <p:xfrm>
          <a:off x="2430556" y="1836737"/>
          <a:ext cx="6323479" cy="4441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26141" y="5267698"/>
            <a:ext cx="152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0" lang="en-US" altLang="en-US" sz="1600" b="1" dirty="0">
                <a:solidFill>
                  <a:srgbClr val="000000"/>
                </a:solidFill>
                <a:latin typeface="Arial" charset="0"/>
              </a:rPr>
              <a:t>Prior to Onset </a:t>
            </a:r>
          </a:p>
          <a:p>
            <a:pPr eaLnBrk="0" hangingPunct="0"/>
            <a:r>
              <a:rPr kumimoji="0" lang="en-US" altLang="en-US" sz="1600" b="1" dirty="0">
                <a:solidFill>
                  <a:srgbClr val="000000"/>
                </a:solidFill>
                <a:latin typeface="Arial" charset="0"/>
              </a:rPr>
              <a:t>of Disorder</a:t>
            </a:r>
            <a:endParaRPr kumimoji="0" lang="en-AU" altLang="en-US" sz="16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28650" y="2147981"/>
            <a:ext cx="1447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0" lang="en-US" altLang="en-US" sz="1600" b="1" dirty="0">
                <a:solidFill>
                  <a:srgbClr val="000000"/>
                </a:solidFill>
                <a:latin typeface="Arial" charset="0"/>
              </a:rPr>
              <a:t>After Onset </a:t>
            </a:r>
          </a:p>
          <a:p>
            <a:pPr eaLnBrk="0" hangingPunct="0"/>
            <a:r>
              <a:rPr kumimoji="0" lang="en-US" altLang="en-US" sz="1600" b="1" dirty="0">
                <a:solidFill>
                  <a:srgbClr val="000000"/>
                </a:solidFill>
                <a:latin typeface="Arial" charset="0"/>
              </a:rPr>
              <a:t>of Disorder</a:t>
            </a:r>
            <a:endParaRPr kumimoji="0" lang="en-AU" altLang="en-US" sz="16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1156447" y="2899055"/>
            <a:ext cx="6816" cy="236864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02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What is ‘FRIENDS’?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10 </a:t>
            </a:r>
            <a:r>
              <a:rPr lang="en-GB" dirty="0"/>
              <a:t>week long, manualised, school based programme </a:t>
            </a:r>
            <a:endParaRPr lang="en-GB" dirty="0" smtClean="0"/>
          </a:p>
          <a:p>
            <a:r>
              <a:rPr lang="en-GB" dirty="0" smtClean="0"/>
              <a:t>1-2 hours each </a:t>
            </a:r>
            <a:r>
              <a:rPr lang="en-GB" dirty="0" smtClean="0"/>
              <a:t>week</a:t>
            </a:r>
          </a:p>
          <a:p>
            <a:r>
              <a:rPr lang="en-GB" dirty="0" smtClean="0"/>
              <a:t>Range of activities</a:t>
            </a:r>
            <a:endParaRPr lang="en-GB" dirty="0" smtClean="0"/>
          </a:p>
          <a:p>
            <a:r>
              <a:rPr lang="en-GB" dirty="0" smtClean="0"/>
              <a:t>Process </a:t>
            </a:r>
            <a:r>
              <a:rPr lang="en-GB" dirty="0" smtClean="0"/>
              <a:t>and structure </a:t>
            </a:r>
            <a:r>
              <a:rPr lang="en-GB" dirty="0" smtClean="0"/>
              <a:t>important</a:t>
            </a:r>
          </a:p>
          <a:p>
            <a:r>
              <a:rPr lang="en-GB" dirty="0" smtClean="0"/>
              <a:t>Shared understanding – home and school</a:t>
            </a:r>
            <a:endParaRPr lang="en-GB" dirty="0"/>
          </a:p>
          <a:p>
            <a:r>
              <a:rPr lang="en-GB" dirty="0"/>
              <a:t>R</a:t>
            </a:r>
            <a:r>
              <a:rPr lang="en-GB" dirty="0" smtClean="0"/>
              <a:t>ecommended </a:t>
            </a:r>
            <a:r>
              <a:rPr lang="en-GB" dirty="0"/>
              <a:t>by the World Health </a:t>
            </a:r>
            <a:r>
              <a:rPr lang="en-GB" dirty="0" smtClean="0"/>
              <a:t>Organization (2004)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72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053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“FRIENDS?”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GB" altLang="en-US" dirty="0" smtClean="0"/>
              <a:t>Our</a:t>
            </a:r>
            <a:endParaRPr lang="en-GB" dirty="0"/>
          </a:p>
        </p:txBody>
      </p:sp>
      <p:pic>
        <p:nvPicPr>
          <p:cNvPr id="1026" name="Picture 2" descr="https://careeryenta.files.wordpress.com/2013/06/frien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89" y="2427413"/>
            <a:ext cx="4611926" cy="333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5603791" y="1804085"/>
            <a:ext cx="2903835" cy="10132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Working together and making friends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5554361" y="5418266"/>
            <a:ext cx="2953265" cy="10132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Acronym for the skills taught</a:t>
            </a:r>
            <a:endParaRPr lang="en-GB" dirty="0"/>
          </a:p>
        </p:txBody>
      </p:sp>
      <p:sp>
        <p:nvSpPr>
          <p:cNvPr id="7" name="Rounded Rectangle 6"/>
          <p:cNvSpPr/>
          <p:nvPr/>
        </p:nvSpPr>
        <p:spPr>
          <a:xfrm>
            <a:off x="605471" y="1804086"/>
            <a:ext cx="2903835" cy="10132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Our body </a:t>
            </a:r>
            <a:r>
              <a:rPr lang="en-GB" dirty="0" smtClean="0"/>
              <a:t>is our friend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636370" y="5434913"/>
            <a:ext cx="2903835" cy="9799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Develop skills needed to talk to our friends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3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753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Programme Structure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06157"/>
              </p:ext>
            </p:extLst>
          </p:nvPr>
        </p:nvGraphicFramePr>
        <p:xfrm>
          <a:off x="309282" y="1334529"/>
          <a:ext cx="8206068" cy="5179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671"/>
                <a:gridCol w="3562439"/>
                <a:gridCol w="3136013"/>
                <a:gridCol w="915945"/>
              </a:tblGrid>
              <a:tr h="408636">
                <a:tc gridSpan="2"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Acronym</a:t>
                      </a:r>
                      <a:endParaRPr lang="en-GB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Objective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Session</a:t>
                      </a:r>
                      <a:endParaRPr lang="en-GB" sz="1800" dirty="0"/>
                    </a:p>
                  </a:txBody>
                  <a:tcPr/>
                </a:tc>
              </a:tr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GB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Feelings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Recognising and</a:t>
                      </a:r>
                      <a:r>
                        <a:rPr lang="en-GB" sz="1600" baseline="0" dirty="0" smtClean="0"/>
                        <a:t> labelling feelings, linking them to body cues.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1,2,3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0070C0"/>
                          </a:solidFill>
                        </a:rPr>
                        <a:t>R</a:t>
                      </a:r>
                      <a:endParaRPr lang="en-GB" sz="32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Remember</a:t>
                      </a:r>
                      <a:r>
                        <a:rPr lang="en-GB" sz="1800" b="1" baseline="0" dirty="0" smtClean="0"/>
                        <a:t> to Relax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baseline="0" dirty="0" smtClean="0"/>
                        <a:t>Way of managing difficult feelings. 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00B050"/>
                          </a:solidFill>
                        </a:rPr>
                        <a:t>I</a:t>
                      </a:r>
                      <a:endParaRPr lang="en-GB" sz="32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I can do it! I can try my best!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Understanding</a:t>
                      </a:r>
                      <a:r>
                        <a:rPr lang="en-GB" sz="1600" baseline="0" dirty="0" smtClean="0"/>
                        <a:t> negative and positive self-talk and learning to think in positive ways.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4,5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30375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FFC000"/>
                          </a:solidFill>
                        </a:rPr>
                        <a:t>E</a:t>
                      </a:r>
                      <a:endParaRPr lang="en-GB" sz="3200" b="1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Explore Solutions</a:t>
                      </a:r>
                      <a:r>
                        <a:rPr lang="en-GB" sz="1800" b="1" baseline="0" dirty="0" smtClean="0"/>
                        <a:t> and Coping Step Plans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baseline="0" dirty="0" smtClean="0"/>
                        <a:t>Strategies for managing difficult situations.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6,7,8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47276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D60093"/>
                          </a:solidFill>
                        </a:rPr>
                        <a:t>N</a:t>
                      </a:r>
                      <a:endParaRPr lang="en-GB" sz="3200" b="1" dirty="0">
                        <a:solidFill>
                          <a:srgbClr val="D6009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Now Reward Yourself! You’ve Done Your Best!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Highlighting the importance</a:t>
                      </a:r>
                      <a:r>
                        <a:rPr lang="en-GB" sz="1600" baseline="0" dirty="0" smtClean="0"/>
                        <a:t> of rewarding yourself for trying.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9,10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660066"/>
                          </a:solidFill>
                        </a:rPr>
                        <a:t>D</a:t>
                      </a:r>
                      <a:endParaRPr lang="en-GB" sz="32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Don’t Forget to Practise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Practising</a:t>
                      </a:r>
                      <a:r>
                        <a:rPr lang="en-GB" sz="1600" baseline="0" dirty="0" smtClean="0"/>
                        <a:t> the strategies will help them become more automatic.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9,10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002060"/>
                          </a:solidFill>
                        </a:rPr>
                        <a:t>S</a:t>
                      </a:r>
                      <a:endParaRPr lang="en-GB" sz="32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Smile! Stay</a:t>
                      </a:r>
                      <a:r>
                        <a:rPr lang="en-GB" sz="1800" b="1" baseline="0" dirty="0" smtClean="0"/>
                        <a:t> Calm for Life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Congratulations</a:t>
                      </a:r>
                      <a:r>
                        <a:rPr lang="en-GB" sz="1600" baseline="0" dirty="0" smtClean="0"/>
                        <a:t> for participation and hard work. </a:t>
                      </a:r>
                      <a:endParaRPr lang="en-GB" sz="1600" dirty="0"/>
                    </a:p>
                  </a:txBody>
                  <a:tcPr marL="83938" marR="83938" marT="45713" marB="45713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9,10</a:t>
                      </a:r>
                      <a:endParaRPr lang="en-GB" sz="1400" dirty="0"/>
                    </a:p>
                  </a:txBody>
                  <a:tcPr marL="83938" marR="83938" marT="45713" marB="45713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9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Underpinning theory: CBT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99" y="1885547"/>
            <a:ext cx="6738471" cy="43934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20670" y="6550223"/>
            <a:ext cx="6521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https://alexisstone55.files.wordpress.com/2012/11/cbt-diagram.jpg</a:t>
            </a:r>
          </a:p>
        </p:txBody>
      </p:sp>
    </p:spTree>
    <p:extLst>
      <p:ext uri="{BB962C8B-B14F-4D97-AF65-F5344CB8AC3E}">
        <p14:creationId xmlns:p14="http://schemas.microsoft.com/office/powerpoint/2010/main" val="366308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Milkshake breathing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58299"/>
              </p:ext>
            </p:extLst>
          </p:nvPr>
        </p:nvGraphicFramePr>
        <p:xfrm>
          <a:off x="312821" y="2265536"/>
          <a:ext cx="3657600" cy="665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953"/>
                <a:gridCol w="3136647"/>
              </a:tblGrid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0070C0"/>
                          </a:solidFill>
                        </a:rPr>
                        <a:t>R</a:t>
                      </a:r>
                      <a:endParaRPr lang="en-GB" sz="32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Remember</a:t>
                      </a:r>
                      <a:r>
                        <a:rPr lang="en-GB" sz="1800" b="1" baseline="0" dirty="0" smtClean="0"/>
                        <a:t> to Relax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280" y="1944186"/>
            <a:ext cx="3848352" cy="440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4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/>
          <p:cNvSpPr/>
          <p:nvPr/>
        </p:nvSpPr>
        <p:spPr>
          <a:xfrm>
            <a:off x="852823" y="2374557"/>
            <a:ext cx="2286000" cy="2133600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I can</a:t>
            </a:r>
            <a:r>
              <a:rPr kumimoji="0" lang="en-AU" altLang="en-US" sz="1800" b="1" dirty="0">
                <a:solidFill>
                  <a:schemeClr val="bg1"/>
                </a:solidFill>
                <a:latin typeface="Segoe UI"/>
                <a:ea typeface="Arial Unicode MS" pitchFamily="34" charset="-128"/>
                <a:cs typeface="Arial" charset="0"/>
              </a:rPr>
              <a:t>’</a:t>
            </a:r>
            <a:r>
              <a:rPr kumimoji="0" lang="en-AU" altLang="en-US" sz="18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t do it!</a:t>
            </a:r>
          </a:p>
        </p:txBody>
      </p:sp>
      <p:sp>
        <p:nvSpPr>
          <p:cNvPr id="5" name="Cloud 4"/>
          <p:cNvSpPr/>
          <p:nvPr/>
        </p:nvSpPr>
        <p:spPr>
          <a:xfrm>
            <a:off x="6398741" y="2697890"/>
            <a:ext cx="2712314" cy="1674341"/>
          </a:xfrm>
          <a:prstGeom prst="cloud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 dirty="0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I can try my best!</a:t>
            </a:r>
          </a:p>
        </p:txBody>
      </p:sp>
      <p:sp>
        <p:nvSpPr>
          <p:cNvPr id="6" name="Cloud 5"/>
          <p:cNvSpPr/>
          <p:nvPr/>
        </p:nvSpPr>
        <p:spPr>
          <a:xfrm>
            <a:off x="6479061" y="4508157"/>
            <a:ext cx="2590800" cy="1709351"/>
          </a:xfrm>
          <a:prstGeom prst="cloud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I</a:t>
            </a:r>
            <a:r>
              <a:rPr kumimoji="0" lang="en-AU" altLang="en-US" sz="1800" b="1">
                <a:solidFill>
                  <a:srgbClr val="FFFFFF"/>
                </a:solidFill>
                <a:latin typeface="Segoe UI"/>
                <a:ea typeface="Arial Unicode MS" pitchFamily="34" charset="-128"/>
                <a:cs typeface="Arial" charset="0"/>
              </a:rPr>
              <a:t>’</a:t>
            </a:r>
            <a:r>
              <a:rPr kumimoji="0" lang="en-AU" altLang="en-US" sz="1800" b="1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m going to give this a shot</a:t>
            </a:r>
          </a:p>
        </p:txBody>
      </p:sp>
      <p:sp>
        <p:nvSpPr>
          <p:cNvPr id="8" name="Cloud 7"/>
          <p:cNvSpPr/>
          <p:nvPr/>
        </p:nvSpPr>
        <p:spPr>
          <a:xfrm>
            <a:off x="97116" y="4508157"/>
            <a:ext cx="2286000" cy="2133600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What if I make a mistake?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3342496" y="1295399"/>
            <a:ext cx="2854411" cy="4592595"/>
          </a:xfrm>
          <a:prstGeom prst="wedgeRoundRectCallout">
            <a:avLst>
              <a:gd name="adj1" fmla="val -51136"/>
              <a:gd name="adj2" fmla="val 5984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CC3300"/>
              </a:buClr>
            </a:pPr>
            <a:r>
              <a:rPr lang="en-US" altLang="en-US" dirty="0" smtClean="0">
                <a:solidFill>
                  <a:srgbClr val="000000"/>
                </a:solidFill>
              </a:rPr>
              <a:t>Are </a:t>
            </a:r>
            <a:r>
              <a:rPr lang="en-US" altLang="en-US" dirty="0">
                <a:solidFill>
                  <a:srgbClr val="000000"/>
                </a:solidFill>
              </a:rPr>
              <a:t>you sure this is really going to happen</a:t>
            </a:r>
            <a:r>
              <a:rPr lang="en-US" altLang="en-US" dirty="0" smtClean="0">
                <a:solidFill>
                  <a:srgbClr val="000000"/>
                </a:solidFill>
              </a:rPr>
              <a:t>?</a:t>
            </a:r>
          </a:p>
          <a:p>
            <a:pPr>
              <a:buClr>
                <a:srgbClr val="CC3300"/>
              </a:buClr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buClr>
                <a:srgbClr val="CC3300"/>
              </a:buClr>
            </a:pPr>
            <a:r>
              <a:rPr lang="en-US" altLang="en-US" dirty="0">
                <a:solidFill>
                  <a:srgbClr val="000000"/>
                </a:solidFill>
              </a:rPr>
              <a:t>Does it always happen?</a:t>
            </a:r>
          </a:p>
          <a:p>
            <a:pPr>
              <a:buClr>
                <a:srgbClr val="CC3300"/>
              </a:buClr>
            </a:pPr>
            <a:r>
              <a:rPr lang="en-US" altLang="en-US" dirty="0">
                <a:solidFill>
                  <a:srgbClr val="000000"/>
                </a:solidFill>
              </a:rPr>
              <a:t>Tell me when it didn</a:t>
            </a: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en-US" altLang="en-US" dirty="0">
                <a:solidFill>
                  <a:srgbClr val="000000"/>
                </a:solidFill>
              </a:rPr>
              <a:t>t happen. 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>
              <a:buClr>
                <a:srgbClr val="CC3300"/>
              </a:buClr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buClr>
                <a:srgbClr val="CC3300"/>
              </a:buClr>
            </a:pPr>
            <a:r>
              <a:rPr lang="en-US" altLang="en-US" dirty="0">
                <a:solidFill>
                  <a:srgbClr val="000000"/>
                </a:solidFill>
              </a:rPr>
              <a:t>How much does it matter what other people think?</a:t>
            </a:r>
          </a:p>
          <a:p>
            <a:pPr>
              <a:buClr>
                <a:srgbClr val="CC3300"/>
              </a:buClr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>
              <a:buClr>
                <a:srgbClr val="CC3300"/>
              </a:buClr>
            </a:pPr>
            <a:r>
              <a:rPr lang="en-US" altLang="en-US" dirty="0" smtClean="0">
                <a:solidFill>
                  <a:srgbClr val="000000"/>
                </a:solidFill>
              </a:rPr>
              <a:t>Are </a:t>
            </a:r>
            <a:r>
              <a:rPr lang="en-US" altLang="en-US" dirty="0">
                <a:solidFill>
                  <a:srgbClr val="000000"/>
                </a:solidFill>
              </a:rPr>
              <a:t>you forgetting the positives</a:t>
            </a:r>
            <a:r>
              <a:rPr lang="en-US" altLang="en-US" dirty="0" smtClean="0">
                <a:solidFill>
                  <a:srgbClr val="000000"/>
                </a:solidFill>
              </a:rPr>
              <a:t>?</a:t>
            </a:r>
          </a:p>
          <a:p>
            <a:pPr>
              <a:buClr>
                <a:srgbClr val="CC3300"/>
              </a:buClr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buClr>
                <a:srgbClr val="CC3300"/>
              </a:buClr>
            </a:pPr>
            <a:r>
              <a:rPr lang="en-US" altLang="en-US" dirty="0">
                <a:solidFill>
                  <a:srgbClr val="000000"/>
                </a:solidFill>
              </a:rPr>
              <a:t>Can you really expect to be perfect at everything you do</a:t>
            </a:r>
            <a:r>
              <a:rPr lang="en-US" altLang="en-US" dirty="0" smtClean="0">
                <a:solidFill>
                  <a:srgbClr val="000000"/>
                </a:solidFill>
              </a:rPr>
              <a:t>?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Cloud 10"/>
          <p:cNvSpPr/>
          <p:nvPr/>
        </p:nvSpPr>
        <p:spPr>
          <a:xfrm>
            <a:off x="76200" y="298620"/>
            <a:ext cx="2590800" cy="2286000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I</a:t>
            </a:r>
            <a:r>
              <a:rPr kumimoji="0" lang="en-AU" altLang="en-US" sz="1800" b="1" dirty="0">
                <a:solidFill>
                  <a:schemeClr val="bg1"/>
                </a:solidFill>
                <a:latin typeface="Segoe UI"/>
                <a:ea typeface="Arial Unicode MS" pitchFamily="34" charset="-128"/>
                <a:cs typeface="Arial" charset="0"/>
              </a:rPr>
              <a:t>’</a:t>
            </a:r>
            <a:r>
              <a:rPr kumimoji="0" lang="en-AU" altLang="en-US" sz="1800" b="1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m going to make a fool of myself</a:t>
            </a:r>
          </a:p>
        </p:txBody>
      </p:sp>
      <p:sp>
        <p:nvSpPr>
          <p:cNvPr id="12" name="Cloud 11"/>
          <p:cNvSpPr/>
          <p:nvPr/>
        </p:nvSpPr>
        <p:spPr>
          <a:xfrm>
            <a:off x="6398741" y="553669"/>
            <a:ext cx="2671120" cy="1902940"/>
          </a:xfrm>
          <a:prstGeom prst="cloud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en-AU" altLang="en-US" sz="1800" b="1" dirty="0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It doesn</a:t>
            </a:r>
            <a:r>
              <a:rPr kumimoji="0" lang="en-AU" altLang="en-US" sz="1800" b="1" dirty="0">
                <a:solidFill>
                  <a:srgbClr val="FFFFFF"/>
                </a:solidFill>
                <a:latin typeface="Segoe UI"/>
                <a:ea typeface="Arial Unicode MS" pitchFamily="34" charset="-128"/>
                <a:cs typeface="Arial" charset="0"/>
              </a:rPr>
              <a:t>’</a:t>
            </a:r>
            <a:r>
              <a:rPr kumimoji="0" lang="en-AU" altLang="en-US" sz="1800" b="1" dirty="0">
                <a:solidFill>
                  <a:srgbClr val="FFFFFF"/>
                </a:solidFill>
                <a:latin typeface="Arial Unicode MS" pitchFamily="34" charset="-128"/>
                <a:ea typeface="Arial Unicode MS" pitchFamily="34" charset="-128"/>
                <a:cs typeface="Arial" charset="0"/>
              </a:rPr>
              <a:t>t matter what anyone thinks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266459"/>
              </p:ext>
            </p:extLst>
          </p:nvPr>
        </p:nvGraphicFramePr>
        <p:xfrm>
          <a:off x="2667000" y="125608"/>
          <a:ext cx="3878179" cy="665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370"/>
                <a:gridCol w="3325809"/>
              </a:tblGrid>
              <a:tr h="665239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00B050"/>
                          </a:solidFill>
                        </a:rPr>
                        <a:t>I</a:t>
                      </a:r>
                      <a:endParaRPr lang="en-GB" sz="32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I can do it! I can try my best!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67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4916151" y="188156"/>
            <a:ext cx="1419200" cy="1524000"/>
          </a:xfrm>
          <a:prstGeom prst="hear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Feelings</a:t>
            </a:r>
            <a:endParaRPr kumimoji="0" lang="en-AU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867788" y="81000"/>
            <a:ext cx="2052620" cy="1630362"/>
          </a:xfrm>
          <a:prstGeom prst="cloudCallout">
            <a:avLst>
              <a:gd name="adj1" fmla="val -66773"/>
              <a:gd name="adj2" fmla="val 60747"/>
            </a:avLst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Unhelpful</a:t>
            </a:r>
          </a:p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thoughts</a:t>
            </a:r>
            <a:endParaRPr kumimoji="0" lang="en-AU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71551" y="2050157"/>
            <a:ext cx="1371600" cy="1447800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kumimoji="0" lang="en-US" altLang="en-US">
                <a:solidFill>
                  <a:srgbClr val="7F091D"/>
                </a:solidFill>
                <a:latin typeface="Arial" charset="0"/>
              </a:rPr>
              <a:t>Situation</a:t>
            </a:r>
            <a:endParaRPr kumimoji="0" lang="en-AU" altLang="en-US">
              <a:solidFill>
                <a:srgbClr val="7F091D"/>
              </a:solidFill>
              <a:latin typeface="Arial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918515" y="686630"/>
            <a:ext cx="20574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en-US" b="1" dirty="0">
                <a:solidFill>
                  <a:srgbClr val="FF0000"/>
                </a:solidFill>
                <a:latin typeface="Arial" charset="0"/>
              </a:rPr>
              <a:t>Reactive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en-US" b="1" dirty="0" err="1">
                <a:solidFill>
                  <a:srgbClr val="FF0000"/>
                </a:solidFill>
                <a:latin typeface="Arial" charset="0"/>
              </a:rPr>
              <a:t>Behaviours</a:t>
            </a:r>
            <a:endParaRPr kumimoji="0" lang="en-AU" alt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cxnSp>
        <p:nvCxnSpPr>
          <p:cNvPr id="8" name="AutoShape 7"/>
          <p:cNvCxnSpPr>
            <a:cxnSpLocks noChangeShapeType="1"/>
          </p:cNvCxnSpPr>
          <p:nvPr/>
        </p:nvCxnSpPr>
        <p:spPr bwMode="auto">
          <a:xfrm flipV="1">
            <a:off x="3898980" y="1189074"/>
            <a:ext cx="990600" cy="794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8"/>
          <p:cNvCxnSpPr>
            <a:cxnSpLocks noChangeShapeType="1"/>
          </p:cNvCxnSpPr>
          <p:nvPr/>
        </p:nvCxnSpPr>
        <p:spPr bwMode="auto">
          <a:xfrm flipV="1">
            <a:off x="676135" y="1056518"/>
            <a:ext cx="1109663" cy="76200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9"/>
          <p:cNvCxnSpPr>
            <a:cxnSpLocks noChangeShapeType="1"/>
          </p:cNvCxnSpPr>
          <p:nvPr/>
        </p:nvCxnSpPr>
        <p:spPr bwMode="auto">
          <a:xfrm flipV="1">
            <a:off x="6308915" y="1189074"/>
            <a:ext cx="831304" cy="794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1867788" y="4025143"/>
            <a:ext cx="1926527" cy="1679575"/>
          </a:xfrm>
          <a:prstGeom prst="cloudCallout">
            <a:avLst>
              <a:gd name="adj1" fmla="val -64589"/>
              <a:gd name="adj2" fmla="val -76158"/>
            </a:avLst>
          </a:prstGeom>
          <a:solidFill>
            <a:srgbClr val="00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Helpful </a:t>
            </a:r>
          </a:p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thoughts</a:t>
            </a:r>
            <a:endParaRPr kumimoji="0" lang="en-AU" altLang="en-US" dirty="0">
              <a:solidFill>
                <a:prstClr val="white"/>
              </a:solidFill>
              <a:latin typeface="Arial" charset="0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4861115" y="4180718"/>
            <a:ext cx="1447800" cy="1524000"/>
          </a:xfrm>
          <a:prstGeom prst="heart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r>
              <a:rPr kumimoji="0" lang="en-US" altLang="en-US" dirty="0">
                <a:solidFill>
                  <a:prstClr val="white"/>
                </a:solidFill>
                <a:latin typeface="Arial" charset="0"/>
              </a:rPr>
              <a:t>Feelings</a:t>
            </a:r>
            <a:endParaRPr kumimoji="0" lang="en-AU" altLang="en-US" dirty="0">
              <a:solidFill>
                <a:prstClr val="white"/>
              </a:solidFill>
              <a:latin typeface="Arial" charset="0"/>
            </a:endParaRPr>
          </a:p>
        </p:txBody>
      </p:sp>
      <p:cxnSp>
        <p:nvCxnSpPr>
          <p:cNvPr id="13" name="AutoShape 12"/>
          <p:cNvCxnSpPr>
            <a:cxnSpLocks noChangeShapeType="1"/>
          </p:cNvCxnSpPr>
          <p:nvPr/>
        </p:nvCxnSpPr>
        <p:spPr bwMode="auto">
          <a:xfrm flipH="1">
            <a:off x="2885528" y="1911046"/>
            <a:ext cx="8570" cy="2041072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3"/>
          <p:cNvCxnSpPr>
            <a:cxnSpLocks noChangeShapeType="1"/>
          </p:cNvCxnSpPr>
          <p:nvPr/>
        </p:nvCxnSpPr>
        <p:spPr bwMode="auto">
          <a:xfrm>
            <a:off x="3920408" y="4942718"/>
            <a:ext cx="940707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918515" y="4362486"/>
            <a:ext cx="20574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en-US" b="1" dirty="0">
                <a:solidFill>
                  <a:srgbClr val="00CC00"/>
                </a:solidFill>
                <a:latin typeface="Arial" charset="0"/>
              </a:rPr>
              <a:t>Proactive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en-US" b="1" dirty="0" err="1">
                <a:solidFill>
                  <a:srgbClr val="00CC00"/>
                </a:solidFill>
                <a:latin typeface="Arial" charset="0"/>
              </a:rPr>
              <a:t>Behaviours</a:t>
            </a:r>
            <a:endParaRPr kumimoji="0" lang="en-AU" altLang="en-US" sz="2800" b="1" dirty="0">
              <a:solidFill>
                <a:srgbClr val="00CC00"/>
              </a:solidFill>
              <a:latin typeface="Arial" charset="0"/>
            </a:endParaRPr>
          </a:p>
        </p:txBody>
      </p:sp>
      <p:cxnSp>
        <p:nvCxnSpPr>
          <p:cNvPr id="16" name="AutoShape 15"/>
          <p:cNvCxnSpPr>
            <a:cxnSpLocks noChangeShapeType="1"/>
          </p:cNvCxnSpPr>
          <p:nvPr/>
        </p:nvCxnSpPr>
        <p:spPr bwMode="auto">
          <a:xfrm>
            <a:off x="6263738" y="4942718"/>
            <a:ext cx="831304" cy="1905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23"/>
          <p:cNvCxnSpPr>
            <a:cxnSpLocks noChangeShapeType="1"/>
          </p:cNvCxnSpPr>
          <p:nvPr/>
        </p:nvCxnSpPr>
        <p:spPr bwMode="auto">
          <a:xfrm>
            <a:off x="7947215" y="1818518"/>
            <a:ext cx="0" cy="213360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24"/>
          <p:cNvCxnSpPr>
            <a:cxnSpLocks noChangeShapeType="1"/>
          </p:cNvCxnSpPr>
          <p:nvPr/>
        </p:nvCxnSpPr>
        <p:spPr bwMode="auto">
          <a:xfrm>
            <a:off x="5625751" y="1911046"/>
            <a:ext cx="0" cy="2041072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7"/>
          <p:cNvCxnSpPr>
            <a:cxnSpLocks noChangeShapeType="1"/>
          </p:cNvCxnSpPr>
          <p:nvPr/>
        </p:nvCxnSpPr>
        <p:spPr bwMode="auto">
          <a:xfrm>
            <a:off x="523175" y="3759237"/>
            <a:ext cx="1344613" cy="842962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Explosion 1 19"/>
          <p:cNvSpPr/>
          <p:nvPr/>
        </p:nvSpPr>
        <p:spPr>
          <a:xfrm>
            <a:off x="1543151" y="2050157"/>
            <a:ext cx="3008489" cy="1534567"/>
          </a:xfrm>
          <a:prstGeom prst="irregularSeal1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Challenger Questions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" y="6384261"/>
            <a:ext cx="1228598" cy="47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8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628650" y="5511308"/>
            <a:ext cx="7796675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Read in front of the mirror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1883799" y="4625483"/>
            <a:ext cx="6539375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Read to mum or dad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055374" y="3739658"/>
            <a:ext cx="536780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Present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speech to the whole family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3570185" y="2918131"/>
            <a:ext cx="4852989" cy="8215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Present to</a:t>
            </a:r>
            <a:r>
              <a:rPr kumimoji="0" lang="en-GB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one close </a:t>
            </a:r>
            <a:r>
              <a:rPr kumimoji="0" lang="en-GB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friend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194075" y="2025164"/>
            <a:ext cx="4229099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kumimoji="0" lang="en-GB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Present to a </a:t>
            </a:r>
            <a:r>
              <a:rPr lang="en-GB" altLang="en-US" sz="2000" dirty="0" smtClean="0">
                <a:latin typeface="Calibri" panose="020F0502020204030204" pitchFamily="34" charset="0"/>
              </a:rPr>
              <a:t>small</a:t>
            </a:r>
            <a:r>
              <a:rPr kumimoji="0" lang="en-GB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group of friends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>
            <a:off x="5006312" y="1139339"/>
            <a:ext cx="3443287" cy="89296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Present in front of the whole class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/>
          <p:cNvSpPr>
            <a:spLocks noChangeArrowheads="1"/>
          </p:cNvSpPr>
          <p:nvPr/>
        </p:nvSpPr>
        <p:spPr bwMode="auto">
          <a:xfrm rot="21394019">
            <a:off x="1221828" y="252734"/>
            <a:ext cx="3540117" cy="1109645"/>
          </a:xfrm>
          <a:prstGeom prst="cloudCallout">
            <a:avLst>
              <a:gd name="adj1" fmla="val 55494"/>
              <a:gd name="adj2" fmla="val 84515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I’ve prepared well and know this presentation. I can do this!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2"/>
          <p:cNvSpPr>
            <a:spLocks noChangeArrowheads="1"/>
          </p:cNvSpPr>
          <p:nvPr/>
        </p:nvSpPr>
        <p:spPr bwMode="auto">
          <a:xfrm rot="21394019">
            <a:off x="624852" y="1777782"/>
            <a:ext cx="3428015" cy="1073244"/>
          </a:xfrm>
          <a:prstGeom prst="cloudCallout">
            <a:avLst>
              <a:gd name="adj1" fmla="val 29498"/>
              <a:gd name="adj2" fmla="val 100556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GB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My friend will support me, give me feedback and think I am brave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/>
          <p:cNvSpPr>
            <a:spLocks noChangeArrowheads="1"/>
          </p:cNvSpPr>
          <p:nvPr/>
        </p:nvSpPr>
        <p:spPr bwMode="auto">
          <a:xfrm rot="21394019">
            <a:off x="181614" y="3508193"/>
            <a:ext cx="2462079" cy="942975"/>
          </a:xfrm>
          <a:prstGeom prst="cloudCallout">
            <a:avLst>
              <a:gd name="adj1" fmla="val -24172"/>
              <a:gd name="adj2" fmla="val 15815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GB" altLang="en-US" sz="1600" dirty="0" smtClean="0">
                <a:latin typeface="Calibri" panose="020F0502020204030204" pitchFamily="34" charset="0"/>
              </a:rPr>
              <a:t>This is ok, no one is watching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896756"/>
              </p:ext>
            </p:extLst>
          </p:nvPr>
        </p:nvGraphicFramePr>
        <p:xfrm>
          <a:off x="4989890" y="147735"/>
          <a:ext cx="4009731" cy="640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107"/>
                <a:gridCol w="3438624"/>
              </a:tblGrid>
              <a:tr h="630375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smtClean="0">
                          <a:solidFill>
                            <a:srgbClr val="FFC000"/>
                          </a:solidFill>
                        </a:rPr>
                        <a:t>E</a:t>
                      </a:r>
                      <a:endParaRPr lang="en-GB" sz="3200" b="1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Explore Solutions</a:t>
                      </a:r>
                      <a:r>
                        <a:rPr lang="en-GB" sz="1800" b="1" baseline="0" dirty="0" smtClean="0"/>
                        <a:t> and Coping Step Plans</a:t>
                      </a:r>
                      <a:endParaRPr lang="en-GB" sz="1800" b="1" dirty="0"/>
                    </a:p>
                  </a:txBody>
                  <a:tcPr marL="83938" marR="83938" marT="45713" marB="4571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76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FRIENDS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GB" sz="4000" dirty="0"/>
              <a:t>“Unique in its commitment to evidence-based research support for all aspects of the programme</a:t>
            </a:r>
            <a:r>
              <a:rPr lang="en-GB" sz="4000" dirty="0" smtClean="0"/>
              <a:t>”</a:t>
            </a:r>
          </a:p>
          <a:p>
            <a:pPr marL="0" lvl="0" indent="0" algn="ctr">
              <a:buNone/>
            </a:pPr>
            <a:r>
              <a:rPr lang="en-GB" sz="4000" dirty="0" smtClean="0"/>
              <a:t>(Pathways, 2012)</a:t>
            </a:r>
            <a:endParaRPr lang="en-GB" sz="40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5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Underpinning </a:t>
            </a:r>
            <a:r>
              <a:rPr lang="en-GB" dirty="0" smtClean="0"/>
              <a:t>theory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42" y="2444791"/>
            <a:ext cx="4393649" cy="3080085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925053"/>
            <a:ext cx="3883192" cy="4384258"/>
          </a:xfrm>
        </p:spPr>
        <p:txBody>
          <a:bodyPr>
            <a:normAutofit fontScale="77500" lnSpcReduction="20000"/>
          </a:bodyPr>
          <a:lstStyle/>
          <a:p>
            <a:r>
              <a:rPr lang="en-GB" sz="3100" dirty="0" smtClean="0"/>
              <a:t>CBT </a:t>
            </a:r>
            <a:r>
              <a:rPr lang="en-GB" sz="3100" dirty="0"/>
              <a:t>approaches are effective as both a prevention and treatment of </a:t>
            </a:r>
            <a:r>
              <a:rPr lang="en-GB" sz="3100" dirty="0" smtClean="0"/>
              <a:t>childhood anxiety (</a:t>
            </a:r>
            <a:r>
              <a:rPr lang="en-GB" sz="3100" dirty="0" err="1"/>
              <a:t>Fisak</a:t>
            </a:r>
            <a:r>
              <a:rPr lang="en-GB" sz="3100" dirty="0"/>
              <a:t>, Richard, &amp; Mann, 2011; Neil &amp; Christensen, 2009</a:t>
            </a:r>
            <a:r>
              <a:rPr lang="en-GB" sz="3100" dirty="0" smtClean="0"/>
              <a:t>)</a:t>
            </a:r>
          </a:p>
          <a:p>
            <a:pPr marL="0" indent="0">
              <a:buNone/>
            </a:pPr>
            <a:endParaRPr lang="en-GB" sz="1400" dirty="0" smtClean="0"/>
          </a:p>
          <a:p>
            <a:r>
              <a:rPr lang="en-GB" sz="3100" dirty="0" smtClean="0"/>
              <a:t>FRIENDS dominates reviews</a:t>
            </a:r>
          </a:p>
          <a:p>
            <a:pPr marL="0" indent="0">
              <a:buNone/>
            </a:pPr>
            <a:endParaRPr lang="en-GB" sz="1400" dirty="0" smtClean="0"/>
          </a:p>
          <a:p>
            <a:r>
              <a:rPr lang="en-GB" sz="3100" dirty="0" smtClean="0"/>
              <a:t>Underlying principles</a:t>
            </a:r>
          </a:p>
          <a:p>
            <a:pPr marL="0" indent="0">
              <a:buNone/>
            </a:pPr>
            <a:endParaRPr lang="en-GB" sz="1800" dirty="0" smtClean="0"/>
          </a:p>
          <a:p>
            <a:r>
              <a:rPr lang="en-GB" sz="3100" dirty="0"/>
              <a:t>T</a:t>
            </a:r>
            <a:r>
              <a:rPr lang="en-GB" sz="3100" dirty="0" smtClean="0"/>
              <a:t>heoretical concepts which it aims to change e.g. coping skills</a:t>
            </a:r>
          </a:p>
          <a:p>
            <a:pPr lvl="0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277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803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Research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99411"/>
            <a:ext cx="7886700" cy="48775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000" b="1" dirty="0"/>
              <a:t>Barrett and </a:t>
            </a:r>
            <a:r>
              <a:rPr lang="en-GB" sz="2000" b="1" dirty="0" smtClean="0"/>
              <a:t>Turner (2001) </a:t>
            </a:r>
          </a:p>
          <a:p>
            <a:pPr>
              <a:lnSpc>
                <a:spcPct val="100000"/>
              </a:lnSpc>
            </a:pPr>
            <a:r>
              <a:rPr lang="en-GB" sz="1800" dirty="0" smtClean="0"/>
              <a:t>Significant post-intervention reductions in anxiety</a:t>
            </a:r>
          </a:p>
          <a:p>
            <a:pPr marL="0" indent="0">
              <a:buNone/>
            </a:pPr>
            <a:r>
              <a:rPr lang="en-GB" sz="2000" b="1" dirty="0" smtClean="0"/>
              <a:t>Lowry- </a:t>
            </a:r>
            <a:r>
              <a:rPr lang="en-GB" sz="2000" b="1" dirty="0"/>
              <a:t>Webster, Barrett &amp; </a:t>
            </a:r>
            <a:r>
              <a:rPr lang="en-GB" sz="2000" b="1" dirty="0" err="1"/>
              <a:t>Dadds</a:t>
            </a:r>
            <a:r>
              <a:rPr lang="en-GB" sz="2000" b="1" dirty="0"/>
              <a:t> </a:t>
            </a:r>
            <a:r>
              <a:rPr lang="en-GB" sz="2000" b="1" dirty="0" smtClean="0"/>
              <a:t>(2001)</a:t>
            </a:r>
            <a:endParaRPr lang="en-GB" sz="2000" b="1" dirty="0"/>
          </a:p>
          <a:p>
            <a:r>
              <a:rPr lang="en-GB" sz="1800" dirty="0" smtClean="0"/>
              <a:t>Intervention </a:t>
            </a:r>
            <a:r>
              <a:rPr lang="en-GB" sz="1800" dirty="0"/>
              <a:t>group reported fewer anxiety symptoms, regardless of their risk status, than the comparison group at </a:t>
            </a:r>
            <a:r>
              <a:rPr lang="en-GB" sz="1800" dirty="0" smtClean="0"/>
              <a:t>post- test.</a:t>
            </a:r>
          </a:p>
          <a:p>
            <a:pPr marL="0" indent="0">
              <a:buNone/>
            </a:pPr>
            <a:r>
              <a:rPr lang="en-GB" sz="2000" b="1" dirty="0" smtClean="0"/>
              <a:t>Lowry- </a:t>
            </a:r>
            <a:r>
              <a:rPr lang="en-GB" sz="2000" b="1" dirty="0"/>
              <a:t>Webster, Barrett &amp; Lock (2003</a:t>
            </a:r>
            <a:r>
              <a:rPr lang="en-GB" sz="2000" b="1" dirty="0" smtClean="0"/>
              <a:t>)</a:t>
            </a:r>
            <a:endParaRPr lang="en-GB" sz="2000" b="1" dirty="0"/>
          </a:p>
          <a:p>
            <a:pPr lvl="0"/>
            <a:r>
              <a:rPr lang="en-GB" sz="1800" dirty="0"/>
              <a:t>Maintained at 12 month follow up as measured by self-reports and diagnostic interviews. </a:t>
            </a:r>
            <a:endParaRPr lang="en-GB" sz="1800" dirty="0" smtClean="0"/>
          </a:p>
          <a:p>
            <a:pPr marL="0" lvl="0" indent="0">
              <a:buNone/>
            </a:pPr>
            <a:r>
              <a:rPr lang="en-GB" sz="2000" b="1" dirty="0" smtClean="0"/>
              <a:t>Lock </a:t>
            </a:r>
            <a:r>
              <a:rPr lang="en-GB" sz="2000" b="1" dirty="0"/>
              <a:t>&amp; Barrett (2003) </a:t>
            </a:r>
            <a:endParaRPr lang="en-GB" sz="2000" b="1" dirty="0" smtClean="0"/>
          </a:p>
          <a:p>
            <a:r>
              <a:rPr lang="en-GB" sz="1800" dirty="0" smtClean="0"/>
              <a:t>Primary </a:t>
            </a:r>
            <a:r>
              <a:rPr lang="en-GB" sz="1800" dirty="0"/>
              <a:t>school children reported greatest changes in anxiety </a:t>
            </a:r>
            <a:r>
              <a:rPr lang="en-GB" sz="1800" dirty="0" smtClean="0"/>
              <a:t>symptoms</a:t>
            </a:r>
          </a:p>
          <a:p>
            <a:pPr marL="0" indent="0">
              <a:buNone/>
            </a:pPr>
            <a:r>
              <a:rPr lang="en-GB" sz="2000" b="1" dirty="0" smtClean="0"/>
              <a:t>Barrett</a:t>
            </a:r>
            <a:r>
              <a:rPr lang="en-GB" sz="2000" b="1" dirty="0"/>
              <a:t>, </a:t>
            </a:r>
            <a:r>
              <a:rPr lang="en-GB" sz="2000" b="1" dirty="0" err="1"/>
              <a:t>Farell</a:t>
            </a:r>
            <a:r>
              <a:rPr lang="en-GB" sz="2000" b="1" dirty="0"/>
              <a:t>, </a:t>
            </a:r>
            <a:r>
              <a:rPr lang="en-GB" sz="2000" b="1" dirty="0" err="1"/>
              <a:t>Ollendick</a:t>
            </a:r>
            <a:r>
              <a:rPr lang="en-GB" sz="2000" b="1" dirty="0"/>
              <a:t> &amp; </a:t>
            </a:r>
            <a:r>
              <a:rPr lang="en-GB" sz="2000" b="1" dirty="0" err="1"/>
              <a:t>Dadds</a:t>
            </a:r>
            <a:r>
              <a:rPr lang="en-GB" sz="2000" b="1" dirty="0"/>
              <a:t> (2006) </a:t>
            </a:r>
            <a:endParaRPr lang="en-GB" sz="2000" b="1" dirty="0" smtClean="0"/>
          </a:p>
          <a:p>
            <a:r>
              <a:rPr lang="en-GB" sz="1800" dirty="0" smtClean="0"/>
              <a:t>Reductions </a:t>
            </a:r>
            <a:r>
              <a:rPr lang="en-GB" sz="1800" dirty="0"/>
              <a:t>in anxiety reported in Lock and Barrett were maintained for primary students</a:t>
            </a:r>
            <a:r>
              <a:rPr lang="en-GB" sz="1800" dirty="0" smtClean="0"/>
              <a:t>.</a:t>
            </a:r>
            <a:endParaRPr lang="en-GB" sz="1800" dirty="0"/>
          </a:p>
          <a:p>
            <a:r>
              <a:rPr lang="en-GB" sz="1800" dirty="0" smtClean="0"/>
              <a:t>Prevention?  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40896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UK Studies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 err="1" smtClean="0"/>
              <a:t>Stallard</a:t>
            </a:r>
            <a:r>
              <a:rPr lang="en-GB" b="1" dirty="0"/>
              <a:t>, Simpson, Anderson, </a:t>
            </a:r>
            <a:r>
              <a:rPr lang="en-GB" b="1" dirty="0" err="1"/>
              <a:t>Hibbert</a:t>
            </a:r>
            <a:r>
              <a:rPr lang="en-GB" b="1" dirty="0"/>
              <a:t> &amp; Osborn (2007)</a:t>
            </a:r>
          </a:p>
          <a:p>
            <a:pPr lvl="0"/>
            <a:r>
              <a:rPr lang="en-GB" dirty="0" smtClean="0"/>
              <a:t>Significant </a:t>
            </a:r>
            <a:r>
              <a:rPr lang="en-GB" dirty="0"/>
              <a:t>reduction in anxiety </a:t>
            </a:r>
            <a:r>
              <a:rPr lang="en-GB" dirty="0" smtClean="0"/>
              <a:t>3 </a:t>
            </a:r>
            <a:r>
              <a:rPr lang="en-GB" dirty="0"/>
              <a:t>months following </a:t>
            </a:r>
            <a:r>
              <a:rPr lang="en-GB" dirty="0" smtClean="0"/>
              <a:t>intervention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b="1" dirty="0" err="1"/>
              <a:t>Stallard</a:t>
            </a:r>
            <a:r>
              <a:rPr lang="en-GB" b="1" dirty="0"/>
              <a:t>, Simpson, Anderson &amp; Goddard (2008)</a:t>
            </a:r>
          </a:p>
          <a:p>
            <a:pPr lvl="0"/>
            <a:r>
              <a:rPr lang="en-GB" dirty="0" smtClean="0"/>
              <a:t>12 month follow up – reduced anxiety maintained for both whole group and high risk group</a:t>
            </a:r>
          </a:p>
          <a:p>
            <a:pPr lvl="0"/>
            <a:r>
              <a:rPr lang="en-GB" dirty="0" smtClean="0"/>
              <a:t>Preventative effects</a:t>
            </a: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b="1" dirty="0"/>
              <a:t>Liddle and Macmillan (2010) </a:t>
            </a:r>
            <a:endParaRPr lang="en-GB" b="1" dirty="0" smtClean="0"/>
          </a:p>
          <a:p>
            <a:r>
              <a:rPr lang="en-GB" dirty="0"/>
              <a:t>R</a:t>
            </a:r>
            <a:r>
              <a:rPr lang="en-GB" dirty="0" smtClean="0"/>
              <a:t>andomisation </a:t>
            </a:r>
            <a:r>
              <a:rPr lang="en-GB" dirty="0"/>
              <a:t>at individual </a:t>
            </a:r>
            <a:r>
              <a:rPr lang="en-GB" dirty="0" smtClean="0"/>
              <a:t>level, implemented by EPs</a:t>
            </a:r>
          </a:p>
          <a:p>
            <a:r>
              <a:rPr lang="en-GB" dirty="0" smtClean="0"/>
              <a:t>Reduction in anxiety which was maintained at four month follow up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15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Systematic reviews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Briesch</a:t>
            </a:r>
            <a:r>
              <a:rPr lang="en-GB" b="1" dirty="0"/>
              <a:t>, </a:t>
            </a:r>
            <a:r>
              <a:rPr lang="en-GB" b="1" dirty="0" err="1"/>
              <a:t>Hagermoser</a:t>
            </a:r>
            <a:r>
              <a:rPr lang="en-GB" b="1" dirty="0"/>
              <a:t> </a:t>
            </a:r>
            <a:r>
              <a:rPr lang="en-GB" b="1" dirty="0" err="1"/>
              <a:t>Sanetti</a:t>
            </a:r>
            <a:r>
              <a:rPr lang="en-GB" b="1" dirty="0"/>
              <a:t>, </a:t>
            </a:r>
            <a:r>
              <a:rPr lang="en-GB" b="1" dirty="0" smtClean="0"/>
              <a:t>and Briesch (2010)</a:t>
            </a:r>
          </a:p>
          <a:p>
            <a:pPr marL="0" indent="0">
              <a:buNone/>
            </a:pPr>
            <a:r>
              <a:rPr lang="en-GB" i="1" dirty="0" smtClean="0"/>
              <a:t>“</a:t>
            </a:r>
            <a:r>
              <a:rPr lang="en-GB" i="1" dirty="0"/>
              <a:t>research to date suggests that FRIENDS may be a promising intervention for the treatment of anxiety in school based settings” </a:t>
            </a:r>
            <a:r>
              <a:rPr lang="en-GB" dirty="0"/>
              <a:t>p.163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b="1" dirty="0" err="1"/>
              <a:t>Maggin</a:t>
            </a:r>
            <a:r>
              <a:rPr lang="en-GB" b="1" dirty="0"/>
              <a:t> and Johnson (2014</a:t>
            </a:r>
            <a:r>
              <a:rPr lang="en-GB" b="1" dirty="0" smtClean="0"/>
              <a:t>)</a:t>
            </a:r>
          </a:p>
          <a:p>
            <a:pPr marL="0" indent="0">
              <a:buNone/>
            </a:pPr>
            <a:r>
              <a:rPr lang="en-GB" i="1" dirty="0"/>
              <a:t>“the research underlying school-based versions of the FRIENDS program presently lacks the rigor to certify it as an evidence-based practice”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56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 smtClean="0"/>
              <a:t>Conclusions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Positive effects across individual studies, but methodological concerns</a:t>
            </a:r>
          </a:p>
          <a:p>
            <a:r>
              <a:rPr lang="en-GB" dirty="0" smtClean="0"/>
              <a:t>Limited UK based and independent research</a:t>
            </a:r>
          </a:p>
          <a:p>
            <a:r>
              <a:rPr lang="en-GB" dirty="0" smtClean="0"/>
              <a:t>Implementer?</a:t>
            </a:r>
          </a:p>
          <a:p>
            <a:r>
              <a:rPr lang="en-GB" dirty="0" smtClean="0"/>
              <a:t>Useful activities for whole-school implementation</a:t>
            </a:r>
          </a:p>
          <a:p>
            <a:r>
              <a:rPr lang="en-GB" dirty="0" smtClean="0"/>
              <a:t>Implications for EPs</a:t>
            </a:r>
          </a:p>
          <a:p>
            <a:pPr marL="0" indent="0">
              <a:buNone/>
            </a:pPr>
            <a:r>
              <a:rPr lang="en-GB" sz="2000" i="1" dirty="0" smtClean="0"/>
              <a:t>“In </a:t>
            </a:r>
            <a:r>
              <a:rPr lang="en-GB" sz="2000" i="1" dirty="0"/>
              <a:t>order to help their pupils succeed, schools have a role to play in supporting them to be resilient and mentally healthy,’ (</a:t>
            </a:r>
            <a:r>
              <a:rPr lang="en-GB" sz="2000" i="1" dirty="0" err="1"/>
              <a:t>DfE</a:t>
            </a:r>
            <a:r>
              <a:rPr lang="en-GB" sz="2000" i="1" dirty="0"/>
              <a:t>, 2014, p4).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196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871" y="4520698"/>
            <a:ext cx="7886700" cy="11523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 smtClean="0"/>
              <a:t>Big</a:t>
            </a:r>
            <a:r>
              <a:rPr lang="en-GB" dirty="0" smtClean="0"/>
              <a:t> </a:t>
            </a:r>
            <a:r>
              <a:rPr lang="en-GB" dirty="0" smtClean="0"/>
              <a:t>thank you to Hampshire Educational Psychology for access to training resources and pathways subscription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499" y="5424522"/>
            <a:ext cx="2309006" cy="8903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189" y="206869"/>
            <a:ext cx="4313829" cy="431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6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2007</TotalTime>
  <Words>804</Words>
  <Application>Microsoft Office PowerPoint</Application>
  <PresentationFormat>On-screen Show (4:3)</PresentationFormat>
  <Paragraphs>159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Unicode MS</vt:lpstr>
      <vt:lpstr>Arial</vt:lpstr>
      <vt:lpstr>Calibri</vt:lpstr>
      <vt:lpstr>Calibri Light</vt:lpstr>
      <vt:lpstr>Segoe UI</vt:lpstr>
      <vt:lpstr>Times New Roman</vt:lpstr>
      <vt:lpstr>Office Theme</vt:lpstr>
      <vt:lpstr>“Aims to treat and prevent anxiety, increase emotional resilience and problem-solving abilities, and teach lifelong coping skills to young people to protect them against stress and change in later life” (Barrett, 2010).  </vt:lpstr>
      <vt:lpstr>Who is it for?</vt:lpstr>
      <vt:lpstr>What is ‘FRIENDS’?</vt:lpstr>
      <vt:lpstr>“FRIENDS?”</vt:lpstr>
      <vt:lpstr>Programme Structure</vt:lpstr>
      <vt:lpstr>Underpinning theory: CBT</vt:lpstr>
      <vt:lpstr>Milkshake breathing</vt:lpstr>
      <vt:lpstr>PowerPoint Presentation</vt:lpstr>
      <vt:lpstr>PowerPoint Presentation</vt:lpstr>
      <vt:lpstr>PowerPoint Presentation</vt:lpstr>
      <vt:lpstr>FRIENDS</vt:lpstr>
      <vt:lpstr>Underpinning theory</vt:lpstr>
      <vt:lpstr>Research</vt:lpstr>
      <vt:lpstr>UK Studies</vt:lpstr>
      <vt:lpstr>Systematic reviews</vt:lpstr>
      <vt:lpstr>Conclusions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FRIENDS</dc:title>
  <dc:creator>kirsty underwood</dc:creator>
  <cp:lastModifiedBy>kirsty underwood</cp:lastModifiedBy>
  <cp:revision>59</cp:revision>
  <dcterms:created xsi:type="dcterms:W3CDTF">2015-05-20T09:01:18Z</dcterms:created>
  <dcterms:modified xsi:type="dcterms:W3CDTF">2015-05-22T05:20:42Z</dcterms:modified>
</cp:coreProperties>
</file>