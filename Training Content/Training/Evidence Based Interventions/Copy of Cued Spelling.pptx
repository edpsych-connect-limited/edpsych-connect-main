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73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48654" autoAdjust="0"/>
  </p:normalViewPr>
  <p:slideViewPr>
    <p:cSldViewPr snapToGrid="0">
      <p:cViewPr varScale="1">
        <p:scale>
          <a:sx n="51" d="100"/>
          <a:sy n="51" d="100"/>
        </p:scale>
        <p:origin x="-3270" y="-9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7DEAB-FEEC-4AB0-A29C-55DC10301F80}" type="doc">
      <dgm:prSet loTypeId="urn:microsoft.com/office/officeart/2005/8/layout/radial6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BE7EC4E2-02A0-4BB1-A27A-A603D44B4FA1}">
      <dgm:prSet phldrT="[Text]"/>
      <dgm:spPr/>
      <dgm:t>
        <a:bodyPr/>
        <a:lstStyle/>
        <a:p>
          <a:r>
            <a:rPr lang="en-GB" b="1" dirty="0" smtClean="0"/>
            <a:t>Self-determination theory</a:t>
          </a:r>
          <a:endParaRPr lang="en-GB" b="1" dirty="0"/>
        </a:p>
      </dgm:t>
    </dgm:pt>
    <dgm:pt modelId="{321F9AA6-9016-4722-B687-ACB39AD43016}" type="parTrans" cxnId="{E2FE7D97-A449-4B12-9450-B459EE310CC2}">
      <dgm:prSet/>
      <dgm:spPr/>
      <dgm:t>
        <a:bodyPr/>
        <a:lstStyle/>
        <a:p>
          <a:endParaRPr lang="en-GB"/>
        </a:p>
      </dgm:t>
    </dgm:pt>
    <dgm:pt modelId="{68C537E5-CDAD-450C-A2F8-2B08E1CF6D9B}" type="sibTrans" cxnId="{E2FE7D97-A449-4B12-9450-B459EE310CC2}">
      <dgm:prSet/>
      <dgm:spPr/>
      <dgm:t>
        <a:bodyPr/>
        <a:lstStyle/>
        <a:p>
          <a:endParaRPr lang="en-GB"/>
        </a:p>
      </dgm:t>
    </dgm:pt>
    <dgm:pt modelId="{15B9AD43-E8C2-4F23-BC94-DD1E9CFBF435}">
      <dgm:prSet phldrT="[Text]" custT="1"/>
      <dgm:spPr/>
      <dgm:t>
        <a:bodyPr/>
        <a:lstStyle/>
        <a:p>
          <a:r>
            <a:rPr lang="en-GB" sz="1400" b="1" dirty="0" smtClean="0"/>
            <a:t>Competence</a:t>
          </a:r>
          <a:endParaRPr lang="en-GB" sz="1400" b="1" dirty="0"/>
        </a:p>
      </dgm:t>
    </dgm:pt>
    <dgm:pt modelId="{6A21BE05-F62C-4933-B4B7-06FAD373B53F}" type="parTrans" cxnId="{B3D97628-27A0-45C9-88A4-7CA12EF724FB}">
      <dgm:prSet/>
      <dgm:spPr/>
      <dgm:t>
        <a:bodyPr/>
        <a:lstStyle/>
        <a:p>
          <a:endParaRPr lang="en-GB"/>
        </a:p>
      </dgm:t>
    </dgm:pt>
    <dgm:pt modelId="{FB0C9AD9-A320-41B0-979B-3E8396C558E2}" type="sibTrans" cxnId="{B3D97628-27A0-45C9-88A4-7CA12EF724FB}">
      <dgm:prSet/>
      <dgm:spPr/>
      <dgm:t>
        <a:bodyPr/>
        <a:lstStyle/>
        <a:p>
          <a:endParaRPr lang="en-GB"/>
        </a:p>
      </dgm:t>
    </dgm:pt>
    <dgm:pt modelId="{1B777517-A4C4-4129-A926-6E87BEFE6433}">
      <dgm:prSet phldrT="[Text]" custT="1"/>
      <dgm:spPr/>
      <dgm:t>
        <a:bodyPr/>
        <a:lstStyle/>
        <a:p>
          <a:r>
            <a:rPr lang="en-GB" sz="1400" b="1" dirty="0" smtClean="0"/>
            <a:t>Autonomy</a:t>
          </a:r>
          <a:endParaRPr lang="en-GB" sz="1400" b="1" dirty="0"/>
        </a:p>
      </dgm:t>
    </dgm:pt>
    <dgm:pt modelId="{91555635-D9F5-4518-AB0C-AFB06BFB5B2C}" type="parTrans" cxnId="{A67CE935-F241-48BF-8D00-3A56899ED025}">
      <dgm:prSet/>
      <dgm:spPr/>
      <dgm:t>
        <a:bodyPr/>
        <a:lstStyle/>
        <a:p>
          <a:endParaRPr lang="en-GB"/>
        </a:p>
      </dgm:t>
    </dgm:pt>
    <dgm:pt modelId="{9F0204D1-E8D4-4A52-8193-AEC9E19A97A9}" type="sibTrans" cxnId="{A67CE935-F241-48BF-8D00-3A56899ED025}">
      <dgm:prSet/>
      <dgm:spPr/>
      <dgm:t>
        <a:bodyPr/>
        <a:lstStyle/>
        <a:p>
          <a:endParaRPr lang="en-GB"/>
        </a:p>
      </dgm:t>
    </dgm:pt>
    <dgm:pt modelId="{A15F55F9-AF68-4086-9A67-705998C3D8AC}">
      <dgm:prSet phldrT="[Text]" custT="1"/>
      <dgm:spPr/>
      <dgm:t>
        <a:bodyPr/>
        <a:lstStyle/>
        <a:p>
          <a:r>
            <a:rPr lang="en-GB" sz="1400" b="1" smtClean="0"/>
            <a:t>Relatedness</a:t>
          </a:r>
          <a:endParaRPr lang="en-GB" sz="1400" b="1" dirty="0"/>
        </a:p>
      </dgm:t>
    </dgm:pt>
    <dgm:pt modelId="{C1FC1DAB-0D70-4370-86EE-8A02EEBFF6A1}" type="parTrans" cxnId="{BD1C3CD0-B815-4671-A36C-B7DC6E1FD04B}">
      <dgm:prSet/>
      <dgm:spPr/>
      <dgm:t>
        <a:bodyPr/>
        <a:lstStyle/>
        <a:p>
          <a:endParaRPr lang="en-GB"/>
        </a:p>
      </dgm:t>
    </dgm:pt>
    <dgm:pt modelId="{E9176E18-2975-456F-A060-BD7AFA574FC9}" type="sibTrans" cxnId="{BD1C3CD0-B815-4671-A36C-B7DC6E1FD04B}">
      <dgm:prSet/>
      <dgm:spPr/>
      <dgm:t>
        <a:bodyPr/>
        <a:lstStyle/>
        <a:p>
          <a:endParaRPr lang="en-GB"/>
        </a:p>
      </dgm:t>
    </dgm:pt>
    <dgm:pt modelId="{87B68069-4953-41A0-ABC9-4C401435BEFA}" type="pres">
      <dgm:prSet presAssocID="{A537DEAB-FEEC-4AB0-A29C-55DC10301F8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4DACFEA-E644-423C-833E-504BCCE09CA4}" type="pres">
      <dgm:prSet presAssocID="{BE7EC4E2-02A0-4BB1-A27A-A603D44B4FA1}" presName="centerShape" presStyleLbl="node0" presStyleIdx="0" presStyleCnt="1"/>
      <dgm:spPr/>
      <dgm:t>
        <a:bodyPr/>
        <a:lstStyle/>
        <a:p>
          <a:endParaRPr lang="en-GB"/>
        </a:p>
      </dgm:t>
    </dgm:pt>
    <dgm:pt modelId="{C2D641B0-B6DE-496C-B8E5-7485D9EC00C6}" type="pres">
      <dgm:prSet presAssocID="{15B9AD43-E8C2-4F23-BC94-DD1E9CFBF435}" presName="node" presStyleLbl="node1" presStyleIdx="0" presStyleCnt="3" custScaleX="11001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99EE8E1-1D3C-4DDA-A142-2BADE072931E}" type="pres">
      <dgm:prSet presAssocID="{15B9AD43-E8C2-4F23-BC94-DD1E9CFBF435}" presName="dummy" presStyleCnt="0"/>
      <dgm:spPr/>
    </dgm:pt>
    <dgm:pt modelId="{5ABA570A-D0BE-4EC9-A2E0-AA4E9422ED76}" type="pres">
      <dgm:prSet presAssocID="{FB0C9AD9-A320-41B0-979B-3E8396C558E2}" presName="sibTrans" presStyleLbl="sibTrans2D1" presStyleIdx="0" presStyleCnt="3"/>
      <dgm:spPr/>
      <dgm:t>
        <a:bodyPr/>
        <a:lstStyle/>
        <a:p>
          <a:endParaRPr lang="en-GB"/>
        </a:p>
      </dgm:t>
    </dgm:pt>
    <dgm:pt modelId="{9CC6EA5E-A66F-4969-A70A-CA87A00FD540}" type="pres">
      <dgm:prSet presAssocID="{1B777517-A4C4-4129-A926-6E87BEFE6433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627F88-D7D2-4DF3-A5DB-937A0472FB30}" type="pres">
      <dgm:prSet presAssocID="{1B777517-A4C4-4129-A926-6E87BEFE6433}" presName="dummy" presStyleCnt="0"/>
      <dgm:spPr/>
    </dgm:pt>
    <dgm:pt modelId="{EA9E1BCF-5240-42C0-A31D-7534024EDFE6}" type="pres">
      <dgm:prSet presAssocID="{9F0204D1-E8D4-4A52-8193-AEC9E19A97A9}" presName="sibTrans" presStyleLbl="sibTrans2D1" presStyleIdx="1" presStyleCnt="3"/>
      <dgm:spPr/>
      <dgm:t>
        <a:bodyPr/>
        <a:lstStyle/>
        <a:p>
          <a:endParaRPr lang="en-GB"/>
        </a:p>
      </dgm:t>
    </dgm:pt>
    <dgm:pt modelId="{31B5031D-613E-4FDC-976B-B72AED8DBDA1}" type="pres">
      <dgm:prSet presAssocID="{A15F55F9-AF68-4086-9A67-705998C3D8A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2197760-D977-4AD6-9191-864EEC2DDD6A}" type="pres">
      <dgm:prSet presAssocID="{A15F55F9-AF68-4086-9A67-705998C3D8AC}" presName="dummy" presStyleCnt="0"/>
      <dgm:spPr/>
    </dgm:pt>
    <dgm:pt modelId="{80CA9090-2531-4528-99CF-BA09F56298F0}" type="pres">
      <dgm:prSet presAssocID="{E9176E18-2975-456F-A060-BD7AFA574FC9}" presName="sibTrans" presStyleLbl="sibTrans2D1" presStyleIdx="2" presStyleCnt="3"/>
      <dgm:spPr/>
      <dgm:t>
        <a:bodyPr/>
        <a:lstStyle/>
        <a:p>
          <a:endParaRPr lang="en-GB"/>
        </a:p>
      </dgm:t>
    </dgm:pt>
  </dgm:ptLst>
  <dgm:cxnLst>
    <dgm:cxn modelId="{A67CE935-F241-48BF-8D00-3A56899ED025}" srcId="{BE7EC4E2-02A0-4BB1-A27A-A603D44B4FA1}" destId="{1B777517-A4C4-4129-A926-6E87BEFE6433}" srcOrd="1" destOrd="0" parTransId="{91555635-D9F5-4518-AB0C-AFB06BFB5B2C}" sibTransId="{9F0204D1-E8D4-4A52-8193-AEC9E19A97A9}"/>
    <dgm:cxn modelId="{A2E3E244-ACD8-4EA8-B012-DAC461E7E8E4}" type="presOf" srcId="{15B9AD43-E8C2-4F23-BC94-DD1E9CFBF435}" destId="{C2D641B0-B6DE-496C-B8E5-7485D9EC00C6}" srcOrd="0" destOrd="0" presId="urn:microsoft.com/office/officeart/2005/8/layout/radial6"/>
    <dgm:cxn modelId="{CBACACFF-44A7-49E5-ABC8-ED5CAC571BFE}" type="presOf" srcId="{BE7EC4E2-02A0-4BB1-A27A-A603D44B4FA1}" destId="{C4DACFEA-E644-423C-833E-504BCCE09CA4}" srcOrd="0" destOrd="0" presId="urn:microsoft.com/office/officeart/2005/8/layout/radial6"/>
    <dgm:cxn modelId="{E2FE7D97-A449-4B12-9450-B459EE310CC2}" srcId="{A537DEAB-FEEC-4AB0-A29C-55DC10301F80}" destId="{BE7EC4E2-02A0-4BB1-A27A-A603D44B4FA1}" srcOrd="0" destOrd="0" parTransId="{321F9AA6-9016-4722-B687-ACB39AD43016}" sibTransId="{68C537E5-CDAD-450C-A2F8-2B08E1CF6D9B}"/>
    <dgm:cxn modelId="{B3D97628-27A0-45C9-88A4-7CA12EF724FB}" srcId="{BE7EC4E2-02A0-4BB1-A27A-A603D44B4FA1}" destId="{15B9AD43-E8C2-4F23-BC94-DD1E9CFBF435}" srcOrd="0" destOrd="0" parTransId="{6A21BE05-F62C-4933-B4B7-06FAD373B53F}" sibTransId="{FB0C9AD9-A320-41B0-979B-3E8396C558E2}"/>
    <dgm:cxn modelId="{BD1C3CD0-B815-4671-A36C-B7DC6E1FD04B}" srcId="{BE7EC4E2-02A0-4BB1-A27A-A603D44B4FA1}" destId="{A15F55F9-AF68-4086-9A67-705998C3D8AC}" srcOrd="2" destOrd="0" parTransId="{C1FC1DAB-0D70-4370-86EE-8A02EEBFF6A1}" sibTransId="{E9176E18-2975-456F-A060-BD7AFA574FC9}"/>
    <dgm:cxn modelId="{A628C986-EA82-475D-B7CC-3C008FAA057D}" type="presOf" srcId="{E9176E18-2975-456F-A060-BD7AFA574FC9}" destId="{80CA9090-2531-4528-99CF-BA09F56298F0}" srcOrd="0" destOrd="0" presId="urn:microsoft.com/office/officeart/2005/8/layout/radial6"/>
    <dgm:cxn modelId="{F071D7F8-07C5-47D7-AE02-46784F1707DF}" type="presOf" srcId="{A15F55F9-AF68-4086-9A67-705998C3D8AC}" destId="{31B5031D-613E-4FDC-976B-B72AED8DBDA1}" srcOrd="0" destOrd="0" presId="urn:microsoft.com/office/officeart/2005/8/layout/radial6"/>
    <dgm:cxn modelId="{4C64D66A-B9B6-4554-98DB-6CE2360DACA6}" type="presOf" srcId="{1B777517-A4C4-4129-A926-6E87BEFE6433}" destId="{9CC6EA5E-A66F-4969-A70A-CA87A00FD540}" srcOrd="0" destOrd="0" presId="urn:microsoft.com/office/officeart/2005/8/layout/radial6"/>
    <dgm:cxn modelId="{E9B72BDD-FD24-4FB6-8912-06E6CC250102}" type="presOf" srcId="{FB0C9AD9-A320-41B0-979B-3E8396C558E2}" destId="{5ABA570A-D0BE-4EC9-A2E0-AA4E9422ED76}" srcOrd="0" destOrd="0" presId="urn:microsoft.com/office/officeart/2005/8/layout/radial6"/>
    <dgm:cxn modelId="{EEFA7C9B-D59C-4C92-B259-81C68CDBE53E}" type="presOf" srcId="{A537DEAB-FEEC-4AB0-A29C-55DC10301F80}" destId="{87B68069-4953-41A0-ABC9-4C401435BEFA}" srcOrd="0" destOrd="0" presId="urn:microsoft.com/office/officeart/2005/8/layout/radial6"/>
    <dgm:cxn modelId="{66C13C9E-332F-445F-8CCD-5938987E8EDA}" type="presOf" srcId="{9F0204D1-E8D4-4A52-8193-AEC9E19A97A9}" destId="{EA9E1BCF-5240-42C0-A31D-7534024EDFE6}" srcOrd="0" destOrd="0" presId="urn:microsoft.com/office/officeart/2005/8/layout/radial6"/>
    <dgm:cxn modelId="{E8F21900-E4C7-42EE-92C5-47BAB3A33A6A}" type="presParOf" srcId="{87B68069-4953-41A0-ABC9-4C401435BEFA}" destId="{C4DACFEA-E644-423C-833E-504BCCE09CA4}" srcOrd="0" destOrd="0" presId="urn:microsoft.com/office/officeart/2005/8/layout/radial6"/>
    <dgm:cxn modelId="{E6BA3412-1C56-4DC8-B6AF-46551D8409A0}" type="presParOf" srcId="{87B68069-4953-41A0-ABC9-4C401435BEFA}" destId="{C2D641B0-B6DE-496C-B8E5-7485D9EC00C6}" srcOrd="1" destOrd="0" presId="urn:microsoft.com/office/officeart/2005/8/layout/radial6"/>
    <dgm:cxn modelId="{EA6A5819-63A4-46F5-B4E3-EC568B4B6CCA}" type="presParOf" srcId="{87B68069-4953-41A0-ABC9-4C401435BEFA}" destId="{699EE8E1-1D3C-4DDA-A142-2BADE072931E}" srcOrd="2" destOrd="0" presId="urn:microsoft.com/office/officeart/2005/8/layout/radial6"/>
    <dgm:cxn modelId="{002FDD05-F8E0-4E72-A3EF-977EA4A2BDF5}" type="presParOf" srcId="{87B68069-4953-41A0-ABC9-4C401435BEFA}" destId="{5ABA570A-D0BE-4EC9-A2E0-AA4E9422ED76}" srcOrd="3" destOrd="0" presId="urn:microsoft.com/office/officeart/2005/8/layout/radial6"/>
    <dgm:cxn modelId="{AB12E634-E4E3-4B98-BD20-4B238CD41711}" type="presParOf" srcId="{87B68069-4953-41A0-ABC9-4C401435BEFA}" destId="{9CC6EA5E-A66F-4969-A70A-CA87A00FD540}" srcOrd="4" destOrd="0" presId="urn:microsoft.com/office/officeart/2005/8/layout/radial6"/>
    <dgm:cxn modelId="{8EBA1945-EEC5-4338-A483-56360304AD15}" type="presParOf" srcId="{87B68069-4953-41A0-ABC9-4C401435BEFA}" destId="{E2627F88-D7D2-4DF3-A5DB-937A0472FB30}" srcOrd="5" destOrd="0" presId="urn:microsoft.com/office/officeart/2005/8/layout/radial6"/>
    <dgm:cxn modelId="{AA303811-CC39-4E2E-8BC8-3F7EABD020B5}" type="presParOf" srcId="{87B68069-4953-41A0-ABC9-4C401435BEFA}" destId="{EA9E1BCF-5240-42C0-A31D-7534024EDFE6}" srcOrd="6" destOrd="0" presId="urn:microsoft.com/office/officeart/2005/8/layout/radial6"/>
    <dgm:cxn modelId="{1BD54347-DC05-4813-B0E6-94C0BC7F4883}" type="presParOf" srcId="{87B68069-4953-41A0-ABC9-4C401435BEFA}" destId="{31B5031D-613E-4FDC-976B-B72AED8DBDA1}" srcOrd="7" destOrd="0" presId="urn:microsoft.com/office/officeart/2005/8/layout/radial6"/>
    <dgm:cxn modelId="{E09639AB-57BC-40BD-906C-F1505790A7D9}" type="presParOf" srcId="{87B68069-4953-41A0-ABC9-4C401435BEFA}" destId="{62197760-D977-4AD6-9191-864EEC2DDD6A}" srcOrd="8" destOrd="0" presId="urn:microsoft.com/office/officeart/2005/8/layout/radial6"/>
    <dgm:cxn modelId="{880ACC6D-AB81-4819-9766-40FAAE8E9913}" type="presParOf" srcId="{87B68069-4953-41A0-ABC9-4C401435BEFA}" destId="{80CA9090-2531-4528-99CF-BA09F56298F0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A9090-2531-4528-99CF-BA09F56298F0}">
      <dsp:nvSpPr>
        <dsp:cNvPr id="0" name=""/>
        <dsp:cNvSpPr/>
      </dsp:nvSpPr>
      <dsp:spPr>
        <a:xfrm>
          <a:off x="2134270" y="645073"/>
          <a:ext cx="4301328" cy="4301328"/>
        </a:xfrm>
        <a:prstGeom prst="blockArc">
          <a:avLst>
            <a:gd name="adj1" fmla="val 9000000"/>
            <a:gd name="adj2" fmla="val 16200000"/>
            <a:gd name="adj3" fmla="val 4638"/>
          </a:avLst>
        </a:prstGeom>
        <a:gradFill rotWithShape="0">
          <a:gsLst>
            <a:gs pos="0">
              <a:schemeClr val="accent3">
                <a:hueOff val="10542897"/>
                <a:satOff val="-5193"/>
                <a:lumOff val="1843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10542897"/>
                <a:satOff val="-5193"/>
                <a:lumOff val="1843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10542897"/>
                <a:satOff val="-5193"/>
                <a:lumOff val="1843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9E1BCF-5240-42C0-A31D-7534024EDFE6}">
      <dsp:nvSpPr>
        <dsp:cNvPr id="0" name=""/>
        <dsp:cNvSpPr/>
      </dsp:nvSpPr>
      <dsp:spPr>
        <a:xfrm>
          <a:off x="2134270" y="645073"/>
          <a:ext cx="4301328" cy="4301328"/>
        </a:xfrm>
        <a:prstGeom prst="blockArc">
          <a:avLst>
            <a:gd name="adj1" fmla="val 1800000"/>
            <a:gd name="adj2" fmla="val 9000000"/>
            <a:gd name="adj3" fmla="val 4638"/>
          </a:avLst>
        </a:prstGeom>
        <a:gradFill rotWithShape="0">
          <a:gsLst>
            <a:gs pos="0">
              <a:schemeClr val="accent3">
                <a:hueOff val="5271449"/>
                <a:satOff val="-2597"/>
                <a:lumOff val="921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5271449"/>
                <a:satOff val="-2597"/>
                <a:lumOff val="921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5271449"/>
                <a:satOff val="-2597"/>
                <a:lumOff val="921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BA570A-D0BE-4EC9-A2E0-AA4E9422ED76}">
      <dsp:nvSpPr>
        <dsp:cNvPr id="0" name=""/>
        <dsp:cNvSpPr/>
      </dsp:nvSpPr>
      <dsp:spPr>
        <a:xfrm>
          <a:off x="2134270" y="645073"/>
          <a:ext cx="4301328" cy="4301328"/>
        </a:xfrm>
        <a:prstGeom prst="blockArc">
          <a:avLst>
            <a:gd name="adj1" fmla="val 16200000"/>
            <a:gd name="adj2" fmla="val 1800000"/>
            <a:gd name="adj3" fmla="val 4638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DACFEA-E644-423C-833E-504BCCE09CA4}">
      <dsp:nvSpPr>
        <dsp:cNvPr id="0" name=""/>
        <dsp:cNvSpPr/>
      </dsp:nvSpPr>
      <dsp:spPr>
        <a:xfrm>
          <a:off x="3295298" y="1806102"/>
          <a:ext cx="1979271" cy="197927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b="1" kern="1200" dirty="0" smtClean="0"/>
            <a:t>Self-determination theory</a:t>
          </a:r>
          <a:endParaRPr lang="en-GB" sz="1700" b="1" kern="1200" dirty="0"/>
        </a:p>
      </dsp:txBody>
      <dsp:txXfrm>
        <a:off x="3585156" y="2095960"/>
        <a:ext cx="1399555" cy="1399555"/>
      </dsp:txXfrm>
    </dsp:sp>
    <dsp:sp modelId="{C2D641B0-B6DE-496C-B8E5-7485D9EC00C6}">
      <dsp:nvSpPr>
        <dsp:cNvPr id="0" name=""/>
        <dsp:cNvSpPr/>
      </dsp:nvSpPr>
      <dsp:spPr>
        <a:xfrm>
          <a:off x="3522824" y="2206"/>
          <a:ext cx="1524219" cy="138549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Competence</a:t>
          </a:r>
          <a:endParaRPr lang="en-GB" sz="1400" b="1" kern="1200" dirty="0"/>
        </a:p>
      </dsp:txBody>
      <dsp:txXfrm>
        <a:off x="3746041" y="205106"/>
        <a:ext cx="1077785" cy="979690"/>
      </dsp:txXfrm>
    </dsp:sp>
    <dsp:sp modelId="{9CC6EA5E-A66F-4969-A70A-CA87A00FD540}">
      <dsp:nvSpPr>
        <dsp:cNvPr id="0" name=""/>
        <dsp:cNvSpPr/>
      </dsp:nvSpPr>
      <dsp:spPr>
        <a:xfrm>
          <a:off x="5411524" y="3153386"/>
          <a:ext cx="1385490" cy="1385490"/>
        </a:xfrm>
        <a:prstGeom prst="ellipse">
          <a:avLst/>
        </a:prstGeom>
        <a:gradFill rotWithShape="0">
          <a:gsLst>
            <a:gs pos="0">
              <a:schemeClr val="accent3">
                <a:hueOff val="5271449"/>
                <a:satOff val="-2597"/>
                <a:lumOff val="921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5271449"/>
                <a:satOff val="-2597"/>
                <a:lumOff val="921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5271449"/>
                <a:satOff val="-2597"/>
                <a:lumOff val="921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dirty="0" smtClean="0"/>
            <a:t>Autonomy</a:t>
          </a:r>
          <a:endParaRPr lang="en-GB" sz="1400" b="1" kern="1200" dirty="0"/>
        </a:p>
      </dsp:txBody>
      <dsp:txXfrm>
        <a:off x="5614424" y="3356286"/>
        <a:ext cx="979690" cy="979690"/>
      </dsp:txXfrm>
    </dsp:sp>
    <dsp:sp modelId="{31B5031D-613E-4FDC-976B-B72AED8DBDA1}">
      <dsp:nvSpPr>
        <dsp:cNvPr id="0" name=""/>
        <dsp:cNvSpPr/>
      </dsp:nvSpPr>
      <dsp:spPr>
        <a:xfrm>
          <a:off x="1772854" y="3153386"/>
          <a:ext cx="1385490" cy="1385490"/>
        </a:xfrm>
        <a:prstGeom prst="ellipse">
          <a:avLst/>
        </a:prstGeom>
        <a:gradFill rotWithShape="0">
          <a:gsLst>
            <a:gs pos="0">
              <a:schemeClr val="accent3">
                <a:hueOff val="10542897"/>
                <a:satOff val="-5193"/>
                <a:lumOff val="1843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3">
                <a:hueOff val="10542897"/>
                <a:satOff val="-5193"/>
                <a:lumOff val="1843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3">
                <a:hueOff val="10542897"/>
                <a:satOff val="-5193"/>
                <a:lumOff val="1843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b="1" kern="1200" smtClean="0"/>
            <a:t>Relatedness</a:t>
          </a:r>
          <a:endParaRPr lang="en-GB" sz="1400" b="1" kern="1200" dirty="0"/>
        </a:p>
      </dsp:txBody>
      <dsp:txXfrm>
        <a:off x="1975754" y="3356286"/>
        <a:ext cx="979690" cy="979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78BE4-17A1-496C-A446-3F323D8B74FB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53CFA-E84C-4D12-A03B-14ABABB09E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3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55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930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889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13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264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946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778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389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475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683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999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53CFA-E84C-4D12-A03B-14ABABB09E7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11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42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88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811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40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49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33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48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41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6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61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8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EA46379-D283-4CEC-A913-62F2B8CA5189}" type="datetimeFigureOut">
              <a:rPr lang="en-GB" smtClean="0"/>
              <a:t>18/12/2015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05B31AD-8FDC-470B-8E74-C8EB413A6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959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theoriesofmind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anfrancoconti.files.wordpress.com/2015/08/download-5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Cued Spelling </a:t>
            </a:r>
            <a:endParaRPr lang="en-GB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25" y="2598983"/>
            <a:ext cx="5405987" cy="30033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5495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243"/>
            <a:ext cx="7772400" cy="1508760"/>
          </a:xfrm>
        </p:spPr>
        <p:txBody>
          <a:bodyPr/>
          <a:lstStyle/>
          <a:p>
            <a:r>
              <a:rPr lang="en-GB" b="1" dirty="0" smtClean="0"/>
              <a:t>overview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523245"/>
            <a:ext cx="9144000" cy="83407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What is Cued Spelling? </a:t>
            </a:r>
          </a:p>
          <a:p>
            <a:r>
              <a:rPr lang="en-GB" sz="2600" dirty="0" smtClean="0">
                <a:solidFill>
                  <a:schemeClr val="bg1"/>
                </a:solidFill>
              </a:rPr>
              <a:t> </a:t>
            </a:r>
          </a:p>
          <a:p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What is the underpinning psychology? </a:t>
            </a:r>
          </a:p>
          <a:p>
            <a:endParaRPr lang="en-GB" sz="2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How effective is it?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Future research / Implications for  practice </a:t>
            </a: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773" y="435005"/>
            <a:ext cx="3069327" cy="230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8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What is it?</a:t>
            </a:r>
            <a:endParaRPr lang="en-GB" b="1" dirty="0"/>
          </a:p>
        </p:txBody>
      </p:sp>
      <p:sp>
        <p:nvSpPr>
          <p:cNvPr id="3" name="Rectangle 2"/>
          <p:cNvSpPr/>
          <p:nvPr/>
        </p:nvSpPr>
        <p:spPr>
          <a:xfrm>
            <a:off x="0" y="1792936"/>
            <a:ext cx="9144000" cy="53942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t="6667" r="14815" b="10370"/>
          <a:stretch/>
        </p:blipFill>
        <p:spPr>
          <a:xfrm>
            <a:off x="4571219" y="1260673"/>
            <a:ext cx="3590142" cy="43004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73206" y="1792936"/>
            <a:ext cx="34119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“A user friendly and durable procedure designed to facilitate individualised, self-managed learning of spelling skills.”</a:t>
            </a:r>
          </a:p>
          <a:p>
            <a:pPr algn="ctr"/>
            <a:endParaRPr lang="en-GB" sz="2400" dirty="0" smtClean="0">
              <a:solidFill>
                <a:schemeClr val="bg1"/>
              </a:solidFill>
            </a:endParaRPr>
          </a:p>
          <a:p>
            <a:pPr algn="ctr"/>
            <a:r>
              <a:rPr lang="en-GB" sz="2400" dirty="0" smtClean="0">
                <a:solidFill>
                  <a:schemeClr val="bg1"/>
                </a:solidFill>
              </a:rPr>
              <a:t>(Topping, 1995) 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51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Underpinning psychology</a:t>
            </a:r>
            <a:endParaRPr lang="en-GB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728" y="2413000"/>
            <a:ext cx="4648981" cy="348673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401486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1. Peer tutoring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1792936"/>
            <a:ext cx="7506270" cy="96026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1"/>
                </a:solidFill>
              </a:rPr>
              <a:t>Distinctive form of peer-assisted learning.</a:t>
            </a: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1"/>
                </a:solidFill>
              </a:rPr>
              <a:t>Informed by Vygotsky’s (1978) theory of </a:t>
            </a:r>
          </a:p>
          <a:p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smtClean="0">
                <a:solidFill>
                  <a:schemeClr val="bg1"/>
                </a:solidFill>
              </a:rPr>
              <a:t>    cognitive development. </a:t>
            </a: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1"/>
                </a:solidFill>
              </a:rPr>
              <a:t>Paired Reading (Topping, 1987). </a:t>
            </a: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1"/>
                </a:solidFill>
              </a:rPr>
              <a:t>Empirical evidence of academic and affective benefits for tutors and tutees.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 smtClean="0">
                <a:solidFill>
                  <a:schemeClr val="bg1"/>
                </a:solidFill>
              </a:rPr>
              <a:t>Recent meta-analysis identified 7 key program features for optimal effectiveness (Leung, 2014).  </a:t>
            </a:r>
          </a:p>
          <a:p>
            <a:endParaRPr lang="en-GB" sz="2200" dirty="0" smtClean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06269" y="1792936"/>
            <a:ext cx="1637731" cy="50650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304" y="1336418"/>
            <a:ext cx="3452939" cy="196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9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2. The learning hierarchy</a:t>
            </a:r>
            <a:endParaRPr lang="en-GB" b="1" dirty="0"/>
          </a:p>
        </p:txBody>
      </p:sp>
      <p:sp>
        <p:nvSpPr>
          <p:cNvPr id="3" name="Rectangle 2"/>
          <p:cNvSpPr/>
          <p:nvPr/>
        </p:nvSpPr>
        <p:spPr>
          <a:xfrm>
            <a:off x="0" y="1551059"/>
            <a:ext cx="9144000" cy="53069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Diagram 3"/>
          <p:cNvGrpSpPr>
            <a:grpSpLocks/>
          </p:cNvGrpSpPr>
          <p:nvPr/>
        </p:nvGrpSpPr>
        <p:grpSpPr bwMode="auto">
          <a:xfrm>
            <a:off x="0" y="1038556"/>
            <a:ext cx="9844087" cy="5299890"/>
            <a:chOff x="628" y="1197"/>
            <a:chExt cx="4898" cy="2637"/>
          </a:xfrm>
          <a:solidFill>
            <a:srgbClr val="979BBB"/>
          </a:solidFill>
        </p:grpSpPr>
        <p:sp>
          <p:nvSpPr>
            <p:cNvPr id="5" name="_s1028"/>
            <p:cNvSpPr>
              <a:spLocks noChangeArrowheads="1"/>
            </p:cNvSpPr>
            <p:nvPr/>
          </p:nvSpPr>
          <p:spPr bwMode="auto">
            <a:xfrm flipV="1">
              <a:off x="2831" y="1452"/>
              <a:ext cx="491" cy="426"/>
            </a:xfrm>
            <a:custGeom>
              <a:avLst/>
              <a:gdLst>
                <a:gd name="G0" fmla="+- 10800 0 0"/>
                <a:gd name="G1" fmla="+- 21600 0 10800"/>
                <a:gd name="G2" fmla="*/ 10800 1 2"/>
                <a:gd name="G3" fmla="+- 21600 0 G2"/>
                <a:gd name="G4" fmla="+/ 10800 21600 2"/>
                <a:gd name="G5" fmla="+/ G1 0 2"/>
                <a:gd name="G6" fmla="*/ 21600 21600 10800"/>
                <a:gd name="G7" fmla="*/ G6 1 2"/>
                <a:gd name="G8" fmla="+- 21600 0 G7"/>
                <a:gd name="G9" fmla="*/ 21600 1 2"/>
                <a:gd name="G10" fmla="+- 10800 0 G9"/>
                <a:gd name="G11" fmla="?: G10 G8 0"/>
                <a:gd name="G12" fmla="?: G10 G7 21600"/>
                <a:gd name="T0" fmla="*/ 16200 w 21600"/>
                <a:gd name="T1" fmla="*/ 10800 h 21600"/>
                <a:gd name="T2" fmla="*/ 10800 w 21600"/>
                <a:gd name="T3" fmla="*/ 21600 h 21600"/>
                <a:gd name="T4" fmla="*/ 5400 w 21600"/>
                <a:gd name="T5" fmla="*/ 10800 h 21600"/>
                <a:gd name="T6" fmla="*/ 10800 w 21600"/>
                <a:gd name="T7" fmla="*/ 0 h 21600"/>
                <a:gd name="T8" fmla="*/ 7200 w 21600"/>
                <a:gd name="T9" fmla="*/ 7200 h 21600"/>
                <a:gd name="T10" fmla="*/ 14400 w 21600"/>
                <a:gd name="T11" fmla="*/ 144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1080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4670" algn="in">
              <a:solidFill>
                <a:schemeClr val="accent1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sha" panose="020B0502040204020203" pitchFamily="34" charset="-79"/>
                  <a:cs typeface="Gisha" panose="020B0502040204020203" pitchFamily="34" charset="-79"/>
                </a:rPr>
                <a:t>Adaptation</a:t>
              </a:r>
              <a:endParaRPr lang="en-GB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6" name="_s1029"/>
            <p:cNvSpPr>
              <a:spLocks noChangeArrowheads="1"/>
            </p:cNvSpPr>
            <p:nvPr/>
          </p:nvSpPr>
          <p:spPr bwMode="auto">
            <a:xfrm flipV="1">
              <a:off x="2585" y="1878"/>
              <a:ext cx="983" cy="425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4670" algn="in">
              <a:solidFill>
                <a:schemeClr val="accent1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sha" panose="020B0502040204020203" pitchFamily="34" charset="-79"/>
                  <a:cs typeface="Gisha" panose="020B0502040204020203" pitchFamily="34" charset="-79"/>
                </a:rPr>
                <a:t>Generalisation</a:t>
              </a:r>
              <a:endParaRPr lang="en-GB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_s1030"/>
            <p:cNvSpPr>
              <a:spLocks noChangeArrowheads="1"/>
            </p:cNvSpPr>
            <p:nvPr/>
          </p:nvSpPr>
          <p:spPr bwMode="auto">
            <a:xfrm flipV="1">
              <a:off x="2339" y="2303"/>
              <a:ext cx="1475" cy="426"/>
            </a:xfrm>
            <a:custGeom>
              <a:avLst/>
              <a:gdLst>
                <a:gd name="G0" fmla="+- 3600 0 0"/>
                <a:gd name="G1" fmla="+- 21600 0 3600"/>
                <a:gd name="G2" fmla="*/ 3600 1 2"/>
                <a:gd name="G3" fmla="+- 21600 0 G2"/>
                <a:gd name="G4" fmla="+/ 3600 21600 2"/>
                <a:gd name="G5" fmla="+/ G1 0 2"/>
                <a:gd name="G6" fmla="*/ 21600 21600 3600"/>
                <a:gd name="G7" fmla="*/ G6 1 2"/>
                <a:gd name="G8" fmla="+- 21600 0 G7"/>
                <a:gd name="G9" fmla="*/ 21600 1 2"/>
                <a:gd name="G10" fmla="+- 3600 0 G9"/>
                <a:gd name="G11" fmla="?: G10 G8 0"/>
                <a:gd name="G12" fmla="?: G10 G7 21600"/>
                <a:gd name="T0" fmla="*/ 19800 w 21600"/>
                <a:gd name="T1" fmla="*/ 10800 h 21600"/>
                <a:gd name="T2" fmla="*/ 10800 w 21600"/>
                <a:gd name="T3" fmla="*/ 21600 h 21600"/>
                <a:gd name="T4" fmla="*/ 1800 w 21600"/>
                <a:gd name="T5" fmla="*/ 10800 h 21600"/>
                <a:gd name="T6" fmla="*/ 10800 w 21600"/>
                <a:gd name="T7" fmla="*/ 0 h 21600"/>
                <a:gd name="T8" fmla="*/ 3600 w 21600"/>
                <a:gd name="T9" fmla="*/ 3600 h 21600"/>
                <a:gd name="T10" fmla="*/ 18000 w 21600"/>
                <a:gd name="T11" fmla="*/ 18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600" y="21600"/>
                  </a:lnTo>
                  <a:lnTo>
                    <a:pt x="1800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4670" algn="in">
              <a:solidFill>
                <a:schemeClr val="accent1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sha" panose="020B0502040204020203" pitchFamily="34" charset="-79"/>
                  <a:cs typeface="Gisha" panose="020B0502040204020203" pitchFamily="34" charset="-79"/>
                </a:rPr>
                <a:t>Maintenance</a:t>
              </a:r>
              <a:endParaRPr lang="en-GB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" name="_s1031"/>
            <p:cNvSpPr>
              <a:spLocks noChangeArrowheads="1"/>
            </p:cNvSpPr>
            <p:nvPr/>
          </p:nvSpPr>
          <p:spPr bwMode="auto">
            <a:xfrm flipV="1">
              <a:off x="2094" y="2729"/>
              <a:ext cx="1965" cy="425"/>
            </a:xfrm>
            <a:custGeom>
              <a:avLst/>
              <a:gdLst>
                <a:gd name="G0" fmla="+- 2700 0 0"/>
                <a:gd name="G1" fmla="+- 21600 0 2700"/>
                <a:gd name="G2" fmla="*/ 2700 1 2"/>
                <a:gd name="G3" fmla="+- 21600 0 G2"/>
                <a:gd name="G4" fmla="+/ 2700 21600 2"/>
                <a:gd name="G5" fmla="+/ G1 0 2"/>
                <a:gd name="G6" fmla="*/ 21600 21600 2700"/>
                <a:gd name="G7" fmla="*/ G6 1 2"/>
                <a:gd name="G8" fmla="+- 21600 0 G7"/>
                <a:gd name="G9" fmla="*/ 21600 1 2"/>
                <a:gd name="G10" fmla="+- 2700 0 G9"/>
                <a:gd name="G11" fmla="?: G10 G8 0"/>
                <a:gd name="G12" fmla="?: G10 G7 21600"/>
                <a:gd name="T0" fmla="*/ 20250 w 21600"/>
                <a:gd name="T1" fmla="*/ 10800 h 21600"/>
                <a:gd name="T2" fmla="*/ 10800 w 21600"/>
                <a:gd name="T3" fmla="*/ 21600 h 21600"/>
                <a:gd name="T4" fmla="*/ 1350 w 21600"/>
                <a:gd name="T5" fmla="*/ 10800 h 21600"/>
                <a:gd name="T6" fmla="*/ 10800 w 21600"/>
                <a:gd name="T7" fmla="*/ 0 h 21600"/>
                <a:gd name="T8" fmla="*/ 3150 w 21600"/>
                <a:gd name="T9" fmla="*/ 3150 h 21600"/>
                <a:gd name="T10" fmla="*/ 18450 w 21600"/>
                <a:gd name="T11" fmla="*/ 1845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700" y="21600"/>
                  </a:lnTo>
                  <a:lnTo>
                    <a:pt x="1890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4670" algn="in">
              <a:solidFill>
                <a:schemeClr val="accent1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ot="10800000" wrap="none" anchor="ctr"/>
            <a:lstStyle/>
            <a:p>
              <a:pPr algn="ctr">
                <a:defRPr/>
              </a:pPr>
              <a:endPara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  <a:p>
              <a:pPr algn="ctr">
                <a:defRPr/>
              </a:pPr>
              <a:r>
                <a:rPr lang="en-US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sha" panose="020B0502040204020203" pitchFamily="34" charset="-79"/>
                  <a:cs typeface="Gisha" panose="020B0502040204020203" pitchFamily="34" charset="-79"/>
                </a:rPr>
                <a:t>Fluency</a:t>
              </a:r>
              <a:endParaRPr lang="en-GB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9" name="_s1032"/>
            <p:cNvSpPr>
              <a:spLocks noChangeArrowheads="1"/>
            </p:cNvSpPr>
            <p:nvPr/>
          </p:nvSpPr>
          <p:spPr bwMode="auto">
            <a:xfrm flipV="1">
              <a:off x="1848" y="3154"/>
              <a:ext cx="2457" cy="426"/>
            </a:xfrm>
            <a:custGeom>
              <a:avLst/>
              <a:gdLst>
                <a:gd name="G0" fmla="+- 2160 0 0"/>
                <a:gd name="G1" fmla="+- 21600 0 2160"/>
                <a:gd name="G2" fmla="*/ 2160 1 2"/>
                <a:gd name="G3" fmla="+- 21600 0 G2"/>
                <a:gd name="G4" fmla="+/ 2160 21600 2"/>
                <a:gd name="G5" fmla="+/ G1 0 2"/>
                <a:gd name="G6" fmla="*/ 21600 21600 2160"/>
                <a:gd name="G7" fmla="*/ G6 1 2"/>
                <a:gd name="G8" fmla="+- 21600 0 G7"/>
                <a:gd name="G9" fmla="*/ 21600 1 2"/>
                <a:gd name="G10" fmla="+- 2160 0 G9"/>
                <a:gd name="G11" fmla="?: G10 G8 0"/>
                <a:gd name="G12" fmla="?: G10 G7 21600"/>
                <a:gd name="T0" fmla="*/ 20520 w 21600"/>
                <a:gd name="T1" fmla="*/ 10800 h 21600"/>
                <a:gd name="T2" fmla="*/ 10800 w 21600"/>
                <a:gd name="T3" fmla="*/ 21600 h 21600"/>
                <a:gd name="T4" fmla="*/ 1080 w 21600"/>
                <a:gd name="T5" fmla="*/ 10800 h 21600"/>
                <a:gd name="T6" fmla="*/ 10800 w 21600"/>
                <a:gd name="T7" fmla="*/ 0 h 21600"/>
                <a:gd name="T8" fmla="*/ 2880 w 21600"/>
                <a:gd name="T9" fmla="*/ 2880 h 21600"/>
                <a:gd name="T10" fmla="*/ 18720 w 21600"/>
                <a:gd name="T11" fmla="*/ 1872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160" y="21600"/>
                  </a:lnTo>
                  <a:lnTo>
                    <a:pt x="19440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4670" algn="in">
              <a:solidFill>
                <a:schemeClr val="accent1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sha" panose="020B0502040204020203" pitchFamily="34" charset="-79"/>
                  <a:cs typeface="Gisha" panose="020B0502040204020203" pitchFamily="34" charset="-79"/>
                </a:rPr>
                <a:t>Acquisition</a:t>
              </a:r>
              <a:endParaRPr lang="en-GB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54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3. Elaborative rehearsal</a:t>
            </a:r>
            <a:endParaRPr lang="en-GB" b="1" dirty="0"/>
          </a:p>
        </p:txBody>
      </p:sp>
      <p:sp>
        <p:nvSpPr>
          <p:cNvPr id="3" name="Rectangle 2"/>
          <p:cNvSpPr/>
          <p:nvPr/>
        </p:nvSpPr>
        <p:spPr>
          <a:xfrm>
            <a:off x="0" y="1792936"/>
            <a:ext cx="9144000" cy="50650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54" y="1792936"/>
            <a:ext cx="7641065" cy="369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17464" y="6211669"/>
            <a:ext cx="2797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  <a:hlinkClick r:id="rId4"/>
              </a:rPr>
              <a:t>www.theoriesofmind.com</a:t>
            </a:r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3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4. Meta-cognition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5936776" cy="532453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Individuals’ own awareness of their cognitive process and strategies.</a:t>
            </a:r>
          </a:p>
          <a:p>
            <a:endParaRPr lang="en-GB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Developing an awareness of when something new has been learned.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Though choosing and verbally articulating their cues, learners are developing an awareness of their strategies.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Self-checking facilitates self-monitoring and evaluation of cues. </a:t>
            </a:r>
          </a:p>
          <a:p>
            <a:endParaRPr lang="en-GB" sz="2000" dirty="0" smtClean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35214" y="1792936"/>
            <a:ext cx="3207224" cy="50650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026" name="Picture 2" descr="download (5)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490" y="2200612"/>
            <a:ext cx="2433217" cy="278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37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5. motivation</a:t>
            </a:r>
            <a:endParaRPr lang="en-GB" b="1" dirty="0"/>
          </a:p>
        </p:txBody>
      </p:sp>
      <p:sp>
        <p:nvSpPr>
          <p:cNvPr id="3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0" y="1792936"/>
            <a:ext cx="9144000" cy="507831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17731245"/>
              </p:ext>
            </p:extLst>
          </p:nvPr>
        </p:nvGraphicFramePr>
        <p:xfrm>
          <a:off x="439359" y="1337481"/>
          <a:ext cx="8569869" cy="5227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73003" y="6387152"/>
            <a:ext cx="323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Ryan and Deci (2000)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53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How effective is it? </a:t>
            </a:r>
            <a:endParaRPr lang="en-GB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19" y="2352747"/>
            <a:ext cx="5842000" cy="38991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405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5576"/>
            <a:ext cx="7772400" cy="1508760"/>
          </a:xfrm>
        </p:spPr>
        <p:txBody>
          <a:bodyPr/>
          <a:lstStyle/>
          <a:p>
            <a:r>
              <a:rPr lang="en-GB" b="1" dirty="0" smtClean="0"/>
              <a:t>Empirical research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914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335736"/>
            <a:ext cx="9144000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Emerson (1988); </a:t>
            </a:r>
            <a:r>
              <a:rPr lang="en-GB" b="1" dirty="0" err="1">
                <a:solidFill>
                  <a:schemeClr val="bg1"/>
                </a:solidFill>
              </a:rPr>
              <a:t>Scoble</a:t>
            </a:r>
            <a:r>
              <a:rPr lang="en-GB" b="1" dirty="0">
                <a:solidFill>
                  <a:schemeClr val="bg1"/>
                </a:solidFill>
              </a:rPr>
              <a:t> (1988, 1989)</a:t>
            </a:r>
            <a:endParaRPr lang="en-GB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Early descriptive research conducted with adult literacy learners. </a:t>
            </a:r>
            <a:endParaRPr lang="en-GB" dirty="0" smtClean="0">
              <a:solidFill>
                <a:schemeClr val="bg1"/>
              </a:solidFill>
            </a:endParaRPr>
          </a:p>
          <a:p>
            <a:pPr lvl="0"/>
            <a:endParaRPr lang="en-GB" dirty="0">
              <a:solidFill>
                <a:schemeClr val="bg1"/>
              </a:solidFill>
            </a:endParaRPr>
          </a:p>
          <a:p>
            <a:r>
              <a:rPr lang="en-GB" b="1" dirty="0" smtClean="0">
                <a:solidFill>
                  <a:schemeClr val="bg1"/>
                </a:solidFill>
              </a:rPr>
              <a:t>Brierley </a:t>
            </a:r>
            <a:r>
              <a:rPr lang="en-GB" b="1" dirty="0">
                <a:solidFill>
                  <a:schemeClr val="bg1"/>
                </a:solidFill>
              </a:rPr>
              <a:t>et al. (1989)</a:t>
            </a:r>
            <a:endParaRPr lang="en-GB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Increase in spelling age of 0.65 years.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Average mastery review scores = 80%.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84% of children felt happier about spelling, 85% felt better able to self-correct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bg1"/>
                </a:solidFill>
              </a:rPr>
              <a:t>Oxley and Topping (1990)</a:t>
            </a:r>
            <a:endParaRPr lang="en-GB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Improvements in spelling self-concept for tutors and tutees.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Ratio gains of 2.26 (tutees), 2.78 (tutors) and 3.30 (controls). </a:t>
            </a:r>
          </a:p>
          <a:p>
            <a:pPr lvl="0"/>
            <a:endParaRPr lang="en-GB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bg1"/>
                </a:solidFill>
              </a:rPr>
              <a:t>France et al. (1993)</a:t>
            </a:r>
            <a:endParaRPr lang="en-GB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Parent tutored approach.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Showed gains of 2.8 times the rate of a comparison group.  </a:t>
            </a:r>
            <a:endParaRPr lang="en-GB" dirty="0" smtClean="0">
              <a:solidFill>
                <a:schemeClr val="bg1"/>
              </a:solidFill>
            </a:endParaRPr>
          </a:p>
          <a:p>
            <a:pPr lvl="0"/>
            <a:endParaRPr lang="en-GB" dirty="0">
              <a:solidFill>
                <a:schemeClr val="bg1"/>
              </a:solidFill>
            </a:endParaRPr>
          </a:p>
          <a:p>
            <a:r>
              <a:rPr lang="en-GB" b="1" dirty="0">
                <a:solidFill>
                  <a:schemeClr val="bg1"/>
                </a:solidFill>
              </a:rPr>
              <a:t>Watt and Topping (1993)</a:t>
            </a:r>
            <a:endParaRPr lang="en-GB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Average mastery review scores = 93%.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Reported a reduction in spelling errors and specific improvements in free writing.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72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243"/>
            <a:ext cx="7772400" cy="1508760"/>
          </a:xfrm>
        </p:spPr>
        <p:txBody>
          <a:bodyPr/>
          <a:lstStyle/>
          <a:p>
            <a:r>
              <a:rPr lang="en-GB" b="1" dirty="0" smtClean="0"/>
              <a:t>evaluation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914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485440"/>
            <a:ext cx="9144000" cy="71404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 I</a:t>
            </a:r>
            <a:r>
              <a:rPr lang="en-GB" sz="2200" dirty="0" smtClean="0">
                <a:solidFill>
                  <a:schemeClr val="bg1"/>
                </a:solidFill>
              </a:rPr>
              <a:t>mproved spelling self-concept.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200" dirty="0" smtClean="0">
                <a:solidFill>
                  <a:schemeClr val="bg1"/>
                </a:solidFill>
              </a:rPr>
              <a:t>Beneficial for both tutors and tutees.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GB" sz="22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200" dirty="0">
                <a:solidFill>
                  <a:schemeClr val="bg1"/>
                </a:solidFill>
              </a:rPr>
              <a:t>Strong theoretical basis. </a:t>
            </a:r>
            <a:endParaRPr lang="en-GB" sz="2200" dirty="0" smtClean="0">
              <a:solidFill>
                <a:schemeClr val="bg1"/>
              </a:solidFill>
            </a:endParaRP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r>
              <a:rPr lang="en-GB" sz="2200" dirty="0" smtClean="0">
                <a:solidFill>
                  <a:schemeClr val="bg1"/>
                </a:solidFill>
              </a:rPr>
              <a:t>X   Improvement in children’s spelling skills is unclear.</a:t>
            </a: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r>
              <a:rPr lang="en-GB" sz="2200" dirty="0" smtClean="0">
                <a:solidFill>
                  <a:schemeClr val="bg1"/>
                </a:solidFill>
              </a:rPr>
              <a:t>X   Research is outdated and limited.  </a:t>
            </a: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X </a:t>
            </a:r>
            <a:r>
              <a:rPr lang="en-GB" sz="2200" dirty="0" smtClean="0">
                <a:solidFill>
                  <a:schemeClr val="bg1"/>
                </a:solidFill>
              </a:rPr>
              <a:t>  Inappropriate standardised spelling tests.</a:t>
            </a:r>
          </a:p>
          <a:p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X </a:t>
            </a:r>
            <a:r>
              <a:rPr lang="en-GB" sz="2200" dirty="0" smtClean="0">
                <a:solidFill>
                  <a:schemeClr val="bg1"/>
                </a:solidFill>
              </a:rPr>
              <a:t>  Inappropriate comparison groups.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11" y="1213480"/>
            <a:ext cx="2244393" cy="223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2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243"/>
            <a:ext cx="7772400" cy="1508760"/>
          </a:xfrm>
        </p:spPr>
        <p:txBody>
          <a:bodyPr/>
          <a:lstStyle/>
          <a:p>
            <a:r>
              <a:rPr lang="en-GB" b="1" dirty="0" smtClean="0"/>
              <a:t>Future research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9144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485440"/>
            <a:ext cx="9144000" cy="75405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Appropriate comparison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Comparison of Cued Spelling with an alternative approach.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Follow up studies.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Staff/parent perceptions of children’s spelling confidence/skills.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Evaluation of children’s spelling within their free </a:t>
            </a: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writing.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Measure of self-correction error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chemeClr val="bg1"/>
                </a:solidFill>
                <a:sym typeface="Wingdings" panose="05000000000000000000" pitchFamily="2" charset="2"/>
              </a:rPr>
              <a:t>Evaluation of number of errors.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88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243"/>
            <a:ext cx="7772400" cy="1508760"/>
          </a:xfrm>
        </p:spPr>
        <p:txBody>
          <a:bodyPr/>
          <a:lstStyle/>
          <a:p>
            <a:r>
              <a:rPr lang="en-GB" b="1" dirty="0" smtClean="0"/>
              <a:t>Implications for practice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5404513" cy="71404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A possible whole-class approach?</a:t>
            </a:r>
          </a:p>
          <a:p>
            <a:r>
              <a:rPr lang="en-GB" sz="2600" dirty="0" smtClean="0">
                <a:solidFill>
                  <a:schemeClr val="bg1"/>
                </a:solidFill>
              </a:rPr>
              <a:t> </a:t>
            </a:r>
          </a:p>
          <a:p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Fidelity to the intervention. </a:t>
            </a:r>
          </a:p>
          <a:p>
            <a:endParaRPr lang="en-GB" sz="2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chemeClr val="bg1"/>
                </a:solidFill>
              </a:rPr>
              <a:t>The importance of self-efficacy. </a:t>
            </a: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404513" y="1792936"/>
            <a:ext cx="3739487" cy="52083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8"/>
          <a:stretch/>
        </p:blipFill>
        <p:spPr>
          <a:xfrm rot="350538">
            <a:off x="5718276" y="1718010"/>
            <a:ext cx="2753571" cy="31331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8918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7243"/>
            <a:ext cx="7772400" cy="1508760"/>
          </a:xfrm>
        </p:spPr>
        <p:txBody>
          <a:bodyPr/>
          <a:lstStyle/>
          <a:p>
            <a:r>
              <a:rPr lang="en-GB" b="1" dirty="0" smtClean="0"/>
              <a:t>Any questions? 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792936"/>
            <a:ext cx="9144000" cy="517064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sz="2200" dirty="0" smtClean="0">
              <a:solidFill>
                <a:schemeClr val="bg1"/>
              </a:solidFill>
            </a:endParaRPr>
          </a:p>
          <a:p>
            <a:endParaRPr lang="en-GB" sz="2200" dirty="0">
              <a:solidFill>
                <a:schemeClr val="bg1"/>
              </a:solidFill>
            </a:endParaRPr>
          </a:p>
          <a:p>
            <a:endParaRPr lang="en-GB" sz="2200" dirty="0" smtClean="0">
              <a:solidFill>
                <a:schemeClr val="bg1"/>
              </a:solidFill>
            </a:endParaRPr>
          </a:p>
          <a:p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balance scales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2048062"/>
            <a:ext cx="54356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7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1370</TotalTime>
  <Words>462</Words>
  <Application>Microsoft Office PowerPoint</Application>
  <PresentationFormat>On-screen Show (4:3)</PresentationFormat>
  <Paragraphs>205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Banded</vt:lpstr>
      <vt:lpstr>Cued Spelling </vt:lpstr>
      <vt:lpstr>overview</vt:lpstr>
      <vt:lpstr>What is it?</vt:lpstr>
      <vt:lpstr>Underpinning psychology</vt:lpstr>
      <vt:lpstr>1. Peer tutoring</vt:lpstr>
      <vt:lpstr>2. The learning hierarchy</vt:lpstr>
      <vt:lpstr>3. Elaborative rehearsal</vt:lpstr>
      <vt:lpstr>4. Meta-cognition</vt:lpstr>
      <vt:lpstr>5. motivation</vt:lpstr>
      <vt:lpstr>How effective is it? </vt:lpstr>
      <vt:lpstr>Empirical research</vt:lpstr>
      <vt:lpstr>evaluation</vt:lpstr>
      <vt:lpstr>Future research</vt:lpstr>
      <vt:lpstr>Implications for practice</vt:lpstr>
      <vt:lpstr>Any questions?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Cued Spelling</dc:title>
  <dc:creator>Larissa</dc:creator>
  <cp:lastModifiedBy>CW</cp:lastModifiedBy>
  <cp:revision>72</cp:revision>
  <dcterms:created xsi:type="dcterms:W3CDTF">2015-12-06T20:11:25Z</dcterms:created>
  <dcterms:modified xsi:type="dcterms:W3CDTF">2015-12-18T08:56:40Z</dcterms:modified>
</cp:coreProperties>
</file>