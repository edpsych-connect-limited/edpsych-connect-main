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01" autoAdjust="0"/>
    <p:restoredTop sz="78352" autoAdjust="0"/>
  </p:normalViewPr>
  <p:slideViewPr>
    <p:cSldViewPr snapToGrid="0">
      <p:cViewPr varScale="1">
        <p:scale>
          <a:sx n="76" d="100"/>
          <a:sy n="76"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DB5A11-4053-465B-8FAE-9C0D45A8B7E4}" type="doc">
      <dgm:prSet loTypeId="urn:microsoft.com/office/officeart/2005/8/layout/process1" loCatId="process" qsTypeId="urn:microsoft.com/office/officeart/2005/8/quickstyle/simple1" qsCatId="simple" csTypeId="urn:microsoft.com/office/officeart/2005/8/colors/accent1_2" csCatId="accent1" phldr="1"/>
      <dgm:spPr/>
    </dgm:pt>
    <dgm:pt modelId="{BA07C475-A58E-4C00-9895-AE906DDCFBC5}">
      <dgm:prSet phldrT="[Text]" custT="1"/>
      <dgm:spPr/>
      <dgm:t>
        <a:bodyPr/>
        <a:lstStyle/>
        <a:p>
          <a:r>
            <a:rPr lang="en-GB" sz="3000" dirty="0" smtClean="0"/>
            <a:t>Learning 1</a:t>
          </a:r>
          <a:endParaRPr lang="en-GB" sz="3000" dirty="0"/>
        </a:p>
      </dgm:t>
    </dgm:pt>
    <dgm:pt modelId="{93A46EC9-5E06-4414-9EB1-557AE9189D66}" type="parTrans" cxnId="{2264D186-2580-4366-8A33-158C6969A775}">
      <dgm:prSet/>
      <dgm:spPr/>
      <dgm:t>
        <a:bodyPr/>
        <a:lstStyle/>
        <a:p>
          <a:endParaRPr lang="en-GB"/>
        </a:p>
      </dgm:t>
    </dgm:pt>
    <dgm:pt modelId="{3562A385-4054-488A-8B66-CB443724B1EB}" type="sibTrans" cxnId="{2264D186-2580-4366-8A33-158C6969A775}">
      <dgm:prSet/>
      <dgm:spPr/>
      <dgm:t>
        <a:bodyPr/>
        <a:lstStyle/>
        <a:p>
          <a:endParaRPr lang="en-GB"/>
        </a:p>
      </dgm:t>
    </dgm:pt>
    <dgm:pt modelId="{6F122E99-E849-418C-9AF7-B31EE5CD3E98}">
      <dgm:prSet phldrT="[Text]" custT="1"/>
      <dgm:spPr/>
      <dgm:t>
        <a:bodyPr/>
        <a:lstStyle/>
        <a:p>
          <a:r>
            <a:rPr lang="en-GB" sz="3000" dirty="0" smtClean="0"/>
            <a:t>Learning 2</a:t>
          </a:r>
          <a:endParaRPr lang="en-GB" sz="3000" dirty="0"/>
        </a:p>
      </dgm:t>
    </dgm:pt>
    <dgm:pt modelId="{9FDEBC6F-2961-487C-8532-693770CF2123}" type="parTrans" cxnId="{6C143CD4-5D4C-43A0-862A-0FAA2AFCF717}">
      <dgm:prSet/>
      <dgm:spPr/>
      <dgm:t>
        <a:bodyPr/>
        <a:lstStyle/>
        <a:p>
          <a:endParaRPr lang="en-GB"/>
        </a:p>
      </dgm:t>
    </dgm:pt>
    <dgm:pt modelId="{F4C0F5DB-9821-4B00-851C-DDF3B8B39938}" type="sibTrans" cxnId="{6C143CD4-5D4C-43A0-862A-0FAA2AFCF717}">
      <dgm:prSet/>
      <dgm:spPr/>
      <dgm:t>
        <a:bodyPr/>
        <a:lstStyle/>
        <a:p>
          <a:endParaRPr lang="en-GB"/>
        </a:p>
      </dgm:t>
    </dgm:pt>
    <dgm:pt modelId="{6DCE3DA8-439F-47AA-ABE8-038E10C18250}">
      <dgm:prSet phldrT="[Text]" custT="1"/>
      <dgm:spPr/>
      <dgm:t>
        <a:bodyPr/>
        <a:lstStyle/>
        <a:p>
          <a:r>
            <a:rPr lang="en-GB" sz="3000" dirty="0" smtClean="0"/>
            <a:t>Learning 3</a:t>
          </a:r>
          <a:endParaRPr lang="en-GB" sz="3000" dirty="0"/>
        </a:p>
      </dgm:t>
    </dgm:pt>
    <dgm:pt modelId="{875295B3-37AF-4D0B-9FBB-E10C04474F36}" type="parTrans" cxnId="{5A184B06-1818-4E7B-AE67-BE05A594221B}">
      <dgm:prSet/>
      <dgm:spPr/>
      <dgm:t>
        <a:bodyPr/>
        <a:lstStyle/>
        <a:p>
          <a:endParaRPr lang="en-GB"/>
        </a:p>
      </dgm:t>
    </dgm:pt>
    <dgm:pt modelId="{F0A368CE-23B0-4880-B56C-AFFE362B565E}" type="sibTrans" cxnId="{5A184B06-1818-4E7B-AE67-BE05A594221B}">
      <dgm:prSet/>
      <dgm:spPr/>
      <dgm:t>
        <a:bodyPr/>
        <a:lstStyle/>
        <a:p>
          <a:endParaRPr lang="en-GB"/>
        </a:p>
      </dgm:t>
    </dgm:pt>
    <dgm:pt modelId="{9796CC73-BC94-4D0A-B08B-45240DA60D9E}" type="pres">
      <dgm:prSet presAssocID="{DDDB5A11-4053-465B-8FAE-9C0D45A8B7E4}" presName="Name0" presStyleCnt="0">
        <dgm:presLayoutVars>
          <dgm:dir/>
          <dgm:resizeHandles val="exact"/>
        </dgm:presLayoutVars>
      </dgm:prSet>
      <dgm:spPr/>
    </dgm:pt>
    <dgm:pt modelId="{2020D1AA-BB58-4102-9139-E31F7EA4FFED}" type="pres">
      <dgm:prSet presAssocID="{BA07C475-A58E-4C00-9895-AE906DDCFBC5}" presName="node" presStyleLbl="node1" presStyleIdx="0" presStyleCnt="3">
        <dgm:presLayoutVars>
          <dgm:bulletEnabled val="1"/>
        </dgm:presLayoutVars>
      </dgm:prSet>
      <dgm:spPr/>
      <dgm:t>
        <a:bodyPr/>
        <a:lstStyle/>
        <a:p>
          <a:endParaRPr lang="en-GB"/>
        </a:p>
      </dgm:t>
    </dgm:pt>
    <dgm:pt modelId="{A799251B-0208-4F90-8E55-1FBA788B9901}" type="pres">
      <dgm:prSet presAssocID="{3562A385-4054-488A-8B66-CB443724B1EB}" presName="sibTrans" presStyleLbl="sibTrans2D1" presStyleIdx="0" presStyleCnt="2"/>
      <dgm:spPr/>
    </dgm:pt>
    <dgm:pt modelId="{3839AF69-D16C-4843-9ADC-036E1E77D578}" type="pres">
      <dgm:prSet presAssocID="{3562A385-4054-488A-8B66-CB443724B1EB}" presName="connectorText" presStyleLbl="sibTrans2D1" presStyleIdx="0" presStyleCnt="2"/>
      <dgm:spPr/>
    </dgm:pt>
    <dgm:pt modelId="{362B7DFE-84B0-4330-BB7E-EBD9DCF53C11}" type="pres">
      <dgm:prSet presAssocID="{6F122E99-E849-418C-9AF7-B31EE5CD3E98}" presName="node" presStyleLbl="node1" presStyleIdx="1" presStyleCnt="3">
        <dgm:presLayoutVars>
          <dgm:bulletEnabled val="1"/>
        </dgm:presLayoutVars>
      </dgm:prSet>
      <dgm:spPr/>
    </dgm:pt>
    <dgm:pt modelId="{891272B2-2221-4A30-83E3-501975F22A55}" type="pres">
      <dgm:prSet presAssocID="{F4C0F5DB-9821-4B00-851C-DDF3B8B39938}" presName="sibTrans" presStyleLbl="sibTrans2D1" presStyleIdx="1" presStyleCnt="2"/>
      <dgm:spPr/>
    </dgm:pt>
    <dgm:pt modelId="{AEF48C17-2324-4693-AC0D-5251BE90ECCA}" type="pres">
      <dgm:prSet presAssocID="{F4C0F5DB-9821-4B00-851C-DDF3B8B39938}" presName="connectorText" presStyleLbl="sibTrans2D1" presStyleIdx="1" presStyleCnt="2"/>
      <dgm:spPr/>
    </dgm:pt>
    <dgm:pt modelId="{51D89981-86DA-4B28-82D3-C9085E8A3862}" type="pres">
      <dgm:prSet presAssocID="{6DCE3DA8-439F-47AA-ABE8-038E10C18250}" presName="node" presStyleLbl="node1" presStyleIdx="2" presStyleCnt="3">
        <dgm:presLayoutVars>
          <dgm:bulletEnabled val="1"/>
        </dgm:presLayoutVars>
      </dgm:prSet>
      <dgm:spPr/>
    </dgm:pt>
  </dgm:ptLst>
  <dgm:cxnLst>
    <dgm:cxn modelId="{7C2A6F0E-A82A-4CEB-83ED-957FB5C6879C}" type="presOf" srcId="{3562A385-4054-488A-8B66-CB443724B1EB}" destId="{3839AF69-D16C-4843-9ADC-036E1E77D578}" srcOrd="1" destOrd="0" presId="urn:microsoft.com/office/officeart/2005/8/layout/process1"/>
    <dgm:cxn modelId="{4217D9E4-7120-4826-B07E-0B5ADFF734C9}" type="presOf" srcId="{6F122E99-E849-418C-9AF7-B31EE5CD3E98}" destId="{362B7DFE-84B0-4330-BB7E-EBD9DCF53C11}" srcOrd="0" destOrd="0" presId="urn:microsoft.com/office/officeart/2005/8/layout/process1"/>
    <dgm:cxn modelId="{5A184B06-1818-4E7B-AE67-BE05A594221B}" srcId="{DDDB5A11-4053-465B-8FAE-9C0D45A8B7E4}" destId="{6DCE3DA8-439F-47AA-ABE8-038E10C18250}" srcOrd="2" destOrd="0" parTransId="{875295B3-37AF-4D0B-9FBB-E10C04474F36}" sibTransId="{F0A368CE-23B0-4880-B56C-AFFE362B565E}"/>
    <dgm:cxn modelId="{AEC20E33-CB4E-4723-A906-842E2AA3AEA1}" type="presOf" srcId="{F4C0F5DB-9821-4B00-851C-DDF3B8B39938}" destId="{AEF48C17-2324-4693-AC0D-5251BE90ECCA}" srcOrd="1" destOrd="0" presId="urn:microsoft.com/office/officeart/2005/8/layout/process1"/>
    <dgm:cxn modelId="{2264D186-2580-4366-8A33-158C6969A775}" srcId="{DDDB5A11-4053-465B-8FAE-9C0D45A8B7E4}" destId="{BA07C475-A58E-4C00-9895-AE906DDCFBC5}" srcOrd="0" destOrd="0" parTransId="{93A46EC9-5E06-4414-9EB1-557AE9189D66}" sibTransId="{3562A385-4054-488A-8B66-CB443724B1EB}"/>
    <dgm:cxn modelId="{F562B493-F5CC-4D55-9643-D3D1D52853E5}" type="presOf" srcId="{DDDB5A11-4053-465B-8FAE-9C0D45A8B7E4}" destId="{9796CC73-BC94-4D0A-B08B-45240DA60D9E}" srcOrd="0" destOrd="0" presId="urn:microsoft.com/office/officeart/2005/8/layout/process1"/>
    <dgm:cxn modelId="{C48370DA-D3D3-44D7-9B3F-FABA62339285}" type="presOf" srcId="{BA07C475-A58E-4C00-9895-AE906DDCFBC5}" destId="{2020D1AA-BB58-4102-9139-E31F7EA4FFED}" srcOrd="0" destOrd="0" presId="urn:microsoft.com/office/officeart/2005/8/layout/process1"/>
    <dgm:cxn modelId="{515A2402-6AA2-4921-8921-8243ABB37847}" type="presOf" srcId="{F4C0F5DB-9821-4B00-851C-DDF3B8B39938}" destId="{891272B2-2221-4A30-83E3-501975F22A55}" srcOrd="0" destOrd="0" presId="urn:microsoft.com/office/officeart/2005/8/layout/process1"/>
    <dgm:cxn modelId="{97CA7D52-79E3-42D5-B45F-FE8502F0105D}" type="presOf" srcId="{3562A385-4054-488A-8B66-CB443724B1EB}" destId="{A799251B-0208-4F90-8E55-1FBA788B9901}" srcOrd="0" destOrd="0" presId="urn:microsoft.com/office/officeart/2005/8/layout/process1"/>
    <dgm:cxn modelId="{2F410927-070F-4F16-8AD3-AE80343CF5B1}" type="presOf" srcId="{6DCE3DA8-439F-47AA-ABE8-038E10C18250}" destId="{51D89981-86DA-4B28-82D3-C9085E8A3862}" srcOrd="0" destOrd="0" presId="urn:microsoft.com/office/officeart/2005/8/layout/process1"/>
    <dgm:cxn modelId="{6C143CD4-5D4C-43A0-862A-0FAA2AFCF717}" srcId="{DDDB5A11-4053-465B-8FAE-9C0D45A8B7E4}" destId="{6F122E99-E849-418C-9AF7-B31EE5CD3E98}" srcOrd="1" destOrd="0" parTransId="{9FDEBC6F-2961-487C-8532-693770CF2123}" sibTransId="{F4C0F5DB-9821-4B00-851C-DDF3B8B39938}"/>
    <dgm:cxn modelId="{9A73422F-79B6-4C19-A994-32838A3D20B0}" type="presParOf" srcId="{9796CC73-BC94-4D0A-B08B-45240DA60D9E}" destId="{2020D1AA-BB58-4102-9139-E31F7EA4FFED}" srcOrd="0" destOrd="0" presId="urn:microsoft.com/office/officeart/2005/8/layout/process1"/>
    <dgm:cxn modelId="{9304E4CA-01CC-4A0E-9782-3EC27D41EA2F}" type="presParOf" srcId="{9796CC73-BC94-4D0A-B08B-45240DA60D9E}" destId="{A799251B-0208-4F90-8E55-1FBA788B9901}" srcOrd="1" destOrd="0" presId="urn:microsoft.com/office/officeart/2005/8/layout/process1"/>
    <dgm:cxn modelId="{4AD5C49D-D8EF-4C42-A532-BC1E3DF3DFF6}" type="presParOf" srcId="{A799251B-0208-4F90-8E55-1FBA788B9901}" destId="{3839AF69-D16C-4843-9ADC-036E1E77D578}" srcOrd="0" destOrd="0" presId="urn:microsoft.com/office/officeart/2005/8/layout/process1"/>
    <dgm:cxn modelId="{F6B8748F-C3AB-429E-8971-E7BBD464129D}" type="presParOf" srcId="{9796CC73-BC94-4D0A-B08B-45240DA60D9E}" destId="{362B7DFE-84B0-4330-BB7E-EBD9DCF53C11}" srcOrd="2" destOrd="0" presId="urn:microsoft.com/office/officeart/2005/8/layout/process1"/>
    <dgm:cxn modelId="{13159C74-5565-4258-8EFA-37953C34722A}" type="presParOf" srcId="{9796CC73-BC94-4D0A-B08B-45240DA60D9E}" destId="{891272B2-2221-4A30-83E3-501975F22A55}" srcOrd="3" destOrd="0" presId="urn:microsoft.com/office/officeart/2005/8/layout/process1"/>
    <dgm:cxn modelId="{97A80B15-9EA3-4FDB-96A9-9C4DA8A4086D}" type="presParOf" srcId="{891272B2-2221-4A30-83E3-501975F22A55}" destId="{AEF48C17-2324-4693-AC0D-5251BE90ECCA}" srcOrd="0" destOrd="0" presId="urn:microsoft.com/office/officeart/2005/8/layout/process1"/>
    <dgm:cxn modelId="{23027207-73CF-40E7-BCAB-267E0F462863}" type="presParOf" srcId="{9796CC73-BC94-4D0A-B08B-45240DA60D9E}" destId="{51D89981-86DA-4B28-82D3-C9085E8A3862}"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0D1AA-BB58-4102-9139-E31F7EA4FFED}">
      <dsp:nvSpPr>
        <dsp:cNvPr id="0" name=""/>
        <dsp:cNvSpPr/>
      </dsp:nvSpPr>
      <dsp:spPr>
        <a:xfrm>
          <a:off x="7835" y="1186514"/>
          <a:ext cx="2342033" cy="140522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GB" sz="3000" kern="1200" dirty="0" smtClean="0"/>
            <a:t>Learning 1</a:t>
          </a:r>
          <a:endParaRPr lang="en-GB" sz="3000" kern="1200" dirty="0"/>
        </a:p>
      </dsp:txBody>
      <dsp:txXfrm>
        <a:off x="48992" y="1227671"/>
        <a:ext cx="2259719" cy="1322906"/>
      </dsp:txXfrm>
    </dsp:sp>
    <dsp:sp modelId="{A799251B-0208-4F90-8E55-1FBA788B9901}">
      <dsp:nvSpPr>
        <dsp:cNvPr id="0" name=""/>
        <dsp:cNvSpPr/>
      </dsp:nvSpPr>
      <dsp:spPr>
        <a:xfrm>
          <a:off x="2584072" y="1598712"/>
          <a:ext cx="496511" cy="5808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endParaRPr lang="en-GB" sz="2400" kern="1200"/>
        </a:p>
      </dsp:txBody>
      <dsp:txXfrm>
        <a:off x="2584072" y="1714877"/>
        <a:ext cx="347558" cy="348494"/>
      </dsp:txXfrm>
    </dsp:sp>
    <dsp:sp modelId="{362B7DFE-84B0-4330-BB7E-EBD9DCF53C11}">
      <dsp:nvSpPr>
        <dsp:cNvPr id="0" name=""/>
        <dsp:cNvSpPr/>
      </dsp:nvSpPr>
      <dsp:spPr>
        <a:xfrm>
          <a:off x="3286683" y="1186514"/>
          <a:ext cx="2342033" cy="140522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GB" sz="3000" kern="1200" dirty="0" smtClean="0"/>
            <a:t>Learning 2</a:t>
          </a:r>
          <a:endParaRPr lang="en-GB" sz="3000" kern="1200" dirty="0"/>
        </a:p>
      </dsp:txBody>
      <dsp:txXfrm>
        <a:off x="3327840" y="1227671"/>
        <a:ext cx="2259719" cy="1322906"/>
      </dsp:txXfrm>
    </dsp:sp>
    <dsp:sp modelId="{891272B2-2221-4A30-83E3-501975F22A55}">
      <dsp:nvSpPr>
        <dsp:cNvPr id="0" name=""/>
        <dsp:cNvSpPr/>
      </dsp:nvSpPr>
      <dsp:spPr>
        <a:xfrm>
          <a:off x="5862920" y="1598712"/>
          <a:ext cx="496511" cy="58082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066800">
            <a:lnSpc>
              <a:spcPct val="90000"/>
            </a:lnSpc>
            <a:spcBef>
              <a:spcPct val="0"/>
            </a:spcBef>
            <a:spcAft>
              <a:spcPct val="35000"/>
            </a:spcAft>
          </a:pPr>
          <a:endParaRPr lang="en-GB" sz="2400" kern="1200"/>
        </a:p>
      </dsp:txBody>
      <dsp:txXfrm>
        <a:off x="5862920" y="1714877"/>
        <a:ext cx="347558" cy="348494"/>
      </dsp:txXfrm>
    </dsp:sp>
    <dsp:sp modelId="{51D89981-86DA-4B28-82D3-C9085E8A3862}">
      <dsp:nvSpPr>
        <dsp:cNvPr id="0" name=""/>
        <dsp:cNvSpPr/>
      </dsp:nvSpPr>
      <dsp:spPr>
        <a:xfrm>
          <a:off x="6565530" y="1186514"/>
          <a:ext cx="2342033" cy="140522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GB" sz="3000" kern="1200" dirty="0" smtClean="0"/>
            <a:t>Learning 3</a:t>
          </a:r>
          <a:endParaRPr lang="en-GB" sz="3000" kern="1200" dirty="0"/>
        </a:p>
      </dsp:txBody>
      <dsp:txXfrm>
        <a:off x="6606687" y="1227671"/>
        <a:ext cx="2259719" cy="132290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B6CD6A-BDA8-4146-8055-B1684BE9F857}" type="datetimeFigureOut">
              <a:rPr lang="en-GB" smtClean="0"/>
              <a:t>15/12/2014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5962BD-3EBA-4FA2-B137-EF78CBC792FF}" type="slidenum">
              <a:rPr lang="en-GB" smtClean="0"/>
              <a:t>‹#›</a:t>
            </a:fld>
            <a:endParaRPr lang="en-GB"/>
          </a:p>
        </p:txBody>
      </p:sp>
    </p:spTree>
    <p:extLst>
      <p:ext uri="{BB962C8B-B14F-4D97-AF65-F5344CB8AC3E}">
        <p14:creationId xmlns:p14="http://schemas.microsoft.com/office/powerpoint/2010/main" val="4120026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Spaced learning is based on ‘distributed</a:t>
            </a:r>
            <a:r>
              <a:rPr lang="en-GB" baseline="0" dirty="0" smtClean="0"/>
              <a:t> learning’ principles.  This is when study sessions are separated by an interval. The spaced learning programme was developed by Dr Paul Kelley in 2010. He is a </a:t>
            </a:r>
            <a:r>
              <a:rPr lang="en-GB" baseline="0" dirty="0" err="1" smtClean="0"/>
              <a:t>headteacher</a:t>
            </a:r>
            <a:r>
              <a:rPr lang="en-GB" baseline="0" dirty="0" smtClean="0"/>
              <a:t> at </a:t>
            </a:r>
            <a:r>
              <a:rPr lang="en-GB" baseline="0" dirty="0" err="1" smtClean="0"/>
              <a:t>Monkseaton</a:t>
            </a:r>
            <a:r>
              <a:rPr lang="en-GB" baseline="0" dirty="0" smtClean="0"/>
              <a:t> High School. He believes that teaching practices should be based on the </a:t>
            </a:r>
            <a:r>
              <a:rPr lang="en-GB" baseline="0" dirty="0" err="1" smtClean="0"/>
              <a:t>neuroscientific</a:t>
            </a:r>
            <a:r>
              <a:rPr lang="en-GB" baseline="0" dirty="0" smtClean="0"/>
              <a:t> research that is available. </a:t>
            </a:r>
          </a:p>
          <a:p>
            <a:endParaRPr lang="en-GB" baseline="0" dirty="0" smtClean="0"/>
          </a:p>
          <a:p>
            <a:r>
              <a:rPr lang="en-GB" baseline="0" dirty="0" smtClean="0"/>
              <a:t>The programme is divided into three structured learning sessions that are separated by ten minute breaks. Kelley thinks that the most important element of this model is the ten minute gaps in between inputs.  During these breaks students do something different- a list of recommended physical activities included origami, play dough and juggling. The programme does not specify how long the learning sessions are or how much information should be delivered in this time. </a:t>
            </a:r>
            <a:endParaRPr lang="en-GB" dirty="0"/>
          </a:p>
        </p:txBody>
      </p:sp>
      <p:sp>
        <p:nvSpPr>
          <p:cNvPr id="4" name="Slide Number Placeholder 3"/>
          <p:cNvSpPr>
            <a:spLocks noGrp="1"/>
          </p:cNvSpPr>
          <p:nvPr>
            <p:ph type="sldNum" sz="quarter" idx="10"/>
          </p:nvPr>
        </p:nvSpPr>
        <p:spPr/>
        <p:txBody>
          <a:bodyPr/>
          <a:lstStyle/>
          <a:p>
            <a:fld id="{755962BD-3EBA-4FA2-B137-EF78CBC792FF}" type="slidenum">
              <a:rPr lang="en-GB" smtClean="0"/>
              <a:t>2</a:t>
            </a:fld>
            <a:endParaRPr lang="en-GB"/>
          </a:p>
        </p:txBody>
      </p:sp>
    </p:spTree>
    <p:extLst>
      <p:ext uri="{BB962C8B-B14F-4D97-AF65-F5344CB8AC3E}">
        <p14:creationId xmlns:p14="http://schemas.microsoft.com/office/powerpoint/2010/main" val="3599654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Kelley based his</a:t>
            </a:r>
            <a:r>
              <a:rPr lang="en-GB" baseline="0" dirty="0" smtClean="0"/>
              <a:t> programme on a  ‘discovery’ in a research article written by Field in 2005. Field carried out a study looking at the hippocampus in rats. The work is based on the premise that when you fire a burst of electric shocks at a synapse it becomes temporarily strengthened. If you then fire these shocks two more at ten minute intervals the synapse becomes permanent. This is the process that occurs when we are learning. Neurons are fired at a synapse that holds the information. Then carrying out a different activity gives them a break. Coming back to it makes it stronger again and the third time it becomes permanent. </a:t>
            </a:r>
          </a:p>
          <a:p>
            <a:endParaRPr lang="en-GB" baseline="0" dirty="0" smtClean="0"/>
          </a:p>
          <a:p>
            <a:r>
              <a:rPr lang="en-GB" baseline="0" dirty="0" smtClean="0"/>
              <a:t>Was it a discovery? Frey and Morris made the same connection in 1997.</a:t>
            </a:r>
            <a:endParaRPr lang="en-GB" dirty="0"/>
          </a:p>
        </p:txBody>
      </p:sp>
      <p:sp>
        <p:nvSpPr>
          <p:cNvPr id="4" name="Slide Number Placeholder 3"/>
          <p:cNvSpPr>
            <a:spLocks noGrp="1"/>
          </p:cNvSpPr>
          <p:nvPr>
            <p:ph type="sldNum" sz="quarter" idx="10"/>
          </p:nvPr>
        </p:nvSpPr>
        <p:spPr/>
        <p:txBody>
          <a:bodyPr/>
          <a:lstStyle/>
          <a:p>
            <a:fld id="{755962BD-3EBA-4FA2-B137-EF78CBC792FF}" type="slidenum">
              <a:rPr lang="en-GB" smtClean="0"/>
              <a:t>3</a:t>
            </a:fld>
            <a:endParaRPr lang="en-GB"/>
          </a:p>
        </p:txBody>
      </p:sp>
    </p:spTree>
    <p:extLst>
      <p:ext uri="{BB962C8B-B14F-4D97-AF65-F5344CB8AC3E}">
        <p14:creationId xmlns:p14="http://schemas.microsoft.com/office/powerpoint/2010/main" val="2924384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55962BD-3EBA-4FA2-B137-EF78CBC792FF}" type="slidenum">
              <a:rPr lang="en-GB" smtClean="0"/>
              <a:t>4</a:t>
            </a:fld>
            <a:endParaRPr lang="en-GB"/>
          </a:p>
        </p:txBody>
      </p:sp>
    </p:spTree>
    <p:extLst>
      <p:ext uri="{BB962C8B-B14F-4D97-AF65-F5344CB8AC3E}">
        <p14:creationId xmlns:p14="http://schemas.microsoft.com/office/powerpoint/2010/main" val="4280995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err="1" smtClean="0">
                <a:solidFill>
                  <a:schemeClr val="tx1"/>
                </a:solidFill>
                <a:effectLst/>
                <a:latin typeface="+mn-lt"/>
                <a:ea typeface="+mn-ea"/>
                <a:cs typeface="+mn-cs"/>
              </a:rPr>
              <a:t>Cepeda</a:t>
            </a:r>
            <a:r>
              <a:rPr lang="en-GB" sz="1200" kern="1200" dirty="0" smtClean="0">
                <a:solidFill>
                  <a:schemeClr val="tx1"/>
                </a:solidFill>
                <a:effectLst/>
                <a:latin typeface="+mn-lt"/>
                <a:ea typeface="+mn-ea"/>
                <a:cs typeface="+mn-cs"/>
              </a:rPr>
              <a:t> et al (2006) examined the effect of spacing (massed vs spaced presentations) and lag (the amount of time between spacing) in 184 articles. They included research with lag times that ranged between 1second to over thirty one days and found that distributed learning across different days greatly improved the amount of material that was retained. </a:t>
            </a:r>
            <a:r>
              <a:rPr lang="en-GB" sz="1200" kern="1200" dirty="0" err="1" smtClean="0">
                <a:solidFill>
                  <a:schemeClr val="tx1"/>
                </a:solidFill>
                <a:effectLst/>
                <a:latin typeface="+mn-lt"/>
                <a:ea typeface="+mn-ea"/>
                <a:cs typeface="+mn-cs"/>
              </a:rPr>
              <a:t>Cepeda</a:t>
            </a:r>
            <a:r>
              <a:rPr lang="en-GB" sz="1200" kern="1200" dirty="0" smtClean="0">
                <a:solidFill>
                  <a:schemeClr val="tx1"/>
                </a:solidFill>
                <a:effectLst/>
                <a:latin typeface="+mn-lt"/>
                <a:ea typeface="+mn-ea"/>
                <a:cs typeface="+mn-cs"/>
              </a:rPr>
              <a:t> et al (2008) stated that if you want to know the optimal distribution of study time you need to know how long you want to remember the information. If you want to retain information for years the gap between learning episodes must be months.</a:t>
            </a:r>
          </a:p>
          <a:p>
            <a:endParaRPr lang="en-GB"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Wang, Zhou and Shah (2014) carried out some working memory training with students and the group that showed significant improvement had the greatest amount of spacing during training (twenty days). </a:t>
            </a:r>
            <a:r>
              <a:rPr lang="en-GB" sz="1200" kern="1200" dirty="0" err="1" smtClean="0">
                <a:solidFill>
                  <a:schemeClr val="tx1"/>
                </a:solidFill>
                <a:effectLst/>
                <a:latin typeface="+mn-lt"/>
                <a:ea typeface="+mn-ea"/>
                <a:cs typeface="+mn-cs"/>
              </a:rPr>
              <a:t>Sobel</a:t>
            </a:r>
            <a:r>
              <a:rPr lang="en-GB" sz="1200" kern="1200" dirty="0" smtClean="0">
                <a:solidFill>
                  <a:schemeClr val="tx1"/>
                </a:solidFill>
                <a:effectLst/>
                <a:latin typeface="+mn-lt"/>
                <a:ea typeface="+mn-ea"/>
                <a:cs typeface="+mn-cs"/>
              </a:rPr>
              <a:t>, </a:t>
            </a:r>
            <a:r>
              <a:rPr lang="en-GB" sz="1200" kern="1200" dirty="0" err="1" smtClean="0">
                <a:solidFill>
                  <a:schemeClr val="tx1"/>
                </a:solidFill>
                <a:effectLst/>
                <a:latin typeface="+mn-lt"/>
                <a:ea typeface="+mn-ea"/>
                <a:cs typeface="+mn-cs"/>
              </a:rPr>
              <a:t>Cepeda</a:t>
            </a:r>
            <a:r>
              <a:rPr lang="en-GB" sz="1200" kern="1200" dirty="0" smtClean="0">
                <a:solidFill>
                  <a:schemeClr val="tx1"/>
                </a:solidFill>
                <a:effectLst/>
                <a:latin typeface="+mn-lt"/>
                <a:ea typeface="+mn-ea"/>
                <a:cs typeface="+mn-cs"/>
              </a:rPr>
              <a:t> and </a:t>
            </a:r>
            <a:r>
              <a:rPr lang="en-GB" sz="1200" kern="1200" dirty="0" err="1" smtClean="0">
                <a:solidFill>
                  <a:schemeClr val="tx1"/>
                </a:solidFill>
                <a:effectLst/>
                <a:latin typeface="+mn-lt"/>
                <a:ea typeface="+mn-ea"/>
                <a:cs typeface="+mn-cs"/>
              </a:rPr>
              <a:t>Kapler</a:t>
            </a:r>
            <a:r>
              <a:rPr lang="en-GB" sz="1200" kern="1200" dirty="0" smtClean="0">
                <a:solidFill>
                  <a:schemeClr val="tx1"/>
                </a:solidFill>
                <a:effectLst/>
                <a:latin typeface="+mn-lt"/>
                <a:ea typeface="+mn-ea"/>
                <a:cs typeface="+mn-cs"/>
              </a:rPr>
              <a:t> (2011) compared massed and spaced learning in the classroom.  In the massed learning condition the second learning session occurred one minute after the first whereas in the spaced learning condition the second learning session was delivered one week after the first. Children in the latter condition recalled three times as much information that the former. </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dirty="0" smtClean="0">
                <a:solidFill>
                  <a:schemeClr val="tx1"/>
                </a:solidFill>
                <a:effectLst/>
                <a:latin typeface="+mn-lt"/>
                <a:ea typeface="+mn-ea"/>
                <a:cs typeface="+mn-cs"/>
              </a:rPr>
              <a:t>Kramer et al (2012) used a similar method with intervals of ten, thirty and sixty minutes between stimulation to measure the long term potentiation of receptors associated with memory.  Long term potentiation refers to the enhancement of signal transmission between two neurons which leads to an increase in strength for that synapse. Like Field they were examining the development of long term memories and found that the level of potentiation was doubled when the stimulation was separated by a one hour time period. This suggests that long term memories are most likely to be formed when stimulation is separated by longer time periods. </a:t>
            </a:r>
          </a:p>
          <a:p>
            <a:endParaRPr lang="en-GB" dirty="0"/>
          </a:p>
        </p:txBody>
      </p:sp>
      <p:sp>
        <p:nvSpPr>
          <p:cNvPr id="4" name="Slide Number Placeholder 3"/>
          <p:cNvSpPr>
            <a:spLocks noGrp="1"/>
          </p:cNvSpPr>
          <p:nvPr>
            <p:ph type="sldNum" sz="quarter" idx="10"/>
          </p:nvPr>
        </p:nvSpPr>
        <p:spPr/>
        <p:txBody>
          <a:bodyPr/>
          <a:lstStyle/>
          <a:p>
            <a:fld id="{755962BD-3EBA-4FA2-B137-EF78CBC792FF}" type="slidenum">
              <a:rPr lang="en-GB" smtClean="0"/>
              <a:t>5</a:t>
            </a:fld>
            <a:endParaRPr lang="en-GB"/>
          </a:p>
        </p:txBody>
      </p:sp>
    </p:spTree>
    <p:extLst>
      <p:ext uri="{BB962C8B-B14F-4D97-AF65-F5344CB8AC3E}">
        <p14:creationId xmlns:p14="http://schemas.microsoft.com/office/powerpoint/2010/main" val="3007554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These activities are suggested because of the neurobiological research that states the neurons that are fired to form memories need resting time between stimulations (Field, 2005). As a result the activities that are suggested are those that do not stimulate the same neurons (Kelley, 2009).  </a:t>
            </a:r>
          </a:p>
          <a:p>
            <a:r>
              <a:rPr lang="en-GB" sz="1200" kern="1200" dirty="0" smtClean="0">
                <a:solidFill>
                  <a:schemeClr val="tx1"/>
                </a:solidFill>
                <a:effectLst/>
                <a:latin typeface="+mn-lt"/>
                <a:ea typeface="+mn-ea"/>
                <a:cs typeface="+mn-cs"/>
              </a:rPr>
              <a:t>Previous research has shown that physical activity enhances episodic memory (</a:t>
            </a:r>
            <a:r>
              <a:rPr lang="en-GB" sz="1200" kern="1200" dirty="0" err="1" smtClean="0">
                <a:solidFill>
                  <a:schemeClr val="tx1"/>
                </a:solidFill>
                <a:effectLst/>
                <a:latin typeface="+mn-lt"/>
                <a:ea typeface="+mn-ea"/>
                <a:cs typeface="+mn-cs"/>
              </a:rPr>
              <a:t>Ruscheweyh</a:t>
            </a:r>
            <a:r>
              <a:rPr lang="en-GB" sz="1200" kern="1200" dirty="0" smtClean="0">
                <a:solidFill>
                  <a:schemeClr val="tx1"/>
                </a:solidFill>
                <a:effectLst/>
                <a:latin typeface="+mn-lt"/>
                <a:ea typeface="+mn-ea"/>
                <a:cs typeface="+mn-cs"/>
              </a:rPr>
              <a:t> et al, 2011). </a:t>
            </a:r>
            <a:r>
              <a:rPr lang="en-GB" sz="1200" kern="1200" dirty="0" err="1" smtClean="0">
                <a:solidFill>
                  <a:schemeClr val="tx1"/>
                </a:solidFill>
                <a:effectLst/>
                <a:latin typeface="+mn-lt"/>
                <a:ea typeface="+mn-ea"/>
                <a:cs typeface="+mn-cs"/>
              </a:rPr>
              <a:t>Ruscheweyh</a:t>
            </a:r>
            <a:r>
              <a:rPr lang="en-GB" sz="1200" kern="1200" dirty="0" smtClean="0">
                <a:solidFill>
                  <a:schemeClr val="tx1"/>
                </a:solidFill>
                <a:effectLst/>
                <a:latin typeface="+mn-lt"/>
                <a:ea typeface="+mn-ea"/>
                <a:cs typeface="+mn-cs"/>
              </a:rPr>
              <a:t> and colleagues (2011) found this to be the case regardless of the intensity of the activity. </a:t>
            </a:r>
          </a:p>
          <a:p>
            <a:r>
              <a:rPr lang="en-GB" sz="1200" kern="1200" dirty="0" err="1" smtClean="0">
                <a:solidFill>
                  <a:schemeClr val="tx1"/>
                </a:solidFill>
                <a:effectLst/>
                <a:latin typeface="+mn-lt"/>
                <a:ea typeface="+mn-ea"/>
                <a:cs typeface="+mn-cs"/>
              </a:rPr>
              <a:t>Curlik</a:t>
            </a:r>
            <a:r>
              <a:rPr lang="en-GB" sz="1200" kern="1200" dirty="0" smtClean="0">
                <a:solidFill>
                  <a:schemeClr val="tx1"/>
                </a:solidFill>
                <a:effectLst/>
                <a:latin typeface="+mn-lt"/>
                <a:ea typeface="+mn-ea"/>
                <a:cs typeface="+mn-cs"/>
              </a:rPr>
              <a:t> and </a:t>
            </a:r>
            <a:r>
              <a:rPr lang="en-GB" sz="1200" kern="1200" dirty="0" err="1" smtClean="0">
                <a:solidFill>
                  <a:schemeClr val="tx1"/>
                </a:solidFill>
                <a:effectLst/>
                <a:latin typeface="+mn-lt"/>
                <a:ea typeface="+mn-ea"/>
                <a:cs typeface="+mn-cs"/>
              </a:rPr>
              <a:t>Shors</a:t>
            </a:r>
            <a:r>
              <a:rPr lang="en-GB" sz="1200" kern="1200" dirty="0" smtClean="0">
                <a:solidFill>
                  <a:schemeClr val="tx1"/>
                </a:solidFill>
                <a:effectLst/>
                <a:latin typeface="+mn-lt"/>
                <a:ea typeface="+mn-ea"/>
                <a:cs typeface="+mn-cs"/>
              </a:rPr>
              <a:t> (2013) examined the combination of mental and physical training. They suggested that physical exercise, especially aerobic activities, increase the number of new neurons that are produced whilst mental training such as learning a skill increases the number of neurons that survive. As a result of this research </a:t>
            </a:r>
            <a:r>
              <a:rPr lang="en-GB" sz="1200" kern="1200" dirty="0" err="1" smtClean="0">
                <a:solidFill>
                  <a:schemeClr val="tx1"/>
                </a:solidFill>
                <a:effectLst/>
                <a:latin typeface="+mn-lt"/>
                <a:ea typeface="+mn-ea"/>
                <a:cs typeface="+mn-cs"/>
              </a:rPr>
              <a:t>Curlik</a:t>
            </a:r>
            <a:r>
              <a:rPr lang="en-GB" sz="1200" kern="1200" dirty="0" smtClean="0">
                <a:solidFill>
                  <a:schemeClr val="tx1"/>
                </a:solidFill>
                <a:effectLst/>
                <a:latin typeface="+mn-lt"/>
                <a:ea typeface="+mn-ea"/>
                <a:cs typeface="+mn-cs"/>
              </a:rPr>
              <a:t> and </a:t>
            </a:r>
            <a:r>
              <a:rPr lang="en-GB" sz="1200" kern="1200" dirty="0" err="1" smtClean="0">
                <a:solidFill>
                  <a:schemeClr val="tx1"/>
                </a:solidFill>
                <a:effectLst/>
                <a:latin typeface="+mn-lt"/>
                <a:ea typeface="+mn-ea"/>
                <a:cs typeface="+mn-cs"/>
              </a:rPr>
              <a:t>Shors</a:t>
            </a:r>
            <a:r>
              <a:rPr lang="en-GB" sz="1200" kern="1200" dirty="0" smtClean="0">
                <a:solidFill>
                  <a:schemeClr val="tx1"/>
                </a:solidFill>
                <a:effectLst/>
                <a:latin typeface="+mn-lt"/>
                <a:ea typeface="+mn-ea"/>
                <a:cs typeface="+mn-cs"/>
              </a:rPr>
              <a:t> (2013) proposed MAP (mental and physical) training as a method of enhancing learning and memory. </a:t>
            </a:r>
            <a:endParaRPr lang="en-GB" dirty="0"/>
          </a:p>
        </p:txBody>
      </p:sp>
      <p:sp>
        <p:nvSpPr>
          <p:cNvPr id="4" name="Slide Number Placeholder 3"/>
          <p:cNvSpPr>
            <a:spLocks noGrp="1"/>
          </p:cNvSpPr>
          <p:nvPr>
            <p:ph type="sldNum" sz="quarter" idx="10"/>
          </p:nvPr>
        </p:nvSpPr>
        <p:spPr/>
        <p:txBody>
          <a:bodyPr/>
          <a:lstStyle/>
          <a:p>
            <a:fld id="{755962BD-3EBA-4FA2-B137-EF78CBC792FF}" type="slidenum">
              <a:rPr lang="en-GB" smtClean="0"/>
              <a:t>6</a:t>
            </a:fld>
            <a:endParaRPr lang="en-GB"/>
          </a:p>
        </p:txBody>
      </p:sp>
    </p:spTree>
    <p:extLst>
      <p:ext uri="{BB962C8B-B14F-4D97-AF65-F5344CB8AC3E}">
        <p14:creationId xmlns:p14="http://schemas.microsoft.com/office/powerpoint/2010/main" val="1720723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a:t>
            </a:r>
            <a:r>
              <a:rPr lang="en-GB" baseline="0" dirty="0" smtClean="0"/>
              <a:t> need to share this work with schools staff. As Kelley said, the </a:t>
            </a:r>
            <a:r>
              <a:rPr lang="en-GB" baseline="0" dirty="0" err="1" smtClean="0"/>
              <a:t>neuroscientific</a:t>
            </a:r>
            <a:r>
              <a:rPr lang="en-GB" baseline="0" dirty="0" smtClean="0"/>
              <a:t> research is new and therefore staff may not be aware of it. </a:t>
            </a:r>
            <a:r>
              <a:rPr lang="en-GB" sz="1200" kern="1200" dirty="0" smtClean="0">
                <a:solidFill>
                  <a:schemeClr val="tx1"/>
                </a:solidFill>
                <a:effectLst/>
                <a:latin typeface="+mn-lt"/>
                <a:ea typeface="+mn-ea"/>
                <a:cs typeface="+mn-cs"/>
              </a:rPr>
              <a:t>One standard of proficiency that is included in the Health and Care Professions Council guidelines for practicing educational psychologists is that they must ‘be able to work with key partners to support the design, implementation, conduct, evaluation and dissemination of research activities and to support evidence-based research’ (Health and Care Professions Council, 2012).</a:t>
            </a:r>
          </a:p>
          <a:p>
            <a:endParaRPr lang="en-GB"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Examining teaching practices during an observation will uncover whether they are supporting the acquisition of long term learning memories. If teachers are using massed learning practices they must be informed of the limitations of this practice and provided support to change and improve their teaching. </a:t>
            </a:r>
            <a:endParaRPr lang="en-GB" dirty="0"/>
          </a:p>
        </p:txBody>
      </p:sp>
      <p:sp>
        <p:nvSpPr>
          <p:cNvPr id="4" name="Slide Number Placeholder 3"/>
          <p:cNvSpPr>
            <a:spLocks noGrp="1"/>
          </p:cNvSpPr>
          <p:nvPr>
            <p:ph type="sldNum" sz="quarter" idx="10"/>
          </p:nvPr>
        </p:nvSpPr>
        <p:spPr/>
        <p:txBody>
          <a:bodyPr/>
          <a:lstStyle/>
          <a:p>
            <a:fld id="{755962BD-3EBA-4FA2-B137-EF78CBC792FF}" type="slidenum">
              <a:rPr lang="en-GB" smtClean="0"/>
              <a:t>7</a:t>
            </a:fld>
            <a:endParaRPr lang="en-GB"/>
          </a:p>
        </p:txBody>
      </p:sp>
    </p:spTree>
    <p:extLst>
      <p:ext uri="{BB962C8B-B14F-4D97-AF65-F5344CB8AC3E}">
        <p14:creationId xmlns:p14="http://schemas.microsoft.com/office/powerpoint/2010/main" val="978004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AF9B753-B982-4E33-9985-E1BFE173EC25}" type="datetimeFigureOut">
              <a:rPr lang="en-GB" smtClean="0"/>
              <a:t>15/12/2014</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057832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F9B753-B982-4E33-9985-E1BFE173EC25}" type="datetimeFigureOut">
              <a:rPr lang="en-GB" smtClean="0"/>
              <a:t>15/12/2014</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3227367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9B753-B982-4E33-9985-E1BFE173EC25}" type="datetimeFigureOut">
              <a:rPr lang="en-GB" smtClean="0"/>
              <a:t>15/12/2014</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292144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AF9B753-B982-4E33-9985-E1BFE173EC25}" type="datetimeFigureOut">
              <a:rPr lang="en-GB" smtClean="0"/>
              <a:t>15/12/2014</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292564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AF9B753-B982-4E33-9985-E1BFE173EC25}" type="datetimeFigureOut">
              <a:rPr lang="en-GB" smtClean="0"/>
              <a:t>15/12/2014</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42625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AF9B753-B982-4E33-9985-E1BFE173EC25}" type="datetimeFigureOut">
              <a:rPr lang="en-GB" smtClean="0"/>
              <a:t>15/12/2014</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240391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F9B753-B982-4E33-9985-E1BFE173EC25}" type="datetimeFigureOut">
              <a:rPr lang="en-GB" smtClean="0"/>
              <a:t>15/12/2014</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407115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F9B753-B982-4E33-9985-E1BFE173EC25}" type="datetimeFigureOut">
              <a:rPr lang="en-GB" smtClean="0"/>
              <a:t>15/12/2014</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287196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F9B753-B982-4E33-9985-E1BFE173EC25}" type="datetimeFigureOut">
              <a:rPr lang="en-GB" smtClean="0"/>
              <a:t>15/12/2014</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2703314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9B753-B982-4E33-9985-E1BFE173EC25}" type="datetimeFigureOut">
              <a:rPr lang="en-GB" smtClean="0"/>
              <a:t>15/12/2014</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3401934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F9B753-B982-4E33-9985-E1BFE173EC25}" type="datetimeFigureOut">
              <a:rPr lang="en-GB" smtClean="0"/>
              <a:t>15/12/2014</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F481E1F-EC35-4247-A0A1-C5923E6279B5}"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67991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AF9B753-B982-4E33-9985-E1BFE173EC25}" type="datetimeFigureOut">
              <a:rPr lang="en-GB" smtClean="0"/>
              <a:t>15/12/2014</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433705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AF9B753-B982-4E33-9985-E1BFE173EC25}" type="datetimeFigureOut">
              <a:rPr lang="en-GB" smtClean="0"/>
              <a:t>15/12/2014</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481E1F-EC35-4247-A0A1-C5923E6279B5}"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941692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6AF9B753-B982-4E33-9985-E1BFE173EC25}" type="datetimeFigureOut">
              <a:rPr lang="en-GB" smtClean="0"/>
              <a:t>15/12/2014</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556402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F9B753-B982-4E33-9985-E1BFE173EC25}" type="datetimeFigureOut">
              <a:rPr lang="en-GB" smtClean="0"/>
              <a:t>15/12/2014</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791051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AF9B753-B982-4E33-9985-E1BFE173EC25}" type="datetimeFigureOut">
              <a:rPr lang="en-GB" smtClean="0"/>
              <a:t>15/12/2014</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F481E1F-EC35-4247-A0A1-C5923E6279B5}" type="slidenum">
              <a:rPr lang="en-GB" smtClean="0"/>
              <a:t>‹#›</a:t>
            </a:fld>
            <a:endParaRPr lang="en-GB"/>
          </a:p>
        </p:txBody>
      </p:sp>
    </p:spTree>
    <p:extLst>
      <p:ext uri="{BB962C8B-B14F-4D97-AF65-F5344CB8AC3E}">
        <p14:creationId xmlns:p14="http://schemas.microsoft.com/office/powerpoint/2010/main" val="1841013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AF9B753-B982-4E33-9985-E1BFE173EC25}" type="datetimeFigureOut">
              <a:rPr lang="en-GB" smtClean="0"/>
              <a:t>15/12/2014</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F481E1F-EC35-4247-A0A1-C5923E6279B5}" type="slidenum">
              <a:rPr lang="en-GB" smtClean="0"/>
              <a:t>‹#›</a:t>
            </a:fld>
            <a:endParaRPr lang="en-GB"/>
          </a:p>
        </p:txBody>
      </p:sp>
    </p:spTree>
    <p:extLst>
      <p:ext uri="{BB962C8B-B14F-4D97-AF65-F5344CB8AC3E}">
        <p14:creationId xmlns:p14="http://schemas.microsoft.com/office/powerpoint/2010/main" val="461611750"/>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sz="8000" b="1" dirty="0" smtClean="0"/>
              <a:t>Spaced Learning</a:t>
            </a:r>
            <a:endParaRPr lang="en-GB" sz="8000" b="1" dirty="0"/>
          </a:p>
        </p:txBody>
      </p:sp>
      <p:sp>
        <p:nvSpPr>
          <p:cNvPr id="3" name="Subtitle 2"/>
          <p:cNvSpPr>
            <a:spLocks noGrp="1"/>
          </p:cNvSpPr>
          <p:nvPr>
            <p:ph type="subTitle" idx="1"/>
          </p:nvPr>
        </p:nvSpPr>
        <p:spPr/>
        <p:txBody>
          <a:bodyPr/>
          <a:lstStyle/>
          <a:p>
            <a:r>
              <a:rPr lang="en-GB" dirty="0" smtClean="0"/>
              <a:t> </a:t>
            </a:r>
            <a:endParaRPr lang="en-GB" dirty="0"/>
          </a:p>
        </p:txBody>
      </p:sp>
    </p:spTree>
    <p:extLst>
      <p:ext uri="{BB962C8B-B14F-4D97-AF65-F5344CB8AC3E}">
        <p14:creationId xmlns:p14="http://schemas.microsoft.com/office/powerpoint/2010/main" val="246199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 ‘pioneering’ programme…</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06139975"/>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rot="18709086">
            <a:off x="4862035" y="2447548"/>
            <a:ext cx="2535345" cy="400110"/>
          </a:xfrm>
          <a:prstGeom prst="rect">
            <a:avLst/>
          </a:prstGeom>
          <a:noFill/>
        </p:spPr>
        <p:txBody>
          <a:bodyPr wrap="square" rtlCol="0">
            <a:spAutoFit/>
          </a:bodyPr>
          <a:lstStyle/>
          <a:p>
            <a:r>
              <a:rPr lang="en-GB" sz="2000" b="1" dirty="0" smtClean="0"/>
              <a:t>10 minute break</a:t>
            </a:r>
            <a:endParaRPr lang="en-GB" sz="2000" b="1" dirty="0"/>
          </a:p>
        </p:txBody>
      </p:sp>
      <p:sp>
        <p:nvSpPr>
          <p:cNvPr id="6" name="TextBox 5"/>
          <p:cNvSpPr txBox="1"/>
          <p:nvPr/>
        </p:nvSpPr>
        <p:spPr>
          <a:xfrm rot="18709086">
            <a:off x="8046656" y="2447547"/>
            <a:ext cx="2535345" cy="400110"/>
          </a:xfrm>
          <a:prstGeom prst="rect">
            <a:avLst/>
          </a:prstGeom>
          <a:noFill/>
        </p:spPr>
        <p:txBody>
          <a:bodyPr wrap="square" rtlCol="0">
            <a:spAutoFit/>
          </a:bodyPr>
          <a:lstStyle/>
          <a:p>
            <a:r>
              <a:rPr lang="en-GB" sz="2000" b="1" dirty="0" smtClean="0"/>
              <a:t>10 minute break</a:t>
            </a:r>
            <a:endParaRPr lang="en-GB" sz="2000" b="1" dirty="0"/>
          </a:p>
        </p:txBody>
      </p:sp>
    </p:spTree>
    <p:extLst>
      <p:ext uri="{BB962C8B-B14F-4D97-AF65-F5344CB8AC3E}">
        <p14:creationId xmlns:p14="http://schemas.microsoft.com/office/powerpoint/2010/main" val="3564054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Kelley’s evidence?</a:t>
            </a:r>
            <a:endParaRPr lang="en-GB" dirty="0"/>
          </a:p>
        </p:txBody>
      </p:sp>
      <p:sp>
        <p:nvSpPr>
          <p:cNvPr id="3" name="Content Placeholder 2"/>
          <p:cNvSpPr>
            <a:spLocks noGrp="1"/>
          </p:cNvSpPr>
          <p:nvPr>
            <p:ph idx="1"/>
          </p:nvPr>
        </p:nvSpPr>
        <p:spPr/>
        <p:txBody>
          <a:bodyPr/>
          <a:lstStyle/>
          <a:p>
            <a:r>
              <a:rPr lang="en-GB" dirty="0" smtClean="0"/>
              <a:t>Field (2005) Making memories stick</a:t>
            </a:r>
          </a:p>
          <a:p>
            <a:r>
              <a:rPr lang="en-GB" dirty="0" smtClean="0"/>
              <a:t>Kelley (2007) Making Minds: What’s wrong with education and what should we do about it.</a:t>
            </a:r>
            <a:endParaRPr lang="en-GB" dirty="0"/>
          </a:p>
        </p:txBody>
      </p:sp>
    </p:spTree>
    <p:extLst>
      <p:ext uri="{BB962C8B-B14F-4D97-AF65-F5344CB8AC3E}">
        <p14:creationId xmlns:p14="http://schemas.microsoft.com/office/powerpoint/2010/main" val="1715316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Literature review…</a:t>
            </a:r>
            <a:endParaRPr lang="en-GB" dirty="0"/>
          </a:p>
        </p:txBody>
      </p:sp>
      <p:sp>
        <p:nvSpPr>
          <p:cNvPr id="3" name="Content Placeholder 2"/>
          <p:cNvSpPr>
            <a:spLocks noGrp="1"/>
          </p:cNvSpPr>
          <p:nvPr>
            <p:ph idx="1"/>
          </p:nvPr>
        </p:nvSpPr>
        <p:spPr/>
        <p:txBody>
          <a:bodyPr/>
          <a:lstStyle/>
          <a:p>
            <a:pPr marL="0" indent="0">
              <a:buNone/>
            </a:pPr>
            <a:r>
              <a:rPr lang="en-GB" dirty="0" smtClean="0"/>
              <a:t> </a:t>
            </a:r>
            <a:endParaRPr lang="en-GB" dirty="0"/>
          </a:p>
        </p:txBody>
      </p:sp>
      <p:sp>
        <p:nvSpPr>
          <p:cNvPr id="4" name="Explosion 1 3"/>
          <p:cNvSpPr/>
          <p:nvPr/>
        </p:nvSpPr>
        <p:spPr>
          <a:xfrm>
            <a:off x="1790700" y="2603500"/>
            <a:ext cx="4203700" cy="27813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smtClean="0"/>
              <a:t>Length of intervals</a:t>
            </a:r>
            <a:endParaRPr lang="en-GB" sz="3200" dirty="0"/>
          </a:p>
        </p:txBody>
      </p:sp>
      <p:sp>
        <p:nvSpPr>
          <p:cNvPr id="6" name="Explosion 1 5"/>
          <p:cNvSpPr/>
          <p:nvPr/>
        </p:nvSpPr>
        <p:spPr>
          <a:xfrm>
            <a:off x="6792912" y="2603500"/>
            <a:ext cx="4203700" cy="27813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smtClean="0"/>
              <a:t>Interval activities</a:t>
            </a:r>
            <a:endParaRPr lang="en-GB" sz="3200" dirty="0"/>
          </a:p>
        </p:txBody>
      </p:sp>
    </p:spTree>
    <p:extLst>
      <p:ext uri="{BB962C8B-B14F-4D97-AF65-F5344CB8AC3E}">
        <p14:creationId xmlns:p14="http://schemas.microsoft.com/office/powerpoint/2010/main" val="1524857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Length of intervals</a:t>
            </a:r>
            <a:endParaRPr lang="en-GB" dirty="0"/>
          </a:p>
        </p:txBody>
      </p:sp>
      <p:sp>
        <p:nvSpPr>
          <p:cNvPr id="3" name="Content Placeholder 2"/>
          <p:cNvSpPr>
            <a:spLocks noGrp="1"/>
          </p:cNvSpPr>
          <p:nvPr>
            <p:ph idx="1"/>
          </p:nvPr>
        </p:nvSpPr>
        <p:spPr/>
        <p:txBody>
          <a:bodyPr/>
          <a:lstStyle/>
          <a:p>
            <a:r>
              <a:rPr lang="en-GB" dirty="0" err="1" smtClean="0"/>
              <a:t>Cepeda</a:t>
            </a:r>
            <a:r>
              <a:rPr lang="en-GB" dirty="0" smtClean="0"/>
              <a:t> et al (2006): You need to know how long you want to remember the information. If you want to know something for years, the gap must be months. </a:t>
            </a:r>
          </a:p>
          <a:p>
            <a:endParaRPr lang="en-GB" dirty="0"/>
          </a:p>
          <a:p>
            <a:r>
              <a:rPr lang="en-GB" b="1" dirty="0" smtClean="0"/>
              <a:t>In the classroom:</a:t>
            </a:r>
          </a:p>
          <a:p>
            <a:r>
              <a:rPr lang="en-GB" dirty="0" smtClean="0"/>
              <a:t>Wang, Zhou &amp; Shah (2014): 20 days</a:t>
            </a:r>
          </a:p>
          <a:p>
            <a:r>
              <a:rPr lang="en-GB" dirty="0" err="1" smtClean="0"/>
              <a:t>Sobel</a:t>
            </a:r>
            <a:r>
              <a:rPr lang="en-GB" dirty="0" smtClean="0"/>
              <a:t>, </a:t>
            </a:r>
            <a:r>
              <a:rPr lang="en-GB" dirty="0" err="1" smtClean="0"/>
              <a:t>Cepeda</a:t>
            </a:r>
            <a:r>
              <a:rPr lang="en-GB" dirty="0" smtClean="0"/>
              <a:t> &amp; </a:t>
            </a:r>
            <a:r>
              <a:rPr lang="en-GB" dirty="0" err="1" smtClean="0"/>
              <a:t>Kapler</a:t>
            </a:r>
            <a:r>
              <a:rPr lang="en-GB" dirty="0" smtClean="0"/>
              <a:t> (2011): 7 days</a:t>
            </a:r>
          </a:p>
          <a:p>
            <a:endParaRPr lang="en-GB" dirty="0"/>
          </a:p>
          <a:p>
            <a:r>
              <a:rPr lang="en-GB" b="1" dirty="0" smtClean="0"/>
              <a:t>In the lab:</a:t>
            </a:r>
          </a:p>
          <a:p>
            <a:r>
              <a:rPr lang="en-GB" dirty="0" smtClean="0"/>
              <a:t>Kramer et al (2012): 60 minutes</a:t>
            </a:r>
            <a:endParaRPr lang="en-GB" dirty="0"/>
          </a:p>
        </p:txBody>
      </p:sp>
    </p:spTree>
    <p:extLst>
      <p:ext uri="{BB962C8B-B14F-4D97-AF65-F5344CB8AC3E}">
        <p14:creationId xmlns:p14="http://schemas.microsoft.com/office/powerpoint/2010/main" val="40077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Interval activities</a:t>
            </a:r>
            <a:endParaRPr lang="en-GB" dirty="0"/>
          </a:p>
        </p:txBody>
      </p:sp>
      <p:sp>
        <p:nvSpPr>
          <p:cNvPr id="3" name="Content Placeholder 2"/>
          <p:cNvSpPr>
            <a:spLocks noGrp="1"/>
          </p:cNvSpPr>
          <p:nvPr>
            <p:ph idx="1"/>
          </p:nvPr>
        </p:nvSpPr>
        <p:spPr/>
        <p:txBody>
          <a:bodyPr/>
          <a:lstStyle/>
          <a:p>
            <a:r>
              <a:rPr lang="en-GB" dirty="0" err="1" smtClean="0"/>
              <a:t>Ruscheweyh</a:t>
            </a:r>
            <a:r>
              <a:rPr lang="en-GB" dirty="0" smtClean="0"/>
              <a:t> et al (2011): Physical activity enhances episodic memory</a:t>
            </a:r>
          </a:p>
          <a:p>
            <a:r>
              <a:rPr lang="en-GB" dirty="0" err="1" smtClean="0"/>
              <a:t>Curlik</a:t>
            </a:r>
            <a:r>
              <a:rPr lang="en-GB" dirty="0" smtClean="0"/>
              <a:t> &amp; </a:t>
            </a:r>
            <a:r>
              <a:rPr lang="en-GB" dirty="0" err="1" smtClean="0"/>
              <a:t>Shors</a:t>
            </a:r>
            <a:r>
              <a:rPr lang="en-GB" dirty="0" smtClean="0"/>
              <a:t> (2013): Mental and physical training. Physical training helps because it increases the number of new neurons being produced</a:t>
            </a:r>
            <a:endParaRPr lang="en-GB" dirty="0"/>
          </a:p>
        </p:txBody>
      </p:sp>
    </p:spTree>
    <p:extLst>
      <p:ext uri="{BB962C8B-B14F-4D97-AF65-F5344CB8AC3E}">
        <p14:creationId xmlns:p14="http://schemas.microsoft.com/office/powerpoint/2010/main" val="3051276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Implications for EP’s</a:t>
            </a:r>
            <a:endParaRPr lang="en-GB" dirty="0"/>
          </a:p>
        </p:txBody>
      </p:sp>
      <p:sp>
        <p:nvSpPr>
          <p:cNvPr id="3" name="Content Placeholder 2"/>
          <p:cNvSpPr>
            <a:spLocks noGrp="1"/>
          </p:cNvSpPr>
          <p:nvPr>
            <p:ph idx="1"/>
          </p:nvPr>
        </p:nvSpPr>
        <p:spPr>
          <a:xfrm>
            <a:off x="2589212" y="2133600"/>
            <a:ext cx="4992688" cy="3777622"/>
          </a:xfrm>
        </p:spPr>
        <p:txBody>
          <a:bodyPr/>
          <a:lstStyle/>
          <a:p>
            <a:r>
              <a:rPr lang="en-GB" dirty="0" smtClean="0"/>
              <a:t>Dissemination of findings</a:t>
            </a:r>
          </a:p>
          <a:p>
            <a:pPr marL="0" indent="0">
              <a:buNone/>
            </a:pPr>
            <a:endParaRPr lang="en-GB" dirty="0" smtClean="0"/>
          </a:p>
          <a:p>
            <a:r>
              <a:rPr lang="en-GB" dirty="0" smtClean="0"/>
              <a:t>Classroom observations for casework</a:t>
            </a:r>
          </a:p>
          <a:p>
            <a:pPr marL="0" indent="0">
              <a:buNone/>
            </a:pPr>
            <a:endParaRPr lang="en-GB" dirty="0" smtClean="0"/>
          </a:p>
          <a:p>
            <a:r>
              <a:rPr lang="en-GB" dirty="0" smtClean="0"/>
              <a:t>Research projects in the classroom (lab work on rats is not enough)</a:t>
            </a:r>
            <a:endParaRPr lang="en-GB" dirty="0"/>
          </a:p>
        </p:txBody>
      </p:sp>
    </p:spTree>
    <p:extLst>
      <p:ext uri="{BB962C8B-B14F-4D97-AF65-F5344CB8AC3E}">
        <p14:creationId xmlns:p14="http://schemas.microsoft.com/office/powerpoint/2010/main" val="1552201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2525" y="2351310"/>
            <a:ext cx="5776375" cy="1280890"/>
          </a:xfrm>
        </p:spPr>
        <p:txBody>
          <a:bodyPr>
            <a:noAutofit/>
          </a:bodyPr>
          <a:lstStyle/>
          <a:p>
            <a:r>
              <a:rPr lang="en-GB" sz="6600" dirty="0" smtClean="0"/>
              <a:t>Questions?</a:t>
            </a:r>
            <a:endParaRPr lang="en-GB" sz="6600" dirty="0"/>
          </a:p>
        </p:txBody>
      </p:sp>
      <p:sp>
        <p:nvSpPr>
          <p:cNvPr id="3" name="Content Placeholder 2"/>
          <p:cNvSpPr>
            <a:spLocks noGrp="1"/>
          </p:cNvSpPr>
          <p:nvPr>
            <p:ph idx="1"/>
          </p:nvPr>
        </p:nvSpPr>
        <p:spPr/>
        <p:txBody>
          <a:bodyPr/>
          <a:lstStyle/>
          <a:p>
            <a:pPr marL="0" indent="0">
              <a:buNone/>
            </a:pPr>
            <a:r>
              <a:rPr lang="en-GB" dirty="0" smtClean="0"/>
              <a:t> </a:t>
            </a:r>
            <a:endParaRPr lang="en-GB" dirty="0"/>
          </a:p>
        </p:txBody>
      </p:sp>
    </p:spTree>
    <p:extLst>
      <p:ext uri="{BB962C8B-B14F-4D97-AF65-F5344CB8AC3E}">
        <p14:creationId xmlns:p14="http://schemas.microsoft.com/office/powerpoint/2010/main" val="123700615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112</TotalTime>
  <Words>1106</Words>
  <Application>Microsoft Office PowerPoint</Application>
  <PresentationFormat>Widescreen</PresentationFormat>
  <Paragraphs>58</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Century Gothic</vt:lpstr>
      <vt:lpstr>Wingdings 3</vt:lpstr>
      <vt:lpstr>Wisp</vt:lpstr>
      <vt:lpstr>Spaced Learning</vt:lpstr>
      <vt:lpstr>A ‘pioneering’ programme…</vt:lpstr>
      <vt:lpstr>What is Kelley’s evidence?</vt:lpstr>
      <vt:lpstr>Literature review…</vt:lpstr>
      <vt:lpstr>Length of intervals</vt:lpstr>
      <vt:lpstr>Interval activities</vt:lpstr>
      <vt:lpstr>Implications for EP’s</vt:lpstr>
      <vt:lpstr>Questions?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Spaced Learning</dc:title>
  <dc:creator>Foy L.C.</dc:creator>
  <cp:lastModifiedBy>Foy L.C.</cp:lastModifiedBy>
  <cp:revision>11</cp:revision>
  <dcterms:created xsi:type="dcterms:W3CDTF">2014-12-15T11:05:06Z</dcterms:created>
  <dcterms:modified xsi:type="dcterms:W3CDTF">2014-12-15T12:58:02Z</dcterms:modified>
</cp:coreProperties>
</file>