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61" r:id="rId4"/>
    <p:sldId id="262" r:id="rId5"/>
    <p:sldId id="263" r:id="rId6"/>
    <p:sldId id="264" r:id="rId7"/>
    <p:sldId id="265" r:id="rId8"/>
    <p:sldId id="266" r:id="rId9"/>
    <p:sldId id="267" r:id="rId10"/>
    <p:sldId id="270" r:id="rId11"/>
    <p:sldId id="271"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0" d="100"/>
          <a:sy n="70" d="100"/>
        </p:scale>
        <p:origin x="7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GB" dirty="0"/>
              <a:t>Families of children with </a:t>
            </a:r>
            <a:r>
              <a:rPr lang="en-GB" dirty="0" smtClean="0"/>
              <a:t>ASC (N=552)</a:t>
            </a:r>
          </a:p>
          <a:p>
            <a:pPr>
              <a:defRPr/>
            </a:pPr>
            <a:r>
              <a:rPr lang="en-GB" dirty="0" smtClean="0"/>
              <a:t>Green</a:t>
            </a:r>
            <a:r>
              <a:rPr lang="en-GB" baseline="0" dirty="0" smtClean="0"/>
              <a:t> et al. (2006)</a:t>
            </a:r>
            <a:endParaRPr lang="en-GB" dirty="0"/>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Families of children with ASC</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cat>
            <c:strRef>
              <c:f>Sheet1!$A$2:$A$3</c:f>
              <c:strCache>
                <c:ptCount val="2"/>
                <c:pt idx="0">
                  <c:v>Have used TEACCH</c:v>
                </c:pt>
                <c:pt idx="1">
                  <c:v>Have not used TEACCH</c:v>
                </c:pt>
              </c:strCache>
            </c:strRef>
          </c:cat>
          <c:val>
            <c:numRef>
              <c:f>Sheet1!$B$2:$B$3</c:f>
              <c:numCache>
                <c:formatCode>General</c:formatCode>
                <c:ptCount val="2"/>
                <c:pt idx="0">
                  <c:v>30</c:v>
                </c:pt>
                <c:pt idx="1">
                  <c:v>70</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F8FDAC-73DC-47F9-A8DA-26F715850BB5}" type="doc">
      <dgm:prSet loTypeId="urn:microsoft.com/office/officeart/2005/8/layout/chevron1" loCatId="process" qsTypeId="urn:microsoft.com/office/officeart/2005/8/quickstyle/simple1" qsCatId="simple" csTypeId="urn:microsoft.com/office/officeart/2005/8/colors/colorful4" csCatId="colorful" phldr="1"/>
      <dgm:spPr/>
    </dgm:pt>
    <dgm:pt modelId="{51F3BAE6-DEA0-4BEE-A5F6-CED4C486089F}">
      <dgm:prSet phldrT="[Text]"/>
      <dgm:spPr/>
      <dgm:t>
        <a:bodyPr/>
        <a:lstStyle/>
        <a:p>
          <a:r>
            <a:rPr lang="en-GB" dirty="0" smtClean="0"/>
            <a:t>Theoretical Rationale</a:t>
          </a:r>
          <a:endParaRPr lang="en-GB" dirty="0"/>
        </a:p>
      </dgm:t>
    </dgm:pt>
    <dgm:pt modelId="{7487762B-0138-4229-8319-49583B189D2D}" type="parTrans" cxnId="{DA88DD93-35ED-4256-A628-E1A7DD57CF4F}">
      <dgm:prSet/>
      <dgm:spPr/>
      <dgm:t>
        <a:bodyPr/>
        <a:lstStyle/>
        <a:p>
          <a:endParaRPr lang="en-GB"/>
        </a:p>
      </dgm:t>
    </dgm:pt>
    <dgm:pt modelId="{E203986F-3D5F-45E5-9AFC-86447CEBD601}" type="sibTrans" cxnId="{DA88DD93-35ED-4256-A628-E1A7DD57CF4F}">
      <dgm:prSet/>
      <dgm:spPr/>
      <dgm:t>
        <a:bodyPr/>
        <a:lstStyle/>
        <a:p>
          <a:endParaRPr lang="en-GB"/>
        </a:p>
      </dgm:t>
    </dgm:pt>
    <dgm:pt modelId="{31E9B124-7C37-4EBF-939B-610906FE867A}">
      <dgm:prSet phldrT="[Text]"/>
      <dgm:spPr/>
      <dgm:t>
        <a:bodyPr/>
        <a:lstStyle/>
        <a:p>
          <a:r>
            <a:rPr lang="en-GB" dirty="0" smtClean="0"/>
            <a:t>Empirical Evidence</a:t>
          </a:r>
          <a:endParaRPr lang="en-GB" dirty="0"/>
        </a:p>
      </dgm:t>
    </dgm:pt>
    <dgm:pt modelId="{2865FCB8-B11C-4E60-94A4-922034961EC2}" type="parTrans" cxnId="{5B12A22A-972A-404D-9088-E3156AC57FD1}">
      <dgm:prSet/>
      <dgm:spPr/>
      <dgm:t>
        <a:bodyPr/>
        <a:lstStyle/>
        <a:p>
          <a:endParaRPr lang="en-GB"/>
        </a:p>
      </dgm:t>
    </dgm:pt>
    <dgm:pt modelId="{B02461F6-6686-4FCD-AFF7-8446FB6BF735}" type="sibTrans" cxnId="{5B12A22A-972A-404D-9088-E3156AC57FD1}">
      <dgm:prSet/>
      <dgm:spPr/>
      <dgm:t>
        <a:bodyPr/>
        <a:lstStyle/>
        <a:p>
          <a:endParaRPr lang="en-GB"/>
        </a:p>
      </dgm:t>
    </dgm:pt>
    <dgm:pt modelId="{7712200D-A8E4-4A3A-A18E-26F204F3D17E}">
      <dgm:prSet phldrT="[Text]"/>
      <dgm:spPr/>
      <dgm:t>
        <a:bodyPr/>
        <a:lstStyle/>
        <a:p>
          <a:r>
            <a:rPr lang="en-GB" dirty="0" smtClean="0"/>
            <a:t>Possible negative effects</a:t>
          </a:r>
          <a:endParaRPr lang="en-GB" dirty="0"/>
        </a:p>
      </dgm:t>
    </dgm:pt>
    <dgm:pt modelId="{D0233AFC-B86E-4764-A742-8486DF20EC15}" type="parTrans" cxnId="{209BDC52-D034-4DDF-949C-2B4E55182894}">
      <dgm:prSet/>
      <dgm:spPr/>
      <dgm:t>
        <a:bodyPr/>
        <a:lstStyle/>
        <a:p>
          <a:endParaRPr lang="en-GB"/>
        </a:p>
      </dgm:t>
    </dgm:pt>
    <dgm:pt modelId="{510004AB-8918-49DA-B4FC-9B0C1C86FBA2}" type="sibTrans" cxnId="{209BDC52-D034-4DDF-949C-2B4E55182894}">
      <dgm:prSet/>
      <dgm:spPr/>
      <dgm:t>
        <a:bodyPr/>
        <a:lstStyle/>
        <a:p>
          <a:endParaRPr lang="en-GB"/>
        </a:p>
      </dgm:t>
    </dgm:pt>
    <dgm:pt modelId="{C8A80E12-4082-4644-8965-8ECE48075E74}">
      <dgm:prSet/>
      <dgm:spPr/>
      <dgm:t>
        <a:bodyPr/>
        <a:lstStyle/>
        <a:p>
          <a:r>
            <a:rPr lang="en-GB" dirty="0" smtClean="0"/>
            <a:t>Impact on family/ school</a:t>
          </a:r>
          <a:endParaRPr lang="en-GB" dirty="0"/>
        </a:p>
      </dgm:t>
    </dgm:pt>
    <dgm:pt modelId="{8425AA34-149A-4E1B-9A65-A9A9D0B379FB}" type="parTrans" cxnId="{DC66AE7F-5145-4CE1-927F-7E5717702540}">
      <dgm:prSet/>
      <dgm:spPr/>
      <dgm:t>
        <a:bodyPr/>
        <a:lstStyle/>
        <a:p>
          <a:endParaRPr lang="en-GB"/>
        </a:p>
      </dgm:t>
    </dgm:pt>
    <dgm:pt modelId="{15B5FAC6-2589-4531-9424-12FB0B8FDB3D}" type="sibTrans" cxnId="{DC66AE7F-5145-4CE1-927F-7E5717702540}">
      <dgm:prSet/>
      <dgm:spPr/>
      <dgm:t>
        <a:bodyPr/>
        <a:lstStyle/>
        <a:p>
          <a:endParaRPr lang="en-GB"/>
        </a:p>
      </dgm:t>
    </dgm:pt>
    <dgm:pt modelId="{F8C9F2BD-6054-4911-A939-0C5A0B770CA2}" type="pres">
      <dgm:prSet presAssocID="{D1F8FDAC-73DC-47F9-A8DA-26F715850BB5}" presName="Name0" presStyleCnt="0">
        <dgm:presLayoutVars>
          <dgm:dir/>
          <dgm:animLvl val="lvl"/>
          <dgm:resizeHandles val="exact"/>
        </dgm:presLayoutVars>
      </dgm:prSet>
      <dgm:spPr/>
    </dgm:pt>
    <dgm:pt modelId="{1154A879-AF7F-4ADD-8CC9-316D2CDF52E0}" type="pres">
      <dgm:prSet presAssocID="{51F3BAE6-DEA0-4BEE-A5F6-CED4C486089F}" presName="parTxOnly" presStyleLbl="node1" presStyleIdx="0" presStyleCnt="4">
        <dgm:presLayoutVars>
          <dgm:chMax val="0"/>
          <dgm:chPref val="0"/>
          <dgm:bulletEnabled val="1"/>
        </dgm:presLayoutVars>
      </dgm:prSet>
      <dgm:spPr/>
      <dgm:t>
        <a:bodyPr/>
        <a:lstStyle/>
        <a:p>
          <a:endParaRPr lang="en-GB"/>
        </a:p>
      </dgm:t>
    </dgm:pt>
    <dgm:pt modelId="{5405158C-CA02-4ECE-A185-3C28B111C2A5}" type="pres">
      <dgm:prSet presAssocID="{E203986F-3D5F-45E5-9AFC-86447CEBD601}" presName="parTxOnlySpace" presStyleCnt="0"/>
      <dgm:spPr/>
    </dgm:pt>
    <dgm:pt modelId="{7ECBB546-39A7-46CB-8F04-B2706B8E5709}" type="pres">
      <dgm:prSet presAssocID="{31E9B124-7C37-4EBF-939B-610906FE867A}" presName="parTxOnly" presStyleLbl="node1" presStyleIdx="1" presStyleCnt="4">
        <dgm:presLayoutVars>
          <dgm:chMax val="0"/>
          <dgm:chPref val="0"/>
          <dgm:bulletEnabled val="1"/>
        </dgm:presLayoutVars>
      </dgm:prSet>
      <dgm:spPr/>
      <dgm:t>
        <a:bodyPr/>
        <a:lstStyle/>
        <a:p>
          <a:endParaRPr lang="en-GB"/>
        </a:p>
      </dgm:t>
    </dgm:pt>
    <dgm:pt modelId="{4B269138-F106-47B0-8C6A-95592AAFE25B}" type="pres">
      <dgm:prSet presAssocID="{B02461F6-6686-4FCD-AFF7-8446FB6BF735}" presName="parTxOnlySpace" presStyleCnt="0"/>
      <dgm:spPr/>
    </dgm:pt>
    <dgm:pt modelId="{3CF84F49-5187-4D43-82C0-A387327134A6}" type="pres">
      <dgm:prSet presAssocID="{7712200D-A8E4-4A3A-A18E-26F204F3D17E}" presName="parTxOnly" presStyleLbl="node1" presStyleIdx="2" presStyleCnt="4">
        <dgm:presLayoutVars>
          <dgm:chMax val="0"/>
          <dgm:chPref val="0"/>
          <dgm:bulletEnabled val="1"/>
        </dgm:presLayoutVars>
      </dgm:prSet>
      <dgm:spPr/>
      <dgm:t>
        <a:bodyPr/>
        <a:lstStyle/>
        <a:p>
          <a:endParaRPr lang="en-GB"/>
        </a:p>
      </dgm:t>
    </dgm:pt>
    <dgm:pt modelId="{58E311FE-1ADA-4C2E-81C4-BD958D39472D}" type="pres">
      <dgm:prSet presAssocID="{510004AB-8918-49DA-B4FC-9B0C1C86FBA2}" presName="parTxOnlySpace" presStyleCnt="0"/>
      <dgm:spPr/>
    </dgm:pt>
    <dgm:pt modelId="{C1482607-D9A7-4649-974E-E9312B9BB19E}" type="pres">
      <dgm:prSet presAssocID="{C8A80E12-4082-4644-8965-8ECE48075E74}" presName="parTxOnly" presStyleLbl="node1" presStyleIdx="3" presStyleCnt="4">
        <dgm:presLayoutVars>
          <dgm:chMax val="0"/>
          <dgm:chPref val="0"/>
          <dgm:bulletEnabled val="1"/>
        </dgm:presLayoutVars>
      </dgm:prSet>
      <dgm:spPr/>
      <dgm:t>
        <a:bodyPr/>
        <a:lstStyle/>
        <a:p>
          <a:endParaRPr lang="en-GB"/>
        </a:p>
      </dgm:t>
    </dgm:pt>
  </dgm:ptLst>
  <dgm:cxnLst>
    <dgm:cxn modelId="{F3A62F0C-B3FC-4A4A-A349-74721716F28A}" type="presOf" srcId="{7712200D-A8E4-4A3A-A18E-26F204F3D17E}" destId="{3CF84F49-5187-4D43-82C0-A387327134A6}" srcOrd="0" destOrd="0" presId="urn:microsoft.com/office/officeart/2005/8/layout/chevron1"/>
    <dgm:cxn modelId="{DC66AE7F-5145-4CE1-927F-7E5717702540}" srcId="{D1F8FDAC-73DC-47F9-A8DA-26F715850BB5}" destId="{C8A80E12-4082-4644-8965-8ECE48075E74}" srcOrd="3" destOrd="0" parTransId="{8425AA34-149A-4E1B-9A65-A9A9D0B379FB}" sibTransId="{15B5FAC6-2589-4531-9424-12FB0B8FDB3D}"/>
    <dgm:cxn modelId="{B84DE750-B085-4058-BDAD-54BF2F841110}" type="presOf" srcId="{31E9B124-7C37-4EBF-939B-610906FE867A}" destId="{7ECBB546-39A7-46CB-8F04-B2706B8E5709}" srcOrd="0" destOrd="0" presId="urn:microsoft.com/office/officeart/2005/8/layout/chevron1"/>
    <dgm:cxn modelId="{A3CD9EBB-959A-4B44-880F-0AD6F9ED9E65}" type="presOf" srcId="{D1F8FDAC-73DC-47F9-A8DA-26F715850BB5}" destId="{F8C9F2BD-6054-4911-A939-0C5A0B770CA2}" srcOrd="0" destOrd="0" presId="urn:microsoft.com/office/officeart/2005/8/layout/chevron1"/>
    <dgm:cxn modelId="{DA88DD93-35ED-4256-A628-E1A7DD57CF4F}" srcId="{D1F8FDAC-73DC-47F9-A8DA-26F715850BB5}" destId="{51F3BAE6-DEA0-4BEE-A5F6-CED4C486089F}" srcOrd="0" destOrd="0" parTransId="{7487762B-0138-4229-8319-49583B189D2D}" sibTransId="{E203986F-3D5F-45E5-9AFC-86447CEBD601}"/>
    <dgm:cxn modelId="{209BDC52-D034-4DDF-949C-2B4E55182894}" srcId="{D1F8FDAC-73DC-47F9-A8DA-26F715850BB5}" destId="{7712200D-A8E4-4A3A-A18E-26F204F3D17E}" srcOrd="2" destOrd="0" parTransId="{D0233AFC-B86E-4764-A742-8486DF20EC15}" sibTransId="{510004AB-8918-49DA-B4FC-9B0C1C86FBA2}"/>
    <dgm:cxn modelId="{C040F5B5-AB79-48F4-95FD-9987F32FED9C}" type="presOf" srcId="{51F3BAE6-DEA0-4BEE-A5F6-CED4C486089F}" destId="{1154A879-AF7F-4ADD-8CC9-316D2CDF52E0}" srcOrd="0" destOrd="0" presId="urn:microsoft.com/office/officeart/2005/8/layout/chevron1"/>
    <dgm:cxn modelId="{68961852-9378-4C1A-8C0E-BFDB3DA095A2}" type="presOf" srcId="{C8A80E12-4082-4644-8965-8ECE48075E74}" destId="{C1482607-D9A7-4649-974E-E9312B9BB19E}" srcOrd="0" destOrd="0" presId="urn:microsoft.com/office/officeart/2005/8/layout/chevron1"/>
    <dgm:cxn modelId="{5B12A22A-972A-404D-9088-E3156AC57FD1}" srcId="{D1F8FDAC-73DC-47F9-A8DA-26F715850BB5}" destId="{31E9B124-7C37-4EBF-939B-610906FE867A}" srcOrd="1" destOrd="0" parTransId="{2865FCB8-B11C-4E60-94A4-922034961EC2}" sibTransId="{B02461F6-6686-4FCD-AFF7-8446FB6BF735}"/>
    <dgm:cxn modelId="{C4E9C959-BA36-4980-8620-1D8148C15D50}" type="presParOf" srcId="{F8C9F2BD-6054-4911-A939-0C5A0B770CA2}" destId="{1154A879-AF7F-4ADD-8CC9-316D2CDF52E0}" srcOrd="0" destOrd="0" presId="urn:microsoft.com/office/officeart/2005/8/layout/chevron1"/>
    <dgm:cxn modelId="{316BAA83-7374-45F7-8ADC-86AE796A58EF}" type="presParOf" srcId="{F8C9F2BD-6054-4911-A939-0C5A0B770CA2}" destId="{5405158C-CA02-4ECE-A185-3C28B111C2A5}" srcOrd="1" destOrd="0" presId="urn:microsoft.com/office/officeart/2005/8/layout/chevron1"/>
    <dgm:cxn modelId="{6F40BD83-1BF7-4B5E-B0C8-7F901069FBCF}" type="presParOf" srcId="{F8C9F2BD-6054-4911-A939-0C5A0B770CA2}" destId="{7ECBB546-39A7-46CB-8F04-B2706B8E5709}" srcOrd="2" destOrd="0" presId="urn:microsoft.com/office/officeart/2005/8/layout/chevron1"/>
    <dgm:cxn modelId="{68F1FEBD-1F01-4309-B595-9558FB0D8D7D}" type="presParOf" srcId="{F8C9F2BD-6054-4911-A939-0C5A0B770CA2}" destId="{4B269138-F106-47B0-8C6A-95592AAFE25B}" srcOrd="3" destOrd="0" presId="urn:microsoft.com/office/officeart/2005/8/layout/chevron1"/>
    <dgm:cxn modelId="{73AA61CB-B765-4B2B-A956-F393FEC0BD7B}" type="presParOf" srcId="{F8C9F2BD-6054-4911-A939-0C5A0B770CA2}" destId="{3CF84F49-5187-4D43-82C0-A387327134A6}" srcOrd="4" destOrd="0" presId="urn:microsoft.com/office/officeart/2005/8/layout/chevron1"/>
    <dgm:cxn modelId="{7BB342ED-D7D8-4376-9C69-195CB2E86DF0}" type="presParOf" srcId="{F8C9F2BD-6054-4911-A939-0C5A0B770CA2}" destId="{58E311FE-1ADA-4C2E-81C4-BD958D39472D}" srcOrd="5" destOrd="0" presId="urn:microsoft.com/office/officeart/2005/8/layout/chevron1"/>
    <dgm:cxn modelId="{8E655219-4700-48EA-96FC-6BB55EDC70B1}" type="presParOf" srcId="{F8C9F2BD-6054-4911-A939-0C5A0B770CA2}" destId="{C1482607-D9A7-4649-974E-E9312B9BB19E}" srcOrd="6"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54A879-AF7F-4ADD-8CC9-316D2CDF52E0}">
      <dsp:nvSpPr>
        <dsp:cNvPr id="0" name=""/>
        <dsp:cNvSpPr/>
      </dsp:nvSpPr>
      <dsp:spPr>
        <a:xfrm>
          <a:off x="4527" y="1238745"/>
          <a:ext cx="2635300" cy="1054120"/>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012" tIns="30671" rIns="30671" bIns="30671" numCol="1" spcCol="1270" anchor="ctr" anchorCtr="0">
          <a:noAutofit/>
        </a:bodyPr>
        <a:lstStyle/>
        <a:p>
          <a:pPr lvl="0" algn="ctr" defTabSz="1022350">
            <a:lnSpc>
              <a:spcPct val="90000"/>
            </a:lnSpc>
            <a:spcBef>
              <a:spcPct val="0"/>
            </a:spcBef>
            <a:spcAft>
              <a:spcPct val="35000"/>
            </a:spcAft>
          </a:pPr>
          <a:r>
            <a:rPr lang="en-GB" sz="2300" kern="1200" dirty="0" smtClean="0"/>
            <a:t>Theoretical Rationale</a:t>
          </a:r>
          <a:endParaRPr lang="en-GB" sz="2300" kern="1200" dirty="0"/>
        </a:p>
      </dsp:txBody>
      <dsp:txXfrm>
        <a:off x="531587" y="1238745"/>
        <a:ext cx="1581180" cy="1054120"/>
      </dsp:txXfrm>
    </dsp:sp>
    <dsp:sp modelId="{7ECBB546-39A7-46CB-8F04-B2706B8E5709}">
      <dsp:nvSpPr>
        <dsp:cNvPr id="0" name=""/>
        <dsp:cNvSpPr/>
      </dsp:nvSpPr>
      <dsp:spPr>
        <a:xfrm>
          <a:off x="2376297" y="1238745"/>
          <a:ext cx="2635300" cy="1054120"/>
        </a:xfrm>
        <a:prstGeom prst="chevron">
          <a:avLst/>
        </a:prstGeom>
        <a:solidFill>
          <a:schemeClr val="accent4">
            <a:hueOff val="3465231"/>
            <a:satOff val="-15989"/>
            <a:lumOff val="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012" tIns="30671" rIns="30671" bIns="30671" numCol="1" spcCol="1270" anchor="ctr" anchorCtr="0">
          <a:noAutofit/>
        </a:bodyPr>
        <a:lstStyle/>
        <a:p>
          <a:pPr lvl="0" algn="ctr" defTabSz="1022350">
            <a:lnSpc>
              <a:spcPct val="90000"/>
            </a:lnSpc>
            <a:spcBef>
              <a:spcPct val="0"/>
            </a:spcBef>
            <a:spcAft>
              <a:spcPct val="35000"/>
            </a:spcAft>
          </a:pPr>
          <a:r>
            <a:rPr lang="en-GB" sz="2300" kern="1200" dirty="0" smtClean="0"/>
            <a:t>Empirical Evidence</a:t>
          </a:r>
          <a:endParaRPr lang="en-GB" sz="2300" kern="1200" dirty="0"/>
        </a:p>
      </dsp:txBody>
      <dsp:txXfrm>
        <a:off x="2903357" y="1238745"/>
        <a:ext cx="1581180" cy="1054120"/>
      </dsp:txXfrm>
    </dsp:sp>
    <dsp:sp modelId="{3CF84F49-5187-4D43-82C0-A387327134A6}">
      <dsp:nvSpPr>
        <dsp:cNvPr id="0" name=""/>
        <dsp:cNvSpPr/>
      </dsp:nvSpPr>
      <dsp:spPr>
        <a:xfrm>
          <a:off x="4748067" y="1238745"/>
          <a:ext cx="2635300" cy="1054120"/>
        </a:xfrm>
        <a:prstGeom prst="chevron">
          <a:avLst/>
        </a:prstGeom>
        <a:solidFill>
          <a:schemeClr val="accent4">
            <a:hueOff val="6930461"/>
            <a:satOff val="-31979"/>
            <a:lumOff val="1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012" tIns="30671" rIns="30671" bIns="30671" numCol="1" spcCol="1270" anchor="ctr" anchorCtr="0">
          <a:noAutofit/>
        </a:bodyPr>
        <a:lstStyle/>
        <a:p>
          <a:pPr lvl="0" algn="ctr" defTabSz="1022350">
            <a:lnSpc>
              <a:spcPct val="90000"/>
            </a:lnSpc>
            <a:spcBef>
              <a:spcPct val="0"/>
            </a:spcBef>
            <a:spcAft>
              <a:spcPct val="35000"/>
            </a:spcAft>
          </a:pPr>
          <a:r>
            <a:rPr lang="en-GB" sz="2300" kern="1200" dirty="0" smtClean="0"/>
            <a:t>Possible negative effects</a:t>
          </a:r>
          <a:endParaRPr lang="en-GB" sz="2300" kern="1200" dirty="0"/>
        </a:p>
      </dsp:txBody>
      <dsp:txXfrm>
        <a:off x="5275127" y="1238745"/>
        <a:ext cx="1581180" cy="1054120"/>
      </dsp:txXfrm>
    </dsp:sp>
    <dsp:sp modelId="{C1482607-D9A7-4649-974E-E9312B9BB19E}">
      <dsp:nvSpPr>
        <dsp:cNvPr id="0" name=""/>
        <dsp:cNvSpPr/>
      </dsp:nvSpPr>
      <dsp:spPr>
        <a:xfrm>
          <a:off x="7119838" y="1238745"/>
          <a:ext cx="2635300" cy="1054120"/>
        </a:xfrm>
        <a:prstGeom prst="chevron">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012" tIns="30671" rIns="30671" bIns="30671" numCol="1" spcCol="1270" anchor="ctr" anchorCtr="0">
          <a:noAutofit/>
        </a:bodyPr>
        <a:lstStyle/>
        <a:p>
          <a:pPr lvl="0" algn="ctr" defTabSz="1022350">
            <a:lnSpc>
              <a:spcPct val="90000"/>
            </a:lnSpc>
            <a:spcBef>
              <a:spcPct val="0"/>
            </a:spcBef>
            <a:spcAft>
              <a:spcPct val="35000"/>
            </a:spcAft>
          </a:pPr>
          <a:r>
            <a:rPr lang="en-GB" sz="2300" kern="1200" dirty="0" smtClean="0"/>
            <a:t>Impact on family/ school</a:t>
          </a:r>
          <a:endParaRPr lang="en-GB" sz="2300" kern="1200" dirty="0"/>
        </a:p>
      </dsp:txBody>
      <dsp:txXfrm>
        <a:off x="7646898" y="1238745"/>
        <a:ext cx="1581180" cy="105412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85B2C8-032F-43C4-81EE-F513A75C8827}" type="datetimeFigureOut">
              <a:rPr lang="en-GB" smtClean="0"/>
              <a:t>21/05/2015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7D4A04-42BE-4ECF-9A1E-307B6EA35D3A}" type="slidenum">
              <a:rPr lang="en-GB" smtClean="0"/>
              <a:t>‹#›</a:t>
            </a:fld>
            <a:endParaRPr lang="en-GB"/>
          </a:p>
        </p:txBody>
      </p:sp>
    </p:spTree>
    <p:extLst>
      <p:ext uri="{BB962C8B-B14F-4D97-AF65-F5344CB8AC3E}">
        <p14:creationId xmlns:p14="http://schemas.microsoft.com/office/powerpoint/2010/main" val="3974517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A multi-national survey completed by 552 parents of children with ASC suggested that 30% of families currently use, or had used, the TEACCH programme (Green et al., 2006). Although 80% of respondents in this study were from America, the remaining 20% of participants were recruited worldwide. </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TEACCH is one of the most ﬁrmly established, visible and frequently cited autism programmes worldwide (Gresham, Beebe-</a:t>
            </a:r>
            <a:r>
              <a:rPr lang="en-GB" dirty="0" err="1" smtClean="0"/>
              <a:t>Frankenberger</a:t>
            </a:r>
            <a:r>
              <a:rPr lang="en-GB" dirty="0" smtClean="0"/>
              <a:t>, &amp; MacMillan, 1999). </a:t>
            </a:r>
          </a:p>
          <a:p>
            <a:endParaRPr lang="en-GB" dirty="0"/>
          </a:p>
        </p:txBody>
      </p:sp>
      <p:sp>
        <p:nvSpPr>
          <p:cNvPr id="4" name="Slide Number Placeholder 3"/>
          <p:cNvSpPr>
            <a:spLocks noGrp="1"/>
          </p:cNvSpPr>
          <p:nvPr>
            <p:ph type="sldNum" sz="quarter" idx="10"/>
          </p:nvPr>
        </p:nvSpPr>
        <p:spPr/>
        <p:txBody>
          <a:bodyPr/>
          <a:lstStyle/>
          <a:p>
            <a:fld id="{DC7D4A04-42BE-4ECF-9A1E-307B6EA35D3A}" type="slidenum">
              <a:rPr lang="en-GB" smtClean="0"/>
              <a:t>2</a:t>
            </a:fld>
            <a:endParaRPr lang="en-GB"/>
          </a:p>
        </p:txBody>
      </p:sp>
    </p:spTree>
    <p:extLst>
      <p:ext uri="{BB962C8B-B14F-4D97-AF65-F5344CB8AC3E}">
        <p14:creationId xmlns:p14="http://schemas.microsoft.com/office/powerpoint/2010/main" val="4079090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TEACCH is, therefore, a global approach which aims to modify the environment in order to meet the specific needs of each young people with the condition (</a:t>
            </a:r>
            <a:r>
              <a:rPr lang="en-GB" dirty="0" err="1" smtClean="0"/>
              <a:t>Schopler</a:t>
            </a:r>
            <a:r>
              <a:rPr lang="en-GB" dirty="0" smtClean="0"/>
              <a:t>, 1997). </a:t>
            </a:r>
          </a:p>
          <a:p>
            <a:endParaRPr lang="en-GB" dirty="0"/>
          </a:p>
        </p:txBody>
      </p:sp>
      <p:sp>
        <p:nvSpPr>
          <p:cNvPr id="4" name="Slide Number Placeholder 3"/>
          <p:cNvSpPr>
            <a:spLocks noGrp="1"/>
          </p:cNvSpPr>
          <p:nvPr>
            <p:ph type="sldNum" sz="quarter" idx="10"/>
          </p:nvPr>
        </p:nvSpPr>
        <p:spPr/>
        <p:txBody>
          <a:bodyPr/>
          <a:lstStyle/>
          <a:p>
            <a:fld id="{DC7D4A04-42BE-4ECF-9A1E-307B6EA35D3A}" type="slidenum">
              <a:rPr lang="en-GB" smtClean="0"/>
              <a:t>3</a:t>
            </a:fld>
            <a:endParaRPr lang="en-GB"/>
          </a:p>
        </p:txBody>
      </p:sp>
    </p:spTree>
    <p:extLst>
      <p:ext uri="{BB962C8B-B14F-4D97-AF65-F5344CB8AC3E}">
        <p14:creationId xmlns:p14="http://schemas.microsoft.com/office/powerpoint/2010/main" val="1915171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The three fundamental, guiding principles of TEACCH will now be explored, in relation to underlying psychological theory, debates and research.</a:t>
            </a:r>
          </a:p>
          <a:p>
            <a:r>
              <a:rPr lang="en-GB" sz="1200" kern="1200" dirty="0" smtClean="0">
                <a:solidFill>
                  <a:schemeClr val="tx1"/>
                </a:solidFill>
                <a:effectLst/>
                <a:latin typeface="+mn-lt"/>
                <a:ea typeface="+mn-ea"/>
                <a:cs typeface="+mn-cs"/>
              </a:rPr>
              <a:t>Not inclusive - This is because TEACCH is based on the assumption that students with ASC are not responsive to ‘typical’ education in regular classroom settings and require a more specialised, structured education programme (</a:t>
            </a:r>
            <a:r>
              <a:rPr lang="en-GB" sz="1200" kern="1200" dirty="0" err="1" smtClean="0">
                <a:solidFill>
                  <a:schemeClr val="tx1"/>
                </a:solidFill>
                <a:effectLst/>
                <a:latin typeface="+mn-lt"/>
                <a:ea typeface="+mn-ea"/>
                <a:cs typeface="+mn-cs"/>
              </a:rPr>
              <a:t>Panerai</a:t>
            </a:r>
            <a:r>
              <a:rPr lang="en-GB" sz="1200" kern="1200" dirty="0" smtClean="0">
                <a:solidFill>
                  <a:schemeClr val="tx1"/>
                </a:solidFill>
                <a:effectLst/>
                <a:latin typeface="+mn-lt"/>
                <a:ea typeface="+mn-ea"/>
                <a:cs typeface="+mn-cs"/>
              </a:rPr>
              <a:t> et al., 2009). This approach has often manifested in children with ASC being educated in classroom settings, apart from their ‘typically developing’ peers. </a:t>
            </a:r>
          </a:p>
          <a:p>
            <a:endParaRPr lang="en-GB"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smtClean="0">
                <a:solidFill>
                  <a:schemeClr val="tx1"/>
                </a:solidFill>
                <a:effectLst/>
                <a:latin typeface="+mn-lt"/>
                <a:ea typeface="+mn-ea"/>
                <a:cs typeface="+mn-cs"/>
              </a:rPr>
              <a:t>Is inclusive: However, a non-inclusive approach is not stipulated by TEACCH researchers. They have argued that schools should find specific solutions to integrate children with ASC into whole-class settings (</a:t>
            </a:r>
            <a:r>
              <a:rPr lang="en-GB" sz="1200" kern="1200" dirty="0" err="1" smtClean="0">
                <a:solidFill>
                  <a:schemeClr val="tx1"/>
                </a:solidFill>
                <a:effectLst/>
                <a:latin typeface="+mn-lt"/>
                <a:ea typeface="+mn-ea"/>
                <a:cs typeface="+mn-cs"/>
              </a:rPr>
              <a:t>Panerai</a:t>
            </a:r>
            <a:r>
              <a:rPr lang="en-GB" sz="1200" kern="1200" dirty="0" smtClean="0">
                <a:solidFill>
                  <a:schemeClr val="tx1"/>
                </a:solidFill>
                <a:effectLst/>
                <a:latin typeface="+mn-lt"/>
                <a:ea typeface="+mn-ea"/>
                <a:cs typeface="+mn-cs"/>
              </a:rPr>
              <a:t>, </a:t>
            </a:r>
            <a:r>
              <a:rPr lang="en-GB" sz="1200" kern="1200" dirty="0" err="1" smtClean="0">
                <a:solidFill>
                  <a:schemeClr val="tx1"/>
                </a:solidFill>
                <a:effectLst/>
                <a:latin typeface="+mn-lt"/>
                <a:ea typeface="+mn-ea"/>
                <a:cs typeface="+mn-cs"/>
              </a:rPr>
              <a:t>Ferrante</a:t>
            </a:r>
            <a:r>
              <a:rPr lang="en-GB" sz="1200" kern="1200" dirty="0" smtClean="0">
                <a:solidFill>
                  <a:schemeClr val="tx1"/>
                </a:solidFill>
                <a:effectLst/>
                <a:latin typeface="+mn-lt"/>
                <a:ea typeface="+mn-ea"/>
                <a:cs typeface="+mn-cs"/>
              </a:rPr>
              <a:t>, &amp; </a:t>
            </a:r>
            <a:r>
              <a:rPr lang="en-GB" sz="1200" kern="1200" dirty="0" err="1" smtClean="0">
                <a:solidFill>
                  <a:schemeClr val="tx1"/>
                </a:solidFill>
                <a:effectLst/>
                <a:latin typeface="+mn-lt"/>
                <a:ea typeface="+mn-ea"/>
                <a:cs typeface="+mn-cs"/>
              </a:rPr>
              <a:t>Zingale</a:t>
            </a:r>
            <a:r>
              <a:rPr lang="en-GB" sz="1200" kern="1200" dirty="0" smtClean="0">
                <a:solidFill>
                  <a:schemeClr val="tx1"/>
                </a:solidFill>
                <a:effectLst/>
                <a:latin typeface="+mn-lt"/>
                <a:ea typeface="+mn-ea"/>
                <a:cs typeface="+mn-cs"/>
              </a:rPr>
              <a:t>, 2002). The appropriate conditions are, however, needed for development, learning and integration. Schools needs to ask, ‘how can we change to meet this child’s needs and promote their learning’, as opposed to, ‘how does the child need to change to fit into the school system’. Changing the environment to suit the child’s needs, rather than changing the individual, is part of a holistic ‘whole-child’ as opposed to a ‘within-child’ approach. Therefore, the argument that TEACCH is non-inclusive detracts from the responsibility of schools to adapt their learning environment according to the needs of every child.</a:t>
            </a:r>
          </a:p>
          <a:p>
            <a:endParaRPr lang="en-GB" dirty="0"/>
          </a:p>
        </p:txBody>
      </p:sp>
      <p:sp>
        <p:nvSpPr>
          <p:cNvPr id="4" name="Slide Number Placeholder 3"/>
          <p:cNvSpPr>
            <a:spLocks noGrp="1"/>
          </p:cNvSpPr>
          <p:nvPr>
            <p:ph type="sldNum" sz="quarter" idx="10"/>
          </p:nvPr>
        </p:nvSpPr>
        <p:spPr/>
        <p:txBody>
          <a:bodyPr/>
          <a:lstStyle/>
          <a:p>
            <a:fld id="{DC7D4A04-42BE-4ECF-9A1E-307B6EA35D3A}" type="slidenum">
              <a:rPr lang="en-GB" smtClean="0"/>
              <a:t>4</a:t>
            </a:fld>
            <a:endParaRPr lang="en-GB"/>
          </a:p>
        </p:txBody>
      </p:sp>
    </p:spTree>
    <p:extLst>
      <p:ext uri="{BB962C8B-B14F-4D97-AF65-F5344CB8AC3E}">
        <p14:creationId xmlns:p14="http://schemas.microsoft.com/office/powerpoint/2010/main" val="1609803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Physical</a:t>
            </a:r>
            <a:r>
              <a:rPr lang="en-GB" baseline="0" dirty="0" smtClean="0"/>
              <a:t> organisation/ visual schedules/ special interest</a:t>
            </a:r>
          </a:p>
          <a:p>
            <a:r>
              <a:rPr lang="en-GB" baseline="0" dirty="0" smtClean="0"/>
              <a:t>Structure: </a:t>
            </a:r>
            <a:r>
              <a:rPr lang="en-GB" sz="1200" kern="1200" dirty="0" smtClean="0">
                <a:solidFill>
                  <a:schemeClr val="tx1"/>
                </a:solidFill>
                <a:effectLst/>
                <a:latin typeface="+mn-lt"/>
                <a:ea typeface="+mn-ea"/>
                <a:cs typeface="+mn-cs"/>
              </a:rPr>
              <a:t>an appreciation of how children with autism interact with the environment and beneﬁt from structured and predictable presentation of stimuli and events. </a:t>
            </a:r>
            <a:r>
              <a:rPr lang="en-GB" sz="1200" kern="1200" dirty="0" err="1" smtClean="0">
                <a:solidFill>
                  <a:schemeClr val="tx1"/>
                </a:solidFill>
                <a:effectLst/>
                <a:latin typeface="+mn-lt"/>
                <a:ea typeface="+mn-ea"/>
                <a:cs typeface="+mn-cs"/>
              </a:rPr>
              <a:t>Bodfish’s</a:t>
            </a:r>
            <a:r>
              <a:rPr lang="en-GB" sz="1200" kern="1200" dirty="0" smtClean="0">
                <a:solidFill>
                  <a:schemeClr val="tx1"/>
                </a:solidFill>
                <a:effectLst/>
                <a:latin typeface="+mn-lt"/>
                <a:ea typeface="+mn-ea"/>
                <a:cs typeface="+mn-cs"/>
              </a:rPr>
              <a:t> (2004) analysis of the literature suggested a structured environment can aid independence by reducing dependence on other people. A modified environment ensures that individuals with ASC knows what is going to happen next and what is expected of them. This can help develop a sense of autonomy and competence.</a:t>
            </a:r>
          </a:p>
          <a:p>
            <a:endParaRPr lang="en-GB" sz="1200" kern="1200" dirty="0" smtClean="0">
              <a:solidFill>
                <a:schemeClr val="tx1"/>
              </a:solidFill>
              <a:effectLst/>
              <a:latin typeface="+mn-lt"/>
              <a:ea typeface="+mn-ea"/>
              <a:cs typeface="+mn-cs"/>
            </a:endParaRPr>
          </a:p>
          <a:p>
            <a:r>
              <a:rPr lang="en-GB" sz="1200" kern="1200" dirty="0" smtClean="0">
                <a:solidFill>
                  <a:schemeClr val="tx1"/>
                </a:solidFill>
                <a:effectLst/>
                <a:latin typeface="+mn-lt"/>
                <a:ea typeface="+mn-ea"/>
                <a:cs typeface="+mn-cs"/>
              </a:rPr>
              <a:t>Visual - Visual cues are often used to help structure the environment and teach a communication system based on gesture, pictures, signs, or printed words. A well-established ASC characteristic is a preference for processing visual, as opposed to auditory, information.  Excessive language processing can cause confusion and distress, whereas visual information can alleviate these difficulties. There is robust neurological research to support these findings. A meta-analysis, conducted by Samson et al. (2012) analysed and synthesised 26 brain imaging studies, worldwide. It was found that people with ASC concentrate more brain resources in the temporal and occipital regions of the brain; areas associated with visual detection and identification (Quill, 1997). In contrast, there is less activity in the frontal cortex, an area used to plan, control and execute thoughts and actions – FIRST evidence</a:t>
            </a:r>
            <a:r>
              <a:rPr lang="en-GB" sz="1200" kern="1200" baseline="0" dirty="0" smtClean="0">
                <a:solidFill>
                  <a:schemeClr val="tx1"/>
                </a:solidFill>
                <a:effectLst/>
                <a:latin typeface="+mn-lt"/>
                <a:ea typeface="+mn-ea"/>
                <a:cs typeface="+mn-cs"/>
              </a:rPr>
              <a:t> that</a:t>
            </a:r>
            <a:r>
              <a:rPr lang="en-GB" sz="1200" kern="1200" dirty="0" smtClean="0">
                <a:solidFill>
                  <a:schemeClr val="tx1"/>
                </a:solidFill>
                <a:effectLst/>
                <a:latin typeface="+mn-lt"/>
                <a:ea typeface="+mn-ea"/>
                <a:cs typeface="+mn-cs"/>
              </a:rPr>
              <a:t> that enhanced visual-perceptual processing is a core feature of neural organisation in the ASC </a:t>
            </a:r>
          </a:p>
          <a:p>
            <a:endParaRPr lang="en-GB" dirty="0" smtClean="0"/>
          </a:p>
          <a:p>
            <a:r>
              <a:rPr lang="en-GB" dirty="0" smtClean="0"/>
              <a:t>Intense, and often atypical, interests are common characteristics of ASC according to the DSM–IV (American Psychiatric Association, 1994). In evidence of this, Boyd et al. (2007) observed that children’s social interactions increased when play materials were adapted to their own special interests, </a:t>
            </a:r>
            <a:r>
              <a:rPr lang="en-GB" dirty="0" err="1" smtClean="0"/>
              <a:t>Charlop</a:t>
            </a:r>
            <a:r>
              <a:rPr lang="en-GB" dirty="0" smtClean="0"/>
              <a:t>-Christy and </a:t>
            </a:r>
            <a:r>
              <a:rPr lang="en-GB" dirty="0" err="1" smtClean="0"/>
              <a:t>Haymes</a:t>
            </a:r>
            <a:r>
              <a:rPr lang="en-GB" dirty="0" smtClean="0"/>
              <a:t> (1998) also found that there was a reduction in tantrums and aggression when preferred play objects were chosen to reinforce good behaviour, as opposed to arbitrarily chosen stimuli.</a:t>
            </a:r>
          </a:p>
          <a:p>
            <a:r>
              <a:rPr lang="en-GB" dirty="0" smtClean="0"/>
              <a:t> Using the special interests of a child with ASC to motivate them is a person-centred approach to learning. Person centred planning (PCP) elicits a child’s individual perspective on what is important and relevant to them (Murray &amp; Sanderson, 2007). Giving young people choice about how they study puts them at the centre of their planning. An example of this could be to use Thomas the Tank Engine pictures to teach pre-academic skills. According to Sanderson (2000) this is an empowering and collaborative approach to learning which embraces the humanistic principles of choice and growth.</a:t>
            </a:r>
          </a:p>
          <a:p>
            <a:endParaRPr lang="en-GB" dirty="0"/>
          </a:p>
        </p:txBody>
      </p:sp>
      <p:sp>
        <p:nvSpPr>
          <p:cNvPr id="4" name="Slide Number Placeholder 3"/>
          <p:cNvSpPr>
            <a:spLocks noGrp="1"/>
          </p:cNvSpPr>
          <p:nvPr>
            <p:ph type="sldNum" sz="quarter" idx="10"/>
          </p:nvPr>
        </p:nvSpPr>
        <p:spPr/>
        <p:txBody>
          <a:bodyPr/>
          <a:lstStyle/>
          <a:p>
            <a:fld id="{DC7D4A04-42BE-4ECF-9A1E-307B6EA35D3A}" type="slidenum">
              <a:rPr lang="en-GB" smtClean="0"/>
              <a:t>5</a:t>
            </a:fld>
            <a:endParaRPr lang="en-GB"/>
          </a:p>
        </p:txBody>
      </p:sp>
    </p:spTree>
    <p:extLst>
      <p:ext uri="{BB962C8B-B14F-4D97-AF65-F5344CB8AC3E}">
        <p14:creationId xmlns:p14="http://schemas.microsoft.com/office/powerpoint/2010/main" val="1454204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generalise what they have learnt at school into other contexts</a:t>
            </a:r>
          </a:p>
          <a:p>
            <a:r>
              <a:rPr lang="en-GB" dirty="0" smtClean="0"/>
              <a:t> Coordination between home and school provides children with more consistent treatment and increased opportunities to practice communication, socialisation and daily living skills</a:t>
            </a:r>
            <a:r>
              <a:rPr lang="en-GB" baseline="0" dirty="0" smtClean="0"/>
              <a:t> = </a:t>
            </a:r>
            <a:r>
              <a:rPr lang="en-GB" dirty="0" smtClean="0"/>
              <a:t>natural part of their day-to-day life.</a:t>
            </a:r>
          </a:p>
          <a:p>
            <a:r>
              <a:rPr lang="en-GB" dirty="0" smtClean="0"/>
              <a:t>Beneficial to parents themselves, as well as their children. A study by Bristol, Gallagher and Holt (1993) compared self-reported symptoms of depression in two groups of mothers who had pre-school children with ASC. One group received the TEACCH programme and the other acted as the control group. The mothers who received the TEACCH intervention reported significantly less depressive symptoms than the mothers in the control group, between baseline and 18 months. </a:t>
            </a:r>
          </a:p>
          <a:p>
            <a:r>
              <a:rPr lang="en-GB" dirty="0" smtClean="0"/>
              <a:t>Parental self-efficacy in the experimental group protected them from depressive symptoms. Teti and </a:t>
            </a:r>
            <a:r>
              <a:rPr lang="en-GB" dirty="0" err="1" smtClean="0"/>
              <a:t>Gelfand</a:t>
            </a:r>
            <a:r>
              <a:rPr lang="en-GB" dirty="0" smtClean="0"/>
              <a:t> (1991) have described parental self-efficacy as the degree to which adults perceive themselves as capable and effective in the parenting role. Low parental self-efficacy has been linked to passive coping methods, low levels of perseverance and mood, whereas higher self-efficacy has been related to feelings of empowerment and control.</a:t>
            </a:r>
          </a:p>
          <a:p>
            <a:endParaRPr lang="en-GB" dirty="0"/>
          </a:p>
        </p:txBody>
      </p:sp>
      <p:sp>
        <p:nvSpPr>
          <p:cNvPr id="4" name="Slide Number Placeholder 3"/>
          <p:cNvSpPr>
            <a:spLocks noGrp="1"/>
          </p:cNvSpPr>
          <p:nvPr>
            <p:ph type="sldNum" sz="quarter" idx="10"/>
          </p:nvPr>
        </p:nvSpPr>
        <p:spPr/>
        <p:txBody>
          <a:bodyPr/>
          <a:lstStyle/>
          <a:p>
            <a:fld id="{DC7D4A04-42BE-4ECF-9A1E-307B6EA35D3A}" type="slidenum">
              <a:rPr lang="en-GB" smtClean="0"/>
              <a:t>6</a:t>
            </a:fld>
            <a:endParaRPr lang="en-GB"/>
          </a:p>
        </p:txBody>
      </p:sp>
    </p:spTree>
    <p:extLst>
      <p:ext uri="{BB962C8B-B14F-4D97-AF65-F5344CB8AC3E}">
        <p14:creationId xmlns:p14="http://schemas.microsoft.com/office/powerpoint/2010/main" val="759805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This focused on three age ranges: five years or less; six to 17 years and 18 years and above. </a:t>
            </a:r>
          </a:p>
          <a:p>
            <a:r>
              <a:rPr lang="en-GB" dirty="0" smtClean="0"/>
              <a:t>Over half the original studies had not been peer reviewed and many had small sample sizes and lacked treatment fidelity. </a:t>
            </a:r>
          </a:p>
          <a:p>
            <a:r>
              <a:rPr lang="en-GB" dirty="0" smtClean="0"/>
              <a:t>Adults</a:t>
            </a:r>
            <a:r>
              <a:rPr lang="en-GB" baseline="0" dirty="0" smtClean="0"/>
              <a:t> most benefit</a:t>
            </a:r>
            <a:endParaRPr lang="en-GB" dirty="0" smtClean="0"/>
          </a:p>
          <a:p>
            <a:endParaRPr lang="en-GB" dirty="0"/>
          </a:p>
        </p:txBody>
      </p:sp>
      <p:sp>
        <p:nvSpPr>
          <p:cNvPr id="4" name="Slide Number Placeholder 3"/>
          <p:cNvSpPr>
            <a:spLocks noGrp="1"/>
          </p:cNvSpPr>
          <p:nvPr>
            <p:ph type="sldNum" sz="quarter" idx="10"/>
          </p:nvPr>
        </p:nvSpPr>
        <p:spPr/>
        <p:txBody>
          <a:bodyPr/>
          <a:lstStyle/>
          <a:p>
            <a:fld id="{DC7D4A04-42BE-4ECF-9A1E-307B6EA35D3A}" type="slidenum">
              <a:rPr lang="en-GB" smtClean="0"/>
              <a:t>8</a:t>
            </a:fld>
            <a:endParaRPr lang="en-GB"/>
          </a:p>
        </p:txBody>
      </p:sp>
    </p:spTree>
    <p:extLst>
      <p:ext uri="{BB962C8B-B14F-4D97-AF65-F5344CB8AC3E}">
        <p14:creationId xmlns:p14="http://schemas.microsoft.com/office/powerpoint/2010/main" val="2136518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This is one of the most significant limitations in the TEACCH research.</a:t>
            </a:r>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There are calls for more research to be conducted to explore the efficacy of these specific components and how they impact on key outcome factors (</a:t>
            </a:r>
            <a:r>
              <a:rPr lang="en-GB" dirty="0" err="1" smtClean="0"/>
              <a:t>Mesibov</a:t>
            </a:r>
            <a:r>
              <a:rPr lang="en-GB" dirty="0" smtClean="0"/>
              <a:t> &amp; </a:t>
            </a:r>
            <a:r>
              <a:rPr lang="en-GB" dirty="0" err="1" smtClean="0"/>
              <a:t>Shea</a:t>
            </a:r>
            <a:r>
              <a:rPr lang="en-GB" dirty="0" smtClean="0"/>
              <a:t>, 2010). </a:t>
            </a:r>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Meta-analyses also do not account for qualitative studies or mechanisms or moderators of change.</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smtClean="0"/>
          </a:p>
          <a:p>
            <a:endParaRPr lang="en-GB" dirty="0"/>
          </a:p>
        </p:txBody>
      </p:sp>
      <p:sp>
        <p:nvSpPr>
          <p:cNvPr id="4" name="Slide Number Placeholder 3"/>
          <p:cNvSpPr>
            <a:spLocks noGrp="1"/>
          </p:cNvSpPr>
          <p:nvPr>
            <p:ph type="sldNum" sz="quarter" idx="10"/>
          </p:nvPr>
        </p:nvSpPr>
        <p:spPr/>
        <p:txBody>
          <a:bodyPr/>
          <a:lstStyle/>
          <a:p>
            <a:fld id="{DC7D4A04-42BE-4ECF-9A1E-307B6EA35D3A}" type="slidenum">
              <a:rPr lang="en-GB" smtClean="0"/>
              <a:t>9</a:t>
            </a:fld>
            <a:endParaRPr lang="en-GB"/>
          </a:p>
        </p:txBody>
      </p:sp>
    </p:spTree>
    <p:extLst>
      <p:ext uri="{BB962C8B-B14F-4D97-AF65-F5344CB8AC3E}">
        <p14:creationId xmlns:p14="http://schemas.microsoft.com/office/powerpoint/2010/main" val="1572608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visible and widely cited autism intervention models. A large body of research has viewed them as being mutually exclusive of one another, according to their different conceptual frameworks (</a:t>
            </a:r>
            <a:r>
              <a:rPr lang="en-GB" dirty="0" err="1" smtClean="0"/>
              <a:t>Eikeseth</a:t>
            </a:r>
            <a:r>
              <a:rPr lang="en-GB" dirty="0" smtClean="0"/>
              <a:t>, 2009; </a:t>
            </a:r>
            <a:r>
              <a:rPr lang="en-GB" dirty="0" err="1" smtClean="0"/>
              <a:t>Probst</a:t>
            </a:r>
            <a:r>
              <a:rPr lang="en-GB" dirty="0" smtClean="0"/>
              <a:t> et al. 2010).  However, some researchers have examined the common features of both programmes (Boyd et al., 2014; Callahan, Shukla-Mehta, Magee &amp; </a:t>
            </a:r>
            <a:r>
              <a:rPr lang="en-GB" dirty="0" err="1" smtClean="0"/>
              <a:t>Wie</a:t>
            </a:r>
            <a:r>
              <a:rPr lang="en-GB" dirty="0" smtClean="0"/>
              <a:t>, 2010).</a:t>
            </a:r>
          </a:p>
          <a:p>
            <a:r>
              <a:rPr lang="en-GB" dirty="0" smtClean="0"/>
              <a:t>Boyd et al. (2014) compared the efficacy of an ABA programme known as LEAP (Learning Experience and Alternative Program for Pre-schoolers and their Parents), to a Non-Model Specific Education Programme and TEACCH. They found that children reduced their ASC characteristics over time, irrespective of programme type. Boyd et al. (2014) argued that perhaps it is the not unique features of the model, but rather the common features, such as classroom organisation and instructional climate, which influence positive outcomes. This study supported Callahan et al.’s (2010) research which concluded that parents and educational professionals showed no clear preference for either programme. </a:t>
            </a:r>
          </a:p>
          <a:p>
            <a:r>
              <a:rPr lang="en-GB" sz="1200" kern="1200" dirty="0" smtClean="0">
                <a:solidFill>
                  <a:schemeClr val="tx1"/>
                </a:solidFill>
                <a:effectLst/>
                <a:latin typeface="+mn-lt"/>
                <a:ea typeface="+mn-ea"/>
                <a:cs typeface="+mn-cs"/>
              </a:rPr>
              <a:t>improve the efficacy of the programmes, rather than competing against one another. However, this is not to say that practitioners use an eclectic approach, and select the ‘best bits’ from various ASC interventions. It is important that a well-established programme is followed for which there has been systematic planning and research. </a:t>
            </a:r>
            <a:endParaRPr lang="en-GB" dirty="0"/>
          </a:p>
        </p:txBody>
      </p:sp>
      <p:sp>
        <p:nvSpPr>
          <p:cNvPr id="4" name="Slide Number Placeholder 3"/>
          <p:cNvSpPr>
            <a:spLocks noGrp="1"/>
          </p:cNvSpPr>
          <p:nvPr>
            <p:ph type="sldNum" sz="quarter" idx="10"/>
          </p:nvPr>
        </p:nvSpPr>
        <p:spPr/>
        <p:txBody>
          <a:bodyPr/>
          <a:lstStyle/>
          <a:p>
            <a:fld id="{DC7D4A04-42BE-4ECF-9A1E-307B6EA35D3A}" type="slidenum">
              <a:rPr lang="en-GB" smtClean="0"/>
              <a:t>10</a:t>
            </a:fld>
            <a:endParaRPr lang="en-GB"/>
          </a:p>
        </p:txBody>
      </p:sp>
    </p:spTree>
    <p:extLst>
      <p:ext uri="{BB962C8B-B14F-4D97-AF65-F5344CB8AC3E}">
        <p14:creationId xmlns:p14="http://schemas.microsoft.com/office/powerpoint/2010/main" val="3281547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At present, no single ASC intervention or approach has been deemed to be the most efﬁcacious, based on methodologically robust studies (Francis, 2005). This leaves parents and educational professionals with a difficult decision as to which programme to choose for their child. Educational Psychologists (EPs) are well placed to provide advice about the range of ASC treatment options available.</a:t>
            </a:r>
          </a:p>
          <a:p>
            <a:r>
              <a:rPr lang="en-GB" sz="1200" kern="1200" dirty="0" smtClean="0">
                <a:solidFill>
                  <a:schemeClr val="tx1"/>
                </a:solidFill>
                <a:effectLst/>
                <a:latin typeface="+mn-lt"/>
                <a:ea typeface="+mn-ea"/>
                <a:cs typeface="+mn-cs"/>
              </a:rPr>
              <a:t>The TEACCH programme has been specifically designed for children with ASC, and its guiding principles are supported by theoretical, and some empirical, research. The programme helps to minimise a child’s difficulties by employing a structured and continuous intervention over time. This involves environmental adaptations and a collaborative approach with parents. These approaches are based on the integrated use of behaviour and cognitive theory,</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smtClean="0">
                <a:solidFill>
                  <a:schemeClr val="tx1"/>
                </a:solidFill>
                <a:effectLst/>
                <a:latin typeface="+mn-lt"/>
                <a:ea typeface="+mn-ea"/>
                <a:cs typeface="+mn-cs"/>
              </a:rPr>
              <a:t>Inclusive debate??? Should be to be interactionist, ‘whole-child’ approach to intervention, rather than focusing on ‘within-child’ factors. Applying TEACCH in natural settings, with the parent acting as a co-therapist, is also economical and ensures a more holistic treatment approach. </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err="1" smtClean="0">
                <a:solidFill>
                  <a:schemeClr val="tx1"/>
                </a:solidFill>
                <a:effectLst/>
                <a:latin typeface="+mn-lt"/>
                <a:ea typeface="+mn-ea"/>
                <a:cs typeface="+mn-cs"/>
              </a:rPr>
              <a:t>Probst</a:t>
            </a:r>
            <a:r>
              <a:rPr lang="en-GB" sz="1200" kern="1200" dirty="0" smtClean="0">
                <a:solidFill>
                  <a:schemeClr val="tx1"/>
                </a:solidFill>
                <a:effectLst/>
                <a:latin typeface="+mn-lt"/>
                <a:ea typeface="+mn-ea"/>
                <a:cs typeface="+mn-cs"/>
              </a:rPr>
              <a:t> et al. (2010) has argued that the internal validity of the programme is moderately limited. It has been argued that TEACCH has not effectively communicated research-based answers to consumers. Too few studies have explored how and why speciﬁc components of the models work, in which contexts, and with which population (Callahan et al., 2010). EPs are in a position to call for, and indeed conduct, more research which identifies and systematically evaluates individual components of the programme. Causal-comparative research should also be conducted in order to identify the most effective common features of different programmes. This would benefit the ASC research community, as a whole, as well as ensuring that TEACCH continues to develop and improve.</a:t>
            </a:r>
          </a:p>
          <a:p>
            <a:endParaRPr lang="en-GB" sz="1200" kern="1200" dirty="0" smtClean="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DC7D4A04-42BE-4ECF-9A1E-307B6EA35D3A}" type="slidenum">
              <a:rPr lang="en-GB" smtClean="0"/>
              <a:t>11</a:t>
            </a:fld>
            <a:endParaRPr lang="en-GB"/>
          </a:p>
        </p:txBody>
      </p:sp>
    </p:spTree>
    <p:extLst>
      <p:ext uri="{BB962C8B-B14F-4D97-AF65-F5344CB8AC3E}">
        <p14:creationId xmlns:p14="http://schemas.microsoft.com/office/powerpoint/2010/main" val="6199317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There can be no tight manual which prescribes a standardised treatment programme to every child, given that autism is a spectrum condition. Limits replicability.</a:t>
            </a:r>
          </a:p>
          <a:p>
            <a:endParaRPr lang="en-GB" dirty="0"/>
          </a:p>
        </p:txBody>
      </p:sp>
      <p:sp>
        <p:nvSpPr>
          <p:cNvPr id="4" name="Slide Number Placeholder 3"/>
          <p:cNvSpPr>
            <a:spLocks noGrp="1"/>
          </p:cNvSpPr>
          <p:nvPr>
            <p:ph type="sldNum" sz="quarter" idx="10"/>
          </p:nvPr>
        </p:nvSpPr>
        <p:spPr/>
        <p:txBody>
          <a:bodyPr/>
          <a:lstStyle/>
          <a:p>
            <a:fld id="{DC7D4A04-42BE-4ECF-9A1E-307B6EA35D3A}" type="slidenum">
              <a:rPr lang="en-GB" smtClean="0"/>
              <a:t>12</a:t>
            </a:fld>
            <a:endParaRPr lang="en-GB"/>
          </a:p>
        </p:txBody>
      </p:sp>
    </p:spTree>
    <p:extLst>
      <p:ext uri="{BB962C8B-B14F-4D97-AF65-F5344CB8AC3E}">
        <p14:creationId xmlns:p14="http://schemas.microsoft.com/office/powerpoint/2010/main" val="1246291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70527140-0FA9-4A73-A07D-69656FA22BC2}" type="datetimeFigureOut">
              <a:rPr lang="en-GB" smtClean="0"/>
              <a:t>21/05/2015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E65B38A-B6C0-47C7-8417-954DAECC6B7E}" type="slidenum">
              <a:rPr lang="en-GB" smtClean="0"/>
              <a:t>‹#›</a:t>
            </a:fld>
            <a:endParaRPr lang="en-GB"/>
          </a:p>
        </p:txBody>
      </p:sp>
    </p:spTree>
    <p:extLst>
      <p:ext uri="{BB962C8B-B14F-4D97-AF65-F5344CB8AC3E}">
        <p14:creationId xmlns:p14="http://schemas.microsoft.com/office/powerpoint/2010/main" val="3124370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70527140-0FA9-4A73-A07D-69656FA22BC2}" type="datetimeFigureOut">
              <a:rPr lang="en-GB" smtClean="0"/>
              <a:t>21/05/2015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E65B38A-B6C0-47C7-8417-954DAECC6B7E}" type="slidenum">
              <a:rPr lang="en-GB" smtClean="0"/>
              <a:t>‹#›</a:t>
            </a:fld>
            <a:endParaRPr lang="en-GB"/>
          </a:p>
        </p:txBody>
      </p:sp>
    </p:spTree>
    <p:extLst>
      <p:ext uri="{BB962C8B-B14F-4D97-AF65-F5344CB8AC3E}">
        <p14:creationId xmlns:p14="http://schemas.microsoft.com/office/powerpoint/2010/main" val="784657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0527140-0FA9-4A73-A07D-69656FA22BC2}" type="datetimeFigureOut">
              <a:rPr lang="en-GB" smtClean="0"/>
              <a:t>21/05/2015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E65B38A-B6C0-47C7-8417-954DAECC6B7E}" type="slidenum">
              <a:rPr lang="en-GB" smtClean="0"/>
              <a:t>‹#›</a:t>
            </a:fld>
            <a:endParaRPr lang="en-GB"/>
          </a:p>
        </p:txBody>
      </p:sp>
    </p:spTree>
    <p:extLst>
      <p:ext uri="{BB962C8B-B14F-4D97-AF65-F5344CB8AC3E}">
        <p14:creationId xmlns:p14="http://schemas.microsoft.com/office/powerpoint/2010/main" val="3565218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70527140-0FA9-4A73-A07D-69656FA22BC2}" type="datetimeFigureOut">
              <a:rPr lang="en-GB" smtClean="0"/>
              <a:t>21/05/2015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E65B38A-B6C0-47C7-8417-954DAECC6B7E}" type="slidenum">
              <a:rPr lang="en-GB" smtClean="0"/>
              <a:t>‹#›</a:t>
            </a:fld>
            <a:endParaRPr lang="en-GB"/>
          </a:p>
        </p:txBody>
      </p:sp>
    </p:spTree>
    <p:extLst>
      <p:ext uri="{BB962C8B-B14F-4D97-AF65-F5344CB8AC3E}">
        <p14:creationId xmlns:p14="http://schemas.microsoft.com/office/powerpoint/2010/main" val="4142761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70527140-0FA9-4A73-A07D-69656FA22BC2}" type="datetimeFigureOut">
              <a:rPr lang="en-GB" smtClean="0"/>
              <a:t>21/05/2015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E65B38A-B6C0-47C7-8417-954DAECC6B7E}" type="slidenum">
              <a:rPr lang="en-GB" smtClean="0"/>
              <a:t>‹#›</a:t>
            </a:fld>
            <a:endParaRPr lang="en-GB"/>
          </a:p>
        </p:txBody>
      </p:sp>
    </p:spTree>
    <p:extLst>
      <p:ext uri="{BB962C8B-B14F-4D97-AF65-F5344CB8AC3E}">
        <p14:creationId xmlns:p14="http://schemas.microsoft.com/office/powerpoint/2010/main" val="3564074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70527140-0FA9-4A73-A07D-69656FA22BC2}" type="datetimeFigureOut">
              <a:rPr lang="en-GB" smtClean="0"/>
              <a:t>21/05/2015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E65B38A-B6C0-47C7-8417-954DAECC6B7E}" type="slidenum">
              <a:rPr lang="en-GB" smtClean="0"/>
              <a:t>‹#›</a:t>
            </a:fld>
            <a:endParaRPr lang="en-GB"/>
          </a:p>
        </p:txBody>
      </p:sp>
    </p:spTree>
    <p:extLst>
      <p:ext uri="{BB962C8B-B14F-4D97-AF65-F5344CB8AC3E}">
        <p14:creationId xmlns:p14="http://schemas.microsoft.com/office/powerpoint/2010/main" val="1351001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527140-0FA9-4A73-A07D-69656FA22BC2}" type="datetimeFigureOut">
              <a:rPr lang="en-GB" smtClean="0"/>
              <a:t>21/05/2015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E65B38A-B6C0-47C7-8417-954DAECC6B7E}" type="slidenum">
              <a:rPr lang="en-GB" smtClean="0"/>
              <a:t>‹#›</a:t>
            </a:fld>
            <a:endParaRPr lang="en-GB"/>
          </a:p>
        </p:txBody>
      </p:sp>
    </p:spTree>
    <p:extLst>
      <p:ext uri="{BB962C8B-B14F-4D97-AF65-F5344CB8AC3E}">
        <p14:creationId xmlns:p14="http://schemas.microsoft.com/office/powerpoint/2010/main" val="478398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527140-0FA9-4A73-A07D-69656FA22BC2}" type="datetimeFigureOut">
              <a:rPr lang="en-GB" smtClean="0"/>
              <a:t>21/05/2015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E65B38A-B6C0-47C7-8417-954DAECC6B7E}" type="slidenum">
              <a:rPr lang="en-GB" smtClean="0"/>
              <a:t>‹#›</a:t>
            </a:fld>
            <a:endParaRPr lang="en-GB"/>
          </a:p>
        </p:txBody>
      </p:sp>
    </p:spTree>
    <p:extLst>
      <p:ext uri="{BB962C8B-B14F-4D97-AF65-F5344CB8AC3E}">
        <p14:creationId xmlns:p14="http://schemas.microsoft.com/office/powerpoint/2010/main" val="3234471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527140-0FA9-4A73-A07D-69656FA22BC2}" type="datetimeFigureOut">
              <a:rPr lang="en-GB" smtClean="0"/>
              <a:t>21/05/2015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E65B38A-B6C0-47C7-8417-954DAECC6B7E}" type="slidenum">
              <a:rPr lang="en-GB" smtClean="0"/>
              <a:t>‹#›</a:t>
            </a:fld>
            <a:endParaRPr lang="en-GB"/>
          </a:p>
        </p:txBody>
      </p:sp>
    </p:spTree>
    <p:extLst>
      <p:ext uri="{BB962C8B-B14F-4D97-AF65-F5344CB8AC3E}">
        <p14:creationId xmlns:p14="http://schemas.microsoft.com/office/powerpoint/2010/main" val="2939135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70527140-0FA9-4A73-A07D-69656FA22BC2}" type="datetimeFigureOut">
              <a:rPr lang="en-GB" smtClean="0"/>
              <a:t>21/05/2015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E65B38A-B6C0-47C7-8417-954DAECC6B7E}" type="slidenum">
              <a:rPr lang="en-GB" smtClean="0"/>
              <a:t>‹#›</a:t>
            </a:fld>
            <a:endParaRPr lang="en-GB"/>
          </a:p>
        </p:txBody>
      </p:sp>
    </p:spTree>
    <p:extLst>
      <p:ext uri="{BB962C8B-B14F-4D97-AF65-F5344CB8AC3E}">
        <p14:creationId xmlns:p14="http://schemas.microsoft.com/office/powerpoint/2010/main" val="51658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70527140-0FA9-4A73-A07D-69656FA22BC2}" type="datetimeFigureOut">
              <a:rPr lang="en-GB" smtClean="0"/>
              <a:t>21/05/2015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E65B38A-B6C0-47C7-8417-954DAECC6B7E}" type="slidenum">
              <a:rPr lang="en-GB" smtClean="0"/>
              <a:t>‹#›</a:t>
            </a:fld>
            <a:endParaRPr lang="en-GB"/>
          </a:p>
        </p:txBody>
      </p:sp>
    </p:spTree>
    <p:extLst>
      <p:ext uri="{BB962C8B-B14F-4D97-AF65-F5344CB8AC3E}">
        <p14:creationId xmlns:p14="http://schemas.microsoft.com/office/powerpoint/2010/main" val="2248633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45000"/>
                <a:lumOff val="55000"/>
              </a:schemeClr>
            </a:gs>
            <a:gs pos="100000">
              <a:schemeClr val="accent1">
                <a:lumMod val="45000"/>
                <a:lumOff val="55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527140-0FA9-4A73-A07D-69656FA22BC2}" type="datetimeFigureOut">
              <a:rPr lang="en-GB" smtClean="0"/>
              <a:t>21/05/2015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65B38A-B6C0-47C7-8417-954DAECC6B7E}" type="slidenum">
              <a:rPr lang="en-GB" smtClean="0"/>
              <a:t>‹#›</a:t>
            </a:fld>
            <a:endParaRPr lang="en-GB"/>
          </a:p>
        </p:txBody>
      </p:sp>
    </p:spTree>
    <p:extLst>
      <p:ext uri="{BB962C8B-B14F-4D97-AF65-F5344CB8AC3E}">
        <p14:creationId xmlns:p14="http://schemas.microsoft.com/office/powerpoint/2010/main" val="2644825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chart" Target="../charts/char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5.jpg"/><Relationship Id="rId7" Type="http://schemas.openxmlformats.org/officeDocument/2006/relationships/diagramColors" Target="../diagrams/colors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13000"/>
                <a:lumOff val="87000"/>
              </a:schemeClr>
            </a:gs>
            <a:gs pos="100000">
              <a:schemeClr val="accent1">
                <a:lumMod val="45000"/>
                <a:lumOff val="55000"/>
              </a:schemeClr>
            </a:gs>
            <a:gs pos="100000">
              <a:schemeClr val="accent1">
                <a:lumMod val="45000"/>
                <a:lumOff val="55000"/>
              </a:schemeClr>
            </a:gs>
          </a:gsLst>
          <a:lin ang="5400000" scaled="1"/>
          <a:tileRect/>
        </a:gradFill>
        <a:effectLst/>
      </p:bgPr>
    </p:bg>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2816656" y="838200"/>
            <a:ext cx="7065122" cy="5459413"/>
          </a:xfrm>
          <a:prstGeom prst="rect">
            <a:avLst/>
          </a:prstGeom>
        </p:spPr>
      </p:pic>
      <p:pic>
        <p:nvPicPr>
          <p:cNvPr id="5" name="Picture 4"/>
          <p:cNvPicPr>
            <a:picLocks noChangeAspect="1"/>
          </p:cNvPicPr>
          <p:nvPr/>
        </p:nvPicPr>
        <p:blipFill>
          <a:blip r:embed="rId3"/>
          <a:stretch>
            <a:fillRect/>
          </a:stretch>
        </p:blipFill>
        <p:spPr>
          <a:xfrm>
            <a:off x="10515600" y="0"/>
            <a:ext cx="1676400" cy="1676400"/>
          </a:xfrm>
          <a:prstGeom prst="rect">
            <a:avLst/>
          </a:prstGeom>
        </p:spPr>
      </p:pic>
      <p:pic>
        <p:nvPicPr>
          <p:cNvPr id="8" name="Picture 7"/>
          <p:cNvPicPr>
            <a:picLocks noChangeAspect="1"/>
          </p:cNvPicPr>
          <p:nvPr/>
        </p:nvPicPr>
        <p:blipFill>
          <a:blip r:embed="rId4"/>
          <a:stretch>
            <a:fillRect/>
          </a:stretch>
        </p:blipFill>
        <p:spPr>
          <a:xfrm>
            <a:off x="0" y="0"/>
            <a:ext cx="1768378" cy="1561514"/>
          </a:xfrm>
          <a:prstGeom prst="rect">
            <a:avLst/>
          </a:prstGeom>
        </p:spPr>
      </p:pic>
    </p:spTree>
    <p:extLst>
      <p:ext uri="{BB962C8B-B14F-4D97-AF65-F5344CB8AC3E}">
        <p14:creationId xmlns:p14="http://schemas.microsoft.com/office/powerpoint/2010/main" val="197912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Background</a:t>
            </a:r>
            <a:endParaRPr lang="en-GB" b="1" dirty="0"/>
          </a:p>
        </p:txBody>
      </p:sp>
      <p:sp>
        <p:nvSpPr>
          <p:cNvPr id="3" name="Content Placeholder 2"/>
          <p:cNvSpPr>
            <a:spLocks noGrp="1"/>
          </p:cNvSpPr>
          <p:nvPr>
            <p:ph idx="1"/>
          </p:nvPr>
        </p:nvSpPr>
        <p:spPr>
          <a:xfrm>
            <a:off x="838200" y="1403350"/>
            <a:ext cx="10515600" cy="5574225"/>
          </a:xfrm>
        </p:spPr>
        <p:txBody>
          <a:bodyPr>
            <a:normAutofit lnSpcReduction="10000"/>
          </a:bodyPr>
          <a:lstStyle/>
          <a:p>
            <a:r>
              <a:rPr lang="en-GB" dirty="0" smtClean="0"/>
              <a:t>Founder of TEACCH, Eric </a:t>
            </a:r>
            <a:r>
              <a:rPr lang="en-GB" dirty="0" err="1" smtClean="0"/>
              <a:t>Shopler</a:t>
            </a:r>
            <a:r>
              <a:rPr lang="en-GB" dirty="0" smtClean="0"/>
              <a:t> (1970s)</a:t>
            </a:r>
          </a:p>
          <a:p>
            <a:pPr marL="0" indent="0">
              <a:buNone/>
            </a:pPr>
            <a:endParaRPr lang="en-GB" dirty="0" smtClean="0"/>
          </a:p>
          <a:p>
            <a:endParaRPr lang="en-GB" dirty="0" smtClean="0"/>
          </a:p>
          <a:p>
            <a:pPr marL="0" indent="0">
              <a:buNone/>
            </a:pPr>
            <a:endParaRPr lang="en-GB" dirty="0"/>
          </a:p>
          <a:p>
            <a:endParaRPr lang="en-GB" dirty="0" smtClean="0"/>
          </a:p>
          <a:p>
            <a:endParaRPr lang="en-GB" dirty="0"/>
          </a:p>
          <a:p>
            <a:endParaRPr lang="en-GB" dirty="0" smtClean="0"/>
          </a:p>
          <a:p>
            <a:pPr marL="0" indent="0">
              <a:buNone/>
            </a:pPr>
            <a:endParaRPr lang="en-GB" dirty="0" smtClean="0"/>
          </a:p>
          <a:p>
            <a:pPr marL="0" indent="0">
              <a:buNone/>
            </a:pPr>
            <a:endParaRPr lang="en-GB" dirty="0"/>
          </a:p>
          <a:p>
            <a:pPr marL="0" indent="0">
              <a:buNone/>
            </a:pPr>
            <a:endParaRPr lang="en-GB" dirty="0" smtClean="0"/>
          </a:p>
          <a:p>
            <a:r>
              <a:rPr lang="en-GB" dirty="0" smtClean="0"/>
              <a:t>Settings: Home/ Residential/ Specialist &amp; Mainstream</a:t>
            </a:r>
          </a:p>
          <a:p>
            <a:pPr marL="0" indent="0">
              <a:buNone/>
            </a:pPr>
            <a:endParaRPr lang="en-GB" dirty="0"/>
          </a:p>
        </p:txBody>
      </p:sp>
      <p:pic>
        <p:nvPicPr>
          <p:cNvPr id="5" name="Picture 4"/>
          <p:cNvPicPr>
            <a:picLocks noChangeAspect="1"/>
          </p:cNvPicPr>
          <p:nvPr/>
        </p:nvPicPr>
        <p:blipFill>
          <a:blip r:embed="rId3"/>
          <a:stretch>
            <a:fillRect/>
          </a:stretch>
        </p:blipFill>
        <p:spPr>
          <a:xfrm>
            <a:off x="7239000" y="0"/>
            <a:ext cx="3200400" cy="1038225"/>
          </a:xfrm>
          <a:prstGeom prst="rect">
            <a:avLst/>
          </a:prstGeom>
        </p:spPr>
      </p:pic>
      <p:pic>
        <p:nvPicPr>
          <p:cNvPr id="7" name="Picture 6"/>
          <p:cNvPicPr>
            <a:picLocks noChangeAspect="1"/>
          </p:cNvPicPr>
          <p:nvPr/>
        </p:nvPicPr>
        <p:blipFill>
          <a:blip r:embed="rId4"/>
          <a:stretch>
            <a:fillRect/>
          </a:stretch>
        </p:blipFill>
        <p:spPr>
          <a:xfrm>
            <a:off x="10439400" y="0"/>
            <a:ext cx="1752600" cy="2600325"/>
          </a:xfrm>
          <a:prstGeom prst="rect">
            <a:avLst/>
          </a:prstGeom>
        </p:spPr>
      </p:pic>
      <p:graphicFrame>
        <p:nvGraphicFramePr>
          <p:cNvPr id="12" name="Chart 11"/>
          <p:cNvGraphicFramePr/>
          <p:nvPr>
            <p:extLst>
              <p:ext uri="{D42A27DB-BD31-4B8C-83A1-F6EECF244321}">
                <p14:modId xmlns:p14="http://schemas.microsoft.com/office/powerpoint/2010/main" val="3080273281"/>
              </p:ext>
            </p:extLst>
          </p:nvPr>
        </p:nvGraphicFramePr>
        <p:xfrm>
          <a:off x="3117167" y="1965838"/>
          <a:ext cx="6119447" cy="376282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67425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0" end="10"/>
                                            </p:txEl>
                                          </p:spTgt>
                                        </p:tgtEl>
                                        <p:attrNameLst>
                                          <p:attrName>style.visibility</p:attrName>
                                        </p:attrNameLst>
                                      </p:cBhvr>
                                      <p:to>
                                        <p:strVal val="visible"/>
                                      </p:to>
                                    </p:set>
                                    <p:anim calcmode="lin" valueType="num">
                                      <p:cBhvr additive="base">
                                        <p:cTn id="18"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TEACCH Principles</a:t>
            </a:r>
            <a:endParaRPr lang="en-GB" b="1" dirty="0"/>
          </a:p>
        </p:txBody>
      </p:sp>
      <p:sp>
        <p:nvSpPr>
          <p:cNvPr id="3" name="Content Placeholder 2"/>
          <p:cNvSpPr>
            <a:spLocks noGrp="1"/>
          </p:cNvSpPr>
          <p:nvPr>
            <p:ph idx="1"/>
          </p:nvPr>
        </p:nvSpPr>
        <p:spPr/>
        <p:txBody>
          <a:bodyPr/>
          <a:lstStyle/>
          <a:p>
            <a:pPr marL="0" indent="0">
              <a:buNone/>
            </a:pPr>
            <a:endParaRPr lang="en-GB" dirty="0"/>
          </a:p>
          <a:p>
            <a:r>
              <a:rPr lang="en-GB" dirty="0" smtClean="0"/>
              <a:t>TEACCH was specifically designed for children with ASC.</a:t>
            </a:r>
          </a:p>
        </p:txBody>
      </p:sp>
      <p:graphicFrame>
        <p:nvGraphicFramePr>
          <p:cNvPr id="8" name="Table 7"/>
          <p:cNvGraphicFramePr>
            <a:graphicFrameLocks noGrp="1"/>
          </p:cNvGraphicFramePr>
          <p:nvPr/>
        </p:nvGraphicFramePr>
        <p:xfrm>
          <a:off x="936675" y="3687948"/>
          <a:ext cx="10837983" cy="2361160"/>
        </p:xfrm>
        <a:graphic>
          <a:graphicData uri="http://schemas.openxmlformats.org/drawingml/2006/table">
            <a:tbl>
              <a:tblPr firstRow="1" bandRow="1">
                <a:tableStyleId>{5C22544A-7EE6-4342-B048-85BDC9FD1C3A}</a:tableStyleId>
              </a:tblPr>
              <a:tblGrid>
                <a:gridCol w="3612661"/>
                <a:gridCol w="3612661"/>
                <a:gridCol w="3612661"/>
              </a:tblGrid>
              <a:tr h="548126">
                <a:tc gridSpan="3">
                  <a:txBody>
                    <a:bodyPr/>
                    <a:lstStyle/>
                    <a:p>
                      <a:pPr algn="ctr"/>
                      <a:r>
                        <a:rPr lang="en-GB" sz="2400" dirty="0" smtClean="0"/>
                        <a:t>TEACCH FUNDAMENTAL</a:t>
                      </a:r>
                      <a:r>
                        <a:rPr lang="en-GB" sz="2400" baseline="0" dirty="0" smtClean="0"/>
                        <a:t> PRINCIPLES</a:t>
                      </a:r>
                      <a:endParaRPr lang="en-GB" sz="2400" dirty="0"/>
                    </a:p>
                  </a:txBody>
                  <a:tcPr/>
                </a:tc>
                <a:tc hMerge="1">
                  <a:txBody>
                    <a:bodyPr/>
                    <a:lstStyle/>
                    <a:p>
                      <a:endParaRPr lang="en-GB" dirty="0"/>
                    </a:p>
                  </a:txBody>
                  <a:tcPr/>
                </a:tc>
                <a:tc hMerge="1">
                  <a:txBody>
                    <a:bodyPr/>
                    <a:lstStyle/>
                    <a:p>
                      <a:endParaRPr lang="en-GB" dirty="0"/>
                    </a:p>
                  </a:txBody>
                  <a:tcPr/>
                </a:tc>
              </a:tr>
              <a:tr h="1813034">
                <a:tc>
                  <a:txBody>
                    <a:bodyPr/>
                    <a:lstStyle/>
                    <a:p>
                      <a:r>
                        <a:rPr lang="en-GB" sz="2400" dirty="0" smtClean="0"/>
                        <a:t>It is an </a:t>
                      </a:r>
                      <a:r>
                        <a:rPr lang="en-GB" sz="2400" u="sng" dirty="0" smtClean="0"/>
                        <a:t>individualised</a:t>
                      </a:r>
                      <a:r>
                        <a:rPr lang="en-GB" sz="2400" dirty="0" smtClean="0"/>
                        <a:t> education programme.</a:t>
                      </a:r>
                      <a:endParaRPr lang="en-GB" sz="2400" dirty="0"/>
                    </a:p>
                  </a:txBody>
                  <a:tcPr/>
                </a:tc>
                <a:tc>
                  <a:txBody>
                    <a:bodyPr/>
                    <a:lstStyle/>
                    <a:p>
                      <a:r>
                        <a:rPr lang="en-GB" sz="2400" dirty="0" smtClean="0"/>
                        <a:t>A </a:t>
                      </a:r>
                      <a:r>
                        <a:rPr lang="en-GB" sz="2400" u="sng" dirty="0" smtClean="0"/>
                        <a:t>structured</a:t>
                      </a:r>
                      <a:r>
                        <a:rPr lang="en-GB" sz="2400" dirty="0" smtClean="0"/>
                        <a:t> teaching system is used.</a:t>
                      </a:r>
                      <a:endParaRPr lang="en-GB" sz="2400" dirty="0"/>
                    </a:p>
                  </a:txBody>
                  <a:tcPr/>
                </a:tc>
                <a:tc>
                  <a:txBody>
                    <a:bodyPr/>
                    <a:lstStyle/>
                    <a:p>
                      <a:r>
                        <a:rPr lang="en-GB" sz="2400" dirty="0" smtClean="0"/>
                        <a:t>There is close </a:t>
                      </a:r>
                      <a:r>
                        <a:rPr lang="en-GB" sz="2400" u="sng" dirty="0" smtClean="0"/>
                        <a:t>collaboration</a:t>
                      </a:r>
                      <a:r>
                        <a:rPr lang="en-GB" sz="2400" dirty="0" smtClean="0"/>
                        <a:t> between parents and professionals.</a:t>
                      </a:r>
                      <a:endParaRPr lang="en-GB" sz="2400" dirty="0"/>
                    </a:p>
                  </a:txBody>
                  <a:tcPr/>
                </a:tc>
              </a:tr>
            </a:tbl>
          </a:graphicData>
        </a:graphic>
      </p:graphicFrame>
    </p:spTree>
    <p:extLst>
      <p:ext uri="{BB962C8B-B14F-4D97-AF65-F5344CB8AC3E}">
        <p14:creationId xmlns:p14="http://schemas.microsoft.com/office/powerpoint/2010/main" val="11386409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Individualised education programme. </a:t>
            </a:r>
            <a:endParaRPr lang="en-GB" dirty="0"/>
          </a:p>
        </p:txBody>
      </p:sp>
      <p:sp>
        <p:nvSpPr>
          <p:cNvPr id="3" name="Content Placeholder 2"/>
          <p:cNvSpPr>
            <a:spLocks noGrp="1"/>
          </p:cNvSpPr>
          <p:nvPr>
            <p:ph idx="1"/>
          </p:nvPr>
        </p:nvSpPr>
        <p:spPr/>
        <p:txBody>
          <a:bodyPr/>
          <a:lstStyle/>
          <a:p>
            <a:r>
              <a:rPr lang="en-GB" smtClean="0"/>
              <a:t>Assessments </a:t>
            </a:r>
            <a:r>
              <a:rPr lang="en-GB" dirty="0"/>
              <a:t>are used to create </a:t>
            </a:r>
            <a:r>
              <a:rPr lang="en-GB" i="1" dirty="0"/>
              <a:t>an individualised treatment programme</a:t>
            </a:r>
            <a:r>
              <a:rPr lang="en-GB" dirty="0"/>
              <a:t> which meets the specific needs of every child, young person or adult. </a:t>
            </a:r>
            <a:endParaRPr lang="en-GB" dirty="0" smtClean="0"/>
          </a:p>
          <a:p>
            <a:endParaRPr lang="en-GB" dirty="0"/>
          </a:p>
          <a:p>
            <a:pPr algn="ctr"/>
            <a:r>
              <a:rPr lang="en-GB" dirty="0" smtClean="0"/>
              <a:t>But is this inclusive?</a:t>
            </a:r>
            <a:endParaRPr lang="en-GB" dirty="0"/>
          </a:p>
        </p:txBody>
      </p:sp>
      <p:pic>
        <p:nvPicPr>
          <p:cNvPr id="4" name="Picture 3"/>
          <p:cNvPicPr>
            <a:picLocks noChangeAspect="1"/>
          </p:cNvPicPr>
          <p:nvPr/>
        </p:nvPicPr>
        <p:blipFill>
          <a:blip r:embed="rId3"/>
          <a:stretch>
            <a:fillRect/>
          </a:stretch>
        </p:blipFill>
        <p:spPr>
          <a:xfrm>
            <a:off x="4714875" y="4823021"/>
            <a:ext cx="2762250" cy="1657350"/>
          </a:xfrm>
          <a:prstGeom prst="rect">
            <a:avLst/>
          </a:prstGeom>
        </p:spPr>
      </p:pic>
    </p:spTree>
    <p:extLst>
      <p:ext uri="{BB962C8B-B14F-4D97-AF65-F5344CB8AC3E}">
        <p14:creationId xmlns:p14="http://schemas.microsoft.com/office/powerpoint/2010/main" val="12272654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Structured teaching.</a:t>
            </a:r>
            <a:endParaRPr lang="en-GB" b="1" dirty="0"/>
          </a:p>
        </p:txBody>
      </p:sp>
      <p:sp>
        <p:nvSpPr>
          <p:cNvPr id="3" name="Content Placeholder 2"/>
          <p:cNvSpPr>
            <a:spLocks noGrp="1"/>
          </p:cNvSpPr>
          <p:nvPr>
            <p:ph idx="1"/>
          </p:nvPr>
        </p:nvSpPr>
        <p:spPr/>
        <p:txBody>
          <a:bodyPr/>
          <a:lstStyle/>
          <a:p>
            <a:r>
              <a:rPr lang="en-GB" dirty="0" smtClean="0"/>
              <a:t>Structured teaching involves: </a:t>
            </a:r>
          </a:p>
          <a:p>
            <a:endParaRPr lang="en-GB" dirty="0"/>
          </a:p>
          <a:p>
            <a:endParaRPr lang="en-GB" dirty="0" smtClean="0"/>
          </a:p>
          <a:p>
            <a:pPr marL="0" indent="0">
              <a:buNone/>
            </a:pP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724727355"/>
              </p:ext>
            </p:extLst>
          </p:nvPr>
        </p:nvGraphicFramePr>
        <p:xfrm>
          <a:off x="1055078" y="2557462"/>
          <a:ext cx="10508565" cy="3754438"/>
        </p:xfrm>
        <a:graphic>
          <a:graphicData uri="http://schemas.openxmlformats.org/drawingml/2006/table">
            <a:tbl>
              <a:tblPr firstRow="1" bandRow="1">
                <a:tableStyleId>{5C22544A-7EE6-4342-B048-85BDC9FD1C3A}</a:tableStyleId>
              </a:tblPr>
              <a:tblGrid>
                <a:gridCol w="3502855"/>
                <a:gridCol w="3502855"/>
                <a:gridCol w="3502855"/>
              </a:tblGrid>
              <a:tr h="1016247">
                <a:tc gridSpan="3">
                  <a:txBody>
                    <a:bodyPr/>
                    <a:lstStyle/>
                    <a:p>
                      <a:pPr algn="ctr"/>
                      <a:r>
                        <a:rPr lang="en-GB" sz="2400" dirty="0" smtClean="0"/>
                        <a:t>Structured Teaching</a:t>
                      </a:r>
                      <a:endParaRPr lang="en-GB" sz="2400" dirty="0"/>
                    </a:p>
                  </a:txBody>
                  <a:tcPr/>
                </a:tc>
                <a:tc hMerge="1">
                  <a:txBody>
                    <a:bodyPr/>
                    <a:lstStyle/>
                    <a:p>
                      <a:endParaRPr lang="en-GB" dirty="0"/>
                    </a:p>
                  </a:txBody>
                  <a:tcPr/>
                </a:tc>
                <a:tc hMerge="1">
                  <a:txBody>
                    <a:bodyPr/>
                    <a:lstStyle/>
                    <a:p>
                      <a:endParaRPr lang="en-GB" dirty="0"/>
                    </a:p>
                  </a:txBody>
                  <a:tcPr/>
                </a:tc>
              </a:tr>
              <a:tr h="2738191">
                <a:tc>
                  <a:txBody>
                    <a:bodyPr/>
                    <a:lstStyle/>
                    <a:p>
                      <a:pPr algn="ctr"/>
                      <a:endParaRPr lang="en-GB" sz="2400" dirty="0"/>
                    </a:p>
                  </a:txBody>
                  <a:tcPr/>
                </a:tc>
                <a:tc>
                  <a:txBody>
                    <a:bodyPr/>
                    <a:lstStyle/>
                    <a:p>
                      <a:pPr algn="ctr"/>
                      <a:endParaRPr lang="en-GB" sz="2400" dirty="0"/>
                    </a:p>
                  </a:txBody>
                  <a:tcPr/>
                </a:tc>
                <a:tc>
                  <a:txBody>
                    <a:bodyPr/>
                    <a:lstStyle/>
                    <a:p>
                      <a:pPr algn="ctr"/>
                      <a:endParaRPr lang="en-GB" sz="2400" dirty="0"/>
                    </a:p>
                  </a:txBody>
                  <a:tcPr/>
                </a:tc>
              </a:tr>
            </a:tbl>
          </a:graphicData>
        </a:graphic>
      </p:graphicFrame>
      <p:pic>
        <p:nvPicPr>
          <p:cNvPr id="5" name="Picture 4"/>
          <p:cNvPicPr>
            <a:picLocks noChangeAspect="1"/>
          </p:cNvPicPr>
          <p:nvPr/>
        </p:nvPicPr>
        <p:blipFill>
          <a:blip r:embed="rId3"/>
          <a:stretch>
            <a:fillRect/>
          </a:stretch>
        </p:blipFill>
        <p:spPr>
          <a:xfrm>
            <a:off x="1281993" y="3882684"/>
            <a:ext cx="3055225" cy="2025747"/>
          </a:xfrm>
          <a:prstGeom prst="rect">
            <a:avLst/>
          </a:prstGeom>
        </p:spPr>
      </p:pic>
      <p:pic>
        <p:nvPicPr>
          <p:cNvPr id="6" name="Picture 5"/>
          <p:cNvPicPr>
            <a:picLocks noChangeAspect="1"/>
          </p:cNvPicPr>
          <p:nvPr/>
        </p:nvPicPr>
        <p:blipFill>
          <a:blip r:embed="rId4"/>
          <a:stretch>
            <a:fillRect/>
          </a:stretch>
        </p:blipFill>
        <p:spPr>
          <a:xfrm>
            <a:off x="5146771" y="3734824"/>
            <a:ext cx="2407580" cy="2442139"/>
          </a:xfrm>
          <a:prstGeom prst="rect">
            <a:avLst/>
          </a:prstGeom>
        </p:spPr>
      </p:pic>
      <p:pic>
        <p:nvPicPr>
          <p:cNvPr id="7" name="Picture 6"/>
          <p:cNvPicPr>
            <a:picLocks noChangeAspect="1"/>
          </p:cNvPicPr>
          <p:nvPr/>
        </p:nvPicPr>
        <p:blipFill>
          <a:blip r:embed="rId5"/>
          <a:stretch>
            <a:fillRect/>
          </a:stretch>
        </p:blipFill>
        <p:spPr>
          <a:xfrm>
            <a:off x="8339704" y="3840479"/>
            <a:ext cx="3014096" cy="2230827"/>
          </a:xfrm>
          <a:prstGeom prst="rect">
            <a:avLst/>
          </a:prstGeom>
        </p:spPr>
      </p:pic>
      <p:pic>
        <p:nvPicPr>
          <p:cNvPr id="8" name="Picture 7"/>
          <p:cNvPicPr>
            <a:picLocks noChangeAspect="1"/>
          </p:cNvPicPr>
          <p:nvPr/>
        </p:nvPicPr>
        <p:blipFill>
          <a:blip r:embed="rId6"/>
          <a:stretch>
            <a:fillRect/>
          </a:stretch>
        </p:blipFill>
        <p:spPr>
          <a:xfrm>
            <a:off x="9201442" y="365125"/>
            <a:ext cx="2662311" cy="1719409"/>
          </a:xfrm>
          <a:prstGeom prst="rect">
            <a:avLst/>
          </a:prstGeom>
        </p:spPr>
      </p:pic>
    </p:spTree>
    <p:extLst>
      <p:ext uri="{BB962C8B-B14F-4D97-AF65-F5344CB8AC3E}">
        <p14:creationId xmlns:p14="http://schemas.microsoft.com/office/powerpoint/2010/main" val="3460709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Collaborative approach</a:t>
            </a:r>
            <a:endParaRPr lang="en-GB" b="1" dirty="0"/>
          </a:p>
        </p:txBody>
      </p:sp>
      <p:sp>
        <p:nvSpPr>
          <p:cNvPr id="3" name="Content Placeholder 2"/>
          <p:cNvSpPr>
            <a:spLocks noGrp="1"/>
          </p:cNvSpPr>
          <p:nvPr>
            <p:ph idx="1"/>
          </p:nvPr>
        </p:nvSpPr>
        <p:spPr/>
        <p:txBody>
          <a:bodyPr/>
          <a:lstStyle/>
          <a:p>
            <a:r>
              <a:rPr lang="en-GB" dirty="0" err="1" smtClean="0"/>
              <a:t>Schopler</a:t>
            </a:r>
            <a:r>
              <a:rPr lang="en-GB" dirty="0" smtClean="0"/>
              <a:t> (2005), ascribed to a ‘holistic orientation’ whereby parents are given the role of co-therapist. </a:t>
            </a:r>
          </a:p>
          <a:p>
            <a:endParaRPr lang="en-GB" dirty="0"/>
          </a:p>
        </p:txBody>
      </p:sp>
      <p:pic>
        <p:nvPicPr>
          <p:cNvPr id="4" name="Picture 3"/>
          <p:cNvPicPr>
            <a:picLocks noChangeAspect="1"/>
          </p:cNvPicPr>
          <p:nvPr/>
        </p:nvPicPr>
        <p:blipFill>
          <a:blip r:embed="rId3"/>
          <a:stretch>
            <a:fillRect/>
          </a:stretch>
        </p:blipFill>
        <p:spPr>
          <a:xfrm>
            <a:off x="3785381" y="2963203"/>
            <a:ext cx="3951849" cy="2634566"/>
          </a:xfrm>
          <a:prstGeom prst="rect">
            <a:avLst/>
          </a:prstGeom>
        </p:spPr>
      </p:pic>
    </p:spTree>
    <p:extLst>
      <p:ext uri="{BB962C8B-B14F-4D97-AF65-F5344CB8AC3E}">
        <p14:creationId xmlns:p14="http://schemas.microsoft.com/office/powerpoint/2010/main" val="11325959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Empirical Evidence and Evaluation</a:t>
            </a:r>
          </a:p>
        </p:txBody>
      </p:sp>
      <p:sp>
        <p:nvSpPr>
          <p:cNvPr id="3" name="Content Placeholder 2"/>
          <p:cNvSpPr>
            <a:spLocks noGrp="1"/>
          </p:cNvSpPr>
          <p:nvPr>
            <p:ph idx="1"/>
          </p:nvPr>
        </p:nvSpPr>
        <p:spPr/>
        <p:txBody>
          <a:bodyPr/>
          <a:lstStyle/>
          <a:p>
            <a:r>
              <a:rPr lang="en-GB" dirty="0" smtClean="0"/>
              <a:t>A substantial body of evidence has been collated. </a:t>
            </a:r>
          </a:p>
          <a:p>
            <a:pPr marL="0" indent="0">
              <a:buNone/>
            </a:pPr>
            <a:endParaRPr lang="en-GB" dirty="0" smtClean="0"/>
          </a:p>
          <a:p>
            <a:r>
              <a:rPr lang="en-GB" dirty="0" smtClean="0"/>
              <a:t>Variation exists according to the </a:t>
            </a:r>
            <a:r>
              <a:rPr lang="en-GB" dirty="0" smtClean="0">
                <a:solidFill>
                  <a:srgbClr val="FF0000"/>
                </a:solidFill>
              </a:rPr>
              <a:t>assessment</a:t>
            </a:r>
            <a:r>
              <a:rPr lang="en-GB" dirty="0" smtClean="0"/>
              <a:t> methods used; the </a:t>
            </a:r>
            <a:r>
              <a:rPr lang="en-GB" dirty="0" smtClean="0">
                <a:solidFill>
                  <a:srgbClr val="FF0000"/>
                </a:solidFill>
              </a:rPr>
              <a:t>target population </a:t>
            </a:r>
            <a:r>
              <a:rPr lang="en-GB" dirty="0" smtClean="0"/>
              <a:t>selected; the </a:t>
            </a:r>
            <a:r>
              <a:rPr lang="en-GB" dirty="0" smtClean="0">
                <a:solidFill>
                  <a:srgbClr val="FF0000"/>
                </a:solidFill>
              </a:rPr>
              <a:t>duration </a:t>
            </a:r>
            <a:r>
              <a:rPr lang="en-GB" dirty="0" smtClean="0"/>
              <a:t>and</a:t>
            </a:r>
            <a:r>
              <a:rPr lang="en-GB" dirty="0" smtClean="0">
                <a:solidFill>
                  <a:srgbClr val="FF0000"/>
                </a:solidFill>
              </a:rPr>
              <a:t> intensity </a:t>
            </a:r>
            <a:r>
              <a:rPr lang="en-GB" dirty="0" smtClean="0"/>
              <a:t>of the programme; and which </a:t>
            </a:r>
            <a:r>
              <a:rPr lang="en-GB" dirty="0" smtClean="0">
                <a:solidFill>
                  <a:srgbClr val="FF0000"/>
                </a:solidFill>
              </a:rPr>
              <a:t>aspects</a:t>
            </a:r>
            <a:r>
              <a:rPr lang="en-GB" dirty="0" smtClean="0"/>
              <a:t> of the intervention are measured.</a:t>
            </a:r>
          </a:p>
          <a:p>
            <a:pPr marL="0" indent="0">
              <a:buNone/>
            </a:pPr>
            <a:endParaRPr lang="en-GB" dirty="0"/>
          </a:p>
          <a:p>
            <a:r>
              <a:rPr lang="en-GB" dirty="0" err="1" smtClean="0"/>
              <a:t>Virues</a:t>
            </a:r>
            <a:r>
              <a:rPr lang="en-GB" dirty="0" smtClean="0"/>
              <a:t>-Ortega et al. (2013) believe that such variability, ‘</a:t>
            </a:r>
            <a:r>
              <a:rPr lang="en-GB" i="1" dirty="0" smtClean="0"/>
              <a:t>precludes a straightforward appreciation of the treatment effectiveness</a:t>
            </a:r>
            <a:r>
              <a:rPr lang="en-GB" dirty="0" smtClean="0"/>
              <a:t>’ (p. 941). </a:t>
            </a:r>
            <a:endParaRPr lang="en-GB" dirty="0"/>
          </a:p>
        </p:txBody>
      </p:sp>
    </p:spTree>
    <p:extLst>
      <p:ext uri="{BB962C8B-B14F-4D97-AF65-F5344CB8AC3E}">
        <p14:creationId xmlns:p14="http://schemas.microsoft.com/office/powerpoint/2010/main" val="34510431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Preliminary Meta-Analysis </a:t>
            </a:r>
            <a:br>
              <a:rPr lang="en-GB" b="1" dirty="0" smtClean="0"/>
            </a:br>
            <a:r>
              <a:rPr lang="en-GB" b="1" dirty="0" smtClean="0"/>
              <a:t>(</a:t>
            </a:r>
            <a:r>
              <a:rPr lang="en-GB" b="1" dirty="0" err="1" smtClean="0"/>
              <a:t>Virues</a:t>
            </a:r>
            <a:r>
              <a:rPr lang="en-GB" b="1" dirty="0" smtClean="0"/>
              <a:t>-Ortega et al.,2013)</a:t>
            </a:r>
            <a:endParaRPr lang="en-GB" b="1" dirty="0"/>
          </a:p>
        </p:txBody>
      </p:sp>
      <p:sp>
        <p:nvSpPr>
          <p:cNvPr id="3" name="Content Placeholder 2"/>
          <p:cNvSpPr>
            <a:spLocks noGrp="1"/>
          </p:cNvSpPr>
          <p:nvPr>
            <p:ph idx="1"/>
          </p:nvPr>
        </p:nvSpPr>
        <p:spPr/>
        <p:txBody>
          <a:bodyPr/>
          <a:lstStyle/>
          <a:p>
            <a:pPr marL="0" indent="0" algn="ctr">
              <a:buNone/>
            </a:pPr>
            <a:r>
              <a:rPr lang="en-GB" dirty="0" smtClean="0"/>
              <a:t>220 distinct studies</a:t>
            </a:r>
          </a:p>
          <a:p>
            <a:pPr marL="0" indent="0" algn="ctr">
              <a:buNone/>
            </a:pPr>
            <a:endParaRPr lang="en-GB" dirty="0"/>
          </a:p>
          <a:p>
            <a:pPr marL="0" indent="0" algn="ctr">
              <a:buNone/>
            </a:pPr>
            <a:endParaRPr lang="en-GB" dirty="0"/>
          </a:p>
          <a:p>
            <a:pPr marL="0" indent="0" algn="ctr">
              <a:buNone/>
            </a:pPr>
            <a:r>
              <a:rPr lang="en-GB" dirty="0" smtClean="0"/>
              <a:t>13 studies remained</a:t>
            </a:r>
          </a:p>
          <a:p>
            <a:pPr marL="0" indent="0" algn="ctr">
              <a:buNone/>
            </a:pPr>
            <a:endParaRPr lang="en-GB" dirty="0"/>
          </a:p>
        </p:txBody>
      </p:sp>
      <p:cxnSp>
        <p:nvCxnSpPr>
          <p:cNvPr id="5" name="Straight Arrow Connector 4"/>
          <p:cNvCxnSpPr/>
          <p:nvPr/>
        </p:nvCxnSpPr>
        <p:spPr>
          <a:xfrm>
            <a:off x="6100549" y="2238233"/>
            <a:ext cx="0" cy="122829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aphicFrame>
        <p:nvGraphicFramePr>
          <p:cNvPr id="6" name="Table 5"/>
          <p:cNvGraphicFramePr>
            <a:graphicFrameLocks noGrp="1"/>
          </p:cNvGraphicFramePr>
          <p:nvPr>
            <p:extLst>
              <p:ext uri="{D42A27DB-BD31-4B8C-83A1-F6EECF244321}">
                <p14:modId xmlns:p14="http://schemas.microsoft.com/office/powerpoint/2010/main" val="1176900749"/>
              </p:ext>
            </p:extLst>
          </p:nvPr>
        </p:nvGraphicFramePr>
        <p:xfrm>
          <a:off x="327546" y="4049719"/>
          <a:ext cx="11546006" cy="2651760"/>
        </p:xfrm>
        <a:graphic>
          <a:graphicData uri="http://schemas.openxmlformats.org/drawingml/2006/table">
            <a:tbl>
              <a:tblPr firstRow="1" bandRow="1">
                <a:tableStyleId>{5C22544A-7EE6-4342-B048-85BDC9FD1C3A}</a:tableStyleId>
              </a:tblPr>
              <a:tblGrid>
                <a:gridCol w="5773003"/>
                <a:gridCol w="5773003"/>
              </a:tblGrid>
              <a:tr h="370840">
                <a:tc gridSpan="2">
                  <a:txBody>
                    <a:bodyPr/>
                    <a:lstStyle/>
                    <a:p>
                      <a:pPr algn="ctr"/>
                      <a:r>
                        <a:rPr lang="en-GB" sz="2400" dirty="0" smtClean="0"/>
                        <a:t>Findings</a:t>
                      </a:r>
                      <a:endParaRPr lang="en-GB" sz="2400" dirty="0"/>
                    </a:p>
                  </a:txBody>
                  <a:tcPr/>
                </a:tc>
                <a:tc hMerge="1">
                  <a:txBody>
                    <a:bodyPr/>
                    <a:lstStyle/>
                    <a:p>
                      <a:endParaRPr lang="en-GB" dirty="0"/>
                    </a:p>
                  </a:txBody>
                  <a:tcPr/>
                </a:tc>
              </a:tr>
              <a:tr h="370840">
                <a:tc>
                  <a:txBody>
                    <a:bodyPr/>
                    <a:lstStyle/>
                    <a:p>
                      <a:r>
                        <a:rPr lang="en-GB" sz="2400" dirty="0" smtClean="0"/>
                        <a:t>Negligible effect</a:t>
                      </a:r>
                      <a:endParaRPr lang="en-GB" sz="2400" dirty="0"/>
                    </a:p>
                  </a:txBody>
                  <a:tcPr/>
                </a:tc>
                <a:tc>
                  <a:txBody>
                    <a:bodyPr/>
                    <a:lstStyle/>
                    <a:p>
                      <a:r>
                        <a:rPr lang="en-GB" sz="2400" dirty="0" smtClean="0"/>
                        <a:t>Adaptive behaviour repertoires</a:t>
                      </a:r>
                      <a:r>
                        <a:rPr lang="en-GB" sz="2400" baseline="0" dirty="0" smtClean="0"/>
                        <a:t> i.e.</a:t>
                      </a:r>
                      <a:r>
                        <a:rPr lang="en-GB" sz="2400" dirty="0" smtClean="0"/>
                        <a:t> communication and self-help skills</a:t>
                      </a:r>
                      <a:endParaRPr lang="en-GB" sz="2400" dirty="0"/>
                    </a:p>
                  </a:txBody>
                  <a:tcPr/>
                </a:tc>
              </a:tr>
              <a:tr h="370840">
                <a:tc>
                  <a:txBody>
                    <a:bodyPr/>
                    <a:lstStyle/>
                    <a:p>
                      <a:r>
                        <a:rPr lang="en-GB" sz="2400" dirty="0" smtClean="0"/>
                        <a:t>Small effect</a:t>
                      </a:r>
                      <a:endParaRPr lang="en-GB" sz="2400" dirty="0"/>
                    </a:p>
                  </a:txBody>
                  <a:tcPr/>
                </a:tc>
                <a:tc>
                  <a:txBody>
                    <a:bodyPr/>
                    <a:lstStyle/>
                    <a:p>
                      <a:r>
                        <a:rPr lang="en-GB" sz="2400" dirty="0" smtClean="0"/>
                        <a:t>Perceptual, motor, verbal and cognitive skills</a:t>
                      </a:r>
                      <a:endParaRPr lang="en-GB" sz="2400" dirty="0"/>
                    </a:p>
                  </a:txBody>
                  <a:tcPr/>
                </a:tc>
              </a:tr>
              <a:tr h="370840">
                <a:tc>
                  <a:txBody>
                    <a:bodyPr/>
                    <a:lstStyle/>
                    <a:p>
                      <a:r>
                        <a:rPr lang="en-GB" sz="2400" dirty="0" smtClean="0"/>
                        <a:t>Moderate to</a:t>
                      </a:r>
                      <a:r>
                        <a:rPr lang="en-GB" sz="2400" baseline="0" dirty="0" smtClean="0"/>
                        <a:t> large gains</a:t>
                      </a:r>
                      <a:endParaRPr lang="en-GB" sz="2400" dirty="0"/>
                    </a:p>
                  </a:txBody>
                  <a:tcPr/>
                </a:tc>
                <a:tc>
                  <a:txBody>
                    <a:bodyPr/>
                    <a:lstStyle/>
                    <a:p>
                      <a:r>
                        <a:rPr lang="en-GB" sz="2400" dirty="0" smtClean="0"/>
                        <a:t>Social and maladaptive behaviours</a:t>
                      </a:r>
                      <a:endParaRPr lang="en-GB" sz="2400" dirty="0"/>
                    </a:p>
                  </a:txBody>
                  <a:tcPr/>
                </a:tc>
              </a:tr>
              <a:tr h="370840">
                <a:tc>
                  <a:txBody>
                    <a:bodyPr/>
                    <a:lstStyle/>
                    <a:p>
                      <a:r>
                        <a:rPr lang="en-GB" sz="2400" dirty="0" smtClean="0"/>
                        <a:t>Overall</a:t>
                      </a:r>
                      <a:endParaRPr lang="en-GB" sz="2400" dirty="0"/>
                    </a:p>
                  </a:txBody>
                  <a:tcPr/>
                </a:tc>
                <a:tc>
                  <a:txBody>
                    <a:bodyPr/>
                    <a:lstStyle/>
                    <a:p>
                      <a:r>
                        <a:rPr lang="en-GB" sz="2400" dirty="0" smtClean="0"/>
                        <a:t>Moderate</a:t>
                      </a:r>
                      <a:endParaRPr lang="en-GB" sz="2400" dirty="0"/>
                    </a:p>
                  </a:txBody>
                  <a:tcPr/>
                </a:tc>
              </a:tr>
            </a:tbl>
          </a:graphicData>
        </a:graphic>
      </p:graphicFrame>
    </p:spTree>
    <p:extLst>
      <p:ext uri="{BB962C8B-B14F-4D97-AF65-F5344CB8AC3E}">
        <p14:creationId xmlns:p14="http://schemas.microsoft.com/office/powerpoint/2010/main" val="697637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0031"/>
            <a:ext cx="10515600" cy="1325563"/>
          </a:xfrm>
        </p:spPr>
        <p:txBody>
          <a:bodyPr/>
          <a:lstStyle/>
          <a:p>
            <a:r>
              <a:rPr lang="en-GB" b="1" dirty="0" smtClean="0"/>
              <a:t>Problems with meta-analysis.</a:t>
            </a:r>
            <a:endParaRPr lang="en-GB" b="1" dirty="0"/>
          </a:p>
        </p:txBody>
      </p:sp>
      <p:sp>
        <p:nvSpPr>
          <p:cNvPr id="3" name="Content Placeholder 2"/>
          <p:cNvSpPr>
            <a:spLocks noGrp="1"/>
          </p:cNvSpPr>
          <p:nvPr>
            <p:ph idx="1"/>
          </p:nvPr>
        </p:nvSpPr>
        <p:spPr>
          <a:xfrm>
            <a:off x="838200" y="2371535"/>
            <a:ext cx="10515600" cy="4351338"/>
          </a:xfrm>
        </p:spPr>
        <p:txBody>
          <a:bodyPr>
            <a:normAutofit/>
          </a:bodyPr>
          <a:lstStyle/>
          <a:p>
            <a:r>
              <a:rPr lang="en-GB" dirty="0" smtClean="0"/>
              <a:t>TEACCH is a well-established ‘brand’ or ‘package’ - there is a difficulty in separately analysing the individual components which make up the programme. </a:t>
            </a:r>
          </a:p>
          <a:p>
            <a:endParaRPr lang="en-GB" dirty="0" smtClean="0"/>
          </a:p>
          <a:p>
            <a:r>
              <a:rPr lang="en-GB" dirty="0" err="1" smtClean="0"/>
              <a:t>Kazdin</a:t>
            </a:r>
            <a:r>
              <a:rPr lang="en-GB" dirty="0" smtClean="0"/>
              <a:t> (2008) added that even, </a:t>
            </a:r>
            <a:r>
              <a:rPr lang="en-GB" i="1" dirty="0" smtClean="0">
                <a:solidFill>
                  <a:srgbClr val="C00000"/>
                </a:solidFill>
              </a:rPr>
              <a:t>‘a statistically significant change on a standard, popular, valid and useful measure may not tell us how a patient is doing in the world</a:t>
            </a:r>
            <a:r>
              <a:rPr lang="en-GB" i="1" dirty="0" smtClean="0"/>
              <a:t>’ (p.148). </a:t>
            </a:r>
          </a:p>
          <a:p>
            <a:endParaRPr lang="en-GB" i="1" dirty="0"/>
          </a:p>
          <a:p>
            <a:r>
              <a:rPr lang="en-GB" dirty="0"/>
              <a:t>Cultural </a:t>
            </a:r>
            <a:r>
              <a:rPr lang="en-GB" dirty="0" smtClean="0"/>
              <a:t>applications/ </a:t>
            </a:r>
            <a:r>
              <a:rPr lang="en-GB" dirty="0"/>
              <a:t>Across setting</a:t>
            </a:r>
          </a:p>
        </p:txBody>
      </p:sp>
      <p:pic>
        <p:nvPicPr>
          <p:cNvPr id="4" name="Picture 3"/>
          <p:cNvPicPr>
            <a:picLocks noChangeAspect="1"/>
          </p:cNvPicPr>
          <p:nvPr/>
        </p:nvPicPr>
        <p:blipFill>
          <a:blip r:embed="rId3"/>
          <a:stretch>
            <a:fillRect/>
          </a:stretch>
        </p:blipFill>
        <p:spPr>
          <a:xfrm>
            <a:off x="9929647" y="0"/>
            <a:ext cx="2262353" cy="2262353"/>
          </a:xfrm>
          <a:prstGeom prst="rect">
            <a:avLst/>
          </a:prstGeom>
        </p:spPr>
      </p:pic>
    </p:spTree>
    <p:extLst>
      <p:ext uri="{BB962C8B-B14F-4D97-AF65-F5344CB8AC3E}">
        <p14:creationId xmlns:p14="http://schemas.microsoft.com/office/powerpoint/2010/main" val="17274836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a:t>
            </a:r>
            <a:r>
              <a:rPr lang="en-GB" b="1" dirty="0" smtClean="0"/>
              <a:t>ausal-comparative research </a:t>
            </a:r>
            <a:endParaRPr lang="en-GB" b="1" dirty="0"/>
          </a:p>
        </p:txBody>
      </p:sp>
      <p:sp>
        <p:nvSpPr>
          <p:cNvPr id="3" name="Content Placeholder 2"/>
          <p:cNvSpPr>
            <a:spLocks noGrp="1"/>
          </p:cNvSpPr>
          <p:nvPr>
            <p:ph idx="1"/>
          </p:nvPr>
        </p:nvSpPr>
        <p:spPr>
          <a:xfrm>
            <a:off x="838200" y="1825625"/>
            <a:ext cx="10515600" cy="4848130"/>
          </a:xfrm>
        </p:spPr>
        <p:txBody>
          <a:bodyPr>
            <a:normAutofit lnSpcReduction="10000"/>
          </a:bodyPr>
          <a:lstStyle/>
          <a:p>
            <a:pPr marL="0" indent="0" algn="ctr">
              <a:buNone/>
            </a:pPr>
            <a:r>
              <a:rPr lang="en-GB" dirty="0" smtClean="0"/>
              <a:t>VS</a:t>
            </a:r>
          </a:p>
          <a:p>
            <a:pPr marL="0" indent="0" algn="ctr">
              <a:buNone/>
            </a:pPr>
            <a:endParaRPr lang="en-GB" dirty="0"/>
          </a:p>
          <a:p>
            <a:pPr marL="0" indent="0" algn="ctr">
              <a:buNone/>
            </a:pPr>
            <a:endParaRPr lang="en-GB" dirty="0" smtClean="0"/>
          </a:p>
          <a:p>
            <a:pPr marL="0" indent="0">
              <a:buNone/>
            </a:pPr>
            <a:endParaRPr lang="en-GB" dirty="0" smtClean="0"/>
          </a:p>
          <a:p>
            <a:pPr marL="0" indent="0">
              <a:buNone/>
            </a:pPr>
            <a:endParaRPr lang="en-GB" dirty="0" smtClean="0"/>
          </a:p>
          <a:p>
            <a:r>
              <a:rPr lang="en-GB" dirty="0" smtClean="0"/>
              <a:t>Maurice</a:t>
            </a:r>
            <a:r>
              <a:rPr lang="en-GB" dirty="0"/>
              <a:t>, Green and </a:t>
            </a:r>
            <a:r>
              <a:rPr lang="en-GB" dirty="0" err="1"/>
              <a:t>Luce</a:t>
            </a:r>
            <a:r>
              <a:rPr lang="en-GB" dirty="0"/>
              <a:t> (1996) have called for an end to the </a:t>
            </a:r>
            <a:r>
              <a:rPr lang="en-GB" b="1" dirty="0"/>
              <a:t>‘ferocious ideological warfare</a:t>
            </a:r>
            <a:r>
              <a:rPr lang="en-GB" dirty="0"/>
              <a:t>’ which has dominated the autism world (p. 6). </a:t>
            </a:r>
            <a:endParaRPr lang="en-GB" dirty="0" smtClean="0"/>
          </a:p>
          <a:p>
            <a:r>
              <a:rPr lang="en-GB" dirty="0" smtClean="0"/>
              <a:t>They </a:t>
            </a:r>
            <a:r>
              <a:rPr lang="en-GB" dirty="0"/>
              <a:t>have entreated researchers to explore the </a:t>
            </a:r>
            <a:r>
              <a:rPr lang="en-GB" b="1" dirty="0"/>
              <a:t>common factors </a:t>
            </a:r>
            <a:r>
              <a:rPr lang="en-GB" dirty="0"/>
              <a:t>which underlie successful </a:t>
            </a:r>
            <a:r>
              <a:rPr lang="en-GB" dirty="0" smtClean="0"/>
              <a:t>interventions.</a:t>
            </a:r>
          </a:p>
          <a:p>
            <a:r>
              <a:rPr lang="en-GB" dirty="0" smtClean="0"/>
              <a:t>Danger of an </a:t>
            </a:r>
            <a:r>
              <a:rPr lang="en-GB" b="1" dirty="0" smtClean="0"/>
              <a:t>eclectic</a:t>
            </a:r>
            <a:r>
              <a:rPr lang="en-GB" dirty="0" smtClean="0"/>
              <a:t> approach.</a:t>
            </a:r>
            <a:endParaRPr lang="en-GB" dirty="0"/>
          </a:p>
        </p:txBody>
      </p:sp>
      <p:pic>
        <p:nvPicPr>
          <p:cNvPr id="5" name="Picture 4"/>
          <p:cNvPicPr>
            <a:picLocks noChangeAspect="1"/>
          </p:cNvPicPr>
          <p:nvPr/>
        </p:nvPicPr>
        <p:blipFill>
          <a:blip r:embed="rId3"/>
          <a:stretch>
            <a:fillRect/>
          </a:stretch>
        </p:blipFill>
        <p:spPr>
          <a:xfrm>
            <a:off x="1838325" y="1825625"/>
            <a:ext cx="3028950" cy="1514475"/>
          </a:xfrm>
          <a:prstGeom prst="rect">
            <a:avLst/>
          </a:prstGeom>
        </p:spPr>
      </p:pic>
      <p:pic>
        <p:nvPicPr>
          <p:cNvPr id="6" name="Picture 5"/>
          <p:cNvPicPr>
            <a:picLocks noChangeAspect="1"/>
          </p:cNvPicPr>
          <p:nvPr/>
        </p:nvPicPr>
        <p:blipFill>
          <a:blip r:embed="rId4"/>
          <a:stretch>
            <a:fillRect/>
          </a:stretch>
        </p:blipFill>
        <p:spPr>
          <a:xfrm>
            <a:off x="7496317" y="1749425"/>
            <a:ext cx="1710509" cy="1666874"/>
          </a:xfrm>
          <a:prstGeom prst="rect">
            <a:avLst/>
          </a:prstGeom>
        </p:spPr>
      </p:pic>
    </p:spTree>
    <p:extLst>
      <p:ext uri="{BB962C8B-B14F-4D97-AF65-F5344CB8AC3E}">
        <p14:creationId xmlns:p14="http://schemas.microsoft.com/office/powerpoint/2010/main" val="12466843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Summary:  Implications for Educational Psychologists and Wider Application</a:t>
            </a:r>
            <a:endParaRPr lang="en-GB" b="1" dirty="0"/>
          </a:p>
        </p:txBody>
      </p:sp>
      <p:sp>
        <p:nvSpPr>
          <p:cNvPr id="3" name="Content Placeholder 2"/>
          <p:cNvSpPr>
            <a:spLocks noGrp="1"/>
          </p:cNvSpPr>
          <p:nvPr>
            <p:ph idx="1"/>
          </p:nvPr>
        </p:nvSpPr>
        <p:spPr/>
        <p:txBody>
          <a:bodyPr>
            <a:normAutofit/>
          </a:bodyPr>
          <a:lstStyle/>
          <a:p>
            <a:endParaRPr lang="en-GB" dirty="0" smtClean="0"/>
          </a:p>
          <a:p>
            <a:endParaRPr lang="en-GB" dirty="0"/>
          </a:p>
          <a:p>
            <a:endParaRPr lang="en-GB" dirty="0" smtClean="0"/>
          </a:p>
          <a:p>
            <a:endParaRPr lang="en-GB" dirty="0"/>
          </a:p>
          <a:p>
            <a:endParaRPr lang="en-GB" dirty="0" smtClean="0"/>
          </a:p>
          <a:p>
            <a:r>
              <a:rPr lang="en-GB" dirty="0"/>
              <a:t>W</a:t>
            </a:r>
            <a:r>
              <a:rPr lang="en-GB" dirty="0" smtClean="0"/>
              <a:t>hen choosing an ASC intervention consider the following (Francis, 2005):</a:t>
            </a:r>
          </a:p>
          <a:p>
            <a:endParaRPr lang="en-GB" dirty="0"/>
          </a:p>
          <a:p>
            <a:endParaRPr lang="en-GB" dirty="0" smtClean="0"/>
          </a:p>
          <a:p>
            <a:endParaRPr lang="en-GB"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9082" y="2030341"/>
            <a:ext cx="2447925" cy="1866900"/>
          </a:xfrm>
          <a:prstGeom prst="rect">
            <a:avLst/>
          </a:prstGeom>
        </p:spPr>
      </p:pic>
      <p:graphicFrame>
        <p:nvGraphicFramePr>
          <p:cNvPr id="6" name="Diagram 5"/>
          <p:cNvGraphicFramePr/>
          <p:nvPr>
            <p:extLst>
              <p:ext uri="{D42A27DB-BD31-4B8C-83A1-F6EECF244321}">
                <p14:modId xmlns:p14="http://schemas.microsoft.com/office/powerpoint/2010/main" val="2762281933"/>
              </p:ext>
            </p:extLst>
          </p:nvPr>
        </p:nvGraphicFramePr>
        <p:xfrm>
          <a:off x="1325350" y="4244673"/>
          <a:ext cx="9759666" cy="35316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878152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Concluding thoughts…</a:t>
            </a:r>
            <a:endParaRPr lang="en-GB" b="1" dirty="0"/>
          </a:p>
        </p:txBody>
      </p:sp>
      <p:sp>
        <p:nvSpPr>
          <p:cNvPr id="3" name="Content Placeholder 2"/>
          <p:cNvSpPr>
            <a:spLocks noGrp="1"/>
          </p:cNvSpPr>
          <p:nvPr>
            <p:ph idx="1"/>
          </p:nvPr>
        </p:nvSpPr>
        <p:spPr/>
        <p:txBody>
          <a:bodyPr>
            <a:normAutofit lnSpcReduction="10000"/>
          </a:bodyPr>
          <a:lstStyle/>
          <a:p>
            <a:pPr marL="0" indent="0">
              <a:buNone/>
            </a:pPr>
            <a:endParaRPr lang="en-GB" dirty="0" smtClean="0"/>
          </a:p>
          <a:p>
            <a:pPr marL="0" indent="0">
              <a:buNone/>
            </a:pPr>
            <a:endParaRPr lang="en-GB" dirty="0"/>
          </a:p>
          <a:p>
            <a:pPr marL="0" indent="0">
              <a:buNone/>
            </a:pPr>
            <a:endParaRPr lang="en-GB" dirty="0" smtClean="0"/>
          </a:p>
          <a:p>
            <a:pPr marL="0" indent="0">
              <a:buNone/>
            </a:pPr>
            <a:endParaRPr lang="en-GB" dirty="0"/>
          </a:p>
          <a:p>
            <a:pPr marL="0" indent="0">
              <a:buNone/>
            </a:pPr>
            <a:endParaRPr lang="en-GB" dirty="0" smtClean="0"/>
          </a:p>
          <a:p>
            <a:pPr marL="0" indent="0" algn="ctr">
              <a:buNone/>
            </a:pPr>
            <a:endParaRPr lang="en-GB" dirty="0" smtClean="0"/>
          </a:p>
          <a:p>
            <a:pPr marL="0" indent="0" algn="ctr">
              <a:buNone/>
            </a:pPr>
            <a:endParaRPr lang="en-GB" dirty="0"/>
          </a:p>
          <a:p>
            <a:pPr marL="0" indent="0" algn="ctr">
              <a:buNone/>
            </a:pPr>
            <a:endParaRPr lang="en-GB" dirty="0"/>
          </a:p>
          <a:p>
            <a:pPr marL="0" indent="0" algn="ctr">
              <a:buNone/>
            </a:pPr>
            <a:r>
              <a:rPr lang="en-GB" dirty="0" err="1" smtClean="0"/>
              <a:t>Mesibov</a:t>
            </a:r>
            <a:r>
              <a:rPr lang="en-GB" dirty="0" smtClean="0"/>
              <a:t> &amp; </a:t>
            </a:r>
            <a:r>
              <a:rPr lang="en-GB" dirty="0" err="1" smtClean="0"/>
              <a:t>Shea</a:t>
            </a:r>
            <a:r>
              <a:rPr lang="en-GB" dirty="0" smtClean="0"/>
              <a:t> (2010)</a:t>
            </a:r>
            <a:endParaRPr lang="en-GB" dirty="0"/>
          </a:p>
        </p:txBody>
      </p:sp>
      <p:pic>
        <p:nvPicPr>
          <p:cNvPr id="4" name="Picture 3"/>
          <p:cNvPicPr>
            <a:picLocks noChangeAspect="1"/>
          </p:cNvPicPr>
          <p:nvPr/>
        </p:nvPicPr>
        <p:blipFill>
          <a:blip r:embed="rId3"/>
          <a:stretch>
            <a:fillRect/>
          </a:stretch>
        </p:blipFill>
        <p:spPr>
          <a:xfrm>
            <a:off x="2892473" y="1690688"/>
            <a:ext cx="6407054" cy="1559612"/>
          </a:xfrm>
          <a:prstGeom prst="rect">
            <a:avLst/>
          </a:prstGeom>
        </p:spPr>
      </p:pic>
      <p:sp>
        <p:nvSpPr>
          <p:cNvPr id="5" name="Flowchart: Sequential Access Storage 4"/>
          <p:cNvSpPr/>
          <p:nvPr/>
        </p:nvSpPr>
        <p:spPr>
          <a:xfrm>
            <a:off x="1214651" y="3725839"/>
            <a:ext cx="3037196" cy="2168324"/>
          </a:xfrm>
          <a:prstGeom prst="flowChartMagnetic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smtClean="0"/>
              <a:t>What is neat is not always best</a:t>
            </a:r>
            <a:endParaRPr lang="en-GB" sz="2800" dirty="0"/>
          </a:p>
        </p:txBody>
      </p:sp>
    </p:spTree>
    <p:extLst>
      <p:ext uri="{BB962C8B-B14F-4D97-AF65-F5344CB8AC3E}">
        <p14:creationId xmlns:p14="http://schemas.microsoft.com/office/powerpoint/2010/main" val="319465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2145</Words>
  <Application>Microsoft Office PowerPoint</Application>
  <PresentationFormat>Widescreen</PresentationFormat>
  <Paragraphs>133</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Background</vt:lpstr>
      <vt:lpstr>TEACCH Principles</vt:lpstr>
      <vt:lpstr>Individualised education programme. </vt:lpstr>
      <vt:lpstr>Structured teaching.</vt:lpstr>
      <vt:lpstr>Collaborative approach</vt:lpstr>
      <vt:lpstr>Empirical Evidence and Evaluation</vt:lpstr>
      <vt:lpstr>Preliminary Meta-Analysis  (Virues-Ortega et al.,2013)</vt:lpstr>
      <vt:lpstr>Problems with meta-analysis.</vt:lpstr>
      <vt:lpstr>Causal-comparative research </vt:lpstr>
      <vt:lpstr>Summary:  Implications for Educational Psychologists and Wider Application</vt:lpstr>
      <vt:lpstr>Concluding thoughts…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Katie Longstreet</dc:creator>
  <cp:lastModifiedBy>Katie Longstreet</cp:lastModifiedBy>
  <cp:revision>19</cp:revision>
  <dcterms:created xsi:type="dcterms:W3CDTF">2015-03-13T12:49:16Z</dcterms:created>
  <dcterms:modified xsi:type="dcterms:W3CDTF">2015-05-21T10:47:53Z</dcterms:modified>
</cp:coreProperties>
</file>