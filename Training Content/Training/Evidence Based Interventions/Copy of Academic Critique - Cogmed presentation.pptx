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61" r:id="rId4"/>
    <p:sldId id="258" r:id="rId5"/>
    <p:sldId id="26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25" autoAdjust="0"/>
  </p:normalViewPr>
  <p:slideViewPr>
    <p:cSldViewPr>
      <p:cViewPr>
        <p:scale>
          <a:sx n="85" d="100"/>
          <a:sy n="85" d="100"/>
        </p:scale>
        <p:origin x="-92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FA29BF-6CE0-422B-803A-62AA87F4760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C6CA581-F67F-42E4-831B-E55C7A5A6BDE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Focus</a:t>
          </a:r>
          <a:endParaRPr lang="en-GB" dirty="0"/>
        </a:p>
      </dgm:t>
    </dgm:pt>
    <dgm:pt modelId="{356AC0A5-BD24-488D-9846-E3869524681E}" type="parTrans" cxnId="{816A64AC-D1C6-4187-AD68-F11333CF046E}">
      <dgm:prSet/>
      <dgm:spPr/>
      <dgm:t>
        <a:bodyPr/>
        <a:lstStyle/>
        <a:p>
          <a:endParaRPr lang="en-GB"/>
        </a:p>
      </dgm:t>
    </dgm:pt>
    <dgm:pt modelId="{F441672D-25DA-426C-88CA-210D54C72311}" type="sibTrans" cxnId="{816A64AC-D1C6-4187-AD68-F11333CF046E}">
      <dgm:prSet/>
      <dgm:spPr/>
      <dgm:t>
        <a:bodyPr/>
        <a:lstStyle/>
        <a:p>
          <a:endParaRPr lang="en-GB"/>
        </a:p>
      </dgm:t>
    </dgm:pt>
    <dgm:pt modelId="{28E8F962-55AE-42C0-BADA-733E6C062919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Initiative</a:t>
          </a:r>
          <a:endParaRPr lang="en-GB" dirty="0"/>
        </a:p>
      </dgm:t>
    </dgm:pt>
    <dgm:pt modelId="{501F78E8-C0D7-4B9F-BE9B-FC852AF1149D}" type="parTrans" cxnId="{D1D9EAFB-4040-47F7-8FFF-E81224CC641E}">
      <dgm:prSet/>
      <dgm:spPr/>
      <dgm:t>
        <a:bodyPr/>
        <a:lstStyle/>
        <a:p>
          <a:endParaRPr lang="en-GB"/>
        </a:p>
      </dgm:t>
    </dgm:pt>
    <dgm:pt modelId="{4BC56793-AB60-448B-89C0-EF72E2E6483A}" type="sibTrans" cxnId="{D1D9EAFB-4040-47F7-8FFF-E81224CC641E}">
      <dgm:prSet/>
      <dgm:spPr/>
      <dgm:t>
        <a:bodyPr/>
        <a:lstStyle/>
        <a:p>
          <a:endParaRPr lang="en-GB"/>
        </a:p>
      </dgm:t>
    </dgm:pt>
    <dgm:pt modelId="{6C125BA2-2320-47B5-9562-4C3C7E966EDC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Reading Comprehension</a:t>
          </a:r>
          <a:endParaRPr lang="en-GB" dirty="0"/>
        </a:p>
      </dgm:t>
    </dgm:pt>
    <dgm:pt modelId="{3BB9E73B-843B-460D-8AC7-7CBE54842AB4}" type="parTrans" cxnId="{9F083D21-DFD5-4498-8394-91323DE9F73A}">
      <dgm:prSet/>
      <dgm:spPr/>
      <dgm:t>
        <a:bodyPr/>
        <a:lstStyle/>
        <a:p>
          <a:endParaRPr lang="en-GB"/>
        </a:p>
      </dgm:t>
    </dgm:pt>
    <dgm:pt modelId="{1B075036-46F2-47E1-8001-1DB618658542}" type="sibTrans" cxnId="{9F083D21-DFD5-4498-8394-91323DE9F73A}">
      <dgm:prSet/>
      <dgm:spPr/>
      <dgm:t>
        <a:bodyPr/>
        <a:lstStyle/>
        <a:p>
          <a:endParaRPr lang="en-GB"/>
        </a:p>
      </dgm:t>
    </dgm:pt>
    <dgm:pt modelId="{7E3E6E43-0D39-4812-AA87-A1AD538B3EA8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Maths</a:t>
          </a:r>
          <a:endParaRPr lang="en-GB" dirty="0"/>
        </a:p>
      </dgm:t>
    </dgm:pt>
    <dgm:pt modelId="{C1001BAE-92C2-4422-A4A5-BF84806AB9CC}" type="parTrans" cxnId="{C46C19FA-EE20-4325-B592-8A837AEE9E81}">
      <dgm:prSet/>
      <dgm:spPr/>
      <dgm:t>
        <a:bodyPr/>
        <a:lstStyle/>
        <a:p>
          <a:endParaRPr lang="en-GB"/>
        </a:p>
      </dgm:t>
    </dgm:pt>
    <dgm:pt modelId="{8AE8BA71-7E6D-4FB6-8368-379C31A0F576}" type="sibTrans" cxnId="{C46C19FA-EE20-4325-B592-8A837AEE9E81}">
      <dgm:prSet/>
      <dgm:spPr/>
      <dgm:t>
        <a:bodyPr/>
        <a:lstStyle/>
        <a:p>
          <a:endParaRPr lang="en-GB"/>
        </a:p>
      </dgm:t>
    </dgm:pt>
    <dgm:pt modelId="{C20FFCEF-ADB6-4619-BF55-EB8E011381FE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Social</a:t>
          </a:r>
        </a:p>
        <a:p>
          <a:r>
            <a:rPr lang="en-GB" dirty="0" smtClean="0"/>
            <a:t>skills</a:t>
          </a:r>
          <a:endParaRPr lang="en-GB" dirty="0"/>
        </a:p>
      </dgm:t>
    </dgm:pt>
    <dgm:pt modelId="{838FAA10-8A85-44DC-BDBD-9E49CE37D30C}" type="parTrans" cxnId="{4CF9B682-C431-45EC-9492-45BE8B1582BD}">
      <dgm:prSet/>
      <dgm:spPr/>
      <dgm:t>
        <a:bodyPr/>
        <a:lstStyle/>
        <a:p>
          <a:endParaRPr lang="en-GB"/>
        </a:p>
      </dgm:t>
    </dgm:pt>
    <dgm:pt modelId="{A3F24760-C528-4375-BD04-EE759EB026FB}" type="sibTrans" cxnId="{4CF9B682-C431-45EC-9492-45BE8B1582BD}">
      <dgm:prSet/>
      <dgm:spPr/>
      <dgm:t>
        <a:bodyPr/>
        <a:lstStyle/>
        <a:p>
          <a:endParaRPr lang="en-GB"/>
        </a:p>
      </dgm:t>
    </dgm:pt>
    <dgm:pt modelId="{33A426AA-226C-41B5-9166-AA09E9E2582F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Reduced</a:t>
          </a:r>
        </a:p>
        <a:p>
          <a:r>
            <a:rPr lang="en-GB" dirty="0" smtClean="0"/>
            <a:t>ADHD</a:t>
          </a:r>
          <a:endParaRPr lang="en-GB" dirty="0"/>
        </a:p>
      </dgm:t>
    </dgm:pt>
    <dgm:pt modelId="{7A719F33-63E9-4F01-AA48-A43654CD9412}" type="parTrans" cxnId="{D46CCE17-8078-46F9-9DA5-80F80D0B4AEF}">
      <dgm:prSet/>
      <dgm:spPr/>
      <dgm:t>
        <a:bodyPr/>
        <a:lstStyle/>
        <a:p>
          <a:endParaRPr lang="en-GB"/>
        </a:p>
      </dgm:t>
    </dgm:pt>
    <dgm:pt modelId="{34F4CFDA-589A-4EA1-A006-EA4FF1AFDF69}" type="sibTrans" cxnId="{D46CCE17-8078-46F9-9DA5-80F80D0B4AEF}">
      <dgm:prSet/>
      <dgm:spPr/>
      <dgm:t>
        <a:bodyPr/>
        <a:lstStyle/>
        <a:p>
          <a:endParaRPr lang="en-GB"/>
        </a:p>
      </dgm:t>
    </dgm:pt>
    <dgm:pt modelId="{41214087-B639-43A7-9217-56B59D5A41F1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Academic Progress</a:t>
          </a:r>
          <a:endParaRPr lang="en-GB" dirty="0"/>
        </a:p>
      </dgm:t>
    </dgm:pt>
    <dgm:pt modelId="{816E840D-F9E6-4DD9-99DA-1B4413BD1A55}" type="parTrans" cxnId="{C4CD2663-E0FB-4376-A2FA-C42849B97ED6}">
      <dgm:prSet/>
      <dgm:spPr/>
      <dgm:t>
        <a:bodyPr/>
        <a:lstStyle/>
        <a:p>
          <a:endParaRPr lang="en-GB"/>
        </a:p>
      </dgm:t>
    </dgm:pt>
    <dgm:pt modelId="{FD950A9F-813D-43FC-B98C-6069D060D70A}" type="sibTrans" cxnId="{C4CD2663-E0FB-4376-A2FA-C42849B97ED6}">
      <dgm:prSet/>
      <dgm:spPr/>
      <dgm:t>
        <a:bodyPr/>
        <a:lstStyle/>
        <a:p>
          <a:endParaRPr lang="en-GB"/>
        </a:p>
      </dgm:t>
    </dgm:pt>
    <dgm:pt modelId="{BC275551-AC98-46F3-A777-B5B2C9C2D810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Planning</a:t>
          </a:r>
          <a:endParaRPr lang="en-GB" dirty="0"/>
        </a:p>
      </dgm:t>
    </dgm:pt>
    <dgm:pt modelId="{CA34112F-C4BE-4570-B283-DE7DEDCC8D70}" type="parTrans" cxnId="{380AED6C-1F39-4865-AAA3-3E447A244A93}">
      <dgm:prSet/>
      <dgm:spPr/>
      <dgm:t>
        <a:bodyPr/>
        <a:lstStyle/>
        <a:p>
          <a:endParaRPr lang="en-GB"/>
        </a:p>
      </dgm:t>
    </dgm:pt>
    <dgm:pt modelId="{513F30AA-ECD5-44A1-82EC-08726A17F8B2}" type="sibTrans" cxnId="{380AED6C-1F39-4865-AAA3-3E447A244A93}">
      <dgm:prSet/>
      <dgm:spPr/>
      <dgm:t>
        <a:bodyPr/>
        <a:lstStyle/>
        <a:p>
          <a:endParaRPr lang="en-GB"/>
        </a:p>
      </dgm:t>
    </dgm:pt>
    <dgm:pt modelId="{47269A38-32FE-4220-8868-1A3EDE9718F3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GB" dirty="0" smtClean="0"/>
            <a:t>Confidence</a:t>
          </a:r>
          <a:endParaRPr lang="en-GB" dirty="0"/>
        </a:p>
      </dgm:t>
    </dgm:pt>
    <dgm:pt modelId="{984CF75A-E6E9-4893-8700-FA284B65C728}" type="parTrans" cxnId="{AA604DE9-CF02-4FD3-85C0-41B71B553A9F}">
      <dgm:prSet/>
      <dgm:spPr/>
      <dgm:t>
        <a:bodyPr/>
        <a:lstStyle/>
        <a:p>
          <a:endParaRPr lang="en-GB"/>
        </a:p>
      </dgm:t>
    </dgm:pt>
    <dgm:pt modelId="{B02C0D5A-C137-4D1A-80FE-6EA9E3652C94}" type="sibTrans" cxnId="{AA604DE9-CF02-4FD3-85C0-41B71B553A9F}">
      <dgm:prSet/>
      <dgm:spPr/>
      <dgm:t>
        <a:bodyPr/>
        <a:lstStyle/>
        <a:p>
          <a:endParaRPr lang="en-GB"/>
        </a:p>
      </dgm:t>
    </dgm:pt>
    <dgm:pt modelId="{F82A2FEE-9D70-4702-B2F1-7C47D4D9CE12}" type="pres">
      <dgm:prSet presAssocID="{12FA29BF-6CE0-422B-803A-62AA87F476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85CEF75-D4C9-47AA-BD90-97ECF11C8BA8}" type="pres">
      <dgm:prSet presAssocID="{BC275551-AC98-46F3-A777-B5B2C9C2D810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6B372D4-F710-4033-8ABC-3D6DA235CA06}" type="pres">
      <dgm:prSet presAssocID="{513F30AA-ECD5-44A1-82EC-08726A17F8B2}" presName="sibTrans" presStyleCnt="0"/>
      <dgm:spPr/>
    </dgm:pt>
    <dgm:pt modelId="{BAA309CF-C6B8-434F-B45E-7FE376091600}" type="pres">
      <dgm:prSet presAssocID="{47269A38-32FE-4220-8868-1A3EDE9718F3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50169B1-2AE7-4C2E-ADE4-D2DDB85106B5}" type="pres">
      <dgm:prSet presAssocID="{B02C0D5A-C137-4D1A-80FE-6EA9E3652C94}" presName="sibTrans" presStyleCnt="0"/>
      <dgm:spPr/>
    </dgm:pt>
    <dgm:pt modelId="{047C92AF-FB89-4FDA-B75A-2D0ACDDBD869}" type="pres">
      <dgm:prSet presAssocID="{41214087-B639-43A7-9217-56B59D5A41F1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E1FA65B-10F4-4F97-B895-E417D1754E16}" type="pres">
      <dgm:prSet presAssocID="{FD950A9F-813D-43FC-B98C-6069D060D70A}" presName="sibTrans" presStyleCnt="0"/>
      <dgm:spPr/>
    </dgm:pt>
    <dgm:pt modelId="{E6909B80-15BC-49F5-AF56-996F3E128CC7}" type="pres">
      <dgm:prSet presAssocID="{FC6CA581-F67F-42E4-831B-E55C7A5A6BDE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EAA34A1-FD25-4F2B-A244-45189791E41D}" type="pres">
      <dgm:prSet presAssocID="{F441672D-25DA-426C-88CA-210D54C72311}" presName="sibTrans" presStyleCnt="0"/>
      <dgm:spPr/>
    </dgm:pt>
    <dgm:pt modelId="{233E1879-4597-413B-AD7F-79F5B8245FDD}" type="pres">
      <dgm:prSet presAssocID="{28E8F962-55AE-42C0-BADA-733E6C062919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0E34AA4-C7F1-499A-9F5D-193B774B7F9C}" type="pres">
      <dgm:prSet presAssocID="{4BC56793-AB60-448B-89C0-EF72E2E6483A}" presName="sibTrans" presStyleCnt="0"/>
      <dgm:spPr/>
    </dgm:pt>
    <dgm:pt modelId="{D036F2F9-94BF-4FE5-B994-9DE4AE9EBE2C}" type="pres">
      <dgm:prSet presAssocID="{6C125BA2-2320-47B5-9562-4C3C7E966EDC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25CB89-F98C-454D-91D0-2862E35325A5}" type="pres">
      <dgm:prSet presAssocID="{1B075036-46F2-47E1-8001-1DB618658542}" presName="sibTrans" presStyleCnt="0"/>
      <dgm:spPr/>
    </dgm:pt>
    <dgm:pt modelId="{C1D95524-D8DD-452E-95CD-8BA8F16144AE}" type="pres">
      <dgm:prSet presAssocID="{7E3E6E43-0D39-4812-AA87-A1AD538B3EA8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8719DFA-C6ED-4B48-96BB-69008A6A70FC}" type="pres">
      <dgm:prSet presAssocID="{8AE8BA71-7E6D-4FB6-8368-379C31A0F576}" presName="sibTrans" presStyleCnt="0"/>
      <dgm:spPr/>
    </dgm:pt>
    <dgm:pt modelId="{2EA61B5D-5226-49DF-86BA-FCD741FDBAA9}" type="pres">
      <dgm:prSet presAssocID="{33A426AA-226C-41B5-9166-AA09E9E2582F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CE1BD81-836B-488E-B1EA-1CD05D278904}" type="pres">
      <dgm:prSet presAssocID="{34F4CFDA-589A-4EA1-A006-EA4FF1AFDF69}" presName="sibTrans" presStyleCnt="0"/>
      <dgm:spPr/>
    </dgm:pt>
    <dgm:pt modelId="{6D4933A2-5E55-4514-A71E-C788208F43A5}" type="pres">
      <dgm:prSet presAssocID="{C20FFCEF-ADB6-4619-BF55-EB8E011381FE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80AED6C-1F39-4865-AAA3-3E447A244A93}" srcId="{12FA29BF-6CE0-422B-803A-62AA87F47602}" destId="{BC275551-AC98-46F3-A777-B5B2C9C2D810}" srcOrd="0" destOrd="0" parTransId="{CA34112F-C4BE-4570-B283-DE7DEDCC8D70}" sibTransId="{513F30AA-ECD5-44A1-82EC-08726A17F8B2}"/>
    <dgm:cxn modelId="{9F083D21-DFD5-4498-8394-91323DE9F73A}" srcId="{12FA29BF-6CE0-422B-803A-62AA87F47602}" destId="{6C125BA2-2320-47B5-9562-4C3C7E966EDC}" srcOrd="5" destOrd="0" parTransId="{3BB9E73B-843B-460D-8AC7-7CBE54842AB4}" sibTransId="{1B075036-46F2-47E1-8001-1DB618658542}"/>
    <dgm:cxn modelId="{A83939F5-6D32-4EA4-9322-7432F4AF76FE}" type="presOf" srcId="{FC6CA581-F67F-42E4-831B-E55C7A5A6BDE}" destId="{E6909B80-15BC-49F5-AF56-996F3E128CC7}" srcOrd="0" destOrd="0" presId="urn:microsoft.com/office/officeart/2005/8/layout/default"/>
    <dgm:cxn modelId="{AA604DE9-CF02-4FD3-85C0-41B71B553A9F}" srcId="{12FA29BF-6CE0-422B-803A-62AA87F47602}" destId="{47269A38-32FE-4220-8868-1A3EDE9718F3}" srcOrd="1" destOrd="0" parTransId="{984CF75A-E6E9-4893-8700-FA284B65C728}" sibTransId="{B02C0D5A-C137-4D1A-80FE-6EA9E3652C94}"/>
    <dgm:cxn modelId="{C4CD2663-E0FB-4376-A2FA-C42849B97ED6}" srcId="{12FA29BF-6CE0-422B-803A-62AA87F47602}" destId="{41214087-B639-43A7-9217-56B59D5A41F1}" srcOrd="2" destOrd="0" parTransId="{816E840D-F9E6-4DD9-99DA-1B4413BD1A55}" sibTransId="{FD950A9F-813D-43FC-B98C-6069D060D70A}"/>
    <dgm:cxn modelId="{95D23248-DBC1-4482-910F-A88093C0760A}" type="presOf" srcId="{BC275551-AC98-46F3-A777-B5B2C9C2D810}" destId="{285CEF75-D4C9-47AA-BD90-97ECF11C8BA8}" srcOrd="0" destOrd="0" presId="urn:microsoft.com/office/officeart/2005/8/layout/default"/>
    <dgm:cxn modelId="{A2F0B3E5-EC91-4364-8729-1F4C12856E4C}" type="presOf" srcId="{12FA29BF-6CE0-422B-803A-62AA87F47602}" destId="{F82A2FEE-9D70-4702-B2F1-7C47D4D9CE12}" srcOrd="0" destOrd="0" presId="urn:microsoft.com/office/officeart/2005/8/layout/default"/>
    <dgm:cxn modelId="{816A64AC-D1C6-4187-AD68-F11333CF046E}" srcId="{12FA29BF-6CE0-422B-803A-62AA87F47602}" destId="{FC6CA581-F67F-42E4-831B-E55C7A5A6BDE}" srcOrd="3" destOrd="0" parTransId="{356AC0A5-BD24-488D-9846-E3869524681E}" sibTransId="{F441672D-25DA-426C-88CA-210D54C72311}"/>
    <dgm:cxn modelId="{C46C19FA-EE20-4325-B592-8A837AEE9E81}" srcId="{12FA29BF-6CE0-422B-803A-62AA87F47602}" destId="{7E3E6E43-0D39-4812-AA87-A1AD538B3EA8}" srcOrd="6" destOrd="0" parTransId="{C1001BAE-92C2-4422-A4A5-BF84806AB9CC}" sibTransId="{8AE8BA71-7E6D-4FB6-8368-379C31A0F576}"/>
    <dgm:cxn modelId="{D1D9EAFB-4040-47F7-8FFF-E81224CC641E}" srcId="{12FA29BF-6CE0-422B-803A-62AA87F47602}" destId="{28E8F962-55AE-42C0-BADA-733E6C062919}" srcOrd="4" destOrd="0" parTransId="{501F78E8-C0D7-4B9F-BE9B-FC852AF1149D}" sibTransId="{4BC56793-AB60-448B-89C0-EF72E2E6483A}"/>
    <dgm:cxn modelId="{3216401C-2DB6-4EE2-A552-A181C0273F23}" type="presOf" srcId="{33A426AA-226C-41B5-9166-AA09E9E2582F}" destId="{2EA61B5D-5226-49DF-86BA-FCD741FDBAA9}" srcOrd="0" destOrd="0" presId="urn:microsoft.com/office/officeart/2005/8/layout/default"/>
    <dgm:cxn modelId="{82F656FA-C130-42A6-9090-1318F490A5BF}" type="presOf" srcId="{C20FFCEF-ADB6-4619-BF55-EB8E011381FE}" destId="{6D4933A2-5E55-4514-A71E-C788208F43A5}" srcOrd="0" destOrd="0" presId="urn:microsoft.com/office/officeart/2005/8/layout/default"/>
    <dgm:cxn modelId="{D46CCE17-8078-46F9-9DA5-80F80D0B4AEF}" srcId="{12FA29BF-6CE0-422B-803A-62AA87F47602}" destId="{33A426AA-226C-41B5-9166-AA09E9E2582F}" srcOrd="7" destOrd="0" parTransId="{7A719F33-63E9-4F01-AA48-A43654CD9412}" sibTransId="{34F4CFDA-589A-4EA1-A006-EA4FF1AFDF69}"/>
    <dgm:cxn modelId="{4CF9B682-C431-45EC-9492-45BE8B1582BD}" srcId="{12FA29BF-6CE0-422B-803A-62AA87F47602}" destId="{C20FFCEF-ADB6-4619-BF55-EB8E011381FE}" srcOrd="8" destOrd="0" parTransId="{838FAA10-8A85-44DC-BDBD-9E49CE37D30C}" sibTransId="{A3F24760-C528-4375-BD04-EE759EB026FB}"/>
    <dgm:cxn modelId="{11B098EF-F990-4EBE-80FA-A741AB44B768}" type="presOf" srcId="{41214087-B639-43A7-9217-56B59D5A41F1}" destId="{047C92AF-FB89-4FDA-B75A-2D0ACDDBD869}" srcOrd="0" destOrd="0" presId="urn:microsoft.com/office/officeart/2005/8/layout/default"/>
    <dgm:cxn modelId="{1FA12C43-8BFB-49E9-95FC-4C4001A18532}" type="presOf" srcId="{47269A38-32FE-4220-8868-1A3EDE9718F3}" destId="{BAA309CF-C6B8-434F-B45E-7FE376091600}" srcOrd="0" destOrd="0" presId="urn:microsoft.com/office/officeart/2005/8/layout/default"/>
    <dgm:cxn modelId="{6C97FDC6-C2C2-4830-8873-CED10881A80E}" type="presOf" srcId="{6C125BA2-2320-47B5-9562-4C3C7E966EDC}" destId="{D036F2F9-94BF-4FE5-B994-9DE4AE9EBE2C}" srcOrd="0" destOrd="0" presId="urn:microsoft.com/office/officeart/2005/8/layout/default"/>
    <dgm:cxn modelId="{70413CBC-39DD-43AE-84EA-2B4B25640D97}" type="presOf" srcId="{7E3E6E43-0D39-4812-AA87-A1AD538B3EA8}" destId="{C1D95524-D8DD-452E-95CD-8BA8F16144AE}" srcOrd="0" destOrd="0" presId="urn:microsoft.com/office/officeart/2005/8/layout/default"/>
    <dgm:cxn modelId="{1A605779-A934-4572-9539-3914E051BD98}" type="presOf" srcId="{28E8F962-55AE-42C0-BADA-733E6C062919}" destId="{233E1879-4597-413B-AD7F-79F5B8245FDD}" srcOrd="0" destOrd="0" presId="urn:microsoft.com/office/officeart/2005/8/layout/default"/>
    <dgm:cxn modelId="{1B484C09-5FE8-449D-AE0B-3C2478365D9B}" type="presParOf" srcId="{F82A2FEE-9D70-4702-B2F1-7C47D4D9CE12}" destId="{285CEF75-D4C9-47AA-BD90-97ECF11C8BA8}" srcOrd="0" destOrd="0" presId="urn:microsoft.com/office/officeart/2005/8/layout/default"/>
    <dgm:cxn modelId="{81D6C38F-BFF4-4DCE-9F64-F3F327D426D1}" type="presParOf" srcId="{F82A2FEE-9D70-4702-B2F1-7C47D4D9CE12}" destId="{C6B372D4-F710-4033-8ABC-3D6DA235CA06}" srcOrd="1" destOrd="0" presId="urn:microsoft.com/office/officeart/2005/8/layout/default"/>
    <dgm:cxn modelId="{DA3A91E8-1D5F-4FCE-AD75-437A48CFFA09}" type="presParOf" srcId="{F82A2FEE-9D70-4702-B2F1-7C47D4D9CE12}" destId="{BAA309CF-C6B8-434F-B45E-7FE376091600}" srcOrd="2" destOrd="0" presId="urn:microsoft.com/office/officeart/2005/8/layout/default"/>
    <dgm:cxn modelId="{40A0A6D2-D868-4F72-956B-B969CA0A7826}" type="presParOf" srcId="{F82A2FEE-9D70-4702-B2F1-7C47D4D9CE12}" destId="{350169B1-2AE7-4C2E-ADE4-D2DDB85106B5}" srcOrd="3" destOrd="0" presId="urn:microsoft.com/office/officeart/2005/8/layout/default"/>
    <dgm:cxn modelId="{308002F1-E480-4759-97BC-DE6CB5448CF5}" type="presParOf" srcId="{F82A2FEE-9D70-4702-B2F1-7C47D4D9CE12}" destId="{047C92AF-FB89-4FDA-B75A-2D0ACDDBD869}" srcOrd="4" destOrd="0" presId="urn:microsoft.com/office/officeart/2005/8/layout/default"/>
    <dgm:cxn modelId="{0D1A0FC4-3E54-43A8-A4F2-27A76C30879B}" type="presParOf" srcId="{F82A2FEE-9D70-4702-B2F1-7C47D4D9CE12}" destId="{9E1FA65B-10F4-4F97-B895-E417D1754E16}" srcOrd="5" destOrd="0" presId="urn:microsoft.com/office/officeart/2005/8/layout/default"/>
    <dgm:cxn modelId="{6C5549FF-F5D3-438F-B80D-BE76D2F74D6F}" type="presParOf" srcId="{F82A2FEE-9D70-4702-B2F1-7C47D4D9CE12}" destId="{E6909B80-15BC-49F5-AF56-996F3E128CC7}" srcOrd="6" destOrd="0" presId="urn:microsoft.com/office/officeart/2005/8/layout/default"/>
    <dgm:cxn modelId="{96E8909D-5038-4F96-A5A1-9DF4E5F91328}" type="presParOf" srcId="{F82A2FEE-9D70-4702-B2F1-7C47D4D9CE12}" destId="{4EAA34A1-FD25-4F2B-A244-45189791E41D}" srcOrd="7" destOrd="0" presId="urn:microsoft.com/office/officeart/2005/8/layout/default"/>
    <dgm:cxn modelId="{7E34EF63-938B-477F-AF0C-8956D7A7B371}" type="presParOf" srcId="{F82A2FEE-9D70-4702-B2F1-7C47D4D9CE12}" destId="{233E1879-4597-413B-AD7F-79F5B8245FDD}" srcOrd="8" destOrd="0" presId="urn:microsoft.com/office/officeart/2005/8/layout/default"/>
    <dgm:cxn modelId="{85C7BC7C-85D3-49AA-BA77-6AD214A58C67}" type="presParOf" srcId="{F82A2FEE-9D70-4702-B2F1-7C47D4D9CE12}" destId="{30E34AA4-C7F1-499A-9F5D-193B774B7F9C}" srcOrd="9" destOrd="0" presId="urn:microsoft.com/office/officeart/2005/8/layout/default"/>
    <dgm:cxn modelId="{EEC16392-7569-4244-B57B-39B96E184603}" type="presParOf" srcId="{F82A2FEE-9D70-4702-B2F1-7C47D4D9CE12}" destId="{D036F2F9-94BF-4FE5-B994-9DE4AE9EBE2C}" srcOrd="10" destOrd="0" presId="urn:microsoft.com/office/officeart/2005/8/layout/default"/>
    <dgm:cxn modelId="{69CF0204-A103-4C6E-B3D1-439583742A9C}" type="presParOf" srcId="{F82A2FEE-9D70-4702-B2F1-7C47D4D9CE12}" destId="{D025CB89-F98C-454D-91D0-2862E35325A5}" srcOrd="11" destOrd="0" presId="urn:microsoft.com/office/officeart/2005/8/layout/default"/>
    <dgm:cxn modelId="{731A07F7-380B-4F64-958B-DCAD2EE8B34C}" type="presParOf" srcId="{F82A2FEE-9D70-4702-B2F1-7C47D4D9CE12}" destId="{C1D95524-D8DD-452E-95CD-8BA8F16144AE}" srcOrd="12" destOrd="0" presId="urn:microsoft.com/office/officeart/2005/8/layout/default"/>
    <dgm:cxn modelId="{E34AB0EF-92CE-4826-9FA1-3C2CD6BA983E}" type="presParOf" srcId="{F82A2FEE-9D70-4702-B2F1-7C47D4D9CE12}" destId="{A8719DFA-C6ED-4B48-96BB-69008A6A70FC}" srcOrd="13" destOrd="0" presId="urn:microsoft.com/office/officeart/2005/8/layout/default"/>
    <dgm:cxn modelId="{FBE82887-5934-4DAE-919C-96A09C898848}" type="presParOf" srcId="{F82A2FEE-9D70-4702-B2F1-7C47D4D9CE12}" destId="{2EA61B5D-5226-49DF-86BA-FCD741FDBAA9}" srcOrd="14" destOrd="0" presId="urn:microsoft.com/office/officeart/2005/8/layout/default"/>
    <dgm:cxn modelId="{5D097BAD-3024-46B8-AAB1-62F46AA381C0}" type="presParOf" srcId="{F82A2FEE-9D70-4702-B2F1-7C47D4D9CE12}" destId="{DCE1BD81-836B-488E-B1EA-1CD05D278904}" srcOrd="15" destOrd="0" presId="urn:microsoft.com/office/officeart/2005/8/layout/default"/>
    <dgm:cxn modelId="{C80B0667-DE3B-43E0-924E-080CF15AAAB9}" type="presParOf" srcId="{F82A2FEE-9D70-4702-B2F1-7C47D4D9CE12}" destId="{6D4933A2-5E55-4514-A71E-C788208F43A5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CEF75-D4C9-47AA-BD90-97ECF11C8BA8}">
      <dsp:nvSpPr>
        <dsp:cNvPr id="0" name=""/>
        <dsp:cNvSpPr/>
      </dsp:nvSpPr>
      <dsp:spPr>
        <a:xfrm>
          <a:off x="604361" y="694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Planning</a:t>
          </a:r>
          <a:endParaRPr lang="en-GB" sz="2300" kern="1200" dirty="0"/>
        </a:p>
      </dsp:txBody>
      <dsp:txXfrm>
        <a:off x="604361" y="694"/>
        <a:ext cx="2194024" cy="1316414"/>
      </dsp:txXfrm>
    </dsp:sp>
    <dsp:sp modelId="{BAA309CF-C6B8-434F-B45E-7FE376091600}">
      <dsp:nvSpPr>
        <dsp:cNvPr id="0" name=""/>
        <dsp:cNvSpPr/>
      </dsp:nvSpPr>
      <dsp:spPr>
        <a:xfrm>
          <a:off x="3017787" y="694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Confidence</a:t>
          </a:r>
          <a:endParaRPr lang="en-GB" sz="2300" kern="1200" dirty="0"/>
        </a:p>
      </dsp:txBody>
      <dsp:txXfrm>
        <a:off x="3017787" y="694"/>
        <a:ext cx="2194024" cy="1316414"/>
      </dsp:txXfrm>
    </dsp:sp>
    <dsp:sp modelId="{047C92AF-FB89-4FDA-B75A-2D0ACDDBD869}">
      <dsp:nvSpPr>
        <dsp:cNvPr id="0" name=""/>
        <dsp:cNvSpPr/>
      </dsp:nvSpPr>
      <dsp:spPr>
        <a:xfrm>
          <a:off x="5431214" y="694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Academic Progress</a:t>
          </a:r>
          <a:endParaRPr lang="en-GB" sz="2300" kern="1200" dirty="0"/>
        </a:p>
      </dsp:txBody>
      <dsp:txXfrm>
        <a:off x="5431214" y="694"/>
        <a:ext cx="2194024" cy="1316414"/>
      </dsp:txXfrm>
    </dsp:sp>
    <dsp:sp modelId="{E6909B80-15BC-49F5-AF56-996F3E128CC7}">
      <dsp:nvSpPr>
        <dsp:cNvPr id="0" name=""/>
        <dsp:cNvSpPr/>
      </dsp:nvSpPr>
      <dsp:spPr>
        <a:xfrm>
          <a:off x="604361" y="1536511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Focus</a:t>
          </a:r>
          <a:endParaRPr lang="en-GB" sz="2300" kern="1200" dirty="0"/>
        </a:p>
      </dsp:txBody>
      <dsp:txXfrm>
        <a:off x="604361" y="1536511"/>
        <a:ext cx="2194024" cy="1316414"/>
      </dsp:txXfrm>
    </dsp:sp>
    <dsp:sp modelId="{233E1879-4597-413B-AD7F-79F5B8245FDD}">
      <dsp:nvSpPr>
        <dsp:cNvPr id="0" name=""/>
        <dsp:cNvSpPr/>
      </dsp:nvSpPr>
      <dsp:spPr>
        <a:xfrm>
          <a:off x="3017787" y="1536511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Initiative</a:t>
          </a:r>
          <a:endParaRPr lang="en-GB" sz="2300" kern="1200" dirty="0"/>
        </a:p>
      </dsp:txBody>
      <dsp:txXfrm>
        <a:off x="3017787" y="1536511"/>
        <a:ext cx="2194024" cy="1316414"/>
      </dsp:txXfrm>
    </dsp:sp>
    <dsp:sp modelId="{D036F2F9-94BF-4FE5-B994-9DE4AE9EBE2C}">
      <dsp:nvSpPr>
        <dsp:cNvPr id="0" name=""/>
        <dsp:cNvSpPr/>
      </dsp:nvSpPr>
      <dsp:spPr>
        <a:xfrm>
          <a:off x="5431214" y="1536511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Reading Comprehension</a:t>
          </a:r>
          <a:endParaRPr lang="en-GB" sz="2300" kern="1200" dirty="0"/>
        </a:p>
      </dsp:txBody>
      <dsp:txXfrm>
        <a:off x="5431214" y="1536511"/>
        <a:ext cx="2194024" cy="1316414"/>
      </dsp:txXfrm>
    </dsp:sp>
    <dsp:sp modelId="{C1D95524-D8DD-452E-95CD-8BA8F16144AE}">
      <dsp:nvSpPr>
        <dsp:cNvPr id="0" name=""/>
        <dsp:cNvSpPr/>
      </dsp:nvSpPr>
      <dsp:spPr>
        <a:xfrm>
          <a:off x="604361" y="3072328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Maths</a:t>
          </a:r>
          <a:endParaRPr lang="en-GB" sz="2300" kern="1200" dirty="0"/>
        </a:p>
      </dsp:txBody>
      <dsp:txXfrm>
        <a:off x="604361" y="3072328"/>
        <a:ext cx="2194024" cy="1316414"/>
      </dsp:txXfrm>
    </dsp:sp>
    <dsp:sp modelId="{2EA61B5D-5226-49DF-86BA-FCD741FDBAA9}">
      <dsp:nvSpPr>
        <dsp:cNvPr id="0" name=""/>
        <dsp:cNvSpPr/>
      </dsp:nvSpPr>
      <dsp:spPr>
        <a:xfrm>
          <a:off x="3017787" y="3072328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Reduced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ADHD</a:t>
          </a:r>
          <a:endParaRPr lang="en-GB" sz="2300" kern="1200" dirty="0"/>
        </a:p>
      </dsp:txBody>
      <dsp:txXfrm>
        <a:off x="3017787" y="3072328"/>
        <a:ext cx="2194024" cy="1316414"/>
      </dsp:txXfrm>
    </dsp:sp>
    <dsp:sp modelId="{6D4933A2-5E55-4514-A71E-C788208F43A5}">
      <dsp:nvSpPr>
        <dsp:cNvPr id="0" name=""/>
        <dsp:cNvSpPr/>
      </dsp:nvSpPr>
      <dsp:spPr>
        <a:xfrm>
          <a:off x="5431214" y="3072328"/>
          <a:ext cx="2194024" cy="1316414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Social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skills</a:t>
          </a:r>
          <a:endParaRPr lang="en-GB" sz="2300" kern="1200" dirty="0"/>
        </a:p>
      </dsp:txBody>
      <dsp:txXfrm>
        <a:off x="5431214" y="3072328"/>
        <a:ext cx="2194024" cy="1316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7D3CBFE1-6682-4F65-9785-93BDE0CE873D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3263"/>
            <a:ext cx="4686300" cy="3514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451985"/>
            <a:ext cx="5669280" cy="4217670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4CBD0C46-8B84-48BC-A557-581601081B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18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1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17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749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436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436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66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824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103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0460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08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834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026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47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05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904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904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779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779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551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919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27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27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551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D0C46-8B84-48BC-A557-581601081B1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66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84B8C7E-5C62-4E2A-88F6-62C0C4230446}" type="datetimeFigureOut">
              <a:rPr lang="en-GB" smtClean="0"/>
              <a:t>18/12/2014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EC280F4-8BF7-4425-BD4A-7777E0C7961D}" type="slidenum">
              <a:rPr lang="en-GB" smtClean="0"/>
              <a:t>‹#›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124744"/>
            <a:ext cx="8568952" cy="2273424"/>
          </a:xfrm>
        </p:spPr>
        <p:txBody>
          <a:bodyPr/>
          <a:lstStyle/>
          <a:p>
            <a:pPr algn="ctr"/>
            <a:r>
              <a:rPr lang="en-GB" dirty="0" smtClean="0"/>
              <a:t>Cogmed Working </a:t>
            </a:r>
            <a:br>
              <a:rPr lang="en-GB" dirty="0" smtClean="0"/>
            </a:br>
            <a:r>
              <a:rPr lang="en-GB" dirty="0" smtClean="0"/>
              <a:t>Memory Training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4149080"/>
            <a:ext cx="7854696" cy="175260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‘Whoever </a:t>
            </a:r>
            <a:r>
              <a:rPr lang="en-GB" dirty="0"/>
              <a:t>you are, Cogmed training will challenge your brain – and improve </a:t>
            </a:r>
            <a:r>
              <a:rPr lang="en-GB" dirty="0" smtClean="0"/>
              <a:t>it’</a:t>
            </a:r>
          </a:p>
          <a:p>
            <a:endParaRPr lang="en-GB" dirty="0"/>
          </a:p>
          <a:p>
            <a:r>
              <a:rPr lang="en-GB" dirty="0" smtClean="0"/>
              <a:t>http</a:t>
            </a:r>
            <a:r>
              <a:rPr lang="en-GB" dirty="0"/>
              <a:t>://www.cogmed.com/how-it-works</a:t>
            </a:r>
          </a:p>
        </p:txBody>
      </p:sp>
      <p:pic>
        <p:nvPicPr>
          <p:cNvPr id="1027" name="Picture 3" descr="C:\Users\Hayley\AppData\Local\Microsoft\Windows\INetCache\IE\J2H7TDJT\MC900438727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5" y="5013175"/>
            <a:ext cx="2276268" cy="170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052" y="980728"/>
            <a:ext cx="158048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85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/>
          <a:lstStyle/>
          <a:p>
            <a:r>
              <a:rPr lang="en-GB" dirty="0" smtClean="0"/>
              <a:t>‘implemented by healthcare professionals around the world’</a:t>
            </a:r>
          </a:p>
          <a:p>
            <a:endParaRPr lang="en-GB" dirty="0" smtClean="0"/>
          </a:p>
          <a:p>
            <a:r>
              <a:rPr lang="en-GB" dirty="0"/>
              <a:t>combines ‘cognitive neuroscience with innovative computer game </a:t>
            </a:r>
            <a:r>
              <a:rPr lang="en-GB" dirty="0" smtClean="0"/>
              <a:t>design’</a:t>
            </a:r>
          </a:p>
          <a:p>
            <a:endParaRPr lang="en-GB" dirty="0"/>
          </a:p>
          <a:p>
            <a:r>
              <a:rPr lang="en-GB" dirty="0"/>
              <a:t>‘cascading effect of improvements’ 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‘the most research-based intervention for improved attention’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it?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916832"/>
            <a:ext cx="8229600" cy="4389120"/>
          </a:xfrm>
        </p:spPr>
        <p:txBody>
          <a:bodyPr/>
          <a:lstStyle/>
          <a:p>
            <a:endParaRPr lang="en-GB" dirty="0" smtClean="0"/>
          </a:p>
          <a:p>
            <a:r>
              <a:rPr lang="en-GB" dirty="0" smtClean="0"/>
              <a:t>Developed by Dr T. Klingberg</a:t>
            </a:r>
          </a:p>
          <a:p>
            <a:r>
              <a:rPr lang="en-GB" dirty="0" smtClean="0"/>
              <a:t>Computerised</a:t>
            </a:r>
          </a:p>
          <a:p>
            <a:r>
              <a:rPr lang="en-GB" dirty="0" smtClean="0"/>
              <a:t>Adaptive</a:t>
            </a:r>
          </a:p>
          <a:p>
            <a:r>
              <a:rPr lang="en-GB" dirty="0" smtClean="0"/>
              <a:t>25 sessions, each 30-45 mins</a:t>
            </a:r>
          </a:p>
          <a:p>
            <a:r>
              <a:rPr lang="en-GB" dirty="0" smtClean="0"/>
              <a:t>3 versions: </a:t>
            </a:r>
          </a:p>
          <a:p>
            <a:pPr marL="0" indent="0">
              <a:buNone/>
            </a:pPr>
            <a:r>
              <a:rPr lang="en-GB" dirty="0" smtClean="0"/>
              <a:t>preschool – school age – adult </a:t>
            </a:r>
          </a:p>
          <a:p>
            <a:r>
              <a:rPr lang="en-GB" dirty="0" smtClean="0"/>
              <a:t>Visuo-spatial &amp; Auditory Tasks</a:t>
            </a:r>
          </a:p>
          <a:p>
            <a:r>
              <a:rPr lang="en-GB" sz="1600" dirty="0"/>
              <a:t>https://www.youtube.com/watch?v=JHqsyXgoJis </a:t>
            </a:r>
          </a:p>
          <a:p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104" y="3501008"/>
            <a:ext cx="38100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766645"/>
            <a:ext cx="37719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866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Memory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‘</a:t>
            </a:r>
            <a:r>
              <a:rPr lang="en-GB" dirty="0"/>
              <a:t>a brain system that provides temporary storage and manipulation of the information necessary for … complex cognitive </a:t>
            </a:r>
            <a:r>
              <a:rPr lang="en-GB" dirty="0" smtClean="0"/>
              <a:t>tasks’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 smtClean="0"/>
              <a:t>(</a:t>
            </a:r>
            <a:r>
              <a:rPr lang="en-GB" sz="1800" dirty="0"/>
              <a:t>Baddeley, 1992, </a:t>
            </a:r>
            <a:r>
              <a:rPr lang="en-GB" sz="1800" dirty="0" smtClean="0"/>
              <a:t>p556)</a:t>
            </a:r>
            <a:endParaRPr lang="en-GB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149080"/>
            <a:ext cx="5214013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36296" y="4149080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chemeClr val="bg1">
                    <a:lumMod val="50000"/>
                  </a:schemeClr>
                </a:solidFill>
              </a:rPr>
              <a:t>Baddeley &amp; Hitch, 1974</a:t>
            </a:r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23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Memory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‘</a:t>
            </a:r>
            <a:r>
              <a:rPr lang="en-GB" b="1" dirty="0"/>
              <a:t>Working memory is the search engine of the mind</a:t>
            </a:r>
            <a:r>
              <a:rPr lang="en-GB" dirty="0" smtClean="0"/>
              <a:t>’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‘Working </a:t>
            </a:r>
            <a:r>
              <a:rPr lang="en-GB" dirty="0"/>
              <a:t>memory is the cognitive function responsible for keeping information online, manipulating it, and using it in your </a:t>
            </a:r>
            <a:r>
              <a:rPr lang="en-GB" dirty="0" smtClean="0"/>
              <a:t>thinking’.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(http://www.cogmed.com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/</a:t>
            </a:r>
          </a:p>
          <a:p>
            <a:pPr marL="0" indent="0">
              <a:buNone/>
            </a:pP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about-working-memory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1026" name="Picture 2" descr="C:\Users\xwecshf\AppData\Local\Microsoft\Windows\Temporary Internet Files\Content.IE5\H5IV9UWD\critical-thinking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509120"/>
            <a:ext cx="3793604" cy="168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9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Link between WM &amp; Learning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 smtClean="0"/>
          </a:p>
          <a:p>
            <a:r>
              <a:rPr lang="en-GB" dirty="0" smtClean="0"/>
              <a:t>WM deficits thought to </a:t>
            </a:r>
            <a:r>
              <a:rPr lang="en-GB" dirty="0"/>
              <a:t>impinge the learning process </a:t>
            </a:r>
            <a:endParaRPr lang="en-GB" dirty="0" smtClean="0"/>
          </a:p>
          <a:p>
            <a:pPr marL="0" indent="0">
              <a:buNone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   (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e.g. Alloway, Gathercole, Adams and Willis, </a:t>
            </a: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2005)</a:t>
            </a:r>
          </a:p>
          <a:p>
            <a:endParaRPr lang="en-GB" dirty="0"/>
          </a:p>
          <a:p>
            <a:r>
              <a:rPr lang="en-GB" dirty="0" smtClean="0"/>
              <a:t>WM thought to be one of best predictors of academic achievement, above IQ</a:t>
            </a:r>
          </a:p>
          <a:p>
            <a:pPr marL="0" indent="0">
              <a:buNone/>
            </a:pPr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     (Alloway, 2009)</a:t>
            </a:r>
          </a:p>
          <a:p>
            <a:endParaRPr lang="en-GB" dirty="0"/>
          </a:p>
          <a:p>
            <a:r>
              <a:rPr lang="en-GB" dirty="0" smtClean="0"/>
              <a:t>Cogmed: WM is the ‘engine for learning’</a:t>
            </a:r>
          </a:p>
          <a:p>
            <a:pPr marL="0" indent="0">
              <a:buNone/>
            </a:pPr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   (</a:t>
            </a: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http://</a:t>
            </a:r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www.cogmed.com)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    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38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Flexible/fixed capacity?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Limited capacity - was once a ‘defining characteristic of the model’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(Apter, 2012, referring to B &amp; H model)</a:t>
            </a:r>
          </a:p>
          <a:p>
            <a:r>
              <a:rPr lang="en-GB" dirty="0" smtClean="0"/>
              <a:t>Fixed capacity but not fully developed until adolescence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Gathercole, Pickering, Ambridge and Wearing, </a:t>
            </a: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2004)</a:t>
            </a:r>
          </a:p>
          <a:p>
            <a:r>
              <a:rPr lang="en-GB" dirty="0" smtClean="0"/>
              <a:t>Flexible and can increase through training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(e.g. Chein &amp; Morrison, 2010)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218" name="Picture 2" descr="C:\Users\Hayley\AppData\Local\Microsoft\Windows\INetCache\IE\OWK4NV2Z\MC900433797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286" y="4481709"/>
            <a:ext cx="2285714" cy="228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94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Neuroplasticity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645024"/>
            <a:ext cx="8640960" cy="340839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i="1" dirty="0" smtClean="0"/>
              <a:t>‘Working </a:t>
            </a:r>
            <a:r>
              <a:rPr lang="en-GB" b="1" i="1" dirty="0"/>
              <a:t>memory capacity determines your cognitive performance. </a:t>
            </a:r>
            <a:r>
              <a:rPr lang="en-GB" b="1" i="1" u="sng" dirty="0"/>
              <a:t>Cogmed training improves your working memory</a:t>
            </a:r>
            <a:r>
              <a:rPr lang="en-GB" b="1" i="1" dirty="0"/>
              <a:t>. Your strengthened working memory allows you to perform better. The training creates the cognitive foundation you need to prepare for </a:t>
            </a:r>
            <a:r>
              <a:rPr lang="en-GB" b="1" i="1" dirty="0" smtClean="0"/>
              <a:t>success’.</a:t>
            </a:r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(http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://</a:t>
            </a: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www.cogmed.com/how-it-works)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35480"/>
            <a:ext cx="8229600" cy="14935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 </a:t>
            </a:r>
            <a:r>
              <a:rPr lang="en-GB" dirty="0" smtClean="0"/>
              <a:t>the ‘idea that an individual’s brain can reorganise itself and change,’ </a:t>
            </a:r>
          </a:p>
          <a:p>
            <a:pPr marL="0" indent="0">
              <a:buFont typeface="Wingdings 2"/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(http://www.cogmed.com /neuroplasticity). 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5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Neuroplasticity  </a:t>
            </a:r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17856"/>
          </a:xfrm>
        </p:spPr>
        <p:txBody>
          <a:bodyPr>
            <a:normAutofit/>
          </a:bodyPr>
          <a:lstStyle/>
          <a:p>
            <a:r>
              <a:rPr lang="en-GB" dirty="0" smtClean="0"/>
              <a:t>Klingberg did </a:t>
            </a:r>
            <a:r>
              <a:rPr lang="en-GB" dirty="0"/>
              <a:t>the initial research that showed it was possible to actually improve one’s working memory capacity through systematic, intensive </a:t>
            </a:r>
            <a:r>
              <a:rPr lang="en-GB" dirty="0" smtClean="0"/>
              <a:t>training…</a:t>
            </a:r>
          </a:p>
          <a:p>
            <a:endParaRPr lang="en-GB" dirty="0" smtClean="0"/>
          </a:p>
          <a:p>
            <a:r>
              <a:rPr lang="en-GB" dirty="0" smtClean="0"/>
              <a:t>Increased scores on WM tasks = increased</a:t>
            </a:r>
          </a:p>
          <a:p>
            <a:pPr marL="0" indent="0">
              <a:buNone/>
            </a:pPr>
            <a:r>
              <a:rPr lang="en-GB" dirty="0" smtClean="0"/>
              <a:t> WM capacity (?)</a:t>
            </a:r>
          </a:p>
          <a:p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/>
              <a:t>‘Physical-energetic model’ 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(Melby-Lurvag &amp; Hulme, 2013, referring to 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Cogmed theory)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42" name="Picture 2" descr="C:\Users\Hayley\AppData\Local\Microsoft\Windows\INetCache\IE\TH6T33GY\MC90019818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704" y="3861048"/>
            <a:ext cx="2664296" cy="283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64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does the research say?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Effective short-term intervention for WM on tasks very similar to those trained…</a:t>
            </a:r>
            <a:endParaRPr lang="en-GB" dirty="0"/>
          </a:p>
        </p:txBody>
      </p:sp>
      <p:sp>
        <p:nvSpPr>
          <p:cNvPr id="4" name="AutoShape 4" descr="data:image/jpeg;base64,/9j/4AAQSkZJRgABAQAAAQABAAD/2wCEAAkGBxQSEhUUEBQWFhUWFxgYFxUXGBYXFhgYFRcYFxkYHxceICggIBwlHRYWIjEiJiosLi4uFyAzOTYsNygtLywBCgoKDg0OGxAQGywmICUsKy0vNywsLCw0Ny8sKywvLCwsLCwsLCwtLCwsLCwsLCwsLCwsLCwsLCwsLCwsLCwsLP/AABEIAI0A4wMBIgACEQEDEQH/xAAcAAACAgMBAQAAAAAAAAAAAAAABgUHAQIEAwj/xABAEAACAQIDBQYDBwIFAgcAAAABAgMAEQQSIQUGMUFRBxMiYXGBMpGhFCNCUrHB0WLwFXKCkuFT8RYXM0OistL/xAAaAQEAAgMBAAAAAAAAAAAAAAAAAwQBAgUG/8QAMBEAAgIBBAECAwUJAAAAAAAAAAECAxEEEiExBSJRE0FxIzJCkdEUUmFiobHB4fD/2gAMAwEAAhEDEQA/ALxoorBoDNFYFZoArVmA41k1E4t8QZlCrH3NxmJY951uBw420rDZlEtWa0BresmDjxUpAuLaa24Gw5j0rymxyWQ3sCCxvpotuPoSPlXViI8wIvbobcD1pJ2NO0uNfDSrYYchz0IzEqAemYof9K1jKA7YSQsMxBW/AHiB5171qDWb1nICiiigCiiigCs1i9F6AzRRWrOBQG1FFFAFFFFAFFYooDNFFFAFFFFAFFFFAFYNZrBFAaNJSji9vPNKUgZBCvGVWDZ25qOgHM60k75unev3qjNmOhAzD26W9qjt28POFuskawM12W5zqOYA4a1Dvyy5RUtyb5LL3a2q5naJ2zgqSG5gjkf1qd2ttePDxs8jKoUXJY6AdaQ93pA8zFeNhc66Lmux+SmpPBSx7Q7iU+KPvpGKmxBaJmRQetiFPyreEsmNXBRtaRC7W7QQpUyR4pY2vlfIihgLXIjbxW1HEcxUjsfbyYhQ0bB1JtmW/ha18rKdVNreWvKnTaWyIcQmSeNXXkGF7enTgPlSxtXYUOGdHw6iMFCjBeYBup9QSwB/qNRW6Wu37yIY2uPRDbc37jwjFVaR2BsyxqGA0BsXbQHUfMda6d3+0TvnVWVgZL5EkUKz245JF8DEWPh4+lM2ythYdsOivGkg1Y5lB8Tasfc1rvJsWGTCtGFCBPFGVABjcG6uvQg61LCCgtqI3LPLJzC4gSKGU3B/v2NetL250zMkufQiXh0LRRsw/wBzH50w1uYCiiufFZvw3HmMp+hoD2LdNTXG+JsM41XNlcc1N7Xt62v5Vwx40sSkgtIPhdRlvwtob2Pkbg+9L20d5og0g70sSAkiwQyTRhgCGzMisASDY68FHSsfIyO0s9gG5EqOvxEKD8yK8BLmkI5jQdOALN8yB/pNKOE2ysqkpKsyKQXMeYNGb5vHEfENRe9h6GpOHEMPFG1yba3GvEjX3PXjVOeqlGe1wZKqsrORh77MSBoBoT59B/NesLgi4N/OkuXeVE+6ebCqQxuj4hAzE8mX1PDS9TmG27GLB84c8AQPF6EeGrieUQk5RXlh5cwv/H7VtmrIN6KxegUBmiiigCiiigCiiigCiiigIDeXdWDGj70FWHB1426HqKpaHGYaKdoGxriIOR3oTPHa5sQQdRpxsavLevDySYPEJBfvGicLbiSVOg9eHvXyl9kfMERWZiQqxhTmJOgWw4ny861wjeFkocxeC9trYGHCbOdsA/ftiGVDOrK7Pe/hVl0A5acL60sbMkxGyx98M0Mj5yE17pzx49b+mlOu5+5X2DBNHK4kczd94QQqtlCWAPkNT1Ne8sCuCGAIIsRxBrn6vWS080kuC1RVG2Lcuzhw/aRDkBZuVKW8O+eIxmmBjPhN8+pUEajXh7Uz/wDhDCE5jAl/SpfC7PSMWRQAOgtUE/LJL0xN1pYp8sU9ido3djLikMT/AIlII16i9em2u0cSAR4YZnbgBYm/prTBtDY0MwtIit6i9cmE3eghN4o1U9QBReVi11yFpIt98G/Zis6tjI5Wu94ZQeREgkHzvHb2Bp3w+LvYsLA39VZeIPlodaVtl7TEMhUC5df/AKkldenif/jn1jHOFb8XiZwDpxB8OnKrMPIVbVufJDZpZqTwuBlxE4QFmOg+ft51y4rHmNczgDS+pGg8+lRLbRLFCV8KAEeZ6n0sP91Vb2s7xyyy/ZYycnxMFuTIx4DTUqq206k1PDUQtWIPkidM49osjDv9tiBRvDNIULg2PdpcvlP9Vraa2J4VIbb3VhxOGGHF4lX4O7CjLpb4bWOhpE7N9tZUOBnvFIrCSDvAVvf8OvI629ashNpkaSIyn0JHsedSOcYJJ9GMSzlCpi90EwWH76OR3mw937xrAvELF4DbijKCLG9ibi1qk/8ABRI4hN+5ClnsbGS7EBTb8OjEjnpyvXbtTGq8bd793CB947+EFeai/G/D3rn2LvLBiwcRhmzoLpIv4lsSQ2XpqdelbxkmsmjTyQQ7OXGJDjEAYcHWERpYrmzZCLZbZTkuOWvGtsVsUYGZEgJ+zz5skf8A0JkVpFKHkhCnw8AbW505HasVr5x/flS9t7aMbr3rkLHh8z5zwZijKqi/G+blWIzi3hM2ak+xj2NjO+gjk5soJ9eB+oNKG8m3B3yo7AIc3O1yHKfQKtr9akez/aHfYIKoyvHdNepAdT/8h8jVfbybROGIixuVXdTckAnjbPY8Be/DTStyfSOtWZm+CytzcY0kbnXIHIQte5FtePIGmIVQG6u/+ObGQwQkPF3qxdyEUju8wBbMNbhSWzXtV/LWWQ3SUrG4m1FFFYIwooooAooooAooooDzllCjX9CfoKpP/wAvxDiI2bFOO7xPfZ+6Ik8RTqTY/d66c+FXeaW9u4YZybA3F+HP+xVbVXfCjuf9CSuO6WCUxkytExU3HuPoaXhU3jpgYAw5gXqFQVxvJyUprHsXdIsRf1PYVkGtVra9c0nNHNc872BNe7NURvLi+6w8j9FrMIuUsG8SJwePaXElYU7xgLGxAVRrdmY/CPr5VLTbVwsfhmxmZx+HDqGVfchiT7+1KG7WBkxGWCMlVc55XHE9f4Hv0q2dl7t4eBbRxKOp4k+5r01OiqivUssoajVSnLjoS5NrRhC2GxK4gC5Mcn3eItx8PBWI6Wv51BbrGObGTTtZmIQJfkttRbkb8fSnjercuGZWaNcj8iNAT0NVfsDNh8Yga4zPkb34fWo9TpYqEnDh4NtPe21GQ3b2bs/aQskRyTILBuF1/Kbf3qaiMBj9sQAIodgNLsyEe1zcCn1a3y1yaddZVHb2WJ1Qk8sR5th4zG2+3zHJ/wBNSdfUnlXG+6WIwcnfbOkKtzS+h9D+xqxgtYZKytfdnOR8OvGMCOu+W0QMsmBV34Zu7/cHLXXgMLiMUc+0bZdckAsEW/EkDS9NDR1ratp+RsksLgxGiCZ7bhbGbCRzp/7bTFob6kRlE0Po5cDyFUPv/t9sbtCV2BAVu5jUixVEJGqnhdix96+mMKwWEE8Atz7VAbO2fHJKHeNGYktcqpPzIrsPUqvZHtyKHw926XscnZnuSuzomMmRp5PideAUfCoJ9Tc86dgKAKzVwhCiiigCiiigCiiigCiiigMGorbseinzI+f/AGqVqP2z8HvVTXJOiWSWl4miu96t4ZoGhhjHguzsbA5hcAJ5cSb+Y6UxYaQOoYcGAI9DrUZvRgg0LtbxKLg8xr/fyr03amDQr/Tp/H0rj3RVukjbjmL2v+6LcJ7b5Q91n/DJe1VL2l7Yx0GLsJHjhsDEUFlP5rnmwPI9RVtivGaMNxAIHAEXqrprlTLdKOSWcHJYTFvcPH4mbCK+LUh7kKxFi6aWYry1JHna/OuPtExFsNbqy39ARTY9I+/URlCoOtS0zjK/clhZJ41vZgZuzyFVxEy2sQkZX/LY/vmrl7Vt6MRhmCQO0YVFYlB4nLsQAWscqgKfUnyqP2PtRkaORR97CojlQfjUagj21Hqwpo2mcBtFUaV8rpwIbu3A45SGGo8iK9Ju3Lg5CShL1Hv2b7ZlxWFY4g5mRgucgAsCiuM1tMwzW+VIG9TKJ3ZRwxSBSOfiS4/WnPEbagwsH2fAgFje2pIUnQsz8z9dKrfbL3kiRSWVZLs5/FIxuffU/OtLXiDyb1R3WektSJtBXoDXJg38I9q6RXk2uTpyXJrisUsSF5GCIouzMQFA8ya4dn7w4WchYMRFIzDNlV1L2HG63uPcVrvNsn7XhZIM2UuPC3IMput+ouBekbcDcnE4bGd9icqrGrBbMGzs2lxbUAC/GrdNNMqpSlLldFecpKSSXBZrivJzpXvaoneLGiKFtbFgQPU/3eq1Vbsmor5sklNRTbN9i71/aEkgykOjWBscpiPA366WtTTsaCyluug9KQ9y8EBGZNbufougH61ZkCWUDoBXfhBS1UvaCwjn7/sV/NyetFFYvXSIDNFYvWaAKKKKAKKKKAxeiiigA1C7VxGY5R+Hj61Ddo22zDEsURYSSa+E2IUacfMn6Gobd7a5KhJmBYDjf6Gqnkabnp90Fx8zOnur+Nsb5JDeLFLHh5Gfha1vM8Krrdjb0sEn3tjp41B0tfw87X4+1ql98NqiV8inwpcH8pOmv60oSFVHqSfmLH9BVvxvjFHS7bfxclPV61u/NfyLlweOSRQ0bAg17E1TWD2/JC142PLzBt15UyYftDAH3ie4P7HWuNq/CXVybr9SOrp/I1TXr4Y8TtUPh41llI45Br6tw+gpR2p2kKQREhv/AFaD+/4qO3L30ETyd+GYyNmLjrYDhyFV4+NvUG8cl5a2lcKSH3a2yCfHH4XHMc/IjmKQNpvMJipHO2hIF6sIb04V1v34XzIZSPmKVJZFB+6YPHqQ2liDzJP/AHq5oY2xyrE19UV77ITxtw3/AAZ0bP2ZM4tqoPT4vmeFSW0diBIi1hdPEAOosR9RWdk7wBEs6k2GhVTr5WIFKm9O/jurRxJlB0Jaxb0twBrSVGqtsw+kSR1FFS4/VlkbKxAdFKm4IB+lSKmqP3d3umwwCNcqvAHiP5pkh7TW5xLb/MenpUE/FXuXoWUYnraWuXh/QtAVkDWq4PaK5ByxoPckVF43fTESCxfKvRBl+vH61JX4LUy7wl9SpPyVMeuSyNs7diw41N35INSfXpVY7wbVlnlzZsvA+WW+qgedvf8AWM+0sTmN+tzzPp/NdCPe/U8/0r0Wh8VVp1xzL3/Q4+p19lr54j/3ZcGy8oiTJ8OUW+X61Mbu7bM0k8Tlc0b2XKCLoVUi9yfECWB9qrnZO8XdYbutDKt8g1sBxF/MdPMV69nuJtjhlJJfMHJudbEgk8L6VQ0fj7a52yn1zgu362Eo1xj2XDWKL1irBuZrNYFZoAooooAooooArBrNFAVD2gzN9qewJKhQNQNLcr+tKqs3BjlvyuL68L25eX6U4dq+FKTrIODpx81Nj+o+dV8+JuNTryPmK69GHWk+jiXJq1tHRiMTe1+PBvUc6hsZiwp/ESeQHT9K9ppSTrzqMxiksSNbrlIBsRrfStrJ8YRvTBZ5NO/10GUn8J/Y8vSvN5CeI9uNaR4Qm2nDzvx862lHpVXLxyWcLPBjBYUyMdLqAL+pNlF/X9K79pbHMEgHJgGHvx+oNTC4vuNlQd1AFabEyd7KxYsTGiNFblYo7aDTQniTUfidqSYjLnI8IsLDkTzHtVWEbHcpfIt2OtUbfxBEDYDWxvepXdqfNCVUZmSVlUcbXs2a3M62A8qi8+ltCPLSurdCYiaVEHjkChevxZTb2arGq4hldlfQ8246yTYlTi7yO3RdAP8AUf4NceLwcMro5V7qQTwOYAjQ8PnTXhd3JPyBR1Yi/wC5qVg3cUayP8rAfM15qXkcN4f5f6PYvS6CEVuy37tsT9i7HU973qoY3bMob4hpY+nCo3aW5n3hOHeMRmxAZ2uptqL2NxT9PNgIfjdCely5/wBo/io6ffCBdMPAWPK4VR8tTWtN+qc81RZztXd4/GJCjHufiTw7tvQn/wDNcO29lT4YLmjVSzAAix487cfnTNtHefEkXLCFeQQeI+hOv6Uo7QxJlN5Cx6Em5Hnm413tL+2S5txj6Hn7bNLJ/ZRf5kd35zFg7EAgENbrbTnU5hn4gcQdKihD+Y3sb8FGo62410Bzz/5NdKvK7KtuJLBNJINARcAajrc61Ibvbb+zYiN0jU2v4PhGunHrrURsXBS4qVYcOhZj8lH5mPJfOmJOzjaSNmKRN/ll5f6lFbTtrfEiKFNncfkWbs/fjBuoMsyQMTbJMyoSf6STZh6UxYfEo4zRsrDqpBH0r553v3G2mco+ys6LrmidHuT/AEghvpU32RbsbRw+LV2jkgw+VhKr+EPcHKAl/ivY5rcq5diipeno61Tm4Lf2XjRWBWajJQooooAoorFAZrUms1zbSlKRSMvFUYj1Ck0MPhFL9p232mxDKhvHFdQORI+I/PT2FIC4vODlB8Op0Ph9TwANdeMxGayp43YhVHNmYgAX8yRVv7JwkGytnyqgzTd2zyyKAS0gQ24/hU8B7866E5qtJROfXW7G5SKaMwIF/nXiRc3BFR0EXguH156mnHczc44uFpZ5GRSbRhbXYDixuDpfQeho7sLkyqOeBccjl+tqYtw9xJNoyBnBjwqnxy2sXt+BL8b/AJuXrTrsncTBQsGljOII4CViUv5oLA+96fcPtoKAAgAGgA0AHpwtUFlueixXTt5ZE777npNs1sPhY1UxWkhRQB4k5erC4v518+YaYLfqTryItfQjlavqH/HV/IfpVb77bkQYuRpsNeCVtX5xuTzKjUHzFaV2beGbWV7uirXxN+ABrmwG0DFMJF4jiOo56/3rapTb26OKwcfey92UBsWjcmxOg0ZVPyrx3M2GMbiMjkrGFLOQQG5WAv51LO1SIo04GfD7xSSDwYuUf0k3Ye41Nec75v8A1JZH9cx/Wpza3ZzhzERhcyTDVXZ2bMR+FhwA8wLjz4VXS4gxZkkaRHUkMhZgQRytf61rXCjP3ERWUT+c5MasHhRIbQwySnyBtTXsjcTFyKS4jww5AjM5PmosAPU3pn3F31w+LgQA/eqoEgsAQwABNuh1PvTemLQ8GFbS1DXEYpG8dDWuXlnzJvHs7E4afJjksx+E8YyOqNzH16gVyadFHmL/AKV9N7Xw2GnjMeJRJEP4XW49RpcHzGtIuK7N9lliVeZOeVXYj2uCfrWIan3Npab90p0ygeZ6VP7nbrz7Tf7uyQoQJJTrbnlVfxMRbjoL+xjN6dg/ZMW0RZmiNnic3GZDyPK44H/mn3sVxgi+03BK/d2tqL+K/vapJ2PZlEcKkp4ZZ27W7kGCj7vDpa+rudXc9Wb9uA5VLgVGDbkfRvp/NbrtmPzHtVJ5fLLywuiRtRauVNoRngwroRweBBrBk2FZoooAooooDBrFbVigAUqdpuKkTZ84hVmZkI8AJOUkBtB5GmytStAfLe4exJGxsUjI6xxHMS6suoBygX8yD7VdYhZh8JNxrpxp3eFTxUH1ANcU2x42NxdfIaCtsmMHznvpuXNHiS2Gw79y1jlUaKea5eQ5gcNaa+y/7YA8WJRxGoURGQAEakFc3QaGrb/wFOrfSvVNixcwT6mmRgiItkSN+X/cP2rsj2AfxPb0FS8GFVPhFq9qxkYF+TYLcmB9bj+a8zsOXqnzP8UyUUyMFZb69n+Jx0aIsiIFfNqCwPhIGmnX6Vx7n9ls2CcyPKHYi3h8IA48L6n+KtmimRgWBsKU/lHnel/ensy+3AF5VSRfhcLdgOhOlxVj1g0yMFXbkdlcmAxQnfExyqFZcgiK3zW4+IjS1PW08HJf7pVA8tGqXvRTIwKUmFl/Er/U1ztGw4g/I062otTIwfOfabhsVPiVCQyNFGgylV4s3xa+wHtTF2ZYGSDDOs0ZjZpbgHjlyKAT75qunIOgrXul6D5CmRgS7Vuqk8AachGOg+QrIUdBTIwKDQMNSpA62NTOyYARcNeu7F4UuLZyPS1R8WyMjArIRr0/5pkwkTIrNaqNK2rBsFFFFA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data:image/jpeg;base64,/9j/4AAQSkZJRgABAQAAAQABAAD/2wCEAAkGBxQSEhUUEBQWFhUWFxgYFxUXGBYXFhgYFRcYFxkYHxceICggIBwlHRYWIjEiJiosLi4uFyAzOTYsNygtLywBCgoKDg0OGxAQGywmICUsKy0vNywsLCw0Ny8sKywvLCwsLCwsLCwtLCwsLCwsLCwsLCwsLCwsLCwsLCwsLCwsLP/AABEIAI0A4wMBIgACEQEDEQH/xAAcAAACAgMBAQAAAAAAAAAAAAAABgUHAQIEAwj/xABAEAACAQIDBQYDBwIFAgcAAAABAgMAEQQSIQUGMUFRBxMiYXGBMpGhFCNCUrHB0WLwFXKCkuFT8RYXM0OistL/xAAaAQEAAgMBAAAAAAAAAAAAAAAAAwQBAgUG/8QAMBEAAgIBBAECAwUJAAAAAAAAAAECAxEEEiExBSJRE0FxIzJCkdEUUmFiobHB4fD/2gAMAwEAAhEDEQA/ALxoorBoDNFYFZoArVmA41k1E4t8QZlCrH3NxmJY951uBw420rDZlEtWa0BresmDjxUpAuLaa24Gw5j0rymxyWQ3sCCxvpotuPoSPlXViI8wIvbobcD1pJ2NO0uNfDSrYYchz0IzEqAemYof9K1jKA7YSQsMxBW/AHiB5171qDWb1nICiiigCiiigCs1i9F6AzRRWrOBQG1FFFAFFFFAFFYooDNFFFAFFFFAFFFFAFYNZrBFAaNJSji9vPNKUgZBCvGVWDZ25qOgHM60k75unev3qjNmOhAzD26W9qjt28POFuskawM12W5zqOYA4a1Dvyy5RUtyb5LL3a2q5naJ2zgqSG5gjkf1qd2ttePDxs8jKoUXJY6AdaQ93pA8zFeNhc66Lmux+SmpPBSx7Q7iU+KPvpGKmxBaJmRQetiFPyreEsmNXBRtaRC7W7QQpUyR4pY2vlfIihgLXIjbxW1HEcxUjsfbyYhQ0bB1JtmW/ha18rKdVNreWvKnTaWyIcQmSeNXXkGF7enTgPlSxtXYUOGdHw6iMFCjBeYBup9QSwB/qNRW6Wu37yIY2uPRDbc37jwjFVaR2BsyxqGA0BsXbQHUfMda6d3+0TvnVWVgZL5EkUKz245JF8DEWPh4+lM2ythYdsOivGkg1Y5lB8Tasfc1rvJsWGTCtGFCBPFGVABjcG6uvQg61LCCgtqI3LPLJzC4gSKGU3B/v2NetL250zMkufQiXh0LRRsw/wBzH50w1uYCiiufFZvw3HmMp+hoD2LdNTXG+JsM41XNlcc1N7Xt62v5Vwx40sSkgtIPhdRlvwtob2Pkbg+9L20d5og0g70sSAkiwQyTRhgCGzMisASDY68FHSsfIyO0s9gG5EqOvxEKD8yK8BLmkI5jQdOALN8yB/pNKOE2ysqkpKsyKQXMeYNGb5vHEfENRe9h6GpOHEMPFG1yba3GvEjX3PXjVOeqlGe1wZKqsrORh77MSBoBoT59B/NesLgi4N/OkuXeVE+6ebCqQxuj4hAzE8mX1PDS9TmG27GLB84c8AQPF6EeGrieUQk5RXlh5cwv/H7VtmrIN6KxegUBmiiigCiiigCiiigCiiigIDeXdWDGj70FWHB1426HqKpaHGYaKdoGxriIOR3oTPHa5sQQdRpxsavLevDySYPEJBfvGicLbiSVOg9eHvXyl9kfMERWZiQqxhTmJOgWw4ny861wjeFkocxeC9trYGHCbOdsA/ftiGVDOrK7Pe/hVl0A5acL60sbMkxGyx98M0Mj5yE17pzx49b+mlOu5+5X2DBNHK4kczd94QQqtlCWAPkNT1Ne8sCuCGAIIsRxBrn6vWS080kuC1RVG2Lcuzhw/aRDkBZuVKW8O+eIxmmBjPhN8+pUEajXh7Uz/wDhDCE5jAl/SpfC7PSMWRQAOgtUE/LJL0xN1pYp8sU9ido3djLikMT/AIlII16i9em2u0cSAR4YZnbgBYm/prTBtDY0MwtIit6i9cmE3eghN4o1U9QBReVi11yFpIt98G/Zis6tjI5Wu94ZQeREgkHzvHb2Bp3w+LvYsLA39VZeIPlodaVtl7TEMhUC5df/AKkldenif/jn1jHOFb8XiZwDpxB8OnKrMPIVbVufJDZpZqTwuBlxE4QFmOg+ft51y4rHmNczgDS+pGg8+lRLbRLFCV8KAEeZ6n0sP91Vb2s7xyyy/ZYycnxMFuTIx4DTUqq206k1PDUQtWIPkidM49osjDv9tiBRvDNIULg2PdpcvlP9Vraa2J4VIbb3VhxOGGHF4lX4O7CjLpb4bWOhpE7N9tZUOBnvFIrCSDvAVvf8OvI629ashNpkaSIyn0JHsedSOcYJJ9GMSzlCpi90EwWH76OR3mw937xrAvELF4DbijKCLG9ibi1qk/8ABRI4hN+5ClnsbGS7EBTb8OjEjnpyvXbtTGq8bd793CB947+EFeai/G/D3rn2LvLBiwcRhmzoLpIv4lsSQ2XpqdelbxkmsmjTyQQ7OXGJDjEAYcHWERpYrmzZCLZbZTkuOWvGtsVsUYGZEgJ+zz5skf8A0JkVpFKHkhCnw8AbW505HasVr5x/flS9t7aMbr3rkLHh8z5zwZijKqi/G+blWIzi3hM2ak+xj2NjO+gjk5soJ9eB+oNKG8m3B3yo7AIc3O1yHKfQKtr9akez/aHfYIKoyvHdNepAdT/8h8jVfbybROGIixuVXdTckAnjbPY8Be/DTStyfSOtWZm+CytzcY0kbnXIHIQte5FtePIGmIVQG6u/+ObGQwQkPF3qxdyEUju8wBbMNbhSWzXtV/LWWQ3SUrG4m1FFFYIwooooAooooAooooDzllCjX9CfoKpP/wAvxDiI2bFOO7xPfZ+6Ik8RTqTY/d66c+FXeaW9u4YZybA3F+HP+xVbVXfCjuf9CSuO6WCUxkytExU3HuPoaXhU3jpgYAw5gXqFQVxvJyUprHsXdIsRf1PYVkGtVra9c0nNHNc872BNe7NURvLi+6w8j9FrMIuUsG8SJwePaXElYU7xgLGxAVRrdmY/CPr5VLTbVwsfhmxmZx+HDqGVfchiT7+1KG7WBkxGWCMlVc55XHE9f4Hv0q2dl7t4eBbRxKOp4k+5r01OiqivUssoajVSnLjoS5NrRhC2GxK4gC5Mcn3eItx8PBWI6Wv51BbrGObGTTtZmIQJfkttRbkb8fSnjercuGZWaNcj8iNAT0NVfsDNh8Yga4zPkb34fWo9TpYqEnDh4NtPe21GQ3b2bs/aQskRyTILBuF1/Kbf3qaiMBj9sQAIodgNLsyEe1zcCn1a3y1yaddZVHb2WJ1Qk8sR5th4zG2+3zHJ/wBNSdfUnlXG+6WIwcnfbOkKtzS+h9D+xqxgtYZKytfdnOR8OvGMCOu+W0QMsmBV34Zu7/cHLXXgMLiMUc+0bZdckAsEW/EkDS9NDR1ratp+RsksLgxGiCZ7bhbGbCRzp/7bTFob6kRlE0Po5cDyFUPv/t9sbtCV2BAVu5jUixVEJGqnhdix96+mMKwWEE8Atz7VAbO2fHJKHeNGYktcqpPzIrsPUqvZHtyKHw926XscnZnuSuzomMmRp5PideAUfCoJ9Tc86dgKAKzVwhCiiigCiiigCiiigCiiigMGorbseinzI+f/AGqVqP2z8HvVTXJOiWSWl4miu96t4ZoGhhjHguzsbA5hcAJ5cSb+Y6UxYaQOoYcGAI9DrUZvRgg0LtbxKLg8xr/fyr03amDQr/Tp/H0rj3RVukjbjmL2v+6LcJ7b5Q91n/DJe1VL2l7Yx0GLsJHjhsDEUFlP5rnmwPI9RVtivGaMNxAIHAEXqrprlTLdKOSWcHJYTFvcPH4mbCK+LUh7kKxFi6aWYry1JHna/OuPtExFsNbqy39ARTY9I+/URlCoOtS0zjK/clhZJ41vZgZuzyFVxEy2sQkZX/LY/vmrl7Vt6MRhmCQO0YVFYlB4nLsQAWscqgKfUnyqP2PtRkaORR97CojlQfjUagj21Hqwpo2mcBtFUaV8rpwIbu3A45SGGo8iK9Ju3Lg5CShL1Hv2b7ZlxWFY4g5mRgucgAsCiuM1tMwzW+VIG9TKJ3ZRwxSBSOfiS4/WnPEbagwsH2fAgFje2pIUnQsz8z9dKrfbL3kiRSWVZLs5/FIxuffU/OtLXiDyb1R3WektSJtBXoDXJg38I9q6RXk2uTpyXJrisUsSF5GCIouzMQFA8ya4dn7w4WchYMRFIzDNlV1L2HG63uPcVrvNsn7XhZIM2UuPC3IMput+ouBekbcDcnE4bGd9icqrGrBbMGzs2lxbUAC/GrdNNMqpSlLldFecpKSSXBZrivJzpXvaoneLGiKFtbFgQPU/3eq1Vbsmor5sklNRTbN9i71/aEkgykOjWBscpiPA366WtTTsaCyluug9KQ9y8EBGZNbufougH61ZkCWUDoBXfhBS1UvaCwjn7/sV/NyetFFYvXSIDNFYvWaAKKKKAKKKKAxeiiigA1C7VxGY5R+Hj61Ddo22zDEsURYSSa+E2IUacfMn6Gobd7a5KhJmBYDjf6Gqnkabnp90Fx8zOnur+Nsb5JDeLFLHh5Gfha1vM8Krrdjb0sEn3tjp41B0tfw87X4+1ql98NqiV8inwpcH8pOmv60oSFVHqSfmLH9BVvxvjFHS7bfxclPV61u/NfyLlweOSRQ0bAg17E1TWD2/JC142PLzBt15UyYftDAH3ie4P7HWuNq/CXVybr9SOrp/I1TXr4Y8TtUPh41llI45Br6tw+gpR2p2kKQREhv/AFaD+/4qO3L30ETyd+GYyNmLjrYDhyFV4+NvUG8cl5a2lcKSH3a2yCfHH4XHMc/IjmKQNpvMJipHO2hIF6sIb04V1v34XzIZSPmKVJZFB+6YPHqQ2liDzJP/AHq5oY2xyrE19UV77ITxtw3/AAZ0bP2ZM4tqoPT4vmeFSW0diBIi1hdPEAOosR9RWdk7wBEs6k2GhVTr5WIFKm9O/jurRxJlB0Jaxb0twBrSVGqtsw+kSR1FFS4/VlkbKxAdFKm4IB+lSKmqP3d3umwwCNcqvAHiP5pkh7TW5xLb/MenpUE/FXuXoWUYnraWuXh/QtAVkDWq4PaK5ByxoPckVF43fTESCxfKvRBl+vH61JX4LUy7wl9SpPyVMeuSyNs7diw41N35INSfXpVY7wbVlnlzZsvA+WW+qgedvf8AWM+0sTmN+tzzPp/NdCPe/U8/0r0Wh8VVp1xzL3/Q4+p19lr54j/3ZcGy8oiTJ8OUW+X61Mbu7bM0k8Tlc0b2XKCLoVUi9yfECWB9qrnZO8XdYbutDKt8g1sBxF/MdPMV69nuJtjhlJJfMHJudbEgk8L6VQ0fj7a52yn1zgu362Eo1xj2XDWKL1irBuZrNYFZoAooooAooooArBrNFAVD2gzN9qewJKhQNQNLcr+tKqs3BjlvyuL68L25eX6U4dq+FKTrIODpx81Nj+o+dV8+JuNTryPmK69GHWk+jiXJq1tHRiMTe1+PBvUc6hsZiwp/ESeQHT9K9ppSTrzqMxiksSNbrlIBsRrfStrJ8YRvTBZ5NO/10GUn8J/Y8vSvN5CeI9uNaR4Qm2nDzvx862lHpVXLxyWcLPBjBYUyMdLqAL+pNlF/X9K79pbHMEgHJgGHvx+oNTC4vuNlQd1AFabEyd7KxYsTGiNFblYo7aDTQniTUfidqSYjLnI8IsLDkTzHtVWEbHcpfIt2OtUbfxBEDYDWxvepXdqfNCVUZmSVlUcbXs2a3M62A8qi8+ltCPLSurdCYiaVEHjkChevxZTb2arGq4hldlfQ8246yTYlTi7yO3RdAP8AUf4NceLwcMro5V7qQTwOYAjQ8PnTXhd3JPyBR1Yi/wC5qVg3cUayP8rAfM15qXkcN4f5f6PYvS6CEVuy37tsT9i7HU973qoY3bMob4hpY+nCo3aW5n3hOHeMRmxAZ2uptqL2NxT9PNgIfjdCely5/wBo/io6ffCBdMPAWPK4VR8tTWtN+qc81RZztXd4/GJCjHufiTw7tvQn/wDNcO29lT4YLmjVSzAAix487cfnTNtHefEkXLCFeQQeI+hOv6Uo7QxJlN5Cx6Em5Hnm413tL+2S5txj6Hn7bNLJ/ZRf5kd35zFg7EAgENbrbTnU5hn4gcQdKihD+Y3sb8FGo62410Bzz/5NdKvK7KtuJLBNJINARcAajrc61Ibvbb+zYiN0jU2v4PhGunHrrURsXBS4qVYcOhZj8lH5mPJfOmJOzjaSNmKRN/ll5f6lFbTtrfEiKFNncfkWbs/fjBuoMsyQMTbJMyoSf6STZh6UxYfEo4zRsrDqpBH0r553v3G2mco+ys6LrmidHuT/AEghvpU32RbsbRw+LV2jkgw+VhKr+EPcHKAl/ivY5rcq5diipeno61Tm4Lf2XjRWBWajJQooooAoorFAZrUms1zbSlKRSMvFUYj1Ck0MPhFL9p232mxDKhvHFdQORI+I/PT2FIC4vODlB8Op0Ph9TwANdeMxGayp43YhVHNmYgAX8yRVv7JwkGytnyqgzTd2zyyKAS0gQ24/hU8B7866E5qtJROfXW7G5SKaMwIF/nXiRc3BFR0EXguH156mnHczc44uFpZ5GRSbRhbXYDixuDpfQeho7sLkyqOeBccjl+tqYtw9xJNoyBnBjwqnxy2sXt+BL8b/AJuXrTrsncTBQsGljOII4CViUv5oLA+96fcPtoKAAgAGgA0AHpwtUFlueixXTt5ZE777npNs1sPhY1UxWkhRQB4k5erC4v518+YaYLfqTryItfQjlavqH/HV/IfpVb77bkQYuRpsNeCVtX5xuTzKjUHzFaV2beGbWV7uirXxN+ABrmwG0DFMJF4jiOo56/3rapTb26OKwcfey92UBsWjcmxOg0ZVPyrx3M2GMbiMjkrGFLOQQG5WAv51LO1SIo04GfD7xSSDwYuUf0k3Ye41Nec75v8A1JZH9cx/Wpza3ZzhzERhcyTDVXZ2bMR+FhwA8wLjz4VXS4gxZkkaRHUkMhZgQRytf61rXCjP3ERWUT+c5MasHhRIbQwySnyBtTXsjcTFyKS4jww5AjM5PmosAPU3pn3F31w+LgQA/eqoEgsAQwABNuh1PvTemLQ8GFbS1DXEYpG8dDWuXlnzJvHs7E4afJjksx+E8YyOqNzH16gVyadFHmL/AKV9N7Xw2GnjMeJRJEP4XW49RpcHzGtIuK7N9lliVeZOeVXYj2uCfrWIan3Npab90p0ygeZ6VP7nbrz7Tf7uyQoQJJTrbnlVfxMRbjoL+xjN6dg/ZMW0RZmiNnic3GZDyPK44H/mn3sVxgi+03BK/d2tqL+K/vapJ2PZlEcKkp4ZZ27W7kGCj7vDpa+rudXc9Wb9uA5VLgVGDbkfRvp/NbrtmPzHtVJ5fLLywuiRtRauVNoRngwroRweBBrBk2FZoooAooooDBrFbVigAUqdpuKkTZ84hVmZkI8AJOUkBtB5GmytStAfLe4exJGxsUjI6xxHMS6suoBygX8yD7VdYhZh8JNxrpxp3eFTxUH1ANcU2x42NxdfIaCtsmMHznvpuXNHiS2Gw79y1jlUaKea5eQ5gcNaa+y/7YA8WJRxGoURGQAEakFc3QaGrb/wFOrfSvVNixcwT6mmRgiItkSN+X/cP2rsj2AfxPb0FS8GFVPhFq9qxkYF+TYLcmB9bj+a8zsOXqnzP8UyUUyMFZb69n+Jx0aIsiIFfNqCwPhIGmnX6Vx7n9ls2CcyPKHYi3h8IA48L6n+KtmimRgWBsKU/lHnel/ensy+3AF5VSRfhcLdgOhOlxVj1g0yMFXbkdlcmAxQnfExyqFZcgiK3zW4+IjS1PW08HJf7pVA8tGqXvRTIwKUmFl/Er/U1ztGw4g/I062otTIwfOfabhsVPiVCQyNFGgylV4s3xa+wHtTF2ZYGSDDOs0ZjZpbgHjlyKAT75qunIOgrXul6D5CmRgS7Vuqk8AachGOg+QrIUdBTIwKDQMNSpA62NTOyYARcNeu7F4UuLZyPS1R8WyMjArIRr0/5pkwkTIrNaqNK2rBsFFFFA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501008"/>
            <a:ext cx="3816424" cy="2370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64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But…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‘how </a:t>
            </a:r>
            <a:r>
              <a:rPr lang="en-GB" dirty="0"/>
              <a:t>enduring and generalisable the treatment effects from Cogmed training are remains to be </a:t>
            </a:r>
            <a:r>
              <a:rPr lang="en-GB" dirty="0" smtClean="0"/>
              <a:t>demonstrated’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bg1">
                    <a:lumMod val="50000"/>
                  </a:schemeClr>
                </a:solidFill>
              </a:rPr>
              <a:t>(Roche &amp; Johnson, 2014, p381) 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AutoShape 2" descr="data:image/jpeg;base64,/9j/4AAQSkZJRgABAQAAAQABAAD/2wCEAAkGBxIQEBATEhIPDxUQEBAVEBUQDhAQFRUYFBEWFhcXFRYYHCggGh0lHBQUITEhJSksLi4uFx8zODMsNygtLisBCgoKDg0OGhAQGiwfHSQsLCwsLCwsLCwsLCwsLCwsLCwsLCwsLCwsLCwsLCwsLCwsLCwsLCwsLCw3LCwsLDc3N//AABEIAJkAhgMBEQACEQEDEQH/xAAbAAABBQEBAAAAAAAAAAAAAAAAAQMEBQYCB//EADsQAAEEAAQDBQUFBgcAAAAAAAEAAgMRBBIhMQUGQSIyUXGxYYGRocEHEyNCUhRigpLR4RUWM2Ny8PH/xAAaAQEAAwEBAQAAAAAAAAAAAAAAAQIDBAUG/8QAKhEBAAICAQIFBAIDAQAAAAAAAAECAxEEEjEFITJBURMUM3EiQhUjYVL/2gAMAwEAAhEDEQA/ANHlUNnWVEgNRBcqBaUpLlQGVEOZNBZ26/1UJRZJw1rh1sAfxf8AhRB+IIQdyoDKiRSIIQgTKgKRJMqDukCgIFAQLSBaQLSApAEIMTi8Y5uNER2YLPtq8nzcFKrZYeLK0A79fNEnKUApEkyogUg5IQFIkmVB3SAAQLSBaQLSIClIAVZtEdw+3Cu8K8zS5r8zFX3TESoMdys+THxYjNGI2sbmaXUSW2R027qp9/iOiV+/Cu3qx7CCta8rHb3NSYIW8TEoClAQIgKQFICkApSVAKAUgKRB6CHN7B4rl5PJri/a0V2kl7WDsheHl5F8k7mW9aIk2KWHdpEIjsQfEqV9QI8W5p0PzU7OmEtmJa/vb+IW+LlXxT8wxtiJIyj4r3MHIrmjcOe1ZhwuhUIBAIEQKgAgVEhSOo2EmgssuSMdZtKYjcn5n5RS+ay5LXtM2dNa6Q5HkrPbRDmcfFWiEokstK2tJ8jTcSplKVE/alQWeHlsUVbDlnFfqhS9Nw6IX0uLJGSkWhwzGpItEBAIBAqApAIFpBIwlCyvK8TyaiKtMcbcYjU+q8V1RCg45xoQNFAOc68jTuelnwFr0+Lwpt/K3ZlfJryhjMRPJI4mWR19Gi3V7hoF6VcWOnaGMzafc1FnaaZIb6NOZpPuOhUzjx27wRNqpmE4g5xynR3lVny8VyZOFqf49m1cu+6ViuLOZ2WHM/XNpYb/AHU04NP7Kznn2QW8WxN3+0EfxUPRb/bYYjWlPqXldcO5okY5rcR2gap4r6aFbYqVxxqqtpmWtY8OAIIIIsEdQtlXSBEAg6QCAUgUDGca+0MYaV8Igc4scQSZA35UuDk8Oc1onemlcsU7jDc1PxeGbI1n3JdjGRGnZ+xkLn3pvQ08FTH4fSnedpnNM9le5z55XyOJNmm9aaNl2do1Cnvs+yKJhAcWsJ2D3BpPtF7rmv1Q2rp1NgWkabdCCCFSL6TNVdjICQCO8DVjRdlLbhz2jzOYfCAjU77+JVcl161TBgGVWo+Xquab/DWIMyYUAFulEaa7HotsVp92d4X3JuLLo3xONmI6eR/uuqGTRKQIBB0gEAgEGH5j5B/aZXytmc0vNkFgcL9Vxcjm/Rv06Xpg6oRcPw9/D8Ixhc2S8e1xytA7JhLHaXfXdaYuTXLG0Timnkfwj/u5NNQS8V5Pv0IWk20jSHz7wB+OMMsAzlkeR7LAcNbBbe6tF6yiayn8ocrPwuGkdiXZXSEZGGSy0AbnXQk9FFqVnuRadmPureQLcHOJb40FWsaXmdrDgeAZM1wJpxDhvVGtD8VPRWUbn2Y1vJfEpMVkeMQ4B4t7nO+7q+9m22V4rEeym5b7mGERAN0sZda3rc/IqJiIWrJjk1lyTu6UArQS1IUoCBEHSkCgCARLtw7C8HxL8joxdlJj4Q5rmnY7rkx26Z3DWY35M0IiXuZo03bMo0sDcDr4EL3cOWMlXNas1k9Dj5IdJI3t8HNaXNPkQlsZF0z/ABASig2R+mzGOHxeRTR7VaKKzZUcS4q3BuaTTpXnuMNCNuw+HQdStNxHkjUpsUL8oxMH4sb9XCPvNPU19FEx8ESssNzeQMpflrcPGU/NRFskGqoGLmdindgOeXd57gWivBoOvmVaInfmbj2aLg3DxBEG/mOrz7StYVT1IEAgVAIBAIk4e6vB8R/K6cXZVYhu64oaqPiWH3I003Gh13XRiyTWfJExtAj5hxWH7Nslb/uszH+YUV6NM8ywtRHx3N2KeCGiKK+rI9fi4mlb6so6WbfCXuLnEuJNknUnzUTc0suD46bCm4XllnUUC0+bToVH1ZhPTtpYuYHS1nw8Bd1cA5v1UW5M1hMYttLwyiy8rG+xraTh57ZbztGWkVhMXpsAgRAUg6QCAQCkdnur53nzvK6sXZXyjdcsNUCeO1eEqjHYMO6Lal9ImFFNgCD1XTF4UmpGYNJudKRHhFnN06T8FhtQssll4hscA2mDzXR4Z6rMeR7JC9pyhAIBAqAQCApSHXDsr5vmzvNLqxdlfKNVzQ1RpGqyYQ5mq0JhXzxLSJNGREp6kadtjUTKdJeHj1CzstDRYTuBd3hfqs5uR7Hl7TlCApAIFQCBUAg7k2XzPJneWXZTsgyrGF4VeOxjWAlxAAGpJpXrWZnULMy7myJzsrA+TXcNoe66tdleDlmNyynNWE3C8Uim0BojdpBafgfossmC+PvDSuStksNCy2uQUgk4dUtKV9g+6u/wv1y5uR2PL23IVAIBAikKoAgEnsFmOi+Xyz/sl2V7IE6ovDO8W4CzEuuV8jmiqja4sadfzVqV1Ys8448oRanU4bwDCsFCCL3iz8Sk8vNPuRir8IWL5egeQcroyNjHI9p9VevLyR38ycVUiDAuaKEsjq6vpx95WV7xae2l6xqCmGUHYOHiP6Km4SsMICs7LL/A91dvhk6yz+nNyOyTS91yCkNhDYQ2WkRsgUpKg4mkDGlx2AsqNTPlCJnSLHjWSi2kGt/EeYXzXIw3x3nrjTspeto8nDysIaQivV4SYkUpRJCpS5CaDsT1EwJDKVJSsMNiWRtt7g0EtaCf1ONAe8rq8Pn/AHMeR6VivoXCKQFICkHNokqBVOwxjWgxvBNBworLLnjDXrlMU6/JgsXLJhpMwJF7EbEe0K9b4ebj1PdzzW+C247L7hXGWTtruvG7T6jxXhcnhXw2/wCPQw5ovH/U165IbIspUwtCFK5WDYep0O2uSUwlQuWcpQOYseGiCLcvmjcR4BjwR86XZ4bhm2Tr9oc/KvquvduK+i93cT2cQpEikBSkNKElQKERKFxOUAa6BeLz8vVfp+HVhjUbU0sLZm0QCCPVcmPJbHbdfJrasWjUsbx3AvwpLxmLW24Fp1HsX0XH5dORTVo83mZMFsc7r2QsFzTiHg/iOGUgEHK67GhBpWnh4Lf1R9bJX3OS80YgA9oHbLbW++1T/HYPhP3WT5RpebJ7NZCAP06lR/j8PwtHKyfLh/NswGgZ/KVE+H4k/dZDf+b5+mQbV2VH2GH4Pucny6PNOJddPDBY7rApjgYP/KJ5OT5TuUGyY2d08pcWwHUuO5A7I+d+5ZcnJTj4prSNTLTDW2W+7S9d4bN95Ex29j00U8K82xRtfNXVkil1si0oQFKTCJKoCoMzzViaaQDuvnZ/nlmXbWNVN8CH4DL10WeT1Lw64zFmglBruO9CtOPMxkhTJH8ZeZMja0UABWug3NVr8F9ZEPEmUecivohBgQfvAV4hVWMnL+tnxULEMY/5eQpNB4x0L+qnSG75ZaGcLlIoH8Y6Ct3UvnfEfPkRD1OL5Y2z5MnzYVv7ui7eHOtwrnjtK9Xc5i0gKUCNaLC0AXLPLPTSZWrG5YXmeeyfYCvCxRudu2fKFlwh4+6YPBo6+xUyVnqIk7jnAxyDxY70KnFvrhW8xMS8yk8V9dHaHiT3QpiDooTEIuIJLHVew2NearKyJnbuCAyqLK1vy6+azlc9h9GgHTzVoVslMIJ0oq6u2z4TMGcMkYSAS54A69p4Xhc6kzyInT0+NaPptN9nmItkjPA2teN5ZP2nLH8NtivQlylQCCIoWCBH7FY8n8Ur09Tzjm7uyLx+M67msN3G+70XVPeXPVP/ACHyPoVn/aP2tPaWPm7q+ir6Xjx3VuI6I0g2FEpR3/6h9yxX93cvX/vRWVk9wzcLSFZWZ73vC58nqn9NsXpb37Oe/L5LzsP5Xdb8behejLlKgE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789040"/>
            <a:ext cx="1656184" cy="189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607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/>
          <a:lstStyle/>
          <a:p>
            <a:r>
              <a:rPr lang="en-GB" dirty="0" smtClean="0"/>
              <a:t>Generalisability of effects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273192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597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Near transfer – similar WM tasks</a:t>
            </a:r>
          </a:p>
          <a:p>
            <a:endParaRPr lang="en-GB" dirty="0"/>
          </a:p>
          <a:p>
            <a:r>
              <a:rPr lang="en-GB" dirty="0" smtClean="0"/>
              <a:t>Far transfer – different skills &amp; abilities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7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Gropper, </a:t>
            </a:r>
            <a:r>
              <a:rPr lang="en-GB" dirty="0" err="1" smtClean="0"/>
              <a:t>Gotlieb</a:t>
            </a:r>
            <a:r>
              <a:rPr lang="en-GB" dirty="0" smtClean="0"/>
              <a:t>, </a:t>
            </a:r>
            <a:r>
              <a:rPr lang="en-GB" dirty="0" err="1" smtClean="0"/>
              <a:t>Kronitz</a:t>
            </a:r>
            <a:r>
              <a:rPr lang="en-GB" dirty="0" smtClean="0"/>
              <a:t> &amp; </a:t>
            </a:r>
            <a:r>
              <a:rPr lang="en-GB" dirty="0" err="1" smtClean="0"/>
              <a:t>Tannock</a:t>
            </a:r>
            <a:r>
              <a:rPr lang="en-GB" dirty="0" smtClean="0"/>
              <a:t> (2014)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263752"/>
          </a:xfrm>
        </p:spPr>
        <p:txBody>
          <a:bodyPr>
            <a:normAutofit lnSpcReduction="10000"/>
          </a:bodyPr>
          <a:lstStyle/>
          <a:p>
            <a:endParaRPr lang="en-GB" dirty="0" smtClean="0"/>
          </a:p>
          <a:p>
            <a:r>
              <a:rPr lang="en-GB" dirty="0" smtClean="0"/>
              <a:t>62 college students</a:t>
            </a:r>
          </a:p>
          <a:p>
            <a:r>
              <a:rPr lang="en-GB" dirty="0" smtClean="0"/>
              <a:t>ADHD / learning difficulties</a:t>
            </a:r>
          </a:p>
          <a:p>
            <a:r>
              <a:rPr lang="en-GB" dirty="0" smtClean="0"/>
              <a:t>5 weeks </a:t>
            </a:r>
            <a:r>
              <a:rPr lang="en-GB" dirty="0" err="1" smtClean="0"/>
              <a:t>Cogmed</a:t>
            </a:r>
            <a:r>
              <a:rPr lang="en-GB" dirty="0" smtClean="0"/>
              <a:t> training</a:t>
            </a:r>
          </a:p>
          <a:p>
            <a:endParaRPr lang="en-GB" dirty="0"/>
          </a:p>
          <a:p>
            <a:r>
              <a:rPr lang="en-GB" dirty="0" smtClean="0"/>
              <a:t>standardised </a:t>
            </a:r>
            <a:r>
              <a:rPr lang="en-GB" dirty="0"/>
              <a:t>tests of auditory-verbal and </a:t>
            </a:r>
            <a:r>
              <a:rPr lang="en-GB" dirty="0" err="1" smtClean="0"/>
              <a:t>visuo</a:t>
            </a:r>
            <a:r>
              <a:rPr lang="en-GB" dirty="0" smtClean="0"/>
              <a:t>-spatial WM</a:t>
            </a:r>
          </a:p>
          <a:p>
            <a:r>
              <a:rPr lang="en-GB" dirty="0" smtClean="0"/>
              <a:t>Academic </a:t>
            </a:r>
            <a:r>
              <a:rPr lang="en-GB" dirty="0"/>
              <a:t>tasks </a:t>
            </a:r>
            <a:r>
              <a:rPr lang="en-GB" dirty="0" smtClean="0"/>
              <a:t>&amp; behavioural </a:t>
            </a:r>
            <a:r>
              <a:rPr lang="en-GB" dirty="0"/>
              <a:t>rating </a:t>
            </a:r>
            <a:r>
              <a:rPr lang="en-GB" dirty="0" smtClean="0"/>
              <a:t>scales (self-report)</a:t>
            </a:r>
          </a:p>
          <a:p>
            <a:r>
              <a:rPr lang="en-GB" dirty="0" smtClean="0"/>
              <a:t>Measured pre-</a:t>
            </a:r>
            <a:r>
              <a:rPr lang="en-GB" dirty="0" err="1" smtClean="0"/>
              <a:t>Cogmed</a:t>
            </a:r>
            <a:r>
              <a:rPr lang="en-GB" dirty="0" smtClean="0"/>
              <a:t>, 3 weeks later &amp; 2 months later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44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Gropper, </a:t>
            </a:r>
            <a:r>
              <a:rPr lang="en-GB" dirty="0" err="1" smtClean="0"/>
              <a:t>Gotlieb</a:t>
            </a:r>
            <a:r>
              <a:rPr lang="en-GB" dirty="0" smtClean="0"/>
              <a:t>, </a:t>
            </a:r>
            <a:r>
              <a:rPr lang="en-GB" dirty="0" err="1" smtClean="0"/>
              <a:t>Kronitz</a:t>
            </a:r>
            <a:r>
              <a:rPr lang="en-GB" dirty="0" smtClean="0"/>
              <a:t> &amp; </a:t>
            </a:r>
            <a:r>
              <a:rPr lang="en-GB" dirty="0" err="1" smtClean="0"/>
              <a:t>Tannock</a:t>
            </a:r>
            <a:r>
              <a:rPr lang="en-GB" dirty="0" smtClean="0"/>
              <a:t> (2014)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2637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 </a:t>
            </a:r>
            <a:r>
              <a:rPr lang="en-GB" dirty="0"/>
              <a:t>significantly greater improvements on </a:t>
            </a:r>
            <a:r>
              <a:rPr lang="en-GB" dirty="0" smtClean="0"/>
              <a:t>WM </a:t>
            </a:r>
            <a:r>
              <a:rPr lang="en-GB" dirty="0"/>
              <a:t>measures</a:t>
            </a:r>
            <a:endParaRPr lang="en-GB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</a:t>
            </a:r>
            <a:r>
              <a:rPr lang="en-GB" dirty="0"/>
              <a:t>lower rates of ADHD symptoms and cognitive </a:t>
            </a:r>
            <a:r>
              <a:rPr lang="en-GB" dirty="0" smtClean="0"/>
              <a:t>failures</a:t>
            </a:r>
          </a:p>
        </p:txBody>
      </p:sp>
    </p:spTree>
    <p:extLst>
      <p:ext uri="{BB962C8B-B14F-4D97-AF65-F5344CB8AC3E}">
        <p14:creationId xmlns:p14="http://schemas.microsoft.com/office/powerpoint/2010/main" val="213916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Chacko et al (2013)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85 children 7-11 years</a:t>
            </a:r>
          </a:p>
          <a:p>
            <a:r>
              <a:rPr lang="en-GB" dirty="0" smtClean="0"/>
              <a:t>ADHD</a:t>
            </a:r>
          </a:p>
          <a:p>
            <a:r>
              <a:rPr lang="en-GB" dirty="0" err="1" smtClean="0"/>
              <a:t>Cogmed</a:t>
            </a:r>
            <a:r>
              <a:rPr lang="en-GB" dirty="0" smtClean="0"/>
              <a:t> training vs placebo control group</a:t>
            </a:r>
          </a:p>
          <a:p>
            <a:endParaRPr lang="en-GB" dirty="0"/>
          </a:p>
          <a:p>
            <a:r>
              <a:rPr lang="en-GB" dirty="0" smtClean="0"/>
              <a:t>WM tasks</a:t>
            </a:r>
          </a:p>
          <a:p>
            <a:r>
              <a:rPr lang="en-GB" dirty="0" smtClean="0"/>
              <a:t>Parental &amp; Teacher ratings of attention, impulsivity &amp; academic achievement</a:t>
            </a:r>
          </a:p>
          <a:p>
            <a:r>
              <a:rPr lang="en-GB" dirty="0" smtClean="0"/>
              <a:t>Pre-training &amp; 3 weeks later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52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Chacko et al (2013)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Participants demonstrated greater gains on WM tasks</a:t>
            </a:r>
          </a:p>
          <a:p>
            <a:pPr marL="0" indent="0">
              <a:buNone/>
            </a:pPr>
            <a:r>
              <a:rPr lang="en-GB" dirty="0" smtClean="0"/>
              <a:t> </a:t>
            </a:r>
          </a:p>
          <a:p>
            <a:r>
              <a:rPr lang="en-GB" b="1" dirty="0" smtClean="0"/>
              <a:t>NO DIFFERENCES in parental &amp; teacher ratings of attention, impulsivity &amp; academic achievement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9984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dirty="0">
                <a:solidFill>
                  <a:schemeClr val="tx1"/>
                </a:solidFill>
              </a:rPr>
              <a:t>Melby-Lurvag and Hulme (2013) </a:t>
            </a:r>
            <a:endParaRPr lang="en-GB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899592" y="2780928"/>
            <a:ext cx="7200800" cy="2520280"/>
          </a:xfrm>
          <a:prstGeom prst="wedgeRoundRectCallou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No </a:t>
            </a:r>
            <a:r>
              <a:rPr lang="en-GB" sz="3200" dirty="0">
                <a:solidFill>
                  <a:schemeClr val="tx1"/>
                </a:solidFill>
              </a:rPr>
              <a:t>evidence that ‘training produces generalised gains to the other skills that have been investigated (verbal ability, word decoding, or arithmetic),’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2313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Maintenance of effects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708920"/>
            <a:ext cx="8229600" cy="4389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‘computer-based </a:t>
            </a:r>
            <a:r>
              <a:rPr lang="en-GB" sz="3600" b="1" i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GB" sz="36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for attention problems caused by poor working memory</a:t>
            </a:r>
            <a:r>
              <a:rPr lang="en-GB" sz="3600" dirty="0" smtClean="0">
                <a:solidFill>
                  <a:schemeClr val="accent6">
                    <a:lumMod val="75000"/>
                  </a:schemeClr>
                </a:solidFill>
              </a:rPr>
              <a:t>’</a:t>
            </a:r>
          </a:p>
          <a:p>
            <a:pPr marL="0" indent="0" algn="r">
              <a:buNone/>
            </a:pPr>
            <a:endParaRPr lang="en-GB" sz="20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en-GB" sz="20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(http://www.cogmed.com/program) </a:t>
            </a:r>
          </a:p>
        </p:txBody>
      </p:sp>
    </p:spTree>
    <p:extLst>
      <p:ext uri="{BB962C8B-B14F-4D97-AF65-F5344CB8AC3E}">
        <p14:creationId xmlns:p14="http://schemas.microsoft.com/office/powerpoint/2010/main" val="362090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80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Holmes, </a:t>
            </a:r>
            <a:r>
              <a:rPr lang="en-GB" dirty="0" err="1" smtClean="0"/>
              <a:t>Gathercole</a:t>
            </a:r>
            <a:r>
              <a:rPr lang="en-GB" dirty="0" smtClean="0"/>
              <a:t> &amp; Dunning (2009)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047728"/>
          </a:xfrm>
        </p:spPr>
        <p:txBody>
          <a:bodyPr>
            <a:normAutofit/>
          </a:bodyPr>
          <a:lstStyle/>
          <a:p>
            <a:r>
              <a:rPr lang="en-GB" dirty="0" smtClean="0"/>
              <a:t>22 children, 8-11 years</a:t>
            </a:r>
          </a:p>
          <a:p>
            <a:r>
              <a:rPr lang="en-GB" dirty="0" smtClean="0"/>
              <a:t>Low WM scores (AWMA)</a:t>
            </a:r>
          </a:p>
          <a:p>
            <a:r>
              <a:rPr lang="en-GB" dirty="0" err="1" smtClean="0"/>
              <a:t>Cogmed</a:t>
            </a:r>
            <a:r>
              <a:rPr lang="en-GB" dirty="0" smtClean="0"/>
              <a:t> adaptive training</a:t>
            </a:r>
          </a:p>
          <a:p>
            <a:endParaRPr lang="en-GB" dirty="0"/>
          </a:p>
          <a:p>
            <a:r>
              <a:rPr lang="en-GB" dirty="0" smtClean="0"/>
              <a:t>Assessments: AWMA, instructional task, Wechsler </a:t>
            </a:r>
            <a:r>
              <a:rPr lang="en-GB" dirty="0"/>
              <a:t>Abbreviated </a:t>
            </a:r>
            <a:r>
              <a:rPr lang="en-GB" dirty="0" smtClean="0"/>
              <a:t>Scales of Intelligence</a:t>
            </a:r>
            <a:endParaRPr lang="en-GB" dirty="0"/>
          </a:p>
          <a:p>
            <a:r>
              <a:rPr lang="en-GB" dirty="0" smtClean="0"/>
              <a:t>Pre-intervention, 1 week later &amp; 6 months later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972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80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Holmes, </a:t>
            </a:r>
            <a:r>
              <a:rPr lang="en-GB" dirty="0" err="1" smtClean="0"/>
              <a:t>Gathercole</a:t>
            </a:r>
            <a:r>
              <a:rPr lang="en-GB" dirty="0" smtClean="0"/>
              <a:t> &amp; Dunning (2009)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047728"/>
          </a:xfrm>
        </p:spPr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Significant gains in WM scores (greater for adaptive training </a:t>
            </a:r>
            <a:r>
              <a:rPr lang="en-GB" dirty="0" err="1" smtClean="0">
                <a:sym typeface="Wingdings" panose="05000000000000000000" pitchFamily="2" charset="2"/>
              </a:rPr>
              <a:t>ps</a:t>
            </a:r>
            <a:r>
              <a:rPr lang="en-GB" dirty="0" smtClean="0">
                <a:sym typeface="Wingdings" panose="05000000000000000000" pitchFamily="2" charset="2"/>
              </a:rPr>
              <a:t>)</a:t>
            </a:r>
          </a:p>
          <a:p>
            <a:pPr>
              <a:buFont typeface="Wingdings"/>
              <a:buChar char="à"/>
            </a:pPr>
            <a:r>
              <a:rPr lang="en-GB" dirty="0" smtClean="0">
                <a:sym typeface="Wingdings" panose="05000000000000000000" pitchFamily="2" charset="2"/>
              </a:rPr>
              <a:t>Remained significant at 6 months</a:t>
            </a:r>
          </a:p>
          <a:p>
            <a:pPr>
              <a:buFont typeface="Wingdings"/>
              <a:buChar char="à"/>
            </a:pPr>
            <a:r>
              <a:rPr lang="en-GB" dirty="0" smtClean="0">
                <a:sym typeface="Wingdings" panose="05000000000000000000" pitchFamily="2" charset="2"/>
              </a:rPr>
              <a:t>Significant gains in mathematical reasoning for adaptive </a:t>
            </a:r>
            <a:r>
              <a:rPr lang="en-GB" dirty="0" err="1" smtClean="0">
                <a:sym typeface="Wingdings" panose="05000000000000000000" pitchFamily="2" charset="2"/>
              </a:rPr>
              <a:t>ps</a:t>
            </a:r>
            <a:r>
              <a:rPr lang="en-GB" dirty="0" smtClean="0">
                <a:sym typeface="Wingdings" panose="05000000000000000000" pitchFamily="2" charset="2"/>
              </a:rPr>
              <a:t> 6 months later (but not immediately after training)</a:t>
            </a:r>
          </a:p>
          <a:p>
            <a:pPr>
              <a:buFont typeface="Wingdings"/>
              <a:buChar char="à"/>
            </a:pPr>
            <a:r>
              <a:rPr lang="en-GB" b="1" dirty="0" smtClean="0">
                <a:sym typeface="Wingdings" panose="05000000000000000000" pitchFamily="2" charset="2"/>
              </a:rPr>
              <a:t>No significant improvements at (6 months) in all other far transfer measures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00162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dirty="0">
                <a:solidFill>
                  <a:schemeClr val="tx1"/>
                </a:solidFill>
              </a:rPr>
              <a:t>Melby-Lurvag and Hulme (2013) </a:t>
            </a:r>
            <a:endParaRPr lang="en-GB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971600" y="2348880"/>
            <a:ext cx="7344816" cy="3312368"/>
          </a:xfrm>
          <a:prstGeom prst="wedgeRoundRectCallou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‘participants</a:t>
            </a:r>
            <a:r>
              <a:rPr lang="en-GB" sz="3200" dirty="0">
                <a:solidFill>
                  <a:schemeClr val="tx1"/>
                </a:solidFill>
              </a:rPr>
              <a:t>’ scores on all of these sorts of measures, including attentional control, arithmetic, and word decoding tests, were not significantly improved compared to the control groups after a </a:t>
            </a:r>
            <a:r>
              <a:rPr lang="en-GB" sz="3200" dirty="0" smtClean="0">
                <a:solidFill>
                  <a:schemeClr val="tx1"/>
                </a:solidFill>
              </a:rPr>
              <a:t>delay’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25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Likely to be an effective short term, specific intervention</a:t>
            </a:r>
          </a:p>
          <a:p>
            <a:r>
              <a:rPr lang="en-GB" dirty="0" smtClean="0"/>
              <a:t>Transfer to other tasks &amp; abilities unlikely</a:t>
            </a:r>
          </a:p>
          <a:p>
            <a:r>
              <a:rPr lang="en-GB" dirty="0" smtClean="0"/>
              <a:t>Maintenance over time also </a:t>
            </a:r>
            <a:r>
              <a:rPr lang="en-GB" dirty="0" smtClean="0"/>
              <a:t>unlikely</a:t>
            </a:r>
            <a:endParaRPr lang="en-GB" dirty="0"/>
          </a:p>
          <a:p>
            <a:r>
              <a:rPr lang="en-GB" dirty="0" smtClean="0"/>
              <a:t>EPs might take a </a:t>
            </a:r>
            <a:r>
              <a:rPr lang="en-GB" dirty="0" smtClean="0"/>
              <a:t>sceptical </a:t>
            </a:r>
            <a:r>
              <a:rPr lang="en-GB" dirty="0" smtClean="0"/>
              <a:t>stance; more focus on environmental and coping strategies to support poor WM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468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756</TotalTime>
  <Words>883</Words>
  <Application>Microsoft Office PowerPoint</Application>
  <PresentationFormat>On-screen Show (4:3)</PresentationFormat>
  <Paragraphs>166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Flow</vt:lpstr>
      <vt:lpstr>Cogmed Working  Memory Training</vt:lpstr>
      <vt:lpstr>PowerPoint Presentation</vt:lpstr>
      <vt:lpstr>What is it?</vt:lpstr>
      <vt:lpstr>Working Memory</vt:lpstr>
      <vt:lpstr>Working Memory</vt:lpstr>
      <vt:lpstr>Link between WM &amp; Learning</vt:lpstr>
      <vt:lpstr>Flexible/fixed capacity?</vt:lpstr>
      <vt:lpstr>Neuroplasticity </vt:lpstr>
      <vt:lpstr>Neuroplasticity  cont…</vt:lpstr>
      <vt:lpstr>What does the research say?</vt:lpstr>
      <vt:lpstr>But…</vt:lpstr>
      <vt:lpstr>Generalisability of effects</vt:lpstr>
      <vt:lpstr>PowerPoint Presentation</vt:lpstr>
      <vt:lpstr>Gropper, Gotlieb, Kronitz &amp; Tannock (2014)</vt:lpstr>
      <vt:lpstr>Gropper, Gotlieb, Kronitz &amp; Tannock (2014)</vt:lpstr>
      <vt:lpstr>Chacko et al (2013)</vt:lpstr>
      <vt:lpstr>Chacko et al (2013)</vt:lpstr>
      <vt:lpstr>Melby-Lurvag and Hulme (2013) </vt:lpstr>
      <vt:lpstr>Maintenance of effects</vt:lpstr>
      <vt:lpstr>Holmes, Gathercole &amp; Dunning (2009)</vt:lpstr>
      <vt:lpstr>Holmes, Gathercole &amp; Dunning (2009)</vt:lpstr>
      <vt:lpstr>Melby-Lurvag and Hulme (2013) 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Cogmed Working  Memory Training</dc:title>
  <dc:creator>Hayley Frisby</dc:creator>
  <cp:lastModifiedBy>Hayley Frisby</cp:lastModifiedBy>
  <cp:revision>28</cp:revision>
  <cp:lastPrinted>2014-12-18T21:36:35Z</cp:lastPrinted>
  <dcterms:created xsi:type="dcterms:W3CDTF">2014-12-15T13:45:00Z</dcterms:created>
  <dcterms:modified xsi:type="dcterms:W3CDTF">2014-12-18T22:48:54Z</dcterms:modified>
</cp:coreProperties>
</file>