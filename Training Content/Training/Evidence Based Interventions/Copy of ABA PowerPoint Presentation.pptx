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259" r:id="rId3"/>
    <p:sldId id="260" r:id="rId4"/>
    <p:sldId id="257" r:id="rId5"/>
    <p:sldId id="261" r:id="rId6"/>
    <p:sldId id="263" r:id="rId7"/>
    <p:sldId id="265" r:id="rId8"/>
    <p:sldId id="264" r:id="rId9"/>
    <p:sldId id="258" r:id="rId10"/>
    <p:sldId id="266" r:id="rId11"/>
    <p:sldId id="268" r:id="rId12"/>
    <p:sldId id="269" r:id="rId13"/>
    <p:sldId id="273" r:id="rId14"/>
    <p:sldId id="274" r:id="rId15"/>
    <p:sldId id="271" r:id="rId16"/>
    <p:sldId id="262" r:id="rId17"/>
    <p:sldId id="272" r:id="rId18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621" autoAdjust="0"/>
  </p:normalViewPr>
  <p:slideViewPr>
    <p:cSldViewPr>
      <p:cViewPr varScale="1">
        <p:scale>
          <a:sx n="63" d="100"/>
          <a:sy n="63" d="100"/>
        </p:scale>
        <p:origin x="17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F0D04D-D415-4D7E-9539-398D0AA1CEA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31F247F5-2F82-4C3D-9B78-2F7B6B2CD6A1}">
      <dgm:prSet phldrT="[Text]"/>
      <dgm:spPr/>
      <dgm:t>
        <a:bodyPr/>
        <a:lstStyle/>
        <a:p>
          <a:pPr algn="ctr"/>
          <a:r>
            <a:rPr lang="en-GB" dirty="0" smtClean="0"/>
            <a:t>Traditional behavioural (ABA)</a:t>
          </a:r>
          <a:endParaRPr lang="en-GB" dirty="0"/>
        </a:p>
      </dgm:t>
    </dgm:pt>
    <dgm:pt modelId="{AAE4F514-E8AA-4A08-8F65-13EC62710C76}" type="parTrans" cxnId="{EABEF00E-D40F-453B-B081-138FC947F1E7}">
      <dgm:prSet/>
      <dgm:spPr/>
      <dgm:t>
        <a:bodyPr/>
        <a:lstStyle/>
        <a:p>
          <a:endParaRPr lang="en-GB"/>
        </a:p>
      </dgm:t>
    </dgm:pt>
    <dgm:pt modelId="{8A3DF901-A0A6-4E64-9153-9112384AB5A1}" type="sibTrans" cxnId="{EABEF00E-D40F-453B-B081-138FC947F1E7}">
      <dgm:prSet/>
      <dgm:spPr/>
      <dgm:t>
        <a:bodyPr/>
        <a:lstStyle/>
        <a:p>
          <a:endParaRPr lang="en-GB"/>
        </a:p>
      </dgm:t>
    </dgm:pt>
    <dgm:pt modelId="{26480918-3CEB-4E35-9417-3128D3D2620E}">
      <dgm:prSet phldrT="[Text]"/>
      <dgm:spPr/>
      <dgm:t>
        <a:bodyPr/>
        <a:lstStyle/>
        <a:p>
          <a:r>
            <a:rPr lang="en-GB" dirty="0" smtClean="0"/>
            <a:t>Contemporary behavioural (ABA?)</a:t>
          </a:r>
          <a:endParaRPr lang="en-GB" dirty="0"/>
        </a:p>
      </dgm:t>
    </dgm:pt>
    <dgm:pt modelId="{37FA9376-854A-4AD1-A9E2-3FD7597F9AC1}" type="parTrans" cxnId="{8E76E694-A2B7-4288-9021-6D938D03D740}">
      <dgm:prSet/>
      <dgm:spPr/>
      <dgm:t>
        <a:bodyPr/>
        <a:lstStyle/>
        <a:p>
          <a:endParaRPr lang="en-GB"/>
        </a:p>
      </dgm:t>
    </dgm:pt>
    <dgm:pt modelId="{B665971D-F574-4CEB-8069-5A401AFF6FB9}" type="sibTrans" cxnId="{8E76E694-A2B7-4288-9021-6D938D03D740}">
      <dgm:prSet/>
      <dgm:spPr/>
      <dgm:t>
        <a:bodyPr/>
        <a:lstStyle/>
        <a:p>
          <a:endParaRPr lang="en-GB"/>
        </a:p>
      </dgm:t>
    </dgm:pt>
    <dgm:pt modelId="{CAA0D968-E190-4718-A059-8EB8AE32F55D}">
      <dgm:prSet phldrT="[Text]"/>
      <dgm:spPr/>
      <dgm:t>
        <a:bodyPr/>
        <a:lstStyle/>
        <a:p>
          <a:r>
            <a:rPr lang="en-GB" dirty="0" smtClean="0"/>
            <a:t>Social-Pragmatic Developmental (ABA elements?)</a:t>
          </a:r>
          <a:endParaRPr lang="en-GB" dirty="0"/>
        </a:p>
      </dgm:t>
    </dgm:pt>
    <dgm:pt modelId="{BD484348-C2A9-42BD-AB8D-9F7B96E78CE2}" type="parTrans" cxnId="{363BF284-9008-4F9B-AA87-5E0DB4CB46B2}">
      <dgm:prSet/>
      <dgm:spPr/>
      <dgm:t>
        <a:bodyPr/>
        <a:lstStyle/>
        <a:p>
          <a:endParaRPr lang="en-GB"/>
        </a:p>
      </dgm:t>
    </dgm:pt>
    <dgm:pt modelId="{48A3959C-5A37-4104-8AF6-5976F97C250E}" type="sibTrans" cxnId="{363BF284-9008-4F9B-AA87-5E0DB4CB46B2}">
      <dgm:prSet/>
      <dgm:spPr/>
      <dgm:t>
        <a:bodyPr/>
        <a:lstStyle/>
        <a:p>
          <a:endParaRPr lang="en-GB"/>
        </a:p>
      </dgm:t>
    </dgm:pt>
    <dgm:pt modelId="{CA075C61-D93D-4E32-AB93-3BDCD86223D7}" type="pres">
      <dgm:prSet presAssocID="{8EF0D04D-D415-4D7E-9539-398D0AA1CEAB}" presName="CompostProcess" presStyleCnt="0">
        <dgm:presLayoutVars>
          <dgm:dir/>
          <dgm:resizeHandles val="exact"/>
        </dgm:presLayoutVars>
      </dgm:prSet>
      <dgm:spPr/>
    </dgm:pt>
    <dgm:pt modelId="{40A55B7E-CAE3-44FE-B734-B9750396D060}" type="pres">
      <dgm:prSet presAssocID="{8EF0D04D-D415-4D7E-9539-398D0AA1CEAB}" presName="arrow" presStyleLbl="bgShp" presStyleIdx="0" presStyleCnt="1" custLinFactNeighborY="-353"/>
      <dgm:spPr/>
    </dgm:pt>
    <dgm:pt modelId="{CF23BD0E-9596-4391-9346-9AEDAF4AECFB}" type="pres">
      <dgm:prSet presAssocID="{8EF0D04D-D415-4D7E-9539-398D0AA1CEAB}" presName="linearProcess" presStyleCnt="0"/>
      <dgm:spPr/>
    </dgm:pt>
    <dgm:pt modelId="{E0F930B6-D268-4620-B2D9-2C40C82BEFF5}" type="pres">
      <dgm:prSet presAssocID="{31F247F5-2F82-4C3D-9B78-2F7B6B2CD6A1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ECD861-2B48-4252-B64F-A110CECC2077}" type="pres">
      <dgm:prSet presAssocID="{8A3DF901-A0A6-4E64-9153-9112384AB5A1}" presName="sibTrans" presStyleCnt="0"/>
      <dgm:spPr/>
    </dgm:pt>
    <dgm:pt modelId="{527A24A2-3A06-41EF-AB1B-7DEC925C552E}" type="pres">
      <dgm:prSet presAssocID="{26480918-3CEB-4E35-9417-3128D3D2620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B9A7D2D-4319-4604-B5CF-F908D17EAFC3}" type="pres">
      <dgm:prSet presAssocID="{B665971D-F574-4CEB-8069-5A401AFF6FB9}" presName="sibTrans" presStyleCnt="0"/>
      <dgm:spPr/>
    </dgm:pt>
    <dgm:pt modelId="{A8D6518D-8F3C-4DD8-AAAE-DA68F6B57244}" type="pres">
      <dgm:prSet presAssocID="{CAA0D968-E190-4718-A059-8EB8AE32F55D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63BF284-9008-4F9B-AA87-5E0DB4CB46B2}" srcId="{8EF0D04D-D415-4D7E-9539-398D0AA1CEAB}" destId="{CAA0D968-E190-4718-A059-8EB8AE32F55D}" srcOrd="2" destOrd="0" parTransId="{BD484348-C2A9-42BD-AB8D-9F7B96E78CE2}" sibTransId="{48A3959C-5A37-4104-8AF6-5976F97C250E}"/>
    <dgm:cxn modelId="{8E76E694-A2B7-4288-9021-6D938D03D740}" srcId="{8EF0D04D-D415-4D7E-9539-398D0AA1CEAB}" destId="{26480918-3CEB-4E35-9417-3128D3D2620E}" srcOrd="1" destOrd="0" parTransId="{37FA9376-854A-4AD1-A9E2-3FD7597F9AC1}" sibTransId="{B665971D-F574-4CEB-8069-5A401AFF6FB9}"/>
    <dgm:cxn modelId="{EABEF00E-D40F-453B-B081-138FC947F1E7}" srcId="{8EF0D04D-D415-4D7E-9539-398D0AA1CEAB}" destId="{31F247F5-2F82-4C3D-9B78-2F7B6B2CD6A1}" srcOrd="0" destOrd="0" parTransId="{AAE4F514-E8AA-4A08-8F65-13EC62710C76}" sibTransId="{8A3DF901-A0A6-4E64-9153-9112384AB5A1}"/>
    <dgm:cxn modelId="{37893131-E90F-4EF1-86EE-8AACB1D0FFE2}" type="presOf" srcId="{CAA0D968-E190-4718-A059-8EB8AE32F55D}" destId="{A8D6518D-8F3C-4DD8-AAAE-DA68F6B57244}" srcOrd="0" destOrd="0" presId="urn:microsoft.com/office/officeart/2005/8/layout/hProcess9"/>
    <dgm:cxn modelId="{E1668702-EB7E-4AE8-86D1-9D7345248D8A}" type="presOf" srcId="{26480918-3CEB-4E35-9417-3128D3D2620E}" destId="{527A24A2-3A06-41EF-AB1B-7DEC925C552E}" srcOrd="0" destOrd="0" presId="urn:microsoft.com/office/officeart/2005/8/layout/hProcess9"/>
    <dgm:cxn modelId="{A57F15E5-B0F9-49D9-AA1A-378E25AEB2A5}" type="presOf" srcId="{31F247F5-2F82-4C3D-9B78-2F7B6B2CD6A1}" destId="{E0F930B6-D268-4620-B2D9-2C40C82BEFF5}" srcOrd="0" destOrd="0" presId="urn:microsoft.com/office/officeart/2005/8/layout/hProcess9"/>
    <dgm:cxn modelId="{7DFB2B45-A272-4D52-A41A-4F0BA0888236}" type="presOf" srcId="{8EF0D04D-D415-4D7E-9539-398D0AA1CEAB}" destId="{CA075C61-D93D-4E32-AB93-3BDCD86223D7}" srcOrd="0" destOrd="0" presId="urn:microsoft.com/office/officeart/2005/8/layout/hProcess9"/>
    <dgm:cxn modelId="{1C6B57C1-994F-4D3C-B7F0-160B469292C4}" type="presParOf" srcId="{CA075C61-D93D-4E32-AB93-3BDCD86223D7}" destId="{40A55B7E-CAE3-44FE-B734-B9750396D060}" srcOrd="0" destOrd="0" presId="urn:microsoft.com/office/officeart/2005/8/layout/hProcess9"/>
    <dgm:cxn modelId="{899A503C-47F9-41B4-B51D-326A98826615}" type="presParOf" srcId="{CA075C61-D93D-4E32-AB93-3BDCD86223D7}" destId="{CF23BD0E-9596-4391-9346-9AEDAF4AECFB}" srcOrd="1" destOrd="0" presId="urn:microsoft.com/office/officeart/2005/8/layout/hProcess9"/>
    <dgm:cxn modelId="{F54FD4DA-5EBA-47C6-8734-492EB89C9F0E}" type="presParOf" srcId="{CF23BD0E-9596-4391-9346-9AEDAF4AECFB}" destId="{E0F930B6-D268-4620-B2D9-2C40C82BEFF5}" srcOrd="0" destOrd="0" presId="urn:microsoft.com/office/officeart/2005/8/layout/hProcess9"/>
    <dgm:cxn modelId="{9350C149-2E12-485A-8B02-290D92FDFE6B}" type="presParOf" srcId="{CF23BD0E-9596-4391-9346-9AEDAF4AECFB}" destId="{54ECD861-2B48-4252-B64F-A110CECC2077}" srcOrd="1" destOrd="0" presId="urn:microsoft.com/office/officeart/2005/8/layout/hProcess9"/>
    <dgm:cxn modelId="{B7DDFF8B-38D1-4AAC-A87A-5E62D60129E6}" type="presParOf" srcId="{CF23BD0E-9596-4391-9346-9AEDAF4AECFB}" destId="{527A24A2-3A06-41EF-AB1B-7DEC925C552E}" srcOrd="2" destOrd="0" presId="urn:microsoft.com/office/officeart/2005/8/layout/hProcess9"/>
    <dgm:cxn modelId="{122725C0-1C8B-45C9-995B-B9988EE82EB5}" type="presParOf" srcId="{CF23BD0E-9596-4391-9346-9AEDAF4AECFB}" destId="{6B9A7D2D-4319-4604-B5CF-F908D17EAFC3}" srcOrd="3" destOrd="0" presId="urn:microsoft.com/office/officeart/2005/8/layout/hProcess9"/>
    <dgm:cxn modelId="{A3557912-B6F6-4B57-91AF-F8B0A292BE09}" type="presParOf" srcId="{CF23BD0E-9596-4391-9346-9AEDAF4AECFB}" destId="{A8D6518D-8F3C-4DD8-AAAE-DA68F6B5724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7058A-8E2F-40F2-A321-D50C03771571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26F94-033B-46D4-AC60-9E7543DE641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232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[2</a:t>
            </a:r>
            <a:r>
              <a:rPr lang="en-GB" b="1" baseline="0" dirty="0" smtClean="0"/>
              <a:t> minutes]</a:t>
            </a:r>
          </a:p>
          <a:p>
            <a:endParaRPr lang="en-GB" b="1" dirty="0" smtClean="0"/>
          </a:p>
          <a:p>
            <a:r>
              <a:rPr lang="en-GB" dirty="0" smtClean="0"/>
              <a:t>Dilemma</a:t>
            </a:r>
            <a:r>
              <a:rPr lang="en-GB" baseline="0" dirty="0" smtClean="0"/>
              <a:t> presented by critiquing an intervention to ‘treat’ autism</a:t>
            </a:r>
          </a:p>
          <a:p>
            <a:pPr>
              <a:buFont typeface="Arial" pitchFamily="34" charset="0"/>
              <a:buChar char="•"/>
            </a:pPr>
            <a:r>
              <a:rPr lang="en-GB" baseline="0" dirty="0" smtClean="0"/>
              <a:t>Compare with Reading Recovery – specific intervention with straightforward, uncontroversial outcomes – we can all agree that recovering a child’s reading ability is a necessary, appropriate and positive goal</a:t>
            </a:r>
          </a:p>
          <a:p>
            <a:pPr>
              <a:buFont typeface="Arial" pitchFamily="34" charset="0"/>
              <a:buChar char="•"/>
            </a:pPr>
            <a:r>
              <a:rPr lang="en-GB" baseline="0" dirty="0" smtClean="0"/>
              <a:t>With ABA two major complicating factors:</a:t>
            </a:r>
          </a:p>
          <a:p>
            <a:pPr lvl="1">
              <a:buFont typeface="Arial" pitchFamily="34" charset="0"/>
              <a:buChar char="•"/>
            </a:pPr>
            <a:r>
              <a:rPr lang="en-GB" baseline="0" dirty="0" smtClean="0"/>
              <a:t> not dealing here with any specific intervention, but actually a set of behavioural principles, which have been applied to a range of interventions</a:t>
            </a:r>
          </a:p>
          <a:p>
            <a:pPr lvl="1">
              <a:buFont typeface="Arial" pitchFamily="34" charset="0"/>
              <a:buChar char="•"/>
            </a:pPr>
            <a:r>
              <a:rPr lang="en-GB" baseline="0" dirty="0" smtClean="0"/>
              <a:t> secondly, I’m not dealing here with outcome measures that are unanimously seen as appropriate – if you asked somebody of they would like to cured of their asthma or their diabetes, I don’t think there would any doubt about their response.  If you asked somebody if they would like to be cured of their autism, you might be in for a much more tense conversation.... – Contrast between Autism as Neurodiversity, as an identity to be celebrated, and Autism as a disease that requires treatment and awaits a cure.</a:t>
            </a:r>
          </a:p>
          <a:p>
            <a:pPr lvl="1">
              <a:buFont typeface="Arial" pitchFamily="34" charset="0"/>
              <a:buChar char="•"/>
            </a:pPr>
            <a:endParaRPr lang="en-GB" baseline="0" dirty="0" smtClean="0"/>
          </a:p>
          <a:p>
            <a:pPr lvl="0">
              <a:buFont typeface="Arial" pitchFamily="34" charset="0"/>
              <a:buChar char="•"/>
            </a:pPr>
            <a:r>
              <a:rPr lang="en-GB" baseline="0" dirty="0" smtClean="0"/>
              <a:t>Explain that this is more than a critique of the empirical evidence. It’s also a debate as to the appropriateness and safety of ABA as a treatment.</a:t>
            </a:r>
          </a:p>
          <a:p>
            <a:pPr lvl="0">
              <a:buFont typeface="Arial" pitchFamily="34" charset="0"/>
              <a:buChar char="•"/>
            </a:pPr>
            <a:r>
              <a:rPr lang="en-GB" baseline="0" dirty="0" smtClean="0"/>
              <a:t>Point out that because of these wider considerations, I plan for this to be a slightly extended and interactive talk, with a few u tube videos and a couple of discussion points</a:t>
            </a:r>
          </a:p>
          <a:p>
            <a:pPr lvl="0">
              <a:buFont typeface="Arial" pitchFamily="34" charset="0"/>
              <a:buNone/>
            </a:pPr>
            <a:endParaRPr lang="en-GB" baseline="0" dirty="0" smtClean="0"/>
          </a:p>
          <a:p>
            <a:pPr lvl="1">
              <a:buFont typeface="Arial" pitchFamily="34" charset="0"/>
              <a:buChar char="•"/>
            </a:pPr>
            <a:endParaRPr lang="en-GB" baseline="0" dirty="0" smtClean="0"/>
          </a:p>
          <a:p>
            <a:pPr>
              <a:buFont typeface="Arial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135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[1</a:t>
            </a:r>
            <a:r>
              <a:rPr lang="en-GB" b="1" baseline="0" dirty="0" smtClean="0"/>
              <a:t> minute]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856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 smtClean="0"/>
              <a:t>[2</a:t>
            </a:r>
            <a:r>
              <a:rPr lang="en-GB" b="1" baseline="0" dirty="0" smtClean="0"/>
              <a:t> minutes]</a:t>
            </a:r>
            <a:endParaRPr lang="en-GB" b="1" dirty="0" smtClean="0"/>
          </a:p>
          <a:p>
            <a:endParaRPr lang="en-GB" b="1" dirty="0" smtClean="0"/>
          </a:p>
          <a:p>
            <a:r>
              <a:rPr lang="en-GB" b="1" dirty="0" smtClean="0"/>
              <a:t>Social Communication</a:t>
            </a:r>
          </a:p>
          <a:p>
            <a:r>
              <a:rPr lang="en-GB" dirty="0" smtClean="0"/>
              <a:t>Verbal and non-verbal</a:t>
            </a:r>
            <a:r>
              <a:rPr lang="en-GB" baseline="0" dirty="0" smtClean="0"/>
              <a:t> communication difficulties</a:t>
            </a:r>
          </a:p>
          <a:p>
            <a:r>
              <a:rPr lang="en-GB" baseline="0" dirty="0" smtClean="0"/>
              <a:t>Particular difficulties with:</a:t>
            </a:r>
          </a:p>
          <a:p>
            <a:pPr>
              <a:buFont typeface="Arial" pitchFamily="34" charset="0"/>
              <a:buChar char="•"/>
            </a:pPr>
            <a:r>
              <a:rPr lang="en-GB" baseline="0" dirty="0" smtClean="0"/>
              <a:t>Language difficulties – speech typically delayed, and some do not develop speech or only speak using single words</a:t>
            </a:r>
          </a:p>
          <a:p>
            <a:pPr>
              <a:buFont typeface="Arial" pitchFamily="34" charset="0"/>
              <a:buChar char="•"/>
            </a:pPr>
            <a:r>
              <a:rPr lang="en-GB" baseline="0" dirty="0" smtClean="0"/>
              <a:t>Expressing their feelings – using words, facial expressions, tone of voice and non-verbal gestures to convey their feelings</a:t>
            </a:r>
          </a:p>
          <a:p>
            <a:endParaRPr lang="en-GB" baseline="0" dirty="0" smtClean="0"/>
          </a:p>
          <a:p>
            <a:r>
              <a:rPr lang="en-GB" b="1" baseline="0" dirty="0" smtClean="0"/>
              <a:t>Social Interaction</a:t>
            </a:r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Difficulties with social awareness and understanding: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baseline="0" dirty="0" smtClean="0"/>
              <a:t> Difficulties with grasping social conventions; struggle particularly with reciprocal, transactional nature of social exchanges – may show difficulties with taking turns</a:t>
            </a: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Particular difficulties with making eye contact</a:t>
            </a:r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Lack of responsiveness to social cues and initiation</a:t>
            </a:r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May be indifferent/averse to physical contact</a:t>
            </a:r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Range from preferring to be solitary to wanting to make friends but finding this very difficult</a:t>
            </a:r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None/>
            </a:pPr>
            <a:r>
              <a:rPr lang="en-GB" b="1" baseline="0" dirty="0" smtClean="0"/>
              <a:t>Repetitive, restrictive behaviours</a:t>
            </a:r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Rituals/routines/stereotypical behaviours associated with autism:</a:t>
            </a:r>
          </a:p>
          <a:p>
            <a:pPr lvl="1">
              <a:buFont typeface="Arial" pitchFamily="34" charset="0"/>
              <a:buChar char="•"/>
            </a:pPr>
            <a:r>
              <a:rPr lang="en-GB" b="0" baseline="0" dirty="0" smtClean="0"/>
              <a:t>Lower level (e.g. Repetitive motor movements: hand-flapping, rocking, spinning)</a:t>
            </a:r>
          </a:p>
          <a:p>
            <a:pPr lvl="1">
              <a:buFont typeface="Arial" pitchFamily="34" charset="0"/>
              <a:buChar char="•"/>
            </a:pPr>
            <a:r>
              <a:rPr lang="en-GB" b="0" baseline="0" dirty="0" smtClean="0"/>
              <a:t>Higher level (e.g. Fixations on established routines, ritualistic behaviours, preoccupations with certain topics</a:t>
            </a:r>
          </a:p>
          <a:p>
            <a:pPr lvl="0">
              <a:buFont typeface="Arial" pitchFamily="34" charset="0"/>
              <a:buNone/>
            </a:pPr>
            <a:endParaRPr lang="en-GB" b="1" baseline="0" dirty="0" smtClean="0"/>
          </a:p>
          <a:p>
            <a:pPr lvl="0">
              <a:buFont typeface="Arial" pitchFamily="34" charset="0"/>
              <a:buNone/>
            </a:pPr>
            <a:r>
              <a:rPr lang="en-GB" b="1" baseline="0" dirty="0" smtClean="0"/>
              <a:t>Sensory sensitivity</a:t>
            </a:r>
          </a:p>
          <a:p>
            <a:pPr lvl="0">
              <a:buFont typeface="Arial" pitchFamily="34" charset="0"/>
              <a:buChar char="•"/>
            </a:pPr>
            <a:r>
              <a:rPr lang="en-GB" b="0" baseline="0" dirty="0" smtClean="0"/>
              <a:t>Hypersensitivity/hyposensitivity</a:t>
            </a:r>
          </a:p>
          <a:p>
            <a:pPr lvl="0">
              <a:buFont typeface="Arial" pitchFamily="34" charset="0"/>
              <a:buChar char="•"/>
            </a:pPr>
            <a:endParaRPr lang="en-GB" b="0" baseline="0" dirty="0" smtClean="0"/>
          </a:p>
          <a:p>
            <a:pPr lvl="0">
              <a:buFont typeface="Arial" pitchFamily="34" charset="0"/>
              <a:buNone/>
            </a:pPr>
            <a:r>
              <a:rPr lang="en-GB" b="1" baseline="0" dirty="0" smtClean="0"/>
              <a:t>Challenging behaviours</a:t>
            </a:r>
          </a:p>
          <a:p>
            <a:pPr lvl="0">
              <a:buFont typeface="Arial" pitchFamily="34" charset="0"/>
              <a:buChar char="•"/>
            </a:pPr>
            <a:r>
              <a:rPr lang="en-GB" b="0" baseline="0" dirty="0" smtClean="0"/>
              <a:t>Aggression, self-injury</a:t>
            </a:r>
          </a:p>
          <a:p>
            <a:pPr lvl="0">
              <a:buFont typeface="Arial" pitchFamily="34" charset="0"/>
              <a:buNone/>
            </a:pPr>
            <a:endParaRPr lang="en-GB" b="0" baseline="0" dirty="0" smtClean="0"/>
          </a:p>
          <a:p>
            <a:pPr lvl="1">
              <a:buFont typeface="Arial" pitchFamily="34" charset="0"/>
              <a:buNone/>
            </a:pPr>
            <a:endParaRPr lang="en-GB" b="0" baseline="0" dirty="0" smtClean="0"/>
          </a:p>
          <a:p>
            <a:pPr>
              <a:buFont typeface="Arial" pitchFamily="34" charset="0"/>
              <a:buNone/>
            </a:pPr>
            <a:endParaRPr lang="en-GB" b="0" baseline="0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341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[1 minute – talk through</a:t>
            </a:r>
            <a:r>
              <a:rPr lang="en-GB" b="1" baseline="0" dirty="0" smtClean="0"/>
              <a:t> slide]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21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GB" b="1" dirty="0" smtClean="0"/>
              <a:t>[2</a:t>
            </a:r>
            <a:r>
              <a:rPr lang="en-GB" b="1" baseline="0" dirty="0" smtClean="0"/>
              <a:t> minutes] </a:t>
            </a:r>
          </a:p>
          <a:p>
            <a:pPr>
              <a:buFont typeface="Arial" pitchFamily="34" charset="0"/>
              <a:buNone/>
            </a:pPr>
            <a:endParaRPr lang="en-GB" b="1" baseline="0" dirty="0" smtClean="0"/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Seemingly straightforward question but rest assured that it isn’t!</a:t>
            </a:r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ABA is a term which has multiple meanings in the literature, and in some anti-ABA quarters, the term seems to conjure up particular images of very rigid scenarios where children are trained by adults to respond to certain prompts in a very robotic manner.</a:t>
            </a:r>
            <a:endParaRPr lang="en-GB" b="1" baseline="0" dirty="0" smtClean="0"/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Theoretical underpinnings: </a:t>
            </a:r>
          </a:p>
          <a:p>
            <a:pPr lvl="1">
              <a:buFont typeface="Arial" pitchFamily="34" charset="0"/>
              <a:buChar char="•"/>
            </a:pPr>
            <a:r>
              <a:rPr lang="en-GB" b="1" baseline="0" dirty="0" smtClean="0"/>
              <a:t>Operant conditioning</a:t>
            </a:r>
            <a:r>
              <a:rPr lang="en-GB" b="0" baseline="0" dirty="0" smtClean="0"/>
              <a:t>: not involuntary responses involved with classical conditioning,  </a:t>
            </a:r>
            <a:r>
              <a:rPr lang="en-GB" b="1" baseline="0" dirty="0" smtClean="0"/>
              <a:t>although interesting ABA is sometimes linked with Pavlov’s dogs and referred to as ‘dog training’, </a:t>
            </a:r>
            <a:r>
              <a:rPr lang="en-GB" b="0" baseline="0" dirty="0" smtClean="0"/>
              <a:t>but voluntary responses which are either strengthened or weakened by consequences or antecedents:</a:t>
            </a:r>
          </a:p>
          <a:p>
            <a:pPr lvl="1">
              <a:buFont typeface="Arial" pitchFamily="34" charset="0"/>
              <a:buChar char="•"/>
            </a:pPr>
            <a:r>
              <a:rPr lang="en-GB" b="0" baseline="0" dirty="0" smtClean="0"/>
              <a:t>Research shows that behavioural change can be achieved through either changing antecedents or consequences – emphasis is moreso on consequences – </a:t>
            </a:r>
            <a:r>
              <a:rPr lang="en-GB" b="1" baseline="0" dirty="0" smtClean="0"/>
              <a:t>reinforcement</a:t>
            </a:r>
            <a:r>
              <a:rPr lang="en-GB" b="0" baseline="0" dirty="0" smtClean="0"/>
              <a:t> refers to consequences which </a:t>
            </a:r>
            <a:r>
              <a:rPr lang="en-GB" b="1" baseline="0" dirty="0" smtClean="0"/>
              <a:t>strengthen</a:t>
            </a:r>
            <a:r>
              <a:rPr lang="en-GB" b="0" baseline="0" dirty="0" smtClean="0"/>
              <a:t> behaviour; </a:t>
            </a:r>
            <a:r>
              <a:rPr lang="en-GB" b="1" baseline="0" dirty="0" smtClean="0"/>
              <a:t>punishment</a:t>
            </a:r>
            <a:r>
              <a:rPr lang="en-GB" b="0" baseline="0" dirty="0" smtClean="0"/>
              <a:t> relates to consequences with </a:t>
            </a:r>
            <a:r>
              <a:rPr lang="en-GB" b="1" baseline="0" dirty="0" smtClean="0"/>
              <a:t>weaken</a:t>
            </a:r>
            <a:r>
              <a:rPr lang="en-GB" b="0" baseline="0" dirty="0" smtClean="0"/>
              <a:t> behaviour</a:t>
            </a:r>
          </a:p>
          <a:p>
            <a:pPr lvl="1">
              <a:buFont typeface="Arial" pitchFamily="34" charset="0"/>
              <a:buChar char="•"/>
            </a:pPr>
            <a:endParaRPr lang="en-GB" b="0" baseline="0" dirty="0" smtClean="0"/>
          </a:p>
          <a:p>
            <a:pPr lvl="0" algn="l">
              <a:buFont typeface="Arial" pitchFamily="34" charset="0"/>
              <a:buChar char="•"/>
            </a:pPr>
            <a:r>
              <a:rPr lang="en-GB" b="0" baseline="0" dirty="0" smtClean="0"/>
              <a:t>Highlight that despite ABA being an umbrella term to describe ‘behaviour analytic interventions’, ABA has come to be associated with what is called ‘discrete trial training’.</a:t>
            </a:r>
          </a:p>
          <a:p>
            <a:pPr lvl="1">
              <a:buFont typeface="Arial" pitchFamily="34" charset="0"/>
              <a:buChar char="•"/>
            </a:pPr>
            <a:endParaRPr lang="en-GB" b="0" baseline="0" dirty="0" smtClean="0"/>
          </a:p>
          <a:p>
            <a:pPr lvl="0"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95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[5 minutes]</a:t>
            </a:r>
          </a:p>
          <a:p>
            <a:endParaRPr lang="en-GB" b="1" dirty="0" smtClean="0"/>
          </a:p>
          <a:p>
            <a:r>
              <a:rPr lang="en-GB" b="0" dirty="0" smtClean="0"/>
              <a:t>Introduce</a:t>
            </a:r>
            <a:r>
              <a:rPr lang="en-GB" b="0" baseline="0" dirty="0" smtClean="0"/>
              <a:t> sample from video</a:t>
            </a:r>
          </a:p>
          <a:p>
            <a:endParaRPr lang="en-GB" b="0" baseline="0" dirty="0" smtClean="0"/>
          </a:p>
          <a:p>
            <a:r>
              <a:rPr lang="en-GB" b="1" baseline="0" dirty="0" smtClean="0"/>
              <a:t>Ask audience to think about their emotional response to what they see in this video with a view to sharing their thoughts afterwards</a:t>
            </a:r>
          </a:p>
          <a:p>
            <a:endParaRPr lang="en-GB" b="0" baseline="0" dirty="0" smtClean="0"/>
          </a:p>
          <a:p>
            <a:r>
              <a:rPr lang="en-GB" b="0" baseline="0" dirty="0" smtClean="0"/>
              <a:t>Play video:  2:30 – 7:16</a:t>
            </a:r>
          </a:p>
          <a:p>
            <a:endParaRPr lang="en-GB" b="0" baseline="0" dirty="0" smtClean="0"/>
          </a:p>
          <a:p>
            <a:r>
              <a:rPr lang="en-GB" b="1" baseline="0" dirty="0" smtClean="0"/>
              <a:t>Ask audience to comment on what they saw</a:t>
            </a:r>
          </a:p>
          <a:p>
            <a:endParaRPr lang="en-GB" b="1" baseline="0" dirty="0" smtClean="0"/>
          </a:p>
          <a:p>
            <a:r>
              <a:rPr lang="en-GB" b="0" baseline="0" dirty="0" smtClean="0"/>
              <a:t>State that I’ll be looking at the wider debate around whether ABA is an appropriate and safe intervention for children with autism – so ask audience to hold their emotional responses in mind</a:t>
            </a:r>
          </a:p>
          <a:p>
            <a:endParaRPr lang="en-GB" b="0" baseline="0" dirty="0" smtClean="0"/>
          </a:p>
          <a:p>
            <a:endParaRPr lang="en-GB" b="0" baseline="0" dirty="0" smtClean="0"/>
          </a:p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860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[2 minutes]</a:t>
            </a:r>
          </a:p>
          <a:p>
            <a:endParaRPr lang="en-GB" b="1" dirty="0" smtClean="0"/>
          </a:p>
          <a:p>
            <a:r>
              <a:rPr lang="en-GB" dirty="0" smtClean="0"/>
              <a:t>Reiterate that  DTT is not ABA – it is one particular</a:t>
            </a:r>
            <a:r>
              <a:rPr lang="en-GB" baseline="0" dirty="0" smtClean="0"/>
              <a:t> form of ABA practice.</a:t>
            </a:r>
          </a:p>
          <a:p>
            <a:endParaRPr lang="en-GB" baseline="0" dirty="0" smtClean="0"/>
          </a:p>
          <a:p>
            <a:r>
              <a:rPr lang="en-GB" baseline="0" dirty="0" smtClean="0"/>
              <a:t>Sum up that Gerhardt &amp; </a:t>
            </a:r>
            <a:r>
              <a:rPr lang="en-GB" baseline="0" dirty="0" err="1" smtClean="0"/>
              <a:t>Lainer</a:t>
            </a:r>
            <a:r>
              <a:rPr lang="en-GB" baseline="0" dirty="0" smtClean="0"/>
              <a:t> highlight why it’s so difficult to critique ABA as an intervention</a:t>
            </a:r>
          </a:p>
          <a:p>
            <a:endParaRPr lang="en-GB" baseline="0" dirty="0" smtClean="0"/>
          </a:p>
          <a:p>
            <a:r>
              <a:rPr lang="en-GB" baseline="0" dirty="0" smtClean="0"/>
              <a:t>Give example of Shardé’s bedtime at weekends and having pancakes with maple syrup in the morning for breakfast: Use of </a:t>
            </a:r>
            <a:r>
              <a:rPr lang="en-GB" baseline="0" dirty="0" err="1" smtClean="0"/>
              <a:t>Premack</a:t>
            </a:r>
            <a:r>
              <a:rPr lang="en-GB" baseline="0" dirty="0" smtClean="0"/>
              <a:t> Principle – reinforcement of desired behaviour by following up something that isn’t liked  with something that is?</a:t>
            </a:r>
          </a:p>
          <a:p>
            <a:endParaRPr lang="en-GB" baseline="0" dirty="0" smtClean="0"/>
          </a:p>
          <a:p>
            <a:r>
              <a:rPr lang="en-GB" b="1" baseline="0" dirty="0" smtClean="0"/>
              <a:t>Highlight that I’m trying to point out that ABA is much broader in its application than seems to be its present interpretation.</a:t>
            </a:r>
          </a:p>
          <a:p>
            <a:endParaRPr lang="en-GB" b="1" baseline="0" dirty="0" smtClean="0"/>
          </a:p>
          <a:p>
            <a:endParaRPr lang="en-GB" b="1" baseline="0" dirty="0" smtClean="0"/>
          </a:p>
          <a:p>
            <a:endParaRPr lang="en-GB" baseline="0" dirty="0" smtClean="0"/>
          </a:p>
          <a:p>
            <a:endParaRPr lang="en-GB" baseline="0" dirty="0" smtClean="0"/>
          </a:p>
          <a:p>
            <a:endParaRPr lang="en-GB" baseline="0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301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GB" b="1" baseline="0" dirty="0" smtClean="0"/>
              <a:t>[2 minute]</a:t>
            </a:r>
          </a:p>
          <a:p>
            <a:pPr>
              <a:buFont typeface="Arial" pitchFamily="34" charset="0"/>
              <a:buNone/>
            </a:pPr>
            <a:endParaRPr lang="en-GB" baseline="0" dirty="0" smtClean="0"/>
          </a:p>
          <a:p>
            <a:pPr>
              <a:buFont typeface="Arial" pitchFamily="34" charset="0"/>
              <a:buChar char="•"/>
            </a:pPr>
            <a:r>
              <a:rPr lang="en-GB" baseline="0" dirty="0" smtClean="0"/>
              <a:t>Point out suggestion that current communication enhancement approaches to ASD, are best seen as falling along a continuum between traditional behavioural approaches and social-pragmatic developmental approaches – rather than being exclusively one or the other of these approaches. </a:t>
            </a:r>
          </a:p>
          <a:p>
            <a:pPr>
              <a:buFont typeface="Arial" pitchFamily="34" charset="0"/>
              <a:buChar char="•"/>
            </a:pPr>
            <a:endParaRPr lang="en-GB" baseline="0" dirty="0" smtClean="0"/>
          </a:p>
          <a:p>
            <a:pPr>
              <a:buFont typeface="Arial" pitchFamily="34" charset="0"/>
              <a:buChar char="•"/>
            </a:pPr>
            <a:r>
              <a:rPr lang="en-GB" b="1" baseline="0" dirty="0" smtClean="0"/>
              <a:t>Explain ABA </a:t>
            </a:r>
            <a:r>
              <a:rPr lang="en-GB" b="1" baseline="0" dirty="0" err="1" smtClean="0"/>
              <a:t>quesion</a:t>
            </a:r>
            <a:r>
              <a:rPr lang="en-GB" b="1" baseline="0" dirty="0" smtClean="0"/>
              <a:t>-marks</a:t>
            </a:r>
          </a:p>
          <a:p>
            <a:pPr>
              <a:buFont typeface="Arial" pitchFamily="34" charset="0"/>
              <a:buNone/>
            </a:pPr>
            <a:endParaRPr lang="en-GB" baseline="0" dirty="0" smtClean="0"/>
          </a:p>
          <a:p>
            <a:pPr>
              <a:buFont typeface="Arial" pitchFamily="34" charset="0"/>
              <a:buChar char="•"/>
            </a:pPr>
            <a:r>
              <a:rPr lang="en-GB" baseline="0" dirty="0" smtClean="0"/>
              <a:t>At ‘traditional end’ – heavily based on behaviourist principles and towards ‘developmental end’ – based more heavily on knowledge of typical development (e.g. Child as active rather than passive learner – infants as active hypothesis testers)</a:t>
            </a:r>
          </a:p>
          <a:p>
            <a:pPr>
              <a:buFont typeface="Arial" pitchFamily="34" charset="0"/>
              <a:buNone/>
            </a:pPr>
            <a:endParaRPr lang="en-GB" baseline="0" dirty="0" smtClean="0"/>
          </a:p>
          <a:p>
            <a:pPr>
              <a:buFont typeface="Arial" pitchFamily="34" charset="0"/>
              <a:buChar char="•"/>
            </a:pPr>
            <a:r>
              <a:rPr lang="en-GB" baseline="0" dirty="0" smtClean="0"/>
              <a:t>Point out that this is the general direction of travel, i.e. Away from traditional ‘</a:t>
            </a:r>
            <a:r>
              <a:rPr lang="en-GB" baseline="0" dirty="0" err="1" smtClean="0"/>
              <a:t>Lovaas</a:t>
            </a:r>
            <a:r>
              <a:rPr lang="en-GB" baseline="0" dirty="0" smtClean="0"/>
              <a:t> Therapy’ models. </a:t>
            </a:r>
            <a:r>
              <a:rPr lang="en-GB" b="1" baseline="0" dirty="0" smtClean="0"/>
              <a:t>Note increasing concern re lack of generalisation  prompt dependent learning</a:t>
            </a:r>
            <a:endParaRPr lang="en-GB" baseline="0" dirty="0" smtClean="0"/>
          </a:p>
          <a:p>
            <a:pPr>
              <a:buFont typeface="Arial" pitchFamily="34" charset="0"/>
              <a:buNone/>
            </a:pPr>
            <a:endParaRPr lang="en-GB" baseline="0" dirty="0" smtClean="0"/>
          </a:p>
          <a:p>
            <a:pPr>
              <a:buFont typeface="Arial" pitchFamily="34" charset="0"/>
              <a:buNone/>
            </a:pPr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340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[1</a:t>
            </a:r>
            <a:r>
              <a:rPr lang="en-GB" b="1" baseline="0" dirty="0" smtClean="0"/>
              <a:t> minute: go through slide]</a:t>
            </a:r>
          </a:p>
          <a:p>
            <a:endParaRPr lang="en-GB" b="1" baseline="0" dirty="0" smtClean="0"/>
          </a:p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580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[1 minute: go through slide]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011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</a:t>
            </a:r>
            <a:r>
              <a:rPr lang="en-GB" b="1" dirty="0" smtClean="0"/>
              <a:t>[1 minute]</a:t>
            </a:r>
            <a:r>
              <a:rPr lang="en-GB" dirty="0" smtClean="0"/>
              <a:t>                                                                                                                                                                                                   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970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[3 minutes:</a:t>
            </a:r>
            <a:r>
              <a:rPr lang="en-GB" b="1" baseline="0" dirty="0" smtClean="0"/>
              <a:t> go through slide]</a:t>
            </a:r>
            <a:endParaRPr lang="en-GB" b="1" dirty="0" smtClean="0"/>
          </a:p>
          <a:p>
            <a:endParaRPr lang="en-GB" dirty="0" smtClean="0"/>
          </a:p>
          <a:p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b="1" dirty="0" smtClean="0"/>
              <a:t>What</a:t>
            </a:r>
            <a:r>
              <a:rPr lang="en-GB" b="1" baseline="0" dirty="0" smtClean="0"/>
              <a:t> I’ve tried to point out is that an accurate evaluation of the effectiveness of ABA is very problematic given the scope of what this term actually includes</a:t>
            </a:r>
          </a:p>
          <a:p>
            <a:pPr>
              <a:buFont typeface="Arial" pitchFamily="34" charset="0"/>
              <a:buChar char="•"/>
            </a:pPr>
            <a:endParaRPr lang="en-GB" b="1" baseline="0" dirty="0" smtClean="0"/>
          </a:p>
          <a:p>
            <a:pPr>
              <a:buFont typeface="Arial" pitchFamily="34" charset="0"/>
              <a:buChar char="•"/>
            </a:pPr>
            <a:r>
              <a:rPr lang="en-GB" b="1" baseline="0" dirty="0" smtClean="0"/>
              <a:t>ABA approaches most widely researched intervention in autism research</a:t>
            </a:r>
          </a:p>
          <a:p>
            <a:pPr>
              <a:buFont typeface="Arial" pitchFamily="34" charset="0"/>
              <a:buChar char="•"/>
            </a:pPr>
            <a:endParaRPr lang="en-GB" b="1" baseline="0" dirty="0" smtClean="0"/>
          </a:p>
          <a:p>
            <a:pPr>
              <a:buFont typeface="Arial" pitchFamily="34" charset="0"/>
              <a:buChar char="•"/>
            </a:pPr>
            <a:r>
              <a:rPr lang="en-GB" b="0" dirty="0" smtClean="0"/>
              <a:t>Point</a:t>
            </a:r>
            <a:r>
              <a:rPr lang="en-GB" b="0" baseline="0" dirty="0" smtClean="0"/>
              <a:t> out that I only have scope within this review to give the </a:t>
            </a:r>
            <a:r>
              <a:rPr lang="en-GB" b="1" baseline="0" dirty="0" smtClean="0"/>
              <a:t>main headlines</a:t>
            </a:r>
            <a:r>
              <a:rPr lang="en-GB" b="0" baseline="0" dirty="0" smtClean="0"/>
              <a:t>: </a:t>
            </a:r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r>
              <a:rPr lang="en-GB" b="1" baseline="0" dirty="0" smtClean="0"/>
              <a:t>[go through slide]</a:t>
            </a:r>
          </a:p>
          <a:p>
            <a:pPr>
              <a:buFont typeface="Arial" pitchFamily="34" charset="0"/>
              <a:buChar char="•"/>
            </a:pPr>
            <a:endParaRPr lang="en-GB" b="1" baseline="0" dirty="0" smtClean="0"/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 9 out of 19 </a:t>
            </a:r>
            <a:r>
              <a:rPr lang="en-GB" b="0" baseline="0" dirty="0" err="1" smtClean="0"/>
              <a:t>chn</a:t>
            </a:r>
            <a:r>
              <a:rPr lang="en-GB" b="0" baseline="0" dirty="0" smtClean="0"/>
              <a:t> indistinguishable on tests of intelligence and adaptive behaviours at age 7, 8 out of the 19 at age 11.5 -</a:t>
            </a:r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endParaRPr lang="en-GB" baseline="0" dirty="0" smtClean="0"/>
          </a:p>
          <a:p>
            <a:pPr>
              <a:buFont typeface="Arial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77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[3 minutes:</a:t>
            </a:r>
            <a:r>
              <a:rPr lang="en-GB" b="1" baseline="0" dirty="0" smtClean="0"/>
              <a:t> go through slide]</a:t>
            </a:r>
            <a:endParaRPr lang="en-GB" b="1" dirty="0" smtClean="0"/>
          </a:p>
          <a:p>
            <a:endParaRPr lang="en-GB" dirty="0" smtClean="0"/>
          </a:p>
          <a:p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b="1" dirty="0" smtClean="0"/>
              <a:t>What</a:t>
            </a:r>
            <a:r>
              <a:rPr lang="en-GB" b="1" baseline="0" dirty="0" smtClean="0"/>
              <a:t> I’ve tried to point out is that an accurate evaluation of the effectiveness of ABA is very problematic given the scope of what this term actually includes</a:t>
            </a:r>
          </a:p>
          <a:p>
            <a:pPr>
              <a:buFont typeface="Arial" pitchFamily="34" charset="0"/>
              <a:buChar char="•"/>
            </a:pPr>
            <a:endParaRPr lang="en-GB" b="1" baseline="0" dirty="0" smtClean="0"/>
          </a:p>
          <a:p>
            <a:pPr>
              <a:buFont typeface="Arial" pitchFamily="34" charset="0"/>
              <a:buChar char="•"/>
            </a:pPr>
            <a:r>
              <a:rPr lang="en-GB" b="0" dirty="0" smtClean="0"/>
              <a:t>Point</a:t>
            </a:r>
            <a:r>
              <a:rPr lang="en-GB" b="0" baseline="0" dirty="0" smtClean="0"/>
              <a:t> out that I only have scope within this review to give the </a:t>
            </a:r>
            <a:r>
              <a:rPr lang="en-GB" b="1" baseline="0" dirty="0" smtClean="0"/>
              <a:t>main headlines</a:t>
            </a:r>
            <a:r>
              <a:rPr lang="en-GB" b="0" baseline="0" dirty="0" smtClean="0"/>
              <a:t>: </a:t>
            </a:r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r>
              <a:rPr lang="en-GB" b="1" baseline="0" dirty="0" smtClean="0"/>
              <a:t>[go through slide]</a:t>
            </a:r>
          </a:p>
          <a:p>
            <a:pPr>
              <a:buFont typeface="Arial" pitchFamily="34" charset="0"/>
              <a:buChar char="•"/>
            </a:pPr>
            <a:endParaRPr lang="en-GB" b="1" baseline="0" dirty="0" smtClean="0"/>
          </a:p>
          <a:p>
            <a:pPr>
              <a:buFont typeface="Arial" pitchFamily="34" charset="0"/>
              <a:buChar char="•"/>
            </a:pPr>
            <a:r>
              <a:rPr lang="en-GB" b="0" baseline="0" dirty="0" smtClean="0"/>
              <a:t> 9 out of 19 </a:t>
            </a:r>
            <a:r>
              <a:rPr lang="en-GB" b="0" baseline="0" dirty="0" err="1" smtClean="0"/>
              <a:t>chn</a:t>
            </a:r>
            <a:r>
              <a:rPr lang="en-GB" b="0" baseline="0" dirty="0" smtClean="0"/>
              <a:t> indistinguishable on tests of intelligence and adaptive behaviours at age 7, 8 out of the 19 at age 11.5 –</a:t>
            </a:r>
          </a:p>
          <a:p>
            <a:pPr>
              <a:buFont typeface="Arial" pitchFamily="34" charset="0"/>
              <a:buChar char="•"/>
            </a:pPr>
            <a:endParaRPr lang="en-GB" b="0" baseline="0" dirty="0" smtClean="0"/>
          </a:p>
          <a:p>
            <a:pPr>
              <a:buFont typeface="Arial" pitchFamily="34" charset="0"/>
              <a:buChar char="•"/>
            </a:pPr>
            <a:r>
              <a:rPr lang="en-GB" b="1" baseline="0" dirty="0" smtClean="0"/>
              <a:t>Summarise comprehensive &amp; specific skills gains but:</a:t>
            </a:r>
          </a:p>
          <a:p>
            <a:pPr lvl="1">
              <a:buFont typeface="Arial" pitchFamily="34" charset="0"/>
              <a:buChar char="•"/>
            </a:pPr>
            <a:r>
              <a:rPr lang="en-GB" b="0" baseline="0" dirty="0" smtClean="0"/>
              <a:t>Lack of randomised control trials – control groups not randomly assigned</a:t>
            </a:r>
          </a:p>
          <a:p>
            <a:pPr lvl="1">
              <a:buFont typeface="Arial" pitchFamily="34" charset="0"/>
              <a:buChar char="•"/>
            </a:pPr>
            <a:r>
              <a:rPr lang="en-GB" b="0" baseline="0" dirty="0" smtClean="0"/>
              <a:t>Small sample sizes</a:t>
            </a:r>
          </a:p>
          <a:p>
            <a:pPr lvl="1">
              <a:buFont typeface="Arial" pitchFamily="34" charset="0"/>
              <a:buChar char="•"/>
            </a:pPr>
            <a:r>
              <a:rPr lang="en-GB" b="0" baseline="0" dirty="0" smtClean="0"/>
              <a:t>Lack of fidelity to treatment measures</a:t>
            </a:r>
          </a:p>
          <a:p>
            <a:pPr lvl="1">
              <a:buFont typeface="Arial" pitchFamily="34" charset="0"/>
              <a:buChar char="•"/>
            </a:pPr>
            <a:endParaRPr lang="en-GB" b="0" baseline="0" dirty="0" smtClean="0"/>
          </a:p>
          <a:p>
            <a:endParaRPr lang="en-GB" baseline="0" dirty="0" smtClean="0"/>
          </a:p>
          <a:p>
            <a:pPr>
              <a:buFont typeface="Arial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413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[5</a:t>
            </a:r>
            <a:r>
              <a:rPr lang="en-GB" b="1" baseline="0" dirty="0" smtClean="0"/>
              <a:t> minutes: go through slide then introduce video]</a:t>
            </a:r>
            <a:endParaRPr lang="en-GB" b="1" dirty="0" smtClean="0"/>
          </a:p>
          <a:p>
            <a:endParaRPr lang="en-GB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Amythest</a:t>
            </a:r>
            <a:r>
              <a:rPr lang="en-GB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describes herself as an autistic 'multiply disabled writer, public speaker, advocate and activist‘  </a:t>
            </a:r>
            <a:r>
              <a:rPr lang="en-GB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notice that autistic</a:t>
            </a:r>
            <a:r>
              <a:rPr lang="en-GB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self-advocates prefer ‘identity-first’ terms rather than ‘person-first’ terms: 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prefer to be described as an ‘autistic person’ rather than a ‘person with autism’ – contradicts University of Southampton Inclusive Writing Guidance</a:t>
            </a:r>
            <a:endParaRPr lang="en-GB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Amethyst</a:t>
            </a:r>
            <a:r>
              <a:rPr lang="en-GB" baseline="0" dirty="0" smtClean="0"/>
              <a:t> Video Clip: 1.22 to 4.27</a:t>
            </a:r>
          </a:p>
          <a:p>
            <a:endParaRPr lang="en-GB" baseline="0" dirty="0" smtClean="0"/>
          </a:p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108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[1 minute] </a:t>
            </a:r>
            <a:endParaRPr lang="en-GB" b="0" dirty="0" smtClean="0"/>
          </a:p>
          <a:p>
            <a:endParaRPr lang="en-GB" b="0" dirty="0" smtClean="0"/>
          </a:p>
          <a:p>
            <a:r>
              <a:rPr lang="en-GB" b="0" dirty="0" smtClean="0"/>
              <a:t>Some objections to ABA go further than this:</a:t>
            </a:r>
          </a:p>
          <a:p>
            <a:r>
              <a:rPr lang="en-GB" b="0" dirty="0" smtClean="0"/>
              <a:t>Give audience</a:t>
            </a:r>
            <a:r>
              <a:rPr lang="en-GB" b="0" baseline="0" dirty="0" smtClean="0"/>
              <a:t> a few minutes to take in this slide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458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[1 minute:</a:t>
            </a:r>
            <a:r>
              <a:rPr lang="en-GB" b="1" baseline="0" dirty="0" smtClean="0"/>
              <a:t> go through slide]</a:t>
            </a:r>
          </a:p>
          <a:p>
            <a:endParaRPr lang="en-GB" b="1" baseline="0" dirty="0" smtClean="0"/>
          </a:p>
          <a:p>
            <a:r>
              <a:rPr lang="en-GB" b="1" baseline="0" dirty="0" smtClean="0"/>
              <a:t>Open for discussion – would anybody like to comment on anything they’ve seen or heard in this presentation?</a:t>
            </a:r>
          </a:p>
          <a:p>
            <a:endParaRPr lang="en-GB" b="1" baseline="0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26F94-033B-46D4-AC60-9E7543DE6417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269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9227D50-52FB-4E24-8557-FC9C959730CA}" type="datetimeFigureOut">
              <a:rPr lang="en-GB" smtClean="0"/>
              <a:pPr/>
              <a:t>22/05/2015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D2EA73C-4FCE-4A0F-A38C-B167A75A55F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ulVH9jpR8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EhlSPB9w7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APPLIED BEHAVIOURAL ANALYSIS (ABA)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780928"/>
            <a:ext cx="7774632" cy="2030383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GB" sz="4600" dirty="0" smtClean="0"/>
              <a:t>BEHAVIOURAL INTERVENTION APPROACH </a:t>
            </a:r>
          </a:p>
          <a:p>
            <a:pPr algn="ctr"/>
            <a:r>
              <a:rPr lang="en-GB" sz="4600" dirty="0" smtClean="0"/>
              <a:t>FOR PUPILS WITH </a:t>
            </a:r>
          </a:p>
          <a:p>
            <a:pPr algn="ctr"/>
            <a:r>
              <a:rPr lang="en-GB" sz="4600" dirty="0" smtClean="0"/>
              <a:t>AUTISM SPECTRUM DISORDER (ASD)</a:t>
            </a:r>
          </a:p>
          <a:p>
            <a:pPr algn="ctr"/>
            <a:endParaRPr lang="en-GB" dirty="0" smtClean="0"/>
          </a:p>
          <a:p>
            <a:pPr algn="ctr"/>
            <a:r>
              <a:rPr lang="en-GB" sz="2000" dirty="0" smtClean="0"/>
              <a:t>                                                           </a:t>
            </a:r>
          </a:p>
          <a:p>
            <a:pPr algn="ctr"/>
            <a:r>
              <a:rPr lang="en-GB" sz="2000" dirty="0" smtClean="0"/>
              <a:t>Sharon McKenzie      </a:t>
            </a:r>
            <a:endParaRPr lang="en-GB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6000" dirty="0" smtClean="0"/>
              <a:t/>
            </a:r>
            <a:br>
              <a:rPr lang="en-GB" sz="6000" dirty="0" smtClean="0"/>
            </a:br>
            <a:r>
              <a:rPr lang="en-GB" sz="6000" dirty="0" smtClean="0"/>
              <a:t/>
            </a:r>
            <a:br>
              <a:rPr lang="en-GB" sz="6000" dirty="0" smtClean="0"/>
            </a:br>
            <a:r>
              <a:rPr lang="en-GB" sz="6000" dirty="0" smtClean="0"/>
              <a:t/>
            </a:r>
            <a:br>
              <a:rPr lang="en-GB" sz="6000" dirty="0" smtClean="0"/>
            </a:br>
            <a:r>
              <a:rPr lang="en-GB" sz="6000" dirty="0" smtClean="0"/>
              <a:t/>
            </a:r>
            <a:br>
              <a:rPr lang="en-GB" sz="6000" dirty="0" smtClean="0"/>
            </a:br>
            <a:r>
              <a:rPr lang="en-GB" sz="6000" dirty="0" smtClean="0"/>
              <a:t>Where do I start....?</a:t>
            </a:r>
            <a:endParaRPr lang="en-GB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en-GB" dirty="0" smtClean="0"/>
              <a:t>What is ASD? </a:t>
            </a:r>
          </a:p>
          <a:p>
            <a:pPr>
              <a:spcAft>
                <a:spcPts val="1200"/>
              </a:spcAft>
            </a:pPr>
            <a:r>
              <a:rPr lang="en-GB" dirty="0" smtClean="0"/>
              <a:t>What is ABA?</a:t>
            </a:r>
          </a:p>
          <a:p>
            <a:pPr>
              <a:spcAft>
                <a:spcPts val="1200"/>
              </a:spcAft>
            </a:pPr>
            <a:r>
              <a:rPr lang="en-GB" dirty="0" smtClean="0"/>
              <a:t>Discrete Trial Training (DTT)</a:t>
            </a:r>
          </a:p>
          <a:p>
            <a:pPr>
              <a:spcAft>
                <a:spcPts val="1200"/>
              </a:spcAft>
            </a:pPr>
            <a:r>
              <a:rPr lang="en-GB" dirty="0" smtClean="0"/>
              <a:t>Understanding ABA approaches along a continuum</a:t>
            </a:r>
          </a:p>
          <a:p>
            <a:pPr>
              <a:spcAft>
                <a:spcPts val="1200"/>
              </a:spcAft>
            </a:pPr>
            <a:r>
              <a:rPr lang="en-GB" dirty="0" smtClean="0"/>
              <a:t>A dual-purpose critique of ABA approaches:</a:t>
            </a:r>
          </a:p>
          <a:p>
            <a:pPr lvl="1">
              <a:spcAft>
                <a:spcPts val="1200"/>
              </a:spcAft>
            </a:pPr>
            <a:r>
              <a:rPr lang="en-GB" dirty="0" smtClean="0"/>
              <a:t>How effective?</a:t>
            </a:r>
          </a:p>
          <a:p>
            <a:pPr lvl="1">
              <a:spcAft>
                <a:spcPts val="1200"/>
              </a:spcAft>
            </a:pPr>
            <a:r>
              <a:rPr lang="en-GB" dirty="0" smtClean="0"/>
              <a:t>How safe and appropriate?</a:t>
            </a:r>
          </a:p>
          <a:p>
            <a:pPr>
              <a:spcAft>
                <a:spcPts val="1200"/>
              </a:spcAft>
            </a:pPr>
            <a:r>
              <a:rPr lang="en-GB" dirty="0" smtClean="0"/>
              <a:t>Conclusions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Outline of Talk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Neurodevelopmental disorder</a:t>
            </a:r>
          </a:p>
          <a:p>
            <a:r>
              <a:rPr lang="en-GB" dirty="0" smtClean="0"/>
              <a:t>Core features</a:t>
            </a:r>
          </a:p>
          <a:p>
            <a:pPr lvl="1"/>
            <a:r>
              <a:rPr lang="en-GB" dirty="0" smtClean="0"/>
              <a:t>Impaired </a:t>
            </a:r>
            <a:r>
              <a:rPr lang="en-GB" b="1" dirty="0" smtClean="0"/>
              <a:t>social communication </a:t>
            </a:r>
            <a:r>
              <a:rPr lang="en-GB" dirty="0" smtClean="0"/>
              <a:t>and </a:t>
            </a:r>
            <a:r>
              <a:rPr lang="en-GB" b="1" dirty="0" smtClean="0"/>
              <a:t>social interaction skills</a:t>
            </a:r>
          </a:p>
          <a:p>
            <a:pPr lvl="1"/>
            <a:r>
              <a:rPr lang="en-GB" dirty="0" smtClean="0"/>
              <a:t>Repetitive, restrictive patterns of behaviour</a:t>
            </a:r>
          </a:p>
          <a:p>
            <a:r>
              <a:rPr lang="en-GB" dirty="0" smtClean="0"/>
              <a:t>Co-morbid features</a:t>
            </a:r>
          </a:p>
          <a:p>
            <a:pPr lvl="1"/>
            <a:r>
              <a:rPr lang="en-GB" dirty="0" smtClean="0"/>
              <a:t>Sensory sensitivity</a:t>
            </a:r>
          </a:p>
          <a:p>
            <a:pPr lvl="1"/>
            <a:r>
              <a:rPr lang="en-GB" dirty="0" smtClean="0"/>
              <a:t>Social anxiety, depression</a:t>
            </a:r>
          </a:p>
          <a:p>
            <a:pPr lvl="1"/>
            <a:r>
              <a:rPr lang="en-GB" dirty="0" smtClean="0"/>
              <a:t>Gastrointestinal symptoms</a:t>
            </a:r>
          </a:p>
          <a:p>
            <a:pPr lvl="1"/>
            <a:r>
              <a:rPr lang="en-GB" dirty="0" smtClean="0"/>
              <a:t>Challenging behaviours </a:t>
            </a:r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>
              <a:buNone/>
            </a:pPr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What is ASD?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 smtClean="0"/>
          </a:p>
          <a:p>
            <a:r>
              <a:rPr lang="en-GB" dirty="0" smtClean="0"/>
              <a:t>1 in 167 </a:t>
            </a:r>
            <a:r>
              <a:rPr lang="en-GB" sz="1600" dirty="0" smtClean="0"/>
              <a:t>(Medical Research Council, 2001)</a:t>
            </a:r>
            <a:endParaRPr lang="en-GB" dirty="0" smtClean="0"/>
          </a:p>
          <a:p>
            <a:r>
              <a:rPr lang="en-GB" dirty="0" smtClean="0"/>
              <a:t>1 in 100 </a:t>
            </a:r>
            <a:r>
              <a:rPr lang="en-GB" sz="1600" dirty="0" smtClean="0"/>
              <a:t>(Baird et al., 2006)</a:t>
            </a:r>
          </a:p>
          <a:p>
            <a:r>
              <a:rPr lang="en-GB" dirty="0" smtClean="0"/>
              <a:t>Fastest growing group with statutory entitlement to provision arranged by LA</a:t>
            </a:r>
          </a:p>
          <a:p>
            <a:pPr lvl="1">
              <a:buNone/>
            </a:pPr>
            <a:r>
              <a:rPr lang="en-GB" sz="1600" dirty="0" smtClean="0"/>
              <a:t>(Frederickson et al, 2010)</a:t>
            </a:r>
          </a:p>
          <a:p>
            <a:pPr lvl="1">
              <a:buNone/>
            </a:pPr>
            <a:endParaRPr lang="en-GB" sz="1600" dirty="0" smtClean="0"/>
          </a:p>
          <a:p>
            <a:r>
              <a:rPr lang="en-GB" dirty="0" smtClean="0"/>
              <a:t>Increasing demand for effective interventions</a:t>
            </a:r>
          </a:p>
          <a:p>
            <a:r>
              <a:rPr lang="en-GB" dirty="0" smtClean="0"/>
              <a:t>Efficacy of approaches and specific interventions is passionately debated</a:t>
            </a:r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pPr>
              <a:buNone/>
            </a:pP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On the rise...?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application of behavioural principles to promote change</a:t>
            </a:r>
          </a:p>
          <a:p>
            <a:r>
              <a:rPr lang="en-GB" dirty="0" smtClean="0"/>
              <a:t>Not a single intervention but an umbrella term for a range of interventions which do the above </a:t>
            </a:r>
          </a:p>
          <a:p>
            <a:r>
              <a:rPr lang="en-GB" dirty="0" smtClean="0"/>
              <a:t>Theoretical underpinnings: </a:t>
            </a:r>
          </a:p>
          <a:p>
            <a:pPr lvl="1"/>
            <a:r>
              <a:rPr lang="en-GB" dirty="0" smtClean="0"/>
              <a:t>Behavioural view of learning – outcome of learning = change in behaviour</a:t>
            </a:r>
          </a:p>
          <a:p>
            <a:pPr lvl="1"/>
            <a:r>
              <a:rPr lang="en-GB" dirty="0" smtClean="0"/>
              <a:t>Based more specifically on operant conditioning –concept developed by Skinner (1953)</a:t>
            </a:r>
          </a:p>
          <a:p>
            <a:pPr lvl="1"/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What is ABA?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 algn="ctr">
              <a:buNone/>
            </a:pPr>
            <a:r>
              <a:rPr lang="en-GB" b="1" dirty="0" smtClean="0"/>
              <a:t>Sample from a series of videotapes intended to be used in conjunction with a notorious text authored by Dr </a:t>
            </a:r>
            <a:r>
              <a:rPr lang="en-GB" b="1" dirty="0" err="1" smtClean="0"/>
              <a:t>Lovaas</a:t>
            </a:r>
            <a:r>
              <a:rPr lang="en-GB" b="1" dirty="0" smtClean="0"/>
              <a:t> in 1981:</a:t>
            </a:r>
          </a:p>
          <a:p>
            <a:pPr algn="ctr">
              <a:buNone/>
            </a:pPr>
            <a:endParaRPr lang="en-GB" b="1" dirty="0" smtClean="0"/>
          </a:p>
          <a:p>
            <a:pPr algn="ctr">
              <a:buNone/>
            </a:pPr>
            <a:r>
              <a:rPr lang="en-GB" sz="2400" b="1" dirty="0" smtClean="0"/>
              <a:t>“Teaching Developmentally Disabled Children: The Me Book”</a:t>
            </a:r>
          </a:p>
          <a:p>
            <a:pPr algn="ctr"/>
            <a:r>
              <a:rPr lang="en-GB" sz="2400" dirty="0" smtClean="0">
                <a:hlinkClick r:id="rId3"/>
              </a:rPr>
              <a:t>https://www.youtube.com/watch?v=hulVH9jpR8k</a:t>
            </a:r>
            <a:endParaRPr lang="en-GB" sz="2400" dirty="0" smtClean="0"/>
          </a:p>
          <a:p>
            <a:pPr algn="ctr"/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Introducing discrete trial training....also known (incorrectly) as ABA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GB" dirty="0" smtClean="0"/>
              <a:t>Gerhardt &amp; </a:t>
            </a:r>
            <a:r>
              <a:rPr lang="en-GB" dirty="0" err="1" smtClean="0"/>
              <a:t>Lainer</a:t>
            </a:r>
            <a:r>
              <a:rPr lang="en-GB" dirty="0" smtClean="0"/>
              <a:t> (2011) refer to: </a:t>
            </a:r>
          </a:p>
          <a:p>
            <a:pPr algn="ctr">
              <a:buNone/>
            </a:pPr>
            <a:endParaRPr lang="en-GB" i="1" dirty="0" smtClean="0"/>
          </a:p>
          <a:p>
            <a:pPr algn="ctr">
              <a:buNone/>
            </a:pPr>
            <a:r>
              <a:rPr lang="en-GB" i="1" dirty="0" smtClean="0"/>
              <a:t>“the continued misinterpretation of ABA as consisting solely of DTT. ABA is data-based, analytical, able to be replicated, contextual, accountable and results in socially valid behaviour change. DTT on the other hand is simply one instructional intervention that meets these criteria.”</a:t>
            </a:r>
          </a:p>
          <a:p>
            <a:pPr algn="ctr">
              <a:buNone/>
            </a:pPr>
            <a:endParaRPr lang="en-GB" i="1" dirty="0" smtClean="0"/>
          </a:p>
          <a:p>
            <a:pPr algn="ctr">
              <a:buNone/>
            </a:pPr>
            <a:r>
              <a:rPr lang="en-GB" i="1" dirty="0" smtClean="0"/>
              <a:t>“These same criteria are also associated with a broad range of behaviour analytic interventions (e.g. Modelling, prompting, reinforcement, pivotal response treatment, shaping, relaxation training, chaining, precision teaching etc.)”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Clarity at last...!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sz="3300" dirty="0" smtClean="0"/>
              <a:t>Communication enhancement approaches to ASD: A continuum....?  </a:t>
            </a:r>
            <a:r>
              <a:rPr lang="en-GB" sz="3100" dirty="0" smtClean="0"/>
              <a:t/>
            </a:r>
            <a:br>
              <a:rPr lang="en-GB" sz="3100" dirty="0" smtClean="0"/>
            </a:br>
            <a:r>
              <a:rPr lang="en-GB" sz="2000" b="0" dirty="0" smtClean="0"/>
              <a:t>(</a:t>
            </a:r>
            <a:r>
              <a:rPr lang="en-GB" sz="2000" b="0" dirty="0" err="1" smtClean="0"/>
              <a:t>Prizant</a:t>
            </a:r>
            <a:r>
              <a:rPr lang="en-GB" sz="2000" b="0" dirty="0" smtClean="0"/>
              <a:t> &amp; </a:t>
            </a:r>
            <a:r>
              <a:rPr lang="en-GB" sz="2000" b="0" dirty="0" err="1" smtClean="0"/>
              <a:t>Wetherby</a:t>
            </a:r>
            <a:r>
              <a:rPr lang="en-GB" sz="2000" b="0" dirty="0" smtClean="0"/>
              <a:t>, 1998)</a:t>
            </a:r>
            <a:endParaRPr lang="en-GB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7200" y="2348880"/>
          <a:ext cx="8147248" cy="4018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GB" dirty="0" smtClean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1:1 learning context: Adult/Child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Initially “adult control and child compliance”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Focus on “discrete, objectively defined behaviours”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Highly prescribed teaching structure: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Choice of stimuli (i.e. Teacher’s instruction)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Targeted responses (correct or incorrect)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Consequences provided (unrelated reinforcers, use of </a:t>
            </a:r>
            <a:r>
              <a:rPr lang="en-GB" dirty="0" err="1" smtClean="0"/>
              <a:t>aversives</a:t>
            </a:r>
            <a:r>
              <a:rPr lang="en-GB" dirty="0" smtClean="0"/>
              <a:t>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Seating arrangements</a:t>
            </a:r>
          </a:p>
          <a:p>
            <a:endParaRPr lang="en-GB" dirty="0" smtClean="0"/>
          </a:p>
          <a:p>
            <a:pPr lvl="1"/>
            <a:endParaRPr lang="en-GB" dirty="0" smtClean="0"/>
          </a:p>
          <a:p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 smtClean="0"/>
              <a:t>Traditional ABA </a:t>
            </a:r>
            <a:br>
              <a:rPr lang="en-GB" dirty="0" smtClean="0"/>
            </a:br>
            <a:r>
              <a:rPr lang="en-GB" sz="2000" dirty="0" smtClean="0"/>
              <a:t>(</a:t>
            </a:r>
            <a:r>
              <a:rPr lang="en-GB" sz="2000" dirty="0" err="1" smtClean="0"/>
              <a:t>Prizant</a:t>
            </a:r>
            <a:r>
              <a:rPr lang="en-GB" sz="2000" dirty="0" smtClean="0"/>
              <a:t> &amp; </a:t>
            </a:r>
            <a:r>
              <a:rPr lang="en-GB" sz="2000" dirty="0" err="1" smtClean="0"/>
              <a:t>Wetherby</a:t>
            </a:r>
            <a:r>
              <a:rPr lang="en-GB" sz="2000" dirty="0" smtClean="0"/>
              <a:t>, 1998)</a:t>
            </a:r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Follows attentional focus of child</a:t>
            </a:r>
          </a:p>
          <a:p>
            <a:r>
              <a:rPr lang="en-GB" dirty="0" smtClean="0"/>
              <a:t>Focus on spontaneity of communication</a:t>
            </a:r>
          </a:p>
          <a:p>
            <a:r>
              <a:rPr lang="en-GB" dirty="0" smtClean="0"/>
              <a:t>Varied social groupings to correspond with complexity of social experiences</a:t>
            </a:r>
          </a:p>
          <a:p>
            <a:r>
              <a:rPr lang="en-GB" dirty="0" smtClean="0"/>
              <a:t>Interactions involve shared control, taking turns, give and take</a:t>
            </a:r>
          </a:p>
          <a:p>
            <a:r>
              <a:rPr lang="en-GB" dirty="0" smtClean="0"/>
              <a:t>Relevance of child’s responses are considered – communicative intent valued</a:t>
            </a:r>
          </a:p>
          <a:p>
            <a:r>
              <a:rPr lang="en-GB" dirty="0" smtClean="0"/>
              <a:t>‘Natural </a:t>
            </a:r>
            <a:r>
              <a:rPr lang="en-GB" dirty="0" err="1" smtClean="0"/>
              <a:t>reinforcers’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/>
              <a:t>Social-Pragmatic Developmental Approaches</a:t>
            </a:r>
            <a:br>
              <a:rPr lang="en-GB" dirty="0" smtClean="0"/>
            </a:br>
            <a:r>
              <a:rPr lang="en-GB" sz="2200" dirty="0" smtClean="0"/>
              <a:t>(</a:t>
            </a:r>
            <a:r>
              <a:rPr lang="en-GB" sz="2200" dirty="0" err="1" smtClean="0"/>
              <a:t>Prizant</a:t>
            </a:r>
            <a:r>
              <a:rPr lang="en-GB" sz="2200" dirty="0" smtClean="0"/>
              <a:t> &amp; </a:t>
            </a:r>
            <a:r>
              <a:rPr lang="en-GB" sz="2200" dirty="0" err="1" smtClean="0"/>
              <a:t>Wetherby</a:t>
            </a:r>
            <a:r>
              <a:rPr lang="en-GB" sz="2200" dirty="0" smtClean="0"/>
              <a:t>, 1998)</a:t>
            </a:r>
            <a:endParaRPr lang="en-GB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‘Middle ground’ between traditional behavioural and social-pragmatic developmental approaches </a:t>
            </a:r>
          </a:p>
          <a:p>
            <a:endParaRPr lang="en-GB" dirty="0" smtClean="0"/>
          </a:p>
          <a:p>
            <a:r>
              <a:rPr lang="en-GB" dirty="0" smtClean="0"/>
              <a:t>Please refer directly to this paper for a very accessible commentary on the shared and distinguishing features of each type of approach</a:t>
            </a:r>
          </a:p>
          <a:p>
            <a:endParaRPr lang="en-GB" dirty="0" smtClean="0"/>
          </a:p>
          <a:p>
            <a:r>
              <a:rPr lang="en-GB" sz="2000" dirty="0" err="1" smtClean="0"/>
              <a:t>Prizant</a:t>
            </a:r>
            <a:r>
              <a:rPr lang="en-GB" sz="2000" dirty="0" smtClean="0"/>
              <a:t>, B. M. &amp; </a:t>
            </a:r>
            <a:r>
              <a:rPr lang="en-GB" sz="2000" dirty="0" err="1" smtClean="0"/>
              <a:t>Wetherby</a:t>
            </a:r>
            <a:r>
              <a:rPr lang="en-GB" sz="2000" dirty="0" smtClean="0"/>
              <a:t>, A. M. (1998). Understanding the continuum of discrete-trial traditional behavioural to social-pragmatic developmental approaches in communication enhancement for young children with autism/PDD. </a:t>
            </a:r>
            <a:r>
              <a:rPr lang="en-GB" sz="2000" i="1" dirty="0" smtClean="0"/>
              <a:t>Seminars in Speech and Language, 19</a:t>
            </a:r>
            <a:r>
              <a:rPr lang="en-GB" sz="2000" dirty="0" smtClean="0"/>
              <a:t>(4), 329-352.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 smtClean="0"/>
              <a:t>Contemporary ABA</a:t>
            </a:r>
            <a:br>
              <a:rPr lang="en-GB" dirty="0" smtClean="0"/>
            </a:br>
            <a:r>
              <a:rPr lang="en-GB" sz="2200" dirty="0" smtClean="0"/>
              <a:t>(</a:t>
            </a:r>
            <a:r>
              <a:rPr lang="en-GB" sz="2200" dirty="0" err="1" smtClean="0"/>
              <a:t>Prizant</a:t>
            </a:r>
            <a:r>
              <a:rPr lang="en-GB" sz="2200" dirty="0" smtClean="0"/>
              <a:t> &amp; </a:t>
            </a:r>
            <a:r>
              <a:rPr lang="en-GB" sz="2200" dirty="0" err="1" smtClean="0"/>
              <a:t>Wetherby</a:t>
            </a:r>
            <a:r>
              <a:rPr lang="en-GB" sz="2200" dirty="0" smtClean="0"/>
              <a:t>, 1998)</a:t>
            </a:r>
            <a:endParaRPr lang="en-GB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GB" dirty="0" smtClean="0"/>
          </a:p>
          <a:p>
            <a:r>
              <a:rPr lang="en-GB" dirty="0" smtClean="0"/>
              <a:t>Early promise of research by </a:t>
            </a:r>
            <a:r>
              <a:rPr lang="en-GB" dirty="0" err="1" smtClean="0"/>
              <a:t>Lovaas</a:t>
            </a:r>
            <a:r>
              <a:rPr lang="en-GB" dirty="0" smtClean="0"/>
              <a:t> (1987) and </a:t>
            </a:r>
            <a:r>
              <a:rPr lang="en-GB" dirty="0" err="1" smtClean="0"/>
              <a:t>McEachin</a:t>
            </a:r>
            <a:r>
              <a:rPr lang="en-GB" dirty="0" smtClean="0"/>
              <a:t> et al., (1993) on impact of traditional ABA has not been fulfilled:</a:t>
            </a:r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 9 out of 19 children who received 40hr/wk of traditional ABA for two years or more ‘indistinguishable from peers’ on tests of intelligence and adaptive behaviours at age 7, 8 out of the 19 at age 11.5. Only 1 out of 40 control children had IQ in normal range </a:t>
            </a:r>
          </a:p>
          <a:p>
            <a:endParaRPr lang="en-GB" dirty="0" smtClean="0"/>
          </a:p>
          <a:p>
            <a:r>
              <a:rPr lang="en-GB" dirty="0" smtClean="0"/>
              <a:t>Study limitations:</a:t>
            </a:r>
          </a:p>
          <a:p>
            <a:pPr lvl="1"/>
            <a:r>
              <a:rPr lang="en-GB" dirty="0" smtClean="0"/>
              <a:t>Small sample size</a:t>
            </a:r>
          </a:p>
          <a:p>
            <a:pPr lvl="1"/>
            <a:r>
              <a:rPr lang="en-GB" dirty="0" smtClean="0"/>
              <a:t>Important variables not specified (e.g. Characteristics of child before treatment, family variables</a:t>
            </a:r>
          </a:p>
          <a:p>
            <a:pPr lvl="1"/>
            <a:r>
              <a:rPr lang="en-GB" dirty="0" smtClean="0"/>
              <a:t>Fidelity of treatment not measured</a:t>
            </a:r>
          </a:p>
          <a:p>
            <a:pPr>
              <a:buNone/>
            </a:pPr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How effective are ‘traditional and ‘contemporary’ ABA approaches?</a:t>
            </a: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endParaRPr lang="en-GB" dirty="0" smtClean="0"/>
          </a:p>
          <a:p>
            <a:r>
              <a:rPr lang="en-GB" sz="4000" dirty="0" smtClean="0"/>
              <a:t>Reviews on </a:t>
            </a:r>
            <a:r>
              <a:rPr lang="en-GB" sz="4000" b="1" dirty="0" smtClean="0"/>
              <a:t>comprehensive outcomes  </a:t>
            </a:r>
            <a:r>
              <a:rPr lang="en-GB" sz="4000" dirty="0" smtClean="0"/>
              <a:t>(e.g. communication, social skills, play skills, cognition, pre-academic skills):</a:t>
            </a:r>
          </a:p>
          <a:p>
            <a:pPr lvl="1"/>
            <a:r>
              <a:rPr lang="en-GB" sz="4000" dirty="0" smtClean="0"/>
              <a:t>Peters-</a:t>
            </a:r>
            <a:r>
              <a:rPr lang="en-GB" sz="4000" dirty="0" err="1" smtClean="0"/>
              <a:t>Scheffer</a:t>
            </a:r>
            <a:r>
              <a:rPr lang="en-GB" sz="4000" dirty="0" smtClean="0"/>
              <a:t> et al., (2011): meta-analysis of traditional ABA (early intensive behaviour programme): 11 studies on 344 participants, average age, 33-66 months) pre-test post-test control group (less intensive EIBI, eclectic treatment, parent-directed ABA or treatment as usual) Outcome measures: IQ &amp; adaptive behaviours; EIBI group fared better than control group on both outcome measures. </a:t>
            </a:r>
          </a:p>
          <a:p>
            <a:pPr lvl="1"/>
            <a:r>
              <a:rPr lang="en-GB" sz="4000" dirty="0" err="1" smtClean="0"/>
              <a:t>Vismara</a:t>
            </a:r>
            <a:r>
              <a:rPr lang="en-GB" sz="4000" dirty="0" smtClean="0"/>
              <a:t> &amp; Rogers (2010):  Greatest gains when programme is started early (before 5) and implemented for at least 20 hours per week for 2 or more years</a:t>
            </a:r>
            <a:endParaRPr lang="en-GB" sz="4000" b="1" dirty="0" smtClean="0"/>
          </a:p>
          <a:p>
            <a:pPr lvl="1"/>
            <a:endParaRPr lang="en-GB" sz="4000" dirty="0" smtClean="0"/>
          </a:p>
          <a:p>
            <a:r>
              <a:rPr lang="en-GB" sz="4000" dirty="0" smtClean="0"/>
              <a:t>Reviews on </a:t>
            </a:r>
            <a:r>
              <a:rPr lang="en-GB" sz="4000" b="1" dirty="0" smtClean="0"/>
              <a:t>specific skills </a:t>
            </a:r>
            <a:r>
              <a:rPr lang="en-GB" sz="4000" dirty="0" smtClean="0"/>
              <a:t>outcomes:</a:t>
            </a:r>
          </a:p>
          <a:p>
            <a:pPr lvl="1"/>
            <a:r>
              <a:rPr lang="en-GB" sz="4000" b="1" dirty="0" smtClean="0"/>
              <a:t>Stereotypic &amp; repetitive behaviour </a:t>
            </a:r>
            <a:r>
              <a:rPr lang="en-GB" sz="4000" dirty="0" smtClean="0"/>
              <a:t>(Patterson et al., 2010): single case studies on 17 participants aged 2-26y – reduction in SRBs overall, but lack of heterogeneity in sample &amp; interventions</a:t>
            </a:r>
          </a:p>
          <a:p>
            <a:pPr lvl="1"/>
            <a:r>
              <a:rPr lang="en-GB" sz="4000" dirty="0" smtClean="0"/>
              <a:t> </a:t>
            </a:r>
            <a:r>
              <a:rPr lang="en-GB" sz="4000" b="1" dirty="0" smtClean="0"/>
              <a:t>Aggression </a:t>
            </a:r>
            <a:r>
              <a:rPr lang="en-GB" sz="4000" dirty="0" smtClean="0"/>
              <a:t>(</a:t>
            </a:r>
            <a:r>
              <a:rPr lang="en-GB" sz="4000" dirty="0" err="1" smtClean="0"/>
              <a:t>Brosnan</a:t>
            </a:r>
            <a:r>
              <a:rPr lang="en-GB" sz="4000" dirty="0" smtClean="0"/>
              <a:t> &amp; Healy, 2011): single case studies on 18 participants aged 3-18y – decrease/elimination of aggression, but follow-up &amp; generalisation of gains not generally reported, lack of consistency in how treatment effects are described</a:t>
            </a:r>
          </a:p>
          <a:p>
            <a:pPr lvl="1"/>
            <a:endParaRPr lang="en-GB" sz="40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How effective are ‘traditional and ‘contemporary’ ABA approaches?</a:t>
            </a: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 smtClean="0"/>
          </a:p>
          <a:p>
            <a:r>
              <a:rPr lang="en-GB" dirty="0" smtClean="0"/>
              <a:t>Constructions of autism:</a:t>
            </a:r>
          </a:p>
          <a:p>
            <a:pPr lvl="1"/>
            <a:r>
              <a:rPr lang="en-GB" dirty="0" smtClean="0"/>
              <a:t>Neurological disorder vs. Neurodiversity</a:t>
            </a:r>
          </a:p>
          <a:p>
            <a:pPr lvl="1"/>
            <a:r>
              <a:rPr lang="en-GB" dirty="0" smtClean="0"/>
              <a:t>A disorder holding its victim hostage or an aspect of natural human diversity which is inseparable from identity?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How valid are attempts to ‘treat’ autism?</a:t>
            </a:r>
          </a:p>
          <a:p>
            <a:pPr lvl="1"/>
            <a:endParaRPr lang="en-GB" b="1" dirty="0" smtClean="0"/>
          </a:p>
          <a:p>
            <a:pPr lvl="1">
              <a:buNone/>
            </a:pPr>
            <a:r>
              <a:rPr lang="en-GB" sz="2000" b="1" dirty="0" smtClean="0">
                <a:hlinkClick r:id="rId3"/>
              </a:rPr>
              <a:t>https://www.youtube.com/watch?v=PEhlSPB9w7Y</a:t>
            </a:r>
            <a:endParaRPr lang="en-GB" sz="2000" b="1" dirty="0" smtClean="0"/>
          </a:p>
          <a:p>
            <a:pPr lvl="1">
              <a:buNone/>
            </a:pPr>
            <a:endParaRPr lang="en-GB" sz="2000" b="1" dirty="0" smtClean="0"/>
          </a:p>
          <a:p>
            <a:endParaRPr lang="en-GB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How appropriate are ABA approaches?</a:t>
            </a:r>
            <a:endParaRPr lang="en-GB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resentation image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91605" y="1268760"/>
            <a:ext cx="4720555" cy="4679684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 smtClean="0"/>
              <a:t>How safe is ABA?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6390456" y="1484784"/>
            <a:ext cx="2502024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smtClean="0"/>
              <a:t>“Compliance based therapies such as ABA leave Autistic adults and children vulnerable to abuse and exploitation.” </a:t>
            </a:r>
          </a:p>
          <a:p>
            <a:endParaRPr lang="en-GB" sz="2000" dirty="0" smtClean="0"/>
          </a:p>
          <a:p>
            <a:r>
              <a:rPr lang="en-GB" sz="2000" dirty="0" smtClean="0"/>
              <a:t>(</a:t>
            </a:r>
            <a:r>
              <a:rPr lang="en-GB" dirty="0" smtClean="0"/>
              <a:t>Parenting Autistic Children with Love and Acceptance (PACLA), </a:t>
            </a:r>
            <a:r>
              <a:rPr lang="en-GB" dirty="0" err="1" smtClean="0"/>
              <a:t>Facebook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Critique of the effectiveness of ABA is problematic due to scope of interventions that can be accurately placed under ABA umbrella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Interventions described as ‘traditional’ and ‘contemporary’ ABA have a fairly strong evidence base to support gains in comprehensive and specific skills outcomes but methodological limitations of this evidence base have been understated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dirty="0" smtClean="0"/>
              <a:t>In my view arguments about the value of ABA as a tool for change are separate from arguments about how it is used or misused – many things in life are not intrinsically bad but they have the </a:t>
            </a:r>
            <a:r>
              <a:rPr lang="en-GB" i="1" dirty="0" smtClean="0"/>
              <a:t>potential</a:t>
            </a:r>
            <a:r>
              <a:rPr lang="en-GB" dirty="0" smtClean="0"/>
              <a:t> to be abused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Conclusion</a:t>
            </a:r>
            <a:endParaRPr lang="en-GB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1290</TotalTime>
  <Words>2319</Words>
  <Application>Microsoft Office PowerPoint</Application>
  <PresentationFormat>On-screen Show (4:3)</PresentationFormat>
  <Paragraphs>281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APPLIED BEHAVIOURAL ANALYSIS (ABA)  </vt:lpstr>
      <vt:lpstr>    Where do I start....?</vt:lpstr>
      <vt:lpstr>Outline of Talk</vt:lpstr>
      <vt:lpstr>What is ASD?</vt:lpstr>
      <vt:lpstr>On the rise...?</vt:lpstr>
      <vt:lpstr>What is ABA?</vt:lpstr>
      <vt:lpstr>       Introducing discrete trial training....also known (incorrectly) as ABA    </vt:lpstr>
      <vt:lpstr>Clarity at last...!</vt:lpstr>
      <vt:lpstr>  Communication enhancement approaches to ASD: A continuum....?   (Prizant &amp; Wetherby, 1998)</vt:lpstr>
      <vt:lpstr>Traditional ABA  (Prizant &amp; Wetherby, 1998)</vt:lpstr>
      <vt:lpstr>Social-Pragmatic Developmental Approaches (Prizant &amp; Wetherby, 1998)</vt:lpstr>
      <vt:lpstr>Contemporary ABA (Prizant &amp; Wetherby, 1998)</vt:lpstr>
      <vt:lpstr>How effective are ‘traditional and ‘contemporary’ ABA approaches?</vt:lpstr>
      <vt:lpstr>How effective are ‘traditional and ‘contemporary’ ABA approaches?</vt:lpstr>
      <vt:lpstr> How appropriate are ABA approaches?</vt:lpstr>
      <vt:lpstr>How safe is ABA?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BEHAVIOURAL ANALYSIS (ABA)</dc:title>
  <dc:creator>Sharon McKenzie</dc:creator>
  <cp:lastModifiedBy>Woodcock C.</cp:lastModifiedBy>
  <cp:revision>262</cp:revision>
  <dcterms:created xsi:type="dcterms:W3CDTF">2015-05-15T22:01:41Z</dcterms:created>
  <dcterms:modified xsi:type="dcterms:W3CDTF">2015-05-22T08:54:22Z</dcterms:modified>
</cp:coreProperties>
</file>