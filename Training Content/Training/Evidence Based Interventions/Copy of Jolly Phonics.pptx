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9" r:id="rId3"/>
    <p:sldId id="257" r:id="rId4"/>
    <p:sldId id="273" r:id="rId5"/>
    <p:sldId id="268" r:id="rId6"/>
    <p:sldId id="258" r:id="rId7"/>
    <p:sldId id="269" r:id="rId8"/>
    <p:sldId id="260" r:id="rId9"/>
    <p:sldId id="261" r:id="rId10"/>
    <p:sldId id="270" r:id="rId11"/>
    <p:sldId id="271" r:id="rId12"/>
    <p:sldId id="262" r:id="rId13"/>
    <p:sldId id="274" r:id="rId14"/>
    <p:sldId id="263" r:id="rId15"/>
    <p:sldId id="264" r:id="rId16"/>
    <p:sldId id="265" r:id="rId17"/>
    <p:sldId id="272" r:id="rId18"/>
  </p:sldIdLst>
  <p:sldSz cx="9144000" cy="6858000" type="screen4x3"/>
  <p:notesSz cx="6858000" cy="99456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0" autoAdjust="0"/>
    <p:restoredTop sz="59609" autoAdjust="0"/>
  </p:normalViewPr>
  <p:slideViewPr>
    <p:cSldViewPr>
      <p:cViewPr varScale="1">
        <p:scale>
          <a:sx n="55" d="100"/>
          <a:sy n="55" d="100"/>
        </p:scale>
        <p:origin x="2022" y="66"/>
      </p:cViewPr>
      <p:guideLst>
        <p:guide orient="horz" pos="2160"/>
        <p:guide pos="2880"/>
      </p:guideLst>
    </p:cSldViewPr>
  </p:slideViewPr>
  <p:outlineViewPr>
    <p:cViewPr>
      <p:scale>
        <a:sx n="33" d="100"/>
        <a:sy n="33" d="100"/>
      </p:scale>
      <p:origin x="0" y="768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7284"/>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97284"/>
          </a:xfrm>
          <a:prstGeom prst="rect">
            <a:avLst/>
          </a:prstGeom>
        </p:spPr>
        <p:txBody>
          <a:bodyPr vert="horz" lIns="91440" tIns="45720" rIns="91440" bIns="45720" rtlCol="0"/>
          <a:lstStyle>
            <a:lvl1pPr algn="r">
              <a:defRPr sz="1200"/>
            </a:lvl1pPr>
          </a:lstStyle>
          <a:p>
            <a:fld id="{3A34A145-3429-45CD-84CF-B831A19B8F53}" type="datetimeFigureOut">
              <a:rPr lang="en-GB" smtClean="0"/>
              <a:t>18/12/2015</a:t>
            </a:fld>
            <a:endParaRPr lang="en-GB"/>
          </a:p>
        </p:txBody>
      </p:sp>
      <p:sp>
        <p:nvSpPr>
          <p:cNvPr id="4" name="Slide Image Placeholder 3"/>
          <p:cNvSpPr>
            <a:spLocks noGrp="1" noRot="1" noChangeAspect="1"/>
          </p:cNvSpPr>
          <p:nvPr>
            <p:ph type="sldImg" idx="2"/>
          </p:nvPr>
        </p:nvSpPr>
        <p:spPr>
          <a:xfrm>
            <a:off x="942975" y="746125"/>
            <a:ext cx="4972050" cy="3729038"/>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724202"/>
            <a:ext cx="5486400" cy="447556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9446678"/>
            <a:ext cx="2971800" cy="497284"/>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9446678"/>
            <a:ext cx="2971800" cy="497284"/>
          </a:xfrm>
          <a:prstGeom prst="rect">
            <a:avLst/>
          </a:prstGeom>
        </p:spPr>
        <p:txBody>
          <a:bodyPr vert="horz" lIns="91440" tIns="45720" rIns="91440" bIns="45720" rtlCol="0" anchor="b"/>
          <a:lstStyle>
            <a:lvl1pPr algn="r">
              <a:defRPr sz="1200"/>
            </a:lvl1pPr>
          </a:lstStyle>
          <a:p>
            <a:fld id="{3B8BCD28-7FF1-40D4-B12E-4F2A16373110}" type="slidenum">
              <a:rPr lang="en-GB" smtClean="0"/>
              <a:t>‹#›</a:t>
            </a:fld>
            <a:endParaRPr lang="en-GB"/>
          </a:p>
        </p:txBody>
      </p:sp>
    </p:spTree>
    <p:extLst>
      <p:ext uri="{BB962C8B-B14F-4D97-AF65-F5344CB8AC3E}">
        <p14:creationId xmlns:p14="http://schemas.microsoft.com/office/powerpoint/2010/main" val="105479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8BCD28-7FF1-40D4-B12E-4F2A16373110}" type="slidenum">
              <a:rPr lang="en-GB" smtClean="0"/>
              <a:t>1</a:t>
            </a:fld>
            <a:endParaRPr lang="en-GB"/>
          </a:p>
        </p:txBody>
      </p:sp>
    </p:spTree>
    <p:extLst>
      <p:ext uri="{BB962C8B-B14F-4D97-AF65-F5344CB8AC3E}">
        <p14:creationId xmlns:p14="http://schemas.microsoft.com/office/powerpoint/2010/main" val="1135000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200" kern="1200" dirty="0" smtClean="0">
                <a:solidFill>
                  <a:schemeClr val="tx1"/>
                </a:solidFill>
                <a:effectLst/>
                <a:latin typeface="+mn-lt"/>
                <a:ea typeface="+mn-ea"/>
                <a:cs typeface="+mn-cs"/>
              </a:rPr>
              <a:t>Theories</a:t>
            </a:r>
            <a:r>
              <a:rPr lang="en-GB" sz="1200" kern="1200" baseline="0" dirty="0" smtClean="0">
                <a:solidFill>
                  <a:schemeClr val="tx1"/>
                </a:solidFill>
                <a:effectLst/>
                <a:latin typeface="+mn-lt"/>
                <a:ea typeface="+mn-ea"/>
                <a:cs typeface="+mn-cs"/>
              </a:rPr>
              <a:t> of reading and writing acquisition differ. Whole language vs phonic approaches</a:t>
            </a:r>
          </a:p>
          <a:p>
            <a:pPr marL="171450" indent="-171450">
              <a:buFont typeface="Arial" panose="020B0604020202020204" pitchFamily="34" charset="0"/>
              <a:buChar char="•"/>
            </a:pPr>
            <a:r>
              <a:rPr lang="en-GB" sz="1200" kern="1200" baseline="0" dirty="0" smtClean="0">
                <a:solidFill>
                  <a:schemeClr val="tx1"/>
                </a:solidFill>
                <a:effectLst/>
                <a:latin typeface="+mn-lt"/>
                <a:ea typeface="+mn-ea"/>
                <a:cs typeface="+mn-cs"/>
              </a:rPr>
              <a:t>When JP was first created whole language approaches were popular. These were based on </a:t>
            </a:r>
            <a:r>
              <a:rPr lang="en-GB" sz="1200" kern="1200" dirty="0" smtClean="0">
                <a:solidFill>
                  <a:schemeClr val="tx1"/>
                </a:solidFill>
                <a:effectLst/>
                <a:latin typeface="+mn-lt"/>
                <a:ea typeface="+mn-ea"/>
                <a:cs typeface="+mn-cs"/>
              </a:rPr>
              <a:t>psycholinguistic principles and encouraged a holistic approach to understanding</a:t>
            </a:r>
            <a:r>
              <a:rPr lang="en-GB" sz="1200" kern="1200" baseline="0" dirty="0" smtClean="0">
                <a:solidFill>
                  <a:schemeClr val="tx1"/>
                </a:solidFill>
                <a:effectLst/>
                <a:latin typeface="+mn-lt"/>
                <a:ea typeface="+mn-ea"/>
                <a:cs typeface="+mn-cs"/>
              </a:rPr>
              <a:t> texts. </a:t>
            </a:r>
          </a:p>
          <a:p>
            <a:pPr marL="171450" indent="-171450">
              <a:buFont typeface="Arial" panose="020B0604020202020204" pitchFamily="34" charset="0"/>
              <a:buChar char="•"/>
            </a:pPr>
            <a:r>
              <a:rPr lang="en-GB" sz="1200" kern="1200" baseline="0" dirty="0" err="1" smtClean="0">
                <a:solidFill>
                  <a:schemeClr val="tx1"/>
                </a:solidFill>
                <a:effectLst/>
                <a:latin typeface="+mn-lt"/>
                <a:ea typeface="+mn-ea"/>
                <a:cs typeface="+mn-cs"/>
              </a:rPr>
              <a:t>E.g.</a:t>
            </a:r>
            <a:r>
              <a:rPr lang="en-GB" sz="1200" kern="1200" dirty="0" err="1" smtClean="0">
                <a:solidFill>
                  <a:schemeClr val="tx1"/>
                </a:solidFill>
                <a:effectLst/>
                <a:latin typeface="+mn-lt"/>
                <a:ea typeface="+mn-ea"/>
                <a:cs typeface="+mn-cs"/>
              </a:rPr>
              <a:t>the</a:t>
            </a:r>
            <a:r>
              <a:rPr lang="en-GB" sz="1200" kern="1200" dirty="0" smtClean="0">
                <a:solidFill>
                  <a:schemeClr val="tx1"/>
                </a:solidFill>
                <a:effectLst/>
                <a:latin typeface="+mn-lt"/>
                <a:ea typeface="+mn-ea"/>
                <a:cs typeface="+mn-cs"/>
              </a:rPr>
              <a:t> cue-system model which suggests that</a:t>
            </a:r>
            <a:r>
              <a:rPr lang="en-GB" sz="1200" kern="1200" baseline="0" dirty="0" smtClean="0">
                <a:solidFill>
                  <a:schemeClr val="tx1"/>
                </a:solidFill>
                <a:effectLst/>
                <a:latin typeface="+mn-lt"/>
                <a:ea typeface="+mn-ea"/>
                <a:cs typeface="+mn-cs"/>
              </a:rPr>
              <a:t> </a:t>
            </a:r>
            <a:r>
              <a:rPr lang="en-GB" sz="1200" kern="1200" dirty="0" smtClean="0">
                <a:solidFill>
                  <a:schemeClr val="tx1"/>
                </a:solidFill>
                <a:effectLst/>
                <a:latin typeface="+mn-lt"/>
                <a:ea typeface="+mn-ea"/>
                <a:cs typeface="+mn-cs"/>
              </a:rPr>
              <a:t>three mutually required cuing systems are needed to read.</a:t>
            </a:r>
            <a:r>
              <a:rPr lang="en-GB" sz="1200" kern="1200" baseline="0" dirty="0" smtClean="0">
                <a:solidFill>
                  <a:schemeClr val="tx1"/>
                </a:solidFill>
                <a:effectLst/>
                <a:latin typeface="+mn-lt"/>
                <a:ea typeface="+mn-ea"/>
                <a:cs typeface="+mn-cs"/>
              </a:rPr>
              <a:t> </a:t>
            </a:r>
            <a:r>
              <a:rPr lang="en-GB" sz="1200" b="1" kern="1200" baseline="0" dirty="0" smtClean="0">
                <a:solidFill>
                  <a:schemeClr val="tx1"/>
                </a:solidFill>
                <a:effectLst/>
                <a:latin typeface="+mn-lt"/>
                <a:ea typeface="+mn-ea"/>
                <a:cs typeface="+mn-cs"/>
              </a:rPr>
              <a:t>Semantic</a:t>
            </a:r>
            <a:r>
              <a:rPr lang="en-GB" sz="1200" kern="1200" baseline="0" dirty="0" smtClean="0">
                <a:solidFill>
                  <a:schemeClr val="tx1"/>
                </a:solidFill>
                <a:effectLst/>
                <a:latin typeface="+mn-lt"/>
                <a:ea typeface="+mn-ea"/>
                <a:cs typeface="+mn-cs"/>
              </a:rPr>
              <a:t> cues</a:t>
            </a:r>
            <a:r>
              <a:rPr lang="en-GB" sz="1200" kern="1200" dirty="0" smtClean="0">
                <a:solidFill>
                  <a:schemeClr val="tx1"/>
                </a:solidFill>
                <a:effectLst/>
                <a:latin typeface="+mn-lt"/>
                <a:ea typeface="+mn-ea"/>
                <a:cs typeface="+mn-cs"/>
              </a:rPr>
              <a:t> which</a:t>
            </a:r>
            <a:r>
              <a:rPr lang="en-GB" sz="1200" kern="1200" baseline="0" dirty="0" smtClean="0">
                <a:solidFill>
                  <a:schemeClr val="tx1"/>
                </a:solidFill>
                <a:effectLst/>
                <a:latin typeface="+mn-lt"/>
                <a:ea typeface="+mn-ea"/>
                <a:cs typeface="+mn-cs"/>
              </a:rPr>
              <a:t> </a:t>
            </a:r>
            <a:r>
              <a:rPr lang="en-GB" sz="1200" kern="1200" dirty="0" smtClean="0">
                <a:solidFill>
                  <a:schemeClr val="tx1"/>
                </a:solidFill>
                <a:effectLst/>
                <a:latin typeface="+mn-lt"/>
                <a:ea typeface="+mn-ea"/>
                <a:cs typeface="+mn-cs"/>
              </a:rPr>
              <a:t>draw upon previous knowledge gleaned from earlier on in the text (including pictures) as well as a general knowledge of books. </a:t>
            </a:r>
            <a:r>
              <a:rPr lang="en-GB" sz="1200" b="1" kern="1200" dirty="0" smtClean="0">
                <a:solidFill>
                  <a:schemeClr val="tx1"/>
                </a:solidFill>
                <a:effectLst/>
                <a:latin typeface="+mn-lt"/>
                <a:ea typeface="+mn-ea"/>
                <a:cs typeface="+mn-cs"/>
              </a:rPr>
              <a:t>Syntactic</a:t>
            </a:r>
            <a:r>
              <a:rPr lang="en-GB" sz="1200" kern="1200" dirty="0" smtClean="0">
                <a:solidFill>
                  <a:schemeClr val="tx1"/>
                </a:solidFill>
                <a:effectLst/>
                <a:latin typeface="+mn-lt"/>
                <a:ea typeface="+mn-ea"/>
                <a:cs typeface="+mn-cs"/>
              </a:rPr>
              <a:t> cues where the expected pattern of language within a sentence provides clues about the type of word that may be required (e.g. noun or verb). </a:t>
            </a:r>
            <a:r>
              <a:rPr lang="en-GB" sz="1200" b="1" kern="1200" dirty="0" err="1" smtClean="0">
                <a:solidFill>
                  <a:schemeClr val="tx1"/>
                </a:solidFill>
                <a:effectLst/>
                <a:latin typeface="+mn-lt"/>
                <a:ea typeface="+mn-ea"/>
                <a:cs typeface="+mn-cs"/>
              </a:rPr>
              <a:t>Grapho</a:t>
            </a:r>
            <a:r>
              <a:rPr lang="en-GB" sz="1200" b="1" kern="1200" dirty="0" smtClean="0">
                <a:solidFill>
                  <a:schemeClr val="tx1"/>
                </a:solidFill>
                <a:effectLst/>
                <a:latin typeface="+mn-lt"/>
                <a:ea typeface="+mn-ea"/>
                <a:cs typeface="+mn-cs"/>
              </a:rPr>
              <a:t>-phonic cues </a:t>
            </a:r>
            <a:r>
              <a:rPr lang="en-GB" sz="1200" kern="1200" dirty="0" smtClean="0">
                <a:solidFill>
                  <a:schemeClr val="tx1"/>
                </a:solidFill>
                <a:effectLst/>
                <a:latin typeface="+mn-lt"/>
                <a:ea typeface="+mn-ea"/>
                <a:cs typeface="+mn-cs"/>
              </a:rPr>
              <a:t>are used to map the </a:t>
            </a:r>
            <a:r>
              <a:rPr lang="en-GB" sz="1200" kern="1200" dirty="0" err="1" smtClean="0">
                <a:solidFill>
                  <a:schemeClr val="tx1"/>
                </a:solidFill>
                <a:effectLst/>
                <a:latin typeface="+mn-lt"/>
                <a:ea typeface="+mn-ea"/>
                <a:cs typeface="+mn-cs"/>
              </a:rPr>
              <a:t>graphological</a:t>
            </a:r>
            <a:r>
              <a:rPr lang="en-GB" sz="1200" kern="1200" dirty="0" smtClean="0">
                <a:solidFill>
                  <a:schemeClr val="tx1"/>
                </a:solidFill>
                <a:effectLst/>
                <a:latin typeface="+mn-lt"/>
                <a:ea typeface="+mn-ea"/>
                <a:cs typeface="+mn-cs"/>
              </a:rPr>
              <a:t> appearance of letters to the phonological sounds they represent. </a:t>
            </a:r>
          </a:p>
          <a:p>
            <a:pPr marL="171450" indent="-171450">
              <a:buFont typeface="Arial" panose="020B0604020202020204" pitchFamily="34" charset="0"/>
              <a:buChar char="•"/>
            </a:pPr>
            <a:r>
              <a:rPr lang="en-GB" sz="1200" kern="1200" dirty="0" smtClean="0">
                <a:solidFill>
                  <a:schemeClr val="tx1"/>
                </a:solidFill>
                <a:effectLst/>
                <a:latin typeface="+mn-lt"/>
                <a:ea typeface="+mn-ea"/>
                <a:cs typeface="+mn-cs"/>
              </a:rPr>
              <a:t>This model suggests that all readers, regardless of their stage of development, call upon the same process. What differs is their degree of control over the various cues, which improves with time. </a:t>
            </a:r>
          </a:p>
          <a:p>
            <a:pPr marL="171450" indent="-171450">
              <a:buFont typeface="Arial" panose="020B0604020202020204" pitchFamily="34" charset="0"/>
              <a:buChar char="•"/>
            </a:pPr>
            <a:r>
              <a:rPr lang="en-GB" sz="1200" kern="1200" dirty="0" smtClean="0">
                <a:solidFill>
                  <a:schemeClr val="tx1"/>
                </a:solidFill>
                <a:effectLst/>
                <a:latin typeface="+mn-lt"/>
                <a:ea typeface="+mn-ea"/>
                <a:cs typeface="+mn-cs"/>
              </a:rPr>
              <a:t>This theoretical model was adapted into a teaching strategy where learners were encouraged to read by applying a series of ‘searchlights’ which incorporated all three cues.</a:t>
            </a:r>
            <a:r>
              <a:rPr lang="en-GB" sz="1200" kern="1200" baseline="0" dirty="0" smtClean="0">
                <a:solidFill>
                  <a:schemeClr val="tx1"/>
                </a:solidFill>
                <a:effectLst/>
                <a:latin typeface="+mn-lt"/>
                <a:ea typeface="+mn-ea"/>
                <a:cs typeface="+mn-cs"/>
              </a:rPr>
              <a:t> </a:t>
            </a:r>
            <a:r>
              <a:rPr lang="en-GB" sz="1200" kern="1200" dirty="0" smtClean="0">
                <a:solidFill>
                  <a:schemeClr val="tx1"/>
                </a:solidFill>
                <a:effectLst/>
                <a:latin typeface="+mn-lt"/>
                <a:ea typeface="+mn-ea"/>
                <a:cs typeface="+mn-cs"/>
              </a:rPr>
              <a:t>This model was adopted by the National literacy strategy (</a:t>
            </a:r>
            <a:r>
              <a:rPr lang="en-GB" sz="1200" kern="1200" dirty="0" err="1" smtClean="0">
                <a:solidFill>
                  <a:schemeClr val="tx1"/>
                </a:solidFill>
                <a:effectLst/>
                <a:latin typeface="+mn-lt"/>
                <a:ea typeface="+mn-ea"/>
                <a:cs typeface="+mn-cs"/>
              </a:rPr>
              <a:t>DfEE</a:t>
            </a:r>
            <a:r>
              <a:rPr lang="en-GB" sz="1200" kern="1200" dirty="0" smtClean="0">
                <a:solidFill>
                  <a:schemeClr val="tx1"/>
                </a:solidFill>
                <a:effectLst/>
                <a:latin typeface="+mn-lt"/>
                <a:ea typeface="+mn-ea"/>
                <a:cs typeface="+mn-cs"/>
              </a:rPr>
              <a:t> 1998) and governed the teaching of reading until 2006.</a:t>
            </a:r>
          </a:p>
          <a:p>
            <a:r>
              <a:rPr lang="en-GB" sz="1200" kern="1200" dirty="0" smtClean="0">
                <a:solidFill>
                  <a:schemeClr val="tx1"/>
                </a:solidFill>
                <a:effectLst/>
                <a:latin typeface="+mn-lt"/>
                <a:ea typeface="+mn-ea"/>
                <a:cs typeface="+mn-cs"/>
              </a:rPr>
              <a:t> </a:t>
            </a:r>
          </a:p>
          <a:p>
            <a:pPr marL="171450" indent="-171450">
              <a:buFont typeface="Arial" panose="020B0604020202020204" pitchFamily="34" charset="0"/>
              <a:buChar char="•"/>
            </a:pPr>
            <a:r>
              <a:rPr lang="en-GB" sz="1200" kern="1200" dirty="0" smtClean="0">
                <a:solidFill>
                  <a:schemeClr val="tx1"/>
                </a:solidFill>
                <a:effectLst/>
                <a:latin typeface="+mn-lt"/>
                <a:ea typeface="+mn-ea"/>
                <a:cs typeface="+mn-cs"/>
              </a:rPr>
              <a:t>The psycholinguistic model was challenged by a cognitive psychological stance </a:t>
            </a:r>
          </a:p>
          <a:p>
            <a:pPr marL="171450" indent="-171450">
              <a:buFont typeface="Arial" panose="020B0604020202020204" pitchFamily="34" charset="0"/>
              <a:buChar char="•"/>
            </a:pPr>
            <a:r>
              <a:rPr lang="en-GB" sz="1200" kern="1200" dirty="0" smtClean="0">
                <a:solidFill>
                  <a:schemeClr val="tx1"/>
                </a:solidFill>
                <a:effectLst/>
                <a:latin typeface="+mn-lt"/>
                <a:ea typeface="+mn-ea"/>
                <a:cs typeface="+mn-cs"/>
              </a:rPr>
              <a:t>Learning to read is a staged, linear process with decoding symbols</a:t>
            </a:r>
            <a:r>
              <a:rPr lang="en-GB" sz="1200" kern="1200" baseline="0" dirty="0" smtClean="0">
                <a:solidFill>
                  <a:schemeClr val="tx1"/>
                </a:solidFill>
                <a:effectLst/>
                <a:latin typeface="+mn-lt"/>
                <a:ea typeface="+mn-ea"/>
                <a:cs typeface="+mn-cs"/>
              </a:rPr>
              <a:t> (letters or graphemes) into sounds (phonemes) as the first step</a:t>
            </a:r>
            <a:r>
              <a:rPr lang="en-GB" sz="1200" kern="1200" dirty="0" smtClean="0">
                <a:solidFill>
                  <a:schemeClr val="tx1"/>
                </a:solidFill>
                <a:effectLst/>
                <a:latin typeface="+mn-lt"/>
                <a:ea typeface="+mn-ea"/>
                <a:cs typeface="+mn-cs"/>
              </a:rPr>
              <a:t> </a:t>
            </a:r>
          </a:p>
          <a:p>
            <a:pPr marL="171450" indent="-171450">
              <a:buFont typeface="Arial" panose="020B0604020202020204" pitchFamily="34" charset="0"/>
              <a:buChar char="•"/>
            </a:pPr>
            <a:r>
              <a:rPr lang="en-GB" sz="1200" kern="1200" dirty="0" smtClean="0">
                <a:solidFill>
                  <a:schemeClr val="tx1"/>
                </a:solidFill>
                <a:effectLst/>
                <a:latin typeface="+mn-lt"/>
                <a:ea typeface="+mn-ea"/>
                <a:cs typeface="+mn-cs"/>
              </a:rPr>
              <a:t>Beginner readers rely on </a:t>
            </a:r>
            <a:r>
              <a:rPr lang="en-GB" sz="1200" kern="1200" dirty="0" err="1" smtClean="0">
                <a:solidFill>
                  <a:schemeClr val="tx1"/>
                </a:solidFill>
                <a:effectLst/>
                <a:latin typeface="+mn-lt"/>
                <a:ea typeface="+mn-ea"/>
                <a:cs typeface="+mn-cs"/>
              </a:rPr>
              <a:t>grapho</a:t>
            </a:r>
            <a:r>
              <a:rPr lang="en-GB" sz="1200" kern="1200" dirty="0" smtClean="0">
                <a:solidFill>
                  <a:schemeClr val="tx1"/>
                </a:solidFill>
                <a:effectLst/>
                <a:latin typeface="+mn-lt"/>
                <a:ea typeface="+mn-ea"/>
                <a:cs typeface="+mn-cs"/>
              </a:rPr>
              <a:t>-phonic cues alone, sounding out words grapheme by grapheme and matching them with their phonemic representation. </a:t>
            </a:r>
          </a:p>
          <a:p>
            <a:pPr marL="171450" indent="-171450">
              <a:buFont typeface="Arial" panose="020B0604020202020204" pitchFamily="34" charset="0"/>
              <a:buChar char="•"/>
            </a:pPr>
            <a:r>
              <a:rPr lang="en-GB" sz="1200" kern="1200" dirty="0" smtClean="0">
                <a:solidFill>
                  <a:schemeClr val="tx1"/>
                </a:solidFill>
                <a:effectLst/>
                <a:latin typeface="+mn-lt"/>
                <a:ea typeface="+mn-ea"/>
                <a:cs typeface="+mn-cs"/>
              </a:rPr>
              <a:t>They will draw upon the other contextual cues later on in their development. </a:t>
            </a:r>
          </a:p>
          <a:p>
            <a:pPr marL="171450" indent="-171450">
              <a:buFont typeface="Arial" panose="020B0604020202020204" pitchFamily="34" charset="0"/>
              <a:buChar char="•"/>
            </a:pPr>
            <a:r>
              <a:rPr lang="en-GB" sz="1200" kern="1200" dirty="0" smtClean="0">
                <a:solidFill>
                  <a:schemeClr val="tx1"/>
                </a:solidFill>
                <a:effectLst/>
                <a:latin typeface="+mn-lt"/>
                <a:ea typeface="+mn-ea"/>
                <a:cs typeface="+mn-cs"/>
              </a:rPr>
              <a:t>In this sense the cognitive psychological model is a bottom up approach where children are taught to first map sounds with</a:t>
            </a:r>
            <a:r>
              <a:rPr lang="en-GB" sz="1200" kern="1200" baseline="0" dirty="0" smtClean="0">
                <a:solidFill>
                  <a:schemeClr val="tx1"/>
                </a:solidFill>
                <a:effectLst/>
                <a:latin typeface="+mn-lt"/>
                <a:ea typeface="+mn-ea"/>
                <a:cs typeface="+mn-cs"/>
              </a:rPr>
              <a:t> letters </a:t>
            </a:r>
            <a:r>
              <a:rPr lang="en-GB" sz="1200" kern="1200" dirty="0" smtClean="0">
                <a:solidFill>
                  <a:schemeClr val="tx1"/>
                </a:solidFill>
                <a:effectLst/>
                <a:latin typeface="+mn-lt"/>
                <a:ea typeface="+mn-ea"/>
                <a:cs typeface="+mn-cs"/>
              </a:rPr>
              <a:t>or combinations of letters and blend these together in order to read whole words. </a:t>
            </a:r>
            <a:r>
              <a:rPr lang="en-GB" sz="1200" b="1" kern="1200" dirty="0" smtClean="0">
                <a:solidFill>
                  <a:schemeClr val="tx1"/>
                </a:solidFill>
                <a:effectLst/>
                <a:latin typeface="+mn-lt"/>
                <a:ea typeface="+mn-ea"/>
                <a:cs typeface="+mn-cs"/>
              </a:rPr>
              <a:t>Phonological</a:t>
            </a:r>
            <a:r>
              <a:rPr lang="en-GB" sz="1200" b="1" kern="1200" baseline="0" dirty="0" smtClean="0">
                <a:solidFill>
                  <a:schemeClr val="tx1"/>
                </a:solidFill>
                <a:effectLst/>
                <a:latin typeface="+mn-lt"/>
                <a:ea typeface="+mn-ea"/>
                <a:cs typeface="+mn-cs"/>
              </a:rPr>
              <a:t> awareness is a necessary perquisite to word recognition and needs to be taught explicitly for children to be able to read and spell.</a:t>
            </a:r>
            <a:endParaRPr lang="en-GB" sz="1200" b="1" kern="1200" dirty="0" smtClean="0">
              <a:solidFill>
                <a:schemeClr val="tx1"/>
              </a:solidFill>
              <a:effectLst/>
              <a:latin typeface="+mn-lt"/>
              <a:ea typeface="+mn-ea"/>
              <a:cs typeface="+mn-cs"/>
            </a:endParaRPr>
          </a:p>
          <a:p>
            <a:pPr marL="171450" indent="-171450">
              <a:buFont typeface="Arial" panose="020B0604020202020204" pitchFamily="34" charset="0"/>
              <a:buChar char="•"/>
            </a:pPr>
            <a:r>
              <a:rPr lang="en-GB" sz="1200" kern="1200" dirty="0" smtClean="0">
                <a:solidFill>
                  <a:schemeClr val="tx1"/>
                </a:solidFill>
                <a:effectLst/>
                <a:latin typeface="+mn-lt"/>
                <a:ea typeface="+mn-ea"/>
                <a:cs typeface="+mn-cs"/>
              </a:rPr>
              <a:t>In 2006 Sir Jim Rose (DfES 2006a) recommended that the searchlight model be replaced with a strategy more</a:t>
            </a:r>
            <a:r>
              <a:rPr lang="en-GB" sz="1200" kern="1200" baseline="0" dirty="0" smtClean="0">
                <a:solidFill>
                  <a:schemeClr val="tx1"/>
                </a:solidFill>
                <a:effectLst/>
                <a:latin typeface="+mn-lt"/>
                <a:ea typeface="+mn-ea"/>
                <a:cs typeface="+mn-cs"/>
              </a:rPr>
              <a:t> in line with the </a:t>
            </a:r>
            <a:r>
              <a:rPr lang="en-GB" sz="1200" kern="1200" dirty="0" smtClean="0">
                <a:solidFill>
                  <a:schemeClr val="tx1"/>
                </a:solidFill>
                <a:effectLst/>
                <a:latin typeface="+mn-lt"/>
                <a:ea typeface="+mn-ea"/>
                <a:cs typeface="+mn-cs"/>
              </a:rPr>
              <a:t>cognitive psychology.</a:t>
            </a:r>
          </a:p>
          <a:p>
            <a:pPr marL="171450" indent="-171450">
              <a:buFont typeface="Arial" panose="020B0604020202020204" pitchFamily="34" charset="0"/>
              <a:buChar char="•"/>
            </a:pPr>
            <a:r>
              <a:rPr lang="en-GB" sz="1200" kern="1200" dirty="0" smtClean="0">
                <a:solidFill>
                  <a:schemeClr val="tx1"/>
                </a:solidFill>
                <a:effectLst/>
                <a:latin typeface="+mn-lt"/>
                <a:ea typeface="+mn-ea"/>
                <a:cs typeface="+mn-cs"/>
              </a:rPr>
              <a:t>Thus the ‘simple view of reading’ model was developed which focuses beginner readers with a series of phonics lessons. </a:t>
            </a:r>
            <a:r>
              <a:rPr lang="en-GB" sz="1200" b="0" i="0" u="none" strike="noStrike" kern="1200" baseline="0" dirty="0" smtClean="0">
                <a:solidFill>
                  <a:schemeClr val="tx1"/>
                </a:solidFill>
                <a:latin typeface="+mn-lt"/>
                <a:ea typeface="+mn-ea"/>
                <a:cs typeface="+mn-cs"/>
              </a:rPr>
              <a:t>Rose (2006) suggests that, ‘high quality, systematic phonics offers the best and most direct route to becoming skilled readers’. </a:t>
            </a:r>
            <a:endParaRPr lang="en-GB" sz="1200" kern="1200" dirty="0" smtClean="0">
              <a:solidFill>
                <a:schemeClr val="tx1"/>
              </a:solidFill>
              <a:effectLst/>
              <a:latin typeface="+mn-lt"/>
              <a:ea typeface="+mn-ea"/>
              <a:cs typeface="+mn-cs"/>
            </a:endParaRPr>
          </a:p>
          <a:p>
            <a:endParaRPr lang="en-GB" dirty="0" smtClean="0"/>
          </a:p>
        </p:txBody>
      </p:sp>
      <p:sp>
        <p:nvSpPr>
          <p:cNvPr id="4" name="Slide Number Placeholder 3"/>
          <p:cNvSpPr>
            <a:spLocks noGrp="1"/>
          </p:cNvSpPr>
          <p:nvPr>
            <p:ph type="sldNum" sz="quarter" idx="10"/>
          </p:nvPr>
        </p:nvSpPr>
        <p:spPr/>
        <p:txBody>
          <a:bodyPr/>
          <a:lstStyle/>
          <a:p>
            <a:fld id="{3B8BCD28-7FF1-40D4-B12E-4F2A16373110}" type="slidenum">
              <a:rPr lang="en-GB" smtClean="0"/>
              <a:t>2</a:t>
            </a:fld>
            <a:endParaRPr lang="en-GB"/>
          </a:p>
        </p:txBody>
      </p:sp>
    </p:spTree>
    <p:extLst>
      <p:ext uri="{BB962C8B-B14F-4D97-AF65-F5344CB8AC3E}">
        <p14:creationId xmlns:p14="http://schemas.microsoft.com/office/powerpoint/2010/main" val="1934805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smtClean="0"/>
              <a:t>Created by Sue Lloyd</a:t>
            </a:r>
          </a:p>
          <a:p>
            <a:pPr marL="171450" indent="-171450">
              <a:buFont typeface="Arial" panose="020B0604020202020204" pitchFamily="34" charset="0"/>
              <a:buChar char="•"/>
            </a:pPr>
            <a:r>
              <a:rPr lang="en-GB" dirty="0" smtClean="0"/>
              <a:t>Sue Lloyd taught for over 20 years in a Primary School (Suffolk). </a:t>
            </a:r>
          </a:p>
          <a:p>
            <a:pPr marL="171450" indent="-171450">
              <a:buFont typeface="Arial" panose="020B0604020202020204" pitchFamily="34" charset="0"/>
              <a:buChar char="•"/>
            </a:pPr>
            <a:r>
              <a:rPr lang="en-GB" dirty="0" smtClean="0"/>
              <a:t>In the late 1970s, the method of teaching reading was ‘Look and Say’, where children were expected to look at whole words and memorise each one and then learn sounds. </a:t>
            </a:r>
          </a:p>
          <a:p>
            <a:pPr marL="171450" indent="-171450">
              <a:buFont typeface="Arial" panose="020B0604020202020204" pitchFamily="34" charset="0"/>
              <a:buChar char="•"/>
            </a:pPr>
            <a:r>
              <a:rPr lang="en-GB" dirty="0" smtClean="0"/>
              <a:t>Within her school, she began to use synthetic phonic methods for children who were falling</a:t>
            </a:r>
            <a:r>
              <a:rPr lang="en-GB" baseline="0" dirty="0" smtClean="0"/>
              <a:t> behind. </a:t>
            </a:r>
          </a:p>
          <a:p>
            <a:pPr marL="171450" indent="-171450">
              <a:buFont typeface="Arial" panose="020B0604020202020204" pitchFamily="34" charset="0"/>
              <a:buChar char="•"/>
            </a:pPr>
            <a:r>
              <a:rPr lang="en-GB" dirty="0" smtClean="0"/>
              <a:t>Developed and improved the</a:t>
            </a:r>
            <a:r>
              <a:rPr lang="en-GB" baseline="0" dirty="0" smtClean="0"/>
              <a:t> programme</a:t>
            </a:r>
            <a:r>
              <a:rPr lang="en-GB" dirty="0" smtClean="0"/>
              <a:t> from research, advice and the practical experience.</a:t>
            </a:r>
            <a:r>
              <a:rPr lang="en-GB" baseline="0" dirty="0" smtClean="0"/>
              <a:t> </a:t>
            </a:r>
          </a:p>
          <a:p>
            <a:pPr marL="171450" indent="-171450">
              <a:buFont typeface="Arial" panose="020B0604020202020204" pitchFamily="34" charset="0"/>
              <a:buChar char="•"/>
            </a:pPr>
            <a:r>
              <a:rPr lang="en-GB" baseline="0" dirty="0" smtClean="0"/>
              <a:t>She </a:t>
            </a:r>
            <a:r>
              <a:rPr lang="en-GB" dirty="0" smtClean="0"/>
              <a:t>noticed a huge improvement in all the children and the</a:t>
            </a:r>
            <a:r>
              <a:rPr lang="en-GB" baseline="0" dirty="0" smtClean="0"/>
              <a:t> scheme was published with Jolly Learning in 1992.</a:t>
            </a:r>
          </a:p>
          <a:p>
            <a:endParaRPr lang="en-GB" b="1" dirty="0" smtClean="0"/>
          </a:p>
          <a:p>
            <a:r>
              <a:rPr lang="en-GB" b="1" dirty="0" smtClean="0"/>
              <a:t>What is Jolly Phonics?</a:t>
            </a:r>
          </a:p>
          <a:p>
            <a:r>
              <a:rPr lang="en-GB" dirty="0" smtClean="0"/>
              <a:t>An</a:t>
            </a:r>
            <a:r>
              <a:rPr lang="en-GB" baseline="0" dirty="0" smtClean="0"/>
              <a:t> </a:t>
            </a:r>
            <a:r>
              <a:rPr lang="en-GB" dirty="0" smtClean="0"/>
              <a:t>approach to teaching literacy (reading and writing) </a:t>
            </a: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Teaching children all the phonics sounds in the English language. Focus on gaining secure phonic knowledge as the first step in learning to decode letters into sounds which can then lead into whole word </a:t>
            </a:r>
            <a:r>
              <a:rPr lang="en-GB" baseline="0" dirty="0" err="1" smtClean="0"/>
              <a:t>recogntion</a:t>
            </a:r>
            <a:r>
              <a:rPr lang="en-GB" baseline="0" dirty="0" smtClean="0"/>
              <a:t>, comprehension and fluent reading.</a:t>
            </a:r>
            <a:endParaRPr lang="en-GB" dirty="0" smtClean="0"/>
          </a:p>
          <a:p>
            <a:r>
              <a:rPr lang="en-GB" dirty="0" smtClean="0"/>
              <a:t>Focuses on 42</a:t>
            </a:r>
            <a:r>
              <a:rPr lang="en-GB" baseline="0" dirty="0" smtClean="0"/>
              <a:t> sounds in the English language, not just alphabet sounds e.g. A = ah, b = </a:t>
            </a:r>
            <a:r>
              <a:rPr lang="en-GB" baseline="0" dirty="0" err="1" smtClean="0"/>
              <a:t>buh</a:t>
            </a:r>
            <a:r>
              <a:rPr lang="en-GB" baseline="0" dirty="0" smtClean="0"/>
              <a:t>  P = </a:t>
            </a:r>
            <a:r>
              <a:rPr lang="en-GB" baseline="0" dirty="0" err="1" smtClean="0"/>
              <a:t>puh</a:t>
            </a:r>
            <a:r>
              <a:rPr lang="en-GB" baseline="0" dirty="0" smtClean="0"/>
              <a:t> also teaches sounds like </a:t>
            </a:r>
            <a:r>
              <a:rPr lang="en-GB" baseline="0" dirty="0" err="1" smtClean="0"/>
              <a:t>oo</a:t>
            </a:r>
            <a:r>
              <a:rPr lang="en-GB" baseline="0" dirty="0" smtClean="0"/>
              <a:t> (soon), </a:t>
            </a:r>
            <a:r>
              <a:rPr lang="en-GB" baseline="0" dirty="0" err="1" smtClean="0"/>
              <a:t>oa</a:t>
            </a:r>
            <a:r>
              <a:rPr lang="en-GB" baseline="0" dirty="0" smtClean="0"/>
              <a:t> (boat)</a:t>
            </a:r>
          </a:p>
          <a:p>
            <a:r>
              <a:rPr lang="en-GB" dirty="0" smtClean="0"/>
              <a:t>Taught</a:t>
            </a:r>
            <a:r>
              <a:rPr lang="en-GB" baseline="0" dirty="0" smtClean="0"/>
              <a:t> in a </a:t>
            </a:r>
            <a:r>
              <a:rPr lang="en-GB" dirty="0" smtClean="0"/>
              <a:t>multi-sensory method through songs, actions and pictures – see ants on the arm example</a:t>
            </a:r>
          </a:p>
          <a:p>
            <a:r>
              <a:rPr lang="en-GB" dirty="0" smtClean="0"/>
              <a:t>There</a:t>
            </a:r>
            <a:r>
              <a:rPr lang="en-GB" baseline="0" dirty="0" smtClean="0"/>
              <a:t> is a 9/10 week program outlined in the handbook and then teachers’ are encouraged to adapt the skills to daily lessons</a:t>
            </a:r>
          </a:p>
          <a:p>
            <a:r>
              <a:rPr lang="en-GB" dirty="0" smtClean="0"/>
              <a:t>Recommended for</a:t>
            </a:r>
            <a:r>
              <a:rPr lang="en-GB" baseline="0" dirty="0" smtClean="0"/>
              <a:t> a whole school / class approach but also for groups or individuals</a:t>
            </a:r>
          </a:p>
          <a:p>
            <a:r>
              <a:rPr lang="en-GB" baseline="0" dirty="0" smtClean="0"/>
              <a:t>Jolly phonics provides numerous worksheets, songs and activities which teachers can use in their planning.</a:t>
            </a:r>
          </a:p>
          <a:p>
            <a:endParaRPr lang="en-GB" dirty="0" smtClean="0"/>
          </a:p>
          <a:p>
            <a:r>
              <a:rPr lang="en-GB" b="1" dirty="0" smtClean="0"/>
              <a:t>How does Jolly Phonics work?</a:t>
            </a:r>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The sounds are taught in a specific order (not alphabetically). This enables children to begin building words as early as possible.</a:t>
            </a:r>
            <a:endParaRPr lang="en-GB" b="1" dirty="0" smtClean="0"/>
          </a:p>
          <a:p>
            <a:r>
              <a:rPr lang="en-GB" dirty="0" smtClean="0"/>
              <a:t>Jolly Phonics teaches children the five key skills for reading and writing</a:t>
            </a:r>
            <a:r>
              <a:rPr lang="en-GB" baseline="0" dirty="0" smtClean="0"/>
              <a:t> which are all taught at the same time.</a:t>
            </a:r>
            <a:endParaRPr lang="en-GB" b="1" dirty="0" smtClean="0"/>
          </a:p>
          <a:p>
            <a:r>
              <a:rPr lang="en-GB" b="0" dirty="0" smtClean="0"/>
              <a:t>1.Learning the letter sounds:</a:t>
            </a:r>
            <a:r>
              <a:rPr lang="en-GB" b="0" baseline="0" dirty="0" smtClean="0"/>
              <a:t> </a:t>
            </a:r>
            <a:r>
              <a:rPr lang="en-GB" b="0" dirty="0" smtClean="0"/>
              <a:t>Children are taught the 42 main letter sounds. This includes alphabet sounds as well as digraphs such as </a:t>
            </a:r>
            <a:r>
              <a:rPr lang="en-GB" b="0" dirty="0" err="1" smtClean="0"/>
              <a:t>sh</a:t>
            </a:r>
            <a:r>
              <a:rPr lang="en-GB" b="0" dirty="0" smtClean="0"/>
              <a:t>, </a:t>
            </a:r>
            <a:r>
              <a:rPr lang="en-GB" b="0" dirty="0" err="1" smtClean="0"/>
              <a:t>th</a:t>
            </a:r>
            <a:r>
              <a:rPr lang="en-GB" b="0" dirty="0" smtClean="0"/>
              <a:t>, </a:t>
            </a:r>
            <a:r>
              <a:rPr lang="en-GB" b="0" dirty="0" err="1" smtClean="0"/>
              <a:t>ai</a:t>
            </a:r>
            <a:r>
              <a:rPr lang="en-GB" b="0" dirty="0" smtClean="0"/>
              <a:t> and </a:t>
            </a:r>
            <a:r>
              <a:rPr lang="en-GB" b="0" dirty="0" err="1" smtClean="0"/>
              <a:t>ue</a:t>
            </a:r>
            <a:r>
              <a:rPr lang="en-GB" b="0" dirty="0" smtClean="0"/>
              <a:t>.</a:t>
            </a:r>
          </a:p>
          <a:p>
            <a:r>
              <a:rPr lang="en-GB" b="0" dirty="0" smtClean="0"/>
              <a:t>2.Learning letter formation:</a:t>
            </a:r>
            <a:r>
              <a:rPr lang="en-GB" b="0" baseline="0" dirty="0" smtClean="0"/>
              <a:t> </a:t>
            </a:r>
            <a:r>
              <a:rPr lang="en-GB" b="0" dirty="0" smtClean="0"/>
              <a:t>Using different multi-sensory methods, children learn how to form and write the letters.</a:t>
            </a:r>
          </a:p>
          <a:p>
            <a:r>
              <a:rPr lang="en-GB" b="0" dirty="0" smtClean="0"/>
              <a:t>3.Blending:</a:t>
            </a:r>
            <a:r>
              <a:rPr lang="en-GB" b="0" baseline="0" dirty="0" smtClean="0"/>
              <a:t> </a:t>
            </a:r>
            <a:r>
              <a:rPr lang="en-GB" b="0" dirty="0" smtClean="0"/>
              <a:t>Children are taught how to blend the sounds together to read and write new words.</a:t>
            </a:r>
          </a:p>
          <a:p>
            <a:r>
              <a:rPr lang="en-GB" b="0" dirty="0" smtClean="0"/>
              <a:t>4.Identifying the sounds in words (Segmenting)</a:t>
            </a:r>
            <a:r>
              <a:rPr lang="en-GB" b="0" baseline="0" dirty="0" smtClean="0"/>
              <a:t>: </a:t>
            </a:r>
            <a:r>
              <a:rPr lang="en-GB" b="0" dirty="0" smtClean="0"/>
              <a:t>Listening for the sounds in words gives children the best start for improving spelling.</a:t>
            </a:r>
          </a:p>
          <a:p>
            <a:r>
              <a:rPr lang="en-GB" b="0" dirty="0" smtClean="0"/>
              <a:t>5.Tricky words:</a:t>
            </a:r>
            <a:r>
              <a:rPr lang="en-GB" b="0" baseline="0" dirty="0" smtClean="0"/>
              <a:t> </a:t>
            </a:r>
            <a:r>
              <a:rPr lang="en-GB" b="0" dirty="0" smtClean="0"/>
              <a:t>Tricky words which have irregular spellings are taught separately.</a:t>
            </a:r>
          </a:p>
          <a:p>
            <a:endParaRPr lang="en-GB" dirty="0"/>
          </a:p>
        </p:txBody>
      </p:sp>
      <p:sp>
        <p:nvSpPr>
          <p:cNvPr id="4" name="Slide Number Placeholder 3"/>
          <p:cNvSpPr>
            <a:spLocks noGrp="1"/>
          </p:cNvSpPr>
          <p:nvPr>
            <p:ph type="sldNum" sz="quarter" idx="10"/>
          </p:nvPr>
        </p:nvSpPr>
        <p:spPr/>
        <p:txBody>
          <a:bodyPr/>
          <a:lstStyle/>
          <a:p>
            <a:fld id="{3B8BCD28-7FF1-40D4-B12E-4F2A16373110}" type="slidenum">
              <a:rPr lang="en-GB" smtClean="0"/>
              <a:t>3</a:t>
            </a:fld>
            <a:endParaRPr lang="en-GB"/>
          </a:p>
        </p:txBody>
      </p:sp>
    </p:spTree>
    <p:extLst>
      <p:ext uri="{BB962C8B-B14F-4D97-AF65-F5344CB8AC3E}">
        <p14:creationId xmlns:p14="http://schemas.microsoft.com/office/powerpoint/2010/main" val="2636012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8BCD28-7FF1-40D4-B12E-4F2A16373110}" type="slidenum">
              <a:rPr lang="en-GB" smtClean="0"/>
              <a:t>4</a:t>
            </a:fld>
            <a:endParaRPr lang="en-GB"/>
          </a:p>
        </p:txBody>
      </p:sp>
    </p:spTree>
    <p:extLst>
      <p:ext uri="{BB962C8B-B14F-4D97-AF65-F5344CB8AC3E}">
        <p14:creationId xmlns:p14="http://schemas.microsoft.com/office/powerpoint/2010/main" val="649925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smtClean="0"/>
              <a:t>Define terms</a:t>
            </a:r>
          </a:p>
          <a:p>
            <a:r>
              <a:rPr lang="en-GB" baseline="0" dirty="0" smtClean="0"/>
              <a:t>Phoneme – sound e.g. cat has three units of sound. Night has 3  Not to be confused with syllables</a:t>
            </a:r>
          </a:p>
          <a:p>
            <a:r>
              <a:rPr lang="en-GB" baseline="0" dirty="0" smtClean="0"/>
              <a:t>Grapheme – symbol to represent sound c-a-t. N-</a:t>
            </a:r>
            <a:r>
              <a:rPr lang="en-GB" baseline="0" dirty="0" err="1" smtClean="0"/>
              <a:t>ight</a:t>
            </a:r>
            <a:r>
              <a:rPr lang="en-GB" baseline="0" dirty="0" smtClean="0"/>
              <a:t>-t</a:t>
            </a:r>
          </a:p>
          <a:p>
            <a:r>
              <a:rPr lang="en-GB" baseline="0" dirty="0" smtClean="0"/>
              <a:t>Decoding and encoding</a:t>
            </a:r>
            <a:endParaRPr lang="en-GB" dirty="0" smtClean="0"/>
          </a:p>
          <a:p>
            <a:endParaRPr lang="en-GB" dirty="0" smtClean="0"/>
          </a:p>
          <a:p>
            <a:endParaRPr lang="en-GB" dirty="0" smtClean="0"/>
          </a:p>
          <a:p>
            <a:r>
              <a:rPr lang="en-GB" dirty="0" smtClean="0"/>
              <a:t>Digraph</a:t>
            </a:r>
            <a:r>
              <a:rPr lang="en-GB" baseline="0" dirty="0" smtClean="0"/>
              <a:t> – e.g. </a:t>
            </a:r>
            <a:r>
              <a:rPr lang="en-GB" baseline="0" dirty="0" err="1" smtClean="0"/>
              <a:t>sh</a:t>
            </a:r>
            <a:endParaRPr lang="en-GB" baseline="0" dirty="0" smtClean="0"/>
          </a:p>
          <a:p>
            <a:r>
              <a:rPr lang="en-GB" baseline="0" dirty="0" err="1" smtClean="0"/>
              <a:t>Trigraph</a:t>
            </a:r>
            <a:r>
              <a:rPr lang="en-GB" baseline="0" dirty="0" smtClean="0"/>
              <a:t> e.g. </a:t>
            </a:r>
            <a:r>
              <a:rPr lang="en-GB" baseline="0" dirty="0" err="1" smtClean="0"/>
              <a:t>igh</a:t>
            </a:r>
            <a:endParaRPr lang="en-GB" baseline="0" dirty="0" smtClean="0"/>
          </a:p>
          <a:p>
            <a:r>
              <a:rPr lang="en-GB" baseline="0" dirty="0" smtClean="0"/>
              <a:t>Split digraph e.g. stone – </a:t>
            </a:r>
            <a:r>
              <a:rPr lang="en-GB" baseline="0" dirty="0" err="1" smtClean="0"/>
              <a:t>oe</a:t>
            </a:r>
            <a:endParaRPr lang="en-GB" baseline="0" dirty="0" smtClean="0"/>
          </a:p>
          <a:p>
            <a:endParaRPr lang="en-GB" baseline="0" dirty="0" smtClean="0"/>
          </a:p>
          <a:p>
            <a:r>
              <a:rPr lang="en-GB" baseline="0" dirty="0" smtClean="0"/>
              <a:t>(4 – F-r-o-g)</a:t>
            </a:r>
          </a:p>
          <a:p>
            <a:r>
              <a:rPr lang="en-GB" baseline="0" dirty="0" smtClean="0"/>
              <a:t>(2 – H-</a:t>
            </a:r>
            <a:r>
              <a:rPr lang="en-GB" baseline="0" dirty="0" err="1" smtClean="0"/>
              <a:t>igh</a:t>
            </a:r>
            <a:r>
              <a:rPr lang="en-GB" baseline="0" dirty="0" smtClean="0"/>
              <a:t>) 1 </a:t>
            </a:r>
            <a:r>
              <a:rPr lang="en-GB" baseline="0" dirty="0" err="1" smtClean="0"/>
              <a:t>trigraph</a:t>
            </a:r>
            <a:endParaRPr lang="en-GB" baseline="0" dirty="0" smtClean="0"/>
          </a:p>
          <a:p>
            <a:r>
              <a:rPr lang="en-GB" baseline="0" dirty="0" smtClean="0"/>
              <a:t>(3 – </a:t>
            </a:r>
            <a:r>
              <a:rPr lang="en-GB" baseline="0" dirty="0" err="1" smtClean="0"/>
              <a:t>Sh</a:t>
            </a:r>
            <a:r>
              <a:rPr lang="en-GB" baseline="0" dirty="0" smtClean="0"/>
              <a:t> – </a:t>
            </a:r>
            <a:r>
              <a:rPr lang="en-GB" baseline="0" dirty="0" err="1" smtClean="0"/>
              <a:t>ou</a:t>
            </a:r>
            <a:r>
              <a:rPr lang="en-GB" baseline="0" dirty="0" smtClean="0"/>
              <a:t> – t) 2 digraphs</a:t>
            </a:r>
          </a:p>
          <a:p>
            <a:r>
              <a:rPr lang="en-GB" baseline="0" dirty="0" smtClean="0"/>
              <a:t>(4 – </a:t>
            </a:r>
            <a:r>
              <a:rPr lang="en-GB" baseline="0" dirty="0" err="1" smtClean="0"/>
              <a:t>Th</a:t>
            </a:r>
            <a:r>
              <a:rPr lang="en-GB" baseline="0" dirty="0" smtClean="0"/>
              <a:t> – r –</a:t>
            </a:r>
            <a:r>
              <a:rPr lang="en-GB" baseline="0" dirty="0" err="1" smtClean="0"/>
              <a:t>o_e</a:t>
            </a:r>
            <a:r>
              <a:rPr lang="en-GB" baseline="0" dirty="0" smtClean="0"/>
              <a:t> –n) 1 digraph, 1 split digraph)</a:t>
            </a:r>
          </a:p>
        </p:txBody>
      </p:sp>
      <p:sp>
        <p:nvSpPr>
          <p:cNvPr id="4" name="Slide Number Placeholder 3"/>
          <p:cNvSpPr>
            <a:spLocks noGrp="1"/>
          </p:cNvSpPr>
          <p:nvPr>
            <p:ph type="sldNum" sz="quarter" idx="10"/>
          </p:nvPr>
        </p:nvSpPr>
        <p:spPr/>
        <p:txBody>
          <a:bodyPr/>
          <a:lstStyle/>
          <a:p>
            <a:fld id="{3B8BCD28-7FF1-40D4-B12E-4F2A16373110}" type="slidenum">
              <a:rPr lang="en-GB" smtClean="0"/>
              <a:t>5</a:t>
            </a:fld>
            <a:endParaRPr lang="en-GB"/>
          </a:p>
        </p:txBody>
      </p:sp>
    </p:spTree>
    <p:extLst>
      <p:ext uri="{BB962C8B-B14F-4D97-AF65-F5344CB8AC3E}">
        <p14:creationId xmlns:p14="http://schemas.microsoft.com/office/powerpoint/2010/main" val="1424342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JP</a:t>
            </a:r>
            <a:r>
              <a:rPr lang="en-GB" baseline="0" dirty="0" smtClean="0"/>
              <a:t> claims to be based on these two core principles</a:t>
            </a:r>
          </a:p>
          <a:p>
            <a:endParaRPr lang="en-GB" baseline="0" dirty="0" smtClean="0"/>
          </a:p>
          <a:p>
            <a:r>
              <a:rPr lang="en-GB" baseline="0" dirty="0" smtClean="0"/>
              <a:t>This review will look at the evidence that directly investigates the effectiveness of JP but also the principles on which it is founded.</a:t>
            </a:r>
          </a:p>
          <a:p>
            <a:r>
              <a:rPr lang="en-GB" baseline="0" dirty="0" smtClean="0"/>
              <a:t>First will have a quick look at what these terms mean</a:t>
            </a:r>
          </a:p>
          <a:p>
            <a:endParaRPr lang="en-GB" baseline="0" dirty="0" smtClean="0"/>
          </a:p>
        </p:txBody>
      </p:sp>
      <p:sp>
        <p:nvSpPr>
          <p:cNvPr id="4" name="Slide Number Placeholder 3"/>
          <p:cNvSpPr>
            <a:spLocks noGrp="1"/>
          </p:cNvSpPr>
          <p:nvPr>
            <p:ph type="sldNum" sz="quarter" idx="10"/>
          </p:nvPr>
        </p:nvSpPr>
        <p:spPr/>
        <p:txBody>
          <a:bodyPr/>
          <a:lstStyle/>
          <a:p>
            <a:fld id="{3B8BCD28-7FF1-40D4-B12E-4F2A16373110}" type="slidenum">
              <a:rPr lang="en-GB" smtClean="0"/>
              <a:t>6</a:t>
            </a:fld>
            <a:endParaRPr lang="en-GB"/>
          </a:p>
        </p:txBody>
      </p:sp>
    </p:spTree>
    <p:extLst>
      <p:ext uri="{BB962C8B-B14F-4D97-AF65-F5344CB8AC3E}">
        <p14:creationId xmlns:p14="http://schemas.microsoft.com/office/powerpoint/2010/main" val="40048311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baseline="0" dirty="0" smtClean="0">
                <a:solidFill>
                  <a:schemeClr val="tx1"/>
                </a:solidFill>
                <a:effectLst/>
                <a:latin typeface="+mn-lt"/>
                <a:ea typeface="+mn-ea"/>
                <a:cs typeface="+mn-cs"/>
              </a:rPr>
              <a:t>Simple view of reading - Cognitive processes develop in a linear fashion and phonemic awareness is the first skill required for word identification.</a:t>
            </a:r>
            <a:endParaRPr lang="en-GB"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kern="1200" dirty="0" smtClean="0">
              <a:solidFill>
                <a:schemeClr val="tx1"/>
              </a:solidFill>
              <a:effectLst/>
              <a:latin typeface="+mn-lt"/>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smtClean="0">
                <a:solidFill>
                  <a:schemeClr val="tx1"/>
                </a:solidFill>
                <a:effectLst/>
                <a:latin typeface="+mn-lt"/>
                <a:ea typeface="+mn-ea"/>
                <a:cs typeface="+mn-cs"/>
              </a:rPr>
              <a:t>There</a:t>
            </a:r>
            <a:r>
              <a:rPr lang="en-GB" sz="1200" kern="1200" baseline="0" dirty="0" smtClean="0">
                <a:solidFill>
                  <a:schemeClr val="tx1"/>
                </a:solidFill>
                <a:effectLst/>
                <a:latin typeface="+mn-lt"/>
                <a:ea typeface="+mn-ea"/>
                <a:cs typeface="+mn-cs"/>
              </a:rPr>
              <a:t> are two types of phonic approach. </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b="1" kern="1200" baseline="0" dirty="0" smtClean="0">
                <a:solidFill>
                  <a:schemeClr val="tx1"/>
                </a:solidFill>
                <a:effectLst/>
                <a:latin typeface="+mn-lt"/>
                <a:ea typeface="+mn-ea"/>
                <a:cs typeface="+mn-cs"/>
              </a:rPr>
              <a:t>A</a:t>
            </a:r>
            <a:r>
              <a:rPr lang="en-GB" b="1" dirty="0" smtClean="0"/>
              <a:t>nalytic</a:t>
            </a:r>
            <a:r>
              <a:rPr lang="en-GB" dirty="0" smtClean="0"/>
              <a:t> phonics, children analyse letters sounds after the word has been identified, children at first learn words by sight mostly, having their attention drawn only to the initial letter sounds. Only after all the letter sounds have been taught is sounding and blending introduced.</a:t>
            </a:r>
          </a:p>
          <a:p>
            <a:pPr marL="171450" indent="-171450">
              <a:buFont typeface="Arial" panose="020B0604020202020204" pitchFamily="34" charset="0"/>
              <a:buChar char="•"/>
            </a:pPr>
            <a:r>
              <a:rPr lang="en-GB" dirty="0" smtClean="0"/>
              <a:t>Whereas in </a:t>
            </a:r>
            <a:r>
              <a:rPr lang="en-GB" b="1" dirty="0" smtClean="0"/>
              <a:t>synthetic</a:t>
            </a:r>
            <a:r>
              <a:rPr lang="en-GB" dirty="0" smtClean="0"/>
              <a:t> phonics the pronunciation of the word is discovered through sounding and blending. Another critical difference is that synthetic phonics teaches children to sound and blend from the start of reading tuition, after the first few letter sounds have been taught. </a:t>
            </a:r>
          </a:p>
          <a:p>
            <a:endParaRPr lang="en-GB" dirty="0" smtClean="0"/>
          </a:p>
          <a:p>
            <a:pPr marL="171450" indent="-171450">
              <a:buFont typeface="Arial" panose="020B0604020202020204" pitchFamily="34" charset="0"/>
              <a:buChar char="•"/>
            </a:pPr>
            <a:r>
              <a:rPr lang="en-GB" dirty="0" smtClean="0"/>
              <a:t>The Government</a:t>
            </a:r>
            <a:r>
              <a:rPr lang="en-GB" baseline="0" dirty="0" smtClean="0"/>
              <a:t> r</a:t>
            </a:r>
            <a:r>
              <a:rPr lang="en-GB" dirty="0" smtClean="0"/>
              <a:t>ecommended the synthetic phonics method (The Primary</a:t>
            </a:r>
            <a:r>
              <a:rPr lang="en-GB" baseline="0" dirty="0" smtClean="0"/>
              <a:t> </a:t>
            </a:r>
            <a:r>
              <a:rPr lang="en-GB" dirty="0" smtClean="0"/>
              <a:t>Framework for Literacy and Mathematics,</a:t>
            </a:r>
            <a:r>
              <a:rPr lang="en-GB" baseline="0" dirty="0" smtClean="0"/>
              <a:t> </a:t>
            </a:r>
            <a:r>
              <a:rPr lang="en-GB" dirty="0" smtClean="0"/>
              <a:t>2006; Rose Review, 2006).Rose suggested that synthetic phonics was</a:t>
            </a:r>
            <a:r>
              <a:rPr lang="en-GB" baseline="0" dirty="0" smtClean="0"/>
              <a:t> the more preferable method due to the research evidence at the time, but this is subject to ongoing debate.</a:t>
            </a:r>
            <a:endParaRPr lang="en-GB" dirty="0" smtClean="0"/>
          </a:p>
          <a:p>
            <a:pPr marL="171450" indent="-171450">
              <a:buFont typeface="Arial" panose="020B0604020202020204" pitchFamily="34" charset="0"/>
              <a:buChar char="•"/>
            </a:pPr>
            <a:endParaRPr lang="en-GB" dirty="0" smtClean="0"/>
          </a:p>
          <a:p>
            <a:pPr marL="171450" indent="-171450">
              <a:buFont typeface="Arial" panose="020B0604020202020204" pitchFamily="34" charset="0"/>
              <a:buChar char="•"/>
            </a:pPr>
            <a:r>
              <a:rPr lang="en-GB" dirty="0" smtClean="0"/>
              <a:t>JP is synthetic.</a:t>
            </a:r>
            <a:r>
              <a:rPr lang="en-GB" baseline="0" dirty="0" smtClean="0"/>
              <a:t> It encourages all the sounds to be learnt before they are applied to reading. Might see some words but for the purpose of recognising the sounds not the words. This is especially true in the first 9 weeks.  - </a:t>
            </a:r>
            <a:r>
              <a:rPr lang="en-GB" dirty="0" smtClean="0"/>
              <a:t>Wyse critique</a:t>
            </a:r>
            <a:r>
              <a:rPr lang="en-GB" baseline="0" dirty="0" smtClean="0"/>
              <a:t> of no books but not quite true just that JP recommends the time is best spent on learning phonics but books can serve another purpose.</a:t>
            </a:r>
          </a:p>
          <a:p>
            <a:endParaRPr lang="en-GB" baseline="0" dirty="0" smtClean="0"/>
          </a:p>
          <a:p>
            <a:endParaRPr lang="en-GB" dirty="0"/>
          </a:p>
        </p:txBody>
      </p:sp>
      <p:sp>
        <p:nvSpPr>
          <p:cNvPr id="4" name="Slide Number Placeholder 3"/>
          <p:cNvSpPr>
            <a:spLocks noGrp="1"/>
          </p:cNvSpPr>
          <p:nvPr>
            <p:ph type="sldNum" sz="quarter" idx="10"/>
          </p:nvPr>
        </p:nvSpPr>
        <p:spPr/>
        <p:txBody>
          <a:bodyPr/>
          <a:lstStyle/>
          <a:p>
            <a:fld id="{3B8BCD28-7FF1-40D4-B12E-4F2A16373110}" type="slidenum">
              <a:rPr lang="en-GB" smtClean="0"/>
              <a:t>7</a:t>
            </a:fld>
            <a:endParaRPr lang="en-GB"/>
          </a:p>
        </p:txBody>
      </p:sp>
    </p:spTree>
    <p:extLst>
      <p:ext uri="{BB962C8B-B14F-4D97-AF65-F5344CB8AC3E}">
        <p14:creationId xmlns:p14="http://schemas.microsoft.com/office/powerpoint/2010/main" val="2243763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smtClean="0"/>
              <a:t>Lloyd</a:t>
            </a:r>
            <a:r>
              <a:rPr lang="en-GB" baseline="0" dirty="0" smtClean="0"/>
              <a:t> claims – Young children learn quickly when there is activity involved. Each sound has an action to support it and a song to help them remember the sound as well as characters and illustrations in books and pictures to support visually. </a:t>
            </a:r>
          </a:p>
          <a:p>
            <a:pPr marL="171450" indent="-171450">
              <a:buFont typeface="Arial" panose="020B0604020202020204" pitchFamily="34" charset="0"/>
              <a:buChar char="•"/>
            </a:pPr>
            <a:endParaRPr lang="en-GB" baseline="0" dirty="0" smtClean="0"/>
          </a:p>
          <a:p>
            <a:pPr marL="171450" indent="-171450">
              <a:buFont typeface="Arial" panose="020B0604020202020204" pitchFamily="34" charset="0"/>
              <a:buChar char="•"/>
            </a:pPr>
            <a:r>
              <a:rPr lang="en-GB" baseline="0" dirty="0" smtClean="0"/>
              <a:t>Multi-sensory approaches may be inspired by the Orton-Gillingham approach to teaching reading. Started with Dr Orton in the 20s and Gillingham developed this into a curriculum in the 60s. </a:t>
            </a:r>
          </a:p>
          <a:p>
            <a:pPr marL="171450" indent="-171450">
              <a:buFont typeface="Arial" panose="020B0604020202020204" pitchFamily="34" charset="0"/>
              <a:buChar char="•"/>
            </a:pPr>
            <a:r>
              <a:rPr lang="en-GB" baseline="0" dirty="0" smtClean="0"/>
              <a:t>This encourages systematic phonics teaching involving  simultaneous visual, auditory, and </a:t>
            </a:r>
            <a:r>
              <a:rPr lang="en-GB" baseline="0" dirty="0" err="1" smtClean="0"/>
              <a:t>kinesthetic</a:t>
            </a:r>
            <a:r>
              <a:rPr lang="en-GB" baseline="0" dirty="0" smtClean="0"/>
              <a:t>/tactile learning pathways. </a:t>
            </a:r>
          </a:p>
          <a:p>
            <a:pPr marL="171450" indent="-171450">
              <a:buFont typeface="Arial" panose="020B0604020202020204" pitchFamily="34" charset="0"/>
              <a:buChar char="•"/>
            </a:pPr>
            <a:r>
              <a:rPr lang="en-GB" baseline="0" dirty="0" smtClean="0"/>
              <a:t>However this is not based on any evidence beyond the authors own observations and experiences who claimed it would enhance memory and learning (Campbell </a:t>
            </a:r>
            <a:r>
              <a:rPr lang="en-GB" baseline="0" dirty="0" err="1" smtClean="0"/>
              <a:t>Helf</a:t>
            </a:r>
            <a:r>
              <a:rPr lang="en-GB" baseline="0" dirty="0" smtClean="0"/>
              <a:t> and Cooke 2008)</a:t>
            </a:r>
          </a:p>
          <a:p>
            <a:pPr marL="0" indent="0">
              <a:buFont typeface="Arial" panose="020B0604020202020204" pitchFamily="34" charset="0"/>
              <a:buNone/>
            </a:pPr>
            <a:endParaRPr lang="en-GB" baseline="0" dirty="0" smtClean="0"/>
          </a:p>
          <a:p>
            <a:pPr marL="171450" indent="-171450">
              <a:buFont typeface="Arial" panose="020B0604020202020204" pitchFamily="34" charset="0"/>
              <a:buChar char="•"/>
            </a:pPr>
            <a:r>
              <a:rPr lang="en-GB" baseline="0" dirty="0" smtClean="0"/>
              <a:t>Although is more stimulating and more likely to maintain attention which will help learning.</a:t>
            </a:r>
          </a:p>
          <a:p>
            <a:endParaRPr lang="en-GB" baseline="0" dirty="0" smtClean="0"/>
          </a:p>
        </p:txBody>
      </p:sp>
      <p:sp>
        <p:nvSpPr>
          <p:cNvPr id="4" name="Slide Number Placeholder 3"/>
          <p:cNvSpPr>
            <a:spLocks noGrp="1"/>
          </p:cNvSpPr>
          <p:nvPr>
            <p:ph type="sldNum" sz="quarter" idx="10"/>
          </p:nvPr>
        </p:nvSpPr>
        <p:spPr/>
        <p:txBody>
          <a:bodyPr/>
          <a:lstStyle/>
          <a:p>
            <a:fld id="{3B8BCD28-7FF1-40D4-B12E-4F2A16373110}" type="slidenum">
              <a:rPr lang="en-GB" smtClean="0"/>
              <a:t>8</a:t>
            </a:fld>
            <a:endParaRPr lang="en-GB"/>
          </a:p>
        </p:txBody>
      </p:sp>
    </p:spTree>
    <p:extLst>
      <p:ext uri="{BB962C8B-B14F-4D97-AF65-F5344CB8AC3E}">
        <p14:creationId xmlns:p14="http://schemas.microsoft.com/office/powerpoint/2010/main" val="6355642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Process of literature</a:t>
            </a:r>
            <a:r>
              <a:rPr lang="en-GB" baseline="0" dirty="0" smtClean="0"/>
              <a:t> review</a:t>
            </a:r>
          </a:p>
          <a:p>
            <a:r>
              <a:rPr lang="en-GB" baseline="0" dirty="0" smtClean="0"/>
              <a:t>16 articles </a:t>
            </a:r>
          </a:p>
          <a:p>
            <a:r>
              <a:rPr lang="en-GB" baseline="0" dirty="0" smtClean="0"/>
              <a:t>6 unpublished articles </a:t>
            </a:r>
          </a:p>
          <a:p>
            <a:r>
              <a:rPr lang="en-GB" baseline="0" dirty="0" smtClean="0"/>
              <a:t>2 theses (1 in Italian)</a:t>
            </a:r>
          </a:p>
          <a:p>
            <a:r>
              <a:rPr lang="en-GB" baseline="0" dirty="0" smtClean="0"/>
              <a:t>2 case studies published by JP as pdfs</a:t>
            </a:r>
          </a:p>
          <a:p>
            <a:r>
              <a:rPr lang="en-GB" baseline="0" dirty="0" smtClean="0"/>
              <a:t>2 magazine articles (1 in French)</a:t>
            </a:r>
          </a:p>
          <a:p>
            <a:r>
              <a:rPr lang="en-GB" baseline="0" dirty="0" smtClean="0"/>
              <a:t>1 report for the Scottish government</a:t>
            </a:r>
          </a:p>
          <a:p>
            <a:r>
              <a:rPr lang="en-GB" baseline="0" dirty="0" smtClean="0"/>
              <a:t>3 peer reviewed journal articles (Stuart, Hus and Bower-Crane)</a:t>
            </a:r>
          </a:p>
          <a:p>
            <a:endParaRPr lang="en-GB" baseline="0" dirty="0" smtClean="0"/>
          </a:p>
          <a:p>
            <a:r>
              <a:rPr lang="en-GB" baseline="0" dirty="0" smtClean="0"/>
              <a:t>Not to say that these articles don’t help – they show that JP has been used as an effective means of increasing decoding in particular. Gains have been quicker once the programme is in place. Lots of case studies talk about how easy they are to implement. However the methods and results are not always clearly defined and they haven’t been through a peer review process, cautious </a:t>
            </a:r>
            <a:r>
              <a:rPr lang="en-GB" baseline="0" dirty="0" err="1" smtClean="0"/>
              <a:t>interepretation</a:t>
            </a:r>
            <a:r>
              <a:rPr lang="en-GB" baseline="0" dirty="0" smtClean="0"/>
              <a:t> would be needed.</a:t>
            </a:r>
          </a:p>
          <a:p>
            <a:r>
              <a:rPr lang="en-GB" baseline="0" dirty="0" smtClean="0"/>
              <a:t>Therefore look to see if any have been subsequently published, if there is new evidence and to check literature from unbiased sources</a:t>
            </a:r>
          </a:p>
          <a:p>
            <a:r>
              <a:rPr lang="en-GB" baseline="0" dirty="0" smtClean="0"/>
              <a:t>A literature search with </a:t>
            </a:r>
            <a:r>
              <a:rPr lang="en-GB" baseline="0" dirty="0" err="1" smtClean="0"/>
              <a:t>Psychinfo</a:t>
            </a:r>
            <a:r>
              <a:rPr lang="en-GB" baseline="0" dirty="0" smtClean="0"/>
              <a:t> and Web of science also yielded 5 further articles. One of which was a review and included one of the other studies and the other did not use JP as the </a:t>
            </a:r>
            <a:r>
              <a:rPr lang="en-GB" baseline="0" dirty="0" err="1" smtClean="0"/>
              <a:t>experiemental</a:t>
            </a:r>
            <a:r>
              <a:rPr lang="en-GB" baseline="0" dirty="0" smtClean="0"/>
              <a:t> condition – it was a </a:t>
            </a:r>
            <a:r>
              <a:rPr lang="en-GB" baseline="0" dirty="0" err="1" smtClean="0"/>
              <a:t>precurosr</a:t>
            </a:r>
            <a:r>
              <a:rPr lang="en-GB" baseline="0" dirty="0" smtClean="0"/>
              <a:t> factor</a:t>
            </a:r>
          </a:p>
          <a:p>
            <a:endParaRPr lang="en-GB" baseline="0" dirty="0" smtClean="0"/>
          </a:p>
          <a:p>
            <a:endParaRPr lang="en-GB" baseline="0" smtClean="0"/>
          </a:p>
          <a:p>
            <a:endParaRPr lang="en-GB" baseline="0" dirty="0" smtClean="0"/>
          </a:p>
        </p:txBody>
      </p:sp>
      <p:sp>
        <p:nvSpPr>
          <p:cNvPr id="4" name="Slide Number Placeholder 3"/>
          <p:cNvSpPr>
            <a:spLocks noGrp="1"/>
          </p:cNvSpPr>
          <p:nvPr>
            <p:ph type="sldNum" sz="quarter" idx="10"/>
          </p:nvPr>
        </p:nvSpPr>
        <p:spPr/>
        <p:txBody>
          <a:bodyPr/>
          <a:lstStyle/>
          <a:p>
            <a:fld id="{3B8BCD28-7FF1-40D4-B12E-4F2A16373110}" type="slidenum">
              <a:rPr lang="en-GB" smtClean="0"/>
              <a:t>9</a:t>
            </a:fld>
            <a:endParaRPr lang="en-GB"/>
          </a:p>
        </p:txBody>
      </p:sp>
    </p:spTree>
    <p:extLst>
      <p:ext uri="{BB962C8B-B14F-4D97-AF65-F5344CB8AC3E}">
        <p14:creationId xmlns:p14="http://schemas.microsoft.com/office/powerpoint/2010/main" val="3632192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See</a:t>
            </a:r>
            <a:r>
              <a:rPr lang="en-GB" baseline="0" dirty="0" smtClean="0"/>
              <a:t> other notes</a:t>
            </a:r>
            <a:endParaRPr lang="en-GB" dirty="0"/>
          </a:p>
        </p:txBody>
      </p:sp>
      <p:sp>
        <p:nvSpPr>
          <p:cNvPr id="4" name="Slide Number Placeholder 3"/>
          <p:cNvSpPr>
            <a:spLocks noGrp="1"/>
          </p:cNvSpPr>
          <p:nvPr>
            <p:ph type="sldNum" sz="quarter" idx="10"/>
          </p:nvPr>
        </p:nvSpPr>
        <p:spPr/>
        <p:txBody>
          <a:bodyPr/>
          <a:lstStyle/>
          <a:p>
            <a:fld id="{3B8BCD28-7FF1-40D4-B12E-4F2A16373110}" type="slidenum">
              <a:rPr lang="en-GB" smtClean="0"/>
              <a:t>10</a:t>
            </a:fld>
            <a:endParaRPr lang="en-GB"/>
          </a:p>
        </p:txBody>
      </p:sp>
    </p:spTree>
    <p:extLst>
      <p:ext uri="{BB962C8B-B14F-4D97-AF65-F5344CB8AC3E}">
        <p14:creationId xmlns:p14="http://schemas.microsoft.com/office/powerpoint/2010/main" val="3632192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Pros of research</a:t>
            </a:r>
          </a:p>
          <a:p>
            <a:pPr marL="171450" indent="-171450">
              <a:buFontTx/>
              <a:buChar char="-"/>
            </a:pPr>
            <a:r>
              <a:rPr lang="en-GB" dirty="0" smtClean="0"/>
              <a:t>Wide range of researchers. Not always the authors</a:t>
            </a:r>
            <a:r>
              <a:rPr lang="en-GB" baseline="0" dirty="0" smtClean="0"/>
              <a:t> of JP. Quite independent</a:t>
            </a:r>
          </a:p>
          <a:p>
            <a:pPr marL="171450" indent="-171450">
              <a:buFontTx/>
              <a:buChar char="-"/>
            </a:pPr>
            <a:r>
              <a:rPr lang="en-GB" baseline="0" dirty="0" smtClean="0"/>
              <a:t>Used to support children in a whole class setting and in intervention groups</a:t>
            </a:r>
          </a:p>
          <a:p>
            <a:pPr marL="171450" indent="-171450">
              <a:buFontTx/>
              <a:buChar char="-"/>
            </a:pPr>
            <a:r>
              <a:rPr lang="en-GB" baseline="0" dirty="0" smtClean="0"/>
              <a:t>Seems effective with pupils who have English as a second language / from low SES backgrounds / developmental delay</a:t>
            </a:r>
          </a:p>
          <a:p>
            <a:pPr marL="0" indent="0">
              <a:buFontTx/>
              <a:buNone/>
            </a:pPr>
            <a:endParaRPr lang="en-GB" baseline="0" dirty="0" smtClean="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GB" dirty="0" smtClean="0"/>
              <a:t>International and small sample sizes</a:t>
            </a:r>
          </a:p>
          <a:p>
            <a:pPr marL="171450" indent="-171450">
              <a:buFontTx/>
              <a:buChar char="-"/>
            </a:pPr>
            <a:r>
              <a:rPr lang="en-GB" dirty="0" smtClean="0"/>
              <a:t>JP isn’t always the only aspect of intervention</a:t>
            </a:r>
            <a:r>
              <a:rPr lang="en-GB" baseline="0" dirty="0" smtClean="0"/>
              <a:t> and it is hard to unpick – Goetz and Bower crane</a:t>
            </a:r>
          </a:p>
          <a:p>
            <a:pPr marL="171450" indent="-171450">
              <a:buFontTx/>
              <a:buChar char="-"/>
            </a:pPr>
            <a:r>
              <a:rPr lang="en-GB" baseline="0" dirty="0" smtClean="0"/>
              <a:t>Is it any better than any other synthetic approach – we will see Jo talk about RRI shortly – not many studies comparing it to other approaches.</a:t>
            </a:r>
            <a:endParaRPr lang="en-GB" dirty="0"/>
          </a:p>
        </p:txBody>
      </p:sp>
      <p:sp>
        <p:nvSpPr>
          <p:cNvPr id="4" name="Slide Number Placeholder 3"/>
          <p:cNvSpPr>
            <a:spLocks noGrp="1"/>
          </p:cNvSpPr>
          <p:nvPr>
            <p:ph type="sldNum" sz="quarter" idx="10"/>
          </p:nvPr>
        </p:nvSpPr>
        <p:spPr/>
        <p:txBody>
          <a:bodyPr/>
          <a:lstStyle/>
          <a:p>
            <a:fld id="{3B8BCD28-7FF1-40D4-B12E-4F2A16373110}" type="slidenum">
              <a:rPr lang="en-GB" smtClean="0"/>
              <a:t>11</a:t>
            </a:fld>
            <a:endParaRPr lang="en-GB"/>
          </a:p>
        </p:txBody>
      </p:sp>
    </p:spTree>
    <p:extLst>
      <p:ext uri="{BB962C8B-B14F-4D97-AF65-F5344CB8AC3E}">
        <p14:creationId xmlns:p14="http://schemas.microsoft.com/office/powerpoint/2010/main" val="363219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Other studies found it was no more beneficial than other synthetic phonics approaches –</a:t>
            </a:r>
            <a:r>
              <a:rPr lang="en-GB" baseline="0" dirty="0" smtClean="0"/>
              <a:t> One school did better but not both and more likely to be due to the way in which the synthetic programme is delivered.</a:t>
            </a:r>
            <a:endParaRPr lang="en-GB" dirty="0" smtClean="0"/>
          </a:p>
          <a:p>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May just be chosen because of its ease of access, clear lesson plans rather than being chosen</a:t>
            </a:r>
            <a:r>
              <a:rPr lang="en-GB" baseline="0" dirty="0" smtClean="0"/>
              <a:t> for its evidence base</a:t>
            </a:r>
            <a:r>
              <a:rPr lang="en-GB" dirty="0" smtClean="0"/>
              <a:t>. Could just use letters and sounds which is also a synthetic</a:t>
            </a:r>
            <a:r>
              <a:rPr lang="en-GB" baseline="0" dirty="0" smtClean="0"/>
              <a:t> approach.</a:t>
            </a:r>
            <a:endParaRPr lang="en-GB" dirty="0" smtClean="0"/>
          </a:p>
          <a:p>
            <a:endParaRPr lang="en-GB" dirty="0" smtClean="0"/>
          </a:p>
          <a:p>
            <a:r>
              <a:rPr lang="en-GB" dirty="0" smtClean="0"/>
              <a:t>Much of the cited evidence is for synthetic phonics not JP in particular</a:t>
            </a:r>
          </a:p>
          <a:p>
            <a:endParaRPr lang="en-GB" dirty="0" smtClean="0"/>
          </a:p>
          <a:p>
            <a:r>
              <a:rPr lang="en-GB" dirty="0" smtClean="0"/>
              <a:t>BUT</a:t>
            </a:r>
            <a:r>
              <a:rPr lang="en-GB" baseline="0" dirty="0" smtClean="0"/>
              <a:t> – JP is one of </a:t>
            </a:r>
            <a:r>
              <a:rPr lang="en-GB" baseline="0" dirty="0" err="1" smtClean="0"/>
              <a:t>serveral</a:t>
            </a:r>
            <a:r>
              <a:rPr lang="en-GB" baseline="0" dirty="0" smtClean="0"/>
              <a:t> synthetic phonics programmes. Some are free to deliver e.g. letters and sounds. </a:t>
            </a:r>
            <a:endParaRPr lang="en-GB" dirty="0" smtClean="0"/>
          </a:p>
          <a:p>
            <a:r>
              <a:rPr lang="en-GB" dirty="0" smtClean="0"/>
              <a:t>What makes it successful? Which component is most effective? Synthetic or</a:t>
            </a:r>
            <a:r>
              <a:rPr lang="en-GB" baseline="0" dirty="0" smtClean="0"/>
              <a:t> multisensory?</a:t>
            </a:r>
            <a:endParaRPr lang="en-GB" dirty="0" smtClean="0"/>
          </a:p>
          <a:p>
            <a:endParaRPr lang="en-GB" dirty="0"/>
          </a:p>
        </p:txBody>
      </p:sp>
      <p:sp>
        <p:nvSpPr>
          <p:cNvPr id="4" name="Slide Number Placeholder 3"/>
          <p:cNvSpPr>
            <a:spLocks noGrp="1"/>
          </p:cNvSpPr>
          <p:nvPr>
            <p:ph type="sldNum" sz="quarter" idx="10"/>
          </p:nvPr>
        </p:nvSpPr>
        <p:spPr/>
        <p:txBody>
          <a:bodyPr/>
          <a:lstStyle/>
          <a:p>
            <a:fld id="{3B8BCD28-7FF1-40D4-B12E-4F2A16373110}" type="slidenum">
              <a:rPr lang="en-GB" smtClean="0"/>
              <a:t>12</a:t>
            </a:fld>
            <a:endParaRPr lang="en-GB"/>
          </a:p>
        </p:txBody>
      </p:sp>
    </p:spTree>
    <p:extLst>
      <p:ext uri="{BB962C8B-B14F-4D97-AF65-F5344CB8AC3E}">
        <p14:creationId xmlns:p14="http://schemas.microsoft.com/office/powerpoint/2010/main" val="37125869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8BCD28-7FF1-40D4-B12E-4F2A16373110}" type="slidenum">
              <a:rPr lang="en-GB" smtClean="0"/>
              <a:t>13</a:t>
            </a:fld>
            <a:endParaRPr lang="en-GB"/>
          </a:p>
        </p:txBody>
      </p:sp>
    </p:spTree>
    <p:extLst>
      <p:ext uri="{BB962C8B-B14F-4D97-AF65-F5344CB8AC3E}">
        <p14:creationId xmlns:p14="http://schemas.microsoft.com/office/powerpoint/2010/main" val="623664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Not to go into too much</a:t>
            </a:r>
            <a:r>
              <a:rPr lang="en-GB" baseline="0" dirty="0" smtClean="0"/>
              <a:t> depth with this area as it is the evidence base for other interventions that we have already seen.</a:t>
            </a:r>
          </a:p>
          <a:p>
            <a:endParaRPr lang="en-GB" baseline="0" dirty="0" smtClean="0"/>
          </a:p>
          <a:p>
            <a:r>
              <a:rPr lang="en-GB" baseline="0" dirty="0" smtClean="0"/>
              <a:t>Quite a lot of evidence on the JP website and in publications relates to Johnson and Watson whose later studies continue to show improvements in phonemic awareness and reading ability for synthetic phonics over analytic phonics. It is not clear though that the programme they use is JP although it sounds very much like it. This evidence is the key evidence base which the Rose review based its recommendations on.</a:t>
            </a:r>
          </a:p>
          <a:p>
            <a:r>
              <a:rPr lang="en-GB" baseline="0" dirty="0" smtClean="0"/>
              <a:t>Rose cites research from Insight - a publication of the research group within Information, Analysis and Insight Communication Division, which is responsible for providing analytical services within the Scottish Executive Education Department (SEED). </a:t>
            </a:r>
          </a:p>
          <a:p>
            <a:endParaRPr lang="en-GB" baseline="0" dirty="0" smtClean="0"/>
          </a:p>
          <a:p>
            <a:r>
              <a:rPr lang="en-GB" baseline="0" dirty="0" smtClean="0"/>
              <a:t>This is a summary of studies by Johnson and Watson: Clackmannanshire studies – see separate notes</a:t>
            </a:r>
          </a:p>
          <a:p>
            <a:r>
              <a:rPr lang="en-GB" baseline="0" dirty="0" smtClean="0"/>
              <a:t>They have continued studying this area. -A comparison was made of 10-year-old boys and girls who had learnt to read by analytic or synthetic phonics methods The boys taught by the synthetic phonics method had better word reading than the girls in their classes, and their spelling and reading comprehension was as good. In contrast, with analytic phonics teaching, although the boys performed as well as the girls in word reading, they had inferior spelling and reading comprehension. Overall, the group taught by synthetic phonics had better word reading, spelling, and reading comprehension. There was no evidence that the synthetic phonics approach, which early on teaches children to blend letter sounds in order to read unfamiliar words, led to any impairment in the reading of irregular words.</a:t>
            </a:r>
          </a:p>
          <a:p>
            <a:endParaRPr lang="en-GB" baseline="0" dirty="0" smtClean="0"/>
          </a:p>
          <a:p>
            <a:r>
              <a:rPr lang="en-GB" baseline="0" dirty="0" smtClean="0"/>
              <a:t>Not the only studies to support synthetic approach -  E.g. Carol Torgerson’s work</a:t>
            </a:r>
          </a:p>
          <a:p>
            <a:endParaRPr lang="en-GB" baseline="0" dirty="0" smtClean="0"/>
          </a:p>
          <a:p>
            <a:r>
              <a:rPr lang="en-GB" baseline="0" dirty="0" smtClean="0"/>
              <a:t>Even Rose acknowledges that there is criticism of this research methodology but backs up with own observations and OFSTED ratings.</a:t>
            </a:r>
          </a:p>
          <a:p>
            <a:endParaRPr lang="en-GB" baseline="0" dirty="0" smtClean="0"/>
          </a:p>
          <a:p>
            <a:r>
              <a:rPr lang="en-GB" baseline="0" dirty="0" smtClean="0"/>
              <a:t>Critiques: Wyse – see separate notes</a:t>
            </a:r>
          </a:p>
          <a:p>
            <a:endParaRPr lang="en-GB" dirty="0" smtClean="0"/>
          </a:p>
          <a:p>
            <a:endParaRPr lang="en-GB" dirty="0"/>
          </a:p>
        </p:txBody>
      </p:sp>
      <p:sp>
        <p:nvSpPr>
          <p:cNvPr id="4" name="Slide Number Placeholder 3"/>
          <p:cNvSpPr>
            <a:spLocks noGrp="1"/>
          </p:cNvSpPr>
          <p:nvPr>
            <p:ph type="sldNum" sz="quarter" idx="10"/>
          </p:nvPr>
        </p:nvSpPr>
        <p:spPr/>
        <p:txBody>
          <a:bodyPr/>
          <a:lstStyle/>
          <a:p>
            <a:fld id="{3B8BCD28-7FF1-40D4-B12E-4F2A16373110}" type="slidenum">
              <a:rPr lang="en-GB" smtClean="0"/>
              <a:t>14</a:t>
            </a:fld>
            <a:endParaRPr lang="en-GB"/>
          </a:p>
        </p:txBody>
      </p:sp>
    </p:spTree>
    <p:extLst>
      <p:ext uri="{BB962C8B-B14F-4D97-AF65-F5344CB8AC3E}">
        <p14:creationId xmlns:p14="http://schemas.microsoft.com/office/powerpoint/2010/main" val="41397977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In OFSTED</a:t>
            </a:r>
            <a:r>
              <a:rPr lang="en-GB" baseline="0" dirty="0" smtClean="0"/>
              <a:t> rating outstanding phonics lessons multisensory approaches were used. – Rose report.</a:t>
            </a:r>
          </a:p>
          <a:p>
            <a:endParaRPr lang="en-GB" baseline="0" dirty="0" smtClean="0"/>
          </a:p>
          <a:p>
            <a:pPr marL="0" indent="0">
              <a:buNone/>
            </a:pPr>
            <a:r>
              <a:rPr lang="en-GB" sz="1200" b="1" dirty="0" smtClean="0">
                <a:solidFill>
                  <a:srgbClr val="0070C0"/>
                </a:solidFill>
              </a:rPr>
              <a:t>Kristen &amp; </a:t>
            </a:r>
            <a:r>
              <a:rPr lang="en-GB" sz="1200" b="1" dirty="0" err="1" smtClean="0">
                <a:solidFill>
                  <a:srgbClr val="0070C0"/>
                </a:solidFill>
              </a:rPr>
              <a:t>Goeke</a:t>
            </a:r>
            <a:r>
              <a:rPr lang="en-GB" sz="1200" b="1" dirty="0" smtClean="0">
                <a:solidFill>
                  <a:srgbClr val="0070C0"/>
                </a:solidFill>
              </a:rPr>
              <a:t> (2006)</a:t>
            </a:r>
          </a:p>
          <a:p>
            <a:pPr marL="0" indent="0">
              <a:buNone/>
            </a:pPr>
            <a:r>
              <a:rPr lang="en-GB" sz="1200" dirty="0" smtClean="0"/>
              <a:t>A review of the OG approach which concluded that due to the small number of studies, a lack of methodological rigor and inconclusive findings , additional research is needed before sound conclusions can be drawn about the effectiveness of this approach</a:t>
            </a:r>
          </a:p>
          <a:p>
            <a:endParaRPr lang="en-GB" baseline="0" dirty="0" smtClean="0"/>
          </a:p>
          <a:p>
            <a:r>
              <a:rPr lang="en-GB" baseline="0" dirty="0" smtClean="0"/>
              <a:t>Both synthetic and multi-sensory elements have had some evidence to support – it is not conclusive but perhaps more extensive than many school-based interventions.</a:t>
            </a:r>
          </a:p>
          <a:p>
            <a:endParaRPr lang="en-GB" baseline="0" dirty="0" smtClean="0"/>
          </a:p>
          <a:p>
            <a:r>
              <a:rPr lang="en-GB" baseline="0" dirty="0" smtClean="0"/>
              <a:t>However its hard to unpick which element may be most effective – which aspect is it important to maintain. </a:t>
            </a:r>
            <a:endParaRPr lang="en-GB" dirty="0"/>
          </a:p>
        </p:txBody>
      </p:sp>
      <p:sp>
        <p:nvSpPr>
          <p:cNvPr id="4" name="Slide Number Placeholder 3"/>
          <p:cNvSpPr>
            <a:spLocks noGrp="1"/>
          </p:cNvSpPr>
          <p:nvPr>
            <p:ph type="sldNum" sz="quarter" idx="10"/>
          </p:nvPr>
        </p:nvSpPr>
        <p:spPr/>
        <p:txBody>
          <a:bodyPr/>
          <a:lstStyle/>
          <a:p>
            <a:fld id="{3B8BCD28-7FF1-40D4-B12E-4F2A16373110}" type="slidenum">
              <a:rPr lang="en-GB" smtClean="0"/>
              <a:t>15</a:t>
            </a:fld>
            <a:endParaRPr lang="en-GB"/>
          </a:p>
        </p:txBody>
      </p:sp>
    </p:spTree>
    <p:extLst>
      <p:ext uri="{BB962C8B-B14F-4D97-AF65-F5344CB8AC3E}">
        <p14:creationId xmlns:p14="http://schemas.microsoft.com/office/powerpoint/2010/main" val="2035885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dirty="0" smtClean="0"/>
              <a:t>Evidence based – supports EAL</a:t>
            </a:r>
            <a:r>
              <a:rPr lang="en-GB" baseline="0" dirty="0" smtClean="0"/>
              <a:t> children, children from low SES backgrounds, children with a developmental condition, children who have not responded to other forms of class based teaching of phonics</a:t>
            </a:r>
          </a:p>
          <a:p>
            <a:pPr algn="l"/>
            <a:r>
              <a:rPr lang="en-GB" baseline="0" dirty="0" smtClean="0"/>
              <a:t>Evidence does need to be carefully considered, e.g. it is from around the world and often involves using other approaches simultaneously.</a:t>
            </a:r>
          </a:p>
          <a:p>
            <a:pPr algn="l"/>
            <a:endParaRPr lang="en-GB" baseline="0" dirty="0" smtClean="0"/>
          </a:p>
          <a:p>
            <a:pPr algn="l"/>
            <a:r>
              <a:rPr lang="en-GB" baseline="0" dirty="0" smtClean="0"/>
              <a:t>EP’s should encourage choice based on appropriateness and evidence not just ease of delivery - Cost of the intervention (see website) – nothing to stop schools creating their own versions based on letters and sounds or other synthetic approaches. Just takes more time.</a:t>
            </a:r>
          </a:p>
          <a:p>
            <a:pPr algn="l"/>
            <a:endParaRPr lang="en-GB" baseline="0" dirty="0" smtClean="0"/>
          </a:p>
          <a:p>
            <a:pPr algn="l"/>
            <a:r>
              <a:rPr lang="en-GB" baseline="0" dirty="0" smtClean="0"/>
              <a:t>phonological awareness is a precursor to skilled reading – but some children struggle with phonemic awareness or memory issues required to segment, blend, combine and hold on to the meaning. Therefore there will always be some children for whom this approach is not well suited. </a:t>
            </a:r>
            <a:r>
              <a:rPr lang="en-GB" dirty="0" smtClean="0"/>
              <a:t>Choices should be tailored to child not because it is manualised</a:t>
            </a:r>
          </a:p>
          <a:p>
            <a:pPr algn="l"/>
            <a:endParaRPr lang="en-GB"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smtClean="0"/>
              <a:t>Is rather young for use with older children who may require phonics intervention (own experience) – all studies use children who are in their first 2 years of formal schooling except down syndrome. Could be very demotivating to self-confidence if feel that are working on something for young children</a:t>
            </a:r>
          </a:p>
          <a:p>
            <a:pPr algn="l"/>
            <a:endParaRPr lang="en-GB" dirty="0"/>
          </a:p>
        </p:txBody>
      </p:sp>
      <p:sp>
        <p:nvSpPr>
          <p:cNvPr id="4" name="Slide Number Placeholder 3"/>
          <p:cNvSpPr>
            <a:spLocks noGrp="1"/>
          </p:cNvSpPr>
          <p:nvPr>
            <p:ph type="sldNum" sz="quarter" idx="10"/>
          </p:nvPr>
        </p:nvSpPr>
        <p:spPr/>
        <p:txBody>
          <a:bodyPr/>
          <a:lstStyle/>
          <a:p>
            <a:fld id="{3B8BCD28-7FF1-40D4-B12E-4F2A16373110}" type="slidenum">
              <a:rPr lang="en-GB" smtClean="0"/>
              <a:t>16</a:t>
            </a:fld>
            <a:endParaRPr lang="en-GB"/>
          </a:p>
        </p:txBody>
      </p:sp>
    </p:spTree>
    <p:extLst>
      <p:ext uri="{BB962C8B-B14F-4D97-AF65-F5344CB8AC3E}">
        <p14:creationId xmlns:p14="http://schemas.microsoft.com/office/powerpoint/2010/main" val="22510454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 synthetic approach to teaching phonics based on the understanding that phonological awareness is the first cognitive skill required in the process of learning to read.</a:t>
            </a:r>
          </a:p>
          <a:p>
            <a:r>
              <a:rPr lang="en-GB" dirty="0" smtClean="0"/>
              <a:t>Learning is supported through multisensory methods</a:t>
            </a:r>
          </a:p>
          <a:p>
            <a:r>
              <a:rPr lang="en-GB" dirty="0" smtClean="0"/>
              <a:t>Independent evidence supports the use of this approach</a:t>
            </a:r>
          </a:p>
          <a:p>
            <a:endParaRPr lang="en-GB" dirty="0" smtClean="0"/>
          </a:p>
          <a:p>
            <a:r>
              <a:rPr lang="en-GB" dirty="0" smtClean="0"/>
              <a:t>I would</a:t>
            </a:r>
            <a:r>
              <a:rPr lang="en-GB" baseline="0" dirty="0" smtClean="0"/>
              <a:t> conclude that this approach has it’s place – we need to be critical of evidence and make sure it is used for the right reasons but there is nothing to suggest that this approach is not worth trying.</a:t>
            </a:r>
            <a:endParaRPr lang="en-GB" dirty="0" smtClean="0"/>
          </a:p>
          <a:p>
            <a:endParaRPr lang="en-GB" dirty="0" smtClean="0"/>
          </a:p>
          <a:p>
            <a:r>
              <a:rPr lang="en-GB" dirty="0" smtClean="0"/>
              <a:t>I’m left wondering</a:t>
            </a:r>
          </a:p>
          <a:p>
            <a:r>
              <a:rPr lang="en-GB" dirty="0" smtClean="0"/>
              <a:t>It has not been proven to be more or less effective than any other synthetic or multisensory approaches so why would schools go for</a:t>
            </a:r>
            <a:r>
              <a:rPr lang="en-GB" baseline="0" dirty="0" smtClean="0"/>
              <a:t> this? Cost? Ease of delivery.</a:t>
            </a:r>
            <a:endParaRPr lang="en-GB" dirty="0" smtClean="0"/>
          </a:p>
          <a:p>
            <a:r>
              <a:rPr lang="en-GB" dirty="0" smtClean="0"/>
              <a:t>Schools who wish to use it have to consider if it is appropriate to the needs of the learners for which it is intended.</a:t>
            </a:r>
            <a:r>
              <a:rPr lang="en-GB" baseline="0" dirty="0" smtClean="0"/>
              <a:t> What is our role in this?</a:t>
            </a:r>
            <a:endParaRPr lang="en-GB" dirty="0" smtClean="0"/>
          </a:p>
          <a:p>
            <a:endParaRPr lang="en-GB" dirty="0"/>
          </a:p>
        </p:txBody>
      </p:sp>
      <p:sp>
        <p:nvSpPr>
          <p:cNvPr id="4" name="Slide Number Placeholder 3"/>
          <p:cNvSpPr>
            <a:spLocks noGrp="1"/>
          </p:cNvSpPr>
          <p:nvPr>
            <p:ph type="sldNum" sz="quarter" idx="10"/>
          </p:nvPr>
        </p:nvSpPr>
        <p:spPr/>
        <p:txBody>
          <a:bodyPr/>
          <a:lstStyle/>
          <a:p>
            <a:fld id="{3B8BCD28-7FF1-40D4-B12E-4F2A16373110}" type="slidenum">
              <a:rPr lang="en-GB" smtClean="0"/>
              <a:t>17</a:t>
            </a:fld>
            <a:endParaRPr lang="en-GB"/>
          </a:p>
        </p:txBody>
      </p:sp>
    </p:spTree>
    <p:extLst>
      <p:ext uri="{BB962C8B-B14F-4D97-AF65-F5344CB8AC3E}">
        <p14:creationId xmlns:p14="http://schemas.microsoft.com/office/powerpoint/2010/main" val="1814344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6D6BFE86-E5BA-465E-8C67-0758B138AE55}" type="datetimeFigureOut">
              <a:rPr lang="en-GB" smtClean="0"/>
              <a:t>18/12/2015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EABABE-5D84-4805-AF98-4CB64F26A2FE}" type="slidenum">
              <a:rPr lang="en-GB" smtClean="0"/>
              <a:t>‹#›</a:t>
            </a:fld>
            <a:endParaRPr lang="en-GB"/>
          </a:p>
        </p:txBody>
      </p:sp>
    </p:spTree>
    <p:extLst>
      <p:ext uri="{BB962C8B-B14F-4D97-AF65-F5344CB8AC3E}">
        <p14:creationId xmlns:p14="http://schemas.microsoft.com/office/powerpoint/2010/main" val="190807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6BFE86-E5BA-465E-8C67-0758B138AE55}" type="datetimeFigureOut">
              <a:rPr lang="en-GB" smtClean="0"/>
              <a:t>18/12/2015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EABABE-5D84-4805-AF98-4CB64F26A2FE}" type="slidenum">
              <a:rPr lang="en-GB" smtClean="0"/>
              <a:t>‹#›</a:t>
            </a:fld>
            <a:endParaRPr lang="en-GB"/>
          </a:p>
        </p:txBody>
      </p:sp>
    </p:spTree>
    <p:extLst>
      <p:ext uri="{BB962C8B-B14F-4D97-AF65-F5344CB8AC3E}">
        <p14:creationId xmlns:p14="http://schemas.microsoft.com/office/powerpoint/2010/main" val="430815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D6BFE86-E5BA-465E-8C67-0758B138AE55}" type="datetimeFigureOut">
              <a:rPr lang="en-GB" smtClean="0"/>
              <a:t>18/12/2015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EABABE-5D84-4805-AF98-4CB64F26A2FE}" type="slidenum">
              <a:rPr lang="en-GB" smtClean="0"/>
              <a:t>‹#›</a:t>
            </a:fld>
            <a:endParaRPr lang="en-GB"/>
          </a:p>
        </p:txBody>
      </p:sp>
    </p:spTree>
    <p:extLst>
      <p:ext uri="{BB962C8B-B14F-4D97-AF65-F5344CB8AC3E}">
        <p14:creationId xmlns:p14="http://schemas.microsoft.com/office/powerpoint/2010/main" val="2787006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6D6BFE86-E5BA-465E-8C67-0758B138AE55}" type="datetimeFigureOut">
              <a:rPr lang="en-GB" smtClean="0"/>
              <a:t>18/12/2015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BEABABE-5D84-4805-AF98-4CB64F26A2FE}" type="slidenum">
              <a:rPr lang="en-GB" smtClean="0"/>
              <a:t>‹#›</a:t>
            </a:fld>
            <a:endParaRPr lang="en-GB"/>
          </a:p>
        </p:txBody>
      </p:sp>
    </p:spTree>
    <p:extLst>
      <p:ext uri="{BB962C8B-B14F-4D97-AF65-F5344CB8AC3E}">
        <p14:creationId xmlns:p14="http://schemas.microsoft.com/office/powerpoint/2010/main" val="1947767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6D6BFE86-E5BA-465E-8C67-0758B138AE55}" type="datetimeFigureOut">
              <a:rPr lang="en-GB" smtClean="0"/>
              <a:t>18/12/2015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BEABABE-5D84-4805-AF98-4CB64F26A2FE}" type="slidenum">
              <a:rPr lang="en-GB" smtClean="0"/>
              <a:t>‹#›</a:t>
            </a:fld>
            <a:endParaRPr lang="en-GB"/>
          </a:p>
        </p:txBody>
      </p:sp>
    </p:spTree>
    <p:extLst>
      <p:ext uri="{BB962C8B-B14F-4D97-AF65-F5344CB8AC3E}">
        <p14:creationId xmlns:p14="http://schemas.microsoft.com/office/powerpoint/2010/main" val="42078277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6D6BFE86-E5BA-465E-8C67-0758B138AE55}" type="datetimeFigureOut">
              <a:rPr lang="en-GB" smtClean="0"/>
              <a:t>18/12/2015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BEABABE-5D84-4805-AF98-4CB64F26A2FE}" type="slidenum">
              <a:rPr lang="en-GB" smtClean="0"/>
              <a:t>‹#›</a:t>
            </a:fld>
            <a:endParaRPr lang="en-GB"/>
          </a:p>
        </p:txBody>
      </p:sp>
    </p:spTree>
    <p:extLst>
      <p:ext uri="{BB962C8B-B14F-4D97-AF65-F5344CB8AC3E}">
        <p14:creationId xmlns:p14="http://schemas.microsoft.com/office/powerpoint/2010/main" val="1937462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6BFE86-E5BA-465E-8C67-0758B138AE55}" type="datetimeFigureOut">
              <a:rPr lang="en-GB" smtClean="0"/>
              <a:t>18/12/2015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BEABABE-5D84-4805-AF98-4CB64F26A2FE}" type="slidenum">
              <a:rPr lang="en-GB" smtClean="0"/>
              <a:t>‹#›</a:t>
            </a:fld>
            <a:endParaRPr lang="en-GB"/>
          </a:p>
        </p:txBody>
      </p:sp>
    </p:spTree>
    <p:extLst>
      <p:ext uri="{BB962C8B-B14F-4D97-AF65-F5344CB8AC3E}">
        <p14:creationId xmlns:p14="http://schemas.microsoft.com/office/powerpoint/2010/main" val="2875564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6BFE86-E5BA-465E-8C67-0758B138AE55}" type="datetimeFigureOut">
              <a:rPr lang="en-GB" smtClean="0"/>
              <a:t>18/12/2015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BEABABE-5D84-4805-AF98-4CB64F26A2FE}" type="slidenum">
              <a:rPr lang="en-GB" smtClean="0"/>
              <a:t>‹#›</a:t>
            </a:fld>
            <a:endParaRPr lang="en-GB"/>
          </a:p>
        </p:txBody>
      </p:sp>
    </p:spTree>
    <p:extLst>
      <p:ext uri="{BB962C8B-B14F-4D97-AF65-F5344CB8AC3E}">
        <p14:creationId xmlns:p14="http://schemas.microsoft.com/office/powerpoint/2010/main" val="1962782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6BFE86-E5BA-465E-8C67-0758B138AE55}" type="datetimeFigureOut">
              <a:rPr lang="en-GB" smtClean="0"/>
              <a:t>18/12/2015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BEABABE-5D84-4805-AF98-4CB64F26A2FE}" type="slidenum">
              <a:rPr lang="en-GB" smtClean="0"/>
              <a:t>‹#›</a:t>
            </a:fld>
            <a:endParaRPr lang="en-GB"/>
          </a:p>
        </p:txBody>
      </p:sp>
    </p:spTree>
    <p:extLst>
      <p:ext uri="{BB962C8B-B14F-4D97-AF65-F5344CB8AC3E}">
        <p14:creationId xmlns:p14="http://schemas.microsoft.com/office/powerpoint/2010/main" val="4157201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6BFE86-E5BA-465E-8C67-0758B138AE55}" type="datetimeFigureOut">
              <a:rPr lang="en-GB" smtClean="0"/>
              <a:t>18/12/2015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EABABE-5D84-4805-AF98-4CB64F26A2FE}" type="slidenum">
              <a:rPr lang="en-GB" smtClean="0"/>
              <a:t>‹#›</a:t>
            </a:fld>
            <a:endParaRPr lang="en-GB"/>
          </a:p>
        </p:txBody>
      </p:sp>
    </p:spTree>
    <p:extLst>
      <p:ext uri="{BB962C8B-B14F-4D97-AF65-F5344CB8AC3E}">
        <p14:creationId xmlns:p14="http://schemas.microsoft.com/office/powerpoint/2010/main" val="3415679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6BFE86-E5BA-465E-8C67-0758B138AE55}" type="datetimeFigureOut">
              <a:rPr lang="en-GB" smtClean="0"/>
              <a:t>18/12/2015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BEABABE-5D84-4805-AF98-4CB64F26A2FE}" type="slidenum">
              <a:rPr lang="en-GB" smtClean="0"/>
              <a:t>‹#›</a:t>
            </a:fld>
            <a:endParaRPr lang="en-GB"/>
          </a:p>
        </p:txBody>
      </p:sp>
    </p:spTree>
    <p:extLst>
      <p:ext uri="{BB962C8B-B14F-4D97-AF65-F5344CB8AC3E}">
        <p14:creationId xmlns:p14="http://schemas.microsoft.com/office/powerpoint/2010/main" val="1584500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6BFE86-E5BA-465E-8C67-0758B138AE55}" type="datetimeFigureOut">
              <a:rPr lang="en-GB" smtClean="0"/>
              <a:t>18/12/2015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EABABE-5D84-4805-AF98-4CB64F26A2FE}" type="slidenum">
              <a:rPr lang="en-GB" smtClean="0"/>
              <a:t>‹#›</a:t>
            </a:fld>
            <a:endParaRPr lang="en-GB"/>
          </a:p>
        </p:txBody>
      </p:sp>
    </p:spTree>
    <p:extLst>
      <p:ext uri="{BB962C8B-B14F-4D97-AF65-F5344CB8AC3E}">
        <p14:creationId xmlns:p14="http://schemas.microsoft.com/office/powerpoint/2010/main" val="2765910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gif"/><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jpe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jpe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gif"/><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Desktop/02JollyPhonicsA_25.m4a"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ksblMiliA8"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http://ceehonduras.org/files/08JollyPhonicsE_30.m4a"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eCjJYB07aSU"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jollylearning.co.uk/shop/"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ln>
            <a:noFill/>
          </a:ln>
        </p:spPr>
        <p:txBody>
          <a:bodyPr>
            <a:normAutofit/>
          </a:bodyPr>
          <a:lstStyle/>
          <a:p>
            <a:r>
              <a:rPr lang="en-GB" sz="8800" b="1" dirty="0" smtClean="0">
                <a:solidFill>
                  <a:srgbClr val="0070C0"/>
                </a:solidFill>
              </a:rPr>
              <a:t>Jolly Phonics</a:t>
            </a:r>
            <a:endParaRPr lang="en-GB" sz="8800" b="1" dirty="0">
              <a:solidFill>
                <a:srgbClr val="0070C0"/>
              </a:solidFill>
            </a:endParaRPr>
          </a:p>
        </p:txBody>
      </p:sp>
      <p:sp>
        <p:nvSpPr>
          <p:cNvPr id="3" name="Subtitle 2"/>
          <p:cNvSpPr>
            <a:spLocks noGrp="1"/>
          </p:cNvSpPr>
          <p:nvPr>
            <p:ph type="subTitle" idx="1"/>
          </p:nvPr>
        </p:nvSpPr>
        <p:spPr>
          <a:xfrm>
            <a:off x="1403648" y="4149080"/>
            <a:ext cx="6400800" cy="1752600"/>
          </a:xfrm>
        </p:spPr>
        <p:txBody>
          <a:bodyPr>
            <a:normAutofit/>
          </a:bodyPr>
          <a:lstStyle/>
          <a:p>
            <a:pPr algn="l"/>
            <a:r>
              <a:rPr lang="en-GB" sz="2400" b="1" dirty="0" smtClean="0">
                <a:solidFill>
                  <a:srgbClr val="0070C0"/>
                </a:solidFill>
              </a:rPr>
              <a:t>Claire </a:t>
            </a:r>
            <a:r>
              <a:rPr lang="en-GB" sz="2400" b="1" dirty="0" smtClean="0">
                <a:solidFill>
                  <a:srgbClr val="0070C0"/>
                </a:solidFill>
              </a:rPr>
              <a:t>Williams</a:t>
            </a:r>
            <a:endParaRPr lang="en-GB" sz="2400" b="1" dirty="0" smtClean="0">
              <a:solidFill>
                <a:srgbClr val="0070C0"/>
              </a:solidFill>
            </a:endParaRPr>
          </a:p>
        </p:txBody>
      </p:sp>
      <p:pic>
        <p:nvPicPr>
          <p:cNvPr id="1027" name="Picture 3" descr="C:\Users\Claire\AppData\Local\Microsoft\Windows\INetCache\IE\9TI3MUWJ\large-walking-ant-33.3-5709[1].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20582" y="1150147"/>
            <a:ext cx="1363093" cy="7633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Claire\AppData\Local\Microsoft\Windows\INetCache\IE\7SGNHJEU\tennis[1].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0273" y="5310586"/>
            <a:ext cx="1080120" cy="1139526"/>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Claire\AppData\Local\Microsoft\Windows\INetCache\IE\9TI3MUWJ\6thbirthday1[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6013" y="481384"/>
            <a:ext cx="1211826" cy="83063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sers\Claire\AppData\Local\Microsoft\Windows\INetCache\IE\ZKT7S9LW\1360187800[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5069" y="5655729"/>
            <a:ext cx="1116124" cy="44924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C:\Users\Claire\AppData\Local\Microsoft\Windows\INetCache\IE\GPKA79P4\ubuplane[1].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292080" y="3889802"/>
            <a:ext cx="1151135" cy="61441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Users\Claire\AppData\Local\Microsoft\Windows\INetCache\IE\9TI3MUWJ\Drum[1].gif"/>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1920" y="386815"/>
            <a:ext cx="816351" cy="925198"/>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C:\Users\Claire\AppData\Local\Microsoft\Windows\INetCache\IE\7SGNHJEU\Wasser[1].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521638" y="5268205"/>
            <a:ext cx="660813" cy="112399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C:\Users\Claire\AppData\Local\Microsoft\Windows\INetCache\IE\ZKT7S9LW\light-bulb[1].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240463" y="2802146"/>
            <a:ext cx="322945" cy="510249"/>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C:\Users\Claire\AppData\Local\Microsoft\Windows\INetCache\IE\ZKT7S9LW\large-Kite-66.6-13491[1].gif"/>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23303" y="2835752"/>
            <a:ext cx="716757" cy="953287"/>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C:\Users\Claire\AppData\Local\Microsoft\Windows\INetCache\IE\GPKA79P4\brown-egg-4470-large[1].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843808" y="5599255"/>
            <a:ext cx="576064" cy="784407"/>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C:\Users\Claire\AppData\Local\Microsoft\Windows\INetCache\IE\GPKA79P4\nicubunu-Umbrella[1].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790882" y="1372512"/>
            <a:ext cx="809953" cy="76034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C:\Users\Claire\AppData\Local\Microsoft\Windows\INetCache\IE\ZKT7S9LW\large-tropical-fish-166.6-8461[1].gif"/>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6975675" y="239192"/>
            <a:ext cx="634547" cy="610222"/>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C:\Users\Claire\AppData\Local\Microsoft\Windows\INetCache\IE\9TI3MUWJ\1305613953[1].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610222" y="4005064"/>
            <a:ext cx="1056117" cy="79208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C:\Users\Claire\AppData\Local\Microsoft\Windows\INetCache\IE\ZKT7S9LW\jelly[1].jp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717243" y="1605740"/>
            <a:ext cx="829193" cy="507190"/>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7" descr="C:\Users\Claire\AppData\Local\Microsoft\Windows\INetCache\IE\GPKA79P4\van-150081_640[1].png"/>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5718021" y="5557361"/>
            <a:ext cx="680286" cy="497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73571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9088" y="6876"/>
            <a:ext cx="9153088" cy="6851124"/>
          </a:xfrm>
          <a:prstGeom prst="rect">
            <a:avLst/>
          </a:prstGeom>
        </p:spPr>
      </p:pic>
      <p:sp>
        <p:nvSpPr>
          <p:cNvPr id="2" name="Title 1"/>
          <p:cNvSpPr>
            <a:spLocks noGrp="1"/>
          </p:cNvSpPr>
          <p:nvPr>
            <p:ph type="title"/>
          </p:nvPr>
        </p:nvSpPr>
        <p:spPr/>
        <p:txBody>
          <a:bodyPr>
            <a:normAutofit/>
          </a:bodyPr>
          <a:lstStyle/>
          <a:p>
            <a:r>
              <a:rPr lang="en-GB" b="1" dirty="0" smtClean="0">
                <a:solidFill>
                  <a:srgbClr val="0070C0"/>
                </a:solidFill>
              </a:rPr>
              <a:t>The Reading Wars</a:t>
            </a:r>
            <a:endParaRPr lang="en-GB" b="1" dirty="0">
              <a:solidFill>
                <a:srgbClr val="0070C0"/>
              </a:solidFill>
            </a:endParaRPr>
          </a:p>
        </p:txBody>
      </p:sp>
      <p:sp>
        <p:nvSpPr>
          <p:cNvPr id="3" name="Content Placeholder 2"/>
          <p:cNvSpPr>
            <a:spLocks noGrp="1"/>
          </p:cNvSpPr>
          <p:nvPr>
            <p:ph idx="1"/>
          </p:nvPr>
        </p:nvSpPr>
        <p:spPr/>
        <p:txBody>
          <a:bodyPr>
            <a:normAutofit/>
          </a:bodyPr>
          <a:lstStyle/>
          <a:p>
            <a:r>
              <a:rPr lang="en-GB" dirty="0" smtClean="0"/>
              <a:t>1998 - Whole language approach  to literacy based on psycholinguistic principles.</a:t>
            </a:r>
          </a:p>
          <a:p>
            <a:r>
              <a:rPr lang="en-GB" dirty="0" smtClean="0"/>
              <a:t>Searchlight model of reading incorporated sematic, syntactic and graph-phonic cues.</a:t>
            </a:r>
          </a:p>
          <a:p>
            <a:r>
              <a:rPr lang="en-GB" dirty="0" smtClean="0"/>
              <a:t>2006 – The Simple View of Reading. </a:t>
            </a:r>
            <a:r>
              <a:rPr lang="en-GB" dirty="0"/>
              <a:t>B</a:t>
            </a:r>
            <a:r>
              <a:rPr lang="en-GB" dirty="0" smtClean="0"/>
              <a:t>ased on principles of cognitive development. (Rose 2006)</a:t>
            </a:r>
          </a:p>
          <a:p>
            <a:r>
              <a:rPr lang="en-GB" dirty="0" smtClean="0"/>
              <a:t>Focus on developing phonological skills first.</a:t>
            </a:r>
          </a:p>
        </p:txBody>
      </p:sp>
    </p:spTree>
    <p:extLst>
      <p:ext uri="{BB962C8B-B14F-4D97-AF65-F5344CB8AC3E}">
        <p14:creationId xmlns:p14="http://schemas.microsoft.com/office/powerpoint/2010/main" val="54004619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What is Jolly Phonics?</a:t>
            </a:r>
            <a:endParaRPr lang="en-GB" b="1" dirty="0">
              <a:solidFill>
                <a:srgbClr val="0070C0"/>
              </a:solidFill>
            </a:endParaRPr>
          </a:p>
        </p:txBody>
      </p:sp>
      <p:sp>
        <p:nvSpPr>
          <p:cNvPr id="3" name="Content Placeholder 2"/>
          <p:cNvSpPr>
            <a:spLocks noGrp="1"/>
          </p:cNvSpPr>
          <p:nvPr>
            <p:ph idx="1"/>
          </p:nvPr>
        </p:nvSpPr>
        <p:spPr/>
        <p:txBody>
          <a:bodyPr>
            <a:normAutofit/>
          </a:bodyPr>
          <a:lstStyle/>
          <a:p>
            <a:pPr marL="0" indent="0">
              <a:buNone/>
            </a:pPr>
            <a:r>
              <a:rPr lang="en-GB" dirty="0" smtClean="0"/>
              <a:t>Sue Lloyd (1992)</a:t>
            </a:r>
          </a:p>
          <a:p>
            <a:r>
              <a:rPr lang="en-GB" dirty="0" smtClean="0"/>
              <a:t>An approach to teaching early literacy</a:t>
            </a:r>
          </a:p>
          <a:p>
            <a:r>
              <a:rPr lang="en-GB" dirty="0" smtClean="0"/>
              <a:t>Building up 42 letter sounds</a:t>
            </a:r>
          </a:p>
          <a:p>
            <a:r>
              <a:rPr lang="en-GB" dirty="0" smtClean="0"/>
              <a:t>Forming letters in a multisensory approach</a:t>
            </a:r>
          </a:p>
          <a:p>
            <a:r>
              <a:rPr lang="en-GB" dirty="0" smtClean="0"/>
              <a:t>Teaching blending and segmenting</a:t>
            </a:r>
          </a:p>
          <a:p>
            <a:r>
              <a:rPr lang="en-GB" dirty="0" smtClean="0"/>
              <a:t>Daily delivery</a:t>
            </a:r>
          </a:p>
          <a:p>
            <a:r>
              <a:rPr lang="en-GB" dirty="0" smtClean="0"/>
              <a:t>Whole class approach</a:t>
            </a:r>
            <a:endParaRPr lang="en-GB" dirty="0"/>
          </a:p>
        </p:txBody>
      </p:sp>
      <p:pic>
        <p:nvPicPr>
          <p:cNvPr id="4" name="Picture 3" descr="C:\Users\Claire\AppData\Local\Microsoft\Windows\INetCache\IE\9TI3MUWJ\large-walking-ant-33.3-5709[1].gif">
            <a:hlinkClick r:id="rId3" action="ppaction://hlinkfile"/>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64782" y="5229200"/>
            <a:ext cx="2134607" cy="1195380"/>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4"/>
          <p:cNvSpPr txBox="1">
            <a:spLocks/>
          </p:cNvSpPr>
          <p:nvPr/>
        </p:nvSpPr>
        <p:spPr>
          <a:xfrm>
            <a:off x="4355976" y="6102433"/>
            <a:ext cx="5688632" cy="644293"/>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i="1" dirty="0" smtClean="0"/>
              <a:t>A,  A ants on my arm, causing me alarm</a:t>
            </a:r>
            <a:endParaRPr lang="en-GB" sz="1600" i="1" dirty="0"/>
          </a:p>
        </p:txBody>
      </p:sp>
    </p:spTree>
    <p:extLst>
      <p:ext uri="{BB962C8B-B14F-4D97-AF65-F5344CB8AC3E}">
        <p14:creationId xmlns:p14="http://schemas.microsoft.com/office/powerpoint/2010/main" val="33810271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1026" name="Picture 2" descr="http://image.slidesharecdn.com/jollyphonicsparentpresentation-110307130556-phpapp02/95/jolly-phonics-parents-presentation-4-728.jpg?cb=12995040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496"/>
            <a:ext cx="9115476" cy="6840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44728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Key terms</a:t>
            </a:r>
            <a:endParaRPr lang="en-GB" b="1" dirty="0">
              <a:solidFill>
                <a:srgbClr val="0070C0"/>
              </a:solidFill>
            </a:endParaRPr>
          </a:p>
        </p:txBody>
      </p:sp>
      <p:sp>
        <p:nvSpPr>
          <p:cNvPr id="3" name="Content Placeholder 2"/>
          <p:cNvSpPr>
            <a:spLocks noGrp="1"/>
          </p:cNvSpPr>
          <p:nvPr>
            <p:ph idx="1"/>
          </p:nvPr>
        </p:nvSpPr>
        <p:spPr>
          <a:xfrm>
            <a:off x="457200" y="1600200"/>
            <a:ext cx="8507288" cy="4781128"/>
          </a:xfrm>
        </p:spPr>
        <p:txBody>
          <a:bodyPr>
            <a:normAutofit fontScale="77500" lnSpcReduction="20000"/>
          </a:bodyPr>
          <a:lstStyle/>
          <a:p>
            <a:pPr marL="0" indent="0">
              <a:buNone/>
            </a:pPr>
            <a:r>
              <a:rPr lang="en-GB" sz="3800" dirty="0"/>
              <a:t>Phoneme = smallest unit of </a:t>
            </a:r>
            <a:r>
              <a:rPr lang="en-GB" sz="3800" dirty="0" smtClean="0"/>
              <a:t>sound</a:t>
            </a:r>
            <a:endParaRPr lang="en-GB" sz="3800" dirty="0"/>
          </a:p>
          <a:p>
            <a:pPr marL="0" indent="0">
              <a:buNone/>
            </a:pPr>
            <a:r>
              <a:rPr lang="en-GB" sz="3800" dirty="0"/>
              <a:t>Grapheme = symbol used to represent that </a:t>
            </a:r>
            <a:r>
              <a:rPr lang="en-GB" sz="3800" dirty="0" smtClean="0"/>
              <a:t>sound</a:t>
            </a:r>
          </a:p>
          <a:p>
            <a:pPr marL="0" indent="0">
              <a:buNone/>
            </a:pPr>
            <a:r>
              <a:rPr lang="en-GB" sz="3800" dirty="0">
                <a:hlinkClick r:id="rId3"/>
              </a:rPr>
              <a:t>https://www.youtube.com/watch?v=-</a:t>
            </a:r>
            <a:r>
              <a:rPr lang="en-GB" sz="3800" dirty="0" smtClean="0">
                <a:hlinkClick r:id="rId3"/>
              </a:rPr>
              <a:t>ksblMiliA8</a:t>
            </a:r>
            <a:r>
              <a:rPr lang="en-GB" sz="3800" dirty="0" smtClean="0"/>
              <a:t> </a:t>
            </a:r>
          </a:p>
          <a:p>
            <a:pPr marL="0" indent="0">
              <a:buNone/>
            </a:pPr>
            <a:endParaRPr lang="en-GB" sz="3800" dirty="0"/>
          </a:p>
          <a:p>
            <a:pPr marL="1257300" lvl="3" indent="0">
              <a:buNone/>
            </a:pPr>
            <a:endParaRPr lang="en-GB" sz="3500" dirty="0" smtClean="0"/>
          </a:p>
          <a:p>
            <a:pPr marL="1257300" lvl="3" indent="0">
              <a:buNone/>
            </a:pPr>
            <a:r>
              <a:rPr lang="en-GB" sz="4800" b="1" dirty="0" smtClean="0">
                <a:solidFill>
                  <a:srgbClr val="FF0000"/>
                </a:solidFill>
              </a:rPr>
              <a:t>Frog</a:t>
            </a:r>
          </a:p>
          <a:p>
            <a:pPr marL="1257300" lvl="3" indent="0">
              <a:buNone/>
            </a:pPr>
            <a:r>
              <a:rPr lang="en-GB" sz="4800" b="1" dirty="0" smtClean="0">
                <a:solidFill>
                  <a:srgbClr val="0070C0"/>
                </a:solidFill>
              </a:rPr>
              <a:t>High</a:t>
            </a:r>
          </a:p>
          <a:p>
            <a:pPr marL="1257300" lvl="3" indent="0">
              <a:buNone/>
            </a:pPr>
            <a:r>
              <a:rPr lang="en-GB" sz="4800" b="1" dirty="0" smtClean="0">
                <a:solidFill>
                  <a:srgbClr val="00B050"/>
                </a:solidFill>
              </a:rPr>
              <a:t>Shout</a:t>
            </a:r>
          </a:p>
          <a:p>
            <a:pPr marL="1257300" lvl="3" indent="0">
              <a:buNone/>
            </a:pPr>
            <a:r>
              <a:rPr lang="en-GB" sz="4800" b="1" dirty="0" smtClean="0">
                <a:solidFill>
                  <a:srgbClr val="FFFF00"/>
                </a:solidFill>
              </a:rPr>
              <a:t>Throne</a:t>
            </a:r>
          </a:p>
          <a:p>
            <a:pPr marL="0" indent="0">
              <a:buNone/>
            </a:pPr>
            <a:endParaRPr lang="en-GB" dirty="0" smtClean="0"/>
          </a:p>
          <a:p>
            <a:endParaRPr lang="en-GB" dirty="0" smtClean="0"/>
          </a:p>
          <a:p>
            <a:pPr marL="0" indent="0">
              <a:buNone/>
            </a:pPr>
            <a:endParaRPr lang="en-GB" dirty="0"/>
          </a:p>
          <a:p>
            <a:endParaRPr lang="en-GB" dirty="0"/>
          </a:p>
        </p:txBody>
      </p:sp>
      <p:pic>
        <p:nvPicPr>
          <p:cNvPr id="8" name="Picture 12" descr="C:\Users\Claire\AppData\Local\Microsoft\Windows\INetCache\IE\GPKA79P4\brown-egg-4470-large[1].png">
            <a:hlinkClick r:id="rId4"/>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55708" y="5013176"/>
            <a:ext cx="832716" cy="1133881"/>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4"/>
          <p:cNvSpPr txBox="1">
            <a:spLocks/>
          </p:cNvSpPr>
          <p:nvPr/>
        </p:nvSpPr>
        <p:spPr>
          <a:xfrm>
            <a:off x="5127750" y="6102432"/>
            <a:ext cx="5688632" cy="644293"/>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i="1" dirty="0" smtClean="0"/>
              <a:t>Eggs in the pan E , E, E</a:t>
            </a:r>
            <a:endParaRPr lang="en-GB" sz="1600" i="1" dirty="0"/>
          </a:p>
        </p:txBody>
      </p:sp>
    </p:spTree>
    <p:extLst>
      <p:ext uri="{BB962C8B-B14F-4D97-AF65-F5344CB8AC3E}">
        <p14:creationId xmlns:p14="http://schemas.microsoft.com/office/powerpoint/2010/main" val="3422803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Underlying Principles</a:t>
            </a:r>
            <a:endParaRPr lang="en-GB" b="1" dirty="0">
              <a:solidFill>
                <a:srgbClr val="0070C0"/>
              </a:solidFill>
            </a:endParaRPr>
          </a:p>
        </p:txBody>
      </p:sp>
      <p:sp>
        <p:nvSpPr>
          <p:cNvPr id="3" name="Content Placeholder 2"/>
          <p:cNvSpPr>
            <a:spLocks noGrp="1"/>
          </p:cNvSpPr>
          <p:nvPr>
            <p:ph idx="1"/>
          </p:nvPr>
        </p:nvSpPr>
        <p:spPr/>
        <p:txBody>
          <a:bodyPr>
            <a:normAutofit/>
          </a:bodyPr>
          <a:lstStyle/>
          <a:p>
            <a:pPr marL="0" indent="0">
              <a:buNone/>
            </a:pPr>
            <a:endParaRPr lang="en-GB" sz="4000" dirty="0" smtClean="0"/>
          </a:p>
          <a:p>
            <a:pPr marL="0" indent="0">
              <a:buNone/>
            </a:pPr>
            <a:r>
              <a:rPr lang="en-GB" sz="4000" b="1" dirty="0" smtClean="0">
                <a:solidFill>
                  <a:srgbClr val="FF0000"/>
                </a:solidFill>
              </a:rPr>
              <a:t>Synthetic</a:t>
            </a:r>
            <a:r>
              <a:rPr lang="en-GB" sz="4000" dirty="0" smtClean="0">
                <a:solidFill>
                  <a:srgbClr val="FF0000"/>
                </a:solidFill>
              </a:rPr>
              <a:t> </a:t>
            </a:r>
            <a:r>
              <a:rPr lang="en-GB" sz="4000" dirty="0" smtClean="0"/>
              <a:t>phonics approach</a:t>
            </a:r>
          </a:p>
          <a:p>
            <a:pPr marL="0" indent="0">
              <a:buNone/>
            </a:pPr>
            <a:endParaRPr lang="en-GB" sz="4000" dirty="0" smtClean="0"/>
          </a:p>
          <a:p>
            <a:pPr marL="0" indent="0">
              <a:buNone/>
            </a:pPr>
            <a:r>
              <a:rPr lang="en-GB" sz="4000" b="1" dirty="0" smtClean="0">
                <a:solidFill>
                  <a:srgbClr val="FF0000"/>
                </a:solidFill>
              </a:rPr>
              <a:t>Multisensory</a:t>
            </a:r>
            <a:r>
              <a:rPr lang="en-GB" sz="4000" dirty="0" smtClean="0"/>
              <a:t> approach</a:t>
            </a:r>
          </a:p>
          <a:p>
            <a:pPr marL="0" indent="0">
              <a:buNone/>
            </a:pPr>
            <a:endParaRPr lang="en-GB" dirty="0"/>
          </a:p>
          <a:p>
            <a:pPr marL="0" indent="0">
              <a:buNone/>
            </a:pPr>
            <a:endParaRPr lang="en-GB" dirty="0"/>
          </a:p>
        </p:txBody>
      </p:sp>
      <p:pic>
        <p:nvPicPr>
          <p:cNvPr id="4" name="Picture 4" descr="C:\Users\Claire\AppData\Local\Microsoft\Windows\INetCache\IE\7SGNHJEU\tennis[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29494" y="4077072"/>
            <a:ext cx="1638951" cy="1729092"/>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11"/>
          </p:nvPr>
        </p:nvSpPr>
        <p:spPr>
          <a:xfrm>
            <a:off x="5436096" y="5844057"/>
            <a:ext cx="3707904" cy="644293"/>
          </a:xfrm>
        </p:spPr>
        <p:txBody>
          <a:bodyPr/>
          <a:lstStyle/>
          <a:p>
            <a:r>
              <a:rPr lang="en-GB" sz="1600" i="1" dirty="0" smtClean="0"/>
              <a:t>When I watch the tennis game, T,, T, T my head goes back and forth</a:t>
            </a:r>
            <a:endParaRPr lang="en-GB" sz="1600" i="1" dirty="0"/>
          </a:p>
        </p:txBody>
      </p:sp>
    </p:spTree>
    <p:extLst>
      <p:ext uri="{BB962C8B-B14F-4D97-AF65-F5344CB8AC3E}">
        <p14:creationId xmlns:p14="http://schemas.microsoft.com/office/powerpoint/2010/main" val="23399073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solidFill>
                  <a:srgbClr val="0070C0"/>
                </a:solidFill>
              </a:rPr>
              <a:t>Analytic vs Synthetic Phonics</a:t>
            </a:r>
            <a:endParaRPr lang="en-GB" b="1" dirty="0">
              <a:solidFill>
                <a:srgbClr val="0070C0"/>
              </a:solidFill>
            </a:endParaRPr>
          </a:p>
        </p:txBody>
      </p:sp>
      <p:sp>
        <p:nvSpPr>
          <p:cNvPr id="3" name="Content Placeholder 2"/>
          <p:cNvSpPr>
            <a:spLocks noGrp="1"/>
          </p:cNvSpPr>
          <p:nvPr>
            <p:ph idx="1"/>
          </p:nvPr>
        </p:nvSpPr>
        <p:spPr/>
        <p:txBody>
          <a:bodyPr>
            <a:normAutofit fontScale="92500" lnSpcReduction="10000"/>
          </a:bodyPr>
          <a:lstStyle/>
          <a:p>
            <a:pPr marL="0" indent="0">
              <a:spcBef>
                <a:spcPts val="0"/>
              </a:spcBef>
              <a:buNone/>
              <a:defRPr/>
            </a:pPr>
            <a:r>
              <a:rPr lang="en-GB" b="1" dirty="0" smtClean="0">
                <a:solidFill>
                  <a:srgbClr val="FF0000"/>
                </a:solidFill>
              </a:rPr>
              <a:t>Analytic</a:t>
            </a:r>
            <a:endParaRPr lang="en-GB" dirty="0" smtClean="0">
              <a:solidFill>
                <a:srgbClr val="FF0000"/>
              </a:solidFill>
            </a:endParaRPr>
          </a:p>
          <a:p>
            <a:pPr marL="0" indent="0">
              <a:spcBef>
                <a:spcPts val="0"/>
              </a:spcBef>
              <a:buNone/>
              <a:defRPr/>
            </a:pPr>
            <a:r>
              <a:rPr lang="en-GB" dirty="0"/>
              <a:t>C</a:t>
            </a:r>
            <a:r>
              <a:rPr lang="en-GB" dirty="0" smtClean="0"/>
              <a:t>hildren </a:t>
            </a:r>
            <a:r>
              <a:rPr lang="en-GB" dirty="0"/>
              <a:t>analyse letters sounds after the word has been </a:t>
            </a:r>
            <a:r>
              <a:rPr lang="en-GB" dirty="0" smtClean="0"/>
              <a:t>identified. Only </a:t>
            </a:r>
            <a:r>
              <a:rPr lang="en-GB" dirty="0"/>
              <a:t>after all the letter sounds have been taught is sounding and blending introduced</a:t>
            </a:r>
            <a:r>
              <a:rPr lang="en-GB" dirty="0" smtClean="0"/>
              <a:t>.</a:t>
            </a:r>
          </a:p>
          <a:p>
            <a:pPr marL="0" indent="0">
              <a:spcBef>
                <a:spcPts val="0"/>
              </a:spcBef>
              <a:buNone/>
              <a:defRPr/>
            </a:pPr>
            <a:endParaRPr lang="en-GB" dirty="0"/>
          </a:p>
          <a:p>
            <a:pPr marL="0" indent="0">
              <a:buNone/>
            </a:pPr>
            <a:r>
              <a:rPr lang="en-GB" b="1" dirty="0">
                <a:solidFill>
                  <a:srgbClr val="00B050"/>
                </a:solidFill>
              </a:rPr>
              <a:t>S</a:t>
            </a:r>
            <a:r>
              <a:rPr lang="en-GB" b="1" dirty="0" smtClean="0">
                <a:solidFill>
                  <a:srgbClr val="00B050"/>
                </a:solidFill>
              </a:rPr>
              <a:t>ynthetic</a:t>
            </a:r>
            <a:r>
              <a:rPr lang="en-GB" dirty="0" smtClean="0">
                <a:solidFill>
                  <a:srgbClr val="00B050"/>
                </a:solidFill>
              </a:rPr>
              <a:t> </a:t>
            </a:r>
            <a:endParaRPr lang="en-GB" dirty="0">
              <a:solidFill>
                <a:srgbClr val="00B050"/>
              </a:solidFill>
            </a:endParaRPr>
          </a:p>
          <a:p>
            <a:pPr marL="0" indent="0">
              <a:lnSpc>
                <a:spcPct val="110000"/>
              </a:lnSpc>
              <a:spcBef>
                <a:spcPts val="0"/>
              </a:spcBef>
              <a:buNone/>
            </a:pPr>
            <a:r>
              <a:rPr lang="en-GB" dirty="0" smtClean="0"/>
              <a:t>The </a:t>
            </a:r>
            <a:r>
              <a:rPr lang="en-GB" dirty="0"/>
              <a:t>pronunciation of the word is discovered through sounding and blending. </a:t>
            </a:r>
            <a:r>
              <a:rPr lang="en-GB" dirty="0" smtClean="0"/>
              <a:t>Children are taught to </a:t>
            </a:r>
            <a:r>
              <a:rPr lang="en-GB" dirty="0"/>
              <a:t>sound and blend from the start of </a:t>
            </a:r>
            <a:endParaRPr lang="en-GB" dirty="0" smtClean="0"/>
          </a:p>
          <a:p>
            <a:pPr marL="0" indent="0">
              <a:lnSpc>
                <a:spcPct val="110000"/>
              </a:lnSpc>
              <a:spcBef>
                <a:spcPts val="0"/>
              </a:spcBef>
              <a:buNone/>
            </a:pPr>
            <a:r>
              <a:rPr lang="en-GB" dirty="0" smtClean="0"/>
              <a:t>reading tuition.</a:t>
            </a:r>
            <a:endParaRPr lang="en-GB" dirty="0"/>
          </a:p>
        </p:txBody>
      </p:sp>
      <p:pic>
        <p:nvPicPr>
          <p:cNvPr id="4" name="Picture 16" descr="C:\Users\Claire\AppData\Local\Microsoft\Windows\INetCache\IE\ZKT7S9LW\jelly[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20272" y="5301208"/>
            <a:ext cx="1452716" cy="888579"/>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txBox="1">
            <a:spLocks/>
          </p:cNvSpPr>
          <p:nvPr/>
        </p:nvSpPr>
        <p:spPr>
          <a:xfrm>
            <a:off x="4355976" y="6102433"/>
            <a:ext cx="5688632" cy="644293"/>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i="1" dirty="0" smtClean="0"/>
              <a:t>Jelly and jam, jelly and jam J, J, J,J,J</a:t>
            </a:r>
            <a:endParaRPr lang="en-GB" sz="1600" i="1" dirty="0"/>
          </a:p>
        </p:txBody>
      </p:sp>
    </p:spTree>
    <p:extLst>
      <p:ext uri="{BB962C8B-B14F-4D97-AF65-F5344CB8AC3E}">
        <p14:creationId xmlns:p14="http://schemas.microsoft.com/office/powerpoint/2010/main" val="7144767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A Multisensory Approach</a:t>
            </a:r>
            <a:endParaRPr lang="en-GB" b="1" dirty="0">
              <a:solidFill>
                <a:srgbClr val="0070C0"/>
              </a:solidFill>
            </a:endParaRPr>
          </a:p>
        </p:txBody>
      </p:sp>
      <p:sp>
        <p:nvSpPr>
          <p:cNvPr id="3" name="Content Placeholder 2"/>
          <p:cNvSpPr>
            <a:spLocks noGrp="1"/>
          </p:cNvSpPr>
          <p:nvPr>
            <p:ph idx="1"/>
          </p:nvPr>
        </p:nvSpPr>
        <p:spPr>
          <a:xfrm>
            <a:off x="457200" y="1600200"/>
            <a:ext cx="8229600" cy="4925144"/>
          </a:xfrm>
        </p:spPr>
        <p:txBody>
          <a:bodyPr>
            <a:normAutofit fontScale="85000" lnSpcReduction="20000"/>
          </a:bodyPr>
          <a:lstStyle/>
          <a:p>
            <a:pPr marL="0" indent="0">
              <a:buNone/>
            </a:pPr>
            <a:r>
              <a:rPr lang="en-GB" dirty="0" smtClean="0"/>
              <a:t>JP encourages recall with various strategies</a:t>
            </a:r>
          </a:p>
          <a:p>
            <a:r>
              <a:rPr lang="en-GB" b="1" dirty="0" smtClean="0"/>
              <a:t>Visual</a:t>
            </a:r>
            <a:r>
              <a:rPr lang="en-GB" dirty="0" smtClean="0"/>
              <a:t> – Looking at pictures and big books</a:t>
            </a:r>
          </a:p>
          <a:p>
            <a:r>
              <a:rPr lang="en-GB" b="1" dirty="0" smtClean="0"/>
              <a:t>Auditory</a:t>
            </a:r>
            <a:r>
              <a:rPr lang="en-GB" dirty="0" smtClean="0"/>
              <a:t> – Saying the sounds and singing songs</a:t>
            </a:r>
          </a:p>
          <a:p>
            <a:r>
              <a:rPr lang="en-GB" b="1" dirty="0" smtClean="0"/>
              <a:t>Kinaesthetic</a:t>
            </a:r>
            <a:r>
              <a:rPr lang="en-GB" dirty="0" smtClean="0"/>
              <a:t> – Learning an accompanying action</a:t>
            </a:r>
          </a:p>
          <a:p>
            <a:r>
              <a:rPr lang="en-GB" dirty="0">
                <a:hlinkClick r:id="rId3"/>
              </a:rPr>
              <a:t>https://</a:t>
            </a:r>
            <a:r>
              <a:rPr lang="en-GB" dirty="0" smtClean="0">
                <a:hlinkClick r:id="rId3"/>
              </a:rPr>
              <a:t>www.youtube.com/watch?v=eCjJYB07aSU</a:t>
            </a:r>
            <a:endParaRPr lang="en-GB" dirty="0" smtClean="0"/>
          </a:p>
          <a:p>
            <a:endParaRPr lang="en-GB" dirty="0" smtClean="0"/>
          </a:p>
          <a:p>
            <a:pPr marL="0" indent="0">
              <a:buNone/>
            </a:pPr>
            <a:r>
              <a:rPr lang="en-GB" dirty="0" smtClean="0"/>
              <a:t>Multisensory approaches have been around since the 1920s . The Orton-Gillingham approach was made popular in the 1960s. Although the theoretical basis is unclear it is believed to </a:t>
            </a:r>
          </a:p>
          <a:p>
            <a:pPr marL="0" indent="0">
              <a:buNone/>
            </a:pPr>
            <a:r>
              <a:rPr lang="en-GB" dirty="0" smtClean="0"/>
              <a:t>be more motivating  </a:t>
            </a:r>
          </a:p>
          <a:p>
            <a:pPr marL="0" indent="0">
              <a:buNone/>
            </a:pPr>
            <a:r>
              <a:rPr lang="en-GB" dirty="0" smtClean="0"/>
              <a:t>(Campbell, </a:t>
            </a:r>
            <a:r>
              <a:rPr lang="en-GB" dirty="0" err="1" smtClean="0"/>
              <a:t>Helf</a:t>
            </a:r>
            <a:r>
              <a:rPr lang="en-GB" dirty="0" smtClean="0"/>
              <a:t> &amp; Cooke 2008).</a:t>
            </a:r>
          </a:p>
          <a:p>
            <a:pPr marL="0" indent="0">
              <a:buNone/>
            </a:pPr>
            <a:endParaRPr lang="en-GB" dirty="0" smtClean="0"/>
          </a:p>
        </p:txBody>
      </p:sp>
      <p:pic>
        <p:nvPicPr>
          <p:cNvPr id="6" name="Picture 17" descr="C:\Users\Claire\AppData\Local\Microsoft\Windows\INetCache\IE\GPKA79P4\van-150081_64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24328" y="5308631"/>
            <a:ext cx="974574" cy="712657"/>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txBox="1">
            <a:spLocks/>
          </p:cNvSpPr>
          <p:nvPr/>
        </p:nvSpPr>
        <p:spPr>
          <a:xfrm>
            <a:off x="4355976" y="6102433"/>
            <a:ext cx="5688632" cy="644293"/>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i="1" dirty="0" smtClean="0"/>
              <a:t>Drive Vic’s van around the village, V, V, V</a:t>
            </a:r>
            <a:endParaRPr lang="en-GB" sz="1600" i="1" dirty="0"/>
          </a:p>
        </p:txBody>
      </p:sp>
    </p:spTree>
    <p:extLst>
      <p:ext uri="{BB962C8B-B14F-4D97-AF65-F5344CB8AC3E}">
        <p14:creationId xmlns:p14="http://schemas.microsoft.com/office/powerpoint/2010/main" val="4324852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Evidence base for Jolly Phonics</a:t>
            </a:r>
            <a:endParaRPr lang="en-GB" b="1" dirty="0">
              <a:solidFill>
                <a:srgbClr val="0070C0"/>
              </a:solidFill>
            </a:endParaRPr>
          </a:p>
        </p:txBody>
      </p:sp>
      <p:sp>
        <p:nvSpPr>
          <p:cNvPr id="3" name="Content Placeholder 2"/>
          <p:cNvSpPr>
            <a:spLocks noGrp="1"/>
          </p:cNvSpPr>
          <p:nvPr>
            <p:ph idx="1"/>
          </p:nvPr>
        </p:nvSpPr>
        <p:spPr/>
        <p:txBody>
          <a:bodyPr/>
          <a:lstStyle/>
          <a:p>
            <a:pPr marL="0" indent="0">
              <a:buNone/>
            </a:pPr>
            <a:endParaRPr lang="en-GB" dirty="0" smtClean="0"/>
          </a:p>
          <a:p>
            <a:pPr marL="0" indent="0">
              <a:buNone/>
            </a:pPr>
            <a:endParaRPr lang="en-GB" dirty="0" smtClean="0"/>
          </a:p>
        </p:txBody>
      </p:sp>
      <p:pic>
        <p:nvPicPr>
          <p:cNvPr id="4" name="Picture 11" descr="C:\Users\Claire\AppData\Local\Microsoft\Windows\INetCache\IE\ZKT7S9LW\large-Kite-66.6-13491[1].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96239" y="4940385"/>
            <a:ext cx="968150" cy="1287640"/>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txBox="1">
            <a:spLocks/>
          </p:cNvSpPr>
          <p:nvPr/>
        </p:nvSpPr>
        <p:spPr>
          <a:xfrm>
            <a:off x="4491374" y="6102433"/>
            <a:ext cx="5688632" cy="644293"/>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i="1" dirty="0" smtClean="0"/>
              <a:t>Kites are flying in the sky, K, K, K</a:t>
            </a:r>
            <a:endParaRPr lang="en-GB" sz="1600" i="1" dirty="0"/>
          </a:p>
        </p:txBody>
      </p:sp>
      <p:sp>
        <p:nvSpPr>
          <p:cNvPr id="6" name="Content Placeholder 2"/>
          <p:cNvSpPr txBox="1">
            <a:spLocks/>
          </p:cNvSpPr>
          <p:nvPr/>
        </p:nvSpPr>
        <p:spPr>
          <a:xfrm>
            <a:off x="609600" y="17526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Font typeface="Arial" panose="020B0604020202020204" pitchFamily="34" charset="0"/>
              <a:buNone/>
              <a:defRPr/>
            </a:pPr>
            <a:endParaRPr lang="en-GB" dirty="0"/>
          </a:p>
        </p:txBody>
      </p:sp>
      <p:sp>
        <p:nvSpPr>
          <p:cNvPr id="7" name="TextBox 6"/>
          <p:cNvSpPr txBox="1"/>
          <p:nvPr/>
        </p:nvSpPr>
        <p:spPr>
          <a:xfrm>
            <a:off x="609600" y="1322536"/>
            <a:ext cx="7850832" cy="5047536"/>
          </a:xfrm>
          <a:prstGeom prst="rect">
            <a:avLst/>
          </a:prstGeom>
          <a:noFill/>
        </p:spPr>
        <p:txBody>
          <a:bodyPr wrap="square" rtlCol="0">
            <a:spAutoFit/>
          </a:bodyPr>
          <a:lstStyle/>
          <a:p>
            <a:r>
              <a:rPr lang="en-GB" sz="2600" b="1" dirty="0" smtClean="0">
                <a:solidFill>
                  <a:srgbClr val="0070C0"/>
                </a:solidFill>
              </a:rPr>
              <a:t>Johnston and Watson (1997)</a:t>
            </a:r>
          </a:p>
          <a:p>
            <a:r>
              <a:rPr lang="en-GB" sz="2600" dirty="0" smtClean="0"/>
              <a:t>Children who received JP tuition made greater gains </a:t>
            </a:r>
            <a:r>
              <a:rPr lang="en-GB" sz="2600" dirty="0"/>
              <a:t>in phonemic awareness, single word reading and </a:t>
            </a:r>
            <a:r>
              <a:rPr lang="en-GB" sz="2600" dirty="0" smtClean="0"/>
              <a:t>comprehension compared to controls who received an analytic phonic programme.</a:t>
            </a:r>
          </a:p>
          <a:p>
            <a:endParaRPr lang="en-GB" sz="2600" b="1" dirty="0" smtClean="0">
              <a:solidFill>
                <a:srgbClr val="0070C0"/>
              </a:solidFill>
            </a:endParaRPr>
          </a:p>
          <a:p>
            <a:r>
              <a:rPr lang="en-GB" sz="2600" b="1" dirty="0" smtClean="0">
                <a:solidFill>
                  <a:srgbClr val="0070C0"/>
                </a:solidFill>
              </a:rPr>
              <a:t>Stuart (1999)</a:t>
            </a:r>
          </a:p>
          <a:p>
            <a:r>
              <a:rPr lang="en-GB" sz="2600" dirty="0" smtClean="0"/>
              <a:t>After 12 weeks JP accelerated phoneme awareness, phonics </a:t>
            </a:r>
            <a:r>
              <a:rPr lang="en-GB" sz="2600" dirty="0"/>
              <a:t>knowledge, </a:t>
            </a:r>
            <a:r>
              <a:rPr lang="en-GB" sz="2600" dirty="0" smtClean="0"/>
              <a:t>and the reading </a:t>
            </a:r>
            <a:r>
              <a:rPr lang="en-GB" sz="2600" dirty="0"/>
              <a:t>and </a:t>
            </a:r>
            <a:endParaRPr lang="en-GB" sz="2600" dirty="0" smtClean="0"/>
          </a:p>
          <a:p>
            <a:r>
              <a:rPr lang="en-GB" sz="2600" dirty="0" smtClean="0"/>
              <a:t>writing skills of EAL children . Gains were </a:t>
            </a:r>
          </a:p>
          <a:p>
            <a:r>
              <a:rPr lang="en-GB" sz="2600" dirty="0" smtClean="0"/>
              <a:t>maintained after a year.</a:t>
            </a:r>
            <a:endParaRPr lang="en-GB" sz="2600" dirty="0"/>
          </a:p>
          <a:p>
            <a:endParaRPr lang="en-GB" dirty="0" smtClean="0"/>
          </a:p>
          <a:p>
            <a:endParaRPr lang="en-GB" dirty="0"/>
          </a:p>
        </p:txBody>
      </p:sp>
    </p:spTree>
    <p:extLst>
      <p:ext uri="{BB962C8B-B14F-4D97-AF65-F5344CB8AC3E}">
        <p14:creationId xmlns:p14="http://schemas.microsoft.com/office/powerpoint/2010/main" val="26496177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Evidence base for Jolly Phonics</a:t>
            </a:r>
            <a:endParaRPr lang="en-GB" b="1" dirty="0">
              <a:solidFill>
                <a:srgbClr val="0070C0"/>
              </a:solidFill>
            </a:endParaRPr>
          </a:p>
        </p:txBody>
      </p:sp>
      <p:sp>
        <p:nvSpPr>
          <p:cNvPr id="3" name="Content Placeholder 2"/>
          <p:cNvSpPr>
            <a:spLocks noGrp="1"/>
          </p:cNvSpPr>
          <p:nvPr>
            <p:ph idx="1"/>
          </p:nvPr>
        </p:nvSpPr>
        <p:spPr/>
        <p:txBody>
          <a:bodyPr/>
          <a:lstStyle/>
          <a:p>
            <a:pPr marL="0" indent="0">
              <a:buNone/>
            </a:pPr>
            <a:endParaRPr lang="en-GB" dirty="0" smtClean="0"/>
          </a:p>
          <a:p>
            <a:pPr marL="0" indent="0">
              <a:buNone/>
            </a:pPr>
            <a:endParaRPr lang="en-GB" dirty="0" smtClean="0"/>
          </a:p>
        </p:txBody>
      </p:sp>
      <p:sp>
        <p:nvSpPr>
          <p:cNvPr id="5" name="Footer Placeholder 4"/>
          <p:cNvSpPr txBox="1">
            <a:spLocks/>
          </p:cNvSpPr>
          <p:nvPr/>
        </p:nvSpPr>
        <p:spPr>
          <a:xfrm>
            <a:off x="5004048" y="6126418"/>
            <a:ext cx="5688632" cy="644293"/>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i="1" dirty="0" smtClean="0"/>
              <a:t>U, U, U, up go umbrellas </a:t>
            </a:r>
          </a:p>
          <a:p>
            <a:r>
              <a:rPr lang="en-GB" sz="1600" i="1" dirty="0" smtClean="0"/>
              <a:t>when it  starts to rain</a:t>
            </a:r>
            <a:endParaRPr lang="en-GB" sz="1600" i="1" dirty="0"/>
          </a:p>
        </p:txBody>
      </p:sp>
      <p:sp>
        <p:nvSpPr>
          <p:cNvPr id="6" name="Content Placeholder 2"/>
          <p:cNvSpPr txBox="1">
            <a:spLocks/>
          </p:cNvSpPr>
          <p:nvPr/>
        </p:nvSpPr>
        <p:spPr>
          <a:xfrm>
            <a:off x="609600" y="17526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Font typeface="Arial" panose="020B0604020202020204" pitchFamily="34" charset="0"/>
              <a:buNone/>
              <a:defRPr/>
            </a:pPr>
            <a:endParaRPr lang="en-GB" dirty="0"/>
          </a:p>
        </p:txBody>
      </p:sp>
      <p:sp>
        <p:nvSpPr>
          <p:cNvPr id="7" name="TextBox 6"/>
          <p:cNvSpPr txBox="1"/>
          <p:nvPr/>
        </p:nvSpPr>
        <p:spPr>
          <a:xfrm>
            <a:off x="357642" y="1430258"/>
            <a:ext cx="8481558" cy="5170646"/>
          </a:xfrm>
          <a:prstGeom prst="rect">
            <a:avLst/>
          </a:prstGeom>
          <a:noFill/>
        </p:spPr>
        <p:txBody>
          <a:bodyPr wrap="square" rtlCol="0">
            <a:spAutoFit/>
          </a:bodyPr>
          <a:lstStyle/>
          <a:p>
            <a:r>
              <a:rPr lang="en-GB" sz="2600" b="1" dirty="0" smtClean="0">
                <a:solidFill>
                  <a:srgbClr val="0070C0"/>
                </a:solidFill>
              </a:rPr>
              <a:t>Huss (2001)</a:t>
            </a:r>
          </a:p>
          <a:p>
            <a:r>
              <a:rPr lang="en-GB" sz="2600" dirty="0" smtClean="0"/>
              <a:t>Explicit phonic instruction with JP led to significant gains in phonemic </a:t>
            </a:r>
            <a:r>
              <a:rPr lang="en-GB" sz="2600" dirty="0"/>
              <a:t>decoding </a:t>
            </a:r>
            <a:r>
              <a:rPr lang="en-GB" sz="2600" dirty="0" smtClean="0"/>
              <a:t>in multilingual </a:t>
            </a:r>
            <a:r>
              <a:rPr lang="en-GB" sz="2600" dirty="0"/>
              <a:t>kindergarten </a:t>
            </a:r>
            <a:r>
              <a:rPr lang="en-GB" sz="2600" dirty="0" smtClean="0"/>
              <a:t>students of low SES compared to children in the year above who did not receive JP instruction.</a:t>
            </a:r>
          </a:p>
          <a:p>
            <a:endParaRPr lang="en-GB" sz="2600" dirty="0"/>
          </a:p>
          <a:p>
            <a:r>
              <a:rPr lang="en-GB" sz="2600" b="1" dirty="0" smtClean="0">
                <a:solidFill>
                  <a:srgbClr val="0070C0"/>
                </a:solidFill>
              </a:rPr>
              <a:t>Goetz et al. (2005)</a:t>
            </a:r>
          </a:p>
          <a:p>
            <a:r>
              <a:rPr lang="en-GB" sz="2600" dirty="0" smtClean="0"/>
              <a:t>8 children </a:t>
            </a:r>
            <a:r>
              <a:rPr lang="en-GB" sz="2600" dirty="0"/>
              <a:t>with </a:t>
            </a:r>
            <a:r>
              <a:rPr lang="en-GB" sz="2600" dirty="0" smtClean="0"/>
              <a:t>down syndrome received intervention which included JP and improved </a:t>
            </a:r>
            <a:r>
              <a:rPr lang="en-GB" sz="2600" dirty="0"/>
              <a:t>significantly on measures of early literacy </a:t>
            </a:r>
            <a:r>
              <a:rPr lang="en-GB" sz="2600" dirty="0" smtClean="0"/>
              <a:t>skills. </a:t>
            </a:r>
            <a:r>
              <a:rPr lang="en-GB" sz="2600" dirty="0"/>
              <a:t>The </a:t>
            </a:r>
            <a:r>
              <a:rPr lang="en-GB" sz="2600" dirty="0" smtClean="0"/>
              <a:t>waiting control </a:t>
            </a:r>
            <a:r>
              <a:rPr lang="en-GB" sz="2600" dirty="0"/>
              <a:t>group </a:t>
            </a:r>
            <a:r>
              <a:rPr lang="en-GB" sz="2600" dirty="0" smtClean="0"/>
              <a:t>made some </a:t>
            </a:r>
          </a:p>
          <a:p>
            <a:r>
              <a:rPr lang="en-GB" sz="2600" dirty="0" smtClean="0"/>
              <a:t>progress </a:t>
            </a:r>
            <a:r>
              <a:rPr lang="en-GB" sz="2600" dirty="0"/>
              <a:t>once they received the intervention. </a:t>
            </a:r>
            <a:endParaRPr lang="en-GB" sz="2600" dirty="0" smtClean="0"/>
          </a:p>
          <a:p>
            <a:r>
              <a:rPr lang="en-GB" sz="2600" dirty="0" smtClean="0"/>
              <a:t>Both </a:t>
            </a:r>
            <a:r>
              <a:rPr lang="en-GB" sz="2600" dirty="0"/>
              <a:t>groups maintained </a:t>
            </a:r>
            <a:r>
              <a:rPr lang="en-GB" sz="2600" dirty="0" smtClean="0"/>
              <a:t>gains at 5 months.</a:t>
            </a:r>
          </a:p>
          <a:p>
            <a:endParaRPr lang="en-GB" dirty="0"/>
          </a:p>
        </p:txBody>
      </p:sp>
      <p:pic>
        <p:nvPicPr>
          <p:cNvPr id="8" name="Picture 13" descr="C:\Users\Claire\AppData\Local\Microsoft\Windows\INetCache\IE\GPKA79P4\nicubunu-Umbrella[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68344" y="5321541"/>
            <a:ext cx="809953" cy="760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0079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Evidence base for Jolly Phonics</a:t>
            </a:r>
            <a:endParaRPr lang="en-GB" b="1" dirty="0">
              <a:solidFill>
                <a:srgbClr val="0070C0"/>
              </a:solidFill>
            </a:endParaRPr>
          </a:p>
        </p:txBody>
      </p:sp>
      <p:sp>
        <p:nvSpPr>
          <p:cNvPr id="3" name="Content Placeholder 2"/>
          <p:cNvSpPr>
            <a:spLocks noGrp="1"/>
          </p:cNvSpPr>
          <p:nvPr>
            <p:ph idx="1"/>
          </p:nvPr>
        </p:nvSpPr>
        <p:spPr/>
        <p:txBody>
          <a:bodyPr/>
          <a:lstStyle/>
          <a:p>
            <a:pPr marL="0" indent="0">
              <a:buNone/>
            </a:pPr>
            <a:endParaRPr lang="en-GB" dirty="0" smtClean="0"/>
          </a:p>
          <a:p>
            <a:pPr marL="0" indent="0">
              <a:buNone/>
            </a:pPr>
            <a:endParaRPr lang="en-GB" dirty="0" smtClean="0"/>
          </a:p>
        </p:txBody>
      </p:sp>
      <p:sp>
        <p:nvSpPr>
          <p:cNvPr id="5" name="Footer Placeholder 4"/>
          <p:cNvSpPr txBox="1">
            <a:spLocks/>
          </p:cNvSpPr>
          <p:nvPr/>
        </p:nvSpPr>
        <p:spPr>
          <a:xfrm>
            <a:off x="4491374" y="6102433"/>
            <a:ext cx="5688632" cy="644293"/>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600" i="1" dirty="0"/>
          </a:p>
        </p:txBody>
      </p:sp>
      <p:sp>
        <p:nvSpPr>
          <p:cNvPr id="6" name="Content Placeholder 2"/>
          <p:cNvSpPr txBox="1">
            <a:spLocks/>
          </p:cNvSpPr>
          <p:nvPr/>
        </p:nvSpPr>
        <p:spPr>
          <a:xfrm>
            <a:off x="609600" y="17526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0"/>
              </a:spcBef>
              <a:buFont typeface="Arial" panose="020B0604020202020204" pitchFamily="34" charset="0"/>
              <a:buNone/>
              <a:defRPr/>
            </a:pPr>
            <a:endParaRPr lang="en-GB" dirty="0"/>
          </a:p>
        </p:txBody>
      </p:sp>
      <p:sp>
        <p:nvSpPr>
          <p:cNvPr id="7" name="TextBox 6"/>
          <p:cNvSpPr txBox="1"/>
          <p:nvPr/>
        </p:nvSpPr>
        <p:spPr>
          <a:xfrm>
            <a:off x="342754" y="1241037"/>
            <a:ext cx="8481558" cy="5293757"/>
          </a:xfrm>
          <a:prstGeom prst="rect">
            <a:avLst/>
          </a:prstGeom>
          <a:noFill/>
        </p:spPr>
        <p:txBody>
          <a:bodyPr wrap="square" rtlCol="0">
            <a:spAutoFit/>
          </a:bodyPr>
          <a:lstStyle/>
          <a:p>
            <a:r>
              <a:rPr lang="en-GB" sz="2600" b="1" dirty="0">
                <a:solidFill>
                  <a:srgbClr val="0070C0"/>
                </a:solidFill>
              </a:rPr>
              <a:t>Bower-Crane et al. (2007)</a:t>
            </a:r>
          </a:p>
          <a:p>
            <a:pPr lvl="0"/>
            <a:r>
              <a:rPr lang="en-GB" sz="2600" dirty="0" smtClean="0"/>
              <a:t>Compared </a:t>
            </a:r>
            <a:r>
              <a:rPr lang="en-GB" sz="2600" dirty="0"/>
              <a:t>the outcomes of a JP intervention to an oral language skills intervention. The phonics group showed advantages in  letter knowledge, spelling,  </a:t>
            </a:r>
            <a:r>
              <a:rPr lang="en-GB" sz="2600" dirty="0" smtClean="0"/>
              <a:t>and reading </a:t>
            </a:r>
            <a:r>
              <a:rPr lang="en-GB" sz="2600" dirty="0"/>
              <a:t>but the OL group </a:t>
            </a:r>
            <a:r>
              <a:rPr lang="en-GB" sz="2600" dirty="0" smtClean="0"/>
              <a:t>showed advantages </a:t>
            </a:r>
            <a:r>
              <a:rPr lang="en-GB" sz="2600" dirty="0"/>
              <a:t>in comprehension.</a:t>
            </a:r>
            <a:endParaRPr lang="en-GB" sz="2600" dirty="0">
              <a:latin typeface="Times New Roman"/>
              <a:ea typeface="Times New Roman"/>
            </a:endParaRPr>
          </a:p>
          <a:p>
            <a:endParaRPr lang="en-GB" sz="2600" b="1" dirty="0">
              <a:solidFill>
                <a:srgbClr val="0070C0"/>
              </a:solidFill>
            </a:endParaRPr>
          </a:p>
          <a:p>
            <a:r>
              <a:rPr lang="en-GB" sz="2600" b="1" dirty="0" err="1" smtClean="0">
                <a:solidFill>
                  <a:srgbClr val="0070C0"/>
                </a:solidFill>
              </a:rPr>
              <a:t>Jamaludin</a:t>
            </a:r>
            <a:r>
              <a:rPr lang="en-GB" sz="2600" b="1" dirty="0">
                <a:solidFill>
                  <a:srgbClr val="0070C0"/>
                </a:solidFill>
              </a:rPr>
              <a:t>, </a:t>
            </a:r>
            <a:r>
              <a:rPr lang="en-GB" sz="2600" b="1" dirty="0" smtClean="0">
                <a:solidFill>
                  <a:srgbClr val="0070C0"/>
                </a:solidFill>
              </a:rPr>
              <a:t>Alias</a:t>
            </a:r>
            <a:r>
              <a:rPr lang="en-GB" sz="2600" b="1" dirty="0">
                <a:solidFill>
                  <a:srgbClr val="0070C0"/>
                </a:solidFill>
              </a:rPr>
              <a:t>, </a:t>
            </a:r>
            <a:r>
              <a:rPr lang="en-GB" sz="2600" b="1" dirty="0" smtClean="0">
                <a:solidFill>
                  <a:srgbClr val="0070C0"/>
                </a:solidFill>
              </a:rPr>
              <a:t>Johari </a:t>
            </a:r>
            <a:r>
              <a:rPr lang="en-GB" sz="2600" b="1" dirty="0" err="1">
                <a:solidFill>
                  <a:srgbClr val="0070C0"/>
                </a:solidFill>
              </a:rPr>
              <a:t>Mohd</a:t>
            </a:r>
            <a:r>
              <a:rPr lang="en-GB" sz="2600" b="1" dirty="0">
                <a:solidFill>
                  <a:srgbClr val="0070C0"/>
                </a:solidFill>
              </a:rPr>
              <a:t> </a:t>
            </a:r>
            <a:r>
              <a:rPr lang="en-GB" sz="2600" b="1" dirty="0" err="1">
                <a:solidFill>
                  <a:srgbClr val="0070C0"/>
                </a:solidFill>
              </a:rPr>
              <a:t>Khir</a:t>
            </a:r>
            <a:r>
              <a:rPr lang="en-GB" sz="2600" b="1" dirty="0">
                <a:solidFill>
                  <a:srgbClr val="0070C0"/>
                </a:solidFill>
              </a:rPr>
              <a:t>, </a:t>
            </a:r>
            <a:r>
              <a:rPr lang="en-GB" sz="2600" b="1" dirty="0" smtClean="0">
                <a:solidFill>
                  <a:srgbClr val="0070C0"/>
                </a:solidFill>
              </a:rPr>
              <a:t>DeWitt </a:t>
            </a:r>
            <a:r>
              <a:rPr lang="en-GB" sz="2600" b="1" dirty="0">
                <a:solidFill>
                  <a:srgbClr val="0070C0"/>
                </a:solidFill>
              </a:rPr>
              <a:t>&amp; </a:t>
            </a:r>
            <a:r>
              <a:rPr lang="en-GB" sz="2600" b="1" dirty="0" err="1" smtClean="0">
                <a:solidFill>
                  <a:srgbClr val="0070C0"/>
                </a:solidFill>
              </a:rPr>
              <a:t>Kenayathula</a:t>
            </a:r>
            <a:r>
              <a:rPr lang="en-GB" sz="2600" b="1" dirty="0" smtClean="0">
                <a:solidFill>
                  <a:srgbClr val="0070C0"/>
                </a:solidFill>
              </a:rPr>
              <a:t> (2015)</a:t>
            </a:r>
          </a:p>
          <a:p>
            <a:r>
              <a:rPr lang="en-GB" sz="2600" dirty="0" smtClean="0"/>
              <a:t>Investigated the effectiveness </a:t>
            </a:r>
            <a:r>
              <a:rPr lang="en-GB" sz="2600" dirty="0"/>
              <a:t>of </a:t>
            </a:r>
            <a:r>
              <a:rPr lang="en-GB" sz="2600" dirty="0" smtClean="0"/>
              <a:t>JP among ESL </a:t>
            </a:r>
            <a:r>
              <a:rPr lang="en-GB" sz="2600" dirty="0"/>
              <a:t>readers </a:t>
            </a:r>
            <a:r>
              <a:rPr lang="en-GB" sz="2600" dirty="0" smtClean="0"/>
              <a:t>in Malaysia. Decoding and comprehension scores for students </a:t>
            </a:r>
            <a:r>
              <a:rPr lang="en-GB" sz="2600" dirty="0"/>
              <a:t>in the experimental group </a:t>
            </a:r>
            <a:r>
              <a:rPr lang="en-GB" sz="2600" dirty="0" smtClean="0"/>
              <a:t>was </a:t>
            </a:r>
            <a:r>
              <a:rPr lang="en-GB" sz="2600" dirty="0"/>
              <a:t>significantly </a:t>
            </a:r>
            <a:r>
              <a:rPr lang="en-GB" sz="2600" dirty="0" smtClean="0"/>
              <a:t>higher</a:t>
            </a:r>
          </a:p>
          <a:p>
            <a:r>
              <a:rPr lang="en-GB" sz="2600" dirty="0" smtClean="0"/>
              <a:t> compared to controls who were taught with a </a:t>
            </a:r>
          </a:p>
          <a:p>
            <a:r>
              <a:rPr lang="en-GB" sz="2600" dirty="0" smtClean="0"/>
              <a:t>whole word approach.</a:t>
            </a:r>
            <a:endParaRPr lang="en-GB" sz="2600" dirty="0"/>
          </a:p>
        </p:txBody>
      </p:sp>
      <p:pic>
        <p:nvPicPr>
          <p:cNvPr id="9" name="Picture 14" descr="C:\Users\Claire\AppData\Local\Microsoft\Windows\INetCache\IE\ZKT7S9LW\large-tropical-fish-166.6-8461[1].g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08746" y="5328685"/>
            <a:ext cx="679678" cy="653623"/>
          </a:xfrm>
          <a:prstGeom prst="rect">
            <a:avLst/>
          </a:prstGeom>
          <a:noFill/>
          <a:extLst>
            <a:ext uri="{909E8E84-426E-40DD-AFC4-6F175D3DCCD1}">
              <a14:hiddenFill xmlns:a14="http://schemas.microsoft.com/office/drawing/2010/main">
                <a:solidFill>
                  <a:srgbClr val="FFFFFF"/>
                </a:solidFill>
              </a14:hiddenFill>
            </a:ext>
          </a:extLst>
        </p:spPr>
      </p:pic>
      <p:sp>
        <p:nvSpPr>
          <p:cNvPr id="8" name="Footer Placeholder 4"/>
          <p:cNvSpPr txBox="1">
            <a:spLocks/>
          </p:cNvSpPr>
          <p:nvPr/>
        </p:nvSpPr>
        <p:spPr>
          <a:xfrm>
            <a:off x="5076056" y="6124106"/>
            <a:ext cx="5688632" cy="644293"/>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i="1" dirty="0" smtClean="0"/>
              <a:t>I went to the beach </a:t>
            </a:r>
          </a:p>
          <a:p>
            <a:r>
              <a:rPr lang="en-GB" sz="1600" i="1" dirty="0" smtClean="0"/>
              <a:t>with my floating fish</a:t>
            </a:r>
          </a:p>
          <a:p>
            <a:r>
              <a:rPr lang="en-GB" sz="1600" i="1" dirty="0" smtClean="0"/>
              <a:t>F,F,F,F,F</a:t>
            </a:r>
            <a:endParaRPr lang="en-GB" sz="1600" i="1" dirty="0"/>
          </a:p>
        </p:txBody>
      </p:sp>
    </p:spTree>
    <p:extLst>
      <p:ext uri="{BB962C8B-B14F-4D97-AF65-F5344CB8AC3E}">
        <p14:creationId xmlns:p14="http://schemas.microsoft.com/office/powerpoint/2010/main" val="21348433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862" y="5760"/>
            <a:ext cx="8229600" cy="1143000"/>
          </a:xfrm>
        </p:spPr>
        <p:txBody>
          <a:bodyPr/>
          <a:lstStyle/>
          <a:p>
            <a:r>
              <a:rPr lang="en-GB" b="1" dirty="0" smtClean="0">
                <a:solidFill>
                  <a:srgbClr val="0070C0"/>
                </a:solidFill>
              </a:rPr>
              <a:t>Other Findings</a:t>
            </a:r>
            <a:endParaRPr lang="en-GB" b="1" dirty="0">
              <a:solidFill>
                <a:srgbClr val="0070C0"/>
              </a:solidFill>
            </a:endParaRPr>
          </a:p>
        </p:txBody>
      </p:sp>
      <p:sp>
        <p:nvSpPr>
          <p:cNvPr id="3" name="Content Placeholder 2"/>
          <p:cNvSpPr>
            <a:spLocks noGrp="1"/>
          </p:cNvSpPr>
          <p:nvPr>
            <p:ph idx="1"/>
          </p:nvPr>
        </p:nvSpPr>
        <p:spPr>
          <a:xfrm>
            <a:off x="503548" y="1242924"/>
            <a:ext cx="8352928" cy="4848109"/>
          </a:xfrm>
        </p:spPr>
        <p:txBody>
          <a:bodyPr>
            <a:noAutofit/>
          </a:bodyPr>
          <a:lstStyle/>
          <a:p>
            <a:pPr marL="0" indent="0">
              <a:buNone/>
            </a:pPr>
            <a:r>
              <a:rPr lang="en-GB" sz="2500" b="1" dirty="0" err="1">
                <a:solidFill>
                  <a:srgbClr val="0070C0"/>
                </a:solidFill>
              </a:rPr>
              <a:t>Callinan</a:t>
            </a:r>
            <a:r>
              <a:rPr lang="en-GB" sz="2500" b="1" dirty="0">
                <a:solidFill>
                  <a:srgbClr val="0070C0"/>
                </a:solidFill>
              </a:rPr>
              <a:t> and Van der Zee (2010</a:t>
            </a:r>
            <a:r>
              <a:rPr lang="en-GB" sz="2500" b="1" dirty="0" smtClean="0">
                <a:solidFill>
                  <a:srgbClr val="0070C0"/>
                </a:solidFill>
              </a:rPr>
              <a:t>)</a:t>
            </a:r>
          </a:p>
          <a:p>
            <a:pPr marL="0" indent="0">
              <a:buNone/>
            </a:pPr>
            <a:r>
              <a:rPr lang="en-GB" sz="2500" dirty="0" smtClean="0"/>
              <a:t>Compared JP to another synthetic approach (THRASS</a:t>
            </a:r>
            <a:r>
              <a:rPr lang="en-GB" sz="2500" dirty="0"/>
              <a:t>). Reading ability </a:t>
            </a:r>
            <a:r>
              <a:rPr lang="en-GB" sz="2500" dirty="0" smtClean="0"/>
              <a:t>and memory for phonemes </a:t>
            </a:r>
            <a:r>
              <a:rPr lang="en-GB" sz="2500" dirty="0"/>
              <a:t>improved in all </a:t>
            </a:r>
            <a:r>
              <a:rPr lang="en-GB" sz="2500" dirty="0" smtClean="0"/>
              <a:t>schools but more </a:t>
            </a:r>
            <a:r>
              <a:rPr lang="en-GB" sz="2500" dirty="0"/>
              <a:t>in one JP school compared to the THRASS </a:t>
            </a:r>
            <a:r>
              <a:rPr lang="en-GB" sz="2500" dirty="0" smtClean="0"/>
              <a:t>school and another </a:t>
            </a:r>
            <a:r>
              <a:rPr lang="en-GB" sz="2500" dirty="0"/>
              <a:t>JP </a:t>
            </a:r>
            <a:r>
              <a:rPr lang="en-GB" sz="2500" dirty="0" smtClean="0"/>
              <a:t>school. </a:t>
            </a:r>
            <a:r>
              <a:rPr lang="en-GB" sz="2500" dirty="0"/>
              <a:t>F</a:t>
            </a:r>
            <a:r>
              <a:rPr lang="en-GB" sz="2500" dirty="0" smtClean="0"/>
              <a:t>actors such as group size and time of delivery had an impact.</a:t>
            </a:r>
          </a:p>
          <a:p>
            <a:pPr marL="0" indent="0">
              <a:buNone/>
            </a:pPr>
            <a:endParaRPr lang="en-GB" sz="2500" b="1" dirty="0">
              <a:solidFill>
                <a:srgbClr val="0070C0"/>
              </a:solidFill>
            </a:endParaRPr>
          </a:p>
          <a:p>
            <a:pPr marL="0" indent="0">
              <a:buNone/>
            </a:pPr>
            <a:r>
              <a:rPr lang="en-GB" sz="2500" b="1" dirty="0" err="1" smtClean="0">
                <a:solidFill>
                  <a:srgbClr val="0070C0"/>
                </a:solidFill>
              </a:rPr>
              <a:t>Cambell</a:t>
            </a:r>
            <a:r>
              <a:rPr lang="en-GB" sz="2500" b="1" dirty="0" smtClean="0">
                <a:solidFill>
                  <a:srgbClr val="0070C0"/>
                </a:solidFill>
              </a:rPr>
              <a:t> and Tor and </a:t>
            </a:r>
            <a:r>
              <a:rPr lang="en-GB" sz="2500" b="1" dirty="0" err="1" smtClean="0">
                <a:solidFill>
                  <a:srgbClr val="0070C0"/>
                </a:solidFill>
              </a:rPr>
              <a:t>Cologon</a:t>
            </a:r>
            <a:r>
              <a:rPr lang="en-GB" sz="2500" b="1" dirty="0" smtClean="0">
                <a:solidFill>
                  <a:srgbClr val="0070C0"/>
                </a:solidFill>
              </a:rPr>
              <a:t> (2012)</a:t>
            </a:r>
          </a:p>
          <a:p>
            <a:pPr marL="0" indent="0">
              <a:buNone/>
            </a:pPr>
            <a:r>
              <a:rPr lang="en-GB" sz="2500" dirty="0" smtClean="0"/>
              <a:t>Programmes such as JP were more likely to be used in early years settings in Australia when staff did not have university qualifications, had less than 10 years experience</a:t>
            </a:r>
          </a:p>
          <a:p>
            <a:pPr marL="0" indent="0">
              <a:buNone/>
            </a:pPr>
            <a:r>
              <a:rPr lang="en-GB" sz="2500" dirty="0" smtClean="0"/>
              <a:t> and the service was not for profit. </a:t>
            </a:r>
            <a:endParaRPr lang="en-GB" sz="2500" dirty="0"/>
          </a:p>
        </p:txBody>
      </p:sp>
      <p:pic>
        <p:nvPicPr>
          <p:cNvPr id="4" name="Picture 7" descr="C:\Users\Claire\AppData\Local\Microsoft\Windows\INetCache\IE\GPKA79P4\ubuplane[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4326" y="5532547"/>
            <a:ext cx="1151135" cy="614419"/>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txBox="1">
            <a:spLocks/>
          </p:cNvSpPr>
          <p:nvPr/>
        </p:nvSpPr>
        <p:spPr>
          <a:xfrm>
            <a:off x="4680012" y="6102433"/>
            <a:ext cx="5688632" cy="644293"/>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sz="1600" i="1" dirty="0"/>
          </a:p>
        </p:txBody>
      </p:sp>
      <p:sp>
        <p:nvSpPr>
          <p:cNvPr id="6" name="Footer Placeholder 4"/>
          <p:cNvSpPr txBox="1">
            <a:spLocks/>
          </p:cNvSpPr>
          <p:nvPr/>
        </p:nvSpPr>
        <p:spPr>
          <a:xfrm>
            <a:off x="4680011" y="6146966"/>
            <a:ext cx="5688632" cy="644293"/>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i="1" dirty="0" smtClean="0"/>
              <a:t>Hear the aeroplane, nnnnn</a:t>
            </a:r>
            <a:endParaRPr lang="en-GB" sz="1600" i="1" dirty="0"/>
          </a:p>
        </p:txBody>
      </p:sp>
    </p:spTree>
    <p:extLst>
      <p:ext uri="{BB962C8B-B14F-4D97-AF65-F5344CB8AC3E}">
        <p14:creationId xmlns:p14="http://schemas.microsoft.com/office/powerpoint/2010/main" val="1736234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84200"/>
            <a:ext cx="5244231" cy="68023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16670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Evidence for synthetic phonics</a:t>
            </a:r>
            <a:endParaRPr lang="en-GB" b="1" dirty="0">
              <a:solidFill>
                <a:srgbClr val="0070C0"/>
              </a:solidFill>
            </a:endParaRPr>
          </a:p>
        </p:txBody>
      </p:sp>
      <p:sp>
        <p:nvSpPr>
          <p:cNvPr id="4" name="Content Placeholder 3"/>
          <p:cNvSpPr>
            <a:spLocks noGrp="1"/>
          </p:cNvSpPr>
          <p:nvPr>
            <p:ph sz="half" idx="1"/>
          </p:nvPr>
        </p:nvSpPr>
        <p:spPr>
          <a:xfrm>
            <a:off x="457200" y="1600200"/>
            <a:ext cx="5122912" cy="4853136"/>
          </a:xfrm>
        </p:spPr>
        <p:txBody>
          <a:bodyPr>
            <a:normAutofit fontScale="92500" lnSpcReduction="20000"/>
          </a:bodyPr>
          <a:lstStyle/>
          <a:p>
            <a:pPr marL="0" indent="0">
              <a:buNone/>
            </a:pPr>
            <a:r>
              <a:rPr lang="en-GB" sz="2600" i="1" dirty="0" smtClean="0"/>
              <a:t>“</a:t>
            </a:r>
            <a:r>
              <a:rPr lang="en-GB" sz="2600" i="1" dirty="0"/>
              <a:t>Having considered a wide range </a:t>
            </a:r>
            <a:r>
              <a:rPr lang="en-GB" sz="2600" i="1" dirty="0" smtClean="0"/>
              <a:t>of evidence</a:t>
            </a:r>
            <a:r>
              <a:rPr lang="en-GB" sz="2600" i="1" dirty="0"/>
              <a:t>, the review has </a:t>
            </a:r>
            <a:r>
              <a:rPr lang="en-GB" sz="2600" i="1" dirty="0" smtClean="0"/>
              <a:t>concluded that </a:t>
            </a:r>
            <a:r>
              <a:rPr lang="en-GB" sz="2600" i="1" dirty="0"/>
              <a:t>the case for systematic </a:t>
            </a:r>
            <a:r>
              <a:rPr lang="en-GB" sz="2600" i="1" dirty="0" smtClean="0"/>
              <a:t>phonic work </a:t>
            </a:r>
            <a:r>
              <a:rPr lang="en-GB" sz="2600" i="1" dirty="0"/>
              <a:t>is overwhelming and </a:t>
            </a:r>
            <a:r>
              <a:rPr lang="en-GB" sz="2600" i="1" dirty="0" smtClean="0"/>
              <a:t>much strengthened </a:t>
            </a:r>
            <a:r>
              <a:rPr lang="en-GB" sz="2600" i="1" dirty="0"/>
              <a:t>by a synthetic </a:t>
            </a:r>
            <a:r>
              <a:rPr lang="en-GB" sz="2600" i="1" dirty="0" smtClean="0"/>
              <a:t>approach.”– </a:t>
            </a:r>
            <a:r>
              <a:rPr lang="en-GB" sz="2600" dirty="0"/>
              <a:t>Rose </a:t>
            </a:r>
            <a:r>
              <a:rPr lang="en-GB" sz="2600" dirty="0" smtClean="0"/>
              <a:t>(p.21 2006)</a:t>
            </a:r>
          </a:p>
          <a:p>
            <a:pPr marL="0" indent="0">
              <a:buNone/>
            </a:pPr>
            <a:endParaRPr lang="en-GB" sz="2600" dirty="0"/>
          </a:p>
          <a:p>
            <a:pPr marL="0" indent="0">
              <a:buNone/>
            </a:pPr>
            <a:r>
              <a:rPr lang="en-GB" sz="2600" dirty="0" smtClean="0"/>
              <a:t>Supporting Evidence: </a:t>
            </a:r>
            <a:r>
              <a:rPr lang="en-GB" sz="2400" b="1" u="sng" dirty="0" smtClean="0"/>
              <a:t>Johnston </a:t>
            </a:r>
            <a:r>
              <a:rPr lang="en-GB" sz="2400" b="1" u="sng" dirty="0"/>
              <a:t>&amp; </a:t>
            </a:r>
            <a:r>
              <a:rPr lang="en-GB" sz="2400" b="1" u="sng" dirty="0" smtClean="0"/>
              <a:t>Watson (1997)</a:t>
            </a:r>
            <a:r>
              <a:rPr lang="en-GB" sz="2400" dirty="0" smtClean="0"/>
              <a:t>; </a:t>
            </a:r>
            <a:r>
              <a:rPr lang="en-GB" sz="2400" dirty="0"/>
              <a:t>Johnston &amp; </a:t>
            </a:r>
            <a:r>
              <a:rPr lang="en-GB" sz="2400" dirty="0" smtClean="0"/>
              <a:t>Watson (2004); </a:t>
            </a:r>
            <a:r>
              <a:rPr lang="en-GB" sz="2400" dirty="0"/>
              <a:t>Johnston &amp; </a:t>
            </a:r>
            <a:r>
              <a:rPr lang="en-GB" sz="2400" dirty="0" smtClean="0"/>
              <a:t>Watson (2005); Johnston</a:t>
            </a:r>
            <a:r>
              <a:rPr lang="en-GB" sz="2400" dirty="0"/>
              <a:t>, McGeown, &amp; </a:t>
            </a:r>
            <a:r>
              <a:rPr lang="en-GB" sz="2400" dirty="0" smtClean="0"/>
              <a:t>Watson (2012)</a:t>
            </a:r>
            <a:endParaRPr lang="en-GB" sz="2400" dirty="0"/>
          </a:p>
          <a:p>
            <a:pPr marL="0" indent="0">
              <a:buNone/>
            </a:pPr>
            <a:endParaRPr lang="en-GB" sz="2600" dirty="0"/>
          </a:p>
          <a:p>
            <a:pPr marL="0" indent="0">
              <a:buNone/>
            </a:pPr>
            <a:r>
              <a:rPr lang="en-GB" sz="2600" dirty="0" smtClean="0"/>
              <a:t>Critique of Evidence: </a:t>
            </a:r>
            <a:r>
              <a:rPr lang="en-GB" sz="2400" dirty="0"/>
              <a:t>(Wyse &amp; </a:t>
            </a:r>
            <a:r>
              <a:rPr lang="en-GB" sz="2400" dirty="0" err="1"/>
              <a:t>Goswami</a:t>
            </a:r>
            <a:r>
              <a:rPr lang="en-GB" sz="2400" dirty="0"/>
              <a:t>, 2008; Wyse &amp; Styles, 2007)</a:t>
            </a:r>
          </a:p>
          <a:p>
            <a:pPr marL="0" indent="0">
              <a:buNone/>
            </a:pPr>
            <a:endParaRPr lang="en-GB" sz="2600" dirty="0"/>
          </a:p>
          <a:p>
            <a:endParaRPr lang="en-GB" dirty="0"/>
          </a:p>
        </p:txBody>
      </p:sp>
      <p:sp>
        <p:nvSpPr>
          <p:cNvPr id="5" name="Content Placeholder 4"/>
          <p:cNvSpPr>
            <a:spLocks noGrp="1"/>
          </p:cNvSpPr>
          <p:nvPr>
            <p:ph sz="half" idx="2"/>
          </p:nvPr>
        </p:nvSpPr>
        <p:spPr>
          <a:xfrm>
            <a:off x="5796136" y="1600200"/>
            <a:ext cx="2890664" cy="4525963"/>
          </a:xfrm>
        </p:spPr>
        <p:txBody>
          <a:bodyPr>
            <a:normAutofit fontScale="92500" lnSpcReduction="20000"/>
          </a:bodyPr>
          <a:lstStyle/>
          <a:p>
            <a:endParaRPr lang="en-GB"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6136" y="1773952"/>
            <a:ext cx="2952328" cy="4031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501560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solidFill>
                  <a:srgbClr val="0070C0"/>
                </a:solidFill>
              </a:rPr>
              <a:t>Evidence for a Multisensory </a:t>
            </a:r>
            <a:r>
              <a:rPr lang="en-GB" b="1" dirty="0">
                <a:solidFill>
                  <a:srgbClr val="0070C0"/>
                </a:solidFill>
              </a:rPr>
              <a:t>A</a:t>
            </a:r>
            <a:r>
              <a:rPr lang="en-GB" b="1" dirty="0" smtClean="0">
                <a:solidFill>
                  <a:srgbClr val="0070C0"/>
                </a:solidFill>
              </a:rPr>
              <a:t>pproach</a:t>
            </a:r>
            <a:endParaRPr lang="en-GB" b="1" dirty="0">
              <a:solidFill>
                <a:srgbClr val="0070C0"/>
              </a:solidFill>
            </a:endParaRPr>
          </a:p>
        </p:txBody>
      </p:sp>
      <p:sp>
        <p:nvSpPr>
          <p:cNvPr id="3" name="Content Placeholder 2"/>
          <p:cNvSpPr>
            <a:spLocks noGrp="1"/>
          </p:cNvSpPr>
          <p:nvPr>
            <p:ph idx="1"/>
          </p:nvPr>
        </p:nvSpPr>
        <p:spPr>
          <a:xfrm>
            <a:off x="457200" y="1600200"/>
            <a:ext cx="8229600" cy="5069160"/>
          </a:xfrm>
        </p:spPr>
        <p:txBody>
          <a:bodyPr>
            <a:normAutofit fontScale="85000" lnSpcReduction="20000"/>
          </a:bodyPr>
          <a:lstStyle/>
          <a:p>
            <a:pPr marL="0" indent="0">
              <a:buNone/>
            </a:pPr>
            <a:r>
              <a:rPr lang="en-GB" sz="3100" b="1" dirty="0">
                <a:solidFill>
                  <a:srgbClr val="0070C0"/>
                </a:solidFill>
              </a:rPr>
              <a:t>Joshi, </a:t>
            </a:r>
            <a:r>
              <a:rPr lang="en-GB" sz="3100" b="1" dirty="0" smtClean="0">
                <a:solidFill>
                  <a:srgbClr val="0070C0"/>
                </a:solidFill>
              </a:rPr>
              <a:t>Dahlgren</a:t>
            </a:r>
            <a:r>
              <a:rPr lang="en-GB" sz="3100" b="1" dirty="0">
                <a:solidFill>
                  <a:srgbClr val="0070C0"/>
                </a:solidFill>
              </a:rPr>
              <a:t> </a:t>
            </a:r>
            <a:r>
              <a:rPr lang="en-GB" sz="3100" b="1" dirty="0" smtClean="0">
                <a:solidFill>
                  <a:srgbClr val="0070C0"/>
                </a:solidFill>
              </a:rPr>
              <a:t>and </a:t>
            </a:r>
            <a:r>
              <a:rPr lang="en-GB" sz="3100" b="1" dirty="0" err="1" smtClean="0">
                <a:solidFill>
                  <a:srgbClr val="0070C0"/>
                </a:solidFill>
              </a:rPr>
              <a:t>Boulware</a:t>
            </a:r>
            <a:r>
              <a:rPr lang="en-GB" sz="3100" b="1" dirty="0" smtClean="0">
                <a:solidFill>
                  <a:srgbClr val="0070C0"/>
                </a:solidFill>
              </a:rPr>
              <a:t>-Gooden (2002)</a:t>
            </a:r>
          </a:p>
          <a:p>
            <a:pPr marL="0" indent="0">
              <a:buNone/>
            </a:pPr>
            <a:r>
              <a:rPr lang="en-GB" sz="3100" dirty="0" smtClean="0"/>
              <a:t>A multi-sensory approach to phonics instruction led to higher gains than controls for phonological awareness, decoding and comprehension.</a:t>
            </a:r>
          </a:p>
          <a:p>
            <a:pPr marL="0" indent="0">
              <a:buNone/>
            </a:pPr>
            <a:endParaRPr lang="en-GB" sz="3100" dirty="0" smtClean="0"/>
          </a:p>
          <a:p>
            <a:pPr marL="0" indent="0">
              <a:buNone/>
            </a:pPr>
            <a:r>
              <a:rPr lang="en-GB" sz="3100" b="1" dirty="0">
                <a:solidFill>
                  <a:srgbClr val="0070C0"/>
                </a:solidFill>
              </a:rPr>
              <a:t>Campbell, </a:t>
            </a:r>
            <a:r>
              <a:rPr lang="en-GB" sz="3100" b="1" dirty="0" err="1" smtClean="0">
                <a:solidFill>
                  <a:srgbClr val="0070C0"/>
                </a:solidFill>
              </a:rPr>
              <a:t>Helf</a:t>
            </a:r>
            <a:r>
              <a:rPr lang="en-GB" sz="3100" b="1" dirty="0">
                <a:solidFill>
                  <a:srgbClr val="0070C0"/>
                </a:solidFill>
              </a:rPr>
              <a:t> </a:t>
            </a:r>
            <a:r>
              <a:rPr lang="en-GB" sz="3100" b="1" dirty="0" smtClean="0">
                <a:solidFill>
                  <a:srgbClr val="0070C0"/>
                </a:solidFill>
              </a:rPr>
              <a:t>and  Cooke (2008</a:t>
            </a:r>
            <a:r>
              <a:rPr lang="en-GB" sz="3100" b="1" dirty="0">
                <a:solidFill>
                  <a:srgbClr val="0070C0"/>
                </a:solidFill>
              </a:rPr>
              <a:t>)</a:t>
            </a:r>
          </a:p>
          <a:p>
            <a:pPr marL="0" indent="0">
              <a:buNone/>
            </a:pPr>
            <a:r>
              <a:rPr lang="en-GB" sz="3100" dirty="0"/>
              <a:t>A</a:t>
            </a:r>
            <a:r>
              <a:rPr lang="en-GB" sz="3100" dirty="0" smtClean="0"/>
              <a:t>dding </a:t>
            </a:r>
            <a:r>
              <a:rPr lang="en-GB" sz="3100" dirty="0"/>
              <a:t>multisensory components to a </a:t>
            </a:r>
            <a:r>
              <a:rPr lang="en-GB" sz="3100" dirty="0" smtClean="0"/>
              <a:t>reading intervention allowed children to </a:t>
            </a:r>
            <a:r>
              <a:rPr lang="en-GB" sz="3100" dirty="0"/>
              <a:t>acquire basic decoding skills </a:t>
            </a:r>
            <a:endParaRPr lang="en-GB" sz="3100" dirty="0" smtClean="0"/>
          </a:p>
          <a:p>
            <a:pPr marL="0" indent="0">
              <a:buNone/>
            </a:pPr>
            <a:endParaRPr lang="en-GB" sz="3100" dirty="0" smtClean="0"/>
          </a:p>
          <a:p>
            <a:pPr marL="0" indent="0">
              <a:buNone/>
            </a:pPr>
            <a:r>
              <a:rPr lang="en-GB" sz="3100" b="1" dirty="0">
                <a:solidFill>
                  <a:srgbClr val="0070C0"/>
                </a:solidFill>
              </a:rPr>
              <a:t>Kristen &amp; </a:t>
            </a:r>
            <a:r>
              <a:rPr lang="en-GB" sz="3100" b="1" dirty="0" err="1" smtClean="0">
                <a:solidFill>
                  <a:srgbClr val="0070C0"/>
                </a:solidFill>
              </a:rPr>
              <a:t>Goeke</a:t>
            </a:r>
            <a:r>
              <a:rPr lang="en-GB" sz="3100" b="1" dirty="0" smtClean="0">
                <a:solidFill>
                  <a:srgbClr val="0070C0"/>
                </a:solidFill>
              </a:rPr>
              <a:t> (2006)</a:t>
            </a:r>
          </a:p>
          <a:p>
            <a:pPr marL="0" indent="0">
              <a:buNone/>
            </a:pPr>
            <a:r>
              <a:rPr lang="en-GB" sz="3100" dirty="0"/>
              <a:t>A</a:t>
            </a:r>
            <a:r>
              <a:rPr lang="en-GB" sz="3100" dirty="0" smtClean="0"/>
              <a:t>dditional </a:t>
            </a:r>
            <a:r>
              <a:rPr lang="en-GB" sz="3100" dirty="0"/>
              <a:t>research is needed before </a:t>
            </a:r>
            <a:r>
              <a:rPr lang="en-GB" sz="3100" dirty="0" smtClean="0"/>
              <a:t>sound </a:t>
            </a:r>
          </a:p>
          <a:p>
            <a:pPr marL="0" indent="0">
              <a:buNone/>
            </a:pPr>
            <a:r>
              <a:rPr lang="en-GB" sz="3100" dirty="0" smtClean="0"/>
              <a:t>conclusions can be drawn about the </a:t>
            </a:r>
          </a:p>
          <a:p>
            <a:pPr marL="0" indent="0">
              <a:buNone/>
            </a:pPr>
            <a:r>
              <a:rPr lang="en-GB" sz="3100" dirty="0" smtClean="0"/>
              <a:t>effectiveness of the OG approach</a:t>
            </a:r>
          </a:p>
          <a:p>
            <a:pPr marL="0" indent="0">
              <a:buNone/>
            </a:pPr>
            <a:endParaRPr lang="en-GB" sz="2600" b="1" dirty="0">
              <a:solidFill>
                <a:srgbClr val="0070C0"/>
              </a:solidFill>
            </a:endParaRPr>
          </a:p>
        </p:txBody>
      </p:sp>
      <p:pic>
        <p:nvPicPr>
          <p:cNvPr id="4" name="Picture 5" descr="C:\Users\Claire\AppData\Local\Microsoft\Windows\INetCache\IE\9TI3MUWJ\6thbirthday1[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0292" y="4797152"/>
            <a:ext cx="1632043" cy="1118662"/>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txBox="1">
            <a:spLocks/>
          </p:cNvSpPr>
          <p:nvPr/>
        </p:nvSpPr>
        <p:spPr>
          <a:xfrm>
            <a:off x="4355976" y="6102433"/>
            <a:ext cx="5688632" cy="644293"/>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i="1" dirty="0" smtClean="0"/>
              <a:t>Puff out the candles on my pink pig cake</a:t>
            </a:r>
          </a:p>
          <a:p>
            <a:r>
              <a:rPr lang="en-GB" sz="1600" i="1" dirty="0" smtClean="0"/>
              <a:t>P,P,P,P,P</a:t>
            </a:r>
            <a:endParaRPr lang="en-GB" sz="1600" i="1" dirty="0"/>
          </a:p>
        </p:txBody>
      </p:sp>
    </p:spTree>
    <p:extLst>
      <p:ext uri="{BB962C8B-B14F-4D97-AF65-F5344CB8AC3E}">
        <p14:creationId xmlns:p14="http://schemas.microsoft.com/office/powerpoint/2010/main" val="28426379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Implications </a:t>
            </a:r>
            <a:endParaRPr lang="en-GB" b="1" dirty="0">
              <a:solidFill>
                <a:srgbClr val="0070C0"/>
              </a:solidFill>
            </a:endParaRPr>
          </a:p>
        </p:txBody>
      </p:sp>
      <p:sp>
        <p:nvSpPr>
          <p:cNvPr id="3" name="Content Placeholder 2"/>
          <p:cNvSpPr>
            <a:spLocks noGrp="1"/>
          </p:cNvSpPr>
          <p:nvPr>
            <p:ph idx="1"/>
          </p:nvPr>
        </p:nvSpPr>
        <p:spPr/>
        <p:txBody>
          <a:bodyPr>
            <a:normAutofit fontScale="92500"/>
          </a:bodyPr>
          <a:lstStyle/>
          <a:p>
            <a:r>
              <a:rPr lang="en-GB" dirty="0" smtClean="0"/>
              <a:t>An evidence based approach</a:t>
            </a:r>
          </a:p>
          <a:p>
            <a:r>
              <a:rPr lang="en-GB" dirty="0" smtClean="0"/>
              <a:t>Effective with a variety of different needs</a:t>
            </a:r>
          </a:p>
          <a:p>
            <a:r>
              <a:rPr lang="en-GB" dirty="0" smtClean="0"/>
              <a:t>Consider the rationale for schools choosing this approach</a:t>
            </a:r>
          </a:p>
          <a:p>
            <a:r>
              <a:rPr lang="en-GB" dirty="0" smtClean="0"/>
              <a:t>Intervention should be tailored to the individual</a:t>
            </a:r>
          </a:p>
          <a:p>
            <a:r>
              <a:rPr lang="en-GB" dirty="0" smtClean="0"/>
              <a:t>May not be suited to older learners</a:t>
            </a:r>
          </a:p>
          <a:p>
            <a:pPr marL="0" indent="0">
              <a:buNone/>
            </a:pPr>
            <a:endParaRPr lang="en-GB" dirty="0" smtClean="0"/>
          </a:p>
          <a:p>
            <a:pPr marL="0" indent="0">
              <a:buNone/>
            </a:pPr>
            <a:r>
              <a:rPr lang="en-GB" dirty="0" smtClean="0">
                <a:hlinkClick r:id="rId3"/>
              </a:rPr>
              <a:t>http</a:t>
            </a:r>
            <a:r>
              <a:rPr lang="en-GB" dirty="0">
                <a:hlinkClick r:id="rId3"/>
              </a:rPr>
              <a:t>://jollylearning.co.uk/shop/</a:t>
            </a:r>
            <a:r>
              <a:rPr lang="en-GB" dirty="0"/>
              <a:t> </a:t>
            </a:r>
          </a:p>
          <a:p>
            <a:endParaRPr lang="en-GB" dirty="0"/>
          </a:p>
        </p:txBody>
      </p:sp>
      <p:pic>
        <p:nvPicPr>
          <p:cNvPr id="5" name="Picture 15" descr="C:\Users\Claire\AppData\Local\Microsoft\Windows\INetCache\IE\9TI3MUWJ\1305613953[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84368" y="5157192"/>
            <a:ext cx="1056117" cy="792088"/>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4"/>
          <p:cNvSpPr txBox="1">
            <a:spLocks/>
          </p:cNvSpPr>
          <p:nvPr/>
        </p:nvSpPr>
        <p:spPr>
          <a:xfrm>
            <a:off x="4788024" y="6080273"/>
            <a:ext cx="5688632" cy="644293"/>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i="1" dirty="0" smtClean="0"/>
              <a:t>We lick our lollipops, L,L,L,L</a:t>
            </a:r>
            <a:endParaRPr lang="en-GB" sz="1600" i="1" dirty="0"/>
          </a:p>
        </p:txBody>
      </p:sp>
    </p:spTree>
    <p:extLst>
      <p:ext uri="{BB962C8B-B14F-4D97-AF65-F5344CB8AC3E}">
        <p14:creationId xmlns:p14="http://schemas.microsoft.com/office/powerpoint/2010/main" val="3939071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0070C0"/>
                </a:solidFill>
              </a:rPr>
              <a:t>Summary</a:t>
            </a:r>
            <a:endParaRPr lang="en-GB" b="1" dirty="0">
              <a:solidFill>
                <a:srgbClr val="0070C0"/>
              </a:solidFill>
            </a:endParaRPr>
          </a:p>
        </p:txBody>
      </p:sp>
      <p:sp>
        <p:nvSpPr>
          <p:cNvPr id="3" name="Content Placeholder 2"/>
          <p:cNvSpPr>
            <a:spLocks noGrp="1"/>
          </p:cNvSpPr>
          <p:nvPr>
            <p:ph idx="1"/>
          </p:nvPr>
        </p:nvSpPr>
        <p:spPr>
          <a:xfrm>
            <a:off x="467544" y="1700808"/>
            <a:ext cx="8229600" cy="4525963"/>
          </a:xfrm>
        </p:spPr>
        <p:txBody>
          <a:bodyPr>
            <a:normAutofit fontScale="85000" lnSpcReduction="10000"/>
          </a:bodyPr>
          <a:lstStyle/>
          <a:p>
            <a:r>
              <a:rPr lang="en-GB" dirty="0" smtClean="0"/>
              <a:t>A synthetic  phonics approach based on cognitive principles</a:t>
            </a:r>
          </a:p>
          <a:p>
            <a:r>
              <a:rPr lang="en-GB" dirty="0" smtClean="0"/>
              <a:t>Multisensory methods</a:t>
            </a:r>
          </a:p>
          <a:p>
            <a:r>
              <a:rPr lang="en-GB" dirty="0" smtClean="0"/>
              <a:t>Subject to investigation from independent sources</a:t>
            </a:r>
          </a:p>
          <a:p>
            <a:pPr marL="0" indent="0">
              <a:buNone/>
            </a:pPr>
            <a:endParaRPr lang="en-GB" dirty="0" smtClean="0"/>
          </a:p>
          <a:p>
            <a:pPr marL="0" indent="0">
              <a:buNone/>
            </a:pPr>
            <a:r>
              <a:rPr lang="en-GB" dirty="0" smtClean="0"/>
              <a:t>Wonders</a:t>
            </a:r>
          </a:p>
          <a:p>
            <a:r>
              <a:rPr lang="en-GB" dirty="0"/>
              <a:t>I</a:t>
            </a:r>
            <a:r>
              <a:rPr lang="en-GB" dirty="0" smtClean="0"/>
              <a:t>s it more or less effective than any other synthetic or multisensory approach?</a:t>
            </a:r>
          </a:p>
          <a:p>
            <a:r>
              <a:rPr lang="en-GB" dirty="0" smtClean="0"/>
              <a:t>Is it always appropriate to the needs of the </a:t>
            </a:r>
          </a:p>
          <a:p>
            <a:pPr marL="400050" lvl="1" indent="0">
              <a:buNone/>
            </a:pPr>
            <a:r>
              <a:rPr lang="en-GB" sz="3200" dirty="0" smtClean="0"/>
              <a:t>learner?</a:t>
            </a:r>
            <a:endParaRPr lang="en-GB" sz="3200" dirty="0"/>
          </a:p>
        </p:txBody>
      </p:sp>
      <p:pic>
        <p:nvPicPr>
          <p:cNvPr id="4" name="Picture 8" descr="C:\Users\Claire\AppData\Local\Microsoft\Windows\INetCache\IE\9TI3MUWJ\Drum[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4216" y="4797152"/>
            <a:ext cx="1056248" cy="119708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txBox="1">
            <a:spLocks/>
          </p:cNvSpPr>
          <p:nvPr/>
        </p:nvSpPr>
        <p:spPr>
          <a:xfrm>
            <a:off x="4788024" y="6080273"/>
            <a:ext cx="5688632" cy="644293"/>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i="1" dirty="0" smtClean="0"/>
              <a:t>With a D, D, D, D, D, D,D</a:t>
            </a:r>
          </a:p>
          <a:p>
            <a:r>
              <a:rPr lang="en-GB" sz="1600" i="1" dirty="0" smtClean="0"/>
              <a:t>See me play upon my drum</a:t>
            </a:r>
            <a:endParaRPr lang="en-GB" sz="1600" i="1" dirty="0"/>
          </a:p>
        </p:txBody>
      </p:sp>
    </p:spTree>
    <p:extLst>
      <p:ext uri="{BB962C8B-B14F-4D97-AF65-F5344CB8AC3E}">
        <p14:creationId xmlns:p14="http://schemas.microsoft.com/office/powerpoint/2010/main" val="3576714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4930</TotalTime>
  <Words>3419</Words>
  <Application>Microsoft Office PowerPoint</Application>
  <PresentationFormat>On-screen Show (4:3)</PresentationFormat>
  <Paragraphs>287</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Jolly Phonics</vt:lpstr>
      <vt:lpstr>The Reading Wars</vt:lpstr>
      <vt:lpstr>What is Jolly Phonics?</vt:lpstr>
      <vt:lpstr>PowerPoint Presentation</vt:lpstr>
      <vt:lpstr>Key terms</vt:lpstr>
      <vt:lpstr>Underlying Principles</vt:lpstr>
      <vt:lpstr>Analytic vs Synthetic Phonics</vt:lpstr>
      <vt:lpstr>A Multisensory Approach</vt:lpstr>
      <vt:lpstr>Evidence base for Jolly Phonics</vt:lpstr>
      <vt:lpstr>Evidence base for Jolly Phonics</vt:lpstr>
      <vt:lpstr>Evidence base for Jolly Phonics</vt:lpstr>
      <vt:lpstr>Other Findings</vt:lpstr>
      <vt:lpstr>PowerPoint Presentation</vt:lpstr>
      <vt:lpstr>Evidence for synthetic phonics</vt:lpstr>
      <vt:lpstr>Evidence for a Multisensory Approach</vt:lpstr>
      <vt:lpstr>Implications </vt:lpstr>
      <vt:lpstr>Summary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Jolly Phonics</dc:title>
  <dc:creator>Claire Williams</dc:creator>
  <cp:lastModifiedBy>Herring E.</cp:lastModifiedBy>
  <cp:revision>109</cp:revision>
  <cp:lastPrinted>2015-12-17T21:01:05Z</cp:lastPrinted>
  <dcterms:created xsi:type="dcterms:W3CDTF">2015-12-04T14:00:37Z</dcterms:created>
  <dcterms:modified xsi:type="dcterms:W3CDTF">2015-12-18T10:52:13Z</dcterms:modified>
</cp:coreProperties>
</file>