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69" r:id="rId2"/>
    <p:sldId id="261"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B333"/>
    <a:srgbClr val="0092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502" autoAdjust="0"/>
  </p:normalViewPr>
  <p:slideViewPr>
    <p:cSldViewPr snapToGrid="0" snapToObjects="1">
      <p:cViewPr varScale="1">
        <p:scale>
          <a:sx n="19" d="100"/>
          <a:sy n="19" d="100"/>
        </p:scale>
        <p:origin x="1818" y="3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C2067-3453-E84B-9E57-A701B6F1AD26}" type="datetimeFigureOut">
              <a:rPr lang="en-US" smtClean="0"/>
              <a:t>12/14/2021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425465-BF17-804A-B956-03B2B34BD53A}" type="slidenum">
              <a:rPr lang="en-US" smtClean="0"/>
              <a:t>‹#›</a:t>
            </a:fld>
            <a:endParaRPr lang="en-US" dirty="0"/>
          </a:p>
        </p:txBody>
      </p:sp>
    </p:spTree>
    <p:extLst>
      <p:ext uri="{BB962C8B-B14F-4D97-AF65-F5344CB8AC3E}">
        <p14:creationId xmlns:p14="http://schemas.microsoft.com/office/powerpoint/2010/main" val="274021622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dirty="0">
                <a:latin typeface="Arial" panose="020B0604020202020204" pitchFamily="34" charset="0"/>
              </a:rPr>
              <a:t>Defining stress is quite a difficult and complex process given that it means different things to different people (in a similar vein as happiness, failure or success).  Even though stress is a normal part of everyday life, too much stress makes young people become anxious, exhausted, tired and unable to function appropriately both inside and outside school.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a:t>
            </a:fld>
            <a:endParaRPr lang="en-US" dirty="0"/>
          </a:p>
        </p:txBody>
      </p:sp>
    </p:spTree>
    <p:extLst>
      <p:ext uri="{BB962C8B-B14F-4D97-AF65-F5344CB8AC3E}">
        <p14:creationId xmlns:p14="http://schemas.microsoft.com/office/powerpoint/2010/main" val="4051719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altLang="en-US" dirty="0">
                <a:latin typeface="Arial" panose="020B0604020202020204" pitchFamily="34" charset="0"/>
              </a:rPr>
              <a:t>Depression is when a child’s mood is very low, with no obvious cause.  Between the ages of eight and puberty, around 2 to 4% of children are diagnosed with depression, after puberty it is around 4 to 8%, and it is more common in girls than boys. The symptoms of depression are very similar to those in adults: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15</a:t>
            </a:fld>
            <a:endParaRPr lang="en-US" dirty="0"/>
          </a:p>
        </p:txBody>
      </p:sp>
    </p:spTree>
    <p:extLst>
      <p:ext uri="{BB962C8B-B14F-4D97-AF65-F5344CB8AC3E}">
        <p14:creationId xmlns:p14="http://schemas.microsoft.com/office/powerpoint/2010/main" val="2354376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Read over facts about anxiety.</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24</a:t>
            </a:fld>
            <a:endParaRPr lang="en-US" dirty="0"/>
          </a:p>
        </p:txBody>
      </p:sp>
    </p:spTree>
    <p:extLst>
      <p:ext uri="{BB962C8B-B14F-4D97-AF65-F5344CB8AC3E}">
        <p14:creationId xmlns:p14="http://schemas.microsoft.com/office/powerpoint/2010/main" val="4159437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Read through symptoms of anxiety and answer any questions.  People who present with somatic complaints are presenting symptoms that are caused by mental processes rather than immediate physiological causes (e.g., someone may “fake” being sick to get out of an anxiety-provoking situation).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27</a:t>
            </a:fld>
            <a:endParaRPr lang="en-US" dirty="0"/>
          </a:p>
        </p:txBody>
      </p:sp>
    </p:spTree>
    <p:extLst>
      <p:ext uri="{BB962C8B-B14F-4D97-AF65-F5344CB8AC3E}">
        <p14:creationId xmlns:p14="http://schemas.microsoft.com/office/powerpoint/2010/main" val="2416587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Read through different types of anxiety disorders.  You may want to begin by saying that you will be defining the following disorders:  Generalized Anxiety Disorder, Post-Traumatic Stress Disorder, Panic Disorders, Specific Phobias, Social Phobia, Separation Anxiety Disorder, and Obsessive Compulsive Disorder.</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28</a:t>
            </a:fld>
            <a:endParaRPr lang="en-US" dirty="0"/>
          </a:p>
        </p:txBody>
      </p:sp>
    </p:spTree>
    <p:extLst>
      <p:ext uri="{BB962C8B-B14F-4D97-AF65-F5344CB8AC3E}">
        <p14:creationId xmlns:p14="http://schemas.microsoft.com/office/powerpoint/2010/main" val="3306097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rPr>
              <a:t>Comorbidity - the presence of one or more disorders (or diseases) in addition to a primary disease or disorder.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Sometimes anxiety masks itself in symptoms that would lead you to a different diagnosis.  Read through ADHD example…explain that although these symptoms lead you to think that the client presents with ADHD, the client may instead present with an anxiety disorder or may be displaying both.  The key is to determine which disorder is the primary disorder.</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31</a:t>
            </a:fld>
            <a:endParaRPr lang="en-US" dirty="0"/>
          </a:p>
        </p:txBody>
      </p:sp>
    </p:spTree>
    <p:extLst>
      <p:ext uri="{BB962C8B-B14F-4D97-AF65-F5344CB8AC3E}">
        <p14:creationId xmlns:p14="http://schemas.microsoft.com/office/powerpoint/2010/main" val="1695504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Biofeedback is a treatment technique in which people are trained to improve their health by using signals from their own bodies.   It is used to help tense and anxious clients learn to relax. </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32</a:t>
            </a:fld>
            <a:endParaRPr lang="en-US" dirty="0"/>
          </a:p>
        </p:txBody>
      </p:sp>
    </p:spTree>
    <p:extLst>
      <p:ext uri="{BB962C8B-B14F-4D97-AF65-F5344CB8AC3E}">
        <p14:creationId xmlns:p14="http://schemas.microsoft.com/office/powerpoint/2010/main" val="1104540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You may want to explain a little about relaxation in the classroom…teach students to breathe in slowly through the nose, and out through the mouth as if they were filling up a balloon with air and then letting it out.  Children should breathe in to the count of 5, and out to the count of 5 which means “Breathe in, two, three, four, five, and out, two, three, four, five” (at a rate of about one count per second); Adolescents should breathe in and out to the count of 8 and have them take 3 normal breaths in between deep breaths.</a:t>
            </a:r>
          </a:p>
          <a:p>
            <a:endParaRPr lang="en-GB" b="1" dirty="0"/>
          </a:p>
        </p:txBody>
      </p:sp>
      <p:sp>
        <p:nvSpPr>
          <p:cNvPr id="4" name="Slide Number Placeholder 3"/>
          <p:cNvSpPr>
            <a:spLocks noGrp="1"/>
          </p:cNvSpPr>
          <p:nvPr>
            <p:ph type="sldNum" sz="quarter" idx="10"/>
          </p:nvPr>
        </p:nvSpPr>
        <p:spPr/>
        <p:txBody>
          <a:bodyPr/>
          <a:lstStyle/>
          <a:p>
            <a:fld id="{52425465-BF17-804A-B956-03B2B34BD53A}" type="slidenum">
              <a:rPr lang="en-US" smtClean="0"/>
              <a:t>33</a:t>
            </a:fld>
            <a:endParaRPr lang="en-US" dirty="0"/>
          </a:p>
        </p:txBody>
      </p:sp>
    </p:spTree>
    <p:extLst>
      <p:ext uri="{BB962C8B-B14F-4D97-AF65-F5344CB8AC3E}">
        <p14:creationId xmlns:p14="http://schemas.microsoft.com/office/powerpoint/2010/main" val="1267860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36</a:t>
            </a:fld>
            <a:endParaRPr lang="en-US" dirty="0"/>
          </a:p>
        </p:txBody>
      </p:sp>
    </p:spTree>
    <p:extLst>
      <p:ext uri="{BB962C8B-B14F-4D97-AF65-F5344CB8AC3E}">
        <p14:creationId xmlns:p14="http://schemas.microsoft.com/office/powerpoint/2010/main" val="3468434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5768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47043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418825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08084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35375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11373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6362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5368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9220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4348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12/14/2021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67458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91FA2-DBAF-8948-B0AA-F8218DAC9472}" type="datetimeFigureOut">
              <a:rPr lang="en-US" smtClean="0"/>
              <a:t>12/14/2021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9481E-959F-0A4C-89CF-13A902D3D06F}" type="slidenum">
              <a:rPr lang="en-US" smtClean="0"/>
              <a:t>‹#›</a:t>
            </a:fld>
            <a:endParaRPr lang="en-US" dirty="0"/>
          </a:p>
        </p:txBody>
      </p:sp>
    </p:spTree>
    <p:extLst>
      <p:ext uri="{BB962C8B-B14F-4D97-AF65-F5344CB8AC3E}">
        <p14:creationId xmlns:p14="http://schemas.microsoft.com/office/powerpoint/2010/main" val="421993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IMMAGE5-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582706" y="1279808"/>
            <a:ext cx="6648846" cy="541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US" sz="3600" dirty="0">
                <a:ea typeface="Tahoma" pitchFamily="34" charset="0"/>
                <a:cs typeface="Tahoma" pitchFamily="34" charset="0"/>
              </a:rPr>
              <a:t>Topic 6 </a:t>
            </a:r>
          </a:p>
          <a:p>
            <a:pPr eaLnBrk="1" hangingPunct="1"/>
            <a:endParaRPr lang="en-US" sz="3600" dirty="0">
              <a:ea typeface="Tahoma" pitchFamily="34" charset="0"/>
              <a:cs typeface="Tahoma" pitchFamily="34" charset="0"/>
            </a:endParaRPr>
          </a:p>
          <a:p>
            <a:pPr eaLnBrk="1" hangingPunct="1"/>
            <a:r>
              <a:rPr lang="en-US" sz="3600" dirty="0">
                <a:ea typeface="Tahoma" pitchFamily="34" charset="0"/>
                <a:cs typeface="Tahoma" pitchFamily="34" charset="0"/>
              </a:rPr>
              <a:t>Understanding stress, depression and anxiety</a:t>
            </a:r>
          </a:p>
          <a:p>
            <a:pPr eaLnBrk="1" hangingPunct="1"/>
            <a:endParaRPr lang="en-US" sz="3600" dirty="0">
              <a:solidFill>
                <a:schemeClr val="bg1">
                  <a:lumMod val="85000"/>
                </a:schemeClr>
              </a:solidFill>
              <a:latin typeface="Calibri" charset="0"/>
              <a:ea typeface="Tahoma" pitchFamily="34" charset="0"/>
              <a:cs typeface="Tahoma" pitchFamily="34" charset="0"/>
            </a:endParaRPr>
          </a:p>
          <a:p>
            <a:pPr>
              <a:lnSpc>
                <a:spcPct val="90000"/>
              </a:lnSpc>
              <a:spcBef>
                <a:spcPct val="0"/>
              </a:spcBef>
            </a:pPr>
            <a:r>
              <a:rPr kumimoji="1" lang="en-US" altLang="en-US" sz="3600" dirty="0">
                <a:latin typeface="Arial" panose="020B0604020202020204" pitchFamily="34" charset="0"/>
                <a:cs typeface="Arial" panose="020B0604020202020204" pitchFamily="34" charset="0"/>
              </a:rPr>
              <a:t>The Wellbeing Toolkit</a:t>
            </a:r>
          </a:p>
          <a:p>
            <a:pPr>
              <a:lnSpc>
                <a:spcPct val="90000"/>
              </a:lnSpc>
              <a:spcBef>
                <a:spcPct val="0"/>
              </a:spcBef>
            </a:pPr>
            <a:endParaRPr kumimoji="1" lang="en-US" altLang="en-US" sz="3600" dirty="0">
              <a:latin typeface="Arial" panose="020B0604020202020204" pitchFamily="34" charset="0"/>
              <a:cs typeface="Arial" panose="020B0604020202020204" pitchFamily="34" charset="0"/>
            </a:endParaRPr>
          </a:p>
          <a:p>
            <a:pPr>
              <a:lnSpc>
                <a:spcPct val="90000"/>
              </a:lnSpc>
              <a:spcBef>
                <a:spcPct val="0"/>
              </a:spcBef>
            </a:pPr>
            <a:endParaRPr kumimoji="1" lang="en-US" altLang="en-US" sz="3600" dirty="0">
              <a:latin typeface="Arial" panose="020B0604020202020204" pitchFamily="34" charset="0"/>
              <a:cs typeface="Arial" panose="020B0604020202020204" pitchFamily="34" charset="0"/>
            </a:endParaRPr>
          </a:p>
          <a:p>
            <a:pPr>
              <a:lnSpc>
                <a:spcPct val="90000"/>
              </a:lnSpc>
              <a:spcBef>
                <a:spcPct val="0"/>
              </a:spcBef>
            </a:pPr>
            <a:r>
              <a:rPr kumimoji="1" lang="en-US" altLang="en-US" sz="3600" dirty="0">
                <a:latin typeface="Arial" panose="020B0604020202020204" pitchFamily="34" charset="0"/>
                <a:cs typeface="Arial" panose="020B0604020202020204" pitchFamily="34" charset="0"/>
              </a:rPr>
              <a:t>Dr Tina Rae</a:t>
            </a:r>
          </a:p>
          <a:p>
            <a:pPr eaLnBrk="1" hangingPunct="1"/>
            <a:endParaRPr lang="es-ES" sz="3600" dirty="0">
              <a:solidFill>
                <a:schemeClr val="bg1">
                  <a:lumMod val="85000"/>
                </a:schemeClr>
              </a:solidFill>
              <a:latin typeface="Calibri" charset="0"/>
            </a:endParaRPr>
          </a:p>
        </p:txBody>
      </p:sp>
      <p:sp>
        <p:nvSpPr>
          <p:cNvPr id="2" name="Rectangle 1"/>
          <p:cNvSpPr/>
          <p:nvPr/>
        </p:nvSpPr>
        <p:spPr>
          <a:xfrm>
            <a:off x="582706" y="5139617"/>
            <a:ext cx="4572000" cy="590931"/>
          </a:xfrm>
          <a:prstGeom prst="rect">
            <a:avLst/>
          </a:prstGeom>
        </p:spPr>
        <p:txBody>
          <a:bodyPr>
            <a:spAutoFit/>
          </a:bodyPr>
          <a:lstStyle/>
          <a:p>
            <a:pPr>
              <a:lnSpc>
                <a:spcPct val="90000"/>
              </a:lnSpc>
              <a:spcBef>
                <a:spcPct val="0"/>
              </a:spcBef>
            </a:pPr>
            <a:endParaRPr kumimoji="1" lang="en-US" alt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0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83626"/>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Aims of session</a:t>
            </a:r>
            <a:endParaRPr lang="es-ES" sz="4400" dirty="0">
              <a:solidFill>
                <a:schemeClr val="bg1">
                  <a:lumMod val="50000"/>
                </a:schemeClr>
              </a:solidFill>
              <a:latin typeface="Calibri" charset="0"/>
            </a:endParaRPr>
          </a:p>
        </p:txBody>
      </p:sp>
      <p:sp>
        <p:nvSpPr>
          <p:cNvPr id="3" name="Rectangle 2"/>
          <p:cNvSpPr/>
          <p:nvPr/>
        </p:nvSpPr>
        <p:spPr>
          <a:xfrm>
            <a:off x="690465" y="1685738"/>
            <a:ext cx="7772400" cy="3785652"/>
          </a:xfrm>
          <a:prstGeom prst="rect">
            <a:avLst/>
          </a:prstGeom>
        </p:spPr>
        <p:txBody>
          <a:bodyPr wrap="square">
            <a:spAutoFit/>
          </a:bodyPr>
          <a:lstStyle/>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clarify the nature of depression and anxiety</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highlight some key tools and effective thinking strategies from Cognitive behaviour therapy (CBT) and Positive psychology approaches which are useful in supporting CYP</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introduce some of the resources which support the development of these skills</a:t>
            </a:r>
          </a:p>
          <a:p>
            <a:pPr marL="285750" indent="-28575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ensure that practitioners have the opportunity to develop and practice their own skills and access resources which are practical and user friendly</a:t>
            </a:r>
          </a:p>
        </p:txBody>
      </p:sp>
    </p:spTree>
    <p:extLst>
      <p:ext uri="{BB962C8B-B14F-4D97-AF65-F5344CB8AC3E}">
        <p14:creationId xmlns:p14="http://schemas.microsoft.com/office/powerpoint/2010/main" val="1672476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Using the word ‘stressed’</a:t>
            </a:r>
            <a:endParaRPr lang="es-ES" sz="4400" dirty="0">
              <a:solidFill>
                <a:schemeClr val="bg1">
                  <a:lumMod val="50000"/>
                </a:schemeClr>
              </a:solidFill>
              <a:latin typeface="Calibri" charset="0"/>
            </a:endParaRPr>
          </a:p>
        </p:txBody>
      </p:sp>
      <p:pic>
        <p:nvPicPr>
          <p:cNvPr id="7" name="Picture 2" descr="C:\Users\Tina\Pictures\5235533-depressed-teen-girl-consulting-with-a-psychologist.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905000" y="1715517"/>
            <a:ext cx="5334000" cy="4648200"/>
          </a:xfrm>
          <a:noFill/>
        </p:spPr>
      </p:pic>
    </p:spTree>
    <p:extLst>
      <p:ext uri="{BB962C8B-B14F-4D97-AF65-F5344CB8AC3E}">
        <p14:creationId xmlns:p14="http://schemas.microsoft.com/office/powerpoint/2010/main" val="135470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625"/>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loss of sadness?</a:t>
            </a:r>
            <a:endParaRPr lang="es-ES" sz="4400" dirty="0">
              <a:solidFill>
                <a:schemeClr val="bg1">
                  <a:lumMod val="50000"/>
                </a:schemeClr>
              </a:solidFill>
              <a:latin typeface="Calibri" charset="0"/>
            </a:endParaRPr>
          </a:p>
        </p:txBody>
      </p:sp>
      <p:sp>
        <p:nvSpPr>
          <p:cNvPr id="3" name="Rectangle 2"/>
          <p:cNvSpPr/>
          <p:nvPr/>
        </p:nvSpPr>
        <p:spPr>
          <a:xfrm>
            <a:off x="867747" y="2072973"/>
            <a:ext cx="7408506" cy="2751522"/>
          </a:xfrm>
          <a:prstGeom prst="rect">
            <a:avLst/>
          </a:prstGeom>
        </p:spPr>
        <p:txBody>
          <a:bodyPr wrap="square">
            <a:spAutoFit/>
          </a:bodyPr>
          <a:lstStyle/>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For the last 2,500 years human beings could distinguish between normal sadness or suffering and clinical depression.</a:t>
            </a:r>
          </a:p>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Since the development of the classification system for mental illness the boundary has become blurred</a:t>
            </a:r>
          </a:p>
          <a:p>
            <a:pPr marL="325437" indent="-285750">
              <a:lnSpc>
                <a:spcPct val="90000"/>
              </a:lnSpc>
              <a:buFont typeface="Arial" panose="020B0604020202020204" pitchFamily="34" charset="0"/>
              <a:buChar char="•"/>
              <a:defRPr/>
            </a:pPr>
            <a:r>
              <a:rPr lang="en-US" sz="2400" dirty="0">
                <a:latin typeface="Arial" panose="020B0604020202020204" pitchFamily="34" charset="0"/>
                <a:cs typeface="Arial" panose="020B0604020202020204" pitchFamily="34" charset="0"/>
              </a:rPr>
              <a:t>The only context the manual takes into account for depression  is bereavement</a:t>
            </a:r>
          </a:p>
        </p:txBody>
      </p:sp>
      <p:pic>
        <p:nvPicPr>
          <p:cNvPr id="7" name="Picture 2" descr="C:\Users\Tina\Pictures\sad girl.jpg"/>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936727" y="4591251"/>
            <a:ext cx="1233649" cy="1853845"/>
          </a:xfrm>
          <a:prstGeom prst="rect">
            <a:avLst/>
          </a:prstGeom>
          <a:noFill/>
        </p:spPr>
      </p:pic>
    </p:spTree>
    <p:extLst>
      <p:ext uri="{BB962C8B-B14F-4D97-AF65-F5344CB8AC3E}">
        <p14:creationId xmlns:p14="http://schemas.microsoft.com/office/powerpoint/2010/main" val="2881079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is stress?</a:t>
            </a:r>
            <a:endParaRPr lang="es-ES" sz="4400" dirty="0">
              <a:solidFill>
                <a:schemeClr val="bg1">
                  <a:lumMod val="50000"/>
                </a:schemeClr>
              </a:solidFill>
              <a:latin typeface="Calibri" charset="0"/>
            </a:endParaRPr>
          </a:p>
        </p:txBody>
      </p:sp>
      <p:sp>
        <p:nvSpPr>
          <p:cNvPr id="7" name="Rectangle 10"/>
          <p:cNvSpPr>
            <a:spLocks noChangeArrowheads="1"/>
          </p:cNvSpPr>
          <p:nvPr/>
        </p:nvSpPr>
        <p:spPr bwMode="auto">
          <a:xfrm>
            <a:off x="1523572" y="4323861"/>
            <a:ext cx="6024892" cy="1956079"/>
          </a:xfrm>
          <a:prstGeom prst="rect">
            <a:avLst/>
          </a:prstGeom>
          <a:solidFill>
            <a:schemeClr val="hlink">
              <a:alpha val="50195"/>
            </a:schemeClr>
          </a:solidFill>
          <a:ln w="9525">
            <a:solidFill>
              <a:schemeClr val="hlink"/>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8" name="AutoShape 4" descr="Small confetti"/>
          <p:cNvSpPr>
            <a:spLocks noChangeArrowheads="1"/>
          </p:cNvSpPr>
          <p:nvPr/>
        </p:nvSpPr>
        <p:spPr bwMode="auto">
          <a:xfrm>
            <a:off x="1523572" y="1853025"/>
            <a:ext cx="6024893" cy="1571302"/>
          </a:xfrm>
          <a:prstGeom prst="roundRect">
            <a:avLst>
              <a:gd name="adj" fmla="val 16667"/>
            </a:avLst>
          </a:prstGeom>
          <a:pattFill prst="smConfetti">
            <a:fgClr>
              <a:srgbClr val="9966FF"/>
            </a:fgClr>
            <a:bgClr>
              <a:srgbClr val="6600CC"/>
            </a:bgClr>
          </a:pattFill>
          <a:ln w="38100">
            <a:solidFill>
              <a:srgbClr val="660066"/>
            </a:solidFill>
            <a:round/>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GB" altLang="en-US" sz="2000" b="1" dirty="0">
                <a:solidFill>
                  <a:schemeClr val="bg1"/>
                </a:solidFill>
                <a:latin typeface="Arial" panose="020B0604020202020204" pitchFamily="34" charset="0"/>
                <a:cs typeface="Arial" panose="020B0604020202020204" pitchFamily="34" charset="0"/>
              </a:rPr>
              <a:t>“Stress is a demand made upon the </a:t>
            </a:r>
          </a:p>
          <a:p>
            <a:pPr algn="ctr"/>
            <a:r>
              <a:rPr lang="en-GB" altLang="en-US" sz="2000" b="1" dirty="0">
                <a:solidFill>
                  <a:schemeClr val="bg1"/>
                </a:solidFill>
                <a:latin typeface="Arial" panose="020B0604020202020204" pitchFamily="34" charset="0"/>
                <a:cs typeface="Arial" panose="020B0604020202020204" pitchFamily="34" charset="0"/>
              </a:rPr>
              <a:t>adaptive capacities of the mind and body”.</a:t>
            </a:r>
          </a:p>
          <a:p>
            <a:pPr algn="r"/>
            <a:r>
              <a:rPr lang="en-GB" altLang="en-US" sz="2000" i="1" dirty="0">
                <a:solidFill>
                  <a:schemeClr val="bg1"/>
                </a:solidFill>
                <a:latin typeface="Arial" panose="020B0604020202020204" pitchFamily="34" charset="0"/>
                <a:cs typeface="Arial" panose="020B0604020202020204" pitchFamily="34" charset="0"/>
              </a:rPr>
              <a:t>Fontana, 1989, p.3</a:t>
            </a:r>
          </a:p>
        </p:txBody>
      </p:sp>
      <p:grpSp>
        <p:nvGrpSpPr>
          <p:cNvPr id="9" name="Group 11"/>
          <p:cNvGrpSpPr>
            <a:grpSpLocks/>
          </p:cNvGrpSpPr>
          <p:nvPr/>
        </p:nvGrpSpPr>
        <p:grpSpPr bwMode="auto">
          <a:xfrm>
            <a:off x="1862529" y="4739193"/>
            <a:ext cx="4995373" cy="1409752"/>
            <a:chOff x="1344" y="2781"/>
            <a:chExt cx="3741" cy="1107"/>
          </a:xfrm>
          <a:effectLst/>
        </p:grpSpPr>
        <p:sp>
          <p:nvSpPr>
            <p:cNvPr id="10" name="Line 5"/>
            <p:cNvSpPr>
              <a:spLocks noChangeShapeType="1"/>
            </p:cNvSpPr>
            <p:nvPr/>
          </p:nvSpPr>
          <p:spPr bwMode="auto">
            <a:xfrm>
              <a:off x="1392" y="3120"/>
              <a:ext cx="3600" cy="0"/>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1" name="Line 6"/>
            <p:cNvSpPr>
              <a:spLocks noChangeShapeType="1"/>
            </p:cNvSpPr>
            <p:nvPr/>
          </p:nvSpPr>
          <p:spPr bwMode="auto">
            <a:xfrm flipH="1">
              <a:off x="2784" y="3120"/>
              <a:ext cx="480" cy="768"/>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2" name="Line 7"/>
            <p:cNvSpPr>
              <a:spLocks noChangeShapeType="1"/>
            </p:cNvSpPr>
            <p:nvPr/>
          </p:nvSpPr>
          <p:spPr bwMode="auto">
            <a:xfrm rot="17827068" flipH="1">
              <a:off x="3264" y="3132"/>
              <a:ext cx="480" cy="768"/>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3" name="Text Box 8"/>
            <p:cNvSpPr txBox="1">
              <a:spLocks noChangeArrowheads="1"/>
            </p:cNvSpPr>
            <p:nvPr/>
          </p:nvSpPr>
          <p:spPr bwMode="auto">
            <a:xfrm>
              <a:off x="1344" y="2784"/>
              <a:ext cx="10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Demands</a:t>
              </a:r>
            </a:p>
          </p:txBody>
        </p:sp>
        <p:sp>
          <p:nvSpPr>
            <p:cNvPr id="14" name="Text Box 9"/>
            <p:cNvSpPr txBox="1">
              <a:spLocks noChangeArrowheads="1"/>
            </p:cNvSpPr>
            <p:nvPr/>
          </p:nvSpPr>
          <p:spPr bwMode="auto">
            <a:xfrm>
              <a:off x="4176" y="2781"/>
              <a:ext cx="9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Capacities</a:t>
              </a:r>
            </a:p>
          </p:txBody>
        </p:sp>
      </p:grpSp>
    </p:spTree>
    <p:extLst>
      <p:ext uri="{BB962C8B-B14F-4D97-AF65-F5344CB8AC3E}">
        <p14:creationId xmlns:p14="http://schemas.microsoft.com/office/powerpoint/2010/main" val="145213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5 CuadroTexto"/>
          <p:cNvSpPr txBox="1">
            <a:spLocks noChangeArrowheads="1"/>
          </p:cNvSpPr>
          <p:nvPr/>
        </p:nvSpPr>
        <p:spPr bwMode="auto">
          <a:xfrm>
            <a:off x="0" y="1571222"/>
            <a:ext cx="914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000" dirty="0"/>
              <a:t>From Matthews, Zeidner and Roberts, 2002</a:t>
            </a:r>
            <a:endParaRPr lang="es-ES" sz="2000" dirty="0">
              <a:solidFill>
                <a:schemeClr val="tx1">
                  <a:lumMod val="75000"/>
                  <a:lumOff val="25000"/>
                </a:schemeClr>
              </a:solidFill>
              <a:latin typeface="Calibri" charset="0"/>
            </a:endParaRPr>
          </a:p>
        </p:txBody>
      </p:sp>
      <p:sp>
        <p:nvSpPr>
          <p:cNvPr id="6" name="5 CuadroTexto"/>
          <p:cNvSpPr txBox="1">
            <a:spLocks noChangeArrowheads="1"/>
          </p:cNvSpPr>
          <p:nvPr/>
        </p:nvSpPr>
        <p:spPr bwMode="auto">
          <a:xfrm>
            <a:off x="0" y="885612"/>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transactional model of stress</a:t>
            </a:r>
            <a:endParaRPr lang="es-ES" sz="4400" dirty="0">
              <a:solidFill>
                <a:schemeClr val="bg1">
                  <a:lumMod val="50000"/>
                </a:schemeClr>
              </a:solidFill>
              <a:latin typeface="Calibri" charset="0"/>
            </a:endParaRPr>
          </a:p>
        </p:txBody>
      </p:sp>
      <p:pic>
        <p:nvPicPr>
          <p:cNvPr id="7" name="Content Placeholder 6" descr="MZR 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49629" y="1971332"/>
            <a:ext cx="7044742" cy="4616172"/>
          </a:xfrm>
          <a:noFill/>
        </p:spPr>
      </p:pic>
    </p:spTree>
    <p:extLst>
      <p:ext uri="{BB962C8B-B14F-4D97-AF65-F5344CB8AC3E}">
        <p14:creationId xmlns:p14="http://schemas.microsoft.com/office/powerpoint/2010/main" val="2869145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8829"/>
            <a:ext cx="914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Reaction to Stressors</a:t>
            </a:r>
            <a:br>
              <a:rPr lang="en-GB" sz="4400" dirty="0"/>
            </a:br>
            <a:r>
              <a:rPr lang="en-GB" sz="2000" dirty="0"/>
              <a:t>General Adaption Syndrome Model</a:t>
            </a:r>
            <a:endParaRPr lang="es-ES" sz="2000" dirty="0">
              <a:solidFill>
                <a:schemeClr val="bg1">
                  <a:lumMod val="50000"/>
                </a:schemeClr>
              </a:solidFill>
              <a:latin typeface="Calibri" charset="0"/>
            </a:endParaRPr>
          </a:p>
        </p:txBody>
      </p:sp>
      <p:sp>
        <p:nvSpPr>
          <p:cNvPr id="7" name="Rectangle 82"/>
          <p:cNvSpPr>
            <a:spLocks noChangeArrowheads="1"/>
          </p:cNvSpPr>
          <p:nvPr/>
        </p:nvSpPr>
        <p:spPr bwMode="auto">
          <a:xfrm>
            <a:off x="719477" y="1981200"/>
            <a:ext cx="7705045" cy="3962400"/>
          </a:xfrm>
          <a:prstGeom prst="rect">
            <a:avLst/>
          </a:prstGeom>
          <a:solidFill>
            <a:schemeClr val="tx2">
              <a:lumMod val="60000"/>
              <a:lumOff val="40000"/>
            </a:schemeClr>
          </a:solidFill>
          <a:ln w="38100">
            <a:solidFill>
              <a:schemeClr val="tx2">
                <a:lumMod val="75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graphicFrame>
        <p:nvGraphicFramePr>
          <p:cNvPr id="8" name="Group 96"/>
          <p:cNvGraphicFramePr>
            <a:graphicFrameLocks noGrp="1"/>
          </p:cNvGraphicFramePr>
          <p:nvPr>
            <p:extLst>
              <p:ext uri="{D42A27DB-BD31-4B8C-83A1-F6EECF244321}">
                <p14:modId xmlns:p14="http://schemas.microsoft.com/office/powerpoint/2010/main" val="2125363086"/>
              </p:ext>
            </p:extLst>
          </p:nvPr>
        </p:nvGraphicFramePr>
        <p:xfrm>
          <a:off x="933062" y="2332654"/>
          <a:ext cx="7286673" cy="3280316"/>
        </p:xfrm>
        <a:graphic>
          <a:graphicData uri="http://schemas.openxmlformats.org/drawingml/2006/table">
            <a:tbl>
              <a:tblPr/>
              <a:tblGrid>
                <a:gridCol w="1566294">
                  <a:extLst>
                    <a:ext uri="{9D8B030D-6E8A-4147-A177-3AD203B41FA5}">
                      <a16:colId xmlns:a16="http://schemas.microsoft.com/office/drawing/2014/main" val="20000"/>
                    </a:ext>
                  </a:extLst>
                </a:gridCol>
                <a:gridCol w="2008943">
                  <a:extLst>
                    <a:ext uri="{9D8B030D-6E8A-4147-A177-3AD203B41FA5}">
                      <a16:colId xmlns:a16="http://schemas.microsoft.com/office/drawing/2014/main" val="20001"/>
                    </a:ext>
                  </a:extLst>
                </a:gridCol>
                <a:gridCol w="1855718">
                  <a:extLst>
                    <a:ext uri="{9D8B030D-6E8A-4147-A177-3AD203B41FA5}">
                      <a16:colId xmlns:a16="http://schemas.microsoft.com/office/drawing/2014/main" val="20002"/>
                    </a:ext>
                  </a:extLst>
                </a:gridCol>
                <a:gridCol w="1855718">
                  <a:extLst>
                    <a:ext uri="{9D8B030D-6E8A-4147-A177-3AD203B41FA5}">
                      <a16:colId xmlns:a16="http://schemas.microsoft.com/office/drawing/2014/main" val="20003"/>
                    </a:ext>
                  </a:extLst>
                </a:gridCol>
              </a:tblGrid>
              <a:tr h="1576374">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endParaRPr kumimoji="0" lang="en-GB" sz="2400" b="1" i="0" u="none" strike="noStrike" cap="none" normalizeH="0" baseline="0" dirty="0">
                        <a:ln>
                          <a:noFill/>
                        </a:ln>
                        <a:solidFill>
                          <a:srgbClr val="6600CC"/>
                        </a:solidFill>
                        <a:effectLst/>
                        <a:latin typeface="Arial Narrow" pitchFamily="34" charset="0"/>
                      </a:endParaRP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chemeClr val="bg1"/>
                          </a:solidFill>
                          <a:effectLst/>
                          <a:latin typeface="Arial Narrow" pitchFamily="34" charset="0"/>
                        </a:rPr>
                        <a:t>Biological</a:t>
                      </a: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Alarm reaction</a:t>
                      </a:r>
                    </a:p>
                  </a:txBody>
                  <a:tcPr anchor="b" horzOverflow="overflow">
                    <a:lnL>
                      <a:noFill/>
                    </a:lnL>
                    <a:lnR w="28575" cap="flat" cmpd="sng" algn="ctr">
                      <a:solidFill>
                        <a:srgbClr val="660066"/>
                      </a:solidFill>
                      <a:prstDash val="sysDash"/>
                      <a:round/>
                      <a:headEnd type="none" w="med" len="med"/>
                      <a:tailEnd type="none" w="med" len="med"/>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Stage of Resistance</a:t>
                      </a:r>
                    </a:p>
                  </a:txBody>
                  <a:tcPr anchor="b" horzOverflow="overflow">
                    <a:lnL w="28575" cap="flat" cmpd="sng" algn="ctr">
                      <a:solidFill>
                        <a:srgbClr val="660066"/>
                      </a:solidFill>
                      <a:prstDash val="sysDash"/>
                      <a:round/>
                      <a:headEnd type="none" w="med" len="med"/>
                      <a:tailEnd type="none" w="med" len="med"/>
                    </a:lnL>
                    <a:lnR w="28575" cap="flat" cmpd="sng" algn="ctr">
                      <a:solidFill>
                        <a:srgbClr val="660066"/>
                      </a:solidFill>
                      <a:prstDash val="sysDash"/>
                      <a:round/>
                      <a:headEnd type="none" w="med" len="med"/>
                      <a:tailEnd type="none" w="med" len="med"/>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Stage of Exhaustion</a:t>
                      </a:r>
                    </a:p>
                  </a:txBody>
                  <a:tcPr anchor="b" horzOverflow="overflow">
                    <a:lnL w="28575" cap="flat" cmpd="sng" algn="ctr">
                      <a:solidFill>
                        <a:srgbClr val="660066"/>
                      </a:solidFill>
                      <a:prstDash val="sysDash"/>
                      <a:round/>
                      <a:headEnd type="none" w="med" len="med"/>
                      <a:tailEnd type="none" w="med" len="med"/>
                    </a:lnL>
                    <a:lnR cap="flat">
                      <a:noFill/>
                    </a:lnR>
                    <a:lnT cap="flat">
                      <a:noFill/>
                    </a:lnT>
                    <a:lnB w="28575" cap="flat" cmpd="sng" algn="ctr">
                      <a:solidFill>
                        <a:srgbClr val="660066"/>
                      </a:solidFill>
                      <a:prstDash val="sysDash"/>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1703942">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chemeClr val="bg1"/>
                          </a:solidFill>
                          <a:effectLst/>
                          <a:latin typeface="Arial Narrow" pitchFamily="34" charset="0"/>
                        </a:rPr>
                        <a:t>Psychological</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1" u="none" strike="noStrike" cap="none" normalizeH="0" baseline="0" dirty="0">
                          <a:ln>
                            <a:noFill/>
                          </a:ln>
                          <a:solidFill>
                            <a:schemeClr val="bg1"/>
                          </a:solidFill>
                          <a:effectLst/>
                          <a:latin typeface="Arial Narrow" pitchFamily="34" charset="0"/>
                        </a:rPr>
                        <a:t>(Fontana</a:t>
                      </a:r>
                      <a:r>
                        <a:rPr kumimoji="0" lang="en-GB" sz="2400" b="1" i="0" u="none" strike="noStrike" cap="none" normalizeH="0" baseline="0" dirty="0">
                          <a:ln>
                            <a:noFill/>
                          </a:ln>
                          <a:solidFill>
                            <a:schemeClr val="bg1"/>
                          </a:solidFill>
                          <a:effectLst/>
                          <a:latin typeface="Arial Narrow" pitchFamily="34" charset="0"/>
                        </a:rPr>
                        <a:t>)</a:t>
                      </a:r>
                    </a:p>
                  </a:txBody>
                  <a:tcPr anchor="ctr" anchorCtr="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Appraisal</a:t>
                      </a:r>
                    </a:p>
                  </a:txBody>
                  <a:tcPr horzOverflow="overflow">
                    <a:lnL>
                      <a:noFill/>
                    </a:lnL>
                    <a:lnR w="28575" cap="flat" cmpd="sng" algn="ctr">
                      <a:solidFill>
                        <a:srgbClr val="660066"/>
                      </a:solidFill>
                      <a:prstDash val="sysDash"/>
                      <a:round/>
                      <a:headEnd type="none" w="med" len="med"/>
                      <a:tailEnd type="none" w="med" len="med"/>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tx2">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Coping</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0" i="1" u="none" strike="noStrike" cap="none" normalizeH="0" baseline="0" dirty="0">
                          <a:ln>
                            <a:noFill/>
                          </a:ln>
                          <a:solidFill>
                            <a:srgbClr val="FFFFCC"/>
                          </a:solidFill>
                          <a:effectLst/>
                          <a:latin typeface="Arial Narrow" pitchFamily="34" charset="0"/>
                        </a:rPr>
                        <a:t>(Enhanced functioning)</a:t>
                      </a:r>
                    </a:p>
                  </a:txBody>
                  <a:tcPr horzOverflow="overflow">
                    <a:lnL w="28575" cap="flat" cmpd="sng" algn="ctr">
                      <a:solidFill>
                        <a:srgbClr val="660066"/>
                      </a:solidFill>
                      <a:prstDash val="sysDash"/>
                      <a:round/>
                      <a:headEnd type="none" w="med" len="med"/>
                      <a:tailEnd type="none" w="med" len="med"/>
                    </a:lnL>
                    <a:lnR w="28575" cap="flat" cmpd="sng" algn="ctr">
                      <a:solidFill>
                        <a:srgbClr val="660066"/>
                      </a:solidFill>
                      <a:prstDash val="sysDash"/>
                      <a:round/>
                      <a:headEnd type="none" w="med" len="med"/>
                      <a:tailEnd type="none" w="med" len="med"/>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1" i="0" u="none" strike="noStrike" cap="none" normalizeH="0" baseline="0" dirty="0">
                          <a:ln>
                            <a:noFill/>
                          </a:ln>
                          <a:solidFill>
                            <a:srgbClr val="FFFFCC"/>
                          </a:solidFill>
                          <a:effectLst/>
                          <a:latin typeface="Arial Narrow" pitchFamily="34" charset="0"/>
                        </a:rPr>
                        <a:t>Collapse</a:t>
                      </a:r>
                    </a:p>
                    <a:p>
                      <a:pPr marL="0" marR="0" lvl="0" indent="0" algn="ctr" defTabSz="914400" rtl="0" eaLnBrk="1" fontAlgn="base" latinLnBrk="0" hangingPunct="1">
                        <a:lnSpc>
                          <a:spcPct val="100000"/>
                        </a:lnSpc>
                        <a:spcBef>
                          <a:spcPct val="20000"/>
                        </a:spcBef>
                        <a:spcAft>
                          <a:spcPct val="0"/>
                        </a:spcAft>
                        <a:buClr>
                          <a:srgbClr val="FFCC66"/>
                        </a:buClr>
                        <a:buSzTx/>
                        <a:buFontTx/>
                        <a:buNone/>
                        <a:tabLst/>
                      </a:pPr>
                      <a:r>
                        <a:rPr kumimoji="0" lang="en-GB" sz="2400" b="0" i="1" u="none" strike="noStrike" cap="none" normalizeH="0" baseline="0" dirty="0">
                          <a:ln>
                            <a:noFill/>
                          </a:ln>
                          <a:solidFill>
                            <a:srgbClr val="FFFFCC"/>
                          </a:solidFill>
                          <a:effectLst/>
                          <a:latin typeface="Arial Narrow" pitchFamily="34" charset="0"/>
                        </a:rPr>
                        <a:t>(Impaired functioning)</a:t>
                      </a:r>
                    </a:p>
                  </a:txBody>
                  <a:tcPr horzOverflow="overflow">
                    <a:lnL w="28575" cap="flat" cmpd="sng" algn="ctr">
                      <a:solidFill>
                        <a:srgbClr val="660066"/>
                      </a:solidFill>
                      <a:prstDash val="sysDash"/>
                      <a:round/>
                      <a:headEnd type="none" w="med" len="med"/>
                      <a:tailEnd type="none" w="med" len="med"/>
                    </a:lnL>
                    <a:lnR cap="flat">
                      <a:noFill/>
                    </a:lnR>
                    <a:lnT w="28575" cap="flat" cmpd="sng" algn="ctr">
                      <a:solidFill>
                        <a:srgbClr val="660066"/>
                      </a:solidFill>
                      <a:prstDash val="sysDash"/>
                      <a:round/>
                      <a:headEnd type="none" w="med" len="med"/>
                      <a:tailEnd type="none" w="med" len="med"/>
                    </a:lnT>
                    <a:lnB cap="flat">
                      <a:noFill/>
                    </a:lnB>
                    <a:lnTlToBr>
                      <a:noFill/>
                    </a:lnTlToBr>
                    <a:lnBlToTr>
                      <a:noFill/>
                    </a:lnBlToTr>
                    <a:solidFill>
                      <a:schemeClr val="accent1">
                        <a:lumMod val="60000"/>
                        <a:lumOff val="40000"/>
                      </a:schemeClr>
                    </a:solidFill>
                  </a:tcPr>
                </a:tc>
                <a:extLst>
                  <a:ext uri="{0D108BD9-81ED-4DB2-BD59-A6C34878D82A}">
                    <a16:rowId xmlns:a16="http://schemas.microsoft.com/office/drawing/2014/main" val="10001"/>
                  </a:ext>
                </a:extLst>
              </a:tr>
            </a:tbl>
          </a:graphicData>
        </a:graphic>
      </p:graphicFrame>
      <p:grpSp>
        <p:nvGrpSpPr>
          <p:cNvPr id="9" name="Group 94"/>
          <p:cNvGrpSpPr>
            <a:grpSpLocks/>
          </p:cNvGrpSpPr>
          <p:nvPr/>
        </p:nvGrpSpPr>
        <p:grpSpPr bwMode="auto">
          <a:xfrm>
            <a:off x="2845837" y="2264403"/>
            <a:ext cx="5159293" cy="898255"/>
            <a:chOff x="1392" y="1296"/>
            <a:chExt cx="4032" cy="644"/>
          </a:xfrm>
          <a:effectLst/>
        </p:grpSpPr>
        <p:sp>
          <p:nvSpPr>
            <p:cNvPr id="10" name="Line 77"/>
            <p:cNvSpPr>
              <a:spLocks noChangeShapeType="1"/>
            </p:cNvSpPr>
            <p:nvPr/>
          </p:nvSpPr>
          <p:spPr bwMode="auto">
            <a:xfrm flipV="1">
              <a:off x="2263" y="1410"/>
              <a:ext cx="534" cy="528"/>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1" name="Line 79"/>
            <p:cNvSpPr>
              <a:spLocks noChangeShapeType="1"/>
            </p:cNvSpPr>
            <p:nvPr/>
          </p:nvSpPr>
          <p:spPr bwMode="auto">
            <a:xfrm>
              <a:off x="4142" y="1410"/>
              <a:ext cx="486" cy="432"/>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2" name="Line 76"/>
            <p:cNvSpPr>
              <a:spLocks noChangeShapeType="1"/>
            </p:cNvSpPr>
            <p:nvPr/>
          </p:nvSpPr>
          <p:spPr bwMode="auto">
            <a:xfrm>
              <a:off x="2035" y="1748"/>
              <a:ext cx="243" cy="192"/>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3" name="Line 78"/>
            <p:cNvSpPr>
              <a:spLocks noChangeShapeType="1"/>
            </p:cNvSpPr>
            <p:nvPr/>
          </p:nvSpPr>
          <p:spPr bwMode="auto">
            <a:xfrm>
              <a:off x="2797" y="1409"/>
              <a:ext cx="1360"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4" name="Line 72"/>
            <p:cNvSpPr>
              <a:spLocks noChangeShapeType="1"/>
            </p:cNvSpPr>
            <p:nvPr/>
          </p:nvSpPr>
          <p:spPr bwMode="auto">
            <a:xfrm>
              <a:off x="1392" y="1745"/>
              <a:ext cx="4032" cy="0"/>
            </a:xfrm>
            <a:prstGeom prst="line">
              <a:avLst/>
            </a:prstGeom>
            <a:noFill/>
            <a:ln w="28575" cap="rnd">
              <a:solidFill>
                <a:srgbClr val="660066"/>
              </a:solidFill>
              <a:prstDash val="sysDot"/>
              <a:round/>
              <a:headEnd/>
              <a:tailEnd/>
            </a:ln>
            <a:extLst>
              <a:ext uri="{909E8E84-426E-40DD-AFC4-6F175D3DCCD1}">
                <a14:hiddenFill xmlns:a14="http://schemas.microsoft.com/office/drawing/2010/main">
                  <a:noFill/>
                </a14:hiddenFill>
              </a:ext>
            </a:extLst>
          </p:spPr>
          <p:txBody>
            <a:bodyPr/>
            <a:lstStyle/>
            <a:p>
              <a:endParaRPr lang="en-GB" dirty="0"/>
            </a:p>
          </p:txBody>
        </p:sp>
        <p:sp>
          <p:nvSpPr>
            <p:cNvPr id="15" name="Text Box 73"/>
            <p:cNvSpPr txBox="1">
              <a:spLocks noChangeArrowheads="1"/>
            </p:cNvSpPr>
            <p:nvPr/>
          </p:nvSpPr>
          <p:spPr bwMode="auto">
            <a:xfrm>
              <a:off x="4142" y="1296"/>
              <a:ext cx="127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a:spcBef>
                  <a:spcPct val="50000"/>
                </a:spcBef>
              </a:pPr>
              <a:r>
                <a:rPr lang="en-GB" altLang="en-US" b="1" dirty="0">
                  <a:solidFill>
                    <a:schemeClr val="bg1"/>
                  </a:solidFill>
                  <a:latin typeface="Arial Narrow" panose="020B0606020202030204" pitchFamily="34" charset="0"/>
                </a:rPr>
                <a:t>Normal resistance level</a:t>
              </a:r>
            </a:p>
          </p:txBody>
        </p:sp>
      </p:grpSp>
    </p:spTree>
    <p:extLst>
      <p:ext uri="{BB962C8B-B14F-4D97-AF65-F5344CB8AC3E}">
        <p14:creationId xmlns:p14="http://schemas.microsoft.com/office/powerpoint/2010/main" val="2009635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Effects of Too Much Stress I</a:t>
            </a:r>
            <a:endParaRPr lang="es-ES" sz="4400" dirty="0">
              <a:solidFill>
                <a:schemeClr val="bg1">
                  <a:lumMod val="50000"/>
                </a:schemeClr>
              </a:solidFill>
              <a:latin typeface="Calibri" charset="0"/>
            </a:endParaRPr>
          </a:p>
        </p:txBody>
      </p:sp>
      <p:sp>
        <p:nvSpPr>
          <p:cNvPr id="3" name="Rectangle 2"/>
          <p:cNvSpPr/>
          <p:nvPr/>
        </p:nvSpPr>
        <p:spPr>
          <a:xfrm>
            <a:off x="1035698" y="1563205"/>
            <a:ext cx="7137918" cy="5139869"/>
          </a:xfrm>
          <a:prstGeom prst="rect">
            <a:avLst/>
          </a:prstGeom>
        </p:spPr>
        <p:txBody>
          <a:bodyPr wrap="square">
            <a:spAutoFit/>
          </a:bodyPr>
          <a:lstStyle/>
          <a:p>
            <a:pPr marL="109728">
              <a:defRPr/>
            </a:pPr>
            <a:r>
              <a:rPr lang="en-GB" sz="2400" b="1" dirty="0">
                <a:latin typeface="Arial" panose="020B0604020202020204" pitchFamily="34" charset="0"/>
                <a:cs typeface="Arial" panose="020B0604020202020204" pitchFamily="34" charset="0"/>
              </a:rPr>
              <a:t>Cognitive 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Concentration and attention span decrease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Distractibility increases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Short- and long-term memory deteriorate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Response speed becomes unpredictable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Error rate increases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Organisation and planning deteriorate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Delusions and thought disorders increase</a:t>
            </a:r>
          </a:p>
          <a:p>
            <a:pPr marL="109728">
              <a:defRPr/>
            </a:pPr>
            <a:endParaRPr lang="en-GB" sz="2000" b="1" dirty="0">
              <a:latin typeface="Arial" panose="020B0604020202020204" pitchFamily="34" charset="0"/>
              <a:cs typeface="Arial" panose="020B0604020202020204" pitchFamily="34" charset="0"/>
            </a:endParaRPr>
          </a:p>
          <a:p>
            <a:pPr marL="109728">
              <a:defRPr/>
            </a:pPr>
            <a:r>
              <a:rPr lang="en-GB" sz="2400" b="1" dirty="0">
                <a:latin typeface="Arial" panose="020B0604020202020204" pitchFamily="34" charset="0"/>
                <a:cs typeface="Arial" panose="020B0604020202020204" pitchFamily="34" charset="0"/>
              </a:rPr>
              <a:t>Emotional 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Ability to switch off worry and anxiety reduces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Feelings of health and well-being reduce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Over-sensitivity, defensiveness and hostility more likely</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Emotional outbursts can increase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Depression and helplessness more likely</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Self-esteem falls</a:t>
            </a:r>
          </a:p>
        </p:txBody>
      </p:sp>
    </p:spTree>
    <p:extLst>
      <p:ext uri="{BB962C8B-B14F-4D97-AF65-F5344CB8AC3E}">
        <p14:creationId xmlns:p14="http://schemas.microsoft.com/office/powerpoint/2010/main" val="331172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2094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Effects of Too Much Stress II</a:t>
            </a:r>
            <a:endParaRPr lang="es-ES" sz="4400" dirty="0">
              <a:solidFill>
                <a:schemeClr val="bg1">
                  <a:lumMod val="50000"/>
                </a:schemeClr>
              </a:solidFill>
              <a:latin typeface="Calibri" charset="0"/>
            </a:endParaRPr>
          </a:p>
        </p:txBody>
      </p:sp>
      <p:sp>
        <p:nvSpPr>
          <p:cNvPr id="3" name="Rectangle 2"/>
          <p:cNvSpPr/>
          <p:nvPr/>
        </p:nvSpPr>
        <p:spPr>
          <a:xfrm>
            <a:off x="1063690" y="1590389"/>
            <a:ext cx="7081934" cy="4154984"/>
          </a:xfrm>
          <a:prstGeom prst="rect">
            <a:avLst/>
          </a:prstGeom>
        </p:spPr>
        <p:txBody>
          <a:bodyPr wrap="square">
            <a:spAutoFit/>
          </a:bodyPr>
          <a:lstStyle/>
          <a:p>
            <a:pPr marL="109728">
              <a:defRPr/>
            </a:pPr>
            <a:r>
              <a:rPr lang="en-GB" sz="2400" b="1" dirty="0">
                <a:latin typeface="Arial" panose="020B0604020202020204" pitchFamily="34" charset="0"/>
                <a:cs typeface="Arial" panose="020B0604020202020204" pitchFamily="34" charset="0"/>
              </a:rPr>
              <a:t>Behavioural Effects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Speech problems increase</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Interests and enthusiasms diminish</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Absenteeism increases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Drug abuse increases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Low energy levels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Disrupted sleep patterns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Increased cynicism about clients and colleagues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New information is ignored</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Responsibilities are shifted on to others</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Problems are solved at an increasingly superficial level</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Bizarre behaviour patterns appear</a:t>
            </a:r>
          </a:p>
          <a:p>
            <a:pPr marL="395478" indent="-285750">
              <a:spcBef>
                <a:spcPct val="0"/>
              </a:spcBef>
              <a:buFont typeface="Arial" panose="020B0604020202020204" pitchFamily="34" charset="0"/>
              <a:buChar char="•"/>
              <a:defRPr/>
            </a:pPr>
            <a:r>
              <a:rPr lang="en-GB" sz="2000" dirty="0">
                <a:latin typeface="Arial" panose="020B0604020202020204" pitchFamily="34" charset="0"/>
                <a:cs typeface="Arial" panose="020B0604020202020204" pitchFamily="34" charset="0"/>
              </a:rPr>
              <a:t>Suicide threats may be made</a:t>
            </a:r>
          </a:p>
        </p:txBody>
      </p:sp>
    </p:spTree>
    <p:extLst>
      <p:ext uri="{BB962C8B-B14F-4D97-AF65-F5344CB8AC3E}">
        <p14:creationId xmlns:p14="http://schemas.microsoft.com/office/powerpoint/2010/main" val="536433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0228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Managing Stress</a:t>
            </a:r>
            <a:endParaRPr lang="es-ES" sz="4400" dirty="0">
              <a:solidFill>
                <a:schemeClr val="bg1">
                  <a:lumMod val="50000"/>
                </a:schemeClr>
              </a:solidFill>
              <a:latin typeface="Calibri" charset="0"/>
            </a:endParaRPr>
          </a:p>
        </p:txBody>
      </p:sp>
      <p:sp>
        <p:nvSpPr>
          <p:cNvPr id="7" name="AutoShape 14"/>
          <p:cNvSpPr>
            <a:spLocks noChangeArrowheads="1"/>
          </p:cNvSpPr>
          <p:nvPr/>
        </p:nvSpPr>
        <p:spPr bwMode="auto">
          <a:xfrm>
            <a:off x="996820" y="1757265"/>
            <a:ext cx="7150359" cy="4037045"/>
          </a:xfrm>
          <a:prstGeom prst="roundRect">
            <a:avLst>
              <a:gd name="adj" fmla="val 16667"/>
            </a:avLst>
          </a:prstGeom>
          <a:solidFill>
            <a:schemeClr val="accent1">
              <a:lumMod val="60000"/>
              <a:lumOff val="40000"/>
              <a:alpha val="50195"/>
            </a:schemeClr>
          </a:solidFill>
          <a:ln w="9525">
            <a:solidFill>
              <a:schemeClr val="accent1">
                <a:lumMod val="60000"/>
                <a:lumOff val="40000"/>
              </a:schemeClr>
            </a:solidFill>
            <a:round/>
            <a:headEnd/>
            <a:tailEnd/>
          </a:ln>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GB" altLang="en-US" b="1" dirty="0">
              <a:latin typeface="Arial Narrow" panose="020B0606020202030204" pitchFamily="34" charset="0"/>
            </a:endParaRPr>
          </a:p>
          <a:p>
            <a:pPr>
              <a:spcBef>
                <a:spcPct val="50000"/>
              </a:spcBef>
            </a:pPr>
            <a:endParaRPr lang="en-GB" altLang="en-US" b="1" dirty="0">
              <a:latin typeface="Arial Narrow" panose="020B0606020202030204" pitchFamily="34" charset="0"/>
            </a:endParaRPr>
          </a:p>
          <a:p>
            <a:pPr>
              <a:spcBef>
                <a:spcPct val="50000"/>
              </a:spcBef>
            </a:pPr>
            <a:endParaRPr lang="en-GB" altLang="en-US" b="1" dirty="0">
              <a:latin typeface="Arial Narrow" panose="020B0606020202030204" pitchFamily="34" charset="0"/>
            </a:endParaRPr>
          </a:p>
          <a:p>
            <a:pPr>
              <a:spcBef>
                <a:spcPct val="50000"/>
              </a:spcBef>
            </a:pPr>
            <a:endParaRPr lang="en-GB" altLang="en-US" b="1" dirty="0">
              <a:latin typeface="Arial Narrow" panose="020B0606020202030204" pitchFamily="34" charset="0"/>
            </a:endParaRPr>
          </a:p>
          <a:p>
            <a:pPr>
              <a:spcBef>
                <a:spcPct val="50000"/>
              </a:spcBef>
            </a:pPr>
            <a:endParaRPr lang="en-GB" altLang="en-US" b="1" dirty="0">
              <a:latin typeface="Arial Narrow" panose="020B0606020202030204" pitchFamily="34" charset="0"/>
            </a:endParaRPr>
          </a:p>
          <a:p>
            <a:pPr>
              <a:spcBef>
                <a:spcPct val="50000"/>
              </a:spcBef>
            </a:pPr>
            <a:endParaRPr lang="en-GB" altLang="en-US" b="1" dirty="0">
              <a:latin typeface="Arial Narrow" panose="020B0606020202030204" pitchFamily="34" charset="0"/>
            </a:endParaRPr>
          </a:p>
        </p:txBody>
      </p:sp>
      <p:sp>
        <p:nvSpPr>
          <p:cNvPr id="9" name="Line 5"/>
          <p:cNvSpPr>
            <a:spLocks noChangeShapeType="1"/>
          </p:cNvSpPr>
          <p:nvPr/>
        </p:nvSpPr>
        <p:spPr bwMode="auto">
          <a:xfrm flipH="1">
            <a:off x="3808413" y="3707332"/>
            <a:ext cx="811212" cy="1709737"/>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0" name="Line 6"/>
          <p:cNvSpPr>
            <a:spLocks noChangeShapeType="1"/>
          </p:cNvSpPr>
          <p:nvPr/>
        </p:nvSpPr>
        <p:spPr bwMode="auto">
          <a:xfrm rot="17827068" flipH="1">
            <a:off x="4395075" y="3867468"/>
            <a:ext cx="1185439" cy="1436117"/>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1" name="Line 4"/>
          <p:cNvSpPr>
            <a:spLocks noChangeShapeType="1"/>
          </p:cNvSpPr>
          <p:nvPr/>
        </p:nvSpPr>
        <p:spPr bwMode="auto">
          <a:xfrm rot="752384">
            <a:off x="1578769" y="3706219"/>
            <a:ext cx="6081712" cy="2225"/>
          </a:xfrm>
          <a:prstGeom prst="line">
            <a:avLst/>
          </a:prstGeom>
          <a:noFill/>
          <a:ln w="38100">
            <a:solidFill>
              <a:srgbClr val="660066"/>
            </a:solidFill>
            <a:round/>
            <a:headEnd/>
            <a:tailEnd/>
          </a:ln>
          <a:effectLst/>
          <a:extLst>
            <a:ext uri="{909E8E84-426E-40DD-AFC4-6F175D3DCCD1}">
              <a14:hiddenFill xmlns:a14="http://schemas.microsoft.com/office/drawing/2010/main">
                <a:noFill/>
              </a14:hiddenFill>
            </a:ext>
          </a:extLst>
        </p:spPr>
        <p:txBody>
          <a:bodyPr/>
          <a:lstStyle/>
          <a:p>
            <a:endParaRPr lang="en-GB" dirty="0"/>
          </a:p>
        </p:txBody>
      </p:sp>
      <p:sp>
        <p:nvSpPr>
          <p:cNvPr id="12" name="Rectangle 9"/>
          <p:cNvSpPr>
            <a:spLocks noChangeArrowheads="1"/>
          </p:cNvSpPr>
          <p:nvPr/>
        </p:nvSpPr>
        <p:spPr bwMode="auto">
          <a:xfrm rot="752384">
            <a:off x="1721478" y="2507587"/>
            <a:ext cx="810895" cy="640712"/>
          </a:xfrm>
          <a:prstGeom prst="rect">
            <a:avLst/>
          </a:prstGeom>
          <a:solidFill>
            <a:schemeClr val="accent4">
              <a:lumMod val="60000"/>
              <a:lumOff val="40000"/>
            </a:schemeClr>
          </a:solidFill>
          <a:ln w="38100">
            <a:solidFill>
              <a:schemeClr val="accent4">
                <a:lumMod val="60000"/>
                <a:lumOff val="40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13" name="Rectangle 9"/>
          <p:cNvSpPr>
            <a:spLocks noChangeArrowheads="1"/>
          </p:cNvSpPr>
          <p:nvPr/>
        </p:nvSpPr>
        <p:spPr bwMode="auto">
          <a:xfrm rot="752384">
            <a:off x="6836856" y="3639896"/>
            <a:ext cx="810895" cy="640712"/>
          </a:xfrm>
          <a:prstGeom prst="rect">
            <a:avLst/>
          </a:prstGeom>
          <a:solidFill>
            <a:schemeClr val="accent4">
              <a:lumMod val="60000"/>
              <a:lumOff val="40000"/>
            </a:schemeClr>
          </a:solidFill>
          <a:ln w="38100">
            <a:solidFill>
              <a:schemeClr val="accent4">
                <a:lumMod val="60000"/>
                <a:lumOff val="40000"/>
              </a:schemeClr>
            </a:solidFill>
            <a:miter lim="800000"/>
            <a:headEnd/>
            <a:tailEnd/>
          </a:ln>
          <a:effec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GB" altLang="en-US" dirty="0"/>
          </a:p>
        </p:txBody>
      </p:sp>
      <p:sp>
        <p:nvSpPr>
          <p:cNvPr id="14" name="Text Box 8"/>
          <p:cNvSpPr txBox="1">
            <a:spLocks noChangeArrowheads="1"/>
          </p:cNvSpPr>
          <p:nvPr/>
        </p:nvSpPr>
        <p:spPr bwMode="auto">
          <a:xfrm>
            <a:off x="6210768" y="4596724"/>
            <a:ext cx="1524000"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Increasing capacities</a:t>
            </a:r>
          </a:p>
        </p:txBody>
      </p:sp>
      <p:sp>
        <p:nvSpPr>
          <p:cNvPr id="15" name="Text Box 7"/>
          <p:cNvSpPr txBox="1">
            <a:spLocks noChangeArrowheads="1"/>
          </p:cNvSpPr>
          <p:nvPr/>
        </p:nvSpPr>
        <p:spPr bwMode="auto">
          <a:xfrm>
            <a:off x="1403626" y="4598939"/>
            <a:ext cx="1703387"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GB" altLang="en-US" b="1" dirty="0">
                <a:latin typeface="Arial Narrow" panose="020B0606020202030204" pitchFamily="34" charset="0"/>
              </a:rPr>
              <a:t>Reducing demands</a:t>
            </a:r>
          </a:p>
        </p:txBody>
      </p:sp>
    </p:spTree>
    <p:extLst>
      <p:ext uri="{BB962C8B-B14F-4D97-AF65-F5344CB8AC3E}">
        <p14:creationId xmlns:p14="http://schemas.microsoft.com/office/powerpoint/2010/main" val="1558716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6442"/>
            <a:ext cx="914400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a:t>
            </a:r>
            <a:br>
              <a:rPr lang="en-GB" sz="4400" dirty="0"/>
            </a:br>
            <a:r>
              <a:rPr lang="en-GB" sz="2400" dirty="0"/>
              <a:t>(Fontans, 1989)</a:t>
            </a:r>
            <a:endParaRPr lang="es-ES" sz="4400" dirty="0">
              <a:solidFill>
                <a:schemeClr val="bg1">
                  <a:lumMod val="50000"/>
                </a:schemeClr>
              </a:solidFill>
              <a:latin typeface="Calibri" charset="0"/>
            </a:endParaRPr>
          </a:p>
        </p:txBody>
      </p:sp>
      <p:sp>
        <p:nvSpPr>
          <p:cNvPr id="3" name="Rectangle 2"/>
          <p:cNvSpPr/>
          <p:nvPr/>
        </p:nvSpPr>
        <p:spPr>
          <a:xfrm>
            <a:off x="1184988" y="2011689"/>
            <a:ext cx="7044612" cy="4154984"/>
          </a:xfrm>
          <a:prstGeom prst="rect">
            <a:avLst/>
          </a:prstGeom>
        </p:spPr>
        <p:txBody>
          <a:bodyPr wrap="square">
            <a:spAutoFit/>
          </a:bodyPr>
          <a:lstStyle/>
          <a:p>
            <a:pPr>
              <a:defRPr/>
            </a:pPr>
            <a:r>
              <a:rPr lang="en-GB" altLang="en-US" sz="2400" b="1" dirty="0">
                <a:latin typeface="Arial" panose="020B0604020202020204" pitchFamily="34" charset="0"/>
                <a:cs typeface="Arial" panose="020B0604020202020204" pitchFamily="34" charset="0"/>
              </a:rPr>
              <a:t>Work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Unclear role</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Powerlessness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Time pressures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Isolation from Colleagues support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Inadequate leadership</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Role conflict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Overwork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Lack of variety</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Poor communication</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Interpersonal conflicts</a:t>
            </a:r>
          </a:p>
        </p:txBody>
      </p:sp>
    </p:spTree>
    <p:extLst>
      <p:ext uri="{BB962C8B-B14F-4D97-AF65-F5344CB8AC3E}">
        <p14:creationId xmlns:p14="http://schemas.microsoft.com/office/powerpoint/2010/main" val="1158803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85612"/>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 cont.</a:t>
            </a:r>
            <a:endParaRPr lang="es-ES" sz="4400" dirty="0">
              <a:solidFill>
                <a:schemeClr val="bg1">
                  <a:lumMod val="50000"/>
                </a:schemeClr>
              </a:solidFill>
              <a:latin typeface="Calibri" charset="0"/>
            </a:endParaRPr>
          </a:p>
        </p:txBody>
      </p:sp>
      <p:sp>
        <p:nvSpPr>
          <p:cNvPr id="3" name="Rectangle 2"/>
          <p:cNvSpPr/>
          <p:nvPr/>
        </p:nvSpPr>
        <p:spPr>
          <a:xfrm>
            <a:off x="951721" y="1720840"/>
            <a:ext cx="7081935" cy="4524315"/>
          </a:xfrm>
          <a:prstGeom prst="rect">
            <a:avLst/>
          </a:prstGeom>
        </p:spPr>
        <p:txBody>
          <a:bodyPr wrap="square">
            <a:spAutoFit/>
          </a:bodyPr>
          <a:lstStyle/>
          <a:p>
            <a:pPr>
              <a:defRPr/>
            </a:pPr>
            <a:r>
              <a:rPr lang="en-GB" altLang="en-US" sz="2400" b="1" dirty="0">
                <a:latin typeface="Arial" panose="020B0604020202020204" pitchFamily="34" charset="0"/>
                <a:cs typeface="Arial" panose="020B0604020202020204" pitchFamily="34" charset="0"/>
              </a:rPr>
              <a:t>Home</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Partner</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Children</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Domestic arrangements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Environmental pressures</a:t>
            </a:r>
          </a:p>
          <a:p>
            <a:pPr>
              <a:defRPr/>
            </a:pPr>
            <a:r>
              <a:rPr lang="en-GB" altLang="en-US" sz="2400" b="1" dirty="0">
                <a:latin typeface="Arial" panose="020B0604020202020204" pitchFamily="34" charset="0"/>
                <a:cs typeface="Arial" panose="020B0604020202020204" pitchFamily="34" charset="0"/>
              </a:rPr>
              <a:t>Personal</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Unrealistically high expectations and perfection issues</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Negative cognitive appraisals / self talk</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Need to please / be liked</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Temperament</a:t>
            </a:r>
          </a:p>
          <a:p>
            <a:pPr marL="342900" indent="-342900">
              <a:spcBef>
                <a:spcPct val="0"/>
              </a:spcBef>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Low assertiveness</a:t>
            </a:r>
          </a:p>
        </p:txBody>
      </p:sp>
    </p:spTree>
    <p:extLst>
      <p:ext uri="{BB962C8B-B14F-4D97-AF65-F5344CB8AC3E}">
        <p14:creationId xmlns:p14="http://schemas.microsoft.com/office/powerpoint/2010/main" val="1945614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Sources of Stress</a:t>
            </a:r>
            <a:endParaRPr lang="es-ES" sz="4400" dirty="0">
              <a:solidFill>
                <a:schemeClr val="bg1">
                  <a:lumMod val="50000"/>
                </a:schemeClr>
              </a:solidFill>
              <a:latin typeface="Calibri" charset="0"/>
            </a:endParaRPr>
          </a:p>
        </p:txBody>
      </p:sp>
      <p:graphicFrame>
        <p:nvGraphicFramePr>
          <p:cNvPr id="3" name="Table 2"/>
          <p:cNvGraphicFramePr>
            <a:graphicFrameLocks noGrp="1"/>
          </p:cNvGraphicFramePr>
          <p:nvPr>
            <p:extLst>
              <p:ext uri="{D42A27DB-BD31-4B8C-83A1-F6EECF244321}">
                <p14:modId xmlns:p14="http://schemas.microsoft.com/office/powerpoint/2010/main" val="537364452"/>
              </p:ext>
            </p:extLst>
          </p:nvPr>
        </p:nvGraphicFramePr>
        <p:xfrm>
          <a:off x="928395" y="1875453"/>
          <a:ext cx="7287210" cy="3442996"/>
        </p:xfrm>
        <a:graphic>
          <a:graphicData uri="http://schemas.openxmlformats.org/drawingml/2006/table">
            <a:tbl>
              <a:tblPr firstRow="1" bandRow="1">
                <a:tableStyleId>{5C22544A-7EE6-4342-B048-85BDC9FD1C3A}</a:tableStyleId>
              </a:tblPr>
              <a:tblGrid>
                <a:gridCol w="2429070">
                  <a:extLst>
                    <a:ext uri="{9D8B030D-6E8A-4147-A177-3AD203B41FA5}">
                      <a16:colId xmlns:a16="http://schemas.microsoft.com/office/drawing/2014/main" val="20000"/>
                    </a:ext>
                  </a:extLst>
                </a:gridCol>
                <a:gridCol w="2429070">
                  <a:extLst>
                    <a:ext uri="{9D8B030D-6E8A-4147-A177-3AD203B41FA5}">
                      <a16:colId xmlns:a16="http://schemas.microsoft.com/office/drawing/2014/main" val="20001"/>
                    </a:ext>
                  </a:extLst>
                </a:gridCol>
                <a:gridCol w="2429070">
                  <a:extLst>
                    <a:ext uri="{9D8B030D-6E8A-4147-A177-3AD203B41FA5}">
                      <a16:colId xmlns:a16="http://schemas.microsoft.com/office/drawing/2014/main" val="20002"/>
                    </a:ext>
                  </a:extLst>
                </a:gridCol>
              </a:tblGrid>
              <a:tr h="467697">
                <a:tc>
                  <a:txBody>
                    <a:bodyPr/>
                    <a:lstStyle/>
                    <a:p>
                      <a:endParaRPr lang="en-GB" dirty="0">
                        <a:latin typeface="Arial" panose="020B0604020202020204" pitchFamily="34" charset="0"/>
                        <a:cs typeface="Arial" panose="020B0604020202020204" pitchFamily="34" charset="0"/>
                      </a:endParaRPr>
                    </a:p>
                  </a:txBody>
                  <a:tcPr>
                    <a:solidFill>
                      <a:schemeClr val="accent1">
                        <a:lumMod val="75000"/>
                      </a:schemeClr>
                    </a:solidFill>
                  </a:tcPr>
                </a:tc>
                <a:tc>
                  <a:txBody>
                    <a:bodyPr/>
                    <a:lstStyle/>
                    <a:p>
                      <a:r>
                        <a:rPr lang="en-GB" sz="2400" dirty="0">
                          <a:latin typeface="Arial" panose="020B0604020202020204" pitchFamily="34" charset="0"/>
                          <a:cs typeface="Arial" panose="020B0604020202020204" pitchFamily="34" charset="0"/>
                        </a:rPr>
                        <a:t>Familiar</a:t>
                      </a:r>
                    </a:p>
                  </a:txBody>
                  <a:tcPr>
                    <a:solidFill>
                      <a:schemeClr val="accent1">
                        <a:lumMod val="75000"/>
                      </a:schemeClr>
                    </a:solidFill>
                  </a:tcPr>
                </a:tc>
                <a:tc>
                  <a:txBody>
                    <a:bodyPr/>
                    <a:lstStyle/>
                    <a:p>
                      <a:r>
                        <a:rPr lang="en-GB" sz="2400" dirty="0">
                          <a:latin typeface="Arial" panose="020B0604020202020204" pitchFamily="34" charset="0"/>
                          <a:cs typeface="Arial" panose="020B0604020202020204" pitchFamily="34" charset="0"/>
                        </a:rPr>
                        <a:t>New</a:t>
                      </a:r>
                    </a:p>
                  </a:txBody>
                  <a:tcPr>
                    <a:solidFill>
                      <a:schemeClr val="accent1">
                        <a:lumMod val="75000"/>
                      </a:schemeClr>
                    </a:solidFill>
                  </a:tcPr>
                </a:tc>
                <a:extLst>
                  <a:ext uri="{0D108BD9-81ED-4DB2-BD59-A6C34878D82A}">
                    <a16:rowId xmlns:a16="http://schemas.microsoft.com/office/drawing/2014/main" val="10000"/>
                  </a:ext>
                </a:extLst>
              </a:tr>
              <a:tr h="950556">
                <a:tc>
                  <a:txBody>
                    <a:bodyPr/>
                    <a:lstStyle/>
                    <a:p>
                      <a:r>
                        <a:rPr lang="en-GB" sz="2400" dirty="0">
                          <a:solidFill>
                            <a:schemeClr val="bg1"/>
                          </a:solidFill>
                          <a:latin typeface="Arial" panose="020B0604020202020204" pitchFamily="34" charset="0"/>
                          <a:cs typeface="Arial" panose="020B0604020202020204" pitchFamily="34" charset="0"/>
                        </a:rPr>
                        <a:t>WORK</a:t>
                      </a: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961053">
                <a:tc>
                  <a:txBody>
                    <a:bodyPr/>
                    <a:lstStyle/>
                    <a:p>
                      <a:r>
                        <a:rPr lang="en-GB" sz="2400" dirty="0">
                          <a:solidFill>
                            <a:schemeClr val="bg1"/>
                          </a:solidFill>
                          <a:latin typeface="Arial" panose="020B0604020202020204" pitchFamily="34" charset="0"/>
                          <a:cs typeface="Arial" panose="020B0604020202020204" pitchFamily="34" charset="0"/>
                        </a:rPr>
                        <a:t>HOME</a:t>
                      </a: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063690">
                <a:tc>
                  <a:txBody>
                    <a:bodyPr/>
                    <a:lstStyle/>
                    <a:p>
                      <a:r>
                        <a:rPr lang="en-GB" sz="2400" dirty="0">
                          <a:solidFill>
                            <a:schemeClr val="bg1"/>
                          </a:solidFill>
                          <a:latin typeface="Arial" panose="020B0604020202020204" pitchFamily="34" charset="0"/>
                          <a:cs typeface="Arial" panose="020B0604020202020204" pitchFamily="34" charset="0"/>
                        </a:rPr>
                        <a:t>YOU</a:t>
                      </a:r>
                    </a:p>
                  </a:txBody>
                  <a:tcPr>
                    <a:solidFill>
                      <a:schemeClr val="accent1">
                        <a:lumMod val="75000"/>
                      </a:schemeClr>
                    </a:solidFill>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05327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83626"/>
            <a:ext cx="91440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Increasing capacities</a:t>
            </a:r>
            <a:br>
              <a:rPr lang="en-GB" sz="4400" dirty="0"/>
            </a:br>
            <a:r>
              <a:rPr lang="en-GB" sz="2000" dirty="0"/>
              <a:t>(See Wright &amp; Frederickson, 1992)</a:t>
            </a:r>
            <a:endParaRPr lang="es-ES" sz="2000" dirty="0">
              <a:solidFill>
                <a:schemeClr val="bg1">
                  <a:lumMod val="50000"/>
                </a:schemeClr>
              </a:solidFill>
              <a:latin typeface="Calibri" charset="0"/>
            </a:endParaRPr>
          </a:p>
        </p:txBody>
      </p:sp>
      <p:sp>
        <p:nvSpPr>
          <p:cNvPr id="3" name="Rectangle 2"/>
          <p:cNvSpPr/>
          <p:nvPr/>
        </p:nvSpPr>
        <p:spPr>
          <a:xfrm>
            <a:off x="1604865" y="2225265"/>
            <a:ext cx="5840964" cy="3416320"/>
          </a:xfrm>
          <a:prstGeom prst="rect">
            <a:avLst/>
          </a:prstGeom>
        </p:spPr>
        <p:txBody>
          <a:bodyPr wrap="square">
            <a:spAutoFit/>
          </a:bodyPr>
          <a:lstStyle/>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Healthy lifestyle</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Relaxation</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Assertiveness</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Effective thinking </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Time management </a:t>
            </a:r>
          </a:p>
          <a:p>
            <a:pPr marL="285750" indent="-285750">
              <a:lnSpc>
                <a:spcPct val="150000"/>
              </a:lnSpc>
              <a:buFont typeface="Arial" panose="020B0604020202020204" pitchFamily="34" charset="0"/>
              <a:buChar char="•"/>
              <a:defRPr/>
            </a:pPr>
            <a:r>
              <a:rPr lang="en-GB" altLang="en-US" sz="2400" dirty="0">
                <a:latin typeface="Arial" panose="020B0604020202020204" pitchFamily="34" charset="0"/>
                <a:cs typeface="Arial" panose="020B0604020202020204" pitchFamily="34" charset="0"/>
              </a:rPr>
              <a:t>Enhancing study skills </a:t>
            </a:r>
            <a:endParaRPr lang="en-GB" altLang="en-US" sz="2400" dirty="0">
              <a:solidFill>
                <a:schemeClr val="bg2">
                  <a:lumMod val="9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1123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8"/>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is depression?</a:t>
            </a:r>
            <a:br>
              <a:rPr lang="en-GB" sz="4400" dirty="0"/>
            </a:br>
            <a:endParaRPr lang="es-ES" sz="4400" dirty="0">
              <a:solidFill>
                <a:schemeClr val="bg1">
                  <a:lumMod val="50000"/>
                </a:schemeClr>
              </a:solidFill>
              <a:latin typeface="Calibri" charset="0"/>
            </a:endParaRPr>
          </a:p>
        </p:txBody>
      </p:sp>
      <p:sp>
        <p:nvSpPr>
          <p:cNvPr id="3" name="Rectangle 2"/>
          <p:cNvSpPr/>
          <p:nvPr/>
        </p:nvSpPr>
        <p:spPr>
          <a:xfrm>
            <a:off x="1194319" y="2274838"/>
            <a:ext cx="6755362" cy="3046988"/>
          </a:xfrm>
          <a:prstGeom prst="rect">
            <a:avLst/>
          </a:prstGeom>
        </p:spPr>
        <p:txBody>
          <a:bodyPr wrap="square">
            <a:spAutoFit/>
          </a:bodyPr>
          <a:lstStyle/>
          <a:p>
            <a:r>
              <a:rPr lang="en-GB" altLang="en-US" sz="2400" dirty="0">
                <a:latin typeface="Arial" panose="020B0604020202020204" pitchFamily="34" charset="0"/>
                <a:cs typeface="Arial" panose="020B0604020202020204" pitchFamily="34" charset="0"/>
              </a:rPr>
              <a:t>We often use the expression ‘I feel depressed’ when we’re feeling sad or miserable about life. Usually, these feelings pass in due course. But, if the feelings are interfering with your life and don't go away after a couple of weeks, or if they come back, over and over again, for a few days at a time, it could be a sign that you're depressed in the medical sense of the term.</a:t>
            </a:r>
          </a:p>
        </p:txBody>
      </p:sp>
    </p:spTree>
    <p:extLst>
      <p:ext uri="{BB962C8B-B14F-4D97-AF65-F5344CB8AC3E}">
        <p14:creationId xmlns:p14="http://schemas.microsoft.com/office/powerpoint/2010/main" val="1953478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And</a:t>
            </a:r>
            <a:endParaRPr lang="es-ES" sz="4400" dirty="0">
              <a:solidFill>
                <a:schemeClr val="bg1">
                  <a:lumMod val="50000"/>
                </a:schemeClr>
              </a:solidFill>
              <a:latin typeface="Calibri" charset="0"/>
            </a:endParaRPr>
          </a:p>
        </p:txBody>
      </p:sp>
      <p:sp>
        <p:nvSpPr>
          <p:cNvPr id="3" name="Rectangle 2"/>
          <p:cNvSpPr/>
          <p:nvPr/>
        </p:nvSpPr>
        <p:spPr>
          <a:xfrm>
            <a:off x="1017037" y="2274838"/>
            <a:ext cx="7109926" cy="2677656"/>
          </a:xfrm>
          <a:prstGeom prst="rect">
            <a:avLst/>
          </a:prstGeom>
        </p:spPr>
        <p:txBody>
          <a:bodyPr wrap="square">
            <a:spAutoFit/>
          </a:bodyPr>
          <a:lstStyle/>
          <a:p>
            <a:r>
              <a:rPr lang="en-GB" altLang="en-US" sz="2400" dirty="0">
                <a:latin typeface="Arial" panose="020B0604020202020204" pitchFamily="34" charset="0"/>
                <a:cs typeface="Arial" panose="020B0604020202020204" pitchFamily="34" charset="0"/>
              </a:rPr>
              <a:t>In its mildest form, depression can mean just being in low spirits. It doesn’t stop you leading your normal life, but makes everything harder to do and seem less worthwhile. At its most severe, major depression (clinical depression) can be life-threatening, because it can make you feel suicidal or simply give up the will to live.</a:t>
            </a:r>
          </a:p>
        </p:txBody>
      </p:sp>
    </p:spTree>
    <p:extLst>
      <p:ext uri="{BB962C8B-B14F-4D97-AF65-F5344CB8AC3E}">
        <p14:creationId xmlns:p14="http://schemas.microsoft.com/office/powerpoint/2010/main" val="4079538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161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Different types</a:t>
            </a:r>
            <a:endParaRPr lang="es-ES" sz="4400" dirty="0">
              <a:solidFill>
                <a:schemeClr val="bg1">
                  <a:lumMod val="50000"/>
                </a:schemeClr>
              </a:solidFill>
              <a:latin typeface="Calibri" charset="0"/>
            </a:endParaRPr>
          </a:p>
        </p:txBody>
      </p:sp>
      <p:sp>
        <p:nvSpPr>
          <p:cNvPr id="3" name="Rectangle 2"/>
          <p:cNvSpPr/>
          <p:nvPr/>
        </p:nvSpPr>
        <p:spPr>
          <a:xfrm>
            <a:off x="503853" y="1739680"/>
            <a:ext cx="8136293" cy="4154984"/>
          </a:xfrm>
          <a:prstGeom prst="rect">
            <a:avLst/>
          </a:prstGeom>
        </p:spPr>
        <p:txBody>
          <a:bodyPr wrap="square">
            <a:spAutoFit/>
          </a:bodyPr>
          <a:lstStyle/>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Seasonal affective disorder (SAD)</a:t>
            </a:r>
            <a:r>
              <a:rPr lang="en-GB" sz="2000" dirty="0">
                <a:latin typeface="Arial" panose="020B0604020202020204" pitchFamily="34" charset="0"/>
                <a:cs typeface="Arial" panose="020B0604020202020204" pitchFamily="34" charset="0"/>
              </a:rPr>
              <a:t> – this is seasonal depression which is related to day length. It usually comes on in the autumn and winter, when days are short and the sun is low in the sky, and gets better as the days get longer and brighter. </a:t>
            </a:r>
          </a:p>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Postnatal depression</a:t>
            </a:r>
            <a:r>
              <a:rPr lang="en-GB" sz="2000" dirty="0">
                <a:latin typeface="Arial" panose="020B0604020202020204" pitchFamily="34" charset="0"/>
                <a:cs typeface="Arial" panose="020B0604020202020204" pitchFamily="34" charset="0"/>
              </a:rPr>
              <a:t> – many mothers have ‘the baby blues’ soon after the birth of their baby, but it usually passes after a day or two. Postnatal depression is a much more serious problem and can occur any time between two weeks and two years after the birth. </a:t>
            </a:r>
          </a:p>
          <a:p>
            <a:pPr marL="395478" indent="-285750">
              <a:buFont typeface="Arial" panose="020B0604020202020204" pitchFamily="34" charset="0"/>
              <a:buChar char="•"/>
              <a:defRPr/>
            </a:pPr>
            <a:r>
              <a:rPr lang="en-GB" sz="2000" b="1" dirty="0">
                <a:latin typeface="Arial" panose="020B0604020202020204" pitchFamily="34" charset="0"/>
                <a:cs typeface="Arial" panose="020B0604020202020204" pitchFamily="34" charset="0"/>
              </a:rPr>
              <a:t>Bipolar disorder (manic depression)</a:t>
            </a:r>
            <a:r>
              <a:rPr lang="en-GB" sz="2000" dirty="0">
                <a:latin typeface="Arial" panose="020B0604020202020204" pitchFamily="34" charset="0"/>
                <a:cs typeface="Arial" panose="020B0604020202020204" pitchFamily="34" charset="0"/>
              </a:rPr>
              <a:t> – some people have major mood swings, when periods of depression alternate with periods of mania. When manic, they are in a state of high excitement, and may plan and may try to carry out over-ambitious schemes and ideas. They often then have periods</a:t>
            </a:r>
            <a:r>
              <a:rPr lang="en-GB" sz="2400"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of severe depression.</a:t>
            </a:r>
          </a:p>
        </p:txBody>
      </p:sp>
    </p:spTree>
    <p:extLst>
      <p:ext uri="{BB962C8B-B14F-4D97-AF65-F5344CB8AC3E}">
        <p14:creationId xmlns:p14="http://schemas.microsoft.com/office/powerpoint/2010/main" val="345507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56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numbers</a:t>
            </a:r>
            <a:endParaRPr lang="es-ES" sz="4400" dirty="0">
              <a:solidFill>
                <a:schemeClr val="bg1">
                  <a:lumMod val="50000"/>
                </a:schemeClr>
              </a:solidFill>
              <a:latin typeface="Calibri" charset="0"/>
            </a:endParaRPr>
          </a:p>
        </p:txBody>
      </p:sp>
      <p:sp>
        <p:nvSpPr>
          <p:cNvPr id="3" name="Rectangle 2"/>
          <p:cNvSpPr/>
          <p:nvPr/>
        </p:nvSpPr>
        <p:spPr>
          <a:xfrm>
            <a:off x="839755" y="1664529"/>
            <a:ext cx="7464490" cy="4081117"/>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At any one time, the estimated number of children and young people suffering from depression:</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1 in 100 children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1 in 33 young people </a:t>
            </a:r>
          </a:p>
          <a:p>
            <a:pPr lvl="1">
              <a:lnSpc>
                <a:spcPct val="90000"/>
              </a:lnSpc>
            </a:pPr>
            <a:endParaRPr lang="en-GB" altLang="en-US" sz="2400"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Prevalence figures exceed treatment numbers: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about 25% of children and young people with depression detected and treated</a:t>
            </a:r>
          </a:p>
          <a:p>
            <a:pPr lvl="1">
              <a:lnSpc>
                <a:spcPct val="90000"/>
              </a:lnSpc>
            </a:pPr>
            <a:endParaRPr lang="en-GB" altLang="en-US" sz="2400"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Suicide is the:</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3</a:t>
            </a:r>
            <a:r>
              <a:rPr lang="en-GB" altLang="en-US" sz="2400" baseline="30000" dirty="0">
                <a:latin typeface="Arial" panose="020B0604020202020204" pitchFamily="34" charset="0"/>
                <a:cs typeface="Arial" panose="020B0604020202020204" pitchFamily="34" charset="0"/>
              </a:rPr>
              <a:t>rd</a:t>
            </a:r>
            <a:r>
              <a:rPr lang="en-GB" altLang="en-US" sz="2400" dirty="0">
                <a:latin typeface="Arial" panose="020B0604020202020204" pitchFamily="34" charset="0"/>
                <a:cs typeface="Arial" panose="020B0604020202020204" pitchFamily="34" charset="0"/>
              </a:rPr>
              <a:t> leading cause of death in 15–24-year-olds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6</a:t>
            </a:r>
            <a:r>
              <a:rPr lang="en-GB" altLang="en-US" sz="2400" baseline="30000" dirty="0">
                <a:latin typeface="Arial" panose="020B0604020202020204" pitchFamily="34" charset="0"/>
                <a:cs typeface="Arial" panose="020B0604020202020204" pitchFamily="34" charset="0"/>
              </a:rPr>
              <a:t>th</a:t>
            </a:r>
            <a:r>
              <a:rPr lang="en-GB" altLang="en-US" sz="2400" dirty="0">
                <a:latin typeface="Arial" panose="020B0604020202020204" pitchFamily="34" charset="0"/>
                <a:cs typeface="Arial" panose="020B0604020202020204" pitchFamily="34" charset="0"/>
              </a:rPr>
              <a:t> leading cause of death in 5–14-year-olds</a:t>
            </a:r>
          </a:p>
        </p:txBody>
      </p:sp>
    </p:spTree>
    <p:extLst>
      <p:ext uri="{BB962C8B-B14F-4D97-AF65-F5344CB8AC3E}">
        <p14:creationId xmlns:p14="http://schemas.microsoft.com/office/powerpoint/2010/main" val="2970303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92957"/>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Symptoms</a:t>
            </a:r>
            <a:endParaRPr lang="es-ES" sz="4400" dirty="0">
              <a:solidFill>
                <a:schemeClr val="bg1">
                  <a:lumMod val="50000"/>
                </a:schemeClr>
              </a:solidFill>
              <a:latin typeface="Calibri" charset="0"/>
            </a:endParaRPr>
          </a:p>
        </p:txBody>
      </p:sp>
      <p:sp>
        <p:nvSpPr>
          <p:cNvPr id="3" name="Rectangle 2"/>
          <p:cNvSpPr/>
          <p:nvPr/>
        </p:nvSpPr>
        <p:spPr>
          <a:xfrm>
            <a:off x="947057" y="1822558"/>
            <a:ext cx="7249885" cy="3933384"/>
          </a:xfrm>
          <a:prstGeom prst="rect">
            <a:avLst/>
          </a:prstGeom>
        </p:spPr>
        <p:txBody>
          <a:bodyPr wrap="square">
            <a:spAutoFit/>
          </a:bodyPr>
          <a:lstStyle/>
          <a:p>
            <a:pPr>
              <a:lnSpc>
                <a:spcPct val="80000"/>
              </a:lnSpc>
            </a:pPr>
            <a:r>
              <a:rPr lang="en-GB" altLang="en-US" sz="2400" b="1" dirty="0">
                <a:latin typeface="Arial" panose="020B0604020202020204" pitchFamily="34" charset="0"/>
                <a:cs typeface="Arial" panose="020B0604020202020204" pitchFamily="34" charset="0"/>
              </a:rPr>
              <a:t>Key symptoms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persistent sadness, or low or irritable mood</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loss of interests and/or pleasure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fatigue or low energy</a:t>
            </a:r>
          </a:p>
          <a:p>
            <a:pPr lvl="1">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Associated symptoms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or increased sleep</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low self-confidence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concentration or indecisiveness </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poor or increased appetite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suicidal thoughts or acts</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guilt or self-blame</a:t>
            </a:r>
          </a:p>
          <a:p>
            <a:pPr marL="800100" lvl="1"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agitation or slowing of movement</a:t>
            </a:r>
          </a:p>
        </p:txBody>
      </p:sp>
    </p:spTree>
    <p:extLst>
      <p:ext uri="{BB962C8B-B14F-4D97-AF65-F5344CB8AC3E}">
        <p14:creationId xmlns:p14="http://schemas.microsoft.com/office/powerpoint/2010/main" val="400201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5 CuadroTexto"/>
          <p:cNvSpPr txBox="1">
            <a:spLocks noChangeArrowheads="1"/>
          </p:cNvSpPr>
          <p:nvPr/>
        </p:nvSpPr>
        <p:spPr bwMode="auto">
          <a:xfrm>
            <a:off x="0" y="168443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endParaRPr lang="es-ES" sz="2400" dirty="0">
              <a:solidFill>
                <a:schemeClr val="tx1">
                  <a:lumMod val="75000"/>
                  <a:lumOff val="25000"/>
                </a:schemeClr>
              </a:solidFill>
              <a:latin typeface="Calibri" charset="0"/>
            </a:endParaRPr>
          </a:p>
        </p:txBody>
      </p:sp>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Our job</a:t>
            </a:r>
            <a:endParaRPr lang="es-ES" sz="4400" dirty="0">
              <a:solidFill>
                <a:schemeClr val="bg1">
                  <a:lumMod val="50000"/>
                </a:schemeClr>
              </a:solidFill>
              <a:latin typeface="Calibri" charset="0"/>
            </a:endParaRPr>
          </a:p>
        </p:txBody>
      </p:sp>
      <p:sp>
        <p:nvSpPr>
          <p:cNvPr id="3" name="Rectangle 2"/>
          <p:cNvSpPr/>
          <p:nvPr/>
        </p:nvSpPr>
        <p:spPr>
          <a:xfrm>
            <a:off x="793102" y="2053239"/>
            <a:ext cx="7557796" cy="2751522"/>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Professionals in primary care, schools and community need to: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 aware of risk factors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‘active listening’ and ‘conversational techniques’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detect symptoms</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provide appropriate support</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know when to refer</a:t>
            </a:r>
          </a:p>
        </p:txBody>
      </p:sp>
    </p:spTree>
    <p:extLst>
      <p:ext uri="{BB962C8B-B14F-4D97-AF65-F5344CB8AC3E}">
        <p14:creationId xmlns:p14="http://schemas.microsoft.com/office/powerpoint/2010/main" val="1176454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229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holistic approach</a:t>
            </a:r>
            <a:endParaRPr lang="es-ES" sz="4400" dirty="0">
              <a:solidFill>
                <a:schemeClr val="bg1">
                  <a:lumMod val="50000"/>
                </a:schemeClr>
              </a:solidFill>
              <a:latin typeface="Calibri" charset="0"/>
            </a:endParaRPr>
          </a:p>
        </p:txBody>
      </p:sp>
      <p:sp>
        <p:nvSpPr>
          <p:cNvPr id="3" name="Rectangle 2"/>
          <p:cNvSpPr/>
          <p:nvPr/>
        </p:nvSpPr>
        <p:spPr>
          <a:xfrm>
            <a:off x="1045028" y="2143024"/>
            <a:ext cx="7053943" cy="3046988"/>
          </a:xfrm>
          <a:prstGeom prst="rect">
            <a:avLst/>
          </a:prstGeom>
        </p:spPr>
        <p:txBody>
          <a:bodyPr wrap="square">
            <a:spAutoFit/>
          </a:bodyPr>
          <a:lstStyle/>
          <a:p>
            <a:r>
              <a:rPr lang="en-GB" altLang="en-US" sz="2400" b="1" dirty="0">
                <a:latin typeface="Arial" panose="020B0604020202020204" pitchFamily="34" charset="0"/>
                <a:cs typeface="Arial" panose="020B0604020202020204" pitchFamily="34" charset="0"/>
              </a:rPr>
              <a:t>Care should be comprehensive and holistic and take into account:</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drug and alcohol misuse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of bullying or abuse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parental depression</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risks of self-harm and suicide</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self-help materials and methods</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issues of confidentiality</a:t>
            </a:r>
          </a:p>
        </p:txBody>
      </p:sp>
    </p:spTree>
    <p:extLst>
      <p:ext uri="{BB962C8B-B14F-4D97-AF65-F5344CB8AC3E}">
        <p14:creationId xmlns:p14="http://schemas.microsoft.com/office/powerpoint/2010/main" val="358243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Mild depression</a:t>
            </a:r>
            <a:endParaRPr lang="es-ES" sz="4400" dirty="0">
              <a:solidFill>
                <a:schemeClr val="bg1">
                  <a:lumMod val="50000"/>
                </a:schemeClr>
              </a:solidFill>
              <a:latin typeface="Calibri" charset="0"/>
            </a:endParaRPr>
          </a:p>
        </p:txBody>
      </p:sp>
      <p:sp>
        <p:nvSpPr>
          <p:cNvPr id="4" name="Rectangle 3"/>
          <p:cNvSpPr/>
          <p:nvPr/>
        </p:nvSpPr>
        <p:spPr>
          <a:xfrm>
            <a:off x="1194318" y="1895361"/>
            <a:ext cx="6885992" cy="2603790"/>
          </a:xfrm>
          <a:prstGeom prst="rect">
            <a:avLst/>
          </a:prstGeom>
        </p:spPr>
        <p:txBody>
          <a:bodyPr wrap="square">
            <a:spAutoFit/>
          </a:bodyPr>
          <a:lstStyle/>
          <a:p>
            <a:pPr>
              <a:lnSpc>
                <a:spcPct val="90000"/>
              </a:lnSpc>
            </a:pPr>
            <a:endParaRPr lang="en-GB" altLang="en-US" sz="2400" b="1"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Treatment includes:</a:t>
            </a:r>
            <a:endParaRPr lang="en-GB" altLang="en-US" sz="2400" dirty="0">
              <a:latin typeface="Arial" panose="020B0604020202020204" pitchFamily="34" charset="0"/>
              <a:cs typeface="Arial" panose="020B0604020202020204" pitchFamily="34" charset="0"/>
            </a:endParaRP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up to 4 weeks ‘watchful waiting’</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non-directive supportive therapy</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group CBT</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guided self-help</a:t>
            </a:r>
          </a:p>
          <a:p>
            <a:pPr marL="800100" lvl="1"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 use of antidepressants at this stage</a:t>
            </a:r>
          </a:p>
        </p:txBody>
      </p:sp>
    </p:spTree>
    <p:extLst>
      <p:ext uri="{BB962C8B-B14F-4D97-AF65-F5344CB8AC3E}">
        <p14:creationId xmlns:p14="http://schemas.microsoft.com/office/powerpoint/2010/main" val="131333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8830"/>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Moderate to severe depression NICE guidance</a:t>
            </a:r>
            <a:endParaRPr lang="es-ES" sz="4400" dirty="0">
              <a:solidFill>
                <a:schemeClr val="bg1">
                  <a:lumMod val="50000"/>
                </a:schemeClr>
              </a:solidFill>
              <a:latin typeface="Calibri" charset="0"/>
            </a:endParaRPr>
          </a:p>
        </p:txBody>
      </p:sp>
      <p:sp>
        <p:nvSpPr>
          <p:cNvPr id="3" name="Rectangle 2"/>
          <p:cNvSpPr/>
          <p:nvPr/>
        </p:nvSpPr>
        <p:spPr>
          <a:xfrm>
            <a:off x="746449" y="2120543"/>
            <a:ext cx="780039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General recommendations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Approach tailored to needs of family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Family’s preferences to be taken into account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E.g. when too depressed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Does not want family involved</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May require change of approach especially if symptoms deteriorate</a:t>
            </a:r>
          </a:p>
          <a:p>
            <a:pPr>
              <a:lnSpc>
                <a:spcPct val="90000"/>
              </a:lnSpc>
            </a:pPr>
            <a:r>
              <a:rPr lang="en-GB" altLang="en-US" sz="2400" b="1" dirty="0">
                <a:latin typeface="Arial" panose="020B0604020202020204" pitchFamily="34" charset="0"/>
                <a:cs typeface="Arial" panose="020B0604020202020204" pitchFamily="34" charset="0"/>
              </a:rPr>
              <a:t>Treatment starts with review by multidisciplinary team </a:t>
            </a:r>
          </a:p>
          <a:p>
            <a:pPr>
              <a:lnSpc>
                <a:spcPct val="90000"/>
              </a:lnSpc>
            </a:pPr>
            <a:r>
              <a:rPr lang="en-GB" altLang="en-US" sz="2400" b="1" dirty="0">
                <a:latin typeface="Arial" panose="020B0604020202020204" pitchFamily="34" charset="0"/>
                <a:cs typeface="Arial" panose="020B0604020202020204" pitchFamily="34" charset="0"/>
              </a:rPr>
              <a:t>First line of treatment is specific psychological therapy for about 3 months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Individual cognitive behavioural therapy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Interpersonal therapy </a:t>
            </a:r>
          </a:p>
          <a:p>
            <a:pPr marL="800100" lvl="1"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Shorter-term family therapy</a:t>
            </a:r>
          </a:p>
        </p:txBody>
      </p:sp>
    </p:spTree>
    <p:extLst>
      <p:ext uri="{BB962C8B-B14F-4D97-AF65-F5344CB8AC3E}">
        <p14:creationId xmlns:p14="http://schemas.microsoft.com/office/powerpoint/2010/main" val="2223075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Facts about anxiety</a:t>
            </a:r>
            <a:endParaRPr lang="es-ES" sz="4400" dirty="0">
              <a:solidFill>
                <a:schemeClr val="bg1">
                  <a:lumMod val="50000"/>
                </a:schemeClr>
              </a:solidFill>
              <a:latin typeface="Calibri" charset="0"/>
            </a:endParaRPr>
          </a:p>
        </p:txBody>
      </p:sp>
      <p:sp>
        <p:nvSpPr>
          <p:cNvPr id="3" name="Rectangle 2"/>
          <p:cNvSpPr/>
          <p:nvPr/>
        </p:nvSpPr>
        <p:spPr>
          <a:xfrm>
            <a:off x="839755" y="1895361"/>
            <a:ext cx="7464490" cy="4228850"/>
          </a:xfrm>
          <a:prstGeom prst="rect">
            <a:avLst/>
          </a:prstGeom>
        </p:spPr>
        <p:txBody>
          <a:bodyPr wrap="square">
            <a:spAutoFit/>
          </a:bodyPr>
          <a:lstStyle/>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are among the most common mental, emotional, and </a:t>
            </a:r>
            <a:r>
              <a:rPr lang="en-US" altLang="en-US" sz="2400" dirty="0" err="1">
                <a:latin typeface="Arial" panose="020B0604020202020204" pitchFamily="34" charset="0"/>
                <a:cs typeface="Arial" panose="020B0604020202020204" pitchFamily="34" charset="0"/>
              </a:rPr>
              <a:t>behavioural</a:t>
            </a:r>
            <a:r>
              <a:rPr lang="en-US" altLang="en-US" sz="2400" dirty="0">
                <a:latin typeface="Arial" panose="020B0604020202020204" pitchFamily="34" charset="0"/>
                <a:cs typeface="Arial" panose="020B0604020202020204" pitchFamily="34" charset="0"/>
              </a:rPr>
              <a:t> problems to occur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About 13 of every 100 children and adolescents ages 9 to 17 experience some kind of anxiety disorder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Girls are affected more than boys.  About 50% of children and adolescents with anxiety disorders have other mental/behavioral disorder</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may coexist with physical health conditions as well</a:t>
            </a:r>
          </a:p>
        </p:txBody>
      </p:sp>
    </p:spTree>
    <p:extLst>
      <p:ext uri="{BB962C8B-B14F-4D97-AF65-F5344CB8AC3E}">
        <p14:creationId xmlns:p14="http://schemas.microsoft.com/office/powerpoint/2010/main" val="1857926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Brief definition</a:t>
            </a:r>
            <a:endParaRPr lang="es-ES" sz="4400" dirty="0">
              <a:solidFill>
                <a:schemeClr val="bg1">
                  <a:lumMod val="50000"/>
                </a:schemeClr>
              </a:solidFill>
              <a:latin typeface="Calibri" charset="0"/>
            </a:endParaRPr>
          </a:p>
        </p:txBody>
      </p:sp>
      <p:sp>
        <p:nvSpPr>
          <p:cNvPr id="3" name="Rectangle 2"/>
          <p:cNvSpPr/>
          <p:nvPr/>
        </p:nvSpPr>
        <p:spPr>
          <a:xfrm>
            <a:off x="578498" y="2304290"/>
            <a:ext cx="7987004" cy="2751522"/>
          </a:xfrm>
          <a:prstGeom prst="rect">
            <a:avLst/>
          </a:prstGeom>
        </p:spPr>
        <p:txBody>
          <a:bodyPr wrap="square">
            <a:spAutoFit/>
          </a:bodyPr>
          <a:lstStyle/>
          <a:p>
            <a:pPr marL="342900" indent="-342900" algn="just">
              <a:lnSpc>
                <a:spcPct val="9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is a general feeling of apprehension or worry and is a normal reaction to stressful situations </a:t>
            </a:r>
          </a:p>
          <a:p>
            <a:pPr marL="342900" indent="-342900" algn="just">
              <a:lnSpc>
                <a:spcPct val="90000"/>
              </a:lnSpc>
              <a:buFont typeface="Arial" panose="020B0604020202020204" pitchFamily="34" charset="0"/>
              <a:buChar char="•"/>
            </a:pPr>
            <a:r>
              <a:rPr lang="en-US" altLang="en-US" sz="2400" dirty="0">
                <a:solidFill>
                  <a:srgbClr val="FF3300"/>
                </a:solidFill>
                <a:latin typeface="Arial" panose="020B0604020202020204" pitchFamily="34" charset="0"/>
                <a:cs typeface="Arial" panose="020B0604020202020204" pitchFamily="34" charset="0"/>
              </a:rPr>
              <a:t>Red flags</a:t>
            </a:r>
            <a:r>
              <a:rPr lang="en-US" altLang="en-US" sz="2400" dirty="0">
                <a:latin typeface="Arial" panose="020B0604020202020204" pitchFamily="34" charset="0"/>
                <a:cs typeface="Arial" panose="020B0604020202020204" pitchFamily="34" charset="0"/>
              </a:rPr>
              <a:t> should go up when the feelings become excessive, thoughts become irrational and everyday               functioning is debilitated</a:t>
            </a:r>
          </a:p>
          <a:p>
            <a:pPr marL="342900" indent="-342900" algn="just">
              <a:lnSpc>
                <a:spcPct val="9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Anxiety disorders are characterized by excessive feelings of panic, fear, or irrational discomfort in everyday situations </a:t>
            </a:r>
          </a:p>
        </p:txBody>
      </p:sp>
    </p:spTree>
    <p:extLst>
      <p:ext uri="{BB962C8B-B14F-4D97-AF65-F5344CB8AC3E}">
        <p14:creationId xmlns:p14="http://schemas.microsoft.com/office/powerpoint/2010/main" val="2868616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839753" y="2024597"/>
            <a:ext cx="7707085" cy="3637919"/>
          </a:xfrm>
          <a:prstGeom prst="rect">
            <a:avLst/>
          </a:prstGeom>
        </p:spPr>
        <p:txBody>
          <a:bodyPr wrap="square">
            <a:spAutoFit/>
          </a:bodyPr>
          <a:lstStyle/>
          <a:p>
            <a:pPr>
              <a:lnSpc>
                <a:spcPct val="80000"/>
              </a:lnSpc>
            </a:pPr>
            <a:r>
              <a:rPr lang="en-US" altLang="en-US" sz="2400" dirty="0">
                <a:latin typeface="Arial" panose="020B0604020202020204" pitchFamily="34" charset="0"/>
                <a:cs typeface="Arial" panose="020B0604020202020204" pitchFamily="34" charset="0"/>
              </a:rPr>
              <a:t>Using brain imaging and neurochemical techniques several parts of the brain have been identified as key in the production of fear  and anxiety</a:t>
            </a:r>
          </a:p>
          <a:p>
            <a:pPr>
              <a:lnSpc>
                <a:spcPct val="80000"/>
              </a:lnSpc>
            </a:pPr>
            <a:endParaRPr lang="en-US" altLang="en-US" sz="2400" dirty="0">
              <a:latin typeface="Arial" panose="020B0604020202020204" pitchFamily="34" charset="0"/>
              <a:cs typeface="Arial" panose="020B0604020202020204" pitchFamily="34" charset="0"/>
            </a:endParaRPr>
          </a:p>
          <a:p>
            <a:pPr>
              <a:lnSpc>
                <a:spcPct val="80000"/>
              </a:lnSpc>
            </a:pPr>
            <a:r>
              <a:rPr lang="en-US" altLang="en-US" sz="2400" dirty="0">
                <a:latin typeface="Arial" panose="020B0604020202020204" pitchFamily="34" charset="0"/>
                <a:cs typeface="Arial" panose="020B0604020202020204" pitchFamily="34" charset="0"/>
              </a:rPr>
              <a:t>Two main components involved are the amygdala and the hippocampus</a:t>
            </a:r>
          </a:p>
          <a:p>
            <a:pPr marL="342900" indent="-342900">
              <a:lnSpc>
                <a:spcPct val="80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b="1" dirty="0">
                <a:latin typeface="Arial" panose="020B0604020202020204" pitchFamily="34" charset="0"/>
                <a:cs typeface="Arial" panose="020B0604020202020204" pitchFamily="34" charset="0"/>
              </a:rPr>
              <a:t>Amygdala</a:t>
            </a:r>
            <a:r>
              <a:rPr lang="en-US" altLang="en-US" sz="2400" dirty="0">
                <a:latin typeface="Arial" panose="020B0604020202020204" pitchFamily="34" charset="0"/>
                <a:cs typeface="Arial" panose="020B0604020202020204" pitchFamily="34" charset="0"/>
              </a:rPr>
              <a:t> - Emotional memories are stored here and alerts brain that a threat is present </a:t>
            </a:r>
          </a:p>
          <a:p>
            <a:pPr>
              <a:lnSpc>
                <a:spcPct val="80000"/>
              </a:lnSpc>
            </a:pPr>
            <a:endParaRPr lang="en-US"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altLang="en-US" sz="2400" b="1" dirty="0">
                <a:latin typeface="Arial" panose="020B0604020202020204" pitchFamily="34" charset="0"/>
                <a:cs typeface="Arial" panose="020B0604020202020204" pitchFamily="34" charset="0"/>
              </a:rPr>
              <a:t>Hippocampus</a:t>
            </a:r>
            <a:r>
              <a:rPr lang="en-US" altLang="en-US" sz="2400" dirty="0">
                <a:latin typeface="Arial" panose="020B0604020202020204" pitchFamily="34" charset="0"/>
                <a:cs typeface="Arial" panose="020B0604020202020204" pitchFamily="34" charset="0"/>
              </a:rPr>
              <a:t> - Encodes specific threatening events into memories </a:t>
            </a:r>
          </a:p>
        </p:txBody>
      </p:sp>
      <p:sp>
        <p:nvSpPr>
          <p:cNvPr id="4" name="Rectangle 3"/>
          <p:cNvSpPr/>
          <p:nvPr/>
        </p:nvSpPr>
        <p:spPr>
          <a:xfrm>
            <a:off x="858515" y="1015724"/>
            <a:ext cx="7688323" cy="769441"/>
          </a:xfrm>
          <a:prstGeom prst="rect">
            <a:avLst/>
          </a:prstGeom>
        </p:spPr>
        <p:txBody>
          <a:bodyPr wrap="none">
            <a:spAutoFit/>
          </a:bodyPr>
          <a:lstStyle/>
          <a:p>
            <a:r>
              <a:rPr lang="en-US" sz="4400" dirty="0">
                <a:latin typeface="Arial" panose="020B0604020202020204" pitchFamily="34" charset="0"/>
                <a:ea typeface="Tahoma" pitchFamily="34" charset="0"/>
                <a:cs typeface="Arial" panose="020B0604020202020204" pitchFamily="34" charset="0"/>
              </a:rPr>
              <a:t>Production of fear and anxiety</a:t>
            </a:r>
            <a:endParaRPr lang="en-GB" sz="4400" dirty="0">
              <a:latin typeface="Arial" panose="020B0604020202020204" pitchFamily="34" charset="0"/>
              <a:cs typeface="Arial" panose="020B0604020202020204" pitchFamily="34" charset="0"/>
            </a:endParaRPr>
          </a:p>
        </p:txBody>
      </p:sp>
      <p:pic>
        <p:nvPicPr>
          <p:cNvPr id="7" name="Picture 7" descr="MCHM00302_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3538" y="5334001"/>
            <a:ext cx="1828906" cy="133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6488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42246"/>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How anxiety is manifested</a:t>
            </a:r>
            <a:endParaRPr lang="es-ES" sz="4400" dirty="0">
              <a:solidFill>
                <a:schemeClr val="bg1">
                  <a:lumMod val="50000"/>
                </a:schemeClr>
              </a:solidFill>
              <a:latin typeface="Calibri" charset="0"/>
            </a:endParaRPr>
          </a:p>
        </p:txBody>
      </p:sp>
      <p:sp>
        <p:nvSpPr>
          <p:cNvPr id="3" name="Rectangle 2"/>
          <p:cNvSpPr/>
          <p:nvPr/>
        </p:nvSpPr>
        <p:spPr>
          <a:xfrm>
            <a:off x="1259633" y="2413338"/>
            <a:ext cx="6755363" cy="2677656"/>
          </a:xfrm>
          <a:prstGeom prst="rect">
            <a:avLst/>
          </a:prstGeom>
        </p:spPr>
        <p:txBody>
          <a:bodyPr wrap="square">
            <a:spAutoFit/>
          </a:bodyPr>
          <a:lstStyle/>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Students may feel a sense of dread</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Have fears of impending doom</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Experience a sense of suffocation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Anticipation of unarticulated catastrophe</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Loss of control over their breath, swallowing, speech, and coordination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Somatic Complaints</a:t>
            </a:r>
          </a:p>
        </p:txBody>
      </p:sp>
    </p:spTree>
    <p:extLst>
      <p:ext uri="{BB962C8B-B14F-4D97-AF65-F5344CB8AC3E}">
        <p14:creationId xmlns:p14="http://schemas.microsoft.com/office/powerpoint/2010/main" val="2400529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427333" y="1791143"/>
            <a:ext cx="8182947" cy="4081117"/>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Generalized Anxiety Disorder (GAD)</a:t>
            </a:r>
          </a:p>
          <a:p>
            <a:pPr>
              <a:lnSpc>
                <a:spcPct val="90000"/>
              </a:lnSpc>
            </a:pPr>
            <a:r>
              <a:rPr lang="en-US" altLang="en-US" sz="2400" dirty="0">
                <a:latin typeface="Arial" panose="020B0604020202020204" pitchFamily="34" charset="0"/>
                <a:cs typeface="Arial" panose="020B0604020202020204" pitchFamily="34" charset="0"/>
              </a:rPr>
              <a:t>GAD results in students experiencing six months or more of persistent, irrational and extreme worry, causing insomnia, headaches, and irritability. </a:t>
            </a:r>
          </a:p>
          <a:p>
            <a:pPr>
              <a:lnSpc>
                <a:spcPct val="90000"/>
              </a:lnSpc>
            </a:pPr>
            <a:endParaRPr lang="en-US" altLang="en-US" sz="2400" dirty="0">
              <a:latin typeface="Arial" panose="020B0604020202020204" pitchFamily="34" charset="0"/>
              <a:cs typeface="Arial" panose="020B0604020202020204" pitchFamily="34" charset="0"/>
            </a:endParaRPr>
          </a:p>
          <a:p>
            <a:pPr>
              <a:lnSpc>
                <a:spcPct val="90000"/>
              </a:lnSpc>
            </a:pPr>
            <a:r>
              <a:rPr lang="en-US" altLang="en-US" sz="2400" b="1" dirty="0">
                <a:latin typeface="Arial" panose="020B0604020202020204" pitchFamily="34" charset="0"/>
                <a:cs typeface="Arial" panose="020B0604020202020204" pitchFamily="34" charset="0"/>
              </a:rPr>
              <a:t>Post-Traumatic Stress Disorder (PTSD)</a:t>
            </a:r>
          </a:p>
          <a:p>
            <a:pPr>
              <a:lnSpc>
                <a:spcPct val="90000"/>
              </a:lnSpc>
            </a:pPr>
            <a:r>
              <a:rPr lang="en-US" altLang="en-US" sz="2400" dirty="0">
                <a:latin typeface="Arial" panose="020B0604020202020204" pitchFamily="34" charset="0"/>
                <a:cs typeface="Arial" panose="020B0604020202020204" pitchFamily="34" charset="0"/>
              </a:rPr>
              <a:t>PTSD can follow an exposure to a traumatic event such as natural disasters, sexual or physical assaults, or the death of a loved one.  Three main symptoms:  reliving of the traumatic event, avoidance </a:t>
            </a:r>
            <a:r>
              <a:rPr lang="en-US" altLang="en-US" sz="2400" dirty="0" err="1">
                <a:latin typeface="Arial" panose="020B0604020202020204" pitchFamily="34" charset="0"/>
                <a:cs typeface="Arial" panose="020B0604020202020204" pitchFamily="34" charset="0"/>
              </a:rPr>
              <a:t>behaviours</a:t>
            </a:r>
            <a:r>
              <a:rPr lang="en-US" altLang="en-US" sz="2400" dirty="0">
                <a:latin typeface="Arial" panose="020B0604020202020204" pitchFamily="34" charset="0"/>
                <a:cs typeface="Arial" panose="020B0604020202020204" pitchFamily="34" charset="0"/>
              </a:rPr>
              <a:t> and emotional numbing, and physiological arousal such as difficulty sleeping, irritability or poor concentration. </a:t>
            </a:r>
          </a:p>
        </p:txBody>
      </p:sp>
      <p:sp>
        <p:nvSpPr>
          <p:cNvPr id="4" name="Rectangle 3"/>
          <p:cNvSpPr/>
          <p:nvPr/>
        </p:nvSpPr>
        <p:spPr>
          <a:xfrm>
            <a:off x="1457973" y="864707"/>
            <a:ext cx="6743449" cy="769441"/>
          </a:xfrm>
          <a:prstGeom prst="rect">
            <a:avLst/>
          </a:prstGeom>
        </p:spPr>
        <p:txBody>
          <a:bodyPr wrap="none">
            <a:spAutoFit/>
          </a:bodyPr>
          <a:lstStyle/>
          <a:p>
            <a:r>
              <a:rPr lang="en-US" sz="4400" dirty="0">
                <a:latin typeface="Arial" panose="020B0604020202020204" pitchFamily="34" charset="0"/>
                <a:ea typeface="Tahoma" pitchFamily="34" charset="0"/>
                <a:cs typeface="Arial" panose="020B0604020202020204" pitchFamily="34" charset="0"/>
              </a:rPr>
              <a:t>Types of anxiety disorders</a:t>
            </a:r>
            <a:endParaRPr lang="en-GB"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334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606489" y="1446099"/>
            <a:ext cx="7931021" cy="4745915"/>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Panic Disorders</a:t>
            </a:r>
          </a:p>
          <a:p>
            <a:pPr lvl="1">
              <a:lnSpc>
                <a:spcPct val="90000"/>
              </a:lnSpc>
            </a:pPr>
            <a:r>
              <a:rPr lang="en-US" altLang="en-US" sz="2400" dirty="0">
                <a:latin typeface="Arial" panose="020B0604020202020204" pitchFamily="34" charset="0"/>
                <a:cs typeface="Arial" panose="020B0604020202020204" pitchFamily="34" charset="0"/>
              </a:rPr>
              <a:t>Characterized by unpredictable panic attacks, which are episodes of intense fear, physiological arousal, and escape </a:t>
            </a:r>
            <a:r>
              <a:rPr lang="en-US" altLang="en-US" sz="2400" dirty="0" err="1">
                <a:latin typeface="Arial" panose="020B0604020202020204" pitchFamily="34" charset="0"/>
                <a:cs typeface="Arial" panose="020B0604020202020204" pitchFamily="34" charset="0"/>
              </a:rPr>
              <a:t>behaviours</a:t>
            </a:r>
            <a:r>
              <a:rPr lang="en-US" altLang="en-US" sz="2400" dirty="0">
                <a:latin typeface="Arial" panose="020B0604020202020204" pitchFamily="34" charset="0"/>
                <a:cs typeface="Arial" panose="020B0604020202020204" pitchFamily="34" charset="0"/>
              </a:rPr>
              <a:t>.  </a:t>
            </a:r>
            <a:r>
              <a:rPr lang="en-US" altLang="en-US" sz="2400" dirty="0">
                <a:solidFill>
                  <a:srgbClr val="FF0000"/>
                </a:solidFill>
                <a:latin typeface="Arial" panose="020B0604020202020204" pitchFamily="34" charset="0"/>
                <a:cs typeface="Arial" panose="020B0604020202020204" pitchFamily="34" charset="0"/>
              </a:rPr>
              <a:t>Common symptoms</a:t>
            </a:r>
            <a:r>
              <a:rPr lang="en-US" altLang="en-US" sz="2400" dirty="0">
                <a:latin typeface="Arial" panose="020B0604020202020204" pitchFamily="34" charset="0"/>
                <a:cs typeface="Arial" panose="020B0604020202020204" pitchFamily="34" charset="0"/>
              </a:rPr>
              <a:t>:  heart palpitations, shortness of breath, dizziness and anxiety and these symptoms are often confused with those of a heart attack.</a:t>
            </a:r>
          </a:p>
          <a:p>
            <a:pPr lvl="1">
              <a:lnSpc>
                <a:spcPct val="90000"/>
              </a:lnSpc>
            </a:pPr>
            <a:endParaRPr lang="en-US" altLang="en-US" sz="2400" dirty="0">
              <a:latin typeface="Arial" panose="020B0604020202020204" pitchFamily="34" charset="0"/>
              <a:cs typeface="Arial" panose="020B0604020202020204" pitchFamily="34" charset="0"/>
            </a:endParaRPr>
          </a:p>
          <a:p>
            <a:pPr>
              <a:lnSpc>
                <a:spcPct val="90000"/>
              </a:lnSpc>
            </a:pPr>
            <a:r>
              <a:rPr lang="en-US" altLang="en-US" sz="2400" b="1" dirty="0">
                <a:latin typeface="Arial" panose="020B0604020202020204" pitchFamily="34" charset="0"/>
                <a:cs typeface="Arial" panose="020B0604020202020204" pitchFamily="34" charset="0"/>
              </a:rPr>
              <a:t>Specific Phobias</a:t>
            </a:r>
          </a:p>
          <a:p>
            <a:pPr lvl="1">
              <a:lnSpc>
                <a:spcPct val="90000"/>
              </a:lnSpc>
            </a:pPr>
            <a:r>
              <a:rPr lang="en-US" altLang="en-US" sz="2400" dirty="0">
                <a:latin typeface="Arial" panose="020B0604020202020204" pitchFamily="34" charset="0"/>
                <a:cs typeface="Arial" panose="020B0604020202020204" pitchFamily="34" charset="0"/>
              </a:rPr>
              <a:t>Intense fear reaction to a specific object or situation (such as spiders, dogs, or heights) which often leads to avoidance </a:t>
            </a:r>
            <a:r>
              <a:rPr lang="en-US" altLang="en-US" sz="2400" dirty="0" err="1">
                <a:latin typeface="Arial" panose="020B0604020202020204" pitchFamily="34" charset="0"/>
                <a:cs typeface="Arial" panose="020B0604020202020204" pitchFamily="34" charset="0"/>
              </a:rPr>
              <a:t>behaviour</a:t>
            </a:r>
            <a:r>
              <a:rPr lang="en-US" altLang="en-US" sz="2400" dirty="0">
                <a:latin typeface="Arial" panose="020B0604020202020204" pitchFamily="34" charset="0"/>
                <a:cs typeface="Arial" panose="020B0604020202020204" pitchFamily="34" charset="0"/>
              </a:rPr>
              <a:t>.  The level of fear is usually inappropriate to the situation and is recognized by the sufferer as being irrational </a:t>
            </a:r>
          </a:p>
        </p:txBody>
      </p:sp>
    </p:spTree>
    <p:extLst>
      <p:ext uri="{BB962C8B-B14F-4D97-AF65-F5344CB8AC3E}">
        <p14:creationId xmlns:p14="http://schemas.microsoft.com/office/powerpoint/2010/main" val="2813698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0109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latin typeface="Arial" panose="020B0604020202020204" pitchFamily="34" charset="0"/>
                <a:cs typeface="Arial" panose="020B0604020202020204" pitchFamily="34" charset="0"/>
              </a:rPr>
              <a:t>Disorders continued</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732453" y="1620519"/>
            <a:ext cx="7679094" cy="5078313"/>
          </a:xfrm>
          <a:prstGeom prst="rect">
            <a:avLst/>
          </a:prstGeom>
        </p:spPr>
        <p:txBody>
          <a:bodyPr wrap="square">
            <a:spAutoFit/>
          </a:bodyPr>
          <a:lstStyle/>
          <a:p>
            <a:pPr>
              <a:lnSpc>
                <a:spcPct val="90000"/>
              </a:lnSpc>
            </a:pPr>
            <a:r>
              <a:rPr lang="en-US" altLang="en-US" sz="2400" b="1" dirty="0">
                <a:latin typeface="Arial" panose="020B0604020202020204" pitchFamily="34" charset="0"/>
                <a:cs typeface="Arial" panose="020B0604020202020204" pitchFamily="34" charset="0"/>
              </a:rPr>
              <a:t>Social Phobia</a:t>
            </a:r>
          </a:p>
          <a:p>
            <a:pPr lvl="1">
              <a:lnSpc>
                <a:spcPct val="90000"/>
              </a:lnSpc>
            </a:pPr>
            <a:r>
              <a:rPr lang="en-US" altLang="en-US" sz="2400" dirty="0">
                <a:latin typeface="Arial" panose="020B0604020202020204" pitchFamily="34" charset="0"/>
                <a:cs typeface="Arial" panose="020B0604020202020204" pitchFamily="34" charset="0"/>
              </a:rPr>
              <a:t>Extreme anxiety about being judged by others or behaving in a way that might cause embarrassment or ridicule and may lead to avoidance </a:t>
            </a:r>
            <a:r>
              <a:rPr lang="en-US" altLang="en-US" sz="2400" dirty="0" err="1">
                <a:latin typeface="Arial" panose="020B0604020202020204" pitchFamily="34" charset="0"/>
                <a:cs typeface="Arial" panose="020B0604020202020204" pitchFamily="34" charset="0"/>
              </a:rPr>
              <a:t>behaviour</a:t>
            </a:r>
            <a:r>
              <a:rPr lang="en-US" altLang="en-US" sz="2400" dirty="0">
                <a:latin typeface="Arial" panose="020B0604020202020204" pitchFamily="34" charset="0"/>
                <a:cs typeface="Arial" panose="020B0604020202020204" pitchFamily="34" charset="0"/>
              </a:rPr>
              <a:t>.</a:t>
            </a:r>
          </a:p>
          <a:p>
            <a:pPr>
              <a:lnSpc>
                <a:spcPct val="90000"/>
              </a:lnSpc>
            </a:pPr>
            <a:r>
              <a:rPr lang="en-US" altLang="en-US" sz="2400" b="1" dirty="0">
                <a:latin typeface="Arial" panose="020B0604020202020204" pitchFamily="34" charset="0"/>
                <a:cs typeface="Arial" panose="020B0604020202020204" pitchFamily="34" charset="0"/>
              </a:rPr>
              <a:t>Separation Anxiety Disorder</a:t>
            </a:r>
          </a:p>
          <a:p>
            <a:pPr lvl="1">
              <a:lnSpc>
                <a:spcPct val="90000"/>
              </a:lnSpc>
            </a:pPr>
            <a:r>
              <a:rPr lang="en-US" altLang="en-US" sz="2400" dirty="0">
                <a:latin typeface="Arial" panose="020B0604020202020204" pitchFamily="34" charset="0"/>
                <a:cs typeface="Arial" panose="020B0604020202020204" pitchFamily="34" charset="0"/>
              </a:rPr>
              <a:t>Intense anxiety associated with being away from caregivers, results in youths clinging to parents or refusing to do daily activities such as going to school.</a:t>
            </a:r>
          </a:p>
          <a:p>
            <a:pPr>
              <a:lnSpc>
                <a:spcPct val="90000"/>
              </a:lnSpc>
            </a:pPr>
            <a:r>
              <a:rPr lang="en-US" altLang="en-US" sz="2400" b="1" dirty="0">
                <a:latin typeface="Arial" panose="020B0604020202020204" pitchFamily="34" charset="0"/>
                <a:cs typeface="Arial" panose="020B0604020202020204" pitchFamily="34" charset="0"/>
              </a:rPr>
              <a:t>Obsessive-Compulsive Disorder (OCD)</a:t>
            </a:r>
          </a:p>
          <a:p>
            <a:pPr lvl="1">
              <a:lnSpc>
                <a:spcPct val="90000"/>
              </a:lnSpc>
            </a:pPr>
            <a:r>
              <a:rPr lang="en-US" altLang="en-US" sz="2400" dirty="0">
                <a:latin typeface="Arial" panose="020B0604020202020204" pitchFamily="34" charset="0"/>
                <a:cs typeface="Arial" panose="020B0604020202020204" pitchFamily="34" charset="0"/>
              </a:rPr>
              <a:t>Students may be plagued by persistent, recurring thoughts (obsessions) and engage in compulsive ritualistic behaviours in order to reduce the anxiety associated with these obsessions (e.g. constant hand washing).</a:t>
            </a:r>
          </a:p>
        </p:txBody>
      </p:sp>
    </p:spTree>
    <p:extLst>
      <p:ext uri="{BB962C8B-B14F-4D97-AF65-F5344CB8AC3E}">
        <p14:creationId xmlns:p14="http://schemas.microsoft.com/office/powerpoint/2010/main" val="39950127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55634"/>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Comorbidity</a:t>
            </a:r>
            <a:endParaRPr lang="es-ES" sz="4400" dirty="0">
              <a:solidFill>
                <a:schemeClr val="bg1">
                  <a:lumMod val="50000"/>
                </a:schemeClr>
              </a:solidFill>
              <a:latin typeface="Calibri" charset="0"/>
            </a:endParaRPr>
          </a:p>
        </p:txBody>
      </p:sp>
      <p:sp>
        <p:nvSpPr>
          <p:cNvPr id="3" name="Rectangle 2"/>
          <p:cNvSpPr/>
          <p:nvPr/>
        </p:nvSpPr>
        <p:spPr>
          <a:xfrm>
            <a:off x="774441" y="1997839"/>
            <a:ext cx="7539135" cy="3785652"/>
          </a:xfrm>
          <a:prstGeom prst="rect">
            <a:avLst/>
          </a:prstGeom>
        </p:spPr>
        <p:txBody>
          <a:bodyPr wrap="square">
            <a:spAutoFit/>
          </a:bodyPr>
          <a:lstStyle/>
          <a:p>
            <a:r>
              <a:rPr lang="en-US" altLang="en-US" sz="2400" b="1" dirty="0">
                <a:latin typeface="Arial" panose="020B0604020202020204" pitchFamily="34" charset="0"/>
                <a:cs typeface="Arial" panose="020B0604020202020204" pitchFamily="34" charset="0"/>
              </a:rPr>
              <a:t>Comorbid diagnoses of depressive disorders, ADHD, and other anxiety disorders are common in anxiety patients.</a:t>
            </a:r>
          </a:p>
          <a:p>
            <a:r>
              <a:rPr lang="en-US" altLang="en-US" sz="2400" b="1" dirty="0">
                <a:latin typeface="Arial" panose="020B0604020202020204" pitchFamily="34" charset="0"/>
                <a:cs typeface="Arial" panose="020B0604020202020204" pitchFamily="34" charset="0"/>
              </a:rPr>
              <a:t> </a:t>
            </a:r>
          </a:p>
          <a:p>
            <a:r>
              <a:rPr lang="en-US" altLang="en-US" sz="2400" b="1" dirty="0">
                <a:latin typeface="Arial" panose="020B0604020202020204" pitchFamily="34" charset="0"/>
                <a:cs typeface="Arial" panose="020B0604020202020204" pitchFamily="34" charset="0"/>
              </a:rPr>
              <a:t>Symptoms that may appear to be ADHD:</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Restlessness, feeling keyed up or on edge</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Difficulty concentrating, mind going blank</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Irritability</a:t>
            </a:r>
          </a:p>
          <a:p>
            <a:pPr marL="800100" lvl="1"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Clinically significant distress or impairment in social or academic areas</a:t>
            </a:r>
          </a:p>
        </p:txBody>
      </p:sp>
    </p:spTree>
    <p:extLst>
      <p:ext uri="{BB962C8B-B14F-4D97-AF65-F5344CB8AC3E}">
        <p14:creationId xmlns:p14="http://schemas.microsoft.com/office/powerpoint/2010/main" val="195881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74295"/>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Effective ways to treat anxiety</a:t>
            </a:r>
            <a:endParaRPr lang="es-ES" sz="4400" dirty="0">
              <a:solidFill>
                <a:schemeClr val="bg1">
                  <a:lumMod val="50000"/>
                </a:schemeClr>
              </a:solidFill>
              <a:latin typeface="Calibri" charset="0"/>
            </a:endParaRPr>
          </a:p>
        </p:txBody>
      </p:sp>
      <p:sp>
        <p:nvSpPr>
          <p:cNvPr id="3" name="Rectangle 2"/>
          <p:cNvSpPr/>
          <p:nvPr/>
        </p:nvSpPr>
        <p:spPr>
          <a:xfrm>
            <a:off x="802433" y="2136339"/>
            <a:ext cx="7511143" cy="3046988"/>
          </a:xfrm>
          <a:prstGeom prst="rect">
            <a:avLst/>
          </a:prstGeom>
        </p:spPr>
        <p:txBody>
          <a:bodyPr wrap="square">
            <a:spAutoFit/>
          </a:bodyPr>
          <a:lstStyle/>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Cognitive-</a:t>
            </a:r>
            <a:r>
              <a:rPr lang="en-US" altLang="en-US" sz="2400" dirty="0" err="1">
                <a:latin typeface="Arial" panose="020B0604020202020204" pitchFamily="34" charset="0"/>
                <a:cs typeface="Arial" panose="020B0604020202020204" pitchFamily="34" charset="0"/>
              </a:rPr>
              <a:t>behavioural</a:t>
            </a:r>
            <a:r>
              <a:rPr lang="en-US" altLang="en-US" sz="2400" dirty="0">
                <a:latin typeface="Arial" panose="020B0604020202020204" pitchFamily="34" charset="0"/>
                <a:cs typeface="Arial" panose="020B0604020202020204" pitchFamily="34" charset="0"/>
              </a:rPr>
              <a:t> treatment( young people learn to deal with fears by modifying the ways they think and behave)</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Relaxation techniques</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Biofeedback (to control stress and muscle tension)</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Family therapy</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Parent training</a:t>
            </a: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Medication</a:t>
            </a:r>
          </a:p>
        </p:txBody>
      </p:sp>
      <p:pic>
        <p:nvPicPr>
          <p:cNvPr id="7" name="Picture 5" descr="TOO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0976" y="4463395"/>
            <a:ext cx="17526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527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29287"/>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US" sz="4400" dirty="0">
                <a:ea typeface="Tahoma" pitchFamily="34" charset="0"/>
                <a:cs typeface="Tahoma" pitchFamily="34" charset="0"/>
              </a:rPr>
              <a:t>Strategies for dealing with anxious Students</a:t>
            </a:r>
            <a:endParaRPr lang="es-ES" sz="4400" dirty="0">
              <a:solidFill>
                <a:schemeClr val="bg1">
                  <a:lumMod val="50000"/>
                </a:schemeClr>
              </a:solidFill>
              <a:latin typeface="Calibri" charset="0"/>
            </a:endParaRPr>
          </a:p>
        </p:txBody>
      </p:sp>
      <p:sp>
        <p:nvSpPr>
          <p:cNvPr id="3" name="Rectangle 2"/>
          <p:cNvSpPr/>
          <p:nvPr/>
        </p:nvSpPr>
        <p:spPr>
          <a:xfrm>
            <a:off x="709127" y="2375151"/>
            <a:ext cx="7613779" cy="4228850"/>
          </a:xfrm>
          <a:prstGeom prst="rect">
            <a:avLst/>
          </a:prstGeom>
        </p:spPr>
        <p:txBody>
          <a:bodyPr wrap="square">
            <a:spAutoFit/>
          </a:bodyPr>
          <a:lstStyle/>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Because transitions and separation are frequently difficult for children with anxiety disorders, accommodate student’s late arrival and provide extra time for changing activities and locations.</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Recognize that often it is a child’s anxiety that causes him or her to disregard directions, rather than an intentional desire to be oppositional. </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Develop a “safe” place where the child can go to relieve anxiety during stressful times or provide calming activities. </a:t>
            </a:r>
          </a:p>
          <a:p>
            <a:pPr marL="342900" indent="-342900">
              <a:lnSpc>
                <a:spcPct val="8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Encourage the development of relaxation techniques that can work in the school setting.  Often these can be adapted from those that are effective at home.</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197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606489" y="1436915"/>
            <a:ext cx="7931021"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Work with a child regarding class participation and answering questions on the board, understanding that many anxious CYP fear answering incorrectly.</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Encourage small group interactions and provide assistance in increasing competency and developing peer relationships.</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Reward the student’s efforts. </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Provide an organized, calming, nurturing and supportive environment.  </a:t>
            </a:r>
          </a:p>
          <a:p>
            <a:pPr eaLnBrk="1" hangingPunct="1">
              <a:lnSpc>
                <a:spcPct val="80000"/>
              </a:lnSpc>
            </a:pPr>
            <a:endParaRPr lang="en-US" altLang="en-US" sz="2400" dirty="0">
              <a:cs typeface="Tahoma" panose="020B0604030504040204" pitchFamily="34" charset="0"/>
            </a:endParaRPr>
          </a:p>
          <a:p>
            <a:pPr marL="342900" indent="-342900" eaLnBrk="1" hangingPunct="1">
              <a:lnSpc>
                <a:spcPct val="80000"/>
              </a:lnSpc>
              <a:buFont typeface="Arial" panose="020B0604020202020204" pitchFamily="34" charset="0"/>
              <a:buChar char="•"/>
            </a:pPr>
            <a:r>
              <a:rPr lang="en-US" altLang="en-US" sz="2400" dirty="0">
                <a:cs typeface="Tahoma" panose="020B0604030504040204" pitchFamily="34" charset="0"/>
              </a:rPr>
              <a:t>For maximum effectiveness, foster feedback from CYP about these interventions</a:t>
            </a:r>
          </a:p>
        </p:txBody>
      </p:sp>
    </p:spTree>
    <p:extLst>
      <p:ext uri="{BB962C8B-B14F-4D97-AF65-F5344CB8AC3E}">
        <p14:creationId xmlns:p14="http://schemas.microsoft.com/office/powerpoint/2010/main" val="2403101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67601"/>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Need to develop school based preventative strategies</a:t>
            </a:r>
            <a:endParaRPr lang="es-ES" sz="4400" dirty="0">
              <a:solidFill>
                <a:schemeClr val="bg1">
                  <a:lumMod val="50000"/>
                </a:schemeClr>
              </a:solidFill>
              <a:latin typeface="Calibri" charset="0"/>
            </a:endParaRPr>
          </a:p>
        </p:txBody>
      </p:sp>
      <p:sp>
        <p:nvSpPr>
          <p:cNvPr id="3" name="Rectangle 2"/>
          <p:cNvSpPr/>
          <p:nvPr/>
        </p:nvSpPr>
        <p:spPr>
          <a:xfrm>
            <a:off x="1268963" y="2691796"/>
            <a:ext cx="6606074" cy="2308324"/>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Healthy lifestyle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Relaxation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Assertiveness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Effective thinking – CBT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Time management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Enhancing study skills</a:t>
            </a:r>
          </a:p>
        </p:txBody>
      </p:sp>
    </p:spTree>
    <p:extLst>
      <p:ext uri="{BB962C8B-B14F-4D97-AF65-F5344CB8AC3E}">
        <p14:creationId xmlns:p14="http://schemas.microsoft.com/office/powerpoint/2010/main" val="2556871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a:solidFill>
            <a:schemeClr val="tx1"/>
          </a:solidFill>
        </p:spPr>
      </p:pic>
      <p:sp>
        <p:nvSpPr>
          <p:cNvPr id="3" name="Rectangle 2"/>
          <p:cNvSpPr/>
          <p:nvPr/>
        </p:nvSpPr>
        <p:spPr>
          <a:xfrm>
            <a:off x="545840" y="1554640"/>
            <a:ext cx="8052318" cy="4745915"/>
          </a:xfrm>
          <a:prstGeom prst="rect">
            <a:avLst/>
          </a:prstGeom>
        </p:spPr>
        <p:txBody>
          <a:bodyPr wrap="square">
            <a:spAutoFit/>
          </a:bodyPr>
          <a:lstStyle/>
          <a:p>
            <a:pPr marL="571500" indent="-571500">
              <a:lnSpc>
                <a:spcPct val="90000"/>
              </a:lnSpc>
              <a:buClr>
                <a:srgbClr val="FFCC66"/>
              </a:buClr>
              <a:defRPr/>
            </a:pPr>
            <a:r>
              <a:rPr lang="en-GB" sz="2400" b="1" dirty="0">
                <a:latin typeface="Arial" panose="020B0604020202020204" pitchFamily="34" charset="0"/>
                <a:cs typeface="Arial" panose="020B0604020202020204" pitchFamily="34" charset="0"/>
              </a:rPr>
              <a:t>	</a:t>
            </a:r>
            <a:endParaRPr lang="en-GB" sz="2400" dirty="0">
              <a:latin typeface="Arial" panose="020B0604020202020204" pitchFamily="34" charset="0"/>
              <a:cs typeface="Arial" panose="020B0604020202020204" pitchFamily="34" charset="0"/>
            </a:endParaRPr>
          </a:p>
          <a:p>
            <a:pPr>
              <a:lnSpc>
                <a:spcPct val="90000"/>
              </a:lnSpc>
              <a:defRPr/>
            </a:pPr>
            <a:r>
              <a:rPr lang="en-GB" sz="2400" b="1" dirty="0">
                <a:latin typeface="Arial" panose="020B0604020202020204" pitchFamily="34" charset="0"/>
                <a:cs typeface="Arial" panose="020B0604020202020204" pitchFamily="34" charset="0"/>
              </a:rPr>
              <a:t>Identifying and challenging irrational beliefs is an important first step. Such beliefs are exaggerated, oversimplified, illogical, unrelated to evidence or too absolute.</a:t>
            </a:r>
          </a:p>
          <a:p>
            <a:pPr>
              <a:lnSpc>
                <a:spcPct val="90000"/>
              </a:lnSpc>
              <a:defRPr/>
            </a:pPr>
            <a:endParaRPr lang="en-GB"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When I make a mistake it is terrible, catastrophic, disastrous</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If someone gets upset when I say something to them, then it is all my fault</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If someone turns down my request, they are rejecting me</a:t>
            </a:r>
          </a:p>
          <a:p>
            <a:pPr marL="342900" indent="-342900">
              <a:lnSpc>
                <a:spcPct val="90000"/>
              </a:lnSpc>
              <a:buFont typeface="Arial" panose="020B0604020202020204" pitchFamily="34" charset="0"/>
              <a:buChar char="•"/>
              <a:defRPr/>
            </a:pPr>
            <a:r>
              <a:rPr lang="en-GB" sz="2400" dirty="0">
                <a:latin typeface="Arial" panose="020B0604020202020204" pitchFamily="34" charset="0"/>
                <a:cs typeface="Arial" panose="020B0604020202020204" pitchFamily="34" charset="0"/>
              </a:rPr>
              <a:t>It is vital that everyone approves of me and what I do all the time (even if I am totally irritating and unreasonable)</a:t>
            </a:r>
          </a:p>
        </p:txBody>
      </p:sp>
      <p:sp>
        <p:nvSpPr>
          <p:cNvPr id="4" name="Rectangle 3"/>
          <p:cNvSpPr/>
          <p:nvPr/>
        </p:nvSpPr>
        <p:spPr>
          <a:xfrm>
            <a:off x="2466808" y="785199"/>
            <a:ext cx="4443268" cy="769441"/>
          </a:xfrm>
          <a:prstGeom prst="rect">
            <a:avLst/>
          </a:prstGeom>
        </p:spPr>
        <p:txBody>
          <a:bodyPr wrap="none">
            <a:spAutoFit/>
          </a:bodyPr>
          <a:lstStyle/>
          <a:p>
            <a:r>
              <a:rPr lang="en-GB" sz="4400" dirty="0">
                <a:latin typeface="Arial" panose="020B0604020202020204" pitchFamily="34" charset="0"/>
                <a:cs typeface="Arial" panose="020B0604020202020204" pitchFamily="34" charset="0"/>
              </a:rPr>
              <a:t>Effective thinking</a:t>
            </a:r>
          </a:p>
        </p:txBody>
      </p:sp>
    </p:spTree>
    <p:extLst>
      <p:ext uri="{BB962C8B-B14F-4D97-AF65-F5344CB8AC3E}">
        <p14:creationId xmlns:p14="http://schemas.microsoft.com/office/powerpoint/2010/main" val="2635308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Effective thinking</a:t>
            </a:r>
            <a:endParaRPr lang="es-ES" sz="4400" dirty="0">
              <a:solidFill>
                <a:schemeClr val="bg1">
                  <a:lumMod val="50000"/>
                </a:schemeClr>
              </a:solidFill>
              <a:latin typeface="Calibri" charset="0"/>
            </a:endParaRPr>
          </a:p>
        </p:txBody>
      </p:sp>
      <p:sp>
        <p:nvSpPr>
          <p:cNvPr id="3" name="Rectangle 2"/>
          <p:cNvSpPr/>
          <p:nvPr/>
        </p:nvSpPr>
        <p:spPr>
          <a:xfrm>
            <a:off x="886408" y="1902288"/>
            <a:ext cx="7371183" cy="4524315"/>
          </a:xfrm>
          <a:prstGeom prst="rect">
            <a:avLst/>
          </a:prstGeom>
        </p:spPr>
        <p:txBody>
          <a:bodyPr wrap="square">
            <a:spAutoFit/>
          </a:bodyPr>
          <a:lstStyle/>
          <a:p>
            <a:pPr marL="571500" indent="-571500">
              <a:defRPr/>
            </a:pPr>
            <a:r>
              <a:rPr lang="en-GB" sz="2400" b="1" dirty="0">
                <a:latin typeface="Arial" panose="020B0604020202020204" pitchFamily="34" charset="0"/>
                <a:cs typeface="Arial" panose="020B0604020202020204" pitchFamily="34" charset="0"/>
              </a:rPr>
              <a:t>Irrational belief</a:t>
            </a:r>
            <a:endParaRPr lang="en-GB"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 need to be thoroughly competent and achieving or I am not worthwhile</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My past is the cause of my present problems</a:t>
            </a:r>
          </a:p>
          <a:p>
            <a:pPr marL="342900" indent="-342900">
              <a:buFont typeface="Arial" panose="020B0604020202020204" pitchFamily="34" charset="0"/>
              <a:buChar char="•"/>
              <a:defRPr/>
            </a:pPr>
            <a:endParaRPr lang="en-GB" sz="2400" dirty="0">
              <a:latin typeface="Arial" panose="020B0604020202020204" pitchFamily="34" charset="0"/>
              <a:cs typeface="Arial" panose="020B0604020202020204" pitchFamily="34" charset="0"/>
            </a:endParaRPr>
          </a:p>
          <a:p>
            <a:pPr>
              <a:defRPr/>
            </a:pPr>
            <a:r>
              <a:rPr lang="en-GB" sz="2400" b="1" dirty="0">
                <a:latin typeface="Arial" panose="020B0604020202020204" pitchFamily="34" charset="0"/>
                <a:cs typeface="Arial" panose="020B0604020202020204" pitchFamily="34" charset="0"/>
              </a:rPr>
              <a:t>Rational equivalent</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While I gain great pride from competence and achievement, I need to accept that I, like everyone else, have human limitations and fallibilities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Just because past events have strongly influenced me, I do not have to be attached to them for ever, I can learn from them</a:t>
            </a:r>
          </a:p>
        </p:txBody>
      </p:sp>
    </p:spTree>
    <p:extLst>
      <p:ext uri="{BB962C8B-B14F-4D97-AF65-F5344CB8AC3E}">
        <p14:creationId xmlns:p14="http://schemas.microsoft.com/office/powerpoint/2010/main" val="4248241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Ineffective self talk</a:t>
            </a:r>
            <a:endParaRPr lang="es-ES" sz="4400" dirty="0">
              <a:solidFill>
                <a:schemeClr val="bg1">
                  <a:lumMod val="50000"/>
                </a:schemeClr>
              </a:solidFill>
              <a:latin typeface="Calibri" charset="0"/>
            </a:endParaRPr>
          </a:p>
        </p:txBody>
      </p:sp>
      <p:sp>
        <p:nvSpPr>
          <p:cNvPr id="3" name="Rectangle 2"/>
          <p:cNvSpPr/>
          <p:nvPr/>
        </p:nvSpPr>
        <p:spPr>
          <a:xfrm>
            <a:off x="933061" y="2017588"/>
            <a:ext cx="7277878" cy="3416320"/>
          </a:xfrm>
          <a:prstGeom prst="rect">
            <a:avLst/>
          </a:prstGeom>
        </p:spPr>
        <p:txBody>
          <a:bodyPr wrap="square">
            <a:spAutoFit/>
          </a:bodyPr>
          <a:lstStyle/>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Worrying about a future situation</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Catastrophising</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Setting unrealistic standards</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Over-reacting to feelings of anxiety</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Being overly worried about what others think</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Putting yourself down</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Focusing on set-backs and not owning successes</a:t>
            </a:r>
          </a:p>
          <a:p>
            <a:pPr marL="342900" indent="-342900">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Not setting clear, manageable goals or focusing on tasks that will achieve them.</a:t>
            </a:r>
          </a:p>
        </p:txBody>
      </p:sp>
    </p:spTree>
    <p:extLst>
      <p:ext uri="{BB962C8B-B14F-4D97-AF65-F5344CB8AC3E}">
        <p14:creationId xmlns:p14="http://schemas.microsoft.com/office/powerpoint/2010/main" val="1564134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04273"/>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Constructive Self Talk</a:t>
            </a:r>
            <a:endParaRPr lang="es-ES" sz="4400" dirty="0">
              <a:solidFill>
                <a:schemeClr val="bg1">
                  <a:lumMod val="50000"/>
                </a:schemeClr>
              </a:solidFill>
              <a:latin typeface="Calibri" charset="0"/>
            </a:endParaRPr>
          </a:p>
        </p:txBody>
      </p:sp>
      <p:sp>
        <p:nvSpPr>
          <p:cNvPr id="3" name="Rectangle 2"/>
          <p:cNvSpPr/>
          <p:nvPr/>
        </p:nvSpPr>
        <p:spPr>
          <a:xfrm>
            <a:off x="727787" y="1789658"/>
            <a:ext cx="7688425" cy="4819781"/>
          </a:xfrm>
          <a:prstGeom prst="rect">
            <a:avLst/>
          </a:prstGeom>
        </p:spPr>
        <p:txBody>
          <a:bodyPr wrap="square">
            <a:spAutoFit/>
          </a:bodyPr>
          <a:lstStyle/>
          <a:p>
            <a:pPr>
              <a:lnSpc>
                <a:spcPct val="80000"/>
              </a:lnSpc>
              <a:spcBef>
                <a:spcPct val="0"/>
              </a:spcBef>
            </a:pPr>
            <a:r>
              <a:rPr lang="en-GB" altLang="en-US" sz="2400" b="1" dirty="0">
                <a:latin typeface="Arial" panose="020B0604020202020204" pitchFamily="34" charset="0"/>
                <a:cs typeface="Arial" panose="020B0604020202020204" pitchFamily="34" charset="0"/>
              </a:rPr>
              <a:t>Calming Self-Talk</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Tell yourself to stay calm – ‘relax, calm down, take a deep breath, count to 10, breath slowly…’</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Tell yourself you can cope – ‘I can handle this situation. I’ve got the skills to cope with this. I can solve this problem if I relax and think about it.’</a:t>
            </a:r>
          </a:p>
          <a:p>
            <a:pPr>
              <a:lnSpc>
                <a:spcPct val="80000"/>
              </a:lnSpc>
              <a:spcBef>
                <a:spcPct val="0"/>
              </a:spcBef>
            </a:pPr>
            <a:endParaRPr lang="en-GB" altLang="en-US" sz="2400" dirty="0">
              <a:latin typeface="Arial" panose="020B0604020202020204" pitchFamily="34" charset="0"/>
              <a:cs typeface="Arial" panose="020B0604020202020204" pitchFamily="34" charset="0"/>
            </a:endParaRPr>
          </a:p>
          <a:p>
            <a:pPr>
              <a:lnSpc>
                <a:spcPct val="80000"/>
              </a:lnSpc>
              <a:spcBef>
                <a:spcPct val="0"/>
              </a:spcBef>
            </a:pPr>
            <a:r>
              <a:rPr lang="en-GB" altLang="en-US" sz="2400" b="1" dirty="0">
                <a:latin typeface="Arial" panose="020B0604020202020204" pitchFamily="34" charset="0"/>
                <a:cs typeface="Arial" panose="020B0604020202020204" pitchFamily="34" charset="0"/>
              </a:rPr>
              <a:t>Coaching Self-Talk</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This might involve using a problem solving framework – ‘Right! First define an objective … now think of possible solutions … now choose one to implement’. </a:t>
            </a:r>
          </a:p>
          <a:p>
            <a:pPr marL="342900" indent="-342900">
              <a:lnSpc>
                <a:spcPct val="80000"/>
              </a:lnSpc>
              <a:spcBef>
                <a:spcPct val="0"/>
              </a:spcBef>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Or reminding yourself to use new skills in tricky situations – ‘Right! She’s getting angry. I must listen to what she is saying and acknowledge her 	feelings’.</a:t>
            </a:r>
          </a:p>
        </p:txBody>
      </p:sp>
    </p:spTree>
    <p:extLst>
      <p:ext uri="{BB962C8B-B14F-4D97-AF65-F5344CB8AC3E}">
        <p14:creationId xmlns:p14="http://schemas.microsoft.com/office/powerpoint/2010/main" val="712462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653142" y="1676596"/>
            <a:ext cx="783771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fontAlgn="auto" hangingPunct="1">
              <a:spcAft>
                <a:spcPts val="0"/>
              </a:spcAft>
              <a:defRPr/>
            </a:pPr>
            <a:r>
              <a:rPr lang="en-GB" sz="3200" dirty="0"/>
              <a:t>MOST IMPORTANT TO TEACH THESE SKILLS TO THE MOST VULNERABLE STUDENTS</a:t>
            </a:r>
          </a:p>
        </p:txBody>
      </p:sp>
    </p:spTree>
    <p:extLst>
      <p:ext uri="{BB962C8B-B14F-4D97-AF65-F5344CB8AC3E}">
        <p14:creationId xmlns:p14="http://schemas.microsoft.com/office/powerpoint/2010/main" val="4239213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738722"/>
            <a:ext cx="9144000"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All learners will probably experience the </a:t>
            </a:r>
            <a:br>
              <a:rPr lang="en-GB" sz="4000" dirty="0"/>
            </a:br>
            <a:r>
              <a:rPr lang="en-GB" sz="4000" dirty="0"/>
              <a:t>associated stressors when</a:t>
            </a:r>
            <a:br>
              <a:rPr lang="en-GB" sz="4000" dirty="0"/>
            </a:br>
            <a:r>
              <a:rPr lang="en-GB" sz="4000" dirty="0"/>
              <a:t>revising/undertaking assessments:</a:t>
            </a:r>
            <a:br>
              <a:rPr lang="en-GB" sz="4400" dirty="0"/>
            </a:br>
            <a:endParaRPr lang="es-ES" sz="4400" dirty="0">
              <a:solidFill>
                <a:schemeClr val="bg1">
                  <a:lumMod val="50000"/>
                </a:schemeClr>
              </a:solidFill>
              <a:latin typeface="Calibri" charset="0"/>
            </a:endParaRPr>
          </a:p>
        </p:txBody>
      </p:sp>
      <p:sp>
        <p:nvSpPr>
          <p:cNvPr id="3" name="Rectangle 2"/>
          <p:cNvSpPr/>
          <p:nvPr/>
        </p:nvSpPr>
        <p:spPr>
          <a:xfrm>
            <a:off x="790575" y="2904869"/>
            <a:ext cx="7839075" cy="2751522"/>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Subjective - aggression, fatigue, low self-esteem</a:t>
            </a: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Behavioural - restlessness, emotional outbursts, taking drugs</a:t>
            </a: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Cognitive - inability to concentrate, mental blocks, hypersensitive</a:t>
            </a: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Physiological - sweating, dry mouth, increased heart rate</a:t>
            </a:r>
          </a:p>
          <a:p>
            <a:pPr>
              <a:lnSpc>
                <a:spcPct val="90000"/>
              </a:lnSpc>
            </a:pPr>
            <a:r>
              <a:rPr lang="en-GB" altLang="en-US" sz="2400" dirty="0">
                <a:latin typeface="Arial" panose="020B0604020202020204" pitchFamily="34" charset="0"/>
                <a:cs typeface="Arial" panose="020B0604020202020204" pitchFamily="34" charset="0"/>
              </a:rPr>
              <a:t>													(Cox, 1981)</a:t>
            </a:r>
          </a:p>
        </p:txBody>
      </p:sp>
    </p:spTree>
    <p:extLst>
      <p:ext uri="{BB962C8B-B14F-4D97-AF65-F5344CB8AC3E}">
        <p14:creationId xmlns:p14="http://schemas.microsoft.com/office/powerpoint/2010/main" val="1098681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It’s all about control</a:t>
            </a:r>
            <a:endParaRPr lang="es-ES" sz="4400" dirty="0">
              <a:solidFill>
                <a:schemeClr val="bg1">
                  <a:lumMod val="50000"/>
                </a:schemeClr>
              </a:solidFill>
              <a:latin typeface="Calibri" charset="0"/>
            </a:endParaRPr>
          </a:p>
        </p:txBody>
      </p:sp>
      <p:sp>
        <p:nvSpPr>
          <p:cNvPr id="3" name="Rectangle 2"/>
          <p:cNvSpPr/>
          <p:nvPr/>
        </p:nvSpPr>
        <p:spPr>
          <a:xfrm>
            <a:off x="1276350" y="2551837"/>
            <a:ext cx="6496050" cy="1569660"/>
          </a:xfrm>
          <a:prstGeom prst="rect">
            <a:avLst/>
          </a:prstGeom>
        </p:spPr>
        <p:txBody>
          <a:bodyPr wrap="square">
            <a:spAutoFit/>
          </a:bodyPr>
          <a:lstStyle/>
          <a:p>
            <a:r>
              <a:rPr lang="en-GB" altLang="en-US" sz="2400" dirty="0">
                <a:latin typeface="Arial" panose="020B0604020202020204" pitchFamily="34" charset="0"/>
                <a:cs typeface="Arial" panose="020B0604020202020204" pitchFamily="34" charset="0"/>
              </a:rPr>
              <a:t>“People who believe they can exercise control do not engage in apprehensive thinking, they are not bothered by threat or challenge”</a:t>
            </a:r>
          </a:p>
          <a:p>
            <a:r>
              <a:rPr lang="en-GB" altLang="en-US" sz="2400" dirty="0">
                <a:latin typeface="Arial" panose="020B0604020202020204" pitchFamily="34" charset="0"/>
                <a:cs typeface="Arial" panose="020B0604020202020204" pitchFamily="34" charset="0"/>
              </a:rPr>
              <a:t>								(Frydenberg, 1997)</a:t>
            </a:r>
          </a:p>
        </p:txBody>
      </p:sp>
    </p:spTree>
    <p:extLst>
      <p:ext uri="{BB962C8B-B14F-4D97-AF65-F5344CB8AC3E}">
        <p14:creationId xmlns:p14="http://schemas.microsoft.com/office/powerpoint/2010/main" val="2831066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1102380"/>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Need to promote:</a:t>
            </a:r>
            <a:endParaRPr lang="es-ES" sz="4400" dirty="0">
              <a:solidFill>
                <a:schemeClr val="bg1">
                  <a:lumMod val="50000"/>
                </a:schemeClr>
              </a:solidFill>
              <a:latin typeface="Calibri" charset="0"/>
            </a:endParaRPr>
          </a:p>
        </p:txBody>
      </p:sp>
      <p:sp>
        <p:nvSpPr>
          <p:cNvPr id="3" name="Rectangle 2"/>
          <p:cNvSpPr/>
          <p:nvPr/>
        </p:nvSpPr>
        <p:spPr>
          <a:xfrm>
            <a:off x="1562099" y="2967335"/>
            <a:ext cx="5895975" cy="646331"/>
          </a:xfrm>
          <a:prstGeom prst="rect">
            <a:avLst/>
          </a:prstGeom>
        </p:spPr>
        <p:txBody>
          <a:bodyPr wrap="square">
            <a:spAutoFit/>
          </a:bodyPr>
          <a:lstStyle/>
          <a:p>
            <a:pPr algn="ctr"/>
            <a:r>
              <a:rPr lang="en-GB" altLang="en-US" sz="3600" dirty="0">
                <a:latin typeface="Arial" panose="020B0604020202020204" pitchFamily="34" charset="0"/>
                <a:cs typeface="Arial" panose="020B0604020202020204" pitchFamily="34" charset="0"/>
              </a:rPr>
              <a:t>Autonomy and control</a:t>
            </a:r>
          </a:p>
        </p:txBody>
      </p:sp>
    </p:spTree>
    <p:extLst>
      <p:ext uri="{BB962C8B-B14F-4D97-AF65-F5344CB8AC3E}">
        <p14:creationId xmlns:p14="http://schemas.microsoft.com/office/powerpoint/2010/main" val="464582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941254"/>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Planning ahead strategy helps to achieve a sense of control</a:t>
            </a:r>
            <a:endParaRPr lang="es-ES" sz="4400" dirty="0">
              <a:solidFill>
                <a:schemeClr val="bg1">
                  <a:lumMod val="50000"/>
                </a:schemeClr>
              </a:solidFill>
              <a:latin typeface="Calibri" charset="0"/>
            </a:endParaRPr>
          </a:p>
        </p:txBody>
      </p:sp>
      <p:sp>
        <p:nvSpPr>
          <p:cNvPr id="3" name="Rectangle 2"/>
          <p:cNvSpPr/>
          <p:nvPr/>
        </p:nvSpPr>
        <p:spPr>
          <a:xfrm>
            <a:off x="1038225" y="2726889"/>
            <a:ext cx="7067550" cy="3046988"/>
          </a:xfrm>
          <a:prstGeom prst="rect">
            <a:avLst/>
          </a:prstGeom>
        </p:spPr>
        <p:txBody>
          <a:bodyPr wrap="square">
            <a:spAutoFit/>
          </a:bodyPr>
          <a:lstStyle/>
          <a:p>
            <a:pPr marL="609600" indent="-609600">
              <a:buFontTx/>
              <a:buAutoNum type="arabicPeriod"/>
            </a:pPr>
            <a:r>
              <a:rPr lang="en-GB" altLang="en-US" sz="2400" b="1" dirty="0">
                <a:latin typeface="Arial" panose="020B0604020202020204" pitchFamily="34" charset="0"/>
                <a:cs typeface="Arial" panose="020B0604020202020204" pitchFamily="34" charset="0"/>
              </a:rPr>
              <a:t>Imagine</a:t>
            </a:r>
            <a:r>
              <a:rPr lang="en-GB" altLang="en-US" sz="2400" dirty="0">
                <a:latin typeface="Arial" panose="020B0604020202020204" pitchFamily="34" charset="0"/>
                <a:cs typeface="Arial" panose="020B0604020202020204" pitchFamily="34" charset="0"/>
              </a:rPr>
              <a:t> - situation in detail</a:t>
            </a:r>
          </a:p>
          <a:p>
            <a:pPr marL="609600" indent="-609600">
              <a:buFontTx/>
              <a:buAutoNum type="arabicPeriod"/>
            </a:pPr>
            <a:r>
              <a:rPr lang="en-GB" altLang="en-US" sz="2400" b="1" dirty="0">
                <a:latin typeface="Arial" panose="020B0604020202020204" pitchFamily="34" charset="0"/>
                <a:cs typeface="Arial" panose="020B0604020202020204" pitchFamily="34" charset="0"/>
              </a:rPr>
              <a:t>Prepare</a:t>
            </a:r>
            <a:r>
              <a:rPr lang="en-GB" altLang="en-US" sz="2400" dirty="0">
                <a:latin typeface="Arial" panose="020B0604020202020204" pitchFamily="34" charset="0"/>
                <a:cs typeface="Arial" panose="020B0604020202020204" pitchFamily="34" charset="0"/>
              </a:rPr>
              <a:t> - seek support</a:t>
            </a:r>
          </a:p>
          <a:p>
            <a:pPr marL="609600" indent="-609600">
              <a:buFontTx/>
              <a:buAutoNum type="arabicPeriod"/>
            </a:pPr>
            <a:r>
              <a:rPr lang="en-GB" altLang="en-US" sz="2400" b="1" dirty="0">
                <a:latin typeface="Arial" panose="020B0604020202020204" pitchFamily="34" charset="0"/>
                <a:cs typeface="Arial" panose="020B0604020202020204" pitchFamily="34" charset="0"/>
              </a:rPr>
              <a:t>Be aware </a:t>
            </a:r>
            <a:r>
              <a:rPr lang="en-GB" altLang="en-US" sz="2400" dirty="0">
                <a:latin typeface="Arial" panose="020B0604020202020204" pitchFamily="34" charset="0"/>
                <a:cs typeface="Arial" panose="020B0604020202020204" pitchFamily="34" charset="0"/>
              </a:rPr>
              <a:t>of all possibilities and tell MIND to stay calm in each one</a:t>
            </a:r>
          </a:p>
          <a:p>
            <a:pPr marL="609600" indent="-609600">
              <a:buFontTx/>
              <a:buAutoNum type="arabicPeriod"/>
            </a:pPr>
            <a:r>
              <a:rPr lang="en-GB" altLang="en-US" sz="2400" b="1" dirty="0">
                <a:latin typeface="Arial" panose="020B0604020202020204" pitchFamily="34" charset="0"/>
                <a:cs typeface="Arial" panose="020B0604020202020204" pitchFamily="34" charset="0"/>
              </a:rPr>
              <a:t>Make contingency plans</a:t>
            </a:r>
            <a:r>
              <a:rPr lang="en-GB" altLang="en-US" sz="2400" dirty="0">
                <a:latin typeface="Arial" panose="020B0604020202020204" pitchFamily="34" charset="0"/>
                <a:cs typeface="Arial" panose="020B0604020202020204" pitchFamily="34" charset="0"/>
              </a:rPr>
              <a:t> - e.g. make notes for your presentation!</a:t>
            </a:r>
          </a:p>
          <a:p>
            <a:pPr marL="609600" indent="-609600">
              <a:buFontTx/>
              <a:buAutoNum type="arabicPeriod"/>
            </a:pPr>
            <a:r>
              <a:rPr lang="en-GB" altLang="en-US" sz="2400" b="1" dirty="0">
                <a:latin typeface="Arial" panose="020B0604020202020204" pitchFamily="34" charset="0"/>
                <a:cs typeface="Arial" panose="020B0604020202020204" pitchFamily="34" charset="0"/>
              </a:rPr>
              <a:t>Relax</a:t>
            </a:r>
            <a:r>
              <a:rPr lang="en-GB" altLang="en-US" sz="2400" dirty="0">
                <a:latin typeface="Arial" panose="020B0604020202020204" pitchFamily="34" charset="0"/>
                <a:cs typeface="Arial" panose="020B0604020202020204" pitchFamily="34" charset="0"/>
              </a:rPr>
              <a:t> - genuine relaxation before the event</a:t>
            </a:r>
          </a:p>
          <a:p>
            <a:pPr marL="609600" indent="-609600">
              <a:buFontTx/>
              <a:buAutoNum type="arabicPeriod"/>
            </a:pPr>
            <a:r>
              <a:rPr lang="en-GB" altLang="en-US" sz="2400" b="1" dirty="0">
                <a:latin typeface="Arial" panose="020B0604020202020204" pitchFamily="34" charset="0"/>
                <a:cs typeface="Arial" panose="020B0604020202020204" pitchFamily="34" charset="0"/>
              </a:rPr>
              <a:t>Unwind</a:t>
            </a:r>
            <a:r>
              <a:rPr lang="en-GB" altLang="en-US" sz="2400" dirty="0">
                <a:latin typeface="Arial" panose="020B0604020202020204" pitchFamily="34" charset="0"/>
                <a:cs typeface="Arial" panose="020B0604020202020204" pitchFamily="34" charset="0"/>
              </a:rPr>
              <a:t> - reward yourself</a:t>
            </a:r>
          </a:p>
        </p:txBody>
      </p:sp>
    </p:spTree>
    <p:extLst>
      <p:ext uri="{BB962C8B-B14F-4D97-AF65-F5344CB8AC3E}">
        <p14:creationId xmlns:p14="http://schemas.microsoft.com/office/powerpoint/2010/main" val="29056245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14922"/>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Implementing change – </a:t>
            </a:r>
          </a:p>
          <a:p>
            <a:pPr algn="ctr" eaLnBrk="1" hangingPunct="1"/>
            <a:r>
              <a:rPr lang="en-GB" sz="4400" dirty="0"/>
              <a:t>behavioural experiments</a:t>
            </a:r>
            <a:endParaRPr lang="es-ES" sz="4400" dirty="0">
              <a:solidFill>
                <a:schemeClr val="bg1">
                  <a:lumMod val="50000"/>
                </a:schemeClr>
              </a:solidFill>
              <a:latin typeface="Calibri" charset="0"/>
            </a:endParaRPr>
          </a:p>
        </p:txBody>
      </p:sp>
      <p:sp>
        <p:nvSpPr>
          <p:cNvPr id="3" name="Rectangle 2"/>
          <p:cNvSpPr/>
          <p:nvPr/>
        </p:nvSpPr>
        <p:spPr>
          <a:xfrm>
            <a:off x="1323975" y="2627263"/>
            <a:ext cx="6496050" cy="3785652"/>
          </a:xfrm>
          <a:prstGeom prst="rect">
            <a:avLst/>
          </a:prstGeom>
        </p:spPr>
        <p:txBody>
          <a:bodyPr wrap="square">
            <a:spAutoFit/>
          </a:bodyPr>
          <a:lstStyle/>
          <a:p>
            <a:r>
              <a:rPr lang="en-GB" altLang="en-US" sz="2400" b="1" dirty="0">
                <a:latin typeface="Arial" panose="020B0604020202020204" pitchFamily="34" charset="0"/>
                <a:cs typeface="Arial" panose="020B0604020202020204" pitchFamily="34" charset="0"/>
              </a:rPr>
              <a:t>Stages</a:t>
            </a:r>
          </a:p>
          <a:p>
            <a:r>
              <a:rPr lang="en-GB" altLang="en-US" sz="2400" dirty="0">
                <a:latin typeface="Arial" panose="020B0604020202020204" pitchFamily="34" charset="0"/>
                <a:cs typeface="Arial" panose="020B0604020202020204" pitchFamily="34" charset="0"/>
              </a:rPr>
              <a:t>1. Identify the unhelpful belief</a:t>
            </a:r>
          </a:p>
          <a:p>
            <a:r>
              <a:rPr lang="en-GB" altLang="en-US" sz="2400" dirty="0">
                <a:latin typeface="Arial" panose="020B0604020202020204" pitchFamily="34" charset="0"/>
                <a:cs typeface="Arial" panose="020B0604020202020204" pitchFamily="34" charset="0"/>
              </a:rPr>
              <a:t>2. identify the more helpful alternative</a:t>
            </a:r>
          </a:p>
          <a:p>
            <a:r>
              <a:rPr lang="en-GB" altLang="en-US" sz="2400" dirty="0">
                <a:latin typeface="Arial" panose="020B0604020202020204" pitchFamily="34" charset="0"/>
                <a:cs typeface="Arial" panose="020B0604020202020204" pitchFamily="34" charset="0"/>
              </a:rPr>
              <a:t>3. Test which belief is more accurate</a:t>
            </a:r>
          </a:p>
          <a:p>
            <a:r>
              <a:rPr lang="en-GB" altLang="en-US" sz="2400" dirty="0">
                <a:latin typeface="Arial" panose="020B0604020202020204" pitchFamily="34" charset="0"/>
                <a:cs typeface="Arial" panose="020B0604020202020204" pitchFamily="34" charset="0"/>
              </a:rPr>
              <a:t>4. Discuss the results of the test</a:t>
            </a:r>
          </a:p>
          <a:p>
            <a:endParaRPr lang="en-GB" altLang="en-US" sz="2400" b="1"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Outcome</a:t>
            </a:r>
          </a:p>
          <a:p>
            <a:endParaRPr lang="en-GB" altLang="en-US" sz="2400" b="1"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Evidence to challenge the core beliefs and NATs</a:t>
            </a:r>
          </a:p>
        </p:txBody>
      </p:sp>
    </p:spTree>
    <p:extLst>
      <p:ext uri="{BB962C8B-B14F-4D97-AF65-F5344CB8AC3E}">
        <p14:creationId xmlns:p14="http://schemas.microsoft.com/office/powerpoint/2010/main" val="3365962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76931"/>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More strategies to implement change</a:t>
            </a:r>
            <a:endParaRPr lang="es-ES" sz="4400" dirty="0">
              <a:solidFill>
                <a:schemeClr val="bg1">
                  <a:lumMod val="50000"/>
                </a:schemeClr>
              </a:solidFill>
              <a:latin typeface="Calibri" charset="0"/>
            </a:endParaRPr>
          </a:p>
        </p:txBody>
      </p:sp>
      <p:sp>
        <p:nvSpPr>
          <p:cNvPr id="3" name="Rectangle 2"/>
          <p:cNvSpPr/>
          <p:nvPr/>
        </p:nvSpPr>
        <p:spPr>
          <a:xfrm>
            <a:off x="373224" y="2493449"/>
            <a:ext cx="8528179" cy="3785652"/>
          </a:xfrm>
          <a:prstGeom prst="rect">
            <a:avLst/>
          </a:prstGeom>
        </p:spPr>
        <p:txBody>
          <a:bodyPr wrap="square">
            <a:spAutoFit/>
          </a:bodyPr>
          <a:lstStyle/>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Re-Framing </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Re-frame NATs into more balanced, positive, realistic thoughts. </a:t>
            </a:r>
          </a:p>
          <a:p>
            <a:pPr>
              <a:buClr>
                <a:schemeClr val="tx1"/>
              </a:buClr>
            </a:pP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Distraction </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Describing what you see.</a:t>
            </a: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Get absorbed</a:t>
            </a: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Self-talk</a:t>
            </a: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Bin them</a:t>
            </a:r>
          </a:p>
          <a:p>
            <a:pPr marL="342900" indent="-342900">
              <a:buClr>
                <a:schemeClr val="tx1"/>
              </a:buClr>
              <a:buFont typeface="Arial" panose="020B0604020202020204" pitchFamily="34" charset="0"/>
              <a:buChar char="•"/>
            </a:pPr>
            <a:r>
              <a:rPr lang="en-US" altLang="en-US" sz="2400" dirty="0">
                <a:latin typeface="Arial" panose="020B0604020202020204" pitchFamily="34" charset="0"/>
                <a:ea typeface="MS PGothic" panose="020B0600070205080204" pitchFamily="34" charset="-128"/>
                <a:cs typeface="Arial" panose="020B0604020202020204" pitchFamily="34" charset="0"/>
              </a:rPr>
              <a:t>Top talk</a:t>
            </a: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8033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95088"/>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And more</a:t>
            </a:r>
            <a:endParaRPr lang="es-ES" sz="4400" dirty="0">
              <a:solidFill>
                <a:schemeClr val="bg1">
                  <a:lumMod val="50000"/>
                </a:schemeClr>
              </a:solidFill>
              <a:latin typeface="Calibri" charset="0"/>
            </a:endParaRPr>
          </a:p>
        </p:txBody>
      </p:sp>
      <p:sp>
        <p:nvSpPr>
          <p:cNvPr id="3" name="Rectangle 2"/>
          <p:cNvSpPr/>
          <p:nvPr/>
        </p:nvSpPr>
        <p:spPr>
          <a:xfrm>
            <a:off x="811763" y="2413338"/>
            <a:ext cx="7539135" cy="3046988"/>
          </a:xfrm>
          <a:prstGeom prst="rect">
            <a:avLst/>
          </a:prstGeom>
        </p:spPr>
        <p:txBody>
          <a:bodyPr wrap="square">
            <a:spAutoFit/>
          </a:bodyPr>
          <a:lstStyle/>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Positive Automatic Thoughts</a:t>
            </a:r>
            <a:endParaRPr lang="en-GB"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Weekly Positive Diary, for example: ‘Someone said hello.’ </a:t>
            </a:r>
            <a:br>
              <a:rPr lang="en-GB" altLang="en-US" sz="2400" dirty="0">
                <a:latin typeface="Arial" panose="020B0604020202020204" pitchFamily="34" charset="0"/>
                <a:ea typeface="MS PGothic" panose="020B0600070205080204" pitchFamily="34" charset="-128"/>
                <a:cs typeface="Arial" panose="020B0604020202020204" pitchFamily="34" charset="0"/>
              </a:rPr>
            </a:br>
            <a:r>
              <a:rPr lang="en-GB" altLang="en-US" sz="2400" dirty="0">
                <a:latin typeface="Arial" panose="020B0604020202020204" pitchFamily="34" charset="0"/>
                <a:ea typeface="MS PGothic" panose="020B0600070205080204" pitchFamily="34" charset="-128"/>
                <a:cs typeface="Arial" panose="020B0604020202020204" pitchFamily="34" charset="0"/>
              </a:rPr>
              <a:t>‘My teacher praised me.’</a:t>
            </a:r>
            <a:endParaRPr lang="en-US" altLang="en-US" sz="2400" dirty="0">
              <a:latin typeface="Arial" panose="020B0604020202020204" pitchFamily="34" charset="0"/>
              <a:ea typeface="MS PGothic" panose="020B0600070205080204" pitchFamily="34" charset="-128"/>
              <a:cs typeface="Arial" panose="020B0604020202020204" pitchFamily="34" charset="0"/>
            </a:endParaRPr>
          </a:p>
          <a:p>
            <a:pPr>
              <a:buClr>
                <a:schemeClr val="tx1"/>
              </a:buClr>
            </a:pPr>
            <a:endParaRPr lang="en-GB" altLang="en-US" sz="2400" b="1" dirty="0">
              <a:latin typeface="Arial" panose="020B0604020202020204" pitchFamily="34" charset="0"/>
              <a:ea typeface="MS PGothic" panose="020B0600070205080204" pitchFamily="34" charset="-128"/>
              <a:cs typeface="Arial" panose="020B0604020202020204" pitchFamily="34" charset="0"/>
            </a:endParaRPr>
          </a:p>
          <a:p>
            <a:pPr>
              <a:buClr>
                <a:schemeClr val="tx1"/>
              </a:buClr>
            </a:pPr>
            <a:r>
              <a:rPr lang="en-GB" altLang="en-US" sz="2400" b="1" dirty="0">
                <a:latin typeface="Arial" panose="020B0604020202020204" pitchFamily="34" charset="0"/>
                <a:ea typeface="MS PGothic" panose="020B0600070205080204" pitchFamily="34" charset="-128"/>
                <a:cs typeface="Arial" panose="020B0604020202020204" pitchFamily="34" charset="0"/>
              </a:rPr>
              <a:t>Goal Setting</a:t>
            </a: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Set realistic goals</a:t>
            </a:r>
          </a:p>
          <a:p>
            <a:pPr>
              <a:buClr>
                <a:schemeClr val="tx1"/>
              </a:buClr>
              <a:buFont typeface="Times" panose="02020603060405020304" pitchFamily="18" charset="0"/>
              <a:buChar char="•"/>
            </a:pPr>
            <a:r>
              <a:rPr lang="en-GB" altLang="en-US" sz="2400" dirty="0">
                <a:latin typeface="Arial" panose="020B0604020202020204" pitchFamily="34" charset="0"/>
                <a:ea typeface="MS PGothic" panose="020B0600070205080204" pitchFamily="34" charset="-128"/>
                <a:cs typeface="Arial" panose="020B0604020202020204" pitchFamily="34" charset="0"/>
              </a:rPr>
              <a:t>Practise strategies</a:t>
            </a:r>
          </a:p>
        </p:txBody>
      </p:sp>
    </p:spTree>
    <p:extLst>
      <p:ext uri="{BB962C8B-B14F-4D97-AF65-F5344CB8AC3E}">
        <p14:creationId xmlns:p14="http://schemas.microsoft.com/office/powerpoint/2010/main" val="4269061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1193471"/>
            <a:ext cx="9144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Prevention is better than cure</a:t>
            </a:r>
            <a:endParaRPr lang="es-ES" sz="4400" dirty="0">
              <a:solidFill>
                <a:schemeClr val="bg1">
                  <a:lumMod val="50000"/>
                </a:schemeClr>
              </a:solidFill>
              <a:latin typeface="Calibri" charset="0"/>
            </a:endParaRPr>
          </a:p>
        </p:txBody>
      </p:sp>
      <p:sp>
        <p:nvSpPr>
          <p:cNvPr id="3" name="Rectangle 2"/>
          <p:cNvSpPr/>
          <p:nvPr/>
        </p:nvSpPr>
        <p:spPr>
          <a:xfrm>
            <a:off x="583163" y="2510287"/>
            <a:ext cx="7977673" cy="2419124"/>
          </a:xfrm>
          <a:prstGeom prst="rect">
            <a:avLst/>
          </a:prstGeom>
        </p:spPr>
        <p:txBody>
          <a:bodyPr wrap="square">
            <a:spAutoFit/>
          </a:bodyPr>
          <a:lstStyle/>
          <a:p>
            <a:pPr marL="274320" indent="-274320">
              <a:lnSpc>
                <a:spcPct val="90000"/>
              </a:lnSpc>
              <a:defRPr/>
            </a:pPr>
            <a:r>
              <a:rPr lang="en-GB" sz="2800" b="1" dirty="0">
                <a:latin typeface="Arial" panose="020B0604020202020204" pitchFamily="34" charset="0"/>
                <a:cs typeface="Arial" panose="020B0604020202020204" pitchFamily="34" charset="0"/>
              </a:rPr>
              <a:t>Logical conclusion </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provide copious opportunities to learn and practice a range of effective self management skills</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increase ability to cope with stress and anxiety</a:t>
            </a:r>
          </a:p>
          <a:p>
            <a:pPr marL="342900" indent="-342900">
              <a:lnSpc>
                <a:spcPct val="90000"/>
              </a:lnSpc>
              <a:buFont typeface="Arial" panose="020B0604020202020204" pitchFamily="34" charset="0"/>
              <a:buChar char="•"/>
              <a:defRPr/>
            </a:pPr>
            <a:r>
              <a:rPr lang="en-GB" sz="2800" dirty="0">
                <a:latin typeface="Arial" panose="020B0604020202020204" pitchFamily="34" charset="0"/>
                <a:cs typeface="Arial" panose="020B0604020202020204" pitchFamily="34" charset="0"/>
              </a:rPr>
              <a:t>maintain locus of	control and well-being</a:t>
            </a:r>
          </a:p>
        </p:txBody>
      </p:sp>
    </p:spTree>
    <p:extLst>
      <p:ext uri="{BB962C8B-B14F-4D97-AF65-F5344CB8AC3E}">
        <p14:creationId xmlns:p14="http://schemas.microsoft.com/office/powerpoint/2010/main" val="2095338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689169"/>
            <a:ext cx="91440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Teach all students methods of coping with stress and anxiety</a:t>
            </a:r>
            <a:endParaRPr lang="es-ES" sz="4000" dirty="0">
              <a:solidFill>
                <a:schemeClr val="bg1">
                  <a:lumMod val="50000"/>
                </a:schemeClr>
              </a:solidFill>
              <a:latin typeface="Calibri" charset="0"/>
            </a:endParaRPr>
          </a:p>
        </p:txBody>
      </p:sp>
      <p:sp>
        <p:nvSpPr>
          <p:cNvPr id="3" name="Rectangle 2"/>
          <p:cNvSpPr/>
          <p:nvPr/>
        </p:nvSpPr>
        <p:spPr>
          <a:xfrm>
            <a:off x="2286000" y="1883433"/>
            <a:ext cx="4572000" cy="4893647"/>
          </a:xfrm>
          <a:prstGeom prst="rect">
            <a:avLst/>
          </a:prstGeom>
        </p:spPr>
        <p:txBody>
          <a:bodyPr>
            <a:spAutoFit/>
          </a:bodyPr>
          <a:lstStyle/>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Diet</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Relaxation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Meditation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Time management</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Physical exercise</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Additional training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Counselling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Reframing</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Improving social support networks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Peer support groups</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Improved resource allocation</a:t>
            </a:r>
          </a:p>
          <a:p>
            <a:pPr marL="342900" indent="-342900">
              <a:buFont typeface="Arial" panose="020B0604020202020204" pitchFamily="34" charset="0"/>
              <a:buChar char="•"/>
              <a:defRPr/>
            </a:pPr>
            <a:r>
              <a:rPr lang="en-GB" sz="2400" dirty="0">
                <a:latin typeface="Arial" panose="020B0604020202020204" pitchFamily="34" charset="0"/>
                <a:cs typeface="Arial" panose="020B0604020202020204" pitchFamily="34" charset="0"/>
              </a:rPr>
              <a:t>Self-analysis</a:t>
            </a:r>
          </a:p>
        </p:txBody>
      </p:sp>
    </p:spTree>
    <p:extLst>
      <p:ext uri="{BB962C8B-B14F-4D97-AF65-F5344CB8AC3E}">
        <p14:creationId xmlns:p14="http://schemas.microsoft.com/office/powerpoint/2010/main" val="1179161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0" y="805397"/>
            <a:ext cx="9144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Thank you for listening and participating</a:t>
            </a:r>
            <a:endParaRPr lang="es-ES" sz="4400" dirty="0">
              <a:solidFill>
                <a:schemeClr val="bg1">
                  <a:lumMod val="50000"/>
                </a:schemeClr>
              </a:solidFill>
              <a:latin typeface="Calibri" charset="0"/>
            </a:endParaRPr>
          </a:p>
        </p:txBody>
      </p:sp>
      <p:pic>
        <p:nvPicPr>
          <p:cNvPr id="7" name="Picture 4" descr="C:\Users\Tina\Pictures\happy children 3.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51000" y="2344738"/>
            <a:ext cx="5842000" cy="3657600"/>
          </a:xfrm>
          <a:noFill/>
        </p:spPr>
      </p:pic>
    </p:spTree>
    <p:extLst>
      <p:ext uri="{BB962C8B-B14F-4D97-AF65-F5344CB8AC3E}">
        <p14:creationId xmlns:p14="http://schemas.microsoft.com/office/powerpoint/2010/main" val="4112377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389</TotalTime>
  <Words>3068</Words>
  <Application>Microsoft Office PowerPoint</Application>
  <PresentationFormat>On-screen Show (4:3)</PresentationFormat>
  <Paragraphs>382</Paragraphs>
  <Slides>50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Arial Narrow</vt:lpstr>
      <vt:lpstr>Calibri</vt:lpstr>
      <vt:lpstr>Tahoma</vt:lpstr>
      <vt:lpstr>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Aardvark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Heath-Smith</dc:creator>
  <cp:lastModifiedBy>Scott Ighavongbe-Patrick</cp:lastModifiedBy>
  <cp:revision>47</cp:revision>
  <dcterms:created xsi:type="dcterms:W3CDTF">2012-12-28T16:36:22Z</dcterms:created>
  <dcterms:modified xsi:type="dcterms:W3CDTF">2021-12-14T12:41:56Z</dcterms:modified>
</cp:coreProperties>
</file>