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2"/>
  </p:notesMasterIdLst>
  <p:sldIdLst>
    <p:sldId id="269" r:id="rId2"/>
    <p:sldId id="261" r:id="rId3"/>
    <p:sldId id="270" r:id="rId4"/>
    <p:sldId id="271" r:id="rId5"/>
    <p:sldId id="272" r:id="rId6"/>
    <p:sldId id="273" r:id="rId7"/>
    <p:sldId id="274" r:id="rId8"/>
    <p:sldId id="275" r:id="rId9"/>
    <p:sldId id="276" r:id="rId10"/>
    <p:sldId id="277" r:id="rId11"/>
    <p:sldId id="278" r:id="rId12"/>
    <p:sldId id="279" r:id="rId13"/>
    <p:sldId id="280" r:id="rId14"/>
    <p:sldId id="281" r:id="rId15"/>
    <p:sldId id="282" r:id="rId16"/>
    <p:sldId id="283" r:id="rId17"/>
    <p:sldId id="284" r:id="rId18"/>
    <p:sldId id="285" r:id="rId19"/>
    <p:sldId id="286" r:id="rId20"/>
    <p:sldId id="287" r:id="rId21"/>
    <p:sldId id="288" r:id="rId22"/>
    <p:sldId id="289" r:id="rId23"/>
    <p:sldId id="290" r:id="rId24"/>
    <p:sldId id="291" r:id="rId25"/>
    <p:sldId id="292" r:id="rId26"/>
    <p:sldId id="293" r:id="rId27"/>
    <p:sldId id="294" r:id="rId28"/>
    <p:sldId id="295" r:id="rId29"/>
    <p:sldId id="296" r:id="rId30"/>
    <p:sldId id="297" r:id="rId31"/>
    <p:sldId id="298" r:id="rId32"/>
    <p:sldId id="299" r:id="rId33"/>
    <p:sldId id="300" r:id="rId34"/>
    <p:sldId id="301" r:id="rId35"/>
    <p:sldId id="302" r:id="rId36"/>
    <p:sldId id="303" r:id="rId37"/>
    <p:sldId id="304" r:id="rId38"/>
    <p:sldId id="305" r:id="rId39"/>
    <p:sldId id="306" r:id="rId40"/>
    <p:sldId id="307" r:id="rId41"/>
    <p:sldId id="308" r:id="rId42"/>
    <p:sldId id="309" r:id="rId43"/>
    <p:sldId id="310" r:id="rId44"/>
    <p:sldId id="311" r:id="rId45"/>
    <p:sldId id="312" r:id="rId46"/>
    <p:sldId id="313" r:id="rId47"/>
    <p:sldId id="314" r:id="rId48"/>
    <p:sldId id="315" r:id="rId49"/>
    <p:sldId id="316" r:id="rId50"/>
    <p:sldId id="317" r:id="rId5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EB333"/>
    <a:srgbClr val="0092D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48502" autoAdjust="0"/>
  </p:normalViewPr>
  <p:slideViewPr>
    <p:cSldViewPr snapToGrid="0" snapToObjects="1">
      <p:cViewPr varScale="1">
        <p:scale>
          <a:sx n="32" d="100"/>
          <a:sy n="32" d="100"/>
        </p:scale>
        <p:origin x="-990" y="-78"/>
      </p:cViewPr>
      <p:guideLst>
        <p:guide orient="horz" pos="2160"/>
        <p:guide pos="2880"/>
      </p:guideLst>
    </p:cSldViewPr>
  </p:slideViewPr>
  <p:notesTextViewPr>
    <p:cViewPr>
      <p:scale>
        <a:sx n="100" d="100"/>
        <a:sy n="100" d="100"/>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19C2067-3453-E84B-9E57-A701B6F1AD26}" type="datetimeFigureOut">
              <a:rPr lang="en-US" smtClean="0"/>
              <a:t>1/18/2017</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2425465-BF17-804A-B956-03B2B34BD53A}" type="slidenum">
              <a:rPr lang="en-US" smtClean="0"/>
              <a:t>‹#›</a:t>
            </a:fld>
            <a:endParaRPr lang="en-US" dirty="0"/>
          </a:p>
        </p:txBody>
      </p:sp>
    </p:spTree>
    <p:extLst>
      <p:ext uri="{BB962C8B-B14F-4D97-AF65-F5344CB8AC3E}">
        <p14:creationId xmlns:p14="http://schemas.microsoft.com/office/powerpoint/2010/main" val="2740216222"/>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altLang="en-US" dirty="0" smtClean="0">
                <a:latin typeface="Arial" panose="020B0604020202020204" pitchFamily="34" charset="0"/>
              </a:rPr>
              <a:t>Defining stress is quite a difficult and complex process given that it means different things to different people (in a similar vein as happiness, failure or success).  Even though stress is a normal part of everyday life, too much stress makes young people become anxious, exhausted, tired and unable to function appropriately both inside and outside school. </a:t>
            </a:r>
          </a:p>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5</a:t>
            </a:fld>
            <a:endParaRPr lang="en-US" dirty="0"/>
          </a:p>
        </p:txBody>
      </p:sp>
    </p:spTree>
    <p:extLst>
      <p:ext uri="{BB962C8B-B14F-4D97-AF65-F5344CB8AC3E}">
        <p14:creationId xmlns:p14="http://schemas.microsoft.com/office/powerpoint/2010/main" val="40517192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altLang="en-US" dirty="0" smtClean="0">
                <a:latin typeface="Arial" panose="020B0604020202020204" pitchFamily="34" charset="0"/>
              </a:rPr>
              <a:t>Depression is when a child’s mood is very low, with no obvious cause.  Between the ages of eight and puberty, around 2 to 4% of children are diagnosed with depression, after puberty it is around 4 to 8%, and it is more common in girls than boys. The symptoms of depression are very similar to those in adults: </a:t>
            </a:r>
          </a:p>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15</a:t>
            </a:fld>
            <a:endParaRPr lang="en-US" dirty="0"/>
          </a:p>
        </p:txBody>
      </p:sp>
    </p:spTree>
    <p:extLst>
      <p:ext uri="{BB962C8B-B14F-4D97-AF65-F5344CB8AC3E}">
        <p14:creationId xmlns:p14="http://schemas.microsoft.com/office/powerpoint/2010/main" val="23543762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ltLang="en-US" dirty="0" smtClean="0">
                <a:latin typeface="Arial" panose="020B0604020202020204" pitchFamily="34" charset="0"/>
              </a:rPr>
              <a:t>Read over facts about anxiety.</a:t>
            </a:r>
          </a:p>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24</a:t>
            </a:fld>
            <a:endParaRPr lang="en-US" dirty="0"/>
          </a:p>
        </p:txBody>
      </p:sp>
    </p:spTree>
    <p:extLst>
      <p:ext uri="{BB962C8B-B14F-4D97-AF65-F5344CB8AC3E}">
        <p14:creationId xmlns:p14="http://schemas.microsoft.com/office/powerpoint/2010/main" val="41594376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ltLang="en-US" dirty="0" smtClean="0">
                <a:latin typeface="Arial" panose="020B0604020202020204" pitchFamily="34" charset="0"/>
              </a:rPr>
              <a:t>Read through symptoms of anxiety and answer any questions.  People who present with somatic complaints are presenting symptoms that are caused by mental processes rather than immediate physiological causes (e.g., someone may “fake” being sick to get out of an anxiety-provoking situation). </a:t>
            </a:r>
          </a:p>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27</a:t>
            </a:fld>
            <a:endParaRPr lang="en-US" dirty="0"/>
          </a:p>
        </p:txBody>
      </p:sp>
    </p:spTree>
    <p:extLst>
      <p:ext uri="{BB962C8B-B14F-4D97-AF65-F5344CB8AC3E}">
        <p14:creationId xmlns:p14="http://schemas.microsoft.com/office/powerpoint/2010/main" val="24165878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ltLang="en-US" dirty="0" smtClean="0">
                <a:latin typeface="Arial" panose="020B0604020202020204" pitchFamily="34" charset="0"/>
              </a:rPr>
              <a:t>Read through different types of anxiety disorders.  You may want to begin by saying that you will be defining the following disorders:  Generalized Anxiety Disorder, Post-Traumatic Stress Disorder, Panic Disorders, Specific Phobias, Social Phobia, Separation Anxiety Disorder, and Obsessive Compulsive Disorder.</a:t>
            </a:r>
          </a:p>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28</a:t>
            </a:fld>
            <a:endParaRPr lang="en-US" dirty="0"/>
          </a:p>
        </p:txBody>
      </p:sp>
    </p:spTree>
    <p:extLst>
      <p:ext uri="{BB962C8B-B14F-4D97-AF65-F5344CB8AC3E}">
        <p14:creationId xmlns:p14="http://schemas.microsoft.com/office/powerpoint/2010/main" val="33060977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smtClean="0">
                <a:latin typeface="Arial" panose="020B0604020202020204" pitchFamily="34" charset="0"/>
              </a:rPr>
              <a:t>Comorbidity - the presence of one or more disorders (or diseases) in addition to a primary disease or disorder. </a:t>
            </a:r>
          </a:p>
          <a:p>
            <a:pPr eaLnBrk="1" hangingPunct="1"/>
            <a:endParaRPr lang="en-US" altLang="en-US" dirty="0" smtClean="0">
              <a:latin typeface="Arial" panose="020B0604020202020204" pitchFamily="34" charset="0"/>
            </a:endParaRPr>
          </a:p>
          <a:p>
            <a:pPr eaLnBrk="1" hangingPunct="1"/>
            <a:r>
              <a:rPr lang="en-US" altLang="en-US" dirty="0" smtClean="0">
                <a:latin typeface="Arial" panose="020B0604020202020204" pitchFamily="34" charset="0"/>
              </a:rPr>
              <a:t>Sometimes anxiety masks itself in symptoms that would lead you to a different diagnosis.  Read through ADHD example…explain that although these symptoms lead you to think that the client presents with ADHD, the client may instead present with an anxiety disorder or may be displaying both.  The key is to determine which disorder is the primary disorder.</a:t>
            </a:r>
          </a:p>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31</a:t>
            </a:fld>
            <a:endParaRPr lang="en-US" dirty="0"/>
          </a:p>
        </p:txBody>
      </p:sp>
    </p:spTree>
    <p:extLst>
      <p:ext uri="{BB962C8B-B14F-4D97-AF65-F5344CB8AC3E}">
        <p14:creationId xmlns:p14="http://schemas.microsoft.com/office/powerpoint/2010/main" val="16955046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ltLang="en-US" dirty="0" smtClean="0">
                <a:latin typeface="Arial" panose="020B0604020202020204" pitchFamily="34" charset="0"/>
              </a:rPr>
              <a:t>Biofeedback is a treatment technique in which people are trained to improve their health by using signals from their own bodies.   It is used to help tense and anxious clients learn to relax. </a:t>
            </a:r>
          </a:p>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32</a:t>
            </a:fld>
            <a:endParaRPr lang="en-US" dirty="0"/>
          </a:p>
        </p:txBody>
      </p:sp>
    </p:spTree>
    <p:extLst>
      <p:ext uri="{BB962C8B-B14F-4D97-AF65-F5344CB8AC3E}">
        <p14:creationId xmlns:p14="http://schemas.microsoft.com/office/powerpoint/2010/main" val="11045401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ltLang="en-US" dirty="0" smtClean="0">
                <a:latin typeface="Arial" panose="020B0604020202020204" pitchFamily="34" charset="0"/>
              </a:rPr>
              <a:t>You may want to explain a little about relaxation in the classroom…teach students to breathe in slowly through the nose, and out through the mouth as if they were filling up a balloon with air and then letting it out.  Children should breathe in to the count of 5, and out to the count of 5 which means “Breathe in, two, three, four, five, and out, two, three, four, five” (at a rate of about one count per second); Adolescents should breathe in and out to the count of 8 and have them take 3 normal breaths in between deep breaths.</a:t>
            </a:r>
          </a:p>
          <a:p>
            <a:endParaRPr lang="en-GB" b="1" dirty="0"/>
          </a:p>
        </p:txBody>
      </p:sp>
      <p:sp>
        <p:nvSpPr>
          <p:cNvPr id="4" name="Slide Number Placeholder 3"/>
          <p:cNvSpPr>
            <a:spLocks noGrp="1"/>
          </p:cNvSpPr>
          <p:nvPr>
            <p:ph type="sldNum" sz="quarter" idx="10"/>
          </p:nvPr>
        </p:nvSpPr>
        <p:spPr/>
        <p:txBody>
          <a:bodyPr/>
          <a:lstStyle/>
          <a:p>
            <a:fld id="{52425465-BF17-804A-B956-03B2B34BD53A}" type="slidenum">
              <a:rPr lang="en-US" smtClean="0"/>
              <a:t>33</a:t>
            </a:fld>
            <a:endParaRPr lang="en-US" dirty="0"/>
          </a:p>
        </p:txBody>
      </p:sp>
    </p:spTree>
    <p:extLst>
      <p:ext uri="{BB962C8B-B14F-4D97-AF65-F5344CB8AC3E}">
        <p14:creationId xmlns:p14="http://schemas.microsoft.com/office/powerpoint/2010/main" val="12678605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36</a:t>
            </a:fld>
            <a:endParaRPr lang="en-US" dirty="0"/>
          </a:p>
        </p:txBody>
      </p:sp>
    </p:spTree>
    <p:extLst>
      <p:ext uri="{BB962C8B-B14F-4D97-AF65-F5344CB8AC3E}">
        <p14:creationId xmlns:p14="http://schemas.microsoft.com/office/powerpoint/2010/main" val="34684345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smtClean="0"/>
              <a:t>Click to edit Master subtitle style</a:t>
            </a:r>
            <a:endParaRPr lang="en-US"/>
          </a:p>
        </p:txBody>
      </p:sp>
      <p:sp>
        <p:nvSpPr>
          <p:cNvPr id="4" name="Date Placeholder 3"/>
          <p:cNvSpPr>
            <a:spLocks noGrp="1"/>
          </p:cNvSpPr>
          <p:nvPr>
            <p:ph type="dt" sz="half" idx="10"/>
          </p:nvPr>
        </p:nvSpPr>
        <p:spPr/>
        <p:txBody>
          <a:bodyPr/>
          <a:lstStyle/>
          <a:p>
            <a:fld id="{DF491FA2-DBAF-8948-B0AA-F8218DAC9472}" type="datetimeFigureOut">
              <a:rPr lang="en-US" smtClean="0"/>
              <a:t>1/18/2017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699481E-959F-0A4C-89CF-13A902D3D06F}" type="slidenum">
              <a:rPr lang="en-US" smtClean="0"/>
              <a:t>‹#›</a:t>
            </a:fld>
            <a:endParaRPr lang="en-US" dirty="0"/>
          </a:p>
        </p:txBody>
      </p:sp>
    </p:spTree>
    <p:extLst>
      <p:ext uri="{BB962C8B-B14F-4D97-AF65-F5344CB8AC3E}">
        <p14:creationId xmlns:p14="http://schemas.microsoft.com/office/powerpoint/2010/main" val="35768243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idx="1"/>
          </p:nvPr>
        </p:nvSpPr>
        <p:spPr/>
        <p:txBody>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p>
            <a:fld id="{DF491FA2-DBAF-8948-B0AA-F8218DAC9472}" type="datetimeFigureOut">
              <a:rPr lang="en-US" smtClean="0"/>
              <a:t>1/18/2017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699481E-959F-0A4C-89CF-13A902D3D06F}" type="slidenum">
              <a:rPr lang="en-US" smtClean="0"/>
              <a:t>‹#›</a:t>
            </a:fld>
            <a:endParaRPr lang="en-US" dirty="0"/>
          </a:p>
        </p:txBody>
      </p:sp>
    </p:spTree>
    <p:extLst>
      <p:ext uri="{BB962C8B-B14F-4D97-AF65-F5344CB8AC3E}">
        <p14:creationId xmlns:p14="http://schemas.microsoft.com/office/powerpoint/2010/main" val="24704356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smtClean="0"/>
              <a:t>Click to edit Master text styles</a:t>
            </a:r>
          </a:p>
        </p:txBody>
      </p:sp>
      <p:sp>
        <p:nvSpPr>
          <p:cNvPr id="4" name="Date Placeholder 3"/>
          <p:cNvSpPr>
            <a:spLocks noGrp="1"/>
          </p:cNvSpPr>
          <p:nvPr>
            <p:ph type="dt" sz="half" idx="10"/>
          </p:nvPr>
        </p:nvSpPr>
        <p:spPr/>
        <p:txBody>
          <a:bodyPr/>
          <a:lstStyle/>
          <a:p>
            <a:fld id="{DF491FA2-DBAF-8948-B0AA-F8218DAC9472}" type="datetimeFigureOut">
              <a:rPr lang="en-US" smtClean="0"/>
              <a:t>1/18/2017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699481E-959F-0A4C-89CF-13A902D3D06F}" type="slidenum">
              <a:rPr lang="en-US" smtClean="0"/>
              <a:t>‹#›</a:t>
            </a:fld>
            <a:endParaRPr lang="en-US" dirty="0"/>
          </a:p>
        </p:txBody>
      </p:sp>
    </p:spTree>
    <p:extLst>
      <p:ext uri="{BB962C8B-B14F-4D97-AF65-F5344CB8AC3E}">
        <p14:creationId xmlns:p14="http://schemas.microsoft.com/office/powerpoint/2010/main" val="41882561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Date Placeholder 4"/>
          <p:cNvSpPr>
            <a:spLocks noGrp="1"/>
          </p:cNvSpPr>
          <p:nvPr>
            <p:ph type="dt" sz="half" idx="10"/>
          </p:nvPr>
        </p:nvSpPr>
        <p:spPr/>
        <p:txBody>
          <a:bodyPr/>
          <a:lstStyle/>
          <a:p>
            <a:fld id="{DF491FA2-DBAF-8948-B0AA-F8218DAC9472}" type="datetimeFigureOut">
              <a:rPr lang="en-US" smtClean="0"/>
              <a:t>1/18/2017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699481E-959F-0A4C-89CF-13A902D3D06F}" type="slidenum">
              <a:rPr lang="en-US" smtClean="0"/>
              <a:t>‹#›</a:t>
            </a:fld>
            <a:endParaRPr lang="en-US" dirty="0"/>
          </a:p>
        </p:txBody>
      </p:sp>
    </p:spTree>
    <p:extLst>
      <p:ext uri="{BB962C8B-B14F-4D97-AF65-F5344CB8AC3E}">
        <p14:creationId xmlns:p14="http://schemas.microsoft.com/office/powerpoint/2010/main" val="20808463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7" name="Date Placeholder 6"/>
          <p:cNvSpPr>
            <a:spLocks noGrp="1"/>
          </p:cNvSpPr>
          <p:nvPr>
            <p:ph type="dt" sz="half" idx="10"/>
          </p:nvPr>
        </p:nvSpPr>
        <p:spPr/>
        <p:txBody>
          <a:bodyPr/>
          <a:lstStyle/>
          <a:p>
            <a:fld id="{DF491FA2-DBAF-8948-B0AA-F8218DAC9472}" type="datetimeFigureOut">
              <a:rPr lang="en-US" smtClean="0"/>
              <a:t>1/18/2017</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699481E-959F-0A4C-89CF-13A902D3D06F}" type="slidenum">
              <a:rPr lang="en-US" smtClean="0"/>
              <a:t>‹#›</a:t>
            </a:fld>
            <a:endParaRPr lang="en-US" dirty="0"/>
          </a:p>
        </p:txBody>
      </p:sp>
    </p:spTree>
    <p:extLst>
      <p:ext uri="{BB962C8B-B14F-4D97-AF65-F5344CB8AC3E}">
        <p14:creationId xmlns:p14="http://schemas.microsoft.com/office/powerpoint/2010/main" val="18353755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Date Placeholder 2"/>
          <p:cNvSpPr>
            <a:spLocks noGrp="1"/>
          </p:cNvSpPr>
          <p:nvPr>
            <p:ph type="dt" sz="half" idx="10"/>
          </p:nvPr>
        </p:nvSpPr>
        <p:spPr/>
        <p:txBody>
          <a:bodyPr/>
          <a:lstStyle/>
          <a:p>
            <a:fld id="{DF491FA2-DBAF-8948-B0AA-F8218DAC9472}" type="datetimeFigureOut">
              <a:rPr lang="en-US" smtClean="0"/>
              <a:t>1/18/2017</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699481E-959F-0A4C-89CF-13A902D3D06F}" type="slidenum">
              <a:rPr lang="en-US" smtClean="0"/>
              <a:t>‹#›</a:t>
            </a:fld>
            <a:endParaRPr lang="en-US" dirty="0"/>
          </a:p>
        </p:txBody>
      </p:sp>
    </p:spTree>
    <p:extLst>
      <p:ext uri="{BB962C8B-B14F-4D97-AF65-F5344CB8AC3E}">
        <p14:creationId xmlns:p14="http://schemas.microsoft.com/office/powerpoint/2010/main" val="31137346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F491FA2-DBAF-8948-B0AA-F8218DAC9472}" type="datetimeFigureOut">
              <a:rPr lang="en-US" smtClean="0"/>
              <a:t>1/18/2017</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699481E-959F-0A4C-89CF-13A902D3D06F}" type="slidenum">
              <a:rPr lang="en-US" smtClean="0"/>
              <a:t>‹#›</a:t>
            </a:fld>
            <a:endParaRPr lang="en-US" dirty="0"/>
          </a:p>
        </p:txBody>
      </p:sp>
    </p:spTree>
    <p:extLst>
      <p:ext uri="{BB962C8B-B14F-4D97-AF65-F5344CB8AC3E}">
        <p14:creationId xmlns:p14="http://schemas.microsoft.com/office/powerpoint/2010/main" val="2636253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4"/>
          <p:cNvSpPr>
            <a:spLocks noGrp="1"/>
          </p:cNvSpPr>
          <p:nvPr>
            <p:ph type="dt" sz="half" idx="10"/>
          </p:nvPr>
        </p:nvSpPr>
        <p:spPr/>
        <p:txBody>
          <a:bodyPr/>
          <a:lstStyle/>
          <a:p>
            <a:fld id="{DF491FA2-DBAF-8948-B0AA-F8218DAC9472}" type="datetimeFigureOut">
              <a:rPr lang="en-US" smtClean="0"/>
              <a:t>1/18/2017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699481E-959F-0A4C-89CF-13A902D3D06F}" type="slidenum">
              <a:rPr lang="en-US" smtClean="0"/>
              <a:t>‹#›</a:t>
            </a:fld>
            <a:endParaRPr lang="en-US" dirty="0"/>
          </a:p>
        </p:txBody>
      </p:sp>
    </p:spTree>
    <p:extLst>
      <p:ext uri="{BB962C8B-B14F-4D97-AF65-F5344CB8AC3E}">
        <p14:creationId xmlns:p14="http://schemas.microsoft.com/office/powerpoint/2010/main" val="536870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4"/>
          <p:cNvSpPr>
            <a:spLocks noGrp="1"/>
          </p:cNvSpPr>
          <p:nvPr>
            <p:ph type="dt" sz="half" idx="10"/>
          </p:nvPr>
        </p:nvSpPr>
        <p:spPr/>
        <p:txBody>
          <a:bodyPr/>
          <a:lstStyle/>
          <a:p>
            <a:fld id="{DF491FA2-DBAF-8948-B0AA-F8218DAC9472}" type="datetimeFigureOut">
              <a:rPr lang="en-US" smtClean="0"/>
              <a:t>1/18/2017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699481E-959F-0A4C-89CF-13A902D3D06F}" type="slidenum">
              <a:rPr lang="en-US" smtClean="0"/>
              <a:t>‹#›</a:t>
            </a:fld>
            <a:endParaRPr lang="en-US" dirty="0"/>
          </a:p>
        </p:txBody>
      </p:sp>
    </p:spTree>
    <p:extLst>
      <p:ext uri="{BB962C8B-B14F-4D97-AF65-F5344CB8AC3E}">
        <p14:creationId xmlns:p14="http://schemas.microsoft.com/office/powerpoint/2010/main" val="2922038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p>
            <a:fld id="{DF491FA2-DBAF-8948-B0AA-F8218DAC9472}" type="datetimeFigureOut">
              <a:rPr lang="en-US" smtClean="0"/>
              <a:t>1/18/2017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699481E-959F-0A4C-89CF-13A902D3D06F}" type="slidenum">
              <a:rPr lang="en-US" smtClean="0"/>
              <a:t>‹#›</a:t>
            </a:fld>
            <a:endParaRPr lang="en-US" dirty="0"/>
          </a:p>
        </p:txBody>
      </p:sp>
    </p:spTree>
    <p:extLst>
      <p:ext uri="{BB962C8B-B14F-4D97-AF65-F5344CB8AC3E}">
        <p14:creationId xmlns:p14="http://schemas.microsoft.com/office/powerpoint/2010/main" val="18434810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p>
            <a:fld id="{DF491FA2-DBAF-8948-B0AA-F8218DAC9472}" type="datetimeFigureOut">
              <a:rPr lang="en-US" smtClean="0"/>
              <a:t>1/18/2017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699481E-959F-0A4C-89CF-13A902D3D06F}" type="slidenum">
              <a:rPr lang="en-US" smtClean="0"/>
              <a:t>‹#›</a:t>
            </a:fld>
            <a:endParaRPr lang="en-US" dirty="0"/>
          </a:p>
        </p:txBody>
      </p:sp>
    </p:spTree>
    <p:extLst>
      <p:ext uri="{BB962C8B-B14F-4D97-AF65-F5344CB8AC3E}">
        <p14:creationId xmlns:p14="http://schemas.microsoft.com/office/powerpoint/2010/main" val="36745804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GB"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491FA2-DBAF-8948-B0AA-F8218DAC9472}" type="datetimeFigureOut">
              <a:rPr lang="en-US" smtClean="0"/>
              <a:t>1/18/2017</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99481E-959F-0A4C-89CF-13A902D3D06F}" type="slidenum">
              <a:rPr lang="en-US" smtClean="0"/>
              <a:t>‹#›</a:t>
            </a:fld>
            <a:endParaRPr lang="en-US" dirty="0"/>
          </a:p>
        </p:txBody>
      </p:sp>
    </p:spTree>
    <p:extLst>
      <p:ext uri="{BB962C8B-B14F-4D97-AF65-F5344CB8AC3E}">
        <p14:creationId xmlns:p14="http://schemas.microsoft.com/office/powerpoint/2010/main" val="42199309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wmf"/></Relationships>
</file>

<file path=ppt/slides/_rels/slide3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NTROIMMAGE5-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582706" y="1279808"/>
            <a:ext cx="6648846" cy="541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eaLnBrk="1" hangingPunct="1"/>
            <a:r>
              <a:rPr lang="en-US" sz="3600" dirty="0">
                <a:ea typeface="Tahoma" pitchFamily="34" charset="0"/>
                <a:cs typeface="Tahoma" pitchFamily="34" charset="0"/>
              </a:rPr>
              <a:t>Topic 6 </a:t>
            </a:r>
            <a:endParaRPr lang="en-US" sz="3600" dirty="0" smtClean="0">
              <a:ea typeface="Tahoma" pitchFamily="34" charset="0"/>
              <a:cs typeface="Tahoma" pitchFamily="34" charset="0"/>
            </a:endParaRPr>
          </a:p>
          <a:p>
            <a:pPr eaLnBrk="1" hangingPunct="1"/>
            <a:endParaRPr lang="en-US" sz="3600" dirty="0">
              <a:ea typeface="Tahoma" pitchFamily="34" charset="0"/>
              <a:cs typeface="Tahoma" pitchFamily="34" charset="0"/>
            </a:endParaRPr>
          </a:p>
          <a:p>
            <a:pPr eaLnBrk="1" hangingPunct="1"/>
            <a:r>
              <a:rPr lang="en-US" sz="3600" dirty="0" smtClean="0">
                <a:ea typeface="Tahoma" pitchFamily="34" charset="0"/>
                <a:cs typeface="Tahoma" pitchFamily="34" charset="0"/>
              </a:rPr>
              <a:t>Understanding stress</a:t>
            </a:r>
            <a:r>
              <a:rPr lang="en-US" sz="3600" dirty="0">
                <a:ea typeface="Tahoma" pitchFamily="34" charset="0"/>
                <a:cs typeface="Tahoma" pitchFamily="34" charset="0"/>
              </a:rPr>
              <a:t>, depression and </a:t>
            </a:r>
            <a:r>
              <a:rPr lang="en-US" sz="3600" dirty="0" smtClean="0">
                <a:ea typeface="Tahoma" pitchFamily="34" charset="0"/>
                <a:cs typeface="Tahoma" pitchFamily="34" charset="0"/>
              </a:rPr>
              <a:t>anxiety</a:t>
            </a:r>
          </a:p>
          <a:p>
            <a:pPr eaLnBrk="1" hangingPunct="1"/>
            <a:endParaRPr lang="en-US" sz="3600" dirty="0">
              <a:solidFill>
                <a:schemeClr val="bg1">
                  <a:lumMod val="85000"/>
                </a:schemeClr>
              </a:solidFill>
              <a:latin typeface="Calibri" charset="0"/>
              <a:ea typeface="Tahoma" pitchFamily="34" charset="0"/>
              <a:cs typeface="Tahoma" pitchFamily="34" charset="0"/>
            </a:endParaRPr>
          </a:p>
          <a:p>
            <a:pPr>
              <a:lnSpc>
                <a:spcPct val="90000"/>
              </a:lnSpc>
              <a:spcBef>
                <a:spcPct val="0"/>
              </a:spcBef>
            </a:pPr>
            <a:r>
              <a:rPr kumimoji="1" lang="en-US" altLang="en-US" sz="3600" dirty="0">
                <a:latin typeface="Arial" panose="020B0604020202020204" pitchFamily="34" charset="0"/>
                <a:cs typeface="Arial" panose="020B0604020202020204" pitchFamily="34" charset="0"/>
              </a:rPr>
              <a:t>The Wellbeing Toolkit</a:t>
            </a:r>
          </a:p>
          <a:p>
            <a:pPr>
              <a:lnSpc>
                <a:spcPct val="90000"/>
              </a:lnSpc>
              <a:spcBef>
                <a:spcPct val="0"/>
              </a:spcBef>
            </a:pPr>
            <a:endParaRPr kumimoji="1" lang="en-US" altLang="en-US" sz="3600" dirty="0" smtClean="0">
              <a:latin typeface="Arial" panose="020B0604020202020204" pitchFamily="34" charset="0"/>
              <a:cs typeface="Arial" panose="020B0604020202020204" pitchFamily="34" charset="0"/>
            </a:endParaRPr>
          </a:p>
          <a:p>
            <a:pPr>
              <a:lnSpc>
                <a:spcPct val="90000"/>
              </a:lnSpc>
              <a:spcBef>
                <a:spcPct val="0"/>
              </a:spcBef>
            </a:pPr>
            <a:endParaRPr kumimoji="1" lang="en-US" altLang="en-US" sz="3600" dirty="0" smtClean="0">
              <a:latin typeface="Arial" panose="020B0604020202020204" pitchFamily="34" charset="0"/>
              <a:cs typeface="Arial" panose="020B0604020202020204" pitchFamily="34" charset="0"/>
            </a:endParaRPr>
          </a:p>
          <a:p>
            <a:pPr>
              <a:lnSpc>
                <a:spcPct val="90000"/>
              </a:lnSpc>
              <a:spcBef>
                <a:spcPct val="0"/>
              </a:spcBef>
            </a:pPr>
            <a:r>
              <a:rPr kumimoji="1" lang="en-US" altLang="en-US" sz="3600" dirty="0" smtClean="0">
                <a:latin typeface="Arial" panose="020B0604020202020204" pitchFamily="34" charset="0"/>
                <a:cs typeface="Arial" panose="020B0604020202020204" pitchFamily="34" charset="0"/>
              </a:rPr>
              <a:t>Dr </a:t>
            </a:r>
            <a:r>
              <a:rPr kumimoji="1" lang="en-US" altLang="en-US" sz="3600" dirty="0">
                <a:latin typeface="Arial" panose="020B0604020202020204" pitchFamily="34" charset="0"/>
                <a:cs typeface="Arial" panose="020B0604020202020204" pitchFamily="34" charset="0"/>
              </a:rPr>
              <a:t>Tina Rae</a:t>
            </a:r>
          </a:p>
          <a:p>
            <a:pPr eaLnBrk="1" hangingPunct="1"/>
            <a:endParaRPr lang="es-ES" sz="3600" dirty="0">
              <a:solidFill>
                <a:schemeClr val="bg1">
                  <a:lumMod val="85000"/>
                </a:schemeClr>
              </a:solidFill>
              <a:latin typeface="Calibri" charset="0"/>
            </a:endParaRPr>
          </a:p>
        </p:txBody>
      </p:sp>
      <p:sp>
        <p:nvSpPr>
          <p:cNvPr id="2" name="Rectangle 1"/>
          <p:cNvSpPr/>
          <p:nvPr/>
        </p:nvSpPr>
        <p:spPr>
          <a:xfrm>
            <a:off x="582706" y="5139617"/>
            <a:ext cx="4572000" cy="590931"/>
          </a:xfrm>
          <a:prstGeom prst="rect">
            <a:avLst/>
          </a:prstGeom>
        </p:spPr>
        <p:txBody>
          <a:bodyPr>
            <a:spAutoFit/>
          </a:bodyPr>
          <a:lstStyle/>
          <a:p>
            <a:pPr>
              <a:lnSpc>
                <a:spcPct val="90000"/>
              </a:lnSpc>
              <a:spcBef>
                <a:spcPct val="0"/>
              </a:spcBef>
            </a:pPr>
            <a:endParaRPr kumimoji="1" lang="en-US" altLang="en-US" sz="3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2305869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783626"/>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Aims of session</a:t>
            </a:r>
            <a:endParaRPr lang="es-ES" sz="4400" dirty="0">
              <a:solidFill>
                <a:schemeClr val="bg1">
                  <a:lumMod val="50000"/>
                </a:schemeClr>
              </a:solidFill>
              <a:latin typeface="Calibri" charset="0"/>
            </a:endParaRPr>
          </a:p>
        </p:txBody>
      </p:sp>
      <p:sp>
        <p:nvSpPr>
          <p:cNvPr id="3" name="Rectangle 2"/>
          <p:cNvSpPr/>
          <p:nvPr/>
        </p:nvSpPr>
        <p:spPr>
          <a:xfrm>
            <a:off x="690465" y="1685738"/>
            <a:ext cx="7772400" cy="3785652"/>
          </a:xfrm>
          <a:prstGeom prst="rect">
            <a:avLst/>
          </a:prstGeom>
        </p:spPr>
        <p:txBody>
          <a:bodyPr wrap="square">
            <a:spAutoFit/>
          </a:bodyPr>
          <a:lstStyle/>
          <a:p>
            <a:pPr marL="285750" indent="-28575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To clarify the nature of depression and anxiety</a:t>
            </a:r>
          </a:p>
          <a:p>
            <a:pPr marL="285750" indent="-28575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To highlight some key tools and effective thinking strategies from Cognitive behaviour therapy (CBT) and Positive psychology approaches which are useful in supporting CYP</a:t>
            </a:r>
          </a:p>
          <a:p>
            <a:pPr marL="285750" indent="-28575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To introduce some of the resources which support the development of these skills</a:t>
            </a:r>
          </a:p>
          <a:p>
            <a:pPr marL="285750" indent="-28575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To ensure that practitioners have the opportunity to develop and practice their own skills and access resources which are practical and user friendly</a:t>
            </a:r>
          </a:p>
        </p:txBody>
      </p:sp>
    </p:spTree>
    <p:extLst>
      <p:ext uri="{BB962C8B-B14F-4D97-AF65-F5344CB8AC3E}">
        <p14:creationId xmlns:p14="http://schemas.microsoft.com/office/powerpoint/2010/main" val="167247647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904273"/>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Using the word ‘stressed</a:t>
            </a:r>
            <a:r>
              <a:rPr lang="en-GB" sz="4400" dirty="0" smtClean="0"/>
              <a:t>’</a:t>
            </a:r>
            <a:endParaRPr lang="es-ES" sz="4400" dirty="0">
              <a:solidFill>
                <a:schemeClr val="bg1">
                  <a:lumMod val="50000"/>
                </a:schemeClr>
              </a:solidFill>
              <a:latin typeface="Calibri" charset="0"/>
            </a:endParaRPr>
          </a:p>
        </p:txBody>
      </p:sp>
      <p:pic>
        <p:nvPicPr>
          <p:cNvPr id="7" name="Picture 2" descr="C:\Users\Tina\Pictures\5235533-depressed-teen-girl-consulting-with-a-psychologist.jpg"/>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905000" y="1715517"/>
            <a:ext cx="5334000" cy="4648200"/>
          </a:xfrm>
          <a:noFill/>
        </p:spPr>
      </p:pic>
    </p:spTree>
    <p:extLst>
      <p:ext uri="{BB962C8B-B14F-4D97-AF65-F5344CB8AC3E}">
        <p14:creationId xmlns:p14="http://schemas.microsoft.com/office/powerpoint/2010/main" val="135470366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625"/>
            <a:ext cx="9144000" cy="6858000"/>
          </a:xfrm>
          <a:prstGeom prst="rect">
            <a:avLst/>
          </a:prstGeom>
        </p:spPr>
      </p:pic>
      <p:sp>
        <p:nvSpPr>
          <p:cNvPr id="6" name="5 CuadroTexto"/>
          <p:cNvSpPr txBox="1">
            <a:spLocks noChangeArrowheads="1"/>
          </p:cNvSpPr>
          <p:nvPr/>
        </p:nvSpPr>
        <p:spPr bwMode="auto">
          <a:xfrm>
            <a:off x="0" y="895088"/>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The </a:t>
            </a:r>
            <a:r>
              <a:rPr lang="en-GB" sz="4400" dirty="0" smtClean="0"/>
              <a:t>loss </a:t>
            </a:r>
            <a:r>
              <a:rPr lang="en-GB" sz="4400" dirty="0"/>
              <a:t>of sadness?</a:t>
            </a:r>
            <a:endParaRPr lang="es-ES" sz="4400" dirty="0">
              <a:solidFill>
                <a:schemeClr val="bg1">
                  <a:lumMod val="50000"/>
                </a:schemeClr>
              </a:solidFill>
              <a:latin typeface="Calibri" charset="0"/>
            </a:endParaRPr>
          </a:p>
        </p:txBody>
      </p:sp>
      <p:sp>
        <p:nvSpPr>
          <p:cNvPr id="3" name="Rectangle 2"/>
          <p:cNvSpPr/>
          <p:nvPr/>
        </p:nvSpPr>
        <p:spPr>
          <a:xfrm>
            <a:off x="867747" y="2072973"/>
            <a:ext cx="7408506" cy="2751522"/>
          </a:xfrm>
          <a:prstGeom prst="rect">
            <a:avLst/>
          </a:prstGeom>
        </p:spPr>
        <p:txBody>
          <a:bodyPr wrap="square">
            <a:spAutoFit/>
          </a:bodyPr>
          <a:lstStyle/>
          <a:p>
            <a:pPr marL="325437" indent="-285750">
              <a:lnSpc>
                <a:spcPct val="90000"/>
              </a:lnSpc>
              <a:buFont typeface="Arial" panose="020B0604020202020204" pitchFamily="34" charset="0"/>
              <a:buChar char="•"/>
              <a:defRPr/>
            </a:pPr>
            <a:r>
              <a:rPr lang="en-US" sz="2400" dirty="0">
                <a:latin typeface="Arial" panose="020B0604020202020204" pitchFamily="34" charset="0"/>
                <a:cs typeface="Arial" panose="020B0604020202020204" pitchFamily="34" charset="0"/>
              </a:rPr>
              <a:t>For the last 2,500 years human beings could distinguish between normal sadness or suffering and clinical depression.</a:t>
            </a:r>
          </a:p>
          <a:p>
            <a:pPr marL="325437" indent="-285750">
              <a:lnSpc>
                <a:spcPct val="90000"/>
              </a:lnSpc>
              <a:buFont typeface="Arial" panose="020B0604020202020204" pitchFamily="34" charset="0"/>
              <a:buChar char="•"/>
              <a:defRPr/>
            </a:pPr>
            <a:r>
              <a:rPr lang="en-US" sz="2400" dirty="0">
                <a:latin typeface="Arial" panose="020B0604020202020204" pitchFamily="34" charset="0"/>
                <a:cs typeface="Arial" panose="020B0604020202020204" pitchFamily="34" charset="0"/>
              </a:rPr>
              <a:t>Since the development of the classification system for mental illness the boundary has become blurred</a:t>
            </a:r>
          </a:p>
          <a:p>
            <a:pPr marL="325437" indent="-285750">
              <a:lnSpc>
                <a:spcPct val="90000"/>
              </a:lnSpc>
              <a:buFont typeface="Arial" panose="020B0604020202020204" pitchFamily="34" charset="0"/>
              <a:buChar char="•"/>
              <a:defRPr/>
            </a:pPr>
            <a:r>
              <a:rPr lang="en-US" sz="2400" dirty="0">
                <a:latin typeface="Arial" panose="020B0604020202020204" pitchFamily="34" charset="0"/>
                <a:cs typeface="Arial" panose="020B0604020202020204" pitchFamily="34" charset="0"/>
              </a:rPr>
              <a:t>The </a:t>
            </a:r>
            <a:r>
              <a:rPr lang="en-US" sz="2400" dirty="0" smtClean="0">
                <a:latin typeface="Arial" panose="020B0604020202020204" pitchFamily="34" charset="0"/>
                <a:cs typeface="Arial" panose="020B0604020202020204" pitchFamily="34" charset="0"/>
              </a:rPr>
              <a:t>only </a:t>
            </a:r>
            <a:r>
              <a:rPr lang="en-US" sz="2400" dirty="0">
                <a:latin typeface="Arial" panose="020B0604020202020204" pitchFamily="34" charset="0"/>
                <a:cs typeface="Arial" panose="020B0604020202020204" pitchFamily="34" charset="0"/>
              </a:rPr>
              <a:t>context the manual takes into account for depression  is bereavement</a:t>
            </a:r>
          </a:p>
        </p:txBody>
      </p:sp>
      <p:pic>
        <p:nvPicPr>
          <p:cNvPr id="7" name="Picture 2" descr="C:\Users\Tina\Pictures\sad girl.jpg"/>
          <p:cNvPicPr>
            <a:picLocks noGrp="1" noChangeAspect="1" noChangeArrowheads="1"/>
          </p:cNvPicPr>
          <p:nvPr>
            <p:ph sz="half" idx="4294967295"/>
          </p:nvPr>
        </p:nvPicPr>
        <p:blipFill>
          <a:blip r:embed="rId3">
            <a:extLst>
              <a:ext uri="{28A0092B-C50C-407E-A947-70E740481C1C}">
                <a14:useLocalDpi xmlns:a14="http://schemas.microsoft.com/office/drawing/2010/main" val="0"/>
              </a:ext>
            </a:extLst>
          </a:blip>
          <a:srcRect/>
          <a:stretch>
            <a:fillRect/>
          </a:stretch>
        </p:blipFill>
        <p:spPr>
          <a:xfrm>
            <a:off x="6936727" y="4591251"/>
            <a:ext cx="1233649" cy="1853845"/>
          </a:xfrm>
          <a:prstGeom prst="rect">
            <a:avLst/>
          </a:prstGeom>
          <a:noFill/>
        </p:spPr>
      </p:pic>
    </p:spTree>
    <p:extLst>
      <p:ext uri="{BB962C8B-B14F-4D97-AF65-F5344CB8AC3E}">
        <p14:creationId xmlns:p14="http://schemas.microsoft.com/office/powerpoint/2010/main" val="288107917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895088"/>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What is </a:t>
            </a:r>
            <a:r>
              <a:rPr lang="en-GB" sz="4400" dirty="0" smtClean="0"/>
              <a:t>stress</a:t>
            </a:r>
            <a:r>
              <a:rPr lang="en-GB" sz="4400" dirty="0"/>
              <a:t>?</a:t>
            </a:r>
            <a:endParaRPr lang="es-ES" sz="4400" dirty="0">
              <a:solidFill>
                <a:schemeClr val="bg1">
                  <a:lumMod val="50000"/>
                </a:schemeClr>
              </a:solidFill>
              <a:latin typeface="Calibri" charset="0"/>
            </a:endParaRPr>
          </a:p>
        </p:txBody>
      </p:sp>
      <p:sp>
        <p:nvSpPr>
          <p:cNvPr id="7" name="Rectangle 10"/>
          <p:cNvSpPr>
            <a:spLocks noChangeArrowheads="1"/>
          </p:cNvSpPr>
          <p:nvPr/>
        </p:nvSpPr>
        <p:spPr bwMode="auto">
          <a:xfrm>
            <a:off x="1523572" y="4323861"/>
            <a:ext cx="6024892" cy="1956079"/>
          </a:xfrm>
          <a:prstGeom prst="rect">
            <a:avLst/>
          </a:prstGeom>
          <a:solidFill>
            <a:schemeClr val="hlink">
              <a:alpha val="50195"/>
            </a:schemeClr>
          </a:solidFill>
          <a:ln w="9525">
            <a:solidFill>
              <a:schemeClr val="hlink"/>
            </a:solidFill>
            <a:miter lim="800000"/>
            <a:headEnd/>
            <a:tailEnd/>
          </a:ln>
          <a:effectLst/>
        </p:spPr>
        <p:txBody>
          <a:bodyPr wrap="none"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en-GB" altLang="en-US" dirty="0"/>
          </a:p>
        </p:txBody>
      </p:sp>
      <p:sp>
        <p:nvSpPr>
          <p:cNvPr id="8" name="AutoShape 4" descr="Small confetti"/>
          <p:cNvSpPr>
            <a:spLocks noChangeArrowheads="1"/>
          </p:cNvSpPr>
          <p:nvPr/>
        </p:nvSpPr>
        <p:spPr bwMode="auto">
          <a:xfrm>
            <a:off x="1523572" y="1853025"/>
            <a:ext cx="6024893" cy="1571302"/>
          </a:xfrm>
          <a:prstGeom prst="roundRect">
            <a:avLst>
              <a:gd name="adj" fmla="val 16667"/>
            </a:avLst>
          </a:prstGeom>
          <a:pattFill prst="smConfetti">
            <a:fgClr>
              <a:srgbClr val="9966FF"/>
            </a:fgClr>
            <a:bgClr>
              <a:srgbClr val="6600CC"/>
            </a:bgClr>
          </a:pattFill>
          <a:ln w="38100">
            <a:solidFill>
              <a:srgbClr val="660066"/>
            </a:solidFill>
            <a:round/>
            <a:headEnd/>
            <a:tailEnd/>
          </a:ln>
          <a:effectLst/>
        </p:spPr>
        <p:txBody>
          <a:bodyPr wrap="none"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GB" altLang="en-US" sz="2000" b="1" dirty="0" smtClean="0">
                <a:solidFill>
                  <a:schemeClr val="bg1"/>
                </a:solidFill>
                <a:latin typeface="Arial" panose="020B0604020202020204" pitchFamily="34" charset="0"/>
                <a:cs typeface="Arial" panose="020B0604020202020204" pitchFamily="34" charset="0"/>
              </a:rPr>
              <a:t>“Stress </a:t>
            </a:r>
            <a:r>
              <a:rPr lang="en-GB" altLang="en-US" sz="2000" b="1" dirty="0">
                <a:solidFill>
                  <a:schemeClr val="bg1"/>
                </a:solidFill>
                <a:latin typeface="Arial" panose="020B0604020202020204" pitchFamily="34" charset="0"/>
                <a:cs typeface="Arial" panose="020B0604020202020204" pitchFamily="34" charset="0"/>
              </a:rPr>
              <a:t>is a demand made upon the </a:t>
            </a:r>
            <a:endParaRPr lang="en-GB" altLang="en-US" sz="2000" b="1" dirty="0" smtClean="0">
              <a:solidFill>
                <a:schemeClr val="bg1"/>
              </a:solidFill>
              <a:latin typeface="Arial" panose="020B0604020202020204" pitchFamily="34" charset="0"/>
              <a:cs typeface="Arial" panose="020B0604020202020204" pitchFamily="34" charset="0"/>
            </a:endParaRPr>
          </a:p>
          <a:p>
            <a:pPr algn="ctr"/>
            <a:r>
              <a:rPr lang="en-GB" altLang="en-US" sz="2000" b="1" dirty="0" smtClean="0">
                <a:solidFill>
                  <a:schemeClr val="bg1"/>
                </a:solidFill>
                <a:latin typeface="Arial" panose="020B0604020202020204" pitchFamily="34" charset="0"/>
                <a:cs typeface="Arial" panose="020B0604020202020204" pitchFamily="34" charset="0"/>
              </a:rPr>
              <a:t>adaptive </a:t>
            </a:r>
            <a:r>
              <a:rPr lang="en-GB" altLang="en-US" sz="2000" b="1" dirty="0">
                <a:solidFill>
                  <a:schemeClr val="bg1"/>
                </a:solidFill>
                <a:latin typeface="Arial" panose="020B0604020202020204" pitchFamily="34" charset="0"/>
                <a:cs typeface="Arial" panose="020B0604020202020204" pitchFamily="34" charset="0"/>
              </a:rPr>
              <a:t>capacities of the mind and body”.</a:t>
            </a:r>
          </a:p>
          <a:p>
            <a:pPr algn="r"/>
            <a:r>
              <a:rPr lang="en-GB" altLang="en-US" sz="2000" i="1" dirty="0" smtClean="0">
                <a:solidFill>
                  <a:schemeClr val="bg1"/>
                </a:solidFill>
                <a:latin typeface="Arial" panose="020B0604020202020204" pitchFamily="34" charset="0"/>
                <a:cs typeface="Arial" panose="020B0604020202020204" pitchFamily="34" charset="0"/>
              </a:rPr>
              <a:t>Fontana</a:t>
            </a:r>
            <a:r>
              <a:rPr lang="en-GB" altLang="en-US" sz="2000" i="1" dirty="0">
                <a:solidFill>
                  <a:schemeClr val="bg1"/>
                </a:solidFill>
                <a:latin typeface="Arial" panose="020B0604020202020204" pitchFamily="34" charset="0"/>
                <a:cs typeface="Arial" panose="020B0604020202020204" pitchFamily="34" charset="0"/>
              </a:rPr>
              <a:t>, 1989, </a:t>
            </a:r>
            <a:r>
              <a:rPr lang="en-GB" altLang="en-US" sz="2000" i="1" dirty="0" smtClean="0">
                <a:solidFill>
                  <a:schemeClr val="bg1"/>
                </a:solidFill>
                <a:latin typeface="Arial" panose="020B0604020202020204" pitchFamily="34" charset="0"/>
                <a:cs typeface="Arial" panose="020B0604020202020204" pitchFamily="34" charset="0"/>
              </a:rPr>
              <a:t>p.3</a:t>
            </a:r>
            <a:endParaRPr lang="en-GB" altLang="en-US" sz="2000" i="1" dirty="0">
              <a:solidFill>
                <a:schemeClr val="bg1"/>
              </a:solidFill>
              <a:latin typeface="Arial" panose="020B0604020202020204" pitchFamily="34" charset="0"/>
              <a:cs typeface="Arial" panose="020B0604020202020204" pitchFamily="34" charset="0"/>
            </a:endParaRPr>
          </a:p>
        </p:txBody>
      </p:sp>
      <p:grpSp>
        <p:nvGrpSpPr>
          <p:cNvPr id="9" name="Group 11"/>
          <p:cNvGrpSpPr>
            <a:grpSpLocks/>
          </p:cNvGrpSpPr>
          <p:nvPr/>
        </p:nvGrpSpPr>
        <p:grpSpPr bwMode="auto">
          <a:xfrm>
            <a:off x="1862529" y="4739193"/>
            <a:ext cx="4995373" cy="1409752"/>
            <a:chOff x="1344" y="2781"/>
            <a:chExt cx="3741" cy="1107"/>
          </a:xfrm>
          <a:effectLst/>
        </p:grpSpPr>
        <p:sp>
          <p:nvSpPr>
            <p:cNvPr id="10" name="Line 5"/>
            <p:cNvSpPr>
              <a:spLocks noChangeShapeType="1"/>
            </p:cNvSpPr>
            <p:nvPr/>
          </p:nvSpPr>
          <p:spPr bwMode="auto">
            <a:xfrm>
              <a:off x="1392" y="3120"/>
              <a:ext cx="3600" cy="0"/>
            </a:xfrm>
            <a:prstGeom prst="line">
              <a:avLst/>
            </a:prstGeom>
            <a:noFill/>
            <a:ln w="38100">
              <a:solidFill>
                <a:srgbClr val="660066"/>
              </a:solidFill>
              <a:round/>
              <a:headEnd/>
              <a:tailEnd/>
            </a:ln>
            <a:effectLst/>
            <a:extLst>
              <a:ext uri="{909E8E84-426E-40DD-AFC4-6F175D3DCCD1}">
                <a14:hiddenFill xmlns:a14="http://schemas.microsoft.com/office/drawing/2010/main">
                  <a:noFill/>
                </a14:hiddenFill>
              </a:ext>
            </a:extLst>
          </p:spPr>
          <p:txBody>
            <a:bodyPr/>
            <a:lstStyle/>
            <a:p>
              <a:endParaRPr lang="en-GB" dirty="0"/>
            </a:p>
          </p:txBody>
        </p:sp>
        <p:sp>
          <p:nvSpPr>
            <p:cNvPr id="11" name="Line 6"/>
            <p:cNvSpPr>
              <a:spLocks noChangeShapeType="1"/>
            </p:cNvSpPr>
            <p:nvPr/>
          </p:nvSpPr>
          <p:spPr bwMode="auto">
            <a:xfrm flipH="1">
              <a:off x="2784" y="3120"/>
              <a:ext cx="480" cy="768"/>
            </a:xfrm>
            <a:prstGeom prst="line">
              <a:avLst/>
            </a:prstGeom>
            <a:noFill/>
            <a:ln w="38100">
              <a:solidFill>
                <a:srgbClr val="660066"/>
              </a:solidFill>
              <a:round/>
              <a:headEnd/>
              <a:tailEnd/>
            </a:ln>
            <a:effectLst/>
            <a:extLst>
              <a:ext uri="{909E8E84-426E-40DD-AFC4-6F175D3DCCD1}">
                <a14:hiddenFill xmlns:a14="http://schemas.microsoft.com/office/drawing/2010/main">
                  <a:noFill/>
                </a14:hiddenFill>
              </a:ext>
            </a:extLst>
          </p:spPr>
          <p:txBody>
            <a:bodyPr/>
            <a:lstStyle/>
            <a:p>
              <a:endParaRPr lang="en-GB" dirty="0"/>
            </a:p>
          </p:txBody>
        </p:sp>
        <p:sp>
          <p:nvSpPr>
            <p:cNvPr id="12" name="Line 7"/>
            <p:cNvSpPr>
              <a:spLocks noChangeShapeType="1"/>
            </p:cNvSpPr>
            <p:nvPr/>
          </p:nvSpPr>
          <p:spPr bwMode="auto">
            <a:xfrm rot="17827068" flipH="1">
              <a:off x="3264" y="3132"/>
              <a:ext cx="480" cy="768"/>
            </a:xfrm>
            <a:prstGeom prst="line">
              <a:avLst/>
            </a:prstGeom>
            <a:noFill/>
            <a:ln w="38100">
              <a:solidFill>
                <a:srgbClr val="660066"/>
              </a:solidFill>
              <a:round/>
              <a:headEnd/>
              <a:tailEnd/>
            </a:ln>
            <a:effectLst/>
            <a:extLst>
              <a:ext uri="{909E8E84-426E-40DD-AFC4-6F175D3DCCD1}">
                <a14:hiddenFill xmlns:a14="http://schemas.microsoft.com/office/drawing/2010/main">
                  <a:noFill/>
                </a14:hiddenFill>
              </a:ext>
            </a:extLst>
          </p:spPr>
          <p:txBody>
            <a:bodyPr/>
            <a:lstStyle/>
            <a:p>
              <a:endParaRPr lang="en-GB" dirty="0"/>
            </a:p>
          </p:txBody>
        </p:sp>
        <p:sp>
          <p:nvSpPr>
            <p:cNvPr id="13" name="Text Box 8"/>
            <p:cNvSpPr txBox="1">
              <a:spLocks noChangeArrowheads="1"/>
            </p:cNvSpPr>
            <p:nvPr/>
          </p:nvSpPr>
          <p:spPr bwMode="auto">
            <a:xfrm>
              <a:off x="1344" y="2784"/>
              <a:ext cx="100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spcBef>
                  <a:spcPct val="50000"/>
                </a:spcBef>
              </a:pPr>
              <a:r>
                <a:rPr lang="en-GB" altLang="en-US" b="1" dirty="0">
                  <a:latin typeface="Arial Narrow" panose="020B0606020202030204" pitchFamily="34" charset="0"/>
                </a:rPr>
                <a:t>Demands</a:t>
              </a:r>
            </a:p>
          </p:txBody>
        </p:sp>
        <p:sp>
          <p:nvSpPr>
            <p:cNvPr id="14" name="Text Box 9"/>
            <p:cNvSpPr txBox="1">
              <a:spLocks noChangeArrowheads="1"/>
            </p:cNvSpPr>
            <p:nvPr/>
          </p:nvSpPr>
          <p:spPr bwMode="auto">
            <a:xfrm>
              <a:off x="4176" y="2781"/>
              <a:ext cx="90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spcBef>
                  <a:spcPct val="50000"/>
                </a:spcBef>
              </a:pPr>
              <a:r>
                <a:rPr lang="en-GB" altLang="en-US" b="1" dirty="0">
                  <a:latin typeface="Arial Narrow" panose="020B0606020202030204" pitchFamily="34" charset="0"/>
                </a:rPr>
                <a:t>Capacities</a:t>
              </a:r>
            </a:p>
          </p:txBody>
        </p:sp>
      </p:grpSp>
    </p:spTree>
    <p:extLst>
      <p:ext uri="{BB962C8B-B14F-4D97-AF65-F5344CB8AC3E}">
        <p14:creationId xmlns:p14="http://schemas.microsoft.com/office/powerpoint/2010/main" val="145213151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5" name="5 CuadroTexto"/>
          <p:cNvSpPr txBox="1">
            <a:spLocks noChangeArrowheads="1"/>
          </p:cNvSpPr>
          <p:nvPr/>
        </p:nvSpPr>
        <p:spPr bwMode="auto">
          <a:xfrm>
            <a:off x="0" y="1571222"/>
            <a:ext cx="9144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2000" dirty="0"/>
              <a:t>From Matthews, Zeidner and Roberts, 2002</a:t>
            </a:r>
            <a:endParaRPr lang="es-ES" sz="2000" dirty="0">
              <a:solidFill>
                <a:schemeClr val="tx1">
                  <a:lumMod val="75000"/>
                  <a:lumOff val="25000"/>
                </a:schemeClr>
              </a:solidFill>
              <a:latin typeface="Calibri" charset="0"/>
            </a:endParaRPr>
          </a:p>
        </p:txBody>
      </p:sp>
      <p:sp>
        <p:nvSpPr>
          <p:cNvPr id="6" name="5 CuadroTexto"/>
          <p:cNvSpPr txBox="1">
            <a:spLocks noChangeArrowheads="1"/>
          </p:cNvSpPr>
          <p:nvPr/>
        </p:nvSpPr>
        <p:spPr bwMode="auto">
          <a:xfrm>
            <a:off x="0" y="885612"/>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A </a:t>
            </a:r>
            <a:r>
              <a:rPr lang="en-GB" sz="4400" dirty="0" smtClean="0"/>
              <a:t>transactional model </a:t>
            </a:r>
            <a:r>
              <a:rPr lang="en-GB" sz="4400" dirty="0"/>
              <a:t>of </a:t>
            </a:r>
            <a:r>
              <a:rPr lang="en-GB" sz="4400" dirty="0" smtClean="0"/>
              <a:t>stress</a:t>
            </a:r>
            <a:endParaRPr lang="es-ES" sz="4400" dirty="0">
              <a:solidFill>
                <a:schemeClr val="bg1">
                  <a:lumMod val="50000"/>
                </a:schemeClr>
              </a:solidFill>
              <a:latin typeface="Calibri" charset="0"/>
            </a:endParaRPr>
          </a:p>
        </p:txBody>
      </p:sp>
      <p:pic>
        <p:nvPicPr>
          <p:cNvPr id="7" name="Content Placeholder 6" descr="MZR 1"/>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049629" y="1971332"/>
            <a:ext cx="7044742" cy="4616172"/>
          </a:xfrm>
          <a:noFill/>
        </p:spPr>
      </p:pic>
    </p:spTree>
    <p:extLst>
      <p:ext uri="{BB962C8B-B14F-4D97-AF65-F5344CB8AC3E}">
        <p14:creationId xmlns:p14="http://schemas.microsoft.com/office/powerpoint/2010/main" val="286914513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688829"/>
            <a:ext cx="914400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Reaction to Stressors</a:t>
            </a:r>
            <a:br>
              <a:rPr lang="en-GB" sz="4400" dirty="0"/>
            </a:br>
            <a:r>
              <a:rPr lang="en-GB" sz="2000" dirty="0"/>
              <a:t>General Adaption Syndrome Model</a:t>
            </a:r>
            <a:endParaRPr lang="es-ES" sz="2000" dirty="0">
              <a:solidFill>
                <a:schemeClr val="bg1">
                  <a:lumMod val="50000"/>
                </a:schemeClr>
              </a:solidFill>
              <a:latin typeface="Calibri" charset="0"/>
            </a:endParaRPr>
          </a:p>
        </p:txBody>
      </p:sp>
      <p:sp>
        <p:nvSpPr>
          <p:cNvPr id="7" name="Rectangle 82"/>
          <p:cNvSpPr>
            <a:spLocks noChangeArrowheads="1"/>
          </p:cNvSpPr>
          <p:nvPr/>
        </p:nvSpPr>
        <p:spPr bwMode="auto">
          <a:xfrm>
            <a:off x="719477" y="1981200"/>
            <a:ext cx="7705045" cy="3962400"/>
          </a:xfrm>
          <a:prstGeom prst="rect">
            <a:avLst/>
          </a:prstGeom>
          <a:solidFill>
            <a:schemeClr val="tx2">
              <a:lumMod val="60000"/>
              <a:lumOff val="40000"/>
            </a:schemeClr>
          </a:solidFill>
          <a:ln w="38100">
            <a:solidFill>
              <a:schemeClr val="tx2">
                <a:lumMod val="75000"/>
              </a:schemeClr>
            </a:solidFill>
            <a:miter lim="800000"/>
            <a:headEnd/>
            <a:tailEnd/>
          </a:ln>
          <a:effectLst/>
        </p:spPr>
        <p:txBody>
          <a:bodyPr wrap="none"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en-GB" altLang="en-US" dirty="0"/>
          </a:p>
        </p:txBody>
      </p:sp>
      <p:graphicFrame>
        <p:nvGraphicFramePr>
          <p:cNvPr id="8" name="Group 96"/>
          <p:cNvGraphicFramePr>
            <a:graphicFrameLocks noGrp="1"/>
          </p:cNvGraphicFramePr>
          <p:nvPr>
            <p:extLst>
              <p:ext uri="{D42A27DB-BD31-4B8C-83A1-F6EECF244321}">
                <p14:modId xmlns:p14="http://schemas.microsoft.com/office/powerpoint/2010/main" val="2125363086"/>
              </p:ext>
            </p:extLst>
          </p:nvPr>
        </p:nvGraphicFramePr>
        <p:xfrm>
          <a:off x="933062" y="2332654"/>
          <a:ext cx="7286673" cy="3280316"/>
        </p:xfrm>
        <a:graphic>
          <a:graphicData uri="http://schemas.openxmlformats.org/drawingml/2006/table">
            <a:tbl>
              <a:tblPr/>
              <a:tblGrid>
                <a:gridCol w="1566294"/>
                <a:gridCol w="2008943"/>
                <a:gridCol w="1855718"/>
                <a:gridCol w="1855718"/>
              </a:tblGrid>
              <a:tr h="1576374">
                <a:tc>
                  <a:txBody>
                    <a:bodyPr/>
                    <a:lstStyle/>
                    <a:p>
                      <a:pPr marL="0" marR="0" lvl="0" indent="0" algn="ctr" defTabSz="914400" rtl="0" eaLnBrk="1" fontAlgn="base" latinLnBrk="0" hangingPunct="1">
                        <a:lnSpc>
                          <a:spcPct val="100000"/>
                        </a:lnSpc>
                        <a:spcBef>
                          <a:spcPct val="20000"/>
                        </a:spcBef>
                        <a:spcAft>
                          <a:spcPct val="0"/>
                        </a:spcAft>
                        <a:buClr>
                          <a:srgbClr val="FFCC66"/>
                        </a:buClr>
                        <a:buSzTx/>
                        <a:buFontTx/>
                        <a:buNone/>
                        <a:tabLst/>
                      </a:pPr>
                      <a:endParaRPr kumimoji="0" lang="en-GB" sz="2400" b="1" i="0" u="none" strike="noStrike" cap="none" normalizeH="0" baseline="0" dirty="0" smtClean="0">
                        <a:ln>
                          <a:noFill/>
                        </a:ln>
                        <a:solidFill>
                          <a:srgbClr val="6600CC"/>
                        </a:solidFill>
                        <a:effectLst/>
                        <a:latin typeface="Arial Narrow" pitchFamily="34" charset="0"/>
                      </a:endParaRPr>
                    </a:p>
                    <a:p>
                      <a:pPr marL="0" marR="0" lvl="0" indent="0" algn="ctr" defTabSz="914400" rtl="0" eaLnBrk="1" fontAlgn="base" latinLnBrk="0" hangingPunct="1">
                        <a:lnSpc>
                          <a:spcPct val="100000"/>
                        </a:lnSpc>
                        <a:spcBef>
                          <a:spcPct val="20000"/>
                        </a:spcBef>
                        <a:spcAft>
                          <a:spcPct val="0"/>
                        </a:spcAft>
                        <a:buClr>
                          <a:srgbClr val="FFCC66"/>
                        </a:buClr>
                        <a:buSzTx/>
                        <a:buFontTx/>
                        <a:buNone/>
                        <a:tabLst/>
                      </a:pPr>
                      <a:r>
                        <a:rPr kumimoji="0" lang="en-GB" sz="2400" b="1" i="0" u="none" strike="noStrike" cap="none" normalizeH="0" baseline="0" dirty="0" smtClean="0">
                          <a:ln>
                            <a:noFill/>
                          </a:ln>
                          <a:solidFill>
                            <a:schemeClr val="bg1"/>
                          </a:solidFill>
                          <a:effectLst/>
                          <a:latin typeface="Arial Narrow" pitchFamily="34" charset="0"/>
                        </a:rPr>
                        <a:t>Biological</a:t>
                      </a:r>
                    </a:p>
                  </a:txBody>
                  <a:tcPr anchor="ctr" anchorCtr="1"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CC66"/>
                        </a:buClr>
                        <a:buSzTx/>
                        <a:buFontTx/>
                        <a:buNone/>
                        <a:tabLst/>
                      </a:pPr>
                      <a:r>
                        <a:rPr kumimoji="0" lang="en-GB" sz="2400" b="1" i="0" u="none" strike="noStrike" cap="none" normalizeH="0" baseline="0" dirty="0" smtClean="0">
                          <a:ln>
                            <a:noFill/>
                          </a:ln>
                          <a:solidFill>
                            <a:srgbClr val="FFFFCC"/>
                          </a:solidFill>
                          <a:effectLst/>
                          <a:latin typeface="Arial Narrow" pitchFamily="34" charset="0"/>
                        </a:rPr>
                        <a:t>Alarm reaction</a:t>
                      </a:r>
                    </a:p>
                  </a:txBody>
                  <a:tcPr anchor="b" horzOverflow="overflow">
                    <a:lnL>
                      <a:noFill/>
                    </a:lnL>
                    <a:lnR w="28575" cap="flat" cmpd="sng" algn="ctr">
                      <a:solidFill>
                        <a:srgbClr val="660066"/>
                      </a:solidFill>
                      <a:prstDash val="sysDash"/>
                      <a:round/>
                      <a:headEnd type="none" w="med" len="med"/>
                      <a:tailEnd type="none" w="med" len="med"/>
                    </a:lnR>
                    <a:lnT cap="flat">
                      <a:noFill/>
                    </a:lnT>
                    <a:lnB w="28575" cap="flat" cmpd="sng" algn="ctr">
                      <a:solidFill>
                        <a:srgbClr val="660066"/>
                      </a:solidFill>
                      <a:prstDash val="sysDash"/>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
                          <a:srgbClr val="FFCC66"/>
                        </a:buClr>
                        <a:buSzTx/>
                        <a:buFontTx/>
                        <a:buNone/>
                        <a:tabLst/>
                      </a:pPr>
                      <a:r>
                        <a:rPr kumimoji="0" lang="en-GB" sz="2400" b="1" i="0" u="none" strike="noStrike" cap="none" normalizeH="0" baseline="0" dirty="0" smtClean="0">
                          <a:ln>
                            <a:noFill/>
                          </a:ln>
                          <a:solidFill>
                            <a:srgbClr val="FFFFCC"/>
                          </a:solidFill>
                          <a:effectLst/>
                          <a:latin typeface="Arial Narrow" pitchFamily="34" charset="0"/>
                        </a:rPr>
                        <a:t>Stage of Resistance</a:t>
                      </a:r>
                    </a:p>
                  </a:txBody>
                  <a:tcPr anchor="b" horzOverflow="overflow">
                    <a:lnL w="28575" cap="flat" cmpd="sng" algn="ctr">
                      <a:solidFill>
                        <a:srgbClr val="660066"/>
                      </a:solidFill>
                      <a:prstDash val="sysDash"/>
                      <a:round/>
                      <a:headEnd type="none" w="med" len="med"/>
                      <a:tailEnd type="none" w="med" len="med"/>
                    </a:lnL>
                    <a:lnR w="28575" cap="flat" cmpd="sng" algn="ctr">
                      <a:solidFill>
                        <a:srgbClr val="660066"/>
                      </a:solidFill>
                      <a:prstDash val="sysDash"/>
                      <a:round/>
                      <a:headEnd type="none" w="med" len="med"/>
                      <a:tailEnd type="none" w="med" len="med"/>
                    </a:lnR>
                    <a:lnT cap="flat">
                      <a:noFill/>
                    </a:lnT>
                    <a:lnB w="28575" cap="flat" cmpd="sng" algn="ctr">
                      <a:solidFill>
                        <a:srgbClr val="660066"/>
                      </a:solidFill>
                      <a:prstDash val="sysDash"/>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rgbClr val="FFCC66"/>
                        </a:buClr>
                        <a:buSzTx/>
                        <a:buFontTx/>
                        <a:buNone/>
                        <a:tabLst/>
                      </a:pPr>
                      <a:r>
                        <a:rPr kumimoji="0" lang="en-GB" sz="2400" b="1" i="0" u="none" strike="noStrike" cap="none" normalizeH="0" baseline="0" dirty="0" smtClean="0">
                          <a:ln>
                            <a:noFill/>
                          </a:ln>
                          <a:solidFill>
                            <a:srgbClr val="FFFFCC"/>
                          </a:solidFill>
                          <a:effectLst/>
                          <a:latin typeface="Arial Narrow" pitchFamily="34" charset="0"/>
                        </a:rPr>
                        <a:t>Stage of Exhaustion</a:t>
                      </a:r>
                    </a:p>
                  </a:txBody>
                  <a:tcPr anchor="b" horzOverflow="overflow">
                    <a:lnL w="28575" cap="flat" cmpd="sng" algn="ctr">
                      <a:solidFill>
                        <a:srgbClr val="660066"/>
                      </a:solidFill>
                      <a:prstDash val="sysDash"/>
                      <a:round/>
                      <a:headEnd type="none" w="med" len="med"/>
                      <a:tailEnd type="none" w="med" len="med"/>
                    </a:lnL>
                    <a:lnR cap="flat">
                      <a:noFill/>
                    </a:lnR>
                    <a:lnT cap="flat">
                      <a:noFill/>
                    </a:lnT>
                    <a:lnB w="28575" cap="flat" cmpd="sng" algn="ctr">
                      <a:solidFill>
                        <a:srgbClr val="660066"/>
                      </a:solidFill>
                      <a:prstDash val="sysDash"/>
                      <a:round/>
                      <a:headEnd type="none" w="med" len="med"/>
                      <a:tailEnd type="none" w="med" len="med"/>
                    </a:lnB>
                    <a:lnTlToBr>
                      <a:noFill/>
                    </a:lnTlToBr>
                    <a:lnBlToTr>
                      <a:noFill/>
                    </a:lnBlToTr>
                    <a:solidFill>
                      <a:schemeClr val="accent1">
                        <a:lumMod val="60000"/>
                        <a:lumOff val="40000"/>
                      </a:schemeClr>
                    </a:solidFill>
                  </a:tcPr>
                </a:tc>
              </a:tr>
              <a:tr h="1703942">
                <a:tc>
                  <a:txBody>
                    <a:bodyPr/>
                    <a:lstStyle/>
                    <a:p>
                      <a:pPr marL="0" marR="0" lvl="0" indent="0" algn="ctr" defTabSz="914400" rtl="0" eaLnBrk="1" fontAlgn="base" latinLnBrk="0" hangingPunct="1">
                        <a:lnSpc>
                          <a:spcPct val="100000"/>
                        </a:lnSpc>
                        <a:spcBef>
                          <a:spcPct val="20000"/>
                        </a:spcBef>
                        <a:spcAft>
                          <a:spcPct val="0"/>
                        </a:spcAft>
                        <a:buClr>
                          <a:srgbClr val="FFCC66"/>
                        </a:buClr>
                        <a:buSzTx/>
                        <a:buFontTx/>
                        <a:buNone/>
                        <a:tabLst/>
                      </a:pPr>
                      <a:r>
                        <a:rPr kumimoji="0" lang="en-GB" sz="2400" b="1" i="0" u="none" strike="noStrike" cap="none" normalizeH="0" baseline="0" dirty="0" smtClean="0">
                          <a:ln>
                            <a:noFill/>
                          </a:ln>
                          <a:solidFill>
                            <a:schemeClr val="bg1"/>
                          </a:solidFill>
                          <a:effectLst/>
                          <a:latin typeface="Arial Narrow" pitchFamily="34" charset="0"/>
                        </a:rPr>
                        <a:t>Psychological</a:t>
                      </a:r>
                    </a:p>
                    <a:p>
                      <a:pPr marL="0" marR="0" lvl="0" indent="0" algn="ctr" defTabSz="914400" rtl="0" eaLnBrk="1" fontAlgn="base" latinLnBrk="0" hangingPunct="1">
                        <a:lnSpc>
                          <a:spcPct val="100000"/>
                        </a:lnSpc>
                        <a:spcBef>
                          <a:spcPct val="20000"/>
                        </a:spcBef>
                        <a:spcAft>
                          <a:spcPct val="0"/>
                        </a:spcAft>
                        <a:buClr>
                          <a:srgbClr val="FFCC66"/>
                        </a:buClr>
                        <a:buSzTx/>
                        <a:buFontTx/>
                        <a:buNone/>
                        <a:tabLst/>
                      </a:pPr>
                      <a:r>
                        <a:rPr kumimoji="0" lang="en-GB" sz="2400" b="1" i="1" u="none" strike="noStrike" cap="none" normalizeH="0" baseline="0" dirty="0" smtClean="0">
                          <a:ln>
                            <a:noFill/>
                          </a:ln>
                          <a:solidFill>
                            <a:schemeClr val="bg1"/>
                          </a:solidFill>
                          <a:effectLst/>
                          <a:latin typeface="Arial Narrow" pitchFamily="34" charset="0"/>
                        </a:rPr>
                        <a:t>(Fontana</a:t>
                      </a:r>
                      <a:r>
                        <a:rPr kumimoji="0" lang="en-GB" sz="2400" b="1" i="0" u="none" strike="noStrike" cap="none" normalizeH="0" baseline="0" dirty="0" smtClean="0">
                          <a:ln>
                            <a:noFill/>
                          </a:ln>
                          <a:solidFill>
                            <a:schemeClr val="bg1"/>
                          </a:solidFill>
                          <a:effectLst/>
                          <a:latin typeface="Arial Narrow" pitchFamily="34" charset="0"/>
                        </a:rPr>
                        <a:t>)</a:t>
                      </a:r>
                    </a:p>
                  </a:txBody>
                  <a:tcPr anchor="ctr" anchorCtr="1" horzOverflow="overflow">
                    <a:lnL cap="flat">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CC66"/>
                        </a:buClr>
                        <a:buSzTx/>
                        <a:buFontTx/>
                        <a:buNone/>
                        <a:tabLst/>
                      </a:pPr>
                      <a:r>
                        <a:rPr kumimoji="0" lang="en-GB" sz="2400" b="1" i="0" u="none" strike="noStrike" cap="none" normalizeH="0" baseline="0" dirty="0" smtClean="0">
                          <a:ln>
                            <a:noFill/>
                          </a:ln>
                          <a:solidFill>
                            <a:srgbClr val="FFFFCC"/>
                          </a:solidFill>
                          <a:effectLst/>
                          <a:latin typeface="Arial Narrow" pitchFamily="34" charset="0"/>
                        </a:rPr>
                        <a:t>Appraisal</a:t>
                      </a:r>
                    </a:p>
                  </a:txBody>
                  <a:tcPr horzOverflow="overflow">
                    <a:lnL>
                      <a:noFill/>
                    </a:lnL>
                    <a:lnR w="28575" cap="flat" cmpd="sng" algn="ctr">
                      <a:solidFill>
                        <a:srgbClr val="660066"/>
                      </a:solidFill>
                      <a:prstDash val="sysDash"/>
                      <a:round/>
                      <a:headEnd type="none" w="med" len="med"/>
                      <a:tailEnd type="none" w="med" len="med"/>
                    </a:lnR>
                    <a:lnT w="28575" cap="flat" cmpd="sng" algn="ctr">
                      <a:solidFill>
                        <a:srgbClr val="660066"/>
                      </a:solidFill>
                      <a:prstDash val="sysDash"/>
                      <a:round/>
                      <a:headEnd type="none" w="med" len="med"/>
                      <a:tailEnd type="none" w="med" len="med"/>
                    </a:lnT>
                    <a:lnB cap="flat">
                      <a:noFill/>
                    </a:lnB>
                    <a:lnTlToBr>
                      <a:noFill/>
                    </a:lnTlToBr>
                    <a:lnBlToTr>
                      <a:noFill/>
                    </a:lnBlToTr>
                    <a:solidFill>
                      <a:schemeClr val="tx2">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
                          <a:srgbClr val="FFCC66"/>
                        </a:buClr>
                        <a:buSzTx/>
                        <a:buFontTx/>
                        <a:buNone/>
                        <a:tabLst/>
                      </a:pPr>
                      <a:r>
                        <a:rPr kumimoji="0" lang="en-GB" sz="2400" b="1" i="0" u="none" strike="noStrike" cap="none" normalizeH="0" baseline="0" dirty="0" smtClean="0">
                          <a:ln>
                            <a:noFill/>
                          </a:ln>
                          <a:solidFill>
                            <a:srgbClr val="FFFFCC"/>
                          </a:solidFill>
                          <a:effectLst/>
                          <a:latin typeface="Arial Narrow" pitchFamily="34" charset="0"/>
                        </a:rPr>
                        <a:t>Coping</a:t>
                      </a:r>
                    </a:p>
                    <a:p>
                      <a:pPr marL="0" marR="0" lvl="0" indent="0" algn="ctr" defTabSz="914400" rtl="0" eaLnBrk="1" fontAlgn="base" latinLnBrk="0" hangingPunct="1">
                        <a:lnSpc>
                          <a:spcPct val="100000"/>
                        </a:lnSpc>
                        <a:spcBef>
                          <a:spcPct val="20000"/>
                        </a:spcBef>
                        <a:spcAft>
                          <a:spcPct val="0"/>
                        </a:spcAft>
                        <a:buClr>
                          <a:srgbClr val="FFCC66"/>
                        </a:buClr>
                        <a:buSzTx/>
                        <a:buFontTx/>
                        <a:buNone/>
                        <a:tabLst/>
                      </a:pPr>
                      <a:r>
                        <a:rPr kumimoji="0" lang="en-GB" sz="2400" b="0" i="1" u="none" strike="noStrike" cap="none" normalizeH="0" baseline="0" dirty="0" smtClean="0">
                          <a:ln>
                            <a:noFill/>
                          </a:ln>
                          <a:solidFill>
                            <a:srgbClr val="FFFFCC"/>
                          </a:solidFill>
                          <a:effectLst/>
                          <a:latin typeface="Arial Narrow" pitchFamily="34" charset="0"/>
                        </a:rPr>
                        <a:t>(Enhanced functioning)</a:t>
                      </a:r>
                    </a:p>
                  </a:txBody>
                  <a:tcPr horzOverflow="overflow">
                    <a:lnL w="28575" cap="flat" cmpd="sng" algn="ctr">
                      <a:solidFill>
                        <a:srgbClr val="660066"/>
                      </a:solidFill>
                      <a:prstDash val="sysDash"/>
                      <a:round/>
                      <a:headEnd type="none" w="med" len="med"/>
                      <a:tailEnd type="none" w="med" len="med"/>
                    </a:lnL>
                    <a:lnR w="28575" cap="flat" cmpd="sng" algn="ctr">
                      <a:solidFill>
                        <a:srgbClr val="660066"/>
                      </a:solidFill>
                      <a:prstDash val="sysDash"/>
                      <a:round/>
                      <a:headEnd type="none" w="med" len="med"/>
                      <a:tailEnd type="none" w="med" len="med"/>
                    </a:lnR>
                    <a:lnT w="28575" cap="flat" cmpd="sng" algn="ctr">
                      <a:solidFill>
                        <a:srgbClr val="660066"/>
                      </a:solidFill>
                      <a:prstDash val="sysDash"/>
                      <a:round/>
                      <a:headEnd type="none" w="med" len="med"/>
                      <a:tailEnd type="none" w="med" len="med"/>
                    </a:lnT>
                    <a:lnB cap="flat">
                      <a:noFill/>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rgbClr val="FFCC66"/>
                        </a:buClr>
                        <a:buSzTx/>
                        <a:buFontTx/>
                        <a:buNone/>
                        <a:tabLst/>
                      </a:pPr>
                      <a:r>
                        <a:rPr kumimoji="0" lang="en-GB" sz="2400" b="1" i="0" u="none" strike="noStrike" cap="none" normalizeH="0" baseline="0" dirty="0" smtClean="0">
                          <a:ln>
                            <a:noFill/>
                          </a:ln>
                          <a:solidFill>
                            <a:srgbClr val="FFFFCC"/>
                          </a:solidFill>
                          <a:effectLst/>
                          <a:latin typeface="Arial Narrow" pitchFamily="34" charset="0"/>
                        </a:rPr>
                        <a:t>Collapse</a:t>
                      </a:r>
                    </a:p>
                    <a:p>
                      <a:pPr marL="0" marR="0" lvl="0" indent="0" algn="ctr" defTabSz="914400" rtl="0" eaLnBrk="1" fontAlgn="base" latinLnBrk="0" hangingPunct="1">
                        <a:lnSpc>
                          <a:spcPct val="100000"/>
                        </a:lnSpc>
                        <a:spcBef>
                          <a:spcPct val="20000"/>
                        </a:spcBef>
                        <a:spcAft>
                          <a:spcPct val="0"/>
                        </a:spcAft>
                        <a:buClr>
                          <a:srgbClr val="FFCC66"/>
                        </a:buClr>
                        <a:buSzTx/>
                        <a:buFontTx/>
                        <a:buNone/>
                        <a:tabLst/>
                      </a:pPr>
                      <a:r>
                        <a:rPr kumimoji="0" lang="en-GB" sz="2400" b="0" i="1" u="none" strike="noStrike" cap="none" normalizeH="0" baseline="0" dirty="0" smtClean="0">
                          <a:ln>
                            <a:noFill/>
                          </a:ln>
                          <a:solidFill>
                            <a:srgbClr val="FFFFCC"/>
                          </a:solidFill>
                          <a:effectLst/>
                          <a:latin typeface="Arial Narrow" pitchFamily="34" charset="0"/>
                        </a:rPr>
                        <a:t>(Impaired functioning)</a:t>
                      </a:r>
                    </a:p>
                  </a:txBody>
                  <a:tcPr horzOverflow="overflow">
                    <a:lnL w="28575" cap="flat" cmpd="sng" algn="ctr">
                      <a:solidFill>
                        <a:srgbClr val="660066"/>
                      </a:solidFill>
                      <a:prstDash val="sysDash"/>
                      <a:round/>
                      <a:headEnd type="none" w="med" len="med"/>
                      <a:tailEnd type="none" w="med" len="med"/>
                    </a:lnL>
                    <a:lnR cap="flat">
                      <a:noFill/>
                    </a:lnR>
                    <a:lnT w="28575" cap="flat" cmpd="sng" algn="ctr">
                      <a:solidFill>
                        <a:srgbClr val="660066"/>
                      </a:solidFill>
                      <a:prstDash val="sysDash"/>
                      <a:round/>
                      <a:headEnd type="none" w="med" len="med"/>
                      <a:tailEnd type="none" w="med" len="med"/>
                    </a:lnT>
                    <a:lnB cap="flat">
                      <a:noFill/>
                    </a:lnB>
                    <a:lnTlToBr>
                      <a:noFill/>
                    </a:lnTlToBr>
                    <a:lnBlToTr>
                      <a:noFill/>
                    </a:lnBlToTr>
                    <a:solidFill>
                      <a:schemeClr val="accent1">
                        <a:lumMod val="60000"/>
                        <a:lumOff val="40000"/>
                      </a:schemeClr>
                    </a:solidFill>
                  </a:tcPr>
                </a:tc>
              </a:tr>
            </a:tbl>
          </a:graphicData>
        </a:graphic>
      </p:graphicFrame>
      <p:grpSp>
        <p:nvGrpSpPr>
          <p:cNvPr id="9" name="Group 94"/>
          <p:cNvGrpSpPr>
            <a:grpSpLocks/>
          </p:cNvGrpSpPr>
          <p:nvPr/>
        </p:nvGrpSpPr>
        <p:grpSpPr bwMode="auto">
          <a:xfrm>
            <a:off x="2845837" y="2264403"/>
            <a:ext cx="5159293" cy="898255"/>
            <a:chOff x="1392" y="1296"/>
            <a:chExt cx="4032" cy="644"/>
          </a:xfrm>
          <a:effectLst/>
        </p:grpSpPr>
        <p:sp>
          <p:nvSpPr>
            <p:cNvPr id="10" name="Line 77"/>
            <p:cNvSpPr>
              <a:spLocks noChangeShapeType="1"/>
            </p:cNvSpPr>
            <p:nvPr/>
          </p:nvSpPr>
          <p:spPr bwMode="auto">
            <a:xfrm flipV="1">
              <a:off x="2263" y="1410"/>
              <a:ext cx="534" cy="528"/>
            </a:xfrm>
            <a:prstGeom prst="line">
              <a:avLst/>
            </a:prstGeom>
            <a:noFill/>
            <a:ln w="38100">
              <a:solidFill>
                <a:srgbClr val="FF66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11" name="Line 79"/>
            <p:cNvSpPr>
              <a:spLocks noChangeShapeType="1"/>
            </p:cNvSpPr>
            <p:nvPr/>
          </p:nvSpPr>
          <p:spPr bwMode="auto">
            <a:xfrm>
              <a:off x="4142" y="1410"/>
              <a:ext cx="486" cy="432"/>
            </a:xfrm>
            <a:prstGeom prst="line">
              <a:avLst/>
            </a:prstGeom>
            <a:noFill/>
            <a:ln w="38100">
              <a:solidFill>
                <a:srgbClr val="FF66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12" name="Line 76"/>
            <p:cNvSpPr>
              <a:spLocks noChangeShapeType="1"/>
            </p:cNvSpPr>
            <p:nvPr/>
          </p:nvSpPr>
          <p:spPr bwMode="auto">
            <a:xfrm>
              <a:off x="2035" y="1748"/>
              <a:ext cx="243" cy="192"/>
            </a:xfrm>
            <a:prstGeom prst="line">
              <a:avLst/>
            </a:prstGeom>
            <a:noFill/>
            <a:ln w="38100">
              <a:solidFill>
                <a:srgbClr val="FF66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13" name="Line 78"/>
            <p:cNvSpPr>
              <a:spLocks noChangeShapeType="1"/>
            </p:cNvSpPr>
            <p:nvPr/>
          </p:nvSpPr>
          <p:spPr bwMode="auto">
            <a:xfrm>
              <a:off x="2797" y="1409"/>
              <a:ext cx="1360" cy="0"/>
            </a:xfrm>
            <a:prstGeom prst="line">
              <a:avLst/>
            </a:prstGeom>
            <a:noFill/>
            <a:ln w="38100">
              <a:solidFill>
                <a:srgbClr val="FF66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14" name="Line 72"/>
            <p:cNvSpPr>
              <a:spLocks noChangeShapeType="1"/>
            </p:cNvSpPr>
            <p:nvPr/>
          </p:nvSpPr>
          <p:spPr bwMode="auto">
            <a:xfrm>
              <a:off x="1392" y="1745"/>
              <a:ext cx="4032" cy="0"/>
            </a:xfrm>
            <a:prstGeom prst="line">
              <a:avLst/>
            </a:prstGeom>
            <a:noFill/>
            <a:ln w="28575" cap="rnd">
              <a:solidFill>
                <a:srgbClr val="660066"/>
              </a:solidFill>
              <a:prstDash val="sysDot"/>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15" name="Text Box 73"/>
            <p:cNvSpPr txBox="1">
              <a:spLocks noChangeArrowheads="1"/>
            </p:cNvSpPr>
            <p:nvPr/>
          </p:nvSpPr>
          <p:spPr bwMode="auto">
            <a:xfrm>
              <a:off x="4142" y="1296"/>
              <a:ext cx="1277"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r">
                <a:spcBef>
                  <a:spcPct val="50000"/>
                </a:spcBef>
              </a:pPr>
              <a:r>
                <a:rPr lang="en-GB" altLang="en-US" b="1" dirty="0">
                  <a:solidFill>
                    <a:schemeClr val="bg1"/>
                  </a:solidFill>
                  <a:latin typeface="Arial Narrow" panose="020B0606020202030204" pitchFamily="34" charset="0"/>
                </a:rPr>
                <a:t>Normal resistance level</a:t>
              </a:r>
            </a:p>
          </p:txBody>
        </p:sp>
      </p:grpSp>
    </p:spTree>
    <p:extLst>
      <p:ext uri="{BB962C8B-B14F-4D97-AF65-F5344CB8AC3E}">
        <p14:creationId xmlns:p14="http://schemas.microsoft.com/office/powerpoint/2010/main" val="200963505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811617"/>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Effects of Too Much Stress I</a:t>
            </a:r>
            <a:endParaRPr lang="es-ES" sz="4400" dirty="0">
              <a:solidFill>
                <a:schemeClr val="bg1">
                  <a:lumMod val="50000"/>
                </a:schemeClr>
              </a:solidFill>
              <a:latin typeface="Calibri" charset="0"/>
            </a:endParaRPr>
          </a:p>
        </p:txBody>
      </p:sp>
      <p:sp>
        <p:nvSpPr>
          <p:cNvPr id="3" name="Rectangle 2"/>
          <p:cNvSpPr/>
          <p:nvPr/>
        </p:nvSpPr>
        <p:spPr>
          <a:xfrm>
            <a:off x="1035698" y="1563205"/>
            <a:ext cx="7137918" cy="5139869"/>
          </a:xfrm>
          <a:prstGeom prst="rect">
            <a:avLst/>
          </a:prstGeom>
        </p:spPr>
        <p:txBody>
          <a:bodyPr wrap="square">
            <a:spAutoFit/>
          </a:bodyPr>
          <a:lstStyle/>
          <a:p>
            <a:pPr marL="109728">
              <a:defRPr/>
            </a:pPr>
            <a:r>
              <a:rPr lang="en-GB" sz="2400" b="1" dirty="0">
                <a:latin typeface="Arial" panose="020B0604020202020204" pitchFamily="34" charset="0"/>
                <a:cs typeface="Arial" panose="020B0604020202020204" pitchFamily="34" charset="0"/>
              </a:rPr>
              <a:t>Cognitive Effects</a:t>
            </a:r>
          </a:p>
          <a:p>
            <a:pPr marL="395478" indent="-285750">
              <a:spcBef>
                <a:spcPct val="0"/>
              </a:spcBef>
              <a:buFont typeface="Arial" panose="020B0604020202020204" pitchFamily="34" charset="0"/>
              <a:buChar char="•"/>
              <a:defRPr/>
            </a:pPr>
            <a:r>
              <a:rPr lang="en-GB" sz="2000" dirty="0">
                <a:latin typeface="Arial" panose="020B0604020202020204" pitchFamily="34" charset="0"/>
                <a:cs typeface="Arial" panose="020B0604020202020204" pitchFamily="34" charset="0"/>
              </a:rPr>
              <a:t>Concentration and attention span </a:t>
            </a:r>
            <a:r>
              <a:rPr lang="en-GB" sz="2000" dirty="0" smtClean="0">
                <a:latin typeface="Arial" panose="020B0604020202020204" pitchFamily="34" charset="0"/>
                <a:cs typeface="Arial" panose="020B0604020202020204" pitchFamily="34" charset="0"/>
              </a:rPr>
              <a:t>decrease</a:t>
            </a:r>
            <a:endParaRPr lang="en-GB" sz="2000" dirty="0">
              <a:latin typeface="Arial" panose="020B0604020202020204" pitchFamily="34" charset="0"/>
              <a:cs typeface="Arial" panose="020B0604020202020204" pitchFamily="34" charset="0"/>
            </a:endParaRPr>
          </a:p>
          <a:p>
            <a:pPr marL="395478" indent="-285750">
              <a:spcBef>
                <a:spcPct val="0"/>
              </a:spcBef>
              <a:buFont typeface="Arial" panose="020B0604020202020204" pitchFamily="34" charset="0"/>
              <a:buChar char="•"/>
              <a:defRPr/>
            </a:pPr>
            <a:r>
              <a:rPr lang="en-GB" sz="2000" dirty="0" smtClean="0">
                <a:latin typeface="Arial" panose="020B0604020202020204" pitchFamily="34" charset="0"/>
                <a:cs typeface="Arial" panose="020B0604020202020204" pitchFamily="34" charset="0"/>
              </a:rPr>
              <a:t>Distractibility increases</a:t>
            </a:r>
            <a:endParaRPr lang="en-GB" sz="2000" dirty="0">
              <a:latin typeface="Arial" panose="020B0604020202020204" pitchFamily="34" charset="0"/>
              <a:cs typeface="Arial" panose="020B0604020202020204" pitchFamily="34" charset="0"/>
            </a:endParaRPr>
          </a:p>
          <a:p>
            <a:pPr marL="395478" indent="-285750">
              <a:spcBef>
                <a:spcPct val="0"/>
              </a:spcBef>
              <a:buFont typeface="Arial" panose="020B0604020202020204" pitchFamily="34" charset="0"/>
              <a:buChar char="•"/>
              <a:defRPr/>
            </a:pPr>
            <a:r>
              <a:rPr lang="en-GB" sz="2000" dirty="0">
                <a:latin typeface="Arial" panose="020B0604020202020204" pitchFamily="34" charset="0"/>
                <a:cs typeface="Arial" panose="020B0604020202020204" pitchFamily="34" charset="0"/>
              </a:rPr>
              <a:t>Short- and long-term memory </a:t>
            </a:r>
            <a:r>
              <a:rPr lang="en-GB" sz="2000" dirty="0" smtClean="0">
                <a:latin typeface="Arial" panose="020B0604020202020204" pitchFamily="34" charset="0"/>
                <a:cs typeface="Arial" panose="020B0604020202020204" pitchFamily="34" charset="0"/>
              </a:rPr>
              <a:t>deteriorate</a:t>
            </a:r>
            <a:endParaRPr lang="en-GB" sz="2000" dirty="0">
              <a:latin typeface="Arial" panose="020B0604020202020204" pitchFamily="34" charset="0"/>
              <a:cs typeface="Arial" panose="020B0604020202020204" pitchFamily="34" charset="0"/>
            </a:endParaRPr>
          </a:p>
          <a:p>
            <a:pPr marL="395478" indent="-285750">
              <a:spcBef>
                <a:spcPct val="0"/>
              </a:spcBef>
              <a:buFont typeface="Arial" panose="020B0604020202020204" pitchFamily="34" charset="0"/>
              <a:buChar char="•"/>
              <a:defRPr/>
            </a:pPr>
            <a:r>
              <a:rPr lang="en-GB" sz="2000" dirty="0">
                <a:latin typeface="Arial" panose="020B0604020202020204" pitchFamily="34" charset="0"/>
                <a:cs typeface="Arial" panose="020B0604020202020204" pitchFamily="34" charset="0"/>
              </a:rPr>
              <a:t>Response speed becomes </a:t>
            </a:r>
            <a:r>
              <a:rPr lang="en-GB" sz="2000" dirty="0" smtClean="0">
                <a:latin typeface="Arial" panose="020B0604020202020204" pitchFamily="34" charset="0"/>
                <a:cs typeface="Arial" panose="020B0604020202020204" pitchFamily="34" charset="0"/>
              </a:rPr>
              <a:t>unpredictable</a:t>
            </a:r>
            <a:endParaRPr lang="en-GB" sz="2000" dirty="0">
              <a:latin typeface="Arial" panose="020B0604020202020204" pitchFamily="34" charset="0"/>
              <a:cs typeface="Arial" panose="020B0604020202020204" pitchFamily="34" charset="0"/>
            </a:endParaRPr>
          </a:p>
          <a:p>
            <a:pPr marL="395478" indent="-285750">
              <a:spcBef>
                <a:spcPct val="0"/>
              </a:spcBef>
              <a:buFont typeface="Arial" panose="020B0604020202020204" pitchFamily="34" charset="0"/>
              <a:buChar char="•"/>
              <a:defRPr/>
            </a:pPr>
            <a:r>
              <a:rPr lang="en-GB" sz="2000" dirty="0">
                <a:latin typeface="Arial" panose="020B0604020202020204" pitchFamily="34" charset="0"/>
                <a:cs typeface="Arial" panose="020B0604020202020204" pitchFamily="34" charset="0"/>
              </a:rPr>
              <a:t>Error rate </a:t>
            </a:r>
            <a:r>
              <a:rPr lang="en-GB" sz="2000" dirty="0" smtClean="0">
                <a:latin typeface="Arial" panose="020B0604020202020204" pitchFamily="34" charset="0"/>
                <a:cs typeface="Arial" panose="020B0604020202020204" pitchFamily="34" charset="0"/>
              </a:rPr>
              <a:t>increases</a:t>
            </a:r>
            <a:endParaRPr lang="en-GB" sz="2000" dirty="0">
              <a:latin typeface="Arial" panose="020B0604020202020204" pitchFamily="34" charset="0"/>
              <a:cs typeface="Arial" panose="020B0604020202020204" pitchFamily="34" charset="0"/>
            </a:endParaRPr>
          </a:p>
          <a:p>
            <a:pPr marL="395478" indent="-285750">
              <a:spcBef>
                <a:spcPct val="0"/>
              </a:spcBef>
              <a:buFont typeface="Arial" panose="020B0604020202020204" pitchFamily="34" charset="0"/>
              <a:buChar char="•"/>
              <a:defRPr/>
            </a:pPr>
            <a:r>
              <a:rPr lang="en-GB" sz="2000" dirty="0">
                <a:latin typeface="Arial" panose="020B0604020202020204" pitchFamily="34" charset="0"/>
                <a:cs typeface="Arial" panose="020B0604020202020204" pitchFamily="34" charset="0"/>
              </a:rPr>
              <a:t>Organisation and planning </a:t>
            </a:r>
            <a:r>
              <a:rPr lang="en-GB" sz="2000" dirty="0" smtClean="0">
                <a:latin typeface="Arial" panose="020B0604020202020204" pitchFamily="34" charset="0"/>
                <a:cs typeface="Arial" panose="020B0604020202020204" pitchFamily="34" charset="0"/>
              </a:rPr>
              <a:t>deteriorate</a:t>
            </a:r>
            <a:endParaRPr lang="en-GB" sz="2000" dirty="0">
              <a:latin typeface="Arial" panose="020B0604020202020204" pitchFamily="34" charset="0"/>
              <a:cs typeface="Arial" panose="020B0604020202020204" pitchFamily="34" charset="0"/>
            </a:endParaRPr>
          </a:p>
          <a:p>
            <a:pPr marL="395478" indent="-285750">
              <a:spcBef>
                <a:spcPct val="0"/>
              </a:spcBef>
              <a:buFont typeface="Arial" panose="020B0604020202020204" pitchFamily="34" charset="0"/>
              <a:buChar char="•"/>
              <a:defRPr/>
            </a:pPr>
            <a:r>
              <a:rPr lang="en-GB" sz="2000" dirty="0">
                <a:latin typeface="Arial" panose="020B0604020202020204" pitchFamily="34" charset="0"/>
                <a:cs typeface="Arial" panose="020B0604020202020204" pitchFamily="34" charset="0"/>
              </a:rPr>
              <a:t>Delusions and thought disorders </a:t>
            </a:r>
            <a:r>
              <a:rPr lang="en-GB" sz="2000" dirty="0" smtClean="0">
                <a:latin typeface="Arial" panose="020B0604020202020204" pitchFamily="34" charset="0"/>
                <a:cs typeface="Arial" panose="020B0604020202020204" pitchFamily="34" charset="0"/>
              </a:rPr>
              <a:t>increase</a:t>
            </a:r>
            <a:endParaRPr lang="en-GB" sz="2000" dirty="0">
              <a:latin typeface="Arial" panose="020B0604020202020204" pitchFamily="34" charset="0"/>
              <a:cs typeface="Arial" panose="020B0604020202020204" pitchFamily="34" charset="0"/>
            </a:endParaRPr>
          </a:p>
          <a:p>
            <a:pPr marL="109728">
              <a:defRPr/>
            </a:pPr>
            <a:endParaRPr lang="en-GB" sz="2000" b="1" dirty="0" smtClean="0">
              <a:latin typeface="Arial" panose="020B0604020202020204" pitchFamily="34" charset="0"/>
              <a:cs typeface="Arial" panose="020B0604020202020204" pitchFamily="34" charset="0"/>
            </a:endParaRPr>
          </a:p>
          <a:p>
            <a:pPr marL="109728">
              <a:defRPr/>
            </a:pPr>
            <a:r>
              <a:rPr lang="en-GB" sz="2400" b="1" dirty="0" smtClean="0">
                <a:latin typeface="Arial" panose="020B0604020202020204" pitchFamily="34" charset="0"/>
                <a:cs typeface="Arial" panose="020B0604020202020204" pitchFamily="34" charset="0"/>
              </a:rPr>
              <a:t>Emotional </a:t>
            </a:r>
            <a:r>
              <a:rPr lang="en-GB" sz="2400" b="1" dirty="0">
                <a:latin typeface="Arial" panose="020B0604020202020204" pitchFamily="34" charset="0"/>
                <a:cs typeface="Arial" panose="020B0604020202020204" pitchFamily="34" charset="0"/>
              </a:rPr>
              <a:t>Effects</a:t>
            </a:r>
          </a:p>
          <a:p>
            <a:pPr marL="395478" indent="-285750">
              <a:spcBef>
                <a:spcPct val="0"/>
              </a:spcBef>
              <a:buFont typeface="Arial" panose="020B0604020202020204" pitchFamily="34" charset="0"/>
              <a:buChar char="•"/>
              <a:defRPr/>
            </a:pPr>
            <a:r>
              <a:rPr lang="en-GB" sz="2000" dirty="0">
                <a:latin typeface="Arial" panose="020B0604020202020204" pitchFamily="34" charset="0"/>
                <a:cs typeface="Arial" panose="020B0604020202020204" pitchFamily="34" charset="0"/>
              </a:rPr>
              <a:t>Ability to switch off worry and anxiety </a:t>
            </a:r>
            <a:r>
              <a:rPr lang="en-GB" sz="2000" dirty="0" smtClean="0">
                <a:latin typeface="Arial" panose="020B0604020202020204" pitchFamily="34" charset="0"/>
                <a:cs typeface="Arial" panose="020B0604020202020204" pitchFamily="34" charset="0"/>
              </a:rPr>
              <a:t>reduces</a:t>
            </a:r>
            <a:endParaRPr lang="en-GB" sz="2000" dirty="0">
              <a:latin typeface="Arial" panose="020B0604020202020204" pitchFamily="34" charset="0"/>
              <a:cs typeface="Arial" panose="020B0604020202020204" pitchFamily="34" charset="0"/>
            </a:endParaRPr>
          </a:p>
          <a:p>
            <a:pPr marL="395478" indent="-285750">
              <a:spcBef>
                <a:spcPct val="0"/>
              </a:spcBef>
              <a:buFont typeface="Arial" panose="020B0604020202020204" pitchFamily="34" charset="0"/>
              <a:buChar char="•"/>
              <a:defRPr/>
            </a:pPr>
            <a:r>
              <a:rPr lang="en-GB" sz="2000" dirty="0">
                <a:latin typeface="Arial" panose="020B0604020202020204" pitchFamily="34" charset="0"/>
                <a:cs typeface="Arial" panose="020B0604020202020204" pitchFamily="34" charset="0"/>
              </a:rPr>
              <a:t>Feelings of health and well-being </a:t>
            </a:r>
            <a:r>
              <a:rPr lang="en-GB" sz="2000" dirty="0" smtClean="0">
                <a:latin typeface="Arial" panose="020B0604020202020204" pitchFamily="34" charset="0"/>
                <a:cs typeface="Arial" panose="020B0604020202020204" pitchFamily="34" charset="0"/>
              </a:rPr>
              <a:t>reduce</a:t>
            </a:r>
            <a:endParaRPr lang="en-GB" sz="2000" dirty="0">
              <a:latin typeface="Arial" panose="020B0604020202020204" pitchFamily="34" charset="0"/>
              <a:cs typeface="Arial" panose="020B0604020202020204" pitchFamily="34" charset="0"/>
            </a:endParaRPr>
          </a:p>
          <a:p>
            <a:pPr marL="395478" indent="-285750">
              <a:spcBef>
                <a:spcPct val="0"/>
              </a:spcBef>
              <a:buFont typeface="Arial" panose="020B0604020202020204" pitchFamily="34" charset="0"/>
              <a:buChar char="•"/>
              <a:defRPr/>
            </a:pPr>
            <a:r>
              <a:rPr lang="en-GB" sz="2000" dirty="0">
                <a:latin typeface="Arial" panose="020B0604020202020204" pitchFamily="34" charset="0"/>
                <a:cs typeface="Arial" panose="020B0604020202020204" pitchFamily="34" charset="0"/>
              </a:rPr>
              <a:t>Over-sensitivity, defensiveness and hostility more </a:t>
            </a:r>
            <a:r>
              <a:rPr lang="en-GB" sz="2000" dirty="0" smtClean="0">
                <a:latin typeface="Arial" panose="020B0604020202020204" pitchFamily="34" charset="0"/>
                <a:cs typeface="Arial" panose="020B0604020202020204" pitchFamily="34" charset="0"/>
              </a:rPr>
              <a:t>likely</a:t>
            </a:r>
            <a:endParaRPr lang="en-GB" sz="2000" dirty="0">
              <a:latin typeface="Arial" panose="020B0604020202020204" pitchFamily="34" charset="0"/>
              <a:cs typeface="Arial" panose="020B0604020202020204" pitchFamily="34" charset="0"/>
            </a:endParaRPr>
          </a:p>
          <a:p>
            <a:pPr marL="395478" indent="-285750">
              <a:spcBef>
                <a:spcPct val="0"/>
              </a:spcBef>
              <a:buFont typeface="Arial" panose="020B0604020202020204" pitchFamily="34" charset="0"/>
              <a:buChar char="•"/>
              <a:defRPr/>
            </a:pPr>
            <a:r>
              <a:rPr lang="en-GB" sz="2000" dirty="0">
                <a:latin typeface="Arial" panose="020B0604020202020204" pitchFamily="34" charset="0"/>
                <a:cs typeface="Arial" panose="020B0604020202020204" pitchFamily="34" charset="0"/>
              </a:rPr>
              <a:t>Emotional outbursts can </a:t>
            </a:r>
            <a:r>
              <a:rPr lang="en-GB" sz="2000" dirty="0" smtClean="0">
                <a:latin typeface="Arial" panose="020B0604020202020204" pitchFamily="34" charset="0"/>
                <a:cs typeface="Arial" panose="020B0604020202020204" pitchFamily="34" charset="0"/>
              </a:rPr>
              <a:t>increase</a:t>
            </a:r>
            <a:endParaRPr lang="en-GB" sz="2000" dirty="0">
              <a:latin typeface="Arial" panose="020B0604020202020204" pitchFamily="34" charset="0"/>
              <a:cs typeface="Arial" panose="020B0604020202020204" pitchFamily="34" charset="0"/>
            </a:endParaRPr>
          </a:p>
          <a:p>
            <a:pPr marL="395478" indent="-285750">
              <a:spcBef>
                <a:spcPct val="0"/>
              </a:spcBef>
              <a:buFont typeface="Arial" panose="020B0604020202020204" pitchFamily="34" charset="0"/>
              <a:buChar char="•"/>
              <a:defRPr/>
            </a:pPr>
            <a:r>
              <a:rPr lang="en-GB" sz="2000" dirty="0">
                <a:latin typeface="Arial" panose="020B0604020202020204" pitchFamily="34" charset="0"/>
                <a:cs typeface="Arial" panose="020B0604020202020204" pitchFamily="34" charset="0"/>
              </a:rPr>
              <a:t>Depression and helplessness more </a:t>
            </a:r>
            <a:r>
              <a:rPr lang="en-GB" sz="2000" dirty="0" smtClean="0">
                <a:latin typeface="Arial" panose="020B0604020202020204" pitchFamily="34" charset="0"/>
                <a:cs typeface="Arial" panose="020B0604020202020204" pitchFamily="34" charset="0"/>
              </a:rPr>
              <a:t>likely</a:t>
            </a:r>
            <a:endParaRPr lang="en-GB" sz="2000" dirty="0">
              <a:latin typeface="Arial" panose="020B0604020202020204" pitchFamily="34" charset="0"/>
              <a:cs typeface="Arial" panose="020B0604020202020204" pitchFamily="34" charset="0"/>
            </a:endParaRPr>
          </a:p>
          <a:p>
            <a:pPr marL="395478" indent="-285750">
              <a:spcBef>
                <a:spcPct val="0"/>
              </a:spcBef>
              <a:buFont typeface="Arial" panose="020B0604020202020204" pitchFamily="34" charset="0"/>
              <a:buChar char="•"/>
              <a:defRPr/>
            </a:pPr>
            <a:r>
              <a:rPr lang="en-GB" sz="2000" dirty="0">
                <a:latin typeface="Arial" panose="020B0604020202020204" pitchFamily="34" charset="0"/>
                <a:cs typeface="Arial" panose="020B0604020202020204" pitchFamily="34" charset="0"/>
              </a:rPr>
              <a:t>Self-esteem </a:t>
            </a:r>
            <a:r>
              <a:rPr lang="en-GB" sz="2000" dirty="0" smtClean="0">
                <a:latin typeface="Arial" panose="020B0604020202020204" pitchFamily="34" charset="0"/>
                <a:cs typeface="Arial" panose="020B0604020202020204" pitchFamily="34" charset="0"/>
              </a:rPr>
              <a:t>falls</a:t>
            </a:r>
            <a:endParaRPr lang="en-GB"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1172940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820948"/>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Effects of Too Much Stress II</a:t>
            </a:r>
            <a:endParaRPr lang="es-ES" sz="4400" dirty="0">
              <a:solidFill>
                <a:schemeClr val="bg1">
                  <a:lumMod val="50000"/>
                </a:schemeClr>
              </a:solidFill>
              <a:latin typeface="Calibri" charset="0"/>
            </a:endParaRPr>
          </a:p>
        </p:txBody>
      </p:sp>
      <p:sp>
        <p:nvSpPr>
          <p:cNvPr id="3" name="Rectangle 2"/>
          <p:cNvSpPr/>
          <p:nvPr/>
        </p:nvSpPr>
        <p:spPr>
          <a:xfrm>
            <a:off x="1063690" y="1590389"/>
            <a:ext cx="7081934" cy="4154984"/>
          </a:xfrm>
          <a:prstGeom prst="rect">
            <a:avLst/>
          </a:prstGeom>
        </p:spPr>
        <p:txBody>
          <a:bodyPr wrap="square">
            <a:spAutoFit/>
          </a:bodyPr>
          <a:lstStyle/>
          <a:p>
            <a:pPr marL="109728">
              <a:defRPr/>
            </a:pPr>
            <a:r>
              <a:rPr lang="en-GB" sz="2400" b="1" dirty="0">
                <a:latin typeface="Arial" panose="020B0604020202020204" pitchFamily="34" charset="0"/>
                <a:cs typeface="Arial" panose="020B0604020202020204" pitchFamily="34" charset="0"/>
              </a:rPr>
              <a:t>Behavioural Effects</a:t>
            </a:r>
          </a:p>
          <a:p>
            <a:pPr marL="395478" indent="-285750">
              <a:spcBef>
                <a:spcPct val="0"/>
              </a:spcBef>
              <a:buFont typeface="Arial" panose="020B0604020202020204" pitchFamily="34" charset="0"/>
              <a:buChar char="•"/>
              <a:defRPr/>
            </a:pPr>
            <a:r>
              <a:rPr lang="en-GB" sz="2000" dirty="0">
                <a:latin typeface="Arial" panose="020B0604020202020204" pitchFamily="34" charset="0"/>
                <a:cs typeface="Arial" panose="020B0604020202020204" pitchFamily="34" charset="0"/>
              </a:rPr>
              <a:t>Speech problems </a:t>
            </a:r>
            <a:r>
              <a:rPr lang="en-GB" sz="2000" dirty="0" smtClean="0">
                <a:latin typeface="Arial" panose="020B0604020202020204" pitchFamily="34" charset="0"/>
                <a:cs typeface="Arial" panose="020B0604020202020204" pitchFamily="34" charset="0"/>
              </a:rPr>
              <a:t>increase</a:t>
            </a:r>
            <a:endParaRPr lang="en-GB" sz="2000" dirty="0">
              <a:latin typeface="Arial" panose="020B0604020202020204" pitchFamily="34" charset="0"/>
              <a:cs typeface="Arial" panose="020B0604020202020204" pitchFamily="34" charset="0"/>
            </a:endParaRPr>
          </a:p>
          <a:p>
            <a:pPr marL="395478" indent="-285750">
              <a:spcBef>
                <a:spcPct val="0"/>
              </a:spcBef>
              <a:buFont typeface="Arial" panose="020B0604020202020204" pitchFamily="34" charset="0"/>
              <a:buChar char="•"/>
              <a:defRPr/>
            </a:pPr>
            <a:r>
              <a:rPr lang="en-GB" sz="2000" dirty="0">
                <a:latin typeface="Arial" panose="020B0604020202020204" pitchFamily="34" charset="0"/>
                <a:cs typeface="Arial" panose="020B0604020202020204" pitchFamily="34" charset="0"/>
              </a:rPr>
              <a:t>Interests and enthusiasms </a:t>
            </a:r>
            <a:r>
              <a:rPr lang="en-GB" sz="2000" dirty="0" smtClean="0">
                <a:latin typeface="Arial" panose="020B0604020202020204" pitchFamily="34" charset="0"/>
                <a:cs typeface="Arial" panose="020B0604020202020204" pitchFamily="34" charset="0"/>
              </a:rPr>
              <a:t>diminish</a:t>
            </a:r>
            <a:endParaRPr lang="en-GB" sz="2000" dirty="0">
              <a:latin typeface="Arial" panose="020B0604020202020204" pitchFamily="34" charset="0"/>
              <a:cs typeface="Arial" panose="020B0604020202020204" pitchFamily="34" charset="0"/>
            </a:endParaRPr>
          </a:p>
          <a:p>
            <a:pPr marL="395478" indent="-285750">
              <a:spcBef>
                <a:spcPct val="0"/>
              </a:spcBef>
              <a:buFont typeface="Arial" panose="020B0604020202020204" pitchFamily="34" charset="0"/>
              <a:buChar char="•"/>
              <a:defRPr/>
            </a:pPr>
            <a:r>
              <a:rPr lang="en-GB" sz="2000" dirty="0">
                <a:latin typeface="Arial" panose="020B0604020202020204" pitchFamily="34" charset="0"/>
                <a:cs typeface="Arial" panose="020B0604020202020204" pitchFamily="34" charset="0"/>
              </a:rPr>
              <a:t>Absenteeism </a:t>
            </a:r>
            <a:r>
              <a:rPr lang="en-GB" sz="2000" dirty="0" smtClean="0">
                <a:latin typeface="Arial" panose="020B0604020202020204" pitchFamily="34" charset="0"/>
                <a:cs typeface="Arial" panose="020B0604020202020204" pitchFamily="34" charset="0"/>
              </a:rPr>
              <a:t>increases</a:t>
            </a:r>
            <a:endParaRPr lang="en-GB" sz="2000" dirty="0">
              <a:latin typeface="Arial" panose="020B0604020202020204" pitchFamily="34" charset="0"/>
              <a:cs typeface="Arial" panose="020B0604020202020204" pitchFamily="34" charset="0"/>
            </a:endParaRPr>
          </a:p>
          <a:p>
            <a:pPr marL="395478" indent="-285750">
              <a:spcBef>
                <a:spcPct val="0"/>
              </a:spcBef>
              <a:buFont typeface="Arial" panose="020B0604020202020204" pitchFamily="34" charset="0"/>
              <a:buChar char="•"/>
              <a:defRPr/>
            </a:pPr>
            <a:r>
              <a:rPr lang="en-GB" sz="2000" dirty="0">
                <a:latin typeface="Arial" panose="020B0604020202020204" pitchFamily="34" charset="0"/>
                <a:cs typeface="Arial" panose="020B0604020202020204" pitchFamily="34" charset="0"/>
              </a:rPr>
              <a:t>Drug abuse </a:t>
            </a:r>
            <a:r>
              <a:rPr lang="en-GB" sz="2000" dirty="0" smtClean="0">
                <a:latin typeface="Arial" panose="020B0604020202020204" pitchFamily="34" charset="0"/>
                <a:cs typeface="Arial" panose="020B0604020202020204" pitchFamily="34" charset="0"/>
              </a:rPr>
              <a:t>increases</a:t>
            </a:r>
            <a:endParaRPr lang="en-GB" sz="2000" dirty="0">
              <a:latin typeface="Arial" panose="020B0604020202020204" pitchFamily="34" charset="0"/>
              <a:cs typeface="Arial" panose="020B0604020202020204" pitchFamily="34" charset="0"/>
            </a:endParaRPr>
          </a:p>
          <a:p>
            <a:pPr marL="395478" indent="-285750">
              <a:spcBef>
                <a:spcPct val="0"/>
              </a:spcBef>
              <a:buFont typeface="Arial" panose="020B0604020202020204" pitchFamily="34" charset="0"/>
              <a:buChar char="•"/>
              <a:defRPr/>
            </a:pPr>
            <a:r>
              <a:rPr lang="en-GB" sz="2000" dirty="0">
                <a:latin typeface="Arial" panose="020B0604020202020204" pitchFamily="34" charset="0"/>
                <a:cs typeface="Arial" panose="020B0604020202020204" pitchFamily="34" charset="0"/>
              </a:rPr>
              <a:t>Low energy </a:t>
            </a:r>
            <a:r>
              <a:rPr lang="en-GB" sz="2000" dirty="0" smtClean="0">
                <a:latin typeface="Arial" panose="020B0604020202020204" pitchFamily="34" charset="0"/>
                <a:cs typeface="Arial" panose="020B0604020202020204" pitchFamily="34" charset="0"/>
              </a:rPr>
              <a:t>levels</a:t>
            </a:r>
            <a:endParaRPr lang="en-GB" sz="2000" dirty="0">
              <a:latin typeface="Arial" panose="020B0604020202020204" pitchFamily="34" charset="0"/>
              <a:cs typeface="Arial" panose="020B0604020202020204" pitchFamily="34" charset="0"/>
            </a:endParaRPr>
          </a:p>
          <a:p>
            <a:pPr marL="395478" indent="-285750">
              <a:spcBef>
                <a:spcPct val="0"/>
              </a:spcBef>
              <a:buFont typeface="Arial" panose="020B0604020202020204" pitchFamily="34" charset="0"/>
              <a:buChar char="•"/>
              <a:defRPr/>
            </a:pPr>
            <a:r>
              <a:rPr lang="en-GB" sz="2000" dirty="0">
                <a:latin typeface="Arial" panose="020B0604020202020204" pitchFamily="34" charset="0"/>
                <a:cs typeface="Arial" panose="020B0604020202020204" pitchFamily="34" charset="0"/>
              </a:rPr>
              <a:t>Disrupted sleep </a:t>
            </a:r>
            <a:r>
              <a:rPr lang="en-GB" sz="2000" dirty="0" smtClean="0">
                <a:latin typeface="Arial" panose="020B0604020202020204" pitchFamily="34" charset="0"/>
                <a:cs typeface="Arial" panose="020B0604020202020204" pitchFamily="34" charset="0"/>
              </a:rPr>
              <a:t>patterns</a:t>
            </a:r>
            <a:endParaRPr lang="en-GB" sz="2000" dirty="0">
              <a:latin typeface="Arial" panose="020B0604020202020204" pitchFamily="34" charset="0"/>
              <a:cs typeface="Arial" panose="020B0604020202020204" pitchFamily="34" charset="0"/>
            </a:endParaRPr>
          </a:p>
          <a:p>
            <a:pPr marL="395478" indent="-285750">
              <a:spcBef>
                <a:spcPct val="0"/>
              </a:spcBef>
              <a:buFont typeface="Arial" panose="020B0604020202020204" pitchFamily="34" charset="0"/>
              <a:buChar char="•"/>
              <a:defRPr/>
            </a:pPr>
            <a:r>
              <a:rPr lang="en-GB" sz="2000" dirty="0">
                <a:latin typeface="Arial" panose="020B0604020202020204" pitchFamily="34" charset="0"/>
                <a:cs typeface="Arial" panose="020B0604020202020204" pitchFamily="34" charset="0"/>
              </a:rPr>
              <a:t>Increased cynicism about clients and </a:t>
            </a:r>
            <a:r>
              <a:rPr lang="en-GB" sz="2000" dirty="0" smtClean="0">
                <a:latin typeface="Arial" panose="020B0604020202020204" pitchFamily="34" charset="0"/>
                <a:cs typeface="Arial" panose="020B0604020202020204" pitchFamily="34" charset="0"/>
              </a:rPr>
              <a:t>colleagues</a:t>
            </a:r>
            <a:endParaRPr lang="en-GB" sz="2000" dirty="0">
              <a:latin typeface="Arial" panose="020B0604020202020204" pitchFamily="34" charset="0"/>
              <a:cs typeface="Arial" panose="020B0604020202020204" pitchFamily="34" charset="0"/>
            </a:endParaRPr>
          </a:p>
          <a:p>
            <a:pPr marL="395478" indent="-285750">
              <a:spcBef>
                <a:spcPct val="0"/>
              </a:spcBef>
              <a:buFont typeface="Arial" panose="020B0604020202020204" pitchFamily="34" charset="0"/>
              <a:buChar char="•"/>
              <a:defRPr/>
            </a:pPr>
            <a:r>
              <a:rPr lang="en-GB" sz="2000" dirty="0">
                <a:latin typeface="Arial" panose="020B0604020202020204" pitchFamily="34" charset="0"/>
                <a:cs typeface="Arial" panose="020B0604020202020204" pitchFamily="34" charset="0"/>
              </a:rPr>
              <a:t>New information is </a:t>
            </a:r>
            <a:r>
              <a:rPr lang="en-GB" sz="2000" dirty="0" smtClean="0">
                <a:latin typeface="Arial" panose="020B0604020202020204" pitchFamily="34" charset="0"/>
                <a:cs typeface="Arial" panose="020B0604020202020204" pitchFamily="34" charset="0"/>
              </a:rPr>
              <a:t>ignored</a:t>
            </a:r>
            <a:endParaRPr lang="en-GB" sz="2000" dirty="0">
              <a:latin typeface="Arial" panose="020B0604020202020204" pitchFamily="34" charset="0"/>
              <a:cs typeface="Arial" panose="020B0604020202020204" pitchFamily="34" charset="0"/>
            </a:endParaRPr>
          </a:p>
          <a:p>
            <a:pPr marL="395478" indent="-285750">
              <a:spcBef>
                <a:spcPct val="0"/>
              </a:spcBef>
              <a:buFont typeface="Arial" panose="020B0604020202020204" pitchFamily="34" charset="0"/>
              <a:buChar char="•"/>
              <a:defRPr/>
            </a:pPr>
            <a:r>
              <a:rPr lang="en-GB" sz="2000" dirty="0">
                <a:latin typeface="Arial" panose="020B0604020202020204" pitchFamily="34" charset="0"/>
                <a:cs typeface="Arial" panose="020B0604020202020204" pitchFamily="34" charset="0"/>
              </a:rPr>
              <a:t>Responsibilities are shifted on to </a:t>
            </a:r>
            <a:r>
              <a:rPr lang="en-GB" sz="2000" dirty="0" smtClean="0">
                <a:latin typeface="Arial" panose="020B0604020202020204" pitchFamily="34" charset="0"/>
                <a:cs typeface="Arial" panose="020B0604020202020204" pitchFamily="34" charset="0"/>
              </a:rPr>
              <a:t>others</a:t>
            </a:r>
            <a:endParaRPr lang="en-GB" sz="2000" dirty="0">
              <a:latin typeface="Arial" panose="020B0604020202020204" pitchFamily="34" charset="0"/>
              <a:cs typeface="Arial" panose="020B0604020202020204" pitchFamily="34" charset="0"/>
            </a:endParaRPr>
          </a:p>
          <a:p>
            <a:pPr marL="395478" indent="-285750">
              <a:spcBef>
                <a:spcPct val="0"/>
              </a:spcBef>
              <a:buFont typeface="Arial" panose="020B0604020202020204" pitchFamily="34" charset="0"/>
              <a:buChar char="•"/>
              <a:defRPr/>
            </a:pPr>
            <a:r>
              <a:rPr lang="en-GB" sz="2000" dirty="0">
                <a:latin typeface="Arial" panose="020B0604020202020204" pitchFamily="34" charset="0"/>
                <a:cs typeface="Arial" panose="020B0604020202020204" pitchFamily="34" charset="0"/>
              </a:rPr>
              <a:t>Problems are solved at an increasingly superficial </a:t>
            </a:r>
            <a:r>
              <a:rPr lang="en-GB" sz="2000" dirty="0" smtClean="0">
                <a:latin typeface="Arial" panose="020B0604020202020204" pitchFamily="34" charset="0"/>
                <a:cs typeface="Arial" panose="020B0604020202020204" pitchFamily="34" charset="0"/>
              </a:rPr>
              <a:t>level</a:t>
            </a:r>
            <a:endParaRPr lang="en-GB" sz="2000" dirty="0">
              <a:latin typeface="Arial" panose="020B0604020202020204" pitchFamily="34" charset="0"/>
              <a:cs typeface="Arial" panose="020B0604020202020204" pitchFamily="34" charset="0"/>
            </a:endParaRPr>
          </a:p>
          <a:p>
            <a:pPr marL="395478" indent="-285750">
              <a:spcBef>
                <a:spcPct val="0"/>
              </a:spcBef>
              <a:buFont typeface="Arial" panose="020B0604020202020204" pitchFamily="34" charset="0"/>
              <a:buChar char="•"/>
              <a:defRPr/>
            </a:pPr>
            <a:r>
              <a:rPr lang="en-GB" sz="2000" dirty="0">
                <a:latin typeface="Arial" panose="020B0604020202020204" pitchFamily="34" charset="0"/>
                <a:cs typeface="Arial" panose="020B0604020202020204" pitchFamily="34" charset="0"/>
              </a:rPr>
              <a:t>Bizarre behaviour patterns </a:t>
            </a:r>
            <a:r>
              <a:rPr lang="en-GB" sz="2000" dirty="0" smtClean="0">
                <a:latin typeface="Arial" panose="020B0604020202020204" pitchFamily="34" charset="0"/>
                <a:cs typeface="Arial" panose="020B0604020202020204" pitchFamily="34" charset="0"/>
              </a:rPr>
              <a:t>appear</a:t>
            </a:r>
            <a:endParaRPr lang="en-GB" sz="2000" dirty="0">
              <a:latin typeface="Arial" panose="020B0604020202020204" pitchFamily="34" charset="0"/>
              <a:cs typeface="Arial" panose="020B0604020202020204" pitchFamily="34" charset="0"/>
            </a:endParaRPr>
          </a:p>
          <a:p>
            <a:pPr marL="395478" indent="-285750">
              <a:spcBef>
                <a:spcPct val="0"/>
              </a:spcBef>
              <a:buFont typeface="Arial" panose="020B0604020202020204" pitchFamily="34" charset="0"/>
              <a:buChar char="•"/>
              <a:defRPr/>
            </a:pPr>
            <a:r>
              <a:rPr lang="en-GB" sz="2000" dirty="0">
                <a:latin typeface="Arial" panose="020B0604020202020204" pitchFamily="34" charset="0"/>
                <a:cs typeface="Arial" panose="020B0604020202020204" pitchFamily="34" charset="0"/>
              </a:rPr>
              <a:t>Suicide threats may be </a:t>
            </a:r>
            <a:r>
              <a:rPr lang="en-GB" sz="2000" dirty="0" smtClean="0">
                <a:latin typeface="Arial" panose="020B0604020202020204" pitchFamily="34" charset="0"/>
                <a:cs typeface="Arial" panose="020B0604020202020204" pitchFamily="34" charset="0"/>
              </a:rPr>
              <a:t>made</a:t>
            </a:r>
            <a:endParaRPr lang="en-GB"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3643322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802287"/>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Managing Stress</a:t>
            </a:r>
            <a:endParaRPr lang="es-ES" sz="4400" dirty="0">
              <a:solidFill>
                <a:schemeClr val="bg1">
                  <a:lumMod val="50000"/>
                </a:schemeClr>
              </a:solidFill>
              <a:latin typeface="Calibri" charset="0"/>
            </a:endParaRPr>
          </a:p>
        </p:txBody>
      </p:sp>
      <p:sp>
        <p:nvSpPr>
          <p:cNvPr id="7" name="AutoShape 14"/>
          <p:cNvSpPr>
            <a:spLocks noChangeArrowheads="1"/>
          </p:cNvSpPr>
          <p:nvPr/>
        </p:nvSpPr>
        <p:spPr bwMode="auto">
          <a:xfrm>
            <a:off x="996820" y="1757265"/>
            <a:ext cx="7150359" cy="4037045"/>
          </a:xfrm>
          <a:prstGeom prst="roundRect">
            <a:avLst>
              <a:gd name="adj" fmla="val 16667"/>
            </a:avLst>
          </a:prstGeom>
          <a:solidFill>
            <a:schemeClr val="accent1">
              <a:lumMod val="60000"/>
              <a:lumOff val="40000"/>
              <a:alpha val="50195"/>
            </a:schemeClr>
          </a:solidFill>
          <a:ln w="9525">
            <a:solidFill>
              <a:schemeClr val="accent1">
                <a:lumMod val="60000"/>
                <a:lumOff val="40000"/>
              </a:schemeClr>
            </a:solidFill>
            <a:round/>
            <a:headEnd/>
            <a:tailEnd/>
          </a:ln>
        </p:spPr>
        <p:txBody>
          <a:bodyPr wrap="none"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spcBef>
                <a:spcPct val="50000"/>
              </a:spcBef>
            </a:pPr>
            <a:endParaRPr lang="en-GB" altLang="en-US" b="1" dirty="0" smtClean="0">
              <a:latin typeface="Arial Narrow" panose="020B0606020202030204" pitchFamily="34" charset="0"/>
            </a:endParaRPr>
          </a:p>
          <a:p>
            <a:pPr>
              <a:spcBef>
                <a:spcPct val="50000"/>
              </a:spcBef>
            </a:pPr>
            <a:endParaRPr lang="en-GB" altLang="en-US" b="1" dirty="0" smtClean="0">
              <a:latin typeface="Arial Narrow" panose="020B0606020202030204" pitchFamily="34" charset="0"/>
            </a:endParaRPr>
          </a:p>
          <a:p>
            <a:pPr>
              <a:spcBef>
                <a:spcPct val="50000"/>
              </a:spcBef>
            </a:pPr>
            <a:endParaRPr lang="en-GB" altLang="en-US" b="1" dirty="0" smtClean="0">
              <a:latin typeface="Arial Narrow" panose="020B0606020202030204" pitchFamily="34" charset="0"/>
            </a:endParaRPr>
          </a:p>
          <a:p>
            <a:pPr>
              <a:spcBef>
                <a:spcPct val="50000"/>
              </a:spcBef>
            </a:pPr>
            <a:endParaRPr lang="en-GB" altLang="en-US" b="1" dirty="0" smtClean="0">
              <a:latin typeface="Arial Narrow" panose="020B0606020202030204" pitchFamily="34" charset="0"/>
            </a:endParaRPr>
          </a:p>
          <a:p>
            <a:pPr>
              <a:spcBef>
                <a:spcPct val="50000"/>
              </a:spcBef>
            </a:pPr>
            <a:endParaRPr lang="en-GB" altLang="en-US" b="1" dirty="0" smtClean="0">
              <a:latin typeface="Arial Narrow" panose="020B0606020202030204" pitchFamily="34" charset="0"/>
            </a:endParaRPr>
          </a:p>
          <a:p>
            <a:pPr>
              <a:spcBef>
                <a:spcPct val="50000"/>
              </a:spcBef>
            </a:pPr>
            <a:endParaRPr lang="en-GB" altLang="en-US" b="1" dirty="0" smtClean="0">
              <a:latin typeface="Arial Narrow" panose="020B0606020202030204" pitchFamily="34" charset="0"/>
            </a:endParaRPr>
          </a:p>
        </p:txBody>
      </p:sp>
      <p:sp>
        <p:nvSpPr>
          <p:cNvPr id="9" name="Line 5"/>
          <p:cNvSpPr>
            <a:spLocks noChangeShapeType="1"/>
          </p:cNvSpPr>
          <p:nvPr/>
        </p:nvSpPr>
        <p:spPr bwMode="auto">
          <a:xfrm flipH="1">
            <a:off x="3808413" y="3707332"/>
            <a:ext cx="811212" cy="1709737"/>
          </a:xfrm>
          <a:prstGeom prst="line">
            <a:avLst/>
          </a:prstGeom>
          <a:noFill/>
          <a:ln w="38100">
            <a:solidFill>
              <a:srgbClr val="660066"/>
            </a:solidFill>
            <a:round/>
            <a:headEnd/>
            <a:tailEnd/>
          </a:ln>
          <a:effectLst/>
          <a:extLst>
            <a:ext uri="{909E8E84-426E-40DD-AFC4-6F175D3DCCD1}">
              <a14:hiddenFill xmlns:a14="http://schemas.microsoft.com/office/drawing/2010/main">
                <a:noFill/>
              </a14:hiddenFill>
            </a:ext>
          </a:extLst>
        </p:spPr>
        <p:txBody>
          <a:bodyPr/>
          <a:lstStyle/>
          <a:p>
            <a:endParaRPr lang="en-GB" dirty="0"/>
          </a:p>
        </p:txBody>
      </p:sp>
      <p:sp>
        <p:nvSpPr>
          <p:cNvPr id="10" name="Line 6"/>
          <p:cNvSpPr>
            <a:spLocks noChangeShapeType="1"/>
          </p:cNvSpPr>
          <p:nvPr/>
        </p:nvSpPr>
        <p:spPr bwMode="auto">
          <a:xfrm rot="17827068" flipH="1">
            <a:off x="4395075" y="3867468"/>
            <a:ext cx="1185439" cy="1436117"/>
          </a:xfrm>
          <a:prstGeom prst="line">
            <a:avLst/>
          </a:prstGeom>
          <a:noFill/>
          <a:ln w="38100">
            <a:solidFill>
              <a:srgbClr val="660066"/>
            </a:solidFill>
            <a:round/>
            <a:headEnd/>
            <a:tailEnd/>
          </a:ln>
          <a:effectLst/>
          <a:extLst>
            <a:ext uri="{909E8E84-426E-40DD-AFC4-6F175D3DCCD1}">
              <a14:hiddenFill xmlns:a14="http://schemas.microsoft.com/office/drawing/2010/main">
                <a:noFill/>
              </a14:hiddenFill>
            </a:ext>
          </a:extLst>
        </p:spPr>
        <p:txBody>
          <a:bodyPr/>
          <a:lstStyle/>
          <a:p>
            <a:endParaRPr lang="en-GB" dirty="0"/>
          </a:p>
        </p:txBody>
      </p:sp>
      <p:sp>
        <p:nvSpPr>
          <p:cNvPr id="11" name="Line 4"/>
          <p:cNvSpPr>
            <a:spLocks noChangeShapeType="1"/>
          </p:cNvSpPr>
          <p:nvPr/>
        </p:nvSpPr>
        <p:spPr bwMode="auto">
          <a:xfrm rot="752384">
            <a:off x="1578769" y="3706219"/>
            <a:ext cx="6081712" cy="2225"/>
          </a:xfrm>
          <a:prstGeom prst="line">
            <a:avLst/>
          </a:prstGeom>
          <a:noFill/>
          <a:ln w="38100">
            <a:solidFill>
              <a:srgbClr val="660066"/>
            </a:solidFill>
            <a:round/>
            <a:headEnd/>
            <a:tailEnd/>
          </a:ln>
          <a:effectLst/>
          <a:extLst>
            <a:ext uri="{909E8E84-426E-40DD-AFC4-6F175D3DCCD1}">
              <a14:hiddenFill xmlns:a14="http://schemas.microsoft.com/office/drawing/2010/main">
                <a:noFill/>
              </a14:hiddenFill>
            </a:ext>
          </a:extLst>
        </p:spPr>
        <p:txBody>
          <a:bodyPr/>
          <a:lstStyle/>
          <a:p>
            <a:endParaRPr lang="en-GB" dirty="0"/>
          </a:p>
        </p:txBody>
      </p:sp>
      <p:sp>
        <p:nvSpPr>
          <p:cNvPr id="12" name="Rectangle 9"/>
          <p:cNvSpPr>
            <a:spLocks noChangeArrowheads="1"/>
          </p:cNvSpPr>
          <p:nvPr/>
        </p:nvSpPr>
        <p:spPr bwMode="auto">
          <a:xfrm rot="752384">
            <a:off x="1721478" y="2507587"/>
            <a:ext cx="810895" cy="640712"/>
          </a:xfrm>
          <a:prstGeom prst="rect">
            <a:avLst/>
          </a:prstGeom>
          <a:solidFill>
            <a:schemeClr val="accent4">
              <a:lumMod val="60000"/>
              <a:lumOff val="40000"/>
            </a:schemeClr>
          </a:solidFill>
          <a:ln w="38100">
            <a:solidFill>
              <a:schemeClr val="accent4">
                <a:lumMod val="60000"/>
                <a:lumOff val="40000"/>
              </a:schemeClr>
            </a:solidFill>
            <a:miter lim="800000"/>
            <a:headEnd/>
            <a:tailEnd/>
          </a:ln>
          <a:effectLst/>
        </p:spPr>
        <p:txBody>
          <a:bodyPr wrap="none"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en-GB" altLang="en-US" dirty="0"/>
          </a:p>
        </p:txBody>
      </p:sp>
      <p:sp>
        <p:nvSpPr>
          <p:cNvPr id="13" name="Rectangle 9"/>
          <p:cNvSpPr>
            <a:spLocks noChangeArrowheads="1"/>
          </p:cNvSpPr>
          <p:nvPr/>
        </p:nvSpPr>
        <p:spPr bwMode="auto">
          <a:xfrm rot="752384">
            <a:off x="6836856" y="3639896"/>
            <a:ext cx="810895" cy="640712"/>
          </a:xfrm>
          <a:prstGeom prst="rect">
            <a:avLst/>
          </a:prstGeom>
          <a:solidFill>
            <a:schemeClr val="accent4">
              <a:lumMod val="60000"/>
              <a:lumOff val="40000"/>
            </a:schemeClr>
          </a:solidFill>
          <a:ln w="38100">
            <a:solidFill>
              <a:schemeClr val="accent4">
                <a:lumMod val="60000"/>
                <a:lumOff val="40000"/>
              </a:schemeClr>
            </a:solidFill>
            <a:miter lim="800000"/>
            <a:headEnd/>
            <a:tailEnd/>
          </a:ln>
          <a:effectLst/>
        </p:spPr>
        <p:txBody>
          <a:bodyPr wrap="none"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en-GB" altLang="en-US" dirty="0"/>
          </a:p>
        </p:txBody>
      </p:sp>
      <p:sp>
        <p:nvSpPr>
          <p:cNvPr id="14" name="Text Box 8"/>
          <p:cNvSpPr txBox="1">
            <a:spLocks noChangeArrowheads="1"/>
          </p:cNvSpPr>
          <p:nvPr/>
        </p:nvSpPr>
        <p:spPr bwMode="auto">
          <a:xfrm>
            <a:off x="6210768" y="4596724"/>
            <a:ext cx="1524000" cy="646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spcBef>
                <a:spcPct val="50000"/>
              </a:spcBef>
            </a:pPr>
            <a:r>
              <a:rPr lang="en-GB" altLang="en-US" b="1" dirty="0" smtClean="0">
                <a:latin typeface="Arial Narrow" panose="020B0606020202030204" pitchFamily="34" charset="0"/>
              </a:rPr>
              <a:t>Increasing capacities</a:t>
            </a:r>
            <a:endParaRPr lang="en-GB" altLang="en-US" b="1" dirty="0">
              <a:latin typeface="Arial Narrow" panose="020B0606020202030204" pitchFamily="34" charset="0"/>
            </a:endParaRPr>
          </a:p>
        </p:txBody>
      </p:sp>
      <p:sp>
        <p:nvSpPr>
          <p:cNvPr id="15" name="Text Box 7"/>
          <p:cNvSpPr txBox="1">
            <a:spLocks noChangeArrowheads="1"/>
          </p:cNvSpPr>
          <p:nvPr/>
        </p:nvSpPr>
        <p:spPr bwMode="auto">
          <a:xfrm>
            <a:off x="1403626" y="4598939"/>
            <a:ext cx="1703387" cy="6463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spcBef>
                <a:spcPct val="50000"/>
              </a:spcBef>
            </a:pPr>
            <a:r>
              <a:rPr lang="en-GB" altLang="en-US" b="1" dirty="0">
                <a:latin typeface="Arial Narrow" panose="020B0606020202030204" pitchFamily="34" charset="0"/>
              </a:rPr>
              <a:t>Reducing </a:t>
            </a:r>
            <a:r>
              <a:rPr lang="en-GB" altLang="en-US" b="1" dirty="0" smtClean="0">
                <a:latin typeface="Arial Narrow" panose="020B0606020202030204" pitchFamily="34" charset="0"/>
              </a:rPr>
              <a:t>demands</a:t>
            </a:r>
            <a:endParaRPr lang="en-GB" altLang="en-US" b="1" dirty="0">
              <a:latin typeface="Arial Narrow" panose="020B0606020202030204" pitchFamily="34" charset="0"/>
            </a:endParaRPr>
          </a:p>
        </p:txBody>
      </p:sp>
    </p:spTree>
    <p:extLst>
      <p:ext uri="{BB962C8B-B14F-4D97-AF65-F5344CB8AC3E}">
        <p14:creationId xmlns:p14="http://schemas.microsoft.com/office/powerpoint/2010/main" val="155871612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756442"/>
            <a:ext cx="9144000" cy="1138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Sources of Stress</a:t>
            </a:r>
            <a:br>
              <a:rPr lang="en-GB" sz="4400" dirty="0"/>
            </a:br>
            <a:r>
              <a:rPr lang="en-GB" sz="2400" dirty="0"/>
              <a:t>(Fontans, 1989)</a:t>
            </a:r>
            <a:endParaRPr lang="es-ES" sz="4400" dirty="0">
              <a:solidFill>
                <a:schemeClr val="bg1">
                  <a:lumMod val="50000"/>
                </a:schemeClr>
              </a:solidFill>
              <a:latin typeface="Calibri" charset="0"/>
            </a:endParaRPr>
          </a:p>
        </p:txBody>
      </p:sp>
      <p:sp>
        <p:nvSpPr>
          <p:cNvPr id="3" name="Rectangle 2"/>
          <p:cNvSpPr/>
          <p:nvPr/>
        </p:nvSpPr>
        <p:spPr>
          <a:xfrm>
            <a:off x="1184988" y="2011689"/>
            <a:ext cx="7044612" cy="4154984"/>
          </a:xfrm>
          <a:prstGeom prst="rect">
            <a:avLst/>
          </a:prstGeom>
        </p:spPr>
        <p:txBody>
          <a:bodyPr wrap="square">
            <a:spAutoFit/>
          </a:bodyPr>
          <a:lstStyle/>
          <a:p>
            <a:pPr>
              <a:defRPr/>
            </a:pPr>
            <a:r>
              <a:rPr lang="en-GB" altLang="en-US" sz="2400" b="1" dirty="0">
                <a:latin typeface="Arial" panose="020B0604020202020204" pitchFamily="34" charset="0"/>
                <a:cs typeface="Arial" panose="020B0604020202020204" pitchFamily="34" charset="0"/>
              </a:rPr>
              <a:t>Work</a:t>
            </a:r>
          </a:p>
          <a:p>
            <a:pPr marL="342900" indent="-342900">
              <a:spcBef>
                <a:spcPct val="0"/>
              </a:spcBef>
              <a:buFont typeface="Arial" panose="020B0604020202020204" pitchFamily="34" charset="0"/>
              <a:buChar char="•"/>
              <a:defRPr/>
            </a:pPr>
            <a:r>
              <a:rPr lang="en-GB" altLang="en-US" sz="2400" dirty="0">
                <a:latin typeface="Arial" panose="020B0604020202020204" pitchFamily="34" charset="0"/>
                <a:cs typeface="Arial" panose="020B0604020202020204" pitchFamily="34" charset="0"/>
              </a:rPr>
              <a:t>Unclear role</a:t>
            </a:r>
          </a:p>
          <a:p>
            <a:pPr marL="342900" indent="-342900">
              <a:spcBef>
                <a:spcPct val="0"/>
              </a:spcBef>
              <a:buFont typeface="Arial" panose="020B0604020202020204" pitchFamily="34" charset="0"/>
              <a:buChar char="•"/>
              <a:defRPr/>
            </a:pPr>
            <a:r>
              <a:rPr lang="en-GB" altLang="en-US" sz="2400" dirty="0">
                <a:latin typeface="Arial" panose="020B0604020202020204" pitchFamily="34" charset="0"/>
                <a:cs typeface="Arial" panose="020B0604020202020204" pitchFamily="34" charset="0"/>
              </a:rPr>
              <a:t>Powerlessness</a:t>
            </a:r>
          </a:p>
          <a:p>
            <a:pPr marL="342900" indent="-342900">
              <a:spcBef>
                <a:spcPct val="0"/>
              </a:spcBef>
              <a:buFont typeface="Arial" panose="020B0604020202020204" pitchFamily="34" charset="0"/>
              <a:buChar char="•"/>
              <a:defRPr/>
            </a:pPr>
            <a:r>
              <a:rPr lang="en-GB" altLang="en-US" sz="2400" dirty="0">
                <a:latin typeface="Arial" panose="020B0604020202020204" pitchFamily="34" charset="0"/>
                <a:cs typeface="Arial" panose="020B0604020202020204" pitchFamily="34" charset="0"/>
              </a:rPr>
              <a:t>Time pressures</a:t>
            </a:r>
          </a:p>
          <a:p>
            <a:pPr marL="342900" indent="-342900">
              <a:spcBef>
                <a:spcPct val="0"/>
              </a:spcBef>
              <a:buFont typeface="Arial" panose="020B0604020202020204" pitchFamily="34" charset="0"/>
              <a:buChar char="•"/>
              <a:defRPr/>
            </a:pPr>
            <a:r>
              <a:rPr lang="en-GB" altLang="en-US" sz="2400" dirty="0">
                <a:latin typeface="Arial" panose="020B0604020202020204" pitchFamily="34" charset="0"/>
                <a:cs typeface="Arial" panose="020B0604020202020204" pitchFamily="34" charset="0"/>
              </a:rPr>
              <a:t>Isolation from Colleagues support</a:t>
            </a:r>
          </a:p>
          <a:p>
            <a:pPr marL="342900" indent="-342900">
              <a:spcBef>
                <a:spcPct val="0"/>
              </a:spcBef>
              <a:buFont typeface="Arial" panose="020B0604020202020204" pitchFamily="34" charset="0"/>
              <a:buChar char="•"/>
              <a:defRPr/>
            </a:pPr>
            <a:r>
              <a:rPr lang="en-GB" altLang="en-US" sz="2400" dirty="0">
                <a:latin typeface="Arial" panose="020B0604020202020204" pitchFamily="34" charset="0"/>
                <a:cs typeface="Arial" panose="020B0604020202020204" pitchFamily="34" charset="0"/>
              </a:rPr>
              <a:t>Inadequate leadership</a:t>
            </a:r>
          </a:p>
          <a:p>
            <a:pPr marL="342900" indent="-342900">
              <a:spcBef>
                <a:spcPct val="0"/>
              </a:spcBef>
              <a:buFont typeface="Arial" panose="020B0604020202020204" pitchFamily="34" charset="0"/>
              <a:buChar char="•"/>
              <a:defRPr/>
            </a:pPr>
            <a:r>
              <a:rPr lang="en-GB" altLang="en-US" sz="2400" dirty="0">
                <a:latin typeface="Arial" panose="020B0604020202020204" pitchFamily="34" charset="0"/>
                <a:cs typeface="Arial" panose="020B0604020202020204" pitchFamily="34" charset="0"/>
              </a:rPr>
              <a:t>Role conflict</a:t>
            </a:r>
          </a:p>
          <a:p>
            <a:pPr marL="342900" indent="-342900">
              <a:spcBef>
                <a:spcPct val="0"/>
              </a:spcBef>
              <a:buFont typeface="Arial" panose="020B0604020202020204" pitchFamily="34" charset="0"/>
              <a:buChar char="•"/>
              <a:defRPr/>
            </a:pPr>
            <a:r>
              <a:rPr lang="en-GB" altLang="en-US" sz="2400" dirty="0">
                <a:latin typeface="Arial" panose="020B0604020202020204" pitchFamily="34" charset="0"/>
                <a:cs typeface="Arial" panose="020B0604020202020204" pitchFamily="34" charset="0"/>
              </a:rPr>
              <a:t>Overwork</a:t>
            </a:r>
          </a:p>
          <a:p>
            <a:pPr marL="342900" indent="-342900">
              <a:spcBef>
                <a:spcPct val="0"/>
              </a:spcBef>
              <a:buFont typeface="Arial" panose="020B0604020202020204" pitchFamily="34" charset="0"/>
              <a:buChar char="•"/>
              <a:defRPr/>
            </a:pPr>
            <a:r>
              <a:rPr lang="en-GB" altLang="en-US" sz="2400" dirty="0">
                <a:latin typeface="Arial" panose="020B0604020202020204" pitchFamily="34" charset="0"/>
                <a:cs typeface="Arial" panose="020B0604020202020204" pitchFamily="34" charset="0"/>
              </a:rPr>
              <a:t>Lack of variety</a:t>
            </a:r>
          </a:p>
          <a:p>
            <a:pPr marL="342900" indent="-342900">
              <a:spcBef>
                <a:spcPct val="0"/>
              </a:spcBef>
              <a:buFont typeface="Arial" panose="020B0604020202020204" pitchFamily="34" charset="0"/>
              <a:buChar char="•"/>
              <a:defRPr/>
            </a:pPr>
            <a:r>
              <a:rPr lang="en-GB" altLang="en-US" sz="2400" dirty="0">
                <a:latin typeface="Arial" panose="020B0604020202020204" pitchFamily="34" charset="0"/>
                <a:cs typeface="Arial" panose="020B0604020202020204" pitchFamily="34" charset="0"/>
              </a:rPr>
              <a:t>Poor communication</a:t>
            </a:r>
          </a:p>
          <a:p>
            <a:pPr marL="342900" indent="-342900">
              <a:spcBef>
                <a:spcPct val="0"/>
              </a:spcBef>
              <a:buFont typeface="Arial" panose="020B0604020202020204" pitchFamily="34" charset="0"/>
              <a:buChar char="•"/>
              <a:defRPr/>
            </a:pPr>
            <a:r>
              <a:rPr lang="en-GB" altLang="en-US" sz="2400" dirty="0">
                <a:latin typeface="Arial" panose="020B0604020202020204" pitchFamily="34" charset="0"/>
                <a:cs typeface="Arial" panose="020B0604020202020204" pitchFamily="34" charset="0"/>
              </a:rPr>
              <a:t>Interpersonal conflicts</a:t>
            </a:r>
          </a:p>
        </p:txBody>
      </p:sp>
    </p:spTree>
    <p:extLst>
      <p:ext uri="{BB962C8B-B14F-4D97-AF65-F5344CB8AC3E}">
        <p14:creationId xmlns:p14="http://schemas.microsoft.com/office/powerpoint/2010/main" val="115880382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885612"/>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Sources of Stress cont.</a:t>
            </a:r>
            <a:endParaRPr lang="es-ES" sz="4400" dirty="0">
              <a:solidFill>
                <a:schemeClr val="bg1">
                  <a:lumMod val="50000"/>
                </a:schemeClr>
              </a:solidFill>
              <a:latin typeface="Calibri" charset="0"/>
            </a:endParaRPr>
          </a:p>
        </p:txBody>
      </p:sp>
      <p:sp>
        <p:nvSpPr>
          <p:cNvPr id="3" name="Rectangle 2"/>
          <p:cNvSpPr/>
          <p:nvPr/>
        </p:nvSpPr>
        <p:spPr>
          <a:xfrm>
            <a:off x="951721" y="1720840"/>
            <a:ext cx="7081935" cy="4524315"/>
          </a:xfrm>
          <a:prstGeom prst="rect">
            <a:avLst/>
          </a:prstGeom>
        </p:spPr>
        <p:txBody>
          <a:bodyPr wrap="square">
            <a:spAutoFit/>
          </a:bodyPr>
          <a:lstStyle/>
          <a:p>
            <a:pPr>
              <a:defRPr/>
            </a:pPr>
            <a:r>
              <a:rPr lang="en-GB" altLang="en-US" sz="2400" b="1" dirty="0">
                <a:latin typeface="Arial" panose="020B0604020202020204" pitchFamily="34" charset="0"/>
                <a:cs typeface="Arial" panose="020B0604020202020204" pitchFamily="34" charset="0"/>
              </a:rPr>
              <a:t>Home</a:t>
            </a:r>
          </a:p>
          <a:p>
            <a:pPr marL="342900" indent="-342900">
              <a:spcBef>
                <a:spcPct val="0"/>
              </a:spcBef>
              <a:buFont typeface="Arial" panose="020B0604020202020204" pitchFamily="34" charset="0"/>
              <a:buChar char="•"/>
              <a:defRPr/>
            </a:pPr>
            <a:r>
              <a:rPr lang="en-GB" altLang="en-US" sz="2400" dirty="0">
                <a:latin typeface="Arial" panose="020B0604020202020204" pitchFamily="34" charset="0"/>
                <a:cs typeface="Arial" panose="020B0604020202020204" pitchFamily="34" charset="0"/>
              </a:rPr>
              <a:t>Partner</a:t>
            </a:r>
          </a:p>
          <a:p>
            <a:pPr marL="342900" indent="-342900">
              <a:spcBef>
                <a:spcPct val="0"/>
              </a:spcBef>
              <a:buFont typeface="Arial" panose="020B0604020202020204" pitchFamily="34" charset="0"/>
              <a:buChar char="•"/>
              <a:defRPr/>
            </a:pPr>
            <a:r>
              <a:rPr lang="en-GB" altLang="en-US" sz="2400" dirty="0">
                <a:latin typeface="Arial" panose="020B0604020202020204" pitchFamily="34" charset="0"/>
                <a:cs typeface="Arial" panose="020B0604020202020204" pitchFamily="34" charset="0"/>
              </a:rPr>
              <a:t>Children</a:t>
            </a:r>
          </a:p>
          <a:p>
            <a:pPr marL="342900" indent="-342900">
              <a:spcBef>
                <a:spcPct val="0"/>
              </a:spcBef>
              <a:buFont typeface="Arial" panose="020B0604020202020204" pitchFamily="34" charset="0"/>
              <a:buChar char="•"/>
              <a:defRPr/>
            </a:pPr>
            <a:r>
              <a:rPr lang="en-GB" altLang="en-US" sz="2400" dirty="0">
                <a:latin typeface="Arial" panose="020B0604020202020204" pitchFamily="34" charset="0"/>
                <a:cs typeface="Arial" panose="020B0604020202020204" pitchFamily="34" charset="0"/>
              </a:rPr>
              <a:t>Domestic arrangements</a:t>
            </a:r>
          </a:p>
          <a:p>
            <a:pPr marL="342900" indent="-342900">
              <a:spcBef>
                <a:spcPct val="0"/>
              </a:spcBef>
              <a:buFont typeface="Arial" panose="020B0604020202020204" pitchFamily="34" charset="0"/>
              <a:buChar char="•"/>
              <a:defRPr/>
            </a:pPr>
            <a:r>
              <a:rPr lang="en-GB" altLang="en-US" sz="2400" dirty="0">
                <a:latin typeface="Arial" panose="020B0604020202020204" pitchFamily="34" charset="0"/>
                <a:cs typeface="Arial" panose="020B0604020202020204" pitchFamily="34" charset="0"/>
              </a:rPr>
              <a:t>Environmental pressures</a:t>
            </a:r>
          </a:p>
          <a:p>
            <a:pPr>
              <a:defRPr/>
            </a:pPr>
            <a:r>
              <a:rPr lang="en-GB" altLang="en-US" sz="2400" b="1" dirty="0">
                <a:latin typeface="Arial" panose="020B0604020202020204" pitchFamily="34" charset="0"/>
                <a:cs typeface="Arial" panose="020B0604020202020204" pitchFamily="34" charset="0"/>
              </a:rPr>
              <a:t>Personal</a:t>
            </a:r>
          </a:p>
          <a:p>
            <a:pPr marL="342900" indent="-342900">
              <a:spcBef>
                <a:spcPct val="0"/>
              </a:spcBef>
              <a:buFont typeface="Arial" panose="020B0604020202020204" pitchFamily="34" charset="0"/>
              <a:buChar char="•"/>
              <a:defRPr/>
            </a:pPr>
            <a:r>
              <a:rPr lang="en-GB" altLang="en-US" sz="2400" dirty="0">
                <a:latin typeface="Arial" panose="020B0604020202020204" pitchFamily="34" charset="0"/>
                <a:cs typeface="Arial" panose="020B0604020202020204" pitchFamily="34" charset="0"/>
              </a:rPr>
              <a:t>Unrealistically high expectations and perfection issues</a:t>
            </a:r>
          </a:p>
          <a:p>
            <a:pPr marL="342900" indent="-342900">
              <a:spcBef>
                <a:spcPct val="0"/>
              </a:spcBef>
              <a:buFont typeface="Arial" panose="020B0604020202020204" pitchFamily="34" charset="0"/>
              <a:buChar char="•"/>
              <a:defRPr/>
            </a:pPr>
            <a:r>
              <a:rPr lang="en-GB" altLang="en-US" sz="2400" dirty="0">
                <a:latin typeface="Arial" panose="020B0604020202020204" pitchFamily="34" charset="0"/>
                <a:cs typeface="Arial" panose="020B0604020202020204" pitchFamily="34" charset="0"/>
              </a:rPr>
              <a:t>Negative cognitive appraisals / self talk</a:t>
            </a:r>
          </a:p>
          <a:p>
            <a:pPr marL="342900" indent="-342900">
              <a:spcBef>
                <a:spcPct val="0"/>
              </a:spcBef>
              <a:buFont typeface="Arial" panose="020B0604020202020204" pitchFamily="34" charset="0"/>
              <a:buChar char="•"/>
              <a:defRPr/>
            </a:pPr>
            <a:r>
              <a:rPr lang="en-GB" altLang="en-US" sz="2400" dirty="0">
                <a:latin typeface="Arial" panose="020B0604020202020204" pitchFamily="34" charset="0"/>
                <a:cs typeface="Arial" panose="020B0604020202020204" pitchFamily="34" charset="0"/>
              </a:rPr>
              <a:t>Need to please / be liked</a:t>
            </a:r>
          </a:p>
          <a:p>
            <a:pPr marL="342900" indent="-342900">
              <a:spcBef>
                <a:spcPct val="0"/>
              </a:spcBef>
              <a:buFont typeface="Arial" panose="020B0604020202020204" pitchFamily="34" charset="0"/>
              <a:buChar char="•"/>
              <a:defRPr/>
            </a:pPr>
            <a:r>
              <a:rPr lang="en-GB" altLang="en-US" sz="2400" dirty="0">
                <a:latin typeface="Arial" panose="020B0604020202020204" pitchFamily="34" charset="0"/>
                <a:cs typeface="Arial" panose="020B0604020202020204" pitchFamily="34" charset="0"/>
              </a:rPr>
              <a:t>Temperament</a:t>
            </a:r>
          </a:p>
          <a:p>
            <a:pPr marL="342900" indent="-342900">
              <a:spcBef>
                <a:spcPct val="0"/>
              </a:spcBef>
              <a:buFont typeface="Arial" panose="020B0604020202020204" pitchFamily="34" charset="0"/>
              <a:buChar char="•"/>
              <a:defRPr/>
            </a:pPr>
            <a:r>
              <a:rPr lang="en-GB" altLang="en-US" sz="2400" dirty="0">
                <a:latin typeface="Arial" panose="020B0604020202020204" pitchFamily="34" charset="0"/>
                <a:cs typeface="Arial" panose="020B0604020202020204" pitchFamily="34" charset="0"/>
              </a:rPr>
              <a:t>Low assertiveness</a:t>
            </a:r>
          </a:p>
        </p:txBody>
      </p:sp>
    </p:spTree>
    <p:extLst>
      <p:ext uri="{BB962C8B-B14F-4D97-AF65-F5344CB8AC3E}">
        <p14:creationId xmlns:p14="http://schemas.microsoft.com/office/powerpoint/2010/main" val="194561452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895088"/>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Sources of Stress</a:t>
            </a:r>
            <a:endParaRPr lang="es-ES" sz="4400" dirty="0">
              <a:solidFill>
                <a:schemeClr val="bg1">
                  <a:lumMod val="50000"/>
                </a:schemeClr>
              </a:solidFill>
              <a:latin typeface="Calibri" charset="0"/>
            </a:endParaRPr>
          </a:p>
        </p:txBody>
      </p:sp>
      <p:graphicFrame>
        <p:nvGraphicFramePr>
          <p:cNvPr id="3" name="Table 2"/>
          <p:cNvGraphicFramePr>
            <a:graphicFrameLocks noGrp="1"/>
          </p:cNvGraphicFramePr>
          <p:nvPr>
            <p:extLst>
              <p:ext uri="{D42A27DB-BD31-4B8C-83A1-F6EECF244321}">
                <p14:modId xmlns:p14="http://schemas.microsoft.com/office/powerpoint/2010/main" val="537364452"/>
              </p:ext>
            </p:extLst>
          </p:nvPr>
        </p:nvGraphicFramePr>
        <p:xfrm>
          <a:off x="928395" y="1875453"/>
          <a:ext cx="7287210" cy="3442996"/>
        </p:xfrm>
        <a:graphic>
          <a:graphicData uri="http://schemas.openxmlformats.org/drawingml/2006/table">
            <a:tbl>
              <a:tblPr firstRow="1" bandRow="1">
                <a:tableStyleId>{5C22544A-7EE6-4342-B048-85BDC9FD1C3A}</a:tableStyleId>
              </a:tblPr>
              <a:tblGrid>
                <a:gridCol w="2429070"/>
                <a:gridCol w="2429070"/>
                <a:gridCol w="2429070"/>
              </a:tblGrid>
              <a:tr h="467697">
                <a:tc>
                  <a:txBody>
                    <a:bodyPr/>
                    <a:lstStyle/>
                    <a:p>
                      <a:endParaRPr lang="en-GB" dirty="0">
                        <a:latin typeface="Arial" panose="020B0604020202020204" pitchFamily="34" charset="0"/>
                        <a:cs typeface="Arial" panose="020B0604020202020204" pitchFamily="34" charset="0"/>
                      </a:endParaRPr>
                    </a:p>
                  </a:txBody>
                  <a:tcPr>
                    <a:solidFill>
                      <a:schemeClr val="accent1">
                        <a:lumMod val="75000"/>
                      </a:schemeClr>
                    </a:solidFill>
                  </a:tcPr>
                </a:tc>
                <a:tc>
                  <a:txBody>
                    <a:bodyPr/>
                    <a:lstStyle/>
                    <a:p>
                      <a:r>
                        <a:rPr lang="en-GB" sz="2400" dirty="0" smtClean="0">
                          <a:latin typeface="Arial" panose="020B0604020202020204" pitchFamily="34" charset="0"/>
                          <a:cs typeface="Arial" panose="020B0604020202020204" pitchFamily="34" charset="0"/>
                        </a:rPr>
                        <a:t>Familiar</a:t>
                      </a:r>
                      <a:endParaRPr lang="en-GB" sz="2400" dirty="0">
                        <a:latin typeface="Arial" panose="020B0604020202020204" pitchFamily="34" charset="0"/>
                        <a:cs typeface="Arial" panose="020B0604020202020204" pitchFamily="34" charset="0"/>
                      </a:endParaRPr>
                    </a:p>
                  </a:txBody>
                  <a:tcPr>
                    <a:solidFill>
                      <a:schemeClr val="accent1">
                        <a:lumMod val="75000"/>
                      </a:schemeClr>
                    </a:solidFill>
                  </a:tcPr>
                </a:tc>
                <a:tc>
                  <a:txBody>
                    <a:bodyPr/>
                    <a:lstStyle/>
                    <a:p>
                      <a:r>
                        <a:rPr lang="en-GB" sz="2400" dirty="0" smtClean="0">
                          <a:latin typeface="Arial" panose="020B0604020202020204" pitchFamily="34" charset="0"/>
                          <a:cs typeface="Arial" panose="020B0604020202020204" pitchFamily="34" charset="0"/>
                        </a:rPr>
                        <a:t>New</a:t>
                      </a:r>
                      <a:endParaRPr lang="en-GB" sz="2400" dirty="0">
                        <a:latin typeface="Arial" panose="020B0604020202020204" pitchFamily="34" charset="0"/>
                        <a:cs typeface="Arial" panose="020B0604020202020204" pitchFamily="34" charset="0"/>
                      </a:endParaRPr>
                    </a:p>
                  </a:txBody>
                  <a:tcPr>
                    <a:solidFill>
                      <a:schemeClr val="accent1">
                        <a:lumMod val="75000"/>
                      </a:schemeClr>
                    </a:solidFill>
                  </a:tcPr>
                </a:tc>
              </a:tr>
              <a:tr h="950556">
                <a:tc>
                  <a:txBody>
                    <a:bodyPr/>
                    <a:lstStyle/>
                    <a:p>
                      <a:r>
                        <a:rPr lang="en-GB" sz="2400" dirty="0" smtClean="0">
                          <a:solidFill>
                            <a:schemeClr val="bg1"/>
                          </a:solidFill>
                          <a:latin typeface="Arial" panose="020B0604020202020204" pitchFamily="34" charset="0"/>
                          <a:cs typeface="Arial" panose="020B0604020202020204" pitchFamily="34" charset="0"/>
                        </a:rPr>
                        <a:t>WORK</a:t>
                      </a:r>
                      <a:endParaRPr lang="en-GB" sz="2400" dirty="0">
                        <a:solidFill>
                          <a:schemeClr val="bg1"/>
                        </a:solidFill>
                        <a:latin typeface="Arial" panose="020B0604020202020204" pitchFamily="34" charset="0"/>
                        <a:cs typeface="Arial" panose="020B0604020202020204" pitchFamily="34" charset="0"/>
                      </a:endParaRPr>
                    </a:p>
                  </a:txBody>
                  <a:tcPr>
                    <a:solidFill>
                      <a:schemeClr val="accent1">
                        <a:lumMod val="75000"/>
                      </a:schemeClr>
                    </a:solidFill>
                  </a:tcPr>
                </a:tc>
                <a:tc>
                  <a:txBody>
                    <a:bodyPr/>
                    <a:lstStyle/>
                    <a:p>
                      <a:endParaRPr lang="en-GB" dirty="0">
                        <a:latin typeface="Arial" panose="020B0604020202020204" pitchFamily="34" charset="0"/>
                        <a:cs typeface="Arial" panose="020B0604020202020204" pitchFamily="34" charset="0"/>
                      </a:endParaRPr>
                    </a:p>
                  </a:txBody>
                  <a:tcPr/>
                </a:tc>
                <a:tc>
                  <a:txBody>
                    <a:bodyPr/>
                    <a:lstStyle/>
                    <a:p>
                      <a:endParaRPr lang="en-GB" dirty="0">
                        <a:latin typeface="Arial" panose="020B0604020202020204" pitchFamily="34" charset="0"/>
                        <a:cs typeface="Arial" panose="020B0604020202020204" pitchFamily="34" charset="0"/>
                      </a:endParaRPr>
                    </a:p>
                  </a:txBody>
                  <a:tcPr/>
                </a:tc>
              </a:tr>
              <a:tr h="961053">
                <a:tc>
                  <a:txBody>
                    <a:bodyPr/>
                    <a:lstStyle/>
                    <a:p>
                      <a:r>
                        <a:rPr lang="en-GB" sz="2400" dirty="0" smtClean="0">
                          <a:solidFill>
                            <a:schemeClr val="bg1"/>
                          </a:solidFill>
                          <a:latin typeface="Arial" panose="020B0604020202020204" pitchFamily="34" charset="0"/>
                          <a:cs typeface="Arial" panose="020B0604020202020204" pitchFamily="34" charset="0"/>
                        </a:rPr>
                        <a:t>HOME</a:t>
                      </a:r>
                      <a:endParaRPr lang="en-GB" sz="2400" dirty="0">
                        <a:solidFill>
                          <a:schemeClr val="bg1"/>
                        </a:solidFill>
                        <a:latin typeface="Arial" panose="020B0604020202020204" pitchFamily="34" charset="0"/>
                        <a:cs typeface="Arial" panose="020B0604020202020204" pitchFamily="34" charset="0"/>
                      </a:endParaRPr>
                    </a:p>
                  </a:txBody>
                  <a:tcPr>
                    <a:solidFill>
                      <a:schemeClr val="accent1">
                        <a:lumMod val="75000"/>
                      </a:schemeClr>
                    </a:solidFill>
                  </a:tcPr>
                </a:tc>
                <a:tc>
                  <a:txBody>
                    <a:bodyPr/>
                    <a:lstStyle/>
                    <a:p>
                      <a:endParaRPr lang="en-GB" dirty="0">
                        <a:latin typeface="Arial" panose="020B0604020202020204" pitchFamily="34" charset="0"/>
                        <a:cs typeface="Arial" panose="020B0604020202020204" pitchFamily="34" charset="0"/>
                      </a:endParaRPr>
                    </a:p>
                  </a:txBody>
                  <a:tcPr/>
                </a:tc>
                <a:tc>
                  <a:txBody>
                    <a:bodyPr/>
                    <a:lstStyle/>
                    <a:p>
                      <a:endParaRPr lang="en-GB" dirty="0">
                        <a:latin typeface="Arial" panose="020B0604020202020204" pitchFamily="34" charset="0"/>
                        <a:cs typeface="Arial" panose="020B0604020202020204" pitchFamily="34" charset="0"/>
                      </a:endParaRPr>
                    </a:p>
                  </a:txBody>
                  <a:tcPr/>
                </a:tc>
              </a:tr>
              <a:tr h="1063690">
                <a:tc>
                  <a:txBody>
                    <a:bodyPr/>
                    <a:lstStyle/>
                    <a:p>
                      <a:r>
                        <a:rPr lang="en-GB" sz="2400" dirty="0" smtClean="0">
                          <a:solidFill>
                            <a:schemeClr val="bg1"/>
                          </a:solidFill>
                          <a:latin typeface="Arial" panose="020B0604020202020204" pitchFamily="34" charset="0"/>
                          <a:cs typeface="Arial" panose="020B0604020202020204" pitchFamily="34" charset="0"/>
                        </a:rPr>
                        <a:t>YOU</a:t>
                      </a:r>
                      <a:endParaRPr lang="en-GB" sz="2400" dirty="0">
                        <a:solidFill>
                          <a:schemeClr val="bg1"/>
                        </a:solidFill>
                        <a:latin typeface="Arial" panose="020B0604020202020204" pitchFamily="34" charset="0"/>
                        <a:cs typeface="Arial" panose="020B0604020202020204" pitchFamily="34" charset="0"/>
                      </a:endParaRPr>
                    </a:p>
                  </a:txBody>
                  <a:tcPr>
                    <a:solidFill>
                      <a:schemeClr val="accent1">
                        <a:lumMod val="75000"/>
                      </a:schemeClr>
                    </a:solidFill>
                  </a:tcPr>
                </a:tc>
                <a:tc>
                  <a:txBody>
                    <a:bodyPr/>
                    <a:lstStyle/>
                    <a:p>
                      <a:endParaRPr lang="en-GB" dirty="0">
                        <a:latin typeface="Arial" panose="020B0604020202020204" pitchFamily="34" charset="0"/>
                        <a:cs typeface="Arial" panose="020B0604020202020204" pitchFamily="34" charset="0"/>
                      </a:endParaRPr>
                    </a:p>
                  </a:txBody>
                  <a:tcPr/>
                </a:tc>
                <a:tc>
                  <a:txBody>
                    <a:bodyPr/>
                    <a:lstStyle/>
                    <a:p>
                      <a:endParaRPr lang="en-GB" dirty="0">
                        <a:latin typeface="Arial" panose="020B0604020202020204" pitchFamily="34" charset="0"/>
                        <a:cs typeface="Arial" panose="020B0604020202020204" pitchFamily="34" charset="0"/>
                      </a:endParaRPr>
                    </a:p>
                  </a:txBody>
                  <a:tcPr/>
                </a:tc>
              </a:tr>
            </a:tbl>
          </a:graphicData>
        </a:graphic>
      </p:graphicFrame>
    </p:spTree>
    <p:extLst>
      <p:ext uri="{BB962C8B-B14F-4D97-AF65-F5344CB8AC3E}">
        <p14:creationId xmlns:p14="http://schemas.microsoft.com/office/powerpoint/2010/main" val="80532791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783626"/>
            <a:ext cx="914400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Increasing </a:t>
            </a:r>
            <a:r>
              <a:rPr lang="en-GB" sz="4400" dirty="0" smtClean="0"/>
              <a:t>capacities</a:t>
            </a:r>
            <a:r>
              <a:rPr lang="en-GB" sz="4400" dirty="0"/>
              <a:t/>
            </a:r>
            <a:br>
              <a:rPr lang="en-GB" sz="4400" dirty="0"/>
            </a:br>
            <a:r>
              <a:rPr lang="en-GB" sz="2000" dirty="0"/>
              <a:t>(See Wright &amp; Frederickson, 1992)</a:t>
            </a:r>
            <a:endParaRPr lang="es-ES" sz="2000" dirty="0">
              <a:solidFill>
                <a:schemeClr val="bg1">
                  <a:lumMod val="50000"/>
                </a:schemeClr>
              </a:solidFill>
              <a:latin typeface="Calibri" charset="0"/>
            </a:endParaRPr>
          </a:p>
        </p:txBody>
      </p:sp>
      <p:sp>
        <p:nvSpPr>
          <p:cNvPr id="3" name="Rectangle 2"/>
          <p:cNvSpPr/>
          <p:nvPr/>
        </p:nvSpPr>
        <p:spPr>
          <a:xfrm>
            <a:off x="1604865" y="2225265"/>
            <a:ext cx="5840964" cy="3416320"/>
          </a:xfrm>
          <a:prstGeom prst="rect">
            <a:avLst/>
          </a:prstGeom>
        </p:spPr>
        <p:txBody>
          <a:bodyPr wrap="square">
            <a:spAutoFit/>
          </a:bodyPr>
          <a:lstStyle/>
          <a:p>
            <a:pPr marL="285750" indent="-285750">
              <a:lnSpc>
                <a:spcPct val="150000"/>
              </a:lnSpc>
              <a:buFont typeface="Arial" panose="020B0604020202020204" pitchFamily="34" charset="0"/>
              <a:buChar char="•"/>
              <a:defRPr/>
            </a:pPr>
            <a:r>
              <a:rPr lang="en-GB" altLang="en-US" sz="2400" dirty="0">
                <a:latin typeface="Arial" panose="020B0604020202020204" pitchFamily="34" charset="0"/>
                <a:cs typeface="Arial" panose="020B0604020202020204" pitchFamily="34" charset="0"/>
              </a:rPr>
              <a:t>Healthy lifestyle</a:t>
            </a:r>
          </a:p>
          <a:p>
            <a:pPr marL="285750" indent="-285750">
              <a:lnSpc>
                <a:spcPct val="150000"/>
              </a:lnSpc>
              <a:buFont typeface="Arial" panose="020B0604020202020204" pitchFamily="34" charset="0"/>
              <a:buChar char="•"/>
              <a:defRPr/>
            </a:pPr>
            <a:r>
              <a:rPr lang="en-GB" altLang="en-US" sz="2400" dirty="0">
                <a:latin typeface="Arial" panose="020B0604020202020204" pitchFamily="34" charset="0"/>
                <a:cs typeface="Arial" panose="020B0604020202020204" pitchFamily="34" charset="0"/>
              </a:rPr>
              <a:t>Relaxation</a:t>
            </a:r>
          </a:p>
          <a:p>
            <a:pPr marL="285750" indent="-285750">
              <a:lnSpc>
                <a:spcPct val="150000"/>
              </a:lnSpc>
              <a:buFont typeface="Arial" panose="020B0604020202020204" pitchFamily="34" charset="0"/>
              <a:buChar char="•"/>
              <a:defRPr/>
            </a:pPr>
            <a:r>
              <a:rPr lang="en-GB" altLang="en-US" sz="2400" dirty="0">
                <a:latin typeface="Arial" panose="020B0604020202020204" pitchFamily="34" charset="0"/>
                <a:cs typeface="Arial" panose="020B0604020202020204" pitchFamily="34" charset="0"/>
              </a:rPr>
              <a:t>Assertiveness</a:t>
            </a:r>
          </a:p>
          <a:p>
            <a:pPr marL="285750" indent="-285750">
              <a:lnSpc>
                <a:spcPct val="150000"/>
              </a:lnSpc>
              <a:buFont typeface="Arial" panose="020B0604020202020204" pitchFamily="34" charset="0"/>
              <a:buChar char="•"/>
              <a:defRPr/>
            </a:pPr>
            <a:r>
              <a:rPr lang="en-GB" altLang="en-US" sz="2400" dirty="0">
                <a:latin typeface="Arial" panose="020B0604020202020204" pitchFamily="34" charset="0"/>
                <a:cs typeface="Arial" panose="020B0604020202020204" pitchFamily="34" charset="0"/>
              </a:rPr>
              <a:t>Effective thinking </a:t>
            </a:r>
          </a:p>
          <a:p>
            <a:pPr marL="285750" indent="-285750">
              <a:lnSpc>
                <a:spcPct val="150000"/>
              </a:lnSpc>
              <a:buFont typeface="Arial" panose="020B0604020202020204" pitchFamily="34" charset="0"/>
              <a:buChar char="•"/>
              <a:defRPr/>
            </a:pPr>
            <a:r>
              <a:rPr lang="en-GB" altLang="en-US" sz="2400" dirty="0">
                <a:latin typeface="Arial" panose="020B0604020202020204" pitchFamily="34" charset="0"/>
                <a:cs typeface="Arial" panose="020B0604020202020204" pitchFamily="34" charset="0"/>
              </a:rPr>
              <a:t>Time management </a:t>
            </a:r>
          </a:p>
          <a:p>
            <a:pPr marL="285750" indent="-285750">
              <a:lnSpc>
                <a:spcPct val="150000"/>
              </a:lnSpc>
              <a:buFont typeface="Arial" panose="020B0604020202020204" pitchFamily="34" charset="0"/>
              <a:buChar char="•"/>
              <a:defRPr/>
            </a:pPr>
            <a:r>
              <a:rPr lang="en-GB" altLang="en-US" sz="2400" dirty="0">
                <a:latin typeface="Arial" panose="020B0604020202020204" pitchFamily="34" charset="0"/>
                <a:cs typeface="Arial" panose="020B0604020202020204" pitchFamily="34" charset="0"/>
              </a:rPr>
              <a:t>Enhancing study skills </a:t>
            </a:r>
            <a:endParaRPr lang="en-GB" altLang="en-US" sz="2400" dirty="0">
              <a:solidFill>
                <a:schemeClr val="bg2">
                  <a:lumMod val="9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6112332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811618"/>
            <a:ext cx="9144000"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What is depression?</a:t>
            </a:r>
            <a:br>
              <a:rPr lang="en-GB" sz="4400" dirty="0"/>
            </a:br>
            <a:endParaRPr lang="es-ES" sz="4400" dirty="0">
              <a:solidFill>
                <a:schemeClr val="bg1">
                  <a:lumMod val="50000"/>
                </a:schemeClr>
              </a:solidFill>
              <a:latin typeface="Calibri" charset="0"/>
            </a:endParaRPr>
          </a:p>
        </p:txBody>
      </p:sp>
      <p:sp>
        <p:nvSpPr>
          <p:cNvPr id="3" name="Rectangle 2"/>
          <p:cNvSpPr/>
          <p:nvPr/>
        </p:nvSpPr>
        <p:spPr>
          <a:xfrm>
            <a:off x="1194319" y="2274838"/>
            <a:ext cx="6755362" cy="3046988"/>
          </a:xfrm>
          <a:prstGeom prst="rect">
            <a:avLst/>
          </a:prstGeom>
        </p:spPr>
        <p:txBody>
          <a:bodyPr wrap="square">
            <a:spAutoFit/>
          </a:bodyPr>
          <a:lstStyle/>
          <a:p>
            <a:r>
              <a:rPr lang="en-GB" altLang="en-US" sz="2400" dirty="0">
                <a:latin typeface="Arial" panose="020B0604020202020204" pitchFamily="34" charset="0"/>
                <a:cs typeface="Arial" panose="020B0604020202020204" pitchFamily="34" charset="0"/>
              </a:rPr>
              <a:t>We often use the expression ‘I feel depressed’ when we’re feeling sad or miserable about life. Usually, these feelings pass in due course. But, if the feelings are interfering with your life and don't go away after a couple of weeks, or if they come back, over and over again, for a few days at a time, it could be a sign that you're depressed in the medical sense of the term.</a:t>
            </a:r>
          </a:p>
        </p:txBody>
      </p:sp>
    </p:spTree>
    <p:extLst>
      <p:ext uri="{BB962C8B-B14F-4D97-AF65-F5344CB8AC3E}">
        <p14:creationId xmlns:p14="http://schemas.microsoft.com/office/powerpoint/2010/main" val="195347817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895088"/>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smtClean="0"/>
              <a:t>And</a:t>
            </a:r>
            <a:endParaRPr lang="es-ES" sz="4400" dirty="0">
              <a:solidFill>
                <a:schemeClr val="bg1">
                  <a:lumMod val="50000"/>
                </a:schemeClr>
              </a:solidFill>
              <a:latin typeface="Calibri" charset="0"/>
            </a:endParaRPr>
          </a:p>
        </p:txBody>
      </p:sp>
      <p:sp>
        <p:nvSpPr>
          <p:cNvPr id="3" name="Rectangle 2"/>
          <p:cNvSpPr/>
          <p:nvPr/>
        </p:nvSpPr>
        <p:spPr>
          <a:xfrm>
            <a:off x="1017037" y="2274838"/>
            <a:ext cx="7109926" cy="2677656"/>
          </a:xfrm>
          <a:prstGeom prst="rect">
            <a:avLst/>
          </a:prstGeom>
        </p:spPr>
        <p:txBody>
          <a:bodyPr wrap="square">
            <a:spAutoFit/>
          </a:bodyPr>
          <a:lstStyle/>
          <a:p>
            <a:r>
              <a:rPr lang="en-GB" altLang="en-US" sz="2400" dirty="0">
                <a:latin typeface="Arial" panose="020B0604020202020204" pitchFamily="34" charset="0"/>
                <a:cs typeface="Arial" panose="020B0604020202020204" pitchFamily="34" charset="0"/>
              </a:rPr>
              <a:t>In its mildest form, depression can mean just being in low spirits. It doesn’t stop you leading your normal life, but makes everything harder to do and seem less worthwhile. At its most severe, major depression (clinical depression) can be life-threatening, because it can make you feel suicidal or simply give up the will to live.</a:t>
            </a:r>
          </a:p>
        </p:txBody>
      </p:sp>
    </p:spTree>
    <p:extLst>
      <p:ext uri="{BB962C8B-B14F-4D97-AF65-F5344CB8AC3E}">
        <p14:creationId xmlns:p14="http://schemas.microsoft.com/office/powerpoint/2010/main" val="407953822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811618"/>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Different </a:t>
            </a:r>
            <a:r>
              <a:rPr lang="en-GB" sz="4400" dirty="0" smtClean="0"/>
              <a:t>types</a:t>
            </a:r>
            <a:endParaRPr lang="es-ES" sz="4400" dirty="0">
              <a:solidFill>
                <a:schemeClr val="bg1">
                  <a:lumMod val="50000"/>
                </a:schemeClr>
              </a:solidFill>
              <a:latin typeface="Calibri" charset="0"/>
            </a:endParaRPr>
          </a:p>
        </p:txBody>
      </p:sp>
      <p:sp>
        <p:nvSpPr>
          <p:cNvPr id="3" name="Rectangle 2"/>
          <p:cNvSpPr/>
          <p:nvPr/>
        </p:nvSpPr>
        <p:spPr>
          <a:xfrm>
            <a:off x="503853" y="1739680"/>
            <a:ext cx="8136293" cy="4154984"/>
          </a:xfrm>
          <a:prstGeom prst="rect">
            <a:avLst/>
          </a:prstGeom>
        </p:spPr>
        <p:txBody>
          <a:bodyPr wrap="square">
            <a:spAutoFit/>
          </a:bodyPr>
          <a:lstStyle/>
          <a:p>
            <a:pPr marL="395478" indent="-285750">
              <a:buFont typeface="Arial" panose="020B0604020202020204" pitchFamily="34" charset="0"/>
              <a:buChar char="•"/>
              <a:defRPr/>
            </a:pPr>
            <a:r>
              <a:rPr lang="en-GB" sz="2000" b="1" dirty="0">
                <a:latin typeface="Arial" panose="020B0604020202020204" pitchFamily="34" charset="0"/>
                <a:cs typeface="Arial" panose="020B0604020202020204" pitchFamily="34" charset="0"/>
              </a:rPr>
              <a:t>Seasonal affective disorder (SAD)</a:t>
            </a:r>
            <a:r>
              <a:rPr lang="en-GB" sz="2000" dirty="0">
                <a:latin typeface="Arial" panose="020B0604020202020204" pitchFamily="34" charset="0"/>
                <a:cs typeface="Arial" panose="020B0604020202020204" pitchFamily="34" charset="0"/>
              </a:rPr>
              <a:t> – this is seasonal depression which is related to day length. It usually comes on in the autumn and winter, when days are short and the sun is low in the sky, and gets better as the days get longer and brighter. </a:t>
            </a:r>
          </a:p>
          <a:p>
            <a:pPr marL="395478" indent="-285750">
              <a:buFont typeface="Arial" panose="020B0604020202020204" pitchFamily="34" charset="0"/>
              <a:buChar char="•"/>
              <a:defRPr/>
            </a:pPr>
            <a:r>
              <a:rPr lang="en-GB" sz="2000" b="1" dirty="0">
                <a:latin typeface="Arial" panose="020B0604020202020204" pitchFamily="34" charset="0"/>
                <a:cs typeface="Arial" panose="020B0604020202020204" pitchFamily="34" charset="0"/>
              </a:rPr>
              <a:t>Postnatal depression</a:t>
            </a:r>
            <a:r>
              <a:rPr lang="en-GB" sz="2000" dirty="0">
                <a:latin typeface="Arial" panose="020B0604020202020204" pitchFamily="34" charset="0"/>
                <a:cs typeface="Arial" panose="020B0604020202020204" pitchFamily="34" charset="0"/>
              </a:rPr>
              <a:t> – many mothers have ‘the baby blues’ soon after the birth of their baby, but it usually passes after a day or two. Postnatal depression is a much more serious problem and can occur any time between two weeks and two years after the birth. </a:t>
            </a:r>
          </a:p>
          <a:p>
            <a:pPr marL="395478" indent="-285750">
              <a:buFont typeface="Arial" panose="020B0604020202020204" pitchFamily="34" charset="0"/>
              <a:buChar char="•"/>
              <a:defRPr/>
            </a:pPr>
            <a:r>
              <a:rPr lang="en-GB" sz="2000" b="1" dirty="0">
                <a:latin typeface="Arial" panose="020B0604020202020204" pitchFamily="34" charset="0"/>
                <a:cs typeface="Arial" panose="020B0604020202020204" pitchFamily="34" charset="0"/>
              </a:rPr>
              <a:t>Bipolar disorder (manic depression)</a:t>
            </a:r>
            <a:r>
              <a:rPr lang="en-GB" sz="2000" dirty="0">
                <a:latin typeface="Arial" panose="020B0604020202020204" pitchFamily="34" charset="0"/>
                <a:cs typeface="Arial" panose="020B0604020202020204" pitchFamily="34" charset="0"/>
              </a:rPr>
              <a:t> – some people have major mood swings, when periods of depression alternate with periods of mania. When manic, they are in a state of high excitement, and may plan and may try to carry out over-ambitious schemes and ideas. They often then have periods</a:t>
            </a:r>
            <a:r>
              <a:rPr lang="en-GB" sz="2400" dirty="0">
                <a:latin typeface="Arial" panose="020B0604020202020204" pitchFamily="34" charset="0"/>
                <a:cs typeface="Arial" panose="020B0604020202020204" pitchFamily="34" charset="0"/>
              </a:rPr>
              <a:t> </a:t>
            </a:r>
            <a:r>
              <a:rPr lang="en-GB" sz="2000" dirty="0">
                <a:latin typeface="Arial" panose="020B0604020202020204" pitchFamily="34" charset="0"/>
                <a:cs typeface="Arial" panose="020B0604020202020204" pitchFamily="34" charset="0"/>
              </a:rPr>
              <a:t>of severe depression.</a:t>
            </a:r>
          </a:p>
        </p:txBody>
      </p:sp>
    </p:spTree>
    <p:extLst>
      <p:ext uri="{BB962C8B-B14F-4D97-AF65-F5344CB8AC3E}">
        <p14:creationId xmlns:p14="http://schemas.microsoft.com/office/powerpoint/2010/main" val="34550775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755634"/>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The </a:t>
            </a:r>
            <a:r>
              <a:rPr lang="en-GB" sz="4400" dirty="0" smtClean="0"/>
              <a:t>numbers</a:t>
            </a:r>
            <a:endParaRPr lang="es-ES" sz="4400" dirty="0">
              <a:solidFill>
                <a:schemeClr val="bg1">
                  <a:lumMod val="50000"/>
                </a:schemeClr>
              </a:solidFill>
              <a:latin typeface="Calibri" charset="0"/>
            </a:endParaRPr>
          </a:p>
        </p:txBody>
      </p:sp>
      <p:sp>
        <p:nvSpPr>
          <p:cNvPr id="3" name="Rectangle 2"/>
          <p:cNvSpPr/>
          <p:nvPr/>
        </p:nvSpPr>
        <p:spPr>
          <a:xfrm>
            <a:off x="839755" y="1664529"/>
            <a:ext cx="7464490" cy="4081117"/>
          </a:xfrm>
          <a:prstGeom prst="rect">
            <a:avLst/>
          </a:prstGeom>
        </p:spPr>
        <p:txBody>
          <a:bodyPr wrap="square">
            <a:spAutoFit/>
          </a:bodyPr>
          <a:lstStyle/>
          <a:p>
            <a:pPr>
              <a:lnSpc>
                <a:spcPct val="90000"/>
              </a:lnSpc>
            </a:pPr>
            <a:r>
              <a:rPr lang="en-GB" altLang="en-US" sz="2400" b="1" dirty="0">
                <a:latin typeface="Arial" panose="020B0604020202020204" pitchFamily="34" charset="0"/>
                <a:cs typeface="Arial" panose="020B0604020202020204" pitchFamily="34" charset="0"/>
              </a:rPr>
              <a:t>At any one time, the estimated number of children and young people suffering from depression</a:t>
            </a:r>
            <a:r>
              <a:rPr lang="en-GB" altLang="en-US" sz="2400" b="1" dirty="0" smtClean="0">
                <a:latin typeface="Arial" panose="020B0604020202020204" pitchFamily="34" charset="0"/>
                <a:cs typeface="Arial" panose="020B0604020202020204" pitchFamily="34" charset="0"/>
              </a:rPr>
              <a:t>:</a:t>
            </a:r>
            <a:endParaRPr lang="en-GB" altLang="en-US" sz="2400" b="1" dirty="0">
              <a:latin typeface="Arial" panose="020B0604020202020204" pitchFamily="34" charset="0"/>
              <a:cs typeface="Arial" panose="020B0604020202020204" pitchFamily="34" charset="0"/>
            </a:endParaRPr>
          </a:p>
          <a:p>
            <a:pPr marL="800100" lvl="1" indent="-342900">
              <a:lnSpc>
                <a:spcPct val="9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1 in 100 children </a:t>
            </a:r>
          </a:p>
          <a:p>
            <a:pPr marL="800100" lvl="1" indent="-342900">
              <a:lnSpc>
                <a:spcPct val="9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1 in 33 young people </a:t>
            </a:r>
            <a:endParaRPr lang="en-GB" altLang="en-US" sz="2400" dirty="0" smtClean="0">
              <a:latin typeface="Arial" panose="020B0604020202020204" pitchFamily="34" charset="0"/>
              <a:cs typeface="Arial" panose="020B0604020202020204" pitchFamily="34" charset="0"/>
            </a:endParaRPr>
          </a:p>
          <a:p>
            <a:pPr lvl="1">
              <a:lnSpc>
                <a:spcPct val="90000"/>
              </a:lnSpc>
            </a:pPr>
            <a:endParaRPr lang="en-GB" altLang="en-US" sz="2400" dirty="0">
              <a:latin typeface="Arial" panose="020B0604020202020204" pitchFamily="34" charset="0"/>
              <a:cs typeface="Arial" panose="020B0604020202020204" pitchFamily="34" charset="0"/>
            </a:endParaRPr>
          </a:p>
          <a:p>
            <a:pPr>
              <a:lnSpc>
                <a:spcPct val="90000"/>
              </a:lnSpc>
            </a:pPr>
            <a:r>
              <a:rPr lang="en-GB" altLang="en-US" sz="2400" b="1" dirty="0">
                <a:latin typeface="Arial" panose="020B0604020202020204" pitchFamily="34" charset="0"/>
                <a:cs typeface="Arial" panose="020B0604020202020204" pitchFamily="34" charset="0"/>
              </a:rPr>
              <a:t>Prevalence figures exceed treatment numbers</a:t>
            </a:r>
            <a:r>
              <a:rPr lang="en-GB" altLang="en-US" sz="2400" b="1" dirty="0" smtClean="0">
                <a:latin typeface="Arial" panose="020B0604020202020204" pitchFamily="34" charset="0"/>
                <a:cs typeface="Arial" panose="020B0604020202020204" pitchFamily="34" charset="0"/>
              </a:rPr>
              <a:t>:</a:t>
            </a:r>
            <a:endParaRPr lang="en-GB" altLang="en-US" sz="2400" b="1" dirty="0">
              <a:latin typeface="Arial" panose="020B0604020202020204" pitchFamily="34" charset="0"/>
              <a:cs typeface="Arial" panose="020B0604020202020204" pitchFamily="34" charset="0"/>
            </a:endParaRPr>
          </a:p>
          <a:p>
            <a:pPr marL="800100" lvl="1" indent="-342900">
              <a:lnSpc>
                <a:spcPct val="9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about 25% of children and young people with depression detected and </a:t>
            </a:r>
            <a:r>
              <a:rPr lang="en-GB" altLang="en-US" sz="2400" dirty="0" smtClean="0">
                <a:latin typeface="Arial" panose="020B0604020202020204" pitchFamily="34" charset="0"/>
                <a:cs typeface="Arial" panose="020B0604020202020204" pitchFamily="34" charset="0"/>
              </a:rPr>
              <a:t>treated</a:t>
            </a:r>
          </a:p>
          <a:p>
            <a:pPr lvl="1">
              <a:lnSpc>
                <a:spcPct val="90000"/>
              </a:lnSpc>
            </a:pPr>
            <a:endParaRPr lang="en-GB" altLang="en-US" sz="2400" dirty="0">
              <a:latin typeface="Arial" panose="020B0604020202020204" pitchFamily="34" charset="0"/>
              <a:cs typeface="Arial" panose="020B0604020202020204" pitchFamily="34" charset="0"/>
            </a:endParaRPr>
          </a:p>
          <a:p>
            <a:pPr>
              <a:lnSpc>
                <a:spcPct val="90000"/>
              </a:lnSpc>
            </a:pPr>
            <a:r>
              <a:rPr lang="en-GB" altLang="en-US" sz="2400" b="1" dirty="0">
                <a:latin typeface="Arial" panose="020B0604020202020204" pitchFamily="34" charset="0"/>
                <a:cs typeface="Arial" panose="020B0604020202020204" pitchFamily="34" charset="0"/>
              </a:rPr>
              <a:t>Suicide is the:</a:t>
            </a:r>
          </a:p>
          <a:p>
            <a:pPr marL="800100" lvl="1" indent="-342900">
              <a:lnSpc>
                <a:spcPct val="9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3</a:t>
            </a:r>
            <a:r>
              <a:rPr lang="en-GB" altLang="en-US" sz="2400" baseline="30000" dirty="0">
                <a:latin typeface="Arial" panose="020B0604020202020204" pitchFamily="34" charset="0"/>
                <a:cs typeface="Arial" panose="020B0604020202020204" pitchFamily="34" charset="0"/>
              </a:rPr>
              <a:t>rd</a:t>
            </a:r>
            <a:r>
              <a:rPr lang="en-GB" altLang="en-US" sz="2400" dirty="0">
                <a:latin typeface="Arial" panose="020B0604020202020204" pitchFamily="34" charset="0"/>
                <a:cs typeface="Arial" panose="020B0604020202020204" pitchFamily="34" charset="0"/>
              </a:rPr>
              <a:t> leading cause of death in 15–24-year-olds</a:t>
            </a:r>
          </a:p>
          <a:p>
            <a:pPr marL="800100" lvl="1" indent="-342900">
              <a:lnSpc>
                <a:spcPct val="9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6</a:t>
            </a:r>
            <a:r>
              <a:rPr lang="en-GB" altLang="en-US" sz="2400" baseline="30000" dirty="0">
                <a:latin typeface="Arial" panose="020B0604020202020204" pitchFamily="34" charset="0"/>
                <a:cs typeface="Arial" panose="020B0604020202020204" pitchFamily="34" charset="0"/>
              </a:rPr>
              <a:t>th</a:t>
            </a:r>
            <a:r>
              <a:rPr lang="en-GB" altLang="en-US" sz="2400" dirty="0">
                <a:latin typeface="Arial" panose="020B0604020202020204" pitchFamily="34" charset="0"/>
                <a:cs typeface="Arial" panose="020B0604020202020204" pitchFamily="34" charset="0"/>
              </a:rPr>
              <a:t> leading cause of death in 5–14-year-olds</a:t>
            </a:r>
          </a:p>
        </p:txBody>
      </p:sp>
    </p:spTree>
    <p:extLst>
      <p:ext uri="{BB962C8B-B14F-4D97-AF65-F5344CB8AC3E}">
        <p14:creationId xmlns:p14="http://schemas.microsoft.com/office/powerpoint/2010/main" val="297030360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792957"/>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Symptoms</a:t>
            </a:r>
            <a:endParaRPr lang="es-ES" sz="4400" dirty="0">
              <a:solidFill>
                <a:schemeClr val="bg1">
                  <a:lumMod val="50000"/>
                </a:schemeClr>
              </a:solidFill>
              <a:latin typeface="Calibri" charset="0"/>
            </a:endParaRPr>
          </a:p>
        </p:txBody>
      </p:sp>
      <p:sp>
        <p:nvSpPr>
          <p:cNvPr id="3" name="Rectangle 2"/>
          <p:cNvSpPr/>
          <p:nvPr/>
        </p:nvSpPr>
        <p:spPr>
          <a:xfrm>
            <a:off x="947057" y="1822558"/>
            <a:ext cx="7249885" cy="3933384"/>
          </a:xfrm>
          <a:prstGeom prst="rect">
            <a:avLst/>
          </a:prstGeom>
        </p:spPr>
        <p:txBody>
          <a:bodyPr wrap="square">
            <a:spAutoFit/>
          </a:bodyPr>
          <a:lstStyle/>
          <a:p>
            <a:pPr>
              <a:lnSpc>
                <a:spcPct val="80000"/>
              </a:lnSpc>
            </a:pPr>
            <a:r>
              <a:rPr lang="en-GB" altLang="en-US" sz="2400" b="1" dirty="0">
                <a:latin typeface="Arial" panose="020B0604020202020204" pitchFamily="34" charset="0"/>
                <a:cs typeface="Arial" panose="020B0604020202020204" pitchFamily="34" charset="0"/>
              </a:rPr>
              <a:t>Key symptoms</a:t>
            </a:r>
          </a:p>
          <a:p>
            <a:pPr marL="800100" lvl="1"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persistent sadness, or low or irritable mood</a:t>
            </a:r>
          </a:p>
          <a:p>
            <a:pPr marL="800100" lvl="1"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loss of interests and/or pleasure</a:t>
            </a:r>
          </a:p>
          <a:p>
            <a:pPr marL="800100" lvl="1"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fatigue or low </a:t>
            </a:r>
            <a:r>
              <a:rPr lang="en-GB" altLang="en-US" sz="2400" dirty="0" smtClean="0">
                <a:latin typeface="Arial" panose="020B0604020202020204" pitchFamily="34" charset="0"/>
                <a:cs typeface="Arial" panose="020B0604020202020204" pitchFamily="34" charset="0"/>
              </a:rPr>
              <a:t>energy</a:t>
            </a:r>
          </a:p>
          <a:p>
            <a:pPr lvl="1">
              <a:lnSpc>
                <a:spcPct val="80000"/>
              </a:lnSpc>
            </a:pPr>
            <a:endParaRPr lang="en-GB" altLang="en-US" sz="2400" dirty="0">
              <a:latin typeface="Arial" panose="020B0604020202020204" pitchFamily="34" charset="0"/>
              <a:cs typeface="Arial" panose="020B0604020202020204" pitchFamily="34" charset="0"/>
            </a:endParaRPr>
          </a:p>
          <a:p>
            <a:pPr>
              <a:lnSpc>
                <a:spcPct val="80000"/>
              </a:lnSpc>
            </a:pPr>
            <a:r>
              <a:rPr lang="en-GB" altLang="en-US" sz="2400" b="1" dirty="0">
                <a:latin typeface="Arial" panose="020B0604020202020204" pitchFamily="34" charset="0"/>
                <a:cs typeface="Arial" panose="020B0604020202020204" pitchFamily="34" charset="0"/>
              </a:rPr>
              <a:t>Associated symptoms</a:t>
            </a:r>
          </a:p>
          <a:p>
            <a:pPr marL="800100" lvl="1"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poor or increased sleep</a:t>
            </a:r>
          </a:p>
          <a:p>
            <a:pPr marL="800100" lvl="1"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low self-confidence</a:t>
            </a:r>
          </a:p>
          <a:p>
            <a:pPr marL="800100" lvl="1"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poor concentration or indecisiveness </a:t>
            </a:r>
          </a:p>
          <a:p>
            <a:pPr marL="800100" lvl="1"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poor or increased appetite</a:t>
            </a:r>
          </a:p>
          <a:p>
            <a:pPr marL="800100" lvl="1"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suicidal thoughts or acts</a:t>
            </a:r>
          </a:p>
          <a:p>
            <a:pPr marL="800100" lvl="1"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guilt or self-blame</a:t>
            </a:r>
          </a:p>
          <a:p>
            <a:pPr marL="800100" lvl="1"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agitation or slowing of movement</a:t>
            </a:r>
          </a:p>
        </p:txBody>
      </p:sp>
    </p:spTree>
    <p:extLst>
      <p:ext uri="{BB962C8B-B14F-4D97-AF65-F5344CB8AC3E}">
        <p14:creationId xmlns:p14="http://schemas.microsoft.com/office/powerpoint/2010/main" val="400201145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5" name="5 CuadroTexto"/>
          <p:cNvSpPr txBox="1">
            <a:spLocks noChangeArrowheads="1"/>
          </p:cNvSpPr>
          <p:nvPr/>
        </p:nvSpPr>
        <p:spPr bwMode="auto">
          <a:xfrm>
            <a:off x="0" y="1684437"/>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endParaRPr lang="es-ES" sz="2400" dirty="0">
              <a:solidFill>
                <a:schemeClr val="tx1">
                  <a:lumMod val="75000"/>
                  <a:lumOff val="25000"/>
                </a:schemeClr>
              </a:solidFill>
              <a:latin typeface="Calibri" charset="0"/>
            </a:endParaRPr>
          </a:p>
        </p:txBody>
      </p:sp>
      <p:sp>
        <p:nvSpPr>
          <p:cNvPr id="6" name="5 CuadroTexto"/>
          <p:cNvSpPr txBox="1">
            <a:spLocks noChangeArrowheads="1"/>
          </p:cNvSpPr>
          <p:nvPr/>
        </p:nvSpPr>
        <p:spPr bwMode="auto">
          <a:xfrm>
            <a:off x="0" y="895088"/>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Our </a:t>
            </a:r>
            <a:r>
              <a:rPr lang="en-GB" sz="4400" dirty="0" smtClean="0"/>
              <a:t>job</a:t>
            </a:r>
            <a:endParaRPr lang="es-ES" sz="4400" dirty="0">
              <a:solidFill>
                <a:schemeClr val="bg1">
                  <a:lumMod val="50000"/>
                </a:schemeClr>
              </a:solidFill>
              <a:latin typeface="Calibri" charset="0"/>
            </a:endParaRPr>
          </a:p>
        </p:txBody>
      </p:sp>
      <p:sp>
        <p:nvSpPr>
          <p:cNvPr id="3" name="Rectangle 2"/>
          <p:cNvSpPr/>
          <p:nvPr/>
        </p:nvSpPr>
        <p:spPr>
          <a:xfrm>
            <a:off x="793102" y="2053239"/>
            <a:ext cx="7557796" cy="2751522"/>
          </a:xfrm>
          <a:prstGeom prst="rect">
            <a:avLst/>
          </a:prstGeom>
        </p:spPr>
        <p:txBody>
          <a:bodyPr wrap="square">
            <a:spAutoFit/>
          </a:bodyPr>
          <a:lstStyle/>
          <a:p>
            <a:pPr>
              <a:lnSpc>
                <a:spcPct val="90000"/>
              </a:lnSpc>
            </a:pPr>
            <a:r>
              <a:rPr lang="en-GB" altLang="en-US" sz="2400" b="1" dirty="0">
                <a:latin typeface="Arial" panose="020B0604020202020204" pitchFamily="34" charset="0"/>
                <a:cs typeface="Arial" panose="020B0604020202020204" pitchFamily="34" charset="0"/>
              </a:rPr>
              <a:t>Professionals in primary care, schools and community need to: </a:t>
            </a:r>
            <a:endParaRPr lang="en-GB" altLang="en-US" sz="2400" b="1" dirty="0" smtClean="0">
              <a:latin typeface="Arial" panose="020B0604020202020204" pitchFamily="34" charset="0"/>
              <a:cs typeface="Arial" panose="020B0604020202020204" pitchFamily="34" charset="0"/>
            </a:endParaRPr>
          </a:p>
          <a:p>
            <a:pPr marL="800100" lvl="1" indent="-342900">
              <a:lnSpc>
                <a:spcPct val="9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be </a:t>
            </a:r>
            <a:r>
              <a:rPr lang="en-GB" altLang="en-US" sz="2400" dirty="0">
                <a:latin typeface="Arial" panose="020B0604020202020204" pitchFamily="34" charset="0"/>
                <a:cs typeface="Arial" panose="020B0604020202020204" pitchFamily="34" charset="0"/>
              </a:rPr>
              <a:t>aware of risk factors</a:t>
            </a:r>
          </a:p>
          <a:p>
            <a:pPr marL="800100" lvl="1" indent="-342900">
              <a:lnSpc>
                <a:spcPct val="9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engage in ‘active listening’ and ‘conversational techniques’</a:t>
            </a:r>
          </a:p>
          <a:p>
            <a:pPr marL="800100" lvl="1" indent="-342900">
              <a:lnSpc>
                <a:spcPct val="9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detect symptoms</a:t>
            </a:r>
          </a:p>
          <a:p>
            <a:pPr marL="800100" lvl="1" indent="-342900">
              <a:lnSpc>
                <a:spcPct val="9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provide appropriate support</a:t>
            </a:r>
          </a:p>
          <a:p>
            <a:pPr marL="800100" lvl="1" indent="-342900">
              <a:lnSpc>
                <a:spcPct val="9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know when to refer</a:t>
            </a:r>
          </a:p>
        </p:txBody>
      </p:sp>
    </p:spTree>
    <p:extLst>
      <p:ext uri="{BB962C8B-B14F-4D97-AF65-F5344CB8AC3E}">
        <p14:creationId xmlns:p14="http://schemas.microsoft.com/office/powerpoint/2010/main" val="117645480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922934"/>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A holistic approach</a:t>
            </a:r>
            <a:endParaRPr lang="es-ES" sz="4400" dirty="0">
              <a:solidFill>
                <a:schemeClr val="bg1">
                  <a:lumMod val="50000"/>
                </a:schemeClr>
              </a:solidFill>
              <a:latin typeface="Calibri" charset="0"/>
            </a:endParaRPr>
          </a:p>
        </p:txBody>
      </p:sp>
      <p:sp>
        <p:nvSpPr>
          <p:cNvPr id="3" name="Rectangle 2"/>
          <p:cNvSpPr/>
          <p:nvPr/>
        </p:nvSpPr>
        <p:spPr>
          <a:xfrm>
            <a:off x="1045028" y="2143024"/>
            <a:ext cx="7053943" cy="3046988"/>
          </a:xfrm>
          <a:prstGeom prst="rect">
            <a:avLst/>
          </a:prstGeom>
        </p:spPr>
        <p:txBody>
          <a:bodyPr wrap="square">
            <a:spAutoFit/>
          </a:bodyPr>
          <a:lstStyle/>
          <a:p>
            <a:r>
              <a:rPr lang="en-GB" altLang="en-US" sz="2400" b="1" dirty="0">
                <a:latin typeface="Arial" panose="020B0604020202020204" pitchFamily="34" charset="0"/>
                <a:cs typeface="Arial" panose="020B0604020202020204" pitchFamily="34" charset="0"/>
              </a:rPr>
              <a:t>Care should be comprehensive and holistic and take into account:</a:t>
            </a:r>
          </a:p>
          <a:p>
            <a:pPr marL="800100" lvl="1"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drug and alcohol misuse</a:t>
            </a:r>
          </a:p>
          <a:p>
            <a:pPr marL="800100" lvl="1"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experience of bullying or abuse</a:t>
            </a:r>
          </a:p>
          <a:p>
            <a:pPr marL="800100" lvl="1"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parental depression</a:t>
            </a:r>
          </a:p>
          <a:p>
            <a:pPr marL="800100" lvl="1"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risks of self-harm and suicide</a:t>
            </a:r>
          </a:p>
          <a:p>
            <a:pPr marL="800100" lvl="1"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use of self-help materials and methods</a:t>
            </a:r>
          </a:p>
          <a:p>
            <a:pPr marL="800100" lvl="1"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issues of confidentiality</a:t>
            </a:r>
          </a:p>
        </p:txBody>
      </p:sp>
    </p:spTree>
    <p:extLst>
      <p:ext uri="{BB962C8B-B14F-4D97-AF65-F5344CB8AC3E}">
        <p14:creationId xmlns:p14="http://schemas.microsoft.com/office/powerpoint/2010/main" val="35824344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895088"/>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Mild depression</a:t>
            </a:r>
            <a:endParaRPr lang="es-ES" sz="4400" dirty="0">
              <a:solidFill>
                <a:schemeClr val="bg1">
                  <a:lumMod val="50000"/>
                </a:schemeClr>
              </a:solidFill>
              <a:latin typeface="Calibri" charset="0"/>
            </a:endParaRPr>
          </a:p>
        </p:txBody>
      </p:sp>
      <p:sp>
        <p:nvSpPr>
          <p:cNvPr id="4" name="Rectangle 3"/>
          <p:cNvSpPr/>
          <p:nvPr/>
        </p:nvSpPr>
        <p:spPr>
          <a:xfrm>
            <a:off x="1194318" y="1895361"/>
            <a:ext cx="6885992" cy="2603790"/>
          </a:xfrm>
          <a:prstGeom prst="rect">
            <a:avLst/>
          </a:prstGeom>
        </p:spPr>
        <p:txBody>
          <a:bodyPr wrap="square">
            <a:spAutoFit/>
          </a:bodyPr>
          <a:lstStyle/>
          <a:p>
            <a:pPr>
              <a:lnSpc>
                <a:spcPct val="90000"/>
              </a:lnSpc>
            </a:pPr>
            <a:endParaRPr lang="en-GB" altLang="en-US" sz="2400" b="1" dirty="0" smtClean="0">
              <a:latin typeface="Arial" panose="020B0604020202020204" pitchFamily="34" charset="0"/>
              <a:cs typeface="Arial" panose="020B0604020202020204" pitchFamily="34" charset="0"/>
            </a:endParaRPr>
          </a:p>
          <a:p>
            <a:pPr>
              <a:lnSpc>
                <a:spcPct val="90000"/>
              </a:lnSpc>
            </a:pPr>
            <a:r>
              <a:rPr lang="en-GB" altLang="en-US" sz="2400" b="1" dirty="0" smtClean="0">
                <a:latin typeface="Arial" panose="020B0604020202020204" pitchFamily="34" charset="0"/>
                <a:cs typeface="Arial" panose="020B0604020202020204" pitchFamily="34" charset="0"/>
              </a:rPr>
              <a:t>Treatment </a:t>
            </a:r>
            <a:r>
              <a:rPr lang="en-GB" altLang="en-US" sz="2400" b="1" dirty="0">
                <a:latin typeface="Arial" panose="020B0604020202020204" pitchFamily="34" charset="0"/>
                <a:cs typeface="Arial" panose="020B0604020202020204" pitchFamily="34" charset="0"/>
              </a:rPr>
              <a:t>includes</a:t>
            </a:r>
            <a:r>
              <a:rPr lang="en-GB" altLang="en-US" sz="2400" b="1" dirty="0" smtClean="0">
                <a:latin typeface="Arial" panose="020B0604020202020204" pitchFamily="34" charset="0"/>
                <a:cs typeface="Arial" panose="020B0604020202020204" pitchFamily="34" charset="0"/>
              </a:rPr>
              <a:t>:</a:t>
            </a:r>
            <a:endParaRPr lang="en-GB" altLang="en-US" sz="2400" dirty="0">
              <a:latin typeface="Arial" panose="020B0604020202020204" pitchFamily="34" charset="0"/>
              <a:cs typeface="Arial" panose="020B0604020202020204" pitchFamily="34" charset="0"/>
            </a:endParaRPr>
          </a:p>
          <a:p>
            <a:pPr marL="800100" lvl="1"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up to 4 weeks ‘watchful waiting’</a:t>
            </a:r>
          </a:p>
          <a:p>
            <a:pPr marL="800100" lvl="1"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non-directive supportive therapy</a:t>
            </a:r>
          </a:p>
          <a:p>
            <a:pPr marL="800100" lvl="1"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group CBT</a:t>
            </a:r>
          </a:p>
          <a:p>
            <a:pPr marL="800100" lvl="1"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guided self-help</a:t>
            </a:r>
          </a:p>
          <a:p>
            <a:pPr marL="800100" lvl="1"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no use of antidepressants at this stage</a:t>
            </a:r>
          </a:p>
        </p:txBody>
      </p:sp>
    </p:spTree>
    <p:extLst>
      <p:ext uri="{BB962C8B-B14F-4D97-AF65-F5344CB8AC3E}">
        <p14:creationId xmlns:p14="http://schemas.microsoft.com/office/powerpoint/2010/main" val="13133361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688830"/>
            <a:ext cx="9144000"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Moderate to severe depression NICE guidance</a:t>
            </a:r>
            <a:endParaRPr lang="es-ES" sz="4400" dirty="0">
              <a:solidFill>
                <a:schemeClr val="bg1">
                  <a:lumMod val="50000"/>
                </a:schemeClr>
              </a:solidFill>
              <a:latin typeface="Calibri" charset="0"/>
            </a:endParaRPr>
          </a:p>
        </p:txBody>
      </p:sp>
      <p:sp>
        <p:nvSpPr>
          <p:cNvPr id="3" name="Rectangle 2"/>
          <p:cNvSpPr/>
          <p:nvPr/>
        </p:nvSpPr>
        <p:spPr>
          <a:xfrm>
            <a:off x="746449" y="2120543"/>
            <a:ext cx="7800392" cy="4745915"/>
          </a:xfrm>
          <a:prstGeom prst="rect">
            <a:avLst/>
          </a:prstGeom>
        </p:spPr>
        <p:txBody>
          <a:bodyPr wrap="square">
            <a:spAutoFit/>
          </a:bodyPr>
          <a:lstStyle/>
          <a:p>
            <a:pPr>
              <a:lnSpc>
                <a:spcPct val="90000"/>
              </a:lnSpc>
            </a:pPr>
            <a:r>
              <a:rPr lang="en-GB" altLang="en-US" sz="2400" b="1" dirty="0">
                <a:latin typeface="Arial" panose="020B0604020202020204" pitchFamily="34" charset="0"/>
                <a:cs typeface="Arial" panose="020B0604020202020204" pitchFamily="34" charset="0"/>
              </a:rPr>
              <a:t>General recommendations </a:t>
            </a:r>
          </a:p>
          <a:p>
            <a:pPr marL="800100" lvl="1" indent="-342900">
              <a:lnSpc>
                <a:spcPct val="9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Approach tailored to needs of family </a:t>
            </a:r>
          </a:p>
          <a:p>
            <a:pPr marL="800100" lvl="1" indent="-342900">
              <a:lnSpc>
                <a:spcPct val="9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Family’s preferences to be taken into account </a:t>
            </a:r>
            <a:endParaRPr lang="en-GB" altLang="en-US" sz="2400" dirty="0" smtClean="0">
              <a:latin typeface="Arial" panose="020B0604020202020204" pitchFamily="34" charset="0"/>
              <a:cs typeface="Arial" panose="020B0604020202020204" pitchFamily="34" charset="0"/>
            </a:endParaRPr>
          </a:p>
          <a:p>
            <a:pPr marL="800100" lvl="1" indent="-342900">
              <a:lnSpc>
                <a:spcPct val="9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E.g</a:t>
            </a:r>
            <a:r>
              <a:rPr lang="en-GB" altLang="en-US" sz="2400" dirty="0">
                <a:latin typeface="Arial" panose="020B0604020202020204" pitchFamily="34" charset="0"/>
                <a:cs typeface="Arial" panose="020B0604020202020204" pitchFamily="34" charset="0"/>
              </a:rPr>
              <a:t>. when too depressed </a:t>
            </a:r>
            <a:endParaRPr lang="en-GB" altLang="en-US" sz="2400" dirty="0" smtClean="0">
              <a:latin typeface="Arial" panose="020B0604020202020204" pitchFamily="34" charset="0"/>
              <a:cs typeface="Arial" panose="020B0604020202020204" pitchFamily="34" charset="0"/>
            </a:endParaRPr>
          </a:p>
          <a:p>
            <a:pPr marL="800100" lvl="1" indent="-342900">
              <a:lnSpc>
                <a:spcPct val="9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Does </a:t>
            </a:r>
            <a:r>
              <a:rPr lang="en-GB" altLang="en-US" sz="2400" dirty="0">
                <a:latin typeface="Arial" panose="020B0604020202020204" pitchFamily="34" charset="0"/>
                <a:cs typeface="Arial" panose="020B0604020202020204" pitchFamily="34" charset="0"/>
              </a:rPr>
              <a:t>not want family involved</a:t>
            </a:r>
          </a:p>
          <a:p>
            <a:pPr marL="800100" lvl="1" indent="-342900">
              <a:lnSpc>
                <a:spcPct val="9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May require change of approach especially if symptoms deteriorate</a:t>
            </a:r>
          </a:p>
          <a:p>
            <a:pPr>
              <a:lnSpc>
                <a:spcPct val="90000"/>
              </a:lnSpc>
            </a:pPr>
            <a:r>
              <a:rPr lang="en-GB" altLang="en-US" sz="2400" b="1" dirty="0">
                <a:latin typeface="Arial" panose="020B0604020202020204" pitchFamily="34" charset="0"/>
                <a:cs typeface="Arial" panose="020B0604020202020204" pitchFamily="34" charset="0"/>
              </a:rPr>
              <a:t>Treatment starts with review by multidisciplinary team </a:t>
            </a:r>
          </a:p>
          <a:p>
            <a:pPr>
              <a:lnSpc>
                <a:spcPct val="90000"/>
              </a:lnSpc>
            </a:pPr>
            <a:r>
              <a:rPr lang="en-GB" altLang="en-US" sz="2400" b="1" dirty="0">
                <a:latin typeface="Arial" panose="020B0604020202020204" pitchFamily="34" charset="0"/>
                <a:cs typeface="Arial" panose="020B0604020202020204" pitchFamily="34" charset="0"/>
              </a:rPr>
              <a:t>First line of treatment is specific psychological therapy for about 3 months </a:t>
            </a:r>
          </a:p>
          <a:p>
            <a:pPr marL="800100" lvl="1" indent="-342900">
              <a:lnSpc>
                <a:spcPct val="9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Individual cognitive behavioural therapy </a:t>
            </a:r>
          </a:p>
          <a:p>
            <a:pPr marL="800100" lvl="1" indent="-342900">
              <a:lnSpc>
                <a:spcPct val="9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Interpersonal therapy </a:t>
            </a:r>
          </a:p>
          <a:p>
            <a:pPr marL="800100" lvl="1" indent="-342900">
              <a:lnSpc>
                <a:spcPct val="9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Shorter-term family therapy</a:t>
            </a:r>
          </a:p>
        </p:txBody>
      </p:sp>
    </p:spTree>
    <p:extLst>
      <p:ext uri="{BB962C8B-B14F-4D97-AF65-F5344CB8AC3E}">
        <p14:creationId xmlns:p14="http://schemas.microsoft.com/office/powerpoint/2010/main" val="222307504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895088"/>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US" sz="4400" dirty="0">
                <a:ea typeface="Tahoma" pitchFamily="34" charset="0"/>
                <a:cs typeface="Tahoma" pitchFamily="34" charset="0"/>
              </a:rPr>
              <a:t>Facts about </a:t>
            </a:r>
            <a:r>
              <a:rPr lang="en-US" sz="4400" dirty="0" smtClean="0">
                <a:ea typeface="Tahoma" pitchFamily="34" charset="0"/>
                <a:cs typeface="Tahoma" pitchFamily="34" charset="0"/>
              </a:rPr>
              <a:t>anxiety</a:t>
            </a:r>
            <a:endParaRPr lang="es-ES" sz="4400" dirty="0">
              <a:solidFill>
                <a:schemeClr val="bg1">
                  <a:lumMod val="50000"/>
                </a:schemeClr>
              </a:solidFill>
              <a:latin typeface="Calibri" charset="0"/>
            </a:endParaRPr>
          </a:p>
        </p:txBody>
      </p:sp>
      <p:sp>
        <p:nvSpPr>
          <p:cNvPr id="3" name="Rectangle 2"/>
          <p:cNvSpPr/>
          <p:nvPr/>
        </p:nvSpPr>
        <p:spPr>
          <a:xfrm>
            <a:off x="839755" y="1895361"/>
            <a:ext cx="7464490" cy="4228850"/>
          </a:xfrm>
          <a:prstGeom prst="rect">
            <a:avLst/>
          </a:prstGeom>
        </p:spPr>
        <p:txBody>
          <a:bodyPr wrap="square">
            <a:spAutoFit/>
          </a:bodyPr>
          <a:lstStyle/>
          <a:p>
            <a:pPr marL="342900" indent="-342900">
              <a:lnSpc>
                <a:spcPct val="80000"/>
              </a:lnSpc>
              <a:buFont typeface="Arial" panose="020B0604020202020204" pitchFamily="34" charset="0"/>
              <a:buChar char="•"/>
            </a:pPr>
            <a:r>
              <a:rPr lang="en-US" altLang="en-US" sz="2400" dirty="0">
                <a:latin typeface="Arial" panose="020B0604020202020204" pitchFamily="34" charset="0"/>
                <a:cs typeface="Arial" panose="020B0604020202020204" pitchFamily="34" charset="0"/>
              </a:rPr>
              <a:t>Anxiety disorders are among the most common mental, emotional, and </a:t>
            </a:r>
            <a:r>
              <a:rPr lang="en-US" altLang="en-US" sz="2400" dirty="0" err="1" smtClean="0">
                <a:latin typeface="Arial" panose="020B0604020202020204" pitchFamily="34" charset="0"/>
                <a:cs typeface="Arial" panose="020B0604020202020204" pitchFamily="34" charset="0"/>
              </a:rPr>
              <a:t>behavioural</a:t>
            </a:r>
            <a:r>
              <a:rPr lang="en-US" altLang="en-US" sz="2400" dirty="0" smtClean="0">
                <a:latin typeface="Arial" panose="020B0604020202020204" pitchFamily="34" charset="0"/>
                <a:cs typeface="Arial" panose="020B0604020202020204" pitchFamily="34" charset="0"/>
              </a:rPr>
              <a:t> </a:t>
            </a:r>
            <a:r>
              <a:rPr lang="en-US" altLang="en-US" sz="2400" dirty="0">
                <a:latin typeface="Arial" panose="020B0604020202020204" pitchFamily="34" charset="0"/>
                <a:cs typeface="Arial" panose="020B0604020202020204" pitchFamily="34" charset="0"/>
              </a:rPr>
              <a:t>problems to occur</a:t>
            </a:r>
          </a:p>
          <a:p>
            <a:pPr marL="342900" indent="-342900">
              <a:lnSpc>
                <a:spcPct val="80000"/>
              </a:lnSpc>
              <a:buFont typeface="Arial" panose="020B0604020202020204" pitchFamily="34" charset="0"/>
              <a:buChar char="•"/>
            </a:pPr>
            <a:endParaRPr lang="en-US"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US" altLang="en-US" sz="2400" dirty="0">
                <a:latin typeface="Arial" panose="020B0604020202020204" pitchFamily="34" charset="0"/>
                <a:cs typeface="Arial" panose="020B0604020202020204" pitchFamily="34" charset="0"/>
              </a:rPr>
              <a:t>About 13 of every 100 children and adolescents ages 9 to 17 experience some kind of anxiety disorder</a:t>
            </a:r>
          </a:p>
          <a:p>
            <a:pPr marL="342900" indent="-342900">
              <a:lnSpc>
                <a:spcPct val="80000"/>
              </a:lnSpc>
              <a:buFont typeface="Arial" panose="020B0604020202020204" pitchFamily="34" charset="0"/>
              <a:buChar char="•"/>
            </a:pPr>
            <a:endParaRPr lang="en-US"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US" altLang="en-US" sz="2400" dirty="0">
                <a:latin typeface="Arial" panose="020B0604020202020204" pitchFamily="34" charset="0"/>
                <a:cs typeface="Arial" panose="020B0604020202020204" pitchFamily="34" charset="0"/>
              </a:rPr>
              <a:t>Girls are affected more than boys.  About 50% of children and adolescents with anxiety disorders have </a:t>
            </a:r>
            <a:r>
              <a:rPr lang="en-US" altLang="en-US" sz="2400" dirty="0" smtClean="0">
                <a:latin typeface="Arial" panose="020B0604020202020204" pitchFamily="34" charset="0"/>
                <a:cs typeface="Arial" panose="020B0604020202020204" pitchFamily="34" charset="0"/>
              </a:rPr>
              <a:t>other </a:t>
            </a:r>
            <a:r>
              <a:rPr lang="en-US" altLang="en-US" sz="2400" dirty="0">
                <a:latin typeface="Arial" panose="020B0604020202020204" pitchFamily="34" charset="0"/>
                <a:cs typeface="Arial" panose="020B0604020202020204" pitchFamily="34" charset="0"/>
              </a:rPr>
              <a:t>mental/behavioral disorder</a:t>
            </a:r>
          </a:p>
          <a:p>
            <a:pPr marL="342900" indent="-342900">
              <a:lnSpc>
                <a:spcPct val="80000"/>
              </a:lnSpc>
              <a:buFont typeface="Arial" panose="020B0604020202020204" pitchFamily="34" charset="0"/>
              <a:buChar char="•"/>
            </a:pPr>
            <a:endParaRPr lang="en-US"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US" altLang="en-US" sz="2400" dirty="0">
                <a:latin typeface="Arial" panose="020B0604020202020204" pitchFamily="34" charset="0"/>
                <a:cs typeface="Arial" panose="020B0604020202020204" pitchFamily="34" charset="0"/>
              </a:rPr>
              <a:t>Anxiety disorders may coexist with physical health conditions as well</a:t>
            </a:r>
          </a:p>
        </p:txBody>
      </p:sp>
    </p:spTree>
    <p:extLst>
      <p:ext uri="{BB962C8B-B14F-4D97-AF65-F5344CB8AC3E}">
        <p14:creationId xmlns:p14="http://schemas.microsoft.com/office/powerpoint/2010/main" val="185792661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895088"/>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US" sz="4400" dirty="0">
                <a:ea typeface="Tahoma" pitchFamily="34" charset="0"/>
                <a:cs typeface="Tahoma" pitchFamily="34" charset="0"/>
              </a:rPr>
              <a:t>Brief </a:t>
            </a:r>
            <a:r>
              <a:rPr lang="en-US" sz="4400" dirty="0" smtClean="0">
                <a:ea typeface="Tahoma" pitchFamily="34" charset="0"/>
                <a:cs typeface="Tahoma" pitchFamily="34" charset="0"/>
              </a:rPr>
              <a:t>definition</a:t>
            </a:r>
            <a:endParaRPr lang="es-ES" sz="4400" dirty="0">
              <a:solidFill>
                <a:schemeClr val="bg1">
                  <a:lumMod val="50000"/>
                </a:schemeClr>
              </a:solidFill>
              <a:latin typeface="Calibri" charset="0"/>
            </a:endParaRPr>
          </a:p>
        </p:txBody>
      </p:sp>
      <p:sp>
        <p:nvSpPr>
          <p:cNvPr id="3" name="Rectangle 2"/>
          <p:cNvSpPr/>
          <p:nvPr/>
        </p:nvSpPr>
        <p:spPr>
          <a:xfrm>
            <a:off x="578498" y="2304290"/>
            <a:ext cx="7987004" cy="2751522"/>
          </a:xfrm>
          <a:prstGeom prst="rect">
            <a:avLst/>
          </a:prstGeom>
        </p:spPr>
        <p:txBody>
          <a:bodyPr wrap="square">
            <a:spAutoFit/>
          </a:bodyPr>
          <a:lstStyle/>
          <a:p>
            <a:pPr marL="342900" indent="-342900" algn="just">
              <a:lnSpc>
                <a:spcPct val="90000"/>
              </a:lnSpc>
              <a:buFont typeface="Arial" panose="020B0604020202020204" pitchFamily="34" charset="0"/>
              <a:buChar char="•"/>
            </a:pPr>
            <a:r>
              <a:rPr lang="en-US" altLang="en-US" sz="2400" dirty="0">
                <a:latin typeface="Arial" panose="020B0604020202020204" pitchFamily="34" charset="0"/>
                <a:cs typeface="Arial" panose="020B0604020202020204" pitchFamily="34" charset="0"/>
              </a:rPr>
              <a:t>Anxiety is a general feeling of apprehension or worry and is a normal reaction to stressful situations </a:t>
            </a:r>
          </a:p>
          <a:p>
            <a:pPr marL="342900" indent="-342900" algn="just">
              <a:lnSpc>
                <a:spcPct val="90000"/>
              </a:lnSpc>
              <a:buFont typeface="Arial" panose="020B0604020202020204" pitchFamily="34" charset="0"/>
              <a:buChar char="•"/>
            </a:pPr>
            <a:r>
              <a:rPr lang="en-US" altLang="en-US" sz="2400" dirty="0">
                <a:solidFill>
                  <a:srgbClr val="FF3300"/>
                </a:solidFill>
                <a:latin typeface="Arial" panose="020B0604020202020204" pitchFamily="34" charset="0"/>
                <a:cs typeface="Arial" panose="020B0604020202020204" pitchFamily="34" charset="0"/>
              </a:rPr>
              <a:t>Red flags</a:t>
            </a:r>
            <a:r>
              <a:rPr lang="en-US" altLang="en-US" sz="2400" dirty="0">
                <a:latin typeface="Arial" panose="020B0604020202020204" pitchFamily="34" charset="0"/>
                <a:cs typeface="Arial" panose="020B0604020202020204" pitchFamily="34" charset="0"/>
              </a:rPr>
              <a:t> should go up when </a:t>
            </a:r>
            <a:r>
              <a:rPr lang="en-US" altLang="en-US" sz="2400" dirty="0" smtClean="0">
                <a:latin typeface="Arial" panose="020B0604020202020204" pitchFamily="34" charset="0"/>
                <a:cs typeface="Arial" panose="020B0604020202020204" pitchFamily="34" charset="0"/>
              </a:rPr>
              <a:t>the feelings </a:t>
            </a:r>
            <a:r>
              <a:rPr lang="en-US" altLang="en-US" sz="2400" dirty="0">
                <a:latin typeface="Arial" panose="020B0604020202020204" pitchFamily="34" charset="0"/>
                <a:cs typeface="Arial" panose="020B0604020202020204" pitchFamily="34" charset="0"/>
              </a:rPr>
              <a:t>become excessive, </a:t>
            </a:r>
            <a:r>
              <a:rPr lang="en-US" altLang="en-US" sz="2400" dirty="0" smtClean="0">
                <a:latin typeface="Arial" panose="020B0604020202020204" pitchFamily="34" charset="0"/>
                <a:cs typeface="Arial" panose="020B0604020202020204" pitchFamily="34" charset="0"/>
              </a:rPr>
              <a:t>thoughts become </a:t>
            </a:r>
            <a:r>
              <a:rPr lang="en-US" altLang="en-US" sz="2400" dirty="0">
                <a:latin typeface="Arial" panose="020B0604020202020204" pitchFamily="34" charset="0"/>
                <a:cs typeface="Arial" panose="020B0604020202020204" pitchFamily="34" charset="0"/>
              </a:rPr>
              <a:t>irrational and everyday               functioning is debilitated</a:t>
            </a:r>
          </a:p>
          <a:p>
            <a:pPr marL="342900" indent="-342900" algn="just">
              <a:lnSpc>
                <a:spcPct val="90000"/>
              </a:lnSpc>
              <a:buFont typeface="Arial" panose="020B0604020202020204" pitchFamily="34" charset="0"/>
              <a:buChar char="•"/>
            </a:pPr>
            <a:r>
              <a:rPr lang="en-US" altLang="en-US" sz="2400" dirty="0">
                <a:latin typeface="Arial" panose="020B0604020202020204" pitchFamily="34" charset="0"/>
                <a:cs typeface="Arial" panose="020B0604020202020204" pitchFamily="34" charset="0"/>
              </a:rPr>
              <a:t>Anxiety disorders are characterized by excessive feelings of panic, fear, or irrational discomfort in everyday situations </a:t>
            </a:r>
          </a:p>
        </p:txBody>
      </p:sp>
    </p:spTree>
    <p:extLst>
      <p:ext uri="{BB962C8B-B14F-4D97-AF65-F5344CB8AC3E}">
        <p14:creationId xmlns:p14="http://schemas.microsoft.com/office/powerpoint/2010/main" val="286861672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Rectangle 2"/>
          <p:cNvSpPr/>
          <p:nvPr/>
        </p:nvSpPr>
        <p:spPr>
          <a:xfrm>
            <a:off x="839753" y="2024597"/>
            <a:ext cx="7707085" cy="3637919"/>
          </a:xfrm>
          <a:prstGeom prst="rect">
            <a:avLst/>
          </a:prstGeom>
        </p:spPr>
        <p:txBody>
          <a:bodyPr wrap="square">
            <a:spAutoFit/>
          </a:bodyPr>
          <a:lstStyle/>
          <a:p>
            <a:pPr>
              <a:lnSpc>
                <a:spcPct val="80000"/>
              </a:lnSpc>
            </a:pPr>
            <a:r>
              <a:rPr lang="en-US" altLang="en-US" sz="2400" dirty="0">
                <a:latin typeface="Arial" panose="020B0604020202020204" pitchFamily="34" charset="0"/>
                <a:cs typeface="Arial" panose="020B0604020202020204" pitchFamily="34" charset="0"/>
              </a:rPr>
              <a:t>Using brain imaging and neurochemical techniques several parts of the brain </a:t>
            </a:r>
            <a:r>
              <a:rPr lang="en-US" altLang="en-US" sz="2400" dirty="0" smtClean="0">
                <a:latin typeface="Arial" panose="020B0604020202020204" pitchFamily="34" charset="0"/>
                <a:cs typeface="Arial" panose="020B0604020202020204" pitchFamily="34" charset="0"/>
              </a:rPr>
              <a:t>have been </a:t>
            </a:r>
            <a:r>
              <a:rPr lang="en-US" altLang="en-US" sz="2400" dirty="0">
                <a:latin typeface="Arial" panose="020B0604020202020204" pitchFamily="34" charset="0"/>
                <a:cs typeface="Arial" panose="020B0604020202020204" pitchFamily="34" charset="0"/>
              </a:rPr>
              <a:t>identified as key in the </a:t>
            </a:r>
            <a:r>
              <a:rPr lang="en-US" altLang="en-US" sz="2400" dirty="0" smtClean="0">
                <a:latin typeface="Arial" panose="020B0604020202020204" pitchFamily="34" charset="0"/>
                <a:cs typeface="Arial" panose="020B0604020202020204" pitchFamily="34" charset="0"/>
              </a:rPr>
              <a:t>production </a:t>
            </a:r>
            <a:r>
              <a:rPr lang="en-US" altLang="en-US" sz="2400" dirty="0">
                <a:latin typeface="Arial" panose="020B0604020202020204" pitchFamily="34" charset="0"/>
                <a:cs typeface="Arial" panose="020B0604020202020204" pitchFamily="34" charset="0"/>
              </a:rPr>
              <a:t>of fear  and anxiety</a:t>
            </a:r>
          </a:p>
          <a:p>
            <a:pPr>
              <a:lnSpc>
                <a:spcPct val="80000"/>
              </a:lnSpc>
            </a:pPr>
            <a:endParaRPr lang="en-US" altLang="en-US" sz="2400" dirty="0" smtClean="0">
              <a:latin typeface="Arial" panose="020B0604020202020204" pitchFamily="34" charset="0"/>
              <a:cs typeface="Arial" panose="020B0604020202020204" pitchFamily="34" charset="0"/>
            </a:endParaRPr>
          </a:p>
          <a:p>
            <a:pPr>
              <a:lnSpc>
                <a:spcPct val="80000"/>
              </a:lnSpc>
            </a:pPr>
            <a:r>
              <a:rPr lang="en-US" altLang="en-US" sz="2400" dirty="0" smtClean="0">
                <a:latin typeface="Arial" panose="020B0604020202020204" pitchFamily="34" charset="0"/>
                <a:cs typeface="Arial" panose="020B0604020202020204" pitchFamily="34" charset="0"/>
              </a:rPr>
              <a:t>Two </a:t>
            </a:r>
            <a:r>
              <a:rPr lang="en-US" altLang="en-US" sz="2400" dirty="0">
                <a:latin typeface="Arial" panose="020B0604020202020204" pitchFamily="34" charset="0"/>
                <a:cs typeface="Arial" panose="020B0604020202020204" pitchFamily="34" charset="0"/>
              </a:rPr>
              <a:t>main components involved are the amygdala and the </a:t>
            </a:r>
            <a:r>
              <a:rPr lang="en-US" altLang="en-US" sz="2400" dirty="0" smtClean="0">
                <a:latin typeface="Arial" panose="020B0604020202020204" pitchFamily="34" charset="0"/>
                <a:cs typeface="Arial" panose="020B0604020202020204" pitchFamily="34" charset="0"/>
              </a:rPr>
              <a:t>hippocampus</a:t>
            </a:r>
          </a:p>
          <a:p>
            <a:pPr marL="342900" indent="-342900">
              <a:lnSpc>
                <a:spcPct val="80000"/>
              </a:lnSpc>
              <a:buFont typeface="Arial" panose="020B0604020202020204" pitchFamily="34" charset="0"/>
              <a:buChar char="•"/>
            </a:pPr>
            <a:endParaRPr lang="en-US" altLang="en-US" sz="2400" dirty="0" smtClean="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US" altLang="en-US" sz="2400" b="1" dirty="0" smtClean="0">
                <a:latin typeface="Arial" panose="020B0604020202020204" pitchFamily="34" charset="0"/>
                <a:cs typeface="Arial" panose="020B0604020202020204" pitchFamily="34" charset="0"/>
              </a:rPr>
              <a:t>Amygdala</a:t>
            </a:r>
            <a:r>
              <a:rPr lang="en-US" altLang="en-US" sz="2400" dirty="0">
                <a:latin typeface="Arial" panose="020B0604020202020204" pitchFamily="34" charset="0"/>
                <a:cs typeface="Arial" panose="020B0604020202020204" pitchFamily="34" charset="0"/>
              </a:rPr>
              <a:t> </a:t>
            </a:r>
            <a:r>
              <a:rPr lang="en-US" altLang="en-US" sz="2400" dirty="0" smtClean="0">
                <a:latin typeface="Arial" panose="020B0604020202020204" pitchFamily="34" charset="0"/>
                <a:cs typeface="Arial" panose="020B0604020202020204" pitchFamily="34" charset="0"/>
              </a:rPr>
              <a:t>- Emotional </a:t>
            </a:r>
            <a:r>
              <a:rPr lang="en-US" altLang="en-US" sz="2400" dirty="0">
                <a:latin typeface="Arial" panose="020B0604020202020204" pitchFamily="34" charset="0"/>
                <a:cs typeface="Arial" panose="020B0604020202020204" pitchFamily="34" charset="0"/>
              </a:rPr>
              <a:t>memories are stored here and alerts brain that a threat is present </a:t>
            </a:r>
            <a:endParaRPr lang="en-US" altLang="en-US" sz="2400" dirty="0" smtClean="0">
              <a:latin typeface="Arial" panose="020B0604020202020204" pitchFamily="34" charset="0"/>
              <a:cs typeface="Arial" panose="020B0604020202020204" pitchFamily="34" charset="0"/>
            </a:endParaRPr>
          </a:p>
          <a:p>
            <a:pPr>
              <a:lnSpc>
                <a:spcPct val="80000"/>
              </a:lnSpc>
            </a:pPr>
            <a:endParaRPr lang="en-US" altLang="en-US" sz="2400" dirty="0" smtClean="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US" altLang="en-US" sz="2400" b="1" dirty="0" smtClean="0">
                <a:latin typeface="Arial" panose="020B0604020202020204" pitchFamily="34" charset="0"/>
                <a:cs typeface="Arial" panose="020B0604020202020204" pitchFamily="34" charset="0"/>
              </a:rPr>
              <a:t>Hippocampus</a:t>
            </a:r>
            <a:r>
              <a:rPr lang="en-US" altLang="en-US" sz="2400" dirty="0" smtClean="0">
                <a:latin typeface="Arial" panose="020B0604020202020204" pitchFamily="34" charset="0"/>
                <a:cs typeface="Arial" panose="020B0604020202020204" pitchFamily="34" charset="0"/>
              </a:rPr>
              <a:t> - Encodes </a:t>
            </a:r>
            <a:r>
              <a:rPr lang="en-US" altLang="en-US" sz="2400" dirty="0">
                <a:latin typeface="Arial" panose="020B0604020202020204" pitchFamily="34" charset="0"/>
                <a:cs typeface="Arial" panose="020B0604020202020204" pitchFamily="34" charset="0"/>
              </a:rPr>
              <a:t>specific threatening events into memories </a:t>
            </a:r>
          </a:p>
        </p:txBody>
      </p:sp>
      <p:sp>
        <p:nvSpPr>
          <p:cNvPr id="4" name="Rectangle 3"/>
          <p:cNvSpPr/>
          <p:nvPr/>
        </p:nvSpPr>
        <p:spPr>
          <a:xfrm>
            <a:off x="858515" y="1015724"/>
            <a:ext cx="7688323" cy="769441"/>
          </a:xfrm>
          <a:prstGeom prst="rect">
            <a:avLst/>
          </a:prstGeom>
        </p:spPr>
        <p:txBody>
          <a:bodyPr wrap="none">
            <a:spAutoFit/>
          </a:bodyPr>
          <a:lstStyle/>
          <a:p>
            <a:r>
              <a:rPr lang="en-US" sz="4400" dirty="0">
                <a:latin typeface="Arial" panose="020B0604020202020204" pitchFamily="34" charset="0"/>
                <a:ea typeface="Tahoma" pitchFamily="34" charset="0"/>
                <a:cs typeface="Arial" panose="020B0604020202020204" pitchFamily="34" charset="0"/>
              </a:rPr>
              <a:t>Production of fear and anxiety</a:t>
            </a:r>
            <a:endParaRPr lang="en-GB" sz="4400" dirty="0">
              <a:latin typeface="Arial" panose="020B0604020202020204" pitchFamily="34" charset="0"/>
              <a:cs typeface="Arial" panose="020B0604020202020204" pitchFamily="34" charset="0"/>
            </a:endParaRPr>
          </a:p>
        </p:txBody>
      </p:sp>
      <p:pic>
        <p:nvPicPr>
          <p:cNvPr id="7" name="Picture 7" descr="MCHM00302_000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23538" y="5334001"/>
            <a:ext cx="1828906" cy="133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8648852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942246"/>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US" sz="4400" dirty="0">
                <a:ea typeface="Tahoma" pitchFamily="34" charset="0"/>
                <a:cs typeface="Tahoma" pitchFamily="34" charset="0"/>
              </a:rPr>
              <a:t>How </a:t>
            </a:r>
            <a:r>
              <a:rPr lang="en-US" sz="4400" dirty="0" smtClean="0">
                <a:ea typeface="Tahoma" pitchFamily="34" charset="0"/>
                <a:cs typeface="Tahoma" pitchFamily="34" charset="0"/>
              </a:rPr>
              <a:t>anxiety </a:t>
            </a:r>
            <a:r>
              <a:rPr lang="en-US" sz="4400" dirty="0">
                <a:ea typeface="Tahoma" pitchFamily="34" charset="0"/>
                <a:cs typeface="Tahoma" pitchFamily="34" charset="0"/>
              </a:rPr>
              <a:t>is </a:t>
            </a:r>
            <a:r>
              <a:rPr lang="en-US" sz="4400" dirty="0" smtClean="0">
                <a:ea typeface="Tahoma" pitchFamily="34" charset="0"/>
                <a:cs typeface="Tahoma" pitchFamily="34" charset="0"/>
              </a:rPr>
              <a:t>manifested</a:t>
            </a:r>
            <a:endParaRPr lang="es-ES" sz="4400" dirty="0">
              <a:solidFill>
                <a:schemeClr val="bg1">
                  <a:lumMod val="50000"/>
                </a:schemeClr>
              </a:solidFill>
              <a:latin typeface="Calibri" charset="0"/>
            </a:endParaRPr>
          </a:p>
        </p:txBody>
      </p:sp>
      <p:sp>
        <p:nvSpPr>
          <p:cNvPr id="3" name="Rectangle 2"/>
          <p:cNvSpPr/>
          <p:nvPr/>
        </p:nvSpPr>
        <p:spPr>
          <a:xfrm>
            <a:off x="1259633" y="2413338"/>
            <a:ext cx="6755363" cy="2677656"/>
          </a:xfrm>
          <a:prstGeom prst="rect">
            <a:avLst/>
          </a:prstGeom>
        </p:spPr>
        <p:txBody>
          <a:bodyPr wrap="square">
            <a:spAutoFit/>
          </a:bodyPr>
          <a:lstStyle/>
          <a:p>
            <a:pPr marL="342900" indent="-342900">
              <a:buFont typeface="Arial" panose="020B0604020202020204" pitchFamily="34" charset="0"/>
              <a:buChar char="•"/>
            </a:pPr>
            <a:r>
              <a:rPr lang="en-US" altLang="en-US" sz="2400" dirty="0">
                <a:latin typeface="Arial" panose="020B0604020202020204" pitchFamily="34" charset="0"/>
                <a:cs typeface="Arial" panose="020B0604020202020204" pitchFamily="34" charset="0"/>
              </a:rPr>
              <a:t>Students may feel a sense of dread</a:t>
            </a:r>
          </a:p>
          <a:p>
            <a:pPr marL="342900" indent="-342900">
              <a:buFont typeface="Arial" panose="020B0604020202020204" pitchFamily="34" charset="0"/>
              <a:buChar char="•"/>
            </a:pPr>
            <a:r>
              <a:rPr lang="en-US" altLang="en-US" sz="2400" dirty="0">
                <a:latin typeface="Arial" panose="020B0604020202020204" pitchFamily="34" charset="0"/>
                <a:cs typeface="Arial" panose="020B0604020202020204" pitchFamily="34" charset="0"/>
              </a:rPr>
              <a:t>Have fears of impending doom</a:t>
            </a:r>
          </a:p>
          <a:p>
            <a:pPr marL="342900" indent="-342900">
              <a:buFont typeface="Arial" panose="020B0604020202020204" pitchFamily="34" charset="0"/>
              <a:buChar char="•"/>
            </a:pPr>
            <a:r>
              <a:rPr lang="en-US" altLang="en-US" sz="2400" dirty="0">
                <a:latin typeface="Arial" panose="020B0604020202020204" pitchFamily="34" charset="0"/>
                <a:cs typeface="Arial" panose="020B0604020202020204" pitchFamily="34" charset="0"/>
              </a:rPr>
              <a:t>Experience a sense of suffocation</a:t>
            </a:r>
          </a:p>
          <a:p>
            <a:pPr marL="342900" indent="-342900">
              <a:buFont typeface="Arial" panose="020B0604020202020204" pitchFamily="34" charset="0"/>
              <a:buChar char="•"/>
            </a:pPr>
            <a:r>
              <a:rPr lang="en-US" altLang="en-US" sz="2400" dirty="0">
                <a:latin typeface="Arial" panose="020B0604020202020204" pitchFamily="34" charset="0"/>
                <a:cs typeface="Arial" panose="020B0604020202020204" pitchFamily="34" charset="0"/>
              </a:rPr>
              <a:t>Anticipation of unarticulated catastrophe</a:t>
            </a:r>
          </a:p>
          <a:p>
            <a:pPr marL="342900" indent="-342900">
              <a:buFont typeface="Arial" panose="020B0604020202020204" pitchFamily="34" charset="0"/>
              <a:buChar char="•"/>
            </a:pPr>
            <a:r>
              <a:rPr lang="en-US" altLang="en-US" sz="2400" dirty="0">
                <a:latin typeface="Arial" panose="020B0604020202020204" pitchFamily="34" charset="0"/>
                <a:cs typeface="Arial" panose="020B0604020202020204" pitchFamily="34" charset="0"/>
              </a:rPr>
              <a:t>Loss of control over their breath, swallowing, speech, and coordination</a:t>
            </a:r>
          </a:p>
          <a:p>
            <a:pPr marL="342900" indent="-342900">
              <a:buFont typeface="Arial" panose="020B0604020202020204" pitchFamily="34" charset="0"/>
              <a:buChar char="•"/>
            </a:pPr>
            <a:r>
              <a:rPr lang="en-US" altLang="en-US" sz="2400" dirty="0">
                <a:latin typeface="Arial" panose="020B0604020202020204" pitchFamily="34" charset="0"/>
                <a:cs typeface="Arial" panose="020B0604020202020204" pitchFamily="34" charset="0"/>
              </a:rPr>
              <a:t>Somatic Complaints</a:t>
            </a:r>
          </a:p>
        </p:txBody>
      </p:sp>
    </p:spTree>
    <p:extLst>
      <p:ext uri="{BB962C8B-B14F-4D97-AF65-F5344CB8AC3E}">
        <p14:creationId xmlns:p14="http://schemas.microsoft.com/office/powerpoint/2010/main" val="240052937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Rectangle 2"/>
          <p:cNvSpPr/>
          <p:nvPr/>
        </p:nvSpPr>
        <p:spPr>
          <a:xfrm>
            <a:off x="427333" y="1791143"/>
            <a:ext cx="8182947" cy="4081117"/>
          </a:xfrm>
          <a:prstGeom prst="rect">
            <a:avLst/>
          </a:prstGeom>
        </p:spPr>
        <p:txBody>
          <a:bodyPr wrap="square">
            <a:spAutoFit/>
          </a:bodyPr>
          <a:lstStyle/>
          <a:p>
            <a:pPr>
              <a:lnSpc>
                <a:spcPct val="90000"/>
              </a:lnSpc>
            </a:pPr>
            <a:r>
              <a:rPr lang="en-US" altLang="en-US" sz="2400" b="1" dirty="0">
                <a:latin typeface="Arial" panose="020B0604020202020204" pitchFamily="34" charset="0"/>
                <a:cs typeface="Arial" panose="020B0604020202020204" pitchFamily="34" charset="0"/>
              </a:rPr>
              <a:t>Generalized Anxiety Disorder (</a:t>
            </a:r>
            <a:r>
              <a:rPr lang="en-US" altLang="en-US" sz="2400" b="1" dirty="0" smtClean="0">
                <a:latin typeface="Arial" panose="020B0604020202020204" pitchFamily="34" charset="0"/>
                <a:cs typeface="Arial" panose="020B0604020202020204" pitchFamily="34" charset="0"/>
              </a:rPr>
              <a:t>GAD)</a:t>
            </a:r>
          </a:p>
          <a:p>
            <a:pPr>
              <a:lnSpc>
                <a:spcPct val="90000"/>
              </a:lnSpc>
            </a:pPr>
            <a:r>
              <a:rPr lang="en-US" altLang="en-US" sz="2400" dirty="0" smtClean="0">
                <a:latin typeface="Arial" panose="020B0604020202020204" pitchFamily="34" charset="0"/>
                <a:cs typeface="Arial" panose="020B0604020202020204" pitchFamily="34" charset="0"/>
              </a:rPr>
              <a:t>GAD </a:t>
            </a:r>
            <a:r>
              <a:rPr lang="en-US" altLang="en-US" sz="2400" dirty="0">
                <a:latin typeface="Arial" panose="020B0604020202020204" pitchFamily="34" charset="0"/>
                <a:cs typeface="Arial" panose="020B0604020202020204" pitchFamily="34" charset="0"/>
              </a:rPr>
              <a:t>results in students experiencing six months or more of persistent, irrational and extreme worry, causing insomnia, headaches, and irritability. </a:t>
            </a:r>
          </a:p>
          <a:p>
            <a:pPr>
              <a:lnSpc>
                <a:spcPct val="90000"/>
              </a:lnSpc>
            </a:pPr>
            <a:endParaRPr lang="en-US" altLang="en-US" sz="2400" dirty="0">
              <a:latin typeface="Arial" panose="020B0604020202020204" pitchFamily="34" charset="0"/>
              <a:cs typeface="Arial" panose="020B0604020202020204" pitchFamily="34" charset="0"/>
            </a:endParaRPr>
          </a:p>
          <a:p>
            <a:pPr>
              <a:lnSpc>
                <a:spcPct val="90000"/>
              </a:lnSpc>
            </a:pPr>
            <a:r>
              <a:rPr lang="en-US" altLang="en-US" sz="2400" b="1" dirty="0">
                <a:latin typeface="Arial" panose="020B0604020202020204" pitchFamily="34" charset="0"/>
                <a:cs typeface="Arial" panose="020B0604020202020204" pitchFamily="34" charset="0"/>
              </a:rPr>
              <a:t>Post-Traumatic Stress Disorder (</a:t>
            </a:r>
            <a:r>
              <a:rPr lang="en-US" altLang="en-US" sz="2400" b="1" dirty="0" smtClean="0">
                <a:latin typeface="Arial" panose="020B0604020202020204" pitchFamily="34" charset="0"/>
                <a:cs typeface="Arial" panose="020B0604020202020204" pitchFamily="34" charset="0"/>
              </a:rPr>
              <a:t>PTSD)</a:t>
            </a:r>
          </a:p>
          <a:p>
            <a:pPr>
              <a:lnSpc>
                <a:spcPct val="90000"/>
              </a:lnSpc>
            </a:pPr>
            <a:r>
              <a:rPr lang="en-US" altLang="en-US" sz="2400" dirty="0" smtClean="0">
                <a:latin typeface="Arial" panose="020B0604020202020204" pitchFamily="34" charset="0"/>
                <a:cs typeface="Arial" panose="020B0604020202020204" pitchFamily="34" charset="0"/>
              </a:rPr>
              <a:t>PTSD </a:t>
            </a:r>
            <a:r>
              <a:rPr lang="en-US" altLang="en-US" sz="2400" dirty="0">
                <a:latin typeface="Arial" panose="020B0604020202020204" pitchFamily="34" charset="0"/>
                <a:cs typeface="Arial" panose="020B0604020202020204" pitchFamily="34" charset="0"/>
              </a:rPr>
              <a:t>can follow an exposure to a traumatic event such as natural disasters, sexual or physical assaults, or the death of a loved one.  Three main symptoms:  reliving of the traumatic event, avoidance </a:t>
            </a:r>
            <a:r>
              <a:rPr lang="en-US" altLang="en-US" sz="2400" dirty="0" err="1" smtClean="0">
                <a:latin typeface="Arial" panose="020B0604020202020204" pitchFamily="34" charset="0"/>
                <a:cs typeface="Arial" panose="020B0604020202020204" pitchFamily="34" charset="0"/>
              </a:rPr>
              <a:t>behaviours</a:t>
            </a:r>
            <a:r>
              <a:rPr lang="en-US" altLang="en-US" sz="2400" dirty="0" smtClean="0">
                <a:latin typeface="Arial" panose="020B0604020202020204" pitchFamily="34" charset="0"/>
                <a:cs typeface="Arial" panose="020B0604020202020204" pitchFamily="34" charset="0"/>
              </a:rPr>
              <a:t> </a:t>
            </a:r>
            <a:r>
              <a:rPr lang="en-US" altLang="en-US" sz="2400" dirty="0">
                <a:latin typeface="Arial" panose="020B0604020202020204" pitchFamily="34" charset="0"/>
                <a:cs typeface="Arial" panose="020B0604020202020204" pitchFamily="34" charset="0"/>
              </a:rPr>
              <a:t>and emotional numbing, and physiological arousal such as difficulty sleeping, irritability or poor concentration. </a:t>
            </a:r>
          </a:p>
        </p:txBody>
      </p:sp>
      <p:sp>
        <p:nvSpPr>
          <p:cNvPr id="4" name="Rectangle 3"/>
          <p:cNvSpPr/>
          <p:nvPr/>
        </p:nvSpPr>
        <p:spPr>
          <a:xfrm>
            <a:off x="1457973" y="864707"/>
            <a:ext cx="6743449" cy="769441"/>
          </a:xfrm>
          <a:prstGeom prst="rect">
            <a:avLst/>
          </a:prstGeom>
        </p:spPr>
        <p:txBody>
          <a:bodyPr wrap="none">
            <a:spAutoFit/>
          </a:bodyPr>
          <a:lstStyle/>
          <a:p>
            <a:r>
              <a:rPr lang="en-US" sz="4400" dirty="0">
                <a:latin typeface="Arial" panose="020B0604020202020204" pitchFamily="34" charset="0"/>
                <a:ea typeface="Tahoma" pitchFamily="34" charset="0"/>
                <a:cs typeface="Arial" panose="020B0604020202020204" pitchFamily="34" charset="0"/>
              </a:rPr>
              <a:t>Types of </a:t>
            </a:r>
            <a:r>
              <a:rPr lang="en-US" sz="4400" dirty="0" smtClean="0">
                <a:latin typeface="Arial" panose="020B0604020202020204" pitchFamily="34" charset="0"/>
                <a:ea typeface="Tahoma" pitchFamily="34" charset="0"/>
                <a:cs typeface="Arial" panose="020B0604020202020204" pitchFamily="34" charset="0"/>
              </a:rPr>
              <a:t>anxiety disorders</a:t>
            </a:r>
            <a:endParaRPr lang="en-GB" sz="4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7233405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Rectangle 2"/>
          <p:cNvSpPr/>
          <p:nvPr/>
        </p:nvSpPr>
        <p:spPr>
          <a:xfrm>
            <a:off x="606489" y="1446099"/>
            <a:ext cx="7931021" cy="4745915"/>
          </a:xfrm>
          <a:prstGeom prst="rect">
            <a:avLst/>
          </a:prstGeom>
        </p:spPr>
        <p:txBody>
          <a:bodyPr wrap="square">
            <a:spAutoFit/>
          </a:bodyPr>
          <a:lstStyle/>
          <a:p>
            <a:pPr>
              <a:lnSpc>
                <a:spcPct val="90000"/>
              </a:lnSpc>
            </a:pPr>
            <a:r>
              <a:rPr lang="en-US" altLang="en-US" sz="2400" b="1" dirty="0">
                <a:latin typeface="Arial" panose="020B0604020202020204" pitchFamily="34" charset="0"/>
                <a:cs typeface="Arial" panose="020B0604020202020204" pitchFamily="34" charset="0"/>
              </a:rPr>
              <a:t>Panic Disorders</a:t>
            </a:r>
          </a:p>
          <a:p>
            <a:pPr lvl="1">
              <a:lnSpc>
                <a:spcPct val="90000"/>
              </a:lnSpc>
            </a:pPr>
            <a:r>
              <a:rPr lang="en-US" altLang="en-US" sz="2400" dirty="0">
                <a:latin typeface="Arial" panose="020B0604020202020204" pitchFamily="34" charset="0"/>
                <a:cs typeface="Arial" panose="020B0604020202020204" pitchFamily="34" charset="0"/>
              </a:rPr>
              <a:t>Characterized by unpredictable panic attacks, which are episodes of intense fear, physiological arousal, and escape </a:t>
            </a:r>
            <a:r>
              <a:rPr lang="en-US" altLang="en-US" sz="2400" dirty="0" err="1" smtClean="0">
                <a:latin typeface="Arial" panose="020B0604020202020204" pitchFamily="34" charset="0"/>
                <a:cs typeface="Arial" panose="020B0604020202020204" pitchFamily="34" charset="0"/>
              </a:rPr>
              <a:t>behaviours</a:t>
            </a:r>
            <a:r>
              <a:rPr lang="en-US" altLang="en-US" sz="2400" dirty="0">
                <a:latin typeface="Arial" panose="020B0604020202020204" pitchFamily="34" charset="0"/>
                <a:cs typeface="Arial" panose="020B0604020202020204" pitchFamily="34" charset="0"/>
              </a:rPr>
              <a:t>.  </a:t>
            </a:r>
            <a:r>
              <a:rPr lang="en-US" altLang="en-US" sz="2400" dirty="0">
                <a:solidFill>
                  <a:srgbClr val="FF0000"/>
                </a:solidFill>
                <a:latin typeface="Arial" panose="020B0604020202020204" pitchFamily="34" charset="0"/>
                <a:cs typeface="Arial" panose="020B0604020202020204" pitchFamily="34" charset="0"/>
              </a:rPr>
              <a:t>Common symptoms</a:t>
            </a:r>
            <a:r>
              <a:rPr lang="en-US" altLang="en-US" sz="2400" dirty="0">
                <a:latin typeface="Arial" panose="020B0604020202020204" pitchFamily="34" charset="0"/>
                <a:cs typeface="Arial" panose="020B0604020202020204" pitchFamily="34" charset="0"/>
              </a:rPr>
              <a:t>:  heart palpitations, shortness of breath, dizziness and anxiety and these symptoms are often confused with those of a heart attack.</a:t>
            </a:r>
          </a:p>
          <a:p>
            <a:pPr lvl="1">
              <a:lnSpc>
                <a:spcPct val="90000"/>
              </a:lnSpc>
            </a:pPr>
            <a:endParaRPr lang="en-US" altLang="en-US" sz="2400" dirty="0">
              <a:latin typeface="Arial" panose="020B0604020202020204" pitchFamily="34" charset="0"/>
              <a:cs typeface="Arial" panose="020B0604020202020204" pitchFamily="34" charset="0"/>
            </a:endParaRPr>
          </a:p>
          <a:p>
            <a:pPr>
              <a:lnSpc>
                <a:spcPct val="90000"/>
              </a:lnSpc>
            </a:pPr>
            <a:r>
              <a:rPr lang="en-US" altLang="en-US" sz="2400" b="1" dirty="0">
                <a:latin typeface="Arial" panose="020B0604020202020204" pitchFamily="34" charset="0"/>
                <a:cs typeface="Arial" panose="020B0604020202020204" pitchFamily="34" charset="0"/>
              </a:rPr>
              <a:t>Specific Phobias</a:t>
            </a:r>
          </a:p>
          <a:p>
            <a:pPr lvl="1">
              <a:lnSpc>
                <a:spcPct val="90000"/>
              </a:lnSpc>
            </a:pPr>
            <a:r>
              <a:rPr lang="en-US" altLang="en-US" sz="2400" dirty="0">
                <a:latin typeface="Arial" panose="020B0604020202020204" pitchFamily="34" charset="0"/>
                <a:cs typeface="Arial" panose="020B0604020202020204" pitchFamily="34" charset="0"/>
              </a:rPr>
              <a:t>Intense fear reaction to a specific object or situation (such as spiders, dogs, or heights) which often leads to avoidance </a:t>
            </a:r>
            <a:r>
              <a:rPr lang="en-US" altLang="en-US" sz="2400" dirty="0" err="1" smtClean="0">
                <a:latin typeface="Arial" panose="020B0604020202020204" pitchFamily="34" charset="0"/>
                <a:cs typeface="Arial" panose="020B0604020202020204" pitchFamily="34" charset="0"/>
              </a:rPr>
              <a:t>behaviour</a:t>
            </a:r>
            <a:r>
              <a:rPr lang="en-US" altLang="en-US" sz="2400" dirty="0">
                <a:latin typeface="Arial" panose="020B0604020202020204" pitchFamily="34" charset="0"/>
                <a:cs typeface="Arial" panose="020B0604020202020204" pitchFamily="34" charset="0"/>
              </a:rPr>
              <a:t>.  The level of fear is usually inappropriate to the situation and is recognized by the sufferer as being irrational </a:t>
            </a:r>
          </a:p>
        </p:txBody>
      </p:sp>
    </p:spTree>
    <p:extLst>
      <p:ext uri="{BB962C8B-B14F-4D97-AF65-F5344CB8AC3E}">
        <p14:creationId xmlns:p14="http://schemas.microsoft.com/office/powerpoint/2010/main" val="281369864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701094"/>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US" sz="4400" dirty="0">
                <a:latin typeface="Arial" panose="020B0604020202020204" pitchFamily="34" charset="0"/>
                <a:cs typeface="Arial" panose="020B0604020202020204" pitchFamily="34" charset="0"/>
              </a:rPr>
              <a:t>Disorders </a:t>
            </a:r>
            <a:r>
              <a:rPr lang="en-US" sz="4400" dirty="0" smtClean="0">
                <a:latin typeface="Arial" panose="020B0604020202020204" pitchFamily="34" charset="0"/>
                <a:cs typeface="Arial" panose="020B0604020202020204" pitchFamily="34" charset="0"/>
              </a:rPr>
              <a:t>continued</a:t>
            </a:r>
            <a:endParaRPr lang="es-ES" sz="4400" dirty="0">
              <a:solidFill>
                <a:schemeClr val="bg1">
                  <a:lumMod val="50000"/>
                </a:schemeClr>
              </a:solidFill>
              <a:latin typeface="Arial" panose="020B0604020202020204" pitchFamily="34" charset="0"/>
              <a:cs typeface="Arial" panose="020B0604020202020204" pitchFamily="34" charset="0"/>
            </a:endParaRPr>
          </a:p>
        </p:txBody>
      </p:sp>
      <p:sp>
        <p:nvSpPr>
          <p:cNvPr id="3" name="Rectangle 2"/>
          <p:cNvSpPr/>
          <p:nvPr/>
        </p:nvSpPr>
        <p:spPr>
          <a:xfrm>
            <a:off x="732453" y="1620519"/>
            <a:ext cx="7679094" cy="5078313"/>
          </a:xfrm>
          <a:prstGeom prst="rect">
            <a:avLst/>
          </a:prstGeom>
        </p:spPr>
        <p:txBody>
          <a:bodyPr wrap="square">
            <a:spAutoFit/>
          </a:bodyPr>
          <a:lstStyle/>
          <a:p>
            <a:pPr>
              <a:lnSpc>
                <a:spcPct val="90000"/>
              </a:lnSpc>
            </a:pPr>
            <a:r>
              <a:rPr lang="en-US" altLang="en-US" sz="2400" b="1" dirty="0">
                <a:latin typeface="Arial" panose="020B0604020202020204" pitchFamily="34" charset="0"/>
                <a:cs typeface="Arial" panose="020B0604020202020204" pitchFamily="34" charset="0"/>
              </a:rPr>
              <a:t>Social Phobia</a:t>
            </a:r>
          </a:p>
          <a:p>
            <a:pPr lvl="1">
              <a:lnSpc>
                <a:spcPct val="90000"/>
              </a:lnSpc>
            </a:pPr>
            <a:r>
              <a:rPr lang="en-US" altLang="en-US" sz="2400" dirty="0">
                <a:latin typeface="Arial" panose="020B0604020202020204" pitchFamily="34" charset="0"/>
                <a:cs typeface="Arial" panose="020B0604020202020204" pitchFamily="34" charset="0"/>
              </a:rPr>
              <a:t>Extreme anxiety about being judged by others or behaving in a way that might cause embarrassment or ridicule and may lead to avoidance </a:t>
            </a:r>
            <a:r>
              <a:rPr lang="en-US" altLang="en-US" sz="2400" dirty="0" err="1" smtClean="0">
                <a:latin typeface="Arial" panose="020B0604020202020204" pitchFamily="34" charset="0"/>
                <a:cs typeface="Arial" panose="020B0604020202020204" pitchFamily="34" charset="0"/>
              </a:rPr>
              <a:t>behaviour</a:t>
            </a:r>
            <a:r>
              <a:rPr lang="en-US" altLang="en-US" sz="2400" dirty="0">
                <a:latin typeface="Arial" panose="020B0604020202020204" pitchFamily="34" charset="0"/>
                <a:cs typeface="Arial" panose="020B0604020202020204" pitchFamily="34" charset="0"/>
              </a:rPr>
              <a:t>.</a:t>
            </a:r>
          </a:p>
          <a:p>
            <a:pPr>
              <a:lnSpc>
                <a:spcPct val="90000"/>
              </a:lnSpc>
            </a:pPr>
            <a:r>
              <a:rPr lang="en-US" altLang="en-US" sz="2400" b="1" dirty="0">
                <a:latin typeface="Arial" panose="020B0604020202020204" pitchFamily="34" charset="0"/>
                <a:cs typeface="Arial" panose="020B0604020202020204" pitchFamily="34" charset="0"/>
              </a:rPr>
              <a:t>Separation Anxiety Disorder</a:t>
            </a:r>
          </a:p>
          <a:p>
            <a:pPr lvl="1">
              <a:lnSpc>
                <a:spcPct val="90000"/>
              </a:lnSpc>
            </a:pPr>
            <a:r>
              <a:rPr lang="en-US" altLang="en-US" sz="2400" dirty="0">
                <a:latin typeface="Arial" panose="020B0604020202020204" pitchFamily="34" charset="0"/>
                <a:cs typeface="Arial" panose="020B0604020202020204" pitchFamily="34" charset="0"/>
              </a:rPr>
              <a:t>Intense anxiety associated with being away from caregivers, results in youths clinging to parents or refusing to do daily activities such as going to school.</a:t>
            </a:r>
          </a:p>
          <a:p>
            <a:pPr>
              <a:lnSpc>
                <a:spcPct val="90000"/>
              </a:lnSpc>
            </a:pPr>
            <a:r>
              <a:rPr lang="en-US" altLang="en-US" sz="2400" b="1" dirty="0">
                <a:latin typeface="Arial" panose="020B0604020202020204" pitchFamily="34" charset="0"/>
                <a:cs typeface="Arial" panose="020B0604020202020204" pitchFamily="34" charset="0"/>
              </a:rPr>
              <a:t>Obsessive-Compulsive Disorder (OCD)</a:t>
            </a:r>
          </a:p>
          <a:p>
            <a:pPr lvl="1">
              <a:lnSpc>
                <a:spcPct val="90000"/>
              </a:lnSpc>
            </a:pPr>
            <a:r>
              <a:rPr lang="en-US" altLang="en-US" sz="2400" dirty="0">
                <a:latin typeface="Arial" panose="020B0604020202020204" pitchFamily="34" charset="0"/>
                <a:cs typeface="Arial" panose="020B0604020202020204" pitchFamily="34" charset="0"/>
              </a:rPr>
              <a:t>Students may be plagued by persistent, recurring thoughts (obsessions) and engage in compulsive ritualistic behaviours in order to reduce the anxiety associated with these obsessions (e.g. constant hand washing).</a:t>
            </a:r>
          </a:p>
        </p:txBody>
      </p:sp>
    </p:spTree>
    <p:extLst>
      <p:ext uri="{BB962C8B-B14F-4D97-AF65-F5344CB8AC3E}">
        <p14:creationId xmlns:p14="http://schemas.microsoft.com/office/powerpoint/2010/main" val="399501276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755634"/>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US" sz="4400" dirty="0">
                <a:ea typeface="Tahoma" pitchFamily="34" charset="0"/>
                <a:cs typeface="Tahoma" pitchFamily="34" charset="0"/>
              </a:rPr>
              <a:t>Comorbidity</a:t>
            </a:r>
            <a:endParaRPr lang="es-ES" sz="4400" dirty="0">
              <a:solidFill>
                <a:schemeClr val="bg1">
                  <a:lumMod val="50000"/>
                </a:schemeClr>
              </a:solidFill>
              <a:latin typeface="Calibri" charset="0"/>
            </a:endParaRPr>
          </a:p>
        </p:txBody>
      </p:sp>
      <p:sp>
        <p:nvSpPr>
          <p:cNvPr id="3" name="Rectangle 2"/>
          <p:cNvSpPr/>
          <p:nvPr/>
        </p:nvSpPr>
        <p:spPr>
          <a:xfrm>
            <a:off x="774441" y="1997839"/>
            <a:ext cx="7539135" cy="3785652"/>
          </a:xfrm>
          <a:prstGeom prst="rect">
            <a:avLst/>
          </a:prstGeom>
        </p:spPr>
        <p:txBody>
          <a:bodyPr wrap="square">
            <a:spAutoFit/>
          </a:bodyPr>
          <a:lstStyle/>
          <a:p>
            <a:r>
              <a:rPr lang="en-US" altLang="en-US" sz="2400" b="1" dirty="0">
                <a:latin typeface="Arial" panose="020B0604020202020204" pitchFamily="34" charset="0"/>
                <a:cs typeface="Arial" panose="020B0604020202020204" pitchFamily="34" charset="0"/>
              </a:rPr>
              <a:t>Comorbid diagnoses of depressive disorders, ADHD, and other anxiety disorders are common in anxiety patients</a:t>
            </a:r>
            <a:r>
              <a:rPr lang="en-US" altLang="en-US" sz="2400" b="1" dirty="0" smtClean="0">
                <a:latin typeface="Arial" panose="020B0604020202020204" pitchFamily="34" charset="0"/>
                <a:cs typeface="Arial" panose="020B0604020202020204" pitchFamily="34" charset="0"/>
              </a:rPr>
              <a:t>.</a:t>
            </a:r>
          </a:p>
          <a:p>
            <a:r>
              <a:rPr lang="en-US" altLang="en-US" sz="2400" b="1" dirty="0" smtClean="0">
                <a:latin typeface="Arial" panose="020B0604020202020204" pitchFamily="34" charset="0"/>
                <a:cs typeface="Arial" panose="020B0604020202020204" pitchFamily="34" charset="0"/>
              </a:rPr>
              <a:t> </a:t>
            </a:r>
            <a:endParaRPr lang="en-US" altLang="en-US" sz="2400" b="1" dirty="0">
              <a:latin typeface="Arial" panose="020B0604020202020204" pitchFamily="34" charset="0"/>
              <a:cs typeface="Arial" panose="020B0604020202020204" pitchFamily="34" charset="0"/>
            </a:endParaRPr>
          </a:p>
          <a:p>
            <a:r>
              <a:rPr lang="en-US" altLang="en-US" sz="2400" b="1" dirty="0">
                <a:latin typeface="Arial" panose="020B0604020202020204" pitchFamily="34" charset="0"/>
                <a:cs typeface="Arial" panose="020B0604020202020204" pitchFamily="34" charset="0"/>
              </a:rPr>
              <a:t>Symptoms that may appear to be ADHD:</a:t>
            </a:r>
          </a:p>
          <a:p>
            <a:pPr marL="800100" lvl="1" indent="-342900">
              <a:buFont typeface="Arial" panose="020B0604020202020204" pitchFamily="34" charset="0"/>
              <a:buChar char="•"/>
            </a:pPr>
            <a:r>
              <a:rPr lang="en-US" altLang="en-US" sz="2400" dirty="0">
                <a:latin typeface="Arial" panose="020B0604020202020204" pitchFamily="34" charset="0"/>
                <a:cs typeface="Arial" panose="020B0604020202020204" pitchFamily="34" charset="0"/>
              </a:rPr>
              <a:t>Restlessness, feeling keyed up or on edge</a:t>
            </a:r>
          </a:p>
          <a:p>
            <a:pPr marL="800100" lvl="1" indent="-342900">
              <a:buFont typeface="Arial" panose="020B0604020202020204" pitchFamily="34" charset="0"/>
              <a:buChar char="•"/>
            </a:pPr>
            <a:r>
              <a:rPr lang="en-US" altLang="en-US" sz="2400" dirty="0">
                <a:latin typeface="Arial" panose="020B0604020202020204" pitchFamily="34" charset="0"/>
                <a:cs typeface="Arial" panose="020B0604020202020204" pitchFamily="34" charset="0"/>
              </a:rPr>
              <a:t>Difficulty concentrating, mind going blank</a:t>
            </a:r>
          </a:p>
          <a:p>
            <a:pPr marL="800100" lvl="1" indent="-342900">
              <a:buFont typeface="Arial" panose="020B0604020202020204" pitchFamily="34" charset="0"/>
              <a:buChar char="•"/>
            </a:pPr>
            <a:r>
              <a:rPr lang="en-US" altLang="en-US" sz="2400" dirty="0">
                <a:latin typeface="Arial" panose="020B0604020202020204" pitchFamily="34" charset="0"/>
                <a:cs typeface="Arial" panose="020B0604020202020204" pitchFamily="34" charset="0"/>
              </a:rPr>
              <a:t>Irritability</a:t>
            </a:r>
          </a:p>
          <a:p>
            <a:pPr marL="800100" lvl="1" indent="-342900">
              <a:buFont typeface="Arial" panose="020B0604020202020204" pitchFamily="34" charset="0"/>
              <a:buChar char="•"/>
            </a:pPr>
            <a:r>
              <a:rPr lang="en-US" altLang="en-US" sz="2400" dirty="0">
                <a:latin typeface="Arial" panose="020B0604020202020204" pitchFamily="34" charset="0"/>
                <a:cs typeface="Arial" panose="020B0604020202020204" pitchFamily="34" charset="0"/>
              </a:rPr>
              <a:t>Clinically significant distress or </a:t>
            </a:r>
            <a:r>
              <a:rPr lang="en-US" altLang="en-US" sz="2400" dirty="0" smtClean="0">
                <a:latin typeface="Arial" panose="020B0604020202020204" pitchFamily="34" charset="0"/>
                <a:cs typeface="Arial" panose="020B0604020202020204" pitchFamily="34" charset="0"/>
              </a:rPr>
              <a:t>impairment </a:t>
            </a:r>
            <a:r>
              <a:rPr lang="en-US" altLang="en-US" sz="2400" dirty="0">
                <a:latin typeface="Arial" panose="020B0604020202020204" pitchFamily="34" charset="0"/>
                <a:cs typeface="Arial" panose="020B0604020202020204" pitchFamily="34" charset="0"/>
              </a:rPr>
              <a:t>in social or academic areas</a:t>
            </a:r>
          </a:p>
        </p:txBody>
      </p:sp>
    </p:spTree>
    <p:extLst>
      <p:ext uri="{BB962C8B-B14F-4D97-AF65-F5344CB8AC3E}">
        <p14:creationId xmlns:p14="http://schemas.microsoft.com/office/powerpoint/2010/main" val="19588189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774295"/>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US" sz="4400" dirty="0">
                <a:ea typeface="Tahoma" pitchFamily="34" charset="0"/>
                <a:cs typeface="Tahoma" pitchFamily="34" charset="0"/>
              </a:rPr>
              <a:t>Effective </a:t>
            </a:r>
            <a:r>
              <a:rPr lang="en-US" sz="4400" dirty="0" smtClean="0">
                <a:ea typeface="Tahoma" pitchFamily="34" charset="0"/>
                <a:cs typeface="Tahoma" pitchFamily="34" charset="0"/>
              </a:rPr>
              <a:t>ways </a:t>
            </a:r>
            <a:r>
              <a:rPr lang="en-US" sz="4400" dirty="0">
                <a:ea typeface="Tahoma" pitchFamily="34" charset="0"/>
                <a:cs typeface="Tahoma" pitchFamily="34" charset="0"/>
              </a:rPr>
              <a:t>to </a:t>
            </a:r>
            <a:r>
              <a:rPr lang="en-US" sz="4400" dirty="0" smtClean="0">
                <a:ea typeface="Tahoma" pitchFamily="34" charset="0"/>
                <a:cs typeface="Tahoma" pitchFamily="34" charset="0"/>
              </a:rPr>
              <a:t>treat anxiety</a:t>
            </a:r>
            <a:endParaRPr lang="es-ES" sz="4400" dirty="0">
              <a:solidFill>
                <a:schemeClr val="bg1">
                  <a:lumMod val="50000"/>
                </a:schemeClr>
              </a:solidFill>
              <a:latin typeface="Calibri" charset="0"/>
            </a:endParaRPr>
          </a:p>
        </p:txBody>
      </p:sp>
      <p:sp>
        <p:nvSpPr>
          <p:cNvPr id="3" name="Rectangle 2"/>
          <p:cNvSpPr/>
          <p:nvPr/>
        </p:nvSpPr>
        <p:spPr>
          <a:xfrm>
            <a:off x="802433" y="2136339"/>
            <a:ext cx="7511143" cy="3046988"/>
          </a:xfrm>
          <a:prstGeom prst="rect">
            <a:avLst/>
          </a:prstGeom>
        </p:spPr>
        <p:txBody>
          <a:bodyPr wrap="square">
            <a:spAutoFit/>
          </a:bodyPr>
          <a:lstStyle/>
          <a:p>
            <a:pPr marL="342900" indent="-342900">
              <a:buFont typeface="Arial" panose="020B0604020202020204" pitchFamily="34" charset="0"/>
              <a:buChar char="•"/>
            </a:pPr>
            <a:r>
              <a:rPr lang="en-US" altLang="en-US" sz="2400" dirty="0" smtClean="0">
                <a:latin typeface="Arial" panose="020B0604020202020204" pitchFamily="34" charset="0"/>
                <a:cs typeface="Arial" panose="020B0604020202020204" pitchFamily="34" charset="0"/>
              </a:rPr>
              <a:t>Cognitive-</a:t>
            </a:r>
            <a:r>
              <a:rPr lang="en-US" altLang="en-US" sz="2400" dirty="0" err="1" smtClean="0">
                <a:latin typeface="Arial" panose="020B0604020202020204" pitchFamily="34" charset="0"/>
                <a:cs typeface="Arial" panose="020B0604020202020204" pitchFamily="34" charset="0"/>
              </a:rPr>
              <a:t>behavioural</a:t>
            </a:r>
            <a:r>
              <a:rPr lang="en-US" altLang="en-US" sz="2400" dirty="0" smtClean="0">
                <a:latin typeface="Arial" panose="020B0604020202020204" pitchFamily="34" charset="0"/>
                <a:cs typeface="Arial" panose="020B0604020202020204" pitchFamily="34" charset="0"/>
              </a:rPr>
              <a:t> </a:t>
            </a:r>
            <a:r>
              <a:rPr lang="en-US" altLang="en-US" sz="2400" dirty="0">
                <a:latin typeface="Arial" panose="020B0604020202020204" pitchFamily="34" charset="0"/>
                <a:cs typeface="Arial" panose="020B0604020202020204" pitchFamily="34" charset="0"/>
              </a:rPr>
              <a:t>treatment( young people learn to deal with fears by modifying the ways they think and behave)</a:t>
            </a:r>
          </a:p>
          <a:p>
            <a:pPr marL="342900" indent="-342900">
              <a:buFont typeface="Arial" panose="020B0604020202020204" pitchFamily="34" charset="0"/>
              <a:buChar char="•"/>
            </a:pPr>
            <a:r>
              <a:rPr lang="en-US" altLang="en-US" sz="2400" dirty="0">
                <a:latin typeface="Arial" panose="020B0604020202020204" pitchFamily="34" charset="0"/>
                <a:cs typeface="Arial" panose="020B0604020202020204" pitchFamily="34" charset="0"/>
              </a:rPr>
              <a:t>Relaxation techniques</a:t>
            </a:r>
          </a:p>
          <a:p>
            <a:pPr marL="342900" indent="-342900">
              <a:buFont typeface="Arial" panose="020B0604020202020204" pitchFamily="34" charset="0"/>
              <a:buChar char="•"/>
            </a:pPr>
            <a:r>
              <a:rPr lang="en-US" altLang="en-US" sz="2400" dirty="0">
                <a:latin typeface="Arial" panose="020B0604020202020204" pitchFamily="34" charset="0"/>
                <a:cs typeface="Arial" panose="020B0604020202020204" pitchFamily="34" charset="0"/>
              </a:rPr>
              <a:t>Biofeedback (to control stress and muscle tension)</a:t>
            </a:r>
          </a:p>
          <a:p>
            <a:pPr marL="342900" indent="-342900">
              <a:buFont typeface="Arial" panose="020B0604020202020204" pitchFamily="34" charset="0"/>
              <a:buChar char="•"/>
            </a:pPr>
            <a:r>
              <a:rPr lang="en-US" altLang="en-US" sz="2400" dirty="0">
                <a:latin typeface="Arial" panose="020B0604020202020204" pitchFamily="34" charset="0"/>
                <a:cs typeface="Arial" panose="020B0604020202020204" pitchFamily="34" charset="0"/>
              </a:rPr>
              <a:t>Family therapy</a:t>
            </a:r>
          </a:p>
          <a:p>
            <a:pPr marL="342900" indent="-342900">
              <a:buFont typeface="Arial" panose="020B0604020202020204" pitchFamily="34" charset="0"/>
              <a:buChar char="•"/>
            </a:pPr>
            <a:r>
              <a:rPr lang="en-US" altLang="en-US" sz="2400" dirty="0">
                <a:latin typeface="Arial" panose="020B0604020202020204" pitchFamily="34" charset="0"/>
                <a:cs typeface="Arial" panose="020B0604020202020204" pitchFamily="34" charset="0"/>
              </a:rPr>
              <a:t>Parent training</a:t>
            </a:r>
          </a:p>
          <a:p>
            <a:pPr marL="342900" indent="-342900">
              <a:buFont typeface="Arial" panose="020B0604020202020204" pitchFamily="34" charset="0"/>
              <a:buChar char="•"/>
            </a:pPr>
            <a:r>
              <a:rPr lang="en-US" altLang="en-US" sz="2400" dirty="0">
                <a:latin typeface="Arial" panose="020B0604020202020204" pitchFamily="34" charset="0"/>
                <a:cs typeface="Arial" panose="020B0604020202020204" pitchFamily="34" charset="0"/>
              </a:rPr>
              <a:t>Medication</a:t>
            </a:r>
          </a:p>
        </p:txBody>
      </p:sp>
      <p:pic>
        <p:nvPicPr>
          <p:cNvPr id="7" name="Picture 5" descr="TOOL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60976" y="4463395"/>
            <a:ext cx="1752600" cy="143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3252768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829287"/>
            <a:ext cx="9144000"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US" sz="4400" dirty="0">
                <a:ea typeface="Tahoma" pitchFamily="34" charset="0"/>
                <a:cs typeface="Tahoma" pitchFamily="34" charset="0"/>
              </a:rPr>
              <a:t>Strategies for </a:t>
            </a:r>
            <a:r>
              <a:rPr lang="en-US" sz="4400" dirty="0" smtClean="0">
                <a:ea typeface="Tahoma" pitchFamily="34" charset="0"/>
                <a:cs typeface="Tahoma" pitchFamily="34" charset="0"/>
              </a:rPr>
              <a:t>dealing </a:t>
            </a:r>
            <a:r>
              <a:rPr lang="en-US" sz="4400" dirty="0">
                <a:ea typeface="Tahoma" pitchFamily="34" charset="0"/>
                <a:cs typeface="Tahoma" pitchFamily="34" charset="0"/>
              </a:rPr>
              <a:t>with </a:t>
            </a:r>
            <a:r>
              <a:rPr lang="en-US" sz="4400" dirty="0" smtClean="0">
                <a:ea typeface="Tahoma" pitchFamily="34" charset="0"/>
                <a:cs typeface="Tahoma" pitchFamily="34" charset="0"/>
              </a:rPr>
              <a:t>anxious </a:t>
            </a:r>
            <a:r>
              <a:rPr lang="en-US" sz="4400" dirty="0">
                <a:ea typeface="Tahoma" pitchFamily="34" charset="0"/>
                <a:cs typeface="Tahoma" pitchFamily="34" charset="0"/>
              </a:rPr>
              <a:t>Students</a:t>
            </a:r>
            <a:endParaRPr lang="es-ES" sz="4400" dirty="0">
              <a:solidFill>
                <a:schemeClr val="bg1">
                  <a:lumMod val="50000"/>
                </a:schemeClr>
              </a:solidFill>
              <a:latin typeface="Calibri" charset="0"/>
            </a:endParaRPr>
          </a:p>
        </p:txBody>
      </p:sp>
      <p:sp>
        <p:nvSpPr>
          <p:cNvPr id="3" name="Rectangle 2"/>
          <p:cNvSpPr/>
          <p:nvPr/>
        </p:nvSpPr>
        <p:spPr>
          <a:xfrm>
            <a:off x="709127" y="2375151"/>
            <a:ext cx="7613779" cy="4228850"/>
          </a:xfrm>
          <a:prstGeom prst="rect">
            <a:avLst/>
          </a:prstGeom>
        </p:spPr>
        <p:txBody>
          <a:bodyPr wrap="square">
            <a:spAutoFit/>
          </a:bodyPr>
          <a:lstStyle/>
          <a:p>
            <a:pPr marL="342900" indent="-342900">
              <a:lnSpc>
                <a:spcPct val="80000"/>
              </a:lnSpc>
              <a:buFont typeface="Arial" panose="020B0604020202020204" pitchFamily="34" charset="0"/>
              <a:buChar char="•"/>
            </a:pPr>
            <a:r>
              <a:rPr lang="en-US" altLang="en-US" sz="2400" dirty="0">
                <a:latin typeface="Arial" panose="020B0604020202020204" pitchFamily="34" charset="0"/>
                <a:cs typeface="Arial" panose="020B0604020202020204" pitchFamily="34" charset="0"/>
              </a:rPr>
              <a:t>Because transitions and separation are frequently difficult for children with anxiety disorders, accommodate student’s late arrival and provide extra time for changing activities and locations.</a:t>
            </a:r>
          </a:p>
          <a:p>
            <a:pPr marL="342900" indent="-342900">
              <a:lnSpc>
                <a:spcPct val="80000"/>
              </a:lnSpc>
              <a:buFont typeface="Arial" panose="020B0604020202020204" pitchFamily="34" charset="0"/>
              <a:buChar char="•"/>
            </a:pPr>
            <a:r>
              <a:rPr lang="en-US" altLang="en-US" sz="2400" dirty="0">
                <a:latin typeface="Arial" panose="020B0604020202020204" pitchFamily="34" charset="0"/>
                <a:cs typeface="Arial" panose="020B0604020202020204" pitchFamily="34" charset="0"/>
              </a:rPr>
              <a:t>Recognize that often it is a child’s anxiety that causes him or her to disregard directions, rather than an intentional desire to be oppositional. </a:t>
            </a:r>
          </a:p>
          <a:p>
            <a:pPr marL="342900" indent="-342900">
              <a:lnSpc>
                <a:spcPct val="80000"/>
              </a:lnSpc>
              <a:buFont typeface="Arial" panose="020B0604020202020204" pitchFamily="34" charset="0"/>
              <a:buChar char="•"/>
            </a:pPr>
            <a:r>
              <a:rPr lang="en-US" altLang="en-US" sz="2400" dirty="0">
                <a:latin typeface="Arial" panose="020B0604020202020204" pitchFamily="34" charset="0"/>
                <a:cs typeface="Arial" panose="020B0604020202020204" pitchFamily="34" charset="0"/>
              </a:rPr>
              <a:t>Develop a “safe” place where the child can go to relieve anxiety during stressful times or provide calming activities. </a:t>
            </a:r>
          </a:p>
          <a:p>
            <a:pPr marL="342900" indent="-342900">
              <a:lnSpc>
                <a:spcPct val="80000"/>
              </a:lnSpc>
              <a:buFont typeface="Arial" panose="020B0604020202020204" pitchFamily="34" charset="0"/>
              <a:buChar char="•"/>
            </a:pPr>
            <a:r>
              <a:rPr lang="en-US" altLang="en-US" sz="2400" dirty="0">
                <a:latin typeface="Arial" panose="020B0604020202020204" pitchFamily="34" charset="0"/>
                <a:cs typeface="Arial" panose="020B0604020202020204" pitchFamily="34" charset="0"/>
              </a:rPr>
              <a:t>Encourage the development of relaxation techniques that can work in the school setting.  Often these can be adapted from those that are effective at </a:t>
            </a:r>
            <a:r>
              <a:rPr lang="en-US" altLang="en-US" sz="2400" dirty="0" smtClean="0">
                <a:latin typeface="Arial" panose="020B0604020202020204" pitchFamily="34" charset="0"/>
                <a:cs typeface="Arial" panose="020B0604020202020204" pitchFamily="34" charset="0"/>
              </a:rPr>
              <a:t>home.</a:t>
            </a:r>
            <a:endParaRPr lang="en-GB"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419710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606489" y="1436915"/>
            <a:ext cx="7931021"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marL="342900" indent="-342900" eaLnBrk="1" hangingPunct="1">
              <a:lnSpc>
                <a:spcPct val="80000"/>
              </a:lnSpc>
              <a:buFont typeface="Arial" panose="020B0604020202020204" pitchFamily="34" charset="0"/>
              <a:buChar char="•"/>
            </a:pPr>
            <a:r>
              <a:rPr lang="en-US" altLang="en-US" sz="2400" dirty="0">
                <a:cs typeface="Tahoma" panose="020B0604030504040204" pitchFamily="34" charset="0"/>
              </a:rPr>
              <a:t>Work with a child regarding class participation and answering questions on the board, understanding that many anxious CYP fear answering incorrectly</a:t>
            </a:r>
            <a:r>
              <a:rPr lang="en-US" altLang="en-US" sz="2400" dirty="0" smtClean="0">
                <a:cs typeface="Tahoma" panose="020B0604030504040204" pitchFamily="34" charset="0"/>
              </a:rPr>
              <a:t>.</a:t>
            </a:r>
          </a:p>
          <a:p>
            <a:pPr eaLnBrk="1" hangingPunct="1">
              <a:lnSpc>
                <a:spcPct val="80000"/>
              </a:lnSpc>
            </a:pPr>
            <a:endParaRPr lang="en-US" altLang="en-US" sz="2400" dirty="0">
              <a:cs typeface="Tahoma" panose="020B0604030504040204" pitchFamily="34" charset="0"/>
            </a:endParaRPr>
          </a:p>
          <a:p>
            <a:pPr marL="342900" indent="-342900" eaLnBrk="1" hangingPunct="1">
              <a:lnSpc>
                <a:spcPct val="80000"/>
              </a:lnSpc>
              <a:buFont typeface="Arial" panose="020B0604020202020204" pitchFamily="34" charset="0"/>
              <a:buChar char="•"/>
            </a:pPr>
            <a:r>
              <a:rPr lang="en-US" altLang="en-US" sz="2400" dirty="0">
                <a:cs typeface="Tahoma" panose="020B0604030504040204" pitchFamily="34" charset="0"/>
              </a:rPr>
              <a:t>Encourage small group interactions and provide assistance in increasing competency and developing peer relationships</a:t>
            </a:r>
            <a:r>
              <a:rPr lang="en-US" altLang="en-US" sz="2400" dirty="0" smtClean="0">
                <a:cs typeface="Tahoma" panose="020B0604030504040204" pitchFamily="34" charset="0"/>
              </a:rPr>
              <a:t>.</a:t>
            </a:r>
          </a:p>
          <a:p>
            <a:pPr eaLnBrk="1" hangingPunct="1">
              <a:lnSpc>
                <a:spcPct val="80000"/>
              </a:lnSpc>
            </a:pPr>
            <a:endParaRPr lang="en-US" altLang="en-US" sz="2400" dirty="0">
              <a:cs typeface="Tahoma" panose="020B0604030504040204" pitchFamily="34" charset="0"/>
            </a:endParaRPr>
          </a:p>
          <a:p>
            <a:pPr marL="342900" indent="-342900" eaLnBrk="1" hangingPunct="1">
              <a:lnSpc>
                <a:spcPct val="80000"/>
              </a:lnSpc>
              <a:buFont typeface="Arial" panose="020B0604020202020204" pitchFamily="34" charset="0"/>
              <a:buChar char="•"/>
            </a:pPr>
            <a:r>
              <a:rPr lang="en-US" altLang="en-US" sz="2400" dirty="0">
                <a:cs typeface="Tahoma" panose="020B0604030504040204" pitchFamily="34" charset="0"/>
              </a:rPr>
              <a:t>Reward the student’s </a:t>
            </a:r>
            <a:r>
              <a:rPr lang="en-US" altLang="en-US" sz="2400" dirty="0" smtClean="0">
                <a:cs typeface="Tahoma" panose="020B0604030504040204" pitchFamily="34" charset="0"/>
              </a:rPr>
              <a:t>efforts. </a:t>
            </a:r>
          </a:p>
          <a:p>
            <a:pPr eaLnBrk="1" hangingPunct="1">
              <a:lnSpc>
                <a:spcPct val="80000"/>
              </a:lnSpc>
            </a:pPr>
            <a:endParaRPr lang="en-US" altLang="en-US" sz="2400" dirty="0">
              <a:cs typeface="Tahoma" panose="020B0604030504040204" pitchFamily="34" charset="0"/>
            </a:endParaRPr>
          </a:p>
          <a:p>
            <a:pPr marL="342900" indent="-342900" eaLnBrk="1" hangingPunct="1">
              <a:lnSpc>
                <a:spcPct val="80000"/>
              </a:lnSpc>
              <a:buFont typeface="Arial" panose="020B0604020202020204" pitchFamily="34" charset="0"/>
              <a:buChar char="•"/>
            </a:pPr>
            <a:r>
              <a:rPr lang="en-US" altLang="en-US" sz="2400" dirty="0">
                <a:cs typeface="Tahoma" panose="020B0604030504040204" pitchFamily="34" charset="0"/>
              </a:rPr>
              <a:t>Provide an organized, calming, nurturing and supportive environment.  </a:t>
            </a:r>
            <a:endParaRPr lang="en-US" altLang="en-US" sz="2400" dirty="0" smtClean="0">
              <a:cs typeface="Tahoma" panose="020B0604030504040204" pitchFamily="34" charset="0"/>
            </a:endParaRPr>
          </a:p>
          <a:p>
            <a:pPr eaLnBrk="1" hangingPunct="1">
              <a:lnSpc>
                <a:spcPct val="80000"/>
              </a:lnSpc>
            </a:pPr>
            <a:endParaRPr lang="en-US" altLang="en-US" sz="2400" dirty="0">
              <a:cs typeface="Tahoma" panose="020B0604030504040204" pitchFamily="34" charset="0"/>
            </a:endParaRPr>
          </a:p>
          <a:p>
            <a:pPr marL="342900" indent="-342900" eaLnBrk="1" hangingPunct="1">
              <a:lnSpc>
                <a:spcPct val="80000"/>
              </a:lnSpc>
              <a:buFont typeface="Arial" panose="020B0604020202020204" pitchFamily="34" charset="0"/>
              <a:buChar char="•"/>
            </a:pPr>
            <a:r>
              <a:rPr lang="en-US" altLang="en-US" sz="2400" dirty="0">
                <a:cs typeface="Tahoma" panose="020B0604030504040204" pitchFamily="34" charset="0"/>
              </a:rPr>
              <a:t>For maximum effectiveness, foster feedback from CYP about these interventions</a:t>
            </a:r>
          </a:p>
        </p:txBody>
      </p:sp>
    </p:spTree>
    <p:extLst>
      <p:ext uri="{BB962C8B-B14F-4D97-AF65-F5344CB8AC3E}">
        <p14:creationId xmlns:p14="http://schemas.microsoft.com/office/powerpoint/2010/main" val="240310106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867601"/>
            <a:ext cx="9144000"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Need to develop school based preventative strategies</a:t>
            </a:r>
            <a:endParaRPr lang="es-ES" sz="4400" dirty="0">
              <a:solidFill>
                <a:schemeClr val="bg1">
                  <a:lumMod val="50000"/>
                </a:schemeClr>
              </a:solidFill>
              <a:latin typeface="Calibri" charset="0"/>
            </a:endParaRPr>
          </a:p>
        </p:txBody>
      </p:sp>
      <p:sp>
        <p:nvSpPr>
          <p:cNvPr id="3" name="Rectangle 2"/>
          <p:cNvSpPr/>
          <p:nvPr/>
        </p:nvSpPr>
        <p:spPr>
          <a:xfrm>
            <a:off x="1268963" y="2691796"/>
            <a:ext cx="6606074" cy="2308324"/>
          </a:xfrm>
          <a:prstGeom prst="rect">
            <a:avLst/>
          </a:prstGeom>
        </p:spPr>
        <p:txBody>
          <a:bodyPr wrap="square">
            <a:spAutoFit/>
          </a:bodyPr>
          <a:lstStyle/>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Healthy lifestyle</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Relaxation</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Assertiveness</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Effective thinking – </a:t>
            </a:r>
            <a:r>
              <a:rPr lang="en-GB" altLang="en-US" sz="2400" dirty="0" smtClean="0">
                <a:latin typeface="Arial" panose="020B0604020202020204" pitchFamily="34" charset="0"/>
                <a:cs typeface="Arial" panose="020B0604020202020204" pitchFamily="34" charset="0"/>
              </a:rPr>
              <a:t>CBT</a:t>
            </a:r>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Time management</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Enhancing study skills</a:t>
            </a:r>
          </a:p>
        </p:txBody>
      </p:sp>
    </p:spTree>
    <p:extLst>
      <p:ext uri="{BB962C8B-B14F-4D97-AF65-F5344CB8AC3E}">
        <p14:creationId xmlns:p14="http://schemas.microsoft.com/office/powerpoint/2010/main" val="255687190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a:solidFill>
            <a:schemeClr val="tx1"/>
          </a:solidFill>
        </p:spPr>
      </p:pic>
      <p:sp>
        <p:nvSpPr>
          <p:cNvPr id="3" name="Rectangle 2"/>
          <p:cNvSpPr/>
          <p:nvPr/>
        </p:nvSpPr>
        <p:spPr>
          <a:xfrm>
            <a:off x="545840" y="1554640"/>
            <a:ext cx="8052318" cy="4745915"/>
          </a:xfrm>
          <a:prstGeom prst="rect">
            <a:avLst/>
          </a:prstGeom>
        </p:spPr>
        <p:txBody>
          <a:bodyPr wrap="square">
            <a:spAutoFit/>
          </a:bodyPr>
          <a:lstStyle/>
          <a:p>
            <a:pPr marL="571500" indent="-571500">
              <a:lnSpc>
                <a:spcPct val="90000"/>
              </a:lnSpc>
              <a:buClr>
                <a:srgbClr val="FFCC66"/>
              </a:buClr>
              <a:defRPr/>
            </a:pPr>
            <a:r>
              <a:rPr lang="en-GB" sz="2400" b="1" dirty="0" smtClean="0">
                <a:latin typeface="Arial" panose="020B0604020202020204" pitchFamily="34" charset="0"/>
                <a:cs typeface="Arial" panose="020B0604020202020204" pitchFamily="34" charset="0"/>
              </a:rPr>
              <a:t>	</a:t>
            </a:r>
            <a:endParaRPr lang="en-GB" sz="2400" dirty="0">
              <a:latin typeface="Arial" panose="020B0604020202020204" pitchFamily="34" charset="0"/>
              <a:cs typeface="Arial" panose="020B0604020202020204" pitchFamily="34" charset="0"/>
            </a:endParaRPr>
          </a:p>
          <a:p>
            <a:pPr>
              <a:lnSpc>
                <a:spcPct val="90000"/>
              </a:lnSpc>
              <a:defRPr/>
            </a:pPr>
            <a:r>
              <a:rPr lang="en-GB" sz="2400" b="1" dirty="0">
                <a:latin typeface="Arial" panose="020B0604020202020204" pitchFamily="34" charset="0"/>
                <a:cs typeface="Arial" panose="020B0604020202020204" pitchFamily="34" charset="0"/>
              </a:rPr>
              <a:t>Identifying and challenging </a:t>
            </a:r>
            <a:r>
              <a:rPr lang="en-GB" sz="2400" b="1" dirty="0" smtClean="0">
                <a:latin typeface="Arial" panose="020B0604020202020204" pitchFamily="34" charset="0"/>
                <a:cs typeface="Arial" panose="020B0604020202020204" pitchFamily="34" charset="0"/>
              </a:rPr>
              <a:t>irrational </a:t>
            </a:r>
            <a:r>
              <a:rPr lang="en-GB" sz="2400" b="1" dirty="0">
                <a:latin typeface="Arial" panose="020B0604020202020204" pitchFamily="34" charset="0"/>
                <a:cs typeface="Arial" panose="020B0604020202020204" pitchFamily="34" charset="0"/>
              </a:rPr>
              <a:t>beliefs is an important first step. Such beliefs are exaggerated, oversimplified, illogical, unrelated to evidence or too </a:t>
            </a:r>
            <a:r>
              <a:rPr lang="en-GB" sz="2400" b="1" dirty="0" smtClean="0">
                <a:latin typeface="Arial" panose="020B0604020202020204" pitchFamily="34" charset="0"/>
                <a:cs typeface="Arial" panose="020B0604020202020204" pitchFamily="34" charset="0"/>
              </a:rPr>
              <a:t>absolute.</a:t>
            </a:r>
          </a:p>
          <a:p>
            <a:pPr>
              <a:lnSpc>
                <a:spcPct val="90000"/>
              </a:lnSpc>
              <a:defRPr/>
            </a:pPr>
            <a:endParaRPr lang="en-GB" sz="2400" dirty="0">
              <a:latin typeface="Arial" panose="020B0604020202020204" pitchFamily="34" charset="0"/>
              <a:cs typeface="Arial" panose="020B0604020202020204" pitchFamily="34" charset="0"/>
            </a:endParaRPr>
          </a:p>
          <a:p>
            <a:pPr marL="342900" indent="-342900">
              <a:lnSpc>
                <a:spcPct val="90000"/>
              </a:lnSpc>
              <a:buFont typeface="Arial" panose="020B0604020202020204" pitchFamily="34" charset="0"/>
              <a:buChar char="•"/>
              <a:defRPr/>
            </a:pPr>
            <a:r>
              <a:rPr lang="en-GB" sz="2400" dirty="0" smtClean="0">
                <a:latin typeface="Arial" panose="020B0604020202020204" pitchFamily="34" charset="0"/>
                <a:cs typeface="Arial" panose="020B0604020202020204" pitchFamily="34" charset="0"/>
              </a:rPr>
              <a:t>When </a:t>
            </a:r>
            <a:r>
              <a:rPr lang="en-GB" sz="2400" dirty="0">
                <a:latin typeface="Arial" panose="020B0604020202020204" pitchFamily="34" charset="0"/>
                <a:cs typeface="Arial" panose="020B0604020202020204" pitchFamily="34" charset="0"/>
              </a:rPr>
              <a:t>I make a mistake it is terrible, catastrophic, disastrous</a:t>
            </a:r>
          </a:p>
          <a:p>
            <a:pPr marL="342900" indent="-342900">
              <a:lnSpc>
                <a:spcPct val="90000"/>
              </a:lnSpc>
              <a:buFont typeface="Arial" panose="020B0604020202020204" pitchFamily="34" charset="0"/>
              <a:buChar char="•"/>
              <a:defRPr/>
            </a:pPr>
            <a:r>
              <a:rPr lang="en-GB" sz="2400" dirty="0">
                <a:latin typeface="Arial" panose="020B0604020202020204" pitchFamily="34" charset="0"/>
                <a:cs typeface="Arial" panose="020B0604020202020204" pitchFamily="34" charset="0"/>
              </a:rPr>
              <a:t>If someone gets upset when I say something to them, then it is all my fault</a:t>
            </a:r>
          </a:p>
          <a:p>
            <a:pPr marL="342900" indent="-342900">
              <a:lnSpc>
                <a:spcPct val="90000"/>
              </a:lnSpc>
              <a:buFont typeface="Arial" panose="020B0604020202020204" pitchFamily="34" charset="0"/>
              <a:buChar char="•"/>
              <a:defRPr/>
            </a:pPr>
            <a:r>
              <a:rPr lang="en-GB" sz="2400" dirty="0">
                <a:latin typeface="Arial" panose="020B0604020202020204" pitchFamily="34" charset="0"/>
                <a:cs typeface="Arial" panose="020B0604020202020204" pitchFamily="34" charset="0"/>
              </a:rPr>
              <a:t>If someone turns down my request, they are rejecting me</a:t>
            </a:r>
          </a:p>
          <a:p>
            <a:pPr marL="342900" indent="-342900">
              <a:lnSpc>
                <a:spcPct val="90000"/>
              </a:lnSpc>
              <a:buFont typeface="Arial" panose="020B0604020202020204" pitchFamily="34" charset="0"/>
              <a:buChar char="•"/>
              <a:defRPr/>
            </a:pPr>
            <a:r>
              <a:rPr lang="en-GB" sz="2400" dirty="0">
                <a:latin typeface="Arial" panose="020B0604020202020204" pitchFamily="34" charset="0"/>
                <a:cs typeface="Arial" panose="020B0604020202020204" pitchFamily="34" charset="0"/>
              </a:rPr>
              <a:t>It is vital that everyone approves of me and what I do all the time </a:t>
            </a:r>
            <a:r>
              <a:rPr lang="en-GB" sz="2400" dirty="0" smtClean="0">
                <a:latin typeface="Arial" panose="020B0604020202020204" pitchFamily="34" charset="0"/>
                <a:cs typeface="Arial" panose="020B0604020202020204" pitchFamily="34" charset="0"/>
              </a:rPr>
              <a:t>(</a:t>
            </a:r>
            <a:r>
              <a:rPr lang="en-GB" sz="2400" dirty="0">
                <a:latin typeface="Arial" panose="020B0604020202020204" pitchFamily="34" charset="0"/>
                <a:cs typeface="Arial" panose="020B0604020202020204" pitchFamily="34" charset="0"/>
              </a:rPr>
              <a:t>even if I am totally irritating </a:t>
            </a:r>
            <a:r>
              <a:rPr lang="en-GB" sz="2400" dirty="0" smtClean="0">
                <a:latin typeface="Arial" panose="020B0604020202020204" pitchFamily="34" charset="0"/>
                <a:cs typeface="Arial" panose="020B0604020202020204" pitchFamily="34" charset="0"/>
              </a:rPr>
              <a:t>and unreasonable</a:t>
            </a:r>
            <a:r>
              <a:rPr lang="en-GB" sz="2400" dirty="0">
                <a:latin typeface="Arial" panose="020B0604020202020204" pitchFamily="34" charset="0"/>
                <a:cs typeface="Arial" panose="020B0604020202020204" pitchFamily="34" charset="0"/>
              </a:rPr>
              <a:t>)</a:t>
            </a:r>
          </a:p>
        </p:txBody>
      </p:sp>
      <p:sp>
        <p:nvSpPr>
          <p:cNvPr id="4" name="Rectangle 3"/>
          <p:cNvSpPr/>
          <p:nvPr/>
        </p:nvSpPr>
        <p:spPr>
          <a:xfrm>
            <a:off x="2466808" y="785199"/>
            <a:ext cx="4443268" cy="769441"/>
          </a:xfrm>
          <a:prstGeom prst="rect">
            <a:avLst/>
          </a:prstGeom>
        </p:spPr>
        <p:txBody>
          <a:bodyPr wrap="none">
            <a:spAutoFit/>
          </a:bodyPr>
          <a:lstStyle/>
          <a:p>
            <a:r>
              <a:rPr lang="en-GB" sz="4400" dirty="0">
                <a:latin typeface="Arial" panose="020B0604020202020204" pitchFamily="34" charset="0"/>
                <a:cs typeface="Arial" panose="020B0604020202020204" pitchFamily="34" charset="0"/>
              </a:rPr>
              <a:t>Effective </a:t>
            </a:r>
            <a:r>
              <a:rPr lang="en-GB" sz="4400" dirty="0" smtClean="0">
                <a:latin typeface="Arial" panose="020B0604020202020204" pitchFamily="34" charset="0"/>
                <a:cs typeface="Arial" panose="020B0604020202020204" pitchFamily="34" charset="0"/>
              </a:rPr>
              <a:t>thinking</a:t>
            </a:r>
            <a:endParaRPr lang="en-GB" sz="4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3530857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904273"/>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Effective </a:t>
            </a:r>
            <a:r>
              <a:rPr lang="en-GB" sz="4400" dirty="0" smtClean="0"/>
              <a:t>thinking</a:t>
            </a:r>
            <a:endParaRPr lang="es-ES" sz="4400" dirty="0">
              <a:solidFill>
                <a:schemeClr val="bg1">
                  <a:lumMod val="50000"/>
                </a:schemeClr>
              </a:solidFill>
              <a:latin typeface="Calibri" charset="0"/>
            </a:endParaRPr>
          </a:p>
        </p:txBody>
      </p:sp>
      <p:sp>
        <p:nvSpPr>
          <p:cNvPr id="3" name="Rectangle 2"/>
          <p:cNvSpPr/>
          <p:nvPr/>
        </p:nvSpPr>
        <p:spPr>
          <a:xfrm>
            <a:off x="886408" y="1902288"/>
            <a:ext cx="7371183" cy="4524315"/>
          </a:xfrm>
          <a:prstGeom prst="rect">
            <a:avLst/>
          </a:prstGeom>
        </p:spPr>
        <p:txBody>
          <a:bodyPr wrap="square">
            <a:spAutoFit/>
          </a:bodyPr>
          <a:lstStyle/>
          <a:p>
            <a:pPr marL="571500" indent="-571500">
              <a:defRPr/>
            </a:pPr>
            <a:r>
              <a:rPr lang="en-GB" sz="2400" b="1" dirty="0">
                <a:latin typeface="Arial" panose="020B0604020202020204" pitchFamily="34" charset="0"/>
                <a:cs typeface="Arial" panose="020B0604020202020204" pitchFamily="34" charset="0"/>
              </a:rPr>
              <a:t>Irrational </a:t>
            </a:r>
            <a:r>
              <a:rPr lang="en-GB" sz="2400" b="1" dirty="0" smtClean="0">
                <a:latin typeface="Arial" panose="020B0604020202020204" pitchFamily="34" charset="0"/>
                <a:cs typeface="Arial" panose="020B0604020202020204" pitchFamily="34" charset="0"/>
              </a:rPr>
              <a:t>belief</a:t>
            </a:r>
            <a:endParaRPr lang="en-GB"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defRPr/>
            </a:pPr>
            <a:r>
              <a:rPr lang="en-GB" sz="2400" dirty="0">
                <a:latin typeface="Arial" panose="020B0604020202020204" pitchFamily="34" charset="0"/>
                <a:cs typeface="Arial" panose="020B0604020202020204" pitchFamily="34" charset="0"/>
              </a:rPr>
              <a:t>I need to be thoroughly competent and achieving or I am not worthwhile</a:t>
            </a:r>
          </a:p>
          <a:p>
            <a:pPr marL="342900" indent="-342900">
              <a:buFont typeface="Arial" panose="020B0604020202020204" pitchFamily="34" charset="0"/>
              <a:buChar char="•"/>
              <a:defRPr/>
            </a:pPr>
            <a:r>
              <a:rPr lang="en-GB" sz="2400" dirty="0">
                <a:latin typeface="Arial" panose="020B0604020202020204" pitchFamily="34" charset="0"/>
                <a:cs typeface="Arial" panose="020B0604020202020204" pitchFamily="34" charset="0"/>
              </a:rPr>
              <a:t>My past is the cause of my present problems</a:t>
            </a:r>
          </a:p>
          <a:p>
            <a:pPr marL="342900" indent="-342900">
              <a:buFont typeface="Arial" panose="020B0604020202020204" pitchFamily="34" charset="0"/>
              <a:buChar char="•"/>
              <a:defRPr/>
            </a:pPr>
            <a:endParaRPr lang="en-GB" sz="2400" dirty="0">
              <a:latin typeface="Arial" panose="020B0604020202020204" pitchFamily="34" charset="0"/>
              <a:cs typeface="Arial" panose="020B0604020202020204" pitchFamily="34" charset="0"/>
            </a:endParaRPr>
          </a:p>
          <a:p>
            <a:pPr>
              <a:defRPr/>
            </a:pPr>
            <a:r>
              <a:rPr lang="en-GB" sz="2400" b="1" dirty="0">
                <a:latin typeface="Arial" panose="020B0604020202020204" pitchFamily="34" charset="0"/>
                <a:cs typeface="Arial" panose="020B0604020202020204" pitchFamily="34" charset="0"/>
              </a:rPr>
              <a:t>Rational </a:t>
            </a:r>
            <a:r>
              <a:rPr lang="en-GB" sz="2400" b="1" dirty="0" smtClean="0">
                <a:latin typeface="Arial" panose="020B0604020202020204" pitchFamily="34" charset="0"/>
                <a:cs typeface="Arial" panose="020B0604020202020204" pitchFamily="34" charset="0"/>
              </a:rPr>
              <a:t>equivalent</a:t>
            </a:r>
            <a:endParaRPr lang="en-GB" sz="2400" b="1"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defRPr/>
            </a:pPr>
            <a:r>
              <a:rPr lang="en-GB" sz="2400" dirty="0">
                <a:latin typeface="Arial" panose="020B0604020202020204" pitchFamily="34" charset="0"/>
                <a:cs typeface="Arial" panose="020B0604020202020204" pitchFamily="34" charset="0"/>
              </a:rPr>
              <a:t>While I gain great pride from competence and achievement, I need to accept that I, like everyone else, have human limitations and fallibilities</a:t>
            </a:r>
          </a:p>
          <a:p>
            <a:pPr marL="342900" indent="-342900">
              <a:buFont typeface="Arial" panose="020B0604020202020204" pitchFamily="34" charset="0"/>
              <a:buChar char="•"/>
              <a:defRPr/>
            </a:pPr>
            <a:r>
              <a:rPr lang="en-GB" sz="2400" dirty="0">
                <a:latin typeface="Arial" panose="020B0604020202020204" pitchFamily="34" charset="0"/>
                <a:cs typeface="Arial" panose="020B0604020202020204" pitchFamily="34" charset="0"/>
              </a:rPr>
              <a:t>Just because past events have strongly influenced me, I do not have to be attached to them for ever, I </a:t>
            </a:r>
            <a:r>
              <a:rPr lang="en-GB" sz="2400" dirty="0" smtClean="0">
                <a:latin typeface="Arial" panose="020B0604020202020204" pitchFamily="34" charset="0"/>
                <a:cs typeface="Arial" panose="020B0604020202020204" pitchFamily="34" charset="0"/>
              </a:rPr>
              <a:t>can </a:t>
            </a:r>
            <a:r>
              <a:rPr lang="en-GB" sz="2400" dirty="0">
                <a:latin typeface="Arial" panose="020B0604020202020204" pitchFamily="34" charset="0"/>
                <a:cs typeface="Arial" panose="020B0604020202020204" pitchFamily="34" charset="0"/>
              </a:rPr>
              <a:t>learn from them</a:t>
            </a:r>
          </a:p>
        </p:txBody>
      </p:sp>
    </p:spTree>
    <p:extLst>
      <p:ext uri="{BB962C8B-B14F-4D97-AF65-F5344CB8AC3E}">
        <p14:creationId xmlns:p14="http://schemas.microsoft.com/office/powerpoint/2010/main" val="424824151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895088"/>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Ineffective </a:t>
            </a:r>
            <a:r>
              <a:rPr lang="en-GB" sz="4400" dirty="0" smtClean="0"/>
              <a:t>self talk</a:t>
            </a:r>
            <a:endParaRPr lang="es-ES" sz="4400" dirty="0">
              <a:solidFill>
                <a:schemeClr val="bg1">
                  <a:lumMod val="50000"/>
                </a:schemeClr>
              </a:solidFill>
              <a:latin typeface="Calibri" charset="0"/>
            </a:endParaRPr>
          </a:p>
        </p:txBody>
      </p:sp>
      <p:sp>
        <p:nvSpPr>
          <p:cNvPr id="3" name="Rectangle 2"/>
          <p:cNvSpPr/>
          <p:nvPr/>
        </p:nvSpPr>
        <p:spPr>
          <a:xfrm>
            <a:off x="933061" y="2017588"/>
            <a:ext cx="7277878" cy="3416320"/>
          </a:xfrm>
          <a:prstGeom prst="rect">
            <a:avLst/>
          </a:prstGeom>
        </p:spPr>
        <p:txBody>
          <a:bodyPr wrap="square">
            <a:spAutoFit/>
          </a:bodyPr>
          <a:lstStyle/>
          <a:p>
            <a:pPr marL="342900" indent="-342900">
              <a:spcBef>
                <a:spcPct val="0"/>
              </a:spcBef>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Worrying about a future </a:t>
            </a:r>
            <a:r>
              <a:rPr lang="en-GB" altLang="en-US" sz="2400" dirty="0" smtClean="0">
                <a:latin typeface="Arial" panose="020B0604020202020204" pitchFamily="34" charset="0"/>
                <a:cs typeface="Arial" panose="020B0604020202020204" pitchFamily="34" charset="0"/>
              </a:rPr>
              <a:t>situation</a:t>
            </a:r>
            <a:endParaRPr lang="en-GB" altLang="en-US" sz="2400" dirty="0">
              <a:latin typeface="Arial" panose="020B0604020202020204" pitchFamily="34" charset="0"/>
              <a:cs typeface="Arial" panose="020B0604020202020204" pitchFamily="34" charset="0"/>
            </a:endParaRPr>
          </a:p>
          <a:p>
            <a:pPr marL="342900" indent="-342900">
              <a:spcBef>
                <a:spcPct val="0"/>
              </a:spcBef>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Catastrophising</a:t>
            </a:r>
            <a:endParaRPr lang="en-GB" altLang="en-US" sz="2400" dirty="0">
              <a:latin typeface="Arial" panose="020B0604020202020204" pitchFamily="34" charset="0"/>
              <a:cs typeface="Arial" panose="020B0604020202020204" pitchFamily="34" charset="0"/>
            </a:endParaRPr>
          </a:p>
          <a:p>
            <a:pPr marL="342900" indent="-342900">
              <a:spcBef>
                <a:spcPct val="0"/>
              </a:spcBef>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Setting unrealistic </a:t>
            </a:r>
            <a:r>
              <a:rPr lang="en-GB" altLang="en-US" sz="2400" dirty="0" smtClean="0">
                <a:latin typeface="Arial" panose="020B0604020202020204" pitchFamily="34" charset="0"/>
                <a:cs typeface="Arial" panose="020B0604020202020204" pitchFamily="34" charset="0"/>
              </a:rPr>
              <a:t>standards</a:t>
            </a:r>
            <a:endParaRPr lang="en-GB" altLang="en-US" sz="2400" dirty="0">
              <a:latin typeface="Arial" panose="020B0604020202020204" pitchFamily="34" charset="0"/>
              <a:cs typeface="Arial" panose="020B0604020202020204" pitchFamily="34" charset="0"/>
            </a:endParaRPr>
          </a:p>
          <a:p>
            <a:pPr marL="342900" indent="-342900">
              <a:spcBef>
                <a:spcPct val="0"/>
              </a:spcBef>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Over-reacting to feelings of </a:t>
            </a:r>
            <a:r>
              <a:rPr lang="en-GB" altLang="en-US" sz="2400" dirty="0" smtClean="0">
                <a:latin typeface="Arial" panose="020B0604020202020204" pitchFamily="34" charset="0"/>
                <a:cs typeface="Arial" panose="020B0604020202020204" pitchFamily="34" charset="0"/>
              </a:rPr>
              <a:t>anxiety</a:t>
            </a:r>
            <a:endParaRPr lang="en-GB" altLang="en-US" sz="2400" dirty="0">
              <a:latin typeface="Arial" panose="020B0604020202020204" pitchFamily="34" charset="0"/>
              <a:cs typeface="Arial" panose="020B0604020202020204" pitchFamily="34" charset="0"/>
            </a:endParaRPr>
          </a:p>
          <a:p>
            <a:pPr marL="342900" indent="-342900">
              <a:spcBef>
                <a:spcPct val="0"/>
              </a:spcBef>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Being overly worried about what others </a:t>
            </a:r>
            <a:r>
              <a:rPr lang="en-GB" altLang="en-US" sz="2400" dirty="0" smtClean="0">
                <a:latin typeface="Arial" panose="020B0604020202020204" pitchFamily="34" charset="0"/>
                <a:cs typeface="Arial" panose="020B0604020202020204" pitchFamily="34" charset="0"/>
              </a:rPr>
              <a:t>think</a:t>
            </a:r>
            <a:endParaRPr lang="en-GB" altLang="en-US" sz="2400" dirty="0">
              <a:latin typeface="Arial" panose="020B0604020202020204" pitchFamily="34" charset="0"/>
              <a:cs typeface="Arial" panose="020B0604020202020204" pitchFamily="34" charset="0"/>
            </a:endParaRPr>
          </a:p>
          <a:p>
            <a:pPr marL="342900" indent="-342900">
              <a:spcBef>
                <a:spcPct val="0"/>
              </a:spcBef>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Putting yourself </a:t>
            </a:r>
            <a:r>
              <a:rPr lang="en-GB" altLang="en-US" sz="2400" dirty="0" smtClean="0">
                <a:latin typeface="Arial" panose="020B0604020202020204" pitchFamily="34" charset="0"/>
                <a:cs typeface="Arial" panose="020B0604020202020204" pitchFamily="34" charset="0"/>
              </a:rPr>
              <a:t>down</a:t>
            </a:r>
            <a:endParaRPr lang="en-GB" altLang="en-US" sz="2400" dirty="0">
              <a:latin typeface="Arial" panose="020B0604020202020204" pitchFamily="34" charset="0"/>
              <a:cs typeface="Arial" panose="020B0604020202020204" pitchFamily="34" charset="0"/>
            </a:endParaRPr>
          </a:p>
          <a:p>
            <a:pPr marL="342900" indent="-342900">
              <a:spcBef>
                <a:spcPct val="0"/>
              </a:spcBef>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Focusing on set-backs and not owning </a:t>
            </a:r>
            <a:r>
              <a:rPr lang="en-GB" altLang="en-US" sz="2400" dirty="0" smtClean="0">
                <a:latin typeface="Arial" panose="020B0604020202020204" pitchFamily="34" charset="0"/>
                <a:cs typeface="Arial" panose="020B0604020202020204" pitchFamily="34" charset="0"/>
              </a:rPr>
              <a:t>successes</a:t>
            </a:r>
            <a:endParaRPr lang="en-GB" altLang="en-US" sz="2400" dirty="0">
              <a:latin typeface="Arial" panose="020B0604020202020204" pitchFamily="34" charset="0"/>
              <a:cs typeface="Arial" panose="020B0604020202020204" pitchFamily="34" charset="0"/>
            </a:endParaRPr>
          </a:p>
          <a:p>
            <a:pPr marL="342900" indent="-342900">
              <a:spcBef>
                <a:spcPct val="0"/>
              </a:spcBef>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Not setting clear, manageable goals or focusing on tasks that will achieve them.</a:t>
            </a:r>
          </a:p>
        </p:txBody>
      </p:sp>
    </p:spTree>
    <p:extLst>
      <p:ext uri="{BB962C8B-B14F-4D97-AF65-F5344CB8AC3E}">
        <p14:creationId xmlns:p14="http://schemas.microsoft.com/office/powerpoint/2010/main" val="156413446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904273"/>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Constructive Self Talk</a:t>
            </a:r>
            <a:endParaRPr lang="es-ES" sz="4400" dirty="0">
              <a:solidFill>
                <a:schemeClr val="bg1">
                  <a:lumMod val="50000"/>
                </a:schemeClr>
              </a:solidFill>
              <a:latin typeface="Calibri" charset="0"/>
            </a:endParaRPr>
          </a:p>
        </p:txBody>
      </p:sp>
      <p:sp>
        <p:nvSpPr>
          <p:cNvPr id="3" name="Rectangle 2"/>
          <p:cNvSpPr/>
          <p:nvPr/>
        </p:nvSpPr>
        <p:spPr>
          <a:xfrm>
            <a:off x="727787" y="1789658"/>
            <a:ext cx="7688425" cy="4819781"/>
          </a:xfrm>
          <a:prstGeom prst="rect">
            <a:avLst/>
          </a:prstGeom>
        </p:spPr>
        <p:txBody>
          <a:bodyPr wrap="square">
            <a:spAutoFit/>
          </a:bodyPr>
          <a:lstStyle/>
          <a:p>
            <a:pPr>
              <a:lnSpc>
                <a:spcPct val="80000"/>
              </a:lnSpc>
              <a:spcBef>
                <a:spcPct val="0"/>
              </a:spcBef>
            </a:pPr>
            <a:r>
              <a:rPr lang="en-GB" altLang="en-US" sz="2400" b="1" dirty="0">
                <a:latin typeface="Arial" panose="020B0604020202020204" pitchFamily="34" charset="0"/>
                <a:cs typeface="Arial" panose="020B0604020202020204" pitchFamily="34" charset="0"/>
              </a:rPr>
              <a:t>Calming Self-Talk</a:t>
            </a:r>
          </a:p>
          <a:p>
            <a:pPr marL="342900" indent="-342900">
              <a:lnSpc>
                <a:spcPct val="80000"/>
              </a:lnSpc>
              <a:spcBef>
                <a:spcPct val="0"/>
              </a:spcBef>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Tell yourself to stay calm – ‘relax, calm down, take a deep breath, count to 10, breath slowly…’</a:t>
            </a:r>
          </a:p>
          <a:p>
            <a:pPr marL="342900" indent="-342900">
              <a:lnSpc>
                <a:spcPct val="80000"/>
              </a:lnSpc>
              <a:spcBef>
                <a:spcPct val="0"/>
              </a:spcBef>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Tell yourself you can cope – ‘I can handle this situation. I’ve got the skills to cope with this. I can solve this problem if I relax and think about it.’</a:t>
            </a:r>
          </a:p>
          <a:p>
            <a:pPr>
              <a:lnSpc>
                <a:spcPct val="80000"/>
              </a:lnSpc>
              <a:spcBef>
                <a:spcPct val="0"/>
              </a:spcBef>
            </a:pPr>
            <a:endParaRPr lang="en-GB" altLang="en-US" sz="2400" dirty="0">
              <a:latin typeface="Arial" panose="020B0604020202020204" pitchFamily="34" charset="0"/>
              <a:cs typeface="Arial" panose="020B0604020202020204" pitchFamily="34" charset="0"/>
            </a:endParaRPr>
          </a:p>
          <a:p>
            <a:pPr>
              <a:lnSpc>
                <a:spcPct val="80000"/>
              </a:lnSpc>
              <a:spcBef>
                <a:spcPct val="0"/>
              </a:spcBef>
            </a:pPr>
            <a:r>
              <a:rPr lang="en-GB" altLang="en-US" sz="2400" b="1" dirty="0">
                <a:latin typeface="Arial" panose="020B0604020202020204" pitchFamily="34" charset="0"/>
                <a:cs typeface="Arial" panose="020B0604020202020204" pitchFamily="34" charset="0"/>
              </a:rPr>
              <a:t>Coaching Self-Talk</a:t>
            </a:r>
          </a:p>
          <a:p>
            <a:pPr marL="342900" indent="-342900">
              <a:lnSpc>
                <a:spcPct val="80000"/>
              </a:lnSpc>
              <a:spcBef>
                <a:spcPct val="0"/>
              </a:spcBef>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This might involve using a problem solving framework – ‘Right! First define an objective … now think of possible solutions … now choose one to implement’. </a:t>
            </a:r>
          </a:p>
          <a:p>
            <a:pPr marL="342900" indent="-342900">
              <a:lnSpc>
                <a:spcPct val="80000"/>
              </a:lnSpc>
              <a:spcBef>
                <a:spcPct val="0"/>
              </a:spcBef>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Or reminding yourself to use new skills in tricky situations – ‘Right! She’s getting angry. I must listen to what she is saying and acknowledge her 	feelings’.</a:t>
            </a:r>
          </a:p>
        </p:txBody>
      </p:sp>
    </p:spTree>
    <p:extLst>
      <p:ext uri="{BB962C8B-B14F-4D97-AF65-F5344CB8AC3E}">
        <p14:creationId xmlns:p14="http://schemas.microsoft.com/office/powerpoint/2010/main" val="71246202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653142" y="1676596"/>
            <a:ext cx="7837715"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fontAlgn="auto" hangingPunct="1">
              <a:spcAft>
                <a:spcPts val="0"/>
              </a:spcAft>
              <a:defRPr/>
            </a:pPr>
            <a:r>
              <a:rPr lang="en-GB" sz="3200" dirty="0"/>
              <a:t>MOST IMPORTANT TO TEACH THESE SKILLS TO THE MOST VULNERABLE </a:t>
            </a:r>
            <a:r>
              <a:rPr lang="en-GB" sz="3200" dirty="0" smtClean="0"/>
              <a:t>STUDENTS</a:t>
            </a:r>
            <a:endParaRPr lang="en-GB" sz="3200" dirty="0"/>
          </a:p>
        </p:txBody>
      </p:sp>
    </p:spTree>
    <p:extLst>
      <p:ext uri="{BB962C8B-B14F-4D97-AF65-F5344CB8AC3E}">
        <p14:creationId xmlns:p14="http://schemas.microsoft.com/office/powerpoint/2010/main" val="423921396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738722"/>
            <a:ext cx="9144000" cy="2616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000" dirty="0"/>
              <a:t>All learners will probably experience the </a:t>
            </a:r>
            <a:br>
              <a:rPr lang="en-GB" sz="4000" dirty="0"/>
            </a:br>
            <a:r>
              <a:rPr lang="en-GB" sz="4000" dirty="0"/>
              <a:t>associated stressors when</a:t>
            </a:r>
            <a:br>
              <a:rPr lang="en-GB" sz="4000" dirty="0"/>
            </a:br>
            <a:r>
              <a:rPr lang="en-GB" sz="4000" dirty="0"/>
              <a:t>revising/undertaking assessments:</a:t>
            </a:r>
            <a:r>
              <a:rPr lang="en-GB" sz="4400" dirty="0"/>
              <a:t/>
            </a:r>
            <a:br>
              <a:rPr lang="en-GB" sz="4400" dirty="0"/>
            </a:br>
            <a:endParaRPr lang="es-ES" sz="4400" dirty="0">
              <a:solidFill>
                <a:schemeClr val="bg1">
                  <a:lumMod val="50000"/>
                </a:schemeClr>
              </a:solidFill>
              <a:latin typeface="Calibri" charset="0"/>
            </a:endParaRPr>
          </a:p>
        </p:txBody>
      </p:sp>
      <p:sp>
        <p:nvSpPr>
          <p:cNvPr id="3" name="Rectangle 2"/>
          <p:cNvSpPr/>
          <p:nvPr/>
        </p:nvSpPr>
        <p:spPr>
          <a:xfrm>
            <a:off x="790575" y="2904869"/>
            <a:ext cx="7839075" cy="2751522"/>
          </a:xfrm>
          <a:prstGeom prst="rect">
            <a:avLst/>
          </a:prstGeom>
        </p:spPr>
        <p:txBody>
          <a:bodyPr wrap="square">
            <a:spAutoFit/>
          </a:bodyPr>
          <a:lstStyle/>
          <a:p>
            <a:pPr marL="342900" indent="-342900">
              <a:lnSpc>
                <a:spcPct val="9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Subjective - aggression</a:t>
            </a:r>
            <a:r>
              <a:rPr lang="en-GB" altLang="en-US" sz="2400" dirty="0">
                <a:latin typeface="Arial" panose="020B0604020202020204" pitchFamily="34" charset="0"/>
                <a:cs typeface="Arial" panose="020B0604020202020204" pitchFamily="34" charset="0"/>
              </a:rPr>
              <a:t>, fatigue, low </a:t>
            </a:r>
            <a:r>
              <a:rPr lang="en-GB" altLang="en-US" sz="2400" dirty="0" smtClean="0">
                <a:latin typeface="Arial" panose="020B0604020202020204" pitchFamily="34" charset="0"/>
                <a:cs typeface="Arial" panose="020B0604020202020204" pitchFamily="34" charset="0"/>
              </a:rPr>
              <a:t>self-esteem</a:t>
            </a:r>
            <a:endParaRPr lang="en-GB" altLang="en-US" sz="2400" dirty="0">
              <a:latin typeface="Arial" panose="020B0604020202020204" pitchFamily="34" charset="0"/>
              <a:cs typeface="Arial" panose="020B0604020202020204" pitchFamily="34" charset="0"/>
            </a:endParaRPr>
          </a:p>
          <a:p>
            <a:pPr marL="342900" indent="-342900">
              <a:lnSpc>
                <a:spcPct val="9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Behavioural - restlessness</a:t>
            </a:r>
            <a:r>
              <a:rPr lang="en-GB" altLang="en-US" sz="2400" dirty="0">
                <a:latin typeface="Arial" panose="020B0604020202020204" pitchFamily="34" charset="0"/>
                <a:cs typeface="Arial" panose="020B0604020202020204" pitchFamily="34" charset="0"/>
              </a:rPr>
              <a:t>, emotional outbursts, taking </a:t>
            </a:r>
            <a:r>
              <a:rPr lang="en-GB" altLang="en-US" sz="2400" dirty="0" smtClean="0">
                <a:latin typeface="Arial" panose="020B0604020202020204" pitchFamily="34" charset="0"/>
                <a:cs typeface="Arial" panose="020B0604020202020204" pitchFamily="34" charset="0"/>
              </a:rPr>
              <a:t>drugs</a:t>
            </a:r>
            <a:endParaRPr lang="en-GB" altLang="en-US" sz="2400" dirty="0">
              <a:latin typeface="Arial" panose="020B0604020202020204" pitchFamily="34" charset="0"/>
              <a:cs typeface="Arial" panose="020B0604020202020204" pitchFamily="34" charset="0"/>
            </a:endParaRPr>
          </a:p>
          <a:p>
            <a:pPr marL="342900" indent="-342900">
              <a:lnSpc>
                <a:spcPct val="9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Cognitive - inability </a:t>
            </a:r>
            <a:r>
              <a:rPr lang="en-GB" altLang="en-US" sz="2400" dirty="0">
                <a:latin typeface="Arial" panose="020B0604020202020204" pitchFamily="34" charset="0"/>
                <a:cs typeface="Arial" panose="020B0604020202020204" pitchFamily="34" charset="0"/>
              </a:rPr>
              <a:t>to concentrate, mental blocks, </a:t>
            </a:r>
            <a:r>
              <a:rPr lang="en-GB" altLang="en-US" sz="2400" dirty="0" smtClean="0">
                <a:latin typeface="Arial" panose="020B0604020202020204" pitchFamily="34" charset="0"/>
                <a:cs typeface="Arial" panose="020B0604020202020204" pitchFamily="34" charset="0"/>
              </a:rPr>
              <a:t>hypersensitive</a:t>
            </a:r>
            <a:endParaRPr lang="en-GB" altLang="en-US" sz="2400" dirty="0">
              <a:latin typeface="Arial" panose="020B0604020202020204" pitchFamily="34" charset="0"/>
              <a:cs typeface="Arial" panose="020B0604020202020204" pitchFamily="34" charset="0"/>
            </a:endParaRPr>
          </a:p>
          <a:p>
            <a:pPr marL="342900" indent="-342900">
              <a:lnSpc>
                <a:spcPct val="90000"/>
              </a:lnSpc>
              <a:buFont typeface="Arial" panose="020B0604020202020204" pitchFamily="34" charset="0"/>
              <a:buChar char="•"/>
            </a:pPr>
            <a:r>
              <a:rPr lang="en-GB" altLang="en-US" sz="2400" dirty="0" smtClean="0">
                <a:latin typeface="Arial" panose="020B0604020202020204" pitchFamily="34" charset="0"/>
                <a:cs typeface="Arial" panose="020B0604020202020204" pitchFamily="34" charset="0"/>
              </a:rPr>
              <a:t>Physiological - sweating</a:t>
            </a:r>
            <a:r>
              <a:rPr lang="en-GB" altLang="en-US" sz="2400" dirty="0">
                <a:latin typeface="Arial" panose="020B0604020202020204" pitchFamily="34" charset="0"/>
                <a:cs typeface="Arial" panose="020B0604020202020204" pitchFamily="34" charset="0"/>
              </a:rPr>
              <a:t>, dry mouth, increased heart </a:t>
            </a:r>
            <a:r>
              <a:rPr lang="en-GB" altLang="en-US" sz="2400" dirty="0" smtClean="0">
                <a:latin typeface="Arial" panose="020B0604020202020204" pitchFamily="34" charset="0"/>
                <a:cs typeface="Arial" panose="020B0604020202020204" pitchFamily="34" charset="0"/>
              </a:rPr>
              <a:t>rate</a:t>
            </a:r>
          </a:p>
          <a:p>
            <a:pPr>
              <a:lnSpc>
                <a:spcPct val="90000"/>
              </a:lnSpc>
            </a:pPr>
            <a:r>
              <a:rPr lang="en-GB" altLang="en-US" sz="2400" dirty="0">
                <a:latin typeface="Arial" panose="020B0604020202020204" pitchFamily="34" charset="0"/>
                <a:cs typeface="Arial" panose="020B0604020202020204" pitchFamily="34" charset="0"/>
              </a:rPr>
              <a:t>	</a:t>
            </a:r>
            <a:r>
              <a:rPr lang="en-GB" altLang="en-US" sz="2400" dirty="0" smtClean="0">
                <a:latin typeface="Arial" panose="020B0604020202020204" pitchFamily="34" charset="0"/>
                <a:cs typeface="Arial" panose="020B0604020202020204" pitchFamily="34" charset="0"/>
              </a:rPr>
              <a:t>												(</a:t>
            </a:r>
            <a:r>
              <a:rPr lang="en-GB" altLang="en-US" sz="2400" dirty="0">
                <a:latin typeface="Arial" panose="020B0604020202020204" pitchFamily="34" charset="0"/>
                <a:cs typeface="Arial" panose="020B0604020202020204" pitchFamily="34" charset="0"/>
              </a:rPr>
              <a:t>Cox, 1981)</a:t>
            </a:r>
          </a:p>
        </p:txBody>
      </p:sp>
    </p:spTree>
    <p:extLst>
      <p:ext uri="{BB962C8B-B14F-4D97-AF65-F5344CB8AC3E}">
        <p14:creationId xmlns:p14="http://schemas.microsoft.com/office/powerpoint/2010/main" val="109868138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895088"/>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It’s all about </a:t>
            </a:r>
            <a:r>
              <a:rPr lang="en-GB" sz="4400" dirty="0" smtClean="0"/>
              <a:t>control</a:t>
            </a:r>
            <a:endParaRPr lang="es-ES" sz="4400" dirty="0">
              <a:solidFill>
                <a:schemeClr val="bg1">
                  <a:lumMod val="50000"/>
                </a:schemeClr>
              </a:solidFill>
              <a:latin typeface="Calibri" charset="0"/>
            </a:endParaRPr>
          </a:p>
        </p:txBody>
      </p:sp>
      <p:sp>
        <p:nvSpPr>
          <p:cNvPr id="3" name="Rectangle 2"/>
          <p:cNvSpPr/>
          <p:nvPr/>
        </p:nvSpPr>
        <p:spPr>
          <a:xfrm>
            <a:off x="1276350" y="2551837"/>
            <a:ext cx="6496050" cy="1569660"/>
          </a:xfrm>
          <a:prstGeom prst="rect">
            <a:avLst/>
          </a:prstGeom>
        </p:spPr>
        <p:txBody>
          <a:bodyPr wrap="square">
            <a:spAutoFit/>
          </a:bodyPr>
          <a:lstStyle/>
          <a:p>
            <a:r>
              <a:rPr lang="en-GB" altLang="en-US" sz="2400" dirty="0" smtClean="0">
                <a:latin typeface="Arial" panose="020B0604020202020204" pitchFamily="34" charset="0"/>
                <a:cs typeface="Arial" panose="020B0604020202020204" pitchFamily="34" charset="0"/>
              </a:rPr>
              <a:t>“People </a:t>
            </a:r>
            <a:r>
              <a:rPr lang="en-GB" altLang="en-US" sz="2400" dirty="0">
                <a:latin typeface="Arial" panose="020B0604020202020204" pitchFamily="34" charset="0"/>
                <a:cs typeface="Arial" panose="020B0604020202020204" pitchFamily="34" charset="0"/>
              </a:rPr>
              <a:t>who believe they can </a:t>
            </a:r>
            <a:r>
              <a:rPr lang="en-GB" altLang="en-US" sz="2400" dirty="0" smtClean="0">
                <a:latin typeface="Arial" panose="020B0604020202020204" pitchFamily="34" charset="0"/>
                <a:cs typeface="Arial" panose="020B0604020202020204" pitchFamily="34" charset="0"/>
              </a:rPr>
              <a:t>exercise </a:t>
            </a:r>
            <a:r>
              <a:rPr lang="en-GB" altLang="en-US" sz="2400" dirty="0">
                <a:latin typeface="Arial" panose="020B0604020202020204" pitchFamily="34" charset="0"/>
                <a:cs typeface="Arial" panose="020B0604020202020204" pitchFamily="34" charset="0"/>
              </a:rPr>
              <a:t>control </a:t>
            </a:r>
            <a:r>
              <a:rPr lang="en-GB" altLang="en-US" sz="2400" dirty="0" smtClean="0">
                <a:latin typeface="Arial" panose="020B0604020202020204" pitchFamily="34" charset="0"/>
                <a:cs typeface="Arial" panose="020B0604020202020204" pitchFamily="34" charset="0"/>
              </a:rPr>
              <a:t>do not </a:t>
            </a:r>
            <a:r>
              <a:rPr lang="en-GB" altLang="en-US" sz="2400" dirty="0">
                <a:latin typeface="Arial" panose="020B0604020202020204" pitchFamily="34" charset="0"/>
                <a:cs typeface="Arial" panose="020B0604020202020204" pitchFamily="34" charset="0"/>
              </a:rPr>
              <a:t>engage </a:t>
            </a:r>
            <a:r>
              <a:rPr lang="en-GB" altLang="en-US" sz="2400" dirty="0" smtClean="0">
                <a:latin typeface="Arial" panose="020B0604020202020204" pitchFamily="34" charset="0"/>
                <a:cs typeface="Arial" panose="020B0604020202020204" pitchFamily="34" charset="0"/>
              </a:rPr>
              <a:t>in apprehensive </a:t>
            </a:r>
            <a:r>
              <a:rPr lang="en-GB" altLang="en-US" sz="2400" dirty="0">
                <a:latin typeface="Arial" panose="020B0604020202020204" pitchFamily="34" charset="0"/>
                <a:cs typeface="Arial" panose="020B0604020202020204" pitchFamily="34" charset="0"/>
              </a:rPr>
              <a:t>thinking, they </a:t>
            </a:r>
            <a:r>
              <a:rPr lang="en-GB" altLang="en-US" sz="2400" dirty="0" smtClean="0">
                <a:latin typeface="Arial" panose="020B0604020202020204" pitchFamily="34" charset="0"/>
                <a:cs typeface="Arial" panose="020B0604020202020204" pitchFamily="34" charset="0"/>
              </a:rPr>
              <a:t>are not </a:t>
            </a:r>
            <a:r>
              <a:rPr lang="en-GB" altLang="en-US" sz="2400" dirty="0">
                <a:latin typeface="Arial" panose="020B0604020202020204" pitchFamily="34" charset="0"/>
                <a:cs typeface="Arial" panose="020B0604020202020204" pitchFamily="34" charset="0"/>
              </a:rPr>
              <a:t>bothered by threat </a:t>
            </a:r>
            <a:r>
              <a:rPr lang="en-GB" altLang="en-US" sz="2400" dirty="0" smtClean="0">
                <a:latin typeface="Arial" panose="020B0604020202020204" pitchFamily="34" charset="0"/>
                <a:cs typeface="Arial" panose="020B0604020202020204" pitchFamily="34" charset="0"/>
              </a:rPr>
              <a:t>or challenge”</a:t>
            </a:r>
            <a:endParaRPr lang="en-GB" altLang="en-US" sz="2400" dirty="0">
              <a:latin typeface="Arial" panose="020B0604020202020204" pitchFamily="34" charset="0"/>
              <a:cs typeface="Arial" panose="020B0604020202020204" pitchFamily="34" charset="0"/>
            </a:endParaRPr>
          </a:p>
          <a:p>
            <a:r>
              <a:rPr lang="en-GB" altLang="en-US" sz="2400" dirty="0" smtClean="0">
                <a:latin typeface="Arial" panose="020B0604020202020204" pitchFamily="34" charset="0"/>
                <a:cs typeface="Arial" panose="020B0604020202020204" pitchFamily="34" charset="0"/>
              </a:rPr>
              <a:t>								(</a:t>
            </a:r>
            <a:r>
              <a:rPr lang="en-GB" altLang="en-US" sz="2400" dirty="0">
                <a:latin typeface="Arial" panose="020B0604020202020204" pitchFamily="34" charset="0"/>
                <a:cs typeface="Arial" panose="020B0604020202020204" pitchFamily="34" charset="0"/>
              </a:rPr>
              <a:t>Frydenberg, 1997)</a:t>
            </a:r>
          </a:p>
        </p:txBody>
      </p:sp>
    </p:spTree>
    <p:extLst>
      <p:ext uri="{BB962C8B-B14F-4D97-AF65-F5344CB8AC3E}">
        <p14:creationId xmlns:p14="http://schemas.microsoft.com/office/powerpoint/2010/main" val="283106630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1102380"/>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Need to </a:t>
            </a:r>
            <a:r>
              <a:rPr lang="en-GB" sz="4400" dirty="0" smtClean="0"/>
              <a:t>promote:</a:t>
            </a:r>
            <a:endParaRPr lang="es-ES" sz="4400" dirty="0">
              <a:solidFill>
                <a:schemeClr val="bg1">
                  <a:lumMod val="50000"/>
                </a:schemeClr>
              </a:solidFill>
              <a:latin typeface="Calibri" charset="0"/>
            </a:endParaRPr>
          </a:p>
        </p:txBody>
      </p:sp>
      <p:sp>
        <p:nvSpPr>
          <p:cNvPr id="3" name="Rectangle 2"/>
          <p:cNvSpPr/>
          <p:nvPr/>
        </p:nvSpPr>
        <p:spPr>
          <a:xfrm>
            <a:off x="1562099" y="2967335"/>
            <a:ext cx="5895975" cy="646331"/>
          </a:xfrm>
          <a:prstGeom prst="rect">
            <a:avLst/>
          </a:prstGeom>
        </p:spPr>
        <p:txBody>
          <a:bodyPr wrap="square">
            <a:spAutoFit/>
          </a:bodyPr>
          <a:lstStyle/>
          <a:p>
            <a:pPr algn="ctr"/>
            <a:r>
              <a:rPr lang="en-GB" altLang="en-US" sz="3600" dirty="0">
                <a:latin typeface="Arial" panose="020B0604020202020204" pitchFamily="34" charset="0"/>
                <a:cs typeface="Arial" panose="020B0604020202020204" pitchFamily="34" charset="0"/>
              </a:rPr>
              <a:t>Autonomy </a:t>
            </a:r>
            <a:r>
              <a:rPr lang="en-GB" altLang="en-US" sz="3600" dirty="0" smtClean="0">
                <a:latin typeface="Arial" panose="020B0604020202020204" pitchFamily="34" charset="0"/>
                <a:cs typeface="Arial" panose="020B0604020202020204" pitchFamily="34" charset="0"/>
              </a:rPr>
              <a:t>and control</a:t>
            </a:r>
            <a:endParaRPr lang="en-GB" altLang="en-US" sz="3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6458228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941254"/>
            <a:ext cx="9144000"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Planning </a:t>
            </a:r>
            <a:r>
              <a:rPr lang="en-GB" sz="4400" dirty="0" smtClean="0"/>
              <a:t>ahead </a:t>
            </a:r>
            <a:r>
              <a:rPr lang="en-GB" sz="4400" dirty="0"/>
              <a:t>strategy helps to achieve a sense of </a:t>
            </a:r>
            <a:r>
              <a:rPr lang="en-GB" sz="4400" dirty="0" smtClean="0"/>
              <a:t>control</a:t>
            </a:r>
            <a:endParaRPr lang="es-ES" sz="4400" dirty="0">
              <a:solidFill>
                <a:schemeClr val="bg1">
                  <a:lumMod val="50000"/>
                </a:schemeClr>
              </a:solidFill>
              <a:latin typeface="Calibri" charset="0"/>
            </a:endParaRPr>
          </a:p>
        </p:txBody>
      </p:sp>
      <p:sp>
        <p:nvSpPr>
          <p:cNvPr id="3" name="Rectangle 2"/>
          <p:cNvSpPr/>
          <p:nvPr/>
        </p:nvSpPr>
        <p:spPr>
          <a:xfrm>
            <a:off x="1038225" y="2726889"/>
            <a:ext cx="7067550" cy="3046988"/>
          </a:xfrm>
          <a:prstGeom prst="rect">
            <a:avLst/>
          </a:prstGeom>
        </p:spPr>
        <p:txBody>
          <a:bodyPr wrap="square">
            <a:spAutoFit/>
          </a:bodyPr>
          <a:lstStyle/>
          <a:p>
            <a:pPr marL="609600" indent="-609600">
              <a:buFontTx/>
              <a:buAutoNum type="arabicPeriod"/>
            </a:pPr>
            <a:r>
              <a:rPr lang="en-GB" altLang="en-US" sz="2400" b="1" dirty="0" smtClean="0">
                <a:latin typeface="Arial" panose="020B0604020202020204" pitchFamily="34" charset="0"/>
                <a:cs typeface="Arial" panose="020B0604020202020204" pitchFamily="34" charset="0"/>
              </a:rPr>
              <a:t>Imagine</a:t>
            </a:r>
            <a:r>
              <a:rPr lang="en-GB" altLang="en-US" sz="2400" dirty="0" smtClean="0">
                <a:latin typeface="Arial" panose="020B0604020202020204" pitchFamily="34" charset="0"/>
                <a:cs typeface="Arial" panose="020B0604020202020204" pitchFamily="34" charset="0"/>
              </a:rPr>
              <a:t> - situation </a:t>
            </a:r>
            <a:r>
              <a:rPr lang="en-GB" altLang="en-US" sz="2400" dirty="0">
                <a:latin typeface="Arial" panose="020B0604020202020204" pitchFamily="34" charset="0"/>
                <a:cs typeface="Arial" panose="020B0604020202020204" pitchFamily="34" charset="0"/>
              </a:rPr>
              <a:t>in detail</a:t>
            </a:r>
          </a:p>
          <a:p>
            <a:pPr marL="609600" indent="-609600">
              <a:buFontTx/>
              <a:buAutoNum type="arabicPeriod"/>
            </a:pPr>
            <a:r>
              <a:rPr lang="en-GB" altLang="en-US" sz="2400" b="1" dirty="0">
                <a:latin typeface="Arial" panose="020B0604020202020204" pitchFamily="34" charset="0"/>
                <a:cs typeface="Arial" panose="020B0604020202020204" pitchFamily="34" charset="0"/>
              </a:rPr>
              <a:t>Prepare</a:t>
            </a:r>
            <a:r>
              <a:rPr lang="en-GB" altLang="en-US" sz="2400" dirty="0">
                <a:latin typeface="Arial" panose="020B0604020202020204" pitchFamily="34" charset="0"/>
                <a:cs typeface="Arial" panose="020B0604020202020204" pitchFamily="34" charset="0"/>
              </a:rPr>
              <a:t> - seek support</a:t>
            </a:r>
          </a:p>
          <a:p>
            <a:pPr marL="609600" indent="-609600">
              <a:buFontTx/>
              <a:buAutoNum type="arabicPeriod"/>
            </a:pPr>
            <a:r>
              <a:rPr lang="en-GB" altLang="en-US" sz="2400" b="1" dirty="0">
                <a:latin typeface="Arial" panose="020B0604020202020204" pitchFamily="34" charset="0"/>
                <a:cs typeface="Arial" panose="020B0604020202020204" pitchFamily="34" charset="0"/>
              </a:rPr>
              <a:t>Be aware </a:t>
            </a:r>
            <a:r>
              <a:rPr lang="en-GB" altLang="en-US" sz="2400" dirty="0">
                <a:latin typeface="Arial" panose="020B0604020202020204" pitchFamily="34" charset="0"/>
                <a:cs typeface="Arial" panose="020B0604020202020204" pitchFamily="34" charset="0"/>
              </a:rPr>
              <a:t>of all possibilities and tell MIND to stay calm in each one</a:t>
            </a:r>
          </a:p>
          <a:p>
            <a:pPr marL="609600" indent="-609600">
              <a:buFontTx/>
              <a:buAutoNum type="arabicPeriod"/>
            </a:pPr>
            <a:r>
              <a:rPr lang="en-GB" altLang="en-US" sz="2400" b="1" dirty="0">
                <a:latin typeface="Arial" panose="020B0604020202020204" pitchFamily="34" charset="0"/>
                <a:cs typeface="Arial" panose="020B0604020202020204" pitchFamily="34" charset="0"/>
              </a:rPr>
              <a:t>Make contingency </a:t>
            </a:r>
            <a:r>
              <a:rPr lang="en-GB" altLang="en-US" sz="2400" b="1" dirty="0" smtClean="0">
                <a:latin typeface="Arial" panose="020B0604020202020204" pitchFamily="34" charset="0"/>
                <a:cs typeface="Arial" panose="020B0604020202020204" pitchFamily="34" charset="0"/>
              </a:rPr>
              <a:t>plans</a:t>
            </a:r>
            <a:r>
              <a:rPr lang="en-GB" altLang="en-US" sz="2400" dirty="0" smtClean="0">
                <a:latin typeface="Arial" panose="020B0604020202020204" pitchFamily="34" charset="0"/>
                <a:cs typeface="Arial" panose="020B0604020202020204" pitchFamily="34" charset="0"/>
              </a:rPr>
              <a:t> - e.g</a:t>
            </a:r>
            <a:r>
              <a:rPr lang="en-GB" altLang="en-US" sz="2400" dirty="0">
                <a:latin typeface="Arial" panose="020B0604020202020204" pitchFamily="34" charset="0"/>
                <a:cs typeface="Arial" panose="020B0604020202020204" pitchFamily="34" charset="0"/>
              </a:rPr>
              <a:t>. make notes for your presentation!</a:t>
            </a:r>
          </a:p>
          <a:p>
            <a:pPr marL="609600" indent="-609600">
              <a:buFontTx/>
              <a:buAutoNum type="arabicPeriod"/>
            </a:pPr>
            <a:r>
              <a:rPr lang="en-GB" altLang="en-US" sz="2400" b="1" dirty="0" smtClean="0">
                <a:latin typeface="Arial" panose="020B0604020202020204" pitchFamily="34" charset="0"/>
                <a:cs typeface="Arial" panose="020B0604020202020204" pitchFamily="34" charset="0"/>
              </a:rPr>
              <a:t>Relax</a:t>
            </a:r>
            <a:r>
              <a:rPr lang="en-GB" altLang="en-US" sz="2400" dirty="0" smtClean="0">
                <a:latin typeface="Arial" panose="020B0604020202020204" pitchFamily="34" charset="0"/>
                <a:cs typeface="Arial" panose="020B0604020202020204" pitchFamily="34" charset="0"/>
              </a:rPr>
              <a:t> - genuine </a:t>
            </a:r>
            <a:r>
              <a:rPr lang="en-GB" altLang="en-US" sz="2400" dirty="0">
                <a:latin typeface="Arial" panose="020B0604020202020204" pitchFamily="34" charset="0"/>
                <a:cs typeface="Arial" panose="020B0604020202020204" pitchFamily="34" charset="0"/>
              </a:rPr>
              <a:t>relaxation before the event</a:t>
            </a:r>
          </a:p>
          <a:p>
            <a:pPr marL="609600" indent="-609600">
              <a:buFontTx/>
              <a:buAutoNum type="arabicPeriod"/>
            </a:pPr>
            <a:r>
              <a:rPr lang="en-GB" altLang="en-US" sz="2400" b="1" dirty="0" smtClean="0">
                <a:latin typeface="Arial" panose="020B0604020202020204" pitchFamily="34" charset="0"/>
                <a:cs typeface="Arial" panose="020B0604020202020204" pitchFamily="34" charset="0"/>
              </a:rPr>
              <a:t>Unwind</a:t>
            </a:r>
            <a:r>
              <a:rPr lang="en-GB" altLang="en-US" sz="2400" dirty="0" smtClean="0">
                <a:latin typeface="Arial" panose="020B0604020202020204" pitchFamily="34" charset="0"/>
                <a:cs typeface="Arial" panose="020B0604020202020204" pitchFamily="34" charset="0"/>
              </a:rPr>
              <a:t> - reward </a:t>
            </a:r>
            <a:r>
              <a:rPr lang="en-GB" altLang="en-US" sz="2400" dirty="0">
                <a:latin typeface="Arial" panose="020B0604020202020204" pitchFamily="34" charset="0"/>
                <a:cs typeface="Arial" panose="020B0604020202020204" pitchFamily="34" charset="0"/>
              </a:rPr>
              <a:t>yourself</a:t>
            </a:r>
          </a:p>
        </p:txBody>
      </p:sp>
    </p:spTree>
    <p:extLst>
      <p:ext uri="{BB962C8B-B14F-4D97-AF65-F5344CB8AC3E}">
        <p14:creationId xmlns:p14="http://schemas.microsoft.com/office/powerpoint/2010/main" val="290562459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814922"/>
            <a:ext cx="9144000"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Implementing </a:t>
            </a:r>
            <a:r>
              <a:rPr lang="en-GB" sz="4400" dirty="0" smtClean="0"/>
              <a:t>change </a:t>
            </a:r>
            <a:r>
              <a:rPr lang="en-GB" sz="4400" dirty="0"/>
              <a:t>– </a:t>
            </a:r>
            <a:endParaRPr lang="en-GB" sz="4400" dirty="0" smtClean="0"/>
          </a:p>
          <a:p>
            <a:pPr algn="ctr" eaLnBrk="1" hangingPunct="1"/>
            <a:r>
              <a:rPr lang="en-GB" sz="4400" dirty="0" smtClean="0"/>
              <a:t>behavioural experiments</a:t>
            </a:r>
            <a:endParaRPr lang="es-ES" sz="4400" dirty="0">
              <a:solidFill>
                <a:schemeClr val="bg1">
                  <a:lumMod val="50000"/>
                </a:schemeClr>
              </a:solidFill>
              <a:latin typeface="Calibri" charset="0"/>
            </a:endParaRPr>
          </a:p>
        </p:txBody>
      </p:sp>
      <p:sp>
        <p:nvSpPr>
          <p:cNvPr id="3" name="Rectangle 2"/>
          <p:cNvSpPr/>
          <p:nvPr/>
        </p:nvSpPr>
        <p:spPr>
          <a:xfrm>
            <a:off x="1323975" y="2627263"/>
            <a:ext cx="6496050" cy="3785652"/>
          </a:xfrm>
          <a:prstGeom prst="rect">
            <a:avLst/>
          </a:prstGeom>
        </p:spPr>
        <p:txBody>
          <a:bodyPr wrap="square">
            <a:spAutoFit/>
          </a:bodyPr>
          <a:lstStyle/>
          <a:p>
            <a:r>
              <a:rPr lang="en-GB" altLang="en-US" sz="2400" b="1" dirty="0">
                <a:latin typeface="Arial" panose="020B0604020202020204" pitchFamily="34" charset="0"/>
                <a:cs typeface="Arial" panose="020B0604020202020204" pitchFamily="34" charset="0"/>
              </a:rPr>
              <a:t>Stages</a:t>
            </a:r>
          </a:p>
          <a:p>
            <a:r>
              <a:rPr lang="en-GB" altLang="en-US" sz="2400" dirty="0">
                <a:latin typeface="Arial" panose="020B0604020202020204" pitchFamily="34" charset="0"/>
                <a:cs typeface="Arial" panose="020B0604020202020204" pitchFamily="34" charset="0"/>
              </a:rPr>
              <a:t>1. Identify the unhelpful belief</a:t>
            </a:r>
          </a:p>
          <a:p>
            <a:r>
              <a:rPr lang="en-GB" altLang="en-US" sz="2400" dirty="0">
                <a:latin typeface="Arial" panose="020B0604020202020204" pitchFamily="34" charset="0"/>
                <a:cs typeface="Arial" panose="020B0604020202020204" pitchFamily="34" charset="0"/>
              </a:rPr>
              <a:t>2. identify the more helpful alternative</a:t>
            </a:r>
          </a:p>
          <a:p>
            <a:r>
              <a:rPr lang="en-GB" altLang="en-US" sz="2400" dirty="0">
                <a:latin typeface="Arial" panose="020B0604020202020204" pitchFamily="34" charset="0"/>
                <a:cs typeface="Arial" panose="020B0604020202020204" pitchFamily="34" charset="0"/>
              </a:rPr>
              <a:t>3. Test which belief is more accurate</a:t>
            </a:r>
          </a:p>
          <a:p>
            <a:r>
              <a:rPr lang="en-GB" altLang="en-US" sz="2400" dirty="0">
                <a:latin typeface="Arial" panose="020B0604020202020204" pitchFamily="34" charset="0"/>
                <a:cs typeface="Arial" panose="020B0604020202020204" pitchFamily="34" charset="0"/>
              </a:rPr>
              <a:t>4. Discuss the results of the test</a:t>
            </a:r>
          </a:p>
          <a:p>
            <a:endParaRPr lang="en-GB" altLang="en-US" sz="2400" b="1" dirty="0" smtClean="0">
              <a:latin typeface="Arial" panose="020B0604020202020204" pitchFamily="34" charset="0"/>
              <a:cs typeface="Arial" panose="020B0604020202020204" pitchFamily="34" charset="0"/>
            </a:endParaRPr>
          </a:p>
          <a:p>
            <a:r>
              <a:rPr lang="en-GB" altLang="en-US" sz="2400" b="1" dirty="0" smtClean="0">
                <a:latin typeface="Arial" panose="020B0604020202020204" pitchFamily="34" charset="0"/>
                <a:cs typeface="Arial" panose="020B0604020202020204" pitchFamily="34" charset="0"/>
              </a:rPr>
              <a:t>Outcome</a:t>
            </a:r>
          </a:p>
          <a:p>
            <a:endParaRPr lang="en-GB" altLang="en-US" sz="2400" b="1" dirty="0">
              <a:latin typeface="Arial" panose="020B0604020202020204" pitchFamily="34" charset="0"/>
              <a:cs typeface="Arial" panose="020B0604020202020204" pitchFamily="34" charset="0"/>
            </a:endParaRPr>
          </a:p>
          <a:p>
            <a:r>
              <a:rPr lang="en-GB" altLang="en-US" sz="2400" b="1" dirty="0">
                <a:latin typeface="Arial" panose="020B0604020202020204" pitchFamily="34" charset="0"/>
                <a:cs typeface="Arial" panose="020B0604020202020204" pitchFamily="34" charset="0"/>
              </a:rPr>
              <a:t>Evidence to challenge the core beliefs and NATs</a:t>
            </a:r>
          </a:p>
        </p:txBody>
      </p:sp>
    </p:spTree>
    <p:extLst>
      <p:ext uri="{BB962C8B-B14F-4D97-AF65-F5344CB8AC3E}">
        <p14:creationId xmlns:p14="http://schemas.microsoft.com/office/powerpoint/2010/main" val="336596213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876931"/>
            <a:ext cx="9144000"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More </a:t>
            </a:r>
            <a:r>
              <a:rPr lang="en-GB" sz="4400" dirty="0" smtClean="0"/>
              <a:t>strategies </a:t>
            </a:r>
            <a:r>
              <a:rPr lang="en-GB" sz="4400" dirty="0"/>
              <a:t>to implement change</a:t>
            </a:r>
            <a:endParaRPr lang="es-ES" sz="4400" dirty="0">
              <a:solidFill>
                <a:schemeClr val="bg1">
                  <a:lumMod val="50000"/>
                </a:schemeClr>
              </a:solidFill>
              <a:latin typeface="Calibri" charset="0"/>
            </a:endParaRPr>
          </a:p>
        </p:txBody>
      </p:sp>
      <p:sp>
        <p:nvSpPr>
          <p:cNvPr id="3" name="Rectangle 2"/>
          <p:cNvSpPr/>
          <p:nvPr/>
        </p:nvSpPr>
        <p:spPr>
          <a:xfrm>
            <a:off x="373224" y="2493449"/>
            <a:ext cx="8528179" cy="3785652"/>
          </a:xfrm>
          <a:prstGeom prst="rect">
            <a:avLst/>
          </a:prstGeom>
        </p:spPr>
        <p:txBody>
          <a:bodyPr wrap="square">
            <a:spAutoFit/>
          </a:bodyPr>
          <a:lstStyle/>
          <a:p>
            <a:pPr>
              <a:buClr>
                <a:schemeClr val="tx1"/>
              </a:buClr>
            </a:pPr>
            <a:r>
              <a:rPr lang="en-GB" altLang="en-US" sz="2400" b="1" dirty="0">
                <a:latin typeface="Arial" panose="020B0604020202020204" pitchFamily="34" charset="0"/>
                <a:ea typeface="MS PGothic" panose="020B0600070205080204" pitchFamily="34" charset="-128"/>
                <a:cs typeface="Arial" panose="020B0604020202020204" pitchFamily="34" charset="0"/>
              </a:rPr>
              <a:t>Re-Framing </a:t>
            </a:r>
            <a:endParaRPr lang="en-GB" altLang="en-US" sz="2400" dirty="0">
              <a:latin typeface="Arial" panose="020B0604020202020204" pitchFamily="34" charset="0"/>
              <a:ea typeface="MS PGothic" panose="020B0600070205080204" pitchFamily="34" charset="-128"/>
              <a:cs typeface="Arial" panose="020B0604020202020204" pitchFamily="34" charset="0"/>
            </a:endParaRPr>
          </a:p>
          <a:p>
            <a:pPr marL="342900" indent="-342900">
              <a:buClr>
                <a:schemeClr val="tx1"/>
              </a:buClr>
              <a:buFont typeface="Arial" panose="020B0604020202020204" pitchFamily="34" charset="0"/>
              <a:buChar char="•"/>
            </a:pPr>
            <a:r>
              <a:rPr lang="en-GB" altLang="en-US" sz="2400" dirty="0">
                <a:latin typeface="Arial" panose="020B0604020202020204" pitchFamily="34" charset="0"/>
                <a:ea typeface="MS PGothic" panose="020B0600070205080204" pitchFamily="34" charset="-128"/>
                <a:cs typeface="Arial" panose="020B0604020202020204" pitchFamily="34" charset="0"/>
              </a:rPr>
              <a:t>Re-frame NATs into more balanced, </a:t>
            </a:r>
            <a:r>
              <a:rPr lang="en-GB" altLang="en-US" sz="2400" dirty="0" smtClean="0">
                <a:latin typeface="Arial" panose="020B0604020202020204" pitchFamily="34" charset="0"/>
                <a:ea typeface="MS PGothic" panose="020B0600070205080204" pitchFamily="34" charset="-128"/>
                <a:cs typeface="Arial" panose="020B0604020202020204" pitchFamily="34" charset="0"/>
              </a:rPr>
              <a:t>positive, realistic thoughts</a:t>
            </a:r>
            <a:r>
              <a:rPr lang="en-GB" altLang="en-US" sz="2400" dirty="0">
                <a:latin typeface="Arial" panose="020B0604020202020204" pitchFamily="34" charset="0"/>
                <a:ea typeface="MS PGothic" panose="020B0600070205080204" pitchFamily="34" charset="-128"/>
                <a:cs typeface="Arial" panose="020B0604020202020204" pitchFamily="34" charset="0"/>
              </a:rPr>
              <a:t>. </a:t>
            </a:r>
            <a:endParaRPr lang="en-GB" altLang="en-US" sz="2400" dirty="0" smtClean="0">
              <a:latin typeface="Arial" panose="020B0604020202020204" pitchFamily="34" charset="0"/>
              <a:ea typeface="MS PGothic" panose="020B0600070205080204" pitchFamily="34" charset="-128"/>
              <a:cs typeface="Arial" panose="020B0604020202020204" pitchFamily="34" charset="0"/>
            </a:endParaRPr>
          </a:p>
          <a:p>
            <a:pPr>
              <a:buClr>
                <a:schemeClr val="tx1"/>
              </a:buClr>
            </a:pPr>
            <a:endParaRPr lang="en-GB" altLang="en-US" sz="2400" dirty="0">
              <a:latin typeface="Arial" panose="020B0604020202020204" pitchFamily="34" charset="0"/>
              <a:ea typeface="MS PGothic" panose="020B0600070205080204" pitchFamily="34" charset="-128"/>
              <a:cs typeface="Arial" panose="020B0604020202020204" pitchFamily="34" charset="0"/>
            </a:endParaRPr>
          </a:p>
          <a:p>
            <a:pPr>
              <a:buClr>
                <a:schemeClr val="tx1"/>
              </a:buClr>
            </a:pPr>
            <a:r>
              <a:rPr lang="en-GB" altLang="en-US" sz="2400" b="1" dirty="0">
                <a:latin typeface="Arial" panose="020B0604020202020204" pitchFamily="34" charset="0"/>
                <a:ea typeface="MS PGothic" panose="020B0600070205080204" pitchFamily="34" charset="-128"/>
                <a:cs typeface="Arial" panose="020B0604020202020204" pitchFamily="34" charset="0"/>
              </a:rPr>
              <a:t>Distraction </a:t>
            </a:r>
            <a:endParaRPr lang="en-US" altLang="en-US" sz="2400" dirty="0">
              <a:latin typeface="Arial" panose="020B0604020202020204" pitchFamily="34" charset="0"/>
              <a:ea typeface="MS PGothic" panose="020B0600070205080204" pitchFamily="34" charset="-128"/>
              <a:cs typeface="Arial" panose="020B0604020202020204" pitchFamily="34" charset="0"/>
            </a:endParaRPr>
          </a:p>
          <a:p>
            <a:pPr marL="342900" indent="-342900">
              <a:buClr>
                <a:schemeClr val="tx1"/>
              </a:buClr>
              <a:buFont typeface="Arial" panose="020B0604020202020204" pitchFamily="34" charset="0"/>
              <a:buChar char="•"/>
            </a:pPr>
            <a:r>
              <a:rPr lang="en-US" altLang="en-US" sz="2400" dirty="0">
                <a:latin typeface="Arial" panose="020B0604020202020204" pitchFamily="34" charset="0"/>
                <a:ea typeface="MS PGothic" panose="020B0600070205080204" pitchFamily="34" charset="-128"/>
                <a:cs typeface="Arial" panose="020B0604020202020204" pitchFamily="34" charset="0"/>
              </a:rPr>
              <a:t>Describing what you see</a:t>
            </a:r>
            <a:r>
              <a:rPr lang="en-US" altLang="en-US" sz="2400" dirty="0" smtClean="0">
                <a:latin typeface="Arial" panose="020B0604020202020204" pitchFamily="34" charset="0"/>
                <a:ea typeface="MS PGothic" panose="020B0600070205080204" pitchFamily="34" charset="-128"/>
                <a:cs typeface="Arial" panose="020B0604020202020204" pitchFamily="34" charset="0"/>
              </a:rPr>
              <a:t>.</a:t>
            </a:r>
            <a:endParaRPr lang="en-US" altLang="en-US" sz="2400" dirty="0">
              <a:latin typeface="Arial" panose="020B0604020202020204" pitchFamily="34" charset="0"/>
              <a:ea typeface="MS PGothic" panose="020B0600070205080204" pitchFamily="34" charset="-128"/>
              <a:cs typeface="Arial" panose="020B0604020202020204" pitchFamily="34" charset="0"/>
            </a:endParaRPr>
          </a:p>
          <a:p>
            <a:pPr marL="342900" indent="-342900">
              <a:buClr>
                <a:schemeClr val="tx1"/>
              </a:buClr>
              <a:buFont typeface="Arial" panose="020B0604020202020204" pitchFamily="34" charset="0"/>
              <a:buChar char="•"/>
            </a:pPr>
            <a:r>
              <a:rPr lang="en-US" altLang="en-US" sz="2400" dirty="0">
                <a:latin typeface="Arial" panose="020B0604020202020204" pitchFamily="34" charset="0"/>
                <a:ea typeface="MS PGothic" panose="020B0600070205080204" pitchFamily="34" charset="-128"/>
                <a:cs typeface="Arial" panose="020B0604020202020204" pitchFamily="34" charset="0"/>
              </a:rPr>
              <a:t>Get </a:t>
            </a:r>
            <a:r>
              <a:rPr lang="en-US" altLang="en-US" sz="2400" dirty="0" smtClean="0">
                <a:latin typeface="Arial" panose="020B0604020202020204" pitchFamily="34" charset="0"/>
                <a:ea typeface="MS PGothic" panose="020B0600070205080204" pitchFamily="34" charset="-128"/>
                <a:cs typeface="Arial" panose="020B0604020202020204" pitchFamily="34" charset="0"/>
              </a:rPr>
              <a:t>absorbed</a:t>
            </a:r>
            <a:endParaRPr lang="en-US" altLang="en-US" sz="2400" dirty="0">
              <a:latin typeface="Arial" panose="020B0604020202020204" pitchFamily="34" charset="0"/>
              <a:ea typeface="MS PGothic" panose="020B0600070205080204" pitchFamily="34" charset="-128"/>
              <a:cs typeface="Arial" panose="020B0604020202020204" pitchFamily="34" charset="0"/>
            </a:endParaRPr>
          </a:p>
          <a:p>
            <a:pPr marL="342900" indent="-342900">
              <a:buClr>
                <a:schemeClr val="tx1"/>
              </a:buClr>
              <a:buFont typeface="Arial" panose="020B0604020202020204" pitchFamily="34" charset="0"/>
              <a:buChar char="•"/>
            </a:pPr>
            <a:r>
              <a:rPr lang="en-US" altLang="en-US" sz="2400" dirty="0" smtClean="0">
                <a:latin typeface="Arial" panose="020B0604020202020204" pitchFamily="34" charset="0"/>
                <a:ea typeface="MS PGothic" panose="020B0600070205080204" pitchFamily="34" charset="-128"/>
                <a:cs typeface="Arial" panose="020B0604020202020204" pitchFamily="34" charset="0"/>
              </a:rPr>
              <a:t>Self-talk</a:t>
            </a:r>
            <a:endParaRPr lang="en-US" altLang="en-US" sz="2400" dirty="0">
              <a:latin typeface="Arial" panose="020B0604020202020204" pitchFamily="34" charset="0"/>
              <a:ea typeface="MS PGothic" panose="020B0600070205080204" pitchFamily="34" charset="-128"/>
              <a:cs typeface="Arial" panose="020B0604020202020204" pitchFamily="34" charset="0"/>
            </a:endParaRPr>
          </a:p>
          <a:p>
            <a:pPr marL="342900" indent="-342900">
              <a:buClr>
                <a:schemeClr val="tx1"/>
              </a:buClr>
              <a:buFont typeface="Arial" panose="020B0604020202020204" pitchFamily="34" charset="0"/>
              <a:buChar char="•"/>
            </a:pPr>
            <a:r>
              <a:rPr lang="en-US" altLang="en-US" sz="2400" dirty="0">
                <a:latin typeface="Arial" panose="020B0604020202020204" pitchFamily="34" charset="0"/>
                <a:ea typeface="MS PGothic" panose="020B0600070205080204" pitchFamily="34" charset="-128"/>
                <a:cs typeface="Arial" panose="020B0604020202020204" pitchFamily="34" charset="0"/>
              </a:rPr>
              <a:t>Bin </a:t>
            </a:r>
            <a:r>
              <a:rPr lang="en-US" altLang="en-US" sz="2400" dirty="0" smtClean="0">
                <a:latin typeface="Arial" panose="020B0604020202020204" pitchFamily="34" charset="0"/>
                <a:ea typeface="MS PGothic" panose="020B0600070205080204" pitchFamily="34" charset="-128"/>
                <a:cs typeface="Arial" panose="020B0604020202020204" pitchFamily="34" charset="0"/>
              </a:rPr>
              <a:t>them</a:t>
            </a:r>
            <a:endParaRPr lang="en-US" altLang="en-US" sz="2400" dirty="0">
              <a:latin typeface="Arial" panose="020B0604020202020204" pitchFamily="34" charset="0"/>
              <a:ea typeface="MS PGothic" panose="020B0600070205080204" pitchFamily="34" charset="-128"/>
              <a:cs typeface="Arial" panose="020B0604020202020204" pitchFamily="34" charset="0"/>
            </a:endParaRPr>
          </a:p>
          <a:p>
            <a:pPr marL="342900" indent="-342900">
              <a:buClr>
                <a:schemeClr val="tx1"/>
              </a:buClr>
              <a:buFont typeface="Arial" panose="020B0604020202020204" pitchFamily="34" charset="0"/>
              <a:buChar char="•"/>
            </a:pPr>
            <a:r>
              <a:rPr lang="en-US" altLang="en-US" sz="2400" dirty="0">
                <a:latin typeface="Arial" panose="020B0604020202020204" pitchFamily="34" charset="0"/>
                <a:ea typeface="MS PGothic" panose="020B0600070205080204" pitchFamily="34" charset="-128"/>
                <a:cs typeface="Arial" panose="020B0604020202020204" pitchFamily="34" charset="0"/>
              </a:rPr>
              <a:t>Top </a:t>
            </a:r>
            <a:r>
              <a:rPr lang="en-US" altLang="en-US" sz="2400" dirty="0" smtClean="0">
                <a:latin typeface="Arial" panose="020B0604020202020204" pitchFamily="34" charset="0"/>
                <a:ea typeface="MS PGothic" panose="020B0600070205080204" pitchFamily="34" charset="-128"/>
                <a:cs typeface="Arial" panose="020B0604020202020204" pitchFamily="34" charset="0"/>
              </a:rPr>
              <a:t>talk</a:t>
            </a:r>
            <a:endParaRPr lang="en-GB"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8803327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895088"/>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And </a:t>
            </a:r>
            <a:r>
              <a:rPr lang="en-GB" sz="4400" dirty="0" smtClean="0"/>
              <a:t>more</a:t>
            </a:r>
            <a:endParaRPr lang="es-ES" sz="4400" dirty="0">
              <a:solidFill>
                <a:schemeClr val="bg1">
                  <a:lumMod val="50000"/>
                </a:schemeClr>
              </a:solidFill>
              <a:latin typeface="Calibri" charset="0"/>
            </a:endParaRPr>
          </a:p>
        </p:txBody>
      </p:sp>
      <p:sp>
        <p:nvSpPr>
          <p:cNvPr id="3" name="Rectangle 2"/>
          <p:cNvSpPr/>
          <p:nvPr/>
        </p:nvSpPr>
        <p:spPr>
          <a:xfrm>
            <a:off x="811763" y="2413338"/>
            <a:ext cx="7539135" cy="3046988"/>
          </a:xfrm>
          <a:prstGeom prst="rect">
            <a:avLst/>
          </a:prstGeom>
        </p:spPr>
        <p:txBody>
          <a:bodyPr wrap="square">
            <a:spAutoFit/>
          </a:bodyPr>
          <a:lstStyle/>
          <a:p>
            <a:pPr>
              <a:buClr>
                <a:schemeClr val="tx1"/>
              </a:buClr>
            </a:pPr>
            <a:r>
              <a:rPr lang="en-GB" altLang="en-US" sz="2400" b="1" dirty="0">
                <a:latin typeface="Arial" panose="020B0604020202020204" pitchFamily="34" charset="0"/>
                <a:ea typeface="MS PGothic" panose="020B0600070205080204" pitchFamily="34" charset="-128"/>
                <a:cs typeface="Arial" panose="020B0604020202020204" pitchFamily="34" charset="0"/>
              </a:rPr>
              <a:t>Positive Automatic Thoughts</a:t>
            </a:r>
            <a:endParaRPr lang="en-GB" altLang="en-US" sz="2400" dirty="0">
              <a:latin typeface="Arial" panose="020B0604020202020204" pitchFamily="34" charset="0"/>
              <a:ea typeface="MS PGothic" panose="020B0600070205080204" pitchFamily="34" charset="-128"/>
              <a:cs typeface="Arial" panose="020B0604020202020204" pitchFamily="34" charset="0"/>
            </a:endParaRPr>
          </a:p>
          <a:p>
            <a:pPr>
              <a:buClr>
                <a:schemeClr val="tx1"/>
              </a:buClr>
              <a:buFont typeface="Times" panose="02020603060405020304" pitchFamily="18" charset="0"/>
              <a:buChar char="•"/>
            </a:pPr>
            <a:r>
              <a:rPr lang="en-GB" altLang="en-US" sz="2400" dirty="0">
                <a:latin typeface="Arial" panose="020B0604020202020204" pitchFamily="34" charset="0"/>
                <a:ea typeface="MS PGothic" panose="020B0600070205080204" pitchFamily="34" charset="-128"/>
                <a:cs typeface="Arial" panose="020B0604020202020204" pitchFamily="34" charset="0"/>
              </a:rPr>
              <a:t>Weekly Positive Diary, for example: </a:t>
            </a:r>
            <a:r>
              <a:rPr lang="en-GB" altLang="en-US" sz="2400" dirty="0" smtClean="0">
                <a:latin typeface="Arial" panose="020B0604020202020204" pitchFamily="34" charset="0"/>
                <a:ea typeface="MS PGothic" panose="020B0600070205080204" pitchFamily="34" charset="-128"/>
                <a:cs typeface="Arial" panose="020B0604020202020204" pitchFamily="34" charset="0"/>
              </a:rPr>
              <a:t>‘</a:t>
            </a:r>
            <a:r>
              <a:rPr lang="en-GB" altLang="en-US" sz="2400" dirty="0">
                <a:latin typeface="Arial" panose="020B0604020202020204" pitchFamily="34" charset="0"/>
                <a:ea typeface="MS PGothic" panose="020B0600070205080204" pitchFamily="34" charset="-128"/>
                <a:cs typeface="Arial" panose="020B0604020202020204" pitchFamily="34" charset="0"/>
              </a:rPr>
              <a:t>Someone said hello.’ </a:t>
            </a:r>
            <a:br>
              <a:rPr lang="en-GB" altLang="en-US" sz="2400" dirty="0">
                <a:latin typeface="Arial" panose="020B0604020202020204" pitchFamily="34" charset="0"/>
                <a:ea typeface="MS PGothic" panose="020B0600070205080204" pitchFamily="34" charset="-128"/>
                <a:cs typeface="Arial" panose="020B0604020202020204" pitchFamily="34" charset="0"/>
              </a:rPr>
            </a:br>
            <a:r>
              <a:rPr lang="en-GB" altLang="en-US" sz="2400" dirty="0">
                <a:latin typeface="Arial" panose="020B0604020202020204" pitchFamily="34" charset="0"/>
                <a:ea typeface="MS PGothic" panose="020B0600070205080204" pitchFamily="34" charset="-128"/>
                <a:cs typeface="Arial" panose="020B0604020202020204" pitchFamily="34" charset="0"/>
              </a:rPr>
              <a:t>‘My teacher praised me.’</a:t>
            </a:r>
            <a:endParaRPr lang="en-US" altLang="en-US" sz="2400" dirty="0">
              <a:latin typeface="Arial" panose="020B0604020202020204" pitchFamily="34" charset="0"/>
              <a:ea typeface="MS PGothic" panose="020B0600070205080204" pitchFamily="34" charset="-128"/>
              <a:cs typeface="Arial" panose="020B0604020202020204" pitchFamily="34" charset="0"/>
            </a:endParaRPr>
          </a:p>
          <a:p>
            <a:pPr>
              <a:buClr>
                <a:schemeClr val="tx1"/>
              </a:buClr>
            </a:pPr>
            <a:endParaRPr lang="en-GB" altLang="en-US" sz="2400" b="1" dirty="0" smtClean="0">
              <a:latin typeface="Arial" panose="020B0604020202020204" pitchFamily="34" charset="0"/>
              <a:ea typeface="MS PGothic" panose="020B0600070205080204" pitchFamily="34" charset="-128"/>
              <a:cs typeface="Arial" panose="020B0604020202020204" pitchFamily="34" charset="0"/>
            </a:endParaRPr>
          </a:p>
          <a:p>
            <a:pPr>
              <a:buClr>
                <a:schemeClr val="tx1"/>
              </a:buClr>
            </a:pPr>
            <a:r>
              <a:rPr lang="en-GB" altLang="en-US" sz="2400" b="1" dirty="0" smtClean="0">
                <a:latin typeface="Arial" panose="020B0604020202020204" pitchFamily="34" charset="0"/>
                <a:ea typeface="MS PGothic" panose="020B0600070205080204" pitchFamily="34" charset="-128"/>
                <a:cs typeface="Arial" panose="020B0604020202020204" pitchFamily="34" charset="0"/>
              </a:rPr>
              <a:t>Goal Setting</a:t>
            </a:r>
            <a:endParaRPr lang="en-GB" altLang="en-US" sz="2400" b="1" dirty="0">
              <a:latin typeface="Arial" panose="020B0604020202020204" pitchFamily="34" charset="0"/>
              <a:ea typeface="MS PGothic" panose="020B0600070205080204" pitchFamily="34" charset="-128"/>
              <a:cs typeface="Arial" panose="020B0604020202020204" pitchFamily="34" charset="0"/>
            </a:endParaRPr>
          </a:p>
          <a:p>
            <a:pPr>
              <a:buClr>
                <a:schemeClr val="tx1"/>
              </a:buClr>
              <a:buFont typeface="Times" panose="02020603060405020304" pitchFamily="18" charset="0"/>
              <a:buChar char="•"/>
            </a:pPr>
            <a:r>
              <a:rPr lang="en-GB" altLang="en-US" sz="2400" dirty="0">
                <a:latin typeface="Arial" panose="020B0604020202020204" pitchFamily="34" charset="0"/>
                <a:ea typeface="MS PGothic" panose="020B0600070205080204" pitchFamily="34" charset="-128"/>
                <a:cs typeface="Arial" panose="020B0604020202020204" pitchFamily="34" charset="0"/>
              </a:rPr>
              <a:t>Set realistic </a:t>
            </a:r>
            <a:r>
              <a:rPr lang="en-GB" altLang="en-US" sz="2400" dirty="0" smtClean="0">
                <a:latin typeface="Arial" panose="020B0604020202020204" pitchFamily="34" charset="0"/>
                <a:ea typeface="MS PGothic" panose="020B0600070205080204" pitchFamily="34" charset="-128"/>
                <a:cs typeface="Arial" panose="020B0604020202020204" pitchFamily="34" charset="0"/>
              </a:rPr>
              <a:t>goals</a:t>
            </a:r>
            <a:endParaRPr lang="en-GB" altLang="en-US" sz="2400" dirty="0">
              <a:latin typeface="Arial" panose="020B0604020202020204" pitchFamily="34" charset="0"/>
              <a:ea typeface="MS PGothic" panose="020B0600070205080204" pitchFamily="34" charset="-128"/>
              <a:cs typeface="Arial" panose="020B0604020202020204" pitchFamily="34" charset="0"/>
            </a:endParaRPr>
          </a:p>
          <a:p>
            <a:pPr>
              <a:buClr>
                <a:schemeClr val="tx1"/>
              </a:buClr>
              <a:buFont typeface="Times" panose="02020603060405020304" pitchFamily="18" charset="0"/>
              <a:buChar char="•"/>
            </a:pPr>
            <a:r>
              <a:rPr lang="en-GB" altLang="en-US" sz="2400" dirty="0">
                <a:latin typeface="Arial" panose="020B0604020202020204" pitchFamily="34" charset="0"/>
                <a:ea typeface="MS PGothic" panose="020B0600070205080204" pitchFamily="34" charset="-128"/>
                <a:cs typeface="Arial" panose="020B0604020202020204" pitchFamily="34" charset="0"/>
              </a:rPr>
              <a:t>Practise </a:t>
            </a:r>
            <a:r>
              <a:rPr lang="en-GB" altLang="en-US" sz="2400" dirty="0" smtClean="0">
                <a:latin typeface="Arial" panose="020B0604020202020204" pitchFamily="34" charset="0"/>
                <a:ea typeface="MS PGothic" panose="020B0600070205080204" pitchFamily="34" charset="-128"/>
                <a:cs typeface="Arial" panose="020B0604020202020204" pitchFamily="34" charset="0"/>
              </a:rPr>
              <a:t>strategies</a:t>
            </a:r>
            <a:endParaRPr lang="en-GB" altLang="en-US" sz="2400" dirty="0">
              <a:latin typeface="Arial" panose="020B0604020202020204" pitchFamily="34" charset="0"/>
              <a:ea typeface="MS PGothic" panose="020B0600070205080204" pitchFamily="34" charset="-128"/>
              <a:cs typeface="Arial" panose="020B0604020202020204" pitchFamily="34" charset="0"/>
            </a:endParaRPr>
          </a:p>
        </p:txBody>
      </p:sp>
    </p:spTree>
    <p:extLst>
      <p:ext uri="{BB962C8B-B14F-4D97-AF65-F5344CB8AC3E}">
        <p14:creationId xmlns:p14="http://schemas.microsoft.com/office/powerpoint/2010/main" val="426906187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1193471"/>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Prevention is better than </a:t>
            </a:r>
            <a:r>
              <a:rPr lang="en-GB" sz="4400" dirty="0" smtClean="0"/>
              <a:t>cure</a:t>
            </a:r>
            <a:endParaRPr lang="es-ES" sz="4400" dirty="0">
              <a:solidFill>
                <a:schemeClr val="bg1">
                  <a:lumMod val="50000"/>
                </a:schemeClr>
              </a:solidFill>
              <a:latin typeface="Calibri" charset="0"/>
            </a:endParaRPr>
          </a:p>
        </p:txBody>
      </p:sp>
      <p:sp>
        <p:nvSpPr>
          <p:cNvPr id="3" name="Rectangle 2"/>
          <p:cNvSpPr/>
          <p:nvPr/>
        </p:nvSpPr>
        <p:spPr>
          <a:xfrm>
            <a:off x="583163" y="2510287"/>
            <a:ext cx="7977673" cy="2419124"/>
          </a:xfrm>
          <a:prstGeom prst="rect">
            <a:avLst/>
          </a:prstGeom>
        </p:spPr>
        <p:txBody>
          <a:bodyPr wrap="square">
            <a:spAutoFit/>
          </a:bodyPr>
          <a:lstStyle/>
          <a:p>
            <a:pPr marL="274320" indent="-274320">
              <a:lnSpc>
                <a:spcPct val="90000"/>
              </a:lnSpc>
              <a:defRPr/>
            </a:pPr>
            <a:r>
              <a:rPr lang="en-GB" sz="2800" b="1" dirty="0">
                <a:latin typeface="Arial" panose="020B0604020202020204" pitchFamily="34" charset="0"/>
                <a:cs typeface="Arial" panose="020B0604020202020204" pitchFamily="34" charset="0"/>
              </a:rPr>
              <a:t>Logical conclusion </a:t>
            </a:r>
          </a:p>
          <a:p>
            <a:pPr marL="342900" indent="-342900">
              <a:lnSpc>
                <a:spcPct val="90000"/>
              </a:lnSpc>
              <a:buFont typeface="Arial" panose="020B0604020202020204" pitchFamily="34" charset="0"/>
              <a:buChar char="•"/>
              <a:defRPr/>
            </a:pPr>
            <a:r>
              <a:rPr lang="en-GB" sz="2800" dirty="0">
                <a:latin typeface="Arial" panose="020B0604020202020204" pitchFamily="34" charset="0"/>
                <a:cs typeface="Arial" panose="020B0604020202020204" pitchFamily="34" charset="0"/>
              </a:rPr>
              <a:t>p</a:t>
            </a:r>
            <a:r>
              <a:rPr lang="en-GB" sz="2800" dirty="0" smtClean="0">
                <a:latin typeface="Arial" panose="020B0604020202020204" pitchFamily="34" charset="0"/>
                <a:cs typeface="Arial" panose="020B0604020202020204" pitchFamily="34" charset="0"/>
              </a:rPr>
              <a:t>rovide </a:t>
            </a:r>
            <a:r>
              <a:rPr lang="en-GB" sz="2800" dirty="0">
                <a:latin typeface="Arial" panose="020B0604020202020204" pitchFamily="34" charset="0"/>
                <a:cs typeface="Arial" panose="020B0604020202020204" pitchFamily="34" charset="0"/>
              </a:rPr>
              <a:t>copious opportunities to learn and practice a range of effective self management skills</a:t>
            </a:r>
          </a:p>
          <a:p>
            <a:pPr marL="342900" indent="-342900">
              <a:lnSpc>
                <a:spcPct val="90000"/>
              </a:lnSpc>
              <a:buFont typeface="Arial" panose="020B0604020202020204" pitchFamily="34" charset="0"/>
              <a:buChar char="•"/>
              <a:defRPr/>
            </a:pPr>
            <a:r>
              <a:rPr lang="en-GB" sz="2800" dirty="0">
                <a:latin typeface="Arial" panose="020B0604020202020204" pitchFamily="34" charset="0"/>
                <a:cs typeface="Arial" panose="020B0604020202020204" pitchFamily="34" charset="0"/>
              </a:rPr>
              <a:t>increase ability to cope with stress and anxiety</a:t>
            </a:r>
          </a:p>
          <a:p>
            <a:pPr marL="342900" indent="-342900">
              <a:lnSpc>
                <a:spcPct val="90000"/>
              </a:lnSpc>
              <a:buFont typeface="Arial" panose="020B0604020202020204" pitchFamily="34" charset="0"/>
              <a:buChar char="•"/>
              <a:defRPr/>
            </a:pPr>
            <a:r>
              <a:rPr lang="en-GB" sz="2800" dirty="0">
                <a:latin typeface="Arial" panose="020B0604020202020204" pitchFamily="34" charset="0"/>
                <a:cs typeface="Arial" panose="020B0604020202020204" pitchFamily="34" charset="0"/>
              </a:rPr>
              <a:t>maintain locus of	control and </a:t>
            </a:r>
            <a:r>
              <a:rPr lang="en-GB" sz="2800" dirty="0" smtClean="0">
                <a:latin typeface="Arial" panose="020B0604020202020204" pitchFamily="34" charset="0"/>
                <a:cs typeface="Arial" panose="020B0604020202020204" pitchFamily="34" charset="0"/>
              </a:rPr>
              <a:t>well-being</a:t>
            </a:r>
            <a:endParaRPr lang="en-GB"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9533857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689169"/>
            <a:ext cx="914400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000" dirty="0"/>
              <a:t>Teach </a:t>
            </a:r>
            <a:r>
              <a:rPr lang="en-GB" sz="4000" dirty="0" smtClean="0"/>
              <a:t>all </a:t>
            </a:r>
            <a:r>
              <a:rPr lang="en-GB" sz="4000" dirty="0"/>
              <a:t>students methods of coping with stress and anxiety</a:t>
            </a:r>
            <a:endParaRPr lang="es-ES" sz="4000" dirty="0">
              <a:solidFill>
                <a:schemeClr val="bg1">
                  <a:lumMod val="50000"/>
                </a:schemeClr>
              </a:solidFill>
              <a:latin typeface="Calibri" charset="0"/>
            </a:endParaRPr>
          </a:p>
        </p:txBody>
      </p:sp>
      <p:sp>
        <p:nvSpPr>
          <p:cNvPr id="3" name="Rectangle 2"/>
          <p:cNvSpPr/>
          <p:nvPr/>
        </p:nvSpPr>
        <p:spPr>
          <a:xfrm>
            <a:off x="2286000" y="1883433"/>
            <a:ext cx="4572000" cy="4893647"/>
          </a:xfrm>
          <a:prstGeom prst="rect">
            <a:avLst/>
          </a:prstGeom>
        </p:spPr>
        <p:txBody>
          <a:bodyPr>
            <a:spAutoFit/>
          </a:bodyPr>
          <a:lstStyle/>
          <a:p>
            <a:pPr marL="342900" indent="-342900">
              <a:buFont typeface="Arial" panose="020B0604020202020204" pitchFamily="34" charset="0"/>
              <a:buChar char="•"/>
              <a:defRPr/>
            </a:pPr>
            <a:r>
              <a:rPr lang="en-GB" sz="2400" dirty="0">
                <a:latin typeface="Arial" panose="020B0604020202020204" pitchFamily="34" charset="0"/>
                <a:cs typeface="Arial" panose="020B0604020202020204" pitchFamily="34" charset="0"/>
              </a:rPr>
              <a:t>Diet</a:t>
            </a:r>
          </a:p>
          <a:p>
            <a:pPr marL="342900" indent="-342900">
              <a:buFont typeface="Arial" panose="020B0604020202020204" pitchFamily="34" charset="0"/>
              <a:buChar char="•"/>
              <a:defRPr/>
            </a:pPr>
            <a:r>
              <a:rPr lang="en-GB" sz="2400" dirty="0">
                <a:latin typeface="Arial" panose="020B0604020202020204" pitchFamily="34" charset="0"/>
                <a:cs typeface="Arial" panose="020B0604020202020204" pitchFamily="34" charset="0"/>
              </a:rPr>
              <a:t>Relaxation</a:t>
            </a:r>
          </a:p>
          <a:p>
            <a:pPr marL="342900" indent="-342900">
              <a:buFont typeface="Arial" panose="020B0604020202020204" pitchFamily="34" charset="0"/>
              <a:buChar char="•"/>
              <a:defRPr/>
            </a:pPr>
            <a:r>
              <a:rPr lang="en-GB" sz="2400" dirty="0">
                <a:latin typeface="Arial" panose="020B0604020202020204" pitchFamily="34" charset="0"/>
                <a:cs typeface="Arial" panose="020B0604020202020204" pitchFamily="34" charset="0"/>
              </a:rPr>
              <a:t>Meditation</a:t>
            </a:r>
          </a:p>
          <a:p>
            <a:pPr marL="342900" indent="-342900">
              <a:buFont typeface="Arial" panose="020B0604020202020204" pitchFamily="34" charset="0"/>
              <a:buChar char="•"/>
              <a:defRPr/>
            </a:pPr>
            <a:r>
              <a:rPr lang="en-GB" sz="2400" dirty="0">
                <a:latin typeface="Arial" panose="020B0604020202020204" pitchFamily="34" charset="0"/>
                <a:cs typeface="Arial" panose="020B0604020202020204" pitchFamily="34" charset="0"/>
              </a:rPr>
              <a:t>Time management</a:t>
            </a:r>
          </a:p>
          <a:p>
            <a:pPr marL="342900" indent="-342900">
              <a:buFont typeface="Arial" panose="020B0604020202020204" pitchFamily="34" charset="0"/>
              <a:buChar char="•"/>
              <a:defRPr/>
            </a:pPr>
            <a:r>
              <a:rPr lang="en-GB" sz="2400" dirty="0">
                <a:latin typeface="Arial" panose="020B0604020202020204" pitchFamily="34" charset="0"/>
                <a:cs typeface="Arial" panose="020B0604020202020204" pitchFamily="34" charset="0"/>
              </a:rPr>
              <a:t>Physical exercise</a:t>
            </a:r>
          </a:p>
          <a:p>
            <a:pPr marL="342900" indent="-342900">
              <a:buFont typeface="Arial" panose="020B0604020202020204" pitchFamily="34" charset="0"/>
              <a:buChar char="•"/>
              <a:defRPr/>
            </a:pPr>
            <a:r>
              <a:rPr lang="en-GB" sz="2400" dirty="0">
                <a:latin typeface="Arial" panose="020B0604020202020204" pitchFamily="34" charset="0"/>
                <a:cs typeface="Arial" panose="020B0604020202020204" pitchFamily="34" charset="0"/>
              </a:rPr>
              <a:t>Additional training</a:t>
            </a:r>
          </a:p>
          <a:p>
            <a:pPr marL="342900" indent="-342900">
              <a:buFont typeface="Arial" panose="020B0604020202020204" pitchFamily="34" charset="0"/>
              <a:buChar char="•"/>
              <a:defRPr/>
            </a:pPr>
            <a:r>
              <a:rPr lang="en-GB" sz="2400" dirty="0">
                <a:latin typeface="Arial" panose="020B0604020202020204" pitchFamily="34" charset="0"/>
                <a:cs typeface="Arial" panose="020B0604020202020204" pitchFamily="34" charset="0"/>
              </a:rPr>
              <a:t>Counselling</a:t>
            </a:r>
          </a:p>
          <a:p>
            <a:pPr marL="342900" indent="-342900">
              <a:buFont typeface="Arial" panose="020B0604020202020204" pitchFamily="34" charset="0"/>
              <a:buChar char="•"/>
              <a:defRPr/>
            </a:pPr>
            <a:r>
              <a:rPr lang="en-GB" sz="2400" dirty="0">
                <a:latin typeface="Arial" panose="020B0604020202020204" pitchFamily="34" charset="0"/>
                <a:cs typeface="Arial" panose="020B0604020202020204" pitchFamily="34" charset="0"/>
              </a:rPr>
              <a:t>Reframing</a:t>
            </a:r>
          </a:p>
          <a:p>
            <a:pPr marL="342900" indent="-342900">
              <a:buFont typeface="Arial" panose="020B0604020202020204" pitchFamily="34" charset="0"/>
              <a:buChar char="•"/>
              <a:defRPr/>
            </a:pPr>
            <a:r>
              <a:rPr lang="en-GB" sz="2400" dirty="0">
                <a:latin typeface="Arial" panose="020B0604020202020204" pitchFamily="34" charset="0"/>
                <a:cs typeface="Arial" panose="020B0604020202020204" pitchFamily="34" charset="0"/>
              </a:rPr>
              <a:t>Improving social support networks</a:t>
            </a:r>
          </a:p>
          <a:p>
            <a:pPr marL="342900" indent="-342900">
              <a:buFont typeface="Arial" panose="020B0604020202020204" pitchFamily="34" charset="0"/>
              <a:buChar char="•"/>
              <a:defRPr/>
            </a:pPr>
            <a:r>
              <a:rPr lang="en-GB" sz="2400" dirty="0">
                <a:latin typeface="Arial" panose="020B0604020202020204" pitchFamily="34" charset="0"/>
                <a:cs typeface="Arial" panose="020B0604020202020204" pitchFamily="34" charset="0"/>
              </a:rPr>
              <a:t>Peer support groups</a:t>
            </a:r>
          </a:p>
          <a:p>
            <a:pPr marL="342900" indent="-342900">
              <a:buFont typeface="Arial" panose="020B0604020202020204" pitchFamily="34" charset="0"/>
              <a:buChar char="•"/>
              <a:defRPr/>
            </a:pPr>
            <a:r>
              <a:rPr lang="en-GB" sz="2400" dirty="0">
                <a:latin typeface="Arial" panose="020B0604020202020204" pitchFamily="34" charset="0"/>
                <a:cs typeface="Arial" panose="020B0604020202020204" pitchFamily="34" charset="0"/>
              </a:rPr>
              <a:t>Improved resource allocation</a:t>
            </a:r>
          </a:p>
          <a:p>
            <a:pPr marL="342900" indent="-342900">
              <a:buFont typeface="Arial" panose="020B0604020202020204" pitchFamily="34" charset="0"/>
              <a:buChar char="•"/>
              <a:defRPr/>
            </a:pPr>
            <a:r>
              <a:rPr lang="en-GB" sz="2400" dirty="0">
                <a:latin typeface="Arial" panose="020B0604020202020204" pitchFamily="34" charset="0"/>
                <a:cs typeface="Arial" panose="020B0604020202020204" pitchFamily="34" charset="0"/>
              </a:rPr>
              <a:t>Self-analysis</a:t>
            </a:r>
          </a:p>
        </p:txBody>
      </p:sp>
    </p:spTree>
    <p:extLst>
      <p:ext uri="{BB962C8B-B14F-4D97-AF65-F5344CB8AC3E}">
        <p14:creationId xmlns:p14="http://schemas.microsoft.com/office/powerpoint/2010/main" val="1179161151"/>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805397"/>
            <a:ext cx="9144000"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Thank you for listening and </a:t>
            </a:r>
            <a:r>
              <a:rPr lang="en-GB" sz="4400" dirty="0" smtClean="0"/>
              <a:t>participating</a:t>
            </a:r>
            <a:endParaRPr lang="es-ES" sz="4400" dirty="0">
              <a:solidFill>
                <a:schemeClr val="bg1">
                  <a:lumMod val="50000"/>
                </a:schemeClr>
              </a:solidFill>
              <a:latin typeface="Calibri" charset="0"/>
            </a:endParaRPr>
          </a:p>
        </p:txBody>
      </p:sp>
      <p:pic>
        <p:nvPicPr>
          <p:cNvPr id="7" name="Picture 4" descr="C:\Users\Tina\Pictures\happy children 3.jpg"/>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651000" y="2344738"/>
            <a:ext cx="5842000" cy="3657600"/>
          </a:xfrm>
          <a:noFill/>
        </p:spPr>
      </p:pic>
    </p:spTree>
    <p:extLst>
      <p:ext uri="{BB962C8B-B14F-4D97-AF65-F5344CB8AC3E}">
        <p14:creationId xmlns:p14="http://schemas.microsoft.com/office/powerpoint/2010/main" val="411237735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389</TotalTime>
  <Words>2873</Words>
  <Application>Microsoft Office PowerPoint</Application>
  <PresentationFormat>On-screen Show (4:3)</PresentationFormat>
  <Paragraphs>382</Paragraphs>
  <Slides>50</Slides>
  <Notes>9</Notes>
  <HiddenSlides>0</HiddenSlides>
  <MMClips>0</MMClips>
  <ScaleCrop>false</ScaleCrop>
  <HeadingPairs>
    <vt:vector size="4" baseType="variant">
      <vt:variant>
        <vt:lpstr>Theme</vt:lpstr>
      </vt:variant>
      <vt:variant>
        <vt:i4>1</vt:i4>
      </vt:variant>
      <vt:variant>
        <vt:lpstr>Slide Titles</vt:lpstr>
      </vt:variant>
      <vt:variant>
        <vt:i4>50</vt:i4>
      </vt:variant>
    </vt:vector>
  </HeadingPairs>
  <TitlesOfParts>
    <vt:vector size="5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Aardvark</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Stephen Heath-Smith</dc:creator>
  <cp:lastModifiedBy>localprofile</cp:lastModifiedBy>
  <cp:revision>47</cp:revision>
  <dcterms:created xsi:type="dcterms:W3CDTF">2012-12-28T16:36:22Z</dcterms:created>
  <dcterms:modified xsi:type="dcterms:W3CDTF">2017-01-18T09:17:00Z</dcterms:modified>
</cp:coreProperties>
</file>