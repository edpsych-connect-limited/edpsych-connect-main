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  <p:sldMasterId id="2147483661" r:id="rId3"/>
    <p:sldMasterId id="2147483698" r:id="rId4"/>
  </p:sldMasterIdLst>
  <p:notesMasterIdLst>
    <p:notesMasterId r:id="rId30"/>
  </p:notesMasterIdLst>
  <p:handoutMasterIdLst>
    <p:handoutMasterId r:id="rId31"/>
  </p:handoutMasterIdLst>
  <p:sldIdLst>
    <p:sldId id="341" r:id="rId5"/>
    <p:sldId id="328" r:id="rId6"/>
    <p:sldId id="342" r:id="rId7"/>
    <p:sldId id="343" r:id="rId8"/>
    <p:sldId id="344" r:id="rId9"/>
    <p:sldId id="345" r:id="rId10"/>
    <p:sldId id="346" r:id="rId11"/>
    <p:sldId id="347" r:id="rId12"/>
    <p:sldId id="348" r:id="rId13"/>
    <p:sldId id="349" r:id="rId14"/>
    <p:sldId id="350" r:id="rId15"/>
    <p:sldId id="352" r:id="rId16"/>
    <p:sldId id="353" r:id="rId17"/>
    <p:sldId id="355" r:id="rId18"/>
    <p:sldId id="356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  <p:sldId id="340" r:id="rId29"/>
  </p:sldIdLst>
  <p:sldSz cx="9144000" cy="6858000" type="screen4x3"/>
  <p:notesSz cx="9872663" cy="6742113"/>
  <p:defaultTextStyle>
    <a:defPPr>
      <a:defRPr lang="en-GB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0F87"/>
    <a:srgbClr val="73267A"/>
    <a:srgbClr val="800080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3417" autoAdjust="0"/>
  </p:normalViewPr>
  <p:slideViewPr>
    <p:cSldViewPr>
      <p:cViewPr varScale="1">
        <p:scale>
          <a:sx n="83" d="100"/>
          <a:sy n="83" d="100"/>
        </p:scale>
        <p:origin x="-177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75" d="100"/>
          <a:sy n="75" d="100"/>
        </p:scale>
        <p:origin x="-2592" y="378"/>
      </p:cViewPr>
      <p:guideLst>
        <p:guide orient="horz" pos="2123"/>
        <p:guide pos="310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95362" y="0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04953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95362" y="6404953"/>
            <a:ext cx="4277301" cy="337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1B90306-3157-4DAC-A9C9-596ACEE7C49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57979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4286600" cy="362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9529" y="1"/>
            <a:ext cx="4286600" cy="362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71838" y="517525"/>
            <a:ext cx="3382962" cy="2536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  <a:ext uri="{FAA26D3D-D897-4be2-8F04-BA451C77F1D7}"/>
          </a:extLst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52929" y="3208981"/>
            <a:ext cx="7220271" cy="3052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17963"/>
            <a:ext cx="4286600" cy="310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9529" y="6417963"/>
            <a:ext cx="4286600" cy="3100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A767768-1694-43CB-8DB9-8C109826B3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23495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192A17BC-41AD-44AE-816B-DC062DEA6D3C}" type="slidenum">
              <a:rPr lang="en-GB" altLang="en-US" smtClean="0"/>
              <a:pPr eaLnBrk="1" hangingPunct="1">
                <a:spcBef>
                  <a:spcPct val="0"/>
                </a:spcBef>
              </a:pPr>
              <a:t>1</a:t>
            </a:fld>
            <a:endParaRPr lang="en-GB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8448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pPr eaLnBrk="1" hangingPunct="1">
              <a:lnSpc>
                <a:spcPct val="90000"/>
              </a:lnSpc>
            </a:pPr>
            <a:endParaRPr lang="en-GB" altLang="en-US" sz="1200" b="1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b="1" dirty="0" smtClean="0">
              <a:latin typeface="Times New Roman" pitchFamily="18" charset="0"/>
            </a:endParaRPr>
          </a:p>
          <a:p>
            <a:endParaRPr lang="en-GB" altLang="en-US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79" name="Rectangle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52425" indent="-228600" eaLnBrk="1" hangingPunct="1">
              <a:spcBef>
                <a:spcPts val="413"/>
              </a:spcBef>
            </a:pPr>
            <a:endParaRPr lang="en-US" altLang="en-US" u="sng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  <a:p>
            <a:pPr marL="352425" indent="-228600" eaLnBrk="1" hangingPunct="1">
              <a:spcBef>
                <a:spcPts val="413"/>
              </a:spcBef>
            </a:pPr>
            <a:endParaRPr lang="en-US" altLang="en-US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  <a:p>
            <a:pPr marL="352425" indent="-228600" eaLnBrk="1" hangingPunct="1">
              <a:spcBef>
                <a:spcPts val="413"/>
              </a:spcBef>
            </a:pPr>
            <a:endParaRPr lang="en-US" altLang="en-US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  <a:p>
            <a:pPr marL="352425" indent="-228600" eaLnBrk="1" hangingPunct="1">
              <a:spcBef>
                <a:spcPts val="413"/>
              </a:spcBef>
              <a:buFontTx/>
              <a:buAutoNum type="arabicPeriod"/>
            </a:pPr>
            <a:endParaRPr lang="en-US" altLang="en-US" dirty="0" smtClean="0">
              <a:solidFill>
                <a:srgbClr val="000000"/>
              </a:solidFill>
              <a:latin typeface="Arial" charset="0"/>
              <a:cs typeface="Arial" charset="0"/>
              <a:sym typeface="Arial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Arial" pitchFamily="34" charset="0"/>
              <a:buChar char="•"/>
            </a:pPr>
            <a:endParaRPr lang="en-GB" altLang="en-US" b="0" baseline="0" dirty="0" smtClean="0">
              <a:latin typeface="Times New Roman" pitchFamily="18" charset="0"/>
            </a:endParaRPr>
          </a:p>
          <a:p>
            <a:pPr>
              <a:buFont typeface="Arial" pitchFamily="34" charset="0"/>
              <a:buNone/>
            </a:pPr>
            <a:endParaRPr lang="en-GB" altLang="en-US" b="0" baseline="0" dirty="0" smtClean="0">
              <a:latin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GB" altLang="en-US" b="0" baseline="0" dirty="0" smtClean="0">
              <a:latin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endParaRPr lang="en-GB" altLang="en-US" b="0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en-GB" altLang="en-US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Arial" pitchFamily="34" charset="0"/>
              <a:buChar char="•"/>
            </a:pPr>
            <a:endParaRPr lang="en-GB" altLang="en-US" b="0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z="1000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b="1" baseline="0" dirty="0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en-US" dirty="0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4958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5" name="Picture 3" descr="RBWM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mtClean="0"/>
            </a:lvl1pPr>
          </a:lstStyle>
          <a:p>
            <a:pPr lvl="0"/>
            <a:r>
              <a:rPr lang="en-GB" noProof="0" smtClean="0"/>
              <a:t>Click to edit Master title style</a:t>
            </a:r>
          </a:p>
        </p:txBody>
      </p:sp>
      <p:sp>
        <p:nvSpPr>
          <p:cNvPr id="7680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smtClean="0"/>
            </a:lvl1pPr>
          </a:lstStyle>
          <a:p>
            <a:pPr lvl="0"/>
            <a:r>
              <a:rPr lang="en-GB" noProof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02736697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32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5" name="Picture 3" descr="RBWM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886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65215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826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6F4003C-6738-41FC-BD70-AFBCE629531F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D8854724-4FFB-415E-BBC6-2B7B0C02FD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0756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3" name="Picture 3" descr="RBWM 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8F897936-E795-4A52-BB7D-A42C4541CC71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873F35B5-BBFA-4553-9578-0B3BCDFBFFA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4454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6E7A34B-FD5E-4F5A-B0F7-A015E01D7F83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18BB7CEF-913A-4CD2-BCDB-CEFECA428A2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59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6519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02357B16-948E-4B4A-900D-38F428561B15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6997A6F1-171F-4AF8-97F5-1636272C91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666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CA572428-9FAC-4324-9994-55C8D94D3425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FEE0D5A8-55DD-4B37-923E-F5B356956D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1789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B2C003A3-ECE7-451A-A269-EC3993D07DC1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659563" y="6237288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2E938A0A-4712-4445-A12D-E3A42BB07F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6377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 rtlCol="0">
            <a:normAutofit/>
          </a:bodyPr>
          <a:lstStyle/>
          <a:p>
            <a:pPr lvl="0"/>
            <a:endParaRPr lang="en-GB" noProof="0" smtClean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531225" y="5648325"/>
            <a:ext cx="549275" cy="396875"/>
          </a:xfrm>
          <a:prstGeom prst="bracketPair">
            <a:avLst>
              <a:gd name="adj" fmla="val 17949"/>
            </a:avLst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6E78F-C0B2-42DC-B52F-A67248C346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7587456" y="4048919"/>
            <a:ext cx="2366963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2"/>
          </p:nvPr>
        </p:nvSpPr>
        <p:spPr>
          <a:xfrm rot="16200000">
            <a:off x="7551738" y="1646237"/>
            <a:ext cx="24384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FE0E66-93CD-475A-8B3A-E7E92DE6E255}" type="datetimeFigureOut">
              <a:rPr lang="en-US"/>
              <a:pPr>
                <a:defRPr/>
              </a:pPr>
              <a:t>6/22/2017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3276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A5168-D90F-49C0-A2E7-11A2C1B3DCBC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28CF26-C294-4E99-A965-541338BCD37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9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041A03-9E4F-4A28-BA3C-3E710AC50BFB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C8A12-96ED-4E9C-98E7-9A79975CB8E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743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967D6E-5AC9-4AE8-B48F-7966E1C96FA1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C7B07B-B092-419F-8487-9BC78B49CB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07334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DA920B-EA4B-4F36-A89A-5B9321645AC6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115315-7ABB-42D4-8681-04AF0B8A40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3498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2A2316-72AC-4317-B2B9-0F141537F0F1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C61D97-E701-4210-832C-56C8BF5145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0073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C3D48B-1A0B-45F1-B9CA-9EC17A365BED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6F801-FE17-46A8-92DF-3FFA59D64D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4152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5D781D-EE82-4E6C-B265-C1E2BE85CBEB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500BD9-FFAA-48B2-9D64-DA569C62C8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9587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174833-F6D9-4513-80F4-C51AC573DD52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5E664D-6DC6-47FE-A53E-8D5B344DF54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45063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32145-82AB-492B-8153-BFBD18891961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792398-66EC-4867-8AC3-F782C66F70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47239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2A705-5530-440E-94CF-9E69BC320A08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D7D41-3D4E-4161-9304-9E4DE0E7BE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11516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2BE5CA-3623-426B-B9FD-A1AD5C87A381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597432-9985-4F80-9ADA-01A5F9BC7C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48152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FA3326-ADAE-4A4F-9C14-8B2AD3F4DD9F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11C263-FA8D-4220-8D82-93A79A09BEB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2338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2018A1-CE7A-4EFE-A1D4-AFBB7FD2CB9B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2A6B35-EF06-4B1D-96FC-BE5C5D1AB5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98343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B67B7B-6D7F-49B7-88E8-AFC6711841A2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FB2707-D584-471B-B06E-23B2860141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0829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303D1A-B352-42F9-9844-328503C0CF1C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66A04E-0D32-4A03-9112-3A44FC6113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97348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11C94B-CF08-4F87-A4A1-B0DD84FF0D79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407A66-73FB-4060-BEA6-A6CA3616EE5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00704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FF19E-D1CE-4D5E-94B8-E8CF1A039C01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B44138-8C0D-4525-B818-B9C3642F6C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94265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198C75-5C06-4C85-9C1B-DF880317BB23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7F2BF4-4BBA-42BD-A6CE-204306C3BA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2888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0AA59E-A2AF-4EE3-9BDA-235EB643313B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93314F-FF5D-4CBF-9DCD-3F07549EAC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63402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00E10C-C381-49B9-BAB8-9439F88A6E32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68C21-9C5C-41DF-8ABE-9B48E04435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027656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E45DCB-CC29-4A21-AA7D-6F4099201F96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D17F51-91ED-4B19-B9BA-E952C859CC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7936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952F77-9E6D-487C-A038-5B8BB71AAE79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A69DD-0BEF-4114-9F72-8691988F25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2869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D2EB2-9A70-486C-B712-B9E3C1DD3F59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628BC-6046-4E77-8915-D0EA327CFC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7828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706372-AE1A-40CA-84FE-E117B61BDA1C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1B76DB-3FD4-4C1A-A167-9682C68EA1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41299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FDFC35-F16A-4C47-B53F-B3AA9017E29C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80F22C-EE71-4077-BA54-1649DFD2D4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39329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FB59BB-41EC-458D-9EC3-A3AC830CDAC5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BC957-EFF2-49EE-84AB-13DAB76A79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421260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F4B5C6-E0FA-49CE-ACC6-5AC53DE16082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F3343B-380D-4B39-912A-4AF97353837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9323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6A9273-9151-4102-BC1A-6ABD478EA0DE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0D7A55-1825-42F5-8424-2F8D914ED2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80553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EBED48-AAA2-4476-B00C-B774E4469265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09C51E-3EB4-4A6C-B489-3E348F82F8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8472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099084-5C7F-4CF5-9AE8-F3AA8F0EA9F9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A269E3-5176-4669-8431-5AAACA4E05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323547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29C012-FA62-4961-8411-9D683412FB31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09C71E-CDEE-41F3-A492-2FE32C4122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09695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89AD61-A90F-465D-8026-FC0E4A3B1483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C16109-EE3E-4DE0-9E43-EEB19D7604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5754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DD5F20-7925-44B9-8963-05167227A927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103D39-E6B5-4825-82B7-1F236515E50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9304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115888"/>
            <a:ext cx="8497887" cy="649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965200"/>
            <a:ext cx="7632700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1029" name="Picture 3" descr="RBWM logo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21" r:id="rId1"/>
    <p:sldLayoutId id="2147484084" r:id="rId2"/>
    <p:sldLayoutId id="2147484122" r:id="rId3"/>
    <p:sldLayoutId id="2147484085" r:id="rId4"/>
    <p:sldLayoutId id="2147484086" r:id="rId5"/>
    <p:sldLayoutId id="2147484123" r:id="rId6"/>
    <p:sldLayoutId id="2147484124" r:id="rId7"/>
    <p:sldLayoutId id="2147484125" r:id="rId8"/>
    <p:sldLayoutId id="2147484087" r:id="rId9"/>
    <p:sldLayoutId id="2147484126" r:id="rId10"/>
    <p:sldLayoutId id="2147484127" r:id="rId11"/>
    <p:sldLayoutId id="2147484128" r:id="rId12"/>
    <p:sldLayoutId id="2147484130" r:id="rId13"/>
  </p:sldLayoutIdLs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MS PGothic" pitchFamily="34" charset="-128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j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j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GB" altLang="en-US" smtClean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GB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DDBA0D3-6193-4E0F-B453-77F65E8EBCD8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146901C-12B1-40DD-8DBE-C2246E1630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2055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2056" name="Picture 3" descr="RBWM 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  <p:sldLayoutId id="2147484093" r:id="rId6"/>
    <p:sldLayoutId id="2147484094" r:id="rId7"/>
    <p:sldLayoutId id="2147484095" r:id="rId8"/>
    <p:sldLayoutId id="2147484096" r:id="rId9"/>
    <p:sldLayoutId id="2147484097" r:id="rId10"/>
    <p:sldLayoutId id="2147484098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GB" altLang="en-US" smtClean="0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GB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C8DF5DC-1168-47BE-8B87-FD4A316C87A3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EA2DB17-9047-46F4-B9BC-DE8C9637BF1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3079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3080" name="Picture 3" descr="RBWM 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99" r:id="rId1"/>
    <p:sldLayoutId id="2147484100" r:id="rId2"/>
    <p:sldLayoutId id="2147484101" r:id="rId3"/>
    <p:sldLayoutId id="2147484102" r:id="rId4"/>
    <p:sldLayoutId id="2147484103" r:id="rId5"/>
    <p:sldLayoutId id="2147484104" r:id="rId6"/>
    <p:sldLayoutId id="2147484105" r:id="rId7"/>
    <p:sldLayoutId id="2147484106" r:id="rId8"/>
    <p:sldLayoutId id="2147484107" r:id="rId9"/>
    <p:sldLayoutId id="2147484108" r:id="rId10"/>
    <p:sldLayoutId id="214748410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78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400"/>
            </a:lvl1pPr>
          </a:lstStyle>
          <a:p>
            <a:pPr>
              <a:defRPr/>
            </a:pPr>
            <a:fld id="{AADBC27B-261C-4C33-B4C1-9E91175A41A9}" type="datetime1">
              <a:rPr lang="en-GB"/>
              <a:pPr>
                <a:defRPr/>
              </a:pPr>
              <a:t>22/06/2017</a:t>
            </a:fld>
            <a:endParaRPr lang="en-GB"/>
          </a:p>
        </p:txBody>
      </p:sp>
      <p:sp>
        <p:nvSpPr>
          <p:cNvPr id="778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78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pPr>
              <a:defRPr/>
            </a:pPr>
            <a:fld id="{1660B6F1-E469-40FE-8825-5EE89E5F356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4103" name="Rectangle 7"/>
          <p:cNvSpPr>
            <a:spLocks noChangeArrowheads="1"/>
          </p:cNvSpPr>
          <p:nvPr userDrawn="1"/>
        </p:nvSpPr>
        <p:spPr bwMode="auto">
          <a:xfrm>
            <a:off x="250825" y="6237288"/>
            <a:ext cx="7777163" cy="144462"/>
          </a:xfrm>
          <a:prstGeom prst="rect">
            <a:avLst/>
          </a:prstGeom>
          <a:solidFill>
            <a:srgbClr val="7326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pic>
        <p:nvPicPr>
          <p:cNvPr id="4104" name="Picture 3" descr="RBWM logo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775" y="5229225"/>
            <a:ext cx="749300" cy="114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0" r:id="rId1"/>
    <p:sldLayoutId id="2147484111" r:id="rId2"/>
    <p:sldLayoutId id="2147484112" r:id="rId3"/>
    <p:sldLayoutId id="2147484113" r:id="rId4"/>
    <p:sldLayoutId id="2147484114" r:id="rId5"/>
    <p:sldLayoutId id="2147484115" r:id="rId6"/>
    <p:sldLayoutId id="2147484116" r:id="rId7"/>
    <p:sldLayoutId id="2147484117" r:id="rId8"/>
    <p:sldLayoutId id="2147484118" r:id="rId9"/>
    <p:sldLayoutId id="2147484119" r:id="rId10"/>
    <p:sldLayoutId id="2147484120" r:id="rId11"/>
  </p:sldLayoutIdLs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MS PGothic" pitchFamily="34" charset="-128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  <a:ea typeface="MS PGothic" pitchFamily="34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johnandgwyn.co.uk/probe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4" descr="blocksrgb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64" y="4510608"/>
            <a:ext cx="2447297" cy="1726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5"/>
          <p:cNvSpPr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</p:txBody>
      </p:sp>
      <p:sp>
        <p:nvSpPr>
          <p:cNvPr id="3076" name="Text Box 6"/>
          <p:cNvSpPr txBox="1">
            <a:spLocks noChangeArrowheads="1"/>
          </p:cNvSpPr>
          <p:nvPr/>
        </p:nvSpPr>
        <p:spPr bwMode="auto">
          <a:xfrm>
            <a:off x="0" y="125413"/>
            <a:ext cx="9144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chemeClr val="bg1"/>
                </a:solidFill>
                <a:latin typeface="Arial Black" pitchFamily="34" charset="0"/>
                <a:ea typeface="ＭＳ Ｐゴシック" pitchFamily="110" charset="-128"/>
              </a:rPr>
              <a:t>E D U C T I O N A L   P S Y C H O L O G Y   S E R V I C E</a:t>
            </a:r>
          </a:p>
        </p:txBody>
      </p:sp>
      <p:sp>
        <p:nvSpPr>
          <p:cNvPr id="3078" name="Text Box 8"/>
          <p:cNvSpPr txBox="1">
            <a:spLocks noChangeArrowheads="1"/>
          </p:cNvSpPr>
          <p:nvPr/>
        </p:nvSpPr>
        <p:spPr bwMode="auto">
          <a:xfrm>
            <a:off x="637073" y="666736"/>
            <a:ext cx="7704856" cy="4216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4000" b="1" u="sng" dirty="0" smtClean="0">
                <a:ea typeface="ＭＳ Ｐゴシック" pitchFamily="110" charset="-128"/>
              </a:rPr>
              <a:t>Precision Teaching: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200" b="1" dirty="0" smtClean="0">
                <a:ea typeface="ＭＳ Ｐゴシック" pitchFamily="110" charset="-128"/>
              </a:rPr>
              <a:t>An Introduction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 b="1" dirty="0">
              <a:ea typeface="ＭＳ Ｐゴシック" pitchFamily="110" charset="-128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 smtClean="0">
                <a:ea typeface="ＭＳ Ｐゴシック" pitchFamily="110" charset="-128"/>
              </a:rPr>
              <a:t>Cookham Dean</a:t>
            </a:r>
            <a:endParaRPr lang="en-US" altLang="en-US" sz="2400" dirty="0" smtClean="0">
              <a:ea typeface="ＭＳ Ｐゴシック" pitchFamily="110" charset="-128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 dirty="0">
              <a:ea typeface="ＭＳ Ｐゴシック" pitchFamily="110" charset="-128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>
                <a:ea typeface="ＭＳ Ｐゴシック" pitchFamily="110" charset="-128"/>
              </a:rPr>
              <a:t>Scott </a:t>
            </a:r>
            <a:r>
              <a:rPr lang="en-US" altLang="en-US" sz="2400" dirty="0" smtClean="0">
                <a:ea typeface="ＭＳ Ｐゴシック" pitchFamily="110" charset="-128"/>
              </a:rPr>
              <a:t>I-Patrick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dirty="0" smtClean="0">
                <a:ea typeface="ＭＳ Ｐゴシック" pitchFamily="110" charset="-128"/>
              </a:rPr>
              <a:t>Tuesday </a:t>
            </a:r>
            <a:r>
              <a:rPr lang="en-US" altLang="en-US" sz="2400" dirty="0" smtClean="0">
                <a:ea typeface="ＭＳ Ｐゴシック" pitchFamily="110" charset="-128"/>
              </a:rPr>
              <a:t>22</a:t>
            </a:r>
            <a:r>
              <a:rPr lang="en-US" altLang="en-US" sz="2400" baseline="30000" dirty="0" smtClean="0">
                <a:ea typeface="ＭＳ Ｐゴシック" pitchFamily="110" charset="-128"/>
              </a:rPr>
              <a:t>nd</a:t>
            </a:r>
            <a:r>
              <a:rPr lang="en-US" altLang="en-US" sz="2400" dirty="0" smtClean="0">
                <a:ea typeface="ＭＳ Ｐゴシック" pitchFamily="110" charset="-128"/>
              </a:rPr>
              <a:t> June </a:t>
            </a:r>
            <a:r>
              <a:rPr lang="en-US" altLang="en-US" sz="2400" dirty="0" smtClean="0">
                <a:ea typeface="ＭＳ Ｐゴシック" pitchFamily="110" charset="-128"/>
              </a:rPr>
              <a:t>2017</a:t>
            </a:r>
            <a:endParaRPr lang="en-US" altLang="en-US" sz="2400" dirty="0">
              <a:ea typeface="ＭＳ Ｐゴシック" pitchFamily="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080431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332656"/>
            <a:ext cx="8497887" cy="649287"/>
          </a:xfrm>
        </p:spPr>
        <p:txBody>
          <a:bodyPr/>
          <a:lstStyle/>
          <a:p>
            <a:pPr algn="ctr" eaLnBrk="1" hangingPunct="1"/>
            <a:r>
              <a:rPr lang="en-GB" altLang="en-US" sz="4000" dirty="0" smtClean="0">
                <a:latin typeface="Arial" charset="0"/>
              </a:rPr>
              <a:t>Session Aim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628800"/>
            <a:ext cx="7632700" cy="4233267"/>
          </a:xfrm>
        </p:spPr>
        <p:txBody>
          <a:bodyPr/>
          <a:lstStyle/>
          <a:p>
            <a:pPr marL="681038" lvl="1" indent="-342900" eaLnBrk="1" hangingPunct="1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sz="2400" dirty="0"/>
              <a:t>Sharing our experiences since the last session</a:t>
            </a:r>
          </a:p>
          <a:p>
            <a:pPr marL="338138" lvl="1" indent="0" eaLnBrk="1" hangingPunct="1">
              <a:lnSpc>
                <a:spcPct val="90000"/>
              </a:lnSpc>
              <a:buNone/>
            </a:pPr>
            <a:endParaRPr lang="en-US" altLang="en-US" sz="2400" dirty="0"/>
          </a:p>
          <a:p>
            <a:pPr marL="681038" lvl="1" indent="-342900" eaLnBrk="1" hangingPunct="1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sz="2400" dirty="0"/>
              <a:t>How do you do PT?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Target setting 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Teaching and probing 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Charting the results with target child</a:t>
            </a:r>
          </a:p>
          <a:p>
            <a:pPr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altLang="en-US" sz="2400" dirty="0"/>
              <a:t>Monitoring: Review and adapt the </a:t>
            </a:r>
            <a:r>
              <a:rPr lang="en-US" altLang="en-US" sz="2400" dirty="0" err="1"/>
              <a:t>programme</a:t>
            </a:r>
            <a:r>
              <a:rPr lang="en-US" altLang="en-US" sz="2400" dirty="0"/>
              <a:t> as needed</a:t>
            </a:r>
          </a:p>
          <a:p>
            <a:pPr eaLnBrk="1" hangingPunct="1">
              <a:buFont typeface="Wingdings" pitchFamily="2" charset="2"/>
              <a:buNone/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519583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476250"/>
            <a:ext cx="8569325" cy="1143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4000" dirty="0" smtClean="0"/>
              <a:t>How do I deliver precision monitoring?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773238"/>
            <a:ext cx="8353425" cy="4467225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GB" altLang="en-US" sz="2000" dirty="0" smtClean="0"/>
              <a:t>Identify a specific difficulty and acquire a baseline.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2"/>
            </a:pPr>
            <a:r>
              <a:rPr lang="en-GB" altLang="en-US" sz="2000" dirty="0" smtClean="0"/>
              <a:t>Set a target.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r>
              <a:rPr lang="en-GB" altLang="en-US" sz="2000" dirty="0" smtClean="0"/>
              <a:t>Teaching sessions: short, frequent and target specific.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r>
              <a:rPr lang="en-GB" altLang="en-US" sz="2000" dirty="0" smtClean="0"/>
              <a:t>Monitor child’s daily performance using a probe.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5"/>
            </a:pPr>
            <a:r>
              <a:rPr lang="en-GB" altLang="en-US" sz="2000" dirty="0" smtClean="0"/>
              <a:t>Chart results and make note of teaching methods.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5"/>
            </a:pPr>
            <a:endParaRPr lang="en-GB" altLang="en-US" sz="2000" dirty="0" smtClean="0"/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6"/>
            </a:pPr>
            <a:r>
              <a:rPr lang="en-GB" altLang="en-US" sz="2000" dirty="0" smtClean="0"/>
              <a:t>Analyse the data to determine if a change of target is needed or change in teaching method.</a:t>
            </a:r>
          </a:p>
        </p:txBody>
      </p:sp>
    </p:spTree>
    <p:extLst>
      <p:ext uri="{BB962C8B-B14F-4D97-AF65-F5344CB8AC3E}">
        <p14:creationId xmlns:p14="http://schemas.microsoft.com/office/powerpoint/2010/main" val="2586026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30"/>
          <p:cNvSpPr>
            <a:spLocks noGrp="1"/>
          </p:cNvSpPr>
          <p:nvPr>
            <p:ph type="title" idx="4294967295"/>
          </p:nvPr>
        </p:nvSpPr>
        <p:spPr>
          <a:xfrm>
            <a:off x="0" y="404813"/>
            <a:ext cx="8497888" cy="1143000"/>
          </a:xfrm>
        </p:spPr>
        <p:txBody>
          <a:bodyPr>
            <a:normAutofit/>
          </a:bodyPr>
          <a:lstStyle/>
          <a:p>
            <a:pPr marL="838200" indent="-838200" algn="ctr" eaLnBrk="1" fontAlgn="auto" hangingPunct="1">
              <a:spcAft>
                <a:spcPts val="0"/>
              </a:spcAft>
              <a:defRPr/>
            </a:pPr>
            <a:r>
              <a:rPr lang="en-GB" altLang="en-US" sz="2400" dirty="0" smtClean="0"/>
              <a:t>1</a:t>
            </a:r>
            <a:r>
              <a:rPr lang="en-GB" altLang="en-US" sz="2700" dirty="0" smtClean="0"/>
              <a:t>. Identifying the difficulty </a:t>
            </a:r>
            <a:br>
              <a:rPr lang="en-GB" altLang="en-US" sz="2700" dirty="0" smtClean="0"/>
            </a:br>
            <a:r>
              <a:rPr lang="en-GB" altLang="en-US" sz="2700" dirty="0" smtClean="0"/>
              <a:t>– </a:t>
            </a:r>
            <a:r>
              <a:rPr lang="en-GB" altLang="en-US" sz="2700" dirty="0" smtClean="0"/>
              <a:t>Phase 2 set-1 </a:t>
            </a:r>
            <a:r>
              <a:rPr lang="en-GB" altLang="en-US" sz="2700" dirty="0" smtClean="0"/>
              <a:t>words example</a:t>
            </a:r>
          </a:p>
        </p:txBody>
      </p:sp>
      <p:sp>
        <p:nvSpPr>
          <p:cNvPr id="10243" name="Line 30"/>
          <p:cNvSpPr>
            <a:spLocks noChangeShapeType="1"/>
          </p:cNvSpPr>
          <p:nvPr/>
        </p:nvSpPr>
        <p:spPr bwMode="auto">
          <a:xfrm>
            <a:off x="1331913" y="1557338"/>
            <a:ext cx="6335712" cy="0"/>
          </a:xfrm>
          <a:prstGeom prst="line">
            <a:avLst/>
          </a:prstGeom>
          <a:noFill/>
          <a:ln w="285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44" name="Rectangle 47"/>
          <p:cNvSpPr>
            <a:spLocks noChangeArrowheads="1"/>
          </p:cNvSpPr>
          <p:nvPr/>
        </p:nvSpPr>
        <p:spPr bwMode="auto">
          <a:xfrm>
            <a:off x="827088" y="5241974"/>
            <a:ext cx="777557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/>
            <a:r>
              <a:rPr lang="en-GB" altLang="en-US" sz="1800" dirty="0">
                <a:latin typeface="Arial" pitchFamily="34" charset="0"/>
              </a:rPr>
              <a:t>The child was tested with the 7 phase 2 set-1words to identify the specific difficulties.</a:t>
            </a:r>
          </a:p>
          <a:p>
            <a:pPr algn="l" eaLnBrk="1" hangingPunct="1"/>
            <a:r>
              <a:rPr lang="en-GB" altLang="en-US" sz="1800" dirty="0">
                <a:latin typeface="Arial" pitchFamily="34" charset="0"/>
              </a:rPr>
              <a:t>The child can read 3/7 words.</a:t>
            </a:r>
          </a:p>
          <a:p>
            <a:pPr algn="l" eaLnBrk="1" hangingPunct="1"/>
            <a:r>
              <a:rPr lang="en-GB" altLang="en-US" sz="1800" dirty="0" smtClean="0">
                <a:latin typeface="Arial" pitchFamily="34" charset="0"/>
              </a:rPr>
              <a:t>.</a:t>
            </a:r>
            <a:endParaRPr lang="en-GB" altLang="en-US" sz="1800" dirty="0">
              <a:latin typeface="Arial" pitchFamily="34" charset="0"/>
            </a:endParaRPr>
          </a:p>
        </p:txBody>
      </p:sp>
      <p:grpSp>
        <p:nvGrpSpPr>
          <p:cNvPr id="10245" name="Group 174"/>
          <p:cNvGrpSpPr>
            <a:grpSpLocks/>
          </p:cNvGrpSpPr>
          <p:nvPr/>
        </p:nvGrpSpPr>
        <p:grpSpPr bwMode="auto">
          <a:xfrm>
            <a:off x="1331913" y="1557338"/>
            <a:ext cx="6335712" cy="3600450"/>
            <a:chOff x="839" y="1026"/>
            <a:chExt cx="3991" cy="2268"/>
          </a:xfrm>
        </p:grpSpPr>
        <p:sp>
          <p:nvSpPr>
            <p:cNvPr id="10247" name="Rectangle 64"/>
            <p:cNvSpPr>
              <a:spLocks noChangeArrowheads="1"/>
            </p:cNvSpPr>
            <p:nvPr/>
          </p:nvSpPr>
          <p:spPr bwMode="auto">
            <a:xfrm>
              <a:off x="839" y="1026"/>
              <a:ext cx="1298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at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48" name="Rectangle 65"/>
            <p:cNvSpPr>
              <a:spLocks noChangeArrowheads="1"/>
            </p:cNvSpPr>
            <p:nvPr/>
          </p:nvSpPr>
          <p:spPr bwMode="auto">
            <a:xfrm>
              <a:off x="2137" y="1026"/>
              <a:ext cx="1267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sat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49" name="Rectangle 66"/>
            <p:cNvSpPr>
              <a:spLocks noChangeArrowheads="1"/>
            </p:cNvSpPr>
            <p:nvPr/>
          </p:nvSpPr>
          <p:spPr bwMode="auto">
            <a:xfrm>
              <a:off x="3404" y="1026"/>
              <a:ext cx="1426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pat</a:t>
              </a:r>
              <a:endParaRPr lang="en-GB" altLang="en-US" sz="2800" dirty="0"/>
            </a:p>
          </p:txBody>
        </p:sp>
        <p:sp>
          <p:nvSpPr>
            <p:cNvPr id="10250" name="Rectangle 67"/>
            <p:cNvSpPr>
              <a:spLocks noChangeArrowheads="1"/>
            </p:cNvSpPr>
            <p:nvPr/>
          </p:nvSpPr>
          <p:spPr bwMode="auto">
            <a:xfrm>
              <a:off x="839" y="1396"/>
              <a:ext cx="1298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tap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51" name="Rectangle 68"/>
            <p:cNvSpPr>
              <a:spLocks noChangeArrowheads="1"/>
            </p:cNvSpPr>
            <p:nvPr/>
          </p:nvSpPr>
          <p:spPr bwMode="auto">
            <a:xfrm>
              <a:off x="2137" y="1396"/>
              <a:ext cx="1267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a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52" name="Rectangle 69"/>
            <p:cNvSpPr>
              <a:spLocks noChangeArrowheads="1"/>
            </p:cNvSpPr>
            <p:nvPr/>
          </p:nvSpPr>
          <p:spPr bwMode="auto">
            <a:xfrm>
              <a:off x="3404" y="1396"/>
              <a:ext cx="1426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as</a:t>
              </a:r>
              <a:endParaRPr lang="en-GB" altLang="en-US" sz="2800" dirty="0"/>
            </a:p>
          </p:txBody>
        </p:sp>
        <p:sp>
          <p:nvSpPr>
            <p:cNvPr id="10253" name="Rectangle 70"/>
            <p:cNvSpPr>
              <a:spLocks noChangeArrowheads="1"/>
            </p:cNvSpPr>
            <p:nvPr/>
          </p:nvSpPr>
          <p:spPr bwMode="auto">
            <a:xfrm>
              <a:off x="839" y="1775"/>
              <a:ext cx="1298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sat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54" name="Rectangle 71"/>
            <p:cNvSpPr>
              <a:spLocks noChangeArrowheads="1"/>
            </p:cNvSpPr>
            <p:nvPr/>
          </p:nvSpPr>
          <p:spPr bwMode="auto">
            <a:xfrm>
              <a:off x="2137" y="1775"/>
              <a:ext cx="1267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pat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55" name="Rectangle 72"/>
            <p:cNvSpPr>
              <a:spLocks noChangeArrowheads="1"/>
            </p:cNvSpPr>
            <p:nvPr/>
          </p:nvSpPr>
          <p:spPr bwMode="auto">
            <a:xfrm>
              <a:off x="3404" y="1775"/>
              <a:ext cx="1426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sat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56" name="Rectangle 73"/>
            <p:cNvSpPr>
              <a:spLocks noChangeArrowheads="1"/>
            </p:cNvSpPr>
            <p:nvPr/>
          </p:nvSpPr>
          <p:spPr bwMode="auto">
            <a:xfrm>
              <a:off x="839" y="2155"/>
              <a:ext cx="1298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sap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57" name="Rectangle 74"/>
            <p:cNvSpPr>
              <a:spLocks noChangeArrowheads="1"/>
            </p:cNvSpPr>
            <p:nvPr/>
          </p:nvSpPr>
          <p:spPr bwMode="auto">
            <a:xfrm>
              <a:off x="2137" y="2155"/>
              <a:ext cx="1267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as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58" name="Rectangle 75"/>
            <p:cNvSpPr>
              <a:spLocks noChangeArrowheads="1"/>
            </p:cNvSpPr>
            <p:nvPr/>
          </p:nvSpPr>
          <p:spPr bwMode="auto">
            <a:xfrm>
              <a:off x="3404" y="2155"/>
              <a:ext cx="1426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sat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59" name="Rectangle 76"/>
            <p:cNvSpPr>
              <a:spLocks noChangeArrowheads="1"/>
            </p:cNvSpPr>
            <p:nvPr/>
          </p:nvSpPr>
          <p:spPr bwMode="auto">
            <a:xfrm>
              <a:off x="839" y="2535"/>
              <a:ext cx="1298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Arial" pitchFamily="34" charset="0"/>
                </a:rPr>
                <a:t>at</a:t>
              </a:r>
              <a:endParaRPr lang="en-GB" altLang="en-US" sz="2800" dirty="0">
                <a:latin typeface="Arial" pitchFamily="34" charset="0"/>
              </a:endParaRPr>
            </a:p>
          </p:txBody>
        </p:sp>
        <p:sp>
          <p:nvSpPr>
            <p:cNvPr id="10260" name="Rectangle 77"/>
            <p:cNvSpPr>
              <a:spLocks noChangeArrowheads="1"/>
            </p:cNvSpPr>
            <p:nvPr/>
          </p:nvSpPr>
          <p:spPr bwMode="auto">
            <a:xfrm>
              <a:off x="2137" y="2535"/>
              <a:ext cx="1267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61" name="Rectangle 78"/>
            <p:cNvSpPr>
              <a:spLocks noChangeArrowheads="1"/>
            </p:cNvSpPr>
            <p:nvPr/>
          </p:nvSpPr>
          <p:spPr bwMode="auto">
            <a:xfrm>
              <a:off x="3404" y="2535"/>
              <a:ext cx="1426" cy="3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a</a:t>
              </a:r>
              <a:endParaRPr lang="en-GB" altLang="en-US" sz="2800" dirty="0"/>
            </a:p>
          </p:txBody>
        </p:sp>
        <p:sp>
          <p:nvSpPr>
            <p:cNvPr id="10262" name="Rectangle 79"/>
            <p:cNvSpPr>
              <a:spLocks noChangeArrowheads="1"/>
            </p:cNvSpPr>
            <p:nvPr/>
          </p:nvSpPr>
          <p:spPr bwMode="auto">
            <a:xfrm>
              <a:off x="839" y="2915"/>
              <a:ext cx="1298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sat</a:t>
              </a:r>
              <a:endParaRPr lang="en-GB" altLang="en-US" sz="2800" dirty="0"/>
            </a:p>
          </p:txBody>
        </p:sp>
        <p:sp>
          <p:nvSpPr>
            <p:cNvPr id="10263" name="Rectangle 80"/>
            <p:cNvSpPr>
              <a:spLocks noChangeArrowheads="1"/>
            </p:cNvSpPr>
            <p:nvPr/>
          </p:nvSpPr>
          <p:spPr bwMode="auto">
            <a:xfrm>
              <a:off x="2137" y="2915"/>
              <a:ext cx="1267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pat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64" name="Rectangle 81"/>
            <p:cNvSpPr>
              <a:spLocks noChangeArrowheads="1"/>
            </p:cNvSpPr>
            <p:nvPr/>
          </p:nvSpPr>
          <p:spPr bwMode="auto">
            <a:xfrm>
              <a:off x="3404" y="2915"/>
              <a:ext cx="1426" cy="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060" rIns="99060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2800" dirty="0" smtClean="0">
                  <a:latin typeface="MSTT31c525"/>
                </a:rPr>
                <a:t>as</a:t>
              </a:r>
              <a:endParaRPr lang="en-GB" altLang="en-US" sz="2800" dirty="0">
                <a:latin typeface="MSTT31c525"/>
              </a:endParaRPr>
            </a:p>
          </p:txBody>
        </p:sp>
        <p:sp>
          <p:nvSpPr>
            <p:cNvPr id="10265" name="Line 82"/>
            <p:cNvSpPr>
              <a:spLocks noChangeShapeType="1"/>
            </p:cNvSpPr>
            <p:nvPr/>
          </p:nvSpPr>
          <p:spPr bwMode="auto">
            <a:xfrm>
              <a:off x="2137" y="1026"/>
              <a:ext cx="0" cy="226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6" name="Line 83"/>
            <p:cNvSpPr>
              <a:spLocks noChangeShapeType="1"/>
            </p:cNvSpPr>
            <p:nvPr/>
          </p:nvSpPr>
          <p:spPr bwMode="auto">
            <a:xfrm>
              <a:off x="3404" y="1026"/>
              <a:ext cx="0" cy="226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7" name="Line 84"/>
            <p:cNvSpPr>
              <a:spLocks noChangeShapeType="1"/>
            </p:cNvSpPr>
            <p:nvPr/>
          </p:nvSpPr>
          <p:spPr bwMode="auto">
            <a:xfrm>
              <a:off x="839" y="1396"/>
              <a:ext cx="3991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8" name="Line 85"/>
            <p:cNvSpPr>
              <a:spLocks noChangeShapeType="1"/>
            </p:cNvSpPr>
            <p:nvPr/>
          </p:nvSpPr>
          <p:spPr bwMode="auto">
            <a:xfrm>
              <a:off x="839" y="1775"/>
              <a:ext cx="3991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69" name="Line 86"/>
            <p:cNvSpPr>
              <a:spLocks noChangeShapeType="1"/>
            </p:cNvSpPr>
            <p:nvPr/>
          </p:nvSpPr>
          <p:spPr bwMode="auto">
            <a:xfrm>
              <a:off x="839" y="2155"/>
              <a:ext cx="3991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70" name="Line 87"/>
            <p:cNvSpPr>
              <a:spLocks noChangeShapeType="1"/>
            </p:cNvSpPr>
            <p:nvPr/>
          </p:nvSpPr>
          <p:spPr bwMode="auto">
            <a:xfrm>
              <a:off x="839" y="2535"/>
              <a:ext cx="3991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71" name="Line 88"/>
            <p:cNvSpPr>
              <a:spLocks noChangeShapeType="1"/>
            </p:cNvSpPr>
            <p:nvPr/>
          </p:nvSpPr>
          <p:spPr bwMode="auto">
            <a:xfrm>
              <a:off x="839" y="2915"/>
              <a:ext cx="3991" cy="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72" name="Line 89"/>
            <p:cNvSpPr>
              <a:spLocks noChangeShapeType="1"/>
            </p:cNvSpPr>
            <p:nvPr/>
          </p:nvSpPr>
          <p:spPr bwMode="auto">
            <a:xfrm>
              <a:off x="839" y="1026"/>
              <a:ext cx="0" cy="2268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73" name="Line 90"/>
            <p:cNvSpPr>
              <a:spLocks noChangeShapeType="1"/>
            </p:cNvSpPr>
            <p:nvPr/>
          </p:nvSpPr>
          <p:spPr bwMode="auto">
            <a:xfrm>
              <a:off x="4830" y="1026"/>
              <a:ext cx="0" cy="2268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74" name="Line 92"/>
            <p:cNvSpPr>
              <a:spLocks noChangeShapeType="1"/>
            </p:cNvSpPr>
            <p:nvPr/>
          </p:nvSpPr>
          <p:spPr bwMode="auto">
            <a:xfrm>
              <a:off x="839" y="3294"/>
              <a:ext cx="3991" cy="0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275" name="Line 1059"/>
            <p:cNvSpPr>
              <a:spLocks noChangeShapeType="1"/>
            </p:cNvSpPr>
            <p:nvPr/>
          </p:nvSpPr>
          <p:spPr bwMode="auto">
            <a:xfrm flipH="1">
              <a:off x="1689" y="1154"/>
              <a:ext cx="305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0276" name="Line 1060"/>
            <p:cNvSpPr>
              <a:spLocks noChangeShapeType="1"/>
            </p:cNvSpPr>
            <p:nvPr/>
          </p:nvSpPr>
          <p:spPr bwMode="auto">
            <a:xfrm flipH="1" flipV="1">
              <a:off x="1638" y="1200"/>
              <a:ext cx="51" cy="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0277" name="Line 1062"/>
            <p:cNvSpPr>
              <a:spLocks noChangeShapeType="1"/>
            </p:cNvSpPr>
            <p:nvPr/>
          </p:nvSpPr>
          <p:spPr bwMode="auto">
            <a:xfrm flipH="1">
              <a:off x="3012" y="1539"/>
              <a:ext cx="305" cy="136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0278" name="Line 1063"/>
            <p:cNvSpPr>
              <a:spLocks noChangeShapeType="1"/>
            </p:cNvSpPr>
            <p:nvPr/>
          </p:nvSpPr>
          <p:spPr bwMode="auto">
            <a:xfrm flipH="1" flipV="1">
              <a:off x="2967" y="1582"/>
              <a:ext cx="51" cy="9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10279" name="Group 97"/>
            <p:cNvGrpSpPr>
              <a:grpSpLocks/>
            </p:cNvGrpSpPr>
            <p:nvPr/>
          </p:nvGrpSpPr>
          <p:grpSpPr bwMode="auto">
            <a:xfrm>
              <a:off x="1638" y="2695"/>
              <a:ext cx="356" cy="136"/>
              <a:chOff x="1565" y="3117"/>
              <a:chExt cx="364" cy="144"/>
            </a:xfrm>
          </p:grpSpPr>
          <p:sp>
            <p:nvSpPr>
              <p:cNvPr id="10298" name="Line 1065"/>
              <p:cNvSpPr>
                <a:spLocks noChangeShapeType="1"/>
              </p:cNvSpPr>
              <p:nvPr/>
            </p:nvSpPr>
            <p:spPr bwMode="auto">
              <a:xfrm flipH="1">
                <a:off x="1617" y="3117"/>
                <a:ext cx="312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0299" name="Line 1066"/>
              <p:cNvSpPr>
                <a:spLocks noChangeShapeType="1"/>
              </p:cNvSpPr>
              <p:nvPr/>
            </p:nvSpPr>
            <p:spPr bwMode="auto">
              <a:xfrm flipH="1" flipV="1">
                <a:off x="1565" y="3165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10280" name="Oval 1067"/>
            <p:cNvSpPr>
              <a:spLocks noChangeArrowheads="1"/>
            </p:cNvSpPr>
            <p:nvPr/>
          </p:nvSpPr>
          <p:spPr bwMode="auto">
            <a:xfrm>
              <a:off x="1771" y="1582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81" name="Oval 1068"/>
            <p:cNvSpPr>
              <a:spLocks noChangeArrowheads="1"/>
            </p:cNvSpPr>
            <p:nvPr/>
          </p:nvSpPr>
          <p:spPr bwMode="auto">
            <a:xfrm>
              <a:off x="4422" y="1570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82" name="Oval 1069"/>
            <p:cNvSpPr>
              <a:spLocks noChangeArrowheads="1"/>
            </p:cNvSpPr>
            <p:nvPr/>
          </p:nvSpPr>
          <p:spPr bwMode="auto">
            <a:xfrm>
              <a:off x="4431" y="1968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83" name="Oval 1070"/>
            <p:cNvSpPr>
              <a:spLocks noChangeArrowheads="1"/>
            </p:cNvSpPr>
            <p:nvPr/>
          </p:nvSpPr>
          <p:spPr bwMode="auto">
            <a:xfrm>
              <a:off x="3100" y="2737"/>
              <a:ext cx="51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 dirty="0">
                <a:latin typeface="Calibri" pitchFamily="34" charset="0"/>
              </a:endParaRPr>
            </a:p>
          </p:txBody>
        </p:sp>
        <p:sp>
          <p:nvSpPr>
            <p:cNvPr id="10284" name="Oval 1071"/>
            <p:cNvSpPr>
              <a:spLocks noChangeArrowheads="1"/>
            </p:cNvSpPr>
            <p:nvPr/>
          </p:nvSpPr>
          <p:spPr bwMode="auto">
            <a:xfrm>
              <a:off x="1771" y="3122"/>
              <a:ext cx="51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85" name="Oval 1072"/>
            <p:cNvSpPr>
              <a:spLocks noChangeArrowheads="1"/>
            </p:cNvSpPr>
            <p:nvPr/>
          </p:nvSpPr>
          <p:spPr bwMode="auto">
            <a:xfrm>
              <a:off x="4476" y="3122"/>
              <a:ext cx="51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86" name="Oval 1073"/>
            <p:cNvSpPr>
              <a:spLocks noChangeArrowheads="1"/>
            </p:cNvSpPr>
            <p:nvPr/>
          </p:nvSpPr>
          <p:spPr bwMode="auto">
            <a:xfrm>
              <a:off x="3100" y="3122"/>
              <a:ext cx="51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grpSp>
          <p:nvGrpSpPr>
            <p:cNvPr id="10287" name="Group 107"/>
            <p:cNvGrpSpPr>
              <a:grpSpLocks/>
            </p:cNvGrpSpPr>
            <p:nvPr/>
          </p:nvGrpSpPr>
          <p:grpSpPr bwMode="auto">
            <a:xfrm>
              <a:off x="2967" y="2310"/>
              <a:ext cx="356" cy="136"/>
              <a:chOff x="1565" y="3117"/>
              <a:chExt cx="364" cy="144"/>
            </a:xfrm>
          </p:grpSpPr>
          <p:sp>
            <p:nvSpPr>
              <p:cNvPr id="10296" name="Line 1065"/>
              <p:cNvSpPr>
                <a:spLocks noChangeShapeType="1"/>
              </p:cNvSpPr>
              <p:nvPr/>
            </p:nvSpPr>
            <p:spPr bwMode="auto">
              <a:xfrm flipH="1">
                <a:off x="1617" y="3117"/>
                <a:ext cx="312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0297" name="Line 1066"/>
              <p:cNvSpPr>
                <a:spLocks noChangeShapeType="1"/>
              </p:cNvSpPr>
              <p:nvPr/>
            </p:nvSpPr>
            <p:spPr bwMode="auto">
              <a:xfrm flipH="1" flipV="1">
                <a:off x="1565" y="3165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10288" name="Group 110"/>
            <p:cNvGrpSpPr>
              <a:grpSpLocks/>
            </p:cNvGrpSpPr>
            <p:nvPr/>
          </p:nvGrpSpPr>
          <p:grpSpPr bwMode="auto">
            <a:xfrm>
              <a:off x="4298" y="2737"/>
              <a:ext cx="356" cy="136"/>
              <a:chOff x="1565" y="3117"/>
              <a:chExt cx="364" cy="144"/>
            </a:xfrm>
          </p:grpSpPr>
          <p:sp>
            <p:nvSpPr>
              <p:cNvPr id="10294" name="Line 1065"/>
              <p:cNvSpPr>
                <a:spLocks noChangeShapeType="1"/>
              </p:cNvSpPr>
              <p:nvPr/>
            </p:nvSpPr>
            <p:spPr bwMode="auto">
              <a:xfrm flipH="1">
                <a:off x="1617" y="3117"/>
                <a:ext cx="312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0295" name="Line 1066"/>
              <p:cNvSpPr>
                <a:spLocks noChangeShapeType="1"/>
              </p:cNvSpPr>
              <p:nvPr/>
            </p:nvSpPr>
            <p:spPr bwMode="auto">
              <a:xfrm flipH="1" flipV="1">
                <a:off x="1565" y="3165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10289" name="Oval 1070"/>
            <p:cNvSpPr>
              <a:spLocks noChangeArrowheads="1"/>
            </p:cNvSpPr>
            <p:nvPr/>
          </p:nvSpPr>
          <p:spPr bwMode="auto">
            <a:xfrm>
              <a:off x="4422" y="2387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90" name="Oval 1070"/>
            <p:cNvSpPr>
              <a:spLocks noChangeArrowheads="1"/>
            </p:cNvSpPr>
            <p:nvPr/>
          </p:nvSpPr>
          <p:spPr bwMode="auto">
            <a:xfrm>
              <a:off x="1771" y="2352"/>
              <a:ext cx="51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91" name="Oval 1070"/>
            <p:cNvSpPr>
              <a:spLocks noChangeArrowheads="1"/>
            </p:cNvSpPr>
            <p:nvPr/>
          </p:nvSpPr>
          <p:spPr bwMode="auto">
            <a:xfrm>
              <a:off x="1771" y="1968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92" name="Oval 1070"/>
            <p:cNvSpPr>
              <a:spLocks noChangeArrowheads="1"/>
            </p:cNvSpPr>
            <p:nvPr/>
          </p:nvSpPr>
          <p:spPr bwMode="auto">
            <a:xfrm>
              <a:off x="3100" y="1968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0293" name="Oval 1070"/>
            <p:cNvSpPr>
              <a:spLocks noChangeArrowheads="1"/>
            </p:cNvSpPr>
            <p:nvPr/>
          </p:nvSpPr>
          <p:spPr bwMode="auto">
            <a:xfrm>
              <a:off x="3145" y="1240"/>
              <a:ext cx="51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</p:grpSp>
      <p:sp>
        <p:nvSpPr>
          <p:cNvPr id="10246" name="Oval 1070"/>
          <p:cNvSpPr>
            <a:spLocks noChangeArrowheads="1"/>
          </p:cNvSpPr>
          <p:nvPr/>
        </p:nvSpPr>
        <p:spPr bwMode="auto">
          <a:xfrm>
            <a:off x="7019925" y="1916113"/>
            <a:ext cx="80963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GB" altLang="en-US" sz="1800">
              <a:latin typeface="Calibri" pitchFamily="34" charset="0"/>
            </a:endParaRPr>
          </a:p>
        </p:txBody>
      </p:sp>
      <p:sp>
        <p:nvSpPr>
          <p:cNvPr id="60" name="Rectangle 74"/>
          <p:cNvSpPr>
            <a:spLocks noChangeArrowheads="1"/>
          </p:cNvSpPr>
          <p:nvPr/>
        </p:nvSpPr>
        <p:spPr bwMode="auto">
          <a:xfrm>
            <a:off x="3347864" y="3933056"/>
            <a:ext cx="2011362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60" rIns="99060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altLang="en-US" sz="2800" dirty="0" smtClean="0">
                <a:latin typeface="MSTT31c525"/>
              </a:rPr>
              <a:t>tap</a:t>
            </a:r>
            <a:endParaRPr lang="en-GB" altLang="en-US" sz="2800" dirty="0">
              <a:latin typeface="MSTT31c525"/>
            </a:endParaRPr>
          </a:p>
        </p:txBody>
      </p:sp>
    </p:spTree>
    <p:extLst>
      <p:ext uri="{BB962C8B-B14F-4D97-AF65-F5344CB8AC3E}">
        <p14:creationId xmlns:p14="http://schemas.microsoft.com/office/powerpoint/2010/main" val="1663796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987425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dirty="0" smtClean="0"/>
              <a:t>1. How to get baseline</a:t>
            </a:r>
          </a:p>
        </p:txBody>
      </p:sp>
      <p:graphicFrame>
        <p:nvGraphicFramePr>
          <p:cNvPr id="74796" name="Group 44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4038018948"/>
              </p:ext>
            </p:extLst>
          </p:nvPr>
        </p:nvGraphicFramePr>
        <p:xfrm>
          <a:off x="755650" y="1196975"/>
          <a:ext cx="7772400" cy="3425826"/>
        </p:xfrm>
        <a:graphic>
          <a:graphicData uri="http://schemas.openxmlformats.org/drawingml/2006/table">
            <a:tbl>
              <a:tblPr/>
              <a:tblGrid>
                <a:gridCol w="2528888"/>
                <a:gridCol w="2465387"/>
                <a:gridCol w="2778125"/>
              </a:tblGrid>
              <a:tr h="671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at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as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8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at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as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7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as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at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8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at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as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88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at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</a:rPr>
                        <a:t>as</a:t>
                      </a:r>
                      <a:endParaRPr kumimoji="0" lang="en-GB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1293" name="Text Box 43"/>
          <p:cNvSpPr txBox="1">
            <a:spLocks noChangeArrowheads="1"/>
          </p:cNvSpPr>
          <p:nvPr/>
        </p:nvSpPr>
        <p:spPr bwMode="auto">
          <a:xfrm>
            <a:off x="611188" y="4797425"/>
            <a:ext cx="777716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1600" dirty="0">
                <a:latin typeface="Arial" pitchFamily="34" charset="0"/>
              </a:rPr>
              <a:t>To gain a baseline the child is presented with a sheet of words they are already fluent in and asked to read as many as they can in 1 minute. This is the baseline.</a:t>
            </a:r>
          </a:p>
        </p:txBody>
      </p:sp>
    </p:spTree>
    <p:extLst>
      <p:ext uri="{BB962C8B-B14F-4D97-AF65-F5344CB8AC3E}">
        <p14:creationId xmlns:p14="http://schemas.microsoft.com/office/powerpoint/2010/main" val="88892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772400" cy="1143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4000" b="1" smtClean="0"/>
              <a:t>Step 2</a:t>
            </a:r>
            <a:r>
              <a:rPr lang="en-GB" altLang="en-US" sz="4000" smtClean="0"/>
              <a:t> </a:t>
            </a:r>
            <a:r>
              <a:rPr lang="en-GB" altLang="en-US" sz="4000" b="1" smtClean="0"/>
              <a:t>-</a:t>
            </a:r>
            <a:r>
              <a:rPr lang="en-GB" altLang="en-US" sz="4000" smtClean="0"/>
              <a:t> Setting a Target</a:t>
            </a:r>
          </a:p>
        </p:txBody>
      </p:sp>
      <p:sp>
        <p:nvSpPr>
          <p:cNvPr id="12291" name="Content Placeholder 4"/>
          <p:cNvSpPr>
            <a:spLocks noGrp="1"/>
          </p:cNvSpPr>
          <p:nvPr>
            <p:ph idx="1"/>
          </p:nvPr>
        </p:nvSpPr>
        <p:spPr>
          <a:xfrm>
            <a:off x="539750" y="2133600"/>
            <a:ext cx="3527425" cy="3467100"/>
          </a:xfrm>
        </p:spPr>
        <p:txBody>
          <a:bodyPr/>
          <a:lstStyle/>
          <a:p>
            <a:pPr eaLnBrk="1" hangingPunct="1"/>
            <a:r>
              <a:rPr lang="en-GB" altLang="en-US" b="1" dirty="0" smtClean="0"/>
              <a:t>S</a:t>
            </a:r>
            <a:r>
              <a:rPr lang="en-GB" altLang="en-US" dirty="0" smtClean="0"/>
              <a:t>pecific</a:t>
            </a:r>
          </a:p>
          <a:p>
            <a:pPr eaLnBrk="1" hangingPunct="1"/>
            <a:r>
              <a:rPr lang="en-GB" altLang="en-US" b="1" dirty="0" smtClean="0"/>
              <a:t>M</a:t>
            </a:r>
            <a:r>
              <a:rPr lang="en-GB" altLang="en-US" dirty="0" smtClean="0"/>
              <a:t>easurable</a:t>
            </a:r>
          </a:p>
          <a:p>
            <a:pPr eaLnBrk="1" hangingPunct="1"/>
            <a:r>
              <a:rPr lang="en-GB" altLang="en-US" b="1" dirty="0" smtClean="0"/>
              <a:t>A</a:t>
            </a:r>
            <a:r>
              <a:rPr lang="en-GB" altLang="en-US" dirty="0" smtClean="0"/>
              <a:t>greed</a:t>
            </a:r>
          </a:p>
          <a:p>
            <a:pPr eaLnBrk="1" hangingPunct="1"/>
            <a:r>
              <a:rPr lang="en-GB" altLang="en-US" b="1" dirty="0" smtClean="0"/>
              <a:t>R</a:t>
            </a:r>
            <a:r>
              <a:rPr lang="en-GB" altLang="en-US" dirty="0" smtClean="0"/>
              <a:t>ealistic</a:t>
            </a:r>
          </a:p>
          <a:p>
            <a:pPr eaLnBrk="1" hangingPunct="1"/>
            <a:r>
              <a:rPr lang="en-GB" altLang="en-US" b="1" dirty="0" smtClean="0"/>
              <a:t>T</a:t>
            </a:r>
            <a:r>
              <a:rPr lang="en-GB" altLang="en-US" dirty="0" smtClean="0"/>
              <a:t>ime bound</a:t>
            </a:r>
          </a:p>
        </p:txBody>
      </p:sp>
      <p:grpSp>
        <p:nvGrpSpPr>
          <p:cNvPr id="12292" name="Group 4"/>
          <p:cNvGrpSpPr>
            <a:grpSpLocks noGrp="1"/>
          </p:cNvGrpSpPr>
          <p:nvPr/>
        </p:nvGrpSpPr>
        <p:grpSpPr bwMode="auto">
          <a:xfrm>
            <a:off x="4932363" y="1700213"/>
            <a:ext cx="3573462" cy="3536950"/>
            <a:chOff x="2304" y="858"/>
            <a:chExt cx="3024" cy="3181"/>
          </a:xfrm>
        </p:grpSpPr>
        <p:sp>
          <p:nvSpPr>
            <p:cNvPr id="12294" name="Oval 5"/>
            <p:cNvSpPr>
              <a:spLocks noChangeArrowheads="1"/>
            </p:cNvSpPr>
            <p:nvPr/>
          </p:nvSpPr>
          <p:spPr bwMode="auto">
            <a:xfrm>
              <a:off x="2304" y="912"/>
              <a:ext cx="3024" cy="3024"/>
            </a:xfrm>
            <a:prstGeom prst="ellipse">
              <a:avLst/>
            </a:prstGeom>
            <a:solidFill>
              <a:srgbClr val="66CCFF"/>
            </a:solidFill>
            <a:ln w="9525">
              <a:solidFill>
                <a:srgbClr val="66CCFF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2295" name="Oval 6"/>
            <p:cNvSpPr>
              <a:spLocks noChangeArrowheads="1"/>
            </p:cNvSpPr>
            <p:nvPr/>
          </p:nvSpPr>
          <p:spPr bwMode="auto">
            <a:xfrm>
              <a:off x="2832" y="1440"/>
              <a:ext cx="1968" cy="196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2296" name="Oval 7"/>
            <p:cNvSpPr>
              <a:spLocks noChangeArrowheads="1"/>
            </p:cNvSpPr>
            <p:nvPr/>
          </p:nvSpPr>
          <p:spPr bwMode="auto">
            <a:xfrm>
              <a:off x="3360" y="1968"/>
              <a:ext cx="912" cy="91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 sz="1800">
                <a:latin typeface="Calibri" pitchFamily="34" charset="0"/>
              </a:endParaRPr>
            </a:p>
          </p:txBody>
        </p:sp>
        <p:sp>
          <p:nvSpPr>
            <p:cNvPr id="12297" name="Text Box 8"/>
            <p:cNvSpPr txBox="1">
              <a:spLocks noChangeArrowheads="1"/>
            </p:cNvSpPr>
            <p:nvPr/>
          </p:nvSpPr>
          <p:spPr bwMode="auto">
            <a:xfrm>
              <a:off x="3575" y="858"/>
              <a:ext cx="471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S</a:t>
              </a:r>
            </a:p>
          </p:txBody>
        </p:sp>
        <p:sp>
          <p:nvSpPr>
            <p:cNvPr id="12298" name="Text Box 9"/>
            <p:cNvSpPr txBox="1">
              <a:spLocks noChangeArrowheads="1"/>
            </p:cNvSpPr>
            <p:nvPr/>
          </p:nvSpPr>
          <p:spPr bwMode="auto">
            <a:xfrm>
              <a:off x="3548" y="1386"/>
              <a:ext cx="549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M</a:t>
              </a:r>
            </a:p>
          </p:txBody>
        </p:sp>
        <p:sp>
          <p:nvSpPr>
            <p:cNvPr id="12299" name="Text Box 10"/>
            <p:cNvSpPr txBox="1">
              <a:spLocks noChangeArrowheads="1"/>
            </p:cNvSpPr>
            <p:nvPr/>
          </p:nvSpPr>
          <p:spPr bwMode="auto">
            <a:xfrm>
              <a:off x="3575" y="2059"/>
              <a:ext cx="497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A</a:t>
              </a:r>
            </a:p>
          </p:txBody>
        </p:sp>
        <p:sp>
          <p:nvSpPr>
            <p:cNvPr id="12300" name="Text Box 11"/>
            <p:cNvSpPr txBox="1">
              <a:spLocks noChangeArrowheads="1"/>
            </p:cNvSpPr>
            <p:nvPr/>
          </p:nvSpPr>
          <p:spPr bwMode="auto">
            <a:xfrm>
              <a:off x="3575" y="2778"/>
              <a:ext cx="497" cy="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R</a:t>
              </a:r>
            </a:p>
          </p:txBody>
        </p:sp>
        <p:sp>
          <p:nvSpPr>
            <p:cNvPr id="12301" name="Text Box 12"/>
            <p:cNvSpPr txBox="1">
              <a:spLocks noChangeArrowheads="1"/>
            </p:cNvSpPr>
            <p:nvPr/>
          </p:nvSpPr>
          <p:spPr bwMode="auto">
            <a:xfrm>
              <a:off x="3603" y="3354"/>
              <a:ext cx="445" cy="6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/>
              <a:r>
                <a:rPr lang="en-GB" altLang="en-US" sz="4400" b="1">
                  <a:solidFill>
                    <a:srgbClr val="000066"/>
                  </a:solidFill>
                  <a:latin typeface="Arial" pitchFamily="34" charset="0"/>
                </a:rPr>
                <a:t>T</a:t>
              </a:r>
            </a:p>
          </p:txBody>
        </p:sp>
      </p:grpSp>
      <p:sp>
        <p:nvSpPr>
          <p:cNvPr id="12293" name="Text Placeholder 15"/>
          <p:cNvSpPr>
            <a:spLocks/>
          </p:cNvSpPr>
          <p:nvPr/>
        </p:nvSpPr>
        <p:spPr bwMode="auto">
          <a:xfrm>
            <a:off x="323850" y="1484313"/>
            <a:ext cx="4040188" cy="639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GB" altLang="en-US" sz="3200" b="1">
                <a:latin typeface="Arial" pitchFamily="34" charset="0"/>
              </a:rPr>
              <a:t>SMART TARGETS</a:t>
            </a:r>
          </a:p>
        </p:txBody>
      </p:sp>
    </p:spTree>
    <p:extLst>
      <p:ext uri="{BB962C8B-B14F-4D97-AF65-F5344CB8AC3E}">
        <p14:creationId xmlns:p14="http://schemas.microsoft.com/office/powerpoint/2010/main" val="4244373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 idx="4294967295"/>
          </p:nvPr>
        </p:nvSpPr>
        <p:spPr>
          <a:xfrm>
            <a:off x="0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2. Targets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4294967295"/>
          </p:nvPr>
        </p:nvSpPr>
        <p:spPr>
          <a:xfrm>
            <a:off x="935038" y="1125538"/>
            <a:ext cx="8208962" cy="49672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dirty="0" smtClean="0"/>
              <a:t>Target needs to contain three essential components:</a:t>
            </a:r>
          </a:p>
          <a:p>
            <a:pPr lvl="1" eaLnBrk="1" hangingPunct="1"/>
            <a:r>
              <a:rPr lang="en-GB" altLang="en-US" sz="2400" dirty="0" smtClean="0">
                <a:solidFill>
                  <a:srgbClr val="FF0000"/>
                </a:solidFill>
              </a:rPr>
              <a:t>Observable verb</a:t>
            </a:r>
            <a:r>
              <a:rPr lang="en-GB" altLang="en-US" sz="2400" dirty="0" smtClean="0"/>
              <a:t>  </a:t>
            </a:r>
          </a:p>
          <a:p>
            <a:pPr lvl="1" eaLnBrk="1" hangingPunct="1">
              <a:buFontTx/>
              <a:buNone/>
            </a:pPr>
            <a:r>
              <a:rPr lang="en-GB" altLang="en-US" sz="2400" dirty="0" smtClean="0"/>
              <a:t>(</a:t>
            </a:r>
            <a:r>
              <a:rPr lang="en-GB" altLang="en-US" sz="2400" dirty="0" err="1" smtClean="0"/>
              <a:t>ie</a:t>
            </a:r>
            <a:r>
              <a:rPr lang="en-GB" altLang="en-US" sz="2400" dirty="0" smtClean="0"/>
              <a:t>. what the child will do)</a:t>
            </a:r>
          </a:p>
          <a:p>
            <a:pPr lvl="1" eaLnBrk="1" hangingPunct="1">
              <a:buFontTx/>
              <a:buNone/>
            </a:pPr>
            <a:endParaRPr lang="en-GB" altLang="en-US" sz="2400" dirty="0" smtClean="0"/>
          </a:p>
          <a:p>
            <a:pPr lvl="1" eaLnBrk="1" hangingPunct="1"/>
            <a:r>
              <a:rPr lang="en-GB" altLang="en-US" sz="2400" dirty="0" smtClean="0">
                <a:solidFill>
                  <a:schemeClr val="accent1"/>
                </a:solidFill>
              </a:rPr>
              <a:t>Conditions</a:t>
            </a:r>
            <a:r>
              <a:rPr lang="en-GB" altLang="en-US" sz="2400" dirty="0" smtClean="0"/>
              <a:t> </a:t>
            </a:r>
          </a:p>
          <a:p>
            <a:pPr lvl="1" eaLnBrk="1" hangingPunct="1">
              <a:buFontTx/>
              <a:buNone/>
            </a:pPr>
            <a:r>
              <a:rPr lang="en-GB" altLang="en-US" sz="2400" dirty="0" smtClean="0"/>
              <a:t>(e.g. teaching materials or teacher instructions)</a:t>
            </a:r>
          </a:p>
          <a:p>
            <a:pPr lvl="1" eaLnBrk="1" hangingPunct="1">
              <a:buFontTx/>
              <a:buNone/>
            </a:pPr>
            <a:endParaRPr lang="en-GB" altLang="en-US" sz="2400" dirty="0" smtClean="0"/>
          </a:p>
          <a:p>
            <a:pPr lvl="1" eaLnBrk="1" hangingPunct="1"/>
            <a:r>
              <a:rPr lang="en-GB" altLang="en-US" sz="2400" dirty="0" smtClean="0">
                <a:solidFill>
                  <a:schemeClr val="accent2"/>
                </a:solidFill>
              </a:rPr>
              <a:t>Criterion</a:t>
            </a:r>
            <a:r>
              <a:rPr lang="en-GB" altLang="en-US" sz="2400" dirty="0" smtClean="0"/>
              <a:t> </a:t>
            </a:r>
          </a:p>
          <a:p>
            <a:pPr lvl="1" eaLnBrk="1" hangingPunct="1">
              <a:buFontTx/>
              <a:buNone/>
            </a:pPr>
            <a:r>
              <a:rPr lang="en-GB" altLang="en-US" sz="2400" dirty="0" smtClean="0"/>
              <a:t>(success criteria – how will we know it’s been successful?)</a:t>
            </a:r>
          </a:p>
        </p:txBody>
      </p:sp>
    </p:spTree>
    <p:extLst>
      <p:ext uri="{BB962C8B-B14F-4D97-AF65-F5344CB8AC3E}">
        <p14:creationId xmlns:p14="http://schemas.microsoft.com/office/powerpoint/2010/main" val="335203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2. Targets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628775"/>
            <a:ext cx="77724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sz="2800" dirty="0" smtClean="0"/>
              <a:t>E.g.</a:t>
            </a:r>
          </a:p>
          <a:p>
            <a:pPr eaLnBrk="1" hangingPunct="1">
              <a:buFontTx/>
              <a:buNone/>
            </a:pPr>
            <a:r>
              <a:rPr lang="en-GB" altLang="en-US" sz="2800" dirty="0" smtClean="0"/>
              <a:t>“Blake </a:t>
            </a:r>
            <a:r>
              <a:rPr lang="en-GB" altLang="en-US" sz="2800" dirty="0" smtClean="0"/>
              <a:t>will read aloud </a:t>
            </a:r>
            <a:r>
              <a:rPr lang="en-GB" altLang="en-US" sz="2800" b="1" i="1" dirty="0" smtClean="0">
                <a:solidFill>
                  <a:srgbClr val="FF0000"/>
                </a:solidFill>
              </a:rPr>
              <a:t>(observable verb)</a:t>
            </a:r>
            <a:r>
              <a:rPr lang="en-GB" altLang="en-US" sz="2800" dirty="0" smtClean="0"/>
              <a:t> </a:t>
            </a:r>
            <a:r>
              <a:rPr lang="en-GB" altLang="en-US" sz="2800" b="1" dirty="0" smtClean="0"/>
              <a:t>4</a:t>
            </a:r>
            <a:r>
              <a:rPr lang="en-GB" altLang="en-US" sz="2800" dirty="0" smtClean="0"/>
              <a:t> </a:t>
            </a:r>
            <a:r>
              <a:rPr lang="en-GB" altLang="en-US" sz="2800" dirty="0" smtClean="0"/>
              <a:t>words per minute with no more than </a:t>
            </a:r>
            <a:r>
              <a:rPr lang="en-GB" altLang="en-US" sz="2800" b="1" dirty="0" smtClean="0"/>
              <a:t>2</a:t>
            </a:r>
            <a:r>
              <a:rPr lang="en-GB" altLang="en-US" sz="2800" dirty="0" smtClean="0"/>
              <a:t> errors </a:t>
            </a:r>
            <a:r>
              <a:rPr lang="en-GB" altLang="en-US" sz="2800" b="1" i="1" dirty="0" smtClean="0">
                <a:solidFill>
                  <a:schemeClr val="accent1"/>
                </a:solidFill>
              </a:rPr>
              <a:t>(conditions)</a:t>
            </a:r>
            <a:r>
              <a:rPr lang="en-GB" altLang="en-US" sz="2800" dirty="0" smtClean="0">
                <a:solidFill>
                  <a:schemeClr val="accent1"/>
                </a:solidFill>
              </a:rPr>
              <a:t> </a:t>
            </a:r>
            <a:r>
              <a:rPr lang="en-GB" altLang="en-US" sz="2800" dirty="0" smtClean="0"/>
              <a:t>on three consecutive days </a:t>
            </a:r>
            <a:r>
              <a:rPr lang="en-GB" altLang="en-US" sz="2800" b="1" i="1" dirty="0" smtClean="0">
                <a:solidFill>
                  <a:srgbClr val="0000FF"/>
                </a:solidFill>
              </a:rPr>
              <a:t>(criterion).</a:t>
            </a:r>
            <a:r>
              <a:rPr lang="en-GB" altLang="en-US" sz="2800" dirty="0" smtClean="0"/>
              <a:t>”</a:t>
            </a:r>
          </a:p>
          <a:p>
            <a:pPr eaLnBrk="1" hangingPunct="1">
              <a:buFontTx/>
              <a:buNone/>
            </a:pPr>
            <a:endParaRPr lang="en-GB" altLang="en-US" sz="1800" dirty="0" smtClean="0"/>
          </a:p>
        </p:txBody>
      </p:sp>
    </p:spTree>
    <p:extLst>
      <p:ext uri="{BB962C8B-B14F-4D97-AF65-F5344CB8AC3E}">
        <p14:creationId xmlns:p14="http://schemas.microsoft.com/office/powerpoint/2010/main" val="2561491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404813"/>
            <a:ext cx="8353425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b="1" dirty="0" smtClean="0"/>
              <a:t>Step 3-</a:t>
            </a:r>
            <a:r>
              <a:rPr lang="en-GB" altLang="en-US" sz="3200" dirty="0" smtClean="0"/>
              <a:t> Teaching </a:t>
            </a:r>
            <a:br>
              <a:rPr lang="en-GB" altLang="en-US" sz="3200" dirty="0" smtClean="0"/>
            </a:br>
            <a:r>
              <a:rPr lang="en-GB" altLang="en-US" sz="3200" dirty="0" smtClean="0"/>
              <a:t>(6 to 10 mins per day)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981200"/>
            <a:ext cx="8496300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en-US" sz="2400" dirty="0" smtClean="0"/>
              <a:t>1. </a:t>
            </a:r>
            <a:r>
              <a:rPr lang="en-GB" altLang="en-US" dirty="0" smtClean="0"/>
              <a:t>Choose three words the child struggled with from your baseline assessment (NB: the number of words chosen to focus on may vary according to child’s difficulties).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en-US" dirty="0" smtClean="0"/>
              <a:t>		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en-US" dirty="0"/>
              <a:t>2</a:t>
            </a:r>
            <a:r>
              <a:rPr lang="en-GB" altLang="en-US" dirty="0" smtClean="0"/>
              <a:t>. </a:t>
            </a:r>
            <a:r>
              <a:rPr lang="en-GB" altLang="en-US" dirty="0" smtClean="0"/>
              <a:t>Introduce the target words to child.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dirty="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GB" altLang="en-US" dirty="0"/>
              <a:t>3</a:t>
            </a:r>
            <a:r>
              <a:rPr lang="en-GB" altLang="en-US" dirty="0" smtClean="0"/>
              <a:t>. </a:t>
            </a:r>
            <a:r>
              <a:rPr lang="en-GB" altLang="en-US" dirty="0" smtClean="0"/>
              <a:t>Use teaching strategies which will increase opportunities for child to recognise the words.</a:t>
            </a:r>
          </a:p>
        </p:txBody>
      </p:sp>
    </p:spTree>
    <p:extLst>
      <p:ext uri="{BB962C8B-B14F-4D97-AF65-F5344CB8AC3E}">
        <p14:creationId xmlns:p14="http://schemas.microsoft.com/office/powerpoint/2010/main" val="3910310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9271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3. Teaching methods</a:t>
            </a:r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0" y="3500438"/>
            <a:ext cx="8820150" cy="2481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2CB6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5A39D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Use the model-lead-test sequence with each sight word in turn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Alter the sequence and continue until each word has been repeated 3-5 times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Explain to the pupil that they are going to try the sight words alone- but they may have help if they want it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Char char="•"/>
            </a:pPr>
            <a:r>
              <a:rPr lang="en-GB" altLang="en-US" sz="1800" dirty="0">
                <a:latin typeface="Arial" pitchFamily="34" charset="0"/>
              </a:rPr>
              <a:t>The pupil tries the words alone – praise correct answers.  If the word is incorrect or if the pupil hesitates more than 2 seconds use the correction procedure: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None/>
            </a:pPr>
            <a:endParaRPr lang="en-GB" altLang="en-US" sz="1800" dirty="0">
              <a:latin typeface="Arial" pitchFamily="34" charset="0"/>
            </a:endParaRPr>
          </a:p>
          <a:p>
            <a:pPr algn="l" eaLnBrk="1" hangingPunct="1">
              <a:lnSpc>
                <a:spcPct val="80000"/>
              </a:lnSpc>
              <a:buClrTx/>
              <a:buFontTx/>
              <a:buNone/>
            </a:pPr>
            <a:r>
              <a:rPr lang="en-GB" altLang="en-US" sz="1800" dirty="0">
                <a:latin typeface="Arial" pitchFamily="34" charset="0"/>
              </a:rPr>
              <a:t>				Model (adult) “this word says…”</a:t>
            </a:r>
          </a:p>
          <a:p>
            <a:pPr algn="l" eaLnBrk="1" hangingPunct="1">
              <a:lnSpc>
                <a:spcPct val="80000"/>
              </a:lnSpc>
              <a:buClrTx/>
              <a:buFontTx/>
              <a:buNone/>
            </a:pPr>
            <a:r>
              <a:rPr lang="en-GB" altLang="en-US" sz="1800" dirty="0">
                <a:latin typeface="Arial" pitchFamily="34" charset="0"/>
              </a:rPr>
              <a:t>				Test (child) “now you say it”… or “what word?”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2432050" y="1700213"/>
            <a:ext cx="5545138" cy="1635125"/>
          </a:xfrm>
          <a:prstGeom prst="rect">
            <a:avLst/>
          </a:prstGeom>
          <a:noFill/>
          <a:ln w="19050">
            <a:solidFill>
              <a:srgbClr val="9E0B0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GB" altLang="en-US" sz="2000">
                <a:latin typeface="Arial" pitchFamily="34" charset="0"/>
              </a:rPr>
              <a:t>Model (adult) – “this word says…”</a:t>
            </a:r>
          </a:p>
          <a:p>
            <a:pPr eaLnBrk="1" hangingPunct="1"/>
            <a:endParaRPr lang="en-GB" altLang="en-US" sz="2000">
              <a:latin typeface="Arial" pitchFamily="34" charset="0"/>
            </a:endParaRPr>
          </a:p>
          <a:p>
            <a:pPr eaLnBrk="1" hangingPunct="1"/>
            <a:r>
              <a:rPr lang="en-GB" altLang="en-US" sz="2000">
                <a:latin typeface="Arial" pitchFamily="34" charset="0"/>
              </a:rPr>
              <a:t>Lead (together) – “say it with me”</a:t>
            </a:r>
          </a:p>
          <a:p>
            <a:pPr eaLnBrk="1" hangingPunct="1"/>
            <a:endParaRPr lang="en-GB" altLang="en-US" sz="2000">
              <a:latin typeface="Arial" pitchFamily="34" charset="0"/>
            </a:endParaRPr>
          </a:p>
          <a:p>
            <a:pPr eaLnBrk="1" hangingPunct="1"/>
            <a:r>
              <a:rPr lang="en-GB" altLang="en-US" sz="2000">
                <a:latin typeface="Arial" pitchFamily="34" charset="0"/>
              </a:rPr>
              <a:t>Test (child) – “you say it”… or “what word?”</a:t>
            </a:r>
            <a:endParaRPr lang="en-GB" altLang="en-US" sz="2000" b="1">
              <a:latin typeface="Arial" pitchFamily="34" charset="0"/>
            </a:endParaRP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415925" y="1268413"/>
            <a:ext cx="33131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GB" altLang="en-US" sz="2000" b="1">
                <a:latin typeface="Arial" pitchFamily="34" charset="0"/>
              </a:rPr>
              <a:t>E.g. Direct Instruction</a:t>
            </a:r>
          </a:p>
        </p:txBody>
      </p:sp>
    </p:spTree>
    <p:extLst>
      <p:ext uri="{BB962C8B-B14F-4D97-AF65-F5344CB8AC3E}">
        <p14:creationId xmlns:p14="http://schemas.microsoft.com/office/powerpoint/2010/main" val="3441200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 idx="4294967295"/>
          </p:nvPr>
        </p:nvSpPr>
        <p:spPr>
          <a:xfrm>
            <a:off x="0" y="609600"/>
            <a:ext cx="8569325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3. Examples of some teaching methods:</a:t>
            </a:r>
          </a:p>
        </p:txBody>
      </p:sp>
      <p:sp>
        <p:nvSpPr>
          <p:cNvPr id="18435" name="Rectangle 3"/>
          <p:cNvSpPr txBox="1">
            <a:spLocks noChangeArrowheads="1"/>
          </p:cNvSpPr>
          <p:nvPr/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2CB6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5A39D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buClrTx/>
            </a:pPr>
            <a:r>
              <a:rPr lang="en-GB" altLang="en-US" sz="3200" u="sng" dirty="0"/>
              <a:t>Magnetic Letters</a:t>
            </a:r>
          </a:p>
          <a:p>
            <a:pPr eaLnBrk="1" hangingPunct="1">
              <a:buClrTx/>
            </a:pPr>
            <a:endParaRPr lang="en-GB" altLang="en-US" sz="3200" u="sng" dirty="0"/>
          </a:p>
          <a:p>
            <a:pPr eaLnBrk="1" hangingPunct="1">
              <a:buClrTx/>
            </a:pPr>
            <a:endParaRPr lang="en-GB" altLang="en-US" sz="3200" u="sng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28688" y="2214563"/>
            <a:ext cx="7429500" cy="3846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1600" dirty="0"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Can you use the letters to make the words:  is  that  had  went</a:t>
            </a: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endParaRPr lang="en-GB" sz="1600" dirty="0">
              <a:effectLst>
                <a:outerShdw blurRad="38100" dist="38100" dir="2700000" algn="tl">
                  <a:srgbClr val="C0C0C0"/>
                </a:outerShdw>
              </a:effectLst>
              <a:latin typeface="Arial Black" pitchFamily="34" charset="0"/>
            </a:endParaRP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b="1" dirty="0"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		</a:t>
            </a:r>
            <a:r>
              <a:rPr lang="en-GB" sz="4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A	  </a:t>
            </a:r>
            <a:r>
              <a:rPr lang="en-GB" sz="4400" b="1" dirty="0">
                <a:solidFill>
                  <a:srgbClr val="CCFF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S</a:t>
            </a:r>
            <a:r>
              <a:rPr lang="en-GB" sz="4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		T</a:t>
            </a:r>
            <a:endParaRPr lang="en-GB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Rockwell Extra Bold" pitchFamily="18" charset="0"/>
            </a:endParaRP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4400" b="1" dirty="0">
                <a:solidFill>
                  <a:srgbClr val="CCFF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D</a:t>
            </a: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	</a:t>
            </a:r>
            <a:r>
              <a:rPr lang="en-GB" sz="4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H</a:t>
            </a: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	</a:t>
            </a:r>
            <a:r>
              <a:rPr lang="en-GB" sz="4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I		</a:t>
            </a:r>
            <a:r>
              <a:rPr lang="en-GB" sz="4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Y</a:t>
            </a: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</a:t>
            </a:r>
          </a:p>
          <a:p>
            <a:pPr fontAlgn="auto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</a:t>
            </a:r>
            <a:r>
              <a:rPr lang="en-GB" sz="4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A		E</a:t>
            </a:r>
            <a:r>
              <a:rPr lang="en-GB" sz="16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Black" pitchFamily="34" charset="0"/>
              </a:rPr>
              <a:t>	          </a:t>
            </a:r>
            <a:r>
              <a:rPr lang="en-GB" sz="44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Rockwell Extra Bold" pitchFamily="18" charset="0"/>
              </a:rPr>
              <a:t>W</a:t>
            </a:r>
            <a:endParaRPr lang="en-GB" sz="16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791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 idx="4294967295"/>
          </p:nvPr>
        </p:nvSpPr>
        <p:spPr>
          <a:xfrm>
            <a:off x="0" y="609600"/>
            <a:ext cx="77724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4000" smtClean="0"/>
              <a:t>3. Examples of some teaching methods:</a:t>
            </a:r>
          </a:p>
        </p:txBody>
      </p:sp>
      <p:sp>
        <p:nvSpPr>
          <p:cNvPr id="19459" name="Rectangle 3"/>
          <p:cNvSpPr txBox="1">
            <a:spLocks noChangeArrowheads="1"/>
          </p:cNvSpPr>
          <p:nvPr/>
        </p:nvSpPr>
        <p:spPr bwMode="auto">
          <a:xfrm>
            <a:off x="444732" y="1820068"/>
            <a:ext cx="8255000" cy="450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D2CB6C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95A39D"/>
              </a:buClr>
              <a:buFont typeface="Arial" pitchFamily="34" charset="0"/>
              <a:buChar char="•"/>
              <a:defRPr sz="16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89F5D"/>
              </a:buClr>
              <a:buFont typeface="Arial" pitchFamily="34" charset="0"/>
              <a:buChar char="•"/>
              <a:defRPr sz="1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buClrTx/>
            </a:pPr>
            <a:r>
              <a:rPr lang="en-GB" altLang="en-US" sz="3200" u="sng" dirty="0"/>
              <a:t>Jumbled Letters Activity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400" dirty="0"/>
              <a:t>	Can you find these words below?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400" dirty="0"/>
              <a:t>	is	      that		had	    went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endParaRPr lang="en-GB" altLang="en-US" sz="2400" dirty="0"/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		W		D	         A T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   I			 N  E		H	       T   H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S   	        		   T		A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	T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    A	H  T			T  W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r>
              <a:rPr lang="en-GB" altLang="en-US" sz="2000" dirty="0"/>
              <a:t>						    N	E</a:t>
            </a:r>
          </a:p>
          <a:p>
            <a:pPr algn="l" eaLnBrk="1" hangingPunct="1">
              <a:lnSpc>
                <a:spcPct val="90000"/>
              </a:lnSpc>
              <a:buClrTx/>
              <a:buFontTx/>
              <a:buNone/>
            </a:pPr>
            <a:endParaRPr lang="en-GB" altLang="en-US" sz="2400" dirty="0"/>
          </a:p>
        </p:txBody>
      </p:sp>
      <p:grpSp>
        <p:nvGrpSpPr>
          <p:cNvPr id="19460" name="Group 20"/>
          <p:cNvGrpSpPr>
            <a:grpSpLocks/>
          </p:cNvGrpSpPr>
          <p:nvPr/>
        </p:nvGrpSpPr>
        <p:grpSpPr bwMode="auto">
          <a:xfrm>
            <a:off x="684213" y="3284538"/>
            <a:ext cx="6346825" cy="2643187"/>
            <a:chOff x="1393006" y="2857496"/>
            <a:chExt cx="6346076" cy="2643206"/>
          </a:xfrm>
        </p:grpSpPr>
        <p:sp>
          <p:nvSpPr>
            <p:cNvPr id="19461" name="Oval 21"/>
            <p:cNvSpPr>
              <a:spLocks noChangeArrowheads="1"/>
            </p:cNvSpPr>
            <p:nvPr/>
          </p:nvSpPr>
          <p:spPr bwMode="auto">
            <a:xfrm>
              <a:off x="1393006" y="3214686"/>
              <a:ext cx="851303" cy="1143008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2" name="Oval 22"/>
            <p:cNvSpPr>
              <a:spLocks noChangeArrowheads="1"/>
            </p:cNvSpPr>
            <p:nvPr/>
          </p:nvSpPr>
          <p:spPr bwMode="auto">
            <a:xfrm>
              <a:off x="2095480" y="4000504"/>
              <a:ext cx="1779997" cy="1214446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3" name="Oval 23"/>
            <p:cNvSpPr>
              <a:spLocks noChangeArrowheads="1"/>
            </p:cNvSpPr>
            <p:nvPr/>
          </p:nvSpPr>
          <p:spPr bwMode="auto">
            <a:xfrm>
              <a:off x="3667116" y="3000372"/>
              <a:ext cx="928694" cy="1285884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4" name="Oval 24"/>
            <p:cNvSpPr>
              <a:spLocks noChangeArrowheads="1"/>
            </p:cNvSpPr>
            <p:nvPr/>
          </p:nvSpPr>
          <p:spPr bwMode="auto">
            <a:xfrm>
              <a:off x="5381628" y="2857496"/>
              <a:ext cx="928694" cy="1428760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5" name="Oval 25"/>
            <p:cNvSpPr>
              <a:spLocks noChangeArrowheads="1"/>
            </p:cNvSpPr>
            <p:nvPr/>
          </p:nvSpPr>
          <p:spPr bwMode="auto">
            <a:xfrm>
              <a:off x="5310190" y="4357694"/>
              <a:ext cx="2089562" cy="1143008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19466" name="Oval 26"/>
            <p:cNvSpPr>
              <a:spLocks noChangeArrowheads="1"/>
            </p:cNvSpPr>
            <p:nvPr/>
          </p:nvSpPr>
          <p:spPr bwMode="auto">
            <a:xfrm>
              <a:off x="6810388" y="2857496"/>
              <a:ext cx="928694" cy="1357322"/>
            </a:xfrm>
            <a:prstGeom prst="ellipse">
              <a:avLst/>
            </a:prstGeom>
            <a:noFill/>
            <a:ln w="952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7228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200" b="1" dirty="0" smtClean="0"/>
              <a:t>Step 4 -</a:t>
            </a:r>
            <a:r>
              <a:rPr lang="en-GB" altLang="en-US" sz="3200" dirty="0" smtClean="0"/>
              <a:t> Monitoring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 smtClean="0"/>
              <a:t>Using a Probe sheet</a:t>
            </a:r>
          </a:p>
          <a:p>
            <a:pPr eaLnBrk="1" hangingPunct="1"/>
            <a:r>
              <a:rPr lang="en-GB" altLang="en-US" dirty="0" smtClean="0"/>
              <a:t>What is a probe sheet? </a:t>
            </a:r>
          </a:p>
          <a:p>
            <a:pPr eaLnBrk="1" hangingPunct="1"/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313382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"/>
          <p:cNvSpPr>
            <a:spLocks/>
          </p:cNvSpPr>
          <p:nvPr/>
        </p:nvSpPr>
        <p:spPr bwMode="auto">
          <a:xfrm>
            <a:off x="1258888" y="584200"/>
            <a:ext cx="68961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1275" bIns="0" anchor="b"/>
          <a:lstStyle>
            <a:lvl1pPr marL="41275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u="sng"/>
              <a:t>Basic ‘Probe’ sheet</a:t>
            </a:r>
          </a:p>
        </p:txBody>
      </p:sp>
      <p:grpSp>
        <p:nvGrpSpPr>
          <p:cNvPr id="18435" name="Group 2"/>
          <p:cNvGrpSpPr>
            <a:grpSpLocks/>
          </p:cNvGrpSpPr>
          <p:nvPr/>
        </p:nvGrpSpPr>
        <p:grpSpPr bwMode="auto">
          <a:xfrm>
            <a:off x="685800" y="1219200"/>
            <a:ext cx="3200400" cy="4572000"/>
            <a:chOff x="0" y="0"/>
            <a:chExt cx="2016" cy="2880"/>
          </a:xfrm>
        </p:grpSpPr>
        <p:sp>
          <p:nvSpPr>
            <p:cNvPr id="18437" name="Rectangle 3"/>
            <p:cNvSpPr>
              <a:spLocks/>
            </p:cNvSpPr>
            <p:nvPr/>
          </p:nvSpPr>
          <p:spPr bwMode="auto">
            <a:xfrm>
              <a:off x="0" y="0"/>
              <a:ext cx="2016" cy="2880"/>
            </a:xfrm>
            <a:prstGeom prst="rect">
              <a:avLst/>
            </a:prstGeom>
            <a:solidFill>
              <a:srgbClr val="F8F8F8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ts val="7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•"/>
                <a:defRPr sz="28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1pPr>
              <a:lvl2pPr marL="742950" indent="-285750">
                <a:spcBef>
                  <a:spcPts val="6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–"/>
                <a:defRPr sz="24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2pPr>
              <a:lvl3pPr marL="1143000" indent="-228600">
                <a:spcBef>
                  <a:spcPts val="5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•"/>
                <a:defRPr sz="20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3pPr>
              <a:lvl4pPr marL="1600200" indent="-228600">
                <a:spcBef>
                  <a:spcPts val="4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–"/>
                <a:defRPr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4pPr>
              <a:lvl5pPr marL="2057400" indent="-228600">
                <a:spcBef>
                  <a:spcPts val="400"/>
                </a:spcBef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Century Gothic" pitchFamily="34" charset="0"/>
                <a:buChar char="»"/>
                <a:defRPr sz="1600">
                  <a:solidFill>
                    <a:schemeClr val="tx1"/>
                  </a:solidFill>
                  <a:latin typeface="Century Gothic" pitchFamily="34" charset="0"/>
                  <a:ea typeface="ヒラギノ明朝 ProN W3" charset="0"/>
                  <a:cs typeface="ヒラギノ明朝 ProN W3" charset="0"/>
                  <a:sym typeface="Century Gothic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GB" altLang="en-US" sz="1200">
                <a:solidFill>
                  <a:srgbClr val="000000"/>
                </a:solidFill>
                <a:latin typeface="Times New Roman" pitchFamily="18" charset="0"/>
                <a:sym typeface="Times New Roman" pitchFamily="18" charset="0"/>
              </a:endParaRPr>
            </a:p>
          </p:txBody>
        </p:sp>
        <p:grpSp>
          <p:nvGrpSpPr>
            <p:cNvPr id="18438" name="Group 4"/>
            <p:cNvGrpSpPr>
              <a:grpSpLocks/>
            </p:cNvGrpSpPr>
            <p:nvPr/>
          </p:nvGrpSpPr>
          <p:grpSpPr bwMode="auto">
            <a:xfrm>
              <a:off x="240" y="360"/>
              <a:ext cx="1530" cy="2314"/>
              <a:chOff x="0" y="0"/>
              <a:chExt cx="1530" cy="2314"/>
            </a:xfrm>
          </p:grpSpPr>
          <p:sp>
            <p:nvSpPr>
              <p:cNvPr id="18443" name="Rectangle 5"/>
              <p:cNvSpPr>
                <a:spLocks/>
              </p:cNvSpPr>
              <p:nvPr/>
            </p:nvSpPr>
            <p:spPr bwMode="auto">
              <a:xfrm>
                <a:off x="0" y="0"/>
                <a:ext cx="1530" cy="2314"/>
              </a:xfrm>
              <a:prstGeom prst="rect">
                <a:avLst/>
              </a:prstGeom>
              <a:solidFill>
                <a:srgbClr val="F8F8F8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8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1pPr>
                <a:lvl2pPr marL="742950" indent="-285750"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 sz="24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0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GB" altLang="en-US" sz="1200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endParaRPr>
              </a:p>
            </p:txBody>
          </p:sp>
          <p:sp>
            <p:nvSpPr>
              <p:cNvPr id="18444" name="Line 6"/>
              <p:cNvSpPr>
                <a:spLocks noChangeShapeType="1"/>
              </p:cNvSpPr>
              <p:nvPr/>
            </p:nvSpPr>
            <p:spPr bwMode="auto">
              <a:xfrm>
                <a:off x="0" y="1132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5" name="Line 7"/>
              <p:cNvSpPr>
                <a:spLocks noChangeShapeType="1"/>
              </p:cNvSpPr>
              <p:nvPr/>
            </p:nvSpPr>
            <p:spPr bwMode="auto">
              <a:xfrm>
                <a:off x="0" y="1427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6" name="Line 8"/>
              <p:cNvSpPr>
                <a:spLocks noChangeShapeType="1"/>
              </p:cNvSpPr>
              <p:nvPr/>
            </p:nvSpPr>
            <p:spPr bwMode="auto">
              <a:xfrm>
                <a:off x="0" y="837"/>
                <a:ext cx="153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7" name="Line 9"/>
              <p:cNvSpPr>
                <a:spLocks noChangeShapeType="1"/>
              </p:cNvSpPr>
              <p:nvPr/>
            </p:nvSpPr>
            <p:spPr bwMode="auto">
              <a:xfrm>
                <a:off x="0" y="541"/>
                <a:ext cx="153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8" name="Line 10"/>
              <p:cNvSpPr>
                <a:spLocks noChangeShapeType="1"/>
              </p:cNvSpPr>
              <p:nvPr/>
            </p:nvSpPr>
            <p:spPr bwMode="auto">
              <a:xfrm>
                <a:off x="0" y="1723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49" name="Line 11"/>
              <p:cNvSpPr>
                <a:spLocks noChangeShapeType="1"/>
              </p:cNvSpPr>
              <p:nvPr/>
            </p:nvSpPr>
            <p:spPr bwMode="auto">
              <a:xfrm>
                <a:off x="0" y="2018"/>
                <a:ext cx="1530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0" name="Line 12"/>
              <p:cNvSpPr>
                <a:spLocks noChangeShapeType="1"/>
              </p:cNvSpPr>
              <p:nvPr/>
            </p:nvSpPr>
            <p:spPr bwMode="auto">
              <a:xfrm>
                <a:off x="0" y="246"/>
                <a:ext cx="153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1" name="Line 13"/>
              <p:cNvSpPr>
                <a:spLocks noChangeShapeType="1"/>
              </p:cNvSpPr>
              <p:nvPr/>
            </p:nvSpPr>
            <p:spPr bwMode="auto">
              <a:xfrm>
                <a:off x="278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2" name="Line 14"/>
              <p:cNvSpPr>
                <a:spLocks noChangeShapeType="1"/>
              </p:cNvSpPr>
              <p:nvPr/>
            </p:nvSpPr>
            <p:spPr bwMode="auto">
              <a:xfrm>
                <a:off x="602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3" name="Line 15"/>
              <p:cNvSpPr>
                <a:spLocks noChangeShapeType="1"/>
              </p:cNvSpPr>
              <p:nvPr/>
            </p:nvSpPr>
            <p:spPr bwMode="auto">
              <a:xfrm>
                <a:off x="927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8454" name="Line 16"/>
              <p:cNvSpPr>
                <a:spLocks noChangeShapeType="1"/>
              </p:cNvSpPr>
              <p:nvPr/>
            </p:nvSpPr>
            <p:spPr bwMode="auto">
              <a:xfrm>
                <a:off x="1205" y="0"/>
                <a:ext cx="1" cy="231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8439" name="Line 17"/>
            <p:cNvSpPr>
              <a:spLocks noChangeShapeType="1"/>
            </p:cNvSpPr>
            <p:nvPr/>
          </p:nvSpPr>
          <p:spPr bwMode="auto">
            <a:xfrm>
              <a:off x="240" y="308"/>
              <a:ext cx="15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18440" name="Group 18"/>
            <p:cNvGrpSpPr>
              <a:grpSpLocks/>
            </p:cNvGrpSpPr>
            <p:nvPr/>
          </p:nvGrpSpPr>
          <p:grpSpPr bwMode="auto">
            <a:xfrm>
              <a:off x="240" y="102"/>
              <a:ext cx="1488" cy="168"/>
              <a:chOff x="0" y="0"/>
              <a:chExt cx="1488" cy="168"/>
            </a:xfrm>
          </p:grpSpPr>
          <p:sp>
            <p:nvSpPr>
              <p:cNvPr id="18441" name="Rectangle 19"/>
              <p:cNvSpPr>
                <a:spLocks/>
              </p:cNvSpPr>
              <p:nvPr/>
            </p:nvSpPr>
            <p:spPr bwMode="auto">
              <a:xfrm>
                <a:off x="0" y="0"/>
                <a:ext cx="1488" cy="168"/>
              </a:xfrm>
              <a:prstGeom prst="rect">
                <a:avLst/>
              </a:prstGeom>
              <a:solidFill>
                <a:srgbClr val="F8F8F8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8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1pPr>
                <a:lvl2pPr marL="742950" indent="-285750"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 sz="24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0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GB" altLang="en-US" sz="1200">
                  <a:solidFill>
                    <a:srgbClr val="000000"/>
                  </a:solidFill>
                  <a:latin typeface="Times New Roman" pitchFamily="18" charset="0"/>
                  <a:sym typeface="Times New Roman" pitchFamily="18" charset="0"/>
                </a:endParaRPr>
              </a:p>
            </p:txBody>
          </p:sp>
          <p:sp>
            <p:nvSpPr>
              <p:cNvPr id="18442" name="Rectangle 20"/>
              <p:cNvSpPr>
                <a:spLocks/>
              </p:cNvSpPr>
              <p:nvPr/>
            </p:nvSpPr>
            <p:spPr bwMode="auto">
              <a:xfrm>
                <a:off x="0" y="0"/>
                <a:ext cx="1488" cy="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40639" bIns="0"/>
              <a:lstStyle>
                <a:lvl1pPr marL="39688">
                  <a:spcBef>
                    <a:spcPts val="7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8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1pPr>
                <a:lvl2pPr marL="742950" indent="-285750">
                  <a:spcBef>
                    <a:spcPts val="6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 sz="24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2pPr>
                <a:lvl3pPr marL="1143000" indent="-228600">
                  <a:spcBef>
                    <a:spcPts val="5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•"/>
                  <a:defRPr sz="20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3pPr>
                <a:lvl4pPr marL="16002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–"/>
                  <a:defRPr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4pPr>
                <a:lvl5pPr marL="2057400" indent="-228600">
                  <a:spcBef>
                    <a:spcPts val="400"/>
                  </a:spcBef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000000"/>
                  </a:buClr>
                  <a:buSzPct val="100000"/>
                  <a:buFont typeface="Century Gothic" pitchFamily="34" charset="0"/>
                  <a:buChar char="»"/>
                  <a:defRPr sz="1600">
                    <a:solidFill>
                      <a:schemeClr val="tx1"/>
                    </a:solidFill>
                    <a:latin typeface="Century Gothic" pitchFamily="34" charset="0"/>
                    <a:ea typeface="ヒラギノ明朝 ProN W3" charset="0"/>
                    <a:cs typeface="ヒラギノ明朝 ProN W3" charset="0"/>
                    <a:sym typeface="Century Gothic" pitchFamily="34" charset="0"/>
                  </a:defRPr>
                </a:lvl9pPr>
              </a:lstStyle>
              <a:p>
                <a:pPr eaLnBrk="1" hangingPunct="1">
                  <a:spcBef>
                    <a:spcPts val="550"/>
                  </a:spcBef>
                  <a:buClrTx/>
                  <a:buSzTx/>
                  <a:buFontTx/>
                  <a:buNone/>
                </a:pPr>
                <a:r>
                  <a:rPr lang="en-US" altLang="en-US" sz="1000">
                    <a:latin typeface="Arial" charset="0"/>
                    <a:cs typeface="Arial" charset="0"/>
                    <a:sym typeface="Arial" charset="0"/>
                  </a:rPr>
                  <a:t>Name                                   aim   rate</a:t>
                </a:r>
              </a:p>
            </p:txBody>
          </p:sp>
        </p:grpSp>
      </p:grpSp>
      <p:sp>
        <p:nvSpPr>
          <p:cNvPr id="18436" name="Rectangle 21"/>
          <p:cNvSpPr>
            <a:spLocks/>
          </p:cNvSpPr>
          <p:nvPr/>
        </p:nvSpPr>
        <p:spPr bwMode="auto">
          <a:xfrm>
            <a:off x="3962400" y="1066800"/>
            <a:ext cx="44958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charset="0"/>
              <a:buChar char="•"/>
            </a:pPr>
            <a:endParaRPr lang="en-US" altLang="en-US" sz="2000" dirty="0">
              <a:cs typeface="Times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The Probe sheet is the stimulus for a short timed test (a ‘Probe’) usually for 1 minute in duration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A sheet with target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words in </a:t>
            </a:r>
            <a:r>
              <a:rPr lang="en-US" altLang="en-US" sz="1800" dirty="0" err="1"/>
              <a:t>randomised</a:t>
            </a:r>
            <a:r>
              <a:rPr lang="en-US" altLang="en-US" sz="1800" dirty="0"/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order is used for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reading – ‘</a:t>
            </a:r>
            <a:r>
              <a:rPr lang="en-US" altLang="en-US" sz="1800" u="sng" dirty="0"/>
              <a:t>see to say</a:t>
            </a:r>
            <a:r>
              <a:rPr lang="en-US" altLang="en-US" sz="1800" u="sng" dirty="0" smtClean="0"/>
              <a:t>’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u="sng" dirty="0"/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lang="en-GB" altLang="en-US" sz="1800" dirty="0"/>
              <a:t>The child is timed and reads as many words as they can in 1 minute (go back to top of probe if child reads all the words in under a minute).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u="sng" dirty="0"/>
          </a:p>
        </p:txBody>
      </p:sp>
    </p:spTree>
    <p:extLst>
      <p:ext uri="{BB962C8B-B14F-4D97-AF65-F5344CB8AC3E}">
        <p14:creationId xmlns:p14="http://schemas.microsoft.com/office/powerpoint/2010/main" val="210916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 noGrp="1" noChangeArrowheads="1"/>
          </p:cNvSpPr>
          <p:nvPr>
            <p:ph type="title"/>
          </p:nvPr>
        </p:nvSpPr>
        <p:spPr>
          <a:xfrm>
            <a:off x="1157288" y="0"/>
            <a:ext cx="6870700" cy="1412875"/>
          </a:xfrm>
        </p:spPr>
        <p:txBody>
          <a:bodyPr rIns="31750" anchor="b"/>
          <a:lstStyle/>
          <a:p>
            <a:pPr indent="0" algn="ctr" eaLnBrk="1" hangingPunct="1"/>
            <a:r>
              <a:rPr lang="en-US" altLang="en-US" sz="3200" u="sng" dirty="0" smtClean="0"/>
              <a:t>Types of probe:</a:t>
            </a: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330325" y="1927225"/>
            <a:ext cx="5257800" cy="4930775"/>
          </a:xfrm>
        </p:spPr>
        <p:txBody>
          <a:bodyPr rIns="31750"/>
          <a:lstStyle/>
          <a:p>
            <a:pPr marL="423863" indent="-384175" eaLnBrk="1" hangingPunct="1">
              <a:lnSpc>
                <a:spcPct val="90000"/>
              </a:lnSpc>
            </a:pPr>
            <a:r>
              <a:rPr lang="en-US" altLang="en-US" sz="2800" b="1" dirty="0" smtClean="0"/>
              <a:t>See to say</a:t>
            </a:r>
            <a:r>
              <a:rPr lang="en-US" altLang="en-US" sz="2800" dirty="0" smtClean="0"/>
              <a:t> e.g. letter, number, sight word recognition</a:t>
            </a:r>
          </a:p>
          <a:p>
            <a:pPr marL="423863" indent="-384175" eaLnBrk="1" hangingPunct="1">
              <a:lnSpc>
                <a:spcPct val="90000"/>
              </a:lnSpc>
            </a:pPr>
            <a:endParaRPr lang="en-US" altLang="en-US" sz="2800" dirty="0" smtClean="0"/>
          </a:p>
          <a:p>
            <a:pPr marL="423863" indent="-384175" eaLnBrk="1" hangingPunct="1">
              <a:lnSpc>
                <a:spcPct val="90000"/>
              </a:lnSpc>
            </a:pPr>
            <a:r>
              <a:rPr lang="en-US" altLang="en-US" sz="2800" b="1" dirty="0" smtClean="0"/>
              <a:t>Hear to write</a:t>
            </a:r>
            <a:r>
              <a:rPr lang="en-US" altLang="en-US" sz="2800" dirty="0" smtClean="0"/>
              <a:t> e.g. letter sounds, numbers, spellings</a:t>
            </a:r>
          </a:p>
          <a:p>
            <a:pPr marL="423863" indent="-384175" eaLnBrk="1" hangingPunct="1">
              <a:lnSpc>
                <a:spcPct val="90000"/>
              </a:lnSpc>
            </a:pPr>
            <a:endParaRPr lang="en-US" altLang="en-US" sz="2800" dirty="0" smtClean="0"/>
          </a:p>
          <a:p>
            <a:pPr marL="423863" indent="-384175" eaLnBrk="1" hangingPunct="1">
              <a:lnSpc>
                <a:spcPct val="90000"/>
              </a:lnSpc>
            </a:pPr>
            <a:r>
              <a:rPr lang="en-US" altLang="en-US" sz="2800" b="1" dirty="0" smtClean="0"/>
              <a:t>See to write</a:t>
            </a:r>
            <a:r>
              <a:rPr lang="en-US" altLang="en-US" sz="2800" dirty="0" smtClean="0"/>
              <a:t> e.g. 3 + 6 =</a:t>
            </a:r>
          </a:p>
        </p:txBody>
      </p:sp>
    </p:spTree>
    <p:extLst>
      <p:ext uri="{BB962C8B-B14F-4D97-AF65-F5344CB8AC3E}">
        <p14:creationId xmlns:p14="http://schemas.microsoft.com/office/powerpoint/2010/main" val="17862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1187450" y="1052513"/>
            <a:ext cx="7086600" cy="731837"/>
          </a:xfrm>
        </p:spPr>
        <p:txBody>
          <a:bodyPr rIns="31750" anchor="b"/>
          <a:lstStyle/>
          <a:p>
            <a:pPr indent="0" eaLnBrk="1" hangingPunct="1"/>
            <a:r>
              <a:rPr lang="en-US" altLang="en-US" u="sng" smtClean="0"/>
              <a:t>PT Probe Generator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187450" y="1196975"/>
            <a:ext cx="7416800" cy="4525963"/>
          </a:xfrm>
        </p:spPr>
        <p:txBody>
          <a:bodyPr rIns="31750"/>
          <a:lstStyle/>
          <a:p>
            <a:pPr marL="423863" indent="-384175" eaLnBrk="1" hangingPunct="1"/>
            <a:endParaRPr lang="en-US" altLang="en-US" dirty="0" smtClean="0"/>
          </a:p>
          <a:p>
            <a:pPr marL="423863" indent="-384175" eaLnBrk="1" hangingPunct="1"/>
            <a:endParaRPr lang="en-US" altLang="en-US" dirty="0" smtClean="0"/>
          </a:p>
          <a:p>
            <a:pPr marL="423863" indent="-384175" eaLnBrk="1" hangingPunct="1"/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r>
              <a:rPr lang="en-US" altLang="en-US" u="sng" dirty="0" smtClean="0">
                <a:solidFill>
                  <a:srgbClr val="009999"/>
                </a:solidFill>
                <a:hlinkClick r:id="rId3"/>
              </a:rPr>
              <a:t>http://johnandgwyn.co.uk/probe.html</a:t>
            </a:r>
            <a:r>
              <a:rPr lang="en-US" altLang="en-US" dirty="0" smtClean="0"/>
              <a:t> </a:t>
            </a:r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dirty="0" smtClean="0"/>
          </a:p>
          <a:p>
            <a:pPr marL="423863" indent="-384175" algn="ctr" eaLnBrk="1" hangingPunct="1">
              <a:buFont typeface="Century Gothic" pitchFamily="34" charset="0"/>
              <a:buNone/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14053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260350"/>
            <a:ext cx="7772400" cy="947738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4000" b="1" dirty="0" smtClean="0"/>
              <a:t>Step 5-</a:t>
            </a:r>
            <a:r>
              <a:rPr lang="en-GB" altLang="en-US" sz="4000" dirty="0" smtClean="0"/>
              <a:t> Chart Results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268413"/>
            <a:ext cx="8642350" cy="489585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Chart results with the child – helps to motivate the child &amp; increase confidence.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Helps teacher to see which teaching methods are most effective for particular pupil (record on chart).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Record any changes made to task.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Record the number of correct AND incorrect words.</a:t>
            </a:r>
          </a:p>
          <a:p>
            <a:pPr eaLnBrk="1" hangingPunct="1">
              <a:lnSpc>
                <a:spcPct val="80000"/>
              </a:lnSpc>
            </a:pPr>
            <a:endParaRPr lang="en-GB" altLang="en-US" sz="1600" smtClean="0"/>
          </a:p>
          <a:p>
            <a:pPr eaLnBrk="1" hangingPunct="1">
              <a:lnSpc>
                <a:spcPct val="80000"/>
              </a:lnSpc>
            </a:pPr>
            <a:r>
              <a:rPr lang="en-GB" altLang="en-US" sz="2800" smtClean="0"/>
              <a:t>If you are unable to do the probe on a particular day, that line is left blank.</a:t>
            </a:r>
          </a:p>
        </p:txBody>
      </p:sp>
    </p:spTree>
    <p:extLst>
      <p:ext uri="{BB962C8B-B14F-4D97-AF65-F5344CB8AC3E}">
        <p14:creationId xmlns:p14="http://schemas.microsoft.com/office/powerpoint/2010/main" val="1567231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"/>
          <p:cNvSpPr>
            <a:spLocks/>
          </p:cNvSpPr>
          <p:nvPr/>
        </p:nvSpPr>
        <p:spPr bwMode="auto">
          <a:xfrm>
            <a:off x="2819400" y="1752600"/>
            <a:ext cx="3352800" cy="4419600"/>
          </a:xfrm>
          <a:prstGeom prst="rect">
            <a:avLst/>
          </a:prstGeom>
          <a:solidFill>
            <a:srgbClr val="F8F8F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200">
              <a:solidFill>
                <a:srgbClr val="000000"/>
              </a:solidFill>
              <a:latin typeface="Times New Roman" pitchFamily="18" charset="0"/>
              <a:sym typeface="Times New Roman" pitchFamily="18" charset="0"/>
            </a:endParaRPr>
          </a:p>
        </p:txBody>
      </p:sp>
      <p:sp>
        <p:nvSpPr>
          <p:cNvPr id="22531" name="Line 2"/>
          <p:cNvSpPr>
            <a:spLocks noChangeShapeType="1"/>
          </p:cNvSpPr>
          <p:nvPr/>
        </p:nvSpPr>
        <p:spPr bwMode="auto">
          <a:xfrm>
            <a:off x="3352800" y="2438400"/>
            <a:ext cx="1588" cy="27432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2" name="Line 3"/>
          <p:cNvSpPr>
            <a:spLocks noChangeShapeType="1"/>
          </p:cNvSpPr>
          <p:nvPr/>
        </p:nvSpPr>
        <p:spPr bwMode="auto">
          <a:xfrm>
            <a:off x="3352800" y="5181600"/>
            <a:ext cx="2057400" cy="1588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3" name="Line 4"/>
          <p:cNvSpPr>
            <a:spLocks noChangeShapeType="1"/>
          </p:cNvSpPr>
          <p:nvPr/>
        </p:nvSpPr>
        <p:spPr bwMode="auto">
          <a:xfrm>
            <a:off x="3352800" y="5410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4" name="Line 5"/>
          <p:cNvSpPr>
            <a:spLocks noChangeShapeType="1"/>
          </p:cNvSpPr>
          <p:nvPr/>
        </p:nvSpPr>
        <p:spPr bwMode="auto">
          <a:xfrm>
            <a:off x="3352800" y="4800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5" name="Line 6"/>
          <p:cNvSpPr>
            <a:spLocks noChangeShapeType="1"/>
          </p:cNvSpPr>
          <p:nvPr/>
        </p:nvSpPr>
        <p:spPr bwMode="auto">
          <a:xfrm>
            <a:off x="3352800" y="4419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6" name="Line 7"/>
          <p:cNvSpPr>
            <a:spLocks noChangeShapeType="1"/>
          </p:cNvSpPr>
          <p:nvPr/>
        </p:nvSpPr>
        <p:spPr bwMode="auto">
          <a:xfrm>
            <a:off x="3352800" y="4038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7" name="Line 8"/>
          <p:cNvSpPr>
            <a:spLocks noChangeShapeType="1"/>
          </p:cNvSpPr>
          <p:nvPr/>
        </p:nvSpPr>
        <p:spPr bwMode="auto">
          <a:xfrm>
            <a:off x="3352800" y="3657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8" name="Line 9"/>
          <p:cNvSpPr>
            <a:spLocks noChangeShapeType="1"/>
          </p:cNvSpPr>
          <p:nvPr/>
        </p:nvSpPr>
        <p:spPr bwMode="auto">
          <a:xfrm>
            <a:off x="3352800" y="3276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39" name="Line 10"/>
          <p:cNvSpPr>
            <a:spLocks noChangeShapeType="1"/>
          </p:cNvSpPr>
          <p:nvPr/>
        </p:nvSpPr>
        <p:spPr bwMode="auto">
          <a:xfrm>
            <a:off x="3352800" y="2895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40" name="Rectangle 11"/>
          <p:cNvSpPr>
            <a:spLocks/>
          </p:cNvSpPr>
          <p:nvPr/>
        </p:nvSpPr>
        <p:spPr bwMode="auto">
          <a:xfrm>
            <a:off x="3352800" y="5562600"/>
            <a:ext cx="2057400" cy="152400"/>
          </a:xfrm>
          <a:prstGeom prst="rect">
            <a:avLst/>
          </a:prstGeom>
          <a:noFill/>
          <a:ln w="12700">
            <a:solidFill>
              <a:srgbClr val="FFB8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200">
              <a:solidFill>
                <a:srgbClr val="000000"/>
              </a:solidFill>
              <a:latin typeface="Times New Roman" pitchFamily="18" charset="0"/>
              <a:sym typeface="Times New Roman" pitchFamily="18" charset="0"/>
            </a:endParaRPr>
          </a:p>
        </p:txBody>
      </p:sp>
      <p:sp>
        <p:nvSpPr>
          <p:cNvPr id="22541" name="Line 12"/>
          <p:cNvSpPr>
            <a:spLocks noChangeShapeType="1"/>
          </p:cNvSpPr>
          <p:nvPr/>
        </p:nvSpPr>
        <p:spPr bwMode="auto">
          <a:xfrm>
            <a:off x="3352800" y="5638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42" name="Rectangle 13"/>
          <p:cNvSpPr>
            <a:spLocks/>
          </p:cNvSpPr>
          <p:nvPr/>
        </p:nvSpPr>
        <p:spPr bwMode="auto">
          <a:xfrm>
            <a:off x="2971800" y="24384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100</a:t>
            </a:r>
          </a:p>
        </p:txBody>
      </p:sp>
      <p:sp>
        <p:nvSpPr>
          <p:cNvPr id="22543" name="Rectangle 14"/>
          <p:cNvSpPr>
            <a:spLocks/>
          </p:cNvSpPr>
          <p:nvPr/>
        </p:nvSpPr>
        <p:spPr bwMode="auto">
          <a:xfrm>
            <a:off x="3124200" y="50292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1</a:t>
            </a:r>
          </a:p>
        </p:txBody>
      </p:sp>
      <p:sp>
        <p:nvSpPr>
          <p:cNvPr id="22544" name="Rectangle 15"/>
          <p:cNvSpPr>
            <a:spLocks/>
          </p:cNvSpPr>
          <p:nvPr/>
        </p:nvSpPr>
        <p:spPr bwMode="auto">
          <a:xfrm>
            <a:off x="3124200" y="4648200"/>
            <a:ext cx="7620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2</a:t>
            </a:r>
          </a:p>
        </p:txBody>
      </p:sp>
      <p:sp>
        <p:nvSpPr>
          <p:cNvPr id="22545" name="Rectangle 16"/>
          <p:cNvSpPr>
            <a:spLocks/>
          </p:cNvSpPr>
          <p:nvPr/>
        </p:nvSpPr>
        <p:spPr bwMode="auto">
          <a:xfrm>
            <a:off x="3124200" y="42672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4</a:t>
            </a:r>
          </a:p>
        </p:txBody>
      </p:sp>
      <p:sp>
        <p:nvSpPr>
          <p:cNvPr id="22546" name="Rectangle 17"/>
          <p:cNvSpPr>
            <a:spLocks/>
          </p:cNvSpPr>
          <p:nvPr/>
        </p:nvSpPr>
        <p:spPr bwMode="auto">
          <a:xfrm>
            <a:off x="3124200" y="38862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8</a:t>
            </a:r>
          </a:p>
        </p:txBody>
      </p:sp>
      <p:sp>
        <p:nvSpPr>
          <p:cNvPr id="22547" name="Rectangle 18"/>
          <p:cNvSpPr>
            <a:spLocks/>
          </p:cNvSpPr>
          <p:nvPr/>
        </p:nvSpPr>
        <p:spPr bwMode="auto">
          <a:xfrm>
            <a:off x="3048000" y="35052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16</a:t>
            </a:r>
          </a:p>
        </p:txBody>
      </p:sp>
      <p:sp>
        <p:nvSpPr>
          <p:cNvPr id="22548" name="Rectangle 19"/>
          <p:cNvSpPr>
            <a:spLocks/>
          </p:cNvSpPr>
          <p:nvPr/>
        </p:nvSpPr>
        <p:spPr bwMode="auto">
          <a:xfrm>
            <a:off x="3048000" y="31242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32</a:t>
            </a:r>
          </a:p>
        </p:txBody>
      </p:sp>
      <p:sp>
        <p:nvSpPr>
          <p:cNvPr id="22549" name="Rectangle 20"/>
          <p:cNvSpPr>
            <a:spLocks/>
          </p:cNvSpPr>
          <p:nvPr/>
        </p:nvSpPr>
        <p:spPr bwMode="auto">
          <a:xfrm>
            <a:off x="3048000" y="27432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64</a:t>
            </a:r>
          </a:p>
        </p:txBody>
      </p:sp>
      <p:sp>
        <p:nvSpPr>
          <p:cNvPr id="22550" name="Line 21"/>
          <p:cNvSpPr>
            <a:spLocks noChangeShapeType="1"/>
          </p:cNvSpPr>
          <p:nvPr/>
        </p:nvSpPr>
        <p:spPr bwMode="auto">
          <a:xfrm>
            <a:off x="3352800" y="2590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1" name="Line 22"/>
          <p:cNvSpPr>
            <a:spLocks noChangeShapeType="1"/>
          </p:cNvSpPr>
          <p:nvPr/>
        </p:nvSpPr>
        <p:spPr bwMode="auto">
          <a:xfrm>
            <a:off x="3352800" y="4495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2" name="Line 23"/>
          <p:cNvSpPr>
            <a:spLocks noChangeShapeType="1"/>
          </p:cNvSpPr>
          <p:nvPr/>
        </p:nvSpPr>
        <p:spPr bwMode="auto">
          <a:xfrm>
            <a:off x="3276600" y="4724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3" name="Line 24"/>
          <p:cNvSpPr>
            <a:spLocks noChangeShapeType="1"/>
          </p:cNvSpPr>
          <p:nvPr/>
        </p:nvSpPr>
        <p:spPr bwMode="auto">
          <a:xfrm>
            <a:off x="3352800" y="4267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4" name="Line 25"/>
          <p:cNvSpPr>
            <a:spLocks noChangeShapeType="1"/>
          </p:cNvSpPr>
          <p:nvPr/>
        </p:nvSpPr>
        <p:spPr bwMode="auto">
          <a:xfrm>
            <a:off x="3352800" y="3886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5" name="Line 26"/>
          <p:cNvSpPr>
            <a:spLocks noChangeShapeType="1"/>
          </p:cNvSpPr>
          <p:nvPr/>
        </p:nvSpPr>
        <p:spPr bwMode="auto">
          <a:xfrm>
            <a:off x="3352800" y="3505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6" name="Line 27"/>
          <p:cNvSpPr>
            <a:spLocks noChangeShapeType="1"/>
          </p:cNvSpPr>
          <p:nvPr/>
        </p:nvSpPr>
        <p:spPr bwMode="auto">
          <a:xfrm>
            <a:off x="3352800" y="34290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7" name="Line 28"/>
          <p:cNvSpPr>
            <a:spLocks noChangeShapeType="1"/>
          </p:cNvSpPr>
          <p:nvPr/>
        </p:nvSpPr>
        <p:spPr bwMode="auto">
          <a:xfrm>
            <a:off x="3352800" y="3200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8" name="Line 29"/>
          <p:cNvSpPr>
            <a:spLocks noChangeShapeType="1"/>
          </p:cNvSpPr>
          <p:nvPr/>
        </p:nvSpPr>
        <p:spPr bwMode="auto">
          <a:xfrm>
            <a:off x="3352800" y="3124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59" name="Line 30"/>
          <p:cNvSpPr>
            <a:spLocks noChangeShapeType="1"/>
          </p:cNvSpPr>
          <p:nvPr/>
        </p:nvSpPr>
        <p:spPr bwMode="auto">
          <a:xfrm>
            <a:off x="3352800" y="2971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0" name="Line 31"/>
          <p:cNvSpPr>
            <a:spLocks noChangeShapeType="1"/>
          </p:cNvSpPr>
          <p:nvPr/>
        </p:nvSpPr>
        <p:spPr bwMode="auto">
          <a:xfrm>
            <a:off x="3352800" y="30480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1" name="Line 32"/>
          <p:cNvSpPr>
            <a:spLocks noChangeShapeType="1"/>
          </p:cNvSpPr>
          <p:nvPr/>
        </p:nvSpPr>
        <p:spPr bwMode="auto">
          <a:xfrm>
            <a:off x="3352800" y="26670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2" name="Line 33"/>
          <p:cNvSpPr>
            <a:spLocks noChangeShapeType="1"/>
          </p:cNvSpPr>
          <p:nvPr/>
        </p:nvSpPr>
        <p:spPr bwMode="auto">
          <a:xfrm>
            <a:off x="3352800" y="2743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3" name="Line 34"/>
          <p:cNvSpPr>
            <a:spLocks noChangeShapeType="1"/>
          </p:cNvSpPr>
          <p:nvPr/>
        </p:nvSpPr>
        <p:spPr bwMode="auto">
          <a:xfrm>
            <a:off x="3352800" y="2819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4" name="Line 35"/>
          <p:cNvSpPr>
            <a:spLocks noChangeShapeType="1"/>
          </p:cNvSpPr>
          <p:nvPr/>
        </p:nvSpPr>
        <p:spPr bwMode="auto">
          <a:xfrm>
            <a:off x="34290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5" name="Line 36"/>
          <p:cNvSpPr>
            <a:spLocks noChangeShapeType="1"/>
          </p:cNvSpPr>
          <p:nvPr/>
        </p:nvSpPr>
        <p:spPr bwMode="auto">
          <a:xfrm>
            <a:off x="35052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6" name="Line 37"/>
          <p:cNvSpPr>
            <a:spLocks noChangeShapeType="1"/>
          </p:cNvSpPr>
          <p:nvPr/>
        </p:nvSpPr>
        <p:spPr bwMode="auto">
          <a:xfrm>
            <a:off x="35814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7" name="Line 38"/>
          <p:cNvSpPr>
            <a:spLocks noChangeShapeType="1"/>
          </p:cNvSpPr>
          <p:nvPr/>
        </p:nvSpPr>
        <p:spPr bwMode="auto">
          <a:xfrm>
            <a:off x="36576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8" name="Line 39"/>
          <p:cNvSpPr>
            <a:spLocks noChangeShapeType="1"/>
          </p:cNvSpPr>
          <p:nvPr/>
        </p:nvSpPr>
        <p:spPr bwMode="auto">
          <a:xfrm>
            <a:off x="3733800" y="24384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69" name="Line 40"/>
          <p:cNvSpPr>
            <a:spLocks noChangeShapeType="1"/>
          </p:cNvSpPr>
          <p:nvPr/>
        </p:nvSpPr>
        <p:spPr bwMode="auto">
          <a:xfrm>
            <a:off x="38100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0" name="Line 41"/>
          <p:cNvSpPr>
            <a:spLocks noChangeShapeType="1"/>
          </p:cNvSpPr>
          <p:nvPr/>
        </p:nvSpPr>
        <p:spPr bwMode="auto">
          <a:xfrm>
            <a:off x="38862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1" name="Line 42"/>
          <p:cNvSpPr>
            <a:spLocks noChangeShapeType="1"/>
          </p:cNvSpPr>
          <p:nvPr/>
        </p:nvSpPr>
        <p:spPr bwMode="auto">
          <a:xfrm>
            <a:off x="39624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2" name="Line 43"/>
          <p:cNvSpPr>
            <a:spLocks noChangeShapeType="1"/>
          </p:cNvSpPr>
          <p:nvPr/>
        </p:nvSpPr>
        <p:spPr bwMode="auto">
          <a:xfrm>
            <a:off x="40386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3" name="Line 44"/>
          <p:cNvSpPr>
            <a:spLocks noChangeShapeType="1"/>
          </p:cNvSpPr>
          <p:nvPr/>
        </p:nvSpPr>
        <p:spPr bwMode="auto">
          <a:xfrm>
            <a:off x="4114800" y="24384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4" name="Line 45"/>
          <p:cNvSpPr>
            <a:spLocks noChangeShapeType="1"/>
          </p:cNvSpPr>
          <p:nvPr/>
        </p:nvSpPr>
        <p:spPr bwMode="auto">
          <a:xfrm>
            <a:off x="41910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5" name="Line 46"/>
          <p:cNvSpPr>
            <a:spLocks noChangeShapeType="1"/>
          </p:cNvSpPr>
          <p:nvPr/>
        </p:nvSpPr>
        <p:spPr bwMode="auto">
          <a:xfrm>
            <a:off x="42672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6" name="Line 47"/>
          <p:cNvSpPr>
            <a:spLocks noChangeShapeType="1"/>
          </p:cNvSpPr>
          <p:nvPr/>
        </p:nvSpPr>
        <p:spPr bwMode="auto">
          <a:xfrm>
            <a:off x="43434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7" name="Line 48"/>
          <p:cNvSpPr>
            <a:spLocks noChangeShapeType="1"/>
          </p:cNvSpPr>
          <p:nvPr/>
        </p:nvSpPr>
        <p:spPr bwMode="auto">
          <a:xfrm>
            <a:off x="44196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8" name="Line 49"/>
          <p:cNvSpPr>
            <a:spLocks noChangeShapeType="1"/>
          </p:cNvSpPr>
          <p:nvPr/>
        </p:nvSpPr>
        <p:spPr bwMode="auto">
          <a:xfrm>
            <a:off x="4495800" y="24384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79" name="Line 50"/>
          <p:cNvSpPr>
            <a:spLocks noChangeShapeType="1"/>
          </p:cNvSpPr>
          <p:nvPr/>
        </p:nvSpPr>
        <p:spPr bwMode="auto">
          <a:xfrm>
            <a:off x="45720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0" name="Line 51"/>
          <p:cNvSpPr>
            <a:spLocks noChangeShapeType="1"/>
          </p:cNvSpPr>
          <p:nvPr/>
        </p:nvSpPr>
        <p:spPr bwMode="auto">
          <a:xfrm>
            <a:off x="46482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1" name="Line 52"/>
          <p:cNvSpPr>
            <a:spLocks noChangeShapeType="1"/>
          </p:cNvSpPr>
          <p:nvPr/>
        </p:nvSpPr>
        <p:spPr bwMode="auto">
          <a:xfrm>
            <a:off x="47244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2" name="Line 53"/>
          <p:cNvSpPr>
            <a:spLocks noChangeShapeType="1"/>
          </p:cNvSpPr>
          <p:nvPr/>
        </p:nvSpPr>
        <p:spPr bwMode="auto">
          <a:xfrm>
            <a:off x="48006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3" name="Line 54"/>
          <p:cNvSpPr>
            <a:spLocks noChangeShapeType="1"/>
          </p:cNvSpPr>
          <p:nvPr/>
        </p:nvSpPr>
        <p:spPr bwMode="auto">
          <a:xfrm>
            <a:off x="4876800" y="24384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4" name="Line 55"/>
          <p:cNvSpPr>
            <a:spLocks noChangeShapeType="1"/>
          </p:cNvSpPr>
          <p:nvPr/>
        </p:nvSpPr>
        <p:spPr bwMode="auto">
          <a:xfrm>
            <a:off x="49530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5" name="Line 56"/>
          <p:cNvSpPr>
            <a:spLocks noChangeShapeType="1"/>
          </p:cNvSpPr>
          <p:nvPr/>
        </p:nvSpPr>
        <p:spPr bwMode="auto">
          <a:xfrm>
            <a:off x="50292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6" name="Line 57"/>
          <p:cNvSpPr>
            <a:spLocks noChangeShapeType="1"/>
          </p:cNvSpPr>
          <p:nvPr/>
        </p:nvSpPr>
        <p:spPr bwMode="auto">
          <a:xfrm>
            <a:off x="51054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7" name="Line 58"/>
          <p:cNvSpPr>
            <a:spLocks noChangeShapeType="1"/>
          </p:cNvSpPr>
          <p:nvPr/>
        </p:nvSpPr>
        <p:spPr bwMode="auto">
          <a:xfrm>
            <a:off x="51816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8" name="Line 59"/>
          <p:cNvSpPr>
            <a:spLocks noChangeShapeType="1"/>
          </p:cNvSpPr>
          <p:nvPr/>
        </p:nvSpPr>
        <p:spPr bwMode="auto">
          <a:xfrm>
            <a:off x="5257800" y="24384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89" name="Line 60"/>
          <p:cNvSpPr>
            <a:spLocks noChangeShapeType="1"/>
          </p:cNvSpPr>
          <p:nvPr/>
        </p:nvSpPr>
        <p:spPr bwMode="auto">
          <a:xfrm>
            <a:off x="5334000" y="24384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0" name="Rectangle 61"/>
          <p:cNvSpPr>
            <a:spLocks/>
          </p:cNvSpPr>
          <p:nvPr/>
        </p:nvSpPr>
        <p:spPr bwMode="auto">
          <a:xfrm>
            <a:off x="6372225" y="1844675"/>
            <a:ext cx="22352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15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FF0000"/>
                </a:solidFill>
                <a:latin typeface="Arial" charset="0"/>
                <a:cs typeface="Arial" charset="0"/>
                <a:sym typeface="Arial" charset="0"/>
              </a:rPr>
              <a:t>Proportional chart - showing % gains</a:t>
            </a:r>
          </a:p>
        </p:txBody>
      </p:sp>
      <p:sp>
        <p:nvSpPr>
          <p:cNvPr id="22591" name="Rectangle 62"/>
          <p:cNvSpPr>
            <a:spLocks/>
          </p:cNvSpPr>
          <p:nvPr/>
        </p:nvSpPr>
        <p:spPr bwMode="auto">
          <a:xfrm>
            <a:off x="533400" y="4572000"/>
            <a:ext cx="16002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15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charset="0"/>
                <a:cs typeface="Arial" charset="0"/>
                <a:sym typeface="Arial" charset="0"/>
              </a:rPr>
              <a:t>Correct</a:t>
            </a:r>
          </a:p>
          <a:p>
            <a:pPr eaLnBrk="1" hangingPunct="1">
              <a:spcBef>
                <a:spcPts val="115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charset="0"/>
                <a:cs typeface="Arial" charset="0"/>
                <a:sym typeface="Arial" charset="0"/>
              </a:rPr>
              <a:t>Errors</a:t>
            </a:r>
          </a:p>
        </p:txBody>
      </p:sp>
      <p:sp>
        <p:nvSpPr>
          <p:cNvPr id="22592" name="Line 63"/>
          <p:cNvSpPr>
            <a:spLocks noChangeShapeType="1"/>
          </p:cNvSpPr>
          <p:nvPr/>
        </p:nvSpPr>
        <p:spPr bwMode="auto">
          <a:xfrm>
            <a:off x="1600200" y="4800600"/>
            <a:ext cx="167640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3" name="Line 64"/>
          <p:cNvSpPr>
            <a:spLocks noChangeShapeType="1"/>
          </p:cNvSpPr>
          <p:nvPr/>
        </p:nvSpPr>
        <p:spPr bwMode="auto">
          <a:xfrm>
            <a:off x="1447800" y="5334000"/>
            <a:ext cx="1828800" cy="304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4" name="Rectangle 65"/>
          <p:cNvSpPr>
            <a:spLocks/>
          </p:cNvSpPr>
          <p:nvPr/>
        </p:nvSpPr>
        <p:spPr bwMode="auto">
          <a:xfrm>
            <a:off x="5580063" y="836613"/>
            <a:ext cx="1905000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05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Arial" charset="0"/>
                <a:cs typeface="Arial" charset="0"/>
                <a:sym typeface="Arial" charset="0"/>
              </a:rPr>
              <a:t>Days of the week or ‘trials’ (5)</a:t>
            </a:r>
          </a:p>
        </p:txBody>
      </p:sp>
      <p:sp>
        <p:nvSpPr>
          <p:cNvPr id="22595" name="Line 66"/>
          <p:cNvSpPr>
            <a:spLocks noChangeShapeType="1"/>
          </p:cNvSpPr>
          <p:nvPr/>
        </p:nvSpPr>
        <p:spPr bwMode="auto">
          <a:xfrm flipH="1">
            <a:off x="3962400" y="1484313"/>
            <a:ext cx="1257300" cy="800100"/>
          </a:xfrm>
          <a:prstGeom prst="line">
            <a:avLst/>
          </a:prstGeom>
          <a:noFill/>
          <a:ln w="63500">
            <a:solidFill>
              <a:srgbClr val="FFB8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6" name="Line 67"/>
          <p:cNvSpPr>
            <a:spLocks noChangeShapeType="1"/>
          </p:cNvSpPr>
          <p:nvPr/>
        </p:nvSpPr>
        <p:spPr bwMode="auto">
          <a:xfrm>
            <a:off x="2819400" y="5334000"/>
            <a:ext cx="457200" cy="228600"/>
          </a:xfrm>
          <a:prstGeom prst="line">
            <a:avLst/>
          </a:prstGeom>
          <a:noFill/>
          <a:ln w="63500">
            <a:solidFill>
              <a:srgbClr val="FFB800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7" name="Line 68"/>
          <p:cNvSpPr>
            <a:spLocks noChangeShapeType="1"/>
          </p:cNvSpPr>
          <p:nvPr/>
        </p:nvSpPr>
        <p:spPr bwMode="auto">
          <a:xfrm>
            <a:off x="2819400" y="5562600"/>
            <a:ext cx="457200" cy="76200"/>
          </a:xfrm>
          <a:prstGeom prst="line">
            <a:avLst/>
          </a:prstGeom>
          <a:noFill/>
          <a:ln w="63500">
            <a:solidFill>
              <a:srgbClr val="FFB800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598" name="Rectangle 69"/>
          <p:cNvSpPr>
            <a:spLocks/>
          </p:cNvSpPr>
          <p:nvPr/>
        </p:nvSpPr>
        <p:spPr bwMode="auto">
          <a:xfrm>
            <a:off x="457200" y="3124200"/>
            <a:ext cx="19812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05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Arial" charset="0"/>
                <a:cs typeface="Arial" charset="0"/>
                <a:sym typeface="Arial" charset="0"/>
              </a:rPr>
              <a:t>Responses per minute</a:t>
            </a:r>
          </a:p>
        </p:txBody>
      </p:sp>
      <p:sp>
        <p:nvSpPr>
          <p:cNvPr id="22599" name="Line 70"/>
          <p:cNvSpPr>
            <a:spLocks noChangeShapeType="1"/>
          </p:cNvSpPr>
          <p:nvPr/>
        </p:nvSpPr>
        <p:spPr bwMode="auto">
          <a:xfrm rot="10800000" flipH="1">
            <a:off x="1828800" y="3276600"/>
            <a:ext cx="1219200" cy="304800"/>
          </a:xfrm>
          <a:prstGeom prst="line">
            <a:avLst/>
          </a:prstGeom>
          <a:noFill/>
          <a:ln w="63500">
            <a:solidFill>
              <a:srgbClr val="FFB8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600" name="Line 71"/>
          <p:cNvSpPr>
            <a:spLocks noChangeShapeType="1"/>
          </p:cNvSpPr>
          <p:nvPr/>
        </p:nvSpPr>
        <p:spPr bwMode="auto">
          <a:xfrm flipH="1">
            <a:off x="1828800" y="3352800"/>
            <a:ext cx="838200" cy="2286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2601" name="Rectangle 72"/>
          <p:cNvSpPr>
            <a:spLocks/>
          </p:cNvSpPr>
          <p:nvPr/>
        </p:nvSpPr>
        <p:spPr bwMode="auto">
          <a:xfrm>
            <a:off x="1157288" y="942975"/>
            <a:ext cx="68707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82550" bIns="0" anchor="b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u="sng"/>
              <a:t>The Chart</a:t>
            </a:r>
          </a:p>
        </p:txBody>
      </p:sp>
    </p:spTree>
    <p:extLst>
      <p:ext uri="{BB962C8B-B14F-4D97-AF65-F5344CB8AC3E}">
        <p14:creationId xmlns:p14="http://schemas.microsoft.com/office/powerpoint/2010/main" val="3228060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"/>
          <p:cNvSpPr>
            <a:spLocks/>
          </p:cNvSpPr>
          <p:nvPr/>
        </p:nvSpPr>
        <p:spPr bwMode="auto">
          <a:xfrm>
            <a:off x="1331913" y="889000"/>
            <a:ext cx="57658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1275" bIns="0" anchor="b"/>
          <a:lstStyle>
            <a:lvl1pPr marL="41275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u="sng"/>
              <a:t>Precision Teaching</a:t>
            </a:r>
          </a:p>
        </p:txBody>
      </p:sp>
      <p:sp>
        <p:nvSpPr>
          <p:cNvPr id="23555" name="Rectangle 2"/>
          <p:cNvSpPr>
            <a:spLocks/>
          </p:cNvSpPr>
          <p:nvPr/>
        </p:nvSpPr>
        <p:spPr bwMode="auto">
          <a:xfrm>
            <a:off x="3048000" y="1905000"/>
            <a:ext cx="3352800" cy="4419600"/>
          </a:xfrm>
          <a:prstGeom prst="rect">
            <a:avLst/>
          </a:prstGeom>
          <a:solidFill>
            <a:srgbClr val="F8F8F8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200">
              <a:solidFill>
                <a:srgbClr val="000000"/>
              </a:solidFill>
              <a:latin typeface="Times New Roman" pitchFamily="18" charset="0"/>
              <a:sym typeface="Times New Roman" pitchFamily="18" charset="0"/>
            </a:endParaRPr>
          </a:p>
        </p:txBody>
      </p:sp>
      <p:sp>
        <p:nvSpPr>
          <p:cNvPr id="23556" name="Line 3"/>
          <p:cNvSpPr>
            <a:spLocks noChangeShapeType="1"/>
          </p:cNvSpPr>
          <p:nvPr/>
        </p:nvSpPr>
        <p:spPr bwMode="auto">
          <a:xfrm>
            <a:off x="3581400" y="2667000"/>
            <a:ext cx="1588" cy="27432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57" name="Line 4"/>
          <p:cNvSpPr>
            <a:spLocks noChangeShapeType="1"/>
          </p:cNvSpPr>
          <p:nvPr/>
        </p:nvSpPr>
        <p:spPr bwMode="auto">
          <a:xfrm>
            <a:off x="3581400" y="5410200"/>
            <a:ext cx="2057400" cy="1588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58" name="Line 5"/>
          <p:cNvSpPr>
            <a:spLocks noChangeShapeType="1"/>
          </p:cNvSpPr>
          <p:nvPr/>
        </p:nvSpPr>
        <p:spPr bwMode="auto">
          <a:xfrm>
            <a:off x="3581400" y="5638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59" name="Line 6"/>
          <p:cNvSpPr>
            <a:spLocks noChangeShapeType="1"/>
          </p:cNvSpPr>
          <p:nvPr/>
        </p:nvSpPr>
        <p:spPr bwMode="auto">
          <a:xfrm>
            <a:off x="3581400" y="5029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0" name="Line 7"/>
          <p:cNvSpPr>
            <a:spLocks noChangeShapeType="1"/>
          </p:cNvSpPr>
          <p:nvPr/>
        </p:nvSpPr>
        <p:spPr bwMode="auto">
          <a:xfrm>
            <a:off x="3581400" y="4648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1" name="Line 8"/>
          <p:cNvSpPr>
            <a:spLocks noChangeShapeType="1"/>
          </p:cNvSpPr>
          <p:nvPr/>
        </p:nvSpPr>
        <p:spPr bwMode="auto">
          <a:xfrm>
            <a:off x="3581400" y="4267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2" name="Line 9"/>
          <p:cNvSpPr>
            <a:spLocks noChangeShapeType="1"/>
          </p:cNvSpPr>
          <p:nvPr/>
        </p:nvSpPr>
        <p:spPr bwMode="auto">
          <a:xfrm>
            <a:off x="3581400" y="3886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3" name="Line 10"/>
          <p:cNvSpPr>
            <a:spLocks noChangeShapeType="1"/>
          </p:cNvSpPr>
          <p:nvPr/>
        </p:nvSpPr>
        <p:spPr bwMode="auto">
          <a:xfrm>
            <a:off x="3581400" y="3505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4" name="Line 11"/>
          <p:cNvSpPr>
            <a:spLocks noChangeShapeType="1"/>
          </p:cNvSpPr>
          <p:nvPr/>
        </p:nvSpPr>
        <p:spPr bwMode="auto">
          <a:xfrm>
            <a:off x="3581400" y="31242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5" name="Rectangle 12"/>
          <p:cNvSpPr>
            <a:spLocks/>
          </p:cNvSpPr>
          <p:nvPr/>
        </p:nvSpPr>
        <p:spPr bwMode="auto">
          <a:xfrm>
            <a:off x="3581400" y="5791200"/>
            <a:ext cx="2057400" cy="152400"/>
          </a:xfrm>
          <a:prstGeom prst="rect">
            <a:avLst/>
          </a:prstGeom>
          <a:noFill/>
          <a:ln w="12700">
            <a:solidFill>
              <a:srgbClr val="FFB8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GB" altLang="en-US" sz="1200">
              <a:solidFill>
                <a:srgbClr val="000000"/>
              </a:solidFill>
              <a:latin typeface="Times New Roman" pitchFamily="18" charset="0"/>
              <a:sym typeface="Times New Roman" pitchFamily="18" charset="0"/>
            </a:endParaRPr>
          </a:p>
        </p:txBody>
      </p:sp>
      <p:sp>
        <p:nvSpPr>
          <p:cNvPr id="23566" name="Line 13"/>
          <p:cNvSpPr>
            <a:spLocks noChangeShapeType="1"/>
          </p:cNvSpPr>
          <p:nvPr/>
        </p:nvSpPr>
        <p:spPr bwMode="auto">
          <a:xfrm>
            <a:off x="3581400" y="5867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67" name="Rectangle 14"/>
          <p:cNvSpPr>
            <a:spLocks/>
          </p:cNvSpPr>
          <p:nvPr/>
        </p:nvSpPr>
        <p:spPr bwMode="auto">
          <a:xfrm>
            <a:off x="3200400" y="26670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100</a:t>
            </a:r>
          </a:p>
        </p:txBody>
      </p:sp>
      <p:sp>
        <p:nvSpPr>
          <p:cNvPr id="23568" name="Rectangle 15"/>
          <p:cNvSpPr>
            <a:spLocks/>
          </p:cNvSpPr>
          <p:nvPr/>
        </p:nvSpPr>
        <p:spPr bwMode="auto">
          <a:xfrm>
            <a:off x="3352800" y="52578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1</a:t>
            </a:r>
          </a:p>
        </p:txBody>
      </p:sp>
      <p:sp>
        <p:nvSpPr>
          <p:cNvPr id="23569" name="Rectangle 16"/>
          <p:cNvSpPr>
            <a:spLocks/>
          </p:cNvSpPr>
          <p:nvPr/>
        </p:nvSpPr>
        <p:spPr bwMode="auto">
          <a:xfrm>
            <a:off x="3352800" y="4876800"/>
            <a:ext cx="7620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2</a:t>
            </a:r>
          </a:p>
        </p:txBody>
      </p:sp>
      <p:sp>
        <p:nvSpPr>
          <p:cNvPr id="23570" name="Rectangle 17"/>
          <p:cNvSpPr>
            <a:spLocks/>
          </p:cNvSpPr>
          <p:nvPr/>
        </p:nvSpPr>
        <p:spPr bwMode="auto">
          <a:xfrm>
            <a:off x="3352800" y="44958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4</a:t>
            </a:r>
          </a:p>
        </p:txBody>
      </p:sp>
      <p:sp>
        <p:nvSpPr>
          <p:cNvPr id="23571" name="Rectangle 18"/>
          <p:cNvSpPr>
            <a:spLocks/>
          </p:cNvSpPr>
          <p:nvPr/>
        </p:nvSpPr>
        <p:spPr bwMode="auto">
          <a:xfrm>
            <a:off x="3352800" y="41148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8</a:t>
            </a:r>
          </a:p>
        </p:txBody>
      </p:sp>
      <p:sp>
        <p:nvSpPr>
          <p:cNvPr id="23572" name="Rectangle 19"/>
          <p:cNvSpPr>
            <a:spLocks/>
          </p:cNvSpPr>
          <p:nvPr/>
        </p:nvSpPr>
        <p:spPr bwMode="auto">
          <a:xfrm>
            <a:off x="3276600" y="37338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16</a:t>
            </a:r>
          </a:p>
        </p:txBody>
      </p:sp>
      <p:sp>
        <p:nvSpPr>
          <p:cNvPr id="23573" name="Rectangle 20"/>
          <p:cNvSpPr>
            <a:spLocks/>
          </p:cNvSpPr>
          <p:nvPr/>
        </p:nvSpPr>
        <p:spPr bwMode="auto">
          <a:xfrm>
            <a:off x="3276600" y="33528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32</a:t>
            </a:r>
          </a:p>
        </p:txBody>
      </p:sp>
      <p:sp>
        <p:nvSpPr>
          <p:cNvPr id="23574" name="Rectangle 21"/>
          <p:cNvSpPr>
            <a:spLocks/>
          </p:cNvSpPr>
          <p:nvPr/>
        </p:nvSpPr>
        <p:spPr bwMode="auto">
          <a:xfrm>
            <a:off x="3276600" y="2971800"/>
            <a:ext cx="6858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64</a:t>
            </a:r>
          </a:p>
        </p:txBody>
      </p:sp>
      <p:sp>
        <p:nvSpPr>
          <p:cNvPr id="23575" name="Line 22"/>
          <p:cNvSpPr>
            <a:spLocks noChangeShapeType="1"/>
          </p:cNvSpPr>
          <p:nvPr/>
        </p:nvSpPr>
        <p:spPr bwMode="auto">
          <a:xfrm>
            <a:off x="3581400" y="2819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6" name="Line 23"/>
          <p:cNvSpPr>
            <a:spLocks noChangeShapeType="1"/>
          </p:cNvSpPr>
          <p:nvPr/>
        </p:nvSpPr>
        <p:spPr bwMode="auto">
          <a:xfrm>
            <a:off x="3581400" y="4724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7" name="Line 24"/>
          <p:cNvSpPr>
            <a:spLocks noChangeShapeType="1"/>
          </p:cNvSpPr>
          <p:nvPr/>
        </p:nvSpPr>
        <p:spPr bwMode="auto">
          <a:xfrm>
            <a:off x="3505200" y="49530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8" name="Line 25"/>
          <p:cNvSpPr>
            <a:spLocks noChangeShapeType="1"/>
          </p:cNvSpPr>
          <p:nvPr/>
        </p:nvSpPr>
        <p:spPr bwMode="auto">
          <a:xfrm>
            <a:off x="3581400" y="4495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79" name="Line 26"/>
          <p:cNvSpPr>
            <a:spLocks noChangeShapeType="1"/>
          </p:cNvSpPr>
          <p:nvPr/>
        </p:nvSpPr>
        <p:spPr bwMode="auto">
          <a:xfrm>
            <a:off x="3581400" y="4114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0" name="Line 27"/>
          <p:cNvSpPr>
            <a:spLocks noChangeShapeType="1"/>
          </p:cNvSpPr>
          <p:nvPr/>
        </p:nvSpPr>
        <p:spPr bwMode="auto">
          <a:xfrm>
            <a:off x="3581400" y="3733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1" name="Line 28"/>
          <p:cNvSpPr>
            <a:spLocks noChangeShapeType="1"/>
          </p:cNvSpPr>
          <p:nvPr/>
        </p:nvSpPr>
        <p:spPr bwMode="auto">
          <a:xfrm>
            <a:off x="3581400" y="3657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2" name="Line 29"/>
          <p:cNvSpPr>
            <a:spLocks noChangeShapeType="1"/>
          </p:cNvSpPr>
          <p:nvPr/>
        </p:nvSpPr>
        <p:spPr bwMode="auto">
          <a:xfrm>
            <a:off x="3581400" y="34290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3" name="Line 30"/>
          <p:cNvSpPr>
            <a:spLocks noChangeShapeType="1"/>
          </p:cNvSpPr>
          <p:nvPr/>
        </p:nvSpPr>
        <p:spPr bwMode="auto">
          <a:xfrm>
            <a:off x="3581400" y="3352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4" name="Line 31"/>
          <p:cNvSpPr>
            <a:spLocks noChangeShapeType="1"/>
          </p:cNvSpPr>
          <p:nvPr/>
        </p:nvSpPr>
        <p:spPr bwMode="auto">
          <a:xfrm>
            <a:off x="3581400" y="32004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5" name="Line 32"/>
          <p:cNvSpPr>
            <a:spLocks noChangeShapeType="1"/>
          </p:cNvSpPr>
          <p:nvPr/>
        </p:nvSpPr>
        <p:spPr bwMode="auto">
          <a:xfrm>
            <a:off x="3581400" y="3276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6" name="Line 33"/>
          <p:cNvSpPr>
            <a:spLocks noChangeShapeType="1"/>
          </p:cNvSpPr>
          <p:nvPr/>
        </p:nvSpPr>
        <p:spPr bwMode="auto">
          <a:xfrm>
            <a:off x="3581400" y="28956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7" name="Line 34"/>
          <p:cNvSpPr>
            <a:spLocks noChangeShapeType="1"/>
          </p:cNvSpPr>
          <p:nvPr/>
        </p:nvSpPr>
        <p:spPr bwMode="auto">
          <a:xfrm>
            <a:off x="3581400" y="29718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8" name="Line 35"/>
          <p:cNvSpPr>
            <a:spLocks noChangeShapeType="1"/>
          </p:cNvSpPr>
          <p:nvPr/>
        </p:nvSpPr>
        <p:spPr bwMode="auto">
          <a:xfrm>
            <a:off x="3581400" y="3048000"/>
            <a:ext cx="2057400" cy="1588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89" name="Line 36"/>
          <p:cNvSpPr>
            <a:spLocks noChangeShapeType="1"/>
          </p:cNvSpPr>
          <p:nvPr/>
        </p:nvSpPr>
        <p:spPr bwMode="auto">
          <a:xfrm>
            <a:off x="36576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0" name="Line 37"/>
          <p:cNvSpPr>
            <a:spLocks noChangeShapeType="1"/>
          </p:cNvSpPr>
          <p:nvPr/>
        </p:nvSpPr>
        <p:spPr bwMode="auto">
          <a:xfrm>
            <a:off x="37338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1" name="Line 38"/>
          <p:cNvSpPr>
            <a:spLocks noChangeShapeType="1"/>
          </p:cNvSpPr>
          <p:nvPr/>
        </p:nvSpPr>
        <p:spPr bwMode="auto">
          <a:xfrm>
            <a:off x="38100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2" name="Line 39"/>
          <p:cNvSpPr>
            <a:spLocks noChangeShapeType="1"/>
          </p:cNvSpPr>
          <p:nvPr/>
        </p:nvSpPr>
        <p:spPr bwMode="auto">
          <a:xfrm>
            <a:off x="38862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3" name="Line 40"/>
          <p:cNvSpPr>
            <a:spLocks noChangeShapeType="1"/>
          </p:cNvSpPr>
          <p:nvPr/>
        </p:nvSpPr>
        <p:spPr bwMode="auto">
          <a:xfrm>
            <a:off x="3962400" y="26670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4" name="Line 41"/>
          <p:cNvSpPr>
            <a:spLocks noChangeShapeType="1"/>
          </p:cNvSpPr>
          <p:nvPr/>
        </p:nvSpPr>
        <p:spPr bwMode="auto">
          <a:xfrm>
            <a:off x="40386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5" name="Line 42"/>
          <p:cNvSpPr>
            <a:spLocks noChangeShapeType="1"/>
          </p:cNvSpPr>
          <p:nvPr/>
        </p:nvSpPr>
        <p:spPr bwMode="auto">
          <a:xfrm>
            <a:off x="41148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6" name="Line 43"/>
          <p:cNvSpPr>
            <a:spLocks noChangeShapeType="1"/>
          </p:cNvSpPr>
          <p:nvPr/>
        </p:nvSpPr>
        <p:spPr bwMode="auto">
          <a:xfrm>
            <a:off x="41910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7" name="Line 44"/>
          <p:cNvSpPr>
            <a:spLocks noChangeShapeType="1"/>
          </p:cNvSpPr>
          <p:nvPr/>
        </p:nvSpPr>
        <p:spPr bwMode="auto">
          <a:xfrm>
            <a:off x="42672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8" name="Line 45"/>
          <p:cNvSpPr>
            <a:spLocks noChangeShapeType="1"/>
          </p:cNvSpPr>
          <p:nvPr/>
        </p:nvSpPr>
        <p:spPr bwMode="auto">
          <a:xfrm>
            <a:off x="4343400" y="26670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599" name="Line 46"/>
          <p:cNvSpPr>
            <a:spLocks noChangeShapeType="1"/>
          </p:cNvSpPr>
          <p:nvPr/>
        </p:nvSpPr>
        <p:spPr bwMode="auto">
          <a:xfrm>
            <a:off x="44196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0" name="Line 47"/>
          <p:cNvSpPr>
            <a:spLocks noChangeShapeType="1"/>
          </p:cNvSpPr>
          <p:nvPr/>
        </p:nvSpPr>
        <p:spPr bwMode="auto">
          <a:xfrm>
            <a:off x="44958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1" name="Line 48"/>
          <p:cNvSpPr>
            <a:spLocks noChangeShapeType="1"/>
          </p:cNvSpPr>
          <p:nvPr/>
        </p:nvSpPr>
        <p:spPr bwMode="auto">
          <a:xfrm>
            <a:off x="45720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2" name="Line 49"/>
          <p:cNvSpPr>
            <a:spLocks noChangeShapeType="1"/>
          </p:cNvSpPr>
          <p:nvPr/>
        </p:nvSpPr>
        <p:spPr bwMode="auto">
          <a:xfrm>
            <a:off x="46482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3" name="Line 50"/>
          <p:cNvSpPr>
            <a:spLocks noChangeShapeType="1"/>
          </p:cNvSpPr>
          <p:nvPr/>
        </p:nvSpPr>
        <p:spPr bwMode="auto">
          <a:xfrm>
            <a:off x="4724400" y="26670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4" name="Line 51"/>
          <p:cNvSpPr>
            <a:spLocks noChangeShapeType="1"/>
          </p:cNvSpPr>
          <p:nvPr/>
        </p:nvSpPr>
        <p:spPr bwMode="auto">
          <a:xfrm>
            <a:off x="48006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5" name="Line 52"/>
          <p:cNvSpPr>
            <a:spLocks noChangeShapeType="1"/>
          </p:cNvSpPr>
          <p:nvPr/>
        </p:nvSpPr>
        <p:spPr bwMode="auto">
          <a:xfrm>
            <a:off x="51054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6" name="Line 53"/>
          <p:cNvSpPr>
            <a:spLocks noChangeShapeType="1"/>
          </p:cNvSpPr>
          <p:nvPr/>
        </p:nvSpPr>
        <p:spPr bwMode="auto">
          <a:xfrm>
            <a:off x="49530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7" name="Line 54"/>
          <p:cNvSpPr>
            <a:spLocks noChangeShapeType="1"/>
          </p:cNvSpPr>
          <p:nvPr/>
        </p:nvSpPr>
        <p:spPr bwMode="auto">
          <a:xfrm>
            <a:off x="50292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8" name="Line 55"/>
          <p:cNvSpPr>
            <a:spLocks noChangeShapeType="1"/>
          </p:cNvSpPr>
          <p:nvPr/>
        </p:nvSpPr>
        <p:spPr bwMode="auto">
          <a:xfrm>
            <a:off x="5105400" y="26670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09" name="Line 56"/>
          <p:cNvSpPr>
            <a:spLocks noChangeShapeType="1"/>
          </p:cNvSpPr>
          <p:nvPr/>
        </p:nvSpPr>
        <p:spPr bwMode="auto">
          <a:xfrm>
            <a:off x="51816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0" name="Line 57"/>
          <p:cNvSpPr>
            <a:spLocks noChangeShapeType="1"/>
          </p:cNvSpPr>
          <p:nvPr/>
        </p:nvSpPr>
        <p:spPr bwMode="auto">
          <a:xfrm>
            <a:off x="52578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1" name="Line 58"/>
          <p:cNvSpPr>
            <a:spLocks noChangeShapeType="1"/>
          </p:cNvSpPr>
          <p:nvPr/>
        </p:nvSpPr>
        <p:spPr bwMode="auto">
          <a:xfrm>
            <a:off x="53340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2" name="Line 59"/>
          <p:cNvSpPr>
            <a:spLocks noChangeShapeType="1"/>
          </p:cNvSpPr>
          <p:nvPr/>
        </p:nvSpPr>
        <p:spPr bwMode="auto">
          <a:xfrm>
            <a:off x="54102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3" name="Line 60"/>
          <p:cNvSpPr>
            <a:spLocks noChangeShapeType="1"/>
          </p:cNvSpPr>
          <p:nvPr/>
        </p:nvSpPr>
        <p:spPr bwMode="auto">
          <a:xfrm>
            <a:off x="5486400" y="2667000"/>
            <a:ext cx="1588" cy="3276600"/>
          </a:xfrm>
          <a:prstGeom prst="line">
            <a:avLst/>
          </a:prstGeom>
          <a:noFill/>
          <a:ln w="381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4" name="Line 61"/>
          <p:cNvSpPr>
            <a:spLocks noChangeShapeType="1"/>
          </p:cNvSpPr>
          <p:nvPr/>
        </p:nvSpPr>
        <p:spPr bwMode="auto">
          <a:xfrm>
            <a:off x="4876800" y="2667000"/>
            <a:ext cx="1588" cy="3276600"/>
          </a:xfrm>
          <a:prstGeom prst="line">
            <a:avLst/>
          </a:prstGeom>
          <a:noFill/>
          <a:ln w="12700">
            <a:solidFill>
              <a:srgbClr val="FFB8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5" name="Line 62"/>
          <p:cNvSpPr>
            <a:spLocks noChangeShapeType="1"/>
          </p:cNvSpPr>
          <p:nvPr/>
        </p:nvSpPr>
        <p:spPr bwMode="auto">
          <a:xfrm>
            <a:off x="2133600" y="4419600"/>
            <a:ext cx="1676400" cy="762000"/>
          </a:xfrm>
          <a:prstGeom prst="line">
            <a:avLst/>
          </a:prstGeom>
          <a:noFill/>
          <a:ln w="38100">
            <a:solidFill>
              <a:srgbClr val="0066FF"/>
            </a:solidFill>
            <a:round/>
            <a:headEnd/>
            <a:tailEnd type="stealth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6" name="Line 63"/>
          <p:cNvSpPr>
            <a:spLocks noChangeShapeType="1"/>
          </p:cNvSpPr>
          <p:nvPr/>
        </p:nvSpPr>
        <p:spPr bwMode="auto">
          <a:xfrm rot="10800000" flipH="1">
            <a:off x="2057400" y="3352800"/>
            <a:ext cx="1676400" cy="457200"/>
          </a:xfrm>
          <a:prstGeom prst="line">
            <a:avLst/>
          </a:prstGeom>
          <a:noFill/>
          <a:ln w="63500">
            <a:solidFill>
              <a:srgbClr val="0066FF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7" name="Line 64"/>
          <p:cNvSpPr>
            <a:spLocks noChangeShapeType="1"/>
          </p:cNvSpPr>
          <p:nvPr/>
        </p:nvSpPr>
        <p:spPr bwMode="auto">
          <a:xfrm rot="10800000" flipH="1">
            <a:off x="3810000" y="3124200"/>
            <a:ext cx="15240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8" name="Line 65"/>
          <p:cNvSpPr>
            <a:spLocks noChangeShapeType="1"/>
          </p:cNvSpPr>
          <p:nvPr/>
        </p:nvSpPr>
        <p:spPr bwMode="auto">
          <a:xfrm>
            <a:off x="3962400" y="3124200"/>
            <a:ext cx="304800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19" name="Line 66"/>
          <p:cNvSpPr>
            <a:spLocks noChangeShapeType="1"/>
          </p:cNvSpPr>
          <p:nvPr/>
        </p:nvSpPr>
        <p:spPr bwMode="auto">
          <a:xfrm>
            <a:off x="3810000" y="4572000"/>
            <a:ext cx="228600" cy="10668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20" name="Line 67"/>
          <p:cNvSpPr>
            <a:spLocks noChangeShapeType="1"/>
          </p:cNvSpPr>
          <p:nvPr/>
        </p:nvSpPr>
        <p:spPr bwMode="auto">
          <a:xfrm rot="10800000" flipH="1">
            <a:off x="4038600" y="5562600"/>
            <a:ext cx="228600" cy="76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21" name="Rectangle 68"/>
          <p:cNvSpPr>
            <a:spLocks/>
          </p:cNvSpPr>
          <p:nvPr/>
        </p:nvSpPr>
        <p:spPr bwMode="auto">
          <a:xfrm>
            <a:off x="1066800" y="1752600"/>
            <a:ext cx="2209800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4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rgbClr val="FF0000"/>
                </a:solidFill>
                <a:latin typeface="Arial" charset="0"/>
                <a:cs typeface="Arial" charset="0"/>
                <a:sym typeface="Arial" charset="0"/>
              </a:rPr>
              <a:t>LEARNING CURVES</a:t>
            </a:r>
          </a:p>
        </p:txBody>
      </p:sp>
      <p:sp>
        <p:nvSpPr>
          <p:cNvPr id="23622" name="Rectangle 69"/>
          <p:cNvSpPr>
            <a:spLocks/>
          </p:cNvSpPr>
          <p:nvPr/>
        </p:nvSpPr>
        <p:spPr bwMode="auto">
          <a:xfrm>
            <a:off x="609600" y="3352800"/>
            <a:ext cx="137160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05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charset="0"/>
                <a:cs typeface="Arial" charset="0"/>
                <a:sym typeface="Arial" charset="0"/>
              </a:rPr>
              <a:t>FLUENCY</a:t>
            </a:r>
          </a:p>
        </p:txBody>
      </p:sp>
      <p:sp>
        <p:nvSpPr>
          <p:cNvPr id="23623" name="Rectangle 70"/>
          <p:cNvSpPr>
            <a:spLocks/>
          </p:cNvSpPr>
          <p:nvPr/>
        </p:nvSpPr>
        <p:spPr bwMode="auto">
          <a:xfrm>
            <a:off x="609600" y="4267200"/>
            <a:ext cx="167640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05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charset="0"/>
                <a:cs typeface="Arial" charset="0"/>
                <a:sym typeface="Arial" charset="0"/>
              </a:rPr>
              <a:t>ACCURACY</a:t>
            </a:r>
          </a:p>
        </p:txBody>
      </p:sp>
      <p:sp>
        <p:nvSpPr>
          <p:cNvPr id="23624" name="Rectangle 71"/>
          <p:cNvSpPr>
            <a:spLocks/>
          </p:cNvSpPr>
          <p:nvPr/>
        </p:nvSpPr>
        <p:spPr bwMode="auto">
          <a:xfrm>
            <a:off x="6705600" y="2362200"/>
            <a:ext cx="1752600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05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charset="0"/>
                <a:cs typeface="Arial" charset="0"/>
                <a:sym typeface="Arial" charset="0"/>
              </a:rPr>
              <a:t>MASTERY</a:t>
            </a:r>
          </a:p>
          <a:p>
            <a:pPr eaLnBrk="1" hangingPunct="1">
              <a:spcBef>
                <a:spcPts val="105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charset="0"/>
                <a:cs typeface="Arial" charset="0"/>
                <a:sym typeface="Arial" charset="0"/>
              </a:rPr>
              <a:t>(aim rate)</a:t>
            </a:r>
          </a:p>
        </p:txBody>
      </p:sp>
      <p:sp>
        <p:nvSpPr>
          <p:cNvPr id="23625" name="Line 72"/>
          <p:cNvSpPr>
            <a:spLocks noChangeShapeType="1"/>
          </p:cNvSpPr>
          <p:nvPr/>
        </p:nvSpPr>
        <p:spPr bwMode="auto">
          <a:xfrm flipH="1">
            <a:off x="4191000" y="2590800"/>
            <a:ext cx="2514600" cy="381000"/>
          </a:xfrm>
          <a:prstGeom prst="line">
            <a:avLst/>
          </a:prstGeom>
          <a:noFill/>
          <a:ln w="63500">
            <a:solidFill>
              <a:srgbClr val="0066FF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3626" name="Rectangle 73"/>
          <p:cNvSpPr>
            <a:spLocks/>
          </p:cNvSpPr>
          <p:nvPr/>
        </p:nvSpPr>
        <p:spPr bwMode="auto">
          <a:xfrm>
            <a:off x="3733800" y="2286000"/>
            <a:ext cx="205740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1200" b="1">
                <a:solidFill>
                  <a:srgbClr val="FFB800"/>
                </a:solidFill>
                <a:latin typeface="Arial" charset="0"/>
                <a:cs typeface="Arial" charset="0"/>
                <a:sym typeface="Arial" charset="0"/>
              </a:rPr>
              <a:t>DAYS AND WEEKS</a:t>
            </a:r>
          </a:p>
        </p:txBody>
      </p:sp>
    </p:spTree>
    <p:extLst>
      <p:ext uri="{BB962C8B-B14F-4D97-AF65-F5344CB8AC3E}">
        <p14:creationId xmlns:p14="http://schemas.microsoft.com/office/powerpoint/2010/main" val="2781461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"/>
          <p:cNvSpPr>
            <a:spLocks noGrp="1" noChangeArrowheads="1"/>
          </p:cNvSpPr>
          <p:nvPr>
            <p:ph type="body" idx="1"/>
          </p:nvPr>
        </p:nvSpPr>
        <p:spPr>
          <a:xfrm>
            <a:off x="1116013" y="1268413"/>
            <a:ext cx="7696200" cy="5334000"/>
          </a:xfrm>
        </p:spPr>
        <p:txBody>
          <a:bodyPr rIns="31750"/>
          <a:lstStyle/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z="1400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2400" smtClean="0"/>
              <a:t>Suggested minimum Fluency Markers: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600" smtClean="0">
                <a:latin typeface="ヒラギノ明朝 ProN W3" charset="0"/>
                <a:sym typeface="ヒラギノ明朝 ProN W3" charset="0"/>
              </a:rPr>
              <a:t>			</a:t>
            </a:r>
            <a:r>
              <a:rPr lang="en-US" altLang="en-US" sz="1800" smtClean="0"/>
              <a:t>Infant Pupils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40 correct per minute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		</a:t>
            </a:r>
            <a:r>
              <a:rPr lang="en-US" altLang="en-US" sz="1800" smtClean="0"/>
              <a:t>Junior Pupils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50 cpm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		</a:t>
            </a:r>
            <a:r>
              <a:rPr lang="en-US" altLang="en-US" sz="1800" smtClean="0"/>
              <a:t>Secondary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60 cpm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z="1600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2400" smtClean="0"/>
              <a:t>Suggested minimum 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2400" smtClean="0"/>
              <a:t>Accuracy Markers: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/>
              <a:t>See-to-say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	</a:t>
            </a:r>
            <a:r>
              <a:rPr lang="en-US" altLang="en-US" sz="1800" smtClean="0"/>
              <a:t>=</a:t>
            </a:r>
            <a:r>
              <a:rPr lang="en-US" altLang="en-US" sz="1800" smtClean="0">
                <a:latin typeface="ヒラギノ明朝 ProN W3" charset="0"/>
                <a:sym typeface="ヒラギノ明朝 ProN W3" charset="0"/>
              </a:rPr>
              <a:t>	</a:t>
            </a:r>
            <a:r>
              <a:rPr lang="en-US" altLang="en-US" sz="1800" smtClean="0"/>
              <a:t>3 or less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/>
              <a:t>MAINTENANCE- ACHIEVE THE TARGET FOR 3 </a:t>
            </a:r>
          </a:p>
          <a:p>
            <a:pPr marL="690563" indent="-609600" eaLnBrk="1" hangingPunct="1">
              <a:buFont typeface="Century Gothic" pitchFamily="34" charset="0"/>
              <a:buNone/>
            </a:pPr>
            <a:r>
              <a:rPr lang="en-US" altLang="en-US" sz="1800" smtClean="0"/>
              <a:t>CONSECUTIVE DAYS</a:t>
            </a:r>
            <a:endParaRPr lang="en-US" altLang="en-US" smtClean="0"/>
          </a:p>
          <a:p>
            <a:pPr marL="690563" indent="-609600" eaLnBrk="1" hangingPunct="1">
              <a:buFont typeface="Century Gothic" pitchFamily="34" charset="0"/>
              <a:buNone/>
            </a:pPr>
            <a:endParaRPr lang="en-US" altLang="en-US" smtClean="0"/>
          </a:p>
        </p:txBody>
      </p:sp>
      <p:sp>
        <p:nvSpPr>
          <p:cNvPr id="25603" name="Rectangle 2"/>
          <p:cNvSpPr>
            <a:spLocks/>
          </p:cNvSpPr>
          <p:nvPr/>
        </p:nvSpPr>
        <p:spPr bwMode="auto">
          <a:xfrm>
            <a:off x="1258888" y="2276475"/>
            <a:ext cx="14478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ts val="1100"/>
              </a:spcBef>
              <a:buClrTx/>
              <a:buSzTx/>
              <a:buFontTx/>
              <a:buNone/>
            </a:pPr>
            <a:r>
              <a:rPr lang="en-US" altLang="en-US" sz="1800"/>
              <a:t>See-to-say</a:t>
            </a:r>
          </a:p>
        </p:txBody>
      </p:sp>
      <p:sp>
        <p:nvSpPr>
          <p:cNvPr id="25604" name="Rectangle 3"/>
          <p:cNvSpPr>
            <a:spLocks/>
          </p:cNvSpPr>
          <p:nvPr/>
        </p:nvSpPr>
        <p:spPr bwMode="auto">
          <a:xfrm>
            <a:off x="1157288" y="942975"/>
            <a:ext cx="68707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82550" bIns="0" anchor="b"/>
          <a:lstStyle>
            <a:lvl1pPr marL="39688">
              <a:spcBef>
                <a:spcPts val="7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8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1pPr>
            <a:lvl2pPr marL="742950" indent="-285750">
              <a:spcBef>
                <a:spcPts val="6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 sz="24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2pPr>
            <a:lvl3pPr marL="1143000" indent="-228600">
              <a:spcBef>
                <a:spcPts val="500"/>
              </a:spcBef>
              <a:buClr>
                <a:srgbClr val="000000"/>
              </a:buClr>
              <a:buSzPct val="100000"/>
              <a:buFont typeface="Century Gothic" pitchFamily="34" charset="0"/>
              <a:buChar char="•"/>
              <a:defRPr sz="20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3pPr>
            <a:lvl4pPr marL="16002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–"/>
              <a:defRPr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4pPr>
            <a:lvl5pPr marL="2057400" indent="-228600">
              <a:spcBef>
                <a:spcPts val="400"/>
              </a:spcBef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entury Gothic" pitchFamily="34" charset="0"/>
              <a:buChar char="»"/>
              <a:defRPr sz="1600">
                <a:solidFill>
                  <a:schemeClr val="tx1"/>
                </a:solidFill>
                <a:latin typeface="Century Gothic" pitchFamily="34" charset="0"/>
                <a:ea typeface="ヒラギノ明朝 ProN W3" charset="0"/>
                <a:cs typeface="ヒラギノ明朝 ProN W3" charset="0"/>
                <a:sym typeface="Century Gothic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u="sng"/>
              <a:t>Setting Aim Rates</a:t>
            </a:r>
          </a:p>
        </p:txBody>
      </p:sp>
      <p:sp>
        <p:nvSpPr>
          <p:cNvPr id="25605" name="AutoShape 4"/>
          <p:cNvSpPr>
            <a:spLocks/>
          </p:cNvSpPr>
          <p:nvPr/>
        </p:nvSpPr>
        <p:spPr bwMode="auto">
          <a:xfrm>
            <a:off x="2771775" y="2060575"/>
            <a:ext cx="144463" cy="8636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0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1600"/>
              <a:gd name="T22" fmla="*/ 0 h 21600"/>
              <a:gd name="T23" fmla="*/ 21600 w 21600"/>
              <a:gd name="T24" fmla="*/ 21600 h 21600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1600" h="21600">
                <a:moveTo>
                  <a:pt x="21600" y="0"/>
                </a:moveTo>
                <a:cubicBezTo>
                  <a:pt x="15635" y="0"/>
                  <a:pt x="10800" y="806"/>
                  <a:pt x="10800" y="1800"/>
                </a:cubicBezTo>
                <a:lnTo>
                  <a:pt x="10800" y="9000"/>
                </a:lnTo>
                <a:cubicBezTo>
                  <a:pt x="10800" y="9994"/>
                  <a:pt x="5965" y="10800"/>
                  <a:pt x="0" y="10800"/>
                </a:cubicBezTo>
                <a:cubicBezTo>
                  <a:pt x="5965" y="10800"/>
                  <a:pt x="10800" y="11606"/>
                  <a:pt x="10800" y="12600"/>
                </a:cubicBezTo>
                <a:lnTo>
                  <a:pt x="10800" y="19800"/>
                </a:lnTo>
                <a:cubicBezTo>
                  <a:pt x="10800" y="20794"/>
                  <a:pt x="15635" y="21600"/>
                  <a:pt x="21600" y="21600"/>
                </a:cubicBezTo>
              </a:path>
            </a:pathLst>
          </a:custGeom>
          <a:noFill/>
          <a:ln w="127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3422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3600" b="1" dirty="0" smtClean="0"/>
              <a:t>Step 6-</a:t>
            </a:r>
            <a:r>
              <a:rPr lang="en-GB" altLang="en-US" sz="3600" dirty="0" smtClean="0"/>
              <a:t> Analyse the Data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125538"/>
            <a:ext cx="8569325" cy="51831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000" dirty="0" smtClean="0"/>
              <a:t>Once the child has hit their target for </a:t>
            </a:r>
            <a:r>
              <a:rPr lang="en-GB" altLang="en-US" sz="2000" u="sng" dirty="0" smtClean="0"/>
              <a:t>3</a:t>
            </a:r>
            <a:r>
              <a:rPr lang="en-GB" altLang="en-US" sz="2000" dirty="0" smtClean="0">
                <a:solidFill>
                  <a:srgbClr val="FF0000"/>
                </a:solidFill>
              </a:rPr>
              <a:t> consecutive</a:t>
            </a:r>
            <a:r>
              <a:rPr lang="en-GB" altLang="en-US" sz="2000" dirty="0" smtClean="0"/>
              <a:t> days move on to a new set of words.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GB" altLang="en-US" sz="2000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000" u="sng" dirty="0" smtClean="0"/>
              <a:t>The 3 day rule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dirty="0" smtClean="0"/>
              <a:t>Check after </a:t>
            </a:r>
            <a:r>
              <a:rPr lang="en-GB" altLang="en-US" sz="2000" b="1" dirty="0" smtClean="0">
                <a:solidFill>
                  <a:srgbClr val="FF0000"/>
                </a:solidFill>
              </a:rPr>
              <a:t>3</a:t>
            </a:r>
            <a:r>
              <a:rPr lang="en-GB" altLang="en-US" sz="2000" dirty="0" smtClean="0"/>
              <a:t> days: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 smtClean="0"/>
              <a:t>If the task appears too hard consider reducing the demands of the task (e.g. number of words to be learnt, types of words being learnt).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GB" altLang="en-US" dirty="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altLang="en-US" sz="2000" u="sng" dirty="0" smtClean="0"/>
              <a:t>The 8 day rule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000" dirty="0" smtClean="0"/>
              <a:t>Check after </a:t>
            </a:r>
            <a:r>
              <a:rPr lang="en-GB" altLang="en-US" sz="2000" b="1" dirty="0" smtClean="0">
                <a:solidFill>
                  <a:srgbClr val="FF0000"/>
                </a:solidFill>
              </a:rPr>
              <a:t>8</a:t>
            </a:r>
            <a:r>
              <a:rPr lang="en-GB" altLang="en-US" sz="2000" dirty="0" smtClean="0"/>
              <a:t> days: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dirty="0" smtClean="0"/>
              <a:t>If the pupil is not at or near their target after 8 days consider a change (e.g. increasing motivation, modifying teaching method, changing task).</a:t>
            </a:r>
          </a:p>
        </p:txBody>
      </p:sp>
    </p:spTree>
    <p:extLst>
      <p:ext uri="{BB962C8B-B14F-4D97-AF65-F5344CB8AC3E}">
        <p14:creationId xmlns:p14="http://schemas.microsoft.com/office/powerpoint/2010/main" val="1878975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 idx="4294967295"/>
          </p:nvPr>
        </p:nvSpPr>
        <p:spPr>
          <a:xfrm>
            <a:off x="0" y="404813"/>
            <a:ext cx="7773988" cy="122396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altLang="en-US" sz="3200" dirty="0" smtClean="0"/>
              <a:t>6. Change - response to data analysis</a:t>
            </a:r>
          </a:p>
        </p:txBody>
      </p:sp>
      <p:grpSp>
        <p:nvGrpSpPr>
          <p:cNvPr id="32771" name="Group 312"/>
          <p:cNvGrpSpPr>
            <a:grpSpLocks/>
          </p:cNvGrpSpPr>
          <p:nvPr/>
        </p:nvGrpSpPr>
        <p:grpSpPr bwMode="auto">
          <a:xfrm>
            <a:off x="323850" y="1700213"/>
            <a:ext cx="8642350" cy="4264025"/>
            <a:chOff x="455" y="1071"/>
            <a:chExt cx="5056" cy="2686"/>
          </a:xfrm>
        </p:grpSpPr>
        <p:sp>
          <p:nvSpPr>
            <p:cNvPr id="32772" name="Rectangle 213"/>
            <p:cNvSpPr>
              <a:spLocks noChangeArrowheads="1"/>
            </p:cNvSpPr>
            <p:nvPr/>
          </p:nvSpPr>
          <p:spPr bwMode="auto">
            <a:xfrm>
              <a:off x="3687" y="3113"/>
              <a:ext cx="1824" cy="6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Increasing motivation through rewards/ incentives or alter teaching methods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73" name="Rectangle 211"/>
            <p:cNvSpPr>
              <a:spLocks noChangeArrowheads="1"/>
            </p:cNvSpPr>
            <p:nvPr/>
          </p:nvSpPr>
          <p:spPr bwMode="auto">
            <a:xfrm>
              <a:off x="1505" y="3101"/>
              <a:ext cx="870" cy="6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</a:t>
              </a:r>
              <a:r>
                <a:rPr lang="en-GB" altLang="en-US" sz="8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</a:t>
              </a:r>
              <a:endParaRPr lang="en-GB" altLang="en-US" sz="2000" b="1">
                <a:solidFill>
                  <a:srgbClr val="FF0000"/>
                </a:solidFill>
                <a:latin typeface="Calibri" pitchFamily="34" charset="0"/>
                <a:cs typeface="Times New Roman" pitchFamily="18" charset="0"/>
              </a:endParaRPr>
            </a:p>
            <a:p>
              <a:pPr eaLnBrk="1" hangingPunct="1"/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x</a:t>
              </a:r>
              <a:endParaRPr lang="en-GB" altLang="en-US" sz="1000">
                <a:cs typeface="Times New Roman" pitchFamily="18" charset="0"/>
              </a:endParaRPr>
            </a:p>
          </p:txBody>
        </p:sp>
        <p:sp>
          <p:nvSpPr>
            <p:cNvPr id="32774" name="Rectangle 212"/>
            <p:cNvSpPr>
              <a:spLocks noChangeArrowheads="1"/>
            </p:cNvSpPr>
            <p:nvPr/>
          </p:nvSpPr>
          <p:spPr bwMode="auto">
            <a:xfrm>
              <a:off x="2362" y="3113"/>
              <a:ext cx="1325" cy="6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Task is likely to be appropriate but progress not fast enough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75" name="Rectangle 210"/>
            <p:cNvSpPr>
              <a:spLocks noChangeArrowheads="1"/>
            </p:cNvSpPr>
            <p:nvPr/>
          </p:nvSpPr>
          <p:spPr bwMode="auto">
            <a:xfrm>
              <a:off x="455" y="3113"/>
              <a:ext cx="1036" cy="6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Some progress; accurate but shallow correct rate slope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76" name="Rectangle 209"/>
            <p:cNvSpPr>
              <a:spLocks noChangeArrowheads="1"/>
            </p:cNvSpPr>
            <p:nvPr/>
          </p:nvSpPr>
          <p:spPr bwMode="auto">
            <a:xfrm>
              <a:off x="3687" y="2528"/>
              <a:ext cx="1824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Slow child down; accurate before speed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77" name="Rectangle 208"/>
            <p:cNvSpPr>
              <a:spLocks noChangeArrowheads="1"/>
            </p:cNvSpPr>
            <p:nvPr/>
          </p:nvSpPr>
          <p:spPr bwMode="auto">
            <a:xfrm>
              <a:off x="2362" y="2528"/>
              <a:ext cx="1325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Child is merely getting faster attempting more on the probe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78" name="Rectangle 207"/>
            <p:cNvSpPr>
              <a:spLocks noChangeArrowheads="1"/>
            </p:cNvSpPr>
            <p:nvPr/>
          </p:nvSpPr>
          <p:spPr bwMode="auto">
            <a:xfrm>
              <a:off x="1491" y="2528"/>
              <a:ext cx="871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  </a:t>
              </a:r>
            </a:p>
            <a:p>
              <a:pPr eaLnBrk="1" hangingPunct="1"/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   x</a:t>
              </a:r>
              <a:endParaRPr lang="en-GB" altLang="en-US" sz="1000">
                <a:cs typeface="Times New Roman" pitchFamily="18" charset="0"/>
              </a:endParaRPr>
            </a:p>
            <a:p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   </a:t>
              </a:r>
              <a:endParaRPr lang="en-GB" altLang="en-US" sz="1800">
                <a:latin typeface="Arial" pitchFamily="34" charset="0"/>
              </a:endParaRPr>
            </a:p>
          </p:txBody>
        </p:sp>
        <p:sp>
          <p:nvSpPr>
            <p:cNvPr id="32779" name="Rectangle 206"/>
            <p:cNvSpPr>
              <a:spLocks noChangeArrowheads="1"/>
            </p:cNvSpPr>
            <p:nvPr/>
          </p:nvSpPr>
          <p:spPr bwMode="auto">
            <a:xfrm>
              <a:off x="455" y="2528"/>
              <a:ext cx="1036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Both correct and incorrect rates increasing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0" name="Rectangle 205"/>
            <p:cNvSpPr>
              <a:spLocks noChangeArrowheads="1"/>
            </p:cNvSpPr>
            <p:nvPr/>
          </p:nvSpPr>
          <p:spPr bwMode="auto">
            <a:xfrm>
              <a:off x="3687" y="1924"/>
              <a:ext cx="1824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May need to reduce or slice the task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1" name="Rectangle 204"/>
            <p:cNvSpPr>
              <a:spLocks noChangeArrowheads="1"/>
            </p:cNvSpPr>
            <p:nvPr/>
          </p:nvSpPr>
          <p:spPr bwMode="auto">
            <a:xfrm>
              <a:off x="2362" y="1924"/>
              <a:ext cx="1325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Task probably appropriate. Monitor progress, may be a blip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2" name="Rectangle 203"/>
            <p:cNvSpPr>
              <a:spLocks noChangeArrowheads="1"/>
            </p:cNvSpPr>
            <p:nvPr/>
          </p:nvSpPr>
          <p:spPr bwMode="auto">
            <a:xfrm>
              <a:off x="1491" y="1924"/>
              <a:ext cx="871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000">
                  <a:cs typeface="Times New Roman" pitchFamily="18" charset="0"/>
                </a:rPr>
                <a:t/>
              </a:r>
              <a:br>
                <a:rPr lang="en-GB" altLang="en-US" sz="1000">
                  <a:cs typeface="Times New Roman" pitchFamily="18" charset="0"/>
                </a:rPr>
              </a:br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 </a:t>
              </a:r>
              <a:endParaRPr lang="en-GB" altLang="en-US" sz="800" b="1">
                <a:solidFill>
                  <a:srgbClr val="FF0000"/>
                </a:solidFill>
                <a:latin typeface="Calibri" pitchFamily="34" charset="0"/>
                <a:cs typeface="Times New Roman" pitchFamily="18" charset="0"/>
              </a:endParaRPr>
            </a:p>
            <a:p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 x</a:t>
              </a:r>
              <a:endParaRPr lang="en-GB" altLang="en-US" sz="1000">
                <a:cs typeface="Times New Roman" pitchFamily="18" charset="0"/>
              </a:endParaRPr>
            </a:p>
          </p:txBody>
        </p:sp>
        <p:sp>
          <p:nvSpPr>
            <p:cNvPr id="32783" name="Rectangle 202"/>
            <p:cNvSpPr>
              <a:spLocks noChangeArrowheads="1"/>
            </p:cNvSpPr>
            <p:nvPr/>
          </p:nvSpPr>
          <p:spPr bwMode="auto">
            <a:xfrm>
              <a:off x="455" y="1924"/>
              <a:ext cx="1036" cy="6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Switch within first 3 days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4" name="Rectangle 201"/>
            <p:cNvSpPr>
              <a:spLocks noChangeArrowheads="1"/>
            </p:cNvSpPr>
            <p:nvPr/>
          </p:nvSpPr>
          <p:spPr bwMode="auto">
            <a:xfrm>
              <a:off x="3687" y="1426"/>
              <a:ext cx="1824" cy="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Reduce or slice the task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5" name="Rectangle 200"/>
            <p:cNvSpPr>
              <a:spLocks noChangeArrowheads="1"/>
            </p:cNvSpPr>
            <p:nvPr/>
          </p:nvSpPr>
          <p:spPr bwMode="auto">
            <a:xfrm>
              <a:off x="2362" y="1426"/>
              <a:ext cx="1325" cy="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Task inappropriate</a:t>
              </a:r>
              <a:endParaRPr lang="en-GB" altLang="en-US" sz="1000">
                <a:ea typeface="Times New Roman" pitchFamily="18" charset="0"/>
                <a:cs typeface="Arial" pitchFamily="34" charset="0"/>
              </a:endParaRPr>
            </a:p>
            <a:p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3 day rule applies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6" name="Rectangle 199"/>
            <p:cNvSpPr>
              <a:spLocks noChangeArrowheads="1"/>
            </p:cNvSpPr>
            <p:nvPr/>
          </p:nvSpPr>
          <p:spPr bwMode="auto">
            <a:xfrm>
              <a:off x="1505" y="1440"/>
              <a:ext cx="870" cy="4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2000" b="1">
                  <a:solidFill>
                    <a:srgbClr val="FF0000"/>
                  </a:solidFill>
                  <a:latin typeface="Calibri" pitchFamily="34" charset="0"/>
                  <a:cs typeface="Times New Roman" pitchFamily="18" charset="0"/>
                </a:rPr>
                <a:t>  x</a:t>
              </a:r>
              <a:endParaRPr lang="en-GB" altLang="en-US" sz="1800">
                <a:latin typeface="Arial" pitchFamily="34" charset="0"/>
              </a:endParaRPr>
            </a:p>
          </p:txBody>
        </p:sp>
        <p:sp>
          <p:nvSpPr>
            <p:cNvPr id="32787" name="Rectangle 198"/>
            <p:cNvSpPr>
              <a:spLocks noChangeArrowheads="1"/>
            </p:cNvSpPr>
            <p:nvPr/>
          </p:nvSpPr>
          <p:spPr bwMode="auto">
            <a:xfrm>
              <a:off x="455" y="1426"/>
              <a:ext cx="1036" cy="4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r>
                <a:rPr lang="en-GB" altLang="en-US" sz="1400">
                  <a:latin typeface="Arial" pitchFamily="34" charset="0"/>
                  <a:ea typeface="Times New Roman" pitchFamily="18" charset="0"/>
                  <a:cs typeface="Arial" pitchFamily="34" charset="0"/>
                </a:rPr>
                <a:t>More errors than correct: No sign of a switch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8" name="Rectangle 197"/>
            <p:cNvSpPr>
              <a:spLocks noChangeArrowheads="1"/>
            </p:cNvSpPr>
            <p:nvPr/>
          </p:nvSpPr>
          <p:spPr bwMode="auto">
            <a:xfrm>
              <a:off x="3687" y="1071"/>
              <a:ext cx="1824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GB" altLang="en-US" sz="1600" u="sng">
                  <a:latin typeface="Arial" pitchFamily="34" charset="0"/>
                  <a:ea typeface="Times New Roman" pitchFamily="18" charset="0"/>
                  <a:cs typeface="Arial" pitchFamily="34" charset="0"/>
                </a:rPr>
                <a:t>Intervention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89" name="Rectangle 196"/>
            <p:cNvSpPr>
              <a:spLocks noChangeArrowheads="1"/>
            </p:cNvSpPr>
            <p:nvPr/>
          </p:nvSpPr>
          <p:spPr bwMode="auto">
            <a:xfrm>
              <a:off x="2362" y="1071"/>
              <a:ext cx="1325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GB" altLang="en-US" sz="1600" u="sng">
                  <a:latin typeface="Arial" pitchFamily="34" charset="0"/>
                  <a:ea typeface="Times New Roman" pitchFamily="18" charset="0"/>
                  <a:cs typeface="Arial" pitchFamily="34" charset="0"/>
                </a:rPr>
                <a:t>Interpretation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90" name="Rectangle 195"/>
            <p:cNvSpPr>
              <a:spLocks noChangeArrowheads="1"/>
            </p:cNvSpPr>
            <p:nvPr/>
          </p:nvSpPr>
          <p:spPr bwMode="auto">
            <a:xfrm>
              <a:off x="1491" y="1071"/>
              <a:ext cx="871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GB" altLang="en-US" sz="1600" u="sng">
                  <a:latin typeface="Arial" pitchFamily="34" charset="0"/>
                </a:rPr>
                <a:t>Chart Picture</a:t>
              </a:r>
            </a:p>
          </p:txBody>
        </p:sp>
        <p:sp>
          <p:nvSpPr>
            <p:cNvPr id="32791" name="Rectangle 194"/>
            <p:cNvSpPr>
              <a:spLocks noChangeArrowheads="1"/>
            </p:cNvSpPr>
            <p:nvPr/>
          </p:nvSpPr>
          <p:spPr bwMode="auto">
            <a:xfrm>
              <a:off x="455" y="1071"/>
              <a:ext cx="1036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algn="ctr" eaLnBrk="1" hangingPunct="1"/>
              <a:r>
                <a:rPr lang="en-GB" altLang="en-US" sz="1600" u="sng">
                  <a:latin typeface="Arial" pitchFamily="34" charset="0"/>
                  <a:ea typeface="Times New Roman" pitchFamily="18" charset="0"/>
                  <a:cs typeface="Arial" pitchFamily="34" charset="0"/>
                </a:rPr>
                <a:t>Chart Description</a:t>
              </a:r>
              <a:endParaRPr lang="en-GB" altLang="en-US" sz="1800">
                <a:latin typeface="Arial" pitchFamily="34" charset="0"/>
                <a:ea typeface="Times New Roman" pitchFamily="18" charset="0"/>
                <a:cs typeface="Arial" pitchFamily="34" charset="0"/>
              </a:endParaRPr>
            </a:p>
          </p:txBody>
        </p:sp>
        <p:sp>
          <p:nvSpPr>
            <p:cNvPr id="32792" name="Line 214"/>
            <p:cNvSpPr>
              <a:spLocks noChangeShapeType="1"/>
            </p:cNvSpPr>
            <p:nvPr/>
          </p:nvSpPr>
          <p:spPr bwMode="auto">
            <a:xfrm>
              <a:off x="455" y="1071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3" name="Line 215"/>
            <p:cNvSpPr>
              <a:spLocks noChangeShapeType="1"/>
            </p:cNvSpPr>
            <p:nvPr/>
          </p:nvSpPr>
          <p:spPr bwMode="auto">
            <a:xfrm>
              <a:off x="455" y="3757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4" name="Line 216"/>
            <p:cNvSpPr>
              <a:spLocks noChangeShapeType="1"/>
            </p:cNvSpPr>
            <p:nvPr/>
          </p:nvSpPr>
          <p:spPr bwMode="auto">
            <a:xfrm>
              <a:off x="455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5" name="Line 217"/>
            <p:cNvSpPr>
              <a:spLocks noChangeShapeType="1"/>
            </p:cNvSpPr>
            <p:nvPr/>
          </p:nvSpPr>
          <p:spPr bwMode="auto">
            <a:xfrm>
              <a:off x="5511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6" name="Line 220"/>
            <p:cNvSpPr>
              <a:spLocks noChangeShapeType="1"/>
            </p:cNvSpPr>
            <p:nvPr/>
          </p:nvSpPr>
          <p:spPr bwMode="auto">
            <a:xfrm>
              <a:off x="455" y="1426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7" name="Line 222"/>
            <p:cNvSpPr>
              <a:spLocks noChangeShapeType="1"/>
            </p:cNvSpPr>
            <p:nvPr/>
          </p:nvSpPr>
          <p:spPr bwMode="auto">
            <a:xfrm>
              <a:off x="1491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8" name="Line 225"/>
            <p:cNvSpPr>
              <a:spLocks noChangeShapeType="1"/>
            </p:cNvSpPr>
            <p:nvPr/>
          </p:nvSpPr>
          <p:spPr bwMode="auto">
            <a:xfrm>
              <a:off x="2362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799" name="Line 228"/>
            <p:cNvSpPr>
              <a:spLocks noChangeShapeType="1"/>
            </p:cNvSpPr>
            <p:nvPr/>
          </p:nvSpPr>
          <p:spPr bwMode="auto">
            <a:xfrm>
              <a:off x="3687" y="1071"/>
              <a:ext cx="0" cy="2686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0" name="Line 232"/>
            <p:cNvSpPr>
              <a:spLocks noChangeShapeType="1"/>
            </p:cNvSpPr>
            <p:nvPr/>
          </p:nvSpPr>
          <p:spPr bwMode="auto">
            <a:xfrm>
              <a:off x="455" y="1924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1" name="Line 250"/>
            <p:cNvSpPr>
              <a:spLocks noChangeShapeType="1"/>
            </p:cNvSpPr>
            <p:nvPr/>
          </p:nvSpPr>
          <p:spPr bwMode="auto">
            <a:xfrm>
              <a:off x="455" y="2528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2" name="Line 268"/>
            <p:cNvSpPr>
              <a:spLocks noChangeShapeType="1"/>
            </p:cNvSpPr>
            <p:nvPr/>
          </p:nvSpPr>
          <p:spPr bwMode="auto">
            <a:xfrm>
              <a:off x="455" y="3113"/>
              <a:ext cx="5056" cy="0"/>
            </a:xfrm>
            <a:prstGeom prst="line">
              <a:avLst/>
            </a:pr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grpSp>
          <p:nvGrpSpPr>
            <p:cNvPr id="32803" name="Group 157"/>
            <p:cNvGrpSpPr>
              <a:grpSpLocks/>
            </p:cNvGrpSpPr>
            <p:nvPr/>
          </p:nvGrpSpPr>
          <p:grpSpPr bwMode="auto">
            <a:xfrm>
              <a:off x="1600" y="2594"/>
              <a:ext cx="408" cy="251"/>
              <a:chOff x="4496" y="6534"/>
              <a:chExt cx="970" cy="618"/>
            </a:xfrm>
          </p:grpSpPr>
          <p:sp>
            <p:nvSpPr>
              <p:cNvPr id="32814" name="Line 160"/>
              <p:cNvSpPr>
                <a:spLocks noChangeShapeType="1"/>
              </p:cNvSpPr>
              <p:nvPr/>
            </p:nvSpPr>
            <p:spPr bwMode="auto">
              <a:xfrm flipV="1">
                <a:off x="4722" y="6534"/>
                <a:ext cx="612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815" name="Line 159"/>
              <p:cNvSpPr>
                <a:spLocks noChangeShapeType="1"/>
              </p:cNvSpPr>
              <p:nvPr/>
            </p:nvSpPr>
            <p:spPr bwMode="auto">
              <a:xfrm flipV="1">
                <a:off x="4854" y="6894"/>
                <a:ext cx="612" cy="2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816" name="Oval 158"/>
              <p:cNvSpPr>
                <a:spLocks noChangeArrowheads="1"/>
              </p:cNvSpPr>
              <p:nvPr/>
            </p:nvSpPr>
            <p:spPr bwMode="auto">
              <a:xfrm>
                <a:off x="4496" y="6720"/>
                <a:ext cx="240" cy="180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GB" altLang="en-US"/>
              </a:p>
            </p:txBody>
          </p:sp>
        </p:grpSp>
        <p:grpSp>
          <p:nvGrpSpPr>
            <p:cNvPr id="32804" name="Group 161"/>
            <p:cNvGrpSpPr>
              <a:grpSpLocks/>
            </p:cNvGrpSpPr>
            <p:nvPr/>
          </p:nvGrpSpPr>
          <p:grpSpPr bwMode="auto">
            <a:xfrm>
              <a:off x="1648" y="2040"/>
              <a:ext cx="300" cy="289"/>
              <a:chOff x="4739" y="4873"/>
              <a:chExt cx="715" cy="709"/>
            </a:xfrm>
          </p:grpSpPr>
          <p:sp>
            <p:nvSpPr>
              <p:cNvPr id="32811" name="Line 164"/>
              <p:cNvSpPr>
                <a:spLocks noChangeShapeType="1"/>
              </p:cNvSpPr>
              <p:nvPr/>
            </p:nvSpPr>
            <p:spPr bwMode="auto">
              <a:xfrm flipV="1">
                <a:off x="4854" y="5042"/>
                <a:ext cx="600" cy="5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812" name="Line 163"/>
              <p:cNvSpPr>
                <a:spLocks noChangeShapeType="1"/>
              </p:cNvSpPr>
              <p:nvPr/>
            </p:nvSpPr>
            <p:spPr bwMode="auto">
              <a:xfrm>
                <a:off x="4974" y="5042"/>
                <a:ext cx="480" cy="54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813" name="Oval 162"/>
              <p:cNvSpPr>
                <a:spLocks noChangeArrowheads="1"/>
              </p:cNvSpPr>
              <p:nvPr/>
            </p:nvSpPr>
            <p:spPr bwMode="auto">
              <a:xfrm>
                <a:off x="4739" y="4873"/>
                <a:ext cx="240" cy="180"/>
              </a:xfrm>
              <a:prstGeom prst="ellipse">
                <a:avLst/>
              </a:prstGeom>
              <a:solidFill>
                <a:srgbClr val="339966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/>
                <a:endParaRPr lang="en-GB" altLang="en-US"/>
              </a:p>
            </p:txBody>
          </p:sp>
        </p:grpSp>
        <p:sp>
          <p:nvSpPr>
            <p:cNvPr id="32805" name="Line 156"/>
            <p:cNvSpPr>
              <a:spLocks noChangeShapeType="1"/>
            </p:cNvSpPr>
            <p:nvPr/>
          </p:nvSpPr>
          <p:spPr bwMode="auto">
            <a:xfrm>
              <a:off x="1648" y="3471"/>
              <a:ext cx="355" cy="1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6" name="Line 154"/>
            <p:cNvSpPr>
              <a:spLocks noChangeShapeType="1"/>
            </p:cNvSpPr>
            <p:nvPr/>
          </p:nvSpPr>
          <p:spPr bwMode="auto">
            <a:xfrm flipV="1">
              <a:off x="1648" y="3287"/>
              <a:ext cx="358" cy="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7" name="Oval 155"/>
            <p:cNvSpPr>
              <a:spLocks noChangeArrowheads="1"/>
            </p:cNvSpPr>
            <p:nvPr/>
          </p:nvSpPr>
          <p:spPr bwMode="auto">
            <a:xfrm>
              <a:off x="1553" y="3287"/>
              <a:ext cx="101" cy="73"/>
            </a:xfrm>
            <a:prstGeom prst="ellipse">
              <a:avLst/>
            </a:prstGeom>
            <a:solidFill>
              <a:srgbClr val="33996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  <p:sp>
          <p:nvSpPr>
            <p:cNvPr id="32808" name="Line 167"/>
            <p:cNvSpPr>
              <a:spLocks noChangeShapeType="1"/>
            </p:cNvSpPr>
            <p:nvPr/>
          </p:nvSpPr>
          <p:spPr bwMode="auto">
            <a:xfrm flipV="1">
              <a:off x="1696" y="1440"/>
              <a:ext cx="190" cy="14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09" name="Line 166"/>
            <p:cNvSpPr>
              <a:spLocks noChangeShapeType="1"/>
            </p:cNvSpPr>
            <p:nvPr/>
          </p:nvSpPr>
          <p:spPr bwMode="auto">
            <a:xfrm flipV="1">
              <a:off x="1696" y="1717"/>
              <a:ext cx="250" cy="7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32810" name="Oval 165"/>
            <p:cNvSpPr>
              <a:spLocks noChangeArrowheads="1"/>
            </p:cNvSpPr>
            <p:nvPr/>
          </p:nvSpPr>
          <p:spPr bwMode="auto">
            <a:xfrm>
              <a:off x="1600" y="1764"/>
              <a:ext cx="101" cy="73"/>
            </a:xfrm>
            <a:prstGeom prst="ellipse">
              <a:avLst/>
            </a:prstGeom>
            <a:solidFill>
              <a:srgbClr val="339966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/>
              <a:endParaRPr lang="en-GB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6650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"/>
          <p:cNvSpPr>
            <a:spLocks noGrp="1" noChangeArrowheads="1"/>
          </p:cNvSpPr>
          <p:nvPr>
            <p:ph type="title"/>
          </p:nvPr>
        </p:nvSpPr>
        <p:spPr>
          <a:xfrm>
            <a:off x="971600" y="260648"/>
            <a:ext cx="8424813" cy="1584176"/>
          </a:xfrm>
        </p:spPr>
        <p:txBody>
          <a:bodyPr rIns="31750" anchor="b"/>
          <a:lstStyle/>
          <a:p>
            <a:pPr indent="0" algn="ctr" eaLnBrk="1" hangingPunct="1"/>
            <a:r>
              <a:rPr lang="en-US" altLang="en-US" u="sng" dirty="0" smtClean="0"/>
              <a:t/>
            </a:r>
            <a:br>
              <a:rPr lang="en-US" altLang="en-US" u="sng" dirty="0" smtClean="0"/>
            </a:br>
            <a:r>
              <a:rPr lang="en-US" altLang="en-US" u="sng" dirty="0" smtClean="0"/>
              <a:t>Monitoring</a:t>
            </a:r>
            <a:br>
              <a:rPr lang="en-US" altLang="en-US" u="sng" dirty="0" smtClean="0"/>
            </a:br>
            <a:r>
              <a:rPr lang="en-US" altLang="en-US" sz="3200" dirty="0" smtClean="0"/>
              <a:t>When do I change the probe?</a:t>
            </a:r>
            <a:endParaRPr lang="en-US" altLang="en-US" u="sng" dirty="0" smtClean="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1600" y="1916832"/>
            <a:ext cx="7777113" cy="3024336"/>
          </a:xfrm>
        </p:spPr>
        <p:txBody>
          <a:bodyPr rIns="31750"/>
          <a:lstStyle/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You must continue to teach and </a:t>
            </a:r>
          </a:p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probe the same set of new </a:t>
            </a:r>
          </a:p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letters/words/numbers until the </a:t>
            </a:r>
          </a:p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target has been met for 3 </a:t>
            </a:r>
          </a:p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consecutive days, </a:t>
            </a:r>
          </a:p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which indicates the skill </a:t>
            </a:r>
          </a:p>
          <a:p>
            <a:pPr marL="423863" indent="-384175" eaLnBrk="1" hangingPunct="1">
              <a:spcBef>
                <a:spcPts val="0"/>
              </a:spcBef>
              <a:buFont typeface="Century Gothic" pitchFamily="34" charset="0"/>
              <a:buNone/>
            </a:pPr>
            <a:r>
              <a:rPr lang="en-US" altLang="en-US" sz="2400" dirty="0" smtClean="0"/>
              <a:t>has been mastered.</a:t>
            </a:r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sz="2400" b="1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r>
              <a:rPr lang="en-US" altLang="en-US" sz="2400" b="1" dirty="0" smtClean="0"/>
              <a:t>Remember…</a:t>
            </a:r>
          </a:p>
          <a:p>
            <a:pPr marL="423863" indent="-384175" eaLnBrk="1" hangingPunct="1">
              <a:buFont typeface="Century Gothic" pitchFamily="34" charset="0"/>
              <a:buNone/>
            </a:pPr>
            <a:r>
              <a:rPr lang="en-US" altLang="en-US" sz="2400" b="1" dirty="0" smtClean="0"/>
              <a:t>New Probe – New Chart!</a:t>
            </a:r>
            <a:endParaRPr lang="en-US" altLang="en-US" b="1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endParaRPr lang="en-US" altLang="en-US" sz="2400" dirty="0" smtClean="0"/>
          </a:p>
          <a:p>
            <a:pPr marL="423863" indent="-384175" eaLnBrk="1" hangingPunct="1">
              <a:buFont typeface="Century Gothic" pitchFamily="34" charset="0"/>
              <a:buNone/>
            </a:pPr>
            <a:r>
              <a:rPr lang="en-US" altLang="en-US" sz="2400" dirty="0" smtClean="0">
                <a:latin typeface="ヒラギノ明朝 ProN W3" charset="0"/>
                <a:sym typeface="ヒラギノ明朝 ProN W3" charset="0"/>
              </a:rPr>
              <a:t>	</a:t>
            </a:r>
            <a:endParaRPr lang="en-US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506657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77724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altLang="en-US" sz="4000" dirty="0" smtClean="0"/>
              <a:t> Maintenance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 smtClean="0"/>
              <a:t>Once a child has reached fluency (hit target 3 days consecutively), check for maintenance at regular intervals.</a:t>
            </a:r>
          </a:p>
          <a:p>
            <a:pPr eaLnBrk="1" hangingPunct="1">
              <a:buFontTx/>
              <a:buNone/>
            </a:pPr>
            <a:endParaRPr lang="en-GB" altLang="en-US" dirty="0" smtClean="0"/>
          </a:p>
          <a:p>
            <a:pPr eaLnBrk="1" hangingPunct="1"/>
            <a:r>
              <a:rPr lang="en-GB" altLang="en-US" dirty="0" smtClean="0"/>
              <a:t>Use an old probe to check they are still fluent with these words or interleave previously learnt words with new words.</a:t>
            </a:r>
          </a:p>
        </p:txBody>
      </p:sp>
    </p:spTree>
    <p:extLst>
      <p:ext uri="{BB962C8B-B14F-4D97-AF65-F5344CB8AC3E}">
        <p14:creationId xmlns:p14="http://schemas.microsoft.com/office/powerpoint/2010/main" val="6899578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blocksrg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8200"/>
            <a:ext cx="4572000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6D2FAB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0" y="125413"/>
            <a:ext cx="9144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>
                <a:solidFill>
                  <a:schemeClr val="bg1"/>
                </a:solidFill>
                <a:latin typeface="Arial Black" pitchFamily="34" charset="0"/>
                <a:ea typeface="ＭＳ Ｐゴシック" pitchFamily="110" charset="-128"/>
              </a:rPr>
              <a:t>E D U C A T I O N A L   P S Y C H O L O G Y   S E R V I C E</a:t>
            </a:r>
          </a:p>
        </p:txBody>
      </p:sp>
      <p:pic>
        <p:nvPicPr>
          <p:cNvPr id="16389" name="Picture 5" descr="Image windsor and Maidenhea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6096000"/>
            <a:ext cx="5064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684213" y="4797425"/>
            <a:ext cx="77057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ea typeface="ＭＳ Ｐゴシック" pitchFamily="110" charset="-128"/>
              </a:rPr>
              <a:t>Please do not use or copy any slides without prior permission from RBWM EPS</a:t>
            </a:r>
          </a:p>
        </p:txBody>
      </p:sp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4572000" y="2852738"/>
            <a:ext cx="2952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600">
                <a:latin typeface="Arial Black" pitchFamily="34" charset="0"/>
                <a:ea typeface="ＭＳ Ｐゴシック" pitchFamily="110" charset="-128"/>
              </a:rPr>
              <a:t>Thank you</a:t>
            </a:r>
            <a:endParaRPr lang="en-US" altLang="en-US" sz="3600">
              <a:ea typeface="ＭＳ Ｐゴシック" pitchFamily="11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4736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2711</TotalTime>
  <Words>1153</Words>
  <Application>Microsoft Office PowerPoint</Application>
  <PresentationFormat>On-screen Show (4:3)</PresentationFormat>
  <Paragraphs>274</Paragraphs>
  <Slides>25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Default Design</vt:lpstr>
      <vt:lpstr>1_Custom Design</vt:lpstr>
      <vt:lpstr>Custom Design</vt:lpstr>
      <vt:lpstr>2_Custom Design</vt:lpstr>
      <vt:lpstr>PowerPoint Presentation</vt:lpstr>
      <vt:lpstr>Session Aim</vt:lpstr>
      <vt:lpstr>How do I deliver precision monitoring?</vt:lpstr>
      <vt:lpstr>1. Identifying the difficulty  – Phase 2 set-1 words example</vt:lpstr>
      <vt:lpstr>1. How to get baseline</vt:lpstr>
      <vt:lpstr>Step 2 - Setting a Target</vt:lpstr>
      <vt:lpstr>2. Targets</vt:lpstr>
      <vt:lpstr>2. Targets</vt:lpstr>
      <vt:lpstr>Step 3- Teaching  (6 to 10 mins per day)</vt:lpstr>
      <vt:lpstr>3. Teaching methods</vt:lpstr>
      <vt:lpstr>3. Examples of some teaching methods:</vt:lpstr>
      <vt:lpstr>3. Examples of some teaching methods:</vt:lpstr>
      <vt:lpstr>Step 4 - Monitoring</vt:lpstr>
      <vt:lpstr>PowerPoint Presentation</vt:lpstr>
      <vt:lpstr>Types of probe:</vt:lpstr>
      <vt:lpstr>PT Probe Generator</vt:lpstr>
      <vt:lpstr>Step 5- Chart Results</vt:lpstr>
      <vt:lpstr>PowerPoint Presentation</vt:lpstr>
      <vt:lpstr>PowerPoint Presentation</vt:lpstr>
      <vt:lpstr>PowerPoint Presentation</vt:lpstr>
      <vt:lpstr>Step 6- Analyse the Data</vt:lpstr>
      <vt:lpstr>6. Change - response to data analysis</vt:lpstr>
      <vt:lpstr> Monitoring When do I change the probe?</vt:lpstr>
      <vt:lpstr> Maintenance</vt:lpstr>
      <vt:lpstr>PowerPoint Presentation</vt:lpstr>
    </vt:vector>
  </TitlesOfParts>
  <Company>RBWM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RBWM</dc:creator>
  <cp:lastModifiedBy>localprofile</cp:lastModifiedBy>
  <cp:revision>276</cp:revision>
  <cp:lastPrinted>2017-06-22T07:07:33Z</cp:lastPrinted>
  <dcterms:created xsi:type="dcterms:W3CDTF">2009-10-14T09:14:19Z</dcterms:created>
  <dcterms:modified xsi:type="dcterms:W3CDTF">2017-06-22T07:21:19Z</dcterms:modified>
</cp:coreProperties>
</file>