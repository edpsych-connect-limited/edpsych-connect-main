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6"/>
  </p:notesMasterIdLst>
  <p:handoutMasterIdLst>
    <p:handoutMasterId r:id="rId37"/>
  </p:handoutMasterIdLst>
  <p:sldIdLst>
    <p:sldId id="256" r:id="rId5"/>
    <p:sldId id="313" r:id="rId6"/>
    <p:sldId id="351" r:id="rId7"/>
    <p:sldId id="315" r:id="rId8"/>
    <p:sldId id="316" r:id="rId9"/>
    <p:sldId id="354" r:id="rId10"/>
    <p:sldId id="375" r:id="rId11"/>
    <p:sldId id="376" r:id="rId12"/>
    <p:sldId id="377" r:id="rId13"/>
    <p:sldId id="381" r:id="rId14"/>
    <p:sldId id="380" r:id="rId15"/>
    <p:sldId id="352" r:id="rId16"/>
    <p:sldId id="318" r:id="rId17"/>
    <p:sldId id="356" r:id="rId18"/>
    <p:sldId id="320" r:id="rId19"/>
    <p:sldId id="322" r:id="rId20"/>
    <p:sldId id="323" r:id="rId21"/>
    <p:sldId id="349" r:id="rId22"/>
    <p:sldId id="359" r:id="rId23"/>
    <p:sldId id="361" r:id="rId24"/>
    <p:sldId id="364" r:id="rId25"/>
    <p:sldId id="345" r:id="rId26"/>
    <p:sldId id="346" r:id="rId27"/>
    <p:sldId id="347" r:id="rId28"/>
    <p:sldId id="348" r:id="rId29"/>
    <p:sldId id="362" r:id="rId30"/>
    <p:sldId id="379" r:id="rId31"/>
    <p:sldId id="369" r:id="rId32"/>
    <p:sldId id="353" r:id="rId33"/>
    <p:sldId id="280" r:id="rId34"/>
    <p:sldId id="373" r:id="rId35"/>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7417" autoAdjust="0"/>
  </p:normalViewPr>
  <p:slideViewPr>
    <p:cSldViewPr snapToGrid="0">
      <p:cViewPr varScale="1">
        <p:scale>
          <a:sx n="100" d="100"/>
          <a:sy n="100" d="100"/>
        </p:scale>
        <p:origin x="99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792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9688" y="0"/>
            <a:ext cx="2946400" cy="497928"/>
          </a:xfrm>
          <a:prstGeom prst="rect">
            <a:avLst/>
          </a:prstGeom>
        </p:spPr>
        <p:txBody>
          <a:bodyPr vert="horz" lIns="91440" tIns="45720" rIns="91440" bIns="45720" rtlCol="0"/>
          <a:lstStyle>
            <a:lvl1pPr algn="r">
              <a:defRPr sz="1200"/>
            </a:lvl1pPr>
          </a:lstStyle>
          <a:p>
            <a:fld id="{04208770-00A0-4542-97B8-9BF1F66A59C7}" type="datetimeFigureOut">
              <a:rPr lang="en-GB" smtClean="0"/>
              <a:t>19/01/2023</a:t>
            </a:fld>
            <a:endParaRPr lang="en-GB"/>
          </a:p>
        </p:txBody>
      </p:sp>
      <p:sp>
        <p:nvSpPr>
          <p:cNvPr id="4" name="Footer Placeholder 3"/>
          <p:cNvSpPr>
            <a:spLocks noGrp="1"/>
          </p:cNvSpPr>
          <p:nvPr>
            <p:ph type="ftr" sz="quarter" idx="2"/>
          </p:nvPr>
        </p:nvSpPr>
        <p:spPr>
          <a:xfrm>
            <a:off x="0" y="9428710"/>
            <a:ext cx="2946400" cy="49792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9688" y="9428710"/>
            <a:ext cx="2946400" cy="497928"/>
          </a:xfrm>
          <a:prstGeom prst="rect">
            <a:avLst/>
          </a:prstGeom>
        </p:spPr>
        <p:txBody>
          <a:bodyPr vert="horz" lIns="91440" tIns="45720" rIns="91440" bIns="45720" rtlCol="0" anchor="b"/>
          <a:lstStyle>
            <a:lvl1pPr algn="r">
              <a:defRPr sz="1200"/>
            </a:lvl1pPr>
          </a:lstStyle>
          <a:p>
            <a:fld id="{92C672EB-7B7C-4F7D-948D-01FE07251352}" type="slidenum">
              <a:rPr lang="en-GB" smtClean="0"/>
              <a:t>‹#›</a:t>
            </a:fld>
            <a:endParaRPr lang="en-GB"/>
          </a:p>
        </p:txBody>
      </p:sp>
    </p:spTree>
    <p:extLst>
      <p:ext uri="{BB962C8B-B14F-4D97-AF65-F5344CB8AC3E}">
        <p14:creationId xmlns:p14="http://schemas.microsoft.com/office/powerpoint/2010/main" val="24892998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805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4" y="1"/>
            <a:ext cx="2945659" cy="498055"/>
          </a:xfrm>
          <a:prstGeom prst="rect">
            <a:avLst/>
          </a:prstGeom>
        </p:spPr>
        <p:txBody>
          <a:bodyPr vert="horz" lIns="91440" tIns="45720" rIns="91440" bIns="45720" rtlCol="0"/>
          <a:lstStyle>
            <a:lvl1pPr algn="r">
              <a:defRPr sz="1200"/>
            </a:lvl1pPr>
          </a:lstStyle>
          <a:p>
            <a:fld id="{1500EA08-A9EE-4474-A35E-28F70E0F43F4}" type="datetimeFigureOut">
              <a:rPr lang="en-GB" smtClean="0"/>
              <a:t>19/01/2023</a:t>
            </a:fld>
            <a:endParaRPr lang="en-GB"/>
          </a:p>
        </p:txBody>
      </p:sp>
      <p:sp>
        <p:nvSpPr>
          <p:cNvPr id="4" name="Slide Image Placeholder 3"/>
          <p:cNvSpPr>
            <a:spLocks noGrp="1" noRot="1" noChangeAspect="1"/>
          </p:cNvSpPr>
          <p:nvPr>
            <p:ph type="sldImg" idx="2"/>
          </p:nvPr>
        </p:nvSpPr>
        <p:spPr>
          <a:xfrm>
            <a:off x="420688" y="1239838"/>
            <a:ext cx="5956300" cy="33512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5"/>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428584"/>
            <a:ext cx="2945659" cy="498054"/>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4" y="9428584"/>
            <a:ext cx="2945659" cy="498054"/>
          </a:xfrm>
          <a:prstGeom prst="rect">
            <a:avLst/>
          </a:prstGeom>
        </p:spPr>
        <p:txBody>
          <a:bodyPr vert="horz" lIns="91440" tIns="45720" rIns="91440" bIns="45720" rtlCol="0" anchor="b"/>
          <a:lstStyle>
            <a:lvl1pPr algn="r">
              <a:defRPr sz="1200"/>
            </a:lvl1pPr>
          </a:lstStyle>
          <a:p>
            <a:fld id="{C5D22837-1D0C-497D-A78A-B2F09EA2AA42}" type="slidenum">
              <a:rPr lang="en-GB" smtClean="0"/>
              <a:t>‹#›</a:t>
            </a:fld>
            <a:endParaRPr lang="en-GB"/>
          </a:p>
        </p:txBody>
      </p:sp>
    </p:spTree>
    <p:extLst>
      <p:ext uri="{BB962C8B-B14F-4D97-AF65-F5344CB8AC3E}">
        <p14:creationId xmlns:p14="http://schemas.microsoft.com/office/powerpoint/2010/main" val="1636941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Introduce</a:t>
            </a:r>
            <a:r>
              <a:rPr lang="en-GB" baseline="0" dirty="0"/>
              <a:t> yourself: TEP from UCL, doing Doctorate study in RC, working at Bucks. </a:t>
            </a:r>
            <a:endParaRPr lang="en-GB" dirty="0"/>
          </a:p>
        </p:txBody>
      </p:sp>
      <p:sp>
        <p:nvSpPr>
          <p:cNvPr id="4" name="Slide Number Placeholder 3"/>
          <p:cNvSpPr>
            <a:spLocks noGrp="1"/>
          </p:cNvSpPr>
          <p:nvPr>
            <p:ph type="sldNum" sz="quarter" idx="10"/>
          </p:nvPr>
        </p:nvSpPr>
        <p:spPr/>
        <p:txBody>
          <a:bodyPr/>
          <a:lstStyle/>
          <a:p>
            <a:fld id="{C5D22837-1D0C-497D-A78A-B2F09EA2AA42}" type="slidenum">
              <a:rPr lang="en-GB" smtClean="0"/>
              <a:t>1</a:t>
            </a:fld>
            <a:endParaRPr lang="en-GB"/>
          </a:p>
        </p:txBody>
      </p:sp>
    </p:spTree>
    <p:extLst>
      <p:ext uri="{BB962C8B-B14F-4D97-AF65-F5344CB8AC3E}">
        <p14:creationId xmlns:p14="http://schemas.microsoft.com/office/powerpoint/2010/main" val="2588857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values and skills underpinning RJ also needs to be </a:t>
            </a:r>
            <a:r>
              <a:rPr lang="en-GB" altLang="en-US" dirty="0"/>
              <a:t>the values and skills of a restorative practitioner.</a:t>
            </a:r>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2</a:t>
            </a:fld>
            <a:endParaRPr lang="en-GB"/>
          </a:p>
        </p:txBody>
      </p:sp>
    </p:spTree>
    <p:extLst>
      <p:ext uri="{BB962C8B-B14F-4D97-AF65-F5344CB8AC3E}">
        <p14:creationId xmlns:p14="http://schemas.microsoft.com/office/powerpoint/2010/main" val="1046484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RJ</a:t>
            </a:r>
            <a:r>
              <a:rPr lang="en-GB" baseline="0" dirty="0"/>
              <a:t> is the framework that covers RC. That is why half of the workshop, I will be explaining what RJ is and then introduce RC. Please don’t get confused as they are very close together. RC is simply a smaller version of RJ and really is the main tool of RJ. It is the set of questions that RJ uses to explore facts and encourage restoration. </a:t>
            </a:r>
            <a:endParaRPr lang="en-GB" dirty="0"/>
          </a:p>
        </p:txBody>
      </p:sp>
      <p:sp>
        <p:nvSpPr>
          <p:cNvPr id="4" name="Slide Number Placeholder 3"/>
          <p:cNvSpPr>
            <a:spLocks noGrp="1"/>
          </p:cNvSpPr>
          <p:nvPr>
            <p:ph type="sldNum" sz="quarter" idx="10"/>
          </p:nvPr>
        </p:nvSpPr>
        <p:spPr/>
        <p:txBody>
          <a:bodyPr/>
          <a:lstStyle/>
          <a:p>
            <a:fld id="{C5D22837-1D0C-497D-A78A-B2F09EA2AA42}" type="slidenum">
              <a:rPr lang="en-GB" smtClean="0"/>
              <a:t>3</a:t>
            </a:fld>
            <a:endParaRPr lang="en-GB"/>
          </a:p>
        </p:txBody>
      </p:sp>
    </p:spTree>
    <p:extLst>
      <p:ext uri="{BB962C8B-B14F-4D97-AF65-F5344CB8AC3E}">
        <p14:creationId xmlns:p14="http://schemas.microsoft.com/office/powerpoint/2010/main" val="2416075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RJ uses the incident of misbehaviour as an educative opportunity for repairing the harm, by fostering more socially responsible relationships and behaviours that take others’ perspectives into account. </a:t>
            </a:r>
          </a:p>
        </p:txBody>
      </p:sp>
      <p:sp>
        <p:nvSpPr>
          <p:cNvPr id="4" name="Slide Number Placeholder 3"/>
          <p:cNvSpPr>
            <a:spLocks noGrp="1"/>
          </p:cNvSpPr>
          <p:nvPr>
            <p:ph type="sldNum" sz="quarter" idx="10"/>
          </p:nvPr>
        </p:nvSpPr>
        <p:spPr/>
        <p:txBody>
          <a:bodyPr/>
          <a:lstStyle/>
          <a:p>
            <a:fld id="{C5D22837-1D0C-497D-A78A-B2F09EA2AA42}" type="slidenum">
              <a:rPr lang="en-GB" smtClean="0"/>
              <a:t>5</a:t>
            </a:fld>
            <a:endParaRPr lang="en-GB"/>
          </a:p>
        </p:txBody>
      </p:sp>
    </p:spTree>
    <p:extLst>
      <p:ext uri="{BB962C8B-B14F-4D97-AF65-F5344CB8AC3E}">
        <p14:creationId xmlns:p14="http://schemas.microsoft.com/office/powerpoint/2010/main" val="2247835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a:t>
            </a:r>
            <a:r>
              <a:rPr lang="en-GB" baseline="0" dirty="0"/>
              <a:t> behavioural policy has to be a back up for major incidents. </a:t>
            </a:r>
            <a:endParaRPr lang="en-GB" dirty="0"/>
          </a:p>
        </p:txBody>
      </p:sp>
      <p:sp>
        <p:nvSpPr>
          <p:cNvPr id="4" name="Slide Number Placeholder 3"/>
          <p:cNvSpPr>
            <a:spLocks noGrp="1"/>
          </p:cNvSpPr>
          <p:nvPr>
            <p:ph type="sldNum" sz="quarter" idx="10"/>
          </p:nvPr>
        </p:nvSpPr>
        <p:spPr/>
        <p:txBody>
          <a:bodyPr/>
          <a:lstStyle/>
          <a:p>
            <a:fld id="{C5D22837-1D0C-497D-A78A-B2F09EA2AA42}" type="slidenum">
              <a:rPr lang="en-GB" smtClean="0"/>
              <a:t>6</a:t>
            </a:fld>
            <a:endParaRPr lang="en-GB"/>
          </a:p>
        </p:txBody>
      </p:sp>
    </p:spTree>
    <p:extLst>
      <p:ext uri="{BB962C8B-B14F-4D97-AF65-F5344CB8AC3E}">
        <p14:creationId xmlns:p14="http://schemas.microsoft.com/office/powerpoint/2010/main" val="589283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other words, </a:t>
            </a:r>
            <a:r>
              <a:rPr lang="en-GB" altLang="en-US" sz="1200" dirty="0"/>
              <a:t>RJ is all about relationships – making, maintaining and, when necessary, repairing relationships.</a:t>
            </a:r>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7</a:t>
            </a:fld>
            <a:endParaRPr lang="en-GB"/>
          </a:p>
        </p:txBody>
      </p:sp>
    </p:spTree>
    <p:extLst>
      <p:ext uri="{BB962C8B-B14F-4D97-AF65-F5344CB8AC3E}">
        <p14:creationId xmlns:p14="http://schemas.microsoft.com/office/powerpoint/2010/main" val="1594799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other words, </a:t>
            </a:r>
            <a:r>
              <a:rPr lang="en-GB" altLang="en-US" sz="1200" dirty="0"/>
              <a:t>RJ is all about relationships – making, maintaining and, when necessary, repairing relationships.</a:t>
            </a:r>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8</a:t>
            </a:fld>
            <a:endParaRPr lang="en-GB"/>
          </a:p>
        </p:txBody>
      </p:sp>
    </p:spTree>
    <p:extLst>
      <p:ext uri="{BB962C8B-B14F-4D97-AF65-F5344CB8AC3E}">
        <p14:creationId xmlns:p14="http://schemas.microsoft.com/office/powerpoint/2010/main" val="2899433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other words, </a:t>
            </a:r>
            <a:r>
              <a:rPr lang="en-GB" altLang="en-US" sz="1200" dirty="0"/>
              <a:t>RJ is all about relationships – making, maintaining and, when necessary, repairing relationships.</a:t>
            </a:r>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9</a:t>
            </a:fld>
            <a:endParaRPr lang="en-GB"/>
          </a:p>
        </p:txBody>
      </p:sp>
    </p:spTree>
    <p:extLst>
      <p:ext uri="{BB962C8B-B14F-4D97-AF65-F5344CB8AC3E}">
        <p14:creationId xmlns:p14="http://schemas.microsoft.com/office/powerpoint/2010/main" val="2485334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underlying premise </a:t>
            </a:r>
            <a:r>
              <a:rPr lang="en-GB"/>
              <a:t>of RJ </a:t>
            </a:r>
            <a:r>
              <a:rPr lang="en-GB" dirty="0"/>
              <a:t>Practices rests with the belief that people will make positive changes when those in positions of authority do things with them rather than to them or for them. </a:t>
            </a:r>
            <a:r>
              <a:rPr lang="en-GB" dirty="0" err="1"/>
              <a:t>Wachtel</a:t>
            </a:r>
            <a:r>
              <a:rPr lang="en-GB" dirty="0"/>
              <a:t> &amp; Costello (2009), The Restorative Practices Handbook, </a:t>
            </a:r>
            <a:r>
              <a:rPr lang="en-GB" dirty="0" err="1"/>
              <a:t>pg</a:t>
            </a:r>
            <a:r>
              <a:rPr lang="en-GB" dirty="0"/>
              <a:t> 50</a:t>
            </a:r>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10</a:t>
            </a:fld>
            <a:endParaRPr lang="en-GB"/>
          </a:p>
        </p:txBody>
      </p:sp>
    </p:spTree>
    <p:extLst>
      <p:ext uri="{BB962C8B-B14F-4D97-AF65-F5344CB8AC3E}">
        <p14:creationId xmlns:p14="http://schemas.microsoft.com/office/powerpoint/2010/main" val="3919145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11</a:t>
            </a:fld>
            <a:endParaRPr lang="en-GB"/>
          </a:p>
        </p:txBody>
      </p:sp>
    </p:spTree>
    <p:extLst>
      <p:ext uri="{BB962C8B-B14F-4D97-AF65-F5344CB8AC3E}">
        <p14:creationId xmlns:p14="http://schemas.microsoft.com/office/powerpoint/2010/main" val="1258891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Rockwell" panose="02060603020205020403" pitchFamily="18" charset="0"/>
              </a:rPr>
              <a:t>A </a:t>
            </a:r>
            <a:r>
              <a:rPr lang="en-US" altLang="en-US" b="1" dirty="0">
                <a:latin typeface="Rockwell" panose="02060603020205020403" pitchFamily="18" charset="0"/>
              </a:rPr>
              <a:t>process</a:t>
            </a:r>
            <a:r>
              <a:rPr lang="en-US" altLang="en-US" dirty="0">
                <a:latin typeface="Rockwell" panose="02060603020205020403" pitchFamily="18" charset="0"/>
              </a:rPr>
              <a:t> of </a:t>
            </a:r>
            <a:r>
              <a:rPr lang="en-US" altLang="en-US" u="sng" dirty="0">
                <a:latin typeface="Rockwell" panose="02060603020205020403" pitchFamily="18" charset="0"/>
              </a:rPr>
              <a:t>collectively participation </a:t>
            </a:r>
            <a:r>
              <a:rPr lang="en-US" altLang="en-US" u="none" dirty="0">
                <a:latin typeface="Rockwell" panose="02060603020205020403" pitchFamily="18" charset="0"/>
              </a:rPr>
              <a:t>in</a:t>
            </a:r>
            <a:r>
              <a:rPr lang="en-US" altLang="en-US" u="sng" dirty="0">
                <a:latin typeface="Rockwell" panose="02060603020205020403" pitchFamily="18" charset="0"/>
              </a:rPr>
              <a:t> </a:t>
            </a:r>
            <a:r>
              <a:rPr lang="en-US" altLang="en-US" dirty="0">
                <a:latin typeface="Rockwell" panose="02060603020205020403" pitchFamily="18" charset="0"/>
              </a:rPr>
              <a:t>identifying and addressing harms, needs, and obligations, in order to </a:t>
            </a:r>
            <a:r>
              <a:rPr lang="en-US" altLang="en-US" u="sng" dirty="0">
                <a:latin typeface="Rockwell" panose="02060603020205020403" pitchFamily="18" charset="0"/>
              </a:rPr>
              <a:t>heal</a:t>
            </a:r>
            <a:r>
              <a:rPr lang="en-US" altLang="en-US" dirty="0">
                <a:latin typeface="Rockwell" panose="02060603020205020403" pitchFamily="18" charset="0"/>
              </a:rPr>
              <a:t> and put things as</a:t>
            </a:r>
            <a:r>
              <a:rPr lang="en-US" altLang="en-US" u="sng" dirty="0">
                <a:latin typeface="Rockwell" panose="02060603020205020403" pitchFamily="18" charset="0"/>
              </a:rPr>
              <a:t> right</a:t>
            </a:r>
            <a:r>
              <a:rPr lang="en-US" altLang="en-US" dirty="0">
                <a:latin typeface="Rockwell" panose="02060603020205020403" pitchFamily="18" charset="0"/>
              </a:rPr>
              <a:t> as possible.</a:t>
            </a:r>
            <a:endParaRPr lang="en-GB" dirty="0"/>
          </a:p>
          <a:p>
            <a:endParaRPr lang="en-GB" dirty="0"/>
          </a:p>
        </p:txBody>
      </p:sp>
      <p:sp>
        <p:nvSpPr>
          <p:cNvPr id="4" name="Slide Number Placeholder 3"/>
          <p:cNvSpPr>
            <a:spLocks noGrp="1"/>
          </p:cNvSpPr>
          <p:nvPr>
            <p:ph type="sldNum" sz="quarter" idx="10"/>
          </p:nvPr>
        </p:nvSpPr>
        <p:spPr/>
        <p:txBody>
          <a:bodyPr/>
          <a:lstStyle/>
          <a:p>
            <a:fld id="{C5D22837-1D0C-497D-A78A-B2F09EA2AA42}" type="slidenum">
              <a:rPr lang="en-GB" smtClean="0"/>
              <a:t>14</a:t>
            </a:fld>
            <a:endParaRPr lang="en-GB"/>
          </a:p>
        </p:txBody>
      </p:sp>
    </p:spTree>
    <p:extLst>
      <p:ext uri="{BB962C8B-B14F-4D97-AF65-F5344CB8AC3E}">
        <p14:creationId xmlns:p14="http://schemas.microsoft.com/office/powerpoint/2010/main" val="3801255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a:t>These are the values and skills that need to be underpinning restorative practice and so first and foremost they need to be the values and skills of a restorative practitioner</a:t>
            </a:r>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15</a:t>
            </a:fld>
            <a:endParaRPr lang="en-GB"/>
          </a:p>
        </p:txBody>
      </p:sp>
    </p:spTree>
    <p:extLst>
      <p:ext uri="{BB962C8B-B14F-4D97-AF65-F5344CB8AC3E}">
        <p14:creationId xmlns:p14="http://schemas.microsoft.com/office/powerpoint/2010/main" val="3647505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RJ is grounded in </a:t>
            </a:r>
            <a:r>
              <a:rPr lang="en-US" altLang="en-US" sz="1200" u="sng" dirty="0"/>
              <a:t>values</a:t>
            </a:r>
            <a:r>
              <a:rPr lang="en-US" altLang="en-US" sz="1200" dirty="0"/>
              <a:t> that </a:t>
            </a:r>
            <a:r>
              <a:rPr lang="en-US" altLang="en-US" sz="1200" u="sng" dirty="0"/>
              <a:t>promote</a:t>
            </a:r>
            <a:r>
              <a:rPr lang="en-US" altLang="en-US" sz="1200" dirty="0"/>
              <a:t> both </a:t>
            </a:r>
            <a:r>
              <a:rPr lang="en-US" altLang="en-US" sz="1200" u="sng" dirty="0"/>
              <a:t>accountability </a:t>
            </a:r>
            <a:r>
              <a:rPr lang="en-US" altLang="en-US" sz="1200" dirty="0"/>
              <a:t>and </a:t>
            </a:r>
            <a:r>
              <a:rPr lang="en-US" altLang="en-US" sz="1200" u="sng" dirty="0"/>
              <a:t>healing</a:t>
            </a:r>
            <a:r>
              <a:rPr lang="en-US" altLang="en-US" sz="1200" dirty="0"/>
              <a:t> for all affected</a:t>
            </a:r>
            <a:r>
              <a:rPr lang="en-US" altLang="en-US" sz="1200" baseline="0" dirty="0"/>
              <a:t>. </a:t>
            </a:r>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16</a:t>
            </a:fld>
            <a:endParaRPr lang="en-GB"/>
          </a:p>
        </p:txBody>
      </p:sp>
    </p:spTree>
    <p:extLst>
      <p:ext uri="{BB962C8B-B14F-4D97-AF65-F5344CB8AC3E}">
        <p14:creationId xmlns:p14="http://schemas.microsoft.com/office/powerpoint/2010/main" val="38087732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altLang="en-US" sz="1200" b="1" dirty="0"/>
              <a:t>Is your response informed by relationship values and skills?</a:t>
            </a:r>
            <a:endParaRPr lang="en-GB"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C5D22837-1D0C-497D-A78A-B2F09EA2AA42}" type="slidenum">
              <a:rPr lang="en-GB" smtClean="0"/>
              <a:t>18</a:t>
            </a:fld>
            <a:endParaRPr lang="en-GB"/>
          </a:p>
        </p:txBody>
      </p:sp>
    </p:spTree>
    <p:extLst>
      <p:ext uri="{BB962C8B-B14F-4D97-AF65-F5344CB8AC3E}">
        <p14:creationId xmlns:p14="http://schemas.microsoft.com/office/powerpoint/2010/main" val="2447380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is</a:t>
            </a:r>
            <a:r>
              <a:rPr lang="en-GB" baseline="0" dirty="0"/>
              <a:t> the question that is not there? Why!! They need to be asked in order, the whole set beginning with the wrongdoer if possible. </a:t>
            </a:r>
            <a:endParaRPr lang="en-GB" dirty="0"/>
          </a:p>
        </p:txBody>
      </p:sp>
      <p:sp>
        <p:nvSpPr>
          <p:cNvPr id="4" name="Slide Number Placeholder 3"/>
          <p:cNvSpPr>
            <a:spLocks noGrp="1"/>
          </p:cNvSpPr>
          <p:nvPr>
            <p:ph type="sldNum" sz="quarter" idx="10"/>
          </p:nvPr>
        </p:nvSpPr>
        <p:spPr/>
        <p:txBody>
          <a:bodyPr/>
          <a:lstStyle/>
          <a:p>
            <a:fld id="{C5D22837-1D0C-497D-A78A-B2F09EA2AA42}" type="slidenum">
              <a:rPr lang="en-GB" smtClean="0"/>
              <a:t>20</a:t>
            </a:fld>
            <a:endParaRPr lang="en-GB"/>
          </a:p>
        </p:txBody>
      </p:sp>
    </p:spTree>
    <p:extLst>
      <p:ext uri="{BB962C8B-B14F-4D97-AF65-F5344CB8AC3E}">
        <p14:creationId xmlns:p14="http://schemas.microsoft.com/office/powerpoint/2010/main" val="1254274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Stay curious,</a:t>
            </a:r>
            <a:r>
              <a:rPr lang="en-GB" baseline="0" dirty="0"/>
              <a:t> not judgemental. </a:t>
            </a:r>
            <a:endParaRPr lang="en-GB" dirty="0"/>
          </a:p>
        </p:txBody>
      </p:sp>
      <p:sp>
        <p:nvSpPr>
          <p:cNvPr id="4" name="Slide Number Placeholder 3"/>
          <p:cNvSpPr>
            <a:spLocks noGrp="1"/>
          </p:cNvSpPr>
          <p:nvPr>
            <p:ph type="sldNum" sz="quarter" idx="10"/>
          </p:nvPr>
        </p:nvSpPr>
        <p:spPr/>
        <p:txBody>
          <a:bodyPr/>
          <a:lstStyle/>
          <a:p>
            <a:fld id="{C5D22837-1D0C-497D-A78A-B2F09EA2AA42}" type="slidenum">
              <a:rPr lang="en-GB" smtClean="0"/>
              <a:t>22</a:t>
            </a:fld>
            <a:endParaRPr lang="en-GB"/>
          </a:p>
        </p:txBody>
      </p:sp>
    </p:spTree>
    <p:extLst>
      <p:ext uri="{BB962C8B-B14F-4D97-AF65-F5344CB8AC3E}">
        <p14:creationId xmlns:p14="http://schemas.microsoft.com/office/powerpoint/2010/main" val="22754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people don’t feel heard they keep repeating themselves.</a:t>
            </a:r>
            <a:r>
              <a:rPr lang="en-GB" baseline="0" dirty="0"/>
              <a:t> </a:t>
            </a:r>
          </a:p>
          <a:p>
            <a:r>
              <a:rPr lang="en-GB" baseline="0" dirty="0"/>
              <a:t>Self-awareness: remain in touch with the stories we are saying and others are saying. Be aware of what these stories produce is us (feelings and thoughts). This will help us remain objective and keep listening. </a:t>
            </a:r>
            <a:endParaRPr lang="en-GB" dirty="0"/>
          </a:p>
        </p:txBody>
      </p:sp>
      <p:sp>
        <p:nvSpPr>
          <p:cNvPr id="4" name="Slide Number Placeholder 3"/>
          <p:cNvSpPr>
            <a:spLocks noGrp="1"/>
          </p:cNvSpPr>
          <p:nvPr>
            <p:ph type="sldNum" sz="quarter" idx="10"/>
          </p:nvPr>
        </p:nvSpPr>
        <p:spPr/>
        <p:txBody>
          <a:bodyPr/>
          <a:lstStyle/>
          <a:p>
            <a:fld id="{C5D22837-1D0C-497D-A78A-B2F09EA2AA42}" type="slidenum">
              <a:rPr lang="en-GB" smtClean="0"/>
              <a:t>24</a:t>
            </a:fld>
            <a:endParaRPr lang="en-GB"/>
          </a:p>
        </p:txBody>
      </p:sp>
    </p:spTree>
    <p:extLst>
      <p:ext uri="{BB962C8B-B14F-4D97-AF65-F5344CB8AC3E}">
        <p14:creationId xmlns:p14="http://schemas.microsoft.com/office/powerpoint/2010/main" val="3562015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indent="-742950">
              <a:buAutoNum type="arabicPeriod"/>
            </a:pPr>
            <a:r>
              <a:rPr lang="en-GB" sz="1200"/>
              <a:t>Break off into groups of three’s</a:t>
            </a:r>
          </a:p>
          <a:p>
            <a:pPr marL="742950" indent="-742950">
              <a:buAutoNum type="arabicPeriod"/>
            </a:pPr>
            <a:r>
              <a:rPr lang="en-GB" sz="1200"/>
              <a:t>In your group decide on a facilitator, a harmed and a wrong doer.</a:t>
            </a:r>
          </a:p>
          <a:p>
            <a:pPr marL="742950" indent="-742950">
              <a:buAutoNum type="arabicPeriod"/>
            </a:pPr>
            <a:r>
              <a:rPr lang="en-GB" sz="1200"/>
              <a:t>The facilitator should practice using the 5 magic questions to repair a conflict situation. </a:t>
            </a:r>
          </a:p>
          <a:p>
            <a:pPr marL="742950" indent="-742950">
              <a:buAutoNum type="arabicPeriod"/>
            </a:pPr>
            <a:r>
              <a:rPr lang="en-GB" sz="1200"/>
              <a:t>Try to draw on your learned restorative justice skills</a:t>
            </a:r>
            <a:endParaRPr lang="en-US"/>
          </a:p>
        </p:txBody>
      </p:sp>
      <p:sp>
        <p:nvSpPr>
          <p:cNvPr id="4" name="Slide Number Placeholder 3"/>
          <p:cNvSpPr>
            <a:spLocks noGrp="1"/>
          </p:cNvSpPr>
          <p:nvPr>
            <p:ph type="sldNum" sz="quarter" idx="10"/>
          </p:nvPr>
        </p:nvSpPr>
        <p:spPr/>
        <p:txBody>
          <a:bodyPr/>
          <a:lstStyle/>
          <a:p>
            <a:fld id="{C5D22837-1D0C-497D-A78A-B2F09EA2AA42}" type="slidenum">
              <a:rPr lang="en-GB" smtClean="0"/>
              <a:t>27</a:t>
            </a:fld>
            <a:endParaRPr lang="en-GB"/>
          </a:p>
        </p:txBody>
      </p:sp>
    </p:spTree>
    <p:extLst>
      <p:ext uri="{BB962C8B-B14F-4D97-AF65-F5344CB8AC3E}">
        <p14:creationId xmlns:p14="http://schemas.microsoft.com/office/powerpoint/2010/main" val="41020980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a:xfrm>
            <a:off x="2692397" y="5037663"/>
            <a:ext cx="5214635" cy="279400"/>
          </a:xfrm>
        </p:spPr>
        <p:txBody>
          <a:bodyPr/>
          <a:lstStyle/>
          <a:p>
            <a:endParaRPr lang="en-GB"/>
          </a:p>
        </p:txBody>
      </p:sp>
      <p:sp>
        <p:nvSpPr>
          <p:cNvPr id="6" name="Slide Number Placeholder 5"/>
          <p:cNvSpPr>
            <a:spLocks noGrp="1"/>
          </p:cNvSpPr>
          <p:nvPr>
            <p:ph type="sldNum" sz="quarter" idx="12"/>
          </p:nvPr>
        </p:nvSpPr>
        <p:spPr>
          <a:xfrm>
            <a:off x="8956900" y="5037663"/>
            <a:ext cx="551167" cy="279400"/>
          </a:xfrm>
        </p:spPr>
        <p:txBody>
          <a:bodyPr/>
          <a:lstStyle/>
          <a:p>
            <a:fld id="{81D53EC5-0273-42F0-9E69-49EFD1A95F94}" type="slidenum">
              <a:rPr lang="en-GB" smtClean="0"/>
              <a:t>‹#›</a:t>
            </a:fld>
            <a:endParaRPr lang="en-GB"/>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6269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spTree>
    <p:extLst>
      <p:ext uri="{BB962C8B-B14F-4D97-AF65-F5344CB8AC3E}">
        <p14:creationId xmlns:p14="http://schemas.microsoft.com/office/powerpoint/2010/main" val="709506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5285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814DFD-AB84-4E10-8B68-322EDE4E924E}" type="datetimeFigureOut">
              <a:rPr lang="en-GB" smtClean="0"/>
              <a:t>19/01/2023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D53EC5-0273-42F0-9E69-49EFD1A95F94}" type="slidenum">
              <a:rPr lang="en-GB" smtClean="0"/>
              <a:t>‹#›</a:t>
            </a:fld>
            <a:endParaRPr lang="en-GB"/>
          </a:p>
        </p:txBody>
      </p:sp>
    </p:spTree>
    <p:extLst>
      <p:ext uri="{BB962C8B-B14F-4D97-AF65-F5344CB8AC3E}">
        <p14:creationId xmlns:p14="http://schemas.microsoft.com/office/powerpoint/2010/main" val="248080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814DFD-AB84-4E10-8B68-322EDE4E924E}" type="datetimeFigureOut">
              <a:rPr lang="en-GB" smtClean="0"/>
              <a:t>19/01/2023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1D53EC5-0273-42F0-9E69-49EFD1A95F94}" type="slidenum">
              <a:rPr lang="en-GB" smtClean="0"/>
              <a:t>‹#›</a:t>
            </a:fld>
            <a:endParaRPr lang="en-GB"/>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0087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814DFD-AB84-4E10-8B68-322EDE4E924E}" type="datetimeFigureOut">
              <a:rPr lang="en-GB" smtClean="0"/>
              <a:t>19/01/2023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1D53EC5-0273-42F0-9E69-49EFD1A95F94}"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7046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814DFD-AB84-4E10-8B68-322EDE4E924E}" type="datetimeFigureOut">
              <a:rPr lang="en-GB" smtClean="0"/>
              <a:t>19/01/2023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1D53EC5-0273-42F0-9E69-49EFD1A95F94}" type="slidenum">
              <a:rPr lang="en-GB" smtClean="0"/>
              <a:t>‹#›</a:t>
            </a:fld>
            <a:endParaRPr lang="en-GB"/>
          </a:p>
        </p:txBody>
      </p:sp>
    </p:spTree>
    <p:extLst>
      <p:ext uri="{BB962C8B-B14F-4D97-AF65-F5344CB8AC3E}">
        <p14:creationId xmlns:p14="http://schemas.microsoft.com/office/powerpoint/2010/main" val="3697888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814DFD-AB84-4E10-8B68-322EDE4E924E}" type="datetimeFigureOut">
              <a:rPr lang="en-GB" smtClean="0"/>
              <a:t>19/01/2023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D53EC5-0273-42F0-9E69-49EFD1A95F94}" type="slidenum">
              <a:rPr lang="en-GB" smtClean="0"/>
              <a:t>‹#›</a:t>
            </a:fld>
            <a:endParaRPr lang="en-GB"/>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7246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814DFD-AB84-4E10-8B68-322EDE4E924E}" type="datetimeFigureOut">
              <a:rPr lang="en-GB" smtClean="0"/>
              <a:t>19/01/2023</a:t>
            </a:fld>
            <a:endParaRPr lang="en-GB"/>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1D53EC5-0273-42F0-9E69-49EFD1A95F94}" type="slidenum">
              <a:rPr lang="en-GB" smtClean="0"/>
              <a:t>‹#›</a:t>
            </a:fld>
            <a:endParaRPr lang="en-GB"/>
          </a:p>
        </p:txBody>
      </p:sp>
    </p:spTree>
    <p:extLst>
      <p:ext uri="{BB962C8B-B14F-4D97-AF65-F5344CB8AC3E}">
        <p14:creationId xmlns:p14="http://schemas.microsoft.com/office/powerpoint/2010/main" val="3110353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814DFD-AB84-4E10-8B68-322EDE4E924E}" type="datetimeFigureOut">
              <a:rPr lang="en-GB" smtClean="0"/>
              <a:t>19/01/2023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D53EC5-0273-42F0-9E69-49EFD1A95F94}" type="slidenum">
              <a:rPr lang="en-GB" smtClean="0"/>
              <a:t>‹#›</a:t>
            </a:fld>
            <a:endParaRPr lang="en-GB"/>
          </a:p>
        </p:txBody>
      </p:sp>
    </p:spTree>
    <p:extLst>
      <p:ext uri="{BB962C8B-B14F-4D97-AF65-F5344CB8AC3E}">
        <p14:creationId xmlns:p14="http://schemas.microsoft.com/office/powerpoint/2010/main" val="116813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6897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6657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spTree>
    <p:extLst>
      <p:ext uri="{BB962C8B-B14F-4D97-AF65-F5344CB8AC3E}">
        <p14:creationId xmlns:p14="http://schemas.microsoft.com/office/powerpoint/2010/main" val="842968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6482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1248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967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814DFD-AB84-4E10-8B68-322EDE4E924E}" type="datetimeFigureOut">
              <a:rPr lang="en-GB" smtClean="0"/>
              <a:t>19/01/2023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D53EC5-0273-42F0-9E69-49EFD1A95F94}" type="slidenum">
              <a:rPr lang="en-GB" smtClean="0"/>
              <a:t>‹#›</a:t>
            </a:fld>
            <a:endParaRPr lang="en-GB"/>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375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814DFD-AB84-4E10-8B68-322EDE4E924E}" type="datetimeFigureOut">
              <a:rPr lang="en-GB" smtClean="0"/>
              <a:t>19/01/2023</a:t>
            </a:fld>
            <a:endParaRPr lang="en-GB"/>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1D53EC5-0273-42F0-9E69-49EFD1A95F94}" type="slidenum">
              <a:rPr lang="en-GB" smtClean="0"/>
              <a:t>‹#›</a:t>
            </a:fld>
            <a:endParaRPr lang="en-GB"/>
          </a:p>
        </p:txBody>
      </p:sp>
    </p:spTree>
    <p:extLst>
      <p:ext uri="{BB962C8B-B14F-4D97-AF65-F5344CB8AC3E}">
        <p14:creationId xmlns:p14="http://schemas.microsoft.com/office/powerpoint/2010/main" val="39294028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051559" y="1733266"/>
            <a:ext cx="10681261" cy="1824191"/>
          </a:xfrm>
        </p:spPr>
        <p:txBody>
          <a:bodyPr/>
          <a:lstStyle/>
          <a:p>
            <a:r>
              <a:rPr lang="en-GB" sz="5000" b="1" dirty="0"/>
              <a:t>Restorative Language </a:t>
            </a:r>
            <a:br>
              <a:rPr lang="en-GB" sz="5000" b="1" dirty="0"/>
            </a:br>
            <a:r>
              <a:rPr lang="en-GB" sz="3000" b="1" dirty="0"/>
              <a:t>(based on Restorative Justice)</a:t>
            </a:r>
          </a:p>
        </p:txBody>
      </p:sp>
      <p:sp>
        <p:nvSpPr>
          <p:cNvPr id="2" name="TextBox 1"/>
          <p:cNvSpPr txBox="1"/>
          <p:nvPr/>
        </p:nvSpPr>
        <p:spPr>
          <a:xfrm>
            <a:off x="2349536" y="4162567"/>
            <a:ext cx="6535157" cy="830997"/>
          </a:xfrm>
          <a:prstGeom prst="rect">
            <a:avLst/>
          </a:prstGeom>
          <a:noFill/>
        </p:spPr>
        <p:txBody>
          <a:bodyPr wrap="square" rtlCol="0">
            <a:spAutoFit/>
          </a:bodyPr>
          <a:lstStyle/>
          <a:p>
            <a:r>
              <a:rPr lang="en-GB" sz="2400" dirty="0"/>
              <a:t>Valeria Troya-McCann &amp; Scott </a:t>
            </a:r>
            <a:r>
              <a:rPr lang="en-GB" sz="2400" dirty="0" err="1"/>
              <a:t>Ighavongbe</a:t>
            </a:r>
            <a:r>
              <a:rPr lang="en-GB" sz="2400" dirty="0"/>
              <a:t>-Patrick</a:t>
            </a:r>
          </a:p>
          <a:p>
            <a:r>
              <a:rPr lang="en-GB" sz="2400" dirty="0"/>
              <a:t>Bucks Educational Psychology Service</a:t>
            </a:r>
          </a:p>
        </p:txBody>
      </p:sp>
    </p:spTree>
    <p:extLst>
      <p:ext uri="{BB962C8B-B14F-4D97-AF65-F5344CB8AC3E}">
        <p14:creationId xmlns:p14="http://schemas.microsoft.com/office/powerpoint/2010/main" val="201986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Aims of the workshop</a:t>
            </a:r>
          </a:p>
        </p:txBody>
      </p:sp>
      <p:sp>
        <p:nvSpPr>
          <p:cNvPr id="3" name="Content Placeholder 2"/>
          <p:cNvSpPr>
            <a:spLocks noGrp="1"/>
          </p:cNvSpPr>
          <p:nvPr>
            <p:ph idx="1"/>
          </p:nvPr>
        </p:nvSpPr>
        <p:spPr>
          <a:xfrm>
            <a:off x="1295401" y="2556931"/>
            <a:ext cx="9601196" cy="3543617"/>
          </a:xfrm>
        </p:spPr>
        <p:txBody>
          <a:bodyPr>
            <a:normAutofit/>
          </a:bodyPr>
          <a:lstStyle/>
          <a:p>
            <a:r>
              <a:rPr lang="en-GB" altLang="en-US" dirty="0"/>
              <a:t>To introduce you to the </a:t>
            </a:r>
            <a:r>
              <a:rPr lang="en-GB" altLang="en-US" b="1" dirty="0"/>
              <a:t>concept of restorative justice</a:t>
            </a:r>
            <a:r>
              <a:rPr lang="en-GB" altLang="en-US" dirty="0"/>
              <a:t> (</a:t>
            </a:r>
            <a:r>
              <a:rPr lang="en-GB" altLang="en-US" b="1" dirty="0"/>
              <a:t>RJ</a:t>
            </a:r>
            <a:r>
              <a:rPr lang="en-GB" altLang="en-US" dirty="0"/>
              <a:t>).</a:t>
            </a:r>
          </a:p>
          <a:p>
            <a:endParaRPr lang="en-GB" altLang="en-US" dirty="0"/>
          </a:p>
          <a:p>
            <a:r>
              <a:rPr lang="en-GB" altLang="en-US" dirty="0"/>
              <a:t>To introduce you to the </a:t>
            </a:r>
            <a:r>
              <a:rPr lang="en-GB" altLang="en-US" b="1" dirty="0"/>
              <a:t>ethos</a:t>
            </a:r>
            <a:r>
              <a:rPr lang="en-GB" altLang="en-US" dirty="0"/>
              <a:t> and </a:t>
            </a:r>
            <a:r>
              <a:rPr lang="en-GB" altLang="en-US" b="1" dirty="0"/>
              <a:t>values</a:t>
            </a:r>
            <a:r>
              <a:rPr lang="en-GB" altLang="en-US" dirty="0"/>
              <a:t> that underpin </a:t>
            </a:r>
            <a:r>
              <a:rPr lang="en-GB" altLang="en-US" b="1" dirty="0"/>
              <a:t>restorative justice.</a:t>
            </a:r>
            <a:br>
              <a:rPr lang="en-GB" altLang="en-US" dirty="0"/>
            </a:br>
            <a:endParaRPr lang="en-GB" altLang="en-US" dirty="0"/>
          </a:p>
          <a:p>
            <a:r>
              <a:rPr lang="en-GB" altLang="en-US" dirty="0"/>
              <a:t>To introduce you to the </a:t>
            </a:r>
            <a:r>
              <a:rPr lang="en-GB" altLang="en-US" b="1" dirty="0"/>
              <a:t>skills</a:t>
            </a:r>
            <a:r>
              <a:rPr lang="en-GB" altLang="en-US" dirty="0"/>
              <a:t> that will allow you to use </a:t>
            </a:r>
            <a:r>
              <a:rPr lang="en-GB" altLang="en-US" b="1" dirty="0"/>
              <a:t>restorative language successfully. </a:t>
            </a:r>
            <a:br>
              <a:rPr lang="en-GB" altLang="en-US" b="1" dirty="0"/>
            </a:br>
            <a:endParaRPr lang="en-GB" altLang="en-US" b="1" dirty="0"/>
          </a:p>
          <a:p>
            <a:endParaRPr lang="en-GB" altLang="en-US" dirty="0"/>
          </a:p>
          <a:p>
            <a:endParaRPr lang="en-GB" altLang="en-US" dirty="0"/>
          </a:p>
        </p:txBody>
      </p:sp>
    </p:spTree>
    <p:extLst>
      <p:ext uri="{BB962C8B-B14F-4D97-AF65-F5344CB8AC3E}">
        <p14:creationId xmlns:p14="http://schemas.microsoft.com/office/powerpoint/2010/main" val="1977961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825087" y="682387"/>
            <a:ext cx="6810231" cy="5418161"/>
          </a:xfrm>
          <a:prstGeom prst="rect">
            <a:avLst/>
          </a:prstGeom>
        </p:spPr>
      </p:pic>
      <p:sp>
        <p:nvSpPr>
          <p:cNvPr id="3" name="TextBox 2"/>
          <p:cNvSpPr txBox="1"/>
          <p:nvPr/>
        </p:nvSpPr>
        <p:spPr>
          <a:xfrm>
            <a:off x="4312693" y="2047164"/>
            <a:ext cx="4320413" cy="707886"/>
          </a:xfrm>
          <a:prstGeom prst="rect">
            <a:avLst/>
          </a:prstGeom>
          <a:noFill/>
        </p:spPr>
        <p:txBody>
          <a:bodyPr wrap="none" rtlCol="0">
            <a:spAutoFit/>
          </a:bodyPr>
          <a:lstStyle/>
          <a:p>
            <a:r>
              <a:rPr lang="en-GB" sz="4000" b="1" dirty="0">
                <a:solidFill>
                  <a:schemeClr val="accent4">
                    <a:lumMod val="75000"/>
                  </a:schemeClr>
                </a:solidFill>
              </a:rPr>
              <a:t>Restorative Justice </a:t>
            </a:r>
          </a:p>
        </p:txBody>
      </p:sp>
      <p:sp>
        <p:nvSpPr>
          <p:cNvPr id="4" name="TextBox 3"/>
          <p:cNvSpPr txBox="1"/>
          <p:nvPr/>
        </p:nvSpPr>
        <p:spPr>
          <a:xfrm>
            <a:off x="5413695" y="3456286"/>
            <a:ext cx="615553" cy="1785297"/>
          </a:xfrm>
          <a:prstGeom prst="rect">
            <a:avLst/>
          </a:prstGeom>
          <a:noFill/>
        </p:spPr>
        <p:txBody>
          <a:bodyPr vert="vert270" wrap="none" rtlCol="0">
            <a:spAutoFit/>
          </a:bodyPr>
          <a:lstStyle/>
          <a:p>
            <a:r>
              <a:rPr lang="en-GB" sz="2800" b="1" dirty="0">
                <a:solidFill>
                  <a:srgbClr val="0070C0"/>
                </a:solidFill>
              </a:rPr>
              <a:t>Restorative</a:t>
            </a:r>
          </a:p>
        </p:txBody>
      </p:sp>
      <p:sp>
        <p:nvSpPr>
          <p:cNvPr id="5" name="TextBox 4"/>
          <p:cNvSpPr txBox="1"/>
          <p:nvPr/>
        </p:nvSpPr>
        <p:spPr>
          <a:xfrm>
            <a:off x="6250491" y="3322806"/>
            <a:ext cx="584775" cy="1950919"/>
          </a:xfrm>
          <a:prstGeom prst="rect">
            <a:avLst/>
          </a:prstGeom>
          <a:noFill/>
        </p:spPr>
        <p:txBody>
          <a:bodyPr vert="vert270" wrap="none" rtlCol="0">
            <a:spAutoFit/>
          </a:bodyPr>
          <a:lstStyle/>
          <a:p>
            <a:r>
              <a:rPr lang="en-GB" sz="2600" b="1" dirty="0">
                <a:solidFill>
                  <a:srgbClr val="0070C0"/>
                </a:solidFill>
              </a:rPr>
              <a:t>Conversation</a:t>
            </a:r>
          </a:p>
        </p:txBody>
      </p:sp>
    </p:spTree>
    <p:extLst>
      <p:ext uri="{BB962C8B-B14F-4D97-AF65-F5344CB8AC3E}">
        <p14:creationId xmlns:p14="http://schemas.microsoft.com/office/powerpoint/2010/main" val="1275713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What is Restorative Justice (RJ)?</a:t>
            </a:r>
          </a:p>
        </p:txBody>
      </p:sp>
      <p:sp>
        <p:nvSpPr>
          <p:cNvPr id="3" name="Content Placeholder 2"/>
          <p:cNvSpPr>
            <a:spLocks noGrp="1"/>
          </p:cNvSpPr>
          <p:nvPr>
            <p:ph idx="1"/>
          </p:nvPr>
        </p:nvSpPr>
        <p:spPr/>
        <p:txBody>
          <a:bodyPr/>
          <a:lstStyle/>
          <a:p>
            <a:pPr marL="0" indent="0">
              <a:buNone/>
            </a:pPr>
            <a:endParaRPr lang="en-GB" dirty="0"/>
          </a:p>
          <a:p>
            <a:pPr marL="0" indent="0">
              <a:buNone/>
            </a:pPr>
            <a:r>
              <a:rPr lang="en-GB" b="1" i="1" dirty="0"/>
              <a:t>“Restorative Justice is a way to move a child on. For years we’ve just been containing – putting the lid back on – and eventually that just explodes in your face!”</a:t>
            </a:r>
          </a:p>
          <a:p>
            <a:pPr marL="0" indent="0" algn="r">
              <a:buNone/>
            </a:pPr>
            <a:r>
              <a:rPr lang="en-GB" dirty="0"/>
              <a:t>Primary Deputy Head, Banbury (Hopkins, 2004)</a:t>
            </a:r>
          </a:p>
        </p:txBody>
      </p:sp>
    </p:spTree>
    <p:extLst>
      <p:ext uri="{BB962C8B-B14F-4D97-AF65-F5344CB8AC3E}">
        <p14:creationId xmlns:p14="http://schemas.microsoft.com/office/powerpoint/2010/main" val="337572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1" y="1451463"/>
            <a:ext cx="9601196" cy="4799211"/>
          </a:xfrm>
        </p:spPr>
        <p:txBody>
          <a:bodyPr>
            <a:normAutofit/>
          </a:bodyPr>
          <a:lstStyle/>
          <a:p>
            <a:pPr marL="0" indent="0" algn="ctr">
              <a:buNone/>
            </a:pPr>
            <a:r>
              <a:rPr lang="en-GB" sz="4400" b="1" dirty="0"/>
              <a:t>What is </a:t>
            </a:r>
            <a:r>
              <a:rPr lang="en-GB" sz="4400" dirty="0"/>
              <a:t>RJ?</a:t>
            </a:r>
          </a:p>
          <a:p>
            <a:pPr marL="0" indent="0" algn="ctr">
              <a:buNone/>
            </a:pPr>
            <a:endParaRPr lang="en-GB" sz="2600" dirty="0"/>
          </a:p>
          <a:p>
            <a:r>
              <a:rPr lang="en-GB" sz="2600" dirty="0"/>
              <a:t>A value-based approach for responding to wrongdoing and conflict. </a:t>
            </a:r>
          </a:p>
          <a:p>
            <a:r>
              <a:rPr lang="en-GB" sz="2600" dirty="0"/>
              <a:t>An approach that focuses on building and repairing relationships rather than simply managing and controlling behaviour. </a:t>
            </a:r>
          </a:p>
          <a:p>
            <a:r>
              <a:rPr lang="en-GB" sz="2600" dirty="0"/>
              <a:t>An approach that considers wrongdoing/ misbehaviour as breach to human relationships rather than to school rules.</a:t>
            </a:r>
          </a:p>
          <a:p>
            <a:r>
              <a:rPr lang="en-GB" sz="2600" dirty="0"/>
              <a:t>An approach that utilises incidents of wrongdoing as an educative opportunity for repairing the harm.</a:t>
            </a:r>
          </a:p>
        </p:txBody>
      </p:sp>
    </p:spTree>
    <p:extLst>
      <p:ext uri="{BB962C8B-B14F-4D97-AF65-F5344CB8AC3E}">
        <p14:creationId xmlns:p14="http://schemas.microsoft.com/office/powerpoint/2010/main" val="3773594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b="1" dirty="0"/>
              <a:t>RJ is not…</a:t>
            </a:r>
          </a:p>
        </p:txBody>
      </p:sp>
      <p:sp>
        <p:nvSpPr>
          <p:cNvPr id="3" name="Content Placeholder 2"/>
          <p:cNvSpPr>
            <a:spLocks noGrp="1"/>
          </p:cNvSpPr>
          <p:nvPr>
            <p:ph idx="1"/>
          </p:nvPr>
        </p:nvSpPr>
        <p:spPr>
          <a:xfrm>
            <a:off x="1295401" y="2556931"/>
            <a:ext cx="9601196" cy="3802925"/>
          </a:xfrm>
        </p:spPr>
        <p:txBody>
          <a:bodyPr>
            <a:normAutofit/>
          </a:bodyPr>
          <a:lstStyle/>
          <a:p>
            <a:r>
              <a:rPr lang="en-GB" sz="2600" dirty="0"/>
              <a:t>A ‘soft approach’ which ignores bad behaviour or doesn’t give consequences for it.</a:t>
            </a:r>
          </a:p>
          <a:p>
            <a:r>
              <a:rPr lang="en-GB" sz="2600" dirty="0"/>
              <a:t>Primarily about forgiveness and reconciliation. </a:t>
            </a:r>
          </a:p>
          <a:p>
            <a:r>
              <a:rPr lang="en-GB" sz="2600" dirty="0"/>
              <a:t>Necessarily designed to reduce bad behaviour but this is what I </a:t>
            </a:r>
            <a:r>
              <a:rPr lang="en-GB" sz="2600" dirty="0">
                <a:solidFill>
                  <a:schemeClr val="tx1"/>
                </a:solidFill>
              </a:rPr>
              <a:t>want</a:t>
            </a:r>
            <a:r>
              <a:rPr lang="en-GB" sz="2600" dirty="0">
                <a:solidFill>
                  <a:srgbClr val="FF0000"/>
                </a:solidFill>
              </a:rPr>
              <a:t> </a:t>
            </a:r>
            <a:r>
              <a:rPr lang="en-GB" sz="2600" dirty="0"/>
              <a:t>to explore! </a:t>
            </a:r>
          </a:p>
          <a:p>
            <a:r>
              <a:rPr lang="en-GB" sz="2600" dirty="0"/>
              <a:t>A ‘magic wand’ that will transform your students immediately. </a:t>
            </a:r>
          </a:p>
          <a:p>
            <a:r>
              <a:rPr lang="en-GB" sz="2600" dirty="0"/>
              <a:t>A replacement for your behavioural policy. </a:t>
            </a:r>
          </a:p>
          <a:p>
            <a:endParaRPr lang="en-GB" dirty="0"/>
          </a:p>
        </p:txBody>
      </p:sp>
    </p:spTree>
    <p:extLst>
      <p:ext uri="{BB962C8B-B14F-4D97-AF65-F5344CB8AC3E}">
        <p14:creationId xmlns:p14="http://schemas.microsoft.com/office/powerpoint/2010/main" val="23847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887611"/>
          </a:xfrm>
        </p:spPr>
        <p:txBody>
          <a:bodyPr>
            <a:normAutofit/>
          </a:bodyPr>
          <a:lstStyle/>
          <a:p>
            <a:r>
              <a:rPr lang="en-GB" b="1" dirty="0"/>
              <a:t>What does RJ entail? </a:t>
            </a:r>
          </a:p>
        </p:txBody>
      </p:sp>
      <p:sp>
        <p:nvSpPr>
          <p:cNvPr id="3" name="Content Placeholder 2"/>
          <p:cNvSpPr>
            <a:spLocks noGrp="1"/>
          </p:cNvSpPr>
          <p:nvPr>
            <p:ph idx="1"/>
          </p:nvPr>
        </p:nvSpPr>
        <p:spPr>
          <a:xfrm>
            <a:off x="1295401" y="1869743"/>
            <a:ext cx="9601196" cy="4203511"/>
          </a:xfrm>
        </p:spPr>
        <p:txBody>
          <a:bodyPr>
            <a:normAutofit fontScale="92500"/>
          </a:bodyPr>
          <a:lstStyle/>
          <a:p>
            <a:pPr marL="0" indent="0">
              <a:lnSpc>
                <a:spcPct val="80000"/>
              </a:lnSpc>
              <a:buNone/>
            </a:pPr>
            <a:r>
              <a:rPr lang="en-GB" altLang="en-US" dirty="0"/>
              <a:t>RJ entails a commitment to:</a:t>
            </a:r>
          </a:p>
          <a:p>
            <a:pPr marL="0" indent="0">
              <a:lnSpc>
                <a:spcPct val="80000"/>
              </a:lnSpc>
              <a:buNone/>
            </a:pPr>
            <a:endParaRPr lang="en-GB" altLang="en-US" dirty="0"/>
          </a:p>
          <a:p>
            <a:pPr>
              <a:lnSpc>
                <a:spcPct val="80000"/>
              </a:lnSpc>
            </a:pPr>
            <a:r>
              <a:rPr lang="en-GB" altLang="en-US" dirty="0"/>
              <a:t>Facilitate dialogue between all those involved in, and affected by wrongdoing or conflict.</a:t>
            </a:r>
          </a:p>
          <a:p>
            <a:pPr>
              <a:lnSpc>
                <a:spcPct val="80000"/>
              </a:lnSpc>
            </a:pPr>
            <a:r>
              <a:rPr lang="en-GB" altLang="en-US" dirty="0"/>
              <a:t>Encourage those responsible for wrongdoing to become accountable for their actions and to accept responsibility for putting right the wrong.</a:t>
            </a:r>
          </a:p>
          <a:p>
            <a:pPr>
              <a:lnSpc>
                <a:spcPct val="80000"/>
              </a:lnSpc>
            </a:pPr>
            <a:r>
              <a:rPr lang="en-GB" altLang="en-US" dirty="0"/>
              <a:t>Ensure that all those involved or affected are given the opportunity to share their story, their feelings and their needs.</a:t>
            </a:r>
          </a:p>
          <a:p>
            <a:pPr>
              <a:lnSpc>
                <a:spcPct val="80000"/>
              </a:lnSpc>
            </a:pPr>
            <a:r>
              <a:rPr lang="en-GB" altLang="en-US" dirty="0"/>
              <a:t>Involve everyone affected in finding mutually acceptable ways to move forward. </a:t>
            </a:r>
          </a:p>
          <a:p>
            <a:pPr>
              <a:lnSpc>
                <a:spcPct val="80000"/>
              </a:lnSpc>
            </a:pPr>
            <a:r>
              <a:rPr lang="en-GB" altLang="en-US" dirty="0"/>
              <a:t>Repair the harm caused by any behaviour that has a negative impact on others.</a:t>
            </a:r>
          </a:p>
          <a:p>
            <a:pPr>
              <a:lnSpc>
                <a:spcPct val="80000"/>
              </a:lnSpc>
            </a:pPr>
            <a:r>
              <a:rPr lang="en-GB" altLang="en-US" dirty="0"/>
              <a:t>Repair and/ or build relationships between those affected.</a:t>
            </a:r>
          </a:p>
        </p:txBody>
      </p:sp>
    </p:spTree>
    <p:extLst>
      <p:ext uri="{BB962C8B-B14F-4D97-AF65-F5344CB8AC3E}">
        <p14:creationId xmlns:p14="http://schemas.microsoft.com/office/powerpoint/2010/main" val="333338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Traditional approach</a:t>
            </a:r>
          </a:p>
        </p:txBody>
      </p:sp>
      <p:sp>
        <p:nvSpPr>
          <p:cNvPr id="3" name="Content Placeholder 2"/>
          <p:cNvSpPr>
            <a:spLocks noGrp="1"/>
          </p:cNvSpPr>
          <p:nvPr>
            <p:ph idx="1"/>
          </p:nvPr>
        </p:nvSpPr>
        <p:spPr/>
        <p:txBody>
          <a:bodyPr>
            <a:normAutofit/>
          </a:bodyPr>
          <a:lstStyle/>
          <a:p>
            <a:r>
              <a:rPr lang="en-GB" altLang="en-US" dirty="0"/>
              <a:t>What’s happened?</a:t>
            </a:r>
          </a:p>
          <a:p>
            <a:r>
              <a:rPr lang="en-GB" altLang="en-US" dirty="0"/>
              <a:t>Who started it?</a:t>
            </a:r>
          </a:p>
          <a:p>
            <a:r>
              <a:rPr lang="en-GB" altLang="en-US" dirty="0"/>
              <a:t>What response is appropriate to deter and punish?</a:t>
            </a:r>
          </a:p>
          <a:p>
            <a:pPr>
              <a:lnSpc>
                <a:spcPct val="80000"/>
              </a:lnSpc>
            </a:pPr>
            <a:endParaRPr lang="en-GB" altLang="en-US" dirty="0"/>
          </a:p>
        </p:txBody>
      </p:sp>
    </p:spTree>
    <p:extLst>
      <p:ext uri="{BB962C8B-B14F-4D97-AF65-F5344CB8AC3E}">
        <p14:creationId xmlns:p14="http://schemas.microsoft.com/office/powerpoint/2010/main" val="20037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Restorative approach</a:t>
            </a:r>
          </a:p>
        </p:txBody>
      </p:sp>
      <p:sp>
        <p:nvSpPr>
          <p:cNvPr id="3" name="Content Placeholder 2"/>
          <p:cNvSpPr>
            <a:spLocks noGrp="1"/>
          </p:cNvSpPr>
          <p:nvPr>
            <p:ph idx="1"/>
          </p:nvPr>
        </p:nvSpPr>
        <p:spPr/>
        <p:txBody>
          <a:bodyPr>
            <a:normAutofit/>
          </a:bodyPr>
          <a:lstStyle/>
          <a:p>
            <a:r>
              <a:rPr lang="en-GB" altLang="en-US" dirty="0"/>
              <a:t>What’s happened?</a:t>
            </a:r>
          </a:p>
          <a:p>
            <a:r>
              <a:rPr lang="en-GB" altLang="en-US" dirty="0"/>
              <a:t>Who has been affected or harmed?</a:t>
            </a:r>
          </a:p>
          <a:p>
            <a:r>
              <a:rPr lang="en-GB" altLang="en-US" dirty="0"/>
              <a:t>How can those involved be supported in finding ways to repair the harm caused? </a:t>
            </a:r>
          </a:p>
          <a:p>
            <a:pPr>
              <a:lnSpc>
                <a:spcPct val="80000"/>
              </a:lnSpc>
            </a:pPr>
            <a:endParaRPr lang="en-GB" altLang="en-US" dirty="0"/>
          </a:p>
        </p:txBody>
      </p:sp>
    </p:spTree>
    <p:extLst>
      <p:ext uri="{BB962C8B-B14F-4D97-AF65-F5344CB8AC3E}">
        <p14:creationId xmlns:p14="http://schemas.microsoft.com/office/powerpoint/2010/main" val="261105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The Social Discipline Window</a:t>
            </a:r>
            <a:br>
              <a:rPr lang="en-GB" b="1" dirty="0"/>
            </a:br>
            <a:r>
              <a:rPr lang="en-GB" sz="2200" dirty="0" err="1"/>
              <a:t>Wachtel</a:t>
            </a:r>
            <a:r>
              <a:rPr lang="en-GB" sz="2200" dirty="0"/>
              <a:t> &amp; Costello (2009) </a:t>
            </a:r>
            <a:endParaRPr lang="en-GB" sz="2200" b="1"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942414" y="2620523"/>
            <a:ext cx="3882452" cy="3583801"/>
          </a:xfrm>
        </p:spPr>
      </p:pic>
    </p:spTree>
    <p:extLst>
      <p:ext uri="{BB962C8B-B14F-4D97-AF65-F5344CB8AC3E}">
        <p14:creationId xmlns:p14="http://schemas.microsoft.com/office/powerpoint/2010/main" val="247387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17437" cy="576845"/>
          </a:xfrm>
        </p:spPr>
        <p:txBody>
          <a:bodyPr>
            <a:normAutofit fontScale="90000"/>
          </a:bodyPr>
          <a:lstStyle/>
          <a:p>
            <a:r>
              <a:rPr lang="en-GB" b="1" dirty="0"/>
              <a:t>Paradigm shift</a:t>
            </a:r>
          </a:p>
        </p:txBody>
      </p:sp>
      <p:graphicFrame>
        <p:nvGraphicFramePr>
          <p:cNvPr id="5" name="Content Placeholder 5"/>
          <p:cNvGraphicFramePr>
            <a:graphicFrameLocks/>
          </p:cNvGraphicFramePr>
          <p:nvPr>
            <p:extLst>
              <p:ext uri="{D42A27DB-BD31-4B8C-83A1-F6EECF244321}">
                <p14:modId xmlns:p14="http://schemas.microsoft.com/office/powerpoint/2010/main" val="570682898"/>
              </p:ext>
            </p:extLst>
          </p:nvPr>
        </p:nvGraphicFramePr>
        <p:xfrm>
          <a:off x="1074919" y="1618937"/>
          <a:ext cx="10058400" cy="4160520"/>
        </p:xfrm>
        <a:graphic>
          <a:graphicData uri="http://schemas.openxmlformats.org/drawingml/2006/table">
            <a:tbl>
              <a:tblPr firstRow="1" bandRow="1">
                <a:tableStyleId>{5C22544A-7EE6-4342-B048-85BDC9FD1C3A}</a:tableStyleId>
              </a:tblPr>
              <a:tblGrid>
                <a:gridCol w="4861186">
                  <a:extLst>
                    <a:ext uri="{9D8B030D-6E8A-4147-A177-3AD203B41FA5}">
                      <a16:colId xmlns:a16="http://schemas.microsoft.com/office/drawing/2014/main" val="20000"/>
                    </a:ext>
                  </a:extLst>
                </a:gridCol>
                <a:gridCol w="5197214">
                  <a:extLst>
                    <a:ext uri="{9D8B030D-6E8A-4147-A177-3AD203B41FA5}">
                      <a16:colId xmlns:a16="http://schemas.microsoft.com/office/drawing/2014/main" val="20001"/>
                    </a:ext>
                  </a:extLst>
                </a:gridCol>
              </a:tblGrid>
              <a:tr h="349364">
                <a:tc>
                  <a:txBody>
                    <a:bodyPr/>
                    <a:lstStyle/>
                    <a:p>
                      <a:r>
                        <a:rPr lang="en-GB" sz="2100" dirty="0"/>
                        <a:t>Traditional approach</a:t>
                      </a:r>
                    </a:p>
                  </a:txBody>
                  <a:tcPr/>
                </a:tc>
                <a:tc>
                  <a:txBody>
                    <a:bodyPr/>
                    <a:lstStyle/>
                    <a:p>
                      <a:r>
                        <a:rPr lang="en-GB" sz="2100" dirty="0"/>
                        <a:t>RJ</a:t>
                      </a:r>
                      <a:r>
                        <a:rPr lang="en-GB" sz="2100" baseline="0" dirty="0"/>
                        <a:t> approach</a:t>
                      </a:r>
                      <a:endParaRPr lang="en-GB" sz="2100" dirty="0"/>
                    </a:p>
                  </a:txBody>
                  <a:tcPr/>
                </a:tc>
                <a:extLst>
                  <a:ext uri="{0D108BD9-81ED-4DB2-BD59-A6C34878D82A}">
                    <a16:rowId xmlns:a16="http://schemas.microsoft.com/office/drawing/2014/main" val="10000"/>
                  </a:ext>
                </a:extLst>
              </a:tr>
              <a:tr h="3493643">
                <a:tc>
                  <a:txBody>
                    <a:bodyPr/>
                    <a:lstStyle/>
                    <a:p>
                      <a:pPr marL="342900" indent="-342900">
                        <a:buFont typeface="Arial" panose="020B0604020202020204" pitchFamily="34" charset="0"/>
                        <a:buChar char="•"/>
                      </a:pPr>
                      <a:r>
                        <a:rPr lang="en-US" sz="2400" dirty="0"/>
                        <a:t>School and rules violated</a:t>
                      </a:r>
                      <a:endParaRPr lang="en-GB" sz="2400" dirty="0"/>
                    </a:p>
                    <a:p>
                      <a:pPr marL="342900" indent="-342900">
                        <a:buFont typeface="Arial" panose="020B0604020202020204" pitchFamily="34" charset="0"/>
                        <a:buChar char="•"/>
                      </a:pPr>
                      <a:r>
                        <a:rPr lang="en-US" sz="2400" dirty="0"/>
                        <a:t>Justice focuses on establishing guilt </a:t>
                      </a:r>
                      <a:endParaRPr lang="en-GB" sz="2400" dirty="0"/>
                    </a:p>
                    <a:p>
                      <a:pPr marL="342900" indent="-342900">
                        <a:buFont typeface="Arial" panose="020B0604020202020204" pitchFamily="34" charset="0"/>
                        <a:buChar char="•"/>
                      </a:pPr>
                      <a:r>
                        <a:rPr lang="en-US" sz="2400" dirty="0"/>
                        <a:t>Accountability = punishment</a:t>
                      </a:r>
                      <a:endParaRPr lang="en-GB" sz="2400" baseline="0" dirty="0"/>
                    </a:p>
                    <a:p>
                      <a:pPr marL="342900" indent="-342900">
                        <a:buFont typeface="Arial" panose="020B0604020202020204" pitchFamily="34" charset="0"/>
                        <a:buChar char="•"/>
                      </a:pPr>
                      <a:r>
                        <a:rPr lang="en-GB" sz="2400" dirty="0"/>
                        <a:t>Attention is directed to the wrongdoer, harmed ignored</a:t>
                      </a:r>
                      <a:endParaRPr lang="en-GB" sz="2400" baseline="0" dirty="0"/>
                    </a:p>
                    <a:p>
                      <a:pPr marL="342900" indent="-342900">
                        <a:buFont typeface="Arial" panose="020B0604020202020204" pitchFamily="34" charset="0"/>
                        <a:buChar char="•"/>
                      </a:pPr>
                      <a:r>
                        <a:rPr lang="en-GB" sz="2400" dirty="0"/>
                        <a:t>Rules and intent outweigh whether outcome is positive/negative</a:t>
                      </a:r>
                    </a:p>
                    <a:p>
                      <a:pPr marL="342900" indent="-342900">
                        <a:buFont typeface="Arial" panose="020B0604020202020204" pitchFamily="34" charset="0"/>
                        <a:buChar char="•"/>
                      </a:pPr>
                      <a:r>
                        <a:rPr lang="en-GB" sz="2400" dirty="0"/>
                        <a:t>No opportunity for remorse or amends </a:t>
                      </a:r>
                      <a:endParaRPr lang="en-GB" sz="2400" baseline="0" dirty="0"/>
                    </a:p>
                  </a:txBody>
                  <a:tcPr/>
                </a:tc>
                <a:tc>
                  <a:txBody>
                    <a:bodyPr/>
                    <a:lstStyle/>
                    <a:p>
                      <a:pPr marL="342900" indent="-342900">
                        <a:buFont typeface="Arial" panose="020B0604020202020204" pitchFamily="34" charset="0"/>
                        <a:buChar char="•"/>
                      </a:pPr>
                      <a:r>
                        <a:rPr lang="en-US" sz="2400" dirty="0"/>
                        <a:t>People and relationships violated </a:t>
                      </a:r>
                      <a:endParaRPr lang="en-GB" sz="2400" dirty="0"/>
                    </a:p>
                    <a:p>
                      <a:pPr marL="342900" indent="-342900">
                        <a:buFont typeface="Arial" panose="020B0604020202020204" pitchFamily="34" charset="0"/>
                        <a:buChar char="•"/>
                      </a:pPr>
                      <a:r>
                        <a:rPr lang="en-GB" sz="2400" dirty="0"/>
                        <a:t>Justice identifies needs and obligations</a:t>
                      </a:r>
                      <a:endParaRPr lang="en-GB" sz="2400" baseline="0" dirty="0"/>
                    </a:p>
                    <a:p>
                      <a:pPr marL="342900" indent="-342900">
                        <a:buFont typeface="Arial" panose="020B0604020202020204" pitchFamily="34" charset="0"/>
                        <a:buChar char="•"/>
                      </a:pPr>
                      <a:r>
                        <a:rPr lang="en-GB" sz="2400" dirty="0"/>
                        <a:t>Accountability = understanding impact, repairing harm</a:t>
                      </a:r>
                      <a:endParaRPr lang="en-GB" sz="2400" baseline="0" dirty="0"/>
                    </a:p>
                    <a:p>
                      <a:pPr marL="342900" indent="-342900">
                        <a:buFont typeface="Arial" panose="020B0604020202020204" pitchFamily="34" charset="0"/>
                        <a:buChar char="•"/>
                      </a:pPr>
                      <a:r>
                        <a:rPr lang="en-GB" sz="2400" dirty="0"/>
                        <a:t>Wrongdoer, harmed and school all have direct roles in justice process</a:t>
                      </a:r>
                      <a:endParaRPr lang="en-GB" sz="2400" baseline="0" dirty="0"/>
                    </a:p>
                    <a:p>
                      <a:pPr marL="342900" indent="-342900">
                        <a:buFont typeface="Arial" panose="020B0604020202020204" pitchFamily="34" charset="0"/>
                        <a:buChar char="•"/>
                      </a:pPr>
                      <a:r>
                        <a:rPr lang="en-GB" sz="2400" dirty="0"/>
                        <a:t>Wrongdoer, harmed and school all have direct roles in justice process</a:t>
                      </a:r>
                    </a:p>
                    <a:p>
                      <a:pPr marL="342900" indent="-342900">
                        <a:buFont typeface="Arial" panose="020B0604020202020204" pitchFamily="34" charset="0"/>
                        <a:buChar char="•"/>
                      </a:pPr>
                      <a:r>
                        <a:rPr lang="en-GB" sz="2400" dirty="0"/>
                        <a:t>Opportunity given for amends and expression of remorse</a:t>
                      </a:r>
                      <a:endParaRPr lang="en-GB" sz="2400" baseline="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75816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a:t>How do we achieve restoration in relationships?</a:t>
            </a:r>
          </a:p>
        </p:txBody>
      </p:sp>
      <p:sp>
        <p:nvSpPr>
          <p:cNvPr id="3" name="Content Placeholder 2"/>
          <p:cNvSpPr>
            <a:spLocks noGrp="1"/>
          </p:cNvSpPr>
          <p:nvPr>
            <p:ph idx="1"/>
          </p:nvPr>
        </p:nvSpPr>
        <p:spPr/>
        <p:txBody>
          <a:bodyPr/>
          <a:lstStyle/>
          <a:p>
            <a:r>
              <a:rPr lang="en-GB" dirty="0"/>
              <a:t>Through carefully structured opportunities for students to </a:t>
            </a:r>
            <a:r>
              <a:rPr lang="en-GB" b="1" dirty="0"/>
              <a:t>understand</a:t>
            </a:r>
            <a:r>
              <a:rPr lang="en-GB" dirty="0"/>
              <a:t> the </a:t>
            </a:r>
            <a:r>
              <a:rPr lang="en-GB" b="1" dirty="0"/>
              <a:t>impact of their actions</a:t>
            </a:r>
            <a:r>
              <a:rPr lang="en-GB" dirty="0"/>
              <a:t>, </a:t>
            </a:r>
            <a:r>
              <a:rPr lang="en-GB" b="1" dirty="0"/>
              <a:t>recognise</a:t>
            </a:r>
            <a:r>
              <a:rPr lang="en-GB" dirty="0"/>
              <a:t> their </a:t>
            </a:r>
            <a:r>
              <a:rPr lang="en-GB" b="1" dirty="0"/>
              <a:t>social responsibilities </a:t>
            </a:r>
            <a:r>
              <a:rPr lang="en-GB" dirty="0"/>
              <a:t>and </a:t>
            </a:r>
            <a:r>
              <a:rPr lang="en-GB" b="1" dirty="0"/>
              <a:t>make amends </a:t>
            </a:r>
            <a:r>
              <a:rPr lang="en-GB" dirty="0"/>
              <a:t>to those who have been affected.</a:t>
            </a:r>
            <a:br>
              <a:rPr lang="en-GB" dirty="0"/>
            </a:br>
            <a:endParaRPr lang="en-GB" dirty="0"/>
          </a:p>
          <a:p>
            <a:r>
              <a:rPr lang="en-GB" dirty="0"/>
              <a:t>Focusing on the person </a:t>
            </a:r>
            <a:r>
              <a:rPr lang="en-GB" b="1" dirty="0"/>
              <a:t>harmed (victim)</a:t>
            </a:r>
            <a:r>
              <a:rPr lang="en-GB" dirty="0"/>
              <a:t>, the person </a:t>
            </a:r>
            <a:r>
              <a:rPr lang="en-GB" b="1" dirty="0"/>
              <a:t>causing the harm (wrong doer)</a:t>
            </a:r>
            <a:r>
              <a:rPr lang="en-GB" dirty="0"/>
              <a:t>, and the </a:t>
            </a:r>
            <a:r>
              <a:rPr lang="en-GB" b="1" dirty="0"/>
              <a:t>affected community </a:t>
            </a:r>
            <a:r>
              <a:rPr lang="en-GB" dirty="0"/>
              <a:t>(the school or the classroom).</a:t>
            </a:r>
          </a:p>
          <a:p>
            <a:endParaRPr lang="en-GB" dirty="0"/>
          </a:p>
        </p:txBody>
      </p:sp>
    </p:spTree>
    <p:extLst>
      <p:ext uri="{BB962C8B-B14F-4D97-AF65-F5344CB8AC3E}">
        <p14:creationId xmlns:p14="http://schemas.microsoft.com/office/powerpoint/2010/main" val="2373329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327039"/>
            <a:ext cx="9601196" cy="1303867"/>
          </a:xfrm>
        </p:spPr>
        <p:txBody>
          <a:bodyPr>
            <a:normAutofit fontScale="90000"/>
          </a:bodyPr>
          <a:lstStyle/>
          <a:p>
            <a:r>
              <a:rPr lang="en-GB" dirty="0"/>
              <a:t>Achieving restoration following an incident…</a:t>
            </a:r>
          </a:p>
        </p:txBody>
      </p:sp>
      <p:sp>
        <p:nvSpPr>
          <p:cNvPr id="3" name="Content Placeholder 2"/>
          <p:cNvSpPr>
            <a:spLocks noGrp="1"/>
          </p:cNvSpPr>
          <p:nvPr>
            <p:ph idx="1"/>
          </p:nvPr>
        </p:nvSpPr>
        <p:spPr/>
        <p:txBody>
          <a:bodyPr/>
          <a:lstStyle/>
          <a:p>
            <a:endParaRPr lang="en-GB"/>
          </a:p>
        </p:txBody>
      </p:sp>
      <p:graphicFrame>
        <p:nvGraphicFramePr>
          <p:cNvPr id="4" name="Content Placeholder 5"/>
          <p:cNvGraphicFramePr>
            <a:graphicFrameLocks/>
          </p:cNvGraphicFramePr>
          <p:nvPr>
            <p:extLst>
              <p:ext uri="{D42A27DB-BD31-4B8C-83A1-F6EECF244321}">
                <p14:modId xmlns:p14="http://schemas.microsoft.com/office/powerpoint/2010/main" val="210641575"/>
              </p:ext>
            </p:extLst>
          </p:nvPr>
        </p:nvGraphicFramePr>
        <p:xfrm>
          <a:off x="1069975" y="1487608"/>
          <a:ext cx="10058400" cy="4641398"/>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359144">
                <a:tc>
                  <a:txBody>
                    <a:bodyPr/>
                    <a:lstStyle/>
                    <a:p>
                      <a:r>
                        <a:rPr lang="en-GB" sz="2100" dirty="0"/>
                        <a:t>Harmed</a:t>
                      </a:r>
                    </a:p>
                  </a:txBody>
                  <a:tcPr/>
                </a:tc>
                <a:tc>
                  <a:txBody>
                    <a:bodyPr/>
                    <a:lstStyle/>
                    <a:p>
                      <a:r>
                        <a:rPr lang="en-GB" sz="2100" dirty="0"/>
                        <a:t>Caused harm</a:t>
                      </a:r>
                    </a:p>
                  </a:txBody>
                  <a:tcPr/>
                </a:tc>
                <a:extLst>
                  <a:ext uri="{0D108BD9-81ED-4DB2-BD59-A6C34878D82A}">
                    <a16:rowId xmlns:a16="http://schemas.microsoft.com/office/drawing/2014/main" val="10000"/>
                  </a:ext>
                </a:extLst>
              </a:tr>
              <a:tr h="4229918">
                <a:tc>
                  <a:txBody>
                    <a:bodyPr/>
                    <a:lstStyle/>
                    <a:p>
                      <a:r>
                        <a:rPr lang="en-GB" sz="2400" dirty="0"/>
                        <a:t>Someone</a:t>
                      </a:r>
                      <a:r>
                        <a:rPr lang="en-GB" sz="2400" baseline="0" dirty="0"/>
                        <a:t> to listen to my story.</a:t>
                      </a:r>
                    </a:p>
                    <a:p>
                      <a:endParaRPr lang="en-GB" sz="2400" dirty="0"/>
                    </a:p>
                    <a:p>
                      <a:r>
                        <a:rPr lang="en-GB" sz="2400" dirty="0"/>
                        <a:t>Time to calm down.</a:t>
                      </a:r>
                    </a:p>
                    <a:p>
                      <a:endParaRPr lang="en-GB" sz="2400" dirty="0"/>
                    </a:p>
                    <a:p>
                      <a:r>
                        <a:rPr lang="en-GB" sz="2400" baseline="0" dirty="0"/>
                        <a:t>The other person to understand and acknowledge the impact of their behaviour.</a:t>
                      </a:r>
                    </a:p>
                    <a:p>
                      <a:br>
                        <a:rPr lang="en-GB" sz="2400" baseline="0" dirty="0"/>
                      </a:br>
                      <a:r>
                        <a:rPr lang="en-GB" sz="2400" baseline="0" dirty="0"/>
                        <a:t>Sincere apology.</a:t>
                      </a:r>
                    </a:p>
                    <a:p>
                      <a:endParaRPr lang="en-GB" sz="2400" baseline="0" dirty="0"/>
                    </a:p>
                    <a:p>
                      <a:r>
                        <a:rPr lang="en-GB" sz="2400" baseline="0" dirty="0"/>
                        <a:t>Things put right, if possible.</a:t>
                      </a:r>
                    </a:p>
                  </a:txBody>
                  <a:tcPr/>
                </a:tc>
                <a:tc>
                  <a:txBody>
                    <a:bodyPr/>
                    <a:lstStyle/>
                    <a:p>
                      <a:r>
                        <a:rPr lang="en-GB" sz="2400" dirty="0"/>
                        <a:t>Time to think.</a:t>
                      </a:r>
                    </a:p>
                    <a:p>
                      <a:endParaRPr lang="en-GB" sz="2400" dirty="0"/>
                    </a:p>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t>Someone</a:t>
                      </a:r>
                      <a:r>
                        <a:rPr lang="en-GB" sz="2400" baseline="0" dirty="0"/>
                        <a:t> to listen to my story.</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24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sz="2400" baseline="0" dirty="0"/>
                        <a:t>A chance to explain what happened (why I did it).</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24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sz="2400" baseline="0" dirty="0"/>
                        <a:t>An opportunity to apologise and make amends.</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24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sz="2400" baseline="0" dirty="0"/>
                        <a:t>The opportunity to move on.</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6531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Restorative Justice</a:t>
            </a:r>
          </a:p>
        </p:txBody>
      </p:sp>
      <p:pic>
        <p:nvPicPr>
          <p:cNvPr id="1026" name="Picture 2" descr="pillar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079518" y="2142699"/>
            <a:ext cx="6174561" cy="409157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732507" y="3361816"/>
            <a:ext cx="923330" cy="2252724"/>
          </a:xfrm>
          <a:prstGeom prst="rect">
            <a:avLst/>
          </a:prstGeom>
          <a:noFill/>
        </p:spPr>
        <p:txBody>
          <a:bodyPr vert="vert270" wrap="square" rtlCol="0">
            <a:spAutoFit/>
          </a:bodyPr>
          <a:lstStyle/>
          <a:p>
            <a:r>
              <a:rPr lang="en-GB" sz="2400" b="1" dirty="0"/>
              <a:t>Harms and Needs</a:t>
            </a:r>
          </a:p>
        </p:txBody>
      </p:sp>
      <p:sp>
        <p:nvSpPr>
          <p:cNvPr id="9" name="TextBox 8"/>
          <p:cNvSpPr txBox="1"/>
          <p:nvPr/>
        </p:nvSpPr>
        <p:spPr>
          <a:xfrm>
            <a:off x="8138320" y="3965108"/>
            <a:ext cx="584775" cy="1759456"/>
          </a:xfrm>
          <a:prstGeom prst="rect">
            <a:avLst/>
          </a:prstGeom>
          <a:noFill/>
        </p:spPr>
        <p:txBody>
          <a:bodyPr vert="vert270" wrap="none" rtlCol="0">
            <a:spAutoFit/>
          </a:bodyPr>
          <a:lstStyle/>
          <a:p>
            <a:r>
              <a:rPr lang="en-GB" sz="2600" b="1" dirty="0"/>
              <a:t>Obligations</a:t>
            </a:r>
          </a:p>
        </p:txBody>
      </p:sp>
      <p:sp>
        <p:nvSpPr>
          <p:cNvPr id="10" name="TextBox 9"/>
          <p:cNvSpPr txBox="1"/>
          <p:nvPr/>
        </p:nvSpPr>
        <p:spPr>
          <a:xfrm>
            <a:off x="3498989" y="3844402"/>
            <a:ext cx="984885" cy="1926361"/>
          </a:xfrm>
          <a:prstGeom prst="rect">
            <a:avLst/>
          </a:prstGeom>
          <a:noFill/>
        </p:spPr>
        <p:txBody>
          <a:bodyPr vert="vert270" wrap="none" rtlCol="0">
            <a:spAutoFit/>
          </a:bodyPr>
          <a:lstStyle/>
          <a:p>
            <a:r>
              <a:rPr lang="en-GB" sz="2600" b="1" dirty="0"/>
              <a:t>Collective </a:t>
            </a:r>
          </a:p>
          <a:p>
            <a:r>
              <a:rPr lang="en-GB" sz="2600" b="1" dirty="0"/>
              <a:t>Participation</a:t>
            </a:r>
          </a:p>
        </p:txBody>
      </p:sp>
    </p:spTree>
    <p:extLst>
      <p:ext uri="{BB962C8B-B14F-4D97-AF65-F5344CB8AC3E}">
        <p14:creationId xmlns:p14="http://schemas.microsoft.com/office/powerpoint/2010/main" val="2962144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327040"/>
            <a:ext cx="9601196" cy="1303867"/>
          </a:xfrm>
        </p:spPr>
        <p:txBody>
          <a:bodyPr/>
          <a:lstStyle/>
          <a:p>
            <a:r>
              <a:rPr lang="en-GB" dirty="0"/>
              <a:t>There is more to RJ than the Process?</a:t>
            </a:r>
          </a:p>
        </p:txBody>
      </p:sp>
      <p:pic>
        <p:nvPicPr>
          <p:cNvPr id="4" name="Content Placeholder 7"/>
          <p:cNvPicPr>
            <a:picLocks noChangeAspect="1"/>
          </p:cNvPicPr>
          <p:nvPr/>
        </p:nvPicPr>
        <p:blipFill>
          <a:blip r:embed="rId3"/>
          <a:stretch>
            <a:fillRect/>
          </a:stretch>
        </p:blipFill>
        <p:spPr>
          <a:xfrm>
            <a:off x="3089982" y="1630907"/>
            <a:ext cx="6018132" cy="4412187"/>
          </a:xfrm>
          <a:prstGeom prst="rect">
            <a:avLst/>
          </a:prstGeom>
          <a:gradFill>
            <a:gsLst>
              <a:gs pos="4000">
                <a:schemeClr val="accent1">
                  <a:lumMod val="7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Tree>
    <p:extLst>
      <p:ext uri="{BB962C8B-B14F-4D97-AF65-F5344CB8AC3E}">
        <p14:creationId xmlns:p14="http://schemas.microsoft.com/office/powerpoint/2010/main" val="1745158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RJ Values</a:t>
            </a:r>
          </a:p>
        </p:txBody>
      </p:sp>
      <p:sp>
        <p:nvSpPr>
          <p:cNvPr id="3" name="Content Placeholder 2"/>
          <p:cNvSpPr>
            <a:spLocks noGrp="1"/>
          </p:cNvSpPr>
          <p:nvPr>
            <p:ph sz="half" idx="1"/>
          </p:nvPr>
        </p:nvSpPr>
        <p:spPr>
          <a:xfrm>
            <a:off x="1069848" y="2499358"/>
            <a:ext cx="5294376" cy="3977640"/>
          </a:xfrm>
        </p:spPr>
        <p:txBody>
          <a:bodyPr>
            <a:normAutofit/>
          </a:bodyPr>
          <a:lstStyle/>
          <a:p>
            <a:pPr marL="0" indent="0">
              <a:buNone/>
            </a:pPr>
            <a:endParaRPr lang="en-GB" altLang="en-US" sz="4000" b="1" dirty="0">
              <a:effectLst>
                <a:outerShdw blurRad="38100" dist="38100" dir="2700000" algn="tl">
                  <a:srgbClr val="C0C0C0"/>
                </a:outerShdw>
              </a:effectLst>
              <a:latin typeface="+mj-lt"/>
            </a:endParaRPr>
          </a:p>
          <a:p>
            <a:pPr marL="0" indent="0">
              <a:buNone/>
            </a:pPr>
            <a:r>
              <a:rPr lang="en-GB" altLang="en-US" sz="3000" b="1" dirty="0">
                <a:effectLst>
                  <a:outerShdw blurRad="38100" dist="38100" dir="2700000" algn="tl">
                    <a:srgbClr val="C0C0C0"/>
                  </a:outerShdw>
                </a:effectLst>
                <a:latin typeface="+mj-lt"/>
              </a:rPr>
              <a:t>Values</a:t>
            </a:r>
            <a:r>
              <a:rPr lang="en-GB" altLang="en-US" sz="3000" dirty="0">
                <a:effectLst>
                  <a:outerShdw blurRad="38100" dist="38100" dir="2700000" algn="tl">
                    <a:srgbClr val="C0C0C0"/>
                  </a:outerShdw>
                </a:effectLst>
                <a:latin typeface="+mj-lt"/>
              </a:rPr>
              <a:t> that underpin a commitment to building, maintaining  &amp; repairing relationships</a:t>
            </a:r>
            <a:endParaRPr lang="en-GB" sz="3000" dirty="0">
              <a:latin typeface="+mj-lt"/>
            </a:endParaRPr>
          </a:p>
        </p:txBody>
      </p:sp>
      <p:pic>
        <p:nvPicPr>
          <p:cNvPr id="1026"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532891" y="2850944"/>
            <a:ext cx="4865030" cy="3273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856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1002934"/>
            <a:ext cx="9601196" cy="1303867"/>
          </a:xfrm>
        </p:spPr>
        <p:txBody>
          <a:bodyPr>
            <a:normAutofit/>
          </a:bodyPr>
          <a:lstStyle/>
          <a:p>
            <a:r>
              <a:rPr lang="en-GB" altLang="en-US" b="1" dirty="0"/>
              <a:t>All of this is based on 5 key “</a:t>
            </a:r>
            <a:r>
              <a:rPr lang="en-GB" altLang="en-US" b="1" dirty="0" err="1"/>
              <a:t>Rs</a:t>
            </a:r>
            <a:r>
              <a:rPr lang="en-GB" altLang="en-US" b="1" dirty="0"/>
              <a:t>”</a:t>
            </a:r>
            <a:endParaRPr lang="en-GB" b="1" dirty="0"/>
          </a:p>
        </p:txBody>
      </p:sp>
      <p:sp>
        <p:nvSpPr>
          <p:cNvPr id="3" name="Content Placeholder 2"/>
          <p:cNvSpPr>
            <a:spLocks noGrp="1"/>
          </p:cNvSpPr>
          <p:nvPr>
            <p:ph idx="1"/>
          </p:nvPr>
        </p:nvSpPr>
        <p:spPr>
          <a:xfrm>
            <a:off x="1066800" y="2476061"/>
            <a:ext cx="10058400" cy="4823884"/>
          </a:xfrm>
        </p:spPr>
        <p:txBody>
          <a:bodyPr>
            <a:normAutofit/>
          </a:bodyPr>
          <a:lstStyle/>
          <a:p>
            <a:pPr marL="514350" indent="-514350">
              <a:buFont typeface="+mj-lt"/>
              <a:buAutoNum type="arabicPeriod"/>
            </a:pPr>
            <a:r>
              <a:rPr lang="en-GB" sz="2800" b="1" dirty="0"/>
              <a:t>Respect</a:t>
            </a:r>
            <a:r>
              <a:rPr lang="en-GB" sz="2800" dirty="0"/>
              <a:t> – listening to others opinions and valuing them.</a:t>
            </a:r>
          </a:p>
          <a:p>
            <a:pPr marL="514350" indent="-514350">
              <a:buFont typeface="+mj-lt"/>
              <a:buAutoNum type="arabicPeriod"/>
            </a:pPr>
            <a:r>
              <a:rPr lang="en-GB" sz="2800" b="1" dirty="0"/>
              <a:t>Responsibility</a:t>
            </a:r>
            <a:r>
              <a:rPr lang="en-GB" sz="2800" dirty="0"/>
              <a:t> – taking responsibility for your own actions.</a:t>
            </a:r>
          </a:p>
          <a:p>
            <a:pPr marL="514350" indent="-514350">
              <a:buFont typeface="+mj-lt"/>
              <a:buAutoNum type="arabicPeriod"/>
            </a:pPr>
            <a:r>
              <a:rPr lang="en-GB" sz="2800" b="1" dirty="0"/>
              <a:t>Repair</a:t>
            </a:r>
            <a:r>
              <a:rPr lang="en-GB" sz="2800" dirty="0"/>
              <a:t> – talking with others to sort out how to repair any harm that has been caused.</a:t>
            </a:r>
          </a:p>
          <a:p>
            <a:pPr marL="514350" indent="-514350">
              <a:lnSpc>
                <a:spcPct val="80000"/>
              </a:lnSpc>
              <a:buFont typeface="+mj-lt"/>
              <a:buAutoNum type="arabicPeriod"/>
            </a:pPr>
            <a:r>
              <a:rPr lang="en-GB" altLang="en-US" sz="2800" b="1" dirty="0"/>
              <a:t>Re-integration </a:t>
            </a:r>
            <a:r>
              <a:rPr lang="en-GB" sz="2800" dirty="0"/>
              <a:t>–</a:t>
            </a:r>
            <a:r>
              <a:rPr lang="en-GB" altLang="en-US" sz="2800" b="1" dirty="0"/>
              <a:t> </a:t>
            </a:r>
            <a:r>
              <a:rPr lang="en-GB" altLang="en-US" sz="2800" dirty="0"/>
              <a:t>working through a process that solves the problem but allows all young people to remain included and involved in mainstream education.</a:t>
            </a:r>
          </a:p>
          <a:p>
            <a:pPr marL="514350" indent="-514350">
              <a:lnSpc>
                <a:spcPct val="80000"/>
              </a:lnSpc>
              <a:buFont typeface="+mj-lt"/>
              <a:buAutoNum type="arabicPeriod"/>
            </a:pPr>
            <a:r>
              <a:rPr lang="en-GB" altLang="en-US" sz="2800" b="1" dirty="0"/>
              <a:t>Relationships </a:t>
            </a:r>
            <a:r>
              <a:rPr lang="en-GB" altLang="en-US" sz="2800" dirty="0"/>
              <a:t>– making them, not breaking them.</a:t>
            </a:r>
          </a:p>
          <a:p>
            <a:endParaRPr lang="en-GB" dirty="0"/>
          </a:p>
          <a:p>
            <a:pPr marL="0" indent="0">
              <a:buNone/>
            </a:pPr>
            <a:endParaRPr lang="en-GB" dirty="0"/>
          </a:p>
        </p:txBody>
      </p:sp>
    </p:spTree>
    <p:extLst>
      <p:ext uri="{BB962C8B-B14F-4D97-AF65-F5344CB8AC3E}">
        <p14:creationId xmlns:p14="http://schemas.microsoft.com/office/powerpoint/2010/main" val="243646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Activity 1</a:t>
            </a:r>
            <a:br>
              <a:rPr lang="en-GB" dirty="0"/>
            </a:br>
            <a:r>
              <a:rPr lang="en-GB" dirty="0"/>
              <a:t> Reflecting on your practice</a:t>
            </a:r>
          </a:p>
        </p:txBody>
      </p:sp>
      <p:sp>
        <p:nvSpPr>
          <p:cNvPr id="4" name="Content Placeholder 2"/>
          <p:cNvSpPr>
            <a:spLocks noGrp="1"/>
          </p:cNvSpPr>
          <p:nvPr>
            <p:ph sz="half" idx="1"/>
          </p:nvPr>
        </p:nvSpPr>
        <p:spPr>
          <a:xfrm>
            <a:off x="1069848" y="2471878"/>
            <a:ext cx="5031149" cy="4005120"/>
          </a:xfrm>
        </p:spPr>
        <p:txBody>
          <a:bodyPr>
            <a:normAutofit fontScale="62500" lnSpcReduction="20000"/>
          </a:bodyPr>
          <a:lstStyle/>
          <a:p>
            <a:pPr marL="0" indent="0">
              <a:buNone/>
            </a:pPr>
            <a:r>
              <a:rPr lang="en-GB" altLang="en-US" sz="3200" b="1" dirty="0"/>
              <a:t>What informs your practice when dealing with wrongdoing or conflict? </a:t>
            </a:r>
          </a:p>
          <a:p>
            <a:pPr>
              <a:lnSpc>
                <a:spcPct val="90000"/>
              </a:lnSpc>
            </a:pPr>
            <a:r>
              <a:rPr lang="en-GB" altLang="en-US" sz="3200" dirty="0"/>
              <a:t>Do you invite people to give you, individually, their perspective on what has happened?</a:t>
            </a:r>
          </a:p>
          <a:p>
            <a:pPr>
              <a:lnSpc>
                <a:spcPct val="90000"/>
              </a:lnSpc>
            </a:pPr>
            <a:r>
              <a:rPr lang="en-GB" altLang="en-US" sz="3200" dirty="0"/>
              <a:t>Are you genuinely curious about their thoughts and feelings at the time of the incident and since?</a:t>
            </a:r>
          </a:p>
          <a:p>
            <a:pPr>
              <a:lnSpc>
                <a:spcPct val="90000"/>
              </a:lnSpc>
            </a:pPr>
            <a:r>
              <a:rPr lang="en-GB" altLang="en-US" sz="3200" dirty="0"/>
              <a:t>Do you invite them to consider who else may have been affected?</a:t>
            </a:r>
          </a:p>
          <a:p>
            <a:pPr>
              <a:lnSpc>
                <a:spcPct val="90000"/>
              </a:lnSpc>
            </a:pPr>
            <a:r>
              <a:rPr lang="en-GB" altLang="en-US" sz="3200" dirty="0"/>
              <a:t>Do you invite them to consider what needs to happen to put matters right?</a:t>
            </a:r>
          </a:p>
          <a:p>
            <a:pPr>
              <a:lnSpc>
                <a:spcPct val="90000"/>
              </a:lnSpc>
            </a:pPr>
            <a:r>
              <a:rPr lang="en-GB" altLang="en-US" sz="3200" dirty="0"/>
              <a:t>Do you ask them what their own personal needs are for closure and repair?</a:t>
            </a:r>
          </a:p>
          <a:p>
            <a:pPr marL="0" indent="0">
              <a:buNone/>
            </a:pPr>
            <a:endParaRPr lang="en-GB" altLang="en-US" sz="3200" b="1" dirty="0"/>
          </a:p>
        </p:txBody>
      </p:sp>
      <p:sp>
        <p:nvSpPr>
          <p:cNvPr id="7" name="Content Placeholder 2"/>
          <p:cNvSpPr txBox="1">
            <a:spLocks/>
          </p:cNvSpPr>
          <p:nvPr/>
        </p:nvSpPr>
        <p:spPr>
          <a:xfrm>
            <a:off x="6303914" y="2471878"/>
            <a:ext cx="5294376" cy="3977640"/>
          </a:xfrm>
          <a:prstGeom prst="rect">
            <a:avLst/>
          </a:prstGeom>
        </p:spPr>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GB" altLang="en-US" sz="2800" b="1" dirty="0"/>
              <a:t>Do you manage to refrain from</a:t>
            </a:r>
            <a:r>
              <a:rPr lang="en-GB" altLang="en-US" sz="3200" dirty="0"/>
              <a:t>:</a:t>
            </a:r>
          </a:p>
          <a:p>
            <a:pPr>
              <a:lnSpc>
                <a:spcPct val="90000"/>
              </a:lnSpc>
            </a:pPr>
            <a:r>
              <a:rPr lang="en-GB" altLang="en-US" sz="3200" dirty="0"/>
              <a:t>Using your body or your tone to show disapproval?</a:t>
            </a:r>
          </a:p>
          <a:p>
            <a:pPr>
              <a:lnSpc>
                <a:spcPct val="90000"/>
              </a:lnSpc>
            </a:pPr>
            <a:r>
              <a:rPr lang="en-GB" altLang="en-US" sz="3200" dirty="0"/>
              <a:t>Giving your own opinion or judgement about what has happened?</a:t>
            </a:r>
          </a:p>
          <a:p>
            <a:pPr>
              <a:lnSpc>
                <a:spcPct val="90000"/>
              </a:lnSpc>
            </a:pPr>
            <a:r>
              <a:rPr lang="en-GB" altLang="en-US" sz="3200" dirty="0"/>
              <a:t>Taking sides?</a:t>
            </a:r>
          </a:p>
          <a:p>
            <a:pPr>
              <a:lnSpc>
                <a:spcPct val="90000"/>
              </a:lnSpc>
            </a:pPr>
            <a:r>
              <a:rPr lang="en-GB" altLang="en-US" sz="3200" dirty="0"/>
              <a:t>Assuming you know what has happened and why?</a:t>
            </a:r>
          </a:p>
          <a:p>
            <a:pPr>
              <a:lnSpc>
                <a:spcPct val="90000"/>
              </a:lnSpc>
            </a:pPr>
            <a:r>
              <a:rPr lang="en-GB" altLang="en-US" sz="3200" dirty="0"/>
              <a:t>Telling people what they should do?</a:t>
            </a:r>
          </a:p>
          <a:p>
            <a:pPr>
              <a:lnSpc>
                <a:spcPct val="90000"/>
              </a:lnSpc>
            </a:pPr>
            <a:r>
              <a:rPr lang="en-GB" altLang="en-US" sz="3200" dirty="0"/>
              <a:t>Offering unasked for advice?</a:t>
            </a:r>
          </a:p>
          <a:p>
            <a:pPr>
              <a:lnSpc>
                <a:spcPct val="90000"/>
              </a:lnSpc>
            </a:pPr>
            <a:r>
              <a:rPr lang="en-GB" altLang="en-US" sz="3200" dirty="0"/>
              <a:t>Insisting people apologise and make up?</a:t>
            </a:r>
          </a:p>
          <a:p>
            <a:pPr marL="0" indent="0">
              <a:buNone/>
            </a:pPr>
            <a:endParaRPr lang="en-GB" sz="3000" dirty="0">
              <a:latin typeface="+mj-lt"/>
            </a:endParaRPr>
          </a:p>
        </p:txBody>
      </p:sp>
    </p:spTree>
    <p:extLst>
      <p:ext uri="{BB962C8B-B14F-4D97-AF65-F5344CB8AC3E}">
        <p14:creationId xmlns:p14="http://schemas.microsoft.com/office/powerpoint/2010/main" val="27375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Restorative Language…</a:t>
            </a:r>
          </a:p>
        </p:txBody>
      </p:sp>
      <p:sp>
        <p:nvSpPr>
          <p:cNvPr id="3" name="Content Placeholder 2"/>
          <p:cNvSpPr>
            <a:spLocks noGrp="1"/>
          </p:cNvSpPr>
          <p:nvPr>
            <p:ph idx="1"/>
          </p:nvPr>
        </p:nvSpPr>
        <p:spPr>
          <a:xfrm>
            <a:off x="1069848" y="2571167"/>
            <a:ext cx="5282826" cy="4736592"/>
          </a:xfrm>
        </p:spPr>
        <p:txBody>
          <a:bodyPr>
            <a:normAutofit/>
          </a:bodyPr>
          <a:lstStyle/>
          <a:p>
            <a:r>
              <a:rPr lang="en-GB" sz="2600" dirty="0"/>
              <a:t>A </a:t>
            </a:r>
            <a:r>
              <a:rPr lang="en-GB" sz="2600" b="1" dirty="0"/>
              <a:t>simpler version </a:t>
            </a:r>
            <a:r>
              <a:rPr lang="en-GB" sz="2600" dirty="0"/>
              <a:t>of the restorative conference.</a:t>
            </a:r>
            <a:br>
              <a:rPr lang="en-GB" sz="2600" dirty="0"/>
            </a:br>
            <a:endParaRPr lang="en-GB" sz="2600" dirty="0"/>
          </a:p>
          <a:p>
            <a:r>
              <a:rPr lang="en-GB" sz="2600" dirty="0"/>
              <a:t>It is based on a </a:t>
            </a:r>
            <a:r>
              <a:rPr lang="en-GB" sz="2600" b="1" dirty="0"/>
              <a:t>formal scripted process </a:t>
            </a:r>
            <a:r>
              <a:rPr lang="en-GB" sz="2600" dirty="0"/>
              <a:t>that can be used when an incident has been unresolved or requires further action.</a:t>
            </a:r>
          </a:p>
        </p:txBody>
      </p:sp>
      <p:pic>
        <p:nvPicPr>
          <p:cNvPr id="4" name="Picture 3"/>
          <p:cNvPicPr>
            <a:picLocks noChangeAspect="1"/>
          </p:cNvPicPr>
          <p:nvPr/>
        </p:nvPicPr>
        <p:blipFill>
          <a:blip r:embed="rId2"/>
          <a:stretch>
            <a:fillRect/>
          </a:stretch>
        </p:blipFill>
        <p:spPr>
          <a:xfrm>
            <a:off x="7122361" y="2571167"/>
            <a:ext cx="4005887" cy="2670591"/>
          </a:xfrm>
          <a:prstGeom prst="rect">
            <a:avLst/>
          </a:prstGeom>
        </p:spPr>
      </p:pic>
    </p:spTree>
    <p:extLst>
      <p:ext uri="{BB962C8B-B14F-4D97-AF65-F5344CB8AC3E}">
        <p14:creationId xmlns:p14="http://schemas.microsoft.com/office/powerpoint/2010/main" val="878270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Five key questions…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GB" sz="2600" dirty="0"/>
              <a:t>Can you tell me what happened?</a:t>
            </a:r>
          </a:p>
          <a:p>
            <a:pPr marL="514350" indent="-514350">
              <a:buFont typeface="+mj-lt"/>
              <a:buAutoNum type="arabicPeriod"/>
            </a:pPr>
            <a:r>
              <a:rPr lang="en-GB" sz="2600" dirty="0"/>
              <a:t>What were you thinking at the time?</a:t>
            </a:r>
          </a:p>
          <a:p>
            <a:pPr marL="514350" indent="-514350">
              <a:buFont typeface="+mj-lt"/>
              <a:buAutoNum type="arabicPeriod"/>
            </a:pPr>
            <a:r>
              <a:rPr lang="en-GB" sz="2600" dirty="0"/>
              <a:t>How were you feeling at the time?</a:t>
            </a:r>
          </a:p>
          <a:p>
            <a:pPr marL="514350" indent="-514350">
              <a:buFont typeface="+mj-lt"/>
              <a:buAutoNum type="arabicPeriod"/>
            </a:pPr>
            <a:r>
              <a:rPr lang="en-GB" sz="2600" dirty="0"/>
              <a:t>Who has been affected by what you’ve done? And in what way?</a:t>
            </a:r>
          </a:p>
          <a:p>
            <a:pPr marL="514350" indent="-514350">
              <a:buFont typeface="+mj-lt"/>
              <a:buAutoNum type="arabicPeriod"/>
            </a:pPr>
            <a:r>
              <a:rPr lang="en-GB" sz="2600" dirty="0"/>
              <a:t>What do you need to do to put things right and everyone can move on?</a:t>
            </a:r>
          </a:p>
        </p:txBody>
      </p:sp>
    </p:spTree>
    <p:extLst>
      <p:ext uri="{BB962C8B-B14F-4D97-AF65-F5344CB8AC3E}">
        <p14:creationId xmlns:p14="http://schemas.microsoft.com/office/powerpoint/2010/main" val="2103369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Before using the questions…</a:t>
            </a:r>
          </a:p>
        </p:txBody>
      </p:sp>
      <p:sp>
        <p:nvSpPr>
          <p:cNvPr id="3" name="Content Placeholder 2"/>
          <p:cNvSpPr>
            <a:spLocks noGrp="1"/>
          </p:cNvSpPr>
          <p:nvPr>
            <p:ph idx="1"/>
          </p:nvPr>
        </p:nvSpPr>
        <p:spPr/>
        <p:txBody>
          <a:bodyPr>
            <a:normAutofit lnSpcReduction="10000"/>
          </a:bodyPr>
          <a:lstStyle/>
          <a:p>
            <a:r>
              <a:rPr lang="en-GB" sz="2600" dirty="0"/>
              <a:t>When necessary let the students </a:t>
            </a:r>
            <a:r>
              <a:rPr lang="en-GB" sz="2600" b="1" dirty="0"/>
              <a:t>calm down </a:t>
            </a:r>
            <a:r>
              <a:rPr lang="en-GB" sz="2600" dirty="0"/>
              <a:t>first. </a:t>
            </a:r>
          </a:p>
          <a:p>
            <a:r>
              <a:rPr lang="en-GB" sz="2600" dirty="0"/>
              <a:t>Provide enough time to talk. </a:t>
            </a:r>
          </a:p>
          <a:p>
            <a:r>
              <a:rPr lang="en-GB" sz="2600" dirty="0"/>
              <a:t>Create a </a:t>
            </a:r>
            <a:r>
              <a:rPr lang="en-GB" sz="2600" b="1" dirty="0"/>
              <a:t>safe environment</a:t>
            </a:r>
            <a:r>
              <a:rPr lang="en-GB" sz="2600" dirty="0"/>
              <a:t> (feeling comfortable, quiet and private place)</a:t>
            </a:r>
          </a:p>
          <a:p>
            <a:r>
              <a:rPr lang="en-GB" sz="2600" dirty="0"/>
              <a:t>Set some </a:t>
            </a:r>
            <a:r>
              <a:rPr lang="en-GB" sz="2600" b="1" dirty="0"/>
              <a:t>ground rules.</a:t>
            </a:r>
          </a:p>
          <a:p>
            <a:r>
              <a:rPr lang="en-GB" sz="2600" dirty="0"/>
              <a:t>Let the students come up with their own solution. </a:t>
            </a:r>
            <a:r>
              <a:rPr lang="en-GB" sz="2600" b="1" dirty="0"/>
              <a:t>Remember, you are facilitating the process not making decisions for them. </a:t>
            </a:r>
          </a:p>
        </p:txBody>
      </p:sp>
    </p:spTree>
    <p:extLst>
      <p:ext uri="{BB962C8B-B14F-4D97-AF65-F5344CB8AC3E}">
        <p14:creationId xmlns:p14="http://schemas.microsoft.com/office/powerpoint/2010/main" val="3307905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The </a:t>
            </a:r>
            <a:r>
              <a:rPr lang="en-GB" b="1" u="sng" dirty="0"/>
              <a:t>skills</a:t>
            </a:r>
            <a:r>
              <a:rPr lang="en-GB" dirty="0"/>
              <a:t> for using restorative conversation</a:t>
            </a:r>
          </a:p>
        </p:txBody>
      </p:sp>
      <p:sp>
        <p:nvSpPr>
          <p:cNvPr id="3" name="Content Placeholder 2"/>
          <p:cNvSpPr>
            <a:spLocks noGrp="1"/>
          </p:cNvSpPr>
          <p:nvPr>
            <p:ph idx="1"/>
          </p:nvPr>
        </p:nvSpPr>
        <p:spPr>
          <a:xfrm>
            <a:off x="1295401" y="2556931"/>
            <a:ext cx="9601196" cy="3557265"/>
          </a:xfrm>
        </p:spPr>
        <p:txBody>
          <a:bodyPr>
            <a:noAutofit/>
          </a:bodyPr>
          <a:lstStyle/>
          <a:p>
            <a:r>
              <a:rPr lang="en-GB" sz="2900" dirty="0"/>
              <a:t>Stay curious (inquiry) – ‘’help me understand how you see things’ </a:t>
            </a:r>
          </a:p>
          <a:p>
            <a:r>
              <a:rPr lang="en-GB" sz="2900" dirty="0"/>
              <a:t>Remain impartial, not judging.</a:t>
            </a:r>
          </a:p>
          <a:p>
            <a:r>
              <a:rPr lang="en-GB" sz="2900" dirty="0"/>
              <a:t>Respect other’s view on things.</a:t>
            </a:r>
          </a:p>
          <a:p>
            <a:r>
              <a:rPr lang="en-GB" sz="2900" dirty="0"/>
              <a:t>Listen to others.</a:t>
            </a:r>
          </a:p>
          <a:p>
            <a:r>
              <a:rPr lang="en-GB" sz="2900" dirty="0"/>
              <a:t>Develop rapport.</a:t>
            </a:r>
          </a:p>
        </p:txBody>
      </p:sp>
      <p:sp>
        <p:nvSpPr>
          <p:cNvPr id="5" name="5-Point Star 4"/>
          <p:cNvSpPr/>
          <p:nvPr/>
        </p:nvSpPr>
        <p:spPr>
          <a:xfrm>
            <a:off x="1295401" y="2652373"/>
            <a:ext cx="286603" cy="286603"/>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3"/>
          <a:stretch>
            <a:fillRect/>
          </a:stretch>
        </p:blipFill>
        <p:spPr>
          <a:xfrm>
            <a:off x="1267999" y="4226852"/>
            <a:ext cx="341406" cy="347502"/>
          </a:xfrm>
          <a:prstGeom prst="rect">
            <a:avLst/>
          </a:prstGeom>
        </p:spPr>
      </p:pic>
    </p:spTree>
    <p:extLst>
      <p:ext uri="{BB962C8B-B14F-4D97-AF65-F5344CB8AC3E}">
        <p14:creationId xmlns:p14="http://schemas.microsoft.com/office/powerpoint/2010/main" val="2121664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And…</a:t>
            </a:r>
          </a:p>
        </p:txBody>
      </p:sp>
      <p:sp>
        <p:nvSpPr>
          <p:cNvPr id="3" name="Content Placeholder 2"/>
          <p:cNvSpPr>
            <a:spLocks noGrp="1"/>
          </p:cNvSpPr>
          <p:nvPr>
            <p:ph idx="1"/>
          </p:nvPr>
        </p:nvSpPr>
        <p:spPr>
          <a:xfrm>
            <a:off x="1295401" y="2475046"/>
            <a:ext cx="9601196" cy="3318936"/>
          </a:xfrm>
        </p:spPr>
        <p:txBody>
          <a:bodyPr>
            <a:noAutofit/>
          </a:bodyPr>
          <a:lstStyle/>
          <a:p>
            <a:r>
              <a:rPr lang="en-GB" sz="2900" dirty="0"/>
              <a:t>Allow and empower participants to come up with </a:t>
            </a:r>
            <a:r>
              <a:rPr lang="en-GB" sz="2900" b="1" dirty="0"/>
              <a:t>their own solutions.</a:t>
            </a:r>
          </a:p>
          <a:p>
            <a:r>
              <a:rPr lang="en-GB" sz="2900" dirty="0"/>
              <a:t>Expand on answers – creative questioning.</a:t>
            </a:r>
          </a:p>
          <a:p>
            <a:r>
              <a:rPr lang="en-GB" sz="2900" dirty="0"/>
              <a:t>Be compassionate.</a:t>
            </a:r>
          </a:p>
          <a:p>
            <a:r>
              <a:rPr lang="en-GB" sz="2900" dirty="0"/>
              <a:t>Be patient and allow silence if necessary.</a:t>
            </a:r>
          </a:p>
        </p:txBody>
      </p:sp>
      <p:sp>
        <p:nvSpPr>
          <p:cNvPr id="5" name="5-Point Star 4"/>
          <p:cNvSpPr/>
          <p:nvPr/>
        </p:nvSpPr>
        <p:spPr>
          <a:xfrm>
            <a:off x="1295401" y="3588607"/>
            <a:ext cx="286603" cy="286603"/>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15181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572699"/>
            <a:ext cx="9601196" cy="1303867"/>
          </a:xfrm>
        </p:spPr>
        <p:txBody>
          <a:bodyPr/>
          <a:lstStyle/>
          <a:p>
            <a:r>
              <a:rPr lang="en-GB" dirty="0"/>
              <a:t>Active Listening…</a:t>
            </a:r>
          </a:p>
        </p:txBody>
      </p:sp>
      <p:sp>
        <p:nvSpPr>
          <p:cNvPr id="3" name="Content Placeholder 2"/>
          <p:cNvSpPr>
            <a:spLocks noGrp="1"/>
          </p:cNvSpPr>
          <p:nvPr>
            <p:ph idx="1"/>
          </p:nvPr>
        </p:nvSpPr>
        <p:spPr/>
        <p:txBody>
          <a:bodyPr/>
          <a:lstStyle/>
          <a:p>
            <a:endParaRPr lang="en-GB"/>
          </a:p>
        </p:txBody>
      </p:sp>
      <p:graphicFrame>
        <p:nvGraphicFramePr>
          <p:cNvPr id="4" name="Content Placeholder 5"/>
          <p:cNvGraphicFramePr>
            <a:graphicFrameLocks/>
          </p:cNvGraphicFramePr>
          <p:nvPr>
            <p:extLst>
              <p:ext uri="{D42A27DB-BD31-4B8C-83A1-F6EECF244321}">
                <p14:modId xmlns:p14="http://schemas.microsoft.com/office/powerpoint/2010/main" val="3507386227"/>
              </p:ext>
            </p:extLst>
          </p:nvPr>
        </p:nvGraphicFramePr>
        <p:xfrm>
          <a:off x="1069975" y="1685498"/>
          <a:ext cx="10058400" cy="4564741"/>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449941">
                <a:tc>
                  <a:txBody>
                    <a:bodyPr/>
                    <a:lstStyle/>
                    <a:p>
                      <a:r>
                        <a:rPr lang="en-GB" dirty="0"/>
                        <a:t>Empathetic</a:t>
                      </a:r>
                      <a:r>
                        <a:rPr lang="en-GB" baseline="0" dirty="0"/>
                        <a:t> Listening </a:t>
                      </a:r>
                      <a:endParaRPr lang="en-GB" dirty="0"/>
                    </a:p>
                  </a:txBody>
                  <a:tcPr/>
                </a:tc>
                <a:tc>
                  <a:txBody>
                    <a:bodyPr/>
                    <a:lstStyle/>
                    <a:p>
                      <a:r>
                        <a:rPr lang="en-GB" dirty="0"/>
                        <a:t>Body Language</a:t>
                      </a:r>
                    </a:p>
                  </a:txBody>
                  <a:tcPr/>
                </a:tc>
                <a:extLst>
                  <a:ext uri="{0D108BD9-81ED-4DB2-BD59-A6C34878D82A}">
                    <a16:rowId xmlns:a16="http://schemas.microsoft.com/office/drawing/2014/main" val="10000"/>
                  </a:ext>
                </a:extLst>
              </a:tr>
              <a:tr h="3965111">
                <a:tc>
                  <a:txBody>
                    <a:bodyPr/>
                    <a:lstStyle/>
                    <a:p>
                      <a:r>
                        <a:rPr lang="en-GB" sz="2400" dirty="0"/>
                        <a:t>Valuing the speaker.</a:t>
                      </a:r>
                    </a:p>
                    <a:p>
                      <a:endParaRPr lang="en-GB" sz="2400" dirty="0"/>
                    </a:p>
                    <a:p>
                      <a:r>
                        <a:rPr lang="en-GB" sz="2400" dirty="0"/>
                        <a:t>Tuning</a:t>
                      </a:r>
                      <a:r>
                        <a:rPr lang="en-GB" sz="2400" baseline="0" dirty="0"/>
                        <a:t> in with the speaker’s words and feelings</a:t>
                      </a:r>
                      <a:endParaRPr lang="en-GB" sz="2400" dirty="0"/>
                    </a:p>
                    <a:p>
                      <a:endParaRPr lang="en-GB" sz="2400" dirty="0"/>
                    </a:p>
                    <a:p>
                      <a:r>
                        <a:rPr lang="en-GB" sz="2400" dirty="0"/>
                        <a:t>Curiosity.</a:t>
                      </a:r>
                    </a:p>
                    <a:p>
                      <a:endParaRPr lang="en-GB" sz="2400" dirty="0"/>
                    </a:p>
                    <a:p>
                      <a:r>
                        <a:rPr lang="en-GB" sz="2400" dirty="0"/>
                        <a:t>Feelings</a:t>
                      </a:r>
                      <a:r>
                        <a:rPr lang="en-GB" sz="2400" baseline="0" dirty="0"/>
                        <a:t> are important.</a:t>
                      </a:r>
                    </a:p>
                    <a:p>
                      <a:endParaRPr lang="en-GB" sz="2400" baseline="0" dirty="0"/>
                    </a:p>
                    <a:p>
                      <a:r>
                        <a:rPr lang="en-GB" sz="2400" baseline="0" dirty="0"/>
                        <a:t>Self-awareness.</a:t>
                      </a:r>
                    </a:p>
                    <a:p>
                      <a:endParaRPr lang="en-GB" sz="2400" baseline="0" dirty="0"/>
                    </a:p>
                  </a:txBody>
                  <a:tcPr/>
                </a:tc>
                <a:tc>
                  <a:txBody>
                    <a:bodyPr/>
                    <a:lstStyle/>
                    <a:p>
                      <a:r>
                        <a:rPr lang="en-GB" sz="2400" dirty="0"/>
                        <a:t>Making</a:t>
                      </a:r>
                      <a:r>
                        <a:rPr lang="en-GB" sz="2400" baseline="0" dirty="0"/>
                        <a:t> eye contact.</a:t>
                      </a:r>
                    </a:p>
                    <a:p>
                      <a:endParaRPr lang="en-GB" sz="2400" baseline="0" dirty="0"/>
                    </a:p>
                    <a:p>
                      <a:r>
                        <a:rPr lang="en-GB" sz="2400" baseline="0" dirty="0"/>
                        <a:t>Smiling encouragingly.</a:t>
                      </a:r>
                    </a:p>
                    <a:p>
                      <a:endParaRPr lang="en-GB" sz="2400" baseline="0" dirty="0"/>
                    </a:p>
                    <a:p>
                      <a:r>
                        <a:rPr lang="en-GB" sz="2400" baseline="0" dirty="0"/>
                        <a:t>Leaning forward.</a:t>
                      </a:r>
                    </a:p>
                    <a:p>
                      <a:endParaRPr lang="en-GB" sz="2400" baseline="0" dirty="0"/>
                    </a:p>
                    <a:p>
                      <a:r>
                        <a:rPr lang="en-GB" sz="2400" baseline="0" dirty="0"/>
                        <a:t>Sitting still.</a:t>
                      </a:r>
                    </a:p>
                    <a:p>
                      <a:endParaRPr lang="en-GB" sz="2400" baseline="0" dirty="0"/>
                    </a:p>
                    <a:p>
                      <a:r>
                        <a:rPr lang="en-GB" sz="2400" baseline="0" dirty="0"/>
                        <a:t>Looking interested in what the student is saying.</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87793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Creative questioning/Reflecting back</a:t>
            </a:r>
            <a:endParaRPr lang="en-GB" b="0" dirty="0"/>
          </a:p>
        </p:txBody>
      </p:sp>
      <p:sp>
        <p:nvSpPr>
          <p:cNvPr id="3" name="Content Placeholder 2"/>
          <p:cNvSpPr>
            <a:spLocks noGrp="1"/>
          </p:cNvSpPr>
          <p:nvPr>
            <p:ph idx="1"/>
          </p:nvPr>
        </p:nvSpPr>
        <p:spPr/>
        <p:txBody>
          <a:bodyPr>
            <a:normAutofit lnSpcReduction="10000"/>
          </a:bodyPr>
          <a:lstStyle/>
          <a:p>
            <a:pPr marL="0" indent="0">
              <a:buNone/>
            </a:pPr>
            <a:r>
              <a:rPr lang="en-GB" dirty="0"/>
              <a:t>To encourage students self-reflection and keep the rapport going:</a:t>
            </a:r>
          </a:p>
          <a:p>
            <a:endParaRPr lang="en-GB" dirty="0"/>
          </a:p>
          <a:p>
            <a:r>
              <a:rPr lang="en-GB" b="1" i="1" dirty="0"/>
              <a:t>“</a:t>
            </a:r>
            <a:r>
              <a:rPr lang="en-GB" sz="2800" b="1" i="1" dirty="0"/>
              <a:t>So, what you are saying is…”</a:t>
            </a:r>
          </a:p>
          <a:p>
            <a:r>
              <a:rPr lang="en-GB" sz="2800" b="1" i="1" dirty="0"/>
              <a:t>“Let me just check, I have understood what you said…”</a:t>
            </a:r>
          </a:p>
          <a:p>
            <a:r>
              <a:rPr lang="en-GB" sz="2800" b="1" i="1" dirty="0"/>
              <a:t>“ I can see this really upset you...”</a:t>
            </a:r>
          </a:p>
          <a:p>
            <a:r>
              <a:rPr lang="en-GB" sz="2800" b="1" i="1" dirty="0"/>
              <a:t>Repeating the last few words of the sentence can be useful.</a:t>
            </a:r>
          </a:p>
          <a:p>
            <a:endParaRPr lang="en-GB" b="1" i="1" dirty="0"/>
          </a:p>
          <a:p>
            <a:endParaRPr lang="en-GB" dirty="0"/>
          </a:p>
        </p:txBody>
      </p:sp>
    </p:spTree>
    <p:extLst>
      <p:ext uri="{BB962C8B-B14F-4D97-AF65-F5344CB8AC3E}">
        <p14:creationId xmlns:p14="http://schemas.microsoft.com/office/powerpoint/2010/main" val="1281907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 </a:t>
            </a:r>
            <a:r>
              <a:rPr lang="en-GB" b="1" dirty="0"/>
              <a:t>patient</a:t>
            </a:r>
            <a:r>
              <a:rPr lang="en-GB" dirty="0"/>
              <a:t> and allow </a:t>
            </a:r>
            <a:r>
              <a:rPr lang="en-GB" b="1" dirty="0"/>
              <a:t>silence</a:t>
            </a:r>
          </a:p>
        </p:txBody>
      </p:sp>
      <p:sp>
        <p:nvSpPr>
          <p:cNvPr id="3" name="Content Placeholder 2"/>
          <p:cNvSpPr>
            <a:spLocks noGrp="1"/>
          </p:cNvSpPr>
          <p:nvPr>
            <p:ph idx="1"/>
          </p:nvPr>
        </p:nvSpPr>
        <p:spPr/>
        <p:txBody>
          <a:bodyPr>
            <a:normAutofit lnSpcReduction="10000"/>
          </a:bodyPr>
          <a:lstStyle/>
          <a:p>
            <a:r>
              <a:rPr lang="en-GB" sz="3200" dirty="0"/>
              <a:t>Give students time to think.</a:t>
            </a:r>
            <a:br>
              <a:rPr lang="en-GB" sz="3200" dirty="0"/>
            </a:br>
            <a:endParaRPr lang="en-GB" sz="3200" dirty="0"/>
          </a:p>
          <a:p>
            <a:r>
              <a:rPr lang="en-GB" sz="3200" dirty="0"/>
              <a:t>Try to feel comfortable with silence (I know it’s very hard!).</a:t>
            </a:r>
            <a:br>
              <a:rPr lang="en-GB" sz="3200" dirty="0"/>
            </a:br>
            <a:endParaRPr lang="en-GB" sz="3200" dirty="0"/>
          </a:p>
          <a:p>
            <a:r>
              <a:rPr lang="en-GB" sz="3200" dirty="0"/>
              <a:t>Silence – with an interested look on one’s face. </a:t>
            </a:r>
          </a:p>
          <a:p>
            <a:endParaRPr lang="en-GB" sz="2800" dirty="0"/>
          </a:p>
        </p:txBody>
      </p:sp>
    </p:spTree>
    <p:extLst>
      <p:ext uri="{BB962C8B-B14F-4D97-AF65-F5344CB8AC3E}">
        <p14:creationId xmlns:p14="http://schemas.microsoft.com/office/powerpoint/2010/main" val="2074553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Practice your new skills!</a:t>
            </a:r>
          </a:p>
        </p:txBody>
      </p:sp>
      <p:sp>
        <p:nvSpPr>
          <p:cNvPr id="3" name="Content Placeholder 2"/>
          <p:cNvSpPr>
            <a:spLocks noGrp="1"/>
          </p:cNvSpPr>
          <p:nvPr>
            <p:ph idx="1"/>
          </p:nvPr>
        </p:nvSpPr>
        <p:spPr/>
        <p:txBody>
          <a:bodyPr>
            <a:normAutofit/>
          </a:bodyPr>
          <a:lstStyle/>
          <a:p>
            <a:pPr marL="0" indent="0">
              <a:buNone/>
            </a:pPr>
            <a:r>
              <a:rPr lang="en-GB" sz="4000" dirty="0"/>
              <a:t> </a:t>
            </a:r>
          </a:p>
          <a:p>
            <a:pPr marL="0" indent="0">
              <a:buNone/>
            </a:pPr>
            <a:endParaRPr lang="en-GB" sz="40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0310" y="2556932"/>
            <a:ext cx="5998522" cy="3725398"/>
          </a:xfrm>
          <a:prstGeom prst="rect">
            <a:avLst/>
          </a:prstGeom>
        </p:spPr>
      </p:pic>
    </p:spTree>
    <p:extLst>
      <p:ext uri="{BB962C8B-B14F-4D97-AF65-F5344CB8AC3E}">
        <p14:creationId xmlns:p14="http://schemas.microsoft.com/office/powerpoint/2010/main" val="4285853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Any Questions?</a:t>
            </a:r>
          </a:p>
        </p:txBody>
      </p:sp>
      <p:sp>
        <p:nvSpPr>
          <p:cNvPr id="3" name="Content Placeholder 2"/>
          <p:cNvSpPr>
            <a:spLocks noGrp="1"/>
          </p:cNvSpPr>
          <p:nvPr>
            <p:ph idx="1"/>
          </p:nvPr>
        </p:nvSpPr>
        <p:spPr/>
        <p:txBody>
          <a:bodyPr>
            <a:normAutofit/>
          </a:bodyPr>
          <a:lstStyle/>
          <a:p>
            <a:r>
              <a:rPr lang="en-GB" sz="3200" dirty="0"/>
              <a:t>Your feedback, please! </a:t>
            </a:r>
          </a:p>
        </p:txBody>
      </p:sp>
    </p:spTree>
    <p:extLst>
      <p:ext uri="{BB962C8B-B14F-4D97-AF65-F5344CB8AC3E}">
        <p14:creationId xmlns:p14="http://schemas.microsoft.com/office/powerpoint/2010/main" val="1202050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225887" y="482471"/>
            <a:ext cx="2502089" cy="1900812"/>
          </a:xfrm>
          <a:prstGeom prst="rect">
            <a:avLst/>
          </a:prstGeom>
        </p:spPr>
      </p:pic>
      <p:sp>
        <p:nvSpPr>
          <p:cNvPr id="2" name="Title 1"/>
          <p:cNvSpPr>
            <a:spLocks noGrp="1"/>
          </p:cNvSpPr>
          <p:nvPr>
            <p:ph type="title"/>
          </p:nvPr>
        </p:nvSpPr>
        <p:spPr/>
        <p:txBody>
          <a:bodyPr/>
          <a:lstStyle/>
          <a:p>
            <a:r>
              <a:rPr lang="en-GB" dirty="0"/>
              <a:t>Take home messages…</a:t>
            </a:r>
          </a:p>
        </p:txBody>
      </p:sp>
      <p:sp>
        <p:nvSpPr>
          <p:cNvPr id="3" name="Content Placeholder 2"/>
          <p:cNvSpPr>
            <a:spLocks noGrp="1"/>
          </p:cNvSpPr>
          <p:nvPr>
            <p:ph idx="1"/>
          </p:nvPr>
        </p:nvSpPr>
        <p:spPr>
          <a:xfrm>
            <a:off x="1295401" y="2556931"/>
            <a:ext cx="9601196" cy="3461731"/>
          </a:xfrm>
        </p:spPr>
        <p:txBody>
          <a:bodyPr>
            <a:normAutofit fontScale="92500"/>
          </a:bodyPr>
          <a:lstStyle/>
          <a:p>
            <a:r>
              <a:rPr lang="en-GB" sz="2800" dirty="0"/>
              <a:t>RJ is about building relationships and not only modifying behaviour.</a:t>
            </a:r>
          </a:p>
          <a:p>
            <a:r>
              <a:rPr lang="en-GB" sz="2800" dirty="0"/>
              <a:t>RJ is not about ignoring consequences. </a:t>
            </a:r>
          </a:p>
          <a:p>
            <a:r>
              <a:rPr lang="en-GB" sz="2800" dirty="0"/>
              <a:t>RL is a smaller version of RJ that deals with relatively ‘light’ events.</a:t>
            </a:r>
          </a:p>
          <a:p>
            <a:r>
              <a:rPr lang="en-GB" sz="2800" dirty="0"/>
              <a:t>RL needs to happen in a safe environment.</a:t>
            </a:r>
          </a:p>
          <a:p>
            <a:r>
              <a:rPr lang="en-GB" sz="2800" dirty="0"/>
              <a:t>It’s not only about WHAT you do but HOW you do it. So, use your skills.</a:t>
            </a:r>
          </a:p>
          <a:p>
            <a:endParaRPr lang="en-GB" dirty="0"/>
          </a:p>
          <a:p>
            <a:endParaRPr lang="en-GB" dirty="0"/>
          </a:p>
        </p:txBody>
      </p:sp>
    </p:spTree>
    <p:extLst>
      <p:ext uri="{BB962C8B-B14F-4D97-AF65-F5344CB8AC3E}">
        <p14:creationId xmlns:p14="http://schemas.microsoft.com/office/powerpoint/2010/main" val="1841332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5000" b="1" dirty="0"/>
              <a:t>Thank you!</a:t>
            </a:r>
          </a:p>
        </p:txBody>
      </p:sp>
      <p:sp>
        <p:nvSpPr>
          <p:cNvPr id="3" name="Text Placeholder 2"/>
          <p:cNvSpPr>
            <a:spLocks noGrp="1"/>
          </p:cNvSpPr>
          <p:nvPr>
            <p:ph type="body" idx="1"/>
          </p:nvPr>
        </p:nvSpPr>
        <p:spPr>
          <a:xfrm>
            <a:off x="2015067" y="3846051"/>
            <a:ext cx="8158690" cy="1776827"/>
          </a:xfrm>
        </p:spPr>
        <p:txBody>
          <a:bodyPr>
            <a:normAutofit/>
          </a:bodyPr>
          <a:lstStyle/>
          <a:p>
            <a:r>
              <a:rPr lang="en-GB" sz="2800" dirty="0"/>
              <a:t>Valeria Troya-McCann</a:t>
            </a:r>
          </a:p>
          <a:p>
            <a:r>
              <a:rPr lang="en-GB" sz="2800" dirty="0"/>
              <a:t>Scott I-Patrick</a:t>
            </a:r>
          </a:p>
          <a:p>
            <a:r>
              <a:rPr lang="en-GB" sz="2800" dirty="0"/>
              <a:t>Bucks Educational Psychology Service</a:t>
            </a:r>
          </a:p>
          <a:p>
            <a:endParaRPr lang="en-GB" sz="2600" dirty="0"/>
          </a:p>
        </p:txBody>
      </p:sp>
    </p:spTree>
    <p:extLst>
      <p:ext uri="{BB962C8B-B14F-4D97-AF65-F5344CB8AC3E}">
        <p14:creationId xmlns:p14="http://schemas.microsoft.com/office/powerpoint/2010/main" val="38863266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b="1" dirty="0"/>
              <a:t>References:</a:t>
            </a:r>
          </a:p>
        </p:txBody>
      </p:sp>
      <p:sp>
        <p:nvSpPr>
          <p:cNvPr id="3" name="Content Placeholder 2"/>
          <p:cNvSpPr>
            <a:spLocks noGrp="1"/>
          </p:cNvSpPr>
          <p:nvPr>
            <p:ph idx="1"/>
          </p:nvPr>
        </p:nvSpPr>
        <p:spPr/>
        <p:txBody>
          <a:bodyPr>
            <a:normAutofit/>
          </a:bodyPr>
          <a:lstStyle/>
          <a:p>
            <a:r>
              <a:rPr lang="en-GB" sz="2600" dirty="0"/>
              <a:t>Hopkins, B. (2004). </a:t>
            </a:r>
            <a:r>
              <a:rPr lang="en-GB" sz="2600" i="1" dirty="0"/>
              <a:t>Just Schools: A Whole School Approach to Restorative Justice</a:t>
            </a:r>
            <a:r>
              <a:rPr lang="en-GB" sz="2600" dirty="0"/>
              <a:t> (First ed.). London: Jessica Kingsley Publishers. </a:t>
            </a:r>
          </a:p>
          <a:p>
            <a:r>
              <a:rPr lang="en-GB" sz="2600" dirty="0" err="1"/>
              <a:t>Zehr</a:t>
            </a:r>
            <a:r>
              <a:rPr lang="en-GB" sz="2600" dirty="0"/>
              <a:t>, H. (2002). </a:t>
            </a:r>
            <a:r>
              <a:rPr lang="en-GB" sz="2600" i="1" dirty="0"/>
              <a:t>The Little Book of Restorative Justice</a:t>
            </a:r>
            <a:r>
              <a:rPr lang="en-GB" sz="2600" dirty="0"/>
              <a:t> (First ed.). </a:t>
            </a:r>
            <a:r>
              <a:rPr lang="en-GB" sz="2600" dirty="0" err="1"/>
              <a:t>Pensilvannia</a:t>
            </a:r>
            <a:r>
              <a:rPr lang="en-GB" sz="2600" dirty="0"/>
              <a:t>: Good Books. </a:t>
            </a:r>
          </a:p>
          <a:p>
            <a:r>
              <a:rPr lang="en-GB" sz="2600" dirty="0"/>
              <a:t>Starbuck, J. (2015). </a:t>
            </a:r>
            <a:r>
              <a:rPr lang="en-GB" sz="2600" i="1" dirty="0"/>
              <a:t>Restorative Justice workshop </a:t>
            </a:r>
            <a:r>
              <a:rPr lang="en-GB" sz="2600" dirty="0"/>
              <a:t>[PowerPoint presentation]. </a:t>
            </a:r>
          </a:p>
        </p:txBody>
      </p:sp>
    </p:spTree>
    <p:extLst>
      <p:ext uri="{BB962C8B-B14F-4D97-AF65-F5344CB8AC3E}">
        <p14:creationId xmlns:p14="http://schemas.microsoft.com/office/powerpoint/2010/main" val="359042575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07A33B2631C649AC23F72422546E56" ma:contentTypeVersion="15" ma:contentTypeDescription="Create a new document." ma:contentTypeScope="" ma:versionID="f82d286e2c898a5d45b1115f9c448d84">
  <xsd:schema xmlns:xsd="http://www.w3.org/2001/XMLSchema" xmlns:xs="http://www.w3.org/2001/XMLSchema" xmlns:p="http://schemas.microsoft.com/office/2006/metadata/properties" xmlns:ns2="2c3bd3ee-a536-4bf4-a64d-170a7ba03f4c" xmlns:ns3="9ae3e877-3df2-4825-b33a-d35bc5ed89a2" targetNamespace="http://schemas.microsoft.com/office/2006/metadata/properties" ma:root="true" ma:fieldsID="cbae92cb007cae40ac69d8493c671a93" ns2:_="" ns3:_="">
    <xsd:import namespace="2c3bd3ee-a536-4bf4-a64d-170a7ba03f4c"/>
    <xsd:import namespace="9ae3e877-3df2-4825-b33a-d35bc5ed89a2"/>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3:TaxCatchAll" minOccurs="0"/>
                <xsd:element ref="ns2:MediaServiceGenerationTime" minOccurs="0"/>
                <xsd:element ref="ns2:MediaServiceEventHashCode" minOccurs="0"/>
                <xsd:element ref="ns2:lcf76f155ced4ddcb4097134ff3c332f" minOccurs="0"/>
                <xsd:element ref="ns2:MediaServiceLocation"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3bd3ee-a536-4bf4-a64d-170a7ba03f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b4d032c-db19-4194-870d-d175fb5cbb8b"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ae3e877-3df2-4825-b33a-d35bc5ed89a2"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d783b7b7-6e16-4aa7-b61d-1f254c74a4c5}" ma:internalName="TaxCatchAll" ma:showField="CatchAllData" ma:web="9ae3e877-3df2-4825-b33a-d35bc5ed89a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e3e877-3df2-4825-b33a-d35bc5ed89a2" xsi:nil="true"/>
    <lcf76f155ced4ddcb4097134ff3c332f xmlns="2c3bd3ee-a536-4bf4-a64d-170a7ba03f4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6F63B61-3D2C-4AD3-A29C-1996053BC8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3bd3ee-a536-4bf4-a64d-170a7ba03f4c"/>
    <ds:schemaRef ds:uri="9ae3e877-3df2-4825-b33a-d35bc5ed89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38952B3-8AA1-43FF-93F6-96F9A1406508}">
  <ds:schemaRefs>
    <ds:schemaRef ds:uri="http://schemas.microsoft.com/sharepoint/v3/contenttype/forms"/>
  </ds:schemaRefs>
</ds:datastoreItem>
</file>

<file path=customXml/itemProps3.xml><?xml version="1.0" encoding="utf-8"?>
<ds:datastoreItem xmlns:ds="http://schemas.openxmlformats.org/officeDocument/2006/customXml" ds:itemID="{E9F70427-FAB8-49CB-A0CD-62E7B19391B6}">
  <ds:schemaRefs>
    <ds:schemaRef ds:uri="http://schemas.microsoft.com/office/2006/metadata/properties"/>
    <ds:schemaRef ds:uri="http://schemas.microsoft.com/office/infopath/2007/PartnerControls"/>
    <ds:schemaRef ds:uri="9ae3e877-3df2-4825-b33a-d35bc5ed89a2"/>
    <ds:schemaRef ds:uri="2c3bd3ee-a536-4bf4-a64d-170a7ba03f4c"/>
  </ds:schemaRefs>
</ds:datastoreItem>
</file>

<file path=docProps/app.xml><?xml version="1.0" encoding="utf-8"?>
<Properties xmlns="http://schemas.openxmlformats.org/officeDocument/2006/extended-properties" xmlns:vt="http://schemas.openxmlformats.org/officeDocument/2006/docPropsVTypes">
  <Template>Organic</Template>
  <TotalTime>8582</TotalTime>
  <Words>1932</Words>
  <Application>Microsoft Office PowerPoint</Application>
  <PresentationFormat>Widescreen</PresentationFormat>
  <Paragraphs>228</Paragraphs>
  <Slides>31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Garamond</vt:lpstr>
      <vt:lpstr>Rockwell</vt:lpstr>
      <vt:lpstr>Organic</vt:lpstr>
      <vt:lpstr>Restorative Language  (based on Restorative Justice)</vt:lpstr>
      <vt:lpstr>Aims of the workshop</vt:lpstr>
      <vt:lpstr>PowerPoint Presentation</vt:lpstr>
      <vt:lpstr>What is Restorative Justice (RJ)?</vt:lpstr>
      <vt:lpstr>PowerPoint Presentation</vt:lpstr>
      <vt:lpstr>RJ is not…</vt:lpstr>
      <vt:lpstr>What does RJ entail? </vt:lpstr>
      <vt:lpstr>Traditional approach</vt:lpstr>
      <vt:lpstr>Restorative approach</vt:lpstr>
      <vt:lpstr>The Social Discipline Window Wachtel &amp; Costello (2009) </vt:lpstr>
      <vt:lpstr>Paradigm shift</vt:lpstr>
      <vt:lpstr>How do we achieve restoration in relationships?</vt:lpstr>
      <vt:lpstr>Achieving restoration following an incident…</vt:lpstr>
      <vt:lpstr>Restorative Justice</vt:lpstr>
      <vt:lpstr>There is more to RJ than the Process?</vt:lpstr>
      <vt:lpstr>RJ Values</vt:lpstr>
      <vt:lpstr>All of this is based on 5 key “Rs”</vt:lpstr>
      <vt:lpstr>Activity 1  Reflecting on your practice</vt:lpstr>
      <vt:lpstr>Restorative Language…</vt:lpstr>
      <vt:lpstr>Five key questions…</vt:lpstr>
      <vt:lpstr>Before using the questions…</vt:lpstr>
      <vt:lpstr>The skills for using restorative conversation</vt:lpstr>
      <vt:lpstr>And…</vt:lpstr>
      <vt:lpstr>Active Listening…</vt:lpstr>
      <vt:lpstr>Creative questioning/Reflecting back</vt:lpstr>
      <vt:lpstr>Be patient and allow silence</vt:lpstr>
      <vt:lpstr>Activity. Practice your new skills!</vt:lpstr>
      <vt:lpstr>Any Questions?</vt:lpstr>
      <vt:lpstr>Take home messages…</vt:lpstr>
      <vt:lpstr>Thank you!</vt:lpstr>
      <vt:lpstr>References:</vt:lpstr>
    </vt:vector>
  </TitlesOfParts>
  <Company>UCL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PaLS</dc:creator>
  <cp:lastModifiedBy>Scott Ighavongbe-Patrick</cp:lastModifiedBy>
  <cp:revision>213</cp:revision>
  <cp:lastPrinted>2016-02-28T22:08:01Z</cp:lastPrinted>
  <dcterms:created xsi:type="dcterms:W3CDTF">2015-09-14T20:29:02Z</dcterms:created>
  <dcterms:modified xsi:type="dcterms:W3CDTF">2023-01-19T13:18:04Z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0x0101000307A33B2631C649AC23F72422546E56</vt:lpwstr>
  </property>
  <property fmtid="{D5CDD505-2E9C-101B-9397-08002B2CF9AE}" pid="3" name="Order">
    <vt:r8>31758400</vt:r8>
  </property>
</Properties>
</file>