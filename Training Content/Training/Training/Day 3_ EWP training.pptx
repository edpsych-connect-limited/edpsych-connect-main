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handoutMasterIdLst>
    <p:handoutMasterId r:id="rId65"/>
  </p:handoutMasterIdLst>
  <p:sldIdLst>
    <p:sldId id="256" r:id="rId2"/>
    <p:sldId id="306" r:id="rId3"/>
    <p:sldId id="302" r:id="rId4"/>
    <p:sldId id="370" r:id="rId5"/>
    <p:sldId id="367" r:id="rId6"/>
    <p:sldId id="368" r:id="rId7"/>
    <p:sldId id="371" r:id="rId8"/>
    <p:sldId id="366" r:id="rId9"/>
    <p:sldId id="342" r:id="rId10"/>
    <p:sldId id="343" r:id="rId11"/>
    <p:sldId id="346" r:id="rId12"/>
    <p:sldId id="347" r:id="rId13"/>
    <p:sldId id="348" r:id="rId14"/>
    <p:sldId id="349" r:id="rId15"/>
    <p:sldId id="350" r:id="rId16"/>
    <p:sldId id="352" r:id="rId17"/>
    <p:sldId id="354" r:id="rId18"/>
    <p:sldId id="356" r:id="rId19"/>
    <p:sldId id="358" r:id="rId20"/>
    <p:sldId id="359" r:id="rId21"/>
    <p:sldId id="360" r:id="rId22"/>
    <p:sldId id="361" r:id="rId23"/>
    <p:sldId id="362" r:id="rId24"/>
    <p:sldId id="363" r:id="rId25"/>
    <p:sldId id="365" r:id="rId26"/>
    <p:sldId id="372" r:id="rId27"/>
    <p:sldId id="376" r:id="rId28"/>
    <p:sldId id="375" r:id="rId29"/>
    <p:sldId id="313" r:id="rId30"/>
    <p:sldId id="314" r:id="rId31"/>
    <p:sldId id="315" r:id="rId32"/>
    <p:sldId id="317"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340" r:id="rId56"/>
    <p:sldId id="341" r:id="rId57"/>
    <p:sldId id="373" r:id="rId58"/>
    <p:sldId id="312" r:id="rId59"/>
    <p:sldId id="311" r:id="rId60"/>
    <p:sldId id="377" r:id="rId61"/>
    <p:sldId id="369" r:id="rId62"/>
    <p:sldId id="263" r:id="rId63"/>
  </p:sldIdLst>
  <p:sldSz cx="9144000" cy="6858000" type="screen4x3"/>
  <p:notesSz cx="9872663" cy="6742113"/>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2E95"/>
    <a:srgbClr val="CC00FF"/>
    <a:srgbClr val="5F5F5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20"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972" y="-84"/>
      </p:cViewPr>
      <p:guideLst>
        <p:guide orient="horz" pos="2124"/>
        <p:guide pos="311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8154" cy="33710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92224" y="0"/>
            <a:ext cx="4278154" cy="337106"/>
          </a:xfrm>
          <a:prstGeom prst="rect">
            <a:avLst/>
          </a:prstGeom>
        </p:spPr>
        <p:txBody>
          <a:bodyPr vert="horz" lIns="91440" tIns="45720" rIns="91440" bIns="45720" rtlCol="0"/>
          <a:lstStyle>
            <a:lvl1pPr algn="r">
              <a:defRPr sz="1200"/>
            </a:lvl1pPr>
          </a:lstStyle>
          <a:p>
            <a:fld id="{CF4622D5-A2DD-47EB-A38A-4DC06719F92D}" type="datetimeFigureOut">
              <a:rPr lang="en-GB" smtClean="0"/>
              <a:t>21/07/2017</a:t>
            </a:fld>
            <a:endParaRPr lang="en-GB"/>
          </a:p>
        </p:txBody>
      </p:sp>
      <p:sp>
        <p:nvSpPr>
          <p:cNvPr id="4" name="Footer Placeholder 3"/>
          <p:cNvSpPr>
            <a:spLocks noGrp="1"/>
          </p:cNvSpPr>
          <p:nvPr>
            <p:ph type="ftr" sz="quarter" idx="2"/>
          </p:nvPr>
        </p:nvSpPr>
        <p:spPr>
          <a:xfrm>
            <a:off x="0" y="6403837"/>
            <a:ext cx="4278154" cy="33710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92224" y="6403837"/>
            <a:ext cx="4278154" cy="337106"/>
          </a:xfrm>
          <a:prstGeom prst="rect">
            <a:avLst/>
          </a:prstGeom>
        </p:spPr>
        <p:txBody>
          <a:bodyPr vert="horz" lIns="91440" tIns="45720" rIns="91440" bIns="45720" rtlCol="0" anchor="b"/>
          <a:lstStyle>
            <a:lvl1pPr algn="r">
              <a:defRPr sz="1200"/>
            </a:lvl1pPr>
          </a:lstStyle>
          <a:p>
            <a:fld id="{AC84C583-617D-4374-9B9D-EA701B81C955}" type="slidenum">
              <a:rPr lang="en-GB" smtClean="0"/>
              <a:t>‹#›</a:t>
            </a:fld>
            <a:endParaRPr lang="en-GB"/>
          </a:p>
        </p:txBody>
      </p:sp>
    </p:spTree>
    <p:extLst>
      <p:ext uri="{BB962C8B-B14F-4D97-AF65-F5344CB8AC3E}">
        <p14:creationId xmlns:p14="http://schemas.microsoft.com/office/powerpoint/2010/main" val="95439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278154" cy="3371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3075" name="Rectangle 3"/>
          <p:cNvSpPr>
            <a:spLocks noGrp="1" noChangeArrowheads="1"/>
          </p:cNvSpPr>
          <p:nvPr>
            <p:ph type="dt" idx="1"/>
          </p:nvPr>
        </p:nvSpPr>
        <p:spPr bwMode="auto">
          <a:xfrm>
            <a:off x="5592224" y="0"/>
            <a:ext cx="4278154" cy="3371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3316" name="Rectangle 4"/>
          <p:cNvSpPr>
            <a:spLocks noGrp="1" noRot="1" noChangeAspect="1" noChangeArrowheads="1" noTextEdit="1"/>
          </p:cNvSpPr>
          <p:nvPr>
            <p:ph type="sldImg" idx="2"/>
          </p:nvPr>
        </p:nvSpPr>
        <p:spPr bwMode="auto">
          <a:xfrm>
            <a:off x="3251200" y="506413"/>
            <a:ext cx="3370263" cy="25273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87267" y="3202504"/>
            <a:ext cx="7898130" cy="30339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6403837"/>
            <a:ext cx="4278154" cy="3371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3079" name="Rectangle 7"/>
          <p:cNvSpPr>
            <a:spLocks noGrp="1" noChangeArrowheads="1"/>
          </p:cNvSpPr>
          <p:nvPr>
            <p:ph type="sldNum" sz="quarter" idx="5"/>
          </p:nvPr>
        </p:nvSpPr>
        <p:spPr bwMode="auto">
          <a:xfrm>
            <a:off x="5592224" y="6403837"/>
            <a:ext cx="4278154" cy="3371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8506DA6-E6AB-BA46-881A-E338C3E41877}" type="slidenum">
              <a:rPr lang="en-GB"/>
              <a:pPr>
                <a:defRPr/>
              </a:pPr>
              <a:t>‹#›</a:t>
            </a:fld>
            <a:endParaRPr lang="en-GB"/>
          </a:p>
        </p:txBody>
      </p:sp>
    </p:spTree>
    <p:extLst>
      <p:ext uri="{BB962C8B-B14F-4D97-AF65-F5344CB8AC3E}">
        <p14:creationId xmlns:p14="http://schemas.microsoft.com/office/powerpoint/2010/main" val="1566064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939D7235-8ECB-E24B-96F4-98295D00DFC6}" type="slidenum">
              <a:rPr lang="en-GB"/>
              <a:pPr/>
              <a:t>1</a:t>
            </a:fld>
            <a:endParaRPr lang="en-GB"/>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Our experiences of being parented are unique (even in the same family)</a:t>
            </a:r>
            <a:endParaRPr lang="en-US" dirty="0"/>
          </a:p>
        </p:txBody>
      </p:sp>
      <p:sp>
        <p:nvSpPr>
          <p:cNvPr id="4" name="Slide Number Placeholder 3"/>
          <p:cNvSpPr>
            <a:spLocks noGrp="1"/>
          </p:cNvSpPr>
          <p:nvPr>
            <p:ph type="sldNum" sz="quarter" idx="10"/>
          </p:nvPr>
        </p:nvSpPr>
        <p:spPr/>
        <p:txBody>
          <a:bodyPr/>
          <a:lstStyle/>
          <a:p>
            <a:pPr>
              <a:defRPr/>
            </a:pPr>
            <a:fld id="{08506DA6-E6AB-BA46-881A-E338C3E41877}" type="slidenum">
              <a:rPr lang="en-GB" smtClean="0"/>
              <a:pPr>
                <a:defRPr/>
              </a:pPr>
              <a:t>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4</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4</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7</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7</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06E8547-D6A0-4227-A6EA-D84BEBB117D6}" type="slidenum">
              <a:rPr lang="en-US"/>
              <a:pPr/>
              <a:t>9</a:t>
            </a:fld>
            <a:endParaRPr lang="en-US"/>
          </a:p>
        </p:txBody>
      </p:sp>
      <p:sp>
        <p:nvSpPr>
          <p:cNvPr id="6656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5887EBAC-CE56-4B13-B031-D8D49A3A496E}" type="slidenum">
              <a:rPr lang="en-GB" sz="1200">
                <a:latin typeface="Times New Roman" charset="0"/>
                <a:ea typeface="ＭＳ Ｐゴシック" pitchFamily="110" charset="-128"/>
              </a:rPr>
              <a:pPr algn="r"/>
              <a:t>9</a:t>
            </a:fld>
            <a:endParaRPr lang="en-GB" sz="1200">
              <a:latin typeface="Times New Roman" charset="0"/>
              <a:ea typeface="ＭＳ Ｐゴシック" pitchFamily="110" charset="-128"/>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xfrm>
            <a:off x="1316355" y="3202504"/>
            <a:ext cx="7239953" cy="3033951"/>
          </a:xfrm>
          <a:solidFill>
            <a:srgbClr val="FFFFFF"/>
          </a:solidFill>
          <a:ln/>
        </p:spPr>
        <p:txBody>
          <a:bodyPr/>
          <a:lstStyle/>
          <a:p>
            <a:r>
              <a:rPr lang="en-GB" b="1"/>
              <a:t>Activity Linked to Slide 10</a:t>
            </a:r>
            <a:endParaRPr lang="en-GB" sz="800" b="1"/>
          </a:p>
          <a:p>
            <a:endParaRPr lang="en-GB" sz="800"/>
          </a:p>
          <a:p>
            <a:r>
              <a:rPr lang="en-GB"/>
              <a:t>Work in pairs. One person takes the role of speaker. The other is actively </a:t>
            </a:r>
            <a:r>
              <a:rPr lang="en-GB" b="1"/>
              <a:t>not</a:t>
            </a:r>
            <a:r>
              <a:rPr lang="en-GB"/>
              <a:t> listening (looking elsewhere, fidgeting, doing other things). Time for one minute then tell everyone to swap roles. Time for one more minute.  Reflect in pairs and then share in whole group. </a:t>
            </a:r>
            <a:endParaRPr lang="en-GB" sz="800"/>
          </a:p>
          <a:p>
            <a:endParaRPr lang="en-GB" sz="800"/>
          </a:p>
          <a:p>
            <a:r>
              <a:rPr lang="en-GB"/>
              <a:t>Can participants think of examples when they have not been listened to? Partners, own children, times at work?</a:t>
            </a:r>
            <a:endParaRPr lang="en-GB" sz="800"/>
          </a:p>
          <a:p>
            <a:r>
              <a:rPr lang="en-GB" sz="800"/>
              <a:t>  </a:t>
            </a:r>
          </a:p>
          <a:p>
            <a:r>
              <a:rPr lang="en-GB"/>
              <a:t>This activity gives the opportunity to draw out  how some people shut down and withdraw while others become angry and frustrated. Our feelings will reflect whether we feel valued and will very much affect how we communicate, and how we feel about ourselves.</a:t>
            </a:r>
            <a:endParaRPr lang="en-GB" sz="800"/>
          </a:p>
          <a:p>
            <a:endParaRPr lang="en-GB" sz="800"/>
          </a:p>
          <a:p>
            <a:r>
              <a:rPr lang="en-GB"/>
              <a:t>What would you do differently?  This question provides the opportunity to detail the importance of giving attention and what this looks like, that is, with our bodies, facial expressions, mirroring and so on.  Also the importance of synchrony with the speaker’s message – movements, eye contact/glances – the foundations of good communication at any level.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4BBC2CB-4599-4D91-9843-6381B23433B7}" type="slidenum">
              <a:rPr lang="en-US"/>
              <a:pPr/>
              <a:t>10</a:t>
            </a:fld>
            <a:endParaRPr lang="en-US"/>
          </a:p>
        </p:txBody>
      </p:sp>
      <p:sp>
        <p:nvSpPr>
          <p:cNvPr id="6861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5316EBCC-E36D-4251-9214-6C424DB16D5B}" type="slidenum">
              <a:rPr lang="en-GB" sz="1200">
                <a:latin typeface="Times New Roman" charset="0"/>
                <a:ea typeface="ＭＳ Ｐゴシック" pitchFamily="110" charset="-128"/>
              </a:rPr>
              <a:pPr algn="r"/>
              <a:t>10</a:t>
            </a:fld>
            <a:endParaRPr lang="en-GB" sz="1200">
              <a:latin typeface="Times New Roman" charset="0"/>
              <a:ea typeface="ＭＳ Ｐゴシック" pitchFamily="110" charset="-128"/>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solidFill>
            <a:srgbClr val="FFFFFF"/>
          </a:solidFill>
          <a:ln/>
        </p:spPr>
        <p:txBody>
          <a:bodyPr/>
          <a:lstStyle/>
          <a:p>
            <a:r>
              <a:rPr lang="en-GB" b="1"/>
              <a:t>Facilitator Notes for Slide 11</a:t>
            </a:r>
            <a:r>
              <a:rPr lang="en-GB"/>
              <a:t>  </a:t>
            </a:r>
          </a:p>
          <a:p>
            <a:r>
              <a:rPr lang="en-GB"/>
              <a:t>There’s always a danger that we don’t listen fully to what a child is telling us because we’ve predicted what their message is about and are planning our response, especially since children can be rather long-winded in their explanations and we tend to be very conscious of time.</a:t>
            </a:r>
          </a:p>
          <a:p>
            <a:endParaRPr lang="en-GB"/>
          </a:p>
          <a:p>
            <a:r>
              <a:rPr lang="en-GB"/>
              <a:t>Sometimes we are too quick to correct what we see as faulty thinking or inaccuracy on the part of the child.</a:t>
            </a:r>
          </a:p>
          <a:p>
            <a:endParaRPr lang="en-GB"/>
          </a:p>
          <a:p>
            <a:r>
              <a:rPr lang="en-GB"/>
              <a:t>We all have biases or prejudices that can affect our listening. We may take the child less seriously or jump to false conclusions as a result of our own biased thinking.</a:t>
            </a:r>
          </a:p>
          <a:p>
            <a:endParaRPr lang="en-GB"/>
          </a:p>
          <a:p>
            <a:r>
              <a:rPr lang="en-GB"/>
              <a:t>We often talk about distractible children, but how aware are we of our own distractibility? How can we help ourselves to be more focused?</a:t>
            </a:r>
          </a:p>
          <a:p>
            <a:endParaRPr lang="en-GB"/>
          </a:p>
          <a:p>
            <a:r>
              <a:rPr lang="en-GB" b="1"/>
              <a:t>Activity Linked to Slide 11</a:t>
            </a:r>
          </a:p>
          <a:p>
            <a:r>
              <a:rPr lang="en-GB"/>
              <a:t>Ask participants to read through the bullet points in this slide and share their thinking with a partner – can they recognise when they may do some of these? (There is no need to collect feedback.)</a:t>
            </a:r>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ADDACD8-80A1-4828-A6F8-8E7C43878471}" type="slidenum">
              <a:rPr lang="en-US"/>
              <a:pPr/>
              <a:t>11</a:t>
            </a:fld>
            <a:endParaRPr lang="en-US"/>
          </a:p>
        </p:txBody>
      </p:sp>
      <p:sp>
        <p:nvSpPr>
          <p:cNvPr id="74754"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03DBB81A-590A-4B8C-87CD-30080B5E02C8}" type="slidenum">
              <a:rPr lang="en-GB" sz="1200">
                <a:latin typeface="Times New Roman" charset="0"/>
                <a:ea typeface="ＭＳ Ｐゴシック" pitchFamily="110" charset="-128"/>
              </a:rPr>
              <a:pPr algn="r"/>
              <a:t>11</a:t>
            </a:fld>
            <a:endParaRPr lang="en-GB" sz="1200">
              <a:latin typeface="Times New Roman" charset="0"/>
              <a:ea typeface="ＭＳ Ｐゴシック" pitchFamily="110" charset="-128"/>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987266" y="3202504"/>
            <a:ext cx="7678738" cy="3033951"/>
          </a:xfrm>
          <a:solidFill>
            <a:srgbClr val="FFFFFF"/>
          </a:solidFill>
          <a:ln/>
        </p:spPr>
        <p:txBody>
          <a:bodyPr/>
          <a:lstStyle/>
          <a:p>
            <a:r>
              <a:rPr lang="en-GB" b="1"/>
              <a:t>Facilitator Notes for Slide 14</a:t>
            </a:r>
          </a:p>
          <a:p>
            <a:endParaRPr lang="en-GB"/>
          </a:p>
          <a:p>
            <a:r>
              <a:rPr lang="en-GB"/>
              <a:t>We need to be attentive not just to what a child is saying but to their whole demeanour, and pick up on any contradictions between what they say and what their bodies are saying (the non-verbal communication will reflect the ‘real’ feelings if there is a contradiction with what is being said).</a:t>
            </a:r>
          </a:p>
          <a:p>
            <a:endParaRPr lang="en-GB"/>
          </a:p>
          <a:p>
            <a:r>
              <a:rPr lang="en-GB"/>
              <a:t>This applies to us as well as to the children. We need to ensure that our non-verbal signals are not contradicting what we’re saying – otherwise the child will disbelieve us. Children are very good at seeing through us if we’re just pretending to be positive.</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D60AE50-F630-49C2-8FB4-144B04F51D29}" type="slidenum">
              <a:rPr lang="en-US"/>
              <a:pPr/>
              <a:t>12</a:t>
            </a:fld>
            <a:endParaRPr lang="en-US"/>
          </a:p>
        </p:txBody>
      </p:sp>
      <p:sp>
        <p:nvSpPr>
          <p:cNvPr id="7680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B1A5C85F-63F8-452A-BFC8-AC3C47AE7145}" type="slidenum">
              <a:rPr lang="en-GB" sz="1200">
                <a:latin typeface="Times New Roman" charset="0"/>
                <a:ea typeface="ＭＳ Ｐゴシック" pitchFamily="110" charset="-128"/>
              </a:rPr>
              <a:pPr algn="r"/>
              <a:t>12</a:t>
            </a:fld>
            <a:endParaRPr lang="en-GB" sz="1200">
              <a:latin typeface="Times New Roman" charset="0"/>
              <a:ea typeface="ＭＳ Ｐゴシック" pitchFamily="110" charset="-128"/>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15</a:t>
            </a:r>
          </a:p>
          <a:p>
            <a:endParaRPr lang="en-GB"/>
          </a:p>
          <a:p>
            <a:r>
              <a:rPr lang="en-GB"/>
              <a:t>This quote can be linked back to ‘having space in your mind for the other person’.</a:t>
            </a:r>
          </a:p>
          <a:p>
            <a:r>
              <a:rPr lang="en-GB"/>
              <a:t>Listening is not a passive process.  We need to work hard at really listening to what a child is saying.  How well we listen will have a considerable impact on the quality of their ‘sharing’.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FF8C06B-2A0C-4C3F-9E85-792CEF022186}" type="slidenum">
              <a:rPr lang="en-US"/>
              <a:pPr/>
              <a:t>13</a:t>
            </a:fld>
            <a:endParaRPr lang="en-US"/>
          </a:p>
        </p:txBody>
      </p:sp>
      <p:sp>
        <p:nvSpPr>
          <p:cNvPr id="7885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2498ED27-E1FB-4C2B-9451-69E8A9317D4E}" type="slidenum">
              <a:rPr lang="en-GB" sz="1200">
                <a:latin typeface="Times New Roman" charset="0"/>
                <a:ea typeface="ＭＳ Ｐゴシック" pitchFamily="110" charset="-128"/>
              </a:rPr>
              <a:pPr algn="r"/>
              <a:t>13</a:t>
            </a:fld>
            <a:endParaRPr lang="en-GB" sz="1200">
              <a:latin typeface="Times New Roman" charset="0"/>
              <a:ea typeface="ＭＳ Ｐゴシック" pitchFamily="110" charset="-128"/>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16</a:t>
            </a:r>
          </a:p>
          <a:p>
            <a:endParaRPr lang="en-GB"/>
          </a:p>
          <a:p>
            <a:r>
              <a:rPr lang="en-GB"/>
              <a:t>This draws together the non-verbal communication covered so far and again emphasises the synchrony between the adult and child – how the adult is ‘tuning in’ to the child and their feelings and actively supporting the communication through their focused attention.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C831FB0-9122-4437-832B-12402993FD25}" type="slidenum">
              <a:rPr lang="en-US"/>
              <a:pPr/>
              <a:t>14</a:t>
            </a:fld>
            <a:endParaRPr lang="en-US"/>
          </a:p>
        </p:txBody>
      </p:sp>
      <p:sp>
        <p:nvSpPr>
          <p:cNvPr id="8089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E6105F5F-7EF2-49E7-B8A5-0FD182470260}" type="slidenum">
              <a:rPr lang="en-GB" sz="1200">
                <a:latin typeface="Times New Roman" charset="0"/>
                <a:ea typeface="ＭＳ Ｐゴシック" pitchFamily="110" charset="-128"/>
              </a:rPr>
              <a:pPr algn="r"/>
              <a:t>14</a:t>
            </a:fld>
            <a:endParaRPr lang="en-GB" sz="1200">
              <a:latin typeface="Times New Roman" charset="0"/>
              <a:ea typeface="ＭＳ Ｐゴシック" pitchFamily="110" charset="-128"/>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17</a:t>
            </a:r>
          </a:p>
          <a:p>
            <a:endParaRPr lang="en-GB"/>
          </a:p>
          <a:p>
            <a:r>
              <a:rPr lang="en-GB"/>
              <a:t>We are now going to look in more detail at using language in active listening skills.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44B81F4-6D30-4E9C-9590-8D754211BFC6}" type="slidenum">
              <a:rPr lang="en-US"/>
              <a:pPr/>
              <a:t>15</a:t>
            </a:fld>
            <a:endParaRPr lang="en-US"/>
          </a:p>
        </p:txBody>
      </p:sp>
      <p:sp>
        <p:nvSpPr>
          <p:cNvPr id="82946"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6AF93B1F-4EC0-4313-BFE0-BB3DA08FAF37}" type="slidenum">
              <a:rPr lang="en-GB" sz="1200">
                <a:latin typeface="Times New Roman" charset="0"/>
                <a:ea typeface="ＭＳ Ｐゴシック" pitchFamily="110" charset="-128"/>
              </a:rPr>
              <a:pPr algn="r"/>
              <a:t>15</a:t>
            </a:fld>
            <a:endParaRPr lang="en-GB" sz="1200">
              <a:latin typeface="Times New Roman" charset="0"/>
              <a:ea typeface="ＭＳ Ｐゴシック" pitchFamily="110" charset="-128"/>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1316355" y="3202504"/>
            <a:ext cx="7239953" cy="3033951"/>
          </a:xfrm>
        </p:spPr>
        <p:txBody>
          <a:bodyPr/>
          <a:lstStyle/>
          <a:p>
            <a:r>
              <a:rPr lang="en-GB" b="1"/>
              <a:t>Facilitator Notes for Slide 18</a:t>
            </a:r>
          </a:p>
          <a:p>
            <a:endParaRPr lang="en-GB"/>
          </a:p>
          <a:p>
            <a:r>
              <a:rPr lang="en-GB"/>
              <a:t>Clarifying involves questions, which can be open or closed. What is the difference?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46C1387-5B52-4982-A820-28C3BBCAF822}" type="slidenum">
              <a:rPr lang="en-US"/>
              <a:pPr/>
              <a:t>16</a:t>
            </a:fld>
            <a:endParaRPr lang="en-US"/>
          </a:p>
        </p:txBody>
      </p:sp>
      <p:sp>
        <p:nvSpPr>
          <p:cNvPr id="8704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8B2C1182-A0EF-427E-A77C-6C9D7FDE50A7}" type="slidenum">
              <a:rPr lang="en-GB" sz="1200">
                <a:latin typeface="Times New Roman" charset="0"/>
                <a:ea typeface="ＭＳ Ｐゴシック" pitchFamily="110" charset="-128"/>
              </a:rPr>
              <a:pPr algn="r"/>
              <a:t>16</a:t>
            </a:fld>
            <a:endParaRPr lang="en-GB" sz="1200">
              <a:latin typeface="Times New Roman" charset="0"/>
              <a:ea typeface="ＭＳ Ｐゴシック" pitchFamily="110" charset="-128"/>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xfrm>
            <a:off x="1316355" y="3202504"/>
            <a:ext cx="7239953" cy="3033951"/>
          </a:xfrm>
        </p:spPr>
        <p:txBody>
          <a:bodyPr/>
          <a:lstStyle/>
          <a:p>
            <a:r>
              <a:rPr lang="en-GB" b="1"/>
              <a:t>Facilitator Notes for Slide 20</a:t>
            </a:r>
          </a:p>
          <a:p>
            <a:endParaRPr lang="en-GB"/>
          </a:p>
          <a:p>
            <a:r>
              <a:rPr lang="en-GB"/>
              <a:t>Restating provides the opportunity for making a statement (not a question) and pausing. This allows the child to take things further or not – it is less intrusive than questions and gives control to the child in relation to the direction. </a:t>
            </a:r>
          </a:p>
          <a:p>
            <a:endParaRPr lang="en-GB"/>
          </a:p>
          <a:p>
            <a:r>
              <a:rPr lang="en-GB"/>
              <a:t>Links with empathy in relation to what is being said. It’s your way of saying, ‘I’m with you. I’ve been listening carefully to what you’ve been saying and I’m checking to make sure I understand.’ </a:t>
            </a:r>
          </a:p>
          <a:p>
            <a:endParaRPr lang="en-GB"/>
          </a:p>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C484819-AA36-407C-B524-8ED7BF772963}" type="slidenum">
              <a:rPr lang="en-US"/>
              <a:pPr/>
              <a:t>17</a:t>
            </a:fld>
            <a:endParaRPr lang="en-US"/>
          </a:p>
        </p:txBody>
      </p:sp>
      <p:sp>
        <p:nvSpPr>
          <p:cNvPr id="9113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7A3FC3DF-5215-41C6-9635-566888A85B70}" type="slidenum">
              <a:rPr lang="en-GB" sz="1200">
                <a:latin typeface="Times New Roman" charset="0"/>
                <a:ea typeface="ＭＳ Ｐゴシック" pitchFamily="110" charset="-128"/>
              </a:rPr>
              <a:pPr algn="r"/>
              <a:t>17</a:t>
            </a:fld>
            <a:endParaRPr lang="en-GB" sz="1200">
              <a:latin typeface="Times New Roman" charset="0"/>
              <a:ea typeface="ＭＳ Ｐゴシック" pitchFamily="110" charset="-128"/>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22</a:t>
            </a:r>
          </a:p>
          <a:p>
            <a:endParaRPr lang="en-GB"/>
          </a:p>
          <a:p>
            <a:r>
              <a:rPr lang="en-GB"/>
              <a:t>Draw out the importance of ‘emotional literacy’ (understanding the link between feelings and behaviour) which applies to children and adults alike.</a:t>
            </a:r>
          </a:p>
          <a:p>
            <a:endParaRPr lang="en-GB"/>
          </a:p>
          <a:p>
            <a:r>
              <a:rPr lang="en-GB"/>
              <a:t>Our knowledge of ourselves, the understanding and expression of our feelings and their regulation are a key component within self-esteem which links with self-empowerment.  (The building blocks of self-esteem: security, selfhood, affiliation, mission, competence, Borba, 1989.)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164BFF-0372-484A-8A35-1FB09F569FC4}" type="slidenum">
              <a:rPr lang="en-US"/>
              <a:pPr/>
              <a:t>18</a:t>
            </a:fld>
            <a:endParaRPr lang="en-US"/>
          </a:p>
        </p:txBody>
      </p:sp>
      <p:sp>
        <p:nvSpPr>
          <p:cNvPr id="95234"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229195EA-AEEB-4B21-9907-1A8C4BAE9FB4}" type="slidenum">
              <a:rPr lang="en-GB" sz="1200">
                <a:latin typeface="Times New Roman" charset="0"/>
                <a:ea typeface="ＭＳ Ｐゴシック" pitchFamily="110" charset="-128"/>
              </a:rPr>
              <a:pPr algn="r"/>
              <a:t>18</a:t>
            </a:fld>
            <a:endParaRPr lang="en-GB" sz="1200">
              <a:latin typeface="Times New Roman" charset="0"/>
              <a:ea typeface="ＭＳ Ｐゴシック" pitchFamily="110" charset="-128"/>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24</a:t>
            </a:r>
          </a:p>
          <a:p>
            <a:endParaRPr lang="en-GB"/>
          </a:p>
          <a:p>
            <a:r>
              <a:rPr lang="en-GB"/>
              <a:t>Reflecting feelings enables us to help a child who may not be fully aware of their emotions or have the language to describe them. We tentatively name these and check out with them. This in its own right actively supports the development of emotional literacy through the opportunities that arise when working with children, as well as being incorporated into our one-to-one work with individual children.</a:t>
            </a:r>
          </a:p>
          <a:p>
            <a:endParaRPr lang="en-GB"/>
          </a:p>
          <a:p>
            <a:r>
              <a:rPr lang="en-GB"/>
              <a:t>It is important to find and practice phrases that we feel comfortable with, when this is something we want to develop or increase in our own skills. </a:t>
            </a:r>
          </a:p>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0F6D083-B53B-484E-A463-F73398F12529}" type="slidenum">
              <a:rPr lang="en-US"/>
              <a:pPr/>
              <a:t>19</a:t>
            </a:fld>
            <a:endParaRPr lang="en-US"/>
          </a:p>
        </p:txBody>
      </p:sp>
      <p:sp>
        <p:nvSpPr>
          <p:cNvPr id="9933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AF3A7958-07B9-4040-B64D-72CFB6AE8107}" type="slidenum">
              <a:rPr lang="en-GB" sz="1200">
                <a:latin typeface="Times New Roman" charset="0"/>
                <a:ea typeface="ＭＳ Ｐゴシック" pitchFamily="110" charset="-128"/>
              </a:rPr>
              <a:pPr algn="r"/>
              <a:t>19</a:t>
            </a:fld>
            <a:endParaRPr lang="en-GB" sz="1200">
              <a:latin typeface="Times New Roman" charset="0"/>
              <a:ea typeface="ＭＳ Ｐゴシック" pitchFamily="110" charset="-128"/>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26</a:t>
            </a:r>
          </a:p>
          <a:p>
            <a:endParaRPr lang="en-GB"/>
          </a:p>
          <a:p>
            <a:r>
              <a:rPr lang="en-GB"/>
              <a:t>Here are a few examples of open, reflective questions. They encourage the young person to think in greater depth about situations.</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FAEE6DE-E702-4921-9210-AB395577BEAE}" type="slidenum">
              <a:rPr lang="en-US"/>
              <a:pPr/>
              <a:t>20</a:t>
            </a:fld>
            <a:endParaRPr lang="en-US"/>
          </a:p>
        </p:txBody>
      </p:sp>
      <p:sp>
        <p:nvSpPr>
          <p:cNvPr id="10137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0C810619-94EF-4976-9810-967377DCB1D8}" type="slidenum">
              <a:rPr lang="en-GB" sz="1200">
                <a:latin typeface="Times New Roman" charset="0"/>
                <a:ea typeface="ＭＳ Ｐゴシック" pitchFamily="110" charset="-128"/>
              </a:rPr>
              <a:pPr algn="r"/>
              <a:t>20</a:t>
            </a:fld>
            <a:endParaRPr lang="en-GB" sz="1200">
              <a:latin typeface="Times New Roman" charset="0"/>
              <a:ea typeface="ＭＳ Ｐゴシック" pitchFamily="110" charset="-128"/>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27</a:t>
            </a:r>
          </a:p>
          <a:p>
            <a:endParaRPr lang="en-GB"/>
          </a:p>
          <a:p>
            <a:r>
              <a:rPr lang="en-GB"/>
              <a:t>Open, reflective questions are designed to help children and young people explore the impact of their feelings. We cannot assume that they are aware of the link between their feelings and their behaviour. These questions give them the space to explore their experiences with a helping adult.</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2413A73-DDDF-4FD8-B6FB-9A1F0FEF52DF}" type="slidenum">
              <a:rPr lang="en-US"/>
              <a:pPr/>
              <a:t>21</a:t>
            </a:fld>
            <a:endParaRPr lang="en-US"/>
          </a:p>
        </p:txBody>
      </p:sp>
      <p:sp>
        <p:nvSpPr>
          <p:cNvPr id="103426"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162E9B84-B16E-44E2-A049-6440FF4CDAD1}" type="slidenum">
              <a:rPr lang="en-GB" sz="1200">
                <a:latin typeface="Times New Roman" charset="0"/>
                <a:ea typeface="ＭＳ Ｐゴシック" pitchFamily="110" charset="-128"/>
              </a:rPr>
              <a:pPr algn="r"/>
              <a:t>21</a:t>
            </a:fld>
            <a:endParaRPr lang="en-GB" sz="1200">
              <a:latin typeface="Times New Roman" charset="0"/>
              <a:ea typeface="ＭＳ Ｐゴシック" pitchFamily="110" charset="-128"/>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1316355" y="3202504"/>
            <a:ext cx="7239953" cy="3033951"/>
          </a:xfrm>
          <a:solidFill>
            <a:srgbClr val="FFFFFF"/>
          </a:solidFill>
          <a:ln/>
        </p:spPr>
        <p:txBody>
          <a:bodyPr/>
          <a:lstStyle/>
          <a:p>
            <a:r>
              <a:rPr lang="en-GB" b="1"/>
              <a:t>Facilitator Notes for Slide 28</a:t>
            </a:r>
          </a:p>
          <a:p>
            <a:endParaRPr lang="en-GB"/>
          </a:p>
          <a:p>
            <a:r>
              <a:rPr lang="en-GB"/>
              <a:t>This is the opportunity for participants to practise some of the skills that have been talked about.</a:t>
            </a:r>
          </a:p>
          <a:p>
            <a:endParaRPr lang="en-GB"/>
          </a:p>
          <a:p>
            <a:r>
              <a:rPr lang="en-GB" b="1"/>
              <a:t>Activity Linked to Slide 28</a:t>
            </a:r>
            <a:endParaRPr lang="en-GB" sz="800" b="1"/>
          </a:p>
          <a:p>
            <a:endParaRPr lang="en-GB" sz="800"/>
          </a:p>
          <a:p>
            <a:r>
              <a:rPr lang="en-GB"/>
              <a:t>Allow at least 30 minutes for this activity – five minutes each to facilitate a conversation plus five minutes feedback for each facilitator following their turn.</a:t>
            </a:r>
            <a:endParaRPr lang="en-GB" sz="800"/>
          </a:p>
          <a:p>
            <a:endParaRPr lang="en-GB" sz="800"/>
          </a:p>
          <a:p>
            <a:r>
              <a:rPr lang="en-GB"/>
              <a:t>Client to choose a ‘safe’ work-related issue which they are comfortable to talk about, that is, not something which is very personal and emotional. </a:t>
            </a:r>
            <a:endParaRPr lang="en-GB" sz="800"/>
          </a:p>
          <a:p>
            <a:endParaRPr lang="en-GB" sz="800"/>
          </a:p>
          <a:p>
            <a:r>
              <a:rPr lang="en-GB"/>
              <a:t>Observer uses activity page, Observation – Developing a Shared Understanding and Active Listening Skills. </a:t>
            </a:r>
          </a:p>
          <a:p>
            <a:r>
              <a:rPr lang="en-GB"/>
              <a:t>Note examples of these skills being used.</a:t>
            </a:r>
            <a:endParaRPr lang="en-GB" sz="800"/>
          </a:p>
          <a:p>
            <a:endParaRPr lang="en-GB" sz="800" b="1"/>
          </a:p>
          <a:p>
            <a:r>
              <a:rPr lang="en-GB"/>
              <a:t>Observer facilitating feedback – see next slide.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146C013-CE96-4F23-A85C-8499E5C76B26}" type="slidenum">
              <a:rPr lang="en-US"/>
              <a:pPr/>
              <a:t>22</a:t>
            </a:fld>
            <a:endParaRPr lang="en-US"/>
          </a:p>
        </p:txBody>
      </p:sp>
      <p:sp>
        <p:nvSpPr>
          <p:cNvPr id="105474"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94CB65C2-4E4D-4A5E-8B94-800A93B323E9}" type="slidenum">
              <a:rPr lang="en-GB" sz="1200">
                <a:latin typeface="Times New Roman" charset="0"/>
                <a:ea typeface="ＭＳ Ｐゴシック" pitchFamily="110" charset="-128"/>
              </a:rPr>
              <a:pPr algn="r"/>
              <a:t>22</a:t>
            </a:fld>
            <a:endParaRPr lang="en-GB" sz="1200">
              <a:latin typeface="Times New Roman" charset="0"/>
              <a:ea typeface="ＭＳ Ｐゴシック" pitchFamily="110" charset="-128"/>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1316355" y="3202504"/>
            <a:ext cx="7239953" cy="3033951"/>
          </a:xfrm>
          <a:solidFill>
            <a:srgbClr val="FFFFFF"/>
          </a:solidFill>
          <a:ln/>
        </p:spPr>
        <p:txBody>
          <a:bodyPr/>
          <a:lstStyle/>
          <a:p>
            <a:r>
              <a:rPr lang="en-GB" b="1"/>
              <a:t>Activity Linked to Slide 29</a:t>
            </a:r>
          </a:p>
          <a:p>
            <a:endParaRPr lang="en-GB"/>
          </a:p>
          <a:p>
            <a:r>
              <a:rPr lang="en-GB"/>
              <a:t>The observer has a key role in asking the two participants in the role-play to reflect on how they experienced it.</a:t>
            </a:r>
          </a:p>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44C0878-9163-46D6-B2CD-BCCE93A26F3F}" type="slidenum">
              <a:rPr lang="en-US"/>
              <a:pPr/>
              <a:t>23</a:t>
            </a:fld>
            <a:endParaRPr lang="en-US"/>
          </a:p>
        </p:txBody>
      </p:sp>
      <p:sp>
        <p:nvSpPr>
          <p:cNvPr id="107522"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E336776A-858A-4C3D-866D-D4F47C612FB2}" type="slidenum">
              <a:rPr lang="en-GB" sz="1200">
                <a:latin typeface="Times New Roman" charset="0"/>
                <a:ea typeface="ＭＳ Ｐゴシック" pitchFamily="110" charset="-128"/>
              </a:rPr>
              <a:pPr algn="r"/>
              <a:t>23</a:t>
            </a:fld>
            <a:endParaRPr lang="en-GB" sz="1200">
              <a:latin typeface="Times New Roman" charset="0"/>
              <a:ea typeface="ＭＳ Ｐゴシック" pitchFamily="110" charset="-128"/>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1316355" y="3202504"/>
            <a:ext cx="7239953" cy="3033951"/>
          </a:xfrm>
        </p:spPr>
        <p:txBody>
          <a:bodyPr/>
          <a:lstStyle/>
          <a:p>
            <a:r>
              <a:rPr lang="en-GB" b="1"/>
              <a:t>Activity Linked to Slide 30</a:t>
            </a:r>
          </a:p>
          <a:p>
            <a:endParaRPr lang="en-GB"/>
          </a:p>
          <a:p>
            <a:r>
              <a:rPr lang="en-GB"/>
              <a:t>Draw attention to the activity page, Personal Observation and Reflection.</a:t>
            </a:r>
          </a:p>
          <a:p>
            <a:endParaRPr lang="en-GB"/>
          </a:p>
          <a:p>
            <a:r>
              <a:rPr lang="en-GB"/>
              <a:t>After everyone has taken a turn as the listener in this activity, a few minutes could be allowed for participants to fill in their personal reflection sheet, identifying skills they know they often use and those they would like to develop further (growing points).</a:t>
            </a:r>
            <a:endParaRPr lang="en-US"/>
          </a:p>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098D846-A73B-41E9-B056-B77C4920A196}" type="slidenum">
              <a:rPr lang="en-US"/>
              <a:pPr/>
              <a:t>24</a:t>
            </a:fld>
            <a:endParaRPr lang="en-US"/>
          </a:p>
        </p:txBody>
      </p:sp>
      <p:sp>
        <p:nvSpPr>
          <p:cNvPr id="109570"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C42F97F5-B8B7-436E-ABC9-7862A604B68A}" type="slidenum">
              <a:rPr lang="en-GB" sz="1200">
                <a:latin typeface="Times New Roman" charset="0"/>
                <a:ea typeface="ＭＳ Ｐゴシック" pitchFamily="110" charset="-128"/>
              </a:rPr>
              <a:pPr algn="r"/>
              <a:t>24</a:t>
            </a:fld>
            <a:endParaRPr lang="en-GB" sz="1200">
              <a:latin typeface="Times New Roman" charset="0"/>
              <a:ea typeface="ＭＳ Ｐゴシック" pitchFamily="110" charset="-128"/>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solidFill>
            <a:srgbClr val="FFFFFF"/>
          </a:solidFill>
          <a:ln/>
        </p:spPr>
        <p:txBody>
          <a:bodyPr/>
          <a:lstStyle/>
          <a:p>
            <a:r>
              <a:rPr lang="en-GB" b="1"/>
              <a:t>Facilitator Notes for Slide 31</a:t>
            </a:r>
          </a:p>
          <a:p>
            <a:endParaRPr lang="en-GB"/>
          </a:p>
          <a:p>
            <a:r>
              <a:rPr lang="en-GB"/>
              <a:t>This slide is about how to end an ELSA session. </a:t>
            </a:r>
          </a:p>
          <a:p>
            <a:endParaRPr lang="en-GB"/>
          </a:p>
          <a:p>
            <a:r>
              <a:rPr lang="en-GB"/>
              <a:t>When you come towards the end of a session with a child, it’s helpful to summarise the main points that have been covered.</a:t>
            </a:r>
          </a:p>
          <a:p>
            <a:endParaRPr lang="en-GB"/>
          </a:p>
          <a:p>
            <a:r>
              <a:rPr lang="en-GB"/>
              <a:t>Let the child know you look forward to seeing them again. Let them know they can seek you out before any planned session if they need to talk to you.</a:t>
            </a:r>
          </a:p>
          <a:p>
            <a:endParaRPr lang="en-GB"/>
          </a:p>
          <a:p>
            <a:r>
              <a:rPr lang="en-GB"/>
              <a:t>Make sure you end your time together on a positive note. You want them to feel good when they leave you. Give them encouragement.</a:t>
            </a:r>
          </a:p>
          <a:p>
            <a:endParaRPr lang="en-GB"/>
          </a:p>
          <a:p>
            <a:r>
              <a:rPr lang="en-GB"/>
              <a:t>Don’t forget to thank them for working with you.</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DD1ED6E-CCC3-4A19-9FF6-117CD61D4375}" type="slidenum">
              <a:rPr lang="en-US"/>
              <a:pPr/>
              <a:t>25</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xfrm>
            <a:off x="1316355" y="3202504"/>
            <a:ext cx="7239953" cy="3033951"/>
          </a:xfrm>
        </p:spPr>
        <p:txBody>
          <a:bodyPr/>
          <a:lstStyle/>
          <a:p>
            <a:r>
              <a:rPr lang="en-US"/>
              <a:t>          </a:t>
            </a:r>
          </a:p>
        </p:txBody>
      </p:sp>
      <p:sp>
        <p:nvSpPr>
          <p:cNvPr id="113668" name="Rectangle 7"/>
          <p:cNvSpPr txBox="1">
            <a:spLocks noGrp="1" noChangeArrowheads="1"/>
          </p:cNvSpPr>
          <p:nvPr/>
        </p:nvSpPr>
        <p:spPr bwMode="auto">
          <a:xfrm>
            <a:off x="5594509" y="6405007"/>
            <a:ext cx="4278154" cy="337106"/>
          </a:xfrm>
          <a:prstGeom prst="rect">
            <a:avLst/>
          </a:prstGeom>
          <a:noFill/>
          <a:ln w="9525">
            <a:noFill/>
            <a:miter lim="800000"/>
            <a:headEnd/>
            <a:tailEnd/>
          </a:ln>
        </p:spPr>
        <p:txBody>
          <a:bodyPr anchor="b"/>
          <a:lstStyle/>
          <a:p>
            <a:pPr algn="r"/>
            <a:fld id="{B322F438-0AA2-49DA-96FB-80DCC8C5674D}" type="slidenum">
              <a:rPr lang="en-GB" sz="1200">
                <a:latin typeface="Times New Roman" charset="0"/>
                <a:ea typeface="ＭＳ Ｐゴシック" pitchFamily="110" charset="-128"/>
              </a:rPr>
              <a:pPr algn="r"/>
              <a:t>25</a:t>
            </a:fld>
            <a:endParaRPr lang="en-GB" sz="1200">
              <a:latin typeface="Times New Roman" charset="0"/>
              <a:ea typeface="ＭＳ Ｐゴシック" pitchFamily="110"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26</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26</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miter lim="800000"/>
            <a:headEnd/>
            <a:tailEnd/>
          </a:ln>
        </p:spPr>
        <p:txBody>
          <a:bodyPr/>
          <a:lstStyle/>
          <a:p>
            <a:fld id="{77D6CE7A-6C75-174B-95BF-065DAC96F531}" type="slidenum">
              <a:rPr lang="en-GB"/>
              <a:pPr/>
              <a:t>28</a:t>
            </a:fld>
            <a:endParaRPr lang="en-GB"/>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atin typeface="Times New 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29</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29</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88602A6C-EE63-2E48-9EB4-708FC1A865E4}" type="slidenum">
              <a:rPr lang="en-US"/>
              <a:pPr/>
              <a:t>30</a:t>
            </a:fld>
            <a:endParaRPr lang="en-US"/>
          </a:p>
        </p:txBody>
      </p:sp>
      <p:sp>
        <p:nvSpPr>
          <p:cNvPr id="6246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D2C1291F-7EAA-FE4E-8461-70F15B74D2B5}" type="slidenum">
              <a:rPr lang="en-US" sz="1200">
                <a:ea typeface="Arial" charset="0"/>
                <a:cs typeface="Arial" charset="0"/>
              </a:rPr>
              <a:pPr algn="r"/>
              <a:t>30</a:t>
            </a:fld>
            <a:endParaRPr lang="en-US" sz="1200">
              <a:ea typeface="Arial" charset="0"/>
              <a:cs typeface="Arial" charset="0"/>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p:spPr>
        <p:txBody>
          <a:bodyPr/>
          <a:lstStyle/>
          <a:p>
            <a:pPr eaLnBrk="1" hangingPunct="1"/>
            <a:r>
              <a:rPr lang="en-GB" b="1"/>
              <a:t>Facilitator Notes for Slide 2</a:t>
            </a:r>
          </a:p>
          <a:p>
            <a:pPr eaLnBrk="1" hangingPunct="1"/>
            <a:endParaRPr lang="en-GB" b="1"/>
          </a:p>
          <a:p>
            <a:pPr eaLnBrk="1" hangingPunct="1"/>
            <a:r>
              <a:rPr lang="en-GB"/>
              <a:t>A module on autism is included in the training because ELSAs are likely to support children on the autistic spectrum. In order to support their social communication needs it is important to understand the different thinking style of autistic children.</a:t>
            </a:r>
          </a:p>
          <a:p>
            <a:pPr eaLnBrk="1" hangingPunct="1"/>
            <a:endParaRPr lang="en-GB"/>
          </a:p>
          <a:p>
            <a:pPr eaLnBrk="1" hangingPunct="1"/>
            <a:r>
              <a:rPr lang="en-GB"/>
              <a:t>Some of the key theories about this difference will be introduced and consideration given to the challenges autistic children face in coping with school.</a:t>
            </a:r>
          </a:p>
          <a:p>
            <a:pPr eaLnBrk="1" hangingPunct="1"/>
            <a:endParaRPr lang="en-GB"/>
          </a:p>
          <a:p>
            <a:pPr eaLnBrk="1" hangingPunct="1"/>
            <a:r>
              <a:rPr lang="en-GB"/>
              <a:t>Social stories have proved to be a very useful technique for helping autistic children to understand and develop social behaviours which enable them to participate in aspects of everyday life they find challenging.</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6A56AF84-7AA0-BE4A-A9DB-7A90247E776B}" type="slidenum">
              <a:rPr lang="en-US"/>
              <a:pPr/>
              <a:t>31</a:t>
            </a:fld>
            <a:endParaRPr lang="en-US"/>
          </a:p>
        </p:txBody>
      </p:sp>
      <p:sp>
        <p:nvSpPr>
          <p:cNvPr id="6349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9CDCC110-AF9E-A048-AA98-DC4B681500CC}" type="slidenum">
              <a:rPr lang="en-US" sz="1200">
                <a:ea typeface="Arial" charset="0"/>
                <a:cs typeface="Arial" charset="0"/>
              </a:rPr>
              <a:pPr algn="r"/>
              <a:t>31</a:t>
            </a:fld>
            <a:endParaRPr lang="en-US" sz="1200">
              <a:ea typeface="Arial" charset="0"/>
              <a:cs typeface="Arial" charset="0"/>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p:spPr>
        <p:txBody>
          <a:bodyPr/>
          <a:lstStyle/>
          <a:p>
            <a:pPr eaLnBrk="1" hangingPunct="1"/>
            <a:r>
              <a:rPr lang="en-GB" b="1"/>
              <a:t>Facilitator Notes for Slide 3</a:t>
            </a:r>
          </a:p>
          <a:p>
            <a:pPr eaLnBrk="1" hangingPunct="1"/>
            <a:endParaRPr lang="en-GB" b="1"/>
          </a:p>
          <a:p>
            <a:pPr eaLnBrk="1" hangingPunct="1"/>
            <a:r>
              <a:rPr lang="en-GB"/>
              <a:t>Disorder first described by Kanner in 1943. He summarised the case histories of 11 children and realised they had a number of unusual characteristics in common.</a:t>
            </a:r>
          </a:p>
          <a:p>
            <a:pPr eaLnBrk="1" hangingPunct="1"/>
            <a:endParaRPr lang="en-GB"/>
          </a:p>
          <a:p>
            <a:pPr eaLnBrk="1" hangingPunct="1"/>
            <a:r>
              <a:rPr lang="en-GB"/>
              <a:t>At around the same time, Hans Asperger recognised a pattern of abnormal behaviour in a group of adolescents which he called autistic psychopathy. The term Asperger Syndrome is now used to describe those with higher functioning autism who are more linguistically able. </a:t>
            </a:r>
          </a:p>
          <a:p>
            <a:pPr eaLnBrk="1" hangingPunct="1"/>
            <a:endParaRPr lang="en-GB"/>
          </a:p>
          <a:p>
            <a:pPr eaLnBrk="1" hangingPunct="1"/>
            <a:r>
              <a:rPr lang="en-GB"/>
              <a:t>Over subsequent decades researchers have come to realise that there are large differences in the extent to which people are affected by autism.</a:t>
            </a:r>
          </a:p>
          <a:p>
            <a:pPr eaLnBrk="1" hangingPunct="1"/>
            <a:endParaRPr lang="en-GB"/>
          </a:p>
          <a:p>
            <a:pPr eaLnBrk="1" hangingPunct="1"/>
            <a:r>
              <a:rPr lang="en-GB"/>
              <a:t>There are many more cases reported in boys than in girls.</a:t>
            </a:r>
          </a:p>
          <a:p>
            <a:pPr eaLnBrk="1" hangingPunct="1"/>
            <a:r>
              <a:rPr lang="en-GB"/>
              <a:t>	</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D20F556-E92D-704C-8BD4-8AD5BECF4B33}" type="slidenum">
              <a:rPr lang="en-US"/>
              <a:pPr/>
              <a:t>32</a:t>
            </a:fld>
            <a:endParaRPr lang="en-US"/>
          </a:p>
        </p:txBody>
      </p:sp>
      <p:sp>
        <p:nvSpPr>
          <p:cNvPr id="6553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0C2E7BF8-9CD8-4644-885B-F0FA7D53BD6A}" type="slidenum">
              <a:rPr lang="en-US" sz="1200">
                <a:ea typeface="Arial" charset="0"/>
                <a:cs typeface="Arial" charset="0"/>
              </a:rPr>
              <a:pPr algn="r"/>
              <a:t>32</a:t>
            </a:fld>
            <a:endParaRPr lang="en-US" sz="1200">
              <a:ea typeface="Arial" charset="0"/>
              <a:cs typeface="Arial" charset="0"/>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p:spPr>
        <p:txBody>
          <a:bodyPr/>
          <a:lstStyle/>
          <a:p>
            <a:pPr eaLnBrk="1" hangingPunct="1"/>
            <a:r>
              <a:rPr lang="en-GB" b="1"/>
              <a:t>Facilitator Notes for Slide 5</a:t>
            </a:r>
          </a:p>
          <a:p>
            <a:pPr eaLnBrk="1" hangingPunct="1"/>
            <a:endParaRPr lang="en-GB" b="1"/>
          </a:p>
          <a:p>
            <a:pPr eaLnBrk="1" hangingPunct="1"/>
            <a:r>
              <a:rPr lang="en-GB"/>
              <a:t>No gene identified, unlike many syndromes.</a:t>
            </a:r>
          </a:p>
          <a:p>
            <a:pPr eaLnBrk="1" hangingPunct="1"/>
            <a:endParaRPr lang="en-GB"/>
          </a:p>
          <a:p>
            <a:pPr eaLnBrk="1" hangingPunct="1"/>
            <a:r>
              <a:rPr lang="en-GB"/>
              <a:t>Diagnosis relies on behavioural observation.</a:t>
            </a:r>
          </a:p>
          <a:p>
            <a:pPr eaLnBrk="1" hangingPunct="1"/>
            <a:endParaRPr lang="en-GB"/>
          </a:p>
          <a:p>
            <a:pPr eaLnBrk="1" hangingPunct="1"/>
            <a:r>
              <a:rPr lang="en-GB"/>
              <a:t>Often long waiting lists for medical diagnosis.</a:t>
            </a:r>
          </a:p>
          <a:p>
            <a:pPr eaLnBrk="1" hangingPunct="1"/>
            <a:endParaRPr lang="en-GB"/>
          </a:p>
          <a:p>
            <a:pPr eaLnBrk="1" hangingPunct="1"/>
            <a:r>
              <a:rPr lang="en-GB"/>
              <a:t>The term ‘autistic spectrum disorder’ has often been used, and now ‘autistic spectrum continuum’, recognising that there is a continuum of difficulties.</a:t>
            </a:r>
            <a:endParaRPr lang="en-US"/>
          </a:p>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775B60FC-F67D-0442-8F1D-4D3BBD352240}" type="slidenum">
              <a:rPr lang="en-US"/>
              <a:pPr/>
              <a:t>33</a:t>
            </a:fld>
            <a:endParaRPr lang="en-US"/>
          </a:p>
        </p:txBody>
      </p:sp>
      <p:sp>
        <p:nvSpPr>
          <p:cNvPr id="6656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5F69EA73-9EE0-134B-B3BA-8E8970675637}" type="slidenum">
              <a:rPr lang="en-US" sz="1200">
                <a:ea typeface="Arial" charset="0"/>
                <a:cs typeface="Arial" charset="0"/>
              </a:rPr>
              <a:pPr algn="r"/>
              <a:t>33</a:t>
            </a:fld>
            <a:endParaRPr lang="en-US" sz="1200">
              <a:ea typeface="Arial" charset="0"/>
              <a:cs typeface="Arial" charset="0"/>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p:spPr>
        <p:txBody>
          <a:bodyPr/>
          <a:lstStyle/>
          <a:p>
            <a:pPr marL="90488" indent="-90488" eaLnBrk="1" hangingPunct="1">
              <a:tabLst>
                <a:tab pos="190500" algn="l"/>
              </a:tabLst>
            </a:pPr>
            <a:r>
              <a:rPr lang="en-GB" b="1"/>
              <a:t>Facilitator Notes for Slide 6</a:t>
            </a:r>
          </a:p>
          <a:p>
            <a:pPr marL="90488" indent="-90488" eaLnBrk="1" hangingPunct="1">
              <a:tabLst>
                <a:tab pos="190500" algn="l"/>
              </a:tabLst>
            </a:pPr>
            <a:endParaRPr lang="en-GB" b="1"/>
          </a:p>
          <a:p>
            <a:pPr marL="90488" indent="-90488" eaLnBrk="1" hangingPunct="1">
              <a:lnSpc>
                <a:spcPct val="90000"/>
              </a:lnSpc>
              <a:tabLst>
                <a:tab pos="190500" algn="l"/>
              </a:tabLst>
            </a:pPr>
            <a:r>
              <a:rPr lang="en-GB"/>
              <a:t>The condition becomes apparent over time (not usually recognised before </a:t>
            </a:r>
          </a:p>
          <a:p>
            <a:pPr marL="90488" indent="-90488" eaLnBrk="1" hangingPunct="1">
              <a:lnSpc>
                <a:spcPct val="90000"/>
              </a:lnSpc>
              <a:tabLst>
                <a:tab pos="190500" algn="l"/>
              </a:tabLst>
            </a:pPr>
            <a:r>
              <a:rPr lang="en-GB"/>
              <a:t>the toddler years and often later).</a:t>
            </a:r>
          </a:p>
          <a:p>
            <a:pPr marL="90488" indent="-90488" eaLnBrk="1" hangingPunct="1">
              <a:tabLst>
                <a:tab pos="190500" algn="l"/>
              </a:tabLst>
            </a:pPr>
            <a:endParaRPr lang="en-GB"/>
          </a:p>
          <a:p>
            <a:pPr marL="90488" indent="-90488" eaLnBrk="1" hangingPunct="1">
              <a:tabLst>
                <a:tab pos="190500" algn="l"/>
              </a:tabLst>
            </a:pPr>
            <a:r>
              <a:rPr lang="en-GB"/>
              <a:t>There are believed to be differences in the brain.</a:t>
            </a:r>
          </a:p>
          <a:p>
            <a:pPr marL="90488" indent="-90488" eaLnBrk="1" hangingPunct="1">
              <a:tabLst>
                <a:tab pos="190500" algn="l"/>
              </a:tabLst>
            </a:pPr>
            <a:endParaRPr lang="en-GB"/>
          </a:p>
          <a:p>
            <a:pPr marL="90488" indent="-90488" eaLnBrk="1" hangingPunct="1">
              <a:tabLst>
                <a:tab pos="190500" algn="l"/>
              </a:tabLst>
            </a:pPr>
            <a:r>
              <a:rPr lang="en-GB"/>
              <a:t>The condition doesn’t go away.</a:t>
            </a:r>
          </a:p>
          <a:p>
            <a:pPr marL="90488" indent="-90488" eaLnBrk="1" hangingPunct="1">
              <a:tabLst>
                <a:tab pos="190500" algn="l"/>
              </a:tabLst>
            </a:pPr>
            <a:endParaRPr lang="en-GB"/>
          </a:p>
          <a:p>
            <a:pPr marL="90488" indent="-90488" eaLnBrk="1" hangingPunct="1">
              <a:tabLst>
                <a:tab pos="190500" algn="l"/>
              </a:tabLst>
            </a:pPr>
            <a:r>
              <a:rPr lang="en-GB"/>
              <a:t>It shows itself in:</a:t>
            </a:r>
          </a:p>
          <a:p>
            <a:pPr marL="90488" indent="-90488" eaLnBrk="1" hangingPunct="1">
              <a:buFontTx/>
              <a:buChar char="•"/>
              <a:tabLst>
                <a:tab pos="190500" algn="l"/>
              </a:tabLst>
            </a:pPr>
            <a:r>
              <a:rPr lang="en-GB"/>
              <a:t> 	social difficulties (relating to others)</a:t>
            </a:r>
          </a:p>
          <a:p>
            <a:pPr marL="90488" indent="-90488" eaLnBrk="1" hangingPunct="1">
              <a:buFontTx/>
              <a:buChar char="•"/>
              <a:tabLst>
                <a:tab pos="190500" algn="l"/>
              </a:tabLst>
            </a:pPr>
            <a:r>
              <a:rPr lang="en-GB"/>
              <a:t> 	communication difficulties (understanding and expression of thoughts, 	feelings, emotional state… non-verbal and verbal)</a:t>
            </a:r>
          </a:p>
          <a:p>
            <a:pPr marL="90488" indent="-90488" eaLnBrk="1" hangingPunct="1">
              <a:buFontTx/>
              <a:buChar char="•"/>
              <a:tabLst>
                <a:tab pos="190500" algn="l"/>
              </a:tabLst>
            </a:pPr>
            <a:r>
              <a:rPr lang="en-GB"/>
              <a:t> 	language problems (receptive and expressive)</a:t>
            </a:r>
          </a:p>
          <a:p>
            <a:pPr marL="90488" indent="-90488" eaLnBrk="1" hangingPunct="1">
              <a:buFontTx/>
              <a:buChar char="•"/>
              <a:tabLst>
                <a:tab pos="190500" algn="l"/>
              </a:tabLst>
            </a:pPr>
            <a:r>
              <a:rPr lang="en-GB"/>
              <a:t> 	cognitive problems (do not think in same way as non-autistic people)</a:t>
            </a:r>
          </a:p>
          <a:p>
            <a:pPr marL="90488" indent="-90488" eaLnBrk="1" hangingPunct="1">
              <a:buFontTx/>
              <a:buChar char="•"/>
              <a:tabLst>
                <a:tab pos="190500" algn="l"/>
              </a:tabLst>
            </a:pPr>
            <a:r>
              <a:rPr lang="en-GB"/>
              <a:t> 	learning problems (the above factors will impact learning, and some autistic 	people have significant learning difficulties).</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707C8B90-E950-0047-AAC3-5CA22696AE44}" type="slidenum">
              <a:rPr lang="en-US"/>
              <a:pPr/>
              <a:t>34</a:t>
            </a:fld>
            <a:endParaRPr lang="en-US"/>
          </a:p>
        </p:txBody>
      </p:sp>
      <p:sp>
        <p:nvSpPr>
          <p:cNvPr id="6758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295AD707-29A6-6143-B155-238C6CAE0CE7}" type="slidenum">
              <a:rPr lang="en-US" sz="1200">
                <a:ea typeface="Arial" charset="0"/>
                <a:cs typeface="Arial" charset="0"/>
              </a:rPr>
              <a:pPr algn="r"/>
              <a:t>34</a:t>
            </a:fld>
            <a:endParaRPr lang="en-US" sz="1200">
              <a:ea typeface="Arial" charset="0"/>
              <a:cs typeface="Arial" charset="0"/>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p:spPr>
        <p:txBody>
          <a:bodyPr/>
          <a:lstStyle/>
          <a:p>
            <a:pPr marL="90488" indent="-90488" eaLnBrk="1" hangingPunct="1">
              <a:tabLst>
                <a:tab pos="190500" algn="l"/>
              </a:tabLst>
            </a:pPr>
            <a:r>
              <a:rPr lang="en-GB" b="1"/>
              <a:t>Facilitator Notes for Slide 7</a:t>
            </a:r>
          </a:p>
          <a:p>
            <a:pPr marL="90488" indent="-90488" eaLnBrk="1" hangingPunct="1">
              <a:tabLst>
                <a:tab pos="190500" algn="l"/>
              </a:tabLst>
            </a:pPr>
            <a:endParaRPr lang="en-GB" b="1"/>
          </a:p>
          <a:p>
            <a:pPr marL="90488" indent="-90488" eaLnBrk="1" hangingPunct="1">
              <a:tabLst>
                <a:tab pos="190500" algn="l"/>
              </a:tabLst>
            </a:pPr>
            <a:r>
              <a:rPr lang="en-GB"/>
              <a:t>Lorna Wing described autism as a triad of impairments of social interaction:</a:t>
            </a:r>
          </a:p>
          <a:p>
            <a:pPr marL="90488" indent="-90488" eaLnBrk="1" hangingPunct="1">
              <a:buFontTx/>
              <a:buChar char="•"/>
              <a:tabLst>
                <a:tab pos="190500" algn="l"/>
              </a:tabLst>
            </a:pPr>
            <a:r>
              <a:rPr lang="en-GB"/>
              <a:t> 	Difficulties in relating to other people.</a:t>
            </a:r>
          </a:p>
          <a:p>
            <a:pPr marL="90488" indent="-90488" eaLnBrk="1" hangingPunct="1">
              <a:buFontTx/>
              <a:buChar char="•"/>
              <a:tabLst>
                <a:tab pos="190500" algn="l"/>
              </a:tabLst>
            </a:pPr>
            <a:r>
              <a:rPr lang="en-GB"/>
              <a:t> 	Difficulties in communicating with other people (including both expression 	and understanding).</a:t>
            </a:r>
          </a:p>
          <a:p>
            <a:pPr marL="90488" indent="-90488" eaLnBrk="1" hangingPunct="1">
              <a:buFontTx/>
              <a:buChar char="•"/>
              <a:tabLst>
                <a:tab pos="190500" algn="l"/>
              </a:tabLst>
            </a:pPr>
            <a:r>
              <a:rPr lang="en-GB"/>
              <a:t> 	Difficulties in the area of imagination.</a:t>
            </a:r>
          </a:p>
          <a:p>
            <a:pPr marL="90488" indent="-90488" eaLnBrk="1" hangingPunct="1">
              <a:tabLst>
                <a:tab pos="190500" algn="l"/>
              </a:tabLst>
            </a:pPr>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C0D0888-62FB-5B47-9C65-C55BF274AC70}" type="slidenum">
              <a:rPr lang="en-US"/>
              <a:pPr/>
              <a:t>35</a:t>
            </a:fld>
            <a:endParaRPr lang="en-US"/>
          </a:p>
        </p:txBody>
      </p:sp>
      <p:sp>
        <p:nvSpPr>
          <p:cNvPr id="6861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55DACAC0-70EB-D249-A5D0-2FD2868243D7}" type="slidenum">
              <a:rPr lang="en-US" sz="1200">
                <a:ea typeface="Arial" charset="0"/>
                <a:cs typeface="Arial" charset="0"/>
              </a:rPr>
              <a:pPr algn="r"/>
              <a:t>35</a:t>
            </a:fld>
            <a:endParaRPr lang="en-US" sz="1200">
              <a:ea typeface="Arial" charset="0"/>
              <a:cs typeface="Arial" charset="0"/>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p:spPr>
        <p:txBody>
          <a:bodyPr/>
          <a:lstStyle/>
          <a:p>
            <a:pPr eaLnBrk="1" hangingPunct="1"/>
            <a:r>
              <a:rPr lang="en-GB" b="1"/>
              <a:t>Activity Linked to Slide 8</a:t>
            </a:r>
          </a:p>
          <a:p>
            <a:pPr eaLnBrk="1" hangingPunct="1"/>
            <a:endParaRPr lang="en-GB" b="1"/>
          </a:p>
          <a:p>
            <a:pPr eaLnBrk="1" hangingPunct="1"/>
            <a:r>
              <a:rPr lang="en-GB"/>
              <a:t>This is an opportunity for participants to discuss together (in small groups) their experience of autistic children and young people. There is no need to take feedback as key features will be explored in subsequent slides.</a:t>
            </a: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0AF69457-2927-EF41-B882-02CE007E2E06}" type="slidenum">
              <a:rPr lang="en-US"/>
              <a:pPr/>
              <a:t>36</a:t>
            </a:fld>
            <a:endParaRPr lang="en-US"/>
          </a:p>
        </p:txBody>
      </p:sp>
      <p:sp>
        <p:nvSpPr>
          <p:cNvPr id="6963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98E64F3C-A862-E841-A3EF-58C17D03A1EE}" type="slidenum">
              <a:rPr lang="en-US" sz="1200">
                <a:ea typeface="Arial" charset="0"/>
                <a:cs typeface="Arial" charset="0"/>
              </a:rPr>
              <a:pPr algn="r"/>
              <a:t>36</a:t>
            </a:fld>
            <a:endParaRPr lang="en-US" sz="1200">
              <a:ea typeface="Arial" charset="0"/>
              <a:cs typeface="Arial" charset="0"/>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p:spPr>
        <p:txBody>
          <a:bodyPr/>
          <a:lstStyle/>
          <a:p>
            <a:pPr eaLnBrk="1" hangingPunct="1"/>
            <a:r>
              <a:rPr lang="en-GB" b="1"/>
              <a:t>Facilitator Notes for Slide 9</a:t>
            </a:r>
          </a:p>
          <a:p>
            <a:pPr eaLnBrk="1" hangingPunct="1"/>
            <a:endParaRPr lang="en-GB" b="1"/>
          </a:p>
          <a:p>
            <a:pPr eaLnBrk="1" hangingPunct="1"/>
            <a:r>
              <a:rPr lang="en-GB"/>
              <a:t>It was Lorna Wing who first expounded the idea of autism as a continuum of difficulty.</a:t>
            </a:r>
          </a:p>
          <a:p>
            <a:pPr eaLnBrk="1" hangingPunct="1"/>
            <a:endParaRPr lang="en-GB"/>
          </a:p>
          <a:p>
            <a:pPr eaLnBrk="1" hangingPunct="1"/>
            <a:r>
              <a:rPr lang="en-GB"/>
              <a:t>The least able children tend to manifest abnormal responses to a greater degree.</a:t>
            </a:r>
          </a:p>
          <a:p>
            <a:pPr eaLnBrk="1" hangingPunct="1"/>
            <a:endParaRPr lang="en-GB"/>
          </a:p>
          <a:p>
            <a:pPr eaLnBrk="1" hangingPunct="1"/>
            <a:r>
              <a:rPr lang="en-GB"/>
              <a:t>Sometimes there can be an area of exceptional ability, for example, artistic, musical, unusual memory skills in a certain area.</a:t>
            </a:r>
          </a:p>
          <a:p>
            <a:pPr eaLnBrk="1" hangingPunct="1"/>
            <a:endParaRPr lang="en-GB"/>
          </a:p>
          <a:p>
            <a:pPr eaLnBrk="1" hangingPunct="1"/>
            <a:r>
              <a:rPr lang="en-GB"/>
              <a:t>Those with Asperger’s Syndrome tend to be of higher ability and more verbally skilled. The difference between Asperger’s Syndrome and high functioning autism relates to early language skills.</a:t>
            </a:r>
          </a:p>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93DADBC-1919-B64D-BC18-41F0FA30597F}" type="slidenum">
              <a:rPr lang="en-US"/>
              <a:pPr/>
              <a:t>37</a:t>
            </a:fld>
            <a:endParaRPr lang="en-US"/>
          </a:p>
        </p:txBody>
      </p:sp>
      <p:sp>
        <p:nvSpPr>
          <p:cNvPr id="7065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4302E14D-5725-904F-8FBE-811B3266EFDC}" type="slidenum">
              <a:rPr lang="en-US" sz="1200">
                <a:ea typeface="Arial" charset="0"/>
                <a:cs typeface="Arial" charset="0"/>
              </a:rPr>
              <a:pPr algn="r"/>
              <a:t>37</a:t>
            </a:fld>
            <a:endParaRPr lang="en-US" sz="1200">
              <a:ea typeface="Arial" charset="0"/>
              <a:cs typeface="Arial" charset="0"/>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p:spPr>
        <p:txBody>
          <a:bodyPr/>
          <a:lstStyle/>
          <a:p>
            <a:pPr eaLnBrk="1" hangingPunct="1"/>
            <a:r>
              <a:rPr lang="en-GB" b="1"/>
              <a:t>Facilitator Notes for Slide 10</a:t>
            </a:r>
          </a:p>
          <a:p>
            <a:pPr eaLnBrk="1" hangingPunct="1"/>
            <a:endParaRPr lang="en-GB" b="1"/>
          </a:p>
          <a:p>
            <a:pPr eaLnBrk="1" hangingPunct="1"/>
            <a:r>
              <a:rPr lang="en-GB"/>
              <a:t>The most severely affected appear to treat people as objects. </a:t>
            </a:r>
          </a:p>
          <a:p>
            <a:pPr eaLnBrk="1" hangingPunct="1"/>
            <a:endParaRPr lang="en-GB"/>
          </a:p>
          <a:p>
            <a:pPr eaLnBrk="1" hangingPunct="1"/>
            <a:r>
              <a:rPr lang="en-GB"/>
              <a:t>Others actively avoid physical contact and don’t seek comfort when distressed, but may approach others in order to get a physical need met, for example, have something done for them.</a:t>
            </a:r>
          </a:p>
          <a:p>
            <a:pPr eaLnBrk="1" hangingPunct="1"/>
            <a:endParaRPr lang="en-GB"/>
          </a:p>
          <a:p>
            <a:pPr eaLnBrk="1" hangingPunct="1"/>
            <a:r>
              <a:rPr lang="en-GB"/>
              <a:t>Others passively accept approaches but tend not to actively initiate them.</a:t>
            </a:r>
          </a:p>
          <a:p>
            <a:pPr eaLnBrk="1" hangingPunct="1"/>
            <a:endParaRPr lang="en-GB"/>
          </a:p>
          <a:p>
            <a:pPr eaLnBrk="1" hangingPunct="1"/>
            <a:r>
              <a:rPr lang="en-GB"/>
              <a:t>The least severely affected make contact on their own terms, to satisfy their own needs and interests, and are less likely to engage in contact for the sake of others. Relationships are not reciprocal (based on mutual interest) which leads to difficulties in sustaining friendships.</a:t>
            </a:r>
          </a:p>
          <a:p>
            <a:pPr eaLnBrk="1" hangingPunct="1"/>
            <a:endParaRPr lang="en-GB"/>
          </a:p>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84351C9-156E-9F4F-AB62-609166C7D2B7}" type="slidenum">
              <a:rPr lang="en-US"/>
              <a:pPr/>
              <a:t>38</a:t>
            </a:fld>
            <a:endParaRPr lang="en-US"/>
          </a:p>
        </p:txBody>
      </p:sp>
      <p:sp>
        <p:nvSpPr>
          <p:cNvPr id="7168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1EBAE1AD-48E5-AD4D-B904-2D6D6AD50151}" type="slidenum">
              <a:rPr lang="en-US" sz="1200">
                <a:ea typeface="Arial" charset="0"/>
                <a:cs typeface="Arial" charset="0"/>
              </a:rPr>
              <a:pPr algn="r"/>
              <a:t>38</a:t>
            </a:fld>
            <a:endParaRPr lang="en-US" sz="1200">
              <a:ea typeface="Arial" charset="0"/>
              <a:cs typeface="Arial" charset="0"/>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p:spPr>
        <p:txBody>
          <a:bodyPr/>
          <a:lstStyle/>
          <a:p>
            <a:pPr eaLnBrk="1" hangingPunct="1"/>
            <a:r>
              <a:rPr lang="en-GB" b="1"/>
              <a:t>Facilitator Notes for Slide 11</a:t>
            </a:r>
          </a:p>
          <a:p>
            <a:pPr eaLnBrk="1" hangingPunct="1"/>
            <a:endParaRPr lang="en-GB" b="1"/>
          </a:p>
          <a:p>
            <a:pPr eaLnBrk="1" hangingPunct="1"/>
            <a:r>
              <a:rPr lang="en-GB"/>
              <a:t>Autistic children fail to take account of the listener’s responses when talking. They may, for example, talk at length about something of personal interest without picking up any cues that the listener’s interest has been exhausted.</a:t>
            </a:r>
          </a:p>
          <a:p>
            <a:pPr eaLnBrk="1" hangingPunct="1"/>
            <a:endParaRPr lang="en-GB"/>
          </a:p>
          <a:p>
            <a:pPr eaLnBrk="1" hangingPunct="1"/>
            <a:r>
              <a:rPr lang="en-GB"/>
              <a:t>There is a failure to see language as a tool for passing on and receiving information of mutual interest. They use it merely to express their own needs.</a:t>
            </a:r>
          </a:p>
          <a:p>
            <a:pPr eaLnBrk="1" hangingPunct="1"/>
            <a:endParaRPr lang="en-GB"/>
          </a:p>
          <a:p>
            <a:pPr eaLnBrk="1" hangingPunct="1"/>
            <a:r>
              <a:rPr lang="en-GB"/>
              <a:t>Their poor appreciation of meaning behind non-verbal cues such as facial expression leads to social disadvantage.</a:t>
            </a:r>
          </a:p>
          <a:p>
            <a:pPr eaLnBrk="1" hangingPunct="1"/>
            <a:endParaRPr lang="en-GB"/>
          </a:p>
          <a:p>
            <a:pPr eaLnBrk="1" hangingPunct="1"/>
            <a:r>
              <a:rPr lang="en-GB"/>
              <a:t>Figures of speech are interpreted literally, for example, </a:t>
            </a:r>
            <a:r>
              <a:rPr lang="en-US"/>
              <a:t>'</a:t>
            </a:r>
            <a:r>
              <a:rPr lang="en-GB"/>
              <a:t>pull your socks up</a:t>
            </a:r>
            <a:r>
              <a:rPr lang="en-US"/>
              <a:t>'</a:t>
            </a:r>
            <a:r>
              <a:rPr lang="en-GB"/>
              <a:t>, </a:t>
            </a:r>
            <a:r>
              <a:rPr lang="en-US"/>
              <a:t>'</a:t>
            </a:r>
            <a:r>
              <a:rPr lang="en-GB"/>
              <a:t>get a grip</a:t>
            </a:r>
            <a:r>
              <a:rPr lang="en-US"/>
              <a:t>'</a:t>
            </a:r>
            <a:r>
              <a:rPr lang="en-GB"/>
              <a:t>, </a:t>
            </a:r>
            <a:r>
              <a:rPr lang="en-US"/>
              <a:t>'</a:t>
            </a:r>
            <a:r>
              <a:rPr lang="en-GB"/>
              <a:t>till the cows come home</a:t>
            </a:r>
            <a:r>
              <a:rPr lang="en-US"/>
              <a:t>'</a:t>
            </a:r>
            <a:r>
              <a:rPr lang="en-GB"/>
              <a:t> and so on. Our language is rife with such non-literal idioms.</a:t>
            </a:r>
          </a:p>
          <a:p>
            <a:pPr eaLnBrk="1" hangingPunct="1"/>
            <a:endParaRPr lang="en-GB"/>
          </a:p>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B4FA1BAD-BB90-5948-8479-6B75D0C05AB3}" type="slidenum">
              <a:rPr lang="en-US"/>
              <a:pPr/>
              <a:t>39</a:t>
            </a:fld>
            <a:endParaRPr lang="en-US"/>
          </a:p>
        </p:txBody>
      </p:sp>
      <p:sp>
        <p:nvSpPr>
          <p:cNvPr id="7270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AA094912-B7EE-EC4C-ADD0-C97D5C9F39CD}" type="slidenum">
              <a:rPr lang="en-US" sz="1200">
                <a:ea typeface="Arial" charset="0"/>
                <a:cs typeface="Arial" charset="0"/>
              </a:rPr>
              <a:pPr algn="r"/>
              <a:t>39</a:t>
            </a:fld>
            <a:endParaRPr lang="en-US" sz="1200">
              <a:ea typeface="Arial" charset="0"/>
              <a:cs typeface="Arial" charset="0"/>
            </a:endParaRPr>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p:spPr>
        <p:txBody>
          <a:bodyPr/>
          <a:lstStyle/>
          <a:p>
            <a:pPr eaLnBrk="1" hangingPunct="1"/>
            <a:r>
              <a:rPr lang="en-GB" b="1"/>
              <a:t>Facilitator Notes for Slide 12</a:t>
            </a:r>
          </a:p>
          <a:p>
            <a:pPr eaLnBrk="1" hangingPunct="1"/>
            <a:endParaRPr lang="en-GB" b="1"/>
          </a:p>
          <a:p>
            <a:pPr eaLnBrk="1" hangingPunct="1"/>
            <a:r>
              <a:rPr lang="en-GB"/>
              <a:t>In most severe cases, there is a failure to even respond to their own name, and no desire to talk.</a:t>
            </a:r>
          </a:p>
          <a:p>
            <a:pPr eaLnBrk="1" hangingPunct="1"/>
            <a:endParaRPr lang="en-GB"/>
          </a:p>
          <a:p>
            <a:pPr eaLnBrk="1" hangingPunct="1"/>
            <a:r>
              <a:rPr lang="en-GB"/>
              <a:t>In milder cases, spontaneous use of speech and gesture but this can tend to be repetitive and one-sided (meeting own needs).</a:t>
            </a:r>
          </a:p>
          <a:p>
            <a:pPr eaLnBrk="1" hangingPunct="1"/>
            <a:r>
              <a:rPr lang="en-GB"/>
              <a:t>Any absence of gestures only applies to those related to mental states (for example, consolation, embarrassment) and not to behavioural gestures, for example, come here, be quiet, go away (Attwood et al, 1988).</a:t>
            </a:r>
          </a:p>
          <a:p>
            <a:pPr eaLnBrk="1" hangingPunct="1"/>
            <a:r>
              <a:rPr lang="en-GB"/>
              <a:t>Autistic children don’t use pointing to share attention, but do use it to get a desired object (Baron-Cohen, 1989).</a:t>
            </a:r>
          </a:p>
          <a:p>
            <a:pPr eaLnBrk="1" hangingPunct="1"/>
            <a:endParaRPr lang="en-GB"/>
          </a:p>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8D8D703B-CEE3-9B48-8657-C051D3FFD13E}" type="slidenum">
              <a:rPr lang="en-US"/>
              <a:pPr/>
              <a:t>40</a:t>
            </a:fld>
            <a:endParaRPr lang="en-US"/>
          </a:p>
        </p:txBody>
      </p:sp>
      <p:sp>
        <p:nvSpPr>
          <p:cNvPr id="7373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673C965F-C159-5945-872D-D05356FA3C0A}" type="slidenum">
              <a:rPr lang="en-US" sz="1200">
                <a:ea typeface="Arial" charset="0"/>
                <a:cs typeface="Arial" charset="0"/>
              </a:rPr>
              <a:pPr algn="r"/>
              <a:t>40</a:t>
            </a:fld>
            <a:endParaRPr lang="en-US" sz="1200">
              <a:ea typeface="Arial" charset="0"/>
              <a:cs typeface="Arial" charset="0"/>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p:spPr>
        <p:txBody>
          <a:bodyPr/>
          <a:lstStyle/>
          <a:p>
            <a:pPr eaLnBrk="1" hangingPunct="1"/>
            <a:r>
              <a:rPr lang="en-GB" b="1"/>
              <a:t>Facilitator Notes for Slide 13</a:t>
            </a:r>
          </a:p>
          <a:p>
            <a:pPr eaLnBrk="1" hangingPunct="1"/>
            <a:endParaRPr lang="en-GB" b="1"/>
          </a:p>
          <a:p>
            <a:pPr eaLnBrk="1" hangingPunct="1"/>
            <a:r>
              <a:rPr lang="en-GB"/>
              <a:t>There is a lack of pretend or creative play. While other children could imagine a large cardboard box to be a boat, for example, to the autistic child it remains a box.</a:t>
            </a:r>
          </a:p>
          <a:p>
            <a:pPr eaLnBrk="1" hangingPunct="1"/>
            <a:endParaRPr lang="en-GB"/>
          </a:p>
          <a:p>
            <a:pPr eaLnBrk="1" hangingPunct="1"/>
            <a:r>
              <a:rPr lang="en-GB"/>
              <a:t>They could be fascinated by spinning the wheels on toy cars but have no interest in the cars themselves.</a:t>
            </a:r>
          </a:p>
          <a:p>
            <a:pPr eaLnBrk="1" hangingPunct="1"/>
            <a:endParaRPr lang="en-GB"/>
          </a:p>
          <a:p>
            <a:pPr eaLnBrk="1" hangingPunct="1"/>
            <a:r>
              <a:rPr lang="en-GB"/>
              <a:t>May appear to be playing imaginatively but the play tends to be a repetitive, mechanical routine.</a:t>
            </a:r>
          </a:p>
          <a:p>
            <a:pPr eaLnBrk="1" hangingPunct="1"/>
            <a:r>
              <a:rPr lang="en-GB"/>
              <a:t>The autistic child has difficulty letting others intervene in play. They are unable to share. Insists on controlling what others do in play.</a:t>
            </a:r>
          </a:p>
          <a:p>
            <a:pPr eaLnBrk="1" hangingPunct="1"/>
            <a:r>
              <a:rPr lang="en-GB"/>
              <a:t> </a:t>
            </a:r>
          </a:p>
          <a:p>
            <a:pPr eaLnBrk="1" hangingPunct="1"/>
            <a:r>
              <a:rPr lang="en-GB"/>
              <a:t>Their thought patterns are very literal. There is no appreciation of metaphor. Factual books are preferred to fiction. Fiction tends to use more colourful and symbolic language, playing perhaps with words. Poetry is likely to be very confusing.</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16A5C4BD-D794-4641-BC8C-26B1277A6F40}" type="slidenum">
              <a:rPr lang="en-US"/>
              <a:pPr/>
              <a:t>41</a:t>
            </a:fld>
            <a:endParaRPr lang="en-US"/>
          </a:p>
        </p:txBody>
      </p:sp>
      <p:sp>
        <p:nvSpPr>
          <p:cNvPr id="7475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C8F9672-7833-B546-98F4-79755A1B5955}" type="slidenum">
              <a:rPr lang="en-US" sz="1200">
                <a:ea typeface="Arial" charset="0"/>
                <a:cs typeface="Arial" charset="0"/>
              </a:rPr>
              <a:pPr algn="r"/>
              <a:t>41</a:t>
            </a:fld>
            <a:endParaRPr lang="en-US" sz="1200">
              <a:ea typeface="Arial" charset="0"/>
              <a:cs typeface="Arial" charset="0"/>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p:spPr>
        <p:txBody>
          <a:bodyPr/>
          <a:lstStyle/>
          <a:p>
            <a:pPr eaLnBrk="1" hangingPunct="1"/>
            <a:r>
              <a:rPr lang="en-GB" b="1"/>
              <a:t>Facilitator Notes for Slide 14</a:t>
            </a:r>
          </a:p>
          <a:p>
            <a:pPr eaLnBrk="1" hangingPunct="1"/>
            <a:endParaRPr lang="en-GB" b="1"/>
          </a:p>
          <a:p>
            <a:pPr eaLnBrk="1" hangingPunct="1"/>
            <a:r>
              <a:rPr lang="en-GB"/>
              <a:t>Clare Sainsbury (a Cambridge graduate) wrote about how it feels to go through the education system when you are autistic. She drew on her own experiences as well as those of other high functioning autistic adults. </a:t>
            </a:r>
          </a:p>
          <a:p>
            <a:pPr eaLnBrk="1" hangingPunct="1"/>
            <a:endParaRPr lang="en-GB"/>
          </a:p>
          <a:p>
            <a:pPr eaLnBrk="1" hangingPunct="1"/>
            <a:r>
              <a:rPr lang="en-GB"/>
              <a:t>She refuted the notion that autistic people have </a:t>
            </a:r>
            <a:r>
              <a:rPr lang="en-GB" b="1"/>
              <a:t>no </a:t>
            </a:r>
            <a:r>
              <a:rPr lang="en-GB"/>
              <a:t>imagination… they may indeed be able to enter their own make-believe world, but their imagination is different from non-autistic people. </a:t>
            </a:r>
          </a:p>
          <a:p>
            <a:pPr eaLnBrk="1" hangingPunct="1"/>
            <a:endParaRPr lang="en-GB"/>
          </a:p>
          <a:p>
            <a:pPr eaLnBrk="1" hangingPunct="1"/>
            <a:r>
              <a:rPr lang="en-GB"/>
              <a:t>In ‘</a:t>
            </a:r>
            <a:r>
              <a:rPr lang="en-GB" i="1"/>
              <a:t>Children Can Learn with their Shoes Off’</a:t>
            </a:r>
            <a:r>
              <a:rPr lang="en-GB"/>
              <a:t> (Maines, B. 2002),  Rita Jordan wrote, </a:t>
            </a:r>
            <a:r>
              <a:rPr lang="en-US"/>
              <a:t>'</a:t>
            </a:r>
            <a:r>
              <a:rPr lang="en-GB"/>
              <a:t>They can play at being Batman but they cannot play Batman and Robin.</a:t>
            </a:r>
            <a:r>
              <a:rPr lang="en-US"/>
              <a:t>'</a:t>
            </a:r>
            <a:r>
              <a:rPr lang="en-GB"/>
              <a:t> </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7614FD0B-8943-9D49-A24A-E35BC0E0B99E}" type="slidenum">
              <a:rPr lang="en-US"/>
              <a:pPr/>
              <a:t>42</a:t>
            </a:fld>
            <a:endParaRPr lang="en-US"/>
          </a:p>
        </p:txBody>
      </p:sp>
      <p:sp>
        <p:nvSpPr>
          <p:cNvPr id="7577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FE1E0B1D-EEC0-AA4F-BEFF-F172C7BFDD42}" type="slidenum">
              <a:rPr lang="en-US" sz="1200">
                <a:ea typeface="Arial" charset="0"/>
                <a:cs typeface="Arial" charset="0"/>
              </a:rPr>
              <a:pPr algn="r"/>
              <a:t>42</a:t>
            </a:fld>
            <a:endParaRPr lang="en-US" sz="1200">
              <a:ea typeface="Arial" charset="0"/>
              <a:cs typeface="Arial" charset="0"/>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p:spPr>
        <p:txBody>
          <a:bodyPr/>
          <a:lstStyle/>
          <a:p>
            <a:pPr eaLnBrk="1" hangingPunct="1"/>
            <a:r>
              <a:rPr lang="en-GB" b="1"/>
              <a:t>Facilitator notes for Slide 15</a:t>
            </a:r>
          </a:p>
          <a:p>
            <a:pPr eaLnBrk="1" hangingPunct="1"/>
            <a:endParaRPr lang="en-GB" b="1"/>
          </a:p>
          <a:p>
            <a:pPr eaLnBrk="1" hangingPunct="1"/>
            <a:r>
              <a:rPr lang="en-GB"/>
              <a:t>Explain that these will not all be present in autistic children. More severely affected youngsters are likely to show more of these features.</a:t>
            </a:r>
          </a:p>
          <a:p>
            <a:pPr eaLnBrk="1" hangingPunct="1"/>
            <a:endParaRPr lang="en-GB"/>
          </a:p>
          <a:p>
            <a:pPr eaLnBrk="1" hangingPunct="1"/>
            <a:r>
              <a:rPr lang="en-GB"/>
              <a:t>Invite participants to question anything they don’t understand rather than talking in detail through each point.</a:t>
            </a:r>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12A57FD-1845-6842-AC42-7D433F28413D}" type="slidenum">
              <a:rPr lang="en-US"/>
              <a:pPr/>
              <a:t>43</a:t>
            </a:fld>
            <a:endParaRPr lang="en-US"/>
          </a:p>
        </p:txBody>
      </p:sp>
      <p:sp>
        <p:nvSpPr>
          <p:cNvPr id="7680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23BCB387-7999-0445-BBEC-856C6E5B0342}" type="slidenum">
              <a:rPr lang="en-US" sz="1200">
                <a:ea typeface="Arial" charset="0"/>
                <a:cs typeface="Arial" charset="0"/>
              </a:rPr>
              <a:pPr algn="r"/>
              <a:t>43</a:t>
            </a:fld>
            <a:endParaRPr lang="en-US" sz="1200">
              <a:ea typeface="Arial" charset="0"/>
              <a:cs typeface="Arial" charset="0"/>
            </a:endParaRPr>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p:spPr>
        <p:txBody>
          <a:bodyPr/>
          <a:lstStyle/>
          <a:p>
            <a:pPr eaLnBrk="1" hangingPunct="1"/>
            <a:r>
              <a:rPr lang="en-GB" b="1"/>
              <a:t>Facilitator Notes for Slide 16</a:t>
            </a:r>
          </a:p>
          <a:p>
            <a:pPr eaLnBrk="1" hangingPunct="1"/>
            <a:endParaRPr lang="en-GB" b="1"/>
          </a:p>
          <a:p>
            <a:pPr eaLnBrk="1" hangingPunct="1"/>
            <a:r>
              <a:rPr lang="en-GB"/>
              <a:t>Allow time for participants to read and ask any questions.</a:t>
            </a:r>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18A11566-214C-DF46-A902-F8A8F134CCA5}" type="slidenum">
              <a:rPr lang="en-US"/>
              <a:pPr/>
              <a:t>44</a:t>
            </a:fld>
            <a:endParaRPr lang="en-US"/>
          </a:p>
        </p:txBody>
      </p:sp>
      <p:sp>
        <p:nvSpPr>
          <p:cNvPr id="7782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82C0591E-25EB-6C4E-BD8F-4413546C04E5}" type="slidenum">
              <a:rPr lang="en-US" sz="1200">
                <a:ea typeface="Arial" charset="0"/>
                <a:cs typeface="Arial" charset="0"/>
              </a:rPr>
              <a:pPr algn="r"/>
              <a:t>44</a:t>
            </a:fld>
            <a:endParaRPr lang="en-US" sz="1200">
              <a:ea typeface="Arial" charset="0"/>
              <a:cs typeface="Arial" charset="0"/>
            </a:endParaRPr>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p:spPr>
        <p:txBody>
          <a:bodyPr/>
          <a:lstStyle/>
          <a:p>
            <a:pPr eaLnBrk="1" hangingPunct="1"/>
            <a:r>
              <a:rPr lang="en-GB" b="1"/>
              <a:t>Activity Linked to Slide 17</a:t>
            </a:r>
          </a:p>
          <a:p>
            <a:pPr eaLnBrk="1" hangingPunct="1"/>
            <a:endParaRPr lang="en-GB" b="1"/>
          </a:p>
          <a:p>
            <a:pPr eaLnBrk="1" hangingPunct="1"/>
            <a:r>
              <a:rPr lang="en-GB"/>
              <a:t>Participants can discuss in small groups the features (listed on previous slides) that they have personally encountered. </a:t>
            </a:r>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A83D8E41-4C3D-6D41-914F-A6ADE4D167F4}" type="slidenum">
              <a:rPr lang="en-US"/>
              <a:pPr/>
              <a:t>45</a:t>
            </a:fld>
            <a:endParaRPr lang="en-US"/>
          </a:p>
        </p:txBody>
      </p:sp>
      <p:sp>
        <p:nvSpPr>
          <p:cNvPr id="7885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4EA9ACE-0B96-7247-AED9-8F15121A6938}" type="slidenum">
              <a:rPr lang="en-US" sz="1200">
                <a:ea typeface="Arial" charset="0"/>
                <a:cs typeface="Arial" charset="0"/>
              </a:rPr>
              <a:pPr algn="r"/>
              <a:t>45</a:t>
            </a:fld>
            <a:endParaRPr lang="en-US" sz="1200">
              <a:ea typeface="Arial" charset="0"/>
              <a:cs typeface="Arial" charset="0"/>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p:spPr>
        <p:txBody>
          <a:bodyPr/>
          <a:lstStyle/>
          <a:p>
            <a:pPr eaLnBrk="1" hangingPunct="1"/>
            <a:r>
              <a:rPr lang="en-GB" b="1"/>
              <a:t>Facilitator Notes for Slide 18</a:t>
            </a:r>
          </a:p>
          <a:p>
            <a:pPr eaLnBrk="1" hangingPunct="1"/>
            <a:endParaRPr lang="en-GB" b="1"/>
          </a:p>
          <a:p>
            <a:pPr eaLnBrk="1" hangingPunct="1"/>
            <a:r>
              <a:rPr lang="en-GB"/>
              <a:t>There has been considerable argument about the possible common link underlying autistic disorders.</a:t>
            </a:r>
          </a:p>
          <a:p>
            <a:pPr eaLnBrk="1" hangingPunct="1"/>
            <a:endParaRPr lang="en-GB"/>
          </a:p>
          <a:p>
            <a:pPr eaLnBrk="1" hangingPunct="1"/>
            <a:r>
              <a:rPr lang="en-GB"/>
              <a:t>In recent years there has been particular interest in Uta Frith’s ‘theory of mind’ explanation.</a:t>
            </a:r>
          </a:p>
          <a:p>
            <a:pPr eaLnBrk="1" hangingPunct="1"/>
            <a:endParaRPr lang="en-GB"/>
          </a:p>
          <a:p>
            <a:pPr eaLnBrk="1" hangingPunct="1"/>
            <a:r>
              <a:rPr lang="en-GB"/>
              <a:t>Autistic children may have a particular problem understanding that people have mental states which can be different from the state of the real world, and different from the autistic person’s own mental state. We could refer to these as ‘belief systems’.</a:t>
            </a:r>
          </a:p>
          <a:p>
            <a:pPr eaLnBrk="1" hangingPunct="1"/>
            <a:endParaRPr lang="en-GB"/>
          </a:p>
          <a:p>
            <a:pPr eaLnBrk="1" hangingPunct="1"/>
            <a:r>
              <a:rPr lang="en-GB"/>
              <a:t>Baron-Cohen used the Sally/Anne test to check children’s ability to see things from another person’s point of view.</a:t>
            </a:r>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6CE11F0E-7546-0F41-8706-4BAEF7752155}" type="slidenum">
              <a:rPr lang="en-US"/>
              <a:pPr/>
              <a:t>46</a:t>
            </a:fld>
            <a:endParaRPr lang="en-US"/>
          </a:p>
        </p:txBody>
      </p:sp>
      <p:sp>
        <p:nvSpPr>
          <p:cNvPr id="7987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15A1CA7F-870C-874B-9840-AE60B72027E0}" type="slidenum">
              <a:rPr lang="en-US" sz="1200">
                <a:ea typeface="Arial" charset="0"/>
                <a:cs typeface="Arial" charset="0"/>
              </a:rPr>
              <a:pPr algn="r"/>
              <a:t>46</a:t>
            </a:fld>
            <a:endParaRPr lang="en-US" sz="1200">
              <a:ea typeface="Arial" charset="0"/>
              <a:cs typeface="Arial" charset="0"/>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p:spPr>
        <p:txBody>
          <a:bodyPr/>
          <a:lstStyle/>
          <a:p>
            <a:pPr eaLnBrk="1" hangingPunct="1"/>
            <a:r>
              <a:rPr lang="en-GB" b="1"/>
              <a:t>Facilitator Notes for Slide 19</a:t>
            </a:r>
          </a:p>
          <a:p>
            <a:pPr eaLnBrk="1" hangingPunct="1"/>
            <a:endParaRPr lang="en-GB" b="1"/>
          </a:p>
          <a:p>
            <a:pPr eaLnBrk="1" hangingPunct="1"/>
            <a:r>
              <a:rPr lang="en-GB"/>
              <a:t>Sally puts the ball in the basket then goes away.</a:t>
            </a:r>
          </a:p>
          <a:p>
            <a:pPr eaLnBrk="1" hangingPunct="1"/>
            <a:endParaRPr lang="en-GB"/>
          </a:p>
          <a:p>
            <a:pPr eaLnBrk="1" hangingPunct="1"/>
            <a:r>
              <a:rPr lang="en-GB"/>
              <a:t>Anne transfers the ball to the box.</a:t>
            </a:r>
          </a:p>
          <a:p>
            <a:pPr eaLnBrk="1" hangingPunct="1"/>
            <a:endParaRPr lang="en-GB"/>
          </a:p>
          <a:p>
            <a:pPr eaLnBrk="1" hangingPunct="1"/>
            <a:r>
              <a:rPr lang="en-GB"/>
              <a:t>Sally returns. Where will she look for the ball?</a:t>
            </a: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8C446FF5-C40F-E34A-9333-E6CA446DC61E}" type="slidenum">
              <a:rPr lang="en-US"/>
              <a:pPr/>
              <a:t>47</a:t>
            </a:fld>
            <a:endParaRPr lang="en-US"/>
          </a:p>
        </p:txBody>
      </p:sp>
      <p:sp>
        <p:nvSpPr>
          <p:cNvPr id="8089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670FD7DC-6BB2-7F49-AAA2-18B6EADE4280}" type="slidenum">
              <a:rPr lang="en-US" sz="1200">
                <a:ea typeface="Arial" charset="0"/>
                <a:cs typeface="Arial" charset="0"/>
              </a:rPr>
              <a:pPr algn="r"/>
              <a:t>47</a:t>
            </a:fld>
            <a:endParaRPr lang="en-US" sz="1200">
              <a:ea typeface="Arial" charset="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p:spPr>
        <p:txBody>
          <a:bodyPr/>
          <a:lstStyle/>
          <a:p>
            <a:pPr eaLnBrk="1" hangingPunct="1"/>
            <a:r>
              <a:rPr lang="en-GB" b="1"/>
              <a:t>Facilitator Notes for Slide 20</a:t>
            </a:r>
          </a:p>
          <a:p>
            <a:pPr eaLnBrk="1" hangingPunct="1"/>
            <a:endParaRPr lang="en-GB" b="1"/>
          </a:p>
          <a:p>
            <a:pPr eaLnBrk="1" hangingPunct="1"/>
            <a:r>
              <a:rPr lang="en-GB"/>
              <a:t>He compared the responses of three groups of children matched for mental ability.</a:t>
            </a:r>
          </a:p>
          <a:p>
            <a:pPr eaLnBrk="1" hangingPunct="1"/>
            <a:endParaRPr lang="en-GB"/>
          </a:p>
          <a:p>
            <a:pPr eaLnBrk="1" hangingPunct="1"/>
            <a:r>
              <a:rPr lang="en-GB"/>
              <a:t>Only the children with autism said Sally would look in the box. The others said she would look in the basket, where she left it.</a:t>
            </a:r>
          </a:p>
          <a:p>
            <a:pPr eaLnBrk="1" hangingPunct="1"/>
            <a:endParaRPr lang="en-GB"/>
          </a:p>
          <a:p>
            <a:pPr eaLnBrk="1" hangingPunct="1"/>
            <a:r>
              <a:rPr lang="en-GB"/>
              <a:t>This theory could explain not only some of the deficits associated with autism, but also why some skills are unaffected.</a:t>
            </a:r>
          </a:p>
          <a:p>
            <a:pPr eaLnBrk="1" hangingPunct="1"/>
            <a:r>
              <a:rPr lang="en-GB"/>
              <a:t>Any skill requiring only primary representations should be unimpaired, thus allowing for islets of ability and good rote memory. </a:t>
            </a: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55A67561-AFB9-A34A-9D9F-A5D860E050FD}" type="slidenum">
              <a:rPr lang="en-US"/>
              <a:pPr/>
              <a:t>48</a:t>
            </a:fld>
            <a:endParaRPr lang="en-US"/>
          </a:p>
        </p:txBody>
      </p:sp>
      <p:sp>
        <p:nvSpPr>
          <p:cNvPr id="8192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2FEF017C-97A3-A64C-94DB-46814ADCA7F9}" type="slidenum">
              <a:rPr lang="en-US" sz="1200">
                <a:ea typeface="Arial" charset="0"/>
                <a:cs typeface="Arial" charset="0"/>
              </a:rPr>
              <a:pPr algn="r"/>
              <a:t>48</a:t>
            </a:fld>
            <a:endParaRPr lang="en-US" sz="1200">
              <a:ea typeface="Arial" charset="0"/>
              <a:cs typeface="Arial" charset="0"/>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a:lstStyle/>
          <a:p>
            <a:pPr eaLnBrk="1" hangingPunct="1"/>
            <a:r>
              <a:rPr lang="en-GB" b="1"/>
              <a:t>Activity Linked to Slide 21</a:t>
            </a:r>
          </a:p>
          <a:p>
            <a:pPr eaLnBrk="1" hangingPunct="1"/>
            <a:endParaRPr lang="en-GB" b="1"/>
          </a:p>
          <a:p>
            <a:pPr eaLnBrk="1" hangingPunct="1"/>
            <a:r>
              <a:rPr lang="en-GB"/>
              <a:t>Ask participants to take a few minutes to think and talk about how they might experience life in school if they had no appreciation of any reality beyond their own understanding. This is an opportunity to experience a little bit of empathy for an autistic child in the school community.</a:t>
            </a:r>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3E8205FC-1748-4D4F-A3AD-6E215CA858D5}" type="slidenum">
              <a:rPr lang="en-US"/>
              <a:pPr/>
              <a:t>49</a:t>
            </a:fld>
            <a:endParaRPr lang="en-US"/>
          </a:p>
        </p:txBody>
      </p:sp>
      <p:sp>
        <p:nvSpPr>
          <p:cNvPr id="8294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A91E7538-CA41-964F-92C7-89E01D55BBC0}" type="slidenum">
              <a:rPr lang="en-US" sz="1200">
                <a:ea typeface="Arial" charset="0"/>
                <a:cs typeface="Arial" charset="0"/>
              </a:rPr>
              <a:pPr algn="r"/>
              <a:t>49</a:t>
            </a:fld>
            <a:endParaRPr lang="en-US" sz="1200">
              <a:ea typeface="Arial" charset="0"/>
              <a:cs typeface="Arial" charset="0"/>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p:spPr>
        <p:txBody>
          <a:bodyPr/>
          <a:lstStyle/>
          <a:p>
            <a:pPr eaLnBrk="1" hangingPunct="1"/>
            <a:r>
              <a:rPr lang="en-GB" b="1"/>
              <a:t>Facilitator Notes for Slide 22</a:t>
            </a:r>
          </a:p>
          <a:p>
            <a:pPr eaLnBrk="1" hangingPunct="1"/>
            <a:endParaRPr lang="en-GB" b="1"/>
          </a:p>
          <a:p>
            <a:pPr eaLnBrk="1" hangingPunct="1"/>
            <a:r>
              <a:rPr lang="en-GB"/>
              <a:t>This quote, by an autistic adult, emphasises the difference in experience, thinking and emotion between autistic and non-autistic people. It is an appeal to be understood as qualitatively different, rather than someone to be changed.</a:t>
            </a:r>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FDECB9B6-BECC-EE4F-86C1-0AA602FBC816}" type="slidenum">
              <a:rPr lang="en-US"/>
              <a:pPr/>
              <a:t>50</a:t>
            </a:fld>
            <a:endParaRPr lang="en-US"/>
          </a:p>
        </p:txBody>
      </p:sp>
      <p:sp>
        <p:nvSpPr>
          <p:cNvPr id="8397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5E6C7CB2-2A7E-4747-BDCD-930A6BDD0598}" type="slidenum">
              <a:rPr lang="en-US" sz="1200">
                <a:ea typeface="Arial" charset="0"/>
                <a:cs typeface="Arial" charset="0"/>
              </a:rPr>
              <a:pPr algn="r"/>
              <a:t>50</a:t>
            </a:fld>
            <a:endParaRPr lang="en-US" sz="1200">
              <a:ea typeface="Arial" charset="0"/>
              <a:cs typeface="Arial" charset="0"/>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p:spPr>
        <p:txBody>
          <a:bodyPr/>
          <a:lstStyle/>
          <a:p>
            <a:pPr eaLnBrk="1" hangingPunct="1"/>
            <a:r>
              <a:rPr lang="en-GB" b="1"/>
              <a:t>Facilitator Notes for  Slide 23</a:t>
            </a:r>
          </a:p>
          <a:p>
            <a:pPr eaLnBrk="1" hangingPunct="1"/>
            <a:endParaRPr lang="en-GB" b="1"/>
          </a:p>
          <a:p>
            <a:pPr eaLnBrk="1" hangingPunct="1"/>
            <a:r>
              <a:rPr lang="en-GB"/>
              <a:t>Because of their rigid thinking, changes in routine are very stressful for autistic children.</a:t>
            </a:r>
          </a:p>
          <a:p>
            <a:pPr eaLnBrk="1" hangingPunct="1"/>
            <a:endParaRPr lang="en-GB"/>
          </a:p>
          <a:p>
            <a:pPr eaLnBrk="1" hangingPunct="1"/>
            <a:r>
              <a:rPr lang="en-GB"/>
              <a:t>Their difficulty in seeing things from other people’s point of view makes it hard for them to share other people’s interests.</a:t>
            </a:r>
          </a:p>
          <a:p>
            <a:pPr eaLnBrk="1" hangingPunct="1"/>
            <a:endParaRPr lang="en-GB"/>
          </a:p>
          <a:p>
            <a:pPr eaLnBrk="1" hangingPunct="1"/>
            <a:r>
              <a:rPr lang="en-GB"/>
              <a:t>They can be single-minded in their own pursuits and reluctant to be re-focused on to something else.</a:t>
            </a:r>
          </a:p>
          <a:p>
            <a:pPr eaLnBrk="1" hangingPunct="1"/>
            <a:endParaRPr lang="en-GB"/>
          </a:p>
          <a:p>
            <a:pPr eaLnBrk="1" hangingPunct="1"/>
            <a:r>
              <a:rPr lang="en-GB"/>
              <a:t>They tend not to differentiate between people according to status, so may talk in the same terms to a headteacher as they would to peers.</a:t>
            </a:r>
          </a:p>
          <a:p>
            <a:pPr eaLnBrk="1" hangingPunct="1"/>
            <a:endParaRPr lang="en-GB"/>
          </a:p>
          <a:p>
            <a:pPr eaLnBrk="1" hangingPunct="1"/>
            <a:r>
              <a:rPr lang="en-GB"/>
              <a:t>‘Weak central coherence theory‘ has been postulated to explain why they are able to focus on details without appreciating the whole picture. This makes it difficult to determine relative importance and may cause them to be unduly concerned by what others see as irrelevant details. Failure of others to appreciate the importance of these details may lead them to become stressed.</a:t>
            </a:r>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E5B71015-C3E2-7D49-97E0-00E026E96E77}" type="slidenum">
              <a:rPr lang="en-US"/>
              <a:pPr/>
              <a:t>51</a:t>
            </a:fld>
            <a:endParaRPr lang="en-US"/>
          </a:p>
        </p:txBody>
      </p:sp>
      <p:sp>
        <p:nvSpPr>
          <p:cNvPr id="8499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664D4E11-924A-0A4C-B4C5-A7CD9CE5C1DA}" type="slidenum">
              <a:rPr lang="en-US" sz="1200">
                <a:ea typeface="Arial" charset="0"/>
                <a:cs typeface="Arial" charset="0"/>
              </a:rPr>
              <a:pPr algn="r"/>
              <a:t>51</a:t>
            </a:fld>
            <a:endParaRPr lang="en-US" sz="1200">
              <a:ea typeface="Arial" charset="0"/>
              <a:cs typeface="Arial" charset="0"/>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p:spPr>
        <p:txBody>
          <a:bodyPr/>
          <a:lstStyle/>
          <a:p>
            <a:pPr eaLnBrk="1" hangingPunct="1">
              <a:lnSpc>
                <a:spcPct val="90000"/>
              </a:lnSpc>
            </a:pPr>
            <a:r>
              <a:rPr lang="en-GB" sz="1000" b="1"/>
              <a:t>Facilitator Notes for Slide 24</a:t>
            </a:r>
          </a:p>
          <a:p>
            <a:pPr eaLnBrk="1" hangingPunct="1">
              <a:lnSpc>
                <a:spcPct val="90000"/>
              </a:lnSpc>
            </a:pPr>
            <a:endParaRPr lang="en-GB" sz="1000"/>
          </a:p>
          <a:p>
            <a:pPr eaLnBrk="1" hangingPunct="1">
              <a:lnSpc>
                <a:spcPct val="90000"/>
              </a:lnSpc>
            </a:pPr>
            <a:r>
              <a:rPr lang="en-GB" sz="1000"/>
              <a:t>Because of their language/communication difficulties, they often tend to be more visual rather than auditory in their learning style. This means it is easier for them to process information that is delivered visually than information that is told to them. Too much language can be overwhelming.</a:t>
            </a:r>
          </a:p>
          <a:p>
            <a:pPr eaLnBrk="1" hangingPunct="1">
              <a:lnSpc>
                <a:spcPct val="90000"/>
              </a:lnSpc>
            </a:pPr>
            <a:endParaRPr lang="en-GB" sz="1000"/>
          </a:p>
          <a:p>
            <a:pPr eaLnBrk="1" hangingPunct="1">
              <a:lnSpc>
                <a:spcPct val="90000"/>
              </a:lnSpc>
            </a:pPr>
            <a:r>
              <a:rPr lang="en-GB" sz="1000"/>
              <a:t>Our language is full of idioms and metaphors which are a source of considerable confusion to the autistic child.</a:t>
            </a:r>
          </a:p>
          <a:p>
            <a:pPr eaLnBrk="1" hangingPunct="1">
              <a:lnSpc>
                <a:spcPct val="90000"/>
              </a:lnSpc>
            </a:pPr>
            <a:endParaRPr lang="en-GB" sz="1000"/>
          </a:p>
          <a:p>
            <a:pPr eaLnBrk="1" hangingPunct="1">
              <a:lnSpc>
                <a:spcPct val="90000"/>
              </a:lnSpc>
            </a:pPr>
            <a:r>
              <a:rPr lang="en-GB" sz="1000"/>
              <a:t>Sensory distractions may be overwhelmingly powerful for them and therefore much more difficult to tune out.</a:t>
            </a:r>
          </a:p>
          <a:p>
            <a:pPr eaLnBrk="1" hangingPunct="1">
              <a:lnSpc>
                <a:spcPct val="90000"/>
              </a:lnSpc>
            </a:pPr>
            <a:endParaRPr lang="en-GB" sz="1000"/>
          </a:p>
          <a:p>
            <a:pPr eaLnBrk="1" hangingPunct="1">
              <a:lnSpc>
                <a:spcPct val="90000"/>
              </a:lnSpc>
            </a:pPr>
            <a:r>
              <a:rPr lang="en-GB" sz="1000"/>
              <a:t>Similarly, their own internal thoughts may be highly distracting, which is why they are sometimes thought to be in a world of their own.</a:t>
            </a:r>
          </a:p>
          <a:p>
            <a:pPr eaLnBrk="1" hangingPunct="1">
              <a:lnSpc>
                <a:spcPct val="90000"/>
              </a:lnSpc>
            </a:pPr>
            <a:endParaRPr lang="en-GB" sz="1000"/>
          </a:p>
          <a:p>
            <a:pPr eaLnBrk="1" hangingPunct="1">
              <a:lnSpc>
                <a:spcPct val="90000"/>
              </a:lnSpc>
            </a:pPr>
            <a:r>
              <a:rPr lang="en-GB" sz="1000"/>
              <a:t>This makes it very difficult for them to switch attention on demand. If they have become very interested in what they are doing, it is harder for them to stop than it is for other children. This difficulty can be misconstrued as being stubborn or awkward. They may need a system of warnings to assist transition from one activity to another.</a:t>
            </a:r>
          </a:p>
          <a:p>
            <a:pPr eaLnBrk="1" hangingPunct="1">
              <a:lnSpc>
                <a:spcPct val="90000"/>
              </a:lnSpc>
            </a:pPr>
            <a:endParaRPr lang="en-GB" sz="1000"/>
          </a:p>
          <a:p>
            <a:pPr eaLnBrk="1" hangingPunct="1">
              <a:lnSpc>
                <a:spcPct val="90000"/>
              </a:lnSpc>
            </a:pPr>
            <a:r>
              <a:rPr lang="en-GB" sz="1000"/>
              <a:t>Their memory for facts is better than their memory for things that have happened. They may therefore be thought to have extremely good memory in some respects and yet be surprisingly blank about other things.</a:t>
            </a:r>
            <a:endParaRPr lang="en-US" sz="10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B8F3DE49-8E94-3B41-8A80-7CE317788131}" type="slidenum">
              <a:rPr lang="en-US"/>
              <a:pPr/>
              <a:t>52</a:t>
            </a:fld>
            <a:endParaRPr lang="en-US"/>
          </a:p>
        </p:txBody>
      </p:sp>
      <p:sp>
        <p:nvSpPr>
          <p:cNvPr id="86019"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7812F0C-D4B2-BD47-BEDF-6D4E0DBC96A3}" type="slidenum">
              <a:rPr lang="en-US" sz="1200">
                <a:ea typeface="Arial" charset="0"/>
                <a:cs typeface="Arial" charset="0"/>
              </a:rPr>
              <a:pPr algn="r"/>
              <a:t>52</a:t>
            </a:fld>
            <a:endParaRPr lang="en-US" sz="1200">
              <a:ea typeface="Arial" charset="0"/>
              <a:cs typeface="Arial" charset="0"/>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p:spPr>
        <p:txBody>
          <a:bodyPr/>
          <a:lstStyle/>
          <a:p>
            <a:pPr eaLnBrk="1" hangingPunct="1"/>
            <a:r>
              <a:rPr lang="en-GB" b="1"/>
              <a:t>Facilitator Notes for Slide 25</a:t>
            </a:r>
          </a:p>
          <a:p>
            <a:pPr eaLnBrk="1" hangingPunct="1"/>
            <a:endParaRPr lang="en-GB" b="1"/>
          </a:p>
          <a:p>
            <a:pPr eaLnBrk="1" hangingPunct="1"/>
            <a:r>
              <a:rPr lang="en-GB"/>
              <a:t>The ability of autistic children to organise themselves tends to be poor.</a:t>
            </a:r>
          </a:p>
          <a:p>
            <a:pPr eaLnBrk="1" hangingPunct="1"/>
            <a:endParaRPr lang="en-GB"/>
          </a:p>
          <a:p>
            <a:pPr eaLnBrk="1" hangingPunct="1"/>
            <a:r>
              <a:rPr lang="en-GB"/>
              <a:t>Sometimes they may present as rather clumsy.</a:t>
            </a:r>
          </a:p>
          <a:p>
            <a:pPr eaLnBrk="1" hangingPunct="1"/>
            <a:endParaRPr lang="en-GB"/>
          </a:p>
          <a:p>
            <a:pPr eaLnBrk="1" hangingPunct="1"/>
            <a:r>
              <a:rPr lang="en-GB"/>
              <a:t>They feel uncomfortable if they are too close to others. The stress this creates may result in physical aggression.</a:t>
            </a:r>
          </a:p>
          <a:p>
            <a:pPr eaLnBrk="1" hangingPunct="1"/>
            <a:endParaRPr lang="en-GB"/>
          </a:p>
          <a:p>
            <a:pPr eaLnBrk="1" hangingPunct="1"/>
            <a:r>
              <a:rPr lang="en-GB"/>
              <a:t>Because their whole way of thinking is so different and so focused on their own interests, it is much harder for them to make and keep friendships.</a:t>
            </a:r>
          </a:p>
          <a:p>
            <a:pPr eaLnBrk="1" hangingPunct="1"/>
            <a:endParaRPr lang="en-GB"/>
          </a:p>
          <a:p>
            <a:pPr eaLnBrk="1" hangingPunct="1"/>
            <a:r>
              <a:rPr lang="en-GB"/>
              <a:t>They can often be victimised by others because their speech and their behaviour seem odd to others.</a:t>
            </a: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6825D2ED-403C-6E4D-BCAA-B55CC58752C4}" type="slidenum">
              <a:rPr lang="en-US"/>
              <a:pPr/>
              <a:t>53</a:t>
            </a:fld>
            <a:endParaRPr lang="en-US"/>
          </a:p>
        </p:txBody>
      </p:sp>
      <p:sp>
        <p:nvSpPr>
          <p:cNvPr id="88067"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E9F1EDBF-F5F8-514E-9E24-F3DFF75D1D08}" type="slidenum">
              <a:rPr lang="en-US" sz="1200">
                <a:ea typeface="Arial" charset="0"/>
                <a:cs typeface="Arial" charset="0"/>
              </a:rPr>
              <a:pPr algn="r"/>
              <a:t>53</a:t>
            </a:fld>
            <a:endParaRPr lang="en-US" sz="1200">
              <a:ea typeface="Arial" charset="0"/>
              <a:cs typeface="Arial" charset="0"/>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p:spPr>
        <p:txBody>
          <a:bodyPr/>
          <a:lstStyle/>
          <a:p>
            <a:pPr eaLnBrk="1" hangingPunct="1"/>
            <a:r>
              <a:rPr lang="en-GB" b="1"/>
              <a:t>Facilitator Notes for Slide 27</a:t>
            </a:r>
          </a:p>
          <a:p>
            <a:pPr eaLnBrk="1" hangingPunct="1"/>
            <a:endParaRPr lang="en-GB" b="1"/>
          </a:p>
          <a:p>
            <a:pPr eaLnBrk="1" hangingPunct="1"/>
            <a:r>
              <a:rPr lang="en-GB"/>
              <a:t>The next three slides list some of the helpful adaptations that may support autistic children in the classroom. There is no need to talk through these strategies which are listed for reference. </a:t>
            </a:r>
          </a:p>
          <a:p>
            <a:pPr eaLnBrk="1" hangingPunct="1"/>
            <a:endParaRPr lang="en-GB"/>
          </a:p>
          <a:p>
            <a:pPr eaLnBrk="1" hangingPunct="1"/>
            <a:r>
              <a:rPr lang="en-GB"/>
              <a:t>The remit of ELSAs is more likely to be supporting youngsters to develop specific coping skills in social contexts. </a:t>
            </a:r>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A2C2AE80-A228-9748-9DE1-0AE74B30399E}" type="slidenum">
              <a:rPr lang="en-US"/>
              <a:pPr/>
              <a:t>54</a:t>
            </a:fld>
            <a:endParaRPr lang="en-US"/>
          </a:p>
        </p:txBody>
      </p:sp>
      <p:sp>
        <p:nvSpPr>
          <p:cNvPr id="89091"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EFC645B-2A36-F744-9498-3369DABAB746}" type="slidenum">
              <a:rPr lang="en-US" sz="1200">
                <a:ea typeface="Arial" charset="0"/>
                <a:cs typeface="Arial" charset="0"/>
              </a:rPr>
              <a:pPr algn="r"/>
              <a:t>54</a:t>
            </a:fld>
            <a:endParaRPr lang="en-US" sz="1200">
              <a:ea typeface="Arial" charset="0"/>
              <a:cs typeface="Arial" charset="0"/>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p:spPr>
        <p:txBody>
          <a:bodyPr/>
          <a:lstStyle/>
          <a:p>
            <a:pPr eaLnBrk="1" hangingPunct="1"/>
            <a:r>
              <a:rPr lang="en-GB" b="1"/>
              <a:t>Facilitator Notes for Slide 28</a:t>
            </a:r>
          </a:p>
          <a:p>
            <a:pPr eaLnBrk="1" hangingPunct="1"/>
            <a:endParaRPr lang="en-GB" b="1"/>
          </a:p>
          <a:p>
            <a:pPr eaLnBrk="1" hangingPunct="1"/>
            <a:r>
              <a:rPr lang="en-GB"/>
              <a:t>More general classroom support strategies. Allow time for participants to read the slide.</a:t>
            </a:r>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76BE9C58-657F-EA40-9717-F69A4BEC1910}" type="slidenum">
              <a:rPr lang="en-US"/>
              <a:pPr/>
              <a:t>55</a:t>
            </a:fld>
            <a:endParaRPr lang="en-US"/>
          </a:p>
        </p:txBody>
      </p:sp>
      <p:sp>
        <p:nvSpPr>
          <p:cNvPr id="90115"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3CFEC8C3-B92E-EF45-A8CC-2C57F8BD6566}" type="slidenum">
              <a:rPr lang="en-US" sz="1200">
                <a:ea typeface="Arial" charset="0"/>
                <a:cs typeface="Arial" charset="0"/>
              </a:rPr>
              <a:pPr algn="r"/>
              <a:t>55</a:t>
            </a:fld>
            <a:endParaRPr lang="en-US" sz="1200">
              <a:ea typeface="Arial" charset="0"/>
              <a:cs typeface="Arial" charset="0"/>
            </a:endParaRPr>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p:spPr>
        <p:txBody>
          <a:bodyPr/>
          <a:lstStyle/>
          <a:p>
            <a:pPr eaLnBrk="1" hangingPunct="1"/>
            <a:r>
              <a:rPr lang="en-GB" b="1"/>
              <a:t>Facilitator Notes for Slide 29</a:t>
            </a:r>
          </a:p>
          <a:p>
            <a:pPr eaLnBrk="1" hangingPunct="1"/>
            <a:endParaRPr lang="en-GB" b="1"/>
          </a:p>
          <a:p>
            <a:pPr eaLnBrk="1" hangingPunct="1"/>
            <a:r>
              <a:rPr lang="en-GB"/>
              <a:t>The third bullet point is one that is likely to require ELSA support. </a:t>
            </a:r>
          </a:p>
          <a:p>
            <a:pPr eaLnBrk="1" hangingPunct="1"/>
            <a:endParaRPr lang="en-GB"/>
          </a:p>
          <a:p>
            <a:pPr eaLnBrk="1" hangingPunct="1"/>
            <a:r>
              <a:rPr lang="en-GB"/>
              <a:t>Learning to recognise and name feelings, in themselves and others, may be a key area of work.</a:t>
            </a:r>
          </a:p>
          <a:p>
            <a:pPr eaLnBrk="1" hangingPunct="1"/>
            <a:endParaRPr lang="en-GB"/>
          </a:p>
          <a:p>
            <a:pPr eaLnBrk="1" hangingPunct="1"/>
            <a:r>
              <a:rPr lang="en-GB"/>
              <a:t>Social and friendship skills will need to be explicitly taught, and social stories will be one useful approach for this work.  </a:t>
            </a:r>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E50E896D-88F7-A641-A74E-B5E36095C61F}" type="slidenum">
              <a:rPr lang="en-US"/>
              <a:pPr/>
              <a:t>57</a:t>
            </a:fld>
            <a:endParaRPr lang="en-US"/>
          </a:p>
        </p:txBody>
      </p:sp>
      <p:sp>
        <p:nvSpPr>
          <p:cNvPr id="61443" name="Rectangle 7"/>
          <p:cNvSpPr txBox="1">
            <a:spLocks noGrp="1" noChangeArrowheads="1"/>
          </p:cNvSpPr>
          <p:nvPr/>
        </p:nvSpPr>
        <p:spPr bwMode="auto">
          <a:xfrm>
            <a:off x="5593178" y="6403869"/>
            <a:ext cx="4277135" cy="337160"/>
          </a:xfrm>
          <a:prstGeom prst="rect">
            <a:avLst/>
          </a:prstGeom>
          <a:noFill/>
          <a:ln w="9525">
            <a:noFill/>
            <a:miter lim="800000"/>
            <a:headEnd/>
            <a:tailEnd/>
          </a:ln>
        </p:spPr>
        <p:txBody>
          <a:bodyPr anchor="b">
            <a:prstTxWarp prst="textNoShape">
              <a:avLst/>
            </a:prstTxWarp>
          </a:bodyPr>
          <a:lstStyle/>
          <a:p>
            <a:pPr algn="r"/>
            <a:fld id="{BAAB3FFD-D026-2147-941B-A5AF86DB1D06}" type="slidenum">
              <a:rPr lang="en-US" sz="1200">
                <a:ea typeface="Arial" charset="0"/>
                <a:cs typeface="Arial" charset="0"/>
              </a:rPr>
              <a:pPr algn="r"/>
              <a:t>57</a:t>
            </a:fld>
            <a:endParaRPr lang="en-US" sz="1200">
              <a:ea typeface="Arial" charset="0"/>
              <a:cs typeface="Arial"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p:spPr>
        <p:txBody>
          <a:bodyPr/>
          <a:lstStyle/>
          <a:p>
            <a:pPr eaLnBrk="1" hangingPunct="1"/>
            <a:r>
              <a:rPr lang="en-GB" b="1"/>
              <a:t>Facilitator Notes for Slide 1</a:t>
            </a:r>
          </a:p>
          <a:p>
            <a:pPr eaLnBrk="1" hangingPunct="1"/>
            <a:endParaRPr lang="en-GB" b="1"/>
          </a:p>
          <a:p>
            <a:pPr eaLnBrk="1" hangingPunct="1"/>
            <a:r>
              <a:rPr lang="en-GB"/>
              <a:t>For this session, you will need to prepare a selection of social stories suitable across the age range represented by trainees.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p:txBody>
      </p:sp>
      <p:grpSp>
        <p:nvGrpSpPr>
          <p:cNvPr id="1028" name="Group 7"/>
          <p:cNvGrpSpPr>
            <a:grpSpLocks/>
          </p:cNvGrpSpPr>
          <p:nvPr userDrawn="1"/>
        </p:nvGrpSpPr>
        <p:grpSpPr bwMode="auto">
          <a:xfrm>
            <a:off x="0" y="0"/>
            <a:ext cx="9144000" cy="6537325"/>
            <a:chOff x="0" y="0"/>
            <a:chExt cx="5760" cy="4118"/>
          </a:xfrm>
        </p:grpSpPr>
        <p:pic>
          <p:nvPicPr>
            <p:cNvPr id="1029" name="Picture 8" descr="blocksrgb"/>
            <p:cNvPicPr>
              <a:picLocks noChangeAspect="1" noChangeArrowheads="1"/>
            </p:cNvPicPr>
            <p:nvPr/>
          </p:nvPicPr>
          <p:blipFill>
            <a:blip r:embed="rId13"/>
            <a:srcRect/>
            <a:stretch>
              <a:fillRect/>
            </a:stretch>
          </p:blipFill>
          <p:spPr bwMode="auto">
            <a:xfrm>
              <a:off x="4604" y="3430"/>
              <a:ext cx="975" cy="688"/>
            </a:xfrm>
            <a:prstGeom prst="rect">
              <a:avLst/>
            </a:prstGeom>
            <a:noFill/>
            <a:ln w="9525">
              <a:noFill/>
              <a:miter lim="800000"/>
              <a:headEnd/>
              <a:tailEnd/>
            </a:ln>
          </p:spPr>
        </p:pic>
        <p:sp>
          <p:nvSpPr>
            <p:cNvPr id="1033" name="Rectangle 9"/>
            <p:cNvSpPr>
              <a:spLocks noChangeArrowheads="1"/>
            </p:cNvSpPr>
            <p:nvPr/>
          </p:nvSpPr>
          <p:spPr bwMode="auto">
            <a:xfrm>
              <a:off x="0" y="0"/>
              <a:ext cx="5760" cy="336"/>
            </a:xfrm>
            <a:prstGeom prst="rect">
              <a:avLst/>
            </a:prstGeom>
            <a:solidFill>
              <a:srgbClr val="6D2FAB"/>
            </a:solidFill>
            <a:ln w="0">
              <a:noFill/>
              <a:miter lim="800000"/>
              <a:headEnd/>
              <a:tailEnd/>
            </a:ln>
          </p:spPr>
          <p:txBody>
            <a:bodyPr wrap="none" anchor="ctr">
              <a:prstTxWarp prst="textNoShape">
                <a:avLst/>
              </a:prstTxWarp>
            </a:bodyPr>
            <a:lstStyle/>
            <a:p>
              <a:pPr>
                <a:defRPr/>
              </a:pPr>
              <a:endParaRPr lang="en-US"/>
            </a:p>
          </p:txBody>
        </p:sp>
        <p:sp>
          <p:nvSpPr>
            <p:cNvPr id="1034" name="Text Box 10"/>
            <p:cNvSpPr txBox="1">
              <a:spLocks noChangeArrowheads="1"/>
            </p:cNvSpPr>
            <p:nvPr/>
          </p:nvSpPr>
          <p:spPr bwMode="auto">
            <a:xfrm>
              <a:off x="0" y="79"/>
              <a:ext cx="5760" cy="192"/>
            </a:xfrm>
            <a:prstGeom prst="rect">
              <a:avLst/>
            </a:prstGeom>
            <a:noFill/>
            <a:ln w="9525">
              <a:noFill/>
              <a:miter lim="800000"/>
              <a:headEnd/>
              <a:tailEnd/>
            </a:ln>
          </p:spPr>
          <p:txBody>
            <a:bodyPr>
              <a:prstTxWarp prst="textNoShape">
                <a:avLst/>
              </a:prstTxWarp>
              <a:spAutoFit/>
            </a:bodyPr>
            <a:lstStyle/>
            <a:p>
              <a:pPr algn="ctr" eaLnBrk="0" hangingPunct="0">
                <a:defRPr/>
              </a:pPr>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1032" name="Picture 11" descr="Image windsor and Maidenhead"/>
            <p:cNvPicPr>
              <a:picLocks noChangeAspect="1" noChangeArrowheads="1"/>
            </p:cNvPicPr>
            <p:nvPr/>
          </p:nvPicPr>
          <p:blipFill>
            <a:blip r:embed="rId14"/>
            <a:srcRect/>
            <a:stretch>
              <a:fillRect/>
            </a:stretch>
          </p:blipFill>
          <p:spPr bwMode="auto">
            <a:xfrm>
              <a:off x="5441" y="0"/>
              <a:ext cx="319" cy="384"/>
            </a:xfrm>
            <a:prstGeom prst="rect">
              <a:avLst/>
            </a:prstGeom>
            <a:noFill/>
            <a:ln w="3175">
              <a:noFill/>
              <a:miter lim="800000"/>
              <a:headEnd/>
              <a:tailEnd/>
            </a:ln>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latin typeface="Arial" charset="0"/>
        </a:defRPr>
      </a:lvl6pPr>
      <a:lvl7pPr marL="914400" algn="ctr" rtl="0" fontAlgn="base">
        <a:spcBef>
          <a:spcPct val="0"/>
        </a:spcBef>
        <a:spcAft>
          <a:spcPct val="0"/>
        </a:spcAft>
        <a:defRPr sz="4400" b="1">
          <a:solidFill>
            <a:schemeClr val="tx2"/>
          </a:solidFill>
          <a:latin typeface="Arial" charset="0"/>
        </a:defRPr>
      </a:lvl7pPr>
      <a:lvl8pPr marL="1371600" algn="ctr" rtl="0" fontAlgn="base">
        <a:spcBef>
          <a:spcPct val="0"/>
        </a:spcBef>
        <a:spcAft>
          <a:spcPct val="0"/>
        </a:spcAft>
        <a:defRPr sz="4400" b="1">
          <a:solidFill>
            <a:schemeClr val="tx2"/>
          </a:solidFill>
          <a:latin typeface="Arial" charset="0"/>
        </a:defRPr>
      </a:lvl8pPr>
      <a:lvl9pPr marL="1828800" algn="ctr"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5" descr="blocksrgb"/>
          <p:cNvPicPr>
            <a:picLocks noChangeAspect="1" noChangeArrowheads="1"/>
          </p:cNvPicPr>
          <p:nvPr/>
        </p:nvPicPr>
        <p:blipFill>
          <a:blip r:embed="rId3"/>
          <a:srcRect/>
          <a:stretch>
            <a:fillRect/>
          </a:stretch>
        </p:blipFill>
        <p:spPr bwMode="auto">
          <a:xfrm>
            <a:off x="0" y="838200"/>
            <a:ext cx="4572000" cy="3225800"/>
          </a:xfrm>
          <a:prstGeom prst="rect">
            <a:avLst/>
          </a:prstGeom>
          <a:noFill/>
          <a:ln w="9525">
            <a:noFill/>
            <a:miter lim="800000"/>
            <a:headEnd/>
            <a:tailEnd/>
          </a:ln>
        </p:spPr>
      </p:pic>
      <p:sp>
        <p:nvSpPr>
          <p:cNvPr id="14339" name="Text Box 16"/>
          <p:cNvSpPr txBox="1">
            <a:spLocks noChangeArrowheads="1"/>
          </p:cNvSpPr>
          <p:nvPr/>
        </p:nvSpPr>
        <p:spPr bwMode="auto">
          <a:xfrm>
            <a:off x="4419600" y="1989138"/>
            <a:ext cx="4343400" cy="3046988"/>
          </a:xfrm>
          <a:prstGeom prst="rect">
            <a:avLst/>
          </a:prstGeom>
          <a:noFill/>
          <a:ln w="9525">
            <a:noFill/>
            <a:miter lim="800000"/>
            <a:headEnd/>
            <a:tailEnd/>
          </a:ln>
        </p:spPr>
        <p:txBody>
          <a:bodyPr wrap="square">
            <a:prstTxWarp prst="textNoShape">
              <a:avLst/>
            </a:prstTxWarp>
            <a:spAutoFit/>
          </a:bodyPr>
          <a:lstStyle/>
          <a:p>
            <a:pPr eaLnBrk="0" hangingPunct="0"/>
            <a:r>
              <a:rPr lang="en-US" sz="3200" b="1" dirty="0" smtClean="0">
                <a:ea typeface="ＭＳ Ｐゴシック" charset="-128"/>
                <a:cs typeface="ＭＳ Ｐゴシック" charset="-128"/>
              </a:rPr>
              <a:t>Early Years </a:t>
            </a:r>
          </a:p>
          <a:p>
            <a:pPr eaLnBrk="0" hangingPunct="0"/>
            <a:r>
              <a:rPr lang="en-US" sz="3200" b="1" dirty="0" smtClean="0">
                <a:ea typeface="ＭＳ Ｐゴシック" charset="-128"/>
                <a:cs typeface="ＭＳ Ｐゴシック" charset="-128"/>
              </a:rPr>
              <a:t>Emotional Wellbeing Practitioner (EWP) </a:t>
            </a:r>
            <a:r>
              <a:rPr lang="en-US" sz="3200" b="1" dirty="0" err="1" smtClean="0">
                <a:ea typeface="ＭＳ Ｐゴシック" charset="-128"/>
                <a:cs typeface="ＭＳ Ｐゴシック" charset="-128"/>
              </a:rPr>
              <a:t>Programme</a:t>
            </a:r>
            <a:r>
              <a:rPr lang="en-US" sz="3200" b="1" dirty="0" smtClean="0">
                <a:ea typeface="ＭＳ Ｐゴシック" charset="-128"/>
                <a:cs typeface="ＭＳ Ｐゴシック" charset="-128"/>
              </a:rPr>
              <a:t> </a:t>
            </a:r>
          </a:p>
          <a:p>
            <a:pPr eaLnBrk="0" hangingPunct="0"/>
            <a:endParaRPr lang="en-US" sz="3200" b="1" dirty="0" smtClean="0">
              <a:ea typeface="ＭＳ Ｐゴシック" charset="-128"/>
              <a:cs typeface="ＭＳ Ｐゴシック" charset="-128"/>
            </a:endParaRPr>
          </a:p>
          <a:p>
            <a:pPr eaLnBrk="0" hangingPunct="0"/>
            <a:r>
              <a:rPr lang="en-US" sz="3200" b="1" dirty="0" smtClean="0">
                <a:ea typeface="ＭＳ Ｐゴシック" charset="-128"/>
                <a:cs typeface="ＭＳ Ｐゴシック" charset="-128"/>
              </a:rPr>
              <a:t>Day 3</a:t>
            </a:r>
            <a:endParaRPr lang="en-US" sz="3200" b="1" dirty="0">
              <a:ea typeface="ＭＳ Ｐゴシック" charset="-128"/>
              <a:cs typeface="ＭＳ Ｐゴシック" charset="-128"/>
            </a:endParaRPr>
          </a:p>
        </p:txBody>
      </p:sp>
      <p:sp>
        <p:nvSpPr>
          <p:cNvPr id="14340" name="Text Box 17"/>
          <p:cNvSpPr txBox="1">
            <a:spLocks noChangeArrowheads="1"/>
          </p:cNvSpPr>
          <p:nvPr/>
        </p:nvSpPr>
        <p:spPr bwMode="auto">
          <a:xfrm>
            <a:off x="457200" y="5334000"/>
            <a:ext cx="4105275" cy="862013"/>
          </a:xfrm>
          <a:prstGeom prst="rect">
            <a:avLst/>
          </a:prstGeom>
          <a:noFill/>
          <a:ln w="9525">
            <a:noFill/>
            <a:miter lim="800000"/>
            <a:headEnd/>
            <a:tailEnd/>
          </a:ln>
        </p:spPr>
        <p:txBody>
          <a:bodyPr>
            <a:prstTxWarp prst="textNoShape">
              <a:avLst/>
            </a:prstTxWarp>
            <a:spAutoFit/>
          </a:bodyPr>
          <a:lstStyle/>
          <a:p>
            <a:pPr>
              <a:spcBef>
                <a:spcPct val="50000"/>
              </a:spcBef>
            </a:pPr>
            <a:r>
              <a:rPr lang="en-GB" sz="2000" dirty="0"/>
              <a:t>Alison Crossick</a:t>
            </a:r>
          </a:p>
          <a:p>
            <a:pPr>
              <a:spcBef>
                <a:spcPct val="50000"/>
              </a:spcBef>
            </a:pPr>
            <a:r>
              <a:rPr lang="en-GB" sz="2000" dirty="0"/>
              <a:t>Senior Educational Psychologist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55650" y="908050"/>
            <a:ext cx="7699375" cy="1319213"/>
          </a:xfrm>
          <a:solidFill>
            <a:schemeClr val="bg1">
              <a:lumMod val="50000"/>
            </a:schemeClr>
          </a:solidFill>
        </p:spPr>
        <p:txBody>
          <a:bodyPr/>
          <a:lstStyle/>
          <a:p>
            <a:pPr eaLnBrk="1" hangingPunct="1">
              <a:defRPr/>
            </a:pPr>
            <a:r>
              <a:rPr lang="en-US" dirty="0" err="1">
                <a:solidFill>
                  <a:schemeClr val="bg1"/>
                </a:solidFill>
                <a:ea typeface="+mj-ea"/>
                <a:cs typeface="+mj-cs"/>
              </a:rPr>
              <a:t>Programme</a:t>
            </a:r>
            <a:r>
              <a:rPr lang="en-US" dirty="0">
                <a:solidFill>
                  <a:schemeClr val="bg1"/>
                </a:solidFill>
                <a:ea typeface="+mj-ea"/>
                <a:cs typeface="+mj-cs"/>
              </a:rPr>
              <a:t> for Day</a:t>
            </a:r>
            <a:r>
              <a:rPr lang="en-US" dirty="0" smtClean="0">
                <a:solidFill>
                  <a:schemeClr val="bg1"/>
                </a:solidFill>
                <a:ea typeface="+mj-ea"/>
                <a:cs typeface="+mj-cs"/>
              </a:rPr>
              <a:t> 3</a:t>
            </a:r>
            <a:endParaRPr lang="en-US" sz="3200" dirty="0">
              <a:solidFill>
                <a:schemeClr val="bg1"/>
              </a:solidFill>
              <a:ea typeface="+mj-ea"/>
              <a:cs typeface="+mj-cs"/>
            </a:endParaRPr>
          </a:p>
        </p:txBody>
      </p:sp>
      <p:sp>
        <p:nvSpPr>
          <p:cNvPr id="18435" name="Rectangle 3"/>
          <p:cNvSpPr>
            <a:spLocks noGrp="1" noChangeArrowheads="1"/>
          </p:cNvSpPr>
          <p:nvPr>
            <p:ph type="subTitle" idx="1"/>
          </p:nvPr>
        </p:nvSpPr>
        <p:spPr>
          <a:xfrm>
            <a:off x="611188" y="2276475"/>
            <a:ext cx="7824787" cy="4276725"/>
          </a:xfrm>
        </p:spPr>
        <p:txBody>
          <a:bodyPr/>
          <a:lstStyle/>
          <a:p>
            <a:pPr algn="l" eaLnBrk="1" hangingPunct="1">
              <a:lnSpc>
                <a:spcPct val="80000"/>
              </a:lnSpc>
            </a:pPr>
            <a:r>
              <a:rPr lang="en-US" sz="1600" dirty="0"/>
              <a:t>9.15am	</a:t>
            </a:r>
            <a:r>
              <a:rPr lang="en-US" sz="1600" dirty="0" smtClean="0"/>
              <a:t>	Re-cap + Activity</a:t>
            </a:r>
          </a:p>
          <a:p>
            <a:pPr algn="l" eaLnBrk="1" hangingPunct="1">
              <a:lnSpc>
                <a:spcPct val="80000"/>
              </a:lnSpc>
            </a:pPr>
            <a:r>
              <a:rPr lang="en-US" sz="1600" dirty="0" smtClean="0"/>
              <a:t>9.30am</a:t>
            </a:r>
            <a:r>
              <a:rPr lang="en-US" sz="1600" i="1" dirty="0"/>
              <a:t>	</a:t>
            </a:r>
            <a:r>
              <a:rPr lang="en-US" sz="1600" i="1" dirty="0" smtClean="0"/>
              <a:t>	</a:t>
            </a:r>
            <a:r>
              <a:rPr lang="en-US" sz="1600" dirty="0" smtClean="0"/>
              <a:t>Children’s developmental Progress</a:t>
            </a:r>
          </a:p>
          <a:p>
            <a:pPr algn="l" eaLnBrk="1" hangingPunct="1">
              <a:lnSpc>
                <a:spcPct val="80000"/>
              </a:lnSpc>
            </a:pPr>
            <a:r>
              <a:rPr lang="en-US" sz="1600" dirty="0" smtClean="0"/>
              <a:t>		Language &amp; Social Development (0-5 years)</a:t>
            </a:r>
          </a:p>
          <a:p>
            <a:pPr algn="l" eaLnBrk="1" hangingPunct="1">
              <a:lnSpc>
                <a:spcPct val="80000"/>
              </a:lnSpc>
            </a:pPr>
            <a:endParaRPr lang="en-US" sz="1600" dirty="0" smtClean="0"/>
          </a:p>
          <a:p>
            <a:pPr algn="l" eaLnBrk="1" hangingPunct="1">
              <a:lnSpc>
                <a:spcPct val="80000"/>
              </a:lnSpc>
            </a:pPr>
            <a:r>
              <a:rPr lang="en-US" sz="1600" dirty="0" smtClean="0"/>
              <a:t>10.00am		Working with parents</a:t>
            </a:r>
          </a:p>
          <a:p>
            <a:pPr algn="l" eaLnBrk="1" hangingPunct="1">
              <a:lnSpc>
                <a:spcPct val="80000"/>
              </a:lnSpc>
            </a:pPr>
            <a:r>
              <a:rPr lang="en-US" sz="1600" dirty="0" smtClean="0"/>
              <a:t>		Active listening activity</a:t>
            </a:r>
          </a:p>
          <a:p>
            <a:pPr algn="l" eaLnBrk="1" hangingPunct="1">
              <a:lnSpc>
                <a:spcPct val="80000"/>
              </a:lnSpc>
            </a:pPr>
            <a:r>
              <a:rPr lang="en-US" sz="1600" i="1" dirty="0" smtClean="0"/>
              <a:t>		</a:t>
            </a:r>
            <a:endParaRPr lang="en-US" sz="1600" dirty="0" smtClean="0"/>
          </a:p>
          <a:p>
            <a:pPr algn="l" eaLnBrk="1" hangingPunct="1">
              <a:lnSpc>
                <a:spcPct val="80000"/>
              </a:lnSpc>
            </a:pPr>
            <a:r>
              <a:rPr lang="en-US" sz="1600" dirty="0"/>
              <a:t>11.00am		</a:t>
            </a:r>
            <a:r>
              <a:rPr lang="en-US" sz="1600" i="1" dirty="0"/>
              <a:t>Break</a:t>
            </a:r>
          </a:p>
          <a:p>
            <a:pPr algn="l" eaLnBrk="1" hangingPunct="1">
              <a:lnSpc>
                <a:spcPct val="80000"/>
              </a:lnSpc>
            </a:pPr>
            <a:endParaRPr lang="en-US" sz="1600" dirty="0"/>
          </a:p>
          <a:p>
            <a:pPr algn="l" eaLnBrk="1" hangingPunct="1">
              <a:lnSpc>
                <a:spcPct val="80000"/>
              </a:lnSpc>
            </a:pPr>
            <a:r>
              <a:rPr lang="en-US" sz="1600" dirty="0"/>
              <a:t>11.15am	</a:t>
            </a:r>
            <a:r>
              <a:rPr lang="en-US" sz="1600" dirty="0" smtClean="0"/>
              <a:t>	Working with children with additional difficulties</a:t>
            </a:r>
          </a:p>
          <a:p>
            <a:pPr algn="l" eaLnBrk="1" hangingPunct="1">
              <a:lnSpc>
                <a:spcPct val="80000"/>
              </a:lnSpc>
            </a:pPr>
            <a:r>
              <a:rPr lang="en-US" sz="1600" dirty="0" smtClean="0"/>
              <a:t>		Autistic Spectrum Disorder</a:t>
            </a:r>
          </a:p>
          <a:p>
            <a:pPr algn="l" eaLnBrk="1" hangingPunct="1">
              <a:lnSpc>
                <a:spcPct val="80000"/>
              </a:lnSpc>
            </a:pPr>
            <a:endParaRPr lang="en-GB" sz="1600" dirty="0" smtClean="0"/>
          </a:p>
          <a:p>
            <a:pPr algn="l" eaLnBrk="1" hangingPunct="1">
              <a:lnSpc>
                <a:spcPct val="80000"/>
              </a:lnSpc>
            </a:pPr>
            <a:r>
              <a:rPr lang="en-GB" sz="1600" dirty="0" smtClean="0"/>
              <a:t>12.45pm</a:t>
            </a:r>
            <a:r>
              <a:rPr lang="en-GB" sz="1600" dirty="0"/>
              <a:t>		</a:t>
            </a:r>
            <a:r>
              <a:rPr lang="en-GB" sz="1600" i="1" dirty="0"/>
              <a:t>Lunch</a:t>
            </a:r>
          </a:p>
          <a:p>
            <a:pPr algn="l" eaLnBrk="1" hangingPunct="1">
              <a:lnSpc>
                <a:spcPct val="80000"/>
              </a:lnSpc>
            </a:pPr>
            <a:endParaRPr lang="en-GB" sz="1600" dirty="0"/>
          </a:p>
          <a:p>
            <a:pPr algn="l" eaLnBrk="1" hangingPunct="1">
              <a:lnSpc>
                <a:spcPct val="80000"/>
              </a:lnSpc>
            </a:pPr>
            <a:r>
              <a:rPr lang="en-GB" sz="1600" dirty="0" smtClean="0"/>
              <a:t>13.30pm</a:t>
            </a:r>
            <a:r>
              <a:rPr lang="en-GB" sz="1600" dirty="0"/>
              <a:t>	</a:t>
            </a:r>
            <a:r>
              <a:rPr lang="en-GB" sz="1600" dirty="0" smtClean="0"/>
              <a:t>	Discussion of your observation</a:t>
            </a:r>
          </a:p>
          <a:p>
            <a:pPr algn="l" eaLnBrk="1" hangingPunct="1">
              <a:lnSpc>
                <a:spcPct val="80000"/>
              </a:lnSpc>
            </a:pPr>
            <a:r>
              <a:rPr lang="en-GB" sz="1600" dirty="0" smtClean="0"/>
              <a:t>14.15pm</a:t>
            </a:r>
            <a:r>
              <a:rPr lang="en-GB" sz="1600" dirty="0"/>
              <a:t>	</a:t>
            </a:r>
            <a:r>
              <a:rPr lang="en-GB" sz="1600" dirty="0" smtClean="0"/>
              <a:t>	What it means to be an EWP</a:t>
            </a:r>
          </a:p>
          <a:p>
            <a:pPr algn="l" eaLnBrk="1" hangingPunct="1">
              <a:lnSpc>
                <a:spcPct val="80000"/>
              </a:lnSpc>
            </a:pPr>
            <a:r>
              <a:rPr lang="en-US" sz="1600" dirty="0" smtClean="0"/>
              <a:t>14.50pm</a:t>
            </a:r>
            <a:r>
              <a:rPr lang="en-US" sz="1600" dirty="0"/>
              <a:t>	</a:t>
            </a:r>
            <a:r>
              <a:rPr lang="en-US" sz="1600" dirty="0" smtClean="0"/>
              <a:t>	Plenary</a:t>
            </a:r>
          </a:p>
          <a:p>
            <a:pPr algn="l" eaLnBrk="1" hangingPunct="1">
              <a:lnSpc>
                <a:spcPct val="80000"/>
              </a:lnSpc>
            </a:pPr>
            <a:endParaRPr lang="en-US" sz="1000" i="1" dirty="0"/>
          </a:p>
          <a:p>
            <a:pPr algn="l" eaLnBrk="1" hangingPunct="1">
              <a:lnSpc>
                <a:spcPct val="80000"/>
              </a:lnSpc>
            </a:pPr>
            <a:endParaRPr lang="en-US" sz="1000" i="1" dirty="0"/>
          </a:p>
          <a:p>
            <a:pPr algn="l" eaLnBrk="1" hangingPunct="1">
              <a:lnSpc>
                <a:spcPct val="80000"/>
              </a:lnSpc>
            </a:pPr>
            <a:r>
              <a:rPr lang="en-US" sz="800" i="1" dirty="0"/>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Activity</a:t>
            </a:r>
            <a:endParaRPr lang="en-US" dirty="0"/>
          </a:p>
        </p:txBody>
      </p:sp>
      <p:sp>
        <p:nvSpPr>
          <p:cNvPr id="3" name="Content Placeholder 2"/>
          <p:cNvSpPr>
            <a:spLocks noGrp="1"/>
          </p:cNvSpPr>
          <p:nvPr>
            <p:ph idx="1"/>
          </p:nvPr>
        </p:nvSpPr>
        <p:spPr>
          <a:xfrm>
            <a:off x="1219200" y="1828800"/>
            <a:ext cx="8229600" cy="4525963"/>
          </a:xfrm>
        </p:spPr>
        <p:txBody>
          <a:bodyPr/>
          <a:lstStyle/>
          <a:p>
            <a:pPr>
              <a:buNone/>
            </a:pPr>
            <a:r>
              <a:rPr lang="en-US" dirty="0" smtClean="0"/>
              <a:t>Make a human chain from:-</a:t>
            </a:r>
          </a:p>
          <a:p>
            <a:pPr>
              <a:buFont typeface="Arial"/>
              <a:buChar char="•"/>
            </a:pPr>
            <a:r>
              <a:rPr lang="en-US" sz="2400" dirty="0" smtClean="0"/>
              <a:t>tallest to smallest</a:t>
            </a:r>
          </a:p>
          <a:p>
            <a:pPr>
              <a:buFont typeface="Arial"/>
              <a:buChar char="•"/>
            </a:pPr>
            <a:r>
              <a:rPr lang="en-US" sz="2400" dirty="0" smtClean="0"/>
              <a:t>oldest to youngest</a:t>
            </a:r>
          </a:p>
          <a:p>
            <a:pPr>
              <a:buNone/>
            </a:pPr>
            <a:endParaRPr lang="en-US" dirty="0" smtClean="0"/>
          </a:p>
          <a:p>
            <a:pPr>
              <a:buNone/>
            </a:pPr>
            <a:r>
              <a:rPr lang="en-US" dirty="0" smtClean="0"/>
              <a:t>Personal construct line –</a:t>
            </a:r>
          </a:p>
          <a:p>
            <a:pPr>
              <a:buFont typeface="Arial"/>
              <a:buChar char="•"/>
            </a:pPr>
            <a:r>
              <a:rPr lang="en-US" sz="2400" dirty="0" smtClean="0"/>
              <a:t>Confident – Timid</a:t>
            </a:r>
          </a:p>
          <a:p>
            <a:pPr>
              <a:buFont typeface="Arial"/>
              <a:buChar char="•"/>
            </a:pPr>
            <a:r>
              <a:rPr lang="en-US" sz="2400" dirty="0" smtClean="0"/>
              <a:t>Positive - Negative</a:t>
            </a:r>
          </a:p>
          <a:p>
            <a:pPr>
              <a:buFont typeface="Arial"/>
              <a:buChar char="•"/>
            </a:pPr>
            <a:r>
              <a:rPr lang="en-US" sz="2400" dirty="0" smtClean="0"/>
              <a:t>Academic - Practical</a:t>
            </a:r>
          </a:p>
          <a:p>
            <a:pPr>
              <a:buNone/>
            </a:pPr>
            <a:endParaRPr lang="en-US" dirty="0" smtClean="0"/>
          </a:p>
          <a:p>
            <a:pPr>
              <a:buFont typeface="Arial"/>
              <a:buChar char="•"/>
            </a:pPr>
            <a:endParaRPr lang="en-US" dirty="0" smtClean="0"/>
          </a:p>
          <a:p>
            <a:pPr>
              <a:buFont typeface="Arial"/>
              <a:buChar char="•"/>
            </a:pPr>
            <a:endParaRPr lang="en-US"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057400"/>
            <a:ext cx="8226425" cy="1736725"/>
          </a:xfrm>
        </p:spPr>
        <p:txBody>
          <a:bodyPr/>
          <a:lstStyle/>
          <a:p>
            <a:pPr eaLnBrk="1" hangingPunct="1"/>
            <a:r>
              <a:rPr lang="en-GB" sz="3600" dirty="0" smtClean="0"/>
              <a:t>Children’s developmental progress</a:t>
            </a:r>
            <a:endParaRPr lang="en-US" sz="3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sz="3600" dirty="0" smtClean="0"/>
              <a:t>Children’s Developmental Progress</a:t>
            </a:r>
            <a:endParaRPr lang="en-US" sz="3600" dirty="0"/>
          </a:p>
        </p:txBody>
      </p:sp>
      <p:sp>
        <p:nvSpPr>
          <p:cNvPr id="3" name="Content Placeholder 2"/>
          <p:cNvSpPr>
            <a:spLocks noGrp="1"/>
          </p:cNvSpPr>
          <p:nvPr>
            <p:ph idx="1"/>
          </p:nvPr>
        </p:nvSpPr>
        <p:spPr/>
        <p:txBody>
          <a:bodyPr/>
          <a:lstStyle/>
          <a:p>
            <a:r>
              <a:rPr lang="en-US" dirty="0" smtClean="0"/>
              <a:t>Language understanding</a:t>
            </a:r>
          </a:p>
          <a:p>
            <a:pPr>
              <a:buNone/>
            </a:pPr>
            <a:endParaRPr lang="en-US" dirty="0" smtClean="0"/>
          </a:p>
          <a:p>
            <a:r>
              <a:rPr lang="en-US" dirty="0" smtClean="0"/>
              <a:t>Expressive speech &amp; language development</a:t>
            </a:r>
          </a:p>
          <a:p>
            <a:pPr>
              <a:buNone/>
            </a:pPr>
            <a:endParaRPr lang="en-US" dirty="0" smtClean="0"/>
          </a:p>
          <a:p>
            <a:r>
              <a:rPr lang="en-US" dirty="0" smtClean="0"/>
              <a:t>Key stages in social development</a:t>
            </a:r>
          </a:p>
          <a:p>
            <a:endParaRPr lang="en-US" dirty="0" smtClean="0"/>
          </a:p>
          <a:p>
            <a:pPr>
              <a:buNone/>
            </a:pPr>
            <a:r>
              <a:rPr lang="en-US" sz="2400" dirty="0" smtClean="0"/>
              <a:t>Handout</a:t>
            </a: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sz="3600" dirty="0" smtClean="0"/>
              <a:t>Don’t run before you can walk…</a:t>
            </a:r>
            <a:endParaRPr lang="en-US" sz="3600" dirty="0"/>
          </a:p>
        </p:txBody>
      </p:sp>
      <p:sp>
        <p:nvSpPr>
          <p:cNvPr id="6" name="TextBox 5"/>
          <p:cNvSpPr txBox="1"/>
          <p:nvPr/>
        </p:nvSpPr>
        <p:spPr>
          <a:xfrm>
            <a:off x="533400" y="2286000"/>
            <a:ext cx="2133600" cy="738664"/>
          </a:xfrm>
          <a:prstGeom prst="rect">
            <a:avLst/>
          </a:prstGeom>
          <a:solidFill>
            <a:schemeClr val="accent6">
              <a:lumMod val="20000"/>
              <a:lumOff val="80000"/>
            </a:schemeClr>
          </a:solidFill>
        </p:spPr>
        <p:txBody>
          <a:bodyPr wrap="square" rtlCol="0">
            <a:spAutoFit/>
          </a:bodyPr>
          <a:lstStyle/>
          <a:p>
            <a:pPr algn="ctr"/>
            <a:r>
              <a:rPr lang="en-US" sz="1400" dirty="0" smtClean="0"/>
              <a:t>Head moves with eyes from side to side</a:t>
            </a:r>
          </a:p>
          <a:p>
            <a:pPr algn="ctr"/>
            <a:r>
              <a:rPr lang="en-US" sz="1400" dirty="0" smtClean="0"/>
              <a:t>6-8 weeks</a:t>
            </a:r>
            <a:endParaRPr lang="en-US" sz="1400" dirty="0"/>
          </a:p>
        </p:txBody>
      </p:sp>
      <p:sp>
        <p:nvSpPr>
          <p:cNvPr id="7" name="TextBox 6"/>
          <p:cNvSpPr txBox="1"/>
          <p:nvPr/>
        </p:nvSpPr>
        <p:spPr>
          <a:xfrm>
            <a:off x="4953000" y="1676400"/>
            <a:ext cx="1828800" cy="738664"/>
          </a:xfrm>
          <a:prstGeom prst="rect">
            <a:avLst/>
          </a:prstGeom>
          <a:solidFill>
            <a:schemeClr val="accent6">
              <a:lumMod val="20000"/>
              <a:lumOff val="80000"/>
            </a:schemeClr>
          </a:solidFill>
        </p:spPr>
        <p:txBody>
          <a:bodyPr wrap="square" rtlCol="0">
            <a:spAutoFit/>
          </a:bodyPr>
          <a:lstStyle/>
          <a:p>
            <a:pPr algn="ctr"/>
            <a:r>
              <a:rPr lang="en-US" sz="1400" dirty="0" smtClean="0"/>
              <a:t>Perceives depth and distance visually</a:t>
            </a:r>
          </a:p>
          <a:p>
            <a:pPr algn="ctr"/>
            <a:r>
              <a:rPr lang="en-US" sz="1400" dirty="0" smtClean="0"/>
              <a:t>4-5 months</a:t>
            </a:r>
            <a:endParaRPr lang="en-US" sz="1400" dirty="0"/>
          </a:p>
        </p:txBody>
      </p:sp>
      <p:sp>
        <p:nvSpPr>
          <p:cNvPr id="8" name="TextBox 7"/>
          <p:cNvSpPr txBox="1"/>
          <p:nvPr/>
        </p:nvSpPr>
        <p:spPr>
          <a:xfrm>
            <a:off x="7239000" y="2362200"/>
            <a:ext cx="1676400" cy="954107"/>
          </a:xfrm>
          <a:prstGeom prst="rect">
            <a:avLst/>
          </a:prstGeom>
          <a:solidFill>
            <a:schemeClr val="accent6">
              <a:lumMod val="20000"/>
              <a:lumOff val="80000"/>
            </a:schemeClr>
          </a:solidFill>
        </p:spPr>
        <p:txBody>
          <a:bodyPr wrap="square" rtlCol="0">
            <a:spAutoFit/>
          </a:bodyPr>
          <a:lstStyle/>
          <a:p>
            <a:pPr algn="ctr"/>
            <a:r>
              <a:rPr lang="en-US" sz="1400" dirty="0" smtClean="0"/>
              <a:t>Well coordinated eye-hand movements</a:t>
            </a:r>
          </a:p>
          <a:p>
            <a:pPr algn="ctr"/>
            <a:r>
              <a:rPr lang="en-US" sz="1400" dirty="0" smtClean="0"/>
              <a:t>7 months</a:t>
            </a:r>
            <a:endParaRPr lang="en-US" sz="1400" dirty="0"/>
          </a:p>
        </p:txBody>
      </p:sp>
      <p:sp>
        <p:nvSpPr>
          <p:cNvPr id="9" name="TextBox 8"/>
          <p:cNvSpPr txBox="1"/>
          <p:nvPr/>
        </p:nvSpPr>
        <p:spPr>
          <a:xfrm>
            <a:off x="5029200" y="5334000"/>
            <a:ext cx="2133600" cy="954107"/>
          </a:xfrm>
          <a:prstGeom prst="rect">
            <a:avLst/>
          </a:prstGeom>
          <a:solidFill>
            <a:schemeClr val="accent6">
              <a:lumMod val="20000"/>
              <a:lumOff val="80000"/>
            </a:schemeClr>
          </a:solidFill>
        </p:spPr>
        <p:txBody>
          <a:bodyPr wrap="square" rtlCol="0">
            <a:spAutoFit/>
          </a:bodyPr>
          <a:lstStyle/>
          <a:p>
            <a:pPr algn="ctr"/>
            <a:r>
              <a:rPr lang="en-US" sz="1400" dirty="0" smtClean="0"/>
              <a:t>Index finger approach with sharp visual focus &amp; pincer grasp</a:t>
            </a:r>
          </a:p>
          <a:p>
            <a:pPr algn="ctr"/>
            <a:r>
              <a:rPr lang="en-US" sz="1400" dirty="0" smtClean="0"/>
              <a:t>9 months</a:t>
            </a:r>
            <a:endParaRPr lang="en-US" sz="1400" dirty="0"/>
          </a:p>
        </p:txBody>
      </p:sp>
      <p:sp>
        <p:nvSpPr>
          <p:cNvPr id="10" name="TextBox 9"/>
          <p:cNvSpPr txBox="1"/>
          <p:nvPr/>
        </p:nvSpPr>
        <p:spPr>
          <a:xfrm>
            <a:off x="3276600" y="5334000"/>
            <a:ext cx="1219200" cy="990600"/>
          </a:xfrm>
          <a:prstGeom prst="rect">
            <a:avLst/>
          </a:prstGeom>
          <a:solidFill>
            <a:schemeClr val="accent6">
              <a:lumMod val="20000"/>
              <a:lumOff val="80000"/>
            </a:schemeClr>
          </a:solidFill>
        </p:spPr>
        <p:txBody>
          <a:bodyPr wrap="square" rtlCol="0">
            <a:spAutoFit/>
          </a:bodyPr>
          <a:lstStyle/>
          <a:p>
            <a:pPr algn="ctr"/>
            <a:r>
              <a:rPr lang="en-US" sz="1400" dirty="0" smtClean="0"/>
              <a:t>Mature grasp &amp; release</a:t>
            </a:r>
          </a:p>
          <a:p>
            <a:pPr algn="ctr"/>
            <a:r>
              <a:rPr lang="en-US" sz="1400" dirty="0" smtClean="0"/>
              <a:t>12 months</a:t>
            </a:r>
            <a:endParaRPr lang="en-US" sz="1400" dirty="0"/>
          </a:p>
        </p:txBody>
      </p:sp>
      <p:sp>
        <p:nvSpPr>
          <p:cNvPr id="11" name="TextBox 10"/>
          <p:cNvSpPr txBox="1"/>
          <p:nvPr/>
        </p:nvSpPr>
        <p:spPr>
          <a:xfrm>
            <a:off x="2209800" y="4343400"/>
            <a:ext cx="1752600" cy="523220"/>
          </a:xfrm>
          <a:prstGeom prst="rect">
            <a:avLst/>
          </a:prstGeom>
          <a:solidFill>
            <a:schemeClr val="accent6">
              <a:lumMod val="20000"/>
              <a:lumOff val="80000"/>
            </a:schemeClr>
          </a:solidFill>
        </p:spPr>
        <p:txBody>
          <a:bodyPr wrap="square" rtlCol="0">
            <a:spAutoFit/>
          </a:bodyPr>
          <a:lstStyle/>
          <a:p>
            <a:pPr algn="ctr"/>
            <a:r>
              <a:rPr lang="en-US" sz="1400" dirty="0" smtClean="0"/>
              <a:t>Representation, memory &amp; planning</a:t>
            </a:r>
            <a:endParaRPr lang="en-US" sz="1400" dirty="0"/>
          </a:p>
        </p:txBody>
      </p:sp>
      <p:sp>
        <p:nvSpPr>
          <p:cNvPr id="12" name="TextBox 11"/>
          <p:cNvSpPr txBox="1"/>
          <p:nvPr/>
        </p:nvSpPr>
        <p:spPr>
          <a:xfrm>
            <a:off x="609600" y="5334000"/>
            <a:ext cx="2133600" cy="954107"/>
          </a:xfrm>
          <a:prstGeom prst="rect">
            <a:avLst/>
          </a:prstGeom>
          <a:solidFill>
            <a:schemeClr val="accent6">
              <a:lumMod val="20000"/>
              <a:lumOff val="80000"/>
            </a:schemeClr>
          </a:solidFill>
        </p:spPr>
        <p:txBody>
          <a:bodyPr wrap="square" rtlCol="0">
            <a:spAutoFit/>
          </a:bodyPr>
          <a:lstStyle/>
          <a:p>
            <a:pPr algn="ctr"/>
            <a:r>
              <a:rPr lang="en-US" sz="1400" dirty="0" smtClean="0"/>
              <a:t>Visually scans &amp; plans actions, e.g. shape matching</a:t>
            </a:r>
          </a:p>
          <a:p>
            <a:pPr algn="ctr"/>
            <a:r>
              <a:rPr lang="en-US" sz="1400" dirty="0" smtClean="0"/>
              <a:t>2 years</a:t>
            </a:r>
            <a:endParaRPr lang="en-US" sz="1400" dirty="0"/>
          </a:p>
        </p:txBody>
      </p:sp>
      <p:sp>
        <p:nvSpPr>
          <p:cNvPr id="13" name="TextBox 12"/>
          <p:cNvSpPr txBox="1"/>
          <p:nvPr/>
        </p:nvSpPr>
        <p:spPr>
          <a:xfrm>
            <a:off x="2971800" y="2286000"/>
            <a:ext cx="1524000" cy="738664"/>
          </a:xfrm>
          <a:prstGeom prst="rect">
            <a:avLst/>
          </a:prstGeom>
          <a:solidFill>
            <a:schemeClr val="accent6">
              <a:lumMod val="20000"/>
              <a:lumOff val="80000"/>
            </a:schemeClr>
          </a:solidFill>
        </p:spPr>
        <p:txBody>
          <a:bodyPr wrap="square" rtlCol="0">
            <a:spAutoFit/>
          </a:bodyPr>
          <a:lstStyle/>
          <a:p>
            <a:pPr algn="ctr"/>
            <a:r>
              <a:rPr lang="en-US" sz="1400" dirty="0" smtClean="0"/>
              <a:t>Watches own hands</a:t>
            </a:r>
          </a:p>
          <a:p>
            <a:pPr algn="ctr"/>
            <a:r>
              <a:rPr lang="en-US" sz="1400" dirty="0" smtClean="0"/>
              <a:t>3 months</a:t>
            </a:r>
            <a:endParaRPr lang="en-US" sz="1400" dirty="0"/>
          </a:p>
        </p:txBody>
      </p:sp>
      <p:sp>
        <p:nvSpPr>
          <p:cNvPr id="14" name="TextBox 13"/>
          <p:cNvSpPr txBox="1"/>
          <p:nvPr/>
        </p:nvSpPr>
        <p:spPr>
          <a:xfrm>
            <a:off x="4953000" y="3200400"/>
            <a:ext cx="1828800" cy="523220"/>
          </a:xfrm>
          <a:prstGeom prst="rect">
            <a:avLst/>
          </a:prstGeom>
          <a:solidFill>
            <a:schemeClr val="accent6">
              <a:lumMod val="20000"/>
              <a:lumOff val="80000"/>
            </a:schemeClr>
          </a:solidFill>
        </p:spPr>
        <p:txBody>
          <a:bodyPr wrap="square" rtlCol="0">
            <a:spAutoFit/>
          </a:bodyPr>
          <a:lstStyle/>
          <a:p>
            <a:pPr algn="ctr"/>
            <a:r>
              <a:rPr lang="en-US" sz="1400" dirty="0" smtClean="0"/>
              <a:t>Reaches for objects</a:t>
            </a:r>
          </a:p>
          <a:p>
            <a:pPr algn="ctr"/>
            <a:r>
              <a:rPr lang="en-US" sz="1400" dirty="0" smtClean="0"/>
              <a:t>5 months</a:t>
            </a:r>
            <a:endParaRPr lang="en-US" sz="1400" dirty="0"/>
          </a:p>
        </p:txBody>
      </p:sp>
      <p:cxnSp>
        <p:nvCxnSpPr>
          <p:cNvPr id="16" name="Straight Arrow Connector 15"/>
          <p:cNvCxnSpPr>
            <a:stCxn id="6" idx="3"/>
            <a:endCxn id="13" idx="1"/>
          </p:cNvCxnSpPr>
          <p:nvPr/>
        </p:nvCxnSpPr>
        <p:spPr>
          <a:xfrm>
            <a:off x="2667000" y="2655332"/>
            <a:ext cx="3048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13" idx="3"/>
            <a:endCxn id="7" idx="1"/>
          </p:cNvCxnSpPr>
          <p:nvPr/>
        </p:nvCxnSpPr>
        <p:spPr>
          <a:xfrm flipV="1">
            <a:off x="4495800" y="2045732"/>
            <a:ext cx="457200" cy="609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7" idx="2"/>
            <a:endCxn id="14" idx="0"/>
          </p:cNvCxnSpPr>
          <p:nvPr/>
        </p:nvCxnSpPr>
        <p:spPr>
          <a:xfrm rot="5400000">
            <a:off x="5474732" y="2807732"/>
            <a:ext cx="78533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4" idx="3"/>
            <a:endCxn id="8" idx="1"/>
          </p:cNvCxnSpPr>
          <p:nvPr/>
        </p:nvCxnSpPr>
        <p:spPr>
          <a:xfrm flipV="1">
            <a:off x="6781800" y="2839254"/>
            <a:ext cx="457200" cy="6227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7" idx="3"/>
            <a:endCxn id="8" idx="1"/>
          </p:cNvCxnSpPr>
          <p:nvPr/>
        </p:nvCxnSpPr>
        <p:spPr>
          <a:xfrm>
            <a:off x="6781800" y="2045732"/>
            <a:ext cx="457200" cy="79352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8" idx="2"/>
          </p:cNvCxnSpPr>
          <p:nvPr/>
        </p:nvCxnSpPr>
        <p:spPr>
          <a:xfrm rot="5400000">
            <a:off x="6573053" y="3829854"/>
            <a:ext cx="2017695" cy="990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9" idx="1"/>
            <a:endCxn id="10" idx="3"/>
          </p:cNvCxnSpPr>
          <p:nvPr/>
        </p:nvCxnSpPr>
        <p:spPr>
          <a:xfrm rot="10800000" flipV="1">
            <a:off x="4495800" y="5811054"/>
            <a:ext cx="533400" cy="182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0" idx="1"/>
            <a:endCxn id="12" idx="3"/>
          </p:cNvCxnSpPr>
          <p:nvPr/>
        </p:nvCxnSpPr>
        <p:spPr>
          <a:xfrm rot="10800000">
            <a:off x="2743200" y="5811054"/>
            <a:ext cx="533400" cy="182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1" idx="2"/>
          </p:cNvCxnSpPr>
          <p:nvPr/>
        </p:nvCxnSpPr>
        <p:spPr>
          <a:xfrm rot="5400000">
            <a:off x="2566660" y="5347960"/>
            <a:ext cx="1000780" cy="38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21" name="Picture 20"/>
          <p:cNvPicPr/>
          <p:nvPr/>
        </p:nvPicPr>
        <p:blipFill>
          <a:blip r:embed="rId2"/>
          <a:srcRect/>
          <a:stretch>
            <a:fillRect/>
          </a:stretch>
        </p:blipFill>
        <p:spPr bwMode="auto">
          <a:xfrm>
            <a:off x="228600" y="3429000"/>
            <a:ext cx="1808480" cy="180848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057400"/>
            <a:ext cx="8226425" cy="1736725"/>
          </a:xfrm>
        </p:spPr>
        <p:txBody>
          <a:bodyPr/>
          <a:lstStyle/>
          <a:p>
            <a:pPr eaLnBrk="1" hangingPunct="1"/>
            <a:r>
              <a:rPr lang="en-GB" sz="3600" dirty="0" smtClean="0"/>
              <a:t>Listening to parents</a:t>
            </a:r>
            <a:endParaRPr lang="en-US" sz="3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Working with Parents</a:t>
            </a:r>
            <a:endParaRPr lang="en-US" dirty="0"/>
          </a:p>
        </p:txBody>
      </p:sp>
      <p:sp>
        <p:nvSpPr>
          <p:cNvPr id="3" name="Content Placeholder 2"/>
          <p:cNvSpPr>
            <a:spLocks noGrp="1"/>
          </p:cNvSpPr>
          <p:nvPr>
            <p:ph idx="1"/>
          </p:nvPr>
        </p:nvSpPr>
        <p:spPr>
          <a:xfrm>
            <a:off x="533400" y="1828800"/>
            <a:ext cx="8229600" cy="4525963"/>
          </a:xfrm>
        </p:spPr>
        <p:txBody>
          <a:bodyPr/>
          <a:lstStyle/>
          <a:p>
            <a:r>
              <a:rPr lang="en-US" dirty="0" smtClean="0"/>
              <a:t>Finding time for parents…</a:t>
            </a:r>
          </a:p>
          <a:p>
            <a:pPr>
              <a:buNone/>
            </a:pPr>
            <a:endParaRPr lang="en-US" dirty="0" smtClean="0"/>
          </a:p>
          <a:p>
            <a:pPr lvl="1"/>
            <a:r>
              <a:rPr lang="en-US" dirty="0" smtClean="0"/>
              <a:t>Can you find a safe space to talk?</a:t>
            </a:r>
          </a:p>
          <a:p>
            <a:pPr lvl="1"/>
            <a:r>
              <a:rPr lang="en-US" dirty="0" smtClean="0"/>
              <a:t>Can you make the time?</a:t>
            </a:r>
          </a:p>
          <a:p>
            <a:pPr lvl="1"/>
            <a:r>
              <a:rPr lang="en-US" dirty="0" smtClean="0"/>
              <a:t>Does it matter?</a:t>
            </a:r>
          </a:p>
          <a:p>
            <a:pPr lvl="1"/>
            <a:r>
              <a:rPr lang="en-US" dirty="0" smtClean="0"/>
              <a:t>Why is Active Listening so important?</a:t>
            </a:r>
          </a:p>
          <a:p>
            <a:pPr lvl="1"/>
            <a:endParaRPr lang="en-US" dirty="0" smtClean="0"/>
          </a:p>
          <a:p>
            <a:pPr lvl="1">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685800" y="533400"/>
            <a:ext cx="7772400" cy="1143000"/>
          </a:xfrm>
        </p:spPr>
        <p:txBody>
          <a:bodyPr/>
          <a:lstStyle/>
          <a:p>
            <a:r>
              <a:rPr lang="en-GB" sz="3600"/>
              <a:t>Attending and Non-attending – </a:t>
            </a:r>
            <a:br>
              <a:rPr lang="en-GB" sz="3600"/>
            </a:br>
            <a:r>
              <a:rPr lang="en-GB" sz="3600"/>
              <a:t>Why are Feelings Important?</a:t>
            </a:r>
            <a:endParaRPr lang="en-GB"/>
          </a:p>
        </p:txBody>
      </p:sp>
      <p:sp>
        <p:nvSpPr>
          <p:cNvPr id="65539" name="Rectangle 3"/>
          <p:cNvSpPr>
            <a:spLocks noGrp="1" noChangeArrowheads="1"/>
          </p:cNvSpPr>
          <p:nvPr>
            <p:ph type="body" idx="4294967295"/>
          </p:nvPr>
        </p:nvSpPr>
        <p:spPr>
          <a:xfrm>
            <a:off x="990600" y="1893888"/>
            <a:ext cx="7772400" cy="4114800"/>
          </a:xfrm>
        </p:spPr>
        <p:txBody>
          <a:bodyPr/>
          <a:lstStyle/>
          <a:p>
            <a:pPr>
              <a:lnSpc>
                <a:spcPct val="90000"/>
              </a:lnSpc>
            </a:pPr>
            <a:r>
              <a:rPr lang="en-GB" sz="2800"/>
              <a:t>Activity (in pairs) </a:t>
            </a:r>
          </a:p>
          <a:p>
            <a:pPr>
              <a:lnSpc>
                <a:spcPct val="90000"/>
              </a:lnSpc>
              <a:buFontTx/>
              <a:buNone/>
            </a:pPr>
            <a:r>
              <a:rPr lang="en-GB" sz="2800"/>
              <a:t>	Talking and not listening – not attending! </a:t>
            </a:r>
          </a:p>
          <a:p>
            <a:pPr>
              <a:lnSpc>
                <a:spcPct val="90000"/>
              </a:lnSpc>
              <a:buFontTx/>
              <a:buNone/>
            </a:pPr>
            <a:r>
              <a:rPr lang="en-GB" sz="2800"/>
              <a:t>	Do this for one minute and then reverse roles. </a:t>
            </a:r>
          </a:p>
          <a:p>
            <a:pPr>
              <a:lnSpc>
                <a:spcPct val="90000"/>
              </a:lnSpc>
            </a:pPr>
            <a:r>
              <a:rPr lang="en-GB" sz="2800"/>
              <a:t>Reflect on:</a:t>
            </a:r>
          </a:p>
          <a:p>
            <a:pPr lvl="1">
              <a:lnSpc>
                <a:spcPct val="90000"/>
              </a:lnSpc>
              <a:buFont typeface="Arial" charset="0"/>
              <a:buChar char="•"/>
            </a:pPr>
            <a:r>
              <a:rPr lang="en-US" sz="2400"/>
              <a:t>t</a:t>
            </a:r>
            <a:r>
              <a:rPr lang="en-GB" sz="2400"/>
              <a:t>he feelings you had as the speaker</a:t>
            </a:r>
          </a:p>
          <a:p>
            <a:pPr lvl="1">
              <a:lnSpc>
                <a:spcPct val="90000"/>
              </a:lnSpc>
              <a:buFont typeface="Arial" charset="0"/>
              <a:buChar char="•"/>
            </a:pPr>
            <a:r>
              <a:rPr lang="en-GB" sz="2400"/>
              <a:t>what happens when we do not feel we are being listened to</a:t>
            </a:r>
          </a:p>
          <a:p>
            <a:pPr lvl="1">
              <a:lnSpc>
                <a:spcPct val="90000"/>
              </a:lnSpc>
              <a:buFont typeface="Arial" charset="0"/>
              <a:buChar char="•"/>
            </a:pPr>
            <a:r>
              <a:rPr lang="en-US" sz="2400"/>
              <a:t>h</a:t>
            </a:r>
            <a:r>
              <a:rPr lang="en-GB" sz="2400"/>
              <a:t>ow our behaviour changes.</a:t>
            </a:r>
          </a:p>
          <a:p>
            <a:pPr>
              <a:lnSpc>
                <a:spcPct val="90000"/>
              </a:lnSpc>
            </a:pPr>
            <a:r>
              <a:rPr lang="en-GB"/>
              <a:t>What would you do differently?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685800" y="403225"/>
            <a:ext cx="7772400" cy="1143000"/>
          </a:xfrm>
        </p:spPr>
        <p:txBody>
          <a:bodyPr/>
          <a:lstStyle/>
          <a:p>
            <a:r>
              <a:rPr lang="en-GB" sz="3600"/>
              <a:t>Attending and Actively Receiving</a:t>
            </a:r>
            <a:endParaRPr lang="en-US"/>
          </a:p>
        </p:txBody>
      </p:sp>
      <p:sp>
        <p:nvSpPr>
          <p:cNvPr id="70659" name="Rectangle 3"/>
          <p:cNvSpPr>
            <a:spLocks noGrp="1" noChangeArrowheads="1"/>
          </p:cNvSpPr>
          <p:nvPr>
            <p:ph type="body" idx="4294967295"/>
          </p:nvPr>
        </p:nvSpPr>
        <p:spPr>
          <a:xfrm>
            <a:off x="990600" y="1622425"/>
            <a:ext cx="7772400" cy="4464050"/>
          </a:xfrm>
        </p:spPr>
        <p:txBody>
          <a:bodyPr/>
          <a:lstStyle/>
          <a:p>
            <a:pPr>
              <a:lnSpc>
                <a:spcPct val="90000"/>
              </a:lnSpc>
            </a:pPr>
            <a:r>
              <a:rPr lang="en-GB" sz="2800" dirty="0"/>
              <a:t>Do you listen carefully to what the</a:t>
            </a:r>
            <a:r>
              <a:rPr lang="en-GB" sz="2800" dirty="0" smtClean="0"/>
              <a:t> parent </a:t>
            </a:r>
            <a:r>
              <a:rPr lang="en-GB" sz="2800" dirty="0"/>
              <a:t>says and what their body language is conveying, or are you rehearsing your reply?</a:t>
            </a:r>
          </a:p>
          <a:p>
            <a:pPr>
              <a:lnSpc>
                <a:spcPct val="90000"/>
              </a:lnSpc>
            </a:pPr>
            <a:r>
              <a:rPr lang="en-GB" sz="2800" dirty="0"/>
              <a:t>Do you listen carefully to the</a:t>
            </a:r>
            <a:r>
              <a:rPr lang="en-GB" sz="2800" dirty="0" smtClean="0"/>
              <a:t> parent’s </a:t>
            </a:r>
            <a:r>
              <a:rPr lang="en-GB" sz="2800" dirty="0"/>
              <a:t>point of view, even when you sense this point of view needs to be challenged?</a:t>
            </a:r>
          </a:p>
          <a:p>
            <a:pPr>
              <a:lnSpc>
                <a:spcPct val="90000"/>
              </a:lnSpc>
            </a:pPr>
            <a:r>
              <a:rPr lang="en-GB" sz="2800" dirty="0"/>
              <a:t>Are you aware of your biases and how they affect your ability to listen?</a:t>
            </a:r>
          </a:p>
          <a:p>
            <a:pPr>
              <a:lnSpc>
                <a:spcPct val="90000"/>
              </a:lnSpc>
            </a:pPr>
            <a:r>
              <a:rPr lang="en-GB" sz="2800" dirty="0"/>
              <a:t>Are you aware of what distracts you from listening carefully and what you can do to manage those distractions?</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685800" y="369888"/>
            <a:ext cx="7772400" cy="1143000"/>
          </a:xfrm>
        </p:spPr>
        <p:txBody>
          <a:bodyPr/>
          <a:lstStyle/>
          <a:p>
            <a:r>
              <a:rPr lang="en-GB"/>
              <a:t>Non-verbal Communication</a:t>
            </a:r>
            <a:endParaRPr lang="en-US"/>
          </a:p>
        </p:txBody>
      </p:sp>
      <p:sp>
        <p:nvSpPr>
          <p:cNvPr id="67587" name="Rectangle 3"/>
          <p:cNvSpPr>
            <a:spLocks noGrp="1" noChangeArrowheads="1"/>
          </p:cNvSpPr>
          <p:nvPr>
            <p:ph type="body" sz="half" idx="4294967295"/>
          </p:nvPr>
        </p:nvSpPr>
        <p:spPr>
          <a:xfrm>
            <a:off x="985838" y="1600200"/>
            <a:ext cx="3814762" cy="4114800"/>
          </a:xfrm>
        </p:spPr>
        <p:txBody>
          <a:bodyPr/>
          <a:lstStyle/>
          <a:p>
            <a:pPr>
              <a:buFontTx/>
              <a:buNone/>
            </a:pPr>
            <a:r>
              <a:rPr lang="en-GB" sz="2400" dirty="0"/>
              <a:t>Be aware of</a:t>
            </a:r>
            <a:r>
              <a:rPr lang="en-GB" sz="2400" dirty="0" smtClean="0"/>
              <a:t> parent’s:</a:t>
            </a:r>
          </a:p>
          <a:p>
            <a:pPr>
              <a:buFontTx/>
              <a:buNone/>
            </a:pPr>
            <a:endParaRPr lang="en-GB" sz="2400" dirty="0" smtClean="0"/>
          </a:p>
          <a:p>
            <a:r>
              <a:rPr lang="en-GB" sz="2400" dirty="0"/>
              <a:t>posture and movements</a:t>
            </a:r>
          </a:p>
          <a:p>
            <a:r>
              <a:rPr lang="en-GB" sz="2400" dirty="0"/>
              <a:t>facial expression</a:t>
            </a:r>
          </a:p>
          <a:p>
            <a:r>
              <a:rPr lang="en-GB" sz="2400" dirty="0"/>
              <a:t>tone of voice.</a:t>
            </a:r>
          </a:p>
          <a:p>
            <a:endParaRPr lang="en-GB" sz="2400" dirty="0"/>
          </a:p>
          <a:p>
            <a:pPr>
              <a:buFontTx/>
              <a:buNone/>
            </a:pPr>
            <a:r>
              <a:rPr lang="en-GB" sz="2400" dirty="0"/>
              <a:t>These will tell you how</a:t>
            </a:r>
          </a:p>
          <a:p>
            <a:pPr>
              <a:buFontTx/>
              <a:buNone/>
            </a:pPr>
            <a:r>
              <a:rPr lang="en-GB" sz="2400" dirty="0"/>
              <a:t>the</a:t>
            </a:r>
            <a:r>
              <a:rPr lang="en-GB" sz="2400" dirty="0" smtClean="0"/>
              <a:t> parent </a:t>
            </a:r>
            <a:r>
              <a:rPr lang="en-GB" sz="2400" dirty="0"/>
              <a:t>is feeling.</a:t>
            </a:r>
            <a:endParaRPr lang="en-US" sz="2400" dirty="0"/>
          </a:p>
        </p:txBody>
      </p:sp>
      <p:sp>
        <p:nvSpPr>
          <p:cNvPr id="67588" name="Rectangle 4"/>
          <p:cNvSpPr>
            <a:spLocks noGrp="1" noChangeArrowheads="1"/>
          </p:cNvSpPr>
          <p:nvPr>
            <p:ph type="body" sz="half" idx="4294967295"/>
          </p:nvPr>
        </p:nvSpPr>
        <p:spPr>
          <a:xfrm>
            <a:off x="5100638" y="1600200"/>
            <a:ext cx="3814762" cy="4114800"/>
          </a:xfrm>
        </p:spPr>
        <p:txBody>
          <a:bodyPr/>
          <a:lstStyle/>
          <a:p>
            <a:pPr>
              <a:buFontTx/>
              <a:buNone/>
            </a:pPr>
            <a:r>
              <a:rPr lang="en-GB" sz="2400" dirty="0"/>
              <a:t>Be aware of </a:t>
            </a:r>
            <a:r>
              <a:rPr lang="en-GB" sz="2400" i="1" dirty="0"/>
              <a:t>your</a:t>
            </a:r>
            <a:r>
              <a:rPr lang="en-GB" sz="2400" i="1" dirty="0" smtClean="0"/>
              <a:t>:</a:t>
            </a:r>
          </a:p>
          <a:p>
            <a:pPr>
              <a:buFontTx/>
              <a:buNone/>
            </a:pPr>
            <a:endParaRPr lang="en-GB" sz="2400" i="1" dirty="0" smtClean="0"/>
          </a:p>
          <a:p>
            <a:r>
              <a:rPr lang="en-GB" sz="2400" dirty="0"/>
              <a:t>posture and movements</a:t>
            </a:r>
          </a:p>
          <a:p>
            <a:r>
              <a:rPr lang="en-GB" sz="2400" dirty="0"/>
              <a:t>facial expression </a:t>
            </a:r>
          </a:p>
          <a:p>
            <a:r>
              <a:rPr lang="en-GB" sz="2400" dirty="0"/>
              <a:t>tone of voice.</a:t>
            </a:r>
            <a:endParaRPr lang="en-GB" sz="2400" dirty="0" smtClean="0"/>
          </a:p>
          <a:p>
            <a:pPr>
              <a:buNone/>
            </a:pPr>
            <a:endParaRPr lang="en-GB" sz="2400" dirty="0" smtClean="0"/>
          </a:p>
          <a:p>
            <a:pPr>
              <a:buFontTx/>
              <a:buNone/>
            </a:pPr>
            <a:r>
              <a:rPr lang="en-GB" sz="2400" dirty="0"/>
              <a:t>These will tell the</a:t>
            </a:r>
            <a:r>
              <a:rPr lang="en-GB" sz="2400" dirty="0" smtClean="0"/>
              <a:t> parent</a:t>
            </a:r>
          </a:p>
          <a:p>
            <a:pPr>
              <a:buFontTx/>
              <a:buNone/>
            </a:pPr>
            <a:r>
              <a:rPr lang="en-GB" sz="2400" dirty="0"/>
              <a:t>how </a:t>
            </a:r>
            <a:r>
              <a:rPr lang="en-GB" sz="2400" i="1" dirty="0"/>
              <a:t>you</a:t>
            </a:r>
            <a:r>
              <a:rPr lang="en-GB" sz="2400" dirty="0"/>
              <a:t> are feeling</a:t>
            </a:r>
            <a:r>
              <a:rPr lang="en-GB" sz="2800" dirty="0"/>
              <a:t>.</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685800" y="369888"/>
            <a:ext cx="7772400" cy="1143000"/>
          </a:xfrm>
        </p:spPr>
        <p:txBody>
          <a:bodyPr/>
          <a:lstStyle/>
          <a:p>
            <a:r>
              <a:rPr lang="en-GB"/>
              <a:t>Active Listening</a:t>
            </a:r>
          </a:p>
        </p:txBody>
      </p:sp>
      <p:sp>
        <p:nvSpPr>
          <p:cNvPr id="75779" name="Rectangle 3"/>
          <p:cNvSpPr>
            <a:spLocks noGrp="1" noChangeArrowheads="1"/>
          </p:cNvSpPr>
          <p:nvPr>
            <p:ph type="body" idx="4294967295"/>
          </p:nvPr>
        </p:nvSpPr>
        <p:spPr>
          <a:xfrm>
            <a:off x="641350" y="1643063"/>
            <a:ext cx="7772400" cy="4114800"/>
          </a:xfrm>
        </p:spPr>
        <p:txBody>
          <a:bodyPr/>
          <a:lstStyle/>
          <a:p>
            <a:pPr>
              <a:lnSpc>
                <a:spcPct val="90000"/>
              </a:lnSpc>
              <a:buFontTx/>
              <a:buNone/>
            </a:pPr>
            <a:r>
              <a:rPr lang="en-GB" sz="2800"/>
              <a:t>	‘Active “whole body” listening means being able to give all of your attention to someone else. It is the ability to keep your attention external to yourself rather than thinking through your own thoughts.’ </a:t>
            </a:r>
          </a:p>
          <a:p>
            <a:pPr>
              <a:lnSpc>
                <a:spcPct val="90000"/>
              </a:lnSpc>
              <a:buFontTx/>
              <a:buNone/>
            </a:pPr>
            <a:endParaRPr lang="en-GB" sz="2800"/>
          </a:p>
          <a:p>
            <a:pPr>
              <a:lnSpc>
                <a:spcPct val="90000"/>
              </a:lnSpc>
              <a:buFontTx/>
              <a:buNone/>
            </a:pPr>
            <a:r>
              <a:rPr lang="en-GB" sz="2800"/>
              <a:t>	(Conciliation Skills, SCRIP, 2002.)</a:t>
            </a:r>
          </a:p>
          <a:p>
            <a:pPr>
              <a:lnSpc>
                <a:spcPct val="90000"/>
              </a:lnSpc>
            </a:pPr>
            <a:endParaRPr lang="en-GB" sz="2800"/>
          </a:p>
          <a:p>
            <a:pPr>
              <a:lnSpc>
                <a:spcPct val="90000"/>
              </a:lnSpc>
            </a:pPr>
            <a:endParaRPr lang="en-GB" sz="28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685800" y="369888"/>
            <a:ext cx="7772400" cy="1143000"/>
          </a:xfrm>
        </p:spPr>
        <p:txBody>
          <a:bodyPr/>
          <a:lstStyle/>
          <a:p>
            <a:r>
              <a:rPr lang="en-GB"/>
              <a:t>Active Listening Involves:</a:t>
            </a:r>
          </a:p>
        </p:txBody>
      </p:sp>
      <p:sp>
        <p:nvSpPr>
          <p:cNvPr id="77827" name="Rectangle 3"/>
          <p:cNvSpPr>
            <a:spLocks noGrp="1" noChangeArrowheads="1"/>
          </p:cNvSpPr>
          <p:nvPr>
            <p:ph type="body" idx="4294967295"/>
          </p:nvPr>
        </p:nvSpPr>
        <p:spPr>
          <a:xfrm>
            <a:off x="990600" y="1622425"/>
            <a:ext cx="7772400" cy="4114800"/>
          </a:xfrm>
        </p:spPr>
        <p:txBody>
          <a:bodyPr/>
          <a:lstStyle/>
          <a:p>
            <a:pPr marL="4763" indent="-4763">
              <a:buFontTx/>
              <a:buNone/>
            </a:pPr>
            <a:r>
              <a:rPr lang="en-GB" sz="2800"/>
              <a:t>Attending and receiving – giving active attention to the non-verbal communication, the feelings of the person and what they say by:</a:t>
            </a:r>
          </a:p>
          <a:p>
            <a:pPr marL="912813" lvl="1"/>
            <a:r>
              <a:rPr lang="en-GB" sz="2400"/>
              <a:t>attentive whole-body and facial expressions</a:t>
            </a:r>
          </a:p>
          <a:p>
            <a:pPr marL="912813" lvl="1"/>
            <a:r>
              <a:rPr lang="en-GB" sz="2400"/>
              <a:t>making encouraging sounds, repeating key words or short phrases  </a:t>
            </a:r>
          </a:p>
          <a:p>
            <a:pPr marL="912813" lvl="1"/>
            <a:r>
              <a:rPr lang="en-GB" sz="2400"/>
              <a:t>taking short turns, pauses, slowing the pace</a:t>
            </a:r>
          </a:p>
          <a:p>
            <a:pPr marL="912813" lvl="1"/>
            <a:r>
              <a:rPr lang="en-GB" sz="2400"/>
              <a:t>attuned mirroring – ‘like a dance’.</a:t>
            </a:r>
          </a:p>
          <a:p>
            <a:pPr marL="4763" indent="-4763"/>
            <a:endParaRPr lang="en-GB" sz="2800" b="1"/>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685800" y="369888"/>
            <a:ext cx="7772400" cy="1143000"/>
          </a:xfrm>
        </p:spPr>
        <p:txBody>
          <a:bodyPr/>
          <a:lstStyle/>
          <a:p>
            <a:r>
              <a:rPr lang="en-GB"/>
              <a:t>Active Listening Involves:</a:t>
            </a:r>
          </a:p>
        </p:txBody>
      </p:sp>
      <p:sp>
        <p:nvSpPr>
          <p:cNvPr id="79875" name="Rectangle 3"/>
          <p:cNvSpPr>
            <a:spLocks noGrp="1" noChangeArrowheads="1"/>
          </p:cNvSpPr>
          <p:nvPr>
            <p:ph type="body" idx="4294967295"/>
          </p:nvPr>
        </p:nvSpPr>
        <p:spPr>
          <a:xfrm>
            <a:off x="990600" y="1622425"/>
            <a:ext cx="7772400" cy="4114800"/>
          </a:xfrm>
        </p:spPr>
        <p:txBody>
          <a:bodyPr/>
          <a:lstStyle/>
          <a:p>
            <a:pPr>
              <a:lnSpc>
                <a:spcPct val="90000"/>
              </a:lnSpc>
            </a:pPr>
            <a:r>
              <a:rPr lang="en-GB" sz="2800"/>
              <a:t>Checking out our understanding and facilitating their reflection by:</a:t>
            </a:r>
          </a:p>
          <a:p>
            <a:pPr marL="952500" lvl="1">
              <a:lnSpc>
                <a:spcPct val="90000"/>
              </a:lnSpc>
            </a:pPr>
            <a:r>
              <a:rPr lang="en-GB" sz="2400"/>
              <a:t>clarifying, restating </a:t>
            </a:r>
          </a:p>
          <a:p>
            <a:pPr marL="952500" lvl="1">
              <a:lnSpc>
                <a:spcPct val="90000"/>
              </a:lnSpc>
            </a:pPr>
            <a:r>
              <a:rPr lang="en-GB" sz="2400"/>
              <a:t>reflecting back the other person’s feelings</a:t>
            </a:r>
          </a:p>
          <a:p>
            <a:pPr marL="952500" lvl="1">
              <a:lnSpc>
                <a:spcPct val="90000"/>
              </a:lnSpc>
            </a:pPr>
            <a:r>
              <a:rPr lang="en-US" sz="2400"/>
              <a:t>s</a:t>
            </a:r>
            <a:r>
              <a:rPr lang="en-GB" sz="2400"/>
              <a:t>ummarising.</a:t>
            </a:r>
          </a:p>
          <a:p>
            <a:pPr>
              <a:lnSpc>
                <a:spcPct val="90000"/>
              </a:lnSpc>
            </a:pPr>
            <a:r>
              <a:rPr lang="en-GB" sz="2800"/>
              <a:t>Facilitating their understanding and thinking, and identifying their own possible ways forward by:</a:t>
            </a:r>
          </a:p>
          <a:p>
            <a:pPr marL="952500" lvl="1">
              <a:lnSpc>
                <a:spcPct val="90000"/>
              </a:lnSpc>
            </a:pPr>
            <a:r>
              <a:rPr lang="en-GB" sz="2400"/>
              <a:t>asking open, reflective questions. </a:t>
            </a:r>
          </a:p>
          <a:p>
            <a:pPr>
              <a:lnSpc>
                <a:spcPct val="90000"/>
              </a:lnSpc>
            </a:pPr>
            <a:endParaRPr lang="en-GB" sz="2800" b="1"/>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685800" y="457200"/>
            <a:ext cx="7772400" cy="1143000"/>
          </a:xfrm>
        </p:spPr>
        <p:txBody>
          <a:bodyPr/>
          <a:lstStyle/>
          <a:p>
            <a:r>
              <a:rPr lang="en-GB" sz="3600" dirty="0"/>
              <a:t>Clarifying</a:t>
            </a:r>
          </a:p>
        </p:txBody>
      </p:sp>
      <p:sp>
        <p:nvSpPr>
          <p:cNvPr id="81923" name="Rectangle 3"/>
          <p:cNvSpPr>
            <a:spLocks noGrp="1" noChangeArrowheads="1"/>
          </p:cNvSpPr>
          <p:nvPr>
            <p:ph type="body" idx="4294967295"/>
          </p:nvPr>
        </p:nvSpPr>
        <p:spPr>
          <a:xfrm>
            <a:off x="457200" y="1698625"/>
            <a:ext cx="8305800" cy="5159375"/>
          </a:xfrm>
        </p:spPr>
        <p:txBody>
          <a:bodyPr/>
          <a:lstStyle/>
          <a:p>
            <a:pPr>
              <a:buFontTx/>
              <a:buNone/>
            </a:pPr>
            <a:r>
              <a:rPr lang="en-GB" sz="2400" dirty="0"/>
              <a:t>Some examples:</a:t>
            </a:r>
          </a:p>
          <a:p>
            <a:r>
              <a:rPr lang="en-GB" sz="2400" dirty="0"/>
              <a:t>‘Can you tell me more about that?’</a:t>
            </a:r>
          </a:p>
          <a:p>
            <a:r>
              <a:rPr lang="en-GB" sz="2400" dirty="0"/>
              <a:t>‘Do you mean…?’</a:t>
            </a:r>
          </a:p>
          <a:p>
            <a:r>
              <a:rPr lang="en-GB" sz="2400" dirty="0"/>
              <a:t>‘Is this the problem as you see it now?</a:t>
            </a:r>
            <a:r>
              <a:rPr lang="en-GB" sz="2400" dirty="0" smtClean="0"/>
              <a:t>’</a:t>
            </a:r>
          </a:p>
          <a:p>
            <a:endParaRPr lang="en-GB" sz="2400" dirty="0" smtClean="0"/>
          </a:p>
          <a:p>
            <a:pPr>
              <a:buNone/>
            </a:pPr>
            <a:r>
              <a:rPr lang="en-GB" sz="2400" dirty="0" smtClean="0"/>
              <a:t>WHY?</a:t>
            </a:r>
          </a:p>
          <a:p>
            <a:r>
              <a:rPr lang="en-GB" sz="2400" dirty="0" smtClean="0"/>
              <a:t>To get additional information to help us understand clearly.</a:t>
            </a:r>
          </a:p>
          <a:p>
            <a:r>
              <a:rPr lang="en-GB" sz="2400" dirty="0" smtClean="0"/>
              <a:t>To help exploration of different aspects.</a:t>
            </a:r>
          </a:p>
          <a:p>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685800" y="533400"/>
            <a:ext cx="7772400" cy="1143000"/>
          </a:xfrm>
        </p:spPr>
        <p:txBody>
          <a:bodyPr/>
          <a:lstStyle/>
          <a:p>
            <a:r>
              <a:rPr lang="en-GB" sz="3600" dirty="0"/>
              <a:t>Restating</a:t>
            </a:r>
          </a:p>
        </p:txBody>
      </p:sp>
      <p:sp>
        <p:nvSpPr>
          <p:cNvPr id="86019" name="Rectangle 3"/>
          <p:cNvSpPr>
            <a:spLocks noGrp="1" noChangeArrowheads="1"/>
          </p:cNvSpPr>
          <p:nvPr>
            <p:ph type="body" idx="4294967295"/>
          </p:nvPr>
        </p:nvSpPr>
        <p:spPr>
          <a:xfrm>
            <a:off x="381000" y="1600200"/>
            <a:ext cx="8305800" cy="4114800"/>
          </a:xfrm>
        </p:spPr>
        <p:txBody>
          <a:bodyPr/>
          <a:lstStyle/>
          <a:p>
            <a:pPr>
              <a:lnSpc>
                <a:spcPct val="90000"/>
              </a:lnSpc>
              <a:buFontTx/>
              <a:buNone/>
            </a:pPr>
            <a:r>
              <a:rPr lang="en-GB" sz="2200" dirty="0"/>
              <a:t>This often paraphrases an important piece </a:t>
            </a:r>
            <a:r>
              <a:rPr lang="en-GB" sz="2200" dirty="0" smtClean="0"/>
              <a:t>of information </a:t>
            </a:r>
            <a:r>
              <a:rPr lang="en-GB" sz="2200" dirty="0"/>
              <a:t>or </a:t>
            </a:r>
            <a:r>
              <a:rPr lang="en-GB" sz="2200" dirty="0" smtClean="0"/>
              <a:t>key</a:t>
            </a:r>
          </a:p>
          <a:p>
            <a:pPr>
              <a:lnSpc>
                <a:spcPct val="90000"/>
              </a:lnSpc>
              <a:buFontTx/>
              <a:buNone/>
            </a:pPr>
            <a:r>
              <a:rPr lang="en-GB" sz="2200" dirty="0" smtClean="0"/>
              <a:t> aspects </a:t>
            </a:r>
            <a:r>
              <a:rPr lang="en-GB" sz="2200" dirty="0"/>
              <a:t>of what has </a:t>
            </a:r>
            <a:r>
              <a:rPr lang="en-GB" sz="2200" dirty="0" smtClean="0"/>
              <a:t>been communicated </a:t>
            </a:r>
            <a:r>
              <a:rPr lang="en-GB" sz="2200" dirty="0"/>
              <a:t>to you (reflecting back</a:t>
            </a:r>
            <a:r>
              <a:rPr lang="en-GB" sz="2200" dirty="0" smtClean="0"/>
              <a:t>).</a:t>
            </a:r>
          </a:p>
          <a:p>
            <a:pPr>
              <a:lnSpc>
                <a:spcPct val="90000"/>
              </a:lnSpc>
              <a:buFontTx/>
              <a:buNone/>
            </a:pPr>
            <a:r>
              <a:rPr lang="en-GB" sz="2200" dirty="0" smtClean="0"/>
              <a:t>For </a:t>
            </a:r>
            <a:r>
              <a:rPr lang="en-GB" sz="2200" dirty="0"/>
              <a:t>example:</a:t>
            </a:r>
          </a:p>
          <a:p>
            <a:pPr>
              <a:lnSpc>
                <a:spcPct val="90000"/>
              </a:lnSpc>
            </a:pPr>
            <a:r>
              <a:rPr lang="en-GB" sz="2200" dirty="0"/>
              <a:t>‘From what you are saying, I understand that…’</a:t>
            </a:r>
            <a:endParaRPr lang="en-GB" sz="2200" dirty="0" smtClean="0"/>
          </a:p>
          <a:p>
            <a:pPr>
              <a:lnSpc>
                <a:spcPct val="90000"/>
              </a:lnSpc>
            </a:pPr>
            <a:r>
              <a:rPr lang="en-GB" sz="2200" dirty="0" smtClean="0"/>
              <a:t>‘</a:t>
            </a:r>
            <a:r>
              <a:rPr lang="en-GB" sz="2200" dirty="0"/>
              <a:t>You have decided to… and the reasons are…’</a:t>
            </a:r>
            <a:r>
              <a:rPr lang="en-GB" sz="2200" dirty="0" smtClean="0"/>
              <a:t> </a:t>
            </a:r>
          </a:p>
          <a:p>
            <a:pPr>
              <a:lnSpc>
                <a:spcPct val="90000"/>
              </a:lnSpc>
            </a:pPr>
            <a:endParaRPr lang="en-GB" sz="2200" dirty="0" smtClean="0"/>
          </a:p>
          <a:p>
            <a:pPr>
              <a:lnSpc>
                <a:spcPct val="90000"/>
              </a:lnSpc>
              <a:buNone/>
            </a:pPr>
            <a:r>
              <a:rPr lang="en-GB" sz="2200" dirty="0" smtClean="0"/>
              <a:t>WHY?</a:t>
            </a:r>
          </a:p>
          <a:p>
            <a:r>
              <a:rPr lang="en-GB" sz="2200" dirty="0" smtClean="0"/>
              <a:t>To show you have listened and received.</a:t>
            </a:r>
          </a:p>
          <a:p>
            <a:r>
              <a:rPr lang="en-GB" sz="2200" dirty="0" smtClean="0"/>
              <a:t>To check out your understanding.</a:t>
            </a:r>
          </a:p>
          <a:p>
            <a:r>
              <a:rPr lang="en-GB" sz="2200" dirty="0" smtClean="0"/>
              <a:t>To slow the pace and encourage thinking.</a:t>
            </a:r>
          </a:p>
          <a:p>
            <a:r>
              <a:rPr lang="en-GB" sz="2200" dirty="0" smtClean="0"/>
              <a:t>To encourage exploration of a different or other </a:t>
            </a:r>
          </a:p>
          <a:p>
            <a:pPr>
              <a:buNone/>
            </a:pPr>
            <a:r>
              <a:rPr lang="en-GB" sz="2200" dirty="0" smtClean="0"/>
              <a:t>     aspect of the issues being discussed. </a:t>
            </a:r>
            <a:endParaRPr lang="en-GB" sz="2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533400" y="685800"/>
            <a:ext cx="8154988" cy="1143000"/>
          </a:xfrm>
        </p:spPr>
        <p:txBody>
          <a:bodyPr/>
          <a:lstStyle/>
          <a:p>
            <a:r>
              <a:rPr lang="en-GB" sz="3600" dirty="0"/>
              <a:t>Receiving and Reflecting Feelings</a:t>
            </a:r>
          </a:p>
        </p:txBody>
      </p:sp>
      <p:sp>
        <p:nvSpPr>
          <p:cNvPr id="90115" name="Rectangle 3"/>
          <p:cNvSpPr>
            <a:spLocks noGrp="1" noChangeArrowheads="1"/>
          </p:cNvSpPr>
          <p:nvPr>
            <p:ph type="body" idx="4294967295"/>
          </p:nvPr>
        </p:nvSpPr>
        <p:spPr>
          <a:xfrm>
            <a:off x="914400" y="2057400"/>
            <a:ext cx="7620000" cy="4114800"/>
          </a:xfrm>
        </p:spPr>
        <p:txBody>
          <a:bodyPr/>
          <a:lstStyle/>
          <a:p>
            <a:r>
              <a:rPr lang="en-GB" sz="2800" dirty="0"/>
              <a:t>Feelings underlie motivation, interest, behaviour and learning in any situation.</a:t>
            </a:r>
          </a:p>
          <a:p>
            <a:endParaRPr lang="en-GB" sz="2800" dirty="0"/>
          </a:p>
          <a:p>
            <a:r>
              <a:rPr lang="en-GB" sz="2800" dirty="0"/>
              <a:t>They are an essential part of the knowledge, understanding and reflection about ourselves – a core component in the foundations of self-esteem (</a:t>
            </a:r>
            <a:r>
              <a:rPr lang="en-GB" sz="2800" dirty="0" err="1"/>
              <a:t>Borba</a:t>
            </a:r>
            <a:r>
              <a:rPr lang="en-GB" sz="2800" dirty="0"/>
              <a:t>, 1989).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685800" y="533400"/>
            <a:ext cx="7772400" cy="1143000"/>
          </a:xfrm>
        </p:spPr>
        <p:txBody>
          <a:bodyPr/>
          <a:lstStyle/>
          <a:p>
            <a:r>
              <a:rPr lang="en-GB" sz="3600" dirty="0"/>
              <a:t>Why Reflect Feelings? </a:t>
            </a:r>
          </a:p>
        </p:txBody>
      </p:sp>
      <p:sp>
        <p:nvSpPr>
          <p:cNvPr id="94211" name="Rectangle 3"/>
          <p:cNvSpPr>
            <a:spLocks noGrp="1" noChangeArrowheads="1"/>
          </p:cNvSpPr>
          <p:nvPr>
            <p:ph type="body" idx="4294967295"/>
          </p:nvPr>
        </p:nvSpPr>
        <p:spPr>
          <a:xfrm>
            <a:off x="685800" y="1752600"/>
            <a:ext cx="7772400" cy="4114800"/>
          </a:xfrm>
        </p:spPr>
        <p:txBody>
          <a:bodyPr/>
          <a:lstStyle/>
          <a:p>
            <a:r>
              <a:rPr lang="en-GB" sz="2400" dirty="0"/>
              <a:t>To </a:t>
            </a:r>
            <a:r>
              <a:rPr lang="en-GB" sz="2400" b="1" dirty="0"/>
              <a:t>actively receive</a:t>
            </a:r>
            <a:r>
              <a:rPr lang="en-GB" sz="2400" dirty="0"/>
              <a:t> and show that we are giving our attention to things important to them. </a:t>
            </a:r>
          </a:p>
          <a:p>
            <a:r>
              <a:rPr lang="en-GB" sz="2400" dirty="0"/>
              <a:t>To </a:t>
            </a:r>
            <a:r>
              <a:rPr lang="en-GB" sz="2400" b="1" dirty="0"/>
              <a:t>name what we are</a:t>
            </a:r>
            <a:r>
              <a:rPr lang="en-GB" sz="2400" dirty="0"/>
              <a:t> </a:t>
            </a:r>
            <a:r>
              <a:rPr lang="en-GB" sz="2400" b="1" dirty="0"/>
              <a:t>interpreting</a:t>
            </a:r>
            <a:r>
              <a:rPr lang="en-GB" sz="2400" dirty="0"/>
              <a:t> from their verbal and non-verbal communication.</a:t>
            </a:r>
          </a:p>
          <a:p>
            <a:r>
              <a:rPr lang="en-GB" sz="2400" dirty="0"/>
              <a:t>To </a:t>
            </a:r>
            <a:r>
              <a:rPr lang="en-GB" sz="2400" b="1" dirty="0"/>
              <a:t>check out</a:t>
            </a:r>
            <a:r>
              <a:rPr lang="en-GB" sz="2400" dirty="0"/>
              <a:t> that we are interpreting accurately.</a:t>
            </a:r>
          </a:p>
          <a:p>
            <a:r>
              <a:rPr lang="en-GB" sz="2400" dirty="0"/>
              <a:t>To</a:t>
            </a:r>
            <a:r>
              <a:rPr lang="en-GB" sz="2400" b="1" dirty="0"/>
              <a:t> help them recognise and give time to their emotions, </a:t>
            </a:r>
            <a:r>
              <a:rPr lang="en-GB" sz="2400" dirty="0"/>
              <a:t>and to develop and express their understanding.</a:t>
            </a:r>
          </a:p>
          <a:p>
            <a:pPr>
              <a:buFontTx/>
              <a:buNone/>
            </a:pPr>
            <a:r>
              <a:rPr lang="en-GB" sz="2400" dirty="0"/>
              <a:t>Remember, reflect back feelings and pause – hand the </a:t>
            </a:r>
          </a:p>
          <a:p>
            <a:pPr>
              <a:buFontTx/>
              <a:buNone/>
            </a:pPr>
            <a:r>
              <a:rPr lang="en-GB" sz="2400" dirty="0"/>
              <a:t>turn back.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a:xfrm>
            <a:off x="304800" y="533400"/>
            <a:ext cx="8534400" cy="1143000"/>
          </a:xfrm>
        </p:spPr>
        <p:txBody>
          <a:bodyPr/>
          <a:lstStyle/>
          <a:p>
            <a:r>
              <a:rPr lang="en-GB" sz="3600" dirty="0" smtClean="0"/>
              <a:t>Some Open Reflective </a:t>
            </a:r>
            <a:r>
              <a:rPr lang="en-GB" sz="3600" dirty="0"/>
              <a:t>Questions</a:t>
            </a:r>
            <a:endParaRPr lang="en-GB" dirty="0"/>
          </a:p>
        </p:txBody>
      </p:sp>
      <p:sp>
        <p:nvSpPr>
          <p:cNvPr id="98307" name="Rectangle 3"/>
          <p:cNvSpPr>
            <a:spLocks noGrp="1" noChangeArrowheads="1"/>
          </p:cNvSpPr>
          <p:nvPr>
            <p:ph type="body" idx="4294967295"/>
          </p:nvPr>
        </p:nvSpPr>
        <p:spPr>
          <a:xfrm>
            <a:off x="838200" y="1981200"/>
            <a:ext cx="7772400" cy="4114800"/>
          </a:xfrm>
        </p:spPr>
        <p:txBody>
          <a:bodyPr/>
          <a:lstStyle/>
          <a:p>
            <a:r>
              <a:rPr lang="en-GB" sz="2400" dirty="0"/>
              <a:t>How do you feel about…?</a:t>
            </a:r>
          </a:p>
          <a:p>
            <a:r>
              <a:rPr lang="en-GB" sz="2400" dirty="0"/>
              <a:t>What do you think about…?</a:t>
            </a:r>
          </a:p>
          <a:p>
            <a:r>
              <a:rPr lang="en-GB" sz="2400" dirty="0"/>
              <a:t>What happened to make you feel cross?</a:t>
            </a:r>
          </a:p>
          <a:p>
            <a:r>
              <a:rPr lang="en-GB" sz="2400" dirty="0"/>
              <a:t>Is there anything else that you could have done?</a:t>
            </a:r>
          </a:p>
          <a:p>
            <a:r>
              <a:rPr lang="en-GB" sz="2400" dirty="0"/>
              <a:t>If you could do it over again, how would you handle it differently?</a:t>
            </a:r>
          </a:p>
          <a:p>
            <a:r>
              <a:rPr lang="en-GB" sz="2400" dirty="0"/>
              <a:t>What might be the effect of that?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a:xfrm>
            <a:off x="381000" y="685800"/>
            <a:ext cx="8458200" cy="1143000"/>
          </a:xfrm>
        </p:spPr>
        <p:txBody>
          <a:bodyPr/>
          <a:lstStyle/>
          <a:p>
            <a:r>
              <a:rPr lang="en-GB" sz="3600" dirty="0">
                <a:latin typeface="Arial"/>
              </a:rPr>
              <a:t>Why Use Open Reflective Questions? </a:t>
            </a:r>
            <a:endParaRPr lang="en-GB" dirty="0">
              <a:latin typeface="Arial"/>
            </a:endParaRPr>
          </a:p>
        </p:txBody>
      </p:sp>
      <p:sp>
        <p:nvSpPr>
          <p:cNvPr id="100355" name="Rectangle 3"/>
          <p:cNvSpPr>
            <a:spLocks noGrp="1" noChangeArrowheads="1"/>
          </p:cNvSpPr>
          <p:nvPr>
            <p:ph type="body" idx="4294967295"/>
          </p:nvPr>
        </p:nvSpPr>
        <p:spPr>
          <a:xfrm>
            <a:off x="685800" y="2057400"/>
            <a:ext cx="7772400" cy="4114800"/>
          </a:xfrm>
        </p:spPr>
        <p:txBody>
          <a:bodyPr/>
          <a:lstStyle/>
          <a:p>
            <a:pPr>
              <a:lnSpc>
                <a:spcPct val="90000"/>
              </a:lnSpc>
            </a:pPr>
            <a:r>
              <a:rPr lang="en-GB" sz="2400" dirty="0"/>
              <a:t>To give time to think about different aspects of the situation/problem.</a:t>
            </a:r>
          </a:p>
          <a:p>
            <a:pPr>
              <a:lnSpc>
                <a:spcPct val="90000"/>
              </a:lnSpc>
            </a:pPr>
            <a:r>
              <a:rPr lang="en-GB" sz="2400" dirty="0"/>
              <a:t>To enable expression of underlying or explicit feelings.</a:t>
            </a:r>
          </a:p>
          <a:p>
            <a:pPr>
              <a:lnSpc>
                <a:spcPct val="90000"/>
              </a:lnSpc>
            </a:pPr>
            <a:r>
              <a:rPr lang="en-GB" sz="2400" dirty="0"/>
              <a:t>To explore understanding and how feelings might affect the situation.  </a:t>
            </a:r>
          </a:p>
          <a:p>
            <a:pPr>
              <a:lnSpc>
                <a:spcPct val="90000"/>
              </a:lnSpc>
            </a:pPr>
            <a:r>
              <a:rPr lang="en-GB" sz="2400" dirty="0"/>
              <a:t>Later, to explore possible ways forward. </a:t>
            </a:r>
          </a:p>
          <a:p>
            <a:pPr>
              <a:lnSpc>
                <a:spcPct val="90000"/>
              </a:lnSpc>
            </a:pPr>
            <a:r>
              <a:rPr lang="en-GB" sz="2400" dirty="0"/>
              <a:t>To empower and prevent ‘rushing into’ finding solutions for someone.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a:xfrm>
            <a:off x="762000" y="533400"/>
            <a:ext cx="7772400" cy="1143000"/>
          </a:xfrm>
        </p:spPr>
        <p:txBody>
          <a:bodyPr/>
          <a:lstStyle/>
          <a:p>
            <a:r>
              <a:rPr lang="en-GB" sz="3600" dirty="0"/>
              <a:t>Facilitating a Conversation</a:t>
            </a:r>
          </a:p>
        </p:txBody>
      </p:sp>
      <p:sp>
        <p:nvSpPr>
          <p:cNvPr id="102403" name="Rectangle 3"/>
          <p:cNvSpPr>
            <a:spLocks noGrp="1" noChangeArrowheads="1"/>
          </p:cNvSpPr>
          <p:nvPr>
            <p:ph type="body" idx="4294967295"/>
          </p:nvPr>
        </p:nvSpPr>
        <p:spPr>
          <a:xfrm>
            <a:off x="762000" y="1752600"/>
            <a:ext cx="7772400" cy="4800600"/>
          </a:xfrm>
        </p:spPr>
        <p:txBody>
          <a:bodyPr/>
          <a:lstStyle/>
          <a:p>
            <a:pPr marL="4763" indent="-4763">
              <a:lnSpc>
                <a:spcPct val="90000"/>
              </a:lnSpc>
              <a:buFontTx/>
              <a:buNone/>
            </a:pPr>
            <a:r>
              <a:rPr lang="en-GB" sz="2400" dirty="0"/>
              <a:t>Activity (in groups of three</a:t>
            </a:r>
            <a:r>
              <a:rPr lang="en-GB" sz="2400" dirty="0" smtClean="0"/>
              <a:t>)</a:t>
            </a:r>
          </a:p>
          <a:p>
            <a:pPr marL="4763" indent="-4763">
              <a:lnSpc>
                <a:spcPct val="90000"/>
              </a:lnSpc>
              <a:buFontTx/>
              <a:buNone/>
            </a:pPr>
            <a:endParaRPr lang="en-GB" sz="2400" dirty="0" smtClean="0"/>
          </a:p>
          <a:p>
            <a:pPr marL="4763" indent="-4763">
              <a:lnSpc>
                <a:spcPct val="90000"/>
              </a:lnSpc>
              <a:buFontTx/>
              <a:buNone/>
            </a:pPr>
            <a:r>
              <a:rPr lang="en-GB" sz="2400" dirty="0"/>
              <a:t>Consider non-verbal skills, restating, reflecting feelings, open reflective questions:</a:t>
            </a:r>
          </a:p>
          <a:p>
            <a:pPr marL="912813" lvl="1">
              <a:lnSpc>
                <a:spcPct val="90000"/>
              </a:lnSpc>
            </a:pPr>
            <a:r>
              <a:rPr lang="en-GB" sz="2400" dirty="0"/>
              <a:t>talker/problem owner, listener/communication partner, observer roles</a:t>
            </a:r>
          </a:p>
          <a:p>
            <a:pPr marL="912813" lvl="1">
              <a:lnSpc>
                <a:spcPct val="90000"/>
              </a:lnSpc>
            </a:pPr>
            <a:r>
              <a:rPr lang="en-GB" sz="2400" dirty="0"/>
              <a:t>listener to facilitate the problem owner to talk about an identified work-related issue – four minutes</a:t>
            </a:r>
          </a:p>
          <a:p>
            <a:pPr marL="912813" lvl="1">
              <a:lnSpc>
                <a:spcPct val="90000"/>
              </a:lnSpc>
            </a:pPr>
            <a:r>
              <a:rPr lang="en-GB" sz="2400" dirty="0"/>
              <a:t>observer completes sheet, is timer </a:t>
            </a:r>
            <a:br>
              <a:rPr lang="en-GB" sz="2400" dirty="0"/>
            </a:br>
            <a:r>
              <a:rPr lang="en-GB" sz="2400" dirty="0"/>
              <a:t>and facilitates the feedback </a:t>
            </a:r>
          </a:p>
          <a:p>
            <a:pPr marL="912813" lvl="1">
              <a:lnSpc>
                <a:spcPct val="90000"/>
              </a:lnSpc>
            </a:pPr>
            <a:r>
              <a:rPr lang="en-GB" sz="2400" dirty="0"/>
              <a:t>rotate roles. </a:t>
            </a:r>
          </a:p>
          <a:p>
            <a:pPr marL="4763" indent="-4763">
              <a:lnSpc>
                <a:spcPct val="90000"/>
              </a:lnSpc>
            </a:pPr>
            <a:endParaRPr lang="en-GB" sz="2800"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611560" y="476672"/>
            <a:ext cx="7772400" cy="1143000"/>
          </a:xfrm>
        </p:spPr>
        <p:txBody>
          <a:bodyPr/>
          <a:lstStyle/>
          <a:p>
            <a:r>
              <a:rPr lang="en-GB" sz="3600" dirty="0"/>
              <a:t>Observer Role</a:t>
            </a:r>
          </a:p>
        </p:txBody>
      </p:sp>
      <p:sp>
        <p:nvSpPr>
          <p:cNvPr id="104451" name="Rectangle 3"/>
          <p:cNvSpPr>
            <a:spLocks noGrp="1" noChangeArrowheads="1"/>
          </p:cNvSpPr>
          <p:nvPr>
            <p:ph type="body" idx="4294967295"/>
          </p:nvPr>
        </p:nvSpPr>
        <p:spPr>
          <a:xfrm>
            <a:off x="969963" y="1622425"/>
            <a:ext cx="7772400" cy="4419600"/>
          </a:xfrm>
        </p:spPr>
        <p:txBody>
          <a:bodyPr/>
          <a:lstStyle/>
          <a:p>
            <a:pPr>
              <a:lnSpc>
                <a:spcPct val="80000"/>
              </a:lnSpc>
              <a:buFontTx/>
              <a:buNone/>
            </a:pPr>
            <a:r>
              <a:rPr lang="en-GB" sz="2400" dirty="0"/>
              <a:t>Observer facilitates sharing of information and </a:t>
            </a:r>
          </a:p>
          <a:p>
            <a:pPr>
              <a:lnSpc>
                <a:spcPct val="80000"/>
              </a:lnSpc>
              <a:buFontTx/>
              <a:buNone/>
            </a:pPr>
            <a:r>
              <a:rPr lang="en-GB" sz="2400" dirty="0"/>
              <a:t>reflection by asking:</a:t>
            </a:r>
          </a:p>
          <a:p>
            <a:pPr>
              <a:lnSpc>
                <a:spcPct val="90000"/>
              </a:lnSpc>
            </a:pPr>
            <a:r>
              <a:rPr lang="en-GB" sz="2400" dirty="0"/>
              <a:t>adult 1 (listener/communication partner)</a:t>
            </a:r>
          </a:p>
          <a:p>
            <a:pPr lvl="1">
              <a:lnSpc>
                <a:spcPct val="90000"/>
              </a:lnSpc>
            </a:pPr>
            <a:r>
              <a:rPr lang="en-GB" sz="2400" dirty="0"/>
              <a:t>How did you feel?</a:t>
            </a:r>
          </a:p>
          <a:p>
            <a:pPr lvl="1">
              <a:lnSpc>
                <a:spcPct val="90000"/>
              </a:lnSpc>
            </a:pPr>
            <a:r>
              <a:rPr lang="en-GB" sz="2400" dirty="0"/>
              <a:t>What did you do that you are pleased with?</a:t>
            </a:r>
          </a:p>
          <a:p>
            <a:pPr>
              <a:lnSpc>
                <a:spcPct val="90000"/>
              </a:lnSpc>
            </a:pPr>
            <a:r>
              <a:rPr lang="en-GB" sz="2400" dirty="0"/>
              <a:t>adult 2 (talker/problem owner)</a:t>
            </a:r>
          </a:p>
          <a:p>
            <a:pPr lvl="1">
              <a:lnSpc>
                <a:spcPct val="90000"/>
              </a:lnSpc>
            </a:pPr>
            <a:r>
              <a:rPr lang="en-GB" sz="2400" dirty="0"/>
              <a:t>How did you know you were being listened to?</a:t>
            </a:r>
          </a:p>
          <a:p>
            <a:pPr lvl="1">
              <a:lnSpc>
                <a:spcPct val="90000"/>
              </a:lnSpc>
            </a:pPr>
            <a:r>
              <a:rPr lang="en-GB" sz="2400" dirty="0"/>
              <a:t>Was there anything else the listener did which you liked?</a:t>
            </a:r>
          </a:p>
          <a:p>
            <a:pPr>
              <a:lnSpc>
                <a:spcPct val="70000"/>
              </a:lnSpc>
              <a:buFontTx/>
              <a:buNone/>
            </a:pPr>
            <a:r>
              <a:rPr lang="en-GB" sz="2400" dirty="0"/>
              <a:t>Observer feedback to listener/communication </a:t>
            </a:r>
          </a:p>
          <a:p>
            <a:pPr>
              <a:lnSpc>
                <a:spcPct val="70000"/>
              </a:lnSpc>
              <a:buFontTx/>
              <a:buNone/>
            </a:pPr>
            <a:r>
              <a:rPr lang="en-GB" sz="2400" dirty="0"/>
              <a:t>partner – adds in positive comments from </a:t>
            </a:r>
          </a:p>
          <a:p>
            <a:pPr>
              <a:lnSpc>
                <a:spcPct val="70000"/>
              </a:lnSpc>
              <a:buFontTx/>
              <a:buNone/>
            </a:pPr>
            <a:r>
              <a:rPr lang="en-GB" sz="2400" dirty="0"/>
              <a:t>Observation.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762000" y="609600"/>
            <a:ext cx="7772400" cy="1143000"/>
          </a:xfrm>
        </p:spPr>
        <p:txBody>
          <a:bodyPr/>
          <a:lstStyle/>
          <a:p>
            <a:r>
              <a:rPr lang="en-GB" sz="3600" dirty="0"/>
              <a:t>Individual Reflection</a:t>
            </a:r>
          </a:p>
        </p:txBody>
      </p:sp>
      <p:sp>
        <p:nvSpPr>
          <p:cNvPr id="106499" name="Rectangle 3"/>
          <p:cNvSpPr>
            <a:spLocks noGrp="1" noChangeArrowheads="1"/>
          </p:cNvSpPr>
          <p:nvPr>
            <p:ph type="body" idx="4294967295"/>
          </p:nvPr>
        </p:nvSpPr>
        <p:spPr>
          <a:xfrm>
            <a:off x="762000" y="2057400"/>
            <a:ext cx="7772400" cy="4114800"/>
          </a:xfrm>
        </p:spPr>
        <p:txBody>
          <a:bodyPr/>
          <a:lstStyle/>
          <a:p>
            <a:r>
              <a:rPr lang="en-GB" sz="2800" dirty="0"/>
              <a:t>Reflect on and summarise the skills you often use in your listening and communication with</a:t>
            </a:r>
            <a:r>
              <a:rPr lang="en-GB" sz="2800" dirty="0" smtClean="0"/>
              <a:t> parents and children </a:t>
            </a:r>
            <a:r>
              <a:rPr lang="en-GB" sz="2800" dirty="0"/>
              <a:t>in your day-to-day work</a:t>
            </a:r>
            <a:r>
              <a:rPr lang="en-GB" sz="2800" dirty="0" smtClean="0"/>
              <a:t>.</a:t>
            </a:r>
          </a:p>
          <a:p>
            <a:pPr>
              <a:buNone/>
            </a:pPr>
            <a:endParaRPr lang="en-GB" sz="2800" dirty="0" smtClean="0"/>
          </a:p>
          <a:p>
            <a:r>
              <a:rPr lang="en-GB" sz="2800" dirty="0"/>
              <a:t>Identify what you would like to check out or do more of. </a:t>
            </a:r>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a:xfrm>
            <a:off x="683568" y="548680"/>
            <a:ext cx="7772400" cy="1143000"/>
          </a:xfrm>
        </p:spPr>
        <p:txBody>
          <a:bodyPr/>
          <a:lstStyle/>
          <a:p>
            <a:r>
              <a:rPr lang="en-GB" sz="4000" dirty="0"/>
              <a:t>Ending your Individual Session</a:t>
            </a:r>
            <a:endParaRPr lang="en-US" dirty="0"/>
          </a:p>
        </p:txBody>
      </p:sp>
      <p:sp>
        <p:nvSpPr>
          <p:cNvPr id="108547" name="Rectangle 3"/>
          <p:cNvSpPr>
            <a:spLocks noGrp="1" noChangeArrowheads="1"/>
          </p:cNvSpPr>
          <p:nvPr>
            <p:ph type="body" idx="4294967295"/>
          </p:nvPr>
        </p:nvSpPr>
        <p:spPr>
          <a:xfrm>
            <a:off x="827584" y="1844824"/>
            <a:ext cx="7772400" cy="4114800"/>
          </a:xfrm>
        </p:spPr>
        <p:txBody>
          <a:bodyPr/>
          <a:lstStyle/>
          <a:p>
            <a:pPr>
              <a:lnSpc>
                <a:spcPct val="90000"/>
              </a:lnSpc>
            </a:pPr>
            <a:r>
              <a:rPr lang="en-GB" sz="2800" dirty="0"/>
              <a:t>Summarise the main points of the discussion, especially agreed actions, for example, ‘</a:t>
            </a:r>
            <a:r>
              <a:rPr lang="en-GB" sz="2400" dirty="0"/>
              <a:t>Today, we have talked about…’</a:t>
            </a:r>
            <a:endParaRPr lang="en-GB" sz="2400" dirty="0" smtClean="0"/>
          </a:p>
          <a:p>
            <a:pPr>
              <a:lnSpc>
                <a:spcPct val="90000"/>
              </a:lnSpc>
            </a:pPr>
            <a:r>
              <a:rPr lang="en-GB" sz="2800" dirty="0" smtClean="0"/>
              <a:t>End </a:t>
            </a:r>
            <a:r>
              <a:rPr lang="en-GB" sz="2800" dirty="0"/>
              <a:t>on a positive – reiterate the</a:t>
            </a:r>
            <a:r>
              <a:rPr lang="en-GB" sz="2800" dirty="0" smtClean="0"/>
              <a:t> parent/child’s </a:t>
            </a:r>
            <a:r>
              <a:rPr lang="en-GB" sz="2800" dirty="0"/>
              <a:t>qualities/strengths.</a:t>
            </a:r>
          </a:p>
          <a:p>
            <a:pPr>
              <a:lnSpc>
                <a:spcPct val="90000"/>
              </a:lnSpc>
            </a:pPr>
            <a:r>
              <a:rPr lang="en-GB" sz="2800" dirty="0"/>
              <a:t>Thank the</a:t>
            </a:r>
            <a:r>
              <a:rPr lang="en-GB" sz="2800" dirty="0" smtClean="0"/>
              <a:t> parent </a:t>
            </a:r>
            <a:r>
              <a:rPr lang="en-GB" sz="2800" dirty="0"/>
              <a:t>for talking with you – be appreciative of their interest.</a:t>
            </a:r>
            <a:endParaRPr 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a:xfrm>
            <a:off x="683568" y="764704"/>
            <a:ext cx="7772400" cy="1143000"/>
          </a:xfrm>
        </p:spPr>
        <p:txBody>
          <a:bodyPr/>
          <a:lstStyle/>
          <a:p>
            <a:r>
              <a:rPr lang="en-GB" sz="3600" dirty="0"/>
              <a:t>Active Listening in a Genuine Relationship</a:t>
            </a:r>
          </a:p>
        </p:txBody>
      </p:sp>
      <p:sp>
        <p:nvSpPr>
          <p:cNvPr id="112643" name="Rectangle 3"/>
          <p:cNvSpPr>
            <a:spLocks noGrp="1" noChangeArrowheads="1"/>
          </p:cNvSpPr>
          <p:nvPr>
            <p:ph type="body" idx="4294967295"/>
          </p:nvPr>
        </p:nvSpPr>
        <p:spPr>
          <a:xfrm>
            <a:off x="755576" y="1988840"/>
            <a:ext cx="7772400" cy="4114800"/>
          </a:xfrm>
        </p:spPr>
        <p:txBody>
          <a:bodyPr/>
          <a:lstStyle/>
          <a:p>
            <a:pPr>
              <a:buFontTx/>
              <a:buNone/>
            </a:pPr>
            <a:r>
              <a:rPr lang="en-GB" sz="2800" dirty="0"/>
              <a:t>Enables a</a:t>
            </a:r>
            <a:r>
              <a:rPr lang="en-GB" sz="2800" dirty="0" smtClean="0"/>
              <a:t> parent to:</a:t>
            </a:r>
          </a:p>
          <a:p>
            <a:pPr>
              <a:buFontTx/>
              <a:buNone/>
            </a:pPr>
            <a:endParaRPr lang="en-GB" sz="2800" dirty="0" smtClean="0"/>
          </a:p>
          <a:p>
            <a:pPr lvl="1"/>
            <a:r>
              <a:rPr lang="en-GB" dirty="0"/>
              <a:t>be able to consider suggestions and make choices</a:t>
            </a:r>
          </a:p>
          <a:p>
            <a:pPr lvl="1"/>
            <a:r>
              <a:rPr lang="en-GB" dirty="0"/>
              <a:t>receive guidance and help</a:t>
            </a:r>
            <a:endParaRPr lang="en-GB" dirty="0" smtClean="0"/>
          </a:p>
          <a:p>
            <a:pPr lvl="1"/>
            <a:r>
              <a:rPr lang="en-GB" dirty="0" smtClean="0"/>
              <a:t>begin </a:t>
            </a:r>
            <a:r>
              <a:rPr lang="en-GB" dirty="0"/>
              <a:t>to be part of problem-solving when conflict/difficulties arise.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743200"/>
            <a:ext cx="8226425" cy="1905000"/>
          </a:xfrm>
        </p:spPr>
        <p:txBody>
          <a:bodyPr/>
          <a:lstStyle/>
          <a:p>
            <a:pPr eaLnBrk="1" hangingPunct="1"/>
            <a:r>
              <a:rPr lang="en-GB" sz="3600" dirty="0" smtClean="0"/>
              <a:t>Children with </a:t>
            </a:r>
            <a:br>
              <a:rPr lang="en-GB" sz="3600" dirty="0" smtClean="0"/>
            </a:br>
            <a:r>
              <a:rPr lang="en-GB" sz="3600" dirty="0" smtClean="0"/>
              <a:t>Additional Difficulties</a:t>
            </a:r>
            <a:br>
              <a:rPr lang="en-GB" sz="3600" dirty="0" smtClean="0"/>
            </a:br>
            <a:r>
              <a:rPr lang="en-GB" sz="3600" dirty="0" smtClean="0"/>
              <a:t/>
            </a:r>
            <a:br>
              <a:rPr lang="en-GB" sz="3600" dirty="0" smtClean="0"/>
            </a:br>
            <a:r>
              <a:rPr lang="en-GB" sz="3600" dirty="0" smtClean="0"/>
              <a:t/>
            </a:r>
            <a:br>
              <a:rPr lang="en-GB" sz="3600" dirty="0" smtClean="0"/>
            </a:br>
            <a:endParaRPr lang="en-US" sz="36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0" y="762000"/>
            <a:ext cx="6858000" cy="5416867"/>
          </a:xfrm>
          <a:prstGeom prst="rect">
            <a:avLst/>
          </a:prstGeom>
          <a:noFill/>
        </p:spPr>
        <p:txBody>
          <a:bodyPr wrap="square" rtlCol="0">
            <a:spAutoFit/>
          </a:bodyPr>
          <a:lstStyle/>
          <a:p>
            <a:pPr algn="ctr">
              <a:lnSpc>
                <a:spcPct val="150000"/>
              </a:lnSpc>
            </a:pPr>
            <a:r>
              <a:rPr lang="en-GB" sz="3600" b="1" dirty="0" smtClean="0"/>
              <a:t>Some Additional Difficulties</a:t>
            </a:r>
          </a:p>
          <a:p>
            <a:pPr algn="ctr">
              <a:lnSpc>
                <a:spcPct val="150000"/>
              </a:lnSpc>
            </a:pPr>
            <a:endParaRPr lang="en-GB" sz="3200" dirty="0" smtClean="0"/>
          </a:p>
          <a:p>
            <a:pPr>
              <a:lnSpc>
                <a:spcPct val="150000"/>
              </a:lnSpc>
              <a:buFont typeface="Arial"/>
              <a:buChar char="•"/>
            </a:pPr>
            <a:r>
              <a:rPr lang="en-GB" sz="2800" dirty="0" smtClean="0"/>
              <a:t>Generalised learning difficulties</a:t>
            </a:r>
          </a:p>
          <a:p>
            <a:pPr>
              <a:lnSpc>
                <a:spcPct val="150000"/>
              </a:lnSpc>
              <a:buFont typeface="Arial"/>
              <a:buChar char="•"/>
            </a:pPr>
            <a:r>
              <a:rPr lang="en-GB" sz="2800" dirty="0" smtClean="0"/>
              <a:t>Sensory Integration difficulties</a:t>
            </a:r>
          </a:p>
          <a:p>
            <a:pPr>
              <a:lnSpc>
                <a:spcPct val="150000"/>
              </a:lnSpc>
              <a:buFont typeface="Arial"/>
              <a:buChar char="•"/>
            </a:pPr>
            <a:r>
              <a:rPr lang="en-GB" sz="2800" dirty="0" smtClean="0"/>
              <a:t>Non-compliance and explosive behaviour</a:t>
            </a:r>
          </a:p>
          <a:p>
            <a:pPr>
              <a:lnSpc>
                <a:spcPct val="150000"/>
              </a:lnSpc>
              <a:buFont typeface="Arial"/>
              <a:buChar char="•"/>
            </a:pPr>
            <a:r>
              <a:rPr lang="en-GB" sz="2800" dirty="0" smtClean="0"/>
              <a:t>ADHD</a:t>
            </a:r>
          </a:p>
          <a:p>
            <a:pPr>
              <a:lnSpc>
                <a:spcPct val="150000"/>
              </a:lnSpc>
              <a:buFont typeface="Arial"/>
              <a:buChar char="•"/>
            </a:pPr>
            <a:r>
              <a:rPr lang="en-GB" sz="2800" dirty="0" smtClean="0"/>
              <a:t>Autism</a:t>
            </a:r>
          </a:p>
          <a:p>
            <a:pPr>
              <a:lnSpc>
                <a:spcPct val="150000"/>
              </a:lnSpc>
              <a:buFont typeface="Arial"/>
              <a:buChar char="•"/>
            </a:pPr>
            <a:endParaRPr 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685800" y="685800"/>
            <a:ext cx="7772400" cy="5113338"/>
          </a:xfrm>
        </p:spPr>
        <p:txBody>
          <a:bodyPr/>
          <a:lstStyle/>
          <a:p>
            <a:pPr marL="0" indent="0" algn="ctr" eaLnBrk="1" hangingPunct="1">
              <a:buFontTx/>
              <a:buNone/>
            </a:pPr>
            <a:r>
              <a:rPr lang="en-GB" sz="3600" b="1" dirty="0" smtClean="0">
                <a:latin typeface="Arial" charset="0"/>
              </a:rPr>
              <a:t>What is ADHD?</a:t>
            </a:r>
          </a:p>
          <a:p>
            <a:pPr marL="0" indent="0" algn="ctr" eaLnBrk="1" hangingPunct="1">
              <a:buFontTx/>
              <a:buNone/>
            </a:pPr>
            <a:endParaRPr lang="en-GB" sz="3600" dirty="0" smtClean="0">
              <a:latin typeface="Arial" charset="0"/>
            </a:endParaRPr>
          </a:p>
          <a:p>
            <a:pPr marL="0" indent="0" algn="ctr" eaLnBrk="1" hangingPunct="1">
              <a:buFontTx/>
              <a:buNone/>
            </a:pPr>
            <a:endParaRPr lang="en-GB" sz="3600" dirty="0" smtClean="0">
              <a:latin typeface="Arial" charset="0"/>
            </a:endParaRPr>
          </a:p>
          <a:p>
            <a:pPr marL="0" indent="0" algn="ctr" eaLnBrk="1" hangingPunct="1">
              <a:buFontTx/>
              <a:buNone/>
            </a:pPr>
            <a:endParaRPr lang="en-GB" sz="3600" dirty="0" smtClean="0">
              <a:latin typeface="Arial" charset="0"/>
            </a:endParaRPr>
          </a:p>
          <a:p>
            <a:pPr marL="0" indent="0" algn="ctr" eaLnBrk="1" hangingPunct="1">
              <a:buFontTx/>
              <a:buNone/>
            </a:pPr>
            <a:r>
              <a:rPr lang="en-GB" sz="2800" dirty="0" smtClean="0">
                <a:latin typeface="Arial" charset="0"/>
              </a:rPr>
              <a:t>Demonstrates </a:t>
            </a:r>
            <a:r>
              <a:rPr lang="en-GB" sz="2800" dirty="0">
                <a:latin typeface="Arial" charset="0"/>
              </a:rPr>
              <a:t>abnormality of attention and activity which is inappropriate to the age and developmental level of the </a:t>
            </a:r>
            <a:r>
              <a:rPr lang="en-GB" sz="2800" dirty="0" smtClean="0">
                <a:latin typeface="Arial" charset="0"/>
              </a:rPr>
              <a:t>child. </a:t>
            </a:r>
          </a:p>
          <a:p>
            <a:pPr marL="0" indent="0" algn="ctr" eaLnBrk="1" hangingPunct="1">
              <a:buFontTx/>
              <a:buNone/>
            </a:pPr>
            <a:r>
              <a:rPr lang="en-GB" sz="2800" dirty="0" smtClean="0">
                <a:latin typeface="Arial" charset="0"/>
              </a:rPr>
              <a:t>A pre-school child will only be diagnosed with ADHD in extreme circumstances.</a:t>
            </a:r>
            <a:endParaRPr lang="en-GB" sz="2800" dirty="0"/>
          </a:p>
        </p:txBody>
      </p:sp>
      <p:grpSp>
        <p:nvGrpSpPr>
          <p:cNvPr id="2" name="Group 4"/>
          <p:cNvGrpSpPr>
            <a:grpSpLocks/>
          </p:cNvGrpSpPr>
          <p:nvPr/>
        </p:nvGrpSpPr>
        <p:grpSpPr bwMode="auto">
          <a:xfrm>
            <a:off x="0" y="0"/>
            <a:ext cx="9144000" cy="6537325"/>
            <a:chOff x="0" y="0"/>
            <a:chExt cx="5760" cy="4118"/>
          </a:xfrm>
        </p:grpSpPr>
        <p:pic>
          <p:nvPicPr>
            <p:cNvPr id="5125" name="Picture 5" descr="blocksrgb"/>
            <p:cNvPicPr>
              <a:picLocks noChangeAspect="1" noChangeArrowheads="1"/>
            </p:cNvPicPr>
            <p:nvPr/>
          </p:nvPicPr>
          <p:blipFill>
            <a:blip r:embed="rId3"/>
            <a:srcRect/>
            <a:stretch>
              <a:fillRect/>
            </a:stretch>
          </p:blipFill>
          <p:spPr bwMode="auto">
            <a:xfrm>
              <a:off x="4604" y="3430"/>
              <a:ext cx="975" cy="688"/>
            </a:xfrm>
            <a:prstGeom prst="rect">
              <a:avLst/>
            </a:prstGeom>
            <a:noFill/>
            <a:ln w="9525">
              <a:noFill/>
              <a:miter lim="800000"/>
              <a:headEnd/>
              <a:tailEnd/>
            </a:ln>
          </p:spPr>
        </p:pic>
        <p:sp>
          <p:nvSpPr>
            <p:cNvPr id="5126" name="Rectangle 6"/>
            <p:cNvSpPr>
              <a:spLocks noChangeArrowheads="1"/>
            </p:cNvSpPr>
            <p:nvPr/>
          </p:nvSpPr>
          <p:spPr bwMode="auto">
            <a:xfrm>
              <a:off x="0" y="0"/>
              <a:ext cx="5760" cy="336"/>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5127" name="Text Box 7"/>
            <p:cNvSpPr txBox="1">
              <a:spLocks noChangeArrowheads="1"/>
            </p:cNvSpPr>
            <p:nvPr/>
          </p:nvSpPr>
          <p:spPr bwMode="auto">
            <a:xfrm>
              <a:off x="0" y="79"/>
              <a:ext cx="5760" cy="192"/>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5128" name="Picture 8" descr="Image windsor and Maidenhead"/>
            <p:cNvPicPr>
              <a:picLocks noChangeAspect="1" noChangeArrowheads="1"/>
            </p:cNvPicPr>
            <p:nvPr/>
          </p:nvPicPr>
          <p:blipFill>
            <a:blip r:embed="rId4"/>
            <a:srcRect/>
            <a:stretch>
              <a:fillRect/>
            </a:stretch>
          </p:blipFill>
          <p:spPr bwMode="auto">
            <a:xfrm>
              <a:off x="5441" y="0"/>
              <a:ext cx="319" cy="384"/>
            </a:xfrm>
            <a:prstGeom prst="rect">
              <a:avLst/>
            </a:prstGeom>
            <a:noFill/>
            <a:ln w="3175">
              <a:noFill/>
              <a:miter lim="800000"/>
              <a:headEnd/>
              <a:tailEnd/>
            </a:ln>
          </p:spPr>
        </p:pic>
      </p:grpSp>
      <p:pic>
        <p:nvPicPr>
          <p:cNvPr id="5124" name="Picture 9"/>
          <p:cNvPicPr>
            <a:picLocks noChangeAspect="1" noChangeArrowheads="1"/>
          </p:cNvPicPr>
          <p:nvPr/>
        </p:nvPicPr>
        <p:blipFill>
          <a:blip r:embed="rId5"/>
          <a:srcRect/>
          <a:stretch>
            <a:fillRect/>
          </a:stretch>
        </p:blipFill>
        <p:spPr bwMode="auto">
          <a:xfrm>
            <a:off x="3886200" y="1447800"/>
            <a:ext cx="1350963" cy="18044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381000" y="609600"/>
            <a:ext cx="8226425" cy="1736725"/>
          </a:xfrm>
        </p:spPr>
        <p:txBody>
          <a:bodyPr/>
          <a:lstStyle/>
          <a:p>
            <a:pPr eaLnBrk="1" hangingPunct="1"/>
            <a:r>
              <a:rPr lang="en-GB" sz="3600" dirty="0"/>
              <a:t>An Introduction to</a:t>
            </a:r>
            <a:r>
              <a:rPr lang="en-GB" sz="3600" dirty="0" smtClean="0"/>
              <a:t> </a:t>
            </a:r>
            <a:br>
              <a:rPr lang="en-GB" sz="3600" dirty="0" smtClean="0"/>
            </a:br>
            <a:r>
              <a:rPr lang="en-GB" sz="3600" dirty="0" smtClean="0"/>
              <a:t>Autistic Spectrum Disorder</a:t>
            </a:r>
            <a:r>
              <a:rPr lang="en-GB" dirty="0" smtClean="0"/>
              <a:t/>
            </a:r>
            <a:br>
              <a:rPr lang="en-GB" dirty="0" smtClean="0"/>
            </a:br>
            <a:endParaRPr lang="en-US" sz="2800" dirty="0"/>
          </a:p>
        </p:txBody>
      </p:sp>
      <p:sp>
        <p:nvSpPr>
          <p:cNvPr id="18435" name="Rectangle 3"/>
          <p:cNvSpPr>
            <a:spLocks noGrp="1" noChangeArrowheads="1"/>
          </p:cNvSpPr>
          <p:nvPr>
            <p:ph type="subTitle" idx="4294967295"/>
          </p:nvPr>
        </p:nvSpPr>
        <p:spPr>
          <a:xfrm>
            <a:off x="381000" y="5029200"/>
            <a:ext cx="8382000" cy="1981200"/>
          </a:xfrm>
        </p:spPr>
        <p:txBody>
          <a:bodyPr/>
          <a:lstStyle/>
          <a:p>
            <a:pPr marL="0" indent="0" algn="ctr" eaLnBrk="1" hangingPunct="1">
              <a:buFontTx/>
              <a:buNone/>
            </a:pPr>
            <a:r>
              <a:rPr lang="en-GB" dirty="0" smtClean="0"/>
              <a:t>Quiz – Fact or Fiction? </a:t>
            </a:r>
          </a:p>
          <a:p>
            <a:pPr marL="0" indent="0" algn="ctr" eaLnBrk="1" hangingPunct="1">
              <a:buFontTx/>
              <a:buNone/>
            </a:pPr>
            <a:endParaRPr lang="en-GB" dirty="0" smtClean="0"/>
          </a:p>
          <a:p>
            <a:pPr marL="0" indent="0" eaLnBrk="1" hangingPunct="1">
              <a:buFontTx/>
              <a:buNone/>
            </a:pPr>
            <a:r>
              <a:rPr lang="en-GB" sz="1800" dirty="0" smtClean="0"/>
              <a:t>Slides adapted from: ELSA </a:t>
            </a:r>
            <a:r>
              <a:rPr lang="en-GB" sz="1800" dirty="0"/>
              <a:t>Training </a:t>
            </a:r>
            <a:r>
              <a:rPr lang="en-GB" sz="1800" dirty="0" smtClean="0"/>
              <a:t>Manual, Sheila </a:t>
            </a:r>
            <a:r>
              <a:rPr lang="en-GB" sz="1800" dirty="0"/>
              <a:t>Burton</a:t>
            </a:r>
            <a:endParaRPr lang="en-US" sz="1800" dirty="0"/>
          </a:p>
        </p:txBody>
      </p:sp>
      <p:pic>
        <p:nvPicPr>
          <p:cNvPr id="4" name="Picture 3"/>
          <p:cNvPicPr/>
          <p:nvPr/>
        </p:nvPicPr>
        <p:blipFill>
          <a:blip r:embed="rId3"/>
          <a:srcRect/>
          <a:stretch>
            <a:fillRect/>
          </a:stretch>
        </p:blipFill>
        <p:spPr bwMode="auto">
          <a:xfrm>
            <a:off x="2667000" y="2500160"/>
            <a:ext cx="3693160" cy="23766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457200" y="533400"/>
            <a:ext cx="8229600" cy="1143000"/>
          </a:xfrm>
        </p:spPr>
        <p:txBody>
          <a:bodyPr/>
          <a:lstStyle/>
          <a:p>
            <a:pPr eaLnBrk="1" hangingPunct="1"/>
            <a:r>
              <a:rPr lang="en-GB" sz="3600" dirty="0">
                <a:latin typeface="Arial"/>
              </a:rPr>
              <a:t>Aims</a:t>
            </a:r>
            <a:endParaRPr lang="en-US" sz="3600" dirty="0">
              <a:latin typeface="Arial"/>
            </a:endParaRPr>
          </a:p>
        </p:txBody>
      </p:sp>
      <p:sp>
        <p:nvSpPr>
          <p:cNvPr id="19459" name="Rectangle 3"/>
          <p:cNvSpPr>
            <a:spLocks noGrp="1" noChangeArrowheads="1"/>
          </p:cNvSpPr>
          <p:nvPr>
            <p:ph type="body" idx="4294967295"/>
          </p:nvPr>
        </p:nvSpPr>
        <p:spPr>
          <a:xfrm>
            <a:off x="685800" y="1828800"/>
            <a:ext cx="8229600" cy="4525963"/>
          </a:xfrm>
        </p:spPr>
        <p:txBody>
          <a:bodyPr/>
          <a:lstStyle/>
          <a:p>
            <a:pPr eaLnBrk="1" hangingPunct="1">
              <a:buFontTx/>
              <a:buNone/>
            </a:pPr>
            <a:r>
              <a:rPr lang="en-GB" sz="2800" dirty="0"/>
              <a:t>The aims are to</a:t>
            </a:r>
            <a:r>
              <a:rPr lang="en-GB" sz="2800" dirty="0" smtClean="0"/>
              <a:t>:</a:t>
            </a:r>
          </a:p>
          <a:p>
            <a:pPr eaLnBrk="1" hangingPunct="1">
              <a:buFontTx/>
              <a:buNone/>
            </a:pPr>
            <a:endParaRPr lang="en-GB" sz="2800" dirty="0" smtClean="0"/>
          </a:p>
          <a:p>
            <a:pPr eaLnBrk="1" hangingPunct="1"/>
            <a:r>
              <a:rPr lang="en-GB" sz="2800" dirty="0"/>
              <a:t>understand the nature of autism</a:t>
            </a:r>
          </a:p>
          <a:p>
            <a:pPr eaLnBrk="1" hangingPunct="1"/>
            <a:r>
              <a:rPr lang="en-GB" sz="2800" dirty="0"/>
              <a:t>explore some key theories</a:t>
            </a:r>
          </a:p>
          <a:p>
            <a:pPr eaLnBrk="1" hangingPunct="1"/>
            <a:r>
              <a:rPr lang="en-GB" sz="2800" dirty="0"/>
              <a:t>raise awareness of their </a:t>
            </a:r>
            <a:r>
              <a:rPr lang="en-GB" sz="2800" dirty="0" smtClean="0"/>
              <a:t>difficulties and how to support the children</a:t>
            </a:r>
          </a:p>
          <a:p>
            <a:pPr eaLnBrk="1" hangingPunct="1">
              <a:buNone/>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‘History’ of Autism</a:t>
            </a:r>
            <a:endParaRPr lang="en-US" sz="3200" dirty="0">
              <a:latin typeface="Arial"/>
            </a:endParaRPr>
          </a:p>
        </p:txBody>
      </p:sp>
      <p:sp>
        <p:nvSpPr>
          <p:cNvPr id="20483" name="Rectangle 3"/>
          <p:cNvSpPr>
            <a:spLocks noGrp="1" noChangeArrowheads="1"/>
          </p:cNvSpPr>
          <p:nvPr>
            <p:ph type="body" idx="4294967295"/>
          </p:nvPr>
        </p:nvSpPr>
        <p:spPr>
          <a:xfrm>
            <a:off x="533400" y="1828800"/>
            <a:ext cx="8229600" cy="4525963"/>
          </a:xfrm>
        </p:spPr>
        <p:txBody>
          <a:bodyPr/>
          <a:lstStyle/>
          <a:p>
            <a:pPr eaLnBrk="1" hangingPunct="1"/>
            <a:r>
              <a:rPr lang="en-GB" sz="2400" dirty="0"/>
              <a:t>First described by Leo </a:t>
            </a:r>
            <a:r>
              <a:rPr lang="en-GB" sz="2400" dirty="0" err="1"/>
              <a:t>Kanner</a:t>
            </a:r>
            <a:r>
              <a:rPr lang="en-GB" sz="2400" dirty="0"/>
              <a:t>, 1943.</a:t>
            </a:r>
          </a:p>
          <a:p>
            <a:pPr eaLnBrk="1" hangingPunct="1"/>
            <a:r>
              <a:rPr lang="en-GB" sz="2400" dirty="0"/>
              <a:t>Summarised the case histories of 11 children.</a:t>
            </a:r>
          </a:p>
          <a:p>
            <a:pPr eaLnBrk="1" hangingPunct="1"/>
            <a:r>
              <a:rPr lang="en-GB" sz="2400" dirty="0"/>
              <a:t>Listed a number of unusual characteristics common to each.</a:t>
            </a:r>
          </a:p>
          <a:p>
            <a:pPr eaLnBrk="1" hangingPunct="1"/>
            <a:r>
              <a:rPr lang="en-GB" sz="2400" dirty="0"/>
              <a:t>Hans </a:t>
            </a:r>
            <a:r>
              <a:rPr lang="en-GB" sz="2400" dirty="0" err="1"/>
              <a:t>Asperger</a:t>
            </a:r>
            <a:r>
              <a:rPr lang="en-GB" sz="2400" dirty="0"/>
              <a:t>, 1944, recognised a pattern of abnormal behaviour in a group of adolescents.</a:t>
            </a:r>
          </a:p>
          <a:p>
            <a:pPr eaLnBrk="1" hangingPunct="1"/>
            <a:r>
              <a:rPr lang="en-GB" sz="2400" dirty="0"/>
              <a:t>Understanding has been refined over time, recognising variations in degree of autism.</a:t>
            </a:r>
          </a:p>
          <a:p>
            <a:pPr eaLnBrk="1" hangingPunct="1"/>
            <a:r>
              <a:rPr lang="en-GB" sz="2400" dirty="0"/>
              <a:t>More prevalent in boys than girls</a:t>
            </a:r>
            <a:r>
              <a:rPr lang="en-GB" sz="2800" dirty="0"/>
              <a:t>.</a:t>
            </a:r>
            <a:endParaRPr lang="en-US"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Diagnosis</a:t>
            </a:r>
            <a:endParaRPr lang="en-US" sz="3200" dirty="0">
              <a:latin typeface="Arial"/>
            </a:endParaRPr>
          </a:p>
        </p:txBody>
      </p:sp>
      <p:sp>
        <p:nvSpPr>
          <p:cNvPr id="22531" name="Rectangle 3"/>
          <p:cNvSpPr>
            <a:spLocks noGrp="1" noChangeArrowheads="1"/>
          </p:cNvSpPr>
          <p:nvPr>
            <p:ph type="body" idx="4294967295"/>
          </p:nvPr>
        </p:nvSpPr>
        <p:spPr>
          <a:xfrm>
            <a:off x="539552" y="1772816"/>
            <a:ext cx="8229600" cy="4525963"/>
          </a:xfrm>
        </p:spPr>
        <p:txBody>
          <a:bodyPr/>
          <a:lstStyle/>
          <a:p>
            <a:pPr eaLnBrk="1" hangingPunct="1"/>
            <a:r>
              <a:rPr lang="en-GB" sz="2800" dirty="0" smtClean="0"/>
              <a:t>No single identified </a:t>
            </a:r>
            <a:r>
              <a:rPr lang="en-GB" sz="2800" dirty="0"/>
              <a:t>gene (unlike many syndromes</a:t>
            </a:r>
            <a:r>
              <a:rPr lang="en-GB" sz="2800" dirty="0" smtClean="0"/>
              <a:t>).No scan/blood test involved</a:t>
            </a:r>
            <a:endParaRPr lang="en-GB" sz="2800" dirty="0"/>
          </a:p>
          <a:p>
            <a:pPr eaLnBrk="1" hangingPunct="1"/>
            <a:r>
              <a:rPr lang="en-GB" sz="2800" dirty="0"/>
              <a:t>Relies on behavioural </a:t>
            </a:r>
            <a:r>
              <a:rPr lang="en-GB" sz="2800" dirty="0" smtClean="0"/>
              <a:t>observation of child and conversations with parents</a:t>
            </a:r>
            <a:endParaRPr lang="en-GB" sz="2800" dirty="0"/>
          </a:p>
          <a:p>
            <a:pPr eaLnBrk="1" hangingPunct="1"/>
            <a:r>
              <a:rPr lang="en-GB" sz="2800" dirty="0"/>
              <a:t>Diagnosis via Health </a:t>
            </a:r>
            <a:r>
              <a:rPr lang="en-GB" sz="2800" dirty="0" smtClean="0"/>
              <a:t>Service</a:t>
            </a:r>
            <a:endParaRPr lang="en-GB" sz="2800" dirty="0"/>
          </a:p>
          <a:p>
            <a:pPr eaLnBrk="1" hangingPunct="1"/>
            <a:r>
              <a:rPr lang="en-GB" sz="2800" dirty="0"/>
              <a:t>Usually a long waiting list for </a:t>
            </a:r>
            <a:r>
              <a:rPr lang="en-GB" sz="2800" dirty="0" smtClean="0"/>
              <a:t>assessment</a:t>
            </a:r>
            <a:endParaRPr lang="en-GB" sz="2800" dirty="0"/>
          </a:p>
          <a:p>
            <a:pPr eaLnBrk="1" hangingPunct="1"/>
            <a:r>
              <a:rPr lang="en-GB" sz="2800" dirty="0"/>
              <a:t>Terminology – autistic spectrum </a:t>
            </a:r>
            <a:r>
              <a:rPr lang="en-GB" sz="2800" dirty="0" smtClean="0"/>
              <a:t>disorder </a:t>
            </a:r>
            <a:r>
              <a:rPr lang="en-GB" sz="2800" dirty="0"/>
              <a:t>(</a:t>
            </a:r>
            <a:r>
              <a:rPr lang="en-GB" sz="2800" dirty="0" smtClean="0"/>
              <a:t>ASD)</a:t>
            </a:r>
            <a:r>
              <a:rPr lang="en-GB" sz="2800" dirty="0"/>
              <a:t>… recognising degrees of autism</a:t>
            </a:r>
            <a:r>
              <a:rPr lang="en-GB" dirty="0"/>
              <a:t>.</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457200" y="361950"/>
            <a:ext cx="8229600" cy="1143000"/>
          </a:xfrm>
        </p:spPr>
        <p:txBody>
          <a:bodyPr/>
          <a:lstStyle/>
          <a:p>
            <a:pPr eaLnBrk="1" hangingPunct="1"/>
            <a:r>
              <a:rPr lang="en-GB" sz="3200" dirty="0" smtClean="0">
                <a:latin typeface="+mn-lt"/>
              </a:rPr>
              <a:t>Nature of Autism</a:t>
            </a:r>
            <a:r>
              <a:rPr lang="en-GB" dirty="0" smtClean="0">
                <a:latin typeface="+mn-lt"/>
              </a:rPr>
              <a:t> </a:t>
            </a:r>
            <a:endParaRPr lang="en-US" dirty="0">
              <a:latin typeface="+mn-lt"/>
            </a:endParaRPr>
          </a:p>
        </p:txBody>
      </p:sp>
      <p:sp>
        <p:nvSpPr>
          <p:cNvPr id="23555" name="Rectangle 3"/>
          <p:cNvSpPr>
            <a:spLocks noGrp="1" noChangeArrowheads="1"/>
          </p:cNvSpPr>
          <p:nvPr>
            <p:ph type="body" idx="4294967295"/>
          </p:nvPr>
        </p:nvSpPr>
        <p:spPr>
          <a:xfrm>
            <a:off x="990600" y="1628775"/>
            <a:ext cx="8229600" cy="4525963"/>
          </a:xfrm>
        </p:spPr>
        <p:txBody>
          <a:bodyPr/>
          <a:lstStyle/>
          <a:p>
            <a:pPr eaLnBrk="1" hangingPunct="1">
              <a:lnSpc>
                <a:spcPct val="90000"/>
              </a:lnSpc>
            </a:pPr>
            <a:r>
              <a:rPr lang="en-GB" sz="2800" dirty="0"/>
              <a:t>Developmental (emerges over time</a:t>
            </a:r>
            <a:r>
              <a:rPr lang="en-GB" sz="2800" dirty="0" smtClean="0"/>
              <a:t>) related to </a:t>
            </a:r>
            <a:r>
              <a:rPr lang="en-GB" sz="2800" dirty="0" err="1" smtClean="0"/>
              <a:t>dofferences</a:t>
            </a:r>
            <a:r>
              <a:rPr lang="en-GB" sz="2800" dirty="0" smtClean="0"/>
              <a:t> in brain development rather than ‘damage’</a:t>
            </a:r>
          </a:p>
          <a:p>
            <a:pPr eaLnBrk="1" hangingPunct="1">
              <a:lnSpc>
                <a:spcPct val="90000"/>
              </a:lnSpc>
            </a:pPr>
            <a:r>
              <a:rPr lang="en-GB" sz="2800" dirty="0"/>
              <a:t>Organic (biologically based</a:t>
            </a:r>
            <a:r>
              <a:rPr lang="en-GB" sz="2800" dirty="0" smtClean="0"/>
              <a:t>)</a:t>
            </a:r>
          </a:p>
          <a:p>
            <a:pPr eaLnBrk="1" hangingPunct="1">
              <a:lnSpc>
                <a:spcPct val="90000"/>
              </a:lnSpc>
            </a:pPr>
            <a:r>
              <a:rPr lang="en-GB" sz="2800" dirty="0" smtClean="0"/>
              <a:t>Lifelong</a:t>
            </a:r>
          </a:p>
          <a:p>
            <a:pPr eaLnBrk="1" hangingPunct="1">
              <a:lnSpc>
                <a:spcPct val="90000"/>
              </a:lnSpc>
            </a:pPr>
            <a:r>
              <a:rPr lang="en-GB" sz="2800" dirty="0"/>
              <a:t>Areas of difficulty:	</a:t>
            </a:r>
          </a:p>
          <a:p>
            <a:pPr lvl="1" eaLnBrk="1" hangingPunct="1">
              <a:lnSpc>
                <a:spcPct val="90000"/>
              </a:lnSpc>
              <a:buFont typeface="Times" charset="0"/>
              <a:buChar char="•"/>
            </a:pPr>
            <a:r>
              <a:rPr lang="en-GB" sz="2400" dirty="0"/>
              <a:t>social relationships</a:t>
            </a:r>
          </a:p>
          <a:p>
            <a:pPr lvl="1" eaLnBrk="1" hangingPunct="1">
              <a:lnSpc>
                <a:spcPct val="90000"/>
              </a:lnSpc>
              <a:buFont typeface="Times" charset="0"/>
              <a:buChar char="•"/>
            </a:pPr>
            <a:r>
              <a:rPr lang="en-GB" sz="2400" dirty="0"/>
              <a:t>communication</a:t>
            </a:r>
          </a:p>
          <a:p>
            <a:pPr lvl="1" eaLnBrk="1" hangingPunct="1">
              <a:lnSpc>
                <a:spcPct val="90000"/>
              </a:lnSpc>
              <a:buFont typeface="Times" charset="0"/>
              <a:buChar char="•"/>
            </a:pPr>
            <a:r>
              <a:rPr lang="en-GB" sz="2400" dirty="0"/>
              <a:t>language</a:t>
            </a:r>
          </a:p>
          <a:p>
            <a:pPr lvl="1" eaLnBrk="1" hangingPunct="1">
              <a:lnSpc>
                <a:spcPct val="90000"/>
              </a:lnSpc>
              <a:buFont typeface="Times" charset="0"/>
              <a:buChar char="•"/>
            </a:pPr>
            <a:r>
              <a:rPr lang="en-GB" sz="2400" dirty="0"/>
              <a:t>cognition</a:t>
            </a:r>
          </a:p>
          <a:p>
            <a:pPr lvl="1" eaLnBrk="1" hangingPunct="1">
              <a:lnSpc>
                <a:spcPct val="90000"/>
              </a:lnSpc>
              <a:buFont typeface="Times" charset="0"/>
              <a:buChar char="•"/>
            </a:pPr>
            <a:r>
              <a:rPr lang="en-GB" sz="2400" dirty="0"/>
              <a:t>learning. </a:t>
            </a:r>
            <a:endParaRPr 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a:rPr>
              <a:t>Triad of Impairments</a:t>
            </a:r>
            <a:endParaRPr lang="en-US" sz="3200" dirty="0">
              <a:latin typeface="Arial"/>
            </a:endParaRPr>
          </a:p>
        </p:txBody>
      </p:sp>
      <p:sp>
        <p:nvSpPr>
          <p:cNvPr id="24579" name="Rectangle 3"/>
          <p:cNvSpPr>
            <a:spLocks noGrp="1" noChangeArrowheads="1"/>
          </p:cNvSpPr>
          <p:nvPr>
            <p:ph type="body" idx="4294967295"/>
          </p:nvPr>
        </p:nvSpPr>
        <p:spPr>
          <a:xfrm>
            <a:off x="965200" y="1557338"/>
            <a:ext cx="8226425" cy="4497387"/>
          </a:xfrm>
        </p:spPr>
        <p:txBody>
          <a:bodyPr/>
          <a:lstStyle/>
          <a:p>
            <a:pPr eaLnBrk="1" hangingPunct="1">
              <a:buFontTx/>
              <a:buNone/>
            </a:pPr>
            <a:r>
              <a:rPr lang="en-GB"/>
              <a:t>Described by Lorna Wing (1981)</a:t>
            </a:r>
            <a:endParaRPr lang="en-US"/>
          </a:p>
        </p:txBody>
      </p:sp>
      <p:sp>
        <p:nvSpPr>
          <p:cNvPr id="24580" name="AutoShape 4"/>
          <p:cNvSpPr>
            <a:spLocks noChangeArrowheads="1"/>
          </p:cNvSpPr>
          <p:nvPr/>
        </p:nvSpPr>
        <p:spPr bwMode="auto">
          <a:xfrm>
            <a:off x="3132138" y="2997200"/>
            <a:ext cx="2736850" cy="2376488"/>
          </a:xfrm>
          <a:prstGeom prst="triangle">
            <a:avLst>
              <a:gd name="adj" fmla="val 50000"/>
            </a:avLst>
          </a:prstGeom>
          <a:solidFill>
            <a:srgbClr val="000099"/>
          </a:solidFill>
          <a:ln w="9525">
            <a:solidFill>
              <a:schemeClr val="tx1"/>
            </a:solidFill>
            <a:miter lim="800000"/>
            <a:headEnd/>
            <a:tailEnd/>
          </a:ln>
        </p:spPr>
        <p:txBody>
          <a:bodyPr wrap="none" anchor="ctr">
            <a:prstTxWarp prst="textNoShape">
              <a:avLst/>
            </a:prstTxWarp>
          </a:bodyPr>
          <a:lstStyle/>
          <a:p>
            <a:endParaRPr lang="en-GB" b="1">
              <a:ea typeface="Arial" charset="0"/>
              <a:cs typeface="Arial" charset="0"/>
            </a:endParaRPr>
          </a:p>
        </p:txBody>
      </p:sp>
      <p:sp>
        <p:nvSpPr>
          <p:cNvPr id="24581" name="WordArt 5"/>
          <p:cNvSpPr>
            <a:spLocks noChangeArrowheads="1" noChangeShapeType="1" noTextEdit="1"/>
          </p:cNvSpPr>
          <p:nvPr/>
        </p:nvSpPr>
        <p:spPr bwMode="auto">
          <a:xfrm>
            <a:off x="2843213" y="2492375"/>
            <a:ext cx="3095625" cy="360363"/>
          </a:xfrm>
          <a:prstGeom prst="rect">
            <a:avLst/>
          </a:prstGeom>
        </p:spPr>
        <p:txBody>
          <a:bodyPr wrap="none" fromWordArt="1">
            <a:prstTxWarp prst="textPlain">
              <a:avLst>
                <a:gd name="adj" fmla="val 48921"/>
              </a:avLst>
            </a:prstTxWarp>
          </a:bodyPr>
          <a:lstStyle/>
          <a:p>
            <a:pPr algn="ctr"/>
            <a:r>
              <a:rPr lang="en-US" sz="3600" b="1" kern="10">
                <a:ln w="9525">
                  <a:solidFill>
                    <a:srgbClr val="000000"/>
                  </a:solidFill>
                  <a:round/>
                  <a:headEnd/>
                  <a:tailEnd/>
                </a:ln>
                <a:solidFill>
                  <a:schemeClr val="hlink"/>
                </a:solidFill>
                <a:latin typeface="Arial Black"/>
                <a:ea typeface="Arial Black"/>
                <a:cs typeface="Arial Black"/>
              </a:rPr>
              <a:t>Social Relationships</a:t>
            </a:r>
          </a:p>
        </p:txBody>
      </p:sp>
      <p:sp>
        <p:nvSpPr>
          <p:cNvPr id="24582" name="WordArt 6"/>
          <p:cNvSpPr>
            <a:spLocks noChangeArrowheads="1" noChangeShapeType="1" noTextEdit="1"/>
          </p:cNvSpPr>
          <p:nvPr/>
        </p:nvSpPr>
        <p:spPr bwMode="auto">
          <a:xfrm>
            <a:off x="827088" y="5084763"/>
            <a:ext cx="2881312" cy="792162"/>
          </a:xfrm>
          <a:prstGeom prst="rect">
            <a:avLst/>
          </a:prstGeom>
        </p:spPr>
        <p:txBody>
          <a:bodyPr wrap="none" fromWordArt="1">
            <a:prstTxWarp prst="textPlain">
              <a:avLst>
                <a:gd name="adj" fmla="val 47514"/>
              </a:avLst>
            </a:prstTxWarp>
          </a:bodyPr>
          <a:lstStyle/>
          <a:p>
            <a:r>
              <a:rPr lang="en-US" sz="3600" b="1" kern="10">
                <a:ln w="9525">
                  <a:solidFill>
                    <a:srgbClr val="000000"/>
                  </a:solidFill>
                  <a:round/>
                  <a:headEnd/>
                  <a:tailEnd/>
                </a:ln>
                <a:solidFill>
                  <a:schemeClr val="hlink"/>
                </a:solidFill>
                <a:latin typeface="Arial Black"/>
                <a:ea typeface="Arial Black"/>
                <a:cs typeface="Arial Black"/>
              </a:rPr>
              <a:t>Social </a:t>
            </a:r>
          </a:p>
          <a:p>
            <a:r>
              <a:rPr lang="en-US" sz="3600" b="1" kern="10">
                <a:ln w="9525">
                  <a:solidFill>
                    <a:srgbClr val="000000"/>
                  </a:solidFill>
                  <a:round/>
                  <a:headEnd/>
                  <a:tailEnd/>
                </a:ln>
                <a:solidFill>
                  <a:schemeClr val="hlink"/>
                </a:solidFill>
                <a:latin typeface="Arial Black"/>
                <a:ea typeface="Arial Black"/>
                <a:cs typeface="Arial Black"/>
              </a:rPr>
              <a:t>Communication</a:t>
            </a:r>
          </a:p>
        </p:txBody>
      </p:sp>
      <p:sp>
        <p:nvSpPr>
          <p:cNvPr id="24583" name="WordArt 7"/>
          <p:cNvSpPr>
            <a:spLocks noChangeArrowheads="1" noChangeShapeType="1" noTextEdit="1"/>
          </p:cNvSpPr>
          <p:nvPr/>
        </p:nvSpPr>
        <p:spPr bwMode="auto">
          <a:xfrm>
            <a:off x="5795963" y="5589588"/>
            <a:ext cx="2016125" cy="360362"/>
          </a:xfrm>
          <a:prstGeom prst="rect">
            <a:avLst/>
          </a:prstGeom>
        </p:spPr>
        <p:txBody>
          <a:bodyPr wrap="none" fromWordArt="1">
            <a:prstTxWarp prst="textPlain">
              <a:avLst>
                <a:gd name="adj" fmla="val 48190"/>
              </a:avLst>
            </a:prstTxWarp>
          </a:bodyPr>
          <a:lstStyle/>
          <a:p>
            <a:pPr algn="ctr"/>
            <a:r>
              <a:rPr lang="en-US" sz="3600" b="1" kern="10">
                <a:ln w="9525">
                  <a:solidFill>
                    <a:srgbClr val="000000"/>
                  </a:solidFill>
                  <a:round/>
                  <a:headEnd/>
                  <a:tailEnd/>
                </a:ln>
                <a:solidFill>
                  <a:schemeClr val="hlink"/>
                </a:solidFill>
                <a:latin typeface="Arial Black"/>
                <a:ea typeface="Arial Black"/>
                <a:cs typeface="Arial Black"/>
              </a:rPr>
              <a:t>Imagination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Black" charset="0"/>
              </a:rPr>
              <a:t> </a:t>
            </a:r>
            <a:r>
              <a:rPr lang="en-GB" sz="3200" dirty="0">
                <a:latin typeface="Arial"/>
              </a:rPr>
              <a:t>What Does it Look Like?</a:t>
            </a:r>
            <a:r>
              <a:rPr lang="en-GB" dirty="0">
                <a:latin typeface="Arial"/>
              </a:rPr>
              <a:t> </a:t>
            </a:r>
            <a:endParaRPr lang="en-US" dirty="0">
              <a:latin typeface="Arial"/>
            </a:endParaRPr>
          </a:p>
        </p:txBody>
      </p:sp>
      <p:sp>
        <p:nvSpPr>
          <p:cNvPr id="25603" name="Rectangle 3"/>
          <p:cNvSpPr>
            <a:spLocks noGrp="1" noChangeArrowheads="1"/>
          </p:cNvSpPr>
          <p:nvPr>
            <p:ph type="body" idx="4294967295"/>
          </p:nvPr>
        </p:nvSpPr>
        <p:spPr>
          <a:xfrm>
            <a:off x="381000" y="1905000"/>
            <a:ext cx="8229600" cy="4525963"/>
          </a:xfrm>
        </p:spPr>
        <p:txBody>
          <a:bodyPr/>
          <a:lstStyle/>
          <a:p>
            <a:pPr eaLnBrk="1" hangingPunct="1">
              <a:buFont typeface="Times" charset="0"/>
              <a:buChar char="•"/>
            </a:pPr>
            <a:r>
              <a:rPr lang="en-GB" sz="2800" dirty="0"/>
              <a:t>Have you known any children with autism</a:t>
            </a:r>
            <a:r>
              <a:rPr lang="en-GB" sz="2800" dirty="0" smtClean="0"/>
              <a:t>?</a:t>
            </a:r>
          </a:p>
          <a:p>
            <a:pPr eaLnBrk="1" hangingPunct="1">
              <a:buNone/>
            </a:pPr>
            <a:endParaRPr lang="en-GB" sz="2800" dirty="0" smtClean="0"/>
          </a:p>
          <a:p>
            <a:pPr eaLnBrk="1" hangingPunct="1"/>
            <a:r>
              <a:rPr lang="en-GB" sz="2800" dirty="0"/>
              <a:t>In which ways have they been different from others</a:t>
            </a:r>
            <a:r>
              <a:rPr lang="en-GB" sz="2800" dirty="0" smtClean="0"/>
              <a:t>?</a:t>
            </a:r>
          </a:p>
          <a:p>
            <a:pPr eaLnBrk="1" hangingPunct="1">
              <a:buNone/>
            </a:pPr>
            <a:endParaRPr lang="en-GB" sz="2800" dirty="0" smtClean="0"/>
          </a:p>
          <a:p>
            <a:pPr eaLnBrk="1" hangingPunct="1"/>
            <a:r>
              <a:rPr lang="en-GB" sz="2800" dirty="0"/>
              <a:t>Discuss your experiences in a small group. </a:t>
            </a:r>
            <a:endParaRPr lang="en-US" sz="2800"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57200" y="361950"/>
            <a:ext cx="8229600" cy="1143000"/>
          </a:xfrm>
        </p:spPr>
        <p:txBody>
          <a:bodyPr/>
          <a:lstStyle/>
          <a:p>
            <a:pPr eaLnBrk="1" hangingPunct="1"/>
            <a:r>
              <a:rPr lang="en-GB" sz="3200" dirty="0">
                <a:latin typeface="Arial"/>
              </a:rPr>
              <a:t>Continuum of Difficulty</a:t>
            </a:r>
            <a:endParaRPr lang="en-US" sz="3200" dirty="0">
              <a:latin typeface="Arial"/>
            </a:endParaRPr>
          </a:p>
        </p:txBody>
      </p:sp>
      <p:sp>
        <p:nvSpPr>
          <p:cNvPr id="26627" name="Rectangle 3"/>
          <p:cNvSpPr>
            <a:spLocks noGrp="1" noChangeArrowheads="1"/>
          </p:cNvSpPr>
          <p:nvPr>
            <p:ph type="body" idx="4294967295"/>
          </p:nvPr>
        </p:nvSpPr>
        <p:spPr>
          <a:xfrm>
            <a:off x="457200" y="1600200"/>
            <a:ext cx="8229600" cy="4525963"/>
          </a:xfrm>
        </p:spPr>
        <p:txBody>
          <a:bodyPr/>
          <a:lstStyle/>
          <a:p>
            <a:pPr eaLnBrk="1" hangingPunct="1"/>
            <a:r>
              <a:rPr lang="en-GB" sz="2400" dirty="0"/>
              <a:t>Wing expounded notion of a continuum</a:t>
            </a:r>
            <a:r>
              <a:rPr lang="en-GB" sz="2400" dirty="0" smtClean="0"/>
              <a:t>.</a:t>
            </a:r>
          </a:p>
          <a:p>
            <a:pPr eaLnBrk="1" hangingPunct="1">
              <a:buNone/>
            </a:pPr>
            <a:endParaRPr lang="en-GB" sz="1400" dirty="0" smtClean="0"/>
          </a:p>
          <a:p>
            <a:pPr eaLnBrk="1" hangingPunct="1"/>
            <a:r>
              <a:rPr lang="en-GB" sz="2400" dirty="0"/>
              <a:t>Lower functioning children frequently show</a:t>
            </a:r>
          </a:p>
          <a:p>
            <a:pPr eaLnBrk="1" hangingPunct="1">
              <a:buFontTx/>
              <a:buNone/>
            </a:pPr>
            <a:r>
              <a:rPr lang="en-GB" sz="2400" dirty="0"/>
              <a:t>	abnormal responses to sensory </a:t>
            </a:r>
            <a:r>
              <a:rPr lang="en-GB" sz="2400" dirty="0" smtClean="0"/>
              <a:t>stimuli with </a:t>
            </a:r>
            <a:r>
              <a:rPr lang="en-GB" sz="2400" dirty="0"/>
              <a:t>repetitive movements, such as flapping or hypersensitivity to noise</a:t>
            </a:r>
            <a:r>
              <a:rPr lang="en-GB" sz="2400" dirty="0" smtClean="0"/>
              <a:t>.</a:t>
            </a:r>
          </a:p>
          <a:p>
            <a:pPr eaLnBrk="1" hangingPunct="1">
              <a:buFontTx/>
              <a:buNone/>
            </a:pPr>
            <a:endParaRPr lang="en-GB" sz="1400" dirty="0" smtClean="0"/>
          </a:p>
          <a:p>
            <a:pPr eaLnBrk="1" hangingPunct="1"/>
            <a:r>
              <a:rPr lang="en-GB" sz="2400" dirty="0"/>
              <a:t>Higher functioning children sometimes possess an area of exceptional skill</a:t>
            </a:r>
            <a:r>
              <a:rPr lang="en-GB" sz="2400" dirty="0" smtClean="0"/>
              <a:t>.</a:t>
            </a:r>
          </a:p>
          <a:p>
            <a:pPr eaLnBrk="1" hangingPunct="1">
              <a:buNone/>
            </a:pPr>
            <a:endParaRPr lang="en-GB" sz="1400" dirty="0" smtClean="0"/>
          </a:p>
          <a:p>
            <a:pPr eaLnBrk="1" hangingPunct="1"/>
            <a:r>
              <a:rPr lang="en-GB" sz="2400" dirty="0" err="1"/>
              <a:t>Asperger’s</a:t>
            </a:r>
            <a:r>
              <a:rPr lang="en-GB" sz="2400" dirty="0"/>
              <a:t> Syndrome – more able/</a:t>
            </a:r>
            <a:r>
              <a:rPr lang="en-GB" sz="2400" dirty="0" smtClean="0"/>
              <a:t>verbal, although it is now considered part of ASD (</a:t>
            </a:r>
            <a:r>
              <a:rPr lang="en-GB" sz="2400" dirty="0" err="1" smtClean="0"/>
              <a:t>Asperger’s</a:t>
            </a:r>
            <a:r>
              <a:rPr lang="en-GB" sz="2400" dirty="0" smtClean="0"/>
              <a:t> can still be used as a description)</a:t>
            </a:r>
          </a:p>
          <a:p>
            <a:pPr eaLnBrk="1" hangingPunct="1"/>
            <a:endParaRPr lang="en-US" sz="2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457200" y="381000"/>
            <a:ext cx="8226425" cy="1143000"/>
          </a:xfrm>
        </p:spPr>
        <p:txBody>
          <a:bodyPr/>
          <a:lstStyle/>
          <a:p>
            <a:pPr eaLnBrk="1" hangingPunct="1"/>
            <a:r>
              <a:rPr lang="en-GB" sz="3200" dirty="0">
                <a:latin typeface="Arial"/>
              </a:rPr>
              <a:t>Impairment of Social Relationships</a:t>
            </a:r>
            <a:endParaRPr lang="en-US" sz="3200" dirty="0">
              <a:latin typeface="Arial"/>
            </a:endParaRPr>
          </a:p>
        </p:txBody>
      </p:sp>
      <p:sp>
        <p:nvSpPr>
          <p:cNvPr id="27651" name="Rectangle 3"/>
          <p:cNvSpPr>
            <a:spLocks noGrp="1" noChangeArrowheads="1"/>
          </p:cNvSpPr>
          <p:nvPr>
            <p:ph type="body" idx="4294967295"/>
          </p:nvPr>
        </p:nvSpPr>
        <p:spPr>
          <a:xfrm>
            <a:off x="609600" y="1600200"/>
            <a:ext cx="8226425" cy="4497388"/>
          </a:xfrm>
        </p:spPr>
        <p:txBody>
          <a:bodyPr/>
          <a:lstStyle/>
          <a:p>
            <a:pPr marL="609600" indent="-609600" eaLnBrk="1" hangingPunct="1">
              <a:buNone/>
            </a:pPr>
            <a:r>
              <a:rPr lang="en-GB" sz="2800" dirty="0"/>
              <a:t>Difficulty with social empathy</a:t>
            </a:r>
            <a:endParaRPr lang="en-GB" sz="2800" dirty="0" smtClean="0"/>
          </a:p>
          <a:p>
            <a:pPr marL="609600" indent="-609600" eaLnBrk="1" hangingPunct="1">
              <a:buNone/>
            </a:pPr>
            <a:endParaRPr lang="en-GB" sz="2800" dirty="0" smtClean="0"/>
          </a:p>
          <a:p>
            <a:pPr marL="609600" indent="-609600" eaLnBrk="1" hangingPunct="1">
              <a:buNone/>
            </a:pPr>
            <a:r>
              <a:rPr lang="en-GB" sz="2800" dirty="0" smtClean="0"/>
              <a:t>Continuum </a:t>
            </a:r>
            <a:r>
              <a:rPr lang="en-GB" sz="2800" dirty="0"/>
              <a:t>of difficulty:</a:t>
            </a:r>
          </a:p>
          <a:p>
            <a:pPr marL="609600" indent="-609600" eaLnBrk="1" hangingPunct="1"/>
            <a:endParaRPr lang="en-GB" sz="2800" dirty="0"/>
          </a:p>
          <a:p>
            <a:pPr marL="1371600" lvl="2" indent="-457200" eaLnBrk="1" hangingPunct="1">
              <a:buFontTx/>
              <a:buAutoNum type="arabicPeriod"/>
            </a:pPr>
            <a:r>
              <a:rPr lang="en-GB" dirty="0"/>
              <a:t>aloof and indifferent</a:t>
            </a:r>
          </a:p>
          <a:p>
            <a:pPr marL="1371600" lvl="2" indent="-457200" eaLnBrk="1" hangingPunct="1">
              <a:buFontTx/>
              <a:buAutoNum type="arabicPeriod"/>
            </a:pPr>
            <a:r>
              <a:rPr lang="en-GB" dirty="0"/>
              <a:t>approaches for physical needs only</a:t>
            </a:r>
          </a:p>
          <a:p>
            <a:pPr marL="1371600" lvl="2" indent="-457200" eaLnBrk="1" hangingPunct="1">
              <a:buFontTx/>
              <a:buAutoNum type="arabicPeriod"/>
            </a:pPr>
            <a:r>
              <a:rPr lang="en-GB" dirty="0"/>
              <a:t>passive acceptance of approaches by others</a:t>
            </a:r>
          </a:p>
          <a:p>
            <a:pPr marL="1371600" lvl="2" indent="-457200" eaLnBrk="1" hangingPunct="1">
              <a:buFontTx/>
              <a:buAutoNum type="arabicPeriod"/>
            </a:pPr>
            <a:r>
              <a:rPr lang="en-GB" dirty="0"/>
              <a:t>approaches on own terms</a:t>
            </a:r>
            <a:endParaRPr lang="en-US" sz="2800" dirty="0"/>
          </a:p>
        </p:txBody>
      </p:sp>
      <p:sp>
        <p:nvSpPr>
          <p:cNvPr id="27652" name="AutoShape 4"/>
          <p:cNvSpPr>
            <a:spLocks noChangeArrowheads="1"/>
          </p:cNvSpPr>
          <p:nvPr/>
        </p:nvSpPr>
        <p:spPr bwMode="auto">
          <a:xfrm>
            <a:off x="990600" y="3200400"/>
            <a:ext cx="485775" cy="2592387"/>
          </a:xfrm>
          <a:prstGeom prst="upDownArrow">
            <a:avLst>
              <a:gd name="adj1" fmla="val 50000"/>
              <a:gd name="adj2" fmla="val 106732"/>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b="1">
              <a:ea typeface="Arial" charset="0"/>
              <a:cs typeface="Arial"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323850" y="400050"/>
            <a:ext cx="8362950" cy="1143000"/>
          </a:xfrm>
        </p:spPr>
        <p:txBody>
          <a:bodyPr/>
          <a:lstStyle/>
          <a:p>
            <a:pPr eaLnBrk="1" hangingPunct="1"/>
            <a:r>
              <a:rPr lang="en-GB" sz="3200" dirty="0">
                <a:latin typeface="Arial"/>
              </a:rPr>
              <a:t>Impairment of Social Communication</a:t>
            </a:r>
            <a:endParaRPr lang="en-US" sz="3200" dirty="0">
              <a:latin typeface="Arial"/>
            </a:endParaRPr>
          </a:p>
        </p:txBody>
      </p:sp>
      <p:sp>
        <p:nvSpPr>
          <p:cNvPr id="28675" name="Rectangle 3"/>
          <p:cNvSpPr>
            <a:spLocks noGrp="1" noChangeArrowheads="1"/>
          </p:cNvSpPr>
          <p:nvPr>
            <p:ph type="body" idx="4294967295"/>
          </p:nvPr>
        </p:nvSpPr>
        <p:spPr>
          <a:xfrm>
            <a:off x="323850" y="1773238"/>
            <a:ext cx="8226425" cy="4497387"/>
          </a:xfrm>
        </p:spPr>
        <p:txBody>
          <a:bodyPr/>
          <a:lstStyle/>
          <a:p>
            <a:pPr eaLnBrk="1" hangingPunct="1"/>
            <a:r>
              <a:rPr lang="en-GB" sz="2800" dirty="0"/>
              <a:t>Lack appreciation of social uses of communication (talk </a:t>
            </a:r>
            <a:r>
              <a:rPr lang="en-GB" sz="2800" i="1" dirty="0"/>
              <a:t>at </a:t>
            </a:r>
            <a:r>
              <a:rPr lang="en-GB" sz="2800" dirty="0"/>
              <a:t>not </a:t>
            </a:r>
            <a:r>
              <a:rPr lang="en-GB" sz="2800" i="1" dirty="0"/>
              <a:t>with</a:t>
            </a:r>
            <a:r>
              <a:rPr lang="en-GB" sz="2800" dirty="0"/>
              <a:t>).</a:t>
            </a:r>
          </a:p>
          <a:p>
            <a:pPr eaLnBrk="1" hangingPunct="1"/>
            <a:r>
              <a:rPr lang="en-GB" sz="2800" dirty="0"/>
              <a:t>Lack understanding of purpose (sharing information with others).</a:t>
            </a:r>
          </a:p>
          <a:p>
            <a:pPr eaLnBrk="1" hangingPunct="1"/>
            <a:r>
              <a:rPr lang="en-GB" sz="2800" dirty="0"/>
              <a:t>Poor understanding and use of non-verbal communication.</a:t>
            </a:r>
          </a:p>
          <a:p>
            <a:pPr eaLnBrk="1" hangingPunct="1"/>
            <a:r>
              <a:rPr lang="en-GB" sz="2800" dirty="0"/>
              <a:t>Understanding and use of words tends to be concrete and literal.</a:t>
            </a:r>
          </a:p>
          <a:p>
            <a:pPr eaLnBrk="1" hangingPunct="1">
              <a:lnSpc>
                <a:spcPct val="90000"/>
              </a:lnSpc>
            </a:pP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457200" y="381000"/>
            <a:ext cx="8229600" cy="1143000"/>
          </a:xfrm>
        </p:spPr>
        <p:txBody>
          <a:bodyPr/>
          <a:lstStyle/>
          <a:p>
            <a:pPr eaLnBrk="1" hangingPunct="1"/>
            <a:r>
              <a:rPr lang="en-GB" sz="3200" dirty="0">
                <a:latin typeface="Arial"/>
              </a:rPr>
              <a:t>Impairment of Social Communication</a:t>
            </a:r>
            <a:endParaRPr lang="en-US" sz="3200" dirty="0">
              <a:latin typeface="Arial"/>
            </a:endParaRPr>
          </a:p>
        </p:txBody>
      </p:sp>
      <p:sp>
        <p:nvSpPr>
          <p:cNvPr id="29699" name="Rectangle 3"/>
          <p:cNvSpPr>
            <a:spLocks noGrp="1" noChangeArrowheads="1"/>
          </p:cNvSpPr>
          <p:nvPr>
            <p:ph type="body" idx="4294967295"/>
          </p:nvPr>
        </p:nvSpPr>
        <p:spPr>
          <a:xfrm>
            <a:off x="539750" y="1557338"/>
            <a:ext cx="7924800" cy="4497387"/>
          </a:xfrm>
        </p:spPr>
        <p:txBody>
          <a:bodyPr/>
          <a:lstStyle/>
          <a:p>
            <a:pPr eaLnBrk="1" hangingPunct="1">
              <a:lnSpc>
                <a:spcPct val="80000"/>
              </a:lnSpc>
              <a:buFontTx/>
              <a:buNone/>
            </a:pPr>
            <a:endParaRPr lang="en-GB" sz="2800" dirty="0"/>
          </a:p>
          <a:p>
            <a:pPr eaLnBrk="1" hangingPunct="1">
              <a:lnSpc>
                <a:spcPct val="80000"/>
              </a:lnSpc>
              <a:buFontTx/>
              <a:buNone/>
            </a:pPr>
            <a:r>
              <a:rPr lang="en-GB" sz="2800" dirty="0"/>
              <a:t>Severity ranges from:</a:t>
            </a:r>
          </a:p>
          <a:p>
            <a:pPr eaLnBrk="1" hangingPunct="1">
              <a:lnSpc>
                <a:spcPct val="80000"/>
              </a:lnSpc>
              <a:buFontTx/>
              <a:buNone/>
            </a:pPr>
            <a:endParaRPr lang="en-GB" sz="2800" dirty="0"/>
          </a:p>
          <a:p>
            <a:pPr eaLnBrk="1" hangingPunct="1">
              <a:lnSpc>
                <a:spcPct val="80000"/>
              </a:lnSpc>
              <a:buFontTx/>
              <a:buNone/>
            </a:pPr>
            <a:r>
              <a:rPr lang="en-GB" sz="2800" dirty="0"/>
              <a:t>			no communication at all</a:t>
            </a:r>
          </a:p>
          <a:p>
            <a:pPr eaLnBrk="1" hangingPunct="1">
              <a:lnSpc>
                <a:spcPct val="80000"/>
              </a:lnSpc>
              <a:buFontTx/>
              <a:buNone/>
            </a:pPr>
            <a:endParaRPr lang="en-GB" sz="2800" dirty="0"/>
          </a:p>
          <a:p>
            <a:pPr eaLnBrk="1" hangingPunct="1">
              <a:lnSpc>
                <a:spcPct val="80000"/>
              </a:lnSpc>
              <a:buFontTx/>
              <a:buNone/>
            </a:pPr>
            <a:r>
              <a:rPr lang="en-GB" sz="2800" dirty="0"/>
              <a:t>		</a:t>
            </a:r>
          </a:p>
          <a:p>
            <a:pPr eaLnBrk="1" hangingPunct="1">
              <a:lnSpc>
                <a:spcPct val="80000"/>
              </a:lnSpc>
              <a:buFontTx/>
              <a:buNone/>
            </a:pPr>
            <a:endParaRPr lang="en-GB" sz="2800" dirty="0"/>
          </a:p>
          <a:p>
            <a:pPr eaLnBrk="1" hangingPunct="1">
              <a:lnSpc>
                <a:spcPct val="80000"/>
              </a:lnSpc>
              <a:buFontTx/>
              <a:buNone/>
            </a:pPr>
            <a:r>
              <a:rPr lang="en-GB" sz="2800" dirty="0"/>
              <a:t>		</a:t>
            </a:r>
          </a:p>
          <a:p>
            <a:pPr algn="ctr" eaLnBrk="1" hangingPunct="1">
              <a:lnSpc>
                <a:spcPct val="80000"/>
              </a:lnSpc>
              <a:buFontTx/>
              <a:buNone/>
            </a:pPr>
            <a:r>
              <a:rPr lang="en-GB" sz="2800" dirty="0"/>
              <a:t>spontaneous use of speech and gesture, </a:t>
            </a:r>
          </a:p>
          <a:p>
            <a:pPr algn="ctr" eaLnBrk="1" hangingPunct="1">
              <a:lnSpc>
                <a:spcPct val="80000"/>
              </a:lnSpc>
              <a:buFontTx/>
              <a:buNone/>
            </a:pPr>
            <a:r>
              <a:rPr lang="en-GB" sz="2800" dirty="0"/>
              <a:t>repetitive and one-sided.</a:t>
            </a:r>
            <a:endParaRPr lang="en-US" sz="2800" dirty="0"/>
          </a:p>
        </p:txBody>
      </p:sp>
      <p:sp>
        <p:nvSpPr>
          <p:cNvPr id="29700" name="AutoShape 4"/>
          <p:cNvSpPr>
            <a:spLocks noChangeArrowheads="1"/>
          </p:cNvSpPr>
          <p:nvPr/>
        </p:nvSpPr>
        <p:spPr bwMode="auto">
          <a:xfrm>
            <a:off x="4356100" y="3357563"/>
            <a:ext cx="647700" cy="1585912"/>
          </a:xfrm>
          <a:prstGeom prst="downArrow">
            <a:avLst>
              <a:gd name="adj1" fmla="val 50000"/>
              <a:gd name="adj2" fmla="val 61213"/>
            </a:avLst>
          </a:prstGeom>
          <a:solidFill>
            <a:schemeClr val="hlink"/>
          </a:solidFill>
          <a:ln w="9525">
            <a:solidFill>
              <a:schemeClr val="tx1"/>
            </a:solidFill>
            <a:miter lim="800000"/>
            <a:headEnd/>
            <a:tailEnd/>
          </a:ln>
        </p:spPr>
        <p:txBody>
          <a:bodyPr vert="eaVert" wrap="none" anchor="ctr">
            <a:prstTxWarp prst="textNoShape">
              <a:avLst/>
            </a:prstTxWarp>
          </a:bodyPr>
          <a:lstStyle/>
          <a:p>
            <a:endParaRPr lang="en-GB" b="1">
              <a:ea typeface="Arial" charset="0"/>
              <a:cs typeface="Arial"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457200" y="457200"/>
            <a:ext cx="8226425" cy="1143000"/>
          </a:xfrm>
        </p:spPr>
        <p:txBody>
          <a:bodyPr/>
          <a:lstStyle/>
          <a:p>
            <a:pPr eaLnBrk="1" hangingPunct="1"/>
            <a:r>
              <a:rPr lang="en-GB" sz="3200" dirty="0">
                <a:latin typeface="Arial"/>
              </a:rPr>
              <a:t>Impairment of Imagination</a:t>
            </a:r>
            <a:endParaRPr lang="en-US" sz="3200" dirty="0">
              <a:latin typeface="Arial"/>
            </a:endParaRPr>
          </a:p>
        </p:txBody>
      </p:sp>
      <p:sp>
        <p:nvSpPr>
          <p:cNvPr id="30723" name="Rectangle 3"/>
          <p:cNvSpPr>
            <a:spLocks noGrp="1" noChangeArrowheads="1"/>
          </p:cNvSpPr>
          <p:nvPr>
            <p:ph type="body" idx="4294967295"/>
          </p:nvPr>
        </p:nvSpPr>
        <p:spPr>
          <a:xfrm>
            <a:off x="611188" y="1773238"/>
            <a:ext cx="7845425" cy="4497387"/>
          </a:xfrm>
        </p:spPr>
        <p:txBody>
          <a:bodyPr/>
          <a:lstStyle/>
          <a:p>
            <a:pPr eaLnBrk="1" hangingPunct="1"/>
            <a:r>
              <a:rPr lang="en-GB" sz="2800" dirty="0"/>
              <a:t>Lack of imaginative play (use of an object to represent something else).</a:t>
            </a:r>
          </a:p>
          <a:p>
            <a:pPr eaLnBrk="1" hangingPunct="1"/>
            <a:r>
              <a:rPr lang="en-GB" sz="2800" dirty="0"/>
              <a:t>Tendency to select details and not understand </a:t>
            </a:r>
            <a:r>
              <a:rPr lang="en-GB" sz="2800" dirty="0" smtClean="0"/>
              <a:t>the ‘bigger picture’.</a:t>
            </a:r>
            <a:endParaRPr lang="en-GB" sz="2800" dirty="0"/>
          </a:p>
          <a:p>
            <a:pPr eaLnBrk="1" hangingPunct="1"/>
            <a:r>
              <a:rPr lang="en-GB" sz="2800" dirty="0"/>
              <a:t>Routines copied somewhat mechanically – lack of genuine ‘shared’ play.</a:t>
            </a:r>
          </a:p>
          <a:p>
            <a:pPr eaLnBrk="1" hangingPunct="1"/>
            <a:r>
              <a:rPr lang="en-GB" sz="2800" dirty="0"/>
              <a:t>Lack of creativity – thinking rather literal and inflexible, making fiction </a:t>
            </a:r>
            <a:r>
              <a:rPr lang="en-GB" sz="2800" dirty="0" smtClean="0"/>
              <a:t>inaccessible, preference for facts.</a:t>
            </a:r>
            <a:endParaRPr lang="en-US" sz="28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457200" y="533400"/>
            <a:ext cx="8226425" cy="1143000"/>
          </a:xfrm>
        </p:spPr>
        <p:txBody>
          <a:bodyPr/>
          <a:lstStyle/>
          <a:p>
            <a:pPr eaLnBrk="1" hangingPunct="1"/>
            <a:r>
              <a:rPr lang="en-GB" sz="3200" dirty="0">
                <a:latin typeface="Arial"/>
              </a:rPr>
              <a:t>Impairment of Imagination</a:t>
            </a:r>
            <a:endParaRPr lang="en-US" sz="3200" dirty="0">
              <a:latin typeface="Arial"/>
            </a:endParaRPr>
          </a:p>
        </p:txBody>
      </p:sp>
      <p:sp>
        <p:nvSpPr>
          <p:cNvPr id="31747" name="Rectangle 3"/>
          <p:cNvSpPr>
            <a:spLocks noGrp="1" noChangeArrowheads="1"/>
          </p:cNvSpPr>
          <p:nvPr>
            <p:ph type="body" idx="4294967295"/>
          </p:nvPr>
        </p:nvSpPr>
        <p:spPr>
          <a:xfrm>
            <a:off x="539750" y="1989138"/>
            <a:ext cx="8226425" cy="4497387"/>
          </a:xfrm>
        </p:spPr>
        <p:txBody>
          <a:bodyPr/>
          <a:lstStyle/>
          <a:p>
            <a:pPr eaLnBrk="1" hangingPunct="1">
              <a:lnSpc>
                <a:spcPct val="80000"/>
              </a:lnSpc>
              <a:buFontTx/>
              <a:buNone/>
            </a:pPr>
            <a:r>
              <a:rPr lang="en-GB" sz="2400" dirty="0"/>
              <a:t>Clare Sainsbury described impairment of imagination as:</a:t>
            </a:r>
          </a:p>
          <a:p>
            <a:pPr eaLnBrk="1" hangingPunct="1">
              <a:lnSpc>
                <a:spcPct val="80000"/>
              </a:lnSpc>
              <a:buFontTx/>
              <a:buNone/>
            </a:pPr>
            <a:endParaRPr lang="en-GB" sz="2400" dirty="0"/>
          </a:p>
          <a:p>
            <a:pPr eaLnBrk="1" hangingPunct="1">
              <a:lnSpc>
                <a:spcPct val="80000"/>
              </a:lnSpc>
              <a:buFontTx/>
              <a:buNone/>
            </a:pPr>
            <a:r>
              <a:rPr lang="en-GB" sz="2400" dirty="0"/>
              <a:t>	</a:t>
            </a:r>
            <a:r>
              <a:rPr lang="en-GB" dirty="0"/>
              <a:t>‘…problems with flexible thinking, </a:t>
            </a:r>
            <a:br>
              <a:rPr lang="en-GB" dirty="0"/>
            </a:br>
            <a:r>
              <a:rPr lang="en-GB" dirty="0"/>
              <a:t>leading to problems coping with change and a need for rigid routines, and </a:t>
            </a:r>
            <a:br>
              <a:rPr lang="en-GB" dirty="0"/>
            </a:br>
            <a:r>
              <a:rPr lang="en-GB" dirty="0"/>
              <a:t>difficulty imagining what other people </a:t>
            </a:r>
            <a:br>
              <a:rPr lang="en-GB" dirty="0"/>
            </a:br>
            <a:r>
              <a:rPr lang="en-GB" dirty="0"/>
              <a:t>may be thinking.’ </a:t>
            </a:r>
          </a:p>
          <a:p>
            <a:pPr eaLnBrk="1" hangingPunct="1">
              <a:lnSpc>
                <a:spcPct val="80000"/>
              </a:lnSpc>
              <a:buFontTx/>
              <a:buNone/>
            </a:pPr>
            <a:endParaRPr lang="en-GB" dirty="0"/>
          </a:p>
          <a:p>
            <a:pPr eaLnBrk="1" hangingPunct="1">
              <a:lnSpc>
                <a:spcPct val="80000"/>
              </a:lnSpc>
              <a:buFontTx/>
              <a:buNone/>
            </a:pPr>
            <a:r>
              <a:rPr lang="en-GB" sz="2000" dirty="0"/>
              <a:t>(Martian in the Playground, 2000)</a:t>
            </a:r>
          </a:p>
          <a:p>
            <a:pPr eaLnBrk="1" hangingPunct="1">
              <a:lnSpc>
                <a:spcPct val="80000"/>
              </a:lnSpc>
              <a:buFontTx/>
              <a:buNone/>
            </a:pPr>
            <a:endParaRPr lang="en-GB" sz="1800" dirty="0"/>
          </a:p>
          <a:p>
            <a:pPr eaLnBrk="1" hangingPunct="1">
              <a:lnSpc>
                <a:spcPct val="80000"/>
              </a:lnSpc>
              <a:buFontTx/>
              <a:buNone/>
            </a:pPr>
            <a:r>
              <a:rPr lang="en-GB" sz="1800" dirty="0"/>
              <a:t>   </a:t>
            </a:r>
            <a:endParaRPr lang="en-US" sz="1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Other Autistic Features</a:t>
            </a:r>
            <a:endParaRPr lang="en-US" sz="3200" dirty="0">
              <a:latin typeface="Arial"/>
            </a:endParaRPr>
          </a:p>
        </p:txBody>
      </p:sp>
      <p:sp>
        <p:nvSpPr>
          <p:cNvPr id="32771" name="Rectangle 3"/>
          <p:cNvSpPr>
            <a:spLocks noGrp="1" noChangeArrowheads="1"/>
          </p:cNvSpPr>
          <p:nvPr>
            <p:ph type="body" idx="4294967295"/>
          </p:nvPr>
        </p:nvSpPr>
        <p:spPr>
          <a:xfrm>
            <a:off x="611188" y="1916113"/>
            <a:ext cx="8226425" cy="4497387"/>
          </a:xfrm>
        </p:spPr>
        <p:txBody>
          <a:bodyPr/>
          <a:lstStyle/>
          <a:p>
            <a:pPr eaLnBrk="1" hangingPunct="1">
              <a:lnSpc>
                <a:spcPct val="90000"/>
              </a:lnSpc>
              <a:buFontTx/>
              <a:buNone/>
            </a:pPr>
            <a:r>
              <a:rPr lang="en-GB" sz="2000"/>
              <a:t>(Common but not essential)</a:t>
            </a:r>
          </a:p>
          <a:p>
            <a:pPr eaLnBrk="1" hangingPunct="1">
              <a:lnSpc>
                <a:spcPct val="90000"/>
              </a:lnSpc>
            </a:pPr>
            <a:r>
              <a:rPr lang="en-GB" sz="2800"/>
              <a:t>Language difficulties – receptive and </a:t>
            </a:r>
            <a:br>
              <a:rPr lang="en-GB" sz="2800"/>
            </a:br>
            <a:r>
              <a:rPr lang="en-GB" sz="2800"/>
              <a:t>expressive delay, echolalia, flat tone, </a:t>
            </a:r>
            <a:br>
              <a:rPr lang="en-GB" sz="2800"/>
            </a:br>
            <a:r>
              <a:rPr lang="en-GB" sz="2800"/>
              <a:t>poor control of volume.</a:t>
            </a:r>
          </a:p>
          <a:p>
            <a:pPr eaLnBrk="1" hangingPunct="1">
              <a:lnSpc>
                <a:spcPct val="90000"/>
              </a:lnSpc>
            </a:pPr>
            <a:r>
              <a:rPr lang="en-GB" sz="2800"/>
              <a:t>Visual inspection – examining from a strange angle (peripheral vision).</a:t>
            </a:r>
          </a:p>
          <a:p>
            <a:pPr eaLnBrk="1" hangingPunct="1">
              <a:lnSpc>
                <a:spcPct val="90000"/>
              </a:lnSpc>
            </a:pPr>
            <a:r>
              <a:rPr lang="en-GB" sz="2800"/>
              <a:t>Abnormal eye-contact – looking past people, avoiding eye-contact, staring fixedly.</a:t>
            </a:r>
          </a:p>
          <a:p>
            <a:pPr eaLnBrk="1" hangingPunct="1">
              <a:lnSpc>
                <a:spcPct val="90000"/>
              </a:lnSpc>
            </a:pPr>
            <a:endParaRPr lang="en-GB" sz="2800"/>
          </a:p>
          <a:p>
            <a:pPr eaLnBrk="1" hangingPunct="1">
              <a:lnSpc>
                <a:spcPct val="90000"/>
              </a:lnSpc>
            </a:pPr>
            <a:endParaRPr lang="en-US" sz="28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a:rPr>
              <a:t>Other Autistic Features</a:t>
            </a:r>
            <a:endParaRPr lang="en-US" sz="3200" dirty="0">
              <a:latin typeface="Arial"/>
            </a:endParaRPr>
          </a:p>
        </p:txBody>
      </p:sp>
      <p:sp>
        <p:nvSpPr>
          <p:cNvPr id="33795" name="Rectangle 3"/>
          <p:cNvSpPr>
            <a:spLocks noGrp="1" noChangeArrowheads="1"/>
          </p:cNvSpPr>
          <p:nvPr>
            <p:ph type="body" idx="4294967295"/>
          </p:nvPr>
        </p:nvSpPr>
        <p:spPr>
          <a:xfrm>
            <a:off x="539750" y="1916113"/>
            <a:ext cx="8229600" cy="4525962"/>
          </a:xfrm>
        </p:spPr>
        <p:txBody>
          <a:bodyPr/>
          <a:lstStyle/>
          <a:p>
            <a:pPr eaLnBrk="1" hangingPunct="1">
              <a:lnSpc>
                <a:spcPct val="90000"/>
              </a:lnSpc>
            </a:pPr>
            <a:r>
              <a:rPr lang="en-GB" sz="2800" dirty="0"/>
              <a:t>Stereotypical movements </a:t>
            </a:r>
            <a:br>
              <a:rPr lang="en-GB" sz="2800" dirty="0"/>
            </a:br>
            <a:r>
              <a:rPr lang="en-GB" sz="2800" dirty="0"/>
              <a:t>– flapping, rocking.</a:t>
            </a:r>
          </a:p>
          <a:p>
            <a:pPr eaLnBrk="1" hangingPunct="1">
              <a:lnSpc>
                <a:spcPct val="90000"/>
              </a:lnSpc>
            </a:pPr>
            <a:r>
              <a:rPr lang="en-GB" sz="2800" dirty="0"/>
              <a:t>Abnormal responses to sensory experiences – touch, sound, light, pain.</a:t>
            </a:r>
          </a:p>
          <a:p>
            <a:pPr eaLnBrk="1" hangingPunct="1">
              <a:lnSpc>
                <a:spcPct val="90000"/>
              </a:lnSpc>
            </a:pPr>
            <a:r>
              <a:rPr lang="en-GB" sz="2800" dirty="0"/>
              <a:t>Inappropriate emotional reactions – lack of reaction or over-reaction.</a:t>
            </a:r>
          </a:p>
          <a:p>
            <a:pPr eaLnBrk="1" hangingPunct="1">
              <a:lnSpc>
                <a:spcPct val="90000"/>
              </a:lnSpc>
            </a:pPr>
            <a:r>
              <a:rPr lang="en-GB" sz="2800" dirty="0" err="1"/>
              <a:t>Obsessional</a:t>
            </a:r>
            <a:r>
              <a:rPr lang="en-GB" sz="2800" dirty="0"/>
              <a:t> interests.</a:t>
            </a:r>
          </a:p>
          <a:p>
            <a:pPr eaLnBrk="1" hangingPunct="1">
              <a:lnSpc>
                <a:spcPct val="90000"/>
              </a:lnSpc>
            </a:pPr>
            <a:r>
              <a:rPr lang="en-GB" sz="2800" dirty="0"/>
              <a:t>Special skills (‘islets of ability’).</a:t>
            </a:r>
          </a:p>
          <a:p>
            <a:pPr eaLnBrk="1" hangingPunct="1">
              <a:lnSpc>
                <a:spcPct val="90000"/>
              </a:lnSpc>
            </a:pP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1143000" y="685800"/>
            <a:ext cx="7235825" cy="1143000"/>
          </a:xfrm>
        </p:spPr>
        <p:txBody>
          <a:bodyPr/>
          <a:lstStyle/>
          <a:p>
            <a:pPr eaLnBrk="1" hangingPunct="1"/>
            <a:r>
              <a:rPr lang="en-GB" sz="3200" dirty="0">
                <a:latin typeface="Arial"/>
              </a:rPr>
              <a:t>How Does this Match Your Experience?</a:t>
            </a:r>
            <a:endParaRPr lang="en-US" sz="3200" dirty="0">
              <a:latin typeface="Arial"/>
            </a:endParaRPr>
          </a:p>
        </p:txBody>
      </p:sp>
      <p:sp>
        <p:nvSpPr>
          <p:cNvPr id="34819" name="Rectangle 3"/>
          <p:cNvSpPr>
            <a:spLocks noGrp="1" noChangeArrowheads="1"/>
          </p:cNvSpPr>
          <p:nvPr>
            <p:ph type="body" idx="4294967295"/>
          </p:nvPr>
        </p:nvSpPr>
        <p:spPr>
          <a:xfrm>
            <a:off x="539750" y="2205038"/>
            <a:ext cx="8226425" cy="4497387"/>
          </a:xfrm>
        </p:spPr>
        <p:txBody>
          <a:bodyPr/>
          <a:lstStyle/>
          <a:p>
            <a:pPr eaLnBrk="1" hangingPunct="1"/>
            <a:r>
              <a:rPr lang="en-GB" dirty="0"/>
              <a:t>Which of these features have you seen</a:t>
            </a:r>
            <a:r>
              <a:rPr lang="en-GB" dirty="0" smtClean="0"/>
              <a:t>?</a:t>
            </a:r>
          </a:p>
          <a:p>
            <a:pPr eaLnBrk="1" hangingPunct="1">
              <a:buNone/>
            </a:pPr>
            <a:endParaRPr lang="en-GB" dirty="0" smtClean="0"/>
          </a:p>
          <a:p>
            <a:pPr eaLnBrk="1" hangingPunct="1"/>
            <a:r>
              <a:rPr lang="en-GB" dirty="0"/>
              <a:t>How have you responded to these behaviours</a:t>
            </a:r>
            <a:r>
              <a:rPr lang="en-GB" dirty="0" smtClean="0"/>
              <a:t>?</a:t>
            </a:r>
          </a:p>
          <a:p>
            <a:pPr eaLnBrk="1" hangingPunct="1">
              <a:buNone/>
            </a:pPr>
            <a:endParaRPr lang="en-GB" dirty="0" smtClean="0"/>
          </a:p>
          <a:p>
            <a:pPr eaLnBrk="1" hangingPunct="1"/>
            <a:r>
              <a:rPr lang="en-GB" dirty="0"/>
              <a:t>Discuss in small groups.</a:t>
            </a:r>
            <a:endParaRPr lang="en-US"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457200" y="609600"/>
            <a:ext cx="8229600" cy="1143000"/>
          </a:xfrm>
        </p:spPr>
        <p:txBody>
          <a:bodyPr/>
          <a:lstStyle/>
          <a:p>
            <a:pPr eaLnBrk="1" hangingPunct="1"/>
            <a:r>
              <a:rPr lang="en-GB" sz="3200" dirty="0">
                <a:latin typeface="Arial"/>
              </a:rPr>
              <a:t>Theory of Mind</a:t>
            </a:r>
            <a:endParaRPr lang="en-US" sz="3200" dirty="0">
              <a:latin typeface="Arial"/>
            </a:endParaRPr>
          </a:p>
        </p:txBody>
      </p:sp>
      <p:sp>
        <p:nvSpPr>
          <p:cNvPr id="35843" name="Rectangle 3"/>
          <p:cNvSpPr>
            <a:spLocks noGrp="1" noChangeArrowheads="1"/>
          </p:cNvSpPr>
          <p:nvPr>
            <p:ph type="body" idx="4294967295"/>
          </p:nvPr>
        </p:nvSpPr>
        <p:spPr>
          <a:xfrm>
            <a:off x="539750" y="1700213"/>
            <a:ext cx="8229600" cy="4525962"/>
          </a:xfrm>
        </p:spPr>
        <p:txBody>
          <a:bodyPr/>
          <a:lstStyle/>
          <a:p>
            <a:pPr eaLnBrk="1" hangingPunct="1"/>
            <a:r>
              <a:rPr lang="en-GB" sz="2800" dirty="0"/>
              <a:t>A current psychological theory of autism </a:t>
            </a:r>
            <a:br>
              <a:rPr lang="en-GB" sz="2800" dirty="0"/>
            </a:br>
            <a:r>
              <a:rPr lang="en-GB" sz="2800" dirty="0"/>
              <a:t>(Frith, 1989). </a:t>
            </a:r>
          </a:p>
          <a:p>
            <a:pPr eaLnBrk="1" hangingPunct="1"/>
            <a:r>
              <a:rPr lang="en-GB" sz="2800" dirty="0"/>
              <a:t>‘Theory of Mind’ – appreciating other people’s intentions, needs, desires, beliefs.</a:t>
            </a:r>
          </a:p>
          <a:p>
            <a:pPr eaLnBrk="1" hangingPunct="1"/>
            <a:r>
              <a:rPr lang="en-GB" sz="2800" dirty="0"/>
              <a:t>Hypothesised that autistic people lack ‘theory of mind’.</a:t>
            </a:r>
          </a:p>
          <a:p>
            <a:pPr eaLnBrk="1" hangingPunct="1"/>
            <a:r>
              <a:rPr lang="en-GB" sz="2800" dirty="0"/>
              <a:t>Baron-Cohen used the Sally/Anne Test to investigate Theory of Mind.</a:t>
            </a:r>
          </a:p>
          <a:p>
            <a:pPr eaLnBrk="1" hangingPunct="1"/>
            <a:endParaRPr lang="en-US" sz="2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a:spLocks noGrp="1" noChangeArrowheads="1"/>
          </p:cNvSpPr>
          <p:nvPr>
            <p:ph type="title" idx="4294967295"/>
          </p:nvPr>
        </p:nvSpPr>
        <p:spPr>
          <a:xfrm>
            <a:off x="457200" y="361950"/>
            <a:ext cx="8229600" cy="1143000"/>
          </a:xfrm>
        </p:spPr>
        <p:txBody>
          <a:bodyPr/>
          <a:lstStyle/>
          <a:p>
            <a:pPr eaLnBrk="1" hangingPunct="1"/>
            <a:r>
              <a:rPr lang="en-GB" sz="3200" dirty="0">
                <a:latin typeface="Arial"/>
              </a:rPr>
              <a:t>The Sally/Anne Test</a:t>
            </a:r>
            <a:endParaRPr lang="en-US" sz="3200" dirty="0">
              <a:latin typeface="Arial"/>
            </a:endParaRPr>
          </a:p>
        </p:txBody>
      </p:sp>
      <p:pic>
        <p:nvPicPr>
          <p:cNvPr id="36867" name="Picture 4" descr="Sallyann"/>
          <p:cNvPicPr>
            <a:picLocks noGrp="1" noChangeAspect="1" noChangeArrowheads="1"/>
          </p:cNvPicPr>
          <p:nvPr>
            <p:ph idx="4294967295"/>
          </p:nvPr>
        </p:nvPicPr>
        <p:blipFill>
          <a:blip r:embed="rId3"/>
          <a:srcRect/>
          <a:stretch>
            <a:fillRect/>
          </a:stretch>
        </p:blipFill>
        <p:spPr>
          <a:xfrm>
            <a:off x="2987675" y="1484313"/>
            <a:ext cx="3405188" cy="5229225"/>
          </a:xfr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457200" y="371475"/>
            <a:ext cx="8229600" cy="1143000"/>
          </a:xfrm>
        </p:spPr>
        <p:txBody>
          <a:bodyPr/>
          <a:lstStyle/>
          <a:p>
            <a:pPr eaLnBrk="1" hangingPunct="1"/>
            <a:r>
              <a:rPr lang="en-GB" sz="3200" dirty="0">
                <a:latin typeface="Arial"/>
              </a:rPr>
              <a:t>The Sally/Anne Test</a:t>
            </a:r>
            <a:endParaRPr lang="en-US" sz="3200" dirty="0">
              <a:latin typeface="Arial"/>
            </a:endParaRPr>
          </a:p>
        </p:txBody>
      </p:sp>
      <p:sp>
        <p:nvSpPr>
          <p:cNvPr id="37891" name="Rectangle 3"/>
          <p:cNvSpPr>
            <a:spLocks noGrp="1" noChangeArrowheads="1"/>
          </p:cNvSpPr>
          <p:nvPr>
            <p:ph type="body" idx="4294967295"/>
          </p:nvPr>
        </p:nvSpPr>
        <p:spPr>
          <a:xfrm>
            <a:off x="838200" y="1600200"/>
            <a:ext cx="7397750" cy="4876800"/>
          </a:xfrm>
        </p:spPr>
        <p:txBody>
          <a:bodyPr/>
          <a:lstStyle/>
          <a:p>
            <a:pPr eaLnBrk="1" hangingPunct="1"/>
            <a:r>
              <a:rPr lang="en-GB" sz="2400" dirty="0"/>
              <a:t>Baron-Cohen compared responses of three groups of children using this test:</a:t>
            </a:r>
          </a:p>
          <a:p>
            <a:pPr marL="914400" lvl="1" indent="-514350" eaLnBrk="1" hangingPunct="1">
              <a:buFontTx/>
              <a:buAutoNum type="arabicPeriod"/>
            </a:pPr>
            <a:r>
              <a:rPr lang="en-GB" sz="2400" dirty="0"/>
              <a:t>Autism with mental age (MA) over four years.</a:t>
            </a:r>
          </a:p>
          <a:p>
            <a:pPr marL="914400" lvl="1" indent="-514350" eaLnBrk="1" hangingPunct="1">
              <a:buFontTx/>
              <a:buAutoNum type="arabicPeriod"/>
            </a:pPr>
            <a:r>
              <a:rPr lang="en-GB" sz="2400" dirty="0"/>
              <a:t>Down Syndrome with MA over four years.</a:t>
            </a:r>
          </a:p>
          <a:p>
            <a:pPr marL="914400" lvl="1" indent="-514350" eaLnBrk="1" hangingPunct="1">
              <a:buFontTx/>
              <a:buAutoNum type="arabicPeriod"/>
            </a:pPr>
            <a:r>
              <a:rPr lang="en-GB" sz="2400" dirty="0"/>
              <a:t>Normally developing four year olds</a:t>
            </a:r>
            <a:r>
              <a:rPr lang="en-GB" sz="2400" dirty="0" smtClean="0"/>
              <a:t>.</a:t>
            </a:r>
          </a:p>
          <a:p>
            <a:pPr marL="914400" lvl="1" indent="-514350" eaLnBrk="1" hangingPunct="1">
              <a:buNone/>
            </a:pPr>
            <a:endParaRPr lang="en-GB" sz="2400" dirty="0" smtClean="0"/>
          </a:p>
          <a:p>
            <a:pPr eaLnBrk="1" hangingPunct="1"/>
            <a:r>
              <a:rPr lang="en-GB" sz="2400" dirty="0"/>
              <a:t>The autistic group thought Sally would look for the ball in the box</a:t>
            </a:r>
            <a:r>
              <a:rPr lang="en-GB" sz="2400" dirty="0" smtClean="0"/>
              <a:t>.</a:t>
            </a:r>
          </a:p>
          <a:p>
            <a:pPr eaLnBrk="1" hangingPunct="1">
              <a:buNone/>
            </a:pPr>
            <a:endParaRPr lang="en-GB" sz="2400" dirty="0" smtClean="0"/>
          </a:p>
          <a:p>
            <a:pPr eaLnBrk="1" hangingPunct="1"/>
            <a:r>
              <a:rPr lang="en-GB" sz="2400" dirty="0"/>
              <a:t>The others thought she would look in</a:t>
            </a:r>
            <a:r>
              <a:rPr lang="en-GB" sz="2400" dirty="0" smtClean="0"/>
              <a:t> the </a:t>
            </a:r>
          </a:p>
          <a:p>
            <a:pPr eaLnBrk="1" hangingPunct="1">
              <a:buNone/>
            </a:pPr>
            <a:r>
              <a:rPr lang="en-GB" sz="2400" dirty="0" smtClean="0"/>
              <a:t>	basket</a:t>
            </a:r>
            <a:r>
              <a:rPr lang="en-GB" sz="2400" dirty="0"/>
              <a:t>.</a:t>
            </a:r>
            <a:endParaRPr lang="en-US"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533400" y="609600"/>
            <a:ext cx="8226425" cy="1143000"/>
          </a:xfrm>
        </p:spPr>
        <p:txBody>
          <a:bodyPr/>
          <a:lstStyle/>
          <a:p>
            <a:pPr eaLnBrk="1" hangingPunct="1"/>
            <a:r>
              <a:rPr lang="en-GB" sz="3200" dirty="0">
                <a:latin typeface="Arial"/>
              </a:rPr>
              <a:t>You In Their Shoes…</a:t>
            </a:r>
            <a:endParaRPr lang="en-US" sz="3200" dirty="0">
              <a:latin typeface="Arial"/>
            </a:endParaRPr>
          </a:p>
        </p:txBody>
      </p:sp>
      <p:sp>
        <p:nvSpPr>
          <p:cNvPr id="38915" name="Rectangle 3"/>
          <p:cNvSpPr>
            <a:spLocks noGrp="1" noChangeArrowheads="1"/>
          </p:cNvSpPr>
          <p:nvPr>
            <p:ph type="body" idx="4294967295"/>
          </p:nvPr>
        </p:nvSpPr>
        <p:spPr>
          <a:xfrm>
            <a:off x="395288" y="2060575"/>
            <a:ext cx="8226425" cy="3659188"/>
          </a:xfrm>
        </p:spPr>
        <p:txBody>
          <a:bodyPr/>
          <a:lstStyle/>
          <a:p>
            <a:pPr eaLnBrk="1" hangingPunct="1"/>
            <a:r>
              <a:rPr lang="en-GB" sz="2800" dirty="0"/>
              <a:t>Think about how it might be for you if you could only ever see things from your own perspective</a:t>
            </a:r>
            <a:r>
              <a:rPr lang="en-GB" sz="2800" dirty="0" smtClean="0"/>
              <a:t>.</a:t>
            </a:r>
          </a:p>
          <a:p>
            <a:pPr eaLnBrk="1" hangingPunct="1">
              <a:buNone/>
            </a:pPr>
            <a:endParaRPr lang="en-GB" sz="2800" dirty="0" smtClean="0"/>
          </a:p>
          <a:p>
            <a:pPr eaLnBrk="1" hangingPunct="1"/>
            <a:r>
              <a:rPr lang="en-GB" sz="2800" dirty="0"/>
              <a:t>What sort of difficulties might you encounter as a</a:t>
            </a:r>
            <a:r>
              <a:rPr lang="en-GB" sz="2800" dirty="0" smtClean="0"/>
              <a:t> child in your setting?</a:t>
            </a:r>
          </a:p>
          <a:p>
            <a:pPr eaLnBrk="1" hangingPunct="1">
              <a:buNone/>
            </a:pPr>
            <a:endParaRPr lang="en-GB" sz="2800" dirty="0" smtClean="0"/>
          </a:p>
          <a:p>
            <a:pPr eaLnBrk="1" hangingPunct="1"/>
            <a:r>
              <a:rPr lang="en-GB" sz="2800" dirty="0" smtClean="0"/>
              <a:t>Discuss </a:t>
            </a:r>
            <a:r>
              <a:rPr lang="en-GB" sz="2800" dirty="0"/>
              <a:t>in pairs or small groups.</a:t>
            </a:r>
            <a:endParaRPr lang="en-US" sz="2800" dirty="0"/>
          </a:p>
        </p:txBody>
      </p:sp>
      <p:pic>
        <p:nvPicPr>
          <p:cNvPr id="4" name="Picture 3"/>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57200" y="609600"/>
            <a:ext cx="8229600" cy="1143000"/>
          </a:xfrm>
        </p:spPr>
        <p:txBody>
          <a:bodyPr/>
          <a:lstStyle/>
          <a:p>
            <a:pPr eaLnBrk="1" hangingPunct="1"/>
            <a:r>
              <a:rPr lang="en-GB" sz="3200" dirty="0">
                <a:latin typeface="Arial"/>
              </a:rPr>
              <a:t>An Autistic Adult’s Experience</a:t>
            </a:r>
            <a:endParaRPr lang="en-US" sz="3200" dirty="0">
              <a:latin typeface="Arial"/>
            </a:endParaRPr>
          </a:p>
        </p:txBody>
      </p:sp>
      <p:sp>
        <p:nvSpPr>
          <p:cNvPr id="39939" name="Rectangle 3"/>
          <p:cNvSpPr>
            <a:spLocks noGrp="1" noChangeArrowheads="1"/>
          </p:cNvSpPr>
          <p:nvPr>
            <p:ph type="body" idx="4294967295"/>
          </p:nvPr>
        </p:nvSpPr>
        <p:spPr>
          <a:xfrm>
            <a:off x="609600" y="1752600"/>
            <a:ext cx="7772400" cy="4525963"/>
          </a:xfrm>
        </p:spPr>
        <p:txBody>
          <a:bodyPr/>
          <a:lstStyle/>
          <a:p>
            <a:pPr eaLnBrk="1" hangingPunct="1">
              <a:lnSpc>
                <a:spcPct val="90000"/>
              </a:lnSpc>
              <a:buFontTx/>
              <a:buNone/>
            </a:pPr>
            <a:r>
              <a:rPr lang="en-GB" sz="2800" dirty="0"/>
              <a:t>	</a:t>
            </a:r>
            <a:r>
              <a:rPr lang="en-US" sz="2400" dirty="0"/>
              <a:t>'</a:t>
            </a:r>
            <a:r>
              <a:rPr lang="en-GB" sz="2400" dirty="0"/>
              <a:t>Autism isn’t something a person has, or a “shell” that a person is trapped inside. It is pervasive, it colours every experience, every sensation, perception, thought, emotion, and encounter, every aspect of existence.</a:t>
            </a:r>
            <a:r>
              <a:rPr lang="en-GB" sz="2400" dirty="0" smtClean="0"/>
              <a:t> </a:t>
            </a:r>
          </a:p>
          <a:p>
            <a:pPr eaLnBrk="1" hangingPunct="1">
              <a:lnSpc>
                <a:spcPct val="90000"/>
              </a:lnSpc>
              <a:buFontTx/>
              <a:buNone/>
            </a:pPr>
            <a:r>
              <a:rPr lang="en-GB" sz="2400" dirty="0" smtClean="0"/>
              <a:t>	It </a:t>
            </a:r>
            <a:r>
              <a:rPr lang="en-GB" sz="2400" dirty="0"/>
              <a:t>is not possible to separate the autism from the person – and if it were possible, the person you’d have left would not be the same person you started with. This is important, so take a moment to consider it: autism is a way of being.</a:t>
            </a:r>
            <a:r>
              <a:rPr lang="en-US" sz="2400" dirty="0"/>
              <a:t>'</a:t>
            </a:r>
            <a:r>
              <a:rPr lang="en-GB" sz="2400" dirty="0"/>
              <a:t>		</a:t>
            </a:r>
          </a:p>
          <a:p>
            <a:pPr eaLnBrk="1" hangingPunct="1">
              <a:lnSpc>
                <a:spcPct val="90000"/>
              </a:lnSpc>
              <a:buFontTx/>
              <a:buNone/>
            </a:pPr>
            <a:endParaRPr lang="en-GB" sz="2000" dirty="0"/>
          </a:p>
          <a:p>
            <a:pPr eaLnBrk="1" hangingPunct="1">
              <a:lnSpc>
                <a:spcPct val="90000"/>
              </a:lnSpc>
              <a:buFontTx/>
              <a:buNone/>
            </a:pPr>
            <a:r>
              <a:rPr lang="en-GB" sz="2000" dirty="0"/>
              <a:t>	(Jim Sinclair, 1993)</a:t>
            </a:r>
            <a:endParaRPr lang="en-US" sz="20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457200" y="457200"/>
            <a:ext cx="8229600" cy="1143000"/>
          </a:xfrm>
        </p:spPr>
        <p:txBody>
          <a:bodyPr/>
          <a:lstStyle/>
          <a:p>
            <a:pPr eaLnBrk="1" hangingPunct="1"/>
            <a:r>
              <a:rPr lang="en-GB" dirty="0"/>
              <a:t> </a:t>
            </a:r>
            <a:r>
              <a:rPr lang="en-GB" sz="3200" dirty="0">
                <a:latin typeface="Arial"/>
              </a:rPr>
              <a:t>Difficulties for Autistic</a:t>
            </a:r>
            <a:r>
              <a:rPr lang="en-GB" sz="3200" dirty="0" smtClean="0">
                <a:latin typeface="Arial"/>
              </a:rPr>
              <a:t> Children</a:t>
            </a:r>
            <a:r>
              <a:rPr lang="en-GB" dirty="0" smtClean="0">
                <a:latin typeface="Arial"/>
              </a:rPr>
              <a:t> </a:t>
            </a:r>
            <a:endParaRPr lang="en-US" dirty="0">
              <a:latin typeface="Arial"/>
            </a:endParaRPr>
          </a:p>
        </p:txBody>
      </p:sp>
      <p:sp>
        <p:nvSpPr>
          <p:cNvPr id="40963" name="Rectangle 3"/>
          <p:cNvSpPr>
            <a:spLocks noGrp="1" noChangeArrowheads="1"/>
          </p:cNvSpPr>
          <p:nvPr>
            <p:ph type="body" idx="4294967295"/>
          </p:nvPr>
        </p:nvSpPr>
        <p:spPr>
          <a:xfrm>
            <a:off x="685800" y="1676400"/>
            <a:ext cx="7772400" cy="4525963"/>
          </a:xfrm>
        </p:spPr>
        <p:txBody>
          <a:bodyPr/>
          <a:lstStyle/>
          <a:p>
            <a:pPr eaLnBrk="1" hangingPunct="1"/>
            <a:r>
              <a:rPr lang="en-GB" sz="2800" dirty="0"/>
              <a:t>Changes in routine (creating anxiety).</a:t>
            </a:r>
          </a:p>
          <a:p>
            <a:pPr eaLnBrk="1" hangingPunct="1"/>
            <a:r>
              <a:rPr lang="en-GB" sz="2800" dirty="0"/>
              <a:t>Sharing others’ interests.</a:t>
            </a:r>
          </a:p>
          <a:p>
            <a:pPr eaLnBrk="1" hangingPunct="1"/>
            <a:r>
              <a:rPr lang="en-GB" sz="2800" dirty="0"/>
              <a:t>Seeming to be ‘in a world of their own’ (focusing on own interests).</a:t>
            </a:r>
          </a:p>
          <a:p>
            <a:pPr eaLnBrk="1" hangingPunct="1"/>
            <a:r>
              <a:rPr lang="en-GB" sz="2800" dirty="0"/>
              <a:t>No intuitive grasp of social hierarchy.</a:t>
            </a:r>
          </a:p>
          <a:p>
            <a:pPr eaLnBrk="1" hangingPunct="1"/>
            <a:r>
              <a:rPr lang="en-GB" sz="2800" dirty="0"/>
              <a:t>Analytical rather than holistic thinkers (‘weak central coherence’ theory) – hard to determine what is/is not relevant.</a:t>
            </a:r>
          </a:p>
          <a:p>
            <a:pPr eaLnBrk="1" hangingPunct="1">
              <a:buFontTx/>
              <a:buNone/>
            </a:pPr>
            <a:endParaRPr lang="en-US" sz="28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457200" y="457200"/>
            <a:ext cx="8229600" cy="1143000"/>
          </a:xfrm>
        </p:spPr>
        <p:txBody>
          <a:bodyPr/>
          <a:lstStyle/>
          <a:p>
            <a:pPr eaLnBrk="1" hangingPunct="1"/>
            <a:r>
              <a:rPr lang="en-GB" sz="3200" dirty="0">
                <a:latin typeface="Arial"/>
              </a:rPr>
              <a:t>Difficulties for Autistic</a:t>
            </a:r>
            <a:r>
              <a:rPr lang="en-GB" sz="3200" dirty="0" smtClean="0">
                <a:latin typeface="Arial"/>
              </a:rPr>
              <a:t> Children</a:t>
            </a:r>
            <a:endParaRPr lang="en-US" sz="3200" dirty="0">
              <a:latin typeface="Arial"/>
            </a:endParaRPr>
          </a:p>
        </p:txBody>
      </p:sp>
      <p:sp>
        <p:nvSpPr>
          <p:cNvPr id="41987" name="Rectangle 3"/>
          <p:cNvSpPr>
            <a:spLocks noGrp="1" noChangeArrowheads="1"/>
          </p:cNvSpPr>
          <p:nvPr>
            <p:ph type="body" idx="4294967295"/>
          </p:nvPr>
        </p:nvSpPr>
        <p:spPr>
          <a:xfrm>
            <a:off x="457200" y="1676400"/>
            <a:ext cx="8226425" cy="4497387"/>
          </a:xfrm>
        </p:spPr>
        <p:txBody>
          <a:bodyPr/>
          <a:lstStyle/>
          <a:p>
            <a:pPr eaLnBrk="1" hangingPunct="1">
              <a:lnSpc>
                <a:spcPct val="90000"/>
              </a:lnSpc>
            </a:pPr>
            <a:r>
              <a:rPr lang="en-GB" sz="2800" dirty="0"/>
              <a:t>Predominantly visual learning style (often).</a:t>
            </a:r>
          </a:p>
          <a:p>
            <a:pPr eaLnBrk="1" hangingPunct="1">
              <a:lnSpc>
                <a:spcPct val="90000"/>
              </a:lnSpc>
            </a:pPr>
            <a:r>
              <a:rPr lang="en-GB" sz="2800" dirty="0"/>
              <a:t>Auditory processing difficulties.</a:t>
            </a:r>
          </a:p>
          <a:p>
            <a:pPr eaLnBrk="1" hangingPunct="1">
              <a:lnSpc>
                <a:spcPct val="90000"/>
              </a:lnSpc>
            </a:pPr>
            <a:r>
              <a:rPr lang="en-GB" sz="2800" dirty="0"/>
              <a:t>Literal interpretation of language.</a:t>
            </a:r>
          </a:p>
          <a:p>
            <a:pPr eaLnBrk="1" hangingPunct="1">
              <a:lnSpc>
                <a:spcPct val="90000"/>
              </a:lnSpc>
            </a:pPr>
            <a:r>
              <a:rPr lang="en-GB" sz="2800" dirty="0"/>
              <a:t>Intrusive sensory distractions.</a:t>
            </a:r>
          </a:p>
          <a:p>
            <a:pPr eaLnBrk="1" hangingPunct="1">
              <a:lnSpc>
                <a:spcPct val="90000"/>
              </a:lnSpc>
            </a:pPr>
            <a:r>
              <a:rPr lang="en-GB" sz="2800" dirty="0"/>
              <a:t>Distractions from within (thoughts).</a:t>
            </a:r>
          </a:p>
          <a:p>
            <a:pPr eaLnBrk="1" hangingPunct="1">
              <a:lnSpc>
                <a:spcPct val="90000"/>
              </a:lnSpc>
            </a:pPr>
            <a:r>
              <a:rPr lang="en-GB" sz="2800" dirty="0"/>
              <a:t>Switching attention on demand.</a:t>
            </a:r>
          </a:p>
          <a:p>
            <a:pPr eaLnBrk="1" hangingPunct="1">
              <a:lnSpc>
                <a:spcPct val="90000"/>
              </a:lnSpc>
            </a:pPr>
            <a:r>
              <a:rPr lang="en-GB" sz="2800" dirty="0"/>
              <a:t>Accessing memories of events (harder than accessing memories of facts).</a:t>
            </a:r>
            <a:endParaRPr lang="en-US" sz="2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457200" y="609600"/>
            <a:ext cx="8229600" cy="1143000"/>
          </a:xfrm>
        </p:spPr>
        <p:txBody>
          <a:bodyPr/>
          <a:lstStyle/>
          <a:p>
            <a:pPr eaLnBrk="1" hangingPunct="1"/>
            <a:r>
              <a:rPr lang="en-GB" sz="3200" dirty="0">
                <a:latin typeface="Arial"/>
              </a:rPr>
              <a:t>Difficulties for Autistic</a:t>
            </a:r>
            <a:r>
              <a:rPr lang="en-GB" sz="3200" dirty="0" smtClean="0">
                <a:latin typeface="Arial"/>
              </a:rPr>
              <a:t> Children</a:t>
            </a:r>
            <a:endParaRPr lang="en-US" sz="3200" dirty="0">
              <a:latin typeface="Arial"/>
            </a:endParaRPr>
          </a:p>
        </p:txBody>
      </p:sp>
      <p:sp>
        <p:nvSpPr>
          <p:cNvPr id="43011" name="Rectangle 3"/>
          <p:cNvSpPr>
            <a:spLocks noGrp="1" noChangeArrowheads="1"/>
          </p:cNvSpPr>
          <p:nvPr>
            <p:ph type="body" idx="4294967295"/>
          </p:nvPr>
        </p:nvSpPr>
        <p:spPr>
          <a:xfrm>
            <a:off x="533400" y="1828800"/>
            <a:ext cx="8226425" cy="4497388"/>
          </a:xfrm>
        </p:spPr>
        <p:txBody>
          <a:bodyPr/>
          <a:lstStyle/>
          <a:p>
            <a:pPr eaLnBrk="1" hangingPunct="1"/>
            <a:r>
              <a:rPr lang="en-GB" sz="2800" dirty="0"/>
              <a:t>Organisational ability.</a:t>
            </a:r>
          </a:p>
          <a:p>
            <a:pPr eaLnBrk="1" hangingPunct="1"/>
            <a:r>
              <a:rPr lang="en-GB" sz="2800" dirty="0"/>
              <a:t>Motor co-ordination.</a:t>
            </a:r>
          </a:p>
          <a:p>
            <a:pPr eaLnBrk="1" hangingPunct="1"/>
            <a:r>
              <a:rPr lang="en-GB" sz="2800" dirty="0"/>
              <a:t>Close physical proximity to others.</a:t>
            </a:r>
          </a:p>
          <a:p>
            <a:pPr eaLnBrk="1" hangingPunct="1"/>
            <a:r>
              <a:rPr lang="en-GB" sz="2800" dirty="0"/>
              <a:t>Making and sustaining friendships.</a:t>
            </a:r>
          </a:p>
          <a:p>
            <a:pPr eaLnBrk="1" hangingPunct="1"/>
            <a:r>
              <a:rPr lang="en-GB" sz="2800" dirty="0"/>
              <a:t>Becoming victims of bullying (because of their difference).</a:t>
            </a:r>
            <a:endParaRPr lang="en-US" sz="28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Supporting Autistic</a:t>
            </a:r>
            <a:r>
              <a:rPr lang="en-GB" sz="3200" dirty="0" smtClean="0">
                <a:latin typeface="Arial"/>
              </a:rPr>
              <a:t> Children</a:t>
            </a:r>
            <a:endParaRPr lang="en-US" sz="3200" dirty="0">
              <a:latin typeface="Arial"/>
            </a:endParaRPr>
          </a:p>
        </p:txBody>
      </p:sp>
      <p:sp>
        <p:nvSpPr>
          <p:cNvPr id="45059" name="Rectangle 3"/>
          <p:cNvSpPr>
            <a:spLocks noGrp="1" noChangeArrowheads="1"/>
          </p:cNvSpPr>
          <p:nvPr>
            <p:ph type="body" idx="4294967295"/>
          </p:nvPr>
        </p:nvSpPr>
        <p:spPr>
          <a:xfrm>
            <a:off x="457200" y="1828800"/>
            <a:ext cx="8229600" cy="4525962"/>
          </a:xfrm>
        </p:spPr>
        <p:txBody>
          <a:bodyPr/>
          <a:lstStyle/>
          <a:p>
            <a:pPr marL="0" indent="0" eaLnBrk="1" hangingPunct="1">
              <a:buFontTx/>
              <a:buNone/>
              <a:tabLst>
                <a:tab pos="192088" algn="l"/>
              </a:tabLst>
            </a:pPr>
            <a:r>
              <a:rPr lang="en-GB" sz="2800" dirty="0" smtClean="0"/>
              <a:t>Be </a:t>
            </a:r>
            <a:r>
              <a:rPr lang="en-GB" sz="2800" dirty="0"/>
              <a:t>aware of potential stressors.</a:t>
            </a:r>
            <a:r>
              <a:rPr lang="en-GB" sz="2800" dirty="0" smtClean="0"/>
              <a:t> </a:t>
            </a:r>
          </a:p>
          <a:p>
            <a:pPr marL="0" indent="0" eaLnBrk="1" hangingPunct="1">
              <a:buFontTx/>
              <a:buNone/>
              <a:tabLst>
                <a:tab pos="192088" algn="l"/>
              </a:tabLst>
            </a:pPr>
            <a:r>
              <a:rPr lang="en-GB" sz="2800" dirty="0" smtClean="0"/>
              <a:t>Possible </a:t>
            </a:r>
            <a:r>
              <a:rPr lang="en-GB" sz="2800" dirty="0"/>
              <a:t>adaptations are</a:t>
            </a:r>
            <a:r>
              <a:rPr lang="en-GB" sz="2800" dirty="0" smtClean="0"/>
              <a:t>:</a:t>
            </a:r>
          </a:p>
          <a:p>
            <a:pPr marL="0" indent="0" eaLnBrk="1" hangingPunct="1">
              <a:buNone/>
              <a:tabLst>
                <a:tab pos="192088" algn="l"/>
              </a:tabLst>
            </a:pPr>
            <a:endParaRPr lang="en-GB" sz="2800" dirty="0" smtClean="0"/>
          </a:p>
          <a:p>
            <a:pPr marL="0" indent="0" eaLnBrk="1" hangingPunct="1">
              <a:tabLst>
                <a:tab pos="192088" algn="l"/>
              </a:tabLst>
            </a:pPr>
            <a:r>
              <a:rPr lang="en-GB" sz="2800" dirty="0" smtClean="0"/>
              <a:t>predicable environment</a:t>
            </a:r>
          </a:p>
          <a:p>
            <a:pPr marL="0" indent="0" eaLnBrk="1" hangingPunct="1">
              <a:tabLst>
                <a:tab pos="192088" algn="l"/>
              </a:tabLst>
            </a:pPr>
            <a:r>
              <a:rPr lang="en-GB" sz="2800" dirty="0" smtClean="0"/>
              <a:t>personal base </a:t>
            </a:r>
            <a:r>
              <a:rPr lang="en-GB" sz="2800" dirty="0"/>
              <a:t>in quiet corner of room, </a:t>
            </a:r>
            <a:br>
              <a:rPr lang="en-GB" sz="2800" dirty="0"/>
            </a:br>
            <a:r>
              <a:rPr lang="en-GB" sz="2800" dirty="0"/>
              <a:t>	possibly partially screened</a:t>
            </a:r>
          </a:p>
          <a:p>
            <a:pPr marL="0" indent="0" eaLnBrk="1" hangingPunct="1">
              <a:tabLst>
                <a:tab pos="192088" algn="l"/>
              </a:tabLst>
            </a:pPr>
            <a:r>
              <a:rPr lang="en-GB" sz="2800" dirty="0"/>
              <a:t>	removal of distracting materials from nearby</a:t>
            </a:r>
          </a:p>
          <a:p>
            <a:pPr marL="0" indent="0" eaLnBrk="1" hangingPunct="1">
              <a:tabLst>
                <a:tab pos="192088" algn="l"/>
              </a:tabLst>
            </a:pPr>
            <a:r>
              <a:rPr lang="en-GB" sz="2800" dirty="0"/>
              <a:t>	predictable routine to</a:t>
            </a:r>
            <a:r>
              <a:rPr lang="en-GB" sz="2800" dirty="0" smtClean="0"/>
              <a:t> their </a:t>
            </a:r>
            <a:r>
              <a:rPr lang="en-GB" sz="2800" dirty="0"/>
              <a:t>day.</a:t>
            </a:r>
            <a:endParaRPr lang="en-US" sz="28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Supporting Autistic</a:t>
            </a:r>
            <a:r>
              <a:rPr lang="en-GB" sz="3200" dirty="0" smtClean="0">
                <a:latin typeface="Arial"/>
              </a:rPr>
              <a:t> Children</a:t>
            </a:r>
            <a:endParaRPr lang="en-US" sz="3200" dirty="0">
              <a:latin typeface="Arial"/>
            </a:endParaRPr>
          </a:p>
        </p:txBody>
      </p:sp>
      <p:sp>
        <p:nvSpPr>
          <p:cNvPr id="46083" name="Rectangle 3"/>
          <p:cNvSpPr>
            <a:spLocks noGrp="1" noChangeArrowheads="1"/>
          </p:cNvSpPr>
          <p:nvPr>
            <p:ph type="body" idx="4294967295"/>
          </p:nvPr>
        </p:nvSpPr>
        <p:spPr>
          <a:xfrm>
            <a:off x="539750" y="1916113"/>
            <a:ext cx="8229600" cy="4525962"/>
          </a:xfrm>
        </p:spPr>
        <p:txBody>
          <a:bodyPr/>
          <a:lstStyle/>
          <a:p>
            <a:pPr eaLnBrk="1" hangingPunct="1"/>
            <a:r>
              <a:rPr lang="en-GB" sz="2800" dirty="0" smtClean="0"/>
              <a:t>Visual </a:t>
            </a:r>
            <a:r>
              <a:rPr lang="en-GB" sz="2800" dirty="0"/>
              <a:t>prompts (for example, individualised timetable with removable activity cards).</a:t>
            </a:r>
            <a:endParaRPr lang="en-GB" sz="2800" dirty="0" smtClean="0"/>
          </a:p>
          <a:p>
            <a:pPr eaLnBrk="1" hangingPunct="1"/>
            <a:r>
              <a:rPr lang="en-GB" sz="2800" dirty="0" smtClean="0"/>
              <a:t>Careful </a:t>
            </a:r>
            <a:r>
              <a:rPr lang="en-GB" sz="2800" dirty="0"/>
              <a:t>preparation for changes in routine (for example,</a:t>
            </a:r>
            <a:r>
              <a:rPr lang="en-GB" sz="2800" dirty="0" smtClean="0"/>
              <a:t> new staff, </a:t>
            </a:r>
            <a:r>
              <a:rPr lang="en-GB" sz="2800" dirty="0"/>
              <a:t>school visits).</a:t>
            </a:r>
            <a:endParaRPr lang="en-GB" sz="2800" dirty="0" smtClean="0"/>
          </a:p>
          <a:p>
            <a:pPr eaLnBrk="1" hangingPunct="1"/>
            <a:r>
              <a:rPr lang="en-GB" sz="2800" dirty="0" smtClean="0"/>
              <a:t>Equipment </a:t>
            </a:r>
            <a:r>
              <a:rPr lang="en-GB" sz="2800" dirty="0"/>
              <a:t>labelled and kept in same place.</a:t>
            </a:r>
            <a:endParaRPr lang="en-GB" sz="2800" dirty="0" smtClean="0"/>
          </a:p>
          <a:p>
            <a:pPr eaLnBrk="1" hangingPunct="1"/>
            <a:r>
              <a:rPr lang="en-GB" sz="2800" dirty="0" smtClean="0"/>
              <a:t>Modification </a:t>
            </a:r>
            <a:r>
              <a:rPr lang="en-GB" sz="2800" dirty="0"/>
              <a:t>of stressful activities.</a:t>
            </a:r>
            <a:endParaRPr lang="en-GB" sz="2800" dirty="0" smtClean="0"/>
          </a:p>
          <a:p>
            <a:pPr eaLnBrk="1" hangingPunct="1"/>
            <a:r>
              <a:rPr lang="en-GB" sz="2800" dirty="0" smtClean="0"/>
              <a:t>Key person.</a:t>
            </a:r>
            <a:endParaRPr lang="en-GB" sz="2800" dirty="0"/>
          </a:p>
          <a:p>
            <a:pPr eaLnBrk="1" hangingPunct="1">
              <a:buFontTx/>
              <a:buNone/>
            </a:pP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457200" y="533400"/>
            <a:ext cx="8229600" cy="1143000"/>
          </a:xfrm>
        </p:spPr>
        <p:txBody>
          <a:bodyPr/>
          <a:lstStyle/>
          <a:p>
            <a:pPr eaLnBrk="1" hangingPunct="1"/>
            <a:r>
              <a:rPr lang="en-GB" sz="3200" dirty="0">
                <a:latin typeface="Arial"/>
              </a:rPr>
              <a:t>Supporting Autistic</a:t>
            </a:r>
            <a:r>
              <a:rPr lang="en-GB" sz="3200" dirty="0" smtClean="0">
                <a:latin typeface="Arial"/>
              </a:rPr>
              <a:t> Children</a:t>
            </a:r>
            <a:endParaRPr lang="en-US" sz="3200" dirty="0">
              <a:latin typeface="Arial"/>
            </a:endParaRPr>
          </a:p>
        </p:txBody>
      </p:sp>
      <p:sp>
        <p:nvSpPr>
          <p:cNvPr id="47107" name="Rectangle 3"/>
          <p:cNvSpPr>
            <a:spLocks noGrp="1" noChangeArrowheads="1"/>
          </p:cNvSpPr>
          <p:nvPr>
            <p:ph type="body" idx="4294967295"/>
          </p:nvPr>
        </p:nvSpPr>
        <p:spPr>
          <a:xfrm>
            <a:off x="533400" y="1828800"/>
            <a:ext cx="8229600" cy="4525962"/>
          </a:xfrm>
        </p:spPr>
        <p:txBody>
          <a:bodyPr/>
          <a:lstStyle/>
          <a:p>
            <a:pPr eaLnBrk="1" hangingPunct="1">
              <a:lnSpc>
                <a:spcPct val="90000"/>
              </a:lnSpc>
            </a:pPr>
            <a:r>
              <a:rPr lang="en-GB" sz="2800" dirty="0"/>
              <a:t>Allow for preferred learning style </a:t>
            </a:r>
            <a:br>
              <a:rPr lang="en-GB" sz="2800" dirty="0"/>
            </a:br>
            <a:r>
              <a:rPr lang="en-GB" sz="2800" dirty="0"/>
              <a:t>(for example, from visual materials </a:t>
            </a:r>
            <a:br>
              <a:rPr lang="en-GB" sz="2800" dirty="0"/>
            </a:br>
            <a:r>
              <a:rPr lang="en-GB" sz="2800" dirty="0"/>
              <a:t>rather than auditory input).</a:t>
            </a:r>
          </a:p>
          <a:p>
            <a:pPr eaLnBrk="1" hangingPunct="1">
              <a:lnSpc>
                <a:spcPct val="90000"/>
              </a:lnSpc>
            </a:pPr>
            <a:r>
              <a:rPr lang="en-GB" sz="2800" dirty="0"/>
              <a:t>Use special interests as motivators.</a:t>
            </a:r>
          </a:p>
          <a:p>
            <a:pPr eaLnBrk="1" hangingPunct="1">
              <a:lnSpc>
                <a:spcPct val="90000"/>
              </a:lnSpc>
            </a:pPr>
            <a:r>
              <a:rPr lang="en-GB" sz="2800" dirty="0"/>
              <a:t>Teach feelings vocabulary, social</a:t>
            </a:r>
            <a:r>
              <a:rPr lang="en-GB" sz="2800" dirty="0" smtClean="0"/>
              <a:t> skills </a:t>
            </a:r>
            <a:r>
              <a:rPr lang="en-GB" sz="2800" dirty="0"/>
              <a:t>in a structured </a:t>
            </a:r>
            <a:r>
              <a:rPr lang="en-GB" sz="2800" dirty="0" smtClean="0"/>
              <a:t>way, as appropriate &amp; linked to developmental age.</a:t>
            </a:r>
          </a:p>
          <a:p>
            <a:pPr eaLnBrk="1" hangingPunct="1">
              <a:lnSpc>
                <a:spcPct val="90000"/>
              </a:lnSpc>
            </a:pPr>
            <a:r>
              <a:rPr lang="en-GB" sz="2800" dirty="0" smtClean="0"/>
              <a:t>Use visuals to represent feelings.</a:t>
            </a:r>
            <a:endParaRPr lang="en-GB" sz="2800" dirty="0"/>
          </a:p>
          <a:p>
            <a:pPr eaLnBrk="1" hangingPunct="1">
              <a:lnSpc>
                <a:spcPct val="90000"/>
              </a:lnSpc>
            </a:pPr>
            <a:r>
              <a:rPr lang="en-GB" sz="2800" dirty="0"/>
              <a:t>Avoid rhetorical questions, metaphors and sarcasm</a:t>
            </a:r>
            <a:r>
              <a:rPr lang="en-GB" sz="2800" dirty="0" smtClean="0"/>
              <a:t>.</a:t>
            </a:r>
            <a:endParaRPr lang="en-GB" sz="28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38200"/>
            <a:ext cx="7543800" cy="5262979"/>
          </a:xfrm>
          <a:prstGeom prst="rect">
            <a:avLst/>
          </a:prstGeom>
          <a:noFill/>
        </p:spPr>
        <p:txBody>
          <a:bodyPr wrap="square" rtlCol="0">
            <a:spAutoFit/>
          </a:bodyPr>
          <a:lstStyle/>
          <a:p>
            <a:pPr algn="ctr"/>
            <a:r>
              <a:rPr lang="en-US" sz="3200" b="1" dirty="0" smtClean="0"/>
              <a:t>Useful links/books</a:t>
            </a:r>
          </a:p>
          <a:p>
            <a:endParaRPr lang="en-US" sz="2000" dirty="0" smtClean="0"/>
          </a:p>
          <a:p>
            <a:pPr marL="180000">
              <a:spcBef>
                <a:spcPts val="400"/>
              </a:spcBef>
              <a:buFont typeface="Arial"/>
              <a:buChar char="•"/>
            </a:pPr>
            <a:r>
              <a:rPr lang="en-US" sz="2000" dirty="0" smtClean="0"/>
              <a:t>   The National Autistic Society</a:t>
            </a:r>
          </a:p>
          <a:p>
            <a:pPr marL="180000">
              <a:spcBef>
                <a:spcPts val="400"/>
              </a:spcBef>
              <a:buFont typeface="Arial"/>
              <a:buChar char="•"/>
            </a:pPr>
            <a:r>
              <a:rPr lang="en-US" sz="2000" dirty="0" smtClean="0"/>
              <a:t>   Berkshire Autistic Society</a:t>
            </a:r>
          </a:p>
          <a:p>
            <a:pPr marL="180000">
              <a:spcBef>
                <a:spcPts val="400"/>
              </a:spcBef>
              <a:buFont typeface="Arial"/>
              <a:buChar char="•"/>
            </a:pPr>
            <a:r>
              <a:rPr lang="en-US" sz="2000" dirty="0" smtClean="0"/>
              <a:t>   NHS Choices </a:t>
            </a:r>
          </a:p>
          <a:p>
            <a:pPr marL="180000">
              <a:spcBef>
                <a:spcPts val="400"/>
              </a:spcBef>
              <a:buFont typeface="Arial"/>
              <a:buChar char="•"/>
            </a:pPr>
            <a:r>
              <a:rPr lang="en-US" sz="2000" dirty="0" smtClean="0"/>
              <a:t>   Website: </a:t>
            </a:r>
            <a:r>
              <a:rPr lang="en-US" sz="2000" dirty="0" err="1" smtClean="0"/>
              <a:t>nhs.uk</a:t>
            </a:r>
            <a:r>
              <a:rPr lang="en-US" sz="2000" dirty="0" smtClean="0"/>
              <a:t>/conditions/Autistic-spectrum-disorder/</a:t>
            </a:r>
          </a:p>
          <a:p>
            <a:pPr marL="180000">
              <a:spcBef>
                <a:spcPts val="400"/>
              </a:spcBef>
            </a:pPr>
            <a:r>
              <a:rPr lang="en-US" sz="2000" dirty="0" smtClean="0"/>
              <a:t>    Pages/</a:t>
            </a:r>
            <a:r>
              <a:rPr lang="en-US" sz="2000" dirty="0" err="1" smtClean="0"/>
              <a:t>Introduction.aspx</a:t>
            </a:r>
            <a:endParaRPr lang="en-US" sz="2000" dirty="0" smtClean="0"/>
          </a:p>
          <a:p>
            <a:pPr marL="180000">
              <a:spcBef>
                <a:spcPts val="400"/>
              </a:spcBef>
              <a:buFont typeface="Arial"/>
              <a:buChar char="•"/>
            </a:pPr>
            <a:r>
              <a:rPr lang="en-US" sz="2000" dirty="0" smtClean="0"/>
              <a:t>   U-tube – TED Talks E.g. Autism </a:t>
            </a:r>
            <a:r>
              <a:rPr lang="en-US" sz="1600" dirty="0" smtClean="0"/>
              <a:t>– What we know Dr Wendy Chung</a:t>
            </a:r>
          </a:p>
          <a:p>
            <a:pPr marL="180000">
              <a:spcBef>
                <a:spcPts val="400"/>
              </a:spcBef>
              <a:buFont typeface="Arial"/>
              <a:buChar char="•"/>
            </a:pPr>
            <a:r>
              <a:rPr lang="en-US" sz="2000" dirty="0" smtClean="0"/>
              <a:t>   Early Bird </a:t>
            </a:r>
            <a:r>
              <a:rPr lang="en-US" sz="2000" dirty="0" err="1" smtClean="0"/>
              <a:t>Programme</a:t>
            </a:r>
            <a:r>
              <a:rPr lang="en-US" sz="2000" dirty="0" smtClean="0"/>
              <a:t> for parents</a:t>
            </a:r>
          </a:p>
          <a:p>
            <a:pPr marL="180000">
              <a:spcBef>
                <a:spcPts val="400"/>
              </a:spcBef>
            </a:pPr>
            <a:endParaRPr lang="en-US" sz="2000" dirty="0"/>
          </a:p>
          <a:p>
            <a:pPr marL="180000">
              <a:spcBef>
                <a:spcPts val="400"/>
              </a:spcBef>
            </a:pPr>
            <a:r>
              <a:rPr lang="en-US" sz="2000" dirty="0" smtClean="0"/>
              <a:t>Helping </a:t>
            </a:r>
            <a:r>
              <a:rPr lang="en-US" sz="2000" dirty="0"/>
              <a:t>young children with autism to </a:t>
            </a:r>
            <a:r>
              <a:rPr lang="en-US" sz="2000" dirty="0" smtClean="0"/>
              <a:t>learn (2014)</a:t>
            </a:r>
            <a:r>
              <a:rPr lang="en-GB" sz="2000" dirty="0" smtClean="0"/>
              <a:t> </a:t>
            </a:r>
          </a:p>
          <a:p>
            <a:r>
              <a:rPr lang="en-US" sz="1600" dirty="0" smtClean="0"/>
              <a:t>   Author: Liz Hannah. Published by National Autistic Society</a:t>
            </a:r>
            <a:endParaRPr lang="en-GB" sz="1600" dirty="0" smtClean="0"/>
          </a:p>
          <a:p>
            <a:r>
              <a:rPr lang="en-US" sz="1600" i="1" dirty="0" smtClean="0"/>
              <a:t>  A </a:t>
            </a:r>
            <a:r>
              <a:rPr lang="en-US" sz="1600" i="1" dirty="0"/>
              <a:t>practical guide for parents and staff in mainstream schools and </a:t>
            </a:r>
            <a:r>
              <a:rPr lang="en-US" sz="1600" i="1" dirty="0" smtClean="0"/>
              <a:t>nurseries for</a:t>
            </a:r>
          </a:p>
          <a:p>
            <a:r>
              <a:rPr lang="en-US" sz="1600" i="1" dirty="0"/>
              <a:t> </a:t>
            </a:r>
            <a:r>
              <a:rPr lang="en-US" sz="1600" i="1" dirty="0" smtClean="0"/>
              <a:t> children aged 3-7 years.</a:t>
            </a:r>
            <a:endParaRPr lang="en-GB" sz="1600" i="1" dirty="0" smtClean="0"/>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idx="4294967295"/>
          </p:nvPr>
        </p:nvSpPr>
        <p:spPr>
          <a:xfrm>
            <a:off x="457200" y="2057400"/>
            <a:ext cx="8226425" cy="1736725"/>
          </a:xfrm>
        </p:spPr>
        <p:txBody>
          <a:bodyPr/>
          <a:lstStyle/>
          <a:p>
            <a:pPr eaLnBrk="1" hangingPunct="1"/>
            <a:r>
              <a:rPr lang="en-GB" sz="3600" dirty="0" smtClean="0"/>
              <a:t>Turning an observation schedule into an action plan</a:t>
            </a:r>
            <a:endParaRPr lang="en-US" sz="3600" dirty="0"/>
          </a:p>
        </p:txBody>
      </p:sp>
      <p:pic>
        <p:nvPicPr>
          <p:cNvPr id="3" name="Picture 2"/>
          <p:cNvPicPr>
            <a:picLocks noChangeAspect="1"/>
          </p:cNvPicPr>
          <p:nvPr/>
        </p:nvPicPr>
        <p:blipFill>
          <a:blip r:embed="rId3"/>
          <a:stretch>
            <a:fillRect/>
          </a:stretch>
        </p:blipFill>
        <p:spPr>
          <a:xfrm>
            <a:off x="304800" y="685800"/>
            <a:ext cx="1040103" cy="1040103"/>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lstStyle/>
          <a:p>
            <a:r>
              <a:rPr lang="en-US" sz="3600" dirty="0" smtClean="0"/>
              <a:t>Action Plan for ……</a:t>
            </a:r>
            <a:endParaRPr lang="en-US" sz="3600" dirty="0"/>
          </a:p>
        </p:txBody>
      </p:sp>
      <p:graphicFrame>
        <p:nvGraphicFramePr>
          <p:cNvPr id="6" name="Table 5"/>
          <p:cNvGraphicFramePr>
            <a:graphicFrameLocks noGrp="1"/>
          </p:cNvGraphicFramePr>
          <p:nvPr/>
        </p:nvGraphicFramePr>
        <p:xfrm>
          <a:off x="304800" y="2133600"/>
          <a:ext cx="8534398" cy="2699885"/>
        </p:xfrm>
        <a:graphic>
          <a:graphicData uri="http://schemas.openxmlformats.org/drawingml/2006/table">
            <a:tbl>
              <a:tblPr firstRow="1" bandRow="1">
                <a:tableStyleId>{21E4AEA4-8DFA-4A89-87EB-49C32662AFE0}</a:tableStyleId>
              </a:tblPr>
              <a:tblGrid>
                <a:gridCol w="2362199"/>
                <a:gridCol w="1981200"/>
                <a:gridCol w="1600200"/>
                <a:gridCol w="1524000"/>
                <a:gridCol w="1066799"/>
              </a:tblGrid>
              <a:tr h="762000">
                <a:tc>
                  <a:txBody>
                    <a:bodyPr/>
                    <a:lstStyle/>
                    <a:p>
                      <a:pPr algn="ctr"/>
                      <a:r>
                        <a:rPr lang="en-US" dirty="0" smtClean="0"/>
                        <a:t>Concern</a:t>
                      </a:r>
                      <a:endParaRPr lang="en-US" dirty="0"/>
                    </a:p>
                  </a:txBody>
                  <a:tcPr/>
                </a:tc>
                <a:tc>
                  <a:txBody>
                    <a:bodyPr/>
                    <a:lstStyle/>
                    <a:p>
                      <a:pPr algn="ctr"/>
                      <a:r>
                        <a:rPr lang="en-US" dirty="0" smtClean="0"/>
                        <a:t>Target</a:t>
                      </a:r>
                      <a:endParaRPr lang="en-US" dirty="0"/>
                    </a:p>
                  </a:txBody>
                  <a:tcPr/>
                </a:tc>
                <a:tc>
                  <a:txBody>
                    <a:bodyPr/>
                    <a:lstStyle/>
                    <a:p>
                      <a:pPr algn="ctr"/>
                      <a:r>
                        <a:rPr lang="en-US" dirty="0" smtClean="0"/>
                        <a:t>How will this be achieved</a:t>
                      </a:r>
                      <a:endParaRPr lang="en-US" dirty="0"/>
                    </a:p>
                  </a:txBody>
                  <a:tcPr/>
                </a:tc>
                <a:tc>
                  <a:txBody>
                    <a:bodyPr/>
                    <a:lstStyle/>
                    <a:p>
                      <a:pPr algn="ctr"/>
                      <a:r>
                        <a:rPr lang="en-US" dirty="0" smtClean="0"/>
                        <a:t>Resources</a:t>
                      </a:r>
                      <a:endParaRPr lang="en-US" dirty="0"/>
                    </a:p>
                  </a:txBody>
                  <a:tcPr/>
                </a:tc>
                <a:tc>
                  <a:txBody>
                    <a:bodyPr/>
                    <a:lstStyle/>
                    <a:p>
                      <a:pPr algn="ctr"/>
                      <a:r>
                        <a:rPr lang="en-US" dirty="0" smtClean="0"/>
                        <a:t>Who? Where?</a:t>
                      </a:r>
                      <a:endParaRPr lang="en-US" dirty="0"/>
                    </a:p>
                  </a:txBody>
                  <a:tcPr/>
                </a:tc>
              </a:tr>
              <a:tr h="68580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868825">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r h="38326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55300"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ea typeface="ＭＳ Ｐゴシック" charset="-128"/>
                <a:cs typeface="ＭＳ Ｐゴシック" charset="-128"/>
              </a:rPr>
              <a:t>E D U C A T I O N A L   P S Y C H O L O G Y   S E R V I C E</a:t>
            </a:r>
          </a:p>
        </p:txBody>
      </p:sp>
      <p:pic>
        <p:nvPicPr>
          <p:cNvPr id="55301" name="Picture 5" descr="Image windsor and Maidenhead"/>
          <p:cNvPicPr>
            <a:picLocks noChangeAspect="1" noChangeArrowheads="1"/>
          </p:cNvPicPr>
          <p:nvPr/>
        </p:nvPicPr>
        <p:blipFill>
          <a:blip r:embed="rId2"/>
          <a:srcRect/>
          <a:stretch>
            <a:fillRect/>
          </a:stretch>
        </p:blipFill>
        <p:spPr bwMode="auto">
          <a:xfrm>
            <a:off x="8637588" y="0"/>
            <a:ext cx="506412" cy="609600"/>
          </a:xfrm>
          <a:prstGeom prst="rect">
            <a:avLst/>
          </a:prstGeom>
          <a:noFill/>
          <a:ln w="3175">
            <a:noFill/>
            <a:miter lim="800000"/>
            <a:headEnd/>
            <a:tailEnd/>
          </a:ln>
        </p:spPr>
      </p:pic>
      <p:sp>
        <p:nvSpPr>
          <p:cNvPr id="55302" name="Rectangle 6"/>
          <p:cNvSpPr>
            <a:spLocks noChangeArrowheads="1"/>
          </p:cNvSpPr>
          <p:nvPr/>
        </p:nvSpPr>
        <p:spPr bwMode="auto">
          <a:xfrm>
            <a:off x="755650" y="1196975"/>
            <a:ext cx="7704138" cy="762000"/>
          </a:xfrm>
          <a:prstGeom prst="rect">
            <a:avLst/>
          </a:prstGeom>
          <a:noFill/>
          <a:ln w="9525">
            <a:noFill/>
            <a:miter lim="800000"/>
            <a:headEnd/>
            <a:tailEnd/>
          </a:ln>
          <a:effectLst/>
        </p:spPr>
        <p:txBody>
          <a:bodyPr>
            <a:prstTxWarp prst="textNoShape">
              <a:avLst/>
            </a:prstTxWarp>
            <a:spAutoFit/>
          </a:bodyPr>
          <a:lstStyle/>
          <a:p>
            <a:endParaRPr lang="en-US" sz="4400">
              <a:solidFill>
                <a:schemeClr val="tx2"/>
              </a:solidFill>
            </a:endParaRPr>
          </a:p>
        </p:txBody>
      </p:sp>
      <p:sp>
        <p:nvSpPr>
          <p:cNvPr id="55308" name="Text Box 12"/>
          <p:cNvSpPr txBox="1">
            <a:spLocks noChangeArrowheads="1"/>
          </p:cNvSpPr>
          <p:nvPr/>
        </p:nvSpPr>
        <p:spPr bwMode="auto">
          <a:xfrm>
            <a:off x="1600199" y="692696"/>
            <a:ext cx="5832475" cy="646331"/>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en-US" sz="3600" b="1" dirty="0">
                <a:latin typeface="Arial" charset="0"/>
              </a:rPr>
              <a:t>What can we do?</a:t>
            </a:r>
          </a:p>
        </p:txBody>
      </p:sp>
      <p:sp>
        <p:nvSpPr>
          <p:cNvPr id="55309" name="Text Box 13"/>
          <p:cNvSpPr txBox="1">
            <a:spLocks noChangeArrowheads="1"/>
          </p:cNvSpPr>
          <p:nvPr/>
        </p:nvSpPr>
        <p:spPr bwMode="auto">
          <a:xfrm>
            <a:off x="1116013" y="2060575"/>
            <a:ext cx="6769100" cy="457200"/>
          </a:xfrm>
          <a:prstGeom prst="rect">
            <a:avLst/>
          </a:prstGeom>
          <a:noFill/>
          <a:ln w="9525">
            <a:noFill/>
            <a:miter lim="800000"/>
            <a:headEnd/>
            <a:tailEnd/>
          </a:ln>
          <a:effectLst/>
        </p:spPr>
        <p:txBody>
          <a:bodyPr>
            <a:prstTxWarp prst="textNoShape">
              <a:avLst/>
            </a:prstTxWarp>
            <a:spAutoFit/>
          </a:bodyPr>
          <a:lstStyle/>
          <a:p>
            <a:pPr>
              <a:spcBef>
                <a:spcPct val="50000"/>
              </a:spcBef>
            </a:pPr>
            <a:endParaRPr lang="en-US"/>
          </a:p>
        </p:txBody>
      </p:sp>
      <p:sp>
        <p:nvSpPr>
          <p:cNvPr id="55310" name="WordArt 14"/>
          <p:cNvSpPr>
            <a:spLocks noChangeArrowheads="1" noChangeShapeType="1" noTextEdit="1"/>
          </p:cNvSpPr>
          <p:nvPr/>
        </p:nvSpPr>
        <p:spPr bwMode="auto">
          <a:xfrm rot="5400000">
            <a:off x="-778669" y="3378994"/>
            <a:ext cx="4249738" cy="749300"/>
          </a:xfrm>
          <a:prstGeom prst="rect">
            <a:avLst/>
          </a:prstGeom>
        </p:spPr>
        <p:txBody>
          <a:bodyPr vert="wordArtVert" wrap="none" fromWordArt="1">
            <a:prstTxWarp prst="textPlain">
              <a:avLst>
                <a:gd name="adj" fmla="val 50000"/>
              </a:avLst>
            </a:prstTxWarp>
          </a:bodyPr>
          <a:lstStyle/>
          <a:p>
            <a:pPr algn="ctr" fontAlgn="auto"/>
            <a:r>
              <a:rPr lang="en-US" sz="4400" kern="10">
                <a:ln w="9525">
                  <a:solidFill>
                    <a:srgbClr val="333399"/>
                  </a:solidFill>
                  <a:round/>
                  <a:headEnd/>
                  <a:tailEnd/>
                </a:ln>
                <a:solidFill>
                  <a:srgbClr val="333399"/>
                </a:solidFill>
                <a:latin typeface="Berlin Sans FB Demi"/>
                <a:ea typeface="Berlin Sans FB Demi"/>
                <a:cs typeface="Berlin Sans FB Demi"/>
              </a:rPr>
              <a:t>PACE</a:t>
            </a:r>
          </a:p>
        </p:txBody>
      </p:sp>
      <p:sp>
        <p:nvSpPr>
          <p:cNvPr id="55312" name="Text Box 16"/>
          <p:cNvSpPr txBox="1">
            <a:spLocks noChangeArrowheads="1"/>
          </p:cNvSpPr>
          <p:nvPr/>
        </p:nvSpPr>
        <p:spPr bwMode="auto">
          <a:xfrm>
            <a:off x="2057400" y="1600200"/>
            <a:ext cx="6697663" cy="4385816"/>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dirty="0">
                <a:solidFill>
                  <a:schemeClr val="accent2"/>
                </a:solidFill>
                <a:latin typeface="Arial" charset="0"/>
              </a:rPr>
              <a:t>Playfulness </a:t>
            </a:r>
            <a:r>
              <a:rPr lang="en-US" dirty="0">
                <a:latin typeface="Arial" charset="0"/>
              </a:rPr>
              <a:t>– </a:t>
            </a:r>
            <a:r>
              <a:rPr lang="en-US" sz="2000" dirty="0">
                <a:latin typeface="Arial" charset="0"/>
              </a:rPr>
              <a:t>A lighthearted relaxed &amp; playful attitude to help the child experience fun &amp; love.</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Acceptance </a:t>
            </a:r>
            <a:r>
              <a:rPr lang="en-US" dirty="0">
                <a:latin typeface="Arial" charset="0"/>
              </a:rPr>
              <a:t>– </a:t>
            </a:r>
            <a:r>
              <a:rPr lang="en-US" sz="2000" dirty="0">
                <a:latin typeface="Arial" charset="0"/>
              </a:rPr>
              <a:t>Accepting the child’s </a:t>
            </a:r>
            <a:r>
              <a:rPr lang="en-US" sz="2000" dirty="0" err="1">
                <a:latin typeface="Arial" charset="0"/>
              </a:rPr>
              <a:t>behavioural</a:t>
            </a:r>
            <a:r>
              <a:rPr lang="en-US" sz="2000" dirty="0">
                <a:latin typeface="Arial" charset="0"/>
              </a:rPr>
              <a:t> choices and his/her feelings. Show your understanding and help the child with the consequences of these choices.</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Curiosity </a:t>
            </a:r>
            <a:r>
              <a:rPr lang="en-US" sz="2000" dirty="0">
                <a:latin typeface="Arial" charset="0"/>
              </a:rPr>
              <a:t>– Wonder together with the child the meaning behind their </a:t>
            </a:r>
            <a:r>
              <a:rPr lang="en-US" sz="2000" dirty="0" err="1">
                <a:latin typeface="Arial" charset="0"/>
              </a:rPr>
              <a:t>behaviour</a:t>
            </a:r>
            <a:r>
              <a:rPr lang="en-US" sz="2000" dirty="0">
                <a:latin typeface="Arial" charset="0"/>
              </a:rPr>
              <a:t>. This can mean making a ‘best guess’.</a:t>
            </a:r>
            <a:endParaRPr lang="en-US" sz="2000" dirty="0" smtClean="0">
              <a:latin typeface="Arial" charset="0"/>
            </a:endParaRPr>
          </a:p>
          <a:p>
            <a:pPr>
              <a:spcBef>
                <a:spcPct val="50000"/>
              </a:spcBef>
            </a:pPr>
            <a:endParaRPr lang="en-US" sz="1000" dirty="0" smtClean="0">
              <a:solidFill>
                <a:schemeClr val="accent2"/>
              </a:solidFill>
              <a:latin typeface="Arial" charset="0"/>
            </a:endParaRPr>
          </a:p>
          <a:p>
            <a:pPr>
              <a:spcBef>
                <a:spcPct val="50000"/>
              </a:spcBef>
            </a:pPr>
            <a:r>
              <a:rPr lang="en-US" dirty="0" smtClean="0">
                <a:solidFill>
                  <a:schemeClr val="accent2"/>
                </a:solidFill>
                <a:latin typeface="Arial" charset="0"/>
              </a:rPr>
              <a:t>Empathy</a:t>
            </a:r>
            <a:r>
              <a:rPr lang="en-US" dirty="0" smtClean="0">
                <a:latin typeface="Arial" charset="0"/>
              </a:rPr>
              <a:t> </a:t>
            </a:r>
            <a:r>
              <a:rPr lang="en-US" sz="2000" dirty="0">
                <a:latin typeface="Arial" charset="0"/>
              </a:rPr>
              <a:t>– Convey acceptance of the inner child.</a:t>
            </a:r>
          </a:p>
          <a:p>
            <a:pPr algn="r">
              <a:spcBef>
                <a:spcPct val="50000"/>
              </a:spcBef>
            </a:pPr>
            <a:r>
              <a:rPr lang="en-US" sz="1600" dirty="0">
                <a:latin typeface="Arial" charset="0"/>
              </a:rPr>
              <a:t>Dan Hughes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1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38200"/>
            <a:ext cx="7543800" cy="3908762"/>
          </a:xfrm>
          <a:prstGeom prst="rect">
            <a:avLst/>
          </a:prstGeom>
          <a:noFill/>
        </p:spPr>
        <p:txBody>
          <a:bodyPr wrap="square" rtlCol="0">
            <a:spAutoFit/>
          </a:bodyPr>
          <a:lstStyle/>
          <a:p>
            <a:pPr algn="ctr"/>
            <a:r>
              <a:rPr lang="en-US" sz="3600" b="1" dirty="0" smtClean="0"/>
              <a:t>Next steps</a:t>
            </a:r>
          </a:p>
          <a:p>
            <a:pPr algn="ctr"/>
            <a:endParaRPr lang="en-US" sz="3200" b="1" dirty="0" smtClean="0"/>
          </a:p>
          <a:p>
            <a:endParaRPr lang="en-US" sz="2000" dirty="0" smtClean="0"/>
          </a:p>
          <a:p>
            <a:pPr marL="522900" indent="-342900">
              <a:spcBef>
                <a:spcPts val="400"/>
              </a:spcBef>
              <a:buFont typeface="Arial" panose="020B0604020202020204" pitchFamily="34" charset="0"/>
              <a:buChar char="•"/>
            </a:pPr>
            <a:r>
              <a:rPr lang="en-US" sz="2000" dirty="0" smtClean="0"/>
              <a:t>What I have learnt from this training?</a:t>
            </a:r>
          </a:p>
          <a:p>
            <a:pPr marL="522900" indent="-342900">
              <a:spcBef>
                <a:spcPts val="400"/>
              </a:spcBef>
              <a:buFont typeface="Arial" panose="020B0604020202020204" pitchFamily="34" charset="0"/>
              <a:buChar char="•"/>
            </a:pPr>
            <a:r>
              <a:rPr lang="en-US" sz="2000" dirty="0" smtClean="0"/>
              <a:t>What can I do over the next four weeks of term?</a:t>
            </a:r>
          </a:p>
          <a:p>
            <a:pPr marL="522900" indent="-342900">
              <a:spcBef>
                <a:spcPts val="400"/>
              </a:spcBef>
              <a:buFont typeface="Arial" panose="020B0604020202020204" pitchFamily="34" charset="0"/>
              <a:buChar char="•"/>
            </a:pPr>
            <a:r>
              <a:rPr lang="en-US" sz="2000" dirty="0" smtClean="0"/>
              <a:t>What can I do in the summer holiday to continue my learning?</a:t>
            </a:r>
          </a:p>
          <a:p>
            <a:pPr marL="180000">
              <a:spcBef>
                <a:spcPts val="400"/>
              </a:spcBef>
            </a:pPr>
            <a:endParaRPr lang="en-US" sz="2000" dirty="0" smtClean="0"/>
          </a:p>
          <a:p>
            <a:pPr marL="180000">
              <a:spcBef>
                <a:spcPts val="400"/>
              </a:spcBef>
            </a:pPr>
            <a:r>
              <a:rPr lang="en-US" sz="2000" dirty="0" smtClean="0"/>
              <a:t>Planning for September:</a:t>
            </a:r>
          </a:p>
          <a:p>
            <a:pPr marL="180000">
              <a:spcBef>
                <a:spcPts val="400"/>
              </a:spcBef>
            </a:pPr>
            <a:r>
              <a:rPr lang="en-US" sz="2000" dirty="0" smtClean="0"/>
              <a:t>Thursday 10</a:t>
            </a:r>
            <a:r>
              <a:rPr lang="en-US" sz="2000" baseline="30000" dirty="0" smtClean="0"/>
              <a:t>th</a:t>
            </a:r>
            <a:r>
              <a:rPr lang="en-US" sz="2000" dirty="0" smtClean="0"/>
              <a:t> September 1.30pm – 3.00pm</a:t>
            </a:r>
            <a:endParaRPr lang="en-US" dirty="0"/>
          </a:p>
        </p:txBody>
      </p:sp>
    </p:spTree>
    <p:extLst>
      <p:ext uri="{BB962C8B-B14F-4D97-AF65-F5344CB8AC3E}">
        <p14:creationId xmlns:p14="http://schemas.microsoft.com/office/powerpoint/2010/main" val="10710369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0" y="0"/>
            <a:ext cx="9144000" cy="533400"/>
          </a:xfrm>
          <a:prstGeom prst="rect">
            <a:avLst/>
          </a:prstGeom>
          <a:solidFill>
            <a:srgbClr val="6D2FAB"/>
          </a:solidFill>
          <a:ln w="0">
            <a:noFill/>
            <a:miter lim="800000"/>
            <a:headEnd/>
            <a:tailEnd/>
          </a:ln>
        </p:spPr>
        <p:txBody>
          <a:bodyPr wrap="none" anchor="ctr">
            <a:prstTxWarp prst="textNoShape">
              <a:avLst/>
            </a:prstTxWarp>
          </a:bodyPr>
          <a:lstStyle/>
          <a:p>
            <a:endParaRPr lang="en-US"/>
          </a:p>
        </p:txBody>
      </p:sp>
      <p:sp>
        <p:nvSpPr>
          <p:cNvPr id="17411" name="Text Box 4"/>
          <p:cNvSpPr txBox="1">
            <a:spLocks noChangeArrowheads="1"/>
          </p:cNvSpPr>
          <p:nvPr/>
        </p:nvSpPr>
        <p:spPr bwMode="auto">
          <a:xfrm>
            <a:off x="0" y="125413"/>
            <a:ext cx="9144000" cy="304800"/>
          </a:xfrm>
          <a:prstGeom prst="rect">
            <a:avLst/>
          </a:prstGeom>
          <a:noFill/>
          <a:ln w="9525">
            <a:noFill/>
            <a:miter lim="800000"/>
            <a:headEnd/>
            <a:tailEnd/>
          </a:ln>
        </p:spPr>
        <p:txBody>
          <a:bodyPr>
            <a:prstTxWarp prst="textNoShape">
              <a:avLst/>
            </a:prstTxWarp>
            <a:spAutoFit/>
          </a:bodyPr>
          <a:lstStyle/>
          <a:p>
            <a:pPr algn="ctr" eaLnBrk="0" hangingPunct="0"/>
            <a:r>
              <a:rPr lang="en-US" sz="1400">
                <a:solidFill>
                  <a:schemeClr val="bg1"/>
                </a:solidFill>
                <a:latin typeface="Arial Black" charset="0"/>
              </a:rPr>
              <a:t>E D U C A T I O N A L   P S Y C H O L O G Y   S E R V I C E</a:t>
            </a:r>
          </a:p>
        </p:txBody>
      </p:sp>
      <p:pic>
        <p:nvPicPr>
          <p:cNvPr id="17412" name="Picture 5" descr="Image windsor and Maidenhead"/>
          <p:cNvPicPr>
            <a:picLocks noChangeAspect="1" noChangeArrowheads="1"/>
          </p:cNvPicPr>
          <p:nvPr/>
        </p:nvPicPr>
        <p:blipFill>
          <a:blip r:embed="rId2"/>
          <a:srcRect/>
          <a:stretch>
            <a:fillRect/>
          </a:stretch>
        </p:blipFill>
        <p:spPr bwMode="auto">
          <a:xfrm>
            <a:off x="8637588" y="0"/>
            <a:ext cx="506412" cy="609600"/>
          </a:xfrm>
          <a:prstGeom prst="rect">
            <a:avLst/>
          </a:prstGeom>
          <a:noFill/>
          <a:ln w="3175">
            <a:noFill/>
            <a:miter lim="800000"/>
            <a:headEnd/>
            <a:tailEnd/>
          </a:ln>
        </p:spPr>
      </p:pic>
      <p:sp>
        <p:nvSpPr>
          <p:cNvPr id="17413" name="Rectangle 6"/>
          <p:cNvSpPr>
            <a:spLocks noChangeArrowheads="1"/>
          </p:cNvSpPr>
          <p:nvPr/>
        </p:nvSpPr>
        <p:spPr bwMode="auto">
          <a:xfrm>
            <a:off x="611188" y="981075"/>
            <a:ext cx="7704137" cy="762000"/>
          </a:xfrm>
          <a:prstGeom prst="rect">
            <a:avLst/>
          </a:prstGeom>
          <a:noFill/>
          <a:ln w="9525">
            <a:noFill/>
            <a:miter lim="800000"/>
            <a:headEnd/>
            <a:tailEnd/>
          </a:ln>
        </p:spPr>
        <p:txBody>
          <a:bodyPr>
            <a:prstTxWarp prst="textNoShape">
              <a:avLst/>
            </a:prstTxWarp>
            <a:spAutoFit/>
          </a:bodyPr>
          <a:lstStyle/>
          <a:p>
            <a:endParaRPr lang="en-US" sz="4400">
              <a:solidFill>
                <a:schemeClr val="tx2"/>
              </a:solidFill>
            </a:endParaRPr>
          </a:p>
        </p:txBody>
      </p:sp>
      <p:sp>
        <p:nvSpPr>
          <p:cNvPr id="17414" name="Text Box 10"/>
          <p:cNvSpPr txBox="1">
            <a:spLocks noChangeArrowheads="1"/>
          </p:cNvSpPr>
          <p:nvPr/>
        </p:nvSpPr>
        <p:spPr bwMode="auto">
          <a:xfrm>
            <a:off x="1187450" y="1052513"/>
            <a:ext cx="6553200" cy="701675"/>
          </a:xfrm>
          <a:prstGeom prst="rect">
            <a:avLst/>
          </a:prstGeom>
          <a:noFill/>
          <a:ln w="9525">
            <a:noFill/>
            <a:miter lim="800000"/>
            <a:headEnd/>
            <a:tailEnd/>
          </a:ln>
        </p:spPr>
        <p:txBody>
          <a:bodyPr>
            <a:prstTxWarp prst="textNoShape">
              <a:avLst/>
            </a:prstTxWarp>
            <a:spAutoFit/>
          </a:bodyPr>
          <a:lstStyle/>
          <a:p>
            <a:pPr algn="ctr">
              <a:spcBef>
                <a:spcPct val="50000"/>
              </a:spcBef>
            </a:pPr>
            <a:endParaRPr lang="en-US" sz="4000">
              <a:latin typeface="Arial" charset="0"/>
            </a:endParaRPr>
          </a:p>
        </p:txBody>
      </p:sp>
      <p:pic>
        <p:nvPicPr>
          <p:cNvPr id="17415" name="Picture 9"/>
          <p:cNvPicPr>
            <a:picLocks noChangeAspect="1"/>
          </p:cNvPicPr>
          <p:nvPr/>
        </p:nvPicPr>
        <p:blipFill>
          <a:blip r:embed="rId3"/>
          <a:srcRect/>
          <a:stretch>
            <a:fillRect/>
          </a:stretch>
        </p:blipFill>
        <p:spPr bwMode="auto">
          <a:xfrm>
            <a:off x="0" y="533400"/>
            <a:ext cx="9144000" cy="6324600"/>
          </a:xfrm>
          <a:prstGeom prst="rect">
            <a:avLst/>
          </a:prstGeom>
          <a:noFill/>
          <a:ln w="9525">
            <a:noFill/>
            <a:miter lim="800000"/>
            <a:headEnd/>
            <a:tailEnd/>
          </a:ln>
        </p:spPr>
      </p:pic>
      <p:sp>
        <p:nvSpPr>
          <p:cNvPr id="12" name="Rectangle 11"/>
          <p:cNvSpPr/>
          <p:nvPr/>
        </p:nvSpPr>
        <p:spPr>
          <a:xfrm rot="1709774">
            <a:off x="3825492" y="3051244"/>
            <a:ext cx="6698761" cy="1107996"/>
          </a:xfrm>
          <a:prstGeom prst="rect">
            <a:avLst/>
          </a:prstGeom>
          <a:noFill/>
        </p:spPr>
        <p:txBody>
          <a:bodyPr>
            <a:spAutoFit/>
          </a:bodyPr>
          <a:lstStyle/>
          <a:p>
            <a:pPr algn="ctr">
              <a:defRPr/>
            </a:pPr>
            <a:r>
              <a:rPr lang="en-GB" sz="6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a typeface="+mn-ea"/>
                <a:cs typeface="+mn-cs"/>
              </a:rPr>
              <a:t>Chaos</a:t>
            </a:r>
          </a:p>
        </p:txBody>
      </p:sp>
      <p:sp>
        <p:nvSpPr>
          <p:cNvPr id="14" name="Rectangle 13"/>
          <p:cNvSpPr/>
          <p:nvPr/>
        </p:nvSpPr>
        <p:spPr>
          <a:xfrm rot="20148571">
            <a:off x="-536928" y="2902277"/>
            <a:ext cx="5095099" cy="1107996"/>
          </a:xfrm>
          <a:prstGeom prst="rect">
            <a:avLst/>
          </a:prstGeom>
          <a:noFill/>
        </p:spPr>
        <p:txBody>
          <a:bodyPr>
            <a:spAutoFit/>
          </a:bodyPr>
          <a:lstStyle/>
          <a:p>
            <a:pPr algn="ctr">
              <a:defRPr/>
            </a:pPr>
            <a:r>
              <a:rPr lang="en-GB" sz="6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a typeface="+mn-ea"/>
                <a:cs typeface="+mn-cs"/>
              </a:rPr>
              <a:t>Rigidity</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5" descr="blocksrgb"/>
          <p:cNvPicPr>
            <a:picLocks noChangeAspect="1" noChangeArrowheads="1"/>
          </p:cNvPicPr>
          <p:nvPr/>
        </p:nvPicPr>
        <p:blipFill>
          <a:blip r:embed="rId2"/>
          <a:srcRect/>
          <a:stretch>
            <a:fillRect/>
          </a:stretch>
        </p:blipFill>
        <p:spPr bwMode="auto">
          <a:xfrm>
            <a:off x="179388" y="838200"/>
            <a:ext cx="4572000" cy="3225800"/>
          </a:xfrm>
          <a:prstGeom prst="rect">
            <a:avLst/>
          </a:prstGeom>
          <a:noFill/>
          <a:ln w="9525">
            <a:noFill/>
            <a:miter lim="800000"/>
            <a:headEnd/>
            <a:tailEnd/>
          </a:ln>
        </p:spPr>
      </p:pic>
      <p:sp>
        <p:nvSpPr>
          <p:cNvPr id="38915" name="Text Box 9"/>
          <p:cNvSpPr txBox="1">
            <a:spLocks noChangeArrowheads="1"/>
          </p:cNvSpPr>
          <p:nvPr/>
        </p:nvSpPr>
        <p:spPr bwMode="auto">
          <a:xfrm>
            <a:off x="863600" y="4797425"/>
            <a:ext cx="7705725" cy="822325"/>
          </a:xfrm>
          <a:prstGeom prst="rect">
            <a:avLst/>
          </a:prstGeom>
          <a:noFill/>
          <a:ln w="9525">
            <a:noFill/>
            <a:miter lim="800000"/>
            <a:headEnd/>
            <a:tailEnd/>
          </a:ln>
        </p:spPr>
        <p:txBody>
          <a:bodyPr>
            <a:prstTxWarp prst="textNoShape">
              <a:avLst/>
            </a:prstTxWarp>
            <a:spAutoFit/>
          </a:bodyPr>
          <a:lstStyle/>
          <a:p>
            <a:pPr algn="ctr" eaLnBrk="0" hangingPunct="0">
              <a:spcBef>
                <a:spcPct val="50000"/>
              </a:spcBef>
            </a:pPr>
            <a:r>
              <a:rPr lang="en-US" sz="2400">
                <a:ea typeface="ＭＳ Ｐゴシック" charset="-128"/>
                <a:cs typeface="ＭＳ Ｐゴシック" charset="-128"/>
              </a:rPr>
              <a:t>Please do not use or copy any slides without prior permission from RBWM EPS</a:t>
            </a:r>
          </a:p>
        </p:txBody>
      </p:sp>
      <p:sp>
        <p:nvSpPr>
          <p:cNvPr id="38916" name="Text Box 10"/>
          <p:cNvSpPr txBox="1">
            <a:spLocks noChangeArrowheads="1"/>
          </p:cNvSpPr>
          <p:nvPr/>
        </p:nvSpPr>
        <p:spPr bwMode="auto">
          <a:xfrm>
            <a:off x="4751388" y="2852738"/>
            <a:ext cx="2952750" cy="641350"/>
          </a:xfrm>
          <a:prstGeom prst="rect">
            <a:avLst/>
          </a:prstGeom>
          <a:noFill/>
          <a:ln w="9525">
            <a:noFill/>
            <a:miter lim="800000"/>
            <a:headEnd/>
            <a:tailEnd/>
          </a:ln>
        </p:spPr>
        <p:txBody>
          <a:bodyPr>
            <a:prstTxWarp prst="textNoShape">
              <a:avLst/>
            </a:prstTxWarp>
            <a:spAutoFit/>
          </a:bodyPr>
          <a:lstStyle/>
          <a:p>
            <a:pPr eaLnBrk="0" hangingPunct="0">
              <a:spcBef>
                <a:spcPct val="50000"/>
              </a:spcBef>
            </a:pPr>
            <a:r>
              <a:rPr lang="en-US" sz="3600">
                <a:latin typeface="Arial Black" charset="0"/>
                <a:ea typeface="ＭＳ Ｐゴシック" charset="-128"/>
                <a:cs typeface="ＭＳ Ｐゴシック" charset="-128"/>
              </a:rPr>
              <a:t>Thank you</a:t>
            </a:r>
            <a:endParaRPr lang="en-US" sz="3600">
              <a:ea typeface="ＭＳ Ｐゴシック" charset="-128"/>
              <a:cs typeface="ＭＳ Ｐゴシック" charset="-128"/>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1301</TotalTime>
  <Words>5943</Words>
  <Application>Microsoft Office PowerPoint</Application>
  <PresentationFormat>On-screen Show (4:3)</PresentationFormat>
  <Paragraphs>837</Paragraphs>
  <Slides>62</Slides>
  <Notes>51</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Default Design</vt:lpstr>
      <vt:lpstr>PowerPoint Presentation</vt:lpstr>
      <vt:lpstr>Programme for Day 3</vt:lpstr>
      <vt:lpstr>Activity</vt:lpstr>
      <vt:lpstr>Children’s developmental progress</vt:lpstr>
      <vt:lpstr>Children’s Developmental Progress</vt:lpstr>
      <vt:lpstr>Don’t run before you can walk…</vt:lpstr>
      <vt:lpstr>Listening to parents</vt:lpstr>
      <vt:lpstr>Working with Parents</vt:lpstr>
      <vt:lpstr>Attending and Non-attending –  Why are Feelings Important?</vt:lpstr>
      <vt:lpstr>Attending and Actively Receiving</vt:lpstr>
      <vt:lpstr>Non-verbal Communication</vt:lpstr>
      <vt:lpstr>Active Listening</vt:lpstr>
      <vt:lpstr>Active Listening Involves:</vt:lpstr>
      <vt:lpstr>Active Listening Involves:</vt:lpstr>
      <vt:lpstr>Clarifying</vt:lpstr>
      <vt:lpstr>Restating</vt:lpstr>
      <vt:lpstr>Receiving and Reflecting Feelings</vt:lpstr>
      <vt:lpstr>Why Reflect Feelings? </vt:lpstr>
      <vt:lpstr>Some Open Reflective Questions</vt:lpstr>
      <vt:lpstr>Why Use Open Reflective Questions? </vt:lpstr>
      <vt:lpstr>Facilitating a Conversation</vt:lpstr>
      <vt:lpstr>Observer Role</vt:lpstr>
      <vt:lpstr>Individual Reflection</vt:lpstr>
      <vt:lpstr>Ending your Individual Session</vt:lpstr>
      <vt:lpstr>Active Listening in a Genuine Relationship</vt:lpstr>
      <vt:lpstr>Children with  Additional Difficulties   </vt:lpstr>
      <vt:lpstr>PowerPoint Presentation</vt:lpstr>
      <vt:lpstr>PowerPoint Presentation</vt:lpstr>
      <vt:lpstr>An Introduction to  Autistic Spectrum Disorder </vt:lpstr>
      <vt:lpstr>Aims</vt:lpstr>
      <vt:lpstr>‘History’ of Autism</vt:lpstr>
      <vt:lpstr>Diagnosis</vt:lpstr>
      <vt:lpstr>Nature of Autism </vt:lpstr>
      <vt:lpstr>Triad of Impairments</vt:lpstr>
      <vt:lpstr> What Does it Look Like? </vt:lpstr>
      <vt:lpstr>Continuum of Difficulty</vt:lpstr>
      <vt:lpstr>Impairment of Social Relationships</vt:lpstr>
      <vt:lpstr>Impairment of Social Communication</vt:lpstr>
      <vt:lpstr>Impairment of Social Communication</vt:lpstr>
      <vt:lpstr>Impairment of Imagination</vt:lpstr>
      <vt:lpstr>Impairment of Imagination</vt:lpstr>
      <vt:lpstr>Other Autistic Features</vt:lpstr>
      <vt:lpstr>Other Autistic Features</vt:lpstr>
      <vt:lpstr>How Does this Match Your Experience?</vt:lpstr>
      <vt:lpstr>Theory of Mind</vt:lpstr>
      <vt:lpstr>The Sally/Anne Test</vt:lpstr>
      <vt:lpstr>The Sally/Anne Test</vt:lpstr>
      <vt:lpstr>You In Their Shoes…</vt:lpstr>
      <vt:lpstr>An Autistic Adult’s Experience</vt:lpstr>
      <vt:lpstr> Difficulties for Autistic Children </vt:lpstr>
      <vt:lpstr>Difficulties for Autistic Children</vt:lpstr>
      <vt:lpstr>Difficulties for Autistic Children</vt:lpstr>
      <vt:lpstr>Supporting Autistic Children</vt:lpstr>
      <vt:lpstr>Supporting Autistic Children</vt:lpstr>
      <vt:lpstr>Supporting Autistic Children</vt:lpstr>
      <vt:lpstr>PowerPoint Presentation</vt:lpstr>
      <vt:lpstr>Turning an observation schedule into an action plan</vt:lpstr>
      <vt:lpstr>Action Plan for ……</vt:lpstr>
      <vt:lpstr>PowerPoint Presentation</vt:lpstr>
      <vt:lpstr>PowerPoint Presentation</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RBWM</dc:creator>
  <cp:lastModifiedBy>localprofile</cp:lastModifiedBy>
  <cp:revision>62</cp:revision>
  <cp:lastPrinted>2015-06-22T16:37:05Z</cp:lastPrinted>
  <dcterms:created xsi:type="dcterms:W3CDTF">2015-06-18T10:11:20Z</dcterms:created>
  <dcterms:modified xsi:type="dcterms:W3CDTF">2017-07-21T14:36:02Z</dcterms:modified>
</cp:coreProperties>
</file>