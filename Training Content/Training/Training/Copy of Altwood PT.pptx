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02" r:id="rId2"/>
    <p:sldId id="256" r:id="rId3"/>
    <p:sldId id="307" r:id="rId4"/>
    <p:sldId id="310" r:id="rId5"/>
    <p:sldId id="311" r:id="rId6"/>
    <p:sldId id="326" r:id="rId7"/>
    <p:sldId id="313" r:id="rId8"/>
    <p:sldId id="327" r:id="rId9"/>
    <p:sldId id="352" r:id="rId10"/>
    <p:sldId id="315" r:id="rId11"/>
    <p:sldId id="314" r:id="rId12"/>
    <p:sldId id="354" r:id="rId13"/>
    <p:sldId id="316" r:id="rId14"/>
    <p:sldId id="318" r:id="rId15"/>
    <p:sldId id="357" r:id="rId16"/>
    <p:sldId id="360" r:id="rId17"/>
    <p:sldId id="321" r:id="rId18"/>
    <p:sldId id="322" r:id="rId19"/>
    <p:sldId id="324" r:id="rId20"/>
    <p:sldId id="330" r:id="rId21"/>
    <p:sldId id="331" r:id="rId22"/>
    <p:sldId id="332" r:id="rId23"/>
    <p:sldId id="333" r:id="rId24"/>
    <p:sldId id="334" r:id="rId25"/>
    <p:sldId id="337" r:id="rId26"/>
    <p:sldId id="338" r:id="rId27"/>
    <p:sldId id="361" r:id="rId28"/>
    <p:sldId id="343" r:id="rId29"/>
    <p:sldId id="345" r:id="rId30"/>
    <p:sldId id="344" r:id="rId31"/>
    <p:sldId id="346" r:id="rId32"/>
    <p:sldId id="347" r:id="rId33"/>
    <p:sldId id="348" r:id="rId34"/>
    <p:sldId id="349" r:id="rId35"/>
    <p:sldId id="350" r:id="rId36"/>
    <p:sldId id="325" r:id="rId37"/>
    <p:sldId id="274"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23" autoAdjust="0"/>
    <p:restoredTop sz="83245" autoAdjust="0"/>
  </p:normalViewPr>
  <p:slideViewPr>
    <p:cSldViewPr snapToGrid="0" snapToObjects="1">
      <p:cViewPr varScale="1">
        <p:scale>
          <a:sx n="58" d="100"/>
          <a:sy n="58" d="100"/>
        </p:scale>
        <p:origin x="-96" y="-6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16/01/2018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a:t>
            </a: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pPr eaLnBrk="1" hangingPunct="1"/>
            <a:endParaRPr lang="en-GB" altLang="en-US" dirty="0" smtClean="0"/>
          </a:p>
          <a:p>
            <a:pPr marL="171450" indent="-171450" eaLnBrk="1" hangingPunct="1">
              <a:buFont typeface="Arial" panose="020B0604020202020204" pitchFamily="34" charset="0"/>
              <a:buChar char="•"/>
            </a:pPr>
            <a:r>
              <a:rPr lang="en-GB" altLang="en-US" dirty="0" smtClean="0"/>
              <a:t>It requires a short (</a:t>
            </a:r>
            <a:r>
              <a:rPr lang="en-GB" altLang="en-US" dirty="0" err="1" smtClean="0"/>
              <a:t>approx</a:t>
            </a:r>
            <a:r>
              <a:rPr lang="en-GB" altLang="en-US" dirty="0" smtClean="0"/>
              <a:t> 10-15 min) session daily with the child</a:t>
            </a:r>
          </a:p>
          <a:p>
            <a:pPr marL="171450" indent="-171450" eaLnBrk="1" hangingPunct="1">
              <a:buFont typeface="Arial" panose="020B0604020202020204" pitchFamily="34" charset="0"/>
              <a:buChar char="•"/>
            </a:pPr>
            <a:r>
              <a:rPr lang="en-GB" altLang="en-US" dirty="0" smtClean="0"/>
              <a:t>Each session includes a teaching activity followed by the use of a PROBE – a timed test used to check on the child’s knowledge of specific skill items</a:t>
            </a: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a:t>
            </a:r>
            <a:endParaRPr lang="en-US" altLang="en-US" dirty="0"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6</a:t>
            </a:fld>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885642" y="4306587"/>
            <a:ext cx="5029527" cy="391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GB" altLang="en-US" dirty="0" smtClean="0"/>
              <a:t>Maintenance (or mastery) is achieved when a skill can be sustained at a fluent level.  </a:t>
            </a:r>
          </a:p>
          <a:p>
            <a:pPr eaLnBrk="1" hangingPunct="1">
              <a:lnSpc>
                <a:spcPct val="90000"/>
              </a:lnSpc>
            </a:pPr>
            <a:r>
              <a:rPr lang="en-GB" altLang="en-US" dirty="0" smtClean="0"/>
              <a:t>Without fluent performance of the skill it will be forgotten.</a:t>
            </a:r>
          </a:p>
          <a:p>
            <a:pPr eaLnBrk="1" hangingPunct="1">
              <a:lnSpc>
                <a:spcPct val="90000"/>
              </a:lnSpc>
            </a:pPr>
            <a:r>
              <a:rPr lang="en-GB" altLang="en-US" dirty="0" smtClean="0"/>
              <a:t>Most children with learning difficulties don’t achieve fluency levels and therefore a level of maintenance for new skills that they are taught</a:t>
            </a:r>
          </a:p>
          <a:p>
            <a:pPr eaLnBrk="1" hangingPunct="1">
              <a:lnSpc>
                <a:spcPct val="90000"/>
              </a:lnSpc>
            </a:pPr>
            <a:r>
              <a:rPr lang="en-GB" altLang="en-US" dirty="0" smtClean="0"/>
              <a:t>Accuracy is important but not sufficient</a:t>
            </a:r>
          </a:p>
          <a:p>
            <a:pPr eaLnBrk="1" hangingPunct="1">
              <a:lnSpc>
                <a:spcPct val="90000"/>
              </a:lnSpc>
            </a:pPr>
            <a:r>
              <a:rPr lang="en-GB" altLang="en-US" dirty="0" smtClean="0"/>
              <a:t>OVERLEARNING</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2157283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a:p>
            <a:r>
              <a:rPr lang="en-GB" altLang="en-US" dirty="0" smtClean="0"/>
              <a:t>There are 6 steps to delivering precision monitoring;</a:t>
            </a:r>
          </a:p>
          <a:p>
            <a:endParaRPr lang="en-GB" altLang="en-US" dirty="0" smtClean="0"/>
          </a:p>
          <a:p>
            <a:pPr>
              <a:lnSpc>
                <a:spcPct val="80000"/>
              </a:lnSpc>
              <a:buFontTx/>
              <a:buAutoNum type="arabicPeriod"/>
            </a:pPr>
            <a:r>
              <a:rPr lang="en-GB" altLang="en-US" dirty="0" smtClean="0"/>
              <a:t>Identify a specific difficulty and acquire a baseline.</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 (We’ve used the word PROBE here – we’ll come back to this)</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smtClean="0"/>
              <a:t>The next stage is to look at the placement probes results from the baseline assessment that you have carried out. </a:t>
            </a:r>
          </a:p>
          <a:p>
            <a:pPr>
              <a:buFont typeface="Arial" panose="020B0604020202020204" pitchFamily="34" charset="0"/>
              <a:buChar char="•"/>
            </a:pPr>
            <a:r>
              <a:rPr lang="en-GB" altLang="en-US" dirty="0" smtClean="0"/>
              <a:t>Decide which area needs to be focused on next (sight words or phonic development)</a:t>
            </a:r>
          </a:p>
          <a:p>
            <a:endParaRPr lang="en-GB" dirty="0" smtClean="0"/>
          </a:p>
          <a:p>
            <a:pPr eaLnBrk="1" hangingPunct="1"/>
            <a:r>
              <a:rPr lang="en-GB" altLang="en-US" dirty="0" smtClean="0"/>
              <a:t>Identify from your assessment data where the pupil is on the cusp of achieving the rate of 50 words per minute with no more than 2 errors.  This is your starting point for the next step</a:t>
            </a:r>
          </a:p>
          <a:p>
            <a:pPr eaLnBrk="1" hangingPunct="1"/>
            <a:r>
              <a:rPr lang="en-GB" altLang="en-US" dirty="0" smtClean="0"/>
              <a:t>Use the sublevel probes for the phase that you are working on as each one covers a smaller set of sounds/phonemes.</a:t>
            </a:r>
          </a:p>
          <a:p>
            <a:pPr eaLnBrk="1" hangingPunct="1"/>
            <a:r>
              <a:rPr lang="en-GB" altLang="en-US" dirty="0" smtClean="0"/>
              <a:t>You can also construct your own probe sheets. </a:t>
            </a:r>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None/>
            </a:pPr>
            <a:r>
              <a:rPr lang="en-US" altLang="en-US" b="1" u="sng" dirty="0" smtClean="0">
                <a:solidFill>
                  <a:srgbClr val="000000"/>
                </a:solidFill>
                <a:latin typeface="Arial" charset="0"/>
                <a:cs typeface="Arial" charset="0"/>
                <a:sym typeface="Arial" charset="0"/>
              </a:rPr>
              <a:t>Planning Stage</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Show examples of precision teaching grids </a:t>
            </a:r>
            <a:r>
              <a:rPr lang="en-US" altLang="en-US" b="1" dirty="0" smtClean="0">
                <a:solidFill>
                  <a:srgbClr val="000000"/>
                </a:solidFill>
                <a:latin typeface="Arial" charset="0"/>
                <a:cs typeface="Arial" charset="0"/>
                <a:sym typeface="Arial" charset="0"/>
              </a:rPr>
              <a:t>[probes we’ll be using for activity later on</a:t>
            </a:r>
            <a:r>
              <a:rPr lang="en-US" altLang="en-US" b="1" baseline="0" dirty="0" smtClean="0">
                <a:solidFill>
                  <a:srgbClr val="000000"/>
                </a:solidFill>
                <a:latin typeface="Arial" charset="0"/>
                <a:cs typeface="Arial" charset="0"/>
                <a:sym typeface="Arial" charset="0"/>
              </a:rPr>
              <a:t> – hand out in pairs</a:t>
            </a: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of………………</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pPr>
            <a:r>
              <a:rPr lang="en-US" altLang="en-US" b="1" dirty="0" smtClean="0">
                <a:solidFill>
                  <a:srgbClr val="000000"/>
                </a:solidFill>
                <a:latin typeface="Arial" charset="0"/>
                <a:cs typeface="Arial" charset="0"/>
                <a:sym typeface="Arial" charset="0"/>
              </a:rPr>
              <a:t>Sharon</a:t>
            </a:r>
          </a:p>
          <a:p>
            <a:pPr marL="352425" indent="-228600" eaLnBrk="1" hangingPunct="1">
              <a:spcBef>
                <a:spcPts val="413"/>
              </a:spcBef>
            </a:pPr>
            <a:endParaRPr lang="en-US" altLang="en-US" b="1" dirty="0" smtClean="0">
              <a:solidFill>
                <a:srgbClr val="000000"/>
              </a:solidFill>
              <a:latin typeface="Arial" charset="0"/>
              <a:cs typeface="Arial" charset="0"/>
              <a:sym typeface="Arial" charset="0"/>
            </a:endParaRPr>
          </a:p>
          <a:p>
            <a:pPr marL="352425" indent="-228600" eaLnBrk="1" hangingPunct="1">
              <a:spcBef>
                <a:spcPts val="413"/>
              </a:spcBef>
            </a:pPr>
            <a:r>
              <a:rPr lang="en-US" altLang="en-US" b="1" dirty="0" smtClean="0">
                <a:solidFill>
                  <a:srgbClr val="000000"/>
                </a:solidFill>
                <a:latin typeface="Arial" charset="0"/>
                <a:cs typeface="Arial" charset="0"/>
                <a:sym typeface="Arial" charset="0"/>
              </a:rPr>
              <a:t>[1 minute]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Char char="•"/>
            </a:pPr>
            <a:r>
              <a:rPr lang="en-US" altLang="en-US" b="1" dirty="0" smtClean="0">
                <a:solidFill>
                  <a:srgbClr val="000000"/>
                </a:solidFill>
                <a:latin typeface="Arial" charset="0"/>
                <a:cs typeface="Arial" charset="0"/>
                <a:sym typeface="Arial" charset="0"/>
              </a:rPr>
              <a:t>Explain that in order to keep things simple for our condensed training, we’ll be focusing on ‘see to say’ probes – relate back to Learning Hierarchy – want to develop confidence in see-to-say before adapting technique to other types of probe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Talk about setting aim rates</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See to say  50 </a:t>
            </a:r>
            <a:r>
              <a:rPr lang="en-US" altLang="en-US" dirty="0" err="1" smtClean="0">
                <a:solidFill>
                  <a:srgbClr val="000000"/>
                </a:solidFill>
                <a:latin typeface="Arial" charset="0"/>
                <a:cs typeface="Arial" charset="0"/>
                <a:sym typeface="Arial" charset="0"/>
              </a:rPr>
              <a:t>cpm</a:t>
            </a:r>
            <a:r>
              <a:rPr lang="en-US" altLang="en-US" dirty="0" smtClean="0">
                <a:solidFill>
                  <a:srgbClr val="000000"/>
                </a:solidFill>
                <a:latin typeface="Arial" charset="0"/>
                <a:cs typeface="Arial" charset="0"/>
                <a:sym typeface="Arial" charset="0"/>
              </a:rPr>
              <a:t> ( for Junior children) </a:t>
            </a:r>
            <a:r>
              <a:rPr lang="en-US" altLang="en-US" b="1" dirty="0" smtClean="0">
                <a:solidFill>
                  <a:srgbClr val="000000"/>
                </a:solidFill>
                <a:latin typeface="Arial" charset="0"/>
                <a:cs typeface="Arial" charset="0"/>
                <a:sym typeface="Arial" charset="0"/>
              </a:rPr>
              <a:t>Note this is for </a:t>
            </a:r>
            <a:r>
              <a:rPr lang="en-US" altLang="en-US" b="1" u="sng" dirty="0" smtClean="0">
                <a:solidFill>
                  <a:srgbClr val="000000"/>
                </a:solidFill>
                <a:latin typeface="Arial" charset="0"/>
                <a:cs typeface="Arial" charset="0"/>
                <a:sym typeface="Arial" charset="0"/>
              </a:rPr>
              <a:t>reading: letter, number, sight word recognition</a:t>
            </a:r>
            <a:r>
              <a:rPr lang="en-US" altLang="en-US" dirty="0" smtClean="0">
                <a:solidFill>
                  <a:srgbClr val="000000"/>
                </a:solidFill>
                <a:latin typeface="Arial" charset="0"/>
                <a:cs typeface="Arial" charset="0"/>
                <a:sym typeface="Arial" charset="0"/>
              </a:rPr>
              <a:t> If working with number bonds for example the aim rate would need to be adjusted (demands more than just reading) – easiest way is to try probe on a child whose achieved an acceptable level of competence in that area – this will give you an idea of appropriate aim rate</a:t>
            </a: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r>
              <a:rPr lang="en-US" altLang="en-US" u="none" dirty="0" smtClean="0">
                <a:solidFill>
                  <a:srgbClr val="000000"/>
                </a:solidFill>
                <a:latin typeface="Arial" charset="0"/>
                <a:cs typeface="Arial" charset="0"/>
                <a:sym typeface="Arial" charset="0"/>
              </a:rPr>
              <a:t>Explain that aim rates are set for accuracy as well as fluency –  no</a:t>
            </a:r>
            <a:r>
              <a:rPr lang="en-US" altLang="en-US" u="none" baseline="0" dirty="0" smtClean="0">
                <a:solidFill>
                  <a:srgbClr val="000000"/>
                </a:solidFill>
                <a:latin typeface="Arial" charset="0"/>
                <a:cs typeface="Arial" charset="0"/>
                <a:sym typeface="Arial" charset="0"/>
              </a:rPr>
              <a:t> more than 3 errors – i.e. 3 errors or less</a:t>
            </a:r>
            <a:endParaRPr lang="en-US" altLang="en-US" u="none"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AutoNum type="arabicPeriod"/>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GB" altLang="en-US" dirty="0" smtClean="0"/>
          </a:p>
          <a:p>
            <a:endParaRPr lang="en-GB" altLang="en-US" dirty="0" smtClean="0"/>
          </a:p>
          <a:p>
            <a:pPr eaLnBrk="1" hangingPunct="1">
              <a:lnSpc>
                <a:spcPct val="90000"/>
              </a:lnSpc>
            </a:pPr>
            <a:r>
              <a:rPr lang="en-GB" altLang="en-US" sz="1200" b="1" dirty="0" smtClean="0"/>
              <a:t>SPECIFIC </a:t>
            </a:r>
            <a:r>
              <a:rPr lang="en-GB" altLang="en-US" sz="1200" dirty="0" smtClean="0"/>
              <a:t>-Clear objectives, start with small steps but vary step-size according to data</a:t>
            </a:r>
          </a:p>
          <a:p>
            <a:pPr eaLnBrk="1" hangingPunct="1">
              <a:lnSpc>
                <a:spcPct val="90000"/>
              </a:lnSpc>
            </a:pPr>
            <a:r>
              <a:rPr lang="en-GB" altLang="en-US" sz="1200" b="1" dirty="0" smtClean="0"/>
              <a:t>MEASURABLE – </a:t>
            </a:r>
            <a:r>
              <a:rPr lang="en-GB" altLang="en-US" sz="1200" dirty="0" smtClean="0"/>
              <a:t>set an appropriate aim rate and monitor progress daily by probing and charting results</a:t>
            </a:r>
          </a:p>
          <a:p>
            <a:pPr eaLnBrk="1" hangingPunct="1">
              <a:lnSpc>
                <a:spcPct val="90000"/>
              </a:lnSpc>
            </a:pPr>
            <a:r>
              <a:rPr lang="en-GB" altLang="en-US" sz="1200" b="1" dirty="0" smtClean="0"/>
              <a:t>ACHIEVABLE – </a:t>
            </a:r>
            <a:r>
              <a:rPr lang="en-GB" altLang="en-US" sz="1200" dirty="0" smtClean="0"/>
              <a:t>get the task difficulty right</a:t>
            </a:r>
          </a:p>
          <a:p>
            <a:pPr eaLnBrk="1" hangingPunct="1">
              <a:lnSpc>
                <a:spcPct val="90000"/>
              </a:lnSpc>
            </a:pPr>
            <a:r>
              <a:rPr lang="en-GB" altLang="en-US" sz="1200" b="1" dirty="0" smtClean="0"/>
              <a:t>REALISTIC – </a:t>
            </a:r>
            <a:r>
              <a:rPr lang="en-GB" altLang="en-US" sz="1200" dirty="0" smtClean="0"/>
              <a:t>Is the task appropriate? Check pre-requisite skills</a:t>
            </a:r>
          </a:p>
          <a:p>
            <a:pPr eaLnBrk="1" hangingPunct="1">
              <a:lnSpc>
                <a:spcPct val="90000"/>
              </a:lnSpc>
            </a:pPr>
            <a:r>
              <a:rPr lang="en-GB" altLang="en-US" sz="1200" b="1" dirty="0" smtClean="0"/>
              <a:t>TIME-RELATED – </a:t>
            </a:r>
            <a:r>
              <a:rPr lang="en-GB" altLang="en-US" sz="1200" dirty="0" smtClean="0"/>
              <a:t>Evaluate carefully over an agreed period of time</a:t>
            </a:r>
            <a:endParaRPr lang="en-GB" altLang="en-US" sz="1200" b="1" dirty="0" smtClean="0"/>
          </a:p>
          <a:p>
            <a:pPr eaLnBrk="1" hangingPunct="1">
              <a:lnSpc>
                <a:spcPct val="90000"/>
              </a:lnSpc>
            </a:pPr>
            <a:endParaRPr lang="en-GB" altLang="en-US" sz="1200" b="1"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GB" altLang="en-US" smtClean="0"/>
          </a:p>
          <a:p>
            <a:r>
              <a:rPr lang="en-GB" altLang="en-US" smtClean="0"/>
              <a:t>So… In practice…. The target might sound like this….</a:t>
            </a:r>
          </a:p>
          <a:p>
            <a:endParaRPr lang="en-GB" altLang="en-US" smtClean="0"/>
          </a:p>
          <a:p>
            <a:r>
              <a:rPr lang="en-GB" altLang="en-US" smtClean="0"/>
              <a:t>“Scott will read aloud </a:t>
            </a:r>
            <a:r>
              <a:rPr lang="en-GB" altLang="en-US" sz="900" b="1" i="1" smtClean="0">
                <a:solidFill>
                  <a:srgbClr val="FF0000"/>
                </a:solidFill>
              </a:rPr>
              <a:t>(observable verb)</a:t>
            </a:r>
            <a:r>
              <a:rPr lang="en-GB" altLang="en-US" sz="900" smtClean="0"/>
              <a:t> </a:t>
            </a:r>
            <a:r>
              <a:rPr lang="en-GB" altLang="en-US" b="1" smtClean="0"/>
              <a:t>50</a:t>
            </a:r>
            <a:r>
              <a:rPr lang="en-GB" altLang="en-US" smtClean="0"/>
              <a:t> words per minute with no more than </a:t>
            </a:r>
            <a:r>
              <a:rPr lang="en-GB" altLang="en-US" b="1" smtClean="0"/>
              <a:t>2</a:t>
            </a:r>
            <a:r>
              <a:rPr lang="en-GB" altLang="en-US" smtClean="0"/>
              <a:t> errors </a:t>
            </a:r>
            <a:r>
              <a:rPr lang="en-GB" altLang="en-US" sz="900" b="1" i="1" smtClean="0">
                <a:solidFill>
                  <a:schemeClr val="accent1"/>
                </a:solidFill>
              </a:rPr>
              <a:t>(conditions)</a:t>
            </a:r>
            <a:r>
              <a:rPr lang="en-GB" altLang="en-US" sz="900" smtClean="0">
                <a:solidFill>
                  <a:schemeClr val="accent1"/>
                </a:solidFill>
              </a:rPr>
              <a:t> </a:t>
            </a:r>
            <a:r>
              <a:rPr lang="en-GB" altLang="en-US" smtClean="0"/>
              <a:t>on three consecutive days </a:t>
            </a:r>
            <a:r>
              <a:rPr lang="en-GB" altLang="en-US" sz="900" b="1" i="1" smtClean="0">
                <a:solidFill>
                  <a:srgbClr val="0000FF"/>
                </a:solidFill>
              </a:rPr>
              <a:t>(criterion).</a:t>
            </a:r>
            <a:r>
              <a:rPr lang="en-GB" altLang="en-US" smtClean="0"/>
              <a:t>”</a:t>
            </a:r>
          </a:p>
          <a:p>
            <a:endParaRPr lang="en-GB" altLang="en-US" smtClean="0"/>
          </a:p>
          <a:p>
            <a:r>
              <a:rPr lang="en-GB" altLang="en-US" smtClean="0"/>
              <a:t>So within this target we can see….</a:t>
            </a:r>
          </a:p>
          <a:p>
            <a:endParaRPr lang="en-GB" altLang="en-US" smtClean="0"/>
          </a:p>
          <a:p>
            <a:r>
              <a:rPr lang="en-GB" altLang="en-US" smtClean="0"/>
              <a:t>What we want the child to do (read 50 words per minute)</a:t>
            </a:r>
          </a:p>
          <a:p>
            <a:endParaRPr lang="en-GB" altLang="en-US" smtClean="0"/>
          </a:p>
          <a:p>
            <a:r>
              <a:rPr lang="en-GB" altLang="en-US" smtClean="0"/>
              <a:t>Teacher instructions (no more than 2 errors)</a:t>
            </a:r>
          </a:p>
          <a:p>
            <a:endParaRPr lang="en-GB" altLang="en-US" smtClean="0"/>
          </a:p>
          <a:p>
            <a:r>
              <a:rPr lang="en-GB" altLang="en-US" smtClean="0"/>
              <a:t>Success Criteria (3 consecutive days)</a:t>
            </a:r>
          </a:p>
          <a:p>
            <a:endParaRPr lang="en-GB" altLang="en-US" smtClean="0"/>
          </a:p>
          <a:p>
            <a:r>
              <a:rPr lang="en-GB" altLang="en-US" smtClean="0"/>
              <a:t>….. Any questions</a:t>
            </a:r>
          </a:p>
          <a:p>
            <a:endParaRPr lang="en-GB" altLang="en-US" smtClean="0"/>
          </a:p>
          <a:p>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pPr eaLnBrk="1" hangingPunct="1"/>
            <a:r>
              <a:rPr lang="en-GB" altLang="en-US" sz="1200" dirty="0" smtClean="0"/>
              <a:t>Sessions should include around 10 minutes of specific teaching input</a:t>
            </a:r>
          </a:p>
          <a:p>
            <a:pPr eaLnBrk="1" hangingPunct="1"/>
            <a:r>
              <a:rPr lang="en-GB" altLang="en-US" sz="1200" dirty="0" smtClean="0"/>
              <a:t>The teaching input is followed by a 1 minute timed test - known as a probe</a:t>
            </a:r>
          </a:p>
          <a:p>
            <a:endParaRPr lang="en-GB" altLang="en-US" dirty="0" smtClean="0"/>
          </a:p>
          <a:p>
            <a:endParaRPr lang="en-GB" altLang="en-US" dirty="0" smtClean="0"/>
          </a:p>
          <a:p>
            <a:r>
              <a:rPr lang="en-GB" altLang="en-US" dirty="0" smtClean="0"/>
              <a:t>Direct teaching’ is a useful approach to acquire skills such as</a:t>
            </a:r>
          </a:p>
          <a:p>
            <a:endParaRPr lang="en-GB" altLang="en-US" dirty="0" smtClean="0"/>
          </a:p>
          <a:p>
            <a:r>
              <a:rPr lang="en-GB" altLang="en-US" dirty="0" smtClean="0"/>
              <a:t>When ‘teaching’ do choose some words that the child already knows</a:t>
            </a:r>
          </a:p>
          <a:p>
            <a:r>
              <a:rPr lang="en-GB" altLang="en-US" dirty="0" smtClean="0"/>
              <a:t>Note the teaching method on the chart, keep the teaching method the same so you can equate progress to the child, not the method.</a:t>
            </a:r>
          </a:p>
          <a:p>
            <a:endParaRPr lang="en-GB" altLang="en-US" dirty="0" smtClean="0"/>
          </a:p>
          <a:p>
            <a:r>
              <a:rPr lang="en-GB" altLang="en-US" dirty="0" smtClean="0"/>
              <a:t>Number bonds</a:t>
            </a:r>
          </a:p>
          <a:p>
            <a:r>
              <a:rPr lang="en-GB" altLang="en-US" dirty="0" smtClean="0"/>
              <a:t>High frequency words</a:t>
            </a:r>
          </a:p>
          <a:p>
            <a:r>
              <a:rPr lang="en-GB" altLang="en-US" dirty="0" smtClean="0"/>
              <a:t>Phonemes</a:t>
            </a:r>
          </a:p>
          <a:p>
            <a:endParaRPr lang="en-GB" altLang="en-US" dirty="0" smtClean="0"/>
          </a:p>
          <a:p>
            <a:endParaRPr lang="en-GB" alt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smtClean="0"/>
              <a:t>One teaching method that has been used widely, and has been researched widely is direct teaching.</a:t>
            </a:r>
          </a:p>
          <a:p>
            <a:r>
              <a:rPr lang="en-GB" altLang="en-US" smtClean="0"/>
              <a:t>The basic structure is ‘the teacher’ model the word, you say it together, then the child tries on their own. </a:t>
            </a:r>
          </a:p>
          <a:p>
            <a:r>
              <a:rPr lang="en-GB" altLang="en-US" smtClean="0"/>
              <a:t>Doing it this way, allows the child to hear the word before they attempt it and reduces the possibility and anxiety of failing.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smtClean="0"/>
          </a:p>
          <a:p>
            <a:r>
              <a:rPr lang="en-GB" altLang="en-US" smtClean="0"/>
              <a:t>So we’ve mentioned the word … Probe a few times… and you’ve been using probes. Are you happy that you understand the concept of the probe?</a:t>
            </a:r>
          </a:p>
          <a:p>
            <a:endParaRPr lang="en-GB" altLang="en-US" smtClean="0"/>
          </a:p>
          <a:p>
            <a:r>
              <a:rPr lang="en-GB" altLang="en-US" smtClean="0"/>
              <a:t>A tool for assessment…</a:t>
            </a:r>
          </a:p>
          <a:p>
            <a:endParaRPr lang="en-GB" altLang="en-US" smtClean="0"/>
          </a:p>
          <a:p>
            <a:r>
              <a:rPr lang="en-GB" altLang="en-US" smtClean="0"/>
              <a:t>We have provided a CD rom with a useful tool for designing probes….</a:t>
            </a:r>
          </a:p>
          <a:p>
            <a:endParaRPr lang="en-GB" altLang="en-US" smtClean="0"/>
          </a:p>
          <a:p>
            <a:r>
              <a:rPr lang="en-GB" altLang="en-US" smtClean="0"/>
              <a:t>GIVE EXAMPLE!! – refer to website…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marL="171450" indent="-171450">
              <a:buFont typeface="Arial" pitchFamily="34" charset="0"/>
              <a:buChar char="•"/>
            </a:pPr>
            <a:r>
              <a:rPr lang="en-GB" altLang="en-US" b="0" dirty="0" smtClean="0">
                <a:latin typeface="Times New Roman" pitchFamily="18" charset="0"/>
              </a:rPr>
              <a:t>Demonstrate how to make probes </a:t>
            </a:r>
            <a:r>
              <a:rPr lang="en-GB" altLang="en-US" b="0" baseline="0" dirty="0" smtClean="0">
                <a:latin typeface="Times New Roman" pitchFamily="18" charset="0"/>
              </a:rPr>
              <a:t>using the First 100 High Frequency Words </a:t>
            </a:r>
          </a:p>
          <a:p>
            <a:pPr marL="171450" indent="-171450">
              <a:buFont typeface="Arial" pitchFamily="34" charset="0"/>
              <a:buChar char="•"/>
            </a:pPr>
            <a:endParaRPr lang="en-GB" altLang="en-US" b="0" baseline="0" dirty="0" smtClean="0">
              <a:latin typeface="Times New Roman" pitchFamily="18" charset="0"/>
            </a:endParaRPr>
          </a:p>
          <a:p>
            <a:pPr marL="171450" indent="-171450">
              <a:buFont typeface="Arial" pitchFamily="34" charset="0"/>
              <a:buChar char="•"/>
            </a:pPr>
            <a:r>
              <a:rPr lang="en-GB" altLang="en-US" b="0" baseline="0" dirty="0" smtClean="0">
                <a:latin typeface="Times New Roman" pitchFamily="18" charset="0"/>
              </a:rPr>
              <a:t>Explain how to use an assessment probe to determine which words are secure, and which need to be worked on</a:t>
            </a:r>
          </a:p>
          <a:p>
            <a:pPr>
              <a:buFont typeface="Arial" pitchFamily="34" charset="0"/>
              <a:buChar char="•"/>
            </a:pPr>
            <a:endParaRPr lang="en-GB" altLang="en-US" b="0" baseline="0" dirty="0" smtClean="0">
              <a:latin typeface="Times New Roman" pitchFamily="18" charset="0"/>
            </a:endParaRPr>
          </a:p>
          <a:p>
            <a:pPr>
              <a:buFont typeface="Arial" pitchFamily="34" charset="0"/>
              <a:buNone/>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endParaRPr lang="en-GB" altLang="en-US" dirty="0" smtClean="0"/>
          </a:p>
          <a:p>
            <a:r>
              <a:rPr lang="en-GB" altLang="en-US" dirty="0" smtClean="0"/>
              <a:t>Step 5. A useful way to monitor performance is to chart the results.</a:t>
            </a:r>
          </a:p>
          <a:p>
            <a:endParaRPr lang="en-GB" altLang="en-US" dirty="0" smtClean="0"/>
          </a:p>
          <a:p>
            <a:r>
              <a:rPr lang="en-GB" altLang="en-US" dirty="0" smtClean="0"/>
              <a:t>Charting the results enables;</a:t>
            </a:r>
          </a:p>
          <a:p>
            <a:endParaRPr lang="en-GB" altLang="en-US" dirty="0" smtClean="0"/>
          </a:p>
          <a:p>
            <a:r>
              <a:rPr lang="en-GB" altLang="en-US" dirty="0" smtClean="0"/>
              <a:t>Quick and easy recording.</a:t>
            </a:r>
          </a:p>
          <a:p>
            <a:r>
              <a:rPr lang="en-GB" altLang="en-US" dirty="0" smtClean="0"/>
              <a:t>The children can see how well they are progressing.</a:t>
            </a:r>
          </a:p>
          <a:p>
            <a:r>
              <a:rPr lang="en-GB" altLang="en-US" dirty="0" smtClean="0"/>
              <a:t>The teachers can see how effective their teaching has been.</a:t>
            </a:r>
          </a:p>
          <a:p>
            <a:endParaRPr lang="en-GB" alt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smtClean="0"/>
              <a:t>Run through the chart, pointing and using examples.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pPr>
              <a:lnSpc>
                <a:spcPct val="80000"/>
              </a:lnSpc>
            </a:pPr>
            <a:r>
              <a:rPr lang="en-GB" altLang="en-US" sz="1000" smtClean="0"/>
              <a:t>So in your pack there should be a blank chart.</a:t>
            </a:r>
          </a:p>
          <a:p>
            <a:pPr>
              <a:lnSpc>
                <a:spcPct val="80000"/>
              </a:lnSpc>
            </a:pPr>
            <a:endParaRPr lang="en-GB" altLang="en-US" sz="1000" smtClean="0"/>
          </a:p>
          <a:p>
            <a:pPr>
              <a:lnSpc>
                <a:spcPct val="80000"/>
              </a:lnSpc>
            </a:pPr>
            <a:r>
              <a:rPr lang="en-GB" altLang="en-US" sz="1000" smtClean="0"/>
              <a:t>So… as you can see the lines at the bottom are further apart than the lines in the middle.</a:t>
            </a:r>
          </a:p>
          <a:p>
            <a:pPr>
              <a:lnSpc>
                <a:spcPct val="80000"/>
              </a:lnSpc>
            </a:pPr>
            <a:endParaRPr lang="en-GB" altLang="en-US" sz="1000" smtClean="0"/>
          </a:p>
          <a:p>
            <a:pPr>
              <a:lnSpc>
                <a:spcPct val="80000"/>
              </a:lnSpc>
            </a:pPr>
            <a:r>
              <a:rPr lang="en-GB" altLang="en-US" sz="1000" smtClean="0"/>
              <a:t>This is because the proportion of progress is larger from 1 to 10 than from 10 to 20. </a:t>
            </a:r>
          </a:p>
          <a:p>
            <a:pPr>
              <a:lnSpc>
                <a:spcPct val="80000"/>
              </a:lnSpc>
            </a:pPr>
            <a:endParaRPr lang="en-GB" altLang="en-US" sz="1000" smtClean="0"/>
          </a:p>
          <a:p>
            <a:pPr>
              <a:lnSpc>
                <a:spcPct val="80000"/>
              </a:lnSpc>
            </a:pPr>
            <a:r>
              <a:rPr lang="en-GB" altLang="en-US" sz="1000" smtClean="0"/>
              <a:t>So… there is a greater percentage of progress from learning 1 to 2 words than from learning 8 to 10 words.</a:t>
            </a:r>
          </a:p>
          <a:p>
            <a:pPr>
              <a:lnSpc>
                <a:spcPct val="80000"/>
              </a:lnSpc>
            </a:pPr>
            <a:endParaRPr lang="en-GB" altLang="en-US" sz="1000" smtClean="0"/>
          </a:p>
          <a:p>
            <a:pPr>
              <a:lnSpc>
                <a:spcPct val="80000"/>
              </a:lnSpc>
            </a:pPr>
            <a:r>
              <a:rPr lang="en-GB" altLang="en-US" sz="1000" smtClean="0"/>
              <a:t>Explain the chart – You would fill in the date along the bottom. </a:t>
            </a:r>
          </a:p>
          <a:p>
            <a:pPr>
              <a:lnSpc>
                <a:spcPct val="80000"/>
              </a:lnSpc>
            </a:pPr>
            <a:r>
              <a:rPr lang="en-GB" altLang="en-US" sz="1000" smtClean="0"/>
              <a:t>                         -  A dot    = Correct</a:t>
            </a:r>
          </a:p>
          <a:p>
            <a:pPr>
              <a:lnSpc>
                <a:spcPct val="80000"/>
              </a:lnSpc>
            </a:pPr>
            <a:r>
              <a:rPr lang="en-GB" altLang="en-US" sz="1000" smtClean="0"/>
              <a:t>                         -  A cross = Errors</a:t>
            </a:r>
          </a:p>
          <a:p>
            <a:pPr>
              <a:lnSpc>
                <a:spcPct val="80000"/>
              </a:lnSpc>
            </a:pPr>
            <a:endParaRPr lang="en-GB" altLang="en-US" sz="1000" smtClean="0"/>
          </a:p>
          <a:p>
            <a:pPr>
              <a:lnSpc>
                <a:spcPct val="80000"/>
              </a:lnSpc>
            </a:pPr>
            <a:r>
              <a:rPr lang="en-GB" altLang="en-US" sz="1000" smtClean="0"/>
              <a:t>The scale runs along the left hand side. ( So in your case number of signs, but it could be numbers of words, number bonds…etc)</a:t>
            </a:r>
          </a:p>
          <a:p>
            <a:pPr>
              <a:lnSpc>
                <a:spcPct val="80000"/>
              </a:lnSpc>
            </a:pPr>
            <a:endParaRPr lang="en-GB" altLang="en-US" sz="1000" smtClean="0"/>
          </a:p>
          <a:p>
            <a:pPr>
              <a:lnSpc>
                <a:spcPct val="80000"/>
              </a:lnSpc>
            </a:pPr>
            <a:r>
              <a:rPr lang="en-GB" altLang="en-US" sz="1000" smtClean="0"/>
              <a:t>As its stands its not child friendly – be creative – feel free to add stickers, cut it up and mount it on the wall in the classroom. I’m sure you’ll have plenty of ideas.</a:t>
            </a:r>
          </a:p>
          <a:p>
            <a:pPr>
              <a:lnSpc>
                <a:spcPct val="80000"/>
              </a:lnSpc>
            </a:pPr>
            <a:r>
              <a:rPr lang="en-GB" altLang="en-US" sz="1000" smtClean="0"/>
              <a:t>The child being able to see their results clearly and see what progress they have made should be used as a way of motivating the child. The child should be given praise and encouraged to increase their number of successes the following session.</a:t>
            </a:r>
          </a:p>
          <a:p>
            <a:pPr>
              <a:lnSpc>
                <a:spcPct val="80000"/>
              </a:lnSpc>
            </a:pPr>
            <a:endParaRPr lang="en-GB" altLang="en-US" sz="1000" smtClean="0"/>
          </a:p>
          <a:p>
            <a:pPr>
              <a:lnSpc>
                <a:spcPct val="80000"/>
              </a:lnSpc>
            </a:pPr>
            <a:r>
              <a:rPr lang="en-GB" altLang="en-US" sz="1000" smtClean="0"/>
              <a:t>Aim is for a crocodile mouth or increases in correct responses and decreases in errors </a:t>
            </a:r>
          </a:p>
          <a:p>
            <a:pPr>
              <a:lnSpc>
                <a:spcPct val="80000"/>
              </a:lnSpc>
            </a:pPr>
            <a:endParaRPr lang="en-GB" altLang="en-US" sz="1000" smtClean="0"/>
          </a:p>
          <a:p>
            <a:pPr>
              <a:lnSpc>
                <a:spcPct val="80000"/>
              </a:lnSpc>
            </a:pPr>
            <a:r>
              <a:rPr lang="en-GB" altLang="en-US" sz="1000" smtClean="0"/>
              <a:t>Remember qualitative info here is useful to see where the difficulties lie. </a:t>
            </a:r>
          </a:p>
          <a:p>
            <a:pPr>
              <a:lnSpc>
                <a:spcPct val="80000"/>
              </a:lnSpc>
            </a:pPr>
            <a:endParaRPr lang="en-GB" altLang="en-US" sz="100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mins</a:t>
            </a:r>
            <a:endParaRPr lang="en-GB" altLang="en-US" dirty="0" smtClean="0">
              <a:latin typeface="Times New Roman" pitchFamily="18" charset="0"/>
            </a:endParaRPr>
          </a:p>
          <a:p>
            <a:pPr eaLnBrk="1" hangingPunct="1"/>
            <a:endParaRPr lang="en-US" altLang="en-US" sz="1000" dirty="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en-GB" altLang="en-US" smtClean="0"/>
          </a:p>
          <a:p>
            <a:r>
              <a:rPr lang="en-GB" altLang="en-US" smtClean="0"/>
              <a:t>These are some fairly important rules. </a:t>
            </a:r>
          </a:p>
          <a:p>
            <a:r>
              <a:rPr lang="en-GB" altLang="en-US" smtClean="0"/>
              <a:t>If the target has been reached for 3 consecutive days, then change the words and set a new target.</a:t>
            </a:r>
          </a:p>
          <a:p>
            <a:r>
              <a:rPr lang="en-GB" altLang="en-US" smtClean="0"/>
              <a:t>After 3 days of a new target, check that the child is making some progress, if there has been no progress at all, consider reducing the task.</a:t>
            </a:r>
          </a:p>
          <a:p>
            <a:r>
              <a:rPr lang="en-GB" altLang="en-US" smtClean="0"/>
              <a:t>The child should be near to or have already achieved their target by the 8</a:t>
            </a:r>
            <a:r>
              <a:rPr lang="en-GB" altLang="en-US" baseline="30000" smtClean="0"/>
              <a:t>th</a:t>
            </a:r>
            <a:r>
              <a:rPr lang="en-GB" altLang="en-US" smtClean="0"/>
              <a:t> day, this ensures the child does not get stuck on the same words forever and so that they themselves can see progress made quite quickly. If the child is nowhere near their target on the 8</a:t>
            </a:r>
            <a:r>
              <a:rPr lang="en-GB" altLang="en-US" baseline="30000" smtClean="0"/>
              <a:t>th</a:t>
            </a:r>
            <a:r>
              <a:rPr lang="en-GB" altLang="en-US" smtClean="0"/>
              <a:t> day, consider a change.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r>
              <a:rPr lang="en-GB" altLang="en-US" dirty="0" smtClean="0"/>
              <a:t>If no progress is seen or not seen quickly enough then reset the target e.g. learn 2 words instead of 3. (interleaved words)</a:t>
            </a:r>
          </a:p>
          <a:p>
            <a:endParaRPr lang="en-GB" altLang="en-US" dirty="0" smtClean="0"/>
          </a:p>
          <a:p>
            <a:r>
              <a:rPr lang="en-GB" altLang="en-US" dirty="0" smtClean="0"/>
              <a:t>Here are a few examples of what the chart could look like. </a:t>
            </a:r>
          </a:p>
          <a:p>
            <a:r>
              <a:rPr lang="en-GB" altLang="en-US" dirty="0" smtClean="0"/>
              <a:t>We have some examples for you to try and decipher in a minute too</a:t>
            </a:r>
          </a:p>
          <a:p>
            <a:endParaRPr lang="en-GB" altLang="en-US" dirty="0" smtClean="0"/>
          </a:p>
          <a:p>
            <a:r>
              <a:rPr lang="en-GB" altLang="en-US" dirty="0" smtClean="0"/>
              <a:t>Errors are recorded by a ‘x’</a:t>
            </a:r>
          </a:p>
          <a:p>
            <a:r>
              <a:rPr lang="en-GB" altLang="en-US" dirty="0" smtClean="0"/>
              <a:t>Correct responses recorded by a ‘o’</a:t>
            </a:r>
          </a:p>
          <a:p>
            <a:endParaRPr lang="en-GB" altLang="en-US" dirty="0" smtClean="0"/>
          </a:p>
          <a:p>
            <a:r>
              <a:rPr lang="en-GB" altLang="en-US" dirty="0" smtClean="0"/>
              <a:t>Return – to a previously known skill – a pre-requisite. </a:t>
            </a:r>
          </a:p>
          <a:p>
            <a:endParaRPr lang="en-GB" altLang="en-US" dirty="0" smtClean="0"/>
          </a:p>
          <a:p>
            <a:r>
              <a:rPr lang="en-GB" altLang="en-US" dirty="0" smtClean="0"/>
              <a:t>Slice – Reduce the demands of the task, number of items to be learned/ simplify the task e.g. not all the CVC words, just CVC with the same medial vowel. </a:t>
            </a:r>
          </a:p>
          <a:p>
            <a:endParaRPr lang="en-GB" altLang="en-US" dirty="0" smtClean="0"/>
          </a:p>
          <a:p>
            <a:r>
              <a:rPr lang="en-GB" altLang="en-US" dirty="0" smtClean="0"/>
              <a:t>SHOW GOOD EXAMPLE CHART and TALK ABOUT IT.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smtClean="0"/>
          </a:p>
          <a:p>
            <a:r>
              <a:rPr lang="en-GB" altLang="en-US" smtClean="0"/>
              <a:t>After a child has succeeded and achieved their target, </a:t>
            </a:r>
            <a:r>
              <a:rPr lang="en-GB" altLang="en-US" b="1" smtClean="0"/>
              <a:t>keep the probe word sheet</a:t>
            </a:r>
            <a:r>
              <a:rPr lang="en-GB" altLang="en-US" smtClean="0"/>
              <a:t>, maybe a month later bring out the probe sheet randomly and ask the child to read the words, without prior teaching, make a note on a separate record chart/ sheet. </a:t>
            </a:r>
          </a:p>
          <a:p>
            <a:r>
              <a:rPr lang="en-GB" altLang="en-US" smtClean="0"/>
              <a:t>This way you can see if the child has retained the words that you taught them.</a:t>
            </a:r>
          </a:p>
          <a:p>
            <a:endParaRPr lang="en-GB" altLang="en-US" smtClean="0"/>
          </a:p>
          <a:p>
            <a:r>
              <a:rPr lang="en-GB" altLang="en-US" smtClean="0"/>
              <a:t>Generalisation: </a:t>
            </a:r>
          </a:p>
          <a:p>
            <a:r>
              <a:rPr lang="en-GB" altLang="en-US" smtClean="0"/>
              <a:t>benefits of PM- teaching method is the schools choice</a:t>
            </a:r>
          </a:p>
          <a:p>
            <a:r>
              <a:rPr lang="en-GB" altLang="en-US" smtClean="0"/>
              <a:t>Need good communication between teacher and TA to support generalisation e.g. using words/ skills in a different subject or classroom environment</a:t>
            </a:r>
          </a:p>
          <a:p>
            <a:endParaRPr lang="en-GB"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endParaRPr lang="en-GB" altLang="en-US" dirty="0" smtClean="0"/>
          </a:p>
          <a:p>
            <a:r>
              <a:rPr lang="en-GB" altLang="en-US" dirty="0" smtClean="0"/>
              <a:t>So to recap:</a:t>
            </a:r>
          </a:p>
          <a:p>
            <a:endParaRPr lang="en-GB" altLang="en-US" dirty="0" smtClean="0"/>
          </a:p>
          <a:p>
            <a:pPr>
              <a:lnSpc>
                <a:spcPct val="80000"/>
              </a:lnSpc>
              <a:buFontTx/>
              <a:buAutoNum type="arabicPeriod"/>
            </a:pPr>
            <a:r>
              <a:rPr lang="en-GB" altLang="en-US" dirty="0" smtClean="0"/>
              <a:t>Identify a specific difficulty and acquire a baseline – needs to be quantifiable. This is where you are working from and where you compare back to.</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 appropriate to individual needs and learning styles/ preferences.</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 (qualitative data) (noting teaching method may let you see what has worked and what hasn’t)</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36</a:t>
            </a:fld>
            <a:endParaRPr lang="en-GB"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37</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16/01/2018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3330774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1/16/2018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 id="2147483685" r:id="rId9"/>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lstStyle/>
          <a:p>
            <a:r>
              <a:rPr lang="en-US" altLang="en-US" sz="4400" b="1" u="sng" dirty="0">
                <a:solidFill>
                  <a:schemeClr val="bg1"/>
                </a:solidFill>
                <a:ea typeface="ＭＳ Ｐゴシック" pitchFamily="110" charset="-128"/>
              </a:rPr>
              <a:t>Precision Teaching:</a:t>
            </a: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a:solidFill>
                  <a:schemeClr val="bg1"/>
                </a:solidFill>
                <a:ea typeface="ＭＳ Ｐゴシック" pitchFamily="110" charset="-128"/>
              </a:rPr>
              <a:t>An Introduction</a:t>
            </a:r>
          </a:p>
          <a:p>
            <a:pPr>
              <a:spcBef>
                <a:spcPct val="50000"/>
              </a:spcBef>
              <a:buClrTx/>
              <a:buSzTx/>
              <a:buFontTx/>
              <a:buNone/>
            </a:pPr>
            <a:endParaRPr lang="en-US" altLang="en-US" sz="11200" dirty="0" smtClean="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Altwood CofE Secondary</a:t>
            </a:r>
            <a:endParaRPr lang="en-US" altLang="en-US" sz="11200" dirty="0" smtClean="0">
              <a:solidFill>
                <a:schemeClr val="bg1"/>
              </a:solidFill>
              <a:ea typeface="ＭＳ Ｐゴシック" pitchFamily="110" charset="-128"/>
            </a:endParaRP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Tuesday  </a:t>
            </a:r>
            <a:r>
              <a:rPr lang="en-US" altLang="en-US" sz="11200" dirty="0" smtClean="0">
                <a:solidFill>
                  <a:schemeClr val="bg1"/>
                </a:solidFill>
                <a:ea typeface="ＭＳ Ｐゴシック" pitchFamily="110" charset="-128"/>
              </a:rPr>
              <a:t>16</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a:t>
            </a:r>
            <a:r>
              <a:rPr lang="en-US" altLang="en-US" sz="11200" dirty="0" smtClean="0">
                <a:solidFill>
                  <a:schemeClr val="bg1"/>
                </a:solidFill>
                <a:ea typeface="ＭＳ Ｐゴシック" pitchFamily="110" charset="-128"/>
              </a:rPr>
              <a:t>January 2017</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a:t>
            </a:r>
            <a:endParaRPr lang="en-GB" sz="3200" dirty="0">
              <a:solidFill>
                <a:schemeClr val="bg1"/>
              </a:solidFill>
            </a:endParaRPr>
          </a:p>
        </p:txBody>
      </p:sp>
      <p:sp>
        <p:nvSpPr>
          <p:cNvPr id="3" name="Content Placeholder 2"/>
          <p:cNvSpPr>
            <a:spLocks noGrp="1"/>
          </p:cNvSpPr>
          <p:nvPr>
            <p:ph idx="4294967295"/>
          </p:nvPr>
        </p:nvSpPr>
        <p:spPr>
          <a:xfrm>
            <a:off x="0" y="1432967"/>
            <a:ext cx="8229600" cy="4525963"/>
          </a:xfrm>
        </p:spPr>
        <p:txBody>
          <a:bodyPr>
            <a:normAutofit/>
          </a:bodyPr>
          <a:lstStyle/>
          <a:p>
            <a:pPr marL="722313" lvl="1" indent="-384175" eaLnBrk="1" hangingPunct="1">
              <a:lnSpc>
                <a:spcPct val="90000"/>
              </a:lnSpc>
              <a:buFont typeface="Wingdings" panose="05000000000000000000" pitchFamily="2" charset="2"/>
              <a:buChar char="q"/>
            </a:pPr>
            <a:r>
              <a:rPr lang="en-US" altLang="en-US" sz="32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32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3200" dirty="0">
                <a:solidFill>
                  <a:schemeClr val="bg1"/>
                </a:solidFill>
              </a:rPr>
              <a:t>PT: The underlying theory</a:t>
            </a:r>
          </a:p>
          <a:p>
            <a:pPr marL="338138" lvl="1" indent="0" eaLnBrk="1" hangingPunct="1">
              <a:lnSpc>
                <a:spcPct val="90000"/>
              </a:lnSpc>
              <a:buNone/>
            </a:pPr>
            <a:endParaRPr lang="en-US" altLang="en-US" sz="32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3200" dirty="0">
                <a:solidFill>
                  <a:schemeClr val="bg1"/>
                </a:solidFill>
              </a:rPr>
              <a:t>How do you do PT?</a:t>
            </a:r>
          </a:p>
          <a:p>
            <a:pPr marL="800100" lvl="2" indent="0" eaLnBrk="1" hangingPunct="1">
              <a:lnSpc>
                <a:spcPct val="90000"/>
              </a:lnSpc>
              <a:buNone/>
            </a:pPr>
            <a:endParaRPr lang="en-US" altLang="en-US" sz="2400" dirty="0">
              <a:solidFill>
                <a:schemeClr val="bg1"/>
              </a:solidFill>
            </a:endParaRP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0"/>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0" y="1309656"/>
            <a:ext cx="8229600" cy="4525963"/>
          </a:xfrm>
        </p:spPr>
        <p:txBody>
          <a:bodyPr>
            <a:normAutofit fontScale="85000" lnSpcReduction="20000"/>
          </a:bodyPr>
          <a:lstStyle/>
          <a:p>
            <a:pPr marL="423863" eaLnBrk="1" hangingPunct="1">
              <a:lnSpc>
                <a:spcPct val="8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When development of speed is essential for progress, </a:t>
            </a:r>
            <a:endParaRPr lang="en-US" altLang="en-US" dirty="0" smtClean="0">
              <a:solidFill>
                <a:schemeClr val="bg1"/>
              </a:solidFill>
            </a:endParaRPr>
          </a:p>
          <a:p>
            <a:pPr marL="80963" indent="0" eaLnBrk="1" hangingPunct="1">
              <a:lnSpc>
                <a:spcPct val="80000"/>
              </a:lnSpc>
              <a:buNone/>
            </a:pPr>
            <a:r>
              <a:rPr lang="en-US" altLang="en-US" dirty="0">
                <a:solidFill>
                  <a:schemeClr val="bg1"/>
                </a:solidFill>
              </a:rPr>
              <a:t> </a:t>
            </a:r>
            <a:r>
              <a:rPr lang="en-US" altLang="en-US" dirty="0" smtClean="0">
                <a:solidFill>
                  <a:schemeClr val="bg1"/>
                </a:solidFill>
              </a:rPr>
              <a:t>for </a:t>
            </a:r>
            <a:r>
              <a:rPr lang="en-US" altLang="en-US" dirty="0">
                <a:solidFill>
                  <a:schemeClr val="bg1"/>
                </a:solidFill>
              </a:rPr>
              <a:t>example:</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ü"/>
            </a:pPr>
            <a:r>
              <a:rPr lang="en-US" altLang="en-US" dirty="0" smtClean="0">
                <a:solidFill>
                  <a:schemeClr val="bg1"/>
                </a:solidFill>
              </a:rPr>
              <a:t> phonics</a:t>
            </a:r>
          </a:p>
          <a:p>
            <a:pPr marL="423863" eaLnBrk="1" hangingPunct="1">
              <a:lnSpc>
                <a:spcPct val="8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8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8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80000"/>
              </a:lnSpc>
              <a:buFont typeface="Wingdings" panose="05000000000000000000" pitchFamily="2" charset="2"/>
              <a:buChar char="ü"/>
            </a:pPr>
            <a:r>
              <a:rPr lang="en-US" altLang="en-US" dirty="0" smtClean="0">
                <a:solidFill>
                  <a:schemeClr val="bg1"/>
                </a:solidFill>
              </a:rPr>
              <a:t>number bonds</a:t>
            </a:r>
          </a:p>
          <a:p>
            <a:pPr marL="80963" indent="0" eaLnBrk="1" hangingPunct="1">
              <a:lnSpc>
                <a:spcPct val="80000"/>
              </a:lnSpc>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l"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solidFill>
                  <a:schemeClr val="bg1"/>
                </a:solidFill>
                <a:latin typeface="Arial" pitchFamily="34" charset="0"/>
              </a:rPr>
              <a:t>‘Hierarchy of Learning’</a:t>
            </a:r>
            <a:r>
              <a:rPr lang="en-GB" altLang="en-US" sz="2800" b="1" dirty="0">
                <a:solidFill>
                  <a:schemeClr val="bg1"/>
                </a:solidFill>
                <a:latin typeface="Arial" pitchFamily="34" charset="0"/>
              </a:rPr>
              <a:t> </a:t>
            </a:r>
          </a:p>
          <a:p>
            <a:pPr algn="ctr" eaLnBrk="1" hangingPunct="1"/>
            <a:r>
              <a:rPr lang="en-GB" altLang="en-US" sz="2000" dirty="0">
                <a:solidFill>
                  <a:schemeClr val="bg1"/>
                </a:solidFill>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Acquisition</a:t>
            </a:r>
          </a:p>
          <a:p>
            <a:pPr eaLnBrk="1" hangingPunct="1">
              <a:lnSpc>
                <a:spcPct val="90000"/>
              </a:lnSpc>
              <a:buClr>
                <a:srgbClr val="73801F"/>
              </a:buClr>
              <a:buFont typeface="Wingdings" pitchFamily="2" charset="2"/>
              <a:buNone/>
            </a:pPr>
            <a:endParaRPr lang="en-GB" altLang="en-US" sz="1400" b="1"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4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Fluency</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Maintenance</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Generalisation</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solidFill>
                  <a:schemeClr val="bg1"/>
                </a:solidFill>
                <a:latin typeface="Arial" pitchFamily="34" charset="0"/>
              </a:rPr>
              <a:t>Pupil performs skill with accuracy.</a:t>
            </a:r>
          </a:p>
          <a:p>
            <a:pPr eaLnBrk="1" hangingPunct="1">
              <a:spcBef>
                <a:spcPct val="50000"/>
              </a:spcBef>
            </a:pPr>
            <a:endParaRPr lang="en-GB" altLang="en-US" sz="18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Pupil performs skill with accuracy and fluency.</a:t>
            </a:r>
            <a:endParaRPr lang="en-GB" altLang="en-US" sz="1800"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Proficiency level reached, demonstrating maintenance in terms of accuracy and fluency.</a:t>
            </a:r>
          </a:p>
          <a:p>
            <a:pPr eaLnBrk="1" hangingPunct="1">
              <a:spcBef>
                <a:spcPct val="50000"/>
              </a:spcBef>
            </a:pPr>
            <a:r>
              <a:rPr lang="en-GB" altLang="en-US" sz="1800" b="1" dirty="0">
                <a:solidFill>
                  <a:schemeClr val="bg1"/>
                </a:solidFill>
                <a:latin typeface="Arial" pitchFamily="34" charset="0"/>
              </a:rPr>
              <a:t>With support and instruction pupil can apply skill in new and different contexts.</a:t>
            </a:r>
          </a:p>
          <a:p>
            <a:pPr eaLnBrk="1" hangingPunct="1">
              <a:spcBef>
                <a:spcPct val="50000"/>
              </a:spcBef>
            </a:pPr>
            <a:endParaRPr lang="en-GB" altLang="en-US" sz="10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4154527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203" y="882000"/>
            <a:ext cx="8555276" cy="4524315"/>
          </a:xfrm>
          <a:prstGeom prst="rect">
            <a:avLst/>
          </a:prstGeom>
        </p:spPr>
        <p:txBody>
          <a:bodyPr wrap="square">
            <a:spAutoFit/>
          </a:bodyPr>
          <a:lstStyle/>
          <a:p>
            <a:pPr lvl="0"/>
            <a:r>
              <a:rPr lang="en-GB" sz="1600" b="1" u="sng" dirty="0">
                <a:solidFill>
                  <a:schemeClr val="bg1"/>
                </a:solidFill>
              </a:rPr>
              <a:t>Acquisition</a:t>
            </a:r>
            <a:r>
              <a:rPr lang="en-GB" sz="1600" dirty="0">
                <a:solidFill>
                  <a:schemeClr val="bg1"/>
                </a:solidFill>
              </a:rPr>
              <a:t> – you are learning to drive and need to think carefully when changing gears, indicating </a:t>
            </a:r>
            <a:r>
              <a:rPr lang="en-GB" sz="1600" dirty="0" err="1">
                <a:solidFill>
                  <a:schemeClr val="bg1"/>
                </a:solidFill>
              </a:rPr>
              <a:t>etc</a:t>
            </a:r>
            <a:r>
              <a:rPr lang="en-GB" sz="1600" dirty="0">
                <a:solidFill>
                  <a:schemeClr val="bg1"/>
                </a:solidFill>
              </a:rPr>
              <a:t> - Just beginning to learn the skill, some degree of accuracy but performance not yet reliable – by the end of this phase performance is basically accurate but not fluid, </a:t>
            </a:r>
            <a:r>
              <a:rPr lang="en-GB" sz="1600" dirty="0" smtClean="0">
                <a:solidFill>
                  <a:schemeClr val="bg1"/>
                </a:solidFill>
              </a:rPr>
              <a:t>automated</a:t>
            </a:r>
          </a:p>
          <a:p>
            <a:pPr lvl="0"/>
            <a:endParaRPr lang="en-GB" sz="1600" dirty="0">
              <a:solidFill>
                <a:schemeClr val="bg1"/>
              </a:solidFill>
            </a:endParaRPr>
          </a:p>
          <a:p>
            <a:pPr lvl="0"/>
            <a:r>
              <a:rPr lang="en-GB" sz="1600" b="1" u="sng" dirty="0">
                <a:solidFill>
                  <a:schemeClr val="bg1"/>
                </a:solidFill>
              </a:rPr>
              <a:t>Fluency</a:t>
            </a:r>
            <a:r>
              <a:rPr lang="en-GB" sz="1600" b="1" dirty="0">
                <a:solidFill>
                  <a:schemeClr val="bg1"/>
                </a:solidFill>
              </a:rPr>
              <a:t> </a:t>
            </a:r>
            <a:r>
              <a:rPr lang="en-GB" sz="1600" dirty="0">
                <a:solidFill>
                  <a:schemeClr val="bg1"/>
                </a:solidFill>
              </a:rPr>
              <a:t>– you can change gears without thinking and can now focus on the road - Can perform the skill quickly and accurately – this phase brings speed of performance into the equation – skill becoming automated, ‘second nature</a:t>
            </a:r>
            <a:r>
              <a:rPr lang="en-GB" sz="1600" dirty="0" smtClean="0">
                <a:solidFill>
                  <a:schemeClr val="bg1"/>
                </a:solidFill>
              </a:rPr>
              <a:t>’</a:t>
            </a:r>
          </a:p>
          <a:p>
            <a:pPr lvl="0"/>
            <a:endParaRPr lang="en-GB" sz="1600" dirty="0">
              <a:solidFill>
                <a:schemeClr val="bg1"/>
              </a:solidFill>
            </a:endParaRPr>
          </a:p>
          <a:p>
            <a:pPr lvl="0"/>
            <a:r>
              <a:rPr lang="en-GB" sz="1600" b="1" u="sng" dirty="0">
                <a:solidFill>
                  <a:schemeClr val="bg1"/>
                </a:solidFill>
              </a:rPr>
              <a:t>Maintenance</a:t>
            </a:r>
            <a:r>
              <a:rPr lang="en-GB" sz="1600" dirty="0">
                <a:solidFill>
                  <a:schemeClr val="bg1"/>
                </a:solidFill>
              </a:rPr>
              <a:t> – 6 months after, when you came back from a long holiday, you can still drive - Due to regular reinforcements, can perform the skill over a lengthy period of time – fluent performance is sustained over time – often referred to as ‘mastery’ </a:t>
            </a:r>
            <a:r>
              <a:rPr lang="en-GB" sz="1600" dirty="0" smtClean="0">
                <a:solidFill>
                  <a:schemeClr val="bg1"/>
                </a:solidFill>
              </a:rPr>
              <a:t>stage</a:t>
            </a:r>
          </a:p>
          <a:p>
            <a:pPr lvl="0"/>
            <a:endParaRPr lang="en-GB" sz="1600" dirty="0">
              <a:solidFill>
                <a:schemeClr val="bg1"/>
              </a:solidFill>
            </a:endParaRPr>
          </a:p>
          <a:p>
            <a:pPr lvl="0"/>
            <a:r>
              <a:rPr lang="en-GB" sz="1600" b="1" u="sng" dirty="0">
                <a:solidFill>
                  <a:schemeClr val="bg1"/>
                </a:solidFill>
              </a:rPr>
              <a:t>Generalisation</a:t>
            </a:r>
            <a:r>
              <a:rPr lang="en-GB" sz="1600" dirty="0">
                <a:solidFill>
                  <a:schemeClr val="bg1"/>
                </a:solidFill>
              </a:rPr>
              <a:t> – Your friend ask you to drive their car and you are able to do so with some support and instruction - Can generalise the skill to different contexts/new situations, can transfer learning across </a:t>
            </a:r>
            <a:r>
              <a:rPr lang="en-GB" sz="1600" dirty="0" smtClean="0">
                <a:solidFill>
                  <a:schemeClr val="bg1"/>
                </a:solidFill>
              </a:rPr>
              <a:t>settings</a:t>
            </a:r>
          </a:p>
          <a:p>
            <a:pPr lvl="0"/>
            <a:endParaRPr lang="en-GB" sz="1600" dirty="0">
              <a:solidFill>
                <a:schemeClr val="bg1"/>
              </a:solidFill>
            </a:endParaRPr>
          </a:p>
          <a:p>
            <a:pPr lvl="0"/>
            <a:r>
              <a:rPr lang="en-GB" sz="1600" b="1" u="sng" dirty="0">
                <a:solidFill>
                  <a:schemeClr val="bg1"/>
                </a:solidFill>
              </a:rPr>
              <a:t>Adaptation</a:t>
            </a:r>
            <a:r>
              <a:rPr lang="en-GB" sz="1600" dirty="0">
                <a:solidFill>
                  <a:schemeClr val="bg1"/>
                </a:solidFill>
              </a:rPr>
              <a:t> – Driving a different car is not a problem anymore - 	 Can adapt the skill appropriately to learn new skills </a:t>
            </a:r>
            <a:r>
              <a:rPr lang="en-GB" sz="1600" i="1" dirty="0">
                <a:solidFill>
                  <a:schemeClr val="bg1"/>
                </a:solidFill>
              </a:rPr>
              <a:t>NB. Overlap between generalisation &amp; adaptation stages</a:t>
            </a:r>
            <a:endParaRPr lang="en-GB" sz="1600" dirty="0">
              <a:solidFill>
                <a:schemeClr val="bg1"/>
              </a:solidFill>
            </a:endParaRPr>
          </a:p>
        </p:txBody>
      </p:sp>
    </p:spTree>
    <p:extLst>
      <p:ext uri="{BB962C8B-B14F-4D97-AF65-F5344CB8AC3E}">
        <p14:creationId xmlns:p14="http://schemas.microsoft.com/office/powerpoint/2010/main" val="764572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8415" y="2106385"/>
            <a:ext cx="4256293" cy="1200329"/>
          </a:xfrm>
          <a:prstGeom prst="rect">
            <a:avLst/>
          </a:prstGeom>
          <a:noFill/>
        </p:spPr>
        <p:txBody>
          <a:bodyPr wrap="none" rtlCol="0">
            <a:spAutoFit/>
          </a:bodyPr>
          <a:lstStyle/>
          <a:p>
            <a:r>
              <a:rPr lang="en-GB" sz="7200" b="1" dirty="0" smtClean="0">
                <a:solidFill>
                  <a:schemeClr val="bg1"/>
                </a:solidFill>
              </a:rPr>
              <a:t>The Doing </a:t>
            </a:r>
            <a:endParaRPr lang="en-GB" sz="7200" b="1" dirty="0">
              <a:solidFill>
                <a:schemeClr val="bg1"/>
              </a:solidFill>
            </a:endParaRPr>
          </a:p>
        </p:txBody>
      </p:sp>
    </p:spTree>
    <p:extLst>
      <p:ext uri="{BB962C8B-B14F-4D97-AF65-F5344CB8AC3E}">
        <p14:creationId xmlns:p14="http://schemas.microsoft.com/office/powerpoint/2010/main" val="2918666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marL="609600" indent="-609600" eaLnBrk="1" hangingPunct="1">
              <a:lnSpc>
                <a:spcPct val="80000"/>
              </a:lnSpc>
              <a:buFontTx/>
              <a:buAutoNum type="arabicPeriod"/>
            </a:pPr>
            <a:r>
              <a:rPr lang="en-GB" altLang="en-US" sz="2000" dirty="0" smtClean="0">
                <a:solidFill>
                  <a:schemeClr val="bg1"/>
                </a:solidFill>
              </a:rPr>
              <a:t>Identify a specific difficulty and acquire a baseline.</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2"/>
            </a:pPr>
            <a:r>
              <a:rPr lang="en-GB" altLang="en-US" sz="2000" dirty="0" smtClean="0">
                <a:solidFill>
                  <a:schemeClr val="bg1"/>
                </a:solidFill>
              </a:rPr>
              <a:t>Set a target.</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Teaching sessions: short, frequent and target specific.</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Monitor child’s daily performance using a probe.</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5"/>
            </a:pPr>
            <a:r>
              <a:rPr lang="en-GB" altLang="en-US" sz="2000" dirty="0" smtClean="0">
                <a:solidFill>
                  <a:schemeClr val="bg1"/>
                </a:solidFill>
              </a:rPr>
              <a:t>Chart results and make note of teaching methods.</a:t>
            </a:r>
          </a:p>
          <a:p>
            <a:pPr marL="0" indent="0" eaLnBrk="1" hangingPunct="1">
              <a:lnSpc>
                <a:spcPct val="80000"/>
              </a:lnSpc>
              <a:buNone/>
            </a:pPr>
            <a:endParaRPr lang="en-GB" altLang="en-US" sz="2000" dirty="0" smtClean="0">
              <a:solidFill>
                <a:schemeClr val="bg1"/>
              </a:solidFill>
            </a:endParaRPr>
          </a:p>
          <a:p>
            <a:pPr marL="609600" indent="-609600" eaLnBrk="1" hangingPunct="1">
              <a:lnSpc>
                <a:spcPct val="80000"/>
              </a:lnSpc>
              <a:buFontTx/>
              <a:buAutoNum type="arabicPeriod" startAt="6"/>
            </a:pPr>
            <a:r>
              <a:rPr lang="en-GB" altLang="en-US" sz="2000" dirty="0" smtClean="0">
                <a:solidFill>
                  <a:schemeClr val="bg1"/>
                </a:solidFill>
              </a:rPr>
              <a:t>Analyse the data to determine if a change of target is needed or change in teaching method.</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6113" y="765175"/>
            <a:ext cx="8497887" cy="649288"/>
          </a:xfrm>
        </p:spPr>
        <p:txBody>
          <a:bodyPr>
            <a:normAutofit fontScale="90000"/>
          </a:bodyPr>
          <a:lstStyle/>
          <a:p>
            <a:pPr algn="ctr"/>
            <a:r>
              <a:rPr lang="en-GB" altLang="en-US" sz="5400" dirty="0" smtClean="0">
                <a:solidFill>
                  <a:schemeClr val="bg1"/>
                </a:solidFill>
              </a:rPr>
              <a:t>STEP 1</a:t>
            </a:r>
            <a:endParaRPr lang="en-GB" sz="5400" dirty="0">
              <a:solidFill>
                <a:schemeClr val="bg1"/>
              </a:solidFill>
            </a:endParaRPr>
          </a:p>
        </p:txBody>
      </p:sp>
      <p:sp>
        <p:nvSpPr>
          <p:cNvPr id="3" name="Content Placeholder 2"/>
          <p:cNvSpPr>
            <a:spLocks noGrp="1"/>
          </p:cNvSpPr>
          <p:nvPr>
            <p:ph idx="4294967295"/>
          </p:nvPr>
        </p:nvSpPr>
        <p:spPr>
          <a:xfrm>
            <a:off x="0" y="2133600"/>
            <a:ext cx="7632700" cy="4968875"/>
          </a:xfrm>
        </p:spPr>
        <p:txBody>
          <a:bodyPr/>
          <a:lstStyle/>
          <a:p>
            <a:pPr marL="0" indent="0" algn="ctr">
              <a:buNone/>
            </a:pPr>
            <a:r>
              <a:rPr lang="en-GB" altLang="en-US" sz="5400" dirty="0" smtClean="0">
                <a:solidFill>
                  <a:schemeClr val="bg1"/>
                </a:solidFill>
              </a:rPr>
              <a:t>Identify </a:t>
            </a:r>
            <a:r>
              <a:rPr lang="en-GB" altLang="en-US" sz="5400" dirty="0">
                <a:solidFill>
                  <a:schemeClr val="bg1"/>
                </a:solidFill>
              </a:rPr>
              <a:t>a specific difficulty and acquire a baseline</a:t>
            </a:r>
            <a:endParaRPr lang="en-GB" sz="5400" dirty="0">
              <a:solidFill>
                <a:schemeClr val="bg1"/>
              </a:solidFill>
            </a:endParaRPr>
          </a:p>
        </p:txBody>
      </p:sp>
    </p:spTree>
    <p:extLst>
      <p:ext uri="{BB962C8B-B14F-4D97-AF65-F5344CB8AC3E}">
        <p14:creationId xmlns:p14="http://schemas.microsoft.com/office/powerpoint/2010/main" val="262667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r>
              <a:rPr lang="en-GB" altLang="en-US" dirty="0" smtClean="0">
                <a:solidFill>
                  <a:schemeClr val="bg1"/>
                </a:solidFill>
              </a:rPr>
              <a:t>Probes contain a defined set of items, often letters, words or sums on which the child is tested, usually for one minute.</a:t>
            </a:r>
          </a:p>
          <a:p>
            <a:pPr eaLnBrk="1" hangingPunct="1">
              <a:buFont typeface="Wingdings" pitchFamily="2" charset="2"/>
              <a:buNone/>
            </a:pPr>
            <a:endParaRPr lang="en-GB" altLang="en-US" dirty="0" smtClean="0">
              <a:solidFill>
                <a:schemeClr val="bg1"/>
              </a:solidFill>
            </a:endParaRPr>
          </a:p>
          <a:p>
            <a:pPr eaLnBrk="1" hangingPunct="1"/>
            <a:r>
              <a:rPr lang="en-GB" altLang="en-US"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idx="4294967295"/>
          </p:nvPr>
        </p:nvSpPr>
        <p:spPr>
          <a:xfrm>
            <a:off x="346478" y="0"/>
            <a:ext cx="6870700" cy="1412875"/>
          </a:xfrm>
        </p:spPr>
        <p:txBody>
          <a:bodyPr rIns="31750" anchor="b"/>
          <a:lstStyle/>
          <a:p>
            <a:pPr indent="0" algn="l" eaLnBrk="1" hangingPunct="1"/>
            <a:r>
              <a:rPr lang="en-US" altLang="en-US" sz="3200" u="sng" dirty="0" smtClean="0">
                <a:solidFill>
                  <a:schemeClr val="bg1"/>
                </a:solidFill>
              </a:rPr>
              <a:t>Types of probe:</a:t>
            </a:r>
          </a:p>
        </p:txBody>
      </p:sp>
      <p:sp>
        <p:nvSpPr>
          <p:cNvPr id="19459" name="Rectangle 2"/>
          <p:cNvSpPr>
            <a:spLocks noGrp="1" noChangeArrowheads="1"/>
          </p:cNvSpPr>
          <p:nvPr>
            <p:ph type="body" idx="4294967295"/>
          </p:nvPr>
        </p:nvSpPr>
        <p:spPr>
          <a:xfrm>
            <a:off x="0" y="1927225"/>
            <a:ext cx="5257800" cy="4930775"/>
          </a:xfrm>
        </p:spPr>
        <p:txBody>
          <a:bodyPr rIns="31750"/>
          <a:lstStyle/>
          <a:p>
            <a:pPr marL="423863" indent="-384175" eaLnBrk="1" hangingPunct="1">
              <a:lnSpc>
                <a:spcPct val="90000"/>
              </a:lnSpc>
            </a:pPr>
            <a:r>
              <a:rPr lang="en-US" altLang="en-US" sz="2800" b="1" dirty="0" smtClean="0">
                <a:solidFill>
                  <a:schemeClr val="bg1"/>
                </a:solidFill>
              </a:rPr>
              <a:t>See to say</a:t>
            </a:r>
            <a:r>
              <a:rPr lang="en-US" altLang="en-US" sz="2800" dirty="0" smtClean="0">
                <a:solidFill>
                  <a:schemeClr val="bg1"/>
                </a:solidFill>
              </a:rPr>
              <a:t> e.g. letter, number, sight word recognition</a:t>
            </a:r>
          </a:p>
          <a:p>
            <a:pPr marL="423863" indent="-384175" eaLnBrk="1" hangingPunct="1">
              <a:lnSpc>
                <a:spcPct val="90000"/>
              </a:lnSpc>
            </a:pPr>
            <a:endParaRPr lang="en-US" altLang="en-US" sz="2800" dirty="0" smtClean="0">
              <a:solidFill>
                <a:schemeClr val="bg1"/>
              </a:solidFill>
            </a:endParaRPr>
          </a:p>
          <a:p>
            <a:pPr marL="423863" indent="-384175" eaLnBrk="1" hangingPunct="1">
              <a:lnSpc>
                <a:spcPct val="90000"/>
              </a:lnSpc>
            </a:pPr>
            <a:r>
              <a:rPr lang="en-US" altLang="en-US" sz="2800" b="1" dirty="0" smtClean="0">
                <a:solidFill>
                  <a:schemeClr val="bg1"/>
                </a:solidFill>
              </a:rPr>
              <a:t>Hear to write</a:t>
            </a:r>
            <a:r>
              <a:rPr lang="en-US" altLang="en-US" sz="2800" dirty="0" smtClean="0">
                <a:solidFill>
                  <a:schemeClr val="bg1"/>
                </a:solidFill>
              </a:rPr>
              <a:t> e.g. letter sounds, numbers, spellings</a:t>
            </a:r>
          </a:p>
          <a:p>
            <a:pPr marL="423863" indent="-384175" eaLnBrk="1" hangingPunct="1">
              <a:lnSpc>
                <a:spcPct val="90000"/>
              </a:lnSpc>
            </a:pPr>
            <a:endParaRPr lang="en-US" altLang="en-US" sz="2800" dirty="0" smtClean="0">
              <a:solidFill>
                <a:schemeClr val="bg1"/>
              </a:solidFill>
            </a:endParaRPr>
          </a:p>
          <a:p>
            <a:pPr marL="423863" indent="-384175" eaLnBrk="1" hangingPunct="1">
              <a:lnSpc>
                <a:spcPct val="90000"/>
              </a:lnSpc>
            </a:pPr>
            <a:r>
              <a:rPr lang="en-US" altLang="en-US" sz="2800" b="1" dirty="0" smtClean="0">
                <a:solidFill>
                  <a:schemeClr val="bg1"/>
                </a:solidFill>
              </a:rPr>
              <a:t>See to write</a:t>
            </a:r>
            <a:r>
              <a:rPr lang="en-US" altLang="en-US" sz="2800" dirty="0" smtClean="0">
                <a:solidFill>
                  <a:schemeClr val="bg1"/>
                </a:solidFill>
              </a:rPr>
              <a:t> e.g. 3 + 6 =</a:t>
            </a:r>
          </a:p>
        </p:txBody>
      </p:sp>
    </p:spTree>
    <p:extLst>
      <p:ext uri="{BB962C8B-B14F-4D97-AF65-F5344CB8AC3E}">
        <p14:creationId xmlns:p14="http://schemas.microsoft.com/office/powerpoint/2010/main" val="3564581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lnSpcReduction="10000"/>
          </a:bodyPr>
          <a:lstStyle/>
          <a:p>
            <a:pPr eaLnBrk="1" hangingPunct="1"/>
            <a:r>
              <a:rPr lang="en-GB" altLang="en-US" dirty="0" smtClean="0">
                <a:solidFill>
                  <a:schemeClr val="bg1"/>
                </a:solidFill>
              </a:rPr>
              <a:t>Use the ‘</a:t>
            </a:r>
            <a:r>
              <a:rPr lang="en-GB" altLang="en-US" b="1" dirty="0" smtClean="0">
                <a:solidFill>
                  <a:schemeClr val="bg1"/>
                </a:solidFill>
              </a:rPr>
              <a:t>100 high-frequency words in order’, </a:t>
            </a:r>
            <a:r>
              <a:rPr lang="en-GB" altLang="en-US" dirty="0" smtClean="0">
                <a:solidFill>
                  <a:schemeClr val="bg1"/>
                </a:solidFill>
              </a:rPr>
              <a:t>Copies of these are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34618809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0" y="1628775"/>
            <a:ext cx="7127875" cy="4305300"/>
          </a:xfrm>
        </p:spPr>
        <p:txBody>
          <a:bodyPr>
            <a:normAutofit fontScale="92500" lnSpcReduction="20000"/>
          </a:bodyPr>
          <a:lstStyle/>
          <a:p>
            <a:pPr eaLnBrk="1" hangingPunct="1"/>
            <a:r>
              <a:rPr lang="en-GB" altLang="en-US" dirty="0" smtClean="0">
                <a:solidFill>
                  <a:schemeClr val="bg1"/>
                </a:solidFill>
              </a:rPr>
              <a:t>Tell the child you are going to show him/her a grid of words which you want them to read out loud to you, once you say “start”.</a:t>
            </a:r>
          </a:p>
          <a:p>
            <a:pPr eaLnBrk="1" hangingPunct="1"/>
            <a:r>
              <a:rPr lang="en-GB" altLang="en-US" dirty="0" smtClean="0">
                <a:solidFill>
                  <a:schemeClr val="bg1"/>
                </a:solidFill>
              </a:rPr>
              <a:t>Use a 1 minute </a:t>
            </a:r>
            <a:r>
              <a:rPr lang="en-GB" altLang="en-US" dirty="0" err="1" smtClean="0">
                <a:solidFill>
                  <a:schemeClr val="bg1"/>
                </a:solidFill>
              </a:rPr>
              <a:t>sandtimer</a:t>
            </a:r>
            <a:r>
              <a:rPr lang="en-GB" altLang="en-US" dirty="0" smtClean="0">
                <a:solidFill>
                  <a:schemeClr val="bg1"/>
                </a:solidFill>
              </a:rPr>
              <a:t> or </a:t>
            </a:r>
            <a:r>
              <a:rPr lang="en-GB" altLang="en-US" dirty="0" err="1" smtClean="0">
                <a:solidFill>
                  <a:schemeClr val="bg1"/>
                </a:solidFill>
              </a:rPr>
              <a:t>stopclock</a:t>
            </a:r>
            <a:r>
              <a:rPr lang="en-GB" altLang="en-US" dirty="0" smtClean="0">
                <a:solidFill>
                  <a:schemeClr val="bg1"/>
                </a:solidFill>
              </a:rPr>
              <a:t> counting down from 60 seconds to tell you when the 1 minute probe is up</a:t>
            </a:r>
          </a:p>
          <a:p>
            <a:pPr eaLnBrk="1" hangingPunct="1"/>
            <a:r>
              <a:rPr lang="en-GB" altLang="en-US"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lstStyle/>
          <a:p>
            <a:pPr eaLnBrk="1" hangingPunct="1">
              <a:lnSpc>
                <a:spcPct val="90000"/>
              </a:lnSpc>
            </a:pPr>
            <a:r>
              <a:rPr lang="en-GB" altLang="en-US" dirty="0" smtClean="0">
                <a:solidFill>
                  <a:schemeClr val="bg1"/>
                </a:solidFill>
              </a:rPr>
              <a:t>When the </a:t>
            </a:r>
            <a:r>
              <a:rPr lang="en-GB" altLang="en-US" dirty="0" err="1" smtClean="0">
                <a:solidFill>
                  <a:schemeClr val="bg1"/>
                </a:solidFill>
              </a:rPr>
              <a:t>sandtimer</a:t>
            </a:r>
            <a:r>
              <a:rPr lang="en-GB" altLang="en-US" dirty="0" smtClean="0">
                <a:solidFill>
                  <a:schemeClr val="bg1"/>
                </a:solidFill>
              </a:rPr>
              <a:t> finishes/</a:t>
            </a:r>
            <a:r>
              <a:rPr lang="en-GB" altLang="en-US" dirty="0" err="1" smtClean="0">
                <a:solidFill>
                  <a:schemeClr val="bg1"/>
                </a:solidFill>
              </a:rPr>
              <a:t>stopclock</a:t>
            </a:r>
            <a:r>
              <a:rPr lang="en-GB" altLang="en-US" dirty="0" smtClean="0">
                <a:solidFill>
                  <a:schemeClr val="bg1"/>
                </a:solidFill>
              </a:rPr>
              <a:t> beeps, stop the child, thank them, and share how they did.</a:t>
            </a:r>
          </a:p>
          <a:p>
            <a:pPr eaLnBrk="1" hangingPunct="1">
              <a:lnSpc>
                <a:spcPct val="90000"/>
              </a:lnSpc>
            </a:pPr>
            <a:r>
              <a:rPr lang="en-GB" altLang="en-US" dirty="0" smtClean="0">
                <a:solidFill>
                  <a:schemeClr val="bg1"/>
                </a:solidFill>
              </a:rPr>
              <a:t>On your chart, note the probe given, put in the number of correct/incorrect responses the child gives, and make a note of specific problem words.</a:t>
            </a:r>
          </a:p>
          <a:p>
            <a:pPr eaLnBrk="1" hangingPunct="1">
              <a:lnSpc>
                <a:spcPct val="90000"/>
              </a:lnSpc>
            </a:pPr>
            <a:r>
              <a:rPr lang="en-GB" altLang="en-US"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84313"/>
            <a:ext cx="7488238" cy="3529012"/>
          </a:xfrm>
        </p:spPr>
        <p:txBody>
          <a:bodyPr/>
          <a:lstStyle/>
          <a:p>
            <a:pPr eaLnBrk="1" hangingPunct="1"/>
            <a:r>
              <a:rPr lang="en-GB" altLang="en-US" dirty="0" smtClean="0">
                <a:solidFill>
                  <a:schemeClr val="bg1"/>
                </a:solidFill>
              </a:rPr>
              <a:t>Remember to record your results for each probe sheet administered on the summary sheet in your pack</a:t>
            </a:r>
            <a:r>
              <a:rPr lang="en-GB" altLang="en-US" dirty="0" smtClean="0">
                <a:solidFill>
                  <a:schemeClr val="bg1"/>
                </a:solidFill>
              </a:rPr>
              <a:t>.</a:t>
            </a:r>
            <a:endParaRPr lang="en-GB" altLang="en-US" dirty="0" smtClean="0">
              <a:solidFill>
                <a:schemeClr val="bg1"/>
              </a:solidFill>
            </a:endParaRP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88913"/>
            <a:ext cx="7772400" cy="1143000"/>
          </a:xfrm>
        </p:spPr>
        <p:txBody>
          <a:bodyPr>
            <a:normAutofit/>
          </a:bodyPr>
          <a:lstStyle/>
          <a:p>
            <a:pPr eaLnBrk="1" fontAlgn="auto" hangingPunct="1">
              <a:spcAft>
                <a:spcPts val="0"/>
              </a:spcAft>
              <a:defRPr/>
            </a:pPr>
            <a:r>
              <a:rPr lang="en-GB" altLang="en-US" sz="4000" b="1" dirty="0" smtClean="0">
                <a:solidFill>
                  <a:schemeClr val="bg1"/>
                </a:solidFill>
              </a:rPr>
              <a:t>Step 2</a:t>
            </a:r>
            <a:r>
              <a:rPr lang="en-GB" altLang="en-US" sz="4000" dirty="0" smtClean="0">
                <a:solidFill>
                  <a:schemeClr val="bg1"/>
                </a:solidFill>
              </a:rPr>
              <a:t> </a:t>
            </a:r>
            <a:r>
              <a:rPr lang="en-GB" altLang="en-US" sz="4000" b="1" dirty="0" smtClean="0">
                <a:solidFill>
                  <a:schemeClr val="bg1"/>
                </a:solidFill>
              </a:rPr>
              <a:t>-</a:t>
            </a:r>
            <a:r>
              <a:rPr lang="en-GB" altLang="en-US" sz="4000" dirty="0" smtClean="0">
                <a:solidFill>
                  <a:schemeClr val="bg1"/>
                </a:solidFill>
              </a:rPr>
              <a:t> Setting a Target</a:t>
            </a:r>
          </a:p>
        </p:txBody>
      </p:sp>
      <p:sp>
        <p:nvSpPr>
          <p:cNvPr id="12291" name="Content Placeholder 4"/>
          <p:cNvSpPr>
            <a:spLocks noGrp="1"/>
          </p:cNvSpPr>
          <p:nvPr>
            <p:ph idx="4294967295"/>
          </p:nvPr>
        </p:nvSpPr>
        <p:spPr>
          <a:xfrm>
            <a:off x="0" y="2133600"/>
            <a:ext cx="3527425" cy="3467100"/>
          </a:xfrm>
        </p:spPr>
        <p:txBody>
          <a:bodyPr/>
          <a:lstStyle/>
          <a:p>
            <a:pPr eaLnBrk="1" hangingPunct="1"/>
            <a:r>
              <a:rPr lang="en-GB" altLang="en-US" b="1" dirty="0" smtClean="0">
                <a:solidFill>
                  <a:schemeClr val="bg1"/>
                </a:solidFill>
              </a:rPr>
              <a:t>S</a:t>
            </a:r>
            <a:r>
              <a:rPr lang="en-GB" altLang="en-US" dirty="0" smtClean="0">
                <a:solidFill>
                  <a:schemeClr val="bg1"/>
                </a:solidFill>
              </a:rPr>
              <a:t>pecific</a:t>
            </a:r>
          </a:p>
          <a:p>
            <a:pPr eaLnBrk="1" hangingPunct="1"/>
            <a:r>
              <a:rPr lang="en-GB" altLang="en-US" b="1" dirty="0" smtClean="0">
                <a:solidFill>
                  <a:schemeClr val="bg1"/>
                </a:solidFill>
              </a:rPr>
              <a:t>M</a:t>
            </a:r>
            <a:r>
              <a:rPr lang="en-GB" altLang="en-US" dirty="0" smtClean="0">
                <a:solidFill>
                  <a:schemeClr val="bg1"/>
                </a:solidFill>
              </a:rPr>
              <a:t>easurable</a:t>
            </a:r>
          </a:p>
          <a:p>
            <a:pPr eaLnBrk="1" hangingPunct="1"/>
            <a:r>
              <a:rPr lang="en-GB" altLang="en-US" b="1" dirty="0" smtClean="0">
                <a:solidFill>
                  <a:schemeClr val="bg1"/>
                </a:solidFill>
              </a:rPr>
              <a:t>A</a:t>
            </a:r>
            <a:r>
              <a:rPr lang="en-GB" altLang="en-US" dirty="0" smtClean="0">
                <a:solidFill>
                  <a:schemeClr val="bg1"/>
                </a:solidFill>
              </a:rPr>
              <a:t>greed</a:t>
            </a:r>
          </a:p>
          <a:p>
            <a:pPr eaLnBrk="1" hangingPunct="1"/>
            <a:r>
              <a:rPr lang="en-GB" altLang="en-US" b="1" dirty="0" smtClean="0">
                <a:solidFill>
                  <a:schemeClr val="bg1"/>
                </a:solidFill>
              </a:rPr>
              <a:t>R</a:t>
            </a:r>
            <a:r>
              <a:rPr lang="en-GB" altLang="en-US" dirty="0" smtClean="0">
                <a:solidFill>
                  <a:schemeClr val="bg1"/>
                </a:solidFill>
              </a:rPr>
              <a:t>ealistic</a:t>
            </a:r>
          </a:p>
          <a:p>
            <a:pPr eaLnBrk="1" hangingPunct="1"/>
            <a:r>
              <a:rPr lang="en-GB" altLang="en-US" b="1" dirty="0" smtClean="0">
                <a:solidFill>
                  <a:schemeClr val="bg1"/>
                </a:solidFill>
              </a:rPr>
              <a:t>T</a:t>
            </a:r>
            <a:r>
              <a:rPr lang="en-GB" altLang="en-US" dirty="0" smtClean="0">
                <a:solidFill>
                  <a:schemeClr val="bg1"/>
                </a:solidFill>
              </a:rPr>
              <a:t>ime bound</a:t>
            </a:r>
          </a:p>
        </p:txBody>
      </p:sp>
      <p:grpSp>
        <p:nvGrpSpPr>
          <p:cNvPr id="12292" name="Group 4"/>
          <p:cNvGrpSpPr>
            <a:grpSpLocks noGrp="1"/>
          </p:cNvGrpSpPr>
          <p:nvPr/>
        </p:nvGrpSpPr>
        <p:grpSpPr bwMode="auto">
          <a:xfrm>
            <a:off x="4932363" y="1700213"/>
            <a:ext cx="3573462" cy="3536950"/>
            <a:chOff x="2304" y="858"/>
            <a:chExt cx="3024" cy="3181"/>
          </a:xfrm>
        </p:grpSpPr>
        <p:sp>
          <p:nvSpPr>
            <p:cNvPr id="12294" name="Oval 5"/>
            <p:cNvSpPr>
              <a:spLocks noChangeArrowheads="1"/>
            </p:cNvSpPr>
            <p:nvPr/>
          </p:nvSpPr>
          <p:spPr bwMode="auto">
            <a:xfrm>
              <a:off x="2304" y="912"/>
              <a:ext cx="3024" cy="3024"/>
            </a:xfrm>
            <a:prstGeom prst="ellipse">
              <a:avLst/>
            </a:prstGeom>
            <a:solidFill>
              <a:srgbClr val="66CCFF"/>
            </a:solidFill>
            <a:ln w="9525">
              <a:solidFill>
                <a:srgbClr val="66CCFF"/>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5" name="Oval 6"/>
            <p:cNvSpPr>
              <a:spLocks noChangeArrowheads="1"/>
            </p:cNvSpPr>
            <p:nvPr/>
          </p:nvSpPr>
          <p:spPr bwMode="auto">
            <a:xfrm>
              <a:off x="2832" y="1440"/>
              <a:ext cx="1968" cy="1968"/>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6" name="Oval 7"/>
            <p:cNvSpPr>
              <a:spLocks noChangeArrowheads="1"/>
            </p:cNvSpPr>
            <p:nvPr/>
          </p:nvSpPr>
          <p:spPr bwMode="auto">
            <a:xfrm>
              <a:off x="3360" y="1968"/>
              <a:ext cx="912" cy="912"/>
            </a:xfrm>
            <a:prstGeom prst="ellipse">
              <a:avLst/>
            </a:prstGeom>
            <a:solidFill>
              <a:schemeClr val="bg1"/>
            </a:solidFill>
            <a:ln w="9525">
              <a:solidFill>
                <a:schemeClr val="bg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7" name="Text Box 8"/>
            <p:cNvSpPr txBox="1">
              <a:spLocks noChangeArrowheads="1"/>
            </p:cNvSpPr>
            <p:nvPr/>
          </p:nvSpPr>
          <p:spPr bwMode="auto">
            <a:xfrm>
              <a:off x="3575" y="858"/>
              <a:ext cx="471"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S</a:t>
              </a:r>
            </a:p>
          </p:txBody>
        </p:sp>
        <p:sp>
          <p:nvSpPr>
            <p:cNvPr id="12298" name="Text Box 9"/>
            <p:cNvSpPr txBox="1">
              <a:spLocks noChangeArrowheads="1"/>
            </p:cNvSpPr>
            <p:nvPr/>
          </p:nvSpPr>
          <p:spPr bwMode="auto">
            <a:xfrm>
              <a:off x="3548" y="1386"/>
              <a:ext cx="549"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M</a:t>
              </a:r>
            </a:p>
          </p:txBody>
        </p:sp>
        <p:sp>
          <p:nvSpPr>
            <p:cNvPr id="12299" name="Text Box 10"/>
            <p:cNvSpPr txBox="1">
              <a:spLocks noChangeArrowheads="1"/>
            </p:cNvSpPr>
            <p:nvPr/>
          </p:nvSpPr>
          <p:spPr bwMode="auto">
            <a:xfrm>
              <a:off x="3575" y="2059"/>
              <a:ext cx="497"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A</a:t>
              </a:r>
            </a:p>
          </p:txBody>
        </p:sp>
        <p:sp>
          <p:nvSpPr>
            <p:cNvPr id="12300" name="Text Box 11"/>
            <p:cNvSpPr txBox="1">
              <a:spLocks noChangeArrowheads="1"/>
            </p:cNvSpPr>
            <p:nvPr/>
          </p:nvSpPr>
          <p:spPr bwMode="auto">
            <a:xfrm>
              <a:off x="3575" y="2778"/>
              <a:ext cx="497"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R</a:t>
              </a:r>
            </a:p>
          </p:txBody>
        </p:sp>
        <p:sp>
          <p:nvSpPr>
            <p:cNvPr id="12301" name="Text Box 12"/>
            <p:cNvSpPr txBox="1">
              <a:spLocks noChangeArrowheads="1"/>
            </p:cNvSpPr>
            <p:nvPr/>
          </p:nvSpPr>
          <p:spPr bwMode="auto">
            <a:xfrm>
              <a:off x="3603" y="3354"/>
              <a:ext cx="44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T</a:t>
              </a:r>
            </a:p>
          </p:txBody>
        </p:sp>
      </p:grpSp>
      <p:sp>
        <p:nvSpPr>
          <p:cNvPr id="12293" name="Text Placeholder 15"/>
          <p:cNvSpPr>
            <a:spLocks/>
          </p:cNvSpPr>
          <p:nvPr/>
        </p:nvSpPr>
        <p:spPr bwMode="auto">
          <a:xfrm>
            <a:off x="323850" y="1484313"/>
            <a:ext cx="4040188"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3200" b="1" dirty="0">
                <a:solidFill>
                  <a:schemeClr val="bg1"/>
                </a:solidFill>
                <a:latin typeface="Arial" pitchFamily="34" charset="0"/>
              </a:rPr>
              <a:t>SMART TARGETS</a:t>
            </a:r>
          </a:p>
        </p:txBody>
      </p:sp>
    </p:spTree>
    <p:extLst>
      <p:ext uri="{BB962C8B-B14F-4D97-AF65-F5344CB8AC3E}">
        <p14:creationId xmlns:p14="http://schemas.microsoft.com/office/powerpoint/2010/main" val="42594708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solidFill>
                  <a:schemeClr val="bg1"/>
                </a:solidFill>
              </a:rPr>
              <a:t>2. Targets</a:t>
            </a:r>
          </a:p>
        </p:txBody>
      </p:sp>
      <p:sp>
        <p:nvSpPr>
          <p:cNvPr id="13315" name="Content Placeholder 2"/>
          <p:cNvSpPr>
            <a:spLocks noGrp="1"/>
          </p:cNvSpPr>
          <p:nvPr>
            <p:ph idx="4294967295"/>
          </p:nvPr>
        </p:nvSpPr>
        <p:spPr>
          <a:xfrm>
            <a:off x="935038" y="1125538"/>
            <a:ext cx="8208962" cy="4967287"/>
          </a:xfrm>
        </p:spPr>
        <p:txBody>
          <a:bodyPr/>
          <a:lstStyle/>
          <a:p>
            <a:pPr eaLnBrk="1" hangingPunct="1">
              <a:buFontTx/>
              <a:buNone/>
            </a:pPr>
            <a:r>
              <a:rPr lang="en-GB" altLang="en-US" dirty="0" smtClean="0">
                <a:solidFill>
                  <a:schemeClr val="bg1"/>
                </a:solidFill>
              </a:rPr>
              <a:t>Target needs to contain three essential components:</a:t>
            </a:r>
          </a:p>
          <a:p>
            <a:pPr lvl="1" eaLnBrk="1" hangingPunct="1"/>
            <a:r>
              <a:rPr lang="en-GB" altLang="en-US" sz="2400" dirty="0" smtClean="0">
                <a:solidFill>
                  <a:schemeClr val="bg1"/>
                </a:solidFill>
              </a:rPr>
              <a:t>Observable verb  </a:t>
            </a:r>
          </a:p>
          <a:p>
            <a:pPr lvl="1" eaLnBrk="1" hangingPunct="1">
              <a:buFontTx/>
              <a:buNone/>
            </a:pPr>
            <a:r>
              <a:rPr lang="en-GB" altLang="en-US" sz="2400" dirty="0" smtClean="0">
                <a:solidFill>
                  <a:schemeClr val="bg1"/>
                </a:solidFill>
              </a:rPr>
              <a:t>(</a:t>
            </a:r>
            <a:r>
              <a:rPr lang="en-GB" altLang="en-US" sz="2400" dirty="0" err="1" smtClean="0">
                <a:solidFill>
                  <a:schemeClr val="bg1"/>
                </a:solidFill>
              </a:rPr>
              <a:t>ie</a:t>
            </a:r>
            <a:r>
              <a:rPr lang="en-GB" altLang="en-US" sz="2400" dirty="0" smtClean="0">
                <a:solidFill>
                  <a:schemeClr val="bg1"/>
                </a:solidFill>
              </a:rPr>
              <a:t>. what the child will do)</a:t>
            </a:r>
          </a:p>
          <a:p>
            <a:pPr lvl="1" eaLnBrk="1" hangingPunct="1">
              <a:buFontTx/>
              <a:buNone/>
            </a:pPr>
            <a:endParaRPr lang="en-GB" altLang="en-US" sz="2400" dirty="0" smtClean="0">
              <a:solidFill>
                <a:schemeClr val="bg1"/>
              </a:solidFill>
            </a:endParaRPr>
          </a:p>
          <a:p>
            <a:pPr lvl="1" eaLnBrk="1" hangingPunct="1"/>
            <a:r>
              <a:rPr lang="en-GB" altLang="en-US" sz="2400" dirty="0" smtClean="0">
                <a:solidFill>
                  <a:schemeClr val="bg1"/>
                </a:solidFill>
              </a:rPr>
              <a:t>Conditions </a:t>
            </a:r>
          </a:p>
          <a:p>
            <a:pPr lvl="1" eaLnBrk="1" hangingPunct="1">
              <a:buFontTx/>
              <a:buNone/>
            </a:pPr>
            <a:r>
              <a:rPr lang="en-GB" altLang="en-US" sz="2400" dirty="0" smtClean="0">
                <a:solidFill>
                  <a:schemeClr val="bg1"/>
                </a:solidFill>
              </a:rPr>
              <a:t>(e.g. teaching materials or teacher instructions)</a:t>
            </a:r>
          </a:p>
          <a:p>
            <a:pPr lvl="1" eaLnBrk="1" hangingPunct="1">
              <a:buFontTx/>
              <a:buNone/>
            </a:pPr>
            <a:endParaRPr lang="en-GB" altLang="en-US" sz="2400" dirty="0" smtClean="0">
              <a:solidFill>
                <a:schemeClr val="bg1"/>
              </a:solidFill>
            </a:endParaRPr>
          </a:p>
          <a:p>
            <a:pPr lvl="1" eaLnBrk="1" hangingPunct="1"/>
            <a:r>
              <a:rPr lang="en-GB" altLang="en-US" sz="2400" dirty="0" smtClean="0">
                <a:solidFill>
                  <a:schemeClr val="bg1"/>
                </a:solidFill>
              </a:rPr>
              <a:t>Criterion </a:t>
            </a:r>
          </a:p>
          <a:p>
            <a:pPr lvl="1" eaLnBrk="1" hangingPunct="1">
              <a:buFontTx/>
              <a:buNone/>
            </a:pPr>
            <a:r>
              <a:rPr lang="en-GB" altLang="en-US" sz="2400" dirty="0" smtClean="0">
                <a:solidFill>
                  <a:schemeClr val="bg1"/>
                </a:solidFill>
              </a:rPr>
              <a:t>(success criteria – how will we know it’s been successful?)</a:t>
            </a:r>
          </a:p>
        </p:txBody>
      </p:sp>
    </p:spTree>
    <p:extLst>
      <p:ext uri="{BB962C8B-B14F-4D97-AF65-F5344CB8AC3E}">
        <p14:creationId xmlns:p14="http://schemas.microsoft.com/office/powerpoint/2010/main" val="33819225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solidFill>
                  <a:schemeClr val="bg1"/>
                </a:solidFill>
              </a:rPr>
              <a:t>2. Targets</a:t>
            </a:r>
          </a:p>
        </p:txBody>
      </p:sp>
      <p:sp>
        <p:nvSpPr>
          <p:cNvPr id="14339" name="Rectangle 3"/>
          <p:cNvSpPr>
            <a:spLocks noGrp="1" noChangeArrowheads="1"/>
          </p:cNvSpPr>
          <p:nvPr>
            <p:ph idx="4294967295"/>
          </p:nvPr>
        </p:nvSpPr>
        <p:spPr>
          <a:xfrm>
            <a:off x="0" y="1628775"/>
            <a:ext cx="7772400" cy="4114800"/>
          </a:xfrm>
        </p:spPr>
        <p:txBody>
          <a:bodyPr/>
          <a:lstStyle/>
          <a:p>
            <a:pPr eaLnBrk="1" hangingPunct="1">
              <a:buFontTx/>
              <a:buNone/>
            </a:pPr>
            <a:r>
              <a:rPr lang="en-GB" altLang="en-US" sz="2800" dirty="0" smtClean="0">
                <a:solidFill>
                  <a:schemeClr val="bg1"/>
                </a:solidFill>
              </a:rPr>
              <a:t>E.g.</a:t>
            </a:r>
          </a:p>
          <a:p>
            <a:pPr eaLnBrk="1" hangingPunct="1">
              <a:buFontTx/>
              <a:buNone/>
            </a:pPr>
            <a:r>
              <a:rPr lang="en-GB" altLang="en-US" sz="2800" dirty="0" smtClean="0">
                <a:solidFill>
                  <a:schemeClr val="bg1"/>
                </a:solidFill>
              </a:rPr>
              <a:t>“Scott will read aloud </a:t>
            </a:r>
            <a:r>
              <a:rPr lang="en-GB" altLang="en-US" sz="2800" i="1" dirty="0" smtClean="0">
                <a:solidFill>
                  <a:schemeClr val="bg1"/>
                </a:solidFill>
              </a:rPr>
              <a:t>(observable verb)</a:t>
            </a:r>
            <a:r>
              <a:rPr lang="en-GB" altLang="en-US" sz="2800" dirty="0" smtClean="0">
                <a:solidFill>
                  <a:schemeClr val="bg1"/>
                </a:solidFill>
              </a:rPr>
              <a:t> 50 words per minute with no more than 2 errors </a:t>
            </a:r>
            <a:r>
              <a:rPr lang="en-GB" altLang="en-US" sz="2800" i="1" dirty="0" smtClean="0">
                <a:solidFill>
                  <a:schemeClr val="bg1"/>
                </a:solidFill>
              </a:rPr>
              <a:t>(conditions)</a:t>
            </a:r>
            <a:r>
              <a:rPr lang="en-GB" altLang="en-US" sz="2800" dirty="0" smtClean="0">
                <a:solidFill>
                  <a:schemeClr val="bg1"/>
                </a:solidFill>
              </a:rPr>
              <a:t> on three consecutive days </a:t>
            </a:r>
            <a:r>
              <a:rPr lang="en-GB" altLang="en-US" sz="2800" i="1" dirty="0" smtClean="0">
                <a:solidFill>
                  <a:schemeClr val="bg1"/>
                </a:solidFill>
              </a:rPr>
              <a:t>(criterion).</a:t>
            </a:r>
            <a:r>
              <a:rPr lang="en-GB" altLang="en-US" sz="2800" dirty="0" smtClean="0">
                <a:solidFill>
                  <a:schemeClr val="bg1"/>
                </a:solidFill>
              </a:rPr>
              <a:t>”</a:t>
            </a:r>
          </a:p>
          <a:p>
            <a:pPr eaLnBrk="1" hangingPunct="1">
              <a:buFontTx/>
              <a:buNone/>
            </a:pPr>
            <a:endParaRPr lang="en-GB" altLang="en-US" sz="1800" dirty="0" smtClean="0"/>
          </a:p>
        </p:txBody>
      </p:sp>
    </p:spTree>
    <p:extLst>
      <p:ext uri="{BB962C8B-B14F-4D97-AF65-F5344CB8AC3E}">
        <p14:creationId xmlns:p14="http://schemas.microsoft.com/office/powerpoint/2010/main" val="2191563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176213"/>
            <a:ext cx="8353425" cy="1143000"/>
          </a:xfrm>
        </p:spPr>
        <p:txBody>
          <a:bodyPr/>
          <a:lstStyle/>
          <a:p>
            <a:pPr algn="ctr" eaLnBrk="1" fontAlgn="auto" hangingPunct="1">
              <a:spcAft>
                <a:spcPts val="0"/>
              </a:spcAft>
              <a:defRPr/>
            </a:pPr>
            <a:r>
              <a:rPr lang="en-GB" altLang="en-US" sz="3200" b="1" dirty="0" smtClean="0">
                <a:solidFill>
                  <a:schemeClr val="bg1"/>
                </a:solidFill>
              </a:rPr>
              <a:t>Step 3-</a:t>
            </a:r>
            <a:r>
              <a:rPr lang="en-GB" altLang="en-US" sz="3200" dirty="0" smtClean="0">
                <a:solidFill>
                  <a:schemeClr val="bg1"/>
                </a:solidFill>
              </a:rPr>
              <a:t> Teaching </a:t>
            </a:r>
            <a:br>
              <a:rPr lang="en-GB" altLang="en-US" sz="3200" dirty="0" smtClean="0">
                <a:solidFill>
                  <a:schemeClr val="bg1"/>
                </a:solidFill>
              </a:rPr>
            </a:br>
            <a:r>
              <a:rPr lang="en-GB" altLang="en-US" sz="3200" dirty="0" smtClean="0">
                <a:solidFill>
                  <a:schemeClr val="bg1"/>
                </a:solidFill>
              </a:rPr>
              <a:t>(Up to 10 mins per day)</a:t>
            </a:r>
          </a:p>
        </p:txBody>
      </p:sp>
      <p:sp>
        <p:nvSpPr>
          <p:cNvPr id="16387" name="Rectangle 3"/>
          <p:cNvSpPr>
            <a:spLocks noGrp="1" noChangeArrowheads="1"/>
          </p:cNvSpPr>
          <p:nvPr>
            <p:ph idx="4294967295"/>
          </p:nvPr>
        </p:nvSpPr>
        <p:spPr>
          <a:xfrm>
            <a:off x="0" y="1482499"/>
            <a:ext cx="8496300" cy="4114800"/>
          </a:xfrm>
        </p:spPr>
        <p:txBody>
          <a:bodyPr/>
          <a:lstStyle/>
          <a:p>
            <a:pPr marL="457200" indent="-457200" eaLnBrk="1" hangingPunct="1">
              <a:lnSpc>
                <a:spcPct val="80000"/>
              </a:lnSpc>
              <a:buFont typeface="+mj-lt"/>
              <a:buAutoNum type="arabicPeriod"/>
            </a:pPr>
            <a:r>
              <a:rPr lang="en-GB" altLang="en-US" dirty="0" smtClean="0">
                <a:solidFill>
                  <a:schemeClr val="bg1"/>
                </a:solidFill>
              </a:rPr>
              <a:t>Choose up to three words the child struggled with from your baseline assessment (NB: the number of words chosen to focus on may vary according to child’s difficulties).</a:t>
            </a:r>
          </a:p>
          <a:p>
            <a:pPr marL="457200" indent="-457200" eaLnBrk="1" hangingPunct="1">
              <a:lnSpc>
                <a:spcPct val="80000"/>
              </a:lnSpc>
              <a:buFont typeface="+mj-lt"/>
              <a:buAutoNum type="arabicPeriod"/>
            </a:pPr>
            <a:endParaRPr lang="en-GB" altLang="en-US" dirty="0" smtClean="0">
              <a:solidFill>
                <a:schemeClr val="bg1"/>
              </a:solidFill>
            </a:endParaRPr>
          </a:p>
          <a:p>
            <a:pPr marL="457200" indent="-457200" eaLnBrk="1" hangingPunct="1">
              <a:lnSpc>
                <a:spcPct val="80000"/>
              </a:lnSpc>
              <a:buFont typeface="+mj-lt"/>
              <a:buAutoNum type="arabicPeriod"/>
            </a:pPr>
            <a:r>
              <a:rPr lang="en-GB" altLang="en-US" dirty="0" smtClean="0">
                <a:solidFill>
                  <a:schemeClr val="bg1"/>
                </a:solidFill>
              </a:rPr>
              <a:t> Introduce the target words to child.</a:t>
            </a:r>
          </a:p>
          <a:p>
            <a:pPr marL="457200" indent="-457200" eaLnBrk="1" hangingPunct="1">
              <a:lnSpc>
                <a:spcPct val="80000"/>
              </a:lnSpc>
              <a:buFont typeface="+mj-lt"/>
              <a:buAutoNum type="arabicPeriod"/>
            </a:pPr>
            <a:endParaRPr lang="en-GB" altLang="en-US" dirty="0" smtClean="0">
              <a:solidFill>
                <a:schemeClr val="bg1"/>
              </a:solidFill>
            </a:endParaRPr>
          </a:p>
          <a:p>
            <a:pPr marL="457200" indent="-457200" eaLnBrk="1" hangingPunct="1">
              <a:lnSpc>
                <a:spcPct val="80000"/>
              </a:lnSpc>
              <a:buFont typeface="+mj-lt"/>
              <a:buAutoNum type="arabicPeriod"/>
            </a:pPr>
            <a:r>
              <a:rPr lang="en-GB" altLang="en-US" dirty="0" smtClean="0">
                <a:solidFill>
                  <a:schemeClr val="bg1"/>
                </a:solidFill>
              </a:rPr>
              <a:t>Use teaching strategies which will increase opportunities for child to recognise the words</a:t>
            </a:r>
            <a:r>
              <a:rPr lang="en-GB" altLang="en-US" dirty="0" smtClean="0"/>
              <a:t>.</a:t>
            </a:r>
          </a:p>
        </p:txBody>
      </p:sp>
    </p:spTree>
    <p:extLst>
      <p:ext uri="{BB962C8B-B14F-4D97-AF65-F5344CB8AC3E}">
        <p14:creationId xmlns:p14="http://schemas.microsoft.com/office/powerpoint/2010/main" val="17428517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0" y="31750"/>
            <a:ext cx="7772400" cy="927100"/>
          </a:xfrm>
        </p:spPr>
        <p:txBody>
          <a:bodyPr/>
          <a:lstStyle/>
          <a:p>
            <a:pPr algn="ctr" eaLnBrk="1" fontAlgn="auto" hangingPunct="1">
              <a:spcAft>
                <a:spcPts val="0"/>
              </a:spcAft>
              <a:defRPr/>
            </a:pPr>
            <a:r>
              <a:rPr lang="en-GB" altLang="en-US" sz="3200" dirty="0" smtClean="0">
                <a:solidFill>
                  <a:schemeClr val="bg1"/>
                </a:solidFill>
              </a:rPr>
              <a:t>3. Teaching methods</a:t>
            </a:r>
          </a:p>
        </p:txBody>
      </p:sp>
      <p:sp>
        <p:nvSpPr>
          <p:cNvPr id="17411" name="Rectangle 3"/>
          <p:cNvSpPr>
            <a:spLocks noChangeArrowheads="1"/>
          </p:cNvSpPr>
          <p:nvPr/>
        </p:nvSpPr>
        <p:spPr bwMode="auto">
          <a:xfrm>
            <a:off x="0" y="3222845"/>
            <a:ext cx="8820150"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80000"/>
              </a:lnSpc>
              <a:buClrTx/>
              <a:buFontTx/>
              <a:buChar char="•"/>
            </a:pPr>
            <a:r>
              <a:rPr lang="en-GB" altLang="en-US" sz="1800" dirty="0">
                <a:solidFill>
                  <a:schemeClr val="bg1"/>
                </a:solidFill>
                <a:latin typeface="Arial" pitchFamily="34" charset="0"/>
              </a:rPr>
              <a:t>Use the model-lead-test sequence with each sight word in turn</a:t>
            </a:r>
          </a:p>
          <a:p>
            <a:pPr algn="l" eaLnBrk="1" hangingPunct="1">
              <a:lnSpc>
                <a:spcPct val="80000"/>
              </a:lnSpc>
              <a:buClrTx/>
              <a:buFontTx/>
              <a:buChar char="•"/>
            </a:pPr>
            <a:r>
              <a:rPr lang="en-GB" altLang="en-US" sz="1800" dirty="0">
                <a:solidFill>
                  <a:schemeClr val="bg1"/>
                </a:solidFill>
                <a:latin typeface="Arial" pitchFamily="34" charset="0"/>
              </a:rPr>
              <a:t>Alter the sequence and continue until each word has been repeated 3-5 times</a:t>
            </a:r>
          </a:p>
          <a:p>
            <a:pPr algn="l" eaLnBrk="1" hangingPunct="1">
              <a:lnSpc>
                <a:spcPct val="80000"/>
              </a:lnSpc>
              <a:buClrTx/>
              <a:buFontTx/>
              <a:buChar char="•"/>
            </a:pPr>
            <a:r>
              <a:rPr lang="en-GB" altLang="en-US" sz="1800" dirty="0">
                <a:solidFill>
                  <a:schemeClr val="bg1"/>
                </a:solidFill>
                <a:latin typeface="Arial" pitchFamily="34" charset="0"/>
              </a:rPr>
              <a:t>Explain to the pupil that they are going to try the sight words alone- but they may have help if they want it</a:t>
            </a:r>
          </a:p>
          <a:p>
            <a:pPr algn="l" eaLnBrk="1" hangingPunct="1">
              <a:lnSpc>
                <a:spcPct val="80000"/>
              </a:lnSpc>
              <a:buClrTx/>
              <a:buFontTx/>
              <a:buChar char="•"/>
            </a:pPr>
            <a:r>
              <a:rPr lang="en-GB" altLang="en-US" sz="1800" dirty="0">
                <a:solidFill>
                  <a:schemeClr val="bg1"/>
                </a:solidFill>
                <a:latin typeface="Arial" pitchFamily="34" charset="0"/>
              </a:rPr>
              <a:t>The pupil tries the words alone – praise correct answers.  If the word is incorrect or if the pupil hesitates more than 2 seconds use the correction procedure:</a:t>
            </a:r>
          </a:p>
          <a:p>
            <a:pPr algn="l" eaLnBrk="1" hangingPunct="1">
              <a:lnSpc>
                <a:spcPct val="80000"/>
              </a:lnSpc>
              <a:buClrTx/>
              <a:buFontTx/>
              <a:buNone/>
            </a:pPr>
            <a:endParaRPr lang="en-GB" altLang="en-US" sz="1800" dirty="0">
              <a:solidFill>
                <a:schemeClr val="bg1"/>
              </a:solidFill>
              <a:latin typeface="Arial" pitchFamily="34" charset="0"/>
            </a:endParaRPr>
          </a:p>
          <a:p>
            <a:pPr algn="l" eaLnBrk="1" hangingPunct="1">
              <a:lnSpc>
                <a:spcPct val="80000"/>
              </a:lnSpc>
              <a:buClrTx/>
              <a:buFontTx/>
              <a:buNone/>
            </a:pPr>
            <a:r>
              <a:rPr lang="en-GB" altLang="en-US" sz="1800" dirty="0">
                <a:solidFill>
                  <a:schemeClr val="bg1"/>
                </a:solidFill>
                <a:latin typeface="Arial" pitchFamily="34" charset="0"/>
              </a:rPr>
              <a:t>				Model (adult) “this word says…”</a:t>
            </a:r>
          </a:p>
          <a:p>
            <a:pPr algn="l" eaLnBrk="1" hangingPunct="1">
              <a:lnSpc>
                <a:spcPct val="80000"/>
              </a:lnSpc>
              <a:buClrTx/>
              <a:buFontTx/>
              <a:buNone/>
            </a:pPr>
            <a:r>
              <a:rPr lang="en-GB" altLang="en-US" sz="1800" dirty="0">
                <a:solidFill>
                  <a:schemeClr val="bg1"/>
                </a:solidFill>
                <a:latin typeface="Arial" pitchFamily="34" charset="0"/>
              </a:rPr>
              <a:t>				Test (child) “now you say it”… or “what word?”</a:t>
            </a:r>
          </a:p>
        </p:txBody>
      </p:sp>
      <p:sp>
        <p:nvSpPr>
          <p:cNvPr id="17412" name="Text Box 4"/>
          <p:cNvSpPr txBox="1">
            <a:spLocks noChangeArrowheads="1"/>
          </p:cNvSpPr>
          <p:nvPr/>
        </p:nvSpPr>
        <p:spPr bwMode="auto">
          <a:xfrm>
            <a:off x="2432050" y="1357304"/>
            <a:ext cx="5545138" cy="1635125"/>
          </a:xfrm>
          <a:prstGeom prst="rect">
            <a:avLst/>
          </a:prstGeom>
          <a:noFill/>
          <a:ln w="19050">
            <a:solidFill>
              <a:srgbClr val="9E0B0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dirty="0">
                <a:solidFill>
                  <a:schemeClr val="bg1"/>
                </a:solidFill>
                <a:latin typeface="Arial" pitchFamily="34" charset="0"/>
              </a:rPr>
              <a:t>Model (adult) – “this word says…”</a:t>
            </a:r>
          </a:p>
          <a:p>
            <a:pPr eaLnBrk="1" hangingPunct="1"/>
            <a:endParaRPr lang="en-GB" altLang="en-US" sz="2000" dirty="0">
              <a:solidFill>
                <a:schemeClr val="bg1"/>
              </a:solidFill>
              <a:latin typeface="Arial" pitchFamily="34" charset="0"/>
            </a:endParaRPr>
          </a:p>
          <a:p>
            <a:pPr eaLnBrk="1" hangingPunct="1"/>
            <a:r>
              <a:rPr lang="en-GB" altLang="en-US" sz="2000" dirty="0">
                <a:solidFill>
                  <a:schemeClr val="bg1"/>
                </a:solidFill>
                <a:latin typeface="Arial" pitchFamily="34" charset="0"/>
              </a:rPr>
              <a:t>Lead (together) – “say it with me”</a:t>
            </a:r>
          </a:p>
          <a:p>
            <a:pPr eaLnBrk="1" hangingPunct="1"/>
            <a:endParaRPr lang="en-GB" altLang="en-US" sz="2000" dirty="0">
              <a:solidFill>
                <a:schemeClr val="bg1"/>
              </a:solidFill>
              <a:latin typeface="Arial" pitchFamily="34" charset="0"/>
            </a:endParaRPr>
          </a:p>
          <a:p>
            <a:pPr eaLnBrk="1" hangingPunct="1"/>
            <a:r>
              <a:rPr lang="en-GB" altLang="en-US" sz="2000" dirty="0">
                <a:solidFill>
                  <a:schemeClr val="bg1"/>
                </a:solidFill>
                <a:latin typeface="Arial" pitchFamily="34" charset="0"/>
              </a:rPr>
              <a:t>Test (child) – “you say it”… or “what word?”</a:t>
            </a:r>
            <a:endParaRPr lang="en-GB" altLang="en-US" sz="2000" b="1" dirty="0">
              <a:solidFill>
                <a:schemeClr val="bg1"/>
              </a:solidFill>
              <a:latin typeface="Arial" pitchFamily="34" charset="0"/>
            </a:endParaRPr>
          </a:p>
        </p:txBody>
      </p:sp>
      <p:sp>
        <p:nvSpPr>
          <p:cNvPr id="17413" name="Text Box 5"/>
          <p:cNvSpPr txBox="1">
            <a:spLocks noChangeArrowheads="1"/>
          </p:cNvSpPr>
          <p:nvPr/>
        </p:nvSpPr>
        <p:spPr bwMode="auto">
          <a:xfrm>
            <a:off x="415925" y="876517"/>
            <a:ext cx="3313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20000"/>
              </a:spcBef>
            </a:pPr>
            <a:r>
              <a:rPr lang="en-GB" altLang="en-US" sz="2000" b="1" dirty="0">
                <a:solidFill>
                  <a:schemeClr val="bg1"/>
                </a:solidFill>
                <a:latin typeface="Arial" pitchFamily="34" charset="0"/>
              </a:rPr>
              <a:t>E.g. Direct Instruction</a:t>
            </a:r>
          </a:p>
        </p:txBody>
      </p:sp>
    </p:spTree>
    <p:extLst>
      <p:ext uri="{BB962C8B-B14F-4D97-AF65-F5344CB8AC3E}">
        <p14:creationId xmlns:p14="http://schemas.microsoft.com/office/powerpoint/2010/main" val="42079543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1371600" y="549275"/>
            <a:ext cx="7772400" cy="1008063"/>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Points to remember</a:t>
            </a:r>
          </a:p>
        </p:txBody>
      </p:sp>
      <p:sp>
        <p:nvSpPr>
          <p:cNvPr id="19459" name="Rectangle 3"/>
          <p:cNvSpPr>
            <a:spLocks noGrp="1" noChangeArrowheads="1"/>
          </p:cNvSpPr>
          <p:nvPr>
            <p:ph type="body" idx="4294967295"/>
          </p:nvPr>
        </p:nvSpPr>
        <p:spPr>
          <a:xfrm>
            <a:off x="0" y="1773238"/>
            <a:ext cx="7772400" cy="4114800"/>
          </a:xfrm>
        </p:spPr>
        <p:txBody>
          <a:bodyPr/>
          <a:lstStyle/>
          <a:p>
            <a:r>
              <a:rPr lang="en-GB" altLang="en-US" sz="2800" dirty="0" smtClean="0">
                <a:solidFill>
                  <a:schemeClr val="bg1"/>
                </a:solidFill>
                <a:latin typeface="Arial" pitchFamily="34" charset="0"/>
                <a:cs typeface="Arial" pitchFamily="34" charset="0"/>
              </a:rPr>
              <a:t>Make sure the pace is good- keep things flowing</a:t>
            </a:r>
          </a:p>
          <a:p>
            <a:r>
              <a:rPr lang="en-GB" altLang="en-US" sz="2800" dirty="0" smtClean="0">
                <a:solidFill>
                  <a:schemeClr val="bg1"/>
                </a:solidFill>
                <a:latin typeface="Arial" pitchFamily="34" charset="0"/>
                <a:cs typeface="Arial" pitchFamily="34" charset="0"/>
              </a:rPr>
              <a:t>Include pointing, to signal the pupil’s turn</a:t>
            </a:r>
          </a:p>
          <a:p>
            <a:r>
              <a:rPr lang="en-GB" altLang="en-US" sz="2800" dirty="0" smtClean="0">
                <a:solidFill>
                  <a:schemeClr val="bg1"/>
                </a:solidFill>
                <a:latin typeface="Arial" pitchFamily="34" charset="0"/>
                <a:cs typeface="Arial" pitchFamily="34" charset="0"/>
              </a:rPr>
              <a:t>Include intonation</a:t>
            </a:r>
          </a:p>
          <a:p>
            <a:r>
              <a:rPr lang="en-GB" altLang="en-US" sz="2800" dirty="0" smtClean="0">
                <a:solidFill>
                  <a:schemeClr val="bg1"/>
                </a:solidFill>
                <a:latin typeface="Arial" pitchFamily="34" charset="0"/>
                <a:cs typeface="Arial" pitchFamily="34" charset="0"/>
              </a:rPr>
              <a:t>Praise must be immediate, specific, positive</a:t>
            </a:r>
          </a:p>
          <a:p>
            <a:r>
              <a:rPr lang="en-GB" altLang="en-US" sz="2800" dirty="0" smtClean="0">
                <a:solidFill>
                  <a:schemeClr val="bg1"/>
                </a:solidFill>
                <a:latin typeface="Arial" pitchFamily="34" charset="0"/>
                <a:cs typeface="Arial" pitchFamily="34" charset="0"/>
              </a:rPr>
              <a:t>Avoid word-building- just give the sight word</a:t>
            </a:r>
          </a:p>
        </p:txBody>
      </p:sp>
    </p:spTree>
    <p:extLst>
      <p:ext uri="{BB962C8B-B14F-4D97-AF65-F5344CB8AC3E}">
        <p14:creationId xmlns:p14="http://schemas.microsoft.com/office/powerpoint/2010/main" val="2437807017"/>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b="1" dirty="0" smtClean="0">
                <a:solidFill>
                  <a:schemeClr val="bg1"/>
                </a:solidFill>
              </a:rPr>
              <a:t>Step 4 –</a:t>
            </a:r>
            <a:r>
              <a:rPr lang="en-GB" altLang="en-US" sz="3200" dirty="0" smtClean="0">
                <a:solidFill>
                  <a:schemeClr val="bg1"/>
                </a:solidFill>
              </a:rPr>
              <a:t> Monitoring Performance</a:t>
            </a:r>
          </a:p>
        </p:txBody>
      </p:sp>
      <p:sp>
        <p:nvSpPr>
          <p:cNvPr id="21507" name="Rectangle 3"/>
          <p:cNvSpPr>
            <a:spLocks noGrp="1" noChangeArrowheads="1"/>
          </p:cNvSpPr>
          <p:nvPr>
            <p:ph idx="4294967295"/>
          </p:nvPr>
        </p:nvSpPr>
        <p:spPr>
          <a:xfrm>
            <a:off x="0" y="1628775"/>
            <a:ext cx="7632700" cy="4968875"/>
          </a:xfrm>
        </p:spPr>
        <p:txBody>
          <a:bodyPr/>
          <a:lstStyle/>
          <a:p>
            <a:pPr eaLnBrk="1" hangingPunct="1"/>
            <a:r>
              <a:rPr lang="en-GB" altLang="en-US" dirty="0" smtClean="0">
                <a:solidFill>
                  <a:schemeClr val="bg1"/>
                </a:solidFill>
              </a:rPr>
              <a:t>Using a Probe sheet</a:t>
            </a:r>
          </a:p>
          <a:p>
            <a:pPr eaLnBrk="1" hangingPunct="1"/>
            <a:endParaRPr lang="en-GB" altLang="en-US" dirty="0" smtClean="0">
              <a:solidFill>
                <a:schemeClr val="bg1"/>
              </a:solidFill>
            </a:endParaRPr>
          </a:p>
        </p:txBody>
      </p:sp>
    </p:spTree>
    <p:extLst>
      <p:ext uri="{BB962C8B-B14F-4D97-AF65-F5344CB8AC3E}">
        <p14:creationId xmlns:p14="http://schemas.microsoft.com/office/powerpoint/2010/main" val="33891759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2057400" y="1052513"/>
            <a:ext cx="7086600" cy="731837"/>
          </a:xfrm>
        </p:spPr>
        <p:txBody>
          <a:bodyPr rIns="31750" anchor="b">
            <a:normAutofit fontScale="90000"/>
          </a:bodyPr>
          <a:lstStyle/>
          <a:p>
            <a:pPr indent="0" algn="l" eaLnBrk="1" hangingPunct="1"/>
            <a:r>
              <a:rPr lang="en-US" altLang="en-US" u="sng" dirty="0" smtClean="0"/>
              <a:t>PT Probe Generator</a:t>
            </a:r>
          </a:p>
        </p:txBody>
      </p:sp>
      <p:sp>
        <p:nvSpPr>
          <p:cNvPr id="20483" name="Rectangle 2"/>
          <p:cNvSpPr>
            <a:spLocks noGrp="1" noChangeArrowheads="1"/>
          </p:cNvSpPr>
          <p:nvPr>
            <p:ph type="body" idx="4294967295"/>
          </p:nvPr>
        </p:nvSpPr>
        <p:spPr>
          <a:xfrm>
            <a:off x="1727200" y="1268413"/>
            <a:ext cx="7416800" cy="4525962"/>
          </a:xfrm>
        </p:spPr>
        <p:txBody>
          <a:bodyPr rIns="31750"/>
          <a:lstStyle/>
          <a:p>
            <a:pPr marL="423863" indent="-384175" eaLnBrk="1" hangingPunct="1"/>
            <a:endParaRPr lang="en-US" altLang="en-US" dirty="0" smtClean="0">
              <a:solidFill>
                <a:schemeClr val="bg1"/>
              </a:solidFill>
            </a:endParaRPr>
          </a:p>
          <a:p>
            <a:pPr marL="423863" indent="-384175" eaLnBrk="1" hangingPunct="1"/>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r>
              <a:rPr lang="en-US" altLang="en-US" dirty="0">
                <a:solidFill>
                  <a:schemeClr val="bg1"/>
                </a:solidFill>
                <a:hlinkClick r:id="rId3"/>
              </a:rPr>
              <a:t>http://</a:t>
            </a:r>
            <a:r>
              <a:rPr lang="en-US" altLang="en-US" dirty="0" smtClean="0">
                <a:solidFill>
                  <a:schemeClr val="bg1"/>
                </a:solidFill>
                <a:hlinkClick r:id="rId3"/>
              </a:rPr>
              <a:t>johnandgwyn.co.uk/probe.html</a:t>
            </a:r>
            <a:endParaRPr lang="en-US" altLang="en-US" dirty="0" smtClean="0">
              <a:solidFill>
                <a:schemeClr val="bg1"/>
              </a:solidFill>
            </a:endParaRPr>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endParaRPr lang="en-US" altLang="en-US" dirty="0" smtClean="0"/>
          </a:p>
        </p:txBody>
      </p:sp>
    </p:spTree>
    <p:extLst>
      <p:ext uri="{BB962C8B-B14F-4D97-AF65-F5344CB8AC3E}">
        <p14:creationId xmlns:p14="http://schemas.microsoft.com/office/powerpoint/2010/main" val="218774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260350"/>
            <a:ext cx="7772400" cy="947738"/>
          </a:xfrm>
        </p:spPr>
        <p:txBody>
          <a:bodyPr/>
          <a:lstStyle/>
          <a:p>
            <a:pPr algn="ctr" eaLnBrk="1" fontAlgn="auto" hangingPunct="1">
              <a:spcAft>
                <a:spcPts val="0"/>
              </a:spcAft>
              <a:defRPr/>
            </a:pPr>
            <a:r>
              <a:rPr lang="en-GB" altLang="en-US" sz="4000" b="1" dirty="0" smtClean="0">
                <a:solidFill>
                  <a:schemeClr val="bg1"/>
                </a:solidFill>
              </a:rPr>
              <a:t>Step 5-</a:t>
            </a:r>
            <a:r>
              <a:rPr lang="en-GB" altLang="en-US" sz="4000" dirty="0" smtClean="0">
                <a:solidFill>
                  <a:schemeClr val="bg1"/>
                </a:solidFill>
              </a:rPr>
              <a:t> Chart Results</a:t>
            </a:r>
          </a:p>
        </p:txBody>
      </p:sp>
      <p:sp>
        <p:nvSpPr>
          <p:cNvPr id="24579" name="Rectangle 3"/>
          <p:cNvSpPr>
            <a:spLocks noGrp="1" noChangeArrowheads="1"/>
          </p:cNvSpPr>
          <p:nvPr>
            <p:ph idx="4294967295"/>
          </p:nvPr>
        </p:nvSpPr>
        <p:spPr>
          <a:xfrm>
            <a:off x="0" y="1268413"/>
            <a:ext cx="8642350" cy="4895850"/>
          </a:xfrm>
        </p:spPr>
        <p:txBody>
          <a:bodyPr/>
          <a:lstStyle/>
          <a:p>
            <a:pPr eaLnBrk="1" hangingPunct="1">
              <a:lnSpc>
                <a:spcPct val="80000"/>
              </a:lnSpc>
            </a:pPr>
            <a:r>
              <a:rPr lang="en-GB" altLang="en-US" sz="2800" dirty="0" smtClean="0">
                <a:solidFill>
                  <a:schemeClr val="bg1"/>
                </a:solidFill>
              </a:rPr>
              <a:t>Chart results with the child – helps to motivate the child &amp; increase confidence.</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Helps teacher to see which teaching methods are most effective for particular pupil (record on chart).</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Record any changes made to task.</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Record the number of correct AND incorrect words.</a:t>
            </a:r>
          </a:p>
          <a:p>
            <a:pPr eaLnBrk="1" hangingPunct="1">
              <a:lnSpc>
                <a:spcPct val="80000"/>
              </a:lnSpc>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If you are unable to do the probe on a particular day, that line is left blank.</a:t>
            </a:r>
          </a:p>
        </p:txBody>
      </p:sp>
    </p:spTree>
    <p:extLst>
      <p:ext uri="{BB962C8B-B14F-4D97-AF65-F5344CB8AC3E}">
        <p14:creationId xmlns:p14="http://schemas.microsoft.com/office/powerpoint/2010/main" val="10398336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188913"/>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5. Ratio charts </a:t>
            </a:r>
          </a:p>
        </p:txBody>
      </p:sp>
      <p:sp>
        <p:nvSpPr>
          <p:cNvPr id="27651" name="Rectangle 3"/>
          <p:cNvSpPr>
            <a:spLocks noGrp="1" noChangeArrowheads="1"/>
          </p:cNvSpPr>
          <p:nvPr>
            <p:ph idx="4294967295"/>
          </p:nvPr>
        </p:nvSpPr>
        <p:spPr>
          <a:xfrm>
            <a:off x="719138" y="1412875"/>
            <a:ext cx="8424862" cy="4475163"/>
          </a:xfrm>
        </p:spPr>
        <p:txBody>
          <a:bodyPr rtlCol="0">
            <a:normAutofit lnSpcReduction="10000"/>
          </a:bodyPr>
          <a:lstStyle/>
          <a:p>
            <a:pPr marL="0" indent="0" fontAlgn="auto">
              <a:lnSpc>
                <a:spcPct val="80000"/>
              </a:lnSpc>
              <a:spcAft>
                <a:spcPts val="0"/>
              </a:spcAft>
              <a:buFontTx/>
              <a:buNone/>
              <a:defRPr/>
            </a:pPr>
            <a:r>
              <a:rPr lang="en-GB" altLang="en-US" sz="2400" dirty="0" smtClean="0">
                <a:latin typeface="Tahoma" pitchFamily="34" charset="0"/>
                <a:cs typeface="Arial" pitchFamily="34" charset="0"/>
              </a:rPr>
              <a:t>  </a:t>
            </a:r>
            <a:r>
              <a:rPr lang="en-GB" altLang="en-US" sz="2400" u="sng" dirty="0" smtClean="0">
                <a:solidFill>
                  <a:schemeClr val="bg1"/>
                </a:solidFill>
                <a:latin typeface="Arial" pitchFamily="34" charset="0"/>
                <a:cs typeface="Arial" pitchFamily="34" charset="0"/>
              </a:rPr>
              <a:t>The days the information is collected </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horizontal</a:t>
            </a:r>
            <a:r>
              <a:rPr lang="en-GB" altLang="en-US" sz="2400" dirty="0" smtClean="0">
                <a:solidFill>
                  <a:srgbClr val="00CC99"/>
                </a:solidFill>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axis.</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There is a line for each school day.</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The result is filled in on the line (</a:t>
            </a:r>
            <a:r>
              <a:rPr lang="en-GB" altLang="en-US" sz="2400" dirty="0" smtClean="0">
                <a:solidFill>
                  <a:srgbClr val="33CC33"/>
                </a:solidFill>
                <a:latin typeface="Arial" pitchFamily="34" charset="0"/>
                <a:cs typeface="Arial" pitchFamily="34" charset="0"/>
              </a:rPr>
              <a:t>NOT</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the space).</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If you are unable to do the probe on a particular day, that line is left blank.</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That day is known as a </a:t>
            </a:r>
            <a:r>
              <a:rPr lang="en-GB" altLang="en-US" sz="2400" dirty="0" smtClean="0">
                <a:solidFill>
                  <a:srgbClr val="FF0000"/>
                </a:solidFill>
                <a:latin typeface="Arial" pitchFamily="34" charset="0"/>
                <a:cs typeface="Arial" pitchFamily="34" charset="0"/>
              </a:rPr>
              <a:t>No Chance Day</a:t>
            </a:r>
            <a:r>
              <a:rPr lang="en-GB" altLang="en-US" sz="2400" dirty="0" smtClean="0">
                <a:latin typeface="Arial" pitchFamily="34" charset="0"/>
                <a:cs typeface="Arial" pitchFamily="34" charset="0"/>
              </a:rPr>
              <a:t>.          </a:t>
            </a:r>
          </a:p>
          <a:p>
            <a:pPr marL="179388" lvl="1" indent="0" fontAlgn="auto">
              <a:lnSpc>
                <a:spcPct val="80000"/>
              </a:lnSpc>
              <a:spcAft>
                <a:spcPts val="0"/>
              </a:spcAft>
              <a:buFontTx/>
              <a:buNone/>
              <a:defRPr/>
            </a:pPr>
            <a:endParaRPr lang="en-GB" altLang="en-US" sz="2400" u="sng" dirty="0" smtClean="0">
              <a:latin typeface="Arial" pitchFamily="34" charset="0"/>
              <a:cs typeface="Arial" pitchFamily="34" charset="0"/>
            </a:endParaRPr>
          </a:p>
          <a:p>
            <a:pPr marL="179388" lvl="1" indent="0" fontAlgn="auto">
              <a:lnSpc>
                <a:spcPct val="80000"/>
              </a:lnSpc>
              <a:spcAft>
                <a:spcPts val="0"/>
              </a:spcAft>
              <a:buFontTx/>
              <a:buNone/>
              <a:defRPr/>
            </a:pPr>
            <a:r>
              <a:rPr lang="en-GB" altLang="en-US" sz="2400" u="sng" dirty="0" smtClean="0">
                <a:solidFill>
                  <a:schemeClr val="bg1"/>
                </a:solidFill>
                <a:latin typeface="Arial" pitchFamily="34" charset="0"/>
                <a:cs typeface="Arial" pitchFamily="34" charset="0"/>
              </a:rPr>
              <a:t>A description of the pupil’s performance </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vertical</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axis.</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It tells you the accuracy at which the pupil does the task.</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expressed as a</a:t>
            </a:r>
            <a:r>
              <a:rPr lang="en-GB" altLang="en-US" sz="2400" dirty="0" smtClean="0">
                <a:latin typeface="Arial" pitchFamily="34" charset="0"/>
                <a:cs typeface="Arial" pitchFamily="34" charset="0"/>
              </a:rPr>
              <a:t> </a:t>
            </a:r>
            <a:r>
              <a:rPr lang="en-GB" altLang="en-US" sz="2400" i="1" dirty="0" smtClean="0">
                <a:solidFill>
                  <a:srgbClr val="FF0000"/>
                </a:solidFill>
                <a:latin typeface="Arial" pitchFamily="34" charset="0"/>
                <a:cs typeface="Arial" pitchFamily="34" charset="0"/>
              </a:rPr>
              <a:t>rate</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measurement i.e. the number of responses per minute.</a:t>
            </a:r>
          </a:p>
        </p:txBody>
      </p:sp>
    </p:spTree>
    <p:extLst>
      <p:ext uri="{BB962C8B-B14F-4D97-AF65-F5344CB8AC3E}">
        <p14:creationId xmlns:p14="http://schemas.microsoft.com/office/powerpoint/2010/main" val="2041101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0" y="-158296"/>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 5. Recording</a:t>
            </a:r>
          </a:p>
        </p:txBody>
      </p:sp>
      <p:sp>
        <p:nvSpPr>
          <p:cNvPr id="25603" name="Rectangle 2"/>
          <p:cNvSpPr>
            <a:spLocks noGrp="1" noChangeArrowheads="1"/>
          </p:cNvSpPr>
          <p:nvPr>
            <p:ph idx="4294967295"/>
          </p:nvPr>
        </p:nvSpPr>
        <p:spPr>
          <a:xfrm>
            <a:off x="0" y="772432"/>
            <a:ext cx="7632700" cy="4968875"/>
          </a:xfrm>
        </p:spPr>
        <p:txBody>
          <a:bodyPr>
            <a:normAutofit lnSpcReduction="10000"/>
          </a:bodyPr>
          <a:lstStyle/>
          <a:p>
            <a:pPr>
              <a:lnSpc>
                <a:spcPct val="80000"/>
              </a:lnSpc>
            </a:pPr>
            <a:r>
              <a:rPr lang="en-GB" altLang="en-US" sz="2000" dirty="0" smtClean="0">
                <a:solidFill>
                  <a:schemeClr val="bg1"/>
                </a:solidFill>
                <a:latin typeface="Tahoma" pitchFamily="34" charset="0"/>
                <a:cs typeface="Arial" pitchFamily="34" charset="0"/>
              </a:rPr>
              <a:t>Pupil_______________</a:t>
            </a:r>
          </a:p>
          <a:p>
            <a:pPr>
              <a:lnSpc>
                <a:spcPct val="80000"/>
              </a:lnSpc>
            </a:pPr>
            <a:endParaRPr lang="en-GB" altLang="en-US" sz="2000" dirty="0" smtClean="0">
              <a:solidFill>
                <a:schemeClr val="bg1"/>
              </a:solidFill>
              <a:latin typeface="Tahoma" pitchFamily="34" charset="0"/>
              <a:cs typeface="Arial" pitchFamily="34" charset="0"/>
            </a:endParaRPr>
          </a:p>
          <a:p>
            <a:pPr>
              <a:lnSpc>
                <a:spcPct val="80000"/>
              </a:lnSpc>
            </a:pPr>
            <a:r>
              <a:rPr lang="en-GB" altLang="en-US" sz="2000" dirty="0" smtClean="0">
                <a:solidFill>
                  <a:schemeClr val="bg1"/>
                </a:solidFill>
                <a:latin typeface="Tahoma" pitchFamily="34" charset="0"/>
                <a:cs typeface="Arial" pitchFamily="34" charset="0"/>
              </a:rPr>
              <a:t>Criterion:</a:t>
            </a:r>
          </a:p>
          <a:p>
            <a:pPr>
              <a:lnSpc>
                <a:spcPct val="80000"/>
              </a:lnSpc>
            </a:pPr>
            <a:r>
              <a:rPr lang="en-GB" altLang="en-US" dirty="0" smtClean="0">
                <a:solidFill>
                  <a:schemeClr val="bg1"/>
                </a:solidFill>
                <a:latin typeface="Tahoma" pitchFamily="34" charset="0"/>
                <a:cs typeface="Arial" pitchFamily="34" charset="0"/>
              </a:rPr>
              <a:t>_____ correct with </a:t>
            </a:r>
          </a:p>
          <a:p>
            <a:pPr>
              <a:lnSpc>
                <a:spcPct val="80000"/>
              </a:lnSpc>
            </a:pPr>
            <a:r>
              <a:rPr lang="en-GB" altLang="en-US" dirty="0" smtClean="0">
                <a:solidFill>
                  <a:schemeClr val="bg1"/>
                </a:solidFill>
                <a:latin typeface="Tahoma" pitchFamily="34" charset="0"/>
                <a:cs typeface="Arial" pitchFamily="34" charset="0"/>
              </a:rPr>
              <a:t>max ____errors</a:t>
            </a:r>
          </a:p>
          <a:p>
            <a:pPr>
              <a:lnSpc>
                <a:spcPct val="80000"/>
              </a:lnSpc>
            </a:pPr>
            <a:endParaRPr lang="en-GB" altLang="en-US" sz="2000" dirty="0" smtClean="0">
              <a:solidFill>
                <a:schemeClr val="bg1"/>
              </a:solidFill>
              <a:latin typeface="Tahoma" pitchFamily="34" charset="0"/>
              <a:cs typeface="Arial" pitchFamily="34" charset="0"/>
            </a:endParaRPr>
          </a:p>
          <a:p>
            <a:pPr>
              <a:lnSpc>
                <a:spcPct val="80000"/>
              </a:lnSpc>
            </a:pPr>
            <a:r>
              <a:rPr lang="en-GB" altLang="en-US" sz="2000" dirty="0" smtClean="0">
                <a:solidFill>
                  <a:schemeClr val="bg1"/>
                </a:solidFill>
                <a:latin typeface="Tahoma" pitchFamily="34" charset="0"/>
                <a:cs typeface="Arial" pitchFamily="34" charset="0"/>
              </a:rPr>
              <a:t>Key:</a:t>
            </a:r>
          </a:p>
          <a:p>
            <a:pPr lvl="1">
              <a:lnSpc>
                <a:spcPct val="80000"/>
              </a:lnSpc>
            </a:pPr>
            <a:r>
              <a:rPr lang="en-GB" altLang="en-US" dirty="0" smtClean="0">
                <a:solidFill>
                  <a:schemeClr val="bg1"/>
                </a:solidFill>
                <a:latin typeface="Tahoma" pitchFamily="34" charset="0"/>
                <a:cs typeface="Arial" pitchFamily="34" charset="0"/>
              </a:rPr>
              <a:t>Correct answers</a:t>
            </a:r>
          </a:p>
          <a:p>
            <a:pPr lvl="1">
              <a:lnSpc>
                <a:spcPct val="80000"/>
              </a:lnSpc>
            </a:pPr>
            <a:r>
              <a:rPr lang="en-GB" altLang="en-US" dirty="0" smtClean="0">
                <a:solidFill>
                  <a:schemeClr val="bg1"/>
                </a:solidFill>
                <a:latin typeface="Tahoma" pitchFamily="34" charset="0"/>
                <a:cs typeface="Arial" pitchFamily="34" charset="0"/>
              </a:rPr>
              <a:t>Incorrect answers</a:t>
            </a:r>
          </a:p>
          <a:p>
            <a:pPr lvl="1">
              <a:lnSpc>
                <a:spcPct val="80000"/>
              </a:lnSpc>
            </a:pPr>
            <a:endParaRPr lang="en-GB" altLang="en-US" dirty="0" smtClean="0">
              <a:solidFill>
                <a:schemeClr val="bg1"/>
              </a:solidFill>
              <a:latin typeface="Tahoma" pitchFamily="34" charset="0"/>
              <a:cs typeface="Arial" pitchFamily="34" charset="0"/>
            </a:endParaRPr>
          </a:p>
          <a:p>
            <a:pPr lvl="1">
              <a:lnSpc>
                <a:spcPct val="80000"/>
              </a:lnSpc>
            </a:pPr>
            <a:endParaRPr lang="en-GB" altLang="en-US" dirty="0" smtClean="0">
              <a:solidFill>
                <a:schemeClr val="bg1"/>
              </a:solidFill>
              <a:latin typeface="Tahoma" pitchFamily="34" charset="0"/>
              <a:cs typeface="Arial" pitchFamily="34" charset="0"/>
            </a:endParaRPr>
          </a:p>
          <a:p>
            <a:pPr>
              <a:lnSpc>
                <a:spcPct val="80000"/>
              </a:lnSpc>
              <a:buFontTx/>
              <a:buNone/>
            </a:pPr>
            <a:r>
              <a:rPr lang="en-GB" altLang="en-US" sz="2000" dirty="0" smtClean="0">
                <a:solidFill>
                  <a:schemeClr val="bg1"/>
                </a:solidFill>
                <a:latin typeface="Tahoma" pitchFamily="34" charset="0"/>
                <a:cs typeface="Arial" pitchFamily="34" charset="0"/>
              </a:rPr>
              <a:t>Remember: Do not join across </a:t>
            </a:r>
          </a:p>
          <a:p>
            <a:pPr>
              <a:lnSpc>
                <a:spcPct val="80000"/>
              </a:lnSpc>
              <a:buFontTx/>
              <a:buNone/>
            </a:pPr>
            <a:r>
              <a:rPr lang="en-GB" altLang="en-US" sz="2000" dirty="0" smtClean="0">
                <a:solidFill>
                  <a:schemeClr val="bg1"/>
                </a:solidFill>
                <a:latin typeface="Tahoma" pitchFamily="34" charset="0"/>
                <a:cs typeface="Arial" pitchFamily="34" charset="0"/>
              </a:rPr>
              <a:t>weekends or across days when a</a:t>
            </a:r>
          </a:p>
          <a:p>
            <a:pPr>
              <a:lnSpc>
                <a:spcPct val="80000"/>
              </a:lnSpc>
              <a:buFontTx/>
              <a:buNone/>
            </a:pPr>
            <a:r>
              <a:rPr lang="en-GB" altLang="en-US" sz="2000" dirty="0" smtClean="0">
                <a:solidFill>
                  <a:schemeClr val="bg1"/>
                </a:solidFill>
                <a:latin typeface="Tahoma" pitchFamily="34" charset="0"/>
                <a:cs typeface="Arial" pitchFamily="34" charset="0"/>
              </a:rPr>
              <a:t>pupil was not tested.</a:t>
            </a:r>
          </a:p>
        </p:txBody>
      </p:sp>
      <p:pic>
        <p:nvPicPr>
          <p:cNvPr id="25604"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18" y="3028950"/>
            <a:ext cx="4095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1268413"/>
            <a:ext cx="3870325"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6957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4294967295"/>
          </p:nvPr>
        </p:nvSpPr>
        <p:spPr>
          <a:xfrm>
            <a:off x="1447800" y="1268413"/>
            <a:ext cx="7696200" cy="5334000"/>
          </a:xfrm>
        </p:spPr>
        <p:txBody>
          <a:bodyPr rIns="31750"/>
          <a:lstStyle/>
          <a:p>
            <a:pPr marL="690563" indent="-609600" eaLnBrk="1" hangingPunct="1">
              <a:buFont typeface="Century Gothic" pitchFamily="34" charset="0"/>
              <a:buNone/>
            </a:pPr>
            <a:endParaRPr lang="en-US" altLang="en-US" sz="1400" dirty="0" smtClean="0"/>
          </a:p>
          <a:p>
            <a:pPr marL="690563" indent="-609600" eaLnBrk="1" hangingPunct="1">
              <a:buFont typeface="Century Gothic" pitchFamily="34" charset="0"/>
              <a:buNone/>
            </a:pPr>
            <a:r>
              <a:rPr lang="en-US" altLang="en-US" sz="2400" dirty="0" smtClean="0">
                <a:solidFill>
                  <a:schemeClr val="bg1"/>
                </a:solidFill>
              </a:rPr>
              <a:t>Suggested minimum Fluency Markers:</a:t>
            </a:r>
          </a:p>
          <a:p>
            <a:pPr marL="690563" indent="-609600" eaLnBrk="1" hangingPunct="1">
              <a:buFont typeface="Century Gothic" pitchFamily="34" charset="0"/>
              <a:buNone/>
            </a:pPr>
            <a:r>
              <a:rPr lang="en-US" altLang="en-US" sz="1600" dirty="0" smtClean="0">
                <a:solidFill>
                  <a:schemeClr val="bg1"/>
                </a:solidFill>
                <a:latin typeface="ヒラギノ明朝 ProN W3" charset="0"/>
                <a:sym typeface="ヒラギノ明朝 ProN W3" charset="0"/>
              </a:rPr>
              <a:t>			</a:t>
            </a:r>
            <a:r>
              <a:rPr lang="en-US" altLang="en-US" sz="1800" dirty="0" smtClean="0">
                <a:solidFill>
                  <a:schemeClr val="bg1"/>
                </a:solidFill>
              </a:rPr>
              <a:t>Infant Pupils</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40 correct per minute</a:t>
            </a: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Junior Pupils</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50 </a:t>
            </a:r>
            <a:r>
              <a:rPr lang="en-US" altLang="en-US" sz="1800" dirty="0" err="1" smtClean="0">
                <a:solidFill>
                  <a:schemeClr val="bg1"/>
                </a:solidFill>
              </a:rPr>
              <a:t>cpm</a:t>
            </a: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Secondary</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60 </a:t>
            </a:r>
            <a:r>
              <a:rPr lang="en-US" altLang="en-US" sz="1800" dirty="0" err="1" smtClean="0">
                <a:solidFill>
                  <a:schemeClr val="bg1"/>
                </a:solidFill>
              </a:rPr>
              <a:t>cpm</a:t>
            </a:r>
            <a:endParaRPr lang="en-US" altLang="en-US" dirty="0" smtClean="0">
              <a:solidFill>
                <a:schemeClr val="bg1"/>
              </a:solidFill>
            </a:endParaRPr>
          </a:p>
          <a:p>
            <a:pPr marL="690563" indent="-609600" eaLnBrk="1" hangingPunct="1">
              <a:buFont typeface="Century Gothic" pitchFamily="34" charset="0"/>
              <a:buNone/>
            </a:pPr>
            <a:endParaRPr lang="en-US" altLang="en-US" sz="1600" dirty="0" smtClean="0">
              <a:solidFill>
                <a:schemeClr val="bg1"/>
              </a:solidFill>
            </a:endParaRPr>
          </a:p>
          <a:p>
            <a:pPr marL="690563" indent="-609600" eaLnBrk="1" hangingPunct="1">
              <a:buFont typeface="Century Gothic" pitchFamily="34" charset="0"/>
              <a:buNone/>
            </a:pPr>
            <a:r>
              <a:rPr lang="en-US" altLang="en-US" sz="2400" dirty="0" smtClean="0">
                <a:solidFill>
                  <a:schemeClr val="bg1"/>
                </a:solidFill>
              </a:rPr>
              <a:t>Suggested minimum </a:t>
            </a:r>
          </a:p>
          <a:p>
            <a:pPr marL="690563" indent="-609600" eaLnBrk="1" hangingPunct="1">
              <a:buFont typeface="Century Gothic" pitchFamily="34" charset="0"/>
              <a:buNone/>
            </a:pPr>
            <a:r>
              <a:rPr lang="en-US" altLang="en-US" sz="2400" dirty="0" smtClean="0">
                <a:solidFill>
                  <a:schemeClr val="bg1"/>
                </a:solidFill>
              </a:rPr>
              <a:t>Accuracy Markers:</a:t>
            </a:r>
          </a:p>
          <a:p>
            <a:pPr marL="690563" indent="-609600" eaLnBrk="1" hangingPunct="1">
              <a:buFont typeface="Century Gothic" pitchFamily="34" charset="0"/>
              <a:buNone/>
            </a:pPr>
            <a:r>
              <a:rPr lang="en-US" altLang="en-US" sz="1800" dirty="0" smtClean="0">
                <a:solidFill>
                  <a:schemeClr val="bg1"/>
                </a:solidFill>
              </a:rPr>
              <a:t>See-to-say</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3 or less</a:t>
            </a:r>
            <a:endParaRPr lang="en-US" altLang="en-US" dirty="0" smtClean="0">
              <a:solidFill>
                <a:schemeClr val="bg1"/>
              </a:solidFill>
            </a:endParaRPr>
          </a:p>
          <a:p>
            <a:pPr marL="690563" indent="-609600" eaLnBrk="1" hangingPunct="1">
              <a:buFont typeface="Century Gothic" pitchFamily="34" charset="0"/>
              <a:buNone/>
            </a:pP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rPr>
              <a:t>MAINTENANCE- ACHIEVE THE TARGET FOR 3 </a:t>
            </a:r>
          </a:p>
          <a:p>
            <a:pPr marL="690563" indent="-609600" eaLnBrk="1" hangingPunct="1">
              <a:buFont typeface="Century Gothic" pitchFamily="34" charset="0"/>
              <a:buNone/>
            </a:pPr>
            <a:r>
              <a:rPr lang="en-US" altLang="en-US" sz="1800" dirty="0" smtClean="0">
                <a:solidFill>
                  <a:schemeClr val="bg1"/>
                </a:solidFill>
              </a:rPr>
              <a:t>CONSECUTIVE DAYS</a:t>
            </a:r>
            <a:endParaRPr lang="en-US" altLang="en-US" dirty="0" smtClean="0">
              <a:solidFill>
                <a:schemeClr val="bg1"/>
              </a:solidFill>
            </a:endParaRPr>
          </a:p>
          <a:p>
            <a:pPr marL="690563" indent="-609600" eaLnBrk="1" hangingPunct="1">
              <a:buFont typeface="Century Gothic" pitchFamily="34" charset="0"/>
              <a:buNone/>
            </a:pPr>
            <a:endParaRPr lang="en-US" altLang="en-US" dirty="0" smtClean="0"/>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dirty="0">
                <a:solidFill>
                  <a:schemeClr val="bg1"/>
                </a:solidFill>
              </a:rPr>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dirty="0">
                <a:solidFill>
                  <a:schemeClr val="bg1"/>
                </a:solidFill>
              </a:rPr>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extLst>
      <p:ext uri="{BB962C8B-B14F-4D97-AF65-F5344CB8AC3E}">
        <p14:creationId xmlns:p14="http://schemas.microsoft.com/office/powerpoint/2010/main" val="29499926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600" b="1" dirty="0" smtClean="0">
                <a:solidFill>
                  <a:schemeClr val="bg1"/>
                </a:solidFill>
              </a:rPr>
              <a:t>Step 6-</a:t>
            </a:r>
            <a:r>
              <a:rPr lang="en-GB" altLang="en-US" sz="3600" dirty="0" smtClean="0">
                <a:solidFill>
                  <a:schemeClr val="bg1"/>
                </a:solidFill>
              </a:rPr>
              <a:t> Analyse the Data</a:t>
            </a:r>
          </a:p>
        </p:txBody>
      </p:sp>
      <p:sp>
        <p:nvSpPr>
          <p:cNvPr id="31747" name="Rectangle 3"/>
          <p:cNvSpPr>
            <a:spLocks noGrp="1" noChangeArrowheads="1"/>
          </p:cNvSpPr>
          <p:nvPr>
            <p:ph idx="4294967295"/>
          </p:nvPr>
        </p:nvSpPr>
        <p:spPr>
          <a:xfrm>
            <a:off x="574675" y="1125538"/>
            <a:ext cx="8569325" cy="5183187"/>
          </a:xfrm>
        </p:spPr>
        <p:txBody>
          <a:bodyPr>
            <a:normAutofit/>
          </a:bodyPr>
          <a:lstStyle/>
          <a:p>
            <a:pPr eaLnBrk="1" hangingPunct="1">
              <a:lnSpc>
                <a:spcPct val="90000"/>
              </a:lnSpc>
            </a:pPr>
            <a:r>
              <a:rPr lang="en-GB" altLang="en-US" sz="2000" dirty="0" smtClean="0">
                <a:solidFill>
                  <a:schemeClr val="bg1"/>
                </a:solidFill>
              </a:rPr>
              <a:t>Once the child has hit their target for </a:t>
            </a:r>
            <a:r>
              <a:rPr lang="en-GB" altLang="en-US" sz="2000" u="sng" dirty="0" smtClean="0">
                <a:solidFill>
                  <a:schemeClr val="bg1"/>
                </a:solidFill>
              </a:rPr>
              <a:t>3</a:t>
            </a:r>
            <a:r>
              <a:rPr lang="en-GB" altLang="en-US" sz="2000" dirty="0" smtClean="0">
                <a:solidFill>
                  <a:schemeClr val="bg1"/>
                </a:solidFill>
              </a:rPr>
              <a:t> consecutive days move on to a new set of words.</a:t>
            </a:r>
          </a:p>
          <a:p>
            <a:pPr eaLnBrk="1" hangingPunct="1">
              <a:lnSpc>
                <a:spcPct val="90000"/>
              </a:lnSpc>
              <a:buFontTx/>
              <a:buNone/>
            </a:pPr>
            <a:endParaRPr lang="en-GB" altLang="en-US" sz="2000" dirty="0" smtClean="0">
              <a:solidFill>
                <a:schemeClr val="bg1"/>
              </a:solidFill>
            </a:endParaRPr>
          </a:p>
          <a:p>
            <a:pPr eaLnBrk="1" hangingPunct="1">
              <a:lnSpc>
                <a:spcPct val="90000"/>
              </a:lnSpc>
              <a:buFontTx/>
              <a:buNone/>
            </a:pPr>
            <a:r>
              <a:rPr lang="en-GB" altLang="en-US" sz="2000" u="sng" dirty="0" smtClean="0">
                <a:solidFill>
                  <a:schemeClr val="bg1"/>
                </a:solidFill>
              </a:rPr>
              <a:t>The 3 day rule</a:t>
            </a:r>
          </a:p>
          <a:p>
            <a:pPr eaLnBrk="1" hangingPunct="1">
              <a:lnSpc>
                <a:spcPct val="90000"/>
              </a:lnSpc>
            </a:pPr>
            <a:r>
              <a:rPr lang="en-GB" altLang="en-US" sz="2000" dirty="0" smtClean="0">
                <a:solidFill>
                  <a:schemeClr val="bg1"/>
                </a:solidFill>
              </a:rPr>
              <a:t>Check after </a:t>
            </a:r>
            <a:r>
              <a:rPr lang="en-GB" altLang="en-US" sz="2000" b="1" dirty="0" smtClean="0">
                <a:solidFill>
                  <a:schemeClr val="bg1"/>
                </a:solidFill>
              </a:rPr>
              <a:t>3</a:t>
            </a:r>
            <a:r>
              <a:rPr lang="en-GB" altLang="en-US" sz="2000" dirty="0" smtClean="0">
                <a:solidFill>
                  <a:schemeClr val="bg1"/>
                </a:solidFill>
              </a:rPr>
              <a:t> days:</a:t>
            </a:r>
          </a:p>
          <a:p>
            <a:pPr lvl="1" eaLnBrk="1" hangingPunct="1">
              <a:lnSpc>
                <a:spcPct val="90000"/>
              </a:lnSpc>
            </a:pPr>
            <a:r>
              <a:rPr lang="en-GB" altLang="en-US" sz="2000" dirty="0" smtClean="0">
                <a:solidFill>
                  <a:schemeClr val="bg1"/>
                </a:solidFill>
              </a:rPr>
              <a:t>If the task appears too hard consider reducing the demands of the task (e.g. number of words to be learnt, types of words being learnt</a:t>
            </a:r>
            <a:r>
              <a:rPr lang="en-GB" altLang="en-US" sz="2000" dirty="0" smtClean="0">
                <a:solidFill>
                  <a:schemeClr val="bg1"/>
                </a:solidFill>
              </a:rPr>
              <a:t>).</a:t>
            </a:r>
          </a:p>
          <a:p>
            <a:pPr lvl="1" eaLnBrk="1" hangingPunct="1">
              <a:lnSpc>
                <a:spcPct val="90000"/>
              </a:lnSpc>
              <a:buFontTx/>
              <a:buNone/>
            </a:pPr>
            <a:endParaRPr lang="en-GB" altLang="en-US" sz="2000" dirty="0" smtClean="0">
              <a:solidFill>
                <a:schemeClr val="bg1"/>
              </a:solidFill>
            </a:endParaRPr>
          </a:p>
          <a:p>
            <a:pPr eaLnBrk="1" hangingPunct="1">
              <a:lnSpc>
                <a:spcPct val="90000"/>
              </a:lnSpc>
              <a:buFontTx/>
              <a:buNone/>
            </a:pPr>
            <a:r>
              <a:rPr lang="en-GB" altLang="en-US" sz="2000" u="sng" dirty="0" smtClean="0">
                <a:solidFill>
                  <a:schemeClr val="bg1"/>
                </a:solidFill>
              </a:rPr>
              <a:t>The </a:t>
            </a:r>
            <a:r>
              <a:rPr lang="en-GB" altLang="en-US" sz="2000" u="sng" dirty="0" smtClean="0">
                <a:solidFill>
                  <a:schemeClr val="bg1"/>
                </a:solidFill>
              </a:rPr>
              <a:t>8 day rule</a:t>
            </a:r>
          </a:p>
          <a:p>
            <a:pPr eaLnBrk="1" hangingPunct="1">
              <a:lnSpc>
                <a:spcPct val="90000"/>
              </a:lnSpc>
            </a:pPr>
            <a:r>
              <a:rPr lang="en-GB" altLang="en-US" sz="2000" dirty="0" smtClean="0">
                <a:solidFill>
                  <a:schemeClr val="bg1"/>
                </a:solidFill>
              </a:rPr>
              <a:t>Check after </a:t>
            </a:r>
            <a:r>
              <a:rPr lang="en-GB" altLang="en-US" sz="2000" b="1" dirty="0" smtClean="0">
                <a:solidFill>
                  <a:schemeClr val="bg1"/>
                </a:solidFill>
              </a:rPr>
              <a:t>8</a:t>
            </a:r>
            <a:r>
              <a:rPr lang="en-GB" altLang="en-US" sz="2000" dirty="0" smtClean="0">
                <a:solidFill>
                  <a:schemeClr val="bg1"/>
                </a:solidFill>
              </a:rPr>
              <a:t> days:</a:t>
            </a:r>
          </a:p>
          <a:p>
            <a:pPr lvl="1" eaLnBrk="1" hangingPunct="1">
              <a:lnSpc>
                <a:spcPct val="90000"/>
              </a:lnSpc>
            </a:pPr>
            <a:r>
              <a:rPr lang="en-GB" altLang="en-US" sz="2000" dirty="0" smtClean="0">
                <a:solidFill>
                  <a:schemeClr val="bg1"/>
                </a:solidFill>
              </a:rPr>
              <a:t>If the pupil is not at or near their target after 8 days consider a change (e.g. increasing motivation, modifying teaching method, changing task).</a:t>
            </a:r>
          </a:p>
        </p:txBody>
      </p:sp>
    </p:spTree>
    <p:extLst>
      <p:ext uri="{BB962C8B-B14F-4D97-AF65-F5344CB8AC3E}">
        <p14:creationId xmlns:p14="http://schemas.microsoft.com/office/powerpoint/2010/main" val="9570245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0" y="476250"/>
            <a:ext cx="7773988" cy="1223963"/>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6a. </a:t>
            </a:r>
            <a:r>
              <a:rPr lang="en-GB" altLang="en-US" sz="3200" dirty="0" smtClean="0">
                <a:solidFill>
                  <a:schemeClr val="bg1"/>
                </a:solidFill>
                <a:latin typeface="Arial" pitchFamily="34" charset="0"/>
                <a:cs typeface="Arial" pitchFamily="34" charset="0"/>
              </a:rPr>
              <a:t>Change - response to data analysis</a:t>
            </a:r>
          </a:p>
        </p:txBody>
      </p:sp>
      <p:grpSp>
        <p:nvGrpSpPr>
          <p:cNvPr id="29699" name="Group 312"/>
          <p:cNvGrpSpPr>
            <a:grpSpLocks/>
          </p:cNvGrpSpPr>
          <p:nvPr/>
        </p:nvGrpSpPr>
        <p:grpSpPr bwMode="auto">
          <a:xfrm>
            <a:off x="216145" y="1348092"/>
            <a:ext cx="8642350" cy="4264025"/>
            <a:chOff x="455" y="1071"/>
            <a:chExt cx="5056" cy="2686"/>
          </a:xfrm>
        </p:grpSpPr>
        <p:sp>
          <p:nvSpPr>
            <p:cNvPr id="29700" name="Rectangle 213"/>
            <p:cNvSpPr>
              <a:spLocks noChangeArrowheads="1"/>
            </p:cNvSpPr>
            <p:nvPr/>
          </p:nvSpPr>
          <p:spPr bwMode="auto">
            <a:xfrm>
              <a:off x="3687" y="3113"/>
              <a:ext cx="1824"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Increasing motivation through rewards/ incentives or alter teaching methods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1" name="Rectangle 211"/>
            <p:cNvSpPr>
              <a:spLocks noChangeArrowheads="1"/>
            </p:cNvSpPr>
            <p:nvPr/>
          </p:nvSpPr>
          <p:spPr bwMode="auto">
            <a:xfrm>
              <a:off x="1505" y="3101"/>
              <a:ext cx="870" cy="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800" b="1" dirty="0">
                  <a:solidFill>
                    <a:schemeClr val="bg1"/>
                  </a:solidFill>
                  <a:ea typeface="MS PGothic" pitchFamily="34" charset="-128"/>
                  <a:cs typeface="Times New Roman" pitchFamily="18" charset="0"/>
                </a:rPr>
                <a:t> </a:t>
              </a:r>
              <a:endParaRPr lang="en-GB" altLang="en-US" sz="2000" b="1" dirty="0">
                <a:solidFill>
                  <a:schemeClr val="bg1"/>
                </a:solidFill>
                <a:ea typeface="MS PGothic" pitchFamily="34" charset="-128"/>
                <a:cs typeface="Times New Roman" pitchFamily="18" charset="0"/>
              </a:endParaRPr>
            </a:p>
            <a:p>
              <a:pPr algn="l">
                <a:spcBef>
                  <a:spcPct val="0"/>
                </a:spcBef>
                <a:buClrTx/>
                <a:buFontTx/>
                <a:buNone/>
              </a:pP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p:txBody>
        </p:sp>
        <p:sp>
          <p:nvSpPr>
            <p:cNvPr id="29702" name="Rectangle 212"/>
            <p:cNvSpPr>
              <a:spLocks noChangeArrowheads="1"/>
            </p:cNvSpPr>
            <p:nvPr/>
          </p:nvSpPr>
          <p:spPr bwMode="auto">
            <a:xfrm>
              <a:off x="2362" y="3113"/>
              <a:ext cx="1325"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is likely to be appropriate but progress not fast enough</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3" name="Rectangle 210"/>
            <p:cNvSpPr>
              <a:spLocks noChangeArrowheads="1"/>
            </p:cNvSpPr>
            <p:nvPr/>
          </p:nvSpPr>
          <p:spPr bwMode="auto">
            <a:xfrm>
              <a:off x="455" y="3113"/>
              <a:ext cx="1036"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Some progress; accurate but shallow correct rate slope</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4" name="Rectangle 209"/>
            <p:cNvSpPr>
              <a:spLocks noChangeArrowheads="1"/>
            </p:cNvSpPr>
            <p:nvPr/>
          </p:nvSpPr>
          <p:spPr bwMode="auto">
            <a:xfrm>
              <a:off x="3687" y="2528"/>
              <a:ext cx="182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Slow pupil down; encourage accuracy before speed</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5" name="Rectangle 208"/>
            <p:cNvSpPr>
              <a:spLocks noChangeArrowheads="1"/>
            </p:cNvSpPr>
            <p:nvPr/>
          </p:nvSpPr>
          <p:spPr bwMode="auto">
            <a:xfrm>
              <a:off x="2362" y="2528"/>
              <a:ext cx="132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Pupil is merely getting faster attempting more on the probe</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6" name="Rectangle 207"/>
            <p:cNvSpPr>
              <a:spLocks noChangeArrowheads="1"/>
            </p:cNvSpPr>
            <p:nvPr/>
          </p:nvSpPr>
          <p:spPr bwMode="auto">
            <a:xfrm>
              <a:off x="1491" y="2528"/>
              <a:ext cx="871"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a:solidFill>
                    <a:schemeClr val="bg1"/>
                  </a:solidFill>
                  <a:ea typeface="MS PGothic" pitchFamily="34" charset="-128"/>
                  <a:cs typeface="Times New Roman" pitchFamily="18" charset="0"/>
                </a:rPr>
                <a:t>   </a:t>
              </a:r>
            </a:p>
            <a:p>
              <a:pPr algn="l">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a:p>
              <a:pPr eaLnBrk="0" hangingPunct="0">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   </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7" name="Rectangle 206"/>
            <p:cNvSpPr>
              <a:spLocks noChangeArrowheads="1"/>
            </p:cNvSpPr>
            <p:nvPr/>
          </p:nvSpPr>
          <p:spPr bwMode="auto">
            <a:xfrm>
              <a:off x="455" y="2528"/>
              <a:ext cx="1036"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Both correct and incorrect rates increasing</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8" name="Rectangle 205"/>
            <p:cNvSpPr>
              <a:spLocks noChangeArrowheads="1"/>
            </p:cNvSpPr>
            <p:nvPr/>
          </p:nvSpPr>
          <p:spPr bwMode="auto">
            <a:xfrm>
              <a:off x="3687" y="1924"/>
              <a:ext cx="1824"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May need to return or slice the task</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9" name="Rectangle 204"/>
            <p:cNvSpPr>
              <a:spLocks noChangeArrowheads="1"/>
            </p:cNvSpPr>
            <p:nvPr/>
          </p:nvSpPr>
          <p:spPr bwMode="auto">
            <a:xfrm>
              <a:off x="2362" y="1924"/>
              <a:ext cx="1325"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probably inappropriate. Monitor progress, may be a blip</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0" name="Rectangle 203"/>
            <p:cNvSpPr>
              <a:spLocks noChangeArrowheads="1"/>
            </p:cNvSpPr>
            <p:nvPr/>
          </p:nvSpPr>
          <p:spPr bwMode="auto">
            <a:xfrm>
              <a:off x="1491" y="1924"/>
              <a:ext cx="871"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1000" dirty="0">
                  <a:solidFill>
                    <a:schemeClr val="bg1"/>
                  </a:solidFill>
                  <a:latin typeface="Times New Roman" pitchFamily="18" charset="0"/>
                  <a:ea typeface="MS PGothic" pitchFamily="34" charset="-128"/>
                  <a:cs typeface="Times New Roman" pitchFamily="18" charset="0"/>
                </a:rPr>
                <a:t/>
              </a:r>
              <a:br>
                <a:rPr lang="en-GB" altLang="en-US" sz="1000" dirty="0">
                  <a:solidFill>
                    <a:schemeClr val="bg1"/>
                  </a:solidFill>
                  <a:latin typeface="Times New Roman" pitchFamily="18" charset="0"/>
                  <a:ea typeface="MS PGothic" pitchFamily="34" charset="-128"/>
                  <a:cs typeface="Times New Roman" pitchFamily="18" charset="0"/>
                </a:rPr>
              </a:br>
              <a:r>
                <a:rPr lang="en-GB" altLang="en-US" sz="2000" b="1" dirty="0">
                  <a:solidFill>
                    <a:schemeClr val="bg1"/>
                  </a:solidFill>
                  <a:ea typeface="MS PGothic" pitchFamily="34" charset="-128"/>
                  <a:cs typeface="Times New Roman" pitchFamily="18" charset="0"/>
                </a:rPr>
                <a:t>  </a:t>
              </a:r>
              <a:endParaRPr lang="en-GB" altLang="en-US" sz="800" b="1" dirty="0">
                <a:solidFill>
                  <a:schemeClr val="bg1"/>
                </a:solidFill>
                <a:ea typeface="MS PGothic" pitchFamily="34" charset="-128"/>
                <a:cs typeface="Times New Roman" pitchFamily="18" charset="0"/>
              </a:endParaRPr>
            </a:p>
            <a:p>
              <a:pPr algn="l" eaLnBrk="0" hangingPunct="0">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p:txBody>
        </p:sp>
        <p:sp>
          <p:nvSpPr>
            <p:cNvPr id="29711" name="Rectangle 202"/>
            <p:cNvSpPr>
              <a:spLocks noChangeArrowheads="1"/>
            </p:cNvSpPr>
            <p:nvPr/>
          </p:nvSpPr>
          <p:spPr bwMode="auto">
            <a:xfrm>
              <a:off x="455" y="1924"/>
              <a:ext cx="103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Switch within first 3 days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2" name="Rectangle 201"/>
            <p:cNvSpPr>
              <a:spLocks noChangeArrowheads="1"/>
            </p:cNvSpPr>
            <p:nvPr/>
          </p:nvSpPr>
          <p:spPr bwMode="auto">
            <a:xfrm>
              <a:off x="3687" y="1426"/>
              <a:ext cx="1824"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Return or slice the task</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3" name="Rectangle 200"/>
            <p:cNvSpPr>
              <a:spLocks noChangeArrowheads="1"/>
            </p:cNvSpPr>
            <p:nvPr/>
          </p:nvSpPr>
          <p:spPr bwMode="auto">
            <a:xfrm>
              <a:off x="2362" y="1426"/>
              <a:ext cx="1325"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inappropriate</a:t>
              </a:r>
              <a:endParaRPr lang="en-GB" altLang="en-US" sz="1000" dirty="0">
                <a:solidFill>
                  <a:schemeClr val="bg1"/>
                </a:solidFill>
                <a:latin typeface="Times New Roman" pitchFamily="18" charset="0"/>
                <a:ea typeface="MS PGothic" pitchFamily="34" charset="-128"/>
                <a:cs typeface="Times New Roman" pitchFamily="18" charset="0"/>
              </a:endParaRPr>
            </a:p>
            <a:p>
              <a:pPr algn="l" eaLnBrk="0" hangingPunct="0">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3 day rule applies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4" name="Rectangle 199"/>
            <p:cNvSpPr>
              <a:spLocks noChangeArrowheads="1"/>
            </p:cNvSpPr>
            <p:nvPr/>
          </p:nvSpPr>
          <p:spPr bwMode="auto">
            <a:xfrm>
              <a:off x="1505" y="1440"/>
              <a:ext cx="870"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smtClean="0">
                  <a:solidFill>
                    <a:srgbClr val="FF0000"/>
                  </a:solidFill>
                  <a:ea typeface="MS PGothic" pitchFamily="34" charset="-128"/>
                  <a:cs typeface="Times New Roman" pitchFamily="18" charset="0"/>
                </a:rPr>
                <a:t>x</a:t>
              </a:r>
              <a:endParaRPr lang="en-GB" altLang="en-US" sz="1800" dirty="0">
                <a:solidFill>
                  <a:srgbClr val="FF0000"/>
                </a:solidFill>
                <a:latin typeface="Arial" pitchFamily="34" charset="0"/>
                <a:ea typeface="MS PGothic" pitchFamily="34" charset="-128"/>
                <a:cs typeface="Times New Roman" pitchFamily="18" charset="0"/>
              </a:endParaRPr>
            </a:p>
          </p:txBody>
        </p:sp>
        <p:sp>
          <p:nvSpPr>
            <p:cNvPr id="29715" name="Rectangle 198"/>
            <p:cNvSpPr>
              <a:spLocks noChangeArrowheads="1"/>
            </p:cNvSpPr>
            <p:nvPr/>
          </p:nvSpPr>
          <p:spPr bwMode="auto">
            <a:xfrm>
              <a:off x="455" y="1426"/>
              <a:ext cx="1036"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More errors than correct: No sign of a switch</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6" name="Rectangle 197"/>
            <p:cNvSpPr>
              <a:spLocks noChangeArrowheads="1"/>
            </p:cNvSpPr>
            <p:nvPr/>
          </p:nvSpPr>
          <p:spPr bwMode="auto">
            <a:xfrm>
              <a:off x="3687" y="1071"/>
              <a:ext cx="18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Intervention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17" name="Rectangle 196"/>
            <p:cNvSpPr>
              <a:spLocks noChangeArrowheads="1"/>
            </p:cNvSpPr>
            <p:nvPr/>
          </p:nvSpPr>
          <p:spPr bwMode="auto">
            <a:xfrm>
              <a:off x="2362" y="1071"/>
              <a:ext cx="1325"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Interpretation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18" name="Rectangle 195"/>
            <p:cNvSpPr>
              <a:spLocks noChangeArrowheads="1"/>
            </p:cNvSpPr>
            <p:nvPr/>
          </p:nvSpPr>
          <p:spPr bwMode="auto">
            <a:xfrm>
              <a:off x="1491" y="1071"/>
              <a:ext cx="871"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buClrTx/>
                <a:buFontTx/>
                <a:buNone/>
              </a:pPr>
              <a:r>
                <a:rPr lang="en-GB" altLang="en-US" sz="1600" u="sng" dirty="0">
                  <a:solidFill>
                    <a:schemeClr val="bg1"/>
                  </a:solidFill>
                  <a:latin typeface="Arial" pitchFamily="34" charset="0"/>
                  <a:ea typeface="MS PGothic" pitchFamily="34" charset="-128"/>
                  <a:cs typeface="Arial" pitchFamily="34" charset="0"/>
                </a:rPr>
                <a:t>Chart Picture</a:t>
              </a:r>
            </a:p>
          </p:txBody>
        </p:sp>
        <p:sp>
          <p:nvSpPr>
            <p:cNvPr id="29719" name="Rectangle 194"/>
            <p:cNvSpPr>
              <a:spLocks noChangeArrowheads="1"/>
            </p:cNvSpPr>
            <p:nvPr/>
          </p:nvSpPr>
          <p:spPr bwMode="auto">
            <a:xfrm>
              <a:off x="455" y="1071"/>
              <a:ext cx="10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Chart Description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20" name="Line 214"/>
            <p:cNvSpPr>
              <a:spLocks noChangeShapeType="1"/>
            </p:cNvSpPr>
            <p:nvPr/>
          </p:nvSpPr>
          <p:spPr bwMode="auto">
            <a:xfrm>
              <a:off x="455" y="1071"/>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1" name="Line 215"/>
            <p:cNvSpPr>
              <a:spLocks noChangeShapeType="1"/>
            </p:cNvSpPr>
            <p:nvPr/>
          </p:nvSpPr>
          <p:spPr bwMode="auto">
            <a:xfrm>
              <a:off x="455" y="3757"/>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2" name="Line 216"/>
            <p:cNvSpPr>
              <a:spLocks noChangeShapeType="1"/>
            </p:cNvSpPr>
            <p:nvPr/>
          </p:nvSpPr>
          <p:spPr bwMode="auto">
            <a:xfrm>
              <a:off x="455"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3" name="Line 217"/>
            <p:cNvSpPr>
              <a:spLocks noChangeShapeType="1"/>
            </p:cNvSpPr>
            <p:nvPr/>
          </p:nvSpPr>
          <p:spPr bwMode="auto">
            <a:xfrm>
              <a:off x="551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4" name="Line 220"/>
            <p:cNvSpPr>
              <a:spLocks noChangeShapeType="1"/>
            </p:cNvSpPr>
            <p:nvPr/>
          </p:nvSpPr>
          <p:spPr bwMode="auto">
            <a:xfrm>
              <a:off x="455" y="1426"/>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5" name="Line 222"/>
            <p:cNvSpPr>
              <a:spLocks noChangeShapeType="1"/>
            </p:cNvSpPr>
            <p:nvPr/>
          </p:nvSpPr>
          <p:spPr bwMode="auto">
            <a:xfrm>
              <a:off x="149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6" name="Line 225"/>
            <p:cNvSpPr>
              <a:spLocks noChangeShapeType="1"/>
            </p:cNvSpPr>
            <p:nvPr/>
          </p:nvSpPr>
          <p:spPr bwMode="auto">
            <a:xfrm>
              <a:off x="2362"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7" name="Line 228"/>
            <p:cNvSpPr>
              <a:spLocks noChangeShapeType="1"/>
            </p:cNvSpPr>
            <p:nvPr/>
          </p:nvSpPr>
          <p:spPr bwMode="auto">
            <a:xfrm>
              <a:off x="3687"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8" name="Line 232"/>
            <p:cNvSpPr>
              <a:spLocks noChangeShapeType="1"/>
            </p:cNvSpPr>
            <p:nvPr/>
          </p:nvSpPr>
          <p:spPr bwMode="auto">
            <a:xfrm>
              <a:off x="455" y="1924"/>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9" name="Line 250"/>
            <p:cNvSpPr>
              <a:spLocks noChangeShapeType="1"/>
            </p:cNvSpPr>
            <p:nvPr/>
          </p:nvSpPr>
          <p:spPr bwMode="auto">
            <a:xfrm>
              <a:off x="455" y="2528"/>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30" name="Line 268"/>
            <p:cNvSpPr>
              <a:spLocks noChangeShapeType="1"/>
            </p:cNvSpPr>
            <p:nvPr/>
          </p:nvSpPr>
          <p:spPr bwMode="auto">
            <a:xfrm>
              <a:off x="455" y="3113"/>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grpSp>
          <p:nvGrpSpPr>
            <p:cNvPr id="29731" name="Group 157"/>
            <p:cNvGrpSpPr>
              <a:grpSpLocks/>
            </p:cNvGrpSpPr>
            <p:nvPr/>
          </p:nvGrpSpPr>
          <p:grpSpPr bwMode="auto">
            <a:xfrm>
              <a:off x="1600" y="2594"/>
              <a:ext cx="408" cy="251"/>
              <a:chOff x="4496" y="6534"/>
              <a:chExt cx="970" cy="618"/>
            </a:xfrm>
          </p:grpSpPr>
          <p:sp>
            <p:nvSpPr>
              <p:cNvPr id="29742" name="Line 160"/>
              <p:cNvSpPr>
                <a:spLocks noChangeShapeType="1"/>
              </p:cNvSpPr>
              <p:nvPr/>
            </p:nvSpPr>
            <p:spPr bwMode="auto">
              <a:xfrm flipV="1">
                <a:off x="4722" y="653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3" name="Line 159"/>
              <p:cNvSpPr>
                <a:spLocks noChangeShapeType="1"/>
              </p:cNvSpPr>
              <p:nvPr/>
            </p:nvSpPr>
            <p:spPr bwMode="auto">
              <a:xfrm flipV="1">
                <a:off x="4854" y="689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4" name="Oval 158"/>
              <p:cNvSpPr>
                <a:spLocks noChangeArrowheads="1"/>
              </p:cNvSpPr>
              <p:nvPr/>
            </p:nvSpPr>
            <p:spPr bwMode="auto">
              <a:xfrm>
                <a:off x="4496" y="6720"/>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grpSp>
          <p:nvGrpSpPr>
            <p:cNvPr id="29732" name="Group 161"/>
            <p:cNvGrpSpPr>
              <a:grpSpLocks/>
            </p:cNvGrpSpPr>
            <p:nvPr/>
          </p:nvGrpSpPr>
          <p:grpSpPr bwMode="auto">
            <a:xfrm>
              <a:off x="1648" y="2040"/>
              <a:ext cx="300" cy="289"/>
              <a:chOff x="4739" y="4873"/>
              <a:chExt cx="715" cy="709"/>
            </a:xfrm>
          </p:grpSpPr>
          <p:sp>
            <p:nvSpPr>
              <p:cNvPr id="29739" name="Line 164"/>
              <p:cNvSpPr>
                <a:spLocks noChangeShapeType="1"/>
              </p:cNvSpPr>
              <p:nvPr/>
            </p:nvSpPr>
            <p:spPr bwMode="auto">
              <a:xfrm flipV="1">
                <a:off x="4854" y="5042"/>
                <a:ext cx="60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0" name="Line 163"/>
              <p:cNvSpPr>
                <a:spLocks noChangeShapeType="1"/>
              </p:cNvSpPr>
              <p:nvPr/>
            </p:nvSpPr>
            <p:spPr bwMode="auto">
              <a:xfrm>
                <a:off x="4974" y="5042"/>
                <a:ext cx="48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1" name="Oval 162"/>
              <p:cNvSpPr>
                <a:spLocks noChangeArrowheads="1"/>
              </p:cNvSpPr>
              <p:nvPr/>
            </p:nvSpPr>
            <p:spPr bwMode="auto">
              <a:xfrm>
                <a:off x="4739" y="4873"/>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sp>
          <p:nvSpPr>
            <p:cNvPr id="29733" name="Line 156"/>
            <p:cNvSpPr>
              <a:spLocks noChangeShapeType="1"/>
            </p:cNvSpPr>
            <p:nvPr/>
          </p:nvSpPr>
          <p:spPr bwMode="auto">
            <a:xfrm>
              <a:off x="1648" y="3471"/>
              <a:ext cx="355" cy="1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4" name="Line 154"/>
            <p:cNvSpPr>
              <a:spLocks noChangeShapeType="1"/>
            </p:cNvSpPr>
            <p:nvPr/>
          </p:nvSpPr>
          <p:spPr bwMode="auto">
            <a:xfrm flipV="1">
              <a:off x="1648" y="3287"/>
              <a:ext cx="358" cy="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5" name="Oval 155"/>
            <p:cNvSpPr>
              <a:spLocks noChangeArrowheads="1"/>
            </p:cNvSpPr>
            <p:nvPr/>
          </p:nvSpPr>
          <p:spPr bwMode="auto">
            <a:xfrm>
              <a:off x="1553" y="3287"/>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sp>
          <p:nvSpPr>
            <p:cNvPr id="29736" name="Line 167"/>
            <p:cNvSpPr>
              <a:spLocks noChangeShapeType="1"/>
            </p:cNvSpPr>
            <p:nvPr/>
          </p:nvSpPr>
          <p:spPr bwMode="auto">
            <a:xfrm flipV="1">
              <a:off x="1695" y="1440"/>
              <a:ext cx="190" cy="1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7" name="Line 166"/>
            <p:cNvSpPr>
              <a:spLocks noChangeShapeType="1"/>
            </p:cNvSpPr>
            <p:nvPr/>
          </p:nvSpPr>
          <p:spPr bwMode="auto">
            <a:xfrm flipV="1">
              <a:off x="1696" y="1717"/>
              <a:ext cx="250" cy="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8" name="Oval 165"/>
            <p:cNvSpPr>
              <a:spLocks noChangeArrowheads="1"/>
            </p:cNvSpPr>
            <p:nvPr/>
          </p:nvSpPr>
          <p:spPr bwMode="auto">
            <a:xfrm>
              <a:off x="1600" y="1764"/>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spTree>
    <p:extLst>
      <p:ext uri="{BB962C8B-B14F-4D97-AF65-F5344CB8AC3E}">
        <p14:creationId xmlns:p14="http://schemas.microsoft.com/office/powerpoint/2010/main" val="1947291249"/>
      </p:ext>
    </p:extLst>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0" y="549275"/>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6b. Maintenance</a:t>
            </a:r>
          </a:p>
        </p:txBody>
      </p:sp>
      <p:sp>
        <p:nvSpPr>
          <p:cNvPr id="30723" name="Rectangle 3"/>
          <p:cNvSpPr>
            <a:spLocks noGrp="1" noChangeArrowheads="1"/>
          </p:cNvSpPr>
          <p:nvPr>
            <p:ph idx="4294967295"/>
          </p:nvPr>
        </p:nvSpPr>
        <p:spPr>
          <a:xfrm>
            <a:off x="0" y="1773238"/>
            <a:ext cx="7772400" cy="4114800"/>
          </a:xfrm>
        </p:spPr>
        <p:txBody>
          <a:bodyPr/>
          <a:lstStyle/>
          <a:p>
            <a:r>
              <a:rPr lang="en-GB" altLang="en-US" sz="2800" dirty="0" smtClean="0">
                <a:solidFill>
                  <a:schemeClr val="bg1"/>
                </a:solidFill>
                <a:latin typeface="Arial" pitchFamily="34" charset="0"/>
                <a:cs typeface="Arial" pitchFamily="34" charset="0"/>
              </a:rPr>
              <a:t>Once a pupil has reached fluency (hit target 3 days consecutively), change target</a:t>
            </a:r>
          </a:p>
          <a:p>
            <a:pPr>
              <a:buFontTx/>
              <a:buNone/>
            </a:pPr>
            <a:endParaRPr lang="en-GB" altLang="en-US" sz="2800" dirty="0" smtClean="0">
              <a:solidFill>
                <a:schemeClr val="bg1"/>
              </a:solidFill>
              <a:latin typeface="Arial" pitchFamily="34" charset="0"/>
              <a:cs typeface="Arial" pitchFamily="34" charset="0"/>
            </a:endParaRPr>
          </a:p>
          <a:p>
            <a:r>
              <a:rPr lang="en-GB" altLang="en-US" sz="2800" dirty="0" smtClean="0">
                <a:solidFill>
                  <a:schemeClr val="bg1"/>
                </a:solidFill>
                <a:latin typeface="Arial" pitchFamily="34" charset="0"/>
                <a:cs typeface="Arial" pitchFamily="34" charset="0"/>
              </a:rPr>
              <a:t>Check for maintenance at regular intervals by using an old probe to check they are still fluent with these words or interleave previously learnt words with new words</a:t>
            </a:r>
          </a:p>
        </p:txBody>
      </p:sp>
    </p:spTree>
    <p:extLst>
      <p:ext uri="{BB962C8B-B14F-4D97-AF65-F5344CB8AC3E}">
        <p14:creationId xmlns:p14="http://schemas.microsoft.com/office/powerpoint/2010/main" val="1746338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0" y="190046"/>
            <a:ext cx="7958138" cy="1143000"/>
          </a:xfrm>
        </p:spPr>
        <p:txBody>
          <a:bodyPr/>
          <a:lstStyle/>
          <a:p>
            <a:pPr algn="l" fontAlgn="auto">
              <a:spcAft>
                <a:spcPts val="0"/>
              </a:spcAft>
              <a:defRPr/>
            </a:pPr>
            <a:r>
              <a:rPr lang="en-GB" altLang="en-US" sz="3200" dirty="0" smtClean="0">
                <a:solidFill>
                  <a:schemeClr val="bg1"/>
                </a:solidFill>
                <a:latin typeface="Arial" pitchFamily="34" charset="0"/>
                <a:cs typeface="Arial" pitchFamily="34" charset="0"/>
              </a:rPr>
              <a:t>Recap of the steps of precision monitoring</a:t>
            </a:r>
          </a:p>
        </p:txBody>
      </p:sp>
      <p:sp>
        <p:nvSpPr>
          <p:cNvPr id="31747" name="Rectangle 3"/>
          <p:cNvSpPr>
            <a:spLocks noGrp="1" noChangeArrowheads="1"/>
          </p:cNvSpPr>
          <p:nvPr>
            <p:ph type="body" idx="4294967295"/>
          </p:nvPr>
        </p:nvSpPr>
        <p:spPr>
          <a:xfrm>
            <a:off x="0" y="1587727"/>
            <a:ext cx="7669213" cy="4467225"/>
          </a:xfrm>
        </p:spPr>
        <p:txBody>
          <a:bodyPr>
            <a:normAutofit/>
          </a:bodyPr>
          <a:lstStyle/>
          <a:p>
            <a:pPr marL="609600" indent="-609600">
              <a:lnSpc>
                <a:spcPct val="80000"/>
              </a:lnSpc>
              <a:buFontTx/>
              <a:buAutoNum type="arabicPeriod"/>
            </a:pPr>
            <a:r>
              <a:rPr lang="en-GB" altLang="en-US" sz="2400" dirty="0" smtClean="0">
                <a:solidFill>
                  <a:schemeClr val="bg1"/>
                </a:solidFill>
                <a:latin typeface="Arial" pitchFamily="34" charset="0"/>
                <a:cs typeface="Arial" pitchFamily="34" charset="0"/>
              </a:rPr>
              <a:t>Identify a specific difficulty and acquire a baseline</a:t>
            </a:r>
          </a:p>
          <a:p>
            <a:pPr marL="609600" indent="-609600">
              <a:lnSpc>
                <a:spcPct val="80000"/>
              </a:lnSpc>
              <a:buFontTx/>
              <a:buAutoNum type="arabicPeriod" startAt="2"/>
            </a:pPr>
            <a:r>
              <a:rPr lang="en-GB" altLang="en-US" sz="2400" dirty="0" smtClean="0">
                <a:solidFill>
                  <a:schemeClr val="bg1"/>
                </a:solidFill>
                <a:latin typeface="Arial" pitchFamily="34" charset="0"/>
                <a:cs typeface="Arial" pitchFamily="34" charset="0"/>
              </a:rPr>
              <a:t>Set a target</a:t>
            </a:r>
          </a:p>
          <a:p>
            <a:pPr marL="609600" indent="-609600">
              <a:lnSpc>
                <a:spcPct val="80000"/>
              </a:lnSpc>
              <a:buFontTx/>
              <a:buAutoNum type="arabicPeriod" startAt="3"/>
            </a:pPr>
            <a:r>
              <a:rPr lang="en-GB" altLang="en-US" sz="2400" dirty="0" smtClean="0">
                <a:solidFill>
                  <a:schemeClr val="bg1"/>
                </a:solidFill>
                <a:latin typeface="Arial" pitchFamily="34" charset="0"/>
                <a:cs typeface="Arial" pitchFamily="34" charset="0"/>
              </a:rPr>
              <a:t>Teaching sessions (DI): short, frequent and target specific</a:t>
            </a:r>
          </a:p>
          <a:p>
            <a:pPr marL="609600" indent="-609600">
              <a:lnSpc>
                <a:spcPct val="80000"/>
              </a:lnSpc>
              <a:buFontTx/>
              <a:buAutoNum type="arabicPeriod" startAt="3"/>
            </a:pPr>
            <a:r>
              <a:rPr lang="en-GB" altLang="en-US" sz="2400" dirty="0" smtClean="0">
                <a:solidFill>
                  <a:schemeClr val="bg1"/>
                </a:solidFill>
                <a:latin typeface="Arial" pitchFamily="34" charset="0"/>
                <a:cs typeface="Arial" pitchFamily="34" charset="0"/>
              </a:rPr>
              <a:t>Monitor pupil’s daily performance using a probe</a:t>
            </a:r>
          </a:p>
          <a:p>
            <a:pPr marL="609600" indent="-609600">
              <a:lnSpc>
                <a:spcPct val="80000"/>
              </a:lnSpc>
              <a:buFontTx/>
              <a:buAutoNum type="arabicPeriod" startAt="5"/>
            </a:pPr>
            <a:r>
              <a:rPr lang="en-GB" altLang="en-US" sz="2400" dirty="0" smtClean="0">
                <a:solidFill>
                  <a:schemeClr val="bg1"/>
                </a:solidFill>
                <a:latin typeface="Arial" pitchFamily="34" charset="0"/>
                <a:cs typeface="Arial" pitchFamily="34" charset="0"/>
              </a:rPr>
              <a:t>Chart results (PM) and make note of teaching methods</a:t>
            </a:r>
          </a:p>
          <a:p>
            <a:pPr marL="609600" indent="-609600">
              <a:lnSpc>
                <a:spcPct val="80000"/>
              </a:lnSpc>
              <a:buFontTx/>
              <a:buAutoNum type="arabicPeriod" startAt="6"/>
            </a:pPr>
            <a:r>
              <a:rPr lang="en-GB" altLang="en-US" sz="2400" dirty="0" smtClean="0">
                <a:solidFill>
                  <a:schemeClr val="bg1"/>
                </a:solidFill>
                <a:latin typeface="Arial" pitchFamily="34" charset="0"/>
                <a:cs typeface="Arial" pitchFamily="34" charset="0"/>
              </a:rPr>
              <a:t>Analyse the data to determine if a change of target is needed or change in teaching method</a:t>
            </a:r>
          </a:p>
        </p:txBody>
      </p:sp>
    </p:spTree>
    <p:extLst>
      <p:ext uri="{BB962C8B-B14F-4D97-AF65-F5344CB8AC3E}">
        <p14:creationId xmlns:p14="http://schemas.microsoft.com/office/powerpoint/2010/main" val="361559091"/>
      </p:ext>
    </p:extLst>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294</TotalTime>
  <Words>4054</Words>
  <Application>Microsoft Office PowerPoint</Application>
  <PresentationFormat>On-screen Show (4:3)</PresentationFormat>
  <Paragraphs>509</Paragraphs>
  <Slides>37</Slides>
  <Notes>35</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Powerpoint_master_template</vt:lpstr>
      <vt:lpstr>PowerPoint Presentation</vt:lpstr>
      <vt:lpstr>PowerPoint Presentation</vt:lpstr>
      <vt:lpstr>Aim for Session </vt:lpstr>
      <vt:lpstr>What is Precision Teaching?</vt:lpstr>
      <vt:lpstr>When can Precision Teaching be used?</vt:lpstr>
      <vt:lpstr>The Learning Hierarchy</vt:lpstr>
      <vt:lpstr>PowerPoint Presentation</vt:lpstr>
      <vt:lpstr>PowerPoint Presentation</vt:lpstr>
      <vt:lpstr>PowerPoint Presentation</vt:lpstr>
      <vt:lpstr>Before you start Precision Teaching </vt:lpstr>
      <vt:lpstr>How do you do Precision Teaching?</vt:lpstr>
      <vt:lpstr>STEP 1</vt:lpstr>
      <vt:lpstr>‘Task Analysis’ – where are they now? </vt:lpstr>
      <vt:lpstr>Probes</vt:lpstr>
      <vt:lpstr>Types of probe:</vt:lpstr>
      <vt:lpstr>Initial Assessment</vt:lpstr>
      <vt:lpstr>Initial Assessment</vt:lpstr>
      <vt:lpstr>Initial Assessment</vt:lpstr>
      <vt:lpstr>Initial Assessment</vt:lpstr>
      <vt:lpstr>Step 2 - Setting a Target</vt:lpstr>
      <vt:lpstr>2. Targets</vt:lpstr>
      <vt:lpstr>2. Targets</vt:lpstr>
      <vt:lpstr>Step 3- Teaching  (Up to 10 mins per day)</vt:lpstr>
      <vt:lpstr>3. Teaching methods</vt:lpstr>
      <vt:lpstr>Points to remember</vt:lpstr>
      <vt:lpstr>Step 4 – Monitoring Performance</vt:lpstr>
      <vt:lpstr>PT Probe Generator</vt:lpstr>
      <vt:lpstr>Step 5- Chart Results</vt:lpstr>
      <vt:lpstr>5. Ratio charts </vt:lpstr>
      <vt:lpstr> 5. Recording</vt:lpstr>
      <vt:lpstr>PowerPoint Presentation</vt:lpstr>
      <vt:lpstr>Step 6- Analyse the Data</vt:lpstr>
      <vt:lpstr>6a. Change - response to data analysis</vt:lpstr>
      <vt:lpstr>6b. Maintenance</vt:lpstr>
      <vt:lpstr>Recap of the steps of precision monitoring</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21</cp:revision>
  <cp:lastPrinted>2015-09-16T14:47:36Z</cp:lastPrinted>
  <dcterms:created xsi:type="dcterms:W3CDTF">2017-09-05T13:13:18Z</dcterms:created>
  <dcterms:modified xsi:type="dcterms:W3CDTF">2018-01-16T13:11:50Z</dcterms:modified>
</cp:coreProperties>
</file>