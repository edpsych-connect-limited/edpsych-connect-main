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6"/>
  </p:notesMasterIdLst>
  <p:sldIdLst>
    <p:sldId id="257" r:id="rId3"/>
    <p:sldId id="263" r:id="rId4"/>
    <p:sldId id="264" r:id="rId5"/>
    <p:sldId id="265" r:id="rId6"/>
    <p:sldId id="266" r:id="rId7"/>
    <p:sldId id="312" r:id="rId8"/>
    <p:sldId id="289" r:id="rId9"/>
    <p:sldId id="267" r:id="rId10"/>
    <p:sldId id="308" r:id="rId11"/>
    <p:sldId id="268" r:id="rId12"/>
    <p:sldId id="270" r:id="rId13"/>
    <p:sldId id="271" r:id="rId14"/>
    <p:sldId id="272" r:id="rId15"/>
    <p:sldId id="309" r:id="rId16"/>
    <p:sldId id="273" r:id="rId17"/>
    <p:sldId id="274" r:id="rId18"/>
    <p:sldId id="310" r:id="rId19"/>
    <p:sldId id="277" r:id="rId20"/>
    <p:sldId id="278" r:id="rId21"/>
    <p:sldId id="279" r:id="rId22"/>
    <p:sldId id="280" r:id="rId23"/>
    <p:sldId id="282" r:id="rId24"/>
    <p:sldId id="284" r:id="rId25"/>
    <p:sldId id="311" r:id="rId26"/>
    <p:sldId id="285" r:id="rId27"/>
    <p:sldId id="286" r:id="rId28"/>
    <p:sldId id="288" r:id="rId29"/>
    <p:sldId id="295" r:id="rId30"/>
    <p:sldId id="297" r:id="rId31"/>
    <p:sldId id="313" r:id="rId32"/>
    <p:sldId id="298" r:id="rId33"/>
    <p:sldId id="299" r:id="rId34"/>
    <p:sldId id="30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71795" autoAdjust="0"/>
  </p:normalViewPr>
  <p:slideViewPr>
    <p:cSldViewPr snapToGrid="0">
      <p:cViewPr varScale="1">
        <p:scale>
          <a:sx n="48" d="100"/>
          <a:sy n="48" d="100"/>
        </p:scale>
        <p:origin x="1364" y="28"/>
      </p:cViewPr>
      <p:guideLst/>
    </p:cSldViewPr>
  </p:slideViewPr>
  <p:notesTextViewPr>
    <p:cViewPr>
      <p:scale>
        <a:sx n="1" d="1"/>
        <a:sy n="1" d="1"/>
      </p:scale>
      <p:origin x="0" y="0"/>
    </p:cViewPr>
  </p:notesTextViewPr>
  <p:notesViewPr>
    <p:cSldViewPr snapToGrid="0">
      <p:cViewPr varScale="1">
        <p:scale>
          <a:sx n="51" d="100"/>
          <a:sy n="51" d="100"/>
        </p:scale>
        <p:origin x="2692" y="2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Scott Ighavongbe-Patrick" userId="b5ab16ac-412e-47fd-a1c7-60cd4a201f0e" providerId="ADAL" clId="{CDF39D39-4DB0-437F-AA21-A3AD67389051}"/>
    <pc:docChg chg="modSld">
      <pc:chgData name="Dr Scott Ighavongbe-Patrick" userId="b5ab16ac-412e-47fd-a1c7-60cd4a201f0e" providerId="ADAL" clId="{CDF39D39-4DB0-437F-AA21-A3AD67389051}" dt="2023-12-12T14:06:19.476" v="10" actId="20577"/>
      <pc:docMkLst>
        <pc:docMk/>
      </pc:docMkLst>
      <pc:sldChg chg="modNotesTx">
        <pc:chgData name="Dr Scott Ighavongbe-Patrick" userId="b5ab16ac-412e-47fd-a1c7-60cd4a201f0e" providerId="ADAL" clId="{CDF39D39-4DB0-437F-AA21-A3AD67389051}" dt="2023-12-12T14:04:28.199" v="0" actId="6549"/>
        <pc:sldMkLst>
          <pc:docMk/>
          <pc:sldMk cId="1704290171" sldId="263"/>
        </pc:sldMkLst>
      </pc:sldChg>
      <pc:sldChg chg="modNotesTx">
        <pc:chgData name="Dr Scott Ighavongbe-Patrick" userId="b5ab16ac-412e-47fd-a1c7-60cd4a201f0e" providerId="ADAL" clId="{CDF39D39-4DB0-437F-AA21-A3AD67389051}" dt="2023-12-12T14:04:40.575" v="1" actId="20577"/>
        <pc:sldMkLst>
          <pc:docMk/>
          <pc:sldMk cId="2405963731" sldId="264"/>
        </pc:sldMkLst>
      </pc:sldChg>
      <pc:sldChg chg="modNotesTx">
        <pc:chgData name="Dr Scott Ighavongbe-Patrick" userId="b5ab16ac-412e-47fd-a1c7-60cd4a201f0e" providerId="ADAL" clId="{CDF39D39-4DB0-437F-AA21-A3AD67389051}" dt="2023-12-12T14:04:48.044" v="2" actId="20577"/>
        <pc:sldMkLst>
          <pc:docMk/>
          <pc:sldMk cId="1339071751" sldId="266"/>
        </pc:sldMkLst>
      </pc:sldChg>
      <pc:sldChg chg="modNotesTx">
        <pc:chgData name="Dr Scott Ighavongbe-Patrick" userId="b5ab16ac-412e-47fd-a1c7-60cd4a201f0e" providerId="ADAL" clId="{CDF39D39-4DB0-437F-AA21-A3AD67389051}" dt="2023-12-12T14:05:33.080" v="3" actId="20577"/>
        <pc:sldMkLst>
          <pc:docMk/>
          <pc:sldMk cId="2532752448" sldId="273"/>
        </pc:sldMkLst>
      </pc:sldChg>
      <pc:sldChg chg="modNotesTx">
        <pc:chgData name="Dr Scott Ighavongbe-Patrick" userId="b5ab16ac-412e-47fd-a1c7-60cd4a201f0e" providerId="ADAL" clId="{CDF39D39-4DB0-437F-AA21-A3AD67389051}" dt="2023-12-12T14:05:44.711" v="4" actId="20577"/>
        <pc:sldMkLst>
          <pc:docMk/>
          <pc:sldMk cId="804640427" sldId="280"/>
        </pc:sldMkLst>
      </pc:sldChg>
      <pc:sldChg chg="modNotesTx">
        <pc:chgData name="Dr Scott Ighavongbe-Patrick" userId="b5ab16ac-412e-47fd-a1c7-60cd4a201f0e" providerId="ADAL" clId="{CDF39D39-4DB0-437F-AA21-A3AD67389051}" dt="2023-12-12T14:05:50.414" v="5" actId="20577"/>
        <pc:sldMkLst>
          <pc:docMk/>
          <pc:sldMk cId="2303050508" sldId="284"/>
        </pc:sldMkLst>
      </pc:sldChg>
      <pc:sldChg chg="modNotesTx">
        <pc:chgData name="Dr Scott Ighavongbe-Patrick" userId="b5ab16ac-412e-47fd-a1c7-60cd4a201f0e" providerId="ADAL" clId="{CDF39D39-4DB0-437F-AA21-A3AD67389051}" dt="2023-12-12T14:05:59.259" v="7" actId="20577"/>
        <pc:sldMkLst>
          <pc:docMk/>
          <pc:sldMk cId="4071061401" sldId="285"/>
        </pc:sldMkLst>
      </pc:sldChg>
      <pc:sldChg chg="modNotesTx">
        <pc:chgData name="Dr Scott Ighavongbe-Patrick" userId="b5ab16ac-412e-47fd-a1c7-60cd4a201f0e" providerId="ADAL" clId="{CDF39D39-4DB0-437F-AA21-A3AD67389051}" dt="2023-12-12T14:06:03.045" v="8" actId="20577"/>
        <pc:sldMkLst>
          <pc:docMk/>
          <pc:sldMk cId="2869138057" sldId="286"/>
        </pc:sldMkLst>
      </pc:sldChg>
      <pc:sldChg chg="modNotesTx">
        <pc:chgData name="Dr Scott Ighavongbe-Patrick" userId="b5ab16ac-412e-47fd-a1c7-60cd4a201f0e" providerId="ADAL" clId="{CDF39D39-4DB0-437F-AA21-A3AD67389051}" dt="2023-12-12T14:06:09.686" v="9" actId="20577"/>
        <pc:sldMkLst>
          <pc:docMk/>
          <pc:sldMk cId="4215580250" sldId="288"/>
        </pc:sldMkLst>
      </pc:sldChg>
      <pc:sldChg chg="modNotesTx">
        <pc:chgData name="Dr Scott Ighavongbe-Patrick" userId="b5ab16ac-412e-47fd-a1c7-60cd4a201f0e" providerId="ADAL" clId="{CDF39D39-4DB0-437F-AA21-A3AD67389051}" dt="2023-12-12T14:06:19.476" v="10" actId="20577"/>
        <pc:sldMkLst>
          <pc:docMk/>
          <pc:sldMk cId="1214634921" sldId="2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09D909-8A01-416B-8FFF-D0AAC1A6627E}" type="datetimeFigureOut">
              <a:t>12/12/2023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706543-DF5D-491A-B32E-1E45A17F1B57}" type="slidenum">
              <a:t>‹#›</a:t>
            </a:fld>
            <a:endParaRPr lang="en-US"/>
          </a:p>
        </p:txBody>
      </p:sp>
    </p:spTree>
    <p:extLst>
      <p:ext uri="{BB962C8B-B14F-4D97-AF65-F5344CB8AC3E}">
        <p14:creationId xmlns:p14="http://schemas.microsoft.com/office/powerpoint/2010/main" val="414213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7706543-DF5D-491A-B32E-1E45A17F1B57}" type="slidenum">
              <a:rPr lang="en-GB" smtClean="0"/>
              <a:t>1</a:t>
            </a:fld>
            <a:endParaRPr lang="en-GB"/>
          </a:p>
        </p:txBody>
      </p:sp>
    </p:spTree>
    <p:extLst>
      <p:ext uri="{BB962C8B-B14F-4D97-AF65-F5344CB8AC3E}">
        <p14:creationId xmlns:p14="http://schemas.microsoft.com/office/powerpoint/2010/main" val="2564225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a:t>
            </a:fld>
            <a:endParaRPr lang="en-US"/>
          </a:p>
        </p:txBody>
      </p:sp>
    </p:spTree>
    <p:extLst>
      <p:ext uri="{BB962C8B-B14F-4D97-AF65-F5344CB8AC3E}">
        <p14:creationId xmlns:p14="http://schemas.microsoft.com/office/powerpoint/2010/main" val="1767551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7706543-DF5D-491A-B32E-1E45A17F1B57}" type="slidenum">
              <a:rPr lang="en-GB" smtClean="0"/>
              <a:t>3</a:t>
            </a:fld>
            <a:endParaRPr lang="en-GB"/>
          </a:p>
        </p:txBody>
      </p:sp>
    </p:spTree>
    <p:extLst>
      <p:ext uri="{BB962C8B-B14F-4D97-AF65-F5344CB8AC3E}">
        <p14:creationId xmlns:p14="http://schemas.microsoft.com/office/powerpoint/2010/main" val="2594454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5</a:t>
            </a:fld>
            <a:endParaRPr lang="en-US"/>
          </a:p>
        </p:txBody>
      </p:sp>
    </p:spTree>
    <p:extLst>
      <p:ext uri="{BB962C8B-B14F-4D97-AF65-F5344CB8AC3E}">
        <p14:creationId xmlns:p14="http://schemas.microsoft.com/office/powerpoint/2010/main" val="846011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9410" indent="-359410">
              <a:lnSpc>
                <a:spcPct val="114999"/>
              </a:lnSpc>
              <a:spcBef>
                <a:spcPts val="1000"/>
              </a:spcBef>
              <a:buFont typeface="Arial"/>
              <a:buChar char="•"/>
            </a:pPr>
            <a:r>
              <a:rPr lang="en-US" b="1" dirty="0"/>
              <a:t>I</a:t>
            </a:r>
            <a:endParaRPr lang="en-US" dirty="0"/>
          </a:p>
        </p:txBody>
      </p:sp>
      <p:sp>
        <p:nvSpPr>
          <p:cNvPr id="4" name="Slide Number Placeholder 3"/>
          <p:cNvSpPr>
            <a:spLocks noGrp="1"/>
          </p:cNvSpPr>
          <p:nvPr>
            <p:ph type="sldNum" sz="quarter" idx="5"/>
          </p:nvPr>
        </p:nvSpPr>
        <p:spPr/>
        <p:txBody>
          <a:bodyPr/>
          <a:lstStyle/>
          <a:p>
            <a:fld id="{E7706543-DF5D-491A-B32E-1E45A17F1B57}" type="slidenum">
              <a:t>6</a:t>
            </a:fld>
            <a:endParaRPr lang="en-US"/>
          </a:p>
        </p:txBody>
      </p:sp>
    </p:spTree>
    <p:extLst>
      <p:ext uri="{BB962C8B-B14F-4D97-AF65-F5344CB8AC3E}">
        <p14:creationId xmlns:p14="http://schemas.microsoft.com/office/powerpoint/2010/main" val="1878143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Examples of what might trigger these affects include:</a:t>
            </a:r>
          </a:p>
          <a:p>
            <a:r>
              <a:rPr lang="en-GB" dirty="0"/>
              <a:t>Pupil’s senses picking up something to big, too loud, or too fast, and/or feeling threatened (fear-terror).</a:t>
            </a:r>
          </a:p>
          <a:p>
            <a:r>
              <a:rPr lang="en-GB" dirty="0"/>
              <a:t>Response triggered when too much has been happening for too long, or when overwhelmed (distress-anguish).</a:t>
            </a:r>
          </a:p>
          <a:p>
            <a:r>
              <a:rPr lang="en-GB" dirty="0"/>
              <a:t>When that too much finally stops happening or a reward is received (enjoyment-joy). </a:t>
            </a:r>
          </a:p>
          <a:p>
            <a:r>
              <a:rPr lang="en-GB" dirty="0"/>
              <a:t>When senses encounter a novel stimulus that is just right or discovering something new (interest-excitement).</a:t>
            </a:r>
          </a:p>
          <a:p>
            <a:r>
              <a:rPr lang="en-GB" dirty="0"/>
              <a:t>Experiencing an unexpected event (surprise-startle).</a:t>
            </a:r>
          </a:p>
          <a:p>
            <a:r>
              <a:rPr lang="en-GB" dirty="0"/>
              <a:t>Being treated unfairly (anger-rage).</a:t>
            </a:r>
          </a:p>
          <a:p>
            <a:r>
              <a:rPr lang="en-GB" dirty="0"/>
              <a:t>Encountering something unpleasant (disgust). </a:t>
            </a:r>
          </a:p>
          <a:p>
            <a:r>
              <a:rPr lang="en-GB" dirty="0"/>
              <a:t>Feeling exposed (shame-humiliation).</a:t>
            </a:r>
          </a:p>
          <a:p>
            <a:r>
              <a:rPr lang="en-GB" dirty="0"/>
              <a:t>Select one or two examples- don’t go through them all</a:t>
            </a:r>
          </a:p>
          <a:p>
            <a:endParaRPr lang="en-GB" dirty="0"/>
          </a:p>
          <a:p>
            <a:r>
              <a:rPr lang="en-GB" dirty="0"/>
              <a:t>A pupil's biography can intensify their reactions to situations. This is particularly true when pupils are confronted with challenges that have persisted for a long time. </a:t>
            </a:r>
          </a:p>
          <a:p>
            <a:r>
              <a:rPr lang="en-GB" dirty="0"/>
              <a:t>Pupils may use presenting behaviours as a way to maximise positive affects and avoid negative affects triggered by persistent challenges. For example, a pupil who has experienced neglect may seek attention through disruptive behaviour, as a way of compensating for the lack of attention they received at home. </a:t>
            </a:r>
          </a:p>
          <a:p>
            <a:r>
              <a:rPr lang="en-GB" dirty="0"/>
              <a:t>By understanding the role of biography, we can begin to recognise the underlying needs of pupils and respond to them in a more targeted way.</a:t>
            </a:r>
          </a:p>
          <a:p>
            <a:r>
              <a:rPr lang="en-GB" dirty="0"/>
              <a:t>Most of the experiences of interest and joy that get impeded have to do with interpersonal engagement with others. So, think of shame as an interpersonal/interactional affect. </a:t>
            </a:r>
          </a:p>
          <a:p>
            <a:r>
              <a:rPr lang="en-GB" dirty="0"/>
              <a:t>Once positive affect is impeded, the affect shame focuses attention on the impediment that triggered the negative affect. </a:t>
            </a:r>
          </a:p>
          <a:p>
            <a:r>
              <a:rPr lang="en-GB" dirty="0"/>
              <a:t>Now, the thing is what we see in the moment of shame is something in us that isn’t perfect – scripted emotions/biography. </a:t>
            </a:r>
          </a:p>
          <a:p>
            <a:r>
              <a:rPr lang="en-GB" dirty="0"/>
              <a:t>Pupil’s draw on scripts built up over time to help minimise the destructive impact of negative affects…</a:t>
            </a:r>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1F34A0-44A0-4D2B-BA1B-246894D468C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8606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dirty="0"/>
              <a:t>Now,…</a:t>
            </a:r>
            <a:endParaRPr lang="en-GB" dirty="0"/>
          </a:p>
        </p:txBody>
      </p:sp>
      <p:sp>
        <p:nvSpPr>
          <p:cNvPr id="4" name="Slide Number Placeholder 3"/>
          <p:cNvSpPr>
            <a:spLocks noGrp="1"/>
          </p:cNvSpPr>
          <p:nvPr>
            <p:ph type="sldNum" sz="quarter" idx="5"/>
          </p:nvPr>
        </p:nvSpPr>
        <p:spPr/>
        <p:txBody>
          <a:bodyPr/>
          <a:lstStyle/>
          <a:p>
            <a:fld id="{E7706543-DF5D-491A-B32E-1E45A17F1B57}" type="slidenum">
              <a:rPr lang="en-GB" smtClean="0"/>
              <a:t>9</a:t>
            </a:fld>
            <a:endParaRPr lang="en-GB"/>
          </a:p>
        </p:txBody>
      </p:sp>
    </p:spTree>
    <p:extLst>
      <p:ext uri="{BB962C8B-B14F-4D97-AF65-F5344CB8AC3E}">
        <p14:creationId xmlns:p14="http://schemas.microsoft.com/office/powerpoint/2010/main" val="815170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For instance, …</a:t>
            </a:r>
            <a:endParaRPr lang="en-GB" dirty="0"/>
          </a:p>
        </p:txBody>
      </p:sp>
      <p:sp>
        <p:nvSpPr>
          <p:cNvPr id="4" name="Slide Number Placeholder 3"/>
          <p:cNvSpPr>
            <a:spLocks noGrp="1"/>
          </p:cNvSpPr>
          <p:nvPr>
            <p:ph type="sldNum" sz="quarter" idx="5"/>
          </p:nvPr>
        </p:nvSpPr>
        <p:spPr/>
        <p:txBody>
          <a:bodyPr/>
          <a:lstStyle/>
          <a:p>
            <a:fld id="{E7706543-DF5D-491A-B32E-1E45A17F1B57}" type="slidenum">
              <a:rPr lang="en-GB" smtClean="0"/>
              <a:t>10</a:t>
            </a:fld>
            <a:endParaRPr lang="en-GB"/>
          </a:p>
        </p:txBody>
      </p:sp>
    </p:spTree>
    <p:extLst>
      <p:ext uri="{BB962C8B-B14F-4D97-AF65-F5344CB8AC3E}">
        <p14:creationId xmlns:p14="http://schemas.microsoft.com/office/powerpoint/2010/main" val="3794497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15</a:t>
            </a:fld>
            <a:endParaRPr lang="en-US"/>
          </a:p>
        </p:txBody>
      </p:sp>
    </p:spTree>
    <p:extLst>
      <p:ext uri="{BB962C8B-B14F-4D97-AF65-F5344CB8AC3E}">
        <p14:creationId xmlns:p14="http://schemas.microsoft.com/office/powerpoint/2010/main" val="8489451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21</a:t>
            </a:fld>
            <a:endParaRPr lang="en-US"/>
          </a:p>
        </p:txBody>
      </p:sp>
    </p:spTree>
    <p:extLst>
      <p:ext uri="{BB962C8B-B14F-4D97-AF65-F5344CB8AC3E}">
        <p14:creationId xmlns:p14="http://schemas.microsoft.com/office/powerpoint/2010/main" val="1299812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23</a:t>
            </a:fld>
            <a:endParaRPr lang="en-US"/>
          </a:p>
        </p:txBody>
      </p:sp>
    </p:spTree>
    <p:extLst>
      <p:ext uri="{BB962C8B-B14F-4D97-AF65-F5344CB8AC3E}">
        <p14:creationId xmlns:p14="http://schemas.microsoft.com/office/powerpoint/2010/main" val="109839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9410" indent="-359410">
              <a:lnSpc>
                <a:spcPct val="114999"/>
              </a:lnSpc>
              <a:spcBef>
                <a:spcPts val="1000"/>
              </a:spcBef>
              <a:buFont typeface="Arial"/>
              <a:buChar char="•"/>
            </a:pPr>
            <a:r>
              <a:rPr lang="en-US" b="1" dirty="0"/>
              <a:t>I</a:t>
            </a:r>
            <a:endParaRPr lang="en-US" dirty="0"/>
          </a:p>
        </p:txBody>
      </p:sp>
      <p:sp>
        <p:nvSpPr>
          <p:cNvPr id="4" name="Slide Number Placeholder 3"/>
          <p:cNvSpPr>
            <a:spLocks noGrp="1"/>
          </p:cNvSpPr>
          <p:nvPr>
            <p:ph type="sldNum" sz="quarter" idx="5"/>
          </p:nvPr>
        </p:nvSpPr>
        <p:spPr/>
        <p:txBody>
          <a:bodyPr/>
          <a:lstStyle/>
          <a:p>
            <a:fld id="{E7706543-DF5D-491A-B32E-1E45A17F1B57}" type="slidenum">
              <a:t>24</a:t>
            </a:fld>
            <a:endParaRPr lang="en-US"/>
          </a:p>
        </p:txBody>
      </p:sp>
    </p:spTree>
    <p:extLst>
      <p:ext uri="{BB962C8B-B14F-4D97-AF65-F5344CB8AC3E}">
        <p14:creationId xmlns:p14="http://schemas.microsoft.com/office/powerpoint/2010/main" val="2667384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706543-DF5D-491A-B32E-1E45A17F1B57}" type="slidenum">
              <a:t>25</a:t>
            </a:fld>
            <a:endParaRPr lang="en-US"/>
          </a:p>
        </p:txBody>
      </p:sp>
    </p:spTree>
    <p:extLst>
      <p:ext uri="{BB962C8B-B14F-4D97-AF65-F5344CB8AC3E}">
        <p14:creationId xmlns:p14="http://schemas.microsoft.com/office/powerpoint/2010/main" val="3135055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26</a:t>
            </a:fld>
            <a:endParaRPr lang="en-US"/>
          </a:p>
        </p:txBody>
      </p:sp>
    </p:spTree>
    <p:extLst>
      <p:ext uri="{BB962C8B-B14F-4D97-AF65-F5344CB8AC3E}">
        <p14:creationId xmlns:p14="http://schemas.microsoft.com/office/powerpoint/2010/main" val="2068262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27</a:t>
            </a:fld>
            <a:endParaRPr lang="en-US"/>
          </a:p>
        </p:txBody>
      </p:sp>
    </p:spTree>
    <p:extLst>
      <p:ext uri="{BB962C8B-B14F-4D97-AF65-F5344CB8AC3E}">
        <p14:creationId xmlns:p14="http://schemas.microsoft.com/office/powerpoint/2010/main" val="10356392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E7706543-DF5D-491A-B32E-1E45A17F1B57}" type="slidenum">
              <a:t>28</a:t>
            </a:fld>
            <a:endParaRPr lang="en-US"/>
          </a:p>
        </p:txBody>
      </p:sp>
    </p:spTree>
    <p:extLst>
      <p:ext uri="{BB962C8B-B14F-4D97-AF65-F5344CB8AC3E}">
        <p14:creationId xmlns:p14="http://schemas.microsoft.com/office/powerpoint/2010/main" val="3459692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7706543-DF5D-491A-B32E-1E45A17F1B57}" type="slidenum">
              <a:rPr lang="en-GB" smtClean="0"/>
              <a:t>30</a:t>
            </a:fld>
            <a:endParaRPr lang="en-GB"/>
          </a:p>
        </p:txBody>
      </p:sp>
    </p:spTree>
    <p:extLst>
      <p:ext uri="{BB962C8B-B14F-4D97-AF65-F5344CB8AC3E}">
        <p14:creationId xmlns:p14="http://schemas.microsoft.com/office/powerpoint/2010/main" val="2277685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12/12/2023</a:t>
            </a:fld>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235599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12/12/2023</a:t>
            </a:fld>
            <a:endParaRPr lang="en-US"/>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4057547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12/12/2023</a:t>
            </a:fld>
            <a:endParaRPr lang="en-US"/>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829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12/12/2023</a:t>
            </a:fld>
            <a:endParaRPr lang="en-US"/>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046769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12/12/2023</a:t>
            </a:fld>
            <a:endParaRPr lang="en-US"/>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876541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12/12/2023</a:t>
            </a:fld>
            <a:endParaRPr lang="en-US"/>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044882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12/12/2023</a:t>
            </a:fld>
            <a:endParaRPr lang="en-US"/>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139374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12/12/2023</a:t>
            </a:fld>
            <a:endParaRPr lang="en-US"/>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038291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12/12/2023</a:t>
            </a:fld>
            <a:endParaRPr lang="en-US"/>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4238269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12/12/2023</a:t>
            </a:fld>
            <a:endParaRPr lang="en-US"/>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149727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12/12/2023</a:t>
            </a:fld>
            <a:endParaRPr lang="en-US"/>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5289170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828692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
        <p:nvSpPr>
          <p:cNvPr id="7" name="Rectangle 6"/>
          <p:cNvSpPr/>
          <p:nvPr userDrawn="1"/>
        </p:nvSpPr>
        <p:spPr>
          <a:xfrm flipH="1">
            <a:off x="308350" y="6422074"/>
            <a:ext cx="11575313" cy="184297"/>
          </a:xfrm>
          <a:prstGeom prst="rect">
            <a:avLst/>
          </a:prstGeom>
          <a:gradFill>
            <a:gsLst>
              <a:gs pos="0">
                <a:srgbClr val="2C2D84"/>
              </a:gs>
              <a:gs pos="50000">
                <a:srgbClr val="006AB4"/>
              </a:gs>
              <a:gs pos="100000">
                <a:srgbClr val="9FC63B"/>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TextBox 7"/>
          <p:cNvSpPr txBox="1"/>
          <p:nvPr userDrawn="1"/>
        </p:nvSpPr>
        <p:spPr>
          <a:xfrm>
            <a:off x="223290" y="6110180"/>
            <a:ext cx="5861727" cy="276999"/>
          </a:xfrm>
          <a:prstGeom prst="rect">
            <a:avLst/>
          </a:prstGeom>
          <a:noFill/>
        </p:spPr>
        <p:txBody>
          <a:bodyPr wrap="square" rtlCol="0">
            <a:spAutoFit/>
          </a:bodyPr>
          <a:lstStyle/>
          <a:p>
            <a:r>
              <a:rPr lang="en-GB" sz="1200" dirty="0">
                <a:solidFill>
                  <a:schemeClr val="tx1"/>
                </a:solidFill>
                <a:latin typeface="+mn-lt"/>
              </a:rPr>
              <a:t>BUCKINGHAMSHIRE</a:t>
            </a:r>
            <a:r>
              <a:rPr lang="en-GB" sz="1200" baseline="0" dirty="0">
                <a:solidFill>
                  <a:schemeClr val="tx1"/>
                </a:solidFill>
                <a:latin typeface="+mn-lt"/>
              </a:rPr>
              <a:t> COUNCIL</a:t>
            </a:r>
            <a:endParaRPr lang="en-GB" sz="1200" dirty="0">
              <a:solidFill>
                <a:schemeClr val="tx1"/>
              </a:solidFill>
              <a:latin typeface="+mn-lt"/>
            </a:endParaRPr>
          </a:p>
        </p:txBody>
      </p:sp>
    </p:spTree>
    <p:extLst>
      <p:ext uri="{BB962C8B-B14F-4D97-AF65-F5344CB8AC3E}">
        <p14:creationId xmlns:p14="http://schemas.microsoft.com/office/powerpoint/2010/main" val="14230549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215B87-3049-4CCA-8D28-C8F0F29ED1B4}" type="datetimeFigureOut">
              <a:rPr lang="en-GB" smtClean="0"/>
              <a:t>12/12/2023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2938168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215B87-3049-4CCA-8D28-C8F0F29ED1B4}" type="datetimeFigureOut">
              <a:rPr lang="en-GB" smtClean="0"/>
              <a:t>12/12/2023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779748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215B87-3049-4CCA-8D28-C8F0F29ED1B4}" type="datetimeFigureOut">
              <a:rPr lang="en-GB" smtClean="0"/>
              <a:t>12/12/2023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2922882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215B87-3049-4CCA-8D28-C8F0F29ED1B4}" type="datetimeFigureOut">
              <a:rPr lang="en-GB" smtClean="0"/>
              <a:t>12/12/2023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6471261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215B87-3049-4CCA-8D28-C8F0F29ED1B4}" type="datetimeFigureOut">
              <a:rPr lang="en-GB" smtClean="0"/>
              <a:t>12/12/2023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6229457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15B87-3049-4CCA-8D28-C8F0F29ED1B4}" type="datetimeFigureOut">
              <a:rPr lang="en-GB" smtClean="0"/>
              <a:t>12/12/2023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18919347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15B87-3049-4CCA-8D28-C8F0F29ED1B4}" type="datetimeFigureOut">
              <a:rPr lang="en-GB" smtClean="0"/>
              <a:t>12/12/2023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839062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15B87-3049-4CCA-8D28-C8F0F29ED1B4}" type="datetimeFigureOut">
              <a:rPr lang="en-GB" smtClean="0"/>
              <a:t>12/12/2023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9110225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15B87-3049-4CCA-8D28-C8F0F29ED1B4}" type="datetimeFigureOut">
              <a:rPr lang="en-GB" smtClean="0"/>
              <a:t>12/12/2023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5632603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txBox="1">
            <a:spLocks/>
          </p:cNvSpPr>
          <p:nvPr userDrawn="1"/>
        </p:nvSpPr>
        <p:spPr>
          <a:xfrm>
            <a:off x="914544" y="1599416"/>
            <a:ext cx="10364861" cy="11036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a:t>Click to edit Master title style</a:t>
            </a:r>
            <a:endParaRPr lang="en-GB" sz="4400"/>
          </a:p>
        </p:txBody>
      </p:sp>
      <p:sp>
        <p:nvSpPr>
          <p:cNvPr id="3" name="Subtitle 2"/>
          <p:cNvSpPr txBox="1">
            <a:spLocks/>
          </p:cNvSpPr>
          <p:nvPr userDrawn="1"/>
        </p:nvSpPr>
        <p:spPr>
          <a:xfrm>
            <a:off x="1829092" y="2917559"/>
            <a:ext cx="8535768" cy="13157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tint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lang="en-US" sz="2800"/>
              <a:t>Click to edit Master subtitle style</a:t>
            </a:r>
            <a:endParaRPr lang="en-GB" sz="2800"/>
          </a:p>
        </p:txBody>
      </p:sp>
      <p:sp>
        <p:nvSpPr>
          <p:cNvPr id="4" name="Date Placeholder 3"/>
          <p:cNvSpPr txBox="1">
            <a:spLocks/>
          </p:cNvSpPr>
          <p:nvPr userDrawn="1"/>
        </p:nvSpPr>
        <p:spPr>
          <a:xfrm>
            <a:off x="609700" y="4772027"/>
            <a:ext cx="2845256" cy="2741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A3FF8B-3D7E-40A3-972F-2290F6E679E5}" type="datetimeFigureOut">
              <a:rPr lang="en-GB" sz="1800" smtClean="0"/>
              <a:pPr/>
              <a:t>12/12/2023</a:t>
            </a:fld>
            <a:endParaRPr lang="en-GB" sz="1800"/>
          </a:p>
        </p:txBody>
      </p:sp>
      <p:sp>
        <p:nvSpPr>
          <p:cNvPr id="5" name="Slide Number Placeholder 5"/>
          <p:cNvSpPr txBox="1">
            <a:spLocks/>
          </p:cNvSpPr>
          <p:nvPr userDrawn="1"/>
        </p:nvSpPr>
        <p:spPr>
          <a:xfrm>
            <a:off x="8739001" y="4772027"/>
            <a:ext cx="2845256" cy="2741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0B5BB9-13EB-4BF4-AFFE-1FD7252BD932}" type="slidenum">
              <a:rPr lang="en-GB" sz="1800" smtClean="0"/>
              <a:pPr/>
              <a:t>‹#›</a:t>
            </a:fld>
            <a:endParaRPr lang="en-GB" sz="1800"/>
          </a:p>
        </p:txBody>
      </p:sp>
      <p:sp>
        <p:nvSpPr>
          <p:cNvPr id="6" name="Title 1"/>
          <p:cNvSpPr txBox="1">
            <a:spLocks/>
          </p:cNvSpPr>
          <p:nvPr userDrawn="1"/>
        </p:nvSpPr>
        <p:spPr>
          <a:xfrm>
            <a:off x="914544" y="1599416"/>
            <a:ext cx="10364861" cy="110362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400"/>
              <a:t>Click to edit Master title style</a:t>
            </a:r>
            <a:endParaRPr lang="en-GB" sz="4400"/>
          </a:p>
        </p:txBody>
      </p:sp>
      <p:sp>
        <p:nvSpPr>
          <p:cNvPr id="7" name="Subtitle 2"/>
          <p:cNvSpPr txBox="1">
            <a:spLocks/>
          </p:cNvSpPr>
          <p:nvPr userDrawn="1"/>
        </p:nvSpPr>
        <p:spPr>
          <a:xfrm>
            <a:off x="1829092" y="2917559"/>
            <a:ext cx="8535768" cy="131576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3200"/>
              <a:t>Click to edit Master subtitle style</a:t>
            </a:r>
            <a:endParaRPr lang="en-GB" sz="3200"/>
          </a:p>
        </p:txBody>
      </p:sp>
      <p:sp>
        <p:nvSpPr>
          <p:cNvPr id="8" name="Date Placeholder 3"/>
          <p:cNvSpPr txBox="1">
            <a:spLocks/>
          </p:cNvSpPr>
          <p:nvPr userDrawn="1"/>
        </p:nvSpPr>
        <p:spPr>
          <a:xfrm>
            <a:off x="609700" y="4772027"/>
            <a:ext cx="2845256" cy="274117"/>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2AC66C-F0BF-44A7-86C9-611CA48A43D7}" type="datetimeFigureOut">
              <a:rPr lang="en-GB" sz="1200" smtClean="0"/>
              <a:pPr/>
              <a:t>12/12/2023</a:t>
            </a:fld>
            <a:endParaRPr lang="en-GB" sz="1200"/>
          </a:p>
        </p:txBody>
      </p:sp>
      <p:sp>
        <p:nvSpPr>
          <p:cNvPr id="9" name="Slide Number Placeholder 5"/>
          <p:cNvSpPr txBox="1">
            <a:spLocks/>
          </p:cNvSpPr>
          <p:nvPr userDrawn="1"/>
        </p:nvSpPr>
        <p:spPr>
          <a:xfrm>
            <a:off x="8739001" y="4772027"/>
            <a:ext cx="2845256" cy="2741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4AF9087-94BC-415C-8A96-1D40BD70811D}" type="slidenum">
              <a:rPr lang="en-GB" sz="1200" smtClean="0"/>
              <a:pPr/>
              <a:t>‹#›</a:t>
            </a:fld>
            <a:endParaRPr lang="en-GB" sz="1200"/>
          </a:p>
        </p:txBody>
      </p:sp>
      <p:sp>
        <p:nvSpPr>
          <p:cNvPr id="10" name="Rectangle 9"/>
          <p:cNvSpPr/>
          <p:nvPr userDrawn="1"/>
        </p:nvSpPr>
        <p:spPr>
          <a:xfrm flipV="1">
            <a:off x="-1" y="-1"/>
            <a:ext cx="12204185" cy="6863708"/>
          </a:xfrm>
          <a:prstGeom prst="rect">
            <a:avLst/>
          </a:prstGeom>
          <a:gradFill flip="none" rotWithShape="1">
            <a:gsLst>
              <a:gs pos="0">
                <a:srgbClr val="2C2D84"/>
              </a:gs>
              <a:gs pos="66000">
                <a:srgbClr val="2E83C5"/>
              </a:gs>
              <a:gs pos="100000">
                <a:srgbClr val="9FC63B"/>
              </a:gs>
              <a:gs pos="42000">
                <a:srgbClr val="006AB4"/>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1" name="Group 10"/>
          <p:cNvGrpSpPr/>
          <p:nvPr userDrawn="1"/>
        </p:nvGrpSpPr>
        <p:grpSpPr>
          <a:xfrm flipH="1">
            <a:off x="0" y="3004706"/>
            <a:ext cx="12204184" cy="3853294"/>
            <a:chOff x="1" y="1725401"/>
            <a:chExt cx="12191996" cy="5132596"/>
          </a:xfrm>
        </p:grpSpPr>
        <p:sp>
          <p:nvSpPr>
            <p:cNvPr id="12" name="Google Shape;12;p2"/>
            <p:cNvSpPr/>
            <p:nvPr userDrawn="1"/>
          </p:nvSpPr>
          <p:spPr>
            <a:xfrm rot="10800000" flipH="1">
              <a:off x="1" y="1725401"/>
              <a:ext cx="2743198" cy="1645203"/>
            </a:xfrm>
            <a:custGeom>
              <a:avLst/>
              <a:gdLst/>
              <a:ahLst/>
              <a:cxnLst/>
              <a:rect l="l" t="t" r="r" b="b"/>
              <a:pathLst>
                <a:path w="642784" h="385464" extrusionOk="0">
                  <a:moveTo>
                    <a:pt x="0" y="113368"/>
                  </a:moveTo>
                  <a:lnTo>
                    <a:pt x="0" y="385724"/>
                  </a:lnTo>
                  <a:lnTo>
                    <a:pt x="642784" y="272355"/>
                  </a:lnTo>
                  <a:lnTo>
                    <a:pt x="642784" y="0"/>
                  </a:lnTo>
                  <a:lnTo>
                    <a:pt x="0" y="113368"/>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3" name="Google Shape;13;p2"/>
            <p:cNvSpPr/>
            <p:nvPr userDrawn="1"/>
          </p:nvSpPr>
          <p:spPr>
            <a:xfrm rot="10800000" flipH="1">
              <a:off x="1727199" y="5517695"/>
              <a:ext cx="7600947" cy="1340302"/>
            </a:xfrm>
            <a:custGeom>
              <a:avLst/>
              <a:gdLst/>
              <a:ahLst/>
              <a:cxnLst/>
              <a:rect l="l" t="t" r="r" b="b"/>
              <a:pathLst>
                <a:path w="1781048" h="314027" extrusionOk="0">
                  <a:moveTo>
                    <a:pt x="238155" y="0"/>
                  </a:moveTo>
                  <a:lnTo>
                    <a:pt x="0" y="42004"/>
                  </a:lnTo>
                  <a:lnTo>
                    <a:pt x="0" y="314359"/>
                  </a:lnTo>
                  <a:lnTo>
                    <a:pt x="1782389" y="0"/>
                  </a:lnTo>
                  <a:lnTo>
                    <a:pt x="238155" y="0"/>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4" name="Google Shape;14;p2"/>
            <p:cNvSpPr/>
            <p:nvPr userDrawn="1"/>
          </p:nvSpPr>
          <p:spPr>
            <a:xfrm rot="10800000" flipH="1">
              <a:off x="7753345" y="4255937"/>
              <a:ext cx="4438646" cy="1943757"/>
            </a:xfrm>
            <a:custGeom>
              <a:avLst/>
              <a:gdLst/>
              <a:ahLst/>
              <a:cxnLst/>
              <a:rect l="l" t="t" r="r" b="b"/>
              <a:pathLst>
                <a:path w="1040060" h="455414" extrusionOk="0">
                  <a:moveTo>
                    <a:pt x="1040061" y="0"/>
                  </a:moveTo>
                  <a:lnTo>
                    <a:pt x="0" y="184194"/>
                  </a:lnTo>
                  <a:lnTo>
                    <a:pt x="0" y="456550"/>
                  </a:lnTo>
                  <a:lnTo>
                    <a:pt x="1040061" y="272355"/>
                  </a:lnTo>
                  <a:lnTo>
                    <a:pt x="1040061" y="0"/>
                  </a:lnTo>
                  <a:close/>
                </a:path>
              </a:pathLst>
            </a:custGeom>
            <a:gradFill>
              <a:gsLst>
                <a:gs pos="0">
                  <a:srgbClr val="00001A">
                    <a:alpha val="1960"/>
                  </a:srgbClr>
                </a:gs>
                <a:gs pos="100000">
                  <a:srgbClr val="00001A">
                    <a:alpha val="7843"/>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5" name="Google Shape;16;p2"/>
            <p:cNvSpPr/>
            <p:nvPr userDrawn="1"/>
          </p:nvSpPr>
          <p:spPr>
            <a:xfrm rot="10800000" flipH="1">
              <a:off x="10915648" y="2490041"/>
              <a:ext cx="1276349" cy="1384766"/>
            </a:xfrm>
            <a:custGeom>
              <a:avLst/>
              <a:gdLst/>
              <a:ahLst/>
              <a:cxnLst/>
              <a:rect l="l" t="t" r="r" b="b"/>
              <a:pathLst>
                <a:path w="299073" h="324445" extrusionOk="0">
                  <a:moveTo>
                    <a:pt x="299073" y="0"/>
                  </a:moveTo>
                  <a:lnTo>
                    <a:pt x="0" y="52748"/>
                  </a:lnTo>
                  <a:lnTo>
                    <a:pt x="0" y="325103"/>
                  </a:lnTo>
                  <a:lnTo>
                    <a:pt x="299073" y="272355"/>
                  </a:lnTo>
                  <a:lnTo>
                    <a:pt x="299073" y="0"/>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6" name="Google Shape;17;p2"/>
            <p:cNvSpPr/>
            <p:nvPr userDrawn="1"/>
          </p:nvSpPr>
          <p:spPr>
            <a:xfrm rot="10800000" flipH="1">
              <a:off x="2730495" y="4531589"/>
              <a:ext cx="2381248" cy="1581685"/>
            </a:xfrm>
            <a:custGeom>
              <a:avLst/>
              <a:gdLst/>
              <a:ahLst/>
              <a:cxnLst/>
              <a:rect l="l" t="t" r="r" b="b"/>
              <a:pathLst>
                <a:path w="557972" h="370582" extrusionOk="0">
                  <a:moveTo>
                    <a:pt x="0" y="98410"/>
                  </a:moveTo>
                  <a:lnTo>
                    <a:pt x="0" y="370765"/>
                  </a:lnTo>
                  <a:lnTo>
                    <a:pt x="557973" y="272355"/>
                  </a:lnTo>
                  <a:lnTo>
                    <a:pt x="557973" y="0"/>
                  </a:lnTo>
                  <a:lnTo>
                    <a:pt x="0" y="98410"/>
                  </a:lnTo>
                  <a:close/>
                </a:path>
              </a:pathLst>
            </a:custGeom>
            <a:gradFill>
              <a:gsLst>
                <a:gs pos="0">
                  <a:srgbClr val="FFFFFF">
                    <a:alpha val="4705"/>
                  </a:srgbClr>
                </a:gs>
                <a:gs pos="100000">
                  <a:srgbClr val="FFFFFF">
                    <a:alpha val="11764"/>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7" name="Google Shape;18;p2"/>
            <p:cNvSpPr/>
            <p:nvPr userDrawn="1"/>
          </p:nvSpPr>
          <p:spPr>
            <a:xfrm rot="10800000" flipH="1">
              <a:off x="11366499" y="3735061"/>
              <a:ext cx="825498" cy="1302188"/>
            </a:xfrm>
            <a:custGeom>
              <a:avLst/>
              <a:gdLst/>
              <a:ahLst/>
              <a:cxnLst/>
              <a:rect l="l" t="t" r="r" b="b"/>
              <a:pathLst>
                <a:path w="193430" h="305097" extrusionOk="0">
                  <a:moveTo>
                    <a:pt x="193430" y="0"/>
                  </a:moveTo>
                  <a:lnTo>
                    <a:pt x="0" y="34116"/>
                  </a:lnTo>
                  <a:lnTo>
                    <a:pt x="0" y="306471"/>
                  </a:lnTo>
                  <a:lnTo>
                    <a:pt x="193430" y="272355"/>
                  </a:lnTo>
                  <a:lnTo>
                    <a:pt x="193430" y="0"/>
                  </a:lnTo>
                  <a:close/>
                </a:path>
              </a:pathLst>
            </a:custGeom>
            <a:gradFill>
              <a:gsLst>
                <a:gs pos="0">
                  <a:srgbClr val="FFFFFF">
                    <a:alpha val="11764"/>
                  </a:srgbClr>
                </a:gs>
                <a:gs pos="100000">
                  <a:srgbClr val="FFFFFF">
                    <a:alpha val="4705"/>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grpSp>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val="0"/>
              </a:ext>
            </a:extLst>
          </a:blip>
          <a:srcRect t="4862"/>
          <a:stretch/>
        </p:blipFill>
        <p:spPr>
          <a:xfrm>
            <a:off x="685149" y="1"/>
            <a:ext cx="1902756" cy="1818895"/>
          </a:xfrm>
          <a:prstGeom prst="rect">
            <a:avLst/>
          </a:prstGeom>
        </p:spPr>
      </p:pic>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128001" y="5131522"/>
            <a:ext cx="4072057" cy="1767693"/>
          </a:xfrm>
          <a:prstGeom prst="rect">
            <a:avLst/>
          </a:prstGeom>
        </p:spPr>
      </p:pic>
    </p:spTree>
    <p:extLst>
      <p:ext uri="{BB962C8B-B14F-4D97-AF65-F5344CB8AC3E}">
        <p14:creationId xmlns:p14="http://schemas.microsoft.com/office/powerpoint/2010/main" val="1664191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fld id="{64F0E216-BA48-4F04-AC4F-645AA0DD6AC6}" type="datetimeFigureOut">
              <a:rPr lang="en-US" smtClean="0"/>
              <a:pPr/>
              <a:t>12/12/2023</a:t>
            </a:fld>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82083858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19">
          <p15:clr>
            <a:srgbClr val="5ACBF0"/>
          </p15:clr>
        </p15:guide>
        <p15:guide id="2" pos="1731">
          <p15:clr>
            <a:srgbClr val="5ACBF0"/>
          </p15:clr>
        </p15:guide>
        <p15:guide id="3" pos="3140">
          <p15:clr>
            <a:srgbClr val="5ACBF0"/>
          </p15:clr>
        </p15:guide>
        <p15:guide id="4" pos="3488">
          <p15:clr>
            <a:srgbClr val="5ACBF0"/>
          </p15:clr>
        </p15:guide>
        <p15:guide id="5" pos="2788">
          <p15:clr>
            <a:srgbClr val="5ACBF0"/>
          </p15:clr>
        </p15:guide>
        <p15:guide id="6" pos="2434">
          <p15:clr>
            <a:srgbClr val="5ACBF0"/>
          </p15:clr>
        </p15:guide>
        <p15:guide id="7" pos="2084">
          <p15:clr>
            <a:srgbClr val="5ACBF0"/>
          </p15:clr>
        </p15:guide>
        <p15:guide id="8" pos="341">
          <p15:clr>
            <a:srgbClr val="F26B43"/>
          </p15:clr>
        </p15:guide>
        <p15:guide id="9" pos="1384">
          <p15:clr>
            <a:srgbClr val="5ACBF0"/>
          </p15:clr>
        </p15:guide>
        <p15:guide id="10" pos="1032">
          <p15:clr>
            <a:srgbClr val="5ACBF0"/>
          </p15:clr>
        </p15:guide>
        <p15:guide id="11" pos="680">
          <p15:clr>
            <a:srgbClr val="FDE53C"/>
          </p15:clr>
        </p15:guide>
        <p15:guide id="12" pos="4192">
          <p15:clr>
            <a:srgbClr val="5ACBF0"/>
          </p15:clr>
        </p15:guide>
        <p15:guide id="13" pos="4543">
          <p15:clr>
            <a:srgbClr val="5ACBF0"/>
          </p15:clr>
        </p15:guide>
        <p15:guide id="14" pos="4892">
          <p15:clr>
            <a:srgbClr val="5ACBF0"/>
          </p15:clr>
        </p15:guide>
        <p15:guide id="15" pos="5244">
          <p15:clr>
            <a:srgbClr val="5ACBF0"/>
          </p15:clr>
        </p15:guide>
        <p15:guide id="16" pos="5596">
          <p15:clr>
            <a:srgbClr val="5ACBF0"/>
          </p15:clr>
        </p15:guide>
        <p15:guide id="17" pos="5948">
          <p15:clr>
            <a:srgbClr val="5ACBF0"/>
          </p15:clr>
        </p15:guide>
        <p15:guide id="18" pos="6296">
          <p15:clr>
            <a:srgbClr val="5ACBF0"/>
          </p15:clr>
        </p15:guide>
        <p15:guide id="19" pos="6648">
          <p15:clr>
            <a:srgbClr val="5ACBF0"/>
          </p15:clr>
        </p15:guide>
        <p15:guide id="20" pos="6996">
          <p15:clr>
            <a:srgbClr val="FDE53C"/>
          </p15:clr>
        </p15:guide>
        <p15:guide id="21" orient="horz" pos="335">
          <p15:clr>
            <a:srgbClr val="F26B43"/>
          </p15:clr>
        </p15:guide>
        <p15:guide id="22" orient="horz" pos="680">
          <p15:clr>
            <a:srgbClr val="FDE53C"/>
          </p15:clr>
        </p15:guide>
        <p15:guide id="23" orient="horz" pos="1050">
          <p15:clr>
            <a:srgbClr val="5ACBF0"/>
          </p15:clr>
        </p15:guide>
        <p15:guide id="24" orient="horz" pos="1791">
          <p15:clr>
            <a:srgbClr val="5ACBF0"/>
          </p15:clr>
        </p15:guide>
        <p15:guide id="26" orient="horz" pos="2530">
          <p15:clr>
            <a:srgbClr val="5ACBF0"/>
          </p15:clr>
        </p15:guide>
        <p15:guide id="27" orient="horz" pos="2899">
          <p15:clr>
            <a:srgbClr val="5ACBF0"/>
          </p15:clr>
        </p15:guide>
        <p15:guide id="28" orient="horz" pos="3268">
          <p15:clr>
            <a:srgbClr val="5ACBF0"/>
          </p15:clr>
        </p15:guide>
        <p15:guide id="29" orient="horz" pos="3634">
          <p15:clr>
            <a:srgbClr val="FDE53C"/>
          </p15:clr>
        </p15:guide>
        <p15:guide id="30" orient="horz" pos="3979">
          <p15:clr>
            <a:srgbClr val="F26B43"/>
          </p15:clr>
        </p15:guide>
        <p15:guide id="31" orient="horz" pos="2160">
          <p15:clr>
            <a:srgbClr val="FDE53C"/>
          </p15:clr>
        </p15:guide>
        <p15:guide id="32" pos="7340">
          <p15:clr>
            <a:srgbClr val="F26B43"/>
          </p15:clr>
        </p15:guide>
        <p15:guide id="33" pos="3840">
          <p15:clr>
            <a:srgbClr val="FDE53C"/>
          </p15:clr>
        </p15:guide>
        <p15:guide id="34" orient="horz" pos="637">
          <p15:clr>
            <a:srgbClr val="C35EA4"/>
          </p15:clr>
        </p15:guide>
        <p15:guide id="35" orient="horz" pos="1128">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12/12/2023</a:t>
            </a:fld>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1216777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22D52DA-B85A-D59E-4136-C7EF4F4B314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84F82831-C31D-D091-775A-79E2259AFE2A}"/>
              </a:ext>
            </a:extLst>
          </p:cNvPr>
          <p:cNvSpPr>
            <a:spLocks noGrp="1"/>
          </p:cNvSpPr>
          <p:nvPr>
            <p:ph type="ctrTitle"/>
          </p:nvPr>
        </p:nvSpPr>
        <p:spPr>
          <a:xfrm>
            <a:off x="1079510" y="4602162"/>
            <a:ext cx="10824483" cy="1720850"/>
          </a:xfrm>
        </p:spPr>
        <p:txBody>
          <a:bodyPr anchor="ctr">
            <a:normAutofit/>
          </a:bodyPr>
          <a:lstStyle/>
          <a:p>
            <a:r>
              <a:rPr lang="en-US" b="1" dirty="0">
                <a:latin typeface="Calibri"/>
                <a:cs typeface="Calibri"/>
              </a:rPr>
              <a:t>Understanding </a:t>
            </a:r>
            <a:r>
              <a:rPr lang="en-US" b="1" err="1">
                <a:latin typeface="Calibri"/>
                <a:cs typeface="Calibri"/>
              </a:rPr>
              <a:t>Behaviour</a:t>
            </a:r>
            <a:r>
              <a:rPr lang="en-US" b="1" dirty="0">
                <a:latin typeface="Calibri"/>
                <a:cs typeface="Calibri"/>
              </a:rPr>
              <a:t> Through Affect Script and Compass of Shame</a:t>
            </a:r>
            <a:br>
              <a:rPr lang="en-US" sz="1100" b="1" dirty="0">
                <a:latin typeface="Calibri"/>
                <a:cs typeface="Calibri"/>
              </a:rPr>
            </a:br>
            <a:br>
              <a:rPr lang="en-US" sz="1100" b="1" dirty="0">
                <a:latin typeface="Calibri"/>
                <a:cs typeface="Calibri"/>
              </a:rPr>
            </a:br>
            <a:r>
              <a:rPr lang="en-US" sz="1100" b="1" dirty="0">
                <a:latin typeface="Calibri"/>
                <a:cs typeface="Calibri"/>
              </a:rPr>
              <a:t>Dr Scott I-Patrick</a:t>
            </a:r>
            <a:br>
              <a:rPr lang="en-US" sz="1100" b="1" dirty="0">
                <a:latin typeface="Calibri"/>
                <a:cs typeface="Calibri"/>
              </a:rPr>
            </a:br>
            <a:r>
              <a:rPr lang="en-US" sz="1100" b="1" dirty="0">
                <a:latin typeface="Calibri"/>
                <a:cs typeface="Calibri"/>
              </a:rPr>
              <a:t>Senior Educational Psychologist</a:t>
            </a:r>
          </a:p>
        </p:txBody>
      </p:sp>
      <p:pic>
        <p:nvPicPr>
          <p:cNvPr id="3" name="Picture 2">
            <a:extLst>
              <a:ext uri="{FF2B5EF4-FFF2-40B4-BE49-F238E27FC236}">
                <a16:creationId xmlns:a16="http://schemas.microsoft.com/office/drawing/2014/main" id="{1D8CA3C7-8F1A-38CE-B7B8-EB4339F5DCE2}"/>
              </a:ext>
            </a:extLst>
          </p:cNvPr>
          <p:cNvPicPr>
            <a:picLocks noChangeAspect="1"/>
          </p:cNvPicPr>
          <p:nvPr/>
        </p:nvPicPr>
        <p:blipFill rotWithShape="1">
          <a:blip r:embed="rId3"/>
          <a:srcRect t="26658" r="-2" b="20406"/>
          <a:stretch/>
        </p:blipFill>
        <p:spPr>
          <a:xfrm>
            <a:off x="20" y="10"/>
            <a:ext cx="12191977" cy="4014777"/>
          </a:xfrm>
          <a:prstGeom prst="rect">
            <a:avLst/>
          </a:prstGeom>
        </p:spPr>
      </p:pic>
      <p:cxnSp>
        <p:nvCxnSpPr>
          <p:cNvPr id="11" name="Straight Connector 10">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546258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2739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F73D066-B97C-D3B1-4E68-A5E15BF2FF9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6EB4C07-0425-4837-5E73-F89389FE944D}"/>
              </a:ext>
            </a:extLst>
          </p:cNvPr>
          <p:cNvSpPr>
            <a:spLocks noGrp="1"/>
          </p:cNvSpPr>
          <p:nvPr>
            <p:ph type="ctrTitle"/>
          </p:nvPr>
        </p:nvSpPr>
        <p:spPr>
          <a:xfrm>
            <a:off x="4984750" y="1011237"/>
            <a:ext cx="6120000" cy="860400"/>
          </a:xfrm>
        </p:spPr>
        <p:txBody>
          <a:bodyPr anchor="b">
            <a:normAutofit/>
          </a:bodyPr>
          <a:lstStyle/>
          <a:p>
            <a:pPr algn="ctr"/>
            <a:r>
              <a:rPr lang="en-US" dirty="0"/>
              <a:t>Session Overview &amp; Objective</a:t>
            </a:r>
          </a:p>
        </p:txBody>
      </p:sp>
      <p:pic>
        <p:nvPicPr>
          <p:cNvPr id="6" name="Picture 5" descr="Vintage compass">
            <a:extLst>
              <a:ext uri="{FF2B5EF4-FFF2-40B4-BE49-F238E27FC236}">
                <a16:creationId xmlns:a16="http://schemas.microsoft.com/office/drawing/2014/main" id="{48CCE284-0914-2F0F-B520-5709E0710305}"/>
              </a:ext>
            </a:extLst>
          </p:cNvPr>
          <p:cNvPicPr>
            <a:picLocks noChangeAspect="1"/>
          </p:cNvPicPr>
          <p:nvPr/>
        </p:nvPicPr>
        <p:blipFill rotWithShape="1">
          <a:blip r:embed="rId3"/>
          <a:srcRect l="57994" r="11302"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F95C675A-CA9A-C7BA-15B4-1C2E0473D475}"/>
              </a:ext>
            </a:extLst>
          </p:cNvPr>
          <p:cNvSpPr>
            <a:spLocks noGrp="1"/>
          </p:cNvSpPr>
          <p:nvPr>
            <p:ph idx="1"/>
          </p:nvPr>
        </p:nvSpPr>
        <p:spPr>
          <a:xfrm>
            <a:off x="4984750" y="2759076"/>
            <a:ext cx="6121400" cy="3009899"/>
          </a:xfrm>
        </p:spPr>
        <p:txBody>
          <a:bodyPr>
            <a:normAutofit/>
          </a:bodyPr>
          <a:lstStyle/>
          <a:p>
            <a:pPr marL="359410" lvl="0" indent="-359410">
              <a:lnSpc>
                <a:spcPct val="115000"/>
              </a:lnSpc>
            </a:pPr>
            <a:r>
              <a:rPr lang="en-US" sz="1300" dirty="0"/>
              <a:t>Session Overview</a:t>
            </a:r>
            <a:endParaRPr lang="en-US">
              <a:solidFill>
                <a:srgbClr val="FFFFFF">
                  <a:alpha val="70000"/>
                </a:srgbClr>
              </a:solidFill>
            </a:endParaRPr>
          </a:p>
          <a:p>
            <a:pPr marL="359410" lvl="1">
              <a:lnSpc>
                <a:spcPct val="115000"/>
              </a:lnSpc>
            </a:pPr>
            <a:r>
              <a:rPr lang="en-US" sz="1300" dirty="0"/>
              <a:t>The session will lay the groundwork for understanding these pivotal concepts of Affect Script and Compass of Shame, then move beyond theory to explore their practical applications in classrooms.</a:t>
            </a:r>
            <a:endParaRPr lang="en-US" sz="1300" dirty="0">
              <a:solidFill>
                <a:srgbClr val="FFFFFF">
                  <a:alpha val="70000"/>
                </a:srgbClr>
              </a:solidFill>
            </a:endParaRPr>
          </a:p>
          <a:p>
            <a:pPr marL="359410" lvl="0" indent="-359410">
              <a:lnSpc>
                <a:spcPct val="115000"/>
              </a:lnSpc>
            </a:pPr>
            <a:r>
              <a:rPr lang="en-US" sz="1300" dirty="0"/>
              <a:t>Objective</a:t>
            </a:r>
            <a:endParaRPr lang="en-US" sz="1300" dirty="0">
              <a:solidFill>
                <a:srgbClr val="FFFFFF">
                  <a:alpha val="70000"/>
                </a:srgbClr>
              </a:solidFill>
            </a:endParaRPr>
          </a:p>
          <a:p>
            <a:pPr marL="359410" lvl="1">
              <a:lnSpc>
                <a:spcPct val="115000"/>
              </a:lnSpc>
            </a:pPr>
            <a:r>
              <a:rPr lang="en-US" sz="1300" dirty="0"/>
              <a:t>The aim is to not only build a foundational understanding of these theories but also to equip ourselves with effective strategies for addressing the emotional and </a:t>
            </a:r>
            <a:r>
              <a:rPr lang="en-US" sz="1300" dirty="0" err="1"/>
              <a:t>behavioural</a:t>
            </a:r>
            <a:r>
              <a:rPr lang="en-US" sz="1300" dirty="0"/>
              <a:t> needs of our students.</a:t>
            </a:r>
            <a:endParaRPr lang="en-US" sz="1300" dirty="0">
              <a:solidFill>
                <a:srgbClr val="FFFFFF">
                  <a:alpha val="70000"/>
                </a:srgbClr>
              </a:solidFill>
            </a:endParaRPr>
          </a:p>
        </p:txBody>
      </p:sp>
    </p:spTree>
    <p:extLst>
      <p:ext uri="{BB962C8B-B14F-4D97-AF65-F5344CB8AC3E}">
        <p14:creationId xmlns:p14="http://schemas.microsoft.com/office/powerpoint/2010/main" val="1704290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24D1718-DAC9-FDD3-099D-5BE5CE78ACA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C20534EC-A71A-2DA8-4B55-275C0B72B699}"/>
              </a:ext>
            </a:extLst>
          </p:cNvPr>
          <p:cNvSpPr>
            <a:spLocks noGrp="1"/>
          </p:cNvSpPr>
          <p:nvPr>
            <p:ph type="ctrTitle"/>
          </p:nvPr>
        </p:nvSpPr>
        <p:spPr>
          <a:xfrm>
            <a:off x="4984750" y="1011237"/>
            <a:ext cx="6120000" cy="860400"/>
          </a:xfrm>
        </p:spPr>
        <p:txBody>
          <a:bodyPr anchor="b">
            <a:normAutofit/>
          </a:bodyPr>
          <a:lstStyle/>
          <a:p>
            <a:pPr algn="ctr"/>
            <a:r>
              <a:rPr lang="en-US" dirty="0"/>
              <a:t>Introduction to Key Concepts</a:t>
            </a:r>
          </a:p>
        </p:txBody>
      </p:sp>
      <p:pic>
        <p:nvPicPr>
          <p:cNvPr id="6" name="Picture 5" descr="Abstract blurred public library with bookshelves">
            <a:extLst>
              <a:ext uri="{FF2B5EF4-FFF2-40B4-BE49-F238E27FC236}">
                <a16:creationId xmlns:a16="http://schemas.microsoft.com/office/drawing/2014/main" id="{EC89FFAA-1098-2BA0-5FB4-16AD8D4F2384}"/>
              </a:ext>
            </a:extLst>
          </p:cNvPr>
          <p:cNvPicPr>
            <a:picLocks noChangeAspect="1"/>
          </p:cNvPicPr>
          <p:nvPr/>
        </p:nvPicPr>
        <p:blipFill rotWithShape="1">
          <a:blip r:embed="rId3"/>
          <a:srcRect l="20201" r="42125" b="4"/>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FBA2260C-7B8E-4B96-C698-22428C2795B2}"/>
              </a:ext>
            </a:extLst>
          </p:cNvPr>
          <p:cNvSpPr>
            <a:spLocks noGrp="1"/>
          </p:cNvSpPr>
          <p:nvPr>
            <p:ph idx="1"/>
          </p:nvPr>
        </p:nvSpPr>
        <p:spPr>
          <a:xfrm>
            <a:off x="4984750" y="2759076"/>
            <a:ext cx="6121400" cy="3009899"/>
          </a:xfrm>
        </p:spPr>
        <p:txBody>
          <a:bodyPr>
            <a:normAutofit/>
          </a:bodyPr>
          <a:lstStyle/>
          <a:p>
            <a:pPr marL="359410" lvl="0" indent="-359410">
              <a:lnSpc>
                <a:spcPct val="115000"/>
              </a:lnSpc>
            </a:pPr>
            <a:endParaRPr lang="en-US" sz="1400" dirty="0">
              <a:solidFill>
                <a:srgbClr val="FFFFFF">
                  <a:alpha val="70000"/>
                </a:srgbClr>
              </a:solidFill>
            </a:endParaRPr>
          </a:p>
          <a:p>
            <a:pPr marL="645160" lvl="1" indent="-285750">
              <a:lnSpc>
                <a:spcPct val="115000"/>
              </a:lnSpc>
              <a:buFont typeface="Arial"/>
              <a:buChar char="•"/>
            </a:pPr>
            <a:r>
              <a:rPr lang="en-US" dirty="0"/>
              <a:t>An exploration of the core elements of Affect Script Theory and Nathanson's Compass of Shame. </a:t>
            </a:r>
            <a:endParaRPr lang="en-US" dirty="0">
              <a:solidFill>
                <a:srgbClr val="FFFFFF">
                  <a:alpha val="70000"/>
                </a:srgbClr>
              </a:solidFill>
            </a:endParaRPr>
          </a:p>
          <a:p>
            <a:pPr marL="645160" lvl="1" indent="-285750">
              <a:lnSpc>
                <a:spcPct val="115000"/>
              </a:lnSpc>
              <a:buFont typeface="Arial"/>
              <a:buChar char="•"/>
            </a:pPr>
            <a:r>
              <a:rPr lang="en-US" dirty="0"/>
              <a:t>Linking Theory to Practice: Focus will be on practical application</a:t>
            </a:r>
            <a:endParaRPr lang="en-US" dirty="0">
              <a:solidFill>
                <a:srgbClr val="FFFFFF">
                  <a:alpha val="70000"/>
                </a:srgbClr>
              </a:solidFill>
            </a:endParaRPr>
          </a:p>
        </p:txBody>
      </p:sp>
    </p:spTree>
    <p:extLst>
      <p:ext uri="{BB962C8B-B14F-4D97-AF65-F5344CB8AC3E}">
        <p14:creationId xmlns:p14="http://schemas.microsoft.com/office/powerpoint/2010/main" val="2405963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ED657D6-6F87-68A1-AAE6-A7EACDABB1C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6E9E5FA7-2EA3-36FE-B14E-E094BDD1861B}"/>
              </a:ext>
            </a:extLst>
          </p:cNvPr>
          <p:cNvSpPr>
            <a:spLocks noGrp="1"/>
          </p:cNvSpPr>
          <p:nvPr>
            <p:ph type="ctrTitle"/>
          </p:nvPr>
        </p:nvSpPr>
        <p:spPr>
          <a:xfrm>
            <a:off x="4984750" y="1011237"/>
            <a:ext cx="6120000" cy="860400"/>
          </a:xfrm>
        </p:spPr>
        <p:txBody>
          <a:bodyPr anchor="b">
            <a:normAutofit/>
          </a:bodyPr>
          <a:lstStyle/>
          <a:p>
            <a:pPr algn="ctr"/>
            <a:r>
              <a:rPr lang="en-US" dirty="0"/>
              <a:t>Practical Outcomes</a:t>
            </a:r>
          </a:p>
        </p:txBody>
      </p:sp>
      <p:pic>
        <p:nvPicPr>
          <p:cNvPr id="6" name="Picture 5" descr="Drawings on colourful paper">
            <a:extLst>
              <a:ext uri="{FF2B5EF4-FFF2-40B4-BE49-F238E27FC236}">
                <a16:creationId xmlns:a16="http://schemas.microsoft.com/office/drawing/2014/main" id="{67AD9117-F1EA-1D92-0A97-93BD8868147E}"/>
              </a:ext>
            </a:extLst>
          </p:cNvPr>
          <p:cNvPicPr>
            <a:picLocks noChangeAspect="1"/>
          </p:cNvPicPr>
          <p:nvPr/>
        </p:nvPicPr>
        <p:blipFill rotWithShape="1">
          <a:blip r:embed="rId2"/>
          <a:srcRect l="18197" r="44181"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F91BF418-0AC5-7627-CA53-9AA811B0B26A}"/>
              </a:ext>
            </a:extLst>
          </p:cNvPr>
          <p:cNvSpPr>
            <a:spLocks noGrp="1"/>
          </p:cNvSpPr>
          <p:nvPr>
            <p:ph idx="1"/>
          </p:nvPr>
        </p:nvSpPr>
        <p:spPr>
          <a:xfrm>
            <a:off x="4984750" y="2759076"/>
            <a:ext cx="6121400" cy="3009899"/>
          </a:xfrm>
        </p:spPr>
        <p:txBody>
          <a:bodyPr>
            <a:normAutofit/>
          </a:bodyPr>
          <a:lstStyle/>
          <a:p>
            <a:pPr marL="359410" indent="-359410">
              <a:lnSpc>
                <a:spcPct val="115000"/>
              </a:lnSpc>
            </a:pPr>
            <a:r>
              <a:rPr lang="en-US" sz="1400" i="1" dirty="0"/>
              <a:t>Our journey today will take us from theoretical understanding to real-life applications. By the end of this session, The aim is to provide practical tools and strategies that enhance our capacity to support our students' emotional and educational needs empathetically and effectively.</a:t>
            </a:r>
            <a:endParaRPr lang="en-US" i="1" dirty="0"/>
          </a:p>
          <a:p>
            <a:pPr marL="359410" lvl="0" indent="-359410">
              <a:lnSpc>
                <a:spcPct val="115000"/>
              </a:lnSpc>
            </a:pPr>
            <a:endParaRPr lang="en-US" sz="1400" dirty="0">
              <a:solidFill>
                <a:srgbClr val="FFFFFF">
                  <a:alpha val="70000"/>
                </a:srgbClr>
              </a:solidFill>
            </a:endParaRPr>
          </a:p>
        </p:txBody>
      </p:sp>
    </p:spTree>
    <p:extLst>
      <p:ext uri="{BB962C8B-B14F-4D97-AF65-F5344CB8AC3E}">
        <p14:creationId xmlns:p14="http://schemas.microsoft.com/office/powerpoint/2010/main" val="1250885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DBAABCD-CE0D-8F36-D33A-41ABB8BE807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F9ADC340-F14F-0D92-E8BD-182172686466}"/>
              </a:ext>
            </a:extLst>
          </p:cNvPr>
          <p:cNvSpPr>
            <a:spLocks noGrp="1"/>
          </p:cNvSpPr>
          <p:nvPr>
            <p:ph type="ctrTitle"/>
          </p:nvPr>
        </p:nvSpPr>
        <p:spPr>
          <a:xfrm>
            <a:off x="4984750" y="1011237"/>
            <a:ext cx="6120000" cy="860400"/>
          </a:xfrm>
        </p:spPr>
        <p:txBody>
          <a:bodyPr anchor="b">
            <a:normAutofit/>
          </a:bodyPr>
          <a:lstStyle/>
          <a:p>
            <a:pPr algn="ctr"/>
            <a:r>
              <a:rPr lang="en-US" dirty="0"/>
              <a:t>From Affect to Affect Scripts</a:t>
            </a:r>
          </a:p>
        </p:txBody>
      </p:sp>
      <p:pic>
        <p:nvPicPr>
          <p:cNvPr id="6" name="Picture 5" descr="Complex maths formulae on a blackboard">
            <a:extLst>
              <a:ext uri="{FF2B5EF4-FFF2-40B4-BE49-F238E27FC236}">
                <a16:creationId xmlns:a16="http://schemas.microsoft.com/office/drawing/2014/main" id="{F356875C-89A6-223B-E9D3-15B508028E6E}"/>
              </a:ext>
            </a:extLst>
          </p:cNvPr>
          <p:cNvPicPr>
            <a:picLocks noChangeAspect="1"/>
          </p:cNvPicPr>
          <p:nvPr/>
        </p:nvPicPr>
        <p:blipFill rotWithShape="1">
          <a:blip r:embed="rId3"/>
          <a:srcRect l="23291" r="35556" b="-9"/>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DF0B98EB-9985-6A45-5F95-6837839F4FE1}"/>
              </a:ext>
            </a:extLst>
          </p:cNvPr>
          <p:cNvSpPr>
            <a:spLocks noGrp="1"/>
          </p:cNvSpPr>
          <p:nvPr>
            <p:ph idx="1"/>
          </p:nvPr>
        </p:nvSpPr>
        <p:spPr>
          <a:xfrm>
            <a:off x="4984750" y="2759076"/>
            <a:ext cx="6121400" cy="3009899"/>
          </a:xfrm>
        </p:spPr>
        <p:txBody>
          <a:bodyPr>
            <a:normAutofit/>
          </a:bodyPr>
          <a:lstStyle/>
          <a:p>
            <a:pPr marL="285750" indent="-285750">
              <a:lnSpc>
                <a:spcPct val="115000"/>
              </a:lnSpc>
              <a:buClr>
                <a:srgbClr val="DB94BE"/>
              </a:buClr>
            </a:pPr>
            <a:r>
              <a:rPr lang="en-US" sz="2400" i="1" dirty="0"/>
              <a:t>What</a:t>
            </a:r>
            <a:r>
              <a:rPr lang="en-US" sz="2400" dirty="0"/>
              <a:t> is Affect? </a:t>
            </a:r>
          </a:p>
          <a:p>
            <a:pPr marL="285750" indent="-285750">
              <a:lnSpc>
                <a:spcPct val="115000"/>
              </a:lnSpc>
              <a:buClr>
                <a:srgbClr val="DB94BE"/>
              </a:buClr>
            </a:pPr>
            <a:r>
              <a:rPr lang="en-US" sz="2400" dirty="0"/>
              <a:t>The Basics of Emotional Responses</a:t>
            </a:r>
            <a:endParaRPr lang="en-US" sz="2400" dirty="0">
              <a:solidFill>
                <a:srgbClr val="FFFFFF">
                  <a:alpha val="70000"/>
                </a:srgbClr>
              </a:solidFill>
            </a:endParaRPr>
          </a:p>
          <a:p>
            <a:pPr marL="285750" indent="-285750">
              <a:lnSpc>
                <a:spcPct val="114999"/>
              </a:lnSpc>
            </a:pPr>
            <a:endParaRPr lang="en-US" sz="1800" dirty="0">
              <a:solidFill>
                <a:srgbClr val="FFFFFF">
                  <a:alpha val="70000"/>
                </a:srgbClr>
              </a:solidFill>
            </a:endParaRPr>
          </a:p>
        </p:txBody>
      </p:sp>
    </p:spTree>
    <p:extLst>
      <p:ext uri="{BB962C8B-B14F-4D97-AF65-F5344CB8AC3E}">
        <p14:creationId xmlns:p14="http://schemas.microsoft.com/office/powerpoint/2010/main" val="1339071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E9A5F5C-059E-7574-8710-4E83E6E2103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17F3492-1025-4BB8-36FC-74BA46E15B00}"/>
              </a:ext>
            </a:extLst>
          </p:cNvPr>
          <p:cNvSpPr>
            <a:spLocks noGrp="1"/>
          </p:cNvSpPr>
          <p:nvPr>
            <p:ph type="ctrTitle"/>
          </p:nvPr>
        </p:nvSpPr>
        <p:spPr>
          <a:xfrm>
            <a:off x="4984750" y="1011237"/>
            <a:ext cx="6120000" cy="860400"/>
          </a:xfrm>
        </p:spPr>
        <p:txBody>
          <a:bodyPr anchor="b">
            <a:normAutofit/>
          </a:bodyPr>
          <a:lstStyle/>
          <a:p>
            <a:pPr algn="ctr"/>
            <a:r>
              <a:rPr lang="en-US" dirty="0" err="1">
                <a:latin typeface="Rockwell Nova Light"/>
                <a:cs typeface="Calibri"/>
              </a:rPr>
              <a:t>cOmpass</a:t>
            </a:r>
            <a:r>
              <a:rPr lang="en-US" dirty="0">
                <a:latin typeface="Rockwell Nova Light"/>
                <a:cs typeface="Calibri"/>
              </a:rPr>
              <a:t> of Shame scripts</a:t>
            </a:r>
            <a:endParaRPr lang="en-US" dirty="0">
              <a:cs typeface="Calibri"/>
            </a:endParaRPr>
          </a:p>
        </p:txBody>
      </p:sp>
      <p:pic>
        <p:nvPicPr>
          <p:cNvPr id="6" name="Picture 5" descr="White arrows going to the red target">
            <a:extLst>
              <a:ext uri="{FF2B5EF4-FFF2-40B4-BE49-F238E27FC236}">
                <a16:creationId xmlns:a16="http://schemas.microsoft.com/office/drawing/2014/main" id="{E8F84204-C0B0-7A25-C84F-BB8245309A41}"/>
              </a:ext>
            </a:extLst>
          </p:cNvPr>
          <p:cNvPicPr>
            <a:picLocks noChangeAspect="1"/>
          </p:cNvPicPr>
          <p:nvPr/>
        </p:nvPicPr>
        <p:blipFill rotWithShape="1">
          <a:blip r:embed="rId3"/>
          <a:srcRect l="48936" r="13442" b="-3"/>
          <a:stretch/>
        </p:blipFill>
        <p:spPr>
          <a:xfrm>
            <a:off x="6335" y="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Content Placeholder 6">
            <a:extLst>
              <a:ext uri="{FF2B5EF4-FFF2-40B4-BE49-F238E27FC236}">
                <a16:creationId xmlns:a16="http://schemas.microsoft.com/office/drawing/2014/main" id="{7D8058B3-31A9-13B9-CC7B-3849EB4E88C9}"/>
              </a:ext>
            </a:extLst>
          </p:cNvPr>
          <p:cNvPicPr>
            <a:picLocks noGrp="1" noChangeAspect="1"/>
          </p:cNvPicPr>
          <p:nvPr>
            <p:ph idx="1"/>
          </p:nvPr>
        </p:nvPicPr>
        <p:blipFill>
          <a:blip r:embed="rId4"/>
          <a:stretch>
            <a:fillRect/>
          </a:stretch>
        </p:blipFill>
        <p:spPr>
          <a:xfrm>
            <a:off x="5236001" y="2711124"/>
            <a:ext cx="6051854" cy="2146678"/>
          </a:xfrm>
          <a:prstGeom prst="rect">
            <a:avLst/>
          </a:prstGeom>
        </p:spPr>
      </p:pic>
    </p:spTree>
    <p:extLst>
      <p:ext uri="{BB962C8B-B14F-4D97-AF65-F5344CB8AC3E}">
        <p14:creationId xmlns:p14="http://schemas.microsoft.com/office/powerpoint/2010/main" val="795231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BCBE2B0-DA9F-6684-600A-12F25289A178}"/>
              </a:ext>
            </a:extLst>
          </p:cNvPr>
          <p:cNvPicPr>
            <a:picLocks noGrp="1" noChangeAspect="1"/>
          </p:cNvPicPr>
          <p:nvPr>
            <p:ph idx="1"/>
          </p:nvPr>
        </p:nvPicPr>
        <p:blipFill>
          <a:blip r:embed="rId3"/>
          <a:stretch>
            <a:fillRect/>
          </a:stretch>
        </p:blipFill>
        <p:spPr>
          <a:xfrm>
            <a:off x="2152650" y="2600460"/>
            <a:ext cx="7886700" cy="2801669"/>
          </a:xfrm>
          <a:prstGeom prst="rect">
            <a:avLst/>
          </a:prstGeom>
        </p:spPr>
      </p:pic>
      <p:sp>
        <p:nvSpPr>
          <p:cNvPr id="5" name="Title 4">
            <a:extLst>
              <a:ext uri="{FF2B5EF4-FFF2-40B4-BE49-F238E27FC236}">
                <a16:creationId xmlns:a16="http://schemas.microsoft.com/office/drawing/2014/main" id="{5D574751-8BD0-2E0B-A659-978E48379AE2}"/>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1226512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5EB007D-36B0-5A5B-774F-6F325657698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CCB4184-104D-585F-BB5B-5AA3F038A5EC}"/>
              </a:ext>
            </a:extLst>
          </p:cNvPr>
          <p:cNvSpPr>
            <a:spLocks noGrp="1"/>
          </p:cNvSpPr>
          <p:nvPr>
            <p:ph type="ctrTitle"/>
          </p:nvPr>
        </p:nvSpPr>
        <p:spPr>
          <a:xfrm>
            <a:off x="4984750" y="1011237"/>
            <a:ext cx="6120000" cy="860400"/>
          </a:xfrm>
        </p:spPr>
        <p:txBody>
          <a:bodyPr anchor="b">
            <a:normAutofit/>
          </a:bodyPr>
          <a:lstStyle/>
          <a:p>
            <a:pPr algn="ctr"/>
            <a:r>
              <a:rPr lang="en-US" dirty="0"/>
              <a:t>Examples of Affects in Action</a:t>
            </a:r>
          </a:p>
        </p:txBody>
      </p:sp>
      <p:pic>
        <p:nvPicPr>
          <p:cNvPr id="6" name="Picture 5">
            <a:extLst>
              <a:ext uri="{FF2B5EF4-FFF2-40B4-BE49-F238E27FC236}">
                <a16:creationId xmlns:a16="http://schemas.microsoft.com/office/drawing/2014/main" id="{FF5BEB46-A9DE-378F-774C-1EBD7D9029E4}"/>
              </a:ext>
            </a:extLst>
          </p:cNvPr>
          <p:cNvPicPr>
            <a:picLocks noChangeAspect="1"/>
          </p:cNvPicPr>
          <p:nvPr/>
        </p:nvPicPr>
        <p:blipFill rotWithShape="1">
          <a:blip r:embed="rId2"/>
          <a:srcRect l="51081" r="19154" b="6250"/>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06F14FB9-8949-B5F4-A765-75295A71B7F9}"/>
              </a:ext>
            </a:extLst>
          </p:cNvPr>
          <p:cNvSpPr>
            <a:spLocks noGrp="1"/>
          </p:cNvSpPr>
          <p:nvPr>
            <p:ph idx="1"/>
          </p:nvPr>
        </p:nvSpPr>
        <p:spPr>
          <a:xfrm>
            <a:off x="4984750" y="2759076"/>
            <a:ext cx="6121400" cy="3009899"/>
          </a:xfrm>
        </p:spPr>
        <p:txBody>
          <a:bodyPr vert="horz" lIns="0" tIns="0" rIns="0" bIns="0" rtlCol="0" anchor="t" anchorCtr="0">
            <a:noAutofit/>
          </a:bodyPr>
          <a:lstStyle/>
          <a:p>
            <a:pPr marL="359410" lvl="0" indent="-359410">
              <a:lnSpc>
                <a:spcPct val="115000"/>
              </a:lnSpc>
            </a:pPr>
            <a:r>
              <a:rPr lang="en-US" sz="1800" i="1" dirty="0"/>
              <a:t>Consider a student, Alex, who feels a rush of joy when praised for good work. Alternatively, imagine Mia feeling a wave of disappointment when she struggles with a math problem. These are instances of affects in action, immediate emotional responses to specific situations.</a:t>
            </a:r>
          </a:p>
          <a:p>
            <a:pPr marL="0" lvl="0" indent="0">
              <a:lnSpc>
                <a:spcPct val="115000"/>
              </a:lnSpc>
              <a:buNone/>
            </a:pPr>
            <a:endParaRPr lang="en-US" sz="1400" dirty="0">
              <a:solidFill>
                <a:srgbClr val="FFFFFF">
                  <a:alpha val="70000"/>
                </a:srgbClr>
              </a:solidFill>
            </a:endParaRPr>
          </a:p>
        </p:txBody>
      </p:sp>
    </p:spTree>
    <p:extLst>
      <p:ext uri="{BB962C8B-B14F-4D97-AF65-F5344CB8AC3E}">
        <p14:creationId xmlns:p14="http://schemas.microsoft.com/office/powerpoint/2010/main" val="1467418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5EB007D-36B0-5A5B-774F-6F325657698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CCB4184-104D-585F-BB5B-5AA3F038A5EC}"/>
              </a:ext>
            </a:extLst>
          </p:cNvPr>
          <p:cNvSpPr>
            <a:spLocks noGrp="1"/>
          </p:cNvSpPr>
          <p:nvPr>
            <p:ph type="ctrTitle"/>
          </p:nvPr>
        </p:nvSpPr>
        <p:spPr>
          <a:xfrm>
            <a:off x="4984750" y="1011237"/>
            <a:ext cx="6120000" cy="860400"/>
          </a:xfrm>
        </p:spPr>
        <p:txBody>
          <a:bodyPr anchor="b">
            <a:normAutofit fontScale="90000"/>
          </a:bodyPr>
          <a:lstStyle/>
          <a:p>
            <a:pPr algn="ctr"/>
            <a:r>
              <a:rPr lang="en-US" dirty="0"/>
              <a:t>The Journey from Affect to Affect Scripts</a:t>
            </a:r>
          </a:p>
        </p:txBody>
      </p:sp>
      <p:pic>
        <p:nvPicPr>
          <p:cNvPr id="6" name="Picture 5">
            <a:extLst>
              <a:ext uri="{FF2B5EF4-FFF2-40B4-BE49-F238E27FC236}">
                <a16:creationId xmlns:a16="http://schemas.microsoft.com/office/drawing/2014/main" id="{FF5BEB46-A9DE-378F-774C-1EBD7D9029E4}"/>
              </a:ext>
            </a:extLst>
          </p:cNvPr>
          <p:cNvPicPr>
            <a:picLocks noChangeAspect="1"/>
          </p:cNvPicPr>
          <p:nvPr/>
        </p:nvPicPr>
        <p:blipFill rotWithShape="1">
          <a:blip r:embed="rId3"/>
          <a:srcRect l="51081" r="19154" b="6250"/>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06F14FB9-8949-B5F4-A765-75295A71B7F9}"/>
              </a:ext>
            </a:extLst>
          </p:cNvPr>
          <p:cNvSpPr>
            <a:spLocks noGrp="1"/>
          </p:cNvSpPr>
          <p:nvPr>
            <p:ph idx="1"/>
          </p:nvPr>
        </p:nvSpPr>
        <p:spPr>
          <a:xfrm>
            <a:off x="4984750" y="2759076"/>
            <a:ext cx="6121400" cy="3009899"/>
          </a:xfrm>
        </p:spPr>
        <p:txBody>
          <a:bodyPr>
            <a:normAutofit/>
          </a:bodyPr>
          <a:lstStyle/>
          <a:p>
            <a:pPr marL="359410" lvl="0" indent="-359410">
              <a:lnSpc>
                <a:spcPct val="115000"/>
              </a:lnSpc>
            </a:pPr>
            <a:r>
              <a:rPr lang="en-US" sz="1800" i="1" dirty="0"/>
              <a:t>How do we move from these individual affects to affect scripts? </a:t>
            </a:r>
          </a:p>
          <a:p>
            <a:pPr marL="359410" lvl="0" indent="-359410">
              <a:lnSpc>
                <a:spcPct val="115000"/>
              </a:lnSpc>
            </a:pPr>
            <a:r>
              <a:rPr lang="en-US" sz="1800" i="1" dirty="0"/>
              <a:t>Affect scripts are formed when these emotional responses become patterned and </a:t>
            </a:r>
            <a:r>
              <a:rPr lang="en-US" sz="1800" i="1" dirty="0" err="1"/>
              <a:t>internalised</a:t>
            </a:r>
            <a:r>
              <a:rPr lang="en-US" sz="1800" i="1" dirty="0"/>
              <a:t> over time. </a:t>
            </a:r>
          </a:p>
          <a:p>
            <a:pPr marL="359410" lvl="0" indent="-359410">
              <a:lnSpc>
                <a:spcPct val="115000"/>
              </a:lnSpc>
            </a:pPr>
            <a:r>
              <a:rPr lang="en-US" sz="1800" i="1" dirty="0"/>
              <a:t>They evolve from our repeated experiences with similar stimuli or situations.</a:t>
            </a:r>
            <a:endParaRPr lang="en-US" sz="1800" i="1" dirty="0">
              <a:solidFill>
                <a:srgbClr val="FFFFFF">
                  <a:alpha val="70000"/>
                </a:srgbClr>
              </a:solidFill>
            </a:endParaRPr>
          </a:p>
        </p:txBody>
      </p:sp>
    </p:spTree>
    <p:extLst>
      <p:ext uri="{BB962C8B-B14F-4D97-AF65-F5344CB8AC3E}">
        <p14:creationId xmlns:p14="http://schemas.microsoft.com/office/powerpoint/2010/main" val="3432862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1D886E6-5758-448B-2A73-4F405BDBBEE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DF80EF38-5475-4805-841E-F24C861EF35A}"/>
              </a:ext>
            </a:extLst>
          </p:cNvPr>
          <p:cNvSpPr>
            <a:spLocks noGrp="1"/>
          </p:cNvSpPr>
          <p:nvPr>
            <p:ph type="ctrTitle"/>
          </p:nvPr>
        </p:nvSpPr>
        <p:spPr>
          <a:xfrm>
            <a:off x="4984750" y="1011237"/>
            <a:ext cx="6120000" cy="860400"/>
          </a:xfrm>
        </p:spPr>
        <p:txBody>
          <a:bodyPr anchor="b">
            <a:normAutofit fontScale="90000"/>
          </a:bodyPr>
          <a:lstStyle/>
          <a:p>
            <a:pPr algn="ctr"/>
            <a:r>
              <a:rPr lang="en-US" dirty="0"/>
              <a:t>Role of Repeated Affects in Script Formation</a:t>
            </a:r>
          </a:p>
        </p:txBody>
      </p:sp>
      <p:pic>
        <p:nvPicPr>
          <p:cNvPr id="6" name="Picture 5" descr="Complex maths formulae on a blackboard">
            <a:extLst>
              <a:ext uri="{FF2B5EF4-FFF2-40B4-BE49-F238E27FC236}">
                <a16:creationId xmlns:a16="http://schemas.microsoft.com/office/drawing/2014/main" id="{46065B4A-37AF-9A22-0F52-ADE3D734C5CE}"/>
              </a:ext>
            </a:extLst>
          </p:cNvPr>
          <p:cNvPicPr>
            <a:picLocks noChangeAspect="1"/>
          </p:cNvPicPr>
          <p:nvPr/>
        </p:nvPicPr>
        <p:blipFill rotWithShape="1">
          <a:blip r:embed="rId3"/>
          <a:srcRect l="23291" r="35556" b="-9"/>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58E11817-EA3F-75BE-71C2-4BFDDA143AE4}"/>
              </a:ext>
            </a:extLst>
          </p:cNvPr>
          <p:cNvSpPr>
            <a:spLocks noGrp="1"/>
          </p:cNvSpPr>
          <p:nvPr>
            <p:ph idx="1"/>
          </p:nvPr>
        </p:nvSpPr>
        <p:spPr>
          <a:xfrm>
            <a:off x="4984750" y="2759076"/>
            <a:ext cx="6121400" cy="3009899"/>
          </a:xfrm>
        </p:spPr>
        <p:txBody>
          <a:bodyPr>
            <a:normAutofit/>
          </a:bodyPr>
          <a:lstStyle/>
          <a:p>
            <a:pPr marL="359410" lvl="0" indent="-359410"/>
            <a:r>
              <a:rPr lang="en-US" i="1" dirty="0"/>
              <a:t>If Alex consistently receives positive reinforcement, he may develop a script associating effort with positive outcomes. This script becomes a lens through which Alex views learning experiences, influencing his future </a:t>
            </a:r>
            <a:r>
              <a:rPr lang="en-US" i="1" dirty="0" err="1"/>
              <a:t>behaviours</a:t>
            </a:r>
            <a:r>
              <a:rPr lang="en-US" i="1" dirty="0"/>
              <a:t> and emotional responses.</a:t>
            </a:r>
          </a:p>
        </p:txBody>
      </p:sp>
    </p:spTree>
    <p:extLst>
      <p:ext uri="{BB962C8B-B14F-4D97-AF65-F5344CB8AC3E}">
        <p14:creationId xmlns:p14="http://schemas.microsoft.com/office/powerpoint/2010/main" val="333235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B2D7CD0-5F04-1D1E-E34F-B8CC1769D3E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88823E31-DE12-E5C1-84C6-4E6D4544CC7A}"/>
              </a:ext>
            </a:extLst>
          </p:cNvPr>
          <p:cNvSpPr>
            <a:spLocks noGrp="1"/>
          </p:cNvSpPr>
          <p:nvPr>
            <p:ph type="ctrTitle"/>
          </p:nvPr>
        </p:nvSpPr>
        <p:spPr>
          <a:xfrm>
            <a:off x="4984750" y="1011237"/>
            <a:ext cx="6120000" cy="860400"/>
          </a:xfrm>
        </p:spPr>
        <p:txBody>
          <a:bodyPr anchor="b">
            <a:normAutofit/>
          </a:bodyPr>
          <a:lstStyle/>
          <a:p>
            <a:pPr algn="ctr"/>
            <a:r>
              <a:rPr lang="en-US" dirty="0"/>
              <a:t>Case study 1:Positive Script Formation </a:t>
            </a:r>
          </a:p>
        </p:txBody>
      </p:sp>
      <p:pic>
        <p:nvPicPr>
          <p:cNvPr id="6" name="Picture 5" descr="Toy plastic numbers">
            <a:extLst>
              <a:ext uri="{FF2B5EF4-FFF2-40B4-BE49-F238E27FC236}">
                <a16:creationId xmlns:a16="http://schemas.microsoft.com/office/drawing/2014/main" id="{D038CD93-1115-9A32-13DD-F77CBB80251B}"/>
              </a:ext>
            </a:extLst>
          </p:cNvPr>
          <p:cNvPicPr>
            <a:picLocks noChangeAspect="1"/>
          </p:cNvPicPr>
          <p:nvPr/>
        </p:nvPicPr>
        <p:blipFill rotWithShape="1">
          <a:blip r:embed="rId2"/>
          <a:srcRect l="28132" r="34246"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FF0537AB-8EDA-E48B-ACE6-1D256E19A705}"/>
              </a:ext>
            </a:extLst>
          </p:cNvPr>
          <p:cNvSpPr>
            <a:spLocks noGrp="1"/>
          </p:cNvSpPr>
          <p:nvPr>
            <p:ph idx="1"/>
          </p:nvPr>
        </p:nvSpPr>
        <p:spPr>
          <a:xfrm>
            <a:off x="4984750" y="2759076"/>
            <a:ext cx="6121400" cy="3009899"/>
          </a:xfrm>
        </p:spPr>
        <p:txBody>
          <a:bodyPr>
            <a:normAutofit/>
          </a:bodyPr>
          <a:lstStyle/>
          <a:p>
            <a:pPr marL="645160" lvl="1" indent="-285750">
              <a:lnSpc>
                <a:spcPct val="115000"/>
              </a:lnSpc>
              <a:buFont typeface="Arial"/>
              <a:buChar char="•"/>
            </a:pPr>
            <a:r>
              <a:rPr lang="en-US" sz="1600" b="1" dirty="0"/>
              <a:t>Background:</a:t>
            </a:r>
            <a:r>
              <a:rPr lang="en-US" sz="1600" dirty="0"/>
              <a:t> Consider Sarah, a student who consistently receives praise and encouragement for her efforts, regardless of the outcome. Her teachers focus on the process of learning rather than just the results.</a:t>
            </a:r>
            <a:endParaRPr lang="en-US" sz="1600" dirty="0">
              <a:solidFill>
                <a:srgbClr val="FFFFFF">
                  <a:alpha val="70000"/>
                </a:srgbClr>
              </a:solidFill>
            </a:endParaRPr>
          </a:p>
          <a:p>
            <a:pPr marL="645160" lvl="1" indent="-285750">
              <a:lnSpc>
                <a:spcPct val="115000"/>
              </a:lnSpc>
              <a:buFont typeface="Arial"/>
              <a:buChar char="•"/>
            </a:pPr>
            <a:r>
              <a:rPr lang="en-US" sz="1600" b="1" dirty="0"/>
              <a:t>Script Development:</a:t>
            </a:r>
            <a:r>
              <a:rPr lang="en-US" sz="1600" dirty="0"/>
              <a:t> Over time, Sarah develops a positive script. She associates effort with positive emotions, such as pride and satisfaction, fostering a growth mindset. She is not afraid to make mistakes, viewing them as part of the learning process.</a:t>
            </a:r>
            <a:endParaRPr lang="en-US" sz="1600" dirty="0">
              <a:solidFill>
                <a:srgbClr val="FFFFFF">
                  <a:alpha val="70000"/>
                </a:srgbClr>
              </a:solidFill>
            </a:endParaRPr>
          </a:p>
        </p:txBody>
      </p:sp>
    </p:spTree>
    <p:extLst>
      <p:ext uri="{BB962C8B-B14F-4D97-AF65-F5344CB8AC3E}">
        <p14:creationId xmlns:p14="http://schemas.microsoft.com/office/powerpoint/2010/main" val="4241480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A1B0D7-197A-D2C4-7839-380A25578BE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6F1FA446-1EAE-228E-611E-756E797E3D96}"/>
              </a:ext>
            </a:extLst>
          </p:cNvPr>
          <p:cNvSpPr>
            <a:spLocks noGrp="1"/>
          </p:cNvSpPr>
          <p:nvPr>
            <p:ph type="ctrTitle"/>
          </p:nvPr>
        </p:nvSpPr>
        <p:spPr>
          <a:xfrm>
            <a:off x="4984750" y="1011237"/>
            <a:ext cx="6120000" cy="860400"/>
          </a:xfrm>
        </p:spPr>
        <p:txBody>
          <a:bodyPr anchor="b">
            <a:normAutofit/>
          </a:bodyPr>
          <a:lstStyle/>
          <a:p>
            <a:pPr algn="ctr"/>
            <a:r>
              <a:rPr lang="en-US" dirty="0" err="1">
                <a:ea typeface="+mj-lt"/>
                <a:cs typeface="+mj-lt"/>
              </a:rPr>
              <a:t>Behavioural</a:t>
            </a:r>
            <a:r>
              <a:rPr lang="en-US" dirty="0">
                <a:ea typeface="+mj-lt"/>
                <a:cs typeface="+mj-lt"/>
              </a:rPr>
              <a:t> Outcome</a:t>
            </a:r>
            <a:endParaRPr lang="en-US" dirty="0"/>
          </a:p>
        </p:txBody>
      </p:sp>
      <p:pic>
        <p:nvPicPr>
          <p:cNvPr id="6" name="Picture 5" descr="Light bulb on yellow background with sketched light beams and cord">
            <a:extLst>
              <a:ext uri="{FF2B5EF4-FFF2-40B4-BE49-F238E27FC236}">
                <a16:creationId xmlns:a16="http://schemas.microsoft.com/office/drawing/2014/main" id="{B1E5F50C-0CEA-8F7A-0F5C-5171394D36F3}"/>
              </a:ext>
            </a:extLst>
          </p:cNvPr>
          <p:cNvPicPr>
            <a:picLocks noChangeAspect="1"/>
          </p:cNvPicPr>
          <p:nvPr/>
        </p:nvPicPr>
        <p:blipFill rotWithShape="1">
          <a:blip r:embed="rId2"/>
          <a:srcRect l="53799" r="11475"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E0305B1E-55C5-4FA3-AFAF-16D03C20B877}"/>
              </a:ext>
            </a:extLst>
          </p:cNvPr>
          <p:cNvSpPr>
            <a:spLocks noGrp="1"/>
          </p:cNvSpPr>
          <p:nvPr>
            <p:ph idx="1"/>
          </p:nvPr>
        </p:nvSpPr>
        <p:spPr>
          <a:xfrm>
            <a:off x="4984750" y="2759076"/>
            <a:ext cx="6121400" cy="3009899"/>
          </a:xfrm>
        </p:spPr>
        <p:txBody>
          <a:bodyPr>
            <a:normAutofit/>
          </a:bodyPr>
          <a:lstStyle/>
          <a:p>
            <a:pPr marL="359410" lvl="0" indent="-359410"/>
            <a:endParaRPr lang="en-US" dirty="0">
              <a:solidFill>
                <a:srgbClr val="FFFFFF">
                  <a:alpha val="70000"/>
                </a:srgbClr>
              </a:solidFill>
            </a:endParaRPr>
          </a:p>
          <a:p>
            <a:pPr marL="359410" lvl="1"/>
            <a:r>
              <a:rPr lang="en-US" dirty="0"/>
              <a:t>In class, Sarah actively participates, takes on new challenges, and demonstrates resilience in the face of difficulties. Her positive script guides her to approach learning with enthusiasm and a belief in her own capabilities.</a:t>
            </a:r>
            <a:endParaRPr lang="en-US" dirty="0">
              <a:solidFill>
                <a:srgbClr val="FFFFFF">
                  <a:alpha val="70000"/>
                </a:srgbClr>
              </a:solidFill>
            </a:endParaRPr>
          </a:p>
        </p:txBody>
      </p:sp>
    </p:spTree>
    <p:extLst>
      <p:ext uri="{BB962C8B-B14F-4D97-AF65-F5344CB8AC3E}">
        <p14:creationId xmlns:p14="http://schemas.microsoft.com/office/powerpoint/2010/main" val="2934281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EDCA8CE-F52A-3405-4310-EFD0DD99EC0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66D4BFF6-A2EF-8A5B-73D2-8E67E5840FB3}"/>
              </a:ext>
            </a:extLst>
          </p:cNvPr>
          <p:cNvSpPr>
            <a:spLocks noGrp="1"/>
          </p:cNvSpPr>
          <p:nvPr>
            <p:ph type="ctrTitle"/>
          </p:nvPr>
        </p:nvSpPr>
        <p:spPr>
          <a:xfrm>
            <a:off x="4984750" y="1011237"/>
            <a:ext cx="6120000" cy="860400"/>
          </a:xfrm>
        </p:spPr>
        <p:txBody>
          <a:bodyPr anchor="b">
            <a:normAutofit/>
          </a:bodyPr>
          <a:lstStyle/>
          <a:p>
            <a:pPr algn="ctr"/>
            <a:r>
              <a:rPr lang="en-US" dirty="0">
                <a:latin typeface="Rockwell Nova Light"/>
                <a:cs typeface="Arial"/>
              </a:rPr>
              <a:t>Case Study 2 - Negative Script Formation</a:t>
            </a:r>
          </a:p>
          <a:p>
            <a:pPr algn="ctr"/>
            <a:endParaRPr lang="en-US" dirty="0">
              <a:cs typeface="Arial"/>
            </a:endParaRPr>
          </a:p>
        </p:txBody>
      </p:sp>
      <p:pic>
        <p:nvPicPr>
          <p:cNvPr id="6" name="Picture 5" descr="Complex maths formulae on a blackboard">
            <a:extLst>
              <a:ext uri="{FF2B5EF4-FFF2-40B4-BE49-F238E27FC236}">
                <a16:creationId xmlns:a16="http://schemas.microsoft.com/office/drawing/2014/main" id="{69D01E1E-49A8-774E-E668-3A34E8384FEA}"/>
              </a:ext>
            </a:extLst>
          </p:cNvPr>
          <p:cNvPicPr>
            <a:picLocks noChangeAspect="1"/>
          </p:cNvPicPr>
          <p:nvPr/>
        </p:nvPicPr>
        <p:blipFill rotWithShape="1">
          <a:blip r:embed="rId2"/>
          <a:srcRect l="23291" r="35556" b="-9"/>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790530CF-1B58-B4EF-B2A9-D0E6283D7F07}"/>
              </a:ext>
            </a:extLst>
          </p:cNvPr>
          <p:cNvSpPr>
            <a:spLocks noGrp="1"/>
          </p:cNvSpPr>
          <p:nvPr>
            <p:ph idx="1"/>
          </p:nvPr>
        </p:nvSpPr>
        <p:spPr>
          <a:xfrm>
            <a:off x="4984750" y="2759076"/>
            <a:ext cx="6121400" cy="3009899"/>
          </a:xfrm>
        </p:spPr>
        <p:txBody>
          <a:bodyPr>
            <a:normAutofit/>
          </a:bodyPr>
          <a:lstStyle/>
          <a:p>
            <a:pPr marL="645160" lvl="1" indent="-285750">
              <a:lnSpc>
                <a:spcPct val="115000"/>
              </a:lnSpc>
              <a:buFont typeface="Arial"/>
              <a:buChar char="•"/>
            </a:pPr>
            <a:r>
              <a:rPr lang="en-US" sz="1600" b="1" dirty="0"/>
              <a:t>Background:</a:t>
            </a:r>
            <a:r>
              <a:rPr lang="en-US" sz="1600" dirty="0"/>
              <a:t> Now, let's look at Tom, who often receives criticism for his mistakes. He rarely hears positive feedback about his efforts, leading him to associate schoolwork with negative emotions.</a:t>
            </a:r>
            <a:endParaRPr lang="en-US" sz="1600" dirty="0">
              <a:solidFill>
                <a:srgbClr val="FFFFFF">
                  <a:alpha val="70000"/>
                </a:srgbClr>
              </a:solidFill>
            </a:endParaRPr>
          </a:p>
          <a:p>
            <a:pPr marL="645160" lvl="1" indent="-285750">
              <a:lnSpc>
                <a:spcPct val="114999"/>
              </a:lnSpc>
              <a:buFont typeface="Arial"/>
              <a:buChar char="•"/>
            </a:pPr>
            <a:r>
              <a:rPr lang="en-US" sz="1600" b="1" dirty="0"/>
              <a:t>Script Development:</a:t>
            </a:r>
            <a:r>
              <a:rPr lang="en-US" sz="1600" dirty="0"/>
              <a:t> Tom develops a negative script. He starts believing that effort leads to disappointment and criticism. This script ingrains in him a sense of fear and avoidance towards learning and trying new tasks.</a:t>
            </a:r>
            <a:endParaRPr lang="en-US" sz="1600">
              <a:solidFill>
                <a:srgbClr val="FFFFFF">
                  <a:alpha val="70000"/>
                </a:srgbClr>
              </a:solidFill>
            </a:endParaRPr>
          </a:p>
        </p:txBody>
      </p:sp>
    </p:spTree>
    <p:extLst>
      <p:ext uri="{BB962C8B-B14F-4D97-AF65-F5344CB8AC3E}">
        <p14:creationId xmlns:p14="http://schemas.microsoft.com/office/powerpoint/2010/main" val="278663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A1B0D7-197A-D2C4-7839-380A25578BE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6F1FA446-1EAE-228E-611E-756E797E3D96}"/>
              </a:ext>
            </a:extLst>
          </p:cNvPr>
          <p:cNvSpPr>
            <a:spLocks noGrp="1"/>
          </p:cNvSpPr>
          <p:nvPr>
            <p:ph type="ctrTitle"/>
          </p:nvPr>
        </p:nvSpPr>
        <p:spPr>
          <a:xfrm>
            <a:off x="4984750" y="1011237"/>
            <a:ext cx="6120000" cy="860400"/>
          </a:xfrm>
        </p:spPr>
        <p:txBody>
          <a:bodyPr anchor="b">
            <a:normAutofit/>
          </a:bodyPr>
          <a:lstStyle/>
          <a:p>
            <a:pPr algn="ctr"/>
            <a:r>
              <a:rPr lang="en-US" dirty="0" err="1">
                <a:ea typeface="+mj-lt"/>
                <a:cs typeface="+mj-lt"/>
              </a:rPr>
              <a:t>Behavioural</a:t>
            </a:r>
            <a:r>
              <a:rPr lang="en-US" dirty="0">
                <a:ea typeface="+mj-lt"/>
                <a:cs typeface="+mj-lt"/>
              </a:rPr>
              <a:t> Outcome</a:t>
            </a:r>
            <a:endParaRPr lang="en-US" dirty="0"/>
          </a:p>
        </p:txBody>
      </p:sp>
      <p:pic>
        <p:nvPicPr>
          <p:cNvPr id="6" name="Picture 5" descr="Light bulb on yellow background with sketched light beams and cord">
            <a:extLst>
              <a:ext uri="{FF2B5EF4-FFF2-40B4-BE49-F238E27FC236}">
                <a16:creationId xmlns:a16="http://schemas.microsoft.com/office/drawing/2014/main" id="{B1E5F50C-0CEA-8F7A-0F5C-5171394D36F3}"/>
              </a:ext>
            </a:extLst>
          </p:cNvPr>
          <p:cNvPicPr>
            <a:picLocks noChangeAspect="1"/>
          </p:cNvPicPr>
          <p:nvPr/>
        </p:nvPicPr>
        <p:blipFill rotWithShape="1">
          <a:blip r:embed="rId2"/>
          <a:srcRect l="53799" r="11475"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E0305B1E-55C5-4FA3-AFAF-16D03C20B877}"/>
              </a:ext>
            </a:extLst>
          </p:cNvPr>
          <p:cNvSpPr>
            <a:spLocks noGrp="1"/>
          </p:cNvSpPr>
          <p:nvPr>
            <p:ph idx="1"/>
          </p:nvPr>
        </p:nvSpPr>
        <p:spPr>
          <a:xfrm>
            <a:off x="4984750" y="2759076"/>
            <a:ext cx="6121400" cy="3009899"/>
          </a:xfrm>
        </p:spPr>
        <p:txBody>
          <a:bodyPr>
            <a:normAutofit/>
          </a:bodyPr>
          <a:lstStyle/>
          <a:p>
            <a:pPr marL="359410" lvl="0" indent="-359410"/>
            <a:endParaRPr lang="en-US" dirty="0">
              <a:solidFill>
                <a:srgbClr val="FFFFFF">
                  <a:alpha val="70000"/>
                </a:srgbClr>
              </a:solidFill>
            </a:endParaRPr>
          </a:p>
          <a:p>
            <a:pPr marL="359410" lvl="1"/>
            <a:r>
              <a:rPr lang="en-US" dirty="0">
                <a:solidFill>
                  <a:srgbClr val="FFFFFF"/>
                </a:solidFill>
              </a:rPr>
              <a:t>In the classroom, Tom is reluctant to participate, often appears disengaged, and may even exhibit disruptive </a:t>
            </a:r>
            <a:r>
              <a:rPr lang="en-US" dirty="0" err="1">
                <a:solidFill>
                  <a:srgbClr val="FFFFFF"/>
                </a:solidFill>
              </a:rPr>
              <a:t>behaviour</a:t>
            </a:r>
            <a:r>
              <a:rPr lang="en-US" dirty="0">
                <a:solidFill>
                  <a:srgbClr val="FFFFFF"/>
                </a:solidFill>
              </a:rPr>
              <a:t> as a defense mechanism. His negative script leads to a lack of self-confidence and a fear of failure.</a:t>
            </a:r>
          </a:p>
          <a:p>
            <a:pPr marL="359410" lvl="1"/>
            <a:endParaRPr lang="en-US" dirty="0">
              <a:solidFill>
                <a:srgbClr val="FFFFFF">
                  <a:alpha val="70000"/>
                </a:srgbClr>
              </a:solidFill>
            </a:endParaRPr>
          </a:p>
        </p:txBody>
      </p:sp>
    </p:spTree>
    <p:extLst>
      <p:ext uri="{BB962C8B-B14F-4D97-AF65-F5344CB8AC3E}">
        <p14:creationId xmlns:p14="http://schemas.microsoft.com/office/powerpoint/2010/main" val="3358700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87492BD-EE53-CD64-0AC0-50C5E974143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C650F3F3-6722-6C1B-8C85-34AD3BAF0355}"/>
              </a:ext>
            </a:extLst>
          </p:cNvPr>
          <p:cNvSpPr>
            <a:spLocks noGrp="1"/>
          </p:cNvSpPr>
          <p:nvPr>
            <p:ph type="ctrTitle"/>
          </p:nvPr>
        </p:nvSpPr>
        <p:spPr>
          <a:xfrm>
            <a:off x="4984750" y="1011237"/>
            <a:ext cx="6120000" cy="860400"/>
          </a:xfrm>
        </p:spPr>
        <p:txBody>
          <a:bodyPr anchor="b">
            <a:normAutofit/>
          </a:bodyPr>
          <a:lstStyle/>
          <a:p>
            <a:pPr algn="ctr"/>
            <a:r>
              <a:rPr lang="en-US" dirty="0">
                <a:ea typeface="+mj-lt"/>
                <a:cs typeface="+mj-lt"/>
              </a:rPr>
              <a:t>Reflective Activity</a:t>
            </a:r>
            <a:endParaRPr lang="en-US" dirty="0"/>
          </a:p>
        </p:txBody>
      </p:sp>
      <p:pic>
        <p:nvPicPr>
          <p:cNvPr id="6" name="Picture 5" descr="Drawings on colourful paper">
            <a:extLst>
              <a:ext uri="{FF2B5EF4-FFF2-40B4-BE49-F238E27FC236}">
                <a16:creationId xmlns:a16="http://schemas.microsoft.com/office/drawing/2014/main" id="{4D1FB6D9-339C-401F-3267-2CFE6275D78D}"/>
              </a:ext>
            </a:extLst>
          </p:cNvPr>
          <p:cNvPicPr>
            <a:picLocks noChangeAspect="1"/>
          </p:cNvPicPr>
          <p:nvPr/>
        </p:nvPicPr>
        <p:blipFill rotWithShape="1">
          <a:blip r:embed="rId3"/>
          <a:srcRect l="18197" r="44181"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8FD11083-1A8A-653F-24CC-5F75FB6500A7}"/>
              </a:ext>
            </a:extLst>
          </p:cNvPr>
          <p:cNvSpPr>
            <a:spLocks noGrp="1"/>
          </p:cNvSpPr>
          <p:nvPr>
            <p:ph idx="1"/>
          </p:nvPr>
        </p:nvSpPr>
        <p:spPr>
          <a:xfrm>
            <a:off x="4984750" y="2759076"/>
            <a:ext cx="6121400" cy="3009899"/>
          </a:xfrm>
        </p:spPr>
        <p:txBody>
          <a:bodyPr>
            <a:normAutofit/>
          </a:bodyPr>
          <a:lstStyle/>
          <a:p>
            <a:pPr marL="359410" lvl="0" indent="-359410">
              <a:lnSpc>
                <a:spcPct val="115000"/>
              </a:lnSpc>
            </a:pPr>
            <a:r>
              <a:rPr lang="en-US" sz="1800" i="1" dirty="0"/>
              <a:t>I invite you to reflect on your students. Think about their </a:t>
            </a:r>
            <a:r>
              <a:rPr lang="en-US" sz="1800" i="1" err="1"/>
              <a:t>behaviours</a:t>
            </a:r>
            <a:r>
              <a:rPr lang="en-US" sz="1800" i="1" dirty="0"/>
              <a:t> and try to identify potential scripts they might be following. Consider their reactions to success, failure, and feedback. What emotional patterns can you discern?</a:t>
            </a:r>
            <a:endParaRPr lang="en-US" sz="1800" dirty="0"/>
          </a:p>
        </p:txBody>
      </p:sp>
    </p:spTree>
    <p:extLst>
      <p:ext uri="{BB962C8B-B14F-4D97-AF65-F5344CB8AC3E}">
        <p14:creationId xmlns:p14="http://schemas.microsoft.com/office/powerpoint/2010/main" val="2532752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420D16B-D499-FA5B-4DC6-9D1508A7A55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C539EA12-3B93-4F2B-BE90-AF42251B8837}"/>
              </a:ext>
            </a:extLst>
          </p:cNvPr>
          <p:cNvSpPr>
            <a:spLocks noGrp="1"/>
          </p:cNvSpPr>
          <p:nvPr>
            <p:ph type="ctrTitle"/>
          </p:nvPr>
        </p:nvSpPr>
        <p:spPr>
          <a:xfrm>
            <a:off x="4984750" y="1011237"/>
            <a:ext cx="6120000" cy="860400"/>
          </a:xfrm>
        </p:spPr>
        <p:txBody>
          <a:bodyPr anchor="b">
            <a:normAutofit fontScale="90000"/>
          </a:bodyPr>
          <a:lstStyle/>
          <a:p>
            <a:pPr algn="ctr"/>
            <a:r>
              <a:rPr lang="en-US" dirty="0"/>
              <a:t>Strategies: Identifying and Influencing Scripts </a:t>
            </a:r>
          </a:p>
        </p:txBody>
      </p:sp>
      <p:pic>
        <p:nvPicPr>
          <p:cNvPr id="6" name="Picture 5" descr="Large skydiving group mid-air">
            <a:extLst>
              <a:ext uri="{FF2B5EF4-FFF2-40B4-BE49-F238E27FC236}">
                <a16:creationId xmlns:a16="http://schemas.microsoft.com/office/drawing/2014/main" id="{520469D3-B440-1778-C5F9-F89D7CDE6B86}"/>
              </a:ext>
            </a:extLst>
          </p:cNvPr>
          <p:cNvPicPr>
            <a:picLocks noChangeAspect="1"/>
          </p:cNvPicPr>
          <p:nvPr/>
        </p:nvPicPr>
        <p:blipFill rotWithShape="1">
          <a:blip r:embed="rId2"/>
          <a:srcRect l="32043" r="30365"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FAC19A3F-786F-B257-174F-1937F4CE7E8F}"/>
              </a:ext>
            </a:extLst>
          </p:cNvPr>
          <p:cNvSpPr>
            <a:spLocks noGrp="1"/>
          </p:cNvSpPr>
          <p:nvPr>
            <p:ph idx="1"/>
          </p:nvPr>
        </p:nvSpPr>
        <p:spPr>
          <a:xfrm>
            <a:off x="4984750" y="2759076"/>
            <a:ext cx="6121400" cy="3009899"/>
          </a:xfrm>
        </p:spPr>
        <p:txBody>
          <a:bodyPr>
            <a:normAutofit fontScale="92500" lnSpcReduction="10000"/>
          </a:bodyPr>
          <a:lstStyle/>
          <a:p>
            <a:pPr marL="645160" lvl="1" indent="-285750">
              <a:lnSpc>
                <a:spcPct val="115000"/>
              </a:lnSpc>
              <a:buFont typeface="Arial"/>
              <a:buChar char="•"/>
            </a:pPr>
            <a:r>
              <a:rPr lang="en-US" sz="1400" b="1" dirty="0"/>
              <a:t>Consistent Positive Reinforcement:</a:t>
            </a:r>
            <a:r>
              <a:rPr lang="en-US" sz="1400" dirty="0"/>
              <a:t> Regularly acknowledge and celebrate students' efforts, not just their achievements. This approach can help in developing positive scripts, reinforcing the idea that effort is valuable and appreciated.</a:t>
            </a:r>
            <a:endParaRPr lang="en-US" dirty="0">
              <a:solidFill>
                <a:srgbClr val="FFFFFF">
                  <a:alpha val="70000"/>
                </a:srgbClr>
              </a:solidFill>
            </a:endParaRPr>
          </a:p>
          <a:p>
            <a:pPr marL="645160" lvl="1" indent="-285750">
              <a:lnSpc>
                <a:spcPct val="115000"/>
              </a:lnSpc>
              <a:buFont typeface="Arial"/>
              <a:buChar char="•"/>
            </a:pPr>
            <a:r>
              <a:rPr lang="en-US" sz="1400" b="1" dirty="0"/>
              <a:t>Creating a Safe Emotional Space:</a:t>
            </a:r>
            <a:r>
              <a:rPr lang="en-US" sz="1400" dirty="0"/>
              <a:t> Foster an environment where students feel safe to express their emotions. Encourage them to share their feelings and experiences, helping them to understand and navigate their emotional scripts.</a:t>
            </a:r>
            <a:endParaRPr lang="en-US" sz="1400" dirty="0">
              <a:solidFill>
                <a:srgbClr val="FFFFFF">
                  <a:alpha val="70000"/>
                </a:srgbClr>
              </a:solidFill>
            </a:endParaRPr>
          </a:p>
          <a:p>
            <a:pPr marL="645160" lvl="1" indent="-285750">
              <a:lnSpc>
                <a:spcPct val="114999"/>
              </a:lnSpc>
              <a:buFont typeface="Arial"/>
              <a:buChar char="•"/>
            </a:pPr>
            <a:r>
              <a:rPr lang="en-US" sz="1400" b="1" dirty="0">
                <a:solidFill>
                  <a:srgbClr val="FFFFFF">
                    <a:alpha val="70000"/>
                  </a:srgbClr>
                </a:solidFill>
              </a:rPr>
              <a:t>Incorporating Mindfulness Practices:</a:t>
            </a:r>
            <a:r>
              <a:rPr lang="en-US" sz="1400" dirty="0">
                <a:solidFill>
                  <a:srgbClr val="FFFFFF">
                    <a:alpha val="70000"/>
                  </a:srgbClr>
                </a:solidFill>
              </a:rPr>
              <a:t> Introduce mindfulness activities, such as guided breathing or reflection exercises. These can help students become more aware of their emotional responses and learn to manage them effectively, thereby influencing the formation of more adaptive scripts.</a:t>
            </a:r>
            <a:endParaRPr lang="en-US" dirty="0">
              <a:solidFill>
                <a:srgbClr val="FFFFFF">
                  <a:alpha val="70000"/>
                </a:srgbClr>
              </a:solidFill>
            </a:endParaRPr>
          </a:p>
        </p:txBody>
      </p:sp>
    </p:spTree>
    <p:extLst>
      <p:ext uri="{BB962C8B-B14F-4D97-AF65-F5344CB8AC3E}">
        <p14:creationId xmlns:p14="http://schemas.microsoft.com/office/powerpoint/2010/main" val="2547886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FFC56C5-320B-25E6-3AC7-0A56B4BCA42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B941AEE4-595C-D86A-C013-6B79D2E0B177}"/>
              </a:ext>
            </a:extLst>
          </p:cNvPr>
          <p:cNvSpPr>
            <a:spLocks noGrp="1"/>
          </p:cNvSpPr>
          <p:nvPr>
            <p:ph type="ctrTitle"/>
          </p:nvPr>
        </p:nvSpPr>
        <p:spPr>
          <a:xfrm>
            <a:off x="4984750" y="1011237"/>
            <a:ext cx="6120000" cy="860400"/>
          </a:xfrm>
        </p:spPr>
        <p:txBody>
          <a:bodyPr anchor="b">
            <a:normAutofit fontScale="90000"/>
          </a:bodyPr>
          <a:lstStyle/>
          <a:p>
            <a:pPr algn="ctr"/>
            <a:r>
              <a:rPr lang="en-US"/>
              <a:t>Balancing Affects: The Role of the Central Executive</a:t>
            </a:r>
          </a:p>
          <a:p>
            <a:pPr algn="ctr"/>
            <a:endParaRPr lang="en-US" dirty="0"/>
          </a:p>
        </p:txBody>
      </p:sp>
      <p:pic>
        <p:nvPicPr>
          <p:cNvPr id="6" name="Picture 5" descr="White arrows going to the red target">
            <a:extLst>
              <a:ext uri="{FF2B5EF4-FFF2-40B4-BE49-F238E27FC236}">
                <a16:creationId xmlns:a16="http://schemas.microsoft.com/office/drawing/2014/main" id="{DB907C0D-4A93-DE01-F763-1B0A7643556A}"/>
              </a:ext>
            </a:extLst>
          </p:cNvPr>
          <p:cNvPicPr>
            <a:picLocks noChangeAspect="1"/>
          </p:cNvPicPr>
          <p:nvPr/>
        </p:nvPicPr>
        <p:blipFill rotWithShape="1">
          <a:blip r:embed="rId2"/>
          <a:srcRect l="48936" r="13442"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28203F58-C872-A3A6-5820-ADDE028B52B9}"/>
              </a:ext>
            </a:extLst>
          </p:cNvPr>
          <p:cNvSpPr>
            <a:spLocks noGrp="1"/>
          </p:cNvSpPr>
          <p:nvPr>
            <p:ph idx="1"/>
          </p:nvPr>
        </p:nvSpPr>
        <p:spPr>
          <a:xfrm>
            <a:off x="4984750" y="2759076"/>
            <a:ext cx="6121400" cy="3009899"/>
          </a:xfrm>
        </p:spPr>
        <p:txBody>
          <a:bodyPr>
            <a:normAutofit/>
          </a:bodyPr>
          <a:lstStyle/>
          <a:p>
            <a:pPr marL="359410" lvl="1">
              <a:lnSpc>
                <a:spcPct val="114999"/>
              </a:lnSpc>
            </a:pPr>
            <a:r>
              <a:rPr lang="en-US" sz="1600" b="1" dirty="0">
                <a:solidFill>
                  <a:srgbClr val="FFFFFF"/>
                </a:solidFill>
              </a:rPr>
              <a:t>The Central Executive's Role:</a:t>
            </a:r>
            <a:endParaRPr lang="en-US" dirty="0">
              <a:solidFill>
                <a:srgbClr val="FFFFFF">
                  <a:alpha val="70000"/>
                </a:srgbClr>
              </a:solidFill>
            </a:endParaRPr>
          </a:p>
          <a:p>
            <a:pPr marL="645160" lvl="1" indent="-285750">
              <a:lnSpc>
                <a:spcPct val="114999"/>
              </a:lnSpc>
              <a:buClr>
                <a:srgbClr val="DB94BE"/>
              </a:buClr>
              <a:buFont typeface="Arial"/>
              <a:buChar char="•"/>
            </a:pPr>
            <a:r>
              <a:rPr lang="en-US" sz="1400" dirty="0">
                <a:solidFill>
                  <a:srgbClr val="FFFFFF"/>
                </a:solidFill>
              </a:rPr>
              <a:t>Our central executive acts as an internal moderator, guiding us to maximize positive emotions and minimize negative ones. It’s vital in our pursuit of a balanced emotional state.</a:t>
            </a:r>
            <a:endParaRPr lang="en-US" sz="1400" dirty="0">
              <a:solidFill>
                <a:srgbClr val="FFFFFF">
                  <a:alpha val="70000"/>
                </a:srgbClr>
              </a:solidFill>
            </a:endParaRPr>
          </a:p>
          <a:p>
            <a:pPr marL="359410" lvl="1">
              <a:lnSpc>
                <a:spcPct val="114999"/>
              </a:lnSpc>
            </a:pPr>
            <a:endParaRPr lang="en-US" sz="1600" b="1" dirty="0"/>
          </a:p>
          <a:p>
            <a:pPr marL="359410" lvl="1">
              <a:lnSpc>
                <a:spcPct val="114999"/>
              </a:lnSpc>
            </a:pPr>
            <a:r>
              <a:rPr lang="en-US" sz="1600" b="1" dirty="0"/>
              <a:t>Our Innate Guide for Emotional Balance</a:t>
            </a:r>
            <a:endParaRPr lang="en-US" dirty="0">
              <a:solidFill>
                <a:srgbClr val="FFFFFF">
                  <a:alpha val="70000"/>
                </a:srgbClr>
              </a:solidFill>
            </a:endParaRPr>
          </a:p>
          <a:p>
            <a:pPr marL="588010" lvl="1" indent="-228600">
              <a:lnSpc>
                <a:spcPct val="114999"/>
              </a:lnSpc>
              <a:buFont typeface="Arial"/>
              <a:buChar char="•"/>
            </a:pPr>
            <a:r>
              <a:rPr lang="en-US" sz="1400" dirty="0"/>
              <a:t>Maximizing Positive Affect: Cultivating Joyful Experiences</a:t>
            </a:r>
            <a:endParaRPr lang="en-US" sz="1400" i="0" dirty="0">
              <a:solidFill>
                <a:srgbClr val="FFFFFF">
                  <a:alpha val="70000"/>
                </a:srgbClr>
              </a:solidFill>
            </a:endParaRPr>
          </a:p>
          <a:p>
            <a:pPr marL="588010" lvl="1" indent="-228600">
              <a:lnSpc>
                <a:spcPct val="114999"/>
              </a:lnSpc>
              <a:buFont typeface="Arial"/>
              <a:buChar char="•"/>
            </a:pPr>
            <a:r>
              <a:rPr lang="en-US" sz="1400" i="0" dirty="0"/>
              <a:t>Minimizing</a:t>
            </a:r>
            <a:r>
              <a:rPr lang="en-US" sz="1400" dirty="0"/>
              <a:t> Negative Affect: Navigating Challenges</a:t>
            </a:r>
            <a:endParaRPr lang="en-US" sz="1400" i="0" dirty="0">
              <a:solidFill>
                <a:srgbClr val="FFFFFF">
                  <a:alpha val="70000"/>
                </a:srgbClr>
              </a:solidFill>
            </a:endParaRPr>
          </a:p>
          <a:p>
            <a:pPr marL="588010" lvl="1" indent="-228600">
              <a:lnSpc>
                <a:spcPct val="114999"/>
              </a:lnSpc>
              <a:buFont typeface="Arial"/>
              <a:buChar char="•"/>
            </a:pPr>
            <a:r>
              <a:rPr lang="en-US" sz="1400" i="0" dirty="0"/>
              <a:t>Minimizing Inhibition of Affect: Encouraging Emotional Expression</a:t>
            </a:r>
            <a:endParaRPr lang="en-US" sz="1400" i="0" dirty="0">
              <a:solidFill>
                <a:srgbClr val="FFFFFF">
                  <a:alpha val="70000"/>
                </a:srgbClr>
              </a:solidFill>
            </a:endParaRPr>
          </a:p>
          <a:p>
            <a:pPr marL="588010" lvl="1" indent="-228600">
              <a:lnSpc>
                <a:spcPct val="114999"/>
              </a:lnSpc>
              <a:buFont typeface="Arial"/>
              <a:buChar char="•"/>
            </a:pPr>
            <a:r>
              <a:rPr lang="en-US" sz="1400" i="0" dirty="0"/>
              <a:t>Achieving</a:t>
            </a:r>
            <a:r>
              <a:rPr lang="en-US" sz="1400" dirty="0"/>
              <a:t> a Balanced SEMH: Integrating 1 to 3 in Education</a:t>
            </a:r>
            <a:endParaRPr lang="en-US" sz="1400" i="0" dirty="0">
              <a:solidFill>
                <a:srgbClr val="FFFFFF">
                  <a:alpha val="70000"/>
                </a:srgbClr>
              </a:solidFill>
            </a:endParaRPr>
          </a:p>
        </p:txBody>
      </p:sp>
    </p:spTree>
    <p:extLst>
      <p:ext uri="{BB962C8B-B14F-4D97-AF65-F5344CB8AC3E}">
        <p14:creationId xmlns:p14="http://schemas.microsoft.com/office/powerpoint/2010/main" val="2466571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E92B831-E7F3-697B-B775-4A79158118C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426268C3-EEB1-3071-693D-0AF71120CD4B}"/>
              </a:ext>
            </a:extLst>
          </p:cNvPr>
          <p:cNvSpPr>
            <a:spLocks noGrp="1"/>
          </p:cNvSpPr>
          <p:nvPr>
            <p:ph type="ctrTitle"/>
          </p:nvPr>
        </p:nvSpPr>
        <p:spPr>
          <a:xfrm>
            <a:off x="4984750" y="1011237"/>
            <a:ext cx="6120000" cy="860400"/>
          </a:xfrm>
        </p:spPr>
        <p:txBody>
          <a:bodyPr anchor="b">
            <a:normAutofit fontScale="90000"/>
          </a:bodyPr>
          <a:lstStyle/>
          <a:p>
            <a:pPr algn="ctr"/>
            <a:r>
              <a:rPr lang="en-US" dirty="0"/>
              <a:t>Balancing Affects: The Role of the Central Executive</a:t>
            </a:r>
          </a:p>
          <a:p>
            <a:pPr algn="ctr"/>
            <a:endParaRPr lang="en-US" dirty="0"/>
          </a:p>
        </p:txBody>
      </p:sp>
      <p:pic>
        <p:nvPicPr>
          <p:cNvPr id="6" name="Picture 5" descr="Large skydiving group mid-air">
            <a:extLst>
              <a:ext uri="{FF2B5EF4-FFF2-40B4-BE49-F238E27FC236}">
                <a16:creationId xmlns:a16="http://schemas.microsoft.com/office/drawing/2014/main" id="{6E0B8F3A-15D4-F9EB-85CE-2E094838B114}"/>
              </a:ext>
            </a:extLst>
          </p:cNvPr>
          <p:cNvPicPr>
            <a:picLocks noChangeAspect="1"/>
          </p:cNvPicPr>
          <p:nvPr/>
        </p:nvPicPr>
        <p:blipFill rotWithShape="1">
          <a:blip r:embed="rId2"/>
          <a:srcRect l="32043" r="30365"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B34BDAC0-B64F-6769-E57F-A2123D0E7E28}"/>
              </a:ext>
            </a:extLst>
          </p:cNvPr>
          <p:cNvSpPr>
            <a:spLocks noGrp="1"/>
          </p:cNvSpPr>
          <p:nvPr>
            <p:ph idx="1"/>
          </p:nvPr>
        </p:nvSpPr>
        <p:spPr>
          <a:xfrm>
            <a:off x="4984750" y="2759076"/>
            <a:ext cx="6121400" cy="3009899"/>
          </a:xfrm>
        </p:spPr>
        <p:txBody>
          <a:bodyPr>
            <a:normAutofit/>
          </a:bodyPr>
          <a:lstStyle/>
          <a:p>
            <a:pPr marL="359410" lvl="1">
              <a:lnSpc>
                <a:spcPct val="115000"/>
              </a:lnSpc>
            </a:pPr>
            <a:r>
              <a:rPr lang="en-US" sz="1400" dirty="0"/>
              <a:t>Real-Life Examples</a:t>
            </a:r>
            <a:endParaRPr lang="en-US" dirty="0"/>
          </a:p>
          <a:p>
            <a:pPr marL="1079500" lvl="2" indent="-359410">
              <a:lnSpc>
                <a:spcPct val="115000"/>
              </a:lnSpc>
            </a:pPr>
            <a:r>
              <a:rPr lang="en-US" sz="1400" dirty="0"/>
              <a:t>In school settings, CYP often rely on adults to understand and support them. For example, a child in care might experience instability and emotional challenges, needing an environment that maximizes positive affect through supportive interactions.</a:t>
            </a:r>
          </a:p>
          <a:p>
            <a:pPr marL="1079500" lvl="2" indent="-359410">
              <a:lnSpc>
                <a:spcPct val="114999"/>
              </a:lnSpc>
              <a:buClr>
                <a:srgbClr val="DB94BE"/>
              </a:buClr>
            </a:pPr>
            <a:r>
              <a:rPr lang="en-US" sz="1400" dirty="0">
                <a:solidFill>
                  <a:srgbClr val="FFFFFF">
                    <a:alpha val="70000"/>
                  </a:srgbClr>
                </a:solidFill>
              </a:rPr>
              <a:t>Alternatively, a child experiencing bereavement or domestic violence needs a space where their negative affect is not suppressed but acknowledged and addressed, fulfilling the central executive’s role of minimizing the inhibition of affect.</a:t>
            </a:r>
          </a:p>
          <a:p>
            <a:pPr marL="1079500" lvl="2" indent="-359410">
              <a:lnSpc>
                <a:spcPct val="114999"/>
              </a:lnSpc>
              <a:buClr>
                <a:srgbClr val="DB94BE"/>
              </a:buClr>
            </a:pPr>
            <a:endParaRPr lang="en-US" sz="1400" dirty="0">
              <a:solidFill>
                <a:srgbClr val="FFFFFF">
                  <a:alpha val="70000"/>
                </a:srgbClr>
              </a:solidFill>
            </a:endParaRPr>
          </a:p>
        </p:txBody>
      </p:sp>
    </p:spTree>
    <p:extLst>
      <p:ext uri="{BB962C8B-B14F-4D97-AF65-F5344CB8AC3E}">
        <p14:creationId xmlns:p14="http://schemas.microsoft.com/office/powerpoint/2010/main" val="968154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171FF4A-068C-1656-08AB-27E3C6E59CC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0EFC239-ACB2-6270-5F32-22D4334C48D4}"/>
              </a:ext>
            </a:extLst>
          </p:cNvPr>
          <p:cNvSpPr>
            <a:spLocks noGrp="1"/>
          </p:cNvSpPr>
          <p:nvPr>
            <p:ph type="ctrTitle"/>
          </p:nvPr>
        </p:nvSpPr>
        <p:spPr>
          <a:xfrm>
            <a:off x="4984750" y="1011237"/>
            <a:ext cx="6120000" cy="860400"/>
          </a:xfrm>
        </p:spPr>
        <p:txBody>
          <a:bodyPr anchor="b">
            <a:normAutofit/>
          </a:bodyPr>
          <a:lstStyle/>
          <a:p>
            <a:pPr algn="ctr"/>
            <a:r>
              <a:rPr lang="en-US"/>
              <a:t>Educational Implications</a:t>
            </a:r>
          </a:p>
        </p:txBody>
      </p:sp>
      <p:pic>
        <p:nvPicPr>
          <p:cNvPr id="6" name="Picture 5" descr="Large skydiving group mid-air">
            <a:extLst>
              <a:ext uri="{FF2B5EF4-FFF2-40B4-BE49-F238E27FC236}">
                <a16:creationId xmlns:a16="http://schemas.microsoft.com/office/drawing/2014/main" id="{6BC5BA34-910F-0479-9A9B-18290C469F73}"/>
              </a:ext>
            </a:extLst>
          </p:cNvPr>
          <p:cNvPicPr>
            <a:picLocks noChangeAspect="1"/>
          </p:cNvPicPr>
          <p:nvPr/>
        </p:nvPicPr>
        <p:blipFill rotWithShape="1">
          <a:blip r:embed="rId2"/>
          <a:srcRect l="32043" r="30365"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23A0DD34-DB6B-6A08-EBAF-CC31D2FF82B0}"/>
              </a:ext>
            </a:extLst>
          </p:cNvPr>
          <p:cNvSpPr>
            <a:spLocks noGrp="1"/>
          </p:cNvSpPr>
          <p:nvPr>
            <p:ph idx="1"/>
          </p:nvPr>
        </p:nvSpPr>
        <p:spPr>
          <a:xfrm>
            <a:off x="4984750" y="2759076"/>
            <a:ext cx="6121400" cy="3009899"/>
          </a:xfrm>
        </p:spPr>
        <p:txBody>
          <a:bodyPr>
            <a:normAutofit/>
          </a:bodyPr>
          <a:lstStyle/>
          <a:p>
            <a:pPr marL="1079500" lvl="2" indent="-359410">
              <a:lnSpc>
                <a:spcPct val="115000"/>
              </a:lnSpc>
            </a:pPr>
            <a:r>
              <a:rPr lang="en-US" sz="1800" dirty="0"/>
              <a:t>When educators fail to provide such support, it leads to an imbalance, often resulting in masking or adverse outcomes. </a:t>
            </a:r>
            <a:endParaRPr lang="en-US" sz="1800" dirty="0">
              <a:solidFill>
                <a:srgbClr val="FFFFFF">
                  <a:alpha val="70000"/>
                </a:srgbClr>
              </a:solidFill>
            </a:endParaRPr>
          </a:p>
          <a:p>
            <a:pPr marL="1079500" lvl="2" indent="-359410">
              <a:lnSpc>
                <a:spcPct val="114999"/>
              </a:lnSpc>
              <a:buClr>
                <a:srgbClr val="DB94BE"/>
              </a:buClr>
            </a:pPr>
            <a:r>
              <a:rPr lang="en-US" sz="1800" dirty="0"/>
              <a:t>This highlights the importance of our role in creating an environment that adheres to these principles of emotional regulation.</a:t>
            </a:r>
            <a:endParaRPr lang="en-US" sz="1800" dirty="0">
              <a:solidFill>
                <a:srgbClr val="FFFFFF">
                  <a:alpha val="70000"/>
                </a:srgbClr>
              </a:solidFill>
            </a:endParaRPr>
          </a:p>
          <a:p>
            <a:pPr marL="359410" lvl="1">
              <a:lnSpc>
                <a:spcPct val="115000"/>
              </a:lnSpc>
            </a:pPr>
            <a:endParaRPr lang="en-US" sz="1300" dirty="0">
              <a:solidFill>
                <a:srgbClr val="FFFFFF">
                  <a:alpha val="70000"/>
                </a:srgbClr>
              </a:solidFill>
            </a:endParaRPr>
          </a:p>
        </p:txBody>
      </p:sp>
    </p:spTree>
    <p:extLst>
      <p:ext uri="{BB962C8B-B14F-4D97-AF65-F5344CB8AC3E}">
        <p14:creationId xmlns:p14="http://schemas.microsoft.com/office/powerpoint/2010/main" val="1080972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B09C7EF-62A5-4C90-F4AF-AE555FB7B70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5C8AEA98-A9F1-98EF-75D1-2E1B28584680}"/>
              </a:ext>
            </a:extLst>
          </p:cNvPr>
          <p:cNvSpPr>
            <a:spLocks noGrp="1"/>
          </p:cNvSpPr>
          <p:nvPr>
            <p:ph type="ctrTitle"/>
          </p:nvPr>
        </p:nvSpPr>
        <p:spPr>
          <a:xfrm>
            <a:off x="4984750" y="1011237"/>
            <a:ext cx="6120000" cy="860400"/>
          </a:xfrm>
        </p:spPr>
        <p:txBody>
          <a:bodyPr anchor="b">
            <a:normAutofit/>
          </a:bodyPr>
          <a:lstStyle/>
          <a:p>
            <a:pPr algn="ctr"/>
            <a:r>
              <a:rPr lang="en-US" dirty="0">
                <a:latin typeface="Rockwell Nova Light"/>
                <a:cs typeface="Calibri"/>
              </a:rPr>
              <a:t>Strategies for Educators</a:t>
            </a:r>
            <a:endParaRPr lang="en-US" dirty="0"/>
          </a:p>
        </p:txBody>
      </p:sp>
      <p:pic>
        <p:nvPicPr>
          <p:cNvPr id="6" name="Picture 5">
            <a:extLst>
              <a:ext uri="{FF2B5EF4-FFF2-40B4-BE49-F238E27FC236}">
                <a16:creationId xmlns:a16="http://schemas.microsoft.com/office/drawing/2014/main" id="{2B142257-1C30-96B3-1DB2-FD6AB0EB4AE4}"/>
              </a:ext>
            </a:extLst>
          </p:cNvPr>
          <p:cNvPicPr>
            <a:picLocks noChangeAspect="1"/>
          </p:cNvPicPr>
          <p:nvPr/>
        </p:nvPicPr>
        <p:blipFill rotWithShape="1">
          <a:blip r:embed="rId2"/>
          <a:srcRect l="30273" r="39961" b="6250"/>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A9885D12-6EA8-5C95-6DFA-FA9E91D0B2D0}"/>
              </a:ext>
            </a:extLst>
          </p:cNvPr>
          <p:cNvSpPr>
            <a:spLocks noGrp="1"/>
          </p:cNvSpPr>
          <p:nvPr>
            <p:ph idx="1"/>
          </p:nvPr>
        </p:nvSpPr>
        <p:spPr>
          <a:xfrm>
            <a:off x="4984750" y="2759076"/>
            <a:ext cx="6121400" cy="3009899"/>
          </a:xfrm>
        </p:spPr>
        <p:txBody>
          <a:bodyPr>
            <a:normAutofit/>
          </a:bodyPr>
          <a:lstStyle/>
          <a:p>
            <a:pPr marL="0" indent="0">
              <a:lnSpc>
                <a:spcPct val="115000"/>
              </a:lnSpc>
              <a:buNone/>
            </a:pPr>
            <a:r>
              <a:rPr lang="en-US" sz="1600" b="1" dirty="0"/>
              <a:t>We can foster a balanced SEMH by:</a:t>
            </a:r>
            <a:endParaRPr lang="en-US" b="1" dirty="0"/>
          </a:p>
          <a:p>
            <a:pPr marL="359410" indent="-359410">
              <a:lnSpc>
                <a:spcPct val="114999"/>
              </a:lnSpc>
              <a:buClr>
                <a:srgbClr val="DB94BE"/>
              </a:buClr>
            </a:pPr>
            <a:r>
              <a:rPr lang="en-US" sz="1600" dirty="0"/>
              <a:t>Encouraging the expression of all emotions</a:t>
            </a:r>
            <a:endParaRPr lang="en-US" sz="1600" dirty="0">
              <a:solidFill>
                <a:srgbClr val="FFFFFF">
                  <a:alpha val="70000"/>
                </a:srgbClr>
              </a:solidFill>
            </a:endParaRPr>
          </a:p>
          <a:p>
            <a:pPr marL="359410" indent="-359410">
              <a:lnSpc>
                <a:spcPct val="114999"/>
              </a:lnSpc>
              <a:buClr>
                <a:srgbClr val="DB94BE"/>
              </a:buClr>
            </a:pPr>
            <a:r>
              <a:rPr lang="en-US" sz="1600" dirty="0"/>
              <a:t>Providing support for negative experiences and celebrating positive moments. </a:t>
            </a:r>
            <a:endParaRPr lang="en-US" sz="1600" dirty="0">
              <a:solidFill>
                <a:srgbClr val="FFFFFF">
                  <a:alpha val="70000"/>
                </a:srgbClr>
              </a:solidFill>
            </a:endParaRPr>
          </a:p>
          <a:p>
            <a:pPr marL="359410" indent="-359410">
              <a:lnSpc>
                <a:spcPct val="114999"/>
              </a:lnSpc>
              <a:buClr>
                <a:srgbClr val="DB94BE"/>
              </a:buClr>
            </a:pPr>
            <a:endParaRPr lang="en-US" sz="1600" dirty="0"/>
          </a:p>
          <a:p>
            <a:pPr marL="0" indent="0">
              <a:lnSpc>
                <a:spcPct val="114999"/>
              </a:lnSpc>
              <a:buNone/>
            </a:pPr>
            <a:r>
              <a:rPr lang="en-US" sz="1600" dirty="0"/>
              <a:t>This approach not only adheres to our innate emotional needs but also creates a nurturing educational environment.</a:t>
            </a:r>
            <a:endParaRPr lang="en-US" sz="1600" dirty="0">
              <a:solidFill>
                <a:srgbClr val="FFFFFF">
                  <a:alpha val="70000"/>
                </a:srgbClr>
              </a:solidFill>
            </a:endParaRPr>
          </a:p>
          <a:p>
            <a:pPr marL="0" lvl="0" indent="0">
              <a:lnSpc>
                <a:spcPct val="115000"/>
              </a:lnSpc>
              <a:buNone/>
            </a:pPr>
            <a:endParaRPr lang="en-US" sz="1600" dirty="0">
              <a:solidFill>
                <a:srgbClr val="FFFFFF">
                  <a:alpha val="70000"/>
                </a:srgbClr>
              </a:solidFill>
            </a:endParaRPr>
          </a:p>
        </p:txBody>
      </p:sp>
    </p:spTree>
    <p:extLst>
      <p:ext uri="{BB962C8B-B14F-4D97-AF65-F5344CB8AC3E}">
        <p14:creationId xmlns:p14="http://schemas.microsoft.com/office/powerpoint/2010/main" val="3709049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B5F7821-6557-8321-6575-AA6F992995E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55CA6D75-487B-0DE8-206B-2B876B95B223}"/>
              </a:ext>
            </a:extLst>
          </p:cNvPr>
          <p:cNvSpPr>
            <a:spLocks noGrp="1"/>
          </p:cNvSpPr>
          <p:nvPr>
            <p:ph type="ctrTitle"/>
          </p:nvPr>
        </p:nvSpPr>
        <p:spPr>
          <a:xfrm>
            <a:off x="4984750" y="1011237"/>
            <a:ext cx="6120000" cy="860400"/>
          </a:xfrm>
        </p:spPr>
        <p:txBody>
          <a:bodyPr anchor="b">
            <a:normAutofit/>
          </a:bodyPr>
          <a:lstStyle/>
          <a:p>
            <a:pPr algn="ctr"/>
            <a:r>
              <a:rPr lang="en-US" dirty="0"/>
              <a:t>Harnessing Joy and Interest in Learning</a:t>
            </a:r>
          </a:p>
        </p:txBody>
      </p:sp>
      <p:pic>
        <p:nvPicPr>
          <p:cNvPr id="6" name="Picture 5">
            <a:extLst>
              <a:ext uri="{FF2B5EF4-FFF2-40B4-BE49-F238E27FC236}">
                <a16:creationId xmlns:a16="http://schemas.microsoft.com/office/drawing/2014/main" id="{FF7F950B-0CD5-7C21-DF53-3A9683BC44C3}"/>
              </a:ext>
            </a:extLst>
          </p:cNvPr>
          <p:cNvPicPr>
            <a:picLocks noChangeAspect="1"/>
          </p:cNvPicPr>
          <p:nvPr/>
        </p:nvPicPr>
        <p:blipFill rotWithShape="1">
          <a:blip r:embed="rId3"/>
          <a:srcRect l="32422" r="30016" b="9"/>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4F49718E-F066-709C-E8D7-C6ABE7E2C5B5}"/>
              </a:ext>
            </a:extLst>
          </p:cNvPr>
          <p:cNvSpPr>
            <a:spLocks noGrp="1"/>
          </p:cNvSpPr>
          <p:nvPr>
            <p:ph idx="1"/>
          </p:nvPr>
        </p:nvSpPr>
        <p:spPr>
          <a:xfrm>
            <a:off x="4984750" y="2759076"/>
            <a:ext cx="6121400" cy="3009899"/>
          </a:xfrm>
        </p:spPr>
        <p:txBody>
          <a:bodyPr vert="horz" lIns="0" tIns="0" rIns="0" bIns="0" rtlCol="0" anchor="t" anchorCtr="0">
            <a:noAutofit/>
          </a:bodyPr>
          <a:lstStyle/>
          <a:p>
            <a:pPr marL="359410" lvl="0" indent="-359410">
              <a:lnSpc>
                <a:spcPct val="115000"/>
              </a:lnSpc>
            </a:pPr>
            <a:r>
              <a:rPr lang="en-US" sz="1800" i="1" dirty="0"/>
              <a:t>Igniting Learning through Intrinsic Motivation</a:t>
            </a:r>
            <a:endParaRPr lang="en-US" sz="1800" i="1">
              <a:solidFill>
                <a:srgbClr val="FFFFFF">
                  <a:alpha val="70000"/>
                </a:srgbClr>
              </a:solidFill>
            </a:endParaRPr>
          </a:p>
          <a:p>
            <a:pPr marL="359410" indent="-359410">
              <a:lnSpc>
                <a:spcPct val="115000"/>
              </a:lnSpc>
            </a:pPr>
            <a:r>
              <a:rPr lang="en-US" sz="1800" i="1" dirty="0"/>
              <a:t>The Essence of Intrinsic Motivation: Joy and Interest as Catalysts</a:t>
            </a:r>
            <a:endParaRPr lang="en-US" sz="1800" i="1">
              <a:solidFill>
                <a:srgbClr val="FFFFFF">
                  <a:alpha val="70000"/>
                </a:srgbClr>
              </a:solidFill>
            </a:endParaRPr>
          </a:p>
          <a:p>
            <a:pPr marL="359410" indent="-359410">
              <a:lnSpc>
                <a:spcPct val="114999"/>
              </a:lnSpc>
              <a:buClr>
                <a:srgbClr val="DB94BE"/>
              </a:buClr>
            </a:pPr>
            <a:r>
              <a:rPr lang="en-US" sz="1800" i="1" dirty="0"/>
              <a:t>The Drawbacks of Extrinsic Motivation: Understanding Limits</a:t>
            </a:r>
            <a:endParaRPr lang="en-US" sz="1800">
              <a:solidFill>
                <a:srgbClr val="FFFFFF">
                  <a:alpha val="70000"/>
                </a:srgbClr>
              </a:solidFill>
            </a:endParaRPr>
          </a:p>
          <a:p>
            <a:pPr marL="359410" lvl="0" indent="-359410">
              <a:lnSpc>
                <a:spcPct val="114999"/>
              </a:lnSpc>
              <a:buClr>
                <a:srgbClr val="DB94BE"/>
              </a:buClr>
            </a:pPr>
            <a:r>
              <a:rPr lang="en-US" sz="1800" i="1" dirty="0"/>
              <a:t>Customizing</a:t>
            </a:r>
            <a:r>
              <a:rPr lang="en-US" sz="1800" dirty="0"/>
              <a:t> Learning: Tuning into Individual Interests</a:t>
            </a:r>
            <a:endParaRPr lang="en-US" sz="1800" dirty="0">
              <a:solidFill>
                <a:srgbClr val="FFFFFF">
                  <a:alpha val="70000"/>
                </a:srgbClr>
              </a:solidFill>
            </a:endParaRPr>
          </a:p>
        </p:txBody>
      </p:sp>
    </p:spTree>
    <p:extLst>
      <p:ext uri="{BB962C8B-B14F-4D97-AF65-F5344CB8AC3E}">
        <p14:creationId xmlns:p14="http://schemas.microsoft.com/office/powerpoint/2010/main" val="804640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EEA7A5A-57BB-B014-9010-752F2460FF9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A411FC44-417F-6CA7-040E-10E071E4E295}"/>
              </a:ext>
            </a:extLst>
          </p:cNvPr>
          <p:cNvSpPr>
            <a:spLocks noGrp="1"/>
          </p:cNvSpPr>
          <p:nvPr>
            <p:ph type="ctrTitle"/>
          </p:nvPr>
        </p:nvSpPr>
        <p:spPr>
          <a:xfrm>
            <a:off x="4984750" y="1011237"/>
            <a:ext cx="6120000" cy="860400"/>
          </a:xfrm>
        </p:spPr>
        <p:txBody>
          <a:bodyPr anchor="b">
            <a:normAutofit/>
          </a:bodyPr>
          <a:lstStyle/>
          <a:p>
            <a:pPr algn="ctr"/>
            <a:r>
              <a:rPr lang="en-US" dirty="0"/>
              <a:t>Practical Application</a:t>
            </a:r>
          </a:p>
        </p:txBody>
      </p:sp>
      <p:pic>
        <p:nvPicPr>
          <p:cNvPr id="6" name="Picture 5" descr="Yellow paper aeroplane flying the opposite way as many grey paper aeroplanes">
            <a:extLst>
              <a:ext uri="{FF2B5EF4-FFF2-40B4-BE49-F238E27FC236}">
                <a16:creationId xmlns:a16="http://schemas.microsoft.com/office/drawing/2014/main" id="{8579CB54-7CAD-CF12-A120-4AADE0C5627D}"/>
              </a:ext>
            </a:extLst>
          </p:cNvPr>
          <p:cNvPicPr>
            <a:picLocks noChangeAspect="1"/>
          </p:cNvPicPr>
          <p:nvPr/>
        </p:nvPicPr>
        <p:blipFill rotWithShape="1">
          <a:blip r:embed="rId2"/>
          <a:srcRect l="19995" r="42383"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3663A1C8-A60D-54E1-7D5E-446EADAA3D3B}"/>
              </a:ext>
            </a:extLst>
          </p:cNvPr>
          <p:cNvSpPr>
            <a:spLocks noGrp="1"/>
          </p:cNvSpPr>
          <p:nvPr>
            <p:ph idx="1"/>
          </p:nvPr>
        </p:nvSpPr>
        <p:spPr>
          <a:xfrm>
            <a:off x="4984750" y="2759076"/>
            <a:ext cx="6121400" cy="3009899"/>
          </a:xfrm>
        </p:spPr>
        <p:txBody>
          <a:bodyPr>
            <a:normAutofit lnSpcReduction="10000"/>
          </a:bodyPr>
          <a:lstStyle/>
          <a:p>
            <a:pPr marL="0" indent="0">
              <a:buNone/>
            </a:pPr>
            <a:r>
              <a:rPr lang="en-US" sz="1900" i="1" dirty="0"/>
              <a:t>To implement this, we need to become adept at </a:t>
            </a:r>
            <a:r>
              <a:rPr lang="en-US" sz="1900" i="1" err="1"/>
              <a:t>recognising</a:t>
            </a:r>
            <a:r>
              <a:rPr lang="en-US" sz="1900" i="1" dirty="0"/>
              <a:t> each child's unique interests and motivators. </a:t>
            </a:r>
          </a:p>
          <a:p>
            <a:pPr marL="0" indent="0">
              <a:buNone/>
            </a:pPr>
            <a:r>
              <a:rPr lang="en-US" sz="1900" i="1" dirty="0"/>
              <a:t>This requires keen observation, open communication, and a flexible teaching approach. </a:t>
            </a:r>
            <a:endParaRPr lang="en-US" sz="1900" i="1"/>
          </a:p>
          <a:p>
            <a:pPr marL="0" indent="0">
              <a:buNone/>
            </a:pPr>
            <a:r>
              <a:rPr lang="en-US" sz="1900" i="1" dirty="0"/>
              <a:t>It is about creating a learning environment that kindles curiosity and passion in each student, making their educational journey as unique as they are.</a:t>
            </a:r>
            <a:endParaRPr lang="en-US" sz="1900" i="1">
              <a:solidFill>
                <a:srgbClr val="FFFFFF">
                  <a:alpha val="70000"/>
                </a:srgbClr>
              </a:solidFill>
            </a:endParaRPr>
          </a:p>
        </p:txBody>
      </p:sp>
    </p:spTree>
    <p:extLst>
      <p:ext uri="{BB962C8B-B14F-4D97-AF65-F5344CB8AC3E}">
        <p14:creationId xmlns:p14="http://schemas.microsoft.com/office/powerpoint/2010/main" val="20438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E9A5F5C-059E-7574-8710-4E83E6E2103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17F3492-1025-4BB8-36FC-74BA46E15B00}"/>
              </a:ext>
            </a:extLst>
          </p:cNvPr>
          <p:cNvSpPr>
            <a:spLocks noGrp="1"/>
          </p:cNvSpPr>
          <p:nvPr>
            <p:ph type="ctrTitle"/>
          </p:nvPr>
        </p:nvSpPr>
        <p:spPr>
          <a:xfrm>
            <a:off x="4984750" y="1011237"/>
            <a:ext cx="6120000" cy="860400"/>
          </a:xfrm>
        </p:spPr>
        <p:txBody>
          <a:bodyPr anchor="b">
            <a:normAutofit/>
          </a:bodyPr>
          <a:lstStyle/>
          <a:p>
            <a:pPr algn="ctr"/>
            <a:r>
              <a:rPr lang="en-US" dirty="0">
                <a:latin typeface="Rockwell Nova Light"/>
                <a:cs typeface="Calibri"/>
              </a:rPr>
              <a:t>Navigating the Complexities of Shame</a:t>
            </a:r>
            <a:endParaRPr lang="en-US" dirty="0"/>
          </a:p>
        </p:txBody>
      </p:sp>
      <p:pic>
        <p:nvPicPr>
          <p:cNvPr id="6" name="Picture 5" descr="White arrows going to the red target">
            <a:extLst>
              <a:ext uri="{FF2B5EF4-FFF2-40B4-BE49-F238E27FC236}">
                <a16:creationId xmlns:a16="http://schemas.microsoft.com/office/drawing/2014/main" id="{E8F84204-C0B0-7A25-C84F-BB8245309A41}"/>
              </a:ext>
            </a:extLst>
          </p:cNvPr>
          <p:cNvPicPr>
            <a:picLocks noChangeAspect="1"/>
          </p:cNvPicPr>
          <p:nvPr/>
        </p:nvPicPr>
        <p:blipFill rotWithShape="1">
          <a:blip r:embed="rId3"/>
          <a:srcRect l="48936" r="13442"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FF0CCCDC-A9C2-20D8-91B9-6E8C314A149A}"/>
              </a:ext>
            </a:extLst>
          </p:cNvPr>
          <p:cNvSpPr>
            <a:spLocks noGrp="1"/>
          </p:cNvSpPr>
          <p:nvPr>
            <p:ph idx="1"/>
          </p:nvPr>
        </p:nvSpPr>
        <p:spPr>
          <a:xfrm>
            <a:off x="4984750" y="2759076"/>
            <a:ext cx="6121400" cy="3009899"/>
          </a:xfrm>
        </p:spPr>
        <p:txBody>
          <a:bodyPr>
            <a:normAutofit/>
          </a:bodyPr>
          <a:lstStyle/>
          <a:p>
            <a:pPr marL="0" lvl="0" indent="0">
              <a:lnSpc>
                <a:spcPct val="115000"/>
              </a:lnSpc>
              <a:buNone/>
            </a:pPr>
            <a:r>
              <a:rPr lang="en-US" i="1" dirty="0"/>
              <a:t>Decoding Nathanson's Compass of Shame</a:t>
            </a:r>
            <a:endParaRPr lang="en-US" i="1" dirty="0">
              <a:solidFill>
                <a:srgbClr val="FFFFFF">
                  <a:alpha val="70000"/>
                </a:srgbClr>
              </a:solidFill>
            </a:endParaRPr>
          </a:p>
          <a:p>
            <a:pPr marL="359410" indent="-359410">
              <a:lnSpc>
                <a:spcPct val="115000"/>
              </a:lnSpc>
            </a:pPr>
            <a:r>
              <a:rPr lang="en-US" sz="1800" i="1" dirty="0"/>
              <a:t>Understanding the Four Responses to Shame</a:t>
            </a:r>
            <a:endParaRPr lang="en-US" sz="1800" i="1" dirty="0">
              <a:solidFill>
                <a:srgbClr val="FFFFFF">
                  <a:alpha val="70000"/>
                </a:srgbClr>
              </a:solidFill>
            </a:endParaRPr>
          </a:p>
          <a:p>
            <a:pPr marL="359410" indent="-359410">
              <a:lnSpc>
                <a:spcPct val="114999"/>
              </a:lnSpc>
              <a:buClr>
                <a:srgbClr val="DB94BE"/>
              </a:buClr>
            </a:pPr>
            <a:r>
              <a:rPr lang="en-US" sz="1800" i="1" dirty="0"/>
              <a:t>The Role of Shame in Learning and Relationships</a:t>
            </a:r>
            <a:endParaRPr lang="en-US" sz="1800" dirty="0">
              <a:solidFill>
                <a:srgbClr val="FFFFFF">
                  <a:alpha val="70000"/>
                </a:srgbClr>
              </a:solidFill>
            </a:endParaRPr>
          </a:p>
          <a:p>
            <a:pPr marL="359410" lvl="0" indent="-359410">
              <a:lnSpc>
                <a:spcPct val="114999"/>
              </a:lnSpc>
              <a:buClr>
                <a:srgbClr val="DB94BE"/>
              </a:buClr>
            </a:pPr>
            <a:r>
              <a:rPr lang="en-US" sz="1800" i="1" dirty="0" err="1"/>
              <a:t>Recognising</a:t>
            </a:r>
            <a:r>
              <a:rPr lang="en-US" sz="1800" dirty="0"/>
              <a:t> and Addressing Shame Responses in Students</a:t>
            </a:r>
            <a:endParaRPr lang="en-US" sz="1800" dirty="0">
              <a:solidFill>
                <a:srgbClr val="FFFFFF">
                  <a:alpha val="70000"/>
                </a:srgbClr>
              </a:solidFill>
            </a:endParaRPr>
          </a:p>
        </p:txBody>
      </p:sp>
    </p:spTree>
    <p:extLst>
      <p:ext uri="{BB962C8B-B14F-4D97-AF65-F5344CB8AC3E}">
        <p14:creationId xmlns:p14="http://schemas.microsoft.com/office/powerpoint/2010/main" val="2303050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E9A5F5C-059E-7574-8710-4E83E6E2103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117F3492-1025-4BB8-36FC-74BA46E15B00}"/>
              </a:ext>
            </a:extLst>
          </p:cNvPr>
          <p:cNvSpPr>
            <a:spLocks noGrp="1"/>
          </p:cNvSpPr>
          <p:nvPr>
            <p:ph type="ctrTitle"/>
          </p:nvPr>
        </p:nvSpPr>
        <p:spPr>
          <a:xfrm>
            <a:off x="4984750" y="1011237"/>
            <a:ext cx="6120000" cy="860400"/>
          </a:xfrm>
        </p:spPr>
        <p:txBody>
          <a:bodyPr anchor="b">
            <a:normAutofit/>
          </a:bodyPr>
          <a:lstStyle/>
          <a:p>
            <a:pPr algn="ctr"/>
            <a:r>
              <a:rPr lang="en-US" dirty="0" err="1">
                <a:latin typeface="Rockwell Nova Light"/>
                <a:cs typeface="Calibri"/>
              </a:rPr>
              <a:t>cOmpass</a:t>
            </a:r>
            <a:r>
              <a:rPr lang="en-US" dirty="0">
                <a:latin typeface="Rockwell Nova Light"/>
                <a:cs typeface="Calibri"/>
              </a:rPr>
              <a:t> of Shame scripts</a:t>
            </a:r>
            <a:endParaRPr lang="en-US" dirty="0">
              <a:cs typeface="Calibri"/>
            </a:endParaRPr>
          </a:p>
        </p:txBody>
      </p:sp>
      <p:pic>
        <p:nvPicPr>
          <p:cNvPr id="6" name="Picture 5" descr="White arrows going to the red target">
            <a:extLst>
              <a:ext uri="{FF2B5EF4-FFF2-40B4-BE49-F238E27FC236}">
                <a16:creationId xmlns:a16="http://schemas.microsoft.com/office/drawing/2014/main" id="{E8F84204-C0B0-7A25-C84F-BB8245309A41}"/>
              </a:ext>
            </a:extLst>
          </p:cNvPr>
          <p:cNvPicPr>
            <a:picLocks noChangeAspect="1"/>
          </p:cNvPicPr>
          <p:nvPr/>
        </p:nvPicPr>
        <p:blipFill rotWithShape="1">
          <a:blip r:embed="rId3"/>
          <a:srcRect l="48936" r="13442" b="-3"/>
          <a:stretch/>
        </p:blipFill>
        <p:spPr>
          <a:xfrm>
            <a:off x="6335" y="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Content Placeholder 3">
            <a:extLst>
              <a:ext uri="{FF2B5EF4-FFF2-40B4-BE49-F238E27FC236}">
                <a16:creationId xmlns:a16="http://schemas.microsoft.com/office/drawing/2014/main" id="{B261B323-DF77-6140-A1D8-AD43674336F9}"/>
              </a:ext>
            </a:extLst>
          </p:cNvPr>
          <p:cNvPicPr>
            <a:picLocks noGrp="1" noChangeAspect="1"/>
          </p:cNvPicPr>
          <p:nvPr>
            <p:ph idx="1"/>
          </p:nvPr>
        </p:nvPicPr>
        <p:blipFill>
          <a:blip r:embed="rId4"/>
          <a:stretch>
            <a:fillRect/>
          </a:stretch>
        </p:blipFill>
        <p:spPr>
          <a:xfrm>
            <a:off x="5840719" y="2759075"/>
            <a:ext cx="4409461" cy="3009900"/>
          </a:xfrm>
          <a:prstGeom prst="rect">
            <a:avLst/>
          </a:prstGeom>
        </p:spPr>
      </p:pic>
    </p:spTree>
    <p:extLst>
      <p:ext uri="{BB962C8B-B14F-4D97-AF65-F5344CB8AC3E}">
        <p14:creationId xmlns:p14="http://schemas.microsoft.com/office/powerpoint/2010/main" val="3800367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0EBDBEB-E8F7-2E1F-2884-A8E719A59A2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8E77EC53-D3EF-EE8B-F090-E6B5B1B52D69}"/>
              </a:ext>
            </a:extLst>
          </p:cNvPr>
          <p:cNvSpPr>
            <a:spLocks noGrp="1"/>
          </p:cNvSpPr>
          <p:nvPr>
            <p:ph type="ctrTitle"/>
          </p:nvPr>
        </p:nvSpPr>
        <p:spPr>
          <a:xfrm>
            <a:off x="4984750" y="1011237"/>
            <a:ext cx="6120000" cy="860400"/>
          </a:xfrm>
        </p:spPr>
        <p:txBody>
          <a:bodyPr anchor="b">
            <a:normAutofit/>
          </a:bodyPr>
          <a:lstStyle/>
          <a:p>
            <a:pPr algn="ctr"/>
            <a:r>
              <a:rPr lang="en-US" dirty="0"/>
              <a:t>Real-Life Examples</a:t>
            </a:r>
          </a:p>
        </p:txBody>
      </p:sp>
      <p:pic>
        <p:nvPicPr>
          <p:cNvPr id="6" name="Picture 5">
            <a:extLst>
              <a:ext uri="{FF2B5EF4-FFF2-40B4-BE49-F238E27FC236}">
                <a16:creationId xmlns:a16="http://schemas.microsoft.com/office/drawing/2014/main" id="{73545275-A9B1-1AC9-9564-3E8322A64570}"/>
              </a:ext>
            </a:extLst>
          </p:cNvPr>
          <p:cNvPicPr>
            <a:picLocks noChangeAspect="1"/>
          </p:cNvPicPr>
          <p:nvPr/>
        </p:nvPicPr>
        <p:blipFill rotWithShape="1">
          <a:blip r:embed="rId3"/>
          <a:srcRect l="30273" r="39961" b="6250"/>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DE79AFA0-4F40-BFB1-4D8F-2F0A2817A89D}"/>
              </a:ext>
            </a:extLst>
          </p:cNvPr>
          <p:cNvSpPr>
            <a:spLocks noGrp="1"/>
          </p:cNvSpPr>
          <p:nvPr>
            <p:ph idx="1"/>
          </p:nvPr>
        </p:nvSpPr>
        <p:spPr>
          <a:xfrm>
            <a:off x="4984750" y="2759076"/>
            <a:ext cx="6121400" cy="3009899"/>
          </a:xfrm>
        </p:spPr>
        <p:txBody>
          <a:bodyPr>
            <a:normAutofit/>
          </a:bodyPr>
          <a:lstStyle/>
          <a:p>
            <a:pPr marL="359410" indent="-359410">
              <a:lnSpc>
                <a:spcPct val="115000"/>
              </a:lnSpc>
            </a:pPr>
            <a:r>
              <a:rPr lang="en-US" sz="1700" i="1" dirty="0"/>
              <a:t>Consider Farouk, a student who, overwhelmed by anger and shame, resorted to aggression, illustrating the 'Attack Others' quadrant​​. </a:t>
            </a:r>
            <a:endParaRPr lang="en-US" sz="1700" i="1"/>
          </a:p>
          <a:p>
            <a:pPr marL="359410" lvl="0" indent="-359410">
              <a:lnSpc>
                <a:spcPct val="114999"/>
              </a:lnSpc>
              <a:buClr>
                <a:srgbClr val="DB94BE"/>
              </a:buClr>
            </a:pPr>
            <a:r>
              <a:rPr lang="en-US" sz="1700" i="1" dirty="0"/>
              <a:t>Contrast this with Caslin, who felt misunderstood and labelled, possibly leading to 'Withdrawal' or 'Attack Self' responses​​. </a:t>
            </a:r>
            <a:endParaRPr lang="en-US" sz="1700" i="1" dirty="0">
              <a:solidFill>
                <a:srgbClr val="FFFFFF">
                  <a:alpha val="70000"/>
                </a:srgbClr>
              </a:solidFill>
            </a:endParaRPr>
          </a:p>
        </p:txBody>
      </p:sp>
    </p:spTree>
    <p:extLst>
      <p:ext uri="{BB962C8B-B14F-4D97-AF65-F5344CB8AC3E}">
        <p14:creationId xmlns:p14="http://schemas.microsoft.com/office/powerpoint/2010/main" val="40710614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CBCC81C-38BF-FFAD-6DAC-B0DEE580DB7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BEC37DFD-6019-6620-A1DF-994065015830}"/>
              </a:ext>
            </a:extLst>
          </p:cNvPr>
          <p:cNvSpPr>
            <a:spLocks noGrp="1"/>
          </p:cNvSpPr>
          <p:nvPr>
            <p:ph type="ctrTitle"/>
          </p:nvPr>
        </p:nvSpPr>
        <p:spPr>
          <a:xfrm>
            <a:off x="4984750" y="1011237"/>
            <a:ext cx="6120000" cy="860400"/>
          </a:xfrm>
        </p:spPr>
        <p:txBody>
          <a:bodyPr anchor="b">
            <a:normAutofit/>
          </a:bodyPr>
          <a:lstStyle/>
          <a:p>
            <a:pPr algn="ctr"/>
            <a:r>
              <a:rPr lang="en-US" dirty="0"/>
              <a:t>Impact of Shame in Educational Context</a:t>
            </a:r>
          </a:p>
        </p:txBody>
      </p:sp>
      <p:pic>
        <p:nvPicPr>
          <p:cNvPr id="6" name="Picture 5" descr="Exclamation mark on a yellow background">
            <a:extLst>
              <a:ext uri="{FF2B5EF4-FFF2-40B4-BE49-F238E27FC236}">
                <a16:creationId xmlns:a16="http://schemas.microsoft.com/office/drawing/2014/main" id="{A8AA03A1-96A1-ACD5-68D1-E5A128FE631C}"/>
              </a:ext>
            </a:extLst>
          </p:cNvPr>
          <p:cNvPicPr>
            <a:picLocks noChangeAspect="1"/>
          </p:cNvPicPr>
          <p:nvPr/>
        </p:nvPicPr>
        <p:blipFill rotWithShape="1">
          <a:blip r:embed="rId3"/>
          <a:srcRect l="35368" r="22300" b="4"/>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8884171D-6E1E-DC8E-B192-BCFC6E0D0E81}"/>
              </a:ext>
            </a:extLst>
          </p:cNvPr>
          <p:cNvSpPr>
            <a:spLocks noGrp="1"/>
          </p:cNvSpPr>
          <p:nvPr>
            <p:ph idx="1"/>
          </p:nvPr>
        </p:nvSpPr>
        <p:spPr>
          <a:xfrm>
            <a:off x="4984750" y="2759076"/>
            <a:ext cx="6121400" cy="3009899"/>
          </a:xfrm>
        </p:spPr>
        <p:txBody>
          <a:bodyPr>
            <a:normAutofit/>
          </a:bodyPr>
          <a:lstStyle/>
          <a:p>
            <a:pPr marL="0" indent="0">
              <a:lnSpc>
                <a:spcPct val="115000"/>
              </a:lnSpc>
              <a:buNone/>
            </a:pPr>
            <a:r>
              <a:rPr lang="en-US" sz="1300" b="1" i="1" dirty="0"/>
              <a:t>Shame can significantly impact learning and relationships in school </a:t>
            </a:r>
            <a:endParaRPr lang="en-US" sz="1300" b="1" dirty="0">
              <a:solidFill>
                <a:srgbClr val="FFFFFF">
                  <a:alpha val="70000"/>
                </a:srgbClr>
              </a:solidFill>
            </a:endParaRPr>
          </a:p>
          <a:p>
            <a:pPr marL="359410" lvl="0" indent="-359410">
              <a:lnSpc>
                <a:spcPct val="114999"/>
              </a:lnSpc>
              <a:buClr>
                <a:srgbClr val="DB94BE"/>
              </a:buClr>
            </a:pPr>
            <a:r>
              <a:rPr lang="en-US" sz="1300" dirty="0"/>
              <a:t>Strategies for Educators</a:t>
            </a:r>
            <a:endParaRPr lang="en-US" sz="1300" dirty="0">
              <a:solidFill>
                <a:srgbClr val="FFFFFF">
                  <a:alpha val="70000"/>
                </a:srgbClr>
              </a:solidFill>
            </a:endParaRPr>
          </a:p>
          <a:p>
            <a:pPr marL="359410" lvl="1">
              <a:lnSpc>
                <a:spcPct val="115000"/>
              </a:lnSpc>
            </a:pPr>
            <a:r>
              <a:rPr lang="en-US" sz="1300" dirty="0"/>
              <a:t>It's crucial to create a learning environment that minimizes shame and </a:t>
            </a:r>
            <a:r>
              <a:rPr lang="en-US" sz="1300"/>
              <a:t>promotes emotional safety. This involves:</a:t>
            </a:r>
            <a:endParaRPr lang="en-US" sz="1300" dirty="0"/>
          </a:p>
          <a:p>
            <a:pPr marL="645160" lvl="1" indent="-285750">
              <a:lnSpc>
                <a:spcPct val="114999"/>
              </a:lnSpc>
              <a:buFont typeface="Calibri"/>
              <a:buChar char="-"/>
            </a:pPr>
            <a:r>
              <a:rPr lang="en-US" sz="1300"/>
              <a:t> understanding each student's emotional landscape</a:t>
            </a:r>
          </a:p>
          <a:p>
            <a:pPr marL="645160" lvl="1" indent="-285750">
              <a:lnSpc>
                <a:spcPct val="114999"/>
              </a:lnSpc>
              <a:buClr>
                <a:srgbClr val="DB94BE"/>
              </a:buClr>
              <a:buFont typeface="Calibri"/>
              <a:buChar char="-"/>
            </a:pPr>
            <a:r>
              <a:rPr lang="en-US" sz="1300" dirty="0"/>
              <a:t>offering support </a:t>
            </a:r>
            <a:r>
              <a:rPr lang="en-US" sz="1300"/>
              <a:t>without judgment</a:t>
            </a:r>
          </a:p>
          <a:p>
            <a:pPr marL="645160" lvl="1" indent="-285750">
              <a:lnSpc>
                <a:spcPct val="114999"/>
              </a:lnSpc>
              <a:buClr>
                <a:srgbClr val="DB94BE"/>
              </a:buClr>
              <a:buFont typeface="Calibri"/>
              <a:buChar char="-"/>
            </a:pPr>
            <a:r>
              <a:rPr lang="en-US" sz="1300" dirty="0"/>
              <a:t>fostering a culture where mistakes are seen as learning opportunities rather than sources of shame.</a:t>
            </a:r>
            <a:endParaRPr lang="en-US" sz="1300" dirty="0">
              <a:solidFill>
                <a:srgbClr val="FFFFFF">
                  <a:alpha val="70000"/>
                </a:srgbClr>
              </a:solidFill>
            </a:endParaRPr>
          </a:p>
        </p:txBody>
      </p:sp>
    </p:spTree>
    <p:extLst>
      <p:ext uri="{BB962C8B-B14F-4D97-AF65-F5344CB8AC3E}">
        <p14:creationId xmlns:p14="http://schemas.microsoft.com/office/powerpoint/2010/main" val="2869138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495CBD3-A3CE-63D7-7464-4B3ED400EE3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54BB3B00-1635-6461-AFEB-D1D0B6878F9E}"/>
              </a:ext>
            </a:extLst>
          </p:cNvPr>
          <p:cNvSpPr>
            <a:spLocks noGrp="1"/>
          </p:cNvSpPr>
          <p:nvPr>
            <p:ph type="ctrTitle"/>
          </p:nvPr>
        </p:nvSpPr>
        <p:spPr>
          <a:xfrm>
            <a:off x="4984750" y="1011237"/>
            <a:ext cx="6120000" cy="860400"/>
          </a:xfrm>
        </p:spPr>
        <p:txBody>
          <a:bodyPr anchor="b">
            <a:normAutofit fontScale="90000"/>
          </a:bodyPr>
          <a:lstStyle/>
          <a:p>
            <a:pPr algn="ctr"/>
            <a:r>
              <a:rPr lang="en-US" dirty="0"/>
              <a:t>Fostering Trust and Safety: Key to Effective Support</a:t>
            </a:r>
          </a:p>
          <a:p>
            <a:pPr algn="ctr"/>
            <a:endParaRPr lang="en-US" dirty="0"/>
          </a:p>
        </p:txBody>
      </p:sp>
      <p:pic>
        <p:nvPicPr>
          <p:cNvPr id="6" name="Picture 5" descr="One in a crowd">
            <a:extLst>
              <a:ext uri="{FF2B5EF4-FFF2-40B4-BE49-F238E27FC236}">
                <a16:creationId xmlns:a16="http://schemas.microsoft.com/office/drawing/2014/main" id="{4F3571F6-1470-D060-F540-3C8D8B11919B}"/>
              </a:ext>
            </a:extLst>
          </p:cNvPr>
          <p:cNvPicPr>
            <a:picLocks noChangeAspect="1"/>
          </p:cNvPicPr>
          <p:nvPr/>
        </p:nvPicPr>
        <p:blipFill rotWithShape="1">
          <a:blip r:embed="rId3"/>
          <a:srcRect l="32471" r="25197" b="4"/>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2FFA841D-1937-19CA-88C1-EAE556520739}"/>
              </a:ext>
            </a:extLst>
          </p:cNvPr>
          <p:cNvSpPr>
            <a:spLocks noGrp="1"/>
          </p:cNvSpPr>
          <p:nvPr>
            <p:ph idx="1"/>
          </p:nvPr>
        </p:nvSpPr>
        <p:spPr>
          <a:xfrm>
            <a:off x="4984750" y="2759076"/>
            <a:ext cx="6121400" cy="3009899"/>
          </a:xfrm>
        </p:spPr>
        <p:txBody>
          <a:bodyPr>
            <a:normAutofit/>
          </a:bodyPr>
          <a:lstStyle/>
          <a:p>
            <a:pPr marL="0" indent="0">
              <a:lnSpc>
                <a:spcPct val="115000"/>
              </a:lnSpc>
              <a:buNone/>
            </a:pPr>
            <a:r>
              <a:rPr lang="en-US" b="1" dirty="0"/>
              <a:t>Cultivating Trust and Safety in the Learning Environment</a:t>
            </a:r>
            <a:endParaRPr lang="en-US" dirty="0"/>
          </a:p>
          <a:p>
            <a:pPr marL="171450" indent="-171450">
              <a:lnSpc>
                <a:spcPct val="114999"/>
              </a:lnSpc>
            </a:pPr>
            <a:r>
              <a:rPr lang="en-US" sz="1800" dirty="0"/>
              <a:t>Essential Role of Trust in Emotional Regulation and Learning</a:t>
            </a:r>
            <a:endParaRPr lang="en-US" sz="1800" dirty="0">
              <a:solidFill>
                <a:srgbClr val="FFFFFF">
                  <a:alpha val="70000"/>
                </a:srgbClr>
              </a:solidFill>
            </a:endParaRPr>
          </a:p>
          <a:p>
            <a:pPr marL="171450" lvl="0" indent="-171450">
              <a:lnSpc>
                <a:spcPct val="114999"/>
              </a:lnSpc>
            </a:pPr>
            <a:r>
              <a:rPr lang="en-US" sz="1800" dirty="0"/>
              <a:t>Creating a Safe Space for Handling Affects and Shame</a:t>
            </a:r>
            <a:endParaRPr lang="en-US" sz="1800" dirty="0">
              <a:solidFill>
                <a:srgbClr val="FFFFFF">
                  <a:alpha val="70000"/>
                </a:srgbClr>
              </a:solidFill>
            </a:endParaRPr>
          </a:p>
          <a:p>
            <a:pPr marL="171450" indent="-171450">
              <a:lnSpc>
                <a:spcPct val="114999"/>
              </a:lnSpc>
            </a:pPr>
            <a:r>
              <a:rPr lang="en-US" sz="1800" dirty="0"/>
              <a:t>Enhancing Learning through a Trust-Based Approach</a:t>
            </a:r>
            <a:endParaRPr lang="en-US" sz="1800" dirty="0">
              <a:solidFill>
                <a:srgbClr val="FFFFFF">
                  <a:alpha val="70000"/>
                </a:srgbClr>
              </a:solidFill>
            </a:endParaRPr>
          </a:p>
          <a:p>
            <a:pPr marL="359410" lvl="1">
              <a:lnSpc>
                <a:spcPct val="115000"/>
              </a:lnSpc>
            </a:pPr>
            <a:endParaRPr lang="en-US" sz="1100" dirty="0">
              <a:solidFill>
                <a:srgbClr val="FFFFFF">
                  <a:alpha val="70000"/>
                </a:srgbClr>
              </a:solidFill>
            </a:endParaRPr>
          </a:p>
        </p:txBody>
      </p:sp>
    </p:spTree>
    <p:extLst>
      <p:ext uri="{BB962C8B-B14F-4D97-AF65-F5344CB8AC3E}">
        <p14:creationId xmlns:p14="http://schemas.microsoft.com/office/powerpoint/2010/main" val="4215580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6B191D3-5E59-F64A-3011-8B16149289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20CBF85C-2144-F131-FFE5-081633C45D71}"/>
              </a:ext>
            </a:extLst>
          </p:cNvPr>
          <p:cNvSpPr>
            <a:spLocks noGrp="1"/>
          </p:cNvSpPr>
          <p:nvPr>
            <p:ph type="ctrTitle"/>
          </p:nvPr>
        </p:nvSpPr>
        <p:spPr>
          <a:xfrm>
            <a:off x="4984750" y="1011237"/>
            <a:ext cx="6120000" cy="860400"/>
          </a:xfrm>
        </p:spPr>
        <p:txBody>
          <a:bodyPr anchor="b">
            <a:normAutofit fontScale="90000"/>
          </a:bodyPr>
          <a:lstStyle/>
          <a:p>
            <a:pPr algn="ctr"/>
            <a:r>
              <a:rPr lang="en-US" dirty="0"/>
              <a:t>Embracing Emotional Intelligence in Education</a:t>
            </a:r>
          </a:p>
        </p:txBody>
      </p:sp>
      <p:pic>
        <p:nvPicPr>
          <p:cNvPr id="6" name="Picture 5" descr="Drawings on colourful paper">
            <a:extLst>
              <a:ext uri="{FF2B5EF4-FFF2-40B4-BE49-F238E27FC236}">
                <a16:creationId xmlns:a16="http://schemas.microsoft.com/office/drawing/2014/main" id="{E3D0F4C9-78D2-A7FD-A1F6-F5A88AD23A24}"/>
              </a:ext>
            </a:extLst>
          </p:cNvPr>
          <p:cNvPicPr>
            <a:picLocks noChangeAspect="1"/>
          </p:cNvPicPr>
          <p:nvPr/>
        </p:nvPicPr>
        <p:blipFill rotWithShape="1">
          <a:blip r:embed="rId3"/>
          <a:srcRect l="18197" r="44181"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EA3AEB39-1C79-3392-7329-FFDE2F95924F}"/>
              </a:ext>
            </a:extLst>
          </p:cNvPr>
          <p:cNvSpPr>
            <a:spLocks noGrp="1"/>
          </p:cNvSpPr>
          <p:nvPr>
            <p:ph idx="1"/>
          </p:nvPr>
        </p:nvSpPr>
        <p:spPr>
          <a:xfrm>
            <a:off x="4984750" y="2759076"/>
            <a:ext cx="6121400" cy="3009899"/>
          </a:xfrm>
        </p:spPr>
        <p:txBody>
          <a:bodyPr>
            <a:normAutofit/>
          </a:bodyPr>
          <a:lstStyle/>
          <a:p>
            <a:pPr marL="0" lvl="0" indent="0">
              <a:lnSpc>
                <a:spcPct val="115000"/>
              </a:lnSpc>
              <a:buNone/>
            </a:pPr>
            <a:r>
              <a:rPr lang="en-US" b="1" i="1" dirty="0"/>
              <a:t>Integrating</a:t>
            </a:r>
            <a:r>
              <a:rPr lang="en-US" b="1" dirty="0"/>
              <a:t> Emotional Understanding for Holistic Education</a:t>
            </a:r>
            <a:endParaRPr lang="en-US" b="1" dirty="0">
              <a:solidFill>
                <a:srgbClr val="FFFFFF">
                  <a:alpha val="70000"/>
                </a:srgbClr>
              </a:solidFill>
            </a:endParaRPr>
          </a:p>
          <a:p>
            <a:pPr marL="359410" indent="-359410">
              <a:lnSpc>
                <a:spcPct val="115000"/>
              </a:lnSpc>
            </a:pPr>
            <a:r>
              <a:rPr lang="en-US" i="1" dirty="0"/>
              <a:t>Key</a:t>
            </a:r>
            <a:r>
              <a:rPr lang="en-US" dirty="0"/>
              <a:t> Insights from Today's Session</a:t>
            </a:r>
            <a:endParaRPr lang="en-US" i="1" dirty="0">
              <a:solidFill>
                <a:srgbClr val="FFFFFF">
                  <a:alpha val="70000"/>
                </a:srgbClr>
              </a:solidFill>
            </a:endParaRPr>
          </a:p>
          <a:p>
            <a:pPr marL="359410" indent="-359410">
              <a:lnSpc>
                <a:spcPct val="114999"/>
              </a:lnSpc>
              <a:buClr>
                <a:srgbClr val="DB94BE"/>
              </a:buClr>
            </a:pPr>
            <a:r>
              <a:rPr lang="en-US" i="1" dirty="0"/>
              <a:t>The Role of Emotional Intelligence in Student Developme</a:t>
            </a:r>
            <a:endParaRPr lang="en-US" i="1" dirty="0">
              <a:solidFill>
                <a:srgbClr val="FFFFFF">
                  <a:alpha val="70000"/>
                </a:srgbClr>
              </a:solidFill>
            </a:endParaRPr>
          </a:p>
          <a:p>
            <a:pPr marL="359410" lvl="0" indent="-359410">
              <a:lnSpc>
                <a:spcPct val="114999"/>
              </a:lnSpc>
              <a:buClr>
                <a:srgbClr val="DB94BE"/>
              </a:buClr>
            </a:pPr>
            <a:r>
              <a:rPr lang="en-US" i="1" dirty="0"/>
              <a:t>Our Commitment as Educators</a:t>
            </a:r>
            <a:endParaRPr lang="en-US" i="1" dirty="0">
              <a:solidFill>
                <a:srgbClr val="FFFFFF">
                  <a:alpha val="70000"/>
                </a:srgbClr>
              </a:solidFill>
            </a:endParaRPr>
          </a:p>
          <a:p>
            <a:pPr marL="0" lvl="0" indent="0">
              <a:lnSpc>
                <a:spcPct val="115000"/>
              </a:lnSpc>
              <a:buNone/>
            </a:pPr>
            <a:endParaRPr lang="en-US" sz="1000" dirty="0">
              <a:solidFill>
                <a:srgbClr val="FFFFFF">
                  <a:alpha val="70000"/>
                </a:srgbClr>
              </a:solidFill>
            </a:endParaRPr>
          </a:p>
        </p:txBody>
      </p:sp>
    </p:spTree>
    <p:extLst>
      <p:ext uri="{BB962C8B-B14F-4D97-AF65-F5344CB8AC3E}">
        <p14:creationId xmlns:p14="http://schemas.microsoft.com/office/powerpoint/2010/main" val="1214634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6CE7AC2-A15C-65AA-ACF6-E138383A9D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302C2BF8-76AA-E44D-A5F5-738277EDACB1}"/>
              </a:ext>
            </a:extLst>
          </p:cNvPr>
          <p:cNvSpPr>
            <a:spLocks noGrp="1"/>
          </p:cNvSpPr>
          <p:nvPr>
            <p:ph type="ctrTitle"/>
          </p:nvPr>
        </p:nvSpPr>
        <p:spPr>
          <a:xfrm>
            <a:off x="4984750" y="1011237"/>
            <a:ext cx="6120000" cy="860400"/>
          </a:xfrm>
        </p:spPr>
        <p:txBody>
          <a:bodyPr anchor="b">
            <a:normAutofit/>
          </a:bodyPr>
          <a:lstStyle/>
          <a:p>
            <a:pPr algn="ctr"/>
            <a:r>
              <a:rPr lang="en-US"/>
              <a:t>Closing Thought</a:t>
            </a:r>
          </a:p>
        </p:txBody>
      </p:sp>
      <p:pic>
        <p:nvPicPr>
          <p:cNvPr id="6" name="Picture 5">
            <a:extLst>
              <a:ext uri="{FF2B5EF4-FFF2-40B4-BE49-F238E27FC236}">
                <a16:creationId xmlns:a16="http://schemas.microsoft.com/office/drawing/2014/main" id="{5110A595-4D56-A1FC-3102-AB08E771FAD7}"/>
              </a:ext>
            </a:extLst>
          </p:cNvPr>
          <p:cNvPicPr>
            <a:picLocks noChangeAspect="1"/>
          </p:cNvPicPr>
          <p:nvPr/>
        </p:nvPicPr>
        <p:blipFill rotWithShape="1">
          <a:blip r:embed="rId2"/>
          <a:srcRect l="32422" r="30016" b="9"/>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48ABF906-4D40-32F6-2F1B-63E821267E81}"/>
              </a:ext>
            </a:extLst>
          </p:cNvPr>
          <p:cNvSpPr>
            <a:spLocks noGrp="1"/>
          </p:cNvSpPr>
          <p:nvPr>
            <p:ph idx="1"/>
          </p:nvPr>
        </p:nvSpPr>
        <p:spPr>
          <a:xfrm>
            <a:off x="4984750" y="2759076"/>
            <a:ext cx="6121400" cy="3009899"/>
          </a:xfrm>
        </p:spPr>
        <p:txBody>
          <a:bodyPr>
            <a:normAutofit/>
          </a:bodyPr>
          <a:lstStyle/>
          <a:p>
            <a:pPr marL="359410" lvl="1"/>
            <a:r>
              <a:rPr lang="en-US" dirty="0"/>
              <a:t>Let's carry forward the insights from today, integrating them into our teaching practices. Our goal is to cultivate a learning space where every student feels understood, valued, and supported, paving the way for their all-around success.</a:t>
            </a:r>
          </a:p>
        </p:txBody>
      </p:sp>
    </p:spTree>
    <p:extLst>
      <p:ext uri="{BB962C8B-B14F-4D97-AF65-F5344CB8AC3E}">
        <p14:creationId xmlns:p14="http://schemas.microsoft.com/office/powerpoint/2010/main" val="17401630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6CE7AC2-A15C-65AA-ACF6-E138383A9DC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302C2BF8-76AA-E44D-A5F5-738277EDACB1}"/>
              </a:ext>
            </a:extLst>
          </p:cNvPr>
          <p:cNvSpPr>
            <a:spLocks noGrp="1"/>
          </p:cNvSpPr>
          <p:nvPr>
            <p:ph type="ctrTitle"/>
          </p:nvPr>
        </p:nvSpPr>
        <p:spPr>
          <a:xfrm>
            <a:off x="4984750" y="1011237"/>
            <a:ext cx="6120000" cy="860400"/>
          </a:xfrm>
        </p:spPr>
        <p:txBody>
          <a:bodyPr anchor="b">
            <a:normAutofit/>
          </a:bodyPr>
          <a:lstStyle/>
          <a:p>
            <a:pPr algn="ctr"/>
            <a:r>
              <a:rPr lang="en-US" dirty="0"/>
              <a:t>REFERENCES</a:t>
            </a:r>
          </a:p>
        </p:txBody>
      </p:sp>
      <p:pic>
        <p:nvPicPr>
          <p:cNvPr id="6" name="Picture 5">
            <a:extLst>
              <a:ext uri="{FF2B5EF4-FFF2-40B4-BE49-F238E27FC236}">
                <a16:creationId xmlns:a16="http://schemas.microsoft.com/office/drawing/2014/main" id="{5110A595-4D56-A1FC-3102-AB08E771FAD7}"/>
              </a:ext>
            </a:extLst>
          </p:cNvPr>
          <p:cNvPicPr>
            <a:picLocks noChangeAspect="1"/>
          </p:cNvPicPr>
          <p:nvPr/>
        </p:nvPicPr>
        <p:blipFill rotWithShape="1">
          <a:blip r:embed="rId3"/>
          <a:srcRect l="32422" r="30016" b="9"/>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48ABF906-4D40-32F6-2F1B-63E821267E81}"/>
              </a:ext>
            </a:extLst>
          </p:cNvPr>
          <p:cNvSpPr>
            <a:spLocks noGrp="1"/>
          </p:cNvSpPr>
          <p:nvPr>
            <p:ph idx="1"/>
          </p:nvPr>
        </p:nvSpPr>
        <p:spPr>
          <a:xfrm>
            <a:off x="4984750" y="2759076"/>
            <a:ext cx="6121400" cy="3009899"/>
          </a:xfrm>
        </p:spPr>
        <p:txBody>
          <a:bodyPr>
            <a:normAutofit fontScale="70000" lnSpcReduction="20000"/>
          </a:bodyPr>
          <a:lstStyle/>
          <a:p>
            <a:pPr>
              <a:buFont typeface="Wingdings" panose="05000000000000000000" pitchFamily="2" charset="2"/>
              <a:buChar char="§"/>
              <a:defRPr/>
            </a:pPr>
            <a:r>
              <a:rPr lang="en-GB" sz="2000" dirty="0">
                <a:latin typeface="Arial" panose="020B0604020202020204" pitchFamily="34" charset="0"/>
                <a:ea typeface="Times New Roman" panose="02020603050405020304" pitchFamily="18" charset="0"/>
                <a:cs typeface="Arial" panose="020B0604020202020204" pitchFamily="34" charset="0"/>
              </a:rPr>
              <a:t>George, G. (2014). Affect and Emotion in a Restorative School. In V. Kelly &amp; M. Thorsborne (Eds.), </a:t>
            </a:r>
            <a:r>
              <a:rPr lang="en-GB" sz="2000" i="1" dirty="0">
                <a:latin typeface="Arial" panose="020B0604020202020204" pitchFamily="34" charset="0"/>
                <a:ea typeface="Times New Roman" panose="02020603050405020304" pitchFamily="18" charset="0"/>
                <a:cs typeface="Arial" panose="020B0604020202020204" pitchFamily="34" charset="0"/>
              </a:rPr>
              <a:t>The Psychology of Emotions in Restorative Practice</a:t>
            </a:r>
            <a:r>
              <a:rPr lang="en-GB" sz="2000" dirty="0">
                <a:latin typeface="Arial" panose="020B0604020202020204" pitchFamily="34" charset="0"/>
                <a:ea typeface="Times New Roman" panose="02020603050405020304" pitchFamily="18" charset="0"/>
                <a:cs typeface="Arial" panose="020B0604020202020204" pitchFamily="34" charset="0"/>
              </a:rPr>
              <a:t> (First, pp. 200–231). Jessica Kingsley.</a:t>
            </a:r>
          </a:p>
          <a:p>
            <a:pPr>
              <a:buFont typeface="Wingdings" panose="05000000000000000000" pitchFamily="2" charset="2"/>
              <a:buChar char="§"/>
              <a:defRPr/>
            </a:pPr>
            <a:r>
              <a:rPr lang="en-GB" sz="2000" dirty="0">
                <a:latin typeface="Arial" panose="020B0604020202020204" pitchFamily="34" charset="0"/>
                <a:ea typeface="Times New Roman" panose="02020603050405020304" pitchFamily="18" charset="0"/>
                <a:cs typeface="Arial" panose="020B0604020202020204" pitchFamily="34" charset="0"/>
              </a:rPr>
              <a:t>Dweck, CS, 2012, Mindset, Constable &amp; Robinson, London, 2012 </a:t>
            </a:r>
          </a:p>
          <a:p>
            <a:pPr>
              <a:buFont typeface="Wingdings" panose="05000000000000000000" pitchFamily="2" charset="2"/>
              <a:buChar char="§"/>
              <a:defRPr/>
            </a:pPr>
            <a:r>
              <a:rPr lang="en-GB" sz="2000" dirty="0">
                <a:latin typeface="Arial" panose="020B0604020202020204" pitchFamily="34" charset="0"/>
                <a:ea typeface="Times New Roman" panose="02020603050405020304" pitchFamily="18" charset="0"/>
                <a:cs typeface="Arial" panose="020B0604020202020204" pitchFamily="34" charset="0"/>
              </a:rPr>
              <a:t>Kelly, V. C. (2014). Caring, Restorative Practice and the Biology of Emotion. In V. Kelly &amp; M. Thorsborne (Eds.), </a:t>
            </a:r>
            <a:r>
              <a:rPr lang="en-GB" sz="2000" i="1" dirty="0">
                <a:latin typeface="Arial" panose="020B0604020202020204" pitchFamily="34" charset="0"/>
                <a:ea typeface="Times New Roman" panose="02020603050405020304" pitchFamily="18" charset="0"/>
                <a:cs typeface="Arial" panose="020B0604020202020204" pitchFamily="34" charset="0"/>
              </a:rPr>
              <a:t>The Psychology of Emotions in Restorative Practice</a:t>
            </a:r>
            <a:r>
              <a:rPr lang="en-GB" sz="2000" dirty="0">
                <a:latin typeface="Arial" panose="020B0604020202020204" pitchFamily="34" charset="0"/>
                <a:ea typeface="Times New Roman" panose="02020603050405020304" pitchFamily="18" charset="0"/>
                <a:cs typeface="Arial" panose="020B0604020202020204" pitchFamily="34" charset="0"/>
              </a:rPr>
              <a:t> (First, pp. 200–231). Jessica Kingsley.</a:t>
            </a:r>
          </a:p>
          <a:p>
            <a:pPr>
              <a:buFont typeface="Wingdings" panose="05000000000000000000" pitchFamily="2" charset="2"/>
              <a:buChar char="§"/>
              <a:defRPr/>
            </a:pPr>
            <a:r>
              <a:rPr lang="en-GB" sz="2000" dirty="0">
                <a:latin typeface="Arial" panose="020B0604020202020204" pitchFamily="34" charset="0"/>
                <a:ea typeface="Times New Roman" panose="02020603050405020304" pitchFamily="18" charset="0"/>
                <a:cs typeface="Arial" panose="020B0604020202020204" pitchFamily="34" charset="0"/>
              </a:rPr>
              <a:t>Nathanson, </a:t>
            </a:r>
            <a:r>
              <a:rPr lang="en-GB" sz="2000" dirty="0" err="1">
                <a:latin typeface="Arial" panose="020B0604020202020204" pitchFamily="34" charset="0"/>
                <a:ea typeface="Times New Roman" panose="02020603050405020304" pitchFamily="18" charset="0"/>
                <a:cs typeface="Arial" panose="020B0604020202020204" pitchFamily="34" charset="0"/>
              </a:rPr>
              <a:t>D.l</a:t>
            </a:r>
            <a:r>
              <a:rPr lang="en-GB" sz="2000" dirty="0">
                <a:latin typeface="Arial" panose="020B0604020202020204" pitchFamily="34" charset="0"/>
                <a:ea typeface="Times New Roman" panose="02020603050405020304" pitchFamily="18" charset="0"/>
                <a:cs typeface="Arial" panose="020B0604020202020204" pitchFamily="34" charset="0"/>
              </a:rPr>
              <a:t>. (1992) </a:t>
            </a:r>
            <a:r>
              <a:rPr lang="en-GB" sz="2000" i="1" dirty="0">
                <a:latin typeface="Arial" panose="020B0604020202020204" pitchFamily="34" charset="0"/>
                <a:ea typeface="Times New Roman" panose="02020603050405020304" pitchFamily="18" charset="0"/>
                <a:cs typeface="Arial" panose="020B0604020202020204" pitchFamily="34" charset="0"/>
              </a:rPr>
              <a:t>Shame and </a:t>
            </a:r>
            <a:r>
              <a:rPr lang="en-GB" sz="2000" i="1" dirty="0" err="1">
                <a:latin typeface="Arial" panose="020B0604020202020204" pitchFamily="34" charset="0"/>
                <a:ea typeface="Times New Roman" panose="02020603050405020304" pitchFamily="18" charset="0"/>
                <a:cs typeface="Arial" panose="020B0604020202020204" pitchFamily="34" charset="0"/>
              </a:rPr>
              <a:t>Pide</a:t>
            </a:r>
            <a:r>
              <a:rPr lang="en-GB" sz="2000" i="1" dirty="0">
                <a:latin typeface="Arial" panose="020B0604020202020204" pitchFamily="34" charset="0"/>
                <a:ea typeface="Times New Roman" panose="02020603050405020304" pitchFamily="18" charset="0"/>
                <a:cs typeface="Arial" panose="020B0604020202020204" pitchFamily="34" charset="0"/>
              </a:rPr>
              <a:t>: Affect, Sex, and the Birth of the self. </a:t>
            </a:r>
            <a:r>
              <a:rPr lang="en-GB" sz="2000" dirty="0">
                <a:latin typeface="Arial" panose="020B0604020202020204" pitchFamily="34" charset="0"/>
                <a:ea typeface="Times New Roman" panose="02020603050405020304" pitchFamily="18" charset="0"/>
                <a:cs typeface="Arial" panose="020B0604020202020204" pitchFamily="34" charset="0"/>
              </a:rPr>
              <a:t>New York, NY: W.W. Norton. </a:t>
            </a:r>
          </a:p>
          <a:p>
            <a:pPr>
              <a:buFont typeface="Wingdings" panose="05000000000000000000" pitchFamily="2" charset="2"/>
              <a:buChar char="§"/>
              <a:defRPr/>
            </a:pPr>
            <a:r>
              <a:rPr lang="en-GB" sz="2000" dirty="0">
                <a:latin typeface="Arial" panose="020B0604020202020204" pitchFamily="34" charset="0"/>
                <a:ea typeface="Times New Roman" panose="02020603050405020304" pitchFamily="18" charset="0"/>
                <a:cs typeface="Arial" panose="020B0604020202020204" pitchFamily="34" charset="0"/>
              </a:rPr>
              <a:t>Tomkins. S. (2008) </a:t>
            </a:r>
            <a:r>
              <a:rPr lang="en-GB" sz="2000" i="1" dirty="0">
                <a:latin typeface="Arial" panose="020B0604020202020204" pitchFamily="34" charset="0"/>
                <a:ea typeface="Times New Roman" panose="02020603050405020304" pitchFamily="18" charset="0"/>
                <a:cs typeface="Arial" panose="020B0604020202020204" pitchFamily="34" charset="0"/>
              </a:rPr>
              <a:t>Affect Imagery Consciousness: the Complete Edition. </a:t>
            </a:r>
            <a:r>
              <a:rPr lang="en-GB" sz="2000" dirty="0">
                <a:latin typeface="Arial" panose="020B0604020202020204" pitchFamily="34" charset="0"/>
                <a:ea typeface="Times New Roman" panose="02020603050405020304" pitchFamily="18" charset="0"/>
                <a:cs typeface="Arial" panose="020B0604020202020204" pitchFamily="34" charset="0"/>
              </a:rPr>
              <a:t>New </a:t>
            </a:r>
            <a:r>
              <a:rPr lang="en-GB" sz="2000" dirty="0" err="1">
                <a:latin typeface="Arial" panose="020B0604020202020204" pitchFamily="34" charset="0"/>
                <a:ea typeface="Times New Roman" panose="02020603050405020304" pitchFamily="18" charset="0"/>
                <a:cs typeface="Arial" panose="020B0604020202020204" pitchFamily="34" charset="0"/>
              </a:rPr>
              <a:t>york</a:t>
            </a:r>
            <a:r>
              <a:rPr lang="en-GB" sz="2000" dirty="0">
                <a:latin typeface="Arial" panose="020B0604020202020204" pitchFamily="34" charset="0"/>
                <a:ea typeface="Times New Roman" panose="02020603050405020304" pitchFamily="18" charset="0"/>
                <a:cs typeface="Arial" panose="020B0604020202020204" pitchFamily="34" charset="0"/>
              </a:rPr>
              <a:t>, NY : Springer.</a:t>
            </a:r>
          </a:p>
        </p:txBody>
      </p:sp>
    </p:spTree>
    <p:extLst>
      <p:ext uri="{BB962C8B-B14F-4D97-AF65-F5344CB8AC3E}">
        <p14:creationId xmlns:p14="http://schemas.microsoft.com/office/powerpoint/2010/main" val="16466504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0410314-7EE3-44DA-141A-6914750E5D8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5D382EF3-F900-0DD8-A85C-5195D6886586}"/>
              </a:ext>
            </a:extLst>
          </p:cNvPr>
          <p:cNvSpPr>
            <a:spLocks noGrp="1"/>
          </p:cNvSpPr>
          <p:nvPr>
            <p:ph type="ctrTitle"/>
          </p:nvPr>
        </p:nvSpPr>
        <p:spPr>
          <a:xfrm>
            <a:off x="4984750" y="1011237"/>
            <a:ext cx="6120000" cy="860400"/>
          </a:xfrm>
        </p:spPr>
        <p:txBody>
          <a:bodyPr anchor="b">
            <a:normAutofit/>
          </a:bodyPr>
          <a:lstStyle/>
          <a:p>
            <a:pPr algn="ctr">
              <a:lnSpc>
                <a:spcPct val="90000"/>
              </a:lnSpc>
            </a:pPr>
            <a:r>
              <a:rPr lang="en-US" sz="2000" dirty="0"/>
              <a:t>Handout: Practical Strategies for Emotional Support in Classrooms</a:t>
            </a:r>
          </a:p>
        </p:txBody>
      </p:sp>
      <p:pic>
        <p:nvPicPr>
          <p:cNvPr id="6" name="Picture 5" descr="Drawings on colourful paper">
            <a:extLst>
              <a:ext uri="{FF2B5EF4-FFF2-40B4-BE49-F238E27FC236}">
                <a16:creationId xmlns:a16="http://schemas.microsoft.com/office/drawing/2014/main" id="{988D71EA-2423-B744-CE01-35282E61ACE6}"/>
              </a:ext>
            </a:extLst>
          </p:cNvPr>
          <p:cNvPicPr>
            <a:picLocks noChangeAspect="1"/>
          </p:cNvPicPr>
          <p:nvPr/>
        </p:nvPicPr>
        <p:blipFill rotWithShape="1">
          <a:blip r:embed="rId2"/>
          <a:srcRect l="18197" r="44181"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768ADA9A-C86C-4182-3925-DE26C787C930}"/>
              </a:ext>
            </a:extLst>
          </p:cNvPr>
          <p:cNvSpPr>
            <a:spLocks noGrp="1"/>
          </p:cNvSpPr>
          <p:nvPr>
            <p:ph idx="1"/>
          </p:nvPr>
        </p:nvSpPr>
        <p:spPr>
          <a:xfrm>
            <a:off x="4984750" y="2759076"/>
            <a:ext cx="6121400" cy="3009899"/>
          </a:xfrm>
        </p:spPr>
        <p:txBody>
          <a:bodyPr>
            <a:normAutofit/>
          </a:bodyPr>
          <a:lstStyle/>
          <a:p>
            <a:pPr lvl="0">
              <a:lnSpc>
                <a:spcPct val="115000"/>
              </a:lnSpc>
            </a:pPr>
            <a:r>
              <a:rPr lang="en-US" sz="1100" dirty="0" err="1"/>
              <a:t>Recognising</a:t>
            </a:r>
            <a:r>
              <a:rPr lang="en-US" sz="1100" dirty="0"/>
              <a:t> and Addressing Affect Scripts</a:t>
            </a:r>
          </a:p>
          <a:p>
            <a:pPr lvl="1">
              <a:lnSpc>
                <a:spcPct val="115000"/>
              </a:lnSpc>
            </a:pPr>
            <a:r>
              <a:rPr lang="en-US" sz="1100" dirty="0"/>
              <a:t>Observe emotional responses and encourage students to articulate their feelings</a:t>
            </a:r>
          </a:p>
          <a:p>
            <a:pPr lvl="1">
              <a:lnSpc>
                <a:spcPct val="115000"/>
              </a:lnSpc>
            </a:pPr>
            <a:r>
              <a:rPr lang="en-US" sz="1100" dirty="0"/>
              <a:t>Use consistent positive reinforcement to influence and reshape negative scripts</a:t>
            </a:r>
          </a:p>
          <a:p>
            <a:pPr lvl="0">
              <a:lnSpc>
                <a:spcPct val="115000"/>
              </a:lnSpc>
            </a:pPr>
            <a:r>
              <a:rPr lang="en-US" sz="1100" dirty="0"/>
              <a:t>Managing Shame Responses</a:t>
            </a:r>
          </a:p>
          <a:p>
            <a:pPr lvl="1">
              <a:lnSpc>
                <a:spcPct val="115000"/>
              </a:lnSpc>
            </a:pPr>
            <a:r>
              <a:rPr lang="en-US" sz="1100" dirty="0"/>
              <a:t>Foster a non-judgmental and supportive environment for sharing emotions</a:t>
            </a:r>
          </a:p>
          <a:p>
            <a:pPr lvl="1">
              <a:lnSpc>
                <a:spcPct val="115000"/>
              </a:lnSpc>
            </a:pPr>
            <a:r>
              <a:rPr lang="en-US" sz="1100" dirty="0"/>
              <a:t>Teach and practice coping skills like mindfulness and perspective-taking</a:t>
            </a:r>
          </a:p>
          <a:p>
            <a:pPr lvl="0">
              <a:lnSpc>
                <a:spcPct val="115000"/>
              </a:lnSpc>
            </a:pPr>
            <a:r>
              <a:rPr lang="en-US" sz="1100" dirty="0"/>
              <a:t>Building Trust and Safety</a:t>
            </a:r>
          </a:p>
          <a:p>
            <a:pPr lvl="1">
              <a:lnSpc>
                <a:spcPct val="115000"/>
              </a:lnSpc>
            </a:pPr>
            <a:r>
              <a:rPr lang="en-US" sz="1100" dirty="0"/>
              <a:t>Implement clear and consistent classroom rules</a:t>
            </a:r>
          </a:p>
          <a:p>
            <a:pPr lvl="1">
              <a:lnSpc>
                <a:spcPct val="115000"/>
              </a:lnSpc>
            </a:pPr>
            <a:r>
              <a:rPr lang="en-US" sz="1100" dirty="0"/>
              <a:t>Actively listen and show genuine interest in students' lives and experiences</a:t>
            </a:r>
          </a:p>
          <a:p>
            <a:pPr lvl="1">
              <a:lnSpc>
                <a:spcPct val="115000"/>
              </a:lnSpc>
            </a:pPr>
            <a:r>
              <a:rPr lang="en-US" sz="1100" dirty="0"/>
              <a:t>Celebrate diversity and encourage inclusivity</a:t>
            </a:r>
          </a:p>
        </p:txBody>
      </p:sp>
    </p:spTree>
    <p:extLst>
      <p:ext uri="{BB962C8B-B14F-4D97-AF65-F5344CB8AC3E}">
        <p14:creationId xmlns:p14="http://schemas.microsoft.com/office/powerpoint/2010/main" val="5747315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AA462EA-D6DD-45D7-CAFD-90CCC984E4D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F176D2AF-DA64-9FB9-87C1-7B560F2E5C5A}"/>
              </a:ext>
            </a:extLst>
          </p:cNvPr>
          <p:cNvSpPr>
            <a:spLocks noGrp="1"/>
          </p:cNvSpPr>
          <p:nvPr>
            <p:ph type="ctrTitle"/>
          </p:nvPr>
        </p:nvSpPr>
        <p:spPr>
          <a:xfrm>
            <a:off x="4984750" y="1011237"/>
            <a:ext cx="6120000" cy="860400"/>
          </a:xfrm>
        </p:spPr>
        <p:txBody>
          <a:bodyPr anchor="b">
            <a:normAutofit/>
          </a:bodyPr>
          <a:lstStyle/>
          <a:p>
            <a:pPr algn="ctr">
              <a:lnSpc>
                <a:spcPct val="90000"/>
              </a:lnSpc>
            </a:pPr>
            <a:r>
              <a:rPr lang="en-US" sz="2000" dirty="0"/>
              <a:t>Handout: Practical Strategies for Emotional Support in Classrooms</a:t>
            </a:r>
          </a:p>
        </p:txBody>
      </p:sp>
      <p:pic>
        <p:nvPicPr>
          <p:cNvPr id="6" name="Picture 5" descr="A calculus formula">
            <a:extLst>
              <a:ext uri="{FF2B5EF4-FFF2-40B4-BE49-F238E27FC236}">
                <a16:creationId xmlns:a16="http://schemas.microsoft.com/office/drawing/2014/main" id="{59C18445-A98F-232F-EB38-9C97B77EE2DA}"/>
              </a:ext>
            </a:extLst>
          </p:cNvPr>
          <p:cNvPicPr>
            <a:picLocks noChangeAspect="1"/>
          </p:cNvPicPr>
          <p:nvPr/>
        </p:nvPicPr>
        <p:blipFill rotWithShape="1">
          <a:blip r:embed="rId2"/>
          <a:srcRect l="33942" r="28406" b="-10"/>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618B8AC7-B458-70FF-AA84-2D4AC1A795D4}"/>
              </a:ext>
            </a:extLst>
          </p:cNvPr>
          <p:cNvSpPr>
            <a:spLocks noGrp="1"/>
          </p:cNvSpPr>
          <p:nvPr>
            <p:ph idx="1"/>
          </p:nvPr>
        </p:nvSpPr>
        <p:spPr>
          <a:xfrm>
            <a:off x="4984750" y="2759076"/>
            <a:ext cx="6121400" cy="3009899"/>
          </a:xfrm>
        </p:spPr>
        <p:txBody>
          <a:bodyPr>
            <a:normAutofit/>
          </a:bodyPr>
          <a:lstStyle/>
          <a:p>
            <a:pPr lvl="0">
              <a:lnSpc>
                <a:spcPct val="115000"/>
              </a:lnSpc>
            </a:pPr>
            <a:r>
              <a:rPr lang="en-US" sz="1100" dirty="0"/>
              <a:t>Example for Affect Scripts</a:t>
            </a:r>
          </a:p>
          <a:p>
            <a:pPr lvl="1">
              <a:lnSpc>
                <a:spcPct val="115000"/>
              </a:lnSpc>
            </a:pPr>
            <a:r>
              <a:rPr lang="en-US" sz="1100" dirty="0"/>
              <a:t>"Student A frequently exhibits frustration in math class. By discussing these feelings openly, the teacher realizes that Student A has developed a negative script associating math with failure. The teacher begins to acknowledge Student A's effort and small successes, gradually helping to shift this script."</a:t>
            </a:r>
          </a:p>
          <a:p>
            <a:pPr lvl="0">
              <a:lnSpc>
                <a:spcPct val="115000"/>
              </a:lnSpc>
            </a:pPr>
            <a:r>
              <a:rPr lang="en-US" sz="1100" dirty="0"/>
              <a:t>Example for Shame Responses</a:t>
            </a:r>
          </a:p>
          <a:p>
            <a:pPr lvl="1">
              <a:lnSpc>
                <a:spcPct val="115000"/>
              </a:lnSpc>
            </a:pPr>
            <a:r>
              <a:rPr lang="en-US" sz="1100" dirty="0"/>
              <a:t>"Student B often reacts defensively to feedback. Recognizing this as a potential 'Attack Others' shame response, the teacher creates opportunities for Student B to express feelings in a safe space and teaches strategies for constructive feedback acceptance."</a:t>
            </a:r>
          </a:p>
          <a:p>
            <a:pPr lvl="0">
              <a:lnSpc>
                <a:spcPct val="115000"/>
              </a:lnSpc>
            </a:pPr>
            <a:r>
              <a:rPr lang="en-US" sz="1100" dirty="0"/>
              <a:t>Regular Check-ins: Schedule time for individual or group discussions about emotions and experiences</a:t>
            </a:r>
          </a:p>
        </p:txBody>
      </p:sp>
    </p:spTree>
    <p:extLst>
      <p:ext uri="{BB962C8B-B14F-4D97-AF65-F5344CB8AC3E}">
        <p14:creationId xmlns:p14="http://schemas.microsoft.com/office/powerpoint/2010/main" val="121344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8C665C6-6D14-DB3C-5C71-E2E5461A5D9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F1BE2772-EAB0-A1F9-AB51-2E66843A1081}"/>
              </a:ext>
            </a:extLst>
          </p:cNvPr>
          <p:cNvSpPr>
            <a:spLocks noGrp="1"/>
          </p:cNvSpPr>
          <p:nvPr>
            <p:ph type="ctrTitle"/>
          </p:nvPr>
        </p:nvSpPr>
        <p:spPr>
          <a:xfrm>
            <a:off x="4984750" y="1011237"/>
            <a:ext cx="6120000" cy="860400"/>
          </a:xfrm>
        </p:spPr>
        <p:txBody>
          <a:bodyPr anchor="b">
            <a:normAutofit/>
          </a:bodyPr>
          <a:lstStyle/>
          <a:p>
            <a:pPr algn="ctr">
              <a:lnSpc>
                <a:spcPct val="90000"/>
              </a:lnSpc>
            </a:pPr>
            <a:r>
              <a:rPr lang="en-US" sz="2000" dirty="0"/>
              <a:t>Handout: Practical Strategies for Emotional Support in Classrooms</a:t>
            </a:r>
          </a:p>
        </p:txBody>
      </p:sp>
      <p:pic>
        <p:nvPicPr>
          <p:cNvPr id="6" name="Picture 5" descr="Arrows pointing towards light">
            <a:extLst>
              <a:ext uri="{FF2B5EF4-FFF2-40B4-BE49-F238E27FC236}">
                <a16:creationId xmlns:a16="http://schemas.microsoft.com/office/drawing/2014/main" id="{0E166DDB-CD9C-E3EA-0C00-926F684B494E}"/>
              </a:ext>
            </a:extLst>
          </p:cNvPr>
          <p:cNvPicPr>
            <a:picLocks noChangeAspect="1"/>
          </p:cNvPicPr>
          <p:nvPr/>
        </p:nvPicPr>
        <p:blipFill rotWithShape="1">
          <a:blip r:embed="rId2"/>
          <a:srcRect l="11536" r="50842" b="-3"/>
          <a:stretch/>
        </p:blipFill>
        <p:spPr>
          <a:xfrm>
            <a:off x="20" y="10"/>
            <a:ext cx="3870969" cy="6857990"/>
          </a:xfrm>
          <a:prstGeom prst="rect">
            <a:avLst/>
          </a:prstGeom>
        </p:spPr>
      </p:pic>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a:extLst>
              <a:ext uri="{FF2B5EF4-FFF2-40B4-BE49-F238E27FC236}">
                <a16:creationId xmlns:a16="http://schemas.microsoft.com/office/drawing/2014/main" id="{226B9212-C831-173F-4C2D-BC7CB68D8D48}"/>
              </a:ext>
            </a:extLst>
          </p:cNvPr>
          <p:cNvSpPr>
            <a:spLocks noGrp="1"/>
          </p:cNvSpPr>
          <p:nvPr>
            <p:ph idx="1"/>
          </p:nvPr>
        </p:nvSpPr>
        <p:spPr>
          <a:xfrm>
            <a:off x="4984750" y="2759076"/>
            <a:ext cx="6121400" cy="3009899"/>
          </a:xfrm>
        </p:spPr>
        <p:txBody>
          <a:bodyPr>
            <a:normAutofit/>
          </a:bodyPr>
          <a:lstStyle/>
          <a:p>
            <a:pPr lvl="0"/>
            <a:r>
              <a:rPr lang="en-US" dirty="0"/>
              <a:t>Responsive Teaching: Adapt teaching methods to accommodate diverse emotional needs</a:t>
            </a:r>
          </a:p>
          <a:p>
            <a:pPr lvl="0"/>
            <a:r>
              <a:rPr lang="en-US" dirty="0"/>
              <a:t>Positive Reinforcement: Focus on effort and improvement, rather than just outcomes</a:t>
            </a:r>
          </a:p>
          <a:p>
            <a:pPr lvl="0"/>
            <a:r>
              <a:rPr lang="en-US" dirty="0"/>
              <a:t>Mindfulness Practices: Incorporate simple mindfulness exercises at the beginning or end of classes</a:t>
            </a:r>
          </a:p>
        </p:txBody>
      </p:sp>
    </p:spTree>
    <p:extLst>
      <p:ext uri="{BB962C8B-B14F-4D97-AF65-F5344CB8AC3E}">
        <p14:creationId xmlns:p14="http://schemas.microsoft.com/office/powerpoint/2010/main" val="2821586162"/>
      </p:ext>
    </p:extLst>
  </p:cSld>
  <p:clrMapOvr>
    <a:masterClrMapping/>
  </p:clrMapOvr>
</p:sld>
</file>

<file path=ppt/theme/theme1.xml><?xml version="1.0" encoding="utf-8"?>
<a:theme xmlns:a="http://schemas.openxmlformats.org/drawingml/2006/main" name="LeafVTI">
  <a:themeElements>
    <a:clrScheme name="AnalogousFromDarkSeedLeftStep">
      <a:dk1>
        <a:srgbClr val="000000"/>
      </a:dk1>
      <a:lt1>
        <a:srgbClr val="FFFFFF"/>
      </a:lt1>
      <a:dk2>
        <a:srgbClr val="1B2130"/>
      </a:dk2>
      <a:lt2>
        <a:srgbClr val="F0F3F1"/>
      </a:lt2>
      <a:accent1>
        <a:srgbClr val="C34D93"/>
      </a:accent1>
      <a:accent2>
        <a:srgbClr val="B03BB1"/>
      </a:accent2>
      <a:accent3>
        <a:srgbClr val="914DC3"/>
      </a:accent3>
      <a:accent4>
        <a:srgbClr val="4F3DB2"/>
      </a:accent4>
      <a:accent5>
        <a:srgbClr val="4D6BC3"/>
      </a:accent5>
      <a:accent6>
        <a:srgbClr val="3B8BB1"/>
      </a:accent6>
      <a:hlink>
        <a:srgbClr val="3F4BBF"/>
      </a:hlink>
      <a:folHlink>
        <a:srgbClr val="7F7F7F"/>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ppt/theme/theme2.xml><?xml version="1.0" encoding="utf-8"?>
<a:theme xmlns:a="http://schemas.openxmlformats.org/drawingml/2006/main" name="Buckinghamshire Council standard templat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ckinghamshire Council standard template.pptx  -  Read-Only" id="{3005F97B-0C93-4D87-9B79-6F8E0BDE5532}" vid="{2E6BFEDE-B181-46B7-96A5-8BA2FC65D32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TotalTime>
  <Words>2126</Words>
  <Application>Microsoft Office PowerPoint</Application>
  <PresentationFormat>Widescreen</PresentationFormat>
  <Paragraphs>167</Paragraphs>
  <Slides>33</Slides>
  <Notes>17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33</vt:i4>
      </vt:variant>
    </vt:vector>
  </HeadingPairs>
  <TitlesOfParts>
    <vt:vector size="41" baseType="lpstr">
      <vt:lpstr>Arial</vt:lpstr>
      <vt:lpstr>Avenir Next LT Pro Light</vt:lpstr>
      <vt:lpstr>Calibri</vt:lpstr>
      <vt:lpstr>Calibri Light</vt:lpstr>
      <vt:lpstr>Rockwell Nova Light</vt:lpstr>
      <vt:lpstr>Wingdings</vt:lpstr>
      <vt:lpstr>LeafVTI</vt:lpstr>
      <vt:lpstr>Buckinghamshire Council standard template</vt:lpstr>
      <vt:lpstr>Understanding Behaviour Through Affect Script and Compass of Shame  Dr Scott I-Patrick Senior Educational Psychologist</vt:lpstr>
      <vt:lpstr>Session Overview &amp; Objective</vt:lpstr>
      <vt:lpstr>Introduction to Key Concepts</vt:lpstr>
      <vt:lpstr>Practical Outcomes</vt:lpstr>
      <vt:lpstr>From Affect to Affect Scripts</vt:lpstr>
      <vt:lpstr>cOmpass of Shame scripts</vt:lpstr>
      <vt:lpstr>PowerPoint Presentation</vt:lpstr>
      <vt:lpstr>Examples of Affects in Action</vt:lpstr>
      <vt:lpstr>The Journey from Affect to Affect Scripts</vt:lpstr>
      <vt:lpstr>Role of Repeated Affects in Script Formation</vt:lpstr>
      <vt:lpstr>Case study 1:Positive Script Formation </vt:lpstr>
      <vt:lpstr>Behavioural Outcome</vt:lpstr>
      <vt:lpstr>Case Study 2 - Negative Script Formation </vt:lpstr>
      <vt:lpstr>Behavioural Outcome</vt:lpstr>
      <vt:lpstr>Reflective Activity</vt:lpstr>
      <vt:lpstr>Strategies: Identifying and Influencing Scripts </vt:lpstr>
      <vt:lpstr>Balancing Affects: The Role of the Central Executive </vt:lpstr>
      <vt:lpstr>Balancing Affects: The Role of the Central Executive </vt:lpstr>
      <vt:lpstr>Educational Implications</vt:lpstr>
      <vt:lpstr>Strategies for Educators</vt:lpstr>
      <vt:lpstr>Harnessing Joy and Interest in Learning</vt:lpstr>
      <vt:lpstr>Practical Application</vt:lpstr>
      <vt:lpstr>Navigating the Complexities of Shame</vt:lpstr>
      <vt:lpstr>cOmpass of Shame scripts</vt:lpstr>
      <vt:lpstr>Real-Life Examples</vt:lpstr>
      <vt:lpstr>Impact of Shame in Educational Context</vt:lpstr>
      <vt:lpstr>Fostering Trust and Safety: Key to Effective Support </vt:lpstr>
      <vt:lpstr>Embracing Emotional Intelligence in Education</vt:lpstr>
      <vt:lpstr>Closing Thought</vt:lpstr>
      <vt:lpstr>REFERENCES</vt:lpstr>
      <vt:lpstr>Handout: Practical Strategies for Emotional Support in Classrooms</vt:lpstr>
      <vt:lpstr>Handout: Practical Strategies for Emotional Support in Classrooms</vt:lpstr>
      <vt:lpstr>Handout: Practical Strategies for Emotional Support in Classrooms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c:creator>
  <cp:lastModifiedBy>Dr Scott Ighavongbe-Patrick</cp:lastModifiedBy>
  <cp:revision>490</cp:revision>
  <dcterms:created xsi:type="dcterms:W3CDTF">2023-12-11T21:39:08Z</dcterms:created>
  <dcterms:modified xsi:type="dcterms:W3CDTF">2023-12-12T14:06:42Z</dcterms:modified>
</cp:coreProperties>
</file>