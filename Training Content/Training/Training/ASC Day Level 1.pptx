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strictFirstAndLastChars="0" saveSubsetFonts="1">
  <p:sldMasterIdLst>
    <p:sldMasterId id="2147483657" r:id="rId5"/>
    <p:sldMasterId id="2147483658" r:id="rId6"/>
    <p:sldMasterId id="2147483659" r:id="rId7"/>
    <p:sldMasterId id="2147483660" r:id="rId8"/>
    <p:sldMasterId id="2147483661" r:id="rId9"/>
    <p:sldMasterId id="2147483662" r:id="rId10"/>
    <p:sldMasterId id="2147483663" r:id="rId11"/>
    <p:sldMasterId id="2147483664" r:id="rId12"/>
    <p:sldMasterId id="2147483665" r:id="rId13"/>
    <p:sldMasterId id="2147483666"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 id="271" r:id="rId31"/>
    <p:sldId id="272" r:id="rId32"/>
    <p:sldId id="273" r:id="rId33"/>
    <p:sldId id="274" r:id="rId34"/>
    <p:sldId id="275" r:id="rId35"/>
    <p:sldId id="276" r:id="rId36"/>
    <p:sldId id="277" r:id="rId37"/>
    <p:sldId id="278" r:id="rId38"/>
    <p:sldId id="279" r:id="rId39"/>
    <p:sldId id="280" r:id="rId40"/>
    <p:sldId id="281" r:id="rId41"/>
    <p:sldId id="282" r:id="rId42"/>
    <p:sldId id="283" r:id="rId43"/>
    <p:sldId id="284" r:id="rId44"/>
    <p:sldId id="285" r:id="rId45"/>
    <p:sldId id="286" r:id="rId46"/>
    <p:sldId id="287" r:id="rId47"/>
    <p:sldId id="288" r:id="rId48"/>
    <p:sldId id="289" r:id="rId49"/>
    <p:sldId id="290" r:id="rId50"/>
    <p:sldId id="291" r:id="rId51"/>
    <p:sldId id="292" r:id="rId52"/>
    <p:sldId id="293" r:id="rId53"/>
    <p:sldId id="294" r:id="rId54"/>
    <p:sldId id="295" r:id="rId55"/>
    <p:sldId id="296" r:id="rId56"/>
    <p:sldId id="297" r:id="rId57"/>
    <p:sldId id="298" r:id="rId58"/>
    <p:sldId id="299" r:id="rId59"/>
    <p:sldId id="300" r:id="rId60"/>
    <p:sldId id="301" r:id="rId61"/>
    <p:sldId id="302" r:id="rId62"/>
    <p:sldId id="303" r:id="rId63"/>
    <p:sldId id="304" r:id="rId64"/>
    <p:sldId id="305" r:id="rId65"/>
    <p:sldId id="306" r:id="rId66"/>
    <p:sldId id="307" r:id="rId67"/>
  </p:sldIdLst>
  <p:sldSz cy="6858000" cx="9144000"/>
  <p:notesSz cx="6669075" cy="98726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2D200454-40CA-4A62-9FC3-DE9A4176ACB9}">
      <p15:notesGuideLst>
        <p15:guide id="1" orient="horz" pos="3110">
          <p15:clr>
            <a:srgbClr val="000000"/>
          </p15:clr>
        </p15:guide>
        <p15:guide id="2" pos="2101">
          <p15:clr>
            <a:srgbClr val="000000"/>
          </p15:clr>
        </p15:guide>
      </p15:notes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tableStyles.xml><?xml version="1.0" encoding="utf-8"?>
<a:tblStyleLst xmlns:a="http://schemas.openxmlformats.org/drawingml/2006/main" xmlns:r="http://schemas.openxmlformats.org/officeDocument/2006/relationships" def="{1897546C-6431-4DE6-97EB-00AD0C81BA92}">
  <a:tblStyle styleId="{1897546C-6431-4DE6-97EB-00AD0C81BA9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3110" orient="horz"/>
        <p:guide pos="2101"/>
      </p:guideLst>
    </p:cSldViewPr>
  </p:notesViewPr>
</p:viewPr>
</file>

<file path=ppt/_rels/presentation.xml.rels><?xml version="1.0" encoding="UTF-8" standalone="yes"?><Relationships xmlns="http://schemas.openxmlformats.org/package/2006/relationships"><Relationship Id="rId40" Type="http://schemas.openxmlformats.org/officeDocument/2006/relationships/slide" Target="slides/slide25.xml"/><Relationship Id="rId42" Type="http://schemas.openxmlformats.org/officeDocument/2006/relationships/slide" Target="slides/slide27.xml"/><Relationship Id="rId41" Type="http://schemas.openxmlformats.org/officeDocument/2006/relationships/slide" Target="slides/slide26.xml"/><Relationship Id="rId44" Type="http://schemas.openxmlformats.org/officeDocument/2006/relationships/slide" Target="slides/slide29.xml"/><Relationship Id="rId43" Type="http://schemas.openxmlformats.org/officeDocument/2006/relationships/slide" Target="slides/slide28.xml"/><Relationship Id="rId46" Type="http://schemas.openxmlformats.org/officeDocument/2006/relationships/slide" Target="slides/slide31.xml"/><Relationship Id="rId45" Type="http://schemas.openxmlformats.org/officeDocument/2006/relationships/slide" Target="slides/slide3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Master" Target="slideMasters/slideMaster5.xml"/><Relationship Id="rId48" Type="http://schemas.openxmlformats.org/officeDocument/2006/relationships/slide" Target="slides/slide33.xml"/><Relationship Id="rId47" Type="http://schemas.openxmlformats.org/officeDocument/2006/relationships/slide" Target="slides/slide32.xml"/><Relationship Id="rId49" Type="http://schemas.openxmlformats.org/officeDocument/2006/relationships/slide" Target="slides/slide34.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31" Type="http://schemas.openxmlformats.org/officeDocument/2006/relationships/slide" Target="slides/slide16.xml"/><Relationship Id="rId30" Type="http://schemas.openxmlformats.org/officeDocument/2006/relationships/slide" Target="slides/slide15.xml"/><Relationship Id="rId33" Type="http://schemas.openxmlformats.org/officeDocument/2006/relationships/slide" Target="slides/slide18.xml"/><Relationship Id="rId32" Type="http://schemas.openxmlformats.org/officeDocument/2006/relationships/slide" Target="slides/slide17.xml"/><Relationship Id="rId35" Type="http://schemas.openxmlformats.org/officeDocument/2006/relationships/slide" Target="slides/slide20.xml"/><Relationship Id="rId34" Type="http://schemas.openxmlformats.org/officeDocument/2006/relationships/slide" Target="slides/slide19.xml"/><Relationship Id="rId37" Type="http://schemas.openxmlformats.org/officeDocument/2006/relationships/slide" Target="slides/slide22.xml"/><Relationship Id="rId36" Type="http://schemas.openxmlformats.org/officeDocument/2006/relationships/slide" Target="slides/slide21.xml"/><Relationship Id="rId39" Type="http://schemas.openxmlformats.org/officeDocument/2006/relationships/slide" Target="slides/slide24.xml"/><Relationship Id="rId38" Type="http://schemas.openxmlformats.org/officeDocument/2006/relationships/slide" Target="slides/slide23.xml"/><Relationship Id="rId62" Type="http://schemas.openxmlformats.org/officeDocument/2006/relationships/slide" Target="slides/slide47.xml"/><Relationship Id="rId61" Type="http://schemas.openxmlformats.org/officeDocument/2006/relationships/slide" Target="slides/slide46.xml"/><Relationship Id="rId20" Type="http://schemas.openxmlformats.org/officeDocument/2006/relationships/slide" Target="slides/slide5.xml"/><Relationship Id="rId64" Type="http://schemas.openxmlformats.org/officeDocument/2006/relationships/slide" Target="slides/slide49.xml"/><Relationship Id="rId63" Type="http://schemas.openxmlformats.org/officeDocument/2006/relationships/slide" Target="slides/slide48.xml"/><Relationship Id="rId22" Type="http://schemas.openxmlformats.org/officeDocument/2006/relationships/slide" Target="slides/slide7.xml"/><Relationship Id="rId66" Type="http://schemas.openxmlformats.org/officeDocument/2006/relationships/slide" Target="slides/slide51.xml"/><Relationship Id="rId21" Type="http://schemas.openxmlformats.org/officeDocument/2006/relationships/slide" Target="slides/slide6.xml"/><Relationship Id="rId65" Type="http://schemas.openxmlformats.org/officeDocument/2006/relationships/slide" Target="slides/slide50.xml"/><Relationship Id="rId24" Type="http://schemas.openxmlformats.org/officeDocument/2006/relationships/slide" Target="slides/slide9.xml"/><Relationship Id="rId23" Type="http://schemas.openxmlformats.org/officeDocument/2006/relationships/slide" Target="slides/slide8.xml"/><Relationship Id="rId67" Type="http://schemas.openxmlformats.org/officeDocument/2006/relationships/slide" Target="slides/slide52.xml"/><Relationship Id="rId60" Type="http://schemas.openxmlformats.org/officeDocument/2006/relationships/slide" Target="slides/slide45.xml"/><Relationship Id="rId26" Type="http://schemas.openxmlformats.org/officeDocument/2006/relationships/slide" Target="slides/slide11.xml"/><Relationship Id="rId25" Type="http://schemas.openxmlformats.org/officeDocument/2006/relationships/slide" Target="slides/slide10.xml"/><Relationship Id="rId28" Type="http://schemas.openxmlformats.org/officeDocument/2006/relationships/slide" Target="slides/slide13.xml"/><Relationship Id="rId27" Type="http://schemas.openxmlformats.org/officeDocument/2006/relationships/slide" Target="slides/slide12.xml"/><Relationship Id="rId29" Type="http://schemas.openxmlformats.org/officeDocument/2006/relationships/slide" Target="slides/slide14.xml"/><Relationship Id="rId51" Type="http://schemas.openxmlformats.org/officeDocument/2006/relationships/slide" Target="slides/slide36.xml"/><Relationship Id="rId50" Type="http://schemas.openxmlformats.org/officeDocument/2006/relationships/slide" Target="slides/slide35.xml"/><Relationship Id="rId53" Type="http://schemas.openxmlformats.org/officeDocument/2006/relationships/slide" Target="slides/slide38.xml"/><Relationship Id="rId52" Type="http://schemas.openxmlformats.org/officeDocument/2006/relationships/slide" Target="slides/slide37.xml"/><Relationship Id="rId11" Type="http://schemas.openxmlformats.org/officeDocument/2006/relationships/slideMaster" Target="slideMasters/slideMaster7.xml"/><Relationship Id="rId55" Type="http://schemas.openxmlformats.org/officeDocument/2006/relationships/slide" Target="slides/slide40.xml"/><Relationship Id="rId10" Type="http://schemas.openxmlformats.org/officeDocument/2006/relationships/slideMaster" Target="slideMasters/slideMaster6.xml"/><Relationship Id="rId54" Type="http://schemas.openxmlformats.org/officeDocument/2006/relationships/slide" Target="slides/slide39.xml"/><Relationship Id="rId13" Type="http://schemas.openxmlformats.org/officeDocument/2006/relationships/slideMaster" Target="slideMasters/slideMaster9.xml"/><Relationship Id="rId57" Type="http://schemas.openxmlformats.org/officeDocument/2006/relationships/slide" Target="slides/slide42.xml"/><Relationship Id="rId12" Type="http://schemas.openxmlformats.org/officeDocument/2006/relationships/slideMaster" Target="slideMasters/slideMaster8.xml"/><Relationship Id="rId56" Type="http://schemas.openxmlformats.org/officeDocument/2006/relationships/slide" Target="slides/slide41.xml"/><Relationship Id="rId15" Type="http://schemas.openxmlformats.org/officeDocument/2006/relationships/notesMaster" Target="notesMasters/notesMaster1.xml"/><Relationship Id="rId59" Type="http://schemas.openxmlformats.org/officeDocument/2006/relationships/slide" Target="slides/slide44.xml"/><Relationship Id="rId14" Type="http://schemas.openxmlformats.org/officeDocument/2006/relationships/slideMaster" Target="slideMasters/slideMaster10.xml"/><Relationship Id="rId58" Type="http://schemas.openxmlformats.org/officeDocument/2006/relationships/slide" Target="slides/slide43.xml"/><Relationship Id="rId17" Type="http://schemas.openxmlformats.org/officeDocument/2006/relationships/slide" Target="slides/slide2.xml"/><Relationship Id="rId16" Type="http://schemas.openxmlformats.org/officeDocument/2006/relationships/slide" Target="slides/slide1.xml"/><Relationship Id="rId19" Type="http://schemas.openxmlformats.org/officeDocument/2006/relationships/slide" Target="slides/slide4.xml"/><Relationship Id="rId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890837" cy="493712"/>
          </a:xfrm>
          <a:prstGeom prst="rect">
            <a:avLst/>
          </a:prstGeom>
          <a:noFill/>
          <a:ln>
            <a:noFill/>
          </a:ln>
        </p:spPr>
        <p:txBody>
          <a:bodyPr anchorCtr="0" anchor="t" bIns="45200" lIns="90425" spcFirstLastPara="1" rIns="90425" wrap="square" tIns="452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778250" y="0"/>
            <a:ext cx="2890837" cy="493712"/>
          </a:xfrm>
          <a:prstGeom prst="rect">
            <a:avLst/>
          </a:prstGeom>
          <a:noFill/>
          <a:ln>
            <a:noFill/>
          </a:ln>
        </p:spPr>
        <p:txBody>
          <a:bodyPr anchorCtr="0" anchor="t" bIns="45200" lIns="90425" spcFirstLastPara="1" rIns="90425" wrap="square" tIns="452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889000" y="4689475"/>
            <a:ext cx="4891087" cy="4443412"/>
          </a:xfrm>
          <a:prstGeom prst="rect">
            <a:avLst/>
          </a:prstGeom>
          <a:noFill/>
          <a:ln>
            <a:noFill/>
          </a:ln>
        </p:spPr>
        <p:txBody>
          <a:bodyPr anchorCtr="0" anchor="t" bIns="45200" lIns="90425" spcFirstLastPara="1" rIns="90425" wrap="square" tIns="452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378950"/>
            <a:ext cx="2890837" cy="493712"/>
          </a:xfrm>
          <a:prstGeom prst="rect">
            <a:avLst/>
          </a:prstGeom>
          <a:noFill/>
          <a:ln>
            <a:noFill/>
          </a:ln>
        </p:spPr>
        <p:txBody>
          <a:bodyPr anchorCtr="0" anchor="b" bIns="45200" lIns="90425" spcFirstLastPara="1" rIns="90425" wrap="square" tIns="45200">
            <a:noAutofit/>
          </a:bodyPr>
          <a:lstStyle>
            <a:lvl1pPr lvl="0"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778250" y="9378950"/>
            <a:ext cx="2890837" cy="493712"/>
          </a:xfrm>
          <a:prstGeom prst="rect">
            <a:avLst/>
          </a:prstGeom>
          <a:noFill/>
          <a:ln>
            <a:noFill/>
          </a:ln>
        </p:spPr>
        <p:txBody>
          <a:bodyPr anchorCtr="0" anchor="b" bIns="45200" lIns="90425" spcFirstLastPara="1" rIns="90425" wrap="square" tIns="452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77" name="Google Shape;77;p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1" name="Shape 81"/>
        <p:cNvGrpSpPr/>
        <p:nvPr/>
      </p:nvGrpSpPr>
      <p:grpSpPr>
        <a:xfrm>
          <a:off x="0" y="0"/>
          <a:ext cx="0" cy="0"/>
          <a:chOff x="0" y="0"/>
          <a:chExt cx="0" cy="0"/>
        </a:xfrm>
      </p:grpSpPr>
      <p:sp>
        <p:nvSpPr>
          <p:cNvPr id="82" name="Google Shape;82;p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83" name="Google Shape;83;p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7" name="Shape 87"/>
        <p:cNvGrpSpPr/>
        <p:nvPr/>
      </p:nvGrpSpPr>
      <p:grpSpPr>
        <a:xfrm>
          <a:off x="0" y="0"/>
          <a:ext cx="0" cy="0"/>
          <a:chOff x="0" y="0"/>
          <a:chExt cx="0" cy="0"/>
        </a:xfrm>
      </p:grpSpPr>
      <p:sp>
        <p:nvSpPr>
          <p:cNvPr id="88" name="Google Shape;88;p3: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89" name="Google Shape;89;p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3" name="Shape 93"/>
        <p:cNvGrpSpPr/>
        <p:nvPr/>
      </p:nvGrpSpPr>
      <p:grpSpPr>
        <a:xfrm>
          <a:off x="0" y="0"/>
          <a:ext cx="0" cy="0"/>
          <a:chOff x="0" y="0"/>
          <a:chExt cx="0" cy="0"/>
        </a:xfrm>
      </p:grpSpPr>
      <p:sp>
        <p:nvSpPr>
          <p:cNvPr id="94" name="Google Shape;94;p4: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95" name="Google Shape;95;p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5: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01" name="Google Shape;101;p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5" name="Shape 105"/>
        <p:cNvGrpSpPr/>
        <p:nvPr/>
      </p:nvGrpSpPr>
      <p:grpSpPr>
        <a:xfrm>
          <a:off x="0" y="0"/>
          <a:ext cx="0" cy="0"/>
          <a:chOff x="0" y="0"/>
          <a:chExt cx="0" cy="0"/>
        </a:xfrm>
      </p:grpSpPr>
      <p:sp>
        <p:nvSpPr>
          <p:cNvPr id="106" name="Google Shape;106;p6: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07" name="Google Shape;107;p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p7: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13" name="Google Shape;113;p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7" name="Shape 117"/>
        <p:cNvGrpSpPr/>
        <p:nvPr/>
      </p:nvGrpSpPr>
      <p:grpSpPr>
        <a:xfrm>
          <a:off x="0" y="0"/>
          <a:ext cx="0" cy="0"/>
          <a:chOff x="0" y="0"/>
          <a:chExt cx="0" cy="0"/>
        </a:xfrm>
      </p:grpSpPr>
      <p:sp>
        <p:nvSpPr>
          <p:cNvPr id="118" name="Google Shape;118;p8: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19" name="Google Shape;119;p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p9: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25" name="Google Shape;125;p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9" name="Shape 129"/>
        <p:cNvGrpSpPr/>
        <p:nvPr/>
      </p:nvGrpSpPr>
      <p:grpSpPr>
        <a:xfrm>
          <a:off x="0" y="0"/>
          <a:ext cx="0" cy="0"/>
          <a:chOff x="0" y="0"/>
          <a:chExt cx="0" cy="0"/>
        </a:xfrm>
      </p:grpSpPr>
      <p:sp>
        <p:nvSpPr>
          <p:cNvPr id="130" name="Google Shape;130;p10: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31" name="Google Shape;131;p1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9" name="Shape 139"/>
        <p:cNvGrpSpPr/>
        <p:nvPr/>
      </p:nvGrpSpPr>
      <p:grpSpPr>
        <a:xfrm>
          <a:off x="0" y="0"/>
          <a:ext cx="0" cy="0"/>
          <a:chOff x="0" y="0"/>
          <a:chExt cx="0" cy="0"/>
        </a:xfrm>
      </p:grpSpPr>
      <p:sp>
        <p:nvSpPr>
          <p:cNvPr id="140" name="Google Shape;140;p1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41" name="Google Shape;141;p1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6" name="Shape 156"/>
        <p:cNvGrpSpPr/>
        <p:nvPr/>
      </p:nvGrpSpPr>
      <p:grpSpPr>
        <a:xfrm>
          <a:off x="0" y="0"/>
          <a:ext cx="0" cy="0"/>
          <a:chOff x="0" y="0"/>
          <a:chExt cx="0" cy="0"/>
        </a:xfrm>
      </p:grpSpPr>
      <p:sp>
        <p:nvSpPr>
          <p:cNvPr id="157" name="Google Shape;157;p13: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58" name="Google Shape;158;p1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2" name="Shape 162"/>
        <p:cNvGrpSpPr/>
        <p:nvPr/>
      </p:nvGrpSpPr>
      <p:grpSpPr>
        <a:xfrm>
          <a:off x="0" y="0"/>
          <a:ext cx="0" cy="0"/>
          <a:chOff x="0" y="0"/>
          <a:chExt cx="0" cy="0"/>
        </a:xfrm>
      </p:grpSpPr>
      <p:sp>
        <p:nvSpPr>
          <p:cNvPr id="163" name="Google Shape;163;p14: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64" name="Google Shape;164;p1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8" name="Shape 168"/>
        <p:cNvGrpSpPr/>
        <p:nvPr/>
      </p:nvGrpSpPr>
      <p:grpSpPr>
        <a:xfrm>
          <a:off x="0" y="0"/>
          <a:ext cx="0" cy="0"/>
          <a:chOff x="0" y="0"/>
          <a:chExt cx="0" cy="0"/>
        </a:xfrm>
      </p:grpSpPr>
      <p:sp>
        <p:nvSpPr>
          <p:cNvPr id="169" name="Google Shape;169;p15: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70" name="Google Shape;170;p1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88" name="Google Shape;188;p1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3" name="Shape 193"/>
        <p:cNvGrpSpPr/>
        <p:nvPr/>
      </p:nvGrpSpPr>
      <p:grpSpPr>
        <a:xfrm>
          <a:off x="0" y="0"/>
          <a:ext cx="0" cy="0"/>
          <a:chOff x="0" y="0"/>
          <a:chExt cx="0" cy="0"/>
        </a:xfrm>
      </p:grpSpPr>
      <p:sp>
        <p:nvSpPr>
          <p:cNvPr id="194" name="Google Shape;194;p19: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195" name="Google Shape;195;p1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99" name="Shape 199"/>
        <p:cNvGrpSpPr/>
        <p:nvPr/>
      </p:nvGrpSpPr>
      <p:grpSpPr>
        <a:xfrm>
          <a:off x="0" y="0"/>
          <a:ext cx="0" cy="0"/>
          <a:chOff x="0" y="0"/>
          <a:chExt cx="0" cy="0"/>
        </a:xfrm>
      </p:grpSpPr>
      <p:sp>
        <p:nvSpPr>
          <p:cNvPr id="200" name="Google Shape;200;p20: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01" name="Google Shape;201;p2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05" name="Shape 205"/>
        <p:cNvGrpSpPr/>
        <p:nvPr/>
      </p:nvGrpSpPr>
      <p:grpSpPr>
        <a:xfrm>
          <a:off x="0" y="0"/>
          <a:ext cx="0" cy="0"/>
          <a:chOff x="0" y="0"/>
          <a:chExt cx="0" cy="0"/>
        </a:xfrm>
      </p:grpSpPr>
      <p:sp>
        <p:nvSpPr>
          <p:cNvPr id="206" name="Google Shape;206;p2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07" name="Google Shape;207;p2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1" name="Shape 211"/>
        <p:cNvGrpSpPr/>
        <p:nvPr/>
      </p:nvGrpSpPr>
      <p:grpSpPr>
        <a:xfrm>
          <a:off x="0" y="0"/>
          <a:ext cx="0" cy="0"/>
          <a:chOff x="0" y="0"/>
          <a:chExt cx="0" cy="0"/>
        </a:xfrm>
      </p:grpSpPr>
      <p:sp>
        <p:nvSpPr>
          <p:cNvPr id="212" name="Google Shape;212;p2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13" name="Google Shape;213;p2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17" name="Shape 217"/>
        <p:cNvGrpSpPr/>
        <p:nvPr/>
      </p:nvGrpSpPr>
      <p:grpSpPr>
        <a:xfrm>
          <a:off x="0" y="0"/>
          <a:ext cx="0" cy="0"/>
          <a:chOff x="0" y="0"/>
          <a:chExt cx="0" cy="0"/>
        </a:xfrm>
      </p:grpSpPr>
      <p:sp>
        <p:nvSpPr>
          <p:cNvPr id="218" name="Google Shape;218;p23: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19" name="Google Shape;219;p2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3" name="Shape 223"/>
        <p:cNvGrpSpPr/>
        <p:nvPr/>
      </p:nvGrpSpPr>
      <p:grpSpPr>
        <a:xfrm>
          <a:off x="0" y="0"/>
          <a:ext cx="0" cy="0"/>
          <a:chOff x="0" y="0"/>
          <a:chExt cx="0" cy="0"/>
        </a:xfrm>
      </p:grpSpPr>
      <p:sp>
        <p:nvSpPr>
          <p:cNvPr id="224" name="Google Shape;224;p24: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25" name="Google Shape;225;p2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31" name="Google Shape;231;p2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37" name="Google Shape;237;p2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1" name="Shape 241"/>
        <p:cNvGrpSpPr/>
        <p:nvPr/>
      </p:nvGrpSpPr>
      <p:grpSpPr>
        <a:xfrm>
          <a:off x="0" y="0"/>
          <a:ext cx="0" cy="0"/>
          <a:chOff x="0" y="0"/>
          <a:chExt cx="0" cy="0"/>
        </a:xfrm>
      </p:grpSpPr>
      <p:sp>
        <p:nvSpPr>
          <p:cNvPr id="242" name="Google Shape;242;p27: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43" name="Google Shape;243;p2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47" name="Shape 247"/>
        <p:cNvGrpSpPr/>
        <p:nvPr/>
      </p:nvGrpSpPr>
      <p:grpSpPr>
        <a:xfrm>
          <a:off x="0" y="0"/>
          <a:ext cx="0" cy="0"/>
          <a:chOff x="0" y="0"/>
          <a:chExt cx="0" cy="0"/>
        </a:xfrm>
      </p:grpSpPr>
      <p:sp>
        <p:nvSpPr>
          <p:cNvPr id="248" name="Google Shape;248;p28: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49" name="Google Shape;249;p2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3" name="Shape 253"/>
        <p:cNvGrpSpPr/>
        <p:nvPr/>
      </p:nvGrpSpPr>
      <p:grpSpPr>
        <a:xfrm>
          <a:off x="0" y="0"/>
          <a:ext cx="0" cy="0"/>
          <a:chOff x="0" y="0"/>
          <a:chExt cx="0" cy="0"/>
        </a:xfrm>
      </p:grpSpPr>
      <p:sp>
        <p:nvSpPr>
          <p:cNvPr id="254" name="Google Shape;254;p29: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55" name="Google Shape;255;p2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59" name="Shape 259"/>
        <p:cNvGrpSpPr/>
        <p:nvPr/>
      </p:nvGrpSpPr>
      <p:grpSpPr>
        <a:xfrm>
          <a:off x="0" y="0"/>
          <a:ext cx="0" cy="0"/>
          <a:chOff x="0" y="0"/>
          <a:chExt cx="0" cy="0"/>
        </a:xfrm>
      </p:grpSpPr>
      <p:sp>
        <p:nvSpPr>
          <p:cNvPr id="260" name="Google Shape;260;p30: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61" name="Google Shape;261;p3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65" name="Shape 265"/>
        <p:cNvGrpSpPr/>
        <p:nvPr/>
      </p:nvGrpSpPr>
      <p:grpSpPr>
        <a:xfrm>
          <a:off x="0" y="0"/>
          <a:ext cx="0" cy="0"/>
          <a:chOff x="0" y="0"/>
          <a:chExt cx="0" cy="0"/>
        </a:xfrm>
      </p:grpSpPr>
      <p:sp>
        <p:nvSpPr>
          <p:cNvPr id="266" name="Google Shape;266;p3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67" name="Google Shape;267;p3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1" name="Shape 271"/>
        <p:cNvGrpSpPr/>
        <p:nvPr/>
      </p:nvGrpSpPr>
      <p:grpSpPr>
        <a:xfrm>
          <a:off x="0" y="0"/>
          <a:ext cx="0" cy="0"/>
          <a:chOff x="0" y="0"/>
          <a:chExt cx="0" cy="0"/>
        </a:xfrm>
      </p:grpSpPr>
      <p:sp>
        <p:nvSpPr>
          <p:cNvPr id="272" name="Google Shape;272;p3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73" name="Google Shape;273;p3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7" name="Shape 277"/>
        <p:cNvGrpSpPr/>
        <p:nvPr/>
      </p:nvGrpSpPr>
      <p:grpSpPr>
        <a:xfrm>
          <a:off x="0" y="0"/>
          <a:ext cx="0" cy="0"/>
          <a:chOff x="0" y="0"/>
          <a:chExt cx="0" cy="0"/>
        </a:xfrm>
      </p:grpSpPr>
      <p:sp>
        <p:nvSpPr>
          <p:cNvPr id="278" name="Google Shape;278;p33: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79" name="Google Shape;279;p3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3" name="Shape 283"/>
        <p:cNvGrpSpPr/>
        <p:nvPr/>
      </p:nvGrpSpPr>
      <p:grpSpPr>
        <a:xfrm>
          <a:off x="0" y="0"/>
          <a:ext cx="0" cy="0"/>
          <a:chOff x="0" y="0"/>
          <a:chExt cx="0" cy="0"/>
        </a:xfrm>
      </p:grpSpPr>
      <p:sp>
        <p:nvSpPr>
          <p:cNvPr id="284" name="Google Shape;284;p34: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85" name="Google Shape;285;p3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9" name="Shape 289"/>
        <p:cNvGrpSpPr/>
        <p:nvPr/>
      </p:nvGrpSpPr>
      <p:grpSpPr>
        <a:xfrm>
          <a:off x="0" y="0"/>
          <a:ext cx="0" cy="0"/>
          <a:chOff x="0" y="0"/>
          <a:chExt cx="0" cy="0"/>
        </a:xfrm>
      </p:grpSpPr>
      <p:sp>
        <p:nvSpPr>
          <p:cNvPr id="290" name="Google Shape;290;p35: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91" name="Google Shape;291;p3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Google Shape;297;p36: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298" name="Google Shape;298;p3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2" name="Shape 302"/>
        <p:cNvGrpSpPr/>
        <p:nvPr/>
      </p:nvGrpSpPr>
      <p:grpSpPr>
        <a:xfrm>
          <a:off x="0" y="0"/>
          <a:ext cx="0" cy="0"/>
          <a:chOff x="0" y="0"/>
          <a:chExt cx="0" cy="0"/>
        </a:xfrm>
      </p:grpSpPr>
      <p:sp>
        <p:nvSpPr>
          <p:cNvPr id="303" name="Google Shape;303;p37: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04" name="Google Shape;304;p3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8" name="Shape 308"/>
        <p:cNvGrpSpPr/>
        <p:nvPr/>
      </p:nvGrpSpPr>
      <p:grpSpPr>
        <a:xfrm>
          <a:off x="0" y="0"/>
          <a:ext cx="0" cy="0"/>
          <a:chOff x="0" y="0"/>
          <a:chExt cx="0" cy="0"/>
        </a:xfrm>
      </p:grpSpPr>
      <p:sp>
        <p:nvSpPr>
          <p:cNvPr id="309" name="Google Shape;309;p38: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10" name="Google Shape;310;p3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4" name="Shape 314"/>
        <p:cNvGrpSpPr/>
        <p:nvPr/>
      </p:nvGrpSpPr>
      <p:grpSpPr>
        <a:xfrm>
          <a:off x="0" y="0"/>
          <a:ext cx="0" cy="0"/>
          <a:chOff x="0" y="0"/>
          <a:chExt cx="0" cy="0"/>
        </a:xfrm>
      </p:grpSpPr>
      <p:sp>
        <p:nvSpPr>
          <p:cNvPr id="315" name="Google Shape;315;p39: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16" name="Google Shape;316;p3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1" name="Shape 321"/>
        <p:cNvGrpSpPr/>
        <p:nvPr/>
      </p:nvGrpSpPr>
      <p:grpSpPr>
        <a:xfrm>
          <a:off x="0" y="0"/>
          <a:ext cx="0" cy="0"/>
          <a:chOff x="0" y="0"/>
          <a:chExt cx="0" cy="0"/>
        </a:xfrm>
      </p:grpSpPr>
      <p:sp>
        <p:nvSpPr>
          <p:cNvPr id="322" name="Google Shape;322;p40: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23" name="Google Shape;323;p4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7" name="Shape 327"/>
        <p:cNvGrpSpPr/>
        <p:nvPr/>
      </p:nvGrpSpPr>
      <p:grpSpPr>
        <a:xfrm>
          <a:off x="0" y="0"/>
          <a:ext cx="0" cy="0"/>
          <a:chOff x="0" y="0"/>
          <a:chExt cx="0" cy="0"/>
        </a:xfrm>
      </p:grpSpPr>
      <p:sp>
        <p:nvSpPr>
          <p:cNvPr id="328" name="Google Shape;328;p4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29" name="Google Shape;329;p4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3" name="Shape 333"/>
        <p:cNvGrpSpPr/>
        <p:nvPr/>
      </p:nvGrpSpPr>
      <p:grpSpPr>
        <a:xfrm>
          <a:off x="0" y="0"/>
          <a:ext cx="0" cy="0"/>
          <a:chOff x="0" y="0"/>
          <a:chExt cx="0" cy="0"/>
        </a:xfrm>
      </p:grpSpPr>
      <p:sp>
        <p:nvSpPr>
          <p:cNvPr id="334" name="Google Shape;334;p4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35" name="Google Shape;335;p4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9" name="Shape 339"/>
        <p:cNvGrpSpPr/>
        <p:nvPr/>
      </p:nvGrpSpPr>
      <p:grpSpPr>
        <a:xfrm>
          <a:off x="0" y="0"/>
          <a:ext cx="0" cy="0"/>
          <a:chOff x="0" y="0"/>
          <a:chExt cx="0" cy="0"/>
        </a:xfrm>
      </p:grpSpPr>
      <p:sp>
        <p:nvSpPr>
          <p:cNvPr id="340" name="Google Shape;340;p43: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41" name="Google Shape;341;p43: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5" name="Shape 345"/>
        <p:cNvGrpSpPr/>
        <p:nvPr/>
      </p:nvGrpSpPr>
      <p:grpSpPr>
        <a:xfrm>
          <a:off x="0" y="0"/>
          <a:ext cx="0" cy="0"/>
          <a:chOff x="0" y="0"/>
          <a:chExt cx="0" cy="0"/>
        </a:xfrm>
      </p:grpSpPr>
      <p:sp>
        <p:nvSpPr>
          <p:cNvPr id="346" name="Google Shape;346;p44: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47" name="Google Shape;347;p44: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1" name="Shape 351"/>
        <p:cNvGrpSpPr/>
        <p:nvPr/>
      </p:nvGrpSpPr>
      <p:grpSpPr>
        <a:xfrm>
          <a:off x="0" y="0"/>
          <a:ext cx="0" cy="0"/>
          <a:chOff x="0" y="0"/>
          <a:chExt cx="0" cy="0"/>
        </a:xfrm>
      </p:grpSpPr>
      <p:sp>
        <p:nvSpPr>
          <p:cNvPr id="352" name="Google Shape;352;p45: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53" name="Google Shape;353;p45: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7" name="Shape 357"/>
        <p:cNvGrpSpPr/>
        <p:nvPr/>
      </p:nvGrpSpPr>
      <p:grpSpPr>
        <a:xfrm>
          <a:off x="0" y="0"/>
          <a:ext cx="0" cy="0"/>
          <a:chOff x="0" y="0"/>
          <a:chExt cx="0" cy="0"/>
        </a:xfrm>
      </p:grpSpPr>
      <p:sp>
        <p:nvSpPr>
          <p:cNvPr id="358" name="Google Shape;358;p46: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59" name="Google Shape;359;p46: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3" name="Shape 363"/>
        <p:cNvGrpSpPr/>
        <p:nvPr/>
      </p:nvGrpSpPr>
      <p:grpSpPr>
        <a:xfrm>
          <a:off x="0" y="0"/>
          <a:ext cx="0" cy="0"/>
          <a:chOff x="0" y="0"/>
          <a:chExt cx="0" cy="0"/>
        </a:xfrm>
      </p:grpSpPr>
      <p:sp>
        <p:nvSpPr>
          <p:cNvPr id="364" name="Google Shape;364;p47: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65" name="Google Shape;365;p47: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9" name="Shape 369"/>
        <p:cNvGrpSpPr/>
        <p:nvPr/>
      </p:nvGrpSpPr>
      <p:grpSpPr>
        <a:xfrm>
          <a:off x="0" y="0"/>
          <a:ext cx="0" cy="0"/>
          <a:chOff x="0" y="0"/>
          <a:chExt cx="0" cy="0"/>
        </a:xfrm>
      </p:grpSpPr>
      <p:sp>
        <p:nvSpPr>
          <p:cNvPr id="370" name="Google Shape;370;p48: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71" name="Google Shape;371;p48: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5" name="Shape 375"/>
        <p:cNvGrpSpPr/>
        <p:nvPr/>
      </p:nvGrpSpPr>
      <p:grpSpPr>
        <a:xfrm>
          <a:off x="0" y="0"/>
          <a:ext cx="0" cy="0"/>
          <a:chOff x="0" y="0"/>
          <a:chExt cx="0" cy="0"/>
        </a:xfrm>
      </p:grpSpPr>
      <p:sp>
        <p:nvSpPr>
          <p:cNvPr id="376" name="Google Shape;376;p49: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77" name="Google Shape;377;p49: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2" name="Shape 382"/>
        <p:cNvGrpSpPr/>
        <p:nvPr/>
      </p:nvGrpSpPr>
      <p:grpSpPr>
        <a:xfrm>
          <a:off x="0" y="0"/>
          <a:ext cx="0" cy="0"/>
          <a:chOff x="0" y="0"/>
          <a:chExt cx="0" cy="0"/>
        </a:xfrm>
      </p:grpSpPr>
      <p:sp>
        <p:nvSpPr>
          <p:cNvPr id="383" name="Google Shape;383;p50: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84" name="Google Shape;384;p50: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3" name="Shape 393"/>
        <p:cNvGrpSpPr/>
        <p:nvPr/>
      </p:nvGrpSpPr>
      <p:grpSpPr>
        <a:xfrm>
          <a:off x="0" y="0"/>
          <a:ext cx="0" cy="0"/>
          <a:chOff x="0" y="0"/>
          <a:chExt cx="0" cy="0"/>
        </a:xfrm>
      </p:grpSpPr>
      <p:sp>
        <p:nvSpPr>
          <p:cNvPr id="394" name="Google Shape;394;p51: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395" name="Google Shape;395;p51: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406" name="Shape 406"/>
        <p:cNvGrpSpPr/>
        <p:nvPr/>
      </p:nvGrpSpPr>
      <p:grpSpPr>
        <a:xfrm>
          <a:off x="0" y="0"/>
          <a:ext cx="0" cy="0"/>
          <a:chOff x="0" y="0"/>
          <a:chExt cx="0" cy="0"/>
        </a:xfrm>
      </p:grpSpPr>
      <p:sp>
        <p:nvSpPr>
          <p:cNvPr id="407" name="Google Shape;407;p52:notes"/>
          <p:cNvSpPr txBox="1"/>
          <p:nvPr>
            <p:ph idx="1" type="body"/>
          </p:nvPr>
        </p:nvSpPr>
        <p:spPr>
          <a:xfrm>
            <a:off x="889000" y="4689475"/>
            <a:ext cx="4891087" cy="4443412"/>
          </a:xfrm>
          <a:prstGeom prst="rect">
            <a:avLst/>
          </a:prstGeom>
        </p:spPr>
        <p:txBody>
          <a:bodyPr anchorCtr="0" anchor="t" bIns="45200" lIns="90425" spcFirstLastPara="1" rIns="90425" wrap="square" tIns="45200">
            <a:noAutofit/>
          </a:bodyPr>
          <a:lstStyle/>
          <a:p>
            <a:pPr indent="0" lvl="0" marL="0" rtl="0" algn="l">
              <a:spcBef>
                <a:spcPts val="0"/>
              </a:spcBef>
              <a:spcAft>
                <a:spcPts val="0"/>
              </a:spcAft>
              <a:buNone/>
            </a:pPr>
            <a:r>
              <a:t/>
            </a:r>
            <a:endParaRPr/>
          </a:p>
        </p:txBody>
      </p:sp>
      <p:sp>
        <p:nvSpPr>
          <p:cNvPr id="408" name="Google Shape;408;p52:notes"/>
          <p:cNvSpPr/>
          <p:nvPr>
            <p:ph idx="2" type="sldImg"/>
          </p:nvPr>
        </p:nvSpPr>
        <p:spPr>
          <a:xfrm>
            <a:off x="866775" y="739775"/>
            <a:ext cx="4935537" cy="3703637"/>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Grey Background)">
  <p:cSld name="Title Slide (Grey Background)">
    <p:spTree>
      <p:nvGrpSpPr>
        <p:cNvPr id="15"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ullets only">
  <p:cSld name="Bullets only">
    <p:spTree>
      <p:nvGrpSpPr>
        <p:cNvPr id="21" name="Shape 21"/>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break (on grey background)">
  <p:cSld name="Section break (on grey background)">
    <p:spTree>
      <p:nvGrpSpPr>
        <p:cNvPr id="27" name="Shape 27"/>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trapline">
  <p:cSld name="Strapline">
    <p:spTree>
      <p:nvGrpSpPr>
        <p:cNvPr id="33" name="Shape 33"/>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Portrait image with text">
  <p:cSld name="Portrait image with text">
    <p:spTree>
      <p:nvGrpSpPr>
        <p:cNvPr id="46" name="Shape 46"/>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End slide (on grey background)">
  <p:cSld name="End slide (on grey background)">
    <p:spTree>
      <p:nvGrpSpPr>
        <p:cNvPr id="54" name="Shape 54"/>
        <p:cNvGrpSpPr/>
        <p:nvPr/>
      </p:nvGrpSpPr>
      <p:grpSpPr>
        <a:xfrm>
          <a:off x="0" y="0"/>
          <a:ext cx="0" cy="0"/>
          <a:chOff x="0" y="0"/>
          <a:chExt cx="0" cy="0"/>
        </a:xfrm>
      </p:grpSpPr>
      <p:sp>
        <p:nvSpPr>
          <p:cNvPr id="55" name="Google Shape;55;p13"/>
          <p:cNvSpPr txBox="1"/>
          <p:nvPr>
            <p:ph idx="1" type="body"/>
          </p:nvPr>
        </p:nvSpPr>
        <p:spPr>
          <a:xfrm>
            <a:off x="1849683" y="2627088"/>
            <a:ext cx="5447880" cy="780685"/>
          </a:xfrm>
          <a:prstGeom prst="rect">
            <a:avLst/>
          </a:prstGeom>
          <a:noFill/>
          <a:ln>
            <a:noFill/>
          </a:ln>
        </p:spPr>
        <p:txBody>
          <a:bodyPr anchorCtr="0" anchor="t" bIns="45700" lIns="91425" spcFirstLastPara="1" rIns="91425" wrap="square" tIns="45700">
            <a:noAutofit/>
          </a:bodyPr>
          <a:lstStyle>
            <a:lvl1pPr indent="-228600" lvl="0" marL="457200" algn="ctr">
              <a:spcBef>
                <a:spcPts val="720"/>
              </a:spcBef>
              <a:spcAft>
                <a:spcPts val="0"/>
              </a:spcAft>
              <a:buClr>
                <a:schemeClr val="lt1"/>
              </a:buClr>
              <a:buSzPts val="3600"/>
              <a:buFont typeface="Calibri"/>
              <a:buNone/>
              <a:defRPr b="1" sz="3600">
                <a:solidFill>
                  <a:schemeClr val="lt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showMasterSp="0" type="title">
  <p:cSld name="TITLE">
    <p:spTree>
      <p:nvGrpSpPr>
        <p:cNvPr id="60" name="Shape 60"/>
        <p:cNvGrpSpPr/>
        <p:nvPr/>
      </p:nvGrpSpPr>
      <p:grpSpPr>
        <a:xfrm>
          <a:off x="0" y="0"/>
          <a:ext cx="0" cy="0"/>
          <a:chOff x="0" y="0"/>
          <a:chExt cx="0" cy="0"/>
        </a:xfrm>
      </p:grpSpPr>
      <p:sp>
        <p:nvSpPr>
          <p:cNvPr id="61" name="Google Shape;61;p15"/>
          <p:cNvSpPr txBox="1"/>
          <p:nvPr>
            <p:ph type="ctrTitle"/>
          </p:nvPr>
        </p:nvSpPr>
        <p:spPr>
          <a:xfrm>
            <a:off x="304800" y="3048000"/>
            <a:ext cx="87630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2" name="Google Shape;62;p15"/>
          <p:cNvSpPr txBox="1"/>
          <p:nvPr>
            <p:ph idx="1" type="subTitle"/>
          </p:nvPr>
        </p:nvSpPr>
        <p:spPr>
          <a:xfrm>
            <a:off x="304800" y="4343400"/>
            <a:ext cx="8763000" cy="762000"/>
          </a:xfrm>
          <a:prstGeom prst="rect">
            <a:avLst/>
          </a:prstGeom>
          <a:noFill/>
          <a:ln>
            <a:noFill/>
          </a:ln>
        </p:spPr>
        <p:txBody>
          <a:bodyPr anchorCtr="0" anchor="t" bIns="45700" lIns="91425" spcFirstLastPara="1" rIns="91425" wrap="square" tIns="45700">
            <a:noAutofit/>
          </a:bodyPr>
          <a:lstStyle>
            <a:lvl1pPr lvl="0" algn="l">
              <a:spcBef>
                <a:spcPts val="400"/>
              </a:spcBef>
              <a:spcAft>
                <a:spcPts val="0"/>
              </a:spcAft>
              <a:buClr>
                <a:schemeClr val="dk1"/>
              </a:buClr>
              <a:buSzPts val="2000"/>
              <a:buFont typeface="Noto Sans Symbols"/>
              <a:buNone/>
              <a:defRPr b="1" sz="2000"/>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spcBef>
                <a:spcPts val="360"/>
              </a:spcBef>
              <a:spcAft>
                <a:spcPts val="0"/>
              </a:spcAft>
              <a:buClr>
                <a:schemeClr val="dk1"/>
              </a:buClr>
              <a:buSzPts val="1800"/>
              <a:buChar char="•"/>
              <a:defRPr/>
            </a:lvl6pPr>
            <a:lvl7pPr lvl="6" algn="l">
              <a:spcBef>
                <a:spcPts val="360"/>
              </a:spcBef>
              <a:spcAft>
                <a:spcPts val="0"/>
              </a:spcAft>
              <a:buClr>
                <a:schemeClr val="dk1"/>
              </a:buClr>
              <a:buSzPts val="1800"/>
              <a:buChar char="•"/>
              <a:defRPr/>
            </a:lvl7pPr>
            <a:lvl8pPr lvl="7" algn="l">
              <a:spcBef>
                <a:spcPts val="360"/>
              </a:spcBef>
              <a:spcAft>
                <a:spcPts val="0"/>
              </a:spcAft>
              <a:buClr>
                <a:schemeClr val="dk1"/>
              </a:buClr>
              <a:buSzPts val="1800"/>
              <a:buChar char="•"/>
              <a:defRPr/>
            </a:lvl8pPr>
            <a:lvl9pPr lvl="8" algn="l">
              <a:spcBef>
                <a:spcPts val="360"/>
              </a:spcBef>
              <a:spcAft>
                <a:spcPts val="0"/>
              </a:spcAft>
              <a:buClr>
                <a:schemeClr val="dk1"/>
              </a:buClr>
              <a:buSzPts val="1800"/>
              <a:buChar char="•"/>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Content" type="obj">
  <p:cSld name="OBJECT">
    <p:spTree>
      <p:nvGrpSpPr>
        <p:cNvPr id="67" name="Shape 67"/>
        <p:cNvGrpSpPr/>
        <p:nvPr/>
      </p:nvGrpSpPr>
      <p:grpSpPr>
        <a:xfrm>
          <a:off x="0" y="0"/>
          <a:ext cx="0" cy="0"/>
          <a:chOff x="0" y="0"/>
          <a:chExt cx="0" cy="0"/>
        </a:xfrm>
      </p:grpSpPr>
      <p:sp>
        <p:nvSpPr>
          <p:cNvPr id="68" name="Google Shape;68;p1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9" name="Google Shape;69;p1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74" name="Shape 7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slideLayout" Target="../slideLayouts/slideLayout1.xml"/><Relationship Id="rId5"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5.png"/><Relationship Id="rId3" Type="http://schemas.openxmlformats.org/officeDocument/2006/relationships/slideLayout" Target="../slideLayouts/slideLayout2.xml"/><Relationship Id="rId4" Type="http://schemas.openxmlformats.org/officeDocument/2006/relationships/theme" Target="../theme/theme7.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2.png"/><Relationship Id="rId3" Type="http://schemas.openxmlformats.org/officeDocument/2006/relationships/slideLayout" Target="../slideLayouts/slideLayout3.xml"/><Relationship Id="rId4" Type="http://schemas.openxmlformats.org/officeDocument/2006/relationships/theme" Target="../theme/theme5.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png"/><Relationship Id="rId3" Type="http://schemas.openxmlformats.org/officeDocument/2006/relationships/slideLayout" Target="../slideLayouts/slideLayout4.xml"/><Relationship Id="rId4" Type="http://schemas.openxmlformats.org/officeDocument/2006/relationships/theme" Target="../theme/theme2.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theme" Target="../theme/theme6.xml"/></Relationships>
</file>

<file path=ppt/slideMasters/_rels/slideMaster6.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7.png"/><Relationship Id="rId3" Type="http://schemas.openxmlformats.org/officeDocument/2006/relationships/slideLayout" Target="../slideLayouts/slideLayout5.xml"/><Relationship Id="rId4" Type="http://schemas.openxmlformats.org/officeDocument/2006/relationships/theme" Target="../theme/theme3.xml"/></Relationships>
</file>

<file path=ppt/slideMasters/_rels/slideMaster7.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image" Target="../media/image12.png"/><Relationship Id="rId3" Type="http://schemas.openxmlformats.org/officeDocument/2006/relationships/image" Target="../media/image3.png"/><Relationship Id="rId4" Type="http://schemas.openxmlformats.org/officeDocument/2006/relationships/slideLayout" Target="../slideLayouts/slideLayout6.xml"/><Relationship Id="rId5" Type="http://schemas.openxmlformats.org/officeDocument/2006/relationships/theme" Target="../theme/theme8.xml"/></Relationships>
</file>

<file path=ppt/slideMasters/_rels/slideMaster8.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7.xml"/><Relationship Id="rId3" Type="http://schemas.openxmlformats.org/officeDocument/2006/relationships/theme" Target="../theme/theme11.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8.xml"/><Relationship Id="rId3" Type="http://schemas.openxmlformats.org/officeDocument/2006/relationships/theme" Target="../theme/theme9.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4.jpg"/><Relationship Id="rId2" Type="http://schemas.openxmlformats.org/officeDocument/2006/relationships/slideLayout" Target="../slideLayouts/slideLayout9.xml"/><Relationship Id="rId3"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id="11" name="Google Shape;11;p1"/>
          <p:cNvPicPr preferRelativeResize="0"/>
          <p:nvPr/>
        </p:nvPicPr>
        <p:blipFill rotWithShape="1">
          <a:blip r:embed="rId2">
            <a:alphaModFix/>
          </a:blip>
          <a:srcRect b="0" l="0" r="0" t="0"/>
          <a:stretch/>
        </p:blipFill>
        <p:spPr>
          <a:xfrm>
            <a:off x="0" y="0"/>
            <a:ext cx="9144000" cy="6858000"/>
          </a:xfrm>
          <a:prstGeom prst="rect">
            <a:avLst/>
          </a:prstGeom>
          <a:noFill/>
          <a:ln>
            <a:noFill/>
          </a:ln>
        </p:spPr>
      </p:pic>
      <p:pic>
        <p:nvPicPr>
          <p:cNvPr descr="AfC_RGB-Colour_ForGreyBackground.png" id="12" name="Google Shape;12;p1"/>
          <p:cNvPicPr preferRelativeResize="0"/>
          <p:nvPr/>
        </p:nvPicPr>
        <p:blipFill rotWithShape="1">
          <a:blip r:embed="rId3">
            <a:alphaModFix/>
          </a:blip>
          <a:srcRect b="0" l="0" r="0" t="0"/>
          <a:stretch/>
        </p:blipFill>
        <p:spPr>
          <a:xfrm>
            <a:off x="487362" y="5662612"/>
            <a:ext cx="2979737" cy="771525"/>
          </a:xfrm>
          <a:prstGeom prst="rect">
            <a:avLst/>
          </a:prstGeom>
          <a:noFill/>
          <a:ln>
            <a:noFill/>
          </a:ln>
        </p:spPr>
      </p:pic>
      <p:sp>
        <p:nvSpPr>
          <p:cNvPr id="13" name="Google Shape;13;p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14" name="Google Shape;14;p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8"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16" name="Shape 16"/>
        <p:cNvGrpSpPr/>
        <p:nvPr/>
      </p:nvGrpSpPr>
      <p:grpSpPr>
        <a:xfrm>
          <a:off x="0" y="0"/>
          <a:ext cx="0" cy="0"/>
          <a:chOff x="0" y="0"/>
          <a:chExt cx="0" cy="0"/>
        </a:xfrm>
      </p:grpSpPr>
      <p:pic>
        <p:nvPicPr>
          <p:cNvPr id="17" name="Google Shape;17;p3"/>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id="18" name="Google Shape;18;p3"/>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19" name="Google Shape;1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0" name="Google Shape;20;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2" name="Shape 22"/>
        <p:cNvGrpSpPr/>
        <p:nvPr/>
      </p:nvGrpSpPr>
      <p:grpSpPr>
        <a:xfrm>
          <a:off x="0" y="0"/>
          <a:ext cx="0" cy="0"/>
          <a:chOff x="0" y="0"/>
          <a:chExt cx="0" cy="0"/>
        </a:xfrm>
      </p:grpSpPr>
      <p:pic>
        <p:nvPicPr>
          <p:cNvPr id="23" name="Google Shape;23;p5"/>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id="24" name="Google Shape;24;p5"/>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25" name="Google Shape;25;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26" name="Google Shape;26;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8" name="Shape 28"/>
        <p:cNvGrpSpPr/>
        <p:nvPr/>
      </p:nvGrpSpPr>
      <p:grpSpPr>
        <a:xfrm>
          <a:off x="0" y="0"/>
          <a:ext cx="0" cy="0"/>
          <a:chOff x="0" y="0"/>
          <a:chExt cx="0" cy="0"/>
        </a:xfrm>
      </p:grpSpPr>
      <p:pic>
        <p:nvPicPr>
          <p:cNvPr id="29" name="Google Shape;29;p7"/>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descr="AfC_PPT_Corporate_13A_backgrounds_2.eps" id="30" name="Google Shape;30;p7"/>
          <p:cNvPicPr preferRelativeResize="0"/>
          <p:nvPr/>
        </p:nvPicPr>
        <p:blipFill rotWithShape="1">
          <a:blip r:embed="rId2">
            <a:alphaModFix/>
          </a:blip>
          <a:srcRect b="0" l="0" r="0" t="0"/>
          <a:stretch/>
        </p:blipFill>
        <p:spPr>
          <a:xfrm>
            <a:off x="0" y="0"/>
            <a:ext cx="9180512" cy="6884987"/>
          </a:xfrm>
          <a:prstGeom prst="rect">
            <a:avLst/>
          </a:prstGeom>
          <a:noFill/>
          <a:ln>
            <a:noFill/>
          </a:ln>
        </p:spPr>
      </p:pic>
      <p:sp>
        <p:nvSpPr>
          <p:cNvPr id="31" name="Google Shape;31;p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2" name="Google Shape;32;p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34" name="Shape 34"/>
        <p:cNvGrpSpPr/>
        <p:nvPr/>
      </p:nvGrpSpPr>
      <p:grpSpPr>
        <a:xfrm>
          <a:off x="0" y="0"/>
          <a:ext cx="0" cy="0"/>
          <a:chOff x="0" y="0"/>
          <a:chExt cx="0" cy="0"/>
        </a:xfrm>
      </p:grpSpPr>
      <p:sp>
        <p:nvSpPr>
          <p:cNvPr id="35" name="Google Shape;35;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36" name="Google Shape;36;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37" name="Google Shape;37;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38" name="Google Shape;38;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24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2400" u="none" cap="none" strike="noStrike">
                <a:solidFill>
                  <a:schemeClr val="dk1"/>
                </a:solidFill>
                <a:latin typeface="Arial"/>
                <a:ea typeface="Arial"/>
                <a:cs typeface="Arial"/>
                <a:sym typeface="Arial"/>
              </a:defRPr>
            </a:lvl9pPr>
          </a:lstStyle>
          <a:p/>
        </p:txBody>
      </p:sp>
      <p:sp>
        <p:nvSpPr>
          <p:cNvPr id="39" name="Google Shape;39;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pic>
        <p:nvPicPr>
          <p:cNvPr id="40" name="Google Shape;40;p9"/>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spTree>
  </p:cSld>
  <p:clrMap accent1="accent1" accent2="accent2" accent3="accent3" accent4="accent4" accent5="accent5" accent6="accent6" bg1="lt1" bg2="dk2" tx1="dk1" tx2="lt2" folHlink="folHlink" hlink="hlink"/>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41" name="Shape 41"/>
        <p:cNvGrpSpPr/>
        <p:nvPr/>
      </p:nvGrpSpPr>
      <p:grpSpPr>
        <a:xfrm>
          <a:off x="0" y="0"/>
          <a:ext cx="0" cy="0"/>
          <a:chOff x="0" y="0"/>
          <a:chExt cx="0" cy="0"/>
        </a:xfrm>
      </p:grpSpPr>
      <p:pic>
        <p:nvPicPr>
          <p:cNvPr id="42" name="Google Shape;42;p10"/>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id="43" name="Google Shape;43;p10"/>
          <p:cNvPicPr preferRelativeResize="0"/>
          <p:nvPr/>
        </p:nvPicPr>
        <p:blipFill rotWithShape="1">
          <a:blip r:embed="rId2">
            <a:alphaModFix/>
          </a:blip>
          <a:srcRect b="0" l="0" r="0" t="0"/>
          <a:stretch/>
        </p:blipFill>
        <p:spPr>
          <a:xfrm>
            <a:off x="0" y="0"/>
            <a:ext cx="9144000" cy="6858000"/>
          </a:xfrm>
          <a:prstGeom prst="rect">
            <a:avLst/>
          </a:prstGeom>
          <a:noFill/>
          <a:ln>
            <a:noFill/>
          </a:ln>
        </p:spPr>
      </p:pic>
      <p:sp>
        <p:nvSpPr>
          <p:cNvPr id="44" name="Google Shape;44;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45" name="Google Shape;45;p1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2"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47" name="Shape 47"/>
        <p:cNvGrpSpPr/>
        <p:nvPr/>
      </p:nvGrpSpPr>
      <p:grpSpPr>
        <a:xfrm>
          <a:off x="0" y="0"/>
          <a:ext cx="0" cy="0"/>
          <a:chOff x="0" y="0"/>
          <a:chExt cx="0" cy="0"/>
        </a:xfrm>
      </p:grpSpPr>
      <p:pic>
        <p:nvPicPr>
          <p:cNvPr id="48" name="Google Shape;48;p12"/>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pic>
        <p:nvPicPr>
          <p:cNvPr id="49" name="Google Shape;49;p12"/>
          <p:cNvPicPr preferRelativeResize="0"/>
          <p:nvPr/>
        </p:nvPicPr>
        <p:blipFill rotWithShape="1">
          <a:blip r:embed="rId2">
            <a:alphaModFix/>
          </a:blip>
          <a:srcRect b="0" l="0" r="0" t="0"/>
          <a:stretch/>
        </p:blipFill>
        <p:spPr>
          <a:xfrm>
            <a:off x="0" y="0"/>
            <a:ext cx="9144000" cy="6858000"/>
          </a:xfrm>
          <a:prstGeom prst="rect">
            <a:avLst/>
          </a:prstGeom>
          <a:noFill/>
          <a:ln>
            <a:noFill/>
          </a:ln>
        </p:spPr>
      </p:pic>
      <p:cxnSp>
        <p:nvCxnSpPr>
          <p:cNvPr id="50" name="Google Shape;50;p12"/>
          <p:cNvCxnSpPr/>
          <p:nvPr/>
        </p:nvCxnSpPr>
        <p:spPr>
          <a:xfrm>
            <a:off x="3395662" y="3460750"/>
            <a:ext cx="2435225" cy="0"/>
          </a:xfrm>
          <a:prstGeom prst="straightConnector1">
            <a:avLst/>
          </a:prstGeom>
          <a:noFill/>
          <a:ln cap="flat" cmpd="sng" w="9525">
            <a:solidFill>
              <a:srgbClr val="F4C239"/>
            </a:solidFill>
            <a:prstDash val="solid"/>
            <a:miter lim="800000"/>
            <a:headEnd len="med" w="med" type="none"/>
            <a:tailEnd len="med" w="med" type="none"/>
          </a:ln>
        </p:spPr>
      </p:cxnSp>
      <p:pic>
        <p:nvPicPr>
          <p:cNvPr descr="AfC_RGB-Colour_ForGreyBackground.png" id="51" name="Google Shape;51;p12"/>
          <p:cNvPicPr preferRelativeResize="0"/>
          <p:nvPr/>
        </p:nvPicPr>
        <p:blipFill rotWithShape="1">
          <a:blip r:embed="rId3">
            <a:alphaModFix/>
          </a:blip>
          <a:srcRect b="0" l="0" r="0" t="0"/>
          <a:stretch/>
        </p:blipFill>
        <p:spPr>
          <a:xfrm>
            <a:off x="487362" y="5662612"/>
            <a:ext cx="2979737" cy="771525"/>
          </a:xfrm>
          <a:prstGeom prst="rect">
            <a:avLst/>
          </a:prstGeom>
          <a:noFill/>
          <a:ln>
            <a:noFill/>
          </a:ln>
        </p:spPr>
      </p:pic>
      <p:sp>
        <p:nvSpPr>
          <p:cNvPr id="52" name="Google Shape;52;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3" name="Google Shape;53;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3" r:id="rId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6" name="Shape 56"/>
        <p:cNvGrpSpPr/>
        <p:nvPr/>
      </p:nvGrpSpPr>
      <p:grpSpPr>
        <a:xfrm>
          <a:off x="0" y="0"/>
          <a:ext cx="0" cy="0"/>
          <a:chOff x="0" y="0"/>
          <a:chExt cx="0" cy="0"/>
        </a:xfrm>
      </p:grpSpPr>
      <p:pic>
        <p:nvPicPr>
          <p:cNvPr id="57" name="Google Shape;57;p14"/>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sp>
        <p:nvSpPr>
          <p:cNvPr id="58" name="Google Shape;58;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59" name="Google Shape;59;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4"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63" name="Shape 63"/>
        <p:cNvGrpSpPr/>
        <p:nvPr/>
      </p:nvGrpSpPr>
      <p:grpSpPr>
        <a:xfrm>
          <a:off x="0" y="0"/>
          <a:ext cx="0" cy="0"/>
          <a:chOff x="0" y="0"/>
          <a:chExt cx="0" cy="0"/>
        </a:xfrm>
      </p:grpSpPr>
      <p:pic>
        <p:nvPicPr>
          <p:cNvPr id="64" name="Google Shape;64;p16"/>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sp>
        <p:nvSpPr>
          <p:cNvPr id="65" name="Google Shape;65;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66" name="Google Shape;66;p1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5"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70" name="Shape 70"/>
        <p:cNvGrpSpPr/>
        <p:nvPr/>
      </p:nvGrpSpPr>
      <p:grpSpPr>
        <a:xfrm>
          <a:off x="0" y="0"/>
          <a:ext cx="0" cy="0"/>
          <a:chOff x="0" y="0"/>
          <a:chExt cx="0" cy="0"/>
        </a:xfrm>
      </p:grpSpPr>
      <p:pic>
        <p:nvPicPr>
          <p:cNvPr id="71" name="Google Shape;71;p18"/>
          <p:cNvPicPr preferRelativeResize="0"/>
          <p:nvPr/>
        </p:nvPicPr>
        <p:blipFill rotWithShape="1">
          <a:blip r:embed="rId1">
            <a:alphaModFix/>
          </a:blip>
          <a:srcRect b="0" l="0" r="0" t="0"/>
          <a:stretch/>
        </p:blipFill>
        <p:spPr>
          <a:xfrm>
            <a:off x="0" y="5321300"/>
            <a:ext cx="9144000" cy="1539875"/>
          </a:xfrm>
          <a:prstGeom prst="rect">
            <a:avLst/>
          </a:prstGeom>
          <a:noFill/>
          <a:ln>
            <a:noFill/>
          </a:ln>
        </p:spPr>
      </p:pic>
      <p:sp>
        <p:nvSpPr>
          <p:cNvPr id="72" name="Google Shape;72;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3" name="Google Shape;73;p1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8.png"/><Relationship Id="rId4" Type="http://schemas.openxmlformats.org/officeDocument/2006/relationships/hyperlink" Target="http://www.youtube.com/watch?v=xbRLorMbprU" TargetMode="Externa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9.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0.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1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8" name="Shape 78"/>
        <p:cNvGrpSpPr/>
        <p:nvPr/>
      </p:nvGrpSpPr>
      <p:grpSpPr>
        <a:xfrm>
          <a:off x="0" y="0"/>
          <a:ext cx="0" cy="0"/>
          <a:chOff x="0" y="0"/>
          <a:chExt cx="0" cy="0"/>
        </a:xfrm>
      </p:grpSpPr>
      <p:sp>
        <p:nvSpPr>
          <p:cNvPr id="79" name="Google Shape;79;p20"/>
          <p:cNvSpPr txBox="1"/>
          <p:nvPr>
            <p:ph idx="4294967295" type="ctrTitle"/>
          </p:nvPr>
        </p:nvSpPr>
        <p:spPr>
          <a:xfrm>
            <a:off x="179387" y="1989137"/>
            <a:ext cx="87630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C000"/>
              </a:buClr>
              <a:buSzPts val="4400"/>
              <a:buFont typeface="Calibri"/>
              <a:buNone/>
            </a:pPr>
            <a:r>
              <a:rPr b="0" i="0" lang="en-US" sz="4400" u="none" cap="none" strike="noStrike">
                <a:solidFill>
                  <a:srgbClr val="FFC000"/>
                </a:solidFill>
                <a:latin typeface="Calibri"/>
                <a:ea typeface="Calibri"/>
                <a:cs typeface="Calibri"/>
                <a:sym typeface="Calibri"/>
              </a:rPr>
              <a:t>An Introduction to Autistic Spectrum Conditions (ASC) – Level 1 </a:t>
            </a:r>
            <a:endParaRPr/>
          </a:p>
        </p:txBody>
      </p:sp>
      <p:sp>
        <p:nvSpPr>
          <p:cNvPr id="80" name="Google Shape;80;p20"/>
          <p:cNvSpPr txBox="1"/>
          <p:nvPr>
            <p:ph idx="4294967295" type="subTitle"/>
          </p:nvPr>
        </p:nvSpPr>
        <p:spPr>
          <a:xfrm>
            <a:off x="214312" y="3789362"/>
            <a:ext cx="8763000" cy="1295400"/>
          </a:xfrm>
          <a:prstGeom prst="rect">
            <a:avLst/>
          </a:prstGeom>
          <a:no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lt1"/>
              </a:buClr>
              <a:buSzPts val="3200"/>
              <a:buFont typeface="Arial"/>
              <a:buNone/>
            </a:pPr>
            <a:r>
              <a:rPr b="0" i="0" lang="en-US" sz="3200" u="none" cap="none" strike="noStrike">
                <a:solidFill>
                  <a:schemeClr val="lt1"/>
                </a:solidFill>
                <a:latin typeface="Calibri"/>
                <a:ea typeface="Calibri"/>
                <a:cs typeface="Calibri"/>
                <a:sym typeface="Calibri"/>
              </a:rPr>
              <a:t>Tom Connor </a:t>
            </a:r>
            <a:endParaRPr/>
          </a:p>
          <a:p>
            <a:pPr indent="-342900" lvl="0" marL="342900" marR="0" rtl="0" algn="ctr">
              <a:lnSpc>
                <a:spcPct val="100000"/>
              </a:lnSpc>
              <a:spcBef>
                <a:spcPts val="640"/>
              </a:spcBef>
              <a:spcAft>
                <a:spcPts val="0"/>
              </a:spcAft>
              <a:buClr>
                <a:schemeClr val="lt1"/>
              </a:buClr>
              <a:buSzPts val="3200"/>
              <a:buFont typeface="Arial"/>
              <a:buNone/>
            </a:pPr>
            <a:r>
              <a:rPr b="0" i="0" lang="en-US" sz="3200" u="none" cap="none" strike="noStrike">
                <a:solidFill>
                  <a:schemeClr val="lt1"/>
                </a:solidFill>
                <a:latin typeface="Calibri"/>
                <a:ea typeface="Calibri"/>
                <a:cs typeface="Calibri"/>
                <a:sym typeface="Calibri"/>
              </a:rPr>
              <a:t>Educational Psychology Service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4" name="Shape 84"/>
        <p:cNvGrpSpPr/>
        <p:nvPr/>
      </p:nvGrpSpPr>
      <p:grpSpPr>
        <a:xfrm>
          <a:off x="0" y="0"/>
          <a:ext cx="0" cy="0"/>
          <a:chOff x="0" y="0"/>
          <a:chExt cx="0" cy="0"/>
        </a:xfrm>
      </p:grpSpPr>
      <p:sp>
        <p:nvSpPr>
          <p:cNvPr id="85" name="Google Shape;85;p21"/>
          <p:cNvSpPr txBox="1"/>
          <p:nvPr>
            <p:ph idx="4294967295" type="title"/>
          </p:nvPr>
        </p:nvSpPr>
        <p:spPr>
          <a:xfrm>
            <a:off x="601662" y="69215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Programme Framework</a:t>
            </a:r>
            <a:endParaRPr/>
          </a:p>
        </p:txBody>
      </p:sp>
      <p:sp>
        <p:nvSpPr>
          <p:cNvPr id="86" name="Google Shape;86;p21"/>
          <p:cNvSpPr txBox="1"/>
          <p:nvPr/>
        </p:nvSpPr>
        <p:spPr>
          <a:xfrm>
            <a:off x="2124075" y="1989137"/>
            <a:ext cx="5184775" cy="2592387"/>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ctr">
              <a:lnSpc>
                <a:spcPct val="100000"/>
              </a:lnSpc>
              <a:spcBef>
                <a:spcPts val="0"/>
              </a:spcBef>
              <a:spcAft>
                <a:spcPts val="0"/>
              </a:spcAft>
              <a:buClr>
                <a:schemeClr val="dk1"/>
              </a:buClr>
              <a:buSzPts val="2400"/>
              <a:buFont typeface="Arial"/>
              <a:buNone/>
            </a:pPr>
            <a:r>
              <a:t/>
            </a:r>
            <a:endParaRPr b="1" i="0" sz="2400" u="none" cap="none" strike="noStrike">
              <a:solidFill>
                <a:srgbClr val="2F4C9D"/>
              </a:solidFill>
              <a:latin typeface="Calibri"/>
              <a:ea typeface="Calibri"/>
              <a:cs typeface="Calibri"/>
              <a:sym typeface="Calibri"/>
            </a:endParaRPr>
          </a:p>
          <a:p>
            <a:pPr indent="-342900" lvl="0" marL="342900" marR="0" rtl="0" algn="ctr">
              <a:lnSpc>
                <a:spcPct val="100000"/>
              </a:lnSpc>
              <a:spcBef>
                <a:spcPts val="480"/>
              </a:spcBef>
              <a:spcAft>
                <a:spcPts val="0"/>
              </a:spcAft>
              <a:buClr>
                <a:srgbClr val="2F4C9D"/>
              </a:buClr>
              <a:buSzPts val="2400"/>
              <a:buFont typeface="Calibri"/>
              <a:buNone/>
            </a:pPr>
            <a:r>
              <a:rPr b="1" i="0" lang="en-US" sz="2400" u="none" cap="none" strike="noStrike">
                <a:solidFill>
                  <a:srgbClr val="2F4C9D"/>
                </a:solidFill>
                <a:latin typeface="Calibri"/>
                <a:ea typeface="Calibri"/>
                <a:cs typeface="Calibri"/>
                <a:sym typeface="Calibri"/>
              </a:rPr>
              <a:t>Part 1: </a:t>
            </a:r>
            <a:r>
              <a:rPr b="0" i="0" lang="en-US" sz="2400" u="none" cap="none" strike="noStrike">
                <a:solidFill>
                  <a:srgbClr val="D30044"/>
                </a:solidFill>
                <a:latin typeface="Calibri"/>
                <a:ea typeface="Calibri"/>
                <a:cs typeface="Calibri"/>
                <a:sym typeface="Calibri"/>
              </a:rPr>
              <a:t>Understanding Autism</a:t>
            </a:r>
            <a:endParaRPr/>
          </a:p>
          <a:p>
            <a:pPr indent="-342900" lvl="0" marL="342900" marR="0" rtl="0" algn="ctr">
              <a:lnSpc>
                <a:spcPct val="100000"/>
              </a:lnSpc>
              <a:spcBef>
                <a:spcPts val="480"/>
              </a:spcBef>
              <a:spcAft>
                <a:spcPts val="0"/>
              </a:spcAft>
              <a:buClr>
                <a:srgbClr val="2F4C9D"/>
              </a:buClr>
              <a:buSzPts val="2400"/>
              <a:buFont typeface="Calibri"/>
              <a:buNone/>
            </a:pPr>
            <a:r>
              <a:rPr b="1" i="0" lang="en-US" sz="2400" u="none" cap="none" strike="noStrike">
                <a:solidFill>
                  <a:srgbClr val="2F4C9D"/>
                </a:solidFill>
                <a:latin typeface="Calibri"/>
                <a:ea typeface="Calibri"/>
                <a:cs typeface="Calibri"/>
                <a:sym typeface="Calibri"/>
              </a:rPr>
              <a:t>Part 2: </a:t>
            </a:r>
            <a:r>
              <a:rPr b="0" i="0" lang="en-US" sz="2400" u="none" cap="none" strike="noStrike">
                <a:solidFill>
                  <a:srgbClr val="D30044"/>
                </a:solidFill>
                <a:latin typeface="Calibri"/>
                <a:ea typeface="Calibri"/>
                <a:cs typeface="Calibri"/>
                <a:sym typeface="Calibri"/>
              </a:rPr>
              <a:t>Interpreting Communication</a:t>
            </a:r>
            <a:endParaRPr/>
          </a:p>
          <a:p>
            <a:pPr indent="-342900" lvl="0" marL="342900" marR="0" rtl="0" algn="ctr">
              <a:lnSpc>
                <a:spcPct val="100000"/>
              </a:lnSpc>
              <a:spcBef>
                <a:spcPts val="480"/>
              </a:spcBef>
              <a:spcAft>
                <a:spcPts val="0"/>
              </a:spcAft>
              <a:buClr>
                <a:srgbClr val="2F4C9D"/>
              </a:buClr>
              <a:buSzPts val="2400"/>
              <a:buFont typeface="Calibri"/>
              <a:buNone/>
            </a:pPr>
            <a:r>
              <a:rPr b="1" i="0" lang="en-US" sz="2400" u="none" cap="none" strike="noStrike">
                <a:solidFill>
                  <a:srgbClr val="2F4C9D"/>
                </a:solidFill>
                <a:latin typeface="Calibri"/>
                <a:ea typeface="Calibri"/>
                <a:cs typeface="Calibri"/>
                <a:sym typeface="Calibri"/>
              </a:rPr>
              <a:t>Part 3: </a:t>
            </a:r>
            <a:r>
              <a:rPr b="0" i="0" lang="en-US" sz="2400" u="none" cap="none" strike="noStrike">
                <a:solidFill>
                  <a:srgbClr val="D30044"/>
                </a:solidFill>
                <a:latin typeface="Calibri"/>
                <a:ea typeface="Calibri"/>
                <a:cs typeface="Calibri"/>
                <a:sym typeface="Calibri"/>
              </a:rPr>
              <a:t>Sensory Experiences</a:t>
            </a:r>
            <a:endParaRPr/>
          </a:p>
          <a:p>
            <a:pPr indent="-342900" lvl="0" marL="342900" marR="0" rtl="0" algn="ctr">
              <a:lnSpc>
                <a:spcPct val="100000"/>
              </a:lnSpc>
              <a:spcBef>
                <a:spcPts val="480"/>
              </a:spcBef>
              <a:spcAft>
                <a:spcPts val="0"/>
              </a:spcAft>
              <a:buClr>
                <a:srgbClr val="2F4C9D"/>
              </a:buClr>
              <a:buSzPts val="2400"/>
              <a:buFont typeface="Calibri"/>
              <a:buNone/>
            </a:pPr>
            <a:r>
              <a:rPr b="1" i="0" lang="en-US" sz="2400" u="none" cap="none" strike="noStrike">
                <a:solidFill>
                  <a:srgbClr val="2F4C9D"/>
                </a:solidFill>
                <a:latin typeface="Calibri"/>
                <a:ea typeface="Calibri"/>
                <a:cs typeface="Calibri"/>
                <a:sym typeface="Calibri"/>
              </a:rPr>
              <a:t>Part 4: </a:t>
            </a:r>
            <a:r>
              <a:rPr b="0" i="0" lang="en-US" sz="2400" u="none" cap="none" strike="noStrike">
                <a:solidFill>
                  <a:srgbClr val="D30044"/>
                </a:solidFill>
                <a:latin typeface="Calibri"/>
                <a:ea typeface="Calibri"/>
                <a:cs typeface="Calibri"/>
                <a:sym typeface="Calibri"/>
              </a:rPr>
              <a:t>Behaviour Analysis and strategy planning</a:t>
            </a:r>
            <a:endParaRPr/>
          </a:p>
          <a:p>
            <a:pPr indent="0" lvl="0" marL="0" marR="0" rtl="0" algn="l">
              <a:lnSpc>
                <a:spcPct val="100000"/>
              </a:lnSpc>
              <a:spcBef>
                <a:spcPts val="0"/>
              </a:spcBef>
              <a:spcAft>
                <a:spcPts val="0"/>
              </a:spcAft>
              <a:buNone/>
            </a:pPr>
            <a:r>
              <a:t/>
            </a:r>
            <a:endParaRPr b="0" i="0" sz="2400" u="none">
              <a:solidFill>
                <a:srgbClr val="D30044"/>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0" name="Shape 90"/>
        <p:cNvGrpSpPr/>
        <p:nvPr/>
      </p:nvGrpSpPr>
      <p:grpSpPr>
        <a:xfrm>
          <a:off x="0" y="0"/>
          <a:ext cx="0" cy="0"/>
          <a:chOff x="0" y="0"/>
          <a:chExt cx="0" cy="0"/>
        </a:xfrm>
      </p:grpSpPr>
      <p:sp>
        <p:nvSpPr>
          <p:cNvPr id="91" name="Google Shape;91;p22"/>
          <p:cNvSpPr txBox="1"/>
          <p:nvPr>
            <p:ph idx="4294967295" type="title"/>
          </p:nvPr>
        </p:nvSpPr>
        <p:spPr>
          <a:xfrm>
            <a:off x="-252412" y="404812"/>
            <a:ext cx="9144000" cy="99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Autism? </a:t>
            </a:r>
            <a:endParaRPr/>
          </a:p>
        </p:txBody>
      </p:sp>
      <p:sp>
        <p:nvSpPr>
          <p:cNvPr id="92" name="Google Shape;92;p22"/>
          <p:cNvSpPr txBox="1"/>
          <p:nvPr>
            <p:ph idx="4294967295" type="body"/>
          </p:nvPr>
        </p:nvSpPr>
        <p:spPr>
          <a:xfrm>
            <a:off x="107950" y="1844675"/>
            <a:ext cx="8315325" cy="312578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800"/>
              <a:buFont typeface="Arial"/>
              <a:buNone/>
            </a:pPr>
            <a:r>
              <a:rPr b="0" i="0" lang="en-US" sz="2800" u="sng" cap="none" strike="noStrike">
                <a:solidFill>
                  <a:schemeClr val="dk1"/>
                </a:solidFill>
                <a:latin typeface="Calibri"/>
                <a:ea typeface="Calibri"/>
                <a:cs typeface="Calibri"/>
                <a:sym typeface="Calibri"/>
              </a:rPr>
              <a:t>What do we think? </a:t>
            </a:r>
            <a:endParaRPr/>
          </a:p>
          <a:p>
            <a:pPr indent="0" lvl="0" marL="0" marR="0" rtl="0" algn="ctr">
              <a:lnSpc>
                <a:spcPct val="100000"/>
              </a:lnSpc>
              <a:spcBef>
                <a:spcPts val="560"/>
              </a:spcBef>
              <a:spcAft>
                <a:spcPts val="0"/>
              </a:spcAft>
              <a:buClr>
                <a:schemeClr val="dk1"/>
              </a:buClr>
              <a:buSzPts val="2800"/>
              <a:buFont typeface="Arial"/>
              <a:buNone/>
            </a:pPr>
            <a:r>
              <a:rPr b="0" i="0" lang="en-US" sz="2800" u="none" cap="none" strike="noStrike">
                <a:solidFill>
                  <a:schemeClr val="dk1"/>
                </a:solidFill>
                <a:latin typeface="Calibri"/>
                <a:ea typeface="Calibri"/>
                <a:cs typeface="Calibri"/>
                <a:sym typeface="Calibri"/>
              </a:rPr>
              <a:t>In pairs/ small groups </a:t>
            </a:r>
            <a:endParaRPr/>
          </a:p>
          <a:p>
            <a:pPr indent="-177800" lvl="0" marL="0" marR="0" rtl="0" algn="ctr">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What we think Autism/ ASD/ ASC is </a:t>
            </a:r>
            <a:endParaRPr/>
          </a:p>
          <a:p>
            <a:pPr indent="-177800" lvl="0" marL="0" marR="0" rtl="0" algn="ctr">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What our experiences have been supporting children on the autistic spectrum or with social communication weaknesses</a:t>
            </a:r>
            <a:endParaRPr/>
          </a:p>
          <a:p>
            <a:pPr indent="0" lvl="0" marL="0" marR="0" rtl="0" algn="l">
              <a:lnSpc>
                <a:spcPct val="100000"/>
              </a:lnSpc>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6" name="Shape 96"/>
        <p:cNvGrpSpPr/>
        <p:nvPr/>
      </p:nvGrpSpPr>
      <p:grpSpPr>
        <a:xfrm>
          <a:off x="0" y="0"/>
          <a:ext cx="0" cy="0"/>
          <a:chOff x="0" y="0"/>
          <a:chExt cx="0" cy="0"/>
        </a:xfrm>
      </p:grpSpPr>
      <p:sp>
        <p:nvSpPr>
          <p:cNvPr id="97" name="Google Shape;97;p23"/>
          <p:cNvSpPr txBox="1"/>
          <p:nvPr>
            <p:ph idx="4294967295" type="title"/>
          </p:nvPr>
        </p:nvSpPr>
        <p:spPr>
          <a:xfrm>
            <a:off x="539750" y="40481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Unpicking the Myths and Facts</a:t>
            </a:r>
            <a:endParaRPr/>
          </a:p>
        </p:txBody>
      </p:sp>
      <p:sp>
        <p:nvSpPr>
          <p:cNvPr id="98" name="Google Shape;98;p23"/>
          <p:cNvSpPr txBox="1"/>
          <p:nvPr>
            <p:ph idx="4294967295" type="body"/>
          </p:nvPr>
        </p:nvSpPr>
        <p:spPr>
          <a:xfrm>
            <a:off x="3276600" y="1773237"/>
            <a:ext cx="3130550" cy="82073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600"/>
              <a:buFont typeface="Noto Sans Symbols"/>
              <a:buChar char="▪"/>
            </a:pPr>
            <a:r>
              <a:rPr b="0" i="0" lang="en-US" sz="3600" u="sng">
                <a:solidFill>
                  <a:schemeClr val="dk1"/>
                </a:solidFill>
                <a:latin typeface="Calibri"/>
                <a:ea typeface="Calibri"/>
                <a:cs typeface="Calibri"/>
                <a:sym typeface="Calibri"/>
              </a:rPr>
              <a:t>Activity</a:t>
            </a:r>
            <a:endParaRPr/>
          </a:p>
          <a:p>
            <a:pPr indent="-114300" lvl="0" marL="342900" marR="0" rtl="0" algn="l">
              <a:spcBef>
                <a:spcPts val="720"/>
              </a:spcBef>
              <a:spcAft>
                <a:spcPts val="0"/>
              </a:spcAft>
              <a:buClr>
                <a:schemeClr val="dk1"/>
              </a:buClr>
              <a:buSzPts val="3600"/>
              <a:buFont typeface="Arial"/>
              <a:buNone/>
            </a:pPr>
            <a:r>
              <a:t/>
            </a:r>
            <a:endParaRPr b="0" i="0" sz="3600" u="sng">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2" name="Shape 102"/>
        <p:cNvGrpSpPr/>
        <p:nvPr/>
      </p:nvGrpSpPr>
      <p:grpSpPr>
        <a:xfrm>
          <a:off x="0" y="0"/>
          <a:ext cx="0" cy="0"/>
          <a:chOff x="0" y="0"/>
          <a:chExt cx="0" cy="0"/>
        </a:xfrm>
      </p:grpSpPr>
      <p:sp>
        <p:nvSpPr>
          <p:cNvPr id="103" name="Google Shape;103;p24"/>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Autism? </a:t>
            </a:r>
            <a:endParaRPr/>
          </a:p>
        </p:txBody>
      </p:sp>
      <p:sp>
        <p:nvSpPr>
          <p:cNvPr id="104" name="Google Shape;104;p24"/>
          <p:cNvSpPr txBox="1"/>
          <p:nvPr>
            <p:ph idx="4294967295" type="body"/>
          </p:nvPr>
        </p:nvSpPr>
        <p:spPr>
          <a:xfrm>
            <a:off x="395287" y="1484312"/>
            <a:ext cx="8027987" cy="3197225"/>
          </a:xfrm>
          <a:prstGeom prst="rect">
            <a:avLst/>
          </a:prstGeom>
          <a:noFill/>
          <a:ln>
            <a:noFill/>
          </a:ln>
        </p:spPr>
        <p:txBody>
          <a:bodyPr anchorCtr="0" anchor="t" bIns="45700" lIns="91425" spcFirstLastPara="1" rIns="91425" wrap="square" tIns="45700">
            <a:noAutofit/>
          </a:bodyPr>
          <a:lstStyle/>
          <a:p>
            <a:pPr indent="-165100" lvl="0" marL="342900" marR="0" rtl="0" algn="l">
              <a:lnSpc>
                <a:spcPct val="100000"/>
              </a:lnSpc>
              <a:spcBef>
                <a:spcPts val="0"/>
              </a:spcBef>
              <a:spcAft>
                <a:spcPts val="0"/>
              </a:spcAft>
              <a:buClr>
                <a:schemeClr val="dk1"/>
              </a:buClr>
              <a:buSzPts val="2800"/>
              <a:buFont typeface="Arial"/>
              <a:buNone/>
            </a:pPr>
            <a:r>
              <a:t/>
            </a:r>
            <a:endParaRPr b="0" i="0" sz="2800" u="sng">
              <a:solidFill>
                <a:schemeClr val="dk1"/>
              </a:solidFill>
              <a:latin typeface="Calibri"/>
              <a:ea typeface="Calibri"/>
              <a:cs typeface="Calibri"/>
              <a:sym typeface="Calibri"/>
            </a:endParaRPr>
          </a:p>
          <a:p>
            <a:pPr indent="-342900" lvl="0" marL="342900" marR="0" rtl="0" algn="ctr">
              <a:lnSpc>
                <a:spcPct val="100000"/>
              </a:lnSpc>
              <a:spcBef>
                <a:spcPts val="56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“Autism is a lifelong developmental disability that affects how a person communicates with, and relates to, other people. It also affects how they make sense of the world around them.”</a:t>
            </a:r>
            <a:endParaRPr/>
          </a:p>
          <a:p>
            <a:pPr indent="-342900" lvl="0" marL="342900" marR="0" rtl="0" algn="ctr">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(NAS, accessed September 2016)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8" name="Shape 108"/>
        <p:cNvGrpSpPr/>
        <p:nvPr/>
      </p:nvGrpSpPr>
      <p:grpSpPr>
        <a:xfrm>
          <a:off x="0" y="0"/>
          <a:ext cx="0" cy="0"/>
          <a:chOff x="0" y="0"/>
          <a:chExt cx="0" cy="0"/>
        </a:xfrm>
      </p:grpSpPr>
      <p:sp>
        <p:nvSpPr>
          <p:cNvPr id="109" name="Google Shape;109;p25"/>
          <p:cNvSpPr txBox="1"/>
          <p:nvPr>
            <p:ph idx="4294967295" type="title"/>
          </p:nvPr>
        </p:nvSpPr>
        <p:spPr>
          <a:xfrm>
            <a:off x="1331912" y="333375"/>
            <a:ext cx="5795962" cy="13541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 is for Autism …</a:t>
            </a:r>
            <a:endParaRPr/>
          </a:p>
        </p:txBody>
      </p:sp>
      <p:sp>
        <p:nvSpPr>
          <p:cNvPr id="110" name="Google Shape;110;p25"/>
          <p:cNvSpPr txBox="1"/>
          <p:nvPr/>
        </p:nvSpPr>
        <p:spPr>
          <a:xfrm>
            <a:off x="2247900" y="1844675"/>
            <a:ext cx="3733800" cy="2278062"/>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569E"/>
              </a:buClr>
              <a:buSzPts val="3200"/>
              <a:buFont typeface="Noto Sans Symbols"/>
              <a:buChar char="▪"/>
            </a:pPr>
            <a:r>
              <a:rPr b="0" i="0" lang="en-US" sz="3200" u="none">
                <a:solidFill>
                  <a:srgbClr val="22569E"/>
                </a:solidFill>
                <a:latin typeface="Calibri"/>
                <a:ea typeface="Calibri"/>
                <a:cs typeface="Calibri"/>
                <a:sym typeface="Calibri"/>
              </a:rPr>
              <a:t>… an 11 minute</a:t>
            </a:r>
            <a:endParaRPr/>
          </a:p>
          <a:p>
            <a:pPr indent="-342900" lvl="0" marL="342900" marR="0" rtl="0" algn="l">
              <a:lnSpc>
                <a:spcPct val="100000"/>
              </a:lnSpc>
              <a:spcBef>
                <a:spcPts val="640"/>
              </a:spcBef>
              <a:spcAft>
                <a:spcPts val="0"/>
              </a:spcAft>
              <a:buClr>
                <a:srgbClr val="22569E"/>
              </a:buClr>
              <a:buSzPts val="3200"/>
              <a:buFont typeface="Calibri"/>
              <a:buNone/>
            </a:pPr>
            <a:r>
              <a:rPr b="0" i="0" lang="en-US" sz="3200" u="none">
                <a:solidFill>
                  <a:srgbClr val="22569E"/>
                </a:solidFill>
                <a:latin typeface="Calibri"/>
                <a:ea typeface="Calibri"/>
                <a:cs typeface="Calibri"/>
                <a:sym typeface="Calibri"/>
              </a:rPr>
              <a:t>	</a:t>
            </a:r>
            <a:endParaRPr/>
          </a:p>
          <a:p>
            <a:pPr indent="-342900" lvl="0" marL="342900" marR="0" rtl="0" algn="l">
              <a:lnSpc>
                <a:spcPct val="100000"/>
              </a:lnSpc>
              <a:spcBef>
                <a:spcPts val="640"/>
              </a:spcBef>
              <a:spcAft>
                <a:spcPts val="0"/>
              </a:spcAft>
              <a:buClr>
                <a:srgbClr val="22569E"/>
              </a:buClr>
              <a:buSzPts val="3200"/>
              <a:buFont typeface="Calibri"/>
              <a:buNone/>
            </a:pPr>
            <a:r>
              <a:rPr b="0" i="1" lang="en-US" sz="3200" u="none">
                <a:solidFill>
                  <a:srgbClr val="22569E"/>
                </a:solidFill>
                <a:latin typeface="Calibri"/>
                <a:ea typeface="Calibri"/>
                <a:cs typeface="Calibri"/>
                <a:sym typeface="Calibri"/>
              </a:rPr>
              <a:t>	“celebration of optimism for and by autistic people” </a:t>
            </a:r>
            <a:endParaRPr/>
          </a:p>
          <a:p>
            <a:pPr indent="0" lvl="0" marL="0" marR="0" rtl="0" algn="l">
              <a:lnSpc>
                <a:spcPct val="100000"/>
              </a:lnSpc>
              <a:spcBef>
                <a:spcPts val="0"/>
              </a:spcBef>
              <a:spcAft>
                <a:spcPts val="0"/>
              </a:spcAft>
              <a:buNone/>
            </a:pPr>
            <a:r>
              <a:t/>
            </a:r>
            <a:endParaRPr b="0" i="1" sz="3200" u="none">
              <a:solidFill>
                <a:srgbClr val="22569E"/>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p26"/>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Autism? </a:t>
            </a:r>
            <a:endParaRPr/>
          </a:p>
        </p:txBody>
      </p:sp>
      <p:sp>
        <p:nvSpPr>
          <p:cNvPr id="116" name="Google Shape;116;p26"/>
          <p:cNvSpPr txBox="1"/>
          <p:nvPr>
            <p:ph idx="4294967295" type="body"/>
          </p:nvPr>
        </p:nvSpPr>
        <p:spPr>
          <a:xfrm>
            <a:off x="1547812" y="1773237"/>
            <a:ext cx="6516687" cy="38449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It is described as:</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a:t>
            </a:r>
            <a:r>
              <a:rPr b="0" i="0" lang="en-US" sz="2800" u="sng">
                <a:solidFill>
                  <a:schemeClr val="dk1"/>
                </a:solidFill>
                <a:latin typeface="Calibri"/>
                <a:ea typeface="Calibri"/>
                <a:cs typeface="Calibri"/>
                <a:sym typeface="Calibri"/>
              </a:rPr>
              <a:t>spectrum</a:t>
            </a:r>
            <a:r>
              <a:rPr b="0" i="0" lang="en-US" sz="2800" u="none">
                <a:solidFill>
                  <a:schemeClr val="dk1"/>
                </a:solidFill>
                <a:latin typeface="Calibri"/>
                <a:ea typeface="Calibri"/>
                <a:cs typeface="Calibri"/>
                <a:sym typeface="Calibri"/>
              </a:rPr>
              <a:t> condition </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a:t>
            </a:r>
            <a:r>
              <a:rPr b="0" i="0" lang="en-US" sz="2800" u="sng">
                <a:solidFill>
                  <a:schemeClr val="dk1"/>
                </a:solidFill>
                <a:latin typeface="Calibri"/>
                <a:ea typeface="Calibri"/>
                <a:cs typeface="Calibri"/>
                <a:sym typeface="Calibri"/>
              </a:rPr>
              <a:t>pervasive developmental</a:t>
            </a:r>
            <a:r>
              <a:rPr b="0" i="0" lang="en-US" sz="2800" u="none">
                <a:solidFill>
                  <a:schemeClr val="dk1"/>
                </a:solidFill>
                <a:latin typeface="Calibri"/>
                <a:ea typeface="Calibri"/>
                <a:cs typeface="Calibri"/>
                <a:sym typeface="Calibri"/>
              </a:rPr>
              <a:t> disorder</a:t>
            </a:r>
            <a:endParaRPr/>
          </a:p>
          <a:p>
            <a:pPr indent="0" lvl="0" marL="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It has </a:t>
            </a:r>
            <a:r>
              <a:rPr b="0" i="0" lang="en-US" sz="2800" u="sng">
                <a:solidFill>
                  <a:schemeClr val="dk1"/>
                </a:solidFill>
                <a:latin typeface="Calibri"/>
                <a:ea typeface="Calibri"/>
                <a:cs typeface="Calibri"/>
                <a:sym typeface="Calibri"/>
              </a:rPr>
              <a:t>three aspects</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biological</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cognitive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behavioural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0" name="Shape 120"/>
        <p:cNvGrpSpPr/>
        <p:nvPr/>
      </p:nvGrpSpPr>
      <p:grpSpPr>
        <a:xfrm>
          <a:off x="0" y="0"/>
          <a:ext cx="0" cy="0"/>
          <a:chOff x="0" y="0"/>
          <a:chExt cx="0" cy="0"/>
        </a:xfrm>
      </p:grpSpPr>
      <p:sp>
        <p:nvSpPr>
          <p:cNvPr id="121" name="Google Shape;121;p2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Autism? </a:t>
            </a:r>
            <a:endParaRPr/>
          </a:p>
        </p:txBody>
      </p:sp>
      <p:sp>
        <p:nvSpPr>
          <p:cNvPr id="122" name="Google Shape;122;p27"/>
          <p:cNvSpPr txBox="1"/>
          <p:nvPr>
            <p:ph idx="4294967295" type="body"/>
          </p:nvPr>
        </p:nvSpPr>
        <p:spPr>
          <a:xfrm>
            <a:off x="684212" y="1628775"/>
            <a:ext cx="8099425" cy="38449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sng">
                <a:solidFill>
                  <a:schemeClr val="dk1"/>
                </a:solidFill>
                <a:latin typeface="Calibri"/>
                <a:ea typeface="Calibri"/>
                <a:cs typeface="Calibri"/>
                <a:sym typeface="Calibri"/>
              </a:rPr>
              <a:t>What causes Autism?  </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No single identifiable “cause” (… is it one single condition?) </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Possibly a mixture of factors e.g.</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Genetics – e.g. chromosomal disorders</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allergic reactions </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viral illness</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distress in the womb or at birth</a:t>
            </a:r>
            <a:endParaRPr/>
          </a:p>
          <a:p>
            <a:pPr indent="-285750" lvl="1" marL="742950" marR="0" rtl="0" algn="l">
              <a:lnSpc>
                <a:spcPct val="100000"/>
              </a:lnSpc>
              <a:spcBef>
                <a:spcPts val="400"/>
              </a:spcBef>
              <a:spcAft>
                <a:spcPts val="0"/>
              </a:spcAft>
              <a:buClr>
                <a:schemeClr val="dk1"/>
              </a:buClr>
              <a:buSzPts val="2000"/>
              <a:buFont typeface="Arial"/>
              <a:buNone/>
            </a:pPr>
            <a:r>
              <a:rPr b="0" i="0" lang="en-US" sz="2000" u="sng" cap="none" strike="noStrike">
                <a:solidFill>
                  <a:schemeClr val="dk1"/>
                </a:solidFill>
                <a:latin typeface="Calibri"/>
                <a:ea typeface="Calibri"/>
                <a:cs typeface="Calibri"/>
                <a:sym typeface="Calibri"/>
              </a:rPr>
              <a:t>Not</a:t>
            </a:r>
            <a:r>
              <a:rPr b="0" i="0" lang="en-US" sz="2000" u="none" cap="none" strike="noStrike">
                <a:solidFill>
                  <a:schemeClr val="dk1"/>
                </a:solidFill>
                <a:latin typeface="Calibri"/>
                <a:ea typeface="Calibri"/>
                <a:cs typeface="Calibri"/>
                <a:sym typeface="Calibri"/>
              </a:rPr>
              <a:t>: </a:t>
            </a:r>
            <a:endParaRPr/>
          </a:p>
          <a:p>
            <a:pPr indent="-285750" lvl="1" marL="7429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 possible reaction to an injection ??? </a:t>
            </a:r>
            <a:endParaRPr/>
          </a:p>
          <a:p>
            <a:pPr indent="-215900" lvl="0" marL="342900"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sp>
        <p:nvSpPr>
          <p:cNvPr id="127" name="Google Shape;127;p28"/>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Autism?</a:t>
            </a:r>
            <a:endParaRPr/>
          </a:p>
        </p:txBody>
      </p:sp>
      <p:sp>
        <p:nvSpPr>
          <p:cNvPr id="128" name="Google Shape;128;p28"/>
          <p:cNvSpPr txBox="1"/>
          <p:nvPr>
            <p:ph idx="4294967295" type="body"/>
          </p:nvPr>
        </p:nvSpPr>
        <p:spPr>
          <a:xfrm>
            <a:off x="827087" y="1628775"/>
            <a:ext cx="7812087" cy="3773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sng">
                <a:solidFill>
                  <a:schemeClr val="dk1"/>
                </a:solidFill>
                <a:latin typeface="Calibri"/>
                <a:ea typeface="Calibri"/>
                <a:cs typeface="Calibri"/>
                <a:sym typeface="Calibri"/>
              </a:rPr>
              <a:t>Incidence rates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National Autistic Society (NAS) estimates</a:t>
            </a:r>
            <a:endParaRPr/>
          </a:p>
          <a:p>
            <a:pPr indent="-342900" lvl="0" marL="34290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That in the UK:</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Around 1 in 100 individuals may be on the autistic spectrum (1.1% of the population)</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over 690,000 people estimated to have autism (an underestimation?)</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4 out of every 5 children with autism are male</a:t>
            </a:r>
            <a:endParaRPr/>
          </a:p>
          <a:p>
            <a:pPr indent="-285750" lvl="1" marL="74295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2" name="Shape 132"/>
        <p:cNvGrpSpPr/>
        <p:nvPr/>
      </p:nvGrpSpPr>
      <p:grpSpPr>
        <a:xfrm>
          <a:off x="0" y="0"/>
          <a:ext cx="0" cy="0"/>
          <a:chOff x="0" y="0"/>
          <a:chExt cx="0" cy="0"/>
        </a:xfrm>
      </p:grpSpPr>
      <p:sp>
        <p:nvSpPr>
          <p:cNvPr id="133" name="Google Shape;133;p29"/>
          <p:cNvSpPr/>
          <p:nvPr/>
        </p:nvSpPr>
        <p:spPr>
          <a:xfrm>
            <a:off x="2268537" y="1582737"/>
            <a:ext cx="3733800" cy="3097212"/>
          </a:xfrm>
          <a:prstGeom prst="triangle">
            <a:avLst>
              <a:gd fmla="val 50000" name="adj"/>
            </a:avLst>
          </a:prstGeom>
          <a:solidFill>
            <a:srgbClr val="CCCCFF"/>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34" name="Google Shape;134;p29"/>
          <p:cNvSpPr txBox="1"/>
          <p:nvPr/>
        </p:nvSpPr>
        <p:spPr>
          <a:xfrm>
            <a:off x="250825" y="4733925"/>
            <a:ext cx="2582862" cy="830262"/>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Social</a:t>
            </a:r>
            <a:endParaRPr/>
          </a:p>
          <a:p>
            <a:pPr indent="0" lvl="0" marL="0" marR="0" rtl="0" algn="ctr">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Communication</a:t>
            </a:r>
            <a:endParaRPr/>
          </a:p>
        </p:txBody>
      </p:sp>
      <p:sp>
        <p:nvSpPr>
          <p:cNvPr id="135" name="Google Shape;135;p29"/>
          <p:cNvSpPr txBox="1"/>
          <p:nvPr/>
        </p:nvSpPr>
        <p:spPr>
          <a:xfrm>
            <a:off x="4800600" y="6213475"/>
            <a:ext cx="1752600" cy="4572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36" name="Google Shape;136;p29"/>
          <p:cNvSpPr txBox="1"/>
          <p:nvPr/>
        </p:nvSpPr>
        <p:spPr>
          <a:xfrm>
            <a:off x="5592762" y="4364037"/>
            <a:ext cx="3529012" cy="1200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t/>
            </a:r>
            <a:endParaRPr b="1" i="0" sz="2400" u="none">
              <a:solidFill>
                <a:schemeClr val="dk1"/>
              </a:solidFill>
              <a:latin typeface="Comic Sans MS"/>
              <a:ea typeface="Comic Sans MS"/>
              <a:cs typeface="Comic Sans MS"/>
              <a:sym typeface="Comic Sans MS"/>
            </a:endParaRPr>
          </a:p>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Social Imagination /</a:t>
            </a:r>
            <a:endParaRPr/>
          </a:p>
          <a:p>
            <a:pPr indent="0" lvl="0" marL="0" marR="0" rtl="0" algn="l">
              <a:lnSpc>
                <a:spcPct val="100000"/>
              </a:lnSpc>
              <a:spcBef>
                <a:spcPts val="0"/>
              </a:spcBef>
              <a:spcAft>
                <a:spcPts val="0"/>
              </a:spcAft>
              <a:buClr>
                <a:srgbClr val="FF0000"/>
              </a:buClr>
              <a:buSzPts val="2400"/>
              <a:buFont typeface="Arial"/>
              <a:buNone/>
            </a:pPr>
            <a:r>
              <a:rPr b="1" i="0" lang="en-US" sz="2400" u="none">
                <a:solidFill>
                  <a:srgbClr val="FF0000"/>
                </a:solidFill>
                <a:latin typeface="Arial"/>
                <a:ea typeface="Arial"/>
                <a:cs typeface="Arial"/>
                <a:sym typeface="Arial"/>
              </a:rPr>
              <a:t>Flexibility of thought</a:t>
            </a:r>
            <a:endParaRPr/>
          </a:p>
        </p:txBody>
      </p:sp>
      <p:sp>
        <p:nvSpPr>
          <p:cNvPr id="137" name="Google Shape;137;p29"/>
          <p:cNvSpPr txBox="1"/>
          <p:nvPr/>
        </p:nvSpPr>
        <p:spPr>
          <a:xfrm>
            <a:off x="3419475" y="752475"/>
            <a:ext cx="1655762" cy="8302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0000"/>
              </a:buClr>
              <a:buSzPts val="2400"/>
              <a:buFont typeface="Calibri"/>
              <a:buNone/>
            </a:pPr>
            <a:r>
              <a:rPr b="1" i="0" lang="en-US" sz="2400" u="none">
                <a:solidFill>
                  <a:srgbClr val="FF0000"/>
                </a:solidFill>
                <a:latin typeface="Calibri"/>
                <a:ea typeface="Calibri"/>
                <a:cs typeface="Calibri"/>
                <a:sym typeface="Calibri"/>
              </a:rPr>
              <a:t>    Social Interaction</a:t>
            </a:r>
            <a:endParaRPr/>
          </a:p>
        </p:txBody>
      </p:sp>
      <p:sp>
        <p:nvSpPr>
          <p:cNvPr id="138" name="Google Shape;138;p29"/>
          <p:cNvSpPr txBox="1"/>
          <p:nvPr/>
        </p:nvSpPr>
        <p:spPr>
          <a:xfrm>
            <a:off x="1979612" y="142875"/>
            <a:ext cx="5105400" cy="609600"/>
          </a:xfrm>
          <a:prstGeom prst="rect">
            <a:avLst/>
          </a:prstGeom>
          <a:noFill/>
          <a:ln>
            <a:noFill/>
          </a:ln>
        </p:spPr>
        <p:txBody>
          <a:bodyPr anchorCtr="0" anchor="t" bIns="45700" lIns="91425" spcFirstLastPara="1" rIns="91425" wrap="square" tIns="45700">
            <a:noAutofit/>
          </a:bodyPr>
          <a:lstStyle/>
          <a:p>
            <a:pPr indent="-282575" lvl="0" marL="282575" marR="0" rtl="0" algn="l">
              <a:lnSpc>
                <a:spcPct val="100000"/>
              </a:lnSpc>
              <a:spcBef>
                <a:spcPts val="0"/>
              </a:spcBef>
              <a:spcAft>
                <a:spcPts val="0"/>
              </a:spcAft>
              <a:buClr>
                <a:srgbClr val="2F4C9D"/>
              </a:buClr>
              <a:buSzPts val="3600"/>
              <a:buFont typeface="Calibri"/>
              <a:buNone/>
            </a:pPr>
            <a:r>
              <a:rPr b="1" i="0" lang="en-US" sz="3600" u="none">
                <a:solidFill>
                  <a:srgbClr val="2F4C9D"/>
                </a:solidFill>
                <a:latin typeface="Calibri"/>
                <a:ea typeface="Calibri"/>
                <a:cs typeface="Calibri"/>
                <a:sym typeface="Calibri"/>
              </a:rPr>
              <a:t>The Triad of Impairments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2" name="Shape 142"/>
        <p:cNvGrpSpPr/>
        <p:nvPr/>
      </p:nvGrpSpPr>
      <p:grpSpPr>
        <a:xfrm>
          <a:off x="0" y="0"/>
          <a:ext cx="0" cy="0"/>
          <a:chOff x="0" y="0"/>
          <a:chExt cx="0" cy="0"/>
        </a:xfrm>
      </p:grpSpPr>
      <p:sp>
        <p:nvSpPr>
          <p:cNvPr id="143" name="Google Shape;143;p30"/>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The Autism Spectrum </a:t>
            </a:r>
            <a:endParaRPr/>
          </a:p>
        </p:txBody>
      </p:sp>
      <p:sp>
        <p:nvSpPr>
          <p:cNvPr id="144" name="Google Shape;144;p30"/>
          <p:cNvSpPr txBox="1"/>
          <p:nvPr>
            <p:ph idx="4294967295" type="body"/>
          </p:nvPr>
        </p:nvSpPr>
        <p:spPr>
          <a:xfrm>
            <a:off x="468312" y="1557337"/>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1" i="0" lang="en-US" sz="2800" u="none">
                <a:solidFill>
                  <a:schemeClr val="dk1"/>
                </a:solidFill>
                <a:latin typeface="Comic Sans MS"/>
                <a:ea typeface="Comic Sans MS"/>
                <a:cs typeface="Comic Sans MS"/>
                <a:sym typeface="Comic Sans MS"/>
              </a:rPr>
              <a:t>	</a:t>
            </a:r>
            <a:r>
              <a:rPr b="1" i="0" lang="en-US" sz="2800" u="none">
                <a:solidFill>
                  <a:srgbClr val="2F4C9D"/>
                </a:solidFill>
                <a:latin typeface="Calibri"/>
                <a:ea typeface="Calibri"/>
                <a:cs typeface="Calibri"/>
                <a:sym typeface="Calibri"/>
              </a:rPr>
              <a:t>A spectrum of conditions, sharing the underlying triad of behaviours</a:t>
            </a:r>
            <a:endParaRPr/>
          </a:p>
          <a:p>
            <a:pPr indent="-342900" lvl="0" marL="342900" marR="0" rtl="0" algn="l">
              <a:lnSpc>
                <a:spcPct val="100000"/>
              </a:lnSpc>
              <a:spcBef>
                <a:spcPts val="560"/>
              </a:spcBef>
              <a:spcAft>
                <a:spcPts val="0"/>
              </a:spcAft>
              <a:buClr>
                <a:schemeClr val="dk1"/>
              </a:buClr>
              <a:buSzPts val="2800"/>
              <a:buFont typeface="Arial"/>
              <a:buNone/>
            </a:pPr>
            <a:r>
              <a:t/>
            </a:r>
            <a:endParaRPr b="1" i="0" sz="2800" u="none">
              <a:solidFill>
                <a:srgbClr val="5D245A"/>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	</a:t>
            </a:r>
            <a:r>
              <a:rPr b="1" i="0" lang="en-US" sz="2800" u="none">
                <a:solidFill>
                  <a:srgbClr val="D30044"/>
                </a:solidFill>
                <a:latin typeface="Calibri"/>
                <a:ea typeface="Calibri"/>
                <a:cs typeface="Calibri"/>
                <a:sym typeface="Calibri"/>
              </a:rPr>
              <a:t>Autism and Asperger Syndrome are both autism spectrum disorders (… But DSM5)</a:t>
            </a:r>
            <a:endParaRPr/>
          </a:p>
          <a:p>
            <a:pPr indent="-342900" lvl="0" marL="342900" marR="0" rtl="0" algn="l">
              <a:lnSpc>
                <a:spcPct val="100000"/>
              </a:lnSpc>
              <a:spcBef>
                <a:spcPts val="560"/>
              </a:spcBef>
              <a:spcAft>
                <a:spcPts val="0"/>
              </a:spcAft>
              <a:buClr>
                <a:schemeClr val="dk1"/>
              </a:buClr>
              <a:buSzPts val="2800"/>
              <a:buFont typeface="Arial"/>
              <a:buNone/>
            </a:pPr>
            <a:r>
              <a:t/>
            </a:r>
            <a:endParaRPr b="1" i="0" sz="2800" u="none">
              <a:solidFill>
                <a:schemeClr val="dk1"/>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1" i="0" lang="en-US" sz="2800" u="none">
                <a:solidFill>
                  <a:schemeClr val="dk1"/>
                </a:solidFill>
                <a:latin typeface="Calibri"/>
                <a:ea typeface="Calibri"/>
                <a:cs typeface="Calibri"/>
                <a:sym typeface="Calibri"/>
              </a:rPr>
              <a:t>	</a:t>
            </a:r>
            <a:r>
              <a:rPr b="1" i="0" lang="en-US" sz="2800" u="none">
                <a:solidFill>
                  <a:srgbClr val="2F4C9D"/>
                </a:solidFill>
                <a:latin typeface="Calibri"/>
                <a:ea typeface="Calibri"/>
                <a:cs typeface="Calibri"/>
                <a:sym typeface="Calibri"/>
              </a:rPr>
              <a:t>People with ASC may move within the spectrum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8" name="Shape 148"/>
        <p:cNvGrpSpPr/>
        <p:nvPr/>
      </p:nvGrpSpPr>
      <p:grpSpPr>
        <a:xfrm>
          <a:off x="0" y="0"/>
          <a:ext cx="0" cy="0"/>
          <a:chOff x="0" y="0"/>
          <a:chExt cx="0" cy="0"/>
        </a:xfrm>
      </p:grpSpPr>
      <p:sp>
        <p:nvSpPr>
          <p:cNvPr id="149" name="Google Shape;149;p31"/>
          <p:cNvSpPr/>
          <p:nvPr/>
        </p:nvSpPr>
        <p:spPr>
          <a:xfrm>
            <a:off x="1692275" y="404812"/>
            <a:ext cx="6126162" cy="5545137"/>
          </a:xfrm>
          <a:custGeom>
            <a:rect b="b" l="l" r="r" t="t"/>
            <a:pathLst>
              <a:path extrusionOk="0" h="21600" w="21600">
                <a:moveTo>
                  <a:pt x="5400" y="10442"/>
                </a:moveTo>
                <a:cubicBezTo>
                  <a:pt x="5589" y="7598"/>
                  <a:pt x="7950" y="5388"/>
                  <a:pt x="10800" y="5389"/>
                </a:cubicBezTo>
                <a:cubicBezTo>
                  <a:pt x="13649" y="5389"/>
                  <a:pt x="16010" y="7598"/>
                  <a:pt x="16199" y="10442"/>
                </a:cubicBezTo>
                <a:lnTo>
                  <a:pt x="21576" y="10085"/>
                </a:lnTo>
                <a:cubicBezTo>
                  <a:pt x="21200" y="4410"/>
                  <a:pt x="16487" y="-1"/>
                  <a:pt x="10799" y="0"/>
                </a:cubicBezTo>
                <a:cubicBezTo>
                  <a:pt x="5112" y="0"/>
                  <a:pt x="399" y="4410"/>
                  <a:pt x="23" y="10085"/>
                </a:cubicBezTo>
                <a:lnTo>
                  <a:pt x="5400" y="10442"/>
                </a:lnTo>
                <a:close/>
              </a:path>
            </a:pathLst>
          </a:custGeom>
          <a:gradFill>
            <a:gsLst>
              <a:gs pos="0">
                <a:srgbClr val="FF3399"/>
              </a:gs>
              <a:gs pos="25000">
                <a:srgbClr val="FF6633"/>
              </a:gs>
              <a:gs pos="50000">
                <a:srgbClr val="FFFF00"/>
              </a:gs>
              <a:gs pos="75000">
                <a:srgbClr val="01A78F"/>
              </a:gs>
              <a:gs pos="100000">
                <a:srgbClr val="3366FF"/>
              </a:gs>
            </a:gsLst>
            <a:lin ang="5400000" scaled="0"/>
          </a:gradFill>
          <a:ln cap="flat" cmpd="sng" w="9525">
            <a:solidFill>
              <a:schemeClr val="dk1"/>
            </a:solidFill>
            <a:prstDash val="solid"/>
            <a:miter lim="524288"/>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50" name="Google Shape;150;p31"/>
          <p:cNvSpPr/>
          <p:nvPr/>
        </p:nvSpPr>
        <p:spPr>
          <a:xfrm>
            <a:off x="3276600" y="2781300"/>
            <a:ext cx="2879725" cy="2376487"/>
          </a:xfrm>
          <a:prstGeom prst="triangle">
            <a:avLst>
              <a:gd fmla="val 50000" name="adj"/>
            </a:avLst>
          </a:prstGeom>
          <a:solidFill>
            <a:srgbClr val="CC3300"/>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151" name="Google Shape;151;p31"/>
          <p:cNvSpPr txBox="1"/>
          <p:nvPr/>
        </p:nvSpPr>
        <p:spPr>
          <a:xfrm>
            <a:off x="4295775" y="3970337"/>
            <a:ext cx="919162" cy="4603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400"/>
              <a:buFont typeface="Arial"/>
              <a:buNone/>
            </a:pPr>
            <a:r>
              <a:rPr b="1" i="0" lang="en-US" sz="2400" u="none">
                <a:solidFill>
                  <a:schemeClr val="lt1"/>
                </a:solidFill>
                <a:latin typeface="Arial"/>
                <a:ea typeface="Arial"/>
                <a:cs typeface="Arial"/>
                <a:sym typeface="Arial"/>
              </a:rPr>
              <a:t>Triad</a:t>
            </a:r>
            <a:endParaRPr/>
          </a:p>
        </p:txBody>
      </p:sp>
      <p:sp>
        <p:nvSpPr>
          <p:cNvPr id="152" name="Google Shape;152;p31"/>
          <p:cNvSpPr txBox="1"/>
          <p:nvPr/>
        </p:nvSpPr>
        <p:spPr>
          <a:xfrm>
            <a:off x="2965450" y="1052512"/>
            <a:ext cx="3579812" cy="58578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3200"/>
              <a:buFont typeface="Arial"/>
              <a:buNone/>
            </a:pPr>
            <a:r>
              <a:rPr b="1" i="0" lang="en-US" sz="3200" u="none">
                <a:solidFill>
                  <a:schemeClr val="lt1"/>
                </a:solidFill>
                <a:latin typeface="Arial"/>
                <a:ea typeface="Arial"/>
                <a:cs typeface="Arial"/>
                <a:sym typeface="Arial"/>
              </a:rPr>
              <a:t>Autism</a:t>
            </a:r>
            <a:r>
              <a:rPr b="1" i="0" lang="en-US" sz="3200" u="none">
                <a:solidFill>
                  <a:schemeClr val="dk1"/>
                </a:solidFill>
                <a:latin typeface="Arial"/>
                <a:ea typeface="Arial"/>
                <a:cs typeface="Arial"/>
                <a:sym typeface="Arial"/>
              </a:rPr>
              <a:t> </a:t>
            </a:r>
            <a:r>
              <a:rPr b="1" i="0" lang="en-US" sz="3200" u="none">
                <a:solidFill>
                  <a:schemeClr val="lt1"/>
                </a:solidFill>
                <a:latin typeface="Arial"/>
                <a:ea typeface="Arial"/>
                <a:cs typeface="Arial"/>
                <a:sym typeface="Arial"/>
              </a:rPr>
              <a:t>Spectrum</a:t>
            </a:r>
            <a:endParaRPr/>
          </a:p>
        </p:txBody>
      </p:sp>
      <p:sp>
        <p:nvSpPr>
          <p:cNvPr id="153" name="Google Shape;153;p31"/>
          <p:cNvSpPr txBox="1"/>
          <p:nvPr/>
        </p:nvSpPr>
        <p:spPr>
          <a:xfrm>
            <a:off x="3995737" y="1928812"/>
            <a:ext cx="1765300" cy="70167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000"/>
              <a:buFont typeface="Calibri"/>
              <a:buNone/>
            </a:pPr>
            <a:r>
              <a:rPr b="1" i="0" lang="en-US" sz="2000" u="none">
                <a:solidFill>
                  <a:srgbClr val="000000"/>
                </a:solidFill>
                <a:latin typeface="Calibri"/>
                <a:ea typeface="Calibri"/>
                <a:cs typeface="Calibri"/>
                <a:sym typeface="Calibri"/>
              </a:rPr>
              <a:t>    </a:t>
            </a:r>
            <a:r>
              <a:rPr b="1" i="0" lang="en-US" sz="2000" u="none">
                <a:solidFill>
                  <a:srgbClr val="2F4C9D"/>
                </a:solidFill>
                <a:latin typeface="Calibri"/>
                <a:ea typeface="Calibri"/>
                <a:cs typeface="Calibri"/>
                <a:sym typeface="Calibri"/>
              </a:rPr>
              <a:t>Social Interaction</a:t>
            </a:r>
            <a:endParaRPr/>
          </a:p>
        </p:txBody>
      </p:sp>
      <p:sp>
        <p:nvSpPr>
          <p:cNvPr id="154" name="Google Shape;154;p31"/>
          <p:cNvSpPr txBox="1"/>
          <p:nvPr/>
        </p:nvSpPr>
        <p:spPr>
          <a:xfrm>
            <a:off x="6156325" y="4803775"/>
            <a:ext cx="2663825" cy="708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4C9D"/>
              </a:buClr>
              <a:buSzPts val="2000"/>
              <a:buFont typeface="Calibri"/>
              <a:buNone/>
            </a:pPr>
            <a:r>
              <a:rPr b="1" i="0" lang="en-US" sz="2000" u="none">
                <a:solidFill>
                  <a:srgbClr val="2F4C9D"/>
                </a:solidFill>
                <a:latin typeface="Calibri"/>
                <a:ea typeface="Calibri"/>
                <a:cs typeface="Calibri"/>
                <a:sym typeface="Calibri"/>
              </a:rPr>
              <a:t> Social Imagination /</a:t>
            </a:r>
            <a:endParaRPr/>
          </a:p>
          <a:p>
            <a:pPr indent="0" lvl="0" marL="0" marR="0" rtl="0" algn="l">
              <a:lnSpc>
                <a:spcPct val="100000"/>
              </a:lnSpc>
              <a:spcBef>
                <a:spcPts val="0"/>
              </a:spcBef>
              <a:spcAft>
                <a:spcPts val="0"/>
              </a:spcAft>
              <a:buClr>
                <a:srgbClr val="2F4C9D"/>
              </a:buClr>
              <a:buSzPts val="2000"/>
              <a:buFont typeface="Calibri"/>
              <a:buNone/>
            </a:pPr>
            <a:r>
              <a:rPr b="1" i="0" lang="en-US" sz="2000" u="none">
                <a:solidFill>
                  <a:srgbClr val="2F4C9D"/>
                </a:solidFill>
                <a:latin typeface="Calibri"/>
                <a:ea typeface="Calibri"/>
                <a:cs typeface="Calibri"/>
                <a:sym typeface="Calibri"/>
              </a:rPr>
              <a:t>Flexibility of thought</a:t>
            </a:r>
            <a:endParaRPr/>
          </a:p>
        </p:txBody>
      </p:sp>
      <p:sp>
        <p:nvSpPr>
          <p:cNvPr id="155" name="Google Shape;155;p31"/>
          <p:cNvSpPr txBox="1"/>
          <p:nvPr/>
        </p:nvSpPr>
        <p:spPr>
          <a:xfrm>
            <a:off x="1349375" y="4806950"/>
            <a:ext cx="2232025" cy="708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F4C9D"/>
              </a:buClr>
              <a:buSzPts val="2000"/>
              <a:buFont typeface="Calibri"/>
              <a:buNone/>
            </a:pPr>
            <a:r>
              <a:rPr b="1" i="0" lang="en-US" sz="2000" u="none">
                <a:solidFill>
                  <a:srgbClr val="2F4C9D"/>
                </a:solidFill>
                <a:latin typeface="Calibri"/>
                <a:ea typeface="Calibri"/>
                <a:cs typeface="Calibri"/>
                <a:sym typeface="Calibri"/>
              </a:rPr>
              <a:t>     Social Communication</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9" name="Shape 159"/>
        <p:cNvGrpSpPr/>
        <p:nvPr/>
      </p:nvGrpSpPr>
      <p:grpSpPr>
        <a:xfrm>
          <a:off x="0" y="0"/>
          <a:ext cx="0" cy="0"/>
          <a:chOff x="0" y="0"/>
          <a:chExt cx="0" cy="0"/>
        </a:xfrm>
      </p:grpSpPr>
      <p:sp>
        <p:nvSpPr>
          <p:cNvPr id="160" name="Google Shape;160;p32"/>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Social interaction </a:t>
            </a:r>
            <a:endParaRPr/>
          </a:p>
        </p:txBody>
      </p:sp>
      <p:sp>
        <p:nvSpPr>
          <p:cNvPr id="161" name="Google Shape;161;p32"/>
          <p:cNvSpPr txBox="1"/>
          <p:nvPr>
            <p:ph idx="4294967295" type="body"/>
          </p:nvPr>
        </p:nvSpPr>
        <p:spPr>
          <a:xfrm>
            <a:off x="684212" y="1628775"/>
            <a:ext cx="8077200" cy="3810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Experience difficulty with social relationships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May appear aloof and indifferent to other people</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May enjoy certain forms of physical contact</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Contact may appear odd, inappropriate and repetitive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Less ‘severe’ may passively accept social contact</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5" name="Shape 165"/>
        <p:cNvGrpSpPr/>
        <p:nvPr/>
      </p:nvGrpSpPr>
      <p:grpSpPr>
        <a:xfrm>
          <a:off x="0" y="0"/>
          <a:ext cx="0" cy="0"/>
          <a:chOff x="0" y="0"/>
          <a:chExt cx="0" cy="0"/>
        </a:xfrm>
      </p:grpSpPr>
      <p:sp>
        <p:nvSpPr>
          <p:cNvPr id="166" name="Google Shape;166;p33"/>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Social communication </a:t>
            </a:r>
            <a:endParaRPr/>
          </a:p>
        </p:txBody>
      </p:sp>
      <p:sp>
        <p:nvSpPr>
          <p:cNvPr id="167" name="Google Shape;167;p33"/>
          <p:cNvSpPr txBox="1"/>
          <p:nvPr>
            <p:ph idx="4294967295" type="body"/>
          </p:nvPr>
        </p:nvSpPr>
        <p:spPr>
          <a:xfrm>
            <a:off x="827087" y="1557337"/>
            <a:ext cx="8029575" cy="3629025"/>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 continuum of difficulties from no language to a lot of speech, which they use to talk “at” others e.g. lack of:</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Gesture, facial expression, tone of voice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Appreciation of the social uses of language</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Understanding that language is a tool for conveying information</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1" name="Shape 171"/>
        <p:cNvGrpSpPr/>
        <p:nvPr/>
      </p:nvGrpSpPr>
      <p:grpSpPr>
        <a:xfrm>
          <a:off x="0" y="0"/>
          <a:ext cx="0" cy="0"/>
          <a:chOff x="0" y="0"/>
          <a:chExt cx="0" cy="0"/>
        </a:xfrm>
      </p:grpSpPr>
      <p:sp>
        <p:nvSpPr>
          <p:cNvPr id="172" name="Google Shape;172;p34"/>
          <p:cNvSpPr txBox="1"/>
          <p:nvPr>
            <p:ph idx="4294967295" type="title"/>
          </p:nvPr>
        </p:nvSpPr>
        <p:spPr>
          <a:xfrm>
            <a:off x="611187"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Imagination/ Flexibility of Thought </a:t>
            </a:r>
            <a:endParaRPr/>
          </a:p>
        </p:txBody>
      </p:sp>
      <p:sp>
        <p:nvSpPr>
          <p:cNvPr id="173" name="Google Shape;173;p34"/>
          <p:cNvSpPr txBox="1"/>
          <p:nvPr>
            <p:ph idx="4294967295" type="body"/>
          </p:nvPr>
        </p:nvSpPr>
        <p:spPr>
          <a:xfrm>
            <a:off x="971550" y="1628775"/>
            <a:ext cx="7777162" cy="2874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Difficulty in the development of play and</a:t>
            </a:r>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imagination</a:t>
            </a:r>
            <a:endParaRPr/>
          </a:p>
          <a:p>
            <a:pPr indent="-285750" lvl="1" marL="742950"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Limited range of imaginative activities, possibly copied and pursued rigidly and repetitively</a:t>
            </a:r>
            <a:endParaRPr/>
          </a:p>
          <a:p>
            <a:pPr indent="-285750" lvl="1" marL="742950" marR="0" rtl="0" algn="l">
              <a:lnSpc>
                <a:spcPct val="100000"/>
              </a:lnSpc>
              <a:spcBef>
                <a:spcPts val="560"/>
              </a:spcBef>
              <a:spcAft>
                <a:spcPts val="0"/>
              </a:spcAft>
              <a:buClr>
                <a:schemeClr val="dk1"/>
              </a:buClr>
              <a:buSzPts val="2800"/>
              <a:buFont typeface="Noto Sans Symbols"/>
              <a:buChar char="▪"/>
            </a:pPr>
            <a:r>
              <a:rPr b="0" i="0" lang="en-US" sz="2800" u="none" cap="none" strike="noStrike">
                <a:solidFill>
                  <a:schemeClr val="dk1"/>
                </a:solidFill>
                <a:latin typeface="Calibri"/>
                <a:ea typeface="Calibri"/>
                <a:cs typeface="Calibri"/>
                <a:sym typeface="Calibri"/>
              </a:rPr>
              <a:t>Attending to minor or trivial aspects </a:t>
            </a:r>
            <a:endParaRPr/>
          </a:p>
          <a:p>
            <a:pPr indent="-165100" lvl="0" marL="342900" marR="0" rtl="0" algn="l">
              <a:spcBef>
                <a:spcPts val="560"/>
              </a:spcBef>
              <a:spcAft>
                <a:spcPts val="0"/>
              </a:spcAft>
              <a:buClr>
                <a:schemeClr val="dk1"/>
              </a:buClr>
              <a:buSzPts val="2800"/>
              <a:buFont typeface="Arial"/>
              <a:buNone/>
            </a:pPr>
            <a:r>
              <a:t/>
            </a:r>
            <a:endParaRPr b="0" i="0" sz="2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7" name="Shape 177"/>
        <p:cNvGrpSpPr/>
        <p:nvPr/>
      </p:nvGrpSpPr>
      <p:grpSpPr>
        <a:xfrm>
          <a:off x="0" y="0"/>
          <a:ext cx="0" cy="0"/>
          <a:chOff x="0" y="0"/>
          <a:chExt cx="0" cy="0"/>
        </a:xfrm>
      </p:grpSpPr>
      <p:sp>
        <p:nvSpPr>
          <p:cNvPr id="178" name="Google Shape;178;p35"/>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ASC traits</a:t>
            </a:r>
            <a:endParaRPr/>
          </a:p>
        </p:txBody>
      </p:sp>
      <p:sp>
        <p:nvSpPr>
          <p:cNvPr id="179" name="Google Shape;179;p35"/>
          <p:cNvSpPr txBox="1"/>
          <p:nvPr>
            <p:ph idx="4294967295" type="body"/>
          </p:nvPr>
        </p:nvSpPr>
        <p:spPr>
          <a:xfrm>
            <a:off x="611187" y="1628775"/>
            <a:ext cx="8229600" cy="3773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Many individuals with an ASC have other traits, including differences in sensory processing</a:t>
            </a:r>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Each person with an ASC is an individual with areas of strength and weaknesses – just like all of us</a:t>
            </a:r>
            <a:endParaRPr/>
          </a:p>
          <a:p>
            <a:pPr indent="-342900" lvl="0" marL="342900" marR="0" rtl="0" algn="l">
              <a:lnSpc>
                <a:spcPct val="100000"/>
              </a:lnSpc>
              <a:spcBef>
                <a:spcPts val="480"/>
              </a:spcBef>
              <a:spcAft>
                <a:spcPts val="0"/>
              </a:spcAft>
              <a:buClr>
                <a:schemeClr val="dk1"/>
              </a:buClr>
              <a:buSzPts val="2400"/>
              <a:buFont typeface="Arial"/>
              <a:buNone/>
            </a:pPr>
            <a:r>
              <a:rPr b="0" i="1" lang="en-US" sz="2400" u="none">
                <a:solidFill>
                  <a:schemeClr val="dk1"/>
                </a:solidFill>
                <a:latin typeface="Calibri"/>
                <a:ea typeface="Calibri"/>
                <a:cs typeface="Calibri"/>
                <a:sym typeface="Calibri"/>
              </a:rPr>
              <a:t>“The neurotypical cave dwellers may have enjoyed partying in the cave mouth, but we also owe something to the person who persisted in banging the stones together at the back of the cave”</a:t>
            </a:r>
            <a:r>
              <a:rPr b="0" i="0" lang="en-US" sz="2400" u="none">
                <a:solidFill>
                  <a:schemeClr val="dk1"/>
                </a:solidFill>
                <a:latin typeface="Calibri"/>
                <a:ea typeface="Calibri"/>
                <a:cs typeface="Calibri"/>
                <a:sym typeface="Calibri"/>
              </a:rPr>
              <a:t> </a:t>
            </a:r>
            <a:endParaRPr/>
          </a:p>
          <a:p>
            <a:pPr indent="-342900" lvl="0" marL="34290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(Derbyshire File for Autism Friendly Schools)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3" name="Shape 183"/>
        <p:cNvGrpSpPr/>
        <p:nvPr/>
      </p:nvGrpSpPr>
      <p:grpSpPr>
        <a:xfrm>
          <a:off x="0" y="0"/>
          <a:ext cx="0" cy="0"/>
          <a:chOff x="0" y="0"/>
          <a:chExt cx="0" cy="0"/>
        </a:xfrm>
      </p:grpSpPr>
      <p:sp>
        <p:nvSpPr>
          <p:cNvPr id="184" name="Google Shape;184;p36"/>
          <p:cNvSpPr txBox="1"/>
          <p:nvPr>
            <p:ph idx="4294967295" type="title"/>
          </p:nvPr>
        </p:nvSpPr>
        <p:spPr>
          <a:xfrm>
            <a:off x="539750" y="26035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ASC Strengths include…</a:t>
            </a:r>
            <a:endParaRPr/>
          </a:p>
        </p:txBody>
      </p:sp>
      <p:sp>
        <p:nvSpPr>
          <p:cNvPr id="185" name="Google Shape;185;p36"/>
          <p:cNvSpPr txBox="1"/>
          <p:nvPr>
            <p:ph idx="4294967295" type="body"/>
          </p:nvPr>
        </p:nvSpPr>
        <p:spPr>
          <a:xfrm>
            <a:off x="539750" y="1628775"/>
            <a:ext cx="8316912" cy="39163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An unusually good memory for facts</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focus on a narrow range of interests, meaning they are well informed on some topics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Skills in ICT, Maths, Science, technology</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 determination to complete tasks to a high standard</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Complying with rules (e.g. punctuality) </a:t>
            </a:r>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Honesty – even at the cost of social popularity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9" name="Shape 189"/>
        <p:cNvGrpSpPr/>
        <p:nvPr/>
      </p:nvGrpSpPr>
      <p:grpSpPr>
        <a:xfrm>
          <a:off x="0" y="0"/>
          <a:ext cx="0" cy="0"/>
          <a:chOff x="0" y="0"/>
          <a:chExt cx="0" cy="0"/>
        </a:xfrm>
      </p:grpSpPr>
      <p:sp>
        <p:nvSpPr>
          <p:cNvPr id="190" name="Google Shape;190;p3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The Triangle Test</a:t>
            </a:r>
            <a:endParaRPr/>
          </a:p>
        </p:txBody>
      </p:sp>
      <p:pic>
        <p:nvPicPr>
          <p:cNvPr id="191" name="Google Shape;191;p37"/>
          <p:cNvPicPr preferRelativeResize="0"/>
          <p:nvPr>
            <p:ph idx="4294967295" type="body"/>
          </p:nvPr>
        </p:nvPicPr>
        <p:blipFill rotWithShape="1">
          <a:blip r:embed="rId3">
            <a:alphaModFix/>
          </a:blip>
          <a:srcRect b="0" l="0" r="0" t="0"/>
          <a:stretch/>
        </p:blipFill>
        <p:spPr>
          <a:xfrm>
            <a:off x="2700337" y="1425575"/>
            <a:ext cx="4229100" cy="2886075"/>
          </a:xfrm>
          <a:prstGeom prst="rect">
            <a:avLst/>
          </a:prstGeom>
          <a:noFill/>
          <a:ln>
            <a:noFill/>
          </a:ln>
        </p:spPr>
      </p:pic>
      <p:sp>
        <p:nvSpPr>
          <p:cNvPr id="192" name="Google Shape;192;p37"/>
          <p:cNvSpPr txBox="1"/>
          <p:nvPr/>
        </p:nvSpPr>
        <p:spPr>
          <a:xfrm>
            <a:off x="1116012" y="4451350"/>
            <a:ext cx="6840537" cy="461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sng">
                <a:solidFill>
                  <a:schemeClr val="hlink"/>
                </a:solidFill>
                <a:latin typeface="Arial"/>
                <a:ea typeface="Arial"/>
                <a:cs typeface="Arial"/>
                <a:sym typeface="Arial"/>
                <a:hlinkClick r:id="rId4"/>
              </a:rPr>
              <a:t>http://www.youtube.com/watch?v=xbRLorMbprU</a:t>
            </a:r>
            <a:r>
              <a:rPr b="0" i="0" lang="en-US" sz="2400" u="none">
                <a:solidFill>
                  <a:schemeClr val="dk1"/>
                </a:solidFill>
                <a:latin typeface="Arial"/>
                <a:ea typeface="Arial"/>
                <a:cs typeface="Arial"/>
                <a:sym typeface="Arial"/>
              </a:rPr>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96" name="Shape 196"/>
        <p:cNvGrpSpPr/>
        <p:nvPr/>
      </p:nvGrpSpPr>
      <p:grpSpPr>
        <a:xfrm>
          <a:off x="0" y="0"/>
          <a:ext cx="0" cy="0"/>
          <a:chOff x="0" y="0"/>
          <a:chExt cx="0" cy="0"/>
        </a:xfrm>
      </p:grpSpPr>
      <p:sp>
        <p:nvSpPr>
          <p:cNvPr id="197" name="Google Shape;197;p38"/>
          <p:cNvSpPr txBox="1"/>
          <p:nvPr>
            <p:ph idx="4294967295" type="title"/>
          </p:nvPr>
        </p:nvSpPr>
        <p:spPr>
          <a:xfrm>
            <a:off x="684212" y="260350"/>
            <a:ext cx="7812087" cy="12096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Autism and Asperger Syndrome</a:t>
            </a:r>
            <a:endParaRPr/>
          </a:p>
        </p:txBody>
      </p:sp>
      <p:sp>
        <p:nvSpPr>
          <p:cNvPr id="198" name="Google Shape;198;p38"/>
          <p:cNvSpPr txBox="1"/>
          <p:nvPr>
            <p:ph idx="4294967295" type="body"/>
          </p:nvPr>
        </p:nvSpPr>
        <p:spPr>
          <a:xfrm>
            <a:off x="773112" y="1700212"/>
            <a:ext cx="7632700" cy="23764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See handout…</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Any questions or things you’d like to discuss so far? </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2" name="Shape 202"/>
        <p:cNvGrpSpPr/>
        <p:nvPr/>
      </p:nvGrpSpPr>
      <p:grpSpPr>
        <a:xfrm>
          <a:off x="0" y="0"/>
          <a:ext cx="0" cy="0"/>
          <a:chOff x="0" y="0"/>
          <a:chExt cx="0" cy="0"/>
        </a:xfrm>
      </p:grpSpPr>
      <p:sp>
        <p:nvSpPr>
          <p:cNvPr id="203" name="Google Shape;203;p39"/>
          <p:cNvSpPr txBox="1"/>
          <p:nvPr>
            <p:ph idx="4294967295" type="title"/>
          </p:nvPr>
        </p:nvSpPr>
        <p:spPr>
          <a:xfrm>
            <a:off x="827087" y="404812"/>
            <a:ext cx="7596187" cy="12096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a:t>
            </a:r>
            <a:r>
              <a:rPr b="0" i="0" lang="en-US" sz="4400" u="sng" cap="none" strike="noStrike">
                <a:solidFill>
                  <a:schemeClr val="dk1"/>
                </a:solidFill>
                <a:latin typeface="Calibri"/>
                <a:ea typeface="Calibri"/>
                <a:cs typeface="Calibri"/>
                <a:sym typeface="Calibri"/>
              </a:rPr>
              <a:t>Communication</a:t>
            </a:r>
            <a:r>
              <a:rPr b="0" i="0" lang="en-US" sz="4400" u="none" cap="none" strike="noStrike">
                <a:solidFill>
                  <a:schemeClr val="dk1"/>
                </a:solidFill>
                <a:latin typeface="Calibri"/>
                <a:ea typeface="Calibri"/>
                <a:cs typeface="Calibri"/>
                <a:sym typeface="Calibri"/>
              </a:rPr>
              <a:t>? </a:t>
            </a:r>
            <a:endParaRPr/>
          </a:p>
        </p:txBody>
      </p:sp>
      <p:sp>
        <p:nvSpPr>
          <p:cNvPr id="204" name="Google Shape;204;p39"/>
          <p:cNvSpPr txBox="1"/>
          <p:nvPr>
            <p:ph idx="4294967295" type="body"/>
          </p:nvPr>
        </p:nvSpPr>
        <p:spPr>
          <a:xfrm>
            <a:off x="1403350" y="1989137"/>
            <a:ext cx="7380287" cy="21891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Clip “Four Candles” </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 pairs, what’s really going on here?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08" name="Shape 208"/>
        <p:cNvGrpSpPr/>
        <p:nvPr/>
      </p:nvGrpSpPr>
      <p:grpSpPr>
        <a:xfrm>
          <a:off x="0" y="0"/>
          <a:ext cx="0" cy="0"/>
          <a:chOff x="0" y="0"/>
          <a:chExt cx="0" cy="0"/>
        </a:xfrm>
      </p:grpSpPr>
      <p:sp>
        <p:nvSpPr>
          <p:cNvPr id="209" name="Google Shape;209;p40"/>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What is communication? </a:t>
            </a:r>
            <a:endParaRPr/>
          </a:p>
        </p:txBody>
      </p:sp>
      <p:sp>
        <p:nvSpPr>
          <p:cNvPr id="210" name="Google Shape;210;p40"/>
          <p:cNvSpPr txBox="1"/>
          <p:nvPr>
            <p:ph idx="4294967295" type="body"/>
          </p:nvPr>
        </p:nvSpPr>
        <p:spPr>
          <a:xfrm>
            <a:off x="827087" y="1628775"/>
            <a:ext cx="7681912" cy="30972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1" lang="en-US" sz="3200" u="none">
                <a:solidFill>
                  <a:schemeClr val="dk1"/>
                </a:solidFill>
                <a:latin typeface="Calibri"/>
                <a:ea typeface="Calibri"/>
                <a:cs typeface="Calibri"/>
                <a:sym typeface="Calibri"/>
              </a:rPr>
              <a:t>“the imparting or exchanging of information by speaking, writing, or using some other medium”</a:t>
            </a:r>
            <a:endParaRPr/>
          </a:p>
          <a:p>
            <a:pPr indent="-139700" lvl="0" marL="34290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So: </a:t>
            </a:r>
            <a:r>
              <a:rPr b="0" i="0" lang="en-US" sz="3200" u="sng">
                <a:solidFill>
                  <a:schemeClr val="dk1"/>
                </a:solidFill>
                <a:latin typeface="Calibri"/>
                <a:ea typeface="Calibri"/>
                <a:cs typeface="Calibri"/>
                <a:sym typeface="Calibri"/>
              </a:rPr>
              <a:t>Why do we communicate</a:t>
            </a:r>
            <a:r>
              <a:rPr b="0" i="0" lang="en-US" sz="3200" u="none">
                <a:solidFill>
                  <a:schemeClr val="dk1"/>
                </a:solidFill>
                <a:latin typeface="Calibri"/>
                <a:ea typeface="Calibri"/>
                <a:cs typeface="Calibri"/>
                <a:sym typeface="Calibri"/>
              </a:rPr>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14" name="Shape 214"/>
        <p:cNvGrpSpPr/>
        <p:nvPr/>
      </p:nvGrpSpPr>
      <p:grpSpPr>
        <a:xfrm>
          <a:off x="0" y="0"/>
          <a:ext cx="0" cy="0"/>
          <a:chOff x="0" y="0"/>
          <a:chExt cx="0" cy="0"/>
        </a:xfrm>
      </p:grpSpPr>
      <p:sp>
        <p:nvSpPr>
          <p:cNvPr id="215" name="Google Shape;215;p41"/>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Why do we communicate? 		</a:t>
            </a:r>
            <a:endParaRPr/>
          </a:p>
        </p:txBody>
      </p:sp>
      <p:sp>
        <p:nvSpPr>
          <p:cNvPr id="216" name="Google Shape;216;p41"/>
          <p:cNvSpPr txBox="1"/>
          <p:nvPr>
            <p:ph idx="4294967295" type="body"/>
          </p:nvPr>
        </p:nvSpPr>
        <p:spPr>
          <a:xfrm>
            <a:off x="684212" y="1628775"/>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Examples might include: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respond to someone else (“yes please”)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request something we need (“a drink”)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protest, refuse or complain (“no!”)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think and plan (“I think we should…”)</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comment on something (“nice shirt, Tom”)</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give or seek information (“who are you?”</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To share ideas or feelings (“I feel sad”)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0" name="Shape 220"/>
        <p:cNvGrpSpPr/>
        <p:nvPr/>
      </p:nvGrpSpPr>
      <p:grpSpPr>
        <a:xfrm>
          <a:off x="0" y="0"/>
          <a:ext cx="0" cy="0"/>
          <a:chOff x="0" y="0"/>
          <a:chExt cx="0" cy="0"/>
        </a:xfrm>
      </p:grpSpPr>
      <p:sp>
        <p:nvSpPr>
          <p:cNvPr id="221" name="Google Shape;221;p42"/>
          <p:cNvSpPr txBox="1"/>
          <p:nvPr>
            <p:ph idx="4294967295" type="title"/>
          </p:nvPr>
        </p:nvSpPr>
        <p:spPr>
          <a:xfrm>
            <a:off x="611187" y="333375"/>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Adjusting our communication </a:t>
            </a:r>
            <a:endParaRPr/>
          </a:p>
        </p:txBody>
      </p:sp>
      <p:sp>
        <p:nvSpPr>
          <p:cNvPr id="222" name="Google Shape;222;p42"/>
          <p:cNvSpPr txBox="1"/>
          <p:nvPr>
            <p:ph idx="4294967295" type="body"/>
          </p:nvPr>
        </p:nvSpPr>
        <p:spPr>
          <a:xfrm>
            <a:off x="971550" y="1557337"/>
            <a:ext cx="8027987" cy="37719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See activity sheet </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What do we need to do to support young people on the autistic spectrum? </a:t>
            </a:r>
            <a:endParaRPr/>
          </a:p>
          <a:p>
            <a:pPr indent="-342900" lvl="0" marL="342900" marR="0" rtl="0" algn="l">
              <a:lnSpc>
                <a:spcPct val="100000"/>
              </a:lnSpc>
              <a:spcBef>
                <a:spcPts val="640"/>
              </a:spcBef>
              <a:spcAft>
                <a:spcPts val="0"/>
              </a:spcAft>
              <a:buClr>
                <a:schemeClr val="dk1"/>
              </a:buClr>
              <a:buSzPts val="3200"/>
              <a:buFont typeface="Noto Sans Symbols"/>
              <a:buChar char="▪"/>
            </a:pPr>
            <a:r>
              <a:rPr b="0" i="0" lang="en-US" sz="3200" u="none">
                <a:solidFill>
                  <a:schemeClr val="dk1"/>
                </a:solidFill>
                <a:latin typeface="Calibri"/>
                <a:ea typeface="Calibri"/>
                <a:cs typeface="Calibri"/>
                <a:sym typeface="Calibri"/>
              </a:rPr>
              <a:t>Think about both our expressive communication (what we say/ do) and our receptive skills (what we take in).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26" name="Shape 226"/>
        <p:cNvGrpSpPr/>
        <p:nvPr/>
      </p:nvGrpSpPr>
      <p:grpSpPr>
        <a:xfrm>
          <a:off x="0" y="0"/>
          <a:ext cx="0" cy="0"/>
          <a:chOff x="0" y="0"/>
          <a:chExt cx="0" cy="0"/>
        </a:xfrm>
      </p:grpSpPr>
      <p:sp>
        <p:nvSpPr>
          <p:cNvPr id="227" name="Google Shape;227;p43"/>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Adjusting our communication (1)</a:t>
            </a:r>
            <a:endParaRPr/>
          </a:p>
        </p:txBody>
      </p:sp>
      <p:sp>
        <p:nvSpPr>
          <p:cNvPr id="228" name="Google Shape;228;p43"/>
          <p:cNvSpPr txBox="1"/>
          <p:nvPr>
            <p:ph idx="4294967295" type="body"/>
          </p:nvPr>
        </p:nvSpPr>
        <p:spPr>
          <a:xfrm>
            <a:off x="900112" y="1700212"/>
            <a:ext cx="7739062" cy="3341687"/>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Reducing language</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Encouraging eye contact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Give time to process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Use the child’s name to get attention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Say things in the order they’ll happen</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2" name="Shape 232"/>
        <p:cNvGrpSpPr/>
        <p:nvPr/>
      </p:nvGrpSpPr>
      <p:grpSpPr>
        <a:xfrm>
          <a:off x="0" y="0"/>
          <a:ext cx="0" cy="0"/>
          <a:chOff x="0" y="0"/>
          <a:chExt cx="0" cy="0"/>
        </a:xfrm>
      </p:grpSpPr>
      <p:sp>
        <p:nvSpPr>
          <p:cNvPr id="233" name="Google Shape;233;p44"/>
          <p:cNvSpPr txBox="1"/>
          <p:nvPr>
            <p:ph idx="4294967295" type="title"/>
          </p:nvPr>
        </p:nvSpPr>
        <p:spPr>
          <a:xfrm>
            <a:off x="539750" y="40481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Adjusting our communication (2)</a:t>
            </a:r>
            <a:endParaRPr/>
          </a:p>
        </p:txBody>
      </p:sp>
      <p:sp>
        <p:nvSpPr>
          <p:cNvPr id="234" name="Google Shape;234;p44"/>
          <p:cNvSpPr txBox="1"/>
          <p:nvPr>
            <p:ph idx="4294967295" type="body"/>
          </p:nvPr>
        </p:nvSpPr>
        <p:spPr>
          <a:xfrm>
            <a:off x="539750" y="1628775"/>
            <a:ext cx="8229600" cy="3700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Use ‘then’ to help a child understand sequences</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Give choices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Tell the child what to do (be positive)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Use visuals </a:t>
            </a:r>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Use ‘finished’ so the child knows a task is over</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38" name="Shape 238"/>
        <p:cNvGrpSpPr/>
        <p:nvPr/>
      </p:nvGrpSpPr>
      <p:grpSpPr>
        <a:xfrm>
          <a:off x="0" y="0"/>
          <a:ext cx="0" cy="0"/>
          <a:chOff x="0" y="0"/>
          <a:chExt cx="0" cy="0"/>
        </a:xfrm>
      </p:grpSpPr>
      <p:sp>
        <p:nvSpPr>
          <p:cNvPr id="239" name="Google Shape;239;p45"/>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Quote</a:t>
            </a:r>
            <a:endParaRPr/>
          </a:p>
        </p:txBody>
      </p:sp>
      <p:sp>
        <p:nvSpPr>
          <p:cNvPr id="240" name="Google Shape;240;p45"/>
          <p:cNvSpPr txBox="1"/>
          <p:nvPr>
            <p:ph idx="4294967295" type="body"/>
          </p:nvPr>
        </p:nvSpPr>
        <p:spPr>
          <a:xfrm>
            <a:off x="684212" y="1449387"/>
            <a:ext cx="8077200" cy="38100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“In the past I used to ask the same questions over and over and I used to drive my parents crazy by doing that!  I wanted to hear the same answer over and over because I was never sure of anything…….I wanted an exact answer to everything: </a:t>
            </a:r>
            <a:r>
              <a:rPr b="0" i="0" lang="en-US" sz="3200" u="sng">
                <a:solidFill>
                  <a:schemeClr val="dk1"/>
                </a:solidFill>
                <a:latin typeface="Calibri"/>
                <a:ea typeface="Calibri"/>
                <a:cs typeface="Calibri"/>
                <a:sym typeface="Calibri"/>
              </a:rPr>
              <a:t>uncertainty used to drive me crazy</a:t>
            </a:r>
            <a:r>
              <a:rPr b="0" i="0" lang="en-US" sz="3200" u="none">
                <a:solidFill>
                  <a:schemeClr val="dk1"/>
                </a:solidFill>
                <a:latin typeface="Calibri"/>
                <a:ea typeface="Calibri"/>
                <a:cs typeface="Calibri"/>
                <a:sym typeface="Calibri"/>
              </a:rPr>
              <a:t>.”</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(Paul McDonnell)</a:t>
            </a:r>
            <a:endParaRPr/>
          </a:p>
          <a:p>
            <a:pPr indent="-139700" lvl="0" marL="342900" marR="0" rtl="0" algn="l">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44" name="Shape 244"/>
        <p:cNvGrpSpPr/>
        <p:nvPr/>
      </p:nvGrpSpPr>
      <p:grpSpPr>
        <a:xfrm>
          <a:off x="0" y="0"/>
          <a:ext cx="0" cy="0"/>
          <a:chOff x="0" y="0"/>
          <a:chExt cx="0" cy="0"/>
        </a:xfrm>
      </p:grpSpPr>
      <p:sp>
        <p:nvSpPr>
          <p:cNvPr id="245" name="Google Shape;245;p46"/>
          <p:cNvSpPr txBox="1"/>
          <p:nvPr>
            <p:ph idx="4294967295" type="title"/>
          </p:nvPr>
        </p:nvSpPr>
        <p:spPr>
          <a:xfrm>
            <a:off x="0" y="28575"/>
            <a:ext cx="9144000" cy="5921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Visual approaches	</a:t>
            </a:r>
            <a:endParaRPr/>
          </a:p>
        </p:txBody>
      </p:sp>
      <p:pic>
        <p:nvPicPr>
          <p:cNvPr id="246" name="Google Shape;246;p46"/>
          <p:cNvPicPr preferRelativeResize="0"/>
          <p:nvPr/>
        </p:nvPicPr>
        <p:blipFill rotWithShape="1">
          <a:blip r:embed="rId3">
            <a:alphaModFix/>
          </a:blip>
          <a:srcRect b="0" l="0" r="0" t="0"/>
          <a:stretch/>
        </p:blipFill>
        <p:spPr>
          <a:xfrm>
            <a:off x="179387" y="620712"/>
            <a:ext cx="8731250" cy="6100762"/>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0" name="Shape 250"/>
        <p:cNvGrpSpPr/>
        <p:nvPr/>
      </p:nvGrpSpPr>
      <p:grpSpPr>
        <a:xfrm>
          <a:off x="0" y="0"/>
          <a:ext cx="0" cy="0"/>
          <a:chOff x="0" y="0"/>
          <a:chExt cx="0" cy="0"/>
        </a:xfrm>
      </p:grpSpPr>
      <p:sp>
        <p:nvSpPr>
          <p:cNvPr id="251" name="Google Shape;251;p47"/>
          <p:cNvSpPr txBox="1"/>
          <p:nvPr>
            <p:ph idx="4294967295" type="title"/>
          </p:nvPr>
        </p:nvSpPr>
        <p:spPr>
          <a:xfrm>
            <a:off x="468312" y="40481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Autism and the Senses</a:t>
            </a:r>
            <a:endParaRPr/>
          </a:p>
        </p:txBody>
      </p:sp>
      <p:sp>
        <p:nvSpPr>
          <p:cNvPr id="252" name="Google Shape;252;p47"/>
          <p:cNvSpPr txBox="1"/>
          <p:nvPr>
            <p:ph idx="4294967295" type="body"/>
          </p:nvPr>
        </p:nvSpPr>
        <p:spPr>
          <a:xfrm>
            <a:off x="1403350" y="1916112"/>
            <a:ext cx="6553200" cy="266541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People with autism spectrum conditions often present unusual responses to sensory stimuli, such as light, sound, touch etc. If these sensory behaviours are not understood, then they can appear as </a:t>
            </a:r>
            <a:r>
              <a:rPr b="0" i="0" lang="en-US" sz="2800" u="sng">
                <a:solidFill>
                  <a:schemeClr val="dk1"/>
                </a:solidFill>
                <a:latin typeface="Calibri"/>
                <a:ea typeface="Calibri"/>
                <a:cs typeface="Calibri"/>
                <a:sym typeface="Calibri"/>
              </a:rPr>
              <a:t>challenging behaviour</a:t>
            </a:r>
            <a:r>
              <a:rPr b="0" i="0" lang="en-US" sz="2800" u="none">
                <a:solidFill>
                  <a:schemeClr val="dk1"/>
                </a:solidFill>
                <a:latin typeface="Calibri"/>
                <a:ea typeface="Calibri"/>
                <a:cs typeface="Calibri"/>
                <a:sym typeface="Calibri"/>
              </a:rPr>
              <a:t>.</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56" name="Shape 256"/>
        <p:cNvGrpSpPr/>
        <p:nvPr/>
      </p:nvGrpSpPr>
      <p:grpSpPr>
        <a:xfrm>
          <a:off x="0" y="0"/>
          <a:ext cx="0" cy="0"/>
          <a:chOff x="0" y="0"/>
          <a:chExt cx="0" cy="0"/>
        </a:xfrm>
      </p:grpSpPr>
      <p:sp>
        <p:nvSpPr>
          <p:cNvPr id="257" name="Google Shape;257;p48"/>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Autism and the Senses</a:t>
            </a:r>
            <a:endParaRPr/>
          </a:p>
        </p:txBody>
      </p:sp>
      <p:sp>
        <p:nvSpPr>
          <p:cNvPr id="258" name="Google Shape;258;p48"/>
          <p:cNvSpPr txBox="1"/>
          <p:nvPr>
            <p:ph idx="4294967295" type="body"/>
          </p:nvPr>
        </p:nvSpPr>
        <p:spPr>
          <a:xfrm>
            <a:off x="468312" y="1557337"/>
            <a:ext cx="8170862" cy="40608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0" i="1" lang="en-US" sz="2000" u="none">
                <a:solidFill>
                  <a:schemeClr val="dk1"/>
                </a:solidFill>
                <a:latin typeface="Calibri"/>
                <a:ea typeface="Calibri"/>
                <a:cs typeface="Calibri"/>
                <a:sym typeface="Calibri"/>
              </a:rPr>
              <a:t>“Turn on the radio, but do not tune it. Leave it on static and fuzz. Turn it up. Ask someone to turn the lights on and off. Strap yourself into a broken chair that is missing a leg and use a table that is off balance-you know the ones in restaurants that makes us all so mad. Now put on some scratchy lace in place of a comfortable T-shirt, put your pants on backwards and wear shoes one size too small. Pour a bowl of grated Parmesan cheese, open a can of sardines and bring the cat box to the table. Now snack on your least favourite food, the one you never eat because it comes with a gag reflex. With all this in place, pick up a new book and learn something new!”</a:t>
            </a:r>
            <a:endParaRPr/>
          </a:p>
          <a:p>
            <a:pPr indent="0" lvl="0" marL="0" marR="0" rtl="0" algn="l">
              <a:lnSpc>
                <a:spcPct val="100000"/>
              </a:lnSpc>
              <a:spcBef>
                <a:spcPts val="360"/>
              </a:spcBef>
              <a:spcAft>
                <a:spcPts val="0"/>
              </a:spcAft>
              <a:buClr>
                <a:schemeClr val="dk1"/>
              </a:buClr>
              <a:buSzPts val="1800"/>
              <a:buFont typeface="Arial"/>
              <a:buNone/>
            </a:pPr>
            <a:r>
              <a:t/>
            </a:r>
            <a:endParaRPr b="0" i="0" sz="1800" u="none">
              <a:solidFill>
                <a:schemeClr val="dk1"/>
              </a:solidFill>
              <a:latin typeface="Calibri"/>
              <a:ea typeface="Calibri"/>
              <a:cs typeface="Calibri"/>
              <a:sym typeface="Calibri"/>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(http://mywebpages.comcast.net/momtofive/SIDWEBPAGE2.htm#Integration)</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2" name="Shape 262"/>
        <p:cNvGrpSpPr/>
        <p:nvPr/>
      </p:nvGrpSpPr>
      <p:grpSpPr>
        <a:xfrm>
          <a:off x="0" y="0"/>
          <a:ext cx="0" cy="0"/>
          <a:chOff x="0" y="0"/>
          <a:chExt cx="0" cy="0"/>
        </a:xfrm>
      </p:grpSpPr>
      <p:sp>
        <p:nvSpPr>
          <p:cNvPr id="263" name="Google Shape;263;p49"/>
          <p:cNvSpPr txBox="1"/>
          <p:nvPr>
            <p:ph idx="4294967295" type="title"/>
          </p:nvPr>
        </p:nvSpPr>
        <p:spPr>
          <a:xfrm>
            <a:off x="446087" y="333375"/>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600"/>
              <a:buFont typeface="Calibri"/>
              <a:buNone/>
            </a:pPr>
            <a:r>
              <a:rPr b="0" i="0" lang="en-US" sz="3600" u="none" cap="none" strike="noStrike">
                <a:solidFill>
                  <a:schemeClr val="lt1"/>
                </a:solidFill>
                <a:latin typeface="Calibri"/>
                <a:ea typeface="Calibri"/>
                <a:cs typeface="Calibri"/>
                <a:sym typeface="Calibri"/>
              </a:rPr>
              <a:t>Autism and the Senses – the 5 we </a:t>
            </a:r>
            <a:r>
              <a:rPr b="0" i="0" lang="en-US" sz="4400" u="none" cap="none" strike="noStrike">
                <a:solidFill>
                  <a:schemeClr val="lt1"/>
                </a:solidFill>
                <a:latin typeface="Calibri"/>
                <a:ea typeface="Calibri"/>
                <a:cs typeface="Calibri"/>
                <a:sym typeface="Calibri"/>
              </a:rPr>
              <a:t>know</a:t>
            </a:r>
            <a:endParaRPr/>
          </a:p>
        </p:txBody>
      </p:sp>
      <p:graphicFrame>
        <p:nvGraphicFramePr>
          <p:cNvPr id="264" name="Google Shape;264;p49"/>
          <p:cNvGraphicFramePr/>
          <p:nvPr/>
        </p:nvGraphicFramePr>
        <p:xfrm>
          <a:off x="250825" y="1557337"/>
          <a:ext cx="3000000" cy="3000000"/>
        </p:xfrm>
        <a:graphic>
          <a:graphicData uri="http://schemas.openxmlformats.org/drawingml/2006/table">
            <a:tbl>
              <a:tblPr>
                <a:noFill/>
                <a:tableStyleId>{1897546C-6431-4DE6-97EB-00AD0C81BA92}</a:tableStyleId>
              </a:tblPr>
              <a:tblGrid>
                <a:gridCol w="1987550"/>
                <a:gridCol w="1471600"/>
                <a:gridCol w="4965700"/>
              </a:tblGrid>
              <a:tr h="49052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System</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Location</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Function </a:t>
                      </a:r>
                      <a:endParaRPr/>
                    </a:p>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122712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Tactile (Touch)</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Skin</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Helps us to assess the environment we are in and enables us to react accordingly. It relates to touch, type of pressure, level of pain and distinguishing temperature.</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736600">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Visual (Sight)</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Retina of eye</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Helps us to define objects, people, colours, contrast and spatial boundaries</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56037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Auditory (Hearing)</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Inner ear</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Informs us about sounds in the environment</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98107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Gustatory (Taste)</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Chemical receptors in tongue</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Informs us about different tastes – sweet, sour, bitter, salty, spicy. Can result in restricted diets as taste buds are extra sensitive.</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r h="747700">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Olfactory (smell)</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Chemical receptors in nose</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Informs us about smells in our immediate environment.</a:t>
                      </a:r>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46300" marL="46300">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68" name="Shape 268"/>
        <p:cNvGrpSpPr/>
        <p:nvPr/>
      </p:nvGrpSpPr>
      <p:grpSpPr>
        <a:xfrm>
          <a:off x="0" y="0"/>
          <a:ext cx="0" cy="0"/>
          <a:chOff x="0" y="0"/>
          <a:chExt cx="0" cy="0"/>
        </a:xfrm>
      </p:grpSpPr>
      <p:sp>
        <p:nvSpPr>
          <p:cNvPr id="269" name="Google Shape;269;p50"/>
          <p:cNvSpPr txBox="1"/>
          <p:nvPr>
            <p:ph idx="4294967295" type="title"/>
          </p:nvPr>
        </p:nvSpPr>
        <p:spPr>
          <a:xfrm>
            <a:off x="827087" y="274637"/>
            <a:ext cx="7402512" cy="11382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4400"/>
              <a:buFont typeface="Calibri"/>
              <a:buNone/>
            </a:pPr>
            <a:r>
              <a:rPr b="0" i="0" lang="en-US" sz="4400" u="none" cap="none" strike="noStrike">
                <a:solidFill>
                  <a:schemeClr val="lt1"/>
                </a:solidFill>
                <a:latin typeface="Calibri"/>
                <a:ea typeface="Calibri"/>
                <a:cs typeface="Calibri"/>
                <a:sym typeface="Calibri"/>
              </a:rPr>
              <a:t>As well as… </a:t>
            </a:r>
            <a:endParaRPr/>
          </a:p>
        </p:txBody>
      </p:sp>
      <p:graphicFrame>
        <p:nvGraphicFramePr>
          <p:cNvPr id="270" name="Google Shape;270;p50"/>
          <p:cNvGraphicFramePr/>
          <p:nvPr/>
        </p:nvGraphicFramePr>
        <p:xfrm>
          <a:off x="1403350" y="1989137"/>
          <a:ext cx="3000000" cy="3000000"/>
        </p:xfrm>
        <a:graphic>
          <a:graphicData uri="http://schemas.openxmlformats.org/drawingml/2006/table">
            <a:tbl>
              <a:tblPr>
                <a:noFill/>
                <a:tableStyleId>{1897546C-6431-4DE6-97EB-00AD0C81BA92}</a:tableStyleId>
              </a:tblPr>
              <a:tblGrid>
                <a:gridCol w="1384300"/>
                <a:gridCol w="1023925"/>
                <a:gridCol w="3459150"/>
              </a:tblGrid>
              <a:tr h="49052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System</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Location</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Function </a:t>
                      </a:r>
                      <a:endParaRPr b="1" i="0" sz="11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38100">
                      <a:solidFill>
                        <a:schemeClr val="lt1"/>
                      </a:solidFill>
                      <a:prstDash val="solid"/>
                      <a:round/>
                      <a:headEnd len="sm" w="sm" type="none"/>
                      <a:tailEnd len="sm" w="sm" type="none"/>
                    </a:lnB>
                    <a:solidFill>
                      <a:schemeClr val="accent1"/>
                    </a:solidFill>
                  </a:tcPr>
                </a:tc>
              </a:tr>
              <a:tr h="98107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Proprioceptive (body awareness)</a:t>
                      </a:r>
                      <a:endParaRPr b="1" i="0" sz="11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Muscles and joints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Informs us where our bodies are in space and how they are moving.</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381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CBECDE"/>
                    </a:solidFill>
                  </a:tcPr>
                </a:tc>
              </a:tr>
              <a:tr h="1227125">
                <a:tc>
                  <a:txBody>
                    <a:bodyPr/>
                    <a:lstStyle/>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Vestibular (balance)</a:t>
                      </a:r>
                      <a:endParaRPr b="1" i="0" sz="1100" u="none" cap="none" strike="noStrike">
                        <a:solidFill>
                          <a:srgbClr val="FFFFFF"/>
                        </a:solidFill>
                        <a:latin typeface="Arial"/>
                        <a:ea typeface="Arial"/>
                        <a:cs typeface="Arial"/>
                        <a:sym typeface="Arial"/>
                      </a:endParaRPr>
                    </a:p>
                    <a:p>
                      <a:pPr indent="0" lvl="0" marL="0" marR="0" rtl="0" algn="l">
                        <a:lnSpc>
                          <a:spcPct val="115000"/>
                        </a:lnSpc>
                        <a:spcBef>
                          <a:spcPts val="0"/>
                        </a:spcBef>
                        <a:spcAft>
                          <a:spcPts val="0"/>
                        </a:spcAft>
                        <a:buClr>
                          <a:srgbClr val="FFFFFF"/>
                        </a:buClr>
                        <a:buSzPts val="1400"/>
                        <a:buFont typeface="Arial"/>
                        <a:buNone/>
                      </a:pPr>
                      <a:r>
                        <a:rPr b="1" i="0" lang="en-US" sz="1400" u="none" cap="none" strike="noStrike">
                          <a:solidFill>
                            <a:srgbClr val="FFFFFF"/>
                          </a:solidFill>
                          <a:latin typeface="Arial"/>
                          <a:ea typeface="Arial"/>
                          <a:cs typeface="Arial"/>
                          <a:sym typeface="Arial"/>
                        </a:rPr>
                        <a:t>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chemeClr val="accent1"/>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Inner ear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c>
                  <a:txBody>
                    <a:bodyPr/>
                    <a:lstStyle/>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Provides information on where our body is in space, its speed, direction and movement. It is fundamental in helping us to keep our balance and posture.</a:t>
                      </a:r>
                      <a:endParaRPr b="0" i="0" sz="1100" u="none" cap="none" strike="noStrike">
                        <a:solidFill>
                          <a:srgbClr val="000000"/>
                        </a:solidFill>
                        <a:latin typeface="Arial"/>
                        <a:ea typeface="Arial"/>
                        <a:cs typeface="Arial"/>
                        <a:sym typeface="Arial"/>
                      </a:endParaRPr>
                    </a:p>
                    <a:p>
                      <a:pPr indent="0" lvl="0" marL="0" marR="0" rtl="0" algn="l">
                        <a:lnSpc>
                          <a:spcPct val="115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 </a:t>
                      </a:r>
                      <a:endParaRPr/>
                    </a:p>
                  </a:txBody>
                  <a:tcPr marT="0" marB="0" marR="68575" marL="68575">
                    <a:lnL cap="flat" cmpd="sng" w="12700">
                      <a:solidFill>
                        <a:schemeClr val="lt1"/>
                      </a:solidFill>
                      <a:prstDash val="solid"/>
                      <a:round/>
                      <a:headEnd len="sm" w="sm" type="none"/>
                      <a:tailEnd len="sm" w="sm" type="none"/>
                    </a:lnL>
                    <a:lnR cap="flat" cmpd="sng" w="12700">
                      <a:solidFill>
                        <a:schemeClr val="lt1"/>
                      </a:solidFill>
                      <a:prstDash val="solid"/>
                      <a:round/>
                      <a:headEnd len="sm" w="sm" type="none"/>
                      <a:tailEnd len="sm" w="sm" type="none"/>
                    </a:lnR>
                    <a:lnT cap="flat" cmpd="sng" w="12700">
                      <a:solidFill>
                        <a:schemeClr val="lt1"/>
                      </a:solidFill>
                      <a:prstDash val="solid"/>
                      <a:round/>
                      <a:headEnd len="sm" w="sm" type="none"/>
                      <a:tailEnd len="sm" w="sm" type="none"/>
                    </a:lnT>
                    <a:lnB cap="flat" cmpd="sng" w="12700">
                      <a:solidFill>
                        <a:schemeClr val="lt1"/>
                      </a:solidFill>
                      <a:prstDash val="solid"/>
                      <a:round/>
                      <a:headEnd len="sm" w="sm" type="none"/>
                      <a:tailEnd len="sm" w="sm" type="none"/>
                    </a:lnB>
                    <a:solidFill>
                      <a:srgbClr val="E7F6EF"/>
                    </a:solidFill>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4" name="Shape 274"/>
        <p:cNvGrpSpPr/>
        <p:nvPr/>
      </p:nvGrpSpPr>
      <p:grpSpPr>
        <a:xfrm>
          <a:off x="0" y="0"/>
          <a:ext cx="0" cy="0"/>
          <a:chOff x="0" y="0"/>
          <a:chExt cx="0" cy="0"/>
        </a:xfrm>
      </p:grpSpPr>
      <p:sp>
        <p:nvSpPr>
          <p:cNvPr id="275" name="Google Shape;275;p51"/>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Sensory Experiences – Activity (H/O)</a:t>
            </a:r>
            <a:endParaRPr/>
          </a:p>
        </p:txBody>
      </p:sp>
      <p:sp>
        <p:nvSpPr>
          <p:cNvPr id="276" name="Google Shape;276;p51"/>
          <p:cNvSpPr txBox="1"/>
          <p:nvPr>
            <p:ph idx="4294967295" type="body"/>
          </p:nvPr>
        </p:nvSpPr>
        <p:spPr>
          <a:xfrm>
            <a:off x="611187" y="1773237"/>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People with autism may show unusual responses to sensory experiences, particularly sound and touch, but also taste, vision, smell or pain. They may underreact or overreact to sensory stimuli, perceiving ordinary sensations as extremely intense or extremely weak. Even anticipation of sensations may produce anxiety or panic.</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0" name="Shape 280"/>
        <p:cNvGrpSpPr/>
        <p:nvPr/>
      </p:nvGrpSpPr>
      <p:grpSpPr>
        <a:xfrm>
          <a:off x="0" y="0"/>
          <a:ext cx="0" cy="0"/>
          <a:chOff x="0" y="0"/>
          <a:chExt cx="0" cy="0"/>
        </a:xfrm>
      </p:grpSpPr>
      <p:sp>
        <p:nvSpPr>
          <p:cNvPr id="281" name="Google Shape;281;p52"/>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Sensory Processing</a:t>
            </a:r>
            <a:endParaRPr/>
          </a:p>
        </p:txBody>
      </p:sp>
      <p:sp>
        <p:nvSpPr>
          <p:cNvPr id="282" name="Google Shape;282;p52"/>
          <p:cNvSpPr txBox="1"/>
          <p:nvPr>
            <p:ph idx="4294967295" type="body"/>
          </p:nvPr>
        </p:nvSpPr>
        <p:spPr>
          <a:xfrm>
            <a:off x="755650" y="1700212"/>
            <a:ext cx="8229600" cy="4525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It is a normal neurological process that begins before we are born and continues throughout our lives.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0" lang="en-US" sz="2800" u="none">
                <a:solidFill>
                  <a:schemeClr val="dk1"/>
                </a:solidFill>
                <a:latin typeface="Calibri"/>
                <a:ea typeface="Calibri"/>
                <a:cs typeface="Calibri"/>
                <a:sym typeface="Calibri"/>
              </a:rPr>
              <a:t>It is the process by which our brain takes in all incoming information, processes it and organises appropriate responses.</a:t>
            </a:r>
            <a:endParaRPr/>
          </a:p>
          <a:p>
            <a:pPr indent="-342900" lvl="0" marL="342900" marR="0" rtl="0" algn="l">
              <a:lnSpc>
                <a:spcPct val="100000"/>
              </a:lnSpc>
              <a:spcBef>
                <a:spcPts val="560"/>
              </a:spcBef>
              <a:spcAft>
                <a:spcPts val="0"/>
              </a:spcAft>
              <a:buClr>
                <a:schemeClr val="dk1"/>
              </a:buClr>
              <a:buSzPts val="2800"/>
              <a:buFont typeface="Noto Sans Symbols"/>
              <a:buChar char="▪"/>
            </a:pPr>
            <a:r>
              <a:rPr b="0" i="1" lang="en-US" sz="2800" u="none">
                <a:solidFill>
                  <a:schemeClr val="dk1"/>
                </a:solidFill>
                <a:latin typeface="Calibri"/>
                <a:ea typeface="Calibri"/>
                <a:cs typeface="Calibri"/>
                <a:sym typeface="Calibri"/>
              </a:rPr>
              <a:t>Analogy</a:t>
            </a:r>
            <a:r>
              <a:rPr b="0" i="0" lang="en-US" sz="2800" u="none">
                <a:solidFill>
                  <a:schemeClr val="dk1"/>
                </a:solidFill>
                <a:latin typeface="Calibri"/>
                <a:ea typeface="Calibri"/>
                <a:cs typeface="Calibri"/>
                <a:sym typeface="Calibri"/>
              </a:rPr>
              <a:t>: Heathrow Airport, with flights coming in from many directions and heights, being controlled by Air Traffic Controllers.</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6" name="Shape 286"/>
        <p:cNvGrpSpPr/>
        <p:nvPr/>
      </p:nvGrpSpPr>
      <p:grpSpPr>
        <a:xfrm>
          <a:off x="0" y="0"/>
          <a:ext cx="0" cy="0"/>
          <a:chOff x="0" y="0"/>
          <a:chExt cx="0" cy="0"/>
        </a:xfrm>
      </p:grpSpPr>
      <p:sp>
        <p:nvSpPr>
          <p:cNvPr id="287" name="Google Shape;287;p53"/>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Sensory Modulation</a:t>
            </a:r>
            <a:endParaRPr/>
          </a:p>
        </p:txBody>
      </p:sp>
      <p:sp>
        <p:nvSpPr>
          <p:cNvPr id="288" name="Google Shape;288;p53"/>
          <p:cNvSpPr txBox="1"/>
          <p:nvPr>
            <p:ph idx="4294967295" type="body"/>
          </p:nvPr>
        </p:nvSpPr>
        <p:spPr>
          <a:xfrm>
            <a:off x="395287" y="1557337"/>
            <a:ext cx="8388350" cy="39163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Sensory modulation is “the ability to regulate and organise reactions to sensory input in a graded and adaptive manner” (McIntos, Miller, et al, 1999, p:10)</a:t>
            </a:r>
            <a:endParaRPr/>
          </a:p>
          <a:p>
            <a:pPr indent="-165100" lvl="0" marL="342900" marR="0" rtl="0" algn="l">
              <a:lnSpc>
                <a:spcPct val="100000"/>
              </a:lnSpc>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Autistic pupils may have difficulty in doing so in a typical manner, either over- or under-reacting to sensory stimuli.</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2" name="Shape 292"/>
        <p:cNvGrpSpPr/>
        <p:nvPr/>
      </p:nvGrpSpPr>
      <p:grpSpPr>
        <a:xfrm>
          <a:off x="0" y="0"/>
          <a:ext cx="0" cy="0"/>
          <a:chOff x="0" y="0"/>
          <a:chExt cx="0" cy="0"/>
        </a:xfrm>
      </p:grpSpPr>
      <p:sp>
        <p:nvSpPr>
          <p:cNvPr id="293" name="Google Shape;293;p54"/>
          <p:cNvSpPr txBox="1"/>
          <p:nvPr>
            <p:ph idx="4294967295" type="title"/>
          </p:nvPr>
        </p:nvSpPr>
        <p:spPr>
          <a:xfrm>
            <a:off x="611187" y="163512"/>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000"/>
              <a:buFont typeface="Calibri"/>
              <a:buNone/>
            </a:pPr>
            <a:r>
              <a:rPr b="0" i="0" lang="en-US" sz="4000" u="none" cap="none" strike="noStrike">
                <a:solidFill>
                  <a:schemeClr val="dk1"/>
                </a:solidFill>
                <a:latin typeface="Calibri"/>
                <a:ea typeface="Calibri"/>
                <a:cs typeface="Calibri"/>
                <a:sym typeface="Calibri"/>
              </a:rPr>
              <a:t>Response to environmental events</a:t>
            </a:r>
            <a:endParaRPr/>
          </a:p>
        </p:txBody>
      </p:sp>
      <p:sp>
        <p:nvSpPr>
          <p:cNvPr id="294" name="Google Shape;294;p54"/>
          <p:cNvSpPr txBox="1"/>
          <p:nvPr>
            <p:ph idx="4294967295" type="body"/>
          </p:nvPr>
        </p:nvSpPr>
        <p:spPr>
          <a:xfrm>
            <a:off x="1030287" y="1638300"/>
            <a:ext cx="8070850" cy="2879725"/>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chemeClr val="dk1"/>
              </a:solidFill>
              <a:latin typeface="Calibri"/>
              <a:ea typeface="Calibri"/>
              <a:cs typeface="Calibri"/>
              <a:sym typeface="Calibri"/>
            </a:endParaRPr>
          </a:p>
          <a:p>
            <a:pPr indent="-342900" lvl="0" marL="342900" marR="0" rtl="0" algn="l">
              <a:lnSpc>
                <a:spcPct val="100000"/>
              </a:lnSpc>
              <a:spcBef>
                <a:spcPts val="480"/>
              </a:spcBef>
              <a:spcAft>
                <a:spcPts val="0"/>
              </a:spcAft>
              <a:buClr>
                <a:schemeClr val="dk1"/>
              </a:buClr>
              <a:buSzPts val="2400"/>
              <a:buFont typeface="Noto Sans Symbols"/>
              <a:buChar char="▪"/>
            </a:pPr>
            <a:r>
              <a:rPr b="0" i="0" lang="en-US" sz="2400" u="none">
                <a:solidFill>
                  <a:schemeClr val="dk1"/>
                </a:solidFill>
                <a:latin typeface="Calibri"/>
                <a:ea typeface="Calibri"/>
                <a:cs typeface="Calibri"/>
                <a:sym typeface="Calibri"/>
              </a:rPr>
              <a:t>As a result, will struggle to differentiate between a quiet whisper and a loud bang.</a:t>
            </a:r>
            <a:endParaRPr/>
          </a:p>
        </p:txBody>
      </p:sp>
      <p:pic>
        <p:nvPicPr>
          <p:cNvPr descr="Patterns" id="295" name="Google Shape;295;p54"/>
          <p:cNvPicPr preferRelativeResize="0"/>
          <p:nvPr/>
        </p:nvPicPr>
        <p:blipFill rotWithShape="1">
          <a:blip r:embed="rId3">
            <a:alphaModFix/>
          </a:blip>
          <a:srcRect b="29535" l="0" r="0" t="0"/>
          <a:stretch/>
        </p:blipFill>
        <p:spPr>
          <a:xfrm>
            <a:off x="2411412" y="1671637"/>
            <a:ext cx="4867275" cy="2957512"/>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Google Shape;300;p55"/>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Not listening? </a:t>
            </a:r>
            <a:endParaRPr/>
          </a:p>
        </p:txBody>
      </p:sp>
      <p:sp>
        <p:nvSpPr>
          <p:cNvPr id="301" name="Google Shape;301;p55"/>
          <p:cNvSpPr txBox="1"/>
          <p:nvPr>
            <p:ph idx="4294967295" type="body"/>
          </p:nvPr>
        </p:nvSpPr>
        <p:spPr>
          <a:xfrm>
            <a:off x="468312" y="1773237"/>
            <a:ext cx="8315325" cy="31242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“My hearing is like having a sound amplifier set on maximum loudness.  My ears are like a microphone that picks up and amplifies sound.  I have two choices: 1) turn my ears on and get deluged with sound or 2) shut my ears off.”</a:t>
            </a:r>
            <a:endParaRPr b="0" i="0" sz="2800" u="none">
              <a:solidFill>
                <a:schemeClr val="dk1"/>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(Temple Grandin)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5" name="Shape 305"/>
        <p:cNvGrpSpPr/>
        <p:nvPr/>
      </p:nvGrpSpPr>
      <p:grpSpPr>
        <a:xfrm>
          <a:off x="0" y="0"/>
          <a:ext cx="0" cy="0"/>
          <a:chOff x="0" y="0"/>
          <a:chExt cx="0" cy="0"/>
        </a:xfrm>
      </p:grpSpPr>
      <p:sp>
        <p:nvSpPr>
          <p:cNvPr id="306" name="Google Shape;306;p56"/>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Sensory problems and ASC	</a:t>
            </a:r>
            <a:endParaRPr/>
          </a:p>
        </p:txBody>
      </p:sp>
      <p:sp>
        <p:nvSpPr>
          <p:cNvPr id="307" name="Google Shape;307;p56"/>
          <p:cNvSpPr txBox="1"/>
          <p:nvPr>
            <p:ph idx="4294967295" type="body"/>
          </p:nvPr>
        </p:nvSpPr>
        <p:spPr>
          <a:xfrm>
            <a:off x="1042987" y="1773237"/>
            <a:ext cx="6229350" cy="2620962"/>
          </a:xfrm>
          <a:prstGeom prst="rect">
            <a:avLst/>
          </a:prstGeom>
          <a:noFill/>
          <a:ln>
            <a:noFill/>
          </a:ln>
        </p:spPr>
        <p:txBody>
          <a:bodyPr anchorCtr="0" anchor="t" bIns="45700" lIns="91425" spcFirstLastPara="1" rIns="91425" wrap="square" tIns="45700">
            <a:noAutofit/>
          </a:bodyPr>
          <a:lstStyle/>
          <a:p>
            <a:pPr indent="-139700" lvl="0" marL="342900" marR="0" rtl="0" algn="l">
              <a:lnSpc>
                <a:spcPct val="100000"/>
              </a:lnSpc>
              <a:spcBef>
                <a:spcPts val="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Sensory experiences in action: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1. The Stroop Test </a:t>
            </a:r>
            <a:endParaRPr/>
          </a:p>
          <a:p>
            <a:pPr indent="-285750" lvl="1" marL="742950" marR="0" rtl="0" algn="l">
              <a:lnSpc>
                <a:spcPct val="100000"/>
              </a:lnSpc>
              <a:spcBef>
                <a:spcPts val="56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2. Synaesthesia</a:t>
            </a:r>
            <a:endParaRPr b="0" i="0" sz="2800" u="none" cap="none" strike="noStrike">
              <a:solidFill>
                <a:schemeClr val="dk1"/>
              </a:solidFill>
              <a:latin typeface="Calibri"/>
              <a:ea typeface="Calibri"/>
              <a:cs typeface="Calibri"/>
              <a:sym typeface="Calibri"/>
            </a:endParaRPr>
          </a:p>
          <a:p>
            <a:pPr indent="-342900" lvl="0" marL="342900" marR="0" rtl="0" algn="l">
              <a:lnSpc>
                <a:spcPct val="100000"/>
              </a:lnSpc>
              <a:spcBef>
                <a:spcPts val="64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1" name="Shape 311"/>
        <p:cNvGrpSpPr/>
        <p:nvPr/>
      </p:nvGrpSpPr>
      <p:grpSpPr>
        <a:xfrm>
          <a:off x="0" y="0"/>
          <a:ext cx="0" cy="0"/>
          <a:chOff x="0" y="0"/>
          <a:chExt cx="0" cy="0"/>
        </a:xfrm>
      </p:grpSpPr>
      <p:sp>
        <p:nvSpPr>
          <p:cNvPr id="312" name="Google Shape;312;p5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“Stroop” Test</a:t>
            </a:r>
            <a:endParaRPr/>
          </a:p>
        </p:txBody>
      </p:sp>
      <p:sp>
        <p:nvSpPr>
          <p:cNvPr id="313" name="Google Shape;313;p57"/>
          <p:cNvSpPr txBox="1"/>
          <p:nvPr>
            <p:ph idx="4294967295" type="body"/>
          </p:nvPr>
        </p:nvSpPr>
        <p:spPr>
          <a:xfrm>
            <a:off x="539750" y="1628775"/>
            <a:ext cx="8172450" cy="36290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200"/>
              <a:buFont typeface="Arial"/>
              <a:buNone/>
            </a:pPr>
            <a:r>
              <a:rPr b="1" i="0" lang="en-US" sz="3200" u="none">
                <a:solidFill>
                  <a:schemeClr val="dk1"/>
                </a:solidFill>
                <a:latin typeface="Calibri"/>
                <a:ea typeface="Calibri"/>
                <a:cs typeface="Calibri"/>
                <a:sym typeface="Calibri"/>
              </a:rPr>
              <a:t>Task:</a:t>
            </a:r>
            <a:r>
              <a:rPr b="0" i="0" lang="en-US" sz="3200" u="none">
                <a:solidFill>
                  <a:schemeClr val="dk1"/>
                </a:solidFill>
                <a:latin typeface="Calibri"/>
                <a:ea typeface="Calibri"/>
                <a:cs typeface="Calibri"/>
                <a:sym typeface="Calibri"/>
              </a:rPr>
              <a:t> Do not read the words above. Instead, say the COLOUR of each word in each column, in a loud voice as fast as you can.</a:t>
            </a:r>
            <a:endParaRPr/>
          </a:p>
          <a:p>
            <a:pPr indent="0" lvl="0" marL="0" marR="0" rtl="0" algn="l">
              <a:lnSpc>
                <a:spcPct val="100000"/>
              </a:lnSpc>
              <a:spcBef>
                <a:spcPts val="64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a:p>
            <a:pPr indent="-203200" lvl="0" marL="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Directed Attention </a:t>
            </a:r>
            <a:endParaRPr/>
          </a:p>
          <a:p>
            <a:pPr indent="-203200" lvl="0" marL="0" marR="0" rtl="0" algn="l">
              <a:lnSpc>
                <a:spcPct val="100000"/>
              </a:lnSpc>
              <a:spcBef>
                <a:spcPts val="640"/>
              </a:spcBef>
              <a:spcAft>
                <a:spcPts val="0"/>
              </a:spcAft>
              <a:buClr>
                <a:schemeClr val="dk1"/>
              </a:buClr>
              <a:buSzPts val="3200"/>
              <a:buFont typeface="Arial"/>
              <a:buChar char="•"/>
            </a:pPr>
            <a:r>
              <a:rPr b="0" i="0" lang="en-US" sz="3200" u="none">
                <a:solidFill>
                  <a:schemeClr val="dk1"/>
                </a:solidFill>
                <a:latin typeface="Calibri"/>
                <a:ea typeface="Calibri"/>
                <a:cs typeface="Calibri"/>
                <a:sym typeface="Calibri"/>
              </a:rPr>
              <a:t>Semantic Processing/ Interference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7" name="Shape 317"/>
        <p:cNvGrpSpPr/>
        <p:nvPr/>
      </p:nvGrpSpPr>
      <p:grpSpPr>
        <a:xfrm>
          <a:off x="0" y="0"/>
          <a:ext cx="0" cy="0"/>
          <a:chOff x="0" y="0"/>
          <a:chExt cx="0" cy="0"/>
        </a:xfrm>
      </p:grpSpPr>
      <p:sp>
        <p:nvSpPr>
          <p:cNvPr id="318" name="Google Shape;318;p58"/>
          <p:cNvSpPr txBox="1"/>
          <p:nvPr>
            <p:ph idx="4294967295" type="title"/>
          </p:nvPr>
        </p:nvSpPr>
        <p:spPr>
          <a:xfrm>
            <a:off x="0" y="0"/>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C000"/>
              </a:buClr>
              <a:buSzPts val="4400"/>
              <a:buFont typeface="Calibri"/>
              <a:buNone/>
            </a:pPr>
            <a:r>
              <a:rPr b="0" i="0" lang="en-US" sz="4400" u="none" cap="none" strike="noStrike">
                <a:solidFill>
                  <a:srgbClr val="FFC000"/>
                </a:solidFill>
                <a:latin typeface="Calibri"/>
                <a:ea typeface="Calibri"/>
                <a:cs typeface="Calibri"/>
                <a:sym typeface="Calibri"/>
              </a:rPr>
              <a:t>Synthaesthia </a:t>
            </a:r>
            <a:endParaRPr/>
          </a:p>
        </p:txBody>
      </p:sp>
      <p:pic>
        <p:nvPicPr>
          <p:cNvPr id="319" name="Google Shape;319;p58"/>
          <p:cNvPicPr preferRelativeResize="0"/>
          <p:nvPr>
            <p:ph idx="4294967295" type="body"/>
          </p:nvPr>
        </p:nvPicPr>
        <p:blipFill rotWithShape="1">
          <a:blip r:embed="rId3">
            <a:alphaModFix/>
          </a:blip>
          <a:srcRect b="0" l="0" r="0" t="0"/>
          <a:stretch/>
        </p:blipFill>
        <p:spPr>
          <a:xfrm>
            <a:off x="2771775" y="1130300"/>
            <a:ext cx="5545137" cy="5513387"/>
          </a:xfrm>
          <a:prstGeom prst="rect">
            <a:avLst/>
          </a:prstGeom>
          <a:noFill/>
          <a:ln>
            <a:noFill/>
          </a:ln>
        </p:spPr>
      </p:pic>
      <p:sp>
        <p:nvSpPr>
          <p:cNvPr id="320" name="Google Shape;320;p58"/>
          <p:cNvSpPr txBox="1"/>
          <p:nvPr/>
        </p:nvSpPr>
        <p:spPr>
          <a:xfrm>
            <a:off x="323850" y="1412875"/>
            <a:ext cx="2663825" cy="12001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FFC000"/>
              </a:buClr>
              <a:buSzPts val="2400"/>
              <a:buFont typeface="Arial"/>
              <a:buNone/>
            </a:pPr>
            <a:r>
              <a:rPr b="0" i="0" lang="en-US" sz="2400" u="none">
                <a:solidFill>
                  <a:srgbClr val="FFC000"/>
                </a:solidFill>
                <a:latin typeface="Arial"/>
                <a:ea typeface="Arial"/>
                <a:cs typeface="Arial"/>
                <a:sym typeface="Arial"/>
              </a:rPr>
              <a:t>How quickly do you see the 2s among the 5s?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4" name="Shape 324"/>
        <p:cNvGrpSpPr/>
        <p:nvPr/>
      </p:nvGrpSpPr>
      <p:grpSpPr>
        <a:xfrm>
          <a:off x="0" y="0"/>
          <a:ext cx="0" cy="0"/>
          <a:chOff x="0" y="0"/>
          <a:chExt cx="0" cy="0"/>
        </a:xfrm>
      </p:grpSpPr>
      <p:sp>
        <p:nvSpPr>
          <p:cNvPr id="325" name="Google Shape;325;p59"/>
          <p:cNvSpPr txBox="1"/>
          <p:nvPr>
            <p:ph idx="4294967295" type="title"/>
          </p:nvPr>
        </p:nvSpPr>
        <p:spPr>
          <a:xfrm>
            <a:off x="2411412" y="28575"/>
            <a:ext cx="4321175" cy="9271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C000"/>
              </a:buClr>
              <a:buSzPts val="4400"/>
              <a:buFont typeface="Calibri"/>
              <a:buNone/>
            </a:pPr>
            <a:r>
              <a:rPr b="0" i="0" lang="en-US" sz="4400" u="none" cap="none" strike="noStrike">
                <a:solidFill>
                  <a:srgbClr val="FFC000"/>
                </a:solidFill>
                <a:latin typeface="Calibri"/>
                <a:ea typeface="Calibri"/>
                <a:cs typeface="Calibri"/>
                <a:sym typeface="Calibri"/>
              </a:rPr>
              <a:t>Synthaesthia </a:t>
            </a:r>
            <a:endParaRPr/>
          </a:p>
        </p:txBody>
      </p:sp>
      <p:pic>
        <p:nvPicPr>
          <p:cNvPr id="326" name="Google Shape;326;p59"/>
          <p:cNvPicPr preferRelativeResize="0"/>
          <p:nvPr/>
        </p:nvPicPr>
        <p:blipFill rotWithShape="1">
          <a:blip r:embed="rId3">
            <a:alphaModFix/>
          </a:blip>
          <a:srcRect b="0" l="0" r="0" t="0"/>
          <a:stretch/>
        </p:blipFill>
        <p:spPr>
          <a:xfrm>
            <a:off x="1798637" y="979487"/>
            <a:ext cx="5546725" cy="5516562"/>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0" name="Shape 330"/>
        <p:cNvGrpSpPr/>
        <p:nvPr/>
      </p:nvGrpSpPr>
      <p:grpSpPr>
        <a:xfrm>
          <a:off x="0" y="0"/>
          <a:ext cx="0" cy="0"/>
          <a:chOff x="0" y="0"/>
          <a:chExt cx="0" cy="0"/>
        </a:xfrm>
      </p:grpSpPr>
      <p:sp>
        <p:nvSpPr>
          <p:cNvPr id="331" name="Google Shape;331;p60"/>
          <p:cNvSpPr txBox="1"/>
          <p:nvPr>
            <p:ph idx="4294967295" type="title"/>
          </p:nvPr>
        </p:nvSpPr>
        <p:spPr>
          <a:xfrm>
            <a:off x="0" y="476250"/>
            <a:ext cx="9144000" cy="9906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Theoretical Approaches</a:t>
            </a:r>
            <a:endParaRPr/>
          </a:p>
        </p:txBody>
      </p:sp>
      <p:sp>
        <p:nvSpPr>
          <p:cNvPr id="332" name="Google Shape;332;p60"/>
          <p:cNvSpPr txBox="1"/>
          <p:nvPr>
            <p:ph idx="4294967295" type="body"/>
          </p:nvPr>
        </p:nvSpPr>
        <p:spPr>
          <a:xfrm>
            <a:off x="2268537" y="1628775"/>
            <a:ext cx="4138612" cy="2620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Theory of Mind</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Central Coherence</a:t>
            </a:r>
            <a:endParaRPr/>
          </a:p>
          <a:p>
            <a:pPr indent="0" lvl="0" marL="0" marR="0" rtl="0" algn="l">
              <a:lnSpc>
                <a:spcPct val="100000"/>
              </a:lnSpc>
              <a:spcBef>
                <a:spcPts val="56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And also: </a:t>
            </a:r>
            <a:endParaRPr/>
          </a:p>
          <a:p>
            <a:pPr indent="-177800" lvl="0" marL="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Executive Functioning</a:t>
            </a:r>
            <a:endParaRPr/>
          </a:p>
          <a:p>
            <a:pPr indent="-165100" lvl="0" marL="342900" marR="0" rtl="0" algn="l">
              <a:spcBef>
                <a:spcPts val="56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6" name="Shape 336"/>
        <p:cNvGrpSpPr/>
        <p:nvPr/>
      </p:nvGrpSpPr>
      <p:grpSpPr>
        <a:xfrm>
          <a:off x="0" y="0"/>
          <a:ext cx="0" cy="0"/>
          <a:chOff x="0" y="0"/>
          <a:chExt cx="0" cy="0"/>
        </a:xfrm>
      </p:grpSpPr>
      <p:sp>
        <p:nvSpPr>
          <p:cNvPr id="337" name="Google Shape;337;p61"/>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Theory of Mind</a:t>
            </a:r>
            <a:endParaRPr/>
          </a:p>
        </p:txBody>
      </p:sp>
      <p:sp>
        <p:nvSpPr>
          <p:cNvPr id="338" name="Google Shape;338;p61"/>
          <p:cNvSpPr txBox="1"/>
          <p:nvPr>
            <p:ph idx="4294967295" type="body"/>
          </p:nvPr>
        </p:nvSpPr>
        <p:spPr>
          <a:xfrm>
            <a:off x="611187" y="1557337"/>
            <a:ext cx="8388350" cy="334010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Calibri"/>
                <a:ea typeface="Calibri"/>
                <a:cs typeface="Calibri"/>
                <a:sym typeface="Calibri"/>
              </a:rPr>
              <a:t>“The ability to infer other people’s mental state (their thoughts, beliefs, intentions, etc.) and the ability to use this information to interpret what they say, make sense of their behaviour and predict what they will do next”</a:t>
            </a:r>
            <a:endParaRPr/>
          </a:p>
          <a:p>
            <a:pPr indent="-165100" lvl="0" marL="342900" marR="0" rtl="0" algn="l">
              <a:lnSpc>
                <a:spcPct val="100000"/>
              </a:lnSpc>
              <a:spcBef>
                <a:spcPts val="560"/>
              </a:spcBef>
              <a:spcAft>
                <a:spcPts val="0"/>
              </a:spcAft>
              <a:buClr>
                <a:schemeClr val="dk1"/>
              </a:buClr>
              <a:buSzPts val="2800"/>
              <a:buFont typeface="Arial"/>
              <a:buNone/>
            </a:pPr>
            <a:r>
              <a:t/>
            </a:r>
            <a:endParaRPr b="0" i="1" sz="2800" u="none">
              <a:solidFill>
                <a:schemeClr val="dk1"/>
              </a:solidFill>
              <a:latin typeface="Calibri"/>
              <a:ea typeface="Calibri"/>
              <a:cs typeface="Calibri"/>
              <a:sym typeface="Calibri"/>
            </a:endParaRPr>
          </a:p>
          <a:p>
            <a:pPr indent="-342900" lvl="0" marL="342900" marR="0" rtl="0" algn="l">
              <a:lnSpc>
                <a:spcPct val="100000"/>
              </a:lnSpc>
              <a:spcBef>
                <a:spcPts val="56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 The ‘toy in a drawer’ test</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2" name="Shape 342"/>
        <p:cNvGrpSpPr/>
        <p:nvPr/>
      </p:nvGrpSpPr>
      <p:grpSpPr>
        <a:xfrm>
          <a:off x="0" y="0"/>
          <a:ext cx="0" cy="0"/>
          <a:chOff x="0" y="0"/>
          <a:chExt cx="0" cy="0"/>
        </a:xfrm>
      </p:grpSpPr>
      <p:sp>
        <p:nvSpPr>
          <p:cNvPr id="343" name="Google Shape;343;p62"/>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Theory of Mind</a:t>
            </a:r>
            <a:endParaRPr/>
          </a:p>
        </p:txBody>
      </p:sp>
      <p:sp>
        <p:nvSpPr>
          <p:cNvPr id="344" name="Google Shape;344;p62"/>
          <p:cNvSpPr txBox="1"/>
          <p:nvPr>
            <p:ph idx="4294967295" type="body"/>
          </p:nvPr>
        </p:nvSpPr>
        <p:spPr>
          <a:xfrm>
            <a:off x="539750" y="1447800"/>
            <a:ext cx="8077200" cy="381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Portrayed by: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Insensitivity to other people’s feelings.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Inability to take into account what other people know.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Inability to understand the reasons behind people’s actions.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Inability to understand that language is used to convey intentions and express thoughts.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Inability to predict what will happen next. </a:t>
            </a:r>
            <a:endParaRPr/>
          </a:p>
          <a:p>
            <a:pPr indent="-285750" lvl="1" marL="74295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Inability to deceive or understand deception. </a:t>
            </a:r>
            <a:endParaRPr/>
          </a:p>
          <a:p>
            <a:pPr indent="-190500" lvl="0" marL="342900"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8" name="Shape 348"/>
        <p:cNvGrpSpPr/>
        <p:nvPr/>
      </p:nvGrpSpPr>
      <p:grpSpPr>
        <a:xfrm>
          <a:off x="0" y="0"/>
          <a:ext cx="0" cy="0"/>
          <a:chOff x="0" y="0"/>
          <a:chExt cx="0" cy="0"/>
        </a:xfrm>
      </p:grpSpPr>
      <p:sp>
        <p:nvSpPr>
          <p:cNvPr id="349" name="Google Shape;349;p63"/>
          <p:cNvSpPr txBox="1"/>
          <p:nvPr>
            <p:ph idx="4294967295" type="title"/>
          </p:nvPr>
        </p:nvSpPr>
        <p:spPr>
          <a:xfrm>
            <a:off x="1619250" y="692150"/>
            <a:ext cx="6372225" cy="10668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Central Coherence</a:t>
            </a:r>
            <a:endParaRPr/>
          </a:p>
        </p:txBody>
      </p:sp>
      <p:sp>
        <p:nvSpPr>
          <p:cNvPr id="350" name="Google Shape;350;p63"/>
          <p:cNvSpPr txBox="1"/>
          <p:nvPr/>
        </p:nvSpPr>
        <p:spPr>
          <a:xfrm>
            <a:off x="1979612" y="2205037"/>
            <a:ext cx="6373812" cy="2447925"/>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569E"/>
              </a:buClr>
              <a:buSzPts val="2400"/>
              <a:buFont typeface="Noto Sans Symbols"/>
              <a:buChar char="▪"/>
            </a:pPr>
            <a:r>
              <a:rPr b="0" i="1" lang="en-US" sz="2400" u="none">
                <a:solidFill>
                  <a:srgbClr val="22569E"/>
                </a:solidFill>
                <a:latin typeface="Calibri"/>
                <a:ea typeface="Calibri"/>
                <a:cs typeface="Calibri"/>
                <a:sym typeface="Calibri"/>
              </a:rPr>
              <a:t>“The ability to integrate information in context” </a:t>
            </a:r>
            <a:endParaRPr/>
          </a:p>
          <a:p>
            <a:pPr indent="-342900" lvl="0" marL="342900" marR="0" rtl="0" algn="l">
              <a:lnSpc>
                <a:spcPct val="100000"/>
              </a:lnSpc>
              <a:spcBef>
                <a:spcPts val="480"/>
              </a:spcBef>
              <a:spcAft>
                <a:spcPts val="0"/>
              </a:spcAft>
              <a:buClr>
                <a:schemeClr val="dk1"/>
              </a:buClr>
              <a:buSzPts val="2400"/>
              <a:buFont typeface="Arial"/>
              <a:buNone/>
            </a:pPr>
            <a:r>
              <a:t/>
            </a:r>
            <a:endParaRPr b="0" i="0" sz="2400" u="none">
              <a:solidFill>
                <a:srgbClr val="22569E"/>
              </a:solidFill>
              <a:latin typeface="Calibri"/>
              <a:ea typeface="Calibri"/>
              <a:cs typeface="Calibri"/>
              <a:sym typeface="Calibri"/>
            </a:endParaRPr>
          </a:p>
          <a:p>
            <a:pPr indent="-342900" lvl="0" marL="342900" marR="0" rtl="0" algn="l">
              <a:lnSpc>
                <a:spcPct val="100000"/>
              </a:lnSpc>
              <a:spcBef>
                <a:spcPts val="480"/>
              </a:spcBef>
              <a:spcAft>
                <a:spcPts val="0"/>
              </a:spcAft>
              <a:buClr>
                <a:srgbClr val="22569E"/>
              </a:buClr>
              <a:buSzPts val="2400"/>
              <a:buFont typeface="Noto Sans Symbols"/>
              <a:buChar char="▪"/>
            </a:pPr>
            <a:r>
              <a:rPr b="0" i="1" lang="en-US" sz="2400" u="none">
                <a:solidFill>
                  <a:srgbClr val="22569E"/>
                </a:solidFill>
                <a:latin typeface="Calibri"/>
                <a:ea typeface="Calibri"/>
                <a:cs typeface="Calibri"/>
                <a:sym typeface="Calibri"/>
              </a:rPr>
              <a:t>“The ability to see the big picture, as opposed to getting lost in the smaller detail”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4" name="Shape 354"/>
        <p:cNvGrpSpPr/>
        <p:nvPr/>
      </p:nvGrpSpPr>
      <p:grpSpPr>
        <a:xfrm>
          <a:off x="0" y="0"/>
          <a:ext cx="0" cy="0"/>
          <a:chOff x="0" y="0"/>
          <a:chExt cx="0" cy="0"/>
        </a:xfrm>
      </p:grpSpPr>
      <p:sp>
        <p:nvSpPr>
          <p:cNvPr id="355" name="Google Shape;355;p64"/>
          <p:cNvSpPr txBox="1"/>
          <p:nvPr>
            <p:ph idx="4294967295" type="title"/>
          </p:nvPr>
        </p:nvSpPr>
        <p:spPr>
          <a:xfrm>
            <a:off x="323850" y="1428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Central Coherence</a:t>
            </a:r>
            <a:endParaRPr/>
          </a:p>
        </p:txBody>
      </p:sp>
      <p:sp>
        <p:nvSpPr>
          <p:cNvPr id="356" name="Google Shape;356;p64"/>
          <p:cNvSpPr txBox="1"/>
          <p:nvPr/>
        </p:nvSpPr>
        <p:spPr>
          <a:xfrm>
            <a:off x="2268537" y="1916112"/>
            <a:ext cx="5327650" cy="3268662"/>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569E"/>
              </a:buClr>
              <a:buSzPts val="2400"/>
              <a:buFont typeface="Noto Sans Symbols"/>
              <a:buChar char="▪"/>
            </a:pPr>
            <a:r>
              <a:rPr b="0" i="1" lang="en-US" sz="2400" u="none">
                <a:solidFill>
                  <a:srgbClr val="22569E"/>
                </a:solidFill>
                <a:latin typeface="Calibri"/>
                <a:ea typeface="Calibri"/>
                <a:cs typeface="Calibri"/>
                <a:sym typeface="Calibri"/>
              </a:rPr>
              <a:t>“A clinician testing a bright autistic boy presented him with a toy bed, and asked the child to name the parts. The child correctly labelled the bed, mattress and quilt. The clinician then pointed to the pillow and asked “ And what is this?” The boy replied, “It’s a piece of ravioli”.”</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0" name="Shape 360"/>
        <p:cNvGrpSpPr/>
        <p:nvPr/>
      </p:nvGrpSpPr>
      <p:grpSpPr>
        <a:xfrm>
          <a:off x="0" y="0"/>
          <a:ext cx="0" cy="0"/>
          <a:chOff x="0" y="0"/>
          <a:chExt cx="0" cy="0"/>
        </a:xfrm>
      </p:grpSpPr>
      <p:sp>
        <p:nvSpPr>
          <p:cNvPr id="361" name="Google Shape;361;p65"/>
          <p:cNvSpPr txBox="1"/>
          <p:nvPr>
            <p:ph idx="4294967295" type="title"/>
          </p:nvPr>
        </p:nvSpPr>
        <p:spPr>
          <a:xfrm>
            <a:off x="1403350" y="274637"/>
            <a:ext cx="6826250" cy="1209675"/>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Central Coherence</a:t>
            </a:r>
            <a:endParaRPr/>
          </a:p>
        </p:txBody>
      </p:sp>
      <p:sp>
        <p:nvSpPr>
          <p:cNvPr id="362" name="Google Shape;362;p65"/>
          <p:cNvSpPr txBox="1"/>
          <p:nvPr/>
        </p:nvSpPr>
        <p:spPr>
          <a:xfrm>
            <a:off x="2268537" y="1916112"/>
            <a:ext cx="5472112" cy="2376487"/>
          </a:xfrm>
          <a:prstGeom prst="rect">
            <a:avLst/>
          </a:prstGeom>
          <a:solidFill>
            <a:schemeClr val="lt1"/>
          </a:solid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22569E"/>
              </a:buClr>
              <a:buSzPts val="2400"/>
              <a:buFont typeface="Noto Sans Symbols"/>
              <a:buChar char="▪"/>
            </a:pPr>
            <a:r>
              <a:rPr b="0" i="0" lang="en-US" sz="2400" u="none">
                <a:solidFill>
                  <a:srgbClr val="22569E"/>
                </a:solidFill>
                <a:latin typeface="Calibri"/>
                <a:ea typeface="Calibri"/>
                <a:cs typeface="Calibri"/>
                <a:sym typeface="Calibri"/>
              </a:rPr>
              <a:t>+ ve: </a:t>
            </a:r>
            <a:r>
              <a:rPr b="0" i="1" lang="en-US" sz="2400" u="none">
                <a:solidFill>
                  <a:srgbClr val="22569E"/>
                </a:solidFill>
                <a:latin typeface="Calibri"/>
                <a:ea typeface="Calibri"/>
                <a:cs typeface="Calibri"/>
                <a:sym typeface="Calibri"/>
              </a:rPr>
              <a:t>privileged access to the parts of </a:t>
            </a:r>
            <a:r>
              <a:rPr b="0" i="1" lang="en-US" sz="2400" u="sng">
                <a:solidFill>
                  <a:srgbClr val="22569E"/>
                </a:solidFill>
                <a:latin typeface="Calibri"/>
                <a:ea typeface="Calibri"/>
                <a:cs typeface="Calibri"/>
                <a:sym typeface="Calibri"/>
              </a:rPr>
              <a:t>details</a:t>
            </a:r>
            <a:r>
              <a:rPr b="0" i="1" lang="en-US" sz="2400" u="none">
                <a:solidFill>
                  <a:srgbClr val="22569E"/>
                </a:solidFill>
                <a:latin typeface="Calibri"/>
                <a:ea typeface="Calibri"/>
                <a:cs typeface="Calibri"/>
                <a:sym typeface="Calibri"/>
              </a:rPr>
              <a:t> that are normally left unnoticed due to being embedded in whole figures. </a:t>
            </a:r>
            <a:endParaRPr/>
          </a:p>
          <a:p>
            <a:pPr indent="-190500" lvl="0" marL="342900" marR="0" rtl="0" algn="l">
              <a:lnSpc>
                <a:spcPct val="100000"/>
              </a:lnSpc>
              <a:spcBef>
                <a:spcPts val="480"/>
              </a:spcBef>
              <a:spcAft>
                <a:spcPts val="0"/>
              </a:spcAft>
              <a:buClr>
                <a:schemeClr val="dk1"/>
              </a:buClr>
              <a:buSzPts val="2400"/>
              <a:buFont typeface="Noto Sans Symbols"/>
              <a:buNone/>
            </a:pPr>
            <a:r>
              <a:t/>
            </a:r>
            <a:endParaRPr b="0" i="0" sz="2400" u="none">
              <a:solidFill>
                <a:srgbClr val="22569E"/>
              </a:solidFill>
              <a:latin typeface="Calibri"/>
              <a:ea typeface="Calibri"/>
              <a:cs typeface="Calibri"/>
              <a:sym typeface="Calibri"/>
            </a:endParaRPr>
          </a:p>
          <a:p>
            <a:pPr indent="-342900" lvl="0" marL="342900" marR="0" rtl="0" algn="l">
              <a:lnSpc>
                <a:spcPct val="100000"/>
              </a:lnSpc>
              <a:spcBef>
                <a:spcPts val="480"/>
              </a:spcBef>
              <a:spcAft>
                <a:spcPts val="0"/>
              </a:spcAft>
              <a:buClr>
                <a:srgbClr val="22569E"/>
              </a:buClr>
              <a:buSzPts val="2400"/>
              <a:buFont typeface="Noto Sans Symbols"/>
              <a:buChar char="▪"/>
            </a:pPr>
            <a:r>
              <a:rPr b="0" i="0" lang="en-US" sz="2400" u="none">
                <a:solidFill>
                  <a:srgbClr val="22569E"/>
                </a:solidFill>
                <a:latin typeface="Calibri"/>
                <a:ea typeface="Calibri"/>
                <a:cs typeface="Calibri"/>
                <a:sym typeface="Calibri"/>
              </a:rPr>
              <a:t>But: </a:t>
            </a:r>
            <a:r>
              <a:rPr b="0" i="1" lang="en-US" sz="2400" u="none">
                <a:solidFill>
                  <a:srgbClr val="22569E"/>
                </a:solidFill>
                <a:latin typeface="Calibri"/>
                <a:ea typeface="Calibri"/>
                <a:cs typeface="Calibri"/>
                <a:sym typeface="Calibri"/>
              </a:rPr>
              <a:t>if attention is directed to smaller details, then context and meaning are likely to be missed or misunderstood. </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6" name="Shape 366"/>
        <p:cNvGrpSpPr/>
        <p:nvPr/>
      </p:nvGrpSpPr>
      <p:grpSpPr>
        <a:xfrm>
          <a:off x="0" y="0"/>
          <a:ext cx="0" cy="0"/>
          <a:chOff x="0" y="0"/>
          <a:chExt cx="0" cy="0"/>
        </a:xfrm>
      </p:grpSpPr>
      <p:sp>
        <p:nvSpPr>
          <p:cNvPr id="367" name="Google Shape;367;p66"/>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Executive Functioning</a:t>
            </a:r>
            <a:endParaRPr/>
          </a:p>
        </p:txBody>
      </p:sp>
      <p:sp>
        <p:nvSpPr>
          <p:cNvPr id="368" name="Google Shape;368;p66"/>
          <p:cNvSpPr txBox="1"/>
          <p:nvPr>
            <p:ph idx="4294967295" type="body"/>
          </p:nvPr>
        </p:nvSpPr>
        <p:spPr>
          <a:xfrm>
            <a:off x="684212" y="1628775"/>
            <a:ext cx="8027987" cy="37004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chemeClr val="dk1"/>
              </a:buClr>
              <a:buSzPts val="2800"/>
              <a:buFont typeface="Arial"/>
              <a:buChar char="•"/>
            </a:pPr>
            <a:r>
              <a:rPr b="0" i="1" lang="en-US" sz="2800" u="none">
                <a:solidFill>
                  <a:schemeClr val="dk1"/>
                </a:solidFill>
                <a:latin typeface="Calibri"/>
                <a:ea typeface="Calibri"/>
                <a:cs typeface="Calibri"/>
                <a:sym typeface="Calibri"/>
              </a:rPr>
              <a:t>“The conscious control of thought and action”</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Poor planning</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Poor impulse control</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Disinhibition of predominant but incorrect responses</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Disorganised search</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Inflexibility of thought and action</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Behaviour not directed to achieving goals.</a:t>
            </a:r>
            <a:endParaRPr/>
          </a:p>
          <a:p>
            <a:pPr indent="-285750" lvl="1" marL="742950" marR="0" rtl="0" algn="l">
              <a:lnSpc>
                <a:spcPct val="100000"/>
              </a:lnSpc>
              <a:spcBef>
                <a:spcPts val="480"/>
              </a:spcBef>
              <a:spcAft>
                <a:spcPts val="0"/>
              </a:spcAft>
              <a:buClr>
                <a:schemeClr val="dk1"/>
              </a:buClr>
              <a:buSzPts val="2400"/>
              <a:buFont typeface="Arial"/>
              <a:buChar char="–"/>
            </a:pPr>
            <a:r>
              <a:rPr b="0" i="1" lang="en-US" sz="2400" u="none" cap="none" strike="noStrike">
                <a:solidFill>
                  <a:schemeClr val="dk1"/>
                </a:solidFill>
                <a:latin typeface="Calibri"/>
                <a:ea typeface="Calibri"/>
                <a:cs typeface="Calibri"/>
                <a:sym typeface="Calibri"/>
              </a:rPr>
              <a:t>Context inappropriate behaviour</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2" name="Shape 372"/>
        <p:cNvGrpSpPr/>
        <p:nvPr/>
      </p:nvGrpSpPr>
      <p:grpSpPr>
        <a:xfrm>
          <a:off x="0" y="0"/>
          <a:ext cx="0" cy="0"/>
          <a:chOff x="0" y="0"/>
          <a:chExt cx="0" cy="0"/>
        </a:xfrm>
      </p:grpSpPr>
      <p:sp>
        <p:nvSpPr>
          <p:cNvPr id="373" name="Google Shape;373;p67"/>
          <p:cNvSpPr txBox="1"/>
          <p:nvPr>
            <p:ph idx="4294967295" type="title"/>
          </p:nvPr>
        </p:nvSpPr>
        <p:spPr>
          <a:xfrm>
            <a:off x="0" y="274637"/>
            <a:ext cx="8229600"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Idioms</a:t>
            </a:r>
            <a:endParaRPr/>
          </a:p>
        </p:txBody>
      </p:sp>
      <p:sp>
        <p:nvSpPr>
          <p:cNvPr id="374" name="Google Shape;374;p67"/>
          <p:cNvSpPr txBox="1"/>
          <p:nvPr>
            <p:ph idx="4294967295" type="body"/>
          </p:nvPr>
        </p:nvSpPr>
        <p:spPr>
          <a:xfrm>
            <a:off x="2555875" y="1446212"/>
            <a:ext cx="4008437" cy="3810000"/>
          </a:xfrm>
          <a:prstGeom prst="rect">
            <a:avLst/>
          </a:prstGeom>
          <a:noFill/>
          <a:ln>
            <a:noFill/>
          </a:ln>
        </p:spPr>
        <p:txBody>
          <a:bodyPr anchorCtr="0" anchor="t" bIns="45700" lIns="91425" spcFirstLastPara="1" rIns="91425" wrap="square" tIns="45700">
            <a:noAutofit/>
          </a:bodyPr>
          <a:lstStyle/>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Smith’s Family Butcher </a:t>
            </a:r>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Bent out of shape</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Ants in my pants</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Catch 22</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Grab the bull by the horns</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Butterflies in my stomach</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Feeling under the weather</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Put two and two together</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Keep your head above water</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Loose lips sink ships</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Pie in the sky</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It’s raining cats and dogs</a:t>
            </a:r>
            <a:endParaRPr b="0" i="0" sz="2200" u="none">
              <a:solidFill>
                <a:schemeClr val="dk1"/>
              </a:solidFill>
              <a:latin typeface="Calibri"/>
              <a:ea typeface="Calibri"/>
              <a:cs typeface="Calibri"/>
              <a:sym typeface="Calibri"/>
            </a:endParaRPr>
          </a:p>
          <a:p>
            <a:pPr indent="-342900" lvl="0" marL="342900" marR="0" rtl="0" algn="just">
              <a:lnSpc>
                <a:spcPct val="100000"/>
              </a:lnSpc>
              <a:spcBef>
                <a:spcPts val="0"/>
              </a:spcBef>
              <a:spcAft>
                <a:spcPts val="0"/>
              </a:spcAft>
              <a:buClr>
                <a:schemeClr val="dk1"/>
              </a:buClr>
              <a:buSzPts val="2200"/>
              <a:buFont typeface="Arial"/>
              <a:buChar char="•"/>
            </a:pPr>
            <a:r>
              <a:rPr b="0" i="1" lang="en-US" sz="2200" u="none">
                <a:solidFill>
                  <a:schemeClr val="dk1"/>
                </a:solidFill>
                <a:latin typeface="Calibri"/>
                <a:ea typeface="Calibri"/>
                <a:cs typeface="Calibri"/>
                <a:sym typeface="Calibri"/>
              </a:rPr>
              <a:t>Fork in the road</a:t>
            </a:r>
            <a:endParaRPr b="0" i="0" sz="2200" u="none">
              <a:solidFill>
                <a:schemeClr val="dk1"/>
              </a:solidFill>
              <a:latin typeface="Calibri"/>
              <a:ea typeface="Calibri"/>
              <a:cs typeface="Calibri"/>
              <a:sym typeface="Calibri"/>
            </a:endParaRPr>
          </a:p>
          <a:p>
            <a:pPr indent="-203200" lvl="0" marL="342900" marR="0" rtl="0" algn="l">
              <a:spcBef>
                <a:spcPts val="440"/>
              </a:spcBef>
              <a:spcAft>
                <a:spcPts val="0"/>
              </a:spcAft>
              <a:buClr>
                <a:schemeClr val="dk1"/>
              </a:buClr>
              <a:buSzPts val="2200"/>
              <a:buFont typeface="Arial"/>
              <a:buNone/>
            </a:pPr>
            <a:r>
              <a:t/>
            </a:r>
            <a:endParaRPr b="0" i="0" sz="2200" u="none">
              <a:solidFill>
                <a:schemeClr val="dk1"/>
              </a:solidFill>
              <a:latin typeface="Calibri"/>
              <a:ea typeface="Calibri"/>
              <a:cs typeface="Calibri"/>
              <a:sym typeface="Calibri"/>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8" name="Shape 378"/>
        <p:cNvGrpSpPr/>
        <p:nvPr/>
      </p:nvGrpSpPr>
      <p:grpSpPr>
        <a:xfrm>
          <a:off x="0" y="0"/>
          <a:ext cx="0" cy="0"/>
          <a:chOff x="0" y="0"/>
          <a:chExt cx="0" cy="0"/>
        </a:xfrm>
      </p:grpSpPr>
      <p:sp>
        <p:nvSpPr>
          <p:cNvPr id="379" name="Google Shape;379;p68"/>
          <p:cNvSpPr txBox="1"/>
          <p:nvPr>
            <p:ph idx="4294967295" type="title"/>
          </p:nvPr>
        </p:nvSpPr>
        <p:spPr>
          <a:xfrm>
            <a:off x="611187" y="188912"/>
            <a:ext cx="8135937"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FFC000"/>
              </a:buClr>
              <a:buSzPts val="4400"/>
              <a:buFont typeface="Calibri"/>
              <a:buNone/>
            </a:pPr>
            <a:r>
              <a:rPr b="0" i="0" lang="en-US" sz="4400" u="none" cap="none" strike="noStrike">
                <a:solidFill>
                  <a:srgbClr val="FFC000"/>
                </a:solidFill>
                <a:latin typeface="Calibri"/>
                <a:ea typeface="Calibri"/>
                <a:cs typeface="Calibri"/>
                <a:sym typeface="Calibri"/>
              </a:rPr>
              <a:t>Iceberg model – understanding </a:t>
            </a:r>
            <a:r>
              <a:rPr b="0" i="1" lang="en-US" sz="4400" u="none" cap="none" strike="noStrike">
                <a:solidFill>
                  <a:srgbClr val="FFC000"/>
                </a:solidFill>
                <a:latin typeface="Calibri"/>
                <a:ea typeface="Calibri"/>
                <a:cs typeface="Calibri"/>
                <a:sym typeface="Calibri"/>
              </a:rPr>
              <a:t>individual</a:t>
            </a:r>
            <a:r>
              <a:rPr b="0" i="0" lang="en-US" sz="4400" u="none" cap="none" strike="noStrike">
                <a:solidFill>
                  <a:srgbClr val="FFC000"/>
                </a:solidFill>
                <a:latin typeface="Calibri"/>
                <a:ea typeface="Calibri"/>
                <a:cs typeface="Calibri"/>
                <a:sym typeface="Calibri"/>
              </a:rPr>
              <a:t> behaviour</a:t>
            </a:r>
            <a:endParaRPr/>
          </a:p>
        </p:txBody>
      </p:sp>
      <p:sp>
        <p:nvSpPr>
          <p:cNvPr id="380" name="Google Shape;380;p68"/>
          <p:cNvSpPr txBox="1"/>
          <p:nvPr>
            <p:ph idx="4294967295" type="body"/>
          </p:nvPr>
        </p:nvSpPr>
        <p:spPr>
          <a:xfrm>
            <a:off x="1403350" y="1444625"/>
            <a:ext cx="6948487" cy="1223962"/>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0000"/>
              </a:lnSpc>
              <a:spcBef>
                <a:spcPts val="0"/>
              </a:spcBef>
              <a:spcAft>
                <a:spcPts val="0"/>
              </a:spcAft>
              <a:buClr>
                <a:srgbClr val="FFC000"/>
              </a:buClr>
              <a:buSzPts val="2400"/>
              <a:buFont typeface="Arial"/>
              <a:buNone/>
            </a:pPr>
            <a:r>
              <a:rPr b="0" i="0" lang="en-US" sz="2400" u="none" cap="none" strike="noStrike">
                <a:solidFill>
                  <a:srgbClr val="FFC000"/>
                </a:solidFill>
                <a:latin typeface="Calibri"/>
                <a:ea typeface="Calibri"/>
                <a:cs typeface="Calibri"/>
                <a:sym typeface="Calibri"/>
              </a:rPr>
              <a:t>	The behaviour that we see is just the tip of the iceberg….we need to look below the surface to understand what the behaviour is telling us</a:t>
            </a:r>
            <a:endParaRPr/>
          </a:p>
          <a:p>
            <a:pPr indent="-3429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rgbClr val="FFC000"/>
              </a:solidFill>
              <a:latin typeface="Calibri"/>
              <a:ea typeface="Calibri"/>
              <a:cs typeface="Calibri"/>
              <a:sym typeface="Calibri"/>
            </a:endParaRPr>
          </a:p>
          <a:p>
            <a:pPr indent="-190500" lvl="0" marL="342900" marR="0" rtl="0" algn="l">
              <a:spcBef>
                <a:spcPts val="480"/>
              </a:spcBef>
              <a:spcAft>
                <a:spcPts val="0"/>
              </a:spcAft>
              <a:buClr>
                <a:schemeClr val="dk1"/>
              </a:buClr>
              <a:buSzPts val="2400"/>
              <a:buFont typeface="Arial"/>
              <a:buNone/>
            </a:pPr>
            <a:r>
              <a:t/>
            </a:r>
            <a:endParaRPr b="0" i="0" sz="2400" u="none">
              <a:solidFill>
                <a:srgbClr val="FFC000"/>
              </a:solidFill>
              <a:latin typeface="Calibri"/>
              <a:ea typeface="Calibri"/>
              <a:cs typeface="Calibri"/>
              <a:sym typeface="Calibri"/>
            </a:endParaRPr>
          </a:p>
        </p:txBody>
      </p:sp>
      <p:pic>
        <p:nvPicPr>
          <p:cNvPr id="381" name="Google Shape;381;p68"/>
          <p:cNvPicPr preferRelativeResize="0"/>
          <p:nvPr/>
        </p:nvPicPr>
        <p:blipFill rotWithShape="1">
          <a:blip r:embed="rId3">
            <a:alphaModFix/>
          </a:blip>
          <a:srcRect b="0" l="0" r="0" t="0"/>
          <a:stretch/>
        </p:blipFill>
        <p:spPr>
          <a:xfrm>
            <a:off x="2662237" y="2805112"/>
            <a:ext cx="4033837" cy="328771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5" name="Shape 385"/>
        <p:cNvGrpSpPr/>
        <p:nvPr/>
      </p:nvGrpSpPr>
      <p:grpSpPr>
        <a:xfrm>
          <a:off x="0" y="0"/>
          <a:ext cx="0" cy="0"/>
          <a:chOff x="0" y="0"/>
          <a:chExt cx="0" cy="0"/>
        </a:xfrm>
      </p:grpSpPr>
      <p:sp>
        <p:nvSpPr>
          <p:cNvPr id="386" name="Google Shape;386;p69"/>
          <p:cNvSpPr txBox="1"/>
          <p:nvPr>
            <p:ph idx="4294967295" type="title"/>
          </p:nvPr>
        </p:nvSpPr>
        <p:spPr>
          <a:xfrm>
            <a:off x="827087" y="192087"/>
            <a:ext cx="7640637"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Managing behaviour: ICEBERG analysis</a:t>
            </a:r>
            <a:endParaRPr/>
          </a:p>
        </p:txBody>
      </p:sp>
      <p:sp>
        <p:nvSpPr>
          <p:cNvPr id="387" name="Google Shape;387;p69"/>
          <p:cNvSpPr/>
          <p:nvPr/>
        </p:nvSpPr>
        <p:spPr>
          <a:xfrm>
            <a:off x="1331912" y="2813050"/>
            <a:ext cx="7416800" cy="731837"/>
          </a:xfrm>
          <a:custGeom>
            <a:rect b="b" l="l" r="r" t="t"/>
            <a:pathLst>
              <a:path extrusionOk="0" h="461" w="4672">
                <a:moveTo>
                  <a:pt x="0" y="371"/>
                </a:moveTo>
                <a:cubicBezTo>
                  <a:pt x="249" y="208"/>
                  <a:pt x="499" y="46"/>
                  <a:pt x="726" y="53"/>
                </a:cubicBezTo>
                <a:cubicBezTo>
                  <a:pt x="953" y="60"/>
                  <a:pt x="1134" y="371"/>
                  <a:pt x="1361" y="416"/>
                </a:cubicBezTo>
                <a:cubicBezTo>
                  <a:pt x="1588" y="461"/>
                  <a:pt x="1882" y="386"/>
                  <a:pt x="2086" y="325"/>
                </a:cubicBezTo>
                <a:cubicBezTo>
                  <a:pt x="2290" y="264"/>
                  <a:pt x="2396" y="38"/>
                  <a:pt x="2585" y="53"/>
                </a:cubicBezTo>
                <a:cubicBezTo>
                  <a:pt x="2774" y="68"/>
                  <a:pt x="3016" y="424"/>
                  <a:pt x="3220" y="416"/>
                </a:cubicBezTo>
                <a:cubicBezTo>
                  <a:pt x="3424" y="408"/>
                  <a:pt x="3591" y="16"/>
                  <a:pt x="3810" y="8"/>
                </a:cubicBezTo>
                <a:cubicBezTo>
                  <a:pt x="4029" y="0"/>
                  <a:pt x="4400" y="303"/>
                  <a:pt x="4536" y="371"/>
                </a:cubicBezTo>
                <a:cubicBezTo>
                  <a:pt x="4672" y="439"/>
                  <a:pt x="4649" y="427"/>
                  <a:pt x="4626" y="416"/>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88" name="Google Shape;388;p69"/>
          <p:cNvSpPr txBox="1"/>
          <p:nvPr/>
        </p:nvSpPr>
        <p:spPr>
          <a:xfrm>
            <a:off x="1025525" y="1879600"/>
            <a:ext cx="2089150" cy="7921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Specific behaviour</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“WHAT?”</a:t>
            </a:r>
            <a:endParaRPr/>
          </a:p>
        </p:txBody>
      </p:sp>
      <p:sp>
        <p:nvSpPr>
          <p:cNvPr id="389" name="Google Shape;389;p69"/>
          <p:cNvSpPr txBox="1"/>
          <p:nvPr/>
        </p:nvSpPr>
        <p:spPr>
          <a:xfrm>
            <a:off x="271462" y="3479800"/>
            <a:ext cx="2663825" cy="12239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Possible reason /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Communicative function</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“WHY?”</a:t>
            </a:r>
            <a:endParaRPr/>
          </a:p>
        </p:txBody>
      </p:sp>
      <p:sp>
        <p:nvSpPr>
          <p:cNvPr id="390" name="Google Shape;390;p69"/>
          <p:cNvSpPr/>
          <p:nvPr/>
        </p:nvSpPr>
        <p:spPr>
          <a:xfrm>
            <a:off x="3179762" y="1381125"/>
            <a:ext cx="4968875" cy="4213225"/>
          </a:xfrm>
          <a:custGeom>
            <a:rect b="b" l="l" r="r" t="t"/>
            <a:pathLst>
              <a:path extrusionOk="0" h="2654" w="3130">
                <a:moveTo>
                  <a:pt x="0" y="1202"/>
                </a:moveTo>
                <a:cubicBezTo>
                  <a:pt x="53" y="964"/>
                  <a:pt x="106" y="726"/>
                  <a:pt x="182" y="613"/>
                </a:cubicBezTo>
                <a:cubicBezTo>
                  <a:pt x="258" y="500"/>
                  <a:pt x="363" y="582"/>
                  <a:pt x="454" y="522"/>
                </a:cubicBezTo>
                <a:cubicBezTo>
                  <a:pt x="545" y="462"/>
                  <a:pt x="628" y="333"/>
                  <a:pt x="726" y="250"/>
                </a:cubicBezTo>
                <a:cubicBezTo>
                  <a:pt x="824" y="167"/>
                  <a:pt x="907" y="46"/>
                  <a:pt x="1043" y="23"/>
                </a:cubicBezTo>
                <a:cubicBezTo>
                  <a:pt x="1179" y="0"/>
                  <a:pt x="1406" y="99"/>
                  <a:pt x="1542" y="114"/>
                </a:cubicBezTo>
                <a:cubicBezTo>
                  <a:pt x="1678" y="129"/>
                  <a:pt x="1784" y="69"/>
                  <a:pt x="1860" y="114"/>
                </a:cubicBezTo>
                <a:cubicBezTo>
                  <a:pt x="1936" y="159"/>
                  <a:pt x="1928" y="325"/>
                  <a:pt x="1996" y="386"/>
                </a:cubicBezTo>
                <a:cubicBezTo>
                  <a:pt x="2064" y="447"/>
                  <a:pt x="2230" y="409"/>
                  <a:pt x="2268" y="477"/>
                </a:cubicBezTo>
                <a:cubicBezTo>
                  <a:pt x="2306" y="545"/>
                  <a:pt x="2200" y="719"/>
                  <a:pt x="2223" y="794"/>
                </a:cubicBezTo>
                <a:cubicBezTo>
                  <a:pt x="2246" y="869"/>
                  <a:pt x="2389" y="877"/>
                  <a:pt x="2404" y="930"/>
                </a:cubicBezTo>
                <a:cubicBezTo>
                  <a:pt x="2419" y="983"/>
                  <a:pt x="2276" y="1014"/>
                  <a:pt x="2314" y="1112"/>
                </a:cubicBezTo>
                <a:cubicBezTo>
                  <a:pt x="2352" y="1210"/>
                  <a:pt x="2555" y="1361"/>
                  <a:pt x="2631" y="1520"/>
                </a:cubicBezTo>
                <a:cubicBezTo>
                  <a:pt x="2707" y="1679"/>
                  <a:pt x="2737" y="1928"/>
                  <a:pt x="2767" y="2064"/>
                </a:cubicBezTo>
                <a:cubicBezTo>
                  <a:pt x="2797" y="2200"/>
                  <a:pt x="2759" y="2261"/>
                  <a:pt x="2812" y="2336"/>
                </a:cubicBezTo>
                <a:cubicBezTo>
                  <a:pt x="2865" y="2411"/>
                  <a:pt x="3040" y="2465"/>
                  <a:pt x="3085" y="2518"/>
                </a:cubicBezTo>
                <a:cubicBezTo>
                  <a:pt x="3130" y="2571"/>
                  <a:pt x="3085" y="2631"/>
                  <a:pt x="3085" y="2654"/>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1" name="Google Shape;391;p69"/>
          <p:cNvSpPr/>
          <p:nvPr/>
        </p:nvSpPr>
        <p:spPr>
          <a:xfrm>
            <a:off x="2771775" y="3286125"/>
            <a:ext cx="685800" cy="2449512"/>
          </a:xfrm>
          <a:custGeom>
            <a:rect b="b" l="l" r="r" t="t"/>
            <a:pathLst>
              <a:path extrusionOk="0" h="1543" w="432">
                <a:moveTo>
                  <a:pt x="250" y="0"/>
                </a:moveTo>
                <a:cubicBezTo>
                  <a:pt x="189" y="136"/>
                  <a:pt x="129" y="273"/>
                  <a:pt x="159" y="409"/>
                </a:cubicBezTo>
                <a:cubicBezTo>
                  <a:pt x="189" y="545"/>
                  <a:pt x="432" y="696"/>
                  <a:pt x="432" y="817"/>
                </a:cubicBezTo>
                <a:cubicBezTo>
                  <a:pt x="432" y="938"/>
                  <a:pt x="227" y="1043"/>
                  <a:pt x="159" y="1134"/>
                </a:cubicBezTo>
                <a:cubicBezTo>
                  <a:pt x="91" y="1225"/>
                  <a:pt x="46" y="1293"/>
                  <a:pt x="23" y="1361"/>
                </a:cubicBezTo>
                <a:cubicBezTo>
                  <a:pt x="0" y="1429"/>
                  <a:pt x="11" y="1486"/>
                  <a:pt x="23" y="1543"/>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2" name="Google Shape;392;p69"/>
          <p:cNvSpPr txBox="1"/>
          <p:nvPr/>
        </p:nvSpPr>
        <p:spPr>
          <a:xfrm>
            <a:off x="171450" y="4725987"/>
            <a:ext cx="2736850" cy="5032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The Iceberg Metaphor </a:t>
            </a:r>
            <a:endParaRPr/>
          </a:p>
          <a:p>
            <a:pPr indent="0" lvl="0" marL="0" marR="0" rtl="0" algn="ctr">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(Schopler 1995)</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6" name="Shape 396"/>
        <p:cNvGrpSpPr/>
        <p:nvPr/>
      </p:nvGrpSpPr>
      <p:grpSpPr>
        <a:xfrm>
          <a:off x="0" y="0"/>
          <a:ext cx="0" cy="0"/>
          <a:chOff x="0" y="0"/>
          <a:chExt cx="0" cy="0"/>
        </a:xfrm>
      </p:grpSpPr>
      <p:sp>
        <p:nvSpPr>
          <p:cNvPr id="397" name="Google Shape;397;p70"/>
          <p:cNvSpPr txBox="1"/>
          <p:nvPr>
            <p:ph idx="4294967295" type="title"/>
          </p:nvPr>
        </p:nvSpPr>
        <p:spPr>
          <a:xfrm>
            <a:off x="755650" y="153987"/>
            <a:ext cx="7640637"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Managing behaviour: ICEBERG analysis</a:t>
            </a:r>
            <a:endParaRPr/>
          </a:p>
        </p:txBody>
      </p:sp>
      <p:sp>
        <p:nvSpPr>
          <p:cNvPr id="398" name="Google Shape;398;p70"/>
          <p:cNvSpPr/>
          <p:nvPr/>
        </p:nvSpPr>
        <p:spPr>
          <a:xfrm>
            <a:off x="1331912" y="2813050"/>
            <a:ext cx="7416800" cy="731837"/>
          </a:xfrm>
          <a:custGeom>
            <a:rect b="b" l="l" r="r" t="t"/>
            <a:pathLst>
              <a:path extrusionOk="0" h="461" w="4672">
                <a:moveTo>
                  <a:pt x="0" y="371"/>
                </a:moveTo>
                <a:cubicBezTo>
                  <a:pt x="249" y="208"/>
                  <a:pt x="499" y="46"/>
                  <a:pt x="726" y="53"/>
                </a:cubicBezTo>
                <a:cubicBezTo>
                  <a:pt x="953" y="60"/>
                  <a:pt x="1134" y="371"/>
                  <a:pt x="1361" y="416"/>
                </a:cubicBezTo>
                <a:cubicBezTo>
                  <a:pt x="1588" y="461"/>
                  <a:pt x="1882" y="386"/>
                  <a:pt x="2086" y="325"/>
                </a:cubicBezTo>
                <a:cubicBezTo>
                  <a:pt x="2290" y="264"/>
                  <a:pt x="2396" y="38"/>
                  <a:pt x="2585" y="53"/>
                </a:cubicBezTo>
                <a:cubicBezTo>
                  <a:pt x="2774" y="68"/>
                  <a:pt x="3016" y="424"/>
                  <a:pt x="3220" y="416"/>
                </a:cubicBezTo>
                <a:cubicBezTo>
                  <a:pt x="3424" y="408"/>
                  <a:pt x="3591" y="16"/>
                  <a:pt x="3810" y="8"/>
                </a:cubicBezTo>
                <a:cubicBezTo>
                  <a:pt x="4029" y="0"/>
                  <a:pt x="4400" y="303"/>
                  <a:pt x="4536" y="371"/>
                </a:cubicBezTo>
                <a:cubicBezTo>
                  <a:pt x="4672" y="439"/>
                  <a:pt x="4649" y="427"/>
                  <a:pt x="4626" y="416"/>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399" name="Google Shape;399;p70"/>
          <p:cNvSpPr txBox="1"/>
          <p:nvPr/>
        </p:nvSpPr>
        <p:spPr>
          <a:xfrm>
            <a:off x="1025525" y="1879600"/>
            <a:ext cx="2089150" cy="7921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Specific behaviour</a:t>
            </a:r>
            <a:endParaRPr/>
          </a:p>
          <a:p>
            <a:pPr indent="0" lvl="0" marL="0" marR="0" rtl="0" algn="ctr">
              <a:lnSpc>
                <a:spcPct val="100000"/>
              </a:lnSpc>
              <a:spcBef>
                <a:spcPts val="0"/>
              </a:spcBef>
              <a:spcAft>
                <a:spcPts val="0"/>
              </a:spcAft>
              <a:buClr>
                <a:schemeClr val="dk1"/>
              </a:buClr>
              <a:buSzPts val="2000"/>
              <a:buFont typeface="Arial"/>
              <a:buNone/>
            </a:pPr>
            <a:r>
              <a:rPr b="1" i="0" lang="en-US" sz="2000" u="none">
                <a:solidFill>
                  <a:schemeClr val="dk1"/>
                </a:solidFill>
                <a:latin typeface="Arial"/>
                <a:ea typeface="Arial"/>
                <a:cs typeface="Arial"/>
                <a:sym typeface="Arial"/>
              </a:rPr>
              <a:t>“WHAT?”</a:t>
            </a:r>
            <a:endParaRPr/>
          </a:p>
        </p:txBody>
      </p:sp>
      <p:sp>
        <p:nvSpPr>
          <p:cNvPr id="400" name="Google Shape;400;p70"/>
          <p:cNvSpPr txBox="1"/>
          <p:nvPr/>
        </p:nvSpPr>
        <p:spPr>
          <a:xfrm>
            <a:off x="271462" y="3479800"/>
            <a:ext cx="2663825" cy="12239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Possible reason / </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Communicative function</a:t>
            </a:r>
            <a:endParaRPr/>
          </a:p>
          <a:p>
            <a:pPr indent="0" lvl="0" marL="0" marR="0" rtl="0" algn="ctr">
              <a:lnSpc>
                <a:spcPct val="100000"/>
              </a:lnSpc>
              <a:spcBef>
                <a:spcPts val="0"/>
              </a:spcBef>
              <a:spcAft>
                <a:spcPts val="0"/>
              </a:spcAft>
              <a:buClr>
                <a:schemeClr val="dk1"/>
              </a:buClr>
              <a:buSzPts val="1800"/>
              <a:buFont typeface="Arial"/>
              <a:buNone/>
            </a:pPr>
            <a:r>
              <a:rPr b="1" i="0" lang="en-US" sz="1800" u="none">
                <a:solidFill>
                  <a:schemeClr val="dk1"/>
                </a:solidFill>
                <a:latin typeface="Arial"/>
                <a:ea typeface="Arial"/>
                <a:cs typeface="Arial"/>
                <a:sym typeface="Arial"/>
              </a:rPr>
              <a:t>“WHY?”</a:t>
            </a:r>
            <a:endParaRPr/>
          </a:p>
        </p:txBody>
      </p:sp>
      <p:sp>
        <p:nvSpPr>
          <p:cNvPr id="401" name="Google Shape;401;p70"/>
          <p:cNvSpPr/>
          <p:nvPr/>
        </p:nvSpPr>
        <p:spPr>
          <a:xfrm>
            <a:off x="3179762" y="1381125"/>
            <a:ext cx="4968875" cy="4213225"/>
          </a:xfrm>
          <a:custGeom>
            <a:rect b="b" l="l" r="r" t="t"/>
            <a:pathLst>
              <a:path extrusionOk="0" h="2654" w="3130">
                <a:moveTo>
                  <a:pt x="0" y="1202"/>
                </a:moveTo>
                <a:cubicBezTo>
                  <a:pt x="53" y="964"/>
                  <a:pt x="106" y="726"/>
                  <a:pt x="182" y="613"/>
                </a:cubicBezTo>
                <a:cubicBezTo>
                  <a:pt x="258" y="500"/>
                  <a:pt x="363" y="582"/>
                  <a:pt x="454" y="522"/>
                </a:cubicBezTo>
                <a:cubicBezTo>
                  <a:pt x="545" y="462"/>
                  <a:pt x="628" y="333"/>
                  <a:pt x="726" y="250"/>
                </a:cubicBezTo>
                <a:cubicBezTo>
                  <a:pt x="824" y="167"/>
                  <a:pt x="907" y="46"/>
                  <a:pt x="1043" y="23"/>
                </a:cubicBezTo>
                <a:cubicBezTo>
                  <a:pt x="1179" y="0"/>
                  <a:pt x="1406" y="99"/>
                  <a:pt x="1542" y="114"/>
                </a:cubicBezTo>
                <a:cubicBezTo>
                  <a:pt x="1678" y="129"/>
                  <a:pt x="1784" y="69"/>
                  <a:pt x="1860" y="114"/>
                </a:cubicBezTo>
                <a:cubicBezTo>
                  <a:pt x="1936" y="159"/>
                  <a:pt x="1928" y="325"/>
                  <a:pt x="1996" y="386"/>
                </a:cubicBezTo>
                <a:cubicBezTo>
                  <a:pt x="2064" y="447"/>
                  <a:pt x="2230" y="409"/>
                  <a:pt x="2268" y="477"/>
                </a:cubicBezTo>
                <a:cubicBezTo>
                  <a:pt x="2306" y="545"/>
                  <a:pt x="2200" y="719"/>
                  <a:pt x="2223" y="794"/>
                </a:cubicBezTo>
                <a:cubicBezTo>
                  <a:pt x="2246" y="869"/>
                  <a:pt x="2389" y="877"/>
                  <a:pt x="2404" y="930"/>
                </a:cubicBezTo>
                <a:cubicBezTo>
                  <a:pt x="2419" y="983"/>
                  <a:pt x="2276" y="1014"/>
                  <a:pt x="2314" y="1112"/>
                </a:cubicBezTo>
                <a:cubicBezTo>
                  <a:pt x="2352" y="1210"/>
                  <a:pt x="2555" y="1361"/>
                  <a:pt x="2631" y="1520"/>
                </a:cubicBezTo>
                <a:cubicBezTo>
                  <a:pt x="2707" y="1679"/>
                  <a:pt x="2737" y="1928"/>
                  <a:pt x="2767" y="2064"/>
                </a:cubicBezTo>
                <a:cubicBezTo>
                  <a:pt x="2797" y="2200"/>
                  <a:pt x="2759" y="2261"/>
                  <a:pt x="2812" y="2336"/>
                </a:cubicBezTo>
                <a:cubicBezTo>
                  <a:pt x="2865" y="2411"/>
                  <a:pt x="3040" y="2465"/>
                  <a:pt x="3085" y="2518"/>
                </a:cubicBezTo>
                <a:cubicBezTo>
                  <a:pt x="3130" y="2571"/>
                  <a:pt x="3085" y="2631"/>
                  <a:pt x="3085" y="2654"/>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2" name="Google Shape;402;p70"/>
          <p:cNvSpPr/>
          <p:nvPr/>
        </p:nvSpPr>
        <p:spPr>
          <a:xfrm>
            <a:off x="2771775" y="3286125"/>
            <a:ext cx="685800" cy="2449512"/>
          </a:xfrm>
          <a:custGeom>
            <a:rect b="b" l="l" r="r" t="t"/>
            <a:pathLst>
              <a:path extrusionOk="0" h="1543" w="432">
                <a:moveTo>
                  <a:pt x="250" y="0"/>
                </a:moveTo>
                <a:cubicBezTo>
                  <a:pt x="189" y="136"/>
                  <a:pt x="129" y="273"/>
                  <a:pt x="159" y="409"/>
                </a:cubicBezTo>
                <a:cubicBezTo>
                  <a:pt x="189" y="545"/>
                  <a:pt x="432" y="696"/>
                  <a:pt x="432" y="817"/>
                </a:cubicBezTo>
                <a:cubicBezTo>
                  <a:pt x="432" y="938"/>
                  <a:pt x="227" y="1043"/>
                  <a:pt x="159" y="1134"/>
                </a:cubicBezTo>
                <a:cubicBezTo>
                  <a:pt x="91" y="1225"/>
                  <a:pt x="46" y="1293"/>
                  <a:pt x="23" y="1361"/>
                </a:cubicBezTo>
                <a:cubicBezTo>
                  <a:pt x="0" y="1429"/>
                  <a:pt x="11" y="1486"/>
                  <a:pt x="23" y="1543"/>
                </a:cubicBezTo>
              </a:path>
            </a:pathLst>
          </a:custGeom>
          <a:noFill/>
          <a:ln cap="flat" cmpd="sng" w="28575">
            <a:solidFill>
              <a:schemeClr val="dk1"/>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2400" u="none">
              <a:solidFill>
                <a:schemeClr val="dk1"/>
              </a:solidFill>
              <a:latin typeface="Arial"/>
              <a:ea typeface="Arial"/>
              <a:cs typeface="Arial"/>
              <a:sym typeface="Arial"/>
            </a:endParaRPr>
          </a:p>
        </p:txBody>
      </p:sp>
      <p:sp>
        <p:nvSpPr>
          <p:cNvPr id="403" name="Google Shape;403;p70"/>
          <p:cNvSpPr txBox="1"/>
          <p:nvPr/>
        </p:nvSpPr>
        <p:spPr>
          <a:xfrm>
            <a:off x="171450" y="4725987"/>
            <a:ext cx="2736850" cy="503237"/>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The Iceberg Metaphor </a:t>
            </a:r>
            <a:endParaRPr/>
          </a:p>
          <a:p>
            <a:pPr indent="0" lvl="0" marL="0" marR="0" rtl="0" algn="ctr">
              <a:lnSpc>
                <a:spcPct val="100000"/>
              </a:lnSpc>
              <a:spcBef>
                <a:spcPts val="0"/>
              </a:spcBef>
              <a:spcAft>
                <a:spcPts val="0"/>
              </a:spcAft>
              <a:buClr>
                <a:schemeClr val="dk1"/>
              </a:buClr>
              <a:buSzPts val="1400"/>
              <a:buFont typeface="Arial"/>
              <a:buNone/>
            </a:pPr>
            <a:r>
              <a:rPr b="1" i="0" lang="en-US" sz="1400" u="none">
                <a:solidFill>
                  <a:schemeClr val="dk1"/>
                </a:solidFill>
                <a:latin typeface="Arial"/>
                <a:ea typeface="Arial"/>
                <a:cs typeface="Arial"/>
                <a:sym typeface="Arial"/>
              </a:rPr>
              <a:t>(Schopler 1995)</a:t>
            </a:r>
            <a:endParaRPr/>
          </a:p>
        </p:txBody>
      </p:sp>
      <p:sp>
        <p:nvSpPr>
          <p:cNvPr id="404" name="Google Shape;404;p70"/>
          <p:cNvSpPr txBox="1"/>
          <p:nvPr/>
        </p:nvSpPr>
        <p:spPr>
          <a:xfrm>
            <a:off x="4067175" y="1701800"/>
            <a:ext cx="1944687" cy="12954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e.g. angry outbursts</a:t>
            </a:r>
            <a:endParaRPr/>
          </a:p>
        </p:txBody>
      </p:sp>
      <p:sp>
        <p:nvSpPr>
          <p:cNvPr id="405" name="Google Shape;405;p70"/>
          <p:cNvSpPr txBox="1"/>
          <p:nvPr/>
        </p:nvSpPr>
        <p:spPr>
          <a:xfrm>
            <a:off x="3529012" y="3760787"/>
            <a:ext cx="3960812" cy="1871662"/>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e.g. poor understanding of social rules</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Unaware of others’ feeling</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Hypo-sensitive to touch</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Frustration over communication skills</a:t>
            </a:r>
            <a:endParaRPr/>
          </a:p>
          <a:p>
            <a:pPr indent="0" lvl="0" marL="0" marR="0" rtl="0" algn="ctr">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Response to stressor (e.g. noise, smell)</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9" name="Shape 409"/>
        <p:cNvGrpSpPr/>
        <p:nvPr/>
      </p:nvGrpSpPr>
      <p:grpSpPr>
        <a:xfrm>
          <a:off x="0" y="0"/>
          <a:ext cx="0" cy="0"/>
          <a:chOff x="0" y="0"/>
          <a:chExt cx="0" cy="0"/>
        </a:xfrm>
      </p:grpSpPr>
      <p:sp>
        <p:nvSpPr>
          <p:cNvPr id="410" name="Google Shape;410;p71"/>
          <p:cNvSpPr txBox="1"/>
          <p:nvPr>
            <p:ph idx="4294967295" type="title"/>
          </p:nvPr>
        </p:nvSpPr>
        <p:spPr>
          <a:xfrm>
            <a:off x="611187" y="333375"/>
            <a:ext cx="7640637" cy="1143000"/>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dk1"/>
              </a:buClr>
              <a:buSzPts val="4400"/>
              <a:buFont typeface="Calibri"/>
              <a:buNone/>
            </a:pPr>
            <a:r>
              <a:rPr b="0" i="0" lang="en-US" sz="4400" u="none" cap="none" strike="noStrike">
                <a:solidFill>
                  <a:schemeClr val="dk1"/>
                </a:solidFill>
                <a:latin typeface="Calibri"/>
                <a:ea typeface="Calibri"/>
                <a:cs typeface="Calibri"/>
                <a:sym typeface="Calibri"/>
              </a:rPr>
              <a:t>Managing behaviour: ICEBERG analysis - activity</a:t>
            </a:r>
            <a:endParaRPr/>
          </a:p>
        </p:txBody>
      </p:sp>
      <p:sp>
        <p:nvSpPr>
          <p:cNvPr id="411" name="Google Shape;411;p71"/>
          <p:cNvSpPr txBox="1"/>
          <p:nvPr>
            <p:ph idx="4294967295" type="body"/>
          </p:nvPr>
        </p:nvSpPr>
        <p:spPr>
          <a:xfrm>
            <a:off x="539750" y="1989137"/>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In small groups, talk about going to a crowded shopping centre:</a:t>
            </a:r>
            <a:endParaRPr/>
          </a:p>
          <a:p>
            <a:pPr indent="-152400" lvl="0" marL="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Identify and describe some problem behaviours which a YP with autism might have going to the shops (put these in the top of the iceberg)</a:t>
            </a:r>
            <a:endParaRPr/>
          </a:p>
          <a:p>
            <a:pPr indent="-152400" lvl="0" marL="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Identify and describe what might be some of the causes or underlying reasons for these problem behaviours (put these in the hidden part of the iceberg)</a:t>
            </a:r>
            <a:endParaRPr/>
          </a:p>
          <a:p>
            <a:pPr indent="-152400" lvl="0" marL="0" marR="0" rtl="0" algn="l">
              <a:lnSpc>
                <a:spcPct val="100000"/>
              </a:lnSpc>
              <a:spcBef>
                <a:spcPts val="480"/>
              </a:spcBef>
              <a:spcAft>
                <a:spcPts val="0"/>
              </a:spcAft>
              <a:buClr>
                <a:schemeClr val="dk1"/>
              </a:buClr>
              <a:buSzPts val="2400"/>
              <a:buFont typeface="Arial"/>
              <a:buChar char="•"/>
            </a:pPr>
            <a:r>
              <a:rPr b="0" i="0" lang="en-US" sz="2400" u="none">
                <a:solidFill>
                  <a:schemeClr val="dk1"/>
                </a:solidFill>
                <a:latin typeface="Calibri"/>
                <a:ea typeface="Calibri"/>
                <a:cs typeface="Calibri"/>
                <a:sym typeface="Calibri"/>
              </a:rPr>
              <a:t>Be ready to share your ideas with the whole group</a:t>
            </a:r>
            <a:endParaRPr/>
          </a:p>
          <a:p>
            <a:pPr indent="-190500" lvl="0" marL="342900" marR="0" rtl="0" algn="l">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1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5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3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9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4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2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6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8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7_Powerpoint_master_template (1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