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79" r:id="rId4"/>
    <p:sldId id="291" r:id="rId5"/>
    <p:sldId id="296" r:id="rId6"/>
    <p:sldId id="297" r:id="rId7"/>
    <p:sldId id="298" r:id="rId8"/>
    <p:sldId id="274" r:id="rId9"/>
    <p:sldId id="275" r:id="rId10"/>
    <p:sldId id="276" r:id="rId11"/>
    <p:sldId id="292" r:id="rId12"/>
    <p:sldId id="277" r:id="rId13"/>
    <p:sldId id="278" r:id="rId14"/>
    <p:sldId id="280" r:id="rId15"/>
    <p:sldId id="281" r:id="rId16"/>
    <p:sldId id="282" r:id="rId17"/>
    <p:sldId id="283" r:id="rId18"/>
    <p:sldId id="284" r:id="rId19"/>
    <p:sldId id="285" r:id="rId20"/>
    <p:sldId id="286" r:id="rId21"/>
  </p:sldIdLst>
  <p:sldSz cx="12192000" cy="6858000"/>
  <p:notesSz cx="6889750" cy="10020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6715" autoAdjust="0"/>
  </p:normalViewPr>
  <p:slideViewPr>
    <p:cSldViewPr snapToGrid="0">
      <p:cViewPr varScale="1">
        <p:scale>
          <a:sx n="80" d="100"/>
          <a:sy n="80" d="100"/>
        </p:scale>
        <p:origin x="57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85558" cy="502755"/>
          </a:xfrm>
          <a:prstGeom prst="rect">
            <a:avLst/>
          </a:prstGeom>
        </p:spPr>
        <p:txBody>
          <a:bodyPr vert="horz" lIns="96634" tIns="48317" rIns="96634" bIns="48317" rtlCol="0"/>
          <a:lstStyle>
            <a:lvl1pPr algn="l">
              <a:defRPr sz="1300"/>
            </a:lvl1pPr>
          </a:lstStyle>
          <a:p>
            <a:endParaRPr lang="en-GB"/>
          </a:p>
        </p:txBody>
      </p:sp>
      <p:sp>
        <p:nvSpPr>
          <p:cNvPr id="3" name="Date Placeholder 2"/>
          <p:cNvSpPr>
            <a:spLocks noGrp="1"/>
          </p:cNvSpPr>
          <p:nvPr>
            <p:ph type="dt" idx="1"/>
          </p:nvPr>
        </p:nvSpPr>
        <p:spPr>
          <a:xfrm>
            <a:off x="3902597" y="1"/>
            <a:ext cx="2985558" cy="502755"/>
          </a:xfrm>
          <a:prstGeom prst="rect">
            <a:avLst/>
          </a:prstGeom>
        </p:spPr>
        <p:txBody>
          <a:bodyPr vert="horz" lIns="96634" tIns="48317" rIns="96634" bIns="48317" rtlCol="0"/>
          <a:lstStyle>
            <a:lvl1pPr algn="r">
              <a:defRPr sz="1300"/>
            </a:lvl1pPr>
          </a:lstStyle>
          <a:p>
            <a:fld id="{FA274F93-25CB-42A4-AB98-0EFB2BB7A485}" type="datetimeFigureOut">
              <a:rPr lang="en-GB" smtClean="0"/>
              <a:t>18/12/2015</a:t>
            </a:fld>
            <a:endParaRPr lang="en-GB"/>
          </a:p>
        </p:txBody>
      </p:sp>
      <p:sp>
        <p:nvSpPr>
          <p:cNvPr id="4" name="Slide Image Placeholder 3"/>
          <p:cNvSpPr>
            <a:spLocks noGrp="1" noRot="1" noChangeAspect="1"/>
          </p:cNvSpPr>
          <p:nvPr>
            <p:ph type="sldImg" idx="2"/>
          </p:nvPr>
        </p:nvSpPr>
        <p:spPr>
          <a:xfrm>
            <a:off x="438150" y="1252538"/>
            <a:ext cx="6013450" cy="3382962"/>
          </a:xfrm>
          <a:prstGeom prst="rect">
            <a:avLst/>
          </a:prstGeom>
          <a:noFill/>
          <a:ln w="12700">
            <a:solidFill>
              <a:prstClr val="black"/>
            </a:solidFill>
          </a:ln>
        </p:spPr>
        <p:txBody>
          <a:bodyPr vert="horz" lIns="96634" tIns="48317" rIns="96634" bIns="48317" rtlCol="0" anchor="ctr"/>
          <a:lstStyle/>
          <a:p>
            <a:endParaRPr lang="en-GB"/>
          </a:p>
        </p:txBody>
      </p:sp>
      <p:sp>
        <p:nvSpPr>
          <p:cNvPr id="5" name="Notes Placeholder 4"/>
          <p:cNvSpPr>
            <a:spLocks noGrp="1"/>
          </p:cNvSpPr>
          <p:nvPr>
            <p:ph type="body" sz="quarter" idx="3"/>
          </p:nvPr>
        </p:nvSpPr>
        <p:spPr>
          <a:xfrm>
            <a:off x="688975" y="4822270"/>
            <a:ext cx="5511800" cy="3945493"/>
          </a:xfrm>
          <a:prstGeom prst="rect">
            <a:avLst/>
          </a:prstGeom>
        </p:spPr>
        <p:txBody>
          <a:bodyPr vert="horz" lIns="96634" tIns="48317" rIns="96634" bIns="48317"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517547"/>
            <a:ext cx="2985558" cy="502754"/>
          </a:xfrm>
          <a:prstGeom prst="rect">
            <a:avLst/>
          </a:prstGeom>
        </p:spPr>
        <p:txBody>
          <a:bodyPr vert="horz" lIns="96634" tIns="48317" rIns="96634" bIns="48317" rtlCol="0" anchor="b"/>
          <a:lstStyle>
            <a:lvl1pPr algn="l">
              <a:defRPr sz="1300"/>
            </a:lvl1pPr>
          </a:lstStyle>
          <a:p>
            <a:endParaRPr lang="en-GB"/>
          </a:p>
        </p:txBody>
      </p:sp>
      <p:sp>
        <p:nvSpPr>
          <p:cNvPr id="7" name="Slide Number Placeholder 6"/>
          <p:cNvSpPr>
            <a:spLocks noGrp="1"/>
          </p:cNvSpPr>
          <p:nvPr>
            <p:ph type="sldNum" sz="quarter" idx="5"/>
          </p:nvPr>
        </p:nvSpPr>
        <p:spPr>
          <a:xfrm>
            <a:off x="3902597" y="9517547"/>
            <a:ext cx="2985558" cy="502754"/>
          </a:xfrm>
          <a:prstGeom prst="rect">
            <a:avLst/>
          </a:prstGeom>
        </p:spPr>
        <p:txBody>
          <a:bodyPr vert="horz" lIns="96634" tIns="48317" rIns="96634" bIns="48317" rtlCol="0" anchor="b"/>
          <a:lstStyle>
            <a:lvl1pPr algn="r">
              <a:defRPr sz="1300"/>
            </a:lvl1pPr>
          </a:lstStyle>
          <a:p>
            <a:fld id="{9EFA8B0C-E03A-4D30-BCB3-F921E8DEC0F2}" type="slidenum">
              <a:rPr lang="en-GB" smtClean="0"/>
              <a:t>‹#›</a:t>
            </a:fld>
            <a:endParaRPr lang="en-GB"/>
          </a:p>
        </p:txBody>
      </p:sp>
    </p:spTree>
    <p:extLst>
      <p:ext uri="{BB962C8B-B14F-4D97-AF65-F5344CB8AC3E}">
        <p14:creationId xmlns:p14="http://schemas.microsoft.com/office/powerpoint/2010/main" val="748984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Research the intervention ARAW</a:t>
            </a:r>
          </a:p>
          <a:p>
            <a:endParaRPr lang="en-GB" dirty="0" smtClean="0"/>
          </a:p>
          <a:p>
            <a:r>
              <a:rPr lang="en-GB" dirty="0" smtClean="0"/>
              <a:t>It</a:t>
            </a:r>
            <a:r>
              <a:rPr lang="en-GB" baseline="0" dirty="0" smtClean="0"/>
              <a:t> is in What Works for Children and Young People with Literacy Difficulties by Brooks (2013) as a recommended mainstream intervention</a:t>
            </a:r>
          </a:p>
          <a:p>
            <a:endParaRPr lang="en-GB" baseline="0" dirty="0" smtClean="0"/>
          </a:p>
          <a:p>
            <a:r>
              <a:rPr lang="en-GB" baseline="0" dirty="0" smtClean="0"/>
              <a:t>So I’ve been thinking about which groups of children would it be most effective for. </a:t>
            </a:r>
            <a:endParaRPr lang="en-GB" dirty="0"/>
          </a:p>
        </p:txBody>
      </p:sp>
      <p:sp>
        <p:nvSpPr>
          <p:cNvPr id="4" name="Slide Number Placeholder 3"/>
          <p:cNvSpPr>
            <a:spLocks noGrp="1"/>
          </p:cNvSpPr>
          <p:nvPr>
            <p:ph type="sldNum" sz="quarter" idx="10"/>
          </p:nvPr>
        </p:nvSpPr>
        <p:spPr/>
        <p:txBody>
          <a:bodyPr/>
          <a:lstStyle/>
          <a:p>
            <a:fld id="{9EFA8B0C-E03A-4D30-BCB3-F921E8DEC0F2}" type="slidenum">
              <a:rPr lang="en-GB" smtClean="0"/>
              <a:t>1</a:t>
            </a:fld>
            <a:endParaRPr lang="en-GB"/>
          </a:p>
        </p:txBody>
      </p:sp>
    </p:spTree>
    <p:extLst>
      <p:ext uri="{BB962C8B-B14F-4D97-AF65-F5344CB8AC3E}">
        <p14:creationId xmlns:p14="http://schemas.microsoft.com/office/powerpoint/2010/main" val="26321014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 will describe intervention – the manual</a:t>
            </a:r>
            <a:r>
              <a:rPr lang="en-GB" baseline="0" dirty="0" smtClean="0"/>
              <a:t> talks about the number of underlying principles which makes it effective so I’ll talk about these. </a:t>
            </a:r>
          </a:p>
          <a:p>
            <a:endParaRPr lang="en-GB" baseline="0" dirty="0" smtClean="0"/>
          </a:p>
          <a:p>
            <a:r>
              <a:rPr lang="en-GB" baseline="0" dirty="0" smtClean="0"/>
              <a:t>Biggest section as there are only 4 studies into its effectiveness, will look at these</a:t>
            </a:r>
          </a:p>
          <a:p>
            <a:endParaRPr lang="en-GB" baseline="0" dirty="0" smtClean="0"/>
          </a:p>
          <a:p>
            <a:r>
              <a:rPr lang="en-GB" baseline="0" dirty="0" smtClean="0"/>
              <a:t>Then finish with implications and conclusions </a:t>
            </a:r>
            <a:endParaRPr lang="en-GB" dirty="0"/>
          </a:p>
        </p:txBody>
      </p:sp>
      <p:sp>
        <p:nvSpPr>
          <p:cNvPr id="4" name="Slide Number Placeholder 3"/>
          <p:cNvSpPr>
            <a:spLocks noGrp="1"/>
          </p:cNvSpPr>
          <p:nvPr>
            <p:ph type="sldNum" sz="quarter" idx="10"/>
          </p:nvPr>
        </p:nvSpPr>
        <p:spPr/>
        <p:txBody>
          <a:bodyPr/>
          <a:lstStyle/>
          <a:p>
            <a:fld id="{9EFA8B0C-E03A-4D30-BCB3-F921E8DEC0F2}" type="slidenum">
              <a:rPr lang="en-GB" smtClean="0"/>
              <a:t>2</a:t>
            </a:fld>
            <a:endParaRPr lang="en-GB"/>
          </a:p>
        </p:txBody>
      </p:sp>
    </p:spTree>
    <p:extLst>
      <p:ext uri="{BB962C8B-B14F-4D97-AF65-F5344CB8AC3E}">
        <p14:creationId xmlns:p14="http://schemas.microsoft.com/office/powerpoint/2010/main" val="290608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300" dirty="0"/>
              <a:t>Acceleread Accelewrite (ARAW) is a reading and writing intervention</a:t>
            </a:r>
            <a:r>
              <a:rPr lang="en-GB" sz="130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GB" sz="1300" dirty="0" smtClean="0"/>
              <a:t>It says it uses motivational aspects of technology, and creates a structured learning system where pupils receive immediate feedback.  </a:t>
            </a:r>
          </a:p>
          <a:p>
            <a:endParaRPr lang="en-GB" sz="1300" dirty="0" smtClean="0"/>
          </a:p>
          <a:p>
            <a:endParaRPr lang="en-GB" sz="1300" dirty="0"/>
          </a:p>
          <a:p>
            <a:r>
              <a:rPr lang="en-GB" sz="1300" dirty="0"/>
              <a:t>Talking computer project carried out in 1992, </a:t>
            </a:r>
            <a:r>
              <a:rPr lang="en-GB" sz="1300" dirty="0" smtClean="0"/>
              <a:t>by </a:t>
            </a:r>
            <a:r>
              <a:rPr lang="en-GB" sz="1300" dirty="0"/>
              <a:t>Martin Miles and </a:t>
            </a:r>
            <a:r>
              <a:rPr lang="en-GB" sz="1300" dirty="0" smtClean="0"/>
              <a:t>Vivienne </a:t>
            </a:r>
            <a:r>
              <a:rPr lang="en-GB" sz="1300" dirty="0"/>
              <a:t>Clifford. </a:t>
            </a:r>
          </a:p>
          <a:p>
            <a:r>
              <a:rPr lang="en-GB" sz="1300" dirty="0"/>
              <a:t>Over 2 years, system revised and Acceleread Accelewrite published in 1994</a:t>
            </a:r>
            <a:r>
              <a:rPr lang="en-GB" sz="1300" dirty="0" smtClean="0"/>
              <a:t>. 21 years ago. </a:t>
            </a:r>
            <a:endParaRPr lang="en-GB" sz="1300" dirty="0"/>
          </a:p>
          <a:p>
            <a:r>
              <a:rPr lang="en-GB" sz="1300" dirty="0"/>
              <a:t>Intervention is still being updated, latest manual copyrighted in 2014 and specifically talks about software for tablets, e.g. iPads. </a:t>
            </a:r>
            <a:endParaRPr lang="en-GB" sz="1300" dirty="0" smtClean="0"/>
          </a:p>
          <a:p>
            <a:endParaRPr lang="en-GB" sz="1300" dirty="0"/>
          </a:p>
          <a:p>
            <a:r>
              <a:rPr lang="en-GB" sz="1300" dirty="0"/>
              <a:t>The intervention provides schools with a pack of cards, each displaying four sentences, and recommendations of text-to-speech conversion software to download.  The child works with an adult to read and memorise a sentence, they then type the sentence into the computer, and the software reads back each word after it has been typed and the entire sentence when the full stop is entered.  If the child has spelled the word incorrectly, they are encouraged to identify the mistake and re-type the word correctly.  This is repeated until all sentences on the card have been typed.  Learners use the intervention for 20 minutes each day for between four and eight weeks.  </a:t>
            </a:r>
          </a:p>
          <a:p>
            <a:endParaRPr lang="en-GB" sz="1300" dirty="0"/>
          </a:p>
          <a:p>
            <a:r>
              <a:rPr lang="en-GB" sz="1300" dirty="0"/>
              <a:t>ARAW claims to develop visual and auditory memory, spelling, and reading (Clifford &amp; Miles, 2014).  </a:t>
            </a:r>
            <a:endParaRPr lang="en-GB" sz="1300" dirty="0" smtClean="0"/>
          </a:p>
          <a:p>
            <a:r>
              <a:rPr lang="en-GB" sz="1300" dirty="0" smtClean="0"/>
              <a:t>Different </a:t>
            </a:r>
            <a:r>
              <a:rPr lang="en-GB" sz="1300" dirty="0"/>
              <a:t>studies into the effectiveness of ARAW have used different outcome variables but one measure common to all research is reading, </a:t>
            </a:r>
            <a:endParaRPr lang="en-GB" sz="1300" dirty="0" smtClean="0"/>
          </a:p>
          <a:p>
            <a:r>
              <a:rPr lang="en-GB" sz="1300" dirty="0" smtClean="0"/>
              <a:t>Most empirical evidence for ARAW and reading. </a:t>
            </a:r>
          </a:p>
          <a:p>
            <a:r>
              <a:rPr lang="en-GB" sz="1300" dirty="0" smtClean="0"/>
              <a:t>Therefore </a:t>
            </a:r>
            <a:r>
              <a:rPr lang="en-GB" sz="1300" dirty="0"/>
              <a:t>this critique will specifically focus its effectiveness at improving the reading skills of learners.  </a:t>
            </a:r>
            <a:endParaRPr lang="en-GB" dirty="0"/>
          </a:p>
        </p:txBody>
      </p:sp>
      <p:sp>
        <p:nvSpPr>
          <p:cNvPr id="4" name="Slide Number Placeholder 3"/>
          <p:cNvSpPr>
            <a:spLocks noGrp="1"/>
          </p:cNvSpPr>
          <p:nvPr>
            <p:ph type="sldNum" sz="quarter" idx="10"/>
          </p:nvPr>
        </p:nvSpPr>
        <p:spPr/>
        <p:txBody>
          <a:bodyPr/>
          <a:lstStyle/>
          <a:p>
            <a:fld id="{9EFA8B0C-E03A-4D30-BCB3-F921E8DEC0F2}" type="slidenum">
              <a:rPr lang="en-GB" smtClean="0"/>
              <a:t>3</a:t>
            </a:fld>
            <a:endParaRPr lang="en-GB"/>
          </a:p>
        </p:txBody>
      </p:sp>
    </p:spTree>
    <p:extLst>
      <p:ext uri="{BB962C8B-B14F-4D97-AF65-F5344CB8AC3E}">
        <p14:creationId xmlns:p14="http://schemas.microsoft.com/office/powerpoint/2010/main" val="1658559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ARAW says that m</a:t>
            </a:r>
            <a:r>
              <a:rPr lang="en-GB" dirty="0" smtClean="0"/>
              <a:t>aking links between letters and sounds is a major stumbling block</a:t>
            </a:r>
            <a:r>
              <a:rPr lang="en-GB" baseline="0" dirty="0" smtClean="0"/>
              <a:t> for some children. </a:t>
            </a:r>
          </a:p>
          <a:p>
            <a:pPr marL="0" marR="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baseline="0" dirty="0" smtClean="0">
                <a:solidFill>
                  <a:schemeClr val="tx1"/>
                </a:solidFill>
                <a:latin typeface="+mn-lt"/>
                <a:ea typeface="+mn-ea"/>
                <a:cs typeface="+mn-cs"/>
              </a:rPr>
              <a:t>ARAW provides constant and immediate speech feedback on writing makes basic task of developing associations between letters and sounds less abstract, easier. </a:t>
            </a:r>
          </a:p>
          <a:p>
            <a:endParaRPr lang="en-GB" baseline="0" dirty="0" smtClean="0"/>
          </a:p>
          <a:p>
            <a:r>
              <a:rPr lang="en-GB" baseline="0" dirty="0" smtClean="0"/>
              <a:t>Phonemes: smallest units of sounds in spoken words</a:t>
            </a:r>
          </a:p>
          <a:p>
            <a:r>
              <a:rPr lang="en-GB" baseline="0" dirty="0" smtClean="0"/>
              <a:t>Graphemes: letter or group of letters which represent phonemes</a:t>
            </a:r>
          </a:p>
          <a:p>
            <a:r>
              <a:rPr lang="en-GB" baseline="0" dirty="0" smtClean="0"/>
              <a:t>When we learn to read, we have to learn how to map written graphemes onto spoken phonemes. </a:t>
            </a:r>
          </a:p>
          <a:p>
            <a:endParaRPr lang="en-GB" baseline="0" dirty="0" smtClean="0"/>
          </a:p>
          <a:p>
            <a:r>
              <a:rPr lang="en-GB" baseline="0" dirty="0" smtClean="0"/>
              <a:t>Research has found that the ability to map graphemes onto phonemes does seem to play unique roll in reading</a:t>
            </a:r>
          </a:p>
          <a:p>
            <a:r>
              <a:rPr lang="en-GB" i="1" baseline="0" dirty="0" err="1" smtClean="0"/>
              <a:t>Windfuhr</a:t>
            </a:r>
            <a:r>
              <a:rPr lang="en-GB" i="1" baseline="0" dirty="0" smtClean="0"/>
              <a:t> and </a:t>
            </a:r>
            <a:r>
              <a:rPr lang="en-GB" i="1" baseline="0" dirty="0" err="1" smtClean="0"/>
              <a:t>Snowling</a:t>
            </a:r>
            <a:r>
              <a:rPr lang="en-GB" i="1" baseline="0" dirty="0" smtClean="0"/>
              <a:t> (2001) visual verbal PAL unique proportion of variation in word reading even when phonemic awareness controlled for</a:t>
            </a:r>
          </a:p>
          <a:p>
            <a:r>
              <a:rPr lang="en-GB" i="1" baseline="0" dirty="0" smtClean="0"/>
              <a:t>	75 6-11year olds, 4 abstract shapes and nonsense words for them.</a:t>
            </a:r>
          </a:p>
          <a:p>
            <a:r>
              <a:rPr lang="en-GB" i="1" baseline="0" dirty="0" smtClean="0"/>
              <a:t>Hulme et al (2007) visual verbal PAL was unique predictor of word reading, other forms of PAL were not. Key associative learning process. </a:t>
            </a:r>
          </a:p>
          <a:p>
            <a:r>
              <a:rPr lang="en-GB" i="1" baseline="0" dirty="0" smtClean="0"/>
              <a:t>	study 1: 66 Year3-6 children, abstract shapes and nonsense words</a:t>
            </a:r>
          </a:p>
          <a:p>
            <a:r>
              <a:rPr lang="en-GB" i="1" baseline="0" dirty="0" smtClean="0"/>
              <a:t>	study 2: 127 Year 3-5 children, abstract shapes and nonsense words</a:t>
            </a:r>
          </a:p>
          <a:p>
            <a:r>
              <a:rPr lang="en-GB" i="1" baseline="0" dirty="0" err="1" smtClean="0"/>
              <a:t>Solity</a:t>
            </a:r>
            <a:r>
              <a:rPr lang="en-GB" i="1" baseline="0" dirty="0" smtClean="0"/>
              <a:t> (2000) Early Reading Research project, environmental changes to how reading is taught can improve GPC </a:t>
            </a:r>
          </a:p>
          <a:p>
            <a:r>
              <a:rPr lang="en-GB" i="1" baseline="0" dirty="0" smtClean="0"/>
              <a:t>	3xdaily sessions for 15minutes </a:t>
            </a:r>
          </a:p>
          <a:p>
            <a:r>
              <a:rPr lang="en-GB" i="1" baseline="0" dirty="0" smtClean="0"/>
              <a:t>	By end of Year 1, only 2% of ERR children were low achievers, 65% comparison children</a:t>
            </a:r>
          </a:p>
          <a:p>
            <a:endParaRPr lang="en-GB" baseline="0" dirty="0" smtClean="0"/>
          </a:p>
          <a:p>
            <a:r>
              <a:rPr lang="en-GB" baseline="0" dirty="0" smtClean="0"/>
              <a:t>BUT</a:t>
            </a:r>
          </a:p>
          <a:p>
            <a:r>
              <a:rPr lang="en-GB" baseline="0" dirty="0" err="1" smtClean="0"/>
              <a:t>Treiman</a:t>
            </a:r>
            <a:r>
              <a:rPr lang="en-GB" baseline="0" dirty="0" smtClean="0"/>
              <a:t> (2000) need phonological awareness, and letter knowledge before ready to map graphemes onto phonemes </a:t>
            </a:r>
          </a:p>
          <a:p>
            <a:r>
              <a:rPr lang="en-GB" baseline="0" dirty="0" err="1" smtClean="0"/>
              <a:t>Foulin</a:t>
            </a:r>
            <a:r>
              <a:rPr lang="en-GB" baseline="0" dirty="0" smtClean="0"/>
              <a:t> (2005) letter name knowledge is long-term predictor of reading ability </a:t>
            </a:r>
          </a:p>
          <a:p>
            <a:r>
              <a:rPr lang="en-GB" baseline="0" dirty="0" smtClean="0"/>
              <a:t>Hulme and </a:t>
            </a:r>
            <a:r>
              <a:rPr lang="en-GB" baseline="0" dirty="0" err="1" smtClean="0"/>
              <a:t>Snowling</a:t>
            </a:r>
            <a:r>
              <a:rPr lang="en-GB" baseline="0" dirty="0" smtClean="0"/>
              <a:t> (2013) PA (and LSK) is a cognitive foundation for learning to read </a:t>
            </a:r>
          </a:p>
          <a:p>
            <a:endParaRPr lang="en-GB" baseline="0" dirty="0" smtClean="0"/>
          </a:p>
          <a:p>
            <a:r>
              <a:rPr lang="en-GB" baseline="0" dirty="0" smtClean="0"/>
              <a:t>Perhaps ARAW is appropriate after children have PA and LK</a:t>
            </a:r>
          </a:p>
          <a:p>
            <a:r>
              <a:rPr lang="en-GB" baseline="0" dirty="0" smtClean="0"/>
              <a:t>ARAW’s multi-sensory approach will help development of GPC </a:t>
            </a:r>
          </a:p>
          <a:p>
            <a:r>
              <a:rPr lang="en-GB" i="1" baseline="0" dirty="0" smtClean="0"/>
              <a:t>(Model of Working Memory says multidimensional information can be created by episodic buffer, perhaps by providing learners with visual words and auditory speech) </a:t>
            </a:r>
          </a:p>
          <a:p>
            <a:endParaRPr lang="en-GB" baseline="0" dirty="0" smtClean="0"/>
          </a:p>
          <a:p>
            <a:r>
              <a:rPr lang="en-GB" baseline="0" dirty="0" smtClean="0"/>
              <a:t>BUT</a:t>
            </a:r>
          </a:p>
          <a:p>
            <a:r>
              <a:rPr lang="en-GB" baseline="0" dirty="0" smtClean="0"/>
              <a:t>Minimal multi-sensory information, black text on white background </a:t>
            </a:r>
          </a:p>
          <a:p>
            <a:r>
              <a:rPr lang="en-GB" baseline="0" dirty="0" smtClean="0"/>
              <a:t>Other interventions use exciting graphics </a:t>
            </a:r>
          </a:p>
          <a:p>
            <a:endParaRPr lang="en-GB" baseline="0" dirty="0" smtClean="0"/>
          </a:p>
          <a:p>
            <a:r>
              <a:rPr lang="en-GB" baseline="0" dirty="0" smtClean="0"/>
              <a:t>ARAW uses entire sentences</a:t>
            </a:r>
          </a:p>
          <a:p>
            <a:r>
              <a:rPr lang="en-GB" baseline="0" dirty="0" smtClean="0"/>
              <a:t>Phonics teaching: detect individual sounds, map to graphemes, learn to decode through segmenting and blending</a:t>
            </a:r>
          </a:p>
          <a:p>
            <a:r>
              <a:rPr lang="en-GB" baseline="0" dirty="0" smtClean="0"/>
              <a:t>So children must already have skills of segmenting words into sounds, by recalling phonemes from graphemes</a:t>
            </a:r>
          </a:p>
          <a:p>
            <a:endParaRPr lang="en-GB" baseline="0" dirty="0" smtClean="0"/>
          </a:p>
          <a:p>
            <a:r>
              <a:rPr lang="en-GB" baseline="0" dirty="0" smtClean="0"/>
              <a:t>Learning Hierarchy: learn skills to acquisition, fluency, retention, generalisation, adaptation. </a:t>
            </a:r>
          </a:p>
          <a:p>
            <a:r>
              <a:rPr lang="en-GB" baseline="0" dirty="0" smtClean="0"/>
              <a:t>Not appropriate for children who struggle or who are just developing these skills. </a:t>
            </a:r>
          </a:p>
          <a:p>
            <a:r>
              <a:rPr lang="en-GB" baseline="0" dirty="0" smtClean="0"/>
              <a:t>Useful intervention for supporting development of skills to fluency level?</a:t>
            </a:r>
          </a:p>
          <a:p>
            <a:endParaRPr lang="en-GB" baseline="0" dirty="0" smtClean="0"/>
          </a:p>
          <a:p>
            <a:r>
              <a:rPr lang="en-GB" baseline="0" dirty="0" smtClean="0"/>
              <a:t>Could adapt ARAW</a:t>
            </a:r>
          </a:p>
          <a:p>
            <a:r>
              <a:rPr lang="en-GB" baseline="0" dirty="0" smtClean="0"/>
              <a:t>Ask children to type individual words to reinforce GPC as they are taught in classroom </a:t>
            </a:r>
          </a:p>
          <a:p>
            <a:r>
              <a:rPr lang="en-GB" baseline="0" dirty="0" smtClean="0"/>
              <a:t>Plus split-attention problem when rehearsing sentences whilst typing 1 word </a:t>
            </a:r>
          </a:p>
          <a:p>
            <a:endParaRPr lang="en-GB" dirty="0"/>
          </a:p>
        </p:txBody>
      </p:sp>
      <p:sp>
        <p:nvSpPr>
          <p:cNvPr id="4" name="Slide Number Placeholder 3"/>
          <p:cNvSpPr>
            <a:spLocks noGrp="1"/>
          </p:cNvSpPr>
          <p:nvPr>
            <p:ph type="sldNum" sz="quarter" idx="10"/>
          </p:nvPr>
        </p:nvSpPr>
        <p:spPr/>
        <p:txBody>
          <a:bodyPr/>
          <a:lstStyle/>
          <a:p>
            <a:fld id="{9EFA8B0C-E03A-4D30-BCB3-F921E8DEC0F2}" type="slidenum">
              <a:rPr lang="en-GB" smtClean="0"/>
              <a:t>4</a:t>
            </a:fld>
            <a:endParaRPr lang="en-GB"/>
          </a:p>
        </p:txBody>
      </p:sp>
    </p:spTree>
    <p:extLst>
      <p:ext uri="{BB962C8B-B14F-4D97-AF65-F5344CB8AC3E}">
        <p14:creationId xmlns:p14="http://schemas.microsoft.com/office/powerpoint/2010/main" val="36894638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ARAW says that m</a:t>
            </a:r>
            <a:r>
              <a:rPr lang="en-GB" dirty="0" smtClean="0"/>
              <a:t>aking links between letters and sounds is a major stumbling block</a:t>
            </a:r>
            <a:r>
              <a:rPr lang="en-GB" baseline="0" dirty="0" smtClean="0"/>
              <a:t> for some children. </a:t>
            </a:r>
          </a:p>
          <a:p>
            <a:pPr marL="0" marR="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baseline="0" dirty="0" smtClean="0">
                <a:solidFill>
                  <a:schemeClr val="tx1"/>
                </a:solidFill>
                <a:latin typeface="+mn-lt"/>
                <a:ea typeface="+mn-ea"/>
                <a:cs typeface="+mn-cs"/>
              </a:rPr>
              <a:t>ARAW provides constant and immediate speech feedback on writing makes basic task of developing associations between letters and sounds less abstract, easier. </a:t>
            </a:r>
          </a:p>
          <a:p>
            <a:endParaRPr lang="en-GB" baseline="0" dirty="0" smtClean="0"/>
          </a:p>
          <a:p>
            <a:r>
              <a:rPr lang="en-GB" baseline="0" dirty="0" smtClean="0"/>
              <a:t>Phonemes: smallest units of sounds in spoken words</a:t>
            </a:r>
          </a:p>
          <a:p>
            <a:r>
              <a:rPr lang="en-GB" baseline="0" dirty="0" smtClean="0"/>
              <a:t>Graphemes: letter or group of letters which represent phonemes</a:t>
            </a:r>
          </a:p>
          <a:p>
            <a:r>
              <a:rPr lang="en-GB" baseline="0" dirty="0" smtClean="0"/>
              <a:t>When we learn to read, we have to learn how to map written graphemes onto spoken phonemes. </a:t>
            </a:r>
          </a:p>
          <a:p>
            <a:endParaRPr lang="en-GB" baseline="0" dirty="0" smtClean="0"/>
          </a:p>
          <a:p>
            <a:r>
              <a:rPr lang="en-GB" baseline="0" dirty="0" smtClean="0"/>
              <a:t>Research has found that the ability to map graphemes onto phonemes does seem to play unique roll in reading</a:t>
            </a:r>
          </a:p>
          <a:p>
            <a:r>
              <a:rPr lang="en-GB" i="1" baseline="0" dirty="0" err="1" smtClean="0"/>
              <a:t>Windfuhr</a:t>
            </a:r>
            <a:r>
              <a:rPr lang="en-GB" i="1" baseline="0" dirty="0" smtClean="0"/>
              <a:t> and </a:t>
            </a:r>
            <a:r>
              <a:rPr lang="en-GB" i="1" baseline="0" dirty="0" err="1" smtClean="0"/>
              <a:t>Snowling</a:t>
            </a:r>
            <a:r>
              <a:rPr lang="en-GB" i="1" baseline="0" dirty="0" smtClean="0"/>
              <a:t> (2001) visual verbal PAL unique proportion of variation in word reading even when phonemic awareness controlled for</a:t>
            </a:r>
          </a:p>
          <a:p>
            <a:r>
              <a:rPr lang="en-GB" i="1" baseline="0" dirty="0" smtClean="0"/>
              <a:t>	75 6-11year olds, 4 abstract shapes and nonsense words for them.</a:t>
            </a:r>
          </a:p>
          <a:p>
            <a:r>
              <a:rPr lang="en-GB" i="1" baseline="0" dirty="0" smtClean="0"/>
              <a:t>Hulme et al (2007) visual verbal PAL was unique predictor of word reading, other forms of PAL were not. Key associative learning process. </a:t>
            </a:r>
          </a:p>
          <a:p>
            <a:r>
              <a:rPr lang="en-GB" i="1" baseline="0" dirty="0" smtClean="0"/>
              <a:t>	study 1: 66 Year3-6 children, abstract shapes and nonsense words</a:t>
            </a:r>
          </a:p>
          <a:p>
            <a:r>
              <a:rPr lang="en-GB" i="1" baseline="0" dirty="0" smtClean="0"/>
              <a:t>	study 2: 127 Year 3-5 children, abstract shapes and nonsense words</a:t>
            </a:r>
          </a:p>
          <a:p>
            <a:r>
              <a:rPr lang="en-GB" i="1" baseline="0" dirty="0" err="1" smtClean="0"/>
              <a:t>Solity</a:t>
            </a:r>
            <a:r>
              <a:rPr lang="en-GB" i="1" baseline="0" dirty="0" smtClean="0"/>
              <a:t> (2000) Early Reading Research project, environmental changes to how reading is taught can improve GPC </a:t>
            </a:r>
          </a:p>
          <a:p>
            <a:r>
              <a:rPr lang="en-GB" i="1" baseline="0" dirty="0" smtClean="0"/>
              <a:t>	3xdaily sessions for 15minutes </a:t>
            </a:r>
          </a:p>
          <a:p>
            <a:r>
              <a:rPr lang="en-GB" i="1" baseline="0" dirty="0" smtClean="0"/>
              <a:t>	By end of Year 1, only 2% of ERR children were low achievers, 65% comparison children</a:t>
            </a:r>
          </a:p>
          <a:p>
            <a:endParaRPr lang="en-GB" baseline="0" dirty="0" smtClean="0"/>
          </a:p>
          <a:p>
            <a:r>
              <a:rPr lang="en-GB" baseline="0" dirty="0" smtClean="0"/>
              <a:t>BUT</a:t>
            </a:r>
          </a:p>
          <a:p>
            <a:r>
              <a:rPr lang="en-GB" baseline="0" dirty="0" err="1" smtClean="0"/>
              <a:t>Treiman</a:t>
            </a:r>
            <a:r>
              <a:rPr lang="en-GB" baseline="0" dirty="0" smtClean="0"/>
              <a:t> (2000) need phonological awareness, and letter knowledge before ready to map graphemes onto phonemes </a:t>
            </a:r>
          </a:p>
          <a:p>
            <a:r>
              <a:rPr lang="en-GB" baseline="0" dirty="0" err="1" smtClean="0"/>
              <a:t>Foulin</a:t>
            </a:r>
            <a:r>
              <a:rPr lang="en-GB" baseline="0" dirty="0" smtClean="0"/>
              <a:t> (2005) letter name knowledge is long-term predictor of reading ability </a:t>
            </a:r>
          </a:p>
          <a:p>
            <a:r>
              <a:rPr lang="en-GB" baseline="0" dirty="0" smtClean="0"/>
              <a:t>Hulme and </a:t>
            </a:r>
            <a:r>
              <a:rPr lang="en-GB" baseline="0" dirty="0" err="1" smtClean="0"/>
              <a:t>Snowling</a:t>
            </a:r>
            <a:r>
              <a:rPr lang="en-GB" baseline="0" dirty="0" smtClean="0"/>
              <a:t> (2013) PA (and LSK) is a cognitive foundation for learning to read </a:t>
            </a:r>
          </a:p>
          <a:p>
            <a:endParaRPr lang="en-GB" baseline="0" dirty="0" smtClean="0"/>
          </a:p>
          <a:p>
            <a:r>
              <a:rPr lang="en-GB" baseline="0" dirty="0" smtClean="0"/>
              <a:t>Perhaps ARAW is appropriate after children have PA and LK</a:t>
            </a:r>
          </a:p>
          <a:p>
            <a:r>
              <a:rPr lang="en-GB" baseline="0" dirty="0" smtClean="0"/>
              <a:t>ARAW’s multi-sensory approach will help development of GPC </a:t>
            </a:r>
          </a:p>
          <a:p>
            <a:r>
              <a:rPr lang="en-GB" i="1" baseline="0" dirty="0" smtClean="0"/>
              <a:t>(Model of Working Memory says multidimensional information can be created by episodic buffer, perhaps by providing learners with visual words and auditory speech) </a:t>
            </a:r>
          </a:p>
          <a:p>
            <a:endParaRPr lang="en-GB" baseline="0" dirty="0" smtClean="0"/>
          </a:p>
          <a:p>
            <a:r>
              <a:rPr lang="en-GB" baseline="0" dirty="0" smtClean="0"/>
              <a:t>BUT</a:t>
            </a:r>
          </a:p>
          <a:p>
            <a:r>
              <a:rPr lang="en-GB" baseline="0" dirty="0" smtClean="0"/>
              <a:t>Minimal multi-sensory information, black text on white background </a:t>
            </a:r>
          </a:p>
          <a:p>
            <a:r>
              <a:rPr lang="en-GB" baseline="0" dirty="0" smtClean="0"/>
              <a:t>Other interventions use exciting graphics </a:t>
            </a:r>
          </a:p>
          <a:p>
            <a:endParaRPr lang="en-GB" baseline="0" dirty="0" smtClean="0"/>
          </a:p>
          <a:p>
            <a:r>
              <a:rPr lang="en-GB" baseline="0" dirty="0" smtClean="0"/>
              <a:t>ARAW uses entire sentences</a:t>
            </a:r>
          </a:p>
          <a:p>
            <a:r>
              <a:rPr lang="en-GB" baseline="0" dirty="0" smtClean="0"/>
              <a:t>Phonics teaching: detect individual sounds, map to graphemes, learn to decode through segmenting and blending</a:t>
            </a:r>
          </a:p>
          <a:p>
            <a:r>
              <a:rPr lang="en-GB" baseline="0" dirty="0" smtClean="0"/>
              <a:t>So children must already have skills of segmenting words into sounds, by recalling phonemes from graphemes</a:t>
            </a:r>
          </a:p>
          <a:p>
            <a:endParaRPr lang="en-GB" baseline="0" dirty="0" smtClean="0"/>
          </a:p>
          <a:p>
            <a:r>
              <a:rPr lang="en-GB" baseline="0" dirty="0" smtClean="0"/>
              <a:t>Learning Hierarchy: learn skills to acquisition, fluency, retention, generalisation, adaptation. </a:t>
            </a:r>
          </a:p>
          <a:p>
            <a:r>
              <a:rPr lang="en-GB" baseline="0" dirty="0" smtClean="0"/>
              <a:t>Not appropriate for children who struggle or who are just developing these skills. </a:t>
            </a:r>
          </a:p>
          <a:p>
            <a:r>
              <a:rPr lang="en-GB" baseline="0" dirty="0" smtClean="0"/>
              <a:t>Useful intervention for supporting development of skills to fluency level?</a:t>
            </a:r>
          </a:p>
          <a:p>
            <a:endParaRPr lang="en-GB" baseline="0" dirty="0" smtClean="0"/>
          </a:p>
          <a:p>
            <a:r>
              <a:rPr lang="en-GB" baseline="0" dirty="0" smtClean="0"/>
              <a:t>Could adapt ARAW</a:t>
            </a:r>
          </a:p>
          <a:p>
            <a:r>
              <a:rPr lang="en-GB" baseline="0" dirty="0" smtClean="0"/>
              <a:t>Ask children to type individual words to reinforce GPC as they are taught in classroom </a:t>
            </a:r>
          </a:p>
          <a:p>
            <a:r>
              <a:rPr lang="en-GB" baseline="0" dirty="0" smtClean="0"/>
              <a:t>Plus split-attention problem when rehearsing sentences whilst typing 1 word </a:t>
            </a:r>
          </a:p>
          <a:p>
            <a:endParaRPr lang="en-GB" dirty="0"/>
          </a:p>
        </p:txBody>
      </p:sp>
      <p:sp>
        <p:nvSpPr>
          <p:cNvPr id="4" name="Slide Number Placeholder 3"/>
          <p:cNvSpPr>
            <a:spLocks noGrp="1"/>
          </p:cNvSpPr>
          <p:nvPr>
            <p:ph type="sldNum" sz="quarter" idx="10"/>
          </p:nvPr>
        </p:nvSpPr>
        <p:spPr/>
        <p:txBody>
          <a:bodyPr/>
          <a:lstStyle/>
          <a:p>
            <a:fld id="{9EFA8B0C-E03A-4D30-BCB3-F921E8DEC0F2}" type="slidenum">
              <a:rPr lang="en-GB" smtClean="0"/>
              <a:t>5</a:t>
            </a:fld>
            <a:endParaRPr lang="en-GB"/>
          </a:p>
        </p:txBody>
      </p:sp>
    </p:spTree>
    <p:extLst>
      <p:ext uri="{BB962C8B-B14F-4D97-AF65-F5344CB8AC3E}">
        <p14:creationId xmlns:p14="http://schemas.microsoft.com/office/powerpoint/2010/main" val="2516893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ARAW says that m</a:t>
            </a:r>
            <a:r>
              <a:rPr lang="en-GB" dirty="0" smtClean="0"/>
              <a:t>aking links between letters and sounds is a major stumbling block</a:t>
            </a:r>
            <a:r>
              <a:rPr lang="en-GB" baseline="0" dirty="0" smtClean="0"/>
              <a:t> for some children. </a:t>
            </a:r>
          </a:p>
          <a:p>
            <a:pPr marL="0" marR="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baseline="0" dirty="0" smtClean="0">
                <a:solidFill>
                  <a:schemeClr val="tx1"/>
                </a:solidFill>
                <a:latin typeface="+mn-lt"/>
                <a:ea typeface="+mn-ea"/>
                <a:cs typeface="+mn-cs"/>
              </a:rPr>
              <a:t>ARAW provides constant and immediate speech feedback on writing makes basic task of developing associations between letters and sounds less abstract, easier. </a:t>
            </a:r>
          </a:p>
          <a:p>
            <a:endParaRPr lang="en-GB" baseline="0" dirty="0" smtClean="0"/>
          </a:p>
          <a:p>
            <a:r>
              <a:rPr lang="en-GB" baseline="0" dirty="0" smtClean="0"/>
              <a:t>Phonemes: smallest units of sounds in spoken words</a:t>
            </a:r>
          </a:p>
          <a:p>
            <a:r>
              <a:rPr lang="en-GB" baseline="0" dirty="0" smtClean="0"/>
              <a:t>Graphemes: letter or group of letters which represent phonemes</a:t>
            </a:r>
          </a:p>
          <a:p>
            <a:r>
              <a:rPr lang="en-GB" baseline="0" dirty="0" smtClean="0"/>
              <a:t>When we learn to read, we have to learn how to map written graphemes onto spoken phonemes. </a:t>
            </a:r>
          </a:p>
          <a:p>
            <a:endParaRPr lang="en-GB" baseline="0" dirty="0" smtClean="0"/>
          </a:p>
          <a:p>
            <a:r>
              <a:rPr lang="en-GB" baseline="0" dirty="0" smtClean="0"/>
              <a:t>Research has found that the ability to map graphemes onto phonemes does seem to play unique roll in reading</a:t>
            </a:r>
          </a:p>
          <a:p>
            <a:r>
              <a:rPr lang="en-GB" i="1" baseline="0" dirty="0" err="1" smtClean="0"/>
              <a:t>Windfuhr</a:t>
            </a:r>
            <a:r>
              <a:rPr lang="en-GB" i="1" baseline="0" dirty="0" smtClean="0"/>
              <a:t> and </a:t>
            </a:r>
            <a:r>
              <a:rPr lang="en-GB" i="1" baseline="0" dirty="0" err="1" smtClean="0"/>
              <a:t>Snowling</a:t>
            </a:r>
            <a:r>
              <a:rPr lang="en-GB" i="1" baseline="0" dirty="0" smtClean="0"/>
              <a:t> (2001) visual verbal PAL unique proportion of variation in word reading even when phonemic awareness controlled for</a:t>
            </a:r>
          </a:p>
          <a:p>
            <a:r>
              <a:rPr lang="en-GB" i="1" baseline="0" dirty="0" smtClean="0"/>
              <a:t>	75 6-11year olds, 4 abstract shapes and nonsense words for them.</a:t>
            </a:r>
          </a:p>
          <a:p>
            <a:r>
              <a:rPr lang="en-GB" i="1" baseline="0" dirty="0" smtClean="0"/>
              <a:t>Hulme et al (2007) visual verbal PAL was unique predictor of word reading, other forms of PAL were not. Key associative learning process. </a:t>
            </a:r>
          </a:p>
          <a:p>
            <a:r>
              <a:rPr lang="en-GB" i="1" baseline="0" dirty="0" smtClean="0"/>
              <a:t>	study 1: 66 Year3-6 children, abstract shapes and nonsense words</a:t>
            </a:r>
          </a:p>
          <a:p>
            <a:r>
              <a:rPr lang="en-GB" i="1" baseline="0" dirty="0" smtClean="0"/>
              <a:t>	study 2: 127 Year 3-5 children, abstract shapes and nonsense words</a:t>
            </a:r>
          </a:p>
          <a:p>
            <a:r>
              <a:rPr lang="en-GB" i="1" baseline="0" dirty="0" err="1" smtClean="0"/>
              <a:t>Solity</a:t>
            </a:r>
            <a:r>
              <a:rPr lang="en-GB" i="1" baseline="0" dirty="0" smtClean="0"/>
              <a:t> (2000) Early Reading Research project, environmental changes to how reading is taught can improve GPC </a:t>
            </a:r>
          </a:p>
          <a:p>
            <a:r>
              <a:rPr lang="en-GB" i="1" baseline="0" dirty="0" smtClean="0"/>
              <a:t>	3xdaily sessions for 15minutes </a:t>
            </a:r>
          </a:p>
          <a:p>
            <a:r>
              <a:rPr lang="en-GB" i="1" baseline="0" dirty="0" smtClean="0"/>
              <a:t>	By end of Year 1, only 2% of ERR children were low achievers, 65% comparison children</a:t>
            </a:r>
          </a:p>
          <a:p>
            <a:endParaRPr lang="en-GB" baseline="0" dirty="0" smtClean="0"/>
          </a:p>
          <a:p>
            <a:r>
              <a:rPr lang="en-GB" baseline="0" dirty="0" smtClean="0"/>
              <a:t>BUT</a:t>
            </a:r>
          </a:p>
          <a:p>
            <a:r>
              <a:rPr lang="en-GB" baseline="0" dirty="0" err="1" smtClean="0"/>
              <a:t>Treiman</a:t>
            </a:r>
            <a:r>
              <a:rPr lang="en-GB" baseline="0" dirty="0" smtClean="0"/>
              <a:t> (2000) need phonological awareness, and letter knowledge before ready to map graphemes onto phonemes </a:t>
            </a:r>
          </a:p>
          <a:p>
            <a:r>
              <a:rPr lang="en-GB" baseline="0" dirty="0" err="1" smtClean="0"/>
              <a:t>Foulin</a:t>
            </a:r>
            <a:r>
              <a:rPr lang="en-GB" baseline="0" dirty="0" smtClean="0"/>
              <a:t> (2005) letter name knowledge is long-term predictor of reading ability </a:t>
            </a:r>
          </a:p>
          <a:p>
            <a:r>
              <a:rPr lang="en-GB" baseline="0" dirty="0" smtClean="0"/>
              <a:t>Hulme and </a:t>
            </a:r>
            <a:r>
              <a:rPr lang="en-GB" baseline="0" dirty="0" err="1" smtClean="0"/>
              <a:t>Snowling</a:t>
            </a:r>
            <a:r>
              <a:rPr lang="en-GB" baseline="0" dirty="0" smtClean="0"/>
              <a:t> (2013) PA (and LSK) is a cognitive foundation for learning to read </a:t>
            </a:r>
          </a:p>
          <a:p>
            <a:endParaRPr lang="en-GB" baseline="0" dirty="0" smtClean="0"/>
          </a:p>
          <a:p>
            <a:r>
              <a:rPr lang="en-GB" baseline="0" dirty="0" smtClean="0"/>
              <a:t>Perhaps ARAW is appropriate after children have PA and LK</a:t>
            </a:r>
          </a:p>
          <a:p>
            <a:r>
              <a:rPr lang="en-GB" baseline="0" dirty="0" smtClean="0"/>
              <a:t>ARAW’s multi-sensory approach will help development of GPC </a:t>
            </a:r>
          </a:p>
          <a:p>
            <a:r>
              <a:rPr lang="en-GB" i="1" baseline="0" dirty="0" smtClean="0"/>
              <a:t>(Model of Working Memory says multidimensional information can be created by episodic buffer, perhaps by providing learners with visual words and auditory speech) </a:t>
            </a:r>
          </a:p>
          <a:p>
            <a:endParaRPr lang="en-GB" baseline="0" dirty="0" smtClean="0"/>
          </a:p>
          <a:p>
            <a:r>
              <a:rPr lang="en-GB" baseline="0" dirty="0" smtClean="0"/>
              <a:t>BUT</a:t>
            </a:r>
          </a:p>
          <a:p>
            <a:r>
              <a:rPr lang="en-GB" baseline="0" dirty="0" smtClean="0"/>
              <a:t>Minimal multi-sensory information, black text on white background </a:t>
            </a:r>
          </a:p>
          <a:p>
            <a:r>
              <a:rPr lang="en-GB" baseline="0" dirty="0" smtClean="0"/>
              <a:t>Other interventions use exciting graphics </a:t>
            </a:r>
          </a:p>
          <a:p>
            <a:endParaRPr lang="en-GB" baseline="0" dirty="0" smtClean="0"/>
          </a:p>
          <a:p>
            <a:r>
              <a:rPr lang="en-GB" baseline="0" dirty="0" smtClean="0"/>
              <a:t>ARAW uses entire sentences</a:t>
            </a:r>
          </a:p>
          <a:p>
            <a:r>
              <a:rPr lang="en-GB" baseline="0" dirty="0" smtClean="0"/>
              <a:t>Phonics teaching: detect individual sounds, map to graphemes, learn to decode through segmenting and blending</a:t>
            </a:r>
          </a:p>
          <a:p>
            <a:r>
              <a:rPr lang="en-GB" baseline="0" dirty="0" smtClean="0"/>
              <a:t>So children must already have skills of segmenting words into sounds, by recalling phonemes from graphemes</a:t>
            </a:r>
          </a:p>
          <a:p>
            <a:endParaRPr lang="en-GB" baseline="0" dirty="0" smtClean="0"/>
          </a:p>
          <a:p>
            <a:r>
              <a:rPr lang="en-GB" baseline="0" dirty="0" smtClean="0"/>
              <a:t>Learning Hierarchy: learn skills to acquisition, fluency, retention, generalisation, adaptation. </a:t>
            </a:r>
          </a:p>
          <a:p>
            <a:r>
              <a:rPr lang="en-GB" baseline="0" dirty="0" smtClean="0"/>
              <a:t>Not appropriate for children who struggle or who are just developing these skills. </a:t>
            </a:r>
          </a:p>
          <a:p>
            <a:r>
              <a:rPr lang="en-GB" baseline="0" dirty="0" smtClean="0"/>
              <a:t>Useful intervention for supporting development of skills to fluency level?</a:t>
            </a:r>
          </a:p>
          <a:p>
            <a:endParaRPr lang="en-GB" baseline="0" dirty="0" smtClean="0"/>
          </a:p>
          <a:p>
            <a:r>
              <a:rPr lang="en-GB" baseline="0" dirty="0" smtClean="0"/>
              <a:t>Could adapt ARAW</a:t>
            </a:r>
          </a:p>
          <a:p>
            <a:r>
              <a:rPr lang="en-GB" baseline="0" dirty="0" smtClean="0"/>
              <a:t>Ask children to type individual words to reinforce GPC as they are taught in classroom </a:t>
            </a:r>
          </a:p>
          <a:p>
            <a:r>
              <a:rPr lang="en-GB" baseline="0" dirty="0" smtClean="0"/>
              <a:t>Plus split-attention problem when rehearsing sentences whilst typing 1 word </a:t>
            </a:r>
          </a:p>
          <a:p>
            <a:endParaRPr lang="en-GB" dirty="0"/>
          </a:p>
        </p:txBody>
      </p:sp>
      <p:sp>
        <p:nvSpPr>
          <p:cNvPr id="4" name="Slide Number Placeholder 3"/>
          <p:cNvSpPr>
            <a:spLocks noGrp="1"/>
          </p:cNvSpPr>
          <p:nvPr>
            <p:ph type="sldNum" sz="quarter" idx="10"/>
          </p:nvPr>
        </p:nvSpPr>
        <p:spPr/>
        <p:txBody>
          <a:bodyPr/>
          <a:lstStyle/>
          <a:p>
            <a:fld id="{9EFA8B0C-E03A-4D30-BCB3-F921E8DEC0F2}" type="slidenum">
              <a:rPr lang="en-GB" smtClean="0"/>
              <a:t>6</a:t>
            </a:fld>
            <a:endParaRPr lang="en-GB"/>
          </a:p>
        </p:txBody>
      </p:sp>
    </p:spTree>
    <p:extLst>
      <p:ext uri="{BB962C8B-B14F-4D97-AF65-F5344CB8AC3E}">
        <p14:creationId xmlns:p14="http://schemas.microsoft.com/office/powerpoint/2010/main" val="23684258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ARAW says that m</a:t>
            </a:r>
            <a:r>
              <a:rPr lang="en-GB" dirty="0" smtClean="0"/>
              <a:t>aking links between letters and sounds is a major stumbling block</a:t>
            </a:r>
            <a:r>
              <a:rPr lang="en-GB" baseline="0" dirty="0" smtClean="0"/>
              <a:t> for some children. </a:t>
            </a:r>
          </a:p>
          <a:p>
            <a:pPr marL="0" marR="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baseline="0" dirty="0" smtClean="0">
                <a:solidFill>
                  <a:schemeClr val="tx1"/>
                </a:solidFill>
                <a:latin typeface="+mn-lt"/>
                <a:ea typeface="+mn-ea"/>
                <a:cs typeface="+mn-cs"/>
              </a:rPr>
              <a:t>ARAW provides constant and immediate speech feedback on writing makes basic task of developing associations between letters and sounds less abstract, easier. </a:t>
            </a:r>
          </a:p>
          <a:p>
            <a:endParaRPr lang="en-GB" baseline="0" dirty="0" smtClean="0"/>
          </a:p>
          <a:p>
            <a:r>
              <a:rPr lang="en-GB" baseline="0" dirty="0" smtClean="0"/>
              <a:t>Phonemes: smallest units of sounds in spoken words</a:t>
            </a:r>
          </a:p>
          <a:p>
            <a:r>
              <a:rPr lang="en-GB" baseline="0" dirty="0" smtClean="0"/>
              <a:t>Graphemes: letter or group of letters which represent phonemes</a:t>
            </a:r>
          </a:p>
          <a:p>
            <a:r>
              <a:rPr lang="en-GB" baseline="0" dirty="0" smtClean="0"/>
              <a:t>When we learn to read, we have to learn how to map written graphemes onto spoken phonemes. </a:t>
            </a:r>
          </a:p>
          <a:p>
            <a:endParaRPr lang="en-GB" baseline="0" dirty="0" smtClean="0"/>
          </a:p>
          <a:p>
            <a:r>
              <a:rPr lang="en-GB" baseline="0" dirty="0" smtClean="0"/>
              <a:t>Research has found that the ability to map graphemes onto phonemes does seem to play unique roll in reading</a:t>
            </a:r>
          </a:p>
          <a:p>
            <a:r>
              <a:rPr lang="en-GB" i="1" baseline="0" dirty="0" err="1" smtClean="0"/>
              <a:t>Windfuhr</a:t>
            </a:r>
            <a:r>
              <a:rPr lang="en-GB" i="1" baseline="0" dirty="0" smtClean="0"/>
              <a:t> and </a:t>
            </a:r>
            <a:r>
              <a:rPr lang="en-GB" i="1" baseline="0" dirty="0" err="1" smtClean="0"/>
              <a:t>Snowling</a:t>
            </a:r>
            <a:r>
              <a:rPr lang="en-GB" i="1" baseline="0" dirty="0" smtClean="0"/>
              <a:t> (2001) visual verbal PAL unique proportion of variation in word reading even when phonemic awareness controlled for</a:t>
            </a:r>
          </a:p>
          <a:p>
            <a:r>
              <a:rPr lang="en-GB" i="1" baseline="0" dirty="0" smtClean="0"/>
              <a:t>	75 6-11year olds, 4 abstract shapes and nonsense words for them.</a:t>
            </a:r>
          </a:p>
          <a:p>
            <a:r>
              <a:rPr lang="en-GB" i="1" baseline="0" dirty="0" smtClean="0"/>
              <a:t>Hulme et al (2007) visual verbal PAL was unique predictor of word reading, other forms of PAL were not. Key associative learning process. </a:t>
            </a:r>
          </a:p>
          <a:p>
            <a:r>
              <a:rPr lang="en-GB" i="1" baseline="0" dirty="0" smtClean="0"/>
              <a:t>	study 1: 66 Year3-6 children, abstract shapes and nonsense words</a:t>
            </a:r>
          </a:p>
          <a:p>
            <a:r>
              <a:rPr lang="en-GB" i="1" baseline="0" dirty="0" smtClean="0"/>
              <a:t>	study 2: 127 Year 3-5 children, abstract shapes and nonsense words</a:t>
            </a:r>
          </a:p>
          <a:p>
            <a:r>
              <a:rPr lang="en-GB" i="1" baseline="0" dirty="0" err="1" smtClean="0"/>
              <a:t>Solity</a:t>
            </a:r>
            <a:r>
              <a:rPr lang="en-GB" i="1" baseline="0" dirty="0" smtClean="0"/>
              <a:t> (2000) Early Reading Research project, environmental changes to how reading is taught can improve GPC </a:t>
            </a:r>
          </a:p>
          <a:p>
            <a:r>
              <a:rPr lang="en-GB" i="1" baseline="0" dirty="0" smtClean="0"/>
              <a:t>	3xdaily sessions for 15minutes </a:t>
            </a:r>
          </a:p>
          <a:p>
            <a:r>
              <a:rPr lang="en-GB" i="1" baseline="0" dirty="0" smtClean="0"/>
              <a:t>	By end of Year 1, only 2% of ERR children were low achievers, 65% comparison children</a:t>
            </a:r>
          </a:p>
          <a:p>
            <a:endParaRPr lang="en-GB" baseline="0" dirty="0" smtClean="0"/>
          </a:p>
          <a:p>
            <a:r>
              <a:rPr lang="en-GB" baseline="0" dirty="0" smtClean="0"/>
              <a:t>BUT</a:t>
            </a:r>
          </a:p>
          <a:p>
            <a:r>
              <a:rPr lang="en-GB" baseline="0" dirty="0" err="1" smtClean="0"/>
              <a:t>Treiman</a:t>
            </a:r>
            <a:r>
              <a:rPr lang="en-GB" baseline="0" dirty="0" smtClean="0"/>
              <a:t> (2000) need phonological awareness, and letter knowledge before ready to map graphemes onto phonemes </a:t>
            </a:r>
          </a:p>
          <a:p>
            <a:r>
              <a:rPr lang="en-GB" baseline="0" dirty="0" err="1" smtClean="0"/>
              <a:t>Foulin</a:t>
            </a:r>
            <a:r>
              <a:rPr lang="en-GB" baseline="0" dirty="0" smtClean="0"/>
              <a:t> (2005) letter name knowledge is long-term predictor of reading ability </a:t>
            </a:r>
          </a:p>
          <a:p>
            <a:r>
              <a:rPr lang="en-GB" baseline="0" dirty="0" smtClean="0"/>
              <a:t>Hulme and </a:t>
            </a:r>
            <a:r>
              <a:rPr lang="en-GB" baseline="0" dirty="0" err="1" smtClean="0"/>
              <a:t>Snowling</a:t>
            </a:r>
            <a:r>
              <a:rPr lang="en-GB" baseline="0" dirty="0" smtClean="0"/>
              <a:t> (2013) PA (and LSK) is a cognitive foundation for learning to read </a:t>
            </a:r>
          </a:p>
          <a:p>
            <a:endParaRPr lang="en-GB" baseline="0" dirty="0" smtClean="0"/>
          </a:p>
          <a:p>
            <a:r>
              <a:rPr lang="en-GB" baseline="0" dirty="0" smtClean="0"/>
              <a:t>Perhaps ARAW is appropriate after children have PA and LK</a:t>
            </a:r>
          </a:p>
          <a:p>
            <a:r>
              <a:rPr lang="en-GB" baseline="0" dirty="0" smtClean="0"/>
              <a:t>ARAW’s multi-sensory approach will help development of GPC </a:t>
            </a:r>
          </a:p>
          <a:p>
            <a:r>
              <a:rPr lang="en-GB" i="1" baseline="0" dirty="0" smtClean="0"/>
              <a:t>(Model of Working Memory says multidimensional information can be created by episodic buffer, perhaps by providing learners with visual words and auditory speech) </a:t>
            </a:r>
          </a:p>
          <a:p>
            <a:endParaRPr lang="en-GB" baseline="0" dirty="0" smtClean="0"/>
          </a:p>
          <a:p>
            <a:r>
              <a:rPr lang="en-GB" baseline="0" dirty="0" smtClean="0"/>
              <a:t>BUT</a:t>
            </a:r>
          </a:p>
          <a:p>
            <a:r>
              <a:rPr lang="en-GB" baseline="0" dirty="0" smtClean="0"/>
              <a:t>Minimal multi-sensory information, black text on white background </a:t>
            </a:r>
          </a:p>
          <a:p>
            <a:r>
              <a:rPr lang="en-GB" baseline="0" dirty="0" smtClean="0"/>
              <a:t>Other interventions use exciting graphics </a:t>
            </a:r>
          </a:p>
          <a:p>
            <a:endParaRPr lang="en-GB" baseline="0" dirty="0" smtClean="0"/>
          </a:p>
          <a:p>
            <a:r>
              <a:rPr lang="en-GB" baseline="0" dirty="0" smtClean="0"/>
              <a:t>ARAW uses entire sentences</a:t>
            </a:r>
          </a:p>
          <a:p>
            <a:r>
              <a:rPr lang="en-GB" baseline="0" dirty="0" smtClean="0"/>
              <a:t>Phonics teaching: detect individual sounds, map to graphemes, learn to decode through segmenting and blending</a:t>
            </a:r>
          </a:p>
          <a:p>
            <a:r>
              <a:rPr lang="en-GB" baseline="0" dirty="0" smtClean="0"/>
              <a:t>So children must already have skills of segmenting words into sounds, by recalling phonemes from graphemes</a:t>
            </a:r>
          </a:p>
          <a:p>
            <a:endParaRPr lang="en-GB" baseline="0" dirty="0" smtClean="0"/>
          </a:p>
          <a:p>
            <a:r>
              <a:rPr lang="en-GB" baseline="0" dirty="0" smtClean="0"/>
              <a:t>Learning Hierarchy: learn skills to acquisition, fluency, retention, generalisation, adaptation. </a:t>
            </a:r>
          </a:p>
          <a:p>
            <a:r>
              <a:rPr lang="en-GB" baseline="0" dirty="0" smtClean="0"/>
              <a:t>Not appropriate for children who struggle or who are just developing these skills. </a:t>
            </a:r>
          </a:p>
          <a:p>
            <a:r>
              <a:rPr lang="en-GB" baseline="0" dirty="0" smtClean="0"/>
              <a:t>Useful intervention for supporting development of skills to fluency level?</a:t>
            </a:r>
          </a:p>
          <a:p>
            <a:endParaRPr lang="en-GB" baseline="0" dirty="0" smtClean="0"/>
          </a:p>
          <a:p>
            <a:r>
              <a:rPr lang="en-GB" baseline="0" dirty="0" smtClean="0"/>
              <a:t>Could adapt ARAW</a:t>
            </a:r>
          </a:p>
          <a:p>
            <a:r>
              <a:rPr lang="en-GB" baseline="0" dirty="0" smtClean="0"/>
              <a:t>Ask children to type individual words to reinforce GPC as they are taught in classroom </a:t>
            </a:r>
          </a:p>
          <a:p>
            <a:r>
              <a:rPr lang="en-GB" baseline="0" dirty="0" smtClean="0"/>
              <a:t>Plus split-attention problem when rehearsing sentences whilst typing 1 word </a:t>
            </a:r>
          </a:p>
          <a:p>
            <a:endParaRPr lang="en-GB" dirty="0"/>
          </a:p>
        </p:txBody>
      </p:sp>
      <p:sp>
        <p:nvSpPr>
          <p:cNvPr id="4" name="Slide Number Placeholder 3"/>
          <p:cNvSpPr>
            <a:spLocks noGrp="1"/>
          </p:cNvSpPr>
          <p:nvPr>
            <p:ph type="sldNum" sz="quarter" idx="10"/>
          </p:nvPr>
        </p:nvSpPr>
        <p:spPr/>
        <p:txBody>
          <a:bodyPr/>
          <a:lstStyle/>
          <a:p>
            <a:fld id="{9EFA8B0C-E03A-4D30-BCB3-F921E8DEC0F2}" type="slidenum">
              <a:rPr lang="en-GB" smtClean="0"/>
              <a:t>7</a:t>
            </a:fld>
            <a:endParaRPr lang="en-GB"/>
          </a:p>
        </p:txBody>
      </p:sp>
    </p:spTree>
    <p:extLst>
      <p:ext uri="{BB962C8B-B14F-4D97-AF65-F5344CB8AC3E}">
        <p14:creationId xmlns:p14="http://schemas.microsoft.com/office/powerpoint/2010/main" val="1991124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GPC introduced in structure reflecting phonics phase list from National Literacy Strategy</a:t>
            </a:r>
            <a:r>
              <a:rPr lang="en-GB" baseline="0" dirty="0" smtClean="0"/>
              <a:t> (2003)</a:t>
            </a:r>
          </a:p>
          <a:p>
            <a:endParaRPr lang="en-GB" baseline="0" dirty="0" smtClean="0"/>
          </a:p>
          <a:p>
            <a:r>
              <a:rPr lang="en-GB" baseline="0" dirty="0" err="1" smtClean="0"/>
              <a:t>Solity</a:t>
            </a:r>
            <a:r>
              <a:rPr lang="en-GB" baseline="0" dirty="0" smtClean="0"/>
              <a:t> and </a:t>
            </a:r>
            <a:r>
              <a:rPr lang="en-GB" baseline="0" dirty="0" err="1" smtClean="0"/>
              <a:t>Vousden</a:t>
            </a:r>
            <a:r>
              <a:rPr lang="en-GB" baseline="0" dirty="0" smtClean="0"/>
              <a:t> (2009)</a:t>
            </a:r>
          </a:p>
          <a:p>
            <a:r>
              <a:rPr lang="en-GB" baseline="0" dirty="0" smtClean="0"/>
              <a:t>	reading scheme books vs real books</a:t>
            </a:r>
          </a:p>
          <a:p>
            <a:r>
              <a:rPr lang="en-GB" baseline="0" dirty="0" smtClean="0"/>
              <a:t>	large proportion of English language is highly regular</a:t>
            </a:r>
          </a:p>
          <a:p>
            <a:r>
              <a:rPr lang="en-GB" baseline="0" dirty="0" smtClean="0"/>
              <a:t>	90% of text could be read by children by learning 64 high frequency GPC and 89 key sight words </a:t>
            </a:r>
          </a:p>
          <a:p>
            <a:endParaRPr lang="en-GB" baseline="0" dirty="0" smtClean="0"/>
          </a:p>
          <a:p>
            <a:r>
              <a:rPr lang="en-GB" baseline="0" dirty="0" smtClean="0"/>
              <a:t>Additional learning of sight words or GPC of limited value (Shapiro and </a:t>
            </a:r>
            <a:r>
              <a:rPr lang="en-GB" baseline="0" dirty="0" err="1" smtClean="0"/>
              <a:t>Solity</a:t>
            </a:r>
            <a:r>
              <a:rPr lang="en-GB" baseline="0" dirty="0" smtClean="0"/>
              <a:t>, 2008)</a:t>
            </a:r>
          </a:p>
          <a:p>
            <a:endParaRPr lang="en-GB" baseline="0" dirty="0" smtClean="0"/>
          </a:p>
          <a:p>
            <a:r>
              <a:rPr lang="en-GB" baseline="0" dirty="0" smtClean="0"/>
              <a:t>No reason why couldn’t use principle (type word, receive speech feedback) but organise own input structure </a:t>
            </a:r>
            <a:endParaRPr lang="en-GB" dirty="0"/>
          </a:p>
        </p:txBody>
      </p:sp>
      <p:sp>
        <p:nvSpPr>
          <p:cNvPr id="4" name="Slide Number Placeholder 3"/>
          <p:cNvSpPr>
            <a:spLocks noGrp="1"/>
          </p:cNvSpPr>
          <p:nvPr>
            <p:ph type="sldNum" sz="quarter" idx="10"/>
          </p:nvPr>
        </p:nvSpPr>
        <p:spPr/>
        <p:txBody>
          <a:bodyPr/>
          <a:lstStyle/>
          <a:p>
            <a:fld id="{9EFA8B0C-E03A-4D30-BCB3-F921E8DEC0F2}" type="slidenum">
              <a:rPr lang="en-GB" smtClean="0"/>
              <a:t>8</a:t>
            </a:fld>
            <a:endParaRPr lang="en-GB"/>
          </a:p>
        </p:txBody>
      </p:sp>
    </p:spTree>
    <p:extLst>
      <p:ext uri="{BB962C8B-B14F-4D97-AF65-F5344CB8AC3E}">
        <p14:creationId xmlns:p14="http://schemas.microsoft.com/office/powerpoint/2010/main" val="22406595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Unique feature of ARAW is</a:t>
            </a:r>
            <a:r>
              <a:rPr lang="en-GB" baseline="0" dirty="0" smtClean="0"/>
              <a:t> that it provides consistent feedback </a:t>
            </a:r>
          </a:p>
          <a:p>
            <a:endParaRPr lang="en-GB" baseline="0" dirty="0" smtClean="0"/>
          </a:p>
          <a:p>
            <a:r>
              <a:rPr lang="en-GB" baseline="0" dirty="0" smtClean="0"/>
              <a:t>After a word written – computer reads it back to you. </a:t>
            </a:r>
          </a:p>
          <a:p>
            <a:r>
              <a:rPr lang="en-GB" baseline="0" dirty="0" smtClean="0"/>
              <a:t>This could be provided by an adult, </a:t>
            </a:r>
          </a:p>
          <a:p>
            <a:r>
              <a:rPr lang="en-GB" baseline="0" dirty="0" smtClean="0"/>
              <a:t>Intervention is supported on 1:1 basis</a:t>
            </a:r>
          </a:p>
          <a:p>
            <a:r>
              <a:rPr lang="en-GB" baseline="0" dirty="0" smtClean="0"/>
              <a:t>so what is unique about computer-based feedback?</a:t>
            </a:r>
          </a:p>
          <a:p>
            <a:endParaRPr lang="en-GB" baseline="0" dirty="0" smtClean="0"/>
          </a:p>
          <a:p>
            <a:r>
              <a:rPr lang="en-GB" baseline="0" dirty="0" smtClean="0"/>
              <a:t>Shute (2008) feedback from a trustworthy source is taken more seriously, potential human biases are perceived as being eliminated in computer-based feedback </a:t>
            </a:r>
          </a:p>
          <a:p>
            <a:endParaRPr lang="en-GB" baseline="0" dirty="0" smtClean="0"/>
          </a:p>
          <a:p>
            <a:r>
              <a:rPr lang="en-GB" baseline="0" dirty="0" smtClean="0"/>
              <a:t>Hattie and Timperley (2007) model of feedback: task, process, self-regulation, and self. </a:t>
            </a:r>
          </a:p>
          <a:p>
            <a:r>
              <a:rPr lang="en-GB" baseline="0" dirty="0" smtClean="0"/>
              <a:t>	task: how well a task is being performed </a:t>
            </a:r>
          </a:p>
          <a:p>
            <a:r>
              <a:rPr lang="en-GB" baseline="0" dirty="0" smtClean="0"/>
              <a:t>	process: about the processes underlying a task, includes error detection </a:t>
            </a:r>
          </a:p>
          <a:p>
            <a:r>
              <a:rPr lang="en-GB" baseline="0" dirty="0" smtClean="0"/>
              <a:t>	self-regulation: regulate actions to meet learning goals </a:t>
            </a:r>
          </a:p>
          <a:p>
            <a:r>
              <a:rPr lang="en-GB" baseline="0" dirty="0" smtClean="0"/>
              <a:t>	self: feedback about the self as a person, clever boy!</a:t>
            </a:r>
          </a:p>
          <a:p>
            <a:endParaRPr lang="en-GB" baseline="0" dirty="0" smtClean="0"/>
          </a:p>
          <a:p>
            <a:r>
              <a:rPr lang="en-GB" baseline="0" dirty="0" smtClean="0">
                <a:sym typeface="Wingdings" panose="05000000000000000000" pitchFamily="2" charset="2"/>
              </a:rPr>
              <a:t>Humans too often provide feedback at self level.</a:t>
            </a: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Computer provides task feedback </a:t>
            </a:r>
            <a:r>
              <a:rPr lang="en-GB" baseline="0" dirty="0" smtClean="0">
                <a:sym typeface="Wingdings" panose="05000000000000000000" pitchFamily="2" charset="2"/>
              </a:rPr>
              <a:t></a:t>
            </a:r>
          </a:p>
          <a:p>
            <a:r>
              <a:rPr lang="en-GB" baseline="0" dirty="0" smtClean="0">
                <a:sym typeface="Wingdings" panose="05000000000000000000" pitchFamily="2" charset="2"/>
              </a:rPr>
              <a:t>But means you miss out on process and self-regulation feedback. </a:t>
            </a:r>
          </a:p>
        </p:txBody>
      </p:sp>
      <p:sp>
        <p:nvSpPr>
          <p:cNvPr id="4" name="Slide Number Placeholder 3"/>
          <p:cNvSpPr>
            <a:spLocks noGrp="1"/>
          </p:cNvSpPr>
          <p:nvPr>
            <p:ph type="sldNum" sz="quarter" idx="10"/>
          </p:nvPr>
        </p:nvSpPr>
        <p:spPr/>
        <p:txBody>
          <a:bodyPr/>
          <a:lstStyle/>
          <a:p>
            <a:fld id="{9EFA8B0C-E03A-4D30-BCB3-F921E8DEC0F2}" type="slidenum">
              <a:rPr lang="en-GB" smtClean="0"/>
              <a:t>9</a:t>
            </a:fld>
            <a:endParaRPr lang="en-GB"/>
          </a:p>
        </p:txBody>
      </p:sp>
    </p:spTree>
    <p:extLst>
      <p:ext uri="{BB962C8B-B14F-4D97-AF65-F5344CB8AC3E}">
        <p14:creationId xmlns:p14="http://schemas.microsoft.com/office/powerpoint/2010/main" val="22544164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Support</a:t>
            </a:r>
            <a:r>
              <a:rPr lang="en-GB" baseline="0" dirty="0" smtClean="0"/>
              <a:t> should be provided as much as necessary and as little as possible</a:t>
            </a:r>
          </a:p>
          <a:p>
            <a:r>
              <a:rPr lang="en-GB" baseline="0" dirty="0" smtClean="0"/>
              <a:t>Adult should manipulate materials so learner progresses at correct pace for them </a:t>
            </a:r>
          </a:p>
          <a:p>
            <a:endParaRPr lang="en-GB" baseline="0" dirty="0" smtClean="0"/>
          </a:p>
          <a:p>
            <a:r>
              <a:rPr lang="en-GB" baseline="0" dirty="0" smtClean="0"/>
              <a:t>Mediated learning approach pioneered by Feuerstein, adults place themselves between stimuli and learners, modifying the stimuli so the learner experiences success </a:t>
            </a:r>
          </a:p>
          <a:p>
            <a:endParaRPr lang="en-GB" baseline="0" dirty="0" smtClean="0"/>
          </a:p>
          <a:p>
            <a:r>
              <a:rPr lang="en-GB" baseline="0" dirty="0" smtClean="0"/>
              <a:t>Allow the learner to feel competent </a:t>
            </a:r>
          </a:p>
          <a:p>
            <a:r>
              <a:rPr lang="en-GB" baseline="0" dirty="0" smtClean="0"/>
              <a:t>Self-determination theory</a:t>
            </a:r>
          </a:p>
          <a:p>
            <a:endParaRPr lang="en-GB" baseline="0" dirty="0" smtClean="0"/>
          </a:p>
          <a:p>
            <a:r>
              <a:rPr lang="en-GB" baseline="0" dirty="0" smtClean="0"/>
              <a:t>But this relies on skills of TA </a:t>
            </a:r>
          </a:p>
          <a:p>
            <a:r>
              <a:rPr lang="en-GB" baseline="0" dirty="0" smtClean="0"/>
              <a:t>Blatchford et al (2009) negative relationship between amount of TA support received and pupil progress</a:t>
            </a:r>
          </a:p>
          <a:p>
            <a:r>
              <a:rPr lang="en-GB" baseline="0" dirty="0" smtClean="0"/>
              <a:t>	Deployment and impact of support staff project, surveys </a:t>
            </a:r>
          </a:p>
          <a:p>
            <a:r>
              <a:rPr lang="en-GB" baseline="0" dirty="0" err="1" smtClean="0"/>
              <a:t>Rubie</a:t>
            </a:r>
            <a:r>
              <a:rPr lang="en-GB" baseline="0" dirty="0" smtClean="0"/>
              <a:t>-Davies et al (2010) TAs may stifle pupil independence, focused on task completing not pupil understanding</a:t>
            </a:r>
          </a:p>
          <a:p>
            <a:r>
              <a:rPr lang="en-GB" baseline="0" dirty="0" smtClean="0"/>
              <a:t>	Part of DISS project</a:t>
            </a:r>
          </a:p>
          <a:p>
            <a:r>
              <a:rPr lang="en-GB" baseline="0" dirty="0" smtClean="0"/>
              <a:t>	audio recordings of adult-to-pupil interactions </a:t>
            </a:r>
          </a:p>
          <a:p>
            <a:endParaRPr lang="en-GB" baseline="0" dirty="0" smtClean="0"/>
          </a:p>
          <a:p>
            <a:r>
              <a:rPr lang="en-GB" baseline="0" dirty="0" smtClean="0"/>
              <a:t>Other computer based reading interventions take out this variable by having computer make moment-to-moment adaptations rather than relying on adult </a:t>
            </a:r>
            <a:endParaRPr lang="en-GB" dirty="0"/>
          </a:p>
        </p:txBody>
      </p:sp>
      <p:sp>
        <p:nvSpPr>
          <p:cNvPr id="4" name="Slide Number Placeholder 3"/>
          <p:cNvSpPr>
            <a:spLocks noGrp="1"/>
          </p:cNvSpPr>
          <p:nvPr>
            <p:ph type="sldNum" sz="quarter" idx="10"/>
          </p:nvPr>
        </p:nvSpPr>
        <p:spPr/>
        <p:txBody>
          <a:bodyPr/>
          <a:lstStyle/>
          <a:p>
            <a:fld id="{9EFA8B0C-E03A-4D30-BCB3-F921E8DEC0F2}" type="slidenum">
              <a:rPr lang="en-GB" smtClean="0"/>
              <a:t>10</a:t>
            </a:fld>
            <a:endParaRPr lang="en-GB"/>
          </a:p>
        </p:txBody>
      </p:sp>
    </p:spTree>
    <p:extLst>
      <p:ext uri="{BB962C8B-B14F-4D97-AF65-F5344CB8AC3E}">
        <p14:creationId xmlns:p14="http://schemas.microsoft.com/office/powerpoint/2010/main" val="3414144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Support</a:t>
            </a:r>
            <a:r>
              <a:rPr lang="en-GB" baseline="0" dirty="0" smtClean="0"/>
              <a:t> should be provided as much as necessary and as little as possible</a:t>
            </a:r>
          </a:p>
          <a:p>
            <a:r>
              <a:rPr lang="en-GB" baseline="0" dirty="0" smtClean="0"/>
              <a:t>Adult should manipulate materials so learner progresses at correct pace for them </a:t>
            </a:r>
          </a:p>
          <a:p>
            <a:endParaRPr lang="en-GB" baseline="0" dirty="0" smtClean="0"/>
          </a:p>
          <a:p>
            <a:r>
              <a:rPr lang="en-GB" baseline="0" dirty="0" smtClean="0"/>
              <a:t>Mediated learning approach pioneered by Feuerstein, adults place themselves between stimuli and learners, modifying the stimuli so the learner experiences success </a:t>
            </a:r>
          </a:p>
          <a:p>
            <a:endParaRPr lang="en-GB" baseline="0" dirty="0" smtClean="0"/>
          </a:p>
          <a:p>
            <a:r>
              <a:rPr lang="en-GB" baseline="0" dirty="0" smtClean="0"/>
              <a:t>Allow the learner to feel competent </a:t>
            </a:r>
          </a:p>
          <a:p>
            <a:r>
              <a:rPr lang="en-GB" baseline="0" dirty="0" smtClean="0"/>
              <a:t>Self-determination theory</a:t>
            </a:r>
          </a:p>
          <a:p>
            <a:endParaRPr lang="en-GB" baseline="0" dirty="0" smtClean="0"/>
          </a:p>
          <a:p>
            <a:r>
              <a:rPr lang="en-GB" baseline="0" dirty="0" smtClean="0"/>
              <a:t>But this relies on skills of TA </a:t>
            </a:r>
          </a:p>
          <a:p>
            <a:r>
              <a:rPr lang="en-GB" baseline="0" dirty="0" smtClean="0"/>
              <a:t>Blatchford et al (2009) negative relationship between amount of TA support received and pupil progress</a:t>
            </a:r>
          </a:p>
          <a:p>
            <a:r>
              <a:rPr lang="en-GB" baseline="0" dirty="0" smtClean="0"/>
              <a:t>	Deployment and impact of support staff project, surveys </a:t>
            </a:r>
          </a:p>
          <a:p>
            <a:r>
              <a:rPr lang="en-GB" baseline="0" dirty="0" err="1" smtClean="0"/>
              <a:t>Rubie</a:t>
            </a:r>
            <a:r>
              <a:rPr lang="en-GB" baseline="0" dirty="0" smtClean="0"/>
              <a:t>-Davies et al (2010) TAs may stifle pupil independence, focused on task completing not pupil understanding</a:t>
            </a:r>
          </a:p>
          <a:p>
            <a:r>
              <a:rPr lang="en-GB" baseline="0" dirty="0" smtClean="0"/>
              <a:t>	Part of DISS project</a:t>
            </a:r>
          </a:p>
          <a:p>
            <a:r>
              <a:rPr lang="en-GB" baseline="0" dirty="0" smtClean="0"/>
              <a:t>	audio recordings of adult-to-pupil interactions </a:t>
            </a:r>
          </a:p>
          <a:p>
            <a:endParaRPr lang="en-GB" baseline="0" dirty="0" smtClean="0"/>
          </a:p>
          <a:p>
            <a:r>
              <a:rPr lang="en-GB" baseline="0" dirty="0" smtClean="0"/>
              <a:t>Other computer based reading interventions take out this variable by having computer make moment-to-moment adaptations rather than relying on adult </a:t>
            </a:r>
            <a:endParaRPr lang="en-GB" dirty="0" smtClean="0"/>
          </a:p>
          <a:p>
            <a:endParaRPr lang="en-GB" dirty="0"/>
          </a:p>
        </p:txBody>
      </p:sp>
      <p:sp>
        <p:nvSpPr>
          <p:cNvPr id="4" name="Slide Number Placeholder 3"/>
          <p:cNvSpPr>
            <a:spLocks noGrp="1"/>
          </p:cNvSpPr>
          <p:nvPr>
            <p:ph type="sldNum" sz="quarter" idx="10"/>
          </p:nvPr>
        </p:nvSpPr>
        <p:spPr/>
        <p:txBody>
          <a:bodyPr/>
          <a:lstStyle/>
          <a:p>
            <a:fld id="{9EFA8B0C-E03A-4D30-BCB3-F921E8DEC0F2}" type="slidenum">
              <a:rPr lang="en-GB" smtClean="0"/>
              <a:t>11</a:t>
            </a:fld>
            <a:endParaRPr lang="en-GB"/>
          </a:p>
        </p:txBody>
      </p:sp>
    </p:spTree>
    <p:extLst>
      <p:ext uri="{BB962C8B-B14F-4D97-AF65-F5344CB8AC3E}">
        <p14:creationId xmlns:p14="http://schemas.microsoft.com/office/powerpoint/2010/main" val="25127488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ARAW will help pupils learn that dealing successfully</a:t>
            </a:r>
            <a:r>
              <a:rPr lang="en-GB" baseline="0" dirty="0" smtClean="0"/>
              <a:t> with errors is a central part of learning. </a:t>
            </a:r>
          </a:p>
          <a:p>
            <a:r>
              <a:rPr lang="en-GB" baseline="0" dirty="0" smtClean="0"/>
              <a:t>Pupils should be helped to see mistakes as opportunities to reflect on and modify their actions to achieve success.</a:t>
            </a:r>
          </a:p>
          <a:p>
            <a:r>
              <a:rPr lang="en-GB" baseline="0" dirty="0" smtClean="0"/>
              <a:t>They don’t need to be protected from mistakes!</a:t>
            </a:r>
          </a:p>
          <a:p>
            <a:endParaRPr lang="en-GB" baseline="0" dirty="0" smtClean="0"/>
          </a:p>
          <a:p>
            <a:r>
              <a:rPr lang="en-GB" baseline="0" dirty="0" err="1" smtClean="0"/>
              <a:t>Dweck</a:t>
            </a:r>
            <a:r>
              <a:rPr lang="en-GB" baseline="0" dirty="0" smtClean="0"/>
              <a:t> (2006) </a:t>
            </a:r>
            <a:r>
              <a:rPr lang="en-GB" baseline="0" dirty="0" err="1" smtClean="0"/>
              <a:t>mindsets</a:t>
            </a:r>
            <a:endParaRPr lang="en-GB" baseline="0" dirty="0" smtClean="0"/>
          </a:p>
          <a:p>
            <a:r>
              <a:rPr lang="en-GB" baseline="0" dirty="0" smtClean="0"/>
              <a:t>Fixed M: intelligence fixed, avoid situations in which you may fail</a:t>
            </a:r>
          </a:p>
          <a:p>
            <a:r>
              <a:rPr lang="en-GB" baseline="0" dirty="0" smtClean="0"/>
              <a:t>Growth M: intelligence changeable, see mistakes as helping them learn </a:t>
            </a:r>
          </a:p>
          <a:p>
            <a:endParaRPr lang="en-GB" baseline="0" dirty="0" smtClean="0"/>
          </a:p>
          <a:p>
            <a:r>
              <a:rPr lang="en-GB" i="1" baseline="0" dirty="0" smtClean="0"/>
              <a:t>Potts and Shanks (2014)</a:t>
            </a:r>
          </a:p>
          <a:p>
            <a:r>
              <a:rPr lang="en-GB" i="1" baseline="0" dirty="0" smtClean="0"/>
              <a:t>Inserting tests into learning process, even when novel material taught, facilitated retention </a:t>
            </a:r>
          </a:p>
          <a:p>
            <a:r>
              <a:rPr lang="en-GB" i="1" baseline="0" dirty="0" smtClean="0"/>
              <a:t>But with answer generation not selection </a:t>
            </a:r>
          </a:p>
        </p:txBody>
      </p:sp>
      <p:sp>
        <p:nvSpPr>
          <p:cNvPr id="4" name="Slide Number Placeholder 3"/>
          <p:cNvSpPr>
            <a:spLocks noGrp="1"/>
          </p:cNvSpPr>
          <p:nvPr>
            <p:ph type="sldNum" sz="quarter" idx="10"/>
          </p:nvPr>
        </p:nvSpPr>
        <p:spPr/>
        <p:txBody>
          <a:bodyPr/>
          <a:lstStyle/>
          <a:p>
            <a:fld id="{9EFA8B0C-E03A-4D30-BCB3-F921E8DEC0F2}" type="slidenum">
              <a:rPr lang="en-GB" smtClean="0"/>
              <a:t>12</a:t>
            </a:fld>
            <a:endParaRPr lang="en-GB"/>
          </a:p>
        </p:txBody>
      </p:sp>
    </p:spTree>
    <p:extLst>
      <p:ext uri="{BB962C8B-B14F-4D97-AF65-F5344CB8AC3E}">
        <p14:creationId xmlns:p14="http://schemas.microsoft.com/office/powerpoint/2010/main" val="3835226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 vast majority of children find technology enormously motivating</a:t>
            </a:r>
          </a:p>
          <a:p>
            <a:r>
              <a:rPr lang="en-GB" dirty="0" smtClean="0"/>
              <a:t>ARAW has the power to engage reluctant learners who have failed</a:t>
            </a:r>
            <a:r>
              <a:rPr lang="en-GB" baseline="0" dirty="0" smtClean="0"/>
              <a:t> consistently </a:t>
            </a:r>
          </a:p>
          <a:p>
            <a:endParaRPr lang="en-GB" baseline="0" dirty="0" smtClean="0"/>
          </a:p>
          <a:p>
            <a:r>
              <a:rPr lang="en-GB" baseline="0" dirty="0" smtClean="0"/>
              <a:t>Some studies have shown that CAI can have high pupil engagement</a:t>
            </a:r>
          </a:p>
          <a:p>
            <a:endParaRPr lang="en-GB" baseline="0" dirty="0" smtClean="0"/>
          </a:p>
          <a:p>
            <a:r>
              <a:rPr lang="en-GB" i="1" baseline="0" dirty="0" smtClean="0"/>
              <a:t>Bryant et al (2014)</a:t>
            </a:r>
          </a:p>
          <a:p>
            <a:r>
              <a:rPr lang="en-GB" i="1" baseline="0" dirty="0" smtClean="0"/>
              <a:t>Higher engagement in CAI </a:t>
            </a:r>
          </a:p>
          <a:p>
            <a:r>
              <a:rPr lang="en-GB" i="1" baseline="0" dirty="0" smtClean="0"/>
              <a:t>Higher word identification and reading fluency in teacher direct instruction </a:t>
            </a:r>
          </a:p>
          <a:p>
            <a:r>
              <a:rPr lang="en-GB" i="1" baseline="0" dirty="0" smtClean="0"/>
              <a:t>4 Ps with learning difficulties </a:t>
            </a:r>
          </a:p>
          <a:p>
            <a:r>
              <a:rPr lang="en-GB" i="1" baseline="0" dirty="0" smtClean="0"/>
              <a:t>Used </a:t>
            </a:r>
            <a:r>
              <a:rPr lang="en-GB" i="1" baseline="0" dirty="0" err="1" smtClean="0"/>
              <a:t>ipads</a:t>
            </a:r>
            <a:r>
              <a:rPr lang="en-GB" i="1" baseline="0" dirty="0" smtClean="0"/>
              <a:t> </a:t>
            </a:r>
          </a:p>
          <a:p>
            <a:endParaRPr lang="en-GB" baseline="0" dirty="0" smtClean="0"/>
          </a:p>
          <a:p>
            <a:r>
              <a:rPr lang="en-GB" baseline="0" dirty="0" err="1" smtClean="0"/>
              <a:t>Macaruso</a:t>
            </a:r>
            <a:r>
              <a:rPr lang="en-GB" baseline="0" dirty="0" smtClean="0"/>
              <a:t> et al (2006)</a:t>
            </a:r>
          </a:p>
          <a:p>
            <a:r>
              <a:rPr lang="en-GB" baseline="0" dirty="0" smtClean="0"/>
              <a:t>CAI well-suited for providing supplementary instruction because of lively graphics, feedback, positive reinforcement, and students work at own pace. </a:t>
            </a:r>
          </a:p>
          <a:p>
            <a:endParaRPr lang="en-GB" baseline="0" dirty="0" smtClean="0"/>
          </a:p>
          <a:p>
            <a:r>
              <a:rPr lang="en-GB" baseline="0" dirty="0" smtClean="0"/>
              <a:t>ARAW does not have own software</a:t>
            </a:r>
          </a:p>
          <a:p>
            <a:r>
              <a:rPr lang="en-GB" baseline="0" dirty="0" smtClean="0"/>
              <a:t>NO lively graphics </a:t>
            </a:r>
          </a:p>
        </p:txBody>
      </p:sp>
      <p:sp>
        <p:nvSpPr>
          <p:cNvPr id="4" name="Slide Number Placeholder 3"/>
          <p:cNvSpPr>
            <a:spLocks noGrp="1"/>
          </p:cNvSpPr>
          <p:nvPr>
            <p:ph type="sldNum" sz="quarter" idx="10"/>
          </p:nvPr>
        </p:nvSpPr>
        <p:spPr/>
        <p:txBody>
          <a:bodyPr/>
          <a:lstStyle/>
          <a:p>
            <a:fld id="{9EFA8B0C-E03A-4D30-BCB3-F921E8DEC0F2}" type="slidenum">
              <a:rPr lang="en-GB" smtClean="0"/>
              <a:t>13</a:t>
            </a:fld>
            <a:endParaRPr lang="en-GB"/>
          </a:p>
        </p:txBody>
      </p:sp>
    </p:spTree>
    <p:extLst>
      <p:ext uri="{BB962C8B-B14F-4D97-AF65-F5344CB8AC3E}">
        <p14:creationId xmlns:p14="http://schemas.microsoft.com/office/powerpoint/2010/main" val="2753021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300" dirty="0"/>
              <a:t>In </a:t>
            </a:r>
            <a:r>
              <a:rPr lang="en-GB" sz="1300" dirty="0" smtClean="0"/>
              <a:t>what </a:t>
            </a:r>
            <a:r>
              <a:rPr lang="en-GB" sz="1300" dirty="0"/>
              <a:t>works for children with literacy difficulties, Brooks (2013) recommended ARAW as a mainstream intervention based on the results of three studies.  </a:t>
            </a:r>
          </a:p>
          <a:p>
            <a:endParaRPr lang="en-GB" sz="1300" dirty="0"/>
          </a:p>
          <a:p>
            <a:r>
              <a:rPr lang="en-GB" sz="1300" u="sng" dirty="0"/>
              <a:t>Jersey, 1993</a:t>
            </a:r>
          </a:p>
          <a:p>
            <a:r>
              <a:rPr lang="en-GB" sz="1300" dirty="0"/>
              <a:t>61 young people in school years three to nine, in 15 primary and four secondary schools, who were described has having low reading attainment.  The pupils completed ARAW over four weeks, and had showed improvements in reading accuracy as measured by the British Ability Scales (BAS); improvements were also maintained when measured 10 weeks and six months later.  Pre-tests scores were actually only half a standard deviation below the national norm, despite pupils described as well-below average, but after the intervention scores were within national norms.  The reported effect size was 0.55.</a:t>
            </a:r>
          </a:p>
          <a:p>
            <a:endParaRPr lang="en-GB" sz="1300" dirty="0"/>
          </a:p>
          <a:p>
            <a:r>
              <a:rPr lang="en-GB" sz="1300" u="sng" dirty="0"/>
              <a:t>Miles (2002)</a:t>
            </a:r>
          </a:p>
          <a:p>
            <a:r>
              <a:rPr lang="en-GB" sz="1300" dirty="0"/>
              <a:t>30 pupils in years five and six, with reading or spelling difficulties, completed ARAW for four weeks.  The pupil’s reading accuracy and spelling was measured using the BAS.  Pre- and post-test data were not recorded, but ratio gains showed remarkable progress of 16.1 for reading accuracy and 9.8 for spelling.  Ratio gains represent the amount of progress made divided by the time spent on the intervention (Topping &amp; Lindsay, 1992).  </a:t>
            </a:r>
          </a:p>
          <a:p>
            <a:endParaRPr lang="en-GB" sz="1300" dirty="0"/>
          </a:p>
          <a:p>
            <a:r>
              <a:rPr lang="en-GB" sz="1300" u="sng" dirty="0" err="1" smtClean="0"/>
              <a:t>Couzens</a:t>
            </a:r>
            <a:r>
              <a:rPr lang="en-GB" sz="1300" u="sng" dirty="0" smtClean="0"/>
              <a:t> </a:t>
            </a:r>
            <a:r>
              <a:rPr lang="en-GB" sz="1300" u="sng" dirty="0"/>
              <a:t>(2005-6)</a:t>
            </a:r>
          </a:p>
          <a:p>
            <a:r>
              <a:rPr lang="en-GB" sz="1300" dirty="0"/>
              <a:t>149 low attaining children in years three to six (Brooks, 2013).  Participants completed ARAW over four weeks, and reading comprehension and spelling were measured using the NFER tests.  Again, pre-and post-test data were not recorded but ratio gains showed remarkable progress of 7.7 for reading comprehension and 6.2 for spelling.  </a:t>
            </a:r>
          </a:p>
          <a:p>
            <a:r>
              <a:rPr lang="en-GB" sz="1300" i="1" dirty="0" smtClean="0"/>
              <a:t>National Foundation for Educational</a:t>
            </a:r>
            <a:r>
              <a:rPr lang="en-GB" sz="1300" i="1" baseline="0" dirty="0" smtClean="0"/>
              <a:t> Research Read</a:t>
            </a:r>
            <a:endParaRPr lang="en-GB" sz="1300" i="1" dirty="0"/>
          </a:p>
          <a:p>
            <a:endParaRPr lang="en-GB" sz="1300" dirty="0"/>
          </a:p>
          <a:p>
            <a:r>
              <a:rPr lang="en-GB" sz="1300" u="sng" dirty="0"/>
              <a:t>Nugent (2010)</a:t>
            </a:r>
          </a:p>
          <a:p>
            <a:r>
              <a:rPr lang="en-GB" sz="1300" dirty="0"/>
              <a:t>The author recruited 24 traveller children aged between six and 17 years old, and worked with their 11 teachers across 10 schools.  Three different reading interventions were evaluated in the study, so just nine participants used ARAW.  Word reading, sentence reading, and spelling were measured using the WRAT4 Test; results showed that participants made a standard score mean gain of 6.6 in word reading, 7.3 in sentence reading, and 4.3 in spelling.  To calculate the ratio gains and effect sizes, data from all 24 students completing different interventions were combined, and so it is not possible to conclude the unique effects of ARAW.  </a:t>
            </a:r>
          </a:p>
          <a:p>
            <a:endParaRPr lang="en-GB" sz="1300" dirty="0"/>
          </a:p>
          <a:p>
            <a:r>
              <a:rPr lang="en-GB" sz="1300" dirty="0" smtClean="0"/>
              <a:t>It </a:t>
            </a:r>
            <a:r>
              <a:rPr lang="en-GB" sz="1300" dirty="0"/>
              <a:t>is difficult to conclude the effectiveness of ARAW from the above studies.  The calculated ratio gains from the first three data sets have resulted in the intervention being recommended by Brooks (2013) but the studies have methodological design flaws.  </a:t>
            </a:r>
            <a:endParaRPr lang="en-GB" sz="1300" dirty="0" smtClean="0"/>
          </a:p>
          <a:p>
            <a:endParaRPr lang="en-GB" sz="1300" b="1" dirty="0" smtClean="0"/>
          </a:p>
          <a:p>
            <a:r>
              <a:rPr lang="en-GB" sz="1300" b="0" dirty="0" smtClean="0"/>
              <a:t>None </a:t>
            </a:r>
            <a:r>
              <a:rPr lang="en-GB" sz="1300" b="0" dirty="0"/>
              <a:t>of the three studies use control groups in order to compare ARAW to other reading interventions or teaching-as-usual, so it is difficult to conclude whether ARAW provides learning benefits above that of other interventions schools may also have access to.  The use of a between-groups design would allow calculation of statistical significance.  </a:t>
            </a:r>
            <a:endParaRPr lang="en-GB" sz="1300" b="0" dirty="0" smtClean="0"/>
          </a:p>
          <a:p>
            <a:endParaRPr lang="en-GB" sz="1300" dirty="0" smtClean="0"/>
          </a:p>
          <a:p>
            <a:r>
              <a:rPr lang="en-GB" sz="1300" dirty="0" smtClean="0"/>
              <a:t>Two </a:t>
            </a:r>
            <a:r>
              <a:rPr lang="en-GB" sz="1300" dirty="0"/>
              <a:t>of the three studies did not collect pre-and post-data meaning that effect sizes could not be calculated, and none of the data was published in peer reviewed journals.  </a:t>
            </a:r>
            <a:endParaRPr lang="en-GB" sz="1300" dirty="0" smtClean="0"/>
          </a:p>
          <a:p>
            <a:endParaRPr lang="en-GB" sz="1300" dirty="0" smtClean="0"/>
          </a:p>
          <a:p>
            <a:r>
              <a:rPr lang="en-GB" sz="1300" dirty="0" smtClean="0"/>
              <a:t>The </a:t>
            </a:r>
            <a:r>
              <a:rPr lang="en-GB" sz="1300" dirty="0"/>
              <a:t>study published by Nugent (2010) involved a small number of participants completing ARAW, and because it was questioning if interventions in general could promote learning in traveller children, it analysed results by pooling data for all three interventions rather than specifically examining the effects of each one.  </a:t>
            </a:r>
          </a:p>
          <a:p>
            <a:endParaRPr lang="en-GB" dirty="0"/>
          </a:p>
        </p:txBody>
      </p:sp>
      <p:sp>
        <p:nvSpPr>
          <p:cNvPr id="4" name="Slide Number Placeholder 3"/>
          <p:cNvSpPr>
            <a:spLocks noGrp="1"/>
          </p:cNvSpPr>
          <p:nvPr>
            <p:ph type="sldNum" sz="quarter" idx="10"/>
          </p:nvPr>
        </p:nvSpPr>
        <p:spPr/>
        <p:txBody>
          <a:bodyPr/>
          <a:lstStyle/>
          <a:p>
            <a:fld id="{9EFA8B0C-E03A-4D30-BCB3-F921E8DEC0F2}" type="slidenum">
              <a:rPr lang="en-GB" smtClean="0"/>
              <a:t>14</a:t>
            </a:fld>
            <a:endParaRPr lang="en-GB"/>
          </a:p>
        </p:txBody>
      </p:sp>
    </p:spTree>
    <p:extLst>
      <p:ext uri="{BB962C8B-B14F-4D97-AF65-F5344CB8AC3E}">
        <p14:creationId xmlns:p14="http://schemas.microsoft.com/office/powerpoint/2010/main" val="5818909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Control Groups</a:t>
            </a:r>
          </a:p>
          <a:p>
            <a:r>
              <a:rPr lang="en-GB" dirty="0" smtClean="0"/>
              <a:t>Compare ARAW to other interventions schools have access to </a:t>
            </a:r>
          </a:p>
          <a:p>
            <a:r>
              <a:rPr lang="en-GB" dirty="0" smtClean="0"/>
              <a:t>Also use group which just has additional</a:t>
            </a:r>
            <a:r>
              <a:rPr lang="en-GB" baseline="0" dirty="0" smtClean="0"/>
              <a:t> time on reading activities to make sure not just a time factor</a:t>
            </a:r>
          </a:p>
          <a:p>
            <a:endParaRPr lang="en-GB" baseline="0" dirty="0" smtClean="0"/>
          </a:p>
          <a:p>
            <a:r>
              <a:rPr lang="en-GB" baseline="0" dirty="0" smtClean="0"/>
              <a:t>Pre and Post Data reported </a:t>
            </a:r>
          </a:p>
          <a:p>
            <a:endParaRPr lang="en-GB" dirty="0"/>
          </a:p>
        </p:txBody>
      </p:sp>
      <p:sp>
        <p:nvSpPr>
          <p:cNvPr id="4" name="Slide Number Placeholder 3"/>
          <p:cNvSpPr>
            <a:spLocks noGrp="1"/>
          </p:cNvSpPr>
          <p:nvPr>
            <p:ph type="sldNum" sz="quarter" idx="10"/>
          </p:nvPr>
        </p:nvSpPr>
        <p:spPr/>
        <p:txBody>
          <a:bodyPr/>
          <a:lstStyle/>
          <a:p>
            <a:fld id="{9EFA8B0C-E03A-4D30-BCB3-F921E8DEC0F2}" type="slidenum">
              <a:rPr lang="en-GB" smtClean="0"/>
              <a:t>15</a:t>
            </a:fld>
            <a:endParaRPr lang="en-GB"/>
          </a:p>
        </p:txBody>
      </p:sp>
    </p:spTree>
    <p:extLst>
      <p:ext uri="{BB962C8B-B14F-4D97-AF65-F5344CB8AC3E}">
        <p14:creationId xmlns:p14="http://schemas.microsoft.com/office/powerpoint/2010/main" val="6228902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Role for EPs, helping staff to identify children who it may be effective for</a:t>
            </a:r>
          </a:p>
          <a:p>
            <a:endParaRPr lang="en-GB" dirty="0" smtClean="0"/>
          </a:p>
          <a:p>
            <a:r>
              <a:rPr lang="en-GB" dirty="0" smtClean="0"/>
              <a:t>May be effective feedback for children who have</a:t>
            </a:r>
            <a:r>
              <a:rPr lang="en-GB" baseline="0" dirty="0" smtClean="0"/>
              <a:t> PA and LK but are struggling to map graphemes onto phonemes</a:t>
            </a:r>
          </a:p>
          <a:p>
            <a:endParaRPr lang="en-GB" baseline="0" dirty="0" smtClean="0"/>
          </a:p>
          <a:p>
            <a:endParaRPr lang="en-GB" baseline="0" dirty="0" smtClean="0"/>
          </a:p>
          <a:p>
            <a:r>
              <a:rPr lang="en-GB" baseline="0" dirty="0" smtClean="0"/>
              <a:t>Also train staff so </a:t>
            </a:r>
          </a:p>
          <a:p>
            <a:endParaRPr lang="en-GB" baseline="0" dirty="0" smtClean="0"/>
          </a:p>
          <a:p>
            <a:r>
              <a:rPr lang="en-GB" baseline="0" dirty="0" smtClean="0"/>
              <a:t>Staff should understand that:</a:t>
            </a:r>
          </a:p>
          <a:p>
            <a:r>
              <a:rPr lang="en-GB" baseline="0" dirty="0" smtClean="0"/>
              <a:t>they need to mediate learning so children progress through work at correct level of challenge, </a:t>
            </a:r>
          </a:p>
          <a:p>
            <a:r>
              <a:rPr lang="en-GB" baseline="0" dirty="0" smtClean="0"/>
              <a:t>making mistakes is core to the programme, </a:t>
            </a:r>
          </a:p>
          <a:p>
            <a:r>
              <a:rPr lang="en-GB" baseline="0" dirty="0" smtClean="0"/>
              <a:t>they can help children reflect on strategies that helped them succeed </a:t>
            </a:r>
          </a:p>
          <a:p>
            <a:endParaRPr lang="en-GB" baseline="0" dirty="0" smtClean="0"/>
          </a:p>
          <a:p>
            <a:endParaRPr lang="en-GB" dirty="0"/>
          </a:p>
        </p:txBody>
      </p:sp>
      <p:sp>
        <p:nvSpPr>
          <p:cNvPr id="4" name="Slide Number Placeholder 3"/>
          <p:cNvSpPr>
            <a:spLocks noGrp="1"/>
          </p:cNvSpPr>
          <p:nvPr>
            <p:ph type="sldNum" sz="quarter" idx="10"/>
          </p:nvPr>
        </p:nvSpPr>
        <p:spPr/>
        <p:txBody>
          <a:bodyPr/>
          <a:lstStyle/>
          <a:p>
            <a:fld id="{9EFA8B0C-E03A-4D30-BCB3-F921E8DEC0F2}" type="slidenum">
              <a:rPr lang="en-GB" smtClean="0"/>
              <a:t>16</a:t>
            </a:fld>
            <a:endParaRPr lang="en-GB"/>
          </a:p>
        </p:txBody>
      </p:sp>
    </p:spTree>
    <p:extLst>
      <p:ext uri="{BB962C8B-B14F-4D97-AF65-F5344CB8AC3E}">
        <p14:creationId xmlns:p14="http://schemas.microsoft.com/office/powerpoint/2010/main" val="9110910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EPs</a:t>
            </a:r>
            <a:r>
              <a:rPr lang="en-GB" baseline="0" dirty="0" smtClean="0"/>
              <a:t> can also h</a:t>
            </a:r>
            <a:r>
              <a:rPr lang="en-GB" dirty="0" smtClean="0"/>
              <a:t>elp schools feel confident to adapt the programme</a:t>
            </a:r>
          </a:p>
          <a:p>
            <a:endParaRPr lang="en-GB" dirty="0" smtClean="0"/>
          </a:p>
          <a:p>
            <a:r>
              <a:rPr lang="en-GB" dirty="0" smtClean="0"/>
              <a:t>Create</a:t>
            </a:r>
            <a:r>
              <a:rPr lang="en-GB" baseline="0" dirty="0" smtClean="0"/>
              <a:t> more sentences if children need additional practice of particular phoneme-grapheme pairing</a:t>
            </a:r>
          </a:p>
          <a:p>
            <a:endParaRPr lang="en-GB" baseline="0" dirty="0" smtClean="0"/>
          </a:p>
          <a:p>
            <a:r>
              <a:rPr lang="en-GB" baseline="0" dirty="0" smtClean="0"/>
              <a:t>Use for words not sentences</a:t>
            </a:r>
          </a:p>
          <a:p>
            <a:endParaRPr lang="en-GB" baseline="0" dirty="0" smtClean="0"/>
          </a:p>
          <a:p>
            <a:r>
              <a:rPr lang="en-GB" dirty="0" smtClean="0"/>
              <a:t>Change sentences so appropriate for older learners/engage</a:t>
            </a:r>
            <a:r>
              <a:rPr lang="en-GB" baseline="0" dirty="0" smtClean="0"/>
              <a:t> interest</a:t>
            </a:r>
            <a:endParaRPr lang="en-GB" dirty="0" smtClean="0"/>
          </a:p>
        </p:txBody>
      </p:sp>
      <p:sp>
        <p:nvSpPr>
          <p:cNvPr id="4" name="Slide Number Placeholder 3"/>
          <p:cNvSpPr>
            <a:spLocks noGrp="1"/>
          </p:cNvSpPr>
          <p:nvPr>
            <p:ph type="sldNum" sz="quarter" idx="10"/>
          </p:nvPr>
        </p:nvSpPr>
        <p:spPr/>
        <p:txBody>
          <a:bodyPr/>
          <a:lstStyle/>
          <a:p>
            <a:fld id="{9EFA8B0C-E03A-4D30-BCB3-F921E8DEC0F2}" type="slidenum">
              <a:rPr lang="en-GB" smtClean="0"/>
              <a:t>17</a:t>
            </a:fld>
            <a:endParaRPr lang="en-GB"/>
          </a:p>
        </p:txBody>
      </p:sp>
    </p:spTree>
    <p:extLst>
      <p:ext uri="{BB962C8B-B14F-4D97-AF65-F5344CB8AC3E}">
        <p14:creationId xmlns:p14="http://schemas.microsoft.com/office/powerpoint/2010/main" val="26755165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Reading is more than cognitive skills</a:t>
            </a:r>
          </a:p>
          <a:p>
            <a:endParaRPr lang="en-GB" dirty="0" smtClean="0"/>
          </a:p>
          <a:p>
            <a:r>
              <a:rPr lang="en-GB" dirty="0" smtClean="0"/>
              <a:t>Chapman and </a:t>
            </a:r>
            <a:r>
              <a:rPr lang="en-GB" dirty="0" err="1" smtClean="0"/>
              <a:t>Tunmer</a:t>
            </a:r>
            <a:r>
              <a:rPr lang="en-GB" dirty="0" smtClean="0"/>
              <a:t> (2003)</a:t>
            </a:r>
          </a:p>
          <a:p>
            <a:r>
              <a:rPr lang="en-GB" dirty="0" smtClean="0"/>
              <a:t>Reading programmes should include strategies to</a:t>
            </a:r>
            <a:r>
              <a:rPr lang="en-GB" baseline="0" dirty="0" smtClean="0"/>
              <a:t> ameliorate negative self-perceptions as well as teaching fundamental skills</a:t>
            </a:r>
          </a:p>
          <a:p>
            <a:endParaRPr lang="en-GB" baseline="0" dirty="0" smtClean="0"/>
          </a:p>
          <a:p>
            <a:r>
              <a:rPr lang="en-GB" baseline="0" dirty="0" smtClean="0"/>
              <a:t>Morgan and Fuchs (2007)</a:t>
            </a:r>
          </a:p>
          <a:p>
            <a:r>
              <a:rPr lang="en-GB" baseline="0" dirty="0" smtClean="0"/>
              <a:t>Reading achievement and motivation may predict each other over time, more research needed </a:t>
            </a:r>
          </a:p>
          <a:p>
            <a:r>
              <a:rPr lang="en-GB" baseline="0" dirty="0" smtClean="0"/>
              <a:t>15 studies reviewed </a:t>
            </a:r>
          </a:p>
          <a:p>
            <a:endParaRPr lang="en-GB" baseline="0" dirty="0" smtClean="0"/>
          </a:p>
          <a:p>
            <a:r>
              <a:rPr lang="en-GB" baseline="0" dirty="0" smtClean="0"/>
              <a:t>Atkinson (2006)</a:t>
            </a:r>
          </a:p>
          <a:p>
            <a:r>
              <a:rPr lang="en-GB" baseline="0" dirty="0" smtClean="0"/>
              <a:t>Interviewed pupils – greater access to a range of resources was key to enjoyment of reading at school </a:t>
            </a:r>
            <a:endParaRPr lang="en-GB" dirty="0"/>
          </a:p>
        </p:txBody>
      </p:sp>
      <p:sp>
        <p:nvSpPr>
          <p:cNvPr id="4" name="Slide Number Placeholder 3"/>
          <p:cNvSpPr>
            <a:spLocks noGrp="1"/>
          </p:cNvSpPr>
          <p:nvPr>
            <p:ph type="sldNum" sz="quarter" idx="10"/>
          </p:nvPr>
        </p:nvSpPr>
        <p:spPr/>
        <p:txBody>
          <a:bodyPr/>
          <a:lstStyle/>
          <a:p>
            <a:fld id="{9EFA8B0C-E03A-4D30-BCB3-F921E8DEC0F2}" type="slidenum">
              <a:rPr lang="en-GB" smtClean="0"/>
              <a:t>18</a:t>
            </a:fld>
            <a:endParaRPr lang="en-GB"/>
          </a:p>
        </p:txBody>
      </p:sp>
    </p:spTree>
    <p:extLst>
      <p:ext uri="{BB962C8B-B14F-4D97-AF65-F5344CB8AC3E}">
        <p14:creationId xmlns:p14="http://schemas.microsoft.com/office/powerpoint/2010/main" val="7113710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May support</a:t>
            </a:r>
            <a:r>
              <a:rPr lang="en-GB" baseline="0" dirty="0" smtClean="0"/>
              <a:t> learning of GPC to fluency once children have developed skills of PA, LK, and decoding</a:t>
            </a:r>
          </a:p>
          <a:p>
            <a:endParaRPr lang="en-GB" baseline="0" dirty="0" smtClean="0"/>
          </a:p>
          <a:p>
            <a:r>
              <a:rPr lang="en-GB" baseline="0" dirty="0" smtClean="0"/>
              <a:t>Adapt – use it flexibly to support students</a:t>
            </a:r>
          </a:p>
          <a:p>
            <a:endParaRPr lang="en-GB" baseline="0" dirty="0" smtClean="0"/>
          </a:p>
          <a:p>
            <a:r>
              <a:rPr lang="en-GB" baseline="0" dirty="0" smtClean="0"/>
              <a:t>Emotional side of reading</a:t>
            </a:r>
          </a:p>
          <a:p>
            <a:endParaRPr lang="en-GB" baseline="0" dirty="0" smtClean="0"/>
          </a:p>
          <a:p>
            <a:r>
              <a:rPr lang="en-GB" baseline="0" dirty="0" smtClean="0"/>
              <a:t>Research is needed as weak evidence base </a:t>
            </a:r>
            <a:endParaRPr lang="en-GB" dirty="0"/>
          </a:p>
        </p:txBody>
      </p:sp>
      <p:sp>
        <p:nvSpPr>
          <p:cNvPr id="4" name="Slide Number Placeholder 3"/>
          <p:cNvSpPr>
            <a:spLocks noGrp="1"/>
          </p:cNvSpPr>
          <p:nvPr>
            <p:ph type="sldNum" sz="quarter" idx="10"/>
          </p:nvPr>
        </p:nvSpPr>
        <p:spPr/>
        <p:txBody>
          <a:bodyPr/>
          <a:lstStyle/>
          <a:p>
            <a:fld id="{9EFA8B0C-E03A-4D30-BCB3-F921E8DEC0F2}" type="slidenum">
              <a:rPr lang="en-GB" smtClean="0"/>
              <a:t>19</a:t>
            </a:fld>
            <a:endParaRPr lang="en-GB"/>
          </a:p>
        </p:txBody>
      </p:sp>
    </p:spTree>
    <p:extLst>
      <p:ext uri="{BB962C8B-B14F-4D97-AF65-F5344CB8AC3E}">
        <p14:creationId xmlns:p14="http://schemas.microsoft.com/office/powerpoint/2010/main" val="3409539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Thank you for listening. </a:t>
            </a:r>
          </a:p>
          <a:p>
            <a:endParaRPr lang="en-GB" dirty="0" smtClean="0"/>
          </a:p>
          <a:p>
            <a:r>
              <a:rPr lang="en-GB" dirty="0" smtClean="0"/>
              <a:t>Any questions?</a:t>
            </a:r>
            <a:endParaRPr lang="en-GB" dirty="0"/>
          </a:p>
        </p:txBody>
      </p:sp>
      <p:sp>
        <p:nvSpPr>
          <p:cNvPr id="4" name="Slide Number Placeholder 3"/>
          <p:cNvSpPr>
            <a:spLocks noGrp="1"/>
          </p:cNvSpPr>
          <p:nvPr>
            <p:ph type="sldNum" sz="quarter" idx="10"/>
          </p:nvPr>
        </p:nvSpPr>
        <p:spPr/>
        <p:txBody>
          <a:bodyPr/>
          <a:lstStyle/>
          <a:p>
            <a:fld id="{9EFA8B0C-E03A-4D30-BCB3-F921E8DEC0F2}" type="slidenum">
              <a:rPr lang="en-GB" smtClean="0"/>
              <a:t>20</a:t>
            </a:fld>
            <a:endParaRPr lang="en-GB"/>
          </a:p>
        </p:txBody>
      </p:sp>
    </p:spTree>
    <p:extLst>
      <p:ext uri="{BB962C8B-B14F-4D97-AF65-F5344CB8AC3E}">
        <p14:creationId xmlns:p14="http://schemas.microsoft.com/office/powerpoint/2010/main" val="2334989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A2573E8-08B1-449E-9DFB-1FAB85421BEF}" type="datetimeFigureOut">
              <a:rPr lang="en-GB" smtClean="0"/>
              <a:t>18/12/2015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C38F73F-6C3A-48E3-BC70-4E5A985C53F0}" type="slidenum">
              <a:rPr lang="en-GB" smtClean="0"/>
              <a:t>‹#›</a:t>
            </a:fld>
            <a:endParaRPr lang="en-GB"/>
          </a:p>
        </p:txBody>
      </p:sp>
    </p:spTree>
    <p:extLst>
      <p:ext uri="{BB962C8B-B14F-4D97-AF65-F5344CB8AC3E}">
        <p14:creationId xmlns:p14="http://schemas.microsoft.com/office/powerpoint/2010/main" val="1723299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A2573E8-08B1-449E-9DFB-1FAB85421BEF}" type="datetimeFigureOut">
              <a:rPr lang="en-GB" smtClean="0"/>
              <a:t>18/12/2015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C38F73F-6C3A-48E3-BC70-4E5A985C53F0}" type="slidenum">
              <a:rPr lang="en-GB" smtClean="0"/>
              <a:t>‹#›</a:t>
            </a:fld>
            <a:endParaRPr lang="en-GB"/>
          </a:p>
        </p:txBody>
      </p:sp>
    </p:spTree>
    <p:extLst>
      <p:ext uri="{BB962C8B-B14F-4D97-AF65-F5344CB8AC3E}">
        <p14:creationId xmlns:p14="http://schemas.microsoft.com/office/powerpoint/2010/main" val="518622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A2573E8-08B1-449E-9DFB-1FAB85421BEF}" type="datetimeFigureOut">
              <a:rPr lang="en-GB" smtClean="0"/>
              <a:t>18/12/2015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C38F73F-6C3A-48E3-BC70-4E5A985C53F0}" type="slidenum">
              <a:rPr lang="en-GB" smtClean="0"/>
              <a:t>‹#›</a:t>
            </a:fld>
            <a:endParaRPr lang="en-GB"/>
          </a:p>
        </p:txBody>
      </p:sp>
    </p:spTree>
    <p:extLst>
      <p:ext uri="{BB962C8B-B14F-4D97-AF65-F5344CB8AC3E}">
        <p14:creationId xmlns:p14="http://schemas.microsoft.com/office/powerpoint/2010/main" val="611731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A2573E8-08B1-449E-9DFB-1FAB85421BEF}" type="datetimeFigureOut">
              <a:rPr lang="en-GB" smtClean="0"/>
              <a:t>18/12/2015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C38F73F-6C3A-48E3-BC70-4E5A985C53F0}" type="slidenum">
              <a:rPr lang="en-GB" smtClean="0"/>
              <a:t>‹#›</a:t>
            </a:fld>
            <a:endParaRPr lang="en-GB"/>
          </a:p>
        </p:txBody>
      </p:sp>
    </p:spTree>
    <p:extLst>
      <p:ext uri="{BB962C8B-B14F-4D97-AF65-F5344CB8AC3E}">
        <p14:creationId xmlns:p14="http://schemas.microsoft.com/office/powerpoint/2010/main" val="4187113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A2573E8-08B1-449E-9DFB-1FAB85421BEF}" type="datetimeFigureOut">
              <a:rPr lang="en-GB" smtClean="0"/>
              <a:t>18/12/2015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C38F73F-6C3A-48E3-BC70-4E5A985C53F0}" type="slidenum">
              <a:rPr lang="en-GB" smtClean="0"/>
              <a:t>‹#›</a:t>
            </a:fld>
            <a:endParaRPr lang="en-GB"/>
          </a:p>
        </p:txBody>
      </p:sp>
    </p:spTree>
    <p:extLst>
      <p:ext uri="{BB962C8B-B14F-4D97-AF65-F5344CB8AC3E}">
        <p14:creationId xmlns:p14="http://schemas.microsoft.com/office/powerpoint/2010/main" val="237463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A2573E8-08B1-449E-9DFB-1FAB85421BEF}" type="datetimeFigureOut">
              <a:rPr lang="en-GB" smtClean="0"/>
              <a:t>18/12/2015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C38F73F-6C3A-48E3-BC70-4E5A985C53F0}" type="slidenum">
              <a:rPr lang="en-GB" smtClean="0"/>
              <a:t>‹#›</a:t>
            </a:fld>
            <a:endParaRPr lang="en-GB"/>
          </a:p>
        </p:txBody>
      </p:sp>
    </p:spTree>
    <p:extLst>
      <p:ext uri="{BB962C8B-B14F-4D97-AF65-F5344CB8AC3E}">
        <p14:creationId xmlns:p14="http://schemas.microsoft.com/office/powerpoint/2010/main" val="3961869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2573E8-08B1-449E-9DFB-1FAB85421BEF}" type="datetimeFigureOut">
              <a:rPr lang="en-GB" smtClean="0"/>
              <a:t>18/12/2015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C38F73F-6C3A-48E3-BC70-4E5A985C53F0}" type="slidenum">
              <a:rPr lang="en-GB" smtClean="0"/>
              <a:t>‹#›</a:t>
            </a:fld>
            <a:endParaRPr lang="en-GB"/>
          </a:p>
        </p:txBody>
      </p:sp>
    </p:spTree>
    <p:extLst>
      <p:ext uri="{BB962C8B-B14F-4D97-AF65-F5344CB8AC3E}">
        <p14:creationId xmlns:p14="http://schemas.microsoft.com/office/powerpoint/2010/main" val="3349066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2573E8-08B1-449E-9DFB-1FAB85421BEF}" type="datetimeFigureOut">
              <a:rPr lang="en-GB" smtClean="0"/>
              <a:t>18/12/2015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C38F73F-6C3A-48E3-BC70-4E5A985C53F0}" type="slidenum">
              <a:rPr lang="en-GB" smtClean="0"/>
              <a:t>‹#›</a:t>
            </a:fld>
            <a:endParaRPr lang="en-GB"/>
          </a:p>
        </p:txBody>
      </p:sp>
    </p:spTree>
    <p:extLst>
      <p:ext uri="{BB962C8B-B14F-4D97-AF65-F5344CB8AC3E}">
        <p14:creationId xmlns:p14="http://schemas.microsoft.com/office/powerpoint/2010/main" val="1338669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2573E8-08B1-449E-9DFB-1FAB85421BEF}" type="datetimeFigureOut">
              <a:rPr lang="en-GB" smtClean="0"/>
              <a:t>18/12/2015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C38F73F-6C3A-48E3-BC70-4E5A985C53F0}" type="slidenum">
              <a:rPr lang="en-GB" smtClean="0"/>
              <a:t>‹#›</a:t>
            </a:fld>
            <a:endParaRPr lang="en-GB"/>
          </a:p>
        </p:txBody>
      </p:sp>
    </p:spTree>
    <p:extLst>
      <p:ext uri="{BB962C8B-B14F-4D97-AF65-F5344CB8AC3E}">
        <p14:creationId xmlns:p14="http://schemas.microsoft.com/office/powerpoint/2010/main" val="3519028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A2573E8-08B1-449E-9DFB-1FAB85421BEF}" type="datetimeFigureOut">
              <a:rPr lang="en-GB" smtClean="0"/>
              <a:t>18/12/2015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C38F73F-6C3A-48E3-BC70-4E5A985C53F0}" type="slidenum">
              <a:rPr lang="en-GB" smtClean="0"/>
              <a:t>‹#›</a:t>
            </a:fld>
            <a:endParaRPr lang="en-GB"/>
          </a:p>
        </p:txBody>
      </p:sp>
    </p:spTree>
    <p:extLst>
      <p:ext uri="{BB962C8B-B14F-4D97-AF65-F5344CB8AC3E}">
        <p14:creationId xmlns:p14="http://schemas.microsoft.com/office/powerpoint/2010/main" val="110366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A2573E8-08B1-449E-9DFB-1FAB85421BEF}" type="datetimeFigureOut">
              <a:rPr lang="en-GB" smtClean="0"/>
              <a:t>18/12/2015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C38F73F-6C3A-48E3-BC70-4E5A985C53F0}" type="slidenum">
              <a:rPr lang="en-GB" smtClean="0"/>
              <a:t>‹#›</a:t>
            </a:fld>
            <a:endParaRPr lang="en-GB"/>
          </a:p>
        </p:txBody>
      </p:sp>
    </p:spTree>
    <p:extLst>
      <p:ext uri="{BB962C8B-B14F-4D97-AF65-F5344CB8AC3E}">
        <p14:creationId xmlns:p14="http://schemas.microsoft.com/office/powerpoint/2010/main" val="588031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2573E8-08B1-449E-9DFB-1FAB85421BEF}" type="datetimeFigureOut">
              <a:rPr lang="en-GB" smtClean="0"/>
              <a:t>18/12/2015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38F73F-6C3A-48E3-BC70-4E5A985C53F0}" type="slidenum">
              <a:rPr lang="en-GB" smtClean="0"/>
              <a:t>‹#›</a:t>
            </a:fld>
            <a:endParaRPr lang="en-GB"/>
          </a:p>
        </p:txBody>
      </p:sp>
    </p:spTree>
    <p:extLst>
      <p:ext uri="{BB962C8B-B14F-4D97-AF65-F5344CB8AC3E}">
        <p14:creationId xmlns:p14="http://schemas.microsoft.com/office/powerpoint/2010/main" val="2290723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cdn2.bigcommerce.com/n-nr1m3w/9hkplt/products/202/images/505/icon320x320__70113.1415910233.1280.1280.png?c=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55035" y="3605893"/>
            <a:ext cx="2884465" cy="288446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23850" y="857250"/>
            <a:ext cx="10915650" cy="3170099"/>
          </a:xfrm>
          <a:prstGeom prst="rect">
            <a:avLst/>
          </a:prstGeom>
          <a:noFill/>
        </p:spPr>
        <p:txBody>
          <a:bodyPr wrap="square" rtlCol="0">
            <a:spAutoFit/>
          </a:bodyPr>
          <a:lstStyle/>
          <a:p>
            <a:pPr algn="ctr"/>
            <a:r>
              <a:rPr lang="en-GB" sz="4000" dirty="0" smtClean="0">
                <a:latin typeface="Garamond" panose="02020404030301010803" pitchFamily="18" charset="0"/>
              </a:rPr>
              <a:t>Accelewhen?</a:t>
            </a:r>
          </a:p>
          <a:p>
            <a:pPr algn="ctr"/>
            <a:endParaRPr lang="en-GB" sz="4000" dirty="0" smtClean="0">
              <a:latin typeface="Garamond" panose="02020404030301010803" pitchFamily="18" charset="0"/>
            </a:endParaRPr>
          </a:p>
          <a:p>
            <a:pPr algn="ctr"/>
            <a:r>
              <a:rPr lang="en-GB" sz="4000" dirty="0" smtClean="0">
                <a:latin typeface="Garamond" panose="02020404030301010803" pitchFamily="18" charset="0"/>
              </a:rPr>
              <a:t>Under which circumstances is </a:t>
            </a:r>
          </a:p>
          <a:p>
            <a:pPr algn="ctr"/>
            <a:r>
              <a:rPr lang="en-GB" sz="4000" dirty="0" smtClean="0">
                <a:latin typeface="Garamond" panose="02020404030301010803" pitchFamily="18" charset="0"/>
              </a:rPr>
              <a:t>Acceleread Accelewrite an </a:t>
            </a:r>
          </a:p>
          <a:p>
            <a:pPr algn="ctr"/>
            <a:r>
              <a:rPr lang="en-GB" sz="4000" dirty="0" smtClean="0">
                <a:latin typeface="Garamond" panose="02020404030301010803" pitchFamily="18" charset="0"/>
              </a:rPr>
              <a:t>effective intervention?</a:t>
            </a:r>
            <a:endParaRPr lang="en-GB" sz="4000" dirty="0">
              <a:latin typeface="Garamond" panose="02020404030301010803" pitchFamily="18" charset="0"/>
            </a:endParaRPr>
          </a:p>
        </p:txBody>
      </p:sp>
      <p:sp>
        <p:nvSpPr>
          <p:cNvPr id="6" name="TextBox 5"/>
          <p:cNvSpPr txBox="1"/>
          <p:nvPr/>
        </p:nvSpPr>
        <p:spPr>
          <a:xfrm>
            <a:off x="323850" y="5295900"/>
            <a:ext cx="10915650" cy="553998"/>
          </a:xfrm>
          <a:prstGeom prst="rect">
            <a:avLst/>
          </a:prstGeom>
          <a:noFill/>
        </p:spPr>
        <p:txBody>
          <a:bodyPr wrap="square" rtlCol="0">
            <a:spAutoFit/>
          </a:bodyPr>
          <a:lstStyle/>
          <a:p>
            <a:pPr algn="ctr"/>
            <a:r>
              <a:rPr lang="en-GB" sz="3000" dirty="0" smtClean="0">
                <a:latin typeface="Garamond" panose="02020404030301010803" pitchFamily="18" charset="0"/>
              </a:rPr>
              <a:t>Emma Herring</a:t>
            </a:r>
            <a:endParaRPr lang="en-GB" sz="3000" dirty="0">
              <a:latin typeface="Garamond" panose="02020404030301010803" pitchFamily="18" charset="0"/>
            </a:endParaRPr>
          </a:p>
        </p:txBody>
      </p:sp>
    </p:spTree>
    <p:extLst>
      <p:ext uri="{BB962C8B-B14F-4D97-AF65-F5344CB8AC3E}">
        <p14:creationId xmlns:p14="http://schemas.microsoft.com/office/powerpoint/2010/main" val="13507013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Garamond" panose="02020404030301010803" pitchFamily="18" charset="0"/>
              </a:rPr>
              <a:t>Outline</a:t>
            </a:r>
            <a:endParaRPr lang="en-GB" dirty="0">
              <a:latin typeface="Garamond" panose="02020404030301010803" pitchFamily="18" charset="0"/>
            </a:endParaRPr>
          </a:p>
        </p:txBody>
      </p:sp>
      <p:sp>
        <p:nvSpPr>
          <p:cNvPr id="3" name="Content Placeholder 2"/>
          <p:cNvSpPr>
            <a:spLocks noGrp="1"/>
          </p:cNvSpPr>
          <p:nvPr>
            <p:ph idx="1"/>
          </p:nvPr>
        </p:nvSpPr>
        <p:spPr/>
        <p:txBody>
          <a:bodyPr/>
          <a:lstStyle/>
          <a:p>
            <a:r>
              <a:rPr lang="en-GB" dirty="0" smtClean="0">
                <a:latin typeface="Garamond" panose="02020404030301010803" pitchFamily="18" charset="0"/>
              </a:rPr>
              <a:t>Acceleread Accelewrite intervention</a:t>
            </a:r>
          </a:p>
          <a:p>
            <a:pPr marL="0" indent="0">
              <a:buNone/>
            </a:pPr>
            <a:endParaRPr lang="en-GB" dirty="0" smtClean="0">
              <a:latin typeface="Garamond" panose="02020404030301010803" pitchFamily="18" charset="0"/>
            </a:endParaRPr>
          </a:p>
          <a:p>
            <a:r>
              <a:rPr lang="en-GB" dirty="0" smtClean="0">
                <a:latin typeface="Garamond" panose="02020404030301010803" pitchFamily="18" charset="0"/>
              </a:rPr>
              <a:t>Underlying principles</a:t>
            </a:r>
          </a:p>
          <a:p>
            <a:endParaRPr lang="en-GB" dirty="0" smtClean="0">
              <a:latin typeface="Garamond" panose="02020404030301010803" pitchFamily="18" charset="0"/>
            </a:endParaRPr>
          </a:p>
          <a:p>
            <a:r>
              <a:rPr lang="en-GB" dirty="0" smtClean="0">
                <a:latin typeface="Garamond" panose="02020404030301010803" pitchFamily="18" charset="0"/>
              </a:rPr>
              <a:t>Evidence Base</a:t>
            </a:r>
          </a:p>
          <a:p>
            <a:endParaRPr lang="en-GB" dirty="0" smtClean="0">
              <a:latin typeface="Garamond" panose="02020404030301010803" pitchFamily="18" charset="0"/>
            </a:endParaRPr>
          </a:p>
          <a:p>
            <a:r>
              <a:rPr lang="en-GB" dirty="0" smtClean="0">
                <a:latin typeface="Garamond" panose="02020404030301010803" pitchFamily="18" charset="0"/>
              </a:rPr>
              <a:t>Implications </a:t>
            </a:r>
            <a:endParaRPr lang="en-GB" dirty="0">
              <a:latin typeface="Garamond" panose="02020404030301010803" pitchFamily="18" charset="0"/>
            </a:endParaRPr>
          </a:p>
        </p:txBody>
      </p:sp>
    </p:spTree>
    <p:extLst>
      <p:ext uri="{BB962C8B-B14F-4D97-AF65-F5344CB8AC3E}">
        <p14:creationId xmlns:p14="http://schemas.microsoft.com/office/powerpoint/2010/main" val="12313130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latin typeface="Garamond" panose="02020404030301010803" pitchFamily="18" charset="0"/>
              </a:rPr>
              <a:t>Acceleread Accelewrite intervention</a:t>
            </a:r>
            <a:endParaRPr lang="en-GB" dirty="0">
              <a:latin typeface="Garamond" panose="02020404030301010803" pitchFamily="18" charset="0"/>
            </a:endParaRPr>
          </a:p>
        </p:txBody>
      </p:sp>
      <p:pic>
        <p:nvPicPr>
          <p:cNvPr id="5" name="Picture 2" descr="http://cdn2.bigcommerce.com/n-nr1m3w/9hkplt/products/202/images/505/icon320x320__70113.1415910233.1280.1280.png?c=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87885" y="2387600"/>
            <a:ext cx="2884465" cy="28844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03427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Garamond" panose="02020404030301010803" pitchFamily="18" charset="0"/>
              </a:rPr>
              <a:t>Underlying Principles </a:t>
            </a:r>
            <a:endParaRPr lang="en-GB" dirty="0">
              <a:latin typeface="Garamond" panose="02020404030301010803" pitchFamily="18" charset="0"/>
            </a:endParaRPr>
          </a:p>
        </p:txBody>
      </p:sp>
      <p:sp>
        <p:nvSpPr>
          <p:cNvPr id="3" name="Content Placeholder 2"/>
          <p:cNvSpPr>
            <a:spLocks noGrp="1"/>
          </p:cNvSpPr>
          <p:nvPr>
            <p:ph idx="1"/>
          </p:nvPr>
        </p:nvSpPr>
        <p:spPr/>
        <p:txBody>
          <a:bodyPr>
            <a:normAutofit/>
          </a:bodyPr>
          <a:lstStyle/>
          <a:p>
            <a:r>
              <a:rPr lang="en-GB" dirty="0" smtClean="0">
                <a:latin typeface="Garamond" panose="02020404030301010803" pitchFamily="18" charset="0"/>
              </a:rPr>
              <a:t>Visual Verbal Associations</a:t>
            </a:r>
          </a:p>
          <a:p>
            <a:endParaRPr lang="en-GB" dirty="0" smtClean="0">
              <a:latin typeface="Garamond" panose="02020404030301010803" pitchFamily="18" charset="0"/>
            </a:endParaRPr>
          </a:p>
          <a:p>
            <a:pPr lvl="1"/>
            <a:r>
              <a:rPr lang="en-GB" dirty="0">
                <a:latin typeface="Garamond" panose="02020404030301010803" pitchFamily="18" charset="0"/>
              </a:rPr>
              <a:t>Grapheme Phoneme </a:t>
            </a:r>
            <a:endParaRPr lang="en-GB" dirty="0" smtClean="0">
              <a:latin typeface="Garamond" panose="02020404030301010803" pitchFamily="18" charset="0"/>
            </a:endParaRPr>
          </a:p>
          <a:p>
            <a:pPr marL="457200" lvl="1" indent="0">
              <a:buNone/>
            </a:pPr>
            <a:r>
              <a:rPr lang="en-GB" dirty="0">
                <a:latin typeface="Garamond" panose="02020404030301010803" pitchFamily="18" charset="0"/>
              </a:rPr>
              <a:t> </a:t>
            </a:r>
            <a:r>
              <a:rPr lang="en-GB" dirty="0" smtClean="0">
                <a:latin typeface="Garamond" panose="02020404030301010803" pitchFamily="18" charset="0"/>
              </a:rPr>
              <a:t>   Correspondence</a:t>
            </a:r>
          </a:p>
          <a:p>
            <a:pPr lvl="1"/>
            <a:endParaRPr lang="en-GB" dirty="0" smtClean="0">
              <a:latin typeface="Garamond" panose="02020404030301010803" pitchFamily="18" charset="0"/>
            </a:endParaRPr>
          </a:p>
          <a:p>
            <a:pPr lvl="1"/>
            <a:endParaRPr lang="en-GB" dirty="0">
              <a:latin typeface="Garamond" panose="02020404030301010803" pitchFamily="18" charset="0"/>
            </a:endParaRPr>
          </a:p>
          <a:p>
            <a:pPr lvl="1"/>
            <a:endParaRPr lang="en-GB" dirty="0" smtClean="0">
              <a:latin typeface="Garamond" panose="02020404030301010803" pitchFamily="18" charset="0"/>
            </a:endParaRPr>
          </a:p>
          <a:p>
            <a:pPr lvl="1"/>
            <a:endParaRPr lang="en-GB" dirty="0">
              <a:latin typeface="Garamond" panose="02020404030301010803" pitchFamily="18" charset="0"/>
            </a:endParaRPr>
          </a:p>
          <a:p>
            <a:pPr lvl="1"/>
            <a:endParaRPr lang="en-GB" dirty="0" smtClean="0">
              <a:latin typeface="Garamond" panose="02020404030301010803" pitchFamily="18" charset="0"/>
            </a:endParaRPr>
          </a:p>
          <a:p>
            <a:pPr lvl="1"/>
            <a:endParaRPr lang="en-GB" dirty="0">
              <a:latin typeface="Garamond" panose="02020404030301010803" pitchFamily="18" charset="0"/>
            </a:endParaRPr>
          </a:p>
          <a:p>
            <a:pPr lvl="1"/>
            <a:endParaRPr lang="en-GB" dirty="0" smtClean="0">
              <a:latin typeface="Garamond" panose="02020404030301010803" pitchFamily="18"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81800" y="3128963"/>
            <a:ext cx="4572000" cy="3048000"/>
          </a:xfrm>
          <a:prstGeom prst="rect">
            <a:avLst/>
          </a:prstGeom>
        </p:spPr>
      </p:pic>
    </p:spTree>
    <p:extLst>
      <p:ext uri="{BB962C8B-B14F-4D97-AF65-F5344CB8AC3E}">
        <p14:creationId xmlns:p14="http://schemas.microsoft.com/office/powerpoint/2010/main" val="6166705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Garamond" panose="02020404030301010803" pitchFamily="18" charset="0"/>
              </a:rPr>
              <a:t>Underlying Principles </a:t>
            </a:r>
            <a:endParaRPr lang="en-GB" dirty="0">
              <a:latin typeface="Garamond" panose="02020404030301010803" pitchFamily="18" charset="0"/>
            </a:endParaRPr>
          </a:p>
        </p:txBody>
      </p:sp>
      <p:sp>
        <p:nvSpPr>
          <p:cNvPr id="3" name="Content Placeholder 2"/>
          <p:cNvSpPr>
            <a:spLocks noGrp="1"/>
          </p:cNvSpPr>
          <p:nvPr>
            <p:ph idx="1"/>
          </p:nvPr>
        </p:nvSpPr>
        <p:spPr/>
        <p:txBody>
          <a:bodyPr>
            <a:normAutofit/>
          </a:bodyPr>
          <a:lstStyle/>
          <a:p>
            <a:r>
              <a:rPr lang="en-GB" dirty="0" smtClean="0">
                <a:latin typeface="Garamond" panose="02020404030301010803" pitchFamily="18" charset="0"/>
              </a:rPr>
              <a:t>Visual Verbal Associations</a:t>
            </a:r>
          </a:p>
          <a:p>
            <a:endParaRPr lang="en-GB" dirty="0" smtClean="0">
              <a:latin typeface="Garamond" panose="02020404030301010803" pitchFamily="18" charset="0"/>
            </a:endParaRPr>
          </a:p>
          <a:p>
            <a:pPr lvl="1"/>
            <a:r>
              <a:rPr lang="en-GB" dirty="0">
                <a:latin typeface="Garamond" panose="02020404030301010803" pitchFamily="18" charset="0"/>
              </a:rPr>
              <a:t>Grapheme Phoneme </a:t>
            </a:r>
            <a:endParaRPr lang="en-GB" dirty="0" smtClean="0">
              <a:latin typeface="Garamond" panose="02020404030301010803" pitchFamily="18" charset="0"/>
            </a:endParaRPr>
          </a:p>
          <a:p>
            <a:pPr marL="457200" lvl="1" indent="0">
              <a:buNone/>
            </a:pPr>
            <a:r>
              <a:rPr lang="en-GB" dirty="0">
                <a:latin typeface="Garamond" panose="02020404030301010803" pitchFamily="18" charset="0"/>
              </a:rPr>
              <a:t> </a:t>
            </a:r>
            <a:r>
              <a:rPr lang="en-GB" dirty="0" smtClean="0">
                <a:latin typeface="Garamond" panose="02020404030301010803" pitchFamily="18" charset="0"/>
              </a:rPr>
              <a:t>   Correspondence</a:t>
            </a:r>
          </a:p>
          <a:p>
            <a:pPr lvl="1"/>
            <a:endParaRPr lang="en-GB" dirty="0">
              <a:latin typeface="Garamond" panose="02020404030301010803" pitchFamily="18" charset="0"/>
            </a:endParaRPr>
          </a:p>
          <a:p>
            <a:pPr lvl="1"/>
            <a:r>
              <a:rPr lang="en-GB" dirty="0" smtClean="0">
                <a:latin typeface="Garamond" panose="02020404030301010803" pitchFamily="18" charset="0"/>
              </a:rPr>
              <a:t>Phonological awareness and </a:t>
            </a:r>
          </a:p>
          <a:p>
            <a:pPr marL="457200" lvl="1" indent="0">
              <a:buNone/>
            </a:pPr>
            <a:r>
              <a:rPr lang="en-GB" dirty="0" smtClean="0">
                <a:latin typeface="Garamond" panose="02020404030301010803" pitchFamily="18" charset="0"/>
              </a:rPr>
              <a:t>    letter knowledge</a:t>
            </a:r>
          </a:p>
          <a:p>
            <a:pPr lvl="1"/>
            <a:endParaRPr lang="en-GB" dirty="0" smtClean="0">
              <a:latin typeface="Garamond" panose="02020404030301010803" pitchFamily="18"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81800" y="3128963"/>
            <a:ext cx="4572000" cy="3048000"/>
          </a:xfrm>
          <a:prstGeom prst="rect">
            <a:avLst/>
          </a:prstGeom>
        </p:spPr>
      </p:pic>
    </p:spTree>
    <p:extLst>
      <p:ext uri="{BB962C8B-B14F-4D97-AF65-F5344CB8AC3E}">
        <p14:creationId xmlns:p14="http://schemas.microsoft.com/office/powerpoint/2010/main" val="25900856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Garamond" panose="02020404030301010803" pitchFamily="18" charset="0"/>
              </a:rPr>
              <a:t>Underlying Principles </a:t>
            </a:r>
            <a:endParaRPr lang="en-GB" dirty="0">
              <a:latin typeface="Garamond" panose="02020404030301010803" pitchFamily="18" charset="0"/>
            </a:endParaRPr>
          </a:p>
        </p:txBody>
      </p:sp>
      <p:sp>
        <p:nvSpPr>
          <p:cNvPr id="3" name="Content Placeholder 2"/>
          <p:cNvSpPr>
            <a:spLocks noGrp="1"/>
          </p:cNvSpPr>
          <p:nvPr>
            <p:ph idx="1"/>
          </p:nvPr>
        </p:nvSpPr>
        <p:spPr/>
        <p:txBody>
          <a:bodyPr>
            <a:normAutofit/>
          </a:bodyPr>
          <a:lstStyle/>
          <a:p>
            <a:r>
              <a:rPr lang="en-GB" dirty="0" smtClean="0">
                <a:latin typeface="Garamond" panose="02020404030301010803" pitchFamily="18" charset="0"/>
              </a:rPr>
              <a:t>Visual Verbal Associations</a:t>
            </a:r>
          </a:p>
          <a:p>
            <a:endParaRPr lang="en-GB" dirty="0" smtClean="0">
              <a:latin typeface="Garamond" panose="02020404030301010803" pitchFamily="18" charset="0"/>
            </a:endParaRPr>
          </a:p>
          <a:p>
            <a:pPr lvl="1"/>
            <a:r>
              <a:rPr lang="en-GB" dirty="0">
                <a:latin typeface="Garamond" panose="02020404030301010803" pitchFamily="18" charset="0"/>
              </a:rPr>
              <a:t>Grapheme Phoneme </a:t>
            </a:r>
            <a:endParaRPr lang="en-GB" dirty="0" smtClean="0">
              <a:latin typeface="Garamond" panose="02020404030301010803" pitchFamily="18" charset="0"/>
            </a:endParaRPr>
          </a:p>
          <a:p>
            <a:pPr marL="457200" lvl="1" indent="0">
              <a:buNone/>
            </a:pPr>
            <a:r>
              <a:rPr lang="en-GB" dirty="0">
                <a:latin typeface="Garamond" panose="02020404030301010803" pitchFamily="18" charset="0"/>
              </a:rPr>
              <a:t> </a:t>
            </a:r>
            <a:r>
              <a:rPr lang="en-GB" dirty="0" smtClean="0">
                <a:latin typeface="Garamond" panose="02020404030301010803" pitchFamily="18" charset="0"/>
              </a:rPr>
              <a:t>   Correspondence</a:t>
            </a:r>
          </a:p>
          <a:p>
            <a:pPr lvl="1"/>
            <a:endParaRPr lang="en-GB" dirty="0">
              <a:latin typeface="Garamond" panose="02020404030301010803" pitchFamily="18" charset="0"/>
            </a:endParaRPr>
          </a:p>
          <a:p>
            <a:pPr lvl="1"/>
            <a:r>
              <a:rPr lang="en-GB" dirty="0" smtClean="0">
                <a:latin typeface="Garamond" panose="02020404030301010803" pitchFamily="18" charset="0"/>
              </a:rPr>
              <a:t>Phonological awareness and </a:t>
            </a:r>
          </a:p>
          <a:p>
            <a:pPr marL="457200" lvl="1" indent="0">
              <a:buNone/>
            </a:pPr>
            <a:r>
              <a:rPr lang="en-GB" dirty="0" smtClean="0">
                <a:latin typeface="Garamond" panose="02020404030301010803" pitchFamily="18" charset="0"/>
              </a:rPr>
              <a:t>    letter knowledge</a:t>
            </a:r>
          </a:p>
          <a:p>
            <a:pPr marL="457200" lvl="1" indent="0">
              <a:buNone/>
            </a:pPr>
            <a:endParaRPr lang="en-GB" dirty="0">
              <a:latin typeface="Garamond" panose="02020404030301010803" pitchFamily="18" charset="0"/>
            </a:endParaRPr>
          </a:p>
          <a:p>
            <a:pPr lvl="1"/>
            <a:r>
              <a:rPr lang="en-GB" dirty="0" smtClean="0">
                <a:latin typeface="Garamond" panose="02020404030301010803" pitchFamily="18" charset="0"/>
              </a:rPr>
              <a:t>Multi-sensory </a:t>
            </a:r>
          </a:p>
          <a:p>
            <a:pPr lvl="1"/>
            <a:endParaRPr lang="en-GB" dirty="0" smtClean="0">
              <a:latin typeface="Garamond" panose="02020404030301010803" pitchFamily="18"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81800" y="3128963"/>
            <a:ext cx="4572000" cy="3048000"/>
          </a:xfrm>
          <a:prstGeom prst="rect">
            <a:avLst/>
          </a:prstGeom>
        </p:spPr>
      </p:pic>
    </p:spTree>
    <p:extLst>
      <p:ext uri="{BB962C8B-B14F-4D97-AF65-F5344CB8AC3E}">
        <p14:creationId xmlns:p14="http://schemas.microsoft.com/office/powerpoint/2010/main" val="25315204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Garamond" panose="02020404030301010803" pitchFamily="18" charset="0"/>
              </a:rPr>
              <a:t>Underlying Principles </a:t>
            </a:r>
            <a:endParaRPr lang="en-GB" dirty="0">
              <a:latin typeface="Garamond" panose="02020404030301010803" pitchFamily="18" charset="0"/>
            </a:endParaRPr>
          </a:p>
        </p:txBody>
      </p:sp>
      <p:sp>
        <p:nvSpPr>
          <p:cNvPr id="3" name="Content Placeholder 2"/>
          <p:cNvSpPr>
            <a:spLocks noGrp="1"/>
          </p:cNvSpPr>
          <p:nvPr>
            <p:ph idx="1"/>
          </p:nvPr>
        </p:nvSpPr>
        <p:spPr>
          <a:xfrm>
            <a:off x="838200" y="1825624"/>
            <a:ext cx="10515600" cy="4590165"/>
          </a:xfrm>
        </p:spPr>
        <p:txBody>
          <a:bodyPr>
            <a:normAutofit/>
          </a:bodyPr>
          <a:lstStyle/>
          <a:p>
            <a:r>
              <a:rPr lang="en-GB" dirty="0" smtClean="0">
                <a:latin typeface="Garamond" panose="02020404030301010803" pitchFamily="18" charset="0"/>
              </a:rPr>
              <a:t>Visual Verbal Associations</a:t>
            </a:r>
          </a:p>
          <a:p>
            <a:endParaRPr lang="en-GB" dirty="0" smtClean="0">
              <a:latin typeface="Garamond" panose="02020404030301010803" pitchFamily="18" charset="0"/>
            </a:endParaRPr>
          </a:p>
          <a:p>
            <a:pPr lvl="1"/>
            <a:r>
              <a:rPr lang="en-GB" dirty="0">
                <a:latin typeface="Garamond" panose="02020404030301010803" pitchFamily="18" charset="0"/>
              </a:rPr>
              <a:t>Grapheme Phoneme </a:t>
            </a:r>
            <a:endParaRPr lang="en-GB" dirty="0" smtClean="0">
              <a:latin typeface="Garamond" panose="02020404030301010803" pitchFamily="18" charset="0"/>
            </a:endParaRPr>
          </a:p>
          <a:p>
            <a:pPr marL="457200" lvl="1" indent="0">
              <a:buNone/>
            </a:pPr>
            <a:r>
              <a:rPr lang="en-GB" dirty="0">
                <a:latin typeface="Garamond" panose="02020404030301010803" pitchFamily="18" charset="0"/>
              </a:rPr>
              <a:t> </a:t>
            </a:r>
            <a:r>
              <a:rPr lang="en-GB" dirty="0" smtClean="0">
                <a:latin typeface="Garamond" panose="02020404030301010803" pitchFamily="18" charset="0"/>
              </a:rPr>
              <a:t>   Correspondence</a:t>
            </a:r>
          </a:p>
          <a:p>
            <a:pPr lvl="1"/>
            <a:endParaRPr lang="en-GB" dirty="0">
              <a:latin typeface="Garamond" panose="02020404030301010803" pitchFamily="18" charset="0"/>
            </a:endParaRPr>
          </a:p>
          <a:p>
            <a:pPr lvl="1"/>
            <a:r>
              <a:rPr lang="en-GB" dirty="0" smtClean="0">
                <a:latin typeface="Garamond" panose="02020404030301010803" pitchFamily="18" charset="0"/>
              </a:rPr>
              <a:t>Phonological awareness and </a:t>
            </a:r>
          </a:p>
          <a:p>
            <a:pPr marL="457200" lvl="1" indent="0">
              <a:buNone/>
            </a:pPr>
            <a:r>
              <a:rPr lang="en-GB" dirty="0" smtClean="0">
                <a:latin typeface="Garamond" panose="02020404030301010803" pitchFamily="18" charset="0"/>
              </a:rPr>
              <a:t>    letter knowledge</a:t>
            </a:r>
          </a:p>
          <a:p>
            <a:pPr marL="457200" lvl="1" indent="0">
              <a:buNone/>
            </a:pPr>
            <a:endParaRPr lang="en-GB" dirty="0">
              <a:latin typeface="Garamond" panose="02020404030301010803" pitchFamily="18" charset="0"/>
            </a:endParaRPr>
          </a:p>
          <a:p>
            <a:pPr lvl="1"/>
            <a:r>
              <a:rPr lang="en-GB" dirty="0" smtClean="0">
                <a:latin typeface="Garamond" panose="02020404030301010803" pitchFamily="18" charset="0"/>
              </a:rPr>
              <a:t>Multi-sensory </a:t>
            </a:r>
          </a:p>
          <a:p>
            <a:pPr lvl="1"/>
            <a:endParaRPr lang="en-GB" dirty="0">
              <a:latin typeface="Garamond" panose="02020404030301010803" pitchFamily="18" charset="0"/>
            </a:endParaRPr>
          </a:p>
          <a:p>
            <a:pPr lvl="1"/>
            <a:r>
              <a:rPr lang="en-GB" dirty="0" smtClean="0">
                <a:latin typeface="Garamond" panose="02020404030301010803" pitchFamily="18" charset="0"/>
              </a:rPr>
              <a:t>Use of whole sentences</a:t>
            </a:r>
          </a:p>
          <a:p>
            <a:pPr lvl="1"/>
            <a:endParaRPr lang="en-GB" dirty="0" smtClean="0">
              <a:latin typeface="Garamond" panose="02020404030301010803" pitchFamily="18"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81800" y="3128963"/>
            <a:ext cx="4572000" cy="3048000"/>
          </a:xfrm>
          <a:prstGeom prst="rect">
            <a:avLst/>
          </a:prstGeom>
        </p:spPr>
      </p:pic>
    </p:spTree>
    <p:extLst>
      <p:ext uri="{BB962C8B-B14F-4D97-AF65-F5344CB8AC3E}">
        <p14:creationId xmlns:p14="http://schemas.microsoft.com/office/powerpoint/2010/main" val="6921193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Garamond" panose="02020404030301010803" pitchFamily="18" charset="0"/>
              </a:rPr>
              <a:t>Underlying Principles </a:t>
            </a:r>
            <a:endParaRPr lang="en-GB" dirty="0">
              <a:latin typeface="Garamond" panose="02020404030301010803" pitchFamily="18" charset="0"/>
            </a:endParaRPr>
          </a:p>
        </p:txBody>
      </p:sp>
      <p:sp>
        <p:nvSpPr>
          <p:cNvPr id="3" name="Content Placeholder 2"/>
          <p:cNvSpPr>
            <a:spLocks noGrp="1"/>
          </p:cNvSpPr>
          <p:nvPr>
            <p:ph idx="1"/>
          </p:nvPr>
        </p:nvSpPr>
        <p:spPr/>
        <p:txBody>
          <a:bodyPr/>
          <a:lstStyle/>
          <a:p>
            <a:r>
              <a:rPr lang="en-GB" dirty="0" smtClean="0">
                <a:latin typeface="Garamond" panose="02020404030301010803" pitchFamily="18" charset="0"/>
              </a:rPr>
              <a:t>Structure of Input</a:t>
            </a:r>
            <a:endParaRPr lang="en-GB" dirty="0">
              <a:latin typeface="Garamond" panose="02020404030301010803" pitchFamily="18"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96300" y="2361046"/>
            <a:ext cx="2857500" cy="3815917"/>
          </a:xfrm>
          <a:prstGeom prst="rect">
            <a:avLst/>
          </a:prstGeom>
        </p:spPr>
      </p:pic>
    </p:spTree>
    <p:extLst>
      <p:ext uri="{BB962C8B-B14F-4D97-AF65-F5344CB8AC3E}">
        <p14:creationId xmlns:p14="http://schemas.microsoft.com/office/powerpoint/2010/main" val="34981529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Garamond" panose="02020404030301010803" pitchFamily="18" charset="0"/>
              </a:rPr>
              <a:t>Underlying Principles </a:t>
            </a:r>
            <a:endParaRPr lang="en-GB" dirty="0">
              <a:latin typeface="Garamond" panose="02020404030301010803" pitchFamily="18" charset="0"/>
            </a:endParaRPr>
          </a:p>
        </p:txBody>
      </p:sp>
      <p:sp>
        <p:nvSpPr>
          <p:cNvPr id="3" name="Content Placeholder 2"/>
          <p:cNvSpPr>
            <a:spLocks noGrp="1"/>
          </p:cNvSpPr>
          <p:nvPr>
            <p:ph idx="1"/>
          </p:nvPr>
        </p:nvSpPr>
        <p:spPr/>
        <p:txBody>
          <a:bodyPr/>
          <a:lstStyle/>
          <a:p>
            <a:r>
              <a:rPr lang="en-GB" dirty="0" smtClean="0">
                <a:latin typeface="Garamond" panose="02020404030301010803" pitchFamily="18" charset="0"/>
              </a:rPr>
              <a:t>Feedback</a:t>
            </a:r>
            <a:endParaRPr lang="en-GB" dirty="0">
              <a:latin typeface="Garamond" panose="02020404030301010803" pitchFamily="18" charset="0"/>
            </a:endParaRPr>
          </a:p>
        </p:txBody>
      </p:sp>
      <p:pic>
        <p:nvPicPr>
          <p:cNvPr id="4" name="Picture 3"/>
          <p:cNvPicPr>
            <a:picLocks noChangeAspect="1"/>
          </p:cNvPicPr>
          <p:nvPr/>
        </p:nvPicPr>
        <p:blipFill>
          <a:blip r:embed="rId3"/>
          <a:stretch>
            <a:fillRect/>
          </a:stretch>
        </p:blipFill>
        <p:spPr>
          <a:xfrm>
            <a:off x="8810625" y="3900488"/>
            <a:ext cx="2543175" cy="2276475"/>
          </a:xfrm>
          <a:prstGeom prst="rect">
            <a:avLst/>
          </a:prstGeom>
        </p:spPr>
      </p:pic>
    </p:spTree>
    <p:extLst>
      <p:ext uri="{BB962C8B-B14F-4D97-AF65-F5344CB8AC3E}">
        <p14:creationId xmlns:p14="http://schemas.microsoft.com/office/powerpoint/2010/main" val="11924755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Garamond" panose="02020404030301010803" pitchFamily="18" charset="0"/>
              </a:rPr>
              <a:t>Underlying Principles </a:t>
            </a:r>
            <a:endParaRPr lang="en-GB" dirty="0">
              <a:latin typeface="Garamond" panose="02020404030301010803" pitchFamily="18" charset="0"/>
            </a:endParaRPr>
          </a:p>
        </p:txBody>
      </p:sp>
      <p:sp>
        <p:nvSpPr>
          <p:cNvPr id="3" name="Content Placeholder 2"/>
          <p:cNvSpPr>
            <a:spLocks noGrp="1"/>
          </p:cNvSpPr>
          <p:nvPr>
            <p:ph idx="1"/>
          </p:nvPr>
        </p:nvSpPr>
        <p:spPr/>
        <p:txBody>
          <a:bodyPr/>
          <a:lstStyle/>
          <a:p>
            <a:r>
              <a:rPr lang="en-GB" dirty="0" smtClean="0">
                <a:latin typeface="Garamond" panose="02020404030301010803" pitchFamily="18" charset="0"/>
              </a:rPr>
              <a:t>Support at the Right Level</a:t>
            </a:r>
          </a:p>
          <a:p>
            <a:endParaRPr lang="en-GB" dirty="0" smtClean="0">
              <a:latin typeface="Garamond" panose="02020404030301010803" pitchFamily="18" charset="0"/>
            </a:endParaRPr>
          </a:p>
          <a:p>
            <a:pPr lvl="1"/>
            <a:r>
              <a:rPr lang="en-GB" dirty="0" smtClean="0">
                <a:latin typeface="Garamond" panose="02020404030301010803" pitchFamily="18" charset="0"/>
              </a:rPr>
              <a:t>Manipulate the materials</a:t>
            </a:r>
            <a:endParaRPr lang="en-GB" dirty="0">
              <a:latin typeface="Garamond" panose="02020404030301010803" pitchFamily="18"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7880561" y="2703725"/>
            <a:ext cx="4171950" cy="2774527"/>
          </a:xfrm>
          <a:prstGeom prst="rect">
            <a:avLst/>
          </a:prstGeom>
        </p:spPr>
      </p:pic>
    </p:spTree>
    <p:extLst>
      <p:ext uri="{BB962C8B-B14F-4D97-AF65-F5344CB8AC3E}">
        <p14:creationId xmlns:p14="http://schemas.microsoft.com/office/powerpoint/2010/main" val="19689379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Garamond" panose="02020404030301010803" pitchFamily="18" charset="0"/>
              </a:rPr>
              <a:t>Underlying Principles </a:t>
            </a:r>
            <a:endParaRPr lang="en-GB" dirty="0">
              <a:latin typeface="Garamond" panose="02020404030301010803" pitchFamily="18" charset="0"/>
            </a:endParaRPr>
          </a:p>
        </p:txBody>
      </p:sp>
      <p:sp>
        <p:nvSpPr>
          <p:cNvPr id="3" name="Content Placeholder 2"/>
          <p:cNvSpPr>
            <a:spLocks noGrp="1"/>
          </p:cNvSpPr>
          <p:nvPr>
            <p:ph idx="1"/>
          </p:nvPr>
        </p:nvSpPr>
        <p:spPr/>
        <p:txBody>
          <a:bodyPr/>
          <a:lstStyle/>
          <a:p>
            <a:r>
              <a:rPr lang="en-GB" dirty="0" smtClean="0">
                <a:latin typeface="Garamond" panose="02020404030301010803" pitchFamily="18" charset="0"/>
              </a:rPr>
              <a:t>Support at the Right Level</a:t>
            </a:r>
          </a:p>
          <a:p>
            <a:endParaRPr lang="en-GB" dirty="0" smtClean="0">
              <a:latin typeface="Garamond" panose="02020404030301010803" pitchFamily="18" charset="0"/>
            </a:endParaRPr>
          </a:p>
          <a:p>
            <a:pPr lvl="1"/>
            <a:r>
              <a:rPr lang="en-GB" dirty="0" smtClean="0">
                <a:latin typeface="Garamond" panose="02020404030301010803" pitchFamily="18" charset="0"/>
              </a:rPr>
              <a:t>Manipulate the materials</a:t>
            </a:r>
          </a:p>
          <a:p>
            <a:pPr lvl="1"/>
            <a:endParaRPr lang="en-GB" dirty="0" smtClean="0">
              <a:latin typeface="Garamond" panose="02020404030301010803" pitchFamily="18" charset="0"/>
            </a:endParaRPr>
          </a:p>
          <a:p>
            <a:pPr lvl="1"/>
            <a:r>
              <a:rPr lang="en-GB" dirty="0" smtClean="0">
                <a:latin typeface="Garamond" panose="02020404030301010803" pitchFamily="18" charset="0"/>
              </a:rPr>
              <a:t>Reliant on skills of adult </a:t>
            </a:r>
            <a:endParaRPr lang="en-GB" dirty="0">
              <a:latin typeface="Garamond" panose="02020404030301010803" pitchFamily="18"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7880561" y="2703725"/>
            <a:ext cx="4171950" cy="2774527"/>
          </a:xfrm>
          <a:prstGeom prst="rect">
            <a:avLst/>
          </a:prstGeom>
        </p:spPr>
      </p:pic>
    </p:spTree>
    <p:extLst>
      <p:ext uri="{BB962C8B-B14F-4D97-AF65-F5344CB8AC3E}">
        <p14:creationId xmlns:p14="http://schemas.microsoft.com/office/powerpoint/2010/main" val="14676637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Garamond" panose="02020404030301010803" pitchFamily="18" charset="0"/>
              </a:rPr>
              <a:t>Underlying Principles </a:t>
            </a:r>
            <a:endParaRPr lang="en-GB" dirty="0">
              <a:latin typeface="Garamond" panose="02020404030301010803" pitchFamily="18" charset="0"/>
            </a:endParaRPr>
          </a:p>
        </p:txBody>
      </p:sp>
      <p:sp>
        <p:nvSpPr>
          <p:cNvPr id="3" name="Content Placeholder 2"/>
          <p:cNvSpPr>
            <a:spLocks noGrp="1"/>
          </p:cNvSpPr>
          <p:nvPr>
            <p:ph idx="1"/>
          </p:nvPr>
        </p:nvSpPr>
        <p:spPr/>
        <p:txBody>
          <a:bodyPr/>
          <a:lstStyle/>
          <a:p>
            <a:r>
              <a:rPr lang="en-GB" dirty="0" smtClean="0">
                <a:latin typeface="Garamond" panose="02020404030301010803" pitchFamily="18" charset="0"/>
              </a:rPr>
              <a:t>Making Mistakes</a:t>
            </a:r>
            <a:endParaRPr lang="en-GB" dirty="0">
              <a:latin typeface="Garamond" panose="02020404030301010803" pitchFamily="18"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5600" y="2690813"/>
            <a:ext cx="4648200" cy="3486150"/>
          </a:xfrm>
          <a:prstGeom prst="rect">
            <a:avLst/>
          </a:prstGeom>
        </p:spPr>
      </p:pic>
    </p:spTree>
    <p:extLst>
      <p:ext uri="{BB962C8B-B14F-4D97-AF65-F5344CB8AC3E}">
        <p14:creationId xmlns:p14="http://schemas.microsoft.com/office/powerpoint/2010/main" val="27235635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Garamond" panose="02020404030301010803" pitchFamily="18" charset="0"/>
              </a:rPr>
              <a:t>Underlying Principles </a:t>
            </a:r>
            <a:endParaRPr lang="en-GB" dirty="0">
              <a:latin typeface="Garamond" panose="02020404030301010803" pitchFamily="18" charset="0"/>
            </a:endParaRPr>
          </a:p>
        </p:txBody>
      </p:sp>
      <p:sp>
        <p:nvSpPr>
          <p:cNvPr id="3" name="Content Placeholder 2"/>
          <p:cNvSpPr>
            <a:spLocks noGrp="1"/>
          </p:cNvSpPr>
          <p:nvPr>
            <p:ph idx="1"/>
          </p:nvPr>
        </p:nvSpPr>
        <p:spPr/>
        <p:txBody>
          <a:bodyPr/>
          <a:lstStyle/>
          <a:p>
            <a:r>
              <a:rPr lang="en-GB" dirty="0" smtClean="0">
                <a:latin typeface="Garamond" panose="02020404030301010803" pitchFamily="18" charset="0"/>
              </a:rPr>
              <a:t>Technology</a:t>
            </a:r>
            <a:endParaRPr lang="en-GB" dirty="0">
              <a:latin typeface="Garamond" panose="02020404030301010803" pitchFamily="18"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6573498" y="3125251"/>
            <a:ext cx="5618502" cy="3732749"/>
          </a:xfrm>
          <a:prstGeom prst="rect">
            <a:avLst/>
          </a:prstGeom>
        </p:spPr>
      </p:pic>
    </p:spTree>
    <p:extLst>
      <p:ext uri="{BB962C8B-B14F-4D97-AF65-F5344CB8AC3E}">
        <p14:creationId xmlns:p14="http://schemas.microsoft.com/office/powerpoint/2010/main" val="29632595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Garamond" panose="02020404030301010803" pitchFamily="18" charset="0"/>
              </a:rPr>
              <a:t>Evidence Base</a:t>
            </a:r>
            <a:endParaRPr lang="en-GB" dirty="0">
              <a:latin typeface="Garamond" panose="02020404030301010803"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05218914"/>
              </p:ext>
            </p:extLst>
          </p:nvPr>
        </p:nvGraphicFramePr>
        <p:xfrm>
          <a:off x="515156" y="1690688"/>
          <a:ext cx="10489036" cy="5029200"/>
        </p:xfrm>
        <a:graphic>
          <a:graphicData uri="http://schemas.openxmlformats.org/drawingml/2006/table">
            <a:tbl>
              <a:tblPr firstRow="1" bandRow="1">
                <a:tableStyleId>{5C22544A-7EE6-4342-B048-85BDC9FD1C3A}</a:tableStyleId>
              </a:tblPr>
              <a:tblGrid>
                <a:gridCol w="2622259"/>
                <a:gridCol w="2622259"/>
                <a:gridCol w="2959323"/>
                <a:gridCol w="2285195"/>
              </a:tblGrid>
              <a:tr h="685800">
                <a:tc>
                  <a:txBody>
                    <a:bodyPr/>
                    <a:lstStyle/>
                    <a:p>
                      <a:pPr algn="ctr"/>
                      <a:r>
                        <a:rPr lang="en-GB" sz="3000" b="1" dirty="0" smtClean="0">
                          <a:latin typeface="Garamond" panose="02020404030301010803" pitchFamily="18" charset="0"/>
                        </a:rPr>
                        <a:t>Author and Year </a:t>
                      </a:r>
                      <a:endParaRPr lang="en-GB" sz="3000" b="1" dirty="0">
                        <a:latin typeface="Garamond" panose="02020404030301010803" pitchFamily="18" charset="0"/>
                      </a:endParaRPr>
                    </a:p>
                  </a:txBody>
                  <a:tcPr/>
                </a:tc>
                <a:tc>
                  <a:txBody>
                    <a:bodyPr/>
                    <a:lstStyle/>
                    <a:p>
                      <a:pPr algn="ctr"/>
                      <a:r>
                        <a:rPr lang="en-GB" sz="3000" b="1" dirty="0" smtClean="0">
                          <a:latin typeface="Garamond" panose="02020404030301010803" pitchFamily="18" charset="0"/>
                        </a:rPr>
                        <a:t>Participants</a:t>
                      </a:r>
                      <a:endParaRPr lang="en-GB" sz="3000" b="1" dirty="0">
                        <a:latin typeface="Garamond" panose="02020404030301010803" pitchFamily="18" charset="0"/>
                      </a:endParaRPr>
                    </a:p>
                  </a:txBody>
                  <a:tcPr/>
                </a:tc>
                <a:tc>
                  <a:txBody>
                    <a:bodyPr/>
                    <a:lstStyle/>
                    <a:p>
                      <a:pPr algn="ctr"/>
                      <a:r>
                        <a:rPr lang="en-GB" sz="3000" b="1" dirty="0" smtClean="0">
                          <a:latin typeface="Garamond" panose="02020404030301010803" pitchFamily="18" charset="0"/>
                        </a:rPr>
                        <a:t>Measures</a:t>
                      </a:r>
                      <a:endParaRPr lang="en-GB" sz="3000" b="1" dirty="0">
                        <a:latin typeface="Garamond" panose="02020404030301010803" pitchFamily="18" charset="0"/>
                      </a:endParaRPr>
                    </a:p>
                  </a:txBody>
                  <a:tcPr/>
                </a:tc>
                <a:tc>
                  <a:txBody>
                    <a:bodyPr/>
                    <a:lstStyle/>
                    <a:p>
                      <a:pPr algn="ctr"/>
                      <a:r>
                        <a:rPr lang="en-GB" sz="3000" b="1" dirty="0" smtClean="0">
                          <a:latin typeface="Garamond" panose="02020404030301010803" pitchFamily="18" charset="0"/>
                        </a:rPr>
                        <a:t>Results </a:t>
                      </a:r>
                      <a:endParaRPr lang="en-GB" sz="3000" b="1" dirty="0">
                        <a:latin typeface="Garamond" panose="02020404030301010803" pitchFamily="18" charset="0"/>
                      </a:endParaRPr>
                    </a:p>
                  </a:txBody>
                  <a:tcPr/>
                </a:tc>
              </a:tr>
              <a:tr h="685800">
                <a:tc>
                  <a:txBody>
                    <a:bodyPr/>
                    <a:lstStyle/>
                    <a:p>
                      <a:pPr algn="ctr"/>
                      <a:r>
                        <a:rPr lang="en-GB" sz="2000" b="1" dirty="0" smtClean="0">
                          <a:latin typeface="Garamond" panose="02020404030301010803" pitchFamily="18" charset="0"/>
                        </a:rPr>
                        <a:t>Jersey Advisory Service</a:t>
                      </a:r>
                    </a:p>
                    <a:p>
                      <a:pPr algn="ctr"/>
                      <a:r>
                        <a:rPr lang="en-GB" sz="2000" b="1" dirty="0" smtClean="0">
                          <a:latin typeface="Garamond" panose="02020404030301010803" pitchFamily="18" charset="0"/>
                        </a:rPr>
                        <a:t>1993</a:t>
                      </a:r>
                      <a:endParaRPr lang="en-GB" sz="2000" b="1" dirty="0">
                        <a:latin typeface="Garamond" panose="02020404030301010803" pitchFamily="18" charset="0"/>
                      </a:endParaRPr>
                    </a:p>
                  </a:txBody>
                  <a:tcPr/>
                </a:tc>
                <a:tc>
                  <a:txBody>
                    <a:bodyPr/>
                    <a:lstStyle/>
                    <a:p>
                      <a:pPr algn="ctr"/>
                      <a:r>
                        <a:rPr lang="en-GB" sz="2000" b="1" dirty="0" smtClean="0">
                          <a:latin typeface="Garamond" panose="02020404030301010803" pitchFamily="18" charset="0"/>
                        </a:rPr>
                        <a:t>61</a:t>
                      </a:r>
                    </a:p>
                    <a:p>
                      <a:pPr algn="ctr"/>
                      <a:r>
                        <a:rPr lang="en-GB" sz="2000" b="1" dirty="0" smtClean="0">
                          <a:latin typeface="Garamond" panose="02020404030301010803" pitchFamily="18" charset="0"/>
                        </a:rPr>
                        <a:t>Year 3 to 9</a:t>
                      </a:r>
                      <a:endParaRPr lang="en-GB" sz="2000" b="1" dirty="0">
                        <a:latin typeface="Garamond" panose="02020404030301010803" pitchFamily="18" charset="0"/>
                      </a:endParaRPr>
                    </a:p>
                  </a:txBody>
                  <a:tcPr/>
                </a:tc>
                <a:tc>
                  <a:txBody>
                    <a:bodyPr/>
                    <a:lstStyle/>
                    <a:p>
                      <a:pPr algn="ctr"/>
                      <a:r>
                        <a:rPr lang="en-GB" sz="2000" b="1" dirty="0" smtClean="0">
                          <a:latin typeface="Garamond" panose="02020404030301010803" pitchFamily="18" charset="0"/>
                        </a:rPr>
                        <a:t>BAS </a:t>
                      </a:r>
                    </a:p>
                    <a:p>
                      <a:pPr algn="ctr"/>
                      <a:r>
                        <a:rPr lang="en-GB" sz="2000" b="1" dirty="0" smtClean="0">
                          <a:latin typeface="Garamond" panose="02020404030301010803" pitchFamily="18" charset="0"/>
                        </a:rPr>
                        <a:t>reading accuracy </a:t>
                      </a:r>
                      <a:endParaRPr lang="en-GB" sz="2000" b="1" dirty="0">
                        <a:latin typeface="Garamond" panose="02020404030301010803" pitchFamily="18" charset="0"/>
                      </a:endParaRPr>
                    </a:p>
                  </a:txBody>
                  <a:tcPr/>
                </a:tc>
                <a:tc>
                  <a:txBody>
                    <a:bodyPr/>
                    <a:lstStyle/>
                    <a:p>
                      <a:pPr algn="ctr"/>
                      <a:r>
                        <a:rPr lang="en-GB" sz="2000" b="1" dirty="0" smtClean="0">
                          <a:latin typeface="Garamond" panose="02020404030301010803" pitchFamily="18" charset="0"/>
                        </a:rPr>
                        <a:t>Effect size 0.55</a:t>
                      </a:r>
                      <a:endParaRPr lang="en-GB" sz="2000" b="1" dirty="0">
                        <a:latin typeface="Garamond" panose="02020404030301010803" pitchFamily="18" charset="0"/>
                      </a:endParaRPr>
                    </a:p>
                  </a:txBody>
                  <a:tcPr/>
                </a:tc>
              </a:tr>
              <a:tr h="685800">
                <a:tc>
                  <a:txBody>
                    <a:bodyPr/>
                    <a:lstStyle/>
                    <a:p>
                      <a:pPr algn="ctr"/>
                      <a:r>
                        <a:rPr lang="en-GB" sz="2000" b="1" dirty="0" smtClean="0">
                          <a:latin typeface="Garamond" panose="02020404030301010803" pitchFamily="18" charset="0"/>
                        </a:rPr>
                        <a:t>Miles</a:t>
                      </a:r>
                    </a:p>
                    <a:p>
                      <a:pPr algn="ctr"/>
                      <a:r>
                        <a:rPr lang="en-GB" sz="2000" b="1" dirty="0" smtClean="0">
                          <a:latin typeface="Garamond" panose="02020404030301010803" pitchFamily="18" charset="0"/>
                        </a:rPr>
                        <a:t>2002</a:t>
                      </a:r>
                    </a:p>
                    <a:p>
                      <a:pPr algn="ctr"/>
                      <a:r>
                        <a:rPr lang="en-GB" sz="2000" b="1" dirty="0" smtClean="0">
                          <a:latin typeface="Garamond" panose="02020404030301010803" pitchFamily="18" charset="0"/>
                        </a:rPr>
                        <a:t>unpublished </a:t>
                      </a:r>
                      <a:endParaRPr lang="en-GB" sz="2000" b="1" dirty="0">
                        <a:latin typeface="Garamond" panose="02020404030301010803" pitchFamily="18" charset="0"/>
                      </a:endParaRPr>
                    </a:p>
                  </a:txBody>
                  <a:tcPr/>
                </a:tc>
                <a:tc>
                  <a:txBody>
                    <a:bodyPr/>
                    <a:lstStyle/>
                    <a:p>
                      <a:pPr algn="ctr"/>
                      <a:r>
                        <a:rPr lang="en-GB" sz="2000" b="1" dirty="0" smtClean="0">
                          <a:latin typeface="Garamond" panose="02020404030301010803" pitchFamily="18" charset="0"/>
                        </a:rPr>
                        <a:t>30</a:t>
                      </a:r>
                    </a:p>
                    <a:p>
                      <a:pPr algn="ctr"/>
                      <a:r>
                        <a:rPr lang="en-GB" sz="2000" b="1" dirty="0" smtClean="0">
                          <a:latin typeface="Garamond" panose="02020404030301010803" pitchFamily="18" charset="0"/>
                        </a:rPr>
                        <a:t>Years 5 and 6</a:t>
                      </a:r>
                      <a:endParaRPr lang="en-GB" sz="2000" b="1" dirty="0">
                        <a:latin typeface="Garamond" panose="02020404030301010803" pitchFamily="18" charset="0"/>
                      </a:endParaRPr>
                    </a:p>
                  </a:txBody>
                  <a:tcPr/>
                </a:tc>
                <a:tc>
                  <a:txBody>
                    <a:bodyPr/>
                    <a:lstStyle/>
                    <a:p>
                      <a:pPr algn="ctr"/>
                      <a:r>
                        <a:rPr lang="en-GB" sz="2000" b="1" dirty="0" smtClean="0">
                          <a:latin typeface="Garamond" panose="02020404030301010803" pitchFamily="18" charset="0"/>
                        </a:rPr>
                        <a:t>BAS word reading</a:t>
                      </a:r>
                    </a:p>
                    <a:p>
                      <a:pPr algn="ctr"/>
                      <a:r>
                        <a:rPr lang="en-GB" sz="2000" b="1" dirty="0" smtClean="0">
                          <a:latin typeface="Garamond" panose="02020404030301010803" pitchFamily="18" charset="0"/>
                        </a:rPr>
                        <a:t>and </a:t>
                      </a:r>
                    </a:p>
                    <a:p>
                      <a:pPr algn="ctr"/>
                      <a:r>
                        <a:rPr lang="en-GB" sz="2000" b="1" dirty="0" smtClean="0">
                          <a:latin typeface="Garamond" panose="02020404030301010803" pitchFamily="18" charset="0"/>
                        </a:rPr>
                        <a:t>spelling </a:t>
                      </a:r>
                      <a:endParaRPr lang="en-GB" sz="2000" b="1" dirty="0">
                        <a:latin typeface="Garamond" panose="02020404030301010803" pitchFamily="18" charset="0"/>
                      </a:endParaRPr>
                    </a:p>
                  </a:txBody>
                  <a:tcPr/>
                </a:tc>
                <a:tc>
                  <a:txBody>
                    <a:bodyPr/>
                    <a:lstStyle/>
                    <a:p>
                      <a:pPr algn="ctr"/>
                      <a:r>
                        <a:rPr lang="en-GB" sz="2000" b="1" dirty="0" smtClean="0">
                          <a:latin typeface="Garamond" panose="02020404030301010803" pitchFamily="18" charset="0"/>
                        </a:rPr>
                        <a:t>RG 16.1</a:t>
                      </a:r>
                    </a:p>
                    <a:p>
                      <a:pPr algn="ctr"/>
                      <a:endParaRPr lang="en-GB" sz="2000" b="1" dirty="0" smtClean="0">
                        <a:latin typeface="Garamond" panose="02020404030301010803" pitchFamily="18" charset="0"/>
                      </a:endParaRPr>
                    </a:p>
                    <a:p>
                      <a:pPr algn="ctr"/>
                      <a:r>
                        <a:rPr lang="en-GB" sz="2000" b="1" dirty="0" smtClean="0">
                          <a:latin typeface="Garamond" panose="02020404030301010803" pitchFamily="18" charset="0"/>
                        </a:rPr>
                        <a:t>RG</a:t>
                      </a:r>
                      <a:r>
                        <a:rPr lang="en-GB" sz="2000" b="1" baseline="0" dirty="0" smtClean="0">
                          <a:latin typeface="Garamond" panose="02020404030301010803" pitchFamily="18" charset="0"/>
                        </a:rPr>
                        <a:t> 9.8</a:t>
                      </a:r>
                      <a:endParaRPr lang="en-GB" sz="2000" b="1" dirty="0">
                        <a:latin typeface="Garamond" panose="02020404030301010803" pitchFamily="18" charset="0"/>
                      </a:endParaRPr>
                    </a:p>
                  </a:txBody>
                  <a:tcPr/>
                </a:tc>
              </a:tr>
              <a:tr h="685800">
                <a:tc>
                  <a:txBody>
                    <a:bodyPr/>
                    <a:lstStyle/>
                    <a:p>
                      <a:pPr algn="ctr"/>
                      <a:r>
                        <a:rPr lang="en-GB" sz="2000" b="1" dirty="0" err="1" smtClean="0">
                          <a:latin typeface="Garamond" panose="02020404030301010803" pitchFamily="18" charset="0"/>
                        </a:rPr>
                        <a:t>Couzens</a:t>
                      </a:r>
                      <a:endParaRPr lang="en-GB" sz="2000" b="1" dirty="0" smtClean="0">
                        <a:latin typeface="Garamond" panose="02020404030301010803" pitchFamily="18" charset="0"/>
                      </a:endParaRPr>
                    </a:p>
                    <a:p>
                      <a:pPr algn="ctr"/>
                      <a:r>
                        <a:rPr lang="en-GB" sz="2000" b="1" dirty="0" smtClean="0">
                          <a:latin typeface="Garamond" panose="02020404030301010803" pitchFamily="18" charset="0"/>
                        </a:rPr>
                        <a:t>2005-6</a:t>
                      </a:r>
                    </a:p>
                    <a:p>
                      <a:pPr algn="ctr"/>
                      <a:r>
                        <a:rPr lang="en-GB" sz="2000" b="1" dirty="0" smtClean="0">
                          <a:latin typeface="Garamond" panose="02020404030301010803" pitchFamily="18" charset="0"/>
                        </a:rPr>
                        <a:t>unpublished</a:t>
                      </a:r>
                      <a:endParaRPr lang="en-GB" sz="2000" b="1" dirty="0">
                        <a:latin typeface="Garamond" panose="02020404030301010803" pitchFamily="18" charset="0"/>
                      </a:endParaRPr>
                    </a:p>
                  </a:txBody>
                  <a:tcPr/>
                </a:tc>
                <a:tc>
                  <a:txBody>
                    <a:bodyPr/>
                    <a:lstStyle/>
                    <a:p>
                      <a:pPr algn="ctr"/>
                      <a:r>
                        <a:rPr lang="en-GB" sz="2000" b="1" dirty="0" smtClean="0">
                          <a:latin typeface="Garamond" panose="02020404030301010803" pitchFamily="18" charset="0"/>
                        </a:rPr>
                        <a:t>149</a:t>
                      </a:r>
                    </a:p>
                    <a:p>
                      <a:pPr algn="ctr"/>
                      <a:r>
                        <a:rPr lang="en-GB" sz="2000" b="1" dirty="0" smtClean="0">
                          <a:latin typeface="Garamond" panose="02020404030301010803" pitchFamily="18" charset="0"/>
                        </a:rPr>
                        <a:t>Years 3 to 6</a:t>
                      </a:r>
                      <a:endParaRPr lang="en-GB" sz="2000" b="1" dirty="0">
                        <a:latin typeface="Garamond" panose="02020404030301010803" pitchFamily="18" charset="0"/>
                      </a:endParaRPr>
                    </a:p>
                  </a:txBody>
                  <a:tcPr/>
                </a:tc>
                <a:tc>
                  <a:txBody>
                    <a:bodyPr/>
                    <a:lstStyle/>
                    <a:p>
                      <a:pPr algn="ctr"/>
                      <a:r>
                        <a:rPr lang="en-GB" sz="2000" b="1" dirty="0" smtClean="0">
                          <a:latin typeface="Garamond" panose="02020404030301010803" pitchFamily="18" charset="0"/>
                        </a:rPr>
                        <a:t>NFER reading </a:t>
                      </a:r>
                      <a:r>
                        <a:rPr lang="en-GB" sz="2000" b="1" dirty="0" smtClean="0">
                          <a:solidFill>
                            <a:schemeClr val="tx1"/>
                          </a:solidFill>
                          <a:latin typeface="Garamond" panose="02020404030301010803" pitchFamily="18" charset="0"/>
                        </a:rPr>
                        <a:t>comp</a:t>
                      </a:r>
                    </a:p>
                    <a:p>
                      <a:pPr algn="ctr"/>
                      <a:r>
                        <a:rPr lang="en-GB" sz="2000" b="1" dirty="0" smtClean="0">
                          <a:latin typeface="Garamond" panose="02020404030301010803" pitchFamily="18" charset="0"/>
                        </a:rPr>
                        <a:t>and</a:t>
                      </a:r>
                    </a:p>
                    <a:p>
                      <a:pPr algn="ctr"/>
                      <a:r>
                        <a:rPr lang="en-GB" sz="2000" b="1" dirty="0" smtClean="0">
                          <a:latin typeface="Garamond" panose="02020404030301010803" pitchFamily="18" charset="0"/>
                        </a:rPr>
                        <a:t>spelling</a:t>
                      </a:r>
                      <a:endParaRPr lang="en-GB" sz="2000" b="1" dirty="0">
                        <a:latin typeface="Garamond" panose="02020404030301010803" pitchFamily="18" charset="0"/>
                      </a:endParaRPr>
                    </a:p>
                  </a:txBody>
                  <a:tcPr/>
                </a:tc>
                <a:tc>
                  <a:txBody>
                    <a:bodyPr/>
                    <a:lstStyle/>
                    <a:p>
                      <a:pPr algn="ctr"/>
                      <a:r>
                        <a:rPr lang="en-GB" sz="2000" b="1" dirty="0" smtClean="0">
                          <a:latin typeface="Garamond" panose="02020404030301010803" pitchFamily="18" charset="0"/>
                        </a:rPr>
                        <a:t>RG</a:t>
                      </a:r>
                      <a:r>
                        <a:rPr lang="en-GB" sz="2000" b="1" baseline="0" dirty="0" smtClean="0">
                          <a:latin typeface="Garamond" panose="02020404030301010803" pitchFamily="18" charset="0"/>
                        </a:rPr>
                        <a:t> 7.7</a:t>
                      </a:r>
                    </a:p>
                    <a:p>
                      <a:pPr algn="ctr"/>
                      <a:endParaRPr lang="en-GB" sz="2000" b="1" baseline="0" dirty="0" smtClean="0">
                        <a:latin typeface="Garamond" panose="02020404030301010803" pitchFamily="18" charset="0"/>
                      </a:endParaRPr>
                    </a:p>
                    <a:p>
                      <a:pPr algn="ctr"/>
                      <a:r>
                        <a:rPr lang="en-GB" sz="2000" b="1" baseline="0" dirty="0" smtClean="0">
                          <a:latin typeface="Garamond" panose="02020404030301010803" pitchFamily="18" charset="0"/>
                        </a:rPr>
                        <a:t>RG 6.2</a:t>
                      </a:r>
                      <a:endParaRPr lang="en-GB" sz="2000" b="1" dirty="0">
                        <a:latin typeface="Garamond" panose="02020404030301010803" pitchFamily="18" charset="0"/>
                      </a:endParaRPr>
                    </a:p>
                  </a:txBody>
                  <a:tcPr/>
                </a:tc>
              </a:tr>
              <a:tr h="685800">
                <a:tc>
                  <a:txBody>
                    <a:bodyPr/>
                    <a:lstStyle/>
                    <a:p>
                      <a:pPr algn="ctr"/>
                      <a:r>
                        <a:rPr lang="en-GB" sz="2000" b="1" dirty="0" smtClean="0">
                          <a:latin typeface="Garamond" panose="02020404030301010803" pitchFamily="18" charset="0"/>
                        </a:rPr>
                        <a:t>Nugent</a:t>
                      </a:r>
                    </a:p>
                    <a:p>
                      <a:pPr algn="ctr"/>
                      <a:r>
                        <a:rPr lang="en-GB" sz="2000" b="1" dirty="0" smtClean="0">
                          <a:latin typeface="Garamond" panose="02020404030301010803" pitchFamily="18" charset="0"/>
                        </a:rPr>
                        <a:t>2010</a:t>
                      </a:r>
                      <a:endParaRPr lang="en-GB" sz="2000" b="1" dirty="0">
                        <a:latin typeface="Garamond" panose="02020404030301010803" pitchFamily="18" charset="0"/>
                      </a:endParaRPr>
                    </a:p>
                  </a:txBody>
                  <a:tcPr/>
                </a:tc>
                <a:tc>
                  <a:txBody>
                    <a:bodyPr/>
                    <a:lstStyle/>
                    <a:p>
                      <a:pPr algn="ctr"/>
                      <a:r>
                        <a:rPr lang="en-GB" sz="2000" b="1" dirty="0" smtClean="0">
                          <a:latin typeface="Garamond" panose="02020404030301010803" pitchFamily="18" charset="0"/>
                        </a:rPr>
                        <a:t>9</a:t>
                      </a:r>
                    </a:p>
                    <a:p>
                      <a:pPr algn="ctr"/>
                      <a:r>
                        <a:rPr lang="en-GB" sz="2000" b="1" dirty="0" smtClean="0">
                          <a:latin typeface="Garamond" panose="02020404030301010803" pitchFamily="18" charset="0"/>
                        </a:rPr>
                        <a:t>Aged 6 to 17</a:t>
                      </a:r>
                      <a:endParaRPr lang="en-GB" sz="2000" b="1" dirty="0">
                        <a:latin typeface="Garamond" panose="02020404030301010803" pitchFamily="18" charset="0"/>
                      </a:endParaRPr>
                    </a:p>
                  </a:txBody>
                  <a:tcPr/>
                </a:tc>
                <a:tc>
                  <a:txBody>
                    <a:bodyPr/>
                    <a:lstStyle/>
                    <a:p>
                      <a:pPr algn="ctr"/>
                      <a:r>
                        <a:rPr lang="en-GB" sz="2000" b="1" dirty="0" smtClean="0">
                          <a:latin typeface="Garamond" panose="02020404030301010803" pitchFamily="18" charset="0"/>
                        </a:rPr>
                        <a:t>Word reading, sentence reading, spelling</a:t>
                      </a:r>
                      <a:endParaRPr lang="en-GB" sz="2000" b="1" dirty="0">
                        <a:latin typeface="Garamond" panose="02020404030301010803" pitchFamily="18" charset="0"/>
                      </a:endParaRPr>
                    </a:p>
                  </a:txBody>
                  <a:tcPr/>
                </a:tc>
                <a:tc>
                  <a:txBody>
                    <a:bodyPr/>
                    <a:lstStyle/>
                    <a:p>
                      <a:pPr algn="ctr"/>
                      <a:r>
                        <a:rPr lang="en-GB" sz="2000" b="1" dirty="0" smtClean="0">
                          <a:latin typeface="Garamond" panose="02020404030301010803" pitchFamily="18" charset="0"/>
                        </a:rPr>
                        <a:t>Means of 6.6</a:t>
                      </a:r>
                    </a:p>
                    <a:p>
                      <a:pPr algn="ctr"/>
                      <a:r>
                        <a:rPr lang="en-GB" sz="2000" b="1" dirty="0" smtClean="0">
                          <a:latin typeface="Garamond" panose="02020404030301010803" pitchFamily="18" charset="0"/>
                        </a:rPr>
                        <a:t>7.3</a:t>
                      </a:r>
                    </a:p>
                    <a:p>
                      <a:pPr algn="ctr"/>
                      <a:r>
                        <a:rPr lang="en-GB" sz="2000" b="1" dirty="0" smtClean="0">
                          <a:latin typeface="Garamond" panose="02020404030301010803" pitchFamily="18" charset="0"/>
                        </a:rPr>
                        <a:t>4.3</a:t>
                      </a:r>
                      <a:endParaRPr lang="en-GB" sz="2000" b="1" dirty="0">
                        <a:latin typeface="Garamond" panose="02020404030301010803" pitchFamily="18" charset="0"/>
                      </a:endParaRPr>
                    </a:p>
                  </a:txBody>
                  <a:tcPr/>
                </a:tc>
              </a:tr>
            </a:tbl>
          </a:graphicData>
        </a:graphic>
      </p:graphicFrame>
    </p:spTree>
    <p:extLst>
      <p:ext uri="{BB962C8B-B14F-4D97-AF65-F5344CB8AC3E}">
        <p14:creationId xmlns:p14="http://schemas.microsoft.com/office/powerpoint/2010/main" val="31365929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Garamond" panose="02020404030301010803" pitchFamily="18" charset="0"/>
              </a:rPr>
              <a:t>Implications</a:t>
            </a:r>
            <a:endParaRPr lang="en-GB" dirty="0">
              <a:latin typeface="Garamond" panose="02020404030301010803" pitchFamily="18" charset="0"/>
            </a:endParaRPr>
          </a:p>
        </p:txBody>
      </p:sp>
      <p:sp>
        <p:nvSpPr>
          <p:cNvPr id="3" name="Content Placeholder 2"/>
          <p:cNvSpPr>
            <a:spLocks noGrp="1"/>
          </p:cNvSpPr>
          <p:nvPr>
            <p:ph idx="1"/>
          </p:nvPr>
        </p:nvSpPr>
        <p:spPr/>
        <p:txBody>
          <a:bodyPr/>
          <a:lstStyle/>
          <a:p>
            <a:r>
              <a:rPr lang="en-GB" dirty="0" smtClean="0">
                <a:latin typeface="Garamond" panose="02020404030301010803" pitchFamily="18" charset="0"/>
              </a:rPr>
              <a:t>Research </a:t>
            </a:r>
            <a:endParaRPr lang="en-GB" dirty="0">
              <a:latin typeface="Garamond" panose="02020404030301010803" pitchFamily="18" charset="0"/>
            </a:endParaRPr>
          </a:p>
        </p:txBody>
      </p:sp>
      <p:pic>
        <p:nvPicPr>
          <p:cNvPr id="3074" name="Picture 2" descr="http://i0.kym-cdn.com/photos/images/newsfeed/000/155/144/6ca67b8f-37dd-40ef-9feb-02bed851c09a.jpg?131185023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6300" y="2500312"/>
            <a:ext cx="2857500" cy="3676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53449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Garamond" panose="02020404030301010803" pitchFamily="18" charset="0"/>
              </a:rPr>
              <a:t>Implications</a:t>
            </a:r>
            <a:endParaRPr lang="en-GB" dirty="0">
              <a:latin typeface="Garamond" panose="02020404030301010803" pitchFamily="18" charset="0"/>
            </a:endParaRPr>
          </a:p>
        </p:txBody>
      </p:sp>
      <p:sp>
        <p:nvSpPr>
          <p:cNvPr id="3" name="Content Placeholder 2"/>
          <p:cNvSpPr>
            <a:spLocks noGrp="1"/>
          </p:cNvSpPr>
          <p:nvPr>
            <p:ph idx="1"/>
          </p:nvPr>
        </p:nvSpPr>
        <p:spPr/>
        <p:txBody>
          <a:bodyPr/>
          <a:lstStyle/>
          <a:p>
            <a:r>
              <a:rPr lang="en-GB" dirty="0" smtClean="0">
                <a:latin typeface="Garamond" panose="02020404030301010803" pitchFamily="18" charset="0"/>
              </a:rPr>
              <a:t>Useful under these conditions…</a:t>
            </a:r>
            <a:endParaRPr lang="en-GB" dirty="0">
              <a:latin typeface="Garamond" panose="02020404030301010803" pitchFamily="18" charset="0"/>
            </a:endParaRPr>
          </a:p>
        </p:txBody>
      </p:sp>
      <p:pic>
        <p:nvPicPr>
          <p:cNvPr id="2050" name="Picture 2" descr="https://sarapis.org/wp-content/uploads/2014/09/icon_71513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9800" y="2979210"/>
            <a:ext cx="5334000" cy="3332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80736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Garamond" panose="02020404030301010803" pitchFamily="18" charset="0"/>
              </a:rPr>
              <a:t>Implications</a:t>
            </a:r>
            <a:endParaRPr lang="en-GB" dirty="0">
              <a:latin typeface="Garamond" panose="02020404030301010803" pitchFamily="18" charset="0"/>
            </a:endParaRPr>
          </a:p>
        </p:txBody>
      </p:sp>
      <p:sp>
        <p:nvSpPr>
          <p:cNvPr id="3" name="Content Placeholder 2"/>
          <p:cNvSpPr>
            <a:spLocks noGrp="1"/>
          </p:cNvSpPr>
          <p:nvPr>
            <p:ph idx="1"/>
          </p:nvPr>
        </p:nvSpPr>
        <p:spPr/>
        <p:txBody>
          <a:bodyPr/>
          <a:lstStyle/>
          <a:p>
            <a:r>
              <a:rPr lang="en-GB" dirty="0" smtClean="0">
                <a:latin typeface="Garamond" panose="02020404030301010803" pitchFamily="18" charset="0"/>
              </a:rPr>
              <a:t>Adapting </a:t>
            </a:r>
            <a:r>
              <a:rPr lang="en-GB" dirty="0" err="1" smtClean="0">
                <a:latin typeface="Garamond" panose="02020404030301010803" pitchFamily="18" charset="0"/>
              </a:rPr>
              <a:t>Acceleread</a:t>
            </a:r>
            <a:r>
              <a:rPr lang="en-GB" dirty="0" smtClean="0">
                <a:latin typeface="Garamond" panose="02020404030301010803" pitchFamily="18" charset="0"/>
              </a:rPr>
              <a:t> </a:t>
            </a:r>
            <a:r>
              <a:rPr lang="en-GB" dirty="0" err="1" smtClean="0">
                <a:latin typeface="Garamond" panose="02020404030301010803" pitchFamily="18" charset="0"/>
              </a:rPr>
              <a:t>Accelewrite</a:t>
            </a:r>
            <a:endParaRPr lang="en-GB" dirty="0">
              <a:latin typeface="Garamond" panose="02020404030301010803" pitchFamily="18" charset="0"/>
            </a:endParaRPr>
          </a:p>
        </p:txBody>
      </p:sp>
      <p:pic>
        <p:nvPicPr>
          <p:cNvPr id="4100" name="Picture 4" descr="http://cdn.morguefile.com/imageData/public/files/k/kevinp/preview/fldr_2008_11_28/file0001822025463.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6170" y="3454275"/>
            <a:ext cx="4067629" cy="2722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70520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Garamond" panose="02020404030301010803" pitchFamily="18" charset="0"/>
              </a:rPr>
              <a:t>Implications</a:t>
            </a:r>
            <a:endParaRPr lang="en-GB" dirty="0">
              <a:latin typeface="Garamond" panose="02020404030301010803" pitchFamily="18" charset="0"/>
            </a:endParaRPr>
          </a:p>
        </p:txBody>
      </p:sp>
      <p:sp>
        <p:nvSpPr>
          <p:cNvPr id="3" name="Content Placeholder 2"/>
          <p:cNvSpPr>
            <a:spLocks noGrp="1"/>
          </p:cNvSpPr>
          <p:nvPr>
            <p:ph idx="1"/>
          </p:nvPr>
        </p:nvSpPr>
        <p:spPr/>
        <p:txBody>
          <a:bodyPr/>
          <a:lstStyle/>
          <a:p>
            <a:r>
              <a:rPr lang="en-GB" dirty="0" smtClean="0">
                <a:latin typeface="Garamond" panose="02020404030301010803" pitchFamily="18" charset="0"/>
              </a:rPr>
              <a:t>Reading is more than cognitive skills</a:t>
            </a:r>
            <a:endParaRPr lang="en-GB" dirty="0">
              <a:latin typeface="Garamond" panose="02020404030301010803" pitchFamily="18"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34200" y="3241825"/>
            <a:ext cx="4419600" cy="2935137"/>
          </a:xfrm>
          <a:prstGeom prst="rect">
            <a:avLst/>
          </a:prstGeom>
        </p:spPr>
      </p:pic>
    </p:spTree>
    <p:extLst>
      <p:ext uri="{BB962C8B-B14F-4D97-AF65-F5344CB8AC3E}">
        <p14:creationId xmlns:p14="http://schemas.microsoft.com/office/powerpoint/2010/main" val="24734415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Garamond" panose="02020404030301010803" pitchFamily="18" charset="0"/>
              </a:rPr>
              <a:t>Conclusions</a:t>
            </a:r>
            <a:endParaRPr lang="en-GB" dirty="0">
              <a:latin typeface="Garamond" panose="02020404030301010803" pitchFamily="18" charset="0"/>
            </a:endParaRPr>
          </a:p>
        </p:txBody>
      </p:sp>
      <p:sp>
        <p:nvSpPr>
          <p:cNvPr id="3" name="Content Placeholder 2"/>
          <p:cNvSpPr>
            <a:spLocks noGrp="1"/>
          </p:cNvSpPr>
          <p:nvPr>
            <p:ph idx="1"/>
          </p:nvPr>
        </p:nvSpPr>
        <p:spPr/>
        <p:txBody>
          <a:bodyPr/>
          <a:lstStyle/>
          <a:p>
            <a:r>
              <a:rPr lang="en-GB" dirty="0" smtClean="0">
                <a:latin typeface="Garamond" panose="02020404030301010803" pitchFamily="18" charset="0"/>
              </a:rPr>
              <a:t>Be clear what skills you are trying to target </a:t>
            </a:r>
          </a:p>
          <a:p>
            <a:endParaRPr lang="en-GB" dirty="0" smtClean="0">
              <a:latin typeface="Garamond" panose="02020404030301010803" pitchFamily="18" charset="0"/>
            </a:endParaRPr>
          </a:p>
          <a:p>
            <a:r>
              <a:rPr lang="en-GB" dirty="0" smtClean="0">
                <a:latin typeface="Garamond" panose="02020404030301010803" pitchFamily="18" charset="0"/>
              </a:rPr>
              <a:t>Adapt where necessary </a:t>
            </a:r>
          </a:p>
          <a:p>
            <a:endParaRPr lang="en-GB" dirty="0" smtClean="0">
              <a:latin typeface="Garamond" panose="02020404030301010803" pitchFamily="18" charset="0"/>
            </a:endParaRPr>
          </a:p>
          <a:p>
            <a:r>
              <a:rPr lang="en-GB" dirty="0" smtClean="0">
                <a:latin typeface="Garamond" panose="02020404030301010803" pitchFamily="18" charset="0"/>
              </a:rPr>
              <a:t>Don’t forget that reading is more than cognitive skills</a:t>
            </a:r>
          </a:p>
          <a:p>
            <a:endParaRPr lang="en-GB" dirty="0" smtClean="0">
              <a:latin typeface="Garamond" panose="02020404030301010803" pitchFamily="18" charset="0"/>
            </a:endParaRPr>
          </a:p>
          <a:p>
            <a:r>
              <a:rPr lang="en-GB" dirty="0" smtClean="0">
                <a:latin typeface="Garamond" panose="02020404030301010803" pitchFamily="18" charset="0"/>
              </a:rPr>
              <a:t>More research is needed</a:t>
            </a:r>
            <a:endParaRPr lang="en-GB" dirty="0">
              <a:latin typeface="Garamond" panose="02020404030301010803" pitchFamily="18" charset="0"/>
            </a:endParaRPr>
          </a:p>
        </p:txBody>
      </p:sp>
    </p:spTree>
    <p:extLst>
      <p:ext uri="{BB962C8B-B14F-4D97-AF65-F5344CB8AC3E}">
        <p14:creationId xmlns:p14="http://schemas.microsoft.com/office/powerpoint/2010/main" val="34686396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5738812"/>
            <a:ext cx="7950200" cy="662781"/>
          </a:xfrm>
          <a:ln>
            <a:solidFill>
              <a:schemeClr val="bg1"/>
            </a:solidFill>
          </a:ln>
        </p:spPr>
        <p:txBody>
          <a:bodyPr>
            <a:normAutofit/>
          </a:bodyPr>
          <a:lstStyle/>
          <a:p>
            <a:r>
              <a:rPr lang="en-GB" sz="1000" dirty="0">
                <a:latin typeface="Garamond" panose="02020404030301010803" pitchFamily="18" charset="0"/>
              </a:rPr>
              <a:t>http://www.everystockphoto.com/photo.php?imageId=8982185&amp;searchId=59b40a4df998529eb7264171ced09202&amp;npos=37</a:t>
            </a:r>
          </a:p>
        </p:txBody>
      </p:sp>
      <p:pic>
        <p:nvPicPr>
          <p:cNvPr id="1026" name="Picture 2" descr="Read the article: &lt;a href=&quot;http://o5.com/7-tips-for-choosing-a-business-name/&quot; rel=&quot;nofollow&quot;&gt;7 Tips for Choosing a Business Name&lt;/a&g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5775" y="621506"/>
            <a:ext cx="3571875"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50692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664</TotalTime>
  <Words>2439</Words>
  <Application>Microsoft Office PowerPoint</Application>
  <PresentationFormat>Widescreen</PresentationFormat>
  <Paragraphs>493</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Garamond</vt:lpstr>
      <vt:lpstr>Wingdings</vt:lpstr>
      <vt:lpstr>Office Theme</vt:lpstr>
      <vt:lpstr>PowerPoint Presentation</vt:lpstr>
      <vt:lpstr>Outline</vt:lpstr>
      <vt:lpstr>Acceleread Accelewrite intervention</vt:lpstr>
      <vt:lpstr>Underlying Principles </vt:lpstr>
      <vt:lpstr>Underlying Principles </vt:lpstr>
      <vt:lpstr>Underlying Principles </vt:lpstr>
      <vt:lpstr>Underlying Principles </vt:lpstr>
      <vt:lpstr>Underlying Principles </vt:lpstr>
      <vt:lpstr>Underlying Principles </vt:lpstr>
      <vt:lpstr>Underlying Principles </vt:lpstr>
      <vt:lpstr>Underlying Principles </vt:lpstr>
      <vt:lpstr>Underlying Principles </vt:lpstr>
      <vt:lpstr>Underlying Principles </vt:lpstr>
      <vt:lpstr>Evidence Base</vt:lpstr>
      <vt:lpstr>Implications</vt:lpstr>
      <vt:lpstr>Implications</vt:lpstr>
      <vt:lpstr>Implications</vt:lpstr>
      <vt:lpstr>Implications</vt:lpstr>
      <vt:lpstr>Conclusions</vt:lpstr>
      <vt:lpstr>http://www.everystockphoto.com/photo.php?imageId=8982185&amp;searchId=59b40a4df998529eb7264171ced09202&amp;npos=37</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Emma</dc:creator>
  <cp:lastModifiedBy>Herring E.</cp:lastModifiedBy>
  <cp:revision>104</cp:revision>
  <cp:lastPrinted>2015-12-15T20:16:58Z</cp:lastPrinted>
  <dcterms:created xsi:type="dcterms:W3CDTF">2015-12-04T11:56:25Z</dcterms:created>
  <dcterms:modified xsi:type="dcterms:W3CDTF">2015-12-18T09:03:47Z</dcterms:modified>
</cp:coreProperties>
</file>