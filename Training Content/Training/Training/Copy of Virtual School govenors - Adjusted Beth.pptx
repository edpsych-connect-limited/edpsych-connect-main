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9" r:id="rId2"/>
  </p:sldMasterIdLst>
  <p:notesMasterIdLst>
    <p:notesMasterId r:id="rId21"/>
  </p:notesMasterIdLst>
  <p:sldIdLst>
    <p:sldId id="282" r:id="rId3"/>
    <p:sldId id="258" r:id="rId4"/>
    <p:sldId id="259" r:id="rId5"/>
    <p:sldId id="260" r:id="rId6"/>
    <p:sldId id="261" r:id="rId7"/>
    <p:sldId id="262" r:id="rId8"/>
    <p:sldId id="264" r:id="rId9"/>
    <p:sldId id="265" r:id="rId10"/>
    <p:sldId id="266" r:id="rId11"/>
    <p:sldId id="267" r:id="rId12"/>
    <p:sldId id="268" r:id="rId13"/>
    <p:sldId id="271" r:id="rId14"/>
    <p:sldId id="283" r:id="rId15"/>
    <p:sldId id="284" r:id="rId16"/>
    <p:sldId id="285" r:id="rId17"/>
    <p:sldId id="269" r:id="rId18"/>
    <p:sldId id="272" r:id="rId19"/>
    <p:sldId id="273" r:id="rId20"/>
  </p:sldIdLst>
  <p:sldSz cx="9144000" cy="6858000" type="screen4x3"/>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02" autoAdjust="0"/>
  </p:normalViewPr>
  <p:slideViewPr>
    <p:cSldViewPr snapToGrid="0">
      <p:cViewPr varScale="1">
        <p:scale>
          <a:sx n="119" d="100"/>
          <a:sy n="119" d="100"/>
        </p:scale>
        <p:origin x="1410"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5348"/>
          </a:xfrm>
          <a:prstGeom prst="rect">
            <a:avLst/>
          </a:prstGeom>
        </p:spPr>
        <p:txBody>
          <a:bodyPr vert="horz" lIns="91440" tIns="45720" rIns="91440" bIns="45720" rtlCol="0"/>
          <a:lstStyle>
            <a:lvl1pPr algn="r">
              <a:defRPr sz="1200"/>
            </a:lvl1pPr>
          </a:lstStyle>
          <a:p>
            <a:fld id="{62B54163-8916-43F5-8576-DE0925F5FDBD}" type="datetimeFigureOut">
              <a:rPr lang="en-GB" smtClean="0"/>
              <a:t>27/06/2019</a:t>
            </a:fld>
            <a:endParaRPr lang="en-GB"/>
          </a:p>
        </p:txBody>
      </p:sp>
      <p:sp>
        <p:nvSpPr>
          <p:cNvPr id="4" name="Slide Image Placeholder 3"/>
          <p:cNvSpPr>
            <a:spLocks noGrp="1" noRot="1" noChangeAspect="1"/>
          </p:cNvSpPr>
          <p:nvPr>
            <p:ph type="sldImg" idx="2"/>
          </p:nvPr>
        </p:nvSpPr>
        <p:spPr>
          <a:xfrm>
            <a:off x="1114425" y="1233488"/>
            <a:ext cx="4440238" cy="33321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751219"/>
            <a:ext cx="5335270" cy="3887361"/>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7"/>
            <a:ext cx="2889938" cy="49534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7"/>
            <a:ext cx="2889938" cy="495347"/>
          </a:xfrm>
          <a:prstGeom prst="rect">
            <a:avLst/>
          </a:prstGeom>
        </p:spPr>
        <p:txBody>
          <a:bodyPr vert="horz" lIns="91440" tIns="45720" rIns="91440" bIns="45720" rtlCol="0" anchor="b"/>
          <a:lstStyle>
            <a:lvl1pPr algn="r">
              <a:defRPr sz="1200"/>
            </a:lvl1pPr>
          </a:lstStyle>
          <a:p>
            <a:fld id="{17ED44E1-A176-4790-BF78-5893F47DD259}" type="slidenum">
              <a:rPr lang="en-GB" smtClean="0"/>
              <a:t>‹#›</a:t>
            </a:fld>
            <a:endParaRPr lang="en-GB"/>
          </a:p>
        </p:txBody>
      </p:sp>
    </p:spTree>
    <p:extLst>
      <p:ext uri="{BB962C8B-B14F-4D97-AF65-F5344CB8AC3E}">
        <p14:creationId xmlns:p14="http://schemas.microsoft.com/office/powerpoint/2010/main" val="675676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Intro</a:t>
            </a:r>
            <a:r>
              <a:rPr lang="en-GB" baseline="0" dirty="0" smtClean="0"/>
              <a:t> video https://www.youtube.com/watch?v=J-X6ZrrYAew&amp;index=1&amp;list=PLS_VOF2UN3BFlQ7hv1-qBDH2v0LCAWu7p</a:t>
            </a:r>
          </a:p>
          <a:p>
            <a:r>
              <a:rPr lang="en-GB" baseline="0" dirty="0" smtClean="0"/>
              <a:t>Final video https://www.youtube.com/watch?v=otEa4OlH-_w&amp;list=PLS_VOF2UN3BFlQ7hv1-qBDH2v0LCAWu7p&amp;index=31</a:t>
            </a:r>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1</a:t>
            </a:fld>
            <a:endParaRPr lang="en-GB"/>
          </a:p>
        </p:txBody>
      </p:sp>
    </p:spTree>
    <p:extLst>
      <p:ext uri="{BB962C8B-B14F-4D97-AF65-F5344CB8AC3E}">
        <p14:creationId xmlns:p14="http://schemas.microsoft.com/office/powerpoint/2010/main" val="1576443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7ED44E1-A176-4790-BF78-5893F47DD259}" type="slidenum">
              <a:rPr lang="en-GB" smtClean="0"/>
              <a:t>2</a:t>
            </a:fld>
            <a:endParaRPr lang="en-GB"/>
          </a:p>
        </p:txBody>
      </p:sp>
    </p:spTree>
    <p:extLst>
      <p:ext uri="{BB962C8B-B14F-4D97-AF65-F5344CB8AC3E}">
        <p14:creationId xmlns:p14="http://schemas.microsoft.com/office/powerpoint/2010/main" val="2053313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Talk through physiological need being translated (are you hungry?, oh you must be tired!)</a:t>
            </a:r>
            <a:r>
              <a:rPr lang="en-GB" baseline="0" dirty="0" smtClean="0"/>
              <a:t> </a:t>
            </a:r>
            <a:r>
              <a:rPr lang="en-GB" dirty="0" smtClean="0"/>
              <a:t>by the caregiver and labelling feelings,</a:t>
            </a:r>
            <a:r>
              <a:rPr lang="en-GB" baseline="0" dirty="0" smtClean="0"/>
              <a:t> soothing, reassuring</a:t>
            </a:r>
            <a:endParaRPr lang="en-GB" dirty="0" smtClean="0"/>
          </a:p>
          <a:p>
            <a:endParaRPr lang="en-GB" dirty="0" smtClean="0"/>
          </a:p>
          <a:p>
            <a:r>
              <a:rPr lang="en-GB" dirty="0" smtClean="0"/>
              <a:t>Attachment</a:t>
            </a:r>
            <a:r>
              <a:rPr lang="en-GB" baseline="0" dirty="0" smtClean="0"/>
              <a:t> was driven by biological need</a:t>
            </a:r>
          </a:p>
          <a:p>
            <a:r>
              <a:rPr lang="en-GB" baseline="0" dirty="0" smtClean="0"/>
              <a:t>Link to proximity, sensitivity and co-regulation</a:t>
            </a:r>
          </a:p>
          <a:p>
            <a:r>
              <a:rPr lang="en-GB" baseline="0" dirty="0" smtClean="0"/>
              <a:t>Comparison to other animals and dependency</a:t>
            </a:r>
          </a:p>
          <a:p>
            <a:r>
              <a:rPr lang="en-GB" baseline="0" dirty="0" smtClean="0"/>
              <a:t>Then become about emotional security</a:t>
            </a:r>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3</a:t>
            </a:fld>
            <a:endParaRPr lang="en-GB"/>
          </a:p>
        </p:txBody>
      </p:sp>
    </p:spTree>
    <p:extLst>
      <p:ext uri="{BB962C8B-B14F-4D97-AF65-F5344CB8AC3E}">
        <p14:creationId xmlns:p14="http://schemas.microsoft.com/office/powerpoint/2010/main" val="3979649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233488"/>
            <a:ext cx="4440238" cy="3332162"/>
          </a:xfrm>
        </p:spPr>
      </p:sp>
      <p:sp>
        <p:nvSpPr>
          <p:cNvPr id="3" name="Notes Placeholder 2"/>
          <p:cNvSpPr>
            <a:spLocks noGrp="1"/>
          </p:cNvSpPr>
          <p:nvPr>
            <p:ph type="body" idx="1"/>
          </p:nvPr>
        </p:nvSpPr>
        <p:spPr/>
        <p:txBody>
          <a:bodyPr/>
          <a:lstStyle/>
          <a:p>
            <a:r>
              <a:rPr lang="en-GB" dirty="0" smtClean="0"/>
              <a:t>Multiple models</a:t>
            </a:r>
          </a:p>
          <a:p>
            <a:r>
              <a:rPr lang="en-GB" dirty="0" smtClean="0"/>
              <a:t>Give</a:t>
            </a:r>
            <a:r>
              <a:rPr lang="en-GB" baseline="0" dirty="0" smtClean="0"/>
              <a:t> both positive and negative examples for each</a:t>
            </a:r>
            <a:endParaRPr lang="en-GB" dirty="0"/>
          </a:p>
        </p:txBody>
      </p:sp>
      <p:sp>
        <p:nvSpPr>
          <p:cNvPr id="4" name="Slide Number Placeholder 3"/>
          <p:cNvSpPr>
            <a:spLocks noGrp="1"/>
          </p:cNvSpPr>
          <p:nvPr>
            <p:ph type="sldNum" sz="quarter" idx="10"/>
          </p:nvPr>
        </p:nvSpPr>
        <p:spPr/>
        <p:txBody>
          <a:bodyPr/>
          <a:lstStyle/>
          <a:p>
            <a:fld id="{0B13762C-7ECB-46A1-BD90-9BC69F405028}" type="slidenum">
              <a:rPr lang="en-GB" smtClean="0"/>
              <a:t>4</a:t>
            </a:fld>
            <a:endParaRPr lang="en-GB"/>
          </a:p>
        </p:txBody>
      </p:sp>
    </p:spTree>
    <p:extLst>
      <p:ext uri="{BB962C8B-B14F-4D97-AF65-F5344CB8AC3E}">
        <p14:creationId xmlns:p14="http://schemas.microsoft.com/office/powerpoint/2010/main" val="3933485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This demonstrates connections of neurons in the brain. You can see the rapid</a:t>
            </a:r>
            <a:r>
              <a:rPr lang="en-GB" baseline="0" dirty="0" smtClean="0"/>
              <a:t> change in number and density through experience and how rapid this is in the first two years. Connections are made through experience. For example, if you were to walk across a freshly laid turf to get to a new shed. Over time a path would develop and it makes it easier to follow this path in the future. Use it or lose it- pruning occurs at certain stages. needed repeated experiences to lay these connections. This is why the early experiences are so important. Brain is most plastic in early years- that it is it can change and develop in relation to experience easier. Harder to change later in life. </a:t>
            </a:r>
            <a:r>
              <a:rPr lang="en-GB" dirty="0" smtClean="0"/>
              <a:t>Rapid</a:t>
            </a:r>
            <a:r>
              <a:rPr lang="en-GB" baseline="0" dirty="0" smtClean="0"/>
              <a:t> brain development in the early years many neuronal connections develop in response to experiences.</a:t>
            </a:r>
          </a:p>
          <a:p>
            <a:pPr fontAlgn="base"/>
            <a:r>
              <a:rPr lang="en-GB" sz="1200" b="0" i="0" kern="1200" dirty="0" smtClean="0">
                <a:solidFill>
                  <a:schemeClr val="tx1"/>
                </a:solidFill>
                <a:effectLst/>
                <a:latin typeface="+mn-lt"/>
                <a:ea typeface="+mn-ea"/>
                <a:cs typeface="+mn-cs"/>
              </a:rPr>
              <a:t>It becomes important, as clinicians, to understand what’s happening in our brains, ours and our clients, in the therapeutic relationship, to understand what attachment theory and research over the last 50 years and modern neuroscience of the last 20 years are telling us:</a:t>
            </a:r>
          </a:p>
          <a:p>
            <a:pPr fontAlgn="base"/>
            <a:r>
              <a:rPr lang="en-GB" sz="1200" b="0" i="0" kern="1200" dirty="0" smtClean="0">
                <a:solidFill>
                  <a:schemeClr val="tx1"/>
                </a:solidFill>
                <a:effectLst/>
                <a:latin typeface="+mn-lt"/>
                <a:ea typeface="+mn-ea"/>
                <a:cs typeface="+mn-cs"/>
              </a:rPr>
              <a:t>our earliest relationships actually build the brain structures we use for relating lifelong;</a:t>
            </a:r>
          </a:p>
          <a:p>
            <a:pPr fontAlgn="base"/>
            <a:r>
              <a:rPr lang="en-GB" sz="1200" b="0" i="0" kern="1200" dirty="0" smtClean="0">
                <a:solidFill>
                  <a:schemeClr val="tx1"/>
                </a:solidFill>
                <a:effectLst/>
                <a:latin typeface="+mn-lt"/>
                <a:ea typeface="+mn-ea"/>
                <a:cs typeface="+mn-cs"/>
              </a:rPr>
              <a:t>experiences in those early relationships encode in the neural circuitry of our brains by 12-18 months of age, entirely in implicit memory outside of awareness; these patterns of attachment become the “rules”, templates, schemas, for relating that operate lifelong, the “known but not remembered” givens of our relational lives.</a:t>
            </a:r>
          </a:p>
          <a:p>
            <a:pPr fontAlgn="base"/>
            <a:r>
              <a:rPr lang="en-GB" sz="1200" b="0" i="0" kern="1200" dirty="0" smtClean="0">
                <a:solidFill>
                  <a:schemeClr val="tx1"/>
                </a:solidFill>
                <a:effectLst/>
                <a:latin typeface="+mn-lt"/>
                <a:ea typeface="+mn-ea"/>
                <a:cs typeface="+mn-cs"/>
              </a:rPr>
              <a:t>when those early experiences have been less than optimal, those unconscious patterns of attachment can continue to shape the perceptions and responses of the brain to new relational experiences in old ways that get stuck, that can’t take in new experience as new information, can’t learn or adapt or grow from those experiences. What we have come to call, from outside the brain looking in, as the defensive patterns of personality disorders. What one clinician calls “tragic recursive patterns that become encased in neural cement.”</a:t>
            </a:r>
          </a:p>
          <a:p>
            <a:pPr fontAlgn="base"/>
            <a:r>
              <a:rPr lang="en-GB" sz="1200" b="0" i="0" kern="1200" dirty="0" smtClean="0">
                <a:solidFill>
                  <a:schemeClr val="tx1"/>
                </a:solidFill>
                <a:effectLst/>
                <a:latin typeface="+mn-lt"/>
                <a:ea typeface="+mn-ea"/>
                <a:cs typeface="+mn-cs"/>
              </a:rPr>
              <a:t>Fortunately, the human brain has always had the biologically innate capacity to grow new neurons – lifelong – and more importantly, to create new synaptic connections between neurons lifelong. All of us can create new patterns of neural firing from new experiences. All of us can pair old even maladaptive patterns with new, more adaptive, patterns of neural firing. All of us can all create new neural circuitry, pathways and networks that allow us to relate, moment by moment in new, healthier, more resilient ways. All of us can store those new more adaptive patterns in both the structures of explicit memory, making them retrievable to conscious awareness and conscious healthy functioning, and in the structures of implicit memory, making them the new habits of relating.</a:t>
            </a:r>
          </a:p>
          <a:p>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5</a:t>
            </a:fld>
            <a:endParaRPr lang="en-GB"/>
          </a:p>
        </p:txBody>
      </p:sp>
    </p:spTree>
    <p:extLst>
      <p:ext uri="{BB962C8B-B14F-4D97-AF65-F5344CB8AC3E}">
        <p14:creationId xmlns:p14="http://schemas.microsoft.com/office/powerpoint/2010/main" val="1143327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233488"/>
            <a:ext cx="4440238" cy="3332162"/>
          </a:xfrm>
        </p:spPr>
      </p:sp>
      <p:sp>
        <p:nvSpPr>
          <p:cNvPr id="3" name="Notes Placeholder 2"/>
          <p:cNvSpPr>
            <a:spLocks noGrp="1"/>
          </p:cNvSpPr>
          <p:nvPr>
            <p:ph type="body" idx="1"/>
          </p:nvPr>
        </p:nvSpPr>
        <p:spPr/>
        <p:txBody>
          <a:bodyPr/>
          <a:lstStyle/>
          <a:p>
            <a:pPr marL="0" indent="0">
              <a:buNone/>
            </a:pPr>
            <a:r>
              <a:rPr lang="en-GB" sz="1200" dirty="0" smtClean="0"/>
              <a:t>The Social Brain </a:t>
            </a:r>
          </a:p>
          <a:p>
            <a:r>
              <a:rPr lang="en-GB" sz="1200" dirty="0" smtClean="0"/>
              <a:t>– mirror </a:t>
            </a:r>
            <a:r>
              <a:rPr lang="en-GB" sz="1200" dirty="0" err="1" smtClean="0"/>
              <a:t>neurons</a:t>
            </a:r>
            <a:r>
              <a:rPr lang="en-GB" sz="1200" b="0" i="0" kern="1200" dirty="0" err="1" smtClean="0">
                <a:solidFill>
                  <a:schemeClr val="tx1"/>
                </a:solidFill>
                <a:effectLst/>
                <a:latin typeface="+mn-lt"/>
                <a:ea typeface="+mn-ea"/>
                <a:cs typeface="+mn-cs"/>
              </a:rPr>
              <a:t>A</a:t>
            </a:r>
            <a:r>
              <a:rPr lang="en-GB" sz="1200" b="0" i="0" kern="1200" dirty="0" smtClean="0">
                <a:solidFill>
                  <a:schemeClr val="tx1"/>
                </a:solidFill>
                <a:effectLst/>
                <a:latin typeface="+mn-lt"/>
                <a:ea typeface="+mn-ea"/>
                <a:cs typeface="+mn-cs"/>
              </a:rPr>
              <a:t> </a:t>
            </a:r>
            <a:r>
              <a:rPr lang="en-GB" sz="1200" b="1" i="0" kern="1200" dirty="0" smtClean="0">
                <a:solidFill>
                  <a:schemeClr val="tx1"/>
                </a:solidFill>
                <a:effectLst/>
                <a:latin typeface="+mn-lt"/>
                <a:ea typeface="+mn-ea"/>
                <a:cs typeface="+mn-cs"/>
              </a:rPr>
              <a:t>mirror</a:t>
            </a:r>
            <a:r>
              <a:rPr lang="en-GB" sz="1200" b="0" i="0" kern="1200" dirty="0" smtClean="0">
                <a:solidFill>
                  <a:schemeClr val="tx1"/>
                </a:solidFill>
                <a:effectLst/>
                <a:latin typeface="+mn-lt"/>
                <a:ea typeface="+mn-ea"/>
                <a:cs typeface="+mn-cs"/>
              </a:rPr>
              <a:t> neuron is a neuron that fires both when an animal acts and when the animal observes the same action performed by another. Thus, the neuron "</a:t>
            </a:r>
            <a:r>
              <a:rPr lang="en-GB" sz="1200" b="1" i="0" kern="1200" dirty="0" smtClean="0">
                <a:solidFill>
                  <a:schemeClr val="tx1"/>
                </a:solidFill>
                <a:effectLst/>
                <a:latin typeface="+mn-lt"/>
                <a:ea typeface="+mn-ea"/>
                <a:cs typeface="+mn-cs"/>
              </a:rPr>
              <a:t>mirrors</a:t>
            </a:r>
            <a:r>
              <a:rPr lang="en-GB" sz="1200" b="0" i="0" kern="1200" dirty="0" smtClean="0">
                <a:solidFill>
                  <a:schemeClr val="tx1"/>
                </a:solidFill>
                <a:effectLst/>
                <a:latin typeface="+mn-lt"/>
                <a:ea typeface="+mn-ea"/>
                <a:cs typeface="+mn-cs"/>
              </a:rPr>
              <a:t>" the </a:t>
            </a:r>
            <a:r>
              <a:rPr lang="en-GB" sz="1200" b="0" i="0" kern="1200" dirty="0" err="1" smtClean="0">
                <a:solidFill>
                  <a:schemeClr val="tx1"/>
                </a:solidFill>
                <a:effectLst/>
                <a:latin typeface="+mn-lt"/>
                <a:ea typeface="+mn-ea"/>
                <a:cs typeface="+mn-cs"/>
              </a:rPr>
              <a:t>behavior</a:t>
            </a:r>
            <a:r>
              <a:rPr lang="en-GB" sz="1200" b="0" i="0" kern="1200" dirty="0" smtClean="0">
                <a:solidFill>
                  <a:schemeClr val="tx1"/>
                </a:solidFill>
                <a:effectLst/>
                <a:latin typeface="+mn-lt"/>
                <a:ea typeface="+mn-ea"/>
                <a:cs typeface="+mn-cs"/>
              </a:rPr>
              <a:t> of the other, as though the observer were itself acting. Such </a:t>
            </a:r>
            <a:r>
              <a:rPr lang="en-GB" sz="1200" b="1" i="0" kern="1200" dirty="0" smtClean="0">
                <a:solidFill>
                  <a:schemeClr val="tx1"/>
                </a:solidFill>
                <a:effectLst/>
                <a:latin typeface="+mn-lt"/>
                <a:ea typeface="+mn-ea"/>
                <a:cs typeface="+mn-cs"/>
              </a:rPr>
              <a:t>neurons</a:t>
            </a:r>
            <a:r>
              <a:rPr lang="en-GB" sz="1200" b="0" i="0" kern="1200" dirty="0" smtClean="0">
                <a:solidFill>
                  <a:schemeClr val="tx1"/>
                </a:solidFill>
                <a:effectLst/>
                <a:latin typeface="+mn-lt"/>
                <a:ea typeface="+mn-ea"/>
                <a:cs typeface="+mn-cs"/>
              </a:rPr>
              <a:t> have been directly observed in primate species.</a:t>
            </a:r>
          </a:p>
          <a:p>
            <a:r>
              <a:rPr lang="en-GB" sz="1200" b="0" i="0" kern="1200" dirty="0" smtClean="0">
                <a:solidFill>
                  <a:schemeClr val="tx1"/>
                </a:solidFill>
                <a:effectLst/>
                <a:latin typeface="+mn-lt"/>
                <a:ea typeface="+mn-ea"/>
                <a:cs typeface="+mn-cs"/>
              </a:rPr>
              <a:t/>
            </a:r>
            <a:br>
              <a:rPr lang="en-GB" sz="1200" b="0" i="0" kern="1200" dirty="0" smtClean="0">
                <a:solidFill>
                  <a:schemeClr val="tx1"/>
                </a:solidFill>
                <a:effectLst/>
                <a:latin typeface="+mn-lt"/>
                <a:ea typeface="+mn-ea"/>
                <a:cs typeface="+mn-cs"/>
              </a:rPr>
            </a:br>
            <a:endParaRPr lang="en-GB" sz="1200" dirty="0" smtClean="0"/>
          </a:p>
          <a:p>
            <a:pPr marL="0" indent="0">
              <a:buNone/>
            </a:pPr>
            <a:r>
              <a:rPr lang="en-GB" sz="1200" dirty="0" smtClean="0"/>
              <a:t>- Our brains respond and develop in relation to the environment they experience</a:t>
            </a:r>
          </a:p>
          <a:p>
            <a:pPr marL="0" indent="0">
              <a:buNone/>
            </a:pPr>
            <a:endParaRPr lang="en-GB" sz="1200" dirty="0" smtClean="0"/>
          </a:p>
          <a:p>
            <a:pPr marL="0" indent="0">
              <a:buNone/>
            </a:pPr>
            <a:r>
              <a:rPr lang="en-GB" sz="1200" dirty="0" smtClean="0"/>
              <a:t>The Feeling Brain – limbic system</a:t>
            </a:r>
          </a:p>
          <a:p>
            <a:pPr marL="0" indent="0">
              <a:buNone/>
            </a:pPr>
            <a:r>
              <a:rPr lang="en-GB" sz="1200" dirty="0" smtClean="0"/>
              <a:t>The Thinking Brain – helping us to make sense of our feelings</a:t>
            </a:r>
          </a:p>
          <a:p>
            <a:pPr marL="0" indent="0">
              <a:buNone/>
            </a:pPr>
            <a:endParaRPr lang="en-GB" sz="1200" dirty="0" smtClean="0"/>
          </a:p>
          <a:p>
            <a:pPr marL="0" indent="0">
              <a:buNone/>
            </a:pPr>
            <a:r>
              <a:rPr lang="en-GB" sz="1200" dirty="0" smtClean="0"/>
              <a:t>Co-regulation – care giver acts as the thinking brain to support the child to regulate</a:t>
            </a:r>
          </a:p>
          <a:p>
            <a:pPr marL="0" indent="0">
              <a:buNone/>
            </a:pPr>
            <a:r>
              <a:rPr lang="en-GB" sz="1200" dirty="0" smtClean="0"/>
              <a:t>Self-regulation – child internalises that process, through consistent co-regulatory experiences. </a:t>
            </a:r>
          </a:p>
          <a:p>
            <a:pPr marL="0" indent="0">
              <a:buNone/>
            </a:pPr>
            <a:r>
              <a:rPr lang="en-GB" sz="1200" dirty="0" smtClean="0"/>
              <a:t>Attachment is a hidden regulator! When you need something, you call on your attachment figure. </a:t>
            </a:r>
          </a:p>
          <a:p>
            <a:pPr marL="0" indent="0">
              <a:buNone/>
            </a:pPr>
            <a:endParaRPr lang="en-GB" sz="1200" dirty="0" smtClean="0"/>
          </a:p>
          <a:p>
            <a:pPr marL="0" indent="0">
              <a:buNone/>
            </a:pPr>
            <a:r>
              <a:rPr lang="en-GB" sz="1200" dirty="0" smtClean="0"/>
              <a:t>If co-regulation doesn’t occur through inconsistent or absence from caregiver, infant needs to find another way to regulate their feelings. </a:t>
            </a:r>
          </a:p>
          <a:p>
            <a:pPr>
              <a:buFontTx/>
              <a:buChar char="-"/>
            </a:pPr>
            <a:r>
              <a:rPr lang="en-GB" sz="1200" dirty="0" smtClean="0"/>
              <a:t>If don’t have an internal sense of security – can’t take risks ‘such as learning new things’</a:t>
            </a:r>
          </a:p>
          <a:p>
            <a:pPr marL="0" indent="0">
              <a:buNone/>
            </a:pPr>
            <a:endParaRPr lang="en-GB" sz="1200" dirty="0" smtClean="0"/>
          </a:p>
          <a:p>
            <a:pPr marL="0" indent="0">
              <a:buNone/>
            </a:pPr>
            <a:r>
              <a:rPr lang="en-GB" sz="1200" dirty="0" smtClean="0"/>
              <a:t>Neuro-plasticity – it’s never to late. Children with insecure attachment styles can development secure attachment styles with the right environment. However, they remain vulnerable when under stress or threat. </a:t>
            </a:r>
          </a:p>
          <a:p>
            <a:pPr marL="0" indent="0">
              <a:buNone/>
            </a:pPr>
            <a:endParaRPr lang="en-GB" sz="1200" dirty="0" smtClean="0"/>
          </a:p>
          <a:p>
            <a:pPr marL="0" indent="0">
              <a:buNone/>
            </a:pPr>
            <a:endParaRPr lang="en-GB" sz="1200" dirty="0" smtClean="0"/>
          </a:p>
          <a:p>
            <a:pPr marL="0" indent="0">
              <a:buNone/>
            </a:pPr>
            <a:endParaRPr lang="en-GB" sz="1200"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230531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233488"/>
            <a:ext cx="4440238" cy="3332162"/>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09F9FE-5987-4547-938A-5F5E09ABD57C}" type="slidenum">
              <a:rPr lang="en-GB" smtClean="0"/>
              <a:t>7</a:t>
            </a:fld>
            <a:endParaRPr lang="en-GB"/>
          </a:p>
        </p:txBody>
      </p:sp>
    </p:spTree>
    <p:extLst>
      <p:ext uri="{BB962C8B-B14F-4D97-AF65-F5344CB8AC3E}">
        <p14:creationId xmlns:p14="http://schemas.microsoft.com/office/powerpoint/2010/main" val="3501532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Link to increased cortisol levels</a:t>
            </a:r>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8</a:t>
            </a:fld>
            <a:endParaRPr lang="en-GB"/>
          </a:p>
        </p:txBody>
      </p:sp>
    </p:spTree>
    <p:extLst>
      <p:ext uri="{BB962C8B-B14F-4D97-AF65-F5344CB8AC3E}">
        <p14:creationId xmlns:p14="http://schemas.microsoft.com/office/powerpoint/2010/main" val="1617115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7ED44E1-A176-4790-BF78-5893F47DD259}" type="slidenum">
              <a:rPr lang="en-GB" smtClean="0"/>
              <a:t>9</a:t>
            </a:fld>
            <a:endParaRPr lang="en-GB"/>
          </a:p>
        </p:txBody>
      </p:sp>
    </p:spTree>
    <p:extLst>
      <p:ext uri="{BB962C8B-B14F-4D97-AF65-F5344CB8AC3E}">
        <p14:creationId xmlns:p14="http://schemas.microsoft.com/office/powerpoint/2010/main" val="3937476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7ED44E1-A176-4790-BF78-5893F47DD259}" type="slidenum">
              <a:rPr lang="en-GB" smtClean="0"/>
              <a:t>10</a:t>
            </a:fld>
            <a:endParaRPr lang="en-GB"/>
          </a:p>
        </p:txBody>
      </p:sp>
    </p:spTree>
    <p:extLst>
      <p:ext uri="{BB962C8B-B14F-4D97-AF65-F5344CB8AC3E}">
        <p14:creationId xmlns:p14="http://schemas.microsoft.com/office/powerpoint/2010/main" val="728422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233488"/>
            <a:ext cx="4440238" cy="3332162"/>
          </a:xfrm>
        </p:spPr>
      </p:sp>
      <p:sp>
        <p:nvSpPr>
          <p:cNvPr id="3" name="Notes Placeholder 2"/>
          <p:cNvSpPr>
            <a:spLocks noGrp="1"/>
          </p:cNvSpPr>
          <p:nvPr>
            <p:ph type="body" idx="1"/>
          </p:nvPr>
        </p:nvSpPr>
        <p:spPr/>
        <p:txBody>
          <a:bodyPr/>
          <a:lstStyle/>
          <a:p>
            <a:r>
              <a:rPr lang="en-GB" dirty="0" smtClean="0"/>
              <a:t>Executive functioning?</a:t>
            </a:r>
          </a:p>
          <a:p>
            <a:r>
              <a:rPr lang="en-GB" dirty="0" smtClean="0"/>
              <a:t>Development</a:t>
            </a:r>
            <a:r>
              <a:rPr lang="en-GB" baseline="0" dirty="0" smtClean="0"/>
              <a:t> of frontal lobe?</a:t>
            </a:r>
          </a:p>
          <a:p>
            <a:endParaRPr lang="en-GB" dirty="0"/>
          </a:p>
        </p:txBody>
      </p:sp>
      <p:sp>
        <p:nvSpPr>
          <p:cNvPr id="4" name="Slide Number Placeholder 3"/>
          <p:cNvSpPr>
            <a:spLocks noGrp="1"/>
          </p:cNvSpPr>
          <p:nvPr>
            <p:ph type="sldNum" sz="quarter" idx="10"/>
          </p:nvPr>
        </p:nvSpPr>
        <p:spPr/>
        <p:txBody>
          <a:bodyPr/>
          <a:lstStyle/>
          <a:p>
            <a:fld id="{8309F9FE-5987-4547-938A-5F5E09ABD57C}" type="slidenum">
              <a:rPr lang="en-GB" smtClean="0"/>
              <a:t>11</a:t>
            </a:fld>
            <a:endParaRPr lang="en-GB"/>
          </a:p>
        </p:txBody>
      </p:sp>
    </p:spTree>
    <p:extLst>
      <p:ext uri="{BB962C8B-B14F-4D97-AF65-F5344CB8AC3E}">
        <p14:creationId xmlns:p14="http://schemas.microsoft.com/office/powerpoint/2010/main" val="2137056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Fighting with siblings- only way to get attention/food</a:t>
            </a:r>
            <a:r>
              <a:rPr lang="en-GB" baseline="0" dirty="0" smtClean="0"/>
              <a:t> terrible for peer relationships and in school however had a strong function for keeping these young people safe. </a:t>
            </a:r>
            <a:endParaRPr lang="en-GB" dirty="0" smtClean="0"/>
          </a:p>
        </p:txBody>
      </p:sp>
      <p:sp>
        <p:nvSpPr>
          <p:cNvPr id="4" name="Slide Number Placeholder 3"/>
          <p:cNvSpPr>
            <a:spLocks noGrp="1"/>
          </p:cNvSpPr>
          <p:nvPr>
            <p:ph type="sldNum" sz="quarter" idx="10"/>
          </p:nvPr>
        </p:nvSpPr>
        <p:spPr/>
        <p:txBody>
          <a:bodyPr/>
          <a:lstStyle/>
          <a:p>
            <a:fld id="{17ED44E1-A176-4790-BF78-5893F47DD259}" type="slidenum">
              <a:rPr lang="en-GB" smtClean="0"/>
              <a:t>12</a:t>
            </a:fld>
            <a:endParaRPr lang="en-GB"/>
          </a:p>
        </p:txBody>
      </p:sp>
    </p:spTree>
    <p:extLst>
      <p:ext uri="{BB962C8B-B14F-4D97-AF65-F5344CB8AC3E}">
        <p14:creationId xmlns:p14="http://schemas.microsoft.com/office/powerpoint/2010/main" val="2302251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Key adult</a:t>
            </a:r>
          </a:p>
          <a:p>
            <a:r>
              <a:rPr lang="en-GB" dirty="0" smtClean="0"/>
              <a:t>As the relationships that a young person has experienced may be the reason and cause of difficulties in their life- so will it be the tool to heal and solve</a:t>
            </a:r>
            <a:r>
              <a:rPr lang="en-GB" baseline="0" dirty="0" smtClean="0"/>
              <a:t> these difficulties. </a:t>
            </a:r>
          </a:p>
          <a:p>
            <a:r>
              <a:rPr lang="en-GB" baseline="0" dirty="0" smtClean="0"/>
              <a:t>volunteers</a:t>
            </a:r>
            <a:endParaRPr lang="en-GB" dirty="0" smtClean="0"/>
          </a:p>
          <a:p>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13</a:t>
            </a:fld>
            <a:endParaRPr lang="en-GB"/>
          </a:p>
        </p:txBody>
      </p:sp>
    </p:spTree>
    <p:extLst>
      <p:ext uri="{BB962C8B-B14F-4D97-AF65-F5344CB8AC3E}">
        <p14:creationId xmlns:p14="http://schemas.microsoft.com/office/powerpoint/2010/main" val="4126517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How might this reinforce</a:t>
            </a:r>
            <a:r>
              <a:rPr lang="en-GB" baseline="0" dirty="0" smtClean="0"/>
              <a:t> already existing ideas about them selves, others adults and their view of the world? </a:t>
            </a:r>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14</a:t>
            </a:fld>
            <a:endParaRPr lang="en-GB"/>
          </a:p>
        </p:txBody>
      </p:sp>
    </p:spTree>
    <p:extLst>
      <p:ext uri="{BB962C8B-B14F-4D97-AF65-F5344CB8AC3E}">
        <p14:creationId xmlns:p14="http://schemas.microsoft.com/office/powerpoint/2010/main" val="3597719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7ED44E1-A176-4790-BF78-5893F47DD259}" type="slidenum">
              <a:rPr lang="en-GB" smtClean="0"/>
              <a:t>15</a:t>
            </a:fld>
            <a:endParaRPr lang="en-GB"/>
          </a:p>
        </p:txBody>
      </p:sp>
    </p:spTree>
    <p:extLst>
      <p:ext uri="{BB962C8B-B14F-4D97-AF65-F5344CB8AC3E}">
        <p14:creationId xmlns:p14="http://schemas.microsoft.com/office/powerpoint/2010/main" val="3890422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Ensuring</a:t>
            </a:r>
            <a:r>
              <a:rPr lang="en-GB" baseline="0" dirty="0" smtClean="0"/>
              <a:t> that school staff are appropriately trained, that behaviour policies recognise the </a:t>
            </a:r>
            <a:r>
              <a:rPr lang="en-GB" baseline="0" dirty="0" err="1" smtClean="0"/>
              <a:t>impotantce</a:t>
            </a:r>
            <a:r>
              <a:rPr lang="en-GB" baseline="0" dirty="0" smtClean="0"/>
              <a:t> of learning opportunities</a:t>
            </a:r>
          </a:p>
          <a:p>
            <a:r>
              <a:rPr lang="en-GB" baseline="0" dirty="0" smtClean="0"/>
              <a:t>Relationships are the source of their difficulties and so it will be the tool for change. </a:t>
            </a:r>
            <a:endParaRPr lang="en-GB" dirty="0"/>
          </a:p>
        </p:txBody>
      </p:sp>
      <p:sp>
        <p:nvSpPr>
          <p:cNvPr id="4" name="Slide Number Placeholder 3"/>
          <p:cNvSpPr>
            <a:spLocks noGrp="1"/>
          </p:cNvSpPr>
          <p:nvPr>
            <p:ph type="sldNum" sz="quarter" idx="10"/>
          </p:nvPr>
        </p:nvSpPr>
        <p:spPr/>
        <p:txBody>
          <a:bodyPr/>
          <a:lstStyle/>
          <a:p>
            <a:fld id="{17ED44E1-A176-4790-BF78-5893F47DD259}" type="slidenum">
              <a:rPr lang="en-GB" smtClean="0"/>
              <a:t>16</a:t>
            </a:fld>
            <a:endParaRPr lang="en-GB"/>
          </a:p>
        </p:txBody>
      </p:sp>
    </p:spTree>
    <p:extLst>
      <p:ext uri="{BB962C8B-B14F-4D97-AF65-F5344CB8AC3E}">
        <p14:creationId xmlns:p14="http://schemas.microsoft.com/office/powerpoint/2010/main" val="3011173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233488"/>
            <a:ext cx="4440238" cy="3332162"/>
          </a:xfrm>
        </p:spPr>
      </p:sp>
      <p:sp>
        <p:nvSpPr>
          <p:cNvPr id="3" name="Notes Placeholder 2"/>
          <p:cNvSpPr>
            <a:spLocks noGrp="1"/>
          </p:cNvSpPr>
          <p:nvPr>
            <p:ph type="body" idx="1"/>
          </p:nvPr>
        </p:nvSpPr>
        <p:spPr/>
        <p:txBody>
          <a:bodyPr/>
          <a:lstStyle/>
          <a:p>
            <a:r>
              <a:rPr lang="en-GB" dirty="0" smtClean="0"/>
              <a:t>Remember how as a baby, the good</a:t>
            </a:r>
            <a:r>
              <a:rPr lang="en-GB" baseline="0" dirty="0" smtClean="0"/>
              <a:t> enough parent would translate the emotions that are being experienced by the infant into something they can handle – we need to do the same for children who have missed this part of development – regardless of chronological age empathy and connection before correction. </a:t>
            </a:r>
          </a:p>
          <a:p>
            <a:r>
              <a:rPr lang="en-GB" baseline="0" dirty="0" smtClean="0"/>
              <a:t>Hour long therapy once a week not enough to heal relational trauma every relationship is a therapeutic tool within a school that can make a </a:t>
            </a:r>
            <a:r>
              <a:rPr lang="en-GB" baseline="0" dirty="0" err="1" smtClean="0"/>
              <a:t>differenc.e</a:t>
            </a:r>
            <a:r>
              <a:rPr lang="en-GB" baseline="0" dirty="0" smtClean="0"/>
              <a:t> </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a:p>
        </p:txBody>
      </p:sp>
    </p:spTree>
    <p:extLst>
      <p:ext uri="{BB962C8B-B14F-4D97-AF65-F5344CB8AC3E}">
        <p14:creationId xmlns:p14="http://schemas.microsoft.com/office/powerpoint/2010/main" val="198363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7ED44E1-A176-4790-BF78-5893F47DD259}" type="slidenum">
              <a:rPr lang="en-GB" smtClean="0"/>
              <a:t>18</a:t>
            </a:fld>
            <a:endParaRPr lang="en-GB"/>
          </a:p>
        </p:txBody>
      </p:sp>
    </p:spTree>
    <p:extLst>
      <p:ext uri="{BB962C8B-B14F-4D97-AF65-F5344CB8AC3E}">
        <p14:creationId xmlns:p14="http://schemas.microsoft.com/office/powerpoint/2010/main" val="3927422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E7CD623-361D-4235-9730-C965AE21D1A6}"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152607031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7CD623-361D-4235-9730-C965AE21D1A6}"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226764301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E7CD623-361D-4235-9730-C965AE21D1A6}"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132716659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E7CD623-361D-4235-9730-C965AE21D1A6}"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153815110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E7CD623-361D-4235-9730-C965AE21D1A6}" type="datetimeFigureOut">
              <a:rPr lang="en-GB" smtClean="0"/>
              <a:t>27/06/2019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3198062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E7CD623-361D-4235-9730-C965AE21D1A6}" type="datetimeFigureOut">
              <a:rPr lang="en-GB" smtClean="0"/>
              <a:t>27/06/2019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32695183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7CD623-361D-4235-9730-C965AE21D1A6}" type="datetimeFigureOut">
              <a:rPr lang="en-GB" smtClean="0"/>
              <a:t>27/06/2019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125741310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7CD623-361D-4235-9730-C965AE21D1A6}"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309593579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7CD623-361D-4235-9730-C965AE21D1A6}"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141767871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7CD623-361D-4235-9730-C965AE21D1A6}"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3267875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7CD623-361D-4235-9730-C965AE21D1A6}"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05B3157-436E-4009-BF23-8A71E1770119}" type="slidenum">
              <a:rPr lang="en-GB" smtClean="0"/>
              <a:t>‹#›</a:t>
            </a:fld>
            <a:endParaRPr lang="en-GB"/>
          </a:p>
        </p:txBody>
      </p:sp>
    </p:spTree>
    <p:extLst>
      <p:ext uri="{BB962C8B-B14F-4D97-AF65-F5344CB8AC3E}">
        <p14:creationId xmlns:p14="http://schemas.microsoft.com/office/powerpoint/2010/main" val="365745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ortrait image with text">
    <p:spTree>
      <p:nvGrpSpPr>
        <p:cNvPr id="1" name=""/>
        <p:cNvGrpSpPr/>
        <p:nvPr/>
      </p:nvGrpSpPr>
      <p:grpSpPr>
        <a:xfrm>
          <a:off x="0" y="0"/>
          <a:ext cx="0" cy="0"/>
          <a:chOff x="0" y="0"/>
          <a:chExt cx="0" cy="0"/>
        </a:xfrm>
      </p:grpSpPr>
      <p:pic>
        <p:nvPicPr>
          <p:cNvPr id="4" name="Picture 2" descr="S:\Childrens Services &amp; Culture\CDSI\PPC - Comms\2540 AfC Rebranding\Branding development\Matter&amp;Co\Master templates\Powerpoint\Powerpoint graphics Virtual School6.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6974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ullets only">
    <p:spTree>
      <p:nvGrpSpPr>
        <p:cNvPr id="1" name=""/>
        <p:cNvGrpSpPr/>
        <p:nvPr/>
      </p:nvGrpSpPr>
      <p:grpSpPr>
        <a:xfrm>
          <a:off x="0" y="0"/>
          <a:ext cx="0" cy="0"/>
          <a:chOff x="0" y="0"/>
          <a:chExt cx="0" cy="0"/>
        </a:xfrm>
      </p:grpSpPr>
      <p:pic>
        <p:nvPicPr>
          <p:cNvPr id="2050" name="Picture 2" descr="S:\Childrens Services &amp; Culture\CDSI\PPC - Comms\2540 AfC Rebranding\Branding development\Matter&amp;Co\Master templates\Powerpoint\Powerpoint graphics Virtual School6.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42656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Grey Backgroun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templates\Powerpoint\Powerpoint graphics Virtual School.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S:\Childrens Services &amp; Culture\CDSI\PPC - Comms\2540 AfC Rebranding\Branding development\Matter&amp;Co\Master Logo Suite\Service Logo\CMYK\EPS\AfC Virtual School\AfC Virtual School reverse.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62400" y="5580000"/>
            <a:ext cx="4840267" cy="84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57803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45C9E7C-5FD4-4D42-A988-A908CEADEB11}"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2956103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45C9E7C-5FD4-4D42-A988-A908CEADEB11}"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1846038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45C9E7C-5FD4-4D42-A988-A908CEADEB11}"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809056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45C9E7C-5FD4-4D42-A988-A908CEADEB11}"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1864709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45C9E7C-5FD4-4D42-A988-A908CEADEB11}" type="datetimeFigureOut">
              <a:rPr lang="en-GB" smtClean="0"/>
              <a:t>27/06/2019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1097849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45C9E7C-5FD4-4D42-A988-A908CEADEB11}" type="datetimeFigureOut">
              <a:rPr lang="en-GB" smtClean="0"/>
              <a:t>27/06/2019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898116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5C9E7C-5FD4-4D42-A988-A908CEADEB11}" type="datetimeFigureOut">
              <a:rPr lang="en-GB" smtClean="0"/>
              <a:t>27/06/2019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836408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5C9E7C-5FD4-4D42-A988-A908CEADEB11}"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3527549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5C9E7C-5FD4-4D42-A988-A908CEADEB11}" type="datetimeFigureOut">
              <a:rPr lang="en-GB" smtClean="0"/>
              <a:t>27/06/2019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28937709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45C9E7C-5FD4-4D42-A988-A908CEADEB11}"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2559975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45C9E7C-5FD4-4D42-A988-A908CEADEB11}" type="datetimeFigureOut">
              <a:rPr lang="en-GB" smtClean="0"/>
              <a:t>27/06/2019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D2C657-F532-4686-8B6A-DE1032182C36}" type="slidenum">
              <a:rPr lang="en-GB" smtClean="0"/>
              <a:t>‹#›</a:t>
            </a:fld>
            <a:endParaRPr lang="en-GB"/>
          </a:p>
        </p:txBody>
      </p:sp>
    </p:spTree>
    <p:extLst>
      <p:ext uri="{BB962C8B-B14F-4D97-AF65-F5344CB8AC3E}">
        <p14:creationId xmlns:p14="http://schemas.microsoft.com/office/powerpoint/2010/main" val="1092195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7CD623-361D-4235-9730-C965AE21D1A6}" type="datetimeFigureOut">
              <a:rPr lang="en-GB" smtClean="0"/>
              <a:t>27/06/2019</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B3157-436E-4009-BF23-8A71E1770119}" type="slidenum">
              <a:rPr lang="en-GB" smtClean="0"/>
              <a:t>‹#›</a:t>
            </a:fld>
            <a:endParaRPr lang="en-GB"/>
          </a:p>
        </p:txBody>
      </p:sp>
    </p:spTree>
    <p:extLst>
      <p:ext uri="{BB962C8B-B14F-4D97-AF65-F5344CB8AC3E}">
        <p14:creationId xmlns:p14="http://schemas.microsoft.com/office/powerpoint/2010/main" val="14230346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6" r:id="rId12"/>
    <p:sldLayoutId id="2147483677" r:id="rId13"/>
    <p:sldLayoutId id="2147483678"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5C9E7C-5FD4-4D42-A988-A908CEADEB11}" type="datetimeFigureOut">
              <a:rPr lang="en-GB" smtClean="0"/>
              <a:t>27/06/2019</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2C657-F532-4686-8B6A-DE1032182C36}" type="slidenum">
              <a:rPr lang="en-GB" smtClean="0"/>
              <a:t>‹#›</a:t>
            </a:fld>
            <a:endParaRPr lang="en-GB"/>
          </a:p>
        </p:txBody>
      </p:sp>
    </p:spTree>
    <p:extLst>
      <p:ext uri="{BB962C8B-B14F-4D97-AF65-F5344CB8AC3E}">
        <p14:creationId xmlns:p14="http://schemas.microsoft.com/office/powerpoint/2010/main" val="372466999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1.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B74398"/>
            </a:solidFill>
          </a:ln>
          <a:effectLst/>
        </p:spPr>
        <p:style>
          <a:lnRef idx="2">
            <a:schemeClr val="accent1"/>
          </a:lnRef>
          <a:fillRef idx="0">
            <a:schemeClr val="accent1"/>
          </a:fillRef>
          <a:effectRef idx="1">
            <a:schemeClr val="accent1"/>
          </a:effectRef>
          <a:fontRef idx="minor">
            <a:schemeClr val="tx1"/>
          </a:fontRef>
        </p:style>
      </p:cxnSp>
      <p:sp>
        <p:nvSpPr>
          <p:cNvPr id="5" name="Text Placeholder 1"/>
          <p:cNvSpPr>
            <a:spLocks noGrp="1"/>
          </p:cNvSpPr>
          <p:nvPr>
            <p:ph type="body" sz="quarter" idx="4294967295"/>
          </p:nvPr>
        </p:nvSpPr>
        <p:spPr>
          <a:xfrm>
            <a:off x="1939925" y="1554481"/>
            <a:ext cx="6198235" cy="2168208"/>
          </a:xfrm>
        </p:spPr>
        <p:txBody>
          <a:bodyPr>
            <a:normAutofit/>
          </a:bodyPr>
          <a:lstStyle/>
          <a:p>
            <a:pPr marL="0" indent="0" algn="ctr">
              <a:buNone/>
            </a:pPr>
            <a:r>
              <a:rPr lang="en-GB" sz="4800" dirty="0">
                <a:solidFill>
                  <a:schemeClr val="bg1"/>
                </a:solidFill>
              </a:rPr>
              <a:t>Attachment </a:t>
            </a:r>
            <a:r>
              <a:rPr lang="en-GB" sz="4800" dirty="0" smtClean="0">
                <a:solidFill>
                  <a:schemeClr val="bg1"/>
                </a:solidFill>
              </a:rPr>
              <a:t>Theory</a:t>
            </a:r>
          </a:p>
          <a:p>
            <a:pPr marL="0" indent="0" algn="ctr">
              <a:buNone/>
            </a:pPr>
            <a:r>
              <a:rPr lang="en-GB" sz="2400" dirty="0" smtClean="0">
                <a:solidFill>
                  <a:schemeClr val="bg1"/>
                </a:solidFill>
              </a:rPr>
              <a:t>Supporting  the </a:t>
            </a:r>
            <a:r>
              <a:rPr lang="en-GB" sz="2400" dirty="0">
                <a:solidFill>
                  <a:schemeClr val="bg1"/>
                </a:solidFill>
              </a:rPr>
              <a:t>needs of looked after and previously looked after children</a:t>
            </a:r>
          </a:p>
          <a:p>
            <a:pPr marL="0" indent="0" algn="ctr">
              <a:buNone/>
            </a:pPr>
            <a:endParaRPr lang="en-GB" sz="2400" dirty="0" smtClean="0">
              <a:solidFill>
                <a:schemeClr val="bg1"/>
              </a:solidFill>
            </a:endParaRPr>
          </a:p>
        </p:txBody>
      </p:sp>
      <p:sp>
        <p:nvSpPr>
          <p:cNvPr id="6" name="Text Placeholder 2"/>
          <p:cNvSpPr>
            <a:spLocks noGrp="1"/>
          </p:cNvSpPr>
          <p:nvPr>
            <p:ph type="body" sz="quarter" idx="4294967295"/>
          </p:nvPr>
        </p:nvSpPr>
        <p:spPr>
          <a:xfrm>
            <a:off x="1939925" y="3998913"/>
            <a:ext cx="5401401" cy="1213167"/>
          </a:xfrm>
        </p:spPr>
        <p:txBody>
          <a:bodyPr>
            <a:normAutofit/>
          </a:bodyPr>
          <a:lstStyle/>
          <a:p>
            <a:pPr marL="0" indent="0" algn="ctr" eaLnBrk="1" hangingPunct="1">
              <a:buNone/>
            </a:pPr>
            <a:r>
              <a:rPr lang="en-GB" sz="1800" dirty="0" smtClean="0">
                <a:solidFill>
                  <a:schemeClr val="bg1"/>
                </a:solidFill>
              </a:rPr>
              <a:t>Dr Beth Turner</a:t>
            </a:r>
          </a:p>
          <a:p>
            <a:pPr marL="0" indent="0" algn="ctr" eaLnBrk="1" hangingPunct="1">
              <a:buNone/>
            </a:pPr>
            <a:r>
              <a:rPr lang="en-GB" sz="1800" dirty="0" smtClean="0">
                <a:solidFill>
                  <a:schemeClr val="bg1"/>
                </a:solidFill>
              </a:rPr>
              <a:t>Specialist Educational Psychologist for the Virtual School</a:t>
            </a:r>
          </a:p>
          <a:p>
            <a:pPr marL="0" indent="0" algn="ctr" eaLnBrk="1" hangingPunct="1">
              <a:buNone/>
            </a:pPr>
            <a:r>
              <a:rPr lang="en-GB" sz="1800" dirty="0" smtClean="0">
                <a:solidFill>
                  <a:schemeClr val="bg1"/>
                </a:solidFill>
              </a:rPr>
              <a:t>Windsor and Maidenhead</a:t>
            </a:r>
          </a:p>
          <a:p>
            <a:pPr algn="ctr" eaLnBrk="1" hangingPunct="1"/>
            <a:endParaRPr lang="en-GB" dirty="0">
              <a:solidFill>
                <a:schemeClr val="bg1"/>
              </a:solidFill>
            </a:endParaRPr>
          </a:p>
        </p:txBody>
      </p:sp>
    </p:spTree>
    <p:extLst>
      <p:ext uri="{BB962C8B-B14F-4D97-AF65-F5344CB8AC3E}">
        <p14:creationId xmlns:p14="http://schemas.microsoft.com/office/powerpoint/2010/main" val="4292149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38991" y="1073120"/>
            <a:ext cx="5021262" cy="377825"/>
          </a:xfrm>
        </p:spPr>
        <p:txBody>
          <a:bodyPr>
            <a:normAutofit fontScale="90000"/>
          </a:bodyPr>
          <a:lstStyle/>
          <a:p>
            <a:r>
              <a:rPr lang="en-GB" dirty="0" smtClean="0"/>
              <a:t>Attachment Theory</a:t>
            </a:r>
            <a:endParaRPr lang="en-GB" dirty="0"/>
          </a:p>
        </p:txBody>
      </p:sp>
      <p:sp>
        <p:nvSpPr>
          <p:cNvPr id="3" name="Content Placeholder 2"/>
          <p:cNvSpPr>
            <a:spLocks noGrp="1"/>
          </p:cNvSpPr>
          <p:nvPr>
            <p:ph idx="4294967295"/>
          </p:nvPr>
        </p:nvSpPr>
        <p:spPr>
          <a:xfrm>
            <a:off x="1746209" y="2019136"/>
            <a:ext cx="6831453" cy="3514459"/>
          </a:xfrm>
        </p:spPr>
        <p:txBody>
          <a:bodyPr>
            <a:normAutofit/>
          </a:bodyPr>
          <a:lstStyle/>
          <a:p>
            <a:pPr marL="0" indent="0">
              <a:buNone/>
              <a:defRPr/>
            </a:pPr>
            <a:r>
              <a:rPr lang="en-US" sz="2000" i="1" dirty="0">
                <a:solidFill>
                  <a:schemeClr val="tx2"/>
                </a:solidFill>
              </a:rPr>
              <a:t>“lasting psychological connectedness between human beings”</a:t>
            </a:r>
          </a:p>
          <a:p>
            <a:pPr marL="0" indent="0" algn="r">
              <a:buNone/>
              <a:defRPr/>
            </a:pPr>
            <a:r>
              <a:rPr lang="en-US" sz="1500" dirty="0">
                <a:solidFill>
                  <a:schemeClr val="tx2"/>
                </a:solidFill>
              </a:rPr>
              <a:t>(John Bowlby, 1969, p.194)</a:t>
            </a:r>
          </a:p>
          <a:p>
            <a:pPr>
              <a:lnSpc>
                <a:spcPct val="90000"/>
              </a:lnSpc>
              <a:buFontTx/>
              <a:buNone/>
            </a:pPr>
            <a:r>
              <a:rPr lang="en-GB" altLang="en-US" sz="1500" dirty="0">
                <a:ea typeface="ＭＳ Ｐゴシック" pitchFamily="34" charset="-128"/>
              </a:rPr>
              <a:t>	</a:t>
            </a:r>
          </a:p>
          <a:p>
            <a:pPr>
              <a:lnSpc>
                <a:spcPct val="90000"/>
              </a:lnSpc>
              <a:buFontTx/>
              <a:buNone/>
            </a:pPr>
            <a:endParaRPr lang="en-GB" altLang="en-US" sz="1500" dirty="0">
              <a:solidFill>
                <a:schemeClr val="tx2"/>
              </a:solidFill>
              <a:ea typeface="ＭＳ Ｐゴシック" pitchFamily="34" charset="-128"/>
            </a:endParaRPr>
          </a:p>
          <a:p>
            <a:pPr>
              <a:lnSpc>
                <a:spcPct val="90000"/>
              </a:lnSpc>
              <a:buFontTx/>
              <a:buNone/>
            </a:pPr>
            <a:r>
              <a:rPr lang="en-GB" altLang="en-US" sz="1500" dirty="0">
                <a:solidFill>
                  <a:schemeClr val="tx2"/>
                </a:solidFill>
                <a:ea typeface="ＭＳ Ｐゴシック" pitchFamily="34" charset="-128"/>
              </a:rPr>
              <a:t>Attachment is about </a:t>
            </a:r>
            <a:r>
              <a:rPr lang="en-GB" altLang="en-US" sz="1950" b="1" dirty="0">
                <a:solidFill>
                  <a:schemeClr val="tx2"/>
                </a:solidFill>
                <a:ea typeface="ＭＳ Ｐゴシック" pitchFamily="34" charset="-128"/>
              </a:rPr>
              <a:t>relationships</a:t>
            </a:r>
            <a:r>
              <a:rPr lang="en-GB" altLang="en-US" sz="1950" dirty="0">
                <a:solidFill>
                  <a:schemeClr val="tx2"/>
                </a:solidFill>
                <a:ea typeface="ＭＳ Ｐゴシック" pitchFamily="34" charset="-128"/>
              </a:rPr>
              <a:t>, </a:t>
            </a:r>
            <a:r>
              <a:rPr lang="en-GB" altLang="en-US" sz="1500" dirty="0">
                <a:solidFill>
                  <a:schemeClr val="tx2"/>
                </a:solidFill>
                <a:ea typeface="ＭＳ Ｐゴシック" pitchFamily="34" charset="-128"/>
              </a:rPr>
              <a:t>and our </a:t>
            </a:r>
            <a:r>
              <a:rPr lang="en-GB" altLang="en-US" sz="1500" i="1" dirty="0">
                <a:solidFill>
                  <a:schemeClr val="tx2"/>
                </a:solidFill>
                <a:ea typeface="ＭＳ Ｐゴシック" pitchFamily="34" charset="-128"/>
              </a:rPr>
              <a:t>mental models</a:t>
            </a:r>
            <a:r>
              <a:rPr lang="en-GB" altLang="en-US" sz="1500" dirty="0">
                <a:solidFill>
                  <a:schemeClr val="tx2"/>
                </a:solidFill>
                <a:ea typeface="ＭＳ Ｐゴシック" pitchFamily="34" charset="-128"/>
              </a:rPr>
              <a:t> of relationships.  A child’s first attachment is vitally important.  The carers ability to </a:t>
            </a:r>
            <a:r>
              <a:rPr lang="en-GB" altLang="en-US" sz="1950" b="1" dirty="0">
                <a:solidFill>
                  <a:schemeClr val="tx2"/>
                </a:solidFill>
                <a:ea typeface="ＭＳ Ｐゴシック" pitchFamily="34" charset="-128"/>
              </a:rPr>
              <a:t>attune</a:t>
            </a:r>
            <a:r>
              <a:rPr lang="en-GB" altLang="en-US" sz="1500" b="1" dirty="0">
                <a:solidFill>
                  <a:schemeClr val="tx2"/>
                </a:solidFill>
                <a:ea typeface="ＭＳ Ｐゴシック" pitchFamily="34" charset="-128"/>
              </a:rPr>
              <a:t> </a:t>
            </a:r>
            <a:r>
              <a:rPr lang="en-GB" altLang="en-US" sz="1500" dirty="0">
                <a:solidFill>
                  <a:schemeClr val="tx2"/>
                </a:solidFill>
                <a:ea typeface="ＭＳ Ｐゴシック" pitchFamily="34" charset="-128"/>
              </a:rPr>
              <a:t>themselves</a:t>
            </a:r>
            <a:r>
              <a:rPr lang="en-GB" altLang="en-US" sz="1500" b="1" dirty="0">
                <a:solidFill>
                  <a:schemeClr val="tx2"/>
                </a:solidFill>
                <a:ea typeface="ＭＳ Ｐゴシック" pitchFamily="34" charset="-128"/>
              </a:rPr>
              <a:t> </a:t>
            </a:r>
            <a:r>
              <a:rPr lang="en-GB" altLang="en-US" sz="1500" dirty="0">
                <a:solidFill>
                  <a:schemeClr val="tx2"/>
                </a:solidFill>
                <a:ea typeface="ＭＳ Ｐゴシック" pitchFamily="34" charset="-128"/>
              </a:rPr>
              <a:t>to the infant’s needs, and to</a:t>
            </a:r>
            <a:r>
              <a:rPr lang="en-GB" altLang="en-US" sz="1500" b="1" dirty="0">
                <a:solidFill>
                  <a:schemeClr val="tx2"/>
                </a:solidFill>
                <a:ea typeface="ＭＳ Ｐゴシック" pitchFamily="34" charset="-128"/>
              </a:rPr>
              <a:t> </a:t>
            </a:r>
            <a:r>
              <a:rPr lang="en-GB" altLang="en-US" sz="1950" b="1" dirty="0">
                <a:solidFill>
                  <a:schemeClr val="tx2"/>
                </a:solidFill>
                <a:ea typeface="ＭＳ Ｐゴシック" pitchFamily="34" charset="-128"/>
              </a:rPr>
              <a:t>respond</a:t>
            </a:r>
            <a:r>
              <a:rPr lang="en-GB" altLang="en-US" sz="1500" b="1" dirty="0">
                <a:solidFill>
                  <a:schemeClr val="tx2"/>
                </a:solidFill>
                <a:ea typeface="ＭＳ Ｐゴシック" pitchFamily="34" charset="-128"/>
              </a:rPr>
              <a:t> </a:t>
            </a:r>
            <a:r>
              <a:rPr lang="en-GB" altLang="en-US" sz="1500" dirty="0">
                <a:solidFill>
                  <a:schemeClr val="tx2"/>
                </a:solidFill>
                <a:ea typeface="ＭＳ Ｐゴシック" pitchFamily="34" charset="-128"/>
              </a:rPr>
              <a:t>appropriately, is important for the development of a secure attachment.</a:t>
            </a:r>
          </a:p>
          <a:p>
            <a:pPr>
              <a:lnSpc>
                <a:spcPct val="90000"/>
              </a:lnSpc>
              <a:buFontTx/>
              <a:buNone/>
            </a:pPr>
            <a:endParaRPr lang="en-GB" altLang="en-US" sz="1500" dirty="0">
              <a:solidFill>
                <a:schemeClr val="tx2"/>
              </a:solidFill>
              <a:ea typeface="ＭＳ Ｐゴシック" pitchFamily="34" charset="-128"/>
            </a:endParaRPr>
          </a:p>
          <a:p>
            <a:pPr>
              <a:lnSpc>
                <a:spcPct val="90000"/>
              </a:lnSpc>
              <a:buFontTx/>
              <a:buNone/>
            </a:pPr>
            <a:endParaRPr lang="en-GB" altLang="en-US" sz="1500" dirty="0">
              <a:solidFill>
                <a:schemeClr val="tx2"/>
              </a:solidFill>
              <a:ea typeface="ＭＳ Ｐゴシック" pitchFamily="34" charset="-128"/>
            </a:endParaRPr>
          </a:p>
          <a:p>
            <a:pPr>
              <a:lnSpc>
                <a:spcPct val="90000"/>
              </a:lnSpc>
              <a:buFontTx/>
              <a:buNone/>
            </a:pPr>
            <a:r>
              <a:rPr lang="en-GB" altLang="en-US" sz="1500" dirty="0">
                <a:solidFill>
                  <a:schemeClr val="tx2"/>
                </a:solidFill>
                <a:ea typeface="ＭＳ Ｐゴシック" pitchFamily="34" charset="-128"/>
              </a:rPr>
              <a:t> </a:t>
            </a:r>
          </a:p>
          <a:p>
            <a:pPr>
              <a:lnSpc>
                <a:spcPct val="90000"/>
              </a:lnSpc>
              <a:buFontTx/>
              <a:buNone/>
            </a:pPr>
            <a:endParaRPr lang="en-GB" altLang="en-US" sz="1500" dirty="0">
              <a:solidFill>
                <a:schemeClr val="tx2"/>
              </a:solidFill>
              <a:ea typeface="ＭＳ Ｐゴシック" pitchFamily="34" charset="-128"/>
            </a:endParaRPr>
          </a:p>
          <a:p>
            <a:pPr marL="0" indent="0">
              <a:buNone/>
            </a:pPr>
            <a:endParaRPr lang="en-GB" dirty="0"/>
          </a:p>
        </p:txBody>
      </p:sp>
      <p:pic>
        <p:nvPicPr>
          <p:cNvPr id="4" name="Picture 3" descr="Lov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094" y="4445544"/>
            <a:ext cx="1376363"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961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2809" y="1301837"/>
            <a:ext cx="5563673"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8036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8404" y="2800526"/>
            <a:ext cx="1510323" cy="135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5057" y="1220337"/>
            <a:ext cx="1550194" cy="16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Cloud Callout 11"/>
          <p:cNvSpPr/>
          <p:nvPr/>
        </p:nvSpPr>
        <p:spPr>
          <a:xfrm>
            <a:off x="3193256" y="953691"/>
            <a:ext cx="2457450" cy="1610086"/>
          </a:xfrm>
          <a:prstGeom prst="cloudCallout">
            <a:avLst>
              <a:gd name="adj1" fmla="val -12449"/>
              <a:gd name="adj2" fmla="val 64962"/>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3" name="Cloud Callout 12"/>
          <p:cNvSpPr/>
          <p:nvPr/>
        </p:nvSpPr>
        <p:spPr>
          <a:xfrm>
            <a:off x="5750094" y="1013417"/>
            <a:ext cx="2457450" cy="2464594"/>
          </a:xfrm>
          <a:prstGeom prst="cloudCallout">
            <a:avLst>
              <a:gd name="adj1" fmla="val -104754"/>
              <a:gd name="adj2" fmla="val 28192"/>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 name="Cloud Callout 3"/>
          <p:cNvSpPr/>
          <p:nvPr/>
        </p:nvSpPr>
        <p:spPr>
          <a:xfrm>
            <a:off x="1235745" y="1710791"/>
            <a:ext cx="1678781" cy="1814180"/>
          </a:xfrm>
          <a:prstGeom prst="cloudCallout">
            <a:avLst>
              <a:gd name="adj1" fmla="val 107426"/>
              <a:gd name="adj2" fmla="val 16132"/>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4104" name="Picture 8" descr="C:\Users\Sara\AppData\Local\Microsoft\Windows\INetCache\IE\M6BDVHJ6\self-evaluation[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007" y="1955705"/>
            <a:ext cx="949787" cy="94978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581147" y="2876300"/>
            <a:ext cx="1000125" cy="464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50" b="1" dirty="0">
                <a:solidFill>
                  <a:schemeClr val="tx1"/>
                </a:solidFill>
                <a:latin typeface="Calibri" panose="020F0502020204030204" pitchFamily="34" charset="0"/>
                <a:cs typeface="Calibri" panose="020F0502020204030204" pitchFamily="34" charset="0"/>
              </a:rPr>
              <a:t>I am…</a:t>
            </a:r>
            <a:r>
              <a:rPr lang="en-GB" sz="1350" b="1" dirty="0">
                <a:latin typeface="Calibri" panose="020F0502020204030204" pitchFamily="34" charset="0"/>
                <a:cs typeface="Calibri" panose="020F0502020204030204" pitchFamily="34" charset="0"/>
              </a:rPr>
              <a:t>…</a:t>
            </a:r>
          </a:p>
        </p:txBody>
      </p:sp>
      <p:sp>
        <p:nvSpPr>
          <p:cNvPr id="15" name="Rectangle 14"/>
          <p:cNvSpPr/>
          <p:nvPr/>
        </p:nvSpPr>
        <p:spPr>
          <a:xfrm>
            <a:off x="6415087" y="2617881"/>
            <a:ext cx="1300163" cy="464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50" b="1" dirty="0">
                <a:solidFill>
                  <a:schemeClr val="tx1"/>
                </a:solidFill>
                <a:latin typeface="Calibri" panose="020F0502020204030204" pitchFamily="34" charset="0"/>
                <a:cs typeface="Calibri" panose="020F0502020204030204" pitchFamily="34" charset="0"/>
              </a:rPr>
              <a:t>The world is...</a:t>
            </a:r>
            <a:r>
              <a:rPr lang="en-GB" sz="1350" b="1" dirty="0">
                <a:latin typeface="Calibri" panose="020F0502020204030204" pitchFamily="34" charset="0"/>
                <a:cs typeface="Calibri" panose="020F0502020204030204" pitchFamily="34" charset="0"/>
              </a:rPr>
              <a:t>…</a:t>
            </a:r>
          </a:p>
        </p:txBody>
      </p:sp>
      <p:pic>
        <p:nvPicPr>
          <p:cNvPr id="4105" name="Picture 9" descr="C:\Users\Sara\AppData\Local\Microsoft\Windows\INetCache\IE\E2VBB527\LuckyOliver-1997455-blog-group_of_peopl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09392" y="1480542"/>
            <a:ext cx="950327" cy="95032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3821907" y="1228726"/>
            <a:ext cx="1714501" cy="464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50" b="1" dirty="0">
                <a:solidFill>
                  <a:schemeClr val="tx1"/>
                </a:solidFill>
                <a:latin typeface="Calibri" panose="020F0502020204030204" pitchFamily="34" charset="0"/>
                <a:cs typeface="Calibri" panose="020F0502020204030204" pitchFamily="34" charset="0"/>
              </a:rPr>
              <a:t>Other people are….</a:t>
            </a:r>
            <a:r>
              <a:rPr lang="en-GB" sz="1350" b="1" dirty="0">
                <a:latin typeface="Calibri" panose="020F0502020204030204" pitchFamily="34" charset="0"/>
                <a:cs typeface="Calibri" panose="020F0502020204030204" pitchFamily="34" charset="0"/>
              </a:rPr>
              <a:t>…</a:t>
            </a:r>
          </a:p>
        </p:txBody>
      </p:sp>
      <p:sp>
        <p:nvSpPr>
          <p:cNvPr id="2" name="TextBox 1"/>
          <p:cNvSpPr txBox="1"/>
          <p:nvPr/>
        </p:nvSpPr>
        <p:spPr>
          <a:xfrm>
            <a:off x="4464594" y="407864"/>
            <a:ext cx="2372223" cy="300082"/>
          </a:xfrm>
          <a:prstGeom prst="rect">
            <a:avLst/>
          </a:prstGeom>
          <a:noFill/>
        </p:spPr>
        <p:txBody>
          <a:bodyPr wrap="square" rtlCol="0">
            <a:spAutoFit/>
          </a:bodyPr>
          <a:lstStyle/>
          <a:p>
            <a:r>
              <a:rPr lang="en-GB" sz="1350" dirty="0"/>
              <a:t>Our Inner Working Model</a:t>
            </a:r>
          </a:p>
        </p:txBody>
      </p:sp>
      <p:sp>
        <p:nvSpPr>
          <p:cNvPr id="14" name="Rectangle 13"/>
          <p:cNvSpPr/>
          <p:nvPr/>
        </p:nvSpPr>
        <p:spPr>
          <a:xfrm>
            <a:off x="2040122" y="4591796"/>
            <a:ext cx="5239193" cy="1193404"/>
          </a:xfrm>
          <a:prstGeom prst="rect">
            <a:avLst/>
          </a:prstGeom>
        </p:spPr>
        <p:txBody>
          <a:bodyPr wrap="square">
            <a:spAutoFit/>
          </a:bodyPr>
          <a:lstStyle/>
          <a:p>
            <a:pPr>
              <a:lnSpc>
                <a:spcPct val="90000"/>
              </a:lnSpc>
              <a:buFontTx/>
              <a:buNone/>
            </a:pPr>
            <a:r>
              <a:rPr lang="en-GB" altLang="en-US" sz="1500" dirty="0">
                <a:solidFill>
                  <a:schemeClr val="tx2"/>
                </a:solidFill>
                <a:ea typeface="ＭＳ Ｐゴシック" pitchFamily="34" charset="-128"/>
              </a:rPr>
              <a:t>Through consistent, sensitive and timely responses to their needs, the infant acquires a basic </a:t>
            </a:r>
            <a:r>
              <a:rPr lang="en-GB" altLang="en-US" sz="1950" b="1" dirty="0">
                <a:solidFill>
                  <a:schemeClr val="tx2"/>
                </a:solidFill>
                <a:ea typeface="ＭＳ Ｐゴシック" pitchFamily="34" charset="-128"/>
              </a:rPr>
              <a:t>trust</a:t>
            </a:r>
            <a:r>
              <a:rPr lang="en-GB" altLang="en-US" sz="1500" dirty="0">
                <a:solidFill>
                  <a:schemeClr val="tx2"/>
                </a:solidFill>
                <a:ea typeface="ＭＳ Ｐゴシック" pitchFamily="34" charset="-128"/>
              </a:rPr>
              <a:t>: </a:t>
            </a:r>
          </a:p>
          <a:p>
            <a:pPr lvl="1">
              <a:lnSpc>
                <a:spcPct val="90000"/>
              </a:lnSpc>
              <a:buFont typeface="Wingdings" pitchFamily="2" charset="2"/>
              <a:buChar char="v"/>
            </a:pPr>
            <a:r>
              <a:rPr lang="en-GB" altLang="en-US" sz="1500" dirty="0">
                <a:solidFill>
                  <a:schemeClr val="tx2"/>
                </a:solidFill>
                <a:ea typeface="ＭＳ Ｐゴシック" pitchFamily="34" charset="-128"/>
              </a:rPr>
              <a:t>in others as responsive</a:t>
            </a:r>
          </a:p>
          <a:p>
            <a:pPr lvl="1">
              <a:lnSpc>
                <a:spcPct val="90000"/>
              </a:lnSpc>
              <a:buFont typeface="Wingdings" pitchFamily="2" charset="2"/>
              <a:buChar char="v"/>
            </a:pPr>
            <a:r>
              <a:rPr lang="en-GB" altLang="en-US" sz="1500" dirty="0">
                <a:solidFill>
                  <a:schemeClr val="tx2"/>
                </a:solidFill>
                <a:ea typeface="ＭＳ Ｐゴシック" pitchFamily="34" charset="-128"/>
              </a:rPr>
              <a:t>in the world as a benign place </a:t>
            </a:r>
          </a:p>
          <a:p>
            <a:pPr lvl="1">
              <a:lnSpc>
                <a:spcPct val="90000"/>
              </a:lnSpc>
              <a:buFont typeface="Wingdings" pitchFamily="2" charset="2"/>
              <a:buChar char="v"/>
            </a:pPr>
            <a:r>
              <a:rPr lang="en-GB" altLang="en-US" sz="1500" dirty="0">
                <a:solidFill>
                  <a:schemeClr val="tx2"/>
                </a:solidFill>
                <a:ea typeface="ＭＳ Ｐゴシック" pitchFamily="34" charset="-128"/>
              </a:rPr>
              <a:t>and in themselves as able to communicate their needs</a:t>
            </a:r>
          </a:p>
        </p:txBody>
      </p:sp>
    </p:spTree>
    <p:extLst>
      <p:ext uri="{BB962C8B-B14F-4D97-AF65-F5344CB8AC3E}">
        <p14:creationId xmlns:p14="http://schemas.microsoft.com/office/powerpoint/2010/main" val="3519924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4" grpId="0" animBg="1"/>
      <p:bldP spid="5" grpId="0" build="allAtOnce"/>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43725" y="1718488"/>
            <a:ext cx="5799032" cy="3245588"/>
          </a:xfrm>
          <a:prstGeom prst="rect">
            <a:avLst/>
          </a:prstGeom>
        </p:spPr>
      </p:pic>
    </p:spTree>
    <p:extLst>
      <p:ext uri="{BB962C8B-B14F-4D97-AF65-F5344CB8AC3E}">
        <p14:creationId xmlns:p14="http://schemas.microsoft.com/office/powerpoint/2010/main" val="4308307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Object 4"/>
          <p:cNvGraphicFramePr>
            <a:graphicFrameLocks noChangeAspect="1"/>
          </p:cNvGraphicFramePr>
          <p:nvPr/>
        </p:nvGraphicFramePr>
        <p:xfrm>
          <a:off x="3178970" y="2518173"/>
          <a:ext cx="2311133" cy="2228593"/>
        </p:xfrm>
        <a:graphic>
          <a:graphicData uri="http://schemas.openxmlformats.org/presentationml/2006/ole">
            <mc:AlternateContent xmlns:mc="http://schemas.openxmlformats.org/markup-compatibility/2006">
              <mc:Choice xmlns:v="urn:schemas-microsoft-com:vml" Requires="v">
                <p:oleObj spid="_x0000_s1045" name="Photo Editor Photo" r:id="rId4" imgW="2142857" imgH="2324424" progId="MSPhotoEd.3">
                  <p:embed/>
                </p:oleObj>
              </mc:Choice>
              <mc:Fallback>
                <p:oleObj name="Photo Editor Photo" r:id="rId4" imgW="2142857" imgH="2324424"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8970" y="2518173"/>
                        <a:ext cx="2311133" cy="2228593"/>
                      </a:xfrm>
                      <a:prstGeom prst="rect">
                        <a:avLst/>
                      </a:prstGeom>
                      <a:noFill/>
                      <a:ln>
                        <a:noFill/>
                      </a:ln>
                      <a:effectLst/>
                      <a:extLst/>
                    </p:spPr>
                  </p:pic>
                </p:oleObj>
              </mc:Fallback>
            </mc:AlternateContent>
          </a:graphicData>
        </a:graphic>
      </p:graphicFrame>
      <p:sp>
        <p:nvSpPr>
          <p:cNvPr id="32771" name="Text Box 12"/>
          <p:cNvSpPr txBox="1">
            <a:spLocks noChangeArrowheads="1"/>
          </p:cNvSpPr>
          <p:nvPr/>
        </p:nvSpPr>
        <p:spPr bwMode="auto">
          <a:xfrm>
            <a:off x="954537" y="2887138"/>
            <a:ext cx="1885950" cy="669414"/>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spcBef>
                <a:spcPct val="50000"/>
              </a:spcBef>
              <a:buFontTx/>
              <a:buNone/>
            </a:pPr>
            <a:r>
              <a:rPr lang="en-GB" altLang="en-US" sz="1500">
                <a:latin typeface="Times New Roman" pitchFamily="18" charset="0"/>
              </a:rPr>
              <a:t>Higher human brain</a:t>
            </a:r>
            <a:endParaRPr lang="en-US" altLang="en-US" sz="1500">
              <a:latin typeface="Times New Roman" pitchFamily="18" charset="0"/>
            </a:endParaRPr>
          </a:p>
          <a:p>
            <a:pPr>
              <a:spcBef>
                <a:spcPct val="50000"/>
              </a:spcBef>
              <a:buFontTx/>
              <a:buNone/>
            </a:pPr>
            <a:r>
              <a:rPr lang="en-US" altLang="en-US" sz="1500">
                <a:latin typeface="Times New Roman" pitchFamily="18" charset="0"/>
              </a:rPr>
              <a:t>      (thinking)</a:t>
            </a:r>
            <a:endParaRPr lang="en-GB" altLang="en-US" sz="1500">
              <a:latin typeface="Times New Roman" pitchFamily="18" charset="0"/>
            </a:endParaRPr>
          </a:p>
        </p:txBody>
      </p:sp>
      <p:sp>
        <p:nvSpPr>
          <p:cNvPr id="32772" name="Text Box 8"/>
          <p:cNvSpPr txBox="1">
            <a:spLocks noChangeArrowheads="1"/>
          </p:cNvSpPr>
          <p:nvPr/>
        </p:nvSpPr>
        <p:spPr bwMode="auto">
          <a:xfrm>
            <a:off x="5587733" y="2255044"/>
            <a:ext cx="1766888" cy="55399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spcBef>
                <a:spcPct val="0"/>
              </a:spcBef>
              <a:buFontTx/>
              <a:buNone/>
            </a:pPr>
            <a:r>
              <a:rPr lang="en-GB" altLang="en-US" sz="1500" dirty="0">
                <a:latin typeface="Times New Roman" pitchFamily="18" charset="0"/>
              </a:rPr>
              <a:t>Mammalian brain</a:t>
            </a:r>
            <a:endParaRPr lang="en-US" altLang="en-US" sz="1500">
              <a:latin typeface="Times New Roman" pitchFamily="18" charset="0"/>
            </a:endParaRPr>
          </a:p>
          <a:p>
            <a:pPr>
              <a:spcBef>
                <a:spcPct val="0"/>
              </a:spcBef>
              <a:buFontTx/>
              <a:buNone/>
            </a:pPr>
            <a:r>
              <a:rPr lang="en-US" altLang="en-US" sz="1500" dirty="0">
                <a:latin typeface="Times New Roman" pitchFamily="18" charset="0"/>
              </a:rPr>
              <a:t>      (feeling)</a:t>
            </a:r>
            <a:endParaRPr lang="en-GB" altLang="en-US" sz="1500">
              <a:latin typeface="Times New Roman" pitchFamily="18" charset="0"/>
            </a:endParaRPr>
          </a:p>
        </p:txBody>
      </p:sp>
      <p:sp>
        <p:nvSpPr>
          <p:cNvPr id="32773" name="Text Box 6"/>
          <p:cNvSpPr txBox="1">
            <a:spLocks noChangeArrowheads="1"/>
          </p:cNvSpPr>
          <p:nvPr/>
        </p:nvSpPr>
        <p:spPr bwMode="auto">
          <a:xfrm>
            <a:off x="5834788" y="3699031"/>
            <a:ext cx="1329210" cy="55399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spcBef>
                <a:spcPct val="0"/>
              </a:spcBef>
              <a:buFontTx/>
              <a:buNone/>
            </a:pPr>
            <a:r>
              <a:rPr lang="en-GB" altLang="en-US" sz="1500" dirty="0">
                <a:latin typeface="Times New Roman" pitchFamily="18" charset="0"/>
              </a:rPr>
              <a:t>Reptilian brain</a:t>
            </a:r>
            <a:endParaRPr lang="en-US" altLang="en-US" sz="1500">
              <a:latin typeface="Times New Roman" pitchFamily="18" charset="0"/>
            </a:endParaRPr>
          </a:p>
          <a:p>
            <a:pPr>
              <a:spcBef>
                <a:spcPct val="0"/>
              </a:spcBef>
              <a:buFontTx/>
              <a:buNone/>
            </a:pPr>
            <a:r>
              <a:rPr lang="en-US" altLang="en-US" sz="1500" dirty="0">
                <a:latin typeface="Times New Roman" pitchFamily="18" charset="0"/>
              </a:rPr>
              <a:t>   (primitive)</a:t>
            </a:r>
            <a:endParaRPr lang="en-GB" altLang="en-US" sz="1500">
              <a:latin typeface="Times New Roman" pitchFamily="18" charset="0"/>
            </a:endParaRPr>
          </a:p>
        </p:txBody>
      </p:sp>
      <p:sp>
        <p:nvSpPr>
          <p:cNvPr id="6" name="Title 1"/>
          <p:cNvSpPr txBox="1">
            <a:spLocks/>
          </p:cNvSpPr>
          <p:nvPr/>
        </p:nvSpPr>
        <p:spPr>
          <a:xfrm>
            <a:off x="1839001" y="1383674"/>
            <a:ext cx="6367463" cy="540563"/>
          </a:xfrm>
          <a:prstGeom prst="rect">
            <a:avLst/>
          </a:prstGeom>
        </p:spPr>
        <p:txBody>
          <a:bodyPr/>
          <a:lstStyle>
            <a:lvl1pPr algn="l" rtl="0" eaLnBrk="0" fontAlgn="base" hangingPunct="0">
              <a:spcBef>
                <a:spcPct val="0"/>
              </a:spcBef>
              <a:spcAft>
                <a:spcPct val="0"/>
              </a:spcAft>
              <a:defRPr sz="3000" b="1" kern="1200">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Arial" panose="020B0604020202020204" pitchFamily="34" charset="0"/>
              </a:defRPr>
            </a:lvl2pPr>
            <a:lvl3pPr algn="l" rtl="0" eaLnBrk="0" fontAlgn="base" hangingPunct="0">
              <a:spcBef>
                <a:spcPct val="0"/>
              </a:spcBef>
              <a:spcAft>
                <a:spcPct val="0"/>
              </a:spcAft>
              <a:defRPr sz="3000" b="1">
                <a:solidFill>
                  <a:schemeClr val="tx2"/>
                </a:solidFill>
                <a:latin typeface="Arial" panose="020B0604020202020204" pitchFamily="34" charset="0"/>
              </a:defRPr>
            </a:lvl3pPr>
            <a:lvl4pPr algn="l" rtl="0" eaLnBrk="0" fontAlgn="base" hangingPunct="0">
              <a:spcBef>
                <a:spcPct val="0"/>
              </a:spcBef>
              <a:spcAft>
                <a:spcPct val="0"/>
              </a:spcAft>
              <a:defRPr sz="3000" b="1">
                <a:solidFill>
                  <a:schemeClr val="tx2"/>
                </a:solidFill>
                <a:latin typeface="Arial" panose="020B0604020202020204" pitchFamily="34" charset="0"/>
              </a:defRPr>
            </a:lvl4pPr>
            <a:lvl5pPr algn="l" rtl="0" eaLnBrk="0" fontAlgn="base" hangingPunct="0">
              <a:spcBef>
                <a:spcPct val="0"/>
              </a:spcBef>
              <a:spcAft>
                <a:spcPct val="0"/>
              </a:spcAft>
              <a:defRPr sz="3000" b="1">
                <a:solidFill>
                  <a:schemeClr val="tx2"/>
                </a:solidFill>
                <a:latin typeface="Arial" panose="020B0604020202020204" pitchFamily="34" charset="0"/>
              </a:defRPr>
            </a:lvl5pPr>
            <a:lvl6pPr marL="457200" algn="l" rtl="0" fontAlgn="base">
              <a:spcBef>
                <a:spcPct val="0"/>
              </a:spcBef>
              <a:spcAft>
                <a:spcPct val="0"/>
              </a:spcAft>
              <a:defRPr sz="3000" b="1">
                <a:solidFill>
                  <a:schemeClr val="tx2"/>
                </a:solidFill>
                <a:latin typeface="Arial" panose="020B0604020202020204" pitchFamily="34" charset="0"/>
              </a:defRPr>
            </a:lvl6pPr>
            <a:lvl7pPr marL="914400" algn="l" rtl="0" fontAlgn="base">
              <a:spcBef>
                <a:spcPct val="0"/>
              </a:spcBef>
              <a:spcAft>
                <a:spcPct val="0"/>
              </a:spcAft>
              <a:defRPr sz="3000" b="1">
                <a:solidFill>
                  <a:schemeClr val="tx2"/>
                </a:solidFill>
                <a:latin typeface="Arial" panose="020B0604020202020204" pitchFamily="34" charset="0"/>
              </a:defRPr>
            </a:lvl7pPr>
            <a:lvl8pPr marL="1371600" algn="l" rtl="0" fontAlgn="base">
              <a:spcBef>
                <a:spcPct val="0"/>
              </a:spcBef>
              <a:spcAft>
                <a:spcPct val="0"/>
              </a:spcAft>
              <a:defRPr sz="3000" b="1">
                <a:solidFill>
                  <a:schemeClr val="tx2"/>
                </a:solidFill>
                <a:latin typeface="Arial" panose="020B0604020202020204" pitchFamily="34" charset="0"/>
              </a:defRPr>
            </a:lvl8pPr>
            <a:lvl9pPr marL="1828800" algn="l" rtl="0" fontAlgn="base">
              <a:spcBef>
                <a:spcPct val="0"/>
              </a:spcBef>
              <a:spcAft>
                <a:spcPct val="0"/>
              </a:spcAft>
              <a:defRPr sz="3000" b="1">
                <a:solidFill>
                  <a:schemeClr val="tx2"/>
                </a:solidFill>
                <a:latin typeface="Arial" panose="020B0604020202020204" pitchFamily="34" charset="0"/>
              </a:defRPr>
            </a:lvl9pPr>
          </a:lstStyle>
          <a:p>
            <a:pPr algn="ctr"/>
            <a:r>
              <a:rPr lang="en-GB" sz="2250" dirty="0"/>
              <a:t>The neuroscience of attachment</a:t>
            </a:r>
          </a:p>
        </p:txBody>
      </p:sp>
      <p:sp>
        <p:nvSpPr>
          <p:cNvPr id="3" name="TextBox 2"/>
          <p:cNvSpPr txBox="1"/>
          <p:nvPr/>
        </p:nvSpPr>
        <p:spPr>
          <a:xfrm>
            <a:off x="1415903" y="4914643"/>
            <a:ext cx="5940660" cy="715581"/>
          </a:xfrm>
          <a:prstGeom prst="rect">
            <a:avLst/>
          </a:prstGeom>
          <a:noFill/>
        </p:spPr>
        <p:txBody>
          <a:bodyPr wrap="square" rtlCol="0">
            <a:spAutoFit/>
          </a:bodyPr>
          <a:lstStyle/>
          <a:p>
            <a:pPr marL="214313" indent="-214313">
              <a:buFont typeface="Arial" panose="020B0604020202020204" pitchFamily="34" charset="0"/>
              <a:buChar char="•"/>
            </a:pPr>
            <a:r>
              <a:rPr lang="en-GB" sz="1350" dirty="0"/>
              <a:t>Co- regulation – Self-regulation = Emotional regulation </a:t>
            </a:r>
          </a:p>
          <a:p>
            <a:pPr marL="214313" indent="-214313">
              <a:buFont typeface="Arial" panose="020B0604020202020204" pitchFamily="34" charset="0"/>
              <a:buChar char="•"/>
            </a:pPr>
            <a:r>
              <a:rPr lang="en-GB" sz="1350" dirty="0"/>
              <a:t>Neuroplasticity </a:t>
            </a:r>
          </a:p>
          <a:p>
            <a:endParaRPr lang="en-GB" sz="1350" dirty="0"/>
          </a:p>
        </p:txBody>
      </p:sp>
    </p:spTree>
    <p:extLst>
      <p:ext uri="{BB962C8B-B14F-4D97-AF65-F5344CB8AC3E}">
        <p14:creationId xmlns:p14="http://schemas.microsoft.com/office/powerpoint/2010/main" val="1681130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984983" y="535265"/>
            <a:ext cx="4510087" cy="377825"/>
          </a:xfrm>
        </p:spPr>
        <p:txBody>
          <a:bodyPr>
            <a:noAutofit/>
          </a:bodyPr>
          <a:lstStyle/>
          <a:p>
            <a:r>
              <a:rPr lang="en-GB" sz="2100" b="1" dirty="0"/>
              <a:t>Attachment style and social competence</a:t>
            </a:r>
          </a:p>
        </p:txBody>
      </p:sp>
      <p:sp>
        <p:nvSpPr>
          <p:cNvPr id="5" name="Content Placeholder 4"/>
          <p:cNvSpPr>
            <a:spLocks noGrp="1"/>
          </p:cNvSpPr>
          <p:nvPr>
            <p:ph idx="4294967295"/>
          </p:nvPr>
        </p:nvSpPr>
        <p:spPr>
          <a:xfrm>
            <a:off x="1699014" y="1976489"/>
            <a:ext cx="6615195" cy="3294063"/>
          </a:xfrm>
        </p:spPr>
        <p:txBody>
          <a:bodyPr>
            <a:normAutofit/>
          </a:bodyPr>
          <a:lstStyle/>
          <a:p>
            <a:r>
              <a:rPr lang="en-GB" sz="2400" dirty="0"/>
              <a:t>Insecurely attached children tend to have </a:t>
            </a:r>
            <a:r>
              <a:rPr lang="en-GB" sz="2400" b="1" dirty="0"/>
              <a:t>poorer quality friendships</a:t>
            </a:r>
            <a:r>
              <a:rPr lang="en-GB" sz="2400" dirty="0"/>
              <a:t>, </a:t>
            </a:r>
            <a:r>
              <a:rPr lang="en-GB" sz="2400" b="1" dirty="0"/>
              <a:t>reduced</a:t>
            </a:r>
            <a:r>
              <a:rPr lang="en-GB" altLang="en-US" sz="2400" b="1" dirty="0">
                <a:ea typeface="ＭＳ Ｐゴシック" panose="020B0600070205080204" pitchFamily="34" charset="-128"/>
              </a:rPr>
              <a:t> emotional intelligence </a:t>
            </a:r>
            <a:r>
              <a:rPr lang="en-GB" altLang="en-US" sz="2400" dirty="0">
                <a:ea typeface="ＭＳ Ｐゴシック" panose="020B0600070205080204" pitchFamily="34" charset="-128"/>
              </a:rPr>
              <a:t>&amp; </a:t>
            </a:r>
            <a:r>
              <a:rPr lang="en-GB" altLang="en-US" sz="2400" b="1" dirty="0">
                <a:ea typeface="ＭＳ Ｐゴシック" panose="020B0600070205080204" pitchFamily="34" charset="-128"/>
              </a:rPr>
              <a:t>empathy</a:t>
            </a:r>
            <a:r>
              <a:rPr lang="en-GB" altLang="en-US" sz="2400" dirty="0">
                <a:ea typeface="ＭＳ Ｐゴシック" panose="020B0600070205080204" pitchFamily="34" charset="-128"/>
              </a:rPr>
              <a:t> and </a:t>
            </a:r>
            <a:r>
              <a:rPr lang="en-GB" altLang="en-US" sz="2400" b="1" dirty="0">
                <a:ea typeface="ＭＳ Ｐゴシック" panose="020B0600070205080204" pitchFamily="34" charset="-128"/>
              </a:rPr>
              <a:t>experience difficulties maintaining friendships    </a:t>
            </a:r>
            <a:r>
              <a:rPr lang="en-GB" sz="1200" dirty="0"/>
              <a:t>(Grossmann and Grossmann 1991</a:t>
            </a:r>
            <a:r>
              <a:rPr lang="en-GB" sz="1200"/>
              <a:t>). </a:t>
            </a:r>
            <a:endParaRPr lang="en-GB" sz="1200" smtClean="0"/>
          </a:p>
          <a:p>
            <a:pPr marL="0" indent="0">
              <a:buNone/>
            </a:pPr>
            <a:endParaRPr lang="en-GB" sz="1200" dirty="0"/>
          </a:p>
          <a:p>
            <a:r>
              <a:rPr lang="en-US" altLang="en-US" sz="2400" dirty="0">
                <a:ea typeface="ＭＳ Ｐゴシック" panose="020B0600070205080204" pitchFamily="34" charset="-128"/>
              </a:rPr>
              <a:t>Insecure attachment style has been linked to </a:t>
            </a:r>
            <a:r>
              <a:rPr lang="en-US" altLang="en-US" sz="2400" b="1" dirty="0">
                <a:ea typeface="ＭＳ Ｐゴシック" panose="020B0600070205080204" pitchFamily="34" charset="-128"/>
              </a:rPr>
              <a:t>anxiety </a:t>
            </a:r>
            <a:r>
              <a:rPr lang="en-US" altLang="en-US" sz="2400" dirty="0">
                <a:ea typeface="ＭＳ Ｐゴシック" panose="020B0600070205080204" pitchFamily="34" charset="-128"/>
              </a:rPr>
              <a:t>and </a:t>
            </a:r>
            <a:r>
              <a:rPr lang="en-US" altLang="en-US" sz="2400" b="1" dirty="0">
                <a:ea typeface="ＭＳ Ｐゴシック" panose="020B0600070205080204" pitchFamily="34" charset="-128"/>
              </a:rPr>
              <a:t>social withdrawal </a:t>
            </a:r>
            <a:r>
              <a:rPr lang="en-US" altLang="en-US" sz="1350" dirty="0">
                <a:ea typeface="ＭＳ Ｐゴシック" panose="020B0600070205080204" pitchFamily="34" charset="-128"/>
              </a:rPr>
              <a:t>(</a:t>
            </a:r>
            <a:r>
              <a:rPr lang="en-US" altLang="en-US" sz="1350" dirty="0" err="1">
                <a:ea typeface="ＭＳ Ｐゴシック" panose="020B0600070205080204" pitchFamily="34" charset="-128"/>
              </a:rPr>
              <a:t>LaFreniere</a:t>
            </a:r>
            <a:r>
              <a:rPr lang="en-US" altLang="en-US" sz="1350" dirty="0">
                <a:ea typeface="ＭＳ Ｐゴシック" panose="020B0600070205080204" pitchFamily="34" charset="-128"/>
              </a:rPr>
              <a:t> et al. 1992; Lyons-Ruth and </a:t>
            </a:r>
            <a:r>
              <a:rPr lang="en-US" altLang="en-US" sz="1350" dirty="0" err="1">
                <a:ea typeface="ＭＳ Ｐゴシック" panose="020B0600070205080204" pitchFamily="34" charset="-128"/>
              </a:rPr>
              <a:t>Jacobvitz</a:t>
            </a:r>
            <a:r>
              <a:rPr lang="en-US" altLang="en-US" sz="1350" dirty="0">
                <a:ea typeface="ＭＳ Ｐゴシック" panose="020B0600070205080204" pitchFamily="34" charset="-128"/>
              </a:rPr>
              <a:t> 1999; Rubin and </a:t>
            </a:r>
            <a:r>
              <a:rPr lang="en-US" altLang="en-US" sz="1350" dirty="0" err="1">
                <a:ea typeface="ＭＳ Ｐゴシック" panose="020B0600070205080204" pitchFamily="34" charset="-128"/>
              </a:rPr>
              <a:t>Lollis</a:t>
            </a:r>
            <a:r>
              <a:rPr lang="en-US" altLang="en-US" sz="1350" dirty="0">
                <a:ea typeface="ＭＳ Ｐゴシック" panose="020B0600070205080204" pitchFamily="34" charset="-128"/>
              </a:rPr>
              <a:t> 1988).</a:t>
            </a:r>
          </a:p>
          <a:p>
            <a:pPr marL="0" indent="0">
              <a:buNone/>
            </a:pPr>
            <a:endParaRPr lang="en-GB" dirty="0" smtClean="0"/>
          </a:p>
        </p:txBody>
      </p:sp>
    </p:spTree>
    <p:extLst>
      <p:ext uri="{BB962C8B-B14F-4D97-AF65-F5344CB8AC3E}">
        <p14:creationId xmlns:p14="http://schemas.microsoft.com/office/powerpoint/2010/main" val="3543725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2542622" y="797150"/>
            <a:ext cx="6491288" cy="541338"/>
          </a:xfrm>
        </p:spPr>
        <p:txBody>
          <a:bodyPr>
            <a:noAutofit/>
          </a:bodyPr>
          <a:lstStyle/>
          <a:p>
            <a:pPr marL="1103550" lvl="8" indent="0">
              <a:buNone/>
              <a:defRPr/>
            </a:pPr>
            <a:r>
              <a:rPr lang="en-US" sz="2100" dirty="0">
                <a:solidFill>
                  <a:schemeClr val="tx2"/>
                </a:solidFill>
              </a:rPr>
              <a:t>Attachment Style and </a:t>
            </a:r>
            <a:r>
              <a:rPr lang="en-US" sz="2100">
                <a:solidFill>
                  <a:schemeClr val="tx2"/>
                </a:solidFill>
              </a:rPr>
              <a:t>Emotional Regulation (ER)</a:t>
            </a:r>
            <a:endParaRPr lang="en-US" sz="2100" dirty="0">
              <a:solidFill>
                <a:schemeClr val="tx2"/>
              </a:solidFill>
            </a:endParaRPr>
          </a:p>
        </p:txBody>
      </p:sp>
      <p:sp>
        <p:nvSpPr>
          <p:cNvPr id="50179" name="Text Placeholder 2"/>
          <p:cNvSpPr>
            <a:spLocks noGrp="1"/>
          </p:cNvSpPr>
          <p:nvPr>
            <p:ph type="body" sz="quarter" idx="4294967295"/>
          </p:nvPr>
        </p:nvSpPr>
        <p:spPr>
          <a:xfrm>
            <a:off x="1474839" y="1675827"/>
            <a:ext cx="6364441" cy="4689577"/>
          </a:xfrm>
        </p:spPr>
        <p:txBody>
          <a:bodyPr>
            <a:normAutofit/>
          </a:bodyPr>
          <a:lstStyle/>
          <a:p>
            <a:pPr marL="0" indent="0" algn="r">
              <a:buNone/>
            </a:pPr>
            <a:r>
              <a:rPr lang="en-GB" altLang="en-US" sz="1800" b="1" dirty="0">
                <a:ea typeface="ＭＳ Ｐゴシック" panose="020B0600070205080204" pitchFamily="34" charset="-128"/>
              </a:rPr>
              <a:t>Attachment is the foundation of emotion </a:t>
            </a:r>
            <a:r>
              <a:rPr lang="en-GB" altLang="en-US" sz="1800" b="1">
                <a:ea typeface="ＭＳ Ｐゴシック" panose="020B0600070205080204" pitchFamily="34" charset="-128"/>
              </a:rPr>
              <a:t>regulation   </a:t>
            </a:r>
            <a:endParaRPr lang="en-GB" altLang="en-US" sz="1800" b="1" smtClean="0">
              <a:ea typeface="ＭＳ Ｐゴシック" panose="020B0600070205080204" pitchFamily="34" charset="-128"/>
            </a:endParaRPr>
          </a:p>
          <a:p>
            <a:pPr marL="0" indent="0" algn="r">
              <a:buNone/>
            </a:pPr>
            <a:r>
              <a:rPr lang="en-GB" altLang="en-US" sz="1800" b="1" smtClean="0">
                <a:ea typeface="ＭＳ Ｐゴシック" panose="020B0600070205080204" pitchFamily="34" charset="-128"/>
              </a:rPr>
              <a:t>  </a:t>
            </a:r>
            <a:r>
              <a:rPr lang="en-GB" altLang="en-US" sz="1500" dirty="0">
                <a:ea typeface="ＭＳ Ｐゴシック" panose="020B0600070205080204" pitchFamily="34" charset="-128"/>
              </a:rPr>
              <a:t>(</a:t>
            </a:r>
            <a:r>
              <a:rPr lang="en-GB" altLang="en-US" sz="1500" dirty="0" err="1">
                <a:ea typeface="ＭＳ Ｐゴシック" panose="020B0600070205080204" pitchFamily="34" charset="-128"/>
              </a:rPr>
              <a:t>Sroufe</a:t>
            </a:r>
            <a:r>
              <a:rPr lang="en-GB" altLang="en-US" sz="1500" dirty="0">
                <a:ea typeface="ＭＳ Ｐゴシック" panose="020B0600070205080204" pitchFamily="34" charset="-128"/>
              </a:rPr>
              <a:t> 1996).</a:t>
            </a:r>
            <a:endParaRPr lang="en-GB" altLang="en-US" sz="1800" dirty="0">
              <a:ea typeface="ＭＳ Ｐゴシック" panose="020B0600070205080204" pitchFamily="34" charset="-128"/>
            </a:endParaRPr>
          </a:p>
          <a:p>
            <a:pPr marL="0" indent="0">
              <a:buNone/>
            </a:pPr>
            <a:r>
              <a:rPr lang="en-GB" altLang="en-US" sz="1800" dirty="0">
                <a:ea typeface="ＭＳ Ｐゴシック" panose="020B0600070205080204" pitchFamily="34" charset="-128"/>
              </a:rPr>
              <a:t>ER has a mediating impact on academic outcomes and social competence</a:t>
            </a:r>
          </a:p>
          <a:p>
            <a:r>
              <a:rPr lang="en-GB" altLang="en-US" sz="1800" dirty="0">
                <a:ea typeface="ＭＳ Ｐゴシック" panose="020B0600070205080204" pitchFamily="34" charset="-128"/>
              </a:rPr>
              <a:t>ER is the foundation to accepting challenges at school.</a:t>
            </a:r>
          </a:p>
          <a:p>
            <a:r>
              <a:rPr lang="en-GB" altLang="en-US" sz="1800" dirty="0">
                <a:ea typeface="ＭＳ Ｐゴシック" panose="020B0600070205080204" pitchFamily="34" charset="-128"/>
              </a:rPr>
              <a:t>Children with insecure attachments have fewer coping skills, are less willing to take on potentially frustrating tasks, less able to discuss emotional topics without anger, and respond negatively to novel situations at school</a:t>
            </a:r>
            <a:r>
              <a:rPr lang="en-GB" altLang="en-US" sz="1800">
                <a:ea typeface="ＭＳ Ｐゴシック" panose="020B0600070205080204" pitchFamily="34" charset="-128"/>
              </a:rPr>
              <a:t>. </a:t>
            </a:r>
            <a:r>
              <a:rPr lang="en-GB" altLang="en-US" sz="1350" smtClean="0">
                <a:ea typeface="ＭＳ Ｐゴシック" panose="020B0600070205080204" pitchFamily="34" charset="-128"/>
              </a:rPr>
              <a:t>(</a:t>
            </a:r>
            <a:r>
              <a:rPr lang="en-GB" altLang="en-US" sz="1350" dirty="0" err="1">
                <a:ea typeface="ＭＳ Ｐゴシック" panose="020B0600070205080204" pitchFamily="34" charset="-128"/>
              </a:rPr>
              <a:t>Kobak</a:t>
            </a:r>
            <a:r>
              <a:rPr lang="en-GB" altLang="en-US" sz="1350" dirty="0">
                <a:ea typeface="ＭＳ Ｐゴシック" panose="020B0600070205080204" pitchFamily="34" charset="-128"/>
              </a:rPr>
              <a:t> et al. 1993; </a:t>
            </a:r>
            <a:r>
              <a:rPr lang="en-GB" altLang="en-US" sz="1350" dirty="0" err="1">
                <a:ea typeface="ＭＳ Ｐゴシック" panose="020B0600070205080204" pitchFamily="34" charset="-128"/>
              </a:rPr>
              <a:t>Sroufe</a:t>
            </a:r>
            <a:r>
              <a:rPr lang="en-GB" altLang="en-US" sz="1350" dirty="0">
                <a:ea typeface="ＭＳ Ｐゴシック" panose="020B0600070205080204" pitchFamily="34" charset="-128"/>
              </a:rPr>
              <a:t> 1996).</a:t>
            </a:r>
          </a:p>
          <a:p>
            <a:r>
              <a:rPr lang="en-GB" altLang="en-US" sz="1800" dirty="0">
                <a:ea typeface="ＭＳ Ｐゴシック" panose="020B0600070205080204" pitchFamily="34" charset="-128"/>
              </a:rPr>
              <a:t>Overactive amygdala (fight fright freeze) = increased arousal and anxiety</a:t>
            </a:r>
            <a:r>
              <a:rPr lang="en-GB" altLang="en-US" sz="1800">
                <a:ea typeface="ＭＳ Ｐゴシック" panose="020B0600070205080204" pitchFamily="34" charset="-128"/>
              </a:rPr>
              <a:t>. </a:t>
            </a:r>
            <a:r>
              <a:rPr lang="en-GB" altLang="en-US" sz="1500" smtClean="0">
                <a:ea typeface="ＭＳ Ｐゴシック" panose="020B0600070205080204" pitchFamily="34" charset="-128"/>
              </a:rPr>
              <a:t>(</a:t>
            </a:r>
            <a:r>
              <a:rPr lang="en-GB" altLang="en-US" sz="1500" dirty="0">
                <a:ea typeface="ＭＳ Ｐゴシック" panose="020B0600070205080204" pitchFamily="34" charset="-128"/>
              </a:rPr>
              <a:t>Blair 2001)</a:t>
            </a:r>
            <a:endParaRPr lang="en-US" altLang="en-US" sz="1500" dirty="0">
              <a:ea typeface="ＭＳ Ｐゴシック" panose="020B0600070205080204" pitchFamily="34" charset="-128"/>
            </a:endParaRPr>
          </a:p>
        </p:txBody>
      </p:sp>
    </p:spTree>
    <p:extLst>
      <p:ext uri="{BB962C8B-B14F-4D97-AF65-F5344CB8AC3E}">
        <p14:creationId xmlns:p14="http://schemas.microsoft.com/office/powerpoint/2010/main" val="2569049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2109" y="576694"/>
            <a:ext cx="5037137" cy="649287"/>
          </a:xfrm>
        </p:spPr>
        <p:txBody>
          <a:bodyPr>
            <a:normAutofit/>
          </a:bodyPr>
          <a:lstStyle/>
          <a:p>
            <a:r>
              <a:rPr lang="en-GB" sz="2400" dirty="0"/>
              <a:t>Attachment style and attention</a:t>
            </a:r>
          </a:p>
        </p:txBody>
      </p:sp>
      <p:sp>
        <p:nvSpPr>
          <p:cNvPr id="3" name="Content Placeholder 2"/>
          <p:cNvSpPr>
            <a:spLocks noGrp="1"/>
          </p:cNvSpPr>
          <p:nvPr>
            <p:ph idx="4294967295"/>
          </p:nvPr>
        </p:nvSpPr>
        <p:spPr>
          <a:xfrm>
            <a:off x="2047075" y="1752108"/>
            <a:ext cx="6347706" cy="2835819"/>
          </a:xfrm>
        </p:spPr>
        <p:txBody>
          <a:bodyPr>
            <a:normAutofit/>
          </a:bodyPr>
          <a:lstStyle/>
          <a:p>
            <a:pPr marL="0" indent="0">
              <a:buNone/>
            </a:pPr>
            <a:endParaRPr lang="en-GB" sz="1800" dirty="0"/>
          </a:p>
          <a:p>
            <a:r>
              <a:rPr lang="en-GB" sz="1800" dirty="0"/>
              <a:t>Anxiety impairs ability to control attention, executive functions, memory, and problem-solving, and increases task-irrelevant thoughts (</a:t>
            </a:r>
            <a:r>
              <a:rPr lang="en-GB" sz="1800" dirty="0" err="1"/>
              <a:t>Fincham</a:t>
            </a:r>
            <a:r>
              <a:rPr lang="en-GB" sz="1800" dirty="0"/>
              <a:t> et al. 1989; </a:t>
            </a:r>
            <a:r>
              <a:rPr lang="en-GB" sz="1800" dirty="0" err="1"/>
              <a:t>Ialongo</a:t>
            </a:r>
            <a:r>
              <a:rPr lang="en-GB" sz="1800" dirty="0"/>
              <a:t> et al</a:t>
            </a:r>
            <a:r>
              <a:rPr lang="en-GB" sz="1800"/>
              <a:t>. 1994; </a:t>
            </a:r>
            <a:r>
              <a:rPr lang="en-GB" sz="1800" dirty="0" err="1"/>
              <a:t>Egeland</a:t>
            </a:r>
            <a:r>
              <a:rPr lang="en-GB" sz="1800" dirty="0"/>
              <a:t> et al. 1993). </a:t>
            </a:r>
          </a:p>
          <a:p>
            <a:endParaRPr lang="en-GB" sz="1800" dirty="0"/>
          </a:p>
          <a:p>
            <a:r>
              <a:rPr lang="en-GB" sz="1800" dirty="0"/>
              <a:t>Children with insecure attachment styles are more likely to be diagnosed with ADHD, or have ADHD symptoms regardless of being diagnosed (Clarke et al. 2002)</a:t>
            </a:r>
          </a:p>
          <a:p>
            <a:endParaRPr lang="en-GB" sz="1800" dirty="0"/>
          </a:p>
        </p:txBody>
      </p:sp>
    </p:spTree>
    <p:extLst>
      <p:ext uri="{BB962C8B-B14F-4D97-AF65-F5344CB8AC3E}">
        <p14:creationId xmlns:p14="http://schemas.microsoft.com/office/powerpoint/2010/main" val="2857426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144510" y="1557748"/>
            <a:ext cx="4424362" cy="433387"/>
          </a:xfrm>
        </p:spPr>
        <p:txBody>
          <a:bodyPr>
            <a:normAutofit fontScale="77500" lnSpcReduction="20000"/>
          </a:bodyPr>
          <a:lstStyle/>
          <a:p>
            <a:pPr marL="0" indent="0">
              <a:buNone/>
              <a:defRPr/>
            </a:pPr>
            <a:r>
              <a:rPr lang="en-US" dirty="0"/>
              <a:t>Attachment style and mental health</a:t>
            </a:r>
          </a:p>
        </p:txBody>
      </p:sp>
      <p:sp>
        <p:nvSpPr>
          <p:cNvPr id="52227" name="Text Placeholder 2"/>
          <p:cNvSpPr>
            <a:spLocks noGrp="1"/>
          </p:cNvSpPr>
          <p:nvPr>
            <p:ph type="body" sz="quarter" idx="4294967295"/>
          </p:nvPr>
        </p:nvSpPr>
        <p:spPr>
          <a:xfrm>
            <a:off x="2200459" y="2416154"/>
            <a:ext cx="5651582" cy="3108325"/>
          </a:xfrm>
        </p:spPr>
        <p:txBody>
          <a:bodyPr/>
          <a:lstStyle/>
          <a:p>
            <a:pPr marL="0" indent="0">
              <a:buNone/>
            </a:pPr>
            <a:r>
              <a:rPr lang="en-GB" altLang="en-US" sz="1800" dirty="0">
                <a:ea typeface="ＭＳ Ｐゴシック" panose="020B0600070205080204" pitchFamily="34" charset="-128"/>
              </a:rPr>
              <a:t>Insecure attachment is a risk factor for </a:t>
            </a:r>
            <a:r>
              <a:rPr lang="en-GB" altLang="en-US" sz="1800">
                <a:ea typeface="ＭＳ Ｐゴシック" panose="020B0600070205080204" pitchFamily="34" charset="-128"/>
              </a:rPr>
              <a:t>mental </a:t>
            </a:r>
            <a:r>
              <a:rPr lang="en-GB" altLang="en-US" sz="1800" smtClean="0">
                <a:ea typeface="ＭＳ Ｐゴシック" panose="020B0600070205080204" pitchFamily="34" charset="-128"/>
              </a:rPr>
              <a:t>ill health.</a:t>
            </a:r>
            <a:endParaRPr lang="en-GB" altLang="en-US" sz="1800" dirty="0">
              <a:ea typeface="ＭＳ Ｐゴシック" panose="020B0600070205080204" pitchFamily="34" charset="-128"/>
            </a:endParaRPr>
          </a:p>
          <a:p>
            <a:pPr marL="0" indent="0">
              <a:buNone/>
            </a:pPr>
            <a:endParaRPr lang="en-GB" altLang="en-US" sz="1800" b="1" dirty="0">
              <a:ea typeface="ＭＳ Ｐゴシック" panose="020B0600070205080204" pitchFamily="34" charset="-128"/>
            </a:endParaRPr>
          </a:p>
          <a:p>
            <a:r>
              <a:rPr lang="en-US" altLang="en-US" sz="1800" dirty="0">
                <a:ea typeface="ＭＳ Ｐゴシック" panose="020B0600070205080204" pitchFamily="34" charset="-128"/>
              </a:rPr>
              <a:t>compared to teenagers with secure attachment, teenage with insecure attachment suffer greater rates of </a:t>
            </a:r>
            <a:r>
              <a:rPr lang="en-US" altLang="en-US" sz="1800" b="1" dirty="0">
                <a:ea typeface="ＭＳ Ｐゴシック" panose="020B0600070205080204" pitchFamily="34" charset="-128"/>
              </a:rPr>
              <a:t>maladjustment, suicidal thoughts, depression, conduct disorders, substance abuse, and eating disorders</a:t>
            </a:r>
            <a:r>
              <a:rPr lang="en-US" altLang="en-US" sz="1800" dirty="0">
                <a:ea typeface="ＭＳ Ｐゴシック" panose="020B0600070205080204" pitchFamily="34" charset="-128"/>
              </a:rPr>
              <a:t> </a:t>
            </a:r>
            <a:r>
              <a:rPr lang="en-US" altLang="en-US" sz="1500" dirty="0">
                <a:ea typeface="ＭＳ Ｐゴシック" panose="020B0600070205080204" pitchFamily="34" charset="-128"/>
              </a:rPr>
              <a:t>(Allen and Land 1999; Hesse 1999; Lewis et al. 2000; </a:t>
            </a:r>
            <a:r>
              <a:rPr lang="en-US" altLang="en-US" sz="1500" dirty="0" err="1">
                <a:ea typeface="ＭＳ Ｐゴシック" panose="020B0600070205080204" pitchFamily="34" charset="-128"/>
              </a:rPr>
              <a:t>Weinfield</a:t>
            </a:r>
            <a:r>
              <a:rPr lang="en-US" altLang="en-US" sz="1500" dirty="0">
                <a:ea typeface="ＭＳ Ｐゴシック" panose="020B0600070205080204" pitchFamily="34" charset="-128"/>
              </a:rPr>
              <a:t> et al. 1999). </a:t>
            </a:r>
          </a:p>
        </p:txBody>
      </p:sp>
    </p:spTree>
    <p:extLst>
      <p:ext uri="{BB962C8B-B14F-4D97-AF65-F5344CB8AC3E}">
        <p14:creationId xmlns:p14="http://schemas.microsoft.com/office/powerpoint/2010/main" val="9146002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65545" y="1346640"/>
            <a:ext cx="5329237" cy="593725"/>
          </a:xfrm>
        </p:spPr>
        <p:txBody>
          <a:bodyPr>
            <a:normAutofit/>
          </a:bodyPr>
          <a:lstStyle/>
          <a:p>
            <a:r>
              <a:rPr lang="en-GB" sz="2400" dirty="0"/>
              <a:t>Attachment Style and academic outcomes</a:t>
            </a:r>
          </a:p>
        </p:txBody>
      </p:sp>
      <p:sp>
        <p:nvSpPr>
          <p:cNvPr id="3" name="Content Placeholder 2"/>
          <p:cNvSpPr>
            <a:spLocks noGrp="1"/>
          </p:cNvSpPr>
          <p:nvPr>
            <p:ph idx="4294967295"/>
          </p:nvPr>
        </p:nvSpPr>
        <p:spPr>
          <a:xfrm>
            <a:off x="1779547" y="2364505"/>
            <a:ext cx="6367462" cy="2733675"/>
          </a:xfrm>
        </p:spPr>
        <p:txBody>
          <a:bodyPr/>
          <a:lstStyle/>
          <a:p>
            <a:pPr marL="0" indent="0">
              <a:buNone/>
            </a:pPr>
            <a:r>
              <a:rPr lang="en-GB" sz="1800" dirty="0"/>
              <a:t>Security of attachment predicts academic achievement:</a:t>
            </a:r>
          </a:p>
          <a:p>
            <a:r>
              <a:rPr lang="en-GB" sz="1800" dirty="0"/>
              <a:t>Research has found that children with an insecure attachment style tend to</a:t>
            </a:r>
            <a:r>
              <a:rPr lang="en-GB" sz="1800" b="1" dirty="0"/>
              <a:t> have lower verbal ability, math ability, reading comprehension, </a:t>
            </a:r>
            <a:r>
              <a:rPr lang="en-GB" sz="1800" dirty="0"/>
              <a:t>and</a:t>
            </a:r>
            <a:r>
              <a:rPr lang="en-GB" sz="1800" b="1" dirty="0"/>
              <a:t> overall academic achievement</a:t>
            </a:r>
            <a:r>
              <a:rPr lang="en-GB" sz="1800" dirty="0"/>
              <a:t>, and exhibit </a:t>
            </a:r>
            <a:r>
              <a:rPr lang="en-GB" sz="1800" b="1" dirty="0"/>
              <a:t>less curiosity </a:t>
            </a:r>
            <a:r>
              <a:rPr lang="en-GB" sz="1800" dirty="0"/>
              <a:t>than securely attached children </a:t>
            </a:r>
          </a:p>
          <a:p>
            <a:pPr marL="0" indent="0">
              <a:buNone/>
            </a:pPr>
            <a:endParaRPr lang="en-GB" sz="1800" dirty="0"/>
          </a:p>
          <a:p>
            <a:pPr marL="0" indent="0">
              <a:buNone/>
            </a:pPr>
            <a:r>
              <a:rPr lang="en-GB" sz="1500" dirty="0"/>
              <a:t>(</a:t>
            </a:r>
            <a:r>
              <a:rPr lang="en-GB" sz="1500" dirty="0" err="1"/>
              <a:t>Granot</a:t>
            </a:r>
            <a:r>
              <a:rPr lang="en-GB" sz="1500" dirty="0"/>
              <a:t> and </a:t>
            </a:r>
            <a:r>
              <a:rPr lang="en-GB" sz="1500" dirty="0" err="1"/>
              <a:t>Mayseless</a:t>
            </a:r>
            <a:r>
              <a:rPr lang="en-GB" sz="1500" dirty="0"/>
              <a:t> 2001; Jacobsen and Hofmann 1997; </a:t>
            </a:r>
            <a:r>
              <a:rPr lang="en-GB" sz="1500" dirty="0" err="1"/>
              <a:t>Pianta</a:t>
            </a:r>
            <a:r>
              <a:rPr lang="en-GB" sz="1500" dirty="0"/>
              <a:t> and </a:t>
            </a:r>
            <a:r>
              <a:rPr lang="en-GB" sz="1500" dirty="0" err="1"/>
              <a:t>Harbers</a:t>
            </a:r>
            <a:r>
              <a:rPr lang="en-GB" sz="1500" dirty="0"/>
              <a:t> 1996; </a:t>
            </a:r>
            <a:r>
              <a:rPr lang="en-GB" sz="1500" dirty="0" err="1"/>
              <a:t>Weinfield</a:t>
            </a:r>
            <a:r>
              <a:rPr lang="en-GB" sz="1500" dirty="0"/>
              <a:t> et al. 1999)</a:t>
            </a:r>
          </a:p>
          <a:p>
            <a:pPr marL="0" indent="0">
              <a:buNone/>
            </a:pPr>
            <a:endParaRPr lang="en-GB" sz="1500" dirty="0"/>
          </a:p>
        </p:txBody>
      </p:sp>
    </p:spTree>
    <p:extLst>
      <p:ext uri="{BB962C8B-B14F-4D97-AF65-F5344CB8AC3E}">
        <p14:creationId xmlns:p14="http://schemas.microsoft.com/office/powerpoint/2010/main" val="2098643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427525" y="867205"/>
            <a:ext cx="4365522" cy="565776"/>
          </a:xfrm>
        </p:spPr>
        <p:txBody>
          <a:bodyPr>
            <a:noAutofit/>
          </a:bodyPr>
          <a:lstStyle/>
          <a:p>
            <a:pPr marL="0" indent="0" algn="r">
              <a:buNone/>
            </a:pPr>
            <a:r>
              <a:rPr lang="en-GB" sz="2000" dirty="0" smtClean="0"/>
              <a:t>Attachment and behaviour: Adaptive responses</a:t>
            </a:r>
            <a:endParaRPr lang="en-GB" sz="2000" dirty="0"/>
          </a:p>
        </p:txBody>
      </p:sp>
      <p:sp>
        <p:nvSpPr>
          <p:cNvPr id="3" name="Text Placeholder 2"/>
          <p:cNvSpPr>
            <a:spLocks noGrp="1"/>
          </p:cNvSpPr>
          <p:nvPr>
            <p:ph type="body" sz="quarter" idx="4294967295"/>
          </p:nvPr>
        </p:nvSpPr>
        <p:spPr>
          <a:xfrm>
            <a:off x="2149485" y="2009990"/>
            <a:ext cx="5643562" cy="3452812"/>
          </a:xfrm>
        </p:spPr>
        <p:txBody>
          <a:bodyPr>
            <a:noAutofit/>
          </a:bodyPr>
          <a:lstStyle/>
          <a:p>
            <a:r>
              <a:rPr lang="en-GB" sz="1400" dirty="0"/>
              <a:t>Many of the ways these pupils are interacting with us, their peers and the learning context are adaptive responses, learned in order to cope with very challenging and often dangerous situations outside school. </a:t>
            </a:r>
          </a:p>
          <a:p>
            <a:pPr marL="0" indent="0">
              <a:buNone/>
            </a:pPr>
            <a:endParaRPr lang="en-GB" sz="1400" dirty="0"/>
          </a:p>
          <a:p>
            <a:r>
              <a:rPr lang="en-GB" sz="1400" dirty="0"/>
              <a:t>It is important to remember that although they are unhelpful now within the school context, these adaptive responses serve or have served our pupils extremely well, in terms of survival. </a:t>
            </a:r>
          </a:p>
          <a:p>
            <a:pPr marL="0" indent="0">
              <a:buNone/>
            </a:pPr>
            <a:endParaRPr lang="en-GB" sz="1400" dirty="0"/>
          </a:p>
          <a:p>
            <a:r>
              <a:rPr lang="en-GB" sz="1400" dirty="0"/>
              <a:t>Now these adaptive responses can significantly interfere with the pupils ability to settle and learn. Their own defences put them at risk of missing out again.</a:t>
            </a:r>
          </a:p>
          <a:p>
            <a:endParaRPr lang="en-GB" sz="1400" dirty="0"/>
          </a:p>
          <a:p>
            <a:r>
              <a:rPr lang="en-GB" sz="1400" dirty="0"/>
              <a:t>It can often be masked, but there is often an undercurrent of fear or panic in the challenging behaviours that we see. </a:t>
            </a:r>
          </a:p>
        </p:txBody>
      </p:sp>
    </p:spTree>
    <p:extLst>
      <p:ext uri="{BB962C8B-B14F-4D97-AF65-F5344CB8AC3E}">
        <p14:creationId xmlns:p14="http://schemas.microsoft.com/office/powerpoint/2010/main" val="31550601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055866" y="867205"/>
            <a:ext cx="5067545" cy="565776"/>
          </a:xfrm>
        </p:spPr>
        <p:txBody>
          <a:bodyPr>
            <a:noAutofit/>
          </a:bodyPr>
          <a:lstStyle/>
          <a:p>
            <a:pPr marL="0" indent="0" algn="r">
              <a:buNone/>
            </a:pPr>
            <a:r>
              <a:rPr lang="en-GB" sz="2000" dirty="0" smtClean="0"/>
              <a:t>Attachment Friendly Frameworks </a:t>
            </a:r>
            <a:r>
              <a:rPr lang="en-GB" sz="2000" dirty="0"/>
              <a:t>for supporting behaviour</a:t>
            </a:r>
          </a:p>
        </p:txBody>
      </p:sp>
      <p:sp>
        <p:nvSpPr>
          <p:cNvPr id="3" name="Text Placeholder 2"/>
          <p:cNvSpPr>
            <a:spLocks noGrp="1"/>
          </p:cNvSpPr>
          <p:nvPr>
            <p:ph type="body" sz="quarter" idx="4294967295"/>
          </p:nvPr>
        </p:nvSpPr>
        <p:spPr>
          <a:xfrm>
            <a:off x="1854517" y="1986392"/>
            <a:ext cx="6091913" cy="3452812"/>
          </a:xfrm>
        </p:spPr>
        <p:txBody>
          <a:bodyPr>
            <a:normAutofit fontScale="92500" lnSpcReduction="20000"/>
          </a:bodyPr>
          <a:lstStyle/>
          <a:p>
            <a:r>
              <a:rPr lang="en-GB" sz="1400" dirty="0"/>
              <a:t>Research on attachment suggests that a </a:t>
            </a:r>
            <a:r>
              <a:rPr lang="en-GB" sz="2000" b="1" dirty="0"/>
              <a:t>relational rather than behavioural </a:t>
            </a:r>
            <a:r>
              <a:rPr lang="en-GB" sz="1400" dirty="0"/>
              <a:t>framework for supporting children’s behaviour is more effective in supporting children’s behaviour (Bergin and Bergin, 2009, Riley, 2010, </a:t>
            </a:r>
            <a:r>
              <a:rPr lang="en-GB" sz="1400" dirty="0" err="1"/>
              <a:t>Cozolino</a:t>
            </a:r>
            <a:r>
              <a:rPr lang="en-GB" sz="1400" dirty="0"/>
              <a:t>, 2013) </a:t>
            </a:r>
            <a:endParaRPr lang="en-GB" sz="1400" dirty="0" smtClean="0"/>
          </a:p>
          <a:p>
            <a:r>
              <a:rPr lang="en-GB" sz="1400" dirty="0" smtClean="0"/>
              <a:t>A </a:t>
            </a:r>
            <a:r>
              <a:rPr lang="en-GB" sz="1400" dirty="0"/>
              <a:t>behavioural framework which relies entirely on rewards and sanctions to modify children’s behaviour is not necessarily the most effective model and does not always work </a:t>
            </a:r>
            <a:endParaRPr lang="en-GB" sz="1400" dirty="0" smtClean="0"/>
          </a:p>
          <a:p>
            <a:r>
              <a:rPr lang="en-GB" sz="1400" dirty="0" smtClean="0"/>
              <a:t> </a:t>
            </a:r>
            <a:r>
              <a:rPr lang="en-GB" sz="1400" dirty="0"/>
              <a:t>A relational framework promotes universal well-being, learning and behaviour and can be especially helpful with children who have attachment difficulties or other vulnerabilities </a:t>
            </a:r>
            <a:endParaRPr lang="en-GB" sz="1400" dirty="0" smtClean="0"/>
          </a:p>
          <a:p>
            <a:r>
              <a:rPr lang="en-GB" sz="1400" dirty="0" smtClean="0"/>
              <a:t>A </a:t>
            </a:r>
            <a:r>
              <a:rPr lang="en-GB" sz="1400" dirty="0"/>
              <a:t>relational framework acknowledges that all behaviour is a form of communication and adopts a ‘no-blame’ ethos </a:t>
            </a:r>
            <a:endParaRPr lang="en-GB" sz="1400" dirty="0" smtClean="0"/>
          </a:p>
          <a:p>
            <a:endParaRPr lang="en-GB" sz="1400" dirty="0"/>
          </a:p>
          <a:p>
            <a:pPr marL="0" indent="0">
              <a:buNone/>
            </a:pPr>
            <a:r>
              <a:rPr lang="en-GB" sz="1400" dirty="0" smtClean="0"/>
              <a:t>For an example see ‘ Developing an Attachment Aware Behaviour Regulation Policy: Guidance for Brighton and Hove School, September 2018’</a:t>
            </a:r>
          </a:p>
          <a:p>
            <a:pPr marL="0" indent="0">
              <a:buNone/>
            </a:pPr>
            <a:r>
              <a:rPr lang="en-GB" sz="1400" dirty="0" smtClean="0"/>
              <a:t>Trauma aware/trauma </a:t>
            </a:r>
            <a:r>
              <a:rPr lang="en-GB" sz="1400" dirty="0" err="1" smtClean="0"/>
              <a:t>senstiive</a:t>
            </a:r>
            <a:r>
              <a:rPr lang="en-GB" sz="1400" dirty="0" smtClean="0"/>
              <a:t> schools’</a:t>
            </a:r>
            <a:endParaRPr lang="en-GB" sz="1400" dirty="0"/>
          </a:p>
        </p:txBody>
      </p:sp>
    </p:spTree>
    <p:extLst>
      <p:ext uri="{BB962C8B-B14F-4D97-AF65-F5344CB8AC3E}">
        <p14:creationId xmlns:p14="http://schemas.microsoft.com/office/powerpoint/2010/main" val="1127328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055866" y="867205"/>
            <a:ext cx="5067545" cy="565776"/>
          </a:xfrm>
        </p:spPr>
        <p:txBody>
          <a:bodyPr>
            <a:noAutofit/>
          </a:bodyPr>
          <a:lstStyle/>
          <a:p>
            <a:pPr marL="0" indent="0" algn="r">
              <a:buNone/>
            </a:pPr>
            <a:r>
              <a:rPr lang="en-GB" sz="1600"/>
              <a:t>Exclusion from an attachment lens</a:t>
            </a:r>
            <a:endParaRPr lang="en-GB" sz="1600" dirty="0"/>
          </a:p>
        </p:txBody>
      </p:sp>
      <p:sp>
        <p:nvSpPr>
          <p:cNvPr id="3" name="Text Placeholder 2"/>
          <p:cNvSpPr>
            <a:spLocks noGrp="1"/>
          </p:cNvSpPr>
          <p:nvPr>
            <p:ph type="body" sz="quarter" idx="4294967295"/>
          </p:nvPr>
        </p:nvSpPr>
        <p:spPr>
          <a:xfrm>
            <a:off x="2149485" y="2009990"/>
            <a:ext cx="5643562" cy="3452812"/>
          </a:xfrm>
        </p:spPr>
        <p:txBody>
          <a:bodyPr>
            <a:normAutofit/>
          </a:bodyPr>
          <a:lstStyle/>
          <a:p>
            <a:pPr marL="0" indent="0">
              <a:buNone/>
            </a:pPr>
            <a:r>
              <a:rPr lang="en-GB" altLang="en-US" sz="1800">
                <a:solidFill>
                  <a:schemeClr val="tx2"/>
                </a:solidFill>
                <a:ea typeface="ＭＳ Ｐゴシック" pitchFamily="34" charset="-128"/>
              </a:rPr>
              <a:t>Recap: Attachment is about </a:t>
            </a:r>
            <a:r>
              <a:rPr lang="en-GB" altLang="en-US" sz="1800" b="1">
                <a:solidFill>
                  <a:schemeClr val="tx2"/>
                </a:solidFill>
                <a:ea typeface="ＭＳ Ｐゴシック" pitchFamily="34" charset="-128"/>
              </a:rPr>
              <a:t>relationships</a:t>
            </a:r>
            <a:r>
              <a:rPr lang="en-GB" altLang="en-US" sz="1800">
                <a:solidFill>
                  <a:schemeClr val="tx2"/>
                </a:solidFill>
                <a:ea typeface="ＭＳ Ｐゴシック" pitchFamily="34" charset="-128"/>
              </a:rPr>
              <a:t>, and our </a:t>
            </a:r>
            <a:r>
              <a:rPr lang="en-GB" altLang="en-US" sz="1800" i="1">
                <a:solidFill>
                  <a:schemeClr val="tx2"/>
                </a:solidFill>
                <a:ea typeface="ＭＳ Ｐゴシック" pitchFamily="34" charset="-128"/>
              </a:rPr>
              <a:t>mental models</a:t>
            </a:r>
            <a:r>
              <a:rPr lang="en-GB" altLang="en-US" sz="1800">
                <a:solidFill>
                  <a:schemeClr val="tx2"/>
                </a:solidFill>
                <a:ea typeface="ＭＳ Ｐゴシック" pitchFamily="34" charset="-128"/>
              </a:rPr>
              <a:t> of relationships.</a:t>
            </a:r>
          </a:p>
          <a:p>
            <a:pPr marL="0" indent="0">
              <a:buNone/>
            </a:pPr>
            <a:endParaRPr lang="en-GB" sz="1800">
              <a:solidFill>
                <a:schemeClr val="tx2"/>
              </a:solidFill>
              <a:ea typeface="ＭＳ Ｐゴシック" pitchFamily="34" charset="-128"/>
            </a:endParaRPr>
          </a:p>
          <a:p>
            <a:pPr marL="0" indent="0">
              <a:buNone/>
            </a:pPr>
            <a:r>
              <a:rPr lang="en-GB" sz="1800">
                <a:solidFill>
                  <a:schemeClr val="tx2"/>
                </a:solidFill>
                <a:ea typeface="ＭＳ Ｐゴシック" pitchFamily="34" charset="-128"/>
              </a:rPr>
              <a:t>What is the psychological impact of being excluded from school for children and young people who have not yet developed secure attachments?</a:t>
            </a:r>
          </a:p>
          <a:p>
            <a:pPr marL="0" indent="0">
              <a:buNone/>
            </a:pPr>
            <a:endParaRPr lang="en-GB" sz="1400"/>
          </a:p>
        </p:txBody>
      </p:sp>
    </p:spTree>
    <p:extLst>
      <p:ext uri="{BB962C8B-B14F-4D97-AF65-F5344CB8AC3E}">
        <p14:creationId xmlns:p14="http://schemas.microsoft.com/office/powerpoint/2010/main" val="20804450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055866" y="867205"/>
            <a:ext cx="5067545" cy="565776"/>
          </a:xfrm>
        </p:spPr>
        <p:txBody>
          <a:bodyPr>
            <a:noAutofit/>
          </a:bodyPr>
          <a:lstStyle/>
          <a:p>
            <a:pPr marL="0" indent="0" algn="r">
              <a:buNone/>
            </a:pPr>
            <a:r>
              <a:rPr lang="en-GB" sz="1600"/>
              <a:t>Working with trauma: secondary stress</a:t>
            </a:r>
            <a:endParaRPr lang="en-GB" sz="1600" dirty="0"/>
          </a:p>
        </p:txBody>
      </p:sp>
      <p:sp>
        <p:nvSpPr>
          <p:cNvPr id="3" name="Text Placeholder 2"/>
          <p:cNvSpPr>
            <a:spLocks noGrp="1"/>
          </p:cNvSpPr>
          <p:nvPr>
            <p:ph type="body" sz="quarter" idx="4294967295"/>
          </p:nvPr>
        </p:nvSpPr>
        <p:spPr>
          <a:xfrm>
            <a:off x="2046454" y="2125900"/>
            <a:ext cx="5643562" cy="3452812"/>
          </a:xfrm>
        </p:spPr>
        <p:txBody>
          <a:bodyPr>
            <a:normAutofit fontScale="92500" lnSpcReduction="10000"/>
          </a:bodyPr>
          <a:lstStyle/>
          <a:p>
            <a:r>
              <a:rPr lang="en-GB" sz="1400" dirty="0"/>
              <a:t>School leaders need to be aware of the </a:t>
            </a:r>
            <a:r>
              <a:rPr lang="en-GB" sz="2400" dirty="0"/>
              <a:t>‘secondary stress</a:t>
            </a:r>
            <a:r>
              <a:rPr lang="en-GB" sz="2000" dirty="0"/>
              <a:t>’</a:t>
            </a:r>
            <a:r>
              <a:rPr lang="en-GB" sz="1400" dirty="0"/>
              <a:t> symptoms that can impact on staff who are working with children who have experienced trauma and loss. </a:t>
            </a:r>
          </a:p>
          <a:p>
            <a:r>
              <a:rPr lang="en-GB" sz="1400" dirty="0" smtClean="0"/>
              <a:t>Consideration </a:t>
            </a:r>
            <a:r>
              <a:rPr lang="en-GB" sz="1400" dirty="0"/>
              <a:t>needs to be given to ensure staff are </a:t>
            </a:r>
            <a:r>
              <a:rPr lang="en-GB" sz="2400" dirty="0"/>
              <a:t>appropriately supported</a:t>
            </a:r>
            <a:r>
              <a:rPr lang="en-GB" sz="2000" b="1" dirty="0"/>
              <a:t> </a:t>
            </a:r>
            <a:r>
              <a:rPr lang="en-GB" sz="1400" dirty="0"/>
              <a:t>through regular supervision, training and support. </a:t>
            </a:r>
          </a:p>
          <a:p>
            <a:pPr marL="0" indent="0">
              <a:buNone/>
            </a:pPr>
            <a:endParaRPr lang="en-GB" sz="1400" dirty="0"/>
          </a:p>
          <a:p>
            <a:pPr marL="0" indent="0">
              <a:buNone/>
            </a:pPr>
            <a:r>
              <a:rPr lang="en-GB" sz="1400" i="1" dirty="0"/>
              <a:t>‘When working with disturbed children, one might find oneself feeling hurt, abused, angry, frustrated, intolerant, anxious, de-skilled and even frightened. One of the reasons that working with children experiencing emotional and behavioural difficulties is so disturbing is that such intense and painful feelings are somehow pushed [or projected] into the staff (as well as other children). Sometimes it might feel as if it is difficult to know where the feelings are coming from, and the intensity of them might lead one to question one’s own competence and professional worth’ </a:t>
            </a:r>
          </a:p>
          <a:p>
            <a:pPr marL="0" indent="0">
              <a:buNone/>
            </a:pPr>
            <a:r>
              <a:rPr lang="en-GB" sz="1400" dirty="0" err="1"/>
              <a:t>Greenhalgh</a:t>
            </a:r>
            <a:r>
              <a:rPr lang="en-GB" sz="1400" dirty="0"/>
              <a:t> (1994)</a:t>
            </a:r>
          </a:p>
          <a:p>
            <a:pPr marL="0" indent="0">
              <a:buNone/>
            </a:pPr>
            <a:endParaRPr lang="en-GB" sz="1400" dirty="0"/>
          </a:p>
        </p:txBody>
      </p:sp>
    </p:spTree>
    <p:extLst>
      <p:ext uri="{BB962C8B-B14F-4D97-AF65-F5344CB8AC3E}">
        <p14:creationId xmlns:p14="http://schemas.microsoft.com/office/powerpoint/2010/main" val="30064366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p:cNvSpPr>
          <p:nvPr/>
        </p:nvSpPr>
        <p:spPr>
          <a:xfrm>
            <a:off x="2689900" y="544268"/>
            <a:ext cx="6172200" cy="857250"/>
          </a:xfrm>
          <a:prstGeom prst="rect">
            <a:avLst/>
          </a:prstGeom>
        </p:spPr>
        <p:txBody>
          <a:bodyPr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a:pPr>
            <a:r>
              <a:rPr lang="en-GB" sz="2100" b="1" dirty="0">
                <a:solidFill>
                  <a:srgbClr val="B74398"/>
                </a:solidFill>
                <a:latin typeface="+mn-lt"/>
                <a:cs typeface="Arial" panose="020B0604020202020204" pitchFamily="34" charset="0"/>
              </a:rPr>
              <a:t>Helping children to heal</a:t>
            </a:r>
          </a:p>
        </p:txBody>
      </p:sp>
      <p:sp>
        <p:nvSpPr>
          <p:cNvPr id="4" name="Rectangle 3"/>
          <p:cNvSpPr/>
          <p:nvPr/>
        </p:nvSpPr>
        <p:spPr>
          <a:xfrm>
            <a:off x="1996224" y="1893194"/>
            <a:ext cx="6068193" cy="4791633"/>
          </a:xfrm>
          <a:prstGeom prst="rect">
            <a:avLst/>
          </a:prstGeom>
        </p:spPr>
        <p:txBody>
          <a:bodyPr wrap="square">
            <a:spAutoFit/>
          </a:bodyPr>
          <a:lstStyle/>
          <a:p>
            <a:pPr marL="214313" indent="-214313">
              <a:lnSpc>
                <a:spcPct val="107000"/>
              </a:lnSpc>
              <a:spcAft>
                <a:spcPts val="600"/>
              </a:spcAft>
              <a:buFont typeface="Arial" panose="020B0604020202020204" pitchFamily="34" charset="0"/>
              <a:buChar char="•"/>
            </a:pPr>
            <a:r>
              <a:rPr lang="en-GB" sz="1600" dirty="0"/>
              <a:t>Our brains have plasticity - we can always learn new things (as long as we feel safe). </a:t>
            </a:r>
          </a:p>
          <a:p>
            <a:pPr marL="214313" indent="-214313">
              <a:lnSpc>
                <a:spcPct val="107000"/>
              </a:lnSpc>
              <a:spcAft>
                <a:spcPts val="600"/>
              </a:spcAft>
              <a:buFont typeface="Arial" panose="020B0604020202020204" pitchFamily="34" charset="0"/>
              <a:buChar char="•"/>
            </a:pPr>
            <a:r>
              <a:rPr lang="en-GB" sz="1600" dirty="0">
                <a:latin typeface="Calibri" panose="020F0502020204030204" pitchFamily="34" charset="0"/>
                <a:ea typeface="Calibri" panose="020F0502020204030204" pitchFamily="34" charset="0"/>
                <a:cs typeface="Times New Roman" panose="02020603050405020304" pitchFamily="18" charset="0"/>
              </a:rPr>
              <a:t>Children and young people who have experienced trauma or neglect need to be provided with what they missed out on in their early years – </a:t>
            </a:r>
            <a:r>
              <a:rPr lang="en-GB" sz="1600" b="1" dirty="0">
                <a:latin typeface="Calibri" panose="020F0502020204030204" pitchFamily="34" charset="0"/>
                <a:ea typeface="Calibri" panose="020F0502020204030204" pitchFamily="34" charset="0"/>
                <a:cs typeface="Times New Roman" panose="02020603050405020304" pitchFamily="18" charset="0"/>
              </a:rPr>
              <a:t>a safe base </a:t>
            </a:r>
            <a:r>
              <a:rPr lang="en-GB" sz="1600" dirty="0">
                <a:latin typeface="Calibri" panose="020F0502020204030204" pitchFamily="34" charset="0"/>
                <a:ea typeface="Calibri" panose="020F0502020204030204" pitchFamily="34" charset="0"/>
                <a:cs typeface="Times New Roman" panose="02020603050405020304" pitchFamily="18" charset="0"/>
              </a:rPr>
              <a:t>from which to explore and learn. </a:t>
            </a:r>
          </a:p>
          <a:p>
            <a:pPr marL="214313" indent="-214313">
              <a:lnSpc>
                <a:spcPct val="107000"/>
              </a:lnSpc>
              <a:spcAft>
                <a:spcPts val="600"/>
              </a:spcAft>
              <a:buFont typeface="Arial" panose="020B0604020202020204" pitchFamily="34" charset="0"/>
              <a:buChar char="•"/>
            </a:pPr>
            <a:r>
              <a:rPr lang="en-GB" sz="1600" dirty="0">
                <a:latin typeface="Calibri" panose="020F0502020204030204" pitchFamily="34" charset="0"/>
                <a:ea typeface="Calibri" panose="020F0502020204030204" pitchFamily="34" charset="0"/>
                <a:cs typeface="Times New Roman" panose="02020603050405020304" pitchFamily="18" charset="0"/>
              </a:rPr>
              <a:t>The pre fontal cortex develops through </a:t>
            </a:r>
            <a:r>
              <a:rPr lang="en-GB" sz="1600" b="1" dirty="0">
                <a:latin typeface="Calibri" panose="020F0502020204030204" pitchFamily="34" charset="0"/>
                <a:ea typeface="Calibri" panose="020F0502020204030204" pitchFamily="34" charset="0"/>
                <a:cs typeface="Times New Roman" panose="02020603050405020304" pitchFamily="18" charset="0"/>
              </a:rPr>
              <a:t>safe, meaningful and genuine interactions with sensitive, responsive, caring and consistent </a:t>
            </a:r>
            <a:r>
              <a:rPr lang="en-GB" sz="1600" b="1" dirty="0" smtClean="0">
                <a:latin typeface="Calibri" panose="020F0502020204030204" pitchFamily="34" charset="0"/>
                <a:ea typeface="Calibri" panose="020F0502020204030204" pitchFamily="34" charset="0"/>
                <a:cs typeface="Times New Roman" panose="02020603050405020304" pitchFamily="18" charset="0"/>
              </a:rPr>
              <a:t>caregiving</a:t>
            </a:r>
            <a:r>
              <a:rPr lang="en-GB" sz="1600" dirty="0" smtClean="0">
                <a:latin typeface="Calibri" panose="020F0502020204030204" pitchFamily="34" charset="0"/>
                <a:ea typeface="Calibri" panose="020F0502020204030204" pitchFamily="34" charset="0"/>
                <a:cs typeface="Times New Roman" panose="02020603050405020304" pitchFamily="18" charset="0"/>
              </a:rPr>
              <a:t>.</a:t>
            </a:r>
          </a:p>
          <a:p>
            <a:pPr marL="214313" indent="-214313">
              <a:lnSpc>
                <a:spcPct val="107000"/>
              </a:lnSpc>
              <a:spcAft>
                <a:spcPts val="600"/>
              </a:spcAft>
              <a:buFont typeface="Arial" panose="020B0604020202020204" pitchFamily="34" charset="0"/>
              <a:buChar char="•"/>
            </a:pPr>
            <a:r>
              <a:rPr lang="en-GB" sz="1600" dirty="0" smtClean="0">
                <a:latin typeface="Calibri" panose="020F0502020204030204" pitchFamily="34" charset="0"/>
                <a:ea typeface="Calibri" panose="020F0502020204030204" pitchFamily="34" charset="0"/>
                <a:cs typeface="Times New Roman" panose="02020603050405020304" pitchFamily="18" charset="0"/>
              </a:rPr>
              <a:t>How </a:t>
            </a:r>
            <a:r>
              <a:rPr lang="en-GB" sz="1600" dirty="0">
                <a:latin typeface="Calibri" panose="020F0502020204030204" pitchFamily="34" charset="0"/>
                <a:ea typeface="Calibri" panose="020F0502020204030204" pitchFamily="34" charset="0"/>
                <a:cs typeface="Times New Roman" panose="02020603050405020304" pitchFamily="18" charset="0"/>
              </a:rPr>
              <a:t>do we ensure children have access to this in their schools and care placements</a:t>
            </a:r>
            <a:r>
              <a:rPr lang="en-GB" sz="1600"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600"/>
              </a:spcAft>
            </a:pPr>
            <a:endParaRPr lang="en-GB"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GB" sz="1600" dirty="0"/>
              <a:t>All children need positive relationships (secure attachments) to thrive.</a:t>
            </a:r>
          </a:p>
          <a:p>
            <a:pPr>
              <a:lnSpc>
                <a:spcPct val="107000"/>
              </a:lnSpc>
              <a:spcAft>
                <a:spcPts val="600"/>
              </a:spcAft>
            </a:pPr>
            <a:r>
              <a:rPr lang="en-GB" sz="1600" dirty="0"/>
              <a:t>Traumatised or neglected young people need </a:t>
            </a:r>
            <a:r>
              <a:rPr lang="en-GB" sz="1600" b="1" dirty="0"/>
              <a:t>positive relationships to heal</a:t>
            </a:r>
            <a:r>
              <a:rPr lang="en-GB" sz="1600" dirty="0"/>
              <a:t>.</a:t>
            </a:r>
          </a:p>
          <a:p>
            <a:pPr marL="214313" indent="-214313">
              <a:lnSpc>
                <a:spcPct val="107000"/>
              </a:lnSpc>
              <a:spcAft>
                <a:spcPts val="600"/>
              </a:spcAft>
              <a:buFont typeface="Arial" panose="020B0604020202020204" pitchFamily="34" charset="0"/>
              <a:buChar char="•"/>
            </a:pPr>
            <a:endParaRPr lang="en-GB"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pPr>
            <a:endParaRPr lang="en-GB" sz="105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495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519907" y="635400"/>
            <a:ext cx="4184650" cy="542925"/>
          </a:xfrm>
        </p:spPr>
        <p:txBody>
          <a:bodyPr>
            <a:normAutofit fontScale="70000" lnSpcReduction="20000"/>
          </a:bodyPr>
          <a:lstStyle/>
          <a:p>
            <a:pPr marL="0" indent="0" algn="r">
              <a:buNone/>
            </a:pPr>
            <a:r>
              <a:rPr lang="en-GB" altLang="en-US" sz="3000" dirty="0">
                <a:ea typeface="ＭＳ Ｐゴシック" pitchFamily="34" charset="-128"/>
              </a:rPr>
              <a:t>How can we give insecurely attached children the same experience?</a:t>
            </a:r>
            <a:endParaRPr lang="en-US" altLang="en-US" sz="3000" dirty="0">
              <a:ea typeface="ＭＳ Ｐゴシック" pitchFamily="34" charset="-128"/>
            </a:endParaRPr>
          </a:p>
          <a:p>
            <a:endParaRPr lang="en-US" altLang="en-US" dirty="0" smtClean="0">
              <a:ea typeface="ＭＳ Ｐゴシック" pitchFamily="34" charset="-128"/>
            </a:endParaRPr>
          </a:p>
        </p:txBody>
      </p:sp>
      <p:sp>
        <p:nvSpPr>
          <p:cNvPr id="66562" name="Text Placeholder 2"/>
          <p:cNvSpPr>
            <a:spLocks noGrp="1"/>
          </p:cNvSpPr>
          <p:nvPr>
            <p:ph type="body" sz="quarter" idx="4294967295"/>
          </p:nvPr>
        </p:nvSpPr>
        <p:spPr>
          <a:xfrm>
            <a:off x="1898814" y="1837793"/>
            <a:ext cx="6277692" cy="4091059"/>
          </a:xfrm>
        </p:spPr>
        <p:txBody>
          <a:bodyPr>
            <a:normAutofit/>
          </a:bodyPr>
          <a:lstStyle/>
          <a:p>
            <a:pPr>
              <a:lnSpc>
                <a:spcPct val="110000"/>
              </a:lnSpc>
              <a:buNone/>
            </a:pPr>
            <a:r>
              <a:rPr lang="en-GB" altLang="en-US" sz="1650" dirty="0">
                <a:ea typeface="ＭＳ Ｐゴシック" pitchFamily="34" charset="-128"/>
              </a:rPr>
              <a:t>The art of </a:t>
            </a:r>
            <a:r>
              <a:rPr lang="en-GB" altLang="en-US" sz="1650" b="1" dirty="0">
                <a:ea typeface="ＭＳ Ｐゴシック" pitchFamily="34" charset="-128"/>
              </a:rPr>
              <a:t>translation </a:t>
            </a:r>
            <a:r>
              <a:rPr lang="en-GB" altLang="en-US" sz="1650" dirty="0">
                <a:ea typeface="ＭＳ Ｐゴシック" pitchFamily="34" charset="-128"/>
              </a:rPr>
              <a:t>– we are in a prime position to introduce our pupils to a world of secure attachment</a:t>
            </a:r>
            <a:r>
              <a:rPr lang="en-GB" altLang="en-US" sz="1650">
                <a:ea typeface="ＭＳ Ｐゴシック" pitchFamily="34" charset="-128"/>
              </a:rPr>
              <a:t>: </a:t>
            </a:r>
            <a:endParaRPr lang="en-GB" altLang="en-US" sz="1650" smtClean="0">
              <a:ea typeface="ＭＳ Ｐゴシック" pitchFamily="34" charset="-128"/>
            </a:endParaRPr>
          </a:p>
          <a:p>
            <a:pPr>
              <a:lnSpc>
                <a:spcPct val="110000"/>
              </a:lnSpc>
              <a:buNone/>
            </a:pPr>
            <a:r>
              <a:rPr lang="en-GB" altLang="en-US" sz="1650" smtClean="0">
                <a:ea typeface="ＭＳ Ｐゴシック" pitchFamily="34" charset="-128"/>
              </a:rPr>
              <a:t>How can our schools support children and young people:</a:t>
            </a:r>
            <a:endParaRPr lang="en-US" altLang="en-US" sz="1650" dirty="0">
              <a:ea typeface="ＭＳ Ｐゴシック" pitchFamily="34" charset="-128"/>
            </a:endParaRPr>
          </a:p>
          <a:p>
            <a:pPr eaLnBrk="1" hangingPunct="1">
              <a:lnSpc>
                <a:spcPct val="110000"/>
              </a:lnSpc>
              <a:buFont typeface="Wingdings" panose="05000000000000000000" pitchFamily="2" charset="2"/>
              <a:buChar char="ü"/>
            </a:pPr>
            <a:r>
              <a:rPr lang="en-US" altLang="en-US" sz="1650" dirty="0">
                <a:ea typeface="ＭＳ Ｐゴシック" pitchFamily="34" charset="-128"/>
              </a:rPr>
              <a:t>To develop trust in adults – to be able to use as ‘Secure </a:t>
            </a:r>
            <a:r>
              <a:rPr lang="en-US" altLang="en-US" sz="1650">
                <a:ea typeface="ＭＳ Ｐゴシック" pitchFamily="34" charset="-128"/>
              </a:rPr>
              <a:t>Base</a:t>
            </a:r>
            <a:r>
              <a:rPr lang="en-US" altLang="en-US" sz="1650" smtClean="0">
                <a:ea typeface="ＭＳ Ｐゴシック" pitchFamily="34" charset="-128"/>
              </a:rPr>
              <a:t>’</a:t>
            </a:r>
            <a:endParaRPr lang="en-US" altLang="en-US" sz="1650" dirty="0">
              <a:ea typeface="ＭＳ Ｐゴシック" pitchFamily="34" charset="-128"/>
            </a:endParaRPr>
          </a:p>
          <a:p>
            <a:pPr eaLnBrk="1" hangingPunct="1">
              <a:lnSpc>
                <a:spcPct val="110000"/>
              </a:lnSpc>
              <a:buFont typeface="Wingdings" panose="05000000000000000000" pitchFamily="2" charset="2"/>
              <a:buChar char="ü"/>
            </a:pPr>
            <a:r>
              <a:rPr lang="en-US" altLang="en-US" sz="1650" dirty="0">
                <a:ea typeface="ＭＳ Ｐゴシック" pitchFamily="34" charset="-128"/>
              </a:rPr>
              <a:t>To develop confidence in the availability </a:t>
            </a:r>
            <a:r>
              <a:rPr lang="en-US" altLang="en-US" sz="1650">
                <a:ea typeface="ＭＳ Ｐゴシック" pitchFamily="34" charset="-128"/>
              </a:rPr>
              <a:t>of </a:t>
            </a:r>
            <a:r>
              <a:rPr lang="en-US" altLang="en-US" sz="1650" smtClean="0">
                <a:ea typeface="ＭＳ Ｐゴシック" pitchFamily="34" charset="-128"/>
              </a:rPr>
              <a:t>adults</a:t>
            </a:r>
            <a:endParaRPr lang="en-GB" altLang="en-US" sz="1650" dirty="0">
              <a:ea typeface="ＭＳ Ｐゴシック" pitchFamily="34" charset="-128"/>
            </a:endParaRPr>
          </a:p>
          <a:p>
            <a:pPr eaLnBrk="1" hangingPunct="1">
              <a:lnSpc>
                <a:spcPct val="110000"/>
              </a:lnSpc>
              <a:buFont typeface="Wingdings" panose="05000000000000000000" pitchFamily="2" charset="2"/>
              <a:buChar char="ü"/>
            </a:pPr>
            <a:r>
              <a:rPr lang="en-US" altLang="en-US" sz="1650" dirty="0">
                <a:ea typeface="ＭＳ Ｐゴシック" pitchFamily="34" charset="-128"/>
              </a:rPr>
              <a:t>To know adults can be </a:t>
            </a:r>
            <a:r>
              <a:rPr lang="en-US" altLang="en-US" sz="1650">
                <a:ea typeface="ＭＳ Ｐゴシック" pitchFamily="34" charset="-128"/>
              </a:rPr>
              <a:t>relied </a:t>
            </a:r>
            <a:r>
              <a:rPr lang="en-US" altLang="en-US" sz="1650" smtClean="0">
                <a:ea typeface="ＭＳ Ｐゴシック" pitchFamily="34" charset="-128"/>
              </a:rPr>
              <a:t>upon</a:t>
            </a:r>
            <a:endParaRPr lang="en-GB" altLang="en-US" sz="1650" dirty="0">
              <a:ea typeface="ＭＳ Ｐゴシック" pitchFamily="34" charset="-128"/>
            </a:endParaRPr>
          </a:p>
          <a:p>
            <a:pPr eaLnBrk="1" hangingPunct="1">
              <a:lnSpc>
                <a:spcPct val="110000"/>
              </a:lnSpc>
              <a:buFont typeface="Wingdings" panose="05000000000000000000" pitchFamily="2" charset="2"/>
              <a:buChar char="ü"/>
            </a:pPr>
            <a:r>
              <a:rPr lang="en-US" altLang="en-US" sz="1650" dirty="0">
                <a:ea typeface="ＭＳ Ｐゴシック" pitchFamily="34" charset="-128"/>
              </a:rPr>
              <a:t>To feel good </a:t>
            </a:r>
            <a:r>
              <a:rPr lang="en-US" altLang="en-US" sz="1650">
                <a:ea typeface="ＭＳ Ｐゴシック" pitchFamily="34" charset="-128"/>
              </a:rPr>
              <a:t>about </a:t>
            </a:r>
            <a:r>
              <a:rPr lang="en-US" altLang="en-US" sz="1650" smtClean="0">
                <a:ea typeface="ＭＳ Ｐゴシック" pitchFamily="34" charset="-128"/>
              </a:rPr>
              <a:t>themselves</a:t>
            </a:r>
            <a:endParaRPr lang="en-GB" altLang="en-US" sz="1650" dirty="0">
              <a:ea typeface="ＭＳ Ｐゴシック" pitchFamily="34" charset="-128"/>
            </a:endParaRPr>
          </a:p>
          <a:p>
            <a:pPr>
              <a:lnSpc>
                <a:spcPct val="110000"/>
              </a:lnSpc>
              <a:buFont typeface="Wingdings" panose="05000000000000000000" pitchFamily="2" charset="2"/>
              <a:buChar char="ü"/>
            </a:pPr>
            <a:r>
              <a:rPr lang="en-US" altLang="en-US" sz="1650" dirty="0">
                <a:ea typeface="ＭＳ Ｐゴシック" pitchFamily="34" charset="-128"/>
              </a:rPr>
              <a:t>To know they are </a:t>
            </a:r>
            <a:r>
              <a:rPr lang="en-US" altLang="en-US" sz="1650">
                <a:ea typeface="ＭＳ Ｐゴシック" pitchFamily="34" charset="-128"/>
              </a:rPr>
              <a:t>valued </a:t>
            </a:r>
            <a:endParaRPr lang="en-US" altLang="en-US" sz="1650" dirty="0">
              <a:ea typeface="ＭＳ Ｐゴシック" pitchFamily="34" charset="-128"/>
            </a:endParaRPr>
          </a:p>
          <a:p>
            <a:pPr marL="0" indent="0" eaLnBrk="1" hangingPunct="1">
              <a:lnSpc>
                <a:spcPct val="110000"/>
              </a:lnSpc>
              <a:buNone/>
            </a:pPr>
            <a:endParaRPr lang="en-GB" altLang="en-US" sz="1650" dirty="0">
              <a:ea typeface="ＭＳ Ｐゴシック" pitchFamily="34" charset="-128"/>
            </a:endParaRPr>
          </a:p>
          <a:p>
            <a:pPr>
              <a:lnSpc>
                <a:spcPct val="110000"/>
              </a:lnSpc>
            </a:pPr>
            <a:endParaRPr lang="en-US" altLang="en-US" dirty="0" smtClean="0">
              <a:ea typeface="ＭＳ Ｐゴシック" pitchFamily="34" charset="-128"/>
            </a:endParaRPr>
          </a:p>
        </p:txBody>
      </p:sp>
    </p:spTree>
    <p:extLst>
      <p:ext uri="{BB962C8B-B14F-4D97-AF65-F5344CB8AC3E}">
        <p14:creationId xmlns:p14="http://schemas.microsoft.com/office/powerpoint/2010/main" val="520638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3576188" y="943753"/>
            <a:ext cx="3744912" cy="388938"/>
          </a:xfrm>
        </p:spPr>
        <p:txBody>
          <a:bodyPr>
            <a:normAutofit fontScale="77500" lnSpcReduction="20000"/>
          </a:bodyPr>
          <a:lstStyle/>
          <a:p>
            <a:pPr marL="0" indent="0">
              <a:buNone/>
              <a:defRPr/>
            </a:pPr>
            <a:r>
              <a:rPr lang="en-US" dirty="0" smtClean="0"/>
              <a:t>S.S.S.: the big 3 that can help</a:t>
            </a:r>
            <a:endParaRPr lang="en-US" dirty="0"/>
          </a:p>
        </p:txBody>
      </p:sp>
      <p:sp>
        <p:nvSpPr>
          <p:cNvPr id="3" name="Text Placeholder 2"/>
          <p:cNvSpPr>
            <a:spLocks noGrp="1"/>
          </p:cNvSpPr>
          <p:nvPr>
            <p:ph type="body" sz="quarter" idx="4294967295"/>
          </p:nvPr>
        </p:nvSpPr>
        <p:spPr>
          <a:xfrm>
            <a:off x="2467631" y="2151667"/>
            <a:ext cx="5254625" cy="3362325"/>
          </a:xfrm>
        </p:spPr>
        <p:txBody>
          <a:bodyPr/>
          <a:lstStyle/>
          <a:p>
            <a:pPr marL="0" indent="0">
              <a:buNone/>
            </a:pPr>
            <a:r>
              <a:rPr lang="en-US" altLang="en-US" sz="1800" dirty="0">
                <a:ea typeface="ＭＳ Ｐゴシック" pitchFamily="34" charset="-128"/>
              </a:rPr>
              <a:t>Therapeutic ingredients that appear to promote attachment when provided by teachers and caregivers include the following:</a:t>
            </a:r>
          </a:p>
          <a:p>
            <a:pPr marL="0" indent="0">
              <a:buNone/>
            </a:pPr>
            <a:endParaRPr lang="en-US" altLang="en-US" sz="1800" dirty="0">
              <a:ea typeface="ＭＳ Ｐゴシック" pitchFamily="34" charset="-128"/>
            </a:endParaRPr>
          </a:p>
          <a:p>
            <a:pPr marL="0" indent="0"/>
            <a:r>
              <a:rPr lang="en-US" altLang="en-US" sz="1800" b="1" dirty="0">
                <a:ea typeface="ＭＳ Ｐゴシック" pitchFamily="34" charset="-128"/>
              </a:rPr>
              <a:t>Security</a:t>
            </a:r>
            <a:r>
              <a:rPr lang="en-US" altLang="en-US" sz="1800" dirty="0">
                <a:ea typeface="ＭＳ Ｐゴシック" pitchFamily="34" charset="-128"/>
              </a:rPr>
              <a:t> (sense of psychological safety)</a:t>
            </a:r>
          </a:p>
          <a:p>
            <a:pPr marL="0" indent="0"/>
            <a:r>
              <a:rPr lang="en-US" altLang="en-US" sz="1800" b="1" dirty="0">
                <a:ea typeface="ＭＳ Ｐゴシック" pitchFamily="34" charset="-128"/>
              </a:rPr>
              <a:t>Stability</a:t>
            </a:r>
            <a:r>
              <a:rPr lang="en-US" altLang="en-US" sz="1800" dirty="0">
                <a:ea typeface="ＭＳ Ｐゴシック" pitchFamily="34" charset="-128"/>
              </a:rPr>
              <a:t> (permanence of the attachment figure)</a:t>
            </a:r>
          </a:p>
          <a:p>
            <a:pPr marL="0" indent="0"/>
            <a:r>
              <a:rPr lang="en-US" altLang="en-US" sz="1800" b="1" dirty="0">
                <a:ea typeface="ＭＳ Ｐゴシック" pitchFamily="34" charset="-128"/>
              </a:rPr>
              <a:t>Sensitivity</a:t>
            </a:r>
            <a:r>
              <a:rPr lang="en-US" altLang="en-US" sz="1800" dirty="0">
                <a:ea typeface="ＭＳ Ｐゴシック" pitchFamily="34" charset="-128"/>
              </a:rPr>
              <a:t> (emotional availability)</a:t>
            </a:r>
          </a:p>
          <a:p>
            <a:pPr marL="0" indent="0"/>
            <a:endParaRPr lang="en-US" altLang="en-US" dirty="0" smtClean="0">
              <a:ea typeface="ＭＳ Ｐゴシック" pitchFamily="34" charset="-128"/>
            </a:endParaRPr>
          </a:p>
        </p:txBody>
      </p:sp>
    </p:spTree>
    <p:extLst>
      <p:ext uri="{BB962C8B-B14F-4D97-AF65-F5344CB8AC3E}">
        <p14:creationId xmlns:p14="http://schemas.microsoft.com/office/powerpoint/2010/main" val="36706401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2856</TotalTime>
  <Words>2036</Words>
  <Application>Microsoft Office PowerPoint</Application>
  <PresentationFormat>On-screen Show (4:3)</PresentationFormat>
  <Paragraphs>168</Paragraphs>
  <Slides>18</Slides>
  <Notes>18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7" baseType="lpstr">
      <vt:lpstr>ＭＳ Ｐゴシック</vt:lpstr>
      <vt:lpstr>Arial</vt:lpstr>
      <vt:lpstr>Calibri</vt:lpstr>
      <vt:lpstr>Calibri Light</vt:lpstr>
      <vt:lpstr>Times New Roman</vt:lpstr>
      <vt:lpstr>Wingdings</vt:lpstr>
      <vt:lpstr>Office Theme</vt:lpstr>
      <vt:lpstr>Custom Design</vt:lpstr>
      <vt:lpstr>Photo Editor Photo</vt:lpstr>
      <vt:lpstr>PowerPoint Presentation</vt:lpstr>
      <vt:lpstr>Attachment Theory</vt:lpstr>
      <vt:lpstr>PowerPoint Presentation</vt:lpstr>
      <vt:lpstr>PowerPoint Presentation</vt:lpstr>
      <vt:lpstr>PowerPoint Presentation</vt:lpstr>
      <vt:lpstr>PowerPoint Presentation</vt:lpstr>
      <vt:lpstr>Attachment style and social competence</vt:lpstr>
      <vt:lpstr>PowerPoint Presentation</vt:lpstr>
      <vt:lpstr>Attachment style and attention</vt:lpstr>
      <vt:lpstr>PowerPoint Presentation</vt:lpstr>
      <vt:lpstr>Attachment Style and academic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Attachment Theory</dc:title>
  <dc:creator>Sara Freitag</dc:creator>
  <cp:lastModifiedBy>Scott I-Patrick (AfC)</cp:lastModifiedBy>
  <cp:revision>17</cp:revision>
  <dcterms:created xsi:type="dcterms:W3CDTF">2019-02-26T16:12:14Z</dcterms:created>
  <dcterms:modified xsi:type="dcterms:W3CDTF">2019-06-27T16:39:05Z</dcterms:modified>
</cp:coreProperties>
</file>