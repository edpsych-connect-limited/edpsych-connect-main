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742113"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9" autoAdjust="0"/>
    <p:restoredTop sz="86462" autoAdjust="0"/>
  </p:normalViewPr>
  <p:slideViewPr>
    <p:cSldViewPr showGuides="1">
      <p:cViewPr>
        <p:scale>
          <a:sx n="90" d="100"/>
          <a:sy n="90" d="100"/>
        </p:scale>
        <p:origin x="-1572" y="-2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53484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17285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538625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275058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4101490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06935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501815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1163325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79339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91680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03/04/2019</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1374492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B4DB29-DCFE-4DA4-9632-0CE57373FD6C}" type="datetimeFigureOut">
              <a:rPr lang="en-GB" smtClean="0"/>
              <a:t>03/04/2019</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87712-BCBF-4442-808F-BA1837CA8A26}" type="slidenum">
              <a:rPr lang="en-GB" smtClean="0"/>
              <a:t>‹#›</a:t>
            </a:fld>
            <a:endParaRPr lang="en-GB" dirty="0"/>
          </a:p>
        </p:txBody>
      </p:sp>
    </p:spTree>
    <p:extLst>
      <p:ext uri="{BB962C8B-B14F-4D97-AF65-F5344CB8AC3E}">
        <p14:creationId xmlns:p14="http://schemas.microsoft.com/office/powerpoint/2010/main" val="3657604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hildrens.centres@achievingforchildren.org.uk"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5252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txBox="1">
            <a:spLocks/>
          </p:cNvSpPr>
          <p:nvPr/>
        </p:nvSpPr>
        <p:spPr>
          <a:xfrm>
            <a:off x="767947" y="210532"/>
            <a:ext cx="2651925" cy="621030"/>
          </a:xfrm>
          <a:prstGeom prst="rect">
            <a:avLst/>
          </a:prstGeom>
          <a:noFill/>
          <a:ln w="0" cmpd="sng">
            <a:noFill/>
            <a:prstDash val="solid"/>
          </a:ln>
        </p:spPr>
        <p:txBody>
          <a:bodyPr vert="horz" lIns="0" tIns="889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00"/>
              </a:lnSpc>
              <a:spcAft>
                <a:spcPts val="15"/>
              </a:spcAft>
            </a:pPr>
            <a:r>
              <a:rPr lang="en-GB" sz="1100" dirty="0">
                <a:solidFill>
                  <a:srgbClr val="000000"/>
                </a:solidFill>
                <a:latin typeface="Arial Narrow" panose="02020603050405020304" pitchFamily="2"/>
              </a:rPr>
              <a:t>I was very unsure and shy when the course </a:t>
            </a:r>
            <a:br>
              <a:rPr lang="en-GB" sz="1100" dirty="0">
                <a:solidFill>
                  <a:srgbClr val="000000"/>
                </a:solidFill>
                <a:latin typeface="Arial Narrow" panose="02020603050405020304" pitchFamily="2"/>
              </a:rPr>
            </a:br>
            <a:r>
              <a:rPr lang="en-GB" sz="1100" dirty="0">
                <a:solidFill>
                  <a:srgbClr val="000000"/>
                </a:solidFill>
                <a:latin typeface="Arial Narrow" panose="02020603050405020304" pitchFamily="2"/>
              </a:rPr>
              <a:t>started but by the end I felt more confident </a:t>
            </a:r>
            <a:br>
              <a:rPr lang="en-GB" sz="1100" dirty="0">
                <a:solidFill>
                  <a:srgbClr val="000000"/>
                </a:solidFill>
                <a:latin typeface="Arial Narrow" panose="02020603050405020304" pitchFamily="2"/>
              </a:rPr>
            </a:br>
            <a:r>
              <a:rPr lang="en-GB" sz="1100" dirty="0">
                <a:solidFill>
                  <a:srgbClr val="000000"/>
                </a:solidFill>
                <a:latin typeface="Arial Narrow" panose="02020603050405020304" pitchFamily="2"/>
              </a:rPr>
              <a:t>and was happy to join in. </a:t>
            </a:r>
          </a:p>
        </p:txBody>
      </p:sp>
      <p:sp>
        <p:nvSpPr>
          <p:cNvPr id="7" name="Text Placeholder 6"/>
          <p:cNvSpPr txBox="1">
            <a:spLocks/>
          </p:cNvSpPr>
          <p:nvPr/>
        </p:nvSpPr>
        <p:spPr>
          <a:xfrm>
            <a:off x="602616" y="965590"/>
            <a:ext cx="2167407" cy="146718"/>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000"/>
              </a:lnSpc>
              <a:spcAft>
                <a:spcPts val="20"/>
              </a:spcAft>
            </a:pPr>
            <a:r>
              <a:rPr lang="en-US" sz="600" spc="-5" dirty="0" smtClean="0">
                <a:solidFill>
                  <a:srgbClr val="000000"/>
                </a:solidFill>
                <a:latin typeface="Tahoma" panose="02020603050405020304" pitchFamily="2"/>
              </a:rPr>
              <a:t>Participant, Parents’ EFA (Solent NHS Trust)</a:t>
            </a:r>
            <a:endParaRPr lang="en-US" sz="600" spc="-5" dirty="0">
              <a:solidFill>
                <a:srgbClr val="000000"/>
              </a:solidFill>
              <a:latin typeface="Tahoma" panose="02020603050405020304" pitchFamily="2"/>
            </a:endParaRPr>
          </a:p>
        </p:txBody>
      </p:sp>
      <p:sp>
        <p:nvSpPr>
          <p:cNvPr id="8" name="Text Placeholder 7"/>
          <p:cNvSpPr txBox="1">
            <a:spLocks/>
          </p:cNvSpPr>
          <p:nvPr/>
        </p:nvSpPr>
        <p:spPr>
          <a:xfrm>
            <a:off x="899592" y="1484784"/>
            <a:ext cx="2664296" cy="1027430"/>
          </a:xfrm>
          <a:prstGeom prst="rect">
            <a:avLst/>
          </a:prstGeom>
          <a:noFill/>
          <a:ln w="0" cmpd="sng">
            <a:noFill/>
            <a:prstDash val="solid"/>
          </a:ln>
        </p:spPr>
        <p:txBody>
          <a:bodyPr vert="horz" lIns="0" tIns="1143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00"/>
              </a:lnSpc>
            </a:pPr>
            <a:r>
              <a:rPr lang="en-GB" sz="1100" dirty="0" smtClean="0">
                <a:solidFill>
                  <a:srgbClr val="000000"/>
                </a:solidFill>
                <a:latin typeface="Arial Narrow" panose="02020603050405020304" pitchFamily="2"/>
              </a:rPr>
              <a:t>I have realised that everyone is in a similar </a:t>
            </a:r>
            <a:r>
              <a:rPr lang="en-GB" sz="1100" dirty="0" smtClean="0"/>
              <a:t/>
            </a:r>
            <a:br>
              <a:rPr lang="en-GB" sz="1100" dirty="0" smtClean="0"/>
            </a:br>
            <a:r>
              <a:rPr lang="en-GB" sz="1100" dirty="0" smtClean="0">
                <a:solidFill>
                  <a:srgbClr val="000000"/>
                </a:solidFill>
                <a:latin typeface="Arial Narrow" panose="02020603050405020304" pitchFamily="2"/>
              </a:rPr>
              <a:t>situation, and that I am not different. </a:t>
            </a:r>
            <a:r>
              <a:rPr lang="en-GB" sz="1100" dirty="0" smtClean="0"/>
              <a:t/>
            </a:r>
            <a:br>
              <a:rPr lang="en-GB" sz="1100" dirty="0" smtClean="0"/>
            </a:br>
            <a:r>
              <a:rPr lang="en-GB" sz="1100" dirty="0" smtClean="0">
                <a:solidFill>
                  <a:srgbClr val="000000"/>
                </a:solidFill>
                <a:latin typeface="Arial Narrow" panose="02020603050405020304" pitchFamily="2"/>
              </a:rPr>
              <a:t>More positive about myself. </a:t>
            </a:r>
            <a:r>
              <a:rPr lang="en-GB" sz="1100" dirty="0" smtClean="0"/>
              <a:t/>
            </a:r>
            <a:br>
              <a:rPr lang="en-GB" sz="1100" dirty="0" smtClean="0"/>
            </a:br>
            <a:r>
              <a:rPr lang="en-GB" sz="1100" dirty="0" smtClean="0">
                <a:solidFill>
                  <a:srgbClr val="000000"/>
                </a:solidFill>
                <a:latin typeface="Arial Narrow" panose="02020603050405020304" pitchFamily="2"/>
              </a:rPr>
              <a:t>There’s a lot of good in my life </a:t>
            </a:r>
            <a:r>
              <a:rPr lang="en-GB" sz="1100" dirty="0" smtClean="0"/>
              <a:t/>
            </a:r>
            <a:br>
              <a:rPr lang="en-GB" sz="1100" dirty="0" smtClean="0"/>
            </a:br>
            <a:r>
              <a:rPr lang="en-GB" sz="1100" dirty="0" smtClean="0">
                <a:solidFill>
                  <a:srgbClr val="000000"/>
                </a:solidFill>
                <a:latin typeface="Arial Narrow" panose="02020603050405020304" pitchFamily="2"/>
              </a:rPr>
              <a:t>and people who care about me. </a:t>
            </a:r>
            <a:endParaRPr lang="en-GB" sz="1100" dirty="0">
              <a:solidFill>
                <a:srgbClr val="000000"/>
              </a:solidFill>
              <a:latin typeface="Arial Narrow" panose="02020603050405020304" pitchFamily="2"/>
            </a:endParaRPr>
          </a:p>
        </p:txBody>
      </p:sp>
      <p:sp>
        <p:nvSpPr>
          <p:cNvPr id="9" name="Text Placeholder 8"/>
          <p:cNvSpPr txBox="1">
            <a:spLocks/>
          </p:cNvSpPr>
          <p:nvPr/>
        </p:nvSpPr>
        <p:spPr>
          <a:xfrm>
            <a:off x="602616" y="2612220"/>
            <a:ext cx="1521112" cy="154957"/>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000"/>
              </a:lnSpc>
              <a:spcAft>
                <a:spcPts val="20"/>
              </a:spcAft>
            </a:pPr>
            <a:r>
              <a:rPr lang="en-US" sz="600" spc="-5" dirty="0">
                <a:solidFill>
                  <a:srgbClr val="000000"/>
                </a:solidFill>
                <a:latin typeface="Tahoma" panose="02020603050405020304" pitchFamily="2"/>
              </a:rPr>
              <a:t>Participant, Parents’ EFA (Solent NHS Trust)</a:t>
            </a:r>
          </a:p>
        </p:txBody>
      </p:sp>
      <p:sp>
        <p:nvSpPr>
          <p:cNvPr id="10" name="Text Placeholder 15"/>
          <p:cNvSpPr txBox="1">
            <a:spLocks/>
          </p:cNvSpPr>
          <p:nvPr/>
        </p:nvSpPr>
        <p:spPr>
          <a:xfrm>
            <a:off x="323528" y="3120130"/>
            <a:ext cx="3600400" cy="1172966"/>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ts val="1300"/>
              </a:lnSpc>
            </a:pPr>
            <a:r>
              <a:rPr lang="en-US" sz="900" b="1" dirty="0" smtClean="0">
                <a:solidFill>
                  <a:srgbClr val="000000"/>
                </a:solidFill>
                <a:latin typeface="Tahoma" panose="02020603050405020304" pitchFamily="2"/>
              </a:rPr>
              <a:t>For more information or to book a place on the course please contact: </a:t>
            </a:r>
          </a:p>
          <a:p>
            <a:pPr>
              <a:lnSpc>
                <a:spcPts val="1200"/>
              </a:lnSpc>
              <a:spcBef>
                <a:spcPts val="870"/>
              </a:spcBef>
            </a:pPr>
            <a:r>
              <a:rPr lang="en-US" sz="950" spc="-10" dirty="0" smtClean="0">
                <a:solidFill>
                  <a:srgbClr val="000000"/>
                </a:solidFill>
                <a:latin typeface="Tahoma" panose="02020603050405020304" pitchFamily="2"/>
              </a:rPr>
              <a:t>Tel: 01628 685642</a:t>
            </a:r>
            <a:r>
              <a:rPr lang="en-US" sz="1050" b="1" spc="-10" dirty="0" smtClean="0">
                <a:solidFill>
                  <a:srgbClr val="000000"/>
                </a:solidFill>
                <a:latin typeface="Arial" panose="02020603050405020304" pitchFamily="2"/>
              </a:rPr>
              <a:t> </a:t>
            </a:r>
          </a:p>
          <a:p>
            <a:pPr>
              <a:lnSpc>
                <a:spcPts val="1200"/>
              </a:lnSpc>
              <a:spcBef>
                <a:spcPts val="870"/>
              </a:spcBef>
            </a:pPr>
            <a:r>
              <a:rPr lang="en-US" sz="950" u="sng" spc="-10" dirty="0" smtClean="0">
                <a:solidFill>
                  <a:srgbClr val="0000FF"/>
                </a:solidFill>
                <a:latin typeface="Tahoma" panose="02020603050405020304" pitchFamily="2"/>
              </a:rPr>
              <a:t>Email</a:t>
            </a:r>
            <a:r>
              <a:rPr lang="en-US" sz="950" u="sng" spc="-10" smtClean="0">
                <a:solidFill>
                  <a:srgbClr val="0000FF"/>
                </a:solidFill>
                <a:latin typeface="Tahoma" panose="02020603050405020304" pitchFamily="2"/>
              </a:rPr>
              <a:t>: </a:t>
            </a:r>
            <a:r>
              <a:rPr lang="en-US" sz="950" u="sng" spc="-10" smtClean="0">
                <a:solidFill>
                  <a:srgbClr val="0000FF"/>
                </a:solidFill>
                <a:latin typeface="Tahoma" panose="02020603050405020304" pitchFamily="2"/>
                <a:hlinkClick r:id="rId3"/>
              </a:rPr>
              <a:t>childrens.centres@achievingforchildren.org.uk</a:t>
            </a:r>
            <a:endParaRPr lang="en-US" sz="950" u="sng" spc="-10" smtClean="0">
              <a:solidFill>
                <a:srgbClr val="0000FF"/>
              </a:solidFill>
              <a:latin typeface="Tahoma" panose="02020603050405020304" pitchFamily="2"/>
            </a:endParaRPr>
          </a:p>
          <a:p>
            <a:pPr>
              <a:lnSpc>
                <a:spcPts val="1200"/>
              </a:lnSpc>
              <a:spcBef>
                <a:spcPts val="870"/>
              </a:spcBef>
            </a:pPr>
            <a:endParaRPr lang="en-US" sz="1050" b="1" u="sng" spc="-10" dirty="0" smtClean="0">
              <a:solidFill>
                <a:srgbClr val="0000FF"/>
              </a:solidFill>
              <a:latin typeface="Arial" panose="02020603050405020304" pitchFamily="2"/>
            </a:endParaRPr>
          </a:p>
          <a:p>
            <a:pPr>
              <a:lnSpc>
                <a:spcPts val="1200"/>
              </a:lnSpc>
              <a:spcBef>
                <a:spcPts val="870"/>
              </a:spcBef>
            </a:pPr>
            <a:endParaRPr lang="en-US" sz="100" b="1" spc="-10" dirty="0">
              <a:solidFill>
                <a:srgbClr val="000000"/>
              </a:solidFill>
              <a:latin typeface="Arial" panose="02020603050405020304" pitchFamily="2"/>
            </a:endParaRPr>
          </a:p>
        </p:txBody>
      </p:sp>
      <p:pic>
        <p:nvPicPr>
          <p:cNvPr id="1026" name="Picture 2" descr="Y:\PR\Ryan\Adhoc Requests\2016-17\Council Crest\Portrait Purpl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34536" y="72008"/>
            <a:ext cx="1045975" cy="11967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Y:\PR\Ryan\Adhoc Requests\2016-17\Council Crest\Portrait Purpl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544" y="4941897"/>
            <a:ext cx="1427120" cy="17673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000000"/>
                </a:solidFill>
                <a:effectLst/>
                <a:latin typeface="Arial" pitchFamily="34" charset="0"/>
                <a:cs typeface="Arial" pitchFamily="34" charset="0"/>
              </a:rPr>
              <a:t>7JB</a:t>
            </a:r>
            <a:endParaRPr kumimoji="0" lang="en-US" alt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ctr"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Arial" pitchFamily="34" charset="0"/>
                <a:cs typeface="Arial" pitchFamily="34" charset="0"/>
              </a:rPr>
              <a:t>  </a:t>
            </a:r>
            <a:endParaRPr kumimoji="0" lang="en-US" alt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latin typeface="Arial" pitchFamily="34" charset="0"/>
                <a:cs typeface="Arial" pitchFamily="34" charset="0"/>
              </a:rPr>
              <a:t> </a:t>
            </a:r>
            <a:endParaRPr kumimoji="0" lang="en-US" altLang="en-US" sz="2700" b="0" i="0" u="none" strike="noStrike" cap="none" normalizeH="0" baseline="0" dirty="0" smtClean="0">
              <a:ln>
                <a:noFill/>
              </a:ln>
              <a:solidFill>
                <a:srgbClr val="000000"/>
              </a:solidFill>
              <a:effectLst/>
              <a:latin typeface="Arial" pitchFamily="34" charset="0"/>
              <a:cs typeface="Arial" pitchFamily="34" charset="0"/>
            </a:endParaRPr>
          </a:p>
        </p:txBody>
      </p:sp>
      <p:sp>
        <p:nvSpPr>
          <p:cNvPr id="4" name="AutoShape 2" descr="https://lh4.googleusercontent.com/G-m7SqN130AbSqhJ2cGYE3Ab6jijI7dk3GHKn2F2JJ2P8Yax8TwRgLZZ_Mdw1kcmVEH8E5drDzgBV_ovxfxNLUIHRVeWL-Nyw-oH6hvADnQc902_mZhZ_Sb3OiGrs5-qAImUc3iL"/>
          <p:cNvSpPr>
            <a:spLocks noChangeAspect="1" noChangeArrowheads="1"/>
          </p:cNvSpPr>
          <p:nvPr/>
        </p:nvSpPr>
        <p:spPr bwMode="auto">
          <a:xfrm>
            <a:off x="130175" y="136525"/>
            <a:ext cx="1771650" cy="4381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8" name="Picture 4" descr="https://lh4.googleusercontent.com/G-m7SqN130AbSqhJ2cGYE3Ab6jijI7dk3GHKn2F2JJ2P8Yax8TwRgLZZ_Mdw1kcmVEH8E5drDzgBV_ovxfxNLUIHRVeWL-Nyw-oH6hvADnQc902_mZhZ_Sb3OiGrs5-qAImUc3i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8995" y="5921273"/>
            <a:ext cx="2082055" cy="5821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ttps://lh4.googleusercontent.com/G-m7SqN130AbSqhJ2cGYE3Ab6jijI7dk3GHKn2F2JJ2P8Yax8TwRgLZZ_Mdw1kcmVEH8E5drDzgBV_ovxfxNLUIHRVeWL-Nyw-oH6hvADnQc902_mZhZ_Sb3OiGrs5-qAImUc3i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288" y="6212357"/>
            <a:ext cx="1866031" cy="521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3606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Rectangle 1"/>
          <p:cNvSpPr/>
          <p:nvPr/>
        </p:nvSpPr>
        <p:spPr>
          <a:xfrm>
            <a:off x="275006" y="260648"/>
            <a:ext cx="4080970" cy="3170099"/>
          </a:xfrm>
          <a:prstGeom prst="rect">
            <a:avLst/>
          </a:prstGeom>
        </p:spPr>
        <p:txBody>
          <a:bodyPr wrap="square">
            <a:spAutoFit/>
          </a:bodyPr>
          <a:lstStyle/>
          <a:p>
            <a:pPr>
              <a:lnSpc>
                <a:spcPts val="1500"/>
              </a:lnSpc>
            </a:pPr>
            <a:r>
              <a:rPr lang="en-US" sz="1100" spc="40" dirty="0" smtClean="0">
                <a:solidFill>
                  <a:srgbClr val="000000"/>
                </a:solidFill>
                <a:latin typeface="+mj-lt"/>
              </a:rPr>
              <a:t>This is not a parenting course, but focuses on a Parents’ own emotional wellbeing; helping them to identify their own early warning signs of emotional distress and develop their own sense of positive emotional health and wellbeing. The course will offer an overview of mental health and well-being in relation to being a Parent. </a:t>
            </a:r>
          </a:p>
          <a:p>
            <a:pPr>
              <a:lnSpc>
                <a:spcPts val="1500"/>
              </a:lnSpc>
            </a:pPr>
            <a:endParaRPr lang="en-US" sz="1100" spc="25" dirty="0" smtClean="0">
              <a:solidFill>
                <a:srgbClr val="000000"/>
              </a:solidFill>
              <a:latin typeface="+mj-lt"/>
            </a:endParaRPr>
          </a:p>
          <a:p>
            <a:pPr>
              <a:lnSpc>
                <a:spcPts val="1500"/>
              </a:lnSpc>
            </a:pPr>
            <a:r>
              <a:rPr lang="en-US" sz="1100" spc="25" dirty="0" smtClean="0">
                <a:solidFill>
                  <a:srgbClr val="000000"/>
                </a:solidFill>
                <a:latin typeface="+mj-lt"/>
              </a:rPr>
              <a:t>In a report from the Office of National Statistics a parent is quoted </a:t>
            </a:r>
            <a:r>
              <a:rPr lang="en-US" sz="1100" spc="15" dirty="0" smtClean="0">
                <a:solidFill>
                  <a:srgbClr val="000000"/>
                </a:solidFill>
                <a:latin typeface="+mj-lt"/>
              </a:rPr>
              <a:t>as saying “A parent is only as happy as their saddest child.” </a:t>
            </a:r>
            <a:r>
              <a:rPr lang="en-US" sz="1100" b="1" i="1" spc="15" baseline="30000" dirty="0" smtClean="0">
                <a:solidFill>
                  <a:srgbClr val="000000"/>
                </a:solidFill>
                <a:latin typeface="+mj-lt"/>
              </a:rPr>
              <a:t>1</a:t>
            </a:r>
            <a:r>
              <a:rPr lang="en-US" sz="1100" b="1" i="1" spc="15" dirty="0" smtClean="0">
                <a:solidFill>
                  <a:srgbClr val="000000"/>
                </a:solidFill>
                <a:latin typeface="+mj-lt"/>
              </a:rPr>
              <a:t> </a:t>
            </a:r>
          </a:p>
          <a:p>
            <a:pPr>
              <a:lnSpc>
                <a:spcPts val="1500"/>
              </a:lnSpc>
            </a:pPr>
            <a:endParaRPr lang="en-US" sz="1100" spc="25" dirty="0">
              <a:solidFill>
                <a:srgbClr val="000000"/>
              </a:solidFill>
              <a:latin typeface="+mj-lt"/>
            </a:endParaRPr>
          </a:p>
          <a:p>
            <a:pPr>
              <a:lnSpc>
                <a:spcPts val="1500"/>
              </a:lnSpc>
            </a:pPr>
            <a:r>
              <a:rPr lang="en-US" sz="1100" spc="35" dirty="0" smtClean="0">
                <a:solidFill>
                  <a:srgbClr val="000000"/>
                </a:solidFill>
                <a:latin typeface="+mj-lt"/>
              </a:rPr>
              <a:t>It is our belief that likewise, a child’s emotional well-being and resilience is reflection of that modelled by their parents. If we can promote a greater sense of positive emotional wellbeing with the parents, it may create a healthier emotional environment within the family. </a:t>
            </a:r>
          </a:p>
        </p:txBody>
      </p:sp>
      <p:sp>
        <p:nvSpPr>
          <p:cNvPr id="3" name="Rounded Rectangle 2"/>
          <p:cNvSpPr/>
          <p:nvPr/>
        </p:nvSpPr>
        <p:spPr>
          <a:xfrm>
            <a:off x="251520" y="3430747"/>
            <a:ext cx="4032448" cy="266254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dirty="0" smtClean="0">
                <a:solidFill>
                  <a:schemeClr val="bg1">
                    <a:lumMod val="95000"/>
                  </a:schemeClr>
                </a:solidFill>
              </a:rPr>
              <a:t>Aims:</a:t>
            </a:r>
          </a:p>
          <a:p>
            <a:pPr marL="171450" indent="-171450">
              <a:buFont typeface="Arial" panose="020B0604020202020204" pitchFamily="34" charset="0"/>
              <a:buChar char="•"/>
            </a:pPr>
            <a:r>
              <a:rPr lang="en-US" sz="1100" spc="10" dirty="0" smtClean="0">
                <a:solidFill>
                  <a:schemeClr val="bg1">
                    <a:lumMod val="95000"/>
                  </a:schemeClr>
                </a:solidFill>
                <a:latin typeface="+mj-lt"/>
              </a:rPr>
              <a:t>Explore and rediscover your sense of self</a:t>
            </a:r>
          </a:p>
          <a:p>
            <a:pPr marL="171450" indent="-171450">
              <a:buFont typeface="Arial" panose="020B0604020202020204" pitchFamily="34" charset="0"/>
              <a:buChar char="•"/>
            </a:pPr>
            <a:r>
              <a:rPr lang="en-US" sz="1100" spc="20" dirty="0" smtClean="0">
                <a:solidFill>
                  <a:schemeClr val="bg1">
                    <a:lumMod val="95000"/>
                  </a:schemeClr>
                </a:solidFill>
                <a:latin typeface="+mj-lt"/>
              </a:rPr>
              <a:t>Identify early signs of emotional distress and the solutions we use to manage it</a:t>
            </a:r>
          </a:p>
          <a:p>
            <a:pPr marL="171450" indent="-171450">
              <a:buFont typeface="Arial" panose="020B0604020202020204" pitchFamily="34" charset="0"/>
              <a:buChar char="•"/>
            </a:pPr>
            <a:r>
              <a:rPr lang="en-US" sz="1100" spc="30" dirty="0" smtClean="0">
                <a:solidFill>
                  <a:schemeClr val="bg1">
                    <a:lumMod val="95000"/>
                  </a:schemeClr>
                </a:solidFill>
                <a:latin typeface="+mj-lt"/>
              </a:rPr>
              <a:t>Recognise and understand your own emotional needs</a:t>
            </a:r>
          </a:p>
          <a:p>
            <a:pPr marL="171450" indent="-171450">
              <a:buFont typeface="Arial" panose="020B0604020202020204" pitchFamily="34" charset="0"/>
              <a:buChar char="•"/>
            </a:pPr>
            <a:r>
              <a:rPr lang="en-US" sz="1100" spc="30" dirty="0" smtClean="0">
                <a:solidFill>
                  <a:schemeClr val="bg1">
                    <a:lumMod val="95000"/>
                  </a:schemeClr>
                </a:solidFill>
                <a:latin typeface="+mj-lt"/>
              </a:rPr>
              <a:t>Understand and develop your own positive emotional health</a:t>
            </a:r>
          </a:p>
          <a:p>
            <a:pPr marL="171450" indent="-171450">
              <a:buFont typeface="Arial" panose="020B0604020202020204" pitchFamily="34" charset="0"/>
              <a:buChar char="•"/>
            </a:pPr>
            <a:r>
              <a:rPr lang="en-US" sz="1100" spc="10" dirty="0" smtClean="0">
                <a:solidFill>
                  <a:schemeClr val="bg1">
                    <a:lumMod val="95000"/>
                  </a:schemeClr>
                </a:solidFill>
                <a:latin typeface="+mj-lt"/>
              </a:rPr>
              <a:t>Explore the risks we pose to ourselves </a:t>
            </a:r>
          </a:p>
          <a:p>
            <a:pPr marL="171450" indent="-171450">
              <a:lnSpc>
                <a:spcPts val="1300"/>
              </a:lnSpc>
              <a:buFont typeface="Arial" panose="020B0604020202020204" pitchFamily="34" charset="0"/>
              <a:buChar char="•"/>
            </a:pPr>
            <a:r>
              <a:rPr lang="en-US" sz="1100" spc="35" dirty="0" smtClean="0">
                <a:solidFill>
                  <a:schemeClr val="bg1">
                    <a:lumMod val="95000"/>
                  </a:schemeClr>
                </a:solidFill>
                <a:latin typeface="+mj-lt"/>
              </a:rPr>
              <a:t>Develop and enhance your self esteem </a:t>
            </a:r>
          </a:p>
          <a:p>
            <a:pPr marL="171450" indent="-171450">
              <a:lnSpc>
                <a:spcPts val="1200"/>
              </a:lnSpc>
              <a:spcBef>
                <a:spcPts val="755"/>
              </a:spcBef>
              <a:buFont typeface="Arial" panose="020B0604020202020204" pitchFamily="34" charset="0"/>
              <a:buChar char="•"/>
            </a:pPr>
            <a:r>
              <a:rPr lang="en-US" sz="1100" spc="30" dirty="0" smtClean="0">
                <a:solidFill>
                  <a:schemeClr val="bg1">
                    <a:lumMod val="95000"/>
                  </a:schemeClr>
                </a:solidFill>
                <a:latin typeface="+mj-lt"/>
              </a:rPr>
              <a:t>Gain strategies to manage your own emotional</a:t>
            </a:r>
            <a:br>
              <a:rPr lang="en-US" sz="1100" spc="30" dirty="0" smtClean="0">
                <a:solidFill>
                  <a:schemeClr val="bg1">
                    <a:lumMod val="95000"/>
                  </a:schemeClr>
                </a:solidFill>
                <a:latin typeface="+mj-lt"/>
              </a:rPr>
            </a:br>
            <a:r>
              <a:rPr lang="en-US" sz="1100" spc="30" dirty="0" smtClean="0">
                <a:solidFill>
                  <a:schemeClr val="bg1">
                    <a:lumMod val="95000"/>
                  </a:schemeClr>
                </a:solidFill>
                <a:latin typeface="+mj-lt"/>
              </a:rPr>
              <a:t>well-being </a:t>
            </a:r>
          </a:p>
          <a:p>
            <a:pPr marL="171450" indent="-171450">
              <a:lnSpc>
                <a:spcPts val="1200"/>
              </a:lnSpc>
              <a:spcBef>
                <a:spcPts val="755"/>
              </a:spcBef>
              <a:buFont typeface="Arial" panose="020B0604020202020204" pitchFamily="34" charset="0"/>
              <a:buChar char="•"/>
            </a:pPr>
            <a:r>
              <a:rPr lang="en-US" sz="1100" spc="30" dirty="0" smtClean="0">
                <a:solidFill>
                  <a:schemeClr val="bg1">
                    <a:lumMod val="95000"/>
                  </a:schemeClr>
                </a:solidFill>
                <a:latin typeface="+mj-lt"/>
              </a:rPr>
              <a:t>Develop a support network with other parents</a:t>
            </a:r>
            <a:r>
              <a:rPr lang="en-US" sz="1100" spc="45" dirty="0" smtClean="0">
                <a:solidFill>
                  <a:schemeClr val="bg1">
                    <a:lumMod val="95000"/>
                  </a:schemeClr>
                </a:solidFill>
                <a:latin typeface="+mj-lt"/>
              </a:rPr>
              <a:t> </a:t>
            </a:r>
          </a:p>
        </p:txBody>
      </p:sp>
      <p:sp>
        <p:nvSpPr>
          <p:cNvPr id="4" name="TextBox 3"/>
          <p:cNvSpPr txBox="1"/>
          <p:nvPr/>
        </p:nvSpPr>
        <p:spPr>
          <a:xfrm>
            <a:off x="275006" y="6309320"/>
            <a:ext cx="4080970" cy="461665"/>
          </a:xfrm>
          <a:prstGeom prst="rect">
            <a:avLst/>
          </a:prstGeom>
          <a:noFill/>
        </p:spPr>
        <p:txBody>
          <a:bodyPr wrap="square" rtlCol="0">
            <a:spAutoFit/>
          </a:bodyPr>
          <a:lstStyle/>
          <a:p>
            <a:r>
              <a:rPr lang="en-US" sz="800" b="1" i="1" spc="0" baseline="30000" dirty="0" smtClean="0">
                <a:solidFill>
                  <a:srgbClr val="000000"/>
                </a:solidFill>
                <a:latin typeface="+mj-lt"/>
              </a:rPr>
              <a:t>1</a:t>
            </a:r>
            <a:r>
              <a:rPr lang="en-US" sz="800" spc="0" dirty="0" smtClean="0">
                <a:solidFill>
                  <a:srgbClr val="000000"/>
                </a:solidFill>
                <a:latin typeface="+mj-lt"/>
              </a:rPr>
              <a:t> Hicks, S., Newton, J. et al, 2011, Measuring Children’s and Young People’s Well-being, </a:t>
            </a:r>
          </a:p>
          <a:p>
            <a:r>
              <a:rPr lang="en-US" sz="800" spc="-5" dirty="0" smtClean="0">
                <a:solidFill>
                  <a:srgbClr val="000000"/>
                </a:solidFill>
                <a:latin typeface="+mj-lt"/>
              </a:rPr>
              <a:t>Office for National Statistics and BRASS, Cardiff University. </a:t>
            </a:r>
          </a:p>
          <a:p>
            <a:r>
              <a:rPr lang="en-GB" sz="800" dirty="0" smtClean="0">
                <a:latin typeface="+mj-lt"/>
              </a:rPr>
              <a:t>x</a:t>
            </a:r>
            <a:endParaRPr lang="en-GB" sz="800" dirty="0">
              <a:latin typeface="+mj-lt"/>
            </a:endParaRPr>
          </a:p>
        </p:txBody>
      </p:sp>
      <p:sp>
        <p:nvSpPr>
          <p:cNvPr id="5" name="TextBox 4"/>
          <p:cNvSpPr txBox="1"/>
          <p:nvPr/>
        </p:nvSpPr>
        <p:spPr>
          <a:xfrm>
            <a:off x="5004048" y="548680"/>
            <a:ext cx="3888432" cy="3570208"/>
          </a:xfrm>
          <a:prstGeom prst="rect">
            <a:avLst/>
          </a:prstGeom>
          <a:noFill/>
        </p:spPr>
        <p:txBody>
          <a:bodyPr wrap="square" rtlCol="0">
            <a:spAutoFit/>
          </a:bodyPr>
          <a:lstStyle/>
          <a:p>
            <a:r>
              <a:rPr lang="en-GB" sz="1400" b="1" dirty="0">
                <a:solidFill>
                  <a:srgbClr val="000000"/>
                </a:solidFill>
                <a:latin typeface="Tahoma" panose="02020603050405020304" pitchFamily="2"/>
              </a:rPr>
              <a:t>Course </a:t>
            </a:r>
            <a:r>
              <a:rPr lang="en-GB" sz="1400" b="1" dirty="0" smtClean="0">
                <a:solidFill>
                  <a:srgbClr val="000000"/>
                </a:solidFill>
                <a:latin typeface="Tahoma" panose="02020603050405020304" pitchFamily="2"/>
              </a:rPr>
              <a:t>Outline</a:t>
            </a:r>
          </a:p>
          <a:p>
            <a:endParaRPr lang="en-GB" sz="1400" b="1" dirty="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1: </a:t>
            </a:r>
            <a:r>
              <a:rPr lang="en-US" sz="900" spc="0" dirty="0" smtClean="0">
                <a:solidFill>
                  <a:srgbClr val="000000"/>
                </a:solidFill>
                <a:latin typeface="Tahoma" panose="02020603050405020304" pitchFamily="2"/>
              </a:rPr>
              <a:t>What is Parents’ EFA? – Exploring our own behaviours </a:t>
            </a:r>
            <a:r>
              <a:rPr lang="en-US" sz="900" spc="-15" dirty="0" smtClean="0">
                <a:solidFill>
                  <a:srgbClr val="000000"/>
                </a:solidFill>
                <a:latin typeface="Tahoma" panose="02020603050405020304" pitchFamily="2"/>
              </a:rPr>
              <a:t>and seeing them as a solution to emotional distress. </a:t>
            </a:r>
          </a:p>
          <a:p>
            <a:endParaRPr lang="en-US" sz="900" spc="-15" dirty="0" smtClean="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2: </a:t>
            </a:r>
            <a:r>
              <a:rPr lang="en-US" sz="900" spc="0" dirty="0" smtClean="0">
                <a:solidFill>
                  <a:srgbClr val="000000"/>
                </a:solidFill>
                <a:latin typeface="Tahoma" panose="02020603050405020304" pitchFamily="2"/>
              </a:rPr>
              <a:t>Emotional Stuckness – Focusing on our own Anxiety. Understanding how it affects us and how we can overcome it.</a:t>
            </a:r>
          </a:p>
          <a:p>
            <a:endParaRPr lang="en-US" sz="900" spc="0" dirty="0" smtClean="0">
              <a:solidFill>
                <a:srgbClr val="000000"/>
              </a:solidFill>
              <a:latin typeface="Tahoma" panose="02020603050405020304" pitchFamily="2"/>
            </a:endParaRPr>
          </a:p>
          <a:p>
            <a:r>
              <a:rPr lang="en-US" sz="900" b="1" spc="-5" dirty="0" smtClean="0">
                <a:solidFill>
                  <a:srgbClr val="000000"/>
                </a:solidFill>
                <a:latin typeface="Tahoma" panose="02020603050405020304" pitchFamily="2"/>
              </a:rPr>
              <a:t>Session 3: </a:t>
            </a:r>
            <a:r>
              <a:rPr lang="en-US" sz="900" spc="-5" dirty="0" smtClean="0">
                <a:solidFill>
                  <a:srgbClr val="000000"/>
                </a:solidFill>
                <a:latin typeface="Tahoma" panose="02020603050405020304" pitchFamily="2"/>
              </a:rPr>
              <a:t>Self Esteem – Understanding the concept of Self Esteem  </a:t>
            </a:r>
            <a:r>
              <a:rPr lang="en-US" sz="900" spc="-15" dirty="0" smtClean="0">
                <a:solidFill>
                  <a:srgbClr val="000000"/>
                </a:solidFill>
                <a:latin typeface="Tahoma" panose="02020603050405020304" pitchFamily="2"/>
              </a:rPr>
              <a:t>and how we can improve our sense of self. </a:t>
            </a:r>
          </a:p>
          <a:p>
            <a:endParaRPr lang="en-US" sz="900" spc="-15" dirty="0" smtClean="0">
              <a:solidFill>
                <a:srgbClr val="000000"/>
              </a:solidFill>
              <a:latin typeface="Tahoma" panose="02020603050405020304" pitchFamily="2"/>
            </a:endParaRPr>
          </a:p>
          <a:p>
            <a:r>
              <a:rPr lang="en-US" sz="900" b="1" spc="5" dirty="0" smtClean="0">
                <a:solidFill>
                  <a:srgbClr val="000000"/>
                </a:solidFill>
                <a:latin typeface="Tahoma" panose="02020603050405020304" pitchFamily="2"/>
              </a:rPr>
              <a:t>Session 4: </a:t>
            </a:r>
            <a:r>
              <a:rPr lang="en-US" sz="900" spc="5" dirty="0" smtClean="0">
                <a:solidFill>
                  <a:srgbClr val="000000"/>
                </a:solidFill>
                <a:latin typeface="Tahoma" panose="02020603050405020304" pitchFamily="2"/>
              </a:rPr>
              <a:t>Looking at Communication – How we express ourselves </a:t>
            </a:r>
            <a:r>
              <a:rPr lang="en-US" sz="900" spc="-15" dirty="0" smtClean="0">
                <a:solidFill>
                  <a:srgbClr val="000000"/>
                </a:solidFill>
                <a:latin typeface="Tahoma" panose="02020603050405020304" pitchFamily="2"/>
              </a:rPr>
              <a:t>to others and building peer support. </a:t>
            </a:r>
          </a:p>
          <a:p>
            <a:endParaRPr lang="en-US" sz="900" spc="-15" dirty="0" smtClean="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5: </a:t>
            </a:r>
            <a:r>
              <a:rPr lang="en-US" sz="900" spc="0" dirty="0" smtClean="0">
                <a:solidFill>
                  <a:srgbClr val="000000"/>
                </a:solidFill>
                <a:latin typeface="Tahoma" panose="02020603050405020304" pitchFamily="2"/>
              </a:rPr>
              <a:t>The Risks We Pose to Ourselves – Using Peer consultancy looking at the various risks we pose to ourselves and others pose to us.</a:t>
            </a:r>
          </a:p>
          <a:p>
            <a:r>
              <a:rPr lang="en-US" sz="900" spc="0" dirty="0" smtClean="0">
                <a:solidFill>
                  <a:srgbClr val="000000"/>
                </a:solidFill>
                <a:latin typeface="Tahoma" panose="02020603050405020304" pitchFamily="2"/>
              </a:rPr>
              <a:t> </a:t>
            </a:r>
          </a:p>
          <a:p>
            <a:r>
              <a:rPr lang="en-US" sz="900" b="1" spc="0" dirty="0" smtClean="0">
                <a:solidFill>
                  <a:srgbClr val="000000"/>
                </a:solidFill>
                <a:latin typeface="Tahoma" panose="02020603050405020304" pitchFamily="2"/>
              </a:rPr>
              <a:t>Session 6: </a:t>
            </a:r>
            <a:r>
              <a:rPr lang="en-US" sz="900" spc="0" dirty="0" smtClean="0">
                <a:solidFill>
                  <a:srgbClr val="000000"/>
                </a:solidFill>
                <a:latin typeface="Tahoma" panose="02020603050405020304" pitchFamily="2"/>
              </a:rPr>
              <a:t>Looking After Yourself – Understanding the concept of Stress and how this manifests itself, especially being a Parent. What we can do to manage this and maintain our own emotional resilience. </a:t>
            </a:r>
          </a:p>
          <a:p>
            <a:endParaRPr lang="en-US" sz="900" spc="-15" dirty="0" smtClean="0">
              <a:solidFill>
                <a:srgbClr val="000000"/>
              </a:solidFill>
              <a:latin typeface="Tahoma" panose="02020603050405020304" pitchFamily="2"/>
            </a:endParaRPr>
          </a:p>
          <a:p>
            <a:r>
              <a:rPr lang="en-US" sz="900" spc="-10" dirty="0" smtClean="0">
                <a:solidFill>
                  <a:srgbClr val="000000"/>
                </a:solidFill>
                <a:latin typeface="Tahoma" panose="02020603050405020304" pitchFamily="2"/>
              </a:rPr>
              <a:t>We are using the Warwick-Edinburgh Wellbeing Scale to evaluate the </a:t>
            </a:r>
            <a:r>
              <a:rPr lang="en-US" sz="900" spc="-25" dirty="0" smtClean="0">
                <a:solidFill>
                  <a:srgbClr val="000000"/>
                </a:solidFill>
                <a:latin typeface="Tahoma" panose="02020603050405020304" pitchFamily="2"/>
              </a:rPr>
              <a:t>efficacy of this training. </a:t>
            </a:r>
            <a:endParaRPr lang="en-US" sz="900" spc="0" dirty="0" smtClean="0">
              <a:solidFill>
                <a:srgbClr val="000000"/>
              </a:solidFill>
              <a:latin typeface="Tahoma" panose="02020603050405020304" pitchFamily="2"/>
            </a:endParaRPr>
          </a:p>
          <a:p>
            <a:endParaRPr lang="en-GB" sz="900" dirty="0"/>
          </a:p>
        </p:txBody>
      </p:sp>
      <p:sp>
        <p:nvSpPr>
          <p:cNvPr id="8" name="TextBox 7"/>
          <p:cNvSpPr txBox="1"/>
          <p:nvPr/>
        </p:nvSpPr>
        <p:spPr>
          <a:xfrm>
            <a:off x="5148064" y="4437112"/>
            <a:ext cx="3456384" cy="1938992"/>
          </a:xfrm>
          <a:prstGeom prst="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200" dirty="0" smtClean="0"/>
              <a:t>Course Dates: </a:t>
            </a:r>
          </a:p>
          <a:p>
            <a:endParaRPr lang="en-GB" sz="1200" dirty="0" smtClean="0"/>
          </a:p>
          <a:p>
            <a:r>
              <a:rPr lang="en-GB" sz="1200" dirty="0"/>
              <a:t>M</a:t>
            </a:r>
            <a:r>
              <a:rPr lang="en-GB" sz="1200" dirty="0" smtClean="0"/>
              <a:t>eet and greet time: 24</a:t>
            </a:r>
            <a:r>
              <a:rPr lang="en-GB" sz="1200" baseline="30000" dirty="0" smtClean="0"/>
              <a:t>th</a:t>
            </a:r>
            <a:r>
              <a:rPr lang="en-GB" sz="1200" dirty="0" smtClean="0"/>
              <a:t> May 10am – 11am</a:t>
            </a:r>
          </a:p>
          <a:p>
            <a:r>
              <a:rPr lang="en-GB" sz="1200" dirty="0" smtClean="0"/>
              <a:t>Course dates: Friday 7</a:t>
            </a:r>
            <a:r>
              <a:rPr lang="en-GB" sz="1200" baseline="30000" dirty="0" smtClean="0"/>
              <a:t>th</a:t>
            </a:r>
            <a:r>
              <a:rPr lang="en-GB" sz="1200" dirty="0" smtClean="0"/>
              <a:t>, 14</a:t>
            </a:r>
            <a:r>
              <a:rPr lang="en-GB" sz="1200" baseline="30000" dirty="0" smtClean="0"/>
              <a:t>th</a:t>
            </a:r>
            <a:r>
              <a:rPr lang="en-GB" sz="1200" dirty="0" smtClean="0"/>
              <a:t>, 21</a:t>
            </a:r>
            <a:r>
              <a:rPr lang="en-GB" sz="1200" baseline="30000" dirty="0" smtClean="0"/>
              <a:t>st</a:t>
            </a:r>
            <a:r>
              <a:rPr lang="en-GB" sz="1200" dirty="0" smtClean="0"/>
              <a:t>, 28</a:t>
            </a:r>
            <a:r>
              <a:rPr lang="en-GB" sz="1200" baseline="30000" dirty="0" smtClean="0"/>
              <a:t>th</a:t>
            </a:r>
            <a:r>
              <a:rPr lang="en-GB" sz="1200" dirty="0" smtClean="0"/>
              <a:t> June and 5</a:t>
            </a:r>
            <a:r>
              <a:rPr lang="en-GB" sz="1200" baseline="30000" dirty="0" smtClean="0"/>
              <a:t>th</a:t>
            </a:r>
            <a:r>
              <a:rPr lang="en-GB" sz="1200" dirty="0" smtClean="0"/>
              <a:t>, 12</a:t>
            </a:r>
            <a:r>
              <a:rPr lang="en-GB" sz="1200" baseline="30000" dirty="0" smtClean="0"/>
              <a:t>th</a:t>
            </a:r>
            <a:r>
              <a:rPr lang="en-GB" sz="1200" dirty="0" smtClean="0"/>
              <a:t> July 10am – 12.30pm</a:t>
            </a:r>
          </a:p>
          <a:p>
            <a:r>
              <a:rPr lang="en-GB" sz="1200" dirty="0" smtClean="0"/>
              <a:t>Venue: </a:t>
            </a:r>
          </a:p>
          <a:p>
            <a:r>
              <a:rPr lang="en-GB" sz="1200" dirty="0" smtClean="0"/>
              <a:t>The Lawns Children’s Centre, Imperial Road, Windsor, SL4 3RU</a:t>
            </a:r>
          </a:p>
          <a:p>
            <a:r>
              <a:rPr lang="en-GB" sz="1200" b="1" dirty="0" smtClean="0"/>
              <a:t>Free crèche available.</a:t>
            </a:r>
          </a:p>
          <a:p>
            <a:r>
              <a:rPr lang="en-GB" sz="1200" dirty="0" smtClean="0"/>
              <a:t>Facilitators: Debbie Oates &amp; Gill Way</a:t>
            </a:r>
            <a:endParaRPr lang="en-GB" sz="1200" dirty="0"/>
          </a:p>
        </p:txBody>
      </p:sp>
    </p:spTree>
    <p:extLst>
      <p:ext uri="{BB962C8B-B14F-4D97-AF65-F5344CB8AC3E}">
        <p14:creationId xmlns:p14="http://schemas.microsoft.com/office/powerpoint/2010/main" val="2190946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515</Words>
  <Application>Microsoft Office PowerPoint</Application>
  <PresentationFormat>On-screen Show (4:3)</PresentationFormat>
  <Paragraphs>50</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Tracy Hammond</dc:creator>
  <cp:lastModifiedBy>localprofile</cp:lastModifiedBy>
  <cp:revision>33</cp:revision>
  <cp:lastPrinted>2019-04-03T14:05:20Z</cp:lastPrinted>
  <dcterms:created xsi:type="dcterms:W3CDTF">2016-11-22T13:59:57Z</dcterms:created>
  <dcterms:modified xsi:type="dcterms:W3CDTF">2019-04-03T14:08:13Z</dcterms:modified>
</cp:coreProperties>
</file>