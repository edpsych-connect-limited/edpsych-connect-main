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19"/>
  </p:notesMasterIdLst>
  <p:handoutMasterIdLst>
    <p:handoutMasterId r:id="rId20"/>
  </p:handoutMasterIdLst>
  <p:sldIdLst>
    <p:sldId id="327" r:id="rId5"/>
    <p:sldId id="328" r:id="rId6"/>
    <p:sldId id="329" r:id="rId7"/>
    <p:sldId id="330" r:id="rId8"/>
    <p:sldId id="331" r:id="rId9"/>
    <p:sldId id="332" r:id="rId10"/>
    <p:sldId id="333" r:id="rId11"/>
    <p:sldId id="334" r:id="rId12"/>
    <p:sldId id="335" r:id="rId13"/>
    <p:sldId id="336" r:id="rId14"/>
    <p:sldId id="337" r:id="rId15"/>
    <p:sldId id="338" r:id="rId16"/>
    <p:sldId id="339" r:id="rId17"/>
    <p:sldId id="340" r:id="rId18"/>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9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p:spPr>
        <p:txBody>
          <a:bodyPr/>
          <a:lstStyle/>
          <a:p>
            <a:pPr eaLnBrk="1" hangingPunct="1"/>
            <a:endParaRPr lang="en-US" altLang="en-US" smtClean="0"/>
          </a:p>
        </p:txBody>
      </p:sp>
      <p:sp>
        <p:nvSpPr>
          <p:cNvPr id="184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3B3AC1E-C878-4633-B4CF-C25025A3F561}"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188A01E-6BAF-4ED7-B810-6C2C97C2F60D}" type="slidenum">
              <a:rPr lang="en-GB" altLang="en-US" smtClean="0"/>
              <a:pPr eaLnBrk="1" hangingPunct="1">
                <a:spcBef>
                  <a:spcPct val="0"/>
                </a:spcBef>
              </a:pPr>
              <a:t>3</a:t>
            </a:fld>
            <a:endParaRPr lang="en-GB" altLang="en-US" smtClean="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GB" altLang="en-US" smtClean="0"/>
              <a:t>Provide example of SMART target record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309D6284-91B0-41CF-842A-A0BA682A5629}" type="slidenum">
              <a:rPr lang="en-GB" altLang="en-US" smtClean="0"/>
              <a:pPr eaLnBrk="1" hangingPunct="1">
                <a:spcBef>
                  <a:spcPct val="0"/>
                </a:spcBef>
              </a:pPr>
              <a:t>4</a:t>
            </a:fld>
            <a:endParaRPr lang="en-GB" altLang="en-US" smtClean="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en-GB" altLang="en-US" smtClean="0"/>
              <a:t>See example sheet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3EE2970-2668-4873-9463-462F866F28F2}" type="slidenum">
              <a:rPr lang="en-GB" altLang="en-US" smtClean="0"/>
              <a:pPr eaLnBrk="1" hangingPunct="1">
                <a:spcBef>
                  <a:spcPct val="0"/>
                </a:spcBef>
              </a:pPr>
              <a:t>5</a:t>
            </a:fld>
            <a:endParaRPr lang="en-GB" altLang="en-US"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r>
              <a:rPr lang="en-GB" altLang="en-US" smtClean="0"/>
              <a:t>Suggest – it would be worth making a copy of these pages if you are concentrating on high frequency words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10800FD-E125-4096-BD7B-DF8FE5211179}" type="slidenum">
              <a:rPr lang="en-GB" altLang="en-US" smtClean="0"/>
              <a:pPr eaLnBrk="1" hangingPunct="1">
                <a:spcBef>
                  <a:spcPct val="0"/>
                </a:spcBef>
              </a:pPr>
              <a:t>6</a:t>
            </a:fld>
            <a:endParaRPr lang="en-GB" altLang="en-US" smtClean="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en-GB" altLang="en-US" smtClean="0"/>
              <a:t>Copy the information from the CD onto memory stick/hard drive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12/06/2017</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12/06/2017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12/06/2017</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12/06/2017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12/06/2017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12/06/2017</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FA38320F-5195-4F69-9875-D65899583AE3}" type="slidenum">
              <a:rPr lang="en-GB" altLang="en-US"/>
              <a:pPr>
                <a:defRPr/>
              </a:pPr>
              <a:t>‹#›</a:t>
            </a:fld>
            <a:endParaRPr lang="en-GB" altLang="en-US"/>
          </a:p>
        </p:txBody>
      </p:sp>
    </p:spTree>
    <p:extLst>
      <p:ext uri="{BB962C8B-B14F-4D97-AF65-F5344CB8AC3E}">
        <p14:creationId xmlns:p14="http://schemas.microsoft.com/office/powerpoint/2010/main" val="506068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12/06/2017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12/06/2017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12/06/2017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12/06/2017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12/06/2017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12/06/2017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12/06/2017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12/06/2017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12/06/2017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12/06/2017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12/06/2017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12/06/2017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12/06/2017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12/06/2017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12/06/2017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12/06/2017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12/06/2017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12/06/2017</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12/06/2017</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12/06/2017</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12/06/2017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12/06/2017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12/06/2017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12/06/2017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29"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12/06/2017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12/06/2017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12/06/2017</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3" y="4510088"/>
            <a:ext cx="2446337"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a:solidFill>
                  <a:schemeClr val="bg1"/>
                </a:solidFill>
                <a:latin typeface="Arial Black" pitchFamily="34" charset="0"/>
                <a:ea typeface="ＭＳ Ｐゴシック" pitchFamily="110" charset="-128"/>
              </a:rPr>
              <a:t>E D U C T I O N A L   P S Y C H O L O G Y   S E R V I C E</a:t>
            </a:r>
          </a:p>
        </p:txBody>
      </p:sp>
      <p:sp>
        <p:nvSpPr>
          <p:cNvPr id="3077" name="Text Box 8"/>
          <p:cNvSpPr txBox="1">
            <a:spLocks noChangeArrowheads="1"/>
          </p:cNvSpPr>
          <p:nvPr/>
        </p:nvSpPr>
        <p:spPr bwMode="auto">
          <a:xfrm>
            <a:off x="636588" y="692150"/>
            <a:ext cx="7705725" cy="4278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50000"/>
              </a:spcBef>
              <a:buClrTx/>
              <a:buSzTx/>
              <a:buFontTx/>
              <a:buNone/>
            </a:pPr>
            <a:r>
              <a:rPr lang="en-US" altLang="en-US" sz="4000" b="1" dirty="0">
                <a:ea typeface="ＭＳ Ｐゴシック" pitchFamily="110" charset="-128"/>
              </a:rPr>
              <a:t>Precision Teaching with ‘Letters and Sounds’</a:t>
            </a:r>
          </a:p>
          <a:p>
            <a:pPr algn="ctr">
              <a:spcBef>
                <a:spcPct val="50000"/>
              </a:spcBef>
              <a:buClrTx/>
              <a:buSzTx/>
              <a:buFontTx/>
              <a:buNone/>
            </a:pPr>
            <a:r>
              <a:rPr lang="en-US" altLang="en-US" sz="3200" b="1" dirty="0">
                <a:ea typeface="ＭＳ Ｐゴシック" pitchFamily="110" charset="-128"/>
              </a:rPr>
              <a:t>Session 2</a:t>
            </a:r>
          </a:p>
          <a:p>
            <a:pPr algn="ctr">
              <a:spcBef>
                <a:spcPct val="50000"/>
              </a:spcBef>
              <a:buClrTx/>
              <a:buSzTx/>
              <a:buFontTx/>
              <a:buNone/>
            </a:pPr>
            <a:r>
              <a:rPr lang="en-US" altLang="en-US" sz="3200" dirty="0" err="1">
                <a:ea typeface="ＭＳ Ｐゴシック" pitchFamily="110" charset="-128"/>
              </a:rPr>
              <a:t>Datchet</a:t>
            </a:r>
            <a:r>
              <a:rPr lang="en-US" altLang="en-US" sz="3200" dirty="0">
                <a:ea typeface="ＭＳ Ｐゴシック" pitchFamily="110" charset="-128"/>
              </a:rPr>
              <a:t> St Mary’s</a:t>
            </a:r>
          </a:p>
          <a:p>
            <a:pPr algn="ctr">
              <a:spcBef>
                <a:spcPct val="50000"/>
              </a:spcBef>
              <a:buClrTx/>
              <a:buSzTx/>
              <a:buFontTx/>
              <a:buNone/>
            </a:pPr>
            <a:r>
              <a:rPr lang="en-US" altLang="en-US" sz="3200" dirty="0">
                <a:ea typeface="ＭＳ Ｐゴシック" pitchFamily="110" charset="-128"/>
              </a:rPr>
              <a:t>Scott I-Patrick</a:t>
            </a:r>
          </a:p>
          <a:p>
            <a:pPr algn="ctr">
              <a:spcBef>
                <a:spcPct val="50000"/>
              </a:spcBef>
              <a:buClrTx/>
              <a:buSzTx/>
              <a:buFontTx/>
              <a:buNone/>
            </a:pPr>
            <a:r>
              <a:rPr lang="en-US" altLang="en-US" sz="3200" dirty="0">
                <a:ea typeface="ＭＳ Ｐゴシック" pitchFamily="110" charset="-128"/>
              </a:rPr>
              <a:t>Jane McFadyen</a:t>
            </a:r>
          </a:p>
        </p:txBody>
      </p:sp>
    </p:spTree>
    <p:extLst>
      <p:ext uri="{BB962C8B-B14F-4D97-AF65-F5344CB8AC3E}">
        <p14:creationId xmlns:p14="http://schemas.microsoft.com/office/powerpoint/2010/main" val="48895493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23528" y="332656"/>
            <a:ext cx="8497887" cy="649287"/>
          </a:xfrm>
        </p:spPr>
        <p:txBody>
          <a:bodyPr/>
          <a:lstStyle/>
          <a:p>
            <a:pPr algn="ctr" eaLnBrk="1" hangingPunct="1"/>
            <a:r>
              <a:rPr lang="en-GB" altLang="en-US" sz="4000" dirty="0" smtClean="0">
                <a:latin typeface="Arial" charset="0"/>
              </a:rPr>
              <a:t>The Implementation Stage</a:t>
            </a:r>
          </a:p>
        </p:txBody>
      </p:sp>
      <p:sp>
        <p:nvSpPr>
          <p:cNvPr id="4099" name="Rectangle 3"/>
          <p:cNvSpPr>
            <a:spLocks noGrp="1" noChangeArrowheads="1"/>
          </p:cNvSpPr>
          <p:nvPr>
            <p:ph type="body" idx="1"/>
          </p:nvPr>
        </p:nvSpPr>
        <p:spPr>
          <a:xfrm>
            <a:off x="755576" y="1628800"/>
            <a:ext cx="7632700" cy="4233267"/>
          </a:xfrm>
        </p:spPr>
        <p:txBody>
          <a:bodyPr/>
          <a:lstStyle/>
          <a:p>
            <a:pPr eaLnBrk="1" hangingPunct="1">
              <a:buFont typeface="Wingdings" pitchFamily="2" charset="2"/>
              <a:buNone/>
            </a:pPr>
            <a:r>
              <a:rPr lang="en-GB" altLang="en-US" dirty="0" smtClean="0"/>
              <a:t>This stage involves the following:</a:t>
            </a:r>
          </a:p>
          <a:p>
            <a:pPr eaLnBrk="1" hangingPunct="1"/>
            <a:r>
              <a:rPr lang="en-GB" altLang="en-US" dirty="0" smtClean="0"/>
              <a:t>The pupil is involved in a daily 10 – 15 minute session with a member of staff</a:t>
            </a:r>
          </a:p>
          <a:p>
            <a:pPr eaLnBrk="1" hangingPunct="1"/>
            <a:r>
              <a:rPr lang="en-GB" altLang="en-US" dirty="0" smtClean="0"/>
              <a:t>Sessions should include around 10 minutes of specific teaching input</a:t>
            </a:r>
          </a:p>
          <a:p>
            <a:pPr eaLnBrk="1" hangingPunct="1"/>
            <a:r>
              <a:rPr lang="en-GB" altLang="en-US" dirty="0" smtClean="0"/>
              <a:t>The teaching input is followed by a 1 minute timed test - known as a probe</a:t>
            </a:r>
          </a:p>
          <a:p>
            <a:pPr eaLnBrk="1" hangingPunct="1"/>
            <a:r>
              <a:rPr lang="en-GB" altLang="en-US" dirty="0" smtClean="0"/>
              <a:t>The pupil’s results are recorded on a chart and shared with the pupil</a:t>
            </a:r>
          </a:p>
        </p:txBody>
      </p:sp>
    </p:spTree>
    <p:extLst>
      <p:ext uri="{BB962C8B-B14F-4D97-AF65-F5344CB8AC3E}">
        <p14:creationId xmlns:p14="http://schemas.microsoft.com/office/powerpoint/2010/main" val="25195839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95288" y="187896"/>
            <a:ext cx="8497887" cy="1224880"/>
          </a:xfrm>
        </p:spPr>
        <p:txBody>
          <a:bodyPr/>
          <a:lstStyle/>
          <a:p>
            <a:pPr algn="ctr" eaLnBrk="1" hangingPunct="1"/>
            <a:r>
              <a:rPr lang="en-GB" altLang="en-US" sz="4000" dirty="0" smtClean="0">
                <a:latin typeface="Arial" charset="0"/>
              </a:rPr>
              <a:t>The Implementation Stage – </a:t>
            </a:r>
            <a:br>
              <a:rPr lang="en-GB" altLang="en-US" sz="4000" dirty="0" smtClean="0">
                <a:latin typeface="Arial" charset="0"/>
              </a:rPr>
            </a:br>
            <a:r>
              <a:rPr lang="en-GB" altLang="en-US" sz="4000" dirty="0" smtClean="0">
                <a:latin typeface="Arial" charset="0"/>
              </a:rPr>
              <a:t>next steps</a:t>
            </a:r>
          </a:p>
        </p:txBody>
      </p:sp>
      <p:sp>
        <p:nvSpPr>
          <p:cNvPr id="5123" name="Rectangle 3"/>
          <p:cNvSpPr>
            <a:spLocks noGrp="1" noChangeArrowheads="1"/>
          </p:cNvSpPr>
          <p:nvPr>
            <p:ph type="body" idx="1"/>
          </p:nvPr>
        </p:nvSpPr>
        <p:spPr>
          <a:xfrm>
            <a:off x="683568" y="1788021"/>
            <a:ext cx="7632700" cy="4233267"/>
          </a:xfrm>
        </p:spPr>
        <p:txBody>
          <a:bodyPr/>
          <a:lstStyle/>
          <a:p>
            <a:pPr eaLnBrk="1" hangingPunct="1">
              <a:lnSpc>
                <a:spcPct val="90000"/>
              </a:lnSpc>
            </a:pPr>
            <a:r>
              <a:rPr lang="en-GB" altLang="en-US" dirty="0" smtClean="0"/>
              <a:t>The next stage is to look at the placement probes results from the baseline assessment that you have carried out. Decide which area needs to be focused on next (sight words or phonic development)</a:t>
            </a:r>
          </a:p>
          <a:p>
            <a:pPr eaLnBrk="1" hangingPunct="1">
              <a:lnSpc>
                <a:spcPct val="90000"/>
              </a:lnSpc>
            </a:pPr>
            <a:r>
              <a:rPr lang="en-GB" altLang="en-US" dirty="0" smtClean="0"/>
              <a:t>In liaison with the </a:t>
            </a:r>
            <a:r>
              <a:rPr lang="en-GB" altLang="en-US" dirty="0" err="1" smtClean="0"/>
              <a:t>SENCo</a:t>
            </a:r>
            <a:r>
              <a:rPr lang="en-GB" altLang="en-US" dirty="0" smtClean="0"/>
              <a:t>/teacher plan the teaching input.  Decide on the teaching target and what you want the pupil to be able to do next.</a:t>
            </a:r>
          </a:p>
          <a:p>
            <a:pPr eaLnBrk="1" hangingPunct="1">
              <a:lnSpc>
                <a:spcPct val="90000"/>
              </a:lnSpc>
            </a:pPr>
            <a:r>
              <a:rPr lang="en-GB" altLang="en-US" dirty="0" smtClean="0"/>
              <a:t>Record the target for the child using a SMART target approach (you could use the sheet provided)</a:t>
            </a:r>
          </a:p>
        </p:txBody>
      </p:sp>
    </p:spTree>
    <p:extLst>
      <p:ext uri="{BB962C8B-B14F-4D97-AF65-F5344CB8AC3E}">
        <p14:creationId xmlns:p14="http://schemas.microsoft.com/office/powerpoint/2010/main" val="15672746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95288" y="188640"/>
            <a:ext cx="8497887" cy="1224136"/>
          </a:xfrm>
        </p:spPr>
        <p:txBody>
          <a:bodyPr/>
          <a:lstStyle/>
          <a:p>
            <a:pPr algn="ctr" eaLnBrk="1" hangingPunct="1"/>
            <a:r>
              <a:rPr lang="en-GB" altLang="en-US" sz="4000" dirty="0" smtClean="0">
                <a:latin typeface="Arial" charset="0"/>
              </a:rPr>
              <a:t>SMART Targets and Precision Teaching</a:t>
            </a:r>
          </a:p>
        </p:txBody>
      </p:sp>
      <p:sp>
        <p:nvSpPr>
          <p:cNvPr id="6147" name="Rectangle 8"/>
          <p:cNvSpPr>
            <a:spLocks noGrp="1" noChangeArrowheads="1"/>
          </p:cNvSpPr>
          <p:nvPr>
            <p:ph type="body" sz="half" idx="1"/>
          </p:nvPr>
        </p:nvSpPr>
        <p:spPr>
          <a:xfrm>
            <a:off x="914400" y="1844824"/>
            <a:ext cx="3810000" cy="4286101"/>
          </a:xfrm>
        </p:spPr>
        <p:txBody>
          <a:bodyPr/>
          <a:lstStyle/>
          <a:p>
            <a:pPr eaLnBrk="1" hangingPunct="1">
              <a:lnSpc>
                <a:spcPct val="90000"/>
              </a:lnSpc>
            </a:pPr>
            <a:r>
              <a:rPr lang="en-GB" altLang="en-US" sz="2400" b="1" dirty="0" smtClean="0"/>
              <a:t>SPECIFIC </a:t>
            </a:r>
            <a:r>
              <a:rPr lang="en-GB" altLang="en-US" sz="2400" dirty="0" smtClean="0"/>
              <a:t>-Clear objectives, start with small steps but vary step-size according to data</a:t>
            </a:r>
          </a:p>
          <a:p>
            <a:pPr eaLnBrk="1" hangingPunct="1">
              <a:lnSpc>
                <a:spcPct val="90000"/>
              </a:lnSpc>
            </a:pPr>
            <a:r>
              <a:rPr lang="en-GB" altLang="en-US" sz="2400" b="1" dirty="0" smtClean="0"/>
              <a:t>MEASURABLE – </a:t>
            </a:r>
            <a:r>
              <a:rPr lang="en-GB" altLang="en-US" sz="2400" dirty="0" smtClean="0"/>
              <a:t>set an appropriate aim rate and monitor progress daily by probing and charting results</a:t>
            </a:r>
          </a:p>
          <a:p>
            <a:pPr eaLnBrk="1" hangingPunct="1">
              <a:lnSpc>
                <a:spcPct val="90000"/>
              </a:lnSpc>
            </a:pPr>
            <a:r>
              <a:rPr lang="en-GB" altLang="en-US" sz="2400" b="1" dirty="0" smtClean="0"/>
              <a:t>ACHIEVABLE – </a:t>
            </a:r>
            <a:r>
              <a:rPr lang="en-GB" altLang="en-US" sz="2400" dirty="0" smtClean="0"/>
              <a:t>get the task difficulty right</a:t>
            </a:r>
            <a:endParaRPr lang="en-GB" altLang="en-US" sz="2400" b="1" dirty="0" smtClean="0"/>
          </a:p>
          <a:p>
            <a:pPr eaLnBrk="1" hangingPunct="1">
              <a:lnSpc>
                <a:spcPct val="90000"/>
              </a:lnSpc>
            </a:pPr>
            <a:endParaRPr lang="en-GB" altLang="en-US" sz="2400" b="1" dirty="0" smtClean="0"/>
          </a:p>
          <a:p>
            <a:pPr eaLnBrk="1" hangingPunct="1">
              <a:lnSpc>
                <a:spcPct val="90000"/>
              </a:lnSpc>
            </a:pPr>
            <a:endParaRPr lang="en-GB" altLang="en-US" sz="2400" dirty="0" smtClean="0"/>
          </a:p>
          <a:p>
            <a:pPr eaLnBrk="1" hangingPunct="1">
              <a:lnSpc>
                <a:spcPct val="90000"/>
              </a:lnSpc>
            </a:pPr>
            <a:endParaRPr lang="en-GB" altLang="en-US" sz="2400" dirty="0" smtClean="0"/>
          </a:p>
          <a:p>
            <a:pPr eaLnBrk="1" hangingPunct="1">
              <a:lnSpc>
                <a:spcPct val="90000"/>
              </a:lnSpc>
            </a:pPr>
            <a:endParaRPr lang="en-GB" altLang="en-US" sz="2400" dirty="0" smtClean="0"/>
          </a:p>
        </p:txBody>
      </p:sp>
      <p:sp>
        <p:nvSpPr>
          <p:cNvPr id="6148" name="Rectangle 9"/>
          <p:cNvSpPr>
            <a:spLocks noGrp="1" noChangeArrowheads="1"/>
          </p:cNvSpPr>
          <p:nvPr>
            <p:ph type="body" sz="half" idx="2"/>
          </p:nvPr>
        </p:nvSpPr>
        <p:spPr>
          <a:xfrm>
            <a:off x="4876800" y="1844824"/>
            <a:ext cx="3810000" cy="4286101"/>
          </a:xfrm>
        </p:spPr>
        <p:txBody>
          <a:bodyPr/>
          <a:lstStyle/>
          <a:p>
            <a:pPr eaLnBrk="1" hangingPunct="1">
              <a:lnSpc>
                <a:spcPct val="90000"/>
              </a:lnSpc>
            </a:pPr>
            <a:r>
              <a:rPr lang="en-GB" altLang="en-US" sz="2400" b="1" dirty="0" smtClean="0"/>
              <a:t>REALISTIC – </a:t>
            </a:r>
            <a:r>
              <a:rPr lang="en-GB" altLang="en-US" sz="2400" dirty="0" smtClean="0"/>
              <a:t>Is the task appropriate? Check pre-requisite skills</a:t>
            </a:r>
          </a:p>
          <a:p>
            <a:pPr eaLnBrk="1" hangingPunct="1">
              <a:lnSpc>
                <a:spcPct val="90000"/>
              </a:lnSpc>
            </a:pPr>
            <a:r>
              <a:rPr lang="en-GB" altLang="en-US" sz="2400" b="1" dirty="0" smtClean="0"/>
              <a:t>TIME-RELATED – </a:t>
            </a:r>
            <a:r>
              <a:rPr lang="en-GB" altLang="en-US" sz="2400" dirty="0" smtClean="0"/>
              <a:t>Evaluate carefully over an agreed period of time</a:t>
            </a:r>
            <a:endParaRPr lang="en-GB" altLang="en-US" sz="2400" b="1" dirty="0" smtClean="0"/>
          </a:p>
        </p:txBody>
      </p:sp>
    </p:spTree>
    <p:extLst>
      <p:ext uri="{BB962C8B-B14F-4D97-AF65-F5344CB8AC3E}">
        <p14:creationId xmlns:p14="http://schemas.microsoft.com/office/powerpoint/2010/main" val="38587838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5288" y="115888"/>
            <a:ext cx="8497887" cy="1296888"/>
          </a:xfrm>
        </p:spPr>
        <p:txBody>
          <a:bodyPr/>
          <a:lstStyle/>
          <a:p>
            <a:pPr algn="ctr" eaLnBrk="1" hangingPunct="1"/>
            <a:r>
              <a:rPr lang="en-GB" altLang="en-US" sz="4000" dirty="0" smtClean="0">
                <a:latin typeface="Arial" charset="0"/>
              </a:rPr>
              <a:t>Planning Probes – Using High Frequency Words</a:t>
            </a:r>
          </a:p>
        </p:txBody>
      </p:sp>
      <p:sp>
        <p:nvSpPr>
          <p:cNvPr id="7171" name="Rectangle 3"/>
          <p:cNvSpPr>
            <a:spLocks noGrp="1" noChangeArrowheads="1"/>
          </p:cNvSpPr>
          <p:nvPr>
            <p:ph type="body" idx="1"/>
          </p:nvPr>
        </p:nvSpPr>
        <p:spPr>
          <a:xfrm>
            <a:off x="683568" y="1700808"/>
            <a:ext cx="7632700" cy="4233267"/>
          </a:xfrm>
        </p:spPr>
        <p:txBody>
          <a:bodyPr/>
          <a:lstStyle/>
          <a:p>
            <a:pPr eaLnBrk="1" hangingPunct="1"/>
            <a:r>
              <a:rPr lang="en-GB" altLang="en-US" dirty="0" smtClean="0"/>
              <a:t>If you decide to concentrate on the development of high frequency words then you will look at your data to plan the start point.</a:t>
            </a:r>
          </a:p>
          <a:p>
            <a:pPr eaLnBrk="1" hangingPunct="1"/>
            <a:r>
              <a:rPr lang="en-GB" altLang="en-US" dirty="0" smtClean="0"/>
              <a:t>Decide on how many words to focus on for the teaching input (usually between 4 – 7) and progress through the high frequency words – using information from your assessment and the word lists in Letters and Sounds (pages 193 – 195)</a:t>
            </a:r>
          </a:p>
        </p:txBody>
      </p:sp>
    </p:spTree>
    <p:extLst>
      <p:ext uri="{BB962C8B-B14F-4D97-AF65-F5344CB8AC3E}">
        <p14:creationId xmlns:p14="http://schemas.microsoft.com/office/powerpoint/2010/main" val="6337700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95288" y="115888"/>
            <a:ext cx="8497887" cy="1368896"/>
          </a:xfrm>
        </p:spPr>
        <p:txBody>
          <a:bodyPr/>
          <a:lstStyle/>
          <a:p>
            <a:pPr algn="ctr" eaLnBrk="1" hangingPunct="1"/>
            <a:r>
              <a:rPr lang="en-GB" altLang="en-US" sz="4000" dirty="0" smtClean="0">
                <a:latin typeface="Arial" charset="0"/>
              </a:rPr>
              <a:t>Planning Probes –                   Phonic Development</a:t>
            </a:r>
          </a:p>
        </p:txBody>
      </p:sp>
      <p:sp>
        <p:nvSpPr>
          <p:cNvPr id="8195" name="Rectangle 3"/>
          <p:cNvSpPr>
            <a:spLocks noGrp="1" noChangeArrowheads="1"/>
          </p:cNvSpPr>
          <p:nvPr>
            <p:ph type="body" idx="1"/>
          </p:nvPr>
        </p:nvSpPr>
        <p:spPr>
          <a:xfrm>
            <a:off x="755724" y="1916832"/>
            <a:ext cx="7632700" cy="4017243"/>
          </a:xfrm>
        </p:spPr>
        <p:txBody>
          <a:bodyPr/>
          <a:lstStyle/>
          <a:p>
            <a:pPr eaLnBrk="1" hangingPunct="1"/>
            <a:r>
              <a:rPr lang="en-GB" altLang="en-US" dirty="0" smtClean="0"/>
              <a:t>Identify from your assessment data where the pupil is on the cusp of achieving the rate of 50 words per minute with no more than 2 errors.  This is your starting point for the next step</a:t>
            </a:r>
          </a:p>
          <a:p>
            <a:pPr eaLnBrk="1" hangingPunct="1"/>
            <a:r>
              <a:rPr lang="en-GB" altLang="en-US" dirty="0" smtClean="0"/>
              <a:t>Use the sublevel probes for the phase that you are working on as each one covers a smaller set of sounds/phonemes.</a:t>
            </a:r>
          </a:p>
          <a:p>
            <a:pPr eaLnBrk="1" hangingPunct="1"/>
            <a:r>
              <a:rPr lang="en-GB" altLang="en-US" dirty="0" smtClean="0"/>
              <a:t>You can also construct your own probe sheets. </a:t>
            </a:r>
          </a:p>
          <a:p>
            <a:pPr eaLnBrk="1" hangingPunct="1"/>
            <a:endParaRPr lang="en-GB" altLang="en-US" dirty="0" smtClean="0"/>
          </a:p>
        </p:txBody>
      </p:sp>
    </p:spTree>
    <p:extLst>
      <p:ext uri="{BB962C8B-B14F-4D97-AF65-F5344CB8AC3E}">
        <p14:creationId xmlns:p14="http://schemas.microsoft.com/office/powerpoint/2010/main" val="27760008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95289" y="259904"/>
            <a:ext cx="8353176" cy="864840"/>
          </a:xfrm>
        </p:spPr>
        <p:txBody>
          <a:bodyPr/>
          <a:lstStyle/>
          <a:p>
            <a:pPr algn="ctr" eaLnBrk="1" hangingPunct="1"/>
            <a:r>
              <a:rPr lang="en-GB" altLang="en-US" sz="4000" dirty="0" smtClean="0">
                <a:latin typeface="Arial" charset="0"/>
              </a:rPr>
              <a:t>Designing Probes</a:t>
            </a:r>
          </a:p>
        </p:txBody>
      </p:sp>
      <p:sp>
        <p:nvSpPr>
          <p:cNvPr id="9219" name="Rectangle 4"/>
          <p:cNvSpPr>
            <a:spLocks noGrp="1" noChangeArrowheads="1"/>
          </p:cNvSpPr>
          <p:nvPr>
            <p:ph type="body" sz="half" idx="1"/>
          </p:nvPr>
        </p:nvSpPr>
        <p:spPr>
          <a:xfrm>
            <a:off x="755576" y="1600200"/>
            <a:ext cx="3810000" cy="4530725"/>
          </a:xfrm>
        </p:spPr>
        <p:txBody>
          <a:bodyPr/>
          <a:lstStyle/>
          <a:p>
            <a:pPr eaLnBrk="1" hangingPunct="1">
              <a:buFont typeface="Wingdings" pitchFamily="2" charset="2"/>
              <a:buNone/>
            </a:pPr>
            <a:r>
              <a:rPr lang="en-GB" altLang="en-US" sz="2400" b="1" dirty="0" smtClean="0"/>
              <a:t>	</a:t>
            </a:r>
            <a:r>
              <a:rPr lang="en-GB" altLang="en-US" sz="2400" b="1" u="sng" dirty="0" smtClean="0"/>
              <a:t>High Frequency</a:t>
            </a:r>
          </a:p>
          <a:p>
            <a:pPr eaLnBrk="1" hangingPunct="1"/>
            <a:r>
              <a:rPr lang="en-GB" altLang="en-US" sz="2400" dirty="0" smtClean="0"/>
              <a:t>Progression through high frequency </a:t>
            </a:r>
            <a:r>
              <a:rPr lang="en-GB" altLang="en-US" sz="2400" dirty="0" err="1" smtClean="0"/>
              <a:t>sightwords</a:t>
            </a:r>
            <a:r>
              <a:rPr lang="en-GB" altLang="en-US" sz="2400" dirty="0" smtClean="0"/>
              <a:t> listed in ‘Letters and Sounds’</a:t>
            </a:r>
          </a:p>
        </p:txBody>
      </p:sp>
      <p:sp>
        <p:nvSpPr>
          <p:cNvPr id="9220" name="Rectangle 5"/>
          <p:cNvSpPr>
            <a:spLocks noGrp="1" noChangeArrowheads="1"/>
          </p:cNvSpPr>
          <p:nvPr>
            <p:ph type="body" sz="half" idx="2"/>
          </p:nvPr>
        </p:nvSpPr>
        <p:spPr>
          <a:xfrm>
            <a:off x="4644008" y="1600200"/>
            <a:ext cx="3810000" cy="4530725"/>
          </a:xfrm>
        </p:spPr>
        <p:txBody>
          <a:bodyPr/>
          <a:lstStyle/>
          <a:p>
            <a:pPr eaLnBrk="1" hangingPunct="1">
              <a:buFont typeface="Wingdings" pitchFamily="2" charset="2"/>
              <a:buNone/>
            </a:pPr>
            <a:r>
              <a:rPr lang="en-GB" altLang="en-US" sz="2400" b="1" dirty="0" smtClean="0"/>
              <a:t>	</a:t>
            </a:r>
            <a:r>
              <a:rPr lang="en-GB" altLang="en-US" sz="2400" b="1" u="sng" dirty="0" smtClean="0"/>
              <a:t>Phonic Development</a:t>
            </a:r>
          </a:p>
          <a:p>
            <a:pPr eaLnBrk="1" hangingPunct="1"/>
            <a:r>
              <a:rPr lang="en-GB" altLang="en-US" sz="2400" dirty="0" smtClean="0"/>
              <a:t>The content of the probe is rule bound i.e. the probe should include as many examples as possible to test the rule</a:t>
            </a:r>
          </a:p>
        </p:txBody>
      </p:sp>
    </p:spTree>
    <p:extLst>
      <p:ext uri="{BB962C8B-B14F-4D97-AF65-F5344CB8AC3E}">
        <p14:creationId xmlns:p14="http://schemas.microsoft.com/office/powerpoint/2010/main" val="29545653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288" y="260648"/>
            <a:ext cx="8497887" cy="792088"/>
          </a:xfrm>
        </p:spPr>
        <p:txBody>
          <a:bodyPr/>
          <a:lstStyle/>
          <a:p>
            <a:pPr algn="ctr">
              <a:defRPr/>
            </a:pPr>
            <a:r>
              <a:rPr lang="en-GB" sz="4000" dirty="0" smtClean="0"/>
              <a:t>Benefits of Charting</a:t>
            </a:r>
            <a:endParaRPr lang="en-GB" sz="4000" dirty="0"/>
          </a:p>
        </p:txBody>
      </p:sp>
      <p:sp>
        <p:nvSpPr>
          <p:cNvPr id="10243" name="Content Placeholder 1"/>
          <p:cNvSpPr>
            <a:spLocks noGrp="1"/>
          </p:cNvSpPr>
          <p:nvPr>
            <p:ph idx="1"/>
          </p:nvPr>
        </p:nvSpPr>
        <p:spPr>
          <a:xfrm>
            <a:off x="683716" y="1628477"/>
            <a:ext cx="7632700" cy="4320803"/>
          </a:xfrm>
        </p:spPr>
        <p:txBody>
          <a:bodyPr/>
          <a:lstStyle/>
          <a:p>
            <a:r>
              <a:rPr lang="en-GB" altLang="en-US" dirty="0" smtClean="0"/>
              <a:t>Charting provides a quick and easy means of monitoring progress</a:t>
            </a:r>
          </a:p>
          <a:p>
            <a:r>
              <a:rPr lang="en-GB" altLang="en-US" dirty="0" smtClean="0"/>
              <a:t>The charts help the pupil to recognise the progress they are making</a:t>
            </a:r>
          </a:p>
          <a:p>
            <a:r>
              <a:rPr lang="en-GB" altLang="en-US" dirty="0" smtClean="0"/>
              <a:t>The chart tells you when the data was collected and the pupil’s level of performance</a:t>
            </a:r>
          </a:p>
          <a:p>
            <a:r>
              <a:rPr lang="en-GB" altLang="en-US" dirty="0" smtClean="0"/>
              <a:t>The charts can provide helpful information to inform educational decisions</a:t>
            </a:r>
          </a:p>
        </p:txBody>
      </p:sp>
    </p:spTree>
    <p:extLst>
      <p:ext uri="{BB962C8B-B14F-4D97-AF65-F5344CB8AC3E}">
        <p14:creationId xmlns:p14="http://schemas.microsoft.com/office/powerpoint/2010/main" val="18193048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95288" y="260648"/>
            <a:ext cx="8497887" cy="1080120"/>
          </a:xfrm>
        </p:spPr>
        <p:txBody>
          <a:bodyPr/>
          <a:lstStyle/>
          <a:p>
            <a:pPr algn="ctr" eaLnBrk="1" hangingPunct="1"/>
            <a:r>
              <a:rPr lang="en-GB" altLang="en-US" sz="4000" dirty="0" smtClean="0">
                <a:latin typeface="Arial" charset="0"/>
              </a:rPr>
              <a:t>Daily Monitoring of Progress –  Charting</a:t>
            </a:r>
          </a:p>
        </p:txBody>
      </p:sp>
      <p:sp>
        <p:nvSpPr>
          <p:cNvPr id="11267" name="Rectangle 3"/>
          <p:cNvSpPr>
            <a:spLocks noGrp="1" noChangeArrowheads="1"/>
          </p:cNvSpPr>
          <p:nvPr>
            <p:ph type="body" idx="1"/>
          </p:nvPr>
        </p:nvSpPr>
        <p:spPr>
          <a:xfrm>
            <a:off x="683716" y="2004045"/>
            <a:ext cx="7632700" cy="4233267"/>
          </a:xfrm>
        </p:spPr>
        <p:txBody>
          <a:bodyPr/>
          <a:lstStyle/>
          <a:p>
            <a:pPr eaLnBrk="1" hangingPunct="1"/>
            <a:r>
              <a:rPr lang="en-GB" altLang="en-US" dirty="0" smtClean="0"/>
              <a:t>It is important to monitor progress using a special Precision Teaching chart</a:t>
            </a:r>
          </a:p>
          <a:p>
            <a:pPr eaLnBrk="1" hangingPunct="1"/>
            <a:r>
              <a:rPr lang="en-GB" altLang="en-US" dirty="0" smtClean="0"/>
              <a:t>You can record results on the ‘Daily Record Chart’ provided.</a:t>
            </a:r>
          </a:p>
          <a:p>
            <a:pPr eaLnBrk="1" hangingPunct="1"/>
            <a:r>
              <a:rPr lang="en-GB" altLang="en-US" dirty="0" smtClean="0"/>
              <a:t>You can also use the semi-logarithmic record sheet. </a:t>
            </a:r>
          </a:p>
          <a:p>
            <a:pPr eaLnBrk="1" hangingPunct="1"/>
            <a:r>
              <a:rPr lang="en-GB" altLang="en-US" dirty="0" smtClean="0"/>
              <a:t>It is important to have a record in some format of the correct/incorrect per minute for each day</a:t>
            </a:r>
          </a:p>
          <a:p>
            <a:pPr eaLnBrk="1" hangingPunct="1"/>
            <a:endParaRPr lang="en-GB" altLang="en-US" dirty="0" smtClean="0"/>
          </a:p>
        </p:txBody>
      </p:sp>
    </p:spTree>
    <p:extLst>
      <p:ext uri="{BB962C8B-B14F-4D97-AF65-F5344CB8AC3E}">
        <p14:creationId xmlns:p14="http://schemas.microsoft.com/office/powerpoint/2010/main" val="617061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15888"/>
            <a:ext cx="8497887" cy="1080864"/>
          </a:xfrm>
        </p:spPr>
        <p:txBody>
          <a:bodyPr/>
          <a:lstStyle/>
          <a:p>
            <a:pPr algn="ctr">
              <a:defRPr/>
            </a:pPr>
            <a:r>
              <a:rPr lang="en-GB" altLang="en-US" sz="4000" dirty="0"/>
              <a:t>S</a:t>
            </a:r>
            <a:r>
              <a:rPr lang="en-GB" altLang="en-US" sz="4000" dirty="0" smtClean="0"/>
              <a:t>emi-logarithmic record sheet</a:t>
            </a:r>
            <a:endParaRPr lang="en-GB" sz="4000" dirty="0"/>
          </a:p>
        </p:txBody>
      </p:sp>
      <p:sp>
        <p:nvSpPr>
          <p:cNvPr id="3" name="Content Placeholder 2"/>
          <p:cNvSpPr>
            <a:spLocks noGrp="1"/>
          </p:cNvSpPr>
          <p:nvPr>
            <p:ph idx="1"/>
          </p:nvPr>
        </p:nvSpPr>
        <p:spPr>
          <a:xfrm>
            <a:off x="611708" y="1268760"/>
            <a:ext cx="7632700" cy="4968875"/>
          </a:xfrm>
        </p:spPr>
        <p:txBody>
          <a:bodyPr/>
          <a:lstStyle/>
          <a:p>
            <a:pPr marL="0" indent="0">
              <a:buFont typeface="Wingdings" pitchFamily="2" charset="2"/>
              <a:buNone/>
              <a:defRPr/>
            </a:pPr>
            <a:r>
              <a:rPr lang="en-GB" sz="2400" dirty="0" smtClean="0"/>
              <a:t>Advantages of using a semi-logarithmic record sheet:</a:t>
            </a:r>
          </a:p>
          <a:p>
            <a:pPr marL="0" indent="0">
              <a:buFont typeface="Wingdings" pitchFamily="2" charset="2"/>
              <a:buNone/>
              <a:defRPr/>
            </a:pPr>
            <a:endParaRPr lang="en-GB" sz="2400" dirty="0" smtClean="0"/>
          </a:p>
          <a:p>
            <a:pPr>
              <a:defRPr/>
            </a:pPr>
            <a:r>
              <a:rPr lang="en-GB" sz="2400" dirty="0" smtClean="0"/>
              <a:t>It shows </a:t>
            </a:r>
            <a:r>
              <a:rPr lang="en-GB" sz="2400" dirty="0"/>
              <a:t>fine changes in performance which could be very significant with children who have experienced learning </a:t>
            </a:r>
            <a:r>
              <a:rPr lang="en-GB" sz="2400" dirty="0" smtClean="0"/>
              <a:t>difficulties</a:t>
            </a:r>
            <a:endParaRPr lang="en-GB" sz="800" dirty="0" smtClean="0"/>
          </a:p>
          <a:p>
            <a:pPr marL="0" indent="0">
              <a:buNone/>
              <a:defRPr/>
            </a:pPr>
            <a:endParaRPr lang="en-GB" sz="800" dirty="0" smtClean="0"/>
          </a:p>
          <a:p>
            <a:pPr>
              <a:defRPr/>
            </a:pPr>
            <a:r>
              <a:rPr lang="en-GB" sz="2400" dirty="0" smtClean="0"/>
              <a:t>These </a:t>
            </a:r>
            <a:r>
              <a:rPr lang="en-GB" sz="2400" dirty="0"/>
              <a:t>charts focus attention on the magnitude of the change that is occurring rather than absolute change. It is felt that looking at children’s progress in this way provides a more accurate representation of their learning.</a:t>
            </a:r>
          </a:p>
        </p:txBody>
      </p:sp>
    </p:spTree>
    <p:extLst>
      <p:ext uri="{BB962C8B-B14F-4D97-AF65-F5344CB8AC3E}">
        <p14:creationId xmlns:p14="http://schemas.microsoft.com/office/powerpoint/2010/main" val="31374782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a:xfrm>
            <a:off x="395288" y="259904"/>
            <a:ext cx="8497887" cy="864840"/>
          </a:xfrm>
        </p:spPr>
        <p:txBody>
          <a:bodyPr/>
          <a:lstStyle/>
          <a:p>
            <a:pPr algn="ctr" eaLnBrk="1" hangingPunct="1"/>
            <a:r>
              <a:rPr lang="en-GB" altLang="en-US" sz="4000" dirty="0" smtClean="0">
                <a:latin typeface="Arial" charset="0"/>
              </a:rPr>
              <a:t>Daily Monitoring of Progress </a:t>
            </a:r>
          </a:p>
        </p:txBody>
      </p:sp>
      <p:sp>
        <p:nvSpPr>
          <p:cNvPr id="13315" name="Content Placeholder 1"/>
          <p:cNvSpPr>
            <a:spLocks noGrp="1"/>
          </p:cNvSpPr>
          <p:nvPr>
            <p:ph idx="1"/>
          </p:nvPr>
        </p:nvSpPr>
        <p:spPr>
          <a:xfrm>
            <a:off x="611560" y="1628477"/>
            <a:ext cx="7632700" cy="3816747"/>
          </a:xfrm>
        </p:spPr>
        <p:txBody>
          <a:bodyPr/>
          <a:lstStyle/>
          <a:p>
            <a:r>
              <a:rPr lang="en-GB" altLang="en-US" dirty="0" smtClean="0"/>
              <a:t>After around a week (with pupil having had daily input), you should expect the pupil to be approaching the rate of 50 correct with no more than 2 errors in a minute.</a:t>
            </a:r>
          </a:p>
          <a:p>
            <a:r>
              <a:rPr lang="en-GB" altLang="en-US" dirty="0" smtClean="0"/>
              <a:t>If this is achieved (usually over 2-3 days) then you can move on to the next step of learning.</a:t>
            </a:r>
          </a:p>
          <a:p>
            <a:r>
              <a:rPr lang="en-GB" altLang="en-US" dirty="0" smtClean="0"/>
              <a:t>If not you might need to break the task down further (we will discuss this in more detail during session 3)</a:t>
            </a:r>
          </a:p>
          <a:p>
            <a:endParaRPr lang="en-GB" altLang="en-US" dirty="0" smtClean="0"/>
          </a:p>
          <a:p>
            <a:endParaRPr lang="en-GB" altLang="en-US" dirty="0" smtClean="0"/>
          </a:p>
          <a:p>
            <a:endParaRPr lang="en-GB" altLang="en-US" dirty="0" smtClean="0"/>
          </a:p>
        </p:txBody>
      </p:sp>
    </p:spTree>
    <p:extLst>
      <p:ext uri="{BB962C8B-B14F-4D97-AF65-F5344CB8AC3E}">
        <p14:creationId xmlns:p14="http://schemas.microsoft.com/office/powerpoint/2010/main" val="4116828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8" y="187896"/>
            <a:ext cx="8497887" cy="864840"/>
          </a:xfrm>
        </p:spPr>
        <p:txBody>
          <a:bodyPr/>
          <a:lstStyle/>
          <a:p>
            <a:pPr algn="ctr" eaLnBrk="1" hangingPunct="1"/>
            <a:r>
              <a:rPr lang="en-GB" altLang="en-US" sz="4000" dirty="0" smtClean="0">
                <a:latin typeface="Arial" charset="0"/>
              </a:rPr>
              <a:t>Checking for Maintenance</a:t>
            </a:r>
          </a:p>
        </p:txBody>
      </p:sp>
      <p:sp>
        <p:nvSpPr>
          <p:cNvPr id="14339" name="Rectangle 3"/>
          <p:cNvSpPr>
            <a:spLocks noGrp="1" noChangeArrowheads="1"/>
          </p:cNvSpPr>
          <p:nvPr>
            <p:ph type="body" idx="1"/>
          </p:nvPr>
        </p:nvSpPr>
        <p:spPr>
          <a:xfrm>
            <a:off x="611560" y="1556469"/>
            <a:ext cx="7632700" cy="4392811"/>
          </a:xfrm>
        </p:spPr>
        <p:txBody>
          <a:bodyPr/>
          <a:lstStyle/>
          <a:p>
            <a:pPr eaLnBrk="1" hangingPunct="1"/>
            <a:r>
              <a:rPr lang="en-GB" altLang="en-US" sz="2400" dirty="0" smtClean="0"/>
              <a:t>To ensure that the pupil has retained the skills that they have been working on it is important to check for maintenance.</a:t>
            </a:r>
          </a:p>
          <a:p>
            <a:pPr eaLnBrk="1" hangingPunct="1"/>
            <a:r>
              <a:rPr lang="en-GB" altLang="en-US" sz="2400" dirty="0" smtClean="0"/>
              <a:t>After 2 or 3 programme changes it is good to provide them with a mixed probe to re-test their level of fluency.</a:t>
            </a:r>
          </a:p>
          <a:p>
            <a:pPr eaLnBrk="1" hangingPunct="1"/>
            <a:r>
              <a:rPr lang="en-GB" altLang="en-US" sz="2400" dirty="0" smtClean="0"/>
              <a:t>If they have retained the skills at an acceptable level of fluency (50 </a:t>
            </a:r>
            <a:r>
              <a:rPr lang="en-GB" altLang="en-US" sz="2400" dirty="0" err="1" smtClean="0"/>
              <a:t>c.p.m</a:t>
            </a:r>
            <a:r>
              <a:rPr lang="en-GB" altLang="en-US" sz="2400" dirty="0" smtClean="0"/>
              <a:t> no more than 2 errors) then move on to the next learning target.</a:t>
            </a:r>
          </a:p>
          <a:p>
            <a:pPr eaLnBrk="1" hangingPunct="1"/>
            <a:r>
              <a:rPr lang="en-GB" altLang="en-US" sz="2400" dirty="0" smtClean="0"/>
              <a:t>If not return to an earlier programme.</a:t>
            </a:r>
          </a:p>
        </p:txBody>
      </p:sp>
    </p:spTree>
    <p:extLst>
      <p:ext uri="{BB962C8B-B14F-4D97-AF65-F5344CB8AC3E}">
        <p14:creationId xmlns:p14="http://schemas.microsoft.com/office/powerpoint/2010/main" val="1678849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395288" y="403449"/>
            <a:ext cx="8497887" cy="793303"/>
          </a:xfrm>
        </p:spPr>
        <p:txBody>
          <a:bodyPr/>
          <a:lstStyle/>
          <a:p>
            <a:pPr algn="ctr" eaLnBrk="1" hangingPunct="1">
              <a:defRPr/>
            </a:pPr>
            <a:r>
              <a:rPr lang="en-GB" altLang="en-US" sz="4000" dirty="0" smtClean="0"/>
              <a:t>Precision Teaching Probes</a:t>
            </a:r>
            <a:endParaRPr lang="en-US" altLang="en-US" sz="4000" dirty="0" smtClean="0"/>
          </a:p>
        </p:txBody>
      </p:sp>
      <p:sp>
        <p:nvSpPr>
          <p:cNvPr id="15363" name="Content Placeholder 2"/>
          <p:cNvSpPr>
            <a:spLocks noGrp="1"/>
          </p:cNvSpPr>
          <p:nvPr>
            <p:ph idx="1"/>
          </p:nvPr>
        </p:nvSpPr>
        <p:spPr>
          <a:xfrm>
            <a:off x="683716" y="1628477"/>
            <a:ext cx="7632700" cy="2808635"/>
          </a:xfrm>
        </p:spPr>
        <p:txBody>
          <a:bodyPr/>
          <a:lstStyle/>
          <a:p>
            <a:pPr eaLnBrk="1" hangingPunct="1"/>
            <a:r>
              <a:rPr lang="en-GB" altLang="en-US" dirty="0" smtClean="0"/>
              <a:t>Precision Teaching Probes :</a:t>
            </a:r>
          </a:p>
          <a:p>
            <a:pPr eaLnBrk="1" hangingPunct="1"/>
            <a:r>
              <a:rPr lang="en-GB" altLang="en-US" dirty="0" smtClean="0"/>
              <a:t>http://www.johnandgwyn.co.uk/probe.html</a:t>
            </a:r>
          </a:p>
          <a:p>
            <a:pPr algn="ct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2513391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blocksrg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45720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16388" name="Text Box 4"/>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a:solidFill>
                  <a:schemeClr val="bg1"/>
                </a:solidFill>
                <a:latin typeface="Arial Black" pitchFamily="34" charset="0"/>
                <a:ea typeface="ＭＳ Ｐゴシック" pitchFamily="110" charset="-128"/>
              </a:rPr>
              <a:t>E D U C A T I O N A L   P S Y C H O L O G Y   S E R V I C E</a:t>
            </a:r>
          </a:p>
        </p:txBody>
      </p:sp>
      <p:pic>
        <p:nvPicPr>
          <p:cNvPr id="16389" name="Picture 5" descr="Image windsor and Maidenhea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6096000"/>
            <a:ext cx="5064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sp>
        <p:nvSpPr>
          <p:cNvPr id="16390" name="Text Box 6"/>
          <p:cNvSpPr txBox="1">
            <a:spLocks noChangeArrowheads="1"/>
          </p:cNvSpPr>
          <p:nvPr/>
        </p:nvSpPr>
        <p:spPr bwMode="auto">
          <a:xfrm>
            <a:off x="684213" y="4797425"/>
            <a:ext cx="770572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50000"/>
              </a:spcBef>
              <a:buClrTx/>
              <a:buSzTx/>
              <a:buFontTx/>
              <a:buNone/>
            </a:pPr>
            <a:r>
              <a:rPr lang="en-US" altLang="en-US" sz="2400">
                <a:ea typeface="ＭＳ Ｐゴシック" pitchFamily="110" charset="-128"/>
              </a:rPr>
              <a:t>Please do not use or copy any slides without prior permission from RBWM EPS</a:t>
            </a:r>
          </a:p>
        </p:txBody>
      </p:sp>
      <p:sp>
        <p:nvSpPr>
          <p:cNvPr id="16391" name="Text Box 7"/>
          <p:cNvSpPr txBox="1">
            <a:spLocks noChangeArrowheads="1"/>
          </p:cNvSpPr>
          <p:nvPr/>
        </p:nvSpPr>
        <p:spPr bwMode="auto">
          <a:xfrm>
            <a:off x="4572000" y="2852738"/>
            <a:ext cx="2952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3600">
                <a:latin typeface="Arial Black" pitchFamily="34" charset="0"/>
                <a:ea typeface="ＭＳ Ｐゴシック" pitchFamily="110" charset="-128"/>
              </a:rPr>
              <a:t>Thank you</a:t>
            </a:r>
            <a:endParaRPr lang="en-US" altLang="en-US" sz="3600">
              <a:ea typeface="ＭＳ Ｐゴシック" pitchFamily="110" charset="-128"/>
            </a:endParaRPr>
          </a:p>
        </p:txBody>
      </p:sp>
    </p:spTree>
    <p:extLst>
      <p:ext uri="{BB962C8B-B14F-4D97-AF65-F5344CB8AC3E}">
        <p14:creationId xmlns:p14="http://schemas.microsoft.com/office/powerpoint/2010/main" val="1324736498"/>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2581</TotalTime>
  <Words>857</Words>
  <Application>Microsoft Office PowerPoint</Application>
  <PresentationFormat>On-screen Show (4:3)</PresentationFormat>
  <Paragraphs>77</Paragraphs>
  <Slides>14</Slides>
  <Notes>5</Notes>
  <HiddenSlides>0</HiddenSlides>
  <MMClips>0</MMClips>
  <ScaleCrop>false</ScaleCrop>
  <HeadingPairs>
    <vt:vector size="4" baseType="variant">
      <vt:variant>
        <vt:lpstr>Theme</vt:lpstr>
      </vt:variant>
      <vt:variant>
        <vt:i4>4</vt:i4>
      </vt:variant>
      <vt:variant>
        <vt:lpstr>Slide Titles</vt:lpstr>
      </vt:variant>
      <vt:variant>
        <vt:i4>14</vt:i4>
      </vt:variant>
    </vt:vector>
  </HeadingPairs>
  <TitlesOfParts>
    <vt:vector size="18" baseType="lpstr">
      <vt:lpstr>Default Design</vt:lpstr>
      <vt:lpstr>1_Custom Design</vt:lpstr>
      <vt:lpstr>Custom Design</vt:lpstr>
      <vt:lpstr>2_Custom Design</vt:lpstr>
      <vt:lpstr>PowerPoint Presentation</vt:lpstr>
      <vt:lpstr>The Implementation Stage</vt:lpstr>
      <vt:lpstr>The Implementation Stage –  next steps</vt:lpstr>
      <vt:lpstr>SMART Targets and Precision Teaching</vt:lpstr>
      <vt:lpstr>Planning Probes – Using High Frequency Words</vt:lpstr>
      <vt:lpstr>Planning Probes –                   Phonic Development</vt:lpstr>
      <vt:lpstr>Designing Probes</vt:lpstr>
      <vt:lpstr>Benefits of Charting</vt:lpstr>
      <vt:lpstr>Daily Monitoring of Progress –  Charting</vt:lpstr>
      <vt:lpstr>Semi-logarithmic record sheet</vt:lpstr>
      <vt:lpstr>Daily Monitoring of Progress </vt:lpstr>
      <vt:lpstr>Checking for Maintenance</vt:lpstr>
      <vt:lpstr>Precision Teaching Probes</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249</cp:revision>
  <cp:lastPrinted>2016-11-14T13:27:22Z</cp:lastPrinted>
  <dcterms:created xsi:type="dcterms:W3CDTF">2009-10-14T09:14:19Z</dcterms:created>
  <dcterms:modified xsi:type="dcterms:W3CDTF">2017-06-12T21:28:24Z</dcterms:modified>
</cp:coreProperties>
</file>