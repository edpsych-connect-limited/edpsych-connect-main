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69" r:id="rId2"/>
    <p:sldId id="261" r:id="rId3"/>
    <p:sldId id="274" r:id="rId4"/>
    <p:sldId id="273" r:id="rId5"/>
    <p:sldId id="272" r:id="rId6"/>
    <p:sldId id="271" r:id="rId7"/>
    <p:sldId id="270" r:id="rId8"/>
    <p:sldId id="286" r:id="rId9"/>
    <p:sldId id="275" r:id="rId10"/>
    <p:sldId id="266" r:id="rId11"/>
    <p:sldId id="276" r:id="rId12"/>
    <p:sldId id="277" r:id="rId13"/>
    <p:sldId id="278" r:id="rId14"/>
    <p:sldId id="279" r:id="rId15"/>
    <p:sldId id="280" r:id="rId16"/>
    <p:sldId id="281" r:id="rId17"/>
    <p:sldId id="285" r:id="rId18"/>
    <p:sldId id="284" r:id="rId19"/>
    <p:sldId id="283" r:id="rId20"/>
    <p:sldId id="282"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4" r:id="rId37"/>
    <p:sldId id="302" r:id="rId38"/>
    <p:sldId id="303" r:id="rId39"/>
    <p:sldId id="305" r:id="rId40"/>
    <p:sldId id="306" r:id="rId41"/>
    <p:sldId id="307" r:id="rId42"/>
    <p:sldId id="308" r:id="rId43"/>
    <p:sldId id="317" r:id="rId44"/>
    <p:sldId id="318" r:id="rId45"/>
    <p:sldId id="309" r:id="rId46"/>
    <p:sldId id="310" r:id="rId47"/>
    <p:sldId id="311" r:id="rId48"/>
    <p:sldId id="312" r:id="rId49"/>
    <p:sldId id="313" r:id="rId50"/>
    <p:sldId id="316" r:id="rId51"/>
    <p:sldId id="315" r:id="rId52"/>
    <p:sldId id="314" r:id="rId53"/>
    <p:sldId id="319" r:id="rId54"/>
    <p:sldId id="320"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B333"/>
    <a:srgbClr val="0092D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774" autoAdjust="0"/>
  </p:normalViewPr>
  <p:slideViewPr>
    <p:cSldViewPr snapToGrid="0" snapToObjects="1">
      <p:cViewPr varScale="1">
        <p:scale>
          <a:sx n="89" d="100"/>
          <a:sy n="89" d="100"/>
        </p:scale>
        <p:origin x="2244" y="7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05954-4E1F-4723-893F-26185710C8B4}" type="doc">
      <dgm:prSet loTypeId="urn:microsoft.com/office/officeart/2005/8/layout/pyramid1" loCatId="pyramid" qsTypeId="urn:microsoft.com/office/officeart/2005/8/quickstyle/simple1" qsCatId="simple" csTypeId="urn:microsoft.com/office/officeart/2005/8/colors/colorful1" csCatId="colorful" phldr="1"/>
      <dgm:spPr/>
    </dgm:pt>
    <dgm:pt modelId="{EB99FAD1-0D7F-47AF-A25D-2DB7CA131823}">
      <dgm:prSet phldrT="[Text]" custT="1"/>
      <dgm:spPr/>
      <dgm:t>
        <a:bodyPr/>
        <a:lstStyle/>
        <a:p>
          <a:pPr>
            <a:lnSpc>
              <a:spcPct val="90000"/>
            </a:lnSpc>
            <a:spcAft>
              <a:spcPct val="35000"/>
            </a:spcAft>
          </a:pPr>
          <a:endParaRPr lang="en-GB" sz="1600" dirty="0" smtClean="0"/>
        </a:p>
        <a:p>
          <a:pPr>
            <a:lnSpc>
              <a:spcPct val="100000"/>
            </a:lnSpc>
            <a:spcAft>
              <a:spcPts val="0"/>
            </a:spcAft>
          </a:pPr>
          <a:r>
            <a:rPr lang="en-GB" sz="1400" dirty="0" smtClean="0"/>
            <a:t>Self-</a:t>
          </a:r>
        </a:p>
        <a:p>
          <a:pPr>
            <a:lnSpc>
              <a:spcPct val="100000"/>
            </a:lnSpc>
            <a:spcAft>
              <a:spcPts val="0"/>
            </a:spcAft>
          </a:pPr>
          <a:r>
            <a:rPr lang="en-GB" sz="1400" dirty="0" smtClean="0"/>
            <a:t>fulfilment </a:t>
          </a:r>
        </a:p>
        <a:p>
          <a:pPr>
            <a:lnSpc>
              <a:spcPct val="100000"/>
            </a:lnSpc>
            <a:spcAft>
              <a:spcPts val="0"/>
            </a:spcAft>
          </a:pPr>
          <a:r>
            <a:rPr lang="en-GB" sz="1400" dirty="0" smtClean="0"/>
            <a:t>and actualisation</a:t>
          </a:r>
          <a:endParaRPr lang="en-GB" sz="1400" dirty="0"/>
        </a:p>
      </dgm:t>
    </dgm:pt>
    <dgm:pt modelId="{AB8D533B-E098-4299-915A-E6EE7F1198F2}" type="parTrans" cxnId="{6CF6E0FB-7B78-4272-8A30-FDCB55C28A15}">
      <dgm:prSet/>
      <dgm:spPr/>
      <dgm:t>
        <a:bodyPr/>
        <a:lstStyle/>
        <a:p>
          <a:endParaRPr lang="en-GB"/>
        </a:p>
      </dgm:t>
    </dgm:pt>
    <dgm:pt modelId="{0E6FE32B-7F57-4A76-A96E-C7981251C4FC}" type="sibTrans" cxnId="{6CF6E0FB-7B78-4272-8A30-FDCB55C28A15}">
      <dgm:prSet/>
      <dgm:spPr/>
      <dgm:t>
        <a:bodyPr/>
        <a:lstStyle/>
        <a:p>
          <a:endParaRPr lang="en-GB"/>
        </a:p>
      </dgm:t>
    </dgm:pt>
    <dgm:pt modelId="{342F943D-3CCB-4B9D-B9CE-8E9B8951C254}">
      <dgm:prSet phldrT="[Text]"/>
      <dgm:spPr/>
      <dgm:t>
        <a:bodyPr/>
        <a:lstStyle/>
        <a:p>
          <a:r>
            <a:rPr lang="en-GB" dirty="0" smtClean="0"/>
            <a:t>Self-esteem</a:t>
          </a:r>
        </a:p>
        <a:p>
          <a:r>
            <a:rPr lang="en-GB" dirty="0" smtClean="0"/>
            <a:t>The “Value” Need</a:t>
          </a:r>
          <a:endParaRPr lang="en-GB" dirty="0"/>
        </a:p>
      </dgm:t>
    </dgm:pt>
    <dgm:pt modelId="{261A9E71-B557-427D-A90D-7FEA1FA3E7FF}" type="parTrans" cxnId="{2DC3AE59-4596-4811-A376-013EA793938F}">
      <dgm:prSet/>
      <dgm:spPr/>
      <dgm:t>
        <a:bodyPr/>
        <a:lstStyle/>
        <a:p>
          <a:endParaRPr lang="en-GB"/>
        </a:p>
      </dgm:t>
    </dgm:pt>
    <dgm:pt modelId="{DF95DC0E-1F08-44FB-86DE-0F44EF5C5A8D}" type="sibTrans" cxnId="{2DC3AE59-4596-4811-A376-013EA793938F}">
      <dgm:prSet/>
      <dgm:spPr/>
      <dgm:t>
        <a:bodyPr/>
        <a:lstStyle/>
        <a:p>
          <a:endParaRPr lang="en-GB"/>
        </a:p>
      </dgm:t>
    </dgm:pt>
    <dgm:pt modelId="{846528A5-504A-42A3-AC72-7066761DE9B0}">
      <dgm:prSet phldrT="[Text]"/>
      <dgm:spPr/>
      <dgm:t>
        <a:bodyPr/>
        <a:lstStyle/>
        <a:p>
          <a:r>
            <a:rPr lang="en-GB" dirty="0" smtClean="0"/>
            <a:t>Love and friendship needs – to give and receive love, to belong</a:t>
          </a:r>
          <a:endParaRPr lang="en-GB" dirty="0"/>
        </a:p>
      </dgm:t>
    </dgm:pt>
    <dgm:pt modelId="{F32A15A9-D345-48E1-AC7A-9599D3C41F1E}" type="parTrans" cxnId="{EEA29540-C8D0-4737-8A56-FF79611DB2C7}">
      <dgm:prSet/>
      <dgm:spPr/>
      <dgm:t>
        <a:bodyPr/>
        <a:lstStyle/>
        <a:p>
          <a:endParaRPr lang="en-GB"/>
        </a:p>
      </dgm:t>
    </dgm:pt>
    <dgm:pt modelId="{5230D842-A1F3-40F4-AA56-6A240108FE82}" type="sibTrans" cxnId="{EEA29540-C8D0-4737-8A56-FF79611DB2C7}">
      <dgm:prSet/>
      <dgm:spPr/>
      <dgm:t>
        <a:bodyPr/>
        <a:lstStyle/>
        <a:p>
          <a:endParaRPr lang="en-GB"/>
        </a:p>
      </dgm:t>
    </dgm:pt>
    <dgm:pt modelId="{476F6E08-B5F1-46C4-B343-2B2A471A8873}">
      <dgm:prSet phldrT="[Text]"/>
      <dgm:spPr/>
      <dgm:t>
        <a:bodyPr/>
        <a:lstStyle/>
        <a:p>
          <a:r>
            <a:rPr lang="en-GB" dirty="0" smtClean="0"/>
            <a:t>Physical needs – air, food, water, shelter, medical care, rest and recreation</a:t>
          </a:r>
          <a:endParaRPr lang="en-GB" dirty="0"/>
        </a:p>
      </dgm:t>
    </dgm:pt>
    <dgm:pt modelId="{A550978E-C757-482E-8A80-F9741057C3FB}" type="parTrans" cxnId="{C532A47A-8EC3-47BA-8E31-7461E9471785}">
      <dgm:prSet/>
      <dgm:spPr/>
      <dgm:t>
        <a:bodyPr/>
        <a:lstStyle/>
        <a:p>
          <a:endParaRPr lang="en-GB"/>
        </a:p>
      </dgm:t>
    </dgm:pt>
    <dgm:pt modelId="{5A9D321C-E5C4-4596-8BD9-6FF157AEA7F3}" type="sibTrans" cxnId="{C532A47A-8EC3-47BA-8E31-7461E9471785}">
      <dgm:prSet/>
      <dgm:spPr/>
      <dgm:t>
        <a:bodyPr/>
        <a:lstStyle/>
        <a:p>
          <a:endParaRPr lang="en-GB"/>
        </a:p>
      </dgm:t>
    </dgm:pt>
    <dgm:pt modelId="{3ED661BE-0AB8-46C4-8F8F-920F8CCAAC1D}">
      <dgm:prSet phldrT="[Text]"/>
      <dgm:spPr/>
      <dgm:t>
        <a:bodyPr/>
        <a:lstStyle/>
        <a:p>
          <a:r>
            <a:rPr lang="en-GB" dirty="0" smtClean="0"/>
            <a:t>Safety needs – safe from threats, treated fairly, trusted and to trust</a:t>
          </a:r>
          <a:endParaRPr lang="en-GB" dirty="0"/>
        </a:p>
      </dgm:t>
    </dgm:pt>
    <dgm:pt modelId="{E0FEA161-27E8-4532-977E-B6039A73C2E9}" type="parTrans" cxnId="{F759212B-23E5-44CE-9810-6FD46E920BFB}">
      <dgm:prSet/>
      <dgm:spPr/>
      <dgm:t>
        <a:bodyPr/>
        <a:lstStyle/>
        <a:p>
          <a:endParaRPr lang="en-GB"/>
        </a:p>
      </dgm:t>
    </dgm:pt>
    <dgm:pt modelId="{7E753CA1-7038-438F-865C-12A8B5D9C598}" type="sibTrans" cxnId="{F759212B-23E5-44CE-9810-6FD46E920BFB}">
      <dgm:prSet/>
      <dgm:spPr/>
      <dgm:t>
        <a:bodyPr/>
        <a:lstStyle/>
        <a:p>
          <a:endParaRPr lang="en-GB"/>
        </a:p>
      </dgm:t>
    </dgm:pt>
    <dgm:pt modelId="{344A9CE4-32F2-4486-B1E7-F1B756D6E93A}" type="pres">
      <dgm:prSet presAssocID="{A5805954-4E1F-4723-893F-26185710C8B4}" presName="Name0" presStyleCnt="0">
        <dgm:presLayoutVars>
          <dgm:dir/>
          <dgm:animLvl val="lvl"/>
          <dgm:resizeHandles val="exact"/>
        </dgm:presLayoutVars>
      </dgm:prSet>
      <dgm:spPr/>
    </dgm:pt>
    <dgm:pt modelId="{ABEE3D2D-8ADA-4252-B7BC-EDD558012541}" type="pres">
      <dgm:prSet presAssocID="{EB99FAD1-0D7F-47AF-A25D-2DB7CA131823}" presName="Name8" presStyleCnt="0"/>
      <dgm:spPr/>
    </dgm:pt>
    <dgm:pt modelId="{E367D680-ABF5-44F9-85C2-F77A502C6472}" type="pres">
      <dgm:prSet presAssocID="{EB99FAD1-0D7F-47AF-A25D-2DB7CA131823}" presName="level" presStyleLbl="node1" presStyleIdx="0" presStyleCnt="5">
        <dgm:presLayoutVars>
          <dgm:chMax val="1"/>
          <dgm:bulletEnabled val="1"/>
        </dgm:presLayoutVars>
      </dgm:prSet>
      <dgm:spPr/>
      <dgm:t>
        <a:bodyPr/>
        <a:lstStyle/>
        <a:p>
          <a:endParaRPr lang="en-GB"/>
        </a:p>
      </dgm:t>
    </dgm:pt>
    <dgm:pt modelId="{3A1C08EE-D124-421D-9167-3FFABE489672}" type="pres">
      <dgm:prSet presAssocID="{EB99FAD1-0D7F-47AF-A25D-2DB7CA131823}" presName="levelTx" presStyleLbl="revTx" presStyleIdx="0" presStyleCnt="0">
        <dgm:presLayoutVars>
          <dgm:chMax val="1"/>
          <dgm:bulletEnabled val="1"/>
        </dgm:presLayoutVars>
      </dgm:prSet>
      <dgm:spPr/>
      <dgm:t>
        <a:bodyPr/>
        <a:lstStyle/>
        <a:p>
          <a:endParaRPr lang="en-GB"/>
        </a:p>
      </dgm:t>
    </dgm:pt>
    <dgm:pt modelId="{6FCDA72A-C83B-4231-A1A5-463CE18E94CA}" type="pres">
      <dgm:prSet presAssocID="{342F943D-3CCB-4B9D-B9CE-8E9B8951C254}" presName="Name8" presStyleCnt="0"/>
      <dgm:spPr/>
    </dgm:pt>
    <dgm:pt modelId="{A3482CD6-CDC7-4321-BB4F-CA98D061B9A0}" type="pres">
      <dgm:prSet presAssocID="{342F943D-3CCB-4B9D-B9CE-8E9B8951C254}" presName="level" presStyleLbl="node1" presStyleIdx="1" presStyleCnt="5">
        <dgm:presLayoutVars>
          <dgm:chMax val="1"/>
          <dgm:bulletEnabled val="1"/>
        </dgm:presLayoutVars>
      </dgm:prSet>
      <dgm:spPr/>
      <dgm:t>
        <a:bodyPr/>
        <a:lstStyle/>
        <a:p>
          <a:endParaRPr lang="en-GB"/>
        </a:p>
      </dgm:t>
    </dgm:pt>
    <dgm:pt modelId="{D0AD1675-DADB-46CB-96EE-19481BBC1FEB}" type="pres">
      <dgm:prSet presAssocID="{342F943D-3CCB-4B9D-B9CE-8E9B8951C254}" presName="levelTx" presStyleLbl="revTx" presStyleIdx="0" presStyleCnt="0">
        <dgm:presLayoutVars>
          <dgm:chMax val="1"/>
          <dgm:bulletEnabled val="1"/>
        </dgm:presLayoutVars>
      </dgm:prSet>
      <dgm:spPr/>
      <dgm:t>
        <a:bodyPr/>
        <a:lstStyle/>
        <a:p>
          <a:endParaRPr lang="en-GB"/>
        </a:p>
      </dgm:t>
    </dgm:pt>
    <dgm:pt modelId="{89F415C0-43A2-4604-AEDD-46C2A2F1FD77}" type="pres">
      <dgm:prSet presAssocID="{846528A5-504A-42A3-AC72-7066761DE9B0}" presName="Name8" presStyleCnt="0"/>
      <dgm:spPr/>
    </dgm:pt>
    <dgm:pt modelId="{6ECB9E01-79C1-4617-96D1-C46C4A6F561C}" type="pres">
      <dgm:prSet presAssocID="{846528A5-504A-42A3-AC72-7066761DE9B0}" presName="level" presStyleLbl="node1" presStyleIdx="2" presStyleCnt="5">
        <dgm:presLayoutVars>
          <dgm:chMax val="1"/>
          <dgm:bulletEnabled val="1"/>
        </dgm:presLayoutVars>
      </dgm:prSet>
      <dgm:spPr/>
      <dgm:t>
        <a:bodyPr/>
        <a:lstStyle/>
        <a:p>
          <a:endParaRPr lang="en-GB"/>
        </a:p>
      </dgm:t>
    </dgm:pt>
    <dgm:pt modelId="{FE746CED-B587-458B-A40B-AB732B35DD89}" type="pres">
      <dgm:prSet presAssocID="{846528A5-504A-42A3-AC72-7066761DE9B0}" presName="levelTx" presStyleLbl="revTx" presStyleIdx="0" presStyleCnt="0">
        <dgm:presLayoutVars>
          <dgm:chMax val="1"/>
          <dgm:bulletEnabled val="1"/>
        </dgm:presLayoutVars>
      </dgm:prSet>
      <dgm:spPr/>
      <dgm:t>
        <a:bodyPr/>
        <a:lstStyle/>
        <a:p>
          <a:endParaRPr lang="en-GB"/>
        </a:p>
      </dgm:t>
    </dgm:pt>
    <dgm:pt modelId="{DDFAAC02-C0F1-4633-974A-E3D6EB5890FD}" type="pres">
      <dgm:prSet presAssocID="{3ED661BE-0AB8-46C4-8F8F-920F8CCAAC1D}" presName="Name8" presStyleCnt="0"/>
      <dgm:spPr/>
    </dgm:pt>
    <dgm:pt modelId="{6013B443-167C-41D8-A946-8920CDA00E01}" type="pres">
      <dgm:prSet presAssocID="{3ED661BE-0AB8-46C4-8F8F-920F8CCAAC1D}" presName="level" presStyleLbl="node1" presStyleIdx="3" presStyleCnt="5">
        <dgm:presLayoutVars>
          <dgm:chMax val="1"/>
          <dgm:bulletEnabled val="1"/>
        </dgm:presLayoutVars>
      </dgm:prSet>
      <dgm:spPr/>
      <dgm:t>
        <a:bodyPr/>
        <a:lstStyle/>
        <a:p>
          <a:endParaRPr lang="en-GB"/>
        </a:p>
      </dgm:t>
    </dgm:pt>
    <dgm:pt modelId="{63B72860-DCE3-4CF5-A35F-D97361B02A38}" type="pres">
      <dgm:prSet presAssocID="{3ED661BE-0AB8-46C4-8F8F-920F8CCAAC1D}" presName="levelTx" presStyleLbl="revTx" presStyleIdx="0" presStyleCnt="0">
        <dgm:presLayoutVars>
          <dgm:chMax val="1"/>
          <dgm:bulletEnabled val="1"/>
        </dgm:presLayoutVars>
      </dgm:prSet>
      <dgm:spPr/>
      <dgm:t>
        <a:bodyPr/>
        <a:lstStyle/>
        <a:p>
          <a:endParaRPr lang="en-GB"/>
        </a:p>
      </dgm:t>
    </dgm:pt>
    <dgm:pt modelId="{27C90421-E0DB-4E82-849B-18186C52DA48}" type="pres">
      <dgm:prSet presAssocID="{476F6E08-B5F1-46C4-B343-2B2A471A8873}" presName="Name8" presStyleCnt="0"/>
      <dgm:spPr/>
    </dgm:pt>
    <dgm:pt modelId="{FC1C1414-7C67-4C4A-B405-26DD890EAB51}" type="pres">
      <dgm:prSet presAssocID="{476F6E08-B5F1-46C4-B343-2B2A471A8873}" presName="level" presStyleLbl="node1" presStyleIdx="4" presStyleCnt="5">
        <dgm:presLayoutVars>
          <dgm:chMax val="1"/>
          <dgm:bulletEnabled val="1"/>
        </dgm:presLayoutVars>
      </dgm:prSet>
      <dgm:spPr/>
      <dgm:t>
        <a:bodyPr/>
        <a:lstStyle/>
        <a:p>
          <a:endParaRPr lang="en-GB"/>
        </a:p>
      </dgm:t>
    </dgm:pt>
    <dgm:pt modelId="{9E31F133-8C82-49B4-8ED0-B0E26BBC3DDF}" type="pres">
      <dgm:prSet presAssocID="{476F6E08-B5F1-46C4-B343-2B2A471A8873}" presName="levelTx" presStyleLbl="revTx" presStyleIdx="0" presStyleCnt="0">
        <dgm:presLayoutVars>
          <dgm:chMax val="1"/>
          <dgm:bulletEnabled val="1"/>
        </dgm:presLayoutVars>
      </dgm:prSet>
      <dgm:spPr/>
      <dgm:t>
        <a:bodyPr/>
        <a:lstStyle/>
        <a:p>
          <a:endParaRPr lang="en-GB"/>
        </a:p>
      </dgm:t>
    </dgm:pt>
  </dgm:ptLst>
  <dgm:cxnLst>
    <dgm:cxn modelId="{A85CE8C7-2BF6-42CE-AB39-E2297E886644}" type="presOf" srcId="{476F6E08-B5F1-46C4-B343-2B2A471A8873}" destId="{9E31F133-8C82-49B4-8ED0-B0E26BBC3DDF}" srcOrd="1" destOrd="0" presId="urn:microsoft.com/office/officeart/2005/8/layout/pyramid1"/>
    <dgm:cxn modelId="{FD78878F-C1BA-4F47-835B-7A9D4BD554C1}" type="presOf" srcId="{EB99FAD1-0D7F-47AF-A25D-2DB7CA131823}" destId="{3A1C08EE-D124-421D-9167-3FFABE489672}" srcOrd="1" destOrd="0" presId="urn:microsoft.com/office/officeart/2005/8/layout/pyramid1"/>
    <dgm:cxn modelId="{2A8D007C-B398-4494-BA6F-F809A2FB982D}" type="presOf" srcId="{342F943D-3CCB-4B9D-B9CE-8E9B8951C254}" destId="{A3482CD6-CDC7-4321-BB4F-CA98D061B9A0}" srcOrd="0" destOrd="0" presId="urn:microsoft.com/office/officeart/2005/8/layout/pyramid1"/>
    <dgm:cxn modelId="{886713F9-6CE5-49CE-860B-7DC05AB25FAA}" type="presOf" srcId="{EB99FAD1-0D7F-47AF-A25D-2DB7CA131823}" destId="{E367D680-ABF5-44F9-85C2-F77A502C6472}" srcOrd="0" destOrd="0" presId="urn:microsoft.com/office/officeart/2005/8/layout/pyramid1"/>
    <dgm:cxn modelId="{6CF6E0FB-7B78-4272-8A30-FDCB55C28A15}" srcId="{A5805954-4E1F-4723-893F-26185710C8B4}" destId="{EB99FAD1-0D7F-47AF-A25D-2DB7CA131823}" srcOrd="0" destOrd="0" parTransId="{AB8D533B-E098-4299-915A-E6EE7F1198F2}" sibTransId="{0E6FE32B-7F57-4A76-A96E-C7981251C4FC}"/>
    <dgm:cxn modelId="{C532A47A-8EC3-47BA-8E31-7461E9471785}" srcId="{A5805954-4E1F-4723-893F-26185710C8B4}" destId="{476F6E08-B5F1-46C4-B343-2B2A471A8873}" srcOrd="4" destOrd="0" parTransId="{A550978E-C757-482E-8A80-F9741057C3FB}" sibTransId="{5A9D321C-E5C4-4596-8BD9-6FF157AEA7F3}"/>
    <dgm:cxn modelId="{1411CC51-6BEA-443A-80F2-1BD7DEEA6364}" type="presOf" srcId="{846528A5-504A-42A3-AC72-7066761DE9B0}" destId="{FE746CED-B587-458B-A40B-AB732B35DD89}" srcOrd="1" destOrd="0" presId="urn:microsoft.com/office/officeart/2005/8/layout/pyramid1"/>
    <dgm:cxn modelId="{EEA29540-C8D0-4737-8A56-FF79611DB2C7}" srcId="{A5805954-4E1F-4723-893F-26185710C8B4}" destId="{846528A5-504A-42A3-AC72-7066761DE9B0}" srcOrd="2" destOrd="0" parTransId="{F32A15A9-D345-48E1-AC7A-9599D3C41F1E}" sibTransId="{5230D842-A1F3-40F4-AA56-6A240108FE82}"/>
    <dgm:cxn modelId="{F748AB18-8ED1-4918-B106-5F88904A9EE5}" type="presOf" srcId="{476F6E08-B5F1-46C4-B343-2B2A471A8873}" destId="{FC1C1414-7C67-4C4A-B405-26DD890EAB51}" srcOrd="0" destOrd="0" presId="urn:microsoft.com/office/officeart/2005/8/layout/pyramid1"/>
    <dgm:cxn modelId="{5FAF6FD4-8500-4553-9393-1508C6590BE0}" type="presOf" srcId="{342F943D-3CCB-4B9D-B9CE-8E9B8951C254}" destId="{D0AD1675-DADB-46CB-96EE-19481BBC1FEB}" srcOrd="1" destOrd="0" presId="urn:microsoft.com/office/officeart/2005/8/layout/pyramid1"/>
    <dgm:cxn modelId="{717EA0BC-1A12-4F83-86BE-B980C263F1DA}" type="presOf" srcId="{3ED661BE-0AB8-46C4-8F8F-920F8CCAAC1D}" destId="{6013B443-167C-41D8-A946-8920CDA00E01}" srcOrd="0" destOrd="0" presId="urn:microsoft.com/office/officeart/2005/8/layout/pyramid1"/>
    <dgm:cxn modelId="{F7C543E8-2280-4417-9CD1-102D49D72811}" type="presOf" srcId="{846528A5-504A-42A3-AC72-7066761DE9B0}" destId="{6ECB9E01-79C1-4617-96D1-C46C4A6F561C}" srcOrd="0" destOrd="0" presId="urn:microsoft.com/office/officeart/2005/8/layout/pyramid1"/>
    <dgm:cxn modelId="{2DC3AE59-4596-4811-A376-013EA793938F}" srcId="{A5805954-4E1F-4723-893F-26185710C8B4}" destId="{342F943D-3CCB-4B9D-B9CE-8E9B8951C254}" srcOrd="1" destOrd="0" parTransId="{261A9E71-B557-427D-A90D-7FEA1FA3E7FF}" sibTransId="{DF95DC0E-1F08-44FB-86DE-0F44EF5C5A8D}"/>
    <dgm:cxn modelId="{FD576E50-641F-4E0E-B081-4B5C3C5561C7}" type="presOf" srcId="{3ED661BE-0AB8-46C4-8F8F-920F8CCAAC1D}" destId="{63B72860-DCE3-4CF5-A35F-D97361B02A38}" srcOrd="1" destOrd="0" presId="urn:microsoft.com/office/officeart/2005/8/layout/pyramid1"/>
    <dgm:cxn modelId="{F759212B-23E5-44CE-9810-6FD46E920BFB}" srcId="{A5805954-4E1F-4723-893F-26185710C8B4}" destId="{3ED661BE-0AB8-46C4-8F8F-920F8CCAAC1D}" srcOrd="3" destOrd="0" parTransId="{E0FEA161-27E8-4532-977E-B6039A73C2E9}" sibTransId="{7E753CA1-7038-438F-865C-12A8B5D9C598}"/>
    <dgm:cxn modelId="{8642676A-500C-4612-8DE8-EB697AED810D}" type="presOf" srcId="{A5805954-4E1F-4723-893F-26185710C8B4}" destId="{344A9CE4-32F2-4486-B1E7-F1B756D6E93A}" srcOrd="0" destOrd="0" presId="urn:microsoft.com/office/officeart/2005/8/layout/pyramid1"/>
    <dgm:cxn modelId="{E8003E38-F1E3-4931-B040-1DE4251D9989}" type="presParOf" srcId="{344A9CE4-32F2-4486-B1E7-F1B756D6E93A}" destId="{ABEE3D2D-8ADA-4252-B7BC-EDD558012541}" srcOrd="0" destOrd="0" presId="urn:microsoft.com/office/officeart/2005/8/layout/pyramid1"/>
    <dgm:cxn modelId="{EE140AD9-7FAF-41B3-A10C-E5C87940CE81}" type="presParOf" srcId="{ABEE3D2D-8ADA-4252-B7BC-EDD558012541}" destId="{E367D680-ABF5-44F9-85C2-F77A502C6472}" srcOrd="0" destOrd="0" presId="urn:microsoft.com/office/officeart/2005/8/layout/pyramid1"/>
    <dgm:cxn modelId="{C337000D-259E-41C7-82AD-156539822D52}" type="presParOf" srcId="{ABEE3D2D-8ADA-4252-B7BC-EDD558012541}" destId="{3A1C08EE-D124-421D-9167-3FFABE489672}" srcOrd="1" destOrd="0" presId="urn:microsoft.com/office/officeart/2005/8/layout/pyramid1"/>
    <dgm:cxn modelId="{878BCC4A-1401-4DB3-B691-548A6D537404}" type="presParOf" srcId="{344A9CE4-32F2-4486-B1E7-F1B756D6E93A}" destId="{6FCDA72A-C83B-4231-A1A5-463CE18E94CA}" srcOrd="1" destOrd="0" presId="urn:microsoft.com/office/officeart/2005/8/layout/pyramid1"/>
    <dgm:cxn modelId="{20B694C9-DDFE-4008-AC02-DFEC11F7A7CE}" type="presParOf" srcId="{6FCDA72A-C83B-4231-A1A5-463CE18E94CA}" destId="{A3482CD6-CDC7-4321-BB4F-CA98D061B9A0}" srcOrd="0" destOrd="0" presId="urn:microsoft.com/office/officeart/2005/8/layout/pyramid1"/>
    <dgm:cxn modelId="{F47D0EF0-6CD5-40EF-AC4D-D0B0E556E913}" type="presParOf" srcId="{6FCDA72A-C83B-4231-A1A5-463CE18E94CA}" destId="{D0AD1675-DADB-46CB-96EE-19481BBC1FEB}" srcOrd="1" destOrd="0" presId="urn:microsoft.com/office/officeart/2005/8/layout/pyramid1"/>
    <dgm:cxn modelId="{94FA375B-7D04-47E2-949B-CF036E553325}" type="presParOf" srcId="{344A9CE4-32F2-4486-B1E7-F1B756D6E93A}" destId="{89F415C0-43A2-4604-AEDD-46C2A2F1FD77}" srcOrd="2" destOrd="0" presId="urn:microsoft.com/office/officeart/2005/8/layout/pyramid1"/>
    <dgm:cxn modelId="{3859CA25-F5DD-4454-BC33-AAE2B32C028C}" type="presParOf" srcId="{89F415C0-43A2-4604-AEDD-46C2A2F1FD77}" destId="{6ECB9E01-79C1-4617-96D1-C46C4A6F561C}" srcOrd="0" destOrd="0" presId="urn:microsoft.com/office/officeart/2005/8/layout/pyramid1"/>
    <dgm:cxn modelId="{37B140FC-612E-48D2-84B1-A31FA3B5835D}" type="presParOf" srcId="{89F415C0-43A2-4604-AEDD-46C2A2F1FD77}" destId="{FE746CED-B587-458B-A40B-AB732B35DD89}" srcOrd="1" destOrd="0" presId="urn:microsoft.com/office/officeart/2005/8/layout/pyramid1"/>
    <dgm:cxn modelId="{DF7C4632-9275-4E8D-8DFD-CD33B1BB43B3}" type="presParOf" srcId="{344A9CE4-32F2-4486-B1E7-F1B756D6E93A}" destId="{DDFAAC02-C0F1-4633-974A-E3D6EB5890FD}" srcOrd="3" destOrd="0" presId="urn:microsoft.com/office/officeart/2005/8/layout/pyramid1"/>
    <dgm:cxn modelId="{FB3D7739-9028-47EC-9A79-F63A2C76BAC5}" type="presParOf" srcId="{DDFAAC02-C0F1-4633-974A-E3D6EB5890FD}" destId="{6013B443-167C-41D8-A946-8920CDA00E01}" srcOrd="0" destOrd="0" presId="urn:microsoft.com/office/officeart/2005/8/layout/pyramid1"/>
    <dgm:cxn modelId="{79B85516-EAD6-4772-A834-5C59AFD075E8}" type="presParOf" srcId="{DDFAAC02-C0F1-4633-974A-E3D6EB5890FD}" destId="{63B72860-DCE3-4CF5-A35F-D97361B02A38}" srcOrd="1" destOrd="0" presId="urn:microsoft.com/office/officeart/2005/8/layout/pyramid1"/>
    <dgm:cxn modelId="{BDA9564F-A7F6-48D2-AFAB-D7C6158CAFE5}" type="presParOf" srcId="{344A9CE4-32F2-4486-B1E7-F1B756D6E93A}" destId="{27C90421-E0DB-4E82-849B-18186C52DA48}" srcOrd="4" destOrd="0" presId="urn:microsoft.com/office/officeart/2005/8/layout/pyramid1"/>
    <dgm:cxn modelId="{775291DF-EDEC-4FEB-A6BF-421A2321DF29}" type="presParOf" srcId="{27C90421-E0DB-4E82-849B-18186C52DA48}" destId="{FC1C1414-7C67-4C4A-B405-26DD890EAB51}" srcOrd="0" destOrd="0" presId="urn:microsoft.com/office/officeart/2005/8/layout/pyramid1"/>
    <dgm:cxn modelId="{EA061D84-2CEE-4CEB-96D5-3F094582E63B}" type="presParOf" srcId="{27C90421-E0DB-4E82-849B-18186C52DA48}" destId="{9E31F133-8C82-49B4-8ED0-B0E26BBC3DDF}"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7D680-ABF5-44F9-85C2-F77A502C6472}">
      <dsp:nvSpPr>
        <dsp:cNvPr id="0" name=""/>
        <dsp:cNvSpPr/>
      </dsp:nvSpPr>
      <dsp:spPr>
        <a:xfrm>
          <a:off x="2962656" y="0"/>
          <a:ext cx="1481328" cy="1019833"/>
        </a:xfrm>
        <a:prstGeom prst="trapezoid">
          <a:avLst>
            <a:gd name="adj" fmla="val 72626"/>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GB" sz="1600" kern="1200" dirty="0" smtClean="0"/>
        </a:p>
        <a:p>
          <a:pPr lvl="0" algn="ctr" defTabSz="711200">
            <a:lnSpc>
              <a:spcPct val="100000"/>
            </a:lnSpc>
            <a:spcBef>
              <a:spcPct val="0"/>
            </a:spcBef>
            <a:spcAft>
              <a:spcPts val="0"/>
            </a:spcAft>
          </a:pPr>
          <a:r>
            <a:rPr lang="en-GB" sz="1400" kern="1200" dirty="0" smtClean="0"/>
            <a:t>Self-</a:t>
          </a:r>
        </a:p>
        <a:p>
          <a:pPr lvl="0" algn="ctr" defTabSz="711200">
            <a:lnSpc>
              <a:spcPct val="100000"/>
            </a:lnSpc>
            <a:spcBef>
              <a:spcPct val="0"/>
            </a:spcBef>
            <a:spcAft>
              <a:spcPts val="0"/>
            </a:spcAft>
          </a:pPr>
          <a:r>
            <a:rPr lang="en-GB" sz="1400" kern="1200" dirty="0" smtClean="0"/>
            <a:t>fulfilment </a:t>
          </a:r>
        </a:p>
        <a:p>
          <a:pPr lvl="0" algn="ctr" defTabSz="711200">
            <a:lnSpc>
              <a:spcPct val="100000"/>
            </a:lnSpc>
            <a:spcBef>
              <a:spcPct val="0"/>
            </a:spcBef>
            <a:spcAft>
              <a:spcPts val="0"/>
            </a:spcAft>
          </a:pPr>
          <a:r>
            <a:rPr lang="en-GB" sz="1400" kern="1200" dirty="0" smtClean="0"/>
            <a:t>and actualisation</a:t>
          </a:r>
          <a:endParaRPr lang="en-GB" sz="1400" kern="1200" dirty="0"/>
        </a:p>
      </dsp:txBody>
      <dsp:txXfrm>
        <a:off x="2962656" y="0"/>
        <a:ext cx="1481328" cy="1019833"/>
      </dsp:txXfrm>
    </dsp:sp>
    <dsp:sp modelId="{A3482CD6-CDC7-4321-BB4F-CA98D061B9A0}">
      <dsp:nvSpPr>
        <dsp:cNvPr id="0" name=""/>
        <dsp:cNvSpPr/>
      </dsp:nvSpPr>
      <dsp:spPr>
        <a:xfrm>
          <a:off x="2221992" y="1019833"/>
          <a:ext cx="2962656" cy="1019833"/>
        </a:xfrm>
        <a:prstGeom prst="trapezoid">
          <a:avLst>
            <a:gd name="adj" fmla="val 72626"/>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Self-esteem</a:t>
          </a:r>
        </a:p>
        <a:p>
          <a:pPr lvl="0" algn="ctr" defTabSz="889000">
            <a:lnSpc>
              <a:spcPct val="90000"/>
            </a:lnSpc>
            <a:spcBef>
              <a:spcPct val="0"/>
            </a:spcBef>
            <a:spcAft>
              <a:spcPct val="35000"/>
            </a:spcAft>
          </a:pPr>
          <a:r>
            <a:rPr lang="en-GB" sz="2000" kern="1200" dirty="0" smtClean="0"/>
            <a:t>The “Value” Need</a:t>
          </a:r>
          <a:endParaRPr lang="en-GB" sz="2000" kern="1200" dirty="0"/>
        </a:p>
      </dsp:txBody>
      <dsp:txXfrm>
        <a:off x="2740456" y="1019833"/>
        <a:ext cx="1925726" cy="1019833"/>
      </dsp:txXfrm>
    </dsp:sp>
    <dsp:sp modelId="{6ECB9E01-79C1-4617-96D1-C46C4A6F561C}">
      <dsp:nvSpPr>
        <dsp:cNvPr id="0" name=""/>
        <dsp:cNvSpPr/>
      </dsp:nvSpPr>
      <dsp:spPr>
        <a:xfrm>
          <a:off x="1481327" y="2039666"/>
          <a:ext cx="4443984" cy="1019833"/>
        </a:xfrm>
        <a:prstGeom prst="trapezoid">
          <a:avLst>
            <a:gd name="adj" fmla="val 72626"/>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Love and friendship needs – to give and receive love, to belong</a:t>
          </a:r>
          <a:endParaRPr lang="en-GB" sz="2000" kern="1200" dirty="0"/>
        </a:p>
      </dsp:txBody>
      <dsp:txXfrm>
        <a:off x="2259025" y="2039666"/>
        <a:ext cx="2888589" cy="1019833"/>
      </dsp:txXfrm>
    </dsp:sp>
    <dsp:sp modelId="{6013B443-167C-41D8-A946-8920CDA00E01}">
      <dsp:nvSpPr>
        <dsp:cNvPr id="0" name=""/>
        <dsp:cNvSpPr/>
      </dsp:nvSpPr>
      <dsp:spPr>
        <a:xfrm>
          <a:off x="740663" y="3059499"/>
          <a:ext cx="5925312" cy="1019833"/>
        </a:xfrm>
        <a:prstGeom prst="trapezoid">
          <a:avLst>
            <a:gd name="adj" fmla="val 72626"/>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Safety needs – safe from threats, treated fairly, trusted and to trust</a:t>
          </a:r>
          <a:endParaRPr lang="en-GB" sz="2000" kern="1200" dirty="0"/>
        </a:p>
      </dsp:txBody>
      <dsp:txXfrm>
        <a:off x="1777593" y="3059499"/>
        <a:ext cx="3851452" cy="1019833"/>
      </dsp:txXfrm>
    </dsp:sp>
    <dsp:sp modelId="{FC1C1414-7C67-4C4A-B405-26DD890EAB51}">
      <dsp:nvSpPr>
        <dsp:cNvPr id="0" name=""/>
        <dsp:cNvSpPr/>
      </dsp:nvSpPr>
      <dsp:spPr>
        <a:xfrm>
          <a:off x="0" y="4079332"/>
          <a:ext cx="7406640" cy="1019833"/>
        </a:xfrm>
        <a:prstGeom prst="trapezoid">
          <a:avLst>
            <a:gd name="adj" fmla="val 72626"/>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Physical needs – air, food, water, shelter, medical care, rest and recreation</a:t>
          </a:r>
          <a:endParaRPr lang="en-GB" sz="2000" kern="1200" dirty="0"/>
        </a:p>
      </dsp:txBody>
      <dsp:txXfrm>
        <a:off x="1296161" y="4079332"/>
        <a:ext cx="4814316" cy="101983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9C2067-3453-E84B-9E57-A701B6F1AD26}" type="datetimeFigureOut">
              <a:rPr lang="en-US" smtClean="0"/>
              <a:t>7/3/2019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425465-BF17-804A-B956-03B2B34BD53A}" type="slidenum">
              <a:rPr lang="en-US" smtClean="0"/>
              <a:t>‹#›</a:t>
            </a:fld>
            <a:endParaRPr lang="en-US" dirty="0"/>
          </a:p>
        </p:txBody>
      </p:sp>
    </p:spTree>
    <p:extLst>
      <p:ext uri="{BB962C8B-B14F-4D97-AF65-F5344CB8AC3E}">
        <p14:creationId xmlns:p14="http://schemas.microsoft.com/office/powerpoint/2010/main" val="274021622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Marjorie Boxall, the founder of nurture groups, describes secure relationships as,</a:t>
            </a:r>
            <a:endParaRPr lang="en-GB" altLang="en-US" dirty="0" smtClean="0"/>
          </a:p>
          <a:p>
            <a:r>
              <a:rPr lang="en-US" altLang="en-US" dirty="0" smtClean="0"/>
              <a:t> </a:t>
            </a:r>
            <a:endParaRPr lang="en-GB" altLang="en-US" dirty="0" smtClean="0"/>
          </a:p>
          <a:p>
            <a:r>
              <a:rPr lang="en-US" altLang="en-US" dirty="0" smtClean="0"/>
              <a:t>“The close identification of parent and child, and the interaction and participation in shared experiences that stem from this.  It is the first stage of a developmental process through which the child builds up adequate concepts and skills, learns to interact and share with others and feel concern for them.  Through this process he becomes increasingly self-supporting and self-directing and able to profit from the learning experiences offered at school.”  (Boxall, 2010, 22)</a:t>
            </a:r>
            <a:endParaRPr lang="en-GB" altLang="en-US" dirty="0" smtClean="0"/>
          </a:p>
          <a:p>
            <a:r>
              <a:rPr lang="en-US" altLang="en-US" dirty="0" smtClean="0"/>
              <a:t> </a:t>
            </a:r>
            <a:endParaRPr lang="en-GB" altLang="en-US" dirty="0" smtClean="0"/>
          </a:p>
          <a:p>
            <a:r>
              <a:rPr lang="en-US" altLang="en-US" dirty="0" smtClean="0"/>
              <a:t>Bowlby proposed that insecure attachments are formed not from the absence of someone that loves a child, but the absence of someone that the child loves</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a:t>
            </a:fld>
            <a:endParaRPr lang="en-US" dirty="0"/>
          </a:p>
        </p:txBody>
      </p:sp>
    </p:spTree>
    <p:extLst>
      <p:ext uri="{BB962C8B-B14F-4D97-AF65-F5344CB8AC3E}">
        <p14:creationId xmlns:p14="http://schemas.microsoft.com/office/powerpoint/2010/main" val="4125333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6</a:t>
            </a:fld>
            <a:endParaRPr lang="en-US" dirty="0"/>
          </a:p>
        </p:txBody>
      </p:sp>
    </p:spTree>
    <p:extLst>
      <p:ext uri="{BB962C8B-B14F-4D97-AF65-F5344CB8AC3E}">
        <p14:creationId xmlns:p14="http://schemas.microsoft.com/office/powerpoint/2010/main" val="3775369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8</a:t>
            </a:fld>
            <a:endParaRPr lang="en-US" dirty="0"/>
          </a:p>
        </p:txBody>
      </p:sp>
    </p:spTree>
    <p:extLst>
      <p:ext uri="{BB962C8B-B14F-4D97-AF65-F5344CB8AC3E}">
        <p14:creationId xmlns:p14="http://schemas.microsoft.com/office/powerpoint/2010/main" val="3963398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9</a:t>
            </a:fld>
            <a:endParaRPr lang="en-US" dirty="0"/>
          </a:p>
        </p:txBody>
      </p:sp>
    </p:spTree>
    <p:extLst>
      <p:ext uri="{BB962C8B-B14F-4D97-AF65-F5344CB8AC3E}">
        <p14:creationId xmlns:p14="http://schemas.microsoft.com/office/powerpoint/2010/main" val="3363832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11</a:t>
            </a:fld>
            <a:endParaRPr lang="en-US" dirty="0"/>
          </a:p>
        </p:txBody>
      </p:sp>
    </p:spTree>
    <p:extLst>
      <p:ext uri="{BB962C8B-B14F-4D97-AF65-F5344CB8AC3E}">
        <p14:creationId xmlns:p14="http://schemas.microsoft.com/office/powerpoint/2010/main" val="453345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12</a:t>
            </a:fld>
            <a:endParaRPr lang="en-US" dirty="0"/>
          </a:p>
        </p:txBody>
      </p:sp>
    </p:spTree>
    <p:extLst>
      <p:ext uri="{BB962C8B-B14F-4D97-AF65-F5344CB8AC3E}">
        <p14:creationId xmlns:p14="http://schemas.microsoft.com/office/powerpoint/2010/main" val="1219214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t>Cortisol</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13</a:t>
            </a:fld>
            <a:endParaRPr lang="en-US" dirty="0"/>
          </a:p>
        </p:txBody>
      </p:sp>
    </p:spTree>
    <p:extLst>
      <p:ext uri="{BB962C8B-B14F-4D97-AF65-F5344CB8AC3E}">
        <p14:creationId xmlns:p14="http://schemas.microsoft.com/office/powerpoint/2010/main" val="3225893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14</a:t>
            </a:fld>
            <a:endParaRPr lang="en-US" dirty="0"/>
          </a:p>
        </p:txBody>
      </p:sp>
    </p:spTree>
    <p:extLst>
      <p:ext uri="{BB962C8B-B14F-4D97-AF65-F5344CB8AC3E}">
        <p14:creationId xmlns:p14="http://schemas.microsoft.com/office/powerpoint/2010/main" val="2891158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15</a:t>
            </a:fld>
            <a:endParaRPr lang="en-US" dirty="0"/>
          </a:p>
        </p:txBody>
      </p:sp>
    </p:spTree>
    <p:extLst>
      <p:ext uri="{BB962C8B-B14F-4D97-AF65-F5344CB8AC3E}">
        <p14:creationId xmlns:p14="http://schemas.microsoft.com/office/powerpoint/2010/main" val="4093630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16</a:t>
            </a:fld>
            <a:endParaRPr lang="en-US" dirty="0"/>
          </a:p>
        </p:txBody>
      </p:sp>
    </p:spTree>
    <p:extLst>
      <p:ext uri="{BB962C8B-B14F-4D97-AF65-F5344CB8AC3E}">
        <p14:creationId xmlns:p14="http://schemas.microsoft.com/office/powerpoint/2010/main" val="55745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On average 55-60% of infants in the UK are securely attached. (Howe et al. 1999: 33) For the 40-45% of children that are insecurely attached, various psychological defensive strategies that mask their real feelings of overwhelming distress are employed rendering the child “quite incapable of warm attachment and therefore indifferent to human relationships” (Harris-Hendriks &amp; Figueroa 1995):</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17</a:t>
            </a:fld>
            <a:endParaRPr lang="en-US" dirty="0"/>
          </a:p>
        </p:txBody>
      </p:sp>
    </p:spTree>
    <p:extLst>
      <p:ext uri="{BB962C8B-B14F-4D97-AF65-F5344CB8AC3E}">
        <p14:creationId xmlns:p14="http://schemas.microsoft.com/office/powerpoint/2010/main" val="409403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18</a:t>
            </a:fld>
            <a:endParaRPr lang="en-US" dirty="0"/>
          </a:p>
        </p:txBody>
      </p:sp>
    </p:spTree>
    <p:extLst>
      <p:ext uri="{BB962C8B-B14F-4D97-AF65-F5344CB8AC3E}">
        <p14:creationId xmlns:p14="http://schemas.microsoft.com/office/powerpoint/2010/main" val="945408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19</a:t>
            </a:fld>
            <a:endParaRPr lang="en-US" dirty="0"/>
          </a:p>
        </p:txBody>
      </p:sp>
    </p:spTree>
    <p:extLst>
      <p:ext uri="{BB962C8B-B14F-4D97-AF65-F5344CB8AC3E}">
        <p14:creationId xmlns:p14="http://schemas.microsoft.com/office/powerpoint/2010/main" val="4043528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20</a:t>
            </a:fld>
            <a:endParaRPr lang="en-US" dirty="0"/>
          </a:p>
        </p:txBody>
      </p:sp>
    </p:spTree>
    <p:extLst>
      <p:ext uri="{BB962C8B-B14F-4D97-AF65-F5344CB8AC3E}">
        <p14:creationId xmlns:p14="http://schemas.microsoft.com/office/powerpoint/2010/main" val="2767124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21</a:t>
            </a:fld>
            <a:endParaRPr lang="en-US" dirty="0"/>
          </a:p>
        </p:txBody>
      </p:sp>
    </p:spTree>
    <p:extLst>
      <p:ext uri="{BB962C8B-B14F-4D97-AF65-F5344CB8AC3E}">
        <p14:creationId xmlns:p14="http://schemas.microsoft.com/office/powerpoint/2010/main" val="3997163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Infant shuts down and detaches from people.  Child develops feelings of not being good enough and withdraws from close relationships, suppresses painful negative memories and fails to acknowledge negative feelings.  They are likely to develop a belief in the need for self-reliance. </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22</a:t>
            </a:fld>
            <a:endParaRPr lang="en-US" dirty="0"/>
          </a:p>
        </p:txBody>
      </p:sp>
    </p:spTree>
    <p:extLst>
      <p:ext uri="{BB962C8B-B14F-4D97-AF65-F5344CB8AC3E}">
        <p14:creationId xmlns:p14="http://schemas.microsoft.com/office/powerpoint/2010/main" val="3583064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23</a:t>
            </a:fld>
            <a:endParaRPr lang="en-US" dirty="0"/>
          </a:p>
        </p:txBody>
      </p:sp>
    </p:spTree>
    <p:extLst>
      <p:ext uri="{BB962C8B-B14F-4D97-AF65-F5344CB8AC3E}">
        <p14:creationId xmlns:p14="http://schemas.microsoft.com/office/powerpoint/2010/main" val="2320605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24</a:t>
            </a:fld>
            <a:endParaRPr lang="en-US" dirty="0"/>
          </a:p>
        </p:txBody>
      </p:sp>
    </p:spTree>
    <p:extLst>
      <p:ext uri="{BB962C8B-B14F-4D97-AF65-F5344CB8AC3E}">
        <p14:creationId xmlns:p14="http://schemas.microsoft.com/office/powerpoint/2010/main" val="618294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Infant exacerbates their distress due to the belief that they have to magnify their emotions to receive support- they are intermittently rewarded for such </a:t>
            </a:r>
            <a:r>
              <a:rPr lang="en-US" altLang="en-US" dirty="0" err="1" smtClean="0"/>
              <a:t>behaviour</a:t>
            </a:r>
            <a:r>
              <a:rPr lang="en-US" altLang="en-US" dirty="0" smtClean="0"/>
              <a:t> with attention from an attachment figure.  Child craves attachment and they are likely to experience both fear and anger towards others for not providing care. </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25</a:t>
            </a:fld>
            <a:endParaRPr lang="en-US" dirty="0"/>
          </a:p>
        </p:txBody>
      </p:sp>
    </p:spTree>
    <p:extLst>
      <p:ext uri="{BB962C8B-B14F-4D97-AF65-F5344CB8AC3E}">
        <p14:creationId xmlns:p14="http://schemas.microsoft.com/office/powerpoint/2010/main" val="3251144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26</a:t>
            </a:fld>
            <a:endParaRPr lang="en-US" dirty="0"/>
          </a:p>
        </p:txBody>
      </p:sp>
    </p:spTree>
    <p:extLst>
      <p:ext uri="{BB962C8B-B14F-4D97-AF65-F5344CB8AC3E}">
        <p14:creationId xmlns:p14="http://schemas.microsoft.com/office/powerpoint/2010/main" val="1394993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27</a:t>
            </a:fld>
            <a:endParaRPr lang="en-US" dirty="0"/>
          </a:p>
        </p:txBody>
      </p:sp>
    </p:spTree>
    <p:extLst>
      <p:ext uri="{BB962C8B-B14F-4D97-AF65-F5344CB8AC3E}">
        <p14:creationId xmlns:p14="http://schemas.microsoft.com/office/powerpoint/2010/main" val="160190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Infant has no coherent pattern of </a:t>
            </a:r>
            <a:r>
              <a:rPr lang="en-US" altLang="en-US" smtClean="0"/>
              <a:t>behaviour</a:t>
            </a:r>
            <a:r>
              <a:rPr lang="en-US" altLang="en-US" dirty="0" smtClean="0"/>
              <a:t> and switches between inhibited and disinhibited behaviour.</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28</a:t>
            </a:fld>
            <a:endParaRPr lang="en-US" dirty="0"/>
          </a:p>
        </p:txBody>
      </p:sp>
    </p:spTree>
    <p:extLst>
      <p:ext uri="{BB962C8B-B14F-4D97-AF65-F5344CB8AC3E}">
        <p14:creationId xmlns:p14="http://schemas.microsoft.com/office/powerpoint/2010/main" val="14427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29</a:t>
            </a:fld>
            <a:endParaRPr lang="en-US" dirty="0"/>
          </a:p>
        </p:txBody>
      </p:sp>
    </p:spTree>
    <p:extLst>
      <p:ext uri="{BB962C8B-B14F-4D97-AF65-F5344CB8AC3E}">
        <p14:creationId xmlns:p14="http://schemas.microsoft.com/office/powerpoint/2010/main" val="491849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30</a:t>
            </a:fld>
            <a:endParaRPr lang="en-US" dirty="0"/>
          </a:p>
        </p:txBody>
      </p:sp>
    </p:spTree>
    <p:extLst>
      <p:ext uri="{BB962C8B-B14F-4D97-AF65-F5344CB8AC3E}">
        <p14:creationId xmlns:p14="http://schemas.microsoft.com/office/powerpoint/2010/main" val="1020994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31</a:t>
            </a:fld>
            <a:endParaRPr lang="en-US" dirty="0"/>
          </a:p>
        </p:txBody>
      </p:sp>
    </p:spTree>
    <p:extLst>
      <p:ext uri="{BB962C8B-B14F-4D97-AF65-F5344CB8AC3E}">
        <p14:creationId xmlns:p14="http://schemas.microsoft.com/office/powerpoint/2010/main" val="1145990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32</a:t>
            </a:fld>
            <a:endParaRPr lang="en-US" dirty="0"/>
          </a:p>
        </p:txBody>
      </p:sp>
    </p:spTree>
    <p:extLst>
      <p:ext uri="{BB962C8B-B14F-4D97-AF65-F5344CB8AC3E}">
        <p14:creationId xmlns:p14="http://schemas.microsoft.com/office/powerpoint/2010/main" val="223058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33</a:t>
            </a:fld>
            <a:endParaRPr lang="en-US" dirty="0"/>
          </a:p>
        </p:txBody>
      </p:sp>
    </p:spTree>
    <p:extLst>
      <p:ext uri="{BB962C8B-B14F-4D97-AF65-F5344CB8AC3E}">
        <p14:creationId xmlns:p14="http://schemas.microsoft.com/office/powerpoint/2010/main" val="3883941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34</a:t>
            </a:fld>
            <a:endParaRPr lang="en-US" dirty="0"/>
          </a:p>
        </p:txBody>
      </p:sp>
    </p:spTree>
    <p:extLst>
      <p:ext uri="{BB962C8B-B14F-4D97-AF65-F5344CB8AC3E}">
        <p14:creationId xmlns:p14="http://schemas.microsoft.com/office/powerpoint/2010/main" val="40725622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35</a:t>
            </a:fld>
            <a:endParaRPr lang="en-US" dirty="0"/>
          </a:p>
        </p:txBody>
      </p:sp>
    </p:spTree>
    <p:extLst>
      <p:ext uri="{BB962C8B-B14F-4D97-AF65-F5344CB8AC3E}">
        <p14:creationId xmlns:p14="http://schemas.microsoft.com/office/powerpoint/2010/main" val="4243781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36</a:t>
            </a:fld>
            <a:endParaRPr lang="en-US" dirty="0"/>
          </a:p>
        </p:txBody>
      </p:sp>
    </p:spTree>
    <p:extLst>
      <p:ext uri="{BB962C8B-B14F-4D97-AF65-F5344CB8AC3E}">
        <p14:creationId xmlns:p14="http://schemas.microsoft.com/office/powerpoint/2010/main" val="2858642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37</a:t>
            </a:fld>
            <a:endParaRPr lang="en-US" dirty="0"/>
          </a:p>
        </p:txBody>
      </p:sp>
    </p:spTree>
    <p:extLst>
      <p:ext uri="{BB962C8B-B14F-4D97-AF65-F5344CB8AC3E}">
        <p14:creationId xmlns:p14="http://schemas.microsoft.com/office/powerpoint/2010/main" val="21860003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38</a:t>
            </a:fld>
            <a:endParaRPr lang="en-US" dirty="0"/>
          </a:p>
        </p:txBody>
      </p:sp>
    </p:spTree>
    <p:extLst>
      <p:ext uri="{BB962C8B-B14F-4D97-AF65-F5344CB8AC3E}">
        <p14:creationId xmlns:p14="http://schemas.microsoft.com/office/powerpoint/2010/main" val="14152635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39</a:t>
            </a:fld>
            <a:endParaRPr lang="en-US" dirty="0"/>
          </a:p>
        </p:txBody>
      </p:sp>
    </p:spTree>
    <p:extLst>
      <p:ext uri="{BB962C8B-B14F-4D97-AF65-F5344CB8AC3E}">
        <p14:creationId xmlns:p14="http://schemas.microsoft.com/office/powerpoint/2010/main" val="31100147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40</a:t>
            </a:fld>
            <a:endParaRPr lang="en-US" dirty="0"/>
          </a:p>
        </p:txBody>
      </p:sp>
    </p:spTree>
    <p:extLst>
      <p:ext uri="{BB962C8B-B14F-4D97-AF65-F5344CB8AC3E}">
        <p14:creationId xmlns:p14="http://schemas.microsoft.com/office/powerpoint/2010/main" val="33459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41</a:t>
            </a:fld>
            <a:endParaRPr lang="en-US" dirty="0"/>
          </a:p>
        </p:txBody>
      </p:sp>
    </p:spTree>
    <p:extLst>
      <p:ext uri="{BB962C8B-B14F-4D97-AF65-F5344CB8AC3E}">
        <p14:creationId xmlns:p14="http://schemas.microsoft.com/office/powerpoint/2010/main" val="1782644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42</a:t>
            </a:fld>
            <a:endParaRPr lang="en-US" dirty="0"/>
          </a:p>
        </p:txBody>
      </p:sp>
    </p:spTree>
    <p:extLst>
      <p:ext uri="{BB962C8B-B14F-4D97-AF65-F5344CB8AC3E}">
        <p14:creationId xmlns:p14="http://schemas.microsoft.com/office/powerpoint/2010/main" val="2389834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43</a:t>
            </a:fld>
            <a:endParaRPr lang="en-US" dirty="0"/>
          </a:p>
        </p:txBody>
      </p:sp>
    </p:spTree>
    <p:extLst>
      <p:ext uri="{BB962C8B-B14F-4D97-AF65-F5344CB8AC3E}">
        <p14:creationId xmlns:p14="http://schemas.microsoft.com/office/powerpoint/2010/main" val="40535619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44</a:t>
            </a:fld>
            <a:endParaRPr lang="en-US" dirty="0"/>
          </a:p>
        </p:txBody>
      </p:sp>
    </p:spTree>
    <p:extLst>
      <p:ext uri="{BB962C8B-B14F-4D97-AF65-F5344CB8AC3E}">
        <p14:creationId xmlns:p14="http://schemas.microsoft.com/office/powerpoint/2010/main" val="39308384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45</a:t>
            </a:fld>
            <a:endParaRPr lang="en-US" dirty="0"/>
          </a:p>
        </p:txBody>
      </p:sp>
    </p:spTree>
    <p:extLst>
      <p:ext uri="{BB962C8B-B14F-4D97-AF65-F5344CB8AC3E}">
        <p14:creationId xmlns:p14="http://schemas.microsoft.com/office/powerpoint/2010/main" val="37748591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46</a:t>
            </a:fld>
            <a:endParaRPr lang="en-US" dirty="0"/>
          </a:p>
        </p:txBody>
      </p:sp>
    </p:spTree>
    <p:extLst>
      <p:ext uri="{BB962C8B-B14F-4D97-AF65-F5344CB8AC3E}">
        <p14:creationId xmlns:p14="http://schemas.microsoft.com/office/powerpoint/2010/main" val="1062276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47</a:t>
            </a:fld>
            <a:endParaRPr lang="en-US" dirty="0"/>
          </a:p>
        </p:txBody>
      </p:sp>
    </p:spTree>
    <p:extLst>
      <p:ext uri="{BB962C8B-B14F-4D97-AF65-F5344CB8AC3E}">
        <p14:creationId xmlns:p14="http://schemas.microsoft.com/office/powerpoint/2010/main" val="25958214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48</a:t>
            </a:fld>
            <a:endParaRPr lang="en-US" dirty="0"/>
          </a:p>
        </p:txBody>
      </p:sp>
    </p:spTree>
    <p:extLst>
      <p:ext uri="{BB962C8B-B14F-4D97-AF65-F5344CB8AC3E}">
        <p14:creationId xmlns:p14="http://schemas.microsoft.com/office/powerpoint/2010/main" val="29793566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49</a:t>
            </a:fld>
            <a:endParaRPr lang="en-US" dirty="0"/>
          </a:p>
        </p:txBody>
      </p:sp>
    </p:spTree>
    <p:extLst>
      <p:ext uri="{BB962C8B-B14F-4D97-AF65-F5344CB8AC3E}">
        <p14:creationId xmlns:p14="http://schemas.microsoft.com/office/powerpoint/2010/main" val="4257016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50</a:t>
            </a:fld>
            <a:endParaRPr lang="en-US" dirty="0"/>
          </a:p>
        </p:txBody>
      </p:sp>
    </p:spTree>
    <p:extLst>
      <p:ext uri="{BB962C8B-B14F-4D97-AF65-F5344CB8AC3E}">
        <p14:creationId xmlns:p14="http://schemas.microsoft.com/office/powerpoint/2010/main" val="30364495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51</a:t>
            </a:fld>
            <a:endParaRPr lang="en-US" dirty="0"/>
          </a:p>
        </p:txBody>
      </p:sp>
    </p:spTree>
    <p:extLst>
      <p:ext uri="{BB962C8B-B14F-4D97-AF65-F5344CB8AC3E}">
        <p14:creationId xmlns:p14="http://schemas.microsoft.com/office/powerpoint/2010/main" val="32412412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52</a:t>
            </a:fld>
            <a:endParaRPr lang="en-US" dirty="0"/>
          </a:p>
        </p:txBody>
      </p:sp>
    </p:spTree>
    <p:extLst>
      <p:ext uri="{BB962C8B-B14F-4D97-AF65-F5344CB8AC3E}">
        <p14:creationId xmlns:p14="http://schemas.microsoft.com/office/powerpoint/2010/main" val="24136047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53</a:t>
            </a:fld>
            <a:endParaRPr lang="en-US" dirty="0"/>
          </a:p>
        </p:txBody>
      </p:sp>
    </p:spTree>
    <p:extLst>
      <p:ext uri="{BB962C8B-B14F-4D97-AF65-F5344CB8AC3E}">
        <p14:creationId xmlns:p14="http://schemas.microsoft.com/office/powerpoint/2010/main" val="1045508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54</a:t>
            </a:fld>
            <a:endParaRPr lang="en-US" dirty="0"/>
          </a:p>
        </p:txBody>
      </p:sp>
    </p:spTree>
    <p:extLst>
      <p:ext uri="{BB962C8B-B14F-4D97-AF65-F5344CB8AC3E}">
        <p14:creationId xmlns:p14="http://schemas.microsoft.com/office/powerpoint/2010/main" val="2202923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57682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47043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4188256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08084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35375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11373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63625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5368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92203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43481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67458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491FA2-DBAF-8948-B0AA-F8218DAC9472}" type="datetimeFigureOut">
              <a:rPr lang="en-US" smtClean="0"/>
              <a:t>7/3/2019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9481E-959F-0A4C-89CF-13A902D3D06F}" type="slidenum">
              <a:rPr lang="en-US" smtClean="0"/>
              <a:t>‹#›</a:t>
            </a:fld>
            <a:endParaRPr lang="en-US" dirty="0"/>
          </a:p>
        </p:txBody>
      </p:sp>
    </p:spTree>
    <p:extLst>
      <p:ext uri="{BB962C8B-B14F-4D97-AF65-F5344CB8AC3E}">
        <p14:creationId xmlns:p14="http://schemas.microsoft.com/office/powerpoint/2010/main" val="4219930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hyperlink" Target="http://masterworks.files.wordpress.com/2009/05/mother-holding-baby.jpg"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TROIMMAGE5-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582706" y="542838"/>
            <a:ext cx="6127187" cy="41549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sz="3200" dirty="0" smtClean="0"/>
              <a:t>Topic 3</a:t>
            </a:r>
          </a:p>
          <a:p>
            <a:pPr eaLnBrk="1" hangingPunct="1"/>
            <a:endParaRPr lang="en-GB" sz="3200" dirty="0" smtClean="0"/>
          </a:p>
          <a:p>
            <a:pPr eaLnBrk="1" hangingPunct="1"/>
            <a:r>
              <a:rPr lang="en-GB" sz="3200" dirty="0" smtClean="0"/>
              <a:t>Understand </a:t>
            </a:r>
            <a:r>
              <a:rPr lang="en-GB" sz="3200" dirty="0"/>
              <a:t>and practically address the implications of attachment disorder on behaviour and </a:t>
            </a:r>
            <a:r>
              <a:rPr lang="en-GB" sz="3200" dirty="0" smtClean="0"/>
              <a:t>learning</a:t>
            </a:r>
          </a:p>
          <a:p>
            <a:pPr eaLnBrk="1" hangingPunct="1"/>
            <a:endParaRPr lang="en-GB" sz="3200" dirty="0" smtClean="0"/>
          </a:p>
          <a:p>
            <a:pPr eaLnBrk="1" hangingPunct="1"/>
            <a:r>
              <a:rPr lang="en-GB" sz="3200" dirty="0" smtClean="0">
                <a:latin typeface="Arial" panose="020B0604020202020204" pitchFamily="34" charset="0"/>
                <a:cs typeface="Arial" panose="020B0604020202020204" pitchFamily="34" charset="0"/>
              </a:rPr>
              <a:t>The Wellbeing Toolkit</a:t>
            </a:r>
            <a:endParaRPr lang="es-ES" sz="3200" dirty="0">
              <a:latin typeface="Arial" panose="020B0604020202020204" pitchFamily="34" charset="0"/>
              <a:cs typeface="Arial" panose="020B0604020202020204" pitchFamily="34" charset="0"/>
            </a:endParaRPr>
          </a:p>
        </p:txBody>
      </p:sp>
      <p:sp>
        <p:nvSpPr>
          <p:cNvPr id="2" name="Rectangle 1"/>
          <p:cNvSpPr/>
          <p:nvPr/>
        </p:nvSpPr>
        <p:spPr>
          <a:xfrm>
            <a:off x="582706" y="4700224"/>
            <a:ext cx="5264302" cy="1446550"/>
          </a:xfrm>
          <a:prstGeom prst="rect">
            <a:avLst/>
          </a:prstGeom>
        </p:spPr>
        <p:txBody>
          <a:bodyPr wrap="square">
            <a:spAutoFit/>
          </a:bodyPr>
          <a:lstStyle/>
          <a:p>
            <a:endParaRPr lang="en-GB" altLang="en-US" sz="2400" dirty="0">
              <a:latin typeface="Arial" panose="020B0604020202020204" pitchFamily="34" charset="0"/>
              <a:cs typeface="Arial" panose="020B0604020202020204" pitchFamily="34" charset="0"/>
            </a:endParaRPr>
          </a:p>
          <a:p>
            <a:r>
              <a:rPr lang="en-GB" altLang="en-US" sz="3200" dirty="0">
                <a:latin typeface="Arial" panose="020B0604020202020204" pitchFamily="34" charset="0"/>
                <a:cs typeface="Arial" panose="020B0604020202020204" pitchFamily="34" charset="0"/>
              </a:rPr>
              <a:t>Dr Tina </a:t>
            </a:r>
            <a:r>
              <a:rPr lang="en-GB" altLang="en-US" sz="3200" dirty="0" smtClean="0">
                <a:latin typeface="Arial" panose="020B0604020202020204" pitchFamily="34" charset="0"/>
                <a:cs typeface="Arial" panose="020B0604020202020204" pitchFamily="34" charset="0"/>
              </a:rPr>
              <a:t>Rae, Dr Ali Pyle and Edurne Scott Loinaz</a:t>
            </a:r>
            <a:endParaRPr lang="en-GB"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0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Aims</a:t>
            </a:r>
            <a:endParaRPr lang="es-ES" sz="4400" dirty="0">
              <a:solidFill>
                <a:schemeClr val="bg1">
                  <a:lumMod val="50000"/>
                </a:schemeClr>
              </a:solidFill>
              <a:latin typeface="Calibri" charset="0"/>
            </a:endParaRPr>
          </a:p>
        </p:txBody>
      </p:sp>
      <p:sp>
        <p:nvSpPr>
          <p:cNvPr id="3" name="Rectangle 2"/>
          <p:cNvSpPr/>
          <p:nvPr/>
        </p:nvSpPr>
        <p:spPr>
          <a:xfrm>
            <a:off x="307909" y="1551527"/>
            <a:ext cx="8490857" cy="4651979"/>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challenges to CYP with complex needs in education with attachment as a key influencing factor</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Define attachment disorder &amp; implications for learning, behaviour and aspirations</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practical strategies for teachers &amp; support staff in the school context</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Present Solution focussed tools and PACE as key tools and methods of supporting these children</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Consider how you might incorporate some of these strategies into your own school based support systems</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2476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Key fact</a:t>
            </a:r>
            <a:endParaRPr lang="es-ES" sz="4400" dirty="0">
              <a:solidFill>
                <a:schemeClr val="bg1">
                  <a:lumMod val="50000"/>
                </a:schemeClr>
              </a:solidFill>
              <a:latin typeface="Calibri" charset="0"/>
            </a:endParaRPr>
          </a:p>
        </p:txBody>
      </p:sp>
      <p:sp>
        <p:nvSpPr>
          <p:cNvPr id="3" name="Rectangle 2"/>
          <p:cNvSpPr/>
          <p:nvPr/>
        </p:nvSpPr>
        <p:spPr>
          <a:xfrm>
            <a:off x="699795" y="1838130"/>
            <a:ext cx="7725747" cy="2585323"/>
          </a:xfrm>
          <a:prstGeom prst="rect">
            <a:avLst/>
          </a:prstGeom>
        </p:spPr>
        <p:txBody>
          <a:bodyPr wrap="square">
            <a:spAutoFit/>
          </a:bodyPr>
          <a:lstStyle/>
          <a:p>
            <a:pPr indent="-457200">
              <a:buFont typeface="Arial" panose="020B0604020202020204" pitchFamily="34" charset="0"/>
              <a:buChar char="•"/>
            </a:pPr>
            <a:r>
              <a:rPr lang="en-GB" altLang="en-US" sz="2000" b="1" dirty="0">
                <a:latin typeface="Arial" panose="020B0604020202020204" pitchFamily="34" charset="0"/>
                <a:cs typeface="Arial" panose="020B0604020202020204" pitchFamily="34" charset="0"/>
              </a:rPr>
              <a:t>Behaviour has </a:t>
            </a:r>
            <a:r>
              <a:rPr lang="en-GB" altLang="en-US" sz="2000" b="1" dirty="0" smtClean="0">
                <a:latin typeface="Arial" panose="020B0604020202020204" pitchFamily="34" charset="0"/>
                <a:cs typeface="Arial" panose="020B0604020202020204" pitchFamily="34" charset="0"/>
              </a:rPr>
              <a:t>meaning</a:t>
            </a:r>
          </a:p>
          <a:p>
            <a:r>
              <a:rPr lang="en-GB" altLang="en-US" sz="2000" dirty="0" smtClean="0">
                <a:latin typeface="Arial" panose="020B0604020202020204" pitchFamily="34" charset="0"/>
                <a:cs typeface="Arial" panose="020B0604020202020204" pitchFamily="34" charset="0"/>
              </a:rPr>
              <a:t>	Protect </a:t>
            </a:r>
            <a:r>
              <a:rPr lang="en-GB" altLang="en-US" sz="2000" dirty="0">
                <a:latin typeface="Arial" panose="020B0604020202020204" pitchFamily="34" charset="0"/>
                <a:cs typeface="Arial" panose="020B0604020202020204" pitchFamily="34" charset="0"/>
              </a:rPr>
              <a:t>the teacher from being adversely affected by </a:t>
            </a:r>
            <a:r>
              <a:rPr lang="en-GB" altLang="en-US" sz="2000" dirty="0" smtClean="0">
                <a:latin typeface="Arial" panose="020B0604020202020204" pitchFamily="34" charset="0"/>
                <a:cs typeface="Arial" panose="020B0604020202020204" pitchFamily="34" charset="0"/>
              </a:rPr>
              <a:t>pupil’s 	feelings 	and 	defence patterns</a:t>
            </a:r>
          </a:p>
          <a:p>
            <a:endParaRPr lang="en-GB" altLang="en-US" sz="24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To offer an alternative understanding/explanation of behaviour</a:t>
            </a:r>
          </a:p>
          <a:p>
            <a:r>
              <a:rPr lang="en-GB" altLang="en-US" sz="2000" dirty="0">
                <a:latin typeface="Arial" panose="020B0604020202020204" pitchFamily="34" charset="0"/>
                <a:cs typeface="Arial" panose="020B0604020202020204" pitchFamily="34" charset="0"/>
              </a:rPr>
              <a:t>           </a:t>
            </a:r>
          </a:p>
          <a:p>
            <a:r>
              <a:rPr lang="en-GB" altLang="en-US" sz="2000" dirty="0" smtClean="0">
                <a:latin typeface="Arial" panose="020B0604020202020204" pitchFamily="34" charset="0"/>
                <a:cs typeface="Arial" panose="020B0604020202020204" pitchFamily="34" charset="0"/>
              </a:rPr>
              <a:t>	</a:t>
            </a:r>
            <a:r>
              <a:rPr lang="en-GB" altLang="en-US" dirty="0" smtClean="0">
                <a:latin typeface="Arial" panose="020B0604020202020204" pitchFamily="34" charset="0"/>
                <a:cs typeface="Arial" panose="020B0604020202020204" pitchFamily="34" charset="0"/>
              </a:rPr>
              <a:t>How </a:t>
            </a:r>
            <a:r>
              <a:rPr lang="en-GB" altLang="en-US" dirty="0">
                <a:latin typeface="Arial" panose="020B0604020202020204" pitchFamily="34" charset="0"/>
                <a:cs typeface="Arial" panose="020B0604020202020204" pitchFamily="34" charset="0"/>
              </a:rPr>
              <a:t>early </a:t>
            </a:r>
            <a:r>
              <a:rPr lang="en-GB" altLang="en-US" dirty="0" smtClean="0">
                <a:latin typeface="Arial" panose="020B0604020202020204" pitchFamily="34" charset="0"/>
                <a:cs typeface="Arial" panose="020B0604020202020204" pitchFamily="34" charset="0"/>
              </a:rPr>
              <a:t>                                				Impacts </a:t>
            </a:r>
            <a:r>
              <a:rPr lang="en-GB" altLang="en-US" dirty="0">
                <a:latin typeface="Arial" panose="020B0604020202020204" pitchFamily="34" charset="0"/>
                <a:cs typeface="Arial" panose="020B0604020202020204" pitchFamily="34" charset="0"/>
              </a:rPr>
              <a:t>of </a:t>
            </a:r>
            <a:r>
              <a:rPr lang="en-GB" altLang="en-US" dirty="0" smtClean="0">
                <a:latin typeface="Arial" panose="020B0604020202020204" pitchFamily="34" charset="0"/>
                <a:cs typeface="Arial" panose="020B0604020202020204" pitchFamily="34" charset="0"/>
              </a:rPr>
              <a:t>learning</a:t>
            </a:r>
          </a:p>
          <a:p>
            <a:r>
              <a:rPr lang="en-GB" altLang="en-US" dirty="0" smtClean="0">
                <a:latin typeface="Arial" panose="020B0604020202020204" pitchFamily="34" charset="0"/>
                <a:cs typeface="Arial" panose="020B0604020202020204" pitchFamily="34" charset="0"/>
              </a:rPr>
              <a:t>	attachment                               				cognitive </a:t>
            </a:r>
            <a:r>
              <a:rPr lang="en-GB" altLang="en-US" dirty="0">
                <a:latin typeface="Arial" panose="020B0604020202020204" pitchFamily="34" charset="0"/>
                <a:cs typeface="Arial" panose="020B0604020202020204" pitchFamily="34" charset="0"/>
              </a:rPr>
              <a:t>development</a:t>
            </a:r>
          </a:p>
        </p:txBody>
      </p:sp>
      <p:sp>
        <p:nvSpPr>
          <p:cNvPr id="4" name="Right Arrow 3"/>
          <p:cNvSpPr/>
          <p:nvPr/>
        </p:nvSpPr>
        <p:spPr>
          <a:xfrm>
            <a:off x="3349690" y="3899545"/>
            <a:ext cx="1707502" cy="3545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5421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865652"/>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Definitions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631216"/>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The term </a:t>
            </a:r>
            <a:r>
              <a:rPr lang="en-GB" altLang="en-US" sz="2000" b="1" dirty="0" smtClean="0">
                <a:latin typeface="Arial" panose="020B0604020202020204" pitchFamily="34" charset="0"/>
                <a:cs typeface="Arial" panose="020B0604020202020204" pitchFamily="34" charset="0"/>
              </a:rPr>
              <a:t>attachments:</a:t>
            </a:r>
          </a:p>
          <a:p>
            <a:pPr marL="285750" indent="-285750">
              <a:buFont typeface="Arial" panose="020B0604020202020204" pitchFamily="34" charset="0"/>
              <a:buChar char="•"/>
            </a:pPr>
            <a:endParaRPr lang="en-GB" altLang="en-US" sz="20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Used </a:t>
            </a:r>
            <a:r>
              <a:rPr lang="en-GB" altLang="en-US" sz="2000" dirty="0">
                <a:latin typeface="Arial" panose="020B0604020202020204" pitchFamily="34" charset="0"/>
                <a:cs typeface="Arial" panose="020B0604020202020204" pitchFamily="34" charset="0"/>
              </a:rPr>
              <a:t>to describe the </a:t>
            </a:r>
            <a:r>
              <a:rPr lang="en-GB" altLang="en-US" sz="2000" b="1" dirty="0">
                <a:latin typeface="Arial" panose="020B0604020202020204" pitchFamily="34" charset="0"/>
                <a:cs typeface="Arial" panose="020B0604020202020204" pitchFamily="34" charset="0"/>
              </a:rPr>
              <a:t>process of bonding </a:t>
            </a:r>
            <a:r>
              <a:rPr lang="en-GB" altLang="en-US" sz="2000" dirty="0">
                <a:latin typeface="Arial" panose="020B0604020202020204" pitchFamily="34" charset="0"/>
                <a:cs typeface="Arial" panose="020B0604020202020204" pitchFamily="34" charset="0"/>
              </a:rPr>
              <a:t>that takes place between infants and caregivers in the </a:t>
            </a:r>
            <a:r>
              <a:rPr lang="en-GB" altLang="en-US" sz="2000" b="1" dirty="0">
                <a:latin typeface="Arial" panose="020B0604020202020204" pitchFamily="34" charset="0"/>
                <a:cs typeface="Arial" panose="020B0604020202020204" pitchFamily="34" charset="0"/>
              </a:rPr>
              <a:t>first two years of life</a:t>
            </a:r>
            <a:r>
              <a:rPr lang="en-GB" altLang="en-US" sz="2000" dirty="0">
                <a:latin typeface="Arial" panose="020B0604020202020204" pitchFamily="34" charset="0"/>
                <a:cs typeface="Arial" panose="020B0604020202020204" pitchFamily="34" charset="0"/>
              </a:rPr>
              <a:t>, and most important, the first nine months of life. </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062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690880" y="1194287"/>
            <a:ext cx="7772400" cy="1015663"/>
          </a:xfrm>
          <a:prstGeom prst="rect">
            <a:avLst/>
          </a:prstGeom>
        </p:spPr>
        <p:txBody>
          <a:bodyPr wrap="square">
            <a:spAutoFit/>
          </a:bodyPr>
          <a:lstStyle/>
          <a:p>
            <a:pPr>
              <a:spcBef>
                <a:spcPct val="50000"/>
              </a:spcBef>
            </a:pPr>
            <a:r>
              <a:rPr lang="en-GB" altLang="en-US" sz="2000" dirty="0" smtClean="0">
                <a:latin typeface="Arial" panose="020B0604020202020204" pitchFamily="34" charset="0"/>
                <a:cs typeface="Arial" panose="020B0604020202020204" pitchFamily="34" charset="0"/>
              </a:rPr>
              <a:t>Winnicott felt </a:t>
            </a:r>
            <a:r>
              <a:rPr lang="en-GB" altLang="en-US" sz="2000" dirty="0">
                <a:latin typeface="Arial" panose="020B0604020202020204" pitchFamily="34" charset="0"/>
                <a:cs typeface="Arial" panose="020B0604020202020204" pitchFamily="34" charset="0"/>
              </a:rPr>
              <a:t>that a good-enough mother allows </a:t>
            </a:r>
            <a:r>
              <a:rPr lang="en-GB" altLang="en-US" sz="2000" dirty="0" smtClean="0">
                <a:latin typeface="Arial" panose="020B0604020202020204" pitchFamily="34" charset="0"/>
                <a:cs typeface="Arial" panose="020B0604020202020204" pitchFamily="34" charset="0"/>
              </a:rPr>
              <a:t>herself to </a:t>
            </a:r>
            <a:r>
              <a:rPr lang="en-GB" altLang="en-US" sz="2000" dirty="0">
                <a:latin typeface="Arial" panose="020B0604020202020204" pitchFamily="34" charset="0"/>
                <a:cs typeface="Arial" panose="020B0604020202020204" pitchFamily="34" charset="0"/>
              </a:rPr>
              <a:t>be used by the infant so that he or she may develop a healthy sense of omnipotence</a:t>
            </a:r>
            <a:endParaRPr lang="en-US" altLang="en-US" sz="2000" dirty="0">
              <a:latin typeface="Arial" panose="020B0604020202020204" pitchFamily="34" charset="0"/>
              <a:cs typeface="Arial" panose="020B0604020202020204" pitchFamily="34" charset="0"/>
            </a:endParaRPr>
          </a:p>
        </p:txBody>
      </p:sp>
      <p:pic>
        <p:nvPicPr>
          <p:cNvPr id="5" name="Picture 8" descr="1574R-04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395425"/>
            <a:ext cx="324008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5383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399245" y="702163"/>
            <a:ext cx="8332632"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Maslow’s “Hierarchy of </a:t>
            </a:r>
            <a:r>
              <a:rPr lang="en-GB" sz="2800" dirty="0" smtClean="0"/>
              <a:t>Need”1954 </a:t>
            </a:r>
            <a:r>
              <a:rPr lang="en-GB" sz="2800" dirty="0"/>
              <a:t>“Motivation and Personality”</a:t>
            </a:r>
            <a:endParaRPr lang="es-ES" sz="2800" dirty="0">
              <a:solidFill>
                <a:schemeClr val="bg1">
                  <a:lumMod val="50000"/>
                </a:schemeClr>
              </a:solidFill>
              <a:latin typeface="Calibri" charset="0"/>
            </a:endParaRPr>
          </a:p>
        </p:txBody>
      </p:sp>
      <p:graphicFrame>
        <p:nvGraphicFramePr>
          <p:cNvPr id="5" name="Diagram 4"/>
          <p:cNvGraphicFramePr/>
          <p:nvPr>
            <p:extLst>
              <p:ext uri="{D42A27DB-BD31-4B8C-83A1-F6EECF244321}">
                <p14:modId xmlns:p14="http://schemas.microsoft.com/office/powerpoint/2010/main" val="3589193521"/>
              </p:ext>
            </p:extLst>
          </p:nvPr>
        </p:nvGraphicFramePr>
        <p:xfrm>
          <a:off x="868680" y="1657234"/>
          <a:ext cx="7406640" cy="5099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09862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587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Attachment Process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739485"/>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Calming - core </a:t>
            </a:r>
            <a:r>
              <a:rPr lang="en-GB" altLang="en-US" sz="2000" dirty="0">
                <a:latin typeface="Arial" panose="020B0604020202020204" pitchFamily="34" charset="0"/>
                <a:cs typeface="Arial" panose="020B0604020202020204" pitchFamily="34" charset="0"/>
              </a:rPr>
              <a:t>identity</a:t>
            </a:r>
          </a:p>
          <a:p>
            <a:pPr marL="285750" indent="-285750">
              <a:lnSpc>
                <a:spcPct val="150000"/>
              </a:lnSpc>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Attunement</a:t>
            </a:r>
            <a:r>
              <a:rPr lang="en-GB" altLang="en-US" sz="2000" dirty="0">
                <a:latin typeface="Arial" panose="020B0604020202020204" pitchFamily="34" charset="0"/>
                <a:cs typeface="Arial" panose="020B0604020202020204" pitchFamily="34" charset="0"/>
              </a:rPr>
              <a:t> </a:t>
            </a:r>
            <a:r>
              <a:rPr lang="en-GB" altLang="en-US" sz="2000" dirty="0" smtClean="0">
                <a:latin typeface="Arial" panose="020B0604020202020204" pitchFamily="34" charset="0"/>
                <a:cs typeface="Arial" panose="020B0604020202020204" pitchFamily="34" charset="0"/>
              </a:rPr>
              <a:t>- trust</a:t>
            </a:r>
            <a:endParaRPr lang="en-GB" altLang="en-US"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Affective </a:t>
            </a:r>
            <a:r>
              <a:rPr lang="en-GB" altLang="en-US" sz="2000" dirty="0" smtClean="0">
                <a:latin typeface="Arial" panose="020B0604020202020204" pitchFamily="34" charset="0"/>
                <a:cs typeface="Arial" panose="020B0604020202020204" pitchFamily="34" charset="0"/>
              </a:rPr>
              <a:t>attunement</a:t>
            </a:r>
            <a:r>
              <a:rPr lang="en-GB" altLang="en-US" sz="2000" dirty="0">
                <a:latin typeface="Arial" panose="020B0604020202020204" pitchFamily="34" charset="0"/>
                <a:cs typeface="Arial" panose="020B0604020202020204" pitchFamily="34" charset="0"/>
              </a:rPr>
              <a:t> </a:t>
            </a:r>
            <a:r>
              <a:rPr lang="en-GB" altLang="en-US" sz="2000" dirty="0" smtClean="0">
                <a:latin typeface="Arial" panose="020B0604020202020204" pitchFamily="34" charset="0"/>
                <a:cs typeface="Arial" panose="020B0604020202020204" pitchFamily="34" charset="0"/>
              </a:rPr>
              <a:t>- feelings </a:t>
            </a:r>
            <a:r>
              <a:rPr lang="en-GB" altLang="en-US" sz="2000" dirty="0">
                <a:latin typeface="Arial" panose="020B0604020202020204" pitchFamily="34" charset="0"/>
                <a:cs typeface="Arial" panose="020B0604020202020204" pitchFamily="34" charset="0"/>
              </a:rPr>
              <a:t>and empathy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Impulse </a:t>
            </a:r>
            <a:r>
              <a:rPr lang="en-GB" altLang="en-US" sz="2000" dirty="0" smtClean="0">
                <a:latin typeface="Arial" panose="020B0604020202020204" pitchFamily="34" charset="0"/>
                <a:cs typeface="Arial" panose="020B0604020202020204" pitchFamily="34" charset="0"/>
              </a:rPr>
              <a:t>regulation</a:t>
            </a:r>
            <a:r>
              <a:rPr lang="en-GB" altLang="en-US" sz="2000" dirty="0">
                <a:latin typeface="Arial" panose="020B0604020202020204" pitchFamily="34" charset="0"/>
                <a:cs typeface="Arial" panose="020B0604020202020204" pitchFamily="34" charset="0"/>
              </a:rPr>
              <a:t> </a:t>
            </a:r>
            <a:r>
              <a:rPr lang="en-GB" altLang="en-US" sz="2000" dirty="0" smtClean="0">
                <a:latin typeface="Arial" panose="020B0604020202020204" pitchFamily="34" charset="0"/>
                <a:cs typeface="Arial" panose="020B0604020202020204" pitchFamily="34" charset="0"/>
              </a:rPr>
              <a:t>- morality</a:t>
            </a:r>
            <a:endParaRPr lang="en-GB" altLang="en-US"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Shame </a:t>
            </a:r>
            <a:r>
              <a:rPr lang="en-GB" altLang="en-US" sz="2000" dirty="0" smtClean="0">
                <a:latin typeface="Arial" panose="020B0604020202020204" pitchFamily="34" charset="0"/>
                <a:cs typeface="Arial" panose="020B0604020202020204" pitchFamily="34" charset="0"/>
              </a:rPr>
              <a:t>regulation - social </a:t>
            </a:r>
            <a:r>
              <a:rPr lang="en-GB" altLang="en-US" sz="2000" dirty="0">
                <a:latin typeface="Arial" panose="020B0604020202020204" pitchFamily="34" charset="0"/>
                <a:cs typeface="Arial" panose="020B0604020202020204" pitchFamily="34" charset="0"/>
              </a:rPr>
              <a:t>learning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Rage </a:t>
            </a:r>
            <a:r>
              <a:rPr lang="en-GB" altLang="en-US" sz="2000" dirty="0" smtClean="0">
                <a:latin typeface="Arial" panose="020B0604020202020204" pitchFamily="34" charset="0"/>
                <a:cs typeface="Arial" panose="020B0604020202020204" pitchFamily="34" charset="0"/>
              </a:rPr>
              <a:t>management - social </a:t>
            </a:r>
            <a:r>
              <a:rPr lang="en-GB" altLang="en-US" sz="2000" dirty="0">
                <a:latin typeface="Arial" panose="020B0604020202020204" pitchFamily="34" charset="0"/>
                <a:cs typeface="Arial" panose="020B0604020202020204" pitchFamily="34" charset="0"/>
              </a:rPr>
              <a:t>acceptability</a:t>
            </a:r>
          </a:p>
          <a:p>
            <a:pPr marL="285750" indent="-285750">
              <a:lnSpc>
                <a:spcPct val="150000"/>
              </a:lnSpc>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Pre-cognitive patterning - thinking</a:t>
            </a:r>
            <a:endParaRPr lang="en-GB" altLang="en-US" sz="2000" dirty="0">
              <a:latin typeface="Arial" panose="020B0604020202020204" pitchFamily="34" charset="0"/>
              <a:cs typeface="Arial" panose="020B0604020202020204" pitchFamily="34" charset="0"/>
            </a:endParaRPr>
          </a:p>
          <a:p>
            <a:pPr>
              <a:lnSpc>
                <a:spcPct val="150000"/>
              </a:lnSpc>
            </a:pPr>
            <a:endParaRPr lang="en-US" altLang="en-US" dirty="0">
              <a:latin typeface="Arial" panose="020B0604020202020204" pitchFamily="34" charset="0"/>
              <a:cs typeface="Arial" panose="020B0604020202020204" pitchFamily="34" charset="0"/>
            </a:endParaRPr>
          </a:p>
        </p:txBody>
      </p:sp>
      <p:pic>
        <p:nvPicPr>
          <p:cNvPr id="5" name="Picture 8" descr="See full size imag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9465" y="1880394"/>
            <a:ext cx="2663825" cy="317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97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73724"/>
            <a:ext cx="9144000" cy="6858000"/>
          </a:xfrm>
          <a:prstGeom prst="rect">
            <a:avLst/>
          </a:prstGeom>
        </p:spPr>
      </p:pic>
      <p:sp>
        <p:nvSpPr>
          <p:cNvPr id="6" name="5 CuadroTexto"/>
          <p:cNvSpPr txBox="1">
            <a:spLocks noChangeArrowheads="1"/>
          </p:cNvSpPr>
          <p:nvPr/>
        </p:nvSpPr>
        <p:spPr bwMode="auto">
          <a:xfrm>
            <a:off x="139959" y="1184247"/>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Quick Activity</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754326"/>
          </a:xfrm>
          <a:prstGeom prst="rect">
            <a:avLst/>
          </a:prstGeom>
        </p:spPr>
        <p:txBody>
          <a:bodyPr wrap="square">
            <a:spAutoFit/>
          </a:bodyPr>
          <a:lstStyle/>
          <a:p>
            <a:endParaRPr lang="en-US" altLang="en-US" sz="3600" dirty="0" smtClean="0">
              <a:latin typeface="Arial" panose="020B0604020202020204" pitchFamily="34" charset="0"/>
              <a:cs typeface="Arial" panose="020B0604020202020204" pitchFamily="34" charset="0"/>
            </a:endParaRPr>
          </a:p>
          <a:p>
            <a:endParaRPr lang="en-US" altLang="en-US" sz="3600" dirty="0">
              <a:latin typeface="Arial" panose="020B0604020202020204" pitchFamily="34" charset="0"/>
              <a:cs typeface="Arial" panose="020B0604020202020204" pitchFamily="34" charset="0"/>
            </a:endParaRPr>
          </a:p>
          <a:p>
            <a:r>
              <a:rPr lang="en-US" altLang="en-US" sz="3600" dirty="0" smtClean="0">
                <a:latin typeface="Arial" panose="020B0604020202020204" pitchFamily="34" charset="0"/>
                <a:cs typeface="Arial" panose="020B0604020202020204" pitchFamily="34" charset="0"/>
              </a:rPr>
              <a:t>What can interfere with this process? </a:t>
            </a:r>
            <a:endParaRPr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48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5393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 what are the risk factors?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631216"/>
          </a:xfrm>
          <a:prstGeom prst="rect">
            <a:avLst/>
          </a:prstGeom>
        </p:spPr>
        <p:txBody>
          <a:bodyPr wrap="square">
            <a:spAutoFit/>
          </a:bodyPr>
          <a:lstStyle/>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Factors </a:t>
            </a:r>
            <a:r>
              <a:rPr lang="en-GB" altLang="en-US" sz="2000" dirty="0">
                <a:latin typeface="Arial" panose="020B0604020202020204" pitchFamily="34" charset="0"/>
                <a:cs typeface="Arial" panose="020B0604020202020204" pitchFamily="34" charset="0"/>
              </a:rPr>
              <a:t>which present risk to the quality of attachment of parent and child:</a:t>
            </a:r>
          </a:p>
          <a:p>
            <a:endParaRPr lang="en-GB" altLang="en-US" sz="2000" dirty="0">
              <a:latin typeface="Arial" panose="020B0604020202020204" pitchFamily="34" charset="0"/>
              <a:cs typeface="Arial" panose="020B0604020202020204" pitchFamily="34" charset="0"/>
            </a:endParaRPr>
          </a:p>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How </a:t>
            </a:r>
            <a:r>
              <a:rPr lang="en-GB" altLang="en-US" sz="2000" dirty="0">
                <a:latin typeface="Arial" panose="020B0604020202020204" pitchFamily="34" charset="0"/>
                <a:cs typeface="Arial" panose="020B0604020202020204" pitchFamily="34" charset="0"/>
              </a:rPr>
              <a:t>many of these sound </a:t>
            </a:r>
            <a:r>
              <a:rPr lang="en-GB" altLang="en-US" sz="2000" dirty="0" smtClean="0">
                <a:latin typeface="Arial" panose="020B0604020202020204" pitchFamily="34" charset="0"/>
                <a:cs typeface="Arial" panose="020B0604020202020204" pitchFamily="34" charset="0"/>
              </a:rPr>
              <a:t>familiar?</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430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LANK INTRO-RED-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746975" y="1004552"/>
            <a:ext cx="7675808" cy="5318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marL="342900" indent="-342900" eaLnBrk="1" hangingPunct="1">
              <a:buFont typeface="Arial" panose="020B0604020202020204" pitchFamily="34" charset="0"/>
              <a:buChar char="•"/>
            </a:pPr>
            <a:r>
              <a:rPr lang="en-GB" altLang="en-US" sz="2000" dirty="0"/>
              <a:t>Pre-birth stress (DSH)</a:t>
            </a:r>
          </a:p>
          <a:p>
            <a:pPr marL="342900" indent="-342900" eaLnBrk="1" hangingPunct="1">
              <a:buFont typeface="Arial" panose="020B0604020202020204" pitchFamily="34" charset="0"/>
              <a:buChar char="•"/>
            </a:pPr>
            <a:r>
              <a:rPr lang="en-GB" altLang="en-US" sz="2000" dirty="0"/>
              <a:t>Domestic Violence</a:t>
            </a:r>
          </a:p>
          <a:p>
            <a:pPr marL="342900" indent="-342900" eaLnBrk="1" hangingPunct="1">
              <a:buFont typeface="Arial" panose="020B0604020202020204" pitchFamily="34" charset="0"/>
              <a:buChar char="•"/>
            </a:pPr>
            <a:r>
              <a:rPr lang="en-GB" altLang="en-US" sz="2000" dirty="0"/>
              <a:t>Alcohol/drug taking during pregnancy</a:t>
            </a:r>
          </a:p>
          <a:p>
            <a:pPr marL="342900" indent="-342900" eaLnBrk="1" hangingPunct="1">
              <a:buFont typeface="Arial" panose="020B0604020202020204" pitchFamily="34" charset="0"/>
              <a:buChar char="•"/>
            </a:pPr>
            <a:r>
              <a:rPr lang="en-GB" altLang="en-US" sz="2000" dirty="0"/>
              <a:t>Parental illness</a:t>
            </a:r>
          </a:p>
          <a:p>
            <a:pPr marL="342900" indent="-342900" eaLnBrk="1" hangingPunct="1">
              <a:buFont typeface="Arial" panose="020B0604020202020204" pitchFamily="34" charset="0"/>
              <a:buChar char="•"/>
            </a:pPr>
            <a:r>
              <a:rPr lang="en-GB" altLang="en-US" sz="2000" dirty="0"/>
              <a:t>Post Natal Depression</a:t>
            </a:r>
          </a:p>
          <a:p>
            <a:pPr marL="342900" indent="-342900" eaLnBrk="1" hangingPunct="1">
              <a:buFont typeface="Arial" panose="020B0604020202020204" pitchFamily="34" charset="0"/>
              <a:buChar char="•"/>
            </a:pPr>
            <a:r>
              <a:rPr lang="en-GB" altLang="en-US" sz="2000" dirty="0"/>
              <a:t>Premature baby</a:t>
            </a:r>
          </a:p>
          <a:p>
            <a:pPr marL="342900" indent="-342900" eaLnBrk="1" hangingPunct="1">
              <a:buFont typeface="Arial" panose="020B0604020202020204" pitchFamily="34" charset="0"/>
              <a:buChar char="•"/>
            </a:pPr>
            <a:r>
              <a:rPr lang="en-GB" altLang="en-US" sz="2000" dirty="0"/>
              <a:t>Medical complications</a:t>
            </a:r>
          </a:p>
          <a:p>
            <a:pPr marL="342900" indent="-342900" eaLnBrk="1" hangingPunct="1">
              <a:buFont typeface="Arial" panose="020B0604020202020204" pitchFamily="34" charset="0"/>
              <a:buChar char="•"/>
            </a:pPr>
            <a:r>
              <a:rPr lang="en-GB" altLang="en-US" sz="2000" dirty="0"/>
              <a:t>Bereavements in the family</a:t>
            </a:r>
          </a:p>
          <a:p>
            <a:pPr marL="342900" indent="-342900" eaLnBrk="1" hangingPunct="1">
              <a:buFont typeface="Arial" panose="020B0604020202020204" pitchFamily="34" charset="0"/>
              <a:buChar char="•"/>
            </a:pPr>
            <a:r>
              <a:rPr lang="en-GB" altLang="en-US" sz="2000" dirty="0"/>
              <a:t>Baby Having a </a:t>
            </a:r>
            <a:r>
              <a:rPr lang="en-GB" altLang="en-US" sz="2000" dirty="0" smtClean="0"/>
              <a:t>disability</a:t>
            </a:r>
          </a:p>
          <a:p>
            <a:pPr marL="342900" indent="-342900" eaLnBrk="1" hangingPunct="1">
              <a:buFont typeface="Arial" panose="020B0604020202020204" pitchFamily="34" charset="0"/>
              <a:buChar char="•"/>
            </a:pPr>
            <a:r>
              <a:rPr lang="en-GB" altLang="en-US" sz="2000" dirty="0"/>
              <a:t>Neglect</a:t>
            </a:r>
          </a:p>
          <a:p>
            <a:pPr marL="342900" indent="-342900" eaLnBrk="1" hangingPunct="1">
              <a:buFont typeface="Arial" panose="020B0604020202020204" pitchFamily="34" charset="0"/>
              <a:buChar char="•"/>
            </a:pPr>
            <a:r>
              <a:rPr lang="en-GB" altLang="en-US" sz="2000" dirty="0"/>
              <a:t>Abuse</a:t>
            </a:r>
          </a:p>
          <a:p>
            <a:pPr marL="342900" indent="-342900" eaLnBrk="1" hangingPunct="1">
              <a:buFont typeface="Arial" panose="020B0604020202020204" pitchFamily="34" charset="0"/>
              <a:buChar char="•"/>
            </a:pPr>
            <a:r>
              <a:rPr lang="en-GB" altLang="en-US" sz="2000" dirty="0"/>
              <a:t>Home instability</a:t>
            </a:r>
          </a:p>
          <a:p>
            <a:pPr marL="342900" indent="-342900" eaLnBrk="1" hangingPunct="1">
              <a:buFont typeface="Arial" panose="020B0604020202020204" pitchFamily="34" charset="0"/>
              <a:buChar char="•"/>
            </a:pPr>
            <a:r>
              <a:rPr lang="en-GB" altLang="en-US" sz="2000" dirty="0"/>
              <a:t>Poverty</a:t>
            </a:r>
          </a:p>
          <a:p>
            <a:pPr marL="342900" indent="-342900" eaLnBrk="1" hangingPunct="1">
              <a:buFont typeface="Arial" panose="020B0604020202020204" pitchFamily="34" charset="0"/>
              <a:buChar char="•"/>
            </a:pPr>
            <a:r>
              <a:rPr lang="en-GB" altLang="en-US" sz="2000" dirty="0"/>
              <a:t>Abandonment</a:t>
            </a:r>
          </a:p>
          <a:p>
            <a:pPr marL="342900" indent="-342900" eaLnBrk="1" hangingPunct="1">
              <a:buFont typeface="Arial" panose="020B0604020202020204" pitchFamily="34" charset="0"/>
              <a:buChar char="•"/>
            </a:pPr>
            <a:r>
              <a:rPr lang="en-GB" altLang="en-US" sz="2000" dirty="0"/>
              <a:t>Mental health difficulties in the caregivers</a:t>
            </a:r>
          </a:p>
          <a:p>
            <a:pPr marL="342900" indent="-342900" eaLnBrk="1" hangingPunct="1">
              <a:buFont typeface="Arial" panose="020B0604020202020204" pitchFamily="34" charset="0"/>
              <a:buChar char="•"/>
            </a:pPr>
            <a:r>
              <a:rPr lang="en-GB" altLang="en-US" sz="2000" dirty="0"/>
              <a:t>Multiple home and school placements during child’s early years</a:t>
            </a:r>
          </a:p>
          <a:p>
            <a:pPr eaLnBrk="1" hangingPunct="1"/>
            <a:endParaRPr lang="en-US" altLang="en-US" sz="2000" dirty="0"/>
          </a:p>
        </p:txBody>
      </p:sp>
    </p:spTree>
    <p:extLst>
      <p:ext uri="{BB962C8B-B14F-4D97-AF65-F5344CB8AC3E}">
        <p14:creationId xmlns:p14="http://schemas.microsoft.com/office/powerpoint/2010/main" val="1430194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381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Research – The ‘Brain’ bit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938992"/>
          </a:xfrm>
          <a:prstGeom prst="rect">
            <a:avLst/>
          </a:prstGeom>
        </p:spPr>
        <p:txBody>
          <a:bodyPr wrap="square">
            <a:spAutoFit/>
          </a:bodyPr>
          <a:lstStyle/>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Highlighted </a:t>
            </a:r>
            <a:r>
              <a:rPr lang="en-GB" altLang="en-US" sz="2000" dirty="0">
                <a:latin typeface="Arial" panose="020B0604020202020204" pitchFamily="34" charset="0"/>
                <a:cs typeface="Arial" panose="020B0604020202020204" pitchFamily="34" charset="0"/>
              </a:rPr>
              <a:t>the importance of </a:t>
            </a:r>
            <a:r>
              <a:rPr lang="en-GB" altLang="en-US" sz="2000" b="1" dirty="0">
                <a:latin typeface="Arial" panose="020B0604020202020204" pitchFamily="34" charset="0"/>
                <a:cs typeface="Arial" panose="020B0604020202020204" pitchFamily="34" charset="0"/>
              </a:rPr>
              <a:t>early relationships and brain development </a:t>
            </a:r>
            <a:r>
              <a:rPr lang="en-GB" altLang="en-US" sz="2000" dirty="0">
                <a:latin typeface="Arial" panose="020B0604020202020204" pitchFamily="34" charset="0"/>
                <a:cs typeface="Arial" panose="020B0604020202020204" pitchFamily="34" charset="0"/>
              </a:rPr>
              <a:t>specifically emotional development.</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b="1" dirty="0" smtClean="0">
                <a:latin typeface="Arial" panose="020B0604020202020204" pitchFamily="34" charset="0"/>
                <a:cs typeface="Arial" panose="020B0604020202020204" pitchFamily="34" charset="0"/>
              </a:rPr>
              <a:t>The first </a:t>
            </a:r>
            <a:r>
              <a:rPr lang="en-GB" altLang="en-US" sz="2000" b="1" dirty="0">
                <a:latin typeface="Arial" panose="020B0604020202020204" pitchFamily="34" charset="0"/>
                <a:cs typeface="Arial" panose="020B0604020202020204" pitchFamily="34" charset="0"/>
              </a:rPr>
              <a:t>three years of </a:t>
            </a:r>
            <a:r>
              <a:rPr lang="en-GB" altLang="en-US" sz="2000" b="1" dirty="0" smtClean="0">
                <a:latin typeface="Arial" panose="020B0604020202020204" pitchFamily="34" charset="0"/>
                <a:cs typeface="Arial" panose="020B0604020202020204" pitchFamily="34" charset="0"/>
              </a:rPr>
              <a:t>life</a:t>
            </a:r>
            <a:r>
              <a:rPr lang="en-GB" altLang="en-US" sz="2000" dirty="0" smtClean="0">
                <a:latin typeface="Arial" panose="020B0604020202020204" pitchFamily="34" charset="0"/>
                <a:cs typeface="Arial" panose="020B0604020202020204" pitchFamily="34" charset="0"/>
              </a:rPr>
              <a:t> are a </a:t>
            </a:r>
            <a:r>
              <a:rPr lang="en-GB" altLang="en-US" sz="2000" dirty="0">
                <a:latin typeface="Arial" panose="020B0604020202020204" pitchFamily="34" charset="0"/>
                <a:cs typeface="Arial" panose="020B0604020202020204" pitchFamily="34" charset="0"/>
              </a:rPr>
              <a:t>critical/sensitive period in development</a:t>
            </a:r>
          </a:p>
        </p:txBody>
      </p:sp>
    </p:spTree>
    <p:extLst>
      <p:ext uri="{BB962C8B-B14F-4D97-AF65-F5344CB8AC3E}">
        <p14:creationId xmlns:p14="http://schemas.microsoft.com/office/powerpoint/2010/main" val="3605964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02558"/>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If the ‘right’ experiences are </a:t>
            </a:r>
            <a:r>
              <a:rPr lang="en-GB" sz="4400" b="1" dirty="0" smtClean="0"/>
              <a:t>not</a:t>
            </a:r>
            <a:r>
              <a:rPr lang="en-GB" sz="4400" dirty="0" smtClean="0"/>
              <a:t> </a:t>
            </a:r>
            <a:r>
              <a:rPr lang="en-GB" sz="4400" dirty="0"/>
              <a:t>available</a:t>
            </a:r>
            <a:endParaRPr lang="es-ES" sz="4400" dirty="0">
              <a:solidFill>
                <a:schemeClr val="bg1">
                  <a:lumMod val="50000"/>
                </a:schemeClr>
              </a:solidFill>
              <a:latin typeface="Calibri" charset="0"/>
            </a:endParaRPr>
          </a:p>
        </p:txBody>
      </p:sp>
      <p:sp>
        <p:nvSpPr>
          <p:cNvPr id="4" name="Rectangle 3"/>
          <p:cNvSpPr/>
          <p:nvPr/>
        </p:nvSpPr>
        <p:spPr>
          <a:xfrm>
            <a:off x="811369" y="2496411"/>
            <a:ext cx="7431110" cy="3170099"/>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Eye contact</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Responsive face to face gazing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Vocalisation and tone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Smiling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Body language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Containing emotions</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Then the baby’s brain will not develop to realise his/her </a:t>
            </a:r>
            <a:r>
              <a:rPr lang="en-GB" altLang="en-US" sz="2000" dirty="0" smtClean="0">
                <a:latin typeface="Arial" panose="020B0604020202020204" pitchFamily="34" charset="0"/>
                <a:cs typeface="Arial" panose="020B0604020202020204" pitchFamily="34" charset="0"/>
              </a:rPr>
              <a:t>full potential</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371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Rectangle 3"/>
          <p:cNvSpPr/>
          <p:nvPr/>
        </p:nvSpPr>
        <p:spPr>
          <a:xfrm>
            <a:off x="837127" y="1481070"/>
            <a:ext cx="7624293" cy="3139321"/>
          </a:xfrm>
          <a:prstGeom prst="rect">
            <a:avLst/>
          </a:prstGeom>
        </p:spPr>
        <p:txBody>
          <a:bodyPr wrap="square">
            <a:spAutoFit/>
          </a:bodyPr>
          <a:lstStyle/>
          <a:p>
            <a:pPr>
              <a:lnSpc>
                <a:spcPct val="90000"/>
              </a:lnSpc>
            </a:pPr>
            <a:r>
              <a:rPr lang="en-GB" altLang="en-US" sz="3200" dirty="0">
                <a:latin typeface="Arial" panose="020B0604020202020204" pitchFamily="34" charset="0"/>
                <a:cs typeface="Arial" panose="020B0604020202020204" pitchFamily="34" charset="0"/>
              </a:rPr>
              <a:t>Children are born with a fragile sense self and are extremely vulnerable</a:t>
            </a:r>
          </a:p>
          <a:p>
            <a:pPr>
              <a:lnSpc>
                <a:spcPct val="90000"/>
              </a:lnSpc>
            </a:pPr>
            <a:endParaRPr lang="en-GB" altLang="en-US" sz="3200" dirty="0">
              <a:latin typeface="Arial" panose="020B0604020202020204" pitchFamily="34" charset="0"/>
              <a:cs typeface="Arial" panose="020B0604020202020204" pitchFamily="34" charset="0"/>
            </a:endParaRPr>
          </a:p>
          <a:p>
            <a:pPr>
              <a:lnSpc>
                <a:spcPct val="90000"/>
              </a:lnSpc>
            </a:pPr>
            <a:r>
              <a:rPr lang="en-GB" altLang="en-US" sz="3200" dirty="0">
                <a:latin typeface="Arial" panose="020B0604020202020204" pitchFamily="34" charset="0"/>
                <a:cs typeface="Arial" panose="020B0604020202020204" pitchFamily="34" charset="0"/>
              </a:rPr>
              <a:t>If they experience </a:t>
            </a:r>
            <a:r>
              <a:rPr lang="en-GB" altLang="en-US" sz="3200" b="1" dirty="0" smtClean="0">
                <a:latin typeface="Arial" panose="020B0604020202020204" pitchFamily="34" charset="0"/>
                <a:cs typeface="Arial" panose="020B0604020202020204" pitchFamily="34" charset="0"/>
              </a:rPr>
              <a:t>abuse</a:t>
            </a:r>
            <a:r>
              <a:rPr lang="en-GB" altLang="en-US" sz="3200" dirty="0" smtClean="0">
                <a:latin typeface="Arial" panose="020B0604020202020204" pitchFamily="34" charset="0"/>
                <a:cs typeface="Arial" panose="020B0604020202020204" pitchFamily="34" charset="0"/>
              </a:rPr>
              <a:t>, this </a:t>
            </a:r>
            <a:r>
              <a:rPr lang="en-GB" altLang="en-US" sz="3200" dirty="0">
                <a:latin typeface="Arial" panose="020B0604020202020204" pitchFamily="34" charset="0"/>
                <a:cs typeface="Arial" panose="020B0604020202020204" pitchFamily="34" charset="0"/>
              </a:rPr>
              <a:t>leads to </a:t>
            </a:r>
            <a:r>
              <a:rPr lang="en-GB" altLang="en-US" sz="3200" b="1" dirty="0" smtClean="0">
                <a:latin typeface="Arial" panose="020B0604020202020204" pitchFamily="34" charset="0"/>
                <a:cs typeface="Arial" panose="020B0604020202020204" pitchFamily="34" charset="0"/>
              </a:rPr>
              <a:t>fear</a:t>
            </a:r>
            <a:r>
              <a:rPr lang="en-GB" altLang="en-US" sz="3200" dirty="0" smtClean="0">
                <a:latin typeface="Arial" panose="020B0604020202020204" pitchFamily="34" charset="0"/>
                <a:cs typeface="Arial" panose="020B0604020202020204" pitchFamily="34" charset="0"/>
              </a:rPr>
              <a:t>, which </a:t>
            </a:r>
            <a:r>
              <a:rPr lang="en-GB" altLang="en-US" sz="3200" dirty="0">
                <a:latin typeface="Arial" panose="020B0604020202020204" pitchFamily="34" charset="0"/>
                <a:cs typeface="Arial" panose="020B0604020202020204" pitchFamily="34" charset="0"/>
              </a:rPr>
              <a:t>leads to abnormally high levels of </a:t>
            </a:r>
            <a:r>
              <a:rPr lang="en-GB" altLang="en-US" sz="3200" b="1" dirty="0" smtClean="0">
                <a:latin typeface="Arial" panose="020B0604020202020204" pitchFamily="34" charset="0"/>
                <a:cs typeface="Arial" panose="020B0604020202020204" pitchFamily="34" charset="0"/>
              </a:rPr>
              <a:t>stress</a:t>
            </a:r>
            <a:r>
              <a:rPr lang="en-GB" altLang="en-US" sz="3200" dirty="0" smtClean="0">
                <a:latin typeface="Arial" panose="020B0604020202020204" pitchFamily="34" charset="0"/>
                <a:cs typeface="Arial" panose="020B0604020202020204" pitchFamily="34" charset="0"/>
              </a:rPr>
              <a:t> hormones</a:t>
            </a:r>
            <a:endParaRPr lang="en-GB" altLang="en-US" sz="3200" dirty="0">
              <a:latin typeface="Arial" panose="020B0604020202020204" pitchFamily="34" charset="0"/>
              <a:cs typeface="Arial" panose="020B0604020202020204" pitchFamily="34" charset="0"/>
            </a:endParaRPr>
          </a:p>
          <a:p>
            <a:pPr>
              <a:lnSpc>
                <a:spcPct val="90000"/>
              </a:lnSpc>
            </a:pPr>
            <a:r>
              <a:rPr lang="en-GB" altLang="en-US" sz="2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85682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436173" y="9910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altLang="en-US" sz="4400" dirty="0">
                <a:latin typeface="Arial" panose="020B0604020202020204" pitchFamily="34" charset="0"/>
                <a:cs typeface="Arial" panose="020B0604020202020204" pitchFamily="34" charset="0"/>
              </a:rPr>
              <a:t>These high levels can affect</a:t>
            </a:r>
          </a:p>
        </p:txBody>
      </p:sp>
      <p:sp>
        <p:nvSpPr>
          <p:cNvPr id="3" name="Rectangle 2"/>
          <p:cNvSpPr/>
          <p:nvPr/>
        </p:nvSpPr>
        <p:spPr>
          <a:xfrm>
            <a:off x="-850007" y="2391921"/>
            <a:ext cx="9672035" cy="2369880"/>
          </a:xfrm>
          <a:prstGeom prst="rect">
            <a:avLst/>
          </a:prstGeom>
        </p:spPr>
        <p:txBody>
          <a:bodyPr wrap="square">
            <a:spAutoFit/>
          </a:bodyPr>
          <a:lstStyle/>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Child’s ability to think</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Retrieve information</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Manage behaviour</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Immune system – vulnerable to infection              </a:t>
            </a:r>
            <a:endParaRPr lang="en-US" altLang="en-US" sz="3200" dirty="0">
              <a:latin typeface="Arial" panose="020B0604020202020204" pitchFamily="34" charset="0"/>
              <a:cs typeface="Arial" panose="020B0604020202020204" pitchFamily="34" charset="0"/>
            </a:endParaRPr>
          </a:p>
          <a:p>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557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Brain Stem</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The brain stem </a:t>
            </a:r>
            <a:r>
              <a:rPr lang="en-GB" altLang="en-US" sz="3200" dirty="0" smtClean="0">
                <a:latin typeface="Arial" panose="020B0604020202020204" pitchFamily="34" charset="0"/>
                <a:cs typeface="Arial" panose="020B0604020202020204" pitchFamily="34" charset="0"/>
              </a:rPr>
              <a:t>– responsible for fight, flight and freeze responses</a:t>
            </a:r>
            <a:endParaRPr lang="en-GB" altLang="en-US" sz="3200" b="1" dirty="0" smtClean="0">
              <a:latin typeface="Arial" panose="020B0604020202020204" pitchFamily="34" charset="0"/>
              <a:cs typeface="Arial" panose="020B0604020202020204" pitchFamily="34" charset="0"/>
            </a:endParaRPr>
          </a:p>
          <a:p>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Those children with attachment difficulties </a:t>
            </a:r>
            <a:r>
              <a:rPr lang="en-GB" altLang="en-US" sz="3200" dirty="0" smtClean="0">
                <a:latin typeface="Arial" panose="020B0604020202020204" pitchFamily="34" charset="0"/>
                <a:cs typeface="Arial" panose="020B0604020202020204" pitchFamily="34" charset="0"/>
              </a:rPr>
              <a:t>have a highly developed brain stem, since they use it on a continual basis</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40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So what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5262979"/>
          </a:xfrm>
          <a:prstGeom prst="rect">
            <a:avLst/>
          </a:prstGeom>
        </p:spPr>
        <p:txBody>
          <a:bodyPr wrap="square">
            <a:spAutoFit/>
          </a:bodyPr>
          <a:lstStyle/>
          <a:p>
            <a:r>
              <a:rPr lang="en-GB" altLang="en-US" sz="2800" b="1" dirty="0" smtClean="0">
                <a:latin typeface="Arial" panose="020B0604020202020204" pitchFamily="34" charset="0"/>
                <a:cs typeface="Arial" panose="020B0604020202020204" pitchFamily="34" charset="0"/>
              </a:rPr>
              <a:t>Over-use of the brain stem </a:t>
            </a:r>
            <a:r>
              <a:rPr lang="en-GB" altLang="en-US" sz="2800" dirty="0" smtClean="0">
                <a:latin typeface="Arial" panose="020B0604020202020204" pitchFamily="34" charset="0"/>
                <a:cs typeface="Arial" panose="020B0604020202020204" pitchFamily="34" charset="0"/>
              </a:rPr>
              <a:t>compromises the developing pre-frontal cortex which is responsible for:</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Empathy</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Logic</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Cause and effect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Reasoning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Organisation</a:t>
            </a:r>
          </a:p>
          <a:p>
            <a:endParaRPr lang="en-GB" altLang="en-US" sz="2800" b="1"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Clearly there are implications for learning and behaviour in the classroom</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459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7376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Types of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Secure Attachment</a:t>
            </a:r>
            <a:endParaRPr lang="en-GB" altLang="en-US" sz="32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Insecure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Avoidant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Disorganised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Ambivalent Attachment</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7023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093428"/>
          </a:xfrm>
          <a:prstGeom prst="rect">
            <a:avLst/>
          </a:prstGeom>
        </p:spPr>
        <p:txBody>
          <a:bodyPr wrap="square">
            <a:spAutoFit/>
          </a:bodyPr>
          <a:lstStyle/>
          <a:p>
            <a:r>
              <a:rPr lang="en-US" altLang="en-US" sz="2400" dirty="0" smtClean="0">
                <a:latin typeface="Arial" panose="020B0604020202020204" pitchFamily="34" charset="0"/>
                <a:cs typeface="Arial" panose="020B0604020202020204" pitchFamily="34" charset="0"/>
              </a:rPr>
              <a:t>Indicates a healthy and appropriate style of relating to another person</a:t>
            </a:r>
          </a:p>
          <a:p>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Bowlby</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“Good enough” parenting</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To suggest that if a baby </a:t>
            </a:r>
            <a:r>
              <a:rPr lang="en-GB" altLang="en-US" sz="2400" dirty="0">
                <a:latin typeface="Arial" panose="020B0604020202020204" pitchFamily="34" charset="0"/>
                <a:cs typeface="Arial" panose="020B0604020202020204" pitchFamily="34" charset="0"/>
              </a:rPr>
              <a:t>had the experience of their needs </a:t>
            </a:r>
          </a:p>
          <a:p>
            <a:pPr>
              <a:lnSpc>
                <a:spcPct val="150000"/>
              </a:lnSpc>
            </a:pPr>
            <a:r>
              <a:rPr lang="en-GB" altLang="en-US" sz="2400" dirty="0">
                <a:latin typeface="Arial" panose="020B0604020202020204" pitchFamily="34" charset="0"/>
                <a:cs typeface="Arial" panose="020B0604020202020204" pitchFamily="34" charset="0"/>
              </a:rPr>
              <a:t>            being attended to and satisfied on a consistent basis, then he </a:t>
            </a:r>
            <a:r>
              <a:rPr lang="en-GB" altLang="en-US" sz="2400" dirty="0" smtClean="0">
                <a:latin typeface="Arial" panose="020B0604020202020204" pitchFamily="34" charset="0"/>
                <a:cs typeface="Arial" panose="020B0604020202020204" pitchFamily="34" charset="0"/>
              </a:rPr>
              <a:t>can develop a </a:t>
            </a:r>
            <a:r>
              <a:rPr lang="en-GB" altLang="en-US" sz="2400" b="1" dirty="0" smtClean="0">
                <a:latin typeface="Arial" panose="020B0604020202020204" pitchFamily="34" charset="0"/>
                <a:cs typeface="Arial" panose="020B0604020202020204" pitchFamily="34" charset="0"/>
              </a:rPr>
              <a:t>secure attachment </a:t>
            </a:r>
            <a:r>
              <a:rPr lang="en-GB" altLang="en-US" sz="2400" dirty="0" smtClean="0">
                <a:latin typeface="Arial" panose="020B0604020202020204" pitchFamily="34" charset="0"/>
                <a:cs typeface="Arial" panose="020B0604020202020204" pitchFamily="34" charset="0"/>
              </a:rPr>
              <a:t>to his/her parent</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2789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 </a:t>
            </a:r>
            <a:endParaRPr lang="es-ES" sz="4400" dirty="0">
              <a:solidFill>
                <a:schemeClr val="bg1">
                  <a:lumMod val="50000"/>
                </a:schemeClr>
              </a:solidFill>
              <a:latin typeface="Calibri" charset="0"/>
            </a:endParaRPr>
          </a:p>
        </p:txBody>
      </p:sp>
      <p:sp>
        <p:nvSpPr>
          <p:cNvPr id="3" name="Rectangle 2"/>
          <p:cNvSpPr/>
          <p:nvPr/>
        </p:nvSpPr>
        <p:spPr>
          <a:xfrm>
            <a:off x="307909" y="1820164"/>
            <a:ext cx="8490857" cy="4467057"/>
          </a:xfrm>
          <a:prstGeom prst="rect">
            <a:avLst/>
          </a:prstGeom>
        </p:spPr>
        <p:txBody>
          <a:bodyPr wrap="square">
            <a:spAutoFit/>
          </a:bodyPr>
          <a:lstStyle/>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Feel safe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Develop meaningful connections with others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Deal with stress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Balance emotions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comfort and security</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Children believe they are loveable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others can be trusted to meet their needs</a:t>
            </a:r>
          </a:p>
          <a:p>
            <a:pPr marL="342900" indent="-342900">
              <a:lnSpc>
                <a:spcPct val="15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They have the capacity to learn new things</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44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27019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Develop</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26571" y="897972"/>
            <a:ext cx="8490857" cy="581697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 </a:t>
            </a:r>
            <a:r>
              <a:rPr lang="en-GB" altLang="en-US" sz="2400" dirty="0">
                <a:latin typeface="Arial" panose="020B0604020202020204" pitchFamily="34" charset="0"/>
                <a:cs typeface="Arial" panose="020B0604020202020204" pitchFamily="34" charset="0"/>
              </a:rPr>
              <a:t>self </a:t>
            </a:r>
            <a:r>
              <a:rPr lang="en-GB" altLang="en-US" sz="2400" dirty="0" smtClean="0">
                <a:latin typeface="Arial" panose="020B0604020202020204" pitchFamily="34" charset="0"/>
                <a:cs typeface="Arial" panose="020B0604020202020204" pitchFamily="34" charset="0"/>
              </a:rPr>
              <a:t>esteem</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Independence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Resilience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Friendships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Social skills</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Trust</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Intimacy</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Affection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a:t>
            </a:r>
            <a:r>
              <a:rPr lang="en-GB" altLang="en-US" sz="2400" dirty="0" smtClean="0">
                <a:latin typeface="Arial" panose="020B0604020202020204" pitchFamily="34" charset="0"/>
                <a:cs typeface="Arial" panose="020B0604020202020204" pitchFamily="34" charset="0"/>
              </a:rPr>
              <a:t>mpathy</a:t>
            </a:r>
            <a:r>
              <a:rPr lang="en-GB" altLang="en-US" sz="2400"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Compassion</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Conscience</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t>
            </a:r>
            <a:r>
              <a:rPr lang="en-GB" altLang="en-US" sz="2400" dirty="0" smtClean="0">
                <a:latin typeface="Arial" panose="020B0604020202020204" pitchFamily="34" charset="0"/>
                <a:cs typeface="Arial" panose="020B0604020202020204" pitchFamily="34" charset="0"/>
              </a:rPr>
              <a:t>opeful </a:t>
            </a:r>
            <a:r>
              <a:rPr lang="en-GB" altLang="en-US" sz="2400" dirty="0">
                <a:latin typeface="Arial" panose="020B0604020202020204" pitchFamily="34" charset="0"/>
                <a:cs typeface="Arial" panose="020B0604020202020204" pitchFamily="34" charset="0"/>
              </a:rPr>
              <a:t>belief </a:t>
            </a:r>
            <a:r>
              <a:rPr lang="en-GB" altLang="en-US" sz="2400" dirty="0" smtClean="0">
                <a:latin typeface="Arial" panose="020B0604020202020204" pitchFamily="34" charset="0"/>
                <a:cs typeface="Arial" panose="020B0604020202020204" pitchFamily="34" charset="0"/>
              </a:rPr>
              <a:t>systems</a:t>
            </a:r>
            <a:endParaRPr lang="en-GB"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Their behavioural performance and academic success in school is good</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2875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74408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Avoidant Attachment</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4" name="Rectangle 3"/>
          <p:cNvSpPr/>
          <p:nvPr/>
        </p:nvSpPr>
        <p:spPr>
          <a:xfrm>
            <a:off x="631065" y="1667413"/>
            <a:ext cx="785611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The child actively seeks to attend to their own </a:t>
            </a:r>
            <a:r>
              <a:rPr lang="en-GB" altLang="en-US" sz="2400" b="1" dirty="0" smtClean="0">
                <a:latin typeface="Arial" panose="020B0604020202020204" pitchFamily="34" charset="0"/>
                <a:cs typeface="Arial" panose="020B0604020202020204" pitchFamily="34" charset="0"/>
              </a:rPr>
              <a:t>needs</a:t>
            </a:r>
            <a:endParaRPr lang="en-GB" altLang="en-US" sz="2400" b="1" dirty="0">
              <a:latin typeface="Arial" panose="020B0604020202020204" pitchFamily="34" charset="0"/>
              <a:cs typeface="Arial" panose="020B0604020202020204" pitchFamily="34" charset="0"/>
            </a:endParaRPr>
          </a:p>
          <a:p>
            <a:pPr>
              <a:lnSpc>
                <a:spcPct val="90000"/>
              </a:lnSpc>
            </a:pPr>
            <a:endParaRPr lang="en-GB" altLang="en-US" sz="2400" b="1" dirty="0" smtClean="0">
              <a:latin typeface="Arial" panose="020B0604020202020204" pitchFamily="34" charset="0"/>
              <a:cs typeface="Arial" panose="020B0604020202020204" pitchFamily="34" charset="0"/>
            </a:endParaRPr>
          </a:p>
          <a:p>
            <a:pPr>
              <a:lnSpc>
                <a:spcPct val="90000"/>
              </a:lnSpc>
            </a:pPr>
            <a:r>
              <a:rPr lang="en-GB" altLang="en-US" sz="2400" b="1" dirty="0" smtClean="0">
                <a:latin typeface="Arial" panose="020B0604020202020204" pitchFamily="34" charset="0"/>
                <a:cs typeface="Arial" panose="020B0604020202020204" pitchFamily="34" charset="0"/>
              </a:rPr>
              <a:t>Avoidant </a:t>
            </a:r>
            <a:r>
              <a:rPr lang="en-GB" altLang="en-US" sz="2400" b="1" dirty="0">
                <a:latin typeface="Arial" panose="020B0604020202020204" pitchFamily="34" charset="0"/>
                <a:cs typeface="Arial" panose="020B0604020202020204" pitchFamily="34" charset="0"/>
              </a:rPr>
              <a:t>behaviour</a:t>
            </a:r>
            <a:r>
              <a:rPr lang="en-GB" altLang="en-US" sz="2400" b="1" dirty="0" smtClean="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relating to a depressed or abusive </a:t>
            </a:r>
            <a:r>
              <a:rPr lang="en-GB" altLang="en-US" sz="2400" dirty="0" smtClean="0">
                <a:latin typeface="Arial" panose="020B0604020202020204" pitchFamily="34" charset="0"/>
                <a:cs typeface="Arial" panose="020B0604020202020204" pitchFamily="34" charset="0"/>
              </a:rPr>
              <a:t>care-giver</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given precedence to their own  </a:t>
            </a: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needs </a:t>
            </a:r>
            <a:r>
              <a:rPr lang="en-GB" altLang="en-US" sz="2400" dirty="0">
                <a:latin typeface="Arial" panose="020B0604020202020204" pitchFamily="34" charset="0"/>
                <a:cs typeface="Arial" panose="020B0604020202020204" pitchFamily="34" charset="0"/>
              </a:rPr>
              <a:t>over the child’s </a:t>
            </a:r>
            <a:r>
              <a:rPr lang="en-GB" altLang="en-US" sz="2400" dirty="0" smtClean="0">
                <a:latin typeface="Arial" panose="020B0604020202020204" pitchFamily="34" charset="0"/>
                <a:cs typeface="Arial" panose="020B0604020202020204" pitchFamily="34" charset="0"/>
              </a:rPr>
              <a:t>needs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child </a:t>
            </a:r>
            <a:r>
              <a:rPr lang="en-GB" altLang="en-US" sz="2400" dirty="0">
                <a:latin typeface="Arial" panose="020B0604020202020204" pitchFamily="34" charset="0"/>
                <a:cs typeface="Arial" panose="020B0604020202020204" pitchFamily="34" charset="0"/>
              </a:rPr>
              <a:t>may have been viewed as </a:t>
            </a:r>
            <a:r>
              <a:rPr lang="en-GB" altLang="en-US" sz="2400" dirty="0" smtClean="0">
                <a:latin typeface="Arial" panose="020B0604020202020204" pitchFamily="34" charset="0"/>
                <a:cs typeface="Arial" panose="020B0604020202020204" pitchFamily="34" charset="0"/>
              </a:rPr>
              <a:t>annoying</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been irritated or agitated by </a:t>
            </a:r>
            <a:r>
              <a:rPr lang="en-GB" altLang="en-US" sz="2400" dirty="0" smtClean="0">
                <a:latin typeface="Arial" panose="020B0604020202020204" pitchFamily="34" charset="0"/>
                <a:cs typeface="Arial" panose="020B0604020202020204" pitchFamily="34" charset="0"/>
              </a:rPr>
              <a:t>their presence</a:t>
            </a:r>
            <a:endParaRPr lang="en-US"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606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5139869"/>
          </a:xfrm>
          <a:prstGeom prst="rect">
            <a:avLst/>
          </a:prstGeom>
        </p:spPr>
        <p:txBody>
          <a:bodyPr wrap="square">
            <a:spAutoFit/>
          </a:bodyPr>
          <a:lstStyle/>
          <a:p>
            <a:r>
              <a:rPr lang="en-US" altLang="en-US" sz="2800" b="1" dirty="0" smtClean="0">
                <a:latin typeface="Arial" panose="020B0604020202020204" pitchFamily="34" charset="0"/>
                <a:cs typeface="Arial" panose="020B0604020202020204" pitchFamily="34" charset="0"/>
              </a:rPr>
              <a:t>These children may</a:t>
            </a:r>
            <a:r>
              <a:rPr lang="en-US" altLang="en-US" sz="2400" b="1" dirty="0" smtClean="0">
                <a:latin typeface="Arial" panose="020B0604020202020204" pitchFamily="34" charset="0"/>
                <a:cs typeface="Arial" panose="020B0604020202020204" pitchFamily="34" charset="0"/>
              </a:rPr>
              <a:t>: </a:t>
            </a:r>
          </a:p>
          <a:p>
            <a:endParaRPr lang="en-US" altLang="en-US" sz="2400" b="1"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Shut </a:t>
            </a:r>
            <a:r>
              <a:rPr lang="en-GB" altLang="en-US" sz="2400" dirty="0">
                <a:latin typeface="Arial" panose="020B0604020202020204" pitchFamily="34" charset="0"/>
                <a:cs typeface="Arial" panose="020B0604020202020204" pitchFamily="34" charset="0"/>
              </a:rPr>
              <a:t>down or </a:t>
            </a:r>
            <a:r>
              <a:rPr lang="en-GB" altLang="en-US" sz="2400" dirty="0" smtClean="0">
                <a:latin typeface="Arial" panose="020B0604020202020204" pitchFamily="34" charset="0"/>
                <a:cs typeface="Arial" panose="020B0604020202020204" pitchFamily="34" charset="0"/>
              </a:rPr>
              <a:t>dissociate</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emotionally </a:t>
            </a:r>
            <a:r>
              <a:rPr lang="en-GB" altLang="en-US" sz="2400" dirty="0" smtClean="0">
                <a:latin typeface="Arial" panose="020B0604020202020204" pitchFamily="34" charset="0"/>
                <a:cs typeface="Arial" panose="020B0604020202020204" pitchFamily="34" charset="0"/>
              </a:rPr>
              <a:t>distant</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self sufficient and task </a:t>
            </a:r>
            <a:r>
              <a:rPr lang="en-GB" altLang="en-US" sz="2400" dirty="0" smtClean="0">
                <a:latin typeface="Arial" panose="020B0604020202020204" pitchFamily="34" charset="0"/>
                <a:cs typeface="Arial" panose="020B0604020202020204" pitchFamily="34" charset="0"/>
              </a:rPr>
              <a:t>orientated</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reluctant to ask for </a:t>
            </a:r>
            <a:r>
              <a:rPr lang="en-GB" altLang="en-US" sz="2400" dirty="0" smtClean="0">
                <a:latin typeface="Arial" panose="020B0604020202020204" pitchFamily="34" charset="0"/>
                <a:cs typeface="Arial" panose="020B0604020202020204" pitchFamily="34" charset="0"/>
              </a:rPr>
              <a:t>help</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in </a:t>
            </a:r>
            <a:r>
              <a:rPr lang="en-GB" altLang="en-US" sz="2400" dirty="0" smtClean="0">
                <a:latin typeface="Arial" panose="020B0604020202020204" pitchFamily="34" charset="0"/>
                <a:cs typeface="Arial" panose="020B0604020202020204" pitchFamily="34" charset="0"/>
              </a:rPr>
              <a:t>control</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Comply </a:t>
            </a:r>
            <a:r>
              <a:rPr lang="en-GB" altLang="en-US" sz="2400" dirty="0">
                <a:latin typeface="Arial" panose="020B0604020202020204" pitchFamily="34" charset="0"/>
                <a:cs typeface="Arial" panose="020B0604020202020204" pitchFamily="34" charset="0"/>
              </a:rPr>
              <a:t>and try to please </a:t>
            </a:r>
            <a:r>
              <a:rPr lang="en-GB" altLang="en-US" sz="2400" dirty="0" smtClean="0">
                <a:latin typeface="Arial" panose="020B0604020202020204" pitchFamily="34" charset="0"/>
                <a:cs typeface="Arial" panose="020B0604020202020204" pitchFamily="34" charset="0"/>
              </a:rPr>
              <a:t>us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perfectionist and may develop compulsive tendencies</a:t>
            </a:r>
            <a:endParaRPr lang="en-US" altLang="en-US" sz="2400" dirty="0">
              <a:latin typeface="Arial" panose="020B0604020202020204" pitchFamily="34" charset="0"/>
              <a:cs typeface="Arial" panose="020B0604020202020204" pitchFamily="34" charset="0"/>
            </a:endParaRPr>
          </a:p>
          <a:p>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2818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4893647"/>
          </a:xfrm>
          <a:prstGeom prst="rect">
            <a:avLst/>
          </a:prstGeom>
        </p:spPr>
        <p:txBody>
          <a:bodyPr wrap="square">
            <a:spAutoFit/>
          </a:bodyPr>
          <a:lstStyle/>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Do not seek to connect </a:t>
            </a:r>
            <a:r>
              <a:rPr lang="en-GB" altLang="en-US" sz="2400" dirty="0">
                <a:latin typeface="Arial" panose="020B0604020202020204" pitchFamily="34" charset="0"/>
                <a:cs typeface="Arial" panose="020B0604020202020204" pitchFamily="34" charset="0"/>
              </a:rPr>
              <a:t>with others but may experience isolation and deep sadness</a:t>
            </a:r>
          </a:p>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Sometimes show flashes of aggression</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keep adults </a:t>
            </a:r>
            <a:r>
              <a:rPr lang="en-GB" altLang="en-US" sz="2400" i="1" dirty="0">
                <a:latin typeface="Arial" panose="020B0604020202020204" pitchFamily="34" charset="0"/>
                <a:cs typeface="Arial" panose="020B0604020202020204" pitchFamily="34" charset="0"/>
              </a:rPr>
              <a:t>sweet </a:t>
            </a:r>
            <a:r>
              <a:rPr lang="en-GB" altLang="en-US" sz="2400" dirty="0">
                <a:latin typeface="Arial" panose="020B0604020202020204" pitchFamily="34" charset="0"/>
                <a:cs typeface="Arial" panose="020B0604020202020204" pitchFamily="34" charset="0"/>
              </a:rPr>
              <a:t>so adults don’t get too close or get angry with them.  Their behaviours are </a:t>
            </a:r>
            <a:r>
              <a:rPr lang="en-GB" altLang="en-US" sz="2400" i="1" dirty="0">
                <a:latin typeface="Arial" panose="020B0604020202020204" pitchFamily="34" charset="0"/>
                <a:cs typeface="Arial" panose="020B0604020202020204" pitchFamily="34" charset="0"/>
              </a:rPr>
              <a:t>anxiety driven</a:t>
            </a:r>
          </a:p>
          <a:p>
            <a:pPr marL="342900" indent="-342900">
              <a:buFont typeface="Arial" panose="020B0604020202020204" pitchFamily="34" charset="0"/>
              <a:buChar char="•"/>
            </a:pPr>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may internalise their pain and anxiety which may effect them at a physiological level</a:t>
            </a:r>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 </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9578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798232"/>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Ambivalent Attachment</a:t>
            </a:r>
            <a:endParaRPr lang="es-ES" sz="4400" dirty="0">
              <a:solidFill>
                <a:schemeClr val="bg1">
                  <a:lumMod val="50000"/>
                </a:schemeClr>
              </a:solidFill>
              <a:latin typeface="Calibri" charset="0"/>
            </a:endParaRPr>
          </a:p>
        </p:txBody>
      </p:sp>
      <p:sp>
        <p:nvSpPr>
          <p:cNvPr id="3" name="Rectangle 2"/>
          <p:cNvSpPr/>
          <p:nvPr/>
        </p:nvSpPr>
        <p:spPr>
          <a:xfrm>
            <a:off x="326571" y="897972"/>
            <a:ext cx="8490857" cy="5262979"/>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These </a:t>
            </a:r>
            <a:r>
              <a:rPr lang="en-GB" altLang="en-US" sz="2400" dirty="0">
                <a:latin typeface="Arial" panose="020B0604020202020204" pitchFamily="34" charset="0"/>
                <a:cs typeface="Arial" panose="020B0604020202020204" pitchFamily="34" charset="0"/>
              </a:rPr>
              <a:t>children have become so tuned into their care-givers </a:t>
            </a:r>
            <a:r>
              <a:rPr lang="en-GB" altLang="en-US" sz="2400" dirty="0" smtClean="0">
                <a:latin typeface="Arial" panose="020B0604020202020204" pitchFamily="34" charset="0"/>
                <a:cs typeface="Arial" panose="020B0604020202020204" pitchFamily="34" charset="0"/>
              </a:rPr>
              <a:t>that they </a:t>
            </a:r>
            <a:r>
              <a:rPr lang="en-GB" altLang="en-US" sz="2400" dirty="0">
                <a:latin typeface="Arial" panose="020B0604020202020204" pitchFamily="34" charset="0"/>
                <a:cs typeface="Arial" panose="020B0604020202020204" pitchFamily="34" charset="0"/>
              </a:rPr>
              <a:t>are continually on </a:t>
            </a:r>
            <a:r>
              <a:rPr lang="en-GB" altLang="en-US" sz="2400" dirty="0" smtClean="0">
                <a:latin typeface="Arial" panose="020B0604020202020204" pitchFamily="34" charset="0"/>
                <a:cs typeface="Arial" panose="020B0604020202020204" pitchFamily="34" charset="0"/>
              </a:rPr>
              <a:t>edge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Get their needs met </a:t>
            </a:r>
            <a:r>
              <a:rPr lang="en-GB" altLang="en-US" sz="2400" dirty="0" smtClean="0">
                <a:latin typeface="Arial" panose="020B0604020202020204" pitchFamily="34" charset="0"/>
                <a:cs typeface="Arial" panose="020B0604020202020204" pitchFamily="34" charset="0"/>
              </a:rPr>
              <a:t>by consistently </a:t>
            </a:r>
            <a:r>
              <a:rPr lang="en-GB" altLang="en-US" sz="2400" dirty="0">
                <a:latin typeface="Arial" panose="020B0604020202020204" pitchFamily="34" charset="0"/>
                <a:cs typeface="Arial" panose="020B0604020202020204" pitchFamily="34" charset="0"/>
              </a:rPr>
              <a:t>working out how the care-giver is </a:t>
            </a:r>
            <a:r>
              <a:rPr lang="en-GB" altLang="en-US" sz="2400" dirty="0" smtClean="0">
                <a:latin typeface="Arial" panose="020B0604020202020204" pitchFamily="34" charset="0"/>
                <a:cs typeface="Arial" panose="020B0604020202020204" pitchFamily="34" charset="0"/>
              </a:rPr>
              <a:t>feeling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Attachment behaviour = relating to an inconsistent </a:t>
            </a:r>
            <a:r>
              <a:rPr lang="en-GB" altLang="en-US" sz="2400" dirty="0" smtClean="0">
                <a:latin typeface="Arial" panose="020B0604020202020204" pitchFamily="34" charset="0"/>
                <a:cs typeface="Arial" panose="020B0604020202020204" pitchFamily="34" charset="0"/>
              </a:rPr>
              <a:t>care-giver</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can become addicted to attempting to gain the care-givers attention in order to survive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917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5262979"/>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Clingy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Rejecting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Superficially </a:t>
            </a:r>
            <a:r>
              <a:rPr lang="en-GB" altLang="en-US" sz="2400" dirty="0" smtClean="0">
                <a:latin typeface="Arial" panose="020B0604020202020204" pitchFamily="34" charset="0"/>
                <a:cs typeface="Arial" panose="020B0604020202020204" pitchFamily="34" charset="0"/>
              </a:rPr>
              <a:t>charming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Attention seeking and </a:t>
            </a:r>
            <a:r>
              <a:rPr lang="en-GB" altLang="en-US" sz="2400" i="1" dirty="0">
                <a:latin typeface="Arial" panose="020B0604020202020204" pitchFamily="34" charset="0"/>
                <a:cs typeface="Arial" panose="020B0604020202020204" pitchFamily="34" charset="0"/>
              </a:rPr>
              <a:t>in your </a:t>
            </a:r>
            <a:r>
              <a:rPr lang="en-GB" altLang="en-US" sz="2400" i="1" dirty="0" smtClean="0">
                <a:latin typeface="Arial" panose="020B0604020202020204" pitchFamily="34" charset="0"/>
                <a:cs typeface="Arial" panose="020B0604020202020204" pitchFamily="34" charset="0"/>
              </a:rPr>
              <a:t>face</a:t>
            </a:r>
          </a:p>
          <a:p>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These </a:t>
            </a:r>
            <a:r>
              <a:rPr lang="en-GB" altLang="en-US" sz="2400" dirty="0">
                <a:latin typeface="Arial" panose="020B0604020202020204" pitchFamily="34" charset="0"/>
                <a:cs typeface="Arial" panose="020B0604020202020204" pitchFamily="34" charset="0"/>
              </a:rPr>
              <a:t>children have never been </a:t>
            </a:r>
            <a:r>
              <a:rPr lang="en-GB" altLang="en-US" sz="2400" i="1" dirty="0">
                <a:latin typeface="Arial" panose="020B0604020202020204" pitchFamily="34" charset="0"/>
                <a:cs typeface="Arial" panose="020B0604020202020204" pitchFamily="34" charset="0"/>
              </a:rPr>
              <a:t>kept</a:t>
            </a:r>
            <a:r>
              <a:rPr lang="en-GB" altLang="en-US" sz="2400" dirty="0">
                <a:latin typeface="Arial" panose="020B0604020202020204" pitchFamily="34" charset="0"/>
                <a:cs typeface="Arial" panose="020B0604020202020204" pitchFamily="34" charset="0"/>
              </a:rPr>
              <a:t> </a:t>
            </a:r>
            <a:r>
              <a:rPr lang="en-GB" altLang="en-US" sz="2400" i="1" dirty="0">
                <a:latin typeface="Arial" panose="020B0604020202020204" pitchFamily="34" charset="0"/>
                <a:cs typeface="Arial" panose="020B0604020202020204" pitchFamily="34" charset="0"/>
              </a:rPr>
              <a:t>in mind</a:t>
            </a:r>
            <a:r>
              <a:rPr lang="en-GB" altLang="en-US" sz="2400" dirty="0">
                <a:latin typeface="Arial" panose="020B0604020202020204" pitchFamily="34" charset="0"/>
                <a:cs typeface="Arial" panose="020B0604020202020204" pitchFamily="34" charset="0"/>
              </a:rPr>
              <a:t> or considered by another </a:t>
            </a:r>
            <a:r>
              <a:rPr lang="en-GB" altLang="en-US" sz="2400" dirty="0" smtClean="0">
                <a:latin typeface="Arial" panose="020B0604020202020204" pitchFamily="34" charset="0"/>
                <a:cs typeface="Arial" panose="020B0604020202020204" pitchFamily="34" charset="0"/>
              </a:rPr>
              <a:t>person</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They </a:t>
            </a:r>
            <a:r>
              <a:rPr lang="en-GB" altLang="en-US" sz="2400" dirty="0">
                <a:latin typeface="Arial" panose="020B0604020202020204" pitchFamily="34" charset="0"/>
                <a:cs typeface="Arial" panose="020B0604020202020204" pitchFamily="34" charset="0"/>
              </a:rPr>
              <a:t>will meet their needs however they </a:t>
            </a:r>
            <a:r>
              <a:rPr lang="en-GB" altLang="en-US" sz="2400" dirty="0" smtClean="0">
                <a:latin typeface="Arial" panose="020B0604020202020204" pitchFamily="34" charset="0"/>
                <a:cs typeface="Arial" panose="020B0604020202020204" pitchFamily="34" charset="0"/>
              </a:rPr>
              <a:t>can</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They </a:t>
            </a:r>
            <a:r>
              <a:rPr lang="en-GB" altLang="en-US" sz="2400" dirty="0">
                <a:latin typeface="Arial" panose="020B0604020202020204" pitchFamily="34" charset="0"/>
                <a:cs typeface="Arial" panose="020B0604020202020204" pitchFamily="34" charset="0"/>
              </a:rPr>
              <a:t>are extremely </a:t>
            </a:r>
            <a:r>
              <a:rPr lang="en-GB" altLang="en-US" sz="2400" b="1" dirty="0">
                <a:latin typeface="Arial" panose="020B0604020202020204" pitchFamily="34" charset="0"/>
                <a:cs typeface="Arial" panose="020B0604020202020204" pitchFamily="34" charset="0"/>
              </a:rPr>
              <a:t>anxious and insecure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5186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4154984"/>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Use </a:t>
            </a:r>
            <a:r>
              <a:rPr lang="en-GB" altLang="en-US" sz="2400" dirty="0">
                <a:latin typeface="Arial" panose="020B0604020202020204" pitchFamily="34" charset="0"/>
                <a:cs typeface="Arial" panose="020B0604020202020204" pitchFamily="34" charset="0"/>
              </a:rPr>
              <a:t>up most of their energy gaining the adult’s attention</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Little </a:t>
            </a:r>
            <a:r>
              <a:rPr lang="en-GB" altLang="en-US" sz="2400" dirty="0">
                <a:latin typeface="Arial" panose="020B0604020202020204" pitchFamily="34" charset="0"/>
                <a:cs typeface="Arial" panose="020B0604020202020204" pitchFamily="34" charset="0"/>
              </a:rPr>
              <a:t>energy left for learning</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quick to blame others for upsetting them</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be resentful and hold grudges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are often exhausting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0690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41195"/>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Disorganised Attachment </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Their </a:t>
            </a:r>
            <a:r>
              <a:rPr lang="en-GB" altLang="en-US" sz="2800" dirty="0">
                <a:latin typeface="Arial" panose="020B0604020202020204" pitchFamily="34" charset="0"/>
                <a:cs typeface="Arial" panose="020B0604020202020204" pitchFamily="34" charset="0"/>
              </a:rPr>
              <a:t>attachment behaviours </a:t>
            </a:r>
            <a:r>
              <a:rPr lang="en-GB" altLang="en-US" sz="2800" dirty="0" smtClean="0">
                <a:latin typeface="Arial" panose="020B0604020202020204" pitchFamily="34" charset="0"/>
                <a:cs typeface="Arial" panose="020B0604020202020204" pitchFamily="34" charset="0"/>
              </a:rPr>
              <a:t>are a result </a:t>
            </a:r>
            <a:r>
              <a:rPr lang="en-GB" altLang="en-US" sz="2800" dirty="0">
                <a:latin typeface="Arial" panose="020B0604020202020204" pitchFamily="34" charset="0"/>
                <a:cs typeface="Arial" panose="020B0604020202020204" pitchFamily="34" charset="0"/>
              </a:rPr>
              <a:t>of severe neglect </a:t>
            </a:r>
            <a:r>
              <a:rPr lang="en-GB" altLang="en-US" sz="2800" dirty="0" smtClean="0">
                <a:latin typeface="Arial" panose="020B0604020202020204" pitchFamily="34" charset="0"/>
                <a:cs typeface="Arial" panose="020B0604020202020204" pitchFamily="34" charset="0"/>
              </a:rPr>
              <a:t>and chaotic terrifying </a:t>
            </a:r>
            <a:r>
              <a:rPr lang="en-GB" altLang="en-US" sz="2800" dirty="0">
                <a:latin typeface="Arial" panose="020B0604020202020204" pitchFamily="34" charset="0"/>
                <a:cs typeface="Arial" panose="020B0604020202020204" pitchFamily="34" charset="0"/>
              </a:rPr>
              <a:t>abusive environments</a:t>
            </a:r>
          </a:p>
          <a:p>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Adaptive </a:t>
            </a:r>
            <a:r>
              <a:rPr lang="en-GB" altLang="en-US" sz="2800" dirty="0" smtClean="0">
                <a:latin typeface="Arial" panose="020B0604020202020204" pitchFamily="34" charset="0"/>
                <a:cs typeface="Arial" panose="020B0604020202020204" pitchFamily="34" charset="0"/>
              </a:rPr>
              <a:t>responses are unpredictable </a:t>
            </a:r>
            <a:r>
              <a:rPr lang="en-GB" altLang="en-US" sz="2800" dirty="0">
                <a:latin typeface="Arial" panose="020B0604020202020204" pitchFamily="34" charset="0"/>
                <a:cs typeface="Arial" panose="020B0604020202020204" pitchFamily="34" charset="0"/>
              </a:rPr>
              <a:t>and frequently difficult </a:t>
            </a:r>
            <a:r>
              <a:rPr lang="en-GB" altLang="en-US" sz="2800" dirty="0" smtClean="0">
                <a:latin typeface="Arial" panose="020B0604020202020204" pitchFamily="34" charset="0"/>
                <a:cs typeface="Arial" panose="020B0604020202020204" pitchFamily="34" charset="0"/>
              </a:rPr>
              <a:t>to manage</a:t>
            </a:r>
            <a:r>
              <a:rPr lang="en-GB" altLang="en-US" sz="2800" dirty="0">
                <a:latin typeface="Arial" panose="020B0604020202020204" pitchFamily="34" charset="0"/>
                <a:cs typeface="Arial" panose="020B0604020202020204" pitchFamily="34" charset="0"/>
              </a:rPr>
              <a:t>, both emotionally and physically</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5117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endParaRPr lang="es-ES" sz="4400" dirty="0">
              <a:solidFill>
                <a:schemeClr val="bg1">
                  <a:lumMod val="50000"/>
                </a:schemeClr>
              </a:solidFill>
              <a:latin typeface="Calibri" charset="0"/>
            </a:endParaRPr>
          </a:p>
        </p:txBody>
      </p:sp>
      <p:sp>
        <p:nvSpPr>
          <p:cNvPr id="3" name="Rectangle 2"/>
          <p:cNvSpPr/>
          <p:nvPr/>
        </p:nvSpPr>
        <p:spPr>
          <a:xfrm>
            <a:off x="307909" y="1838130"/>
            <a:ext cx="8490857" cy="3785652"/>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Behaviours can be bizarre, extreme and </a:t>
            </a:r>
            <a:r>
              <a:rPr lang="en-GB" altLang="en-US" sz="2400" dirty="0" smtClean="0">
                <a:latin typeface="Arial" panose="020B0604020202020204" pitchFamily="34" charset="0"/>
                <a:cs typeface="Arial" panose="020B0604020202020204" pitchFamily="34" charset="0"/>
              </a:rPr>
              <a:t>erratic</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Find </a:t>
            </a:r>
            <a:r>
              <a:rPr lang="en-GB" altLang="en-US" sz="2400" dirty="0">
                <a:latin typeface="Arial" panose="020B0604020202020204" pitchFamily="34" charset="0"/>
                <a:cs typeface="Arial" panose="020B0604020202020204" pitchFamily="34" charset="0"/>
              </a:rPr>
              <a:t>it hard to be in touch with their </a:t>
            </a:r>
            <a:r>
              <a:rPr lang="en-GB" altLang="en-US" sz="2400" dirty="0" smtClean="0">
                <a:latin typeface="Arial" panose="020B0604020202020204" pitchFamily="34" charset="0"/>
                <a:cs typeface="Arial" panose="020B0604020202020204" pitchFamily="34" charset="0"/>
              </a:rPr>
              <a:t>vulnerability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Expect the worst and think no one genuinely </a:t>
            </a:r>
            <a:r>
              <a:rPr lang="en-GB" altLang="en-US" sz="2400" dirty="0" smtClean="0">
                <a:latin typeface="Arial" panose="020B0604020202020204" pitchFamily="34" charset="0"/>
                <a:cs typeface="Arial" panose="020B0604020202020204" pitchFamily="34" charset="0"/>
              </a:rPr>
              <a:t>cares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be in control of everything and cannot bear the risk of being dependent in any </a:t>
            </a:r>
            <a:r>
              <a:rPr lang="en-GB" altLang="en-US" sz="2400" dirty="0" smtClean="0">
                <a:latin typeface="Arial" panose="020B0604020202020204" pitchFamily="34" charset="0"/>
                <a:cs typeface="Arial" panose="020B0604020202020204" pitchFamily="34" charset="0"/>
              </a:rPr>
              <a:t>way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Extremely defensive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4164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07909" y="1838130"/>
            <a:ext cx="8490857" cy="3083921"/>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Behind their façade of defiance there is a profound sense of fear, panic and helplessness</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not relax or get involved in the learning process as they have to survive </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hyper-vigilant</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Their self awareness is poor</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05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Case Studies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416320"/>
          </a:xfrm>
          <a:prstGeom prst="rect">
            <a:avLst/>
          </a:prstGeom>
        </p:spPr>
        <p:txBody>
          <a:bodyPr wrap="square">
            <a:spAutoFit/>
          </a:bodyPr>
          <a:lstStyle/>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Ella </a:t>
            </a:r>
            <a:r>
              <a:rPr lang="en-GB" altLang="en-US" sz="2400" dirty="0">
                <a:latin typeface="Arial" panose="020B0604020202020204" pitchFamily="34" charset="0"/>
                <a:cs typeface="Arial" panose="020B0604020202020204" pitchFamily="34" charset="0"/>
              </a:rPr>
              <a:t>– Insecure Avoidant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Jamie – Insecure Disorganised</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Shahin </a:t>
            </a:r>
            <a:r>
              <a:rPr lang="en-GB" altLang="en-US" sz="2400" dirty="0">
                <a:latin typeface="Arial" panose="020B0604020202020204" pitchFamily="34" charset="0"/>
                <a:cs typeface="Arial" panose="020B0604020202020204" pitchFamily="34" charset="0"/>
              </a:rPr>
              <a:t>– Insecure Ambivalent/resistant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help in the classroom?</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6200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5" y="637801"/>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Learning Profile</a:t>
            </a:r>
          </a:p>
          <a:p>
            <a:pPr algn="ctr" eaLnBrk="1" hangingPunct="1"/>
            <a:r>
              <a:rPr lang="en-GB" sz="2800" dirty="0" smtClean="0">
                <a:latin typeface="Arial" panose="020B0604020202020204" pitchFamily="34" charset="0"/>
                <a:cs typeface="Arial" panose="020B0604020202020204" pitchFamily="34" charset="0"/>
              </a:rPr>
              <a:t>Learning profile of a child with avoidant attachment </a:t>
            </a:r>
            <a:endParaRPr lang="es-ES" sz="2800" dirty="0">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4819781"/>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a:t>
            </a:r>
            <a:r>
              <a:rPr lang="en-GB" altLang="en-US" sz="2400" b="1" dirty="0" smtClean="0">
                <a:latin typeface="Arial" panose="020B0604020202020204" pitchFamily="34" charset="0"/>
                <a:cs typeface="Arial" panose="020B0604020202020204" pitchFamily="34" charset="0"/>
              </a:rPr>
              <a:t>school/classroom</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Apparent </a:t>
            </a:r>
            <a:r>
              <a:rPr lang="en-GB" altLang="en-US" sz="2400" dirty="0">
                <a:latin typeface="Arial" panose="020B0604020202020204" pitchFamily="34" charset="0"/>
                <a:cs typeface="Arial" panose="020B0604020202020204" pitchFamily="34" charset="0"/>
              </a:rPr>
              <a:t>indifference to uncertainty </a:t>
            </a: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Denial </a:t>
            </a:r>
            <a:r>
              <a:rPr lang="en-GB" altLang="en-US" sz="2400" dirty="0">
                <a:latin typeface="Arial" panose="020B0604020202020204" pitchFamily="34" charset="0"/>
                <a:cs typeface="Arial" panose="020B0604020202020204" pitchFamily="34" charset="0"/>
              </a:rPr>
              <a:t>of need for support and help from </a:t>
            </a:r>
            <a:r>
              <a:rPr lang="en-GB" altLang="en-US" sz="2400" dirty="0" smtClean="0">
                <a:latin typeface="Arial" panose="020B0604020202020204" pitchFamily="34" charset="0"/>
                <a:cs typeface="Arial" panose="020B0604020202020204" pitchFamily="34" charset="0"/>
              </a:rPr>
              <a:t>the 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task </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autonomous and independent of </a:t>
            </a:r>
            <a:r>
              <a:rPr lang="en-GB" altLang="en-US" sz="2400" dirty="0" smtClean="0">
                <a:latin typeface="Arial" panose="020B0604020202020204" pitchFamily="34" charset="0"/>
                <a:cs typeface="Arial" panose="020B0604020202020204" pitchFamily="34" charset="0"/>
              </a:rPr>
              <a:t>the 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Hostility </a:t>
            </a:r>
            <a:r>
              <a:rPr lang="en-GB" altLang="en-US" sz="2400" dirty="0">
                <a:latin typeface="Arial" panose="020B0604020202020204" pitchFamily="34" charset="0"/>
                <a:cs typeface="Arial" panose="020B0604020202020204" pitchFamily="34" charset="0"/>
              </a:rPr>
              <a:t>towards the teacher is directed towards </a:t>
            </a:r>
            <a:r>
              <a:rPr lang="en-GB" altLang="en-US" sz="2400" dirty="0" smtClean="0">
                <a:latin typeface="Arial" panose="020B0604020202020204" pitchFamily="34" charset="0"/>
                <a:cs typeface="Arial" panose="020B0604020202020204" pitchFamily="34" charset="0"/>
              </a:rPr>
              <a:t>the task</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task acts as an emotional safety barrier between the </a:t>
            </a:r>
            <a:r>
              <a:rPr lang="en-GB" altLang="en-US" sz="2400" dirty="0" smtClean="0">
                <a:latin typeface="Arial" panose="020B0604020202020204" pitchFamily="34" charset="0"/>
                <a:cs typeface="Arial" panose="020B0604020202020204" pitchFamily="34" charset="0"/>
              </a:rPr>
              <a:t>pupil </a:t>
            </a:r>
            <a:r>
              <a:rPr lang="en-GB" altLang="en-US" sz="2400" dirty="0">
                <a:latin typeface="Arial" panose="020B0604020202020204" pitchFamily="34" charset="0"/>
                <a:cs typeface="Arial" panose="020B0604020202020204" pitchFamily="34" charset="0"/>
              </a:rPr>
              <a:t>and the </a:t>
            </a:r>
            <a:r>
              <a:rPr lang="en-GB" altLang="en-US" sz="2400" dirty="0" smtClean="0">
                <a:latin typeface="Arial" panose="020B0604020202020204" pitchFamily="34" charset="0"/>
                <a:cs typeface="Arial" panose="020B0604020202020204" pitchFamily="34" charset="0"/>
              </a:rPr>
              <a:t>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Skills and </a:t>
            </a:r>
            <a:r>
              <a:rPr lang="en-GB" altLang="en-US" sz="2400" b="1" dirty="0" smtClean="0">
                <a:latin typeface="Arial" panose="020B0604020202020204" pitchFamily="34" charset="0"/>
                <a:cs typeface="Arial" panose="020B0604020202020204" pitchFamily="34" charset="0"/>
              </a:rPr>
              <a:t>difficulties</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creativity</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Likely </a:t>
            </a:r>
            <a:r>
              <a:rPr lang="en-GB" altLang="en-US" sz="2400" dirty="0">
                <a:latin typeface="Arial" panose="020B0604020202020204" pitchFamily="34" charset="0"/>
                <a:cs typeface="Arial" panose="020B0604020202020204" pitchFamily="34" charset="0"/>
              </a:rPr>
              <a:t>to be underachieving</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language</a:t>
            </a:r>
          </a:p>
        </p:txBody>
      </p:sp>
    </p:spTree>
    <p:extLst>
      <p:ext uri="{BB962C8B-B14F-4D97-AF65-F5344CB8AC3E}">
        <p14:creationId xmlns:p14="http://schemas.microsoft.com/office/powerpoint/2010/main" val="2405280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Strategies to use:</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3108543"/>
          </a:xfrm>
          <a:prstGeom prst="rect">
            <a:avLst/>
          </a:prstGeom>
        </p:spPr>
        <p:txBody>
          <a:bodyPr wrap="square">
            <a:spAutoFit/>
          </a:bodyPr>
          <a:lstStyle/>
          <a:p>
            <a:pPr algn="ctr"/>
            <a:r>
              <a:rPr lang="en-GB" altLang="en-US" sz="2800" dirty="0">
                <a:latin typeface="Arial" panose="020B0604020202020204" pitchFamily="34" charset="0"/>
                <a:cs typeface="Arial" panose="020B0604020202020204" pitchFamily="34" charset="0"/>
              </a:rPr>
              <a:t>R</a:t>
            </a:r>
            <a:r>
              <a:rPr lang="en-GB" altLang="en-US" sz="2800" dirty="0" smtClean="0">
                <a:latin typeface="Arial" panose="020B0604020202020204" pitchFamily="34" charset="0"/>
                <a:cs typeface="Arial" panose="020B0604020202020204" pitchFamily="34" charset="0"/>
              </a:rPr>
              <a:t>elationship between the pupil and the teacher made safe by the presence of the task</a:t>
            </a:r>
          </a:p>
          <a:p>
            <a:pPr algn="ctr"/>
            <a:endParaRPr lang="en-GB" altLang="en-US" sz="2800" dirty="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Or</a:t>
            </a:r>
          </a:p>
          <a:p>
            <a:pPr algn="ctr"/>
            <a:endParaRPr lang="en-GB" altLang="en-US" sz="2800" dirty="0" smtClean="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Highly structured encounters such as games with clear rules and outcomes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509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07909" y="1001003"/>
            <a:ext cx="8490857" cy="5262979"/>
          </a:xfrm>
          <a:prstGeom prst="rect">
            <a:avLst/>
          </a:prstGeom>
        </p:spPr>
        <p:txBody>
          <a:bodyPr wrap="square">
            <a:spAutoFit/>
          </a:bodyPr>
          <a:lstStyle/>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Use of another child to moderate intensity of teacher </a:t>
            </a:r>
            <a:r>
              <a:rPr lang="en-GB" altLang="en-US" sz="2800" dirty="0" smtClean="0">
                <a:latin typeface="Arial" panose="020B0604020202020204" pitchFamily="34" charset="0"/>
                <a:cs typeface="Arial" panose="020B0604020202020204" pitchFamily="34" charset="0"/>
              </a:rPr>
              <a:t>proximity</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Paired/small group </a:t>
            </a:r>
            <a:r>
              <a:rPr lang="en-GB" altLang="en-US" sz="2800" dirty="0" smtClean="0">
                <a:latin typeface="Arial" panose="020B0604020202020204" pitchFamily="34" charset="0"/>
                <a:cs typeface="Arial" panose="020B0604020202020204" pitchFamily="34" charset="0"/>
              </a:rPr>
              <a:t>work</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Clear lesson </a:t>
            </a:r>
            <a:r>
              <a:rPr lang="en-GB" altLang="en-US" sz="2800" dirty="0" smtClean="0">
                <a:latin typeface="Arial" panose="020B0604020202020204" pitchFamily="34" charset="0"/>
                <a:cs typeface="Arial" panose="020B0604020202020204" pitchFamily="34" charset="0"/>
              </a:rPr>
              <a:t>plans</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tasks- completed with little help from </a:t>
            </a:r>
            <a:r>
              <a:rPr lang="en-GB" altLang="en-US" sz="2800" dirty="0" smtClean="0">
                <a:latin typeface="Arial" panose="020B0604020202020204" pitchFamily="34" charset="0"/>
                <a:cs typeface="Arial" panose="020B0604020202020204" pitchFamily="34" charset="0"/>
              </a:rPr>
              <a:t>teacher</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Concrete, structured activities with little use of imaginative skills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7412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798919"/>
            <a:ext cx="8490857" cy="6124754"/>
          </a:xfrm>
          <a:prstGeom prst="rect">
            <a:avLst/>
          </a:prstGeom>
        </p:spPr>
        <p:txBody>
          <a:bodyPr wrap="square">
            <a:spAutoFit/>
          </a:bodyPr>
          <a:lstStyle/>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The curriculum provides many opportunities  to explore hidden or dangerous feelings.</a:t>
            </a:r>
          </a:p>
          <a:p>
            <a:pPr marL="342900" indent="-342900">
              <a:buFont typeface="Arial" panose="020B0604020202020204" pitchFamily="34" charset="0"/>
              <a:buChar char="•"/>
            </a:pPr>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Boxes, bridges, houses, castles, journeys are the basis of may stories and all have symbolic significance about closeness and distance, containment and fears.  Without any conscious disclosure, many strong feelings can be given words and meaning.  Emotional literacy can begin by trying to describe the experiences of characters in stories</a:t>
            </a:r>
            <a:r>
              <a:rPr lang="en-GB" altLang="en-US" sz="2800" dirty="0" smtClean="0">
                <a:latin typeface="Arial" panose="020B0604020202020204" pitchFamily="34" charset="0"/>
                <a:cs typeface="Arial" panose="020B0604020202020204" pitchFamily="34" charset="0"/>
              </a:rPr>
              <a:t>.</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a:t>
            </a:r>
            <a:r>
              <a:rPr lang="en-GB" altLang="en-US" sz="2800" dirty="0" smtClean="0">
                <a:latin typeface="Arial" panose="020B0604020202020204" pitchFamily="34" charset="0"/>
                <a:cs typeface="Arial" panose="020B0604020202020204" pitchFamily="34" charset="0"/>
              </a:rPr>
              <a:t>games </a:t>
            </a:r>
            <a:r>
              <a:rPr lang="en-GB" altLang="en-US" sz="2800" dirty="0">
                <a:latin typeface="Arial" panose="020B0604020202020204" pitchFamily="34" charset="0"/>
                <a:cs typeface="Arial" panose="020B0604020202020204" pitchFamily="34" charset="0"/>
              </a:rPr>
              <a:t>with rules likely to provide an arena for safe engagement</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2159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88230"/>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Learning Profile Linked to Resistant/Ambivalent Attachment</a:t>
            </a:r>
            <a:endParaRPr lang="es-ES" sz="40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a:lnSpc>
                <a:spcPct val="80000"/>
              </a:lnSpc>
            </a:pPr>
            <a:endParaRPr lang="en-GB" altLang="en-US" sz="2000" b="1" dirty="0" smtClean="0">
              <a:latin typeface="Arial" panose="020B0604020202020204" pitchFamily="34" charset="0"/>
              <a:cs typeface="Arial" panose="020B0604020202020204" pitchFamily="34" charset="0"/>
            </a:endParaRPr>
          </a:p>
          <a:p>
            <a:pPr>
              <a:lnSpc>
                <a:spcPct val="80000"/>
              </a:lnSpc>
            </a:pPr>
            <a:r>
              <a:rPr lang="en-GB" altLang="en-US" sz="2000" b="1" dirty="0" smtClean="0">
                <a:latin typeface="Arial" panose="020B0604020202020204" pitchFamily="34" charset="0"/>
                <a:cs typeface="Arial" panose="020B0604020202020204" pitchFamily="34" charset="0"/>
              </a:rPr>
              <a:t>Approach </a:t>
            </a:r>
            <a:r>
              <a:rPr lang="en-GB" altLang="en-US" sz="2000" b="1" dirty="0">
                <a:latin typeface="Arial" panose="020B0604020202020204" pitchFamily="34" charset="0"/>
                <a:cs typeface="Arial" panose="020B0604020202020204" pitchFamily="34" charset="0"/>
              </a:rPr>
              <a:t>to the school and the </a:t>
            </a:r>
            <a:r>
              <a:rPr lang="en-GB" altLang="en-US" sz="2000" b="1" dirty="0" smtClean="0">
                <a:latin typeface="Arial" panose="020B0604020202020204" pitchFamily="34" charset="0"/>
                <a:cs typeface="Arial" panose="020B0604020202020204" pitchFamily="34" charset="0"/>
              </a:rPr>
              <a:t>classroom</a:t>
            </a:r>
          </a:p>
          <a:p>
            <a:pPr>
              <a:lnSpc>
                <a:spcPct val="80000"/>
              </a:lnSpc>
            </a:pPr>
            <a:r>
              <a:rPr lang="en-GB" altLang="en-US" sz="2000" dirty="0" smtClean="0">
                <a:latin typeface="Arial" panose="020B0604020202020204" pitchFamily="34" charset="0"/>
                <a:cs typeface="Arial" panose="020B0604020202020204" pitchFamily="34" charset="0"/>
              </a:rPr>
              <a:t>High </a:t>
            </a:r>
            <a:r>
              <a:rPr lang="en-GB" altLang="en-US" sz="2000" dirty="0">
                <a:latin typeface="Arial" panose="020B0604020202020204" pitchFamily="34" charset="0"/>
                <a:cs typeface="Arial" panose="020B0604020202020204" pitchFamily="34" charset="0"/>
              </a:rPr>
              <a:t>level of anxiety and </a:t>
            </a:r>
            <a:r>
              <a:rPr lang="en-GB" altLang="en-US" sz="2000" dirty="0" smtClean="0">
                <a:latin typeface="Arial" panose="020B0604020202020204" pitchFamily="34" charset="0"/>
                <a:cs typeface="Arial" panose="020B0604020202020204" pitchFamily="34" charset="0"/>
              </a:rPr>
              <a:t>uncertainty</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the teacher</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Need to hold onto the attention of the teacher</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Apparent dependence on the teacher in order to engage in learning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Expressed hostility towards the teacher when </a:t>
            </a:r>
            <a:r>
              <a:rPr lang="en-GB" altLang="en-US" sz="2000" dirty="0" smtClean="0">
                <a:latin typeface="Arial" panose="020B0604020202020204" pitchFamily="34" charset="0"/>
                <a:cs typeface="Arial" panose="020B0604020202020204" pitchFamily="34" charset="0"/>
              </a:rPr>
              <a:t>frustrated</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task</a:t>
            </a:r>
            <a:r>
              <a:rPr lang="en-GB" altLang="en-US" sz="2000" dirty="0">
                <a:latin typeface="Arial" panose="020B0604020202020204" pitchFamily="34" charset="0"/>
                <a:cs typeface="Arial" panose="020B0604020202020204" pitchFamily="34" charset="0"/>
              </a:rPr>
              <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Difficulties attempting the task if unsupported</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Unable to focus on the task for fear of losing teacher’s </a:t>
            </a:r>
            <a:r>
              <a:rPr lang="en-GB" altLang="en-US" sz="2000" dirty="0" smtClean="0">
                <a:latin typeface="Arial" panose="020B0604020202020204" pitchFamily="34" charset="0"/>
                <a:cs typeface="Arial" panose="020B0604020202020204" pitchFamily="34" charset="0"/>
              </a:rPr>
              <a:t>attention</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Skills and Difficulties</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Likely to be underachieving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Language may bee well developed but not consistent with levels of achievement</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Numeracy may be weak</a:t>
            </a:r>
          </a:p>
        </p:txBody>
      </p:sp>
    </p:spTree>
    <p:extLst>
      <p:ext uri="{BB962C8B-B14F-4D97-AF65-F5344CB8AC3E}">
        <p14:creationId xmlns:p14="http://schemas.microsoft.com/office/powerpoint/2010/main" val="2491474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81106"/>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Intervention Implications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Child</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 the first step they need to take is to </a:t>
            </a:r>
            <a:r>
              <a:rPr lang="en-GB" altLang="en-US" sz="2400" b="1" dirty="0" smtClean="0">
                <a:latin typeface="Arial" panose="020B0604020202020204" pitchFamily="34" charset="0"/>
                <a:cs typeface="Arial" panose="020B0604020202020204" pitchFamily="34" charset="0"/>
              </a:rPr>
              <a:t>engage with the task</a:t>
            </a:r>
            <a:r>
              <a:rPr lang="en-GB" altLang="en-US" sz="2400" dirty="0" smtClean="0">
                <a:latin typeface="Arial" panose="020B0604020202020204" pitchFamily="34" charset="0"/>
                <a:cs typeface="Arial" panose="020B0604020202020204" pitchFamily="34" charset="0"/>
              </a:rPr>
              <a:t>, in </a:t>
            </a:r>
            <a:r>
              <a:rPr lang="en-GB" altLang="en-US" sz="2400" dirty="0">
                <a:latin typeface="Arial" panose="020B0604020202020204" pitchFamily="34" charset="0"/>
                <a:cs typeface="Arial" panose="020B0604020202020204" pitchFamily="34" charset="0"/>
              </a:rPr>
              <a:t>order to begin the process of </a:t>
            </a:r>
            <a:r>
              <a:rPr lang="en-GB" altLang="en-US" sz="2400" dirty="0" smtClean="0">
                <a:latin typeface="Arial" panose="020B0604020202020204" pitchFamily="34" charset="0"/>
                <a:cs typeface="Arial" panose="020B0604020202020204" pitchFamily="34" charset="0"/>
              </a:rPr>
              <a:t>change</a:t>
            </a:r>
          </a:p>
          <a:p>
            <a:pPr>
              <a:lnSpc>
                <a:spcPct val="80000"/>
              </a:lnSpc>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Teacher</a:t>
            </a:r>
            <a:r>
              <a:rPr lang="en-GB" altLang="en-US" sz="2400" dirty="0" smtClean="0">
                <a:latin typeface="Arial" panose="020B0604020202020204" pitchFamily="34" charset="0"/>
                <a:cs typeface="Arial" panose="020B0604020202020204" pitchFamily="34" charset="0"/>
              </a:rPr>
              <a:t> – the </a:t>
            </a:r>
            <a:r>
              <a:rPr lang="en-GB" altLang="en-US" sz="2400" dirty="0">
                <a:latin typeface="Arial" panose="020B0604020202020204" pitchFamily="34" charset="0"/>
                <a:cs typeface="Arial" panose="020B0604020202020204" pitchFamily="34" charset="0"/>
              </a:rPr>
              <a:t>first step is recognising the pupils </a:t>
            </a:r>
            <a:r>
              <a:rPr lang="en-GB" altLang="en-US" sz="2400" b="1" dirty="0" smtClean="0">
                <a:latin typeface="Arial" panose="020B0604020202020204" pitchFamily="34" charset="0"/>
                <a:cs typeface="Arial" panose="020B0604020202020204" pitchFamily="34" charset="0"/>
              </a:rPr>
              <a:t>separation anxiety</a:t>
            </a: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pupil can be experienced as </a:t>
            </a:r>
            <a:r>
              <a:rPr lang="en-GB" altLang="en-US" sz="2400" b="1" dirty="0" smtClean="0">
                <a:latin typeface="Arial" panose="020B0604020202020204" pitchFamily="34" charset="0"/>
                <a:cs typeface="Arial" panose="020B0604020202020204" pitchFamily="34" charset="0"/>
              </a:rPr>
              <a:t>dependent, irritating and intrusive. </a:t>
            </a:r>
            <a:r>
              <a:rPr lang="en-GB" altLang="en-US" sz="2400" dirty="0" smtClean="0">
                <a:latin typeface="Arial" panose="020B0604020202020204" pitchFamily="34" charset="0"/>
                <a:cs typeface="Arial" panose="020B0604020202020204" pitchFamily="34" charset="0"/>
              </a:rPr>
              <a:t>It </a:t>
            </a:r>
            <a:r>
              <a:rPr lang="en-GB" altLang="en-US" sz="2400" dirty="0">
                <a:latin typeface="Arial" panose="020B0604020202020204" pitchFamily="34" charset="0"/>
                <a:cs typeface="Arial" panose="020B0604020202020204" pitchFamily="34" charset="0"/>
              </a:rPr>
              <a:t>can help to be aware of the child’s powerful wish to achieved a merged state with the </a:t>
            </a:r>
            <a:r>
              <a:rPr lang="en-GB" altLang="en-US" sz="2400" dirty="0" smtClean="0">
                <a:latin typeface="Arial" panose="020B0604020202020204" pitchFamily="34" charset="0"/>
                <a:cs typeface="Arial" panose="020B0604020202020204" pitchFamily="34" charset="0"/>
              </a:rPr>
              <a:t>adult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think of this behaviour as an </a:t>
            </a:r>
            <a:r>
              <a:rPr lang="en-GB" altLang="en-US" sz="2400" i="1" dirty="0">
                <a:latin typeface="Arial" panose="020B0604020202020204" pitchFamily="34" charset="0"/>
                <a:cs typeface="Arial" panose="020B0604020202020204" pitchFamily="34" charset="0"/>
              </a:rPr>
              <a:t>anxious dependence</a:t>
            </a:r>
            <a:r>
              <a:rPr lang="en-GB" altLang="en-US" sz="2400" dirty="0">
                <a:latin typeface="Arial" panose="020B0604020202020204" pitchFamily="34" charset="0"/>
                <a:cs typeface="Arial" panose="020B0604020202020204" pitchFamily="34" charset="0"/>
              </a:rPr>
              <a:t> and a </a:t>
            </a:r>
            <a:r>
              <a:rPr lang="en-GB" altLang="en-US" sz="2400" i="1" dirty="0">
                <a:latin typeface="Arial" panose="020B0604020202020204" pitchFamily="34" charset="0"/>
                <a:cs typeface="Arial" panose="020B0604020202020204" pitchFamily="34" charset="0"/>
              </a:rPr>
              <a:t>need to control the significant adult </a:t>
            </a:r>
            <a:r>
              <a:rPr lang="en-GB" altLang="en-US" sz="2400" dirty="0">
                <a:latin typeface="Arial" panose="020B0604020202020204" pitchFamily="34" charset="0"/>
                <a:cs typeface="Arial" panose="020B0604020202020204" pitchFamily="34" charset="0"/>
              </a:rPr>
              <a:t>who has not been experienced as reliably </a:t>
            </a:r>
            <a:r>
              <a:rPr lang="en-GB" altLang="en-US" sz="2400" dirty="0" smtClean="0">
                <a:latin typeface="Arial" panose="020B0604020202020204" pitchFamily="34" charset="0"/>
                <a:cs typeface="Arial" panose="020B0604020202020204" pitchFamily="34" charset="0"/>
              </a:rPr>
              <a:t>present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Important </a:t>
            </a:r>
            <a:r>
              <a:rPr lang="en-GB" altLang="en-US" sz="2400" dirty="0">
                <a:latin typeface="Arial" panose="020B0604020202020204" pitchFamily="34" charset="0"/>
                <a:cs typeface="Arial" panose="020B0604020202020204" pitchFamily="34" charset="0"/>
              </a:rPr>
              <a:t>adult remains the </a:t>
            </a:r>
            <a:r>
              <a:rPr lang="en-GB" altLang="en-US" sz="2400" b="1" dirty="0" smtClean="0">
                <a:latin typeface="Arial" panose="020B0604020202020204" pitchFamily="34" charset="0"/>
                <a:cs typeface="Arial" panose="020B0604020202020204" pitchFamily="34" charset="0"/>
              </a:rPr>
              <a:t>adult in charge</a:t>
            </a:r>
            <a:r>
              <a:rPr lang="en-GB" altLang="en-US" sz="2400" dirty="0">
                <a:latin typeface="Arial" panose="020B0604020202020204" pitchFamily="34" charset="0"/>
                <a:cs typeface="Arial" panose="020B0604020202020204" pitchFamily="34" charset="0"/>
              </a:rPr>
              <a:t/>
            </a:r>
            <a:br>
              <a:rPr lang="en-GB" altLang="en-US" sz="2400" dirty="0">
                <a:latin typeface="Arial" panose="020B0604020202020204" pitchFamily="34" charset="0"/>
                <a:cs typeface="Arial" panose="020B0604020202020204" pitchFamily="34" charset="0"/>
              </a:rPr>
            </a:br>
            <a:r>
              <a:rPr lang="en-GB" altLang="en-US" sz="2400" dirty="0" smtClean="0">
                <a:latin typeface="Arial" panose="020B0604020202020204" pitchFamily="34" charset="0"/>
                <a:cs typeface="Arial" panose="020B0604020202020204" pitchFamily="34" charset="0"/>
              </a:rPr>
              <a:t>Neither </a:t>
            </a:r>
            <a:r>
              <a:rPr lang="en-GB" altLang="en-US" sz="2400" dirty="0">
                <a:latin typeface="Arial" panose="020B0604020202020204" pitchFamily="34" charset="0"/>
                <a:cs typeface="Arial" panose="020B0604020202020204" pitchFamily="34" charset="0"/>
              </a:rPr>
              <a:t>replicates the neediness of the primary carer nor collude with the child’s apparent pseudo-adult helper role</a:t>
            </a:r>
          </a:p>
        </p:txBody>
      </p:sp>
    </p:spTree>
    <p:extLst>
      <p:ext uri="{BB962C8B-B14F-4D97-AF65-F5344CB8AC3E}">
        <p14:creationId xmlns:p14="http://schemas.microsoft.com/office/powerpoint/2010/main" val="1648969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 the Planning - </a:t>
            </a:r>
            <a:r>
              <a:rPr lang="en-GB" sz="4400" dirty="0" smtClean="0"/>
              <a:t>strategies </a:t>
            </a:r>
            <a:r>
              <a:rPr lang="en-GB" sz="4400" dirty="0"/>
              <a:t>to use</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22885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Planning beginnings separations and endings</a:t>
            </a:r>
          </a:p>
          <a:p>
            <a:pPr>
              <a:lnSpc>
                <a:spcPct val="80000"/>
              </a:lnSpc>
            </a:pPr>
            <a:r>
              <a:rPr lang="en-GB" altLang="en-US" sz="2400" dirty="0" smtClean="0">
                <a:latin typeface="Arial" panose="020B0604020202020204" pitchFamily="34" charset="0"/>
                <a:cs typeface="Arial" panose="020B0604020202020204" pitchFamily="34" charset="0"/>
              </a:rPr>
              <a:t>Help </a:t>
            </a:r>
            <a:r>
              <a:rPr lang="en-GB" altLang="en-US" sz="2400" dirty="0">
                <a:latin typeface="Arial" panose="020B0604020202020204" pitchFamily="34" charset="0"/>
                <a:cs typeface="Arial" panose="020B0604020202020204" pitchFamily="34" charset="0"/>
              </a:rPr>
              <a:t>transition into school and at the end of the day</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P</a:t>
            </a:r>
            <a:r>
              <a:rPr lang="en-GB" altLang="en-US" sz="2400" b="1" dirty="0" smtClean="0">
                <a:latin typeface="Arial" panose="020B0604020202020204" pitchFamily="34" charset="0"/>
                <a:cs typeface="Arial" panose="020B0604020202020204" pitchFamily="34" charset="0"/>
              </a:rPr>
              <a:t>lanning and warnings of changes and class movement</a:t>
            </a:r>
          </a:p>
          <a:p>
            <a:pPr>
              <a:lnSpc>
                <a:spcPct val="80000"/>
              </a:lnSpc>
            </a:pPr>
            <a:r>
              <a:rPr lang="en-GB" altLang="en-US" sz="2400" dirty="0" smtClean="0">
                <a:latin typeface="Arial" panose="020B0604020202020204" pitchFamily="34" charset="0"/>
                <a:cs typeface="Arial" panose="020B0604020202020204" pitchFamily="34" charset="0"/>
              </a:rPr>
              <a:t>Can </a:t>
            </a:r>
            <a:r>
              <a:rPr lang="en-GB" altLang="en-US" sz="2400" dirty="0">
                <a:latin typeface="Arial" panose="020B0604020202020204" pitchFamily="34" charset="0"/>
                <a:cs typeface="Arial" panose="020B0604020202020204" pitchFamily="34" charset="0"/>
              </a:rPr>
              <a:t>ease separation anxiety being triggered when </a:t>
            </a:r>
            <a:r>
              <a:rPr lang="en-GB" altLang="en-US" sz="2400" dirty="0" smtClean="0">
                <a:latin typeface="Arial" panose="020B0604020202020204" pitchFamily="34" charset="0"/>
                <a:cs typeface="Arial" panose="020B0604020202020204" pitchFamily="34" charset="0"/>
              </a:rPr>
              <a:t>changes </a:t>
            </a:r>
            <a:r>
              <a:rPr lang="en-GB" altLang="en-US" sz="2400" dirty="0">
                <a:latin typeface="Arial" panose="020B0604020202020204" pitchFamily="34" charset="0"/>
                <a:cs typeface="Arial" panose="020B0604020202020204" pitchFamily="34" charset="0"/>
              </a:rPr>
              <a:t>take place</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Regular absence from school</a:t>
            </a:r>
          </a:p>
          <a:p>
            <a:pPr>
              <a:lnSpc>
                <a:spcPct val="80000"/>
              </a:lnSpc>
            </a:pPr>
            <a:r>
              <a:rPr lang="en-GB" altLang="en-US" sz="2400" dirty="0" smtClean="0">
                <a:latin typeface="Arial" panose="020B0604020202020204" pitchFamily="34" charset="0"/>
                <a:cs typeface="Arial" panose="020B0604020202020204" pitchFamily="34" charset="0"/>
              </a:rPr>
              <a:t>Triggers </a:t>
            </a:r>
            <a:r>
              <a:rPr lang="en-GB" altLang="en-US" sz="2400" dirty="0">
                <a:latin typeface="Arial" panose="020B0604020202020204" pitchFamily="34" charset="0"/>
                <a:cs typeface="Arial" panose="020B0604020202020204" pitchFamily="34" charset="0"/>
              </a:rPr>
              <a:t>procedures that respond quickly to absence help the child to feel held in mind appropriately by the school.  This will lead to an experience of the reliability of the school </a:t>
            </a:r>
            <a:r>
              <a:rPr lang="en-GB" altLang="en-US" sz="2400" dirty="0" smtClean="0">
                <a:latin typeface="Arial" panose="020B0604020202020204" pitchFamily="34" charset="0"/>
                <a:cs typeface="Arial" panose="020B0604020202020204" pitchFamily="34" charset="0"/>
              </a:rPr>
              <a:t>system.</a:t>
            </a: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993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13356"/>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Learning Profile Linked to Disorganised Attachment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3368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the school and the classroom</a:t>
            </a:r>
          </a:p>
          <a:p>
            <a:pPr>
              <a:lnSpc>
                <a:spcPct val="80000"/>
              </a:lnSpc>
            </a:pPr>
            <a:r>
              <a:rPr lang="en-GB" altLang="en-US" sz="2400" dirty="0" smtClean="0">
                <a:latin typeface="Arial" panose="020B0604020202020204" pitchFamily="34" charset="0"/>
                <a:cs typeface="Arial" panose="020B0604020202020204" pitchFamily="34" charset="0"/>
              </a:rPr>
              <a:t>Intense </a:t>
            </a:r>
            <a:r>
              <a:rPr lang="en-GB" altLang="en-US" sz="2400" dirty="0">
                <a:latin typeface="Arial" panose="020B0604020202020204" pitchFamily="34" charset="0"/>
                <a:cs typeface="Arial" panose="020B0604020202020204" pitchFamily="34" charset="0"/>
              </a:rPr>
              <a:t>anxiety – controlling and omnipotent </a:t>
            </a:r>
          </a:p>
          <a:p>
            <a:r>
              <a:rPr lang="en-GB" altLang="en-US" sz="2400" b="1" dirty="0">
                <a:latin typeface="Arial" panose="020B0604020202020204" pitchFamily="34" charset="0"/>
                <a:cs typeface="Arial" panose="020B0604020202020204" pitchFamily="34" charset="0"/>
              </a:rPr>
              <a:t>Response to the teacher</a:t>
            </a:r>
          </a:p>
          <a:p>
            <a:pPr>
              <a:lnSpc>
                <a:spcPct val="80000"/>
              </a:lnSpc>
            </a:pPr>
            <a:r>
              <a:rPr lang="en-GB" altLang="en-US" sz="2400" dirty="0" smtClean="0">
                <a:latin typeface="Arial" panose="020B0604020202020204" pitchFamily="34" charset="0"/>
                <a:cs typeface="Arial" panose="020B0604020202020204" pitchFamily="34" charset="0"/>
              </a:rPr>
              <a:t>Finds </a:t>
            </a:r>
            <a:r>
              <a:rPr lang="en-GB" altLang="en-US" sz="2400" dirty="0">
                <a:latin typeface="Arial" panose="020B0604020202020204" pitchFamily="34" charset="0"/>
                <a:cs typeface="Arial" panose="020B0604020202020204" pitchFamily="34" charset="0"/>
              </a:rPr>
              <a:t>it hard to accept teachers authority but may submit to Heads authority.  Finds it hard to be ‘taught’/accept teacher might know more than they </a:t>
            </a:r>
            <a:r>
              <a:rPr lang="en-GB" altLang="en-US" sz="2400" dirty="0" smtClean="0">
                <a:latin typeface="Arial" panose="020B0604020202020204" pitchFamily="34" charset="0"/>
                <a:cs typeface="Arial" panose="020B0604020202020204" pitchFamily="34" charset="0"/>
              </a:rPr>
              <a:t>do.</a:t>
            </a:r>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Response to the Task</a:t>
            </a:r>
          </a:p>
          <a:p>
            <a:pPr>
              <a:lnSpc>
                <a:spcPct val="80000"/>
              </a:lnSpc>
            </a:pPr>
            <a:r>
              <a:rPr lang="en-GB" altLang="en-US" sz="2400" dirty="0" smtClean="0">
                <a:latin typeface="Arial" panose="020B0604020202020204" pitchFamily="34" charset="0"/>
                <a:cs typeface="Arial" panose="020B0604020202020204" pitchFamily="34" charset="0"/>
              </a:rPr>
              <a:t>Produce </a:t>
            </a:r>
            <a:r>
              <a:rPr lang="en-GB" altLang="en-US" sz="2400" dirty="0">
                <a:latin typeface="Arial" panose="020B0604020202020204" pitchFamily="34" charset="0"/>
                <a:cs typeface="Arial" panose="020B0604020202020204" pitchFamily="34" charset="0"/>
              </a:rPr>
              <a:t>fears of incompetence, humiliation may have difficulty in accepting not knowing or may appear omnipotent i.e. “I know it all already”</a:t>
            </a:r>
          </a:p>
          <a:p>
            <a:r>
              <a:rPr lang="en-GB" altLang="en-US" sz="2400" b="1" dirty="0">
                <a:latin typeface="Arial" panose="020B0604020202020204" pitchFamily="34" charset="0"/>
                <a:cs typeface="Arial" panose="020B0604020202020204" pitchFamily="34" charset="0"/>
              </a:rPr>
              <a:t>Skills and Difficulties</a:t>
            </a:r>
          </a:p>
          <a:p>
            <a:pPr>
              <a:lnSpc>
                <a:spcPct val="80000"/>
              </a:lnSpc>
            </a:pPr>
            <a:r>
              <a:rPr lang="en-GB" altLang="en-US" sz="2400" dirty="0" smtClean="0">
                <a:latin typeface="Arial" panose="020B0604020202020204" pitchFamily="34" charset="0"/>
                <a:cs typeface="Arial" panose="020B0604020202020204" pitchFamily="34" charset="0"/>
              </a:rPr>
              <a:t>May </a:t>
            </a:r>
            <a:r>
              <a:rPr lang="en-GB" altLang="en-US" sz="2400" dirty="0">
                <a:latin typeface="Arial" panose="020B0604020202020204" pitchFamily="34" charset="0"/>
                <a:cs typeface="Arial" panose="020B0604020202020204" pitchFamily="34" charset="0"/>
              </a:rPr>
              <a:t>seem unimaginative and uncreative, may find conceptual thought difficult.  Likely to be underachieving and at immature stage of </a:t>
            </a:r>
            <a:r>
              <a:rPr lang="en-GB" altLang="en-US" sz="2400" dirty="0" smtClean="0">
                <a:latin typeface="Arial" panose="020B0604020202020204" pitchFamily="34" charset="0"/>
                <a:cs typeface="Arial" panose="020B0604020202020204" pitchFamily="34" charset="0"/>
              </a:rPr>
              <a:t>learning.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29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67190"/>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Strategies </a:t>
            </a:r>
            <a:r>
              <a:rPr lang="en-GB" sz="4400" dirty="0"/>
              <a:t>to </a:t>
            </a:r>
            <a:r>
              <a:rPr lang="en-GB" sz="4400" dirty="0" smtClean="0"/>
              <a:t>use:</a:t>
            </a:r>
            <a:endParaRPr lang="es-ES" sz="4400" dirty="0">
              <a:solidFill>
                <a:schemeClr val="bg1">
                  <a:lumMod val="50000"/>
                </a:schemeClr>
              </a:solidFill>
              <a:latin typeface="Calibri" charset="0"/>
            </a:endParaRPr>
          </a:p>
        </p:txBody>
      </p:sp>
      <p:sp>
        <p:nvSpPr>
          <p:cNvPr id="3" name="Rectangle 2"/>
          <p:cNvSpPr/>
          <p:nvPr/>
        </p:nvSpPr>
        <p:spPr>
          <a:xfrm>
            <a:off x="307908" y="1153296"/>
            <a:ext cx="8490857" cy="555844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Actively practice </a:t>
            </a:r>
            <a:r>
              <a:rPr lang="en-GB" altLang="en-US" sz="2400" b="1" dirty="0" smtClean="0">
                <a:latin typeface="Arial" panose="020B0604020202020204" pitchFamily="34" charset="0"/>
                <a:cs typeface="Arial" panose="020B0604020202020204" pitchFamily="34" charset="0"/>
              </a:rPr>
              <a:t>rules</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which focus on keeping people and things </a:t>
            </a:r>
            <a:r>
              <a:rPr lang="en-GB" altLang="en-US" sz="2400" dirty="0" smtClean="0">
                <a:latin typeface="Arial" panose="020B0604020202020204" pitchFamily="34" charset="0"/>
                <a:cs typeface="Arial" panose="020B0604020202020204" pitchFamily="34" charset="0"/>
              </a:rPr>
              <a:t>safe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Frequent positive feedback can help to develop and reinforce more positive </a:t>
            </a:r>
            <a:r>
              <a:rPr lang="en-GB" altLang="en-US" sz="2400" dirty="0" smtClean="0">
                <a:latin typeface="Arial" panose="020B0604020202020204" pitchFamily="34" charset="0"/>
                <a:cs typeface="Arial" panose="020B0604020202020204" pitchFamily="34" charset="0"/>
              </a:rPr>
              <a:t>responses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a:t>
            </a:r>
            <a:r>
              <a:rPr lang="en-GB" altLang="en-US" sz="2400" dirty="0" smtClean="0">
                <a:latin typeface="Arial" panose="020B0604020202020204" pitchFamily="34" charset="0"/>
                <a:cs typeface="Arial" panose="020B0604020202020204" pitchFamily="34" charset="0"/>
              </a:rPr>
              <a:t>reflective network meetings </a:t>
            </a:r>
            <a:r>
              <a:rPr lang="en-GB" altLang="en-US" sz="2400" dirty="0">
                <a:latin typeface="Arial" panose="020B0604020202020204" pitchFamily="34" charset="0"/>
                <a:cs typeface="Arial" panose="020B0604020202020204" pitchFamily="34" charset="0"/>
              </a:rPr>
              <a:t>in order to avoid reactive adult responses – especially to a </a:t>
            </a:r>
            <a:r>
              <a:rPr lang="en-GB" altLang="en-US" sz="2400" dirty="0" smtClean="0">
                <a:latin typeface="Arial" panose="020B0604020202020204" pitchFamily="34" charset="0"/>
                <a:cs typeface="Arial" panose="020B0604020202020204" pitchFamily="34" charset="0"/>
              </a:rPr>
              <a:t>crisis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Concrete, mechanical and rhythmic activities which engage left brain  function can be used to sooth highly charged </a:t>
            </a:r>
            <a:r>
              <a:rPr lang="en-GB" altLang="en-US" sz="2400" dirty="0" smtClean="0">
                <a:latin typeface="Arial" panose="020B0604020202020204" pitchFamily="34" charset="0"/>
                <a:cs typeface="Arial" panose="020B0604020202020204" pitchFamily="34" charset="0"/>
              </a:rPr>
              <a:t>states – counting</a:t>
            </a:r>
            <a:r>
              <a:rPr lang="en-GB" altLang="en-US" sz="2400" dirty="0">
                <a:latin typeface="Arial" panose="020B0604020202020204" pitchFamily="34" charset="0"/>
                <a:cs typeface="Arial" panose="020B0604020202020204" pitchFamily="34" charset="0"/>
              </a:rPr>
              <a:t>, colouring, sorting, building structures sequencing sorting, building structures sequencing objects and copying.</a:t>
            </a:r>
          </a:p>
        </p:txBody>
      </p:sp>
    </p:spTree>
    <p:extLst>
      <p:ext uri="{BB962C8B-B14F-4D97-AF65-F5344CB8AC3E}">
        <p14:creationId xmlns:p14="http://schemas.microsoft.com/office/powerpoint/2010/main" val="2249301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998749"/>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Rhythmical </a:t>
            </a:r>
            <a:r>
              <a:rPr lang="en-GB" altLang="en-US" sz="2400" dirty="0">
                <a:latin typeface="Arial" panose="020B0604020202020204" pitchFamily="34" charset="0"/>
                <a:cs typeface="Arial" panose="020B0604020202020204" pitchFamily="34" charset="0"/>
              </a:rPr>
              <a:t>physical exercise also has a regulating influence on brain </a:t>
            </a:r>
            <a:r>
              <a:rPr lang="en-GB" altLang="en-US" sz="2400" dirty="0" smtClean="0">
                <a:latin typeface="Arial" panose="020B0604020202020204" pitchFamily="34" charset="0"/>
                <a:cs typeface="Arial" panose="020B0604020202020204" pitchFamily="34" charset="0"/>
              </a:rPr>
              <a:t>rhythms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Start day with brain </a:t>
            </a:r>
            <a:r>
              <a:rPr lang="en-GB" altLang="en-US" sz="2400" dirty="0" smtClean="0">
                <a:latin typeface="Arial" panose="020B0604020202020204" pitchFamily="34" charset="0"/>
                <a:cs typeface="Arial" panose="020B0604020202020204" pitchFamily="34" charset="0"/>
              </a:rPr>
              <a:t>gym/cross-stitch</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metaphors related to symbolic containment-buildings, houses, boats and </a:t>
            </a:r>
            <a:r>
              <a:rPr lang="en-GB" altLang="en-US" sz="2400" dirty="0" smtClean="0">
                <a:latin typeface="Arial" panose="020B0604020202020204" pitchFamily="34" charset="0"/>
                <a:cs typeface="Arial" panose="020B0604020202020204" pitchFamily="34" charset="0"/>
              </a:rPr>
              <a:t>bridges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Make use of rich opportunities in curriculum to explore feelings and situations </a:t>
            </a:r>
            <a:r>
              <a:rPr lang="en-GB" altLang="en-US" sz="2400" b="1" dirty="0">
                <a:latin typeface="Arial" panose="020B0604020202020204" pitchFamily="34" charset="0"/>
                <a:cs typeface="Arial" panose="020B0604020202020204" pitchFamily="34" charset="0"/>
              </a:rPr>
              <a:t>without</a:t>
            </a:r>
            <a:r>
              <a:rPr lang="en-GB" altLang="en-US" sz="2400" dirty="0">
                <a:latin typeface="Arial" panose="020B0604020202020204" pitchFamily="34" charset="0"/>
                <a:cs typeface="Arial" panose="020B0604020202020204" pitchFamily="34" charset="0"/>
              </a:rPr>
              <a:t> reference to </a:t>
            </a:r>
            <a:r>
              <a:rPr lang="en-GB" altLang="en-US" sz="2400" dirty="0" smtClean="0">
                <a:latin typeface="Arial" panose="020B0604020202020204" pitchFamily="34" charset="0"/>
                <a:cs typeface="Arial" panose="020B0604020202020204" pitchFamily="34" charset="0"/>
              </a:rPr>
              <a:t>self</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Ensure do-able/differentiated </a:t>
            </a:r>
            <a:r>
              <a:rPr lang="en-GB" altLang="en-US" sz="2400" dirty="0" smtClean="0">
                <a:latin typeface="Arial" panose="020B0604020202020204" pitchFamily="34" charset="0"/>
                <a:cs typeface="Arial" panose="020B0604020202020204" pitchFamily="34" charset="0"/>
              </a:rPr>
              <a:t>activities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Step back from aggression and use “safety routine” – accompanied “time out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Worry Box and Permission </a:t>
            </a:r>
            <a:r>
              <a:rPr lang="en-GB" altLang="en-US" sz="2400" dirty="0" smtClean="0">
                <a:latin typeface="Arial" panose="020B0604020202020204" pitchFamily="34" charset="0"/>
                <a:cs typeface="Arial" panose="020B0604020202020204" pitchFamily="34" charset="0"/>
              </a:rPr>
              <a:t>Cards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5765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Supporting </a:t>
            </a:r>
            <a:r>
              <a:rPr lang="en-GB" sz="4400" dirty="0" smtClean="0"/>
              <a:t>individuals </a:t>
            </a:r>
            <a:r>
              <a:rPr lang="en-GB" sz="4400" dirty="0"/>
              <a:t>via </a:t>
            </a:r>
            <a:r>
              <a:rPr lang="en-GB" sz="4400" b="1" dirty="0" smtClean="0"/>
              <a:t>direct input</a:t>
            </a:r>
            <a:r>
              <a:rPr lang="en-GB" sz="4400" dirty="0" smtClean="0"/>
              <a:t> </a:t>
            </a:r>
            <a:r>
              <a:rPr lang="en-GB" sz="4400" dirty="0"/>
              <a:t>across all Key Stages: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74591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Solution-focused </a:t>
            </a:r>
            <a:r>
              <a:rPr lang="en-GB" altLang="en-US" sz="2400" dirty="0">
                <a:latin typeface="Arial" panose="020B0604020202020204" pitchFamily="34" charset="0"/>
                <a:cs typeface="Arial" panose="020B0604020202020204" pitchFamily="34" charset="0"/>
              </a:rPr>
              <a:t>approaches to increase self-esteem and engagement</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PACE </a:t>
            </a:r>
            <a:r>
              <a:rPr lang="en-GB" altLang="en-US" sz="2400" dirty="0">
                <a:latin typeface="Arial" panose="020B0604020202020204" pitchFamily="34" charset="0"/>
                <a:cs typeface="Arial" panose="020B0604020202020204" pitchFamily="34" charset="0"/>
              </a:rPr>
              <a:t>approach (Dan Hughes 2003)</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tools are particularly useful for promoting behaviour change, building aspirations and resilience and will ultimately increase learning </a:t>
            </a:r>
            <a:r>
              <a:rPr lang="en-GB" altLang="en-US" sz="2400" dirty="0" smtClean="0">
                <a:latin typeface="Arial" panose="020B0604020202020204" pitchFamily="34" charset="0"/>
                <a:cs typeface="Arial" panose="020B0604020202020204" pitchFamily="34" charset="0"/>
              </a:rPr>
              <a:t>skills. It </a:t>
            </a:r>
            <a:r>
              <a:rPr lang="en-GB" altLang="en-US" sz="2400" dirty="0">
                <a:latin typeface="Arial" panose="020B0604020202020204" pitchFamily="34" charset="0"/>
                <a:cs typeface="Arial" panose="020B0604020202020204" pitchFamily="34" charset="0"/>
              </a:rPr>
              <a:t>is </a:t>
            </a:r>
            <a:r>
              <a:rPr lang="en-GB" altLang="en-US" sz="2400" dirty="0" smtClean="0">
                <a:latin typeface="Arial" panose="020B0604020202020204" pitchFamily="34" charset="0"/>
                <a:cs typeface="Arial" panose="020B0604020202020204" pitchFamily="34" charset="0"/>
              </a:rPr>
              <a:t>all </a:t>
            </a:r>
            <a:r>
              <a:rPr lang="en-GB" altLang="en-US" sz="2400" dirty="0">
                <a:latin typeface="Arial" panose="020B0604020202020204" pitchFamily="34" charset="0"/>
                <a:cs typeface="Arial" panose="020B0604020202020204" pitchFamily="34" charset="0"/>
              </a:rPr>
              <a:t>in the </a:t>
            </a:r>
            <a:r>
              <a:rPr lang="en-GB" altLang="en-US" sz="2400" b="1" dirty="0" smtClean="0">
                <a:latin typeface="Arial" panose="020B0604020202020204" pitchFamily="34" charset="0"/>
                <a:cs typeface="Arial" panose="020B0604020202020204" pitchFamily="34" charset="0"/>
              </a:rPr>
              <a:t>relationship.</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1843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600" dirty="0"/>
              <a:t>A s</a:t>
            </a:r>
            <a:r>
              <a:rPr lang="en-GB" sz="3600" dirty="0" smtClean="0"/>
              <a:t>olution-focused approach </a:t>
            </a:r>
            <a:r>
              <a:rPr lang="en-GB" sz="3600" dirty="0"/>
              <a:t>to increase self-esteem and engagement</a:t>
            </a:r>
            <a:endParaRPr lang="es-ES" sz="3600" dirty="0">
              <a:solidFill>
                <a:schemeClr val="bg1">
                  <a:lumMod val="50000"/>
                </a:schemeClr>
              </a:solidFill>
              <a:latin typeface="Calibri" charset="0"/>
            </a:endParaRPr>
          </a:p>
        </p:txBody>
      </p:sp>
      <p:sp>
        <p:nvSpPr>
          <p:cNvPr id="3" name="Rectangle 2"/>
          <p:cNvSpPr/>
          <p:nvPr/>
        </p:nvSpPr>
        <p:spPr>
          <a:xfrm>
            <a:off x="307909" y="1436631"/>
            <a:ext cx="8490857" cy="464050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Change the focus from the problem to solution of a preferred future for the young </a:t>
            </a:r>
            <a:r>
              <a:rPr lang="en-GB" altLang="en-US" sz="2400" dirty="0" smtClean="0">
                <a:latin typeface="Arial" panose="020B0604020202020204" pitchFamily="34" charset="0"/>
                <a:cs typeface="Arial" panose="020B0604020202020204" pitchFamily="34" charset="0"/>
              </a:rPr>
              <a:t>person</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See </a:t>
            </a:r>
            <a:r>
              <a:rPr lang="en-GB" altLang="en-US" sz="2400" dirty="0">
                <a:latin typeface="Arial" panose="020B0604020202020204" pitchFamily="34" charset="0"/>
                <a:cs typeface="Arial" panose="020B0604020202020204" pitchFamily="34" charset="0"/>
              </a:rPr>
              <a:t>a person as being more than their </a:t>
            </a:r>
            <a:r>
              <a:rPr lang="en-GB" altLang="en-US" sz="2400" dirty="0" smtClean="0">
                <a:latin typeface="Arial" panose="020B0604020202020204" pitchFamily="34" charset="0"/>
                <a:cs typeface="Arial" panose="020B0604020202020204" pitchFamily="34" charset="0"/>
              </a:rPr>
              <a:t>problem</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Look </a:t>
            </a:r>
            <a:r>
              <a:rPr lang="en-GB" altLang="en-US" sz="2400" dirty="0">
                <a:latin typeface="Arial" panose="020B0604020202020204" pitchFamily="34" charset="0"/>
                <a:cs typeface="Arial" panose="020B0604020202020204" pitchFamily="34" charset="0"/>
              </a:rPr>
              <a:t>for resources rather  than </a:t>
            </a:r>
            <a:r>
              <a:rPr lang="en-GB" altLang="en-US" sz="2400" dirty="0" smtClean="0">
                <a:latin typeface="Arial" panose="020B0604020202020204" pitchFamily="34" charset="0"/>
                <a:cs typeface="Arial" panose="020B0604020202020204" pitchFamily="34" charset="0"/>
              </a:rPr>
              <a:t>deficits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explore possible and preferred </a:t>
            </a:r>
            <a:r>
              <a:rPr lang="en-GB" altLang="en-US" sz="2400" dirty="0" smtClean="0">
                <a:latin typeface="Arial" panose="020B0604020202020204" pitchFamily="34" charset="0"/>
                <a:cs typeface="Arial" panose="020B0604020202020204" pitchFamily="34" charset="0"/>
              </a:rPr>
              <a:t>futures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a:t>
            </a:r>
            <a:r>
              <a:rPr lang="en-GB" altLang="en-US" sz="2400" dirty="0" smtClean="0">
                <a:latin typeface="Arial" panose="020B0604020202020204" pitchFamily="34" charset="0"/>
                <a:cs typeface="Arial" panose="020B0604020202020204" pitchFamily="34" charset="0"/>
              </a:rPr>
              <a:t>o </a:t>
            </a:r>
            <a:r>
              <a:rPr lang="en-GB" altLang="en-US" sz="2400" dirty="0">
                <a:latin typeface="Arial" panose="020B0604020202020204" pitchFamily="34" charset="0"/>
                <a:cs typeface="Arial" panose="020B0604020202020204" pitchFamily="34" charset="0"/>
              </a:rPr>
              <a:t>treat young person as the experts in all aspects to their lives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4821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Problem-free </a:t>
            </a:r>
            <a:r>
              <a:rPr lang="en-GB" sz="4400" dirty="0"/>
              <a:t>Talk</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00725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 know very little about you except what brings you here today.   How do you spend your day?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interested 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good at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Exceptions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doesn’t the problem happen?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 it seem to be less intense?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 you resist the urge to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come you still go to school/work/etc on some days?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49485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Coping</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24315"/>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situation sounds pretty overwhelming, how do you cope?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have you been getting through?</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your friends admire about the way you have coped with this</a:t>
            </a:r>
            <a:r>
              <a:rPr lang="en-GB" altLang="en-US" sz="2400" dirty="0" smtClean="0">
                <a:latin typeface="Arial" panose="020B0604020202020204" pitchFamily="34" charset="0"/>
                <a:cs typeface="Arial" panose="020B0604020202020204" pitchFamily="34" charset="0"/>
              </a:rPr>
              <a:t>?</a:t>
            </a:r>
          </a:p>
          <a:p>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Locating resources/building on strengths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you’ve faced this problem in the past, how did you resolve it?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would you know if you were doing that again?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would it look like?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8777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7192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can help?</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410712"/>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View </a:t>
            </a:r>
            <a:r>
              <a:rPr lang="en-GB" altLang="en-US" sz="2400" b="1" dirty="0">
                <a:latin typeface="Arial" panose="020B0604020202020204" pitchFamily="34" charset="0"/>
                <a:cs typeface="Arial" panose="020B0604020202020204" pitchFamily="34" charset="0"/>
              </a:rPr>
              <a:t>of Self: identify questions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does that teach you about yourself?</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 you know now about yourself that you didn’t know last week?</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If you read about someone who had been through exactly this, what would you think of them?</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Scales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On a scale of 0-10, with 0 being the worst that things have been in your life and 10 representing the achievement of your best hopes, where are you today?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is it you are doing that means you are at … and not 0?</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point on the scale would you like to reach? Who can help you? How can you help yourself?</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990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Other </a:t>
            </a:r>
            <a:r>
              <a:rPr lang="en-GB" sz="4400" dirty="0"/>
              <a:t>people’s</a:t>
            </a:r>
            <a:r>
              <a:rPr lang="en-GB" sz="4000" dirty="0"/>
              <a:t> perspective</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699474"/>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first teacher to notice you’ve moved up one point on your scale?</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hardest to convince that you mean business this time? </a:t>
            </a:r>
            <a:endParaRPr lang="en-GB" altLang="en-US" sz="28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What </a:t>
            </a:r>
            <a:r>
              <a:rPr lang="en-GB" altLang="en-US" sz="2800" dirty="0">
                <a:latin typeface="Arial" panose="020B0604020202020204" pitchFamily="34" charset="0"/>
                <a:cs typeface="Arial" panose="020B0604020202020204" pitchFamily="34" charset="0"/>
              </a:rPr>
              <a:t>will he/she need to see?</a:t>
            </a:r>
          </a:p>
          <a:p>
            <a:endParaRPr lang="en-GB" altLang="en-US" sz="2800" dirty="0">
              <a:latin typeface="Arial" panose="020B0604020202020204" pitchFamily="34" charset="0"/>
              <a:cs typeface="Arial" panose="020B0604020202020204" pitchFamily="34" charset="0"/>
            </a:endParaRPr>
          </a:p>
          <a:p>
            <a:r>
              <a:rPr lang="en-GB" altLang="en-US" sz="2800" b="1" dirty="0">
                <a:latin typeface="Arial" panose="020B0604020202020204" pitchFamily="34" charset="0"/>
                <a:cs typeface="Arial" panose="020B0604020202020204" pitchFamily="34" charset="0"/>
              </a:rPr>
              <a:t>S</a:t>
            </a:r>
            <a:r>
              <a:rPr lang="en-GB" altLang="en-US" sz="2800" b="1" dirty="0" smtClean="0">
                <a:latin typeface="Arial" panose="020B0604020202020204" pitchFamily="34" charset="0"/>
                <a:cs typeface="Arial" panose="020B0604020202020204" pitchFamily="34" charset="0"/>
              </a:rPr>
              <a:t>imilar to CBT behavioural experiments</a:t>
            </a:r>
            <a:endParaRPr lang="en-US" alt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2048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a:t>
            </a:r>
            <a:r>
              <a:rPr lang="en-GB" sz="4400" dirty="0" smtClean="0"/>
              <a:t>truly </a:t>
            </a:r>
            <a:r>
              <a:rPr lang="en-GB" sz="4400" dirty="0"/>
              <a:t>useful </a:t>
            </a:r>
            <a:r>
              <a:rPr lang="en-GB" sz="4400" dirty="0" smtClean="0"/>
              <a:t>tool</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3342453"/>
          </a:xfrm>
          <a:prstGeom prst="rect">
            <a:avLst/>
          </a:prstGeom>
        </p:spPr>
        <p:txBody>
          <a:bodyPr wrap="square">
            <a:spAutoFit/>
          </a:bodyPr>
          <a:lstStyle/>
          <a:p>
            <a:pPr>
              <a:lnSpc>
                <a:spcPct val="80000"/>
              </a:lnSpc>
            </a:pPr>
            <a:endParaRPr lang="en-GB" altLang="en-US" sz="2400" dirty="0" smtClean="0">
              <a:latin typeface="Arial" panose="020B0604020202020204" pitchFamily="34" charset="0"/>
              <a:cs typeface="Arial" panose="020B0604020202020204" pitchFamily="34" charset="0"/>
            </a:endParaRPr>
          </a:p>
          <a:p>
            <a:r>
              <a:rPr lang="en-GB" altLang="en-US" sz="3200" b="1" dirty="0" smtClean="0">
                <a:latin typeface="Arial" panose="020B0604020202020204" pitchFamily="34" charset="0"/>
                <a:cs typeface="Arial" panose="020B0604020202020204" pitchFamily="34" charset="0"/>
              </a:rPr>
              <a:t>PACE</a:t>
            </a:r>
            <a:r>
              <a:rPr lang="en-GB" altLang="en-US" sz="3200" dirty="0" smtClean="0">
                <a:latin typeface="Arial" panose="020B0604020202020204" pitchFamily="34" charset="0"/>
                <a:cs typeface="Arial" panose="020B0604020202020204" pitchFamily="34" charset="0"/>
              </a:rPr>
              <a:t> means </a:t>
            </a:r>
            <a:r>
              <a:rPr lang="en-GB" altLang="en-US" sz="3200" dirty="0">
                <a:latin typeface="Arial" panose="020B0604020202020204" pitchFamily="34" charset="0"/>
                <a:cs typeface="Arial" panose="020B0604020202020204" pitchFamily="34" charset="0"/>
              </a:rPr>
              <a:t>of ensuring that the </a:t>
            </a:r>
            <a:r>
              <a:rPr lang="en-GB" altLang="en-US" sz="3200" b="1" dirty="0" smtClean="0">
                <a:latin typeface="Arial" panose="020B0604020202020204" pitchFamily="34" charset="0"/>
                <a:cs typeface="Arial" panose="020B0604020202020204" pitchFamily="34" charset="0"/>
              </a:rPr>
              <a:t>adult</a:t>
            </a:r>
            <a:r>
              <a:rPr lang="en-GB" altLang="en-US" sz="3200" dirty="0" smtClean="0">
                <a:latin typeface="Arial" panose="020B0604020202020204" pitchFamily="34" charset="0"/>
                <a:cs typeface="Arial" panose="020B0604020202020204" pitchFamily="34" charset="0"/>
              </a:rPr>
              <a:t> </a:t>
            </a:r>
            <a:r>
              <a:rPr lang="en-GB" altLang="en-US" sz="3200" dirty="0">
                <a:latin typeface="Arial" panose="020B0604020202020204" pitchFamily="34" charset="0"/>
                <a:cs typeface="Arial" panose="020B0604020202020204" pitchFamily="34" charset="0"/>
              </a:rPr>
              <a:t>(</a:t>
            </a:r>
            <a:r>
              <a:rPr lang="en-GB" altLang="en-US" sz="3200" dirty="0" smtClean="0">
                <a:latin typeface="Arial" panose="020B0604020202020204" pitchFamily="34" charset="0"/>
                <a:cs typeface="Arial" panose="020B0604020202020204" pitchFamily="34" charset="0"/>
              </a:rPr>
              <a:t>you) </a:t>
            </a:r>
            <a:r>
              <a:rPr lang="en-GB" altLang="en-US" sz="3200" dirty="0">
                <a:latin typeface="Arial" panose="020B0604020202020204" pitchFamily="34" charset="0"/>
                <a:cs typeface="Arial" panose="020B0604020202020204" pitchFamily="34" charset="0"/>
              </a:rPr>
              <a:t>remain emotionally engaged and available to the child – </a:t>
            </a:r>
            <a:r>
              <a:rPr lang="en-GB" altLang="en-US" sz="3200" b="1" dirty="0" smtClean="0">
                <a:latin typeface="Arial" panose="020B0604020202020204" pitchFamily="34" charset="0"/>
                <a:cs typeface="Arial" panose="020B0604020202020204" pitchFamily="34" charset="0"/>
              </a:rPr>
              <a:t>a tall order</a:t>
            </a:r>
          </a:p>
          <a:p>
            <a:endParaRPr lang="en-GB" altLang="en-US" sz="3200" dirty="0">
              <a:latin typeface="Arial" panose="020B0604020202020204" pitchFamily="34" charset="0"/>
              <a:cs typeface="Arial" panose="020B0604020202020204" pitchFamily="34" charset="0"/>
            </a:endParaRPr>
          </a:p>
          <a:p>
            <a:r>
              <a:rPr lang="en-GB" altLang="en-US" sz="3200" dirty="0" smtClean="0">
                <a:latin typeface="Arial" panose="020B0604020202020204" pitchFamily="34" charset="0"/>
                <a:cs typeface="Arial" panose="020B0604020202020204" pitchFamily="34" charset="0"/>
              </a:rPr>
              <a:t>Don’t </a:t>
            </a:r>
            <a:r>
              <a:rPr lang="en-GB" altLang="en-US" sz="3200" dirty="0">
                <a:latin typeface="Arial" panose="020B0604020202020204" pitchFamily="34" charset="0"/>
                <a:cs typeface="Arial" panose="020B0604020202020204" pitchFamily="34" charset="0"/>
              </a:rPr>
              <a:t>forget the value and importance of peer support and networks</a:t>
            </a:r>
            <a:endParaRPr lang="en-US"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8955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smtClean="0"/>
              <a:t>PACE </a:t>
            </a:r>
            <a:r>
              <a:rPr lang="en-GB" sz="4000" dirty="0"/>
              <a:t>– </a:t>
            </a:r>
            <a:r>
              <a:rPr lang="en-GB" sz="4000" dirty="0" smtClean="0"/>
              <a:t>Playful, Accepting</a:t>
            </a:r>
            <a:r>
              <a:rPr lang="en-GB" sz="4000" dirty="0"/>
              <a:t>, Curious and Empathic</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859518"/>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Therapist/Teacher </a:t>
            </a:r>
            <a:r>
              <a:rPr lang="en-GB" altLang="en-US" sz="2800" dirty="0">
                <a:latin typeface="Arial" panose="020B0604020202020204" pitchFamily="34" charset="0"/>
                <a:cs typeface="Arial" panose="020B0604020202020204" pitchFamily="34" charset="0"/>
              </a:rPr>
              <a:t>becomes attuned to the child’s “subjective experiences” and reflects these back to the child by means of eye contact, facial expressions, voice tone, timing and touch – “co-regulates” emotional affect and co-constructs an alternative autobiographical narrative with child.</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394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815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Curiosity: This is the starting point of being able to relate to the </a:t>
            </a:r>
            <a:r>
              <a:rPr lang="en-GB" sz="2800" dirty="0" smtClean="0"/>
              <a:t>young person </a:t>
            </a:r>
            <a:r>
              <a:rPr lang="en-GB" sz="2800" dirty="0"/>
              <a:t>and to help the child to learn to manage feelings and to think about experience</a:t>
            </a:r>
            <a:endParaRPr lang="es-ES" sz="2800" dirty="0">
              <a:solidFill>
                <a:schemeClr val="bg1">
                  <a:lumMod val="50000"/>
                </a:schemeClr>
              </a:solidFill>
              <a:latin typeface="Calibri" charset="0"/>
            </a:endParaRPr>
          </a:p>
        </p:txBody>
      </p:sp>
      <p:sp>
        <p:nvSpPr>
          <p:cNvPr id="3" name="Rectangle 2"/>
          <p:cNvSpPr/>
          <p:nvPr/>
        </p:nvSpPr>
        <p:spPr>
          <a:xfrm>
            <a:off x="135293" y="1337481"/>
            <a:ext cx="8663474"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Includes wondering with the YP about the meaning behind the behaviour being displayed.  It is different from asking a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why s/he did something in a confrontational manner.  It is more an attitude of figuring out what is going on</a:t>
            </a:r>
            <a:r>
              <a:rPr lang="en-GB" altLang="en-US" sz="2400" dirty="0" smtClean="0">
                <a:latin typeface="Arial" panose="020B0604020202020204" pitchFamily="34" charset="0"/>
                <a:cs typeface="Arial" panose="020B0604020202020204" pitchFamily="34" charset="0"/>
              </a:rPr>
              <a:t>.</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Having an attitude of curiosity can lead to feelings of empathy for the </a:t>
            </a:r>
            <a:r>
              <a:rPr lang="en-GB" altLang="en-US" sz="2400" dirty="0" smtClean="0">
                <a:latin typeface="Arial" panose="020B0604020202020204" pitchFamily="34" charset="0"/>
                <a:cs typeface="Arial" panose="020B0604020202020204" pitchFamily="34" charset="0"/>
              </a:rPr>
              <a:t>young person</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will then be more willing and able to think about the behaviour and the consequences that </a:t>
            </a:r>
            <a:r>
              <a:rPr lang="en-GB" altLang="en-US" sz="2400" dirty="0" smtClean="0">
                <a:latin typeface="Arial" panose="020B0604020202020204" pitchFamily="34" charset="0"/>
                <a:cs typeface="Arial" panose="020B0604020202020204" pitchFamily="34" charset="0"/>
              </a:rPr>
              <a:t>ensued</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Curiosity sometimes means making best guesses about what is  going on.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and adult can figure it out together as </a:t>
            </a:r>
            <a:r>
              <a:rPr lang="en-GB" altLang="en-US" sz="2400" dirty="0" smtClean="0">
                <a:latin typeface="Arial" panose="020B0604020202020204" pitchFamily="34" charset="0"/>
                <a:cs typeface="Arial" panose="020B0604020202020204" pitchFamily="34" charset="0"/>
              </a:rPr>
              <a:t>the young person </a:t>
            </a:r>
            <a:r>
              <a:rPr lang="en-GB" altLang="en-US" sz="2400" dirty="0">
                <a:latin typeface="Arial" panose="020B0604020202020204" pitchFamily="34" charset="0"/>
                <a:cs typeface="Arial" panose="020B0604020202020204" pitchFamily="34" charset="0"/>
              </a:rPr>
              <a:t>may genuinely not understand the behaviour themselves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05505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3849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Acceptance: Following curiosity come acceptance. Acceptance means understanding why the </a:t>
            </a:r>
            <a:r>
              <a:rPr lang="en-GB" sz="2800" dirty="0" smtClean="0"/>
              <a:t>young person </a:t>
            </a:r>
            <a:r>
              <a:rPr lang="en-GB" sz="2800" dirty="0"/>
              <a:t>felt s/he had to behave as s/he did</a:t>
            </a:r>
            <a:endParaRPr lang="es-ES" sz="28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adult accepts both the behavioural choices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is making and the feelings that underlie these </a:t>
            </a:r>
            <a:r>
              <a:rPr lang="en-GB" altLang="en-US" sz="2400" dirty="0" smtClean="0">
                <a:latin typeface="Arial" panose="020B0604020202020204" pitchFamily="34" charset="0"/>
                <a:cs typeface="Arial" panose="020B0604020202020204" pitchFamily="34" charset="0"/>
              </a:rPr>
              <a:t>choices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Acceptance conveys understanding rather than condoning of the behaviour.  As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feels understood s/he will be more willing to think with the adult about the consequences to the behaviour that s/he now has to </a:t>
            </a:r>
            <a:r>
              <a:rPr lang="en-GB" altLang="en-US" sz="2400" dirty="0" smtClean="0">
                <a:latin typeface="Arial" panose="020B0604020202020204" pitchFamily="34" charset="0"/>
                <a:cs typeface="Arial" panose="020B0604020202020204" pitchFamily="34" charset="0"/>
              </a:rPr>
              <a:t>face</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empathise the adult needs to enter imaginatively into the experience of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Acceptance of this inner experience is communicated to adult helping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to feel that his or her inner life is important and valued.</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12966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200" dirty="0"/>
              <a:t>Playfulness: At times a playful attitude can be a key factor in helping a </a:t>
            </a:r>
            <a:r>
              <a:rPr lang="en-GB" sz="3200" dirty="0" smtClean="0"/>
              <a:t>young person </a:t>
            </a:r>
            <a:r>
              <a:rPr lang="en-GB" sz="3200" dirty="0"/>
              <a:t>feel connected within the relationship</a:t>
            </a:r>
            <a:endParaRPr lang="es-ES" sz="3200" dirty="0">
              <a:solidFill>
                <a:schemeClr val="bg1">
                  <a:lumMod val="50000"/>
                </a:schemeClr>
              </a:solidFill>
              <a:latin typeface="Calibri" charset="0"/>
            </a:endParaRPr>
          </a:p>
        </p:txBody>
      </p:sp>
      <p:sp>
        <p:nvSpPr>
          <p:cNvPr id="3" name="Rectangle 2"/>
          <p:cNvSpPr/>
          <p:nvPr/>
        </p:nvSpPr>
        <p:spPr>
          <a:xfrm>
            <a:off x="307909" y="1436631"/>
            <a:ext cx="8490857" cy="347787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 light-hearted, relaxed and playful attitude can </a:t>
            </a:r>
            <a:r>
              <a:rPr lang="en-GB" altLang="en-US" sz="2800" b="1" dirty="0">
                <a:latin typeface="Arial" panose="020B0604020202020204" pitchFamily="34" charset="0"/>
                <a:cs typeface="Arial" panose="020B0604020202020204" pitchFamily="34" charset="0"/>
              </a:rPr>
              <a:t>help</a:t>
            </a:r>
            <a:r>
              <a:rPr lang="en-GB" altLang="en-US" sz="2800" dirty="0">
                <a:latin typeface="Arial" panose="020B0604020202020204" pitchFamily="34" charset="0"/>
                <a:cs typeface="Arial" panose="020B0604020202020204" pitchFamily="34" charset="0"/>
              </a:rPr>
              <a:t> the child, sometimes unexpectedly, to experience fun and love. </a:t>
            </a:r>
            <a:r>
              <a:rPr lang="en-GB" altLang="en-US" sz="2800" dirty="0" smtClean="0">
                <a:latin typeface="Arial" panose="020B0604020202020204" pitchFamily="34" charset="0"/>
                <a:cs typeface="Arial" panose="020B0604020202020204" pitchFamily="34" charset="0"/>
              </a:rPr>
              <a:t>If </a:t>
            </a:r>
            <a:r>
              <a:rPr lang="en-GB" altLang="en-US" sz="2800" dirty="0">
                <a:latin typeface="Arial" panose="020B0604020202020204" pitchFamily="34" charset="0"/>
                <a:cs typeface="Arial" panose="020B0604020202020204" pitchFamily="34" charset="0"/>
              </a:rPr>
              <a:t>the resistant </a:t>
            </a:r>
            <a:r>
              <a:rPr lang="en-GB" altLang="en-US" sz="2800" dirty="0" smtClean="0">
                <a:latin typeface="Arial" panose="020B0604020202020204" pitchFamily="34" charset="0"/>
                <a:cs typeface="Arial" panose="020B0604020202020204" pitchFamily="34" charset="0"/>
              </a:rPr>
              <a:t>young person </a:t>
            </a:r>
            <a:r>
              <a:rPr lang="en-GB" altLang="en-US" sz="2800" dirty="0">
                <a:latin typeface="Arial" panose="020B0604020202020204" pitchFamily="34" charset="0"/>
                <a:cs typeface="Arial" panose="020B0604020202020204" pitchFamily="34" charset="0"/>
              </a:rPr>
              <a:t>does not see it coming and if it is over quickly s/he will find it harder to avoid and disengage</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530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Back to you. You need:</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61249"/>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Inclusive </a:t>
            </a:r>
            <a:r>
              <a:rPr lang="en-GB" altLang="en-US" sz="2800" dirty="0">
                <a:latin typeface="Arial" panose="020B0604020202020204" pitchFamily="34" charset="0"/>
                <a:cs typeface="Arial" panose="020B0604020202020204" pitchFamily="34" charset="0"/>
              </a:rPr>
              <a:t>school culture</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Enabling Leadership</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Differentiated curriculum – </a:t>
            </a:r>
            <a:r>
              <a:rPr lang="en-GB" altLang="en-US" sz="2800" b="1" dirty="0" smtClean="0">
                <a:latin typeface="Arial" panose="020B0604020202020204" pitchFamily="34" charset="0"/>
                <a:cs typeface="Arial" panose="020B0604020202020204" pitchFamily="34" charset="0"/>
              </a:rPr>
              <a:t>no cliches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Teaching </a:t>
            </a:r>
            <a:r>
              <a:rPr lang="en-GB" altLang="en-US" sz="2800" dirty="0">
                <a:latin typeface="Arial" panose="020B0604020202020204" pitchFamily="34" charset="0"/>
                <a:cs typeface="Arial" panose="020B0604020202020204" pitchFamily="34" charset="0"/>
              </a:rPr>
              <a:t>and learning based upon respect, consistency, structure and shared responsibility</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Explicit policies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Pupil participation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Assessment, recording and celebration of achievement</a:t>
            </a:r>
          </a:p>
        </p:txBody>
      </p:sp>
    </p:spTree>
    <p:extLst>
      <p:ext uri="{BB962C8B-B14F-4D97-AF65-F5344CB8AC3E}">
        <p14:creationId xmlns:p14="http://schemas.microsoft.com/office/powerpoint/2010/main" val="2308479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And</a:t>
            </a:r>
            <a:r>
              <a:rPr lang="en-GB" sz="4400" dirty="0"/>
              <a: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69667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Consistent </a:t>
            </a:r>
            <a:r>
              <a:rPr lang="en-GB" altLang="en-US" sz="2800" dirty="0">
                <a:latin typeface="Arial" panose="020B0604020202020204" pitchFamily="34" charset="0"/>
                <a:cs typeface="Arial" panose="020B0604020202020204" pitchFamily="34" charset="0"/>
              </a:rPr>
              <a:t>systems and approaches for transfer of information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Transition specific support systems in place at all times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On going staff training to ensure awareness and understanding and </a:t>
            </a:r>
            <a:r>
              <a:rPr lang="en-GB" altLang="en-US" sz="2800" b="1" dirty="0">
                <a:latin typeface="Arial" panose="020B0604020202020204" pitchFamily="34" charset="0"/>
                <a:cs typeface="Arial" panose="020B0604020202020204" pitchFamily="34" charset="0"/>
              </a:rPr>
              <a:t>commitment</a:t>
            </a:r>
            <a:r>
              <a:rPr lang="en-GB" altLang="en-US" sz="2800" dirty="0">
                <a:latin typeface="Arial" panose="020B0604020202020204" pitchFamily="34" charset="0"/>
                <a:cs typeface="Arial" panose="020B0604020202020204" pitchFamily="34" charset="0"/>
              </a:rPr>
              <a:t> to the inclusion of </a:t>
            </a:r>
            <a:r>
              <a:rPr lang="en-GB" altLang="en-US" sz="2800" b="1" dirty="0" smtClean="0">
                <a:latin typeface="Arial" panose="020B0604020202020204" pitchFamily="34" charset="0"/>
                <a:cs typeface="Arial" panose="020B0604020202020204" pitchFamily="34" charset="0"/>
              </a:rPr>
              <a:t>all</a:t>
            </a:r>
            <a:r>
              <a:rPr lang="en-GB" altLang="en-US" sz="2800" dirty="0" smtClean="0">
                <a:latin typeface="Arial" panose="020B0604020202020204" pitchFamily="34" charset="0"/>
                <a:cs typeface="Arial" panose="020B0604020202020204" pitchFamily="34" charset="0"/>
              </a:rPr>
              <a:t> </a:t>
            </a:r>
            <a:r>
              <a:rPr lang="en-GB" altLang="en-US" sz="2800" dirty="0">
                <a:latin typeface="Arial" panose="020B0604020202020204" pitchFamily="34" charset="0"/>
                <a:cs typeface="Arial" panose="020B0604020202020204" pitchFamily="34" charset="0"/>
              </a:rPr>
              <a:t>children with attachment disorders and complex needs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Need </a:t>
            </a:r>
            <a:r>
              <a:rPr lang="en-GB" altLang="en-US" sz="2800" dirty="0">
                <a:latin typeface="Arial" panose="020B0604020202020204" pitchFamily="34" charset="0"/>
                <a:cs typeface="Arial" panose="020B0604020202020204" pitchFamily="34" charset="0"/>
              </a:rPr>
              <a:t>to discuss? </a:t>
            </a:r>
            <a:endParaRPr lang="en-GB" altLang="en-US" sz="28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Implications</a:t>
            </a:r>
            <a:r>
              <a:rPr lang="en-GB" altLang="en-US"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7984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524188"/>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Bibliography</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89364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Bomber </a:t>
            </a:r>
            <a:r>
              <a:rPr lang="en-GB" altLang="en-US" sz="2400" dirty="0">
                <a:latin typeface="Arial" panose="020B0604020202020204" pitchFamily="34" charset="0"/>
                <a:cs typeface="Arial" panose="020B0604020202020204" pitchFamily="34" charset="0"/>
              </a:rPr>
              <a:t>L M (2007) “Inside I’m Hurting”,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Boyd Webb N (ed) (2006) “Working with Traumatized Youth in Child Welfare”, Guildford Press, NY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Cairns K &amp; Stanway C (2004) “Learn the Child”, British Association for Adoption and Fostering (BAAF),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Geddes H (2006) “Attachment in the Classroom”,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Hughes D (2003) “Psychological intervention for the spectrum of attachment disorders and intrafamilial trauma. Attachment and Human Development 5, 271-279</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Jemberg M and Booth P (1999) “Therapy”, 2</a:t>
            </a:r>
            <a:r>
              <a:rPr lang="en-GB" altLang="en-US" sz="2400" baseline="30000" dirty="0">
                <a:latin typeface="Arial" panose="020B0604020202020204" pitchFamily="34" charset="0"/>
                <a:cs typeface="Arial" panose="020B0604020202020204" pitchFamily="34" charset="0"/>
              </a:rPr>
              <a:t>nd</a:t>
            </a:r>
            <a:r>
              <a:rPr lang="en-GB" altLang="en-US" sz="2400" dirty="0">
                <a:latin typeface="Arial" panose="020B0604020202020204" pitchFamily="34" charset="0"/>
                <a:cs typeface="Arial" panose="020B0604020202020204" pitchFamily="34" charset="0"/>
              </a:rPr>
              <a:t> ed, Jossey-Bass, San Francisco</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5265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468</TotalTime>
  <Words>3081</Words>
  <Application>Microsoft Office PowerPoint</Application>
  <PresentationFormat>On-screen Show (4:3)</PresentationFormat>
  <Paragraphs>517</Paragraphs>
  <Slides>54</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ＭＳ Ｐゴシック</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Aardvark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Heath-Smith</dc:creator>
  <cp:lastModifiedBy>Scott I-Patrick (AfC)</cp:lastModifiedBy>
  <cp:revision>49</cp:revision>
  <dcterms:created xsi:type="dcterms:W3CDTF">2012-12-28T16:36:22Z</dcterms:created>
  <dcterms:modified xsi:type="dcterms:W3CDTF">2019-07-03T06:28:27Z</dcterms:modified>
</cp:coreProperties>
</file>