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32"/>
  </p:notesMasterIdLst>
  <p:handoutMasterIdLst>
    <p:handoutMasterId r:id="rId33"/>
  </p:handoutMasterIdLst>
  <p:sldIdLst>
    <p:sldId id="341" r:id="rId5"/>
    <p:sldId id="328" r:id="rId6"/>
    <p:sldId id="342" r:id="rId7"/>
    <p:sldId id="368" r:id="rId8"/>
    <p:sldId id="372" r:id="rId9"/>
    <p:sldId id="345" r:id="rId10"/>
    <p:sldId id="346" r:id="rId11"/>
    <p:sldId id="347" r:id="rId12"/>
    <p:sldId id="370" r:id="rId13"/>
    <p:sldId id="371" r:id="rId14"/>
    <p:sldId id="348" r:id="rId15"/>
    <p:sldId id="349" r:id="rId16"/>
    <p:sldId id="350" r:id="rId17"/>
    <p:sldId id="352" r:id="rId18"/>
    <p:sldId id="353" r:id="rId19"/>
    <p:sldId id="355" r:id="rId20"/>
    <p:sldId id="356" r:id="rId21"/>
    <p:sldId id="359" r:id="rId22"/>
    <p:sldId id="360" r:id="rId23"/>
    <p:sldId id="361" r:id="rId24"/>
    <p:sldId id="362" r:id="rId25"/>
    <p:sldId id="363" r:id="rId26"/>
    <p:sldId id="364" r:id="rId27"/>
    <p:sldId id="365" r:id="rId28"/>
    <p:sldId id="366" r:id="rId29"/>
    <p:sldId id="367" r:id="rId30"/>
    <p:sldId id="340" r:id="rId31"/>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23">
          <p15:clr>
            <a:srgbClr val="A4A3A4"/>
          </p15:clr>
        </p15:guide>
        <p15:guide id="2" pos="31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inimized">
    <p:restoredLeft sz="15620"/>
    <p:restoredTop sz="56000" autoAdjust="0"/>
  </p:normalViewPr>
  <p:slideViewPr>
    <p:cSldViewPr>
      <p:cViewPr varScale="1">
        <p:scale>
          <a:sx n="27" d="100"/>
          <a:sy n="27" d="100"/>
        </p:scale>
        <p:origin x="404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a:latin typeface="Times New Roman" pitchFamily="18" charset="0"/>
              </a:rPr>
              <a:t>Enquire how many TAs have:</a:t>
            </a:r>
          </a:p>
          <a:p>
            <a:pPr lvl="0">
              <a:buFont typeface="Arial" pitchFamily="34" charset="0"/>
              <a:buChar char="•"/>
            </a:pPr>
            <a:r>
              <a:rPr lang="en-GB" altLang="en-US" baseline="0" dirty="0">
                <a:latin typeface="Times New Roman" pitchFamily="18" charset="0"/>
              </a:rPr>
              <a:t> heard of PT</a:t>
            </a:r>
          </a:p>
          <a:p>
            <a:pPr lvl="0">
              <a:buFont typeface="Arial" pitchFamily="34" charset="0"/>
              <a:buChar char="•"/>
            </a:pPr>
            <a:r>
              <a:rPr lang="en-GB" altLang="en-US" baseline="0" dirty="0">
                <a:latin typeface="Times New Roman" pitchFamily="18" charset="0"/>
              </a:rPr>
              <a:t> done PT training</a:t>
            </a:r>
          </a:p>
          <a:p>
            <a:pPr lvl="0">
              <a:buFont typeface="Arial" pitchFamily="34" charset="0"/>
              <a:buChar char="•"/>
            </a:pPr>
            <a:r>
              <a:rPr lang="en-GB" altLang="en-US" baseline="0" dirty="0">
                <a:latin typeface="Times New Roman" pitchFamily="18" charset="0"/>
              </a:rPr>
              <a:t> ever implemented a PT programme with a child</a:t>
            </a:r>
            <a:endParaRPr lang="en-GB" altLang="en-US" dirty="0">
              <a:latin typeface="Times New Roman" pitchFamily="18" charset="0"/>
            </a:endParaRPr>
          </a:p>
          <a:p>
            <a:pPr eaLnBrk="1" hangingPunct="1"/>
            <a:endParaRPr lang="en-US" altLang="en-US" dirty="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a:p>
          <a:p>
            <a:r>
              <a:rPr lang="en-GB" altLang="en-US"/>
              <a:t>There are 6 steps to delivering precision monitoring;</a:t>
            </a:r>
          </a:p>
          <a:p>
            <a:endParaRPr lang="en-GB" altLang="en-US"/>
          </a:p>
          <a:p>
            <a:pPr>
              <a:lnSpc>
                <a:spcPct val="80000"/>
              </a:lnSpc>
              <a:buFontTx/>
              <a:buAutoNum type="arabicPeriod"/>
            </a:pPr>
            <a:r>
              <a:rPr lang="en-GB" altLang="en-US"/>
              <a:t>Identify a specific difficulty and acquire a baseline.</a:t>
            </a:r>
          </a:p>
          <a:p>
            <a:pPr>
              <a:lnSpc>
                <a:spcPct val="80000"/>
              </a:lnSpc>
            </a:pPr>
            <a:endParaRPr lang="en-GB" altLang="en-US"/>
          </a:p>
          <a:p>
            <a:pPr>
              <a:lnSpc>
                <a:spcPct val="80000"/>
              </a:lnSpc>
              <a:buFontTx/>
              <a:buAutoNum type="arabicPeriod" startAt="2"/>
            </a:pPr>
            <a:r>
              <a:rPr lang="en-GB" altLang="en-US"/>
              <a:t>Setting a target.</a:t>
            </a:r>
          </a:p>
          <a:p>
            <a:pPr>
              <a:lnSpc>
                <a:spcPct val="80000"/>
              </a:lnSpc>
            </a:pPr>
            <a:endParaRPr lang="en-GB" altLang="en-US"/>
          </a:p>
          <a:p>
            <a:pPr>
              <a:lnSpc>
                <a:spcPct val="80000"/>
              </a:lnSpc>
              <a:buFontTx/>
              <a:buAutoNum type="arabicPeriod" startAt="3"/>
            </a:pPr>
            <a:r>
              <a:rPr lang="en-GB" altLang="en-US"/>
              <a:t>Teaching </a:t>
            </a:r>
          </a:p>
          <a:p>
            <a:pPr>
              <a:lnSpc>
                <a:spcPct val="80000"/>
              </a:lnSpc>
              <a:buFontTx/>
              <a:buAutoNum type="arabicPeriod" startAt="3"/>
            </a:pPr>
            <a:endParaRPr lang="en-GB" altLang="en-US"/>
          </a:p>
          <a:p>
            <a:pPr>
              <a:lnSpc>
                <a:spcPct val="80000"/>
              </a:lnSpc>
              <a:buFontTx/>
              <a:buAutoNum type="arabicPeriod" startAt="3"/>
            </a:pPr>
            <a:r>
              <a:rPr lang="en-GB" altLang="en-US"/>
              <a:t>Monitor child’s performance daily. (We’ve used the word PROBE here – we’ll come back to this)</a:t>
            </a:r>
          </a:p>
          <a:p>
            <a:pPr>
              <a:lnSpc>
                <a:spcPct val="80000"/>
              </a:lnSpc>
              <a:buFontTx/>
              <a:buAutoNum type="arabicPeriod" startAt="3"/>
            </a:pPr>
            <a:endParaRPr lang="en-GB" altLang="en-US"/>
          </a:p>
          <a:p>
            <a:pPr>
              <a:lnSpc>
                <a:spcPct val="80000"/>
              </a:lnSpc>
              <a:buFontTx/>
              <a:buAutoNum type="arabicPeriod" startAt="5"/>
            </a:pPr>
            <a:r>
              <a:rPr lang="en-GB" altLang="en-US"/>
              <a:t>Charting results and making a note of teaching methods.</a:t>
            </a:r>
          </a:p>
          <a:p>
            <a:pPr>
              <a:lnSpc>
                <a:spcPct val="80000"/>
              </a:lnSpc>
              <a:buFontTx/>
              <a:buAutoNum type="arabicPeriod" startAt="5"/>
            </a:pPr>
            <a:endParaRPr lang="en-GB" altLang="en-US"/>
          </a:p>
          <a:p>
            <a:pPr>
              <a:lnSpc>
                <a:spcPct val="80000"/>
              </a:lnSpc>
              <a:buFontTx/>
              <a:buAutoNum type="arabicPeriod" startAt="6"/>
            </a:pPr>
            <a:r>
              <a:rPr lang="en-GB" altLang="en-US"/>
              <a:t>Analysing  data to determine if a change of target or  teaching method is needed.</a:t>
            </a:r>
            <a:endParaRPr lang="en-GB" altLang="en-US" i="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altLang="en-US" dirty="0"/>
              <a:t>The next stage is to look at the placement probes results from the baseline assessment that you have carried out. </a:t>
            </a:r>
          </a:p>
          <a:p>
            <a:pPr>
              <a:buFont typeface="Arial" panose="020B0604020202020204" pitchFamily="34" charset="0"/>
              <a:buChar char="•"/>
            </a:pPr>
            <a:r>
              <a:rPr lang="en-GB" altLang="en-US" dirty="0"/>
              <a:t>Decide which area needs to be focused on next (sight words or phonic development)</a:t>
            </a:r>
          </a:p>
          <a:p>
            <a:endParaRPr lang="en-GB" dirty="0"/>
          </a:p>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altLang="en-US" dirty="0"/>
              <a:t>The next stage is to look at the placement probes results from the baseline assessment that you have carried out. </a:t>
            </a:r>
          </a:p>
          <a:p>
            <a:pPr>
              <a:buFont typeface="Arial" panose="020B0604020202020204" pitchFamily="34" charset="0"/>
              <a:buChar char="•"/>
            </a:pPr>
            <a:r>
              <a:rPr lang="en-GB" altLang="en-US" dirty="0"/>
              <a:t>Decide which area needs to be focused on next (sight words or phonic development)</a:t>
            </a:r>
          </a:p>
          <a:p>
            <a:endParaRPr lang="en-GB" dirty="0"/>
          </a:p>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GB" altLang="en-US" dirty="0"/>
          </a:p>
          <a:p>
            <a:endParaRPr lang="en-GB" altLang="en-US" dirty="0"/>
          </a:p>
          <a:p>
            <a:pPr eaLnBrk="1" hangingPunct="1">
              <a:lnSpc>
                <a:spcPct val="90000"/>
              </a:lnSpc>
            </a:pPr>
            <a:r>
              <a:rPr lang="en-GB" altLang="en-US" sz="1200" b="1" dirty="0"/>
              <a:t>SPECIFIC </a:t>
            </a:r>
            <a:r>
              <a:rPr lang="en-GB" altLang="en-US" sz="1200" dirty="0"/>
              <a:t>-Clear objectives, start with small steps but vary step-size according to data</a:t>
            </a:r>
          </a:p>
          <a:p>
            <a:pPr eaLnBrk="1" hangingPunct="1">
              <a:lnSpc>
                <a:spcPct val="90000"/>
              </a:lnSpc>
            </a:pPr>
            <a:r>
              <a:rPr lang="en-GB" altLang="en-US" sz="1200" b="1" dirty="0"/>
              <a:t>MEASURABLE – </a:t>
            </a:r>
            <a:r>
              <a:rPr lang="en-GB" altLang="en-US" sz="1200" dirty="0"/>
              <a:t>set an appropriate aim rate and monitor progress daily by probing and charting results</a:t>
            </a:r>
          </a:p>
          <a:p>
            <a:pPr eaLnBrk="1" hangingPunct="1">
              <a:lnSpc>
                <a:spcPct val="90000"/>
              </a:lnSpc>
            </a:pPr>
            <a:r>
              <a:rPr lang="en-GB" altLang="en-US" sz="1200" b="1" dirty="0"/>
              <a:t>ACHIEVABLE – </a:t>
            </a:r>
            <a:r>
              <a:rPr lang="en-GB" altLang="en-US" sz="1200" dirty="0"/>
              <a:t>get the task difficulty right</a:t>
            </a:r>
          </a:p>
          <a:p>
            <a:pPr eaLnBrk="1" hangingPunct="1">
              <a:lnSpc>
                <a:spcPct val="90000"/>
              </a:lnSpc>
            </a:pPr>
            <a:r>
              <a:rPr lang="en-GB" altLang="en-US" sz="1200" b="1" dirty="0"/>
              <a:t>REALISTIC – </a:t>
            </a:r>
            <a:r>
              <a:rPr lang="en-GB" altLang="en-US" sz="1200" dirty="0"/>
              <a:t>Is the task appropriate? Check pre-requisite skills</a:t>
            </a:r>
          </a:p>
          <a:p>
            <a:pPr eaLnBrk="1" hangingPunct="1">
              <a:lnSpc>
                <a:spcPct val="90000"/>
              </a:lnSpc>
            </a:pPr>
            <a:r>
              <a:rPr lang="en-GB" altLang="en-US" sz="1200" b="1" dirty="0"/>
              <a:t>TIME-RELATED – </a:t>
            </a:r>
            <a:r>
              <a:rPr lang="en-GB" altLang="en-US" sz="1200" dirty="0"/>
              <a:t>Evaluate carefully over an agreed period of time</a:t>
            </a:r>
            <a:endParaRPr lang="en-GB" altLang="en-US" sz="1200" b="1" dirty="0"/>
          </a:p>
          <a:p>
            <a:pPr eaLnBrk="1" hangingPunct="1">
              <a:lnSpc>
                <a:spcPct val="90000"/>
              </a:lnSpc>
            </a:pPr>
            <a:endParaRPr lang="en-GB" altLang="en-US" sz="1200"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GB" altLang="en-US"/>
          </a:p>
          <a:p>
            <a:r>
              <a:rPr lang="en-GB" altLang="en-US"/>
              <a:t>So… In practice…. The target might sound like this….</a:t>
            </a:r>
          </a:p>
          <a:p>
            <a:endParaRPr lang="en-GB" altLang="en-US"/>
          </a:p>
          <a:p>
            <a:r>
              <a:rPr lang="en-GB" altLang="en-US"/>
              <a:t>“Scott will read aloud </a:t>
            </a:r>
            <a:r>
              <a:rPr lang="en-GB" altLang="en-US" sz="900" b="1" i="1">
                <a:solidFill>
                  <a:srgbClr val="FF0000"/>
                </a:solidFill>
              </a:rPr>
              <a:t>(observable verb)</a:t>
            </a:r>
            <a:r>
              <a:rPr lang="en-GB" altLang="en-US" sz="900"/>
              <a:t> </a:t>
            </a:r>
            <a:r>
              <a:rPr lang="en-GB" altLang="en-US" b="1"/>
              <a:t>50</a:t>
            </a:r>
            <a:r>
              <a:rPr lang="en-GB" altLang="en-US"/>
              <a:t> words per minute with no more than </a:t>
            </a:r>
            <a:r>
              <a:rPr lang="en-GB" altLang="en-US" b="1"/>
              <a:t>2</a:t>
            </a:r>
            <a:r>
              <a:rPr lang="en-GB" altLang="en-US"/>
              <a:t> errors </a:t>
            </a:r>
            <a:r>
              <a:rPr lang="en-GB" altLang="en-US" sz="900" b="1" i="1">
                <a:solidFill>
                  <a:schemeClr val="accent1"/>
                </a:solidFill>
              </a:rPr>
              <a:t>(conditions)</a:t>
            </a:r>
            <a:r>
              <a:rPr lang="en-GB" altLang="en-US" sz="900">
                <a:solidFill>
                  <a:schemeClr val="accent1"/>
                </a:solidFill>
              </a:rPr>
              <a:t> </a:t>
            </a:r>
            <a:r>
              <a:rPr lang="en-GB" altLang="en-US"/>
              <a:t>on three consecutive days </a:t>
            </a:r>
            <a:r>
              <a:rPr lang="en-GB" altLang="en-US" sz="900" b="1" i="1">
                <a:solidFill>
                  <a:srgbClr val="0000FF"/>
                </a:solidFill>
              </a:rPr>
              <a:t>(criterion).</a:t>
            </a:r>
            <a:r>
              <a:rPr lang="en-GB" altLang="en-US"/>
              <a:t>”</a:t>
            </a:r>
          </a:p>
          <a:p>
            <a:endParaRPr lang="en-GB" altLang="en-US"/>
          </a:p>
          <a:p>
            <a:r>
              <a:rPr lang="en-GB" altLang="en-US"/>
              <a:t>So within this target we can see….</a:t>
            </a:r>
          </a:p>
          <a:p>
            <a:endParaRPr lang="en-GB" altLang="en-US"/>
          </a:p>
          <a:p>
            <a:r>
              <a:rPr lang="en-GB" altLang="en-US"/>
              <a:t>What we want the child to do (read 50 words per minute)</a:t>
            </a:r>
          </a:p>
          <a:p>
            <a:endParaRPr lang="en-GB" altLang="en-US"/>
          </a:p>
          <a:p>
            <a:r>
              <a:rPr lang="en-GB" altLang="en-US"/>
              <a:t>Teacher instructions (no more than 2 errors)</a:t>
            </a:r>
          </a:p>
          <a:p>
            <a:endParaRPr lang="en-GB" altLang="en-US"/>
          </a:p>
          <a:p>
            <a:r>
              <a:rPr lang="en-GB" altLang="en-US"/>
              <a:t>Success Criteria (3 consecutive days)</a:t>
            </a:r>
          </a:p>
          <a:p>
            <a:endParaRPr lang="en-GB" altLang="en-US"/>
          </a:p>
          <a:p>
            <a:r>
              <a:rPr lang="en-GB" altLang="en-US"/>
              <a:t>….. Any questions</a:t>
            </a:r>
          </a:p>
          <a:p>
            <a:endParaRPr lang="en-GB" altLang="en-US"/>
          </a:p>
          <a:p>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GB" altLang="en-US"/>
          </a:p>
          <a:p>
            <a:r>
              <a:rPr lang="en-GB" altLang="en-US"/>
              <a:t>Direct teaching’ is a useful approach to acquire skills such as</a:t>
            </a:r>
          </a:p>
          <a:p>
            <a:endParaRPr lang="en-GB" altLang="en-US"/>
          </a:p>
          <a:p>
            <a:r>
              <a:rPr lang="en-GB" altLang="en-US"/>
              <a:t>When ‘teaching’ do choose some words that the child already knows</a:t>
            </a:r>
          </a:p>
          <a:p>
            <a:r>
              <a:rPr lang="en-GB" altLang="en-US"/>
              <a:t>Note the teaching method on the chart, keep the teaching method the same so you can equate progress to the child, not the method.</a:t>
            </a:r>
          </a:p>
          <a:p>
            <a:endParaRPr lang="en-GB" altLang="en-US"/>
          </a:p>
          <a:p>
            <a:r>
              <a:rPr lang="en-GB" altLang="en-US"/>
              <a:t>Number bonds</a:t>
            </a:r>
          </a:p>
          <a:p>
            <a:r>
              <a:rPr lang="en-GB" altLang="en-US"/>
              <a:t>High frequency words</a:t>
            </a:r>
          </a:p>
          <a:p>
            <a:r>
              <a:rPr lang="en-GB" altLang="en-US"/>
              <a:t>Phonemes</a:t>
            </a:r>
          </a:p>
          <a:p>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r>
              <a:rPr lang="en-GB" altLang="en-US"/>
              <a:t>One teaching method that has been used widely, and has been researched widely is direct teaching.</a:t>
            </a:r>
          </a:p>
          <a:p>
            <a:r>
              <a:rPr lang="en-GB" altLang="en-US"/>
              <a:t>The basic structure is ‘the teacher’ model the word, you say it together, then the child tries on their own. </a:t>
            </a:r>
          </a:p>
          <a:p>
            <a:r>
              <a:rPr lang="en-GB" altLang="en-US"/>
              <a:t>Doing it this way, allows the child to hear the word before they attempt it and reduces the possibility and anxiety of failing.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r>
              <a:rPr lang="en-GB" altLang="en-US"/>
              <a:t>Here is another teaching method that could be used, magnetic letters.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r>
              <a:rPr lang="en-GB" altLang="en-US"/>
              <a:t>Another teaching method is can you find the word within the jumbled words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a:p>
          <a:p>
            <a:r>
              <a:rPr lang="en-GB" altLang="en-US"/>
              <a:t>So we’ve mentioned the word … Probe a few times… and you’ve been using probes. Are you happy that you understand the concept of the probe?</a:t>
            </a:r>
          </a:p>
          <a:p>
            <a:endParaRPr lang="en-GB" altLang="en-US"/>
          </a:p>
          <a:p>
            <a:r>
              <a:rPr lang="en-GB" altLang="en-US"/>
              <a:t>A tool for assessment…</a:t>
            </a:r>
          </a:p>
          <a:p>
            <a:endParaRPr lang="en-GB" altLang="en-US"/>
          </a:p>
          <a:p>
            <a:r>
              <a:rPr lang="en-GB" altLang="en-US"/>
              <a:t>We have provided a CD rom with a useful tool for designing probes….</a:t>
            </a:r>
          </a:p>
          <a:p>
            <a:endParaRPr lang="en-GB" altLang="en-US"/>
          </a:p>
          <a:p>
            <a:r>
              <a:rPr lang="en-GB" altLang="en-US"/>
              <a:t>GIVE EXAMPLE!! – refer to website…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a:latin typeface="Times New Roman" pitchFamily="18" charset="0"/>
            </a:endParaRPr>
          </a:p>
          <a:p>
            <a:r>
              <a:rPr lang="en-GB" altLang="en-US" b="1" dirty="0">
                <a:latin typeface="Times New Roman" pitchFamily="18" charset="0"/>
              </a:rPr>
              <a:t>[Refer to probes sheets already with pairs]</a:t>
            </a:r>
          </a:p>
          <a:p>
            <a:endParaRPr lang="en-GB" altLang="en-US" b="1" dirty="0">
              <a:latin typeface="Times New Roman" pitchFamily="18" charset="0"/>
            </a:endParaRPr>
          </a:p>
          <a:p>
            <a:r>
              <a:rPr lang="en-GB" altLang="en-US" dirty="0">
                <a:latin typeface="Times New Roman" pitchFamily="18" charset="0"/>
              </a:rPr>
              <a:t>Explain that these probes require the child to look at the word- See and say the word- therefore probes for </a:t>
            </a:r>
            <a:r>
              <a:rPr lang="en-GB" altLang="en-US" b="1" dirty="0">
                <a:latin typeface="Times New Roman" pitchFamily="18" charset="0"/>
              </a:rPr>
              <a:t>word reading </a:t>
            </a:r>
            <a:r>
              <a:rPr lang="en-GB" altLang="en-US" dirty="0">
                <a:latin typeface="Times New Roman" pitchFamily="18" charset="0"/>
              </a:rPr>
              <a:t>are referred to as </a:t>
            </a:r>
            <a:r>
              <a:rPr lang="en-GB" altLang="en-US" b="1" dirty="0">
                <a:latin typeface="Times New Roman" pitchFamily="18" charset="0"/>
              </a:rPr>
              <a:t>See-to-say </a:t>
            </a:r>
            <a:r>
              <a:rPr lang="en-GB" altLang="en-US" dirty="0">
                <a:latin typeface="Times New Roman" pitchFamily="18" charset="0"/>
              </a:rPr>
              <a:t>probes. </a:t>
            </a:r>
          </a:p>
          <a:p>
            <a:endParaRPr lang="en-GB" altLang="en-US" dirty="0">
              <a:latin typeface="Times New Roman" pitchFamily="18" charset="0"/>
            </a:endParaRPr>
          </a:p>
          <a:p>
            <a:r>
              <a:rPr lang="en-GB" altLang="en-US" dirty="0">
                <a:latin typeface="Times New Roman" pitchFamily="18" charset="0"/>
              </a:rPr>
              <a:t>This is a blank probe but if you were testing words the probe would be filled randomly with the words you had decided to focus on. </a:t>
            </a:r>
          </a:p>
          <a:p>
            <a:endParaRPr lang="en-GB" altLang="en-US" dirty="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2425" indent="-228600" eaLnBrk="1" hangingPunct="1">
              <a:spcBef>
                <a:spcPts val="413"/>
              </a:spcBef>
            </a:pPr>
            <a:r>
              <a:rPr lang="en-US" altLang="en-US" b="1" dirty="0">
                <a:solidFill>
                  <a:srgbClr val="000000"/>
                </a:solidFill>
                <a:latin typeface="Arial" charset="0"/>
                <a:cs typeface="Arial" charset="0"/>
                <a:sym typeface="Arial" charset="0"/>
              </a:rPr>
              <a:t>Sharon</a:t>
            </a:r>
          </a:p>
          <a:p>
            <a:pPr marL="352425" indent="-228600" eaLnBrk="1" hangingPunct="1">
              <a:spcBef>
                <a:spcPts val="413"/>
              </a:spcBef>
            </a:pPr>
            <a:endParaRPr lang="en-US" altLang="en-US" b="1" dirty="0">
              <a:solidFill>
                <a:srgbClr val="000000"/>
              </a:solidFill>
              <a:latin typeface="Arial" charset="0"/>
              <a:cs typeface="Arial" charset="0"/>
              <a:sym typeface="Arial" charset="0"/>
            </a:endParaRPr>
          </a:p>
          <a:p>
            <a:pPr marL="352425" indent="-228600" eaLnBrk="1" hangingPunct="1">
              <a:spcBef>
                <a:spcPts val="413"/>
              </a:spcBef>
            </a:pPr>
            <a:r>
              <a:rPr lang="en-US" altLang="en-US" b="1" dirty="0">
                <a:solidFill>
                  <a:srgbClr val="000000"/>
                </a:solidFill>
                <a:latin typeface="Arial" charset="0"/>
                <a:cs typeface="Arial" charset="0"/>
                <a:sym typeface="Arial" charset="0"/>
              </a:rPr>
              <a:t>[1 minute]</a:t>
            </a:r>
          </a:p>
          <a:p>
            <a:pPr marL="352425" indent="-228600" eaLnBrk="1" hangingPunct="1">
              <a:spcBef>
                <a:spcPts val="413"/>
              </a:spcBef>
            </a:pPr>
            <a:endParaRPr lang="en-US" altLang="en-US" dirty="0">
              <a:solidFill>
                <a:srgbClr val="000000"/>
              </a:solidFill>
              <a:latin typeface="Arial" charset="0"/>
              <a:cs typeface="Arial" charset="0"/>
              <a:sym typeface="Arial" charset="0"/>
            </a:endParaRPr>
          </a:p>
          <a:p>
            <a:pPr marL="352425" indent="-228600" eaLnBrk="1" hangingPunct="1">
              <a:spcBef>
                <a:spcPts val="413"/>
              </a:spcBef>
              <a:buFontTx/>
              <a:buChar char="•"/>
            </a:pPr>
            <a:r>
              <a:rPr lang="en-US" altLang="en-US" b="1" dirty="0">
                <a:solidFill>
                  <a:srgbClr val="000000"/>
                </a:solidFill>
                <a:latin typeface="Arial" charset="0"/>
                <a:cs typeface="Arial" charset="0"/>
                <a:sym typeface="Arial" charset="0"/>
              </a:rPr>
              <a:t>Explain that in order to keep things simple for our condensed training, we’ll be focusing on ‘see to say’ probes – relate back to Learning Hierarchy – want to develop confidence in see-to-say before adapting technique to other types of probe</a:t>
            </a:r>
          </a:p>
          <a:p>
            <a:pPr marL="352425" indent="-228600" eaLnBrk="1" hangingPunct="1">
              <a:spcBef>
                <a:spcPts val="413"/>
              </a:spcBef>
            </a:pPr>
            <a:endParaRPr lang="en-US" altLang="en-US" dirty="0">
              <a:solidFill>
                <a:srgbClr val="000000"/>
              </a:solidFill>
              <a:latin typeface="Arial" charset="0"/>
              <a:cs typeface="Arial" charset="0"/>
              <a:sym typeface="Arial" charset="0"/>
            </a:endParaRPr>
          </a:p>
          <a:p>
            <a:pPr marL="352425" indent="-228600" eaLnBrk="1" hangingPunct="1">
              <a:spcBef>
                <a:spcPts val="413"/>
              </a:spcBef>
            </a:pPr>
            <a:r>
              <a:rPr lang="en-US" altLang="en-US" dirty="0">
                <a:solidFill>
                  <a:srgbClr val="000000"/>
                </a:solidFill>
                <a:latin typeface="Arial" charset="0"/>
                <a:cs typeface="Arial" charset="0"/>
                <a:sym typeface="Arial" charset="0"/>
              </a:rPr>
              <a:t>Talk about setting aim rates</a:t>
            </a:r>
          </a:p>
          <a:p>
            <a:pPr marL="352425" indent="-228600" eaLnBrk="1" hangingPunct="1">
              <a:spcBef>
                <a:spcPts val="413"/>
              </a:spcBef>
            </a:pPr>
            <a:endParaRPr lang="en-US" altLang="en-US" dirty="0">
              <a:solidFill>
                <a:srgbClr val="000000"/>
              </a:solidFill>
              <a:latin typeface="Arial" charset="0"/>
              <a:cs typeface="Arial" charset="0"/>
              <a:sym typeface="Arial" charset="0"/>
            </a:endParaRPr>
          </a:p>
          <a:p>
            <a:pPr marL="352425" indent="-228600" eaLnBrk="1" hangingPunct="1">
              <a:spcBef>
                <a:spcPts val="413"/>
              </a:spcBef>
            </a:pPr>
            <a:r>
              <a:rPr lang="en-US" altLang="en-US" dirty="0">
                <a:solidFill>
                  <a:srgbClr val="000000"/>
                </a:solidFill>
                <a:latin typeface="Arial" charset="0"/>
                <a:cs typeface="Arial" charset="0"/>
                <a:sym typeface="Arial" charset="0"/>
              </a:rPr>
              <a:t>See to say  50 </a:t>
            </a:r>
            <a:r>
              <a:rPr lang="en-US" altLang="en-US" dirty="0" err="1">
                <a:solidFill>
                  <a:srgbClr val="000000"/>
                </a:solidFill>
                <a:latin typeface="Arial" charset="0"/>
                <a:cs typeface="Arial" charset="0"/>
                <a:sym typeface="Arial" charset="0"/>
              </a:rPr>
              <a:t>cpm</a:t>
            </a:r>
            <a:r>
              <a:rPr lang="en-US" altLang="en-US" dirty="0">
                <a:solidFill>
                  <a:srgbClr val="000000"/>
                </a:solidFill>
                <a:latin typeface="Arial" charset="0"/>
                <a:cs typeface="Arial" charset="0"/>
                <a:sym typeface="Arial" charset="0"/>
              </a:rPr>
              <a:t> ( for Junior children) </a:t>
            </a:r>
            <a:r>
              <a:rPr lang="en-US" altLang="en-US" b="1" dirty="0">
                <a:solidFill>
                  <a:srgbClr val="000000"/>
                </a:solidFill>
                <a:latin typeface="Arial" charset="0"/>
                <a:cs typeface="Arial" charset="0"/>
                <a:sym typeface="Arial" charset="0"/>
              </a:rPr>
              <a:t>Note this is for </a:t>
            </a:r>
            <a:r>
              <a:rPr lang="en-US" altLang="en-US" b="1" u="sng" dirty="0">
                <a:solidFill>
                  <a:srgbClr val="000000"/>
                </a:solidFill>
                <a:latin typeface="Arial" charset="0"/>
                <a:cs typeface="Arial" charset="0"/>
                <a:sym typeface="Arial" charset="0"/>
              </a:rPr>
              <a:t>reading: letter, number, sight word recognition</a:t>
            </a:r>
            <a:r>
              <a:rPr lang="en-US" altLang="en-US" dirty="0">
                <a:solidFill>
                  <a:srgbClr val="000000"/>
                </a:solidFill>
                <a:latin typeface="Arial" charset="0"/>
                <a:cs typeface="Arial" charset="0"/>
                <a:sym typeface="Arial" charset="0"/>
              </a:rPr>
              <a:t> If working with number bonds for example the aim rate would need to be adjusted (demands more than just reading) – easiest way is to try probe on a child whose achieved an acceptable level of competence in that area – this will give you an idea of appropriate aim rate</a:t>
            </a:r>
          </a:p>
          <a:p>
            <a:pPr marL="352425" indent="-228600" eaLnBrk="1" hangingPunct="1">
              <a:spcBef>
                <a:spcPts val="413"/>
              </a:spcBef>
            </a:pPr>
            <a:endParaRPr lang="en-US" altLang="en-US" u="sng" dirty="0">
              <a:solidFill>
                <a:srgbClr val="000000"/>
              </a:solidFill>
              <a:latin typeface="Arial" charset="0"/>
              <a:cs typeface="Arial" charset="0"/>
              <a:sym typeface="Arial" charset="0"/>
            </a:endParaRPr>
          </a:p>
          <a:p>
            <a:pPr marL="352425" indent="-228600" eaLnBrk="1" hangingPunct="1">
              <a:spcBef>
                <a:spcPts val="413"/>
              </a:spcBef>
            </a:pPr>
            <a:r>
              <a:rPr lang="en-US" altLang="en-US" u="none" dirty="0">
                <a:solidFill>
                  <a:srgbClr val="000000"/>
                </a:solidFill>
                <a:latin typeface="Arial" charset="0"/>
                <a:cs typeface="Arial" charset="0"/>
                <a:sym typeface="Arial" charset="0"/>
              </a:rPr>
              <a:t>Explain that aim rates are set for accuracy as well as fluency –  no</a:t>
            </a:r>
            <a:r>
              <a:rPr lang="en-US" altLang="en-US" u="none" baseline="0" dirty="0">
                <a:solidFill>
                  <a:srgbClr val="000000"/>
                </a:solidFill>
                <a:latin typeface="Arial" charset="0"/>
                <a:cs typeface="Arial" charset="0"/>
                <a:sym typeface="Arial" charset="0"/>
              </a:rPr>
              <a:t> more than 3 errors – i.e. 3 errors or less</a:t>
            </a:r>
            <a:endParaRPr lang="en-US" altLang="en-US" u="none" dirty="0">
              <a:solidFill>
                <a:srgbClr val="000000"/>
              </a:solidFill>
              <a:latin typeface="Arial" charset="0"/>
              <a:cs typeface="Arial" charset="0"/>
              <a:sym typeface="Arial" charset="0"/>
            </a:endParaRPr>
          </a:p>
          <a:p>
            <a:pPr marL="352425" indent="-228600" eaLnBrk="1" hangingPunct="1">
              <a:spcBef>
                <a:spcPts val="413"/>
              </a:spcBef>
            </a:pPr>
            <a:endParaRPr lang="en-US" altLang="en-US" u="sng" dirty="0">
              <a:solidFill>
                <a:srgbClr val="000000"/>
              </a:solidFill>
              <a:latin typeface="Arial" charset="0"/>
              <a:cs typeface="Arial" charset="0"/>
              <a:sym typeface="Arial" charset="0"/>
            </a:endParaRPr>
          </a:p>
          <a:p>
            <a:pPr marL="352425" indent="-228600" eaLnBrk="1" hangingPunct="1">
              <a:spcBef>
                <a:spcPts val="413"/>
              </a:spcBef>
            </a:pPr>
            <a:endParaRPr lang="en-US" altLang="en-US" dirty="0">
              <a:solidFill>
                <a:srgbClr val="000000"/>
              </a:solidFill>
              <a:latin typeface="Arial" charset="0"/>
              <a:cs typeface="Arial" charset="0"/>
              <a:sym typeface="Arial" charset="0"/>
            </a:endParaRPr>
          </a:p>
          <a:p>
            <a:pPr marL="352425" indent="-228600" eaLnBrk="1" hangingPunct="1">
              <a:spcBef>
                <a:spcPts val="413"/>
              </a:spcBef>
            </a:pPr>
            <a:endParaRPr lang="en-US" altLang="en-US" dirty="0">
              <a:solidFill>
                <a:srgbClr val="000000"/>
              </a:solidFill>
              <a:latin typeface="Arial" charset="0"/>
              <a:cs typeface="Arial" charset="0"/>
              <a:sym typeface="Arial" charset="0"/>
            </a:endParaRPr>
          </a:p>
          <a:p>
            <a:pPr marL="352425" indent="-228600" eaLnBrk="1" hangingPunct="1">
              <a:spcBef>
                <a:spcPts val="413"/>
              </a:spcBef>
              <a:buFontTx/>
              <a:buAutoNum type="arabicPeriod"/>
            </a:pPr>
            <a:endParaRPr lang="en-US" altLang="en-US" dirty="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Times New Roman" pitchFamily="18" charset="0"/>
            </a:endParaRPr>
          </a:p>
          <a:p>
            <a:r>
              <a:rPr lang="en-GB" altLang="en-US" b="1" dirty="0">
                <a:latin typeface="Times New Roman" pitchFamily="18" charset="0"/>
              </a:rPr>
              <a:t>5</a:t>
            </a:r>
            <a:r>
              <a:rPr lang="en-GB" altLang="en-US" b="1" baseline="0" dirty="0">
                <a:latin typeface="Times New Roman" pitchFamily="18" charset="0"/>
              </a:rPr>
              <a:t> </a:t>
            </a:r>
            <a:r>
              <a:rPr lang="en-GB" altLang="en-US" b="1" baseline="0" dirty="0" err="1">
                <a:latin typeface="Times New Roman" pitchFamily="18" charset="0"/>
              </a:rPr>
              <a:t>mins</a:t>
            </a:r>
            <a:endParaRPr lang="en-GB" altLang="en-US" b="1" baseline="0" dirty="0">
              <a:latin typeface="Times New Roman" pitchFamily="18" charset="0"/>
            </a:endParaRPr>
          </a:p>
          <a:p>
            <a:endParaRPr lang="en-GB" altLang="en-US" b="1" baseline="0" dirty="0">
              <a:latin typeface="Times New Roman" pitchFamily="18" charset="0"/>
            </a:endParaRPr>
          </a:p>
          <a:p>
            <a:pPr marL="171450" indent="-171450">
              <a:buFont typeface="Arial" pitchFamily="34" charset="0"/>
              <a:buChar char="•"/>
            </a:pPr>
            <a:r>
              <a:rPr lang="en-GB" altLang="en-US" b="0" dirty="0">
                <a:latin typeface="Times New Roman" pitchFamily="18" charset="0"/>
              </a:rPr>
              <a:t>Demonstrate how to make probes </a:t>
            </a:r>
            <a:r>
              <a:rPr lang="en-GB" altLang="en-US" b="0" baseline="0" dirty="0">
                <a:latin typeface="Times New Roman" pitchFamily="18" charset="0"/>
              </a:rPr>
              <a:t>using the First 100 High Frequency Words </a:t>
            </a:r>
          </a:p>
          <a:p>
            <a:pPr marL="171450" indent="-171450">
              <a:buFont typeface="Arial" pitchFamily="34" charset="0"/>
              <a:buChar char="•"/>
            </a:pPr>
            <a:endParaRPr lang="en-GB" altLang="en-US" b="0" baseline="0" dirty="0">
              <a:latin typeface="Times New Roman" pitchFamily="18" charset="0"/>
            </a:endParaRPr>
          </a:p>
          <a:p>
            <a:pPr marL="171450" indent="-171450">
              <a:buFont typeface="Arial" pitchFamily="34" charset="0"/>
              <a:buChar char="•"/>
            </a:pPr>
            <a:r>
              <a:rPr lang="en-GB" altLang="en-US" b="0" baseline="0" dirty="0">
                <a:latin typeface="Times New Roman" pitchFamily="18" charset="0"/>
              </a:rPr>
              <a:t>Explain how to use an assessment probe to determine which words are secure, and which need to be worked on</a:t>
            </a:r>
          </a:p>
          <a:p>
            <a:pPr>
              <a:buFont typeface="Arial" pitchFamily="34" charset="0"/>
              <a:buChar char="•"/>
            </a:pPr>
            <a:endParaRPr lang="en-GB" altLang="en-US" b="0" baseline="0" dirty="0">
              <a:latin typeface="Times New Roman" pitchFamily="18" charset="0"/>
            </a:endParaRPr>
          </a:p>
          <a:p>
            <a:pPr>
              <a:buFont typeface="Arial" pitchFamily="34" charset="0"/>
              <a:buNone/>
            </a:pPr>
            <a:endParaRPr lang="en-GB" altLang="en-US" b="0" baseline="0" dirty="0">
              <a:latin typeface="Times New Roman" pitchFamily="18" charset="0"/>
            </a:endParaRPr>
          </a:p>
          <a:p>
            <a:pPr>
              <a:buFont typeface="Arial" pitchFamily="34" charset="0"/>
              <a:buChar char="•"/>
            </a:pPr>
            <a:endParaRPr lang="en-GB" altLang="en-US" b="0" baseline="0" dirty="0">
              <a:latin typeface="Times New Roman" pitchFamily="18" charset="0"/>
            </a:endParaRPr>
          </a:p>
          <a:p>
            <a:pPr>
              <a:buFont typeface="Arial" pitchFamily="34" charset="0"/>
              <a:buChar char="•"/>
            </a:pPr>
            <a:endParaRPr lang="en-GB" altLang="en-US" b="0" dirty="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endParaRPr lang="en-GB" altLang="en-US"/>
          </a:p>
          <a:p>
            <a:r>
              <a:rPr lang="en-GB" altLang="en-US"/>
              <a:t>Step 5. A useful way to monitor performance is to chart the results.</a:t>
            </a:r>
          </a:p>
          <a:p>
            <a:endParaRPr lang="en-GB" altLang="en-US"/>
          </a:p>
          <a:p>
            <a:r>
              <a:rPr lang="en-GB" altLang="en-US"/>
              <a:t>Charting the results enables;</a:t>
            </a:r>
          </a:p>
          <a:p>
            <a:endParaRPr lang="en-GB" altLang="en-US"/>
          </a:p>
          <a:p>
            <a:r>
              <a:rPr lang="en-GB" altLang="en-US"/>
              <a:t>Quick and easy recording.</a:t>
            </a:r>
          </a:p>
          <a:p>
            <a:r>
              <a:rPr lang="en-GB" altLang="en-US"/>
              <a:t>The children can see how well they are progressing.</a:t>
            </a:r>
          </a:p>
          <a:p>
            <a:r>
              <a:rPr lang="en-GB" altLang="en-US"/>
              <a:t>The teachers can see how effective their teaching has been.</a:t>
            </a:r>
          </a:p>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a:latin typeface="Times New Roman" pitchFamily="18" charset="0"/>
              </a:rPr>
              <a:t>5</a:t>
            </a:r>
            <a:r>
              <a:rPr lang="en-GB" altLang="en-US" b="1" baseline="0" dirty="0">
                <a:latin typeface="Times New Roman" pitchFamily="18" charset="0"/>
              </a:rPr>
              <a:t> </a:t>
            </a:r>
            <a:r>
              <a:rPr lang="en-GB" altLang="en-US" b="1" baseline="0" dirty="0" err="1">
                <a:latin typeface="Times New Roman" pitchFamily="18" charset="0"/>
              </a:rPr>
              <a:t>mins</a:t>
            </a:r>
            <a:endParaRPr lang="en-GB" altLang="en-US" b="1" baseline="0" dirty="0">
              <a:latin typeface="Times New Roman" pitchFamily="18" charset="0"/>
            </a:endParaRPr>
          </a:p>
          <a:p>
            <a:endParaRPr lang="en-GB" altLang="en-US" b="1" baseline="0" dirty="0">
              <a:latin typeface="Times New Roman" pitchFamily="18" charset="0"/>
            </a:endParaRPr>
          </a:p>
          <a:p>
            <a:pPr>
              <a:buFont typeface="Arial" pitchFamily="34" charset="0"/>
              <a:buChar char="•"/>
            </a:pPr>
            <a:r>
              <a:rPr lang="en-GB" altLang="en-US" b="0" baseline="0" dirty="0">
                <a:latin typeface="Times New Roman" pitchFamily="18" charset="0"/>
              </a:rPr>
              <a:t>Introduce group to a blank PT chart in their packs.</a:t>
            </a:r>
          </a:p>
          <a:p>
            <a:pPr>
              <a:buFont typeface="Arial" pitchFamily="34" charset="0"/>
              <a:buChar char="•"/>
            </a:pPr>
            <a:endParaRPr lang="en-GB" altLang="en-US" b="0" baseline="0" dirty="0">
              <a:latin typeface="Times New Roman" pitchFamily="18" charset="0"/>
            </a:endParaRPr>
          </a:p>
          <a:p>
            <a:pPr>
              <a:buFont typeface="Arial" pitchFamily="34" charset="0"/>
              <a:buChar char="•"/>
            </a:pPr>
            <a:r>
              <a:rPr lang="en-GB" altLang="en-US" b="0" baseline="0" dirty="0">
                <a:latin typeface="Times New Roman" pitchFamily="18" charset="0"/>
              </a:rPr>
              <a:t>How does the group feel about charting data and line graphs?</a:t>
            </a:r>
          </a:p>
          <a:p>
            <a:pPr>
              <a:buFont typeface="Arial" pitchFamily="34" charset="0"/>
              <a:buChar char="•"/>
            </a:pPr>
            <a:endParaRPr lang="en-GB" altLang="en-US" b="0" baseline="0" dirty="0">
              <a:latin typeface="Times New Roman" pitchFamily="18" charset="0"/>
            </a:endParaRPr>
          </a:p>
          <a:p>
            <a:pPr>
              <a:buFont typeface="Arial" pitchFamily="34" charset="0"/>
              <a:buChar char="•"/>
            </a:pPr>
            <a:r>
              <a:rPr lang="en-GB" altLang="en-US" b="1" baseline="0" dirty="0">
                <a:latin typeface="Times New Roman" pitchFamily="18" charset="0"/>
              </a:rPr>
              <a:t>Explain  basic features of chart – responses per minute – correct and incorrect</a:t>
            </a:r>
          </a:p>
          <a:p>
            <a:pPr>
              <a:buFont typeface="Arial" pitchFamily="34" charset="0"/>
              <a:buChar char="•"/>
            </a:pPr>
            <a:endParaRPr lang="en-GB" altLang="en-US" b="1" baseline="0" dirty="0">
              <a:latin typeface="Times New Roman" pitchFamily="18" charset="0"/>
            </a:endParaRPr>
          </a:p>
          <a:p>
            <a:pPr>
              <a:buFont typeface="Arial" pitchFamily="34" charset="0"/>
              <a:buChar char="•"/>
            </a:pPr>
            <a:r>
              <a:rPr lang="en-GB" altLang="en-US" b="1" baseline="0" dirty="0">
                <a:latin typeface="Times New Roman" pitchFamily="18" charset="0"/>
              </a:rPr>
              <a:t>Then explain special features of the chart</a:t>
            </a:r>
            <a:endParaRPr lang="en-GB" altLang="en-US" b="1" dirty="0">
              <a:latin typeface="Times New Roman" pitchFamily="18" charset="0"/>
            </a:endParaRPr>
          </a:p>
          <a:p>
            <a:endParaRPr lang="en-GB" altLang="en-US" b="1" dirty="0">
              <a:latin typeface="Times New Roman" pitchFamily="18" charset="0"/>
            </a:endParaRPr>
          </a:p>
          <a:p>
            <a:endParaRPr lang="en-GB" altLang="en-US" b="1" dirty="0">
              <a:latin typeface="Times New Roman" pitchFamily="18" charset="0"/>
            </a:endParaRPr>
          </a:p>
          <a:p>
            <a:pPr>
              <a:buFontTx/>
              <a:buChar char="•"/>
            </a:pPr>
            <a:r>
              <a:rPr lang="en-GB" altLang="en-US" dirty="0">
                <a:latin typeface="Times New Roman" pitchFamily="18" charset="0"/>
              </a:rPr>
              <a:t>Shows </a:t>
            </a:r>
            <a:r>
              <a:rPr lang="en-GB" altLang="en-US" b="1" dirty="0">
                <a:latin typeface="Times New Roman" pitchFamily="18" charset="0"/>
              </a:rPr>
              <a:t>fine</a:t>
            </a:r>
            <a:r>
              <a:rPr lang="en-GB" altLang="en-US" dirty="0">
                <a:latin typeface="Times New Roman" pitchFamily="18" charset="0"/>
              </a:rPr>
              <a:t> changes in performance which could be very significant with children who are making progress in </a:t>
            </a:r>
            <a:r>
              <a:rPr lang="en-GB" altLang="en-US" b="1" dirty="0">
                <a:latin typeface="Times New Roman" pitchFamily="18" charset="0"/>
              </a:rPr>
              <a:t>very small steps</a:t>
            </a:r>
          </a:p>
          <a:p>
            <a:pPr>
              <a:buFontTx/>
              <a:buChar char="•"/>
            </a:pPr>
            <a:r>
              <a:rPr lang="en-GB" altLang="en-US" dirty="0">
                <a:latin typeface="Times New Roman" pitchFamily="18" charset="0"/>
              </a:rPr>
              <a:t>Focuses on the </a:t>
            </a:r>
            <a:r>
              <a:rPr lang="en-GB" altLang="en-US" b="1" dirty="0">
                <a:latin typeface="Times New Roman" pitchFamily="18" charset="0"/>
              </a:rPr>
              <a:t>magnitude (ratio gain) </a:t>
            </a:r>
            <a:r>
              <a:rPr lang="en-GB" altLang="en-US" dirty="0">
                <a:latin typeface="Times New Roman" pitchFamily="18" charset="0"/>
              </a:rPr>
              <a:t>of the progress, </a:t>
            </a:r>
            <a:r>
              <a:rPr lang="en-GB" altLang="en-US" b="1" dirty="0">
                <a:latin typeface="Times New Roman" pitchFamily="18" charset="0"/>
              </a:rPr>
              <a:t>rather than absolute change</a:t>
            </a:r>
            <a:r>
              <a:rPr lang="en-GB" altLang="en-US" dirty="0">
                <a:latin typeface="Times New Roman" pitchFamily="18" charset="0"/>
              </a:rPr>
              <a:t>. So on this chart, an improvement from 10 to 20 correct, would look as big as an improvement from say 30 to 60 – both performances represent a doubling of correct responses, but in a normal chart, the second improvement would look much bigger</a:t>
            </a:r>
          </a:p>
          <a:p>
            <a:pPr>
              <a:buFontTx/>
              <a:buChar char="•"/>
            </a:pPr>
            <a:endParaRPr lang="en-GB" altLang="en-US" dirty="0">
              <a:latin typeface="Times New Roman" pitchFamily="18" charset="0"/>
            </a:endParaRPr>
          </a:p>
          <a:p>
            <a:pPr marL="0" indent="0">
              <a:buFont typeface="Wingdings" pitchFamily="2" charset="2"/>
              <a:buNone/>
              <a:defRPr/>
            </a:pPr>
            <a:r>
              <a:rPr lang="en-GB" sz="1200" dirty="0"/>
              <a:t>Advantages of using a semi-logarithmic record sheet:</a:t>
            </a:r>
          </a:p>
          <a:p>
            <a:pPr marL="0" indent="0">
              <a:buFont typeface="Wingdings" pitchFamily="2" charset="2"/>
              <a:buNone/>
              <a:defRPr/>
            </a:pPr>
            <a:endParaRPr lang="en-GB" sz="1200" dirty="0"/>
          </a:p>
          <a:p>
            <a:pPr>
              <a:defRPr/>
            </a:pPr>
            <a:r>
              <a:rPr lang="en-GB" sz="1200" dirty="0"/>
              <a:t>It shows fine changes in performance which could be very significant with children who have experienced learning difficulties</a:t>
            </a:r>
            <a:endParaRPr lang="en-GB" sz="300" dirty="0"/>
          </a:p>
          <a:p>
            <a:pPr marL="0" indent="0">
              <a:buNone/>
              <a:defRPr/>
            </a:pPr>
            <a:endParaRPr lang="en-GB" sz="300" dirty="0"/>
          </a:p>
          <a:p>
            <a:pPr>
              <a:defRPr/>
            </a:pPr>
            <a:r>
              <a:rPr lang="en-GB" sz="1200" dirty="0"/>
              <a:t>These charts focus attention on the magnitude of the change that is occurring rather than absolute change. It is felt that looking at children’s progress in this way provides a more accurate representation of their learning.</a:t>
            </a:r>
          </a:p>
          <a:p>
            <a:pPr>
              <a:buFontTx/>
              <a:buChar char="•"/>
            </a:pPr>
            <a:endParaRPr lang="en-GB" altLang="en-US" dirty="0">
              <a:latin typeface="Times New Roman" pitchFamily="18" charset="0"/>
            </a:endParaRPr>
          </a:p>
          <a:p>
            <a:pPr>
              <a:buFontTx/>
              <a:buChar char="•"/>
            </a:pPr>
            <a:endParaRPr lang="en-GB" altLang="en-US" dirty="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baseline="0" dirty="0">
                <a:latin typeface="Times New Roman" pitchFamily="18" charset="0"/>
              </a:rPr>
              <a:t>5 </a:t>
            </a:r>
            <a:r>
              <a:rPr lang="en-GB" altLang="en-US" b="1" baseline="0" dirty="0" err="1">
                <a:latin typeface="Times New Roman" pitchFamily="18" charset="0"/>
              </a:rPr>
              <a:t>mins</a:t>
            </a:r>
            <a:endParaRPr lang="en-GB" altLang="en-US" b="1" baseline="0" dirty="0">
              <a:latin typeface="Times New Roman" pitchFamily="18" charset="0"/>
            </a:endParaRPr>
          </a:p>
          <a:p>
            <a:endParaRPr lang="en-GB" altLang="en-US" b="1" baseline="0" dirty="0">
              <a:latin typeface="Times New Roman" pitchFamily="18" charset="0"/>
            </a:endParaRPr>
          </a:p>
          <a:p>
            <a:pPr>
              <a:buFont typeface="Arial" pitchFamily="34" charset="0"/>
              <a:buChar char="•"/>
            </a:pPr>
            <a:r>
              <a:rPr lang="en-GB" altLang="en-US" b="0" baseline="0" dirty="0">
                <a:latin typeface="Times New Roman" pitchFamily="18" charset="0"/>
              </a:rPr>
              <a:t>Continue with chart features:</a:t>
            </a:r>
          </a:p>
          <a:p>
            <a:pPr lvl="1">
              <a:buFont typeface="Arial" pitchFamily="34" charset="0"/>
              <a:buChar char="•"/>
            </a:pPr>
            <a:r>
              <a:rPr lang="en-GB" altLang="en-US" b="0" baseline="0" dirty="0">
                <a:latin typeface="Times New Roman" pitchFamily="18" charset="0"/>
              </a:rPr>
              <a:t>Two lines will emerge on your chart – one for fluency the other for accuracy</a:t>
            </a:r>
          </a:p>
          <a:p>
            <a:pPr lvl="1">
              <a:buFont typeface="Arial" pitchFamily="34" charset="0"/>
              <a:buChar char="•"/>
            </a:pPr>
            <a:r>
              <a:rPr lang="en-GB" altLang="en-US" b="0" baseline="0" dirty="0">
                <a:latin typeface="Times New Roman" pitchFamily="18" charset="0"/>
              </a:rPr>
              <a:t>Highlight that we also need to include the aim rates on our chart so that progress towards the target can be clearly seen</a:t>
            </a:r>
          </a:p>
          <a:p>
            <a:pPr lvl="1">
              <a:buFont typeface="Arial" pitchFamily="34" charset="0"/>
              <a:buChar char="•"/>
            </a:pPr>
            <a:endParaRPr lang="en-GB" altLang="en-US" b="0" baseline="0" dirty="0">
              <a:latin typeface="Times New Roman" pitchFamily="18" charset="0"/>
            </a:endParaRPr>
          </a:p>
          <a:p>
            <a:pPr lvl="1">
              <a:buFont typeface="Arial" pitchFamily="34" charset="0"/>
              <a:buChar char="•"/>
            </a:pPr>
            <a:r>
              <a:rPr lang="en-GB" altLang="en-US" b="0" baseline="0" dirty="0">
                <a:latin typeface="Times New Roman" pitchFamily="18" charset="0"/>
              </a:rPr>
              <a:t>Draw some examples on the board (see back of master charting sheet) and give associated advice about each pattern says and what to do about it</a:t>
            </a:r>
          </a:p>
          <a:p>
            <a:pPr lvl="1">
              <a:buFont typeface="Arial" pitchFamily="34" charset="0"/>
              <a:buChar char="•"/>
            </a:pPr>
            <a:endParaRPr lang="en-GB" altLang="en-US" b="0" baseline="0" dirty="0">
              <a:latin typeface="Times New Roman" pitchFamily="18" charset="0"/>
            </a:endParaRPr>
          </a:p>
          <a:p>
            <a:pPr>
              <a:buFont typeface="Arial" pitchFamily="34" charset="0"/>
              <a:buChar char="•"/>
            </a:pPr>
            <a:endParaRPr lang="en-GB" altLang="en-US" b="0" dirty="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a:latin typeface="Times New Roman" pitchFamily="18" charset="0"/>
              </a:rPr>
              <a:t>2 </a:t>
            </a:r>
            <a:r>
              <a:rPr lang="en-GB" altLang="en-US" b="1" dirty="0" err="1">
                <a:latin typeface="Times New Roman" pitchFamily="18" charset="0"/>
              </a:rPr>
              <a:t>mins</a:t>
            </a:r>
            <a:endParaRPr lang="en-GB" altLang="en-US" b="1" dirty="0">
              <a:latin typeface="Times New Roman" pitchFamily="18" charset="0"/>
            </a:endParaRPr>
          </a:p>
          <a:p>
            <a:endParaRPr lang="en-GB" altLang="en-US" b="1" dirty="0">
              <a:latin typeface="Times New Roman" pitchFamily="18" charset="0"/>
            </a:endParaRPr>
          </a:p>
          <a:p>
            <a:r>
              <a:rPr lang="en-GB" altLang="en-US" b="0" dirty="0">
                <a:latin typeface="Times New Roman" pitchFamily="18" charset="0"/>
              </a:rPr>
              <a:t>Reiterate these aim rates from last session</a:t>
            </a:r>
          </a:p>
          <a:p>
            <a:endParaRPr lang="en-GB" altLang="en-US" dirty="0">
              <a:latin typeface="Times New Roman" pitchFamily="18" charset="0"/>
            </a:endParaRPr>
          </a:p>
          <a:p>
            <a:pPr eaLnBrk="1" hangingPunct="1"/>
            <a:endParaRPr lang="en-US" altLang="en-US" sz="1000" dirty="0">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en-GB" altLang="en-US"/>
          </a:p>
          <a:p>
            <a:r>
              <a:rPr lang="en-GB" altLang="en-US"/>
              <a:t>These are some fairly important rules. </a:t>
            </a:r>
          </a:p>
          <a:p>
            <a:r>
              <a:rPr lang="en-GB" altLang="en-US"/>
              <a:t>If the target has been reached for 3 consecutive days, then change the words and set a new target.</a:t>
            </a:r>
          </a:p>
          <a:p>
            <a:r>
              <a:rPr lang="en-GB" altLang="en-US"/>
              <a:t>After 3 days of a new target, check that the child is making some progress, if there has been no progress at all, consider reducing the task.</a:t>
            </a:r>
          </a:p>
          <a:p>
            <a:r>
              <a:rPr lang="en-GB" altLang="en-US"/>
              <a:t>The child should be near to or have already achieved their target by the 8</a:t>
            </a:r>
            <a:r>
              <a:rPr lang="en-GB" altLang="en-US" baseline="30000"/>
              <a:t>th</a:t>
            </a:r>
            <a:r>
              <a:rPr lang="en-GB" altLang="en-US"/>
              <a:t> day, this ensures the child does not get stuck on the same words forever and so that they themselves can see progress made quite quickly. If the child is nowhere near their target on the 8</a:t>
            </a:r>
            <a:r>
              <a:rPr lang="en-GB" altLang="en-US" baseline="30000"/>
              <a:t>th</a:t>
            </a:r>
            <a:r>
              <a:rPr lang="en-GB" altLang="en-US"/>
              <a:t> day, consider a change.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p:spPr>
        <p:txBody>
          <a:bodyPr/>
          <a:lstStyle/>
          <a:p>
            <a:r>
              <a:rPr lang="en-GB" altLang="en-US"/>
              <a:t>Here are a few examples of what the chart could look like. </a:t>
            </a:r>
          </a:p>
          <a:p>
            <a:r>
              <a:rPr lang="en-GB" altLang="en-US"/>
              <a:t>We have some examples for you to try and decipher in a minute too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a:latin typeface="Times New Roman" pitchFamily="18" charset="0"/>
              </a:rPr>
              <a:t>2</a:t>
            </a:r>
            <a:r>
              <a:rPr lang="en-GB" altLang="en-US" b="1" baseline="0" dirty="0">
                <a:latin typeface="Times New Roman" pitchFamily="18" charset="0"/>
              </a:rPr>
              <a:t> </a:t>
            </a:r>
            <a:r>
              <a:rPr lang="en-GB" altLang="en-US" b="1" baseline="0" dirty="0" err="1">
                <a:latin typeface="Times New Roman" pitchFamily="18" charset="0"/>
              </a:rPr>
              <a:t>mins</a:t>
            </a:r>
            <a:endParaRPr lang="en-GB" altLang="en-US" b="1" baseline="0" dirty="0">
              <a:latin typeface="Times New Roman" pitchFamily="18" charset="0"/>
            </a:endParaRPr>
          </a:p>
          <a:p>
            <a:endParaRPr lang="en-GB" altLang="en-US" b="1" baseline="0" dirty="0">
              <a:latin typeface="Times New Roman" pitchFamily="18" charset="0"/>
            </a:endParaRPr>
          </a:p>
          <a:p>
            <a:r>
              <a:rPr lang="en-GB" altLang="en-US" b="0" baseline="0" dirty="0">
                <a:latin typeface="Times New Roman" pitchFamily="18" charset="0"/>
              </a:rPr>
              <a:t>Explain that this is the final part of the PT process – it is the decision-making process around what changes to make based on the child’s progress. </a:t>
            </a:r>
          </a:p>
          <a:p>
            <a:endParaRPr lang="en-GB" altLang="en-US" b="0" baseline="0" dirty="0">
              <a:latin typeface="Times New Roman" pitchFamily="18" charset="0"/>
            </a:endParaRPr>
          </a:p>
          <a:p>
            <a:r>
              <a:rPr lang="en-GB" altLang="en-US" b="0" baseline="0" dirty="0">
                <a:latin typeface="Times New Roman" pitchFamily="18" charset="0"/>
              </a:rPr>
              <a:t>Emphasise that the idea is that each day the child is moving further and further towards the target – once they reach their target, they need to sustain that progress over 3 days before you can change the probe.</a:t>
            </a:r>
          </a:p>
          <a:p>
            <a:endParaRPr lang="en-GB" altLang="en-US" b="0" baseline="0" dirty="0">
              <a:latin typeface="Times New Roman" pitchFamily="18" charset="0"/>
            </a:endParaRPr>
          </a:p>
          <a:p>
            <a:r>
              <a:rPr lang="en-GB" altLang="en-US" b="1" baseline="0" dirty="0">
                <a:latin typeface="Times New Roman" pitchFamily="18" charset="0"/>
              </a:rPr>
              <a:t>Underline that each time you change the probe, your teaching will change to match the items in the new probe and you need to start a new chart.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p:spPr>
        <p:txBody>
          <a:bodyPr/>
          <a:lstStyle/>
          <a:p>
            <a:r>
              <a:rPr lang="en-GB" altLang="en-US"/>
              <a:t>This is quite a useful point to precision monitoring. After a child has succeeded and achieved their target, keep the probe word sheet, maybe a month later bring out the probe sheet randomly and ask the child to read the words, without prior teaching, make a note on the sheet (or a separate chart-don’t confuse the chart you are working on)</a:t>
            </a:r>
          </a:p>
          <a:p>
            <a:r>
              <a:rPr lang="en-GB" altLang="en-US"/>
              <a:t>This way you can see if the child has retained the words that you taught them.</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01/12/2022</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01/12/2022</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01/12/2022</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01/12/2022</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01/12/2022</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01/12/2022</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01/12/2022</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01/12/2022</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01/12/2022</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01/12/2022</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01/12/2022</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01/12/2022</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01/12/2022</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01/12/2022</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01/12/2022</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01/12/2022</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01/12/2022</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01/12/2022</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jpe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1029" name="Picture 3" descr="RBWM logo"/>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01/12/2022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01/12/2022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01/12/2022</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6673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a:ea typeface="ＭＳ Ｐゴシック" pitchFamily="110" charset="-128"/>
              </a:rPr>
              <a:t>Precision Teaching:</a:t>
            </a:r>
          </a:p>
          <a:p>
            <a:pPr>
              <a:spcBef>
                <a:spcPct val="50000"/>
              </a:spcBef>
              <a:buClrTx/>
              <a:buSzTx/>
              <a:buFontTx/>
              <a:buNone/>
            </a:pPr>
            <a:r>
              <a:rPr lang="en-US" altLang="en-US" sz="3200" b="1" dirty="0">
                <a:ea typeface="ＭＳ Ｐゴシック" pitchFamily="110" charset="-128"/>
              </a:rPr>
              <a:t>An Introduction</a:t>
            </a:r>
          </a:p>
          <a:p>
            <a:pPr>
              <a:spcBef>
                <a:spcPct val="50000"/>
              </a:spcBef>
              <a:buClrTx/>
              <a:buSzTx/>
              <a:buFontTx/>
              <a:buNone/>
            </a:pPr>
            <a:r>
              <a:rPr lang="en-US" altLang="en-US" sz="2400" b="1" dirty="0">
                <a:ea typeface="ＭＳ Ｐゴシック" pitchFamily="110" charset="-128"/>
              </a:rPr>
              <a:t>Session 2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I-Patrick </a:t>
            </a:r>
          </a:p>
          <a:p>
            <a:pPr>
              <a:spcBef>
                <a:spcPct val="50000"/>
              </a:spcBef>
              <a:buClrTx/>
              <a:buSzTx/>
              <a:buFontTx/>
              <a:buNone/>
            </a:pPr>
            <a:r>
              <a:rPr lang="en-US" altLang="en-US" sz="2400" dirty="0">
                <a:ea typeface="ＭＳ Ｐゴシック" pitchFamily="110" charset="-128"/>
              </a:rPr>
              <a:t>Tuesday 13</a:t>
            </a:r>
            <a:r>
              <a:rPr lang="en-US" altLang="en-US" sz="2400" baseline="30000" dirty="0">
                <a:ea typeface="ＭＳ Ｐゴシック" pitchFamily="110" charset="-128"/>
              </a:rPr>
              <a:t>th</a:t>
            </a:r>
            <a:r>
              <a:rPr lang="en-US" altLang="en-US" sz="2400" dirty="0">
                <a:ea typeface="ＭＳ Ｐゴシック" pitchFamily="110" charset="-128"/>
              </a:rPr>
              <a:t> June 2017</a:t>
            </a:r>
          </a:p>
        </p:txBody>
      </p:sp>
    </p:spTree>
    <p:extLst>
      <p:ext uri="{BB962C8B-B14F-4D97-AF65-F5344CB8AC3E}">
        <p14:creationId xmlns:p14="http://schemas.microsoft.com/office/powerpoint/2010/main" val="310804317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8" y="332656"/>
            <a:ext cx="8497887" cy="649287"/>
          </a:xfrm>
        </p:spPr>
        <p:txBody>
          <a:bodyPr/>
          <a:lstStyle/>
          <a:p>
            <a:pPr algn="ctr" eaLnBrk="1" hangingPunct="1"/>
            <a:r>
              <a:rPr lang="en-GB" altLang="en-US" sz="4000" b="1" dirty="0">
                <a:latin typeface="Arial" charset="0"/>
              </a:rPr>
              <a:t>Session Aim</a:t>
            </a:r>
          </a:p>
        </p:txBody>
      </p:sp>
      <p:sp>
        <p:nvSpPr>
          <p:cNvPr id="4099" name="Rectangle 3"/>
          <p:cNvSpPr>
            <a:spLocks noGrp="1" noChangeArrowheads="1"/>
          </p:cNvSpPr>
          <p:nvPr>
            <p:ph type="body" idx="1"/>
          </p:nvPr>
        </p:nvSpPr>
        <p:spPr>
          <a:xfrm>
            <a:off x="755576" y="1628800"/>
            <a:ext cx="7632700" cy="4233267"/>
          </a:xfrm>
        </p:spPr>
        <p:txBody>
          <a:bodyPr/>
          <a:lstStyle/>
          <a:p>
            <a:pPr marL="681038" lvl="1" indent="-342900" eaLnBrk="1" hangingPunct="1">
              <a:lnSpc>
                <a:spcPct val="90000"/>
              </a:lnSpc>
              <a:buFont typeface="Wingdings" panose="05000000000000000000" pitchFamily="2" charset="2"/>
              <a:buChar char="q"/>
            </a:pPr>
            <a:r>
              <a:rPr lang="en-US" altLang="en-US" sz="2400" dirty="0"/>
              <a:t>Sharing 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a:t>Target setting </a:t>
            </a:r>
          </a:p>
          <a:p>
            <a:pPr lvl="2" indent="-342900" eaLnBrk="1" hangingPunct="1">
              <a:lnSpc>
                <a:spcPct val="90000"/>
              </a:lnSpc>
              <a:buFont typeface="Wingdings" panose="05000000000000000000" pitchFamily="2" charset="2"/>
              <a:buChar char="ü"/>
            </a:pPr>
            <a:r>
              <a:rPr lang="en-US" altLang="en-US" sz="2400" dirty="0"/>
              <a:t>Teaching and probing </a:t>
            </a:r>
          </a:p>
          <a:p>
            <a:pPr lvl="2" indent="-342900" eaLnBrk="1" hangingPunct="1">
              <a:lnSpc>
                <a:spcPct val="90000"/>
              </a:lnSpc>
              <a:buFont typeface="Wingdings" panose="05000000000000000000" pitchFamily="2" charset="2"/>
              <a:buChar char="ü"/>
            </a:pPr>
            <a:r>
              <a:rPr lang="en-US" altLang="en-US" sz="2400" dirty="0"/>
              <a:t>Charting the results with target child</a:t>
            </a:r>
          </a:p>
          <a:p>
            <a:pPr lvl="2" indent="-342900" eaLnBrk="1" hangingPunct="1">
              <a:lnSpc>
                <a:spcPct val="90000"/>
              </a:lnSpc>
              <a:buFont typeface="Wingdings" panose="05000000000000000000" pitchFamily="2" charset="2"/>
              <a:buChar char="ü"/>
            </a:pPr>
            <a:r>
              <a:rPr lang="en-US" altLang="en-US" sz="2400" dirty="0"/>
              <a:t>Monitoring: Review and adapt the </a:t>
            </a:r>
            <a:r>
              <a:rPr lang="en-US" altLang="en-US" sz="2400" dirty="0" err="1"/>
              <a:t>programme</a:t>
            </a:r>
            <a:r>
              <a:rPr lang="en-US" altLang="en-US" sz="2400" dirty="0"/>
              <a:t> as needed</a:t>
            </a:r>
          </a:p>
          <a:p>
            <a:pPr eaLnBrk="1" hangingPunct="1">
              <a:buFont typeface="Wingdings" pitchFamily="2" charset="2"/>
              <a:buNone/>
            </a:pPr>
            <a:endParaRPr lang="en-GB" altLang="en-US" dirty="0"/>
          </a:p>
        </p:txBody>
      </p:sp>
    </p:spTree>
    <p:extLst>
      <p:ext uri="{BB962C8B-B14F-4D97-AF65-F5344CB8AC3E}">
        <p14:creationId xmlns:p14="http://schemas.microsoft.com/office/powerpoint/2010/main" val="251958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fontScale="90000"/>
          </a:bodyPr>
          <a:lstStyle/>
          <a:p>
            <a:pPr algn="ctr" eaLnBrk="1" fontAlgn="auto" hangingPunct="1">
              <a:spcAft>
                <a:spcPts val="0"/>
              </a:spcAft>
              <a:defRPr/>
            </a:pPr>
            <a:r>
              <a:rPr lang="en-GB" altLang="en-US" sz="4000" b="1" dirty="0"/>
              <a:t>How do I deliver precision monitoring?</a:t>
            </a:r>
          </a:p>
        </p:txBody>
      </p:sp>
      <p:sp>
        <p:nvSpPr>
          <p:cNvPr id="8195" name="Rectangle 3"/>
          <p:cNvSpPr>
            <a:spLocks noGrp="1" noChangeArrowheads="1"/>
          </p:cNvSpPr>
          <p:nvPr>
            <p:ph idx="1"/>
          </p:nvPr>
        </p:nvSpPr>
        <p:spPr>
          <a:xfrm>
            <a:off x="395536" y="2060848"/>
            <a:ext cx="8353425" cy="4467225"/>
          </a:xfrm>
        </p:spPr>
        <p:txBody>
          <a:bodyPr/>
          <a:lstStyle/>
          <a:p>
            <a:pPr marL="609600" indent="-609600" eaLnBrk="1" hangingPunct="1">
              <a:lnSpc>
                <a:spcPct val="80000"/>
              </a:lnSpc>
              <a:buFontTx/>
              <a:buAutoNum type="arabicPeriod"/>
            </a:pPr>
            <a:r>
              <a:rPr lang="en-GB" altLang="en-US" sz="2000" dirty="0"/>
              <a:t>Identify a specific difficulty and acquire a baseline.</a:t>
            </a:r>
          </a:p>
          <a:p>
            <a:pPr marL="609600" indent="-609600" eaLnBrk="1" hangingPunct="1">
              <a:lnSpc>
                <a:spcPct val="80000"/>
              </a:lnSpc>
              <a:buFontTx/>
              <a:buNone/>
            </a:pPr>
            <a:endParaRPr lang="en-GB" altLang="en-US" sz="2000" dirty="0"/>
          </a:p>
          <a:p>
            <a:pPr marL="609600" indent="-609600" eaLnBrk="1" hangingPunct="1">
              <a:lnSpc>
                <a:spcPct val="80000"/>
              </a:lnSpc>
              <a:buFontTx/>
              <a:buAutoNum type="arabicPeriod" startAt="2"/>
            </a:pPr>
            <a:r>
              <a:rPr lang="en-GB" altLang="en-US" sz="2000" dirty="0"/>
              <a:t>Set a target.</a:t>
            </a:r>
          </a:p>
          <a:p>
            <a:pPr marL="609600" indent="-609600" eaLnBrk="1" hangingPunct="1">
              <a:lnSpc>
                <a:spcPct val="80000"/>
              </a:lnSpc>
              <a:buFontTx/>
              <a:buNone/>
            </a:pPr>
            <a:endParaRPr lang="en-GB" altLang="en-US" sz="2000" dirty="0"/>
          </a:p>
          <a:p>
            <a:pPr marL="609600" indent="-609600" eaLnBrk="1" hangingPunct="1">
              <a:lnSpc>
                <a:spcPct val="80000"/>
              </a:lnSpc>
              <a:buFontTx/>
              <a:buAutoNum type="arabicPeriod" startAt="3"/>
            </a:pPr>
            <a:r>
              <a:rPr lang="en-GB" altLang="en-US" sz="2000" dirty="0"/>
              <a:t>Teaching sessions: short, frequent and target specific.</a:t>
            </a:r>
          </a:p>
          <a:p>
            <a:pPr marL="609600" indent="-609600" eaLnBrk="1" hangingPunct="1">
              <a:lnSpc>
                <a:spcPct val="80000"/>
              </a:lnSpc>
              <a:buFontTx/>
              <a:buAutoNum type="arabicPeriod" startAt="3"/>
            </a:pPr>
            <a:endParaRPr lang="en-GB" altLang="en-US" sz="2000" dirty="0"/>
          </a:p>
          <a:p>
            <a:pPr marL="609600" indent="-609600" eaLnBrk="1" hangingPunct="1">
              <a:lnSpc>
                <a:spcPct val="80000"/>
              </a:lnSpc>
              <a:buFontTx/>
              <a:buAutoNum type="arabicPeriod" startAt="3"/>
            </a:pPr>
            <a:r>
              <a:rPr lang="en-GB" altLang="en-US" sz="2000" dirty="0"/>
              <a:t>Monitor child’s daily performance using a probe.</a:t>
            </a:r>
          </a:p>
          <a:p>
            <a:pPr marL="609600" indent="-609600" eaLnBrk="1" hangingPunct="1">
              <a:lnSpc>
                <a:spcPct val="80000"/>
              </a:lnSpc>
              <a:buFontTx/>
              <a:buAutoNum type="arabicPeriod" startAt="3"/>
            </a:pPr>
            <a:endParaRPr lang="en-GB" altLang="en-US" sz="2000" dirty="0"/>
          </a:p>
          <a:p>
            <a:pPr marL="609600" indent="-609600" eaLnBrk="1" hangingPunct="1">
              <a:lnSpc>
                <a:spcPct val="80000"/>
              </a:lnSpc>
              <a:buFontTx/>
              <a:buAutoNum type="arabicPeriod" startAt="5"/>
            </a:pPr>
            <a:r>
              <a:rPr lang="en-GB" altLang="en-US" sz="2000" dirty="0"/>
              <a:t>Chart results and make note of teaching methods.</a:t>
            </a:r>
          </a:p>
          <a:p>
            <a:pPr marL="609600" indent="-609600" eaLnBrk="1" hangingPunct="1">
              <a:lnSpc>
                <a:spcPct val="80000"/>
              </a:lnSpc>
              <a:buFontTx/>
              <a:buAutoNum type="arabicPeriod" startAt="5"/>
            </a:pPr>
            <a:endParaRPr lang="en-GB" altLang="en-US" sz="2000" dirty="0"/>
          </a:p>
          <a:p>
            <a:pPr marL="609600" indent="-609600" eaLnBrk="1" hangingPunct="1">
              <a:lnSpc>
                <a:spcPct val="80000"/>
              </a:lnSpc>
              <a:buFontTx/>
              <a:buAutoNum type="arabicPeriod" startAt="6"/>
            </a:pPr>
            <a:r>
              <a:rPr lang="en-GB" altLang="en-US" sz="2000" dirty="0"/>
              <a:t>Analyse the data to determine if a change of target is needed or change in teaching method.</a:t>
            </a:r>
          </a:p>
        </p:txBody>
      </p:sp>
    </p:spTree>
    <p:extLst>
      <p:ext uri="{BB962C8B-B14F-4D97-AF65-F5344CB8AC3E}">
        <p14:creationId xmlns:p14="http://schemas.microsoft.com/office/powerpoint/2010/main" val="258602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497887" cy="649287"/>
          </a:xfrm>
        </p:spPr>
        <p:txBody>
          <a:bodyPr/>
          <a:lstStyle/>
          <a:p>
            <a:pPr algn="ctr"/>
            <a:r>
              <a:rPr lang="en-GB" altLang="en-US" sz="5400" dirty="0"/>
              <a:t>STEP 1</a:t>
            </a:r>
            <a:endParaRPr lang="en-GB" sz="5400" dirty="0"/>
          </a:p>
        </p:txBody>
      </p:sp>
      <p:sp>
        <p:nvSpPr>
          <p:cNvPr id="3" name="Content Placeholder 2"/>
          <p:cNvSpPr>
            <a:spLocks noGrp="1"/>
          </p:cNvSpPr>
          <p:nvPr>
            <p:ph idx="1"/>
          </p:nvPr>
        </p:nvSpPr>
        <p:spPr>
          <a:xfrm>
            <a:off x="467544" y="2132856"/>
            <a:ext cx="7632700" cy="4968875"/>
          </a:xfrm>
        </p:spPr>
        <p:txBody>
          <a:bodyPr/>
          <a:lstStyle/>
          <a:p>
            <a:pPr marL="0" indent="0" algn="ctr">
              <a:buNone/>
            </a:pPr>
            <a:r>
              <a:rPr lang="en-GB" altLang="en-US" sz="5400" dirty="0"/>
              <a:t>Identify a specific difficulty and acquire a baseline</a:t>
            </a:r>
            <a:endParaRPr lang="en-GB" sz="5400" dirty="0"/>
          </a:p>
        </p:txBody>
      </p:sp>
    </p:spTree>
    <p:extLst>
      <p:ext uri="{BB962C8B-B14F-4D97-AF65-F5344CB8AC3E}">
        <p14:creationId xmlns:p14="http://schemas.microsoft.com/office/powerpoint/2010/main" val="4252184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497887" cy="649287"/>
          </a:xfrm>
        </p:spPr>
        <p:txBody>
          <a:bodyPr/>
          <a:lstStyle/>
          <a:p>
            <a:pPr algn="ctr"/>
            <a:r>
              <a:rPr lang="en-GB" altLang="en-US" sz="5400" dirty="0"/>
              <a:t>STEP 1</a:t>
            </a:r>
            <a:endParaRPr lang="en-GB" sz="5400" dirty="0"/>
          </a:p>
        </p:txBody>
      </p:sp>
      <p:sp>
        <p:nvSpPr>
          <p:cNvPr id="3" name="Content Placeholder 2"/>
          <p:cNvSpPr>
            <a:spLocks noGrp="1"/>
          </p:cNvSpPr>
          <p:nvPr>
            <p:ph idx="1"/>
          </p:nvPr>
        </p:nvSpPr>
        <p:spPr>
          <a:xfrm>
            <a:off x="467544" y="2132856"/>
            <a:ext cx="7632700" cy="4968875"/>
          </a:xfrm>
        </p:spPr>
        <p:txBody>
          <a:bodyPr/>
          <a:lstStyle/>
          <a:p>
            <a:pPr marL="0" indent="0" algn="ctr">
              <a:buNone/>
            </a:pPr>
            <a:r>
              <a:rPr lang="en-GB" altLang="en-US" sz="5400" dirty="0"/>
              <a:t>Identify a specific difficulty and acquire a baseline</a:t>
            </a:r>
            <a:endParaRPr lang="en-GB" sz="5400" dirty="0"/>
          </a:p>
        </p:txBody>
      </p:sp>
    </p:spTree>
    <p:extLst>
      <p:ext uri="{BB962C8B-B14F-4D97-AF65-F5344CB8AC3E}">
        <p14:creationId xmlns:p14="http://schemas.microsoft.com/office/powerpoint/2010/main" val="3906892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1188" y="188913"/>
            <a:ext cx="7772400" cy="1143000"/>
          </a:xfrm>
        </p:spPr>
        <p:txBody>
          <a:bodyPr>
            <a:normAutofit/>
          </a:bodyPr>
          <a:lstStyle/>
          <a:p>
            <a:pPr eaLnBrk="1" fontAlgn="auto" hangingPunct="1">
              <a:spcAft>
                <a:spcPts val="0"/>
              </a:spcAft>
              <a:defRPr/>
            </a:pPr>
            <a:r>
              <a:rPr lang="en-GB" altLang="en-US" sz="4000" b="1"/>
              <a:t>Step 2</a:t>
            </a:r>
            <a:r>
              <a:rPr lang="en-GB" altLang="en-US" sz="4000"/>
              <a:t> </a:t>
            </a:r>
            <a:r>
              <a:rPr lang="en-GB" altLang="en-US" sz="4000" b="1"/>
              <a:t>-</a:t>
            </a:r>
            <a:r>
              <a:rPr lang="en-GB" altLang="en-US" sz="4000"/>
              <a:t> Setting a Target</a:t>
            </a:r>
          </a:p>
        </p:txBody>
      </p:sp>
      <p:sp>
        <p:nvSpPr>
          <p:cNvPr id="12291" name="Content Placeholder 4"/>
          <p:cNvSpPr>
            <a:spLocks noGrp="1"/>
          </p:cNvSpPr>
          <p:nvPr>
            <p:ph idx="1"/>
          </p:nvPr>
        </p:nvSpPr>
        <p:spPr>
          <a:xfrm>
            <a:off x="539750" y="2133600"/>
            <a:ext cx="3527425" cy="3467100"/>
          </a:xfrm>
        </p:spPr>
        <p:txBody>
          <a:bodyPr/>
          <a:lstStyle/>
          <a:p>
            <a:pPr eaLnBrk="1" hangingPunct="1"/>
            <a:r>
              <a:rPr lang="en-GB" altLang="en-US" b="1" dirty="0"/>
              <a:t>S</a:t>
            </a:r>
            <a:r>
              <a:rPr lang="en-GB" altLang="en-US" dirty="0"/>
              <a:t>pecific</a:t>
            </a:r>
          </a:p>
          <a:p>
            <a:pPr eaLnBrk="1" hangingPunct="1"/>
            <a:r>
              <a:rPr lang="en-GB" altLang="en-US" b="1" dirty="0"/>
              <a:t>M</a:t>
            </a:r>
            <a:r>
              <a:rPr lang="en-GB" altLang="en-US" dirty="0"/>
              <a:t>easurable</a:t>
            </a:r>
          </a:p>
          <a:p>
            <a:pPr eaLnBrk="1" hangingPunct="1"/>
            <a:r>
              <a:rPr lang="en-GB" altLang="en-US" b="1" dirty="0"/>
              <a:t>A</a:t>
            </a:r>
            <a:r>
              <a:rPr lang="en-GB" altLang="en-US" dirty="0"/>
              <a:t>greed</a:t>
            </a:r>
          </a:p>
          <a:p>
            <a:pPr eaLnBrk="1" hangingPunct="1"/>
            <a:r>
              <a:rPr lang="en-GB" altLang="en-US" b="1" dirty="0"/>
              <a:t>R</a:t>
            </a:r>
            <a:r>
              <a:rPr lang="en-GB" altLang="en-US" dirty="0"/>
              <a:t>ealistic</a:t>
            </a:r>
          </a:p>
          <a:p>
            <a:pPr eaLnBrk="1" hangingPunct="1"/>
            <a:r>
              <a:rPr lang="en-GB" altLang="en-US" b="1" dirty="0"/>
              <a:t>T</a:t>
            </a:r>
            <a:r>
              <a:rPr lang="en-GB" altLang="en-US" dirty="0"/>
              <a:t>ime bound</a:t>
            </a:r>
          </a:p>
        </p:txBody>
      </p:sp>
      <p:grpSp>
        <p:nvGrpSpPr>
          <p:cNvPr id="12292" name="Group 4"/>
          <p:cNvGrpSpPr>
            <a:grpSpLocks noGrp="1"/>
          </p:cNvGrpSpPr>
          <p:nvPr/>
        </p:nvGrpSpPr>
        <p:grpSpPr bwMode="auto">
          <a:xfrm>
            <a:off x="4932363" y="1700213"/>
            <a:ext cx="3573462" cy="3536950"/>
            <a:chOff x="2304" y="858"/>
            <a:chExt cx="3024" cy="3181"/>
          </a:xfrm>
        </p:grpSpPr>
        <p:sp>
          <p:nvSpPr>
            <p:cNvPr id="12294" name="Oval 5"/>
            <p:cNvSpPr>
              <a:spLocks noChangeArrowheads="1"/>
            </p:cNvSpPr>
            <p:nvPr/>
          </p:nvSpPr>
          <p:spPr bwMode="auto">
            <a:xfrm>
              <a:off x="2304" y="912"/>
              <a:ext cx="3024" cy="3024"/>
            </a:xfrm>
            <a:prstGeom prst="ellipse">
              <a:avLst/>
            </a:prstGeom>
            <a:solidFill>
              <a:srgbClr val="66CCFF"/>
            </a:solidFill>
            <a:ln w="9525">
              <a:solidFill>
                <a:srgbClr val="66CCFF"/>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5" name="Oval 6"/>
            <p:cNvSpPr>
              <a:spLocks noChangeArrowheads="1"/>
            </p:cNvSpPr>
            <p:nvPr/>
          </p:nvSpPr>
          <p:spPr bwMode="auto">
            <a:xfrm>
              <a:off x="2832" y="1440"/>
              <a:ext cx="1968" cy="1968"/>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6" name="Oval 7"/>
            <p:cNvSpPr>
              <a:spLocks noChangeArrowheads="1"/>
            </p:cNvSpPr>
            <p:nvPr/>
          </p:nvSpPr>
          <p:spPr bwMode="auto">
            <a:xfrm>
              <a:off x="3360" y="1968"/>
              <a:ext cx="912" cy="912"/>
            </a:xfrm>
            <a:prstGeom prst="ellipse">
              <a:avLst/>
            </a:prstGeom>
            <a:solidFill>
              <a:schemeClr val="bg1"/>
            </a:solidFill>
            <a:ln w="9525">
              <a:solidFill>
                <a:schemeClr val="bg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7" name="Text Box 8"/>
            <p:cNvSpPr txBox="1">
              <a:spLocks noChangeArrowheads="1"/>
            </p:cNvSpPr>
            <p:nvPr/>
          </p:nvSpPr>
          <p:spPr bwMode="auto">
            <a:xfrm>
              <a:off x="3575" y="858"/>
              <a:ext cx="471"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S</a:t>
              </a:r>
            </a:p>
          </p:txBody>
        </p:sp>
        <p:sp>
          <p:nvSpPr>
            <p:cNvPr id="12298" name="Text Box 9"/>
            <p:cNvSpPr txBox="1">
              <a:spLocks noChangeArrowheads="1"/>
            </p:cNvSpPr>
            <p:nvPr/>
          </p:nvSpPr>
          <p:spPr bwMode="auto">
            <a:xfrm>
              <a:off x="3548" y="1386"/>
              <a:ext cx="549"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M</a:t>
              </a:r>
            </a:p>
          </p:txBody>
        </p:sp>
        <p:sp>
          <p:nvSpPr>
            <p:cNvPr id="12299" name="Text Box 10"/>
            <p:cNvSpPr txBox="1">
              <a:spLocks noChangeArrowheads="1"/>
            </p:cNvSpPr>
            <p:nvPr/>
          </p:nvSpPr>
          <p:spPr bwMode="auto">
            <a:xfrm>
              <a:off x="3575" y="2059"/>
              <a:ext cx="497"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A</a:t>
              </a:r>
            </a:p>
          </p:txBody>
        </p:sp>
        <p:sp>
          <p:nvSpPr>
            <p:cNvPr id="12300" name="Text Box 11"/>
            <p:cNvSpPr txBox="1">
              <a:spLocks noChangeArrowheads="1"/>
            </p:cNvSpPr>
            <p:nvPr/>
          </p:nvSpPr>
          <p:spPr bwMode="auto">
            <a:xfrm>
              <a:off x="3575" y="2778"/>
              <a:ext cx="497"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R</a:t>
              </a:r>
            </a:p>
          </p:txBody>
        </p:sp>
        <p:sp>
          <p:nvSpPr>
            <p:cNvPr id="12301" name="Text Box 12"/>
            <p:cNvSpPr txBox="1">
              <a:spLocks noChangeArrowheads="1"/>
            </p:cNvSpPr>
            <p:nvPr/>
          </p:nvSpPr>
          <p:spPr bwMode="auto">
            <a:xfrm>
              <a:off x="3603" y="3354"/>
              <a:ext cx="445"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T</a:t>
              </a:r>
            </a:p>
          </p:txBody>
        </p:sp>
      </p:grpSp>
      <p:sp>
        <p:nvSpPr>
          <p:cNvPr id="12293" name="Text Placeholder 15"/>
          <p:cNvSpPr>
            <a:spLocks/>
          </p:cNvSpPr>
          <p:nvPr/>
        </p:nvSpPr>
        <p:spPr bwMode="auto">
          <a:xfrm>
            <a:off x="323850" y="1484313"/>
            <a:ext cx="4040188"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3200" b="1">
                <a:latin typeface="Arial" pitchFamily="34" charset="0"/>
              </a:rPr>
              <a:t>SMART TARGETS</a:t>
            </a:r>
          </a:p>
        </p:txBody>
      </p:sp>
    </p:spTree>
    <p:extLst>
      <p:ext uri="{BB962C8B-B14F-4D97-AF65-F5344CB8AC3E}">
        <p14:creationId xmlns:p14="http://schemas.microsoft.com/office/powerpoint/2010/main" val="4244373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a:t>2. Targets</a:t>
            </a:r>
          </a:p>
        </p:txBody>
      </p:sp>
      <p:sp>
        <p:nvSpPr>
          <p:cNvPr id="13315" name="Content Placeholder 2"/>
          <p:cNvSpPr>
            <a:spLocks noGrp="1"/>
          </p:cNvSpPr>
          <p:nvPr>
            <p:ph idx="4294967295"/>
          </p:nvPr>
        </p:nvSpPr>
        <p:spPr>
          <a:xfrm>
            <a:off x="935038" y="1125538"/>
            <a:ext cx="8208962" cy="4967287"/>
          </a:xfrm>
        </p:spPr>
        <p:txBody>
          <a:bodyPr/>
          <a:lstStyle/>
          <a:p>
            <a:pPr eaLnBrk="1" hangingPunct="1">
              <a:buFontTx/>
              <a:buNone/>
            </a:pPr>
            <a:r>
              <a:rPr lang="en-GB" altLang="en-US" dirty="0"/>
              <a:t>Target needs to contain three essential components:</a:t>
            </a:r>
          </a:p>
          <a:p>
            <a:pPr lvl="1" eaLnBrk="1" hangingPunct="1"/>
            <a:r>
              <a:rPr lang="en-GB" altLang="en-US" sz="2400" dirty="0">
                <a:solidFill>
                  <a:srgbClr val="FF0000"/>
                </a:solidFill>
              </a:rPr>
              <a:t>Observable verb</a:t>
            </a:r>
            <a:r>
              <a:rPr lang="en-GB" altLang="en-US" sz="2400" dirty="0"/>
              <a:t>  </a:t>
            </a:r>
          </a:p>
          <a:p>
            <a:pPr lvl="1" eaLnBrk="1" hangingPunct="1">
              <a:buFontTx/>
              <a:buNone/>
            </a:pPr>
            <a:r>
              <a:rPr lang="en-GB" altLang="en-US" sz="2400" dirty="0"/>
              <a:t>(</a:t>
            </a:r>
            <a:r>
              <a:rPr lang="en-GB" altLang="en-US" sz="2400" dirty="0" err="1"/>
              <a:t>ie</a:t>
            </a:r>
            <a:r>
              <a:rPr lang="en-GB" altLang="en-US" sz="2400" dirty="0"/>
              <a:t>. what the child will do)</a:t>
            </a:r>
          </a:p>
          <a:p>
            <a:pPr lvl="1" eaLnBrk="1" hangingPunct="1">
              <a:buFontTx/>
              <a:buNone/>
            </a:pPr>
            <a:endParaRPr lang="en-GB" altLang="en-US" sz="2400" dirty="0"/>
          </a:p>
          <a:p>
            <a:pPr lvl="1" eaLnBrk="1" hangingPunct="1"/>
            <a:r>
              <a:rPr lang="en-GB" altLang="en-US" sz="2400" dirty="0">
                <a:solidFill>
                  <a:schemeClr val="accent1"/>
                </a:solidFill>
              </a:rPr>
              <a:t>Conditions</a:t>
            </a:r>
            <a:r>
              <a:rPr lang="en-GB" altLang="en-US" sz="2400" dirty="0"/>
              <a:t> </a:t>
            </a:r>
          </a:p>
          <a:p>
            <a:pPr lvl="1" eaLnBrk="1" hangingPunct="1">
              <a:buFontTx/>
              <a:buNone/>
            </a:pPr>
            <a:r>
              <a:rPr lang="en-GB" altLang="en-US" sz="2400" dirty="0"/>
              <a:t>(e.g. teaching materials or teacher instructions)</a:t>
            </a:r>
          </a:p>
          <a:p>
            <a:pPr lvl="1" eaLnBrk="1" hangingPunct="1">
              <a:buFontTx/>
              <a:buNone/>
            </a:pPr>
            <a:endParaRPr lang="en-GB" altLang="en-US" sz="2400" dirty="0"/>
          </a:p>
          <a:p>
            <a:pPr lvl="1" eaLnBrk="1" hangingPunct="1"/>
            <a:r>
              <a:rPr lang="en-GB" altLang="en-US" sz="2400" dirty="0">
                <a:solidFill>
                  <a:schemeClr val="accent2"/>
                </a:solidFill>
              </a:rPr>
              <a:t>Criterion</a:t>
            </a:r>
            <a:r>
              <a:rPr lang="en-GB" altLang="en-US" sz="2400" dirty="0"/>
              <a:t> </a:t>
            </a:r>
          </a:p>
          <a:p>
            <a:pPr lvl="1" eaLnBrk="1" hangingPunct="1">
              <a:buFontTx/>
              <a:buNone/>
            </a:pPr>
            <a:r>
              <a:rPr lang="en-GB" altLang="en-US" sz="2400" dirty="0"/>
              <a:t>(success criteria – how will we know it’s been successful?)</a:t>
            </a:r>
          </a:p>
        </p:txBody>
      </p:sp>
    </p:spTree>
    <p:extLst>
      <p:ext uri="{BB962C8B-B14F-4D97-AF65-F5344CB8AC3E}">
        <p14:creationId xmlns:p14="http://schemas.microsoft.com/office/powerpoint/2010/main" val="335203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1188" y="188913"/>
            <a:ext cx="7772400" cy="1143000"/>
          </a:xfrm>
        </p:spPr>
        <p:txBody>
          <a:bodyPr/>
          <a:lstStyle/>
          <a:p>
            <a:pPr algn="ctr" eaLnBrk="1" fontAlgn="auto" hangingPunct="1">
              <a:spcAft>
                <a:spcPts val="0"/>
              </a:spcAft>
              <a:defRPr/>
            </a:pPr>
            <a:r>
              <a:rPr lang="en-GB" altLang="en-US" sz="3200" dirty="0"/>
              <a:t>2. Targets</a:t>
            </a:r>
          </a:p>
        </p:txBody>
      </p:sp>
      <p:sp>
        <p:nvSpPr>
          <p:cNvPr id="14339" name="Rectangle 3"/>
          <p:cNvSpPr>
            <a:spLocks noGrp="1" noChangeArrowheads="1"/>
          </p:cNvSpPr>
          <p:nvPr>
            <p:ph idx="1"/>
          </p:nvPr>
        </p:nvSpPr>
        <p:spPr>
          <a:xfrm>
            <a:off x="684213" y="1628775"/>
            <a:ext cx="7772400" cy="4114800"/>
          </a:xfrm>
        </p:spPr>
        <p:txBody>
          <a:bodyPr/>
          <a:lstStyle/>
          <a:p>
            <a:pPr eaLnBrk="1" hangingPunct="1">
              <a:buFontTx/>
              <a:buNone/>
            </a:pPr>
            <a:r>
              <a:rPr lang="en-GB" altLang="en-US" sz="2800" dirty="0"/>
              <a:t>E.g.</a:t>
            </a:r>
          </a:p>
          <a:p>
            <a:pPr eaLnBrk="1" hangingPunct="1">
              <a:buFontTx/>
              <a:buNone/>
            </a:pPr>
            <a:r>
              <a:rPr lang="en-GB" altLang="en-US" sz="2800" dirty="0"/>
              <a:t>“Scott will read aloud </a:t>
            </a:r>
            <a:r>
              <a:rPr lang="en-GB" altLang="en-US" sz="2800" b="1" i="1" dirty="0">
                <a:solidFill>
                  <a:srgbClr val="FF0000"/>
                </a:solidFill>
              </a:rPr>
              <a:t>(observable verb)</a:t>
            </a:r>
            <a:r>
              <a:rPr lang="en-GB" altLang="en-US" sz="2800" dirty="0"/>
              <a:t> </a:t>
            </a:r>
            <a:r>
              <a:rPr lang="en-GB" altLang="en-US" sz="2800" b="1" dirty="0"/>
              <a:t>50</a:t>
            </a:r>
            <a:r>
              <a:rPr lang="en-GB" altLang="en-US" sz="2800" dirty="0"/>
              <a:t> words per minute with no more than </a:t>
            </a:r>
            <a:r>
              <a:rPr lang="en-GB" altLang="en-US" sz="2800" b="1" dirty="0"/>
              <a:t>2</a:t>
            </a:r>
            <a:r>
              <a:rPr lang="en-GB" altLang="en-US" sz="2800" dirty="0"/>
              <a:t> errors </a:t>
            </a:r>
            <a:r>
              <a:rPr lang="en-GB" altLang="en-US" sz="2800" b="1" i="1" dirty="0">
                <a:solidFill>
                  <a:schemeClr val="accent1"/>
                </a:solidFill>
              </a:rPr>
              <a:t>(conditions)</a:t>
            </a:r>
            <a:r>
              <a:rPr lang="en-GB" altLang="en-US" sz="2800" dirty="0">
                <a:solidFill>
                  <a:schemeClr val="accent1"/>
                </a:solidFill>
              </a:rPr>
              <a:t> </a:t>
            </a:r>
            <a:r>
              <a:rPr lang="en-GB" altLang="en-US" sz="2800" dirty="0"/>
              <a:t>on three consecutive days </a:t>
            </a:r>
            <a:r>
              <a:rPr lang="en-GB" altLang="en-US" sz="2800" b="1" i="1" dirty="0">
                <a:solidFill>
                  <a:srgbClr val="0000FF"/>
                </a:solidFill>
              </a:rPr>
              <a:t>(criterion).</a:t>
            </a:r>
            <a:r>
              <a:rPr lang="en-GB" altLang="en-US" sz="2800" dirty="0"/>
              <a:t>”</a:t>
            </a:r>
          </a:p>
          <a:p>
            <a:pPr eaLnBrk="1" hangingPunct="1">
              <a:buFontTx/>
              <a:buNone/>
            </a:pPr>
            <a:endParaRPr lang="en-GB" altLang="en-US" sz="1800" dirty="0"/>
          </a:p>
        </p:txBody>
      </p:sp>
    </p:spTree>
    <p:extLst>
      <p:ext uri="{BB962C8B-B14F-4D97-AF65-F5344CB8AC3E}">
        <p14:creationId xmlns:p14="http://schemas.microsoft.com/office/powerpoint/2010/main" val="2561491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t>3. </a:t>
            </a:r>
            <a:r>
              <a:rPr lang="en-GB" altLang="en-US" b="1" dirty="0"/>
              <a:t>Teaching sessions</a:t>
            </a:r>
            <a:endParaRPr lang="en-GB" b="1" dirty="0"/>
          </a:p>
        </p:txBody>
      </p:sp>
      <p:sp>
        <p:nvSpPr>
          <p:cNvPr id="3" name="Content Placeholder 2"/>
          <p:cNvSpPr>
            <a:spLocks noGrp="1"/>
          </p:cNvSpPr>
          <p:nvPr>
            <p:ph idx="1"/>
          </p:nvPr>
        </p:nvSpPr>
        <p:spPr/>
        <p:txBody>
          <a:bodyPr/>
          <a:lstStyle/>
          <a:p>
            <a:pPr marL="0" indent="0" eaLnBrk="1" hangingPunct="1">
              <a:buNone/>
            </a:pPr>
            <a:r>
              <a:rPr lang="en-GB" altLang="en-US" sz="2800" dirty="0"/>
              <a:t>Short frequent and target specific</a:t>
            </a:r>
          </a:p>
          <a:p>
            <a:pPr marL="0" indent="0" eaLnBrk="1" hangingPunct="1">
              <a:buNone/>
            </a:pPr>
            <a:endParaRPr lang="en-GB" altLang="en-US" b="1" dirty="0"/>
          </a:p>
          <a:p>
            <a:pPr eaLnBrk="1" hangingPunct="1"/>
            <a:r>
              <a:rPr lang="en-GB" altLang="en-US" sz="2800" dirty="0"/>
              <a:t>The pupil is involved in a daily 10 – 15 minute session with a member of staff</a:t>
            </a:r>
          </a:p>
          <a:p>
            <a:pPr eaLnBrk="1" hangingPunct="1"/>
            <a:r>
              <a:rPr lang="en-GB" altLang="en-US" sz="2800" dirty="0"/>
              <a:t>Sessions should include around 10 minutes of specific teaching input</a:t>
            </a:r>
          </a:p>
          <a:p>
            <a:pPr eaLnBrk="1" hangingPunct="1"/>
            <a:r>
              <a:rPr lang="en-GB" altLang="en-US" sz="2800" dirty="0"/>
              <a:t>The teaching input is followed by a 1 minute timed test - known as a probe</a:t>
            </a:r>
          </a:p>
          <a:p>
            <a:endParaRPr lang="en-GB" dirty="0"/>
          </a:p>
        </p:txBody>
      </p:sp>
    </p:spTree>
    <p:extLst>
      <p:ext uri="{BB962C8B-B14F-4D97-AF65-F5344CB8AC3E}">
        <p14:creationId xmlns:p14="http://schemas.microsoft.com/office/powerpoint/2010/main" val="80379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altLang="en-US" dirty="0"/>
              <a:t>Monitor child’s daily performance using a probe</a:t>
            </a:r>
            <a:endParaRPr lang="en-GB" dirty="0"/>
          </a:p>
        </p:txBody>
      </p:sp>
      <p:sp>
        <p:nvSpPr>
          <p:cNvPr id="3" name="Content Placeholder 2"/>
          <p:cNvSpPr>
            <a:spLocks noGrp="1"/>
          </p:cNvSpPr>
          <p:nvPr>
            <p:ph idx="1"/>
          </p:nvPr>
        </p:nvSpPr>
        <p:spPr/>
        <p:txBody>
          <a:bodyPr/>
          <a:lstStyle/>
          <a:p>
            <a:r>
              <a:rPr lang="en-GB" altLang="en-US" dirty="0"/>
              <a:t>The teaching input is followed by a 1 minute timed test - known as a probe</a:t>
            </a:r>
          </a:p>
          <a:p>
            <a:endParaRPr lang="en-GB" dirty="0"/>
          </a:p>
        </p:txBody>
      </p:sp>
    </p:spTree>
    <p:extLst>
      <p:ext uri="{BB962C8B-B14F-4D97-AF65-F5344CB8AC3E}">
        <p14:creationId xmlns:p14="http://schemas.microsoft.com/office/powerpoint/2010/main" val="688832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23850" y="404813"/>
            <a:ext cx="8353425" cy="1143000"/>
          </a:xfrm>
        </p:spPr>
        <p:txBody>
          <a:bodyPr/>
          <a:lstStyle/>
          <a:p>
            <a:pPr algn="ctr" eaLnBrk="1" fontAlgn="auto" hangingPunct="1">
              <a:spcAft>
                <a:spcPts val="0"/>
              </a:spcAft>
              <a:defRPr/>
            </a:pPr>
            <a:r>
              <a:rPr lang="en-GB" altLang="en-US" sz="3200" b="1" dirty="0"/>
              <a:t>Step 3-</a:t>
            </a:r>
            <a:r>
              <a:rPr lang="en-GB" altLang="en-US" sz="3200" dirty="0"/>
              <a:t> Teaching </a:t>
            </a:r>
            <a:br>
              <a:rPr lang="en-GB" altLang="en-US" sz="3200" dirty="0"/>
            </a:br>
            <a:r>
              <a:rPr lang="en-GB" altLang="en-US" sz="3200" dirty="0"/>
              <a:t>(6 to 10 mins per day)</a:t>
            </a:r>
          </a:p>
        </p:txBody>
      </p:sp>
      <p:sp>
        <p:nvSpPr>
          <p:cNvPr id="16387" name="Rectangle 3"/>
          <p:cNvSpPr>
            <a:spLocks noGrp="1" noChangeArrowheads="1"/>
          </p:cNvSpPr>
          <p:nvPr>
            <p:ph idx="1"/>
          </p:nvPr>
        </p:nvSpPr>
        <p:spPr>
          <a:xfrm>
            <a:off x="323850" y="1981200"/>
            <a:ext cx="8496300" cy="4114800"/>
          </a:xfrm>
        </p:spPr>
        <p:txBody>
          <a:bodyPr/>
          <a:lstStyle/>
          <a:p>
            <a:pPr eaLnBrk="1" hangingPunct="1">
              <a:lnSpc>
                <a:spcPct val="80000"/>
              </a:lnSpc>
              <a:buFontTx/>
              <a:buNone/>
            </a:pPr>
            <a:r>
              <a:rPr lang="en-GB" altLang="en-US" sz="2400" dirty="0"/>
              <a:t>1. </a:t>
            </a:r>
            <a:r>
              <a:rPr lang="en-GB" altLang="en-US" dirty="0"/>
              <a:t>Choose three words the child struggled with from your baseline assessment (NB: the number of words chosen to focus on may vary according to child’s difficulties).</a:t>
            </a:r>
          </a:p>
          <a:p>
            <a:pPr eaLnBrk="1" hangingPunct="1">
              <a:lnSpc>
                <a:spcPct val="80000"/>
              </a:lnSpc>
              <a:buFontTx/>
              <a:buNone/>
            </a:pPr>
            <a:r>
              <a:rPr lang="en-GB" altLang="en-US" dirty="0"/>
              <a:t>			</a:t>
            </a:r>
          </a:p>
          <a:p>
            <a:pPr eaLnBrk="1" hangingPunct="1">
              <a:lnSpc>
                <a:spcPct val="80000"/>
              </a:lnSpc>
              <a:buFontTx/>
              <a:buNone/>
            </a:pPr>
            <a:r>
              <a:rPr lang="en-GB" altLang="en-US" dirty="0"/>
              <a:t>2. Choose 1 or 2 words the child already knows – interleave learning.</a:t>
            </a:r>
          </a:p>
          <a:p>
            <a:pPr eaLnBrk="1" hangingPunct="1">
              <a:lnSpc>
                <a:spcPct val="80000"/>
              </a:lnSpc>
              <a:buFontTx/>
              <a:buNone/>
            </a:pPr>
            <a:endParaRPr lang="en-GB" altLang="en-US" dirty="0"/>
          </a:p>
          <a:p>
            <a:pPr eaLnBrk="1" hangingPunct="1">
              <a:lnSpc>
                <a:spcPct val="80000"/>
              </a:lnSpc>
              <a:buFontTx/>
              <a:buNone/>
            </a:pPr>
            <a:r>
              <a:rPr lang="en-GB" altLang="en-US" dirty="0"/>
              <a:t>3. Introduce the target words to child.</a:t>
            </a:r>
          </a:p>
          <a:p>
            <a:pPr eaLnBrk="1" hangingPunct="1">
              <a:lnSpc>
                <a:spcPct val="80000"/>
              </a:lnSpc>
              <a:buFontTx/>
              <a:buNone/>
            </a:pPr>
            <a:endParaRPr lang="en-GB" altLang="en-US" dirty="0"/>
          </a:p>
          <a:p>
            <a:pPr eaLnBrk="1" hangingPunct="1">
              <a:lnSpc>
                <a:spcPct val="80000"/>
              </a:lnSpc>
              <a:buFontTx/>
              <a:buNone/>
            </a:pPr>
            <a:r>
              <a:rPr lang="en-GB" altLang="en-US" dirty="0"/>
              <a:t>4. Use teaching strategies which will increase opportunities for child to recognise the words.</a:t>
            </a:r>
          </a:p>
        </p:txBody>
      </p:sp>
    </p:spTree>
    <p:extLst>
      <p:ext uri="{BB962C8B-B14F-4D97-AF65-F5344CB8AC3E}">
        <p14:creationId xmlns:p14="http://schemas.microsoft.com/office/powerpoint/2010/main" val="391031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4213" y="260350"/>
            <a:ext cx="7772400" cy="927100"/>
          </a:xfrm>
        </p:spPr>
        <p:txBody>
          <a:bodyPr/>
          <a:lstStyle/>
          <a:p>
            <a:pPr algn="ctr" eaLnBrk="1" fontAlgn="auto" hangingPunct="1">
              <a:spcAft>
                <a:spcPts val="0"/>
              </a:spcAft>
              <a:defRPr/>
            </a:pPr>
            <a:r>
              <a:rPr lang="en-GB" altLang="en-US" sz="3200" dirty="0"/>
              <a:t>3. Teaching methods</a:t>
            </a:r>
          </a:p>
        </p:txBody>
      </p:sp>
      <p:sp>
        <p:nvSpPr>
          <p:cNvPr id="17411" name="Rectangle 3"/>
          <p:cNvSpPr>
            <a:spLocks noChangeArrowheads="1"/>
          </p:cNvSpPr>
          <p:nvPr/>
        </p:nvSpPr>
        <p:spPr bwMode="auto">
          <a:xfrm>
            <a:off x="0" y="3500438"/>
            <a:ext cx="8820150"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80000"/>
              </a:lnSpc>
              <a:buClrTx/>
              <a:buFontTx/>
              <a:buChar char="•"/>
            </a:pPr>
            <a:r>
              <a:rPr lang="en-GB" altLang="en-US" sz="1800" dirty="0">
                <a:latin typeface="Arial" pitchFamily="34" charset="0"/>
              </a:rPr>
              <a:t>Use the model-lead-test sequence with each sight word in turn</a:t>
            </a:r>
          </a:p>
          <a:p>
            <a:pPr algn="l" eaLnBrk="1" hangingPunct="1">
              <a:lnSpc>
                <a:spcPct val="80000"/>
              </a:lnSpc>
              <a:buClrTx/>
              <a:buFontTx/>
              <a:buChar char="•"/>
            </a:pPr>
            <a:r>
              <a:rPr lang="en-GB" altLang="en-US" sz="1800" dirty="0">
                <a:latin typeface="Arial" pitchFamily="34" charset="0"/>
              </a:rPr>
              <a:t>Alter the sequence and continue until each word has been repeated 3-5 times</a:t>
            </a:r>
          </a:p>
          <a:p>
            <a:pPr algn="l" eaLnBrk="1" hangingPunct="1">
              <a:lnSpc>
                <a:spcPct val="80000"/>
              </a:lnSpc>
              <a:buClrTx/>
              <a:buFontTx/>
              <a:buChar char="•"/>
            </a:pPr>
            <a:r>
              <a:rPr lang="en-GB" altLang="en-US" sz="1800" dirty="0">
                <a:latin typeface="Arial" pitchFamily="34" charset="0"/>
              </a:rPr>
              <a:t>Explain to the pupil that they are going to try the sight words alone- but they may have help if they want it</a:t>
            </a:r>
          </a:p>
          <a:p>
            <a:pPr algn="l" eaLnBrk="1" hangingPunct="1">
              <a:lnSpc>
                <a:spcPct val="80000"/>
              </a:lnSpc>
              <a:buClrTx/>
              <a:buFontTx/>
              <a:buChar char="•"/>
            </a:pPr>
            <a:r>
              <a:rPr lang="en-GB" altLang="en-US" sz="1800" dirty="0">
                <a:latin typeface="Arial" pitchFamily="34" charset="0"/>
              </a:rPr>
              <a:t>The pupil tries the words alone – praise correct answers.  If the word is incorrect or if the pupil hesitates more than 2 seconds use the correction procedure:</a:t>
            </a:r>
          </a:p>
          <a:p>
            <a:pPr algn="l" eaLnBrk="1" hangingPunct="1">
              <a:lnSpc>
                <a:spcPct val="80000"/>
              </a:lnSpc>
              <a:buClrTx/>
              <a:buFontTx/>
              <a:buNone/>
            </a:pPr>
            <a:endParaRPr lang="en-GB" altLang="en-US" sz="1800" dirty="0">
              <a:latin typeface="Arial" pitchFamily="34" charset="0"/>
            </a:endParaRPr>
          </a:p>
          <a:p>
            <a:pPr algn="l" eaLnBrk="1" hangingPunct="1">
              <a:lnSpc>
                <a:spcPct val="80000"/>
              </a:lnSpc>
              <a:buClrTx/>
              <a:buFontTx/>
              <a:buNone/>
            </a:pPr>
            <a:r>
              <a:rPr lang="en-GB" altLang="en-US" sz="1800" dirty="0">
                <a:latin typeface="Arial" pitchFamily="34" charset="0"/>
              </a:rPr>
              <a:t>				Model (adult) “this word says…”</a:t>
            </a:r>
          </a:p>
          <a:p>
            <a:pPr algn="l" eaLnBrk="1" hangingPunct="1">
              <a:lnSpc>
                <a:spcPct val="80000"/>
              </a:lnSpc>
              <a:buClrTx/>
              <a:buFontTx/>
              <a:buNone/>
            </a:pPr>
            <a:r>
              <a:rPr lang="en-GB" altLang="en-US" sz="1800" dirty="0">
                <a:latin typeface="Arial" pitchFamily="34" charset="0"/>
              </a:rPr>
              <a:t>				Test (child) “now you say it”… or “what word?”</a:t>
            </a:r>
          </a:p>
        </p:txBody>
      </p:sp>
      <p:sp>
        <p:nvSpPr>
          <p:cNvPr id="17412" name="Text Box 4"/>
          <p:cNvSpPr txBox="1">
            <a:spLocks noChangeArrowheads="1"/>
          </p:cNvSpPr>
          <p:nvPr/>
        </p:nvSpPr>
        <p:spPr bwMode="auto">
          <a:xfrm>
            <a:off x="2432050" y="1700213"/>
            <a:ext cx="5545138" cy="1635125"/>
          </a:xfrm>
          <a:prstGeom prst="rect">
            <a:avLst/>
          </a:prstGeom>
          <a:noFill/>
          <a:ln w="19050">
            <a:solidFill>
              <a:srgbClr val="9E0B0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a:latin typeface="Arial" pitchFamily="34" charset="0"/>
              </a:rPr>
              <a:t>Model (adult) – “this word says…”</a:t>
            </a:r>
          </a:p>
          <a:p>
            <a:pPr eaLnBrk="1" hangingPunct="1"/>
            <a:endParaRPr lang="en-GB" altLang="en-US" sz="2000">
              <a:latin typeface="Arial" pitchFamily="34" charset="0"/>
            </a:endParaRPr>
          </a:p>
          <a:p>
            <a:pPr eaLnBrk="1" hangingPunct="1"/>
            <a:r>
              <a:rPr lang="en-GB" altLang="en-US" sz="2000">
                <a:latin typeface="Arial" pitchFamily="34" charset="0"/>
              </a:rPr>
              <a:t>Lead (together) – “say it with me”</a:t>
            </a:r>
          </a:p>
          <a:p>
            <a:pPr eaLnBrk="1" hangingPunct="1"/>
            <a:endParaRPr lang="en-GB" altLang="en-US" sz="2000">
              <a:latin typeface="Arial" pitchFamily="34" charset="0"/>
            </a:endParaRPr>
          </a:p>
          <a:p>
            <a:pPr eaLnBrk="1" hangingPunct="1"/>
            <a:r>
              <a:rPr lang="en-GB" altLang="en-US" sz="2000">
                <a:latin typeface="Arial" pitchFamily="34" charset="0"/>
              </a:rPr>
              <a:t>Test (child) – “you say it”… or “what word?”</a:t>
            </a:r>
            <a:endParaRPr lang="en-GB" altLang="en-US" sz="2000" b="1">
              <a:latin typeface="Arial" pitchFamily="34" charset="0"/>
            </a:endParaRPr>
          </a:p>
        </p:txBody>
      </p:sp>
      <p:sp>
        <p:nvSpPr>
          <p:cNvPr id="17413" name="Text Box 5"/>
          <p:cNvSpPr txBox="1">
            <a:spLocks noChangeArrowheads="1"/>
          </p:cNvSpPr>
          <p:nvPr/>
        </p:nvSpPr>
        <p:spPr bwMode="auto">
          <a:xfrm>
            <a:off x="415925" y="1268413"/>
            <a:ext cx="3313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20000"/>
              </a:spcBef>
            </a:pPr>
            <a:r>
              <a:rPr lang="en-GB" altLang="en-US" sz="2000" b="1">
                <a:latin typeface="Arial" pitchFamily="34" charset="0"/>
              </a:rPr>
              <a:t>E.g. Direct Instruction</a:t>
            </a:r>
          </a:p>
        </p:txBody>
      </p:sp>
    </p:spTree>
    <p:extLst>
      <p:ext uri="{BB962C8B-B14F-4D97-AF65-F5344CB8AC3E}">
        <p14:creationId xmlns:p14="http://schemas.microsoft.com/office/powerpoint/2010/main" val="3441200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idx="4294967295"/>
          </p:nvPr>
        </p:nvSpPr>
        <p:spPr>
          <a:xfrm>
            <a:off x="0" y="609600"/>
            <a:ext cx="8569325" cy="1143000"/>
          </a:xfrm>
        </p:spPr>
        <p:txBody>
          <a:bodyPr/>
          <a:lstStyle/>
          <a:p>
            <a:pPr algn="ctr" eaLnBrk="1" fontAlgn="auto" hangingPunct="1">
              <a:spcAft>
                <a:spcPts val="0"/>
              </a:spcAft>
              <a:defRPr/>
            </a:pPr>
            <a:r>
              <a:rPr lang="en-GB" altLang="en-US" sz="3200" dirty="0"/>
              <a:t>3. Examples of some teaching methods:</a:t>
            </a:r>
          </a:p>
        </p:txBody>
      </p:sp>
      <p:sp>
        <p:nvSpPr>
          <p:cNvPr id="18435" name="Rectangle 3"/>
          <p:cNvSpPr txBox="1">
            <a:spLocks noChangeArrowheads="1"/>
          </p:cNvSpPr>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pPr>
            <a:r>
              <a:rPr lang="en-GB" altLang="en-US" sz="3200" u="sng" dirty="0"/>
              <a:t>Magnetic Letters</a:t>
            </a:r>
          </a:p>
          <a:p>
            <a:pPr eaLnBrk="1" hangingPunct="1">
              <a:buClrTx/>
            </a:pPr>
            <a:endParaRPr lang="en-GB" altLang="en-US" sz="3200" u="sng" dirty="0"/>
          </a:p>
          <a:p>
            <a:pPr eaLnBrk="1" hangingPunct="1">
              <a:buClrTx/>
            </a:pPr>
            <a:endParaRPr lang="en-GB" altLang="en-US" sz="3200" u="sng" dirty="0"/>
          </a:p>
        </p:txBody>
      </p:sp>
      <p:sp>
        <p:nvSpPr>
          <p:cNvPr id="5" name="Rectangle 4"/>
          <p:cNvSpPr>
            <a:spLocks noChangeArrowheads="1"/>
          </p:cNvSpPr>
          <p:nvPr/>
        </p:nvSpPr>
        <p:spPr bwMode="auto">
          <a:xfrm>
            <a:off x="928688" y="2214563"/>
            <a:ext cx="7429500" cy="3846512"/>
          </a:xfrm>
          <a:prstGeom prst="rect">
            <a:avLst/>
          </a:prstGeom>
          <a:noFill/>
          <a:ln w="9525">
            <a:noFill/>
            <a:miter lim="800000"/>
            <a:headEnd/>
            <a:tailEnd/>
          </a:ln>
          <a:effectLst/>
        </p:spPr>
        <p:txBody>
          <a:bodyPr>
            <a:spAutoFit/>
          </a:bodyPr>
          <a:lstStyle/>
          <a:p>
            <a:pPr fontAlgn="auto">
              <a:lnSpc>
                <a:spcPct val="90000"/>
              </a:lnSpc>
              <a:spcBef>
                <a:spcPct val="50000"/>
              </a:spcBef>
              <a:spcAft>
                <a:spcPts val="0"/>
              </a:spcAft>
              <a:defRPr/>
            </a:pPr>
            <a:r>
              <a:rPr lang="en-GB" sz="1600" dirty="0">
                <a:effectLst>
                  <a:outerShdw blurRad="38100" dist="38100" dir="2700000" algn="tl">
                    <a:srgbClr val="C0C0C0"/>
                  </a:outerShdw>
                </a:effectLst>
                <a:latin typeface="Arial Black" pitchFamily="34" charset="0"/>
              </a:rPr>
              <a:t>Can you use the letters to make the words:  is  that  had  went</a:t>
            </a:r>
          </a:p>
          <a:p>
            <a:pPr fontAlgn="auto">
              <a:lnSpc>
                <a:spcPct val="90000"/>
              </a:lnSpc>
              <a:spcBef>
                <a:spcPct val="50000"/>
              </a:spcBef>
              <a:spcAft>
                <a:spcPts val="0"/>
              </a:spcAft>
              <a:defRPr/>
            </a:pPr>
            <a:endParaRPr lang="en-GB" sz="1600" dirty="0">
              <a:effectLst>
                <a:outerShdw blurRad="38100" dist="38100" dir="2700000" algn="tl">
                  <a:srgbClr val="C0C0C0"/>
                </a:outerShdw>
              </a:effectLst>
              <a:latin typeface="Arial Black" pitchFamily="34" charset="0"/>
            </a:endParaRPr>
          </a:p>
          <a:p>
            <a:pPr fontAlgn="auto">
              <a:lnSpc>
                <a:spcPct val="90000"/>
              </a:lnSpc>
              <a:spcBef>
                <a:spcPct val="50000"/>
              </a:spcBef>
              <a:spcAft>
                <a:spcPts val="0"/>
              </a:spcAft>
              <a:defRPr/>
            </a:pPr>
            <a:r>
              <a:rPr lang="en-GB" b="1" dirty="0">
                <a:effectLst>
                  <a:outerShdw blurRad="38100" dist="38100" dir="2700000" algn="tl">
                    <a:srgbClr val="C0C0C0"/>
                  </a:outerShdw>
                </a:effectLst>
                <a:latin typeface="Rockwell Extra Bold" pitchFamily="18" charset="0"/>
              </a:rPr>
              <a:t>		</a:t>
            </a:r>
            <a:r>
              <a:rPr lang="en-GB" sz="4400" b="1" dirty="0">
                <a:solidFill>
                  <a:schemeClr val="accent2"/>
                </a:solidFill>
                <a:effectLst>
                  <a:outerShdw blurRad="38100" dist="38100" dir="2700000" algn="tl">
                    <a:srgbClr val="C0C0C0"/>
                  </a:outerShdw>
                </a:effectLst>
                <a:latin typeface="Rockwell Extra Bold" pitchFamily="18" charset="0"/>
              </a:rPr>
              <a:t>A	  </a:t>
            </a:r>
            <a:r>
              <a:rPr lang="en-GB" sz="4400" b="1" dirty="0">
                <a:solidFill>
                  <a:srgbClr val="CCFF66"/>
                </a:solidFill>
                <a:effectLst>
                  <a:outerShdw blurRad="38100" dist="38100" dir="2700000" algn="tl">
                    <a:srgbClr val="C0C0C0"/>
                  </a:outerShdw>
                </a:effectLst>
                <a:latin typeface="Rockwell Extra Bold" pitchFamily="18" charset="0"/>
              </a:rPr>
              <a:t>S</a:t>
            </a:r>
            <a:r>
              <a:rPr lang="en-GB" sz="4400" b="1" dirty="0">
                <a:solidFill>
                  <a:schemeClr val="accent2"/>
                </a:solidFill>
                <a:effectLst>
                  <a:outerShdw blurRad="38100" dist="38100" dir="2700000" algn="tl">
                    <a:srgbClr val="C0C0C0"/>
                  </a:outerShdw>
                </a:effectLst>
                <a:latin typeface="Rockwell Extra Bold" pitchFamily="18" charset="0"/>
              </a:rPr>
              <a:t>		T</a:t>
            </a:r>
            <a:endParaRPr lang="en-GB" b="1" dirty="0">
              <a:solidFill>
                <a:schemeClr val="accent2"/>
              </a:solidFill>
              <a:effectLst>
                <a:outerShdw blurRad="38100" dist="38100" dir="2700000" algn="tl">
                  <a:srgbClr val="C0C0C0"/>
                </a:outerShdw>
              </a:effectLst>
              <a:latin typeface="Rockwell Extra Bold" pitchFamily="18" charset="0"/>
            </a:endParaRPr>
          </a:p>
          <a:p>
            <a:pPr fontAlgn="auto">
              <a:lnSpc>
                <a:spcPct val="90000"/>
              </a:lnSpc>
              <a:spcBef>
                <a:spcPct val="50000"/>
              </a:spcBef>
              <a:spcAft>
                <a:spcPts val="0"/>
              </a:spcAft>
              <a:defRPr/>
            </a:pPr>
            <a:r>
              <a:rPr lang="en-GB" sz="4400" b="1" dirty="0">
                <a:solidFill>
                  <a:srgbClr val="CCFF66"/>
                </a:solidFill>
                <a:effectLst>
                  <a:outerShdw blurRad="38100" dist="38100" dir="2700000" algn="tl">
                    <a:srgbClr val="C0C0C0"/>
                  </a:outerShdw>
                </a:effectLst>
                <a:latin typeface="Rockwell Extra Bold" pitchFamily="18" charset="0"/>
              </a:rPr>
              <a:t>D</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rgbClr val="FF0000"/>
                </a:solidFill>
                <a:effectLst>
                  <a:outerShdw blurRad="38100" dist="38100" dir="2700000" algn="tl">
                    <a:srgbClr val="C0C0C0"/>
                  </a:outerShdw>
                </a:effectLst>
                <a:latin typeface="Rockwell Extra Bold" pitchFamily="18" charset="0"/>
              </a:rPr>
              <a:t>H</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chemeClr val="accent2"/>
                </a:solidFill>
                <a:effectLst>
                  <a:outerShdw blurRad="38100" dist="38100" dir="2700000" algn="tl">
                    <a:srgbClr val="C0C0C0"/>
                  </a:outerShdw>
                </a:effectLst>
                <a:latin typeface="Rockwell Extra Bold" pitchFamily="18" charset="0"/>
              </a:rPr>
              <a:t>I		</a:t>
            </a:r>
            <a:r>
              <a:rPr lang="en-GB" sz="4400" dirty="0">
                <a:solidFill>
                  <a:srgbClr val="FF0000"/>
                </a:solidFill>
                <a:effectLst>
                  <a:outerShdw blurRad="38100" dist="38100" dir="2700000" algn="tl">
                    <a:srgbClr val="C0C0C0"/>
                  </a:outerShdw>
                </a:effectLst>
                <a:latin typeface="Rockwell Extra Bold" pitchFamily="18" charset="0"/>
              </a:rPr>
              <a:t>Y</a:t>
            </a:r>
          </a:p>
          <a:p>
            <a:pPr fontAlgn="auto">
              <a:lnSpc>
                <a:spcPct val="90000"/>
              </a:lnSpc>
              <a:spcBef>
                <a:spcPct val="50000"/>
              </a:spcBef>
              <a:spcAft>
                <a:spcPts val="0"/>
              </a:spcAft>
              <a:defRPr/>
            </a:pPr>
            <a:r>
              <a:rPr lang="en-GB" sz="1600" dirty="0">
                <a:solidFill>
                  <a:schemeClr val="accent2"/>
                </a:solidFill>
                <a:effectLst>
                  <a:outerShdw blurRad="38100" dist="38100" dir="2700000" algn="tl">
                    <a:srgbClr val="C0C0C0"/>
                  </a:outerShdw>
                </a:effectLst>
                <a:latin typeface="Arial Black" pitchFamily="34" charset="0"/>
              </a:rPr>
              <a:t>	</a:t>
            </a:r>
          </a:p>
          <a:p>
            <a:pPr fontAlgn="auto">
              <a:lnSpc>
                <a:spcPct val="90000"/>
              </a:lnSpc>
              <a:spcBef>
                <a:spcPct val="50000"/>
              </a:spcBef>
              <a:spcAft>
                <a:spcPts val="0"/>
              </a:spcAft>
              <a:defRPr/>
            </a:pP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chemeClr val="accent2"/>
                </a:solidFill>
                <a:effectLst>
                  <a:outerShdw blurRad="38100" dist="38100" dir="2700000" algn="tl">
                    <a:srgbClr val="C0C0C0"/>
                  </a:outerShdw>
                </a:effectLst>
                <a:latin typeface="Arial Black" pitchFamily="34" charset="0"/>
              </a:rPr>
              <a:t>A		E</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rgbClr val="FF0000"/>
                </a:solidFill>
                <a:effectLst>
                  <a:outerShdw blurRad="38100" dist="38100" dir="2700000" algn="tl">
                    <a:srgbClr val="C0C0C0"/>
                  </a:outerShdw>
                </a:effectLst>
                <a:latin typeface="Rockwell Extra Bold" pitchFamily="18" charset="0"/>
              </a:rPr>
              <a:t>W</a:t>
            </a:r>
            <a:endParaRPr lang="en-GB" sz="1600" dirty="0">
              <a:solidFill>
                <a:srgbClr val="FF0000"/>
              </a:solidFill>
              <a:effectLst>
                <a:outerShdw blurRad="38100" dist="38100" dir="2700000" algn="tl">
                  <a:srgbClr val="C0C0C0"/>
                </a:outerShdw>
              </a:effectLst>
              <a:latin typeface="Arial Black" pitchFamily="34" charset="0"/>
            </a:endParaRPr>
          </a:p>
        </p:txBody>
      </p:sp>
    </p:spTree>
    <p:extLst>
      <p:ext uri="{BB962C8B-B14F-4D97-AF65-F5344CB8AC3E}">
        <p14:creationId xmlns:p14="http://schemas.microsoft.com/office/powerpoint/2010/main" val="4149791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idx="4294967295"/>
          </p:nvPr>
        </p:nvSpPr>
        <p:spPr>
          <a:xfrm>
            <a:off x="0" y="609600"/>
            <a:ext cx="7772400" cy="1143000"/>
          </a:xfrm>
        </p:spPr>
        <p:txBody>
          <a:bodyPr/>
          <a:lstStyle/>
          <a:p>
            <a:pPr eaLnBrk="1" fontAlgn="auto" hangingPunct="1">
              <a:spcAft>
                <a:spcPts val="0"/>
              </a:spcAft>
              <a:defRPr/>
            </a:pPr>
            <a:r>
              <a:rPr lang="en-GB" altLang="en-US" sz="4000"/>
              <a:t>3. Examples of some teaching methods:</a:t>
            </a:r>
          </a:p>
        </p:txBody>
      </p:sp>
      <p:sp>
        <p:nvSpPr>
          <p:cNvPr id="19459" name="Rectangle 3"/>
          <p:cNvSpPr txBox="1">
            <a:spLocks noChangeArrowheads="1"/>
          </p:cNvSpPr>
          <p:nvPr/>
        </p:nvSpPr>
        <p:spPr bwMode="auto">
          <a:xfrm>
            <a:off x="444732" y="1820068"/>
            <a:ext cx="8255000"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90000"/>
              </a:lnSpc>
              <a:buClrTx/>
            </a:pPr>
            <a:r>
              <a:rPr lang="en-GB" altLang="en-US" sz="3200" u="sng" dirty="0"/>
              <a:t>Jumbled Letters Activity</a:t>
            </a:r>
          </a:p>
          <a:p>
            <a:pPr algn="l" eaLnBrk="1" hangingPunct="1">
              <a:lnSpc>
                <a:spcPct val="90000"/>
              </a:lnSpc>
              <a:buClrTx/>
              <a:buFontTx/>
              <a:buNone/>
            </a:pPr>
            <a:r>
              <a:rPr lang="en-GB" altLang="en-US" sz="2400" dirty="0"/>
              <a:t>	Can you find these words below?</a:t>
            </a:r>
          </a:p>
          <a:p>
            <a:pPr algn="l" eaLnBrk="1" hangingPunct="1">
              <a:lnSpc>
                <a:spcPct val="90000"/>
              </a:lnSpc>
              <a:buClrTx/>
              <a:buFontTx/>
              <a:buNone/>
            </a:pPr>
            <a:r>
              <a:rPr lang="en-GB" altLang="en-US" sz="2400" dirty="0"/>
              <a:t>	is	      that		had	    went</a:t>
            </a:r>
          </a:p>
          <a:p>
            <a:pPr algn="l" eaLnBrk="1" hangingPunct="1">
              <a:lnSpc>
                <a:spcPct val="90000"/>
              </a:lnSpc>
              <a:buClrTx/>
              <a:buFontTx/>
              <a:buNone/>
            </a:pPr>
            <a:endParaRPr lang="en-GB" altLang="en-US" sz="2400" dirty="0"/>
          </a:p>
          <a:p>
            <a:pPr algn="l" eaLnBrk="1" hangingPunct="1">
              <a:lnSpc>
                <a:spcPct val="90000"/>
              </a:lnSpc>
              <a:buClrTx/>
              <a:buFontTx/>
              <a:buNone/>
            </a:pPr>
            <a:r>
              <a:rPr lang="en-GB" altLang="en-US" sz="2000" dirty="0"/>
              <a:t>				W		D	         A T</a:t>
            </a:r>
          </a:p>
          <a:p>
            <a:pPr algn="l" eaLnBrk="1" hangingPunct="1">
              <a:lnSpc>
                <a:spcPct val="90000"/>
              </a:lnSpc>
              <a:buClrTx/>
              <a:buFontTx/>
              <a:buNone/>
            </a:pPr>
            <a:r>
              <a:rPr lang="en-GB" altLang="en-US" sz="2000" dirty="0"/>
              <a:t>	   I			 N  E		H	       T   H</a:t>
            </a:r>
          </a:p>
          <a:p>
            <a:pPr algn="l" eaLnBrk="1" hangingPunct="1">
              <a:lnSpc>
                <a:spcPct val="90000"/>
              </a:lnSpc>
              <a:buClrTx/>
              <a:buFontTx/>
              <a:buNone/>
            </a:pPr>
            <a:r>
              <a:rPr lang="en-GB" altLang="en-US" sz="2000" dirty="0"/>
              <a:t>	S   	        		   T		A</a:t>
            </a:r>
          </a:p>
          <a:p>
            <a:pPr algn="l" eaLnBrk="1" hangingPunct="1">
              <a:lnSpc>
                <a:spcPct val="90000"/>
              </a:lnSpc>
              <a:buClrTx/>
              <a:buFontTx/>
              <a:buNone/>
            </a:pPr>
            <a:r>
              <a:rPr lang="en-GB" altLang="en-US" sz="2000" dirty="0"/>
              <a:t>			T</a:t>
            </a:r>
          </a:p>
          <a:p>
            <a:pPr algn="l" eaLnBrk="1" hangingPunct="1">
              <a:lnSpc>
                <a:spcPct val="90000"/>
              </a:lnSpc>
              <a:buClrTx/>
              <a:buFontTx/>
              <a:buNone/>
            </a:pPr>
            <a:r>
              <a:rPr lang="en-GB" altLang="en-US" sz="2000" dirty="0"/>
              <a:t>		    A	H  T			T  W</a:t>
            </a:r>
          </a:p>
          <a:p>
            <a:pPr algn="l" eaLnBrk="1" hangingPunct="1">
              <a:lnSpc>
                <a:spcPct val="90000"/>
              </a:lnSpc>
              <a:buClrTx/>
              <a:buFontTx/>
              <a:buNone/>
            </a:pPr>
            <a:r>
              <a:rPr lang="en-GB" altLang="en-US" sz="2000" dirty="0"/>
              <a:t>						    N	E</a:t>
            </a:r>
          </a:p>
          <a:p>
            <a:pPr algn="l" eaLnBrk="1" hangingPunct="1">
              <a:lnSpc>
                <a:spcPct val="90000"/>
              </a:lnSpc>
              <a:buClrTx/>
              <a:buFontTx/>
              <a:buNone/>
            </a:pPr>
            <a:endParaRPr lang="en-GB" altLang="en-US" sz="2400" dirty="0"/>
          </a:p>
        </p:txBody>
      </p:sp>
      <p:grpSp>
        <p:nvGrpSpPr>
          <p:cNvPr id="19460" name="Group 20"/>
          <p:cNvGrpSpPr>
            <a:grpSpLocks/>
          </p:cNvGrpSpPr>
          <p:nvPr/>
        </p:nvGrpSpPr>
        <p:grpSpPr bwMode="auto">
          <a:xfrm>
            <a:off x="684213" y="3284538"/>
            <a:ext cx="6346825" cy="2643187"/>
            <a:chOff x="1393006" y="2857496"/>
            <a:chExt cx="6346076" cy="2643206"/>
          </a:xfrm>
        </p:grpSpPr>
        <p:sp>
          <p:nvSpPr>
            <p:cNvPr id="19461" name="Oval 21"/>
            <p:cNvSpPr>
              <a:spLocks noChangeArrowheads="1"/>
            </p:cNvSpPr>
            <p:nvPr/>
          </p:nvSpPr>
          <p:spPr bwMode="auto">
            <a:xfrm>
              <a:off x="1393006" y="3214686"/>
              <a:ext cx="851303" cy="114300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2" name="Oval 22"/>
            <p:cNvSpPr>
              <a:spLocks noChangeArrowheads="1"/>
            </p:cNvSpPr>
            <p:nvPr/>
          </p:nvSpPr>
          <p:spPr bwMode="auto">
            <a:xfrm>
              <a:off x="2095480" y="4000504"/>
              <a:ext cx="1779997" cy="1214446"/>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3" name="Oval 23"/>
            <p:cNvSpPr>
              <a:spLocks noChangeArrowheads="1"/>
            </p:cNvSpPr>
            <p:nvPr/>
          </p:nvSpPr>
          <p:spPr bwMode="auto">
            <a:xfrm>
              <a:off x="3667116" y="3000372"/>
              <a:ext cx="928694" cy="1285884"/>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4" name="Oval 24"/>
            <p:cNvSpPr>
              <a:spLocks noChangeArrowheads="1"/>
            </p:cNvSpPr>
            <p:nvPr/>
          </p:nvSpPr>
          <p:spPr bwMode="auto">
            <a:xfrm>
              <a:off x="5381628" y="2857496"/>
              <a:ext cx="928694" cy="142876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5" name="Oval 25"/>
            <p:cNvSpPr>
              <a:spLocks noChangeArrowheads="1"/>
            </p:cNvSpPr>
            <p:nvPr/>
          </p:nvSpPr>
          <p:spPr bwMode="auto">
            <a:xfrm>
              <a:off x="5310190" y="4357694"/>
              <a:ext cx="2089562" cy="114300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6" name="Oval 26"/>
            <p:cNvSpPr>
              <a:spLocks noChangeArrowheads="1"/>
            </p:cNvSpPr>
            <p:nvPr/>
          </p:nvSpPr>
          <p:spPr bwMode="auto">
            <a:xfrm>
              <a:off x="6810388" y="2857496"/>
              <a:ext cx="928694" cy="135732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Tree>
    <p:extLst>
      <p:ext uri="{BB962C8B-B14F-4D97-AF65-F5344CB8AC3E}">
        <p14:creationId xmlns:p14="http://schemas.microsoft.com/office/powerpoint/2010/main" val="3087228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3200" b="1" dirty="0"/>
              <a:t>Step 4 -</a:t>
            </a:r>
            <a:r>
              <a:rPr lang="en-GB" altLang="en-US" sz="3200" dirty="0"/>
              <a:t> Monitoring</a:t>
            </a:r>
          </a:p>
        </p:txBody>
      </p:sp>
      <p:sp>
        <p:nvSpPr>
          <p:cNvPr id="21507" name="Rectangle 3"/>
          <p:cNvSpPr>
            <a:spLocks noGrp="1" noChangeArrowheads="1"/>
          </p:cNvSpPr>
          <p:nvPr>
            <p:ph idx="1"/>
          </p:nvPr>
        </p:nvSpPr>
        <p:spPr/>
        <p:txBody>
          <a:bodyPr/>
          <a:lstStyle/>
          <a:p>
            <a:pPr eaLnBrk="1" hangingPunct="1"/>
            <a:r>
              <a:rPr lang="en-GB" altLang="en-US" dirty="0"/>
              <a:t>Using a Probe sheet</a:t>
            </a:r>
          </a:p>
          <a:p>
            <a:pPr eaLnBrk="1" hangingPunct="1"/>
            <a:r>
              <a:rPr lang="en-GB" altLang="en-US" dirty="0"/>
              <a:t>What is a probe sheet? </a:t>
            </a:r>
          </a:p>
          <a:p>
            <a:pPr eaLnBrk="1" hangingPunct="1"/>
            <a:endParaRPr lang="en-GB" altLang="en-US" dirty="0"/>
          </a:p>
        </p:txBody>
      </p:sp>
    </p:spTree>
    <p:extLst>
      <p:ext uri="{BB962C8B-B14F-4D97-AF65-F5344CB8AC3E}">
        <p14:creationId xmlns:p14="http://schemas.microsoft.com/office/powerpoint/2010/main" val="1313382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p:cNvSpPr>
          <p:nvPr/>
        </p:nvSpPr>
        <p:spPr bwMode="auto">
          <a:xfrm>
            <a:off x="1258888" y="584200"/>
            <a:ext cx="6896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Basic ‘Probe’ sheet</a:t>
            </a:r>
          </a:p>
        </p:txBody>
      </p:sp>
      <p:grpSp>
        <p:nvGrpSpPr>
          <p:cNvPr id="18435" name="Group 2"/>
          <p:cNvGrpSpPr>
            <a:grpSpLocks/>
          </p:cNvGrpSpPr>
          <p:nvPr/>
        </p:nvGrpSpPr>
        <p:grpSpPr bwMode="auto">
          <a:xfrm>
            <a:off x="685800" y="1219200"/>
            <a:ext cx="3200400" cy="4572000"/>
            <a:chOff x="0" y="0"/>
            <a:chExt cx="2016" cy="2880"/>
          </a:xfrm>
        </p:grpSpPr>
        <p:sp>
          <p:nvSpPr>
            <p:cNvPr id="18437" name="Rectangle 3"/>
            <p:cNvSpPr>
              <a:spLocks/>
            </p:cNvSpPr>
            <p:nvPr/>
          </p:nvSpPr>
          <p:spPr bwMode="auto">
            <a:xfrm>
              <a:off x="0" y="0"/>
              <a:ext cx="2016" cy="288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grpSp>
          <p:nvGrpSpPr>
            <p:cNvPr id="18438" name="Group 4"/>
            <p:cNvGrpSpPr>
              <a:grpSpLocks/>
            </p:cNvGrpSpPr>
            <p:nvPr/>
          </p:nvGrpSpPr>
          <p:grpSpPr bwMode="auto">
            <a:xfrm>
              <a:off x="240" y="360"/>
              <a:ext cx="1530" cy="2314"/>
              <a:chOff x="0" y="0"/>
              <a:chExt cx="1530" cy="2314"/>
            </a:xfrm>
          </p:grpSpPr>
          <p:sp>
            <p:nvSpPr>
              <p:cNvPr id="18443" name="Rectangle 5"/>
              <p:cNvSpPr>
                <a:spLocks/>
              </p:cNvSpPr>
              <p:nvPr/>
            </p:nvSpPr>
            <p:spPr bwMode="auto">
              <a:xfrm>
                <a:off x="0" y="0"/>
                <a:ext cx="1530" cy="2314"/>
              </a:xfrm>
              <a:prstGeom prst="rect">
                <a:avLst/>
              </a:prstGeom>
              <a:solidFill>
                <a:srgbClr val="F8F8F8"/>
              </a:solidFill>
              <a:ln w="381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4" name="Line 6"/>
              <p:cNvSpPr>
                <a:spLocks noChangeShapeType="1"/>
              </p:cNvSpPr>
              <p:nvPr/>
            </p:nvSpPr>
            <p:spPr bwMode="auto">
              <a:xfrm>
                <a:off x="0" y="1132"/>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5" name="Line 7"/>
              <p:cNvSpPr>
                <a:spLocks noChangeShapeType="1"/>
              </p:cNvSpPr>
              <p:nvPr/>
            </p:nvSpPr>
            <p:spPr bwMode="auto">
              <a:xfrm>
                <a:off x="0" y="1427"/>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6" name="Line 8"/>
              <p:cNvSpPr>
                <a:spLocks noChangeShapeType="1"/>
              </p:cNvSpPr>
              <p:nvPr/>
            </p:nvSpPr>
            <p:spPr bwMode="auto">
              <a:xfrm>
                <a:off x="0" y="837"/>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7" name="Line 9"/>
              <p:cNvSpPr>
                <a:spLocks noChangeShapeType="1"/>
              </p:cNvSpPr>
              <p:nvPr/>
            </p:nvSpPr>
            <p:spPr bwMode="auto">
              <a:xfrm>
                <a:off x="0" y="541"/>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8" name="Line 10"/>
              <p:cNvSpPr>
                <a:spLocks noChangeShapeType="1"/>
              </p:cNvSpPr>
              <p:nvPr/>
            </p:nvSpPr>
            <p:spPr bwMode="auto">
              <a:xfrm>
                <a:off x="0" y="1723"/>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9" name="Line 11"/>
              <p:cNvSpPr>
                <a:spLocks noChangeShapeType="1"/>
              </p:cNvSpPr>
              <p:nvPr/>
            </p:nvSpPr>
            <p:spPr bwMode="auto">
              <a:xfrm>
                <a:off x="0" y="2018"/>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0" name="Line 12"/>
              <p:cNvSpPr>
                <a:spLocks noChangeShapeType="1"/>
              </p:cNvSpPr>
              <p:nvPr/>
            </p:nvSpPr>
            <p:spPr bwMode="auto">
              <a:xfrm>
                <a:off x="0" y="246"/>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1" name="Line 13"/>
              <p:cNvSpPr>
                <a:spLocks noChangeShapeType="1"/>
              </p:cNvSpPr>
              <p:nvPr/>
            </p:nvSpPr>
            <p:spPr bwMode="auto">
              <a:xfrm>
                <a:off x="278"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2" name="Line 14"/>
              <p:cNvSpPr>
                <a:spLocks noChangeShapeType="1"/>
              </p:cNvSpPr>
              <p:nvPr/>
            </p:nvSpPr>
            <p:spPr bwMode="auto">
              <a:xfrm>
                <a:off x="602"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3" name="Line 15"/>
              <p:cNvSpPr>
                <a:spLocks noChangeShapeType="1"/>
              </p:cNvSpPr>
              <p:nvPr/>
            </p:nvSpPr>
            <p:spPr bwMode="auto">
              <a:xfrm>
                <a:off x="927"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4" name="Line 16"/>
              <p:cNvSpPr>
                <a:spLocks noChangeShapeType="1"/>
              </p:cNvSpPr>
              <p:nvPr/>
            </p:nvSpPr>
            <p:spPr bwMode="auto">
              <a:xfrm>
                <a:off x="1205"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18439" name="Line 17"/>
            <p:cNvSpPr>
              <a:spLocks noChangeShapeType="1"/>
            </p:cNvSpPr>
            <p:nvPr/>
          </p:nvSpPr>
          <p:spPr bwMode="auto">
            <a:xfrm>
              <a:off x="240" y="308"/>
              <a:ext cx="15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18440" name="Group 18"/>
            <p:cNvGrpSpPr>
              <a:grpSpLocks/>
            </p:cNvGrpSpPr>
            <p:nvPr/>
          </p:nvGrpSpPr>
          <p:grpSpPr bwMode="auto">
            <a:xfrm>
              <a:off x="240" y="102"/>
              <a:ext cx="1488" cy="168"/>
              <a:chOff x="0" y="0"/>
              <a:chExt cx="1488" cy="168"/>
            </a:xfrm>
          </p:grpSpPr>
          <p:sp>
            <p:nvSpPr>
              <p:cNvPr id="18441" name="Rectangle 19"/>
              <p:cNvSpPr>
                <a:spLocks/>
              </p:cNvSpPr>
              <p:nvPr/>
            </p:nvSpPr>
            <p:spPr bwMode="auto">
              <a:xfrm>
                <a:off x="0" y="0"/>
                <a:ext cx="1488" cy="168"/>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2" name="Rectangle 20"/>
              <p:cNvSpPr>
                <a:spLocks/>
              </p:cNvSpPr>
              <p:nvPr/>
            </p:nvSpPr>
            <p:spPr bwMode="auto">
              <a:xfrm>
                <a:off x="0" y="0"/>
                <a:ext cx="148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550"/>
                  </a:spcBef>
                  <a:buClrTx/>
                  <a:buSzTx/>
                  <a:buFontTx/>
                  <a:buNone/>
                </a:pPr>
                <a:r>
                  <a:rPr lang="en-US" altLang="en-US" sz="1000">
                    <a:latin typeface="Arial" charset="0"/>
                    <a:cs typeface="Arial" charset="0"/>
                    <a:sym typeface="Arial" charset="0"/>
                  </a:rPr>
                  <a:t>Name                                   aim   rate</a:t>
                </a:r>
              </a:p>
            </p:txBody>
          </p:sp>
        </p:grpSp>
      </p:grpSp>
      <p:sp>
        <p:nvSpPr>
          <p:cNvPr id="18436" name="Rectangle 21"/>
          <p:cNvSpPr>
            <a:spLocks/>
          </p:cNvSpPr>
          <p:nvPr/>
        </p:nvSpPr>
        <p:spPr bwMode="auto">
          <a:xfrm>
            <a:off x="3962400" y="1066800"/>
            <a:ext cx="4495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Font typeface="Arial" charset="0"/>
              <a:buChar char="•"/>
            </a:pPr>
            <a:endParaRPr lang="en-US" altLang="en-US" sz="2000" dirty="0">
              <a:cs typeface="Times" charset="0"/>
            </a:endParaRPr>
          </a:p>
          <a:p>
            <a:pPr eaLnBrk="1" hangingPunct="1">
              <a:spcBef>
                <a:spcPct val="0"/>
              </a:spcBef>
              <a:buClrTx/>
              <a:buSzTx/>
              <a:buFontTx/>
              <a:buNone/>
            </a:pPr>
            <a:r>
              <a:rPr lang="en-US" altLang="en-US" sz="1800" dirty="0"/>
              <a:t>The Probe sheet is the stimulus for a short timed test (a ‘Probe’) usually for 1 minute in duration</a:t>
            </a:r>
          </a:p>
          <a:p>
            <a:pPr eaLnBrk="1" hangingPunct="1">
              <a:spcBef>
                <a:spcPct val="0"/>
              </a:spcBef>
              <a:buClrTx/>
              <a:buSzTx/>
              <a:buFontTx/>
              <a:buNone/>
            </a:pPr>
            <a:endParaRPr lang="en-US" altLang="en-US" sz="1800" dirty="0"/>
          </a:p>
          <a:p>
            <a:pPr eaLnBrk="1" hangingPunct="1">
              <a:spcBef>
                <a:spcPct val="0"/>
              </a:spcBef>
              <a:buClrTx/>
              <a:buSzTx/>
              <a:buFontTx/>
              <a:buNone/>
            </a:pPr>
            <a:endParaRPr lang="en-US" altLang="en-US" sz="1800" dirty="0"/>
          </a:p>
          <a:p>
            <a:pPr eaLnBrk="1" hangingPunct="1">
              <a:spcBef>
                <a:spcPct val="0"/>
              </a:spcBef>
              <a:buClrTx/>
              <a:buSzTx/>
              <a:buFontTx/>
              <a:buNone/>
            </a:pPr>
            <a:r>
              <a:rPr lang="en-US" altLang="en-US" sz="1800" dirty="0"/>
              <a:t>A sheet with target </a:t>
            </a:r>
          </a:p>
          <a:p>
            <a:pPr eaLnBrk="1" hangingPunct="1">
              <a:spcBef>
                <a:spcPct val="0"/>
              </a:spcBef>
              <a:buClrTx/>
              <a:buSzTx/>
              <a:buFontTx/>
              <a:buNone/>
            </a:pPr>
            <a:r>
              <a:rPr lang="en-US" altLang="en-US" sz="1800" dirty="0"/>
              <a:t>words in </a:t>
            </a:r>
            <a:r>
              <a:rPr lang="en-US" altLang="en-US" sz="1800" dirty="0" err="1"/>
              <a:t>randomised</a:t>
            </a:r>
            <a:r>
              <a:rPr lang="en-US" altLang="en-US" sz="1800" dirty="0"/>
              <a:t> </a:t>
            </a:r>
          </a:p>
          <a:p>
            <a:pPr eaLnBrk="1" hangingPunct="1">
              <a:spcBef>
                <a:spcPct val="0"/>
              </a:spcBef>
              <a:buClrTx/>
              <a:buSzTx/>
              <a:buFontTx/>
              <a:buNone/>
            </a:pPr>
            <a:r>
              <a:rPr lang="en-US" altLang="en-US" sz="1800" dirty="0"/>
              <a:t>order is used for </a:t>
            </a:r>
          </a:p>
          <a:p>
            <a:pPr eaLnBrk="1" hangingPunct="1">
              <a:spcBef>
                <a:spcPct val="0"/>
              </a:spcBef>
              <a:buClrTx/>
              <a:buSzTx/>
              <a:buFontTx/>
              <a:buNone/>
            </a:pPr>
            <a:r>
              <a:rPr lang="en-US" altLang="en-US" sz="1800" dirty="0"/>
              <a:t>reading – ‘</a:t>
            </a:r>
            <a:r>
              <a:rPr lang="en-US" altLang="en-US" sz="1800" u="sng" dirty="0"/>
              <a:t>see to say’</a:t>
            </a:r>
          </a:p>
          <a:p>
            <a:pPr eaLnBrk="1" hangingPunct="1">
              <a:spcBef>
                <a:spcPct val="0"/>
              </a:spcBef>
              <a:buClrTx/>
              <a:buSzTx/>
              <a:buFontTx/>
              <a:buNone/>
            </a:pPr>
            <a:endParaRPr lang="en-US" altLang="en-US" sz="1800" u="sng" dirty="0"/>
          </a:p>
          <a:p>
            <a:pPr>
              <a:spcBef>
                <a:spcPct val="0"/>
              </a:spcBef>
              <a:buClrTx/>
              <a:buSzTx/>
              <a:buNone/>
            </a:pPr>
            <a:r>
              <a:rPr lang="en-GB" altLang="en-US" sz="1800" dirty="0"/>
              <a:t>The child is timed and reads as many words as they can in 1 minute (go back to top of probe if child reads all the words in under a minute).</a:t>
            </a:r>
          </a:p>
          <a:p>
            <a:pPr eaLnBrk="1" hangingPunct="1">
              <a:spcBef>
                <a:spcPct val="0"/>
              </a:spcBef>
              <a:buClrTx/>
              <a:buSzTx/>
              <a:buFontTx/>
              <a:buNone/>
            </a:pPr>
            <a:endParaRPr lang="en-US" altLang="en-US" sz="2000" u="sng" dirty="0"/>
          </a:p>
        </p:txBody>
      </p:sp>
    </p:spTree>
    <p:extLst>
      <p:ext uri="{BB962C8B-B14F-4D97-AF65-F5344CB8AC3E}">
        <p14:creationId xmlns:p14="http://schemas.microsoft.com/office/powerpoint/2010/main" val="2109169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1157288" y="0"/>
            <a:ext cx="6870700" cy="1412875"/>
          </a:xfrm>
        </p:spPr>
        <p:txBody>
          <a:bodyPr rIns="31750" anchor="b"/>
          <a:lstStyle/>
          <a:p>
            <a:pPr indent="0" algn="ctr" eaLnBrk="1" hangingPunct="1"/>
            <a:r>
              <a:rPr lang="en-US" altLang="en-US" sz="3200" u="sng" dirty="0"/>
              <a:t>Types of probe:</a:t>
            </a:r>
          </a:p>
        </p:txBody>
      </p:sp>
      <p:sp>
        <p:nvSpPr>
          <p:cNvPr id="19459" name="Rectangle 2"/>
          <p:cNvSpPr>
            <a:spLocks noGrp="1" noChangeArrowheads="1"/>
          </p:cNvSpPr>
          <p:nvPr>
            <p:ph type="body" idx="1"/>
          </p:nvPr>
        </p:nvSpPr>
        <p:spPr>
          <a:xfrm>
            <a:off x="1330325" y="1927225"/>
            <a:ext cx="5257800" cy="4930775"/>
          </a:xfrm>
        </p:spPr>
        <p:txBody>
          <a:bodyPr rIns="31750"/>
          <a:lstStyle/>
          <a:p>
            <a:pPr marL="423863" indent="-384175" eaLnBrk="1" hangingPunct="1">
              <a:lnSpc>
                <a:spcPct val="90000"/>
              </a:lnSpc>
            </a:pPr>
            <a:r>
              <a:rPr lang="en-US" altLang="en-US" sz="2800" b="1" dirty="0"/>
              <a:t>See to say</a:t>
            </a:r>
            <a:r>
              <a:rPr lang="en-US" altLang="en-US" sz="2800" dirty="0"/>
              <a:t> e.g. letter, number, sight word recognition</a:t>
            </a:r>
          </a:p>
          <a:p>
            <a:pPr marL="423863" indent="-384175" eaLnBrk="1" hangingPunct="1">
              <a:lnSpc>
                <a:spcPct val="90000"/>
              </a:lnSpc>
            </a:pPr>
            <a:endParaRPr lang="en-US" altLang="en-US" sz="2800" dirty="0"/>
          </a:p>
          <a:p>
            <a:pPr marL="423863" indent="-384175" eaLnBrk="1" hangingPunct="1">
              <a:lnSpc>
                <a:spcPct val="90000"/>
              </a:lnSpc>
            </a:pPr>
            <a:r>
              <a:rPr lang="en-US" altLang="en-US" sz="2800" b="1" dirty="0"/>
              <a:t>Hear to write</a:t>
            </a:r>
            <a:r>
              <a:rPr lang="en-US" altLang="en-US" sz="2800" dirty="0"/>
              <a:t> e.g. letter sounds, numbers, spellings</a:t>
            </a:r>
          </a:p>
          <a:p>
            <a:pPr marL="423863" indent="-384175" eaLnBrk="1" hangingPunct="1">
              <a:lnSpc>
                <a:spcPct val="90000"/>
              </a:lnSpc>
            </a:pPr>
            <a:endParaRPr lang="en-US" altLang="en-US" sz="2800" dirty="0"/>
          </a:p>
          <a:p>
            <a:pPr marL="423863" indent="-384175" eaLnBrk="1" hangingPunct="1">
              <a:lnSpc>
                <a:spcPct val="90000"/>
              </a:lnSpc>
            </a:pPr>
            <a:r>
              <a:rPr lang="en-US" altLang="en-US" sz="2800" b="1" dirty="0"/>
              <a:t>See to write</a:t>
            </a:r>
            <a:r>
              <a:rPr lang="en-US" altLang="en-US" sz="2800" dirty="0"/>
              <a:t> e.g. 3 + 6 =</a:t>
            </a:r>
          </a:p>
        </p:txBody>
      </p:sp>
    </p:spTree>
    <p:extLst>
      <p:ext uri="{BB962C8B-B14F-4D97-AF65-F5344CB8AC3E}">
        <p14:creationId xmlns:p14="http://schemas.microsoft.com/office/powerpoint/2010/main" val="178625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1187450" y="1052513"/>
            <a:ext cx="7086600" cy="731837"/>
          </a:xfrm>
        </p:spPr>
        <p:txBody>
          <a:bodyPr rIns="31750" anchor="b"/>
          <a:lstStyle/>
          <a:p>
            <a:pPr indent="0" eaLnBrk="1" hangingPunct="1"/>
            <a:r>
              <a:rPr lang="en-US" altLang="en-US" u="sng"/>
              <a:t>PT Probe Generator</a:t>
            </a:r>
          </a:p>
        </p:txBody>
      </p:sp>
      <p:sp>
        <p:nvSpPr>
          <p:cNvPr id="20483" name="Rectangle 2"/>
          <p:cNvSpPr>
            <a:spLocks noGrp="1" noChangeArrowheads="1"/>
          </p:cNvSpPr>
          <p:nvPr>
            <p:ph type="body" idx="4294967295"/>
          </p:nvPr>
        </p:nvSpPr>
        <p:spPr>
          <a:xfrm>
            <a:off x="1187450" y="1196975"/>
            <a:ext cx="7416800" cy="4525963"/>
          </a:xfrm>
        </p:spPr>
        <p:txBody>
          <a:bodyPr rIns="31750"/>
          <a:lstStyle/>
          <a:p>
            <a:pPr marL="423863" indent="-384175" eaLnBrk="1" hangingPunct="1"/>
            <a:endParaRPr lang="en-US" altLang="en-US" dirty="0"/>
          </a:p>
          <a:p>
            <a:pPr marL="423863" indent="-384175" eaLnBrk="1" hangingPunct="1"/>
            <a:endParaRPr lang="en-US" altLang="en-US" dirty="0"/>
          </a:p>
          <a:p>
            <a:pPr marL="423863" indent="-384175" eaLnBrk="1" hangingPunct="1"/>
            <a:endParaRPr lang="en-US" altLang="en-US" dirty="0"/>
          </a:p>
          <a:p>
            <a:pPr marL="423863" indent="-384175" eaLnBrk="1" hangingPunct="1">
              <a:buFont typeface="Century Gothic" pitchFamily="34" charset="0"/>
              <a:buNone/>
            </a:pPr>
            <a:r>
              <a:rPr lang="en-US" altLang="en-US" u="sng" dirty="0">
                <a:solidFill>
                  <a:srgbClr val="009999"/>
                </a:solidFill>
                <a:hlinkClick r:id="rId3"/>
              </a:rPr>
              <a:t>http://johnandgwyn.co.uk/probe.html</a:t>
            </a:r>
            <a:r>
              <a:rPr lang="en-US" altLang="en-US" dirty="0"/>
              <a:t> </a:t>
            </a:r>
          </a:p>
          <a:p>
            <a:pPr marL="423863" indent="-384175" eaLnBrk="1" hangingPunct="1">
              <a:buFont typeface="Century Gothic" pitchFamily="34" charset="0"/>
              <a:buNone/>
            </a:pPr>
            <a:endParaRPr lang="en-US" altLang="en-US" dirty="0"/>
          </a:p>
          <a:p>
            <a:pPr marL="423863" indent="-384175" eaLnBrk="1" hangingPunct="1">
              <a:buFont typeface="Century Gothic" pitchFamily="34" charset="0"/>
              <a:buNone/>
            </a:pPr>
            <a:endParaRPr lang="en-US" altLang="en-US" dirty="0"/>
          </a:p>
          <a:p>
            <a:pPr marL="423863" indent="-384175" eaLnBrk="1" hangingPunct="1">
              <a:buFont typeface="Century Gothic" pitchFamily="34" charset="0"/>
              <a:buNone/>
            </a:pPr>
            <a:endParaRPr lang="en-US" altLang="en-US" dirty="0"/>
          </a:p>
          <a:p>
            <a:pPr marL="423863" indent="-384175" algn="ctr" eaLnBrk="1" hangingPunct="1">
              <a:buFont typeface="Century Gothic" pitchFamily="34" charset="0"/>
              <a:buNone/>
            </a:pPr>
            <a:endParaRPr lang="en-US" altLang="en-US" dirty="0"/>
          </a:p>
        </p:txBody>
      </p:sp>
    </p:spTree>
    <p:extLst>
      <p:ext uri="{BB962C8B-B14F-4D97-AF65-F5344CB8AC3E}">
        <p14:creationId xmlns:p14="http://schemas.microsoft.com/office/powerpoint/2010/main" val="3140533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4213" y="260350"/>
            <a:ext cx="7772400" cy="947738"/>
          </a:xfrm>
        </p:spPr>
        <p:txBody>
          <a:bodyPr/>
          <a:lstStyle/>
          <a:p>
            <a:pPr algn="ctr" eaLnBrk="1" fontAlgn="auto" hangingPunct="1">
              <a:spcAft>
                <a:spcPts val="0"/>
              </a:spcAft>
              <a:defRPr/>
            </a:pPr>
            <a:r>
              <a:rPr lang="en-GB" altLang="en-US" sz="4000" b="1" dirty="0"/>
              <a:t>Step 5-</a:t>
            </a:r>
            <a:r>
              <a:rPr lang="en-GB" altLang="en-US" sz="4000" dirty="0"/>
              <a:t> Chart Results</a:t>
            </a:r>
          </a:p>
        </p:txBody>
      </p:sp>
      <p:sp>
        <p:nvSpPr>
          <p:cNvPr id="24579" name="Rectangle 3"/>
          <p:cNvSpPr>
            <a:spLocks noGrp="1" noChangeArrowheads="1"/>
          </p:cNvSpPr>
          <p:nvPr>
            <p:ph idx="1"/>
          </p:nvPr>
        </p:nvSpPr>
        <p:spPr>
          <a:xfrm>
            <a:off x="250825" y="1268413"/>
            <a:ext cx="8642350" cy="4895850"/>
          </a:xfrm>
        </p:spPr>
        <p:txBody>
          <a:bodyPr/>
          <a:lstStyle/>
          <a:p>
            <a:pPr eaLnBrk="1" hangingPunct="1">
              <a:lnSpc>
                <a:spcPct val="80000"/>
              </a:lnSpc>
            </a:pPr>
            <a:r>
              <a:rPr lang="en-GB" altLang="en-US" sz="2800"/>
              <a:t>Chart results with the child – helps to motivate the child &amp; increase confidence.</a:t>
            </a:r>
          </a:p>
          <a:p>
            <a:pPr eaLnBrk="1" hangingPunct="1">
              <a:lnSpc>
                <a:spcPct val="80000"/>
              </a:lnSpc>
              <a:buFontTx/>
              <a:buNone/>
            </a:pPr>
            <a:endParaRPr lang="en-GB" altLang="en-US" sz="1600"/>
          </a:p>
          <a:p>
            <a:pPr eaLnBrk="1" hangingPunct="1">
              <a:lnSpc>
                <a:spcPct val="80000"/>
              </a:lnSpc>
            </a:pPr>
            <a:r>
              <a:rPr lang="en-GB" altLang="en-US" sz="2800"/>
              <a:t>Helps teacher to see which teaching methods are most effective for particular pupil (record on chart).</a:t>
            </a:r>
          </a:p>
          <a:p>
            <a:pPr eaLnBrk="1" hangingPunct="1">
              <a:lnSpc>
                <a:spcPct val="80000"/>
              </a:lnSpc>
              <a:buFontTx/>
              <a:buNone/>
            </a:pPr>
            <a:endParaRPr lang="en-GB" altLang="en-US" sz="1600"/>
          </a:p>
          <a:p>
            <a:pPr eaLnBrk="1" hangingPunct="1">
              <a:lnSpc>
                <a:spcPct val="80000"/>
              </a:lnSpc>
            </a:pPr>
            <a:r>
              <a:rPr lang="en-GB" altLang="en-US" sz="2800"/>
              <a:t>Record any changes made to task.</a:t>
            </a:r>
          </a:p>
          <a:p>
            <a:pPr eaLnBrk="1" hangingPunct="1">
              <a:lnSpc>
                <a:spcPct val="80000"/>
              </a:lnSpc>
              <a:buFontTx/>
              <a:buNone/>
            </a:pPr>
            <a:endParaRPr lang="en-GB" altLang="en-US" sz="1600"/>
          </a:p>
          <a:p>
            <a:pPr eaLnBrk="1" hangingPunct="1">
              <a:lnSpc>
                <a:spcPct val="80000"/>
              </a:lnSpc>
            </a:pPr>
            <a:r>
              <a:rPr lang="en-GB" altLang="en-US" sz="2800"/>
              <a:t>Record the number of correct AND incorrect words.</a:t>
            </a:r>
          </a:p>
          <a:p>
            <a:pPr eaLnBrk="1" hangingPunct="1">
              <a:lnSpc>
                <a:spcPct val="80000"/>
              </a:lnSpc>
            </a:pPr>
            <a:endParaRPr lang="en-GB" altLang="en-US" sz="1600"/>
          </a:p>
          <a:p>
            <a:pPr eaLnBrk="1" hangingPunct="1">
              <a:lnSpc>
                <a:spcPct val="80000"/>
              </a:lnSpc>
            </a:pPr>
            <a:r>
              <a:rPr lang="en-GB" altLang="en-US" sz="2800"/>
              <a:t>If you are unable to do the probe on a particular day, that line is left blank.</a:t>
            </a:r>
          </a:p>
        </p:txBody>
      </p:sp>
    </p:spTree>
    <p:extLst>
      <p:ext uri="{BB962C8B-B14F-4D97-AF65-F5344CB8AC3E}">
        <p14:creationId xmlns:p14="http://schemas.microsoft.com/office/powerpoint/2010/main" val="1567231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2819400" y="1752600"/>
            <a:ext cx="3352800" cy="441960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2531" name="Line 2"/>
          <p:cNvSpPr>
            <a:spLocks noChangeShapeType="1"/>
          </p:cNvSpPr>
          <p:nvPr/>
        </p:nvSpPr>
        <p:spPr bwMode="auto">
          <a:xfrm>
            <a:off x="3352800" y="2438400"/>
            <a:ext cx="1588" cy="27432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2" name="Line 3"/>
          <p:cNvSpPr>
            <a:spLocks noChangeShapeType="1"/>
          </p:cNvSpPr>
          <p:nvPr/>
        </p:nvSpPr>
        <p:spPr bwMode="auto">
          <a:xfrm>
            <a:off x="3352800" y="5181600"/>
            <a:ext cx="2057400" cy="1588"/>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3" name="Line 4"/>
          <p:cNvSpPr>
            <a:spLocks noChangeShapeType="1"/>
          </p:cNvSpPr>
          <p:nvPr/>
        </p:nvSpPr>
        <p:spPr bwMode="auto">
          <a:xfrm>
            <a:off x="3352800" y="5410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4" name="Line 5"/>
          <p:cNvSpPr>
            <a:spLocks noChangeShapeType="1"/>
          </p:cNvSpPr>
          <p:nvPr/>
        </p:nvSpPr>
        <p:spPr bwMode="auto">
          <a:xfrm>
            <a:off x="3352800" y="4800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5" name="Line 6"/>
          <p:cNvSpPr>
            <a:spLocks noChangeShapeType="1"/>
          </p:cNvSpPr>
          <p:nvPr/>
        </p:nvSpPr>
        <p:spPr bwMode="auto">
          <a:xfrm>
            <a:off x="3352800" y="4419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6" name="Line 7"/>
          <p:cNvSpPr>
            <a:spLocks noChangeShapeType="1"/>
          </p:cNvSpPr>
          <p:nvPr/>
        </p:nvSpPr>
        <p:spPr bwMode="auto">
          <a:xfrm>
            <a:off x="3352800" y="4038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7" name="Line 8"/>
          <p:cNvSpPr>
            <a:spLocks noChangeShapeType="1"/>
          </p:cNvSpPr>
          <p:nvPr/>
        </p:nvSpPr>
        <p:spPr bwMode="auto">
          <a:xfrm>
            <a:off x="3352800" y="3657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8" name="Line 9"/>
          <p:cNvSpPr>
            <a:spLocks noChangeShapeType="1"/>
          </p:cNvSpPr>
          <p:nvPr/>
        </p:nvSpPr>
        <p:spPr bwMode="auto">
          <a:xfrm>
            <a:off x="3352800" y="3276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9" name="Line 10"/>
          <p:cNvSpPr>
            <a:spLocks noChangeShapeType="1"/>
          </p:cNvSpPr>
          <p:nvPr/>
        </p:nvSpPr>
        <p:spPr bwMode="auto">
          <a:xfrm>
            <a:off x="3352800" y="2895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40" name="Rectangle 11"/>
          <p:cNvSpPr>
            <a:spLocks/>
          </p:cNvSpPr>
          <p:nvPr/>
        </p:nvSpPr>
        <p:spPr bwMode="auto">
          <a:xfrm>
            <a:off x="3352800" y="5562600"/>
            <a:ext cx="2057400" cy="152400"/>
          </a:xfrm>
          <a:prstGeom prst="rect">
            <a:avLst/>
          </a:prstGeom>
          <a:noFill/>
          <a:ln w="12700">
            <a:solidFill>
              <a:srgbClr val="FFB8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2541" name="Line 12"/>
          <p:cNvSpPr>
            <a:spLocks noChangeShapeType="1"/>
          </p:cNvSpPr>
          <p:nvPr/>
        </p:nvSpPr>
        <p:spPr bwMode="auto">
          <a:xfrm>
            <a:off x="3352800" y="5638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42" name="Rectangle 13"/>
          <p:cNvSpPr>
            <a:spLocks/>
          </p:cNvSpPr>
          <p:nvPr/>
        </p:nvSpPr>
        <p:spPr bwMode="auto">
          <a:xfrm>
            <a:off x="2971800" y="24384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100</a:t>
            </a:r>
          </a:p>
        </p:txBody>
      </p:sp>
      <p:sp>
        <p:nvSpPr>
          <p:cNvPr id="22543" name="Rectangle 14"/>
          <p:cNvSpPr>
            <a:spLocks/>
          </p:cNvSpPr>
          <p:nvPr/>
        </p:nvSpPr>
        <p:spPr bwMode="auto">
          <a:xfrm>
            <a:off x="3124200" y="5029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1</a:t>
            </a:r>
          </a:p>
        </p:txBody>
      </p:sp>
      <p:sp>
        <p:nvSpPr>
          <p:cNvPr id="22544" name="Rectangle 15"/>
          <p:cNvSpPr>
            <a:spLocks/>
          </p:cNvSpPr>
          <p:nvPr/>
        </p:nvSpPr>
        <p:spPr bwMode="auto">
          <a:xfrm>
            <a:off x="3124200" y="4648200"/>
            <a:ext cx="762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2</a:t>
            </a:r>
          </a:p>
        </p:txBody>
      </p:sp>
      <p:sp>
        <p:nvSpPr>
          <p:cNvPr id="22545" name="Rectangle 16"/>
          <p:cNvSpPr>
            <a:spLocks/>
          </p:cNvSpPr>
          <p:nvPr/>
        </p:nvSpPr>
        <p:spPr bwMode="auto">
          <a:xfrm>
            <a:off x="3124200" y="4267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4</a:t>
            </a:r>
          </a:p>
        </p:txBody>
      </p:sp>
      <p:sp>
        <p:nvSpPr>
          <p:cNvPr id="22546" name="Rectangle 17"/>
          <p:cNvSpPr>
            <a:spLocks/>
          </p:cNvSpPr>
          <p:nvPr/>
        </p:nvSpPr>
        <p:spPr bwMode="auto">
          <a:xfrm>
            <a:off x="3124200" y="3886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8</a:t>
            </a:r>
          </a:p>
        </p:txBody>
      </p:sp>
      <p:sp>
        <p:nvSpPr>
          <p:cNvPr id="22547" name="Rectangle 18"/>
          <p:cNvSpPr>
            <a:spLocks/>
          </p:cNvSpPr>
          <p:nvPr/>
        </p:nvSpPr>
        <p:spPr bwMode="auto">
          <a:xfrm>
            <a:off x="3048000" y="3505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16</a:t>
            </a:r>
          </a:p>
        </p:txBody>
      </p:sp>
      <p:sp>
        <p:nvSpPr>
          <p:cNvPr id="22548" name="Rectangle 19"/>
          <p:cNvSpPr>
            <a:spLocks/>
          </p:cNvSpPr>
          <p:nvPr/>
        </p:nvSpPr>
        <p:spPr bwMode="auto">
          <a:xfrm>
            <a:off x="3048000" y="3124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32</a:t>
            </a:r>
          </a:p>
        </p:txBody>
      </p:sp>
      <p:sp>
        <p:nvSpPr>
          <p:cNvPr id="22549" name="Rectangle 20"/>
          <p:cNvSpPr>
            <a:spLocks/>
          </p:cNvSpPr>
          <p:nvPr/>
        </p:nvSpPr>
        <p:spPr bwMode="auto">
          <a:xfrm>
            <a:off x="3048000" y="2743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64</a:t>
            </a:r>
          </a:p>
        </p:txBody>
      </p:sp>
      <p:sp>
        <p:nvSpPr>
          <p:cNvPr id="22550" name="Line 21"/>
          <p:cNvSpPr>
            <a:spLocks noChangeShapeType="1"/>
          </p:cNvSpPr>
          <p:nvPr/>
        </p:nvSpPr>
        <p:spPr bwMode="auto">
          <a:xfrm>
            <a:off x="3352800" y="2590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1" name="Line 22"/>
          <p:cNvSpPr>
            <a:spLocks noChangeShapeType="1"/>
          </p:cNvSpPr>
          <p:nvPr/>
        </p:nvSpPr>
        <p:spPr bwMode="auto">
          <a:xfrm>
            <a:off x="3352800" y="4495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2" name="Line 23"/>
          <p:cNvSpPr>
            <a:spLocks noChangeShapeType="1"/>
          </p:cNvSpPr>
          <p:nvPr/>
        </p:nvSpPr>
        <p:spPr bwMode="auto">
          <a:xfrm>
            <a:off x="3276600" y="4724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3" name="Line 24"/>
          <p:cNvSpPr>
            <a:spLocks noChangeShapeType="1"/>
          </p:cNvSpPr>
          <p:nvPr/>
        </p:nvSpPr>
        <p:spPr bwMode="auto">
          <a:xfrm>
            <a:off x="3352800" y="4267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4" name="Line 25"/>
          <p:cNvSpPr>
            <a:spLocks noChangeShapeType="1"/>
          </p:cNvSpPr>
          <p:nvPr/>
        </p:nvSpPr>
        <p:spPr bwMode="auto">
          <a:xfrm>
            <a:off x="3352800" y="3886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5" name="Line 26"/>
          <p:cNvSpPr>
            <a:spLocks noChangeShapeType="1"/>
          </p:cNvSpPr>
          <p:nvPr/>
        </p:nvSpPr>
        <p:spPr bwMode="auto">
          <a:xfrm>
            <a:off x="3352800" y="3505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6" name="Line 27"/>
          <p:cNvSpPr>
            <a:spLocks noChangeShapeType="1"/>
          </p:cNvSpPr>
          <p:nvPr/>
        </p:nvSpPr>
        <p:spPr bwMode="auto">
          <a:xfrm>
            <a:off x="3352800" y="3429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7" name="Line 28"/>
          <p:cNvSpPr>
            <a:spLocks noChangeShapeType="1"/>
          </p:cNvSpPr>
          <p:nvPr/>
        </p:nvSpPr>
        <p:spPr bwMode="auto">
          <a:xfrm>
            <a:off x="3352800" y="3200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8" name="Line 29"/>
          <p:cNvSpPr>
            <a:spLocks noChangeShapeType="1"/>
          </p:cNvSpPr>
          <p:nvPr/>
        </p:nvSpPr>
        <p:spPr bwMode="auto">
          <a:xfrm>
            <a:off x="3352800" y="3124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9" name="Line 30"/>
          <p:cNvSpPr>
            <a:spLocks noChangeShapeType="1"/>
          </p:cNvSpPr>
          <p:nvPr/>
        </p:nvSpPr>
        <p:spPr bwMode="auto">
          <a:xfrm>
            <a:off x="3352800" y="2971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0" name="Line 31"/>
          <p:cNvSpPr>
            <a:spLocks noChangeShapeType="1"/>
          </p:cNvSpPr>
          <p:nvPr/>
        </p:nvSpPr>
        <p:spPr bwMode="auto">
          <a:xfrm>
            <a:off x="3352800" y="3048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1" name="Line 32"/>
          <p:cNvSpPr>
            <a:spLocks noChangeShapeType="1"/>
          </p:cNvSpPr>
          <p:nvPr/>
        </p:nvSpPr>
        <p:spPr bwMode="auto">
          <a:xfrm>
            <a:off x="3352800" y="2667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2" name="Line 33"/>
          <p:cNvSpPr>
            <a:spLocks noChangeShapeType="1"/>
          </p:cNvSpPr>
          <p:nvPr/>
        </p:nvSpPr>
        <p:spPr bwMode="auto">
          <a:xfrm>
            <a:off x="3352800" y="2743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3" name="Line 34"/>
          <p:cNvSpPr>
            <a:spLocks noChangeShapeType="1"/>
          </p:cNvSpPr>
          <p:nvPr/>
        </p:nvSpPr>
        <p:spPr bwMode="auto">
          <a:xfrm>
            <a:off x="3352800" y="2819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4" name="Line 35"/>
          <p:cNvSpPr>
            <a:spLocks noChangeShapeType="1"/>
          </p:cNvSpPr>
          <p:nvPr/>
        </p:nvSpPr>
        <p:spPr bwMode="auto">
          <a:xfrm>
            <a:off x="3429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5" name="Line 36"/>
          <p:cNvSpPr>
            <a:spLocks noChangeShapeType="1"/>
          </p:cNvSpPr>
          <p:nvPr/>
        </p:nvSpPr>
        <p:spPr bwMode="auto">
          <a:xfrm>
            <a:off x="3505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6" name="Line 37"/>
          <p:cNvSpPr>
            <a:spLocks noChangeShapeType="1"/>
          </p:cNvSpPr>
          <p:nvPr/>
        </p:nvSpPr>
        <p:spPr bwMode="auto">
          <a:xfrm>
            <a:off x="3581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7" name="Line 38"/>
          <p:cNvSpPr>
            <a:spLocks noChangeShapeType="1"/>
          </p:cNvSpPr>
          <p:nvPr/>
        </p:nvSpPr>
        <p:spPr bwMode="auto">
          <a:xfrm>
            <a:off x="3657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8" name="Line 39"/>
          <p:cNvSpPr>
            <a:spLocks noChangeShapeType="1"/>
          </p:cNvSpPr>
          <p:nvPr/>
        </p:nvSpPr>
        <p:spPr bwMode="auto">
          <a:xfrm>
            <a:off x="3733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9" name="Line 40"/>
          <p:cNvSpPr>
            <a:spLocks noChangeShapeType="1"/>
          </p:cNvSpPr>
          <p:nvPr/>
        </p:nvSpPr>
        <p:spPr bwMode="auto">
          <a:xfrm>
            <a:off x="3810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0" name="Line 41"/>
          <p:cNvSpPr>
            <a:spLocks noChangeShapeType="1"/>
          </p:cNvSpPr>
          <p:nvPr/>
        </p:nvSpPr>
        <p:spPr bwMode="auto">
          <a:xfrm>
            <a:off x="3886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1" name="Line 42"/>
          <p:cNvSpPr>
            <a:spLocks noChangeShapeType="1"/>
          </p:cNvSpPr>
          <p:nvPr/>
        </p:nvSpPr>
        <p:spPr bwMode="auto">
          <a:xfrm>
            <a:off x="3962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2" name="Line 43"/>
          <p:cNvSpPr>
            <a:spLocks noChangeShapeType="1"/>
          </p:cNvSpPr>
          <p:nvPr/>
        </p:nvSpPr>
        <p:spPr bwMode="auto">
          <a:xfrm>
            <a:off x="4038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3" name="Line 44"/>
          <p:cNvSpPr>
            <a:spLocks noChangeShapeType="1"/>
          </p:cNvSpPr>
          <p:nvPr/>
        </p:nvSpPr>
        <p:spPr bwMode="auto">
          <a:xfrm>
            <a:off x="4114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4" name="Line 45"/>
          <p:cNvSpPr>
            <a:spLocks noChangeShapeType="1"/>
          </p:cNvSpPr>
          <p:nvPr/>
        </p:nvSpPr>
        <p:spPr bwMode="auto">
          <a:xfrm>
            <a:off x="4191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5" name="Line 46"/>
          <p:cNvSpPr>
            <a:spLocks noChangeShapeType="1"/>
          </p:cNvSpPr>
          <p:nvPr/>
        </p:nvSpPr>
        <p:spPr bwMode="auto">
          <a:xfrm>
            <a:off x="4267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6" name="Line 47"/>
          <p:cNvSpPr>
            <a:spLocks noChangeShapeType="1"/>
          </p:cNvSpPr>
          <p:nvPr/>
        </p:nvSpPr>
        <p:spPr bwMode="auto">
          <a:xfrm>
            <a:off x="4343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7" name="Line 48"/>
          <p:cNvSpPr>
            <a:spLocks noChangeShapeType="1"/>
          </p:cNvSpPr>
          <p:nvPr/>
        </p:nvSpPr>
        <p:spPr bwMode="auto">
          <a:xfrm>
            <a:off x="4419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8" name="Line 49"/>
          <p:cNvSpPr>
            <a:spLocks noChangeShapeType="1"/>
          </p:cNvSpPr>
          <p:nvPr/>
        </p:nvSpPr>
        <p:spPr bwMode="auto">
          <a:xfrm>
            <a:off x="4495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9" name="Line 50"/>
          <p:cNvSpPr>
            <a:spLocks noChangeShapeType="1"/>
          </p:cNvSpPr>
          <p:nvPr/>
        </p:nvSpPr>
        <p:spPr bwMode="auto">
          <a:xfrm>
            <a:off x="4572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0" name="Line 51"/>
          <p:cNvSpPr>
            <a:spLocks noChangeShapeType="1"/>
          </p:cNvSpPr>
          <p:nvPr/>
        </p:nvSpPr>
        <p:spPr bwMode="auto">
          <a:xfrm>
            <a:off x="4648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1" name="Line 52"/>
          <p:cNvSpPr>
            <a:spLocks noChangeShapeType="1"/>
          </p:cNvSpPr>
          <p:nvPr/>
        </p:nvSpPr>
        <p:spPr bwMode="auto">
          <a:xfrm>
            <a:off x="4724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2" name="Line 53"/>
          <p:cNvSpPr>
            <a:spLocks noChangeShapeType="1"/>
          </p:cNvSpPr>
          <p:nvPr/>
        </p:nvSpPr>
        <p:spPr bwMode="auto">
          <a:xfrm>
            <a:off x="4800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3" name="Line 54"/>
          <p:cNvSpPr>
            <a:spLocks noChangeShapeType="1"/>
          </p:cNvSpPr>
          <p:nvPr/>
        </p:nvSpPr>
        <p:spPr bwMode="auto">
          <a:xfrm>
            <a:off x="4876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4" name="Line 55"/>
          <p:cNvSpPr>
            <a:spLocks noChangeShapeType="1"/>
          </p:cNvSpPr>
          <p:nvPr/>
        </p:nvSpPr>
        <p:spPr bwMode="auto">
          <a:xfrm>
            <a:off x="4953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5" name="Line 56"/>
          <p:cNvSpPr>
            <a:spLocks noChangeShapeType="1"/>
          </p:cNvSpPr>
          <p:nvPr/>
        </p:nvSpPr>
        <p:spPr bwMode="auto">
          <a:xfrm>
            <a:off x="5029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6" name="Line 57"/>
          <p:cNvSpPr>
            <a:spLocks noChangeShapeType="1"/>
          </p:cNvSpPr>
          <p:nvPr/>
        </p:nvSpPr>
        <p:spPr bwMode="auto">
          <a:xfrm>
            <a:off x="5105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7" name="Line 58"/>
          <p:cNvSpPr>
            <a:spLocks noChangeShapeType="1"/>
          </p:cNvSpPr>
          <p:nvPr/>
        </p:nvSpPr>
        <p:spPr bwMode="auto">
          <a:xfrm>
            <a:off x="5181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8" name="Line 59"/>
          <p:cNvSpPr>
            <a:spLocks noChangeShapeType="1"/>
          </p:cNvSpPr>
          <p:nvPr/>
        </p:nvSpPr>
        <p:spPr bwMode="auto">
          <a:xfrm>
            <a:off x="5257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9" name="Line 60"/>
          <p:cNvSpPr>
            <a:spLocks noChangeShapeType="1"/>
          </p:cNvSpPr>
          <p:nvPr/>
        </p:nvSpPr>
        <p:spPr bwMode="auto">
          <a:xfrm>
            <a:off x="5334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90" name="Rectangle 61"/>
          <p:cNvSpPr>
            <a:spLocks/>
          </p:cNvSpPr>
          <p:nvPr/>
        </p:nvSpPr>
        <p:spPr bwMode="auto">
          <a:xfrm>
            <a:off x="6372225" y="1844675"/>
            <a:ext cx="2235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50"/>
              </a:spcBef>
              <a:buClrTx/>
              <a:buSzTx/>
              <a:buFontTx/>
              <a:buNone/>
            </a:pPr>
            <a:r>
              <a:rPr lang="en-US" altLang="en-US" sz="2000">
                <a:solidFill>
                  <a:srgbClr val="FF0000"/>
                </a:solidFill>
                <a:latin typeface="Arial" charset="0"/>
                <a:cs typeface="Arial" charset="0"/>
                <a:sym typeface="Arial" charset="0"/>
              </a:rPr>
              <a:t>Proportional chart - showing % gains</a:t>
            </a:r>
          </a:p>
        </p:txBody>
      </p:sp>
      <p:sp>
        <p:nvSpPr>
          <p:cNvPr id="22591" name="Rectangle 62"/>
          <p:cNvSpPr>
            <a:spLocks/>
          </p:cNvSpPr>
          <p:nvPr/>
        </p:nvSpPr>
        <p:spPr bwMode="auto">
          <a:xfrm>
            <a:off x="533400" y="4572000"/>
            <a:ext cx="1600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50"/>
              </a:spcBef>
              <a:buClrTx/>
              <a:buSzTx/>
              <a:buFontTx/>
              <a:buNone/>
            </a:pPr>
            <a:r>
              <a:rPr lang="en-US" altLang="en-US" sz="2000" b="1">
                <a:latin typeface="Arial" charset="0"/>
                <a:cs typeface="Arial" charset="0"/>
                <a:sym typeface="Arial" charset="0"/>
              </a:rPr>
              <a:t>Correct</a:t>
            </a:r>
          </a:p>
          <a:p>
            <a:pPr eaLnBrk="1" hangingPunct="1">
              <a:spcBef>
                <a:spcPts val="1150"/>
              </a:spcBef>
              <a:buClrTx/>
              <a:buSzTx/>
              <a:buFontTx/>
              <a:buNone/>
            </a:pPr>
            <a:r>
              <a:rPr lang="en-US" altLang="en-US" sz="2000" b="1">
                <a:latin typeface="Arial" charset="0"/>
                <a:cs typeface="Arial" charset="0"/>
                <a:sym typeface="Arial" charset="0"/>
              </a:rPr>
              <a:t>Errors</a:t>
            </a:r>
          </a:p>
        </p:txBody>
      </p:sp>
      <p:sp>
        <p:nvSpPr>
          <p:cNvPr id="22592" name="Line 63"/>
          <p:cNvSpPr>
            <a:spLocks noChangeShapeType="1"/>
          </p:cNvSpPr>
          <p:nvPr/>
        </p:nvSpPr>
        <p:spPr bwMode="auto">
          <a:xfrm>
            <a:off x="1600200" y="4800600"/>
            <a:ext cx="1676400" cy="762000"/>
          </a:xfrm>
          <a:prstGeom prst="line">
            <a:avLst/>
          </a:prstGeom>
          <a:noFill/>
          <a:ln w="38100">
            <a:solidFill>
              <a:srgbClr val="FF00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3" name="Line 64"/>
          <p:cNvSpPr>
            <a:spLocks noChangeShapeType="1"/>
          </p:cNvSpPr>
          <p:nvPr/>
        </p:nvSpPr>
        <p:spPr bwMode="auto">
          <a:xfrm>
            <a:off x="1447800" y="5334000"/>
            <a:ext cx="1828800" cy="304800"/>
          </a:xfrm>
          <a:prstGeom prst="line">
            <a:avLst/>
          </a:prstGeom>
          <a:noFill/>
          <a:ln w="38100">
            <a:solidFill>
              <a:srgbClr val="FF00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4" name="Rectangle 65"/>
          <p:cNvSpPr>
            <a:spLocks/>
          </p:cNvSpPr>
          <p:nvPr/>
        </p:nvSpPr>
        <p:spPr bwMode="auto">
          <a:xfrm>
            <a:off x="5580063" y="836613"/>
            <a:ext cx="19050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solidFill>
                  <a:srgbClr val="FF0000"/>
                </a:solidFill>
                <a:latin typeface="Arial" charset="0"/>
                <a:cs typeface="Arial" charset="0"/>
                <a:sym typeface="Arial" charset="0"/>
              </a:rPr>
              <a:t>Days of the week or ‘trials’ (5)</a:t>
            </a:r>
          </a:p>
        </p:txBody>
      </p:sp>
      <p:sp>
        <p:nvSpPr>
          <p:cNvPr id="22595" name="Line 66"/>
          <p:cNvSpPr>
            <a:spLocks noChangeShapeType="1"/>
          </p:cNvSpPr>
          <p:nvPr/>
        </p:nvSpPr>
        <p:spPr bwMode="auto">
          <a:xfrm flipH="1">
            <a:off x="3962400" y="1484313"/>
            <a:ext cx="1257300" cy="800100"/>
          </a:xfrm>
          <a:prstGeom prst="line">
            <a:avLst/>
          </a:prstGeom>
          <a:noFill/>
          <a:ln w="63500">
            <a:solidFill>
              <a:srgbClr val="FFB800"/>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2596" name="Line 67"/>
          <p:cNvSpPr>
            <a:spLocks noChangeShapeType="1"/>
          </p:cNvSpPr>
          <p:nvPr/>
        </p:nvSpPr>
        <p:spPr bwMode="auto">
          <a:xfrm>
            <a:off x="2819400" y="5334000"/>
            <a:ext cx="457200" cy="228600"/>
          </a:xfrm>
          <a:prstGeom prst="line">
            <a:avLst/>
          </a:prstGeom>
          <a:noFill/>
          <a:ln w="63500">
            <a:solidFill>
              <a:srgbClr val="FFB8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7" name="Line 68"/>
          <p:cNvSpPr>
            <a:spLocks noChangeShapeType="1"/>
          </p:cNvSpPr>
          <p:nvPr/>
        </p:nvSpPr>
        <p:spPr bwMode="auto">
          <a:xfrm>
            <a:off x="2819400" y="5562600"/>
            <a:ext cx="457200" cy="76200"/>
          </a:xfrm>
          <a:prstGeom prst="line">
            <a:avLst/>
          </a:prstGeom>
          <a:noFill/>
          <a:ln w="63500">
            <a:solidFill>
              <a:srgbClr val="FFB8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8" name="Rectangle 69"/>
          <p:cNvSpPr>
            <a:spLocks/>
          </p:cNvSpPr>
          <p:nvPr/>
        </p:nvSpPr>
        <p:spPr bwMode="auto">
          <a:xfrm>
            <a:off x="457200" y="3124200"/>
            <a:ext cx="19812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solidFill>
                  <a:srgbClr val="FF0000"/>
                </a:solidFill>
                <a:latin typeface="Arial" charset="0"/>
                <a:cs typeface="Arial" charset="0"/>
                <a:sym typeface="Arial" charset="0"/>
              </a:rPr>
              <a:t>Responses per minute</a:t>
            </a:r>
          </a:p>
        </p:txBody>
      </p:sp>
      <p:sp>
        <p:nvSpPr>
          <p:cNvPr id="22599" name="Line 70"/>
          <p:cNvSpPr>
            <a:spLocks noChangeShapeType="1"/>
          </p:cNvSpPr>
          <p:nvPr/>
        </p:nvSpPr>
        <p:spPr bwMode="auto">
          <a:xfrm rot="10800000" flipH="1">
            <a:off x="1828800" y="3276600"/>
            <a:ext cx="1219200" cy="304800"/>
          </a:xfrm>
          <a:prstGeom prst="line">
            <a:avLst/>
          </a:prstGeom>
          <a:noFill/>
          <a:ln w="63500">
            <a:solidFill>
              <a:srgbClr val="FFB800"/>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2600" name="Line 71"/>
          <p:cNvSpPr>
            <a:spLocks noChangeShapeType="1"/>
          </p:cNvSpPr>
          <p:nvPr/>
        </p:nvSpPr>
        <p:spPr bwMode="auto">
          <a:xfrm flipH="1">
            <a:off x="1828800" y="3352800"/>
            <a:ext cx="838200" cy="2286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601" name="Rectangle 7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The Chart</a:t>
            </a:r>
          </a:p>
        </p:txBody>
      </p:sp>
    </p:spTree>
    <p:extLst>
      <p:ext uri="{BB962C8B-B14F-4D97-AF65-F5344CB8AC3E}">
        <p14:creationId xmlns:p14="http://schemas.microsoft.com/office/powerpoint/2010/main" val="3228060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p:cNvSpPr>
          <p:nvPr/>
        </p:nvSpPr>
        <p:spPr bwMode="auto">
          <a:xfrm>
            <a:off x="1331913" y="889000"/>
            <a:ext cx="5765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Precision Teaching</a:t>
            </a:r>
          </a:p>
        </p:txBody>
      </p:sp>
      <p:sp>
        <p:nvSpPr>
          <p:cNvPr id="23555" name="Rectangle 2"/>
          <p:cNvSpPr>
            <a:spLocks/>
          </p:cNvSpPr>
          <p:nvPr/>
        </p:nvSpPr>
        <p:spPr bwMode="auto">
          <a:xfrm>
            <a:off x="3048000" y="1905000"/>
            <a:ext cx="3352800" cy="441960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3556" name="Line 3"/>
          <p:cNvSpPr>
            <a:spLocks noChangeShapeType="1"/>
          </p:cNvSpPr>
          <p:nvPr/>
        </p:nvSpPr>
        <p:spPr bwMode="auto">
          <a:xfrm>
            <a:off x="3581400" y="2667000"/>
            <a:ext cx="1588" cy="27432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7" name="Line 4"/>
          <p:cNvSpPr>
            <a:spLocks noChangeShapeType="1"/>
          </p:cNvSpPr>
          <p:nvPr/>
        </p:nvSpPr>
        <p:spPr bwMode="auto">
          <a:xfrm>
            <a:off x="3581400" y="5410200"/>
            <a:ext cx="2057400" cy="1588"/>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8" name="Line 5"/>
          <p:cNvSpPr>
            <a:spLocks noChangeShapeType="1"/>
          </p:cNvSpPr>
          <p:nvPr/>
        </p:nvSpPr>
        <p:spPr bwMode="auto">
          <a:xfrm>
            <a:off x="3581400" y="5638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9" name="Line 6"/>
          <p:cNvSpPr>
            <a:spLocks noChangeShapeType="1"/>
          </p:cNvSpPr>
          <p:nvPr/>
        </p:nvSpPr>
        <p:spPr bwMode="auto">
          <a:xfrm>
            <a:off x="3581400" y="5029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0" name="Line 7"/>
          <p:cNvSpPr>
            <a:spLocks noChangeShapeType="1"/>
          </p:cNvSpPr>
          <p:nvPr/>
        </p:nvSpPr>
        <p:spPr bwMode="auto">
          <a:xfrm>
            <a:off x="3581400" y="4648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1" name="Line 8"/>
          <p:cNvSpPr>
            <a:spLocks noChangeShapeType="1"/>
          </p:cNvSpPr>
          <p:nvPr/>
        </p:nvSpPr>
        <p:spPr bwMode="auto">
          <a:xfrm>
            <a:off x="3581400" y="4267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2" name="Line 9"/>
          <p:cNvSpPr>
            <a:spLocks noChangeShapeType="1"/>
          </p:cNvSpPr>
          <p:nvPr/>
        </p:nvSpPr>
        <p:spPr bwMode="auto">
          <a:xfrm>
            <a:off x="3581400" y="3886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3" name="Line 10"/>
          <p:cNvSpPr>
            <a:spLocks noChangeShapeType="1"/>
          </p:cNvSpPr>
          <p:nvPr/>
        </p:nvSpPr>
        <p:spPr bwMode="auto">
          <a:xfrm>
            <a:off x="3581400" y="3505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4" name="Line 11"/>
          <p:cNvSpPr>
            <a:spLocks noChangeShapeType="1"/>
          </p:cNvSpPr>
          <p:nvPr/>
        </p:nvSpPr>
        <p:spPr bwMode="auto">
          <a:xfrm>
            <a:off x="3581400" y="3124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5" name="Rectangle 12"/>
          <p:cNvSpPr>
            <a:spLocks/>
          </p:cNvSpPr>
          <p:nvPr/>
        </p:nvSpPr>
        <p:spPr bwMode="auto">
          <a:xfrm>
            <a:off x="3581400" y="5791200"/>
            <a:ext cx="2057400" cy="152400"/>
          </a:xfrm>
          <a:prstGeom prst="rect">
            <a:avLst/>
          </a:prstGeom>
          <a:noFill/>
          <a:ln w="12700">
            <a:solidFill>
              <a:srgbClr val="FFB8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3566" name="Line 13"/>
          <p:cNvSpPr>
            <a:spLocks noChangeShapeType="1"/>
          </p:cNvSpPr>
          <p:nvPr/>
        </p:nvSpPr>
        <p:spPr bwMode="auto">
          <a:xfrm>
            <a:off x="3581400" y="5867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7" name="Rectangle 14"/>
          <p:cNvSpPr>
            <a:spLocks/>
          </p:cNvSpPr>
          <p:nvPr/>
        </p:nvSpPr>
        <p:spPr bwMode="auto">
          <a:xfrm>
            <a:off x="3200400" y="26670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100</a:t>
            </a:r>
          </a:p>
        </p:txBody>
      </p:sp>
      <p:sp>
        <p:nvSpPr>
          <p:cNvPr id="23568" name="Rectangle 15"/>
          <p:cNvSpPr>
            <a:spLocks/>
          </p:cNvSpPr>
          <p:nvPr/>
        </p:nvSpPr>
        <p:spPr bwMode="auto">
          <a:xfrm>
            <a:off x="3352800" y="5257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1</a:t>
            </a:r>
          </a:p>
        </p:txBody>
      </p:sp>
      <p:sp>
        <p:nvSpPr>
          <p:cNvPr id="23569" name="Rectangle 16"/>
          <p:cNvSpPr>
            <a:spLocks/>
          </p:cNvSpPr>
          <p:nvPr/>
        </p:nvSpPr>
        <p:spPr bwMode="auto">
          <a:xfrm>
            <a:off x="3352800" y="4876800"/>
            <a:ext cx="762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2</a:t>
            </a:r>
          </a:p>
        </p:txBody>
      </p:sp>
      <p:sp>
        <p:nvSpPr>
          <p:cNvPr id="23570" name="Rectangle 17"/>
          <p:cNvSpPr>
            <a:spLocks/>
          </p:cNvSpPr>
          <p:nvPr/>
        </p:nvSpPr>
        <p:spPr bwMode="auto">
          <a:xfrm>
            <a:off x="3352800" y="4495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4</a:t>
            </a:r>
          </a:p>
        </p:txBody>
      </p:sp>
      <p:sp>
        <p:nvSpPr>
          <p:cNvPr id="23571" name="Rectangle 18"/>
          <p:cNvSpPr>
            <a:spLocks/>
          </p:cNvSpPr>
          <p:nvPr/>
        </p:nvSpPr>
        <p:spPr bwMode="auto">
          <a:xfrm>
            <a:off x="3352800" y="4114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8</a:t>
            </a:r>
          </a:p>
        </p:txBody>
      </p:sp>
      <p:sp>
        <p:nvSpPr>
          <p:cNvPr id="23572" name="Rectangle 19"/>
          <p:cNvSpPr>
            <a:spLocks/>
          </p:cNvSpPr>
          <p:nvPr/>
        </p:nvSpPr>
        <p:spPr bwMode="auto">
          <a:xfrm>
            <a:off x="3276600" y="3733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16</a:t>
            </a:r>
          </a:p>
        </p:txBody>
      </p:sp>
      <p:sp>
        <p:nvSpPr>
          <p:cNvPr id="23573" name="Rectangle 20"/>
          <p:cNvSpPr>
            <a:spLocks/>
          </p:cNvSpPr>
          <p:nvPr/>
        </p:nvSpPr>
        <p:spPr bwMode="auto">
          <a:xfrm>
            <a:off x="3276600" y="3352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32</a:t>
            </a:r>
          </a:p>
        </p:txBody>
      </p:sp>
      <p:sp>
        <p:nvSpPr>
          <p:cNvPr id="23574" name="Rectangle 21"/>
          <p:cNvSpPr>
            <a:spLocks/>
          </p:cNvSpPr>
          <p:nvPr/>
        </p:nvSpPr>
        <p:spPr bwMode="auto">
          <a:xfrm>
            <a:off x="3276600" y="2971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64</a:t>
            </a:r>
          </a:p>
        </p:txBody>
      </p:sp>
      <p:sp>
        <p:nvSpPr>
          <p:cNvPr id="23575" name="Line 22"/>
          <p:cNvSpPr>
            <a:spLocks noChangeShapeType="1"/>
          </p:cNvSpPr>
          <p:nvPr/>
        </p:nvSpPr>
        <p:spPr bwMode="auto">
          <a:xfrm>
            <a:off x="3581400" y="2819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6" name="Line 23"/>
          <p:cNvSpPr>
            <a:spLocks noChangeShapeType="1"/>
          </p:cNvSpPr>
          <p:nvPr/>
        </p:nvSpPr>
        <p:spPr bwMode="auto">
          <a:xfrm>
            <a:off x="3581400" y="4724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7" name="Line 24"/>
          <p:cNvSpPr>
            <a:spLocks noChangeShapeType="1"/>
          </p:cNvSpPr>
          <p:nvPr/>
        </p:nvSpPr>
        <p:spPr bwMode="auto">
          <a:xfrm>
            <a:off x="3505200" y="4953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8" name="Line 25"/>
          <p:cNvSpPr>
            <a:spLocks noChangeShapeType="1"/>
          </p:cNvSpPr>
          <p:nvPr/>
        </p:nvSpPr>
        <p:spPr bwMode="auto">
          <a:xfrm>
            <a:off x="3581400" y="4495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9" name="Line 26"/>
          <p:cNvSpPr>
            <a:spLocks noChangeShapeType="1"/>
          </p:cNvSpPr>
          <p:nvPr/>
        </p:nvSpPr>
        <p:spPr bwMode="auto">
          <a:xfrm>
            <a:off x="3581400" y="4114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0" name="Line 27"/>
          <p:cNvSpPr>
            <a:spLocks noChangeShapeType="1"/>
          </p:cNvSpPr>
          <p:nvPr/>
        </p:nvSpPr>
        <p:spPr bwMode="auto">
          <a:xfrm>
            <a:off x="3581400" y="3733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1" name="Line 28"/>
          <p:cNvSpPr>
            <a:spLocks noChangeShapeType="1"/>
          </p:cNvSpPr>
          <p:nvPr/>
        </p:nvSpPr>
        <p:spPr bwMode="auto">
          <a:xfrm>
            <a:off x="3581400" y="3657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2" name="Line 29"/>
          <p:cNvSpPr>
            <a:spLocks noChangeShapeType="1"/>
          </p:cNvSpPr>
          <p:nvPr/>
        </p:nvSpPr>
        <p:spPr bwMode="auto">
          <a:xfrm>
            <a:off x="3581400" y="3429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3" name="Line 30"/>
          <p:cNvSpPr>
            <a:spLocks noChangeShapeType="1"/>
          </p:cNvSpPr>
          <p:nvPr/>
        </p:nvSpPr>
        <p:spPr bwMode="auto">
          <a:xfrm>
            <a:off x="3581400" y="3352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4" name="Line 31"/>
          <p:cNvSpPr>
            <a:spLocks noChangeShapeType="1"/>
          </p:cNvSpPr>
          <p:nvPr/>
        </p:nvSpPr>
        <p:spPr bwMode="auto">
          <a:xfrm>
            <a:off x="3581400" y="3200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5" name="Line 32"/>
          <p:cNvSpPr>
            <a:spLocks noChangeShapeType="1"/>
          </p:cNvSpPr>
          <p:nvPr/>
        </p:nvSpPr>
        <p:spPr bwMode="auto">
          <a:xfrm>
            <a:off x="3581400" y="3276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6" name="Line 33"/>
          <p:cNvSpPr>
            <a:spLocks noChangeShapeType="1"/>
          </p:cNvSpPr>
          <p:nvPr/>
        </p:nvSpPr>
        <p:spPr bwMode="auto">
          <a:xfrm>
            <a:off x="3581400" y="2895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7" name="Line 34"/>
          <p:cNvSpPr>
            <a:spLocks noChangeShapeType="1"/>
          </p:cNvSpPr>
          <p:nvPr/>
        </p:nvSpPr>
        <p:spPr bwMode="auto">
          <a:xfrm>
            <a:off x="3581400" y="2971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8" name="Line 35"/>
          <p:cNvSpPr>
            <a:spLocks noChangeShapeType="1"/>
          </p:cNvSpPr>
          <p:nvPr/>
        </p:nvSpPr>
        <p:spPr bwMode="auto">
          <a:xfrm>
            <a:off x="3581400" y="3048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9" name="Line 36"/>
          <p:cNvSpPr>
            <a:spLocks noChangeShapeType="1"/>
          </p:cNvSpPr>
          <p:nvPr/>
        </p:nvSpPr>
        <p:spPr bwMode="auto">
          <a:xfrm>
            <a:off x="3657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0" name="Line 37"/>
          <p:cNvSpPr>
            <a:spLocks noChangeShapeType="1"/>
          </p:cNvSpPr>
          <p:nvPr/>
        </p:nvSpPr>
        <p:spPr bwMode="auto">
          <a:xfrm>
            <a:off x="3733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1" name="Line 38"/>
          <p:cNvSpPr>
            <a:spLocks noChangeShapeType="1"/>
          </p:cNvSpPr>
          <p:nvPr/>
        </p:nvSpPr>
        <p:spPr bwMode="auto">
          <a:xfrm>
            <a:off x="3810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2" name="Line 39"/>
          <p:cNvSpPr>
            <a:spLocks noChangeShapeType="1"/>
          </p:cNvSpPr>
          <p:nvPr/>
        </p:nvSpPr>
        <p:spPr bwMode="auto">
          <a:xfrm>
            <a:off x="3886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3" name="Line 40"/>
          <p:cNvSpPr>
            <a:spLocks noChangeShapeType="1"/>
          </p:cNvSpPr>
          <p:nvPr/>
        </p:nvSpPr>
        <p:spPr bwMode="auto">
          <a:xfrm>
            <a:off x="3962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4" name="Line 41"/>
          <p:cNvSpPr>
            <a:spLocks noChangeShapeType="1"/>
          </p:cNvSpPr>
          <p:nvPr/>
        </p:nvSpPr>
        <p:spPr bwMode="auto">
          <a:xfrm>
            <a:off x="4038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5" name="Line 42"/>
          <p:cNvSpPr>
            <a:spLocks noChangeShapeType="1"/>
          </p:cNvSpPr>
          <p:nvPr/>
        </p:nvSpPr>
        <p:spPr bwMode="auto">
          <a:xfrm>
            <a:off x="4114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6" name="Line 43"/>
          <p:cNvSpPr>
            <a:spLocks noChangeShapeType="1"/>
          </p:cNvSpPr>
          <p:nvPr/>
        </p:nvSpPr>
        <p:spPr bwMode="auto">
          <a:xfrm>
            <a:off x="4191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7" name="Line 44"/>
          <p:cNvSpPr>
            <a:spLocks noChangeShapeType="1"/>
          </p:cNvSpPr>
          <p:nvPr/>
        </p:nvSpPr>
        <p:spPr bwMode="auto">
          <a:xfrm>
            <a:off x="4267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8" name="Line 45"/>
          <p:cNvSpPr>
            <a:spLocks noChangeShapeType="1"/>
          </p:cNvSpPr>
          <p:nvPr/>
        </p:nvSpPr>
        <p:spPr bwMode="auto">
          <a:xfrm>
            <a:off x="4343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9" name="Line 46"/>
          <p:cNvSpPr>
            <a:spLocks noChangeShapeType="1"/>
          </p:cNvSpPr>
          <p:nvPr/>
        </p:nvSpPr>
        <p:spPr bwMode="auto">
          <a:xfrm>
            <a:off x="4419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0" name="Line 47"/>
          <p:cNvSpPr>
            <a:spLocks noChangeShapeType="1"/>
          </p:cNvSpPr>
          <p:nvPr/>
        </p:nvSpPr>
        <p:spPr bwMode="auto">
          <a:xfrm>
            <a:off x="4495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1" name="Line 48"/>
          <p:cNvSpPr>
            <a:spLocks noChangeShapeType="1"/>
          </p:cNvSpPr>
          <p:nvPr/>
        </p:nvSpPr>
        <p:spPr bwMode="auto">
          <a:xfrm>
            <a:off x="4572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2" name="Line 49"/>
          <p:cNvSpPr>
            <a:spLocks noChangeShapeType="1"/>
          </p:cNvSpPr>
          <p:nvPr/>
        </p:nvSpPr>
        <p:spPr bwMode="auto">
          <a:xfrm>
            <a:off x="4648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3" name="Line 50"/>
          <p:cNvSpPr>
            <a:spLocks noChangeShapeType="1"/>
          </p:cNvSpPr>
          <p:nvPr/>
        </p:nvSpPr>
        <p:spPr bwMode="auto">
          <a:xfrm>
            <a:off x="4724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4" name="Line 51"/>
          <p:cNvSpPr>
            <a:spLocks noChangeShapeType="1"/>
          </p:cNvSpPr>
          <p:nvPr/>
        </p:nvSpPr>
        <p:spPr bwMode="auto">
          <a:xfrm>
            <a:off x="4800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5" name="Line 52"/>
          <p:cNvSpPr>
            <a:spLocks noChangeShapeType="1"/>
          </p:cNvSpPr>
          <p:nvPr/>
        </p:nvSpPr>
        <p:spPr bwMode="auto">
          <a:xfrm>
            <a:off x="51054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6" name="Line 53"/>
          <p:cNvSpPr>
            <a:spLocks noChangeShapeType="1"/>
          </p:cNvSpPr>
          <p:nvPr/>
        </p:nvSpPr>
        <p:spPr bwMode="auto">
          <a:xfrm>
            <a:off x="4953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7" name="Line 54"/>
          <p:cNvSpPr>
            <a:spLocks noChangeShapeType="1"/>
          </p:cNvSpPr>
          <p:nvPr/>
        </p:nvSpPr>
        <p:spPr bwMode="auto">
          <a:xfrm>
            <a:off x="5029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8" name="Line 55"/>
          <p:cNvSpPr>
            <a:spLocks noChangeShapeType="1"/>
          </p:cNvSpPr>
          <p:nvPr/>
        </p:nvSpPr>
        <p:spPr bwMode="auto">
          <a:xfrm>
            <a:off x="5105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9" name="Line 56"/>
          <p:cNvSpPr>
            <a:spLocks noChangeShapeType="1"/>
          </p:cNvSpPr>
          <p:nvPr/>
        </p:nvSpPr>
        <p:spPr bwMode="auto">
          <a:xfrm>
            <a:off x="5181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0" name="Line 57"/>
          <p:cNvSpPr>
            <a:spLocks noChangeShapeType="1"/>
          </p:cNvSpPr>
          <p:nvPr/>
        </p:nvSpPr>
        <p:spPr bwMode="auto">
          <a:xfrm>
            <a:off x="5257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1" name="Line 58"/>
          <p:cNvSpPr>
            <a:spLocks noChangeShapeType="1"/>
          </p:cNvSpPr>
          <p:nvPr/>
        </p:nvSpPr>
        <p:spPr bwMode="auto">
          <a:xfrm>
            <a:off x="5334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2" name="Line 59"/>
          <p:cNvSpPr>
            <a:spLocks noChangeShapeType="1"/>
          </p:cNvSpPr>
          <p:nvPr/>
        </p:nvSpPr>
        <p:spPr bwMode="auto">
          <a:xfrm>
            <a:off x="5410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3" name="Line 60"/>
          <p:cNvSpPr>
            <a:spLocks noChangeShapeType="1"/>
          </p:cNvSpPr>
          <p:nvPr/>
        </p:nvSpPr>
        <p:spPr bwMode="auto">
          <a:xfrm>
            <a:off x="5486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4" name="Line 61"/>
          <p:cNvSpPr>
            <a:spLocks noChangeShapeType="1"/>
          </p:cNvSpPr>
          <p:nvPr/>
        </p:nvSpPr>
        <p:spPr bwMode="auto">
          <a:xfrm>
            <a:off x="4876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5" name="Line 62"/>
          <p:cNvSpPr>
            <a:spLocks noChangeShapeType="1"/>
          </p:cNvSpPr>
          <p:nvPr/>
        </p:nvSpPr>
        <p:spPr bwMode="auto">
          <a:xfrm>
            <a:off x="2133600" y="4419600"/>
            <a:ext cx="1676400" cy="762000"/>
          </a:xfrm>
          <a:prstGeom prst="line">
            <a:avLst/>
          </a:prstGeom>
          <a:noFill/>
          <a:ln w="38100">
            <a:solidFill>
              <a:srgbClr val="0066FF"/>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3616" name="Line 63"/>
          <p:cNvSpPr>
            <a:spLocks noChangeShapeType="1"/>
          </p:cNvSpPr>
          <p:nvPr/>
        </p:nvSpPr>
        <p:spPr bwMode="auto">
          <a:xfrm rot="10800000" flipH="1">
            <a:off x="2057400" y="3352800"/>
            <a:ext cx="1676400" cy="457200"/>
          </a:xfrm>
          <a:prstGeom prst="line">
            <a:avLst/>
          </a:prstGeom>
          <a:noFill/>
          <a:ln w="63500">
            <a:solidFill>
              <a:srgbClr val="0066FF"/>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3617" name="Line 64"/>
          <p:cNvSpPr>
            <a:spLocks noChangeShapeType="1"/>
          </p:cNvSpPr>
          <p:nvPr/>
        </p:nvSpPr>
        <p:spPr bwMode="auto">
          <a:xfrm rot="10800000" flipH="1">
            <a:off x="3810000" y="3124200"/>
            <a:ext cx="152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8" name="Line 65"/>
          <p:cNvSpPr>
            <a:spLocks noChangeShapeType="1"/>
          </p:cNvSpPr>
          <p:nvPr/>
        </p:nvSpPr>
        <p:spPr bwMode="auto">
          <a:xfrm>
            <a:off x="3962400" y="3124200"/>
            <a:ext cx="3048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9" name="Line 66"/>
          <p:cNvSpPr>
            <a:spLocks noChangeShapeType="1"/>
          </p:cNvSpPr>
          <p:nvPr/>
        </p:nvSpPr>
        <p:spPr bwMode="auto">
          <a:xfrm>
            <a:off x="3810000" y="4572000"/>
            <a:ext cx="228600" cy="10668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20" name="Line 67"/>
          <p:cNvSpPr>
            <a:spLocks noChangeShapeType="1"/>
          </p:cNvSpPr>
          <p:nvPr/>
        </p:nvSpPr>
        <p:spPr bwMode="auto">
          <a:xfrm rot="10800000" flipH="1">
            <a:off x="4038600" y="5562600"/>
            <a:ext cx="228600" cy="76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21" name="Rectangle 68"/>
          <p:cNvSpPr>
            <a:spLocks/>
          </p:cNvSpPr>
          <p:nvPr/>
        </p:nvSpPr>
        <p:spPr bwMode="auto">
          <a:xfrm>
            <a:off x="1066800" y="1752600"/>
            <a:ext cx="22098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400"/>
              </a:spcBef>
              <a:buClrTx/>
              <a:buSzTx/>
              <a:buFontTx/>
              <a:buNone/>
            </a:pPr>
            <a:r>
              <a:rPr lang="en-US" altLang="en-US" sz="2400" b="1">
                <a:solidFill>
                  <a:srgbClr val="FF0000"/>
                </a:solidFill>
                <a:latin typeface="Arial" charset="0"/>
                <a:cs typeface="Arial" charset="0"/>
                <a:sym typeface="Arial" charset="0"/>
              </a:rPr>
              <a:t>LEARNING CURVES</a:t>
            </a:r>
          </a:p>
        </p:txBody>
      </p:sp>
      <p:sp>
        <p:nvSpPr>
          <p:cNvPr id="23622" name="Rectangle 69"/>
          <p:cNvSpPr>
            <a:spLocks/>
          </p:cNvSpPr>
          <p:nvPr/>
        </p:nvSpPr>
        <p:spPr bwMode="auto">
          <a:xfrm>
            <a:off x="609600" y="3352800"/>
            <a:ext cx="13716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FLUENCY</a:t>
            </a:r>
          </a:p>
        </p:txBody>
      </p:sp>
      <p:sp>
        <p:nvSpPr>
          <p:cNvPr id="23623" name="Rectangle 70"/>
          <p:cNvSpPr>
            <a:spLocks/>
          </p:cNvSpPr>
          <p:nvPr/>
        </p:nvSpPr>
        <p:spPr bwMode="auto">
          <a:xfrm>
            <a:off x="609600" y="4267200"/>
            <a:ext cx="16764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ACCURACY</a:t>
            </a:r>
          </a:p>
        </p:txBody>
      </p:sp>
      <p:sp>
        <p:nvSpPr>
          <p:cNvPr id="23624" name="Rectangle 71"/>
          <p:cNvSpPr>
            <a:spLocks/>
          </p:cNvSpPr>
          <p:nvPr/>
        </p:nvSpPr>
        <p:spPr bwMode="auto">
          <a:xfrm>
            <a:off x="6705600" y="2362200"/>
            <a:ext cx="17526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MASTERY</a:t>
            </a:r>
          </a:p>
          <a:p>
            <a:pPr eaLnBrk="1" hangingPunct="1">
              <a:spcBef>
                <a:spcPts val="1050"/>
              </a:spcBef>
              <a:buClrTx/>
              <a:buSzTx/>
              <a:buFontTx/>
              <a:buNone/>
            </a:pPr>
            <a:r>
              <a:rPr lang="en-US" altLang="en-US" sz="1800" b="1">
                <a:latin typeface="Arial" charset="0"/>
                <a:cs typeface="Arial" charset="0"/>
                <a:sym typeface="Arial" charset="0"/>
              </a:rPr>
              <a:t>(aim rate)</a:t>
            </a:r>
          </a:p>
        </p:txBody>
      </p:sp>
      <p:sp>
        <p:nvSpPr>
          <p:cNvPr id="23625" name="Line 72"/>
          <p:cNvSpPr>
            <a:spLocks noChangeShapeType="1"/>
          </p:cNvSpPr>
          <p:nvPr/>
        </p:nvSpPr>
        <p:spPr bwMode="auto">
          <a:xfrm flipH="1">
            <a:off x="4191000" y="2590800"/>
            <a:ext cx="2514600" cy="381000"/>
          </a:xfrm>
          <a:prstGeom prst="line">
            <a:avLst/>
          </a:prstGeom>
          <a:noFill/>
          <a:ln w="63500">
            <a:solidFill>
              <a:srgbClr val="0066FF"/>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3626" name="Rectangle 73"/>
          <p:cNvSpPr>
            <a:spLocks/>
          </p:cNvSpPr>
          <p:nvPr/>
        </p:nvSpPr>
        <p:spPr bwMode="auto">
          <a:xfrm>
            <a:off x="3733800" y="2286000"/>
            <a:ext cx="20574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DAYS AND WEEKS</a:t>
            </a:r>
          </a:p>
        </p:txBody>
      </p:sp>
    </p:spTree>
    <p:extLst>
      <p:ext uri="{BB962C8B-B14F-4D97-AF65-F5344CB8AC3E}">
        <p14:creationId xmlns:p14="http://schemas.microsoft.com/office/powerpoint/2010/main" val="2781461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1"/>
          <p:cNvSpPr>
            <a:spLocks noGrp="1" noChangeArrowheads="1"/>
          </p:cNvSpPr>
          <p:nvPr>
            <p:ph type="body" idx="1"/>
          </p:nvPr>
        </p:nvSpPr>
        <p:spPr>
          <a:xfrm>
            <a:off x="1116013" y="1268413"/>
            <a:ext cx="7696200" cy="5334000"/>
          </a:xfrm>
        </p:spPr>
        <p:txBody>
          <a:bodyPr rIns="31750"/>
          <a:lstStyle/>
          <a:p>
            <a:pPr marL="690563" indent="-609600" eaLnBrk="1" hangingPunct="1">
              <a:buFont typeface="Century Gothic" pitchFamily="34" charset="0"/>
              <a:buNone/>
            </a:pPr>
            <a:endParaRPr lang="en-US" altLang="en-US" sz="1400"/>
          </a:p>
          <a:p>
            <a:pPr marL="690563" indent="-609600" eaLnBrk="1" hangingPunct="1">
              <a:buFont typeface="Century Gothic" pitchFamily="34" charset="0"/>
              <a:buNone/>
            </a:pPr>
            <a:r>
              <a:rPr lang="en-US" altLang="en-US" sz="2400"/>
              <a:t>Suggested minimum Fluency Markers:</a:t>
            </a:r>
          </a:p>
          <a:p>
            <a:pPr marL="690563" indent="-609600" eaLnBrk="1" hangingPunct="1">
              <a:buFont typeface="Century Gothic" pitchFamily="34" charset="0"/>
              <a:buNone/>
            </a:pPr>
            <a:r>
              <a:rPr lang="en-US" altLang="en-US" sz="1600">
                <a:latin typeface="ヒラギノ明朝 ProN W3" charset="0"/>
                <a:sym typeface="ヒラギノ明朝 ProN W3" charset="0"/>
              </a:rPr>
              <a:t>			</a:t>
            </a:r>
            <a:r>
              <a:rPr lang="en-US" altLang="en-US" sz="1800"/>
              <a:t>Infant Pupils</a:t>
            </a:r>
            <a:r>
              <a:rPr lang="en-US" altLang="en-US" sz="1800">
                <a:latin typeface="ヒラギノ明朝 ProN W3" charset="0"/>
                <a:sym typeface="ヒラギノ明朝 ProN W3" charset="0"/>
              </a:rPr>
              <a:t>	</a:t>
            </a:r>
            <a:r>
              <a:rPr lang="en-US" altLang="en-US" sz="1800"/>
              <a:t>=</a:t>
            </a:r>
            <a:r>
              <a:rPr lang="en-US" altLang="en-US" sz="1800">
                <a:latin typeface="ヒラギノ明朝 ProN W3" charset="0"/>
                <a:sym typeface="ヒラギノ明朝 ProN W3" charset="0"/>
              </a:rPr>
              <a:t>	</a:t>
            </a:r>
            <a:r>
              <a:rPr lang="en-US" altLang="en-US" sz="1800"/>
              <a:t>40 correct per minute</a:t>
            </a:r>
            <a:endParaRPr lang="en-US" altLang="en-US"/>
          </a:p>
          <a:p>
            <a:pPr marL="690563" indent="-609600" eaLnBrk="1" hangingPunct="1">
              <a:buFont typeface="Century Gothic" pitchFamily="34" charset="0"/>
              <a:buNone/>
            </a:pPr>
            <a:r>
              <a:rPr lang="en-US" altLang="en-US" sz="1800">
                <a:latin typeface="ヒラギノ明朝 ProN W3" charset="0"/>
                <a:sym typeface="ヒラギノ明朝 ProN W3" charset="0"/>
              </a:rPr>
              <a:t>			</a:t>
            </a:r>
            <a:r>
              <a:rPr lang="en-US" altLang="en-US" sz="1800"/>
              <a:t>Junior Pupils</a:t>
            </a:r>
            <a:r>
              <a:rPr lang="en-US" altLang="en-US" sz="1800">
                <a:latin typeface="ヒラギノ明朝 ProN W3" charset="0"/>
                <a:sym typeface="ヒラギノ明朝 ProN W3" charset="0"/>
              </a:rPr>
              <a:t>	</a:t>
            </a:r>
            <a:r>
              <a:rPr lang="en-US" altLang="en-US" sz="1800"/>
              <a:t>=</a:t>
            </a:r>
            <a:r>
              <a:rPr lang="en-US" altLang="en-US" sz="1800">
                <a:latin typeface="ヒラギノ明朝 ProN W3" charset="0"/>
                <a:sym typeface="ヒラギノ明朝 ProN W3" charset="0"/>
              </a:rPr>
              <a:t>	</a:t>
            </a:r>
            <a:r>
              <a:rPr lang="en-US" altLang="en-US" sz="1800"/>
              <a:t>50 cpm</a:t>
            </a:r>
            <a:endParaRPr lang="en-US" altLang="en-US"/>
          </a:p>
          <a:p>
            <a:pPr marL="690563" indent="-609600" eaLnBrk="1" hangingPunct="1">
              <a:buFont typeface="Century Gothic" pitchFamily="34" charset="0"/>
              <a:buNone/>
            </a:pPr>
            <a:r>
              <a:rPr lang="en-US" altLang="en-US" sz="1800">
                <a:latin typeface="ヒラギノ明朝 ProN W3" charset="0"/>
                <a:sym typeface="ヒラギノ明朝 ProN W3" charset="0"/>
              </a:rPr>
              <a:t>			</a:t>
            </a:r>
            <a:r>
              <a:rPr lang="en-US" altLang="en-US" sz="1800"/>
              <a:t>Secondary</a:t>
            </a:r>
            <a:r>
              <a:rPr lang="en-US" altLang="en-US" sz="1800">
                <a:latin typeface="ヒラギノ明朝 ProN W3" charset="0"/>
                <a:sym typeface="ヒラギノ明朝 ProN W3" charset="0"/>
              </a:rPr>
              <a:t>	</a:t>
            </a:r>
            <a:r>
              <a:rPr lang="en-US" altLang="en-US" sz="1800"/>
              <a:t>=</a:t>
            </a:r>
            <a:r>
              <a:rPr lang="en-US" altLang="en-US" sz="1800">
                <a:latin typeface="ヒラギノ明朝 ProN W3" charset="0"/>
                <a:sym typeface="ヒラギノ明朝 ProN W3" charset="0"/>
              </a:rPr>
              <a:t>	</a:t>
            </a:r>
            <a:r>
              <a:rPr lang="en-US" altLang="en-US" sz="1800"/>
              <a:t>60 cpm</a:t>
            </a:r>
            <a:endParaRPr lang="en-US" altLang="en-US"/>
          </a:p>
          <a:p>
            <a:pPr marL="690563" indent="-609600" eaLnBrk="1" hangingPunct="1">
              <a:buFont typeface="Century Gothic" pitchFamily="34" charset="0"/>
              <a:buNone/>
            </a:pPr>
            <a:endParaRPr lang="en-US" altLang="en-US" sz="1600"/>
          </a:p>
          <a:p>
            <a:pPr marL="690563" indent="-609600" eaLnBrk="1" hangingPunct="1">
              <a:buFont typeface="Century Gothic" pitchFamily="34" charset="0"/>
              <a:buNone/>
            </a:pPr>
            <a:r>
              <a:rPr lang="en-US" altLang="en-US" sz="2400"/>
              <a:t>Suggested minimum </a:t>
            </a:r>
          </a:p>
          <a:p>
            <a:pPr marL="690563" indent="-609600" eaLnBrk="1" hangingPunct="1">
              <a:buFont typeface="Century Gothic" pitchFamily="34" charset="0"/>
              <a:buNone/>
            </a:pPr>
            <a:r>
              <a:rPr lang="en-US" altLang="en-US" sz="2400"/>
              <a:t>Accuracy Markers:</a:t>
            </a:r>
          </a:p>
          <a:p>
            <a:pPr marL="690563" indent="-609600" eaLnBrk="1" hangingPunct="1">
              <a:buFont typeface="Century Gothic" pitchFamily="34" charset="0"/>
              <a:buNone/>
            </a:pPr>
            <a:r>
              <a:rPr lang="en-US" altLang="en-US" sz="1800"/>
              <a:t>See-to-say</a:t>
            </a:r>
            <a:r>
              <a:rPr lang="en-US" altLang="en-US" sz="1800">
                <a:latin typeface="ヒラギノ明朝 ProN W3" charset="0"/>
                <a:sym typeface="ヒラギノ明朝 ProN W3" charset="0"/>
              </a:rPr>
              <a:t>		</a:t>
            </a:r>
            <a:r>
              <a:rPr lang="en-US" altLang="en-US" sz="1800"/>
              <a:t>=</a:t>
            </a:r>
            <a:r>
              <a:rPr lang="en-US" altLang="en-US" sz="1800">
                <a:latin typeface="ヒラギノ明朝 ProN W3" charset="0"/>
                <a:sym typeface="ヒラギノ明朝 ProN W3" charset="0"/>
              </a:rPr>
              <a:t>	</a:t>
            </a:r>
            <a:r>
              <a:rPr lang="en-US" altLang="en-US" sz="1800"/>
              <a:t>3 or less</a:t>
            </a:r>
            <a:endParaRPr lang="en-US" altLang="en-US"/>
          </a:p>
          <a:p>
            <a:pPr marL="690563" indent="-609600" eaLnBrk="1" hangingPunct="1">
              <a:buFont typeface="Century Gothic" pitchFamily="34" charset="0"/>
              <a:buNone/>
            </a:pPr>
            <a:endParaRPr lang="en-US" altLang="en-US"/>
          </a:p>
          <a:p>
            <a:pPr marL="690563" indent="-609600" eaLnBrk="1" hangingPunct="1">
              <a:buFont typeface="Century Gothic" pitchFamily="34" charset="0"/>
              <a:buNone/>
            </a:pPr>
            <a:r>
              <a:rPr lang="en-US" altLang="en-US" sz="1800"/>
              <a:t>MAINTENANCE- ACHIEVE THE TARGET FOR 3 </a:t>
            </a:r>
          </a:p>
          <a:p>
            <a:pPr marL="690563" indent="-609600" eaLnBrk="1" hangingPunct="1">
              <a:buFont typeface="Century Gothic" pitchFamily="34" charset="0"/>
              <a:buNone/>
            </a:pPr>
            <a:r>
              <a:rPr lang="en-US" altLang="en-US" sz="1800"/>
              <a:t>CONSECUTIVE DAYS</a:t>
            </a:r>
            <a:endParaRPr lang="en-US" altLang="en-US"/>
          </a:p>
          <a:p>
            <a:pPr marL="690563" indent="-609600" eaLnBrk="1" hangingPunct="1">
              <a:buFont typeface="Century Gothic" pitchFamily="34" charset="0"/>
              <a:buNone/>
            </a:pPr>
            <a:endParaRPr lang="en-US" altLang="en-US"/>
          </a:p>
        </p:txBody>
      </p:sp>
      <p:sp>
        <p:nvSpPr>
          <p:cNvPr id="25603" name="Rectangle 2"/>
          <p:cNvSpPr>
            <a:spLocks/>
          </p:cNvSpPr>
          <p:nvPr/>
        </p:nvSpPr>
        <p:spPr bwMode="auto">
          <a:xfrm>
            <a:off x="1258888" y="2276475"/>
            <a:ext cx="144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00"/>
              </a:spcBef>
              <a:buClrTx/>
              <a:buSzTx/>
              <a:buFontTx/>
              <a:buNone/>
            </a:pPr>
            <a:r>
              <a:rPr lang="en-US" altLang="en-US" sz="1800"/>
              <a:t>See-to-say</a:t>
            </a:r>
          </a:p>
        </p:txBody>
      </p:sp>
      <p:sp>
        <p:nvSpPr>
          <p:cNvPr id="25604" name="Rectangle 3"/>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Setting Aim Rates</a:t>
            </a:r>
          </a:p>
        </p:txBody>
      </p:sp>
      <p:sp>
        <p:nvSpPr>
          <p:cNvPr id="25605" name="AutoShape 4"/>
          <p:cNvSpPr>
            <a:spLocks/>
          </p:cNvSpPr>
          <p:nvPr/>
        </p:nvSpPr>
        <p:spPr bwMode="auto">
          <a:xfrm>
            <a:off x="2771775" y="2060575"/>
            <a:ext cx="144463" cy="8636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21600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12700">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Tree>
    <p:extLst>
      <p:ext uri="{BB962C8B-B14F-4D97-AF65-F5344CB8AC3E}">
        <p14:creationId xmlns:p14="http://schemas.microsoft.com/office/powerpoint/2010/main" val="2903422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3600" b="1" dirty="0"/>
              <a:t>Step 6-</a:t>
            </a:r>
            <a:r>
              <a:rPr lang="en-GB" altLang="en-US" sz="3600" dirty="0"/>
              <a:t> Analyse the Data</a:t>
            </a:r>
          </a:p>
        </p:txBody>
      </p:sp>
      <p:sp>
        <p:nvSpPr>
          <p:cNvPr id="31747" name="Rectangle 3"/>
          <p:cNvSpPr>
            <a:spLocks noGrp="1" noChangeArrowheads="1"/>
          </p:cNvSpPr>
          <p:nvPr>
            <p:ph idx="1"/>
          </p:nvPr>
        </p:nvSpPr>
        <p:spPr>
          <a:xfrm>
            <a:off x="323850" y="1125538"/>
            <a:ext cx="8569325" cy="5183187"/>
          </a:xfrm>
        </p:spPr>
        <p:txBody>
          <a:bodyPr/>
          <a:lstStyle/>
          <a:p>
            <a:pPr eaLnBrk="1" hangingPunct="1">
              <a:lnSpc>
                <a:spcPct val="90000"/>
              </a:lnSpc>
            </a:pPr>
            <a:r>
              <a:rPr lang="en-GB" altLang="en-US" sz="2000" dirty="0"/>
              <a:t>Once the child has hit their target for </a:t>
            </a:r>
            <a:r>
              <a:rPr lang="en-GB" altLang="en-US" sz="2000" u="sng" dirty="0"/>
              <a:t>3</a:t>
            </a:r>
            <a:r>
              <a:rPr lang="en-GB" altLang="en-US" sz="2000" dirty="0">
                <a:solidFill>
                  <a:srgbClr val="FF0000"/>
                </a:solidFill>
              </a:rPr>
              <a:t> consecutive</a:t>
            </a:r>
            <a:r>
              <a:rPr lang="en-GB" altLang="en-US" sz="2000" dirty="0"/>
              <a:t> days move on to a new set of words.</a:t>
            </a:r>
          </a:p>
          <a:p>
            <a:pPr eaLnBrk="1" hangingPunct="1">
              <a:lnSpc>
                <a:spcPct val="90000"/>
              </a:lnSpc>
              <a:buFontTx/>
              <a:buNone/>
            </a:pPr>
            <a:endParaRPr lang="en-GB" altLang="en-US" sz="2000" dirty="0"/>
          </a:p>
          <a:p>
            <a:pPr eaLnBrk="1" hangingPunct="1">
              <a:lnSpc>
                <a:spcPct val="90000"/>
              </a:lnSpc>
              <a:buFontTx/>
              <a:buNone/>
            </a:pPr>
            <a:r>
              <a:rPr lang="en-GB" altLang="en-US" sz="2000" u="sng" dirty="0"/>
              <a:t>The 3 day rule</a:t>
            </a:r>
          </a:p>
          <a:p>
            <a:pPr eaLnBrk="1" hangingPunct="1">
              <a:lnSpc>
                <a:spcPct val="90000"/>
              </a:lnSpc>
            </a:pPr>
            <a:r>
              <a:rPr lang="en-GB" altLang="en-US" sz="2000" dirty="0"/>
              <a:t>Check after </a:t>
            </a:r>
            <a:r>
              <a:rPr lang="en-GB" altLang="en-US" sz="2000" b="1" dirty="0">
                <a:solidFill>
                  <a:srgbClr val="FF0000"/>
                </a:solidFill>
              </a:rPr>
              <a:t>3</a:t>
            </a:r>
            <a:r>
              <a:rPr lang="en-GB" altLang="en-US" sz="2000" dirty="0"/>
              <a:t> days:</a:t>
            </a:r>
          </a:p>
          <a:p>
            <a:pPr lvl="1" eaLnBrk="1" hangingPunct="1">
              <a:lnSpc>
                <a:spcPct val="90000"/>
              </a:lnSpc>
            </a:pPr>
            <a:r>
              <a:rPr lang="en-GB" altLang="en-US" dirty="0"/>
              <a:t>If the task appears too hard consider reducing the demands of the task (e.g. number of words to be learnt, types of words being learnt).</a:t>
            </a:r>
          </a:p>
          <a:p>
            <a:pPr lvl="1" eaLnBrk="1" hangingPunct="1">
              <a:lnSpc>
                <a:spcPct val="90000"/>
              </a:lnSpc>
              <a:buFontTx/>
              <a:buNone/>
            </a:pPr>
            <a:endParaRPr lang="en-GB" altLang="en-US" dirty="0"/>
          </a:p>
          <a:p>
            <a:pPr eaLnBrk="1" hangingPunct="1">
              <a:lnSpc>
                <a:spcPct val="90000"/>
              </a:lnSpc>
              <a:buFontTx/>
              <a:buNone/>
            </a:pPr>
            <a:r>
              <a:rPr lang="en-GB" altLang="en-US" sz="2000" u="sng" dirty="0"/>
              <a:t>The 8 day rule</a:t>
            </a:r>
          </a:p>
          <a:p>
            <a:pPr eaLnBrk="1" hangingPunct="1">
              <a:lnSpc>
                <a:spcPct val="90000"/>
              </a:lnSpc>
            </a:pPr>
            <a:r>
              <a:rPr lang="en-GB" altLang="en-US" sz="2000" dirty="0"/>
              <a:t>Check after </a:t>
            </a:r>
            <a:r>
              <a:rPr lang="en-GB" altLang="en-US" sz="2000" b="1" dirty="0">
                <a:solidFill>
                  <a:srgbClr val="FF0000"/>
                </a:solidFill>
              </a:rPr>
              <a:t>8</a:t>
            </a:r>
            <a:r>
              <a:rPr lang="en-GB" altLang="en-US" sz="2000" dirty="0"/>
              <a:t> days:</a:t>
            </a:r>
          </a:p>
          <a:p>
            <a:pPr lvl="1" eaLnBrk="1" hangingPunct="1">
              <a:lnSpc>
                <a:spcPct val="90000"/>
              </a:lnSpc>
            </a:pPr>
            <a:r>
              <a:rPr lang="en-GB" altLang="en-US" dirty="0"/>
              <a:t>If the pupil is not at or near their target after 8 days consider a change (e.g. increasing motivation, modifying teaching method, changing task).</a:t>
            </a:r>
          </a:p>
        </p:txBody>
      </p:sp>
    </p:spTree>
    <p:extLst>
      <p:ext uri="{BB962C8B-B14F-4D97-AF65-F5344CB8AC3E}">
        <p14:creationId xmlns:p14="http://schemas.microsoft.com/office/powerpoint/2010/main" val="1878975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idx="4294967295"/>
          </p:nvPr>
        </p:nvSpPr>
        <p:spPr>
          <a:xfrm>
            <a:off x="0" y="404813"/>
            <a:ext cx="7773988" cy="1223962"/>
          </a:xfrm>
        </p:spPr>
        <p:txBody>
          <a:bodyPr/>
          <a:lstStyle/>
          <a:p>
            <a:pPr eaLnBrk="1" fontAlgn="auto" hangingPunct="1">
              <a:spcAft>
                <a:spcPts val="0"/>
              </a:spcAft>
              <a:defRPr/>
            </a:pPr>
            <a:r>
              <a:rPr lang="en-GB" altLang="en-US" sz="3200" dirty="0"/>
              <a:t>6. Change - response to data analysis</a:t>
            </a:r>
          </a:p>
        </p:txBody>
      </p:sp>
      <p:grpSp>
        <p:nvGrpSpPr>
          <p:cNvPr id="32771" name="Group 312"/>
          <p:cNvGrpSpPr>
            <a:grpSpLocks/>
          </p:cNvGrpSpPr>
          <p:nvPr/>
        </p:nvGrpSpPr>
        <p:grpSpPr bwMode="auto">
          <a:xfrm>
            <a:off x="323850" y="1700213"/>
            <a:ext cx="8642350" cy="4264025"/>
            <a:chOff x="455" y="1071"/>
            <a:chExt cx="5056" cy="2686"/>
          </a:xfrm>
        </p:grpSpPr>
        <p:sp>
          <p:nvSpPr>
            <p:cNvPr id="32772" name="Rectangle 213"/>
            <p:cNvSpPr>
              <a:spLocks noChangeArrowheads="1"/>
            </p:cNvSpPr>
            <p:nvPr/>
          </p:nvSpPr>
          <p:spPr bwMode="auto">
            <a:xfrm>
              <a:off x="3687" y="3113"/>
              <a:ext cx="1824"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Increasing motivation through rewards/ incentives or alter teaching methods</a:t>
              </a:r>
              <a:endParaRPr lang="en-GB" altLang="en-US" sz="1800">
                <a:latin typeface="Arial" pitchFamily="34" charset="0"/>
                <a:ea typeface="Times New Roman" pitchFamily="18" charset="0"/>
                <a:cs typeface="Arial" pitchFamily="34" charset="0"/>
              </a:endParaRPr>
            </a:p>
          </p:txBody>
        </p:sp>
        <p:sp>
          <p:nvSpPr>
            <p:cNvPr id="32773" name="Rectangle 211"/>
            <p:cNvSpPr>
              <a:spLocks noChangeArrowheads="1"/>
            </p:cNvSpPr>
            <p:nvPr/>
          </p:nvSpPr>
          <p:spPr bwMode="auto">
            <a:xfrm>
              <a:off x="1505" y="3101"/>
              <a:ext cx="870" cy="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b="1">
                  <a:solidFill>
                    <a:srgbClr val="FF0000"/>
                  </a:solidFill>
                  <a:latin typeface="Calibri" pitchFamily="34" charset="0"/>
                  <a:cs typeface="Times New Roman" pitchFamily="18" charset="0"/>
                </a:rPr>
                <a:t> </a:t>
              </a:r>
              <a:r>
                <a:rPr lang="en-GB" altLang="en-US" sz="800" b="1">
                  <a:solidFill>
                    <a:srgbClr val="FF0000"/>
                  </a:solidFill>
                  <a:latin typeface="Calibri" pitchFamily="34" charset="0"/>
                  <a:cs typeface="Times New Roman" pitchFamily="18" charset="0"/>
                </a:rPr>
                <a:t> </a:t>
              </a:r>
              <a:endParaRPr lang="en-GB" altLang="en-US" sz="2000" b="1">
                <a:solidFill>
                  <a:srgbClr val="FF0000"/>
                </a:solidFill>
                <a:latin typeface="Calibri" pitchFamily="34" charset="0"/>
                <a:cs typeface="Times New Roman" pitchFamily="18" charset="0"/>
              </a:endParaRPr>
            </a:p>
            <a:p>
              <a:pPr eaLnBrk="1" hangingPunct="1"/>
              <a:r>
                <a:rPr lang="en-GB" altLang="en-US" sz="2000" b="1">
                  <a:solidFill>
                    <a:srgbClr val="FF0000"/>
                  </a:solidFill>
                  <a:latin typeface="Calibri" pitchFamily="34" charset="0"/>
                  <a:cs typeface="Times New Roman" pitchFamily="18" charset="0"/>
                </a:rPr>
                <a:t>x</a:t>
              </a:r>
              <a:endParaRPr lang="en-GB" altLang="en-US" sz="1000">
                <a:cs typeface="Times New Roman" pitchFamily="18" charset="0"/>
              </a:endParaRPr>
            </a:p>
          </p:txBody>
        </p:sp>
        <p:sp>
          <p:nvSpPr>
            <p:cNvPr id="32774" name="Rectangle 212"/>
            <p:cNvSpPr>
              <a:spLocks noChangeArrowheads="1"/>
            </p:cNvSpPr>
            <p:nvPr/>
          </p:nvSpPr>
          <p:spPr bwMode="auto">
            <a:xfrm>
              <a:off x="2362" y="3113"/>
              <a:ext cx="1325"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Task is likely to be appropriate but progress not fast enough</a:t>
              </a:r>
              <a:endParaRPr lang="en-GB" altLang="en-US" sz="1800">
                <a:latin typeface="Arial" pitchFamily="34" charset="0"/>
                <a:ea typeface="Times New Roman" pitchFamily="18" charset="0"/>
                <a:cs typeface="Arial" pitchFamily="34" charset="0"/>
              </a:endParaRPr>
            </a:p>
          </p:txBody>
        </p:sp>
        <p:sp>
          <p:nvSpPr>
            <p:cNvPr id="32775" name="Rectangle 210"/>
            <p:cNvSpPr>
              <a:spLocks noChangeArrowheads="1"/>
            </p:cNvSpPr>
            <p:nvPr/>
          </p:nvSpPr>
          <p:spPr bwMode="auto">
            <a:xfrm>
              <a:off x="455" y="3113"/>
              <a:ext cx="1036"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Some progress; accurate but shallow correct rate slope</a:t>
              </a:r>
              <a:endParaRPr lang="en-GB" altLang="en-US" sz="1800">
                <a:latin typeface="Arial" pitchFamily="34" charset="0"/>
                <a:ea typeface="Times New Roman" pitchFamily="18" charset="0"/>
                <a:cs typeface="Arial" pitchFamily="34" charset="0"/>
              </a:endParaRPr>
            </a:p>
          </p:txBody>
        </p:sp>
        <p:sp>
          <p:nvSpPr>
            <p:cNvPr id="32776" name="Rectangle 209"/>
            <p:cNvSpPr>
              <a:spLocks noChangeArrowheads="1"/>
            </p:cNvSpPr>
            <p:nvPr/>
          </p:nvSpPr>
          <p:spPr bwMode="auto">
            <a:xfrm>
              <a:off x="3687" y="2528"/>
              <a:ext cx="1824"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Slow child down; accurate before speed</a:t>
              </a:r>
              <a:endParaRPr lang="en-GB" altLang="en-US" sz="1800">
                <a:latin typeface="Arial" pitchFamily="34" charset="0"/>
                <a:ea typeface="Times New Roman" pitchFamily="18" charset="0"/>
                <a:cs typeface="Arial" pitchFamily="34" charset="0"/>
              </a:endParaRPr>
            </a:p>
          </p:txBody>
        </p:sp>
        <p:sp>
          <p:nvSpPr>
            <p:cNvPr id="32777" name="Rectangle 208"/>
            <p:cNvSpPr>
              <a:spLocks noChangeArrowheads="1"/>
            </p:cNvSpPr>
            <p:nvPr/>
          </p:nvSpPr>
          <p:spPr bwMode="auto">
            <a:xfrm>
              <a:off x="2362" y="2528"/>
              <a:ext cx="1325"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Child is merely getting faster attempting more on the probe</a:t>
              </a:r>
              <a:endParaRPr lang="en-GB" altLang="en-US" sz="1800">
                <a:latin typeface="Arial" pitchFamily="34" charset="0"/>
                <a:ea typeface="Times New Roman" pitchFamily="18" charset="0"/>
                <a:cs typeface="Arial" pitchFamily="34" charset="0"/>
              </a:endParaRPr>
            </a:p>
          </p:txBody>
        </p:sp>
        <p:sp>
          <p:nvSpPr>
            <p:cNvPr id="32778" name="Rectangle 207"/>
            <p:cNvSpPr>
              <a:spLocks noChangeArrowheads="1"/>
            </p:cNvSpPr>
            <p:nvPr/>
          </p:nvSpPr>
          <p:spPr bwMode="auto">
            <a:xfrm>
              <a:off x="1491" y="2528"/>
              <a:ext cx="871"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b="1">
                  <a:solidFill>
                    <a:srgbClr val="FF0000"/>
                  </a:solidFill>
                  <a:latin typeface="Calibri" pitchFamily="34" charset="0"/>
                  <a:cs typeface="Times New Roman" pitchFamily="18" charset="0"/>
                </a:rPr>
                <a:t>   </a:t>
              </a:r>
            </a:p>
            <a:p>
              <a:pPr eaLnBrk="1" hangingPunct="1"/>
              <a:r>
                <a:rPr lang="en-GB" altLang="en-US" sz="2000" b="1">
                  <a:solidFill>
                    <a:srgbClr val="FF0000"/>
                  </a:solidFill>
                  <a:latin typeface="Calibri" pitchFamily="34" charset="0"/>
                  <a:cs typeface="Times New Roman" pitchFamily="18" charset="0"/>
                </a:rPr>
                <a:t>    x</a:t>
              </a:r>
              <a:endParaRPr lang="en-GB" altLang="en-US" sz="1000">
                <a:cs typeface="Times New Roman" pitchFamily="18" charset="0"/>
              </a:endParaRPr>
            </a:p>
            <a:p>
              <a:r>
                <a:rPr lang="en-GB" altLang="en-US" sz="1400">
                  <a:latin typeface="Arial" pitchFamily="34" charset="0"/>
                  <a:ea typeface="Times New Roman" pitchFamily="18" charset="0"/>
                  <a:cs typeface="Arial" pitchFamily="34" charset="0"/>
                </a:rPr>
                <a:t>   </a:t>
              </a:r>
              <a:endParaRPr lang="en-GB" altLang="en-US" sz="1800">
                <a:latin typeface="Arial" pitchFamily="34" charset="0"/>
              </a:endParaRPr>
            </a:p>
          </p:txBody>
        </p:sp>
        <p:sp>
          <p:nvSpPr>
            <p:cNvPr id="32779" name="Rectangle 206"/>
            <p:cNvSpPr>
              <a:spLocks noChangeArrowheads="1"/>
            </p:cNvSpPr>
            <p:nvPr/>
          </p:nvSpPr>
          <p:spPr bwMode="auto">
            <a:xfrm>
              <a:off x="455" y="2528"/>
              <a:ext cx="1036"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Both correct and incorrect rates increasing</a:t>
              </a:r>
              <a:endParaRPr lang="en-GB" altLang="en-US" sz="1800">
                <a:latin typeface="Arial" pitchFamily="34" charset="0"/>
                <a:ea typeface="Times New Roman" pitchFamily="18" charset="0"/>
                <a:cs typeface="Arial" pitchFamily="34" charset="0"/>
              </a:endParaRPr>
            </a:p>
          </p:txBody>
        </p:sp>
        <p:sp>
          <p:nvSpPr>
            <p:cNvPr id="32780" name="Rectangle 205"/>
            <p:cNvSpPr>
              <a:spLocks noChangeArrowheads="1"/>
            </p:cNvSpPr>
            <p:nvPr/>
          </p:nvSpPr>
          <p:spPr bwMode="auto">
            <a:xfrm>
              <a:off x="3687" y="1924"/>
              <a:ext cx="1824"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May need to reduce or slice the task</a:t>
              </a:r>
              <a:endParaRPr lang="en-GB" altLang="en-US" sz="1800">
                <a:latin typeface="Arial" pitchFamily="34" charset="0"/>
                <a:ea typeface="Times New Roman" pitchFamily="18" charset="0"/>
                <a:cs typeface="Arial" pitchFamily="34" charset="0"/>
              </a:endParaRPr>
            </a:p>
          </p:txBody>
        </p:sp>
        <p:sp>
          <p:nvSpPr>
            <p:cNvPr id="32781" name="Rectangle 204"/>
            <p:cNvSpPr>
              <a:spLocks noChangeArrowheads="1"/>
            </p:cNvSpPr>
            <p:nvPr/>
          </p:nvSpPr>
          <p:spPr bwMode="auto">
            <a:xfrm>
              <a:off x="2362" y="1924"/>
              <a:ext cx="1325"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Task probably appropriate. Monitor progress, may be a blip</a:t>
              </a:r>
              <a:endParaRPr lang="en-GB" altLang="en-US" sz="1800">
                <a:latin typeface="Arial" pitchFamily="34" charset="0"/>
                <a:ea typeface="Times New Roman" pitchFamily="18" charset="0"/>
                <a:cs typeface="Arial" pitchFamily="34" charset="0"/>
              </a:endParaRPr>
            </a:p>
          </p:txBody>
        </p:sp>
        <p:sp>
          <p:nvSpPr>
            <p:cNvPr id="32782" name="Rectangle 203"/>
            <p:cNvSpPr>
              <a:spLocks noChangeArrowheads="1"/>
            </p:cNvSpPr>
            <p:nvPr/>
          </p:nvSpPr>
          <p:spPr bwMode="auto">
            <a:xfrm>
              <a:off x="1491" y="1924"/>
              <a:ext cx="871"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br>
                <a:rPr lang="en-GB" altLang="en-US" sz="1000">
                  <a:cs typeface="Times New Roman" pitchFamily="18" charset="0"/>
                </a:rPr>
              </a:br>
              <a:r>
                <a:rPr lang="en-GB" altLang="en-US" sz="2000" b="1">
                  <a:solidFill>
                    <a:srgbClr val="FF0000"/>
                  </a:solidFill>
                  <a:latin typeface="Calibri" pitchFamily="34" charset="0"/>
                  <a:cs typeface="Times New Roman" pitchFamily="18" charset="0"/>
                </a:rPr>
                <a:t>  </a:t>
              </a:r>
              <a:endParaRPr lang="en-GB" altLang="en-US" sz="800" b="1">
                <a:solidFill>
                  <a:srgbClr val="FF0000"/>
                </a:solidFill>
                <a:latin typeface="Calibri" pitchFamily="34" charset="0"/>
                <a:cs typeface="Times New Roman" pitchFamily="18" charset="0"/>
              </a:endParaRPr>
            </a:p>
            <a:p>
              <a:r>
                <a:rPr lang="en-GB" altLang="en-US" sz="2000" b="1">
                  <a:solidFill>
                    <a:srgbClr val="FF0000"/>
                  </a:solidFill>
                  <a:latin typeface="Calibri" pitchFamily="34" charset="0"/>
                  <a:cs typeface="Times New Roman" pitchFamily="18" charset="0"/>
                </a:rPr>
                <a:t>  x</a:t>
              </a:r>
              <a:endParaRPr lang="en-GB" altLang="en-US" sz="1000">
                <a:cs typeface="Times New Roman" pitchFamily="18" charset="0"/>
              </a:endParaRPr>
            </a:p>
          </p:txBody>
        </p:sp>
        <p:sp>
          <p:nvSpPr>
            <p:cNvPr id="32783" name="Rectangle 202"/>
            <p:cNvSpPr>
              <a:spLocks noChangeArrowheads="1"/>
            </p:cNvSpPr>
            <p:nvPr/>
          </p:nvSpPr>
          <p:spPr bwMode="auto">
            <a:xfrm>
              <a:off x="455" y="1924"/>
              <a:ext cx="1036"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Switch within first 3 days</a:t>
              </a:r>
              <a:endParaRPr lang="en-GB" altLang="en-US" sz="1800">
                <a:latin typeface="Arial" pitchFamily="34" charset="0"/>
                <a:ea typeface="Times New Roman" pitchFamily="18" charset="0"/>
                <a:cs typeface="Arial" pitchFamily="34" charset="0"/>
              </a:endParaRPr>
            </a:p>
          </p:txBody>
        </p:sp>
        <p:sp>
          <p:nvSpPr>
            <p:cNvPr id="32784" name="Rectangle 201"/>
            <p:cNvSpPr>
              <a:spLocks noChangeArrowheads="1"/>
            </p:cNvSpPr>
            <p:nvPr/>
          </p:nvSpPr>
          <p:spPr bwMode="auto">
            <a:xfrm>
              <a:off x="3687" y="1426"/>
              <a:ext cx="1824"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Reduce or slice the task</a:t>
              </a:r>
              <a:endParaRPr lang="en-GB" altLang="en-US" sz="1800">
                <a:latin typeface="Arial" pitchFamily="34" charset="0"/>
                <a:ea typeface="Times New Roman" pitchFamily="18" charset="0"/>
                <a:cs typeface="Arial" pitchFamily="34" charset="0"/>
              </a:endParaRPr>
            </a:p>
          </p:txBody>
        </p:sp>
        <p:sp>
          <p:nvSpPr>
            <p:cNvPr id="32785" name="Rectangle 200"/>
            <p:cNvSpPr>
              <a:spLocks noChangeArrowheads="1"/>
            </p:cNvSpPr>
            <p:nvPr/>
          </p:nvSpPr>
          <p:spPr bwMode="auto">
            <a:xfrm>
              <a:off x="2362" y="1426"/>
              <a:ext cx="1325"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Task inappropriate</a:t>
              </a:r>
              <a:endParaRPr lang="en-GB" altLang="en-US" sz="1000">
                <a:ea typeface="Times New Roman" pitchFamily="18" charset="0"/>
                <a:cs typeface="Arial" pitchFamily="34" charset="0"/>
              </a:endParaRPr>
            </a:p>
            <a:p>
              <a:r>
                <a:rPr lang="en-GB" altLang="en-US" sz="1400">
                  <a:latin typeface="Arial" pitchFamily="34" charset="0"/>
                  <a:ea typeface="Times New Roman" pitchFamily="18" charset="0"/>
                  <a:cs typeface="Arial" pitchFamily="34" charset="0"/>
                </a:rPr>
                <a:t>3 day rule applies</a:t>
              </a:r>
              <a:endParaRPr lang="en-GB" altLang="en-US" sz="1800">
                <a:latin typeface="Arial" pitchFamily="34" charset="0"/>
                <a:ea typeface="Times New Roman" pitchFamily="18" charset="0"/>
                <a:cs typeface="Arial" pitchFamily="34" charset="0"/>
              </a:endParaRPr>
            </a:p>
          </p:txBody>
        </p:sp>
        <p:sp>
          <p:nvSpPr>
            <p:cNvPr id="32786" name="Rectangle 199"/>
            <p:cNvSpPr>
              <a:spLocks noChangeArrowheads="1"/>
            </p:cNvSpPr>
            <p:nvPr/>
          </p:nvSpPr>
          <p:spPr bwMode="auto">
            <a:xfrm>
              <a:off x="1505" y="1440"/>
              <a:ext cx="870"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b="1">
                  <a:solidFill>
                    <a:srgbClr val="FF0000"/>
                  </a:solidFill>
                  <a:latin typeface="Calibri" pitchFamily="34" charset="0"/>
                  <a:cs typeface="Times New Roman" pitchFamily="18" charset="0"/>
                </a:rPr>
                <a:t>  x</a:t>
              </a:r>
              <a:endParaRPr lang="en-GB" altLang="en-US" sz="1800">
                <a:latin typeface="Arial" pitchFamily="34" charset="0"/>
              </a:endParaRPr>
            </a:p>
          </p:txBody>
        </p:sp>
        <p:sp>
          <p:nvSpPr>
            <p:cNvPr id="32787" name="Rectangle 198"/>
            <p:cNvSpPr>
              <a:spLocks noChangeArrowheads="1"/>
            </p:cNvSpPr>
            <p:nvPr/>
          </p:nvSpPr>
          <p:spPr bwMode="auto">
            <a:xfrm>
              <a:off x="455" y="1426"/>
              <a:ext cx="1036"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1400">
                  <a:latin typeface="Arial" pitchFamily="34" charset="0"/>
                  <a:ea typeface="Times New Roman" pitchFamily="18" charset="0"/>
                  <a:cs typeface="Arial" pitchFamily="34" charset="0"/>
                </a:rPr>
                <a:t>More errors than correct: No sign of a switch</a:t>
              </a:r>
              <a:endParaRPr lang="en-GB" altLang="en-US" sz="1800">
                <a:latin typeface="Arial" pitchFamily="34" charset="0"/>
                <a:ea typeface="Times New Roman" pitchFamily="18" charset="0"/>
                <a:cs typeface="Arial" pitchFamily="34" charset="0"/>
              </a:endParaRPr>
            </a:p>
          </p:txBody>
        </p:sp>
        <p:sp>
          <p:nvSpPr>
            <p:cNvPr id="32788" name="Rectangle 197"/>
            <p:cNvSpPr>
              <a:spLocks noChangeArrowheads="1"/>
            </p:cNvSpPr>
            <p:nvPr/>
          </p:nvSpPr>
          <p:spPr bwMode="auto">
            <a:xfrm>
              <a:off x="3687" y="1071"/>
              <a:ext cx="18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1600" u="sng">
                  <a:latin typeface="Arial" pitchFamily="34" charset="0"/>
                  <a:ea typeface="Times New Roman" pitchFamily="18" charset="0"/>
                  <a:cs typeface="Arial" pitchFamily="34" charset="0"/>
                </a:rPr>
                <a:t>Intervention</a:t>
              </a:r>
              <a:endParaRPr lang="en-GB" altLang="en-US" sz="1800">
                <a:latin typeface="Arial" pitchFamily="34" charset="0"/>
                <a:ea typeface="Times New Roman" pitchFamily="18" charset="0"/>
                <a:cs typeface="Arial" pitchFamily="34" charset="0"/>
              </a:endParaRPr>
            </a:p>
          </p:txBody>
        </p:sp>
        <p:sp>
          <p:nvSpPr>
            <p:cNvPr id="32789" name="Rectangle 196"/>
            <p:cNvSpPr>
              <a:spLocks noChangeArrowheads="1"/>
            </p:cNvSpPr>
            <p:nvPr/>
          </p:nvSpPr>
          <p:spPr bwMode="auto">
            <a:xfrm>
              <a:off x="2362" y="1071"/>
              <a:ext cx="1325"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1600" u="sng">
                  <a:latin typeface="Arial" pitchFamily="34" charset="0"/>
                  <a:ea typeface="Times New Roman" pitchFamily="18" charset="0"/>
                  <a:cs typeface="Arial" pitchFamily="34" charset="0"/>
                </a:rPr>
                <a:t>Interpretation</a:t>
              </a:r>
              <a:endParaRPr lang="en-GB" altLang="en-US" sz="1800">
                <a:latin typeface="Arial" pitchFamily="34" charset="0"/>
                <a:ea typeface="Times New Roman" pitchFamily="18" charset="0"/>
                <a:cs typeface="Arial" pitchFamily="34" charset="0"/>
              </a:endParaRPr>
            </a:p>
          </p:txBody>
        </p:sp>
        <p:sp>
          <p:nvSpPr>
            <p:cNvPr id="32790" name="Rectangle 195"/>
            <p:cNvSpPr>
              <a:spLocks noChangeArrowheads="1"/>
            </p:cNvSpPr>
            <p:nvPr/>
          </p:nvSpPr>
          <p:spPr bwMode="auto">
            <a:xfrm>
              <a:off x="1491" y="1071"/>
              <a:ext cx="871"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1600" u="sng">
                  <a:latin typeface="Arial" pitchFamily="34" charset="0"/>
                </a:rPr>
                <a:t>Chart Picture</a:t>
              </a:r>
            </a:p>
          </p:txBody>
        </p:sp>
        <p:sp>
          <p:nvSpPr>
            <p:cNvPr id="32791" name="Rectangle 194"/>
            <p:cNvSpPr>
              <a:spLocks noChangeArrowheads="1"/>
            </p:cNvSpPr>
            <p:nvPr/>
          </p:nvSpPr>
          <p:spPr bwMode="auto">
            <a:xfrm>
              <a:off x="455" y="1071"/>
              <a:ext cx="103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1600" u="sng">
                  <a:latin typeface="Arial" pitchFamily="34" charset="0"/>
                  <a:ea typeface="Times New Roman" pitchFamily="18" charset="0"/>
                  <a:cs typeface="Arial" pitchFamily="34" charset="0"/>
                </a:rPr>
                <a:t>Chart Description</a:t>
              </a:r>
              <a:endParaRPr lang="en-GB" altLang="en-US" sz="1800">
                <a:latin typeface="Arial" pitchFamily="34" charset="0"/>
                <a:ea typeface="Times New Roman" pitchFamily="18" charset="0"/>
                <a:cs typeface="Arial" pitchFamily="34" charset="0"/>
              </a:endParaRPr>
            </a:p>
          </p:txBody>
        </p:sp>
        <p:sp>
          <p:nvSpPr>
            <p:cNvPr id="32792" name="Line 214"/>
            <p:cNvSpPr>
              <a:spLocks noChangeShapeType="1"/>
            </p:cNvSpPr>
            <p:nvPr/>
          </p:nvSpPr>
          <p:spPr bwMode="auto">
            <a:xfrm>
              <a:off x="455" y="1071"/>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3" name="Line 215"/>
            <p:cNvSpPr>
              <a:spLocks noChangeShapeType="1"/>
            </p:cNvSpPr>
            <p:nvPr/>
          </p:nvSpPr>
          <p:spPr bwMode="auto">
            <a:xfrm>
              <a:off x="455" y="3757"/>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4" name="Line 216"/>
            <p:cNvSpPr>
              <a:spLocks noChangeShapeType="1"/>
            </p:cNvSpPr>
            <p:nvPr/>
          </p:nvSpPr>
          <p:spPr bwMode="auto">
            <a:xfrm>
              <a:off x="455"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5" name="Line 217"/>
            <p:cNvSpPr>
              <a:spLocks noChangeShapeType="1"/>
            </p:cNvSpPr>
            <p:nvPr/>
          </p:nvSpPr>
          <p:spPr bwMode="auto">
            <a:xfrm>
              <a:off x="551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6" name="Line 220"/>
            <p:cNvSpPr>
              <a:spLocks noChangeShapeType="1"/>
            </p:cNvSpPr>
            <p:nvPr/>
          </p:nvSpPr>
          <p:spPr bwMode="auto">
            <a:xfrm>
              <a:off x="455" y="1426"/>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7" name="Line 222"/>
            <p:cNvSpPr>
              <a:spLocks noChangeShapeType="1"/>
            </p:cNvSpPr>
            <p:nvPr/>
          </p:nvSpPr>
          <p:spPr bwMode="auto">
            <a:xfrm>
              <a:off x="149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8" name="Line 225"/>
            <p:cNvSpPr>
              <a:spLocks noChangeShapeType="1"/>
            </p:cNvSpPr>
            <p:nvPr/>
          </p:nvSpPr>
          <p:spPr bwMode="auto">
            <a:xfrm>
              <a:off x="2362"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9" name="Line 228"/>
            <p:cNvSpPr>
              <a:spLocks noChangeShapeType="1"/>
            </p:cNvSpPr>
            <p:nvPr/>
          </p:nvSpPr>
          <p:spPr bwMode="auto">
            <a:xfrm>
              <a:off x="3687"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00" name="Line 232"/>
            <p:cNvSpPr>
              <a:spLocks noChangeShapeType="1"/>
            </p:cNvSpPr>
            <p:nvPr/>
          </p:nvSpPr>
          <p:spPr bwMode="auto">
            <a:xfrm>
              <a:off x="455" y="1924"/>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01" name="Line 250"/>
            <p:cNvSpPr>
              <a:spLocks noChangeShapeType="1"/>
            </p:cNvSpPr>
            <p:nvPr/>
          </p:nvSpPr>
          <p:spPr bwMode="auto">
            <a:xfrm>
              <a:off x="455" y="2528"/>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02" name="Line 268"/>
            <p:cNvSpPr>
              <a:spLocks noChangeShapeType="1"/>
            </p:cNvSpPr>
            <p:nvPr/>
          </p:nvSpPr>
          <p:spPr bwMode="auto">
            <a:xfrm>
              <a:off x="455" y="3113"/>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32803" name="Group 157"/>
            <p:cNvGrpSpPr>
              <a:grpSpLocks/>
            </p:cNvGrpSpPr>
            <p:nvPr/>
          </p:nvGrpSpPr>
          <p:grpSpPr bwMode="auto">
            <a:xfrm>
              <a:off x="1600" y="2594"/>
              <a:ext cx="408" cy="251"/>
              <a:chOff x="4496" y="6534"/>
              <a:chExt cx="970" cy="618"/>
            </a:xfrm>
          </p:grpSpPr>
          <p:sp>
            <p:nvSpPr>
              <p:cNvPr id="32814" name="Line 160"/>
              <p:cNvSpPr>
                <a:spLocks noChangeShapeType="1"/>
              </p:cNvSpPr>
              <p:nvPr/>
            </p:nvSpPr>
            <p:spPr bwMode="auto">
              <a:xfrm flipV="1">
                <a:off x="4722" y="653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5" name="Line 159"/>
              <p:cNvSpPr>
                <a:spLocks noChangeShapeType="1"/>
              </p:cNvSpPr>
              <p:nvPr/>
            </p:nvSpPr>
            <p:spPr bwMode="auto">
              <a:xfrm flipV="1">
                <a:off x="4854" y="689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6" name="Oval 158"/>
              <p:cNvSpPr>
                <a:spLocks noChangeArrowheads="1"/>
              </p:cNvSpPr>
              <p:nvPr/>
            </p:nvSpPr>
            <p:spPr bwMode="auto">
              <a:xfrm>
                <a:off x="4496" y="6720"/>
                <a:ext cx="240" cy="180"/>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grpSp>
          <p:nvGrpSpPr>
            <p:cNvPr id="32804" name="Group 161"/>
            <p:cNvGrpSpPr>
              <a:grpSpLocks/>
            </p:cNvGrpSpPr>
            <p:nvPr/>
          </p:nvGrpSpPr>
          <p:grpSpPr bwMode="auto">
            <a:xfrm>
              <a:off x="1648" y="2040"/>
              <a:ext cx="300" cy="289"/>
              <a:chOff x="4739" y="4873"/>
              <a:chExt cx="715" cy="709"/>
            </a:xfrm>
          </p:grpSpPr>
          <p:sp>
            <p:nvSpPr>
              <p:cNvPr id="32811" name="Line 164"/>
              <p:cNvSpPr>
                <a:spLocks noChangeShapeType="1"/>
              </p:cNvSpPr>
              <p:nvPr/>
            </p:nvSpPr>
            <p:spPr bwMode="auto">
              <a:xfrm flipV="1">
                <a:off x="4854" y="5042"/>
                <a:ext cx="60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2" name="Line 163"/>
              <p:cNvSpPr>
                <a:spLocks noChangeShapeType="1"/>
              </p:cNvSpPr>
              <p:nvPr/>
            </p:nvSpPr>
            <p:spPr bwMode="auto">
              <a:xfrm>
                <a:off x="4974" y="5042"/>
                <a:ext cx="48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3" name="Oval 162"/>
              <p:cNvSpPr>
                <a:spLocks noChangeArrowheads="1"/>
              </p:cNvSpPr>
              <p:nvPr/>
            </p:nvSpPr>
            <p:spPr bwMode="auto">
              <a:xfrm>
                <a:off x="4739" y="4873"/>
                <a:ext cx="240" cy="180"/>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
          <p:nvSpPr>
            <p:cNvPr id="32805" name="Line 156"/>
            <p:cNvSpPr>
              <a:spLocks noChangeShapeType="1"/>
            </p:cNvSpPr>
            <p:nvPr/>
          </p:nvSpPr>
          <p:spPr bwMode="auto">
            <a:xfrm>
              <a:off x="1648" y="3471"/>
              <a:ext cx="355" cy="1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06" name="Line 154"/>
            <p:cNvSpPr>
              <a:spLocks noChangeShapeType="1"/>
            </p:cNvSpPr>
            <p:nvPr/>
          </p:nvSpPr>
          <p:spPr bwMode="auto">
            <a:xfrm flipV="1">
              <a:off x="1648" y="3287"/>
              <a:ext cx="358" cy="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07" name="Oval 155"/>
            <p:cNvSpPr>
              <a:spLocks noChangeArrowheads="1"/>
            </p:cNvSpPr>
            <p:nvPr/>
          </p:nvSpPr>
          <p:spPr bwMode="auto">
            <a:xfrm>
              <a:off x="1553" y="3287"/>
              <a:ext cx="101" cy="73"/>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32808" name="Line 167"/>
            <p:cNvSpPr>
              <a:spLocks noChangeShapeType="1"/>
            </p:cNvSpPr>
            <p:nvPr/>
          </p:nvSpPr>
          <p:spPr bwMode="auto">
            <a:xfrm flipV="1">
              <a:off x="1696" y="1440"/>
              <a:ext cx="190" cy="1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09" name="Line 166"/>
            <p:cNvSpPr>
              <a:spLocks noChangeShapeType="1"/>
            </p:cNvSpPr>
            <p:nvPr/>
          </p:nvSpPr>
          <p:spPr bwMode="auto">
            <a:xfrm flipV="1">
              <a:off x="1696" y="1717"/>
              <a:ext cx="250" cy="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2810" name="Oval 165"/>
            <p:cNvSpPr>
              <a:spLocks noChangeArrowheads="1"/>
            </p:cNvSpPr>
            <p:nvPr/>
          </p:nvSpPr>
          <p:spPr bwMode="auto">
            <a:xfrm>
              <a:off x="1600" y="1764"/>
              <a:ext cx="101" cy="73"/>
            </a:xfrm>
            <a:prstGeom prst="ellipse">
              <a:avLst/>
            </a:prstGeom>
            <a:solidFill>
              <a:srgbClr val="339966"/>
            </a:solidFill>
            <a:ln w="9525">
              <a:solidFill>
                <a:srgbClr val="000000"/>
              </a:solidFill>
              <a:round/>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Tree>
    <p:extLst>
      <p:ext uri="{BB962C8B-B14F-4D97-AF65-F5344CB8AC3E}">
        <p14:creationId xmlns:p14="http://schemas.microsoft.com/office/powerpoint/2010/main" val="3086650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971600" y="260648"/>
            <a:ext cx="8424813" cy="1584176"/>
          </a:xfrm>
        </p:spPr>
        <p:txBody>
          <a:bodyPr rIns="31750" anchor="b"/>
          <a:lstStyle/>
          <a:p>
            <a:pPr indent="0" algn="ctr" eaLnBrk="1" hangingPunct="1"/>
            <a:br>
              <a:rPr lang="en-US" altLang="en-US" u="sng" dirty="0"/>
            </a:br>
            <a:r>
              <a:rPr lang="en-US" altLang="en-US" u="sng" dirty="0"/>
              <a:t>Monitoring</a:t>
            </a:r>
            <a:br>
              <a:rPr lang="en-US" altLang="en-US" u="sng" dirty="0"/>
            </a:br>
            <a:r>
              <a:rPr lang="en-US" altLang="en-US" sz="3200" dirty="0"/>
              <a:t>When do I change the probe?</a:t>
            </a:r>
            <a:endParaRPr lang="en-US" altLang="en-US" u="sng" dirty="0"/>
          </a:p>
        </p:txBody>
      </p:sp>
      <p:sp>
        <p:nvSpPr>
          <p:cNvPr id="27651" name="Rectangle 2"/>
          <p:cNvSpPr>
            <a:spLocks noGrp="1" noChangeArrowheads="1"/>
          </p:cNvSpPr>
          <p:nvPr>
            <p:ph type="body" idx="1"/>
          </p:nvPr>
        </p:nvSpPr>
        <p:spPr>
          <a:xfrm>
            <a:off x="971600" y="1916832"/>
            <a:ext cx="7777113" cy="3024336"/>
          </a:xfrm>
        </p:spPr>
        <p:txBody>
          <a:bodyPr rIns="31750"/>
          <a:lstStyle/>
          <a:p>
            <a:pPr marL="423863" indent="-384175" eaLnBrk="1" hangingPunct="1">
              <a:spcBef>
                <a:spcPts val="0"/>
              </a:spcBef>
              <a:buFont typeface="Century Gothic" pitchFamily="34" charset="0"/>
              <a:buNone/>
            </a:pPr>
            <a:r>
              <a:rPr lang="en-US" altLang="en-US" sz="2400" dirty="0"/>
              <a:t>You must continue to teach and </a:t>
            </a:r>
          </a:p>
          <a:p>
            <a:pPr marL="423863" indent="-384175" eaLnBrk="1" hangingPunct="1">
              <a:spcBef>
                <a:spcPts val="0"/>
              </a:spcBef>
              <a:buFont typeface="Century Gothic" pitchFamily="34" charset="0"/>
              <a:buNone/>
            </a:pPr>
            <a:r>
              <a:rPr lang="en-US" altLang="en-US" sz="2400" dirty="0"/>
              <a:t>probe the same set of new </a:t>
            </a:r>
          </a:p>
          <a:p>
            <a:pPr marL="423863" indent="-384175" eaLnBrk="1" hangingPunct="1">
              <a:spcBef>
                <a:spcPts val="0"/>
              </a:spcBef>
              <a:buFont typeface="Century Gothic" pitchFamily="34" charset="0"/>
              <a:buNone/>
            </a:pPr>
            <a:r>
              <a:rPr lang="en-US" altLang="en-US" sz="2400" dirty="0"/>
              <a:t>letters/words/numbers until the </a:t>
            </a:r>
          </a:p>
          <a:p>
            <a:pPr marL="423863" indent="-384175" eaLnBrk="1" hangingPunct="1">
              <a:spcBef>
                <a:spcPts val="0"/>
              </a:spcBef>
              <a:buFont typeface="Century Gothic" pitchFamily="34" charset="0"/>
              <a:buNone/>
            </a:pPr>
            <a:r>
              <a:rPr lang="en-US" altLang="en-US" sz="2400" dirty="0"/>
              <a:t>target has been met for 3 </a:t>
            </a:r>
          </a:p>
          <a:p>
            <a:pPr marL="423863" indent="-384175" eaLnBrk="1" hangingPunct="1">
              <a:spcBef>
                <a:spcPts val="0"/>
              </a:spcBef>
              <a:buFont typeface="Century Gothic" pitchFamily="34" charset="0"/>
              <a:buNone/>
            </a:pPr>
            <a:r>
              <a:rPr lang="en-US" altLang="en-US" sz="2400" dirty="0"/>
              <a:t>consecutive days, </a:t>
            </a:r>
          </a:p>
          <a:p>
            <a:pPr marL="423863" indent="-384175" eaLnBrk="1" hangingPunct="1">
              <a:spcBef>
                <a:spcPts val="0"/>
              </a:spcBef>
              <a:buFont typeface="Century Gothic" pitchFamily="34" charset="0"/>
              <a:buNone/>
            </a:pPr>
            <a:r>
              <a:rPr lang="en-US" altLang="en-US" sz="2400" dirty="0"/>
              <a:t>which indicates the skill </a:t>
            </a:r>
          </a:p>
          <a:p>
            <a:pPr marL="423863" indent="-384175" eaLnBrk="1" hangingPunct="1">
              <a:spcBef>
                <a:spcPts val="0"/>
              </a:spcBef>
              <a:buFont typeface="Century Gothic" pitchFamily="34" charset="0"/>
              <a:buNone/>
            </a:pPr>
            <a:r>
              <a:rPr lang="en-US" altLang="en-US" sz="2400" dirty="0"/>
              <a:t>has been mastered.</a:t>
            </a:r>
          </a:p>
          <a:p>
            <a:pPr marL="423863" indent="-384175" eaLnBrk="1" hangingPunct="1">
              <a:buFont typeface="Century Gothic" pitchFamily="34" charset="0"/>
              <a:buNone/>
            </a:pPr>
            <a:endParaRPr lang="en-US" altLang="en-US" sz="2400" b="1" dirty="0"/>
          </a:p>
          <a:p>
            <a:pPr marL="423863" indent="-384175" eaLnBrk="1" hangingPunct="1">
              <a:buFont typeface="Century Gothic" pitchFamily="34" charset="0"/>
              <a:buNone/>
            </a:pPr>
            <a:r>
              <a:rPr lang="en-US" altLang="en-US" sz="2400" b="1" dirty="0"/>
              <a:t>Remember…</a:t>
            </a:r>
          </a:p>
          <a:p>
            <a:pPr marL="423863" indent="-384175" eaLnBrk="1" hangingPunct="1">
              <a:buFont typeface="Century Gothic" pitchFamily="34" charset="0"/>
              <a:buNone/>
            </a:pPr>
            <a:r>
              <a:rPr lang="en-US" altLang="en-US" sz="2400" b="1" dirty="0"/>
              <a:t>New Probe – New Chart!</a:t>
            </a:r>
            <a:endParaRPr lang="en-US" altLang="en-US" b="1" dirty="0"/>
          </a:p>
          <a:p>
            <a:pPr marL="423863" indent="-384175" eaLnBrk="1" hangingPunct="1">
              <a:buFont typeface="Century Gothic" pitchFamily="34" charset="0"/>
              <a:buNone/>
            </a:pPr>
            <a:endParaRPr lang="en-US" altLang="en-US" sz="2400" dirty="0"/>
          </a:p>
          <a:p>
            <a:pPr marL="423863" indent="-384175" eaLnBrk="1" hangingPunct="1">
              <a:buFont typeface="Century Gothic" pitchFamily="34" charset="0"/>
              <a:buNone/>
            </a:pPr>
            <a:r>
              <a:rPr lang="en-US" altLang="en-US" sz="2400" dirty="0">
                <a:latin typeface="ヒラギノ明朝 ProN W3" charset="0"/>
                <a:sym typeface="ヒラギノ明朝 ProN W3" charset="0"/>
              </a:rPr>
              <a:t>	</a:t>
            </a:r>
            <a:endParaRPr lang="en-US" altLang="en-US" sz="2400" dirty="0"/>
          </a:p>
        </p:txBody>
      </p:sp>
    </p:spTree>
    <p:extLst>
      <p:ext uri="{BB962C8B-B14F-4D97-AF65-F5344CB8AC3E}">
        <p14:creationId xmlns:p14="http://schemas.microsoft.com/office/powerpoint/2010/main" val="3506657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4000" dirty="0"/>
              <a:t> Maintenance</a:t>
            </a:r>
          </a:p>
        </p:txBody>
      </p:sp>
      <p:sp>
        <p:nvSpPr>
          <p:cNvPr id="35843" name="Rectangle 3"/>
          <p:cNvSpPr>
            <a:spLocks noGrp="1" noChangeArrowheads="1"/>
          </p:cNvSpPr>
          <p:nvPr>
            <p:ph idx="1"/>
          </p:nvPr>
        </p:nvSpPr>
        <p:spPr/>
        <p:txBody>
          <a:bodyPr/>
          <a:lstStyle/>
          <a:p>
            <a:pPr eaLnBrk="1" hangingPunct="1"/>
            <a:r>
              <a:rPr lang="en-GB" altLang="en-US" dirty="0"/>
              <a:t>Once a child has reached fluency (hit target 3 days consecutively), check for maintenance at regular intervals.</a:t>
            </a:r>
          </a:p>
          <a:p>
            <a:pPr eaLnBrk="1" hangingPunct="1">
              <a:buFontTx/>
              <a:buNone/>
            </a:pPr>
            <a:endParaRPr lang="en-GB" altLang="en-US" dirty="0"/>
          </a:p>
          <a:p>
            <a:pPr eaLnBrk="1" hangingPunct="1"/>
            <a:r>
              <a:rPr lang="en-GB" altLang="en-US" dirty="0"/>
              <a:t>Use an old probe to check they are still fluent with these words or interleave previously learnt words with new words.</a:t>
            </a:r>
          </a:p>
        </p:txBody>
      </p:sp>
    </p:spTree>
    <p:extLst>
      <p:ext uri="{BB962C8B-B14F-4D97-AF65-F5344CB8AC3E}">
        <p14:creationId xmlns:p14="http://schemas.microsoft.com/office/powerpoint/2010/main" val="689957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blocks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4572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16388" name="Text Box 4"/>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A T I O N A L   P S Y C H O L O G Y   S E R V I C E</a:t>
            </a:r>
          </a:p>
        </p:txBody>
      </p:sp>
      <p:pic>
        <p:nvPicPr>
          <p:cNvPr id="16389" name="Picture 5" descr="Image windsor and Maidenhea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6096000"/>
            <a:ext cx="50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sp>
        <p:nvSpPr>
          <p:cNvPr id="16390" name="Text Box 6"/>
          <p:cNvSpPr txBox="1">
            <a:spLocks noChangeArrowheads="1"/>
          </p:cNvSpPr>
          <p:nvPr/>
        </p:nvSpPr>
        <p:spPr bwMode="auto">
          <a:xfrm>
            <a:off x="684213" y="4797425"/>
            <a:ext cx="77057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2400">
                <a:ea typeface="ＭＳ Ｐゴシック" pitchFamily="110" charset="-128"/>
              </a:rPr>
              <a:t>Please do not use or copy any slides without prior permission from RBWM EPS</a:t>
            </a:r>
          </a:p>
        </p:txBody>
      </p:sp>
      <p:sp>
        <p:nvSpPr>
          <p:cNvPr id="16391" name="Text Box 7"/>
          <p:cNvSpPr txBox="1">
            <a:spLocks noChangeArrowheads="1"/>
          </p:cNvSpPr>
          <p:nvPr/>
        </p:nvSpPr>
        <p:spPr bwMode="auto">
          <a:xfrm>
            <a:off x="4572000" y="2852738"/>
            <a:ext cx="2952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3600">
                <a:latin typeface="Arial Black" pitchFamily="34" charset="0"/>
                <a:ea typeface="ＭＳ Ｐゴシック" pitchFamily="110" charset="-128"/>
              </a:rPr>
              <a:t>Thank you</a:t>
            </a:r>
            <a:endParaRPr lang="en-US" altLang="en-US" sz="3600">
              <a:ea typeface="ＭＳ Ｐゴシック" pitchFamily="110" charset="-128"/>
            </a:endParaRPr>
          </a:p>
        </p:txBody>
      </p:sp>
    </p:spTree>
    <p:extLst>
      <p:ext uri="{BB962C8B-B14F-4D97-AF65-F5344CB8AC3E}">
        <p14:creationId xmlns:p14="http://schemas.microsoft.com/office/powerpoint/2010/main" val="1324736498"/>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2860</TotalTime>
  <Words>2862</Words>
  <Application>Microsoft Office PowerPoint</Application>
  <PresentationFormat>On-screen Show (4:3)</PresentationFormat>
  <Paragraphs>390</Paragraphs>
  <Slides>27</Slides>
  <Notes>23</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27</vt:i4>
      </vt:variant>
    </vt:vector>
  </HeadingPairs>
  <TitlesOfParts>
    <vt:vector size="39" baseType="lpstr">
      <vt:lpstr>Arial</vt:lpstr>
      <vt:lpstr>Arial Black</vt:lpstr>
      <vt:lpstr>Calibri</vt:lpstr>
      <vt:lpstr>Century Gothic</vt:lpstr>
      <vt:lpstr>Rockwell Extra Bold</vt:lpstr>
      <vt:lpstr>Times New Roman</vt:lpstr>
      <vt:lpstr>Wingdings</vt:lpstr>
      <vt:lpstr>ヒラギノ明朝 ProN W3</vt:lpstr>
      <vt:lpstr>Default Design</vt:lpstr>
      <vt:lpstr>1_Custom Design</vt:lpstr>
      <vt:lpstr>Custom Design</vt:lpstr>
      <vt:lpstr>2_Custom Design</vt:lpstr>
      <vt:lpstr>PowerPoint Presentation</vt:lpstr>
      <vt:lpstr>Session Aim</vt:lpstr>
      <vt:lpstr>How do I deliver precision monitoring?</vt:lpstr>
      <vt:lpstr>STEP 1</vt:lpstr>
      <vt:lpstr>STEP 1</vt:lpstr>
      <vt:lpstr>Step 2 - Setting a Target</vt:lpstr>
      <vt:lpstr>2. Targets</vt:lpstr>
      <vt:lpstr>2. Targets</vt:lpstr>
      <vt:lpstr>3. Teaching sessions</vt:lpstr>
      <vt:lpstr>Monitor child’s daily performance using a probe</vt:lpstr>
      <vt:lpstr>Step 3- Teaching  (6 to 10 mins per day)</vt:lpstr>
      <vt:lpstr>3. Teaching methods</vt:lpstr>
      <vt:lpstr>3. Examples of some teaching methods:</vt:lpstr>
      <vt:lpstr>3. Examples of some teaching methods:</vt:lpstr>
      <vt:lpstr>Step 4 - Monitoring</vt:lpstr>
      <vt:lpstr>PowerPoint Presentation</vt:lpstr>
      <vt:lpstr>Types of probe:</vt:lpstr>
      <vt:lpstr>PT Probe Generator</vt:lpstr>
      <vt:lpstr>Step 5- Chart Results</vt:lpstr>
      <vt:lpstr>PowerPoint Presentation</vt:lpstr>
      <vt:lpstr>PowerPoint Presentation</vt:lpstr>
      <vt:lpstr>PowerPoint Presentation</vt:lpstr>
      <vt:lpstr>Step 6- Analyse the Data</vt:lpstr>
      <vt:lpstr>6. Change - response to data analysis</vt:lpstr>
      <vt:lpstr> Monitoring When do I change the probe?</vt:lpstr>
      <vt:lpstr> Maintenance</vt:lpstr>
      <vt:lpstr>PowerPoint Presentation</vt:lpstr>
    </vt:vector>
  </TitlesOfParts>
  <Company>RBWM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Scott Ighavongbe-Patrick</cp:lastModifiedBy>
  <cp:revision>277</cp:revision>
  <cp:lastPrinted>2016-11-14T13:27:22Z</cp:lastPrinted>
  <dcterms:created xsi:type="dcterms:W3CDTF">2009-10-14T09:14:19Z</dcterms:created>
  <dcterms:modified xsi:type="dcterms:W3CDTF">2022-12-01T15:36:57Z</dcterms:modified>
</cp:coreProperties>
</file>