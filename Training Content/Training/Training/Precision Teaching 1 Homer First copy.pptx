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302" r:id="rId2"/>
    <p:sldId id="256" r:id="rId3"/>
    <p:sldId id="307" r:id="rId4"/>
    <p:sldId id="308" r:id="rId5"/>
    <p:sldId id="309" r:id="rId6"/>
    <p:sldId id="310" r:id="rId7"/>
    <p:sldId id="311" r:id="rId8"/>
    <p:sldId id="326" r:id="rId9"/>
    <p:sldId id="312" r:id="rId10"/>
    <p:sldId id="327"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 id="325" r:id="rId24"/>
    <p:sldId id="274" r:id="rId25"/>
  </p:sldIdLst>
  <p:sldSz cx="9144000" cy="6858000" type="screen4x3"/>
  <p:notesSz cx="6669088"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1123" autoAdjust="0"/>
    <p:restoredTop sz="91055" autoAdjust="0"/>
  </p:normalViewPr>
  <p:slideViewPr>
    <p:cSldViewPr snapToGrid="0" snapToObjects="1">
      <p:cViewPr varScale="1">
        <p:scale>
          <a:sx n="121" d="100"/>
          <a:sy n="121" d="100"/>
        </p:scale>
        <p:origin x="-134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0"/>
            <a:ext cx="2889938" cy="493633"/>
          </a:xfrm>
          <a:prstGeom prst="rect">
            <a:avLst/>
          </a:prstGeom>
        </p:spPr>
        <p:txBody>
          <a:bodyPr vert="horz" lIns="91440" tIns="45720" rIns="91440" bIns="45720" rtlCol="0"/>
          <a:lstStyle>
            <a:lvl1pPr algn="r">
              <a:defRPr sz="1200"/>
            </a:lvl1pPr>
          </a:lstStyle>
          <a:p>
            <a:fld id="{7C41A69C-352B-43B9-AE28-0996A6EA73E5}" type="datetimeFigureOut">
              <a:rPr lang="en-GB" smtClean="0"/>
              <a:pPr/>
              <a:t>08/01/2018</a:t>
            </a:fld>
            <a:endParaRPr lang="en-GB"/>
          </a:p>
        </p:txBody>
      </p:sp>
      <p:sp>
        <p:nvSpPr>
          <p:cNvPr id="4" name="Slide Image Placeholder 3"/>
          <p:cNvSpPr>
            <a:spLocks noGrp="1" noRot="1" noChangeAspect="1"/>
          </p:cNvSpPr>
          <p:nvPr>
            <p:ph type="sldImg" idx="2"/>
          </p:nvPr>
        </p:nvSpPr>
        <p:spPr>
          <a:xfrm>
            <a:off x="866775" y="739775"/>
            <a:ext cx="4935538" cy="370363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689515"/>
            <a:ext cx="5335270" cy="444269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377316"/>
            <a:ext cx="2889938" cy="493633"/>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4242911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a:t>
            </a:fld>
            <a:endParaRPr lang="en-GB"/>
          </a:p>
        </p:txBody>
      </p:sp>
    </p:spTree>
    <p:extLst>
      <p:ext uri="{BB962C8B-B14F-4D97-AF65-F5344CB8AC3E}">
        <p14:creationId xmlns:p14="http://schemas.microsoft.com/office/powerpoint/2010/main" val="2043358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None/>
            </a:pPr>
            <a:endParaRPr lang="en-GB" altLang="en-US" baseline="0" dirty="0" smtClean="0">
              <a:latin typeface="Times New Roman" pitchFamily="18" charset="0"/>
            </a:endParaRPr>
          </a:p>
          <a:p>
            <a:pPr>
              <a:buFont typeface="Arial" pitchFamily="34" charset="0"/>
              <a:buChar char="•"/>
            </a:pPr>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4</a:t>
            </a:fld>
            <a:endParaRPr lang="en-GB"/>
          </a:p>
        </p:txBody>
      </p:sp>
    </p:spTree>
    <p:extLst>
      <p:ext uri="{BB962C8B-B14F-4D97-AF65-F5344CB8AC3E}">
        <p14:creationId xmlns:p14="http://schemas.microsoft.com/office/powerpoint/2010/main" val="3313873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latin typeface="Times New Roman" pitchFamily="18" charset="0"/>
            </a:endParaRPr>
          </a:p>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p:txBody>
      </p:sp>
    </p:spTree>
    <p:extLst>
      <p:ext uri="{BB962C8B-B14F-4D97-AF65-F5344CB8AC3E}">
        <p14:creationId xmlns:p14="http://schemas.microsoft.com/office/powerpoint/2010/main" val="4058450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pPr eaLnBrk="1" hangingPunct="1"/>
            <a:endParaRPr lang="en-US" altLang="en-US" dirty="0" smtClean="0"/>
          </a:p>
        </p:txBody>
      </p:sp>
      <p:sp>
        <p:nvSpPr>
          <p:cNvPr id="2765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EE79B2F0-3246-47C7-A52F-CDDB975A4C96}" type="slidenum">
              <a:rPr lang="en-GB" altLang="en-US" smtClean="0"/>
              <a:pPr eaLnBrk="1" hangingPunct="1">
                <a:spcBef>
                  <a:spcPct val="0"/>
                </a:spcBef>
              </a:pPr>
              <a:t>8</a:t>
            </a:fld>
            <a:endParaRPr lang="en-GB"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xfrm>
            <a:off x="888259" y="4689239"/>
            <a:ext cx="4892571" cy="4442935"/>
          </a:xfrm>
          <a:noFill/>
        </p:spPr>
        <p:txBody>
          <a:bodyPr/>
          <a:lstStyle/>
          <a:p>
            <a:endParaRPr lang="en-GB" altLang="en-US" dirty="0"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10</a:t>
            </a:fld>
            <a:endParaRPr lang="en-GB"/>
          </a:p>
        </p:txBody>
      </p:sp>
    </p:spTree>
    <p:extLst>
      <p:ext uri="{BB962C8B-B14F-4D97-AF65-F5344CB8AC3E}">
        <p14:creationId xmlns:p14="http://schemas.microsoft.com/office/powerpoint/2010/main" val="2157283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ChangeArrowheads="1"/>
          </p:cNvSpPr>
          <p:nvPr/>
        </p:nvSpPr>
        <p:spPr bwMode="auto">
          <a:xfrm>
            <a:off x="861246" y="4649768"/>
            <a:ext cx="4890983" cy="4225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b="1" dirty="0" smtClean="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i="1"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endParaRPr lang="en-GB" altLang="en-US"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None/>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15</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20</a:t>
            </a:fld>
            <a:endParaRPr lang="en-GB"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21</a:t>
            </a:fld>
            <a:endParaRPr lang="en-GB"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22</a:t>
            </a:fld>
            <a:endParaRPr lang="en-GB"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23</a:t>
            </a:fld>
            <a:endParaRPr lang="en-GB"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24</a:t>
            </a:fld>
            <a:endParaRPr lang="en-GB"/>
          </a:p>
        </p:txBody>
      </p:sp>
    </p:spTree>
    <p:extLst>
      <p:ext uri="{BB962C8B-B14F-4D97-AF65-F5344CB8AC3E}">
        <p14:creationId xmlns:p14="http://schemas.microsoft.com/office/powerpoint/2010/main" val="1456774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49083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734998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1/8/2018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 id="2147483683" r:id="rId7"/>
    <p:sldLayoutId id="2147483684" r:id="rId8"/>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1608777"/>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1750867" y="564310"/>
            <a:ext cx="5279897" cy="1139850"/>
          </a:xfrm>
        </p:spPr>
        <p:txBody>
          <a:bodyPr/>
          <a:lstStyle/>
          <a:p>
            <a:r>
              <a:rPr lang="en-US" altLang="en-US" sz="4400" b="1" u="sng" dirty="0">
                <a:solidFill>
                  <a:schemeClr val="bg1"/>
                </a:solidFill>
                <a:ea typeface="ＭＳ Ｐゴシック" pitchFamily="110" charset="-128"/>
              </a:rPr>
              <a:t>Precision Teaching:</a:t>
            </a:r>
          </a:p>
          <a:p>
            <a:endParaRPr lang="en-GB" dirty="0">
              <a:solidFill>
                <a:schemeClr val="bg1"/>
              </a:solidFill>
            </a:endParaRPr>
          </a:p>
        </p:txBody>
      </p:sp>
      <p:sp>
        <p:nvSpPr>
          <p:cNvPr id="3" name="Text Placeholder 2"/>
          <p:cNvSpPr>
            <a:spLocks noGrp="1"/>
          </p:cNvSpPr>
          <p:nvPr>
            <p:ph type="body" sz="quarter" idx="4294967295"/>
          </p:nvPr>
        </p:nvSpPr>
        <p:spPr>
          <a:xfrm>
            <a:off x="2081815" y="2107443"/>
            <a:ext cx="5280025" cy="695325"/>
          </a:xfrm>
        </p:spPr>
        <p:txBody>
          <a:bodyPr>
            <a:normAutofit fontScale="25000" lnSpcReduction="20000"/>
          </a:bodyPr>
          <a:lstStyle/>
          <a:p>
            <a:pPr>
              <a:spcBef>
                <a:spcPct val="50000"/>
              </a:spcBef>
              <a:buClrTx/>
              <a:buSzTx/>
              <a:buFontTx/>
              <a:buNone/>
            </a:pPr>
            <a:r>
              <a:rPr lang="en-US" altLang="en-US" sz="11200" b="1" dirty="0">
                <a:solidFill>
                  <a:schemeClr val="bg1"/>
                </a:solidFill>
                <a:ea typeface="ＭＳ Ｐゴシック" pitchFamily="110" charset="-128"/>
              </a:rPr>
              <a:t>An Introduction</a:t>
            </a:r>
          </a:p>
          <a:p>
            <a:pPr>
              <a:spcBef>
                <a:spcPct val="50000"/>
              </a:spcBef>
              <a:buClrTx/>
              <a:buSzTx/>
              <a:buFontTx/>
              <a:buNone/>
            </a:pPr>
            <a:r>
              <a:rPr lang="en-US" altLang="en-US" sz="11200" b="1" dirty="0">
                <a:solidFill>
                  <a:schemeClr val="bg1"/>
                </a:solidFill>
                <a:ea typeface="ＭＳ Ｐゴシック" pitchFamily="110" charset="-128"/>
              </a:rPr>
              <a:t>Session 1 of </a:t>
            </a:r>
            <a:r>
              <a:rPr lang="en-US" altLang="en-US" sz="11200" b="1" dirty="0" smtClean="0">
                <a:solidFill>
                  <a:schemeClr val="bg1"/>
                </a:solidFill>
                <a:ea typeface="ＭＳ Ｐゴシック" pitchFamily="110" charset="-128"/>
              </a:rPr>
              <a:t>3</a:t>
            </a:r>
            <a:endParaRPr lang="en-US" altLang="en-US" sz="11200" b="1" dirty="0">
              <a:solidFill>
                <a:schemeClr val="bg1"/>
              </a:solidFill>
              <a:ea typeface="ＭＳ Ｐゴシック" pitchFamily="110" charset="-128"/>
            </a:endParaRPr>
          </a:p>
          <a:p>
            <a:pPr>
              <a:spcBef>
                <a:spcPct val="50000"/>
              </a:spcBef>
              <a:buClrTx/>
              <a:buSzTx/>
              <a:buFontTx/>
              <a:buNone/>
            </a:pPr>
            <a:r>
              <a:rPr lang="en-US" altLang="en-US" sz="11200" dirty="0" smtClean="0">
                <a:solidFill>
                  <a:schemeClr val="bg1"/>
                </a:solidFill>
                <a:ea typeface="ＭＳ Ｐゴシック" pitchFamily="110" charset="-128"/>
              </a:rPr>
              <a:t>Homer First School</a:t>
            </a:r>
          </a:p>
          <a:p>
            <a:pPr>
              <a:spcBef>
                <a:spcPct val="50000"/>
              </a:spcBef>
              <a:buClrTx/>
              <a:buSzTx/>
              <a:buFontTx/>
              <a:buNone/>
            </a:pPr>
            <a:endParaRPr lang="en-US" altLang="en-US" sz="11200" dirty="0">
              <a:solidFill>
                <a:schemeClr val="bg1"/>
              </a:solidFill>
              <a:ea typeface="ＭＳ Ｐゴシック" pitchFamily="110" charset="-128"/>
            </a:endParaRPr>
          </a:p>
          <a:p>
            <a:pPr>
              <a:spcBef>
                <a:spcPct val="50000"/>
              </a:spcBef>
              <a:buClrTx/>
              <a:buSzTx/>
              <a:buFontTx/>
              <a:buNone/>
            </a:pPr>
            <a:r>
              <a:rPr lang="en-US" altLang="en-US" sz="11200" dirty="0">
                <a:solidFill>
                  <a:schemeClr val="bg1"/>
                </a:solidFill>
                <a:ea typeface="ＭＳ Ｐゴシック" pitchFamily="110" charset="-128"/>
              </a:rPr>
              <a:t>Scott </a:t>
            </a:r>
            <a:r>
              <a:rPr lang="en-US" altLang="en-US" sz="11200" dirty="0" smtClean="0">
                <a:solidFill>
                  <a:schemeClr val="bg1"/>
                </a:solidFill>
                <a:ea typeface="ＭＳ Ｐゴシック" pitchFamily="110" charset="-128"/>
              </a:rPr>
              <a:t>I-Patrick </a:t>
            </a:r>
          </a:p>
          <a:p>
            <a:pPr>
              <a:spcBef>
                <a:spcPct val="50000"/>
              </a:spcBef>
              <a:buClrTx/>
              <a:buSzTx/>
              <a:buFontTx/>
              <a:buNone/>
            </a:pPr>
            <a:r>
              <a:rPr lang="en-US" altLang="en-US" sz="11200" dirty="0" smtClean="0">
                <a:solidFill>
                  <a:schemeClr val="bg1"/>
                </a:solidFill>
                <a:ea typeface="ＭＳ Ｐゴシック" pitchFamily="110" charset="-128"/>
              </a:rPr>
              <a:t>Monday  </a:t>
            </a:r>
            <a:r>
              <a:rPr lang="en-US" altLang="en-US" sz="11200" dirty="0">
                <a:solidFill>
                  <a:schemeClr val="bg1"/>
                </a:solidFill>
                <a:ea typeface="ＭＳ Ｐゴシック" pitchFamily="110" charset="-128"/>
              </a:rPr>
              <a:t>7</a:t>
            </a:r>
            <a:r>
              <a:rPr lang="en-US" altLang="en-US" sz="11200" baseline="30000" dirty="0" smtClean="0">
                <a:solidFill>
                  <a:schemeClr val="bg1"/>
                </a:solidFill>
                <a:ea typeface="ＭＳ Ｐゴシック" pitchFamily="110" charset="-128"/>
              </a:rPr>
              <a:t>th</a:t>
            </a:r>
            <a:r>
              <a:rPr lang="en-US" altLang="en-US" sz="11200" dirty="0" smtClean="0">
                <a:solidFill>
                  <a:schemeClr val="bg1"/>
                </a:solidFill>
                <a:ea typeface="ＭＳ Ｐゴシック" pitchFamily="110" charset="-128"/>
              </a:rPr>
              <a:t> January 2017</a:t>
            </a:r>
          </a:p>
          <a:p>
            <a:endParaRPr lang="en-GB" dirty="0"/>
          </a:p>
        </p:txBody>
      </p:sp>
    </p:spTree>
    <p:extLst>
      <p:ext uri="{BB962C8B-B14F-4D97-AF65-F5344CB8AC3E}">
        <p14:creationId xmlns:p14="http://schemas.microsoft.com/office/powerpoint/2010/main" val="41886237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sz="3200" dirty="0" smtClean="0">
                <a:solidFill>
                  <a:schemeClr val="bg1"/>
                </a:solidFill>
                <a:latin typeface="Arial" charset="0"/>
              </a:rPr>
              <a:t>Aim for Session 1</a:t>
            </a:r>
            <a:endParaRPr lang="en-GB" sz="3200" dirty="0">
              <a:solidFill>
                <a:schemeClr val="bg1"/>
              </a:solidFill>
            </a:endParaRPr>
          </a:p>
        </p:txBody>
      </p:sp>
      <p:sp>
        <p:nvSpPr>
          <p:cNvPr id="3" name="Content Placeholder 2"/>
          <p:cNvSpPr>
            <a:spLocks noGrp="1"/>
          </p:cNvSpPr>
          <p:nvPr>
            <p:ph idx="4294967295"/>
          </p:nvPr>
        </p:nvSpPr>
        <p:spPr>
          <a:xfrm>
            <a:off x="0" y="1253348"/>
            <a:ext cx="8229600" cy="4525963"/>
          </a:xfrm>
        </p:spPr>
        <p:txBody>
          <a:bodyPr/>
          <a:lstStyle/>
          <a:p>
            <a:pPr marL="722313" lvl="1" indent="-384175" eaLnBrk="1" hangingPunct="1">
              <a:lnSpc>
                <a:spcPct val="90000"/>
              </a:lnSpc>
              <a:buFont typeface="Wingdings" panose="05000000000000000000" pitchFamily="2" charset="2"/>
              <a:buChar char="q"/>
            </a:pPr>
            <a:r>
              <a:rPr lang="en-US" altLang="en-US" sz="2400" dirty="0">
                <a:solidFill>
                  <a:schemeClr val="bg1"/>
                </a:solidFill>
              </a:rPr>
              <a:t>What is Precision Teaching?</a:t>
            </a:r>
          </a:p>
          <a:p>
            <a:pPr marL="681038" lvl="1" indent="-342900" eaLnBrk="1" hangingPunct="1">
              <a:lnSpc>
                <a:spcPct val="90000"/>
              </a:lnSpc>
              <a:buFont typeface="Wingdings" panose="05000000000000000000" pitchFamily="2" charset="2"/>
              <a:buChar char="q"/>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PT: The underlying theory</a:t>
            </a:r>
          </a:p>
          <a:p>
            <a:pPr marL="338138" lvl="1" indent="0" eaLnBrk="1" hangingPunct="1">
              <a:lnSpc>
                <a:spcPct val="90000"/>
              </a:lnSpc>
              <a:buNone/>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How do you do PT?</a:t>
            </a:r>
          </a:p>
          <a:p>
            <a:pPr lvl="2" indent="-342900" eaLnBrk="1" hangingPunct="1">
              <a:lnSpc>
                <a:spcPct val="90000"/>
              </a:lnSpc>
              <a:buFont typeface="Wingdings" panose="05000000000000000000" pitchFamily="2" charset="2"/>
              <a:buChar char="ü"/>
            </a:pPr>
            <a:r>
              <a:rPr lang="en-GB" altLang="en-US" sz="2400" dirty="0" smtClean="0">
                <a:solidFill>
                  <a:schemeClr val="bg1"/>
                </a:solidFill>
              </a:rPr>
              <a:t>Focus on how to acquire </a:t>
            </a:r>
            <a:r>
              <a:rPr lang="en-GB" altLang="en-US" sz="2400" dirty="0">
                <a:solidFill>
                  <a:schemeClr val="bg1"/>
                </a:solidFill>
              </a:rPr>
              <a:t>a </a:t>
            </a:r>
            <a:r>
              <a:rPr lang="en-GB" altLang="en-US" sz="2400" dirty="0" smtClean="0">
                <a:solidFill>
                  <a:schemeClr val="bg1"/>
                </a:solidFill>
              </a:rPr>
              <a:t>baseline following identification of a specific area of difficulty.</a:t>
            </a:r>
            <a:endParaRPr lang="en-GB" altLang="en-US" sz="2400" dirty="0">
              <a:solidFill>
                <a:schemeClr val="bg1"/>
              </a:solidFill>
            </a:endParaRPr>
          </a:p>
          <a:p>
            <a:pPr marL="800100" lvl="2" indent="0" eaLnBrk="1" hangingPunct="1">
              <a:lnSpc>
                <a:spcPct val="90000"/>
              </a:lnSpc>
              <a:buNone/>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Goals between now and the next session</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14243464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Preview of upcoming sessions</a:t>
            </a:r>
            <a:endParaRPr lang="en-GB" dirty="0">
              <a:solidFill>
                <a:schemeClr val="bg1"/>
              </a:solidFill>
            </a:endParaRPr>
          </a:p>
        </p:txBody>
      </p:sp>
      <p:sp>
        <p:nvSpPr>
          <p:cNvPr id="3" name="Content Placeholder 2"/>
          <p:cNvSpPr>
            <a:spLocks noGrp="1"/>
          </p:cNvSpPr>
          <p:nvPr>
            <p:ph idx="4294967295"/>
          </p:nvPr>
        </p:nvSpPr>
        <p:spPr>
          <a:xfrm>
            <a:off x="0" y="1363710"/>
            <a:ext cx="8229600" cy="4525963"/>
          </a:xfrm>
        </p:spPr>
        <p:txBody>
          <a:bodyPr/>
          <a:lstStyle/>
          <a:p>
            <a:pPr marL="423863" indent="-384175" eaLnBrk="1" hangingPunct="1">
              <a:lnSpc>
                <a:spcPct val="90000"/>
              </a:lnSpc>
              <a:buNone/>
            </a:pPr>
            <a:r>
              <a:rPr lang="en-US" altLang="en-US" dirty="0">
                <a:solidFill>
                  <a:schemeClr val="bg1"/>
                </a:solidFill>
              </a:rPr>
              <a:t>Session 2 of 3</a:t>
            </a:r>
          </a:p>
          <a:p>
            <a:pPr marL="338138" lvl="1" indent="0" eaLnBrk="1" hangingPunct="1">
              <a:lnSpc>
                <a:spcPct val="90000"/>
              </a:lnSpc>
              <a:buNone/>
            </a:pPr>
            <a:endParaRPr lang="en-US" altLang="en-US" dirty="0" smtClean="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smtClean="0">
                <a:solidFill>
                  <a:schemeClr val="bg1"/>
                </a:solidFill>
              </a:rPr>
              <a:t>Sharing </a:t>
            </a:r>
            <a:r>
              <a:rPr lang="en-US" altLang="en-US" sz="2400" dirty="0">
                <a:solidFill>
                  <a:schemeClr val="bg1"/>
                </a:solidFill>
              </a:rPr>
              <a:t>our experiences since the last session</a:t>
            </a:r>
          </a:p>
          <a:p>
            <a:pPr marL="338138" lvl="1" indent="0" eaLnBrk="1" hangingPunct="1">
              <a:lnSpc>
                <a:spcPct val="90000"/>
              </a:lnSpc>
              <a:buNone/>
            </a:pPr>
            <a:endParaRPr lang="en-US" altLang="en-US" sz="2400"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How do you do PT?</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Target setting </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Teaching and probing </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Charting </a:t>
            </a:r>
            <a:r>
              <a:rPr lang="en-US" altLang="en-US" sz="2400" dirty="0">
                <a:solidFill>
                  <a:schemeClr val="bg1"/>
                </a:solidFill>
              </a:rPr>
              <a:t>the results </a:t>
            </a:r>
            <a:r>
              <a:rPr lang="en-US" altLang="en-US" sz="2400" dirty="0" smtClean="0">
                <a:solidFill>
                  <a:schemeClr val="bg1"/>
                </a:solidFill>
              </a:rPr>
              <a:t>with target child</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Monitoring: </a:t>
            </a:r>
            <a:r>
              <a:rPr lang="en-US" altLang="en-US" sz="2400" dirty="0">
                <a:solidFill>
                  <a:schemeClr val="bg1"/>
                </a:solidFill>
              </a:rPr>
              <a:t>Review and adapt the </a:t>
            </a:r>
            <a:r>
              <a:rPr lang="en-US" altLang="en-US" sz="2400" dirty="0" err="1">
                <a:solidFill>
                  <a:schemeClr val="bg1"/>
                </a:solidFill>
              </a:rPr>
              <a:t>programme</a:t>
            </a:r>
            <a:r>
              <a:rPr lang="en-US" altLang="en-US" sz="2400" dirty="0">
                <a:solidFill>
                  <a:schemeClr val="bg1"/>
                </a:solidFill>
              </a:rPr>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13086371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a:solidFill>
                  <a:schemeClr val="bg1"/>
                </a:solidFill>
              </a:rPr>
              <a:t>Preview of upcoming sessions</a:t>
            </a:r>
          </a:p>
        </p:txBody>
      </p:sp>
      <p:sp>
        <p:nvSpPr>
          <p:cNvPr id="3" name="Content Placeholder 2"/>
          <p:cNvSpPr>
            <a:spLocks noGrp="1"/>
          </p:cNvSpPr>
          <p:nvPr>
            <p:ph idx="4294967295"/>
          </p:nvPr>
        </p:nvSpPr>
        <p:spPr>
          <a:xfrm>
            <a:off x="0" y="1395242"/>
            <a:ext cx="8229600" cy="4525963"/>
          </a:xfrm>
        </p:spPr>
        <p:txBody>
          <a:bodyPr/>
          <a:lstStyle/>
          <a:p>
            <a:pPr marL="423863" indent="-384175" eaLnBrk="1" hangingPunct="1">
              <a:lnSpc>
                <a:spcPct val="90000"/>
              </a:lnSpc>
              <a:buNone/>
            </a:pPr>
            <a:r>
              <a:rPr lang="en-US" altLang="en-US" dirty="0">
                <a:solidFill>
                  <a:schemeClr val="bg1"/>
                </a:solidFill>
              </a:rPr>
              <a:t>Session 3 of </a:t>
            </a:r>
            <a:r>
              <a:rPr lang="en-US" altLang="en-US" dirty="0" smtClean="0">
                <a:solidFill>
                  <a:schemeClr val="bg1"/>
                </a:solidFill>
              </a:rPr>
              <a:t>3</a:t>
            </a:r>
            <a:endParaRPr lang="en-US" altLang="en-US" dirty="0">
              <a:solidFill>
                <a:schemeClr val="bg1"/>
              </a:solidFill>
            </a:endParaRPr>
          </a:p>
          <a:p>
            <a:pPr marL="338138" lvl="1" indent="0" eaLnBrk="1" hangingPunct="1">
              <a:lnSpc>
                <a:spcPct val="90000"/>
              </a:lnSpc>
              <a:buNone/>
            </a:pPr>
            <a:r>
              <a:rPr lang="en-US" altLang="en-US" sz="2400" u="sng" dirty="0">
                <a:solidFill>
                  <a:schemeClr val="bg1"/>
                </a:solidFill>
              </a:rPr>
              <a:t>Peer supervision</a:t>
            </a:r>
          </a:p>
          <a:p>
            <a:pPr marL="338138" lvl="1" indent="0" eaLnBrk="1" hangingPunct="1">
              <a:lnSpc>
                <a:spcPct val="90000"/>
              </a:lnSpc>
              <a:buNone/>
            </a:pPr>
            <a:endParaRPr lang="en-US" altLang="en-US" sz="2400"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Reflective discussions</a:t>
            </a:r>
          </a:p>
          <a:p>
            <a:pPr marL="1081088" lvl="2" indent="-342900" eaLnBrk="1" hangingPunct="1">
              <a:lnSpc>
                <a:spcPct val="90000"/>
              </a:lnSpc>
              <a:buFont typeface="Wingdings" panose="05000000000000000000" pitchFamily="2" charset="2"/>
              <a:buChar char="ü"/>
            </a:pPr>
            <a:r>
              <a:rPr lang="en-US" altLang="en-US" sz="2400" dirty="0">
                <a:solidFill>
                  <a:schemeClr val="bg1"/>
                </a:solidFill>
              </a:rPr>
              <a:t>How confident are we feeling about implementing PT</a:t>
            </a:r>
            <a:r>
              <a:rPr lang="en-US" altLang="en-US" sz="2400" dirty="0" smtClean="0">
                <a:solidFill>
                  <a:schemeClr val="bg1"/>
                </a:solidFill>
              </a:rPr>
              <a:t>?</a:t>
            </a:r>
          </a:p>
          <a:p>
            <a:pPr marL="738188" lvl="2" indent="0" eaLnBrk="1" hangingPunct="1">
              <a:lnSpc>
                <a:spcPct val="90000"/>
              </a:lnSpc>
              <a:buNone/>
            </a:pPr>
            <a:endParaRPr lang="en-US" altLang="en-US" sz="2400" dirty="0" smtClean="0">
              <a:solidFill>
                <a:schemeClr val="bg1"/>
              </a:solidFill>
            </a:endParaRPr>
          </a:p>
          <a:p>
            <a:pPr marL="1081088" lvl="2" indent="-342900" eaLnBrk="1" hangingPunct="1">
              <a:lnSpc>
                <a:spcPct val="90000"/>
              </a:lnSpc>
              <a:buFont typeface="Wingdings" panose="05000000000000000000" pitchFamily="2" charset="2"/>
              <a:buChar char="ü"/>
            </a:pPr>
            <a:r>
              <a:rPr lang="en-US" altLang="en-US" sz="2400" dirty="0" smtClean="0">
                <a:solidFill>
                  <a:schemeClr val="bg1"/>
                </a:solidFill>
              </a:rPr>
              <a:t>Our </a:t>
            </a:r>
            <a:r>
              <a:rPr lang="en-US" altLang="en-US" sz="2400" dirty="0">
                <a:solidFill>
                  <a:schemeClr val="bg1"/>
                </a:solidFill>
              </a:rPr>
              <a:t>views on PT:</a:t>
            </a:r>
          </a:p>
          <a:p>
            <a:pPr marL="1481138" lvl="3" indent="-285750" eaLnBrk="1" hangingPunct="1">
              <a:lnSpc>
                <a:spcPct val="90000"/>
              </a:lnSpc>
              <a:buFont typeface="Arial" panose="020B0604020202020204" pitchFamily="34" charset="0"/>
              <a:buChar char="•"/>
            </a:pPr>
            <a:r>
              <a:rPr lang="en-US" altLang="en-US" sz="2400" dirty="0">
                <a:solidFill>
                  <a:schemeClr val="bg1"/>
                </a:solidFill>
              </a:rPr>
              <a:t>Academic impact</a:t>
            </a:r>
          </a:p>
          <a:p>
            <a:pPr marL="1481138" lvl="3" indent="-285750" eaLnBrk="1" hangingPunct="1">
              <a:lnSpc>
                <a:spcPct val="90000"/>
              </a:lnSpc>
              <a:buFont typeface="Arial" panose="020B0604020202020204" pitchFamily="34" charset="0"/>
              <a:buChar char="•"/>
            </a:pPr>
            <a:r>
              <a:rPr lang="en-US" altLang="en-US" sz="2400" dirty="0">
                <a:solidFill>
                  <a:schemeClr val="bg1"/>
                </a:solidFill>
              </a:rPr>
              <a:t>Emotional/motivational </a:t>
            </a:r>
            <a:r>
              <a:rPr lang="en-US" altLang="en-US" sz="2400" dirty="0" smtClean="0">
                <a:solidFill>
                  <a:schemeClr val="bg1"/>
                </a:solidFill>
              </a:rPr>
              <a:t>impact</a:t>
            </a:r>
            <a:endParaRPr lang="en-US" altLang="en-US" sz="2400" dirty="0">
              <a:solidFill>
                <a:schemeClr val="bg1"/>
              </a:solidFill>
            </a:endParaRPr>
          </a:p>
          <a:p>
            <a:pPr marL="0" indent="0">
              <a:buNone/>
            </a:pPr>
            <a:endParaRPr lang="en-GB" dirty="0"/>
          </a:p>
        </p:txBody>
      </p:sp>
    </p:spTree>
    <p:extLst>
      <p:ext uri="{BB962C8B-B14F-4D97-AF65-F5344CB8AC3E}">
        <p14:creationId xmlns:p14="http://schemas.microsoft.com/office/powerpoint/2010/main" val="20576994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What is Precision Teaching?</a:t>
            </a:r>
            <a:endParaRPr lang="en-GB" dirty="0">
              <a:solidFill>
                <a:schemeClr val="bg1"/>
              </a:solidFill>
            </a:endParaRPr>
          </a:p>
        </p:txBody>
      </p:sp>
      <p:sp>
        <p:nvSpPr>
          <p:cNvPr id="3" name="Content Placeholder 2"/>
          <p:cNvSpPr>
            <a:spLocks noGrp="1"/>
          </p:cNvSpPr>
          <p:nvPr>
            <p:ph idx="4294967295"/>
          </p:nvPr>
        </p:nvSpPr>
        <p:spPr>
          <a:xfrm>
            <a:off x="0" y="1600200"/>
            <a:ext cx="8229600" cy="4525963"/>
          </a:xfrm>
        </p:spPr>
        <p:txBody>
          <a:bodyPr>
            <a:normAutofit/>
          </a:bodyPr>
          <a:lstStyle/>
          <a:p>
            <a:pPr eaLnBrk="1" hangingPunct="1">
              <a:buFont typeface="Wingdings" panose="05000000000000000000" pitchFamily="2" charset="2"/>
              <a:buChar char="q"/>
            </a:pPr>
            <a:r>
              <a:rPr lang="en-GB" altLang="en-US" sz="2400" dirty="0">
                <a:solidFill>
                  <a:schemeClr val="bg1"/>
                </a:solidFill>
              </a:rPr>
              <a:t>A way to plan, monitor and evaluate a </a:t>
            </a:r>
            <a:r>
              <a:rPr lang="en-GB" altLang="en-US" sz="2400" dirty="0" smtClean="0">
                <a:solidFill>
                  <a:schemeClr val="bg1"/>
                </a:solidFill>
              </a:rPr>
              <a:t>teaching programme </a:t>
            </a:r>
            <a:r>
              <a:rPr lang="en-GB" altLang="en-US" sz="2400" dirty="0">
                <a:solidFill>
                  <a:schemeClr val="bg1"/>
                </a:solidFill>
              </a:rPr>
              <a:t>for an individual child, helping </a:t>
            </a:r>
            <a:r>
              <a:rPr lang="en-GB" altLang="en-US" sz="2400" dirty="0" smtClean="0">
                <a:solidFill>
                  <a:schemeClr val="bg1"/>
                </a:solidFill>
              </a:rPr>
              <a:t>him/her </a:t>
            </a:r>
            <a:r>
              <a:rPr lang="en-GB" altLang="en-US" sz="2400" dirty="0">
                <a:solidFill>
                  <a:schemeClr val="bg1"/>
                </a:solidFill>
              </a:rPr>
              <a:t>to learn a specific skill</a:t>
            </a:r>
            <a:r>
              <a:rPr lang="en-GB" altLang="en-US" sz="2400" dirty="0" smtClean="0">
                <a:solidFill>
                  <a:schemeClr val="bg1"/>
                </a:solidFill>
              </a:rPr>
              <a:t>.</a:t>
            </a:r>
          </a:p>
          <a:p>
            <a:pPr marL="0" indent="0" eaLnBrk="1" hangingPunct="1">
              <a:buNone/>
            </a:pPr>
            <a:endParaRPr lang="en-GB" altLang="en-US" sz="2400" dirty="0" smtClean="0">
              <a:solidFill>
                <a:schemeClr val="bg1"/>
              </a:solidFill>
            </a:endParaRPr>
          </a:p>
          <a:p>
            <a:pPr eaLnBrk="1" hangingPunct="1">
              <a:buFont typeface="Wingdings" panose="05000000000000000000" pitchFamily="2" charset="2"/>
              <a:buChar char="q"/>
            </a:pPr>
            <a:r>
              <a:rPr lang="en-US" altLang="en-US" sz="2400" dirty="0" smtClean="0">
                <a:solidFill>
                  <a:schemeClr val="bg1"/>
                </a:solidFill>
              </a:rPr>
              <a:t>It is </a:t>
            </a:r>
            <a:r>
              <a:rPr lang="en-US" altLang="en-US" sz="2400" dirty="0">
                <a:solidFill>
                  <a:schemeClr val="bg1"/>
                </a:solidFill>
              </a:rPr>
              <a:t>a method of </a:t>
            </a:r>
            <a:r>
              <a:rPr lang="en-US" altLang="en-US" sz="2400" u="sng" dirty="0">
                <a:solidFill>
                  <a:schemeClr val="bg1"/>
                </a:solidFill>
              </a:rPr>
              <a:t>precisely measuring</a:t>
            </a:r>
            <a:r>
              <a:rPr lang="en-US" altLang="en-US" sz="2400" dirty="0">
                <a:solidFill>
                  <a:schemeClr val="bg1"/>
                </a:solidFill>
              </a:rPr>
              <a:t> the effectiveness of teaching.</a:t>
            </a:r>
            <a:endParaRPr lang="en-GB" altLang="en-US" sz="2400" dirty="0" smtClean="0">
              <a:solidFill>
                <a:schemeClr val="bg1"/>
              </a:solidFill>
            </a:endParaRPr>
          </a:p>
          <a:p>
            <a:pPr marL="0" indent="0" eaLnBrk="1" hangingPunct="1">
              <a:buNone/>
            </a:pPr>
            <a:endParaRPr lang="en-GB" altLang="en-US" sz="2400" dirty="0">
              <a:solidFill>
                <a:schemeClr val="bg1"/>
              </a:solidFill>
            </a:endParaRPr>
          </a:p>
          <a:p>
            <a:pPr eaLnBrk="1" hangingPunct="1">
              <a:buFont typeface="Wingdings" panose="05000000000000000000" pitchFamily="2" charset="2"/>
              <a:buChar char="q"/>
            </a:pPr>
            <a:r>
              <a:rPr lang="en-GB" altLang="en-US" sz="2400" dirty="0">
                <a:solidFill>
                  <a:schemeClr val="bg1"/>
                </a:solidFill>
              </a:rPr>
              <a:t>Precision </a:t>
            </a:r>
            <a:r>
              <a:rPr lang="en-GB" altLang="en-US" sz="2400" dirty="0" smtClean="0">
                <a:solidFill>
                  <a:schemeClr val="bg1"/>
                </a:solidFill>
              </a:rPr>
              <a:t>Teaching </a:t>
            </a:r>
            <a:r>
              <a:rPr lang="en-GB" altLang="en-US" sz="2400" dirty="0">
                <a:solidFill>
                  <a:schemeClr val="bg1"/>
                </a:solidFill>
              </a:rPr>
              <a:t>is an</a:t>
            </a:r>
            <a:r>
              <a:rPr lang="en-GB" altLang="en-US" sz="2400" dirty="0"/>
              <a:t> </a:t>
            </a:r>
            <a:r>
              <a:rPr lang="en-GB" altLang="en-US" sz="2400" b="1" u="sng" dirty="0">
                <a:solidFill>
                  <a:srgbClr val="FF0000"/>
                </a:solidFill>
              </a:rPr>
              <a:t>ASSESSMENT</a:t>
            </a:r>
            <a:r>
              <a:rPr lang="en-GB" altLang="en-US" sz="2400" dirty="0"/>
              <a:t> </a:t>
            </a:r>
            <a:r>
              <a:rPr lang="en-GB" altLang="en-US" dirty="0" smtClean="0">
                <a:solidFill>
                  <a:schemeClr val="bg1"/>
                </a:solidFill>
              </a:rPr>
              <a:t>tool and</a:t>
            </a:r>
            <a:r>
              <a:rPr lang="en-GB" altLang="en-US" dirty="0" smtClean="0"/>
              <a:t> </a:t>
            </a:r>
            <a:r>
              <a:rPr lang="en-GB" altLang="en-US" b="1" u="sng" dirty="0" smtClean="0">
                <a:solidFill>
                  <a:srgbClr val="FF0000"/>
                </a:solidFill>
              </a:rPr>
              <a:t>NOT</a:t>
            </a:r>
            <a:r>
              <a:rPr lang="en-GB" altLang="en-US" dirty="0" smtClean="0"/>
              <a:t> </a:t>
            </a:r>
            <a:r>
              <a:rPr lang="en-GB" altLang="en-US" dirty="0">
                <a:solidFill>
                  <a:schemeClr val="bg1"/>
                </a:solidFill>
              </a:rPr>
              <a:t>a teaching method.</a:t>
            </a:r>
          </a:p>
          <a:p>
            <a:endParaRPr lang="en-GB" dirty="0"/>
          </a:p>
        </p:txBody>
      </p:sp>
    </p:spTree>
    <p:extLst>
      <p:ext uri="{BB962C8B-B14F-4D97-AF65-F5344CB8AC3E}">
        <p14:creationId xmlns:p14="http://schemas.microsoft.com/office/powerpoint/2010/main" val="29587120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pPr algn="ctr"/>
            <a:r>
              <a:rPr lang="en-GB" dirty="0" smtClean="0">
                <a:solidFill>
                  <a:schemeClr val="bg1"/>
                </a:solidFill>
              </a:rPr>
              <a:t>When can Precision Teaching be </a:t>
            </a:r>
            <a:r>
              <a:rPr lang="en-GB" dirty="0">
                <a:solidFill>
                  <a:schemeClr val="bg1"/>
                </a:solidFill>
              </a:rPr>
              <a:t>u</a:t>
            </a:r>
            <a:r>
              <a:rPr lang="en-GB" dirty="0" smtClean="0">
                <a:solidFill>
                  <a:schemeClr val="bg1"/>
                </a:solidFill>
              </a:rPr>
              <a:t>sed?</a:t>
            </a:r>
            <a:endParaRPr lang="en-GB" dirty="0">
              <a:solidFill>
                <a:schemeClr val="bg1"/>
              </a:solidFill>
            </a:endParaRPr>
          </a:p>
        </p:txBody>
      </p:sp>
      <p:sp>
        <p:nvSpPr>
          <p:cNvPr id="3" name="Content Placeholder 2"/>
          <p:cNvSpPr>
            <a:spLocks noGrp="1"/>
          </p:cNvSpPr>
          <p:nvPr>
            <p:ph idx="4294967295"/>
          </p:nvPr>
        </p:nvSpPr>
        <p:spPr>
          <a:xfrm>
            <a:off x="0" y="1505604"/>
            <a:ext cx="8229600" cy="4525963"/>
          </a:xfrm>
        </p:spPr>
        <p:txBody>
          <a:bodyPr>
            <a:normAutofit fontScale="85000" lnSpcReduction="20000"/>
          </a:bodyPr>
          <a:lstStyle/>
          <a:p>
            <a:pPr marL="423863" eaLnBrk="1" hangingPunct="1">
              <a:lnSpc>
                <a:spcPct val="80000"/>
              </a:lnSpc>
              <a:buFont typeface="Wingdings" panose="05000000000000000000" pitchFamily="2" charset="2"/>
              <a:buChar char="q"/>
            </a:pPr>
            <a:r>
              <a:rPr lang="en-US" altLang="en-US" dirty="0">
                <a:solidFill>
                  <a:schemeClr val="bg1"/>
                </a:solidFill>
              </a:rPr>
              <a:t>When a child is making little or no progress in an area</a:t>
            </a:r>
          </a:p>
          <a:p>
            <a:pPr marL="423863" eaLnBrk="1" hangingPunct="1">
              <a:lnSpc>
                <a:spcPct val="80000"/>
              </a:lnSpc>
              <a:buFont typeface="Century Gothic" pitchFamily="34" charset="0"/>
              <a:buNone/>
            </a:pPr>
            <a:endParaRPr lang="en-US" altLang="en-US" dirty="0">
              <a:solidFill>
                <a:schemeClr val="bg1"/>
              </a:solidFill>
            </a:endParaRPr>
          </a:p>
          <a:p>
            <a:pPr marL="423863" eaLnBrk="1" hangingPunct="1">
              <a:lnSpc>
                <a:spcPct val="80000"/>
              </a:lnSpc>
              <a:buFont typeface="Wingdings" panose="05000000000000000000" pitchFamily="2" charset="2"/>
              <a:buChar char="q"/>
            </a:pPr>
            <a:r>
              <a:rPr lang="en-US" altLang="en-US" dirty="0">
                <a:solidFill>
                  <a:schemeClr val="bg1"/>
                </a:solidFill>
              </a:rPr>
              <a:t>When development of speed is essential for progress, for example:</a:t>
            </a:r>
          </a:p>
          <a:p>
            <a:pPr marL="423863" eaLnBrk="1" hangingPunct="1">
              <a:lnSpc>
                <a:spcPct val="80000"/>
              </a:lnSpc>
              <a:buFont typeface="Century Gothic" pitchFamily="34" charset="0"/>
              <a:buNone/>
            </a:pPr>
            <a:endParaRPr lang="en-US" altLang="en-US" dirty="0">
              <a:solidFill>
                <a:schemeClr val="bg1"/>
              </a:solidFill>
            </a:endParaRPr>
          </a:p>
          <a:p>
            <a:pPr marL="423863" eaLnBrk="1" hangingPunct="1">
              <a:lnSpc>
                <a:spcPct val="80000"/>
              </a:lnSpc>
              <a:buFont typeface="Wingdings" panose="05000000000000000000" pitchFamily="2" charset="2"/>
              <a:buChar char="ü"/>
            </a:pPr>
            <a:r>
              <a:rPr lang="en-US" altLang="en-US" dirty="0" smtClean="0">
                <a:solidFill>
                  <a:schemeClr val="bg1"/>
                </a:solidFill>
              </a:rPr>
              <a:t> phonics</a:t>
            </a:r>
          </a:p>
          <a:p>
            <a:pPr marL="423863" eaLnBrk="1" hangingPunct="1">
              <a:lnSpc>
                <a:spcPct val="80000"/>
              </a:lnSpc>
              <a:buFont typeface="Wingdings" panose="05000000000000000000" pitchFamily="2" charset="2"/>
              <a:buChar char="ü"/>
            </a:pPr>
            <a:r>
              <a:rPr lang="en-US" altLang="en-US" dirty="0" smtClean="0">
                <a:solidFill>
                  <a:schemeClr val="bg1"/>
                </a:solidFill>
              </a:rPr>
              <a:t>sight vocabulary</a:t>
            </a:r>
          </a:p>
          <a:p>
            <a:pPr marL="423863" eaLnBrk="1" hangingPunct="1">
              <a:lnSpc>
                <a:spcPct val="80000"/>
              </a:lnSpc>
              <a:buFont typeface="Wingdings" panose="05000000000000000000" pitchFamily="2" charset="2"/>
              <a:buChar char="ü"/>
            </a:pPr>
            <a:r>
              <a:rPr lang="en-US" altLang="en-US" dirty="0" smtClean="0">
                <a:solidFill>
                  <a:schemeClr val="bg1"/>
                </a:solidFill>
              </a:rPr>
              <a:t>spelling </a:t>
            </a:r>
            <a:r>
              <a:rPr lang="en-US" altLang="en-US" dirty="0">
                <a:solidFill>
                  <a:schemeClr val="bg1"/>
                </a:solidFill>
              </a:rPr>
              <a:t>high frequency </a:t>
            </a:r>
            <a:r>
              <a:rPr lang="en-US" altLang="en-US" dirty="0" smtClean="0">
                <a:solidFill>
                  <a:schemeClr val="bg1"/>
                </a:solidFill>
              </a:rPr>
              <a:t>words</a:t>
            </a:r>
          </a:p>
          <a:p>
            <a:pPr marL="423863" eaLnBrk="1" hangingPunct="1">
              <a:lnSpc>
                <a:spcPct val="80000"/>
              </a:lnSpc>
              <a:buFont typeface="Wingdings" panose="05000000000000000000" pitchFamily="2" charset="2"/>
              <a:buChar char="ü"/>
            </a:pPr>
            <a:r>
              <a:rPr lang="en-US" altLang="en-US" dirty="0" smtClean="0">
                <a:solidFill>
                  <a:schemeClr val="bg1"/>
                </a:solidFill>
              </a:rPr>
              <a:t>number recognition</a:t>
            </a:r>
          </a:p>
          <a:p>
            <a:pPr marL="423863" eaLnBrk="1" hangingPunct="1">
              <a:lnSpc>
                <a:spcPct val="80000"/>
              </a:lnSpc>
              <a:buFont typeface="Wingdings" panose="05000000000000000000" pitchFamily="2" charset="2"/>
              <a:buChar char="ü"/>
            </a:pPr>
            <a:r>
              <a:rPr lang="en-US" altLang="en-US" dirty="0" smtClean="0">
                <a:solidFill>
                  <a:schemeClr val="bg1"/>
                </a:solidFill>
              </a:rPr>
              <a:t>number bonds</a:t>
            </a:r>
          </a:p>
          <a:p>
            <a:pPr marL="80963" indent="0" eaLnBrk="1" hangingPunct="1">
              <a:lnSpc>
                <a:spcPct val="80000"/>
              </a:lnSpc>
              <a:buNone/>
            </a:pPr>
            <a:endParaRPr lang="en-US" altLang="en-US" dirty="0">
              <a:solidFill>
                <a:schemeClr val="bg1"/>
              </a:solidFill>
            </a:endParaRPr>
          </a:p>
          <a:p>
            <a:pPr marL="423863" eaLnBrk="1" hangingPunct="1">
              <a:lnSpc>
                <a:spcPct val="80000"/>
              </a:lnSpc>
              <a:buFont typeface="Wingdings" panose="05000000000000000000" pitchFamily="2" charset="2"/>
              <a:buChar char="q"/>
            </a:pPr>
            <a:r>
              <a:rPr lang="en-US" altLang="en-US" dirty="0" smtClean="0">
                <a:solidFill>
                  <a:schemeClr val="bg1"/>
                </a:solidFill>
              </a:rPr>
              <a:t>For </a:t>
            </a:r>
            <a:r>
              <a:rPr lang="en-US" altLang="en-US" dirty="0">
                <a:solidFill>
                  <a:schemeClr val="bg1"/>
                </a:solidFill>
              </a:rPr>
              <a:t>teaching skills that are </a:t>
            </a:r>
            <a:r>
              <a:rPr lang="en-US" altLang="en-US" dirty="0" smtClean="0">
                <a:solidFill>
                  <a:schemeClr val="bg1"/>
                </a:solidFill>
              </a:rPr>
              <a:t>measurable and </a:t>
            </a:r>
            <a:r>
              <a:rPr lang="en-US" altLang="en-US" dirty="0">
                <a:solidFill>
                  <a:schemeClr val="bg1"/>
                </a:solidFill>
              </a:rPr>
              <a:t>need to be acquired to </a:t>
            </a:r>
            <a:r>
              <a:rPr lang="en-US" altLang="en-US" dirty="0" smtClean="0">
                <a:solidFill>
                  <a:schemeClr val="bg1"/>
                </a:solidFill>
              </a:rPr>
              <a:t>make progress</a:t>
            </a:r>
            <a:endParaRPr lang="en-US" altLang="en-US" dirty="0">
              <a:solidFill>
                <a:schemeClr val="bg1"/>
              </a:solidFill>
            </a:endParaRPr>
          </a:p>
          <a:p>
            <a:endParaRPr lang="en-GB" dirty="0"/>
          </a:p>
        </p:txBody>
      </p:sp>
    </p:spTree>
    <p:extLst>
      <p:ext uri="{BB962C8B-B14F-4D97-AF65-F5344CB8AC3E}">
        <p14:creationId xmlns:p14="http://schemas.microsoft.com/office/powerpoint/2010/main" val="16985796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4294967295"/>
          </p:nvPr>
        </p:nvSpPr>
        <p:spPr>
          <a:xfrm>
            <a:off x="470749" y="855054"/>
            <a:ext cx="7488238" cy="4665662"/>
          </a:xfrm>
        </p:spPr>
        <p:txBody>
          <a:bodyPr>
            <a:normAutofit fontScale="92500" lnSpcReduction="10000"/>
          </a:bodyPr>
          <a:lstStyle/>
          <a:p>
            <a:pPr eaLnBrk="1" hangingPunct="1">
              <a:lnSpc>
                <a:spcPct val="90000"/>
              </a:lnSpc>
            </a:pPr>
            <a:r>
              <a:rPr lang="en-GB" altLang="en-US" dirty="0" smtClean="0">
                <a:solidFill>
                  <a:schemeClr val="bg1"/>
                </a:solidFill>
              </a:rPr>
              <a:t>Precision Teaching is based on the principle</a:t>
            </a:r>
          </a:p>
          <a:p>
            <a:pPr eaLnBrk="1" hangingPunct="1">
              <a:lnSpc>
                <a:spcPct val="90000"/>
              </a:lnSpc>
              <a:buFont typeface="Wingdings" pitchFamily="2" charset="2"/>
              <a:buNone/>
            </a:pPr>
            <a:r>
              <a:rPr lang="en-GB" altLang="en-US" dirty="0" smtClean="0">
                <a:solidFill>
                  <a:schemeClr val="bg1"/>
                </a:solidFill>
              </a:rPr>
              <a:t>	that children (and adults) need to reach a certain level of fluency and accuracy when learning a new skill before they can maintain that skill without the need for further teaching.</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itchFamily="2" charset="2"/>
              <a:buNone/>
            </a:pPr>
            <a:r>
              <a:rPr lang="en-GB" altLang="en-US" dirty="0" smtClean="0">
                <a:solidFill>
                  <a:schemeClr val="bg1"/>
                </a:solidFill>
              </a:rPr>
              <a:t>	The Learning Hierarchy* identifies five important stages in skill development.</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itchFamily="2" charset="2"/>
              <a:buNone/>
            </a:pPr>
            <a:r>
              <a:rPr lang="en-GB" altLang="en-US" sz="1800" i="1" dirty="0" smtClean="0">
                <a:solidFill>
                  <a:schemeClr val="bg1"/>
                </a:solidFill>
              </a:rPr>
              <a:t>	*Haring N.G. &amp; Eaton M.D. (1978) Systematic Instructional Procedures: An Instructional Hierarchy</a:t>
            </a:r>
          </a:p>
          <a:p>
            <a:pPr eaLnBrk="1" hangingPunct="1">
              <a:lnSpc>
                <a:spcPct val="90000"/>
              </a:lnSpc>
              <a:buFont typeface="Wingdings" pitchFamily="2" charset="2"/>
              <a:buNone/>
            </a:pPr>
            <a:endParaRPr lang="en-GB" altLang="en-US" sz="1800" i="1" dirty="0" smtClean="0"/>
          </a:p>
          <a:p>
            <a:pPr eaLnBrk="1" hangingPunct="1">
              <a:lnSpc>
                <a:spcPct val="90000"/>
              </a:lnSpc>
              <a:buFont typeface="Wingdings" pitchFamily="2" charset="2"/>
              <a:buChar char="q"/>
            </a:pPr>
            <a:endParaRPr lang="en-GB" altLang="en-US" dirty="0" smtClean="0"/>
          </a:p>
        </p:txBody>
      </p:sp>
      <p:sp>
        <p:nvSpPr>
          <p:cNvPr id="6146"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smtClean="0">
                <a:solidFill>
                  <a:schemeClr val="bg1"/>
                </a:solidFill>
                <a:latin typeface="Arial" charset="0"/>
              </a:rPr>
              <a:t>The Learning Hierarchy</a:t>
            </a:r>
          </a:p>
        </p:txBody>
      </p:sp>
    </p:spTree>
    <p:extLst>
      <p:ext uri="{BB962C8B-B14F-4D97-AF65-F5344CB8AC3E}">
        <p14:creationId xmlns:p14="http://schemas.microsoft.com/office/powerpoint/2010/main" val="13606319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404813"/>
            <a:ext cx="7772400" cy="874712"/>
          </a:xfrm>
        </p:spPr>
        <p:txBody>
          <a:bodyPr/>
          <a:lstStyle/>
          <a:p>
            <a:pPr algn="ctr" eaLnBrk="1" fontAlgn="auto" hangingPunct="1">
              <a:spcAft>
                <a:spcPts val="0"/>
              </a:spcAft>
              <a:defRPr/>
            </a:pPr>
            <a:r>
              <a:rPr lang="en-GB" altLang="en-US" sz="4000" u="sng" dirty="0" smtClean="0">
                <a:solidFill>
                  <a:schemeClr val="bg1"/>
                </a:solidFill>
              </a:rPr>
              <a:t>Activity</a:t>
            </a:r>
          </a:p>
        </p:txBody>
      </p:sp>
      <p:sp>
        <p:nvSpPr>
          <p:cNvPr id="134147" name="Rectangle 3"/>
          <p:cNvSpPr>
            <a:spLocks noGrp="1" noChangeArrowheads="1"/>
          </p:cNvSpPr>
          <p:nvPr>
            <p:ph idx="4294967295"/>
          </p:nvPr>
        </p:nvSpPr>
        <p:spPr>
          <a:xfrm>
            <a:off x="0" y="1628775"/>
            <a:ext cx="2952750" cy="1152525"/>
          </a:xfrm>
        </p:spPr>
        <p:txBody>
          <a:bodyPr/>
          <a:lstStyle/>
          <a:p>
            <a:pPr eaLnBrk="1" hangingPunct="1">
              <a:buFontTx/>
              <a:buNone/>
            </a:pPr>
            <a:r>
              <a:rPr lang="en-GB" altLang="en-US" sz="3600" smtClean="0">
                <a:solidFill>
                  <a:srgbClr val="FF0000"/>
                </a:solidFill>
              </a:rPr>
              <a:t>Acquisition</a:t>
            </a:r>
          </a:p>
        </p:txBody>
      </p:sp>
      <p:sp>
        <p:nvSpPr>
          <p:cNvPr id="134148" name="Rectangle 4"/>
          <p:cNvSpPr>
            <a:spLocks noChangeArrowheads="1"/>
          </p:cNvSpPr>
          <p:nvPr/>
        </p:nvSpPr>
        <p:spPr bwMode="auto">
          <a:xfrm>
            <a:off x="1908175" y="3141663"/>
            <a:ext cx="360045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2"/>
                </a:solidFill>
                <a:latin typeface="Arial" pitchFamily="34" charset="0"/>
              </a:rPr>
              <a:t>Generalisation</a:t>
            </a:r>
          </a:p>
        </p:txBody>
      </p:sp>
      <p:sp>
        <p:nvSpPr>
          <p:cNvPr id="134149" name="Rectangle 5"/>
          <p:cNvSpPr>
            <a:spLocks noChangeArrowheads="1"/>
          </p:cNvSpPr>
          <p:nvPr/>
        </p:nvSpPr>
        <p:spPr bwMode="auto">
          <a:xfrm>
            <a:off x="5651500" y="3860800"/>
            <a:ext cx="31432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800080"/>
                </a:solidFill>
                <a:latin typeface="Arial" pitchFamily="34" charset="0"/>
              </a:rPr>
              <a:t>Adaptation</a:t>
            </a:r>
          </a:p>
        </p:txBody>
      </p:sp>
      <p:sp>
        <p:nvSpPr>
          <p:cNvPr id="134150" name="Rectangle 6"/>
          <p:cNvSpPr>
            <a:spLocks noChangeArrowheads="1"/>
          </p:cNvSpPr>
          <p:nvPr/>
        </p:nvSpPr>
        <p:spPr bwMode="auto">
          <a:xfrm>
            <a:off x="5148263" y="1844675"/>
            <a:ext cx="3384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1"/>
                </a:solidFill>
                <a:latin typeface="Arial" pitchFamily="34" charset="0"/>
              </a:rPr>
              <a:t>Maintenance</a:t>
            </a:r>
          </a:p>
        </p:txBody>
      </p:sp>
      <p:sp>
        <p:nvSpPr>
          <p:cNvPr id="134151" name="Rectangle 7"/>
          <p:cNvSpPr>
            <a:spLocks noChangeArrowheads="1"/>
          </p:cNvSpPr>
          <p:nvPr/>
        </p:nvSpPr>
        <p:spPr bwMode="auto">
          <a:xfrm>
            <a:off x="971550" y="4581525"/>
            <a:ext cx="25669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FF6600"/>
                </a:solidFill>
                <a:latin typeface="Arial" pitchFamily="34" charset="0"/>
              </a:rPr>
              <a:t>Fluency</a:t>
            </a:r>
          </a:p>
        </p:txBody>
      </p:sp>
    </p:spTree>
    <p:extLst>
      <p:ext uri="{BB962C8B-B14F-4D97-AF65-F5344CB8AC3E}">
        <p14:creationId xmlns:p14="http://schemas.microsoft.com/office/powerpoint/2010/main" val="5428506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fade">
                                      <p:cBhvr>
                                        <p:cTn id="7" dur="1000"/>
                                        <p:tgtEl>
                                          <p:spTgt spid="134147">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4150"/>
                                        </p:tgtEl>
                                        <p:attrNameLst>
                                          <p:attrName>style.visibility</p:attrName>
                                        </p:attrNameLst>
                                      </p:cBhvr>
                                      <p:to>
                                        <p:strVal val="visible"/>
                                      </p:to>
                                    </p:set>
                                    <p:animEffect transition="in" filter="fade">
                                      <p:cBhvr>
                                        <p:cTn id="11" dur="1000"/>
                                        <p:tgtEl>
                                          <p:spTgt spid="134150"/>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34151"/>
                                        </p:tgtEl>
                                        <p:attrNameLst>
                                          <p:attrName>style.visibility</p:attrName>
                                        </p:attrNameLst>
                                      </p:cBhvr>
                                      <p:to>
                                        <p:strVal val="visible"/>
                                      </p:to>
                                    </p:set>
                                    <p:animEffect transition="in" filter="fade">
                                      <p:cBhvr>
                                        <p:cTn id="15" dur="1000"/>
                                        <p:tgtEl>
                                          <p:spTgt spid="134151"/>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34149"/>
                                        </p:tgtEl>
                                        <p:attrNameLst>
                                          <p:attrName>style.visibility</p:attrName>
                                        </p:attrNameLst>
                                      </p:cBhvr>
                                      <p:to>
                                        <p:strVal val="visible"/>
                                      </p:to>
                                    </p:set>
                                    <p:animEffect transition="in" filter="fade">
                                      <p:cBhvr>
                                        <p:cTn id="19" dur="1000"/>
                                        <p:tgtEl>
                                          <p:spTgt spid="134149"/>
                                        </p:tgtEl>
                                      </p:cBhvr>
                                    </p:animEffect>
                                  </p:childTnLst>
                                </p:cTn>
                              </p:par>
                            </p:childTnLst>
                          </p:cTn>
                        </p:par>
                        <p:par>
                          <p:cTn id="20" fill="hold" nodeType="after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34148"/>
                                        </p:tgtEl>
                                        <p:attrNameLst>
                                          <p:attrName>style.visibility</p:attrName>
                                        </p:attrNameLst>
                                      </p:cBhvr>
                                      <p:to>
                                        <p:strVal val="visible"/>
                                      </p:to>
                                    </p:set>
                                    <p:animEffect transition="in" filter="fade">
                                      <p:cBhvr>
                                        <p:cTn id="23" dur="10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48" grpId="0"/>
      <p:bldP spid="134149" grpId="0"/>
      <p:bldP spid="134150" grpId="0"/>
      <p:bldP spid="1341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203" y="882000"/>
            <a:ext cx="8555276" cy="4524315"/>
          </a:xfrm>
          <a:prstGeom prst="rect">
            <a:avLst/>
          </a:prstGeom>
        </p:spPr>
        <p:txBody>
          <a:bodyPr wrap="square">
            <a:spAutoFit/>
          </a:bodyPr>
          <a:lstStyle/>
          <a:p>
            <a:pPr lvl="0"/>
            <a:r>
              <a:rPr lang="en-GB" sz="1600" b="1" u="sng" dirty="0">
                <a:solidFill>
                  <a:schemeClr val="bg1"/>
                </a:solidFill>
              </a:rPr>
              <a:t>Acquisition</a:t>
            </a:r>
            <a:r>
              <a:rPr lang="en-GB" sz="1600" dirty="0">
                <a:solidFill>
                  <a:schemeClr val="bg1"/>
                </a:solidFill>
              </a:rPr>
              <a:t> – you are learning to drive and need to think carefully when changing gears, indicating </a:t>
            </a:r>
            <a:r>
              <a:rPr lang="en-GB" sz="1600" dirty="0" err="1">
                <a:solidFill>
                  <a:schemeClr val="bg1"/>
                </a:solidFill>
              </a:rPr>
              <a:t>etc</a:t>
            </a:r>
            <a:r>
              <a:rPr lang="en-GB" sz="1600" dirty="0">
                <a:solidFill>
                  <a:schemeClr val="bg1"/>
                </a:solidFill>
              </a:rPr>
              <a:t> - Just beginning to learn the skill, some degree of accuracy but performance not yet reliable – by the end of this phase performance is basically accurate but not fluid, </a:t>
            </a:r>
            <a:r>
              <a:rPr lang="en-GB" sz="1600" dirty="0" smtClean="0">
                <a:solidFill>
                  <a:schemeClr val="bg1"/>
                </a:solidFill>
              </a:rPr>
              <a:t>automated</a:t>
            </a:r>
          </a:p>
          <a:p>
            <a:pPr lvl="0"/>
            <a:endParaRPr lang="en-GB" sz="1600" dirty="0">
              <a:solidFill>
                <a:schemeClr val="bg1"/>
              </a:solidFill>
            </a:endParaRPr>
          </a:p>
          <a:p>
            <a:pPr lvl="0"/>
            <a:r>
              <a:rPr lang="en-GB" sz="1600" b="1" u="sng" dirty="0">
                <a:solidFill>
                  <a:schemeClr val="bg1"/>
                </a:solidFill>
              </a:rPr>
              <a:t>Fluency</a:t>
            </a:r>
            <a:r>
              <a:rPr lang="en-GB" sz="1600" b="1" dirty="0">
                <a:solidFill>
                  <a:schemeClr val="bg1"/>
                </a:solidFill>
              </a:rPr>
              <a:t> </a:t>
            </a:r>
            <a:r>
              <a:rPr lang="en-GB" sz="1600" dirty="0">
                <a:solidFill>
                  <a:schemeClr val="bg1"/>
                </a:solidFill>
              </a:rPr>
              <a:t>– you can change gears without thinking and can now focus on the road - Can perform the skill quickly and accurately – this phase brings speed of performance into the equation – skill becoming automated, ‘second nature</a:t>
            </a:r>
            <a:r>
              <a:rPr lang="en-GB" sz="1600" dirty="0" smtClean="0">
                <a:solidFill>
                  <a:schemeClr val="bg1"/>
                </a:solidFill>
              </a:rPr>
              <a:t>’</a:t>
            </a:r>
          </a:p>
          <a:p>
            <a:pPr lvl="0"/>
            <a:endParaRPr lang="en-GB" sz="1600" dirty="0">
              <a:solidFill>
                <a:schemeClr val="bg1"/>
              </a:solidFill>
            </a:endParaRPr>
          </a:p>
          <a:p>
            <a:pPr lvl="0"/>
            <a:r>
              <a:rPr lang="en-GB" sz="1600" b="1" u="sng" dirty="0">
                <a:solidFill>
                  <a:schemeClr val="bg1"/>
                </a:solidFill>
              </a:rPr>
              <a:t>Maintenance</a:t>
            </a:r>
            <a:r>
              <a:rPr lang="en-GB" sz="1600" dirty="0">
                <a:solidFill>
                  <a:schemeClr val="bg1"/>
                </a:solidFill>
              </a:rPr>
              <a:t> – 6 months after, when you came back from a long holiday, you can still drive - Due to regular reinforcements, can perform the skill over a lengthy period of time – fluent performance is sustained over time – often referred to as ‘mastery’ </a:t>
            </a:r>
            <a:r>
              <a:rPr lang="en-GB" sz="1600" dirty="0" smtClean="0">
                <a:solidFill>
                  <a:schemeClr val="bg1"/>
                </a:solidFill>
              </a:rPr>
              <a:t>stage</a:t>
            </a:r>
          </a:p>
          <a:p>
            <a:pPr lvl="0"/>
            <a:endParaRPr lang="en-GB" sz="1600" dirty="0">
              <a:solidFill>
                <a:schemeClr val="bg1"/>
              </a:solidFill>
            </a:endParaRPr>
          </a:p>
          <a:p>
            <a:pPr lvl="0"/>
            <a:r>
              <a:rPr lang="en-GB" sz="1600" b="1" u="sng" dirty="0">
                <a:solidFill>
                  <a:schemeClr val="bg1"/>
                </a:solidFill>
              </a:rPr>
              <a:t>Generalisation</a:t>
            </a:r>
            <a:r>
              <a:rPr lang="en-GB" sz="1600" dirty="0">
                <a:solidFill>
                  <a:schemeClr val="bg1"/>
                </a:solidFill>
              </a:rPr>
              <a:t> – Your friend ask you to drive their car and you are able to do so with some support and instruction - Can generalise the skill to different contexts/new situations, can transfer learning across </a:t>
            </a:r>
            <a:r>
              <a:rPr lang="en-GB" sz="1600" dirty="0" smtClean="0">
                <a:solidFill>
                  <a:schemeClr val="bg1"/>
                </a:solidFill>
              </a:rPr>
              <a:t>settings</a:t>
            </a:r>
          </a:p>
          <a:p>
            <a:pPr lvl="0"/>
            <a:endParaRPr lang="en-GB" sz="1600" dirty="0">
              <a:solidFill>
                <a:schemeClr val="bg1"/>
              </a:solidFill>
            </a:endParaRPr>
          </a:p>
          <a:p>
            <a:pPr lvl="0"/>
            <a:r>
              <a:rPr lang="en-GB" sz="1600" b="1" u="sng" dirty="0">
                <a:solidFill>
                  <a:schemeClr val="bg1"/>
                </a:solidFill>
              </a:rPr>
              <a:t>Adaptation</a:t>
            </a:r>
            <a:r>
              <a:rPr lang="en-GB" sz="1600" dirty="0">
                <a:solidFill>
                  <a:schemeClr val="bg1"/>
                </a:solidFill>
              </a:rPr>
              <a:t> – Driving a different car is not a problem anymore - </a:t>
            </a:r>
            <a:r>
              <a:rPr lang="en-GB" sz="1600" dirty="0" smtClean="0">
                <a:solidFill>
                  <a:schemeClr val="bg1"/>
                </a:solidFill>
              </a:rPr>
              <a:t>Can </a:t>
            </a:r>
            <a:r>
              <a:rPr lang="en-GB" sz="1600" dirty="0">
                <a:solidFill>
                  <a:schemeClr val="bg1"/>
                </a:solidFill>
              </a:rPr>
              <a:t>adapt the skill appropriately to learn new skills </a:t>
            </a:r>
            <a:r>
              <a:rPr lang="en-GB" sz="1600" i="1" dirty="0">
                <a:solidFill>
                  <a:schemeClr val="bg1"/>
                </a:solidFill>
              </a:rPr>
              <a:t>NB. Overlap between generalisation &amp; adaptation stages</a:t>
            </a:r>
            <a:endParaRPr lang="en-GB" sz="1600" dirty="0">
              <a:solidFill>
                <a:schemeClr val="bg1"/>
              </a:solidFill>
            </a:endParaRPr>
          </a:p>
        </p:txBody>
      </p:sp>
    </p:spTree>
    <p:extLst>
      <p:ext uri="{BB962C8B-B14F-4D97-AF65-F5344CB8AC3E}">
        <p14:creationId xmlns:p14="http://schemas.microsoft.com/office/powerpoint/2010/main" val="7645726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solidFill>
                  <a:schemeClr val="bg1"/>
                </a:solidFill>
                <a:latin typeface="Arial" pitchFamily="34" charset="0"/>
              </a:rPr>
              <a:t>‘Hierarchy of Learning’</a:t>
            </a:r>
            <a:r>
              <a:rPr lang="en-GB" altLang="en-US" sz="2800" b="1" dirty="0">
                <a:solidFill>
                  <a:schemeClr val="bg1"/>
                </a:solidFill>
                <a:latin typeface="Arial" pitchFamily="34" charset="0"/>
              </a:rPr>
              <a:t> </a:t>
            </a:r>
          </a:p>
          <a:p>
            <a:pPr algn="ctr" eaLnBrk="1" hangingPunct="1"/>
            <a:r>
              <a:rPr lang="en-GB" altLang="en-US" sz="2000" dirty="0">
                <a:solidFill>
                  <a:schemeClr val="bg1"/>
                </a:solidFill>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Acquisition</a:t>
            </a:r>
          </a:p>
          <a:p>
            <a:pPr eaLnBrk="1" hangingPunct="1">
              <a:lnSpc>
                <a:spcPct val="90000"/>
              </a:lnSpc>
              <a:buClr>
                <a:srgbClr val="73801F"/>
              </a:buClr>
              <a:buFont typeface="Wingdings" pitchFamily="2" charset="2"/>
              <a:buNone/>
            </a:pPr>
            <a:endParaRPr lang="en-GB" altLang="en-US" sz="1400" b="1"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4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Fluency</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Maintenance</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dirty="0">
                <a:solidFill>
                  <a:schemeClr val="bg1"/>
                </a:solidFill>
                <a:latin typeface="Arial" pitchFamily="34" charset="0"/>
              </a:rPr>
              <a:t>Generalisation</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dirty="0">
                <a:solidFill>
                  <a:schemeClr val="bg1"/>
                </a:solidFill>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solidFill>
                  <a:schemeClr val="bg1"/>
                </a:solidFill>
                <a:latin typeface="Arial" pitchFamily="34" charset="0"/>
              </a:rPr>
              <a:t>Pupil performs skill with accuracy.</a:t>
            </a:r>
          </a:p>
          <a:p>
            <a:pPr eaLnBrk="1" hangingPunct="1">
              <a:spcBef>
                <a:spcPct val="50000"/>
              </a:spcBef>
            </a:pPr>
            <a:endParaRPr lang="en-GB" altLang="en-US" sz="1800" b="1"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Pupil performs skill with accuracy and fluency.</a:t>
            </a:r>
            <a:endParaRPr lang="en-GB" altLang="en-US" sz="1800"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Proficiency level reached, demonstrating maintenance in terms of accuracy and fluency.</a:t>
            </a:r>
          </a:p>
          <a:p>
            <a:pPr eaLnBrk="1" hangingPunct="1">
              <a:spcBef>
                <a:spcPct val="50000"/>
              </a:spcBef>
            </a:pPr>
            <a:r>
              <a:rPr lang="en-GB" altLang="en-US" sz="1800" dirty="0">
                <a:solidFill>
                  <a:schemeClr val="bg1"/>
                </a:solidFill>
                <a:latin typeface="Arial" pitchFamily="34" charset="0"/>
              </a:rPr>
              <a:t>With support and instruction pupil can apply skill in new and different contexts.</a:t>
            </a:r>
          </a:p>
          <a:p>
            <a:pPr eaLnBrk="1" hangingPunct="1">
              <a:spcBef>
                <a:spcPct val="50000"/>
              </a:spcBef>
            </a:pPr>
            <a:endParaRPr lang="en-GB" altLang="en-US" sz="1000" dirty="0">
              <a:solidFill>
                <a:schemeClr val="bg1"/>
              </a:solidFill>
              <a:latin typeface="Arial" pitchFamily="34" charset="0"/>
            </a:endParaRPr>
          </a:p>
          <a:p>
            <a:pPr eaLnBrk="1" hangingPunct="1">
              <a:spcBef>
                <a:spcPct val="50000"/>
              </a:spcBef>
            </a:pPr>
            <a:r>
              <a:rPr lang="en-GB" altLang="en-US" sz="1800" dirty="0">
                <a:solidFill>
                  <a:schemeClr val="bg1"/>
                </a:solidFill>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41545276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smtClean="0">
                <a:solidFill>
                  <a:schemeClr val="bg1"/>
                </a:solidFill>
              </a:rPr>
              <a:t>How do you do Precision Teaching?</a:t>
            </a:r>
          </a:p>
        </p:txBody>
      </p:sp>
      <p:sp>
        <p:nvSpPr>
          <p:cNvPr id="8195" name="Rectangle 3"/>
          <p:cNvSpPr>
            <a:spLocks noGrp="1" noChangeArrowheads="1"/>
          </p:cNvSpPr>
          <p:nvPr>
            <p:ph idx="4294967295"/>
          </p:nvPr>
        </p:nvSpPr>
        <p:spPr>
          <a:xfrm>
            <a:off x="0" y="1698625"/>
            <a:ext cx="8353425" cy="4467225"/>
          </a:xfrm>
        </p:spPr>
        <p:txBody>
          <a:bodyPr>
            <a:normAutofit/>
          </a:bodyPr>
          <a:lstStyle/>
          <a:p>
            <a:pPr marL="609600" indent="-609600" eaLnBrk="1" hangingPunct="1">
              <a:lnSpc>
                <a:spcPct val="80000"/>
              </a:lnSpc>
              <a:buFontTx/>
              <a:buAutoNum type="arabicPeriod"/>
            </a:pPr>
            <a:r>
              <a:rPr lang="en-GB" altLang="en-US" sz="2000" dirty="0" smtClean="0">
                <a:solidFill>
                  <a:schemeClr val="bg1"/>
                </a:solidFill>
              </a:rPr>
              <a:t>Identify a specific difficulty and acquire a baseline.</a:t>
            </a:r>
          </a:p>
          <a:p>
            <a:pPr marL="609600" indent="-609600" eaLnBrk="1" hangingPunct="1">
              <a:lnSpc>
                <a:spcPct val="80000"/>
              </a:lnSpc>
              <a:buFontTx/>
              <a:buNone/>
            </a:pPr>
            <a:endParaRPr lang="en-GB" altLang="en-US" sz="2000" dirty="0" smtClean="0">
              <a:solidFill>
                <a:schemeClr val="bg1"/>
              </a:solidFill>
            </a:endParaRPr>
          </a:p>
          <a:p>
            <a:pPr marL="609600" indent="-609600" eaLnBrk="1" hangingPunct="1">
              <a:lnSpc>
                <a:spcPct val="80000"/>
              </a:lnSpc>
              <a:buFontTx/>
              <a:buAutoNum type="arabicPeriod" startAt="2"/>
            </a:pPr>
            <a:r>
              <a:rPr lang="en-GB" altLang="en-US" sz="2000" dirty="0" smtClean="0">
                <a:solidFill>
                  <a:schemeClr val="bg1"/>
                </a:solidFill>
              </a:rPr>
              <a:t>Set a target.</a:t>
            </a:r>
          </a:p>
          <a:p>
            <a:pPr marL="609600" indent="-609600" eaLnBrk="1" hangingPunct="1">
              <a:lnSpc>
                <a:spcPct val="80000"/>
              </a:lnSpc>
              <a:buFontTx/>
              <a:buNone/>
            </a:pPr>
            <a:endParaRPr lang="en-GB" altLang="en-US" sz="2000" dirty="0" smtClean="0">
              <a:solidFill>
                <a:schemeClr val="bg1"/>
              </a:solidFill>
            </a:endParaRPr>
          </a:p>
          <a:p>
            <a:pPr marL="609600" indent="-609600" eaLnBrk="1" hangingPunct="1">
              <a:lnSpc>
                <a:spcPct val="80000"/>
              </a:lnSpc>
              <a:buFontTx/>
              <a:buAutoNum type="arabicPeriod" startAt="3"/>
            </a:pPr>
            <a:r>
              <a:rPr lang="en-GB" altLang="en-US" sz="2000" dirty="0" smtClean="0">
                <a:solidFill>
                  <a:schemeClr val="bg1"/>
                </a:solidFill>
              </a:rPr>
              <a:t>Teaching sessions: short, frequent and target specific.</a:t>
            </a:r>
          </a:p>
          <a:p>
            <a:pPr marL="609600" indent="-609600" eaLnBrk="1" hangingPunct="1">
              <a:lnSpc>
                <a:spcPct val="80000"/>
              </a:lnSpc>
              <a:buFontTx/>
              <a:buAutoNum type="arabicPeriod" startAt="3"/>
            </a:pPr>
            <a:endParaRPr lang="en-GB" altLang="en-US" sz="2000" dirty="0" smtClean="0">
              <a:solidFill>
                <a:schemeClr val="bg1"/>
              </a:solidFill>
            </a:endParaRPr>
          </a:p>
          <a:p>
            <a:pPr marL="609600" indent="-609600" eaLnBrk="1" hangingPunct="1">
              <a:lnSpc>
                <a:spcPct val="80000"/>
              </a:lnSpc>
              <a:buFontTx/>
              <a:buAutoNum type="arabicPeriod" startAt="3"/>
            </a:pPr>
            <a:r>
              <a:rPr lang="en-GB" altLang="en-US" sz="2000" dirty="0" smtClean="0">
                <a:solidFill>
                  <a:schemeClr val="bg1"/>
                </a:solidFill>
              </a:rPr>
              <a:t>Monitor child’s daily performance using a probe.</a:t>
            </a:r>
          </a:p>
          <a:p>
            <a:pPr marL="609600" indent="-609600" eaLnBrk="1" hangingPunct="1">
              <a:lnSpc>
                <a:spcPct val="80000"/>
              </a:lnSpc>
              <a:buFontTx/>
              <a:buAutoNum type="arabicPeriod" startAt="3"/>
            </a:pPr>
            <a:endParaRPr lang="en-GB" altLang="en-US" sz="2000" dirty="0" smtClean="0">
              <a:solidFill>
                <a:schemeClr val="bg1"/>
              </a:solidFill>
            </a:endParaRPr>
          </a:p>
          <a:p>
            <a:pPr marL="609600" indent="-609600" eaLnBrk="1" hangingPunct="1">
              <a:lnSpc>
                <a:spcPct val="80000"/>
              </a:lnSpc>
              <a:buFontTx/>
              <a:buAutoNum type="arabicPeriod" startAt="5"/>
            </a:pPr>
            <a:r>
              <a:rPr lang="en-GB" altLang="en-US" sz="2000" dirty="0" smtClean="0">
                <a:solidFill>
                  <a:schemeClr val="bg1"/>
                </a:solidFill>
              </a:rPr>
              <a:t>Chart results and make note of teaching methods.</a:t>
            </a:r>
          </a:p>
          <a:p>
            <a:pPr marL="0" indent="0" eaLnBrk="1" hangingPunct="1">
              <a:lnSpc>
                <a:spcPct val="80000"/>
              </a:lnSpc>
              <a:buNone/>
            </a:pPr>
            <a:endParaRPr lang="en-GB" altLang="en-US" sz="2000" dirty="0" smtClean="0">
              <a:solidFill>
                <a:schemeClr val="bg1"/>
              </a:solidFill>
            </a:endParaRPr>
          </a:p>
          <a:p>
            <a:pPr marL="609600" indent="-609600" eaLnBrk="1" hangingPunct="1">
              <a:lnSpc>
                <a:spcPct val="80000"/>
              </a:lnSpc>
              <a:buFontTx/>
              <a:buAutoNum type="arabicPeriod" startAt="6"/>
            </a:pPr>
            <a:r>
              <a:rPr lang="en-GB" altLang="en-US" sz="2000" dirty="0" smtClean="0">
                <a:solidFill>
                  <a:schemeClr val="bg1"/>
                </a:solidFill>
              </a:rPr>
              <a:t>Analyse the data to determine if a change of target is needed or change in teaching method.</a:t>
            </a:r>
          </a:p>
        </p:txBody>
      </p:sp>
    </p:spTree>
    <p:extLst>
      <p:ext uri="{BB962C8B-B14F-4D97-AF65-F5344CB8AC3E}">
        <p14:creationId xmlns:p14="http://schemas.microsoft.com/office/powerpoint/2010/main" val="25548297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1268413"/>
            <a:ext cx="7086600" cy="1554162"/>
          </a:xfrm>
        </p:spPr>
        <p:txBody>
          <a:bodyPr/>
          <a:lstStyle/>
          <a:p>
            <a:pPr algn="ctr"/>
            <a:r>
              <a:rPr lang="en-GB" altLang="en-US" sz="3600" u="sng" dirty="0" smtClean="0">
                <a:solidFill>
                  <a:schemeClr val="bg1"/>
                </a:solidFill>
              </a:rPr>
              <a:t>Before you start Precision Teaching</a:t>
            </a:r>
            <a:r>
              <a:rPr lang="en-GB" altLang="en-US" sz="3600" dirty="0" smtClean="0">
                <a:solidFill>
                  <a:schemeClr val="bg1"/>
                </a:solidFill>
              </a:rPr>
              <a:t> </a:t>
            </a:r>
          </a:p>
        </p:txBody>
      </p:sp>
      <p:sp>
        <p:nvSpPr>
          <p:cNvPr id="13315" name="Rectangle 3"/>
          <p:cNvSpPr>
            <a:spLocks noGrp="1" noChangeArrowheads="1"/>
          </p:cNvSpPr>
          <p:nvPr>
            <p:ph type="body" idx="4294967295"/>
          </p:nvPr>
        </p:nvSpPr>
        <p:spPr>
          <a:xfrm>
            <a:off x="0" y="3068638"/>
            <a:ext cx="5257800" cy="2520950"/>
          </a:xfrm>
        </p:spPr>
        <p:txBody>
          <a:bodyPr/>
          <a:lstStyle/>
          <a:p>
            <a:pPr>
              <a:buFont typeface="Wingdings" panose="05000000000000000000" pitchFamily="2" charset="2"/>
              <a:buChar char="q"/>
            </a:pPr>
            <a:r>
              <a:rPr lang="en-GB" altLang="en-US" sz="2800" dirty="0" smtClean="0">
                <a:solidFill>
                  <a:schemeClr val="bg1"/>
                </a:solidFill>
              </a:rPr>
              <a:t>Consistency is key!</a:t>
            </a:r>
          </a:p>
          <a:p>
            <a:pPr lvl="1">
              <a:buFont typeface="Wingdings" panose="05000000000000000000" pitchFamily="2" charset="2"/>
              <a:buChar char="ü"/>
            </a:pPr>
            <a:r>
              <a:rPr lang="en-GB" altLang="en-US" sz="2800" dirty="0" smtClean="0">
                <a:solidFill>
                  <a:schemeClr val="bg1"/>
                </a:solidFill>
              </a:rPr>
              <a:t>When?</a:t>
            </a:r>
          </a:p>
          <a:p>
            <a:pPr lvl="1">
              <a:buFont typeface="Wingdings" panose="05000000000000000000" pitchFamily="2" charset="2"/>
              <a:buChar char="ü"/>
            </a:pPr>
            <a:r>
              <a:rPr lang="en-GB" altLang="en-US" sz="2800" dirty="0" smtClean="0">
                <a:solidFill>
                  <a:schemeClr val="bg1"/>
                </a:solidFill>
              </a:rPr>
              <a:t>Where?</a:t>
            </a:r>
          </a:p>
        </p:txBody>
      </p:sp>
    </p:spTree>
    <p:extLst>
      <p:ext uri="{BB962C8B-B14F-4D97-AF65-F5344CB8AC3E}">
        <p14:creationId xmlns:p14="http://schemas.microsoft.com/office/powerpoint/2010/main" val="3502049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idx="4294967295"/>
          </p:nvPr>
        </p:nvSpPr>
        <p:spPr>
          <a:xfrm>
            <a:off x="396738" y="476250"/>
            <a:ext cx="7848600" cy="1563688"/>
          </a:xfrm>
        </p:spPr>
        <p:txBody>
          <a:bodyPr rIns="31750" anchor="b"/>
          <a:lstStyle/>
          <a:p>
            <a:pPr indent="0" algn="ctr" eaLnBrk="1" hangingPunct="1"/>
            <a:r>
              <a:rPr lang="en-US" altLang="en-US" sz="3200" u="sng" dirty="0" smtClean="0">
                <a:solidFill>
                  <a:schemeClr val="bg1"/>
                </a:solidFill>
              </a:rPr>
              <a:t>‘Task Analysis’ – where are they now? </a:t>
            </a:r>
          </a:p>
        </p:txBody>
      </p:sp>
      <p:sp>
        <p:nvSpPr>
          <p:cNvPr id="14339" name="Rectangle 2"/>
          <p:cNvSpPr>
            <a:spLocks noGrp="1" noChangeArrowheads="1"/>
          </p:cNvSpPr>
          <p:nvPr>
            <p:ph type="body" idx="4294967295"/>
          </p:nvPr>
        </p:nvSpPr>
        <p:spPr>
          <a:xfrm>
            <a:off x="0"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Select a problem area, e.g. sight words, letter sounds</a:t>
            </a:r>
          </a:p>
          <a:p>
            <a:pPr marL="39688" indent="0" eaLnBrk="1" hangingPunct="1">
              <a:lnSpc>
                <a:spcPct val="80000"/>
              </a:lnSpc>
              <a:buSzPct val="99000"/>
              <a:buNone/>
            </a:pPr>
            <a:endParaRPr lang="en-US" altLang="en-US" sz="2800" dirty="0" smtClean="0">
              <a:solidFill>
                <a:schemeClr val="bg1"/>
              </a:solidFill>
            </a:endParaRPr>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Find out what the child already knows, probably by doing a short test</a:t>
            </a:r>
          </a:p>
        </p:txBody>
      </p:sp>
    </p:spTree>
    <p:extLst>
      <p:ext uri="{BB962C8B-B14F-4D97-AF65-F5344CB8AC3E}">
        <p14:creationId xmlns:p14="http://schemas.microsoft.com/office/powerpoint/2010/main" val="3981500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646113" y="115888"/>
            <a:ext cx="8497887" cy="1296987"/>
          </a:xfrm>
        </p:spPr>
        <p:txBody>
          <a:bodyPr/>
          <a:lstStyle/>
          <a:p>
            <a:pPr algn="ctr" eaLnBrk="1" hangingPunct="1"/>
            <a:r>
              <a:rPr lang="en-GB" altLang="en-US" sz="3200" dirty="0" smtClean="0">
                <a:solidFill>
                  <a:schemeClr val="bg1"/>
                </a:solidFill>
                <a:latin typeface="Arial" charset="0"/>
              </a:rPr>
              <a:t>Initial Assessment – using ‘Letters and Sounds’</a:t>
            </a:r>
          </a:p>
        </p:txBody>
      </p:sp>
      <p:sp>
        <p:nvSpPr>
          <p:cNvPr id="13315" name="Rectangle 4"/>
          <p:cNvSpPr>
            <a:spLocks noGrp="1" noChangeArrowheads="1"/>
          </p:cNvSpPr>
          <p:nvPr>
            <p:ph type="body" sz="half" idx="4294967295"/>
          </p:nvPr>
        </p:nvSpPr>
        <p:spPr>
          <a:xfrm>
            <a:off x="0" y="1922463"/>
            <a:ext cx="3810000" cy="4530725"/>
          </a:xfrm>
        </p:spPr>
        <p:txBody>
          <a:bodyPr/>
          <a:lstStyle/>
          <a:p>
            <a:pPr eaLnBrk="1" hangingPunct="1"/>
            <a:r>
              <a:rPr lang="en-GB" altLang="en-US" sz="2400" dirty="0" smtClean="0">
                <a:solidFill>
                  <a:schemeClr val="bg1"/>
                </a:solidFill>
              </a:rPr>
              <a:t>Can be used with any age group but aims to start (phase 1) with 5 year olds</a:t>
            </a:r>
          </a:p>
          <a:p>
            <a:pPr eaLnBrk="1" hangingPunct="1"/>
            <a:r>
              <a:rPr lang="en-GB" altLang="en-US" sz="2400" dirty="0" smtClean="0">
                <a:solidFill>
                  <a:schemeClr val="bg1"/>
                </a:solidFill>
              </a:rPr>
              <a:t>6 phases - children move from one phase to next at their own pace</a:t>
            </a:r>
          </a:p>
          <a:p>
            <a:pPr eaLnBrk="1" hangingPunct="1"/>
            <a:r>
              <a:rPr lang="en-GB" altLang="en-US" sz="2400" dirty="0">
                <a:solidFill>
                  <a:schemeClr val="bg1"/>
                </a:solidFill>
              </a:rPr>
              <a:t>Most children would complete phase 6 by end of KS1</a:t>
            </a:r>
          </a:p>
          <a:p>
            <a:pPr eaLnBrk="1" hangingPunct="1"/>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4294967295"/>
          </p:nvPr>
        </p:nvSpPr>
        <p:spPr>
          <a:xfrm>
            <a:off x="5334000" y="1922463"/>
            <a:ext cx="3810000" cy="4530725"/>
          </a:xfrm>
        </p:spPr>
        <p:txBody>
          <a:bodyPr/>
          <a:lstStyle/>
          <a:p>
            <a:pPr eaLnBrk="1" hangingPunct="1"/>
            <a:r>
              <a:rPr lang="en-GB" altLang="en-US" sz="2400" dirty="0" smtClean="0">
                <a:solidFill>
                  <a:schemeClr val="bg1"/>
                </a:solidFill>
              </a:rPr>
              <a:t>Most SEN children will continue on programme in KS2</a:t>
            </a:r>
          </a:p>
          <a:p>
            <a:pPr eaLnBrk="1" hangingPunct="1"/>
            <a:r>
              <a:rPr lang="en-GB" altLang="en-US" sz="2400" dirty="0" smtClean="0">
                <a:solidFill>
                  <a:schemeClr val="bg1"/>
                </a:solidFill>
              </a:rPr>
              <a:t>‘Stuck’ children can receive Precision Teaching approach</a:t>
            </a:r>
          </a:p>
        </p:txBody>
      </p:sp>
    </p:spTree>
    <p:extLst>
      <p:ext uri="{BB962C8B-B14F-4D97-AF65-F5344CB8AC3E}">
        <p14:creationId xmlns:p14="http://schemas.microsoft.com/office/powerpoint/2010/main" val="17823595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115888"/>
            <a:ext cx="8280400" cy="865187"/>
          </a:xfrm>
        </p:spPr>
        <p:txBody>
          <a:bodyPr/>
          <a:lstStyle/>
          <a:p>
            <a:pPr algn="ctr" eaLnBrk="1" hangingPunct="1"/>
            <a:r>
              <a:rPr lang="en-GB" altLang="en-US" sz="3200" dirty="0" smtClean="0">
                <a:solidFill>
                  <a:schemeClr val="bg1"/>
                </a:solidFill>
                <a:latin typeface="Arial" charset="0"/>
              </a:rPr>
              <a:t>Probes</a:t>
            </a:r>
          </a:p>
        </p:txBody>
      </p:sp>
      <p:sp>
        <p:nvSpPr>
          <p:cNvPr id="14339" name="Rectangle 3"/>
          <p:cNvSpPr>
            <a:spLocks noGrp="1" noChangeArrowheads="1"/>
          </p:cNvSpPr>
          <p:nvPr>
            <p:ph type="body" idx="4294967295"/>
          </p:nvPr>
        </p:nvSpPr>
        <p:spPr>
          <a:xfrm>
            <a:off x="0" y="916846"/>
            <a:ext cx="7343775" cy="4737100"/>
          </a:xfrm>
        </p:spPr>
        <p:txBody>
          <a:bodyPr/>
          <a:lstStyle/>
          <a:p>
            <a:pPr eaLnBrk="1" hangingPunct="1"/>
            <a:r>
              <a:rPr lang="en-GB" altLang="en-US" dirty="0" smtClean="0">
                <a:solidFill>
                  <a:schemeClr val="bg1"/>
                </a:solidFill>
              </a:rPr>
              <a:t>Probes contain a defined set of items, often letters, words or sums on which the child is tested, usually for one minute.</a:t>
            </a:r>
          </a:p>
          <a:p>
            <a:pPr eaLnBrk="1" hangingPunct="1">
              <a:buFont typeface="Wingdings" pitchFamily="2" charset="2"/>
              <a:buNone/>
            </a:pPr>
            <a:endParaRPr lang="en-GB" altLang="en-US" dirty="0" smtClean="0">
              <a:solidFill>
                <a:schemeClr val="bg1"/>
              </a:solidFill>
            </a:endParaRPr>
          </a:p>
          <a:p>
            <a:pPr eaLnBrk="1" hangingPunct="1"/>
            <a:r>
              <a:rPr lang="en-GB" altLang="en-US" dirty="0" smtClean="0">
                <a:solidFill>
                  <a:schemeClr val="bg1"/>
                </a:solidFill>
              </a:rPr>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27501598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0" y="115888"/>
            <a:ext cx="8280400" cy="649287"/>
          </a:xfrm>
        </p:spPr>
        <p:txBody>
          <a:bodyPr/>
          <a:lstStyle/>
          <a:p>
            <a:pPr algn="ctr" eaLnBrk="1" hangingPunct="1"/>
            <a:r>
              <a:rPr lang="en-GB" altLang="en-US" sz="3200" dirty="0" smtClean="0">
                <a:solidFill>
                  <a:schemeClr val="bg1"/>
                </a:solidFill>
                <a:latin typeface="Arial" charset="0"/>
              </a:rPr>
              <a:t>Letters and Probes</a:t>
            </a:r>
          </a:p>
        </p:txBody>
      </p:sp>
      <p:sp>
        <p:nvSpPr>
          <p:cNvPr id="16387" name="Rectangle 4"/>
          <p:cNvSpPr>
            <a:spLocks noGrp="1" noChangeArrowheads="1"/>
          </p:cNvSpPr>
          <p:nvPr>
            <p:ph type="body" sz="half" idx="4294967295"/>
          </p:nvPr>
        </p:nvSpPr>
        <p:spPr>
          <a:xfrm>
            <a:off x="0" y="1196975"/>
            <a:ext cx="3810000" cy="4530725"/>
          </a:xfrm>
        </p:spPr>
        <p:txBody>
          <a:bodyPr/>
          <a:lstStyle/>
          <a:p>
            <a:pPr marL="0" indent="0" eaLnBrk="1" hangingPunct="1">
              <a:buNone/>
            </a:pPr>
            <a:r>
              <a:rPr lang="en-GB" altLang="en-US" sz="2400" b="1" dirty="0" smtClean="0">
                <a:solidFill>
                  <a:schemeClr val="bg1"/>
                </a:solidFill>
              </a:rPr>
              <a:t>Top Level Probes</a:t>
            </a:r>
          </a:p>
          <a:p>
            <a:pPr eaLnBrk="1" hangingPunct="1">
              <a:buFont typeface="Wingdings" pitchFamily="2" charset="2"/>
              <a:buNone/>
            </a:pPr>
            <a:endParaRPr lang="en-GB" altLang="en-US" sz="2400" dirty="0" smtClean="0">
              <a:solidFill>
                <a:schemeClr val="bg1"/>
              </a:solidFill>
            </a:endParaRPr>
          </a:p>
          <a:p>
            <a:pPr eaLnBrk="1" hangingPunct="1"/>
            <a:r>
              <a:rPr lang="en-GB" altLang="en-US" sz="2400" dirty="0" smtClean="0">
                <a:solidFill>
                  <a:schemeClr val="bg1"/>
                </a:solidFill>
              </a:rPr>
              <a:t>These are wide ranging probes which contain all the items and skills taught in a particular phase</a:t>
            </a:r>
          </a:p>
          <a:p>
            <a:pPr eaLnBrk="1" hangingPunct="1"/>
            <a:r>
              <a:rPr lang="en-GB" altLang="en-US" sz="2400" dirty="0" smtClean="0">
                <a:solidFill>
                  <a:schemeClr val="bg1"/>
                </a:solidFill>
              </a:rPr>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4294967295"/>
          </p:nvPr>
        </p:nvSpPr>
        <p:spPr>
          <a:xfrm>
            <a:off x="5334000" y="1196975"/>
            <a:ext cx="3810000" cy="4530725"/>
          </a:xfrm>
        </p:spPr>
        <p:txBody>
          <a:bodyPr/>
          <a:lstStyle/>
          <a:p>
            <a:pPr marL="0" indent="0" eaLnBrk="1" hangingPunct="1">
              <a:buNone/>
            </a:pPr>
            <a:r>
              <a:rPr lang="en-GB" altLang="en-US" sz="2400" b="1" dirty="0" smtClean="0">
                <a:solidFill>
                  <a:schemeClr val="bg1"/>
                </a:solidFill>
              </a:rPr>
              <a:t>Subset probes</a:t>
            </a:r>
          </a:p>
          <a:p>
            <a:pPr eaLnBrk="1" hangingPunct="1"/>
            <a:endParaRPr lang="en-GB" altLang="en-US" sz="2400" b="1" dirty="0" smtClean="0">
              <a:solidFill>
                <a:schemeClr val="bg1"/>
              </a:solidFill>
            </a:endParaRPr>
          </a:p>
          <a:p>
            <a:pPr eaLnBrk="1" hangingPunct="1"/>
            <a:r>
              <a:rPr lang="en-GB" altLang="en-US" sz="2400" dirty="0" smtClean="0">
                <a:solidFill>
                  <a:schemeClr val="bg1"/>
                </a:solidFill>
              </a:rPr>
              <a:t>These are probes which contain a much narrower subset of skills</a:t>
            </a:r>
          </a:p>
          <a:p>
            <a:pPr eaLnBrk="1" hangingPunct="1"/>
            <a:r>
              <a:rPr lang="en-GB" altLang="en-US" sz="2400" dirty="0" smtClean="0">
                <a:solidFill>
                  <a:schemeClr val="bg1"/>
                </a:solidFill>
              </a:rPr>
              <a:t>Can be used to make teaching decisions for slower learning children</a:t>
            </a:r>
          </a:p>
          <a:p>
            <a:pPr eaLnBrk="1" hangingPunct="1"/>
            <a:r>
              <a:rPr lang="en-GB" altLang="en-US" sz="2400" dirty="0" smtClean="0">
                <a:solidFill>
                  <a:schemeClr val="bg1"/>
                </a:solidFill>
              </a:rPr>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11589030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smtClean="0">
                <a:solidFill>
                  <a:schemeClr val="bg1"/>
                </a:solidFill>
                <a:latin typeface="Arial" charset="0"/>
              </a:rPr>
              <a:t>Initial Assessment</a:t>
            </a:r>
          </a:p>
        </p:txBody>
      </p:sp>
      <p:sp>
        <p:nvSpPr>
          <p:cNvPr id="17411" name="Rectangle 3"/>
          <p:cNvSpPr>
            <a:spLocks noGrp="1" noChangeArrowheads="1"/>
          </p:cNvSpPr>
          <p:nvPr>
            <p:ph type="body" idx="4294967295"/>
          </p:nvPr>
        </p:nvSpPr>
        <p:spPr>
          <a:xfrm>
            <a:off x="0" y="1050257"/>
            <a:ext cx="7272338" cy="4319588"/>
          </a:xfrm>
        </p:spPr>
        <p:txBody>
          <a:bodyPr>
            <a:normAutofit lnSpcReduction="10000"/>
          </a:bodyPr>
          <a:lstStyle/>
          <a:p>
            <a:pPr eaLnBrk="1" hangingPunct="1"/>
            <a:r>
              <a:rPr lang="en-GB" altLang="en-US" dirty="0" smtClean="0">
                <a:solidFill>
                  <a:schemeClr val="bg1"/>
                </a:solidFill>
              </a:rPr>
              <a:t>Use the Phase 2 Top Level Probes included in your pack.</a:t>
            </a:r>
          </a:p>
          <a:p>
            <a:pPr eaLnBrk="1" hangingPunct="1"/>
            <a:r>
              <a:rPr lang="en-GB" altLang="en-US" dirty="0" smtClean="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9403653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472938" y="260350"/>
            <a:ext cx="7772400" cy="1143000"/>
          </a:xfrm>
        </p:spPr>
        <p:txBody>
          <a:bodyPr/>
          <a:lstStyle/>
          <a:p>
            <a:pPr algn="ctr" eaLnBrk="1" hangingPunct="1"/>
            <a:r>
              <a:rPr lang="en-GB" altLang="en-US" sz="3200" dirty="0" smtClean="0">
                <a:solidFill>
                  <a:schemeClr val="bg1"/>
                </a:solidFill>
                <a:latin typeface="Arial" charset="0"/>
              </a:rPr>
              <a:t>Initial Assessment</a:t>
            </a:r>
          </a:p>
        </p:txBody>
      </p:sp>
      <p:sp>
        <p:nvSpPr>
          <p:cNvPr id="18435" name="Rectangle 3"/>
          <p:cNvSpPr>
            <a:spLocks noGrp="1" noChangeArrowheads="1"/>
          </p:cNvSpPr>
          <p:nvPr>
            <p:ph type="body" idx="4294967295"/>
          </p:nvPr>
        </p:nvSpPr>
        <p:spPr>
          <a:xfrm>
            <a:off x="0" y="1628775"/>
            <a:ext cx="7127875" cy="4305300"/>
          </a:xfrm>
        </p:spPr>
        <p:txBody>
          <a:bodyPr>
            <a:normAutofit fontScale="92500" lnSpcReduction="20000"/>
          </a:bodyPr>
          <a:lstStyle/>
          <a:p>
            <a:pPr eaLnBrk="1" hangingPunct="1"/>
            <a:r>
              <a:rPr lang="en-GB" altLang="en-US" dirty="0" smtClean="0">
                <a:solidFill>
                  <a:schemeClr val="bg1"/>
                </a:solidFill>
              </a:rPr>
              <a:t>Tell the child you are going to show him/her a grid of words which you want them to read out loud to you, once you say “start”.</a:t>
            </a:r>
          </a:p>
          <a:p>
            <a:pPr eaLnBrk="1" hangingPunct="1"/>
            <a:r>
              <a:rPr lang="en-GB" altLang="en-US" dirty="0" smtClean="0">
                <a:solidFill>
                  <a:schemeClr val="bg1"/>
                </a:solidFill>
              </a:rPr>
              <a:t>Use a 1 minute </a:t>
            </a:r>
            <a:r>
              <a:rPr lang="en-GB" altLang="en-US" dirty="0" err="1" smtClean="0">
                <a:solidFill>
                  <a:schemeClr val="bg1"/>
                </a:solidFill>
              </a:rPr>
              <a:t>sandtimer</a:t>
            </a:r>
            <a:r>
              <a:rPr lang="en-GB" altLang="en-US" dirty="0" smtClean="0">
                <a:solidFill>
                  <a:schemeClr val="bg1"/>
                </a:solidFill>
              </a:rPr>
              <a:t> or </a:t>
            </a:r>
            <a:r>
              <a:rPr lang="en-GB" altLang="en-US" dirty="0" err="1" smtClean="0">
                <a:solidFill>
                  <a:schemeClr val="bg1"/>
                </a:solidFill>
              </a:rPr>
              <a:t>stopclock</a:t>
            </a:r>
            <a:r>
              <a:rPr lang="en-GB" altLang="en-US" dirty="0" smtClean="0">
                <a:solidFill>
                  <a:schemeClr val="bg1"/>
                </a:solidFill>
              </a:rPr>
              <a:t> counting down from 60 seconds to tell you when the 1 minute probe is up</a:t>
            </a:r>
          </a:p>
          <a:p>
            <a:pPr eaLnBrk="1" hangingPunct="1"/>
            <a:r>
              <a:rPr lang="en-GB" altLang="en-US" dirty="0" smtClean="0">
                <a:solidFill>
                  <a:schemeClr val="bg1"/>
                </a:solidFill>
              </a:rPr>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24555232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19459" name="Rectangle 3"/>
          <p:cNvSpPr>
            <a:spLocks noGrp="1" noChangeArrowheads="1"/>
          </p:cNvSpPr>
          <p:nvPr>
            <p:ph type="body" idx="4294967295"/>
          </p:nvPr>
        </p:nvSpPr>
        <p:spPr>
          <a:xfrm>
            <a:off x="0" y="964144"/>
            <a:ext cx="7272338" cy="4737100"/>
          </a:xfrm>
        </p:spPr>
        <p:txBody>
          <a:bodyPr/>
          <a:lstStyle/>
          <a:p>
            <a:pPr eaLnBrk="1" hangingPunct="1">
              <a:lnSpc>
                <a:spcPct val="90000"/>
              </a:lnSpc>
            </a:pPr>
            <a:r>
              <a:rPr lang="en-GB" altLang="en-US" dirty="0" smtClean="0">
                <a:solidFill>
                  <a:schemeClr val="bg1"/>
                </a:solidFill>
              </a:rPr>
              <a:t>When the </a:t>
            </a:r>
            <a:r>
              <a:rPr lang="en-GB" altLang="en-US" dirty="0" err="1" smtClean="0">
                <a:solidFill>
                  <a:schemeClr val="bg1"/>
                </a:solidFill>
              </a:rPr>
              <a:t>sandtimer</a:t>
            </a:r>
            <a:r>
              <a:rPr lang="en-GB" altLang="en-US" dirty="0" smtClean="0">
                <a:solidFill>
                  <a:schemeClr val="bg1"/>
                </a:solidFill>
              </a:rPr>
              <a:t> finishes/</a:t>
            </a:r>
            <a:r>
              <a:rPr lang="en-GB" altLang="en-US" dirty="0" err="1" smtClean="0">
                <a:solidFill>
                  <a:schemeClr val="bg1"/>
                </a:solidFill>
              </a:rPr>
              <a:t>stopclock</a:t>
            </a:r>
            <a:r>
              <a:rPr lang="en-GB" altLang="en-US" dirty="0" smtClean="0">
                <a:solidFill>
                  <a:schemeClr val="bg1"/>
                </a:solidFill>
              </a:rPr>
              <a:t> beeps, stop the child, thank them, and share how they did.</a:t>
            </a:r>
          </a:p>
          <a:p>
            <a:pPr eaLnBrk="1" hangingPunct="1">
              <a:lnSpc>
                <a:spcPct val="90000"/>
              </a:lnSpc>
            </a:pPr>
            <a:r>
              <a:rPr lang="en-GB" altLang="en-US" dirty="0" smtClean="0">
                <a:solidFill>
                  <a:schemeClr val="bg1"/>
                </a:solidFill>
              </a:rPr>
              <a:t>On your chart, note the probe given, put in the number of correct/incorrect responses the child gives, and make a note of specific problem words.</a:t>
            </a:r>
          </a:p>
          <a:p>
            <a:pPr eaLnBrk="1" hangingPunct="1">
              <a:lnSpc>
                <a:spcPct val="90000"/>
              </a:lnSpc>
            </a:pPr>
            <a:r>
              <a:rPr lang="en-GB" altLang="en-US" dirty="0" smtClean="0">
                <a:solidFill>
                  <a:schemeClr val="bg1"/>
                </a:solidFill>
              </a:rPr>
              <a:t>Stop when the pupil shows more errors than correct responses or earlier if failure is becoming obvious.</a:t>
            </a:r>
          </a:p>
        </p:txBody>
      </p:sp>
    </p:spTree>
    <p:extLst>
      <p:ext uri="{BB962C8B-B14F-4D97-AF65-F5344CB8AC3E}">
        <p14:creationId xmlns:p14="http://schemas.microsoft.com/office/powerpoint/2010/main" val="21484204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20483" name="Rectangle 3"/>
          <p:cNvSpPr>
            <a:spLocks noGrp="1" noChangeArrowheads="1"/>
          </p:cNvSpPr>
          <p:nvPr>
            <p:ph type="body" idx="4294967295"/>
          </p:nvPr>
        </p:nvSpPr>
        <p:spPr>
          <a:xfrm>
            <a:off x="0" y="1131656"/>
            <a:ext cx="7200900" cy="4175125"/>
          </a:xfrm>
        </p:spPr>
        <p:txBody>
          <a:bodyPr>
            <a:normAutofit lnSpcReduction="10000"/>
          </a:bodyPr>
          <a:lstStyle/>
          <a:p>
            <a:pPr eaLnBrk="1" hangingPunct="1"/>
            <a:r>
              <a:rPr lang="en-GB" altLang="en-US" dirty="0" smtClean="0">
                <a:solidFill>
                  <a:schemeClr val="bg1"/>
                </a:solidFill>
              </a:rPr>
              <a:t>Use the ‘</a:t>
            </a:r>
            <a:r>
              <a:rPr lang="en-GB" altLang="en-US" b="1" dirty="0" smtClean="0">
                <a:solidFill>
                  <a:schemeClr val="bg1"/>
                </a:solidFill>
              </a:rPr>
              <a:t>100 high-frequency words in order’, </a:t>
            </a:r>
            <a:r>
              <a:rPr lang="en-GB" altLang="en-US" dirty="0" smtClean="0">
                <a:solidFill>
                  <a:schemeClr val="bg1"/>
                </a:solidFill>
              </a:rPr>
              <a:t>Copies of these are in your pack.</a:t>
            </a:r>
          </a:p>
          <a:p>
            <a:pPr eaLnBrk="1" hangingPunct="1"/>
            <a:r>
              <a:rPr lang="en-GB" altLang="en-US" dirty="0" smtClean="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7912913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94303" y="273548"/>
            <a:ext cx="8497887" cy="792162"/>
          </a:xfrm>
        </p:spPr>
        <p:txBody>
          <a:bodyPr/>
          <a:lstStyle/>
          <a:p>
            <a:pPr algn="ctr" eaLnBrk="1" hangingPunct="1"/>
            <a:r>
              <a:rPr lang="en-GB" altLang="en-US" sz="3200" dirty="0" smtClean="0">
                <a:solidFill>
                  <a:schemeClr val="bg1"/>
                </a:solidFill>
                <a:latin typeface="Arial" charset="0"/>
              </a:rPr>
              <a:t>Initial Assessment</a:t>
            </a:r>
          </a:p>
        </p:txBody>
      </p:sp>
      <p:sp>
        <p:nvSpPr>
          <p:cNvPr id="21507" name="Rectangle 3"/>
          <p:cNvSpPr>
            <a:spLocks noGrp="1" noChangeArrowheads="1"/>
          </p:cNvSpPr>
          <p:nvPr>
            <p:ph type="body" idx="4294967295"/>
          </p:nvPr>
        </p:nvSpPr>
        <p:spPr>
          <a:xfrm>
            <a:off x="0" y="1484313"/>
            <a:ext cx="7488238" cy="3529012"/>
          </a:xfrm>
        </p:spPr>
        <p:txBody>
          <a:bodyPr/>
          <a:lstStyle/>
          <a:p>
            <a:pPr eaLnBrk="1" hangingPunct="1"/>
            <a:r>
              <a:rPr lang="en-GB" altLang="en-US" dirty="0" smtClean="0">
                <a:solidFill>
                  <a:schemeClr val="bg1"/>
                </a:solidFill>
              </a:rPr>
              <a:t>Remember to record your results for each probe sheet administered on the summary sheet in your pack.</a:t>
            </a:r>
          </a:p>
          <a:p>
            <a:pPr eaLnBrk="1" hangingPunct="1"/>
            <a:r>
              <a:rPr lang="en-GB" altLang="en-US" dirty="0" smtClean="0">
                <a:solidFill>
                  <a:schemeClr val="bg1"/>
                </a:solidFill>
              </a:rPr>
              <a:t>Bring your results back to session 2.  We will use these to plan the next steps in using a Precision Teaching Programme.</a:t>
            </a:r>
          </a:p>
        </p:txBody>
      </p:sp>
    </p:spTree>
    <p:extLst>
      <p:ext uri="{BB962C8B-B14F-4D97-AF65-F5344CB8AC3E}">
        <p14:creationId xmlns:p14="http://schemas.microsoft.com/office/powerpoint/2010/main" val="29658627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09630" y="532606"/>
            <a:ext cx="8497887" cy="865187"/>
          </a:xfrm>
        </p:spPr>
        <p:txBody>
          <a:bodyPr/>
          <a:lstStyle/>
          <a:p>
            <a:pPr algn="ctr" eaLnBrk="1" hangingPunct="1"/>
            <a:r>
              <a:rPr lang="en-GB" altLang="en-US" sz="3200" dirty="0" smtClean="0">
                <a:solidFill>
                  <a:schemeClr val="bg1"/>
                </a:solidFill>
                <a:latin typeface="Arial" charset="0"/>
              </a:rPr>
              <a:t>Thank You</a:t>
            </a:r>
          </a:p>
        </p:txBody>
      </p:sp>
      <p:sp>
        <p:nvSpPr>
          <p:cNvPr id="22531" name="Rectangle 3"/>
          <p:cNvSpPr>
            <a:spLocks noGrp="1" noChangeArrowheads="1"/>
          </p:cNvSpPr>
          <p:nvPr>
            <p:ph type="body" idx="4294967295"/>
          </p:nvPr>
        </p:nvSpPr>
        <p:spPr>
          <a:xfrm>
            <a:off x="801042" y="965200"/>
            <a:ext cx="6264275" cy="3471863"/>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solidFill>
                  <a:schemeClr val="bg1"/>
                </a:solidFill>
              </a:rPr>
              <a:t>Please do not use or copy any slides without prior permission from AFC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35542564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smtClean="0">
                <a:latin typeface="+mj-lt"/>
              </a:rPr>
              <a:t>End slide </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217</TotalTime>
  <Words>1291</Words>
  <Application>Microsoft Office PowerPoint</Application>
  <PresentationFormat>On-screen Show (4:3)</PresentationFormat>
  <Paragraphs>198</Paragraphs>
  <Slides>24</Slides>
  <Notes>24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Powerpoint_master_template</vt:lpstr>
      <vt:lpstr>PowerPoint Presentation</vt:lpstr>
      <vt:lpstr>PowerPoint Presentation</vt:lpstr>
      <vt:lpstr>Aim for Session 1</vt:lpstr>
      <vt:lpstr>Preview of upcoming sessions</vt:lpstr>
      <vt:lpstr>Preview of upcoming sessions</vt:lpstr>
      <vt:lpstr>What is Precision Teaching?</vt:lpstr>
      <vt:lpstr>When can Precision Teaching be used?</vt:lpstr>
      <vt:lpstr>The Learning Hierarchy</vt:lpstr>
      <vt:lpstr>Activity</vt:lpstr>
      <vt:lpstr>PowerPoint Presentation</vt:lpstr>
      <vt:lpstr>PowerPoint Presentation</vt:lpstr>
      <vt:lpstr>How do you do Precision Teaching?</vt:lpstr>
      <vt:lpstr>Before you start Precision Teaching </vt:lpstr>
      <vt:lpstr>‘Task Analysis’ – where are they now? </vt:lpstr>
      <vt:lpstr>Initial Assessment – using ‘Letters and Sounds’</vt:lpstr>
      <vt:lpstr>Probes</vt:lpstr>
      <vt:lpstr>Letters and Probes</vt:lpstr>
      <vt:lpstr>Initial Assessment</vt:lpstr>
      <vt:lpstr>Initial Assessment</vt:lpstr>
      <vt:lpstr>Initial Assessment</vt:lpstr>
      <vt:lpstr>Initial Assessment</vt:lpstr>
      <vt:lpstr>Initial Assessment</vt:lpstr>
      <vt:lpstr>Thank You</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localprofile</cp:lastModifiedBy>
  <cp:revision>15</cp:revision>
  <cp:lastPrinted>2018-01-08T08:24:14Z</cp:lastPrinted>
  <dcterms:created xsi:type="dcterms:W3CDTF">2017-09-05T13:13:18Z</dcterms:created>
  <dcterms:modified xsi:type="dcterms:W3CDTF">2018-01-08T08:48:10Z</dcterms:modified>
</cp:coreProperties>
</file>