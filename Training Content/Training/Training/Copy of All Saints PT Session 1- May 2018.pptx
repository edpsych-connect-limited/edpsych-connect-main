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302" r:id="rId2"/>
    <p:sldId id="256" r:id="rId3"/>
    <p:sldId id="307" r:id="rId4"/>
    <p:sldId id="308" r:id="rId5"/>
    <p:sldId id="309" r:id="rId6"/>
    <p:sldId id="310" r:id="rId7"/>
    <p:sldId id="328" r:id="rId8"/>
    <p:sldId id="311" r:id="rId9"/>
    <p:sldId id="326" r:id="rId10"/>
    <p:sldId id="329" r:id="rId11"/>
    <p:sldId id="314" r:id="rId12"/>
    <p:sldId id="330" r:id="rId13"/>
    <p:sldId id="331" r:id="rId14"/>
    <p:sldId id="332" r:id="rId15"/>
    <p:sldId id="315" r:id="rId16"/>
    <p:sldId id="316" r:id="rId17"/>
    <p:sldId id="317" r:id="rId18"/>
    <p:sldId id="333" r:id="rId19"/>
    <p:sldId id="318" r:id="rId20"/>
    <p:sldId id="334" r:id="rId21"/>
    <p:sldId id="319" r:id="rId22"/>
    <p:sldId id="320" r:id="rId23"/>
    <p:sldId id="321" r:id="rId24"/>
    <p:sldId id="322" r:id="rId25"/>
    <p:sldId id="323" r:id="rId26"/>
    <p:sldId id="324" r:id="rId27"/>
    <p:sldId id="325" r:id="rId28"/>
    <p:sldId id="27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123" autoAdjust="0"/>
    <p:restoredTop sz="97789" autoAdjust="0"/>
  </p:normalViewPr>
  <p:slideViewPr>
    <p:cSldViewPr snapToGrid="0" snapToObjects="1">
      <p:cViewPr varScale="1">
        <p:scale>
          <a:sx n="131" d="100"/>
          <a:sy n="131" d="100"/>
        </p:scale>
        <p:origin x="-104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08/05/2018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42429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20433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4</a:t>
            </a:fld>
            <a:endParaRPr lang="en-GB"/>
          </a:p>
        </p:txBody>
      </p:sp>
    </p:spTree>
    <p:extLst>
      <p:ext uri="{BB962C8B-B14F-4D97-AF65-F5344CB8AC3E}">
        <p14:creationId xmlns:p14="http://schemas.microsoft.com/office/powerpoint/2010/main" val="331387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p:txBody>
      </p:sp>
    </p:spTree>
    <p:extLst>
      <p:ext uri="{BB962C8B-B14F-4D97-AF65-F5344CB8AC3E}">
        <p14:creationId xmlns:p14="http://schemas.microsoft.com/office/powerpoint/2010/main" val="4058450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endParaRPr lang="en-US" altLang="en-US" dirty="0" smtClean="0"/>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9</a:t>
            </a:fld>
            <a:endParaRPr lang="en-GB"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endParaRPr lang="en-GB" altLang="en-US" b="1" dirty="0" smtClean="0">
              <a:latin typeface="Times New Roman" pitchFamily="18" charset="0"/>
            </a:endParaRPr>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10</a:t>
            </a:fld>
            <a:endParaRPr lang="en-GB"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20</a:t>
            </a:fld>
            <a:endParaRPr lang="en-GB"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21</a:t>
            </a:fld>
            <a:endParaRPr lang="en-GB"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22</a:t>
            </a:fld>
            <a:endParaRPr lang="en-GB"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23</a:t>
            </a:fld>
            <a:endParaRPr lang="en-GB"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24</a:t>
            </a:fld>
            <a:endParaRPr lang="en-GB"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25</a:t>
            </a:fld>
            <a:endParaRPr lang="en-GB"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26</a:t>
            </a:fld>
            <a:endParaRPr lang="en-GB"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27</a:t>
            </a:fld>
            <a:endParaRPr lang="en-GB"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28</a:t>
            </a:fld>
            <a:endParaRPr lang="en-GB"/>
          </a:p>
        </p:txBody>
      </p:sp>
    </p:spTree>
    <p:extLst>
      <p:ext uri="{BB962C8B-B14F-4D97-AF65-F5344CB8AC3E}">
        <p14:creationId xmlns:p14="http://schemas.microsoft.com/office/powerpoint/2010/main" val="145677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490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734998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5/8/2018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1608777"/>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750867" y="564310"/>
            <a:ext cx="5279897" cy="1139850"/>
          </a:xfrm>
        </p:spPr>
        <p:txBody>
          <a:bodyPr>
            <a:normAutofit fontScale="92500" lnSpcReduction="20000"/>
          </a:bodyPr>
          <a:lstStyle/>
          <a:p>
            <a:r>
              <a:rPr lang="en-US" altLang="en-US" sz="4400" b="1" u="sng" dirty="0">
                <a:solidFill>
                  <a:schemeClr val="bg1"/>
                </a:solidFill>
                <a:ea typeface="ＭＳ Ｐゴシック" pitchFamily="110" charset="-128"/>
              </a:rPr>
              <a:t>Precision Teaching</a:t>
            </a:r>
            <a:r>
              <a:rPr lang="en-US" altLang="en-US" sz="4400" b="1" u="sng" dirty="0" smtClean="0">
                <a:solidFill>
                  <a:schemeClr val="bg1"/>
                </a:solidFill>
                <a:ea typeface="ＭＳ Ｐゴシック" pitchFamily="110" charset="-128"/>
              </a:rPr>
              <a:t>: ‘Letters and Sounds’</a:t>
            </a:r>
            <a:endParaRPr lang="en-US" altLang="en-US" sz="4400" b="1" u="sng" dirty="0">
              <a:solidFill>
                <a:schemeClr val="bg1"/>
              </a:solidFill>
              <a:ea typeface="ＭＳ Ｐゴシック" pitchFamily="110" charset="-128"/>
            </a:endParaRPr>
          </a:p>
          <a:p>
            <a:endParaRPr lang="en-GB" dirty="0">
              <a:solidFill>
                <a:schemeClr val="bg1"/>
              </a:solidFill>
            </a:endParaRPr>
          </a:p>
        </p:txBody>
      </p:sp>
      <p:sp>
        <p:nvSpPr>
          <p:cNvPr id="3" name="Text Placeholder 2"/>
          <p:cNvSpPr>
            <a:spLocks noGrp="1"/>
          </p:cNvSpPr>
          <p:nvPr>
            <p:ph type="body" sz="quarter" idx="4294967295"/>
          </p:nvPr>
        </p:nvSpPr>
        <p:spPr>
          <a:xfrm>
            <a:off x="2081815" y="2107443"/>
            <a:ext cx="5280025" cy="695325"/>
          </a:xfrm>
        </p:spPr>
        <p:txBody>
          <a:bodyPr>
            <a:normAutofit fontScale="25000" lnSpcReduction="20000"/>
          </a:bodyPr>
          <a:lstStyle/>
          <a:p>
            <a:pPr>
              <a:spcBef>
                <a:spcPct val="50000"/>
              </a:spcBef>
              <a:buClrTx/>
              <a:buSzTx/>
              <a:buFontTx/>
              <a:buNone/>
            </a:pPr>
            <a:r>
              <a:rPr lang="en-US" altLang="en-US" sz="11200" b="1" dirty="0" smtClean="0">
                <a:solidFill>
                  <a:schemeClr val="bg1"/>
                </a:solidFill>
                <a:ea typeface="ＭＳ Ｐゴシック" pitchFamily="110" charset="-128"/>
              </a:rPr>
              <a:t>Session </a:t>
            </a:r>
            <a:r>
              <a:rPr lang="en-US" altLang="en-US" sz="11200" b="1" dirty="0">
                <a:solidFill>
                  <a:schemeClr val="bg1"/>
                </a:solidFill>
                <a:ea typeface="ＭＳ Ｐゴシック" pitchFamily="110" charset="-128"/>
              </a:rPr>
              <a:t>1 of </a:t>
            </a:r>
            <a:r>
              <a:rPr lang="en-US" altLang="en-US" sz="11200" b="1" dirty="0" smtClean="0">
                <a:solidFill>
                  <a:schemeClr val="bg1"/>
                </a:solidFill>
                <a:ea typeface="ＭＳ Ｐゴシック" pitchFamily="110" charset="-128"/>
              </a:rPr>
              <a:t>3</a:t>
            </a:r>
            <a:endParaRPr lang="en-US" altLang="en-US" sz="11200" b="1" dirty="0">
              <a:solidFill>
                <a:schemeClr val="bg1"/>
              </a:solidFill>
              <a:ea typeface="ＭＳ Ｐゴシック" pitchFamily="110" charset="-128"/>
            </a:endParaRPr>
          </a:p>
          <a:p>
            <a:pPr>
              <a:spcBef>
                <a:spcPct val="50000"/>
              </a:spcBef>
              <a:buClrTx/>
              <a:buSzTx/>
              <a:buFontTx/>
              <a:buNone/>
            </a:pPr>
            <a:r>
              <a:rPr lang="en-US" altLang="en-US" sz="11200" dirty="0" smtClean="0">
                <a:solidFill>
                  <a:schemeClr val="bg1"/>
                </a:solidFill>
                <a:ea typeface="ＭＳ Ｐゴシック" pitchFamily="110" charset="-128"/>
              </a:rPr>
              <a:t>All Saint’s Junior School</a:t>
            </a:r>
          </a:p>
          <a:p>
            <a:pPr>
              <a:spcBef>
                <a:spcPct val="50000"/>
              </a:spcBef>
              <a:buClrTx/>
              <a:buSzTx/>
              <a:buFontTx/>
              <a:buNone/>
            </a:pPr>
            <a:endParaRPr lang="en-US" altLang="en-US" sz="11200" dirty="0">
              <a:solidFill>
                <a:schemeClr val="bg1"/>
              </a:solidFill>
              <a:ea typeface="ＭＳ Ｐゴシック" pitchFamily="110" charset="-128"/>
            </a:endParaRPr>
          </a:p>
          <a:p>
            <a:pPr>
              <a:spcBef>
                <a:spcPct val="50000"/>
              </a:spcBef>
              <a:buClrTx/>
              <a:buSzTx/>
              <a:buFontTx/>
              <a:buNone/>
            </a:pPr>
            <a:r>
              <a:rPr lang="en-US" altLang="en-US" sz="11200" dirty="0">
                <a:solidFill>
                  <a:schemeClr val="bg1"/>
                </a:solidFill>
                <a:ea typeface="ＭＳ Ｐゴシック" pitchFamily="110" charset="-128"/>
              </a:rPr>
              <a:t>Scott </a:t>
            </a:r>
            <a:r>
              <a:rPr lang="en-US" altLang="en-US" sz="11200" dirty="0" smtClean="0">
                <a:solidFill>
                  <a:schemeClr val="bg1"/>
                </a:solidFill>
                <a:ea typeface="ＭＳ Ｐゴシック" pitchFamily="110" charset="-128"/>
              </a:rPr>
              <a:t>I-Patrick </a:t>
            </a:r>
          </a:p>
          <a:p>
            <a:pPr>
              <a:spcBef>
                <a:spcPct val="50000"/>
              </a:spcBef>
              <a:buClrTx/>
              <a:buSzTx/>
              <a:buFontTx/>
              <a:buNone/>
            </a:pPr>
            <a:r>
              <a:rPr lang="en-US" altLang="en-US" sz="11200" dirty="0" smtClean="0">
                <a:solidFill>
                  <a:schemeClr val="bg1"/>
                </a:solidFill>
                <a:ea typeface="ＭＳ Ｐゴシック" pitchFamily="110" charset="-128"/>
              </a:rPr>
              <a:t>Tuesday  </a:t>
            </a:r>
            <a:r>
              <a:rPr lang="en-US" altLang="en-US" sz="11200" dirty="0">
                <a:solidFill>
                  <a:schemeClr val="bg1"/>
                </a:solidFill>
                <a:ea typeface="ＭＳ Ｐゴシック" pitchFamily="110" charset="-128"/>
              </a:rPr>
              <a:t>8</a:t>
            </a:r>
            <a:r>
              <a:rPr lang="en-US" altLang="en-US" sz="11200" baseline="30000" dirty="0" smtClean="0">
                <a:solidFill>
                  <a:schemeClr val="bg1"/>
                </a:solidFill>
                <a:ea typeface="ＭＳ Ｐゴシック" pitchFamily="110" charset="-128"/>
              </a:rPr>
              <a:t>th</a:t>
            </a:r>
            <a:r>
              <a:rPr lang="en-US" altLang="en-US" sz="11200" dirty="0" smtClean="0">
                <a:solidFill>
                  <a:schemeClr val="bg1"/>
                </a:solidFill>
                <a:ea typeface="ＭＳ Ｐゴシック" pitchFamily="110" charset="-128"/>
              </a:rPr>
              <a:t> May 2018</a:t>
            </a:r>
          </a:p>
          <a:p>
            <a:endParaRPr lang="en-GB" dirty="0"/>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sz="3200" dirty="0" smtClean="0">
                <a:solidFill>
                  <a:schemeClr val="bg1"/>
                </a:solidFill>
                <a:latin typeface="Arial" charset="0"/>
              </a:rPr>
              <a:t>Aim for Session 1</a:t>
            </a:r>
            <a:endParaRPr lang="en-GB" sz="3200" dirty="0">
              <a:solidFill>
                <a:schemeClr val="bg1"/>
              </a:solidFill>
            </a:endParaRPr>
          </a:p>
        </p:txBody>
      </p:sp>
      <p:sp>
        <p:nvSpPr>
          <p:cNvPr id="3" name="Content Placeholder 2"/>
          <p:cNvSpPr>
            <a:spLocks noGrp="1"/>
          </p:cNvSpPr>
          <p:nvPr>
            <p:ph idx="4294967295"/>
          </p:nvPr>
        </p:nvSpPr>
        <p:spPr>
          <a:xfrm>
            <a:off x="0" y="1253348"/>
            <a:ext cx="8229600" cy="4525963"/>
          </a:xfrm>
        </p:spPr>
        <p:txBody>
          <a:bodyPr/>
          <a:lstStyle/>
          <a:p>
            <a:pPr marL="722313" lvl="1" indent="-384175" eaLnBrk="1" hangingPunct="1">
              <a:lnSpc>
                <a:spcPct val="90000"/>
              </a:lnSpc>
              <a:buFont typeface="Wingdings" panose="05000000000000000000" pitchFamily="2" charset="2"/>
              <a:buChar char="q"/>
            </a:pPr>
            <a:r>
              <a:rPr lang="en-US" altLang="en-US" sz="2400" dirty="0">
                <a:solidFill>
                  <a:schemeClr val="bg1"/>
                </a:solidFill>
              </a:rPr>
              <a:t>What is Precision Teaching?</a:t>
            </a:r>
          </a:p>
          <a:p>
            <a:pPr marL="681038" lvl="1" indent="-342900" eaLnBrk="1" hangingPunct="1">
              <a:lnSpc>
                <a:spcPct val="90000"/>
              </a:lnSpc>
              <a:buFont typeface="Wingdings" panose="05000000000000000000" pitchFamily="2" charset="2"/>
              <a:buChar char="q"/>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PT: The underlying theory</a:t>
            </a:r>
          </a:p>
          <a:p>
            <a:pPr marL="338138" lvl="1"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GB" altLang="en-US" sz="2400" dirty="0" smtClean="0">
                <a:solidFill>
                  <a:schemeClr val="bg1"/>
                </a:solidFill>
              </a:rPr>
              <a:t>Focus on how to acquire </a:t>
            </a:r>
            <a:r>
              <a:rPr lang="en-GB" altLang="en-US" sz="2400" dirty="0">
                <a:solidFill>
                  <a:schemeClr val="bg1"/>
                </a:solidFill>
              </a:rPr>
              <a:t>a </a:t>
            </a:r>
            <a:r>
              <a:rPr lang="en-GB" altLang="en-US" sz="2400" dirty="0" smtClean="0">
                <a:solidFill>
                  <a:schemeClr val="bg1"/>
                </a:solidFill>
              </a:rPr>
              <a:t>baseline following identification of a specific area of difficulty.</a:t>
            </a:r>
            <a:endParaRPr lang="en-GB" altLang="en-US" sz="2400" dirty="0">
              <a:solidFill>
                <a:schemeClr val="bg1"/>
              </a:solidFill>
            </a:endParaRPr>
          </a:p>
          <a:p>
            <a:pPr marL="800100" lvl="2"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Goals between now and the next session</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14243464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Preview of upcoming sessions</a:t>
            </a:r>
            <a:endParaRPr lang="en-GB" dirty="0">
              <a:solidFill>
                <a:schemeClr val="bg1"/>
              </a:solidFill>
            </a:endParaRPr>
          </a:p>
        </p:txBody>
      </p:sp>
      <p:sp>
        <p:nvSpPr>
          <p:cNvPr id="3" name="Content Placeholder 2"/>
          <p:cNvSpPr>
            <a:spLocks noGrp="1"/>
          </p:cNvSpPr>
          <p:nvPr>
            <p:ph idx="4294967295"/>
          </p:nvPr>
        </p:nvSpPr>
        <p:spPr>
          <a:xfrm>
            <a:off x="0" y="1363710"/>
            <a:ext cx="8229600" cy="4525963"/>
          </a:xfrm>
        </p:spPr>
        <p:txBody>
          <a:bodyPr/>
          <a:lstStyle/>
          <a:p>
            <a:pPr marL="423863" indent="-384175" eaLnBrk="1" hangingPunct="1">
              <a:lnSpc>
                <a:spcPct val="90000"/>
              </a:lnSpc>
              <a:buNone/>
            </a:pPr>
            <a:r>
              <a:rPr lang="en-US" altLang="en-US" dirty="0">
                <a:solidFill>
                  <a:schemeClr val="bg1"/>
                </a:solidFill>
              </a:rPr>
              <a:t>Session 2 of 3</a:t>
            </a:r>
          </a:p>
          <a:p>
            <a:pPr marL="338138" lvl="1" indent="0" eaLnBrk="1" hangingPunct="1">
              <a:lnSpc>
                <a:spcPct val="90000"/>
              </a:lnSpc>
              <a:buNone/>
            </a:pPr>
            <a:endParaRPr lang="en-US" altLang="en-US" dirty="0" smtClean="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smtClean="0">
                <a:solidFill>
                  <a:schemeClr val="bg1"/>
                </a:solidFill>
              </a:rPr>
              <a:t>Sharing </a:t>
            </a:r>
            <a:r>
              <a:rPr lang="en-US" altLang="en-US" sz="2400" dirty="0">
                <a:solidFill>
                  <a:schemeClr val="bg1"/>
                </a:solidFill>
              </a:rPr>
              <a:t>our experiences since the last session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Target setting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Teaching and probing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Charting </a:t>
            </a:r>
            <a:r>
              <a:rPr lang="en-US" altLang="en-US" sz="2400" dirty="0">
                <a:solidFill>
                  <a:schemeClr val="bg1"/>
                </a:solidFill>
              </a:rPr>
              <a:t>the results </a:t>
            </a:r>
            <a:r>
              <a:rPr lang="en-US" altLang="en-US" sz="2400" dirty="0" smtClean="0">
                <a:solidFill>
                  <a:schemeClr val="bg1"/>
                </a:solidFill>
              </a:rPr>
              <a:t>with target child</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Monitoring: </a:t>
            </a:r>
            <a:r>
              <a:rPr lang="en-US" altLang="en-US" sz="2400" dirty="0">
                <a:solidFill>
                  <a:schemeClr val="bg1"/>
                </a:solidFill>
              </a:rPr>
              <a:t>Review and adapt the </a:t>
            </a:r>
            <a:r>
              <a:rPr lang="en-US" altLang="en-US" sz="2400" dirty="0" err="1">
                <a:solidFill>
                  <a:schemeClr val="bg1"/>
                </a:solidFill>
              </a:rPr>
              <a:t>programme</a:t>
            </a:r>
            <a:r>
              <a:rPr lang="en-US" altLang="en-US" sz="2400" dirty="0">
                <a:solidFill>
                  <a:schemeClr val="bg1"/>
                </a:solidFill>
              </a:rPr>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13086371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a:solidFill>
                  <a:schemeClr val="bg1"/>
                </a:solidFill>
              </a:rPr>
              <a:t>Preview of upcoming sessions</a:t>
            </a:r>
          </a:p>
        </p:txBody>
      </p:sp>
      <p:sp>
        <p:nvSpPr>
          <p:cNvPr id="3" name="Content Placeholder 2"/>
          <p:cNvSpPr>
            <a:spLocks noGrp="1"/>
          </p:cNvSpPr>
          <p:nvPr>
            <p:ph idx="4294967295"/>
          </p:nvPr>
        </p:nvSpPr>
        <p:spPr>
          <a:xfrm>
            <a:off x="0" y="1395242"/>
            <a:ext cx="8229600" cy="4525963"/>
          </a:xfrm>
        </p:spPr>
        <p:txBody>
          <a:bodyPr/>
          <a:lstStyle/>
          <a:p>
            <a:pPr marL="423863" indent="-384175" eaLnBrk="1" hangingPunct="1">
              <a:lnSpc>
                <a:spcPct val="90000"/>
              </a:lnSpc>
              <a:buNone/>
            </a:pPr>
            <a:r>
              <a:rPr lang="en-US" altLang="en-US" dirty="0">
                <a:solidFill>
                  <a:schemeClr val="bg1"/>
                </a:solidFill>
              </a:rPr>
              <a:t>Session 3 of </a:t>
            </a:r>
            <a:r>
              <a:rPr lang="en-US" altLang="en-US" dirty="0" smtClean="0">
                <a:solidFill>
                  <a:schemeClr val="bg1"/>
                </a:solidFill>
              </a:rPr>
              <a:t>3</a:t>
            </a:r>
            <a:endParaRPr lang="en-US" altLang="en-US" dirty="0">
              <a:solidFill>
                <a:schemeClr val="bg1"/>
              </a:solidFill>
            </a:endParaRPr>
          </a:p>
          <a:p>
            <a:pPr marL="338138" lvl="1" indent="0" eaLnBrk="1" hangingPunct="1">
              <a:lnSpc>
                <a:spcPct val="90000"/>
              </a:lnSpc>
              <a:buNone/>
            </a:pPr>
            <a:r>
              <a:rPr lang="en-US" altLang="en-US" sz="2400" u="sng" dirty="0">
                <a:solidFill>
                  <a:schemeClr val="bg1"/>
                </a:solidFill>
              </a:rPr>
              <a:t>Peer supervision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Reflective discussions</a:t>
            </a:r>
          </a:p>
          <a:p>
            <a:pPr marL="1081088" lvl="2" indent="-342900" eaLnBrk="1" hangingPunct="1">
              <a:lnSpc>
                <a:spcPct val="90000"/>
              </a:lnSpc>
              <a:buFont typeface="Wingdings" panose="05000000000000000000" pitchFamily="2" charset="2"/>
              <a:buChar char="ü"/>
            </a:pPr>
            <a:r>
              <a:rPr lang="en-US" altLang="en-US" sz="2400" dirty="0">
                <a:solidFill>
                  <a:schemeClr val="bg1"/>
                </a:solidFill>
              </a:rPr>
              <a:t>How confident are we feeling about implementing PT</a:t>
            </a:r>
            <a:r>
              <a:rPr lang="en-US" altLang="en-US" sz="2400" dirty="0" smtClean="0">
                <a:solidFill>
                  <a:schemeClr val="bg1"/>
                </a:solidFill>
              </a:rPr>
              <a:t>?</a:t>
            </a:r>
          </a:p>
          <a:p>
            <a:pPr marL="738188" lvl="2" indent="0" eaLnBrk="1" hangingPunct="1">
              <a:lnSpc>
                <a:spcPct val="90000"/>
              </a:lnSpc>
              <a:buNone/>
            </a:pPr>
            <a:endParaRPr lang="en-US" altLang="en-US" sz="2400" dirty="0" smtClean="0">
              <a:solidFill>
                <a:schemeClr val="bg1"/>
              </a:solidFill>
            </a:endParaRPr>
          </a:p>
          <a:p>
            <a:pPr marL="1081088" lvl="2" indent="-342900" eaLnBrk="1" hangingPunct="1">
              <a:lnSpc>
                <a:spcPct val="90000"/>
              </a:lnSpc>
              <a:buFont typeface="Wingdings" panose="05000000000000000000" pitchFamily="2" charset="2"/>
              <a:buChar char="ü"/>
            </a:pPr>
            <a:r>
              <a:rPr lang="en-US" altLang="en-US" sz="2400" dirty="0" smtClean="0">
                <a:solidFill>
                  <a:schemeClr val="bg1"/>
                </a:solidFill>
              </a:rPr>
              <a:t>Our </a:t>
            </a:r>
            <a:r>
              <a:rPr lang="en-US" altLang="en-US" sz="2400" dirty="0">
                <a:solidFill>
                  <a:schemeClr val="bg1"/>
                </a:solidFill>
              </a:rPr>
              <a:t>views on PT: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Academic impact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Emotional/motivational </a:t>
            </a:r>
            <a:r>
              <a:rPr lang="en-US" altLang="en-US" sz="2400" dirty="0" smtClean="0">
                <a:solidFill>
                  <a:schemeClr val="bg1"/>
                </a:solidFill>
              </a:rPr>
              <a:t>impact</a:t>
            </a:r>
            <a:endParaRPr lang="en-US" altLang="en-US" sz="2400" dirty="0">
              <a:solidFill>
                <a:schemeClr val="bg1"/>
              </a:solidFill>
            </a:endParaRPr>
          </a:p>
          <a:p>
            <a:pPr marL="0" indent="0">
              <a:buNone/>
            </a:pPr>
            <a:endParaRPr lang="en-GB" dirty="0"/>
          </a:p>
        </p:txBody>
      </p:sp>
    </p:spTree>
    <p:extLst>
      <p:ext uri="{BB962C8B-B14F-4D97-AF65-F5344CB8AC3E}">
        <p14:creationId xmlns:p14="http://schemas.microsoft.com/office/powerpoint/2010/main" val="2057699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eaLnBrk="1" hangingPunct="1">
              <a:buFont typeface="Wingdings" panose="05000000000000000000" pitchFamily="2" charset="2"/>
              <a:buChar char="q"/>
            </a:pPr>
            <a:r>
              <a:rPr lang="en-GB" altLang="en-US" sz="2400" dirty="0">
                <a:solidFill>
                  <a:schemeClr val="bg1"/>
                </a:solidFill>
              </a:rPr>
              <a:t>A way to plan, monitor and evaluate a </a:t>
            </a:r>
            <a:r>
              <a:rPr lang="en-GB" altLang="en-US" sz="2400" dirty="0" smtClean="0">
                <a:solidFill>
                  <a:schemeClr val="bg1"/>
                </a:solidFill>
              </a:rPr>
              <a:t>teaching programme </a:t>
            </a:r>
            <a:r>
              <a:rPr lang="en-GB" altLang="en-US" sz="2400" dirty="0">
                <a:solidFill>
                  <a:schemeClr val="bg1"/>
                </a:solidFill>
              </a:rPr>
              <a:t>for an individual child, helping </a:t>
            </a:r>
            <a:r>
              <a:rPr lang="en-GB" altLang="en-US" sz="2400" dirty="0" smtClean="0">
                <a:solidFill>
                  <a:schemeClr val="bg1"/>
                </a:solidFill>
              </a:rPr>
              <a:t>him/her </a:t>
            </a:r>
            <a:r>
              <a:rPr lang="en-GB" altLang="en-US" sz="2400" dirty="0">
                <a:solidFill>
                  <a:schemeClr val="bg1"/>
                </a:solidFill>
              </a:rPr>
              <a:t>to learn a specific skill</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US" altLang="en-US" sz="2400" dirty="0" smtClean="0">
                <a:solidFill>
                  <a:schemeClr val="bg1"/>
                </a:solidFill>
              </a:rPr>
              <a:t>It is </a:t>
            </a:r>
            <a:r>
              <a:rPr lang="en-US" altLang="en-US" sz="2400" dirty="0">
                <a:solidFill>
                  <a:schemeClr val="bg1"/>
                </a:solidFill>
              </a:rPr>
              <a:t>a method of </a:t>
            </a:r>
            <a:r>
              <a:rPr lang="en-US" altLang="en-US" sz="2400" u="sng" dirty="0">
                <a:solidFill>
                  <a:schemeClr val="bg1"/>
                </a:solidFill>
              </a:rPr>
              <a:t>precisely measuring</a:t>
            </a:r>
            <a:r>
              <a:rPr lang="en-US" altLang="en-US" sz="2400" dirty="0">
                <a:solidFill>
                  <a:schemeClr val="bg1"/>
                </a:solidFill>
              </a:rPr>
              <a:t> the effectiveness of teaching.</a:t>
            </a:r>
            <a:endParaRPr lang="en-GB" altLang="en-US" sz="2400" dirty="0" smtClean="0">
              <a:solidFill>
                <a:schemeClr val="bg1"/>
              </a:solidFill>
            </a:endParaRP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GB" altLang="en-US" sz="2400" dirty="0">
                <a:solidFill>
                  <a:schemeClr val="bg1"/>
                </a:solidFill>
              </a:rPr>
              <a:t>Precision </a:t>
            </a:r>
            <a:r>
              <a:rPr lang="en-GB" altLang="en-US" sz="2400" dirty="0" smtClean="0">
                <a:solidFill>
                  <a:schemeClr val="bg1"/>
                </a:solidFill>
              </a:rPr>
              <a:t>Teaching </a:t>
            </a:r>
            <a:r>
              <a:rPr lang="en-GB" altLang="en-US" sz="2400" dirty="0">
                <a:solidFill>
                  <a:schemeClr val="bg1"/>
                </a:solidFill>
              </a:rPr>
              <a:t>is an</a:t>
            </a:r>
            <a:r>
              <a:rPr lang="en-GB" altLang="en-US" sz="2400" dirty="0"/>
              <a:t> </a:t>
            </a:r>
            <a:r>
              <a:rPr lang="en-GB" altLang="en-US" sz="2400" b="1" u="sng" dirty="0">
                <a:solidFill>
                  <a:srgbClr val="FF0000"/>
                </a:solidFill>
              </a:rPr>
              <a:t>ASSESSMENT</a:t>
            </a:r>
            <a:r>
              <a:rPr lang="en-GB" altLang="en-US" sz="2400" dirty="0"/>
              <a:t> </a:t>
            </a:r>
            <a:r>
              <a:rPr lang="en-GB" altLang="en-US" dirty="0" smtClean="0">
                <a:solidFill>
                  <a:schemeClr val="bg1"/>
                </a:solidFill>
              </a:rPr>
              <a:t>tool and</a:t>
            </a:r>
            <a:r>
              <a:rPr lang="en-GB" altLang="en-US" dirty="0" smtClean="0"/>
              <a:t> </a:t>
            </a:r>
            <a:r>
              <a:rPr lang="en-GB" altLang="en-US" b="1" u="sng" dirty="0" smtClean="0">
                <a:solidFill>
                  <a:srgbClr val="FF0000"/>
                </a:solidFill>
              </a:rPr>
              <a:t>NOT</a:t>
            </a:r>
            <a:r>
              <a:rPr lang="en-GB" altLang="en-US" dirty="0" smtClean="0"/>
              <a:t> </a:t>
            </a:r>
            <a:r>
              <a:rPr lang="en-GB" altLang="en-US" dirty="0">
                <a:solidFill>
                  <a:schemeClr val="bg1"/>
                </a:solidFill>
              </a:rPr>
              <a:t>a teaching method.</a:t>
            </a:r>
          </a:p>
          <a:p>
            <a:endParaRPr lang="en-GB" dirty="0"/>
          </a:p>
        </p:txBody>
      </p:sp>
    </p:spTree>
    <p:extLst>
      <p:ext uri="{BB962C8B-B14F-4D97-AF65-F5344CB8AC3E}">
        <p14:creationId xmlns:p14="http://schemas.microsoft.com/office/powerpoint/2010/main" val="2958712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a:buFont typeface="Wingdings" panose="05000000000000000000" pitchFamily="2" charset="2"/>
              <a:buChar char="q"/>
            </a:pPr>
            <a:r>
              <a:rPr lang="en-GB" altLang="en-US" sz="2400" dirty="0">
                <a:solidFill>
                  <a:schemeClr val="bg1"/>
                </a:solidFill>
              </a:rPr>
              <a:t>Precision Teaching is individualised to help the ‘stuck’ </a:t>
            </a:r>
            <a:r>
              <a:rPr lang="en-GB" altLang="en-US" sz="2400" dirty="0" smtClean="0">
                <a:solidFill>
                  <a:schemeClr val="bg1"/>
                </a:solidFill>
              </a:rPr>
              <a:t>child</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It requires a short (</a:t>
            </a:r>
            <a:r>
              <a:rPr lang="en-GB" altLang="en-US" sz="2400" dirty="0" err="1">
                <a:solidFill>
                  <a:schemeClr val="bg1"/>
                </a:solidFill>
              </a:rPr>
              <a:t>approx</a:t>
            </a:r>
            <a:r>
              <a:rPr lang="en-GB" altLang="en-US" sz="2400" dirty="0">
                <a:solidFill>
                  <a:schemeClr val="bg1"/>
                </a:solidFill>
              </a:rPr>
              <a:t> 10-15 min) session daily with </a:t>
            </a:r>
            <a:r>
              <a:rPr lang="en-GB" altLang="en-US" sz="2400" dirty="0" smtClean="0">
                <a:solidFill>
                  <a:schemeClr val="bg1"/>
                </a:solidFill>
              </a:rPr>
              <a:t>the child</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Each session includes a teaching activity followed by the use of a PROBE – a timed test used to check on the child’s knowledge of specific skill items</a:t>
            </a:r>
          </a:p>
          <a:p>
            <a:endParaRPr lang="en-GB" dirty="0"/>
          </a:p>
        </p:txBody>
      </p:sp>
    </p:spTree>
    <p:extLst>
      <p:ext uri="{BB962C8B-B14F-4D97-AF65-F5344CB8AC3E}">
        <p14:creationId xmlns:p14="http://schemas.microsoft.com/office/powerpoint/2010/main" val="15705693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pPr algn="ctr"/>
            <a:r>
              <a:rPr lang="en-GB" dirty="0" smtClean="0">
                <a:solidFill>
                  <a:schemeClr val="bg1"/>
                </a:solidFill>
              </a:rPr>
              <a:t>When can Precision Teaching be </a:t>
            </a:r>
            <a:r>
              <a:rPr lang="en-GB" dirty="0">
                <a:solidFill>
                  <a:schemeClr val="bg1"/>
                </a:solidFill>
              </a:rPr>
              <a:t>u</a:t>
            </a:r>
            <a:r>
              <a:rPr lang="en-GB" dirty="0" smtClean="0">
                <a:solidFill>
                  <a:schemeClr val="bg1"/>
                </a:solidFill>
              </a:rPr>
              <a:t>sed?</a:t>
            </a:r>
            <a:endParaRPr lang="en-GB" dirty="0">
              <a:solidFill>
                <a:schemeClr val="bg1"/>
              </a:solidFill>
            </a:endParaRPr>
          </a:p>
        </p:txBody>
      </p:sp>
      <p:sp>
        <p:nvSpPr>
          <p:cNvPr id="3" name="Content Placeholder 2"/>
          <p:cNvSpPr>
            <a:spLocks noGrp="1"/>
          </p:cNvSpPr>
          <p:nvPr>
            <p:ph idx="4294967295"/>
          </p:nvPr>
        </p:nvSpPr>
        <p:spPr>
          <a:xfrm>
            <a:off x="247650" y="1181754"/>
            <a:ext cx="8229600" cy="4525963"/>
          </a:xfrm>
        </p:spPr>
        <p:txBody>
          <a:bodyPr>
            <a:normAutofit fontScale="70000" lnSpcReduction="20000"/>
          </a:bodyPr>
          <a:lstStyle/>
          <a:p>
            <a:pPr marL="423863" eaLnBrk="1" hangingPunct="1">
              <a:lnSpc>
                <a:spcPct val="120000"/>
              </a:lnSpc>
              <a:buFont typeface="Wingdings" panose="05000000000000000000" pitchFamily="2" charset="2"/>
              <a:buChar char="q"/>
            </a:pPr>
            <a:r>
              <a:rPr lang="en-US" altLang="en-US" dirty="0">
                <a:solidFill>
                  <a:schemeClr val="bg1"/>
                </a:solidFill>
              </a:rPr>
              <a:t>When a child is making little or no progress in an area</a:t>
            </a:r>
          </a:p>
          <a:p>
            <a:pPr marL="423863" eaLnBrk="1" hangingPunct="1">
              <a:lnSpc>
                <a:spcPct val="120000"/>
              </a:lnSpc>
              <a:buFont typeface="Century Gothic" pitchFamily="34" charset="0"/>
              <a:buNone/>
            </a:pPr>
            <a:endParaRPr lang="en-US" altLang="en-US" dirty="0">
              <a:solidFill>
                <a:schemeClr val="bg1"/>
              </a:solidFill>
            </a:endParaRPr>
          </a:p>
          <a:p>
            <a:pPr marL="423863" eaLnBrk="1" hangingPunct="1">
              <a:lnSpc>
                <a:spcPct val="120000"/>
              </a:lnSpc>
              <a:buFont typeface="Wingdings" panose="05000000000000000000" pitchFamily="2" charset="2"/>
              <a:buChar char="q"/>
            </a:pPr>
            <a:r>
              <a:rPr lang="en-US" altLang="en-US" dirty="0">
                <a:solidFill>
                  <a:schemeClr val="bg1"/>
                </a:solidFill>
              </a:rPr>
              <a:t>When development of speed is essential for progress, for example</a:t>
            </a:r>
            <a:r>
              <a:rPr lang="en-US" altLang="en-US" dirty="0" smtClean="0">
                <a:solidFill>
                  <a:schemeClr val="bg1"/>
                </a:solidFill>
              </a:rPr>
              <a:t>:</a:t>
            </a:r>
            <a:endParaRPr lang="en-US" altLang="en-US" dirty="0">
              <a:solidFill>
                <a:schemeClr val="bg1"/>
              </a:solidFill>
            </a:endParaRPr>
          </a:p>
          <a:p>
            <a:pPr marL="423863" eaLnBrk="1" hangingPunct="1">
              <a:lnSpc>
                <a:spcPct val="120000"/>
              </a:lnSpc>
              <a:buFont typeface="Wingdings" panose="05000000000000000000" pitchFamily="2" charset="2"/>
              <a:buChar char="ü"/>
            </a:pPr>
            <a:r>
              <a:rPr lang="en-US" altLang="en-US" dirty="0" smtClean="0">
                <a:solidFill>
                  <a:schemeClr val="bg1"/>
                </a:solidFill>
              </a:rPr>
              <a:t> phonics</a:t>
            </a:r>
          </a:p>
          <a:p>
            <a:pPr marL="423863" eaLnBrk="1" hangingPunct="1">
              <a:lnSpc>
                <a:spcPct val="120000"/>
              </a:lnSpc>
              <a:buFont typeface="Wingdings" panose="05000000000000000000" pitchFamily="2" charset="2"/>
              <a:buChar char="ü"/>
            </a:pPr>
            <a:r>
              <a:rPr lang="en-US" altLang="en-US" dirty="0" smtClean="0">
                <a:solidFill>
                  <a:schemeClr val="bg1"/>
                </a:solidFill>
              </a:rPr>
              <a:t>sight vocabulary</a:t>
            </a:r>
          </a:p>
          <a:p>
            <a:pPr marL="423863" eaLnBrk="1" hangingPunct="1">
              <a:lnSpc>
                <a:spcPct val="120000"/>
              </a:lnSpc>
              <a:buFont typeface="Wingdings" panose="05000000000000000000" pitchFamily="2" charset="2"/>
              <a:buChar char="ü"/>
            </a:pPr>
            <a:r>
              <a:rPr lang="en-US" altLang="en-US" dirty="0" smtClean="0">
                <a:solidFill>
                  <a:schemeClr val="bg1"/>
                </a:solidFill>
              </a:rPr>
              <a:t>spelling </a:t>
            </a:r>
            <a:r>
              <a:rPr lang="en-US" altLang="en-US" dirty="0">
                <a:solidFill>
                  <a:schemeClr val="bg1"/>
                </a:solidFill>
              </a:rPr>
              <a:t>high frequency </a:t>
            </a:r>
            <a:r>
              <a:rPr lang="en-US" altLang="en-US" dirty="0" smtClean="0">
                <a:solidFill>
                  <a:schemeClr val="bg1"/>
                </a:solidFill>
              </a:rPr>
              <a:t>words</a:t>
            </a:r>
          </a:p>
          <a:p>
            <a:pPr marL="423863" eaLnBrk="1" hangingPunct="1">
              <a:lnSpc>
                <a:spcPct val="120000"/>
              </a:lnSpc>
              <a:buFont typeface="Wingdings" panose="05000000000000000000" pitchFamily="2" charset="2"/>
              <a:buChar char="ü"/>
            </a:pPr>
            <a:r>
              <a:rPr lang="en-US" altLang="en-US" dirty="0" smtClean="0">
                <a:solidFill>
                  <a:schemeClr val="bg1"/>
                </a:solidFill>
              </a:rPr>
              <a:t>number recognition</a:t>
            </a:r>
          </a:p>
          <a:p>
            <a:pPr marL="423863" eaLnBrk="1" hangingPunct="1">
              <a:lnSpc>
                <a:spcPct val="120000"/>
              </a:lnSpc>
              <a:buFont typeface="Wingdings" panose="05000000000000000000" pitchFamily="2" charset="2"/>
              <a:buChar char="ü"/>
            </a:pPr>
            <a:r>
              <a:rPr lang="en-US" altLang="en-US" dirty="0" smtClean="0">
                <a:solidFill>
                  <a:schemeClr val="bg1"/>
                </a:solidFill>
              </a:rPr>
              <a:t>number bonds</a:t>
            </a:r>
          </a:p>
          <a:p>
            <a:pPr marL="80963" indent="0" eaLnBrk="1" hangingPunct="1">
              <a:lnSpc>
                <a:spcPct val="120000"/>
              </a:lnSpc>
              <a:buNone/>
            </a:pPr>
            <a:endParaRPr lang="en-US" altLang="en-US" dirty="0">
              <a:solidFill>
                <a:schemeClr val="bg1"/>
              </a:solidFill>
            </a:endParaRPr>
          </a:p>
          <a:p>
            <a:pPr marL="423863" eaLnBrk="1" hangingPunct="1">
              <a:lnSpc>
                <a:spcPct val="120000"/>
              </a:lnSpc>
              <a:buFont typeface="Wingdings" panose="05000000000000000000" pitchFamily="2" charset="2"/>
              <a:buChar char="q"/>
            </a:pPr>
            <a:r>
              <a:rPr lang="en-US" altLang="en-US" dirty="0" smtClean="0">
                <a:solidFill>
                  <a:schemeClr val="bg1"/>
                </a:solidFill>
              </a:rPr>
              <a:t>For </a:t>
            </a:r>
            <a:r>
              <a:rPr lang="en-US" altLang="en-US" dirty="0">
                <a:solidFill>
                  <a:schemeClr val="bg1"/>
                </a:solidFill>
              </a:rPr>
              <a:t>teaching skills that are </a:t>
            </a:r>
            <a:r>
              <a:rPr lang="en-US" altLang="en-US" dirty="0" smtClean="0">
                <a:solidFill>
                  <a:schemeClr val="bg1"/>
                </a:solidFill>
              </a:rPr>
              <a:t>measurable and </a:t>
            </a:r>
            <a:r>
              <a:rPr lang="en-US" altLang="en-US" dirty="0">
                <a:solidFill>
                  <a:schemeClr val="bg1"/>
                </a:solidFill>
              </a:rPr>
              <a:t>need to be acquired to </a:t>
            </a:r>
            <a:r>
              <a:rPr lang="en-US" altLang="en-US" dirty="0" smtClean="0">
                <a:solidFill>
                  <a:schemeClr val="bg1"/>
                </a:solidFill>
              </a:rPr>
              <a:t>make progress</a:t>
            </a:r>
            <a:endParaRPr lang="en-US" altLang="en-US" dirty="0">
              <a:solidFill>
                <a:schemeClr val="bg1"/>
              </a:solidFill>
            </a:endParaRPr>
          </a:p>
          <a:p>
            <a:endParaRPr lang="en-GB" dirty="0"/>
          </a:p>
        </p:txBody>
      </p:sp>
    </p:spTree>
    <p:extLst>
      <p:ext uri="{BB962C8B-B14F-4D97-AF65-F5344CB8AC3E}">
        <p14:creationId xmlns:p14="http://schemas.microsoft.com/office/powerpoint/2010/main" val="16985796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470749" y="855054"/>
            <a:ext cx="7488238" cy="4665662"/>
          </a:xfrm>
        </p:spPr>
        <p:txBody>
          <a:bodyPr>
            <a:normAutofit fontScale="92500" lnSpcReduction="10000"/>
          </a:bodyPr>
          <a:lstStyle/>
          <a:p>
            <a:pPr eaLnBrk="1" hangingPunct="1">
              <a:lnSpc>
                <a:spcPct val="90000"/>
              </a:lnSpc>
              <a:buFont typeface="Wingdings" panose="05000000000000000000" pitchFamily="2" charset="2"/>
              <a:buChar char="q"/>
            </a:pPr>
            <a:r>
              <a:rPr lang="en-GB" altLang="en-US" dirty="0" smtClean="0">
                <a:solidFill>
                  <a:schemeClr val="bg1"/>
                </a:solidFill>
              </a:rPr>
              <a:t>Precision Teaching is based on the principle</a:t>
            </a:r>
          </a:p>
          <a:p>
            <a:pPr eaLnBrk="1" hangingPunct="1">
              <a:lnSpc>
                <a:spcPct val="90000"/>
              </a:lnSpc>
              <a:buFont typeface="Wingdings" pitchFamily="2" charset="2"/>
              <a:buNone/>
            </a:pPr>
            <a:r>
              <a:rPr lang="en-GB" altLang="en-US" dirty="0" smtClean="0">
                <a:solidFill>
                  <a:schemeClr val="bg1"/>
                </a:solidFill>
              </a:rPr>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anose="05000000000000000000" pitchFamily="2" charset="2"/>
              <a:buChar char="q"/>
            </a:pPr>
            <a:r>
              <a:rPr lang="en-GB" altLang="en-US" dirty="0" smtClean="0">
                <a:solidFill>
                  <a:schemeClr val="bg1"/>
                </a:solidFill>
              </a:rPr>
              <a:t>	The Learning Hierarchy* identifies five important stages in skill development.</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sz="1800" i="1" dirty="0" smtClean="0">
                <a:solidFill>
                  <a:schemeClr val="bg1"/>
                </a:solidFill>
              </a:rPr>
              <a:t>	*Haring N.G. &amp; Eaton M.D. (1978) Systematic Instructional Procedures: An Instructional Hierarchy</a:t>
            </a:r>
          </a:p>
          <a:p>
            <a:pPr eaLnBrk="1" hangingPunct="1">
              <a:lnSpc>
                <a:spcPct val="90000"/>
              </a:lnSpc>
              <a:buFont typeface="Wingdings" pitchFamily="2" charset="2"/>
              <a:buNone/>
            </a:pPr>
            <a:endParaRPr lang="en-GB" altLang="en-US" sz="1800" i="1" dirty="0" smtClean="0"/>
          </a:p>
          <a:p>
            <a:pPr eaLnBrk="1" hangingPunct="1">
              <a:lnSpc>
                <a:spcPct val="90000"/>
              </a:lnSpc>
              <a:buFont typeface="Wingdings" pitchFamily="2" charset="2"/>
              <a:buChar char="q"/>
            </a:pPr>
            <a:endParaRPr lang="en-GB" altLang="en-US" dirty="0" smtClean="0"/>
          </a:p>
        </p:txBody>
      </p:sp>
      <p:sp>
        <p:nvSpPr>
          <p:cNvPr id="6146"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The Learning Hierarchy</a:t>
            </a:r>
          </a:p>
        </p:txBody>
      </p:sp>
    </p:spTree>
    <p:extLst>
      <p:ext uri="{BB962C8B-B14F-4D97-AF65-F5344CB8AC3E}">
        <p14:creationId xmlns:p14="http://schemas.microsoft.com/office/powerpoint/2010/main" val="13606319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The Learning Hierarchy</a:t>
            </a:r>
          </a:p>
        </p:txBody>
      </p:sp>
      <p:graphicFrame>
        <p:nvGraphicFramePr>
          <p:cNvPr id="4" name="Group 38"/>
          <p:cNvGraphicFramePr>
            <a:graphicFrameLocks/>
          </p:cNvGraphicFramePr>
          <p:nvPr>
            <p:extLst>
              <p:ext uri="{D42A27DB-BD31-4B8C-83A1-F6EECF244321}">
                <p14:modId xmlns:p14="http://schemas.microsoft.com/office/powerpoint/2010/main" val="1038104782"/>
              </p:ext>
            </p:extLst>
          </p:nvPr>
        </p:nvGraphicFramePr>
        <p:xfrm>
          <a:off x="954460" y="908050"/>
          <a:ext cx="7416824" cy="4681999"/>
        </p:xfrm>
        <a:graphic>
          <a:graphicData uri="http://schemas.openxmlformats.org/drawingml/2006/table">
            <a:tbl>
              <a:tblPr/>
              <a:tblGrid>
                <a:gridCol w="2808312"/>
                <a:gridCol w="4608512"/>
              </a:tblGrid>
              <a:tr h="52567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Stage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bg1"/>
                          </a:solidFill>
                          <a:effectLst/>
                          <a:latin typeface="Arial" charset="0"/>
                        </a:rPr>
                        <a:t>Description</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4193">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bg1"/>
                          </a:solidFill>
                          <a:effectLst/>
                          <a:latin typeface="Arial" charset="0"/>
                        </a:rPr>
                        <a:t>Acquisition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smtClean="0">
                          <a:ln>
                            <a:noFill/>
                          </a:ln>
                          <a:solidFill>
                            <a:schemeClr val="bg1"/>
                          </a:solidFill>
                          <a:effectLst/>
                          <a:latin typeface="Arial" charset="0"/>
                        </a:rPr>
                        <a:t>Pupil initially shown how to use a skill (high level of teaching input)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61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Fluency</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smtClean="0">
                          <a:ln>
                            <a:noFill/>
                          </a:ln>
                          <a:solidFill>
                            <a:schemeClr val="bg1"/>
                          </a:solidFill>
                          <a:effectLst/>
                          <a:latin typeface="Arial" charset="0"/>
                        </a:rPr>
                        <a:t>Skill fluency enabled through regular practice and involvement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61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Maintenance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bg1"/>
                          </a:solidFill>
                          <a:effectLst/>
                          <a:latin typeface="Arial" charset="0"/>
                        </a:rPr>
                        <a:t>Skill retained due to regular reinforcement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5228">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Generalisation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bg1"/>
                          </a:solidFill>
                          <a:effectLst/>
                          <a:latin typeface="Arial" charset="0"/>
                        </a:rPr>
                        <a:t>Pupil learns to generalise the skill to new situations (may need explicit teaching)</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4193">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bg1"/>
                          </a:solidFill>
                          <a:effectLst/>
                          <a:latin typeface="Arial" charset="0"/>
                        </a:rPr>
                        <a:t>Adaptation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bg1"/>
                          </a:solidFill>
                          <a:effectLst/>
                          <a:latin typeface="Arial" charset="0"/>
                        </a:rPr>
                        <a:t>Pupil is able to apply the new skill independently and appropriately</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5712788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defRPr/>
            </a:pPr>
            <a:r>
              <a:rPr lang="en-GB" altLang="en-US" dirty="0">
                <a:solidFill>
                  <a:schemeClr val="bg1"/>
                </a:solidFill>
                <a:latin typeface="Arial" charset="0"/>
              </a:rPr>
              <a:t>The Learning Hierarchy</a:t>
            </a:r>
            <a:endParaRPr lang="en-GB" altLang="en-US" dirty="0" smtClean="0">
              <a:solidFill>
                <a:schemeClr val="bg1"/>
              </a:solidFill>
            </a:endParaRPr>
          </a:p>
        </p:txBody>
      </p:sp>
      <p:sp>
        <p:nvSpPr>
          <p:cNvPr id="8195" name="Rectangle 3"/>
          <p:cNvSpPr>
            <a:spLocks noGrp="1" noChangeArrowheads="1"/>
          </p:cNvSpPr>
          <p:nvPr>
            <p:ph idx="4294967295"/>
          </p:nvPr>
        </p:nvSpPr>
        <p:spPr>
          <a:xfrm>
            <a:off x="215900" y="1412875"/>
            <a:ext cx="8353425" cy="4467225"/>
          </a:xfrm>
        </p:spPr>
        <p:txBody>
          <a:bodyPr>
            <a:normAutofit fontScale="92500" lnSpcReduction="10000"/>
          </a:bodyPr>
          <a:lstStyle/>
          <a:p>
            <a:pPr>
              <a:buFont typeface="Wingdings" panose="05000000000000000000" pitchFamily="2" charset="2"/>
              <a:buChar char="q"/>
            </a:pPr>
            <a:r>
              <a:rPr lang="en-GB" altLang="en-US" sz="2400" dirty="0">
                <a:solidFill>
                  <a:schemeClr val="bg1"/>
                </a:solidFill>
              </a:rPr>
              <a:t>Maintenance (or mastery) is achieved when a skill can be sustained at a fluent level. </a:t>
            </a:r>
            <a:endParaRPr lang="en-GB" altLang="en-US" sz="2400" dirty="0" smtClean="0">
              <a:solidFill>
                <a:schemeClr val="bg1"/>
              </a:solidFill>
            </a:endParaRP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Without fluent performance of the skill it will be forgotten</a:t>
            </a:r>
            <a:r>
              <a:rPr lang="en-GB" altLang="en-US" sz="2400" dirty="0" smtClean="0">
                <a:solidFill>
                  <a:schemeClr val="bg1"/>
                </a:solidFill>
              </a:rPr>
              <a: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Most children with learning difficulties don’t achieve fluency levels and therefore a level of maintenance for new skills that they are </a:t>
            </a:r>
            <a:r>
              <a:rPr lang="en-GB" altLang="en-US" sz="2400" dirty="0" smtClean="0">
                <a:solidFill>
                  <a:schemeClr val="bg1"/>
                </a:solidFill>
              </a:rPr>
              <a:t>taught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Accuracy is important but not </a:t>
            </a:r>
            <a:r>
              <a:rPr lang="en-GB" altLang="en-US" sz="2400" dirty="0" smtClean="0">
                <a:solidFill>
                  <a:schemeClr val="bg1"/>
                </a:solidFill>
              </a:rPr>
              <a:t>sufficient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OVERLEARNING</a:t>
            </a:r>
          </a:p>
        </p:txBody>
      </p:sp>
    </p:spTree>
    <p:extLst>
      <p:ext uri="{BB962C8B-B14F-4D97-AF65-F5344CB8AC3E}">
        <p14:creationId xmlns:p14="http://schemas.microsoft.com/office/powerpoint/2010/main" val="25548297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0" y="1698625"/>
            <a:ext cx="8353425" cy="4467225"/>
          </a:xfrm>
        </p:spPr>
        <p:txBody>
          <a:bodyPr>
            <a:normAutofit/>
          </a:bodyPr>
          <a:lstStyle/>
          <a:p>
            <a:pPr>
              <a:lnSpc>
                <a:spcPct val="90000"/>
              </a:lnSpc>
              <a:buFont typeface="Wingdings" panose="05000000000000000000" pitchFamily="2" charset="2"/>
              <a:buChar char="q"/>
            </a:pPr>
            <a:r>
              <a:rPr lang="en-GB" altLang="en-US" sz="2400" dirty="0">
                <a:solidFill>
                  <a:schemeClr val="bg1"/>
                </a:solidFill>
              </a:rPr>
              <a:t>A Planning </a:t>
            </a:r>
            <a:r>
              <a:rPr lang="en-GB" altLang="en-US" sz="2400" dirty="0" smtClean="0">
                <a:solidFill>
                  <a:schemeClr val="bg1"/>
                </a:solidFill>
              </a:rPr>
              <a:t>Stage</a:t>
            </a:r>
          </a:p>
          <a:p>
            <a:pPr marL="0" indent="0">
              <a:lnSpc>
                <a:spcPct val="90000"/>
              </a:lnSpc>
              <a:buNone/>
            </a:pPr>
            <a:endParaRPr lang="en-GB" altLang="en-US" sz="2400" dirty="0">
              <a:solidFill>
                <a:schemeClr val="bg1"/>
              </a:solidFill>
            </a:endParaRPr>
          </a:p>
          <a:p>
            <a:pPr>
              <a:lnSpc>
                <a:spcPct val="90000"/>
              </a:lnSpc>
              <a:buNone/>
            </a:pPr>
            <a:r>
              <a:rPr lang="en-GB" altLang="en-US" sz="2400" dirty="0">
                <a:solidFill>
                  <a:schemeClr val="bg1"/>
                </a:solidFill>
              </a:rPr>
              <a:t> - The area of skill is assessed to establish a baseline measure and starting point for teaching input</a:t>
            </a:r>
          </a:p>
          <a:p>
            <a:pPr>
              <a:lnSpc>
                <a:spcPct val="90000"/>
              </a:lnSpc>
              <a:buNone/>
            </a:pPr>
            <a:endParaRPr lang="en-GB" altLang="en-US" sz="2400" dirty="0">
              <a:solidFill>
                <a:schemeClr val="bg1"/>
              </a:solidFill>
            </a:endParaRPr>
          </a:p>
          <a:p>
            <a:pPr>
              <a:lnSpc>
                <a:spcPct val="90000"/>
              </a:lnSpc>
              <a:buNone/>
            </a:pPr>
            <a:r>
              <a:rPr lang="en-GB" altLang="en-US" sz="2400" dirty="0">
                <a:solidFill>
                  <a:schemeClr val="bg1"/>
                </a:solidFill>
              </a:rPr>
              <a:t> - SMART targets are developed </a:t>
            </a:r>
          </a:p>
          <a:p>
            <a:pPr>
              <a:lnSpc>
                <a:spcPct val="90000"/>
              </a:lnSpc>
              <a:buNone/>
            </a:pPr>
            <a:endParaRPr lang="en-GB" altLang="en-US" sz="2400" dirty="0">
              <a:solidFill>
                <a:schemeClr val="bg1"/>
              </a:solidFill>
            </a:endParaRPr>
          </a:p>
          <a:p>
            <a:pPr>
              <a:lnSpc>
                <a:spcPct val="90000"/>
              </a:lnSpc>
              <a:buNone/>
            </a:pPr>
            <a:r>
              <a:rPr lang="en-GB" altLang="en-US" sz="2400" dirty="0">
                <a:solidFill>
                  <a:schemeClr val="bg1"/>
                </a:solidFill>
              </a:rPr>
              <a:t> - A teaching method is chosen and arrangements are made to implement the programme on a daily basis</a:t>
            </a:r>
          </a:p>
        </p:txBody>
      </p:sp>
    </p:spTree>
    <p:extLst>
      <p:ext uri="{BB962C8B-B14F-4D97-AF65-F5344CB8AC3E}">
        <p14:creationId xmlns:p14="http://schemas.microsoft.com/office/powerpoint/2010/main" val="8774895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215900" y="1428750"/>
            <a:ext cx="8353425" cy="4467225"/>
          </a:xfrm>
        </p:spPr>
        <p:txBody>
          <a:bodyPr>
            <a:normAutofit/>
          </a:bodyPr>
          <a:lstStyle/>
          <a:p>
            <a:pPr>
              <a:buFont typeface="Wingdings" panose="05000000000000000000" pitchFamily="2" charset="2"/>
              <a:buChar char="q"/>
            </a:pPr>
            <a:r>
              <a:rPr lang="en-GB" altLang="en-US" sz="2400" dirty="0">
                <a:solidFill>
                  <a:schemeClr val="bg1"/>
                </a:solidFill>
              </a:rPr>
              <a:t>An Implementation </a:t>
            </a:r>
            <a:r>
              <a:rPr lang="en-GB" altLang="en-US" sz="2400" dirty="0" smtClean="0">
                <a:solidFill>
                  <a:schemeClr val="bg1"/>
                </a:solidFill>
              </a:rPr>
              <a:t>Stage</a:t>
            </a:r>
            <a:endParaRPr lang="en-GB" altLang="en-US" sz="2400" dirty="0">
              <a:solidFill>
                <a:schemeClr val="bg1"/>
              </a:solidFill>
            </a:endParaRPr>
          </a:p>
          <a:p>
            <a:pPr>
              <a:lnSpc>
                <a:spcPct val="150000"/>
              </a:lnSpc>
              <a:buNone/>
            </a:pPr>
            <a:r>
              <a:rPr lang="en-GB" altLang="en-US" sz="2400" dirty="0">
                <a:solidFill>
                  <a:schemeClr val="bg1"/>
                </a:solidFill>
              </a:rPr>
              <a:t> - The child is involved in a daily 10 min session with a member of staff</a:t>
            </a:r>
          </a:p>
          <a:p>
            <a:pPr>
              <a:lnSpc>
                <a:spcPct val="150000"/>
              </a:lnSpc>
              <a:buNone/>
            </a:pPr>
            <a:r>
              <a:rPr lang="en-GB" altLang="en-US" sz="2400" dirty="0">
                <a:solidFill>
                  <a:schemeClr val="bg1"/>
                </a:solidFill>
              </a:rPr>
              <a:t> - Sessions should include the teaching input followed by a 1 minute timed test known as a PROBE</a:t>
            </a:r>
          </a:p>
          <a:p>
            <a:pPr>
              <a:lnSpc>
                <a:spcPct val="150000"/>
              </a:lnSpc>
              <a:buNone/>
            </a:pPr>
            <a:r>
              <a:rPr lang="en-GB" altLang="en-US" sz="2400" dirty="0">
                <a:solidFill>
                  <a:schemeClr val="bg1"/>
                </a:solidFill>
              </a:rPr>
              <a:t> - The child’s performance on the PROBE is recorded and the results are shared with the child</a:t>
            </a:r>
          </a:p>
        </p:txBody>
      </p:sp>
    </p:spTree>
    <p:extLst>
      <p:ext uri="{BB962C8B-B14F-4D97-AF65-F5344CB8AC3E}">
        <p14:creationId xmlns:p14="http://schemas.microsoft.com/office/powerpoint/2010/main" val="1886451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215900" y="1428750"/>
            <a:ext cx="8353425" cy="4467225"/>
          </a:xfrm>
        </p:spPr>
        <p:txBody>
          <a:bodyPr>
            <a:normAutofit/>
          </a:bodyPr>
          <a:lstStyle/>
          <a:p>
            <a:pPr>
              <a:buFont typeface="Wingdings" panose="05000000000000000000" pitchFamily="2" charset="2"/>
              <a:buChar char="q"/>
            </a:pPr>
            <a:r>
              <a:rPr lang="en-GB" altLang="en-US" sz="2800" dirty="0">
                <a:solidFill>
                  <a:schemeClr val="bg1"/>
                </a:solidFill>
              </a:rPr>
              <a:t>A Review Stage</a:t>
            </a:r>
          </a:p>
          <a:p>
            <a:pPr>
              <a:buNone/>
            </a:pPr>
            <a:endParaRPr lang="en-GB" altLang="en-US" sz="2800" dirty="0">
              <a:solidFill>
                <a:schemeClr val="bg1"/>
              </a:solidFill>
            </a:endParaRPr>
          </a:p>
          <a:p>
            <a:pPr>
              <a:buNone/>
            </a:pPr>
            <a:r>
              <a:rPr lang="en-GB" altLang="en-US" sz="2800" dirty="0">
                <a:solidFill>
                  <a:schemeClr val="bg1"/>
                </a:solidFill>
              </a:rPr>
              <a:t> - The child’s rate of progress is reviewed</a:t>
            </a:r>
          </a:p>
          <a:p>
            <a:pPr>
              <a:buNone/>
            </a:pPr>
            <a:endParaRPr lang="en-GB" altLang="en-US" sz="2800" dirty="0">
              <a:solidFill>
                <a:schemeClr val="bg1"/>
              </a:solidFill>
            </a:endParaRPr>
          </a:p>
          <a:p>
            <a:pPr>
              <a:buNone/>
            </a:pPr>
            <a:r>
              <a:rPr lang="en-GB" altLang="en-US" sz="2800" dirty="0">
                <a:solidFill>
                  <a:schemeClr val="bg1"/>
                </a:solidFill>
              </a:rPr>
              <a:t> - The appropriateness of the targets and teaching methods are considered and changes are made where appropriate.</a:t>
            </a:r>
          </a:p>
        </p:txBody>
      </p:sp>
    </p:spTree>
    <p:extLst>
      <p:ext uri="{BB962C8B-B14F-4D97-AF65-F5344CB8AC3E}">
        <p14:creationId xmlns:p14="http://schemas.microsoft.com/office/powerpoint/2010/main" val="23726840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268413"/>
            <a:ext cx="7086600" cy="1554162"/>
          </a:xfrm>
        </p:spPr>
        <p:txBody>
          <a:bodyPr/>
          <a:lstStyle/>
          <a:p>
            <a:pPr algn="ctr"/>
            <a:r>
              <a:rPr lang="en-GB" altLang="en-US" sz="3600" u="sng" dirty="0" smtClean="0">
                <a:solidFill>
                  <a:schemeClr val="bg1"/>
                </a:solidFill>
              </a:rPr>
              <a:t>Before you start Precision Teaching</a:t>
            </a:r>
            <a:r>
              <a:rPr lang="en-GB" altLang="en-US" sz="3600" dirty="0" smtClean="0">
                <a:solidFill>
                  <a:schemeClr val="bg1"/>
                </a:solidFill>
              </a:rPr>
              <a:t> </a:t>
            </a:r>
          </a:p>
        </p:txBody>
      </p:sp>
      <p:sp>
        <p:nvSpPr>
          <p:cNvPr id="13315" name="Rectangle 3"/>
          <p:cNvSpPr>
            <a:spLocks noGrp="1" noChangeArrowheads="1"/>
          </p:cNvSpPr>
          <p:nvPr>
            <p:ph type="body" idx="4294967295"/>
          </p:nvPr>
        </p:nvSpPr>
        <p:spPr>
          <a:xfrm>
            <a:off x="0" y="3068638"/>
            <a:ext cx="5257800" cy="2520950"/>
          </a:xfrm>
        </p:spPr>
        <p:txBody>
          <a:bodyPr/>
          <a:lstStyle/>
          <a:p>
            <a:pPr>
              <a:buFont typeface="Wingdings" panose="05000000000000000000" pitchFamily="2" charset="2"/>
              <a:buChar char="q"/>
            </a:pPr>
            <a:r>
              <a:rPr lang="en-GB" altLang="en-US" sz="2800" dirty="0" smtClean="0">
                <a:solidFill>
                  <a:schemeClr val="bg1"/>
                </a:solidFill>
              </a:rPr>
              <a:t>Consistency is key!</a:t>
            </a:r>
          </a:p>
          <a:p>
            <a:pPr lvl="1">
              <a:buFont typeface="Wingdings" panose="05000000000000000000" pitchFamily="2" charset="2"/>
              <a:buChar char="ü"/>
            </a:pPr>
            <a:r>
              <a:rPr lang="en-GB" altLang="en-US" sz="2800" dirty="0" smtClean="0">
                <a:solidFill>
                  <a:schemeClr val="bg1"/>
                </a:solidFill>
              </a:rPr>
              <a:t>When?</a:t>
            </a:r>
          </a:p>
          <a:p>
            <a:pPr lvl="1">
              <a:buFont typeface="Wingdings" panose="05000000000000000000" pitchFamily="2" charset="2"/>
              <a:buChar char="ü"/>
            </a:pPr>
            <a:r>
              <a:rPr lang="en-GB" altLang="en-US" sz="2800" dirty="0" smtClean="0">
                <a:solidFill>
                  <a:schemeClr val="bg1"/>
                </a:solidFill>
              </a:rPr>
              <a:t>Where?</a:t>
            </a:r>
          </a:p>
        </p:txBody>
      </p:sp>
    </p:spTree>
    <p:extLst>
      <p:ext uri="{BB962C8B-B14F-4D97-AF65-F5344CB8AC3E}">
        <p14:creationId xmlns:p14="http://schemas.microsoft.com/office/powerpoint/2010/main" val="3502049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396738" y="476250"/>
            <a:ext cx="7848600" cy="1563688"/>
          </a:xfrm>
        </p:spPr>
        <p:txBody>
          <a:bodyPr rIns="31750" anchor="b"/>
          <a:lstStyle/>
          <a:p>
            <a:pPr indent="0" algn="ctr" eaLnBrk="1" hangingPunct="1"/>
            <a:r>
              <a:rPr lang="en-US" altLang="en-US" sz="3200" u="sng" dirty="0" smtClean="0">
                <a:solidFill>
                  <a:schemeClr val="bg1"/>
                </a:solidFill>
              </a:rPr>
              <a:t>‘Task Analysis’ – where are they now? </a:t>
            </a:r>
          </a:p>
        </p:txBody>
      </p:sp>
      <p:sp>
        <p:nvSpPr>
          <p:cNvPr id="14339" name="Rectangle 2"/>
          <p:cNvSpPr>
            <a:spLocks noGrp="1" noChangeArrowheads="1"/>
          </p:cNvSpPr>
          <p:nvPr>
            <p:ph type="body" idx="4294967295"/>
          </p:nvPr>
        </p:nvSpPr>
        <p:spPr>
          <a:xfrm>
            <a:off x="0"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Select a problem area, e.g. sight words, letter sounds</a:t>
            </a:r>
          </a:p>
          <a:p>
            <a:pPr marL="39688" indent="0" eaLnBrk="1" hangingPunct="1">
              <a:lnSpc>
                <a:spcPct val="80000"/>
              </a:lnSpc>
              <a:buSzPct val="99000"/>
              <a:buNone/>
            </a:pPr>
            <a:endParaRPr lang="en-US" altLang="en-US" sz="2800" dirty="0" smtClean="0">
              <a:solidFill>
                <a:schemeClr val="bg1"/>
              </a:solidFill>
            </a:endParaRPr>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Find out what the child already knows, probably by doing a short test</a:t>
            </a:r>
          </a:p>
        </p:txBody>
      </p:sp>
    </p:spTree>
    <p:extLst>
      <p:ext uri="{BB962C8B-B14F-4D97-AF65-F5344CB8AC3E}">
        <p14:creationId xmlns:p14="http://schemas.microsoft.com/office/powerpoint/2010/main" val="3981500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46113" y="115888"/>
            <a:ext cx="8497887" cy="1296987"/>
          </a:xfrm>
        </p:spPr>
        <p:txBody>
          <a:bodyPr/>
          <a:lstStyle/>
          <a:p>
            <a:pPr algn="ctr" eaLnBrk="1" hangingPunct="1"/>
            <a:r>
              <a:rPr lang="en-GB" altLang="en-US" sz="3200" dirty="0" smtClean="0">
                <a:solidFill>
                  <a:schemeClr val="bg1"/>
                </a:solidFill>
                <a:latin typeface="Arial" charset="0"/>
              </a:rPr>
              <a:t>Initial Assessment – using ‘Letters and Sounds’</a:t>
            </a:r>
          </a:p>
        </p:txBody>
      </p:sp>
      <p:sp>
        <p:nvSpPr>
          <p:cNvPr id="13315" name="Rectangle 4"/>
          <p:cNvSpPr>
            <a:spLocks noGrp="1" noChangeArrowheads="1"/>
          </p:cNvSpPr>
          <p:nvPr>
            <p:ph type="body" sz="half" idx="4294967295"/>
          </p:nvPr>
        </p:nvSpPr>
        <p:spPr>
          <a:xfrm>
            <a:off x="228600" y="1922463"/>
            <a:ext cx="3810000" cy="4530725"/>
          </a:xfrm>
        </p:spPr>
        <p:txBody>
          <a:bodyPr/>
          <a:lstStyle/>
          <a:p>
            <a:pPr>
              <a:buFont typeface="Wingdings" panose="05000000000000000000" pitchFamily="2" charset="2"/>
              <a:buChar char="q"/>
            </a:pPr>
            <a:r>
              <a:rPr lang="en-GB" altLang="en-US" sz="2800" dirty="0">
                <a:solidFill>
                  <a:schemeClr val="bg1"/>
                </a:solidFill>
              </a:rPr>
              <a:t>6 Phases</a:t>
            </a:r>
          </a:p>
          <a:p>
            <a:pPr>
              <a:buFont typeface="Wingdings" panose="05000000000000000000" pitchFamily="2" charset="2"/>
              <a:buChar char="q"/>
            </a:pPr>
            <a:r>
              <a:rPr lang="en-GB" altLang="en-US" sz="2800" dirty="0">
                <a:solidFill>
                  <a:schemeClr val="bg1"/>
                </a:solidFill>
              </a:rPr>
              <a:t>Designed to start in EY Foundation</a:t>
            </a:r>
          </a:p>
          <a:p>
            <a:pPr>
              <a:buFont typeface="Wingdings" panose="05000000000000000000" pitchFamily="2" charset="2"/>
              <a:buChar char="q"/>
            </a:pPr>
            <a:r>
              <a:rPr lang="en-GB" altLang="en-US" sz="2800" dirty="0">
                <a:solidFill>
                  <a:schemeClr val="bg1"/>
                </a:solidFill>
              </a:rPr>
              <a:t>By Phase 6, 100s of words known and most GPCs known</a:t>
            </a:r>
          </a:p>
          <a:p>
            <a:pPr marL="0" indent="0" eaLnBrk="1" hangingPunct="1">
              <a:buNone/>
            </a:pPr>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4294967295"/>
          </p:nvPr>
        </p:nvSpPr>
        <p:spPr>
          <a:xfrm>
            <a:off x="5067300" y="1922463"/>
            <a:ext cx="3810000" cy="4530725"/>
          </a:xfrm>
        </p:spPr>
        <p:txBody>
          <a:bodyPr>
            <a:normAutofit/>
          </a:bodyPr>
          <a:lstStyle/>
          <a:p>
            <a:pPr>
              <a:buFont typeface="Wingdings" panose="05000000000000000000" pitchFamily="2" charset="2"/>
              <a:buChar char="q"/>
            </a:pPr>
            <a:r>
              <a:rPr lang="en-GB" altLang="en-US" sz="2800" dirty="0">
                <a:solidFill>
                  <a:schemeClr val="bg1"/>
                </a:solidFill>
              </a:rPr>
              <a:t>Reading and writing taught together (phonemes and graphemes)</a:t>
            </a:r>
          </a:p>
          <a:p>
            <a:pPr>
              <a:buFont typeface="Wingdings" panose="05000000000000000000" pitchFamily="2" charset="2"/>
              <a:buChar char="q"/>
            </a:pPr>
            <a:r>
              <a:rPr lang="en-GB" altLang="en-US" sz="2800" dirty="0">
                <a:solidFill>
                  <a:schemeClr val="bg1"/>
                </a:solidFill>
              </a:rPr>
              <a:t>Decodable and Tricky words</a:t>
            </a:r>
          </a:p>
          <a:p>
            <a:pPr>
              <a:buFont typeface="Wingdings" panose="05000000000000000000" pitchFamily="2" charset="2"/>
              <a:buChar char="q"/>
            </a:pPr>
            <a:r>
              <a:rPr lang="en-GB" altLang="en-US" sz="2800" dirty="0">
                <a:solidFill>
                  <a:schemeClr val="bg1"/>
                </a:solidFill>
              </a:rPr>
              <a:t>Assessment built in at each stage</a:t>
            </a:r>
          </a:p>
        </p:txBody>
      </p:sp>
    </p:spTree>
    <p:extLst>
      <p:ext uri="{BB962C8B-B14F-4D97-AF65-F5344CB8AC3E}">
        <p14:creationId xmlns:p14="http://schemas.microsoft.com/office/powerpoint/2010/main" val="17823595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46113" y="115888"/>
            <a:ext cx="8497887" cy="1296987"/>
          </a:xfrm>
        </p:spPr>
        <p:txBody>
          <a:bodyPr/>
          <a:lstStyle/>
          <a:p>
            <a:pPr algn="ctr" eaLnBrk="1" hangingPunct="1"/>
            <a:r>
              <a:rPr lang="en-GB" altLang="en-US" sz="3200" dirty="0" smtClean="0">
                <a:solidFill>
                  <a:schemeClr val="bg1"/>
                </a:solidFill>
                <a:latin typeface="Arial" charset="0"/>
              </a:rPr>
              <a:t>Initial Assessment – using ‘Letters and Sounds’</a:t>
            </a:r>
          </a:p>
        </p:txBody>
      </p:sp>
      <p:sp>
        <p:nvSpPr>
          <p:cNvPr id="13315" name="Rectangle 4"/>
          <p:cNvSpPr>
            <a:spLocks noGrp="1" noChangeArrowheads="1"/>
          </p:cNvSpPr>
          <p:nvPr>
            <p:ph type="body" sz="half" idx="4294967295"/>
          </p:nvPr>
        </p:nvSpPr>
        <p:spPr>
          <a:xfrm>
            <a:off x="228600" y="1922463"/>
            <a:ext cx="3810000" cy="4530725"/>
          </a:xfrm>
        </p:spPr>
        <p:txBody>
          <a:bodyPr/>
          <a:lstStyle/>
          <a:p>
            <a:pPr>
              <a:buFont typeface="Wingdings" panose="05000000000000000000" pitchFamily="2" charset="2"/>
              <a:buChar char="q"/>
            </a:pPr>
            <a:r>
              <a:rPr lang="en-GB" altLang="en-US" sz="2800" dirty="0">
                <a:solidFill>
                  <a:schemeClr val="bg1"/>
                </a:solidFill>
              </a:rPr>
              <a:t>Can be used with any age group but aims to start (phase 1) with 5 year olds</a:t>
            </a:r>
          </a:p>
          <a:p>
            <a:pPr>
              <a:buFont typeface="Wingdings" panose="05000000000000000000" pitchFamily="2" charset="2"/>
              <a:buChar char="q"/>
            </a:pPr>
            <a:r>
              <a:rPr lang="en-GB" altLang="en-US" sz="2800" dirty="0">
                <a:solidFill>
                  <a:schemeClr val="bg1"/>
                </a:solidFill>
              </a:rPr>
              <a:t>Children move from one phase to next at their own pace</a:t>
            </a:r>
          </a:p>
          <a:p>
            <a:pPr marL="0" indent="0" eaLnBrk="1" hangingPunct="1">
              <a:buNone/>
            </a:pPr>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4294967295"/>
          </p:nvPr>
        </p:nvSpPr>
        <p:spPr>
          <a:xfrm>
            <a:off x="5067300" y="1922463"/>
            <a:ext cx="3810000" cy="4530725"/>
          </a:xfrm>
        </p:spPr>
        <p:txBody>
          <a:bodyPr>
            <a:normAutofit/>
          </a:bodyPr>
          <a:lstStyle/>
          <a:p>
            <a:pPr>
              <a:buFont typeface="Wingdings" panose="05000000000000000000" pitchFamily="2" charset="2"/>
              <a:buChar char="q"/>
            </a:pPr>
            <a:r>
              <a:rPr lang="en-GB" altLang="en-US" sz="2800" dirty="0">
                <a:solidFill>
                  <a:schemeClr val="bg1"/>
                </a:solidFill>
              </a:rPr>
              <a:t>Most children would complete phase 6 by end of KS1</a:t>
            </a:r>
          </a:p>
          <a:p>
            <a:pPr>
              <a:buFont typeface="Wingdings" panose="05000000000000000000" pitchFamily="2" charset="2"/>
              <a:buChar char="q"/>
            </a:pPr>
            <a:r>
              <a:rPr lang="en-GB" altLang="en-US" sz="2800" dirty="0">
                <a:solidFill>
                  <a:schemeClr val="bg1"/>
                </a:solidFill>
              </a:rPr>
              <a:t>Most SEN children will continue on programme in KS2</a:t>
            </a:r>
          </a:p>
          <a:p>
            <a:pPr>
              <a:buFont typeface="Wingdings" panose="05000000000000000000" pitchFamily="2" charset="2"/>
              <a:buChar char="q"/>
            </a:pPr>
            <a:r>
              <a:rPr lang="en-GB" altLang="en-US" sz="2800" dirty="0">
                <a:solidFill>
                  <a:schemeClr val="bg1"/>
                </a:solidFill>
              </a:rPr>
              <a:t>‘Stuck’ children can receive Precision Teaching approach</a:t>
            </a:r>
          </a:p>
        </p:txBody>
      </p:sp>
    </p:spTree>
    <p:extLst>
      <p:ext uri="{BB962C8B-B14F-4D97-AF65-F5344CB8AC3E}">
        <p14:creationId xmlns:p14="http://schemas.microsoft.com/office/powerpoint/2010/main" val="13705328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lstStyle/>
          <a:p>
            <a:pPr eaLnBrk="1" hangingPunct="1">
              <a:buFont typeface="Wingdings" panose="05000000000000000000" pitchFamily="2" charset="2"/>
              <a:buChar char="q"/>
            </a:pPr>
            <a:r>
              <a:rPr lang="en-GB" altLang="en-US" sz="2800" dirty="0" smtClean="0">
                <a:solidFill>
                  <a:schemeClr val="bg1"/>
                </a:solidFill>
              </a:rPr>
              <a:t>Probes contain a defined set of items, often letters, words or sums on which the child is tested, usually for one minute.</a:t>
            </a:r>
          </a:p>
          <a:p>
            <a:pPr eaLnBrk="1" hangingPunct="1">
              <a:buFont typeface="Wingdings" panose="05000000000000000000" pitchFamily="2" charset="2"/>
              <a:buChar char="q"/>
            </a:pPr>
            <a:endParaRPr lang="en-GB" altLang="en-US" sz="2800" dirty="0" smtClean="0">
              <a:solidFill>
                <a:schemeClr val="bg1"/>
              </a:solidFill>
            </a:endParaRPr>
          </a:p>
          <a:p>
            <a:pPr eaLnBrk="1" hangingPunct="1">
              <a:buFont typeface="Wingdings" panose="05000000000000000000" pitchFamily="2" charset="2"/>
              <a:buChar char="q"/>
            </a:pPr>
            <a:r>
              <a:rPr lang="en-GB" altLang="en-US" sz="2800" dirty="0" smtClean="0">
                <a:solidFill>
                  <a:schemeClr val="bg1"/>
                </a:solidFill>
              </a:rPr>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27501598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normAutofit/>
          </a:bodyPr>
          <a:lstStyle/>
          <a:p>
            <a:pPr>
              <a:buFont typeface="Wingdings" panose="05000000000000000000" pitchFamily="2" charset="2"/>
              <a:buChar char="q"/>
            </a:pPr>
            <a:r>
              <a:rPr lang="en-GB" altLang="en-US" sz="2400" dirty="0">
                <a:solidFill>
                  <a:schemeClr val="bg1"/>
                </a:solidFill>
              </a:rPr>
              <a:t>Wider ranging probes can be used to make an initial assessment of what the child knows and where the gaps are</a:t>
            </a:r>
            <a:r>
              <a:rPr lang="en-GB" altLang="en-US" sz="2400" dirty="0" smtClean="0">
                <a:solidFill>
                  <a:schemeClr val="bg1"/>
                </a:solidFill>
              </a:rPr>
              <a: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These will pinpoint a start point in the Letters and Sounds programme and show which phase to choose</a:t>
            </a:r>
            <a:r>
              <a:rPr lang="en-GB" altLang="en-US" sz="2400" dirty="0" smtClean="0">
                <a:solidFill>
                  <a:schemeClr val="bg1"/>
                </a:solidFill>
              </a:rPr>
              <a: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The teaching programme will use more narrow range probes to teach and monitor the acquisition of skills on a step-by-step basis</a:t>
            </a:r>
          </a:p>
          <a:p>
            <a:pPr marL="0" indent="0" eaLnBrk="1" hangingPunct="1">
              <a:buNone/>
            </a:pPr>
            <a:endParaRPr lang="en-GB" altLang="en-US" dirty="0" smtClean="0"/>
          </a:p>
        </p:txBody>
      </p:sp>
    </p:spTree>
    <p:extLst>
      <p:ext uri="{BB962C8B-B14F-4D97-AF65-F5344CB8AC3E}">
        <p14:creationId xmlns:p14="http://schemas.microsoft.com/office/powerpoint/2010/main" val="38202376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115888"/>
            <a:ext cx="8280400" cy="649287"/>
          </a:xfrm>
        </p:spPr>
        <p:txBody>
          <a:bodyPr/>
          <a:lstStyle/>
          <a:p>
            <a:pPr algn="ctr" eaLnBrk="1" hangingPunct="1"/>
            <a:r>
              <a:rPr lang="en-GB" altLang="en-US" sz="3200" dirty="0" smtClean="0">
                <a:solidFill>
                  <a:schemeClr val="bg1"/>
                </a:solidFill>
                <a:latin typeface="Arial" charset="0"/>
              </a:rPr>
              <a:t>Letters and Probes</a:t>
            </a:r>
          </a:p>
        </p:txBody>
      </p:sp>
      <p:sp>
        <p:nvSpPr>
          <p:cNvPr id="16387" name="Rectangle 4"/>
          <p:cNvSpPr>
            <a:spLocks noGrp="1" noChangeArrowheads="1"/>
          </p:cNvSpPr>
          <p:nvPr>
            <p:ph type="body" sz="half" idx="4294967295"/>
          </p:nvPr>
        </p:nvSpPr>
        <p:spPr>
          <a:xfrm>
            <a:off x="571500" y="1196975"/>
            <a:ext cx="3810000" cy="4530725"/>
          </a:xfrm>
        </p:spPr>
        <p:txBody>
          <a:bodyPr/>
          <a:lstStyle/>
          <a:p>
            <a:pPr marL="0" indent="0" eaLnBrk="1" hangingPunct="1">
              <a:buNone/>
            </a:pPr>
            <a:r>
              <a:rPr lang="en-GB" altLang="en-US" sz="2400" b="1" dirty="0" smtClean="0">
                <a:solidFill>
                  <a:schemeClr val="bg1"/>
                </a:solidFill>
              </a:rPr>
              <a:t>Top Level Probes</a:t>
            </a:r>
          </a:p>
          <a:p>
            <a:pPr eaLnBrk="1" hangingPunct="1">
              <a:buFont typeface="Wingdings" pitchFamily="2" charset="2"/>
              <a:buNone/>
            </a:pPr>
            <a:endParaRPr lang="en-GB" altLang="en-US" sz="2400"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These are wide ranging probes which contain all the items and skills taught in a particular phase</a:t>
            </a:r>
          </a:p>
          <a:p>
            <a:pPr eaLnBrk="1" hangingPunct="1">
              <a:buFont typeface="Wingdings" panose="05000000000000000000" pitchFamily="2" charset="2"/>
              <a:buChar char="q"/>
            </a:pPr>
            <a:r>
              <a:rPr lang="en-GB" altLang="en-US" sz="2400" dirty="0" smtClean="0">
                <a:solidFill>
                  <a:schemeClr val="bg1"/>
                </a:solidFill>
              </a:rPr>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4294967295"/>
          </p:nvPr>
        </p:nvSpPr>
        <p:spPr>
          <a:xfrm>
            <a:off x="4762500" y="1196975"/>
            <a:ext cx="3810000" cy="4530725"/>
          </a:xfrm>
        </p:spPr>
        <p:txBody>
          <a:bodyPr/>
          <a:lstStyle/>
          <a:p>
            <a:pPr marL="0" indent="0" eaLnBrk="1" hangingPunct="1">
              <a:buNone/>
            </a:pPr>
            <a:r>
              <a:rPr lang="en-GB" altLang="en-US" sz="2400" b="1" dirty="0" smtClean="0">
                <a:solidFill>
                  <a:schemeClr val="bg1"/>
                </a:solidFill>
              </a:rPr>
              <a:t>Subset probes</a:t>
            </a:r>
          </a:p>
          <a:p>
            <a:pPr eaLnBrk="1" hangingPunct="1"/>
            <a:endParaRPr lang="en-GB" altLang="en-US" sz="2400" b="1"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These are probes which contain a much narrower subset of skills</a:t>
            </a:r>
          </a:p>
          <a:p>
            <a:pPr eaLnBrk="1" hangingPunct="1">
              <a:buFont typeface="Wingdings" panose="05000000000000000000" pitchFamily="2" charset="2"/>
              <a:buChar char="q"/>
            </a:pPr>
            <a:r>
              <a:rPr lang="en-GB" altLang="en-US" sz="2400" dirty="0" smtClean="0">
                <a:solidFill>
                  <a:schemeClr val="bg1"/>
                </a:solidFill>
              </a:rPr>
              <a:t>Can be used to make teaching decisions for slower learning children</a:t>
            </a:r>
          </a:p>
          <a:p>
            <a:pPr eaLnBrk="1" hangingPunct="1">
              <a:buFont typeface="Wingdings" panose="05000000000000000000" pitchFamily="2" charset="2"/>
              <a:buChar char="q"/>
            </a:pPr>
            <a:r>
              <a:rPr lang="en-GB" altLang="en-US" sz="2400" dirty="0" smtClean="0">
                <a:solidFill>
                  <a:schemeClr val="bg1"/>
                </a:solidFill>
              </a:rPr>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11589030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17411" name="Rectangle 3"/>
          <p:cNvSpPr>
            <a:spLocks noGrp="1" noChangeArrowheads="1"/>
          </p:cNvSpPr>
          <p:nvPr>
            <p:ph type="body" idx="4294967295"/>
          </p:nvPr>
        </p:nvSpPr>
        <p:spPr>
          <a:xfrm>
            <a:off x="0" y="1050257"/>
            <a:ext cx="7272338" cy="4319588"/>
          </a:xfrm>
        </p:spPr>
        <p:txBody>
          <a:bodyPr>
            <a:normAutofit fontScale="92500" lnSpcReduction="20000"/>
          </a:bodyPr>
          <a:lstStyle/>
          <a:p>
            <a:pPr eaLnBrk="1" hangingPunct="1">
              <a:buFont typeface="Wingdings" panose="05000000000000000000" pitchFamily="2" charset="2"/>
              <a:buChar char="q"/>
            </a:pPr>
            <a:r>
              <a:rPr lang="en-GB" altLang="en-US" sz="2800" dirty="0" smtClean="0">
                <a:solidFill>
                  <a:schemeClr val="bg1"/>
                </a:solidFill>
              </a:rPr>
              <a:t>Use the Phase 2 Top Level Probes included in your pack.</a:t>
            </a:r>
          </a:p>
          <a:p>
            <a:pPr marL="0" indent="0" eaLnBrk="1" hangingPunct="1">
              <a:buNone/>
            </a:pPr>
            <a:endParaRPr lang="en-GB" altLang="en-US" sz="2800" dirty="0" smtClean="0">
              <a:solidFill>
                <a:schemeClr val="bg1"/>
              </a:solidFill>
            </a:endParaRPr>
          </a:p>
          <a:p>
            <a:pPr eaLnBrk="1" hangingPunct="1">
              <a:buFont typeface="Wingdings" panose="05000000000000000000" pitchFamily="2" charset="2"/>
              <a:buChar char="q"/>
            </a:pPr>
            <a:r>
              <a:rPr lang="en-GB" altLang="en-US" sz="2800"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marL="0" indent="0" eaLnBrk="1" hangingPunct="1">
              <a:buNone/>
            </a:pPr>
            <a:endParaRPr lang="en-GB" altLang="en-US" dirty="0" smtClean="0"/>
          </a:p>
          <a:p>
            <a:r>
              <a:rPr lang="en-GB" altLang="en-US" sz="3000" dirty="0">
                <a:solidFill>
                  <a:schemeClr val="bg1"/>
                </a:solidFill>
              </a:rPr>
              <a:t>http://www.johnandgwyn.co.uk/probe.html</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9403653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72938" y="260350"/>
            <a:ext cx="7772400" cy="1143000"/>
          </a:xfrm>
        </p:spPr>
        <p:txBody>
          <a:bodyPr/>
          <a:lstStyle/>
          <a:p>
            <a:pPr algn="ctr" eaLnBrk="1" hangingPunct="1"/>
            <a:r>
              <a:rPr lang="en-GB" altLang="en-US" sz="3200" dirty="0" smtClean="0">
                <a:solidFill>
                  <a:schemeClr val="bg1"/>
                </a:solidFill>
                <a:latin typeface="Arial" charset="0"/>
              </a:rPr>
              <a:t>Initial Assessment</a:t>
            </a:r>
          </a:p>
        </p:txBody>
      </p:sp>
      <p:sp>
        <p:nvSpPr>
          <p:cNvPr id="18435" name="Rectangle 3"/>
          <p:cNvSpPr>
            <a:spLocks noGrp="1" noChangeArrowheads="1"/>
          </p:cNvSpPr>
          <p:nvPr>
            <p:ph type="body" idx="4294967295"/>
          </p:nvPr>
        </p:nvSpPr>
        <p:spPr>
          <a:xfrm>
            <a:off x="619125" y="1209675"/>
            <a:ext cx="7127875" cy="4305300"/>
          </a:xfrm>
        </p:spPr>
        <p:txBody>
          <a:bodyPr>
            <a:normAutofit lnSpcReduction="10000"/>
          </a:bodyPr>
          <a:lstStyle/>
          <a:p>
            <a:pPr eaLnBrk="1" hangingPunct="1">
              <a:buFont typeface="Wingdings" panose="05000000000000000000" pitchFamily="2" charset="2"/>
              <a:buChar char="q"/>
            </a:pPr>
            <a:r>
              <a:rPr lang="en-GB" altLang="en-US" sz="2600" dirty="0" smtClean="0">
                <a:solidFill>
                  <a:schemeClr val="bg1"/>
                </a:solidFill>
              </a:rPr>
              <a:t>Tell the child you are going to show him/her a grid of words which you want them to read out loud to you, once you say “start”.</a:t>
            </a:r>
          </a:p>
          <a:p>
            <a:pPr marL="0" indent="0" eaLnBrk="1" hangingPunct="1">
              <a:buNone/>
            </a:pPr>
            <a:endParaRPr lang="en-GB" altLang="en-US" sz="2600" dirty="0" smtClean="0">
              <a:solidFill>
                <a:schemeClr val="bg1"/>
              </a:solidFill>
            </a:endParaRPr>
          </a:p>
          <a:p>
            <a:pPr eaLnBrk="1" hangingPunct="1">
              <a:buFont typeface="Wingdings" panose="05000000000000000000" pitchFamily="2" charset="2"/>
              <a:buChar char="q"/>
            </a:pPr>
            <a:r>
              <a:rPr lang="en-GB" altLang="en-US" sz="2600" dirty="0" smtClean="0">
                <a:solidFill>
                  <a:schemeClr val="bg1"/>
                </a:solidFill>
              </a:rPr>
              <a:t>Use a 1 minute </a:t>
            </a:r>
            <a:r>
              <a:rPr lang="en-GB" altLang="en-US" sz="2600" dirty="0" err="1" smtClean="0">
                <a:solidFill>
                  <a:schemeClr val="bg1"/>
                </a:solidFill>
              </a:rPr>
              <a:t>sandtimer</a:t>
            </a:r>
            <a:r>
              <a:rPr lang="en-GB" altLang="en-US" sz="2600" dirty="0" smtClean="0">
                <a:solidFill>
                  <a:schemeClr val="bg1"/>
                </a:solidFill>
              </a:rPr>
              <a:t> or </a:t>
            </a:r>
            <a:r>
              <a:rPr lang="en-GB" altLang="en-US" sz="2600" dirty="0" err="1" smtClean="0">
                <a:solidFill>
                  <a:schemeClr val="bg1"/>
                </a:solidFill>
              </a:rPr>
              <a:t>stopclock</a:t>
            </a:r>
            <a:r>
              <a:rPr lang="en-GB" altLang="en-US" sz="2600" dirty="0" smtClean="0">
                <a:solidFill>
                  <a:schemeClr val="bg1"/>
                </a:solidFill>
              </a:rPr>
              <a:t> counting down from 60 seconds to tell you when the 1 minute probe is up</a:t>
            </a:r>
          </a:p>
          <a:p>
            <a:pPr marL="0" indent="0" eaLnBrk="1" hangingPunct="1">
              <a:buNone/>
            </a:pPr>
            <a:endParaRPr lang="en-GB" altLang="en-US" sz="2600" dirty="0" smtClean="0">
              <a:solidFill>
                <a:schemeClr val="bg1"/>
              </a:solidFill>
            </a:endParaRPr>
          </a:p>
          <a:p>
            <a:pPr eaLnBrk="1" hangingPunct="1">
              <a:buFont typeface="Wingdings" panose="05000000000000000000" pitchFamily="2" charset="2"/>
              <a:buChar char="q"/>
            </a:pPr>
            <a:r>
              <a:rPr lang="en-GB" altLang="en-US" sz="2600" dirty="0" smtClean="0">
                <a:solidFill>
                  <a:schemeClr val="bg1"/>
                </a:solidFill>
              </a:rPr>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24555232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19459" name="Rectangle 3"/>
          <p:cNvSpPr>
            <a:spLocks noGrp="1" noChangeArrowheads="1"/>
          </p:cNvSpPr>
          <p:nvPr>
            <p:ph type="body" idx="4294967295"/>
          </p:nvPr>
        </p:nvSpPr>
        <p:spPr>
          <a:xfrm>
            <a:off x="0" y="964144"/>
            <a:ext cx="7272338" cy="4737100"/>
          </a:xfrm>
        </p:spPr>
        <p:txBody>
          <a:bodyPr>
            <a:normAutofit/>
          </a:bodyPr>
          <a:lstStyle/>
          <a:p>
            <a:pPr eaLnBrk="1" hangingPunct="1">
              <a:lnSpc>
                <a:spcPct val="90000"/>
              </a:lnSpc>
              <a:buFont typeface="Wingdings" panose="05000000000000000000" pitchFamily="2" charset="2"/>
              <a:buChar char="q"/>
            </a:pPr>
            <a:r>
              <a:rPr lang="en-GB" altLang="en-US" sz="2400" dirty="0" smtClean="0">
                <a:solidFill>
                  <a:schemeClr val="bg1"/>
                </a:solidFill>
              </a:rPr>
              <a:t>When the </a:t>
            </a:r>
            <a:r>
              <a:rPr lang="en-GB" altLang="en-US" sz="2400" dirty="0" err="1" smtClean="0">
                <a:solidFill>
                  <a:schemeClr val="bg1"/>
                </a:solidFill>
              </a:rPr>
              <a:t>sandtimer</a:t>
            </a:r>
            <a:r>
              <a:rPr lang="en-GB" altLang="en-US" sz="2400" dirty="0" smtClean="0">
                <a:solidFill>
                  <a:schemeClr val="bg1"/>
                </a:solidFill>
              </a:rPr>
              <a:t> finishes/</a:t>
            </a:r>
            <a:r>
              <a:rPr lang="en-GB" altLang="en-US" sz="2400" dirty="0" err="1" smtClean="0">
                <a:solidFill>
                  <a:schemeClr val="bg1"/>
                </a:solidFill>
              </a:rPr>
              <a:t>stopclock</a:t>
            </a:r>
            <a:r>
              <a:rPr lang="en-GB" altLang="en-US" sz="2400" dirty="0" smtClean="0">
                <a:solidFill>
                  <a:schemeClr val="bg1"/>
                </a:solidFill>
              </a:rPr>
              <a:t> beeps, stop the child, thank them, and share how they did.</a:t>
            </a:r>
          </a:p>
          <a:p>
            <a:pPr marL="0" indent="0" eaLnBrk="1" hangingPunct="1">
              <a:lnSpc>
                <a:spcPct val="90000"/>
              </a:lnSpc>
              <a:buNone/>
            </a:pPr>
            <a:endParaRPr lang="en-GB" altLang="en-US" sz="2400" dirty="0" smtClean="0">
              <a:solidFill>
                <a:schemeClr val="bg1"/>
              </a:solidFill>
            </a:endParaRPr>
          </a:p>
          <a:p>
            <a:pPr eaLnBrk="1" hangingPunct="1">
              <a:lnSpc>
                <a:spcPct val="90000"/>
              </a:lnSpc>
              <a:buFont typeface="Wingdings" panose="05000000000000000000" pitchFamily="2" charset="2"/>
              <a:buChar char="q"/>
            </a:pPr>
            <a:r>
              <a:rPr lang="en-GB" altLang="en-US" sz="2400" dirty="0" smtClean="0">
                <a:solidFill>
                  <a:schemeClr val="bg1"/>
                </a:solidFill>
              </a:rPr>
              <a:t>On your chart, note the probe given, put in the number of correct/incorrect responses the child gives, and make a note of specific problem words.</a:t>
            </a:r>
          </a:p>
          <a:p>
            <a:pPr marL="0" indent="0" eaLnBrk="1" hangingPunct="1">
              <a:lnSpc>
                <a:spcPct val="90000"/>
              </a:lnSpc>
              <a:buNone/>
            </a:pPr>
            <a:endParaRPr lang="en-GB" altLang="en-US" sz="2400" dirty="0" smtClean="0">
              <a:solidFill>
                <a:schemeClr val="bg1"/>
              </a:solidFill>
            </a:endParaRPr>
          </a:p>
          <a:p>
            <a:pPr eaLnBrk="1" hangingPunct="1">
              <a:lnSpc>
                <a:spcPct val="90000"/>
              </a:lnSpc>
              <a:buFont typeface="Wingdings" panose="05000000000000000000" pitchFamily="2" charset="2"/>
              <a:buChar char="q"/>
            </a:pPr>
            <a:r>
              <a:rPr lang="en-GB" altLang="en-US" sz="2400" dirty="0" smtClean="0">
                <a:solidFill>
                  <a:schemeClr val="bg1"/>
                </a:solidFill>
              </a:rPr>
              <a:t>Stop when the pupil shows more errors than correct responses or earlier if failure is becoming obvious.</a:t>
            </a:r>
          </a:p>
        </p:txBody>
      </p:sp>
    </p:spTree>
    <p:extLst>
      <p:ext uri="{BB962C8B-B14F-4D97-AF65-F5344CB8AC3E}">
        <p14:creationId xmlns:p14="http://schemas.microsoft.com/office/powerpoint/2010/main" val="21484204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20483" name="Rectangle 3"/>
          <p:cNvSpPr>
            <a:spLocks noGrp="1" noChangeArrowheads="1"/>
          </p:cNvSpPr>
          <p:nvPr>
            <p:ph type="body" idx="4294967295"/>
          </p:nvPr>
        </p:nvSpPr>
        <p:spPr>
          <a:xfrm>
            <a:off x="0" y="1131656"/>
            <a:ext cx="7200900" cy="4175125"/>
          </a:xfrm>
        </p:spPr>
        <p:txBody>
          <a:bodyPr>
            <a:normAutofit/>
          </a:bodyPr>
          <a:lstStyle/>
          <a:p>
            <a:pPr eaLnBrk="1" hangingPunct="1">
              <a:buFont typeface="Wingdings" panose="05000000000000000000" pitchFamily="2" charset="2"/>
              <a:buChar char="q"/>
            </a:pPr>
            <a:r>
              <a:rPr lang="en-GB" altLang="en-US" sz="2400" dirty="0" smtClean="0">
                <a:solidFill>
                  <a:schemeClr val="bg1"/>
                </a:solidFill>
              </a:rPr>
              <a:t>Use the ‘</a:t>
            </a:r>
            <a:r>
              <a:rPr lang="en-GB" altLang="en-US" sz="2400" b="1" dirty="0" smtClean="0">
                <a:solidFill>
                  <a:schemeClr val="bg1"/>
                </a:solidFill>
              </a:rPr>
              <a:t>100 high-frequency words in order’, </a:t>
            </a:r>
            <a:r>
              <a:rPr lang="en-GB" altLang="en-US" sz="2400" dirty="0" smtClean="0">
                <a:solidFill>
                  <a:schemeClr val="bg1"/>
                </a:solidFill>
              </a:rPr>
              <a:t>Copies of these are in your pack.</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7912913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4303" y="27354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21507" name="Rectangle 3"/>
          <p:cNvSpPr>
            <a:spLocks noGrp="1" noChangeArrowheads="1"/>
          </p:cNvSpPr>
          <p:nvPr>
            <p:ph type="body" idx="4294967295"/>
          </p:nvPr>
        </p:nvSpPr>
        <p:spPr>
          <a:xfrm>
            <a:off x="0" y="1477963"/>
            <a:ext cx="7488238" cy="3529012"/>
          </a:xfrm>
        </p:spPr>
        <p:txBody>
          <a:bodyPr>
            <a:normAutofit/>
          </a:bodyPr>
          <a:lstStyle/>
          <a:p>
            <a:pPr eaLnBrk="1" hangingPunct="1">
              <a:buFont typeface="Wingdings" panose="05000000000000000000" pitchFamily="2" charset="2"/>
              <a:buChar char="q"/>
            </a:pPr>
            <a:r>
              <a:rPr lang="en-GB" altLang="en-US" sz="2400" dirty="0" smtClean="0">
                <a:solidFill>
                  <a:schemeClr val="bg1"/>
                </a:solidFill>
              </a:rPr>
              <a:t>Remember to record your results for each probe sheet administered on the summary sheet in your pack.</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Bring your results back to session 2.  We will use these to plan the next steps in using a Precision Teaching Programme.</a:t>
            </a:r>
          </a:p>
        </p:txBody>
      </p:sp>
    </p:spTree>
    <p:extLst>
      <p:ext uri="{BB962C8B-B14F-4D97-AF65-F5344CB8AC3E}">
        <p14:creationId xmlns:p14="http://schemas.microsoft.com/office/powerpoint/2010/main" val="29658627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09630" y="532606"/>
            <a:ext cx="8497887" cy="865187"/>
          </a:xfrm>
        </p:spPr>
        <p:txBody>
          <a:bodyPr/>
          <a:lstStyle/>
          <a:p>
            <a:pPr algn="ctr" eaLnBrk="1" hangingPunct="1"/>
            <a:r>
              <a:rPr lang="en-GB" altLang="en-US" sz="3200" dirty="0" smtClean="0">
                <a:solidFill>
                  <a:schemeClr val="bg1"/>
                </a:solidFill>
                <a:latin typeface="Arial" charset="0"/>
              </a:rPr>
              <a:t>Thank You</a:t>
            </a:r>
          </a:p>
        </p:txBody>
      </p:sp>
      <p:sp>
        <p:nvSpPr>
          <p:cNvPr id="22531" name="Rectangle 3"/>
          <p:cNvSpPr>
            <a:spLocks noGrp="1" noChangeArrowheads="1"/>
          </p:cNvSpPr>
          <p:nvPr>
            <p:ph type="body" idx="4294967295"/>
          </p:nvPr>
        </p:nvSpPr>
        <p:spPr>
          <a:xfrm>
            <a:off x="801042" y="965200"/>
            <a:ext cx="6264275" cy="3471863"/>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solidFill>
                  <a:schemeClr val="bg1"/>
                </a:solidFill>
              </a:rPr>
              <a:t>Please do not use or copy any slides without prior permission from AFC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35542564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End slide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254</TotalTime>
  <Words>1306</Words>
  <Application>Microsoft Office PowerPoint</Application>
  <PresentationFormat>On-screen Show (4:3)</PresentationFormat>
  <Paragraphs>207</Paragraphs>
  <Slides>28</Slides>
  <Notes>28</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Powerpoint_master_template</vt:lpstr>
      <vt:lpstr>PowerPoint Presentation</vt:lpstr>
      <vt:lpstr>PowerPoint Presentation</vt:lpstr>
      <vt:lpstr>Aim for Session 1</vt:lpstr>
      <vt:lpstr>Preview of upcoming sessions</vt:lpstr>
      <vt:lpstr>Preview of upcoming sessions</vt:lpstr>
      <vt:lpstr>What is Precision Teaching?</vt:lpstr>
      <vt:lpstr>What is Precision Teaching?</vt:lpstr>
      <vt:lpstr>When can Precision Teaching be used?</vt:lpstr>
      <vt:lpstr>The Learning Hierarchy</vt:lpstr>
      <vt:lpstr>The Learning Hierarchy</vt:lpstr>
      <vt:lpstr>The Learning Hierarchy</vt:lpstr>
      <vt:lpstr>How do you do Precision Teaching?</vt:lpstr>
      <vt:lpstr>How do you do Precision Teaching?</vt:lpstr>
      <vt:lpstr>How do you do Precision Teaching?</vt:lpstr>
      <vt:lpstr>Before you start Precision Teaching </vt:lpstr>
      <vt:lpstr>‘Task Analysis’ – where are they now? </vt:lpstr>
      <vt:lpstr>Initial Assessment – using ‘Letters and Sounds’</vt:lpstr>
      <vt:lpstr>Initial Assessment – using ‘Letters and Sounds’</vt:lpstr>
      <vt:lpstr>Probes</vt:lpstr>
      <vt:lpstr>Probes</vt:lpstr>
      <vt:lpstr>Letters and Probes</vt:lpstr>
      <vt:lpstr>Initial Assessment</vt:lpstr>
      <vt:lpstr>Initial Assessment</vt:lpstr>
      <vt:lpstr>Initial Assessment</vt:lpstr>
      <vt:lpstr>Initial Assessment</vt:lpstr>
      <vt:lpstr>Initial Assessment</vt:lpstr>
      <vt:lpstr>Thank You</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22</cp:revision>
  <cp:lastPrinted>2015-09-16T14:47:36Z</cp:lastPrinted>
  <dcterms:created xsi:type="dcterms:W3CDTF">2017-09-05T13:13:18Z</dcterms:created>
  <dcterms:modified xsi:type="dcterms:W3CDTF">2018-05-08T06:26:40Z</dcterms:modified>
</cp:coreProperties>
</file>