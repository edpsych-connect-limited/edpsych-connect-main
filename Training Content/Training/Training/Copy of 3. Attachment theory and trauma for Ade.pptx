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269" r:id="rId2"/>
    <p:sldId id="261" r:id="rId3"/>
    <p:sldId id="274" r:id="rId4"/>
    <p:sldId id="273" r:id="rId5"/>
    <p:sldId id="272" r:id="rId6"/>
    <p:sldId id="271" r:id="rId7"/>
    <p:sldId id="270" r:id="rId8"/>
    <p:sldId id="286" r:id="rId9"/>
    <p:sldId id="275" r:id="rId10"/>
    <p:sldId id="266" r:id="rId11"/>
    <p:sldId id="276" r:id="rId12"/>
    <p:sldId id="277" r:id="rId13"/>
    <p:sldId id="278" r:id="rId14"/>
    <p:sldId id="279" r:id="rId15"/>
    <p:sldId id="280" r:id="rId16"/>
    <p:sldId id="281" r:id="rId17"/>
    <p:sldId id="285" r:id="rId18"/>
    <p:sldId id="284" r:id="rId19"/>
    <p:sldId id="283" r:id="rId20"/>
    <p:sldId id="282"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4" r:id="rId37"/>
    <p:sldId id="302" r:id="rId38"/>
    <p:sldId id="303" r:id="rId39"/>
    <p:sldId id="305" r:id="rId40"/>
    <p:sldId id="306" r:id="rId41"/>
    <p:sldId id="307" r:id="rId42"/>
    <p:sldId id="308" r:id="rId43"/>
    <p:sldId id="317" r:id="rId44"/>
    <p:sldId id="318" r:id="rId45"/>
    <p:sldId id="309" r:id="rId46"/>
    <p:sldId id="310" r:id="rId47"/>
    <p:sldId id="311" r:id="rId48"/>
    <p:sldId id="312" r:id="rId49"/>
    <p:sldId id="313" r:id="rId50"/>
    <p:sldId id="316" r:id="rId51"/>
    <p:sldId id="315" r:id="rId52"/>
    <p:sldId id="314" r:id="rId53"/>
    <p:sldId id="319" r:id="rId54"/>
    <p:sldId id="320" r:id="rId5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B333"/>
    <a:srgbClr val="0092D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774" autoAdjust="0"/>
  </p:normalViewPr>
  <p:slideViewPr>
    <p:cSldViewPr snapToGrid="0" snapToObjects="1">
      <p:cViewPr varScale="1">
        <p:scale>
          <a:sx n="57" d="100"/>
          <a:sy n="57" d="100"/>
        </p:scale>
        <p:origin x="1776" y="108"/>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805954-4E1F-4723-893F-26185710C8B4}" type="doc">
      <dgm:prSet loTypeId="urn:microsoft.com/office/officeart/2005/8/layout/pyramid1" loCatId="pyramid" qsTypeId="urn:microsoft.com/office/officeart/2005/8/quickstyle/simple1" qsCatId="simple" csTypeId="urn:microsoft.com/office/officeart/2005/8/colors/colorful1" csCatId="colorful" phldr="1"/>
      <dgm:spPr/>
    </dgm:pt>
    <dgm:pt modelId="{EB99FAD1-0D7F-47AF-A25D-2DB7CA131823}">
      <dgm:prSet phldrT="[Text]" custT="1"/>
      <dgm:spPr/>
      <dgm:t>
        <a:bodyPr/>
        <a:lstStyle/>
        <a:p>
          <a:pPr>
            <a:lnSpc>
              <a:spcPct val="90000"/>
            </a:lnSpc>
            <a:spcAft>
              <a:spcPct val="35000"/>
            </a:spcAft>
          </a:pPr>
          <a:endParaRPr lang="en-GB" sz="1600" dirty="0"/>
        </a:p>
        <a:p>
          <a:pPr>
            <a:lnSpc>
              <a:spcPct val="100000"/>
            </a:lnSpc>
            <a:spcAft>
              <a:spcPts val="0"/>
            </a:spcAft>
          </a:pPr>
          <a:r>
            <a:rPr lang="en-GB" sz="1400" dirty="0"/>
            <a:t>Self-</a:t>
          </a:r>
        </a:p>
        <a:p>
          <a:pPr>
            <a:lnSpc>
              <a:spcPct val="100000"/>
            </a:lnSpc>
            <a:spcAft>
              <a:spcPts val="0"/>
            </a:spcAft>
          </a:pPr>
          <a:r>
            <a:rPr lang="en-GB" sz="1400" dirty="0"/>
            <a:t>fulfilment </a:t>
          </a:r>
        </a:p>
        <a:p>
          <a:pPr>
            <a:lnSpc>
              <a:spcPct val="100000"/>
            </a:lnSpc>
            <a:spcAft>
              <a:spcPts val="0"/>
            </a:spcAft>
          </a:pPr>
          <a:r>
            <a:rPr lang="en-GB" sz="1400" dirty="0"/>
            <a:t>and actualisation</a:t>
          </a:r>
        </a:p>
      </dgm:t>
    </dgm:pt>
    <dgm:pt modelId="{AB8D533B-E098-4299-915A-E6EE7F1198F2}" type="parTrans" cxnId="{6CF6E0FB-7B78-4272-8A30-FDCB55C28A15}">
      <dgm:prSet/>
      <dgm:spPr/>
      <dgm:t>
        <a:bodyPr/>
        <a:lstStyle/>
        <a:p>
          <a:endParaRPr lang="en-GB"/>
        </a:p>
      </dgm:t>
    </dgm:pt>
    <dgm:pt modelId="{0E6FE32B-7F57-4A76-A96E-C7981251C4FC}" type="sibTrans" cxnId="{6CF6E0FB-7B78-4272-8A30-FDCB55C28A15}">
      <dgm:prSet/>
      <dgm:spPr/>
      <dgm:t>
        <a:bodyPr/>
        <a:lstStyle/>
        <a:p>
          <a:endParaRPr lang="en-GB"/>
        </a:p>
      </dgm:t>
    </dgm:pt>
    <dgm:pt modelId="{342F943D-3CCB-4B9D-B9CE-8E9B8951C254}">
      <dgm:prSet phldrT="[Text]"/>
      <dgm:spPr/>
      <dgm:t>
        <a:bodyPr/>
        <a:lstStyle/>
        <a:p>
          <a:r>
            <a:rPr lang="en-GB" dirty="0"/>
            <a:t>Self-esteem</a:t>
          </a:r>
        </a:p>
        <a:p>
          <a:r>
            <a:rPr lang="en-GB" dirty="0"/>
            <a:t>The “Value” Need</a:t>
          </a:r>
        </a:p>
      </dgm:t>
    </dgm:pt>
    <dgm:pt modelId="{261A9E71-B557-427D-A90D-7FEA1FA3E7FF}" type="parTrans" cxnId="{2DC3AE59-4596-4811-A376-013EA793938F}">
      <dgm:prSet/>
      <dgm:spPr/>
      <dgm:t>
        <a:bodyPr/>
        <a:lstStyle/>
        <a:p>
          <a:endParaRPr lang="en-GB"/>
        </a:p>
      </dgm:t>
    </dgm:pt>
    <dgm:pt modelId="{DF95DC0E-1F08-44FB-86DE-0F44EF5C5A8D}" type="sibTrans" cxnId="{2DC3AE59-4596-4811-A376-013EA793938F}">
      <dgm:prSet/>
      <dgm:spPr/>
      <dgm:t>
        <a:bodyPr/>
        <a:lstStyle/>
        <a:p>
          <a:endParaRPr lang="en-GB"/>
        </a:p>
      </dgm:t>
    </dgm:pt>
    <dgm:pt modelId="{846528A5-504A-42A3-AC72-7066761DE9B0}">
      <dgm:prSet phldrT="[Text]"/>
      <dgm:spPr/>
      <dgm:t>
        <a:bodyPr/>
        <a:lstStyle/>
        <a:p>
          <a:r>
            <a:rPr lang="en-GB" dirty="0"/>
            <a:t>Love and friendship needs – to give and receive love, to belong</a:t>
          </a:r>
        </a:p>
      </dgm:t>
    </dgm:pt>
    <dgm:pt modelId="{F32A15A9-D345-48E1-AC7A-9599D3C41F1E}" type="parTrans" cxnId="{EEA29540-C8D0-4737-8A56-FF79611DB2C7}">
      <dgm:prSet/>
      <dgm:spPr/>
      <dgm:t>
        <a:bodyPr/>
        <a:lstStyle/>
        <a:p>
          <a:endParaRPr lang="en-GB"/>
        </a:p>
      </dgm:t>
    </dgm:pt>
    <dgm:pt modelId="{5230D842-A1F3-40F4-AA56-6A240108FE82}" type="sibTrans" cxnId="{EEA29540-C8D0-4737-8A56-FF79611DB2C7}">
      <dgm:prSet/>
      <dgm:spPr/>
      <dgm:t>
        <a:bodyPr/>
        <a:lstStyle/>
        <a:p>
          <a:endParaRPr lang="en-GB"/>
        </a:p>
      </dgm:t>
    </dgm:pt>
    <dgm:pt modelId="{476F6E08-B5F1-46C4-B343-2B2A471A8873}">
      <dgm:prSet phldrT="[Text]"/>
      <dgm:spPr/>
      <dgm:t>
        <a:bodyPr/>
        <a:lstStyle/>
        <a:p>
          <a:r>
            <a:rPr lang="en-GB" dirty="0"/>
            <a:t>Physical needs – air, food, water, shelter, medical care, rest and recreation</a:t>
          </a:r>
        </a:p>
      </dgm:t>
    </dgm:pt>
    <dgm:pt modelId="{A550978E-C757-482E-8A80-F9741057C3FB}" type="parTrans" cxnId="{C532A47A-8EC3-47BA-8E31-7461E9471785}">
      <dgm:prSet/>
      <dgm:spPr/>
      <dgm:t>
        <a:bodyPr/>
        <a:lstStyle/>
        <a:p>
          <a:endParaRPr lang="en-GB"/>
        </a:p>
      </dgm:t>
    </dgm:pt>
    <dgm:pt modelId="{5A9D321C-E5C4-4596-8BD9-6FF157AEA7F3}" type="sibTrans" cxnId="{C532A47A-8EC3-47BA-8E31-7461E9471785}">
      <dgm:prSet/>
      <dgm:spPr/>
      <dgm:t>
        <a:bodyPr/>
        <a:lstStyle/>
        <a:p>
          <a:endParaRPr lang="en-GB"/>
        </a:p>
      </dgm:t>
    </dgm:pt>
    <dgm:pt modelId="{3ED661BE-0AB8-46C4-8F8F-920F8CCAAC1D}">
      <dgm:prSet phldrT="[Text]"/>
      <dgm:spPr/>
      <dgm:t>
        <a:bodyPr/>
        <a:lstStyle/>
        <a:p>
          <a:r>
            <a:rPr lang="en-GB" dirty="0"/>
            <a:t>Safety needs – safe from threats, treated fairly, trusted and to trust</a:t>
          </a:r>
        </a:p>
      </dgm:t>
    </dgm:pt>
    <dgm:pt modelId="{E0FEA161-27E8-4532-977E-B6039A73C2E9}" type="parTrans" cxnId="{F759212B-23E5-44CE-9810-6FD46E920BFB}">
      <dgm:prSet/>
      <dgm:spPr/>
      <dgm:t>
        <a:bodyPr/>
        <a:lstStyle/>
        <a:p>
          <a:endParaRPr lang="en-GB"/>
        </a:p>
      </dgm:t>
    </dgm:pt>
    <dgm:pt modelId="{7E753CA1-7038-438F-865C-12A8B5D9C598}" type="sibTrans" cxnId="{F759212B-23E5-44CE-9810-6FD46E920BFB}">
      <dgm:prSet/>
      <dgm:spPr/>
      <dgm:t>
        <a:bodyPr/>
        <a:lstStyle/>
        <a:p>
          <a:endParaRPr lang="en-GB"/>
        </a:p>
      </dgm:t>
    </dgm:pt>
    <dgm:pt modelId="{344A9CE4-32F2-4486-B1E7-F1B756D6E93A}" type="pres">
      <dgm:prSet presAssocID="{A5805954-4E1F-4723-893F-26185710C8B4}" presName="Name0" presStyleCnt="0">
        <dgm:presLayoutVars>
          <dgm:dir/>
          <dgm:animLvl val="lvl"/>
          <dgm:resizeHandles val="exact"/>
        </dgm:presLayoutVars>
      </dgm:prSet>
      <dgm:spPr/>
    </dgm:pt>
    <dgm:pt modelId="{ABEE3D2D-8ADA-4252-B7BC-EDD558012541}" type="pres">
      <dgm:prSet presAssocID="{EB99FAD1-0D7F-47AF-A25D-2DB7CA131823}" presName="Name8" presStyleCnt="0"/>
      <dgm:spPr/>
    </dgm:pt>
    <dgm:pt modelId="{E367D680-ABF5-44F9-85C2-F77A502C6472}" type="pres">
      <dgm:prSet presAssocID="{EB99FAD1-0D7F-47AF-A25D-2DB7CA131823}" presName="level" presStyleLbl="node1" presStyleIdx="0" presStyleCnt="5">
        <dgm:presLayoutVars>
          <dgm:chMax val="1"/>
          <dgm:bulletEnabled val="1"/>
        </dgm:presLayoutVars>
      </dgm:prSet>
      <dgm:spPr/>
    </dgm:pt>
    <dgm:pt modelId="{3A1C08EE-D124-421D-9167-3FFABE489672}" type="pres">
      <dgm:prSet presAssocID="{EB99FAD1-0D7F-47AF-A25D-2DB7CA131823}" presName="levelTx" presStyleLbl="revTx" presStyleIdx="0" presStyleCnt="0">
        <dgm:presLayoutVars>
          <dgm:chMax val="1"/>
          <dgm:bulletEnabled val="1"/>
        </dgm:presLayoutVars>
      </dgm:prSet>
      <dgm:spPr/>
    </dgm:pt>
    <dgm:pt modelId="{6FCDA72A-C83B-4231-A1A5-463CE18E94CA}" type="pres">
      <dgm:prSet presAssocID="{342F943D-3CCB-4B9D-B9CE-8E9B8951C254}" presName="Name8" presStyleCnt="0"/>
      <dgm:spPr/>
    </dgm:pt>
    <dgm:pt modelId="{A3482CD6-CDC7-4321-BB4F-CA98D061B9A0}" type="pres">
      <dgm:prSet presAssocID="{342F943D-3CCB-4B9D-B9CE-8E9B8951C254}" presName="level" presStyleLbl="node1" presStyleIdx="1" presStyleCnt="5">
        <dgm:presLayoutVars>
          <dgm:chMax val="1"/>
          <dgm:bulletEnabled val="1"/>
        </dgm:presLayoutVars>
      </dgm:prSet>
      <dgm:spPr/>
    </dgm:pt>
    <dgm:pt modelId="{D0AD1675-DADB-46CB-96EE-19481BBC1FEB}" type="pres">
      <dgm:prSet presAssocID="{342F943D-3CCB-4B9D-B9CE-8E9B8951C254}" presName="levelTx" presStyleLbl="revTx" presStyleIdx="0" presStyleCnt="0">
        <dgm:presLayoutVars>
          <dgm:chMax val="1"/>
          <dgm:bulletEnabled val="1"/>
        </dgm:presLayoutVars>
      </dgm:prSet>
      <dgm:spPr/>
    </dgm:pt>
    <dgm:pt modelId="{89F415C0-43A2-4604-AEDD-46C2A2F1FD77}" type="pres">
      <dgm:prSet presAssocID="{846528A5-504A-42A3-AC72-7066761DE9B0}" presName="Name8" presStyleCnt="0"/>
      <dgm:spPr/>
    </dgm:pt>
    <dgm:pt modelId="{6ECB9E01-79C1-4617-96D1-C46C4A6F561C}" type="pres">
      <dgm:prSet presAssocID="{846528A5-504A-42A3-AC72-7066761DE9B0}" presName="level" presStyleLbl="node1" presStyleIdx="2" presStyleCnt="5">
        <dgm:presLayoutVars>
          <dgm:chMax val="1"/>
          <dgm:bulletEnabled val="1"/>
        </dgm:presLayoutVars>
      </dgm:prSet>
      <dgm:spPr/>
    </dgm:pt>
    <dgm:pt modelId="{FE746CED-B587-458B-A40B-AB732B35DD89}" type="pres">
      <dgm:prSet presAssocID="{846528A5-504A-42A3-AC72-7066761DE9B0}" presName="levelTx" presStyleLbl="revTx" presStyleIdx="0" presStyleCnt="0">
        <dgm:presLayoutVars>
          <dgm:chMax val="1"/>
          <dgm:bulletEnabled val="1"/>
        </dgm:presLayoutVars>
      </dgm:prSet>
      <dgm:spPr/>
    </dgm:pt>
    <dgm:pt modelId="{DDFAAC02-C0F1-4633-974A-E3D6EB5890FD}" type="pres">
      <dgm:prSet presAssocID="{3ED661BE-0AB8-46C4-8F8F-920F8CCAAC1D}" presName="Name8" presStyleCnt="0"/>
      <dgm:spPr/>
    </dgm:pt>
    <dgm:pt modelId="{6013B443-167C-41D8-A946-8920CDA00E01}" type="pres">
      <dgm:prSet presAssocID="{3ED661BE-0AB8-46C4-8F8F-920F8CCAAC1D}" presName="level" presStyleLbl="node1" presStyleIdx="3" presStyleCnt="5">
        <dgm:presLayoutVars>
          <dgm:chMax val="1"/>
          <dgm:bulletEnabled val="1"/>
        </dgm:presLayoutVars>
      </dgm:prSet>
      <dgm:spPr/>
    </dgm:pt>
    <dgm:pt modelId="{63B72860-DCE3-4CF5-A35F-D97361B02A38}" type="pres">
      <dgm:prSet presAssocID="{3ED661BE-0AB8-46C4-8F8F-920F8CCAAC1D}" presName="levelTx" presStyleLbl="revTx" presStyleIdx="0" presStyleCnt="0">
        <dgm:presLayoutVars>
          <dgm:chMax val="1"/>
          <dgm:bulletEnabled val="1"/>
        </dgm:presLayoutVars>
      </dgm:prSet>
      <dgm:spPr/>
    </dgm:pt>
    <dgm:pt modelId="{27C90421-E0DB-4E82-849B-18186C52DA48}" type="pres">
      <dgm:prSet presAssocID="{476F6E08-B5F1-46C4-B343-2B2A471A8873}" presName="Name8" presStyleCnt="0"/>
      <dgm:spPr/>
    </dgm:pt>
    <dgm:pt modelId="{FC1C1414-7C67-4C4A-B405-26DD890EAB51}" type="pres">
      <dgm:prSet presAssocID="{476F6E08-B5F1-46C4-B343-2B2A471A8873}" presName="level" presStyleLbl="node1" presStyleIdx="4" presStyleCnt="5">
        <dgm:presLayoutVars>
          <dgm:chMax val="1"/>
          <dgm:bulletEnabled val="1"/>
        </dgm:presLayoutVars>
      </dgm:prSet>
      <dgm:spPr/>
    </dgm:pt>
    <dgm:pt modelId="{9E31F133-8C82-49B4-8ED0-B0E26BBC3DDF}" type="pres">
      <dgm:prSet presAssocID="{476F6E08-B5F1-46C4-B343-2B2A471A8873}" presName="levelTx" presStyleLbl="revTx" presStyleIdx="0" presStyleCnt="0">
        <dgm:presLayoutVars>
          <dgm:chMax val="1"/>
          <dgm:bulletEnabled val="1"/>
        </dgm:presLayoutVars>
      </dgm:prSet>
      <dgm:spPr/>
    </dgm:pt>
  </dgm:ptLst>
  <dgm:cxnLst>
    <dgm:cxn modelId="{F748AB18-8ED1-4918-B106-5F88904A9EE5}" type="presOf" srcId="{476F6E08-B5F1-46C4-B343-2B2A471A8873}" destId="{FC1C1414-7C67-4C4A-B405-26DD890EAB51}" srcOrd="0" destOrd="0" presId="urn:microsoft.com/office/officeart/2005/8/layout/pyramid1"/>
    <dgm:cxn modelId="{F759212B-23E5-44CE-9810-6FD46E920BFB}" srcId="{A5805954-4E1F-4723-893F-26185710C8B4}" destId="{3ED661BE-0AB8-46C4-8F8F-920F8CCAAC1D}" srcOrd="3" destOrd="0" parTransId="{E0FEA161-27E8-4532-977E-B6039A73C2E9}" sibTransId="{7E753CA1-7038-438F-865C-12A8B5D9C598}"/>
    <dgm:cxn modelId="{EEA29540-C8D0-4737-8A56-FF79611DB2C7}" srcId="{A5805954-4E1F-4723-893F-26185710C8B4}" destId="{846528A5-504A-42A3-AC72-7066761DE9B0}" srcOrd="2" destOrd="0" parTransId="{F32A15A9-D345-48E1-AC7A-9599D3C41F1E}" sibTransId="{5230D842-A1F3-40F4-AA56-6A240108FE82}"/>
    <dgm:cxn modelId="{8642676A-500C-4612-8DE8-EB697AED810D}" type="presOf" srcId="{A5805954-4E1F-4723-893F-26185710C8B4}" destId="{344A9CE4-32F2-4486-B1E7-F1B756D6E93A}" srcOrd="0" destOrd="0" presId="urn:microsoft.com/office/officeart/2005/8/layout/pyramid1"/>
    <dgm:cxn modelId="{FD576E50-641F-4E0E-B081-4B5C3C5561C7}" type="presOf" srcId="{3ED661BE-0AB8-46C4-8F8F-920F8CCAAC1D}" destId="{63B72860-DCE3-4CF5-A35F-D97361B02A38}" srcOrd="1" destOrd="0" presId="urn:microsoft.com/office/officeart/2005/8/layout/pyramid1"/>
    <dgm:cxn modelId="{1411CC51-6BEA-443A-80F2-1BD7DEEA6364}" type="presOf" srcId="{846528A5-504A-42A3-AC72-7066761DE9B0}" destId="{FE746CED-B587-458B-A40B-AB732B35DD89}" srcOrd="1" destOrd="0" presId="urn:microsoft.com/office/officeart/2005/8/layout/pyramid1"/>
    <dgm:cxn modelId="{2DC3AE59-4596-4811-A376-013EA793938F}" srcId="{A5805954-4E1F-4723-893F-26185710C8B4}" destId="{342F943D-3CCB-4B9D-B9CE-8E9B8951C254}" srcOrd="1" destOrd="0" parTransId="{261A9E71-B557-427D-A90D-7FEA1FA3E7FF}" sibTransId="{DF95DC0E-1F08-44FB-86DE-0F44EF5C5A8D}"/>
    <dgm:cxn modelId="{C532A47A-8EC3-47BA-8E31-7461E9471785}" srcId="{A5805954-4E1F-4723-893F-26185710C8B4}" destId="{476F6E08-B5F1-46C4-B343-2B2A471A8873}" srcOrd="4" destOrd="0" parTransId="{A550978E-C757-482E-8A80-F9741057C3FB}" sibTransId="{5A9D321C-E5C4-4596-8BD9-6FF157AEA7F3}"/>
    <dgm:cxn modelId="{2A8D007C-B398-4494-BA6F-F809A2FB982D}" type="presOf" srcId="{342F943D-3CCB-4B9D-B9CE-8E9B8951C254}" destId="{A3482CD6-CDC7-4321-BB4F-CA98D061B9A0}" srcOrd="0" destOrd="0" presId="urn:microsoft.com/office/officeart/2005/8/layout/pyramid1"/>
    <dgm:cxn modelId="{FD78878F-C1BA-4F47-835B-7A9D4BD554C1}" type="presOf" srcId="{EB99FAD1-0D7F-47AF-A25D-2DB7CA131823}" destId="{3A1C08EE-D124-421D-9167-3FFABE489672}" srcOrd="1" destOrd="0" presId="urn:microsoft.com/office/officeart/2005/8/layout/pyramid1"/>
    <dgm:cxn modelId="{717EA0BC-1A12-4F83-86BE-B980C263F1DA}" type="presOf" srcId="{3ED661BE-0AB8-46C4-8F8F-920F8CCAAC1D}" destId="{6013B443-167C-41D8-A946-8920CDA00E01}" srcOrd="0" destOrd="0" presId="urn:microsoft.com/office/officeart/2005/8/layout/pyramid1"/>
    <dgm:cxn modelId="{A85CE8C7-2BF6-42CE-AB39-E2297E886644}" type="presOf" srcId="{476F6E08-B5F1-46C4-B343-2B2A471A8873}" destId="{9E31F133-8C82-49B4-8ED0-B0E26BBC3DDF}" srcOrd="1" destOrd="0" presId="urn:microsoft.com/office/officeart/2005/8/layout/pyramid1"/>
    <dgm:cxn modelId="{5FAF6FD4-8500-4553-9393-1508C6590BE0}" type="presOf" srcId="{342F943D-3CCB-4B9D-B9CE-8E9B8951C254}" destId="{D0AD1675-DADB-46CB-96EE-19481BBC1FEB}" srcOrd="1" destOrd="0" presId="urn:microsoft.com/office/officeart/2005/8/layout/pyramid1"/>
    <dgm:cxn modelId="{F7C543E8-2280-4417-9CD1-102D49D72811}" type="presOf" srcId="{846528A5-504A-42A3-AC72-7066761DE9B0}" destId="{6ECB9E01-79C1-4617-96D1-C46C4A6F561C}" srcOrd="0" destOrd="0" presId="urn:microsoft.com/office/officeart/2005/8/layout/pyramid1"/>
    <dgm:cxn modelId="{886713F9-6CE5-49CE-860B-7DC05AB25FAA}" type="presOf" srcId="{EB99FAD1-0D7F-47AF-A25D-2DB7CA131823}" destId="{E367D680-ABF5-44F9-85C2-F77A502C6472}" srcOrd="0" destOrd="0" presId="urn:microsoft.com/office/officeart/2005/8/layout/pyramid1"/>
    <dgm:cxn modelId="{6CF6E0FB-7B78-4272-8A30-FDCB55C28A15}" srcId="{A5805954-4E1F-4723-893F-26185710C8B4}" destId="{EB99FAD1-0D7F-47AF-A25D-2DB7CA131823}" srcOrd="0" destOrd="0" parTransId="{AB8D533B-E098-4299-915A-E6EE7F1198F2}" sibTransId="{0E6FE32B-7F57-4A76-A96E-C7981251C4FC}"/>
    <dgm:cxn modelId="{E8003E38-F1E3-4931-B040-1DE4251D9989}" type="presParOf" srcId="{344A9CE4-32F2-4486-B1E7-F1B756D6E93A}" destId="{ABEE3D2D-8ADA-4252-B7BC-EDD558012541}" srcOrd="0" destOrd="0" presId="urn:microsoft.com/office/officeart/2005/8/layout/pyramid1"/>
    <dgm:cxn modelId="{EE140AD9-7FAF-41B3-A10C-E5C87940CE81}" type="presParOf" srcId="{ABEE3D2D-8ADA-4252-B7BC-EDD558012541}" destId="{E367D680-ABF5-44F9-85C2-F77A502C6472}" srcOrd="0" destOrd="0" presId="urn:microsoft.com/office/officeart/2005/8/layout/pyramid1"/>
    <dgm:cxn modelId="{C337000D-259E-41C7-82AD-156539822D52}" type="presParOf" srcId="{ABEE3D2D-8ADA-4252-B7BC-EDD558012541}" destId="{3A1C08EE-D124-421D-9167-3FFABE489672}" srcOrd="1" destOrd="0" presId="urn:microsoft.com/office/officeart/2005/8/layout/pyramid1"/>
    <dgm:cxn modelId="{878BCC4A-1401-4DB3-B691-548A6D537404}" type="presParOf" srcId="{344A9CE4-32F2-4486-B1E7-F1B756D6E93A}" destId="{6FCDA72A-C83B-4231-A1A5-463CE18E94CA}" srcOrd="1" destOrd="0" presId="urn:microsoft.com/office/officeart/2005/8/layout/pyramid1"/>
    <dgm:cxn modelId="{20B694C9-DDFE-4008-AC02-DFEC11F7A7CE}" type="presParOf" srcId="{6FCDA72A-C83B-4231-A1A5-463CE18E94CA}" destId="{A3482CD6-CDC7-4321-BB4F-CA98D061B9A0}" srcOrd="0" destOrd="0" presId="urn:microsoft.com/office/officeart/2005/8/layout/pyramid1"/>
    <dgm:cxn modelId="{F47D0EF0-6CD5-40EF-AC4D-D0B0E556E913}" type="presParOf" srcId="{6FCDA72A-C83B-4231-A1A5-463CE18E94CA}" destId="{D0AD1675-DADB-46CB-96EE-19481BBC1FEB}" srcOrd="1" destOrd="0" presId="urn:microsoft.com/office/officeart/2005/8/layout/pyramid1"/>
    <dgm:cxn modelId="{94FA375B-7D04-47E2-949B-CF036E553325}" type="presParOf" srcId="{344A9CE4-32F2-4486-B1E7-F1B756D6E93A}" destId="{89F415C0-43A2-4604-AEDD-46C2A2F1FD77}" srcOrd="2" destOrd="0" presId="urn:microsoft.com/office/officeart/2005/8/layout/pyramid1"/>
    <dgm:cxn modelId="{3859CA25-F5DD-4454-BC33-AAE2B32C028C}" type="presParOf" srcId="{89F415C0-43A2-4604-AEDD-46C2A2F1FD77}" destId="{6ECB9E01-79C1-4617-96D1-C46C4A6F561C}" srcOrd="0" destOrd="0" presId="urn:microsoft.com/office/officeart/2005/8/layout/pyramid1"/>
    <dgm:cxn modelId="{37B140FC-612E-48D2-84B1-A31FA3B5835D}" type="presParOf" srcId="{89F415C0-43A2-4604-AEDD-46C2A2F1FD77}" destId="{FE746CED-B587-458B-A40B-AB732B35DD89}" srcOrd="1" destOrd="0" presId="urn:microsoft.com/office/officeart/2005/8/layout/pyramid1"/>
    <dgm:cxn modelId="{DF7C4632-9275-4E8D-8DFD-CD33B1BB43B3}" type="presParOf" srcId="{344A9CE4-32F2-4486-B1E7-F1B756D6E93A}" destId="{DDFAAC02-C0F1-4633-974A-E3D6EB5890FD}" srcOrd="3" destOrd="0" presId="urn:microsoft.com/office/officeart/2005/8/layout/pyramid1"/>
    <dgm:cxn modelId="{FB3D7739-9028-47EC-9A79-F63A2C76BAC5}" type="presParOf" srcId="{DDFAAC02-C0F1-4633-974A-E3D6EB5890FD}" destId="{6013B443-167C-41D8-A946-8920CDA00E01}" srcOrd="0" destOrd="0" presId="urn:microsoft.com/office/officeart/2005/8/layout/pyramid1"/>
    <dgm:cxn modelId="{79B85516-EAD6-4772-A834-5C59AFD075E8}" type="presParOf" srcId="{DDFAAC02-C0F1-4633-974A-E3D6EB5890FD}" destId="{63B72860-DCE3-4CF5-A35F-D97361B02A38}" srcOrd="1" destOrd="0" presId="urn:microsoft.com/office/officeart/2005/8/layout/pyramid1"/>
    <dgm:cxn modelId="{BDA9564F-A7F6-48D2-AFAB-D7C6158CAFE5}" type="presParOf" srcId="{344A9CE4-32F2-4486-B1E7-F1B756D6E93A}" destId="{27C90421-E0DB-4E82-849B-18186C52DA48}" srcOrd="4" destOrd="0" presId="urn:microsoft.com/office/officeart/2005/8/layout/pyramid1"/>
    <dgm:cxn modelId="{775291DF-EDEC-4FEB-A6BF-421A2321DF29}" type="presParOf" srcId="{27C90421-E0DB-4E82-849B-18186C52DA48}" destId="{FC1C1414-7C67-4C4A-B405-26DD890EAB51}" srcOrd="0" destOrd="0" presId="urn:microsoft.com/office/officeart/2005/8/layout/pyramid1"/>
    <dgm:cxn modelId="{EA061D84-2CEE-4CEB-96D5-3F094582E63B}" type="presParOf" srcId="{27C90421-E0DB-4E82-849B-18186C52DA48}" destId="{9E31F133-8C82-49B4-8ED0-B0E26BBC3DDF}"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67D680-ABF5-44F9-85C2-F77A502C6472}">
      <dsp:nvSpPr>
        <dsp:cNvPr id="0" name=""/>
        <dsp:cNvSpPr/>
      </dsp:nvSpPr>
      <dsp:spPr>
        <a:xfrm>
          <a:off x="2962656" y="0"/>
          <a:ext cx="1481328" cy="1019833"/>
        </a:xfrm>
        <a:prstGeom prst="trapezoid">
          <a:avLst>
            <a:gd name="adj" fmla="val 72626"/>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GB" sz="1600" kern="1200" dirty="0"/>
        </a:p>
        <a:p>
          <a:pPr marL="0" lvl="0" indent="0" algn="ctr" defTabSz="711200">
            <a:lnSpc>
              <a:spcPct val="100000"/>
            </a:lnSpc>
            <a:spcBef>
              <a:spcPct val="0"/>
            </a:spcBef>
            <a:spcAft>
              <a:spcPts val="0"/>
            </a:spcAft>
            <a:buNone/>
          </a:pPr>
          <a:r>
            <a:rPr lang="en-GB" sz="1400" kern="1200" dirty="0"/>
            <a:t>Self-</a:t>
          </a:r>
        </a:p>
        <a:p>
          <a:pPr marL="0" lvl="0" indent="0" algn="ctr" defTabSz="711200">
            <a:lnSpc>
              <a:spcPct val="100000"/>
            </a:lnSpc>
            <a:spcBef>
              <a:spcPct val="0"/>
            </a:spcBef>
            <a:spcAft>
              <a:spcPts val="0"/>
            </a:spcAft>
            <a:buNone/>
          </a:pPr>
          <a:r>
            <a:rPr lang="en-GB" sz="1400" kern="1200" dirty="0"/>
            <a:t>fulfilment </a:t>
          </a:r>
        </a:p>
        <a:p>
          <a:pPr marL="0" lvl="0" indent="0" algn="ctr" defTabSz="711200">
            <a:lnSpc>
              <a:spcPct val="100000"/>
            </a:lnSpc>
            <a:spcBef>
              <a:spcPct val="0"/>
            </a:spcBef>
            <a:spcAft>
              <a:spcPts val="0"/>
            </a:spcAft>
            <a:buNone/>
          </a:pPr>
          <a:r>
            <a:rPr lang="en-GB" sz="1400" kern="1200" dirty="0"/>
            <a:t>and actualisation</a:t>
          </a:r>
        </a:p>
      </dsp:txBody>
      <dsp:txXfrm>
        <a:off x="2962656" y="0"/>
        <a:ext cx="1481328" cy="1019833"/>
      </dsp:txXfrm>
    </dsp:sp>
    <dsp:sp modelId="{A3482CD6-CDC7-4321-BB4F-CA98D061B9A0}">
      <dsp:nvSpPr>
        <dsp:cNvPr id="0" name=""/>
        <dsp:cNvSpPr/>
      </dsp:nvSpPr>
      <dsp:spPr>
        <a:xfrm>
          <a:off x="2221992" y="1019833"/>
          <a:ext cx="2962656" cy="1019833"/>
        </a:xfrm>
        <a:prstGeom prst="trapezoid">
          <a:avLst>
            <a:gd name="adj" fmla="val 72626"/>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dirty="0"/>
            <a:t>Self-esteem</a:t>
          </a:r>
        </a:p>
        <a:p>
          <a:pPr marL="0" lvl="0" indent="0" algn="ctr" defTabSz="889000">
            <a:lnSpc>
              <a:spcPct val="90000"/>
            </a:lnSpc>
            <a:spcBef>
              <a:spcPct val="0"/>
            </a:spcBef>
            <a:spcAft>
              <a:spcPct val="35000"/>
            </a:spcAft>
            <a:buNone/>
          </a:pPr>
          <a:r>
            <a:rPr lang="en-GB" sz="2000" kern="1200" dirty="0"/>
            <a:t>The “Value” Need</a:t>
          </a:r>
        </a:p>
      </dsp:txBody>
      <dsp:txXfrm>
        <a:off x="2740456" y="1019833"/>
        <a:ext cx="1925726" cy="1019833"/>
      </dsp:txXfrm>
    </dsp:sp>
    <dsp:sp modelId="{6ECB9E01-79C1-4617-96D1-C46C4A6F561C}">
      <dsp:nvSpPr>
        <dsp:cNvPr id="0" name=""/>
        <dsp:cNvSpPr/>
      </dsp:nvSpPr>
      <dsp:spPr>
        <a:xfrm>
          <a:off x="1481327" y="2039666"/>
          <a:ext cx="4443984" cy="1019833"/>
        </a:xfrm>
        <a:prstGeom prst="trapezoid">
          <a:avLst>
            <a:gd name="adj" fmla="val 72626"/>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dirty="0"/>
            <a:t>Love and friendship needs – to give and receive love, to belong</a:t>
          </a:r>
        </a:p>
      </dsp:txBody>
      <dsp:txXfrm>
        <a:off x="2259025" y="2039666"/>
        <a:ext cx="2888589" cy="1019833"/>
      </dsp:txXfrm>
    </dsp:sp>
    <dsp:sp modelId="{6013B443-167C-41D8-A946-8920CDA00E01}">
      <dsp:nvSpPr>
        <dsp:cNvPr id="0" name=""/>
        <dsp:cNvSpPr/>
      </dsp:nvSpPr>
      <dsp:spPr>
        <a:xfrm>
          <a:off x="740663" y="3059499"/>
          <a:ext cx="5925312" cy="1019833"/>
        </a:xfrm>
        <a:prstGeom prst="trapezoid">
          <a:avLst>
            <a:gd name="adj" fmla="val 72626"/>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dirty="0"/>
            <a:t>Safety needs – safe from threats, treated fairly, trusted and to trust</a:t>
          </a:r>
        </a:p>
      </dsp:txBody>
      <dsp:txXfrm>
        <a:off x="1777593" y="3059499"/>
        <a:ext cx="3851452" cy="1019833"/>
      </dsp:txXfrm>
    </dsp:sp>
    <dsp:sp modelId="{FC1C1414-7C67-4C4A-B405-26DD890EAB51}">
      <dsp:nvSpPr>
        <dsp:cNvPr id="0" name=""/>
        <dsp:cNvSpPr/>
      </dsp:nvSpPr>
      <dsp:spPr>
        <a:xfrm>
          <a:off x="0" y="4079332"/>
          <a:ext cx="7406640" cy="1019833"/>
        </a:xfrm>
        <a:prstGeom prst="trapezoid">
          <a:avLst>
            <a:gd name="adj" fmla="val 72626"/>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GB" sz="2000" kern="1200" dirty="0"/>
            <a:t>Physical needs – air, food, water, shelter, medical care, rest and recreation</a:t>
          </a:r>
        </a:p>
      </dsp:txBody>
      <dsp:txXfrm>
        <a:off x="1296161" y="4079332"/>
        <a:ext cx="4814316" cy="1019833"/>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9C2067-3453-E84B-9E57-A701B6F1AD26}" type="datetimeFigureOut">
              <a:rPr lang="en-US" smtClean="0"/>
              <a:t>7/13/2021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425465-BF17-804A-B956-03B2B34BD53A}" type="slidenum">
              <a:rPr lang="en-US" smtClean="0"/>
              <a:t>‹#›</a:t>
            </a:fld>
            <a:endParaRPr lang="en-US" dirty="0"/>
          </a:p>
        </p:txBody>
      </p:sp>
    </p:spTree>
    <p:extLst>
      <p:ext uri="{BB962C8B-B14F-4D97-AF65-F5344CB8AC3E}">
        <p14:creationId xmlns:p14="http://schemas.microsoft.com/office/powerpoint/2010/main" val="274021622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Marjorie Boxall, the founder of nurture groups, describes secure relationships as,</a:t>
            </a:r>
            <a:endParaRPr lang="en-GB" altLang="en-US" dirty="0"/>
          </a:p>
          <a:p>
            <a:r>
              <a:rPr lang="en-US" altLang="en-US" dirty="0"/>
              <a:t> </a:t>
            </a:r>
            <a:endParaRPr lang="en-GB" altLang="en-US" dirty="0"/>
          </a:p>
          <a:p>
            <a:r>
              <a:rPr lang="en-US" altLang="en-US" dirty="0"/>
              <a:t>“The close identification of parent and child, and the interaction and participation in shared experiences that stem from this.  It is the first stage of a developmental process through which the child builds up adequate concepts and skills, learns to interact and share with others and feel concern for them.  Through this process he becomes increasingly self-supporting and self-directing and able to profit from the learning experiences offered at school.”  (Boxall, 2010, 22)</a:t>
            </a:r>
            <a:endParaRPr lang="en-GB" altLang="en-US" dirty="0"/>
          </a:p>
          <a:p>
            <a:r>
              <a:rPr lang="en-US" altLang="en-US" dirty="0"/>
              <a:t> </a:t>
            </a:r>
            <a:endParaRPr lang="en-GB" altLang="en-US" dirty="0"/>
          </a:p>
          <a:p>
            <a:r>
              <a:rPr lang="en-US" altLang="en-US" dirty="0"/>
              <a:t>Bowlby proposed that insecure attachments are formed not from the absence of someone that loves a child, but the absence of someone that the child loves</a:t>
            </a:r>
            <a:endParaRPr lang="en-GB" altLang="en-US" dirty="0"/>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a:t>
            </a:fld>
            <a:endParaRPr lang="en-US" dirty="0"/>
          </a:p>
        </p:txBody>
      </p:sp>
    </p:spTree>
    <p:extLst>
      <p:ext uri="{BB962C8B-B14F-4D97-AF65-F5344CB8AC3E}">
        <p14:creationId xmlns:p14="http://schemas.microsoft.com/office/powerpoint/2010/main" val="41253333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6</a:t>
            </a:fld>
            <a:endParaRPr lang="en-US" dirty="0"/>
          </a:p>
        </p:txBody>
      </p:sp>
    </p:spTree>
    <p:extLst>
      <p:ext uri="{BB962C8B-B14F-4D97-AF65-F5344CB8AC3E}">
        <p14:creationId xmlns:p14="http://schemas.microsoft.com/office/powerpoint/2010/main" val="3775369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8</a:t>
            </a:fld>
            <a:endParaRPr lang="en-US" dirty="0"/>
          </a:p>
        </p:txBody>
      </p:sp>
    </p:spTree>
    <p:extLst>
      <p:ext uri="{BB962C8B-B14F-4D97-AF65-F5344CB8AC3E}">
        <p14:creationId xmlns:p14="http://schemas.microsoft.com/office/powerpoint/2010/main" val="3963398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9</a:t>
            </a:fld>
            <a:endParaRPr lang="en-US" dirty="0"/>
          </a:p>
        </p:txBody>
      </p:sp>
    </p:spTree>
    <p:extLst>
      <p:ext uri="{BB962C8B-B14F-4D97-AF65-F5344CB8AC3E}">
        <p14:creationId xmlns:p14="http://schemas.microsoft.com/office/powerpoint/2010/main" val="3363832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11</a:t>
            </a:fld>
            <a:endParaRPr lang="en-US" dirty="0"/>
          </a:p>
        </p:txBody>
      </p:sp>
    </p:spTree>
    <p:extLst>
      <p:ext uri="{BB962C8B-B14F-4D97-AF65-F5344CB8AC3E}">
        <p14:creationId xmlns:p14="http://schemas.microsoft.com/office/powerpoint/2010/main" val="453345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12</a:t>
            </a:fld>
            <a:endParaRPr lang="en-US" dirty="0"/>
          </a:p>
        </p:txBody>
      </p:sp>
    </p:spTree>
    <p:extLst>
      <p:ext uri="{BB962C8B-B14F-4D97-AF65-F5344CB8AC3E}">
        <p14:creationId xmlns:p14="http://schemas.microsoft.com/office/powerpoint/2010/main" val="1219214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a:t>Cortisol</a:t>
            </a:r>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13</a:t>
            </a:fld>
            <a:endParaRPr lang="en-US" dirty="0"/>
          </a:p>
        </p:txBody>
      </p:sp>
    </p:spTree>
    <p:extLst>
      <p:ext uri="{BB962C8B-B14F-4D97-AF65-F5344CB8AC3E}">
        <p14:creationId xmlns:p14="http://schemas.microsoft.com/office/powerpoint/2010/main" val="3225893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14</a:t>
            </a:fld>
            <a:endParaRPr lang="en-US" dirty="0"/>
          </a:p>
        </p:txBody>
      </p:sp>
    </p:spTree>
    <p:extLst>
      <p:ext uri="{BB962C8B-B14F-4D97-AF65-F5344CB8AC3E}">
        <p14:creationId xmlns:p14="http://schemas.microsoft.com/office/powerpoint/2010/main" val="28911584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15</a:t>
            </a:fld>
            <a:endParaRPr lang="en-US" dirty="0"/>
          </a:p>
        </p:txBody>
      </p:sp>
    </p:spTree>
    <p:extLst>
      <p:ext uri="{BB962C8B-B14F-4D97-AF65-F5344CB8AC3E}">
        <p14:creationId xmlns:p14="http://schemas.microsoft.com/office/powerpoint/2010/main" val="4093630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16</a:t>
            </a:fld>
            <a:endParaRPr lang="en-US" dirty="0"/>
          </a:p>
        </p:txBody>
      </p:sp>
    </p:spTree>
    <p:extLst>
      <p:ext uri="{BB962C8B-B14F-4D97-AF65-F5344CB8AC3E}">
        <p14:creationId xmlns:p14="http://schemas.microsoft.com/office/powerpoint/2010/main" val="557458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a:t>On average 55-60% of infants in the UK are securely attached. (Howe et al. 1999: 33) For the 40-45% of children that are insecurely attached, various psychological defensive strategies that mask their real feelings of overwhelming distress are employed rendering the child “quite incapable of warm attachment and therefore indifferent to human relationships” (Harris-Hendriks &amp; Figueroa 1995):</a:t>
            </a:r>
            <a:endParaRPr lang="en-GB" altLang="en-US" dirty="0"/>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17</a:t>
            </a:fld>
            <a:endParaRPr lang="en-US" dirty="0"/>
          </a:p>
        </p:txBody>
      </p:sp>
    </p:spTree>
    <p:extLst>
      <p:ext uri="{BB962C8B-B14F-4D97-AF65-F5344CB8AC3E}">
        <p14:creationId xmlns:p14="http://schemas.microsoft.com/office/powerpoint/2010/main" val="40940387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18</a:t>
            </a:fld>
            <a:endParaRPr lang="en-US" dirty="0"/>
          </a:p>
        </p:txBody>
      </p:sp>
    </p:spTree>
    <p:extLst>
      <p:ext uri="{BB962C8B-B14F-4D97-AF65-F5344CB8AC3E}">
        <p14:creationId xmlns:p14="http://schemas.microsoft.com/office/powerpoint/2010/main" val="9454083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19</a:t>
            </a:fld>
            <a:endParaRPr lang="en-US" dirty="0"/>
          </a:p>
        </p:txBody>
      </p:sp>
    </p:spTree>
    <p:extLst>
      <p:ext uri="{BB962C8B-B14F-4D97-AF65-F5344CB8AC3E}">
        <p14:creationId xmlns:p14="http://schemas.microsoft.com/office/powerpoint/2010/main" val="4043528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20</a:t>
            </a:fld>
            <a:endParaRPr lang="en-US" dirty="0"/>
          </a:p>
        </p:txBody>
      </p:sp>
    </p:spTree>
    <p:extLst>
      <p:ext uri="{BB962C8B-B14F-4D97-AF65-F5344CB8AC3E}">
        <p14:creationId xmlns:p14="http://schemas.microsoft.com/office/powerpoint/2010/main" val="2767124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21</a:t>
            </a:fld>
            <a:endParaRPr lang="en-US" dirty="0"/>
          </a:p>
        </p:txBody>
      </p:sp>
    </p:spTree>
    <p:extLst>
      <p:ext uri="{BB962C8B-B14F-4D97-AF65-F5344CB8AC3E}">
        <p14:creationId xmlns:p14="http://schemas.microsoft.com/office/powerpoint/2010/main" val="39971630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a:t>Infant shuts down and detaches from people.  Child develops feelings of not being good enough and withdraws from close relationships, suppresses painful negative memories and fails to acknowledge negative feelings.  They are likely to develop a belief in the need for self-reliance. </a:t>
            </a:r>
            <a:endParaRPr lang="en-GB" altLang="en-US" dirty="0"/>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22</a:t>
            </a:fld>
            <a:endParaRPr lang="en-US" dirty="0"/>
          </a:p>
        </p:txBody>
      </p:sp>
    </p:spTree>
    <p:extLst>
      <p:ext uri="{BB962C8B-B14F-4D97-AF65-F5344CB8AC3E}">
        <p14:creationId xmlns:p14="http://schemas.microsoft.com/office/powerpoint/2010/main" val="3583064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23</a:t>
            </a:fld>
            <a:endParaRPr lang="en-US" dirty="0"/>
          </a:p>
        </p:txBody>
      </p:sp>
    </p:spTree>
    <p:extLst>
      <p:ext uri="{BB962C8B-B14F-4D97-AF65-F5344CB8AC3E}">
        <p14:creationId xmlns:p14="http://schemas.microsoft.com/office/powerpoint/2010/main" val="23206058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24</a:t>
            </a:fld>
            <a:endParaRPr lang="en-US" dirty="0"/>
          </a:p>
        </p:txBody>
      </p:sp>
    </p:spTree>
    <p:extLst>
      <p:ext uri="{BB962C8B-B14F-4D97-AF65-F5344CB8AC3E}">
        <p14:creationId xmlns:p14="http://schemas.microsoft.com/office/powerpoint/2010/main" val="618294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a:t>Infant exacerbates their distress due to the belief that they have to magnify their emotions to receive support- they are intermittently rewarded for such </a:t>
            </a:r>
            <a:r>
              <a:rPr lang="en-US" altLang="en-US" dirty="0" err="1"/>
              <a:t>behaviour</a:t>
            </a:r>
            <a:r>
              <a:rPr lang="en-US" altLang="en-US" dirty="0"/>
              <a:t> with attention from an attachment figure.  Child craves attachment and they are likely to experience both fear and anger towards others for not providing care. </a:t>
            </a:r>
            <a:endParaRPr lang="en-GB" altLang="en-US" dirty="0"/>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25</a:t>
            </a:fld>
            <a:endParaRPr lang="en-US" dirty="0"/>
          </a:p>
        </p:txBody>
      </p:sp>
    </p:spTree>
    <p:extLst>
      <p:ext uri="{BB962C8B-B14F-4D97-AF65-F5344CB8AC3E}">
        <p14:creationId xmlns:p14="http://schemas.microsoft.com/office/powerpoint/2010/main" val="32511440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26</a:t>
            </a:fld>
            <a:endParaRPr lang="en-US" dirty="0"/>
          </a:p>
        </p:txBody>
      </p:sp>
    </p:spTree>
    <p:extLst>
      <p:ext uri="{BB962C8B-B14F-4D97-AF65-F5344CB8AC3E}">
        <p14:creationId xmlns:p14="http://schemas.microsoft.com/office/powerpoint/2010/main" val="13949935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27</a:t>
            </a:fld>
            <a:endParaRPr lang="en-US" dirty="0"/>
          </a:p>
        </p:txBody>
      </p:sp>
    </p:spTree>
    <p:extLst>
      <p:ext uri="{BB962C8B-B14F-4D97-AF65-F5344CB8AC3E}">
        <p14:creationId xmlns:p14="http://schemas.microsoft.com/office/powerpoint/2010/main" val="1601907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en-US" dirty="0"/>
              <a:t>Infant has no coherent pattern of </a:t>
            </a:r>
            <a:r>
              <a:rPr lang="en-US" altLang="en-US"/>
              <a:t>behaviour</a:t>
            </a:r>
            <a:r>
              <a:rPr lang="en-US" altLang="en-US" dirty="0"/>
              <a:t> and switches between inhibited and disinhibited behaviour.</a:t>
            </a:r>
            <a:endParaRPr lang="en-GB" altLang="en-US" dirty="0"/>
          </a:p>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28</a:t>
            </a:fld>
            <a:endParaRPr lang="en-US" dirty="0"/>
          </a:p>
        </p:txBody>
      </p:sp>
    </p:spTree>
    <p:extLst>
      <p:ext uri="{BB962C8B-B14F-4D97-AF65-F5344CB8AC3E}">
        <p14:creationId xmlns:p14="http://schemas.microsoft.com/office/powerpoint/2010/main" val="144277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29</a:t>
            </a:fld>
            <a:endParaRPr lang="en-US" dirty="0"/>
          </a:p>
        </p:txBody>
      </p:sp>
    </p:spTree>
    <p:extLst>
      <p:ext uri="{BB962C8B-B14F-4D97-AF65-F5344CB8AC3E}">
        <p14:creationId xmlns:p14="http://schemas.microsoft.com/office/powerpoint/2010/main" val="491849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30</a:t>
            </a:fld>
            <a:endParaRPr lang="en-US" dirty="0"/>
          </a:p>
        </p:txBody>
      </p:sp>
    </p:spTree>
    <p:extLst>
      <p:ext uri="{BB962C8B-B14F-4D97-AF65-F5344CB8AC3E}">
        <p14:creationId xmlns:p14="http://schemas.microsoft.com/office/powerpoint/2010/main" val="1020994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31</a:t>
            </a:fld>
            <a:endParaRPr lang="en-US" dirty="0"/>
          </a:p>
        </p:txBody>
      </p:sp>
    </p:spTree>
    <p:extLst>
      <p:ext uri="{BB962C8B-B14F-4D97-AF65-F5344CB8AC3E}">
        <p14:creationId xmlns:p14="http://schemas.microsoft.com/office/powerpoint/2010/main" val="11459903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32</a:t>
            </a:fld>
            <a:endParaRPr lang="en-US" dirty="0"/>
          </a:p>
        </p:txBody>
      </p:sp>
    </p:spTree>
    <p:extLst>
      <p:ext uri="{BB962C8B-B14F-4D97-AF65-F5344CB8AC3E}">
        <p14:creationId xmlns:p14="http://schemas.microsoft.com/office/powerpoint/2010/main" val="2230582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33</a:t>
            </a:fld>
            <a:endParaRPr lang="en-US" dirty="0"/>
          </a:p>
        </p:txBody>
      </p:sp>
    </p:spTree>
    <p:extLst>
      <p:ext uri="{BB962C8B-B14F-4D97-AF65-F5344CB8AC3E}">
        <p14:creationId xmlns:p14="http://schemas.microsoft.com/office/powerpoint/2010/main" val="38839419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34</a:t>
            </a:fld>
            <a:endParaRPr lang="en-US" dirty="0"/>
          </a:p>
        </p:txBody>
      </p:sp>
    </p:spTree>
    <p:extLst>
      <p:ext uri="{BB962C8B-B14F-4D97-AF65-F5344CB8AC3E}">
        <p14:creationId xmlns:p14="http://schemas.microsoft.com/office/powerpoint/2010/main" val="40725622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35</a:t>
            </a:fld>
            <a:endParaRPr lang="en-US" dirty="0"/>
          </a:p>
        </p:txBody>
      </p:sp>
    </p:spTree>
    <p:extLst>
      <p:ext uri="{BB962C8B-B14F-4D97-AF65-F5344CB8AC3E}">
        <p14:creationId xmlns:p14="http://schemas.microsoft.com/office/powerpoint/2010/main" val="42437813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36</a:t>
            </a:fld>
            <a:endParaRPr lang="en-US" dirty="0"/>
          </a:p>
        </p:txBody>
      </p:sp>
    </p:spTree>
    <p:extLst>
      <p:ext uri="{BB962C8B-B14F-4D97-AF65-F5344CB8AC3E}">
        <p14:creationId xmlns:p14="http://schemas.microsoft.com/office/powerpoint/2010/main" val="28586428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37</a:t>
            </a:fld>
            <a:endParaRPr lang="en-US" dirty="0"/>
          </a:p>
        </p:txBody>
      </p:sp>
    </p:spTree>
    <p:extLst>
      <p:ext uri="{BB962C8B-B14F-4D97-AF65-F5344CB8AC3E}">
        <p14:creationId xmlns:p14="http://schemas.microsoft.com/office/powerpoint/2010/main" val="21860003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38</a:t>
            </a:fld>
            <a:endParaRPr lang="en-US" dirty="0"/>
          </a:p>
        </p:txBody>
      </p:sp>
    </p:spTree>
    <p:extLst>
      <p:ext uri="{BB962C8B-B14F-4D97-AF65-F5344CB8AC3E}">
        <p14:creationId xmlns:p14="http://schemas.microsoft.com/office/powerpoint/2010/main" val="14152635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39</a:t>
            </a:fld>
            <a:endParaRPr lang="en-US" dirty="0"/>
          </a:p>
        </p:txBody>
      </p:sp>
    </p:spTree>
    <p:extLst>
      <p:ext uri="{BB962C8B-B14F-4D97-AF65-F5344CB8AC3E}">
        <p14:creationId xmlns:p14="http://schemas.microsoft.com/office/powerpoint/2010/main" val="31100147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40</a:t>
            </a:fld>
            <a:endParaRPr lang="en-US" dirty="0"/>
          </a:p>
        </p:txBody>
      </p:sp>
    </p:spTree>
    <p:extLst>
      <p:ext uri="{BB962C8B-B14F-4D97-AF65-F5344CB8AC3E}">
        <p14:creationId xmlns:p14="http://schemas.microsoft.com/office/powerpoint/2010/main" val="334597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41</a:t>
            </a:fld>
            <a:endParaRPr lang="en-US" dirty="0"/>
          </a:p>
        </p:txBody>
      </p:sp>
    </p:spTree>
    <p:extLst>
      <p:ext uri="{BB962C8B-B14F-4D97-AF65-F5344CB8AC3E}">
        <p14:creationId xmlns:p14="http://schemas.microsoft.com/office/powerpoint/2010/main" val="17826441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42</a:t>
            </a:fld>
            <a:endParaRPr lang="en-US" dirty="0"/>
          </a:p>
        </p:txBody>
      </p:sp>
    </p:spTree>
    <p:extLst>
      <p:ext uri="{BB962C8B-B14F-4D97-AF65-F5344CB8AC3E}">
        <p14:creationId xmlns:p14="http://schemas.microsoft.com/office/powerpoint/2010/main" val="23898343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43</a:t>
            </a:fld>
            <a:endParaRPr lang="en-US" dirty="0"/>
          </a:p>
        </p:txBody>
      </p:sp>
    </p:spTree>
    <p:extLst>
      <p:ext uri="{BB962C8B-B14F-4D97-AF65-F5344CB8AC3E}">
        <p14:creationId xmlns:p14="http://schemas.microsoft.com/office/powerpoint/2010/main" val="40535619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44</a:t>
            </a:fld>
            <a:endParaRPr lang="en-US" dirty="0"/>
          </a:p>
        </p:txBody>
      </p:sp>
    </p:spTree>
    <p:extLst>
      <p:ext uri="{BB962C8B-B14F-4D97-AF65-F5344CB8AC3E}">
        <p14:creationId xmlns:p14="http://schemas.microsoft.com/office/powerpoint/2010/main" val="39308384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45</a:t>
            </a:fld>
            <a:endParaRPr lang="en-US" dirty="0"/>
          </a:p>
        </p:txBody>
      </p:sp>
    </p:spTree>
    <p:extLst>
      <p:ext uri="{BB962C8B-B14F-4D97-AF65-F5344CB8AC3E}">
        <p14:creationId xmlns:p14="http://schemas.microsoft.com/office/powerpoint/2010/main" val="37748591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46</a:t>
            </a:fld>
            <a:endParaRPr lang="en-US" dirty="0"/>
          </a:p>
        </p:txBody>
      </p:sp>
    </p:spTree>
    <p:extLst>
      <p:ext uri="{BB962C8B-B14F-4D97-AF65-F5344CB8AC3E}">
        <p14:creationId xmlns:p14="http://schemas.microsoft.com/office/powerpoint/2010/main" val="10622761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47</a:t>
            </a:fld>
            <a:endParaRPr lang="en-US" dirty="0"/>
          </a:p>
        </p:txBody>
      </p:sp>
    </p:spTree>
    <p:extLst>
      <p:ext uri="{BB962C8B-B14F-4D97-AF65-F5344CB8AC3E}">
        <p14:creationId xmlns:p14="http://schemas.microsoft.com/office/powerpoint/2010/main" val="25958214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48</a:t>
            </a:fld>
            <a:endParaRPr lang="en-US" dirty="0"/>
          </a:p>
        </p:txBody>
      </p:sp>
    </p:spTree>
    <p:extLst>
      <p:ext uri="{BB962C8B-B14F-4D97-AF65-F5344CB8AC3E}">
        <p14:creationId xmlns:p14="http://schemas.microsoft.com/office/powerpoint/2010/main" val="29793566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49</a:t>
            </a:fld>
            <a:endParaRPr lang="en-US" dirty="0"/>
          </a:p>
        </p:txBody>
      </p:sp>
    </p:spTree>
    <p:extLst>
      <p:ext uri="{BB962C8B-B14F-4D97-AF65-F5344CB8AC3E}">
        <p14:creationId xmlns:p14="http://schemas.microsoft.com/office/powerpoint/2010/main" val="42570167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50</a:t>
            </a:fld>
            <a:endParaRPr lang="en-US" dirty="0"/>
          </a:p>
        </p:txBody>
      </p:sp>
    </p:spTree>
    <p:extLst>
      <p:ext uri="{BB962C8B-B14F-4D97-AF65-F5344CB8AC3E}">
        <p14:creationId xmlns:p14="http://schemas.microsoft.com/office/powerpoint/2010/main" val="303644955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51</a:t>
            </a:fld>
            <a:endParaRPr lang="en-US" dirty="0"/>
          </a:p>
        </p:txBody>
      </p:sp>
    </p:spTree>
    <p:extLst>
      <p:ext uri="{BB962C8B-B14F-4D97-AF65-F5344CB8AC3E}">
        <p14:creationId xmlns:p14="http://schemas.microsoft.com/office/powerpoint/2010/main" val="32412412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52</a:t>
            </a:fld>
            <a:endParaRPr lang="en-US" dirty="0"/>
          </a:p>
        </p:txBody>
      </p:sp>
    </p:spTree>
    <p:extLst>
      <p:ext uri="{BB962C8B-B14F-4D97-AF65-F5344CB8AC3E}">
        <p14:creationId xmlns:p14="http://schemas.microsoft.com/office/powerpoint/2010/main" val="24136047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53</a:t>
            </a:fld>
            <a:endParaRPr lang="en-US" dirty="0"/>
          </a:p>
        </p:txBody>
      </p:sp>
    </p:spTree>
    <p:extLst>
      <p:ext uri="{BB962C8B-B14F-4D97-AF65-F5344CB8AC3E}">
        <p14:creationId xmlns:p14="http://schemas.microsoft.com/office/powerpoint/2010/main" val="1045508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2425465-BF17-804A-B956-03B2B34BD53A}" type="slidenum">
              <a:rPr lang="en-US" smtClean="0"/>
              <a:t>54</a:t>
            </a:fld>
            <a:endParaRPr lang="en-US" dirty="0"/>
          </a:p>
        </p:txBody>
      </p:sp>
    </p:spTree>
    <p:extLst>
      <p:ext uri="{BB962C8B-B14F-4D97-AF65-F5344CB8AC3E}">
        <p14:creationId xmlns:p14="http://schemas.microsoft.com/office/powerpoint/2010/main" val="2202923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7/13/2021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3576824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7/13/2021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470435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F491FA2-DBAF-8948-B0AA-F8218DAC9472}" type="datetimeFigureOut">
              <a:rPr lang="en-US" smtClean="0"/>
              <a:t>7/13/2021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4188256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F491FA2-DBAF-8948-B0AA-F8218DAC9472}" type="datetimeFigureOut">
              <a:rPr lang="en-US" smtClean="0"/>
              <a:t>7/13/2021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080846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DF491FA2-DBAF-8948-B0AA-F8218DAC9472}" type="datetimeFigureOut">
              <a:rPr lang="en-US" smtClean="0"/>
              <a:t>7/13/2021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1835375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DF491FA2-DBAF-8948-B0AA-F8218DAC9472}" type="datetimeFigureOut">
              <a:rPr lang="en-US" smtClean="0"/>
              <a:t>7/13/2021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3113734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491FA2-DBAF-8948-B0AA-F8218DAC9472}" type="datetimeFigureOut">
              <a:rPr lang="en-US" smtClean="0"/>
              <a:t>7/13/2021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63625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F491FA2-DBAF-8948-B0AA-F8218DAC9472}" type="datetimeFigureOut">
              <a:rPr lang="en-US" smtClean="0"/>
              <a:t>7/13/2021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53687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F491FA2-DBAF-8948-B0AA-F8218DAC9472}" type="datetimeFigureOut">
              <a:rPr lang="en-US" smtClean="0"/>
              <a:t>7/13/2021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292203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7/13/2021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1843481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F491FA2-DBAF-8948-B0AA-F8218DAC9472}" type="datetimeFigureOut">
              <a:rPr lang="en-US" smtClean="0"/>
              <a:t>7/13/2021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699481E-959F-0A4C-89CF-13A902D3D06F}" type="slidenum">
              <a:rPr lang="en-US" smtClean="0"/>
              <a:t>‹#›</a:t>
            </a:fld>
            <a:endParaRPr lang="en-US" dirty="0"/>
          </a:p>
        </p:txBody>
      </p:sp>
    </p:spTree>
    <p:extLst>
      <p:ext uri="{BB962C8B-B14F-4D97-AF65-F5344CB8AC3E}">
        <p14:creationId xmlns:p14="http://schemas.microsoft.com/office/powerpoint/2010/main" val="3674580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491FA2-DBAF-8948-B0AA-F8218DAC9472}" type="datetimeFigureOut">
              <a:rPr lang="en-US" smtClean="0"/>
              <a:t>7/13/2021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99481E-959F-0A4C-89CF-13A902D3D06F}" type="slidenum">
              <a:rPr lang="en-US" smtClean="0"/>
              <a:t>‹#›</a:t>
            </a:fld>
            <a:endParaRPr lang="en-US" dirty="0"/>
          </a:p>
        </p:txBody>
      </p:sp>
    </p:spTree>
    <p:extLst>
      <p:ext uri="{BB962C8B-B14F-4D97-AF65-F5344CB8AC3E}">
        <p14:creationId xmlns:p14="http://schemas.microsoft.com/office/powerpoint/2010/main" val="42199309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hyperlink" Target="http://masterworks.files.wordpress.com/2009/05/mother-holding-baby.jpg"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NTROIMMAGE5-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582706" y="542838"/>
            <a:ext cx="6127187" cy="41549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eaLnBrk="1" hangingPunct="1"/>
            <a:r>
              <a:rPr lang="en-GB" sz="3200" dirty="0"/>
              <a:t>Topic 3</a:t>
            </a:r>
          </a:p>
          <a:p>
            <a:pPr eaLnBrk="1" hangingPunct="1"/>
            <a:endParaRPr lang="en-GB" sz="3200" dirty="0"/>
          </a:p>
          <a:p>
            <a:pPr eaLnBrk="1" hangingPunct="1"/>
            <a:r>
              <a:rPr lang="en-GB" sz="3200" dirty="0"/>
              <a:t>Understand and practically address the implications of attachment disorder on behaviour and learning</a:t>
            </a:r>
          </a:p>
          <a:p>
            <a:pPr eaLnBrk="1" hangingPunct="1"/>
            <a:endParaRPr lang="en-GB" sz="3200" dirty="0"/>
          </a:p>
          <a:p>
            <a:pPr eaLnBrk="1" hangingPunct="1"/>
            <a:r>
              <a:rPr lang="en-GB" sz="3200" dirty="0">
                <a:latin typeface="Arial" panose="020B0604020202020204" pitchFamily="34" charset="0"/>
                <a:cs typeface="Arial" panose="020B0604020202020204" pitchFamily="34" charset="0"/>
              </a:rPr>
              <a:t>The Wellbeing Toolkit</a:t>
            </a:r>
            <a:endParaRPr lang="es-ES" sz="3200" dirty="0">
              <a:latin typeface="Arial" panose="020B0604020202020204" pitchFamily="34" charset="0"/>
              <a:cs typeface="Arial" panose="020B0604020202020204" pitchFamily="34" charset="0"/>
            </a:endParaRPr>
          </a:p>
        </p:txBody>
      </p:sp>
      <p:sp>
        <p:nvSpPr>
          <p:cNvPr id="2" name="Rectangle 1"/>
          <p:cNvSpPr/>
          <p:nvPr/>
        </p:nvSpPr>
        <p:spPr>
          <a:xfrm>
            <a:off x="582706" y="4700224"/>
            <a:ext cx="5264302" cy="954107"/>
          </a:xfrm>
          <a:prstGeom prst="rect">
            <a:avLst/>
          </a:prstGeom>
        </p:spPr>
        <p:txBody>
          <a:bodyPr wrap="square">
            <a:spAutoFit/>
          </a:bodyPr>
          <a:lstStyle/>
          <a:p>
            <a:endParaRPr lang="en-GB" altLang="en-US" sz="2400" dirty="0">
              <a:latin typeface="Arial" panose="020B0604020202020204" pitchFamily="34" charset="0"/>
              <a:cs typeface="Arial" panose="020B0604020202020204" pitchFamily="34" charset="0"/>
            </a:endParaRPr>
          </a:p>
          <a:p>
            <a:r>
              <a:rPr lang="en-GB" altLang="en-US" sz="3200" dirty="0">
                <a:latin typeface="Arial" panose="020B0604020202020204" pitchFamily="34" charset="0"/>
                <a:cs typeface="Arial" panose="020B0604020202020204" pitchFamily="34" charset="0"/>
              </a:rPr>
              <a:t>Dr Scott Ighavongbe-Patrick</a:t>
            </a:r>
          </a:p>
        </p:txBody>
      </p:sp>
    </p:spTree>
    <p:extLst>
      <p:ext uri="{BB962C8B-B14F-4D97-AF65-F5344CB8AC3E}">
        <p14:creationId xmlns:p14="http://schemas.microsoft.com/office/powerpoint/2010/main" val="3823058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Aims</a:t>
            </a:r>
            <a:endParaRPr lang="es-ES" sz="4400" dirty="0">
              <a:solidFill>
                <a:schemeClr val="bg1">
                  <a:lumMod val="50000"/>
                </a:schemeClr>
              </a:solidFill>
              <a:latin typeface="Calibri" charset="0"/>
            </a:endParaRPr>
          </a:p>
        </p:txBody>
      </p:sp>
      <p:sp>
        <p:nvSpPr>
          <p:cNvPr id="3" name="Rectangle 2"/>
          <p:cNvSpPr/>
          <p:nvPr/>
        </p:nvSpPr>
        <p:spPr>
          <a:xfrm>
            <a:off x="307909" y="1551527"/>
            <a:ext cx="8490857" cy="4651979"/>
          </a:xfrm>
          <a:prstGeom prst="rect">
            <a:avLst/>
          </a:prstGeom>
        </p:spPr>
        <p:txBody>
          <a:bodyPr wrap="square">
            <a:spAutoFit/>
          </a:bodyPr>
          <a:lstStyle/>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Identify challenges to CYP with complex needs in education with attachment as a key influencing factor</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Define attachment disorder &amp; implications for learning, behaviour and aspirations</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Identify practical strategies for teachers &amp; support staff in the school context</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Present Solution focussed tools and PACE as key tools and methods of supporting these children</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Consider how you might incorporate some of these strategies into your own school based support systems</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2476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Key fact</a:t>
            </a:r>
            <a:endParaRPr lang="es-ES" sz="4400" dirty="0">
              <a:solidFill>
                <a:schemeClr val="bg1">
                  <a:lumMod val="50000"/>
                </a:schemeClr>
              </a:solidFill>
              <a:latin typeface="Calibri" charset="0"/>
            </a:endParaRPr>
          </a:p>
        </p:txBody>
      </p:sp>
      <p:sp>
        <p:nvSpPr>
          <p:cNvPr id="3" name="Rectangle 2"/>
          <p:cNvSpPr/>
          <p:nvPr/>
        </p:nvSpPr>
        <p:spPr>
          <a:xfrm>
            <a:off x="699795" y="1838130"/>
            <a:ext cx="7725747" cy="2585323"/>
          </a:xfrm>
          <a:prstGeom prst="rect">
            <a:avLst/>
          </a:prstGeom>
        </p:spPr>
        <p:txBody>
          <a:bodyPr wrap="square">
            <a:spAutoFit/>
          </a:bodyPr>
          <a:lstStyle/>
          <a:p>
            <a:pPr indent="-457200">
              <a:buFont typeface="Arial" panose="020B0604020202020204" pitchFamily="34" charset="0"/>
              <a:buChar char="•"/>
            </a:pPr>
            <a:r>
              <a:rPr lang="en-GB" altLang="en-US" sz="2000" b="1" dirty="0">
                <a:latin typeface="Arial" panose="020B0604020202020204" pitchFamily="34" charset="0"/>
                <a:cs typeface="Arial" panose="020B0604020202020204" pitchFamily="34" charset="0"/>
              </a:rPr>
              <a:t>Behaviour has meaning</a:t>
            </a:r>
          </a:p>
          <a:p>
            <a:r>
              <a:rPr lang="en-GB" altLang="en-US" sz="2000" dirty="0">
                <a:latin typeface="Arial" panose="020B0604020202020204" pitchFamily="34" charset="0"/>
                <a:cs typeface="Arial" panose="020B0604020202020204" pitchFamily="34" charset="0"/>
              </a:rPr>
              <a:t>	Protect the teacher from being adversely affected by pupil’s 	feelings 	and 	defence patterns</a:t>
            </a:r>
          </a:p>
          <a:p>
            <a:endParaRPr lang="en-GB" altLang="en-US" sz="24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To offer an alternative understanding/explanation of behaviour</a:t>
            </a:r>
          </a:p>
          <a:p>
            <a:r>
              <a:rPr lang="en-GB" altLang="en-US" sz="2000" dirty="0">
                <a:latin typeface="Arial" panose="020B0604020202020204" pitchFamily="34" charset="0"/>
                <a:cs typeface="Arial" panose="020B0604020202020204" pitchFamily="34" charset="0"/>
              </a:rPr>
              <a:t>           </a:t>
            </a:r>
          </a:p>
          <a:p>
            <a:r>
              <a:rPr lang="en-GB" altLang="en-US" sz="2000" dirty="0">
                <a:latin typeface="Arial" panose="020B0604020202020204" pitchFamily="34" charset="0"/>
                <a:cs typeface="Arial" panose="020B0604020202020204" pitchFamily="34" charset="0"/>
              </a:rPr>
              <a:t>	</a:t>
            </a:r>
            <a:r>
              <a:rPr lang="en-GB" altLang="en-US" dirty="0">
                <a:latin typeface="Arial" panose="020B0604020202020204" pitchFamily="34" charset="0"/>
                <a:cs typeface="Arial" panose="020B0604020202020204" pitchFamily="34" charset="0"/>
              </a:rPr>
              <a:t>How early                                 				Impacts of learning</a:t>
            </a:r>
          </a:p>
          <a:p>
            <a:r>
              <a:rPr lang="en-GB" altLang="en-US" dirty="0">
                <a:latin typeface="Arial" panose="020B0604020202020204" pitchFamily="34" charset="0"/>
                <a:cs typeface="Arial" panose="020B0604020202020204" pitchFamily="34" charset="0"/>
              </a:rPr>
              <a:t>	attachment                               				cognitive development</a:t>
            </a:r>
          </a:p>
        </p:txBody>
      </p:sp>
      <p:sp>
        <p:nvSpPr>
          <p:cNvPr id="4" name="Right Arrow 3"/>
          <p:cNvSpPr/>
          <p:nvPr/>
        </p:nvSpPr>
        <p:spPr>
          <a:xfrm>
            <a:off x="3349690" y="3899545"/>
            <a:ext cx="1707502" cy="35456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54211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865652"/>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Definitions</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1631216"/>
          </a:xfrm>
          <a:prstGeom prst="rect">
            <a:avLst/>
          </a:prstGeom>
        </p:spPr>
        <p:txBody>
          <a:bodyPr wrap="square">
            <a:spAutoFit/>
          </a:bodyPr>
          <a:lstStyle/>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The term </a:t>
            </a:r>
            <a:r>
              <a:rPr lang="en-GB" altLang="en-US" sz="2000" b="1" dirty="0">
                <a:latin typeface="Arial" panose="020B0604020202020204" pitchFamily="34" charset="0"/>
                <a:cs typeface="Arial" panose="020B0604020202020204" pitchFamily="34" charset="0"/>
              </a:rPr>
              <a:t>attachments:</a:t>
            </a:r>
          </a:p>
          <a:p>
            <a:pPr marL="285750" indent="-285750">
              <a:buFont typeface="Arial" panose="020B0604020202020204" pitchFamily="34" charset="0"/>
              <a:buChar char="•"/>
            </a:pPr>
            <a:endParaRPr lang="en-GB" altLang="en-US" sz="20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Used to describe the </a:t>
            </a:r>
            <a:r>
              <a:rPr lang="en-GB" altLang="en-US" sz="2000" b="1" dirty="0">
                <a:latin typeface="Arial" panose="020B0604020202020204" pitchFamily="34" charset="0"/>
                <a:cs typeface="Arial" panose="020B0604020202020204" pitchFamily="34" charset="0"/>
              </a:rPr>
              <a:t>process of bonding </a:t>
            </a:r>
            <a:r>
              <a:rPr lang="en-GB" altLang="en-US" sz="2000" dirty="0">
                <a:latin typeface="Arial" panose="020B0604020202020204" pitchFamily="34" charset="0"/>
                <a:cs typeface="Arial" panose="020B0604020202020204" pitchFamily="34" charset="0"/>
              </a:rPr>
              <a:t>that takes place between infants and caregivers in the </a:t>
            </a:r>
            <a:r>
              <a:rPr lang="en-GB" altLang="en-US" sz="2000" b="1" dirty="0">
                <a:latin typeface="Arial" panose="020B0604020202020204" pitchFamily="34" charset="0"/>
                <a:cs typeface="Arial" panose="020B0604020202020204" pitchFamily="34" charset="0"/>
              </a:rPr>
              <a:t>first two years of life</a:t>
            </a:r>
            <a:r>
              <a:rPr lang="en-GB" altLang="en-US" sz="2000" dirty="0">
                <a:latin typeface="Arial" panose="020B0604020202020204" pitchFamily="34" charset="0"/>
                <a:cs typeface="Arial" panose="020B0604020202020204" pitchFamily="34" charset="0"/>
              </a:rPr>
              <a:t>, and most important, the first nine months of life. </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0627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690880" y="1194287"/>
            <a:ext cx="7772400" cy="1015663"/>
          </a:xfrm>
          <a:prstGeom prst="rect">
            <a:avLst/>
          </a:prstGeom>
        </p:spPr>
        <p:txBody>
          <a:bodyPr wrap="square">
            <a:spAutoFit/>
          </a:bodyPr>
          <a:lstStyle/>
          <a:p>
            <a:pPr>
              <a:spcBef>
                <a:spcPct val="50000"/>
              </a:spcBef>
            </a:pPr>
            <a:r>
              <a:rPr lang="en-GB" altLang="en-US" sz="2000" dirty="0">
                <a:latin typeface="Arial" panose="020B0604020202020204" pitchFamily="34" charset="0"/>
                <a:cs typeface="Arial" panose="020B0604020202020204" pitchFamily="34" charset="0"/>
              </a:rPr>
              <a:t>Winnicott felt that a good-enough mother allows herself to be used by the infant so that he or she may develop a healthy sense of omnipotence</a:t>
            </a:r>
            <a:endParaRPr lang="en-US" altLang="en-US" sz="2000" dirty="0">
              <a:latin typeface="Arial" panose="020B0604020202020204" pitchFamily="34" charset="0"/>
              <a:cs typeface="Arial" panose="020B0604020202020204" pitchFamily="34" charset="0"/>
            </a:endParaRPr>
          </a:p>
        </p:txBody>
      </p:sp>
      <p:pic>
        <p:nvPicPr>
          <p:cNvPr id="5" name="Picture 8" descr="1574R-040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138" y="2395425"/>
            <a:ext cx="3240087"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5383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399245" y="702163"/>
            <a:ext cx="8332632" cy="9541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800" dirty="0"/>
              <a:t>Maslow’s “Hierarchy of Need”1954 “Motivation and Personality”</a:t>
            </a:r>
            <a:endParaRPr lang="es-ES" sz="2800" dirty="0">
              <a:solidFill>
                <a:schemeClr val="bg1">
                  <a:lumMod val="50000"/>
                </a:schemeClr>
              </a:solidFill>
              <a:latin typeface="Calibri" charset="0"/>
            </a:endParaRPr>
          </a:p>
        </p:txBody>
      </p:sp>
      <p:graphicFrame>
        <p:nvGraphicFramePr>
          <p:cNvPr id="5" name="Diagram 4"/>
          <p:cNvGraphicFramePr/>
          <p:nvPr>
            <p:extLst>
              <p:ext uri="{D42A27DB-BD31-4B8C-83A1-F6EECF244321}">
                <p14:modId xmlns:p14="http://schemas.microsoft.com/office/powerpoint/2010/main" val="3589193521"/>
              </p:ext>
            </p:extLst>
          </p:nvPr>
        </p:nvGraphicFramePr>
        <p:xfrm>
          <a:off x="868680" y="1657234"/>
          <a:ext cx="7406640" cy="50991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09862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587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The Attachment Process</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739485"/>
          </a:xfrm>
          <a:prstGeom prst="rect">
            <a:avLst/>
          </a:prstGeom>
        </p:spPr>
        <p:txBody>
          <a:bodyPr wrap="square">
            <a:spAutoFit/>
          </a:bodyPr>
          <a:lstStyle/>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Calming - core identity</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Attunement - trust</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Affective attunement - feelings and empathy </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Impulse regulation - morality</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Shame regulation - social learning  </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Rage management - social acceptability</a:t>
            </a:r>
          </a:p>
          <a:p>
            <a:pPr marL="285750" indent="-285750">
              <a:lnSpc>
                <a:spcPct val="150000"/>
              </a:lnSpc>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Pre-cognitive patterning - thinking</a:t>
            </a:r>
          </a:p>
          <a:p>
            <a:pPr>
              <a:lnSpc>
                <a:spcPct val="150000"/>
              </a:lnSpc>
            </a:pPr>
            <a:endParaRPr lang="en-US" altLang="en-US" dirty="0">
              <a:latin typeface="Arial" panose="020B0604020202020204" pitchFamily="34" charset="0"/>
              <a:cs typeface="Arial" panose="020B0604020202020204" pitchFamily="34" charset="0"/>
            </a:endParaRPr>
          </a:p>
        </p:txBody>
      </p:sp>
      <p:pic>
        <p:nvPicPr>
          <p:cNvPr id="5" name="Picture 8" descr="See full size image">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9465" y="1880394"/>
            <a:ext cx="2663825" cy="3179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6970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3" y="73724"/>
            <a:ext cx="9144000" cy="6858000"/>
          </a:xfrm>
          <a:prstGeom prst="rect">
            <a:avLst/>
          </a:prstGeom>
        </p:spPr>
      </p:pic>
      <p:sp>
        <p:nvSpPr>
          <p:cNvPr id="6" name="5 CuadroTexto"/>
          <p:cNvSpPr txBox="1">
            <a:spLocks noChangeArrowheads="1"/>
          </p:cNvSpPr>
          <p:nvPr/>
        </p:nvSpPr>
        <p:spPr bwMode="auto">
          <a:xfrm>
            <a:off x="139959" y="1184247"/>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Quick Activity</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1754326"/>
          </a:xfrm>
          <a:prstGeom prst="rect">
            <a:avLst/>
          </a:prstGeom>
        </p:spPr>
        <p:txBody>
          <a:bodyPr wrap="square">
            <a:spAutoFit/>
          </a:bodyPr>
          <a:lstStyle/>
          <a:p>
            <a:endParaRPr lang="en-US" altLang="en-US" sz="3600" dirty="0">
              <a:latin typeface="Arial" panose="020B0604020202020204" pitchFamily="34" charset="0"/>
              <a:cs typeface="Arial" panose="020B0604020202020204" pitchFamily="34" charset="0"/>
            </a:endParaRPr>
          </a:p>
          <a:p>
            <a:endParaRPr lang="en-US" altLang="en-US" sz="3600" dirty="0">
              <a:latin typeface="Arial" panose="020B0604020202020204" pitchFamily="34" charset="0"/>
              <a:cs typeface="Arial" panose="020B0604020202020204" pitchFamily="34" charset="0"/>
            </a:endParaRPr>
          </a:p>
          <a:p>
            <a:r>
              <a:rPr lang="en-US" altLang="en-US" sz="3600" dirty="0">
                <a:latin typeface="Arial" panose="020B0604020202020204" pitchFamily="34" charset="0"/>
                <a:cs typeface="Arial" panose="020B0604020202020204" pitchFamily="34" charset="0"/>
              </a:rPr>
              <a:t>What can interfere with this process? </a:t>
            </a:r>
          </a:p>
        </p:txBody>
      </p:sp>
    </p:spTree>
    <p:extLst>
      <p:ext uri="{BB962C8B-B14F-4D97-AF65-F5344CB8AC3E}">
        <p14:creationId xmlns:p14="http://schemas.microsoft.com/office/powerpoint/2010/main" val="131448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95393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So what are the risk factors?</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1631216"/>
          </a:xfrm>
          <a:prstGeom prst="rect">
            <a:avLst/>
          </a:prstGeom>
        </p:spPr>
        <p:txBody>
          <a:bodyPr wrap="square">
            <a:spAutoFit/>
          </a:bodyPr>
          <a:lstStyle/>
          <a:p>
            <a:endParaRPr lang="en-GB" altLang="en-US" sz="2000" dirty="0">
              <a:latin typeface="Arial" panose="020B0604020202020204" pitchFamily="34" charset="0"/>
              <a:cs typeface="Arial" panose="020B0604020202020204" pitchFamily="34" charset="0"/>
            </a:endParaRPr>
          </a:p>
          <a:p>
            <a:r>
              <a:rPr lang="en-GB" altLang="en-US" sz="2000" dirty="0">
                <a:latin typeface="Arial" panose="020B0604020202020204" pitchFamily="34" charset="0"/>
                <a:cs typeface="Arial" panose="020B0604020202020204" pitchFamily="34" charset="0"/>
              </a:rPr>
              <a:t>Factors which present risk to the quality of attachment of parent and child:</a:t>
            </a:r>
          </a:p>
          <a:p>
            <a:endParaRPr lang="en-GB" altLang="en-US" sz="2000" dirty="0">
              <a:latin typeface="Arial" panose="020B0604020202020204" pitchFamily="34" charset="0"/>
              <a:cs typeface="Arial" panose="020B0604020202020204" pitchFamily="34" charset="0"/>
            </a:endParaRPr>
          </a:p>
          <a:p>
            <a:endParaRPr lang="en-GB" altLang="en-US" sz="2000" dirty="0">
              <a:latin typeface="Arial" panose="020B0604020202020204" pitchFamily="34" charset="0"/>
              <a:cs typeface="Arial" panose="020B0604020202020204" pitchFamily="34" charset="0"/>
            </a:endParaRPr>
          </a:p>
          <a:p>
            <a:r>
              <a:rPr lang="en-GB" altLang="en-US" sz="2000" dirty="0">
                <a:latin typeface="Arial" panose="020B0604020202020204" pitchFamily="34" charset="0"/>
                <a:cs typeface="Arial" panose="020B0604020202020204" pitchFamily="34" charset="0"/>
              </a:rPr>
              <a:t>How many of these sound familiar?</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4306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LANK INTRO-RED-PPTNURTUR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746975" y="1004552"/>
            <a:ext cx="7675808" cy="5318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marL="342900" indent="-342900" eaLnBrk="1" hangingPunct="1">
              <a:buFont typeface="Arial" panose="020B0604020202020204" pitchFamily="34" charset="0"/>
              <a:buChar char="•"/>
            </a:pPr>
            <a:r>
              <a:rPr lang="en-GB" altLang="en-US" sz="2000" dirty="0"/>
              <a:t>Pre-birth stress (DSH)</a:t>
            </a:r>
          </a:p>
          <a:p>
            <a:pPr marL="342900" indent="-342900" eaLnBrk="1" hangingPunct="1">
              <a:buFont typeface="Arial" panose="020B0604020202020204" pitchFamily="34" charset="0"/>
              <a:buChar char="•"/>
            </a:pPr>
            <a:r>
              <a:rPr lang="en-GB" altLang="en-US" sz="2000" dirty="0"/>
              <a:t>Domestic Violence</a:t>
            </a:r>
          </a:p>
          <a:p>
            <a:pPr marL="342900" indent="-342900" eaLnBrk="1" hangingPunct="1">
              <a:buFont typeface="Arial" panose="020B0604020202020204" pitchFamily="34" charset="0"/>
              <a:buChar char="•"/>
            </a:pPr>
            <a:r>
              <a:rPr lang="en-GB" altLang="en-US" sz="2000" dirty="0"/>
              <a:t>Alcohol/drug taking during pregnancy</a:t>
            </a:r>
          </a:p>
          <a:p>
            <a:pPr marL="342900" indent="-342900" eaLnBrk="1" hangingPunct="1">
              <a:buFont typeface="Arial" panose="020B0604020202020204" pitchFamily="34" charset="0"/>
              <a:buChar char="•"/>
            </a:pPr>
            <a:r>
              <a:rPr lang="en-GB" altLang="en-US" sz="2000" dirty="0"/>
              <a:t>Parental illness</a:t>
            </a:r>
          </a:p>
          <a:p>
            <a:pPr marL="342900" indent="-342900" eaLnBrk="1" hangingPunct="1">
              <a:buFont typeface="Arial" panose="020B0604020202020204" pitchFamily="34" charset="0"/>
              <a:buChar char="•"/>
            </a:pPr>
            <a:r>
              <a:rPr lang="en-GB" altLang="en-US" sz="2000" dirty="0"/>
              <a:t>Post Natal Depression</a:t>
            </a:r>
          </a:p>
          <a:p>
            <a:pPr marL="342900" indent="-342900" eaLnBrk="1" hangingPunct="1">
              <a:buFont typeface="Arial" panose="020B0604020202020204" pitchFamily="34" charset="0"/>
              <a:buChar char="•"/>
            </a:pPr>
            <a:r>
              <a:rPr lang="en-GB" altLang="en-US" sz="2000" dirty="0"/>
              <a:t>Premature baby</a:t>
            </a:r>
          </a:p>
          <a:p>
            <a:pPr marL="342900" indent="-342900" eaLnBrk="1" hangingPunct="1">
              <a:buFont typeface="Arial" panose="020B0604020202020204" pitchFamily="34" charset="0"/>
              <a:buChar char="•"/>
            </a:pPr>
            <a:r>
              <a:rPr lang="en-GB" altLang="en-US" sz="2000" dirty="0"/>
              <a:t>Medical complications</a:t>
            </a:r>
          </a:p>
          <a:p>
            <a:pPr marL="342900" indent="-342900" eaLnBrk="1" hangingPunct="1">
              <a:buFont typeface="Arial" panose="020B0604020202020204" pitchFamily="34" charset="0"/>
              <a:buChar char="•"/>
            </a:pPr>
            <a:r>
              <a:rPr lang="en-GB" altLang="en-US" sz="2000" dirty="0"/>
              <a:t>Bereavements in the family</a:t>
            </a:r>
          </a:p>
          <a:p>
            <a:pPr marL="342900" indent="-342900" eaLnBrk="1" hangingPunct="1">
              <a:buFont typeface="Arial" panose="020B0604020202020204" pitchFamily="34" charset="0"/>
              <a:buChar char="•"/>
            </a:pPr>
            <a:r>
              <a:rPr lang="en-GB" altLang="en-US" sz="2000" dirty="0"/>
              <a:t>Baby Having a disability</a:t>
            </a:r>
          </a:p>
          <a:p>
            <a:pPr marL="342900" indent="-342900" eaLnBrk="1" hangingPunct="1">
              <a:buFont typeface="Arial" panose="020B0604020202020204" pitchFamily="34" charset="0"/>
              <a:buChar char="•"/>
            </a:pPr>
            <a:r>
              <a:rPr lang="en-GB" altLang="en-US" sz="2000" dirty="0"/>
              <a:t>Neglect</a:t>
            </a:r>
          </a:p>
          <a:p>
            <a:pPr marL="342900" indent="-342900" eaLnBrk="1" hangingPunct="1">
              <a:buFont typeface="Arial" panose="020B0604020202020204" pitchFamily="34" charset="0"/>
              <a:buChar char="•"/>
            </a:pPr>
            <a:r>
              <a:rPr lang="en-GB" altLang="en-US" sz="2000" dirty="0"/>
              <a:t>Abuse</a:t>
            </a:r>
          </a:p>
          <a:p>
            <a:pPr marL="342900" indent="-342900" eaLnBrk="1" hangingPunct="1">
              <a:buFont typeface="Arial" panose="020B0604020202020204" pitchFamily="34" charset="0"/>
              <a:buChar char="•"/>
            </a:pPr>
            <a:r>
              <a:rPr lang="en-GB" altLang="en-US" sz="2000" dirty="0"/>
              <a:t>Home instability</a:t>
            </a:r>
          </a:p>
          <a:p>
            <a:pPr marL="342900" indent="-342900" eaLnBrk="1" hangingPunct="1">
              <a:buFont typeface="Arial" panose="020B0604020202020204" pitchFamily="34" charset="0"/>
              <a:buChar char="•"/>
            </a:pPr>
            <a:r>
              <a:rPr lang="en-GB" altLang="en-US" sz="2000" dirty="0"/>
              <a:t>Poverty</a:t>
            </a:r>
          </a:p>
          <a:p>
            <a:pPr marL="342900" indent="-342900" eaLnBrk="1" hangingPunct="1">
              <a:buFont typeface="Arial" panose="020B0604020202020204" pitchFamily="34" charset="0"/>
              <a:buChar char="•"/>
            </a:pPr>
            <a:r>
              <a:rPr lang="en-GB" altLang="en-US" sz="2000" dirty="0"/>
              <a:t>Abandonment</a:t>
            </a:r>
          </a:p>
          <a:p>
            <a:pPr marL="342900" indent="-342900" eaLnBrk="1" hangingPunct="1">
              <a:buFont typeface="Arial" panose="020B0604020202020204" pitchFamily="34" charset="0"/>
              <a:buChar char="•"/>
            </a:pPr>
            <a:r>
              <a:rPr lang="en-GB" altLang="en-US" sz="2000" dirty="0"/>
              <a:t>Mental health difficulties in the caregivers</a:t>
            </a:r>
          </a:p>
          <a:p>
            <a:pPr marL="342900" indent="-342900" eaLnBrk="1" hangingPunct="1">
              <a:buFont typeface="Arial" panose="020B0604020202020204" pitchFamily="34" charset="0"/>
              <a:buChar char="•"/>
            </a:pPr>
            <a:r>
              <a:rPr lang="en-GB" altLang="en-US" sz="2000" dirty="0"/>
              <a:t>Multiple home and school placements during child’s early years</a:t>
            </a:r>
          </a:p>
          <a:p>
            <a:pPr eaLnBrk="1" hangingPunct="1"/>
            <a:endParaRPr lang="en-US" altLang="en-US" sz="2000" dirty="0"/>
          </a:p>
        </p:txBody>
      </p:sp>
    </p:spTree>
    <p:extLst>
      <p:ext uri="{BB962C8B-B14F-4D97-AF65-F5344CB8AC3E}">
        <p14:creationId xmlns:p14="http://schemas.microsoft.com/office/powerpoint/2010/main" val="1430194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3816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Research – The ‘Brain’ bit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1938992"/>
          </a:xfrm>
          <a:prstGeom prst="rect">
            <a:avLst/>
          </a:prstGeom>
        </p:spPr>
        <p:txBody>
          <a:bodyPr wrap="square">
            <a:spAutoFit/>
          </a:bodyPr>
          <a:lstStyle/>
          <a:p>
            <a:endParaRPr lang="en-GB" altLang="en-US" sz="2000" dirty="0">
              <a:latin typeface="Arial" panose="020B0604020202020204" pitchFamily="34" charset="0"/>
              <a:cs typeface="Arial" panose="020B0604020202020204" pitchFamily="34" charset="0"/>
            </a:endParaRPr>
          </a:p>
          <a:p>
            <a:r>
              <a:rPr lang="en-GB" altLang="en-US" sz="2000" dirty="0">
                <a:latin typeface="Arial" panose="020B0604020202020204" pitchFamily="34" charset="0"/>
                <a:cs typeface="Arial" panose="020B0604020202020204" pitchFamily="34" charset="0"/>
              </a:rPr>
              <a:t>Highlighted the importance of </a:t>
            </a:r>
            <a:r>
              <a:rPr lang="en-GB" altLang="en-US" sz="2000" b="1" dirty="0">
                <a:latin typeface="Arial" panose="020B0604020202020204" pitchFamily="34" charset="0"/>
                <a:cs typeface="Arial" panose="020B0604020202020204" pitchFamily="34" charset="0"/>
              </a:rPr>
              <a:t>early relationships and brain development </a:t>
            </a:r>
            <a:r>
              <a:rPr lang="en-GB" altLang="en-US" sz="2000" dirty="0">
                <a:latin typeface="Arial" panose="020B0604020202020204" pitchFamily="34" charset="0"/>
                <a:cs typeface="Arial" panose="020B0604020202020204" pitchFamily="34" charset="0"/>
              </a:rPr>
              <a:t>specifically emotional development.</a:t>
            </a:r>
          </a:p>
          <a:p>
            <a:endParaRPr lang="en-GB" altLang="en-US" sz="2000" dirty="0">
              <a:latin typeface="Arial" panose="020B0604020202020204" pitchFamily="34" charset="0"/>
              <a:cs typeface="Arial" panose="020B0604020202020204" pitchFamily="34" charset="0"/>
            </a:endParaRPr>
          </a:p>
          <a:p>
            <a:endParaRPr lang="en-GB" altLang="en-US" sz="2000" dirty="0">
              <a:latin typeface="Arial" panose="020B0604020202020204" pitchFamily="34" charset="0"/>
              <a:cs typeface="Arial" panose="020B0604020202020204" pitchFamily="34" charset="0"/>
            </a:endParaRPr>
          </a:p>
          <a:p>
            <a:r>
              <a:rPr lang="en-GB" altLang="en-US" sz="2000" b="1" dirty="0">
                <a:latin typeface="Arial" panose="020B0604020202020204" pitchFamily="34" charset="0"/>
                <a:cs typeface="Arial" panose="020B0604020202020204" pitchFamily="34" charset="0"/>
              </a:rPr>
              <a:t>The first three years of life</a:t>
            </a:r>
            <a:r>
              <a:rPr lang="en-GB" altLang="en-US" sz="2000" dirty="0">
                <a:latin typeface="Arial" panose="020B0604020202020204" pitchFamily="34" charset="0"/>
                <a:cs typeface="Arial" panose="020B0604020202020204" pitchFamily="34" charset="0"/>
              </a:rPr>
              <a:t> are a critical/sensitive period in development</a:t>
            </a:r>
          </a:p>
        </p:txBody>
      </p:sp>
    </p:spTree>
    <p:extLst>
      <p:ext uri="{BB962C8B-B14F-4D97-AF65-F5344CB8AC3E}">
        <p14:creationId xmlns:p14="http://schemas.microsoft.com/office/powerpoint/2010/main" val="3605964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902558"/>
            <a:ext cx="8836090" cy="144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If the ‘right’ experiences are </a:t>
            </a:r>
            <a:r>
              <a:rPr lang="en-GB" sz="4400" b="1" dirty="0"/>
              <a:t>not</a:t>
            </a:r>
            <a:r>
              <a:rPr lang="en-GB" sz="4400" dirty="0"/>
              <a:t> available</a:t>
            </a:r>
            <a:endParaRPr lang="es-ES" sz="4400" dirty="0">
              <a:solidFill>
                <a:schemeClr val="bg1">
                  <a:lumMod val="50000"/>
                </a:schemeClr>
              </a:solidFill>
              <a:latin typeface="Calibri" charset="0"/>
            </a:endParaRPr>
          </a:p>
        </p:txBody>
      </p:sp>
      <p:sp>
        <p:nvSpPr>
          <p:cNvPr id="4" name="Rectangle 3"/>
          <p:cNvSpPr/>
          <p:nvPr/>
        </p:nvSpPr>
        <p:spPr>
          <a:xfrm>
            <a:off x="811369" y="2496411"/>
            <a:ext cx="7431110" cy="3170099"/>
          </a:xfrm>
          <a:prstGeom prst="rect">
            <a:avLst/>
          </a:prstGeom>
        </p:spPr>
        <p:txBody>
          <a:bodyPr wrap="square">
            <a:spAutoFit/>
          </a:bodyPr>
          <a:lstStyle/>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Eye contact</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Responsive face to face gazing</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Vocalisation and tone</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Smiling</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Body language</a:t>
            </a:r>
          </a:p>
          <a:p>
            <a:pPr marL="285750" indent="-285750">
              <a:buFont typeface="Arial" panose="020B0604020202020204" pitchFamily="34" charset="0"/>
              <a:buChar char="•"/>
            </a:pPr>
            <a:r>
              <a:rPr lang="en-GB" altLang="en-US" sz="2000" dirty="0">
                <a:latin typeface="Arial" panose="020B0604020202020204" pitchFamily="34" charset="0"/>
                <a:cs typeface="Arial" panose="020B0604020202020204" pitchFamily="34" charset="0"/>
              </a:rPr>
              <a:t>Containing emotions</a:t>
            </a:r>
          </a:p>
          <a:p>
            <a:endParaRPr lang="en-GB" altLang="en-US" sz="2000" dirty="0">
              <a:latin typeface="Arial" panose="020B0604020202020204" pitchFamily="34" charset="0"/>
              <a:cs typeface="Arial" panose="020B0604020202020204" pitchFamily="34" charset="0"/>
            </a:endParaRPr>
          </a:p>
          <a:p>
            <a:endParaRPr lang="en-GB" altLang="en-US" sz="2000" dirty="0">
              <a:latin typeface="Arial" panose="020B0604020202020204" pitchFamily="34" charset="0"/>
              <a:cs typeface="Arial" panose="020B0604020202020204" pitchFamily="34" charset="0"/>
            </a:endParaRPr>
          </a:p>
          <a:p>
            <a:r>
              <a:rPr lang="en-GB" altLang="en-US" sz="2000" dirty="0">
                <a:latin typeface="Arial" panose="020B0604020202020204" pitchFamily="34" charset="0"/>
                <a:cs typeface="Arial" panose="020B0604020202020204" pitchFamily="34" charset="0"/>
              </a:rPr>
              <a:t>Then the baby’s brain will not develop to realise his/her full potential</a:t>
            </a: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3716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Rectangle 3"/>
          <p:cNvSpPr/>
          <p:nvPr/>
        </p:nvSpPr>
        <p:spPr>
          <a:xfrm>
            <a:off x="837127" y="1481070"/>
            <a:ext cx="7624293" cy="3139321"/>
          </a:xfrm>
          <a:prstGeom prst="rect">
            <a:avLst/>
          </a:prstGeom>
        </p:spPr>
        <p:txBody>
          <a:bodyPr wrap="square">
            <a:spAutoFit/>
          </a:bodyPr>
          <a:lstStyle/>
          <a:p>
            <a:pPr>
              <a:lnSpc>
                <a:spcPct val="90000"/>
              </a:lnSpc>
            </a:pPr>
            <a:r>
              <a:rPr lang="en-GB" altLang="en-US" sz="3200" dirty="0">
                <a:latin typeface="Arial" panose="020B0604020202020204" pitchFamily="34" charset="0"/>
                <a:cs typeface="Arial" panose="020B0604020202020204" pitchFamily="34" charset="0"/>
              </a:rPr>
              <a:t>Children are born with a fragile sense self and are extremely vulnerable</a:t>
            </a:r>
          </a:p>
          <a:p>
            <a:pPr>
              <a:lnSpc>
                <a:spcPct val="90000"/>
              </a:lnSpc>
            </a:pPr>
            <a:endParaRPr lang="en-GB" altLang="en-US" sz="3200" dirty="0">
              <a:latin typeface="Arial" panose="020B0604020202020204" pitchFamily="34" charset="0"/>
              <a:cs typeface="Arial" panose="020B0604020202020204" pitchFamily="34" charset="0"/>
            </a:endParaRPr>
          </a:p>
          <a:p>
            <a:pPr>
              <a:lnSpc>
                <a:spcPct val="90000"/>
              </a:lnSpc>
            </a:pPr>
            <a:r>
              <a:rPr lang="en-GB" altLang="en-US" sz="3200" dirty="0">
                <a:latin typeface="Arial" panose="020B0604020202020204" pitchFamily="34" charset="0"/>
                <a:cs typeface="Arial" panose="020B0604020202020204" pitchFamily="34" charset="0"/>
              </a:rPr>
              <a:t>If they experience </a:t>
            </a:r>
            <a:r>
              <a:rPr lang="en-GB" altLang="en-US" sz="3200" b="1" dirty="0">
                <a:latin typeface="Arial" panose="020B0604020202020204" pitchFamily="34" charset="0"/>
                <a:cs typeface="Arial" panose="020B0604020202020204" pitchFamily="34" charset="0"/>
              </a:rPr>
              <a:t>abuse</a:t>
            </a:r>
            <a:r>
              <a:rPr lang="en-GB" altLang="en-US" sz="3200" dirty="0">
                <a:latin typeface="Arial" panose="020B0604020202020204" pitchFamily="34" charset="0"/>
                <a:cs typeface="Arial" panose="020B0604020202020204" pitchFamily="34" charset="0"/>
              </a:rPr>
              <a:t>, this leads to </a:t>
            </a:r>
            <a:r>
              <a:rPr lang="en-GB" altLang="en-US" sz="3200" b="1" dirty="0">
                <a:latin typeface="Arial" panose="020B0604020202020204" pitchFamily="34" charset="0"/>
                <a:cs typeface="Arial" panose="020B0604020202020204" pitchFamily="34" charset="0"/>
              </a:rPr>
              <a:t>fear</a:t>
            </a:r>
            <a:r>
              <a:rPr lang="en-GB" altLang="en-US" sz="3200" dirty="0">
                <a:latin typeface="Arial" panose="020B0604020202020204" pitchFamily="34" charset="0"/>
                <a:cs typeface="Arial" panose="020B0604020202020204" pitchFamily="34" charset="0"/>
              </a:rPr>
              <a:t>, which leads to abnormally high levels of </a:t>
            </a:r>
            <a:r>
              <a:rPr lang="en-GB" altLang="en-US" sz="3200" b="1" dirty="0">
                <a:latin typeface="Arial" panose="020B0604020202020204" pitchFamily="34" charset="0"/>
                <a:cs typeface="Arial" panose="020B0604020202020204" pitchFamily="34" charset="0"/>
              </a:rPr>
              <a:t>stress</a:t>
            </a:r>
            <a:r>
              <a:rPr lang="en-GB" altLang="en-US" sz="3200" dirty="0">
                <a:latin typeface="Arial" panose="020B0604020202020204" pitchFamily="34" charset="0"/>
                <a:cs typeface="Arial" panose="020B0604020202020204" pitchFamily="34" charset="0"/>
              </a:rPr>
              <a:t> hormones</a:t>
            </a:r>
          </a:p>
          <a:p>
            <a:pPr>
              <a:lnSpc>
                <a:spcPct val="90000"/>
              </a:lnSpc>
            </a:pPr>
            <a:r>
              <a:rPr lang="en-GB" altLang="en-US" sz="28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885682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436173" y="99106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eaLnBrk="1" hangingPunct="1"/>
            <a:r>
              <a:rPr lang="en-GB" altLang="en-US" sz="4400" dirty="0">
                <a:latin typeface="Arial" panose="020B0604020202020204" pitchFamily="34" charset="0"/>
                <a:cs typeface="Arial" panose="020B0604020202020204" pitchFamily="34" charset="0"/>
              </a:rPr>
              <a:t>These high levels can affect</a:t>
            </a:r>
          </a:p>
        </p:txBody>
      </p:sp>
      <p:sp>
        <p:nvSpPr>
          <p:cNvPr id="3" name="Rectangle 2"/>
          <p:cNvSpPr/>
          <p:nvPr/>
        </p:nvSpPr>
        <p:spPr>
          <a:xfrm>
            <a:off x="-850007" y="2391921"/>
            <a:ext cx="9672035" cy="2369880"/>
          </a:xfrm>
          <a:prstGeom prst="rect">
            <a:avLst/>
          </a:prstGeom>
        </p:spPr>
        <p:txBody>
          <a:bodyPr wrap="square">
            <a:spAutoFit/>
          </a:bodyPr>
          <a:lstStyle/>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Child’s ability to think</a:t>
            </a:r>
          </a:p>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Retrieve information</a:t>
            </a:r>
          </a:p>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Manage behaviour</a:t>
            </a:r>
          </a:p>
          <a:p>
            <a:pPr marL="1828800" lvl="3" indent="-45720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Immune system – vulnerable to infection              </a:t>
            </a:r>
            <a:endParaRPr lang="en-US" altLang="en-US" sz="3200" dirty="0">
              <a:latin typeface="Arial" panose="020B0604020202020204" pitchFamily="34" charset="0"/>
              <a:cs typeface="Arial" panose="020B0604020202020204" pitchFamily="34" charset="0"/>
            </a:endParaRPr>
          </a:p>
          <a:p>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1557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Brain Stem</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046988"/>
          </a:xfrm>
          <a:prstGeom prst="rect">
            <a:avLst/>
          </a:prstGeom>
        </p:spPr>
        <p:txBody>
          <a:bodyPr wrap="square">
            <a:spAutoFit/>
          </a:bodyPr>
          <a:lstStyle/>
          <a:p>
            <a:pPr marL="285750" indent="-285750">
              <a:buFont typeface="Arial" panose="020B0604020202020204" pitchFamily="34" charset="0"/>
              <a:buChar char="•"/>
            </a:pPr>
            <a:r>
              <a:rPr lang="en-GB" altLang="en-US" sz="3200" b="1" dirty="0">
                <a:latin typeface="Arial" panose="020B0604020202020204" pitchFamily="34" charset="0"/>
                <a:cs typeface="Arial" panose="020B0604020202020204" pitchFamily="34" charset="0"/>
              </a:rPr>
              <a:t>The brain stem </a:t>
            </a:r>
            <a:r>
              <a:rPr lang="en-GB" altLang="en-US" sz="3200" dirty="0">
                <a:latin typeface="Arial" panose="020B0604020202020204" pitchFamily="34" charset="0"/>
                <a:cs typeface="Arial" panose="020B0604020202020204" pitchFamily="34" charset="0"/>
              </a:rPr>
              <a:t>– responsible for fight, flight and freeze responses</a:t>
            </a:r>
            <a:endParaRPr lang="en-GB" altLang="en-US" sz="3200" b="1" dirty="0">
              <a:latin typeface="Arial" panose="020B0604020202020204" pitchFamily="34" charset="0"/>
              <a:cs typeface="Arial" panose="020B0604020202020204" pitchFamily="34" charset="0"/>
            </a:endParaRPr>
          </a:p>
          <a:p>
            <a:endParaRPr lang="en-GB" altLang="en-US" sz="32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b="1" dirty="0">
                <a:latin typeface="Arial" panose="020B0604020202020204" pitchFamily="34" charset="0"/>
                <a:cs typeface="Arial" panose="020B0604020202020204" pitchFamily="34" charset="0"/>
              </a:rPr>
              <a:t>Those children with attachment difficulties </a:t>
            </a:r>
            <a:r>
              <a:rPr lang="en-GB" altLang="en-US" sz="3200" dirty="0">
                <a:latin typeface="Arial" panose="020B0604020202020204" pitchFamily="34" charset="0"/>
                <a:cs typeface="Arial" panose="020B0604020202020204" pitchFamily="34" charset="0"/>
              </a:rPr>
              <a:t>have a highly developed brain stem, since they use it on a continual basis</a:t>
            </a:r>
            <a:endParaRPr lang="en-US" alt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40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60634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So what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5262979"/>
          </a:xfrm>
          <a:prstGeom prst="rect">
            <a:avLst/>
          </a:prstGeom>
        </p:spPr>
        <p:txBody>
          <a:bodyPr wrap="square">
            <a:spAutoFit/>
          </a:bodyPr>
          <a:lstStyle/>
          <a:p>
            <a:r>
              <a:rPr lang="en-GB" altLang="en-US" sz="2800" b="1" dirty="0">
                <a:latin typeface="Arial" panose="020B0604020202020204" pitchFamily="34" charset="0"/>
                <a:cs typeface="Arial" panose="020B0604020202020204" pitchFamily="34" charset="0"/>
              </a:rPr>
              <a:t>Over-use of the brain stem </a:t>
            </a:r>
            <a:r>
              <a:rPr lang="en-GB" altLang="en-US" sz="2800" dirty="0">
                <a:latin typeface="Arial" panose="020B0604020202020204" pitchFamily="34" charset="0"/>
                <a:cs typeface="Arial" panose="020B0604020202020204" pitchFamily="34" charset="0"/>
              </a:rPr>
              <a:t>compromises the developing pre-frontal cortex which is responsible for:</a:t>
            </a:r>
          </a:p>
          <a:p>
            <a:endParaRPr lang="en-GB" alt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Empathy</a:t>
            </a: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Logic</a:t>
            </a: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Cause and effect </a:t>
            </a: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Reasoning </a:t>
            </a: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Organisation</a:t>
            </a:r>
          </a:p>
          <a:p>
            <a:endParaRPr lang="en-GB" altLang="en-US" sz="2800" b="1" dirty="0">
              <a:latin typeface="Arial" panose="020B0604020202020204" pitchFamily="34" charset="0"/>
              <a:cs typeface="Arial" panose="020B0604020202020204" pitchFamily="34" charset="0"/>
            </a:endParaRPr>
          </a:p>
          <a:p>
            <a:r>
              <a:rPr lang="en-GB" altLang="en-US" sz="2800" dirty="0">
                <a:latin typeface="Arial" panose="020B0604020202020204" pitchFamily="34" charset="0"/>
                <a:cs typeface="Arial" panose="020B0604020202020204" pitchFamily="34" charset="0"/>
              </a:rPr>
              <a:t>Clearly there are implications for learning and behaviour in the classroom</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4596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73769"/>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Types of Attachment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4524315"/>
          </a:xfrm>
          <a:prstGeom prst="rect">
            <a:avLst/>
          </a:prstGeom>
        </p:spPr>
        <p:txBody>
          <a:bodyPr wrap="square">
            <a:spAutoFit/>
          </a:bodyPr>
          <a:lstStyle/>
          <a:p>
            <a:pPr marL="285750" indent="-28575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Secure Attachment</a:t>
            </a:r>
            <a:endParaRPr lang="en-GB" altLang="en-US" sz="32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GB" altLang="en-US" sz="32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Insecure Attachment</a:t>
            </a:r>
          </a:p>
          <a:p>
            <a:pPr marL="285750" indent="-285750">
              <a:buFont typeface="Arial" panose="020B0604020202020204" pitchFamily="34" charset="0"/>
              <a:buChar char="•"/>
            </a:pPr>
            <a:endParaRPr lang="en-GB" altLang="en-US"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Avoidant Attachment</a:t>
            </a:r>
          </a:p>
          <a:p>
            <a:pPr marL="285750" indent="-285750">
              <a:buFont typeface="Arial" panose="020B0604020202020204" pitchFamily="34" charset="0"/>
              <a:buChar char="•"/>
            </a:pPr>
            <a:endParaRPr lang="en-GB" altLang="en-US"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Disorganised Attachment</a:t>
            </a:r>
          </a:p>
          <a:p>
            <a:pPr marL="285750" indent="-285750">
              <a:buFont typeface="Arial" panose="020B0604020202020204" pitchFamily="34" charset="0"/>
              <a:buChar char="•"/>
            </a:pPr>
            <a:endParaRPr lang="en-GB" altLang="en-US"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altLang="en-US" sz="3200" dirty="0">
                <a:latin typeface="Arial" panose="020B0604020202020204" pitchFamily="34" charset="0"/>
                <a:cs typeface="Arial" panose="020B0604020202020204" pitchFamily="34" charset="0"/>
              </a:rPr>
              <a:t>Ambivalent Attachment</a:t>
            </a:r>
            <a:endParaRPr lang="en-US" alt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7023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Secure Attachment</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4093428"/>
          </a:xfrm>
          <a:prstGeom prst="rect">
            <a:avLst/>
          </a:prstGeom>
        </p:spPr>
        <p:txBody>
          <a:bodyPr wrap="square">
            <a:spAutoFit/>
          </a:bodyPr>
          <a:lstStyle/>
          <a:p>
            <a:r>
              <a:rPr lang="en-US" altLang="en-US" sz="2400" dirty="0">
                <a:latin typeface="Arial" panose="020B0604020202020204" pitchFamily="34" charset="0"/>
                <a:cs typeface="Arial" panose="020B0604020202020204" pitchFamily="34" charset="0"/>
              </a:rPr>
              <a:t>Indicates a healthy and appropriate style of relating to another person</a:t>
            </a:r>
          </a:p>
          <a:p>
            <a:endParaRPr lang="en-US" altLang="en-US" sz="2400" dirty="0">
              <a:latin typeface="Arial" panose="020B0604020202020204" pitchFamily="34" charset="0"/>
              <a:cs typeface="Arial" panose="020B0604020202020204" pitchFamily="34" charset="0"/>
            </a:endParaRPr>
          </a:p>
          <a:p>
            <a:r>
              <a:rPr lang="en-US" altLang="en-US" sz="2400" b="1" dirty="0">
                <a:latin typeface="Arial" panose="020B0604020202020204" pitchFamily="34" charset="0"/>
                <a:cs typeface="Arial" panose="020B0604020202020204" pitchFamily="34" charset="0"/>
              </a:rPr>
              <a:t>Bowlby</a:t>
            </a:r>
          </a:p>
          <a:p>
            <a:pPr marL="342900" indent="-342900">
              <a:lnSpc>
                <a:spcPct val="15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“Good enough” parenting</a:t>
            </a:r>
          </a:p>
          <a:p>
            <a:pPr marL="342900" indent="-342900">
              <a:lnSpc>
                <a:spcPct val="150000"/>
              </a:lnSpc>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To suggest that if a baby </a:t>
            </a:r>
            <a:r>
              <a:rPr lang="en-GB" altLang="en-US" sz="2400" dirty="0">
                <a:latin typeface="Arial" panose="020B0604020202020204" pitchFamily="34" charset="0"/>
                <a:cs typeface="Arial" panose="020B0604020202020204" pitchFamily="34" charset="0"/>
              </a:rPr>
              <a:t>had the experience of their needs </a:t>
            </a:r>
          </a:p>
          <a:p>
            <a:pPr>
              <a:lnSpc>
                <a:spcPct val="150000"/>
              </a:lnSpc>
            </a:pPr>
            <a:r>
              <a:rPr lang="en-GB" altLang="en-US" sz="2400" dirty="0">
                <a:latin typeface="Arial" panose="020B0604020202020204" pitchFamily="34" charset="0"/>
                <a:cs typeface="Arial" panose="020B0604020202020204" pitchFamily="34" charset="0"/>
              </a:rPr>
              <a:t>            being attended to and satisfied on a consistent basis, then he can develop a </a:t>
            </a:r>
            <a:r>
              <a:rPr lang="en-GB" altLang="en-US" sz="2400" b="1" dirty="0">
                <a:latin typeface="Arial" panose="020B0604020202020204" pitchFamily="34" charset="0"/>
                <a:cs typeface="Arial" panose="020B0604020202020204" pitchFamily="34" charset="0"/>
              </a:rPr>
              <a:t>secure attachment </a:t>
            </a:r>
            <a:r>
              <a:rPr lang="en-GB" altLang="en-US" sz="2400" dirty="0">
                <a:latin typeface="Arial" panose="020B0604020202020204" pitchFamily="34" charset="0"/>
                <a:cs typeface="Arial" panose="020B0604020202020204" pitchFamily="34" charset="0"/>
              </a:rPr>
              <a:t>to his/her parent</a:t>
            </a:r>
          </a:p>
          <a:p>
            <a:pPr marL="342900" indent="-342900">
              <a:buFont typeface="Arial" panose="020B0604020202020204" pitchFamily="34" charset="0"/>
              <a:buChar char="•"/>
            </a:pPr>
            <a:endParaRPr lang="en-US"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2789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Secure Attachment </a:t>
            </a:r>
            <a:endParaRPr lang="es-ES" sz="4400" dirty="0">
              <a:solidFill>
                <a:schemeClr val="bg1">
                  <a:lumMod val="50000"/>
                </a:schemeClr>
              </a:solidFill>
              <a:latin typeface="Calibri" charset="0"/>
            </a:endParaRPr>
          </a:p>
        </p:txBody>
      </p:sp>
      <p:sp>
        <p:nvSpPr>
          <p:cNvPr id="3" name="Rectangle 2"/>
          <p:cNvSpPr/>
          <p:nvPr/>
        </p:nvSpPr>
        <p:spPr>
          <a:xfrm>
            <a:off x="307909" y="1820164"/>
            <a:ext cx="8490857" cy="4467057"/>
          </a:xfrm>
          <a:prstGeom prst="rect">
            <a:avLst/>
          </a:prstGeom>
        </p:spPr>
        <p:txBody>
          <a:bodyPr wrap="square">
            <a:spAutoFit/>
          </a:bodyPr>
          <a:lstStyle/>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Feel safe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Develop meaningful connections with others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Deal with stress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Balance emotions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Experience comfort and security</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Children believe they are loveable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That others can be trusted to meet their needs</a:t>
            </a:r>
          </a:p>
          <a:p>
            <a:pPr marL="342900" indent="-342900">
              <a:lnSpc>
                <a:spcPct val="150000"/>
              </a:lnSpc>
              <a:buFont typeface="Arial" panose="020B0604020202020204" pitchFamily="34" charset="0"/>
              <a:buChar char="•"/>
            </a:pPr>
            <a:r>
              <a:rPr lang="en-GB" altLang="en-US" sz="2400" b="1" dirty="0">
                <a:latin typeface="Arial" panose="020B0604020202020204" pitchFamily="34" charset="0"/>
                <a:cs typeface="Arial" panose="020B0604020202020204" pitchFamily="34" charset="0"/>
              </a:rPr>
              <a:t>They have the capacity to learn new things</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2441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53954" y="270199"/>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latin typeface="Arial" panose="020B0604020202020204" pitchFamily="34" charset="0"/>
                <a:cs typeface="Arial" panose="020B0604020202020204" pitchFamily="34" charset="0"/>
              </a:rPr>
              <a:t>Develop</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3" name="Rectangle 2"/>
          <p:cNvSpPr/>
          <p:nvPr/>
        </p:nvSpPr>
        <p:spPr>
          <a:xfrm>
            <a:off x="326571" y="897972"/>
            <a:ext cx="8490857" cy="5816977"/>
          </a:xfrm>
          <a:prstGeom prst="rect">
            <a:avLst/>
          </a:prstGeom>
        </p:spPr>
        <p:txBody>
          <a:bodyPr wrap="square">
            <a:spAutoFit/>
          </a:bodyPr>
          <a:lstStyle/>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Positive self esteem</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Independence</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Resilience</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Friendships</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Social skills</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Trust</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Intimacy</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Affection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Empathy, </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Compassion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Conscience</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Positive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Hopeful belief systems</a:t>
            </a:r>
          </a:p>
          <a:p>
            <a:r>
              <a:rPr lang="en-US" altLang="en-US" sz="2400" b="1" dirty="0">
                <a:latin typeface="Arial" panose="020B0604020202020204" pitchFamily="34" charset="0"/>
                <a:cs typeface="Arial" panose="020B0604020202020204" pitchFamily="34" charset="0"/>
              </a:rPr>
              <a:t>Their behavioural performance and academic success in school is good</a:t>
            </a:r>
          </a:p>
        </p:txBody>
      </p:sp>
    </p:spTree>
    <p:extLst>
      <p:ext uri="{BB962C8B-B14F-4D97-AF65-F5344CB8AC3E}">
        <p14:creationId xmlns:p14="http://schemas.microsoft.com/office/powerpoint/2010/main" val="3682875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53954" y="74408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latin typeface="Arial" panose="020B0604020202020204" pitchFamily="34" charset="0"/>
                <a:cs typeface="Arial" panose="020B0604020202020204" pitchFamily="34" charset="0"/>
              </a:rPr>
              <a:t>Avoidant Attachment</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4" name="Rectangle 3"/>
          <p:cNvSpPr/>
          <p:nvPr/>
        </p:nvSpPr>
        <p:spPr>
          <a:xfrm>
            <a:off x="631065" y="1667413"/>
            <a:ext cx="7856112" cy="4745915"/>
          </a:xfrm>
          <a:prstGeom prst="rect">
            <a:avLst/>
          </a:prstGeom>
        </p:spPr>
        <p:txBody>
          <a:bodyPr wrap="square">
            <a:spAutoFit/>
          </a:bodyPr>
          <a:lstStyle/>
          <a:p>
            <a:pPr>
              <a:lnSpc>
                <a:spcPct val="90000"/>
              </a:lnSpc>
            </a:pPr>
            <a:r>
              <a:rPr lang="en-GB" altLang="en-US" sz="2400" b="1" dirty="0">
                <a:latin typeface="Arial" panose="020B0604020202020204" pitchFamily="34" charset="0"/>
                <a:cs typeface="Arial" panose="020B0604020202020204" pitchFamily="34" charset="0"/>
              </a:rPr>
              <a:t>The child actively seeks to attend to their own needs</a:t>
            </a:r>
          </a:p>
          <a:p>
            <a:pPr>
              <a:lnSpc>
                <a:spcPct val="90000"/>
              </a:lnSpc>
            </a:pPr>
            <a:endParaRPr lang="en-GB" altLang="en-US" sz="2400" b="1" dirty="0">
              <a:latin typeface="Arial" panose="020B0604020202020204" pitchFamily="34" charset="0"/>
              <a:cs typeface="Arial" panose="020B0604020202020204" pitchFamily="34" charset="0"/>
            </a:endParaRPr>
          </a:p>
          <a:p>
            <a:pPr>
              <a:lnSpc>
                <a:spcPct val="90000"/>
              </a:lnSpc>
            </a:pPr>
            <a:r>
              <a:rPr lang="en-GB" altLang="en-US" sz="2400" b="1" dirty="0">
                <a:latin typeface="Arial" panose="020B0604020202020204" pitchFamily="34" charset="0"/>
                <a:cs typeface="Arial" panose="020B0604020202020204" pitchFamily="34" charset="0"/>
              </a:rPr>
              <a:t>Avoidant behaviour:</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relating to a depressed or abusive care-giver</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care-giver may have given precedence to their own  </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needs over the child’s needs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child may have been viewed as annoying</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care-giver may have been irritated or agitated by their presence</a:t>
            </a:r>
            <a:endParaRPr lang="en-US"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6062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897972"/>
            <a:ext cx="8490857" cy="5139869"/>
          </a:xfrm>
          <a:prstGeom prst="rect">
            <a:avLst/>
          </a:prstGeom>
        </p:spPr>
        <p:txBody>
          <a:bodyPr wrap="square">
            <a:spAutoFit/>
          </a:bodyPr>
          <a:lstStyle/>
          <a:p>
            <a:r>
              <a:rPr lang="en-US" altLang="en-US" sz="2800" b="1" dirty="0">
                <a:latin typeface="Arial" panose="020B0604020202020204" pitchFamily="34" charset="0"/>
                <a:cs typeface="Arial" panose="020B0604020202020204" pitchFamily="34" charset="0"/>
              </a:rPr>
              <a:t>These children may</a:t>
            </a:r>
            <a:r>
              <a:rPr lang="en-US" altLang="en-US" sz="2400" b="1" dirty="0">
                <a:latin typeface="Arial" panose="020B0604020202020204" pitchFamily="34" charset="0"/>
                <a:cs typeface="Arial" panose="020B0604020202020204" pitchFamily="34" charset="0"/>
              </a:rPr>
              <a:t>: </a:t>
            </a:r>
          </a:p>
          <a:p>
            <a:endParaRPr lang="en-US" altLang="en-US" sz="2400" b="1"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Shut down or dissociate</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 emotionally distant</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 self sufficient and task orientated</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 reluctant to ask for help</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Need to be in control</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Comply and try to please us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 perfectionist and may develop compulsive tendencies</a:t>
            </a:r>
            <a:endParaRPr lang="en-US" altLang="en-US" sz="2400" dirty="0">
              <a:latin typeface="Arial" panose="020B0604020202020204" pitchFamily="34" charset="0"/>
              <a:cs typeface="Arial" panose="020B0604020202020204" pitchFamily="34" charset="0"/>
            </a:endParaRPr>
          </a:p>
          <a:p>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2818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897972"/>
            <a:ext cx="8490857" cy="4893647"/>
          </a:xfrm>
          <a:prstGeom prst="rect">
            <a:avLst/>
          </a:prstGeom>
        </p:spPr>
        <p:txBody>
          <a:bodyPr wrap="square">
            <a:spAutoFit/>
          </a:bodyPr>
          <a:lstStyle/>
          <a:p>
            <a:pPr marL="342900" indent="-342900">
              <a:buFont typeface="Arial" panose="020B0604020202020204" pitchFamily="34" charset="0"/>
              <a:buChar char="•"/>
            </a:pPr>
            <a:endParaRPr lang="en-US" altLang="en-US" sz="24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US" altLang="en-US" sz="24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altLang="en-US" sz="2400" dirty="0">
                <a:latin typeface="Arial" panose="020B0604020202020204" pitchFamily="34" charset="0"/>
                <a:cs typeface="Arial" panose="020B0604020202020204" pitchFamily="34" charset="0"/>
              </a:rPr>
              <a:t>Do not seek to connect </a:t>
            </a:r>
            <a:r>
              <a:rPr lang="en-GB" altLang="en-US" sz="2400" dirty="0">
                <a:latin typeface="Arial" panose="020B0604020202020204" pitchFamily="34" charset="0"/>
                <a:cs typeface="Arial" panose="020B0604020202020204" pitchFamily="34" charset="0"/>
              </a:rPr>
              <a:t>with others but may experience isolation and deep sadness</a:t>
            </a:r>
          </a:p>
          <a:p>
            <a:pPr marL="342900" indent="-342900">
              <a:buFont typeface="Arial" panose="020B0604020202020204" pitchFamily="34" charset="0"/>
              <a:buChar char="•"/>
            </a:pPr>
            <a:endParaRPr lang="en-US" altLang="en-US" sz="24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Sometimes show flashes of aggression</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Try to keep adults </a:t>
            </a:r>
            <a:r>
              <a:rPr lang="en-GB" altLang="en-US" sz="2400" i="1" dirty="0">
                <a:latin typeface="Arial" panose="020B0604020202020204" pitchFamily="34" charset="0"/>
                <a:cs typeface="Arial" panose="020B0604020202020204" pitchFamily="34" charset="0"/>
              </a:rPr>
              <a:t>sweet </a:t>
            </a:r>
            <a:r>
              <a:rPr lang="en-GB" altLang="en-US" sz="2400" dirty="0">
                <a:latin typeface="Arial" panose="020B0604020202020204" pitchFamily="34" charset="0"/>
                <a:cs typeface="Arial" panose="020B0604020202020204" pitchFamily="34" charset="0"/>
              </a:rPr>
              <a:t>so adults don’t get too close or get angry with them.  Their behaviours are </a:t>
            </a:r>
            <a:r>
              <a:rPr lang="en-GB" altLang="en-US" sz="2400" i="1" dirty="0">
                <a:latin typeface="Arial" panose="020B0604020202020204" pitchFamily="34" charset="0"/>
                <a:cs typeface="Arial" panose="020B0604020202020204" pitchFamily="34" charset="0"/>
              </a:rPr>
              <a:t>anxiety driven</a:t>
            </a:r>
          </a:p>
          <a:p>
            <a:pPr marL="342900" indent="-342900">
              <a:buFont typeface="Arial" panose="020B0604020202020204" pitchFamily="34" charset="0"/>
              <a:buChar char="•"/>
            </a:pPr>
            <a:endParaRPr lang="en-GB" altLang="en-US" sz="2400" i="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may internalise their pain and anxiety which may effect them at a physiological level</a:t>
            </a:r>
            <a:endParaRPr lang="en-US" altLang="en-US" sz="2400" dirty="0">
              <a:latin typeface="Arial" panose="020B0604020202020204" pitchFamily="34" charset="0"/>
              <a:cs typeface="Arial" panose="020B0604020202020204" pitchFamily="34" charset="0"/>
            </a:endParaRPr>
          </a:p>
          <a:p>
            <a:r>
              <a:rPr lang="en-US" altLang="en-US" sz="2400" b="1"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1795780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53954" y="798232"/>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Ambivalent Attachment</a:t>
            </a:r>
            <a:endParaRPr lang="es-ES" sz="4400" dirty="0">
              <a:solidFill>
                <a:schemeClr val="bg1">
                  <a:lumMod val="50000"/>
                </a:schemeClr>
              </a:solidFill>
              <a:latin typeface="Calibri" charset="0"/>
            </a:endParaRPr>
          </a:p>
        </p:txBody>
      </p:sp>
      <p:sp>
        <p:nvSpPr>
          <p:cNvPr id="3" name="Rectangle 2"/>
          <p:cNvSpPr/>
          <p:nvPr/>
        </p:nvSpPr>
        <p:spPr>
          <a:xfrm>
            <a:off x="326571" y="897972"/>
            <a:ext cx="8490857" cy="5262979"/>
          </a:xfrm>
          <a:prstGeom prst="rect">
            <a:avLst/>
          </a:prstGeom>
        </p:spPr>
        <p:txBody>
          <a:bodyPr wrap="square">
            <a:spAutoFit/>
          </a:bodyPr>
          <a:lstStyle/>
          <a:p>
            <a:endParaRPr lang="en-GB" altLang="en-US" sz="2400" dirty="0">
              <a:latin typeface="Arial" panose="020B0604020202020204" pitchFamily="34" charset="0"/>
              <a:cs typeface="Arial" panose="020B0604020202020204" pitchFamily="34" charset="0"/>
            </a:endParaRPr>
          </a:p>
          <a:p>
            <a:endParaRPr lang="en-GB" altLang="en-US" sz="2400" dirty="0">
              <a:latin typeface="Arial" panose="020B0604020202020204" pitchFamily="34" charset="0"/>
              <a:cs typeface="Arial" panose="020B0604020202020204" pitchFamily="34" charset="0"/>
            </a:endParaRP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children have become so tuned into their care-givers that they are continually on edge</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Get their needs met by consistently working out how the care-giver is feeling</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Attachment behaviour = relating to an inconsistent care-giver</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children can become addicted to attempting to gain the care-givers attention in order to survive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0917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897972"/>
            <a:ext cx="8490857" cy="5262979"/>
          </a:xfrm>
          <a:prstGeom prst="rect">
            <a:avLst/>
          </a:prstGeom>
        </p:spPr>
        <p:txBody>
          <a:bodyPr wrap="square">
            <a:spAutoFit/>
          </a:bodyPr>
          <a:lstStyle/>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Clingy</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Rejecting</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Superficially charming</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Attention seeking and </a:t>
            </a:r>
            <a:r>
              <a:rPr lang="en-GB" altLang="en-US" sz="2400" i="1" dirty="0">
                <a:latin typeface="Arial" panose="020B0604020202020204" pitchFamily="34" charset="0"/>
                <a:cs typeface="Arial" panose="020B0604020202020204" pitchFamily="34" charset="0"/>
              </a:rPr>
              <a:t>in your face</a:t>
            </a:r>
          </a:p>
          <a:p>
            <a:endParaRPr lang="en-GB" altLang="en-US" sz="2400" i="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children have never been </a:t>
            </a:r>
            <a:r>
              <a:rPr lang="en-GB" altLang="en-US" sz="2400" i="1" dirty="0">
                <a:latin typeface="Arial" panose="020B0604020202020204" pitchFamily="34" charset="0"/>
                <a:cs typeface="Arial" panose="020B0604020202020204" pitchFamily="34" charset="0"/>
              </a:rPr>
              <a:t>kept</a:t>
            </a:r>
            <a:r>
              <a:rPr lang="en-GB" altLang="en-US" sz="2400" dirty="0">
                <a:latin typeface="Arial" panose="020B0604020202020204" pitchFamily="34" charset="0"/>
                <a:cs typeface="Arial" panose="020B0604020202020204" pitchFamily="34" charset="0"/>
              </a:rPr>
              <a:t> </a:t>
            </a:r>
            <a:r>
              <a:rPr lang="en-GB" altLang="en-US" sz="2400" i="1" dirty="0">
                <a:latin typeface="Arial" panose="020B0604020202020204" pitchFamily="34" charset="0"/>
                <a:cs typeface="Arial" panose="020B0604020202020204" pitchFamily="34" charset="0"/>
              </a:rPr>
              <a:t>in mind</a:t>
            </a:r>
            <a:r>
              <a:rPr lang="en-GB" altLang="en-US" sz="2400" dirty="0">
                <a:latin typeface="Arial" panose="020B0604020202020204" pitchFamily="34" charset="0"/>
                <a:cs typeface="Arial" panose="020B0604020202020204" pitchFamily="34" charset="0"/>
              </a:rPr>
              <a:t> or considered by another person</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will meet their needs however they can</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are extremely </a:t>
            </a:r>
            <a:r>
              <a:rPr lang="en-GB" altLang="en-US" sz="2400" b="1" dirty="0">
                <a:latin typeface="Arial" panose="020B0604020202020204" pitchFamily="34" charset="0"/>
                <a:cs typeface="Arial" panose="020B0604020202020204" pitchFamily="34" charset="0"/>
              </a:rPr>
              <a:t>anxious and insecure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5186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897972"/>
            <a:ext cx="8490857" cy="4154984"/>
          </a:xfrm>
          <a:prstGeom prst="rect">
            <a:avLst/>
          </a:prstGeom>
        </p:spPr>
        <p:txBody>
          <a:bodyPr wrap="square">
            <a:spAutoFit/>
          </a:bodyPr>
          <a:lstStyle/>
          <a:p>
            <a:endParaRPr lang="en-GB" altLang="en-US" sz="2400" dirty="0">
              <a:latin typeface="Arial" panose="020B0604020202020204" pitchFamily="34" charset="0"/>
              <a:cs typeface="Arial" panose="020B0604020202020204" pitchFamily="34" charset="0"/>
            </a:endParaRPr>
          </a:p>
          <a:p>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Use up most of their energy gaining the adult’s attention</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Little energy left for learning</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are quick to blame others for upsetting them</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can be resentful and hold grudges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children are often exhausting</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06908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941195"/>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Disorganised Attachment </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046988"/>
          </a:xfrm>
          <a:prstGeom prst="rect">
            <a:avLst/>
          </a:prstGeom>
        </p:spPr>
        <p:txBody>
          <a:bodyPr wrap="square">
            <a:spAutoFit/>
          </a:bodyPr>
          <a:lstStyle/>
          <a:p>
            <a:endParaRPr lang="en-GB" altLang="en-US" sz="2400" dirty="0">
              <a:latin typeface="Arial" panose="020B0604020202020204" pitchFamily="34" charset="0"/>
              <a:cs typeface="Arial" panose="020B0604020202020204" pitchFamily="34" charset="0"/>
            </a:endParaRPr>
          </a:p>
          <a:p>
            <a:r>
              <a:rPr lang="en-GB" altLang="en-US" sz="2800" dirty="0">
                <a:latin typeface="Arial" panose="020B0604020202020204" pitchFamily="34" charset="0"/>
                <a:cs typeface="Arial" panose="020B0604020202020204" pitchFamily="34" charset="0"/>
              </a:rPr>
              <a:t>Their attachment behaviours are a result of severe neglect and chaotic terrifying abusive environments</a:t>
            </a:r>
          </a:p>
          <a:p>
            <a:endParaRPr lang="en-GB" altLang="en-US" sz="2800" dirty="0">
              <a:latin typeface="Arial" panose="020B0604020202020204" pitchFamily="34" charset="0"/>
              <a:cs typeface="Arial" panose="020B0604020202020204" pitchFamily="34" charset="0"/>
            </a:endParaRPr>
          </a:p>
          <a:p>
            <a:r>
              <a:rPr lang="en-GB" altLang="en-US" sz="2800" dirty="0">
                <a:latin typeface="Arial" panose="020B0604020202020204" pitchFamily="34" charset="0"/>
                <a:cs typeface="Arial" panose="020B0604020202020204" pitchFamily="34" charset="0"/>
              </a:rPr>
              <a:t>Adaptive responses are unpredictable and frequently difficult to manage, both emotionally and physically</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051173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endParaRPr lang="es-ES" sz="4400" dirty="0">
              <a:solidFill>
                <a:schemeClr val="bg1">
                  <a:lumMod val="50000"/>
                </a:schemeClr>
              </a:solidFill>
              <a:latin typeface="Calibri" charset="0"/>
            </a:endParaRPr>
          </a:p>
        </p:txBody>
      </p:sp>
      <p:sp>
        <p:nvSpPr>
          <p:cNvPr id="3" name="Rectangle 2"/>
          <p:cNvSpPr/>
          <p:nvPr/>
        </p:nvSpPr>
        <p:spPr>
          <a:xfrm>
            <a:off x="307909" y="1838130"/>
            <a:ext cx="8490857" cy="3785652"/>
          </a:xfrm>
          <a:prstGeom prst="rect">
            <a:avLst/>
          </a:prstGeom>
        </p:spPr>
        <p:txBody>
          <a:bodyPr wrap="square">
            <a:spAutoFit/>
          </a:bodyPr>
          <a:lstStyle/>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Behaviours can be bizarre, extreme and erratic</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Find it hard to be in touch with their vulnerability</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Expect the worst and think no one genuinely cares</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Try to be in control of everything and cannot bear the risk of being dependent in any way</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Extremely defensive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4164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07909" y="1838130"/>
            <a:ext cx="8490857" cy="3083921"/>
          </a:xfrm>
          <a:prstGeom prst="rect">
            <a:avLst/>
          </a:prstGeom>
        </p:spPr>
        <p:txBody>
          <a:bodyPr wrap="square">
            <a:spAutoFit/>
          </a:bodyPr>
          <a:lstStyle/>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Behind their façade of defiance there is a profound sense of fear, panic and helplessness</a:t>
            </a: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can not relax or get involved in the learning process as they have to survive </a:t>
            </a: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They are hyper-vigilant</a:t>
            </a:r>
          </a:p>
          <a:p>
            <a:pPr marL="342900" indent="-342900">
              <a:lnSpc>
                <a:spcPct val="9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Their self awareness is poor</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20558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Case Studies</a:t>
            </a:r>
            <a:endParaRPr lang="es-ES" sz="4400" dirty="0">
              <a:solidFill>
                <a:schemeClr val="bg1">
                  <a:lumMod val="50000"/>
                </a:schemeClr>
              </a:solidFill>
              <a:latin typeface="Calibri" charset="0"/>
            </a:endParaRPr>
          </a:p>
        </p:txBody>
      </p:sp>
      <p:sp>
        <p:nvSpPr>
          <p:cNvPr id="3" name="Rectangle 2"/>
          <p:cNvSpPr/>
          <p:nvPr/>
        </p:nvSpPr>
        <p:spPr>
          <a:xfrm>
            <a:off x="307909" y="1838130"/>
            <a:ext cx="8490857" cy="3416320"/>
          </a:xfrm>
          <a:prstGeom prst="rect">
            <a:avLst/>
          </a:prstGeom>
        </p:spPr>
        <p:txBody>
          <a:bodyPr wrap="square">
            <a:spAutoFit/>
          </a:bodyPr>
          <a:lstStyle/>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Ella – Insecure Avoidant</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Jamie – Insecure Disorganised</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Shahin – Insecure Ambivalent/resistant</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might help in the classroom?</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6200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53955" y="637801"/>
            <a:ext cx="8836090"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latin typeface="Arial" panose="020B0604020202020204" pitchFamily="34" charset="0"/>
                <a:cs typeface="Arial" panose="020B0604020202020204" pitchFamily="34" charset="0"/>
              </a:rPr>
              <a:t>Learning Profile</a:t>
            </a:r>
          </a:p>
          <a:p>
            <a:pPr algn="ctr" eaLnBrk="1" hangingPunct="1"/>
            <a:r>
              <a:rPr lang="en-GB" sz="2800" dirty="0">
                <a:latin typeface="Arial" panose="020B0604020202020204" pitchFamily="34" charset="0"/>
                <a:cs typeface="Arial" panose="020B0604020202020204" pitchFamily="34" charset="0"/>
              </a:rPr>
              <a:t>Learning profile of a child with avoidant attachment </a:t>
            </a:r>
            <a:endParaRPr lang="es-ES" sz="2800" dirty="0">
              <a:latin typeface="Arial" panose="020B0604020202020204" pitchFamily="34" charset="0"/>
              <a:cs typeface="Arial" panose="020B0604020202020204" pitchFamily="34" charset="0"/>
            </a:endParaRPr>
          </a:p>
        </p:txBody>
      </p:sp>
      <p:sp>
        <p:nvSpPr>
          <p:cNvPr id="3" name="Rectangle 2"/>
          <p:cNvSpPr/>
          <p:nvPr/>
        </p:nvSpPr>
        <p:spPr>
          <a:xfrm>
            <a:off x="307909" y="1838130"/>
            <a:ext cx="8490857" cy="4819781"/>
          </a:xfrm>
          <a:prstGeom prst="rect">
            <a:avLst/>
          </a:prstGeom>
        </p:spPr>
        <p:txBody>
          <a:bodyPr wrap="square">
            <a:spAutoFit/>
          </a:bodyPr>
          <a:lstStyle/>
          <a:p>
            <a:pPr>
              <a:lnSpc>
                <a:spcPct val="80000"/>
              </a:lnSpc>
            </a:pPr>
            <a:r>
              <a:rPr lang="en-GB" altLang="en-US" sz="2400" b="1" dirty="0">
                <a:latin typeface="Arial" panose="020B0604020202020204" pitchFamily="34" charset="0"/>
                <a:cs typeface="Arial" panose="020B0604020202020204" pitchFamily="34" charset="0"/>
              </a:rPr>
              <a:t>Approach to school/classroom</a:t>
            </a: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Apparent indifference to uncertainty </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Response to the teacher</a:t>
            </a: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Denial of need for support and help from the teacher</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Response to the task </a:t>
            </a: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Need to be autonomous and independent of the teacher</a:t>
            </a: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Hostility towards the teacher is directed towards the task</a:t>
            </a: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 task acts as an emotional safety barrier between the pupil and the teacher</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Skills and difficulties</a:t>
            </a: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Limited use of creativity</a:t>
            </a: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Likely to be underachieving</a:t>
            </a: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Limited use of language</a:t>
            </a:r>
          </a:p>
        </p:txBody>
      </p:sp>
    </p:spTree>
    <p:extLst>
      <p:ext uri="{BB962C8B-B14F-4D97-AF65-F5344CB8AC3E}">
        <p14:creationId xmlns:p14="http://schemas.microsoft.com/office/powerpoint/2010/main" val="2405280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76089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latin typeface="Arial" panose="020B0604020202020204" pitchFamily="34" charset="0"/>
                <a:cs typeface="Arial" panose="020B0604020202020204" pitchFamily="34" charset="0"/>
              </a:rPr>
              <a:t>Strategies to use:</a:t>
            </a:r>
            <a:endParaRPr lang="es-ES" sz="4400" dirty="0">
              <a:solidFill>
                <a:schemeClr val="bg1">
                  <a:lumMod val="50000"/>
                </a:schemeClr>
              </a:solidFill>
              <a:latin typeface="Arial" panose="020B0604020202020204" pitchFamily="34" charset="0"/>
              <a:cs typeface="Arial" panose="020B0604020202020204" pitchFamily="34" charset="0"/>
            </a:endParaRPr>
          </a:p>
        </p:txBody>
      </p:sp>
      <p:sp>
        <p:nvSpPr>
          <p:cNvPr id="3" name="Rectangle 2"/>
          <p:cNvSpPr/>
          <p:nvPr/>
        </p:nvSpPr>
        <p:spPr>
          <a:xfrm>
            <a:off x="307909" y="1838130"/>
            <a:ext cx="8490857" cy="3108543"/>
          </a:xfrm>
          <a:prstGeom prst="rect">
            <a:avLst/>
          </a:prstGeom>
        </p:spPr>
        <p:txBody>
          <a:bodyPr wrap="square">
            <a:spAutoFit/>
          </a:bodyPr>
          <a:lstStyle/>
          <a:p>
            <a:pPr algn="ctr"/>
            <a:r>
              <a:rPr lang="en-GB" altLang="en-US" sz="2800" dirty="0">
                <a:latin typeface="Arial" panose="020B0604020202020204" pitchFamily="34" charset="0"/>
                <a:cs typeface="Arial" panose="020B0604020202020204" pitchFamily="34" charset="0"/>
              </a:rPr>
              <a:t>Relationship between the pupil and the teacher made safe by the presence of the task</a:t>
            </a:r>
          </a:p>
          <a:p>
            <a:pPr algn="ctr"/>
            <a:endParaRPr lang="en-GB" altLang="en-US" sz="2800" dirty="0">
              <a:latin typeface="Arial" panose="020B0604020202020204" pitchFamily="34" charset="0"/>
              <a:cs typeface="Arial" panose="020B0604020202020204" pitchFamily="34" charset="0"/>
            </a:endParaRPr>
          </a:p>
          <a:p>
            <a:pPr algn="ctr"/>
            <a:r>
              <a:rPr lang="en-GB" altLang="en-US" sz="2800" dirty="0">
                <a:latin typeface="Arial" panose="020B0604020202020204" pitchFamily="34" charset="0"/>
                <a:cs typeface="Arial" panose="020B0604020202020204" pitchFamily="34" charset="0"/>
              </a:rPr>
              <a:t>Or</a:t>
            </a:r>
          </a:p>
          <a:p>
            <a:pPr algn="ctr"/>
            <a:endParaRPr lang="en-GB" altLang="en-US" sz="2800" dirty="0">
              <a:latin typeface="Arial" panose="020B0604020202020204" pitchFamily="34" charset="0"/>
              <a:cs typeface="Arial" panose="020B0604020202020204" pitchFamily="34" charset="0"/>
            </a:endParaRPr>
          </a:p>
          <a:p>
            <a:pPr algn="ctr"/>
            <a:r>
              <a:rPr lang="en-GB" altLang="en-US" sz="2800" dirty="0">
                <a:latin typeface="Arial" panose="020B0604020202020204" pitchFamily="34" charset="0"/>
                <a:cs typeface="Arial" panose="020B0604020202020204" pitchFamily="34" charset="0"/>
              </a:rPr>
              <a:t>Highly structured encounters such as games with clear rules and outcomes</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5095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07909" y="1001003"/>
            <a:ext cx="8490857" cy="5262979"/>
          </a:xfrm>
          <a:prstGeom prst="rect">
            <a:avLst/>
          </a:prstGeom>
        </p:spPr>
        <p:txBody>
          <a:bodyPr wrap="square">
            <a:spAutoFit/>
          </a:bodyPr>
          <a:lstStyle/>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Use of another child to moderate intensity of teacher proximity</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Paired/small group work</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Clear lesson plans</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Structured tasks- completed with little help from teacher</a:t>
            </a:r>
          </a:p>
          <a:p>
            <a:endParaRPr lang="en-GB" alt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Concrete, structured activities with little use of imaginative skills</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47412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798919"/>
            <a:ext cx="8490857" cy="6124754"/>
          </a:xfrm>
          <a:prstGeom prst="rect">
            <a:avLst/>
          </a:prstGeom>
        </p:spPr>
        <p:txBody>
          <a:bodyPr wrap="square">
            <a:spAutoFit/>
          </a:bodyPr>
          <a:lstStyle/>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The curriculum provides many opportunities  to explore hidden or dangerous feelings.</a:t>
            </a:r>
          </a:p>
          <a:p>
            <a:pPr marL="342900" indent="-342900">
              <a:buFont typeface="Arial" panose="020B0604020202020204" pitchFamily="34" charset="0"/>
              <a:buChar char="•"/>
            </a:pPr>
            <a:endParaRPr lang="en-GB" alt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Boxes, bridges, houses, castles, journeys are the basis of may stories and all have symbolic significance about closeness and distance, containment and fears.  Without any conscious disclosure, many strong feelings can be given words and meaning.  Emotional literacy can begin by trying to describe the experiences of characters in stories.</a:t>
            </a:r>
          </a:p>
          <a:p>
            <a:endParaRPr lang="en-GB" altLang="en-US" sz="2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Structured games with rules likely to provide an arena for safe engagement</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21598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9959" y="688230"/>
            <a:ext cx="8836090"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Learning Profile Linked to Resistant/Ambivalent Attachment</a:t>
            </a:r>
            <a:endParaRPr lang="es-ES" sz="4000" dirty="0">
              <a:solidFill>
                <a:schemeClr val="bg1">
                  <a:lumMod val="50000"/>
                </a:schemeClr>
              </a:solidFill>
              <a:latin typeface="Calibri" charset="0"/>
            </a:endParaRPr>
          </a:p>
        </p:txBody>
      </p:sp>
      <p:sp>
        <p:nvSpPr>
          <p:cNvPr id="3" name="Rectangle 2"/>
          <p:cNvSpPr/>
          <p:nvPr/>
        </p:nvSpPr>
        <p:spPr>
          <a:xfrm>
            <a:off x="307909" y="1838130"/>
            <a:ext cx="8490857" cy="4524315"/>
          </a:xfrm>
          <a:prstGeom prst="rect">
            <a:avLst/>
          </a:prstGeom>
        </p:spPr>
        <p:txBody>
          <a:bodyPr wrap="square">
            <a:spAutoFit/>
          </a:bodyPr>
          <a:lstStyle/>
          <a:p>
            <a:pPr>
              <a:lnSpc>
                <a:spcPct val="80000"/>
              </a:lnSpc>
            </a:pPr>
            <a:endParaRPr lang="en-GB" altLang="en-US" sz="2000" b="1"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Approach to the school and the classroom</a:t>
            </a:r>
          </a:p>
          <a:p>
            <a:pPr>
              <a:lnSpc>
                <a:spcPct val="80000"/>
              </a:lnSpc>
            </a:pPr>
            <a:r>
              <a:rPr lang="en-GB" altLang="en-US" sz="2000" dirty="0">
                <a:latin typeface="Arial" panose="020B0604020202020204" pitchFamily="34" charset="0"/>
                <a:cs typeface="Arial" panose="020B0604020202020204" pitchFamily="34" charset="0"/>
              </a:rPr>
              <a:t>High level of anxiety and uncertainty</a:t>
            </a:r>
          </a:p>
          <a:p>
            <a:pPr>
              <a:lnSpc>
                <a:spcPct val="80000"/>
              </a:lnSpc>
            </a:pPr>
            <a:endParaRPr lang="en-GB" altLang="en-US" sz="2000"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Response to the teacher</a:t>
            </a:r>
            <a:br>
              <a:rPr lang="en-GB" altLang="en-US" sz="2000" b="1"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Need to hold onto the attention of the teacher</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Apparent dependence on the teacher in order to engage in learning</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Expressed hostility towards the teacher when frustrated</a:t>
            </a:r>
          </a:p>
          <a:p>
            <a:pPr>
              <a:lnSpc>
                <a:spcPct val="80000"/>
              </a:lnSpc>
            </a:pPr>
            <a:endParaRPr lang="en-GB" altLang="en-US" sz="2000"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Response to task</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Difficulties attempting the task if unsupported</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Unable to focus on the task for fear of losing teacher’s attention</a:t>
            </a:r>
          </a:p>
          <a:p>
            <a:pPr>
              <a:lnSpc>
                <a:spcPct val="80000"/>
              </a:lnSpc>
            </a:pPr>
            <a:endParaRPr lang="en-GB" altLang="en-US" sz="2000" dirty="0">
              <a:latin typeface="Arial" panose="020B0604020202020204" pitchFamily="34" charset="0"/>
              <a:cs typeface="Arial" panose="020B0604020202020204" pitchFamily="34" charset="0"/>
            </a:endParaRPr>
          </a:p>
          <a:p>
            <a:pPr>
              <a:lnSpc>
                <a:spcPct val="80000"/>
              </a:lnSpc>
            </a:pPr>
            <a:r>
              <a:rPr lang="en-GB" altLang="en-US" sz="2000" b="1" dirty="0">
                <a:latin typeface="Arial" panose="020B0604020202020204" pitchFamily="34" charset="0"/>
                <a:cs typeface="Arial" panose="020B0604020202020204" pitchFamily="34" charset="0"/>
              </a:rPr>
              <a:t>Skills and Difficulties</a:t>
            </a:r>
            <a:br>
              <a:rPr lang="en-GB" altLang="en-US" sz="2000" b="1"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Likely to be underachieving</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Language may bee well developed but not consistent with levels of achievement</a:t>
            </a:r>
            <a:br>
              <a:rPr lang="en-GB" altLang="en-US" sz="2000" dirty="0">
                <a:latin typeface="Arial" panose="020B0604020202020204" pitchFamily="34" charset="0"/>
                <a:cs typeface="Arial" panose="020B0604020202020204" pitchFamily="34" charset="0"/>
              </a:rPr>
            </a:br>
            <a:r>
              <a:rPr lang="en-GB" altLang="en-US" sz="2000" dirty="0">
                <a:latin typeface="Arial" panose="020B0604020202020204" pitchFamily="34" charset="0"/>
                <a:cs typeface="Arial" panose="020B0604020202020204" pitchFamily="34" charset="0"/>
              </a:rPr>
              <a:t>Numeracy may be weak</a:t>
            </a:r>
          </a:p>
        </p:txBody>
      </p:sp>
    </p:spTree>
    <p:extLst>
      <p:ext uri="{BB962C8B-B14F-4D97-AF65-F5344CB8AC3E}">
        <p14:creationId xmlns:p14="http://schemas.microsoft.com/office/powerpoint/2010/main" val="24914742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681106"/>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Intervention Implications</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5115246"/>
          </a:xfrm>
          <a:prstGeom prst="rect">
            <a:avLst/>
          </a:prstGeom>
        </p:spPr>
        <p:txBody>
          <a:bodyPr wrap="square">
            <a:spAutoFit/>
          </a:bodyPr>
          <a:lstStyle/>
          <a:p>
            <a:pPr marL="342900" indent="-342900">
              <a:lnSpc>
                <a:spcPct val="80000"/>
              </a:lnSpc>
              <a:buFont typeface="Arial" panose="020B0604020202020204" pitchFamily="34" charset="0"/>
              <a:buChar char="•"/>
            </a:pPr>
            <a:r>
              <a:rPr lang="en-GB" altLang="en-US" sz="2400" b="1" dirty="0">
                <a:latin typeface="Arial" panose="020B0604020202020204" pitchFamily="34" charset="0"/>
                <a:cs typeface="Arial" panose="020B0604020202020204" pitchFamily="34" charset="0"/>
              </a:rPr>
              <a:t>Child</a:t>
            </a:r>
            <a:r>
              <a:rPr lang="en-GB" altLang="en-US" sz="2400" dirty="0">
                <a:latin typeface="Arial" panose="020B0604020202020204" pitchFamily="34" charset="0"/>
                <a:cs typeface="Arial" panose="020B0604020202020204" pitchFamily="34" charset="0"/>
              </a:rPr>
              <a:t> – the first step they need to take is to </a:t>
            </a:r>
            <a:r>
              <a:rPr lang="en-GB" altLang="en-US" sz="2400" b="1" dirty="0">
                <a:latin typeface="Arial" panose="020B0604020202020204" pitchFamily="34" charset="0"/>
                <a:cs typeface="Arial" panose="020B0604020202020204" pitchFamily="34" charset="0"/>
              </a:rPr>
              <a:t>engage with the task</a:t>
            </a:r>
            <a:r>
              <a:rPr lang="en-GB" altLang="en-US" sz="2400" dirty="0">
                <a:latin typeface="Arial" panose="020B0604020202020204" pitchFamily="34" charset="0"/>
                <a:cs typeface="Arial" panose="020B0604020202020204" pitchFamily="34" charset="0"/>
              </a:rPr>
              <a:t>, in order to begin the process of change</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b="1" dirty="0">
                <a:latin typeface="Arial" panose="020B0604020202020204" pitchFamily="34" charset="0"/>
                <a:cs typeface="Arial" panose="020B0604020202020204" pitchFamily="34" charset="0"/>
              </a:rPr>
              <a:t>Teacher</a:t>
            </a:r>
            <a:r>
              <a:rPr lang="en-GB" altLang="en-US" sz="2400" dirty="0">
                <a:latin typeface="Arial" panose="020B0604020202020204" pitchFamily="34" charset="0"/>
                <a:cs typeface="Arial" panose="020B0604020202020204" pitchFamily="34" charset="0"/>
              </a:rPr>
              <a:t> – the first step is recognising the pupils </a:t>
            </a:r>
            <a:r>
              <a:rPr lang="en-GB" altLang="en-US" sz="2400" b="1" dirty="0">
                <a:latin typeface="Arial" panose="020B0604020202020204" pitchFamily="34" charset="0"/>
                <a:cs typeface="Arial" panose="020B0604020202020204" pitchFamily="34" charset="0"/>
              </a:rPr>
              <a:t>separation anxiety</a:t>
            </a:r>
          </a:p>
          <a:p>
            <a:pPr>
              <a:lnSpc>
                <a:spcPct val="80000"/>
              </a:lnSpc>
            </a:pPr>
            <a:endParaRPr lang="en-GB" altLang="en-US" sz="2400" b="1"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 pupil can be experienced as </a:t>
            </a:r>
            <a:r>
              <a:rPr lang="en-GB" altLang="en-US" sz="2400" b="1" dirty="0">
                <a:latin typeface="Arial" panose="020B0604020202020204" pitchFamily="34" charset="0"/>
                <a:cs typeface="Arial" panose="020B0604020202020204" pitchFamily="34" charset="0"/>
              </a:rPr>
              <a:t>dependent, irritating and intrusive. </a:t>
            </a:r>
            <a:r>
              <a:rPr lang="en-GB" altLang="en-US" sz="2400" dirty="0">
                <a:latin typeface="Arial" panose="020B0604020202020204" pitchFamily="34" charset="0"/>
                <a:cs typeface="Arial" panose="020B0604020202020204" pitchFamily="34" charset="0"/>
              </a:rPr>
              <a:t>It can help to be aware of the child’s powerful wish to achieved a merged state with the adult</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think of this behaviour as an </a:t>
            </a:r>
            <a:r>
              <a:rPr lang="en-GB" altLang="en-US" sz="2400" i="1" dirty="0">
                <a:latin typeface="Arial" panose="020B0604020202020204" pitchFamily="34" charset="0"/>
                <a:cs typeface="Arial" panose="020B0604020202020204" pitchFamily="34" charset="0"/>
              </a:rPr>
              <a:t>anxious dependence</a:t>
            </a:r>
            <a:r>
              <a:rPr lang="en-GB" altLang="en-US" sz="2400" dirty="0">
                <a:latin typeface="Arial" panose="020B0604020202020204" pitchFamily="34" charset="0"/>
                <a:cs typeface="Arial" panose="020B0604020202020204" pitchFamily="34" charset="0"/>
              </a:rPr>
              <a:t> and a </a:t>
            </a:r>
            <a:r>
              <a:rPr lang="en-GB" altLang="en-US" sz="2400" i="1" dirty="0">
                <a:latin typeface="Arial" panose="020B0604020202020204" pitchFamily="34" charset="0"/>
                <a:cs typeface="Arial" panose="020B0604020202020204" pitchFamily="34" charset="0"/>
              </a:rPr>
              <a:t>need to control the significant adult </a:t>
            </a:r>
            <a:r>
              <a:rPr lang="en-GB" altLang="en-US" sz="2400" dirty="0">
                <a:latin typeface="Arial" panose="020B0604020202020204" pitchFamily="34" charset="0"/>
                <a:cs typeface="Arial" panose="020B0604020202020204" pitchFamily="34" charset="0"/>
              </a:rPr>
              <a:t>who has not been experienced as reliably present</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Important adult remains the </a:t>
            </a:r>
            <a:r>
              <a:rPr lang="en-GB" altLang="en-US" sz="2400" b="1" dirty="0">
                <a:latin typeface="Arial" panose="020B0604020202020204" pitchFamily="34" charset="0"/>
                <a:cs typeface="Arial" panose="020B0604020202020204" pitchFamily="34" charset="0"/>
              </a:rPr>
              <a:t>adult in charge</a:t>
            </a:r>
            <a:br>
              <a:rPr lang="en-GB" altLang="en-US" sz="2400" dirty="0">
                <a:latin typeface="Arial" panose="020B0604020202020204" pitchFamily="34" charset="0"/>
                <a:cs typeface="Arial" panose="020B0604020202020204" pitchFamily="34" charset="0"/>
              </a:rPr>
            </a:br>
            <a:r>
              <a:rPr lang="en-GB" altLang="en-US" sz="2400" dirty="0">
                <a:latin typeface="Arial" panose="020B0604020202020204" pitchFamily="34" charset="0"/>
                <a:cs typeface="Arial" panose="020B0604020202020204" pitchFamily="34" charset="0"/>
              </a:rPr>
              <a:t>Neither replicates the neediness of the primary carer nor collude with the child’s apparent pseudo-adult helper role</a:t>
            </a:r>
          </a:p>
        </p:txBody>
      </p:sp>
    </p:spTree>
    <p:extLst>
      <p:ext uri="{BB962C8B-B14F-4D97-AF65-F5344CB8AC3E}">
        <p14:creationId xmlns:p14="http://schemas.microsoft.com/office/powerpoint/2010/main" val="16489690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In the Planning - strategies to use</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228850"/>
          </a:xfrm>
          <a:prstGeom prst="rect">
            <a:avLst/>
          </a:prstGeom>
        </p:spPr>
        <p:txBody>
          <a:bodyPr wrap="square">
            <a:spAutoFit/>
          </a:bodyPr>
          <a:lstStyle/>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Planning beginnings separations and endings</a:t>
            </a:r>
          </a:p>
          <a:p>
            <a:pPr>
              <a:lnSpc>
                <a:spcPct val="80000"/>
              </a:lnSpc>
            </a:pPr>
            <a:r>
              <a:rPr lang="en-GB" altLang="en-US" sz="2400" dirty="0">
                <a:latin typeface="Arial" panose="020B0604020202020204" pitchFamily="34" charset="0"/>
                <a:cs typeface="Arial" panose="020B0604020202020204" pitchFamily="34" charset="0"/>
              </a:rPr>
              <a:t>Help transition into school and at the end of the day</a:t>
            </a:r>
          </a:p>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Planning and warnings of changes and class movement</a:t>
            </a:r>
          </a:p>
          <a:p>
            <a:pPr>
              <a:lnSpc>
                <a:spcPct val="80000"/>
              </a:lnSpc>
            </a:pPr>
            <a:r>
              <a:rPr lang="en-GB" altLang="en-US" sz="2400" dirty="0">
                <a:latin typeface="Arial" panose="020B0604020202020204" pitchFamily="34" charset="0"/>
                <a:cs typeface="Arial" panose="020B0604020202020204" pitchFamily="34" charset="0"/>
              </a:rPr>
              <a:t>Can ease separation anxiety being triggered when changes take place</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Regular absence from school</a:t>
            </a:r>
          </a:p>
          <a:p>
            <a:pPr>
              <a:lnSpc>
                <a:spcPct val="80000"/>
              </a:lnSpc>
            </a:pPr>
            <a:r>
              <a:rPr lang="en-GB" altLang="en-US" sz="2400" dirty="0">
                <a:latin typeface="Arial" panose="020B0604020202020204" pitchFamily="34" charset="0"/>
                <a:cs typeface="Arial" panose="020B0604020202020204" pitchFamily="34" charset="0"/>
              </a:rPr>
              <a:t>Triggers procedures that respond quickly to absence help the child to feel held in mind appropriately by the school.  This will lead to an experience of the reliability of the school system.</a:t>
            </a:r>
          </a:p>
        </p:txBody>
      </p:sp>
    </p:spTree>
    <p:extLst>
      <p:ext uri="{BB962C8B-B14F-4D97-AF65-F5344CB8AC3E}">
        <p14:creationId xmlns:p14="http://schemas.microsoft.com/office/powerpoint/2010/main" val="4989938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13356"/>
            <a:ext cx="8836090" cy="144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Learning Profile Linked to Disorganised Attachment</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5336846"/>
          </a:xfrm>
          <a:prstGeom prst="rect">
            <a:avLst/>
          </a:prstGeom>
        </p:spPr>
        <p:txBody>
          <a:bodyPr wrap="square">
            <a:spAutoFit/>
          </a:bodyPr>
          <a:lstStyle/>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Approach to the school and the classroom</a:t>
            </a:r>
          </a:p>
          <a:p>
            <a:pPr>
              <a:lnSpc>
                <a:spcPct val="80000"/>
              </a:lnSpc>
            </a:pPr>
            <a:r>
              <a:rPr lang="en-GB" altLang="en-US" sz="2400" dirty="0">
                <a:latin typeface="Arial" panose="020B0604020202020204" pitchFamily="34" charset="0"/>
                <a:cs typeface="Arial" panose="020B0604020202020204" pitchFamily="34" charset="0"/>
              </a:rPr>
              <a:t>Intense anxiety – controlling and omnipotent </a:t>
            </a:r>
          </a:p>
          <a:p>
            <a:r>
              <a:rPr lang="en-GB" altLang="en-US" sz="2400" b="1" dirty="0">
                <a:latin typeface="Arial" panose="020B0604020202020204" pitchFamily="34" charset="0"/>
                <a:cs typeface="Arial" panose="020B0604020202020204" pitchFamily="34" charset="0"/>
              </a:rPr>
              <a:t>Response to the teacher</a:t>
            </a:r>
          </a:p>
          <a:p>
            <a:pPr>
              <a:lnSpc>
                <a:spcPct val="80000"/>
              </a:lnSpc>
            </a:pPr>
            <a:r>
              <a:rPr lang="en-GB" altLang="en-US" sz="2400" dirty="0">
                <a:latin typeface="Arial" panose="020B0604020202020204" pitchFamily="34" charset="0"/>
                <a:cs typeface="Arial" panose="020B0604020202020204" pitchFamily="34" charset="0"/>
              </a:rPr>
              <a:t>Finds it hard to accept teachers authority but may submit to Heads authority.  Finds it hard to be ‘taught’/accept teacher might know more than they do.</a:t>
            </a:r>
          </a:p>
          <a:p>
            <a:r>
              <a:rPr lang="en-GB" altLang="en-US" sz="2400" b="1" dirty="0">
                <a:latin typeface="Arial" panose="020B0604020202020204" pitchFamily="34" charset="0"/>
                <a:cs typeface="Arial" panose="020B0604020202020204" pitchFamily="34" charset="0"/>
              </a:rPr>
              <a:t>Response to the Task</a:t>
            </a:r>
          </a:p>
          <a:p>
            <a:pPr>
              <a:lnSpc>
                <a:spcPct val="80000"/>
              </a:lnSpc>
            </a:pPr>
            <a:r>
              <a:rPr lang="en-GB" altLang="en-US" sz="2400" dirty="0">
                <a:latin typeface="Arial" panose="020B0604020202020204" pitchFamily="34" charset="0"/>
                <a:cs typeface="Arial" panose="020B0604020202020204" pitchFamily="34" charset="0"/>
              </a:rPr>
              <a:t>Produce fears of incompetence, humiliation may have difficulty in accepting not knowing or may appear omnipotent i.e. “I know it all already”</a:t>
            </a:r>
          </a:p>
          <a:p>
            <a:r>
              <a:rPr lang="en-GB" altLang="en-US" sz="2400" b="1" dirty="0">
                <a:latin typeface="Arial" panose="020B0604020202020204" pitchFamily="34" charset="0"/>
                <a:cs typeface="Arial" panose="020B0604020202020204" pitchFamily="34" charset="0"/>
              </a:rPr>
              <a:t>Skills and Difficulties</a:t>
            </a:r>
          </a:p>
          <a:p>
            <a:pPr>
              <a:lnSpc>
                <a:spcPct val="80000"/>
              </a:lnSpc>
            </a:pPr>
            <a:r>
              <a:rPr lang="en-GB" altLang="en-US" sz="2400" dirty="0">
                <a:latin typeface="Arial" panose="020B0604020202020204" pitchFamily="34" charset="0"/>
                <a:cs typeface="Arial" panose="020B0604020202020204" pitchFamily="34" charset="0"/>
              </a:rPr>
              <a:t>May seem unimaginative and uncreative, may find conceptual thought difficult.  Likely to be underachieving and at immature stage of learning.</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92968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667190"/>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Strategies to use:</a:t>
            </a:r>
            <a:endParaRPr lang="es-ES" sz="4400" dirty="0">
              <a:solidFill>
                <a:schemeClr val="bg1">
                  <a:lumMod val="50000"/>
                </a:schemeClr>
              </a:solidFill>
              <a:latin typeface="Calibri" charset="0"/>
            </a:endParaRPr>
          </a:p>
        </p:txBody>
      </p:sp>
      <p:sp>
        <p:nvSpPr>
          <p:cNvPr id="3" name="Rectangle 2"/>
          <p:cNvSpPr/>
          <p:nvPr/>
        </p:nvSpPr>
        <p:spPr>
          <a:xfrm>
            <a:off x="307908" y="1153296"/>
            <a:ext cx="8490857" cy="5558445"/>
          </a:xfrm>
          <a:prstGeom prst="rect">
            <a:avLst/>
          </a:prstGeom>
        </p:spPr>
        <p:txBody>
          <a:bodyPr wrap="square">
            <a:spAutoFit/>
          </a:bodyPr>
          <a:lstStyle/>
          <a:p>
            <a:pPr>
              <a:lnSpc>
                <a:spcPct val="80000"/>
              </a:lnSpc>
            </a:pPr>
            <a:endParaRPr lang="en-GB" altLang="en-US" sz="24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Actively practice </a:t>
            </a:r>
            <a:r>
              <a:rPr lang="en-GB" altLang="en-US" sz="2400" b="1" dirty="0">
                <a:latin typeface="Arial" panose="020B0604020202020204" pitchFamily="34" charset="0"/>
                <a:cs typeface="Arial" panose="020B0604020202020204" pitchFamily="34" charset="0"/>
              </a:rPr>
              <a:t>rules</a:t>
            </a:r>
            <a:r>
              <a:rPr lang="en-GB" altLang="en-US" sz="2400" dirty="0">
                <a:latin typeface="Arial" panose="020B0604020202020204" pitchFamily="34" charset="0"/>
                <a:cs typeface="Arial" panose="020B0604020202020204" pitchFamily="34" charset="0"/>
              </a:rPr>
              <a:t> which focus on keeping people and things safe</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Frequent positive feedback can help to develop and reinforce more positive responses</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Engage in reflective network meetings in order to avoid reactive adult responses – especially to a crisis</a:t>
            </a: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Concrete, mechanical and rhythmic activities which engage left brain  function can be used to sooth highly charged states – counting, colouring, sorting, building structures sequencing sorting, building structures sequencing objects and copying.</a:t>
            </a:r>
          </a:p>
        </p:txBody>
      </p:sp>
    </p:spTree>
    <p:extLst>
      <p:ext uri="{BB962C8B-B14F-4D97-AF65-F5344CB8AC3E}">
        <p14:creationId xmlns:p14="http://schemas.microsoft.com/office/powerpoint/2010/main" val="22493018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Rectangle 2"/>
          <p:cNvSpPr/>
          <p:nvPr/>
        </p:nvSpPr>
        <p:spPr>
          <a:xfrm>
            <a:off x="326571" y="998749"/>
            <a:ext cx="8490857" cy="5115246"/>
          </a:xfrm>
          <a:prstGeom prst="rect">
            <a:avLst/>
          </a:prstGeom>
        </p:spPr>
        <p:txBody>
          <a:bodyPr wrap="square">
            <a:spAutoFit/>
          </a:bodyPr>
          <a:lstStyle/>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Rhythmical physical exercise also has a regulating influence on brain rhythms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Start day with brain gym/cross-stitch</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Use of metaphors related to symbolic containment-buildings, houses, boats and bridges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Make use of rich opportunities in curriculum to explore feelings and situations </a:t>
            </a:r>
            <a:r>
              <a:rPr lang="en-GB" altLang="en-US" sz="2400" b="1" dirty="0">
                <a:latin typeface="Arial" panose="020B0604020202020204" pitchFamily="34" charset="0"/>
                <a:cs typeface="Arial" panose="020B0604020202020204" pitchFamily="34" charset="0"/>
              </a:rPr>
              <a:t>without</a:t>
            </a:r>
            <a:r>
              <a:rPr lang="en-GB" altLang="en-US" sz="2400" dirty="0">
                <a:latin typeface="Arial" panose="020B0604020202020204" pitchFamily="34" charset="0"/>
                <a:cs typeface="Arial" panose="020B0604020202020204" pitchFamily="34" charset="0"/>
              </a:rPr>
              <a:t> reference to self</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Ensure do-able/differentiated activities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Step back from aggression and use “safety routine” – accompanied “time out”</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Use of Worry Box and Permission Cards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57655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51043"/>
            <a:ext cx="8836090" cy="144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Supporting individuals via </a:t>
            </a:r>
            <a:r>
              <a:rPr lang="en-GB" sz="4400" b="1" dirty="0"/>
              <a:t>direct input</a:t>
            </a:r>
            <a:r>
              <a:rPr lang="en-GB" sz="4400" dirty="0"/>
              <a:t> across all Key Stages:</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745915"/>
          </a:xfrm>
          <a:prstGeom prst="rect">
            <a:avLst/>
          </a:prstGeom>
        </p:spPr>
        <p:txBody>
          <a:bodyPr wrap="square">
            <a:spAutoFit/>
          </a:bodyPr>
          <a:lstStyle/>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endParaRPr lang="en-GB" altLang="en-US" sz="2400" b="1" dirty="0">
              <a:latin typeface="Arial" panose="020B0604020202020204" pitchFamily="34" charset="0"/>
              <a:cs typeface="Arial" panose="020B0604020202020204" pitchFamily="34" charset="0"/>
            </a:endParaRPr>
          </a:p>
          <a:p>
            <a:endParaRPr lang="en-GB" altLang="en-US" sz="2400" dirty="0">
              <a:latin typeface="Arial" panose="020B0604020202020204" pitchFamily="34" charset="0"/>
              <a:cs typeface="Arial" panose="020B0604020202020204" pitchFamily="34" charset="0"/>
            </a:endParaRPr>
          </a:p>
          <a:p>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Solution-focused approaches to increase self-esteem and engagement</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PACE approach (Dan Hughes 2003)</a:t>
            </a: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These tools are particularly useful for promoting behaviour change, building aspirations and resilience and will ultimately increase learning skills. It is all in the </a:t>
            </a:r>
            <a:r>
              <a:rPr lang="en-GB" altLang="en-US" sz="2400" b="1" dirty="0">
                <a:latin typeface="Arial" panose="020B0604020202020204" pitchFamily="34" charset="0"/>
                <a:cs typeface="Arial" panose="020B0604020202020204" pitchFamily="34" charset="0"/>
              </a:rPr>
              <a:t>relationship.</a:t>
            </a:r>
            <a:endParaRPr lang="en-US" alt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18438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3" y="0"/>
            <a:ext cx="9144000" cy="6858000"/>
          </a:xfrm>
          <a:prstGeom prst="rect">
            <a:avLst/>
          </a:prstGeom>
        </p:spPr>
      </p:pic>
      <p:sp>
        <p:nvSpPr>
          <p:cNvPr id="6" name="5 CuadroTexto"/>
          <p:cNvSpPr txBox="1">
            <a:spLocks noChangeArrowheads="1"/>
          </p:cNvSpPr>
          <p:nvPr/>
        </p:nvSpPr>
        <p:spPr bwMode="auto">
          <a:xfrm>
            <a:off x="135292" y="851043"/>
            <a:ext cx="8836090" cy="12003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3600" dirty="0"/>
              <a:t>A solution-focused approach to increase self-esteem and engagement</a:t>
            </a:r>
            <a:endParaRPr lang="es-ES" sz="3600" dirty="0">
              <a:solidFill>
                <a:schemeClr val="bg1">
                  <a:lumMod val="50000"/>
                </a:schemeClr>
              </a:solidFill>
              <a:latin typeface="Calibri" charset="0"/>
            </a:endParaRPr>
          </a:p>
        </p:txBody>
      </p:sp>
      <p:sp>
        <p:nvSpPr>
          <p:cNvPr id="3" name="Rectangle 2"/>
          <p:cNvSpPr/>
          <p:nvPr/>
        </p:nvSpPr>
        <p:spPr>
          <a:xfrm>
            <a:off x="307909" y="1436631"/>
            <a:ext cx="8490857" cy="4640501"/>
          </a:xfrm>
          <a:prstGeom prst="rect">
            <a:avLst/>
          </a:prstGeom>
        </p:spPr>
        <p:txBody>
          <a:bodyPr wrap="square">
            <a:spAutoFit/>
          </a:bodyPr>
          <a:lstStyle/>
          <a:p>
            <a:pPr marL="342900" indent="-342900">
              <a:buFont typeface="Arial" panose="020B0604020202020204" pitchFamily="34" charset="0"/>
              <a:buChar char="•"/>
            </a:pPr>
            <a:endParaRPr lang="en-GB" altLang="en-US" sz="24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Change the focus from the problem to solution of a preferred future for the young person</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See a person as being more than their problem</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Look for resources rather  than deficits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explore possible and preferred futures</a:t>
            </a:r>
          </a:p>
          <a:p>
            <a:pPr marL="342900" indent="-342900">
              <a:lnSpc>
                <a:spcPct val="15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treat young person as the experts in all aspects to their lives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48216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3" y="0"/>
            <a:ext cx="9144000" cy="6858000"/>
          </a:xfrm>
          <a:prstGeom prst="rect">
            <a:avLst/>
          </a:prstGeom>
        </p:spPr>
      </p:pic>
      <p:sp>
        <p:nvSpPr>
          <p:cNvPr id="6"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Problem-free Talk</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007251"/>
          </a:xfrm>
          <a:prstGeom prst="rect">
            <a:avLst/>
          </a:prstGeom>
        </p:spPr>
        <p:txBody>
          <a:bodyPr wrap="square">
            <a:spAutoFit/>
          </a:bodyPr>
          <a:lstStyle/>
          <a:p>
            <a:pPr marL="342900" indent="-342900">
              <a:buFont typeface="Arial" panose="020B0604020202020204" pitchFamily="34" charset="0"/>
              <a:buChar char="•"/>
            </a:pPr>
            <a:endParaRPr lang="en-GB" altLang="en-US" sz="24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 know very little about you except what brings you here today.   How do you spend your day? </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are you interested in? </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are you good at?</a:t>
            </a: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Exceptions</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doesn’t the problem happen?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does it seem to be less intense?</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do you resist the urge to ….?</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How come you still go to school/work/etc on some days?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49485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3" y="0"/>
            <a:ext cx="9144000" cy="6858000"/>
          </a:xfrm>
          <a:prstGeom prst="rect">
            <a:avLst/>
          </a:prstGeom>
        </p:spPr>
      </p:pic>
      <p:sp>
        <p:nvSpPr>
          <p:cNvPr id="6"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Coping</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524315"/>
          </a:xfrm>
          <a:prstGeom prst="rect">
            <a:avLst/>
          </a:prstGeom>
        </p:spPr>
        <p:txBody>
          <a:bodyPr wrap="square">
            <a:spAutoFit/>
          </a:bodyPr>
          <a:lstStyle/>
          <a:p>
            <a:pPr marL="342900" indent="-342900">
              <a:buFont typeface="Arial" panose="020B0604020202020204" pitchFamily="34" charset="0"/>
              <a:buChar char="•"/>
            </a:pPr>
            <a:endParaRPr lang="en-GB" altLang="en-US" sz="24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That situation sounds pretty overwhelming, how do you cope?</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How have you been getting through?</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might your friends admire about the way you have coped with this?</a:t>
            </a:r>
          </a:p>
          <a:p>
            <a:endParaRPr lang="en-GB" altLang="en-US" sz="2400" dirty="0">
              <a:latin typeface="Arial" panose="020B0604020202020204" pitchFamily="34" charset="0"/>
              <a:cs typeface="Arial" panose="020B0604020202020204" pitchFamily="34" charset="0"/>
            </a:endParaRPr>
          </a:p>
          <a:p>
            <a:r>
              <a:rPr lang="en-GB" altLang="en-US" sz="2400" b="1" dirty="0">
                <a:latin typeface="Arial" panose="020B0604020202020204" pitchFamily="34" charset="0"/>
                <a:cs typeface="Arial" panose="020B0604020202020204" pitchFamily="34" charset="0"/>
              </a:rPr>
              <a:t>Locating resources/building on strengths</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When you’ve faced this problem in the past, how did you resolve it?</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How would you know if you were doing that again? </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would it look like?</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87773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671921"/>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What can help?</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5410712"/>
          </a:xfrm>
          <a:prstGeom prst="rect">
            <a:avLst/>
          </a:prstGeom>
        </p:spPr>
        <p:txBody>
          <a:bodyPr wrap="square">
            <a:spAutoFit/>
          </a:bodyPr>
          <a:lstStyle/>
          <a:p>
            <a:pPr>
              <a:lnSpc>
                <a:spcPct val="80000"/>
              </a:lnSpc>
            </a:pPr>
            <a:r>
              <a:rPr lang="en-GB" altLang="en-US" sz="2400" b="1" dirty="0">
                <a:latin typeface="Arial" panose="020B0604020202020204" pitchFamily="34" charset="0"/>
                <a:cs typeface="Arial" panose="020B0604020202020204" pitchFamily="34" charset="0"/>
              </a:rPr>
              <a:t>View of Self: identify questions</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does that teach you about yourself?</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do you know now about yourself that you didn’t know last week?</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If you read about someone who had been through exactly this, what would you think of them?</a:t>
            </a:r>
          </a:p>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r>
              <a:rPr lang="en-GB" altLang="en-US" sz="2400" b="1" dirty="0">
                <a:latin typeface="Arial" panose="020B0604020202020204" pitchFamily="34" charset="0"/>
                <a:cs typeface="Arial" panose="020B0604020202020204" pitchFamily="34" charset="0"/>
              </a:rPr>
              <a:t>Scales</a:t>
            </a: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On a scale of 0-10, with 0 being the worst that things have been in your life and 10 representing the achievement of your best hopes, where are you today?</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is it you are doing that means you are at … and not 0?</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What point on the scale would you like to reach? Who can help you? How can you help yourself?</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09909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Other </a:t>
            </a:r>
            <a:r>
              <a:rPr lang="en-GB" sz="4400" dirty="0"/>
              <a:t>people’s</a:t>
            </a:r>
            <a:r>
              <a:rPr lang="en-GB" sz="4000" dirty="0"/>
              <a:t> perspective</a:t>
            </a:r>
            <a:endParaRPr lang="es-ES" sz="4000" dirty="0">
              <a:solidFill>
                <a:schemeClr val="bg1">
                  <a:lumMod val="50000"/>
                </a:schemeClr>
              </a:solidFill>
              <a:latin typeface="Calibri" charset="0"/>
            </a:endParaRPr>
          </a:p>
        </p:txBody>
      </p:sp>
      <p:sp>
        <p:nvSpPr>
          <p:cNvPr id="3" name="Rectangle 2"/>
          <p:cNvSpPr/>
          <p:nvPr/>
        </p:nvSpPr>
        <p:spPr>
          <a:xfrm>
            <a:off x="307909" y="1436631"/>
            <a:ext cx="8490857" cy="3699474"/>
          </a:xfrm>
          <a:prstGeom prst="rect">
            <a:avLst/>
          </a:prstGeom>
        </p:spPr>
        <p:txBody>
          <a:bodyPr wrap="square">
            <a:spAutoFit/>
          </a:bodyPr>
          <a:lstStyle/>
          <a:p>
            <a:pPr>
              <a:lnSpc>
                <a:spcPct val="80000"/>
              </a:lnSpc>
            </a:pPr>
            <a:endParaRPr lang="en-GB" altLang="en-US" sz="2400" b="1"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Who will be the first teacher to notice you’ve moved up one point on your scale?</a:t>
            </a: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Who will be the hardest to convince that you mean business this time? </a:t>
            </a:r>
          </a:p>
          <a:p>
            <a:pPr marL="342900" indent="-3429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What will he/she need to see?</a:t>
            </a:r>
          </a:p>
          <a:p>
            <a:endParaRPr lang="en-GB" altLang="en-US" sz="2800" dirty="0">
              <a:latin typeface="Arial" panose="020B0604020202020204" pitchFamily="34" charset="0"/>
              <a:cs typeface="Arial" panose="020B0604020202020204" pitchFamily="34" charset="0"/>
            </a:endParaRPr>
          </a:p>
          <a:p>
            <a:r>
              <a:rPr lang="en-GB" altLang="en-US" sz="2800" b="1" dirty="0">
                <a:latin typeface="Arial" panose="020B0604020202020204" pitchFamily="34" charset="0"/>
                <a:cs typeface="Arial" panose="020B0604020202020204" pitchFamily="34" charset="0"/>
              </a:rPr>
              <a:t>Similar to CBT behavioural experiments</a:t>
            </a:r>
            <a:endParaRPr lang="en-US" altLang="en-US" sz="2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220484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51043"/>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 truly useful tool</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3342453"/>
          </a:xfrm>
          <a:prstGeom prst="rect">
            <a:avLst/>
          </a:prstGeom>
        </p:spPr>
        <p:txBody>
          <a:bodyPr wrap="square">
            <a:spAutoFit/>
          </a:bodyPr>
          <a:lstStyle/>
          <a:p>
            <a:pPr>
              <a:lnSpc>
                <a:spcPct val="80000"/>
              </a:lnSpc>
            </a:pPr>
            <a:endParaRPr lang="en-GB" altLang="en-US" sz="2400" dirty="0">
              <a:latin typeface="Arial" panose="020B0604020202020204" pitchFamily="34" charset="0"/>
              <a:cs typeface="Arial" panose="020B0604020202020204" pitchFamily="34" charset="0"/>
            </a:endParaRPr>
          </a:p>
          <a:p>
            <a:r>
              <a:rPr lang="en-GB" altLang="en-US" sz="3200" b="1" dirty="0">
                <a:latin typeface="Arial" panose="020B0604020202020204" pitchFamily="34" charset="0"/>
                <a:cs typeface="Arial" panose="020B0604020202020204" pitchFamily="34" charset="0"/>
              </a:rPr>
              <a:t>PACE</a:t>
            </a:r>
            <a:r>
              <a:rPr lang="en-GB" altLang="en-US" sz="3200" dirty="0">
                <a:latin typeface="Arial" panose="020B0604020202020204" pitchFamily="34" charset="0"/>
                <a:cs typeface="Arial" panose="020B0604020202020204" pitchFamily="34" charset="0"/>
              </a:rPr>
              <a:t> means of ensuring that the </a:t>
            </a:r>
            <a:r>
              <a:rPr lang="en-GB" altLang="en-US" sz="3200" b="1" dirty="0">
                <a:latin typeface="Arial" panose="020B0604020202020204" pitchFamily="34" charset="0"/>
                <a:cs typeface="Arial" panose="020B0604020202020204" pitchFamily="34" charset="0"/>
              </a:rPr>
              <a:t>adult</a:t>
            </a:r>
            <a:r>
              <a:rPr lang="en-GB" altLang="en-US" sz="3200" dirty="0">
                <a:latin typeface="Arial" panose="020B0604020202020204" pitchFamily="34" charset="0"/>
                <a:cs typeface="Arial" panose="020B0604020202020204" pitchFamily="34" charset="0"/>
              </a:rPr>
              <a:t> (you) remain emotionally engaged and available to the child – </a:t>
            </a:r>
            <a:r>
              <a:rPr lang="en-GB" altLang="en-US" sz="3200" b="1" dirty="0">
                <a:latin typeface="Arial" panose="020B0604020202020204" pitchFamily="34" charset="0"/>
                <a:cs typeface="Arial" panose="020B0604020202020204" pitchFamily="34" charset="0"/>
              </a:rPr>
              <a:t>a tall order</a:t>
            </a:r>
          </a:p>
          <a:p>
            <a:endParaRPr lang="en-GB" altLang="en-US" sz="3200" dirty="0">
              <a:latin typeface="Arial" panose="020B0604020202020204" pitchFamily="34" charset="0"/>
              <a:cs typeface="Arial" panose="020B0604020202020204" pitchFamily="34" charset="0"/>
            </a:endParaRPr>
          </a:p>
          <a:p>
            <a:r>
              <a:rPr lang="en-GB" altLang="en-US" sz="3200" dirty="0">
                <a:latin typeface="Arial" panose="020B0604020202020204" pitchFamily="34" charset="0"/>
                <a:cs typeface="Arial" panose="020B0604020202020204" pitchFamily="34" charset="0"/>
              </a:rPr>
              <a:t>Don’t forget the value and importance of peer support and networks</a:t>
            </a:r>
            <a:endParaRPr lang="en-US" altLang="en-US" sz="32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89551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851043"/>
            <a:ext cx="8836090" cy="1323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000" dirty="0"/>
              <a:t>PACE – Playful, Accepting, Curious and Empathic</a:t>
            </a:r>
            <a:endParaRPr lang="es-ES" sz="4000" dirty="0">
              <a:solidFill>
                <a:schemeClr val="bg1">
                  <a:lumMod val="50000"/>
                </a:schemeClr>
              </a:solidFill>
              <a:latin typeface="Calibri" charset="0"/>
            </a:endParaRPr>
          </a:p>
        </p:txBody>
      </p:sp>
      <p:sp>
        <p:nvSpPr>
          <p:cNvPr id="3" name="Rectangle 2"/>
          <p:cNvSpPr/>
          <p:nvPr/>
        </p:nvSpPr>
        <p:spPr>
          <a:xfrm>
            <a:off x="307909" y="1436631"/>
            <a:ext cx="8490857" cy="3859518"/>
          </a:xfrm>
          <a:prstGeom prst="rect">
            <a:avLst/>
          </a:prstGeom>
        </p:spPr>
        <p:txBody>
          <a:bodyPr wrap="square">
            <a:spAutoFit/>
          </a:bodyPr>
          <a:lstStyle/>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r>
              <a:rPr lang="en-GB" altLang="en-US" sz="2800" dirty="0">
                <a:latin typeface="Arial" panose="020B0604020202020204" pitchFamily="34" charset="0"/>
                <a:cs typeface="Arial" panose="020B0604020202020204" pitchFamily="34" charset="0"/>
              </a:rPr>
              <a:t>Therapist/Teacher becomes attuned to the child’s “subjective experiences” and reflects these back to the child by means of eye contact, facial expressions, voice tone, timing and touch – “co-regulates” emotional affect and co-constructs an alternative autobiographical narrative with child.</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83943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22254"/>
            <a:ext cx="8836090" cy="18158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800" dirty="0"/>
              <a:t>Curiosity: This is the starting point of being able to relate to the young person and to help the child to learn to manage feelings and to think about experience</a:t>
            </a:r>
            <a:endParaRPr lang="es-ES" sz="2800" dirty="0">
              <a:solidFill>
                <a:schemeClr val="bg1">
                  <a:lumMod val="50000"/>
                </a:schemeClr>
              </a:solidFill>
              <a:latin typeface="Calibri" charset="0"/>
            </a:endParaRPr>
          </a:p>
        </p:txBody>
      </p:sp>
      <p:sp>
        <p:nvSpPr>
          <p:cNvPr id="3" name="Rectangle 2"/>
          <p:cNvSpPr/>
          <p:nvPr/>
        </p:nvSpPr>
        <p:spPr>
          <a:xfrm>
            <a:off x="135293" y="1337481"/>
            <a:ext cx="8663474" cy="5115246"/>
          </a:xfrm>
          <a:prstGeom prst="rect">
            <a:avLst/>
          </a:prstGeom>
        </p:spPr>
        <p:txBody>
          <a:bodyPr wrap="square">
            <a:spAutoFit/>
          </a:bodyPr>
          <a:lstStyle/>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Includes wondering with the YP about the meaning behind the behaviour being displayed.  It is different from asking a young person why s/he did something in a confrontational manner.  It is more an attitude of figuring out what is going on.</a:t>
            </a: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Having an attitude of curiosity can lead to feelings of empathy for the young person</a:t>
            </a: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 young person will then be more willing and able to think about the behaviour and the consequences that ensued</a:t>
            </a: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Curiosity sometimes means making best guesses about what is  going on.  The young person and adult can figure it out together as the young person may genuinely not understand the behaviour themselves</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05505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22254"/>
            <a:ext cx="8836090" cy="138499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2800" dirty="0"/>
              <a:t>Acceptance: Following curiosity come acceptance. Acceptance means understanding why the young person felt s/he had to behave as s/he did</a:t>
            </a:r>
            <a:endParaRPr lang="es-ES" sz="2800" dirty="0">
              <a:solidFill>
                <a:schemeClr val="bg1">
                  <a:lumMod val="50000"/>
                </a:schemeClr>
              </a:solidFill>
              <a:latin typeface="Calibri" charset="0"/>
            </a:endParaRPr>
          </a:p>
        </p:txBody>
      </p:sp>
      <p:sp>
        <p:nvSpPr>
          <p:cNvPr id="3" name="Rectangle 2"/>
          <p:cNvSpPr/>
          <p:nvPr/>
        </p:nvSpPr>
        <p:spPr>
          <a:xfrm>
            <a:off x="307909" y="1436631"/>
            <a:ext cx="8490857" cy="5115246"/>
          </a:xfrm>
          <a:prstGeom prst="rect">
            <a:avLst/>
          </a:prstGeom>
        </p:spPr>
        <p:txBody>
          <a:bodyPr wrap="square">
            <a:spAutoFit/>
          </a:bodyPr>
          <a:lstStyle/>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endParaRPr lang="en-GB" altLang="en-US" sz="2400" b="1"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The adult accepts both the behavioural choices the young person is making and the feelings that underlie these choices</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Acceptance conveys understanding rather than condoning of the behaviour.  As the young person feels understood s/he will be more willing to think with the adult about the consequences to the behaviour that s/he now has to face</a:t>
            </a:r>
          </a:p>
          <a:p>
            <a:pPr>
              <a:lnSpc>
                <a:spcPct val="80000"/>
              </a:lnSpc>
            </a:pPr>
            <a:endParaRPr lang="en-GB" altLang="en-US" sz="2400"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To empathise the adult needs to enter imaginatively into the experience of the  young person.  Acceptance of this inner experience is communicated to adult helping the young person to feel that his or her inner life is important and valued.</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12966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22254"/>
            <a:ext cx="8836090" cy="1569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3200" dirty="0"/>
              <a:t>Playfulness: At times a playful attitude can be a key factor in helping a young person feel connected within the relationship</a:t>
            </a:r>
            <a:endParaRPr lang="es-ES" sz="3200" dirty="0">
              <a:solidFill>
                <a:schemeClr val="bg1">
                  <a:lumMod val="50000"/>
                </a:schemeClr>
              </a:solidFill>
              <a:latin typeface="Calibri" charset="0"/>
            </a:endParaRPr>
          </a:p>
        </p:txBody>
      </p:sp>
      <p:sp>
        <p:nvSpPr>
          <p:cNvPr id="3" name="Rectangle 2"/>
          <p:cNvSpPr/>
          <p:nvPr/>
        </p:nvSpPr>
        <p:spPr>
          <a:xfrm>
            <a:off x="307909" y="1436631"/>
            <a:ext cx="8490857" cy="3477875"/>
          </a:xfrm>
          <a:prstGeom prst="rect">
            <a:avLst/>
          </a:prstGeom>
        </p:spPr>
        <p:txBody>
          <a:bodyPr wrap="square">
            <a:spAutoFit/>
          </a:bodyPr>
          <a:lstStyle/>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endParaRPr lang="en-GB" altLang="en-US" sz="2400" dirty="0">
              <a:latin typeface="Arial" panose="020B0604020202020204" pitchFamily="34" charset="0"/>
              <a:cs typeface="Arial" panose="020B0604020202020204" pitchFamily="34" charset="0"/>
            </a:endParaRPr>
          </a:p>
          <a:p>
            <a:pPr>
              <a:lnSpc>
                <a:spcPct val="80000"/>
              </a:lnSpc>
            </a:pPr>
            <a:endParaRPr lang="en-GB" altLang="en-US" sz="2800" dirty="0">
              <a:latin typeface="Arial" panose="020B0604020202020204" pitchFamily="34" charset="0"/>
              <a:cs typeface="Arial" panose="020B0604020202020204" pitchFamily="34" charset="0"/>
            </a:endParaRPr>
          </a:p>
          <a:p>
            <a:r>
              <a:rPr lang="en-GB" altLang="en-US" sz="2800" dirty="0">
                <a:latin typeface="Arial" panose="020B0604020202020204" pitchFamily="34" charset="0"/>
                <a:cs typeface="Arial" panose="020B0604020202020204" pitchFamily="34" charset="0"/>
              </a:rPr>
              <a:t>A light-hearted, relaxed and playful attitude can </a:t>
            </a:r>
            <a:r>
              <a:rPr lang="en-GB" altLang="en-US" sz="2800" b="1" dirty="0">
                <a:latin typeface="Arial" panose="020B0604020202020204" pitchFamily="34" charset="0"/>
                <a:cs typeface="Arial" panose="020B0604020202020204" pitchFamily="34" charset="0"/>
              </a:rPr>
              <a:t>help</a:t>
            </a:r>
            <a:r>
              <a:rPr lang="en-GB" altLang="en-US" sz="2800" dirty="0">
                <a:latin typeface="Arial" panose="020B0604020202020204" pitchFamily="34" charset="0"/>
                <a:cs typeface="Arial" panose="020B0604020202020204" pitchFamily="34" charset="0"/>
              </a:rPr>
              <a:t> the child, sometimes unexpectedly, to experience fun and love. If the resistant young person does not see it coming and if it is over quickly s/he will find it harder to avoid and disengage</a:t>
            </a:r>
            <a:endParaRPr lang="en-US"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25305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2225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Back to you. You need:</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561249"/>
          </a:xfrm>
          <a:prstGeom prst="rect">
            <a:avLst/>
          </a:prstGeom>
        </p:spPr>
        <p:txBody>
          <a:bodyPr wrap="square">
            <a:spAutoFit/>
          </a:bodyPr>
          <a:lstStyle/>
          <a:p>
            <a:pPr>
              <a:lnSpc>
                <a:spcPct val="80000"/>
              </a:lnSpc>
            </a:pPr>
            <a:endParaRPr lang="en-GB" altLang="en-US" sz="2400" b="1" dirty="0">
              <a:latin typeface="Arial" panose="020B0604020202020204" pitchFamily="34" charset="0"/>
              <a:cs typeface="Arial" panose="020B0604020202020204" pitchFamily="34" charset="0"/>
            </a:endParaRPr>
          </a:p>
          <a:p>
            <a:pPr>
              <a:lnSpc>
                <a:spcPct val="80000"/>
              </a:lnSpc>
            </a:pPr>
            <a:endParaRPr lang="en-GB" altLang="en-US" sz="2400" b="1"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Inclusive school culture</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Enabling Leadership</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Differentiated curriculum – </a:t>
            </a:r>
            <a:r>
              <a:rPr lang="en-GB" altLang="en-US" sz="2800" b="1" dirty="0">
                <a:latin typeface="Arial" panose="020B0604020202020204" pitchFamily="34" charset="0"/>
                <a:cs typeface="Arial" panose="020B0604020202020204" pitchFamily="34" charset="0"/>
              </a:rPr>
              <a:t>no cliches</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Teaching and learning based upon respect, consistency, structure and shared responsibility</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Explicit policies</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Pupil participation</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Assessment, recording and celebration of achievement</a:t>
            </a:r>
          </a:p>
        </p:txBody>
      </p:sp>
    </p:spTree>
    <p:extLst>
      <p:ext uri="{BB962C8B-B14F-4D97-AF65-F5344CB8AC3E}">
        <p14:creationId xmlns:p14="http://schemas.microsoft.com/office/powerpoint/2010/main" val="23084795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722254"/>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And:</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696670"/>
          </a:xfrm>
          <a:prstGeom prst="rect">
            <a:avLst/>
          </a:prstGeom>
        </p:spPr>
        <p:txBody>
          <a:bodyPr wrap="square">
            <a:spAutoFit/>
          </a:bodyPr>
          <a:lstStyle/>
          <a:p>
            <a:pPr>
              <a:lnSpc>
                <a:spcPct val="80000"/>
              </a:lnSpc>
            </a:pPr>
            <a:endParaRPr lang="en-GB" altLang="en-US" sz="2400" b="1"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Consistent systems and approaches for transfer of information</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Transition specific support systems in place at all times</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On going staff training to ensure awareness and understanding and </a:t>
            </a:r>
            <a:r>
              <a:rPr lang="en-GB" altLang="en-US" sz="2800" b="1" dirty="0">
                <a:latin typeface="Arial" panose="020B0604020202020204" pitchFamily="34" charset="0"/>
                <a:cs typeface="Arial" panose="020B0604020202020204" pitchFamily="34" charset="0"/>
              </a:rPr>
              <a:t>commitment</a:t>
            </a:r>
            <a:r>
              <a:rPr lang="en-GB" altLang="en-US" sz="2800" dirty="0">
                <a:latin typeface="Arial" panose="020B0604020202020204" pitchFamily="34" charset="0"/>
                <a:cs typeface="Arial" panose="020B0604020202020204" pitchFamily="34" charset="0"/>
              </a:rPr>
              <a:t> to the inclusion of </a:t>
            </a:r>
            <a:r>
              <a:rPr lang="en-GB" altLang="en-US" sz="2800" b="1" dirty="0">
                <a:latin typeface="Arial" panose="020B0604020202020204" pitchFamily="34" charset="0"/>
                <a:cs typeface="Arial" panose="020B0604020202020204" pitchFamily="34" charset="0"/>
              </a:rPr>
              <a:t>all</a:t>
            </a:r>
            <a:r>
              <a:rPr lang="en-GB" altLang="en-US" sz="2800" dirty="0">
                <a:latin typeface="Arial" panose="020B0604020202020204" pitchFamily="34" charset="0"/>
                <a:cs typeface="Arial" panose="020B0604020202020204" pitchFamily="34" charset="0"/>
              </a:rPr>
              <a:t> children with attachment disorders and complex needs</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Need to discuss? </a:t>
            </a:r>
          </a:p>
          <a:p>
            <a:pPr marL="457200" indent="-457200">
              <a:buFont typeface="Arial" panose="020B0604020202020204" pitchFamily="34" charset="0"/>
              <a:buChar char="•"/>
            </a:pPr>
            <a:r>
              <a:rPr lang="en-GB" altLang="en-US" sz="2800" dirty="0">
                <a:latin typeface="Arial" panose="020B0604020202020204" pitchFamily="34" charset="0"/>
                <a:cs typeface="Arial" panose="020B0604020202020204" pitchFamily="34" charset="0"/>
              </a:rPr>
              <a:t>Implications?</a:t>
            </a:r>
          </a:p>
        </p:txBody>
      </p:sp>
    </p:spTree>
    <p:extLst>
      <p:ext uri="{BB962C8B-B14F-4D97-AF65-F5344CB8AC3E}">
        <p14:creationId xmlns:p14="http://schemas.microsoft.com/office/powerpoint/2010/main" val="3379847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NK INTRO GREY-PPTNURTUR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5 CuadroTexto"/>
          <p:cNvSpPr txBox="1">
            <a:spLocks noChangeArrowheads="1"/>
          </p:cNvSpPr>
          <p:nvPr/>
        </p:nvSpPr>
        <p:spPr bwMode="auto">
          <a:xfrm>
            <a:off x="135292" y="524188"/>
            <a:ext cx="8836090" cy="769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cs typeface="ＭＳ Ｐゴシック" charset="0"/>
              </a:defRPr>
            </a:lvl2pPr>
            <a:lvl3pPr marL="1143000" indent="-228600" eaLnBrk="0" hangingPunct="0">
              <a:defRPr>
                <a:solidFill>
                  <a:schemeClr val="tx1"/>
                </a:solidFill>
                <a:latin typeface="Arial" charset="0"/>
                <a:ea typeface="ＭＳ Ｐゴシック" charset="0"/>
                <a:cs typeface="ＭＳ Ｐゴシック" charset="0"/>
              </a:defRPr>
            </a:lvl3pPr>
            <a:lvl4pPr marL="1600200" indent="-228600" eaLnBrk="0" hangingPunct="0">
              <a:defRPr>
                <a:solidFill>
                  <a:schemeClr val="tx1"/>
                </a:solidFill>
                <a:latin typeface="Arial" charset="0"/>
                <a:ea typeface="ＭＳ Ｐゴシック" charset="0"/>
                <a:cs typeface="ＭＳ Ｐゴシック" charset="0"/>
              </a:defRPr>
            </a:lvl4pPr>
            <a:lvl5pPr marL="2057400" indent="-228600" eaLnBrk="0" hangingPunct="0">
              <a:defRPr>
                <a:solidFill>
                  <a:schemeClr val="tx1"/>
                </a:solidFill>
                <a:latin typeface="Arial" charset="0"/>
                <a:ea typeface="ＭＳ Ｐゴシック" charset="0"/>
                <a:cs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cs typeface="ＭＳ Ｐゴシック" charset="0"/>
              </a:defRPr>
            </a:lvl9pPr>
          </a:lstStyle>
          <a:p>
            <a:pPr algn="ctr" eaLnBrk="1" hangingPunct="1"/>
            <a:r>
              <a:rPr lang="en-GB" sz="4400" dirty="0"/>
              <a:t>Bibliography</a:t>
            </a:r>
            <a:endParaRPr lang="es-ES" sz="4400" dirty="0">
              <a:solidFill>
                <a:schemeClr val="bg1">
                  <a:lumMod val="50000"/>
                </a:schemeClr>
              </a:solidFill>
              <a:latin typeface="Calibri" charset="0"/>
            </a:endParaRPr>
          </a:p>
        </p:txBody>
      </p:sp>
      <p:sp>
        <p:nvSpPr>
          <p:cNvPr id="3" name="Rectangle 2"/>
          <p:cNvSpPr/>
          <p:nvPr/>
        </p:nvSpPr>
        <p:spPr>
          <a:xfrm>
            <a:off x="307909" y="1436631"/>
            <a:ext cx="8490857" cy="4893647"/>
          </a:xfrm>
          <a:prstGeom prst="rect">
            <a:avLst/>
          </a:prstGeom>
        </p:spPr>
        <p:txBody>
          <a:bodyPr wrap="square">
            <a:spAutoFit/>
          </a:bodyPr>
          <a:lstStyle/>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Bomber L M (2007) “Inside I’m Hurting”, Worth Publishing, London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Boyd Webb N (ed) (2006) “Working with Traumatized Youth in Child Welfare”, Guildford Press, NY</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Cairns K &amp; Stanway C (2004) “Learn the Child”, British Association for Adoption and Fostering (BAAF), London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Geddes H (2006) “Attachment in the Classroom”, Worth Publishing, London</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Hughes D (2003) “Psychological intervention for the spectrum of attachment disorders and intrafamilial trauma. Attachment and Human Development 5, 271-279</a:t>
            </a:r>
          </a:p>
          <a:p>
            <a:pPr marL="342900" indent="-342900">
              <a:buFont typeface="Arial" panose="020B0604020202020204" pitchFamily="34" charset="0"/>
              <a:buChar char="•"/>
            </a:pPr>
            <a:r>
              <a:rPr lang="en-GB" altLang="en-US" sz="2400" dirty="0">
                <a:latin typeface="Arial" panose="020B0604020202020204" pitchFamily="34" charset="0"/>
                <a:cs typeface="Arial" panose="020B0604020202020204" pitchFamily="34" charset="0"/>
              </a:rPr>
              <a:t>Jemberg M and Booth P (1999) “Therapy”, 2</a:t>
            </a:r>
            <a:r>
              <a:rPr lang="en-GB" altLang="en-US" sz="2400" baseline="30000" dirty="0">
                <a:latin typeface="Arial" panose="020B0604020202020204" pitchFamily="34" charset="0"/>
                <a:cs typeface="Arial" panose="020B0604020202020204" pitchFamily="34" charset="0"/>
              </a:rPr>
              <a:t>nd</a:t>
            </a:r>
            <a:r>
              <a:rPr lang="en-GB" altLang="en-US" sz="2400" dirty="0">
                <a:latin typeface="Arial" panose="020B0604020202020204" pitchFamily="34" charset="0"/>
                <a:cs typeface="Arial" panose="020B0604020202020204" pitchFamily="34" charset="0"/>
              </a:rPr>
              <a:t> ed, Jossey-Bass, San Francisco</a:t>
            </a: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52657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438</TotalTime>
  <Words>3373</Words>
  <Application>Microsoft Office PowerPoint</Application>
  <PresentationFormat>On-screen Show (4:3)</PresentationFormat>
  <Paragraphs>517</Paragraphs>
  <Slides>54</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Aardvark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 Heath-Smith</dc:creator>
  <cp:lastModifiedBy>Scott Ighavongbe-Patrick</cp:lastModifiedBy>
  <cp:revision>50</cp:revision>
  <dcterms:created xsi:type="dcterms:W3CDTF">2012-12-28T16:36:22Z</dcterms:created>
  <dcterms:modified xsi:type="dcterms:W3CDTF">2021-07-13T14:01:58Z</dcterms:modified>
</cp:coreProperties>
</file>