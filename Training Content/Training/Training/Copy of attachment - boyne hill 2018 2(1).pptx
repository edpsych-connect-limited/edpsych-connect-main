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handoutMasterIdLst>
    <p:handoutMasterId r:id="rId20"/>
  </p:handoutMasterIdLst>
  <p:sldIdLst>
    <p:sldId id="302" r:id="rId2"/>
    <p:sldId id="298" r:id="rId3"/>
    <p:sldId id="277" r:id="rId4"/>
    <p:sldId id="310" r:id="rId5"/>
    <p:sldId id="311" r:id="rId6"/>
    <p:sldId id="306" r:id="rId7"/>
    <p:sldId id="315" r:id="rId8"/>
    <p:sldId id="332" r:id="rId9"/>
    <p:sldId id="334" r:id="rId10"/>
    <p:sldId id="333" r:id="rId11"/>
    <p:sldId id="335" r:id="rId12"/>
    <p:sldId id="325" r:id="rId13"/>
    <p:sldId id="326" r:id="rId14"/>
    <p:sldId id="331" r:id="rId15"/>
    <p:sldId id="327" r:id="rId16"/>
    <p:sldId id="328" r:id="rId17"/>
    <p:sldId id="274" r:id="rId18"/>
  </p:sldIdLst>
  <p:sldSz cx="9144000" cy="6858000" type="screen4x3"/>
  <p:notesSz cx="6669088" cy="98726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10">
          <p15:clr>
            <a:srgbClr val="A4A3A4"/>
          </p15:clr>
        </p15:guide>
        <p15:guide id="2" pos="210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434F"/>
    <a:srgbClr val="F4C23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8" autoAdjust="0"/>
    <p:restoredTop sz="82604" autoAdjust="0"/>
  </p:normalViewPr>
  <p:slideViewPr>
    <p:cSldViewPr snapToGrid="0" snapToObjects="1">
      <p:cViewPr varScale="1">
        <p:scale>
          <a:sx n="108" d="100"/>
          <a:sy n="108" d="100"/>
        </p:scale>
        <p:origin x="1326"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101" d="100"/>
          <a:sy n="101" d="100"/>
        </p:scale>
        <p:origin x="-3576" y="-90"/>
      </p:cViewPr>
      <p:guideLst>
        <p:guide orient="horz" pos="3110"/>
        <p:guide pos="210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363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77607" y="0"/>
            <a:ext cx="2889938" cy="493633"/>
          </a:xfrm>
          <a:prstGeom prst="rect">
            <a:avLst/>
          </a:prstGeom>
        </p:spPr>
        <p:txBody>
          <a:bodyPr vert="horz" lIns="91440" tIns="45720" rIns="91440" bIns="45720" rtlCol="0"/>
          <a:lstStyle>
            <a:lvl1pPr algn="r">
              <a:defRPr sz="1200"/>
            </a:lvl1pPr>
          </a:lstStyle>
          <a:p>
            <a:fld id="{4F6C760A-2CE5-4302-AE86-C5BA6FDB5047}" type="datetimeFigureOut">
              <a:rPr lang="en-GB" smtClean="0"/>
              <a:t>04/07/2019</a:t>
            </a:fld>
            <a:endParaRPr lang="en-GB"/>
          </a:p>
        </p:txBody>
      </p:sp>
      <p:sp>
        <p:nvSpPr>
          <p:cNvPr id="4" name="Footer Placeholder 3"/>
          <p:cNvSpPr>
            <a:spLocks noGrp="1"/>
          </p:cNvSpPr>
          <p:nvPr>
            <p:ph type="ftr" sz="quarter" idx="2"/>
          </p:nvPr>
        </p:nvSpPr>
        <p:spPr>
          <a:xfrm>
            <a:off x="0" y="9377316"/>
            <a:ext cx="2889938" cy="493633"/>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77607" y="9377316"/>
            <a:ext cx="2889938" cy="493633"/>
          </a:xfrm>
          <a:prstGeom prst="rect">
            <a:avLst/>
          </a:prstGeom>
        </p:spPr>
        <p:txBody>
          <a:bodyPr vert="horz" lIns="91440" tIns="45720" rIns="91440" bIns="45720" rtlCol="0" anchor="b"/>
          <a:lstStyle>
            <a:lvl1pPr algn="r">
              <a:defRPr sz="1200"/>
            </a:lvl1pPr>
          </a:lstStyle>
          <a:p>
            <a:fld id="{A7B771D0-031D-4396-B534-E54D87148D3B}" type="slidenum">
              <a:rPr lang="en-GB" smtClean="0"/>
              <a:t>‹#›</a:t>
            </a:fld>
            <a:endParaRPr lang="en-GB"/>
          </a:p>
        </p:txBody>
      </p:sp>
    </p:spTree>
    <p:extLst>
      <p:ext uri="{BB962C8B-B14F-4D97-AF65-F5344CB8AC3E}">
        <p14:creationId xmlns:p14="http://schemas.microsoft.com/office/powerpoint/2010/main" val="31344098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363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777607" y="0"/>
            <a:ext cx="2889938" cy="493633"/>
          </a:xfrm>
          <a:prstGeom prst="rect">
            <a:avLst/>
          </a:prstGeom>
        </p:spPr>
        <p:txBody>
          <a:bodyPr vert="horz" lIns="91440" tIns="45720" rIns="91440" bIns="45720" rtlCol="0"/>
          <a:lstStyle>
            <a:lvl1pPr algn="r">
              <a:defRPr sz="1200"/>
            </a:lvl1pPr>
          </a:lstStyle>
          <a:p>
            <a:fld id="{7C41A69C-352B-43B9-AE28-0996A6EA73E5}" type="datetimeFigureOut">
              <a:rPr lang="en-GB" smtClean="0"/>
              <a:pPr/>
              <a:t>04/07/2019</a:t>
            </a:fld>
            <a:endParaRPr lang="en-GB"/>
          </a:p>
        </p:txBody>
      </p:sp>
      <p:sp>
        <p:nvSpPr>
          <p:cNvPr id="4" name="Slide Image Placeholder 3"/>
          <p:cNvSpPr>
            <a:spLocks noGrp="1" noRot="1" noChangeAspect="1"/>
          </p:cNvSpPr>
          <p:nvPr>
            <p:ph type="sldImg" idx="2"/>
          </p:nvPr>
        </p:nvSpPr>
        <p:spPr>
          <a:xfrm>
            <a:off x="866775" y="739775"/>
            <a:ext cx="4935538" cy="3703638"/>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6909" y="4689515"/>
            <a:ext cx="5335270" cy="444269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9377316"/>
            <a:ext cx="2889938" cy="493633"/>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777607" y="9377316"/>
            <a:ext cx="2889938" cy="493633"/>
          </a:xfrm>
          <a:prstGeom prst="rect">
            <a:avLst/>
          </a:prstGeom>
        </p:spPr>
        <p:txBody>
          <a:bodyPr vert="horz" lIns="91440" tIns="45720" rIns="91440" bIns="45720" rtlCol="0" anchor="b"/>
          <a:lstStyle>
            <a:lvl1pPr algn="r">
              <a:defRPr sz="1200"/>
            </a:lvl1pPr>
          </a:lstStyle>
          <a:p>
            <a:fld id="{B7582B9D-753F-4FD4-BB27-488C70B508F1}" type="slidenum">
              <a:rPr lang="en-GB" smtClean="0"/>
              <a:pPr/>
              <a:t>‹#›</a:t>
            </a:fld>
            <a:endParaRPr lang="en-GB"/>
          </a:p>
        </p:txBody>
      </p:sp>
    </p:spTree>
    <p:extLst>
      <p:ext uri="{BB962C8B-B14F-4D97-AF65-F5344CB8AC3E}">
        <p14:creationId xmlns:p14="http://schemas.microsoft.com/office/powerpoint/2010/main" val="1385338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1</a:t>
            </a:fld>
            <a:endParaRPr lang="en-GB"/>
          </a:p>
        </p:txBody>
      </p:sp>
    </p:spTree>
    <p:extLst>
      <p:ext uri="{BB962C8B-B14F-4D97-AF65-F5344CB8AC3E}">
        <p14:creationId xmlns:p14="http://schemas.microsoft.com/office/powerpoint/2010/main" val="18360873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GB" altLang="en-US" dirty="0" smtClean="0"/>
              <a:t>1</a:t>
            </a:r>
            <a:r>
              <a:rPr lang="en-GB" altLang="en-US" baseline="30000" dirty="0" smtClean="0"/>
              <a:t>st</a:t>
            </a:r>
            <a:r>
              <a:rPr lang="en-GB" altLang="en-US" dirty="0" smtClean="0"/>
              <a:t> – secure – needs met both physically and emotionally – doesn’t have to be perfect – but predictable </a:t>
            </a:r>
          </a:p>
          <a:p>
            <a:pPr eaLnBrk="1" hangingPunct="1"/>
            <a:r>
              <a:rPr lang="en-GB" altLang="en-US" dirty="0" smtClean="0"/>
              <a:t>2</a:t>
            </a:r>
            <a:r>
              <a:rPr lang="en-GB" altLang="en-US" baseline="30000" dirty="0" smtClean="0"/>
              <a:t>nd</a:t>
            </a:r>
            <a:r>
              <a:rPr lang="en-GB" altLang="en-US" dirty="0" smtClean="0"/>
              <a:t> – constantly pressing the button – never know/sure what will happen – child that is constantly asking – may have answered/acknowledged many times</a:t>
            </a:r>
          </a:p>
          <a:p>
            <a:pPr eaLnBrk="1" hangingPunct="1"/>
            <a:r>
              <a:rPr lang="en-GB" altLang="en-US" dirty="0" smtClean="0"/>
              <a:t>3</a:t>
            </a:r>
            <a:r>
              <a:rPr lang="en-GB" altLang="en-US" baseline="30000" dirty="0" smtClean="0"/>
              <a:t>rd</a:t>
            </a:r>
            <a:r>
              <a:rPr lang="en-GB" altLang="en-US" dirty="0" smtClean="0"/>
              <a:t> – no response – therefore have to make their own way – hardest to shift (e.g.)steals in bins for food even though food needs now being met</a:t>
            </a:r>
          </a:p>
          <a:p>
            <a:pPr eaLnBrk="1" hangingPunct="1"/>
            <a:endParaRPr lang="en-GB" altLang="en-US" dirty="0" smtClean="0"/>
          </a:p>
          <a:p>
            <a:pPr eaLnBrk="1" hangingPunct="1"/>
            <a:r>
              <a:rPr lang="en-GB" altLang="en-US" dirty="0" smtClean="0"/>
              <a:t>What happens when put in house where the button now works?</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a:t>
            </a:fld>
            <a:endParaRPr lang="en-GB"/>
          </a:p>
        </p:txBody>
      </p:sp>
    </p:spTree>
    <p:extLst>
      <p:ext uri="{BB962C8B-B14F-4D97-AF65-F5344CB8AC3E}">
        <p14:creationId xmlns:p14="http://schemas.microsoft.com/office/powerpoint/2010/main" val="3451419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GB" altLang="en-US" dirty="0" smtClean="0"/>
              <a:t>John Bowlby:</a:t>
            </a:r>
          </a:p>
          <a:p>
            <a:pPr eaLnBrk="1" hangingPunct="1"/>
            <a:r>
              <a:rPr lang="en-GB" altLang="en-US" dirty="0" smtClean="0"/>
              <a:t>.. A bond which ties.  It is the bond that ties the mother and baby together.  It has developed in order to protect us from predators.  It is central to our survival and well-being</a:t>
            </a:r>
          </a:p>
        </p:txBody>
      </p:sp>
      <p:sp>
        <p:nvSpPr>
          <p:cNvPr id="4" name="Slide Number Placeholder 3"/>
          <p:cNvSpPr>
            <a:spLocks noGrp="1"/>
          </p:cNvSpPr>
          <p:nvPr>
            <p:ph type="sldNum" sz="quarter" idx="10"/>
          </p:nvPr>
        </p:nvSpPr>
        <p:spPr/>
        <p:txBody>
          <a:bodyPr/>
          <a:lstStyle/>
          <a:p>
            <a:fld id="{B7582B9D-753F-4FD4-BB27-488C70B508F1}" type="slidenum">
              <a:rPr lang="en-GB" smtClean="0"/>
              <a:pPr/>
              <a:t>3</a:t>
            </a:fld>
            <a:endParaRPr lang="en-GB"/>
          </a:p>
        </p:txBody>
      </p:sp>
    </p:spTree>
    <p:extLst>
      <p:ext uri="{BB962C8B-B14F-4D97-AF65-F5344CB8AC3E}">
        <p14:creationId xmlns:p14="http://schemas.microsoft.com/office/powerpoint/2010/main" val="16661945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GB" altLang="en-US" dirty="0" smtClean="0"/>
              <a:t>John Bowlby:</a:t>
            </a:r>
          </a:p>
          <a:p>
            <a:pPr eaLnBrk="1" hangingPunct="1"/>
            <a:r>
              <a:rPr lang="en-GB" altLang="en-US" dirty="0" smtClean="0"/>
              <a:t>.. A bond which ties.  It is the bond that ties the mother and baby together.  It has developed in order to protect us from predators.  It is central to our survival and well-being</a:t>
            </a:r>
          </a:p>
        </p:txBody>
      </p:sp>
      <p:sp>
        <p:nvSpPr>
          <p:cNvPr id="4" name="Slide Number Placeholder 3"/>
          <p:cNvSpPr>
            <a:spLocks noGrp="1"/>
          </p:cNvSpPr>
          <p:nvPr>
            <p:ph type="sldNum" sz="quarter" idx="10"/>
          </p:nvPr>
        </p:nvSpPr>
        <p:spPr/>
        <p:txBody>
          <a:bodyPr/>
          <a:lstStyle/>
          <a:p>
            <a:fld id="{B7582B9D-753F-4FD4-BB27-488C70B508F1}" type="slidenum">
              <a:rPr lang="en-GB" smtClean="0"/>
              <a:pPr/>
              <a:t>4</a:t>
            </a:fld>
            <a:endParaRPr lang="en-GB"/>
          </a:p>
        </p:txBody>
      </p:sp>
    </p:spTree>
    <p:extLst>
      <p:ext uri="{BB962C8B-B14F-4D97-AF65-F5344CB8AC3E}">
        <p14:creationId xmlns:p14="http://schemas.microsoft.com/office/powerpoint/2010/main" val="16661945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dirty="0" smtClean="0"/>
              <a:t>Working with trauma: impact on staff – secondary stress.</a:t>
            </a:r>
          </a:p>
          <a:p>
            <a:endParaRPr lang="en-GB" altLang="en-US" dirty="0" smtClean="0"/>
          </a:p>
          <a:p>
            <a:r>
              <a:rPr lang="en-GB" altLang="en-US" dirty="0" smtClean="0"/>
              <a:t>Feelings that can result: hurt, angry, frustrated, intolerant, anxious, de-skilled.  Projection of feelings onto staff.</a:t>
            </a:r>
          </a:p>
        </p:txBody>
      </p:sp>
      <p:sp>
        <p:nvSpPr>
          <p:cNvPr id="4" name="Slide Number Placeholder 3"/>
          <p:cNvSpPr>
            <a:spLocks noGrp="1"/>
          </p:cNvSpPr>
          <p:nvPr>
            <p:ph type="sldNum" sz="quarter" idx="10"/>
          </p:nvPr>
        </p:nvSpPr>
        <p:spPr/>
        <p:txBody>
          <a:bodyPr/>
          <a:lstStyle/>
          <a:p>
            <a:fld id="{B7582B9D-753F-4FD4-BB27-488C70B508F1}" type="slidenum">
              <a:rPr lang="en-GB" smtClean="0"/>
              <a:pPr/>
              <a:t>5</a:t>
            </a:fld>
            <a:endParaRPr lang="en-GB"/>
          </a:p>
        </p:txBody>
      </p:sp>
    </p:spTree>
    <p:extLst>
      <p:ext uri="{BB962C8B-B14F-4D97-AF65-F5344CB8AC3E}">
        <p14:creationId xmlns:p14="http://schemas.microsoft.com/office/powerpoint/2010/main" val="1666194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dirty="0" smtClean="0"/>
              <a:t>Working with trauma: impact on staff – secondary stress.</a:t>
            </a:r>
          </a:p>
          <a:p>
            <a:endParaRPr lang="en-GB" altLang="en-US" dirty="0" smtClean="0"/>
          </a:p>
          <a:p>
            <a:r>
              <a:rPr lang="en-GB" altLang="en-US" dirty="0" smtClean="0"/>
              <a:t>Feelings that can result: hurt, angry, frustrated, intolerant, anxious, de-skilled.  Projection of feelings onto staff.</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6</a:t>
            </a:fld>
            <a:endParaRPr lang="en-GB"/>
          </a:p>
        </p:txBody>
      </p:sp>
    </p:spTree>
    <p:extLst>
      <p:ext uri="{BB962C8B-B14F-4D97-AF65-F5344CB8AC3E}">
        <p14:creationId xmlns:p14="http://schemas.microsoft.com/office/powerpoint/2010/main" val="32243059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p:spPr>
        <p:txBody>
          <a:bodyPr/>
          <a:lstStyle/>
          <a:p>
            <a:endParaRPr lang="en-US" altLang="en-US" smtClean="0"/>
          </a:p>
        </p:txBody>
      </p:sp>
      <p:sp>
        <p:nvSpPr>
          <p:cNvPr id="5632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1EC9CE31-843D-4C67-8D01-191847D61732}" type="slidenum">
              <a:rPr lang="en-GB" altLang="en-US" smtClean="0"/>
              <a:pPr eaLnBrk="1" hangingPunct="1">
                <a:spcBef>
                  <a:spcPct val="0"/>
                </a:spcBef>
              </a:pPr>
              <a:t>7</a:t>
            </a:fld>
            <a:endParaRPr lang="en-GB"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95BA6E0-8ACB-4F14-9729-014E545AB686}" type="slidenum">
              <a:rPr lang="en-GB" altLang="en-US" smtClean="0"/>
              <a:pPr eaLnBrk="1" hangingPunct="1">
                <a:spcBef>
                  <a:spcPct val="0"/>
                </a:spcBef>
              </a:pPr>
              <a:t>8</a:t>
            </a:fld>
            <a:endParaRPr lang="en-GB" altLang="en-US" smtClean="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p:spPr>
        <p:txBody>
          <a:bodyPr/>
          <a:lstStyle/>
          <a:p>
            <a:pPr eaLnBrk="1" hangingPunct="1"/>
            <a:r>
              <a:rPr lang="en-GB" altLang="en-US" dirty="0" smtClean="0"/>
              <a:t>Does not trust teacher/sees adult as a threat:</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en-US" sz="1200" dirty="0" smtClean="0">
                <a:latin typeface="Arial" charset="0"/>
              </a:rPr>
              <a:t>Very independent</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en-US" sz="1200" dirty="0" smtClean="0">
                <a:latin typeface="Arial" charset="0"/>
              </a:rPr>
              <a:t>Parent or adult is the ‘unsafe’ thing – violence, abuse, neglect, fear.</a:t>
            </a:r>
          </a:p>
          <a:p>
            <a:pPr marL="171450" indent="-171450" eaLnBrk="1" hangingPunct="1">
              <a:lnSpc>
                <a:spcPct val="80000"/>
              </a:lnSpc>
              <a:buFont typeface="Arial" panose="020B0604020202020204" pitchFamily="34" charset="0"/>
              <a:buChar char="•"/>
            </a:pPr>
            <a:r>
              <a:rPr lang="en-US" altLang="en-US" sz="1200" dirty="0" smtClean="0">
                <a:latin typeface="Arial" charset="0"/>
              </a:rPr>
              <a:t>Constant survival mode, </a:t>
            </a:r>
            <a:r>
              <a:rPr lang="en-GB" altLang="en-US" sz="1200" dirty="0" smtClean="0">
                <a:latin typeface="Arial" charset="0"/>
              </a:rPr>
              <a:t>hyper-vigilant </a:t>
            </a:r>
            <a:r>
              <a:rPr lang="en-US" altLang="en-US" sz="1200" dirty="0" smtClean="0">
                <a:latin typeface="Arial" charset="0"/>
              </a:rPr>
              <a:t>with a lack of trust for others</a:t>
            </a:r>
          </a:p>
          <a:p>
            <a:pPr marL="171450" indent="-171450" eaLnBrk="1" hangingPunct="1">
              <a:lnSpc>
                <a:spcPct val="80000"/>
              </a:lnSpc>
              <a:buFont typeface="Arial" panose="020B0604020202020204" pitchFamily="34" charset="0"/>
              <a:buChar char="•"/>
            </a:pPr>
            <a:r>
              <a:rPr lang="en-US" altLang="en-US" sz="1200" dirty="0" smtClean="0">
                <a:latin typeface="Arial" charset="0"/>
              </a:rPr>
              <a:t>Perceive others as resources to be used</a:t>
            </a:r>
          </a:p>
          <a:p>
            <a:pPr marL="171450" indent="-171450" eaLnBrk="1" hangingPunct="1">
              <a:lnSpc>
                <a:spcPct val="80000"/>
              </a:lnSpc>
              <a:buFont typeface="Arial" panose="020B0604020202020204" pitchFamily="34" charset="0"/>
              <a:buChar char="•"/>
            </a:pPr>
            <a:r>
              <a:rPr lang="en-US" altLang="en-US" sz="1200" dirty="0" smtClean="0">
                <a:latin typeface="Arial" charset="0"/>
              </a:rPr>
              <a:t>Difficulties forming close friendships, loving </a:t>
            </a:r>
            <a:r>
              <a:rPr lang="en-US" altLang="en-US" sz="1200" dirty="0" err="1" smtClean="0">
                <a:latin typeface="Arial" charset="0"/>
              </a:rPr>
              <a:t>carers</a:t>
            </a:r>
            <a:r>
              <a:rPr lang="en-US" altLang="en-US" sz="1200" dirty="0" smtClean="0">
                <a:latin typeface="Arial" charset="0"/>
              </a:rPr>
              <a:t> may be an overwhelming threat. </a:t>
            </a:r>
          </a:p>
          <a:p>
            <a:pPr eaLnBrk="1" hangingPunct="1"/>
            <a:endParaRPr lang="en-GB" altLang="en-US" dirty="0" smtClean="0"/>
          </a:p>
          <a:p>
            <a:pPr eaLnBrk="1" hangingPunct="1"/>
            <a:r>
              <a:rPr lang="en-GB" altLang="en-US" dirty="0" smtClean="0"/>
              <a:t>Reliant</a:t>
            </a:r>
            <a:r>
              <a:rPr lang="en-GB" altLang="en-US" baseline="0" dirty="0" smtClean="0"/>
              <a:t> on teacher attention: </a:t>
            </a:r>
          </a:p>
          <a:p>
            <a:pPr marL="171450" indent="-171450">
              <a:lnSpc>
                <a:spcPct val="90000"/>
              </a:lnSpc>
              <a:buFont typeface="Arial" panose="020B0604020202020204" pitchFamily="34" charset="0"/>
              <a:buChar char="•"/>
            </a:pPr>
            <a:r>
              <a:rPr lang="en-GB" altLang="en-US" sz="1200" dirty="0" smtClean="0">
                <a:latin typeface="Arial" charset="0"/>
              </a:rPr>
              <a:t>Led by separation anxiety. The attention of the teacher is the primary need and pre-occupation and the task can seem an intrusion and a threat.</a:t>
            </a:r>
          </a:p>
          <a:p>
            <a:pPr marL="171450" indent="-171450">
              <a:lnSpc>
                <a:spcPct val="90000"/>
              </a:lnSpc>
              <a:buFont typeface="Arial" panose="020B0604020202020204" pitchFamily="34" charset="0"/>
              <a:buChar char="•"/>
            </a:pPr>
            <a:r>
              <a:rPr lang="en-GB" altLang="en-US" sz="1200" dirty="0" smtClean="0">
                <a:latin typeface="Arial" charset="0"/>
              </a:rPr>
              <a:t>Can seem anxious, clingy, but also feels angry towards the person s/he is dependent on.</a:t>
            </a:r>
          </a:p>
          <a:p>
            <a:pPr marL="171450" indent="-171450">
              <a:lnSpc>
                <a:spcPct val="90000"/>
              </a:lnSpc>
              <a:buFont typeface="Arial" panose="020B0604020202020204" pitchFamily="34" charset="0"/>
              <a:buChar char="•"/>
            </a:pPr>
            <a:r>
              <a:rPr lang="en-GB" altLang="en-US" sz="1200" dirty="0" smtClean="0">
                <a:latin typeface="Arial" charset="0"/>
              </a:rPr>
              <a:t>Teacher can experience as relentless attention seeking- child often given additional support – which can sustain anxiety and reduce independence and autonomy – overly dependent on adults for help.</a:t>
            </a:r>
          </a:p>
          <a:p>
            <a:pPr marL="171450" indent="-171450">
              <a:lnSpc>
                <a:spcPct val="90000"/>
              </a:lnSpc>
              <a:buFont typeface="Arial" panose="020B0604020202020204" pitchFamily="34" charset="0"/>
              <a:buChar char="•"/>
            </a:pPr>
            <a:r>
              <a:rPr lang="en-GB" altLang="en-US" sz="1200" dirty="0" smtClean="0">
                <a:latin typeface="Arial" charset="0"/>
              </a:rPr>
              <a:t>May try to take control, tell teacher what to do.</a:t>
            </a:r>
          </a:p>
          <a:p>
            <a:pPr eaLnBrk="1" hangingPunct="1"/>
            <a:endParaRPr lang="en-GB" alt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9</a:t>
            </a:fld>
            <a:endParaRPr lang="en-GB"/>
          </a:p>
        </p:txBody>
      </p:sp>
    </p:spTree>
    <p:extLst>
      <p:ext uri="{BB962C8B-B14F-4D97-AF65-F5344CB8AC3E}">
        <p14:creationId xmlns:p14="http://schemas.microsoft.com/office/powerpoint/2010/main" val="30328494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95BA6E0-8ACB-4F14-9729-014E545AB686}" type="slidenum">
              <a:rPr lang="en-GB" altLang="en-US" smtClean="0"/>
              <a:pPr eaLnBrk="1" hangingPunct="1">
                <a:spcBef>
                  <a:spcPct val="0"/>
                </a:spcBef>
              </a:pPr>
              <a:t>10</a:t>
            </a:fld>
            <a:endParaRPr lang="en-GB" altLang="en-US" smtClean="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p:spPr>
        <p:txBody>
          <a:bodyPr/>
          <a:lstStyle/>
          <a:p>
            <a:pPr eaLnBrk="1" hangingPunct="1"/>
            <a:r>
              <a:rPr lang="en-GB" altLang="en-US" dirty="0" smtClean="0"/>
              <a:t>Limited resilience</a:t>
            </a:r>
            <a:r>
              <a:rPr lang="en-GB" altLang="en-US" baseline="0" dirty="0" smtClean="0"/>
              <a:t>/confidence</a:t>
            </a:r>
            <a:endParaRPr lang="en-GB" altLang="en-US" dirty="0" smtClean="0"/>
          </a:p>
          <a:p>
            <a:pPr eaLnBrk="1" hangingPunct="1"/>
            <a:endParaRPr lang="en-GB" altLang="en-US" dirty="0" smtClean="0"/>
          </a:p>
          <a:p>
            <a:pPr eaLnBrk="1" hangingPunct="1"/>
            <a:r>
              <a:rPr lang="en-GB" altLang="en-US" dirty="0" smtClean="0"/>
              <a:t>Independent</a:t>
            </a:r>
            <a:r>
              <a:rPr lang="en-GB" altLang="en-US" baseline="0" dirty="0" smtClean="0"/>
              <a:t>:</a:t>
            </a:r>
          </a:p>
          <a:p>
            <a:pPr>
              <a:defRPr/>
            </a:pPr>
            <a:r>
              <a:rPr lang="en-GB" sz="1200" dirty="0" smtClean="0">
                <a:latin typeface="Arial" panose="020B0604020202020204" pitchFamily="34" charset="0"/>
                <a:cs typeface="Arial" panose="020B0604020202020204" pitchFamily="34" charset="0"/>
              </a:rPr>
              <a:t>Self-reliant (lack of exploration)</a:t>
            </a:r>
          </a:p>
          <a:p>
            <a:pPr>
              <a:lnSpc>
                <a:spcPct val="90000"/>
              </a:lnSpc>
            </a:pPr>
            <a:r>
              <a:rPr lang="en-GB" altLang="en-US" sz="1200" dirty="0" smtClean="0">
                <a:latin typeface="Arial" charset="0"/>
              </a:rPr>
              <a:t>Transitions very difficult. Can lead to school phobia.</a:t>
            </a:r>
          </a:p>
          <a:p>
            <a:pPr>
              <a:lnSpc>
                <a:spcPct val="90000"/>
              </a:lnSpc>
            </a:pPr>
            <a:r>
              <a:rPr lang="en-GB" altLang="en-US" sz="1200" baseline="0" dirty="0" smtClean="0">
                <a:latin typeface="Arial" charset="0"/>
              </a:rPr>
              <a:t>Internalizes difficulties (it was all my fault)</a:t>
            </a:r>
          </a:p>
          <a:p>
            <a:pPr>
              <a:lnSpc>
                <a:spcPct val="90000"/>
              </a:lnSpc>
            </a:pPr>
            <a:r>
              <a:rPr lang="en-GB" altLang="en-US" dirty="0" smtClean="0">
                <a:latin typeface="Arial" charset="0"/>
                <a:cs typeface="Arial" charset="0"/>
              </a:rPr>
              <a:t>the humiliation of not knowing and fear of what they do not know</a:t>
            </a:r>
            <a:endParaRPr lang="en-GB" altLang="en-US" baseline="0" dirty="0" smtClean="0"/>
          </a:p>
          <a:p>
            <a:pPr eaLnBrk="1" hangingPunct="1"/>
            <a:endParaRPr lang="en-GB" altLang="en-US" baseline="0" dirty="0" smtClean="0"/>
          </a:p>
          <a:p>
            <a:pPr eaLnBrk="1" hangingPunct="1"/>
            <a:r>
              <a:rPr lang="en-GB" altLang="en-US" baseline="0" dirty="0" smtClean="0"/>
              <a:t>Refusal:</a:t>
            </a:r>
          </a:p>
          <a:p>
            <a:pPr eaLnBrk="1" hangingPunct="1">
              <a:lnSpc>
                <a:spcPct val="80000"/>
              </a:lnSpc>
            </a:pPr>
            <a:r>
              <a:rPr lang="en-US" altLang="en-US" sz="1200" dirty="0" smtClean="0">
                <a:latin typeface="Arial" charset="0"/>
              </a:rPr>
              <a:t>Inability to develop impulse controls or regulate stress (lying, stealing, violence, self-harm)</a:t>
            </a:r>
          </a:p>
          <a:p>
            <a:pPr eaLnBrk="1" hangingPunct="1">
              <a:lnSpc>
                <a:spcPct val="80000"/>
              </a:lnSpc>
            </a:pPr>
            <a:r>
              <a:rPr lang="en-US" altLang="en-US" sz="1200" dirty="0" smtClean="0">
                <a:latin typeface="Arial" charset="0"/>
              </a:rPr>
              <a:t>Unlikely to use language effectively</a:t>
            </a:r>
          </a:p>
          <a:p>
            <a:pPr eaLnBrk="1" hangingPunct="1">
              <a:lnSpc>
                <a:spcPct val="80000"/>
              </a:lnSpc>
            </a:pPr>
            <a:r>
              <a:rPr lang="en-US" altLang="en-US" sz="1200" dirty="0" smtClean="0">
                <a:latin typeface="Arial" charset="0"/>
              </a:rPr>
              <a:t>Excessive anxiety often linked to shame</a:t>
            </a:r>
          </a:p>
          <a:p>
            <a:pPr eaLnBrk="1" hangingPunct="1"/>
            <a:endParaRPr lang="en-GB" altLang="en-US"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11</a:t>
            </a:fld>
            <a:endParaRPr lang="en-GB"/>
          </a:p>
        </p:txBody>
      </p:sp>
    </p:spTree>
    <p:extLst>
      <p:ext uri="{BB962C8B-B14F-4D97-AF65-F5344CB8AC3E}">
        <p14:creationId xmlns:p14="http://schemas.microsoft.com/office/powerpoint/2010/main" val="37626162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p:spPr>
        <p:txBody>
          <a:bodyPr/>
          <a:lstStyle/>
          <a:p>
            <a:pPr eaLnBrk="1" hangingPunct="1">
              <a:lnSpc>
                <a:spcPct val="90000"/>
              </a:lnSpc>
            </a:pPr>
            <a:r>
              <a:rPr lang="en-GB" altLang="en-US" smtClean="0">
                <a:latin typeface="Arial" charset="0"/>
              </a:rPr>
              <a:t>Classrooms that support autonomy by encouraging pupil choice and cooperative learning, rather than behaviour controlling, are associated with higher self esteem</a:t>
            </a:r>
          </a:p>
          <a:p>
            <a:pPr eaLnBrk="1" hangingPunct="1">
              <a:lnSpc>
                <a:spcPct val="90000"/>
              </a:lnSpc>
            </a:pPr>
            <a:r>
              <a:rPr lang="en-GB" altLang="en-US" smtClean="0">
                <a:latin typeface="Arial" charset="0"/>
              </a:rPr>
              <a:t>Children with low self esteem value structured, well controlled environments in which there is planned success, warmth and personal contact</a:t>
            </a:r>
          </a:p>
          <a:p>
            <a:pPr eaLnBrk="1" hangingPunct="1">
              <a:lnSpc>
                <a:spcPct val="90000"/>
              </a:lnSpc>
            </a:pPr>
            <a:r>
              <a:rPr lang="en-GB" altLang="en-US" smtClean="0">
                <a:latin typeface="Arial" charset="0"/>
              </a:rPr>
              <a:t>Children need to experience success and to attribute that success to something they have carried out themselves</a:t>
            </a:r>
          </a:p>
          <a:p>
            <a:pPr eaLnBrk="1" hangingPunct="1">
              <a:lnSpc>
                <a:spcPct val="90000"/>
              </a:lnSpc>
            </a:pPr>
            <a:r>
              <a:rPr lang="en-GB" altLang="en-US" smtClean="0">
                <a:latin typeface="Arial" charset="0"/>
              </a:rPr>
              <a:t>Praise needs to be specific and informative</a:t>
            </a:r>
          </a:p>
          <a:p>
            <a:endParaRPr lang="en-US" altLang="en-US" smtClean="0"/>
          </a:p>
        </p:txBody>
      </p:sp>
      <p:sp>
        <p:nvSpPr>
          <p:cNvPr id="6656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7F7F2B40-7ACC-40A0-8B01-A75B0E03D9F9}" type="slidenum">
              <a:rPr lang="en-GB" altLang="en-US" smtClean="0"/>
              <a:pPr eaLnBrk="1" hangingPunct="1">
                <a:spcBef>
                  <a:spcPct val="0"/>
                </a:spcBef>
              </a:pPr>
              <a:t>12</a:t>
            </a:fld>
            <a:endParaRPr lang="en-GB"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p:spPr>
        <p:txBody>
          <a:bodyPr/>
          <a:lstStyle/>
          <a:p>
            <a:endParaRPr lang="en-US" altLang="en-US" dirty="0" smtClean="0"/>
          </a:p>
        </p:txBody>
      </p:sp>
      <p:sp>
        <p:nvSpPr>
          <p:cNvPr id="67588"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A5C1074-C337-49CE-BCA9-BF1E7B2E6A6F}" type="slidenum">
              <a:rPr lang="en-GB" altLang="en-US" smtClean="0"/>
              <a:pPr eaLnBrk="1" hangingPunct="1">
                <a:spcBef>
                  <a:spcPct val="0"/>
                </a:spcBef>
              </a:pPr>
              <a:t>13</a:t>
            </a:fld>
            <a:endParaRPr lang="en-GB"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p:spPr>
        <p:txBody>
          <a:bodyPr/>
          <a:lstStyle/>
          <a:p>
            <a:r>
              <a:rPr lang="en-US" altLang="en-US" smtClean="0"/>
              <a:t>- Coventry grid</a:t>
            </a:r>
            <a:endParaRPr lang="en-US" altLang="en-US" dirty="0" smtClean="0"/>
          </a:p>
        </p:txBody>
      </p:sp>
      <p:sp>
        <p:nvSpPr>
          <p:cNvPr id="6656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7F7F2B40-7ACC-40A0-8B01-A75B0E03D9F9}" type="slidenum">
              <a:rPr lang="en-GB" altLang="en-US" smtClean="0"/>
              <a:pPr eaLnBrk="1" hangingPunct="1">
                <a:spcBef>
                  <a:spcPct val="0"/>
                </a:spcBef>
              </a:pPr>
              <a:t>14</a:t>
            </a:fld>
            <a:endParaRPr lang="en-GB"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p:spPr>
        <p:txBody>
          <a:bodyPr/>
          <a:lstStyle/>
          <a:p>
            <a:r>
              <a:rPr lang="en-GB" altLang="en-US" smtClean="0"/>
              <a:t>Working with trauma: impact on staff – secondary stress.</a:t>
            </a:r>
          </a:p>
          <a:p>
            <a:endParaRPr lang="en-GB" altLang="en-US" smtClean="0"/>
          </a:p>
          <a:p>
            <a:r>
              <a:rPr lang="en-GB" altLang="en-US" smtClean="0"/>
              <a:t>Feelings that can result: hurt, angry, frustrated, intolerant, anxious, de-skilled.  Projection of feelings onto staff.</a:t>
            </a:r>
          </a:p>
        </p:txBody>
      </p:sp>
      <p:sp>
        <p:nvSpPr>
          <p:cNvPr id="6861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C284398-48A1-477E-9B93-C77881CC6BDB}" type="slidenum">
              <a:rPr lang="en-GB" altLang="en-US" smtClean="0"/>
              <a:pPr eaLnBrk="1" hangingPunct="1">
                <a:spcBef>
                  <a:spcPct val="0"/>
                </a:spcBef>
              </a:pPr>
              <a:t>15</a:t>
            </a:fld>
            <a:endParaRPr lang="en-GB"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p:spPr>
        <p:txBody>
          <a:bodyPr/>
          <a:lstStyle/>
          <a:p>
            <a:endParaRPr lang="en-US" altLang="en-US" smtClean="0"/>
          </a:p>
        </p:txBody>
      </p:sp>
      <p:sp>
        <p:nvSpPr>
          <p:cNvPr id="6963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AF9A306-8A6D-4941-AE40-B41D8850862B}" type="slidenum">
              <a:rPr lang="en-GB" altLang="en-US" smtClean="0"/>
              <a:pPr eaLnBrk="1" hangingPunct="1">
                <a:spcBef>
                  <a:spcPct val="0"/>
                </a:spcBef>
              </a:pPr>
              <a:t>16</a:t>
            </a:fld>
            <a:endParaRPr lang="en-GB"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17</a:t>
            </a:fld>
            <a:endParaRPr lang="en-GB"/>
          </a:p>
        </p:txBody>
      </p:sp>
    </p:spTree>
    <p:extLst>
      <p:ext uri="{BB962C8B-B14F-4D97-AF65-F5344CB8AC3E}">
        <p14:creationId xmlns:p14="http://schemas.microsoft.com/office/powerpoint/2010/main" val="13759582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Grey Background)">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6" name="Picture 1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74767392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only">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49481573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rait image with text">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77912620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on grey background)">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9175323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trapline">
    <p:spTree>
      <p:nvGrpSpPr>
        <p:cNvPr id="1" name=""/>
        <p:cNvGrpSpPr/>
        <p:nvPr/>
      </p:nvGrpSpPr>
      <p:grpSpPr>
        <a:xfrm>
          <a:off x="0" y="0"/>
          <a:ext cx="0" cy="0"/>
          <a:chOff x="0" y="0"/>
          <a:chExt cx="0" cy="0"/>
        </a:xfrm>
      </p:grpSpPr>
      <p:pic>
        <p:nvPicPr>
          <p:cNvPr id="8" name="Picture 7" descr="AfC_PPT_Corporate_13A_backgrounds_2.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80000" cy="6885000"/>
          </a:xfrm>
          <a:prstGeom prst="rect">
            <a:avLst/>
          </a:prstGeom>
        </p:spPr>
      </p:pic>
    </p:spTree>
    <p:extLst>
      <p:ext uri="{BB962C8B-B14F-4D97-AF65-F5344CB8AC3E}">
        <p14:creationId xmlns:p14="http://schemas.microsoft.com/office/powerpoint/2010/main" val="226280642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d slide (on grey background)">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cxnSp>
        <p:nvCxnSpPr>
          <p:cNvPr id="8" name="Straight Connector 7"/>
          <p:cNvCxnSpPr/>
          <p:nvPr userDrawn="1"/>
        </p:nvCxnSpPr>
        <p:spPr>
          <a:xfrm>
            <a:off x="3396376" y="3460261"/>
            <a:ext cx="2434231"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17" name="Text Placeholder 8"/>
          <p:cNvSpPr>
            <a:spLocks noGrp="1"/>
          </p:cNvSpPr>
          <p:nvPr>
            <p:ph type="body" sz="quarter" idx="10" hasCustomPrompt="1"/>
          </p:nvPr>
        </p:nvSpPr>
        <p:spPr>
          <a:xfrm>
            <a:off x="1849683" y="2627088"/>
            <a:ext cx="5447880" cy="780685"/>
          </a:xfrm>
        </p:spPr>
        <p:txBody>
          <a:bodyPr>
            <a:normAutofit/>
          </a:bodyPr>
          <a:lstStyle>
            <a:lvl1pPr marL="0" indent="0" algn="ctr">
              <a:buFontTx/>
              <a:buNone/>
              <a:defRPr sz="3600" b="1" baseline="0">
                <a:solidFill>
                  <a:schemeClr val="bg1"/>
                </a:solidFill>
                <a:latin typeface="+mj-lt"/>
              </a:defRPr>
            </a:lvl1pPr>
          </a:lstStyle>
          <a:p>
            <a:pPr lvl="0"/>
            <a:r>
              <a:rPr lang="en-GB" dirty="0" smtClean="0"/>
              <a:t>Thank you </a:t>
            </a:r>
            <a:endParaRPr lang="en-US" dirty="0"/>
          </a:p>
        </p:txBody>
      </p:sp>
      <p:pic>
        <p:nvPicPr>
          <p:cNvPr id="6" name="Picture 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9423341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A823C-80D3-9242-A3DC-1A2C6C879196}" type="datetimeFigureOut">
              <a:rPr lang="en-US" smtClean="0"/>
              <a:pPr/>
              <a:t>7/4/2019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C3231D-557D-0245-BFA8-91B4157E4FCA}" type="slidenum">
              <a:rPr lang="en-US" smtClean="0"/>
              <a:pPr/>
              <a:t>‹#›</a:t>
            </a:fld>
            <a:endParaRPr lang="en-US"/>
          </a:p>
        </p:txBody>
      </p:sp>
    </p:spTree>
    <p:extLst>
      <p:ext uri="{BB962C8B-B14F-4D97-AF65-F5344CB8AC3E}">
        <p14:creationId xmlns:p14="http://schemas.microsoft.com/office/powerpoint/2010/main" val="216653699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5" r:id="rId3"/>
    <p:sldLayoutId id="2147483661" r:id="rId4"/>
    <p:sldLayoutId id="2147483682" r:id="rId5"/>
    <p:sldLayoutId id="2147483667" r:id="rId6"/>
  </p:sldLayoutIdLst>
  <p:timing>
    <p:tnLst>
      <p:par>
        <p:cTn id="1" dur="indefinite" restart="never" nodeType="tmRoot"/>
      </p:par>
    </p:tnLst>
  </p:timing>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hildrens Services &amp; Culture\CDSI\PPC - Comms\2540 AfC Rebranding\Branding development\Matter&amp;Co\Master Logo Suite\AFC Main Logo\CMYK\PNGs\With Strapline\AfC_CMYK-Strapline_foryellowbackgroun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0992" y="3975873"/>
            <a:ext cx="4772818" cy="2248522"/>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1"/>
          <p:cNvSpPr txBox="1">
            <a:spLocks/>
          </p:cNvSpPr>
          <p:nvPr/>
        </p:nvSpPr>
        <p:spPr>
          <a:xfrm>
            <a:off x="2114079" y="1664881"/>
            <a:ext cx="5279897" cy="11398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pPr>
            <a:r>
              <a:rPr lang="en-US" altLang="en-US" b="1" dirty="0" smtClean="0">
                <a:latin typeface="Arial" charset="0"/>
                <a:ea typeface="ＭＳ Ｐゴシック" pitchFamily="34" charset="-128"/>
              </a:rPr>
              <a:t>Attachment in Practice</a:t>
            </a:r>
          </a:p>
          <a:p>
            <a:pPr marL="0" indent="0" algn="ctr">
              <a:buFont typeface="Arial"/>
              <a:buNone/>
            </a:pPr>
            <a:r>
              <a:rPr lang="en-US" altLang="en-US" sz="2000" b="1" dirty="0" smtClean="0">
                <a:latin typeface="Arial" charset="0"/>
                <a:ea typeface="ＭＳ Ｐゴシック" pitchFamily="34" charset="-128"/>
              </a:rPr>
              <a:t>Boyne Hill Infant and Nursery School</a:t>
            </a:r>
            <a:endParaRPr lang="en-US" altLang="en-US" sz="2000" b="1" dirty="0">
              <a:latin typeface="Arial" charset="0"/>
              <a:ea typeface="ＭＳ Ｐゴシック" pitchFamily="34" charset="-128"/>
            </a:endParaRPr>
          </a:p>
        </p:txBody>
      </p:sp>
      <p:sp>
        <p:nvSpPr>
          <p:cNvPr id="6" name="Text Placeholder 2"/>
          <p:cNvSpPr txBox="1">
            <a:spLocks/>
          </p:cNvSpPr>
          <p:nvPr/>
        </p:nvSpPr>
        <p:spPr>
          <a:xfrm>
            <a:off x="2027389" y="2822512"/>
            <a:ext cx="5280025" cy="695325"/>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pPr>
            <a:r>
              <a:rPr lang="en-GB" dirty="0" smtClean="0"/>
              <a:t>Alec de Sausmarez</a:t>
            </a:r>
            <a:endParaRPr lang="en-GB" dirty="0"/>
          </a:p>
        </p:txBody>
      </p:sp>
    </p:spTree>
    <p:extLst>
      <p:ext uri="{BB962C8B-B14F-4D97-AF65-F5344CB8AC3E}">
        <p14:creationId xmlns:p14="http://schemas.microsoft.com/office/powerpoint/2010/main" val="13393520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4294967295"/>
          </p:nvPr>
        </p:nvSpPr>
        <p:spPr>
          <a:xfrm>
            <a:off x="658475" y="191739"/>
            <a:ext cx="7915370" cy="1167827"/>
          </a:xfrm>
        </p:spPr>
        <p:txBody>
          <a:bodyPr/>
          <a:lstStyle/>
          <a:p>
            <a:pPr marL="0" indent="0" algn="r">
              <a:buNone/>
            </a:pPr>
            <a:r>
              <a:rPr lang="en-US" sz="4400" dirty="0" smtClean="0">
                <a:solidFill>
                  <a:srgbClr val="47434F"/>
                </a:solidFill>
                <a:latin typeface="+mj-lt"/>
              </a:rPr>
              <a:t>The Story of the Three Mice</a:t>
            </a:r>
            <a:endParaRPr lang="en-US" sz="4400" dirty="0">
              <a:solidFill>
                <a:srgbClr val="47434F"/>
              </a:solidFill>
              <a:latin typeface="+mj-lt"/>
            </a:endParaRPr>
          </a:p>
        </p:txBody>
      </p:sp>
      <p:sp>
        <p:nvSpPr>
          <p:cNvPr id="10" name="Text Placeholder 9"/>
          <p:cNvSpPr>
            <a:spLocks noGrp="1"/>
          </p:cNvSpPr>
          <p:nvPr>
            <p:ph type="body" sz="quarter" idx="4294967295"/>
          </p:nvPr>
        </p:nvSpPr>
        <p:spPr>
          <a:xfrm>
            <a:off x="605555" y="1203521"/>
            <a:ext cx="8196153" cy="2812384"/>
          </a:xfrm>
        </p:spPr>
        <p:txBody>
          <a:bodyPr>
            <a:normAutofit fontScale="77500" lnSpcReduction="20000"/>
          </a:bodyPr>
          <a:lstStyle/>
          <a:p>
            <a:pPr>
              <a:lnSpc>
                <a:spcPct val="90000"/>
              </a:lnSpc>
            </a:pPr>
            <a:r>
              <a:rPr lang="en-GB" altLang="en-US" sz="4000" dirty="0">
                <a:latin typeface="Arial" charset="0"/>
              </a:rPr>
              <a:t>First mouse – each time he pressed the button a tasty morsel of food was delivered.</a:t>
            </a:r>
          </a:p>
          <a:p>
            <a:pPr>
              <a:lnSpc>
                <a:spcPct val="90000"/>
              </a:lnSpc>
            </a:pPr>
            <a:endParaRPr lang="en-GB" altLang="en-US" sz="4000" dirty="0">
              <a:latin typeface="Arial" charset="0"/>
            </a:endParaRPr>
          </a:p>
          <a:p>
            <a:pPr>
              <a:lnSpc>
                <a:spcPct val="90000"/>
              </a:lnSpc>
            </a:pPr>
            <a:r>
              <a:rPr lang="en-GB" altLang="en-US" sz="4000" dirty="0">
                <a:latin typeface="Arial" charset="0"/>
              </a:rPr>
              <a:t>Second mouse – faulty button delivered food inconsistently.</a:t>
            </a:r>
          </a:p>
          <a:p>
            <a:pPr>
              <a:lnSpc>
                <a:spcPct val="90000"/>
              </a:lnSpc>
            </a:pPr>
            <a:endParaRPr lang="en-GB" altLang="en-US" sz="4000" dirty="0">
              <a:latin typeface="Arial" charset="0"/>
            </a:endParaRPr>
          </a:p>
          <a:p>
            <a:pPr>
              <a:lnSpc>
                <a:spcPct val="90000"/>
              </a:lnSpc>
            </a:pPr>
            <a:r>
              <a:rPr lang="en-GB" altLang="en-US" sz="4000" dirty="0">
                <a:latin typeface="Arial" charset="0"/>
              </a:rPr>
              <a:t>Third mouse – Button didn’t work at</a:t>
            </a:r>
            <a:endParaRPr lang="en-GB" sz="4000" b="1" dirty="0" smtClean="0">
              <a:solidFill>
                <a:srgbClr val="47434F"/>
              </a:solidFill>
              <a:latin typeface="+mn-lt"/>
            </a:endParaRPr>
          </a:p>
        </p:txBody>
      </p:sp>
      <p:pic>
        <p:nvPicPr>
          <p:cNvPr id="1026" name="Picture 2" descr="C:\Users\ggc247\AppData\Local\Microsoft\Windows\Temporary Internet Files\Content.IE5\7S5JTO0T\cheese-mice[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789" y="4117371"/>
            <a:ext cx="2367004" cy="2335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1923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4294967295"/>
          </p:nvPr>
        </p:nvSpPr>
        <p:spPr>
          <a:xfrm>
            <a:off x="647717" y="191739"/>
            <a:ext cx="7829309" cy="1167827"/>
          </a:xfrm>
        </p:spPr>
        <p:txBody>
          <a:bodyPr/>
          <a:lstStyle/>
          <a:p>
            <a:pPr marL="0" indent="0" algn="r">
              <a:buNone/>
            </a:pPr>
            <a:r>
              <a:rPr lang="en-US" sz="4400" dirty="0" smtClean="0">
                <a:solidFill>
                  <a:srgbClr val="47434F"/>
                </a:solidFill>
                <a:latin typeface="+mj-lt"/>
              </a:rPr>
              <a:t>What is attachment?</a:t>
            </a:r>
            <a:endParaRPr lang="en-US" sz="4400" dirty="0">
              <a:solidFill>
                <a:srgbClr val="47434F"/>
              </a:solidFill>
              <a:latin typeface="+mj-lt"/>
            </a:endParaRPr>
          </a:p>
        </p:txBody>
      </p:sp>
      <p:sp>
        <p:nvSpPr>
          <p:cNvPr id="8" name="Text Placeholder 9"/>
          <p:cNvSpPr>
            <a:spLocks noGrp="1"/>
          </p:cNvSpPr>
          <p:nvPr>
            <p:ph type="body" sz="quarter" idx="4294967295"/>
          </p:nvPr>
        </p:nvSpPr>
        <p:spPr>
          <a:xfrm>
            <a:off x="647717" y="1176587"/>
            <a:ext cx="7829309" cy="4955272"/>
          </a:xfrm>
        </p:spPr>
        <p:txBody>
          <a:bodyPr/>
          <a:lstStyle/>
          <a:p>
            <a:pPr>
              <a:buNone/>
            </a:pPr>
            <a:endParaRPr lang="en-US" altLang="en-US" sz="2400" dirty="0" smtClean="0">
              <a:latin typeface="Arial" charset="0"/>
            </a:endParaRPr>
          </a:p>
          <a:p>
            <a:pPr>
              <a:buNone/>
            </a:pPr>
            <a:endParaRPr lang="en-US" altLang="en-US" sz="2400" dirty="0" smtClean="0">
              <a:latin typeface="Arial" charset="0"/>
            </a:endParaRPr>
          </a:p>
          <a:p>
            <a:r>
              <a:rPr lang="en-US" altLang="en-US" sz="2400" dirty="0" smtClean="0">
                <a:latin typeface="Arial" charset="0"/>
              </a:rPr>
              <a:t>The dependency </a:t>
            </a:r>
            <a:r>
              <a:rPr lang="en-US" altLang="en-US" sz="2400" dirty="0">
                <a:latin typeface="Arial" charset="0"/>
              </a:rPr>
              <a:t>relationship a child develops towards his or her primary </a:t>
            </a:r>
            <a:r>
              <a:rPr lang="en-US" altLang="en-US" sz="2400" dirty="0" smtClean="0">
                <a:latin typeface="Arial" charset="0"/>
              </a:rPr>
              <a:t>caregivers.</a:t>
            </a:r>
            <a:br>
              <a:rPr lang="en-US" altLang="en-US" sz="2400" dirty="0" smtClean="0">
                <a:latin typeface="Arial" charset="0"/>
              </a:rPr>
            </a:br>
            <a:endParaRPr lang="en-US" altLang="en-US" sz="2400" dirty="0" smtClean="0">
              <a:latin typeface="Arial" charset="0"/>
            </a:endParaRPr>
          </a:p>
          <a:p>
            <a:r>
              <a:rPr lang="en-US" altLang="en-US" sz="2400" dirty="0" smtClean="0">
                <a:latin typeface="Arial" charset="0"/>
              </a:rPr>
              <a:t>A </a:t>
            </a:r>
            <a:r>
              <a:rPr lang="en-US" altLang="en-US" sz="2400" dirty="0">
                <a:latin typeface="Arial" charset="0"/>
              </a:rPr>
              <a:t>deep, loving human relationship in early life is at the very core of self-esteem</a:t>
            </a:r>
          </a:p>
        </p:txBody>
      </p:sp>
      <p:pic>
        <p:nvPicPr>
          <p:cNvPr id="3076" name="Picture 4" descr="C:\Users\ggc247\AppData\Local\Microsoft\Windows\Temporary Internet Files\Content.IE5\V0UHAFSG\Parent-and-Child-holding-hands-icon-3343-larg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024" y="4641010"/>
            <a:ext cx="2141882" cy="2052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1923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4294967295"/>
          </p:nvPr>
        </p:nvSpPr>
        <p:spPr>
          <a:xfrm>
            <a:off x="2907101" y="123076"/>
            <a:ext cx="3361067" cy="1166812"/>
          </a:xfrm>
        </p:spPr>
        <p:txBody>
          <a:bodyPr/>
          <a:lstStyle/>
          <a:p>
            <a:pPr marL="0" indent="0" algn="r">
              <a:buNone/>
            </a:pPr>
            <a:r>
              <a:rPr lang="en-US" sz="4400" dirty="0" smtClean="0">
                <a:solidFill>
                  <a:srgbClr val="47434F"/>
                </a:solidFill>
                <a:latin typeface="+mj-lt"/>
              </a:rPr>
              <a:t>Neuroscience</a:t>
            </a:r>
            <a:endParaRPr lang="en-US" sz="4400" dirty="0">
              <a:solidFill>
                <a:srgbClr val="47434F"/>
              </a:solidFill>
              <a:latin typeface="+mj-lt"/>
            </a:endParaRPr>
          </a:p>
        </p:txBody>
      </p:sp>
      <p:sp>
        <p:nvSpPr>
          <p:cNvPr id="8" name="Text Placeholder 9"/>
          <p:cNvSpPr>
            <a:spLocks noGrp="1"/>
          </p:cNvSpPr>
          <p:nvPr>
            <p:ph type="body" sz="quarter" idx="4294967295"/>
          </p:nvPr>
        </p:nvSpPr>
        <p:spPr>
          <a:xfrm>
            <a:off x="381664" y="4917057"/>
            <a:ext cx="8046720" cy="1215456"/>
          </a:xfrm>
        </p:spPr>
        <p:txBody>
          <a:bodyPr>
            <a:normAutofit fontScale="92500" lnSpcReduction="10000"/>
          </a:bodyPr>
          <a:lstStyle/>
          <a:p>
            <a:pPr>
              <a:defRPr/>
            </a:pPr>
            <a:r>
              <a:rPr lang="en-GB" sz="2400" dirty="0" smtClean="0">
                <a:latin typeface="Arial" panose="020B0604020202020204" pitchFamily="34" charset="0"/>
                <a:cs typeface="Arial" panose="020B0604020202020204" pitchFamily="34" charset="0"/>
              </a:rPr>
              <a:t>Difficulties remaining calm </a:t>
            </a:r>
          </a:p>
          <a:p>
            <a:pPr>
              <a:defRPr/>
            </a:pPr>
            <a:r>
              <a:rPr lang="en-GB" sz="2400" dirty="0" smtClean="0">
                <a:latin typeface="Arial" panose="020B0604020202020204" pitchFamily="34" charset="0"/>
                <a:cs typeface="Arial" panose="020B0604020202020204" pitchFamily="34" charset="0"/>
              </a:rPr>
              <a:t>Difficulties learning and taking on information</a:t>
            </a:r>
          </a:p>
          <a:p>
            <a:pPr>
              <a:defRPr/>
            </a:pPr>
            <a:r>
              <a:rPr lang="en-GB" sz="2400" dirty="0" smtClean="0">
                <a:latin typeface="Arial" panose="020B0604020202020204" pitchFamily="34" charset="0"/>
                <a:cs typeface="Arial" panose="020B0604020202020204" pitchFamily="34" charset="0"/>
              </a:rPr>
              <a:t>Difficulties with emotional regulation </a:t>
            </a:r>
          </a:p>
          <a:p>
            <a:pPr>
              <a:defRPr/>
            </a:pPr>
            <a:endParaRPr lang="en-GB" sz="2400" dirty="0">
              <a:latin typeface="Arial" panose="020B0604020202020204" pitchFamily="34" charset="0"/>
              <a:cs typeface="Arial" panose="020B0604020202020204" pitchFamily="34" charset="0"/>
            </a:endParaRPr>
          </a:p>
        </p:txBody>
      </p:sp>
      <p:pic>
        <p:nvPicPr>
          <p:cNvPr id="1026" name="Picture 2" descr="See the source image"/>
          <p:cNvPicPr>
            <a:picLocks noChangeAspect="1" noChangeArrowheads="1"/>
          </p:cNvPicPr>
          <p:nvPr/>
        </p:nvPicPr>
        <p:blipFill rotWithShape="1">
          <a:blip r:embed="rId3">
            <a:extLst>
              <a:ext uri="{28A0092B-C50C-407E-A947-70E740481C1C}">
                <a14:useLocalDpi xmlns:a14="http://schemas.microsoft.com/office/drawing/2010/main" val="0"/>
              </a:ext>
            </a:extLst>
          </a:blip>
          <a:srcRect b="4255"/>
          <a:stretch/>
        </p:blipFill>
        <p:spPr bwMode="auto">
          <a:xfrm>
            <a:off x="1880558" y="1017557"/>
            <a:ext cx="5555235" cy="3553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37972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4294967295"/>
          </p:nvPr>
        </p:nvSpPr>
        <p:spPr>
          <a:xfrm>
            <a:off x="647717" y="191739"/>
            <a:ext cx="7829309" cy="1167827"/>
          </a:xfrm>
        </p:spPr>
        <p:txBody>
          <a:bodyPr>
            <a:normAutofit fontScale="92500"/>
          </a:bodyPr>
          <a:lstStyle/>
          <a:p>
            <a:pPr marL="0" indent="0" algn="r">
              <a:buNone/>
            </a:pPr>
            <a:r>
              <a:rPr lang="en-US" sz="4400" dirty="0" smtClean="0">
                <a:solidFill>
                  <a:srgbClr val="47434F"/>
                </a:solidFill>
                <a:latin typeface="+mj-lt"/>
              </a:rPr>
              <a:t>Attachment Theory – in a nutshell</a:t>
            </a:r>
            <a:endParaRPr lang="en-US" sz="4400" dirty="0">
              <a:solidFill>
                <a:srgbClr val="47434F"/>
              </a:solidFill>
              <a:latin typeface="+mj-lt"/>
            </a:endParaRPr>
          </a:p>
        </p:txBody>
      </p:sp>
      <p:sp>
        <p:nvSpPr>
          <p:cNvPr id="8" name="Text Placeholder 9"/>
          <p:cNvSpPr>
            <a:spLocks noGrp="1"/>
          </p:cNvSpPr>
          <p:nvPr>
            <p:ph type="body" sz="quarter" idx="4294967295"/>
          </p:nvPr>
        </p:nvSpPr>
        <p:spPr>
          <a:xfrm>
            <a:off x="647717" y="3212421"/>
            <a:ext cx="3441204" cy="4955272"/>
          </a:xfrm>
        </p:spPr>
        <p:txBody>
          <a:bodyPr>
            <a:normAutofit/>
          </a:bodyPr>
          <a:lstStyle/>
          <a:p>
            <a:pPr marL="0" indent="0">
              <a:buNone/>
              <a:defRPr/>
            </a:pPr>
            <a:r>
              <a:rPr lang="en-GB" sz="1600" b="1" dirty="0" smtClean="0">
                <a:latin typeface="Arial" panose="020B0604020202020204" pitchFamily="34" charset="0"/>
                <a:cs typeface="Arial" panose="020B0604020202020204" pitchFamily="34" charset="0"/>
              </a:rPr>
              <a:t>Secure </a:t>
            </a:r>
            <a:r>
              <a:rPr lang="en-GB" sz="1600" b="1" dirty="0">
                <a:latin typeface="Arial" panose="020B0604020202020204" pitchFamily="34" charset="0"/>
                <a:cs typeface="Arial" panose="020B0604020202020204" pitchFamily="34" charset="0"/>
              </a:rPr>
              <a:t>attachments </a:t>
            </a:r>
            <a:r>
              <a:rPr lang="en-GB" sz="1600" dirty="0">
                <a:latin typeface="Arial" panose="020B0604020202020204" pitchFamily="34" charset="0"/>
                <a:cs typeface="Arial" panose="020B0604020202020204" pitchFamily="34" charset="0"/>
              </a:rPr>
              <a:t>support mental </a:t>
            </a:r>
            <a:r>
              <a:rPr lang="en-GB" sz="1600" dirty="0" smtClean="0">
                <a:latin typeface="Arial" panose="020B0604020202020204" pitchFamily="34" charset="0"/>
                <a:cs typeface="Arial" panose="020B0604020202020204" pitchFamily="34" charset="0"/>
              </a:rPr>
              <a:t>processes (mental </a:t>
            </a:r>
            <a:r>
              <a:rPr lang="en-GB" sz="1600" dirty="0">
                <a:latin typeface="Arial" panose="020B0604020202020204" pitchFamily="34" charset="0"/>
                <a:cs typeface="Arial" panose="020B0604020202020204" pitchFamily="34" charset="0"/>
              </a:rPr>
              <a:t>representations the internal working model) </a:t>
            </a:r>
            <a:r>
              <a:rPr lang="en-GB" sz="1600" dirty="0" smtClean="0">
                <a:latin typeface="Arial" panose="020B0604020202020204" pitchFamily="34" charset="0"/>
                <a:cs typeface="Arial" panose="020B0604020202020204" pitchFamily="34" charset="0"/>
              </a:rPr>
              <a:t>that:</a:t>
            </a:r>
          </a:p>
          <a:p>
            <a:pPr>
              <a:defRPr/>
            </a:pPr>
            <a:r>
              <a:rPr lang="en-GB" sz="1600" dirty="0" smtClean="0">
                <a:latin typeface="Arial" panose="020B0604020202020204" pitchFamily="34" charset="0"/>
                <a:cs typeface="Arial" panose="020B0604020202020204" pitchFamily="34" charset="0"/>
              </a:rPr>
              <a:t>Regulate emotions</a:t>
            </a:r>
          </a:p>
          <a:p>
            <a:pPr>
              <a:defRPr/>
            </a:pPr>
            <a:r>
              <a:rPr lang="en-GB" sz="1600" dirty="0" smtClean="0">
                <a:latin typeface="Arial" panose="020B0604020202020204" pitchFamily="34" charset="0"/>
                <a:cs typeface="Arial" panose="020B0604020202020204" pitchFamily="34" charset="0"/>
              </a:rPr>
              <a:t>Reduce fear</a:t>
            </a:r>
          </a:p>
          <a:p>
            <a:pPr>
              <a:defRPr/>
            </a:pPr>
            <a:r>
              <a:rPr lang="en-GB" sz="1600" dirty="0" smtClean="0">
                <a:latin typeface="Arial" panose="020B0604020202020204" pitchFamily="34" charset="0"/>
                <a:cs typeface="Arial" panose="020B0604020202020204" pitchFamily="34" charset="0"/>
              </a:rPr>
              <a:t>Attune </a:t>
            </a:r>
            <a:r>
              <a:rPr lang="en-GB" sz="1600" dirty="0">
                <a:latin typeface="Arial" panose="020B0604020202020204" pitchFamily="34" charset="0"/>
                <a:cs typeface="Arial" panose="020B0604020202020204" pitchFamily="34" charset="0"/>
              </a:rPr>
              <a:t>to </a:t>
            </a:r>
            <a:r>
              <a:rPr lang="en-GB" sz="1600" dirty="0" smtClean="0">
                <a:latin typeface="Arial" panose="020B0604020202020204" pitchFamily="34" charset="0"/>
                <a:cs typeface="Arial" panose="020B0604020202020204" pitchFamily="34" charset="0"/>
              </a:rPr>
              <a:t>others</a:t>
            </a:r>
          </a:p>
          <a:p>
            <a:pPr>
              <a:defRPr/>
            </a:pPr>
            <a:r>
              <a:rPr lang="en-GB" sz="1600" dirty="0" smtClean="0">
                <a:latin typeface="Arial" panose="020B0604020202020204" pitchFamily="34" charset="0"/>
                <a:cs typeface="Arial" panose="020B0604020202020204" pitchFamily="34" charset="0"/>
              </a:rPr>
              <a:t>Have </a:t>
            </a:r>
            <a:r>
              <a:rPr lang="en-GB" sz="1600" dirty="0">
                <a:latin typeface="Arial" panose="020B0604020202020204" pitchFamily="34" charset="0"/>
                <a:cs typeface="Arial" panose="020B0604020202020204" pitchFamily="34" charset="0"/>
              </a:rPr>
              <a:t>self-understanding and </a:t>
            </a:r>
            <a:r>
              <a:rPr lang="en-GB" sz="1600" dirty="0" smtClean="0">
                <a:latin typeface="Arial" panose="020B0604020202020204" pitchFamily="34" charset="0"/>
                <a:cs typeface="Arial" panose="020B0604020202020204" pitchFamily="34" charset="0"/>
              </a:rPr>
              <a:t>insight</a:t>
            </a:r>
          </a:p>
          <a:p>
            <a:pPr>
              <a:defRPr/>
            </a:pPr>
            <a:r>
              <a:rPr lang="en-GB" sz="1600" dirty="0" smtClean="0">
                <a:latin typeface="Arial" panose="020B0604020202020204" pitchFamily="34" charset="0"/>
                <a:cs typeface="Arial" panose="020B0604020202020204" pitchFamily="34" charset="0"/>
              </a:rPr>
              <a:t>empathy </a:t>
            </a:r>
            <a:r>
              <a:rPr lang="en-GB" sz="1600" dirty="0">
                <a:latin typeface="Arial" panose="020B0604020202020204" pitchFamily="34" charset="0"/>
                <a:cs typeface="Arial" panose="020B0604020202020204" pitchFamily="34" charset="0"/>
              </a:rPr>
              <a:t>for others </a:t>
            </a:r>
            <a:endParaRPr lang="en-GB" sz="1600" dirty="0" smtClean="0">
              <a:latin typeface="Arial" panose="020B0604020202020204" pitchFamily="34" charset="0"/>
              <a:cs typeface="Arial" panose="020B0604020202020204" pitchFamily="34" charset="0"/>
            </a:endParaRPr>
          </a:p>
          <a:p>
            <a:pPr>
              <a:defRPr/>
            </a:pPr>
            <a:r>
              <a:rPr lang="en-GB" sz="1600" dirty="0" smtClean="0">
                <a:latin typeface="Arial" panose="020B0604020202020204" pitchFamily="34" charset="0"/>
                <a:cs typeface="Arial" panose="020B0604020202020204" pitchFamily="34" charset="0"/>
              </a:rPr>
              <a:t>appropriate </a:t>
            </a:r>
            <a:r>
              <a:rPr lang="en-GB" sz="1600" dirty="0">
                <a:latin typeface="Arial" panose="020B0604020202020204" pitchFamily="34" charset="0"/>
                <a:cs typeface="Arial" panose="020B0604020202020204" pitchFamily="34" charset="0"/>
              </a:rPr>
              <a:t>moral reasoning </a:t>
            </a:r>
          </a:p>
        </p:txBody>
      </p:sp>
      <p:pic>
        <p:nvPicPr>
          <p:cNvPr id="5" name="Picture 2" descr="C:\Users\ggc247\AppData\Local\Microsoft\Windows\Temporary Internet Files\Content.IE5\N38KQZDI\John_Bowlby[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9552" y="1022225"/>
            <a:ext cx="1564855" cy="197138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2570672" y="1207698"/>
            <a:ext cx="5831456" cy="1600438"/>
          </a:xfrm>
          <a:prstGeom prst="rect">
            <a:avLst/>
          </a:prstGeom>
          <a:noFill/>
        </p:spPr>
        <p:txBody>
          <a:bodyPr wrap="square" rtlCol="0">
            <a:spAutoFit/>
          </a:bodyPr>
          <a:lstStyle/>
          <a:p>
            <a:r>
              <a:rPr lang="en-GB" dirty="0" smtClean="0"/>
              <a:t>John Bowlby (1988):</a:t>
            </a:r>
          </a:p>
          <a:p>
            <a:r>
              <a:rPr lang="en-GB" sz="1600" dirty="0" smtClean="0">
                <a:latin typeface="Arial" panose="020B0604020202020204" pitchFamily="34" charset="0"/>
                <a:cs typeface="Arial" panose="020B0604020202020204" pitchFamily="34" charset="0"/>
              </a:rPr>
              <a:t>“lasting </a:t>
            </a:r>
            <a:r>
              <a:rPr lang="en-GB" sz="1600" dirty="0">
                <a:latin typeface="Arial" panose="020B0604020202020204" pitchFamily="34" charset="0"/>
                <a:cs typeface="Arial" panose="020B0604020202020204" pitchFamily="34" charset="0"/>
              </a:rPr>
              <a:t>psychological connectedness between human </a:t>
            </a:r>
            <a:r>
              <a:rPr lang="en-GB" sz="1600" dirty="0" smtClean="0">
                <a:latin typeface="Arial" panose="020B0604020202020204" pitchFamily="34" charset="0"/>
                <a:cs typeface="Arial" panose="020B0604020202020204" pitchFamily="34" charset="0"/>
              </a:rPr>
              <a:t>beings”</a:t>
            </a:r>
          </a:p>
          <a:p>
            <a:endParaRPr lang="en-GB" sz="1600" dirty="0">
              <a:latin typeface="Arial" panose="020B0604020202020204" pitchFamily="34" charset="0"/>
              <a:cs typeface="Arial" panose="020B0604020202020204" pitchFamily="34" charset="0"/>
            </a:endParaRPr>
          </a:p>
          <a:p>
            <a:r>
              <a:rPr lang="en-GB" sz="1600" dirty="0" smtClean="0">
                <a:latin typeface="Arial" panose="020B0604020202020204" pitchFamily="34" charset="0"/>
                <a:cs typeface="Arial" panose="020B0604020202020204" pitchFamily="34" charset="0"/>
              </a:rPr>
              <a:t>Multiple </a:t>
            </a:r>
            <a:r>
              <a:rPr lang="en-GB" sz="1600" dirty="0">
                <a:latin typeface="Arial" panose="020B0604020202020204" pitchFamily="34" charset="0"/>
                <a:cs typeface="Arial" panose="020B0604020202020204" pitchFamily="34" charset="0"/>
              </a:rPr>
              <a:t>attachments can occur with other adults throughout the lifespan, although early experiences may continue to have an impact.</a:t>
            </a:r>
            <a:endParaRPr lang="en-GB" sz="1600" dirty="0" smtClean="0"/>
          </a:p>
        </p:txBody>
      </p:sp>
      <p:sp>
        <p:nvSpPr>
          <p:cNvPr id="6" name="Text Placeholder 9"/>
          <p:cNvSpPr txBox="1">
            <a:spLocks/>
          </p:cNvSpPr>
          <p:nvPr/>
        </p:nvSpPr>
        <p:spPr>
          <a:xfrm>
            <a:off x="4638872" y="3295810"/>
            <a:ext cx="3441204" cy="495527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defRPr/>
            </a:pPr>
            <a:r>
              <a:rPr lang="en-GB" sz="1600" b="1" dirty="0">
                <a:latin typeface="Arial" panose="020B0604020202020204" pitchFamily="34" charset="0"/>
                <a:cs typeface="Arial" panose="020B0604020202020204" pitchFamily="34" charset="0"/>
              </a:rPr>
              <a:t>Insecure </a:t>
            </a:r>
            <a:r>
              <a:rPr lang="en-GB" sz="1600" b="1" dirty="0" smtClean="0">
                <a:latin typeface="Arial" panose="020B0604020202020204" pitchFamily="34" charset="0"/>
                <a:cs typeface="Arial" panose="020B0604020202020204" pitchFamily="34" charset="0"/>
              </a:rPr>
              <a:t>attachments</a:t>
            </a:r>
            <a:r>
              <a:rPr lang="en-GB" sz="1600" dirty="0" smtClean="0">
                <a:latin typeface="Arial" panose="020B0604020202020204" pitchFamily="34" charset="0"/>
                <a:cs typeface="Arial" panose="020B0604020202020204" pitchFamily="34" charset="0"/>
              </a:rPr>
              <a:t> may mean </a:t>
            </a:r>
            <a:r>
              <a:rPr lang="en-GB" sz="1600" dirty="0">
                <a:latin typeface="Arial" panose="020B0604020202020204" pitchFamily="34" charset="0"/>
                <a:cs typeface="Arial" panose="020B0604020202020204" pitchFamily="34" charset="0"/>
              </a:rPr>
              <a:t>child cannot rely on an adult to respond to their needs in times of stress, they are unable </a:t>
            </a:r>
            <a:r>
              <a:rPr lang="en-GB" sz="1600" dirty="0" smtClean="0">
                <a:latin typeface="Arial" panose="020B0604020202020204" pitchFamily="34" charset="0"/>
                <a:cs typeface="Arial" panose="020B0604020202020204" pitchFamily="34" charset="0"/>
              </a:rPr>
              <a:t>to:</a:t>
            </a:r>
          </a:p>
          <a:p>
            <a:pPr>
              <a:defRPr/>
            </a:pPr>
            <a:r>
              <a:rPr lang="en-GB" sz="1600" dirty="0" smtClean="0">
                <a:latin typeface="Arial" panose="020B0604020202020204" pitchFamily="34" charset="0"/>
                <a:cs typeface="Arial" panose="020B0604020202020204" pitchFamily="34" charset="0"/>
              </a:rPr>
              <a:t>Soothe themselves</a:t>
            </a:r>
          </a:p>
          <a:p>
            <a:pPr>
              <a:defRPr/>
            </a:pPr>
            <a:r>
              <a:rPr lang="en-GB" sz="1600" dirty="0">
                <a:latin typeface="Arial" panose="020B0604020202020204" pitchFamily="34" charset="0"/>
                <a:cs typeface="Arial" panose="020B0604020202020204" pitchFamily="34" charset="0"/>
              </a:rPr>
              <a:t>M</a:t>
            </a:r>
            <a:r>
              <a:rPr lang="en-GB" sz="1600" dirty="0" smtClean="0">
                <a:latin typeface="Arial" panose="020B0604020202020204" pitchFamily="34" charset="0"/>
                <a:cs typeface="Arial" panose="020B0604020202020204" pitchFamily="34" charset="0"/>
              </a:rPr>
              <a:t>anage </a:t>
            </a:r>
            <a:r>
              <a:rPr lang="en-GB" sz="1600" dirty="0">
                <a:latin typeface="Arial" panose="020B0604020202020204" pitchFamily="34" charset="0"/>
                <a:cs typeface="Arial" panose="020B0604020202020204" pitchFamily="34" charset="0"/>
              </a:rPr>
              <a:t>their emotions </a:t>
            </a:r>
            <a:endParaRPr lang="en-GB" sz="1600" dirty="0" smtClean="0">
              <a:latin typeface="Arial" panose="020B0604020202020204" pitchFamily="34" charset="0"/>
              <a:cs typeface="Arial" panose="020B0604020202020204" pitchFamily="34" charset="0"/>
            </a:endParaRPr>
          </a:p>
          <a:p>
            <a:pPr>
              <a:defRPr/>
            </a:pPr>
            <a:r>
              <a:rPr lang="en-GB" sz="1600" dirty="0">
                <a:latin typeface="Arial" panose="020B0604020202020204" pitchFamily="34" charset="0"/>
                <a:cs typeface="Arial" panose="020B0604020202020204" pitchFamily="34" charset="0"/>
              </a:rPr>
              <a:t>E</a:t>
            </a:r>
            <a:r>
              <a:rPr lang="en-GB" sz="1600" dirty="0" smtClean="0">
                <a:latin typeface="Arial" panose="020B0604020202020204" pitchFamily="34" charset="0"/>
                <a:cs typeface="Arial" panose="020B0604020202020204" pitchFamily="34" charset="0"/>
              </a:rPr>
              <a:t>ngage </a:t>
            </a:r>
            <a:r>
              <a:rPr lang="en-GB" sz="1600" dirty="0">
                <a:latin typeface="Arial" panose="020B0604020202020204" pitchFamily="34" charset="0"/>
                <a:cs typeface="Arial" panose="020B0604020202020204" pitchFamily="34" charset="0"/>
              </a:rPr>
              <a:t>in reciprocal </a:t>
            </a:r>
            <a:r>
              <a:rPr lang="en-GB" sz="1600" dirty="0" smtClean="0">
                <a:latin typeface="Arial" panose="020B0604020202020204" pitchFamily="34" charset="0"/>
                <a:cs typeface="Arial" panose="020B0604020202020204" pitchFamily="34" charset="0"/>
              </a:rPr>
              <a:t>relationships  </a:t>
            </a:r>
            <a:endParaRPr lang="en-GB" sz="1600" dirty="0">
              <a:latin typeface="Arial" panose="020B0604020202020204" pitchFamily="34" charset="0"/>
              <a:cs typeface="Arial" panose="020B0604020202020204" pitchFamily="34" charset="0"/>
            </a:endParaRPr>
          </a:p>
          <a:p>
            <a:pPr marL="0" indent="0">
              <a:buFont typeface="Arial"/>
              <a:buNone/>
              <a:defRPr/>
            </a:pPr>
            <a:endParaRPr lang="en-GB"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89049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4294967295"/>
          </p:nvPr>
        </p:nvSpPr>
        <p:spPr>
          <a:xfrm>
            <a:off x="500333" y="459738"/>
            <a:ext cx="8073056" cy="519113"/>
          </a:xfrm>
        </p:spPr>
        <p:txBody>
          <a:bodyPr>
            <a:normAutofit fontScale="92500" lnSpcReduction="10000"/>
          </a:bodyPr>
          <a:lstStyle/>
          <a:p>
            <a:pPr marL="0" indent="0" algn="ctr">
              <a:buNone/>
            </a:pPr>
            <a:r>
              <a:rPr lang="en-GB" altLang="en-US" dirty="0">
                <a:latin typeface="Arial" charset="0"/>
              </a:rPr>
              <a:t>Why Attachment Matters</a:t>
            </a:r>
            <a:endParaRPr lang="en-GB" dirty="0"/>
          </a:p>
        </p:txBody>
      </p:sp>
      <p:sp>
        <p:nvSpPr>
          <p:cNvPr id="3" name="Text Placeholder 2"/>
          <p:cNvSpPr>
            <a:spLocks noGrp="1"/>
          </p:cNvSpPr>
          <p:nvPr>
            <p:ph type="body" sz="quarter" idx="4294967295"/>
          </p:nvPr>
        </p:nvSpPr>
        <p:spPr>
          <a:xfrm>
            <a:off x="759125" y="1526875"/>
            <a:ext cx="7539486" cy="4406373"/>
          </a:xfrm>
        </p:spPr>
        <p:txBody>
          <a:bodyPr>
            <a:normAutofit fontScale="92500" lnSpcReduction="10000"/>
          </a:bodyPr>
          <a:lstStyle/>
          <a:p>
            <a:pPr>
              <a:defRPr/>
            </a:pPr>
            <a:r>
              <a:rPr lang="en-GB" dirty="0" smtClean="0">
                <a:cs typeface="Arial" panose="020B0604020202020204" pitchFamily="34" charset="0"/>
              </a:rPr>
              <a:t>These </a:t>
            </a:r>
            <a:r>
              <a:rPr lang="en-GB" dirty="0">
                <a:cs typeface="Arial" panose="020B0604020202020204" pitchFamily="34" charset="0"/>
              </a:rPr>
              <a:t>children can </a:t>
            </a:r>
            <a:r>
              <a:rPr lang="en-GB" dirty="0" smtClean="0">
                <a:cs typeface="Arial" panose="020B0604020202020204" pitchFamily="34" charset="0"/>
              </a:rPr>
              <a:t>appear: </a:t>
            </a:r>
            <a:r>
              <a:rPr lang="en-GB" dirty="0">
                <a:cs typeface="Arial" panose="020B0604020202020204" pitchFamily="34" charset="0"/>
              </a:rPr>
              <a:t/>
            </a:r>
            <a:br>
              <a:rPr lang="en-GB" dirty="0">
                <a:cs typeface="Arial" panose="020B0604020202020204" pitchFamily="34" charset="0"/>
              </a:rPr>
            </a:br>
            <a:r>
              <a:rPr lang="en-GB" dirty="0">
                <a:cs typeface="Arial" panose="020B0604020202020204" pitchFamily="34" charset="0"/>
              </a:rPr>
              <a:t>- Unfocussed Disruptive </a:t>
            </a:r>
            <a:br>
              <a:rPr lang="en-GB" dirty="0">
                <a:cs typeface="Arial" panose="020B0604020202020204" pitchFamily="34" charset="0"/>
              </a:rPr>
            </a:br>
            <a:r>
              <a:rPr lang="en-GB" dirty="0">
                <a:cs typeface="Arial" panose="020B0604020202020204" pitchFamily="34" charset="0"/>
              </a:rPr>
              <a:t>- Controlling </a:t>
            </a:r>
            <a:br>
              <a:rPr lang="en-GB" dirty="0">
                <a:cs typeface="Arial" panose="020B0604020202020204" pitchFamily="34" charset="0"/>
              </a:rPr>
            </a:br>
            <a:r>
              <a:rPr lang="en-GB" dirty="0">
                <a:cs typeface="Arial" panose="020B0604020202020204" pitchFamily="34" charset="0"/>
              </a:rPr>
              <a:t>- Withdrawn </a:t>
            </a:r>
            <a:br>
              <a:rPr lang="en-GB" dirty="0">
                <a:cs typeface="Arial" panose="020B0604020202020204" pitchFamily="34" charset="0"/>
              </a:rPr>
            </a:br>
            <a:r>
              <a:rPr lang="en-GB" dirty="0">
                <a:cs typeface="Arial" panose="020B0604020202020204" pitchFamily="34" charset="0"/>
              </a:rPr>
              <a:t>- Destructive </a:t>
            </a:r>
          </a:p>
          <a:p>
            <a:pPr marL="0" indent="0">
              <a:buNone/>
              <a:defRPr/>
            </a:pPr>
            <a:endParaRPr lang="en-GB" dirty="0">
              <a:cs typeface="Arial" panose="020B0604020202020204" pitchFamily="34" charset="0"/>
            </a:endParaRPr>
          </a:p>
          <a:p>
            <a:pPr>
              <a:defRPr/>
            </a:pPr>
            <a:r>
              <a:rPr lang="en-GB" dirty="0" smtClean="0">
                <a:cs typeface="Arial" panose="020B0604020202020204" pitchFamily="34" charset="0"/>
              </a:rPr>
              <a:t>Punished/excluded.</a:t>
            </a:r>
            <a:br>
              <a:rPr lang="en-GB" dirty="0" smtClean="0">
                <a:cs typeface="Arial" panose="020B0604020202020204" pitchFamily="34" charset="0"/>
              </a:rPr>
            </a:br>
            <a:endParaRPr lang="en-GB" dirty="0" smtClean="0">
              <a:cs typeface="Arial" panose="020B0604020202020204" pitchFamily="34" charset="0"/>
            </a:endParaRPr>
          </a:p>
          <a:p>
            <a:pPr>
              <a:defRPr/>
            </a:pPr>
            <a:r>
              <a:rPr lang="en-GB" dirty="0" smtClean="0">
                <a:cs typeface="Arial" panose="020B0604020202020204" pitchFamily="34" charset="0"/>
              </a:rPr>
              <a:t>Difficulties forming relationships</a:t>
            </a:r>
            <a:endParaRPr lang="en-GB" altLang="en-US" dirty="0">
              <a:latin typeface="Arial" panose="020B060402020202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23448954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4" name="Rectangle 6"/>
          <p:cNvSpPr>
            <a:spLocks noChangeArrowheads="1"/>
          </p:cNvSpPr>
          <p:nvPr/>
        </p:nvSpPr>
        <p:spPr bwMode="auto">
          <a:xfrm>
            <a:off x="755650" y="1196975"/>
            <a:ext cx="77041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US" altLang="en-US" sz="4400">
              <a:solidFill>
                <a:schemeClr val="tx2"/>
              </a:solidFill>
            </a:endParaRPr>
          </a:p>
        </p:txBody>
      </p:sp>
      <p:sp>
        <p:nvSpPr>
          <p:cNvPr id="22535" name="Rectangle 7"/>
          <p:cNvSpPr>
            <a:spLocks noGrp="1" noChangeArrowheads="1"/>
          </p:cNvSpPr>
          <p:nvPr>
            <p:ph type="title" idx="4294967295"/>
          </p:nvPr>
        </p:nvSpPr>
        <p:spPr>
          <a:xfrm>
            <a:off x="0" y="274638"/>
            <a:ext cx="9230264" cy="1143000"/>
          </a:xfrm>
        </p:spPr>
        <p:txBody>
          <a:bodyPr>
            <a:normAutofit/>
          </a:bodyPr>
          <a:lstStyle/>
          <a:p>
            <a:pPr eaLnBrk="1" hangingPunct="1"/>
            <a:r>
              <a:rPr lang="en-US" altLang="en-US" sz="3600" dirty="0" smtClean="0">
                <a:latin typeface="Arial" charset="0"/>
              </a:rPr>
              <a:t>Securely attached children:</a:t>
            </a:r>
            <a:endParaRPr lang="en-GB" altLang="en-US" sz="3600" dirty="0" smtClean="0">
              <a:latin typeface="Arial" charset="0"/>
            </a:endParaRPr>
          </a:p>
        </p:txBody>
      </p:sp>
      <p:sp>
        <p:nvSpPr>
          <p:cNvPr id="22536" name="Rectangle 8"/>
          <p:cNvSpPr>
            <a:spLocks noGrp="1" noChangeArrowheads="1"/>
          </p:cNvSpPr>
          <p:nvPr>
            <p:ph type="body" idx="4294967295"/>
          </p:nvPr>
        </p:nvSpPr>
        <p:spPr>
          <a:xfrm>
            <a:off x="924016" y="1409042"/>
            <a:ext cx="7772400" cy="4827587"/>
          </a:xfrm>
        </p:spPr>
        <p:txBody>
          <a:bodyPr>
            <a:normAutofit/>
          </a:bodyPr>
          <a:lstStyle/>
          <a:p>
            <a:pPr eaLnBrk="1" hangingPunct="1">
              <a:lnSpc>
                <a:spcPct val="80000"/>
              </a:lnSpc>
              <a:defRPr/>
            </a:pPr>
            <a:r>
              <a:rPr lang="en-US" altLang="en-US" sz="1800" dirty="0" smtClean="0">
                <a:latin typeface="Arial" charset="0"/>
              </a:rPr>
              <a:t>View the world as a safe place and view other people as a source of nurture &amp; support</a:t>
            </a:r>
          </a:p>
          <a:p>
            <a:pPr eaLnBrk="1" hangingPunct="1">
              <a:lnSpc>
                <a:spcPct val="80000"/>
              </a:lnSpc>
              <a:defRPr/>
            </a:pPr>
            <a:r>
              <a:rPr lang="en-US" altLang="en-US" sz="1800" dirty="0" smtClean="0">
                <a:latin typeface="Arial" charset="0"/>
              </a:rPr>
              <a:t>View themselves as worthy of attention and when they encounter difficulties, are more likely to seek help</a:t>
            </a:r>
          </a:p>
          <a:p>
            <a:pPr eaLnBrk="1" hangingPunct="1">
              <a:lnSpc>
                <a:spcPct val="80000"/>
              </a:lnSpc>
              <a:defRPr/>
            </a:pPr>
            <a:r>
              <a:rPr lang="en-US" altLang="en-US" sz="1800" dirty="0" smtClean="0">
                <a:latin typeface="Arial" charset="0"/>
              </a:rPr>
              <a:t>Better problem solvers and more curious</a:t>
            </a:r>
          </a:p>
          <a:p>
            <a:pPr eaLnBrk="1" hangingPunct="1">
              <a:lnSpc>
                <a:spcPct val="80000"/>
              </a:lnSpc>
              <a:defRPr/>
            </a:pPr>
            <a:r>
              <a:rPr lang="en-US" altLang="en-US" sz="1800" dirty="0" smtClean="0">
                <a:latin typeface="Arial" charset="0"/>
              </a:rPr>
              <a:t>Have increased quality and duration of learning</a:t>
            </a:r>
          </a:p>
          <a:p>
            <a:pPr>
              <a:lnSpc>
                <a:spcPct val="80000"/>
              </a:lnSpc>
              <a:defRPr/>
            </a:pPr>
            <a:r>
              <a:rPr lang="en-US" altLang="en-US" sz="1800" dirty="0">
                <a:latin typeface="Arial" charset="0"/>
              </a:rPr>
              <a:t>More socially empathetic and less biased in interpreting behaviour of </a:t>
            </a:r>
            <a:r>
              <a:rPr lang="en-US" altLang="en-US" sz="1800" dirty="0" smtClean="0">
                <a:latin typeface="Arial" charset="0"/>
              </a:rPr>
              <a:t>others</a:t>
            </a:r>
          </a:p>
          <a:p>
            <a:pPr>
              <a:lnSpc>
                <a:spcPct val="80000"/>
              </a:lnSpc>
              <a:defRPr/>
            </a:pPr>
            <a:r>
              <a:rPr lang="en-US" altLang="en-US" sz="1800" dirty="0" smtClean="0">
                <a:latin typeface="Arial" charset="0"/>
              </a:rPr>
              <a:t>Self – aware and more empathetic</a:t>
            </a:r>
            <a:endParaRPr lang="en-US" altLang="en-US" sz="1800" dirty="0">
              <a:latin typeface="Arial" charset="0"/>
            </a:endParaRPr>
          </a:p>
          <a:p>
            <a:pPr eaLnBrk="1" hangingPunct="1">
              <a:lnSpc>
                <a:spcPct val="80000"/>
              </a:lnSpc>
              <a:defRPr/>
            </a:pPr>
            <a:endParaRPr lang="en-US" altLang="en-US" sz="1800" dirty="0" smtClean="0">
              <a:latin typeface="Arial" charset="0"/>
            </a:endParaRPr>
          </a:p>
          <a:p>
            <a:pPr eaLnBrk="1" hangingPunct="1">
              <a:lnSpc>
                <a:spcPct val="80000"/>
              </a:lnSpc>
              <a:defRPr/>
            </a:pPr>
            <a:endParaRPr lang="en-US" altLang="en-US" sz="1800" dirty="0" smtClean="0">
              <a:latin typeface="Arial" charset="0"/>
            </a:endParaRPr>
          </a:p>
          <a:p>
            <a:pPr marL="0" indent="0" eaLnBrk="1" hangingPunct="1">
              <a:buFontTx/>
              <a:buNone/>
              <a:defRPr/>
            </a:pPr>
            <a:endParaRPr lang="en-GB" altLang="en-US" sz="1800" dirty="0" smtClean="0">
              <a:latin typeface="Arial" charset="0"/>
            </a:endParaRPr>
          </a:p>
        </p:txBody>
      </p:sp>
      <p:pic>
        <p:nvPicPr>
          <p:cNvPr id="2253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4300" y="3838575"/>
            <a:ext cx="3597275" cy="2698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838" y="4235450"/>
            <a:ext cx="3001962" cy="20018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32292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2" name="Rectangle 6"/>
          <p:cNvSpPr>
            <a:spLocks noChangeArrowheads="1"/>
          </p:cNvSpPr>
          <p:nvPr/>
        </p:nvSpPr>
        <p:spPr bwMode="auto">
          <a:xfrm>
            <a:off x="755650" y="1196975"/>
            <a:ext cx="77041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US" altLang="en-US" sz="4400">
              <a:solidFill>
                <a:schemeClr val="tx2"/>
              </a:solidFill>
            </a:endParaRPr>
          </a:p>
        </p:txBody>
      </p:sp>
      <p:sp>
        <p:nvSpPr>
          <p:cNvPr id="24583" name="Rectangle 7"/>
          <p:cNvSpPr>
            <a:spLocks noGrp="1" noChangeArrowheads="1"/>
          </p:cNvSpPr>
          <p:nvPr>
            <p:ph type="title" idx="4294967295"/>
          </p:nvPr>
        </p:nvSpPr>
        <p:spPr>
          <a:xfrm>
            <a:off x="-1" y="274638"/>
            <a:ext cx="8833450" cy="1143000"/>
          </a:xfrm>
        </p:spPr>
        <p:txBody>
          <a:bodyPr>
            <a:normAutofit fontScale="90000"/>
          </a:bodyPr>
          <a:lstStyle/>
          <a:p>
            <a:pPr eaLnBrk="1" hangingPunct="1"/>
            <a:r>
              <a:rPr lang="en-GB" altLang="en-US" sz="3600" b="1" dirty="0" smtClean="0">
                <a:latin typeface="Arial" charset="0"/>
              </a:rPr>
              <a:t>Insecurely attached children </a:t>
            </a:r>
            <a:br>
              <a:rPr lang="en-GB" altLang="en-US" sz="3600" b="1" dirty="0" smtClean="0">
                <a:latin typeface="Arial" charset="0"/>
              </a:rPr>
            </a:br>
            <a:r>
              <a:rPr lang="en-GB" altLang="en-US" sz="3600" b="1" dirty="0" smtClean="0">
                <a:latin typeface="Arial" charset="0"/>
              </a:rPr>
              <a:t>– working with adults</a:t>
            </a:r>
          </a:p>
        </p:txBody>
      </p:sp>
      <p:grpSp>
        <p:nvGrpSpPr>
          <p:cNvPr id="9" name="Group 8"/>
          <p:cNvGrpSpPr/>
          <p:nvPr/>
        </p:nvGrpSpPr>
        <p:grpSpPr>
          <a:xfrm>
            <a:off x="974785" y="2467155"/>
            <a:ext cx="7044906" cy="2803586"/>
            <a:chOff x="974785" y="2467154"/>
            <a:chExt cx="7044906" cy="2803586"/>
          </a:xfrm>
        </p:grpSpPr>
        <p:sp>
          <p:nvSpPr>
            <p:cNvPr id="2" name="Oval 1"/>
            <p:cNvSpPr/>
            <p:nvPr/>
          </p:nvSpPr>
          <p:spPr>
            <a:xfrm>
              <a:off x="974785" y="2467155"/>
              <a:ext cx="3071004" cy="280358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400" dirty="0" smtClean="0"/>
                <a:t>Does not trust teacher/sees adults as a threat</a:t>
              </a:r>
              <a:endParaRPr lang="en-GB" sz="2400" dirty="0"/>
            </a:p>
          </p:txBody>
        </p:sp>
        <p:sp>
          <p:nvSpPr>
            <p:cNvPr id="7" name="Oval 6"/>
            <p:cNvSpPr/>
            <p:nvPr/>
          </p:nvSpPr>
          <p:spPr>
            <a:xfrm>
              <a:off x="4948687" y="2467154"/>
              <a:ext cx="3071004" cy="280358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800" dirty="0" smtClean="0"/>
                <a:t>Overly reliant on teacher attention</a:t>
              </a:r>
              <a:endParaRPr lang="en-GB" sz="2800" dirty="0"/>
            </a:p>
          </p:txBody>
        </p:sp>
        <p:cxnSp>
          <p:nvCxnSpPr>
            <p:cNvPr id="4" name="Straight Arrow Connector 3"/>
            <p:cNvCxnSpPr/>
            <p:nvPr/>
          </p:nvCxnSpPr>
          <p:spPr>
            <a:xfrm>
              <a:off x="4045789" y="3071004"/>
              <a:ext cx="1049547"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H="1">
              <a:off x="3878787" y="4873925"/>
              <a:ext cx="10699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053777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44706412"/>
              </p:ext>
            </p:extLst>
          </p:nvPr>
        </p:nvGraphicFramePr>
        <p:xfrm>
          <a:off x="885645" y="568864"/>
          <a:ext cx="7214558" cy="5665469"/>
        </p:xfrm>
        <a:graphic>
          <a:graphicData uri="http://schemas.openxmlformats.org/drawingml/2006/table">
            <a:tbl>
              <a:tblPr firstRow="1" bandRow="1">
                <a:tableStyleId>{5C22544A-7EE6-4342-B048-85BDC9FD1C3A}</a:tableStyleId>
              </a:tblPr>
              <a:tblGrid>
                <a:gridCol w="3607279">
                  <a:extLst>
                    <a:ext uri="{9D8B030D-6E8A-4147-A177-3AD203B41FA5}">
                      <a16:colId xmlns:a16="http://schemas.microsoft.com/office/drawing/2014/main" val="20000"/>
                    </a:ext>
                  </a:extLst>
                </a:gridCol>
                <a:gridCol w="3607279">
                  <a:extLst>
                    <a:ext uri="{9D8B030D-6E8A-4147-A177-3AD203B41FA5}">
                      <a16:colId xmlns:a16="http://schemas.microsoft.com/office/drawing/2014/main" val="20001"/>
                    </a:ext>
                  </a:extLst>
                </a:gridCol>
              </a:tblGrid>
              <a:tr h="659129">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GB" sz="1800" dirty="0" smtClean="0"/>
                        <a:t>Does not trust teacher/sees adults as a threat</a:t>
                      </a:r>
                    </a:p>
                  </a:txBody>
                  <a:tcPr anchor="ctr"/>
                </a:tc>
                <a:tc>
                  <a:txBody>
                    <a:bodyPr/>
                    <a:lstStyle/>
                    <a:p>
                      <a:pPr algn="ctr"/>
                      <a:r>
                        <a:rPr lang="en-GB" sz="1800" dirty="0" smtClean="0"/>
                        <a:t>Overly reliant on teacher attention</a:t>
                      </a:r>
                      <a:endParaRPr lang="en-GB" sz="1800" dirty="0"/>
                    </a:p>
                  </a:txBody>
                  <a:tcPr anchor="ctr"/>
                </a:tc>
                <a:extLst>
                  <a:ext uri="{0D108BD9-81ED-4DB2-BD59-A6C34878D82A}">
                    <a16:rowId xmlns:a16="http://schemas.microsoft.com/office/drawing/2014/main" val="10000"/>
                  </a:ext>
                </a:extLst>
              </a:tr>
              <a:tr h="659129">
                <a:tc gridSpan="2">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altLang="en-US" sz="1800" dirty="0" smtClean="0">
                          <a:latin typeface="Arial" charset="0"/>
                        </a:rPr>
                        <a:t>Pair the child with a sympathetic peer -study buddies.</a:t>
                      </a:r>
                    </a:p>
                    <a:p>
                      <a:endParaRPr lang="en-GB" dirty="0"/>
                    </a:p>
                  </a:txBody>
                  <a:tcPr anchor="ctr"/>
                </a:tc>
                <a:tc hMerge="1">
                  <a:txBody>
                    <a:bodyPr/>
                    <a:lstStyle/>
                    <a:p>
                      <a:endParaRPr lang="en-GB" dirty="0"/>
                    </a:p>
                  </a:txBody>
                  <a:tcPr/>
                </a:tc>
                <a:extLst>
                  <a:ext uri="{0D108BD9-81ED-4DB2-BD59-A6C34878D82A}">
                    <a16:rowId xmlns:a16="http://schemas.microsoft.com/office/drawing/2014/main" val="10001"/>
                  </a:ext>
                </a:extLst>
              </a:tr>
              <a:tr h="674923">
                <a:tc gridSpan="2">
                  <a:txBody>
                    <a:bodyPr/>
                    <a:lstStyle/>
                    <a:p>
                      <a:pPr eaLnBrk="1" hangingPunct="1">
                        <a:lnSpc>
                          <a:spcPct val="90000"/>
                        </a:lnSpc>
                      </a:pPr>
                      <a:r>
                        <a:rPr lang="en-GB" altLang="en-US" sz="1800" dirty="0" smtClean="0">
                          <a:latin typeface="Arial" charset="0"/>
                        </a:rPr>
                        <a:t>Use board games – structure, rules, predictability.</a:t>
                      </a:r>
                    </a:p>
                  </a:txBody>
                  <a:tcPr anchor="ctr"/>
                </a:tc>
                <a:tc hMerge="1">
                  <a:txBody>
                    <a:bodyPr/>
                    <a:lstStyle/>
                    <a:p>
                      <a:endParaRPr lang="en-GB"/>
                    </a:p>
                  </a:txBody>
                  <a:tcPr/>
                </a:tc>
                <a:extLst>
                  <a:ext uri="{0D108BD9-81ED-4DB2-BD59-A6C34878D82A}">
                    <a16:rowId xmlns:a16="http://schemas.microsoft.com/office/drawing/2014/main" val="10002"/>
                  </a:ext>
                </a:extLst>
              </a:tr>
              <a:tr h="1506580">
                <a:tc gridSpan="2">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altLang="en-US" sz="1800" dirty="0" smtClean="0">
                          <a:latin typeface="Arial" charset="0"/>
                        </a:rPr>
                        <a:t>Over time the pupil experiences the sensitivity of the teacher to their anxiety – they begin to feel understood and more secure. Greater trust in the adult makes it more possible for them to ask for help.</a:t>
                      </a:r>
                    </a:p>
                  </a:txBody>
                  <a:tcPr anchor="ctr"/>
                </a:tc>
                <a:tc hMerge="1">
                  <a:txBody>
                    <a:bodyPr/>
                    <a:lstStyle/>
                    <a:p>
                      <a:endParaRPr lang="en-GB"/>
                    </a:p>
                  </a:txBody>
                  <a:tcPr/>
                </a:tc>
                <a:extLst>
                  <a:ext uri="{0D108BD9-81ED-4DB2-BD59-A6C34878D82A}">
                    <a16:rowId xmlns:a16="http://schemas.microsoft.com/office/drawing/2014/main" val="10003"/>
                  </a:ext>
                </a:extLst>
              </a:tr>
              <a:tr h="941612">
                <a:tc gridSpan="2">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altLang="en-US" sz="1800" dirty="0" smtClean="0">
                          <a:latin typeface="Arial" charset="0"/>
                        </a:rPr>
                        <a:t>Transition times, rituals very important in helping child manage emotions.</a:t>
                      </a:r>
                    </a:p>
                  </a:txBody>
                  <a:tcPr anchor="ctr"/>
                </a:tc>
                <a:tc hMerge="1">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GB" altLang="en-US" sz="1800" dirty="0" smtClean="0">
                        <a:latin typeface="Arial" charset="0"/>
                      </a:endParaRPr>
                    </a:p>
                  </a:txBody>
                  <a:tcPr/>
                </a:tc>
                <a:extLst>
                  <a:ext uri="{0D108BD9-81ED-4DB2-BD59-A6C34878D82A}">
                    <a16:rowId xmlns:a16="http://schemas.microsoft.com/office/drawing/2014/main" val="10004"/>
                  </a:ext>
                </a:extLst>
              </a:tr>
              <a:tr h="1224096">
                <a:tc gridSpan="2">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altLang="en-US" sz="1800" dirty="0" smtClean="0">
                          <a:latin typeface="Arial" charset="0"/>
                        </a:rPr>
                        <a:t>Task needs to be differentiated into small and achievable steps with repeated reminders that they are ‘held in mind’ by the teacher.</a:t>
                      </a:r>
                    </a:p>
                  </a:txBody>
                  <a:tcPr anchor="ctr"/>
                </a:tc>
                <a:tc hMerge="1">
                  <a:txBody>
                    <a:bodyPr/>
                    <a:lstStyle/>
                    <a:p>
                      <a:endParaRPr lang="en-GB"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191355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2" name="Rectangle 6"/>
          <p:cNvSpPr>
            <a:spLocks noChangeArrowheads="1"/>
          </p:cNvSpPr>
          <p:nvPr/>
        </p:nvSpPr>
        <p:spPr bwMode="auto">
          <a:xfrm>
            <a:off x="755650" y="1196975"/>
            <a:ext cx="77041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US" altLang="en-US" sz="4400">
              <a:solidFill>
                <a:schemeClr val="tx2"/>
              </a:solidFill>
            </a:endParaRPr>
          </a:p>
        </p:txBody>
      </p:sp>
      <p:sp>
        <p:nvSpPr>
          <p:cNvPr id="24583" name="Rectangle 7"/>
          <p:cNvSpPr>
            <a:spLocks noGrp="1" noChangeArrowheads="1"/>
          </p:cNvSpPr>
          <p:nvPr>
            <p:ph type="title" idx="4294967295"/>
          </p:nvPr>
        </p:nvSpPr>
        <p:spPr>
          <a:xfrm>
            <a:off x="-1" y="274638"/>
            <a:ext cx="8833450" cy="1143000"/>
          </a:xfrm>
        </p:spPr>
        <p:txBody>
          <a:bodyPr>
            <a:normAutofit fontScale="90000"/>
          </a:bodyPr>
          <a:lstStyle/>
          <a:p>
            <a:pPr eaLnBrk="1" hangingPunct="1"/>
            <a:r>
              <a:rPr lang="en-GB" altLang="en-US" sz="3600" b="1" dirty="0" smtClean="0">
                <a:latin typeface="Arial" charset="0"/>
              </a:rPr>
              <a:t>Insecurely attached children </a:t>
            </a:r>
            <a:br>
              <a:rPr lang="en-GB" altLang="en-US" sz="3600" b="1" dirty="0" smtClean="0">
                <a:latin typeface="Arial" charset="0"/>
              </a:rPr>
            </a:br>
            <a:r>
              <a:rPr lang="en-GB" altLang="en-US" sz="3600" b="1" dirty="0" smtClean="0">
                <a:latin typeface="Arial" charset="0"/>
              </a:rPr>
              <a:t>– approach to tasks</a:t>
            </a:r>
          </a:p>
        </p:txBody>
      </p:sp>
      <p:grpSp>
        <p:nvGrpSpPr>
          <p:cNvPr id="9" name="Group 8"/>
          <p:cNvGrpSpPr/>
          <p:nvPr/>
        </p:nvGrpSpPr>
        <p:grpSpPr>
          <a:xfrm>
            <a:off x="974785" y="2467155"/>
            <a:ext cx="7044906" cy="2803586"/>
            <a:chOff x="974785" y="2467154"/>
            <a:chExt cx="7044906" cy="2803586"/>
          </a:xfrm>
        </p:grpSpPr>
        <p:sp>
          <p:nvSpPr>
            <p:cNvPr id="2" name="Oval 1"/>
            <p:cNvSpPr/>
            <p:nvPr/>
          </p:nvSpPr>
          <p:spPr>
            <a:xfrm>
              <a:off x="974785" y="2467155"/>
              <a:ext cx="3071004" cy="280358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defRPr/>
              </a:pPr>
              <a:r>
                <a:rPr lang="en-GB" sz="2400" dirty="0" smtClean="0">
                  <a:latin typeface="Arial" panose="020B0604020202020204" pitchFamily="34" charset="0"/>
                  <a:cs typeface="Arial" panose="020B0604020202020204" pitchFamily="34" charset="0"/>
                </a:rPr>
                <a:t>May overly focus </a:t>
              </a:r>
              <a:r>
                <a:rPr lang="en-GB" sz="2400" dirty="0">
                  <a:latin typeface="Arial" panose="020B0604020202020204" pitchFamily="34" charset="0"/>
                  <a:cs typeface="Arial" panose="020B0604020202020204" pitchFamily="34" charset="0"/>
                </a:rPr>
                <a:t>on ‘what to do</a:t>
              </a:r>
              <a:r>
                <a:rPr lang="en-GB" sz="2400" dirty="0" smtClean="0">
                  <a:latin typeface="Arial" panose="020B0604020202020204" pitchFamily="34" charset="0"/>
                  <a:cs typeface="Arial" panose="020B0604020202020204" pitchFamily="34" charset="0"/>
                </a:rPr>
                <a:t>’ – not the task (self reliant)</a:t>
              </a:r>
              <a:endParaRPr lang="en-GB" sz="2400" dirty="0">
                <a:latin typeface="Arial" panose="020B0604020202020204" pitchFamily="34" charset="0"/>
                <a:cs typeface="Arial" panose="020B0604020202020204" pitchFamily="34" charset="0"/>
              </a:endParaRPr>
            </a:p>
          </p:txBody>
        </p:sp>
        <p:sp>
          <p:nvSpPr>
            <p:cNvPr id="7" name="Oval 6"/>
            <p:cNvSpPr/>
            <p:nvPr/>
          </p:nvSpPr>
          <p:spPr>
            <a:xfrm>
              <a:off x="4948687" y="2467154"/>
              <a:ext cx="3071004" cy="280358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800" dirty="0" smtClean="0"/>
                <a:t>Refusal</a:t>
              </a:r>
              <a:endParaRPr lang="en-GB" sz="2800" dirty="0"/>
            </a:p>
          </p:txBody>
        </p:sp>
        <p:cxnSp>
          <p:nvCxnSpPr>
            <p:cNvPr id="4" name="Straight Arrow Connector 3"/>
            <p:cNvCxnSpPr/>
            <p:nvPr/>
          </p:nvCxnSpPr>
          <p:spPr>
            <a:xfrm>
              <a:off x="4045789" y="3071004"/>
              <a:ext cx="1049547"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H="1">
              <a:off x="3878787" y="4873925"/>
              <a:ext cx="121654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3381320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222779133"/>
              </p:ext>
            </p:extLst>
          </p:nvPr>
        </p:nvGraphicFramePr>
        <p:xfrm>
          <a:off x="422694" y="215661"/>
          <a:ext cx="8479766" cy="6012610"/>
        </p:xfrm>
        <a:graphic>
          <a:graphicData uri="http://schemas.openxmlformats.org/drawingml/2006/table">
            <a:tbl>
              <a:tblPr firstRow="1" bandRow="1">
                <a:tableStyleId>{5C22544A-7EE6-4342-B048-85BDC9FD1C3A}</a:tableStyleId>
              </a:tblPr>
              <a:tblGrid>
                <a:gridCol w="4239883">
                  <a:extLst>
                    <a:ext uri="{9D8B030D-6E8A-4147-A177-3AD203B41FA5}">
                      <a16:colId xmlns:a16="http://schemas.microsoft.com/office/drawing/2014/main" val="20000"/>
                    </a:ext>
                  </a:extLst>
                </a:gridCol>
                <a:gridCol w="4239883">
                  <a:extLst>
                    <a:ext uri="{9D8B030D-6E8A-4147-A177-3AD203B41FA5}">
                      <a16:colId xmlns:a16="http://schemas.microsoft.com/office/drawing/2014/main" val="20001"/>
                    </a:ext>
                  </a:extLst>
                </a:gridCol>
              </a:tblGrid>
              <a:tr h="930519">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GB" sz="1800" dirty="0" smtClean="0"/>
                        <a:t>May overly focus on ‘what to do’ – not the task (self reliant)</a:t>
                      </a:r>
                    </a:p>
                  </a:txBody>
                  <a:tcPr/>
                </a:tc>
                <a:tc>
                  <a:txBody>
                    <a:bodyPr/>
                    <a:lstStyle/>
                    <a:p>
                      <a:pPr algn="ctr"/>
                      <a:r>
                        <a:rPr lang="en-GB" sz="1800" dirty="0" smtClean="0"/>
                        <a:t>Refusal</a:t>
                      </a:r>
                      <a:endParaRPr lang="en-GB" sz="1800" dirty="0"/>
                    </a:p>
                  </a:txBody>
                  <a:tcPr/>
                </a:tc>
                <a:extLst>
                  <a:ext uri="{0D108BD9-81ED-4DB2-BD59-A6C34878D82A}">
                    <a16:rowId xmlns:a16="http://schemas.microsoft.com/office/drawing/2014/main" val="10000"/>
                  </a:ext>
                </a:extLst>
              </a:tr>
              <a:tr h="1304803">
                <a:tc gridSpan="2">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GB" altLang="en-US" sz="1800" dirty="0" smtClean="0">
                          <a:latin typeface="Arial" charset="0"/>
                        </a:rPr>
                        <a:t>The nature of the task is important – the pupil needs to feel sure it is ‘do-able’ without triggering the need for help.</a:t>
                      </a:r>
                    </a:p>
                  </a:txBody>
                  <a:tcPr/>
                </a:tc>
                <a:tc hMerge="1">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GB" altLang="en-US" sz="1800" dirty="0" smtClean="0">
                        <a:latin typeface="Arial" charset="0"/>
                      </a:endParaRPr>
                    </a:p>
                  </a:txBody>
                  <a:tcPr/>
                </a:tc>
                <a:extLst>
                  <a:ext uri="{0D108BD9-81ED-4DB2-BD59-A6C34878D82A}">
                    <a16:rowId xmlns:a16="http://schemas.microsoft.com/office/drawing/2014/main" val="10001"/>
                  </a:ext>
                </a:extLst>
              </a:tr>
              <a:tr h="757089">
                <a:tc gridSpan="2">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GB" altLang="en-US" sz="1800" dirty="0" smtClean="0">
                          <a:latin typeface="Arial" charset="0"/>
                        </a:rPr>
                        <a:t>Highly structured tasks prevent child being overwhelmed by feelings.</a:t>
                      </a:r>
                    </a:p>
                  </a:txBody>
                  <a:tcPr/>
                </a:tc>
                <a:tc hMerge="1">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GB" altLang="en-US" sz="1800" dirty="0" smtClean="0">
                        <a:latin typeface="Arial" charset="0"/>
                      </a:endParaRPr>
                    </a:p>
                  </a:txBody>
                  <a:tcPr/>
                </a:tc>
                <a:extLst>
                  <a:ext uri="{0D108BD9-81ED-4DB2-BD59-A6C34878D82A}">
                    <a16:rowId xmlns:a16="http://schemas.microsoft.com/office/drawing/2014/main" val="10002"/>
                  </a:ext>
                </a:extLst>
              </a:tr>
              <a:tr h="1240545">
                <a:tc gridSpan="2">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GB" altLang="en-US" sz="1800" dirty="0" smtClean="0">
                          <a:latin typeface="Arial" charset="0"/>
                        </a:rPr>
                        <a:t>Have another child present so that the avoidant child can witness your relationship at a safe distance.</a:t>
                      </a:r>
                    </a:p>
                    <a:p>
                      <a:pPr algn="ctr"/>
                      <a:endParaRPr lang="en-GB" dirty="0"/>
                    </a:p>
                  </a:txBody>
                  <a:tcPr/>
                </a:tc>
                <a:tc hMerge="1">
                  <a:txBody>
                    <a:bodyPr/>
                    <a:lstStyle/>
                    <a:p>
                      <a:endParaRPr lang="en-GB" dirty="0"/>
                    </a:p>
                  </a:txBody>
                  <a:tcPr/>
                </a:tc>
                <a:extLst>
                  <a:ext uri="{0D108BD9-81ED-4DB2-BD59-A6C34878D82A}">
                    <a16:rowId xmlns:a16="http://schemas.microsoft.com/office/drawing/2014/main" val="10003"/>
                  </a:ext>
                </a:extLst>
              </a:tr>
              <a:tr h="1240545">
                <a:tc gridSpan="2">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GB" altLang="en-US" sz="1800" dirty="0" smtClean="0">
                          <a:latin typeface="Arial" charset="0"/>
                        </a:rPr>
                        <a:t>Engage the learner through the task not through the teacher – a shared focus on the task can protect the pupil from exposure to the relationship.</a:t>
                      </a:r>
                    </a:p>
                    <a:p>
                      <a:pPr algn="ctr"/>
                      <a:endParaRPr lang="en-GB" dirty="0"/>
                    </a:p>
                  </a:txBody>
                  <a:tcPr/>
                </a:tc>
                <a:tc hMerge="1">
                  <a:txBody>
                    <a:bodyPr/>
                    <a:lstStyle/>
                    <a:p>
                      <a:endParaRPr lang="en-GB"/>
                    </a:p>
                  </a:txBody>
                  <a:tcPr/>
                </a:tc>
                <a:extLst>
                  <a:ext uri="{0D108BD9-81ED-4DB2-BD59-A6C34878D82A}">
                    <a16:rowId xmlns:a16="http://schemas.microsoft.com/office/drawing/2014/main" val="10004"/>
                  </a:ext>
                </a:extLst>
              </a:tr>
              <a:tr h="539109">
                <a:tc gridSpan="2">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GB" altLang="en-US" sz="1800" dirty="0" smtClean="0">
                          <a:latin typeface="Arial" charset="0"/>
                        </a:rPr>
                        <a:t>Need the experience of being ‘held’ in one place, being kept safe.</a:t>
                      </a:r>
                    </a:p>
                  </a:txBody>
                  <a:tcPr/>
                </a:tc>
                <a:tc hMerge="1">
                  <a:txBody>
                    <a:bodyPr/>
                    <a:lstStyle/>
                    <a:p>
                      <a:endParaRPr lang="en-GB"/>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910915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 name="Rectangle 19"/>
          <p:cNvSpPr>
            <a:spLocks noGrp="1" noChangeArrowheads="1"/>
          </p:cNvSpPr>
          <p:nvPr>
            <p:ph type="title" idx="4294967295"/>
          </p:nvPr>
        </p:nvSpPr>
        <p:spPr>
          <a:xfrm>
            <a:off x="0" y="274638"/>
            <a:ext cx="8229600" cy="1143000"/>
          </a:xfrm>
        </p:spPr>
        <p:txBody>
          <a:bodyPr/>
          <a:lstStyle/>
          <a:p>
            <a:pPr eaLnBrk="1" hangingPunct="1"/>
            <a:r>
              <a:rPr lang="en-US" altLang="en-US" sz="3400" dirty="0" smtClean="0">
                <a:latin typeface="Arial" charset="0"/>
                <a:cs typeface="Arial" charset="0"/>
              </a:rPr>
              <a:t>Why is knowing this important for you?</a:t>
            </a:r>
          </a:p>
        </p:txBody>
      </p:sp>
      <p:sp>
        <p:nvSpPr>
          <p:cNvPr id="2059" name="Rectangle 20"/>
          <p:cNvSpPr>
            <a:spLocks noGrp="1" noChangeArrowheads="1"/>
          </p:cNvSpPr>
          <p:nvPr>
            <p:ph type="body" idx="4294967295"/>
          </p:nvPr>
        </p:nvSpPr>
        <p:spPr>
          <a:xfrm>
            <a:off x="611188" y="1484313"/>
            <a:ext cx="8170503" cy="4752975"/>
          </a:xfrm>
        </p:spPr>
        <p:txBody>
          <a:bodyPr/>
          <a:lstStyle/>
          <a:p>
            <a:pPr>
              <a:defRPr/>
            </a:pPr>
            <a:r>
              <a:rPr lang="en-GB" sz="2000" b="1" i="1" dirty="0" smtClean="0">
                <a:latin typeface="Arial" panose="020B0604020202020204" pitchFamily="34" charset="0"/>
                <a:cs typeface="Arial" panose="020B0604020202020204" pitchFamily="34" charset="0"/>
              </a:rPr>
              <a:t>Teachers </a:t>
            </a:r>
            <a:r>
              <a:rPr lang="en-GB" sz="2000" dirty="0">
                <a:latin typeface="Arial" panose="020B0604020202020204" pitchFamily="34" charset="0"/>
                <a:cs typeface="Arial" panose="020B0604020202020204" pitchFamily="34" charset="0"/>
              </a:rPr>
              <a:t>and other significant adults in a child’s life can provide </a:t>
            </a:r>
            <a:r>
              <a:rPr lang="en-GB" sz="2000" b="1" i="1" dirty="0">
                <a:latin typeface="Arial" panose="020B0604020202020204" pitchFamily="34" charset="0"/>
                <a:cs typeface="Arial" panose="020B0604020202020204" pitchFamily="34" charset="0"/>
              </a:rPr>
              <a:t>important attachments </a:t>
            </a:r>
            <a:r>
              <a:rPr lang="en-GB" sz="2000" dirty="0">
                <a:latin typeface="Arial" panose="020B0604020202020204" pitchFamily="34" charset="0"/>
                <a:cs typeface="Arial" panose="020B0604020202020204" pitchFamily="34" charset="0"/>
              </a:rPr>
              <a:t>for children </a:t>
            </a:r>
          </a:p>
          <a:p>
            <a:pPr marL="0" indent="0">
              <a:buFontTx/>
              <a:buNone/>
              <a:defRPr/>
            </a:pPr>
            <a:endParaRPr lang="en-GB" sz="1200" dirty="0">
              <a:latin typeface="Arial" panose="020B0604020202020204" pitchFamily="34" charset="0"/>
              <a:cs typeface="Arial" panose="020B0604020202020204" pitchFamily="34" charset="0"/>
            </a:endParaRPr>
          </a:p>
          <a:p>
            <a:pPr>
              <a:defRPr/>
            </a:pPr>
            <a:r>
              <a:rPr lang="en-GB" sz="2000" b="1" i="1" dirty="0">
                <a:latin typeface="Arial" panose="020B0604020202020204" pitchFamily="34" charset="0"/>
                <a:cs typeface="Arial" panose="020B0604020202020204" pitchFamily="34" charset="0"/>
              </a:rPr>
              <a:t>Q</a:t>
            </a:r>
            <a:r>
              <a:rPr lang="en-GB" sz="2000" b="1" i="1" dirty="0" smtClean="0">
                <a:latin typeface="Arial" panose="020B0604020202020204" pitchFamily="34" charset="0"/>
                <a:cs typeface="Arial" panose="020B0604020202020204" pitchFamily="34" charset="0"/>
              </a:rPr>
              <a:t>uality </a:t>
            </a:r>
            <a:r>
              <a:rPr lang="en-GB" sz="2000" dirty="0">
                <a:latin typeface="Arial" panose="020B0604020202020204" pitchFamily="34" charset="0"/>
                <a:cs typeface="Arial" panose="020B0604020202020204" pitchFamily="34" charset="0"/>
              </a:rPr>
              <a:t>of </a:t>
            </a:r>
            <a:r>
              <a:rPr lang="en-GB" sz="2000" b="1" i="1" dirty="0" smtClean="0">
                <a:latin typeface="Arial" panose="020B0604020202020204" pitchFamily="34" charset="0"/>
                <a:cs typeface="Arial" panose="020B0604020202020204" pitchFamily="34" charset="0"/>
              </a:rPr>
              <a:t>practitioner-child relationships</a:t>
            </a:r>
            <a:r>
              <a:rPr lang="en-GB" sz="2000" dirty="0" smtClean="0">
                <a:latin typeface="Arial" panose="020B0604020202020204" pitchFamily="34" charset="0"/>
                <a:cs typeface="Arial" panose="020B0604020202020204" pitchFamily="34" charset="0"/>
              </a:rPr>
              <a:t> </a:t>
            </a:r>
            <a:r>
              <a:rPr lang="en-GB" sz="2000" dirty="0">
                <a:latin typeface="Arial" panose="020B0604020202020204" pitchFamily="34" charset="0"/>
                <a:cs typeface="Arial" panose="020B0604020202020204" pitchFamily="34" charset="0"/>
              </a:rPr>
              <a:t>and </a:t>
            </a:r>
            <a:r>
              <a:rPr lang="en-GB" sz="2000" b="1" dirty="0">
                <a:latin typeface="Arial" panose="020B0604020202020204" pitchFamily="34" charset="0"/>
                <a:cs typeface="Arial" panose="020B0604020202020204" pitchFamily="34" charset="0"/>
              </a:rPr>
              <a:t>achievement </a:t>
            </a:r>
            <a:endParaRPr lang="en-GB" sz="2000" dirty="0">
              <a:latin typeface="Arial" panose="020B0604020202020204" pitchFamily="34" charset="0"/>
              <a:cs typeface="Arial" panose="020B0604020202020204" pitchFamily="34" charset="0"/>
            </a:endParaRPr>
          </a:p>
          <a:p>
            <a:pPr marL="0" indent="0">
              <a:buFontTx/>
              <a:buNone/>
              <a:defRPr/>
            </a:pPr>
            <a:r>
              <a:rPr lang="en-GB" sz="1200" dirty="0" smtClean="0">
                <a:latin typeface="Arial" panose="020B0604020202020204" pitchFamily="34" charset="0"/>
                <a:cs typeface="Arial" panose="020B0604020202020204" pitchFamily="34" charset="0"/>
              </a:rPr>
              <a:t> </a:t>
            </a:r>
            <a:endParaRPr lang="en-GB" sz="1200" dirty="0">
              <a:latin typeface="Arial" panose="020B0604020202020204" pitchFamily="34" charset="0"/>
              <a:cs typeface="Arial" panose="020B0604020202020204" pitchFamily="34" charset="0"/>
            </a:endParaRPr>
          </a:p>
          <a:p>
            <a:pPr>
              <a:defRPr/>
            </a:pPr>
            <a:r>
              <a:rPr lang="en-GB" sz="2000" b="1" dirty="0">
                <a:latin typeface="Arial" panose="020B0604020202020204" pitchFamily="34" charset="0"/>
                <a:cs typeface="Arial" panose="020B0604020202020204" pitchFamily="34" charset="0"/>
              </a:rPr>
              <a:t>High quality</a:t>
            </a:r>
            <a:r>
              <a:rPr lang="en-GB" sz="2000" baseline="-25000" dirty="0">
                <a:latin typeface="Arial" panose="020B0604020202020204" pitchFamily="34" charset="0"/>
                <a:cs typeface="Arial" panose="020B0604020202020204" pitchFamily="34" charset="0"/>
              </a:rPr>
              <a:t> </a:t>
            </a:r>
            <a:r>
              <a:rPr lang="en-GB" sz="2000" dirty="0">
                <a:latin typeface="Arial" panose="020B0604020202020204" pitchFamily="34" charset="0"/>
                <a:cs typeface="Arial" panose="020B0604020202020204" pitchFamily="34" charset="0"/>
              </a:rPr>
              <a:t> practitioner-child relationships help </a:t>
            </a:r>
            <a:r>
              <a:rPr lang="en-GB" sz="2000" b="1" dirty="0">
                <a:latin typeface="Arial" panose="020B0604020202020204" pitchFamily="34" charset="0"/>
                <a:cs typeface="Arial" panose="020B0604020202020204" pitchFamily="34" charset="0"/>
              </a:rPr>
              <a:t>buffer</a:t>
            </a:r>
            <a:r>
              <a:rPr lang="en-GB" sz="2000" dirty="0">
                <a:latin typeface="Arial" panose="020B0604020202020204" pitchFamily="34" charset="0"/>
                <a:cs typeface="Arial" panose="020B0604020202020204" pitchFamily="34" charset="0"/>
              </a:rPr>
              <a:t> children from </a:t>
            </a:r>
            <a:r>
              <a:rPr lang="en-GB" sz="2000" dirty="0" smtClean="0">
                <a:latin typeface="Arial" panose="020B0604020202020204" pitchFamily="34" charset="0"/>
                <a:cs typeface="Arial" panose="020B0604020202020204" pitchFamily="34" charset="0"/>
              </a:rPr>
              <a:t>the </a:t>
            </a:r>
            <a:r>
              <a:rPr lang="en-GB" sz="2000" b="1" i="1" dirty="0" smtClean="0">
                <a:latin typeface="Arial" panose="020B0604020202020204" pitchFamily="34" charset="0"/>
                <a:cs typeface="Arial" panose="020B0604020202020204" pitchFamily="34" charset="0"/>
              </a:rPr>
              <a:t>negative </a:t>
            </a:r>
            <a:r>
              <a:rPr lang="en-GB" sz="2000" b="1" i="1" dirty="0">
                <a:latin typeface="Arial" panose="020B0604020202020204" pitchFamily="34" charset="0"/>
                <a:cs typeface="Arial" panose="020B0604020202020204" pitchFamily="34" charset="0"/>
              </a:rPr>
              <a:t>effects</a:t>
            </a:r>
            <a:r>
              <a:rPr lang="en-GB" sz="2000" dirty="0">
                <a:latin typeface="Arial" panose="020B0604020202020204" pitchFamily="34" charset="0"/>
                <a:cs typeface="Arial" panose="020B0604020202020204" pitchFamily="34" charset="0"/>
              </a:rPr>
              <a:t> of insecure attachment on </a:t>
            </a:r>
            <a:r>
              <a:rPr lang="en-GB" sz="2000" b="1" i="1" dirty="0">
                <a:latin typeface="Arial" panose="020B0604020202020204" pitchFamily="34" charset="0"/>
                <a:cs typeface="Arial" panose="020B0604020202020204" pitchFamily="34" charset="0"/>
              </a:rPr>
              <a:t>achievement </a:t>
            </a:r>
            <a:r>
              <a:rPr lang="en-GB" sz="2000" dirty="0">
                <a:latin typeface="Arial" panose="020B0604020202020204" pitchFamily="34" charset="0"/>
                <a:cs typeface="Arial" panose="020B0604020202020204" pitchFamily="34" charset="0"/>
              </a:rPr>
              <a:t> </a:t>
            </a:r>
          </a:p>
          <a:p>
            <a:pPr marL="0" indent="0">
              <a:buFontTx/>
              <a:buNone/>
              <a:defRPr/>
            </a:pPr>
            <a:endParaRPr lang="en-GB" sz="1200" dirty="0">
              <a:latin typeface="Arial" panose="020B0604020202020204" pitchFamily="34" charset="0"/>
              <a:cs typeface="Arial" panose="020B0604020202020204" pitchFamily="34" charset="0"/>
            </a:endParaRPr>
          </a:p>
          <a:p>
            <a:pPr>
              <a:defRPr/>
            </a:pPr>
            <a:r>
              <a:rPr lang="en-GB" sz="2000" dirty="0">
                <a:latin typeface="Arial" panose="020B0604020202020204" pitchFamily="34" charset="0"/>
                <a:cs typeface="Arial" panose="020B0604020202020204" pitchFamily="34" charset="0"/>
              </a:rPr>
              <a:t>Emotional resilience </a:t>
            </a:r>
            <a:r>
              <a:rPr lang="en-GB" sz="2000" b="1" i="1" dirty="0">
                <a:latin typeface="Arial" panose="020B0604020202020204" pitchFamily="34" charset="0"/>
                <a:cs typeface="Arial" panose="020B0604020202020204" pitchFamily="34" charset="0"/>
              </a:rPr>
              <a:t>and</a:t>
            </a:r>
            <a:r>
              <a:rPr lang="en-GB" sz="2000" dirty="0">
                <a:latin typeface="Arial" panose="020B0604020202020204" pitchFamily="34" charset="0"/>
                <a:cs typeface="Arial" panose="020B0604020202020204" pitchFamily="34" charset="0"/>
              </a:rPr>
              <a:t> the ability to learn are </a:t>
            </a:r>
            <a:r>
              <a:rPr lang="en-GB" sz="2000" b="1" i="1" dirty="0">
                <a:latin typeface="Arial" panose="020B0604020202020204" pitchFamily="34" charset="0"/>
                <a:cs typeface="Arial" panose="020B0604020202020204" pitchFamily="34" charset="0"/>
              </a:rPr>
              <a:t>inextricably linked </a:t>
            </a:r>
            <a:endParaRPr lang="en-GB" sz="2000" dirty="0">
              <a:latin typeface="Arial" panose="020B0604020202020204" pitchFamily="34" charset="0"/>
              <a:cs typeface="Arial" panose="020B0604020202020204" pitchFamily="34" charset="0"/>
            </a:endParaRPr>
          </a:p>
          <a:p>
            <a:pPr marL="0" indent="0">
              <a:buFontTx/>
              <a:buNone/>
              <a:defRPr/>
            </a:pPr>
            <a:endParaRPr lang="en-GB" sz="2000" dirty="0">
              <a:latin typeface="Arial" panose="020B0604020202020204" pitchFamily="34" charset="0"/>
              <a:cs typeface="Arial" panose="020B0604020202020204" pitchFamily="34" charset="0"/>
            </a:endParaRPr>
          </a:p>
          <a:p>
            <a:pPr marL="0" indent="0">
              <a:buFontTx/>
              <a:buNone/>
              <a:defRPr/>
            </a:pPr>
            <a:r>
              <a:rPr lang="en-GB" sz="2000" b="1" dirty="0" smtClean="0">
                <a:latin typeface="Arial" panose="020B0604020202020204" pitchFamily="34" charset="0"/>
                <a:cs typeface="Arial" panose="020B0604020202020204" pitchFamily="34" charset="0"/>
              </a:rPr>
              <a:t>Secure </a:t>
            </a:r>
            <a:r>
              <a:rPr lang="en-GB" sz="2000" b="1" dirty="0">
                <a:latin typeface="Arial" panose="020B0604020202020204" pitchFamily="34" charset="0"/>
                <a:cs typeface="Arial" panose="020B0604020202020204" pitchFamily="34" charset="0"/>
              </a:rPr>
              <a:t>attachment </a:t>
            </a:r>
            <a:r>
              <a:rPr lang="en-GB" sz="2000" dirty="0">
                <a:latin typeface="Arial" panose="020B0604020202020204" pitchFamily="34" charset="0"/>
                <a:cs typeface="Arial" panose="020B0604020202020204" pitchFamily="34" charset="0"/>
              </a:rPr>
              <a:t>relationships correlate strongly with </a:t>
            </a:r>
            <a:r>
              <a:rPr lang="en-GB" sz="2000" b="1" dirty="0">
                <a:solidFill>
                  <a:srgbClr val="FF0000"/>
                </a:solidFill>
                <a:latin typeface="Arial" panose="020B0604020202020204" pitchFamily="34" charset="0"/>
                <a:cs typeface="Arial" panose="020B0604020202020204" pitchFamily="34" charset="0"/>
              </a:rPr>
              <a:t>higher academic attainment</a:t>
            </a:r>
            <a:r>
              <a:rPr lang="en-GB" sz="2000" dirty="0">
                <a:solidFill>
                  <a:srgbClr val="FF0000"/>
                </a:solidFill>
                <a:latin typeface="Arial" panose="020B0604020202020204" pitchFamily="34" charset="0"/>
                <a:cs typeface="Arial" panose="020B0604020202020204" pitchFamily="34" charset="0"/>
              </a:rPr>
              <a:t>, </a:t>
            </a:r>
            <a:r>
              <a:rPr lang="en-GB" sz="2000" b="1" dirty="0">
                <a:solidFill>
                  <a:srgbClr val="FF0000"/>
                </a:solidFill>
                <a:latin typeface="Arial" panose="020B0604020202020204" pitchFamily="34" charset="0"/>
                <a:cs typeface="Arial" panose="020B0604020202020204" pitchFamily="34" charset="0"/>
              </a:rPr>
              <a:t>better self-regulation </a:t>
            </a:r>
            <a:r>
              <a:rPr lang="en-GB" sz="2000" dirty="0">
                <a:solidFill>
                  <a:srgbClr val="FF0000"/>
                </a:solidFill>
                <a:latin typeface="Arial" panose="020B0604020202020204" pitchFamily="34" charset="0"/>
                <a:cs typeface="Arial" panose="020B0604020202020204" pitchFamily="34" charset="0"/>
              </a:rPr>
              <a:t>and </a:t>
            </a:r>
            <a:r>
              <a:rPr lang="en-GB" sz="2000" b="1" dirty="0">
                <a:solidFill>
                  <a:srgbClr val="FF0000"/>
                </a:solidFill>
                <a:latin typeface="Arial" panose="020B0604020202020204" pitchFamily="34" charset="0"/>
                <a:cs typeface="Arial" panose="020B0604020202020204" pitchFamily="34" charset="0"/>
              </a:rPr>
              <a:t>social competence </a:t>
            </a:r>
            <a:endParaRPr lang="en-GB" sz="2000" dirty="0">
              <a:solidFill>
                <a:srgbClr val="FF0000"/>
              </a:solidFill>
              <a:latin typeface="Arial" panose="020B0604020202020204" pitchFamily="34" charset="0"/>
              <a:cs typeface="Arial" panose="020B0604020202020204" pitchFamily="34" charset="0"/>
            </a:endParaRPr>
          </a:p>
          <a:p>
            <a:pPr marL="0" indent="0">
              <a:buFontTx/>
              <a:buNone/>
              <a:defRPr/>
            </a:pPr>
            <a:endParaRPr lang="en-GB" sz="2000" dirty="0"/>
          </a:p>
          <a:p>
            <a:pPr eaLnBrk="1" hangingPunct="1">
              <a:buFontTx/>
              <a:buNone/>
              <a:defRPr/>
            </a:pPr>
            <a:endParaRPr lang="en-GB" altLang="en-US" sz="2000" dirty="0" smtClean="0">
              <a:latin typeface="Arial" charset="0"/>
              <a:cs typeface="Arial" charset="0"/>
            </a:endParaRPr>
          </a:p>
        </p:txBody>
      </p:sp>
    </p:spTree>
    <p:extLst>
      <p:ext uri="{BB962C8B-B14F-4D97-AF65-F5344CB8AC3E}">
        <p14:creationId xmlns:p14="http://schemas.microsoft.com/office/powerpoint/2010/main" val="84115502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 name="Rectangle 19"/>
          <p:cNvSpPr>
            <a:spLocks noGrp="1" noChangeArrowheads="1"/>
          </p:cNvSpPr>
          <p:nvPr>
            <p:ph type="title" idx="4294967295"/>
          </p:nvPr>
        </p:nvSpPr>
        <p:spPr>
          <a:xfrm>
            <a:off x="0" y="274638"/>
            <a:ext cx="8229600" cy="1143000"/>
          </a:xfrm>
        </p:spPr>
        <p:txBody>
          <a:bodyPr/>
          <a:lstStyle/>
          <a:p>
            <a:pPr eaLnBrk="1" hangingPunct="1"/>
            <a:r>
              <a:rPr lang="en-US" altLang="en-US" sz="3400" smtClean="0">
                <a:latin typeface="Arial" charset="0"/>
                <a:cs typeface="Arial" charset="0"/>
              </a:rPr>
              <a:t>So schools and teachers need to…</a:t>
            </a:r>
          </a:p>
        </p:txBody>
      </p:sp>
      <p:sp>
        <p:nvSpPr>
          <p:cNvPr id="2059" name="Rectangle 20"/>
          <p:cNvSpPr>
            <a:spLocks noGrp="1" noChangeArrowheads="1"/>
          </p:cNvSpPr>
          <p:nvPr>
            <p:ph type="body" idx="4294967295"/>
          </p:nvPr>
        </p:nvSpPr>
        <p:spPr>
          <a:xfrm>
            <a:off x="611188" y="1628775"/>
            <a:ext cx="8532812" cy="4608513"/>
          </a:xfrm>
        </p:spPr>
        <p:txBody>
          <a:bodyPr>
            <a:normAutofit lnSpcReduction="10000"/>
          </a:bodyPr>
          <a:lstStyle/>
          <a:p>
            <a:pPr eaLnBrk="1" hangingPunct="1">
              <a:buFontTx/>
              <a:buNone/>
            </a:pPr>
            <a:r>
              <a:rPr lang="en-GB" altLang="en-US" sz="2000" dirty="0" smtClean="0">
                <a:latin typeface="Arial" charset="0"/>
                <a:cs typeface="Arial" charset="0"/>
              </a:rPr>
              <a:t>	</a:t>
            </a:r>
          </a:p>
          <a:p>
            <a:pPr eaLnBrk="1" hangingPunct="1">
              <a:buFontTx/>
              <a:buNone/>
            </a:pPr>
            <a:r>
              <a:rPr lang="en-GB" altLang="en-US" sz="2000" dirty="0" smtClean="0">
                <a:latin typeface="Arial" charset="0"/>
                <a:cs typeface="Arial" charset="0"/>
              </a:rPr>
              <a:t>	Create </a:t>
            </a:r>
            <a:r>
              <a:rPr lang="en-GB" altLang="en-US" sz="2000" b="1" dirty="0" smtClean="0">
                <a:latin typeface="Arial" charset="0"/>
                <a:cs typeface="Arial" charset="0"/>
              </a:rPr>
              <a:t>nurturing relationships </a:t>
            </a:r>
            <a:r>
              <a:rPr lang="en-GB" altLang="en-US" sz="2000" dirty="0" smtClean="0">
                <a:latin typeface="Arial" charset="0"/>
                <a:cs typeface="Arial" charset="0"/>
              </a:rPr>
              <a:t>to promote children’s learning and behaviour and satisfy children’s innate need to have a secure </a:t>
            </a:r>
            <a:r>
              <a:rPr lang="en-GB" altLang="en-US" sz="2000" b="1" dirty="0" smtClean="0">
                <a:latin typeface="Arial" charset="0"/>
                <a:cs typeface="Arial" charset="0"/>
              </a:rPr>
              <a:t>‘sense of belonging’.</a:t>
            </a:r>
          </a:p>
          <a:p>
            <a:pPr eaLnBrk="1" hangingPunct="1">
              <a:buFontTx/>
              <a:buNone/>
            </a:pPr>
            <a:endParaRPr lang="en-GB" altLang="en-US" sz="2000" b="1" dirty="0" smtClean="0">
              <a:latin typeface="Arial" charset="0"/>
              <a:cs typeface="Arial" charset="0"/>
            </a:endParaRPr>
          </a:p>
          <a:p>
            <a:pPr eaLnBrk="1" hangingPunct="1">
              <a:buFontTx/>
              <a:buNone/>
            </a:pPr>
            <a:r>
              <a:rPr lang="en-GB" altLang="en-US" sz="2000" b="1" dirty="0" smtClean="0">
                <a:latin typeface="Arial" charset="0"/>
                <a:cs typeface="Arial" charset="0"/>
              </a:rPr>
              <a:t>	Acknowledge </a:t>
            </a:r>
            <a:r>
              <a:rPr lang="en-GB" altLang="en-US" sz="2000" dirty="0" smtClean="0">
                <a:latin typeface="Arial" charset="0"/>
                <a:cs typeface="Arial" charset="0"/>
              </a:rPr>
              <a:t>adults’ roles as a potential </a:t>
            </a:r>
            <a:r>
              <a:rPr lang="en-GB" altLang="en-US" sz="2000" i="1" dirty="0" smtClean="0">
                <a:latin typeface="Arial" charset="0"/>
                <a:cs typeface="Arial" charset="0"/>
              </a:rPr>
              <a:t>secondary</a:t>
            </a:r>
            <a:r>
              <a:rPr lang="en-GB" altLang="en-US" sz="2000" dirty="0" smtClean="0">
                <a:latin typeface="Arial" charset="0"/>
                <a:cs typeface="Arial" charset="0"/>
              </a:rPr>
              <a:t> attachment figure who can help to </a:t>
            </a:r>
            <a:r>
              <a:rPr lang="en-GB" altLang="en-US" sz="2000" b="1" dirty="0" smtClean="0">
                <a:latin typeface="Arial" charset="0"/>
                <a:cs typeface="Arial" charset="0"/>
              </a:rPr>
              <a:t>reshape</a:t>
            </a:r>
            <a:r>
              <a:rPr lang="en-GB" altLang="en-US" sz="2000" dirty="0" smtClean="0">
                <a:latin typeface="Arial" charset="0"/>
                <a:cs typeface="Arial" charset="0"/>
              </a:rPr>
              <a:t> insecure attachment behaviours and support the development of more secure ones.</a:t>
            </a:r>
          </a:p>
          <a:p>
            <a:pPr eaLnBrk="1" hangingPunct="1">
              <a:buFontTx/>
              <a:buNone/>
            </a:pPr>
            <a:endParaRPr lang="en-GB" altLang="en-US" sz="2000" dirty="0" smtClean="0">
              <a:latin typeface="Arial" charset="0"/>
              <a:cs typeface="Arial" charset="0"/>
            </a:endParaRPr>
          </a:p>
          <a:p>
            <a:pPr eaLnBrk="1" hangingPunct="1">
              <a:buFontTx/>
              <a:buNone/>
            </a:pPr>
            <a:r>
              <a:rPr lang="en-GB" altLang="en-US" sz="2000" dirty="0" smtClean="0">
                <a:latin typeface="Arial" charset="0"/>
                <a:cs typeface="Arial" charset="0"/>
              </a:rPr>
              <a:t>	Create </a:t>
            </a:r>
            <a:r>
              <a:rPr lang="en-GB" altLang="en-US" sz="2000" b="1" dirty="0" smtClean="0">
                <a:latin typeface="Arial" charset="0"/>
                <a:cs typeface="Arial" charset="0"/>
              </a:rPr>
              <a:t>additional infrastructures </a:t>
            </a:r>
            <a:r>
              <a:rPr lang="en-GB" altLang="en-US" sz="2000" dirty="0" smtClean="0">
                <a:latin typeface="Arial" charset="0"/>
                <a:cs typeface="Arial" charset="0"/>
              </a:rPr>
              <a:t>for children with emotional and behavioural impairments (as we do for physical and learning impairment).</a:t>
            </a:r>
          </a:p>
          <a:p>
            <a:pPr eaLnBrk="1" hangingPunct="1">
              <a:buFontTx/>
              <a:buNone/>
            </a:pPr>
            <a:endParaRPr lang="en-GB" altLang="en-US" sz="2000" dirty="0" smtClean="0">
              <a:latin typeface="Arial" charset="0"/>
              <a:cs typeface="Arial" charset="0"/>
            </a:endParaRPr>
          </a:p>
          <a:p>
            <a:pPr eaLnBrk="1" hangingPunct="1">
              <a:buFontTx/>
              <a:buNone/>
            </a:pPr>
            <a:r>
              <a:rPr lang="en-GB" altLang="en-US" sz="2000" dirty="0" smtClean="0">
                <a:latin typeface="Arial" charset="0"/>
                <a:cs typeface="Arial" charset="0"/>
              </a:rPr>
              <a:t>	</a:t>
            </a:r>
          </a:p>
        </p:txBody>
      </p:sp>
    </p:spTree>
    <p:extLst>
      <p:ext uri="{BB962C8B-B14F-4D97-AF65-F5344CB8AC3E}">
        <p14:creationId xmlns:p14="http://schemas.microsoft.com/office/powerpoint/2010/main" val="36960042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 name="Rectangle 19"/>
          <p:cNvSpPr>
            <a:spLocks noGrp="1" noChangeArrowheads="1"/>
          </p:cNvSpPr>
          <p:nvPr>
            <p:ph type="title" idx="4294967295"/>
          </p:nvPr>
        </p:nvSpPr>
        <p:spPr>
          <a:xfrm>
            <a:off x="0" y="274638"/>
            <a:ext cx="8229600" cy="1143000"/>
          </a:xfrm>
        </p:spPr>
        <p:txBody>
          <a:bodyPr/>
          <a:lstStyle/>
          <a:p>
            <a:pPr eaLnBrk="1" hangingPunct="1"/>
            <a:r>
              <a:rPr lang="en-US" altLang="en-US" sz="3400" dirty="0" smtClean="0">
                <a:latin typeface="Arial" charset="0"/>
                <a:cs typeface="Arial" charset="0"/>
              </a:rPr>
              <a:t>Word of warning….</a:t>
            </a:r>
          </a:p>
        </p:txBody>
      </p:sp>
      <p:sp>
        <p:nvSpPr>
          <p:cNvPr id="2059" name="Rectangle 20"/>
          <p:cNvSpPr>
            <a:spLocks noGrp="1" noChangeArrowheads="1"/>
          </p:cNvSpPr>
          <p:nvPr>
            <p:ph type="body" idx="4294967295"/>
          </p:nvPr>
        </p:nvSpPr>
        <p:spPr>
          <a:xfrm>
            <a:off x="611188" y="1484313"/>
            <a:ext cx="7799567" cy="4752975"/>
          </a:xfrm>
        </p:spPr>
        <p:txBody>
          <a:bodyPr/>
          <a:lstStyle/>
          <a:p>
            <a:pPr>
              <a:defRPr/>
            </a:pPr>
            <a:r>
              <a:rPr lang="en-GB" sz="2000" dirty="0" smtClean="0">
                <a:latin typeface="Arial" panose="020B0604020202020204" pitchFamily="34" charset="0"/>
                <a:cs typeface="Arial" panose="020B0604020202020204" pitchFamily="34" charset="0"/>
              </a:rPr>
              <a:t>Social communicational/Autism Spectrum Disorder</a:t>
            </a:r>
            <a:br>
              <a:rPr lang="en-GB" sz="2000" dirty="0" smtClean="0">
                <a:latin typeface="Arial" panose="020B0604020202020204" pitchFamily="34" charset="0"/>
                <a:cs typeface="Arial" panose="020B0604020202020204" pitchFamily="34" charset="0"/>
              </a:rPr>
            </a:br>
            <a:endParaRPr lang="en-GB" sz="2000" dirty="0" smtClean="0">
              <a:latin typeface="Arial" panose="020B0604020202020204" pitchFamily="34" charset="0"/>
              <a:cs typeface="Arial" panose="020B0604020202020204" pitchFamily="34" charset="0"/>
            </a:endParaRPr>
          </a:p>
          <a:p>
            <a:pPr>
              <a:defRPr/>
            </a:pPr>
            <a:r>
              <a:rPr lang="en-GB" sz="2000" dirty="0" smtClean="0">
                <a:latin typeface="Arial" panose="020B0604020202020204" pitchFamily="34" charset="0"/>
                <a:cs typeface="Arial" panose="020B0604020202020204" pitchFamily="34" charset="0"/>
              </a:rPr>
              <a:t>Attention Deficit Hyperactivity Disorder (ADHD)</a:t>
            </a:r>
            <a:br>
              <a:rPr lang="en-GB" sz="2000" dirty="0" smtClean="0">
                <a:latin typeface="Arial" panose="020B0604020202020204" pitchFamily="34" charset="0"/>
                <a:cs typeface="Arial" panose="020B0604020202020204" pitchFamily="34" charset="0"/>
              </a:rPr>
            </a:br>
            <a:endParaRPr lang="en-GB" sz="2000" dirty="0" smtClean="0">
              <a:latin typeface="Arial" panose="020B0604020202020204" pitchFamily="34" charset="0"/>
              <a:cs typeface="Arial" panose="020B0604020202020204" pitchFamily="34" charset="0"/>
            </a:endParaRPr>
          </a:p>
          <a:p>
            <a:pPr>
              <a:defRPr/>
            </a:pPr>
            <a:r>
              <a:rPr lang="en-GB" sz="2000" dirty="0" smtClean="0">
                <a:latin typeface="Arial" panose="020B0604020202020204" pitchFamily="34" charset="0"/>
                <a:cs typeface="Arial" panose="020B0604020202020204" pitchFamily="34" charset="0"/>
              </a:rPr>
              <a:t>“Naughty” or “attention-seeking” </a:t>
            </a:r>
            <a:endParaRPr lang="en-GB" sz="2000" dirty="0">
              <a:latin typeface="Arial" panose="020B0604020202020204" pitchFamily="34" charset="0"/>
              <a:cs typeface="Arial" panose="020B0604020202020204" pitchFamily="34" charset="0"/>
            </a:endParaRPr>
          </a:p>
          <a:p>
            <a:pPr marL="0" indent="0">
              <a:buFontTx/>
              <a:buNone/>
              <a:defRPr/>
            </a:pPr>
            <a:endParaRPr lang="en-GB" sz="2000" dirty="0"/>
          </a:p>
          <a:p>
            <a:pPr eaLnBrk="1" hangingPunct="1">
              <a:buFontTx/>
              <a:buNone/>
              <a:defRPr/>
            </a:pPr>
            <a:endParaRPr lang="en-GB" altLang="en-US" sz="2000" dirty="0" smtClean="0">
              <a:latin typeface="Arial" charset="0"/>
              <a:cs typeface="Arial" charset="0"/>
            </a:endParaRPr>
          </a:p>
        </p:txBody>
      </p:sp>
    </p:spTree>
    <p:extLst>
      <p:ext uri="{BB962C8B-B14F-4D97-AF65-F5344CB8AC3E}">
        <p14:creationId xmlns:p14="http://schemas.microsoft.com/office/powerpoint/2010/main" val="11562180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4" name="Rectangle 6"/>
          <p:cNvSpPr>
            <a:spLocks noChangeArrowheads="1"/>
          </p:cNvSpPr>
          <p:nvPr/>
        </p:nvSpPr>
        <p:spPr bwMode="auto">
          <a:xfrm>
            <a:off x="755650" y="1196975"/>
            <a:ext cx="77041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US" altLang="en-US" sz="4400">
              <a:solidFill>
                <a:schemeClr val="tx2"/>
              </a:solidFill>
            </a:endParaRPr>
          </a:p>
        </p:txBody>
      </p:sp>
      <p:sp>
        <p:nvSpPr>
          <p:cNvPr id="32775" name="Rectangle 7"/>
          <p:cNvSpPr>
            <a:spLocks noGrp="1" noChangeArrowheads="1"/>
          </p:cNvSpPr>
          <p:nvPr>
            <p:ph type="title" idx="4294967295"/>
          </p:nvPr>
        </p:nvSpPr>
        <p:spPr>
          <a:xfrm>
            <a:off x="1078301" y="593216"/>
            <a:ext cx="7772400" cy="1143000"/>
          </a:xfrm>
        </p:spPr>
        <p:txBody>
          <a:bodyPr/>
          <a:lstStyle/>
          <a:p>
            <a:pPr eaLnBrk="1" hangingPunct="1"/>
            <a:r>
              <a:rPr lang="en-GB" altLang="en-US" sz="3600" dirty="0" smtClean="0">
                <a:latin typeface="Arial" charset="0"/>
              </a:rPr>
              <a:t>Pause for Thought</a:t>
            </a:r>
          </a:p>
        </p:txBody>
      </p:sp>
      <p:sp>
        <p:nvSpPr>
          <p:cNvPr id="32776" name="Rectangle 8"/>
          <p:cNvSpPr>
            <a:spLocks noGrp="1" noChangeArrowheads="1"/>
          </p:cNvSpPr>
          <p:nvPr>
            <p:ph type="body" idx="4294967295"/>
          </p:nvPr>
        </p:nvSpPr>
        <p:spPr>
          <a:xfrm>
            <a:off x="721519" y="1753409"/>
            <a:ext cx="7772400" cy="4395787"/>
          </a:xfrm>
        </p:spPr>
        <p:txBody>
          <a:bodyPr>
            <a:normAutofit lnSpcReduction="10000"/>
          </a:bodyPr>
          <a:lstStyle/>
          <a:p>
            <a:pPr marL="0" indent="0" eaLnBrk="1" hangingPunct="1">
              <a:buFontTx/>
              <a:buNone/>
            </a:pPr>
            <a:r>
              <a:rPr lang="en-GB" altLang="en-US" sz="2400" dirty="0" smtClean="0">
                <a:latin typeface="Arial" charset="0"/>
              </a:rPr>
              <a:t>What does a basic understanding of attachment tell you about your school’s approach to interpreting children’s behaviour?</a:t>
            </a:r>
          </a:p>
          <a:p>
            <a:pPr marL="0" indent="0" eaLnBrk="1" hangingPunct="1">
              <a:buFontTx/>
              <a:buNone/>
            </a:pPr>
            <a:endParaRPr lang="en-GB" altLang="en-US" sz="2400" dirty="0" smtClean="0">
              <a:latin typeface="Arial" charset="0"/>
            </a:endParaRPr>
          </a:p>
          <a:p>
            <a:pPr marL="0" indent="0" eaLnBrk="1" hangingPunct="1">
              <a:buFontTx/>
              <a:buNone/>
            </a:pPr>
            <a:r>
              <a:rPr lang="en-GB" altLang="en-US" sz="2400" dirty="0" smtClean="0">
                <a:latin typeface="Arial" charset="0"/>
              </a:rPr>
              <a:t>Why might some existing behaviour management systems in schools not work for children with unmet attachment needs or trauma?</a:t>
            </a:r>
          </a:p>
          <a:p>
            <a:pPr marL="0" indent="0" eaLnBrk="1" hangingPunct="1">
              <a:buFontTx/>
              <a:buNone/>
            </a:pPr>
            <a:endParaRPr lang="en-GB" altLang="en-US" sz="2400" dirty="0" smtClean="0">
              <a:latin typeface="Arial" charset="0"/>
            </a:endParaRPr>
          </a:p>
          <a:p>
            <a:pPr marL="0" indent="0" eaLnBrk="1" hangingPunct="1">
              <a:buFontTx/>
              <a:buNone/>
            </a:pPr>
            <a:r>
              <a:rPr lang="en-GB" altLang="en-US" sz="2400" dirty="0" smtClean="0">
                <a:latin typeface="Arial" charset="0"/>
              </a:rPr>
              <a:t>Think of a class of children that you work with.  How might an understanding of attachment affect how this class is supported to learn more effectively?</a:t>
            </a:r>
          </a:p>
        </p:txBody>
      </p:sp>
    </p:spTree>
    <p:extLst>
      <p:ext uri="{BB962C8B-B14F-4D97-AF65-F5344CB8AC3E}">
        <p14:creationId xmlns:p14="http://schemas.microsoft.com/office/powerpoint/2010/main" val="17184592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8" name="Rectangle 6"/>
          <p:cNvSpPr>
            <a:spLocks noChangeArrowheads="1"/>
          </p:cNvSpPr>
          <p:nvPr/>
        </p:nvSpPr>
        <p:spPr bwMode="auto">
          <a:xfrm>
            <a:off x="755650" y="1196975"/>
            <a:ext cx="77041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US" altLang="en-US" sz="4400">
              <a:solidFill>
                <a:schemeClr val="tx2"/>
              </a:solidFill>
            </a:endParaRPr>
          </a:p>
        </p:txBody>
      </p:sp>
      <p:sp>
        <p:nvSpPr>
          <p:cNvPr id="33799" name="Rectangle 7"/>
          <p:cNvSpPr>
            <a:spLocks noGrp="1" noChangeArrowheads="1"/>
          </p:cNvSpPr>
          <p:nvPr>
            <p:ph type="title" idx="4294967295"/>
          </p:nvPr>
        </p:nvSpPr>
        <p:spPr>
          <a:xfrm>
            <a:off x="0" y="274638"/>
            <a:ext cx="8229600" cy="1143000"/>
          </a:xfrm>
        </p:spPr>
        <p:txBody>
          <a:bodyPr/>
          <a:lstStyle/>
          <a:p>
            <a:pPr eaLnBrk="1" hangingPunct="1"/>
            <a:r>
              <a:rPr lang="en-GB" altLang="en-US" sz="3600" b="1" smtClean="0">
                <a:latin typeface="Arial" charset="0"/>
              </a:rPr>
              <a:t>Summary</a:t>
            </a:r>
          </a:p>
        </p:txBody>
      </p:sp>
      <p:sp>
        <p:nvSpPr>
          <p:cNvPr id="33800" name="Rectangle 8"/>
          <p:cNvSpPr>
            <a:spLocks noGrp="1" noChangeArrowheads="1"/>
          </p:cNvSpPr>
          <p:nvPr>
            <p:ph type="body" idx="4294967295"/>
          </p:nvPr>
        </p:nvSpPr>
        <p:spPr>
          <a:xfrm>
            <a:off x="388189" y="1577975"/>
            <a:ext cx="7951788" cy="4467225"/>
          </a:xfrm>
        </p:spPr>
        <p:txBody>
          <a:bodyPr>
            <a:normAutofit fontScale="85000" lnSpcReduction="10000"/>
          </a:bodyPr>
          <a:lstStyle/>
          <a:p>
            <a:pPr eaLnBrk="1" hangingPunct="1">
              <a:lnSpc>
                <a:spcPct val="80000"/>
              </a:lnSpc>
            </a:pPr>
            <a:r>
              <a:rPr lang="en-GB" altLang="en-US" sz="2400" dirty="0" smtClean="0">
                <a:latin typeface="Arial" charset="0"/>
              </a:rPr>
              <a:t>Nurturing attachments provide children with protective, safe havens and secure bases from which to explore and engage with others and their environment.</a:t>
            </a:r>
          </a:p>
          <a:p>
            <a:pPr eaLnBrk="1" hangingPunct="1">
              <a:lnSpc>
                <a:spcPct val="80000"/>
              </a:lnSpc>
            </a:pPr>
            <a:endParaRPr lang="en-GB" altLang="en-US" sz="2400" dirty="0" smtClean="0">
              <a:latin typeface="Arial" charset="0"/>
            </a:endParaRPr>
          </a:p>
          <a:p>
            <a:pPr eaLnBrk="1" hangingPunct="1">
              <a:lnSpc>
                <a:spcPct val="80000"/>
              </a:lnSpc>
            </a:pPr>
            <a:r>
              <a:rPr lang="en-GB" altLang="en-US" sz="2400" dirty="0" smtClean="0">
                <a:latin typeface="Arial" charset="0"/>
              </a:rPr>
              <a:t>Attachment behaviours are very persistent and are often triggered when the child is in an anxious state </a:t>
            </a:r>
            <a:r>
              <a:rPr lang="en-GB" altLang="en-US" sz="2400" i="1" dirty="0" smtClean="0">
                <a:latin typeface="Arial" charset="0"/>
              </a:rPr>
              <a:t>(e.g. learning)</a:t>
            </a:r>
          </a:p>
          <a:p>
            <a:pPr eaLnBrk="1" hangingPunct="1">
              <a:lnSpc>
                <a:spcPct val="80000"/>
              </a:lnSpc>
            </a:pPr>
            <a:endParaRPr lang="en-GB" altLang="en-US" sz="2400" i="1" dirty="0" smtClean="0">
              <a:latin typeface="Arial" charset="0"/>
            </a:endParaRPr>
          </a:p>
          <a:p>
            <a:pPr eaLnBrk="1" hangingPunct="1">
              <a:lnSpc>
                <a:spcPct val="80000"/>
              </a:lnSpc>
            </a:pPr>
            <a:r>
              <a:rPr lang="en-GB" altLang="en-US" sz="2400" dirty="0" smtClean="0">
                <a:latin typeface="Arial" charset="0"/>
              </a:rPr>
              <a:t>Insecurely attached children may be labelled as ‘attention seeking’, ‘disruptive’, ‘withdrawn’ etc.</a:t>
            </a:r>
          </a:p>
          <a:p>
            <a:pPr eaLnBrk="1" hangingPunct="1">
              <a:lnSpc>
                <a:spcPct val="80000"/>
              </a:lnSpc>
            </a:pPr>
            <a:endParaRPr lang="en-GB" altLang="en-US" sz="2400" dirty="0" smtClean="0">
              <a:latin typeface="Arial" charset="0"/>
            </a:endParaRPr>
          </a:p>
          <a:p>
            <a:pPr eaLnBrk="1" hangingPunct="1">
              <a:lnSpc>
                <a:spcPct val="80000"/>
              </a:lnSpc>
            </a:pPr>
            <a:r>
              <a:rPr lang="en-GB" altLang="en-US" sz="2400" dirty="0" smtClean="0">
                <a:latin typeface="Arial" charset="0"/>
              </a:rPr>
              <a:t>Attachment theory believes that rewarding the child with attention is NOT reinforcing undesirable behaviour but actually promotes the attachment state. Once the attachment state has been achieved it facilitates more effective learning, improved sociability and better peer relationships</a:t>
            </a:r>
          </a:p>
          <a:p>
            <a:pPr eaLnBrk="1" hangingPunct="1">
              <a:lnSpc>
                <a:spcPct val="80000"/>
              </a:lnSpc>
            </a:pPr>
            <a:endParaRPr lang="en-GB" altLang="en-US" sz="2400" dirty="0" smtClean="0">
              <a:latin typeface="Arial" charset="0"/>
            </a:endParaRPr>
          </a:p>
          <a:p>
            <a:pPr eaLnBrk="1" hangingPunct="1">
              <a:lnSpc>
                <a:spcPct val="80000"/>
              </a:lnSpc>
            </a:pPr>
            <a:r>
              <a:rPr lang="en-GB" altLang="en-US" sz="2400" dirty="0" smtClean="0">
                <a:latin typeface="Arial" charset="0"/>
              </a:rPr>
              <a:t>Adults in school can provide important attachments for children.</a:t>
            </a:r>
          </a:p>
          <a:p>
            <a:pPr eaLnBrk="1" hangingPunct="1">
              <a:lnSpc>
                <a:spcPct val="80000"/>
              </a:lnSpc>
            </a:pPr>
            <a:endParaRPr lang="en-GB" altLang="en-US" sz="2400" dirty="0" smtClean="0">
              <a:latin typeface="Arial" charset="0"/>
            </a:endParaRPr>
          </a:p>
        </p:txBody>
      </p:sp>
    </p:spTree>
    <p:extLst>
      <p:ext uri="{BB962C8B-B14F-4D97-AF65-F5344CB8AC3E}">
        <p14:creationId xmlns:p14="http://schemas.microsoft.com/office/powerpoint/2010/main" val="244781632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1924989" y="2627088"/>
            <a:ext cx="5447880" cy="780685"/>
          </a:xfrm>
        </p:spPr>
        <p:txBody>
          <a:bodyPr/>
          <a:lstStyle/>
          <a:p>
            <a:r>
              <a:rPr lang="en-US" dirty="0" smtClean="0">
                <a:latin typeface="+mj-lt"/>
              </a:rPr>
              <a:t>Thank you for listening</a:t>
            </a:r>
            <a:endParaRPr lang="en-US" dirty="0">
              <a:latin typeface="+mj-lt"/>
            </a:endParaRPr>
          </a:p>
        </p:txBody>
      </p:sp>
    </p:spTree>
    <p:extLst>
      <p:ext uri="{BB962C8B-B14F-4D97-AF65-F5344CB8AC3E}">
        <p14:creationId xmlns:p14="http://schemas.microsoft.com/office/powerpoint/2010/main" val="4192891351"/>
      </p:ext>
    </p:extLst>
  </p:cSld>
  <p:clrMapOvr>
    <a:masterClrMapping/>
  </p:clrMapOvr>
  <p:timing>
    <p:tnLst>
      <p:par>
        <p:cTn id="1" dur="indefinite" restart="never" nodeType="tmRoot"/>
      </p:par>
    </p:tnLst>
  </p:timing>
</p:sld>
</file>

<file path=ppt/theme/theme1.xml><?xml version="1.0" encoding="utf-8"?>
<a:theme xmlns:a="http://schemas.openxmlformats.org/drawingml/2006/main" name="Powerpoint_master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Powerpoint_master_template</Template>
  <TotalTime>233</TotalTime>
  <Words>1385</Words>
  <Application>Microsoft Office PowerPoint</Application>
  <PresentationFormat>On-screen Show (4:3)</PresentationFormat>
  <Paragraphs>171</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ＭＳ Ｐゴシック</vt:lpstr>
      <vt:lpstr>Arial</vt:lpstr>
      <vt:lpstr>Calibri</vt:lpstr>
      <vt:lpstr>Times New Roman</vt:lpstr>
      <vt:lpstr>Powerpoint_master_template</vt:lpstr>
      <vt:lpstr>PowerPoint Presentation</vt:lpstr>
      <vt:lpstr>PowerPoint Presentation</vt:lpstr>
      <vt:lpstr>PowerPoint Presentation</vt:lpstr>
      <vt:lpstr>PowerPoint Presentation</vt:lpstr>
      <vt:lpstr>PowerPoint Presentation</vt:lpstr>
      <vt:lpstr>PowerPoint Presentation</vt:lpstr>
      <vt:lpstr>Securely attached children:</vt:lpstr>
      <vt:lpstr>Insecurely attached children  – working with adults</vt:lpstr>
      <vt:lpstr>PowerPoint Presentation</vt:lpstr>
      <vt:lpstr>Insecurely attached children  – approach to tasks</vt:lpstr>
      <vt:lpstr>PowerPoint Presentation</vt:lpstr>
      <vt:lpstr>Why is knowing this important for you?</vt:lpstr>
      <vt:lpstr>So schools and teachers need to…</vt:lpstr>
      <vt:lpstr>Word of warning….</vt:lpstr>
      <vt:lpstr>Pause for Thought</vt:lpstr>
      <vt:lpstr>Summary</vt:lpstr>
      <vt:lpstr>PowerPoint Presentation</vt:lpstr>
    </vt:vector>
  </TitlesOfParts>
  <Company>RBWM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localprofile</dc:creator>
  <cp:lastModifiedBy>Scott I-Patrick (AfC)</cp:lastModifiedBy>
  <cp:revision>24</cp:revision>
  <cp:lastPrinted>2018-03-21T16:09:00Z</cp:lastPrinted>
  <dcterms:created xsi:type="dcterms:W3CDTF">2017-09-05T13:13:18Z</dcterms:created>
  <dcterms:modified xsi:type="dcterms:W3CDTF">2019-07-04T13:55:30Z</dcterms:modified>
</cp:coreProperties>
</file>