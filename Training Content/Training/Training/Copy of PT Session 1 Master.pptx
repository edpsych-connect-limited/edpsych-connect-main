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302" r:id="rId2"/>
    <p:sldId id="256" r:id="rId3"/>
    <p:sldId id="307" r:id="rId4"/>
    <p:sldId id="308" r:id="rId5"/>
    <p:sldId id="309" r:id="rId6"/>
    <p:sldId id="310" r:id="rId7"/>
    <p:sldId id="328" r:id="rId8"/>
    <p:sldId id="311" r:id="rId9"/>
    <p:sldId id="326" r:id="rId10"/>
    <p:sldId id="329" r:id="rId11"/>
    <p:sldId id="314" r:id="rId12"/>
    <p:sldId id="330" r:id="rId13"/>
    <p:sldId id="331" r:id="rId14"/>
    <p:sldId id="332" r:id="rId15"/>
    <p:sldId id="315" r:id="rId16"/>
    <p:sldId id="316" r:id="rId17"/>
    <p:sldId id="317" r:id="rId18"/>
    <p:sldId id="333" r:id="rId19"/>
    <p:sldId id="318" r:id="rId20"/>
    <p:sldId id="334" r:id="rId21"/>
    <p:sldId id="319" r:id="rId22"/>
    <p:sldId id="320" r:id="rId23"/>
    <p:sldId id="321" r:id="rId24"/>
    <p:sldId id="322" r:id="rId25"/>
    <p:sldId id="323" r:id="rId26"/>
    <p:sldId id="324" r:id="rId27"/>
    <p:sldId id="325" r:id="rId28"/>
    <p:sldId id="274" r:id="rId2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434F"/>
    <a:srgbClr val="F4C239"/>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21123" autoAdjust="0"/>
    <p:restoredTop sz="75477" autoAdjust="0"/>
  </p:normalViewPr>
  <p:slideViewPr>
    <p:cSldViewPr snapToGrid="0" snapToObjects="1">
      <p:cViewPr varScale="1">
        <p:scale>
          <a:sx n="100" d="100"/>
          <a:sy n="100" d="100"/>
        </p:scale>
        <p:origin x="-194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C41A69C-352B-43B9-AE28-0996A6EA73E5}" type="datetimeFigureOut">
              <a:rPr lang="en-GB" smtClean="0"/>
              <a:pPr/>
              <a:t>08/05/2018</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7582B9D-753F-4FD4-BB27-488C70B508F1}" type="slidenum">
              <a:rPr lang="en-GB" smtClean="0"/>
              <a:pPr/>
              <a:t>‹#›</a:t>
            </a:fld>
            <a:endParaRPr lang="en-GB"/>
          </a:p>
        </p:txBody>
      </p:sp>
    </p:spTree>
    <p:extLst>
      <p:ext uri="{BB962C8B-B14F-4D97-AF65-F5344CB8AC3E}">
        <p14:creationId xmlns:p14="http://schemas.microsoft.com/office/powerpoint/2010/main" val="1385338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1</a:t>
            </a:fld>
            <a:endParaRPr lang="en-GB"/>
          </a:p>
        </p:txBody>
      </p:sp>
    </p:spTree>
    <p:extLst>
      <p:ext uri="{BB962C8B-B14F-4D97-AF65-F5344CB8AC3E}">
        <p14:creationId xmlns:p14="http://schemas.microsoft.com/office/powerpoint/2010/main" val="42429114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itchFamily="34" charset="0"/>
              <a:buChar char="•"/>
            </a:pPr>
            <a:r>
              <a:rPr lang="en-GB" altLang="en-US" baseline="0" dirty="0" smtClean="0">
                <a:latin typeface="Times New Roman" pitchFamily="18" charset="0"/>
              </a:rPr>
              <a:t>Enquire how many TAs have:</a:t>
            </a:r>
          </a:p>
          <a:p>
            <a:pPr lvl="0">
              <a:buFont typeface="Arial" pitchFamily="34" charset="0"/>
              <a:buChar char="•"/>
            </a:pPr>
            <a:r>
              <a:rPr lang="en-GB" altLang="en-US" baseline="0" dirty="0" smtClean="0">
                <a:latin typeface="Times New Roman" pitchFamily="18" charset="0"/>
              </a:rPr>
              <a:t> heard of PT</a:t>
            </a:r>
          </a:p>
          <a:p>
            <a:pPr lvl="0">
              <a:buFont typeface="Arial" pitchFamily="34" charset="0"/>
              <a:buChar char="•"/>
            </a:pPr>
            <a:r>
              <a:rPr lang="en-GB" altLang="en-US" baseline="0" dirty="0" smtClean="0">
                <a:latin typeface="Times New Roman" pitchFamily="18" charset="0"/>
              </a:rPr>
              <a:t> done PT training</a:t>
            </a:r>
          </a:p>
          <a:p>
            <a:pPr lvl="0">
              <a:buFont typeface="Arial" pitchFamily="34" charset="0"/>
              <a:buChar char="•"/>
            </a:pPr>
            <a:r>
              <a:rPr lang="en-GB" altLang="en-US" baseline="0" dirty="0" smtClean="0">
                <a:latin typeface="Times New Roman" pitchFamily="18" charset="0"/>
              </a:rPr>
              <a:t> ever implemented a PT programme with a child</a:t>
            </a:r>
            <a:endParaRPr lang="en-GB" altLang="en-US" dirty="0" smtClean="0">
              <a:latin typeface="Times New Roman" pitchFamily="18" charset="0"/>
            </a:endParaRPr>
          </a:p>
          <a:p>
            <a:pPr eaLnBrk="1" hangingPunct="1"/>
            <a:endParaRPr lang="en-US" alt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altLang="en-US" b="1" baseline="0" dirty="0" smtClean="0">
                <a:latin typeface="Times New Roman" pitchFamily="18" charset="0"/>
              </a:rPr>
              <a:t>Clarify position with TAs with regards to having a child in mind – explain  that training has been designed with expectation that we can consolidate our training from each session by putting it into practice as we go along</a:t>
            </a:r>
          </a:p>
          <a:p>
            <a:endParaRPr lang="en-GB" dirty="0"/>
          </a:p>
        </p:txBody>
      </p:sp>
      <p:sp>
        <p:nvSpPr>
          <p:cNvPr id="4" name="Slide Number Placeholder 3"/>
          <p:cNvSpPr>
            <a:spLocks noGrp="1"/>
          </p:cNvSpPr>
          <p:nvPr>
            <p:ph type="sldNum" sz="quarter" idx="10"/>
          </p:nvPr>
        </p:nvSpPr>
        <p:spPr/>
        <p:txBody>
          <a:bodyPr/>
          <a:lstStyle/>
          <a:p>
            <a:fld id="{B7582B9D-753F-4FD4-BB27-488C70B508F1}" type="slidenum">
              <a:rPr lang="en-GB" smtClean="0"/>
              <a:pPr/>
              <a:t>2</a:t>
            </a:fld>
            <a:endParaRPr lang="en-GB"/>
          </a:p>
        </p:txBody>
      </p:sp>
    </p:spTree>
    <p:extLst>
      <p:ext uri="{BB962C8B-B14F-4D97-AF65-F5344CB8AC3E}">
        <p14:creationId xmlns:p14="http://schemas.microsoft.com/office/powerpoint/2010/main" val="2043358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itchFamily="34" charset="0"/>
              <a:buNone/>
            </a:pPr>
            <a:endParaRPr lang="en-GB" altLang="en-US" baseline="0" dirty="0" smtClean="0">
              <a:latin typeface="Times New Roman" pitchFamily="18" charset="0"/>
            </a:endParaRPr>
          </a:p>
          <a:p>
            <a:pPr>
              <a:buFont typeface="Arial" pitchFamily="34" charset="0"/>
              <a:buChar char="•"/>
            </a:pPr>
            <a:endParaRPr lang="en-GB" dirty="0"/>
          </a:p>
        </p:txBody>
      </p:sp>
    </p:spTree>
    <p:extLst>
      <p:ext uri="{BB962C8B-B14F-4D97-AF65-F5344CB8AC3E}">
        <p14:creationId xmlns:p14="http://schemas.microsoft.com/office/powerpoint/2010/main" val="35715748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4</a:t>
            </a:fld>
            <a:endParaRPr lang="en-GB"/>
          </a:p>
        </p:txBody>
      </p:sp>
    </p:spTree>
    <p:extLst>
      <p:ext uri="{BB962C8B-B14F-4D97-AF65-F5344CB8AC3E}">
        <p14:creationId xmlns:p14="http://schemas.microsoft.com/office/powerpoint/2010/main" val="33138731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dirty="0" smtClean="0">
                <a:latin typeface="Times New Roman" pitchFamily="18" charset="0"/>
              </a:rPr>
              <a:t>Looking ahead to next sessions:</a:t>
            </a:r>
          </a:p>
          <a:p>
            <a:endParaRPr lang="en-GB" altLang="en-US" dirty="0" smtClean="0">
              <a:latin typeface="Times New Roman" pitchFamily="18" charset="0"/>
            </a:endParaRPr>
          </a:p>
          <a:p>
            <a:r>
              <a:rPr lang="en-GB" altLang="en-US" dirty="0" smtClean="0">
                <a:latin typeface="Times New Roman" pitchFamily="18" charset="0"/>
              </a:rPr>
              <a:t>Explain</a:t>
            </a:r>
            <a:r>
              <a:rPr lang="en-GB" altLang="en-US" baseline="0" dirty="0" smtClean="0">
                <a:latin typeface="Times New Roman" pitchFamily="18" charset="0"/>
              </a:rPr>
              <a:t> that we will meet for a final session </a:t>
            </a:r>
            <a:r>
              <a:rPr lang="en-GB" altLang="en-US" baseline="0" dirty="0" smtClean="0">
                <a:latin typeface="Times New Roman" pitchFamily="18" charset="0"/>
              </a:rPr>
              <a:t>--- </a:t>
            </a:r>
            <a:r>
              <a:rPr lang="en-GB" altLang="en-US" baseline="0" dirty="0" smtClean="0">
                <a:latin typeface="Times New Roman" pitchFamily="18" charset="0"/>
              </a:rPr>
              <a:t>weeks after the second session – hopefully once we have begun to settle into a routine of daily precision teaching sessions with our target children</a:t>
            </a:r>
          </a:p>
          <a:p>
            <a:endParaRPr lang="en-GB" altLang="en-US" baseline="0" dirty="0" smtClean="0">
              <a:latin typeface="Times New Roman" pitchFamily="18" charset="0"/>
            </a:endParaRPr>
          </a:p>
          <a:p>
            <a:r>
              <a:rPr lang="en-GB" altLang="en-US" baseline="0" dirty="0" smtClean="0">
                <a:latin typeface="Times New Roman" pitchFamily="18" charset="0"/>
              </a:rPr>
              <a:t>We will be doing a form of peer supervision where we share experiences and try to problem-solve together – this will form a model of support for any future issues which arise with implementing PT programmes – emphasise colleagues as a very rich and creative resource for solving problems</a:t>
            </a:r>
            <a:endParaRPr lang="en-GB" altLang="en-US" dirty="0" smtClean="0">
              <a:latin typeface="Times New Roman" pitchFamily="18" charset="0"/>
            </a:endParaRPr>
          </a:p>
          <a:p>
            <a:endParaRPr lang="en-GB" altLang="en-US" dirty="0" smtClean="0">
              <a:latin typeface="Times New Roman" pitchFamily="18" charset="0"/>
            </a:endParaRPr>
          </a:p>
          <a:p>
            <a:endParaRPr lang="en-GB" dirty="0"/>
          </a:p>
        </p:txBody>
      </p:sp>
    </p:spTree>
    <p:extLst>
      <p:ext uri="{BB962C8B-B14F-4D97-AF65-F5344CB8AC3E}">
        <p14:creationId xmlns:p14="http://schemas.microsoft.com/office/powerpoint/2010/main" val="27842351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lt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GB" altLang="en-US" dirty="0" smtClean="0">
                <a:latin typeface="Times New Roman" pitchFamily="18" charset="0"/>
              </a:rPr>
              <a:t>Although PT sessions</a:t>
            </a:r>
            <a:r>
              <a:rPr lang="en-GB" altLang="en-US" baseline="0" dirty="0" smtClean="0">
                <a:latin typeface="Times New Roman" pitchFamily="18" charset="0"/>
              </a:rPr>
              <a:t> do involve teaching PT is more accurately described as a way of precisely measuring the effectiveness of teaching, rather than an actual method of teaching.  It involves precise, daily measurement of a child’s progress towards given targets; this feedback is used to shape the programme effectively to the individual needs of the child. </a:t>
            </a:r>
            <a:endParaRPr lang="en-GB" altLang="en-US" dirty="0" smtClean="0">
              <a:latin typeface="Times New Roman" pitchFamily="18" charset="0"/>
            </a:endParaRPr>
          </a:p>
          <a:p>
            <a:endParaRPr lang="en-GB" altLang="en-US" dirty="0" smtClean="0">
              <a:latin typeface="Times New Roman" pitchFamily="18" charset="0"/>
            </a:endParaRPr>
          </a:p>
          <a:p>
            <a:r>
              <a:rPr lang="en-GB" altLang="en-US" dirty="0" smtClean="0">
                <a:latin typeface="Times New Roman" pitchFamily="18" charset="0"/>
              </a:rPr>
              <a:t>Key principle of PT is that “The child knows best” – if there is a lack of progress, the assumption is not that “the child is failing to progress, but rather that the programme is failing to progress the child” – </a:t>
            </a:r>
            <a:r>
              <a:rPr lang="en-GB" altLang="en-US" b="1" dirty="0" smtClean="0">
                <a:latin typeface="Times New Roman" pitchFamily="18" charset="0"/>
              </a:rPr>
              <a:t>emphasises that PT seeks to protect and build children’s self-esteem in the process of moving them forward in their learning; emphasise where I am an advocate for PT!</a:t>
            </a:r>
            <a:endParaRPr lang="en-GB" dirty="0"/>
          </a:p>
        </p:txBody>
      </p:sp>
    </p:spTree>
    <p:extLst>
      <p:ext uri="{BB962C8B-B14F-4D97-AF65-F5344CB8AC3E}">
        <p14:creationId xmlns:p14="http://schemas.microsoft.com/office/powerpoint/2010/main" val="4058450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lt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GB" dirty="0"/>
          </a:p>
        </p:txBody>
      </p:sp>
    </p:spTree>
    <p:extLst>
      <p:ext uri="{BB962C8B-B14F-4D97-AF65-F5344CB8AC3E}">
        <p14:creationId xmlns:p14="http://schemas.microsoft.com/office/powerpoint/2010/main" val="4058450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5625925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noFill/>
        </p:spPr>
        <p:txBody>
          <a:bodyPr/>
          <a:lstStyle/>
          <a:p>
            <a:pPr eaLnBrk="1" hangingPunct="1"/>
            <a:r>
              <a:rPr lang="en-GB" altLang="en-US" dirty="0" smtClean="0"/>
              <a:t>When mastering new academic skills or strategies, the student learner typically progress through a predictable series of learning stages. </a:t>
            </a:r>
          </a:p>
        </p:txBody>
      </p:sp>
      <p:sp>
        <p:nvSpPr>
          <p:cNvPr id="2765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EE79B2F0-3246-47C7-A52F-CDDB975A4C96}" type="slidenum">
              <a:rPr lang="en-GB" altLang="en-US" smtClean="0"/>
              <a:pPr eaLnBrk="1" hangingPunct="1">
                <a:spcBef>
                  <a:spcPct val="0"/>
                </a:spcBef>
              </a:pPr>
              <a:t>9</a:t>
            </a:fld>
            <a:endParaRPr lang="en-GB"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a:ln/>
        </p:spPr>
      </p:sp>
      <p:sp>
        <p:nvSpPr>
          <p:cNvPr id="27651" name="Notes Placeholder 2"/>
          <p:cNvSpPr>
            <a:spLocks noGrp="1"/>
          </p:cNvSpPr>
          <p:nvPr>
            <p:ph type="body" idx="1"/>
          </p:nvPr>
        </p:nvSpPr>
        <p:spPr>
          <a:noFill/>
        </p:spPr>
        <p:txBody>
          <a:bodyPr/>
          <a:lstStyle/>
          <a:p>
            <a:pPr eaLnBrk="1" hangingPunct="1"/>
            <a:r>
              <a:rPr lang="en-GB" altLang="en-US" dirty="0" smtClean="0"/>
              <a:t>Lets imagine when you first learn to drive. </a:t>
            </a:r>
          </a:p>
          <a:p>
            <a:pPr eaLnBrk="1" hangingPunct="1"/>
            <a:endParaRPr lang="en-GB" alt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GB" altLang="en-US" dirty="0" smtClean="0"/>
              <a:t>Acquisition – you are learning to drive and need to think carefully when changing gears, indicating </a:t>
            </a:r>
            <a:r>
              <a:rPr lang="en-GB" altLang="en-US" dirty="0" err="1" smtClean="0"/>
              <a:t>etc</a:t>
            </a:r>
            <a:r>
              <a:rPr lang="en-GB" altLang="en-US" baseline="0" dirty="0" smtClean="0"/>
              <a:t> - </a:t>
            </a:r>
            <a:r>
              <a:rPr lang="en-GB" altLang="en-US" b="1" dirty="0" smtClean="0">
                <a:latin typeface="Times New Roman" pitchFamily="18" charset="0"/>
              </a:rPr>
              <a:t>Just beginning to learn the skill, some degree of accuracy but performance not yet reliable – by the end of this phase performance is basically accurate but not fluid, automated</a:t>
            </a:r>
          </a:p>
          <a:p>
            <a:pPr eaLnBrk="1" hangingPunct="1"/>
            <a:endParaRPr lang="en-GB" alt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GB" altLang="en-US" dirty="0" smtClean="0"/>
              <a:t>Fluency – you can change gears without thinking and can now focus on the road - </a:t>
            </a:r>
            <a:r>
              <a:rPr lang="en-GB" altLang="en-US" b="1" dirty="0" smtClean="0">
                <a:latin typeface="Times New Roman" pitchFamily="18" charset="0"/>
              </a:rPr>
              <a:t>Can perform the skill quickly and accurately – this phase brings speed of performance into the equation – skill becoming automated, ‘second nature’</a:t>
            </a:r>
          </a:p>
          <a:p>
            <a:pPr eaLnBrk="1" hangingPunct="1"/>
            <a:endParaRPr lang="en-GB" alt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GB" altLang="en-US" dirty="0" smtClean="0"/>
              <a:t>Maintenance – 6 months after, when you came back from a long holiday, you can still drive - </a:t>
            </a:r>
            <a:r>
              <a:rPr lang="en-GB" altLang="en-US" b="1" dirty="0" smtClean="0">
                <a:latin typeface="Times New Roman" pitchFamily="18" charset="0"/>
              </a:rPr>
              <a:t>Due to regular reinforcements, can perform the skill over a lengthy period of time – fluent performance is sustained over time – often referred to as ‘mastery’ stage</a:t>
            </a:r>
          </a:p>
          <a:p>
            <a:pPr eaLnBrk="1" hangingPunct="1"/>
            <a:endParaRPr lang="en-GB" alt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GB" altLang="en-US" dirty="0" smtClean="0"/>
              <a:t>Generalisation – Your friend ask you to drive their car and you are able to do so with some support and instruction - </a:t>
            </a:r>
            <a:r>
              <a:rPr lang="en-GB" altLang="en-US" b="1" dirty="0" smtClean="0">
                <a:latin typeface="Times New Roman" pitchFamily="18" charset="0"/>
              </a:rPr>
              <a:t>Can generalise the skill to different contexts/new situations, can transfer learning across settings</a:t>
            </a:r>
          </a:p>
          <a:p>
            <a:pPr eaLnBrk="1" hangingPunct="1"/>
            <a:endParaRPr lang="en-GB" altLang="en-US"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GB" altLang="en-US" dirty="0" smtClean="0"/>
              <a:t>Adaptation – Driving a different car is not a problem anymore</a:t>
            </a:r>
            <a:r>
              <a:rPr lang="en-GB" altLang="en-US" baseline="0" dirty="0" smtClean="0"/>
              <a:t> - </a:t>
            </a:r>
            <a:r>
              <a:rPr lang="en-GB" altLang="en-US" b="1" u="sng" dirty="0" smtClean="0">
                <a:latin typeface="Times New Roman" pitchFamily="18" charset="0"/>
              </a:rPr>
              <a:t>Adaptation</a:t>
            </a:r>
            <a:r>
              <a:rPr lang="en-GB" altLang="en-US" b="1" dirty="0" smtClean="0">
                <a:latin typeface="Times New Roman" pitchFamily="18" charset="0"/>
              </a:rPr>
              <a:t>	 Can adapt the skill appropriately to learn new skills </a:t>
            </a:r>
            <a:r>
              <a:rPr lang="en-GB" altLang="en-US" b="1" i="1" dirty="0" smtClean="0">
                <a:latin typeface="Times New Roman" pitchFamily="18" charset="0"/>
              </a:rPr>
              <a:t>NB. Overlap between generalisation &amp; adaptation stages</a:t>
            </a:r>
          </a:p>
          <a:p>
            <a:r>
              <a:rPr lang="en-GB" altLang="en-US" dirty="0" smtClean="0"/>
              <a:t> </a:t>
            </a:r>
          </a:p>
          <a:p>
            <a:r>
              <a:rPr lang="en-GB" altLang="en-US" b="1" dirty="0" smtClean="0">
                <a:latin typeface="Times New Roman" pitchFamily="18" charset="0"/>
              </a:rPr>
              <a:t>Q. So where does Precision Teaching fit into this learning hierarchy?</a:t>
            </a:r>
          </a:p>
          <a:p>
            <a:endParaRPr lang="en-GB" altLang="en-US" b="1" dirty="0" smtClean="0">
              <a:latin typeface="Times New Roman" pitchFamily="18" charset="0"/>
            </a:endParaRPr>
          </a:p>
          <a:p>
            <a:pPr>
              <a:buFontTx/>
              <a:buChar char="•"/>
            </a:pPr>
            <a:r>
              <a:rPr lang="en-GB" altLang="en-US" dirty="0" smtClean="0">
                <a:latin typeface="Times New Roman" pitchFamily="18" charset="0"/>
              </a:rPr>
              <a:t>PT designed to:</a:t>
            </a:r>
          </a:p>
          <a:p>
            <a:pPr>
              <a:buFontTx/>
              <a:buChar char="•"/>
            </a:pPr>
            <a:r>
              <a:rPr lang="en-GB" altLang="en-US" dirty="0" smtClean="0">
                <a:latin typeface="Times New Roman" pitchFamily="18" charset="0"/>
              </a:rPr>
              <a:t> </a:t>
            </a:r>
            <a:r>
              <a:rPr lang="en-GB" altLang="en-US" b="1" dirty="0" smtClean="0">
                <a:latin typeface="Times New Roman" pitchFamily="18" charset="0"/>
              </a:rPr>
              <a:t>unlock the door to maintenance and higher learning stages </a:t>
            </a:r>
            <a:r>
              <a:rPr lang="en-GB" altLang="en-US" dirty="0" smtClean="0">
                <a:latin typeface="Times New Roman" pitchFamily="18" charset="0"/>
              </a:rPr>
              <a:t>by supporting children to achieve fluency, that is fast accurate performance of a skill. </a:t>
            </a:r>
          </a:p>
          <a:p>
            <a:pPr>
              <a:buFontTx/>
              <a:buChar char="•"/>
            </a:pPr>
            <a:r>
              <a:rPr lang="en-GB" altLang="en-US" dirty="0" smtClean="0">
                <a:latin typeface="Times New Roman" pitchFamily="18" charset="0"/>
              </a:rPr>
              <a:t>Sometimes we can make assumptions that a child ‘can’t do’ when in fact they are capable of acquiring the skill, but because they haven’t developed fluency, they lose it, and it can appear like they never learned it in the first place</a:t>
            </a:r>
            <a:endParaRPr lang="en-GB" altLang="en-US" b="1" dirty="0" smtClean="0">
              <a:latin typeface="Times New Roman" pitchFamily="18" charset="0"/>
            </a:endParaRPr>
          </a:p>
        </p:txBody>
      </p:sp>
      <p:sp>
        <p:nvSpPr>
          <p:cNvPr id="2765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EE79B2F0-3246-47C7-A52F-CDDB975A4C96}" type="slidenum">
              <a:rPr lang="en-GB" altLang="en-US" smtClean="0"/>
              <a:pPr eaLnBrk="1" hangingPunct="1">
                <a:spcBef>
                  <a:spcPct val="0"/>
                </a:spcBef>
              </a:pPr>
              <a:t>10</a:t>
            </a:fld>
            <a:endParaRPr lang="en-GB"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p:spPr>
        <p:txBody>
          <a:bodyPr/>
          <a:lstStyle/>
          <a:p>
            <a:endParaRPr lang="en-GB" altLang="en-US" dirty="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p:spPr>
        <p:txBody>
          <a:bodyPr/>
          <a:lstStyle/>
          <a:p>
            <a:endParaRPr lang="en-GB" altLang="en-US" dirty="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p:spPr>
        <p:txBody>
          <a:bodyPr/>
          <a:lstStyle/>
          <a:p>
            <a:endParaRPr lang="en-GB" altLang="en-US" dirty="0"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p:spPr>
        <p:txBody>
          <a:bodyPr/>
          <a:lstStyle/>
          <a:p>
            <a:endParaRPr lang="en-GB" altLang="en-US" dirty="0"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b="1" dirty="0" smtClean="0">
              <a:latin typeface="Times New Roman" pitchFamily="18" charset="0"/>
            </a:endParaRPr>
          </a:p>
          <a:p>
            <a:r>
              <a:rPr lang="en-GB" altLang="en-US" b="1" dirty="0" smtClean="0">
                <a:latin typeface="Times New Roman" pitchFamily="18" charset="0"/>
              </a:rPr>
              <a:t>When?   </a:t>
            </a:r>
          </a:p>
          <a:p>
            <a:pPr>
              <a:buFontTx/>
              <a:buChar char="•"/>
            </a:pPr>
            <a:r>
              <a:rPr lang="en-GB" altLang="en-US" dirty="0" smtClean="0">
                <a:latin typeface="Times New Roman" pitchFamily="18" charset="0"/>
              </a:rPr>
              <a:t>Ideally this needs to be daily, both to effectively reinforce the child’s learning and to give you a clear sense of how responsive the child is to particular teaching strategies</a:t>
            </a:r>
          </a:p>
          <a:p>
            <a:pPr>
              <a:buFontTx/>
              <a:buChar char="•"/>
            </a:pPr>
            <a:r>
              <a:rPr lang="en-GB" altLang="en-US" dirty="0" smtClean="0">
                <a:latin typeface="Times New Roman" pitchFamily="18" charset="0"/>
              </a:rPr>
              <a:t>Think about the child you will work with and consider optimum time of day to do PT; again the ideal would be to do PT at the same time each day, so that the progress picture isn’t confused by variations in time of day (perhaps child isn’t at the best in the afternoons)</a:t>
            </a:r>
          </a:p>
          <a:p>
            <a:pPr>
              <a:buFontTx/>
              <a:buChar char="•"/>
            </a:pPr>
            <a:endParaRPr lang="en-GB" altLang="en-US" dirty="0" smtClean="0">
              <a:latin typeface="Times New Roman" pitchFamily="18" charset="0"/>
            </a:endParaRPr>
          </a:p>
          <a:p>
            <a:r>
              <a:rPr lang="en-GB" altLang="en-US" b="1" dirty="0" smtClean="0">
                <a:latin typeface="Times New Roman" pitchFamily="18" charset="0"/>
              </a:rPr>
              <a:t>Where?</a:t>
            </a:r>
          </a:p>
          <a:p>
            <a:pPr>
              <a:buFontTx/>
              <a:buChar char="•"/>
            </a:pPr>
            <a:r>
              <a:rPr lang="en-GB" altLang="en-US" dirty="0" smtClean="0">
                <a:latin typeface="Times New Roman" pitchFamily="18" charset="0"/>
              </a:rPr>
              <a:t>Consider where the PT can take place – is there a quiet space in the school that will be reserved for your PT work? Best results can be achieved when you have a reliable space, free from distractions that enables you and the child to settle down to snappy PT sessions on a daily basis</a:t>
            </a:r>
          </a:p>
          <a:p>
            <a:endParaRPr lang="en-GB" altLang="en-US" dirty="0" smtClean="0">
              <a:latin typeface="Times New Roman" pitchFamily="18" charset="0"/>
            </a:endParaRPr>
          </a:p>
          <a:p>
            <a:endParaRPr lang="en-GB" altLang="en-US" dirty="0" smtClean="0">
              <a:latin typeface="Times New Roman" pitchFamily="18" charset="0"/>
            </a:endParaRPr>
          </a:p>
          <a:p>
            <a:endParaRPr lang="en-GB" altLang="en-US" b="1" dirty="0" smtClean="0">
              <a:latin typeface="Times New Roman" pitchFamily="18" charset="0"/>
            </a:endParaRPr>
          </a:p>
          <a:p>
            <a:endParaRPr lang="en-GB" altLang="en-US" b="1" dirty="0" smtClean="0">
              <a:latin typeface="Times New Roman"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
          <p:cNvSpPr>
            <a:spLocks noGrp="1" noRot="1" noChangeAspect="1" noChangeArrowheads="1" noTextEdit="1"/>
          </p:cNvSpPr>
          <p:nvPr>
            <p:ph type="sldImg"/>
          </p:nvPr>
        </p:nvSpPr>
        <p:spPr>
          <a:solidFill>
            <a:srgbClr val="FFFFFF"/>
          </a:solidFill>
          <a:ln/>
        </p:spPr>
      </p:sp>
      <p:sp>
        <p:nvSpPr>
          <p:cNvPr id="45059" name="Rectangle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23825" eaLnBrk="1" hangingPunct="1">
              <a:spcBef>
                <a:spcPts val="413"/>
              </a:spcBef>
              <a:buFontTx/>
              <a:buNone/>
            </a:pPr>
            <a:r>
              <a:rPr lang="en-US" altLang="en-US" b="1" u="sng" dirty="0" smtClean="0">
                <a:solidFill>
                  <a:srgbClr val="000000"/>
                </a:solidFill>
                <a:latin typeface="Arial" charset="0"/>
                <a:cs typeface="Arial" charset="0"/>
                <a:sym typeface="Arial" charset="0"/>
              </a:rPr>
              <a:t>Planning Stage</a:t>
            </a:r>
          </a:p>
          <a:p>
            <a:pPr marL="123825" eaLnBrk="1" hangingPunct="1">
              <a:spcBef>
                <a:spcPts val="413"/>
              </a:spcBef>
              <a:buFontTx/>
              <a:buChar char="•"/>
            </a:pPr>
            <a:r>
              <a:rPr lang="en-US" altLang="en-US" dirty="0" smtClean="0">
                <a:solidFill>
                  <a:srgbClr val="000000"/>
                </a:solidFill>
                <a:latin typeface="Arial" charset="0"/>
                <a:cs typeface="Arial" charset="0"/>
                <a:sym typeface="Arial" charset="0"/>
              </a:rPr>
              <a:t>Looking at the IEP and talking with the child’s teacher/subject teacher. Select a problem area to focus on. </a:t>
            </a:r>
            <a:r>
              <a:rPr lang="en-US" altLang="en-US" b="1" dirty="0" smtClean="0">
                <a:solidFill>
                  <a:srgbClr val="000000"/>
                </a:solidFill>
                <a:latin typeface="Arial" charset="0"/>
                <a:cs typeface="Arial" charset="0"/>
                <a:sym typeface="Arial" charset="0"/>
              </a:rPr>
              <a:t>Reiterate </a:t>
            </a:r>
            <a:r>
              <a:rPr lang="en-GB" altLang="en-US" b="1" dirty="0" smtClean="0">
                <a:solidFill>
                  <a:srgbClr val="000000"/>
                </a:solidFill>
                <a:latin typeface="Arial" charset="0"/>
                <a:cs typeface="Arial" charset="0"/>
                <a:sym typeface="Arial" charset="0"/>
              </a:rPr>
              <a:t>that</a:t>
            </a:r>
            <a:r>
              <a:rPr lang="en-US" altLang="en-US" b="1" dirty="0" smtClean="0">
                <a:solidFill>
                  <a:srgbClr val="000000"/>
                </a:solidFill>
                <a:latin typeface="Arial" charset="0"/>
                <a:cs typeface="Arial" charset="0"/>
                <a:sym typeface="Arial" charset="0"/>
              </a:rPr>
              <a:t> PT is for skill development in </a:t>
            </a:r>
            <a:r>
              <a:rPr lang="en-US" altLang="en-US" b="1" u="sng" dirty="0" smtClean="0">
                <a:solidFill>
                  <a:srgbClr val="000000"/>
                </a:solidFill>
                <a:latin typeface="Arial" charset="0"/>
                <a:cs typeface="Arial" charset="0"/>
                <a:sym typeface="Arial" charset="0"/>
              </a:rPr>
              <a:t>specific</a:t>
            </a:r>
            <a:r>
              <a:rPr lang="en-US" altLang="en-US" b="1" dirty="0" smtClean="0">
                <a:solidFill>
                  <a:srgbClr val="000000"/>
                </a:solidFill>
                <a:latin typeface="Arial" charset="0"/>
                <a:cs typeface="Arial" charset="0"/>
                <a:sym typeface="Arial" charset="0"/>
              </a:rPr>
              <a:t> areas</a:t>
            </a:r>
          </a:p>
          <a:p>
            <a:pPr marL="123825" eaLnBrk="1" hangingPunct="1">
              <a:spcBef>
                <a:spcPts val="413"/>
              </a:spcBef>
              <a:buFontTx/>
              <a:buChar char="•"/>
            </a:pPr>
            <a:r>
              <a:rPr lang="en-US" altLang="en-US" dirty="0" smtClean="0">
                <a:solidFill>
                  <a:srgbClr val="000000"/>
                </a:solidFill>
                <a:latin typeface="Arial" charset="0"/>
                <a:cs typeface="Arial" charset="0"/>
                <a:sym typeface="Arial" charset="0"/>
              </a:rPr>
              <a:t>In </a:t>
            </a:r>
            <a:r>
              <a:rPr lang="en-US" altLang="en-US" dirty="0" smtClean="0">
                <a:solidFill>
                  <a:srgbClr val="000000"/>
                </a:solidFill>
                <a:latin typeface="Arial" charset="0"/>
                <a:cs typeface="Arial" charset="0"/>
                <a:sym typeface="Arial" charset="0"/>
              </a:rPr>
              <a:t>terms of considering what the child already knows, think about what the child can answer correctly - </a:t>
            </a:r>
            <a:r>
              <a:rPr lang="en-US" altLang="en-US" b="1" dirty="0" smtClean="0">
                <a:solidFill>
                  <a:srgbClr val="000000"/>
                </a:solidFill>
                <a:latin typeface="Arial" charset="0"/>
                <a:cs typeface="Arial" charset="0"/>
                <a:sym typeface="Arial" charset="0"/>
              </a:rPr>
              <a:t>without hesitation or self-correction</a:t>
            </a:r>
          </a:p>
          <a:p>
            <a:pPr marL="123825" eaLnBrk="1" hangingPunct="1">
              <a:spcBef>
                <a:spcPts val="413"/>
              </a:spcBef>
              <a:buFontTx/>
              <a:buChar char="•"/>
            </a:pPr>
            <a:r>
              <a:rPr lang="en-US" altLang="en-US" dirty="0" smtClean="0">
                <a:solidFill>
                  <a:srgbClr val="000000"/>
                </a:solidFill>
                <a:latin typeface="Arial" charset="0"/>
                <a:cs typeface="Arial" charset="0"/>
                <a:sym typeface="Arial" charset="0"/>
              </a:rPr>
              <a:t>If you’re not clear what the child already knows, you could use a series of ‘assessment probes’ to find out where the child is – you could liaise with the class teacher about whether you would approach this systematically, for example working through high frequency words, or a systematic phonics programme, or the teacher may have a clear idea of what the child already knows</a:t>
            </a:r>
          </a:p>
          <a:p>
            <a:pPr marL="123825" eaLnBrk="1" hangingPunct="1">
              <a:spcBef>
                <a:spcPts val="413"/>
              </a:spcBef>
              <a:buFontTx/>
              <a:buChar char="•"/>
            </a:pPr>
            <a:endParaRPr lang="en-US" altLang="en-US" dirty="0" smtClean="0">
              <a:solidFill>
                <a:srgbClr val="000000"/>
              </a:solidFill>
              <a:latin typeface="Arial" charset="0"/>
              <a:cs typeface="Arial" charset="0"/>
              <a:sym typeface="Arial" charset="0"/>
            </a:endParaRPr>
          </a:p>
          <a:p>
            <a:pPr marL="123825" eaLnBrk="1" hangingPunct="1">
              <a:spcBef>
                <a:spcPts val="413"/>
              </a:spcBef>
              <a:buFontTx/>
              <a:buChar char="•"/>
            </a:pPr>
            <a:r>
              <a:rPr lang="en-US" altLang="en-US" b="1" dirty="0" smtClean="0">
                <a:solidFill>
                  <a:srgbClr val="000000"/>
                </a:solidFill>
                <a:latin typeface="Arial" charset="0"/>
                <a:cs typeface="Arial" charset="0"/>
                <a:sym typeface="Arial" charset="0"/>
              </a:rPr>
              <a:t>Highlight that in your packs</a:t>
            </a:r>
            <a:r>
              <a:rPr lang="en-US" altLang="en-US" b="1" baseline="0" dirty="0" smtClean="0">
                <a:solidFill>
                  <a:srgbClr val="000000"/>
                </a:solidFill>
                <a:latin typeface="Arial" charset="0"/>
                <a:cs typeface="Arial" charset="0"/>
                <a:sym typeface="Arial" charset="0"/>
              </a:rPr>
              <a:t> I’ve included a list of………………</a:t>
            </a: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r>
              <a:rPr lang="en-US" altLang="en-US" dirty="0" smtClean="0">
                <a:solidFill>
                  <a:srgbClr val="000000"/>
                </a:solidFill>
                <a:latin typeface="Arial" charset="0"/>
                <a:cs typeface="Arial" charset="0"/>
                <a:sym typeface="Arial" charset="0"/>
              </a:rPr>
              <a:t>When using assessment probes, good idea to give easier probes, even if child is competent as a warm-up for yourself and the child, and to confirm their earlier skills</a:t>
            </a:r>
          </a:p>
          <a:p>
            <a:pPr marL="123825" eaLnBrk="1" hangingPunct="1">
              <a:spcBef>
                <a:spcPts val="413"/>
              </a:spcBef>
              <a:buFontTx/>
              <a:buNone/>
            </a:pPr>
            <a:endParaRPr lang="en-US" altLang="en-US"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dirty="0" smtClean="0">
              <a:solidFill>
                <a:srgbClr val="000000"/>
              </a:solidFill>
              <a:latin typeface="Arial" charset="0"/>
              <a:cs typeface="Arial" charset="0"/>
              <a:sym typeface="Arial" charset="0"/>
            </a:endParaRPr>
          </a:p>
          <a:p>
            <a:pPr marL="123825" eaLnBrk="1" hangingPunct="1">
              <a:spcBef>
                <a:spcPts val="413"/>
              </a:spcBef>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buFontTx/>
              <a:buChar char="•"/>
            </a:pPr>
            <a:endParaRPr lang="en-US" altLang="en-US" b="1" dirty="0" smtClean="0">
              <a:solidFill>
                <a:srgbClr val="000000"/>
              </a:solidFill>
              <a:latin typeface="Arial" charset="0"/>
              <a:cs typeface="Arial" charset="0"/>
              <a:sym typeface="Arial" charset="0"/>
            </a:endParaRPr>
          </a:p>
          <a:p>
            <a:pPr marL="123825" eaLnBrk="1" hangingPunct="1">
              <a:spcBef>
                <a:spcPts val="413"/>
              </a:spcBef>
            </a:pPr>
            <a:endParaRPr lang="en-US" altLang="en-US" dirty="0" smtClean="0">
              <a:solidFill>
                <a:srgbClr val="000000"/>
              </a:solidFill>
              <a:latin typeface="Arial" charset="0"/>
              <a:cs typeface="Arial" charset="0"/>
              <a:sym typeface="Arial" charset="0"/>
            </a:endParaRPr>
          </a:p>
          <a:p>
            <a:pPr marL="123825" eaLnBrk="1" hangingPunct="1">
              <a:spcBef>
                <a:spcPts val="413"/>
              </a:spcBef>
            </a:pPr>
            <a:endParaRPr lang="en-US" altLang="en-US" dirty="0" smtClean="0">
              <a:solidFill>
                <a:srgbClr val="000000"/>
              </a:solidFill>
              <a:latin typeface="Arial" charset="0"/>
              <a:cs typeface="Arial" charset="0"/>
              <a:sym typeface="Arial"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p:spPr>
        <p:txBody>
          <a:bodyPr/>
          <a:lstStyle/>
          <a:p>
            <a:pPr eaLnBrk="1" hangingPunct="1"/>
            <a:endParaRPr lang="en-US" altLang="en-US" smtClean="0"/>
          </a:p>
        </p:txBody>
      </p:sp>
      <p:sp>
        <p:nvSpPr>
          <p:cNvPr id="3482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8B78F42-A856-4222-B6BC-850A46BB3ADB}" type="slidenum">
              <a:rPr lang="en-GB" altLang="en-US" smtClean="0"/>
              <a:pPr eaLnBrk="1" hangingPunct="1">
                <a:spcBef>
                  <a:spcPct val="0"/>
                </a:spcBef>
              </a:pPr>
              <a:t>17</a:t>
            </a:fld>
            <a:endParaRPr lang="en-GB"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p:spPr>
        <p:txBody>
          <a:bodyPr/>
          <a:lstStyle/>
          <a:p>
            <a:pPr eaLnBrk="1" hangingPunct="1"/>
            <a:endParaRPr lang="en-US" altLang="en-US" smtClean="0"/>
          </a:p>
        </p:txBody>
      </p:sp>
      <p:sp>
        <p:nvSpPr>
          <p:cNvPr id="3482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8B78F42-A856-4222-B6BC-850A46BB3ADB}" type="slidenum">
              <a:rPr lang="en-GB" altLang="en-US" smtClean="0"/>
              <a:pPr eaLnBrk="1" hangingPunct="1">
                <a:spcBef>
                  <a:spcPct val="0"/>
                </a:spcBef>
              </a:pPr>
              <a:t>18</a:t>
            </a:fld>
            <a:endParaRPr lang="en-GB" alt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p:spPr>
        <p:txBody>
          <a:bodyPr/>
          <a:lstStyle/>
          <a:p>
            <a:pPr eaLnBrk="1" hangingPunct="1"/>
            <a:endParaRPr lang="en-US" altLang="en-US" smtClean="0"/>
          </a:p>
        </p:txBody>
      </p:sp>
      <p:sp>
        <p:nvSpPr>
          <p:cNvPr id="3584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FB74C01D-50B5-4FD6-8838-E8C271F30420}" type="slidenum">
              <a:rPr lang="en-GB" altLang="en-US" smtClean="0"/>
              <a:pPr eaLnBrk="1" hangingPunct="1">
                <a:spcBef>
                  <a:spcPct val="0"/>
                </a:spcBef>
              </a:pPr>
              <a:t>19</a:t>
            </a:fld>
            <a:endParaRPr lang="en-GB" alt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p:spPr>
        <p:txBody>
          <a:bodyPr/>
          <a:lstStyle/>
          <a:p>
            <a:pPr eaLnBrk="1" hangingPunct="1"/>
            <a:endParaRPr lang="en-US" altLang="en-US" smtClean="0"/>
          </a:p>
        </p:txBody>
      </p:sp>
      <p:sp>
        <p:nvSpPr>
          <p:cNvPr id="3584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FB74C01D-50B5-4FD6-8838-E8C271F30420}" type="slidenum">
              <a:rPr lang="en-GB" altLang="en-US" smtClean="0"/>
              <a:pPr eaLnBrk="1" hangingPunct="1">
                <a:spcBef>
                  <a:spcPct val="0"/>
                </a:spcBef>
              </a:pPr>
              <a:t>20</a:t>
            </a:fld>
            <a:endParaRPr lang="en-GB" alt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p:spPr>
        <p:txBody>
          <a:bodyPr/>
          <a:lstStyle/>
          <a:p>
            <a:pPr eaLnBrk="1" hangingPunct="1"/>
            <a:endParaRPr lang="en-US" altLang="en-US" smtClean="0"/>
          </a:p>
        </p:txBody>
      </p:sp>
      <p:sp>
        <p:nvSpPr>
          <p:cNvPr id="3789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8FC456E6-F487-412D-9D2E-B568FCBDEE94}" type="slidenum">
              <a:rPr lang="en-GB" altLang="en-US" smtClean="0"/>
              <a:pPr eaLnBrk="1" hangingPunct="1">
                <a:spcBef>
                  <a:spcPct val="0"/>
                </a:spcBef>
              </a:pPr>
              <a:t>21</a:t>
            </a:fld>
            <a:endParaRPr lang="en-GB" alt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p:spPr>
        <p:txBody>
          <a:bodyPr/>
          <a:lstStyle/>
          <a:p>
            <a:pPr eaLnBrk="1" hangingPunct="1"/>
            <a:endParaRPr lang="en-US" altLang="en-US" smtClean="0"/>
          </a:p>
        </p:txBody>
      </p:sp>
      <p:sp>
        <p:nvSpPr>
          <p:cNvPr id="3891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86E3AE27-7A23-4BFE-8301-583CF111CFE1}" type="slidenum">
              <a:rPr lang="en-GB" altLang="en-US" smtClean="0"/>
              <a:pPr eaLnBrk="1" hangingPunct="1">
                <a:spcBef>
                  <a:spcPct val="0"/>
                </a:spcBef>
              </a:pPr>
              <a:t>22</a:t>
            </a:fld>
            <a:endParaRPr lang="en-GB" alt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p:spPr>
        <p:txBody>
          <a:bodyPr/>
          <a:lstStyle/>
          <a:p>
            <a:pPr eaLnBrk="1" hangingPunct="1"/>
            <a:endParaRPr lang="en-US" altLang="en-US" smtClean="0"/>
          </a:p>
        </p:txBody>
      </p:sp>
      <p:sp>
        <p:nvSpPr>
          <p:cNvPr id="3994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9971BD4A-EB73-4FF8-B1FF-B422B85B5B2D}" type="slidenum">
              <a:rPr lang="en-GB" altLang="en-US" smtClean="0"/>
              <a:pPr eaLnBrk="1" hangingPunct="1">
                <a:spcBef>
                  <a:spcPct val="0"/>
                </a:spcBef>
              </a:pPr>
              <a:t>23</a:t>
            </a:fld>
            <a:endParaRPr lang="en-GB" alt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p:spPr>
        <p:txBody>
          <a:bodyPr/>
          <a:lstStyle/>
          <a:p>
            <a:pPr eaLnBrk="1" hangingPunct="1"/>
            <a:endParaRPr lang="en-US" altLang="en-US" smtClean="0"/>
          </a:p>
        </p:txBody>
      </p:sp>
      <p:sp>
        <p:nvSpPr>
          <p:cNvPr id="4096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598F9B20-7AC5-4014-97BC-8612D19874D9}" type="slidenum">
              <a:rPr lang="en-GB" altLang="en-US" smtClean="0"/>
              <a:pPr eaLnBrk="1" hangingPunct="1">
                <a:spcBef>
                  <a:spcPct val="0"/>
                </a:spcBef>
              </a:pPr>
              <a:t>24</a:t>
            </a:fld>
            <a:endParaRPr lang="en-GB" alt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p:spPr>
        <p:txBody>
          <a:bodyPr/>
          <a:lstStyle/>
          <a:p>
            <a:pPr eaLnBrk="1" hangingPunct="1"/>
            <a:endParaRPr lang="en-US" altLang="en-US" smtClean="0"/>
          </a:p>
        </p:txBody>
      </p:sp>
      <p:sp>
        <p:nvSpPr>
          <p:cNvPr id="41988"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6DDC164F-6D1B-4967-9DCE-6899F85E6EA5}" type="slidenum">
              <a:rPr lang="en-GB" altLang="en-US" smtClean="0"/>
              <a:pPr eaLnBrk="1" hangingPunct="1">
                <a:spcBef>
                  <a:spcPct val="0"/>
                </a:spcBef>
              </a:pPr>
              <a:t>25</a:t>
            </a:fld>
            <a:endParaRPr lang="en-GB" alt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p:spPr>
        <p:txBody>
          <a:bodyPr/>
          <a:lstStyle/>
          <a:p>
            <a:pPr eaLnBrk="1" hangingPunct="1"/>
            <a:endParaRPr lang="en-US" altLang="en-US" smtClean="0"/>
          </a:p>
        </p:txBody>
      </p:sp>
      <p:sp>
        <p:nvSpPr>
          <p:cNvPr id="4301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2206C5BA-2DB2-4DF7-871B-036E37BDD880}" type="slidenum">
              <a:rPr lang="en-GB" altLang="en-US" smtClean="0"/>
              <a:pPr eaLnBrk="1" hangingPunct="1">
                <a:spcBef>
                  <a:spcPct val="0"/>
                </a:spcBef>
              </a:pPr>
              <a:t>26</a:t>
            </a:fld>
            <a:endParaRPr lang="en-GB" alt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p:spPr>
        <p:txBody>
          <a:bodyPr/>
          <a:lstStyle/>
          <a:p>
            <a:pPr eaLnBrk="1" hangingPunct="1"/>
            <a:endParaRPr lang="en-US" altLang="en-US" smtClean="0"/>
          </a:p>
        </p:txBody>
      </p:sp>
      <p:sp>
        <p:nvSpPr>
          <p:cNvPr id="4403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CED89B3-E876-41C1-830D-48F44DE148DD}" type="slidenum">
              <a:rPr lang="en-GB" altLang="en-US" smtClean="0"/>
              <a:pPr eaLnBrk="1" hangingPunct="1">
                <a:spcBef>
                  <a:spcPct val="0"/>
                </a:spcBef>
              </a:pPr>
              <a:t>27</a:t>
            </a:fld>
            <a:endParaRPr lang="en-GB" alt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7582B9D-753F-4FD4-BB27-488C70B508F1}" type="slidenum">
              <a:rPr lang="en-GB" smtClean="0"/>
              <a:pPr/>
              <a:t>28</a:t>
            </a:fld>
            <a:endParaRPr lang="en-GB"/>
          </a:p>
        </p:txBody>
      </p:sp>
    </p:spTree>
    <p:extLst>
      <p:ext uri="{BB962C8B-B14F-4D97-AF65-F5344CB8AC3E}">
        <p14:creationId xmlns:p14="http://schemas.microsoft.com/office/powerpoint/2010/main" val="14567740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Grey Background)">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16" name="Picture 15" descr="AfC_RGB-Colour_ForGreyBackground.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8116" y="5662725"/>
            <a:ext cx="2979704" cy="772149"/>
          </a:xfrm>
          <a:prstGeom prst="rect">
            <a:avLst/>
          </a:prstGeom>
        </p:spPr>
      </p:pic>
    </p:spTree>
    <p:extLst>
      <p:ext uri="{BB962C8B-B14F-4D97-AF65-F5344CB8AC3E}">
        <p14:creationId xmlns:p14="http://schemas.microsoft.com/office/powerpoint/2010/main" val="2747673920"/>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ullets only">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49481573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ortrait image with text">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77912620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on grey background)">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591753239"/>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Strapline">
    <p:spTree>
      <p:nvGrpSpPr>
        <p:cNvPr id="1" name=""/>
        <p:cNvGrpSpPr/>
        <p:nvPr/>
      </p:nvGrpSpPr>
      <p:grpSpPr>
        <a:xfrm>
          <a:off x="0" y="0"/>
          <a:ext cx="0" cy="0"/>
          <a:chOff x="0" y="0"/>
          <a:chExt cx="0" cy="0"/>
        </a:xfrm>
      </p:grpSpPr>
      <p:pic>
        <p:nvPicPr>
          <p:cNvPr id="8" name="Picture 7" descr="AfC_PPT_Corporate_13A_backgrounds_2.eps"/>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80000" cy="6885000"/>
          </a:xfrm>
          <a:prstGeom prst="rect">
            <a:avLst/>
          </a:prstGeom>
        </p:spPr>
      </p:pic>
    </p:spTree>
    <p:extLst>
      <p:ext uri="{BB962C8B-B14F-4D97-AF65-F5344CB8AC3E}">
        <p14:creationId xmlns:p14="http://schemas.microsoft.com/office/powerpoint/2010/main" val="2262806424"/>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nd slide (on grey background)">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cxnSp>
        <p:nvCxnSpPr>
          <p:cNvPr id="8" name="Straight Connector 7"/>
          <p:cNvCxnSpPr/>
          <p:nvPr userDrawn="1"/>
        </p:nvCxnSpPr>
        <p:spPr>
          <a:xfrm>
            <a:off x="3396376" y="3460261"/>
            <a:ext cx="2434231" cy="0"/>
          </a:xfrm>
          <a:prstGeom prst="line">
            <a:avLst/>
          </a:prstGeom>
          <a:ln w="9525" cmpd="sng">
            <a:solidFill>
              <a:srgbClr val="F4C239"/>
            </a:solidFill>
          </a:ln>
          <a:effectLst/>
        </p:spPr>
        <p:style>
          <a:lnRef idx="2">
            <a:schemeClr val="accent1"/>
          </a:lnRef>
          <a:fillRef idx="0">
            <a:schemeClr val="accent1"/>
          </a:fillRef>
          <a:effectRef idx="1">
            <a:schemeClr val="accent1"/>
          </a:effectRef>
          <a:fontRef idx="minor">
            <a:schemeClr val="tx1"/>
          </a:fontRef>
        </p:style>
      </p:cxnSp>
      <p:sp>
        <p:nvSpPr>
          <p:cNvPr id="17" name="Text Placeholder 8"/>
          <p:cNvSpPr>
            <a:spLocks noGrp="1"/>
          </p:cNvSpPr>
          <p:nvPr>
            <p:ph type="body" sz="quarter" idx="10" hasCustomPrompt="1"/>
          </p:nvPr>
        </p:nvSpPr>
        <p:spPr>
          <a:xfrm>
            <a:off x="1849683" y="2627088"/>
            <a:ext cx="5447880" cy="780685"/>
          </a:xfrm>
        </p:spPr>
        <p:txBody>
          <a:bodyPr>
            <a:normAutofit/>
          </a:bodyPr>
          <a:lstStyle>
            <a:lvl1pPr marL="0" indent="0" algn="ctr">
              <a:buFontTx/>
              <a:buNone/>
              <a:defRPr sz="3600" b="1" baseline="0">
                <a:solidFill>
                  <a:schemeClr val="bg1"/>
                </a:solidFill>
                <a:latin typeface="+mj-lt"/>
              </a:defRPr>
            </a:lvl1pPr>
          </a:lstStyle>
          <a:p>
            <a:pPr lvl="0"/>
            <a:r>
              <a:rPr lang="en-GB" dirty="0" smtClean="0"/>
              <a:t>Thank you </a:t>
            </a:r>
            <a:endParaRPr lang="en-US" dirty="0"/>
          </a:p>
        </p:txBody>
      </p:sp>
      <p:pic>
        <p:nvPicPr>
          <p:cNvPr id="6" name="Picture 5" descr="AfC_RGB-Colour_ForGreyBackground.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8116" y="5662725"/>
            <a:ext cx="2979704" cy="772149"/>
          </a:xfrm>
          <a:prstGeom prst="rect">
            <a:avLst/>
          </a:prstGeom>
        </p:spPr>
      </p:pic>
    </p:spTree>
    <p:extLst>
      <p:ext uri="{BB962C8B-B14F-4D97-AF65-F5344CB8AC3E}">
        <p14:creationId xmlns:p14="http://schemas.microsoft.com/office/powerpoint/2010/main" val="294233415"/>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smtClean="0"/>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Tree>
    <p:extLst>
      <p:ext uri="{BB962C8B-B14F-4D97-AF65-F5344CB8AC3E}">
        <p14:creationId xmlns:p14="http://schemas.microsoft.com/office/powerpoint/2010/main" val="1490834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9144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8768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9"/>
          <p:cNvSpPr>
            <a:spLocks noGrp="1" noChangeArrowheads="1"/>
          </p:cNvSpPr>
          <p:nvPr>
            <p:ph type="dt" sz="half" idx="10"/>
          </p:nvPr>
        </p:nvSpPr>
        <p:spPr>
          <a:xfrm>
            <a:off x="914400" y="6251575"/>
            <a:ext cx="1981200" cy="457200"/>
          </a:xfrm>
          <a:prstGeom prst="rect">
            <a:avLst/>
          </a:prstGeom>
          <a:ln/>
        </p:spPr>
        <p:txBody>
          <a:bodyPr/>
          <a:lstStyle>
            <a:lvl1pPr>
              <a:defRPr/>
            </a:lvl1pPr>
          </a:lstStyle>
          <a:p>
            <a:pPr>
              <a:defRPr/>
            </a:pPr>
            <a:endParaRPr lang="en-GB" altLang="en-US"/>
          </a:p>
        </p:txBody>
      </p:sp>
      <p:sp>
        <p:nvSpPr>
          <p:cNvPr id="6" name="Rectangle 10"/>
          <p:cNvSpPr>
            <a:spLocks noGrp="1" noChangeArrowheads="1"/>
          </p:cNvSpPr>
          <p:nvPr>
            <p:ph type="ftr" sz="quarter" idx="11"/>
          </p:nvPr>
        </p:nvSpPr>
        <p:spPr>
          <a:xfrm>
            <a:off x="3352800" y="6248400"/>
            <a:ext cx="2971800" cy="457200"/>
          </a:xfrm>
          <a:prstGeom prst="rect">
            <a:avLst/>
          </a:prstGeom>
          <a:ln/>
        </p:spPr>
        <p:txBody>
          <a:bodyPr/>
          <a:lstStyle>
            <a:lvl1pPr>
              <a:defRPr/>
            </a:lvl1pPr>
          </a:lstStyle>
          <a:p>
            <a:pPr>
              <a:defRPr/>
            </a:pPr>
            <a:endParaRPr lang="en-GB" altLang="en-US"/>
          </a:p>
        </p:txBody>
      </p:sp>
      <p:sp>
        <p:nvSpPr>
          <p:cNvPr id="7" name="Rectangle 11"/>
          <p:cNvSpPr>
            <a:spLocks noGrp="1" noChangeArrowheads="1"/>
          </p:cNvSpPr>
          <p:nvPr>
            <p:ph type="sldNum" sz="quarter" idx="12"/>
          </p:nvPr>
        </p:nvSpPr>
        <p:spPr>
          <a:xfrm>
            <a:off x="6781800" y="6248400"/>
            <a:ext cx="1905000" cy="457200"/>
          </a:xfrm>
          <a:prstGeom prst="rect">
            <a:avLst/>
          </a:prstGeom>
          <a:ln/>
        </p:spPr>
        <p:txBody>
          <a:bodyPr/>
          <a:lstStyle>
            <a:lvl1pPr>
              <a:defRPr/>
            </a:lvl1pPr>
          </a:lstStyle>
          <a:p>
            <a:pPr>
              <a:defRPr/>
            </a:pPr>
            <a:fld id="{54E004DE-5924-4139-A0E5-45C13928DB9B}" type="slidenum">
              <a:rPr lang="en-GB" altLang="en-US"/>
              <a:pPr>
                <a:defRPr/>
              </a:pPr>
              <a:t>‹#›</a:t>
            </a:fld>
            <a:endParaRPr lang="en-GB" altLang="en-US"/>
          </a:p>
        </p:txBody>
      </p:sp>
    </p:spTree>
    <p:extLst>
      <p:ext uri="{BB962C8B-B14F-4D97-AF65-F5344CB8AC3E}">
        <p14:creationId xmlns:p14="http://schemas.microsoft.com/office/powerpoint/2010/main" val="734998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8A823C-80D3-9242-A3DC-1A2C6C879196}" type="datetimeFigureOut">
              <a:rPr lang="en-US" smtClean="0"/>
              <a:pPr/>
              <a:t>5/8/2018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2C3231D-557D-0245-BFA8-91B4157E4FCA}" type="slidenum">
              <a:rPr lang="en-US" smtClean="0"/>
              <a:pPr/>
              <a:t>‹#›</a:t>
            </a:fld>
            <a:endParaRPr lang="en-US"/>
          </a:p>
        </p:txBody>
      </p:sp>
    </p:spTree>
    <p:extLst>
      <p:ext uri="{BB962C8B-B14F-4D97-AF65-F5344CB8AC3E}">
        <p14:creationId xmlns:p14="http://schemas.microsoft.com/office/powerpoint/2010/main" val="2166536998"/>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5" r:id="rId3"/>
    <p:sldLayoutId id="2147483661" r:id="rId4"/>
    <p:sldLayoutId id="2147483682" r:id="rId5"/>
    <p:sldLayoutId id="2147483667" r:id="rId6"/>
    <p:sldLayoutId id="2147483683" r:id="rId7"/>
    <p:sldLayoutId id="2147483684" r:id="rId8"/>
  </p:sldLayoutIdLst>
  <p:timing>
    <p:tnLst>
      <p:par>
        <p:cTn id="1" dur="indefinite" restart="never" nodeType="tmRoot"/>
      </p:par>
    </p:tnLst>
  </p:timing>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Childrens Services &amp; Culture\CDSI\PPC - Comms\2540 AfC Rebranding\Branding development\Matter&amp;Co\Master Logo Suite\AFC Main Logo\CMYK\PNGs\With Strapline\AfC_CMYK-Strapline_foryellowbackgroun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7039" y="1923359"/>
            <a:ext cx="5872163" cy="2766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93520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1940053" y="1608777"/>
            <a:ext cx="5280144" cy="0"/>
          </a:xfrm>
          <a:prstGeom prst="line">
            <a:avLst/>
          </a:prstGeom>
          <a:ln w="9525" cmpd="sng">
            <a:solidFill>
              <a:srgbClr val="F4C239"/>
            </a:solidFill>
          </a:ln>
          <a:effectLst/>
        </p:spPr>
        <p:style>
          <a:lnRef idx="2">
            <a:schemeClr val="accent1"/>
          </a:lnRef>
          <a:fillRef idx="0">
            <a:schemeClr val="accent1"/>
          </a:fillRef>
          <a:effectRef idx="1">
            <a:schemeClr val="accent1"/>
          </a:effectRef>
          <a:fontRef idx="minor">
            <a:schemeClr val="tx1"/>
          </a:fontRef>
        </p:style>
      </p:cxnSp>
      <p:sp>
        <p:nvSpPr>
          <p:cNvPr id="2" name="Text Placeholder 1"/>
          <p:cNvSpPr>
            <a:spLocks noGrp="1"/>
          </p:cNvSpPr>
          <p:nvPr>
            <p:ph type="body" sz="quarter" idx="4294967295"/>
          </p:nvPr>
        </p:nvSpPr>
        <p:spPr>
          <a:xfrm>
            <a:off x="1750867" y="564310"/>
            <a:ext cx="5279897" cy="1139850"/>
          </a:xfrm>
        </p:spPr>
        <p:txBody>
          <a:bodyPr>
            <a:normAutofit fontScale="92500" lnSpcReduction="20000"/>
          </a:bodyPr>
          <a:lstStyle/>
          <a:p>
            <a:r>
              <a:rPr lang="en-US" altLang="en-US" sz="4400" b="1" u="sng" dirty="0">
                <a:solidFill>
                  <a:schemeClr val="bg1"/>
                </a:solidFill>
                <a:ea typeface="ＭＳ Ｐゴシック" pitchFamily="110" charset="-128"/>
              </a:rPr>
              <a:t>Precision Teaching</a:t>
            </a:r>
            <a:r>
              <a:rPr lang="en-US" altLang="en-US" sz="4400" b="1" u="sng" dirty="0" smtClean="0">
                <a:solidFill>
                  <a:schemeClr val="bg1"/>
                </a:solidFill>
                <a:ea typeface="ＭＳ Ｐゴシック" pitchFamily="110" charset="-128"/>
              </a:rPr>
              <a:t>: ‘Letters and Sounds’</a:t>
            </a:r>
            <a:endParaRPr lang="en-US" altLang="en-US" sz="4400" b="1" u="sng" dirty="0">
              <a:solidFill>
                <a:schemeClr val="bg1"/>
              </a:solidFill>
              <a:ea typeface="ＭＳ Ｐゴシック" pitchFamily="110" charset="-128"/>
            </a:endParaRPr>
          </a:p>
          <a:p>
            <a:endParaRPr lang="en-GB" dirty="0">
              <a:solidFill>
                <a:schemeClr val="bg1"/>
              </a:solidFill>
            </a:endParaRPr>
          </a:p>
        </p:txBody>
      </p:sp>
      <p:sp>
        <p:nvSpPr>
          <p:cNvPr id="3" name="Text Placeholder 2"/>
          <p:cNvSpPr>
            <a:spLocks noGrp="1"/>
          </p:cNvSpPr>
          <p:nvPr>
            <p:ph type="body" sz="quarter" idx="4294967295"/>
          </p:nvPr>
        </p:nvSpPr>
        <p:spPr>
          <a:xfrm>
            <a:off x="2081815" y="2107443"/>
            <a:ext cx="5280025" cy="695325"/>
          </a:xfrm>
        </p:spPr>
        <p:txBody>
          <a:bodyPr>
            <a:normAutofit fontScale="25000" lnSpcReduction="20000"/>
          </a:bodyPr>
          <a:lstStyle/>
          <a:p>
            <a:pPr>
              <a:spcBef>
                <a:spcPct val="50000"/>
              </a:spcBef>
              <a:buClrTx/>
              <a:buSzTx/>
              <a:buFontTx/>
              <a:buNone/>
            </a:pPr>
            <a:r>
              <a:rPr lang="en-US" altLang="en-US" sz="11200" b="1" dirty="0" smtClean="0">
                <a:solidFill>
                  <a:schemeClr val="bg1"/>
                </a:solidFill>
                <a:ea typeface="ＭＳ Ｐゴシック" pitchFamily="110" charset="-128"/>
              </a:rPr>
              <a:t>Session </a:t>
            </a:r>
            <a:r>
              <a:rPr lang="en-US" altLang="en-US" sz="11200" b="1" dirty="0">
                <a:solidFill>
                  <a:schemeClr val="bg1"/>
                </a:solidFill>
                <a:ea typeface="ＭＳ Ｐゴシック" pitchFamily="110" charset="-128"/>
              </a:rPr>
              <a:t>1 of </a:t>
            </a:r>
            <a:r>
              <a:rPr lang="en-US" altLang="en-US" sz="11200" b="1" dirty="0" smtClean="0">
                <a:solidFill>
                  <a:schemeClr val="bg1"/>
                </a:solidFill>
                <a:ea typeface="ＭＳ Ｐゴシック" pitchFamily="110" charset="-128"/>
              </a:rPr>
              <a:t>3</a:t>
            </a:r>
            <a:endParaRPr lang="en-US" altLang="en-US" sz="11200" b="1" dirty="0">
              <a:solidFill>
                <a:schemeClr val="bg1"/>
              </a:solidFill>
              <a:ea typeface="ＭＳ Ｐゴシック" pitchFamily="110" charset="-128"/>
            </a:endParaRPr>
          </a:p>
          <a:p>
            <a:pPr>
              <a:spcBef>
                <a:spcPct val="50000"/>
              </a:spcBef>
              <a:buClrTx/>
              <a:buSzTx/>
              <a:buFontTx/>
              <a:buNone/>
            </a:pPr>
            <a:r>
              <a:rPr lang="en-US" altLang="en-US" sz="11200" dirty="0" smtClean="0">
                <a:solidFill>
                  <a:schemeClr val="bg1"/>
                </a:solidFill>
                <a:ea typeface="ＭＳ Ｐゴシック" pitchFamily="110" charset="-128"/>
              </a:rPr>
              <a:t>All Saint’s Junior </a:t>
            </a:r>
            <a:r>
              <a:rPr lang="en-US" altLang="en-US" sz="11200" dirty="0" smtClean="0">
                <a:solidFill>
                  <a:schemeClr val="bg1"/>
                </a:solidFill>
                <a:ea typeface="ＭＳ Ｐゴシック" pitchFamily="110" charset="-128"/>
              </a:rPr>
              <a:t>School</a:t>
            </a:r>
          </a:p>
          <a:p>
            <a:pPr>
              <a:spcBef>
                <a:spcPct val="50000"/>
              </a:spcBef>
              <a:buClrTx/>
              <a:buSzTx/>
              <a:buFontTx/>
              <a:buNone/>
            </a:pPr>
            <a:endParaRPr lang="en-US" altLang="en-US" sz="11200" dirty="0">
              <a:solidFill>
                <a:schemeClr val="bg1"/>
              </a:solidFill>
              <a:ea typeface="ＭＳ Ｐゴシック" pitchFamily="110" charset="-128"/>
            </a:endParaRPr>
          </a:p>
          <a:p>
            <a:pPr>
              <a:spcBef>
                <a:spcPct val="50000"/>
              </a:spcBef>
              <a:buClrTx/>
              <a:buSzTx/>
              <a:buFontTx/>
              <a:buNone/>
            </a:pPr>
            <a:r>
              <a:rPr lang="en-US" altLang="en-US" sz="11200" dirty="0">
                <a:solidFill>
                  <a:schemeClr val="bg1"/>
                </a:solidFill>
                <a:ea typeface="ＭＳ Ｐゴシック" pitchFamily="110" charset="-128"/>
              </a:rPr>
              <a:t>Scott </a:t>
            </a:r>
            <a:r>
              <a:rPr lang="en-US" altLang="en-US" sz="11200" dirty="0" smtClean="0">
                <a:solidFill>
                  <a:schemeClr val="bg1"/>
                </a:solidFill>
                <a:ea typeface="ＭＳ Ｐゴシック" pitchFamily="110" charset="-128"/>
              </a:rPr>
              <a:t>I-Patrick </a:t>
            </a:r>
          </a:p>
          <a:p>
            <a:pPr>
              <a:spcBef>
                <a:spcPct val="50000"/>
              </a:spcBef>
              <a:buClrTx/>
              <a:buSzTx/>
              <a:buFontTx/>
              <a:buNone/>
            </a:pPr>
            <a:r>
              <a:rPr lang="en-US" altLang="en-US" sz="11200" dirty="0" smtClean="0">
                <a:solidFill>
                  <a:schemeClr val="bg1"/>
                </a:solidFill>
                <a:ea typeface="ＭＳ Ｐゴシック" pitchFamily="110" charset="-128"/>
              </a:rPr>
              <a:t>Tuesday  </a:t>
            </a:r>
            <a:r>
              <a:rPr lang="en-US" altLang="en-US" sz="11200" dirty="0">
                <a:solidFill>
                  <a:schemeClr val="bg1"/>
                </a:solidFill>
                <a:ea typeface="ＭＳ Ｐゴシック" pitchFamily="110" charset="-128"/>
              </a:rPr>
              <a:t>8</a:t>
            </a:r>
            <a:r>
              <a:rPr lang="en-US" altLang="en-US" sz="11200" baseline="30000" dirty="0" smtClean="0">
                <a:solidFill>
                  <a:schemeClr val="bg1"/>
                </a:solidFill>
                <a:ea typeface="ＭＳ Ｐゴシック" pitchFamily="110" charset="-128"/>
              </a:rPr>
              <a:t>th</a:t>
            </a:r>
            <a:r>
              <a:rPr lang="en-US" altLang="en-US" sz="11200" dirty="0" smtClean="0">
                <a:solidFill>
                  <a:schemeClr val="bg1"/>
                </a:solidFill>
                <a:ea typeface="ＭＳ Ｐゴシック" pitchFamily="110" charset="-128"/>
              </a:rPr>
              <a:t> May 2018</a:t>
            </a:r>
            <a:endParaRPr lang="en-US" altLang="en-US" sz="11200" dirty="0" smtClean="0">
              <a:solidFill>
                <a:schemeClr val="bg1"/>
              </a:solidFill>
              <a:ea typeface="ＭＳ Ｐゴシック" pitchFamily="110" charset="-128"/>
            </a:endParaRPr>
          </a:p>
          <a:p>
            <a:endParaRPr lang="en-GB" dirty="0"/>
          </a:p>
        </p:txBody>
      </p:sp>
    </p:spTree>
    <p:extLst>
      <p:ext uri="{BB962C8B-B14F-4D97-AF65-F5344CB8AC3E}">
        <p14:creationId xmlns:p14="http://schemas.microsoft.com/office/powerpoint/2010/main" val="41886237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lstStyle/>
          <a:p>
            <a:pPr algn="ctr"/>
            <a:r>
              <a:rPr lang="en-GB" sz="3200" dirty="0" smtClean="0">
                <a:solidFill>
                  <a:schemeClr val="bg1"/>
                </a:solidFill>
                <a:latin typeface="Arial" charset="0"/>
              </a:rPr>
              <a:t>Aim for Session 1</a:t>
            </a:r>
            <a:endParaRPr lang="en-GB" sz="3200" dirty="0">
              <a:solidFill>
                <a:schemeClr val="bg1"/>
              </a:solidFill>
            </a:endParaRPr>
          </a:p>
        </p:txBody>
      </p:sp>
      <p:sp>
        <p:nvSpPr>
          <p:cNvPr id="3" name="Content Placeholder 2"/>
          <p:cNvSpPr>
            <a:spLocks noGrp="1"/>
          </p:cNvSpPr>
          <p:nvPr>
            <p:ph idx="4294967295"/>
          </p:nvPr>
        </p:nvSpPr>
        <p:spPr>
          <a:xfrm>
            <a:off x="0" y="1253348"/>
            <a:ext cx="8229600" cy="4525963"/>
          </a:xfrm>
        </p:spPr>
        <p:txBody>
          <a:bodyPr/>
          <a:lstStyle/>
          <a:p>
            <a:pPr marL="722313" lvl="1" indent="-384175" eaLnBrk="1" hangingPunct="1">
              <a:lnSpc>
                <a:spcPct val="90000"/>
              </a:lnSpc>
              <a:buFont typeface="Wingdings" panose="05000000000000000000" pitchFamily="2" charset="2"/>
              <a:buChar char="q"/>
            </a:pPr>
            <a:r>
              <a:rPr lang="en-US" altLang="en-US" sz="2400" dirty="0">
                <a:solidFill>
                  <a:schemeClr val="bg1"/>
                </a:solidFill>
              </a:rPr>
              <a:t>What is Precision Teaching?</a:t>
            </a:r>
          </a:p>
          <a:p>
            <a:pPr marL="681038" lvl="1" indent="-342900" eaLnBrk="1" hangingPunct="1">
              <a:lnSpc>
                <a:spcPct val="90000"/>
              </a:lnSpc>
              <a:buFont typeface="Wingdings" panose="05000000000000000000" pitchFamily="2" charset="2"/>
              <a:buChar char="q"/>
            </a:pPr>
            <a:endParaRPr lang="en-US" altLang="en-US" sz="2400" dirty="0">
              <a:solidFill>
                <a:schemeClr val="bg1"/>
              </a:solidFill>
            </a:endParaRPr>
          </a:p>
          <a:p>
            <a:pPr marL="722313" lvl="1" indent="-384175" eaLnBrk="1" hangingPunct="1">
              <a:lnSpc>
                <a:spcPct val="90000"/>
              </a:lnSpc>
              <a:buFont typeface="Wingdings" panose="05000000000000000000" pitchFamily="2" charset="2"/>
              <a:buChar char="q"/>
            </a:pPr>
            <a:r>
              <a:rPr lang="en-US" altLang="en-US" sz="2400" dirty="0">
                <a:solidFill>
                  <a:schemeClr val="bg1"/>
                </a:solidFill>
              </a:rPr>
              <a:t>PT: The underlying theory</a:t>
            </a:r>
          </a:p>
          <a:p>
            <a:pPr marL="338138" lvl="1" indent="0" eaLnBrk="1" hangingPunct="1">
              <a:lnSpc>
                <a:spcPct val="90000"/>
              </a:lnSpc>
              <a:buNone/>
            </a:pPr>
            <a:endParaRPr lang="en-US" altLang="en-US" sz="2400" dirty="0">
              <a:solidFill>
                <a:schemeClr val="bg1"/>
              </a:solidFill>
            </a:endParaRPr>
          </a:p>
          <a:p>
            <a:pPr marL="722313" lvl="1" indent="-384175" eaLnBrk="1" hangingPunct="1">
              <a:lnSpc>
                <a:spcPct val="90000"/>
              </a:lnSpc>
              <a:buFont typeface="Wingdings" panose="05000000000000000000" pitchFamily="2" charset="2"/>
              <a:buChar char="q"/>
            </a:pPr>
            <a:r>
              <a:rPr lang="en-US" altLang="en-US" sz="2400" dirty="0">
                <a:solidFill>
                  <a:schemeClr val="bg1"/>
                </a:solidFill>
              </a:rPr>
              <a:t>How do you do PT?</a:t>
            </a:r>
          </a:p>
          <a:p>
            <a:pPr lvl="2" indent="-342900" eaLnBrk="1" hangingPunct="1">
              <a:lnSpc>
                <a:spcPct val="90000"/>
              </a:lnSpc>
              <a:buFont typeface="Wingdings" panose="05000000000000000000" pitchFamily="2" charset="2"/>
              <a:buChar char="ü"/>
            </a:pPr>
            <a:r>
              <a:rPr lang="en-GB" altLang="en-US" sz="2400" dirty="0" smtClean="0">
                <a:solidFill>
                  <a:schemeClr val="bg1"/>
                </a:solidFill>
              </a:rPr>
              <a:t>Focus on how to acquire </a:t>
            </a:r>
            <a:r>
              <a:rPr lang="en-GB" altLang="en-US" sz="2400" dirty="0">
                <a:solidFill>
                  <a:schemeClr val="bg1"/>
                </a:solidFill>
              </a:rPr>
              <a:t>a </a:t>
            </a:r>
            <a:r>
              <a:rPr lang="en-GB" altLang="en-US" sz="2400" dirty="0" smtClean="0">
                <a:solidFill>
                  <a:schemeClr val="bg1"/>
                </a:solidFill>
              </a:rPr>
              <a:t>baseline following identification of a specific area of difficulty.</a:t>
            </a:r>
            <a:endParaRPr lang="en-GB" altLang="en-US" sz="2400" dirty="0">
              <a:solidFill>
                <a:schemeClr val="bg1"/>
              </a:solidFill>
            </a:endParaRPr>
          </a:p>
          <a:p>
            <a:pPr marL="800100" lvl="2" indent="0" eaLnBrk="1" hangingPunct="1">
              <a:lnSpc>
                <a:spcPct val="90000"/>
              </a:lnSpc>
              <a:buNone/>
            </a:pPr>
            <a:endParaRPr lang="en-US" altLang="en-US" sz="2400" dirty="0">
              <a:solidFill>
                <a:schemeClr val="bg1"/>
              </a:solidFill>
            </a:endParaRPr>
          </a:p>
          <a:p>
            <a:pPr marL="722313" lvl="1" indent="-384175" eaLnBrk="1" hangingPunct="1">
              <a:lnSpc>
                <a:spcPct val="90000"/>
              </a:lnSpc>
              <a:buFont typeface="Wingdings" panose="05000000000000000000" pitchFamily="2" charset="2"/>
              <a:buChar char="q"/>
            </a:pPr>
            <a:r>
              <a:rPr lang="en-US" altLang="en-US" sz="2400" dirty="0">
                <a:solidFill>
                  <a:schemeClr val="bg1"/>
                </a:solidFill>
              </a:rPr>
              <a:t>Goals between now and the next session</a:t>
            </a:r>
          </a:p>
          <a:p>
            <a:pPr lvl="2" indent="-342900" eaLnBrk="1" hangingPunct="1">
              <a:lnSpc>
                <a:spcPct val="90000"/>
              </a:lnSpc>
              <a:buFont typeface="Wingdings" panose="05000000000000000000" pitchFamily="2" charset="2"/>
              <a:buChar char="ü"/>
            </a:pPr>
            <a:r>
              <a:rPr lang="en-US" altLang="en-US" sz="2400" dirty="0" smtClean="0">
                <a:solidFill>
                  <a:schemeClr val="bg1"/>
                </a:solidFill>
              </a:rPr>
              <a:t>Identify a target child and complete a baseline assessment…</a:t>
            </a:r>
          </a:p>
          <a:p>
            <a:pPr marL="800100" lvl="2" indent="0" eaLnBrk="1" hangingPunct="1">
              <a:lnSpc>
                <a:spcPct val="90000"/>
              </a:lnSpc>
              <a:buNone/>
            </a:pPr>
            <a:endParaRPr lang="en-GB" sz="2400" dirty="0"/>
          </a:p>
        </p:txBody>
      </p:sp>
    </p:spTree>
    <p:extLst>
      <p:ext uri="{BB962C8B-B14F-4D97-AF65-F5344CB8AC3E}">
        <p14:creationId xmlns:p14="http://schemas.microsoft.com/office/powerpoint/2010/main" val="14243464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lstStyle/>
          <a:p>
            <a:pPr algn="ctr"/>
            <a:r>
              <a:rPr lang="en-GB" dirty="0" smtClean="0">
                <a:solidFill>
                  <a:schemeClr val="bg1"/>
                </a:solidFill>
              </a:rPr>
              <a:t>Preview of upcoming sessions</a:t>
            </a:r>
            <a:endParaRPr lang="en-GB" dirty="0">
              <a:solidFill>
                <a:schemeClr val="bg1"/>
              </a:solidFill>
            </a:endParaRPr>
          </a:p>
        </p:txBody>
      </p:sp>
      <p:sp>
        <p:nvSpPr>
          <p:cNvPr id="3" name="Content Placeholder 2"/>
          <p:cNvSpPr>
            <a:spLocks noGrp="1"/>
          </p:cNvSpPr>
          <p:nvPr>
            <p:ph idx="4294967295"/>
          </p:nvPr>
        </p:nvSpPr>
        <p:spPr>
          <a:xfrm>
            <a:off x="0" y="1363710"/>
            <a:ext cx="8229600" cy="4525963"/>
          </a:xfrm>
        </p:spPr>
        <p:txBody>
          <a:bodyPr/>
          <a:lstStyle/>
          <a:p>
            <a:pPr marL="423863" indent="-384175" eaLnBrk="1" hangingPunct="1">
              <a:lnSpc>
                <a:spcPct val="90000"/>
              </a:lnSpc>
              <a:buNone/>
            </a:pPr>
            <a:r>
              <a:rPr lang="en-US" altLang="en-US" dirty="0">
                <a:solidFill>
                  <a:schemeClr val="bg1"/>
                </a:solidFill>
              </a:rPr>
              <a:t>Session 2 of 3</a:t>
            </a:r>
          </a:p>
          <a:p>
            <a:pPr marL="338138" lvl="1" indent="0" eaLnBrk="1" hangingPunct="1">
              <a:lnSpc>
                <a:spcPct val="90000"/>
              </a:lnSpc>
              <a:buNone/>
            </a:pPr>
            <a:endParaRPr lang="en-US" altLang="en-US" dirty="0" smtClean="0">
              <a:solidFill>
                <a:schemeClr val="bg1"/>
              </a:solidFill>
            </a:endParaRPr>
          </a:p>
          <a:p>
            <a:pPr marL="681038" lvl="1" indent="-342900" eaLnBrk="1" hangingPunct="1">
              <a:lnSpc>
                <a:spcPct val="90000"/>
              </a:lnSpc>
              <a:buFont typeface="Wingdings" panose="05000000000000000000" pitchFamily="2" charset="2"/>
              <a:buChar char="q"/>
            </a:pPr>
            <a:r>
              <a:rPr lang="en-US" altLang="en-US" sz="2400" dirty="0" smtClean="0">
                <a:solidFill>
                  <a:schemeClr val="bg1"/>
                </a:solidFill>
              </a:rPr>
              <a:t>Sharing </a:t>
            </a:r>
            <a:r>
              <a:rPr lang="en-US" altLang="en-US" sz="2400" dirty="0">
                <a:solidFill>
                  <a:schemeClr val="bg1"/>
                </a:solidFill>
              </a:rPr>
              <a:t>our experiences since the last session</a:t>
            </a:r>
          </a:p>
          <a:p>
            <a:pPr marL="338138" lvl="1" indent="0" eaLnBrk="1" hangingPunct="1">
              <a:lnSpc>
                <a:spcPct val="90000"/>
              </a:lnSpc>
              <a:buNone/>
            </a:pPr>
            <a:endParaRPr lang="en-US" altLang="en-US" sz="2400" dirty="0">
              <a:solidFill>
                <a:schemeClr val="bg1"/>
              </a:solidFill>
            </a:endParaRPr>
          </a:p>
          <a:p>
            <a:pPr marL="681038" lvl="1" indent="-342900" eaLnBrk="1" hangingPunct="1">
              <a:lnSpc>
                <a:spcPct val="90000"/>
              </a:lnSpc>
              <a:buFont typeface="Wingdings" panose="05000000000000000000" pitchFamily="2" charset="2"/>
              <a:buChar char="q"/>
            </a:pPr>
            <a:r>
              <a:rPr lang="en-US" altLang="en-US" sz="2400" dirty="0">
                <a:solidFill>
                  <a:schemeClr val="bg1"/>
                </a:solidFill>
              </a:rPr>
              <a:t>How do you do PT?</a:t>
            </a:r>
          </a:p>
          <a:p>
            <a:pPr lvl="2" indent="-342900" eaLnBrk="1" hangingPunct="1">
              <a:lnSpc>
                <a:spcPct val="90000"/>
              </a:lnSpc>
              <a:buFont typeface="Wingdings" panose="05000000000000000000" pitchFamily="2" charset="2"/>
              <a:buChar char="ü"/>
            </a:pPr>
            <a:r>
              <a:rPr lang="en-US" altLang="en-US" sz="2400" dirty="0" smtClean="0">
                <a:solidFill>
                  <a:schemeClr val="bg1"/>
                </a:solidFill>
              </a:rPr>
              <a:t>Target setting </a:t>
            </a:r>
          </a:p>
          <a:p>
            <a:pPr lvl="2" indent="-342900" eaLnBrk="1" hangingPunct="1">
              <a:lnSpc>
                <a:spcPct val="90000"/>
              </a:lnSpc>
              <a:buFont typeface="Wingdings" panose="05000000000000000000" pitchFamily="2" charset="2"/>
              <a:buChar char="ü"/>
            </a:pPr>
            <a:r>
              <a:rPr lang="en-US" altLang="en-US" sz="2400" dirty="0" smtClean="0">
                <a:solidFill>
                  <a:schemeClr val="bg1"/>
                </a:solidFill>
              </a:rPr>
              <a:t>Teaching and probing </a:t>
            </a:r>
          </a:p>
          <a:p>
            <a:pPr lvl="2" indent="-342900" eaLnBrk="1" hangingPunct="1">
              <a:lnSpc>
                <a:spcPct val="90000"/>
              </a:lnSpc>
              <a:buFont typeface="Wingdings" panose="05000000000000000000" pitchFamily="2" charset="2"/>
              <a:buChar char="ü"/>
            </a:pPr>
            <a:r>
              <a:rPr lang="en-US" altLang="en-US" sz="2400" dirty="0" smtClean="0">
                <a:solidFill>
                  <a:schemeClr val="bg1"/>
                </a:solidFill>
              </a:rPr>
              <a:t>Charting </a:t>
            </a:r>
            <a:r>
              <a:rPr lang="en-US" altLang="en-US" sz="2400" dirty="0">
                <a:solidFill>
                  <a:schemeClr val="bg1"/>
                </a:solidFill>
              </a:rPr>
              <a:t>the results </a:t>
            </a:r>
            <a:r>
              <a:rPr lang="en-US" altLang="en-US" sz="2400" dirty="0" smtClean="0">
                <a:solidFill>
                  <a:schemeClr val="bg1"/>
                </a:solidFill>
              </a:rPr>
              <a:t>with target child</a:t>
            </a:r>
          </a:p>
          <a:p>
            <a:pPr lvl="2" indent="-342900" eaLnBrk="1" hangingPunct="1">
              <a:lnSpc>
                <a:spcPct val="90000"/>
              </a:lnSpc>
              <a:buFont typeface="Wingdings" panose="05000000000000000000" pitchFamily="2" charset="2"/>
              <a:buChar char="ü"/>
            </a:pPr>
            <a:r>
              <a:rPr lang="en-US" altLang="en-US" sz="2400" dirty="0" smtClean="0">
                <a:solidFill>
                  <a:schemeClr val="bg1"/>
                </a:solidFill>
              </a:rPr>
              <a:t>Monitoring: </a:t>
            </a:r>
            <a:r>
              <a:rPr lang="en-US" altLang="en-US" sz="2400" dirty="0">
                <a:solidFill>
                  <a:schemeClr val="bg1"/>
                </a:solidFill>
              </a:rPr>
              <a:t>Review and adapt the </a:t>
            </a:r>
            <a:r>
              <a:rPr lang="en-US" altLang="en-US" sz="2400" dirty="0" err="1">
                <a:solidFill>
                  <a:schemeClr val="bg1"/>
                </a:solidFill>
              </a:rPr>
              <a:t>programme</a:t>
            </a:r>
            <a:r>
              <a:rPr lang="en-US" altLang="en-US" sz="2400" dirty="0">
                <a:solidFill>
                  <a:schemeClr val="bg1"/>
                </a:solidFill>
              </a:rPr>
              <a:t> as needed</a:t>
            </a:r>
          </a:p>
          <a:p>
            <a:pPr marL="338138" lvl="1" indent="0" eaLnBrk="1" hangingPunct="1">
              <a:lnSpc>
                <a:spcPct val="90000"/>
              </a:lnSpc>
              <a:buNone/>
            </a:pPr>
            <a:endParaRPr lang="en-US" altLang="en-US" sz="2400" dirty="0"/>
          </a:p>
          <a:p>
            <a:endParaRPr lang="en-GB" dirty="0"/>
          </a:p>
        </p:txBody>
      </p:sp>
    </p:spTree>
    <p:extLst>
      <p:ext uri="{BB962C8B-B14F-4D97-AF65-F5344CB8AC3E}">
        <p14:creationId xmlns:p14="http://schemas.microsoft.com/office/powerpoint/2010/main" val="130863717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lstStyle/>
          <a:p>
            <a:pPr algn="ctr"/>
            <a:r>
              <a:rPr lang="en-GB" dirty="0">
                <a:solidFill>
                  <a:schemeClr val="bg1"/>
                </a:solidFill>
              </a:rPr>
              <a:t>Preview of upcoming sessions</a:t>
            </a:r>
          </a:p>
        </p:txBody>
      </p:sp>
      <p:sp>
        <p:nvSpPr>
          <p:cNvPr id="3" name="Content Placeholder 2"/>
          <p:cNvSpPr>
            <a:spLocks noGrp="1"/>
          </p:cNvSpPr>
          <p:nvPr>
            <p:ph idx="4294967295"/>
          </p:nvPr>
        </p:nvSpPr>
        <p:spPr>
          <a:xfrm>
            <a:off x="0" y="1395242"/>
            <a:ext cx="8229600" cy="4525963"/>
          </a:xfrm>
        </p:spPr>
        <p:txBody>
          <a:bodyPr/>
          <a:lstStyle/>
          <a:p>
            <a:pPr marL="423863" indent="-384175" eaLnBrk="1" hangingPunct="1">
              <a:lnSpc>
                <a:spcPct val="90000"/>
              </a:lnSpc>
              <a:buNone/>
            </a:pPr>
            <a:r>
              <a:rPr lang="en-US" altLang="en-US" dirty="0">
                <a:solidFill>
                  <a:schemeClr val="bg1"/>
                </a:solidFill>
              </a:rPr>
              <a:t>Session 3 of </a:t>
            </a:r>
            <a:r>
              <a:rPr lang="en-US" altLang="en-US" dirty="0" smtClean="0">
                <a:solidFill>
                  <a:schemeClr val="bg1"/>
                </a:solidFill>
              </a:rPr>
              <a:t>3</a:t>
            </a:r>
            <a:endParaRPr lang="en-US" altLang="en-US" dirty="0">
              <a:solidFill>
                <a:schemeClr val="bg1"/>
              </a:solidFill>
            </a:endParaRPr>
          </a:p>
          <a:p>
            <a:pPr marL="338138" lvl="1" indent="0" eaLnBrk="1" hangingPunct="1">
              <a:lnSpc>
                <a:spcPct val="90000"/>
              </a:lnSpc>
              <a:buNone/>
            </a:pPr>
            <a:r>
              <a:rPr lang="en-US" altLang="en-US" sz="2400" u="sng" dirty="0">
                <a:solidFill>
                  <a:schemeClr val="bg1"/>
                </a:solidFill>
              </a:rPr>
              <a:t>Peer supervision</a:t>
            </a:r>
          </a:p>
          <a:p>
            <a:pPr marL="338138" lvl="1" indent="0" eaLnBrk="1" hangingPunct="1">
              <a:lnSpc>
                <a:spcPct val="90000"/>
              </a:lnSpc>
              <a:buNone/>
            </a:pPr>
            <a:endParaRPr lang="en-US" altLang="en-US" sz="2400" dirty="0">
              <a:solidFill>
                <a:schemeClr val="bg1"/>
              </a:solidFill>
            </a:endParaRPr>
          </a:p>
          <a:p>
            <a:pPr marL="681038" lvl="1" indent="-342900" eaLnBrk="1" hangingPunct="1">
              <a:lnSpc>
                <a:spcPct val="90000"/>
              </a:lnSpc>
              <a:buFont typeface="Wingdings" panose="05000000000000000000" pitchFamily="2" charset="2"/>
              <a:buChar char="q"/>
            </a:pPr>
            <a:r>
              <a:rPr lang="en-US" altLang="en-US" sz="2400" dirty="0">
                <a:solidFill>
                  <a:schemeClr val="bg1"/>
                </a:solidFill>
              </a:rPr>
              <a:t>Reflective discussions</a:t>
            </a:r>
          </a:p>
          <a:p>
            <a:pPr marL="1081088" lvl="2" indent="-342900" eaLnBrk="1" hangingPunct="1">
              <a:lnSpc>
                <a:spcPct val="90000"/>
              </a:lnSpc>
              <a:buFont typeface="Wingdings" panose="05000000000000000000" pitchFamily="2" charset="2"/>
              <a:buChar char="ü"/>
            </a:pPr>
            <a:r>
              <a:rPr lang="en-US" altLang="en-US" sz="2400" dirty="0">
                <a:solidFill>
                  <a:schemeClr val="bg1"/>
                </a:solidFill>
              </a:rPr>
              <a:t>How confident are we feeling about implementing PT</a:t>
            </a:r>
            <a:r>
              <a:rPr lang="en-US" altLang="en-US" sz="2400" dirty="0" smtClean="0">
                <a:solidFill>
                  <a:schemeClr val="bg1"/>
                </a:solidFill>
              </a:rPr>
              <a:t>?</a:t>
            </a:r>
          </a:p>
          <a:p>
            <a:pPr marL="738188" lvl="2" indent="0" eaLnBrk="1" hangingPunct="1">
              <a:lnSpc>
                <a:spcPct val="90000"/>
              </a:lnSpc>
              <a:buNone/>
            </a:pPr>
            <a:endParaRPr lang="en-US" altLang="en-US" sz="2400" dirty="0" smtClean="0">
              <a:solidFill>
                <a:schemeClr val="bg1"/>
              </a:solidFill>
            </a:endParaRPr>
          </a:p>
          <a:p>
            <a:pPr marL="1081088" lvl="2" indent="-342900" eaLnBrk="1" hangingPunct="1">
              <a:lnSpc>
                <a:spcPct val="90000"/>
              </a:lnSpc>
              <a:buFont typeface="Wingdings" panose="05000000000000000000" pitchFamily="2" charset="2"/>
              <a:buChar char="ü"/>
            </a:pPr>
            <a:r>
              <a:rPr lang="en-US" altLang="en-US" sz="2400" dirty="0" smtClean="0">
                <a:solidFill>
                  <a:schemeClr val="bg1"/>
                </a:solidFill>
              </a:rPr>
              <a:t>Our </a:t>
            </a:r>
            <a:r>
              <a:rPr lang="en-US" altLang="en-US" sz="2400" dirty="0">
                <a:solidFill>
                  <a:schemeClr val="bg1"/>
                </a:solidFill>
              </a:rPr>
              <a:t>views on PT:</a:t>
            </a:r>
          </a:p>
          <a:p>
            <a:pPr marL="1481138" lvl="3" indent="-285750" eaLnBrk="1" hangingPunct="1">
              <a:lnSpc>
                <a:spcPct val="90000"/>
              </a:lnSpc>
              <a:buFont typeface="Arial" panose="020B0604020202020204" pitchFamily="34" charset="0"/>
              <a:buChar char="•"/>
            </a:pPr>
            <a:r>
              <a:rPr lang="en-US" altLang="en-US" sz="2400" dirty="0">
                <a:solidFill>
                  <a:schemeClr val="bg1"/>
                </a:solidFill>
              </a:rPr>
              <a:t>Academic impact</a:t>
            </a:r>
          </a:p>
          <a:p>
            <a:pPr marL="1481138" lvl="3" indent="-285750" eaLnBrk="1" hangingPunct="1">
              <a:lnSpc>
                <a:spcPct val="90000"/>
              </a:lnSpc>
              <a:buFont typeface="Arial" panose="020B0604020202020204" pitchFamily="34" charset="0"/>
              <a:buChar char="•"/>
            </a:pPr>
            <a:r>
              <a:rPr lang="en-US" altLang="en-US" sz="2400" dirty="0">
                <a:solidFill>
                  <a:schemeClr val="bg1"/>
                </a:solidFill>
              </a:rPr>
              <a:t>Emotional/motivational </a:t>
            </a:r>
            <a:r>
              <a:rPr lang="en-US" altLang="en-US" sz="2400" dirty="0" smtClean="0">
                <a:solidFill>
                  <a:schemeClr val="bg1"/>
                </a:solidFill>
              </a:rPr>
              <a:t>impact</a:t>
            </a:r>
            <a:endParaRPr lang="en-US" altLang="en-US" sz="2400" dirty="0">
              <a:solidFill>
                <a:schemeClr val="bg1"/>
              </a:solidFill>
            </a:endParaRPr>
          </a:p>
          <a:p>
            <a:pPr marL="0" indent="0">
              <a:buNone/>
            </a:pPr>
            <a:endParaRPr lang="en-GB" dirty="0"/>
          </a:p>
        </p:txBody>
      </p:sp>
    </p:spTree>
    <p:extLst>
      <p:ext uri="{BB962C8B-B14F-4D97-AF65-F5344CB8AC3E}">
        <p14:creationId xmlns:p14="http://schemas.microsoft.com/office/powerpoint/2010/main" val="205769945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lstStyle/>
          <a:p>
            <a:pPr algn="ctr"/>
            <a:r>
              <a:rPr lang="en-GB" dirty="0" smtClean="0">
                <a:solidFill>
                  <a:schemeClr val="bg1"/>
                </a:solidFill>
              </a:rPr>
              <a:t>What is Precision Teaching?</a:t>
            </a:r>
            <a:endParaRPr lang="en-GB" dirty="0">
              <a:solidFill>
                <a:schemeClr val="bg1"/>
              </a:solidFill>
            </a:endParaRPr>
          </a:p>
        </p:txBody>
      </p:sp>
      <p:sp>
        <p:nvSpPr>
          <p:cNvPr id="3" name="Content Placeholder 2"/>
          <p:cNvSpPr>
            <a:spLocks noGrp="1"/>
          </p:cNvSpPr>
          <p:nvPr>
            <p:ph idx="4294967295"/>
          </p:nvPr>
        </p:nvSpPr>
        <p:spPr>
          <a:xfrm>
            <a:off x="0" y="1600200"/>
            <a:ext cx="8229600" cy="4525963"/>
          </a:xfrm>
        </p:spPr>
        <p:txBody>
          <a:bodyPr>
            <a:normAutofit/>
          </a:bodyPr>
          <a:lstStyle/>
          <a:p>
            <a:pPr eaLnBrk="1" hangingPunct="1">
              <a:buFont typeface="Wingdings" panose="05000000000000000000" pitchFamily="2" charset="2"/>
              <a:buChar char="q"/>
            </a:pPr>
            <a:r>
              <a:rPr lang="en-GB" altLang="en-US" sz="2400" dirty="0">
                <a:solidFill>
                  <a:schemeClr val="bg1"/>
                </a:solidFill>
              </a:rPr>
              <a:t>A way to plan, monitor and evaluate a </a:t>
            </a:r>
            <a:r>
              <a:rPr lang="en-GB" altLang="en-US" sz="2400" dirty="0" smtClean="0">
                <a:solidFill>
                  <a:schemeClr val="bg1"/>
                </a:solidFill>
              </a:rPr>
              <a:t>teaching programme </a:t>
            </a:r>
            <a:r>
              <a:rPr lang="en-GB" altLang="en-US" sz="2400" dirty="0">
                <a:solidFill>
                  <a:schemeClr val="bg1"/>
                </a:solidFill>
              </a:rPr>
              <a:t>for an individual child, helping </a:t>
            </a:r>
            <a:r>
              <a:rPr lang="en-GB" altLang="en-US" sz="2400" dirty="0" smtClean="0">
                <a:solidFill>
                  <a:schemeClr val="bg1"/>
                </a:solidFill>
              </a:rPr>
              <a:t>him/her </a:t>
            </a:r>
            <a:r>
              <a:rPr lang="en-GB" altLang="en-US" sz="2400" dirty="0">
                <a:solidFill>
                  <a:schemeClr val="bg1"/>
                </a:solidFill>
              </a:rPr>
              <a:t>to learn a specific skill</a:t>
            </a:r>
            <a:r>
              <a:rPr lang="en-GB" altLang="en-US" sz="2400" dirty="0" smtClean="0">
                <a:solidFill>
                  <a:schemeClr val="bg1"/>
                </a:solidFill>
              </a:rPr>
              <a:t>.</a:t>
            </a:r>
          </a:p>
          <a:p>
            <a:pPr marL="0" indent="0" eaLnBrk="1" hangingPunct="1">
              <a:buNone/>
            </a:pPr>
            <a:endParaRPr lang="en-GB" altLang="en-US" sz="2400" dirty="0" smtClean="0">
              <a:solidFill>
                <a:schemeClr val="bg1"/>
              </a:solidFill>
            </a:endParaRPr>
          </a:p>
          <a:p>
            <a:pPr eaLnBrk="1" hangingPunct="1">
              <a:buFont typeface="Wingdings" panose="05000000000000000000" pitchFamily="2" charset="2"/>
              <a:buChar char="q"/>
            </a:pPr>
            <a:r>
              <a:rPr lang="en-US" altLang="en-US" sz="2400" dirty="0" smtClean="0">
                <a:solidFill>
                  <a:schemeClr val="bg1"/>
                </a:solidFill>
              </a:rPr>
              <a:t>It is </a:t>
            </a:r>
            <a:r>
              <a:rPr lang="en-US" altLang="en-US" sz="2400" dirty="0">
                <a:solidFill>
                  <a:schemeClr val="bg1"/>
                </a:solidFill>
              </a:rPr>
              <a:t>a method of </a:t>
            </a:r>
            <a:r>
              <a:rPr lang="en-US" altLang="en-US" sz="2400" u="sng" dirty="0">
                <a:solidFill>
                  <a:schemeClr val="bg1"/>
                </a:solidFill>
              </a:rPr>
              <a:t>precisely measuring</a:t>
            </a:r>
            <a:r>
              <a:rPr lang="en-US" altLang="en-US" sz="2400" dirty="0">
                <a:solidFill>
                  <a:schemeClr val="bg1"/>
                </a:solidFill>
              </a:rPr>
              <a:t> the effectiveness of teaching.</a:t>
            </a:r>
            <a:endParaRPr lang="en-GB" altLang="en-US" sz="2400" dirty="0" smtClean="0">
              <a:solidFill>
                <a:schemeClr val="bg1"/>
              </a:solidFill>
            </a:endParaRPr>
          </a:p>
          <a:p>
            <a:pPr marL="0" indent="0" eaLnBrk="1" hangingPunct="1">
              <a:buNone/>
            </a:pPr>
            <a:endParaRPr lang="en-GB" altLang="en-US" sz="2400" dirty="0">
              <a:solidFill>
                <a:schemeClr val="bg1"/>
              </a:solidFill>
            </a:endParaRPr>
          </a:p>
          <a:p>
            <a:pPr eaLnBrk="1" hangingPunct="1">
              <a:buFont typeface="Wingdings" panose="05000000000000000000" pitchFamily="2" charset="2"/>
              <a:buChar char="q"/>
            </a:pPr>
            <a:r>
              <a:rPr lang="en-GB" altLang="en-US" sz="2400" dirty="0">
                <a:solidFill>
                  <a:schemeClr val="bg1"/>
                </a:solidFill>
              </a:rPr>
              <a:t>Precision </a:t>
            </a:r>
            <a:r>
              <a:rPr lang="en-GB" altLang="en-US" sz="2400" dirty="0" smtClean="0">
                <a:solidFill>
                  <a:schemeClr val="bg1"/>
                </a:solidFill>
              </a:rPr>
              <a:t>Teaching </a:t>
            </a:r>
            <a:r>
              <a:rPr lang="en-GB" altLang="en-US" sz="2400" dirty="0">
                <a:solidFill>
                  <a:schemeClr val="bg1"/>
                </a:solidFill>
              </a:rPr>
              <a:t>is an</a:t>
            </a:r>
            <a:r>
              <a:rPr lang="en-GB" altLang="en-US" sz="2400" dirty="0"/>
              <a:t> </a:t>
            </a:r>
            <a:r>
              <a:rPr lang="en-GB" altLang="en-US" sz="2400" b="1" u="sng" dirty="0">
                <a:solidFill>
                  <a:srgbClr val="FF0000"/>
                </a:solidFill>
              </a:rPr>
              <a:t>ASSESSMENT</a:t>
            </a:r>
            <a:r>
              <a:rPr lang="en-GB" altLang="en-US" sz="2400" dirty="0"/>
              <a:t> </a:t>
            </a:r>
            <a:r>
              <a:rPr lang="en-GB" altLang="en-US" dirty="0" smtClean="0">
                <a:solidFill>
                  <a:schemeClr val="bg1"/>
                </a:solidFill>
              </a:rPr>
              <a:t>tool and</a:t>
            </a:r>
            <a:r>
              <a:rPr lang="en-GB" altLang="en-US" dirty="0" smtClean="0"/>
              <a:t> </a:t>
            </a:r>
            <a:r>
              <a:rPr lang="en-GB" altLang="en-US" b="1" u="sng" dirty="0" smtClean="0">
                <a:solidFill>
                  <a:srgbClr val="FF0000"/>
                </a:solidFill>
              </a:rPr>
              <a:t>NOT</a:t>
            </a:r>
            <a:r>
              <a:rPr lang="en-GB" altLang="en-US" dirty="0" smtClean="0"/>
              <a:t> </a:t>
            </a:r>
            <a:r>
              <a:rPr lang="en-GB" altLang="en-US" dirty="0">
                <a:solidFill>
                  <a:schemeClr val="bg1"/>
                </a:solidFill>
              </a:rPr>
              <a:t>a teaching method.</a:t>
            </a:r>
          </a:p>
          <a:p>
            <a:endParaRPr lang="en-GB" dirty="0"/>
          </a:p>
        </p:txBody>
      </p:sp>
    </p:spTree>
    <p:extLst>
      <p:ext uri="{BB962C8B-B14F-4D97-AF65-F5344CB8AC3E}">
        <p14:creationId xmlns:p14="http://schemas.microsoft.com/office/powerpoint/2010/main" val="295871205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lstStyle/>
          <a:p>
            <a:pPr algn="ctr"/>
            <a:r>
              <a:rPr lang="en-GB" dirty="0" smtClean="0">
                <a:solidFill>
                  <a:schemeClr val="bg1"/>
                </a:solidFill>
              </a:rPr>
              <a:t>What is Precision Teaching?</a:t>
            </a:r>
            <a:endParaRPr lang="en-GB" dirty="0">
              <a:solidFill>
                <a:schemeClr val="bg1"/>
              </a:solidFill>
            </a:endParaRPr>
          </a:p>
        </p:txBody>
      </p:sp>
      <p:sp>
        <p:nvSpPr>
          <p:cNvPr id="3" name="Content Placeholder 2"/>
          <p:cNvSpPr>
            <a:spLocks noGrp="1"/>
          </p:cNvSpPr>
          <p:nvPr>
            <p:ph idx="4294967295"/>
          </p:nvPr>
        </p:nvSpPr>
        <p:spPr>
          <a:xfrm>
            <a:off x="0" y="1600200"/>
            <a:ext cx="8229600" cy="4525963"/>
          </a:xfrm>
        </p:spPr>
        <p:txBody>
          <a:bodyPr>
            <a:normAutofit/>
          </a:bodyPr>
          <a:lstStyle/>
          <a:p>
            <a:pPr>
              <a:buFont typeface="Wingdings" panose="05000000000000000000" pitchFamily="2" charset="2"/>
              <a:buChar char="q"/>
            </a:pPr>
            <a:r>
              <a:rPr lang="en-GB" altLang="en-US" sz="2400" dirty="0">
                <a:solidFill>
                  <a:schemeClr val="bg1"/>
                </a:solidFill>
              </a:rPr>
              <a:t>Precision Teaching is individualised to help the ‘stuck’ </a:t>
            </a:r>
            <a:r>
              <a:rPr lang="en-GB" altLang="en-US" sz="2400" dirty="0" smtClean="0">
                <a:solidFill>
                  <a:schemeClr val="bg1"/>
                </a:solidFill>
              </a:rPr>
              <a:t>child</a:t>
            </a:r>
          </a:p>
          <a:p>
            <a:pPr marL="0" indent="0">
              <a:buNone/>
            </a:pPr>
            <a:endParaRPr lang="en-GB" altLang="en-US" sz="2400" dirty="0">
              <a:solidFill>
                <a:schemeClr val="bg1"/>
              </a:solidFill>
            </a:endParaRPr>
          </a:p>
          <a:p>
            <a:pPr>
              <a:buFont typeface="Wingdings" panose="05000000000000000000" pitchFamily="2" charset="2"/>
              <a:buChar char="q"/>
            </a:pPr>
            <a:r>
              <a:rPr lang="en-GB" altLang="en-US" sz="2400" dirty="0">
                <a:solidFill>
                  <a:schemeClr val="bg1"/>
                </a:solidFill>
              </a:rPr>
              <a:t>It requires a short (</a:t>
            </a:r>
            <a:r>
              <a:rPr lang="en-GB" altLang="en-US" sz="2400" dirty="0" err="1">
                <a:solidFill>
                  <a:schemeClr val="bg1"/>
                </a:solidFill>
              </a:rPr>
              <a:t>approx</a:t>
            </a:r>
            <a:r>
              <a:rPr lang="en-GB" altLang="en-US" sz="2400" dirty="0">
                <a:solidFill>
                  <a:schemeClr val="bg1"/>
                </a:solidFill>
              </a:rPr>
              <a:t> 10-15 min) session daily with </a:t>
            </a:r>
            <a:r>
              <a:rPr lang="en-GB" altLang="en-US" sz="2400" dirty="0" smtClean="0">
                <a:solidFill>
                  <a:schemeClr val="bg1"/>
                </a:solidFill>
              </a:rPr>
              <a:t>the child</a:t>
            </a:r>
          </a:p>
          <a:p>
            <a:pPr marL="0" indent="0">
              <a:buNone/>
            </a:pPr>
            <a:endParaRPr lang="en-GB" altLang="en-US" sz="2400" dirty="0">
              <a:solidFill>
                <a:schemeClr val="bg1"/>
              </a:solidFill>
            </a:endParaRPr>
          </a:p>
          <a:p>
            <a:pPr>
              <a:buFont typeface="Wingdings" panose="05000000000000000000" pitchFamily="2" charset="2"/>
              <a:buChar char="q"/>
            </a:pPr>
            <a:r>
              <a:rPr lang="en-GB" altLang="en-US" sz="2400" dirty="0">
                <a:solidFill>
                  <a:schemeClr val="bg1"/>
                </a:solidFill>
              </a:rPr>
              <a:t>Each session includes a teaching activity followed by the use of a PROBE – a timed test used to check on the child’s knowledge of specific skill items</a:t>
            </a:r>
          </a:p>
          <a:p>
            <a:endParaRPr lang="en-GB" dirty="0"/>
          </a:p>
        </p:txBody>
      </p:sp>
    </p:spTree>
    <p:extLst>
      <p:ext uri="{BB962C8B-B14F-4D97-AF65-F5344CB8AC3E}">
        <p14:creationId xmlns:p14="http://schemas.microsoft.com/office/powerpoint/2010/main" val="157056937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74638"/>
            <a:ext cx="8229600" cy="1143000"/>
          </a:xfrm>
        </p:spPr>
        <p:txBody>
          <a:bodyPr>
            <a:normAutofit fontScale="90000"/>
          </a:bodyPr>
          <a:lstStyle/>
          <a:p>
            <a:pPr algn="ctr"/>
            <a:r>
              <a:rPr lang="en-GB" dirty="0" smtClean="0">
                <a:solidFill>
                  <a:schemeClr val="bg1"/>
                </a:solidFill>
              </a:rPr>
              <a:t>When can Precision Teaching be </a:t>
            </a:r>
            <a:r>
              <a:rPr lang="en-GB" dirty="0">
                <a:solidFill>
                  <a:schemeClr val="bg1"/>
                </a:solidFill>
              </a:rPr>
              <a:t>u</a:t>
            </a:r>
            <a:r>
              <a:rPr lang="en-GB" dirty="0" smtClean="0">
                <a:solidFill>
                  <a:schemeClr val="bg1"/>
                </a:solidFill>
              </a:rPr>
              <a:t>sed?</a:t>
            </a:r>
            <a:endParaRPr lang="en-GB" dirty="0">
              <a:solidFill>
                <a:schemeClr val="bg1"/>
              </a:solidFill>
            </a:endParaRPr>
          </a:p>
        </p:txBody>
      </p:sp>
      <p:sp>
        <p:nvSpPr>
          <p:cNvPr id="3" name="Content Placeholder 2"/>
          <p:cNvSpPr>
            <a:spLocks noGrp="1"/>
          </p:cNvSpPr>
          <p:nvPr>
            <p:ph idx="4294967295"/>
          </p:nvPr>
        </p:nvSpPr>
        <p:spPr>
          <a:xfrm>
            <a:off x="247650" y="1181754"/>
            <a:ext cx="8229600" cy="4525963"/>
          </a:xfrm>
        </p:spPr>
        <p:txBody>
          <a:bodyPr>
            <a:normAutofit fontScale="70000" lnSpcReduction="20000"/>
          </a:bodyPr>
          <a:lstStyle/>
          <a:p>
            <a:pPr marL="423863" eaLnBrk="1" hangingPunct="1">
              <a:lnSpc>
                <a:spcPct val="120000"/>
              </a:lnSpc>
              <a:buFont typeface="Wingdings" panose="05000000000000000000" pitchFamily="2" charset="2"/>
              <a:buChar char="q"/>
            </a:pPr>
            <a:r>
              <a:rPr lang="en-US" altLang="en-US" dirty="0">
                <a:solidFill>
                  <a:schemeClr val="bg1"/>
                </a:solidFill>
              </a:rPr>
              <a:t>When a child is making little or no progress in an area</a:t>
            </a:r>
          </a:p>
          <a:p>
            <a:pPr marL="423863" eaLnBrk="1" hangingPunct="1">
              <a:lnSpc>
                <a:spcPct val="120000"/>
              </a:lnSpc>
              <a:buFont typeface="Century Gothic" pitchFamily="34" charset="0"/>
              <a:buNone/>
            </a:pPr>
            <a:endParaRPr lang="en-US" altLang="en-US" dirty="0">
              <a:solidFill>
                <a:schemeClr val="bg1"/>
              </a:solidFill>
            </a:endParaRPr>
          </a:p>
          <a:p>
            <a:pPr marL="423863" eaLnBrk="1" hangingPunct="1">
              <a:lnSpc>
                <a:spcPct val="120000"/>
              </a:lnSpc>
              <a:buFont typeface="Wingdings" panose="05000000000000000000" pitchFamily="2" charset="2"/>
              <a:buChar char="q"/>
            </a:pPr>
            <a:r>
              <a:rPr lang="en-US" altLang="en-US" dirty="0">
                <a:solidFill>
                  <a:schemeClr val="bg1"/>
                </a:solidFill>
              </a:rPr>
              <a:t>When development of speed is essential for progress, for example</a:t>
            </a:r>
            <a:r>
              <a:rPr lang="en-US" altLang="en-US" dirty="0" smtClean="0">
                <a:solidFill>
                  <a:schemeClr val="bg1"/>
                </a:solidFill>
              </a:rPr>
              <a:t>:</a:t>
            </a:r>
            <a:endParaRPr lang="en-US" altLang="en-US" dirty="0">
              <a:solidFill>
                <a:schemeClr val="bg1"/>
              </a:solidFill>
            </a:endParaRPr>
          </a:p>
          <a:p>
            <a:pPr marL="423863" eaLnBrk="1" hangingPunct="1">
              <a:lnSpc>
                <a:spcPct val="120000"/>
              </a:lnSpc>
              <a:buFont typeface="Wingdings" panose="05000000000000000000" pitchFamily="2" charset="2"/>
              <a:buChar char="ü"/>
            </a:pPr>
            <a:r>
              <a:rPr lang="en-US" altLang="en-US" dirty="0" smtClean="0">
                <a:solidFill>
                  <a:schemeClr val="bg1"/>
                </a:solidFill>
              </a:rPr>
              <a:t> phonics</a:t>
            </a:r>
          </a:p>
          <a:p>
            <a:pPr marL="423863" eaLnBrk="1" hangingPunct="1">
              <a:lnSpc>
                <a:spcPct val="120000"/>
              </a:lnSpc>
              <a:buFont typeface="Wingdings" panose="05000000000000000000" pitchFamily="2" charset="2"/>
              <a:buChar char="ü"/>
            </a:pPr>
            <a:r>
              <a:rPr lang="en-US" altLang="en-US" dirty="0" smtClean="0">
                <a:solidFill>
                  <a:schemeClr val="bg1"/>
                </a:solidFill>
              </a:rPr>
              <a:t>sight vocabulary</a:t>
            </a:r>
          </a:p>
          <a:p>
            <a:pPr marL="423863" eaLnBrk="1" hangingPunct="1">
              <a:lnSpc>
                <a:spcPct val="120000"/>
              </a:lnSpc>
              <a:buFont typeface="Wingdings" panose="05000000000000000000" pitchFamily="2" charset="2"/>
              <a:buChar char="ü"/>
            </a:pPr>
            <a:r>
              <a:rPr lang="en-US" altLang="en-US" dirty="0" smtClean="0">
                <a:solidFill>
                  <a:schemeClr val="bg1"/>
                </a:solidFill>
              </a:rPr>
              <a:t>spelling </a:t>
            </a:r>
            <a:r>
              <a:rPr lang="en-US" altLang="en-US" dirty="0">
                <a:solidFill>
                  <a:schemeClr val="bg1"/>
                </a:solidFill>
              </a:rPr>
              <a:t>high frequency </a:t>
            </a:r>
            <a:r>
              <a:rPr lang="en-US" altLang="en-US" dirty="0" smtClean="0">
                <a:solidFill>
                  <a:schemeClr val="bg1"/>
                </a:solidFill>
              </a:rPr>
              <a:t>words</a:t>
            </a:r>
          </a:p>
          <a:p>
            <a:pPr marL="423863" eaLnBrk="1" hangingPunct="1">
              <a:lnSpc>
                <a:spcPct val="120000"/>
              </a:lnSpc>
              <a:buFont typeface="Wingdings" panose="05000000000000000000" pitchFamily="2" charset="2"/>
              <a:buChar char="ü"/>
            </a:pPr>
            <a:r>
              <a:rPr lang="en-US" altLang="en-US" dirty="0" smtClean="0">
                <a:solidFill>
                  <a:schemeClr val="bg1"/>
                </a:solidFill>
              </a:rPr>
              <a:t>number recognition</a:t>
            </a:r>
          </a:p>
          <a:p>
            <a:pPr marL="423863" eaLnBrk="1" hangingPunct="1">
              <a:lnSpc>
                <a:spcPct val="120000"/>
              </a:lnSpc>
              <a:buFont typeface="Wingdings" panose="05000000000000000000" pitchFamily="2" charset="2"/>
              <a:buChar char="ü"/>
            </a:pPr>
            <a:r>
              <a:rPr lang="en-US" altLang="en-US" dirty="0" smtClean="0">
                <a:solidFill>
                  <a:schemeClr val="bg1"/>
                </a:solidFill>
              </a:rPr>
              <a:t>number </a:t>
            </a:r>
            <a:r>
              <a:rPr lang="en-US" altLang="en-US" dirty="0" smtClean="0">
                <a:solidFill>
                  <a:schemeClr val="bg1"/>
                </a:solidFill>
              </a:rPr>
              <a:t>bonds</a:t>
            </a:r>
          </a:p>
          <a:p>
            <a:pPr marL="80963" indent="0" eaLnBrk="1" hangingPunct="1">
              <a:lnSpc>
                <a:spcPct val="120000"/>
              </a:lnSpc>
              <a:buNone/>
            </a:pPr>
            <a:endParaRPr lang="en-US" altLang="en-US" dirty="0">
              <a:solidFill>
                <a:schemeClr val="bg1"/>
              </a:solidFill>
            </a:endParaRPr>
          </a:p>
          <a:p>
            <a:pPr marL="423863" eaLnBrk="1" hangingPunct="1">
              <a:lnSpc>
                <a:spcPct val="120000"/>
              </a:lnSpc>
              <a:buFont typeface="Wingdings" panose="05000000000000000000" pitchFamily="2" charset="2"/>
              <a:buChar char="q"/>
            </a:pPr>
            <a:r>
              <a:rPr lang="en-US" altLang="en-US" dirty="0" smtClean="0">
                <a:solidFill>
                  <a:schemeClr val="bg1"/>
                </a:solidFill>
              </a:rPr>
              <a:t>For </a:t>
            </a:r>
            <a:r>
              <a:rPr lang="en-US" altLang="en-US" dirty="0">
                <a:solidFill>
                  <a:schemeClr val="bg1"/>
                </a:solidFill>
              </a:rPr>
              <a:t>teaching skills that are </a:t>
            </a:r>
            <a:r>
              <a:rPr lang="en-US" altLang="en-US" dirty="0" smtClean="0">
                <a:solidFill>
                  <a:schemeClr val="bg1"/>
                </a:solidFill>
              </a:rPr>
              <a:t>measurable and </a:t>
            </a:r>
            <a:r>
              <a:rPr lang="en-US" altLang="en-US" dirty="0">
                <a:solidFill>
                  <a:schemeClr val="bg1"/>
                </a:solidFill>
              </a:rPr>
              <a:t>need to be acquired to </a:t>
            </a:r>
            <a:r>
              <a:rPr lang="en-US" altLang="en-US" dirty="0" smtClean="0">
                <a:solidFill>
                  <a:schemeClr val="bg1"/>
                </a:solidFill>
              </a:rPr>
              <a:t>make progress</a:t>
            </a:r>
            <a:endParaRPr lang="en-US" altLang="en-US" dirty="0">
              <a:solidFill>
                <a:schemeClr val="bg1"/>
              </a:solidFill>
            </a:endParaRPr>
          </a:p>
          <a:p>
            <a:endParaRPr lang="en-GB" dirty="0"/>
          </a:p>
        </p:txBody>
      </p:sp>
    </p:spTree>
    <p:extLst>
      <p:ext uri="{BB962C8B-B14F-4D97-AF65-F5344CB8AC3E}">
        <p14:creationId xmlns:p14="http://schemas.microsoft.com/office/powerpoint/2010/main" val="16985796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Grp="1" noChangeArrowheads="1"/>
          </p:cNvSpPr>
          <p:nvPr>
            <p:ph type="body" idx="4294967295"/>
          </p:nvPr>
        </p:nvSpPr>
        <p:spPr>
          <a:xfrm>
            <a:off x="470749" y="855054"/>
            <a:ext cx="7488238" cy="4665662"/>
          </a:xfrm>
        </p:spPr>
        <p:txBody>
          <a:bodyPr>
            <a:normAutofit fontScale="92500" lnSpcReduction="10000"/>
          </a:bodyPr>
          <a:lstStyle/>
          <a:p>
            <a:pPr eaLnBrk="1" hangingPunct="1">
              <a:lnSpc>
                <a:spcPct val="90000"/>
              </a:lnSpc>
              <a:buFont typeface="Wingdings" panose="05000000000000000000" pitchFamily="2" charset="2"/>
              <a:buChar char="q"/>
            </a:pPr>
            <a:r>
              <a:rPr lang="en-GB" altLang="en-US" dirty="0" smtClean="0">
                <a:solidFill>
                  <a:schemeClr val="bg1"/>
                </a:solidFill>
              </a:rPr>
              <a:t>Precision Teaching is based on the principle</a:t>
            </a:r>
          </a:p>
          <a:p>
            <a:pPr eaLnBrk="1" hangingPunct="1">
              <a:lnSpc>
                <a:spcPct val="90000"/>
              </a:lnSpc>
              <a:buFont typeface="Wingdings" pitchFamily="2" charset="2"/>
              <a:buNone/>
            </a:pPr>
            <a:r>
              <a:rPr lang="en-GB" altLang="en-US" dirty="0" smtClean="0">
                <a:solidFill>
                  <a:schemeClr val="bg1"/>
                </a:solidFill>
              </a:rPr>
              <a:t>	that children (and adults) need to reach a certain level of fluency and accuracy when learning a new skill before they can maintain that skill without the need for further teaching.</a:t>
            </a:r>
          </a:p>
          <a:p>
            <a:pPr eaLnBrk="1" hangingPunct="1">
              <a:lnSpc>
                <a:spcPct val="90000"/>
              </a:lnSpc>
              <a:buFont typeface="Wingdings" pitchFamily="2" charset="2"/>
              <a:buNone/>
            </a:pPr>
            <a:endParaRPr lang="en-GB" altLang="en-US" dirty="0" smtClean="0">
              <a:solidFill>
                <a:schemeClr val="bg1"/>
              </a:solidFill>
            </a:endParaRPr>
          </a:p>
          <a:p>
            <a:pPr eaLnBrk="1" hangingPunct="1">
              <a:lnSpc>
                <a:spcPct val="90000"/>
              </a:lnSpc>
              <a:buFont typeface="Wingdings" panose="05000000000000000000" pitchFamily="2" charset="2"/>
              <a:buChar char="q"/>
            </a:pPr>
            <a:r>
              <a:rPr lang="en-GB" altLang="en-US" dirty="0" smtClean="0">
                <a:solidFill>
                  <a:schemeClr val="bg1"/>
                </a:solidFill>
              </a:rPr>
              <a:t>	The Learning Hierarchy* identifies five important stages in skill development.</a:t>
            </a:r>
          </a:p>
          <a:p>
            <a:pPr eaLnBrk="1" hangingPunct="1">
              <a:lnSpc>
                <a:spcPct val="90000"/>
              </a:lnSpc>
              <a:buFont typeface="Wingdings" pitchFamily="2" charset="2"/>
              <a:buNone/>
            </a:pPr>
            <a:endParaRPr lang="en-GB" altLang="en-US" dirty="0" smtClean="0">
              <a:solidFill>
                <a:schemeClr val="bg1"/>
              </a:solidFill>
            </a:endParaRPr>
          </a:p>
          <a:p>
            <a:pPr eaLnBrk="1" hangingPunct="1">
              <a:lnSpc>
                <a:spcPct val="90000"/>
              </a:lnSpc>
              <a:buFont typeface="Wingdings" pitchFamily="2" charset="2"/>
              <a:buNone/>
            </a:pPr>
            <a:r>
              <a:rPr lang="en-GB" altLang="en-US" sz="1800" i="1" dirty="0" smtClean="0">
                <a:solidFill>
                  <a:schemeClr val="bg1"/>
                </a:solidFill>
              </a:rPr>
              <a:t>	*Haring N.G. &amp; Eaton M.D. (1978) Systematic Instructional Procedures: An Instructional Hierarchy</a:t>
            </a:r>
          </a:p>
          <a:p>
            <a:pPr eaLnBrk="1" hangingPunct="1">
              <a:lnSpc>
                <a:spcPct val="90000"/>
              </a:lnSpc>
              <a:buFont typeface="Wingdings" pitchFamily="2" charset="2"/>
              <a:buNone/>
            </a:pPr>
            <a:endParaRPr lang="en-GB" altLang="en-US" sz="1800" i="1" dirty="0" smtClean="0"/>
          </a:p>
          <a:p>
            <a:pPr eaLnBrk="1" hangingPunct="1">
              <a:lnSpc>
                <a:spcPct val="90000"/>
              </a:lnSpc>
              <a:buFont typeface="Wingdings" pitchFamily="2" charset="2"/>
              <a:buChar char="q"/>
            </a:pPr>
            <a:endParaRPr lang="en-GB" altLang="en-US" dirty="0" smtClean="0"/>
          </a:p>
        </p:txBody>
      </p:sp>
      <p:sp>
        <p:nvSpPr>
          <p:cNvPr id="6146" name="Rectangle 2"/>
          <p:cNvSpPr>
            <a:spLocks noGrp="1" noChangeArrowheads="1"/>
          </p:cNvSpPr>
          <p:nvPr>
            <p:ph type="title" idx="4294967295"/>
          </p:nvPr>
        </p:nvSpPr>
        <p:spPr>
          <a:xfrm>
            <a:off x="646113" y="115888"/>
            <a:ext cx="8497887" cy="792162"/>
          </a:xfrm>
        </p:spPr>
        <p:txBody>
          <a:bodyPr/>
          <a:lstStyle/>
          <a:p>
            <a:pPr algn="ctr" eaLnBrk="1" hangingPunct="1"/>
            <a:r>
              <a:rPr lang="en-GB" altLang="en-US" sz="3200" dirty="0" smtClean="0">
                <a:solidFill>
                  <a:schemeClr val="bg1"/>
                </a:solidFill>
                <a:latin typeface="Arial" charset="0"/>
              </a:rPr>
              <a:t>The Learning Hierarchy</a:t>
            </a:r>
          </a:p>
        </p:txBody>
      </p:sp>
    </p:spTree>
    <p:extLst>
      <p:ext uri="{BB962C8B-B14F-4D97-AF65-F5344CB8AC3E}">
        <p14:creationId xmlns:p14="http://schemas.microsoft.com/office/powerpoint/2010/main" val="136063199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646113" y="115888"/>
            <a:ext cx="8497887" cy="792162"/>
          </a:xfrm>
        </p:spPr>
        <p:txBody>
          <a:bodyPr/>
          <a:lstStyle/>
          <a:p>
            <a:pPr algn="ctr" eaLnBrk="1" hangingPunct="1"/>
            <a:r>
              <a:rPr lang="en-GB" altLang="en-US" sz="3200" dirty="0" smtClean="0">
                <a:solidFill>
                  <a:schemeClr val="bg1"/>
                </a:solidFill>
                <a:latin typeface="Arial" charset="0"/>
              </a:rPr>
              <a:t>The Learning Hierarchy</a:t>
            </a:r>
          </a:p>
        </p:txBody>
      </p:sp>
      <p:graphicFrame>
        <p:nvGraphicFramePr>
          <p:cNvPr id="4" name="Group 38"/>
          <p:cNvGraphicFramePr>
            <a:graphicFrameLocks/>
          </p:cNvGraphicFramePr>
          <p:nvPr>
            <p:extLst>
              <p:ext uri="{D42A27DB-BD31-4B8C-83A1-F6EECF244321}">
                <p14:modId xmlns:p14="http://schemas.microsoft.com/office/powerpoint/2010/main" val="1038104782"/>
              </p:ext>
            </p:extLst>
          </p:nvPr>
        </p:nvGraphicFramePr>
        <p:xfrm>
          <a:off x="954460" y="908050"/>
          <a:ext cx="7416824" cy="4681999"/>
        </p:xfrm>
        <a:graphic>
          <a:graphicData uri="http://schemas.openxmlformats.org/drawingml/2006/table">
            <a:tbl>
              <a:tblPr/>
              <a:tblGrid>
                <a:gridCol w="2808312"/>
                <a:gridCol w="4608512"/>
              </a:tblGrid>
              <a:tr h="525675">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400" b="1" i="0" u="none" strike="noStrike" cap="none" normalizeH="0" baseline="0" dirty="0" smtClean="0">
                          <a:ln>
                            <a:noFill/>
                          </a:ln>
                          <a:solidFill>
                            <a:schemeClr val="bg1"/>
                          </a:solidFill>
                          <a:effectLst/>
                          <a:latin typeface="Arial" charset="0"/>
                        </a:rPr>
                        <a:t>Stage</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400" b="1" i="0" u="none" strike="noStrike" cap="none" normalizeH="0" baseline="0" smtClean="0">
                          <a:ln>
                            <a:noFill/>
                          </a:ln>
                          <a:solidFill>
                            <a:schemeClr val="bg1"/>
                          </a:solidFill>
                          <a:effectLst/>
                          <a:latin typeface="Arial" charset="0"/>
                        </a:rPr>
                        <a:t>Description</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74193">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400" b="1" i="0" u="none" strike="noStrike" cap="none" normalizeH="0" baseline="0" smtClean="0">
                          <a:ln>
                            <a:noFill/>
                          </a:ln>
                          <a:solidFill>
                            <a:schemeClr val="bg1"/>
                          </a:solidFill>
                          <a:effectLst/>
                          <a:latin typeface="Arial" charset="0"/>
                        </a:rPr>
                        <a:t>Acquisition</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000" b="0" i="0" u="none" strike="noStrike" cap="none" normalizeH="0" baseline="0" smtClean="0">
                          <a:ln>
                            <a:noFill/>
                          </a:ln>
                          <a:solidFill>
                            <a:schemeClr val="bg1"/>
                          </a:solidFill>
                          <a:effectLst/>
                          <a:latin typeface="Arial" charset="0"/>
                        </a:rPr>
                        <a:t>Pupil initially shown how to use a skill (high level of teaching input)</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0615">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400" b="1" i="0" u="none" strike="noStrike" cap="none" normalizeH="0" baseline="0" dirty="0" smtClean="0">
                          <a:ln>
                            <a:noFill/>
                          </a:ln>
                          <a:solidFill>
                            <a:schemeClr val="bg1"/>
                          </a:solidFill>
                          <a:effectLst/>
                          <a:latin typeface="Arial" charset="0"/>
                        </a:rPr>
                        <a:t>Fluency</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000" b="0" i="0" u="none" strike="noStrike" cap="none" normalizeH="0" baseline="0" smtClean="0">
                          <a:ln>
                            <a:noFill/>
                          </a:ln>
                          <a:solidFill>
                            <a:schemeClr val="bg1"/>
                          </a:solidFill>
                          <a:effectLst/>
                          <a:latin typeface="Arial" charset="0"/>
                        </a:rPr>
                        <a:t>Skill fluency enabled through regular practice and involvement</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0615">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400" b="1" i="0" u="none" strike="noStrike" cap="none" normalizeH="0" baseline="0" dirty="0" smtClean="0">
                          <a:ln>
                            <a:noFill/>
                          </a:ln>
                          <a:solidFill>
                            <a:schemeClr val="bg1"/>
                          </a:solidFill>
                          <a:effectLst/>
                          <a:latin typeface="Arial" charset="0"/>
                        </a:rPr>
                        <a:t>Maintenance</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000" b="0" i="0" u="none" strike="noStrike" cap="none" normalizeH="0" baseline="0" dirty="0" smtClean="0">
                          <a:ln>
                            <a:noFill/>
                          </a:ln>
                          <a:solidFill>
                            <a:schemeClr val="bg1"/>
                          </a:solidFill>
                          <a:effectLst/>
                          <a:latin typeface="Arial" charset="0"/>
                        </a:rPr>
                        <a:t>Skill retained due to regular reinforcement</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05228">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400" b="1" i="0" u="none" strike="noStrike" cap="none" normalizeH="0" baseline="0" dirty="0" smtClean="0">
                          <a:ln>
                            <a:noFill/>
                          </a:ln>
                          <a:solidFill>
                            <a:schemeClr val="bg1"/>
                          </a:solidFill>
                          <a:effectLst/>
                          <a:latin typeface="Arial" charset="0"/>
                        </a:rPr>
                        <a:t>Generalisation</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000" b="0" i="0" u="none" strike="noStrike" cap="none" normalizeH="0" baseline="0" dirty="0" smtClean="0">
                          <a:ln>
                            <a:noFill/>
                          </a:ln>
                          <a:solidFill>
                            <a:schemeClr val="bg1"/>
                          </a:solidFill>
                          <a:effectLst/>
                          <a:latin typeface="Arial" charset="0"/>
                        </a:rPr>
                        <a:t>Pupil learns to generalise the skill to new situations (may need explicit teaching)</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74193">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400" b="1" i="0" u="none" strike="noStrike" cap="none" normalizeH="0" baseline="0" smtClean="0">
                          <a:ln>
                            <a:noFill/>
                          </a:ln>
                          <a:solidFill>
                            <a:schemeClr val="bg1"/>
                          </a:solidFill>
                          <a:effectLst/>
                          <a:latin typeface="Arial" charset="0"/>
                        </a:rPr>
                        <a:t>Adaptation</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SzPct val="90000"/>
                        <a:buFont typeface="Wingdings" pitchFamily="2" charset="2"/>
                        <a:defRPr sz="2400">
                          <a:solidFill>
                            <a:schemeClr val="tx1"/>
                          </a:solidFill>
                          <a:latin typeface="Arial" charset="0"/>
                        </a:defRPr>
                      </a:lvl1pPr>
                      <a:lvl2pPr>
                        <a:spcBef>
                          <a:spcPct val="20000"/>
                        </a:spcBef>
                        <a:buClr>
                          <a:schemeClr val="accent1"/>
                        </a:buClr>
                        <a:buSzPct val="75000"/>
                        <a:buFont typeface="Wingdings" pitchFamily="2" charset="2"/>
                        <a:defRPr sz="2200">
                          <a:solidFill>
                            <a:schemeClr val="tx1"/>
                          </a:solidFill>
                          <a:latin typeface="Arial" charset="0"/>
                        </a:defRPr>
                      </a:lvl2pPr>
                      <a:lvl3pPr>
                        <a:spcBef>
                          <a:spcPct val="20000"/>
                        </a:spcBef>
                        <a:buClr>
                          <a:schemeClr val="folHlink"/>
                        </a:buClr>
                        <a:buSzPct val="55000"/>
                        <a:buFont typeface="Wingdings" pitchFamily="2" charset="2"/>
                        <a:defRPr sz="2100">
                          <a:solidFill>
                            <a:schemeClr val="tx1"/>
                          </a:solidFill>
                          <a:latin typeface="Arial" charset="0"/>
                        </a:defRPr>
                      </a:lvl3pPr>
                      <a:lvl4pPr>
                        <a:spcBef>
                          <a:spcPct val="20000"/>
                        </a:spcBef>
                        <a:buClr>
                          <a:schemeClr val="accent1"/>
                        </a:buClr>
                        <a:buFont typeface="Wingdings" pitchFamily="2" charset="2"/>
                        <a:defRPr>
                          <a:solidFill>
                            <a:schemeClr val="tx1"/>
                          </a:solidFill>
                          <a:latin typeface="Arial" charset="0"/>
                        </a:defRPr>
                      </a:lvl4pPr>
                      <a:lvl5pPr>
                        <a:spcBef>
                          <a:spcPct val="20000"/>
                        </a:spcBef>
                        <a:buClr>
                          <a:schemeClr val="accent1"/>
                        </a:buClr>
                        <a:buFont typeface="Wingdings" pitchFamily="2" charset="2"/>
                        <a:defRPr>
                          <a:solidFill>
                            <a:schemeClr val="tx1"/>
                          </a:solidFill>
                          <a:latin typeface="Arial" charset="0"/>
                        </a:defRPr>
                      </a:lvl5pPr>
                      <a:lvl6pPr fontAlgn="base">
                        <a:spcBef>
                          <a:spcPct val="20000"/>
                        </a:spcBef>
                        <a:spcAft>
                          <a:spcPct val="0"/>
                        </a:spcAft>
                        <a:buClr>
                          <a:schemeClr val="accent1"/>
                        </a:buClr>
                        <a:buFont typeface="Wingdings" pitchFamily="2" charset="2"/>
                        <a:defRPr>
                          <a:solidFill>
                            <a:schemeClr val="tx1"/>
                          </a:solidFill>
                          <a:latin typeface="Arial" charset="0"/>
                        </a:defRPr>
                      </a:lvl6pPr>
                      <a:lvl7pPr fontAlgn="base">
                        <a:spcBef>
                          <a:spcPct val="20000"/>
                        </a:spcBef>
                        <a:spcAft>
                          <a:spcPct val="0"/>
                        </a:spcAft>
                        <a:buClr>
                          <a:schemeClr val="accent1"/>
                        </a:buClr>
                        <a:buFont typeface="Wingdings" pitchFamily="2" charset="2"/>
                        <a:defRPr>
                          <a:solidFill>
                            <a:schemeClr val="tx1"/>
                          </a:solidFill>
                          <a:latin typeface="Arial" charset="0"/>
                        </a:defRPr>
                      </a:lvl7pPr>
                      <a:lvl8pPr fontAlgn="base">
                        <a:spcBef>
                          <a:spcPct val="20000"/>
                        </a:spcBef>
                        <a:spcAft>
                          <a:spcPct val="0"/>
                        </a:spcAft>
                        <a:buClr>
                          <a:schemeClr val="accent1"/>
                        </a:buClr>
                        <a:buFont typeface="Wingdings" pitchFamily="2" charset="2"/>
                        <a:defRPr>
                          <a:solidFill>
                            <a:schemeClr val="tx1"/>
                          </a:solidFill>
                          <a:latin typeface="Arial" charset="0"/>
                        </a:defRPr>
                      </a:lvl8pPr>
                      <a:lvl9pPr fontAlgn="base">
                        <a:spcBef>
                          <a:spcPct val="20000"/>
                        </a:spcBef>
                        <a:spcAft>
                          <a:spcPct val="0"/>
                        </a:spcAft>
                        <a:buClr>
                          <a:schemeClr val="accent1"/>
                        </a:buClr>
                        <a:buFont typeface="Wingdings" pitchFamily="2" charset="2"/>
                        <a:defRPr>
                          <a:solidFill>
                            <a:schemeClr val="tx1"/>
                          </a:solidFill>
                          <a:latin typeface="Arial"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90000"/>
                        <a:buFont typeface="Wingdings" pitchFamily="2" charset="2"/>
                        <a:buNone/>
                        <a:tabLst/>
                      </a:pPr>
                      <a:r>
                        <a:rPr kumimoji="0" lang="en-GB" altLang="en-US" sz="2000" b="0" i="0" u="none" strike="noStrike" cap="none" normalizeH="0" baseline="0" dirty="0" smtClean="0">
                          <a:ln>
                            <a:noFill/>
                          </a:ln>
                          <a:solidFill>
                            <a:schemeClr val="bg1"/>
                          </a:solidFill>
                          <a:effectLst/>
                          <a:latin typeface="Arial" charset="0"/>
                        </a:rPr>
                        <a:t>Pupil is able to apply the new skill independently and appropriately</a:t>
                      </a:r>
                    </a:p>
                  </a:txBody>
                  <a:tcPr marT="45723" marB="457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35712788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0" y="476250"/>
            <a:ext cx="8569325" cy="1143000"/>
          </a:xfrm>
        </p:spPr>
        <p:txBody>
          <a:bodyPr>
            <a:normAutofit/>
          </a:bodyPr>
          <a:lstStyle/>
          <a:p>
            <a:pPr>
              <a:defRPr/>
            </a:pPr>
            <a:r>
              <a:rPr lang="en-GB" altLang="en-US" dirty="0">
                <a:solidFill>
                  <a:schemeClr val="bg1"/>
                </a:solidFill>
                <a:latin typeface="Arial" charset="0"/>
              </a:rPr>
              <a:t>The Learning Hierarchy</a:t>
            </a:r>
            <a:endParaRPr lang="en-GB" altLang="en-US" dirty="0" smtClean="0">
              <a:solidFill>
                <a:schemeClr val="bg1"/>
              </a:solidFill>
            </a:endParaRPr>
          </a:p>
        </p:txBody>
      </p:sp>
      <p:sp>
        <p:nvSpPr>
          <p:cNvPr id="8195" name="Rectangle 3"/>
          <p:cNvSpPr>
            <a:spLocks noGrp="1" noChangeArrowheads="1"/>
          </p:cNvSpPr>
          <p:nvPr>
            <p:ph idx="4294967295"/>
          </p:nvPr>
        </p:nvSpPr>
        <p:spPr>
          <a:xfrm>
            <a:off x="215900" y="1412875"/>
            <a:ext cx="8353425" cy="4467225"/>
          </a:xfrm>
        </p:spPr>
        <p:txBody>
          <a:bodyPr>
            <a:normAutofit fontScale="92500" lnSpcReduction="10000"/>
          </a:bodyPr>
          <a:lstStyle/>
          <a:p>
            <a:pPr>
              <a:buFont typeface="Wingdings" panose="05000000000000000000" pitchFamily="2" charset="2"/>
              <a:buChar char="q"/>
            </a:pPr>
            <a:r>
              <a:rPr lang="en-GB" altLang="en-US" sz="2400" dirty="0">
                <a:solidFill>
                  <a:schemeClr val="bg1"/>
                </a:solidFill>
              </a:rPr>
              <a:t>Maintenance (or mastery) is achieved when a skill can be sustained at a fluent level. </a:t>
            </a:r>
            <a:endParaRPr lang="en-GB" altLang="en-US" sz="2400" dirty="0" smtClean="0">
              <a:solidFill>
                <a:schemeClr val="bg1"/>
              </a:solidFill>
            </a:endParaRPr>
          </a:p>
          <a:p>
            <a:pPr marL="0" indent="0">
              <a:buNone/>
            </a:pPr>
            <a:endParaRPr lang="en-GB" altLang="en-US" sz="2400" dirty="0">
              <a:solidFill>
                <a:schemeClr val="bg1"/>
              </a:solidFill>
            </a:endParaRPr>
          </a:p>
          <a:p>
            <a:pPr>
              <a:buFont typeface="Wingdings" panose="05000000000000000000" pitchFamily="2" charset="2"/>
              <a:buChar char="q"/>
            </a:pPr>
            <a:r>
              <a:rPr lang="en-GB" altLang="en-US" sz="2400" dirty="0">
                <a:solidFill>
                  <a:schemeClr val="bg1"/>
                </a:solidFill>
              </a:rPr>
              <a:t>Without fluent performance of the skill it will be forgotten</a:t>
            </a:r>
            <a:r>
              <a:rPr lang="en-GB" altLang="en-US" sz="2400" dirty="0" smtClean="0">
                <a:solidFill>
                  <a:schemeClr val="bg1"/>
                </a:solidFill>
              </a:rPr>
              <a:t>.</a:t>
            </a:r>
          </a:p>
          <a:p>
            <a:pPr marL="0" indent="0">
              <a:buNone/>
            </a:pPr>
            <a:endParaRPr lang="en-GB" altLang="en-US" sz="2400" dirty="0">
              <a:solidFill>
                <a:schemeClr val="bg1"/>
              </a:solidFill>
            </a:endParaRPr>
          </a:p>
          <a:p>
            <a:pPr>
              <a:buFont typeface="Wingdings" panose="05000000000000000000" pitchFamily="2" charset="2"/>
              <a:buChar char="q"/>
            </a:pPr>
            <a:r>
              <a:rPr lang="en-GB" altLang="en-US" sz="2400" dirty="0">
                <a:solidFill>
                  <a:schemeClr val="bg1"/>
                </a:solidFill>
              </a:rPr>
              <a:t>Most children with learning difficulties don’t achieve fluency levels and therefore a level of maintenance for new skills that they are </a:t>
            </a:r>
            <a:r>
              <a:rPr lang="en-GB" altLang="en-US" sz="2400" dirty="0" smtClean="0">
                <a:solidFill>
                  <a:schemeClr val="bg1"/>
                </a:solidFill>
              </a:rPr>
              <a:t>taught</a:t>
            </a:r>
          </a:p>
          <a:p>
            <a:pPr marL="0" indent="0">
              <a:buNone/>
            </a:pPr>
            <a:endParaRPr lang="en-GB" altLang="en-US" sz="2400" dirty="0">
              <a:solidFill>
                <a:schemeClr val="bg1"/>
              </a:solidFill>
            </a:endParaRPr>
          </a:p>
          <a:p>
            <a:pPr>
              <a:buFont typeface="Wingdings" panose="05000000000000000000" pitchFamily="2" charset="2"/>
              <a:buChar char="q"/>
            </a:pPr>
            <a:r>
              <a:rPr lang="en-GB" altLang="en-US" sz="2400" dirty="0">
                <a:solidFill>
                  <a:schemeClr val="bg1"/>
                </a:solidFill>
              </a:rPr>
              <a:t>Accuracy is important but not </a:t>
            </a:r>
            <a:r>
              <a:rPr lang="en-GB" altLang="en-US" sz="2400" dirty="0" smtClean="0">
                <a:solidFill>
                  <a:schemeClr val="bg1"/>
                </a:solidFill>
              </a:rPr>
              <a:t>sufficient</a:t>
            </a:r>
          </a:p>
          <a:p>
            <a:pPr marL="0" indent="0">
              <a:buNone/>
            </a:pPr>
            <a:endParaRPr lang="en-GB" altLang="en-US" sz="2400" dirty="0">
              <a:solidFill>
                <a:schemeClr val="bg1"/>
              </a:solidFill>
            </a:endParaRPr>
          </a:p>
          <a:p>
            <a:pPr>
              <a:buFont typeface="Wingdings" panose="05000000000000000000" pitchFamily="2" charset="2"/>
              <a:buChar char="q"/>
            </a:pPr>
            <a:r>
              <a:rPr lang="en-GB" altLang="en-US" sz="2400" dirty="0">
                <a:solidFill>
                  <a:schemeClr val="bg1"/>
                </a:solidFill>
              </a:rPr>
              <a:t>OVERLEARNING</a:t>
            </a:r>
          </a:p>
        </p:txBody>
      </p:sp>
    </p:spTree>
    <p:extLst>
      <p:ext uri="{BB962C8B-B14F-4D97-AF65-F5344CB8AC3E}">
        <p14:creationId xmlns:p14="http://schemas.microsoft.com/office/powerpoint/2010/main" val="255482977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0" y="476250"/>
            <a:ext cx="8569325" cy="1143000"/>
          </a:xfrm>
        </p:spPr>
        <p:txBody>
          <a:bodyPr>
            <a:normAutofit/>
          </a:bodyPr>
          <a:lstStyle/>
          <a:p>
            <a:pPr algn="ctr" eaLnBrk="1" fontAlgn="auto" hangingPunct="1">
              <a:spcAft>
                <a:spcPts val="0"/>
              </a:spcAft>
              <a:defRPr/>
            </a:pPr>
            <a:r>
              <a:rPr lang="en-GB" altLang="en-US" dirty="0" smtClean="0">
                <a:solidFill>
                  <a:schemeClr val="bg1"/>
                </a:solidFill>
              </a:rPr>
              <a:t>How do you do Precision Teaching?</a:t>
            </a:r>
          </a:p>
        </p:txBody>
      </p:sp>
      <p:sp>
        <p:nvSpPr>
          <p:cNvPr id="8195" name="Rectangle 3"/>
          <p:cNvSpPr>
            <a:spLocks noGrp="1" noChangeArrowheads="1"/>
          </p:cNvSpPr>
          <p:nvPr>
            <p:ph idx="4294967295"/>
          </p:nvPr>
        </p:nvSpPr>
        <p:spPr>
          <a:xfrm>
            <a:off x="0" y="1698625"/>
            <a:ext cx="8353425" cy="4467225"/>
          </a:xfrm>
        </p:spPr>
        <p:txBody>
          <a:bodyPr>
            <a:normAutofit/>
          </a:bodyPr>
          <a:lstStyle/>
          <a:p>
            <a:pPr>
              <a:lnSpc>
                <a:spcPct val="90000"/>
              </a:lnSpc>
              <a:buFont typeface="Wingdings" panose="05000000000000000000" pitchFamily="2" charset="2"/>
              <a:buChar char="q"/>
            </a:pPr>
            <a:r>
              <a:rPr lang="en-GB" altLang="en-US" sz="2400" dirty="0">
                <a:solidFill>
                  <a:schemeClr val="bg1"/>
                </a:solidFill>
              </a:rPr>
              <a:t>A Planning </a:t>
            </a:r>
            <a:r>
              <a:rPr lang="en-GB" altLang="en-US" sz="2400" dirty="0" smtClean="0">
                <a:solidFill>
                  <a:schemeClr val="bg1"/>
                </a:solidFill>
              </a:rPr>
              <a:t>Stage</a:t>
            </a:r>
          </a:p>
          <a:p>
            <a:pPr marL="0" indent="0">
              <a:lnSpc>
                <a:spcPct val="90000"/>
              </a:lnSpc>
              <a:buNone/>
            </a:pPr>
            <a:endParaRPr lang="en-GB" altLang="en-US" sz="2400" dirty="0">
              <a:solidFill>
                <a:schemeClr val="bg1"/>
              </a:solidFill>
            </a:endParaRPr>
          </a:p>
          <a:p>
            <a:pPr>
              <a:lnSpc>
                <a:spcPct val="90000"/>
              </a:lnSpc>
              <a:buNone/>
            </a:pPr>
            <a:r>
              <a:rPr lang="en-GB" altLang="en-US" sz="2400" dirty="0">
                <a:solidFill>
                  <a:schemeClr val="bg1"/>
                </a:solidFill>
              </a:rPr>
              <a:t> - The area of skill is assessed to establish a baseline measure and starting point for teaching input</a:t>
            </a:r>
          </a:p>
          <a:p>
            <a:pPr>
              <a:lnSpc>
                <a:spcPct val="90000"/>
              </a:lnSpc>
              <a:buNone/>
            </a:pPr>
            <a:endParaRPr lang="en-GB" altLang="en-US" sz="2400" dirty="0">
              <a:solidFill>
                <a:schemeClr val="bg1"/>
              </a:solidFill>
            </a:endParaRPr>
          </a:p>
          <a:p>
            <a:pPr>
              <a:lnSpc>
                <a:spcPct val="90000"/>
              </a:lnSpc>
              <a:buNone/>
            </a:pPr>
            <a:r>
              <a:rPr lang="en-GB" altLang="en-US" sz="2400" dirty="0">
                <a:solidFill>
                  <a:schemeClr val="bg1"/>
                </a:solidFill>
              </a:rPr>
              <a:t> - SMART targets are developed </a:t>
            </a:r>
          </a:p>
          <a:p>
            <a:pPr>
              <a:lnSpc>
                <a:spcPct val="90000"/>
              </a:lnSpc>
              <a:buNone/>
            </a:pPr>
            <a:endParaRPr lang="en-GB" altLang="en-US" sz="2400" dirty="0">
              <a:solidFill>
                <a:schemeClr val="bg1"/>
              </a:solidFill>
            </a:endParaRPr>
          </a:p>
          <a:p>
            <a:pPr>
              <a:lnSpc>
                <a:spcPct val="90000"/>
              </a:lnSpc>
              <a:buNone/>
            </a:pPr>
            <a:r>
              <a:rPr lang="en-GB" altLang="en-US" sz="2400" dirty="0">
                <a:solidFill>
                  <a:schemeClr val="bg1"/>
                </a:solidFill>
              </a:rPr>
              <a:t> - A teaching method is chosen and arrangements are made to implement the programme on a daily basis</a:t>
            </a:r>
          </a:p>
        </p:txBody>
      </p:sp>
    </p:spTree>
    <p:extLst>
      <p:ext uri="{BB962C8B-B14F-4D97-AF65-F5344CB8AC3E}">
        <p14:creationId xmlns:p14="http://schemas.microsoft.com/office/powerpoint/2010/main" val="87748956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0" y="476250"/>
            <a:ext cx="8569325" cy="1143000"/>
          </a:xfrm>
        </p:spPr>
        <p:txBody>
          <a:bodyPr>
            <a:normAutofit/>
          </a:bodyPr>
          <a:lstStyle/>
          <a:p>
            <a:pPr algn="ctr" eaLnBrk="1" fontAlgn="auto" hangingPunct="1">
              <a:spcAft>
                <a:spcPts val="0"/>
              </a:spcAft>
              <a:defRPr/>
            </a:pPr>
            <a:r>
              <a:rPr lang="en-GB" altLang="en-US" dirty="0" smtClean="0">
                <a:solidFill>
                  <a:schemeClr val="bg1"/>
                </a:solidFill>
              </a:rPr>
              <a:t>How do you do Precision Teaching?</a:t>
            </a:r>
          </a:p>
        </p:txBody>
      </p:sp>
      <p:sp>
        <p:nvSpPr>
          <p:cNvPr id="8195" name="Rectangle 3"/>
          <p:cNvSpPr>
            <a:spLocks noGrp="1" noChangeArrowheads="1"/>
          </p:cNvSpPr>
          <p:nvPr>
            <p:ph idx="4294967295"/>
          </p:nvPr>
        </p:nvSpPr>
        <p:spPr>
          <a:xfrm>
            <a:off x="215900" y="1428750"/>
            <a:ext cx="8353425" cy="4467225"/>
          </a:xfrm>
        </p:spPr>
        <p:txBody>
          <a:bodyPr>
            <a:normAutofit/>
          </a:bodyPr>
          <a:lstStyle/>
          <a:p>
            <a:pPr>
              <a:buFont typeface="Wingdings" panose="05000000000000000000" pitchFamily="2" charset="2"/>
              <a:buChar char="q"/>
            </a:pPr>
            <a:r>
              <a:rPr lang="en-GB" altLang="en-US" sz="2400" dirty="0">
                <a:solidFill>
                  <a:schemeClr val="bg1"/>
                </a:solidFill>
              </a:rPr>
              <a:t>An Implementation </a:t>
            </a:r>
            <a:r>
              <a:rPr lang="en-GB" altLang="en-US" sz="2400" dirty="0" smtClean="0">
                <a:solidFill>
                  <a:schemeClr val="bg1"/>
                </a:solidFill>
              </a:rPr>
              <a:t>Stage</a:t>
            </a:r>
            <a:endParaRPr lang="en-GB" altLang="en-US" sz="2400" dirty="0">
              <a:solidFill>
                <a:schemeClr val="bg1"/>
              </a:solidFill>
            </a:endParaRPr>
          </a:p>
          <a:p>
            <a:pPr>
              <a:lnSpc>
                <a:spcPct val="150000"/>
              </a:lnSpc>
              <a:buNone/>
            </a:pPr>
            <a:r>
              <a:rPr lang="en-GB" altLang="en-US" sz="2400" dirty="0">
                <a:solidFill>
                  <a:schemeClr val="bg1"/>
                </a:solidFill>
              </a:rPr>
              <a:t> - The child is involved in a daily 10 min session with a member of staff</a:t>
            </a:r>
          </a:p>
          <a:p>
            <a:pPr>
              <a:lnSpc>
                <a:spcPct val="150000"/>
              </a:lnSpc>
              <a:buNone/>
            </a:pPr>
            <a:r>
              <a:rPr lang="en-GB" altLang="en-US" sz="2400" dirty="0">
                <a:solidFill>
                  <a:schemeClr val="bg1"/>
                </a:solidFill>
              </a:rPr>
              <a:t> - Sessions should include the teaching input followed by a 1 minute timed test known as a PROBE</a:t>
            </a:r>
          </a:p>
          <a:p>
            <a:pPr>
              <a:lnSpc>
                <a:spcPct val="150000"/>
              </a:lnSpc>
              <a:buNone/>
            </a:pPr>
            <a:r>
              <a:rPr lang="en-GB" altLang="en-US" sz="2400" dirty="0">
                <a:solidFill>
                  <a:schemeClr val="bg1"/>
                </a:solidFill>
              </a:rPr>
              <a:t> - The child’s performance on the PROBE is recorded and the results are shared with the child</a:t>
            </a:r>
          </a:p>
        </p:txBody>
      </p:sp>
    </p:spTree>
    <p:extLst>
      <p:ext uri="{BB962C8B-B14F-4D97-AF65-F5344CB8AC3E}">
        <p14:creationId xmlns:p14="http://schemas.microsoft.com/office/powerpoint/2010/main" val="18864518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0" y="476250"/>
            <a:ext cx="8569325" cy="1143000"/>
          </a:xfrm>
        </p:spPr>
        <p:txBody>
          <a:bodyPr>
            <a:normAutofit/>
          </a:bodyPr>
          <a:lstStyle/>
          <a:p>
            <a:pPr algn="ctr" eaLnBrk="1" fontAlgn="auto" hangingPunct="1">
              <a:spcAft>
                <a:spcPts val="0"/>
              </a:spcAft>
              <a:defRPr/>
            </a:pPr>
            <a:r>
              <a:rPr lang="en-GB" altLang="en-US" dirty="0" smtClean="0">
                <a:solidFill>
                  <a:schemeClr val="bg1"/>
                </a:solidFill>
              </a:rPr>
              <a:t>How do you do Precision Teaching?</a:t>
            </a:r>
          </a:p>
        </p:txBody>
      </p:sp>
      <p:sp>
        <p:nvSpPr>
          <p:cNvPr id="8195" name="Rectangle 3"/>
          <p:cNvSpPr>
            <a:spLocks noGrp="1" noChangeArrowheads="1"/>
          </p:cNvSpPr>
          <p:nvPr>
            <p:ph idx="4294967295"/>
          </p:nvPr>
        </p:nvSpPr>
        <p:spPr>
          <a:xfrm>
            <a:off x="215900" y="1428750"/>
            <a:ext cx="8353425" cy="4467225"/>
          </a:xfrm>
        </p:spPr>
        <p:txBody>
          <a:bodyPr>
            <a:normAutofit/>
          </a:bodyPr>
          <a:lstStyle/>
          <a:p>
            <a:pPr>
              <a:buFont typeface="Wingdings" panose="05000000000000000000" pitchFamily="2" charset="2"/>
              <a:buChar char="q"/>
            </a:pPr>
            <a:r>
              <a:rPr lang="en-GB" altLang="en-US" sz="2800" dirty="0">
                <a:solidFill>
                  <a:schemeClr val="bg1"/>
                </a:solidFill>
              </a:rPr>
              <a:t>A Review Stage</a:t>
            </a:r>
          </a:p>
          <a:p>
            <a:pPr>
              <a:buNone/>
            </a:pPr>
            <a:endParaRPr lang="en-GB" altLang="en-US" sz="2800" dirty="0">
              <a:solidFill>
                <a:schemeClr val="bg1"/>
              </a:solidFill>
            </a:endParaRPr>
          </a:p>
          <a:p>
            <a:pPr>
              <a:buNone/>
            </a:pPr>
            <a:r>
              <a:rPr lang="en-GB" altLang="en-US" sz="2800" dirty="0">
                <a:solidFill>
                  <a:schemeClr val="bg1"/>
                </a:solidFill>
              </a:rPr>
              <a:t> - The child’s rate of progress is reviewed</a:t>
            </a:r>
          </a:p>
          <a:p>
            <a:pPr>
              <a:buNone/>
            </a:pPr>
            <a:endParaRPr lang="en-GB" altLang="en-US" sz="2800" dirty="0">
              <a:solidFill>
                <a:schemeClr val="bg1"/>
              </a:solidFill>
            </a:endParaRPr>
          </a:p>
          <a:p>
            <a:pPr>
              <a:buNone/>
            </a:pPr>
            <a:r>
              <a:rPr lang="en-GB" altLang="en-US" sz="2800" dirty="0">
                <a:solidFill>
                  <a:schemeClr val="bg1"/>
                </a:solidFill>
              </a:rPr>
              <a:t> - The appropriateness of the targets and teaching methods are considered and changes are made where appropriate.</a:t>
            </a:r>
          </a:p>
        </p:txBody>
      </p:sp>
    </p:spTree>
    <p:extLst>
      <p:ext uri="{BB962C8B-B14F-4D97-AF65-F5344CB8AC3E}">
        <p14:creationId xmlns:p14="http://schemas.microsoft.com/office/powerpoint/2010/main" val="237268409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0" y="1268413"/>
            <a:ext cx="7086600" cy="1554162"/>
          </a:xfrm>
        </p:spPr>
        <p:txBody>
          <a:bodyPr/>
          <a:lstStyle/>
          <a:p>
            <a:pPr algn="ctr"/>
            <a:r>
              <a:rPr lang="en-GB" altLang="en-US" sz="3600" u="sng" dirty="0" smtClean="0">
                <a:solidFill>
                  <a:schemeClr val="bg1"/>
                </a:solidFill>
              </a:rPr>
              <a:t>Before you start Precision Teaching</a:t>
            </a:r>
            <a:r>
              <a:rPr lang="en-GB" altLang="en-US" sz="3600" dirty="0" smtClean="0">
                <a:solidFill>
                  <a:schemeClr val="bg1"/>
                </a:solidFill>
              </a:rPr>
              <a:t> </a:t>
            </a:r>
          </a:p>
        </p:txBody>
      </p:sp>
      <p:sp>
        <p:nvSpPr>
          <p:cNvPr id="13315" name="Rectangle 3"/>
          <p:cNvSpPr>
            <a:spLocks noGrp="1" noChangeArrowheads="1"/>
          </p:cNvSpPr>
          <p:nvPr>
            <p:ph type="body" idx="4294967295"/>
          </p:nvPr>
        </p:nvSpPr>
        <p:spPr>
          <a:xfrm>
            <a:off x="0" y="3068638"/>
            <a:ext cx="5257800" cy="2520950"/>
          </a:xfrm>
        </p:spPr>
        <p:txBody>
          <a:bodyPr/>
          <a:lstStyle/>
          <a:p>
            <a:pPr>
              <a:buFont typeface="Wingdings" panose="05000000000000000000" pitchFamily="2" charset="2"/>
              <a:buChar char="q"/>
            </a:pPr>
            <a:r>
              <a:rPr lang="en-GB" altLang="en-US" sz="2800" dirty="0" smtClean="0">
                <a:solidFill>
                  <a:schemeClr val="bg1"/>
                </a:solidFill>
              </a:rPr>
              <a:t>Consistency is key!</a:t>
            </a:r>
          </a:p>
          <a:p>
            <a:pPr lvl="1">
              <a:buFont typeface="Wingdings" panose="05000000000000000000" pitchFamily="2" charset="2"/>
              <a:buChar char="ü"/>
            </a:pPr>
            <a:r>
              <a:rPr lang="en-GB" altLang="en-US" sz="2800" dirty="0" smtClean="0">
                <a:solidFill>
                  <a:schemeClr val="bg1"/>
                </a:solidFill>
              </a:rPr>
              <a:t>When?</a:t>
            </a:r>
          </a:p>
          <a:p>
            <a:pPr lvl="1">
              <a:buFont typeface="Wingdings" panose="05000000000000000000" pitchFamily="2" charset="2"/>
              <a:buChar char="ü"/>
            </a:pPr>
            <a:r>
              <a:rPr lang="en-GB" altLang="en-US" sz="2800" dirty="0" smtClean="0">
                <a:solidFill>
                  <a:schemeClr val="bg1"/>
                </a:solidFill>
              </a:rPr>
              <a:t>Where?</a:t>
            </a:r>
          </a:p>
        </p:txBody>
      </p:sp>
    </p:spTree>
    <p:extLst>
      <p:ext uri="{BB962C8B-B14F-4D97-AF65-F5344CB8AC3E}">
        <p14:creationId xmlns:p14="http://schemas.microsoft.com/office/powerpoint/2010/main" val="35020496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
          <p:cNvSpPr>
            <a:spLocks noGrp="1" noChangeArrowheads="1"/>
          </p:cNvSpPr>
          <p:nvPr>
            <p:ph type="title" idx="4294967295"/>
          </p:nvPr>
        </p:nvSpPr>
        <p:spPr>
          <a:xfrm>
            <a:off x="396738" y="476250"/>
            <a:ext cx="7848600" cy="1563688"/>
          </a:xfrm>
        </p:spPr>
        <p:txBody>
          <a:bodyPr rIns="31750" anchor="b"/>
          <a:lstStyle/>
          <a:p>
            <a:pPr indent="0" algn="ctr" eaLnBrk="1" hangingPunct="1"/>
            <a:r>
              <a:rPr lang="en-US" altLang="en-US" sz="3200" u="sng" dirty="0" smtClean="0">
                <a:solidFill>
                  <a:schemeClr val="bg1"/>
                </a:solidFill>
              </a:rPr>
              <a:t>‘Task Analysis’ – where are they now? </a:t>
            </a:r>
          </a:p>
        </p:txBody>
      </p:sp>
      <p:sp>
        <p:nvSpPr>
          <p:cNvPr id="14339" name="Rectangle 2"/>
          <p:cNvSpPr>
            <a:spLocks noGrp="1" noChangeArrowheads="1"/>
          </p:cNvSpPr>
          <p:nvPr>
            <p:ph type="body" idx="4294967295"/>
          </p:nvPr>
        </p:nvSpPr>
        <p:spPr>
          <a:xfrm>
            <a:off x="0" y="1663700"/>
            <a:ext cx="5327650" cy="5194300"/>
          </a:xfrm>
        </p:spPr>
        <p:txBody>
          <a:bodyPr rIns="31750"/>
          <a:lstStyle/>
          <a:p>
            <a:pPr marL="690563" indent="-650875" eaLnBrk="1" hangingPunct="1">
              <a:lnSpc>
                <a:spcPct val="80000"/>
              </a:lnSpc>
              <a:buFont typeface="Century Gothic" pitchFamily="34" charset="0"/>
              <a:buNone/>
            </a:pPr>
            <a:endParaRPr lang="en-US" altLang="en-US" sz="2400" dirty="0" smtClean="0"/>
          </a:p>
          <a:p>
            <a:pPr marL="690563" indent="-650875" eaLnBrk="1" hangingPunct="1">
              <a:lnSpc>
                <a:spcPct val="80000"/>
              </a:lnSpc>
              <a:buFont typeface="Century Gothic" pitchFamily="34" charset="0"/>
              <a:buNone/>
            </a:pPr>
            <a:endParaRPr lang="en-US" altLang="en-US" sz="2400" dirty="0" smtClean="0"/>
          </a:p>
          <a:p>
            <a:pPr marL="690563" indent="-650875" eaLnBrk="1" hangingPunct="1">
              <a:lnSpc>
                <a:spcPct val="80000"/>
              </a:lnSpc>
              <a:buFont typeface="Century Gothic" pitchFamily="34" charset="0"/>
              <a:buNone/>
            </a:pPr>
            <a:endParaRPr lang="en-US" altLang="en-US" sz="2800" dirty="0" smtClean="0"/>
          </a:p>
          <a:p>
            <a:pPr marL="382588" eaLnBrk="1" hangingPunct="1">
              <a:lnSpc>
                <a:spcPct val="80000"/>
              </a:lnSpc>
              <a:buSzPct val="99000"/>
              <a:buFont typeface="Wingdings" panose="05000000000000000000" pitchFamily="2" charset="2"/>
              <a:buChar char="q"/>
            </a:pPr>
            <a:r>
              <a:rPr lang="en-US" altLang="en-US" sz="2800" dirty="0" smtClean="0">
                <a:solidFill>
                  <a:schemeClr val="bg1"/>
                </a:solidFill>
              </a:rPr>
              <a:t>Select a problem area, e.g. sight words, letter sounds</a:t>
            </a:r>
          </a:p>
          <a:p>
            <a:pPr marL="39688" indent="0" eaLnBrk="1" hangingPunct="1">
              <a:lnSpc>
                <a:spcPct val="80000"/>
              </a:lnSpc>
              <a:buSzPct val="99000"/>
              <a:buNone/>
            </a:pPr>
            <a:endParaRPr lang="en-US" altLang="en-US" sz="2800" dirty="0" smtClean="0">
              <a:solidFill>
                <a:schemeClr val="bg1"/>
              </a:solidFill>
            </a:endParaRPr>
          </a:p>
          <a:p>
            <a:pPr marL="382588" eaLnBrk="1" hangingPunct="1">
              <a:lnSpc>
                <a:spcPct val="80000"/>
              </a:lnSpc>
              <a:buSzPct val="99000"/>
              <a:buFont typeface="Wingdings" panose="05000000000000000000" pitchFamily="2" charset="2"/>
              <a:buChar char="q"/>
            </a:pPr>
            <a:r>
              <a:rPr lang="en-US" altLang="en-US" sz="2800" dirty="0" smtClean="0">
                <a:solidFill>
                  <a:schemeClr val="bg1"/>
                </a:solidFill>
              </a:rPr>
              <a:t>Find out what the child already knows, probably by doing a short test</a:t>
            </a:r>
          </a:p>
        </p:txBody>
      </p:sp>
    </p:spTree>
    <p:extLst>
      <p:ext uri="{BB962C8B-B14F-4D97-AF65-F5344CB8AC3E}">
        <p14:creationId xmlns:p14="http://schemas.microsoft.com/office/powerpoint/2010/main" val="39815006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646113" y="115888"/>
            <a:ext cx="8497887" cy="1296987"/>
          </a:xfrm>
        </p:spPr>
        <p:txBody>
          <a:bodyPr/>
          <a:lstStyle/>
          <a:p>
            <a:pPr algn="ctr" eaLnBrk="1" hangingPunct="1"/>
            <a:r>
              <a:rPr lang="en-GB" altLang="en-US" sz="3200" dirty="0" smtClean="0">
                <a:solidFill>
                  <a:schemeClr val="bg1"/>
                </a:solidFill>
                <a:latin typeface="Arial" charset="0"/>
              </a:rPr>
              <a:t>Initial Assessment – using ‘Letters and Sounds’</a:t>
            </a:r>
          </a:p>
        </p:txBody>
      </p:sp>
      <p:sp>
        <p:nvSpPr>
          <p:cNvPr id="13315" name="Rectangle 4"/>
          <p:cNvSpPr>
            <a:spLocks noGrp="1" noChangeArrowheads="1"/>
          </p:cNvSpPr>
          <p:nvPr>
            <p:ph type="body" sz="half" idx="4294967295"/>
          </p:nvPr>
        </p:nvSpPr>
        <p:spPr>
          <a:xfrm>
            <a:off x="228600" y="1922463"/>
            <a:ext cx="3810000" cy="4530725"/>
          </a:xfrm>
        </p:spPr>
        <p:txBody>
          <a:bodyPr/>
          <a:lstStyle/>
          <a:p>
            <a:pPr>
              <a:buFont typeface="Wingdings" panose="05000000000000000000" pitchFamily="2" charset="2"/>
              <a:buChar char="q"/>
            </a:pPr>
            <a:r>
              <a:rPr lang="en-GB" altLang="en-US" sz="2800" dirty="0">
                <a:solidFill>
                  <a:schemeClr val="bg1"/>
                </a:solidFill>
              </a:rPr>
              <a:t>6 Phases</a:t>
            </a:r>
          </a:p>
          <a:p>
            <a:pPr>
              <a:buFont typeface="Wingdings" panose="05000000000000000000" pitchFamily="2" charset="2"/>
              <a:buChar char="q"/>
            </a:pPr>
            <a:r>
              <a:rPr lang="en-GB" altLang="en-US" sz="2800" dirty="0">
                <a:solidFill>
                  <a:schemeClr val="bg1"/>
                </a:solidFill>
              </a:rPr>
              <a:t>Designed to start in EY Foundation</a:t>
            </a:r>
          </a:p>
          <a:p>
            <a:pPr>
              <a:buFont typeface="Wingdings" panose="05000000000000000000" pitchFamily="2" charset="2"/>
              <a:buChar char="q"/>
            </a:pPr>
            <a:r>
              <a:rPr lang="en-GB" altLang="en-US" sz="2800" dirty="0">
                <a:solidFill>
                  <a:schemeClr val="bg1"/>
                </a:solidFill>
              </a:rPr>
              <a:t>By Phase 6, 100s of words known and most GPCs known</a:t>
            </a:r>
          </a:p>
          <a:p>
            <a:pPr marL="0" indent="0" eaLnBrk="1" hangingPunct="1">
              <a:buNone/>
            </a:pPr>
            <a:endParaRPr lang="en-GB" altLang="en-US" sz="2400" dirty="0" smtClean="0"/>
          </a:p>
          <a:p>
            <a:pPr eaLnBrk="1" hangingPunct="1"/>
            <a:endParaRPr lang="en-GB" altLang="en-US" sz="2600" dirty="0" smtClean="0"/>
          </a:p>
        </p:txBody>
      </p:sp>
      <p:sp>
        <p:nvSpPr>
          <p:cNvPr id="13316" name="Rectangle 5"/>
          <p:cNvSpPr>
            <a:spLocks noGrp="1" noChangeArrowheads="1"/>
          </p:cNvSpPr>
          <p:nvPr>
            <p:ph type="body" sz="half" idx="4294967295"/>
          </p:nvPr>
        </p:nvSpPr>
        <p:spPr>
          <a:xfrm>
            <a:off x="5067300" y="1922463"/>
            <a:ext cx="3810000" cy="4530725"/>
          </a:xfrm>
        </p:spPr>
        <p:txBody>
          <a:bodyPr>
            <a:normAutofit/>
          </a:bodyPr>
          <a:lstStyle/>
          <a:p>
            <a:pPr>
              <a:buFont typeface="Wingdings" panose="05000000000000000000" pitchFamily="2" charset="2"/>
              <a:buChar char="q"/>
            </a:pPr>
            <a:r>
              <a:rPr lang="en-GB" altLang="en-US" sz="2800" dirty="0">
                <a:solidFill>
                  <a:schemeClr val="bg1"/>
                </a:solidFill>
              </a:rPr>
              <a:t>Reading and writing taught together (phonemes and graphemes)</a:t>
            </a:r>
          </a:p>
          <a:p>
            <a:pPr>
              <a:buFont typeface="Wingdings" panose="05000000000000000000" pitchFamily="2" charset="2"/>
              <a:buChar char="q"/>
            </a:pPr>
            <a:r>
              <a:rPr lang="en-GB" altLang="en-US" sz="2800" dirty="0">
                <a:solidFill>
                  <a:schemeClr val="bg1"/>
                </a:solidFill>
              </a:rPr>
              <a:t>Decodable and Tricky words</a:t>
            </a:r>
          </a:p>
          <a:p>
            <a:pPr>
              <a:buFont typeface="Wingdings" panose="05000000000000000000" pitchFamily="2" charset="2"/>
              <a:buChar char="q"/>
            </a:pPr>
            <a:r>
              <a:rPr lang="en-GB" altLang="en-US" sz="2800" dirty="0">
                <a:solidFill>
                  <a:schemeClr val="bg1"/>
                </a:solidFill>
              </a:rPr>
              <a:t>Assessment built in at each stage</a:t>
            </a:r>
          </a:p>
        </p:txBody>
      </p:sp>
    </p:spTree>
    <p:extLst>
      <p:ext uri="{BB962C8B-B14F-4D97-AF65-F5344CB8AC3E}">
        <p14:creationId xmlns:p14="http://schemas.microsoft.com/office/powerpoint/2010/main" val="178235953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a:xfrm>
            <a:off x="646113" y="115888"/>
            <a:ext cx="8497887" cy="1296987"/>
          </a:xfrm>
        </p:spPr>
        <p:txBody>
          <a:bodyPr/>
          <a:lstStyle/>
          <a:p>
            <a:pPr algn="ctr" eaLnBrk="1" hangingPunct="1"/>
            <a:r>
              <a:rPr lang="en-GB" altLang="en-US" sz="3200" dirty="0" smtClean="0">
                <a:solidFill>
                  <a:schemeClr val="bg1"/>
                </a:solidFill>
                <a:latin typeface="Arial" charset="0"/>
              </a:rPr>
              <a:t>Initial Assessment – using ‘Letters and Sounds’</a:t>
            </a:r>
          </a:p>
        </p:txBody>
      </p:sp>
      <p:sp>
        <p:nvSpPr>
          <p:cNvPr id="13315" name="Rectangle 4"/>
          <p:cNvSpPr>
            <a:spLocks noGrp="1" noChangeArrowheads="1"/>
          </p:cNvSpPr>
          <p:nvPr>
            <p:ph type="body" sz="half" idx="4294967295"/>
          </p:nvPr>
        </p:nvSpPr>
        <p:spPr>
          <a:xfrm>
            <a:off x="228600" y="1922463"/>
            <a:ext cx="3810000" cy="4530725"/>
          </a:xfrm>
        </p:spPr>
        <p:txBody>
          <a:bodyPr/>
          <a:lstStyle/>
          <a:p>
            <a:pPr>
              <a:buFont typeface="Wingdings" panose="05000000000000000000" pitchFamily="2" charset="2"/>
              <a:buChar char="q"/>
            </a:pPr>
            <a:r>
              <a:rPr lang="en-GB" altLang="en-US" sz="2800" dirty="0">
                <a:solidFill>
                  <a:schemeClr val="bg1"/>
                </a:solidFill>
              </a:rPr>
              <a:t>Can be used with any age group but aims to start (phase 1) with 5 year olds</a:t>
            </a:r>
          </a:p>
          <a:p>
            <a:pPr>
              <a:buFont typeface="Wingdings" panose="05000000000000000000" pitchFamily="2" charset="2"/>
              <a:buChar char="q"/>
            </a:pPr>
            <a:r>
              <a:rPr lang="en-GB" altLang="en-US" sz="2800" dirty="0">
                <a:solidFill>
                  <a:schemeClr val="bg1"/>
                </a:solidFill>
              </a:rPr>
              <a:t>Children move from one phase to next at their own pace</a:t>
            </a:r>
          </a:p>
          <a:p>
            <a:pPr marL="0" indent="0" eaLnBrk="1" hangingPunct="1">
              <a:buNone/>
            </a:pPr>
            <a:endParaRPr lang="en-GB" altLang="en-US" sz="2400" dirty="0" smtClean="0"/>
          </a:p>
          <a:p>
            <a:pPr eaLnBrk="1" hangingPunct="1"/>
            <a:endParaRPr lang="en-GB" altLang="en-US" sz="2600" dirty="0" smtClean="0"/>
          </a:p>
        </p:txBody>
      </p:sp>
      <p:sp>
        <p:nvSpPr>
          <p:cNvPr id="13316" name="Rectangle 5"/>
          <p:cNvSpPr>
            <a:spLocks noGrp="1" noChangeArrowheads="1"/>
          </p:cNvSpPr>
          <p:nvPr>
            <p:ph type="body" sz="half" idx="4294967295"/>
          </p:nvPr>
        </p:nvSpPr>
        <p:spPr>
          <a:xfrm>
            <a:off x="5067300" y="1922463"/>
            <a:ext cx="3810000" cy="4530725"/>
          </a:xfrm>
        </p:spPr>
        <p:txBody>
          <a:bodyPr>
            <a:normAutofit/>
          </a:bodyPr>
          <a:lstStyle/>
          <a:p>
            <a:pPr>
              <a:buFont typeface="Wingdings" panose="05000000000000000000" pitchFamily="2" charset="2"/>
              <a:buChar char="q"/>
            </a:pPr>
            <a:r>
              <a:rPr lang="en-GB" altLang="en-US" sz="2800" dirty="0">
                <a:solidFill>
                  <a:schemeClr val="bg1"/>
                </a:solidFill>
              </a:rPr>
              <a:t>Most children would complete phase 6 by end of KS1</a:t>
            </a:r>
          </a:p>
          <a:p>
            <a:pPr>
              <a:buFont typeface="Wingdings" panose="05000000000000000000" pitchFamily="2" charset="2"/>
              <a:buChar char="q"/>
            </a:pPr>
            <a:r>
              <a:rPr lang="en-GB" altLang="en-US" sz="2800" dirty="0">
                <a:solidFill>
                  <a:schemeClr val="bg1"/>
                </a:solidFill>
              </a:rPr>
              <a:t>Most SEN children will continue on programme in KS2</a:t>
            </a:r>
          </a:p>
          <a:p>
            <a:pPr>
              <a:buFont typeface="Wingdings" panose="05000000000000000000" pitchFamily="2" charset="2"/>
              <a:buChar char="q"/>
            </a:pPr>
            <a:r>
              <a:rPr lang="en-GB" altLang="en-US" sz="2800" dirty="0">
                <a:solidFill>
                  <a:schemeClr val="bg1"/>
                </a:solidFill>
              </a:rPr>
              <a:t>‘Stuck’ children can receive Precision Teaching approach</a:t>
            </a:r>
          </a:p>
        </p:txBody>
      </p:sp>
    </p:spTree>
    <p:extLst>
      <p:ext uri="{BB962C8B-B14F-4D97-AF65-F5344CB8AC3E}">
        <p14:creationId xmlns:p14="http://schemas.microsoft.com/office/powerpoint/2010/main" val="137053289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0" y="115888"/>
            <a:ext cx="8280400" cy="865187"/>
          </a:xfrm>
        </p:spPr>
        <p:txBody>
          <a:bodyPr/>
          <a:lstStyle/>
          <a:p>
            <a:pPr algn="ctr" eaLnBrk="1" hangingPunct="1"/>
            <a:r>
              <a:rPr lang="en-GB" altLang="en-US" sz="3200" dirty="0" smtClean="0">
                <a:solidFill>
                  <a:schemeClr val="bg1"/>
                </a:solidFill>
                <a:latin typeface="Arial" charset="0"/>
              </a:rPr>
              <a:t>Probes</a:t>
            </a:r>
          </a:p>
        </p:txBody>
      </p:sp>
      <p:sp>
        <p:nvSpPr>
          <p:cNvPr id="14339" name="Rectangle 3"/>
          <p:cNvSpPr>
            <a:spLocks noGrp="1" noChangeArrowheads="1"/>
          </p:cNvSpPr>
          <p:nvPr>
            <p:ph type="body" idx="4294967295"/>
          </p:nvPr>
        </p:nvSpPr>
        <p:spPr>
          <a:xfrm>
            <a:off x="0" y="916846"/>
            <a:ext cx="7343775" cy="4737100"/>
          </a:xfrm>
        </p:spPr>
        <p:txBody>
          <a:bodyPr/>
          <a:lstStyle/>
          <a:p>
            <a:pPr eaLnBrk="1" hangingPunct="1">
              <a:buFont typeface="Wingdings" panose="05000000000000000000" pitchFamily="2" charset="2"/>
              <a:buChar char="q"/>
            </a:pPr>
            <a:r>
              <a:rPr lang="en-GB" altLang="en-US" sz="2800" dirty="0" smtClean="0">
                <a:solidFill>
                  <a:schemeClr val="bg1"/>
                </a:solidFill>
              </a:rPr>
              <a:t>Probes contain a defined set of items, often letters, words or sums on which the child is tested, usually for one minute.</a:t>
            </a:r>
          </a:p>
          <a:p>
            <a:pPr eaLnBrk="1" hangingPunct="1">
              <a:buFont typeface="Wingdings" panose="05000000000000000000" pitchFamily="2" charset="2"/>
              <a:buChar char="q"/>
            </a:pPr>
            <a:endParaRPr lang="en-GB" altLang="en-US" sz="2800" dirty="0" smtClean="0">
              <a:solidFill>
                <a:schemeClr val="bg1"/>
              </a:solidFill>
            </a:endParaRPr>
          </a:p>
          <a:p>
            <a:pPr eaLnBrk="1" hangingPunct="1">
              <a:buFont typeface="Wingdings" panose="05000000000000000000" pitchFamily="2" charset="2"/>
              <a:buChar char="q"/>
            </a:pPr>
            <a:r>
              <a:rPr lang="en-GB" altLang="en-US" sz="2800" dirty="0" smtClean="0">
                <a:solidFill>
                  <a:schemeClr val="bg1"/>
                </a:solidFill>
              </a:rPr>
              <a:t>The items chosen reflect the skills the child is having difficulty acquiring, but contain some that the child knows. </a:t>
            </a:r>
          </a:p>
          <a:p>
            <a:pPr eaLnBrk="1" hangingPunct="1"/>
            <a:endParaRPr lang="en-GB" altLang="en-US" dirty="0" smtClean="0"/>
          </a:p>
        </p:txBody>
      </p:sp>
    </p:spTree>
    <p:extLst>
      <p:ext uri="{BB962C8B-B14F-4D97-AF65-F5344CB8AC3E}">
        <p14:creationId xmlns:p14="http://schemas.microsoft.com/office/powerpoint/2010/main" val="275015988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idx="4294967295"/>
          </p:nvPr>
        </p:nvSpPr>
        <p:spPr>
          <a:xfrm>
            <a:off x="0" y="115888"/>
            <a:ext cx="8280400" cy="865187"/>
          </a:xfrm>
        </p:spPr>
        <p:txBody>
          <a:bodyPr/>
          <a:lstStyle/>
          <a:p>
            <a:pPr algn="ctr" eaLnBrk="1" hangingPunct="1"/>
            <a:r>
              <a:rPr lang="en-GB" altLang="en-US" sz="3200" dirty="0" smtClean="0">
                <a:solidFill>
                  <a:schemeClr val="bg1"/>
                </a:solidFill>
                <a:latin typeface="Arial" charset="0"/>
              </a:rPr>
              <a:t>Probes</a:t>
            </a:r>
          </a:p>
        </p:txBody>
      </p:sp>
      <p:sp>
        <p:nvSpPr>
          <p:cNvPr id="14339" name="Rectangle 3"/>
          <p:cNvSpPr>
            <a:spLocks noGrp="1" noChangeArrowheads="1"/>
          </p:cNvSpPr>
          <p:nvPr>
            <p:ph type="body" idx="4294967295"/>
          </p:nvPr>
        </p:nvSpPr>
        <p:spPr>
          <a:xfrm>
            <a:off x="0" y="916846"/>
            <a:ext cx="7343775" cy="4737100"/>
          </a:xfrm>
        </p:spPr>
        <p:txBody>
          <a:bodyPr>
            <a:normAutofit/>
          </a:bodyPr>
          <a:lstStyle/>
          <a:p>
            <a:pPr>
              <a:buFont typeface="Wingdings" panose="05000000000000000000" pitchFamily="2" charset="2"/>
              <a:buChar char="q"/>
            </a:pPr>
            <a:r>
              <a:rPr lang="en-GB" altLang="en-US" sz="2400" dirty="0">
                <a:solidFill>
                  <a:schemeClr val="bg1"/>
                </a:solidFill>
              </a:rPr>
              <a:t>Wider ranging probes can be used to make an initial assessment of what the child knows and where the gaps are</a:t>
            </a:r>
            <a:r>
              <a:rPr lang="en-GB" altLang="en-US" sz="2400" dirty="0" smtClean="0">
                <a:solidFill>
                  <a:schemeClr val="bg1"/>
                </a:solidFill>
              </a:rPr>
              <a:t>.</a:t>
            </a:r>
          </a:p>
          <a:p>
            <a:pPr marL="0" indent="0">
              <a:buNone/>
            </a:pPr>
            <a:endParaRPr lang="en-GB" altLang="en-US" sz="2400" dirty="0">
              <a:solidFill>
                <a:schemeClr val="bg1"/>
              </a:solidFill>
            </a:endParaRPr>
          </a:p>
          <a:p>
            <a:pPr>
              <a:buFont typeface="Wingdings" panose="05000000000000000000" pitchFamily="2" charset="2"/>
              <a:buChar char="q"/>
            </a:pPr>
            <a:r>
              <a:rPr lang="en-GB" altLang="en-US" sz="2400" dirty="0">
                <a:solidFill>
                  <a:schemeClr val="bg1"/>
                </a:solidFill>
              </a:rPr>
              <a:t>These will pinpoint a start point in the Letters and Sounds programme and show which phase to choose</a:t>
            </a:r>
            <a:r>
              <a:rPr lang="en-GB" altLang="en-US" sz="2400" dirty="0" smtClean="0">
                <a:solidFill>
                  <a:schemeClr val="bg1"/>
                </a:solidFill>
              </a:rPr>
              <a:t>.</a:t>
            </a:r>
          </a:p>
          <a:p>
            <a:pPr marL="0" indent="0">
              <a:buNone/>
            </a:pPr>
            <a:endParaRPr lang="en-GB" altLang="en-US" sz="2400" dirty="0">
              <a:solidFill>
                <a:schemeClr val="bg1"/>
              </a:solidFill>
            </a:endParaRPr>
          </a:p>
          <a:p>
            <a:pPr>
              <a:buFont typeface="Wingdings" panose="05000000000000000000" pitchFamily="2" charset="2"/>
              <a:buChar char="q"/>
            </a:pPr>
            <a:r>
              <a:rPr lang="en-GB" altLang="en-US" sz="2400" dirty="0">
                <a:solidFill>
                  <a:schemeClr val="bg1"/>
                </a:solidFill>
              </a:rPr>
              <a:t>The teaching programme will use more narrow range probes to teach and monitor the acquisition of skills on a step-by-step basis</a:t>
            </a:r>
          </a:p>
          <a:p>
            <a:pPr marL="0" indent="0" eaLnBrk="1" hangingPunct="1">
              <a:buNone/>
            </a:pPr>
            <a:endParaRPr lang="en-GB" altLang="en-US" dirty="0" smtClean="0"/>
          </a:p>
        </p:txBody>
      </p:sp>
    </p:spTree>
    <p:extLst>
      <p:ext uri="{BB962C8B-B14F-4D97-AF65-F5344CB8AC3E}">
        <p14:creationId xmlns:p14="http://schemas.microsoft.com/office/powerpoint/2010/main" val="382023769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a:xfrm>
            <a:off x="0" y="115888"/>
            <a:ext cx="8280400" cy="649287"/>
          </a:xfrm>
        </p:spPr>
        <p:txBody>
          <a:bodyPr/>
          <a:lstStyle/>
          <a:p>
            <a:pPr algn="ctr" eaLnBrk="1" hangingPunct="1"/>
            <a:r>
              <a:rPr lang="en-GB" altLang="en-US" sz="3200" dirty="0" smtClean="0">
                <a:solidFill>
                  <a:schemeClr val="bg1"/>
                </a:solidFill>
                <a:latin typeface="Arial" charset="0"/>
              </a:rPr>
              <a:t>Letters and Probes</a:t>
            </a:r>
          </a:p>
        </p:txBody>
      </p:sp>
      <p:sp>
        <p:nvSpPr>
          <p:cNvPr id="16387" name="Rectangle 4"/>
          <p:cNvSpPr>
            <a:spLocks noGrp="1" noChangeArrowheads="1"/>
          </p:cNvSpPr>
          <p:nvPr>
            <p:ph type="body" sz="half" idx="4294967295"/>
          </p:nvPr>
        </p:nvSpPr>
        <p:spPr>
          <a:xfrm>
            <a:off x="571500" y="1196975"/>
            <a:ext cx="3810000" cy="4530725"/>
          </a:xfrm>
        </p:spPr>
        <p:txBody>
          <a:bodyPr/>
          <a:lstStyle/>
          <a:p>
            <a:pPr marL="0" indent="0" eaLnBrk="1" hangingPunct="1">
              <a:buNone/>
            </a:pPr>
            <a:r>
              <a:rPr lang="en-GB" altLang="en-US" sz="2400" b="1" dirty="0" smtClean="0">
                <a:solidFill>
                  <a:schemeClr val="bg1"/>
                </a:solidFill>
              </a:rPr>
              <a:t>Top Level Probes</a:t>
            </a:r>
          </a:p>
          <a:p>
            <a:pPr eaLnBrk="1" hangingPunct="1">
              <a:buFont typeface="Wingdings" pitchFamily="2" charset="2"/>
              <a:buNone/>
            </a:pPr>
            <a:endParaRPr lang="en-GB" altLang="en-US" sz="2400" dirty="0" smtClean="0">
              <a:solidFill>
                <a:schemeClr val="bg1"/>
              </a:solidFill>
            </a:endParaRPr>
          </a:p>
          <a:p>
            <a:pPr eaLnBrk="1" hangingPunct="1">
              <a:buFont typeface="Wingdings" panose="05000000000000000000" pitchFamily="2" charset="2"/>
              <a:buChar char="q"/>
            </a:pPr>
            <a:r>
              <a:rPr lang="en-GB" altLang="en-US" sz="2400" dirty="0" smtClean="0">
                <a:solidFill>
                  <a:schemeClr val="bg1"/>
                </a:solidFill>
              </a:rPr>
              <a:t>These are wide ranging probes which contain all the items and skills taught in a particular phase</a:t>
            </a:r>
          </a:p>
          <a:p>
            <a:pPr eaLnBrk="1" hangingPunct="1">
              <a:buFont typeface="Wingdings" panose="05000000000000000000" pitchFamily="2" charset="2"/>
              <a:buChar char="q"/>
            </a:pPr>
            <a:r>
              <a:rPr lang="en-GB" altLang="en-US" sz="2400" dirty="0" smtClean="0">
                <a:solidFill>
                  <a:schemeClr val="bg1"/>
                </a:solidFill>
              </a:rPr>
              <a:t>Used for initial assessment, and end of phase skill checking</a:t>
            </a:r>
          </a:p>
          <a:p>
            <a:pPr eaLnBrk="1" hangingPunct="1"/>
            <a:endParaRPr lang="en-GB" altLang="en-US" sz="2400" dirty="0" smtClean="0"/>
          </a:p>
        </p:txBody>
      </p:sp>
      <p:sp>
        <p:nvSpPr>
          <p:cNvPr id="16388" name="Rectangle 5"/>
          <p:cNvSpPr>
            <a:spLocks noGrp="1" noChangeArrowheads="1"/>
          </p:cNvSpPr>
          <p:nvPr>
            <p:ph type="body" sz="half" idx="4294967295"/>
          </p:nvPr>
        </p:nvSpPr>
        <p:spPr>
          <a:xfrm>
            <a:off x="4762500" y="1196975"/>
            <a:ext cx="3810000" cy="4530725"/>
          </a:xfrm>
        </p:spPr>
        <p:txBody>
          <a:bodyPr/>
          <a:lstStyle/>
          <a:p>
            <a:pPr marL="0" indent="0" eaLnBrk="1" hangingPunct="1">
              <a:buNone/>
            </a:pPr>
            <a:r>
              <a:rPr lang="en-GB" altLang="en-US" sz="2400" b="1" dirty="0" smtClean="0">
                <a:solidFill>
                  <a:schemeClr val="bg1"/>
                </a:solidFill>
              </a:rPr>
              <a:t>Subset probes</a:t>
            </a:r>
          </a:p>
          <a:p>
            <a:pPr eaLnBrk="1" hangingPunct="1"/>
            <a:endParaRPr lang="en-GB" altLang="en-US" sz="2400" b="1" dirty="0" smtClean="0">
              <a:solidFill>
                <a:schemeClr val="bg1"/>
              </a:solidFill>
            </a:endParaRPr>
          </a:p>
          <a:p>
            <a:pPr eaLnBrk="1" hangingPunct="1">
              <a:buFont typeface="Wingdings" panose="05000000000000000000" pitchFamily="2" charset="2"/>
              <a:buChar char="q"/>
            </a:pPr>
            <a:r>
              <a:rPr lang="en-GB" altLang="en-US" sz="2400" dirty="0" smtClean="0">
                <a:solidFill>
                  <a:schemeClr val="bg1"/>
                </a:solidFill>
              </a:rPr>
              <a:t>These are probes which contain a much narrower subset of skills</a:t>
            </a:r>
          </a:p>
          <a:p>
            <a:pPr eaLnBrk="1" hangingPunct="1">
              <a:buFont typeface="Wingdings" panose="05000000000000000000" pitchFamily="2" charset="2"/>
              <a:buChar char="q"/>
            </a:pPr>
            <a:r>
              <a:rPr lang="en-GB" altLang="en-US" sz="2400" dirty="0" smtClean="0">
                <a:solidFill>
                  <a:schemeClr val="bg1"/>
                </a:solidFill>
              </a:rPr>
              <a:t>Can be used to make teaching decisions for slower learning children</a:t>
            </a:r>
          </a:p>
          <a:p>
            <a:pPr eaLnBrk="1" hangingPunct="1">
              <a:buFont typeface="Wingdings" panose="05000000000000000000" pitchFamily="2" charset="2"/>
              <a:buChar char="q"/>
            </a:pPr>
            <a:r>
              <a:rPr lang="en-GB" altLang="en-US" sz="2400" dirty="0" smtClean="0">
                <a:solidFill>
                  <a:schemeClr val="bg1"/>
                </a:solidFill>
              </a:rPr>
              <a:t>Used to check whether children have achieved ‘mastery’</a:t>
            </a:r>
          </a:p>
          <a:p>
            <a:pPr eaLnBrk="1" hangingPunct="1"/>
            <a:endParaRPr lang="en-GB" altLang="en-US" sz="2400" dirty="0" smtClean="0"/>
          </a:p>
        </p:txBody>
      </p:sp>
    </p:spTree>
    <p:extLst>
      <p:ext uri="{BB962C8B-B14F-4D97-AF65-F5344CB8AC3E}">
        <p14:creationId xmlns:p14="http://schemas.microsoft.com/office/powerpoint/2010/main" val="115890308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idx="4294967295"/>
          </p:nvPr>
        </p:nvSpPr>
        <p:spPr>
          <a:xfrm>
            <a:off x="646113" y="115888"/>
            <a:ext cx="8497887" cy="792162"/>
          </a:xfrm>
        </p:spPr>
        <p:txBody>
          <a:bodyPr/>
          <a:lstStyle/>
          <a:p>
            <a:pPr algn="ctr" eaLnBrk="1" hangingPunct="1"/>
            <a:r>
              <a:rPr lang="en-GB" altLang="en-US" sz="3200" dirty="0" smtClean="0">
                <a:solidFill>
                  <a:schemeClr val="bg1"/>
                </a:solidFill>
                <a:latin typeface="Arial" charset="0"/>
              </a:rPr>
              <a:t>Initial Assessment</a:t>
            </a:r>
          </a:p>
        </p:txBody>
      </p:sp>
      <p:sp>
        <p:nvSpPr>
          <p:cNvPr id="17411" name="Rectangle 3"/>
          <p:cNvSpPr>
            <a:spLocks noGrp="1" noChangeArrowheads="1"/>
          </p:cNvSpPr>
          <p:nvPr>
            <p:ph type="body" idx="4294967295"/>
          </p:nvPr>
        </p:nvSpPr>
        <p:spPr>
          <a:xfrm>
            <a:off x="0" y="1050257"/>
            <a:ext cx="7272338" cy="4319588"/>
          </a:xfrm>
        </p:spPr>
        <p:txBody>
          <a:bodyPr>
            <a:normAutofit fontScale="92500" lnSpcReduction="20000"/>
          </a:bodyPr>
          <a:lstStyle/>
          <a:p>
            <a:pPr eaLnBrk="1" hangingPunct="1">
              <a:buFont typeface="Wingdings" panose="05000000000000000000" pitchFamily="2" charset="2"/>
              <a:buChar char="q"/>
            </a:pPr>
            <a:r>
              <a:rPr lang="en-GB" altLang="en-US" sz="2800" dirty="0" smtClean="0">
                <a:solidFill>
                  <a:schemeClr val="bg1"/>
                </a:solidFill>
              </a:rPr>
              <a:t>Use the Phase 2 Top Level Probes included in your pack</a:t>
            </a:r>
            <a:r>
              <a:rPr lang="en-GB" altLang="en-US" sz="2800" dirty="0" smtClean="0">
                <a:solidFill>
                  <a:schemeClr val="bg1"/>
                </a:solidFill>
              </a:rPr>
              <a:t>.</a:t>
            </a:r>
          </a:p>
          <a:p>
            <a:pPr marL="0" indent="0" eaLnBrk="1" hangingPunct="1">
              <a:buNone/>
            </a:pPr>
            <a:endParaRPr lang="en-GB" altLang="en-US" sz="2800" dirty="0" smtClean="0">
              <a:solidFill>
                <a:schemeClr val="bg1"/>
              </a:solidFill>
            </a:endParaRPr>
          </a:p>
          <a:p>
            <a:pPr eaLnBrk="1" hangingPunct="1">
              <a:buFont typeface="Wingdings" panose="05000000000000000000" pitchFamily="2" charset="2"/>
              <a:buChar char="q"/>
            </a:pPr>
            <a:r>
              <a:rPr lang="en-GB" altLang="en-US" sz="2800" dirty="0" smtClean="0">
                <a:solidFill>
                  <a:schemeClr val="bg1"/>
                </a:solidFill>
              </a:rPr>
              <a:t>Start at the beginning of the probe sheets and work your way through the pack. It is worthwhile giving easier probes even if you think the pupil is already competent in those skills as this confirms earlier skills and provides the pupil with a ‘warm-up’ opportunity.</a:t>
            </a:r>
          </a:p>
          <a:p>
            <a:pPr marL="0" indent="0" eaLnBrk="1" hangingPunct="1">
              <a:buNone/>
            </a:pPr>
            <a:endParaRPr lang="en-GB" altLang="en-US" dirty="0" smtClean="0"/>
          </a:p>
          <a:p>
            <a:r>
              <a:rPr lang="en-GB" altLang="en-US" sz="3000" dirty="0">
                <a:solidFill>
                  <a:schemeClr val="bg1"/>
                </a:solidFill>
              </a:rPr>
              <a:t>http://www.johnandgwyn.co.uk/probe.html</a:t>
            </a:r>
          </a:p>
          <a:p>
            <a:pPr eaLnBrk="1" hangingPunct="1"/>
            <a:endParaRPr lang="en-GB" altLang="en-US" dirty="0" smtClean="0"/>
          </a:p>
          <a:p>
            <a:pPr eaLnBrk="1" hangingPunct="1"/>
            <a:endParaRPr lang="en-GB" altLang="en-US" dirty="0" smtClean="0"/>
          </a:p>
        </p:txBody>
      </p:sp>
    </p:spTree>
    <p:extLst>
      <p:ext uri="{BB962C8B-B14F-4D97-AF65-F5344CB8AC3E}">
        <p14:creationId xmlns:p14="http://schemas.microsoft.com/office/powerpoint/2010/main" val="94036539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a:xfrm>
            <a:off x="472938" y="260350"/>
            <a:ext cx="7772400" cy="1143000"/>
          </a:xfrm>
        </p:spPr>
        <p:txBody>
          <a:bodyPr/>
          <a:lstStyle/>
          <a:p>
            <a:pPr algn="ctr" eaLnBrk="1" hangingPunct="1"/>
            <a:r>
              <a:rPr lang="en-GB" altLang="en-US" sz="3200" dirty="0" smtClean="0">
                <a:solidFill>
                  <a:schemeClr val="bg1"/>
                </a:solidFill>
                <a:latin typeface="Arial" charset="0"/>
              </a:rPr>
              <a:t>Initial Assessment</a:t>
            </a:r>
          </a:p>
        </p:txBody>
      </p:sp>
      <p:sp>
        <p:nvSpPr>
          <p:cNvPr id="18435" name="Rectangle 3"/>
          <p:cNvSpPr>
            <a:spLocks noGrp="1" noChangeArrowheads="1"/>
          </p:cNvSpPr>
          <p:nvPr>
            <p:ph type="body" idx="4294967295"/>
          </p:nvPr>
        </p:nvSpPr>
        <p:spPr>
          <a:xfrm>
            <a:off x="619125" y="1209675"/>
            <a:ext cx="7127875" cy="4305300"/>
          </a:xfrm>
        </p:spPr>
        <p:txBody>
          <a:bodyPr>
            <a:normAutofit lnSpcReduction="10000"/>
          </a:bodyPr>
          <a:lstStyle/>
          <a:p>
            <a:pPr eaLnBrk="1" hangingPunct="1">
              <a:buFont typeface="Wingdings" panose="05000000000000000000" pitchFamily="2" charset="2"/>
              <a:buChar char="q"/>
            </a:pPr>
            <a:r>
              <a:rPr lang="en-GB" altLang="en-US" sz="2600" dirty="0" smtClean="0">
                <a:solidFill>
                  <a:schemeClr val="bg1"/>
                </a:solidFill>
              </a:rPr>
              <a:t>Tell the child you are going to show him/her a grid of words which you want them to read out loud to you, once you say “start</a:t>
            </a:r>
            <a:r>
              <a:rPr lang="en-GB" altLang="en-US" sz="2600" dirty="0" smtClean="0">
                <a:solidFill>
                  <a:schemeClr val="bg1"/>
                </a:solidFill>
              </a:rPr>
              <a:t>”.</a:t>
            </a:r>
          </a:p>
          <a:p>
            <a:pPr marL="0" indent="0" eaLnBrk="1" hangingPunct="1">
              <a:buNone/>
            </a:pPr>
            <a:endParaRPr lang="en-GB" altLang="en-US" sz="2600" dirty="0" smtClean="0">
              <a:solidFill>
                <a:schemeClr val="bg1"/>
              </a:solidFill>
            </a:endParaRPr>
          </a:p>
          <a:p>
            <a:pPr eaLnBrk="1" hangingPunct="1">
              <a:buFont typeface="Wingdings" panose="05000000000000000000" pitchFamily="2" charset="2"/>
              <a:buChar char="q"/>
            </a:pPr>
            <a:r>
              <a:rPr lang="en-GB" altLang="en-US" sz="2600" dirty="0" smtClean="0">
                <a:solidFill>
                  <a:schemeClr val="bg1"/>
                </a:solidFill>
              </a:rPr>
              <a:t>Use a 1 minute </a:t>
            </a:r>
            <a:r>
              <a:rPr lang="en-GB" altLang="en-US" sz="2600" dirty="0" err="1" smtClean="0">
                <a:solidFill>
                  <a:schemeClr val="bg1"/>
                </a:solidFill>
              </a:rPr>
              <a:t>sandtimer</a:t>
            </a:r>
            <a:r>
              <a:rPr lang="en-GB" altLang="en-US" sz="2600" dirty="0" smtClean="0">
                <a:solidFill>
                  <a:schemeClr val="bg1"/>
                </a:solidFill>
              </a:rPr>
              <a:t> or </a:t>
            </a:r>
            <a:r>
              <a:rPr lang="en-GB" altLang="en-US" sz="2600" dirty="0" err="1" smtClean="0">
                <a:solidFill>
                  <a:schemeClr val="bg1"/>
                </a:solidFill>
              </a:rPr>
              <a:t>stopclock</a:t>
            </a:r>
            <a:r>
              <a:rPr lang="en-GB" altLang="en-US" sz="2600" dirty="0" smtClean="0">
                <a:solidFill>
                  <a:schemeClr val="bg1"/>
                </a:solidFill>
              </a:rPr>
              <a:t> counting down from 60 seconds to tell you when the 1 minute probe is </a:t>
            </a:r>
            <a:r>
              <a:rPr lang="en-GB" altLang="en-US" sz="2600" dirty="0" smtClean="0">
                <a:solidFill>
                  <a:schemeClr val="bg1"/>
                </a:solidFill>
              </a:rPr>
              <a:t>up</a:t>
            </a:r>
          </a:p>
          <a:p>
            <a:pPr marL="0" indent="0" eaLnBrk="1" hangingPunct="1">
              <a:buNone/>
            </a:pPr>
            <a:endParaRPr lang="en-GB" altLang="en-US" sz="2600" dirty="0" smtClean="0">
              <a:solidFill>
                <a:schemeClr val="bg1"/>
              </a:solidFill>
            </a:endParaRPr>
          </a:p>
          <a:p>
            <a:pPr eaLnBrk="1" hangingPunct="1">
              <a:buFont typeface="Wingdings" panose="05000000000000000000" pitchFamily="2" charset="2"/>
              <a:buChar char="q"/>
            </a:pPr>
            <a:r>
              <a:rPr lang="en-GB" altLang="en-US" sz="2600" dirty="0" smtClean="0">
                <a:solidFill>
                  <a:schemeClr val="bg1"/>
                </a:solidFill>
              </a:rPr>
              <a:t>Keep a note of right/wrong responses as the child reads, but do not correct or help the child</a:t>
            </a:r>
          </a:p>
          <a:p>
            <a:pPr eaLnBrk="1" hangingPunct="1"/>
            <a:endParaRPr lang="en-GB" altLang="en-US" dirty="0" smtClean="0"/>
          </a:p>
        </p:txBody>
      </p:sp>
    </p:spTree>
    <p:extLst>
      <p:ext uri="{BB962C8B-B14F-4D97-AF65-F5344CB8AC3E}">
        <p14:creationId xmlns:p14="http://schemas.microsoft.com/office/powerpoint/2010/main" val="245552323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idx="4294967295"/>
          </p:nvPr>
        </p:nvSpPr>
        <p:spPr>
          <a:xfrm>
            <a:off x="0" y="115888"/>
            <a:ext cx="8208963" cy="865187"/>
          </a:xfrm>
        </p:spPr>
        <p:txBody>
          <a:bodyPr/>
          <a:lstStyle/>
          <a:p>
            <a:pPr algn="ctr" eaLnBrk="1" hangingPunct="1"/>
            <a:r>
              <a:rPr lang="en-GB" altLang="en-US" sz="3200" dirty="0" smtClean="0">
                <a:solidFill>
                  <a:schemeClr val="bg1"/>
                </a:solidFill>
                <a:latin typeface="Arial" charset="0"/>
              </a:rPr>
              <a:t>Initial Assessment</a:t>
            </a:r>
          </a:p>
        </p:txBody>
      </p:sp>
      <p:sp>
        <p:nvSpPr>
          <p:cNvPr id="19459" name="Rectangle 3"/>
          <p:cNvSpPr>
            <a:spLocks noGrp="1" noChangeArrowheads="1"/>
          </p:cNvSpPr>
          <p:nvPr>
            <p:ph type="body" idx="4294967295"/>
          </p:nvPr>
        </p:nvSpPr>
        <p:spPr>
          <a:xfrm>
            <a:off x="0" y="964144"/>
            <a:ext cx="7272338" cy="4737100"/>
          </a:xfrm>
        </p:spPr>
        <p:txBody>
          <a:bodyPr>
            <a:normAutofit/>
          </a:bodyPr>
          <a:lstStyle/>
          <a:p>
            <a:pPr eaLnBrk="1" hangingPunct="1">
              <a:lnSpc>
                <a:spcPct val="90000"/>
              </a:lnSpc>
              <a:buFont typeface="Wingdings" panose="05000000000000000000" pitchFamily="2" charset="2"/>
              <a:buChar char="q"/>
            </a:pPr>
            <a:r>
              <a:rPr lang="en-GB" altLang="en-US" sz="2400" dirty="0" smtClean="0">
                <a:solidFill>
                  <a:schemeClr val="bg1"/>
                </a:solidFill>
              </a:rPr>
              <a:t>When the </a:t>
            </a:r>
            <a:r>
              <a:rPr lang="en-GB" altLang="en-US" sz="2400" dirty="0" err="1" smtClean="0">
                <a:solidFill>
                  <a:schemeClr val="bg1"/>
                </a:solidFill>
              </a:rPr>
              <a:t>sandtimer</a:t>
            </a:r>
            <a:r>
              <a:rPr lang="en-GB" altLang="en-US" sz="2400" dirty="0" smtClean="0">
                <a:solidFill>
                  <a:schemeClr val="bg1"/>
                </a:solidFill>
              </a:rPr>
              <a:t> finishes/</a:t>
            </a:r>
            <a:r>
              <a:rPr lang="en-GB" altLang="en-US" sz="2400" dirty="0" err="1" smtClean="0">
                <a:solidFill>
                  <a:schemeClr val="bg1"/>
                </a:solidFill>
              </a:rPr>
              <a:t>stopclock</a:t>
            </a:r>
            <a:r>
              <a:rPr lang="en-GB" altLang="en-US" sz="2400" dirty="0" smtClean="0">
                <a:solidFill>
                  <a:schemeClr val="bg1"/>
                </a:solidFill>
              </a:rPr>
              <a:t> beeps, stop the child, thank them, and share how they did</a:t>
            </a:r>
            <a:r>
              <a:rPr lang="en-GB" altLang="en-US" sz="2400" dirty="0" smtClean="0">
                <a:solidFill>
                  <a:schemeClr val="bg1"/>
                </a:solidFill>
              </a:rPr>
              <a:t>.</a:t>
            </a:r>
          </a:p>
          <a:p>
            <a:pPr marL="0" indent="0" eaLnBrk="1" hangingPunct="1">
              <a:lnSpc>
                <a:spcPct val="90000"/>
              </a:lnSpc>
              <a:buNone/>
            </a:pPr>
            <a:endParaRPr lang="en-GB" altLang="en-US" sz="2400" dirty="0" smtClean="0">
              <a:solidFill>
                <a:schemeClr val="bg1"/>
              </a:solidFill>
            </a:endParaRPr>
          </a:p>
          <a:p>
            <a:pPr eaLnBrk="1" hangingPunct="1">
              <a:lnSpc>
                <a:spcPct val="90000"/>
              </a:lnSpc>
              <a:buFont typeface="Wingdings" panose="05000000000000000000" pitchFamily="2" charset="2"/>
              <a:buChar char="q"/>
            </a:pPr>
            <a:r>
              <a:rPr lang="en-GB" altLang="en-US" sz="2400" dirty="0" smtClean="0">
                <a:solidFill>
                  <a:schemeClr val="bg1"/>
                </a:solidFill>
              </a:rPr>
              <a:t>On your chart, note the probe given, put in the number of correct/incorrect responses the child gives, and make a note of specific problem words</a:t>
            </a:r>
            <a:r>
              <a:rPr lang="en-GB" altLang="en-US" sz="2400" dirty="0" smtClean="0">
                <a:solidFill>
                  <a:schemeClr val="bg1"/>
                </a:solidFill>
              </a:rPr>
              <a:t>.</a:t>
            </a:r>
          </a:p>
          <a:p>
            <a:pPr marL="0" indent="0" eaLnBrk="1" hangingPunct="1">
              <a:lnSpc>
                <a:spcPct val="90000"/>
              </a:lnSpc>
              <a:buNone/>
            </a:pPr>
            <a:endParaRPr lang="en-GB" altLang="en-US" sz="2400" dirty="0" smtClean="0">
              <a:solidFill>
                <a:schemeClr val="bg1"/>
              </a:solidFill>
            </a:endParaRPr>
          </a:p>
          <a:p>
            <a:pPr eaLnBrk="1" hangingPunct="1">
              <a:lnSpc>
                <a:spcPct val="90000"/>
              </a:lnSpc>
              <a:buFont typeface="Wingdings" panose="05000000000000000000" pitchFamily="2" charset="2"/>
              <a:buChar char="q"/>
            </a:pPr>
            <a:r>
              <a:rPr lang="en-GB" altLang="en-US" sz="2400" dirty="0" smtClean="0">
                <a:solidFill>
                  <a:schemeClr val="bg1"/>
                </a:solidFill>
              </a:rPr>
              <a:t>Stop when the pupil shows more errors than correct responses or earlier if failure is becoming obvious.</a:t>
            </a:r>
          </a:p>
        </p:txBody>
      </p:sp>
    </p:spTree>
    <p:extLst>
      <p:ext uri="{BB962C8B-B14F-4D97-AF65-F5344CB8AC3E}">
        <p14:creationId xmlns:p14="http://schemas.microsoft.com/office/powerpoint/2010/main" val="214842044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a:xfrm>
            <a:off x="0" y="115888"/>
            <a:ext cx="8208963" cy="865187"/>
          </a:xfrm>
        </p:spPr>
        <p:txBody>
          <a:bodyPr/>
          <a:lstStyle/>
          <a:p>
            <a:pPr algn="ctr" eaLnBrk="1" hangingPunct="1"/>
            <a:r>
              <a:rPr lang="en-GB" altLang="en-US" sz="3200" dirty="0" smtClean="0">
                <a:solidFill>
                  <a:schemeClr val="bg1"/>
                </a:solidFill>
                <a:latin typeface="Arial" charset="0"/>
              </a:rPr>
              <a:t>Initial Assessment</a:t>
            </a:r>
          </a:p>
        </p:txBody>
      </p:sp>
      <p:sp>
        <p:nvSpPr>
          <p:cNvPr id="20483" name="Rectangle 3"/>
          <p:cNvSpPr>
            <a:spLocks noGrp="1" noChangeArrowheads="1"/>
          </p:cNvSpPr>
          <p:nvPr>
            <p:ph type="body" idx="4294967295"/>
          </p:nvPr>
        </p:nvSpPr>
        <p:spPr>
          <a:xfrm>
            <a:off x="0" y="1131656"/>
            <a:ext cx="7200900" cy="4175125"/>
          </a:xfrm>
        </p:spPr>
        <p:txBody>
          <a:bodyPr>
            <a:normAutofit/>
          </a:bodyPr>
          <a:lstStyle/>
          <a:p>
            <a:pPr eaLnBrk="1" hangingPunct="1">
              <a:buFont typeface="Wingdings" panose="05000000000000000000" pitchFamily="2" charset="2"/>
              <a:buChar char="q"/>
            </a:pPr>
            <a:r>
              <a:rPr lang="en-GB" altLang="en-US" sz="2400" dirty="0" smtClean="0">
                <a:solidFill>
                  <a:schemeClr val="bg1"/>
                </a:solidFill>
              </a:rPr>
              <a:t>Use the ‘</a:t>
            </a:r>
            <a:r>
              <a:rPr lang="en-GB" altLang="en-US" sz="2400" b="1" dirty="0" smtClean="0">
                <a:solidFill>
                  <a:schemeClr val="bg1"/>
                </a:solidFill>
              </a:rPr>
              <a:t>100 high-frequency words in order’, </a:t>
            </a:r>
            <a:r>
              <a:rPr lang="en-GB" altLang="en-US" sz="2400" dirty="0" smtClean="0">
                <a:solidFill>
                  <a:schemeClr val="bg1"/>
                </a:solidFill>
              </a:rPr>
              <a:t>Copies of these are in your pack</a:t>
            </a:r>
            <a:r>
              <a:rPr lang="en-GB" altLang="en-US" sz="2400" dirty="0" smtClean="0">
                <a:solidFill>
                  <a:schemeClr val="bg1"/>
                </a:solidFill>
              </a:rPr>
              <a:t>.</a:t>
            </a:r>
          </a:p>
          <a:p>
            <a:pPr marL="0" indent="0" eaLnBrk="1" hangingPunct="1">
              <a:buNone/>
            </a:pPr>
            <a:endParaRPr lang="en-GB" altLang="en-US" sz="2400" dirty="0" smtClean="0">
              <a:solidFill>
                <a:schemeClr val="bg1"/>
              </a:solidFill>
            </a:endParaRPr>
          </a:p>
          <a:p>
            <a:pPr eaLnBrk="1" hangingPunct="1">
              <a:buFont typeface="Wingdings" panose="05000000000000000000" pitchFamily="2" charset="2"/>
              <a:buChar char="q"/>
            </a:pPr>
            <a:r>
              <a:rPr lang="en-GB" altLang="en-US" sz="2400" dirty="0" smtClean="0">
                <a:solidFill>
                  <a:schemeClr val="bg1"/>
                </a:solidFill>
              </a:rPr>
              <a:t>Start at the beginning of the probe sheets and work your way through the pack. It is worthwhile giving easier probes even if you think the pupil is already competent in those skills as this confirms earlier skills and provides the pupil for a ‘warm-up’ opportunity.</a:t>
            </a:r>
          </a:p>
        </p:txBody>
      </p:sp>
    </p:spTree>
    <p:extLst>
      <p:ext uri="{BB962C8B-B14F-4D97-AF65-F5344CB8AC3E}">
        <p14:creationId xmlns:p14="http://schemas.microsoft.com/office/powerpoint/2010/main" val="79129137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idx="4294967295"/>
          </p:nvPr>
        </p:nvSpPr>
        <p:spPr>
          <a:xfrm>
            <a:off x="94303" y="273548"/>
            <a:ext cx="8497887" cy="792162"/>
          </a:xfrm>
        </p:spPr>
        <p:txBody>
          <a:bodyPr/>
          <a:lstStyle/>
          <a:p>
            <a:pPr algn="ctr" eaLnBrk="1" hangingPunct="1"/>
            <a:r>
              <a:rPr lang="en-GB" altLang="en-US" sz="3200" dirty="0" smtClean="0">
                <a:solidFill>
                  <a:schemeClr val="bg1"/>
                </a:solidFill>
                <a:latin typeface="Arial" charset="0"/>
              </a:rPr>
              <a:t>Initial Assessment</a:t>
            </a:r>
          </a:p>
        </p:txBody>
      </p:sp>
      <p:sp>
        <p:nvSpPr>
          <p:cNvPr id="21507" name="Rectangle 3"/>
          <p:cNvSpPr>
            <a:spLocks noGrp="1" noChangeArrowheads="1"/>
          </p:cNvSpPr>
          <p:nvPr>
            <p:ph type="body" idx="4294967295"/>
          </p:nvPr>
        </p:nvSpPr>
        <p:spPr>
          <a:xfrm>
            <a:off x="0" y="1477963"/>
            <a:ext cx="7488238" cy="3529012"/>
          </a:xfrm>
        </p:spPr>
        <p:txBody>
          <a:bodyPr>
            <a:normAutofit/>
          </a:bodyPr>
          <a:lstStyle/>
          <a:p>
            <a:pPr eaLnBrk="1" hangingPunct="1">
              <a:buFont typeface="Wingdings" panose="05000000000000000000" pitchFamily="2" charset="2"/>
              <a:buChar char="q"/>
            </a:pPr>
            <a:r>
              <a:rPr lang="en-GB" altLang="en-US" sz="2400" dirty="0" smtClean="0">
                <a:solidFill>
                  <a:schemeClr val="bg1"/>
                </a:solidFill>
              </a:rPr>
              <a:t>Remember to record your results for each probe sheet administered on the summary sheet in your pack</a:t>
            </a:r>
            <a:r>
              <a:rPr lang="en-GB" altLang="en-US" sz="2400" dirty="0" smtClean="0">
                <a:solidFill>
                  <a:schemeClr val="bg1"/>
                </a:solidFill>
              </a:rPr>
              <a:t>.</a:t>
            </a:r>
          </a:p>
          <a:p>
            <a:pPr marL="0" indent="0" eaLnBrk="1" hangingPunct="1">
              <a:buNone/>
            </a:pPr>
            <a:endParaRPr lang="en-GB" altLang="en-US" sz="2400" dirty="0" smtClean="0">
              <a:solidFill>
                <a:schemeClr val="bg1"/>
              </a:solidFill>
            </a:endParaRPr>
          </a:p>
          <a:p>
            <a:pPr eaLnBrk="1" hangingPunct="1">
              <a:buFont typeface="Wingdings" panose="05000000000000000000" pitchFamily="2" charset="2"/>
              <a:buChar char="q"/>
            </a:pPr>
            <a:r>
              <a:rPr lang="en-GB" altLang="en-US" sz="2400" dirty="0" smtClean="0">
                <a:solidFill>
                  <a:schemeClr val="bg1"/>
                </a:solidFill>
              </a:rPr>
              <a:t>Bring your results back to session 2.  We will use these to plan the next steps in using a Precision Teaching Programme.</a:t>
            </a:r>
          </a:p>
        </p:txBody>
      </p:sp>
    </p:spTree>
    <p:extLst>
      <p:ext uri="{BB962C8B-B14F-4D97-AF65-F5344CB8AC3E}">
        <p14:creationId xmlns:p14="http://schemas.microsoft.com/office/powerpoint/2010/main" val="296586274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a:xfrm>
            <a:off x="409630" y="532606"/>
            <a:ext cx="8497887" cy="865187"/>
          </a:xfrm>
        </p:spPr>
        <p:txBody>
          <a:bodyPr/>
          <a:lstStyle/>
          <a:p>
            <a:pPr algn="ctr" eaLnBrk="1" hangingPunct="1"/>
            <a:r>
              <a:rPr lang="en-GB" altLang="en-US" sz="3200" dirty="0" smtClean="0">
                <a:solidFill>
                  <a:schemeClr val="bg1"/>
                </a:solidFill>
                <a:latin typeface="Arial" charset="0"/>
              </a:rPr>
              <a:t>Thank You</a:t>
            </a:r>
          </a:p>
        </p:txBody>
      </p:sp>
      <p:sp>
        <p:nvSpPr>
          <p:cNvPr id="22531" name="Rectangle 3"/>
          <p:cNvSpPr>
            <a:spLocks noGrp="1" noChangeArrowheads="1"/>
          </p:cNvSpPr>
          <p:nvPr>
            <p:ph type="body" idx="4294967295"/>
          </p:nvPr>
        </p:nvSpPr>
        <p:spPr>
          <a:xfrm>
            <a:off x="801042" y="965200"/>
            <a:ext cx="6264275" cy="3471863"/>
          </a:xfrm>
        </p:spPr>
        <p:txBody>
          <a:bodyPr/>
          <a:lstStyle/>
          <a:p>
            <a:pPr eaLnBrk="1" hangingPunct="1">
              <a:buFont typeface="Wingdings" pitchFamily="2" charset="2"/>
              <a:buNone/>
            </a:pPr>
            <a:endParaRPr lang="en-US" altLang="en-US" dirty="0" smtClean="0"/>
          </a:p>
          <a:p>
            <a:pPr eaLnBrk="1" hangingPunct="1">
              <a:buFont typeface="Wingdings" pitchFamily="2" charset="2"/>
              <a:buNone/>
            </a:pPr>
            <a:endParaRPr lang="en-US" altLang="en-US" dirty="0" smtClean="0"/>
          </a:p>
          <a:p>
            <a:pPr eaLnBrk="1" hangingPunct="1">
              <a:buFont typeface="Wingdings" pitchFamily="2" charset="2"/>
              <a:buNone/>
            </a:pPr>
            <a:endParaRPr lang="en-US" altLang="en-US" dirty="0" smtClean="0"/>
          </a:p>
          <a:p>
            <a:pPr algn="ctr" eaLnBrk="1" hangingPunct="1">
              <a:buFont typeface="Wingdings" pitchFamily="2" charset="2"/>
              <a:buNone/>
            </a:pPr>
            <a:r>
              <a:rPr lang="en-US" altLang="en-US" dirty="0" smtClean="0">
                <a:solidFill>
                  <a:schemeClr val="bg1"/>
                </a:solidFill>
              </a:rPr>
              <a:t>Please do not use or copy any slides without prior permission from AFC EPS</a:t>
            </a:r>
          </a:p>
          <a:p>
            <a:pPr eaLnBrk="1" hangingPunct="1">
              <a:buFont typeface="Wingdings" pitchFamily="2" charset="2"/>
              <a:buNone/>
            </a:pPr>
            <a:endParaRPr lang="en-US" altLang="en-US" dirty="0" smtClean="0"/>
          </a:p>
          <a:p>
            <a:pPr eaLnBrk="1" hangingPunct="1"/>
            <a:endParaRPr lang="en-GB" altLang="en-US" dirty="0" smtClean="0"/>
          </a:p>
        </p:txBody>
      </p:sp>
    </p:spTree>
    <p:extLst>
      <p:ext uri="{BB962C8B-B14F-4D97-AF65-F5344CB8AC3E}">
        <p14:creationId xmlns:p14="http://schemas.microsoft.com/office/powerpoint/2010/main" val="355425646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1924989" y="2627088"/>
            <a:ext cx="5447880" cy="780685"/>
          </a:xfrm>
        </p:spPr>
        <p:txBody>
          <a:bodyPr/>
          <a:lstStyle/>
          <a:p>
            <a:r>
              <a:rPr lang="en-US" dirty="0" smtClean="0">
                <a:latin typeface="+mj-lt"/>
              </a:rPr>
              <a:t>End slide </a:t>
            </a:r>
            <a:endParaRPr lang="en-US" dirty="0">
              <a:latin typeface="+mj-lt"/>
            </a:endParaRPr>
          </a:p>
        </p:txBody>
      </p:sp>
    </p:spTree>
    <p:extLst>
      <p:ext uri="{BB962C8B-B14F-4D97-AF65-F5344CB8AC3E}">
        <p14:creationId xmlns:p14="http://schemas.microsoft.com/office/powerpoint/2010/main" val="4192891351"/>
      </p:ext>
    </p:extLst>
  </p:cSld>
  <p:clrMapOvr>
    <a:masterClrMapping/>
  </p:clrMapOvr>
  <p:timing>
    <p:tnLst>
      <p:par>
        <p:cTn id="1" dur="indefinite" restart="never" nodeType="tmRoot"/>
      </p:par>
    </p:tnLst>
  </p:timing>
</p:sld>
</file>

<file path=ppt/theme/theme1.xml><?xml version="1.0" encoding="utf-8"?>
<a:theme xmlns:a="http://schemas.openxmlformats.org/drawingml/2006/main" name="Powerpoint_master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260</TotalTime>
  <Words>2138</Words>
  <Application>Microsoft Office PowerPoint</Application>
  <PresentationFormat>On-screen Show (4:3)</PresentationFormat>
  <Paragraphs>258</Paragraphs>
  <Slides>28</Slides>
  <Notes>28</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Powerpoint_master_template</vt:lpstr>
      <vt:lpstr>PowerPoint Presentation</vt:lpstr>
      <vt:lpstr>PowerPoint Presentation</vt:lpstr>
      <vt:lpstr>Aim for Session 1</vt:lpstr>
      <vt:lpstr>Preview of upcoming sessions</vt:lpstr>
      <vt:lpstr>Preview of upcoming sessions</vt:lpstr>
      <vt:lpstr>What is Precision Teaching?</vt:lpstr>
      <vt:lpstr>What is Precision Teaching?</vt:lpstr>
      <vt:lpstr>When can Precision Teaching be used?</vt:lpstr>
      <vt:lpstr>The Learning Hierarchy</vt:lpstr>
      <vt:lpstr>The Learning Hierarchy</vt:lpstr>
      <vt:lpstr>The Learning Hierarchy</vt:lpstr>
      <vt:lpstr>How do you do Precision Teaching?</vt:lpstr>
      <vt:lpstr>How do you do Precision Teaching?</vt:lpstr>
      <vt:lpstr>How do you do Precision Teaching?</vt:lpstr>
      <vt:lpstr>Before you start Precision Teaching </vt:lpstr>
      <vt:lpstr>‘Task Analysis’ – where are they now? </vt:lpstr>
      <vt:lpstr>Initial Assessment – using ‘Letters and Sounds’</vt:lpstr>
      <vt:lpstr>Initial Assessment – using ‘Letters and Sounds’</vt:lpstr>
      <vt:lpstr>Probes</vt:lpstr>
      <vt:lpstr>Probes</vt:lpstr>
      <vt:lpstr>Letters and Probes</vt:lpstr>
      <vt:lpstr>Initial Assessment</vt:lpstr>
      <vt:lpstr>Initial Assessment</vt:lpstr>
      <vt:lpstr>Initial Assessment</vt:lpstr>
      <vt:lpstr>Initial Assessment</vt:lpstr>
      <vt:lpstr>Initial Assessment</vt:lpstr>
      <vt:lpstr>Thank You</vt:lpstr>
      <vt:lpstr>PowerPoint Presentation</vt:lpstr>
    </vt:vector>
  </TitlesOfParts>
  <Company>RBWM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localprofile</dc:creator>
  <cp:lastModifiedBy>localprofile</cp:lastModifiedBy>
  <cp:revision>22</cp:revision>
  <cp:lastPrinted>2015-09-16T14:47:36Z</cp:lastPrinted>
  <dcterms:created xsi:type="dcterms:W3CDTF">2017-09-05T13:13:18Z</dcterms:created>
  <dcterms:modified xsi:type="dcterms:W3CDTF">2018-05-08T06:22:27Z</dcterms:modified>
</cp:coreProperties>
</file>