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8.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302" r:id="rId3"/>
    <p:sldId id="353" r:id="rId4"/>
    <p:sldId id="277" r:id="rId5"/>
    <p:sldId id="308" r:id="rId6"/>
    <p:sldId id="352" r:id="rId7"/>
    <p:sldId id="320" r:id="rId8"/>
    <p:sldId id="338" r:id="rId9"/>
    <p:sldId id="344" r:id="rId10"/>
    <p:sldId id="339" r:id="rId11"/>
    <p:sldId id="357" r:id="rId12"/>
    <p:sldId id="364" r:id="rId13"/>
    <p:sldId id="351" r:id="rId14"/>
    <p:sldId id="313" r:id="rId15"/>
    <p:sldId id="335" r:id="rId16"/>
    <p:sldId id="336" r:id="rId17"/>
    <p:sldId id="334" r:id="rId18"/>
    <p:sldId id="358" r:id="rId19"/>
    <p:sldId id="311" r:id="rId20"/>
    <p:sldId id="340" r:id="rId21"/>
    <p:sldId id="343" r:id="rId22"/>
    <p:sldId id="324" r:id="rId23"/>
    <p:sldId id="345" r:id="rId24"/>
    <p:sldId id="323" r:id="rId25"/>
    <p:sldId id="349" r:id="rId26"/>
    <p:sldId id="362" r:id="rId27"/>
    <p:sldId id="322" r:id="rId28"/>
    <p:sldId id="325" r:id="rId29"/>
    <p:sldId id="348" r:id="rId30"/>
    <p:sldId id="360" r:id="rId31"/>
    <p:sldId id="350" r:id="rId32"/>
    <p:sldId id="347" r:id="rId33"/>
    <p:sldId id="326" r:id="rId34"/>
    <p:sldId id="327" r:id="rId35"/>
    <p:sldId id="328" r:id="rId36"/>
    <p:sldId id="329" r:id="rId37"/>
    <p:sldId id="363" r:id="rId38"/>
    <p:sldId id="298" r:id="rId39"/>
    <p:sldId id="330" r:id="rId40"/>
    <p:sldId id="331" r:id="rId41"/>
    <p:sldId id="365" r:id="rId42"/>
    <p:sldId id="346" r:id="rId43"/>
    <p:sldId id="361" r:id="rId44"/>
    <p:sldId id="316" r:id="rId45"/>
    <p:sldId id="333" r:id="rId46"/>
    <p:sldId id="274"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8000"/>
    <a:srgbClr val="CC3399"/>
    <a:srgbClr val="F4C239"/>
    <a:srgbClr val="532921"/>
    <a:srgbClr val="47434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84229" autoAdjust="0"/>
  </p:normalViewPr>
  <p:slideViewPr>
    <p:cSldViewPr snapToGrid="0" snapToObjects="1">
      <p:cViewPr>
        <p:scale>
          <a:sx n="60" d="100"/>
          <a:sy n="60" d="100"/>
        </p:scale>
        <p:origin x="-141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468"/>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02/01/2018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sz="1200" b="1" kern="1200" dirty="0" smtClean="0">
                <a:solidFill>
                  <a:schemeClr val="tx1"/>
                </a:solidFill>
                <a:latin typeface="+mn-lt"/>
                <a:ea typeface="+mn-ea"/>
                <a:cs typeface="+mn-cs"/>
              </a:rPr>
              <a:t>Step 1: Name Your </a:t>
            </a:r>
            <a:r>
              <a:rPr lang="en-GB" sz="1200" b="1" kern="1200" dirty="0" smtClean="0">
                <a:solidFill>
                  <a:schemeClr val="tx1"/>
                </a:solidFill>
                <a:latin typeface="+mn-lt"/>
                <a:ea typeface="+mn-ea"/>
                <a:cs typeface="+mn-cs"/>
              </a:rPr>
              <a:t>pupils</a:t>
            </a:r>
            <a:r>
              <a:rPr lang="en-GB" sz="1200" b="1" kern="1200" dirty="0" smtClean="0">
                <a:solidFill>
                  <a:schemeClr val="tx1"/>
                </a:solidFill>
                <a:latin typeface="+mn-lt"/>
                <a:ea typeface="+mn-ea"/>
                <a:cs typeface="+mn-cs"/>
              </a:rPr>
              <a:t>.</a:t>
            </a:r>
            <a:endParaRPr lang="en-GB" sz="1200" kern="1200" dirty="0" smtClean="0">
              <a:solidFill>
                <a:schemeClr val="tx1"/>
              </a:solidFill>
              <a:latin typeface="+mn-lt"/>
              <a:ea typeface="+mn-ea"/>
              <a:cs typeface="+mn-cs"/>
            </a:endParaRPr>
          </a:p>
          <a:p>
            <a:r>
              <a:rPr lang="en-GB" sz="1200" kern="1200" dirty="0" smtClean="0">
                <a:solidFill>
                  <a:schemeClr val="tx1"/>
                </a:solidFill>
                <a:latin typeface="+mn-lt"/>
                <a:ea typeface="+mn-ea"/>
                <a:cs typeface="+mn-cs"/>
              </a:rPr>
              <a:t>Take a blank piece of paper or start a simple computer document, and number the left-hand margin with the number of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you have in your class. (If you have 25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number the paper 1-25. If you have more than one class, just choose one group of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for this activity.) Then, write down your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in the order in which you think of them. Try not to go in alphabetical order or write down all of one gender and then another. Just write them down in the order they appear in your mind.</a:t>
            </a:r>
          </a:p>
          <a:p>
            <a:r>
              <a:rPr lang="en-GB" sz="1200" kern="1200" dirty="0" smtClean="0">
                <a:solidFill>
                  <a:schemeClr val="tx1"/>
                </a:solidFill>
                <a:latin typeface="+mn-lt"/>
                <a:ea typeface="+mn-ea"/>
                <a:cs typeface="+mn-cs"/>
              </a:rPr>
              <a:t>Just this part of the activity can be interesting. Who comes to mind first, and why? Likely they are the ones who command your attention, either because of their strengths or challenges. Who do you struggle to remember? Why do you struggle to remember them? Are they quiet, compliant, or withdrawn?</a:t>
            </a:r>
          </a:p>
          <a:p>
            <a:r>
              <a:rPr lang="en-GB" sz="1200" kern="1200" dirty="0" smtClean="0">
                <a:solidFill>
                  <a:schemeClr val="tx1"/>
                </a:solidFill>
                <a:latin typeface="+mn-lt"/>
                <a:ea typeface="+mn-ea"/>
                <a:cs typeface="+mn-cs"/>
              </a:rPr>
              <a:t>Once you have all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listed, move to the next step</a:t>
            </a:r>
          </a:p>
          <a:p>
            <a:r>
              <a:rPr lang="en-GB" sz="1200" b="1" kern="1200" dirty="0" smtClean="0">
                <a:solidFill>
                  <a:schemeClr val="tx1"/>
                </a:solidFill>
                <a:latin typeface="+mn-lt"/>
                <a:ea typeface="+mn-ea"/>
                <a:cs typeface="+mn-cs"/>
              </a:rPr>
              <a:t>Step 2: What Do You Know about Your </a:t>
            </a:r>
            <a:r>
              <a:rPr lang="en-GB" sz="1200" b="1" kern="1200" dirty="0" smtClean="0">
                <a:solidFill>
                  <a:schemeClr val="tx1"/>
                </a:solidFill>
                <a:latin typeface="+mn-lt"/>
                <a:ea typeface="+mn-ea"/>
                <a:cs typeface="+mn-cs"/>
              </a:rPr>
              <a:t>pupils</a:t>
            </a:r>
            <a:r>
              <a:rPr lang="en-GB" sz="1200" b="1" kern="1200" dirty="0" smtClean="0">
                <a:solidFill>
                  <a:schemeClr val="tx1"/>
                </a:solidFill>
                <a:latin typeface="+mn-lt"/>
                <a:ea typeface="+mn-ea"/>
                <a:cs typeface="+mn-cs"/>
              </a:rPr>
              <a:t>?</a:t>
            </a:r>
            <a:endParaRPr lang="en-GB"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1" kern="1200" dirty="0" smtClean="0">
                <a:solidFill>
                  <a:schemeClr val="tx1"/>
                </a:solidFill>
                <a:latin typeface="+mn-lt"/>
                <a:ea typeface="+mn-ea"/>
                <a:cs typeface="+mn-cs"/>
              </a:rPr>
              <a:t>Step 3: Do Your </a:t>
            </a:r>
            <a:r>
              <a:rPr lang="en-GB" sz="1200" b="1" kern="1200" dirty="0" smtClean="0">
                <a:solidFill>
                  <a:schemeClr val="tx1"/>
                </a:solidFill>
                <a:latin typeface="+mn-lt"/>
                <a:ea typeface="+mn-ea"/>
                <a:cs typeface="+mn-cs"/>
              </a:rPr>
              <a:t>pupils </a:t>
            </a:r>
            <a:r>
              <a:rPr lang="en-GB" sz="1200" b="1" kern="1200" dirty="0" smtClean="0">
                <a:solidFill>
                  <a:schemeClr val="tx1"/>
                </a:solidFill>
                <a:latin typeface="+mn-lt"/>
                <a:ea typeface="+mn-ea"/>
                <a:cs typeface="+mn-cs"/>
              </a:rPr>
              <a:t>Know that You Know Them?</a:t>
            </a:r>
            <a:endParaRPr lang="en-GB" sz="1200" kern="1200" dirty="0" smtClean="0">
              <a:solidFill>
                <a:schemeClr val="tx1"/>
              </a:solidFill>
              <a:latin typeface="+mn-lt"/>
              <a:ea typeface="+mn-ea"/>
              <a:cs typeface="+mn-cs"/>
            </a:endParaRPr>
          </a:p>
          <a:p>
            <a:r>
              <a:rPr lang="en-GB" sz="1200" b="1" kern="1200" dirty="0" smtClean="0">
                <a:solidFill>
                  <a:schemeClr val="tx1"/>
                </a:solidFill>
                <a:latin typeface="+mn-lt"/>
                <a:ea typeface="+mn-ea"/>
                <a:cs typeface="+mn-cs"/>
              </a:rPr>
              <a:t>Now What?</a:t>
            </a:r>
            <a:endParaRPr lang="en-GB" sz="1200" kern="1200" dirty="0" smtClean="0">
              <a:solidFill>
                <a:schemeClr val="tx1"/>
              </a:solidFill>
              <a:latin typeface="+mn-lt"/>
              <a:ea typeface="+mn-ea"/>
              <a:cs typeface="+mn-cs"/>
            </a:endParaRPr>
          </a:p>
          <a:p>
            <a:r>
              <a:rPr lang="en-GB" sz="1200" kern="1200" dirty="0" smtClean="0">
                <a:solidFill>
                  <a:schemeClr val="tx1"/>
                </a:solidFill>
                <a:latin typeface="+mn-lt"/>
                <a:ea typeface="+mn-ea"/>
                <a:cs typeface="+mn-cs"/>
              </a:rPr>
              <a:t>Don’t feel badly if you had some blank spaces on your paper.  Even though I thought I knew my class really well, when I first tried this activity I was surprised at how much I struggled with a few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This activity isn’t supposed to be a “Gotcha!”—where you feel awful for not yet knowing all of your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Instead, it should be formative. It gives you valuable information. Once you know that you haven’t connected enough with several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it’s time to get to work. Here are a few ideas for making those connections.</a:t>
            </a:r>
          </a:p>
          <a:p>
            <a:pPr lvl="0"/>
            <a:r>
              <a:rPr lang="en-GB" sz="1200" b="1" kern="1200" dirty="0" smtClean="0">
                <a:solidFill>
                  <a:schemeClr val="tx1"/>
                </a:solidFill>
                <a:latin typeface="+mn-lt"/>
                <a:ea typeface="+mn-ea"/>
                <a:cs typeface="+mn-cs"/>
              </a:rPr>
              <a:t>Casual chit-chat:</a:t>
            </a:r>
            <a:r>
              <a:rPr lang="en-GB" sz="1200" kern="1200" dirty="0" smtClean="0">
                <a:solidFill>
                  <a:schemeClr val="tx1"/>
                </a:solidFill>
                <a:latin typeface="+mn-lt"/>
                <a:ea typeface="+mn-ea"/>
                <a:cs typeface="+mn-cs"/>
              </a:rPr>
              <a:t> When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enter the room, when they’re in the hallway, or when they’re in-between activities, strike up a quick conversation. “Jenny, what are you up to this weekend?” “Mark, you’re into sports, right? Are you playing anything right now?”</a:t>
            </a:r>
          </a:p>
          <a:p>
            <a:pPr lvl="0"/>
            <a:r>
              <a:rPr lang="en-GB" sz="1200" b="1" kern="1200" dirty="0" smtClean="0">
                <a:solidFill>
                  <a:schemeClr val="tx1"/>
                </a:solidFill>
                <a:latin typeface="+mn-lt"/>
                <a:ea typeface="+mn-ea"/>
                <a:cs typeface="+mn-cs"/>
              </a:rPr>
              <a:t>Morning meeting or advisory: </a:t>
            </a:r>
            <a:r>
              <a:rPr lang="en-GB" sz="1200" kern="1200" dirty="0" smtClean="0">
                <a:solidFill>
                  <a:schemeClr val="tx1"/>
                </a:solidFill>
                <a:latin typeface="+mn-lt"/>
                <a:ea typeface="+mn-ea"/>
                <a:cs typeface="+mn-cs"/>
              </a:rPr>
              <a:t>If you run morning meetings or advisory groups, use this as a chance to get to know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Have them share about their hobbies and interests. Later on, follow up with a conversation so you can learn more.</a:t>
            </a:r>
          </a:p>
          <a:p>
            <a:pPr lvl="0"/>
            <a:r>
              <a:rPr lang="en-GB" sz="1200" b="1" kern="1200" dirty="0" smtClean="0">
                <a:solidFill>
                  <a:schemeClr val="tx1"/>
                </a:solidFill>
                <a:latin typeface="+mn-lt"/>
                <a:ea typeface="+mn-ea"/>
                <a:cs typeface="+mn-cs"/>
              </a:rPr>
              <a:t>Take notes:</a:t>
            </a:r>
            <a:r>
              <a:rPr lang="en-GB" sz="1200" kern="1200" dirty="0" smtClean="0">
                <a:solidFill>
                  <a:schemeClr val="tx1"/>
                </a:solidFill>
                <a:latin typeface="+mn-lt"/>
                <a:ea typeface="+mn-ea"/>
                <a:cs typeface="+mn-cs"/>
              </a:rPr>
              <a:t> Especially if you have multiple classes of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keep track of what you learn about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Keep a simple list of information, organized by </a:t>
            </a:r>
            <a:r>
              <a:rPr lang="en-GB" sz="1200" kern="1200" dirty="0" smtClean="0">
                <a:solidFill>
                  <a:schemeClr val="tx1"/>
                </a:solidFill>
                <a:latin typeface="+mn-lt"/>
                <a:ea typeface="+mn-ea"/>
                <a:cs typeface="+mn-cs"/>
              </a:rPr>
              <a:t>pupils</a:t>
            </a:r>
            <a:r>
              <a:rPr lang="en-GB" sz="1200" kern="1200" dirty="0" smtClean="0">
                <a:solidFill>
                  <a:schemeClr val="tx1"/>
                </a:solidFill>
                <a:latin typeface="+mn-lt"/>
                <a:ea typeface="+mn-ea"/>
                <a:cs typeface="+mn-cs"/>
              </a:rPr>
              <a:t>’ names. Even if you don’t go back and look at the notes, the act of writing them down will help you remember them.</a:t>
            </a:r>
          </a:p>
          <a:p>
            <a:r>
              <a:rPr lang="en-GB" sz="1200" b="1" kern="1200" dirty="0" smtClean="0">
                <a:solidFill>
                  <a:schemeClr val="tx1"/>
                </a:solidFill>
                <a:latin typeface="+mn-lt"/>
                <a:ea typeface="+mn-ea"/>
                <a:cs typeface="+mn-cs"/>
              </a:rPr>
              <a:t>Games/Activities:</a:t>
            </a:r>
            <a:r>
              <a:rPr lang="en-GB" sz="1200" kern="1200" dirty="0" smtClean="0">
                <a:solidFill>
                  <a:schemeClr val="tx1"/>
                </a:solidFill>
                <a:latin typeface="+mn-lt"/>
                <a:ea typeface="+mn-ea"/>
                <a:cs typeface="+mn-cs"/>
              </a:rPr>
              <a:t> As a part of academic work, play some games and activities that help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share about themselves. For example, in the game Would You Rather, </a:t>
            </a:r>
            <a:r>
              <a:rPr lang="en-GB" sz="1200" kern="1200" dirty="0" smtClean="0">
                <a:solidFill>
                  <a:schemeClr val="tx1"/>
                </a:solidFill>
                <a:latin typeface="+mn-lt"/>
                <a:ea typeface="+mn-ea"/>
                <a:cs typeface="+mn-cs"/>
              </a:rPr>
              <a:t>pupils </a:t>
            </a:r>
            <a:r>
              <a:rPr lang="en-GB" sz="1200" kern="1200" dirty="0" smtClean="0">
                <a:solidFill>
                  <a:schemeClr val="tx1"/>
                </a:solidFill>
                <a:latin typeface="+mn-lt"/>
                <a:ea typeface="+mn-ea"/>
                <a:cs typeface="+mn-cs"/>
              </a:rPr>
              <a:t>respond to the prompt, </a:t>
            </a:r>
            <a:r>
              <a:rPr lang="en-GB" sz="1200" i="1" kern="1200" dirty="0" smtClean="0">
                <a:solidFill>
                  <a:schemeClr val="tx1"/>
                </a:solidFill>
                <a:latin typeface="+mn-lt"/>
                <a:ea typeface="+mn-ea"/>
                <a:cs typeface="+mn-cs"/>
              </a:rPr>
              <a:t>Would you rather </a:t>
            </a:r>
            <a:r>
              <a:rPr lang="en-GB" sz="1200" kern="1200" dirty="0" smtClean="0">
                <a:solidFill>
                  <a:schemeClr val="tx1"/>
                </a:solidFill>
                <a:latin typeface="+mn-lt"/>
                <a:ea typeface="+mn-ea"/>
                <a:cs typeface="+mn-cs"/>
              </a:rPr>
              <a:t>read fiction, </a:t>
            </a:r>
            <a:r>
              <a:rPr lang="en-GB" sz="1200" i="1" kern="1200" dirty="0" smtClean="0">
                <a:solidFill>
                  <a:schemeClr val="tx1"/>
                </a:solidFill>
                <a:latin typeface="+mn-lt"/>
                <a:ea typeface="+mn-ea"/>
                <a:cs typeface="+mn-cs"/>
              </a:rPr>
              <a:t>or would you rather </a:t>
            </a:r>
            <a:r>
              <a:rPr lang="en-GB" sz="1200" kern="1200" dirty="0" smtClean="0">
                <a:solidFill>
                  <a:schemeClr val="tx1"/>
                </a:solidFill>
                <a:latin typeface="+mn-lt"/>
                <a:ea typeface="+mn-ea"/>
                <a:cs typeface="+mn-cs"/>
              </a:rPr>
              <a:t>read non-fiction? </a:t>
            </a:r>
          </a:p>
          <a:p>
            <a:r>
              <a:rPr lang="en-GB" sz="1200" kern="1200" dirty="0" smtClean="0">
                <a:solidFill>
                  <a:schemeClr val="tx1"/>
                </a:solidFill>
                <a:latin typeface="+mn-lt"/>
                <a:ea typeface="+mn-ea"/>
                <a:cs typeface="+mn-cs"/>
              </a:rPr>
              <a:t>Name</a:t>
            </a:r>
          </a:p>
          <a:p>
            <a:r>
              <a:rPr lang="en-GB" sz="1200" kern="1200" dirty="0" smtClean="0">
                <a:solidFill>
                  <a:schemeClr val="tx1"/>
                </a:solidFill>
                <a:latin typeface="+mn-lt"/>
                <a:ea typeface="+mn-ea"/>
                <a:cs typeface="+mn-cs"/>
              </a:rPr>
              <a:t>What do you know about me?</a:t>
            </a:r>
          </a:p>
          <a:p>
            <a:r>
              <a:rPr lang="en-GB" sz="1200" kern="1200" dirty="0" smtClean="0">
                <a:solidFill>
                  <a:schemeClr val="tx1"/>
                </a:solidFill>
                <a:latin typeface="+mn-lt"/>
                <a:ea typeface="+mn-ea"/>
                <a:cs typeface="+mn-cs"/>
              </a:rPr>
              <a:t>siblings</a:t>
            </a:r>
          </a:p>
          <a:p>
            <a:r>
              <a:rPr lang="en-GB" sz="1200" kern="1200" dirty="0" smtClean="0">
                <a:solidFill>
                  <a:schemeClr val="tx1"/>
                </a:solidFill>
                <a:latin typeface="+mn-lt"/>
                <a:ea typeface="+mn-ea"/>
                <a:cs typeface="+mn-cs"/>
              </a:rPr>
              <a:t>pets</a:t>
            </a:r>
          </a:p>
          <a:p>
            <a:r>
              <a:rPr lang="en-GB" sz="1200" kern="1200" dirty="0" smtClean="0">
                <a:solidFill>
                  <a:schemeClr val="tx1"/>
                </a:solidFill>
                <a:latin typeface="+mn-lt"/>
                <a:ea typeface="+mn-ea"/>
                <a:cs typeface="+mn-cs"/>
              </a:rPr>
              <a:t>food</a:t>
            </a:r>
          </a:p>
          <a:p>
            <a:r>
              <a:rPr lang="en-GB" sz="1200" kern="1200" dirty="0" smtClean="0">
                <a:solidFill>
                  <a:schemeClr val="tx1"/>
                </a:solidFill>
                <a:latin typeface="+mn-lt"/>
                <a:ea typeface="+mn-ea"/>
                <a:cs typeface="+mn-cs"/>
              </a:rPr>
              <a:t>colour</a:t>
            </a:r>
          </a:p>
          <a:p>
            <a:r>
              <a:rPr lang="en-GB" sz="1200" kern="1200" dirty="0" smtClean="0">
                <a:solidFill>
                  <a:schemeClr val="tx1"/>
                </a:solidFill>
                <a:latin typeface="+mn-lt"/>
                <a:ea typeface="+mn-ea"/>
                <a:cs typeface="+mn-cs"/>
              </a:rPr>
              <a:t>hobbies</a:t>
            </a:r>
          </a:p>
          <a:p>
            <a:r>
              <a:rPr lang="en-GB" sz="1200" kern="1200" dirty="0" smtClean="0">
                <a:solidFill>
                  <a:schemeClr val="tx1"/>
                </a:solidFill>
                <a:latin typeface="+mn-lt"/>
                <a:ea typeface="+mn-ea"/>
                <a:cs typeface="+mn-cs"/>
              </a:rPr>
              <a:t>Film/</a:t>
            </a:r>
            <a:r>
              <a:rPr lang="en-GB" sz="1200" kern="1200" dirty="0" err="1" smtClean="0">
                <a:solidFill>
                  <a:schemeClr val="tx1"/>
                </a:solidFill>
                <a:latin typeface="+mn-lt"/>
                <a:ea typeface="+mn-ea"/>
                <a:cs typeface="+mn-cs"/>
              </a:rPr>
              <a:t>tv</a:t>
            </a:r>
            <a:r>
              <a:rPr lang="en-GB" sz="1200" kern="1200" dirty="0" smtClean="0">
                <a:solidFill>
                  <a:schemeClr val="tx1"/>
                </a:solidFill>
                <a:latin typeface="+mn-lt"/>
                <a:ea typeface="+mn-ea"/>
                <a:cs typeface="+mn-cs"/>
              </a:rPr>
              <a:t>/game</a:t>
            </a:r>
          </a:p>
          <a:p>
            <a:r>
              <a:rPr lang="en-GB" sz="1200" kern="1200" dirty="0" smtClean="0">
                <a:solidFill>
                  <a:schemeClr val="tx1"/>
                </a:solidFill>
                <a:latin typeface="+mn-lt"/>
                <a:ea typeface="+mn-ea"/>
                <a:cs typeface="+mn-cs"/>
              </a:rPr>
              <a:t>ambition</a:t>
            </a:r>
          </a:p>
          <a:p>
            <a:r>
              <a:rPr lang="en-GB" dirty="0" smtClean="0"/>
              <a:t> Use Differentiation Planning</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Give details of teaching EXPLICIT SKILLS sheet</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Schools should look carefully at all aspects of a child or young person’s performance in different areas of learning and development or subjects to establish whether lack of progress is due to limitations in their command of English or if it arises from SEN or a disability. </a:t>
            </a:r>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14</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As a child gets older, demands placed on their working memory increase, and this can cause overload. How can we recognise poor working memory in the classroom?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Ebbinghaus’ Forgetting Curve is a stark reminder of how quickly we forget information that we don’t need to access regularly.</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19</a:t>
            </a:fld>
            <a:endParaRPr lang="en-GB" dirty="0"/>
          </a:p>
        </p:txBody>
      </p:sp>
    </p:spTree>
    <p:extLst>
      <p:ext uri="{BB962C8B-B14F-4D97-AF65-F5344CB8AC3E}">
        <p14:creationId xmlns="" xmlns:p14="http://schemas.microsoft.com/office/powerpoint/2010/main" val="1901034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Quickly look at Rome pre-assessment sheet and Pupil as a learner sheet</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21</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GB" sz="1200" b="0" i="0" u="none" strike="noStrike" kern="1200" baseline="0" dirty="0" smtClean="0">
                <a:solidFill>
                  <a:schemeClr val="tx1"/>
                </a:solidFill>
                <a:latin typeface="Times New Roman" pitchFamily="18" charset="0"/>
                <a:ea typeface="MS PGothic" pitchFamily="34" charset="-128"/>
                <a:cs typeface="+mn-cs"/>
              </a:rPr>
              <a:t>Task</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One of the core methods of differentiation, differentiation by task, involves setting different tasks for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of different abilities. One way to achieve this may be to produce different sets of worksheets or exercises depending on </a:t>
            </a:r>
            <a:r>
              <a:rPr lang="en-GB" sz="1200" b="0" i="0" u="none" strike="noStrike" kern="1200" baseline="0" dirty="0" smtClean="0">
                <a:solidFill>
                  <a:schemeClr val="tx1"/>
                </a:solidFill>
                <a:latin typeface="Times New Roman" pitchFamily="18" charset="0"/>
                <a:ea typeface="MS PGothic" pitchFamily="34" charset="-128"/>
                <a:cs typeface="+mn-cs"/>
              </a:rPr>
              <a:t>pupils</a:t>
            </a:r>
            <a:r>
              <a:rPr lang="en-GB" sz="1200" b="0" i="0" u="none" strike="noStrike" kern="1200" baseline="0" dirty="0" smtClean="0">
                <a:solidFill>
                  <a:schemeClr val="tx1"/>
                </a:solidFill>
                <a:latin typeface="Times New Roman" pitchFamily="18" charset="0"/>
                <a:ea typeface="MS PGothic" pitchFamily="34" charset="-128"/>
                <a:cs typeface="+mn-cs"/>
              </a:rPr>
              <a:t>’ abilities. However, some teachers are loath to employ this method because of both the social implications and the additional planning it entails. An alternative method is to use a single worksheet comprised of tasks which get progressively harder. The more advanced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will quickly progress to the later questions whilst the less able can concentrate on grasping the essentials.</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Grouping</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Collaborative learning has many well-documented benefits such as enabling shy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to participate more confidently in class, but it’s also a useful differentiation method. Small, mixed-ability groups allow lower achievers to take advantage of peer support whilst higher achievers gain the opportunity to organise and voice their thoughts for the benefit of the whole group (known as peer modelling). Grouping also allows roles to be allocated within the team which cater for each member’s skill set and learning needs.</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Resources</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Differentiation in the classroom - ipads in </a:t>
            </a:r>
            <a:r>
              <a:rPr lang="en-GB" sz="1200" b="0" i="0" u="none" strike="noStrike" kern="1200" baseline="0" dirty="0" err="1" smtClean="0">
                <a:solidFill>
                  <a:schemeClr val="tx1"/>
                </a:solidFill>
                <a:latin typeface="Times New Roman" pitchFamily="18" charset="0"/>
                <a:ea typeface="MS PGothic" pitchFamily="34" charset="-128"/>
                <a:cs typeface="+mn-cs"/>
              </a:rPr>
              <a:t>classroomIn</a:t>
            </a:r>
            <a:r>
              <a:rPr lang="en-GB" sz="1200" b="0" i="0" u="none" strike="noStrike" kern="1200" baseline="0" dirty="0" smtClean="0">
                <a:solidFill>
                  <a:schemeClr val="tx1"/>
                </a:solidFill>
                <a:latin typeface="Times New Roman" pitchFamily="18" charset="0"/>
                <a:ea typeface="MS PGothic" pitchFamily="34" charset="-128"/>
                <a:cs typeface="+mn-cs"/>
              </a:rPr>
              <a:t> this method it’s important to recognise that some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can work with more advanced resources than others, and that it is possible to use multiple materials in order to approach a topic from different angles. This means that while some may require quite basic texts with illustrations, others are capable of working with more advanced vocabulary and complex ideas. Differentiation of this kind allows a wide spectrum of materials to be used to attain a single learning outcome. It’s a method that is greatly assisted by advances in technology, and the use of educational video in the classroom, which is why it is becoming more prevalent.</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Pace</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In the traditional classroom, activities are completed within a single time frame, irrespective of the level of difficulty for some </a:t>
            </a:r>
            <a:r>
              <a:rPr lang="en-GB" sz="1200" b="0" i="0" u="none" strike="noStrike" kern="1200" baseline="0" dirty="0" smtClean="0">
                <a:solidFill>
                  <a:schemeClr val="tx1"/>
                </a:solidFill>
                <a:latin typeface="Times New Roman" pitchFamily="18" charset="0"/>
                <a:ea typeface="MS PGothic" pitchFamily="34" charset="-128"/>
                <a:cs typeface="+mn-cs"/>
              </a:rPr>
              <a:t>pupils</a:t>
            </a:r>
            <a:r>
              <a:rPr lang="en-GB" sz="1200" b="0" i="0" u="none" strike="noStrike" kern="1200" baseline="0" dirty="0" smtClean="0">
                <a:solidFill>
                  <a:schemeClr val="tx1"/>
                </a:solidFill>
                <a:latin typeface="Times New Roman" pitchFamily="18" charset="0"/>
                <a:ea typeface="MS PGothic" pitchFamily="34" charset="-128"/>
                <a:cs typeface="+mn-cs"/>
              </a:rPr>
              <a:t>. The result is that more advanced learners can be held back to the speed of the less able ones, and at the other end of the scale, some may simply find it impossible to keep up. When differentiation is used in lesson planning, the available time is used flexibly in order to meet all </a:t>
            </a:r>
            <a:r>
              <a:rPr lang="en-GB" sz="1200" b="0" i="0" u="none" strike="noStrike" kern="1200" baseline="0" dirty="0" smtClean="0">
                <a:solidFill>
                  <a:schemeClr val="tx1"/>
                </a:solidFill>
                <a:latin typeface="Times New Roman" pitchFamily="18" charset="0"/>
                <a:ea typeface="MS PGothic" pitchFamily="34" charset="-128"/>
                <a:cs typeface="+mn-cs"/>
              </a:rPr>
              <a:t>pupils</a:t>
            </a:r>
            <a:r>
              <a:rPr lang="en-GB" sz="1200" b="0" i="0" u="none" strike="noStrike" kern="1200" baseline="0" dirty="0" smtClean="0">
                <a:solidFill>
                  <a:schemeClr val="tx1"/>
                </a:solidFill>
                <a:latin typeface="Times New Roman" pitchFamily="18" charset="0"/>
                <a:ea typeface="MS PGothic" pitchFamily="34" charset="-128"/>
                <a:cs typeface="+mn-cs"/>
              </a:rPr>
              <a:t>’ needs.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who quickly grasp core activities need not be held back because their classmates need to spend more time on the fundamentals of a topic. They can instead be allocated more challenging extension tasks in order to develop a more rounded understanding of the subject matter or even to progress through the set course more quickly.</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Outcome</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Differentiation by outcome is a technique whereby all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undertake the same task but a variety of results is expected and acceptable. For example, the teacher sets a task but instead of working towards a single ‘right’ answer, the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arrive at a personalised outcome depending on their level of ability. It’s a method about which some teachers have reservations as there is a risk that the less able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will fall below an acceptable level of understanding, however that risk can be mitigated somewhat by establishing a clear set of guidelines that apply to all </a:t>
            </a:r>
            <a:r>
              <a:rPr lang="en-GB" sz="1200" b="0" i="0" u="none" strike="noStrike" kern="1200" baseline="0" dirty="0" smtClean="0">
                <a:solidFill>
                  <a:schemeClr val="tx1"/>
                </a:solidFill>
                <a:latin typeface="Times New Roman" pitchFamily="18" charset="0"/>
                <a:ea typeface="MS PGothic" pitchFamily="34" charset="-128"/>
                <a:cs typeface="+mn-cs"/>
              </a:rPr>
              <a:t>pupils</a:t>
            </a:r>
            <a:r>
              <a:rPr lang="en-GB" sz="1200" b="0" i="0" u="none" strike="noStrike" kern="1200" baseline="0" dirty="0" smtClean="0">
                <a:solidFill>
                  <a:schemeClr val="tx1"/>
                </a:solidFill>
                <a:latin typeface="Times New Roman" pitchFamily="18" charset="0"/>
                <a:ea typeface="MS PGothic" pitchFamily="34" charset="-128"/>
                <a:cs typeface="+mn-cs"/>
              </a:rPr>
              <a:t>, and it does offer one clear advantage in that no prior grouping is necessary. </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Dialogue and support</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Differentiation by dialogue is the most regularly used type of differentiation in the classroom. With this technique, the emphasis is on the role of the teacher, who must facilitate problem solving by identifying which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need detailed explanations in simple language and which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can engage in dialogue at a more sophisticated level. The teacher may also employ targeted questioning to produce a range of responses and to challenge the more able </a:t>
            </a:r>
            <a:r>
              <a:rPr lang="en-GB" sz="1200" b="0" i="0" u="none" strike="noStrike" kern="1200" baseline="0" dirty="0" smtClean="0">
                <a:solidFill>
                  <a:schemeClr val="tx1"/>
                </a:solidFill>
                <a:latin typeface="Times New Roman" pitchFamily="18" charset="0"/>
                <a:ea typeface="MS PGothic" pitchFamily="34" charset="-128"/>
                <a:cs typeface="+mn-cs"/>
              </a:rPr>
              <a:t>pupils</a:t>
            </a:r>
            <a:r>
              <a:rPr lang="en-GB" sz="1200" b="0" i="0" u="none" strike="noStrike" kern="1200" baseline="0" dirty="0" smtClean="0">
                <a:solidFill>
                  <a:schemeClr val="tx1"/>
                </a:solidFill>
                <a:latin typeface="Times New Roman" pitchFamily="18" charset="0"/>
                <a:ea typeface="MS PGothic" pitchFamily="34" charset="-128"/>
                <a:cs typeface="+mn-cs"/>
              </a:rPr>
              <a:t>. Verbal support and encouragement also plays a crucial part in this technique.</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Assessment</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In the differentiated classroom, rather than assessment taking place at the end of learning,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are assessed on an on-going basis so that teaching, and indeed the other methods of differentiation, can be continuously adjusted according to the learners’ needs. </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Differentiation in the classroom is all about understanding that we are dealing with a group of diverse individuals and adapting our teaching to ensure that all of them have access to learn. It should be an on-going and flexible process which not only profiles </a:t>
            </a:r>
            <a:r>
              <a:rPr lang="en-GB" sz="1200" b="0" i="0" u="none" strike="noStrike" kern="1200" baseline="0" dirty="0" smtClean="0">
                <a:solidFill>
                  <a:schemeClr val="tx1"/>
                </a:solidFill>
                <a:latin typeface="Times New Roman" pitchFamily="18" charset="0"/>
                <a:ea typeface="MS PGothic" pitchFamily="34" charset="-128"/>
                <a:cs typeface="+mn-cs"/>
              </a:rPr>
              <a:t>pupils </a:t>
            </a:r>
            <a:r>
              <a:rPr lang="en-GB" sz="1200" b="0" i="0" u="none" strike="noStrike" kern="1200" baseline="0" dirty="0" smtClean="0">
                <a:solidFill>
                  <a:schemeClr val="tx1"/>
                </a:solidFill>
                <a:latin typeface="Times New Roman" pitchFamily="18" charset="0"/>
                <a:ea typeface="MS PGothic" pitchFamily="34" charset="-128"/>
                <a:cs typeface="+mn-cs"/>
              </a:rPr>
              <a:t>initially but also recognises progress and areas for improvement and adjusts accordingly to ensure learning needs continue to be met. In short, it shifts the focus from teaching a subject to teaching the </a:t>
            </a:r>
            <a:r>
              <a:rPr lang="en-GB" sz="1200" b="0" i="0" u="none" strike="noStrike" kern="1200" baseline="0" dirty="0" smtClean="0">
                <a:solidFill>
                  <a:schemeClr val="tx1"/>
                </a:solidFill>
                <a:latin typeface="Times New Roman" pitchFamily="18" charset="0"/>
                <a:ea typeface="MS PGothic" pitchFamily="34" charset="-128"/>
                <a:cs typeface="+mn-cs"/>
              </a:rPr>
              <a:t>pupils</a:t>
            </a:r>
            <a:r>
              <a:rPr lang="en-GB" sz="1200" b="0" i="0" u="none" strike="noStrike" kern="1200" baseline="0" dirty="0" smtClean="0">
                <a:solidFill>
                  <a:schemeClr val="tx1"/>
                </a:solidFill>
                <a:latin typeface="Times New Roman" pitchFamily="18" charset="0"/>
                <a:ea typeface="MS PGothic" pitchFamily="34" charset="-128"/>
                <a:cs typeface="+mn-cs"/>
              </a:rPr>
              <a:t>.</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b="1" dirty="0" smtClean="0"/>
              <a:t>What is task</a:t>
            </a:r>
            <a:r>
              <a:rPr lang="en-GB" b="1" baseline="0" dirty="0" smtClean="0"/>
              <a:t> differentiation?</a:t>
            </a:r>
          </a:p>
          <a:p>
            <a:r>
              <a:rPr lang="en-GB" dirty="0" smtClean="0"/>
              <a:t>One of the core methods of differentiation, differentiation by task, involves setting different tasks for </a:t>
            </a:r>
            <a:r>
              <a:rPr lang="en-GB" dirty="0" smtClean="0"/>
              <a:t>pupils </a:t>
            </a:r>
            <a:r>
              <a:rPr lang="en-GB" dirty="0" smtClean="0"/>
              <a:t>of different abilities. One way to achieve this may be to produce different sets of worksheets or exercises depending on </a:t>
            </a:r>
            <a:r>
              <a:rPr lang="en-GB" dirty="0" smtClean="0"/>
              <a:t>pupils</a:t>
            </a:r>
            <a:r>
              <a:rPr lang="en-GB" dirty="0" smtClean="0"/>
              <a:t>’ abilities. </a:t>
            </a:r>
          </a:p>
          <a:p>
            <a:endParaRPr lang="en-GB" dirty="0" smtClean="0"/>
          </a:p>
          <a:p>
            <a:r>
              <a:rPr lang="en-GB" b="1" dirty="0" smtClean="0"/>
              <a:t>What are the difficulties?</a:t>
            </a:r>
          </a:p>
          <a:p>
            <a:r>
              <a:rPr lang="en-GB" dirty="0" smtClean="0"/>
              <a:t>However</a:t>
            </a:r>
            <a:r>
              <a:rPr lang="en-GB" baseline="0" dirty="0" smtClean="0"/>
              <a:t> this can entail a LOT of additional planning.</a:t>
            </a:r>
          </a:p>
          <a:p>
            <a:endParaRPr lang="en-GB" baseline="0" dirty="0" smtClean="0"/>
          </a:p>
          <a:p>
            <a:r>
              <a:rPr lang="en-GB" baseline="0" dirty="0" smtClean="0"/>
              <a:t>Can also be detrimental in terms of self-esteem and confidence.</a:t>
            </a:r>
            <a:endParaRPr lang="en-GB" dirty="0" smtClean="0"/>
          </a:p>
          <a:p>
            <a:endParaRPr lang="en-GB" dirty="0" smtClean="0"/>
          </a:p>
          <a:p>
            <a:r>
              <a:rPr lang="en-GB" b="1" dirty="0" smtClean="0"/>
              <a:t>Ways</a:t>
            </a:r>
            <a:r>
              <a:rPr lang="en-GB" b="1" baseline="0" dirty="0" smtClean="0"/>
              <a:t> to make it more manageable</a:t>
            </a:r>
          </a:p>
          <a:p>
            <a:r>
              <a:rPr lang="en-GB" dirty="0" smtClean="0"/>
              <a:t>An alternative method is to use a single worksheet comprised of tasks which get progressively harder. The more advanced </a:t>
            </a:r>
            <a:r>
              <a:rPr lang="en-GB" dirty="0" smtClean="0"/>
              <a:t>pupils </a:t>
            </a:r>
            <a:r>
              <a:rPr lang="en-GB" dirty="0" smtClean="0"/>
              <a:t>will quickly progress to the later questions whilst the less able can concentrate on grasping the essentials.</a:t>
            </a:r>
          </a:p>
          <a:p>
            <a:endParaRPr lang="en-GB" dirty="0" smtClean="0"/>
          </a:p>
          <a:p>
            <a:r>
              <a:rPr lang="en-GB" b="1" dirty="0" smtClean="0"/>
              <a:t>Take a practical and realistic approach to task differentiation. When planning group work, try to plan so that groups can access work at different times in the week, so that the less able cover the work set at the middle group level by Wednesday for example - this saves planning four different types of work for each group, each day.</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Look at RAFT notes</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29</a:t>
            </a:fld>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Look at examples of Concept menu, tic tac toe and learning contract</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30</a:t>
            </a:fld>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Peer</a:t>
            </a:r>
            <a:r>
              <a:rPr lang="en-GB" sz="1200" baseline="0" dirty="0" smtClean="0"/>
              <a:t> support through c</a:t>
            </a:r>
            <a:r>
              <a:rPr lang="en-GB" sz="1200" dirty="0" smtClean="0"/>
              <a:t>ollaborative learning has many well-documented benefits such as enabling shy </a:t>
            </a:r>
            <a:r>
              <a:rPr lang="en-GB" sz="1200" dirty="0" smtClean="0"/>
              <a:t>pupils </a:t>
            </a:r>
            <a:r>
              <a:rPr lang="en-GB" sz="1200" dirty="0" smtClean="0"/>
              <a:t>to participate more confidently in class, but it’s also a useful differentiation method. </a:t>
            </a:r>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33</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In the traditional classroom, activities are completed within a single time frame, irrespective of the level of difficulty for some </a:t>
            </a:r>
            <a:r>
              <a:rPr lang="en-GB" sz="1200" dirty="0" smtClean="0"/>
              <a:t>pupils</a:t>
            </a:r>
            <a:r>
              <a:rPr lang="en-GB" sz="1200" dirty="0" smtClean="0"/>
              <a:t>. The result is that more advanced learners can be held back to the speed of the less able ones, and at the other end of the scale, some may simply find it impossible to keep up. When differentiation is used in lesson planning, the available time is used flexibly in order to meet all </a:t>
            </a:r>
            <a:r>
              <a:rPr lang="en-GB" sz="1200" dirty="0" smtClean="0"/>
              <a:t>pupils</a:t>
            </a:r>
            <a:r>
              <a:rPr lang="en-GB" sz="1200" dirty="0" smtClean="0"/>
              <a:t>’ needs. </a:t>
            </a:r>
            <a:r>
              <a:rPr lang="en-GB" sz="1200" dirty="0" smtClean="0"/>
              <a:t>Pupils </a:t>
            </a:r>
            <a:r>
              <a:rPr lang="en-GB" sz="1200" dirty="0" smtClean="0"/>
              <a:t>who quickly grasp core activities need not be held back because their classmates need to spend more time on the fundamentals of a topic. They can instead be allocated more challenging extension tasks in order to develop a more rounded understanding of the subject matter or even to progress through the set course more quickly.</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34</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This means that while some may require quite basic texts with illustrations, others are capable of working with more advanced vocabulary and complex ideas. Differentiation of this kind allows a wide spectrum of materials to be used to attain a single learning outcome. It’s a method that is greatly assisted by advances in technology</a:t>
            </a:r>
            <a:r>
              <a:rPr lang="en-GB" sz="1200" baseline="0" dirty="0" smtClean="0"/>
              <a:t> and the use of educational video clips </a:t>
            </a:r>
            <a:r>
              <a:rPr lang="en-GB" sz="1200" dirty="0" smtClean="0"/>
              <a:t>which is why it is becoming more prevalent.</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35</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dirty="0" smtClean="0"/>
              <a:t>Think of group work using a traffic light system: green for work they can do unaided once explained; amber for work that may require support; and red for work that requires a teacher or TA to 'scaffold' it. Then you can plan around the support staff that you have."</a:t>
            </a:r>
          </a:p>
          <a:p>
            <a:endParaRPr lang="en-GB" dirty="0" smtClean="0"/>
          </a:p>
          <a:p>
            <a:r>
              <a:rPr lang="en-GB" b="1" dirty="0" smtClean="0"/>
              <a:t>Visual support</a:t>
            </a:r>
            <a:r>
              <a:rPr lang="en-GB" dirty="0" smtClean="0"/>
              <a:t>– visual timetables, alphabet arcs, word mats, table/number squares, tricky words, new word lists, SCUBA cards (see Spring term 2013 </a:t>
            </a:r>
            <a:r>
              <a:rPr lang="en-GB" dirty="0" err="1" smtClean="0"/>
              <a:t>senco</a:t>
            </a:r>
            <a:r>
              <a:rPr lang="en-GB" dirty="0" smtClean="0"/>
              <a:t> network) </a:t>
            </a:r>
          </a:p>
          <a:p>
            <a:endParaRPr lang="en-GB" dirty="0" smtClean="0"/>
          </a:p>
          <a:p>
            <a:r>
              <a:rPr lang="en-GB" dirty="0" smtClean="0"/>
              <a:t>o </a:t>
            </a:r>
            <a:r>
              <a:rPr lang="en-GB" b="1" dirty="0" smtClean="0"/>
              <a:t>Physical support </a:t>
            </a:r>
            <a:r>
              <a:rPr lang="en-GB" dirty="0" smtClean="0"/>
              <a:t>– mini- white boards, number fans, arrow cards, counters, cubes, shapes. Support with spelling, </a:t>
            </a:r>
            <a:r>
              <a:rPr lang="en-GB" dirty="0" err="1" smtClean="0"/>
              <a:t>cribing</a:t>
            </a:r>
            <a:r>
              <a:rPr lang="en-GB" dirty="0" smtClean="0"/>
              <a:t> or supporting using alternatives ways to write/record, signing, ICT support, adaptive resources, practical experiences,</a:t>
            </a:r>
            <a:r>
              <a:rPr lang="en-GB" baseline="0" dirty="0" smtClean="0"/>
              <a:t> games.</a:t>
            </a:r>
            <a:endParaRPr lang="en-GB" dirty="0" smtClean="0"/>
          </a:p>
          <a:p>
            <a:r>
              <a:rPr lang="en-GB" dirty="0" smtClean="0"/>
              <a:t> </a:t>
            </a:r>
          </a:p>
          <a:p>
            <a:r>
              <a:rPr lang="en-GB" dirty="0" smtClean="0"/>
              <a:t>o </a:t>
            </a:r>
            <a:r>
              <a:rPr lang="en-GB" b="1" dirty="0" smtClean="0"/>
              <a:t>Scaffold learning </a:t>
            </a:r>
            <a:r>
              <a:rPr lang="en-GB" dirty="0" smtClean="0"/>
              <a:t>– mind maps, spider grams, writing frames, talking frames, role play, substitution tables. </a:t>
            </a:r>
          </a:p>
          <a:p>
            <a:endParaRPr lang="en-GB" dirty="0" smtClean="0"/>
          </a:p>
          <a:p>
            <a:r>
              <a:rPr lang="en-GB" dirty="0" smtClean="0"/>
              <a:t>o </a:t>
            </a:r>
            <a:r>
              <a:rPr lang="en-GB" b="1" dirty="0" smtClean="0"/>
              <a:t>Verbal </a:t>
            </a:r>
            <a:r>
              <a:rPr lang="en-GB" dirty="0" smtClean="0"/>
              <a:t>– develop talk for learning, rehearsing what to write verbally first, encourage peer discussion, support with reading. Model good quality talk</a:t>
            </a:r>
          </a:p>
          <a:p>
            <a:endParaRPr lang="en-GB" dirty="0" smtClean="0"/>
          </a:p>
          <a:p>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36</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dirty="0" smtClean="0"/>
              <a:t> </a:t>
            </a:r>
            <a:r>
              <a:rPr lang="en-GB" sz="1200" b="1" i="0" u="none" strike="noStrike" kern="1200" baseline="0" dirty="0" smtClean="0">
                <a:solidFill>
                  <a:schemeClr val="tx1"/>
                </a:solidFill>
                <a:latin typeface="Times New Roman" pitchFamily="18" charset="0"/>
                <a:ea typeface="MS PGothic" pitchFamily="34" charset="-128"/>
                <a:cs typeface="+mn-cs"/>
              </a:rPr>
              <a:t>The DISS project (Deployment and Impact of Support Staff) research  by the Education Endowment Foundation between 2003-8 </a:t>
            </a:r>
          </a:p>
          <a:p>
            <a:r>
              <a:rPr lang="en-GB" b="1" dirty="0" smtClean="0"/>
              <a:t>Found</a:t>
            </a:r>
            <a:r>
              <a:rPr lang="en-GB" b="1" baseline="0" dirty="0" smtClean="0"/>
              <a:t> there has</a:t>
            </a:r>
            <a:r>
              <a:rPr lang="en-GB" b="1" dirty="0" smtClean="0"/>
              <a:t> been a drift towards TAs taking on role of ‘primary educator’ for low attaining/SEN pupils.</a:t>
            </a:r>
          </a:p>
          <a:p>
            <a:endParaRPr lang="en-GB" b="1" dirty="0" smtClean="0"/>
          </a:p>
          <a:p>
            <a:r>
              <a:rPr lang="en-GB" b="1" dirty="0" smtClean="0"/>
              <a:t>Well meaning but flawed. </a:t>
            </a:r>
            <a:endParaRPr lang="en-GB" dirty="0" smtClean="0"/>
          </a:p>
          <a:p>
            <a:endParaRPr lang="en-GB" b="1" dirty="0" smtClean="0"/>
          </a:p>
          <a:p>
            <a:r>
              <a:rPr lang="en-GB" b="1" dirty="0" smtClean="0"/>
              <a:t>Associated with significantly lower learning outcomes.</a:t>
            </a:r>
            <a:endParaRPr lang="en-GB" sz="1200" b="1" i="0" u="none" strike="noStrike" kern="1200" baseline="0" dirty="0" smtClean="0">
              <a:solidFill>
                <a:schemeClr val="tx1"/>
              </a:solidFill>
              <a:latin typeface="Times New Roman" pitchFamily="18" charset="0"/>
              <a:ea typeface="MS PGothic" pitchFamily="34" charset="-128"/>
              <a:cs typeface="+mn-cs"/>
            </a:endParaRP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1" i="0" u="none" strike="noStrike" kern="1200" baseline="0" dirty="0" smtClean="0">
                <a:solidFill>
                  <a:schemeClr val="tx1"/>
                </a:solidFill>
                <a:latin typeface="Times New Roman" pitchFamily="18" charset="0"/>
                <a:ea typeface="MS PGothic" pitchFamily="34" charset="-128"/>
                <a:cs typeface="+mn-cs"/>
              </a:rPr>
              <a:t>Ensure that </a:t>
            </a:r>
            <a:r>
              <a:rPr lang="en-GB" sz="1200" b="1" i="0" u="none" strike="noStrike" kern="1200" baseline="0" dirty="0" smtClean="0">
                <a:solidFill>
                  <a:schemeClr val="tx1"/>
                </a:solidFill>
                <a:latin typeface="Times New Roman" pitchFamily="18" charset="0"/>
                <a:ea typeface="MS PGothic" pitchFamily="34" charset="-128"/>
                <a:cs typeface="+mn-cs"/>
              </a:rPr>
              <a:t>pupils </a:t>
            </a:r>
            <a:r>
              <a:rPr lang="en-GB" sz="1200" b="1" i="0" u="none" strike="noStrike" kern="1200" baseline="0" dirty="0" smtClean="0">
                <a:solidFill>
                  <a:schemeClr val="tx1"/>
                </a:solidFill>
                <a:latin typeface="Times New Roman" pitchFamily="18" charset="0"/>
                <a:ea typeface="MS PGothic" pitchFamily="34" charset="-128"/>
                <a:cs typeface="+mn-cs"/>
              </a:rPr>
              <a:t>with SEND receive as much time with teacher as other </a:t>
            </a:r>
            <a:r>
              <a:rPr lang="en-GB" sz="1200" b="1" i="0" u="none" strike="noStrike" kern="1200" baseline="0" dirty="0" smtClean="0">
                <a:solidFill>
                  <a:schemeClr val="tx1"/>
                </a:solidFill>
                <a:latin typeface="Times New Roman" pitchFamily="18" charset="0"/>
                <a:ea typeface="MS PGothic" pitchFamily="34" charset="-128"/>
                <a:cs typeface="+mn-cs"/>
              </a:rPr>
              <a:t>pupils</a:t>
            </a:r>
            <a:endParaRPr lang="en-GB" sz="1200" dirty="0" smtClean="0"/>
          </a:p>
          <a:p>
            <a:r>
              <a:rPr lang="en-GB" sz="1200" dirty="0" smtClean="0"/>
              <a:t>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38</a:t>
            </a:fld>
            <a:endParaRPr lang="en-GB"/>
          </a:p>
        </p:txBody>
      </p:sp>
    </p:spTree>
    <p:extLst>
      <p:ext uri="{BB962C8B-B14F-4D97-AF65-F5344CB8AC3E}">
        <p14:creationId xmlns="" xmlns:p14="http://schemas.microsoft.com/office/powerpoint/2010/main" val="3162690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1" i="0" u="none" strike="noStrike" kern="1200" baseline="0" dirty="0" smtClean="0">
                <a:solidFill>
                  <a:schemeClr val="tx1"/>
                </a:solidFill>
                <a:latin typeface="Times New Roman" pitchFamily="18" charset="0"/>
                <a:ea typeface="MS PGothic" pitchFamily="34" charset="-128"/>
                <a:cs typeface="+mn-cs"/>
              </a:rPr>
              <a:t>TA support works best and enhances outcomes when: </a:t>
            </a:r>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a:t>
            </a:r>
            <a:r>
              <a:rPr lang="en-GB" sz="1200" b="1" i="0" u="none" strike="noStrike" kern="1200" baseline="0" dirty="0" smtClean="0">
                <a:solidFill>
                  <a:schemeClr val="tx1"/>
                </a:solidFill>
                <a:latin typeface="Times New Roman" pitchFamily="18" charset="0"/>
                <a:ea typeface="MS PGothic" pitchFamily="34" charset="-128"/>
                <a:cs typeface="+mn-cs"/>
              </a:rPr>
              <a:t>TAs support learning activities rather than manage tasks </a:t>
            </a:r>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a:t>
            </a:r>
            <a:r>
              <a:rPr lang="en-GB" sz="1200" b="1" i="0" u="none" strike="noStrike" kern="1200" baseline="0" dirty="0" smtClean="0">
                <a:solidFill>
                  <a:schemeClr val="tx1"/>
                </a:solidFill>
                <a:latin typeface="Times New Roman" pitchFamily="18" charset="0"/>
                <a:ea typeface="MS PGothic" pitchFamily="34" charset="-128"/>
                <a:cs typeface="+mn-cs"/>
              </a:rPr>
              <a:t>TAs focus on the learning and not on completion of task </a:t>
            </a:r>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a:t>
            </a:r>
            <a:r>
              <a:rPr lang="en-GB" sz="1200" b="1" i="0" u="none" strike="noStrike" kern="1200" baseline="0" dirty="0" smtClean="0">
                <a:solidFill>
                  <a:schemeClr val="tx1"/>
                </a:solidFill>
                <a:latin typeface="Times New Roman" pitchFamily="18" charset="0"/>
                <a:ea typeface="MS PGothic" pitchFamily="34" charset="-128"/>
                <a:cs typeface="+mn-cs"/>
              </a:rPr>
              <a:t>Teachers do not reduce their support to the </a:t>
            </a:r>
            <a:r>
              <a:rPr lang="en-GB" sz="1200" b="1" i="0" u="none" strike="noStrike" kern="1200" baseline="0" dirty="0" smtClean="0">
                <a:solidFill>
                  <a:schemeClr val="tx1"/>
                </a:solidFill>
                <a:latin typeface="Times New Roman" pitchFamily="18" charset="0"/>
                <a:ea typeface="MS PGothic" pitchFamily="34" charset="-128"/>
                <a:cs typeface="+mn-cs"/>
              </a:rPr>
              <a:t>pupil </a:t>
            </a:r>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a:t>
            </a:r>
            <a:r>
              <a:rPr lang="en-GB" sz="1200" b="1" i="0" u="none" strike="noStrike" kern="1200" baseline="0" dirty="0" smtClean="0">
                <a:solidFill>
                  <a:schemeClr val="tx1"/>
                </a:solidFill>
                <a:latin typeface="Times New Roman" pitchFamily="18" charset="0"/>
                <a:ea typeface="MS PGothic" pitchFamily="34" charset="-128"/>
                <a:cs typeface="+mn-cs"/>
              </a:rPr>
              <a:t>Teachers and TAs have conversations about the learning. </a:t>
            </a:r>
            <a:endParaRPr lang="en-GB" sz="1200" b="0" i="0" u="none" strike="noStrike" kern="1200" baseline="0" dirty="0" smtClean="0">
              <a:solidFill>
                <a:schemeClr val="tx1"/>
              </a:solidFill>
              <a:latin typeface="Times New Roman" pitchFamily="18" charset="0"/>
              <a:ea typeface="MS PGothic" pitchFamily="34" charset="-128"/>
              <a:cs typeface="+mn-cs"/>
            </a:endParaRP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39</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Differentiation by outcome is a technique whereby all </a:t>
            </a:r>
            <a:r>
              <a:rPr lang="en-GB" dirty="0" smtClean="0"/>
              <a:t>pupils </a:t>
            </a:r>
            <a:r>
              <a:rPr lang="en-GB" dirty="0" smtClean="0"/>
              <a:t>undertake the same task but a variety of results is expected and acceptable. For example, the teacher sets a task but instead of working towards a single ‘right’ answer, the </a:t>
            </a:r>
            <a:r>
              <a:rPr lang="en-GB" dirty="0" smtClean="0"/>
              <a:t>pupils </a:t>
            </a:r>
            <a:r>
              <a:rPr lang="en-GB" dirty="0" smtClean="0"/>
              <a:t>arrive at a personalised outcome depending on their level of ability. </a:t>
            </a:r>
          </a:p>
          <a:p>
            <a:endParaRPr lang="en-GB" dirty="0" smtClean="0"/>
          </a:p>
          <a:p>
            <a:r>
              <a:rPr lang="en-GB" dirty="0" smtClean="0"/>
              <a:t>It’s a method about which some teachers have reservations as there is a risk that the less able </a:t>
            </a:r>
            <a:r>
              <a:rPr lang="en-GB" dirty="0" smtClean="0"/>
              <a:t>pupils </a:t>
            </a:r>
            <a:r>
              <a:rPr lang="en-GB" dirty="0" smtClean="0"/>
              <a:t>will fall below an acceptable level of understanding, however that risk can be mitigated somewhat by establishing a clear set of guidelines that apply to all </a:t>
            </a:r>
            <a:r>
              <a:rPr lang="en-GB" dirty="0" smtClean="0"/>
              <a:t>pupils</a:t>
            </a:r>
            <a:r>
              <a:rPr lang="en-GB" dirty="0" smtClean="0"/>
              <a:t>, and it does offer one clear advantage in that no prior grouping is necessary.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40</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Look at</a:t>
            </a:r>
            <a:r>
              <a:rPr lang="en-GB" baseline="0" dirty="0" smtClean="0"/>
              <a:t> squaring off, y/n cards, thumbs and fingers and cubing</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43</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1" i="0" u="none" strike="noStrike" kern="1200" baseline="0" dirty="0" smtClean="0">
                <a:solidFill>
                  <a:schemeClr val="tx1"/>
                </a:solidFill>
                <a:latin typeface="Times New Roman" pitchFamily="18" charset="0"/>
                <a:ea typeface="MS PGothic" pitchFamily="34" charset="-128"/>
                <a:cs typeface="+mn-cs"/>
              </a:rPr>
              <a:t>The effective management of teaching assistants to improve standards in literacy and mathematics.</a:t>
            </a:r>
            <a:r>
              <a:rPr lang="en-GB" sz="1200" b="0" i="0" u="none" strike="noStrike" kern="1200" baseline="0" dirty="0" smtClean="0">
                <a:solidFill>
                  <a:schemeClr val="tx1"/>
                </a:solidFill>
                <a:latin typeface="Times New Roman" pitchFamily="18" charset="0"/>
                <a:ea typeface="MS PGothic" pitchFamily="34" charset="-128"/>
                <a:cs typeface="+mn-cs"/>
              </a:rPr>
              <a:t> </a:t>
            </a:r>
            <a:r>
              <a:rPr lang="en-GB" sz="1200" b="0" i="0" u="none" strike="noStrike" kern="1200" baseline="0" dirty="0" err="1" smtClean="0">
                <a:solidFill>
                  <a:schemeClr val="tx1"/>
                </a:solidFill>
                <a:latin typeface="Times New Roman" pitchFamily="18" charset="0"/>
                <a:ea typeface="MS PGothic" pitchFamily="34" charset="-128"/>
                <a:cs typeface="+mn-cs"/>
              </a:rPr>
              <a:t>DfES</a:t>
            </a:r>
            <a:r>
              <a:rPr lang="en-GB" sz="1200" b="0" i="0" u="none" strike="noStrike" kern="1200" baseline="0" dirty="0" smtClean="0">
                <a:solidFill>
                  <a:schemeClr val="tx1"/>
                </a:solidFill>
                <a:latin typeface="Times New Roman" pitchFamily="18" charset="0"/>
                <a:ea typeface="MS PGothic" pitchFamily="34" charset="-128"/>
                <a:cs typeface="+mn-cs"/>
              </a:rPr>
              <a:t> 1228-2005 G </a:t>
            </a:r>
          </a:p>
          <a:p>
            <a:r>
              <a:rPr lang="en-GB" sz="1200" b="0" i="0" u="none" strike="noStrike" kern="1200" baseline="0" dirty="0" smtClean="0">
                <a:solidFill>
                  <a:schemeClr val="tx1"/>
                </a:solidFill>
                <a:latin typeface="Times New Roman" pitchFamily="18" charset="0"/>
                <a:ea typeface="MS PGothic" pitchFamily="34" charset="-128"/>
                <a:cs typeface="+mn-cs"/>
              </a:rPr>
              <a:t>http://teachfind.com/search/apachesolr_search/The%20effective%20management%20of%20teaching%20assistants</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1" i="0" u="none" strike="noStrike" kern="1200" baseline="0" dirty="0" smtClean="0">
                <a:solidFill>
                  <a:schemeClr val="tx1"/>
                </a:solidFill>
                <a:latin typeface="Times New Roman" pitchFamily="18" charset="0"/>
                <a:ea typeface="MS PGothic" pitchFamily="34" charset="-128"/>
                <a:cs typeface="+mn-cs"/>
              </a:rPr>
              <a:t>Effective leadership: ensuring the progress of pupils with SEN and/ or disabilities </a:t>
            </a:r>
          </a:p>
          <a:p>
            <a:r>
              <a:rPr lang="en-GB" sz="1200" b="0" i="0" u="none" strike="noStrike" kern="1200" baseline="0" dirty="0" smtClean="0">
                <a:solidFill>
                  <a:schemeClr val="tx1"/>
                </a:solidFill>
                <a:latin typeface="Times New Roman" pitchFamily="18" charset="0"/>
                <a:ea typeface="MS PGothic" pitchFamily="34" charset="-128"/>
                <a:cs typeface="+mn-cs"/>
              </a:rPr>
              <a:t>http://teachfind.com/national-strategies/effective-leadership-ensuring-progress-pupils-sen-–-deployment-teaching-</a:t>
            </a:r>
            <a:r>
              <a:rPr lang="en-GB" sz="1200" b="0" i="0" u="none" strike="noStrike" kern="1200" baseline="0" dirty="0" err="1" smtClean="0">
                <a:solidFill>
                  <a:schemeClr val="tx1"/>
                </a:solidFill>
                <a:latin typeface="Times New Roman" pitchFamily="18" charset="0"/>
                <a:ea typeface="MS PGothic" pitchFamily="34" charset="-128"/>
                <a:cs typeface="+mn-cs"/>
              </a:rPr>
              <a:t>assistan?current_search</a:t>
            </a:r>
            <a:r>
              <a:rPr lang="en-GB" sz="1200" b="0" i="0" u="none" strike="noStrike" kern="1200" baseline="0" dirty="0" smtClean="0">
                <a:solidFill>
                  <a:schemeClr val="tx1"/>
                </a:solidFill>
                <a:latin typeface="Times New Roman" pitchFamily="18" charset="0"/>
                <a:ea typeface="MS PGothic" pitchFamily="34" charset="-128"/>
                <a:cs typeface="+mn-cs"/>
              </a:rPr>
              <a:t>=Effective%20leadership%3A%20ensuring%20the%20progress </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1" i="0" u="none" strike="noStrike" kern="1200" baseline="0" dirty="0" smtClean="0">
                <a:solidFill>
                  <a:schemeClr val="tx1"/>
                </a:solidFill>
                <a:latin typeface="Times New Roman" pitchFamily="18" charset="0"/>
                <a:ea typeface="MS PGothic" pitchFamily="34" charset="-128"/>
                <a:cs typeface="+mn-cs"/>
              </a:rPr>
              <a:t>What works for children with literacy difficulties </a:t>
            </a:r>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http://www.interventionsforliteracy.org.uk/widgets_GregBrooks/What_works_for_children_fourth_ed.pdf </a:t>
            </a:r>
          </a:p>
          <a:p>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1" i="0" u="none" strike="noStrike" kern="1200" baseline="0" dirty="0" smtClean="0">
                <a:solidFill>
                  <a:schemeClr val="tx1"/>
                </a:solidFill>
                <a:latin typeface="Times New Roman" pitchFamily="18" charset="0"/>
                <a:ea typeface="MS PGothic" pitchFamily="34" charset="-128"/>
                <a:cs typeface="+mn-cs"/>
              </a:rPr>
              <a:t>What works for children with mathematical difficulties </a:t>
            </a:r>
            <a:endParaRPr lang="en-GB" sz="1200" b="0" i="0" u="none" strike="noStrike" kern="1200" baseline="0" dirty="0" smtClean="0">
              <a:solidFill>
                <a:schemeClr val="tx1"/>
              </a:solidFill>
              <a:latin typeface="Times New Roman" pitchFamily="18" charset="0"/>
              <a:ea typeface="MS PGothic" pitchFamily="34" charset="-128"/>
              <a:cs typeface="+mn-cs"/>
            </a:endParaRPr>
          </a:p>
          <a:p>
            <a:r>
              <a:rPr lang="en-GB" sz="1200" b="0" i="0" u="none" strike="noStrike" kern="1200" baseline="0" dirty="0" smtClean="0">
                <a:solidFill>
                  <a:schemeClr val="tx1"/>
                </a:solidFill>
                <a:latin typeface="Times New Roman" pitchFamily="18" charset="0"/>
                <a:ea typeface="MS PGothic" pitchFamily="34" charset="-128"/>
                <a:cs typeface="+mn-cs"/>
              </a:rPr>
              <a:t>http://www.nationalnumeracy.org.uk/resources/22/index.html%20 </a:t>
            </a:r>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45</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 xmlns:p14="http://schemas.microsoft.com/office/powerpoint/2010/main" val="2942334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1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jpeg"/><Relationship Id="rId4" Type="http://schemas.openxmlformats.org/officeDocument/2006/relationships/image" Target="../media/image2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www.visualaidsforlearning.com/"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www.eal.britishcouncil.org/" TargetMode="External"/><Relationship Id="rId4" Type="http://schemas.openxmlformats.org/officeDocument/2006/relationships/hyperlink" Target="http://mrcrammond.com/writing_frames.ht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865913" y="1272480"/>
            <a:ext cx="5279897" cy="1139850"/>
          </a:xfrm>
        </p:spPr>
        <p:txBody>
          <a:bodyPr>
            <a:noAutofit/>
          </a:bodyPr>
          <a:lstStyle/>
          <a:p>
            <a:pPr marL="0" indent="0" algn="ctr">
              <a:buNone/>
            </a:pPr>
            <a:r>
              <a:rPr lang="en-GB" sz="4400" b="1" dirty="0" smtClean="0">
                <a:solidFill>
                  <a:schemeClr val="bg1"/>
                </a:solidFill>
              </a:rPr>
              <a:t>Supporting pupils using differentiated instruction </a:t>
            </a:r>
            <a:endParaRPr lang="en-GB" sz="4400" dirty="0">
              <a:solidFill>
                <a:schemeClr val="bg1"/>
              </a:solidFill>
            </a:endParaRPr>
          </a:p>
        </p:txBody>
      </p:sp>
      <p:sp>
        <p:nvSpPr>
          <p:cNvPr id="3" name="Text Placeholder 2"/>
          <p:cNvSpPr>
            <a:spLocks noGrp="1"/>
          </p:cNvSpPr>
          <p:nvPr>
            <p:ph type="body" sz="quarter" idx="4294967295"/>
          </p:nvPr>
        </p:nvSpPr>
        <p:spPr>
          <a:xfrm>
            <a:off x="1939925" y="3452649"/>
            <a:ext cx="5280025" cy="1241982"/>
          </a:xfrm>
        </p:spPr>
        <p:txBody>
          <a:bodyPr>
            <a:noAutofit/>
          </a:bodyPr>
          <a:lstStyle/>
          <a:p>
            <a:pPr algn="ctr">
              <a:buNone/>
            </a:pPr>
            <a:r>
              <a:rPr lang="en-GB" sz="2000" b="1" dirty="0" smtClean="0">
                <a:solidFill>
                  <a:schemeClr val="bg1"/>
                </a:solidFill>
              </a:rPr>
              <a:t>Aims: </a:t>
            </a:r>
          </a:p>
          <a:p>
            <a:endParaRPr lang="en-GB" sz="500" u="sng" dirty="0" smtClean="0">
              <a:solidFill>
                <a:schemeClr val="bg1"/>
              </a:solidFill>
            </a:endParaRPr>
          </a:p>
          <a:p>
            <a:pPr>
              <a:buFont typeface="Arial" panose="020B0604020202020204" pitchFamily="34" charset="0"/>
              <a:buChar char="•"/>
            </a:pPr>
            <a:r>
              <a:rPr lang="en-GB" altLang="en-US" sz="1800" dirty="0" smtClean="0">
                <a:solidFill>
                  <a:schemeClr val="bg1"/>
                </a:solidFill>
                <a:ea typeface="ＭＳ Ｐゴシック" pitchFamily="-111" charset="-128"/>
              </a:rPr>
              <a:t>To discuss the teaching responsibilities  in ensuring lessons meet the needs of all learners</a:t>
            </a:r>
          </a:p>
          <a:p>
            <a:endParaRPr lang="en-GB" altLang="en-US" sz="1050" dirty="0" smtClean="0">
              <a:solidFill>
                <a:schemeClr val="bg1"/>
              </a:solidFill>
              <a:ea typeface="ＭＳ Ｐゴシック" pitchFamily="-111" charset="-128"/>
            </a:endParaRPr>
          </a:p>
          <a:p>
            <a:pPr>
              <a:buFont typeface="Arial" panose="020B0604020202020204" pitchFamily="34" charset="0"/>
              <a:buChar char="•"/>
            </a:pPr>
            <a:r>
              <a:rPr lang="en-GB" altLang="en-US" sz="1800" dirty="0" smtClean="0">
                <a:solidFill>
                  <a:schemeClr val="bg1"/>
                </a:solidFill>
                <a:ea typeface="ＭＳ Ｐゴシック" pitchFamily="-111" charset="-128"/>
              </a:rPr>
              <a:t>To raise awareness of a range  strategies to differentiate the curriculum</a:t>
            </a:r>
          </a:p>
          <a:p>
            <a:pPr marL="0" indent="0">
              <a:buNone/>
            </a:pPr>
            <a:endParaRPr lang="en-GB" sz="1800" dirty="0">
              <a:solidFill>
                <a:schemeClr val="bg1"/>
              </a:solidFill>
            </a:endParaRPr>
          </a:p>
        </p:txBody>
      </p:sp>
    </p:spTree>
    <p:extLst>
      <p:ext uri="{BB962C8B-B14F-4D97-AF65-F5344CB8AC3E}">
        <p14:creationId xmlns="" xmlns:p14="http://schemas.microsoft.com/office/powerpoint/2010/main" val="4188623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3393520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Image result for you must all climb a tree"/>
          <p:cNvPicPr>
            <a:picLocks noChangeAspect="1" noChangeArrowheads="1"/>
          </p:cNvPicPr>
          <p:nvPr/>
        </p:nvPicPr>
        <p:blipFill>
          <a:blip r:embed="rId2"/>
          <a:srcRect/>
          <a:stretch>
            <a:fillRect/>
          </a:stretch>
        </p:blipFill>
        <p:spPr bwMode="auto">
          <a:xfrm>
            <a:off x="3504325" y="589894"/>
            <a:ext cx="5148316" cy="5667474"/>
          </a:xfrm>
          <a:prstGeom prst="rect">
            <a:avLst/>
          </a:prstGeom>
          <a:noFill/>
        </p:spPr>
      </p:pic>
      <p:sp>
        <p:nvSpPr>
          <p:cNvPr id="5" name="TextBox 4"/>
          <p:cNvSpPr txBox="1"/>
          <p:nvPr/>
        </p:nvSpPr>
        <p:spPr>
          <a:xfrm>
            <a:off x="441434" y="589894"/>
            <a:ext cx="2853559" cy="5632311"/>
          </a:xfrm>
          <a:prstGeom prst="rect">
            <a:avLst/>
          </a:prstGeom>
          <a:noFill/>
        </p:spPr>
        <p:txBody>
          <a:bodyPr wrap="square" rtlCol="0">
            <a:spAutoFit/>
          </a:bodyPr>
          <a:lstStyle/>
          <a:p>
            <a:pPr algn="ctr"/>
            <a:r>
              <a:rPr lang="en-GB" sz="7200" b="1" dirty="0" smtClean="0"/>
              <a:t>WE</a:t>
            </a:r>
          </a:p>
          <a:p>
            <a:pPr algn="ctr"/>
            <a:r>
              <a:rPr lang="en-GB" sz="7200" b="1" dirty="0" smtClean="0"/>
              <a:t>ARE</a:t>
            </a:r>
          </a:p>
          <a:p>
            <a:pPr algn="ctr"/>
            <a:r>
              <a:rPr lang="en-GB" sz="7200" b="1" dirty="0" smtClean="0"/>
              <a:t>NOT</a:t>
            </a:r>
          </a:p>
          <a:p>
            <a:pPr algn="ctr"/>
            <a:r>
              <a:rPr lang="en-GB" sz="7200" b="1" dirty="0" smtClean="0"/>
              <a:t>THE</a:t>
            </a:r>
          </a:p>
          <a:p>
            <a:pPr algn="ctr"/>
            <a:r>
              <a:rPr lang="en-GB" sz="7200" b="1" dirty="0" smtClean="0"/>
              <a:t>SAME</a:t>
            </a:r>
            <a:endParaRPr lang="en-GB" sz="72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9"/>
          <p:cNvSpPr>
            <a:spLocks noGrp="1"/>
          </p:cNvSpPr>
          <p:nvPr>
            <p:ph type="body" sz="quarter" idx="4294967295"/>
          </p:nvPr>
        </p:nvSpPr>
        <p:spPr>
          <a:xfrm>
            <a:off x="772511" y="1176587"/>
            <a:ext cx="7704516" cy="4955272"/>
          </a:xfrm>
        </p:spPr>
        <p:txBody>
          <a:bodyPr>
            <a:normAutofit/>
          </a:bodyPr>
          <a:lstStyle/>
          <a:p>
            <a:pPr marL="0" indent="0">
              <a:lnSpc>
                <a:spcPts val="3000"/>
              </a:lnSpc>
              <a:spcAft>
                <a:spcPts val="1200"/>
              </a:spcAft>
              <a:buNone/>
            </a:pPr>
            <a:endParaRPr lang="en-GB" sz="4000" dirty="0" smtClean="0">
              <a:solidFill>
                <a:schemeClr val="bg2">
                  <a:lumMod val="25000"/>
                </a:schemeClr>
              </a:solidFill>
            </a:endParaRPr>
          </a:p>
          <a:p>
            <a:pPr marL="0" indent="0" algn="ctr">
              <a:lnSpc>
                <a:spcPts val="3000"/>
              </a:lnSpc>
              <a:spcAft>
                <a:spcPts val="1200"/>
              </a:spcAft>
              <a:buNone/>
            </a:pPr>
            <a:r>
              <a:rPr lang="en-GB" sz="4400" dirty="0" smtClean="0">
                <a:solidFill>
                  <a:srgbClr val="532921"/>
                </a:solidFill>
                <a:latin typeface="Calibri" pitchFamily="34" charset="0"/>
              </a:rPr>
              <a:t>Class and subject teachers, supported by the senior leadership team, should make regular assessments of progress for all pupils. These should seek to identify pupils making </a:t>
            </a:r>
            <a:r>
              <a:rPr lang="en-GB" sz="4400" b="1" dirty="0" smtClean="0">
                <a:solidFill>
                  <a:srgbClr val="532921"/>
                </a:solidFill>
                <a:latin typeface="Calibri" pitchFamily="34" charset="0"/>
              </a:rPr>
              <a:t>above</a:t>
            </a:r>
            <a:r>
              <a:rPr lang="en-GB" sz="4400" dirty="0" smtClean="0">
                <a:solidFill>
                  <a:srgbClr val="532921"/>
                </a:solidFill>
                <a:latin typeface="Calibri" pitchFamily="34" charset="0"/>
              </a:rPr>
              <a:t> and </a:t>
            </a:r>
            <a:r>
              <a:rPr lang="en-GB" sz="4400" b="1" dirty="0" smtClean="0">
                <a:solidFill>
                  <a:srgbClr val="532921"/>
                </a:solidFill>
                <a:latin typeface="Calibri" pitchFamily="34" charset="0"/>
              </a:rPr>
              <a:t>below expected progress</a:t>
            </a:r>
            <a:r>
              <a:rPr lang="en-GB" sz="4400" dirty="0" smtClean="0">
                <a:solidFill>
                  <a:srgbClr val="532921"/>
                </a:solidFill>
                <a:latin typeface="Calibri" pitchFamily="34" charset="0"/>
              </a:rPr>
              <a:t> given their age and individual circumstances. </a:t>
            </a:r>
          </a:p>
          <a:p>
            <a:pPr marL="0" indent="0">
              <a:lnSpc>
                <a:spcPts val="3000"/>
              </a:lnSpc>
              <a:spcAft>
                <a:spcPts val="1200"/>
              </a:spcAft>
              <a:buNone/>
            </a:pPr>
            <a:endParaRPr lang="en-GB" sz="2800" dirty="0" smtClean="0">
              <a:solidFill>
                <a:srgbClr val="47434F"/>
              </a:solidFill>
              <a:latin typeface="+mn-lt"/>
            </a:endParaRPr>
          </a:p>
        </p:txBody>
      </p:sp>
      <p:sp>
        <p:nvSpPr>
          <p:cNvPr id="3" name="Rectangle 2"/>
          <p:cNvSpPr/>
          <p:nvPr/>
        </p:nvSpPr>
        <p:spPr>
          <a:xfrm>
            <a:off x="1355834" y="422534"/>
            <a:ext cx="6499565" cy="830997"/>
          </a:xfrm>
          <a:prstGeom prst="rect">
            <a:avLst/>
          </a:prstGeom>
        </p:spPr>
        <p:txBody>
          <a:bodyPr wrap="square">
            <a:spAutoFit/>
          </a:bodyPr>
          <a:lstStyle/>
          <a:p>
            <a:pPr algn="ctr"/>
            <a:r>
              <a:rPr lang="en-GB" sz="4800" b="1" dirty="0" smtClean="0">
                <a:solidFill>
                  <a:srgbClr val="532921"/>
                </a:solidFill>
                <a:latin typeface="+mj-lt"/>
              </a:rPr>
              <a:t>Teacher responsibilities</a:t>
            </a:r>
            <a:endParaRPr lang="en-GB" sz="4800" b="1" dirty="0">
              <a:solidFill>
                <a:srgbClr val="532921"/>
              </a:solidFill>
              <a:latin typeface="+mj-lt"/>
            </a:endParaRPr>
          </a:p>
        </p:txBody>
      </p:sp>
    </p:spTree>
    <p:extLst>
      <p:ext uri="{BB962C8B-B14F-4D97-AF65-F5344CB8AC3E}">
        <p14:creationId xmlns="" xmlns:p14="http://schemas.microsoft.com/office/powerpoint/2010/main" val="1974192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2055" y="2585545"/>
            <a:ext cx="7283669" cy="2862322"/>
          </a:xfrm>
          <a:prstGeom prst="rect">
            <a:avLst/>
          </a:prstGeom>
        </p:spPr>
        <p:txBody>
          <a:bodyPr wrap="square">
            <a:spAutoFit/>
          </a:bodyPr>
          <a:lstStyle/>
          <a:p>
            <a:pPr algn="ctr"/>
            <a:r>
              <a:rPr lang="en-GB" sz="3600" dirty="0" smtClean="0">
                <a:solidFill>
                  <a:schemeClr val="bg2">
                    <a:lumMod val="25000"/>
                  </a:schemeClr>
                </a:solidFill>
              </a:rPr>
              <a:t>The first response to such progress should be high quality teaching targeted at their areas of weakness. </a:t>
            </a:r>
          </a:p>
          <a:p>
            <a:pPr algn="ctr"/>
            <a:endParaRPr lang="en-GB" sz="3600" dirty="0" smtClean="0">
              <a:solidFill>
                <a:schemeClr val="bg2">
                  <a:lumMod val="25000"/>
                </a:schemeClr>
              </a:solidFill>
            </a:endParaRPr>
          </a:p>
          <a:p>
            <a:pPr algn="ctr"/>
            <a:r>
              <a:rPr lang="en-GB" sz="3600" b="1" dirty="0" smtClean="0">
                <a:solidFill>
                  <a:schemeClr val="bg2">
                    <a:lumMod val="25000"/>
                  </a:schemeClr>
                </a:solidFill>
              </a:rPr>
              <a:t>What does this look like in practice?</a:t>
            </a:r>
            <a:endParaRPr lang="en-GB" sz="3600" b="1" dirty="0">
              <a:solidFill>
                <a:schemeClr val="bg2">
                  <a:lumMod val="25000"/>
                </a:schemeClr>
              </a:solidFill>
            </a:endParaRPr>
          </a:p>
        </p:txBody>
      </p:sp>
      <p:sp>
        <p:nvSpPr>
          <p:cNvPr id="3" name="Rectangle 2"/>
          <p:cNvSpPr/>
          <p:nvPr/>
        </p:nvSpPr>
        <p:spPr>
          <a:xfrm>
            <a:off x="2658784" y="765785"/>
            <a:ext cx="4472058" cy="769441"/>
          </a:xfrm>
          <a:prstGeom prst="rect">
            <a:avLst/>
          </a:prstGeom>
        </p:spPr>
        <p:txBody>
          <a:bodyPr wrap="none">
            <a:spAutoFit/>
          </a:bodyPr>
          <a:lstStyle/>
          <a:p>
            <a:r>
              <a:rPr lang="en-GB" sz="4400" b="1" dirty="0" smtClean="0">
                <a:solidFill>
                  <a:schemeClr val="bg2">
                    <a:lumMod val="25000"/>
                  </a:schemeClr>
                </a:solidFill>
                <a:latin typeface="+mj-lt"/>
              </a:rPr>
              <a:t>Teacher responses</a:t>
            </a:r>
            <a:endParaRPr lang="en-GB" sz="4400" b="1" dirty="0">
              <a:latin typeface="+mj-lt"/>
            </a:endParaRPr>
          </a:p>
        </p:txBody>
      </p:sp>
    </p:spTree>
    <p:extLst>
      <p:ext uri="{BB962C8B-B14F-4D97-AF65-F5344CB8AC3E}">
        <p14:creationId xmlns="" xmlns:p14="http://schemas.microsoft.com/office/powerpoint/2010/main" val="27768894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6385" y="614856"/>
            <a:ext cx="7930055" cy="4524315"/>
          </a:xfrm>
          <a:prstGeom prst="rect">
            <a:avLst/>
          </a:prstGeom>
          <a:noFill/>
        </p:spPr>
        <p:txBody>
          <a:bodyPr wrap="square" rtlCol="0">
            <a:spAutoFit/>
          </a:bodyPr>
          <a:lstStyle/>
          <a:p>
            <a:pPr algn="ctr"/>
            <a:endParaRPr lang="en-GB" sz="9600" dirty="0" smtClean="0"/>
          </a:p>
          <a:p>
            <a:pPr algn="ctr"/>
            <a:r>
              <a:rPr lang="en-GB" sz="9600" b="1" dirty="0" smtClean="0">
                <a:solidFill>
                  <a:srgbClr val="0070C0"/>
                </a:solidFill>
              </a:rPr>
              <a:t>Differentiation</a:t>
            </a:r>
          </a:p>
          <a:p>
            <a:pPr algn="ctr"/>
            <a:r>
              <a:rPr lang="en-GB" sz="9600" b="1" dirty="0" smtClean="0">
                <a:solidFill>
                  <a:srgbClr val="0070C0"/>
                </a:solidFill>
              </a:rPr>
              <a:t>APDR</a:t>
            </a:r>
            <a:endParaRPr lang="en-GB" sz="9600" b="1" dirty="0">
              <a:solidFill>
                <a:srgbClr val="0070C0"/>
              </a:solidFill>
            </a:endParaRPr>
          </a:p>
        </p:txBody>
      </p:sp>
      <p:pic>
        <p:nvPicPr>
          <p:cNvPr id="4" name="Picture 2" descr="C:\Users\Clair\AppData\Local\Microsoft\Windows\INetCache\IE\UE55AERD\single_file_line_pc_800_clr[1].png"/>
          <p:cNvPicPr>
            <a:picLocks noChangeAspect="1" noChangeArrowheads="1"/>
          </p:cNvPicPr>
          <p:nvPr/>
        </p:nvPicPr>
        <p:blipFill>
          <a:blip r:embed="rId2"/>
          <a:srcRect/>
          <a:stretch>
            <a:fillRect/>
          </a:stretch>
        </p:blipFill>
        <p:spPr bwMode="auto">
          <a:xfrm>
            <a:off x="2971800" y="614856"/>
            <a:ext cx="3192517" cy="1836683"/>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3683" y="2207172"/>
            <a:ext cx="7930055" cy="2554545"/>
          </a:xfrm>
          <a:prstGeom prst="rect">
            <a:avLst/>
          </a:prstGeom>
        </p:spPr>
        <p:txBody>
          <a:bodyPr wrap="square">
            <a:spAutoFit/>
          </a:bodyPr>
          <a:lstStyle/>
          <a:p>
            <a:r>
              <a:rPr lang="en-GB" sz="3200" dirty="0" smtClean="0">
                <a:solidFill>
                  <a:srgbClr val="833F8C"/>
                </a:solidFill>
              </a:rPr>
              <a:t>Differentiation is defined by the Training and Development Agency for Schools as ‘the process by which differences between learners are accommodated so that all </a:t>
            </a:r>
            <a:r>
              <a:rPr lang="en-GB" sz="3200" dirty="0" smtClean="0">
                <a:solidFill>
                  <a:srgbClr val="833F8C"/>
                </a:solidFill>
              </a:rPr>
              <a:t>pupils </a:t>
            </a:r>
            <a:r>
              <a:rPr lang="en-GB" sz="3200" dirty="0" smtClean="0">
                <a:solidFill>
                  <a:srgbClr val="833F8C"/>
                </a:solidFill>
              </a:rPr>
              <a:t>in a group have the best possible chance of learning’. </a:t>
            </a:r>
            <a:endParaRPr lang="en-GB" sz="3200" dirty="0">
              <a:solidFill>
                <a:srgbClr val="833F8C"/>
              </a:solidFill>
            </a:endParaRPr>
          </a:p>
        </p:txBody>
      </p:sp>
      <p:sp>
        <p:nvSpPr>
          <p:cNvPr id="3" name="Rectangle 2"/>
          <p:cNvSpPr/>
          <p:nvPr/>
        </p:nvSpPr>
        <p:spPr>
          <a:xfrm>
            <a:off x="2903465" y="1144158"/>
            <a:ext cx="3465803" cy="923330"/>
          </a:xfrm>
          <a:prstGeom prst="rect">
            <a:avLst/>
          </a:prstGeom>
        </p:spPr>
        <p:txBody>
          <a:bodyPr wrap="square">
            <a:spAutoFit/>
          </a:bodyPr>
          <a:lstStyle/>
          <a:p>
            <a:r>
              <a:rPr lang="en-GB" sz="5400" b="1" dirty="0" smtClean="0">
                <a:solidFill>
                  <a:srgbClr val="7030A0"/>
                </a:solidFill>
                <a:latin typeface="+mj-lt"/>
              </a:rPr>
              <a:t>Definition</a:t>
            </a:r>
            <a:endParaRPr lang="en-GB" sz="5400" b="1" dirty="0">
              <a:solidFill>
                <a:srgbClr val="7030A0"/>
              </a:solidFill>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5571" y="772511"/>
            <a:ext cx="7362497" cy="3477875"/>
          </a:xfrm>
          <a:prstGeom prst="rect">
            <a:avLst/>
          </a:prstGeom>
        </p:spPr>
        <p:txBody>
          <a:bodyPr wrap="square">
            <a:spAutoFit/>
          </a:bodyPr>
          <a:lstStyle/>
          <a:p>
            <a:pPr algn="ctr"/>
            <a:r>
              <a:rPr lang="en-GB" sz="4400" b="1" dirty="0" smtClean="0">
                <a:solidFill>
                  <a:schemeClr val="bg1">
                    <a:lumMod val="50000"/>
                  </a:schemeClr>
                </a:solidFill>
              </a:rPr>
              <a:t>Discussion Question </a:t>
            </a:r>
          </a:p>
          <a:p>
            <a:pPr algn="ctr"/>
            <a:endParaRPr lang="en-GB" sz="4400" dirty="0" smtClean="0">
              <a:solidFill>
                <a:schemeClr val="bg1">
                  <a:lumMod val="50000"/>
                </a:schemeClr>
              </a:solidFill>
            </a:endParaRPr>
          </a:p>
          <a:p>
            <a:pPr algn="ctr"/>
            <a:r>
              <a:rPr lang="en-GB" sz="4400" dirty="0" smtClean="0">
                <a:solidFill>
                  <a:schemeClr val="bg1">
                    <a:lumMod val="50000"/>
                  </a:schemeClr>
                </a:solidFill>
              </a:rPr>
              <a:t>What are you already doing to differentiate instruction in your classroom?</a:t>
            </a:r>
            <a:endParaRPr lang="en-GB" sz="4400" dirty="0">
              <a:solidFill>
                <a:schemeClr val="bg1">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3324" y="567559"/>
            <a:ext cx="7583214" cy="5632311"/>
          </a:xfrm>
          <a:prstGeom prst="rect">
            <a:avLst/>
          </a:prstGeom>
        </p:spPr>
        <p:txBody>
          <a:bodyPr wrap="square">
            <a:spAutoFit/>
          </a:bodyPr>
          <a:lstStyle/>
          <a:p>
            <a:pPr algn="ctr"/>
            <a:r>
              <a:rPr lang="en-GB" sz="4000" b="1" dirty="0" smtClean="0">
                <a:solidFill>
                  <a:schemeClr val="accent6">
                    <a:lumMod val="50000"/>
                  </a:schemeClr>
                </a:solidFill>
              </a:rPr>
              <a:t>Key Principles of a Differentiated </a:t>
            </a:r>
            <a:r>
              <a:rPr lang="en-GB" sz="4000" b="1" dirty="0" smtClean="0">
                <a:solidFill>
                  <a:schemeClr val="accent6">
                    <a:lumMod val="50000"/>
                  </a:schemeClr>
                </a:solidFill>
              </a:rPr>
              <a:t>Classroom</a:t>
            </a:r>
          </a:p>
          <a:p>
            <a:endParaRPr lang="en-GB" sz="4000" dirty="0" smtClean="0">
              <a:solidFill>
                <a:schemeClr val="accent6">
                  <a:lumMod val="50000"/>
                </a:schemeClr>
              </a:solidFill>
            </a:endParaRPr>
          </a:p>
          <a:p>
            <a:r>
              <a:rPr lang="en-GB" sz="2400" dirty="0" smtClean="0">
                <a:solidFill>
                  <a:schemeClr val="accent6">
                    <a:lumMod val="50000"/>
                  </a:schemeClr>
                </a:solidFill>
              </a:rPr>
              <a:t>• The teacher is clear about what matters in subject matter.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The teacher understands, appreciates, and builds upon </a:t>
            </a:r>
            <a:r>
              <a:rPr lang="en-GB" sz="2400" dirty="0" smtClean="0">
                <a:solidFill>
                  <a:schemeClr val="accent6">
                    <a:lumMod val="50000"/>
                  </a:schemeClr>
                </a:solidFill>
              </a:rPr>
              <a:t>pupil </a:t>
            </a:r>
            <a:r>
              <a:rPr lang="en-GB" sz="2400" dirty="0" smtClean="0">
                <a:solidFill>
                  <a:schemeClr val="accent6">
                    <a:lumMod val="50000"/>
                  </a:schemeClr>
                </a:solidFill>
              </a:rPr>
              <a:t>differences.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Assessment and instruction are inseparable.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The teacher adjusts content, process, and product in response to </a:t>
            </a:r>
            <a:r>
              <a:rPr lang="en-GB" sz="2400" dirty="0" smtClean="0">
                <a:solidFill>
                  <a:schemeClr val="accent6">
                    <a:lumMod val="50000"/>
                  </a:schemeClr>
                </a:solidFill>
              </a:rPr>
              <a:t>pupil </a:t>
            </a:r>
            <a:r>
              <a:rPr lang="en-GB" sz="2400" dirty="0" smtClean="0">
                <a:solidFill>
                  <a:schemeClr val="accent6">
                    <a:lumMod val="50000"/>
                  </a:schemeClr>
                </a:solidFill>
              </a:rPr>
              <a:t>readiness, interests, and learning profile.  </a:t>
            </a:r>
            <a:endParaRPr lang="en-GB" sz="2400" dirty="0" smtClean="0">
              <a:solidFill>
                <a:schemeClr val="accent6">
                  <a:lumMod val="50000"/>
                </a:schemeClr>
              </a:solidFill>
            </a:endParaRPr>
          </a:p>
          <a:p>
            <a:r>
              <a:rPr lang="en-GB" sz="2400" dirty="0" smtClean="0">
                <a:solidFill>
                  <a:schemeClr val="accent6">
                    <a:lumMod val="50000"/>
                  </a:schemeClr>
                </a:solidFill>
              </a:rPr>
              <a:t>• Pupils </a:t>
            </a:r>
            <a:r>
              <a:rPr lang="en-GB" sz="2400" dirty="0" smtClean="0">
                <a:solidFill>
                  <a:schemeClr val="accent6">
                    <a:lumMod val="50000"/>
                  </a:schemeClr>
                </a:solidFill>
              </a:rPr>
              <a:t>and teachers are collaborators in learning.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Goals of a differentiated classroom are maximum growth and individual success.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Flexibility is the hallmark of a differentiated classroom</a:t>
            </a:r>
            <a:endParaRPr lang="en-GB" sz="2400" dirty="0">
              <a:solidFill>
                <a:schemeClr val="accent6">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6745" y="488732"/>
            <a:ext cx="6101255" cy="5693866"/>
          </a:xfrm>
          <a:prstGeom prst="rect">
            <a:avLst/>
          </a:prstGeom>
        </p:spPr>
        <p:txBody>
          <a:bodyPr wrap="square">
            <a:spAutoFit/>
          </a:bodyPr>
          <a:lstStyle/>
          <a:p>
            <a:r>
              <a:rPr lang="en-GB" sz="4000" b="1" dirty="0" smtClean="0">
                <a:solidFill>
                  <a:srgbClr val="0070C0"/>
                </a:solidFill>
              </a:rPr>
              <a:t>Differentiated Classroom </a:t>
            </a:r>
          </a:p>
          <a:p>
            <a:r>
              <a:rPr lang="en-GB" sz="3600" dirty="0" smtClean="0">
                <a:solidFill>
                  <a:srgbClr val="0070C0"/>
                </a:solidFill>
              </a:rPr>
              <a:t>• Assessment drives instruction. </a:t>
            </a:r>
          </a:p>
          <a:p>
            <a:r>
              <a:rPr lang="en-GB" sz="3600" dirty="0" smtClean="0">
                <a:solidFill>
                  <a:srgbClr val="0070C0"/>
                </a:solidFill>
              </a:rPr>
              <a:t>• Assessment occurs consistently as the unit begins, throughout the unit and as the unit ends. </a:t>
            </a:r>
          </a:p>
          <a:p>
            <a:r>
              <a:rPr lang="en-GB" sz="3600" dirty="0" smtClean="0">
                <a:solidFill>
                  <a:srgbClr val="0070C0"/>
                </a:solidFill>
              </a:rPr>
              <a:t>• Teachers assess </a:t>
            </a:r>
            <a:r>
              <a:rPr lang="en-GB" sz="3600" dirty="0" smtClean="0">
                <a:solidFill>
                  <a:srgbClr val="0070C0"/>
                </a:solidFill>
              </a:rPr>
              <a:t>pupil </a:t>
            </a:r>
            <a:r>
              <a:rPr lang="en-GB" sz="3600" dirty="0" smtClean="0">
                <a:solidFill>
                  <a:srgbClr val="0070C0"/>
                </a:solidFill>
              </a:rPr>
              <a:t>readiness, interest and learning </a:t>
            </a:r>
            <a:r>
              <a:rPr lang="en-GB" sz="3600" dirty="0" smtClean="0">
                <a:solidFill>
                  <a:srgbClr val="0070C0"/>
                </a:solidFill>
              </a:rPr>
              <a:t>needs</a:t>
            </a:r>
            <a:endParaRPr lang="en-GB" sz="3600" dirty="0">
              <a:solidFill>
                <a:srgbClr val="0070C0"/>
              </a:solidFill>
            </a:endParaRPr>
          </a:p>
        </p:txBody>
      </p:sp>
      <p:pic>
        <p:nvPicPr>
          <p:cNvPr id="1026" name="Picture 2" descr="C:\Users\Clair\AppData\Local\Microsoft\Windows\INetCache\IE\UE55AERD\single_file_line_pc_800_clr[1].png"/>
          <p:cNvPicPr>
            <a:picLocks noChangeAspect="1" noChangeArrowheads="1"/>
          </p:cNvPicPr>
          <p:nvPr/>
        </p:nvPicPr>
        <p:blipFill>
          <a:blip r:embed="rId2"/>
          <a:srcRect/>
          <a:stretch>
            <a:fillRect/>
          </a:stretch>
        </p:blipFill>
        <p:spPr bwMode="auto">
          <a:xfrm>
            <a:off x="6258910" y="212834"/>
            <a:ext cx="2885090" cy="319251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7103" y="1008993"/>
            <a:ext cx="7252138" cy="1938992"/>
          </a:xfrm>
          <a:prstGeom prst="rect">
            <a:avLst/>
          </a:prstGeom>
          <a:noFill/>
        </p:spPr>
        <p:txBody>
          <a:bodyPr wrap="square" rtlCol="0">
            <a:spAutoFit/>
          </a:bodyPr>
          <a:lstStyle/>
          <a:p>
            <a:pPr algn="ctr"/>
            <a:r>
              <a:rPr lang="en-GB" sz="6000" b="1" dirty="0" smtClean="0">
                <a:solidFill>
                  <a:srgbClr val="FFC000"/>
                </a:solidFill>
              </a:rPr>
              <a:t>How well do you know your class?</a:t>
            </a:r>
            <a:endParaRPr lang="en-GB" sz="6000" b="1" dirty="0">
              <a:solidFill>
                <a:srgbClr val="FFC000"/>
              </a:solidFill>
            </a:endParaRPr>
          </a:p>
        </p:txBody>
      </p:sp>
      <p:pic>
        <p:nvPicPr>
          <p:cNvPr id="75778" name="Picture 2" descr="C:\Users\Clair\AppData\Local\Microsoft\Windows\INetCache\IE\9ZP0XFER\happy_circle_kids_sm[1].jpg"/>
          <p:cNvPicPr>
            <a:picLocks noChangeAspect="1" noChangeArrowheads="1"/>
          </p:cNvPicPr>
          <p:nvPr/>
        </p:nvPicPr>
        <p:blipFill>
          <a:blip r:embed="rId3"/>
          <a:srcRect/>
          <a:stretch>
            <a:fillRect/>
          </a:stretch>
        </p:blipFill>
        <p:spPr bwMode="auto">
          <a:xfrm>
            <a:off x="2926080" y="3358054"/>
            <a:ext cx="3291840" cy="301121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0069" y="1765738"/>
            <a:ext cx="6621517" cy="2215991"/>
          </a:xfrm>
          <a:prstGeom prst="rect">
            <a:avLst/>
          </a:prstGeom>
          <a:noFill/>
        </p:spPr>
        <p:txBody>
          <a:bodyPr wrap="square" rtlCol="0">
            <a:spAutoFit/>
          </a:bodyPr>
          <a:lstStyle/>
          <a:p>
            <a:pPr algn="ctr"/>
            <a:r>
              <a:rPr lang="en-GB" sz="13800" dirty="0" smtClean="0"/>
              <a:t>Assess</a:t>
            </a:r>
            <a:endParaRPr lang="en-GB" sz="13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7917" y="504497"/>
            <a:ext cx="7598980" cy="4524315"/>
          </a:xfrm>
          <a:prstGeom prst="rect">
            <a:avLst/>
          </a:prstGeom>
        </p:spPr>
        <p:txBody>
          <a:bodyPr wrap="square">
            <a:spAutoFit/>
          </a:bodyPr>
          <a:lstStyle/>
          <a:p>
            <a:r>
              <a:rPr lang="en-GB" sz="4800" b="1" dirty="0" smtClean="0">
                <a:solidFill>
                  <a:schemeClr val="accent5">
                    <a:lumMod val="75000"/>
                  </a:schemeClr>
                </a:solidFill>
              </a:rPr>
              <a:t>We </a:t>
            </a:r>
            <a:r>
              <a:rPr lang="en-GB" sz="4800" b="1" dirty="0" smtClean="0">
                <a:solidFill>
                  <a:schemeClr val="accent5">
                    <a:lumMod val="75000"/>
                  </a:schemeClr>
                </a:solidFill>
              </a:rPr>
              <a:t>Need To Ask Ourselves… </a:t>
            </a:r>
            <a:endParaRPr lang="en-GB" sz="4800" b="1" dirty="0" smtClean="0">
              <a:solidFill>
                <a:schemeClr val="accent5">
                  <a:lumMod val="75000"/>
                </a:schemeClr>
              </a:solidFill>
            </a:endParaRPr>
          </a:p>
          <a:p>
            <a:endParaRPr lang="en-GB" sz="4800" b="1" dirty="0" smtClean="0">
              <a:solidFill>
                <a:schemeClr val="accent5">
                  <a:lumMod val="75000"/>
                </a:schemeClr>
              </a:solidFill>
            </a:endParaRPr>
          </a:p>
          <a:p>
            <a:r>
              <a:rPr lang="en-GB" sz="3200" dirty="0" smtClean="0">
                <a:solidFill>
                  <a:schemeClr val="accent5">
                    <a:lumMod val="75000"/>
                  </a:schemeClr>
                </a:solidFill>
              </a:rPr>
              <a:t>Do </a:t>
            </a:r>
            <a:r>
              <a:rPr lang="en-GB" sz="3200" dirty="0" smtClean="0">
                <a:solidFill>
                  <a:schemeClr val="accent5">
                    <a:lumMod val="75000"/>
                  </a:schemeClr>
                </a:solidFill>
              </a:rPr>
              <a:t>all </a:t>
            </a:r>
            <a:r>
              <a:rPr lang="en-GB" sz="3200" dirty="0" smtClean="0">
                <a:solidFill>
                  <a:schemeClr val="accent5">
                    <a:lumMod val="75000"/>
                  </a:schemeClr>
                </a:solidFill>
              </a:rPr>
              <a:t>pupils </a:t>
            </a:r>
            <a:r>
              <a:rPr lang="en-GB" sz="3200" dirty="0" smtClean="0">
                <a:solidFill>
                  <a:schemeClr val="accent5">
                    <a:lumMod val="75000"/>
                  </a:schemeClr>
                </a:solidFill>
              </a:rPr>
              <a:t>have access to the </a:t>
            </a:r>
            <a:r>
              <a:rPr lang="en-GB" sz="3200" dirty="0" smtClean="0">
                <a:solidFill>
                  <a:schemeClr val="accent5">
                    <a:lumMod val="75000"/>
                  </a:schemeClr>
                </a:solidFill>
              </a:rPr>
              <a:t>to </a:t>
            </a:r>
            <a:r>
              <a:rPr lang="en-GB" sz="3200" dirty="0" smtClean="0">
                <a:solidFill>
                  <a:schemeClr val="accent5">
                    <a:lumMod val="75000"/>
                  </a:schemeClr>
                </a:solidFill>
              </a:rPr>
              <a:t>the tools, knowledge and guidance that </a:t>
            </a:r>
            <a:r>
              <a:rPr lang="en-GB" sz="3200" dirty="0" smtClean="0">
                <a:solidFill>
                  <a:schemeClr val="accent5">
                    <a:lumMod val="75000"/>
                  </a:schemeClr>
                </a:solidFill>
              </a:rPr>
              <a:t>they </a:t>
            </a:r>
            <a:r>
              <a:rPr lang="en-GB" sz="3200" dirty="0" smtClean="0">
                <a:solidFill>
                  <a:schemeClr val="accent5">
                    <a:lumMod val="75000"/>
                  </a:schemeClr>
                </a:solidFill>
              </a:rPr>
              <a:t>need to succeed? </a:t>
            </a:r>
            <a:endParaRPr lang="en-GB" sz="3200" dirty="0" smtClean="0">
              <a:solidFill>
                <a:schemeClr val="accent5">
                  <a:lumMod val="75000"/>
                </a:schemeClr>
              </a:solidFill>
            </a:endParaRPr>
          </a:p>
          <a:p>
            <a:endParaRPr lang="en-GB" sz="3200" dirty="0" smtClean="0">
              <a:solidFill>
                <a:schemeClr val="accent5">
                  <a:lumMod val="75000"/>
                </a:schemeClr>
              </a:solidFill>
            </a:endParaRPr>
          </a:p>
          <a:p>
            <a:r>
              <a:rPr lang="en-GB" sz="3200" dirty="0" smtClean="0">
                <a:solidFill>
                  <a:schemeClr val="accent5">
                    <a:lumMod val="75000"/>
                  </a:schemeClr>
                </a:solidFill>
              </a:rPr>
              <a:t> </a:t>
            </a:r>
            <a:r>
              <a:rPr lang="en-GB" sz="3200" dirty="0" smtClean="0">
                <a:solidFill>
                  <a:schemeClr val="accent5">
                    <a:lumMod val="75000"/>
                  </a:schemeClr>
                </a:solidFill>
              </a:rPr>
              <a:t>If not, what can we do to give </a:t>
            </a:r>
            <a:r>
              <a:rPr lang="en-GB" sz="3200" dirty="0" smtClean="0">
                <a:solidFill>
                  <a:schemeClr val="accent5">
                    <a:lumMod val="75000"/>
                  </a:schemeClr>
                </a:solidFill>
              </a:rPr>
              <a:t>them those tools?</a:t>
            </a:r>
            <a:endParaRPr lang="en-GB" sz="3200" dirty="0">
              <a:solidFill>
                <a:schemeClr val="accent5">
                  <a:lumMod val="75000"/>
                </a:schemeClr>
              </a:solidFill>
            </a:endParaRPr>
          </a:p>
        </p:txBody>
      </p:sp>
      <p:pic>
        <p:nvPicPr>
          <p:cNvPr id="7170" name="Picture 2" descr="C:\Users\Clair\AppData\Local\Microsoft\Windows\INetCache\IE\RABPRE7S\4420180838_971954ef00_z[1].jpg"/>
          <p:cNvPicPr>
            <a:picLocks noChangeAspect="1" noChangeArrowheads="1"/>
          </p:cNvPicPr>
          <p:nvPr/>
        </p:nvPicPr>
        <p:blipFill>
          <a:blip r:embed="rId3"/>
          <a:srcRect/>
          <a:stretch>
            <a:fillRect/>
          </a:stretch>
        </p:blipFill>
        <p:spPr bwMode="auto">
          <a:xfrm>
            <a:off x="6060486" y="4745033"/>
            <a:ext cx="2735234" cy="182918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9807" y="1876097"/>
            <a:ext cx="7488621" cy="4031873"/>
          </a:xfrm>
          <a:prstGeom prst="rect">
            <a:avLst/>
          </a:prstGeom>
        </p:spPr>
        <p:txBody>
          <a:bodyPr wrap="square">
            <a:spAutoFit/>
          </a:bodyPr>
          <a:lstStyle/>
          <a:p>
            <a:r>
              <a:rPr lang="en-GB" sz="3200" dirty="0" smtClean="0">
                <a:solidFill>
                  <a:srgbClr val="833F8C"/>
                </a:solidFill>
              </a:rPr>
              <a:t>Identifying and assessing SEN for children or young people whose first language is not English requires particular care. </a:t>
            </a:r>
          </a:p>
          <a:p>
            <a:endParaRPr lang="en-GB" sz="3200" dirty="0" smtClean="0">
              <a:solidFill>
                <a:srgbClr val="833F8C"/>
              </a:solidFill>
            </a:endParaRPr>
          </a:p>
          <a:p>
            <a:endParaRPr lang="en-GB" sz="3200" dirty="0" smtClean="0">
              <a:solidFill>
                <a:srgbClr val="833F8C"/>
              </a:solidFill>
            </a:endParaRPr>
          </a:p>
          <a:p>
            <a:r>
              <a:rPr lang="en-GB" sz="3200" dirty="0" smtClean="0">
                <a:solidFill>
                  <a:srgbClr val="833F8C"/>
                </a:solidFill>
              </a:rPr>
              <a:t>Difficulties related solely to limitations in  English as an additional language are not SEN. </a:t>
            </a:r>
            <a:endParaRPr lang="en-GB" sz="3200" dirty="0">
              <a:solidFill>
                <a:srgbClr val="833F8C"/>
              </a:solidFill>
            </a:endParaRPr>
          </a:p>
        </p:txBody>
      </p:sp>
      <p:sp>
        <p:nvSpPr>
          <p:cNvPr id="3" name="Rectangle 2"/>
          <p:cNvSpPr/>
          <p:nvPr/>
        </p:nvSpPr>
        <p:spPr>
          <a:xfrm>
            <a:off x="819807" y="671192"/>
            <a:ext cx="2968633" cy="769441"/>
          </a:xfrm>
          <a:prstGeom prst="rect">
            <a:avLst/>
          </a:prstGeom>
        </p:spPr>
        <p:txBody>
          <a:bodyPr wrap="none">
            <a:spAutoFit/>
          </a:bodyPr>
          <a:lstStyle/>
          <a:p>
            <a:r>
              <a:rPr lang="en-GB" sz="4400" b="1" dirty="0" smtClean="0">
                <a:solidFill>
                  <a:srgbClr val="7030A0"/>
                </a:solidFill>
                <a:latin typeface="+mj-lt"/>
              </a:rPr>
              <a:t>EAL or SEN?</a:t>
            </a:r>
            <a:endParaRPr lang="en-GB" sz="4400" b="1" dirty="0">
              <a:solidFill>
                <a:srgbClr val="7030A0"/>
              </a:solidFill>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4759" y="646386"/>
            <a:ext cx="6984124" cy="5632311"/>
          </a:xfrm>
          <a:prstGeom prst="rect">
            <a:avLst/>
          </a:prstGeom>
        </p:spPr>
        <p:txBody>
          <a:bodyPr wrap="square">
            <a:spAutoFit/>
          </a:bodyPr>
          <a:lstStyle/>
          <a:p>
            <a:r>
              <a:rPr lang="en-GB" sz="4000" b="1" dirty="0" smtClean="0">
                <a:solidFill>
                  <a:schemeClr val="bg2">
                    <a:lumMod val="25000"/>
                  </a:schemeClr>
                </a:solidFill>
              </a:rPr>
              <a:t>Cognitive Processing Speed Cognitive </a:t>
            </a:r>
            <a:r>
              <a:rPr lang="en-GB" sz="4000" b="1" dirty="0" smtClean="0">
                <a:solidFill>
                  <a:schemeClr val="bg2">
                    <a:lumMod val="25000"/>
                  </a:schemeClr>
                </a:solidFill>
              </a:rPr>
              <a:t>and </a:t>
            </a:r>
            <a:r>
              <a:rPr lang="en-GB" sz="4000" b="1" dirty="0" smtClean="0">
                <a:solidFill>
                  <a:schemeClr val="bg2">
                    <a:lumMod val="25000"/>
                  </a:schemeClr>
                </a:solidFill>
              </a:rPr>
              <a:t>Learning </a:t>
            </a:r>
            <a:endParaRPr lang="en-GB" sz="4000" b="1" dirty="0" smtClean="0">
              <a:solidFill>
                <a:schemeClr val="bg2">
                  <a:lumMod val="25000"/>
                </a:schemeClr>
              </a:solidFill>
            </a:endParaRPr>
          </a:p>
          <a:p>
            <a:endParaRPr lang="en-GB" sz="4000" b="1" dirty="0" smtClean="0">
              <a:solidFill>
                <a:schemeClr val="bg2">
                  <a:lumMod val="25000"/>
                </a:schemeClr>
              </a:solidFill>
            </a:endParaRPr>
          </a:p>
          <a:p>
            <a:r>
              <a:rPr lang="en-GB" sz="2400" dirty="0" smtClean="0">
                <a:solidFill>
                  <a:schemeClr val="bg2">
                    <a:lumMod val="25000"/>
                  </a:schemeClr>
                </a:solidFill>
              </a:rPr>
              <a:t>• </a:t>
            </a:r>
            <a:r>
              <a:rPr lang="en-GB" sz="2400" dirty="0" smtClean="0">
                <a:solidFill>
                  <a:schemeClr val="bg2">
                    <a:lumMod val="25000"/>
                  </a:schemeClr>
                </a:solidFill>
              </a:rPr>
              <a:t>The ability to perform automatically with little or no effort–improves dramatically as children get older. </a:t>
            </a:r>
            <a:endParaRPr lang="en-GB" sz="2400" dirty="0" smtClean="0">
              <a:solidFill>
                <a:schemeClr val="bg2">
                  <a:lumMod val="25000"/>
                </a:schemeClr>
              </a:solidFill>
            </a:endParaRPr>
          </a:p>
          <a:p>
            <a:endParaRPr lang="en-GB" sz="2400" dirty="0" smtClean="0">
              <a:solidFill>
                <a:schemeClr val="bg2">
                  <a:lumMod val="25000"/>
                </a:schemeClr>
              </a:solidFill>
            </a:endParaRPr>
          </a:p>
          <a:p>
            <a:r>
              <a:rPr lang="en-GB" sz="2400" dirty="0" smtClean="0">
                <a:solidFill>
                  <a:schemeClr val="bg2">
                    <a:lumMod val="25000"/>
                  </a:schemeClr>
                </a:solidFill>
              </a:rPr>
              <a:t>• </a:t>
            </a:r>
            <a:r>
              <a:rPr lang="en-GB" sz="2400" dirty="0" smtClean="0">
                <a:solidFill>
                  <a:schemeClr val="bg2">
                    <a:lumMod val="25000"/>
                  </a:schemeClr>
                </a:solidFill>
              </a:rPr>
              <a:t>Automaticity is linked to speed and processing capacity; as an activity is completed faster, it requires less processing capacity. </a:t>
            </a:r>
            <a:endParaRPr lang="en-GB" sz="2400" dirty="0" smtClean="0">
              <a:solidFill>
                <a:schemeClr val="bg2">
                  <a:lumMod val="25000"/>
                </a:schemeClr>
              </a:solidFill>
            </a:endParaRPr>
          </a:p>
          <a:p>
            <a:endParaRPr lang="en-GB" sz="2400" dirty="0" smtClean="0">
              <a:solidFill>
                <a:schemeClr val="bg2">
                  <a:lumMod val="25000"/>
                </a:schemeClr>
              </a:solidFill>
            </a:endParaRPr>
          </a:p>
          <a:p>
            <a:r>
              <a:rPr lang="en-GB" sz="2400" dirty="0" smtClean="0">
                <a:solidFill>
                  <a:schemeClr val="bg2">
                    <a:lumMod val="25000"/>
                  </a:schemeClr>
                </a:solidFill>
              </a:rPr>
              <a:t>• </a:t>
            </a:r>
            <a:r>
              <a:rPr lang="en-GB" sz="2400" dirty="0" smtClean="0">
                <a:solidFill>
                  <a:schemeClr val="bg2">
                    <a:lumMod val="25000"/>
                  </a:schemeClr>
                </a:solidFill>
              </a:rPr>
              <a:t>As processing capacity increases, it becomes easier to complete tasks that were previously considered to be difficult. (</a:t>
            </a:r>
            <a:r>
              <a:rPr lang="en-GB" sz="2400" dirty="0" smtClean="0">
                <a:solidFill>
                  <a:schemeClr val="bg2">
                    <a:lumMod val="25000"/>
                  </a:schemeClr>
                </a:solidFill>
              </a:rPr>
              <a:t>Santrock</a:t>
            </a:r>
            <a:r>
              <a:rPr lang="en-GB" sz="2400" dirty="0" smtClean="0">
                <a:solidFill>
                  <a:schemeClr val="bg2">
                    <a:lumMod val="25000"/>
                  </a:schemeClr>
                </a:solidFill>
              </a:rPr>
              <a:t> &amp; </a:t>
            </a:r>
            <a:r>
              <a:rPr lang="en-GB" sz="2400" dirty="0" smtClean="0">
                <a:solidFill>
                  <a:schemeClr val="bg2">
                    <a:lumMod val="25000"/>
                  </a:schemeClr>
                </a:solidFill>
              </a:rPr>
              <a:t>Yussen</a:t>
            </a:r>
            <a:r>
              <a:rPr lang="en-GB" sz="2400" dirty="0" smtClean="0">
                <a:solidFill>
                  <a:schemeClr val="bg2">
                    <a:lumMod val="25000"/>
                  </a:schemeClr>
                </a:solidFill>
              </a:rPr>
              <a:t>, 1992).</a:t>
            </a:r>
            <a:endParaRPr lang="en-GB" sz="2400" dirty="0">
              <a:solidFill>
                <a:schemeClr val="bg2">
                  <a:lumMod val="2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6290" y="646387"/>
            <a:ext cx="6842234" cy="5509200"/>
          </a:xfrm>
          <a:prstGeom prst="rect">
            <a:avLst/>
          </a:prstGeom>
        </p:spPr>
        <p:txBody>
          <a:bodyPr wrap="square">
            <a:spAutoFit/>
          </a:bodyPr>
          <a:lstStyle/>
          <a:p>
            <a:r>
              <a:rPr lang="en-GB" sz="4400" b="1" dirty="0" smtClean="0">
                <a:solidFill>
                  <a:schemeClr val="accent3">
                    <a:lumMod val="50000"/>
                  </a:schemeClr>
                </a:solidFill>
              </a:rPr>
              <a:t>Executive Functions and </a:t>
            </a:r>
            <a:r>
              <a:rPr lang="en-GB" sz="4400" b="1" dirty="0" smtClean="0">
                <a:solidFill>
                  <a:schemeClr val="accent3">
                    <a:lumMod val="50000"/>
                  </a:schemeClr>
                </a:solidFill>
              </a:rPr>
              <a:t> </a:t>
            </a:r>
            <a:r>
              <a:rPr lang="en-GB" sz="4400" b="1" dirty="0" smtClean="0">
                <a:solidFill>
                  <a:schemeClr val="accent3">
                    <a:lumMod val="50000"/>
                  </a:schemeClr>
                </a:solidFill>
              </a:rPr>
              <a:t>Working Memory </a:t>
            </a:r>
            <a:endParaRPr lang="en-GB" sz="4400" b="1" dirty="0" smtClean="0">
              <a:solidFill>
                <a:schemeClr val="accent3">
                  <a:lumMod val="50000"/>
                </a:schemeClr>
              </a:solidFill>
            </a:endParaRPr>
          </a:p>
          <a:p>
            <a:endParaRPr lang="en-GB" sz="4000" b="1" dirty="0" smtClean="0">
              <a:solidFill>
                <a:schemeClr val="accent3">
                  <a:lumMod val="50000"/>
                </a:schemeClr>
              </a:solidFill>
            </a:endParaRPr>
          </a:p>
          <a:p>
            <a:r>
              <a:rPr lang="en-GB" sz="2800" dirty="0" smtClean="0">
                <a:solidFill>
                  <a:schemeClr val="accent3">
                    <a:lumMod val="50000"/>
                  </a:schemeClr>
                </a:solidFill>
              </a:rPr>
              <a:t>• </a:t>
            </a:r>
            <a:r>
              <a:rPr lang="en-GB" sz="2800" dirty="0" smtClean="0">
                <a:solidFill>
                  <a:schemeClr val="accent3">
                    <a:lumMod val="50000"/>
                  </a:schemeClr>
                </a:solidFill>
              </a:rPr>
              <a:t>Many executive function tasks also require working memory—actively holding information in memory during cognitive tasks</a:t>
            </a:r>
            <a:r>
              <a:rPr lang="en-GB" sz="2800" dirty="0" smtClean="0">
                <a:solidFill>
                  <a:schemeClr val="accent3">
                    <a:lumMod val="50000"/>
                  </a:schemeClr>
                </a:solidFill>
              </a:rPr>
              <a:t>.</a:t>
            </a:r>
          </a:p>
          <a:p>
            <a:r>
              <a:rPr lang="en-GB" sz="2800" dirty="0" smtClean="0">
                <a:solidFill>
                  <a:schemeClr val="accent3">
                    <a:lumMod val="50000"/>
                  </a:schemeClr>
                </a:solidFill>
              </a:rPr>
              <a:t> </a:t>
            </a:r>
          </a:p>
          <a:p>
            <a:r>
              <a:rPr lang="en-GB" sz="2800" dirty="0" smtClean="0">
                <a:solidFill>
                  <a:schemeClr val="accent3">
                    <a:lumMod val="50000"/>
                  </a:schemeClr>
                </a:solidFill>
              </a:rPr>
              <a:t>• </a:t>
            </a:r>
            <a:r>
              <a:rPr lang="en-GB" sz="2800" dirty="0" smtClean="0">
                <a:solidFill>
                  <a:schemeClr val="accent3">
                    <a:lumMod val="50000"/>
                  </a:schemeClr>
                </a:solidFill>
              </a:rPr>
              <a:t>Children with poor working memory may lose the “thread” and forget parts of the instruction, or even their own intention in the face of competing stimuli.</a:t>
            </a:r>
            <a:endParaRPr lang="en-GB" sz="2800" dirty="0">
              <a:solidFill>
                <a:schemeClr val="accent3">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9090" y="-315309"/>
            <a:ext cx="7945820" cy="6863417"/>
          </a:xfrm>
          <a:prstGeom prst="rect">
            <a:avLst/>
          </a:prstGeom>
        </p:spPr>
        <p:txBody>
          <a:bodyPr wrap="square">
            <a:spAutoFit/>
          </a:bodyPr>
          <a:lstStyle/>
          <a:p>
            <a:endParaRPr lang="en-GB" dirty="0" smtClean="0"/>
          </a:p>
          <a:p>
            <a:endParaRPr lang="en-GB" dirty="0" smtClean="0"/>
          </a:p>
          <a:p>
            <a:r>
              <a:rPr lang="en-GB" sz="3200" b="1" dirty="0" smtClean="0">
                <a:solidFill>
                  <a:srgbClr val="002060"/>
                </a:solidFill>
              </a:rPr>
              <a:t>Children </a:t>
            </a:r>
            <a:r>
              <a:rPr lang="en-GB" sz="3200" b="1" dirty="0" smtClean="0">
                <a:solidFill>
                  <a:srgbClr val="002060"/>
                </a:solidFill>
              </a:rPr>
              <a:t>who have significant working memory difficulties often have the following profile: </a:t>
            </a:r>
          </a:p>
          <a:p>
            <a:pPr>
              <a:buFont typeface="Arial" pitchFamily="34" charset="0"/>
              <a:buChar char="•"/>
            </a:pPr>
            <a:r>
              <a:rPr lang="en-GB" sz="2800" dirty="0" smtClean="0">
                <a:solidFill>
                  <a:srgbClr val="002060"/>
                </a:solidFill>
              </a:rPr>
              <a:t>Normal social relationships with peers </a:t>
            </a:r>
          </a:p>
          <a:p>
            <a:pPr>
              <a:buFont typeface="Arial" pitchFamily="34" charset="0"/>
              <a:buChar char="•"/>
            </a:pPr>
            <a:r>
              <a:rPr lang="en-GB" sz="2800" dirty="0" smtClean="0">
                <a:solidFill>
                  <a:srgbClr val="002060"/>
                </a:solidFill>
              </a:rPr>
              <a:t>Reserved in group activities </a:t>
            </a:r>
          </a:p>
          <a:p>
            <a:pPr>
              <a:buFont typeface="Arial" pitchFamily="34" charset="0"/>
              <a:buChar char="•"/>
            </a:pPr>
            <a:r>
              <a:rPr lang="en-GB" sz="2800" dirty="0" smtClean="0">
                <a:solidFill>
                  <a:srgbClr val="002060"/>
                </a:solidFill>
              </a:rPr>
              <a:t>Poor academic progress in reading and maths </a:t>
            </a:r>
          </a:p>
          <a:p>
            <a:pPr>
              <a:buFont typeface="Arial" pitchFamily="34" charset="0"/>
              <a:buChar char="•"/>
            </a:pPr>
            <a:r>
              <a:rPr lang="en-GB" sz="2800" dirty="0" smtClean="0">
                <a:solidFill>
                  <a:srgbClr val="002060"/>
                </a:solidFill>
              </a:rPr>
              <a:t>Difficulties in following instructions </a:t>
            </a:r>
          </a:p>
          <a:p>
            <a:pPr>
              <a:buFont typeface="Arial" pitchFamily="34" charset="0"/>
              <a:buChar char="•"/>
            </a:pPr>
            <a:r>
              <a:rPr lang="en-GB" sz="2800" dirty="0" smtClean="0">
                <a:solidFill>
                  <a:srgbClr val="002060"/>
                </a:solidFill>
              </a:rPr>
              <a:t>Struggle to cope with learning activities that require both storage and processing demands </a:t>
            </a:r>
          </a:p>
          <a:p>
            <a:pPr>
              <a:buFont typeface="Arial" pitchFamily="34" charset="0"/>
              <a:buChar char="•"/>
            </a:pPr>
            <a:r>
              <a:rPr lang="en-GB" sz="2800" dirty="0" smtClean="0">
                <a:solidFill>
                  <a:srgbClr val="002060"/>
                </a:solidFill>
              </a:rPr>
              <a:t>Place-keeping difficulties </a:t>
            </a:r>
            <a:endParaRPr lang="en-GB" sz="2800" dirty="0" smtClean="0">
              <a:solidFill>
                <a:srgbClr val="002060"/>
              </a:solidFill>
            </a:endParaRPr>
          </a:p>
          <a:p>
            <a:pPr>
              <a:buFont typeface="Arial" pitchFamily="34" charset="0"/>
              <a:buChar char="•"/>
            </a:pPr>
            <a:r>
              <a:rPr lang="en-GB" sz="2800" dirty="0" smtClean="0">
                <a:solidFill>
                  <a:srgbClr val="002060"/>
                </a:solidFill>
              </a:rPr>
              <a:t>Appears </a:t>
            </a:r>
            <a:r>
              <a:rPr lang="en-GB" sz="2800" dirty="0" smtClean="0">
                <a:solidFill>
                  <a:srgbClr val="002060"/>
                </a:solidFill>
              </a:rPr>
              <a:t>to have short attention span/ daydreaming/ lacking motivation/ </a:t>
            </a:r>
            <a:r>
              <a:rPr lang="en-GB" sz="2800" dirty="0" smtClean="0">
                <a:solidFill>
                  <a:srgbClr val="002060"/>
                </a:solidFill>
              </a:rPr>
              <a:t>distractible, behavioural difficulties. </a:t>
            </a:r>
          </a:p>
          <a:p>
            <a:pPr>
              <a:buFont typeface="Arial" pitchFamily="34" charset="0"/>
              <a:buChar char="•"/>
            </a:pPr>
            <a:r>
              <a:rPr lang="en-GB" sz="2800" dirty="0" smtClean="0">
                <a:solidFill>
                  <a:srgbClr val="002060"/>
                </a:solidFill>
              </a:rPr>
              <a:t>Difficulty </a:t>
            </a:r>
            <a:r>
              <a:rPr lang="en-GB" sz="2800" dirty="0" smtClean="0">
                <a:solidFill>
                  <a:srgbClr val="002060"/>
                </a:solidFill>
              </a:rPr>
              <a:t>copying from the </a:t>
            </a:r>
            <a:r>
              <a:rPr lang="en-GB" sz="2800" dirty="0" smtClean="0">
                <a:solidFill>
                  <a:srgbClr val="002060"/>
                </a:solidFill>
              </a:rPr>
              <a:t>board</a:t>
            </a:r>
            <a:endParaRPr lang="en-GB" sz="2800" dirty="0">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6385" y="1213945"/>
            <a:ext cx="7693573" cy="2554545"/>
          </a:xfrm>
          <a:prstGeom prst="rect">
            <a:avLst/>
          </a:prstGeom>
        </p:spPr>
        <p:txBody>
          <a:bodyPr wrap="square">
            <a:spAutoFit/>
          </a:bodyPr>
          <a:lstStyle/>
          <a:p>
            <a:r>
              <a:rPr lang="en-GB" sz="2000" b="1" dirty="0" smtClean="0">
                <a:solidFill>
                  <a:schemeClr val="accent6">
                    <a:lumMod val="75000"/>
                  </a:schemeClr>
                </a:solidFill>
                <a:latin typeface="Calibri" pitchFamily="34" charset="0"/>
                <a:ea typeface="Calibri" pitchFamily="34" charset="0"/>
                <a:cs typeface="Times New Roman" pitchFamily="18" charset="0"/>
              </a:rPr>
              <a:t>Blocking</a:t>
            </a:r>
            <a:r>
              <a:rPr lang="en-GB" sz="2000" dirty="0" smtClean="0">
                <a:solidFill>
                  <a:schemeClr val="accent6">
                    <a:lumMod val="75000"/>
                  </a:schemeClr>
                </a:solidFill>
                <a:latin typeface="Calibri" pitchFamily="34" charset="0"/>
                <a:ea typeface="Calibri" pitchFamily="34" charset="0"/>
                <a:cs typeface="Times New Roman" pitchFamily="18" charset="0"/>
              </a:rPr>
              <a:t> = the </a:t>
            </a:r>
            <a:r>
              <a:rPr lang="en-GB" sz="2000" dirty="0" smtClean="0">
                <a:solidFill>
                  <a:schemeClr val="accent6">
                    <a:lumMod val="75000"/>
                  </a:schemeClr>
                </a:solidFill>
                <a:latin typeface="Calibri" pitchFamily="34" charset="0"/>
                <a:ea typeface="Calibri" pitchFamily="34" charset="0"/>
                <a:cs typeface="Times New Roman" pitchFamily="18" charset="0"/>
              </a:rPr>
              <a:t>solution to use, </a:t>
            </a:r>
            <a:r>
              <a:rPr lang="en-GB" sz="2000" dirty="0" smtClean="0">
                <a:solidFill>
                  <a:schemeClr val="accent6">
                    <a:lumMod val="75000"/>
                  </a:schemeClr>
                </a:solidFill>
                <a:latin typeface="Calibri" pitchFamily="34" charset="0"/>
                <a:ea typeface="Calibri" pitchFamily="34" charset="0"/>
                <a:cs typeface="Times New Roman" pitchFamily="18" charset="0"/>
              </a:rPr>
              <a:t> </a:t>
            </a:r>
            <a:r>
              <a:rPr lang="en-GB" sz="2000" dirty="0" smtClean="0">
                <a:solidFill>
                  <a:schemeClr val="accent6">
                    <a:lumMod val="75000"/>
                  </a:schemeClr>
                </a:solidFill>
                <a:latin typeface="Calibri" pitchFamily="34" charset="0"/>
                <a:ea typeface="Calibri" pitchFamily="34" charset="0"/>
                <a:cs typeface="Times New Roman" pitchFamily="18" charset="0"/>
              </a:rPr>
              <a:t>movement to execute, </a:t>
            </a:r>
            <a:r>
              <a:rPr lang="en-GB" sz="2000" dirty="0" smtClean="0">
                <a:solidFill>
                  <a:schemeClr val="accent6">
                    <a:lumMod val="75000"/>
                  </a:schemeClr>
                </a:solidFill>
                <a:latin typeface="Calibri" pitchFamily="34" charset="0"/>
                <a:ea typeface="Calibri" pitchFamily="34" charset="0"/>
                <a:cs typeface="Times New Roman" pitchFamily="18" charset="0"/>
              </a:rPr>
              <a:t>rote learning, copying </a:t>
            </a:r>
          </a:p>
          <a:p>
            <a:endParaRPr lang="en-GB" sz="2000" dirty="0" smtClean="0">
              <a:latin typeface="Calibri" pitchFamily="34" charset="0"/>
              <a:ea typeface="Calibri" pitchFamily="34" charset="0"/>
              <a:cs typeface="Times New Roman" pitchFamily="18" charset="0"/>
            </a:endParaRPr>
          </a:p>
          <a:p>
            <a:r>
              <a:rPr lang="en-GB" sz="2000" b="1" dirty="0" smtClean="0">
                <a:solidFill>
                  <a:schemeClr val="accent6">
                    <a:lumMod val="50000"/>
                  </a:schemeClr>
                </a:solidFill>
                <a:latin typeface="Calibri" pitchFamily="34" charset="0"/>
                <a:ea typeface="Calibri" pitchFamily="34" charset="0"/>
                <a:cs typeface="Times New Roman" pitchFamily="18" charset="0"/>
              </a:rPr>
              <a:t>Interleaving</a:t>
            </a:r>
            <a:r>
              <a:rPr lang="en-GB" sz="2000" dirty="0" smtClean="0">
                <a:solidFill>
                  <a:schemeClr val="accent6">
                    <a:lumMod val="50000"/>
                  </a:schemeClr>
                </a:solidFill>
                <a:latin typeface="Calibri" pitchFamily="34" charset="0"/>
                <a:ea typeface="Calibri" pitchFamily="34" charset="0"/>
                <a:cs typeface="Times New Roman" pitchFamily="18" charset="0"/>
              </a:rPr>
              <a:t> = each </a:t>
            </a:r>
            <a:r>
              <a:rPr lang="en-GB" sz="2000" dirty="0" smtClean="0">
                <a:solidFill>
                  <a:schemeClr val="accent6">
                    <a:lumMod val="50000"/>
                  </a:schemeClr>
                </a:solidFill>
                <a:latin typeface="Calibri" pitchFamily="34" charset="0"/>
                <a:ea typeface="Calibri" pitchFamily="34" charset="0"/>
                <a:cs typeface="Times New Roman" pitchFamily="18" charset="0"/>
              </a:rPr>
              <a:t>practice attempt is different from the </a:t>
            </a:r>
            <a:r>
              <a:rPr lang="en-GB" sz="2000" dirty="0" smtClean="0">
                <a:solidFill>
                  <a:schemeClr val="accent6">
                    <a:lumMod val="50000"/>
                  </a:schemeClr>
                </a:solidFill>
                <a:latin typeface="Calibri" pitchFamily="34" charset="0"/>
                <a:ea typeface="Calibri" pitchFamily="34" charset="0"/>
                <a:cs typeface="Times New Roman" pitchFamily="18" charset="0"/>
              </a:rPr>
              <a:t>last; the </a:t>
            </a:r>
            <a:r>
              <a:rPr lang="en-GB" sz="2000" dirty="0" smtClean="0">
                <a:solidFill>
                  <a:schemeClr val="accent6">
                    <a:lumMod val="50000"/>
                  </a:schemeClr>
                </a:solidFill>
                <a:latin typeface="Calibri" pitchFamily="34" charset="0"/>
                <a:ea typeface="Calibri" pitchFamily="34" charset="0"/>
                <a:cs typeface="Times New Roman" pitchFamily="18" charset="0"/>
              </a:rPr>
              <a:t>brain must continuously focus on searching for different solutions. That process can improve your ability to learn critical features of skills and concepts, which then better enables you to select and execute the correct response.</a:t>
            </a:r>
            <a:endParaRPr lang="en-GB" sz="2000" dirty="0">
              <a:solidFill>
                <a:schemeClr val="accent6">
                  <a:lumMod val="50000"/>
                </a:schemeClr>
              </a:solidFill>
            </a:endParaRPr>
          </a:p>
        </p:txBody>
      </p:sp>
      <p:sp>
        <p:nvSpPr>
          <p:cNvPr id="3" name="Rectangle 2"/>
          <p:cNvSpPr/>
          <p:nvPr/>
        </p:nvSpPr>
        <p:spPr>
          <a:xfrm>
            <a:off x="1493498" y="567559"/>
            <a:ext cx="5274136" cy="707886"/>
          </a:xfrm>
          <a:prstGeom prst="rect">
            <a:avLst/>
          </a:prstGeom>
        </p:spPr>
        <p:txBody>
          <a:bodyPr wrap="none">
            <a:spAutoFit/>
          </a:bodyPr>
          <a:lstStyle/>
          <a:p>
            <a:pPr lvl="0" algn="ctr" defTabSz="914400" fontAlgn="base">
              <a:spcBef>
                <a:spcPct val="0"/>
              </a:spcBef>
              <a:spcAft>
                <a:spcPct val="0"/>
              </a:spcAft>
            </a:pPr>
            <a:r>
              <a:rPr lang="en-GB" sz="4000" b="1" dirty="0" smtClean="0">
                <a:solidFill>
                  <a:schemeClr val="accent6">
                    <a:lumMod val="50000"/>
                  </a:schemeClr>
                </a:solidFill>
                <a:latin typeface="Calibri" pitchFamily="34" charset="0"/>
                <a:ea typeface="Calibri" pitchFamily="34" charset="0"/>
                <a:cs typeface="Times New Roman" pitchFamily="18" charset="0"/>
              </a:rPr>
              <a:t>Interleaving ‘v’ Blocking</a:t>
            </a:r>
          </a:p>
        </p:txBody>
      </p:sp>
      <p:sp>
        <p:nvSpPr>
          <p:cNvPr id="4" name="Rectangle 3"/>
          <p:cNvSpPr/>
          <p:nvPr/>
        </p:nvSpPr>
        <p:spPr>
          <a:xfrm>
            <a:off x="646385" y="3768489"/>
            <a:ext cx="7693573" cy="707886"/>
          </a:xfrm>
          <a:prstGeom prst="rect">
            <a:avLst/>
          </a:prstGeom>
        </p:spPr>
        <p:txBody>
          <a:bodyPr wrap="square">
            <a:spAutoFit/>
          </a:bodyPr>
          <a:lstStyle/>
          <a:p>
            <a:r>
              <a:rPr lang="en-GB" dirty="0" smtClean="0">
                <a:latin typeface="Calibri" pitchFamily="34" charset="0"/>
                <a:ea typeface="Calibri" pitchFamily="34" charset="0"/>
                <a:cs typeface="Times New Roman" pitchFamily="18" charset="0"/>
              </a:rPr>
              <a:t> </a:t>
            </a:r>
            <a:r>
              <a:rPr lang="en-GB" sz="2000" dirty="0" smtClean="0">
                <a:solidFill>
                  <a:schemeClr val="accent6">
                    <a:lumMod val="75000"/>
                  </a:schemeClr>
                </a:solidFill>
                <a:latin typeface="Calibri" pitchFamily="34" charset="0"/>
                <a:ea typeface="Calibri" pitchFamily="34" charset="0"/>
                <a:cs typeface="Times New Roman" pitchFamily="18" charset="0"/>
              </a:rPr>
              <a:t>Interleaving </a:t>
            </a:r>
            <a:r>
              <a:rPr lang="en-GB" sz="2000" dirty="0" smtClean="0">
                <a:solidFill>
                  <a:schemeClr val="accent6">
                    <a:lumMod val="75000"/>
                  </a:schemeClr>
                </a:solidFill>
                <a:latin typeface="Calibri" pitchFamily="34" charset="0"/>
                <a:ea typeface="Calibri" pitchFamily="34" charset="0"/>
                <a:cs typeface="Times New Roman" pitchFamily="18" charset="0"/>
              </a:rPr>
              <a:t>strengthens memory associations. With blocking, a single strategy, temporarily held in short-term memory, is sufficient. </a:t>
            </a:r>
            <a:endParaRPr lang="en-GB" dirty="0">
              <a:solidFill>
                <a:schemeClr val="accent6">
                  <a:lumMod val="75000"/>
                </a:schemeClr>
              </a:solidFill>
            </a:endParaRPr>
          </a:p>
        </p:txBody>
      </p:sp>
      <p:sp>
        <p:nvSpPr>
          <p:cNvPr id="5" name="Rectangle 4"/>
          <p:cNvSpPr/>
          <p:nvPr/>
        </p:nvSpPr>
        <p:spPr>
          <a:xfrm>
            <a:off x="646386" y="4997669"/>
            <a:ext cx="7693572" cy="1323439"/>
          </a:xfrm>
          <a:prstGeom prst="rect">
            <a:avLst/>
          </a:prstGeom>
        </p:spPr>
        <p:txBody>
          <a:bodyPr wrap="square">
            <a:spAutoFit/>
          </a:bodyPr>
          <a:lstStyle/>
          <a:p>
            <a:r>
              <a:rPr lang="en-GB" sz="2000" dirty="0" smtClean="0">
                <a:solidFill>
                  <a:schemeClr val="accent6">
                    <a:lumMod val="50000"/>
                  </a:schemeClr>
                </a:solidFill>
              </a:rPr>
              <a:t>Children with </a:t>
            </a:r>
            <a:r>
              <a:rPr lang="en-GB" sz="2000" i="1" dirty="0" smtClean="0">
                <a:solidFill>
                  <a:schemeClr val="accent6">
                    <a:lumMod val="50000"/>
                  </a:schemeClr>
                </a:solidFill>
              </a:rPr>
              <a:t>poor working memory </a:t>
            </a:r>
            <a:r>
              <a:rPr lang="en-GB" sz="2000" dirty="0" smtClean="0">
                <a:solidFill>
                  <a:schemeClr val="accent6">
                    <a:lumMod val="50000"/>
                  </a:schemeClr>
                </a:solidFill>
              </a:rPr>
              <a:t>struggle with interleaving ; every task is new and they fail to make connections therefore ‘blocking’ and repeating a </a:t>
            </a:r>
            <a:r>
              <a:rPr lang="en-GB" sz="2000" dirty="0" smtClean="0">
                <a:solidFill>
                  <a:schemeClr val="accent6">
                    <a:lumMod val="50000"/>
                  </a:schemeClr>
                </a:solidFill>
                <a:latin typeface="Calibri" pitchFamily="34" charset="0"/>
                <a:ea typeface="Calibri" pitchFamily="34" charset="0"/>
                <a:cs typeface="Times New Roman" pitchFamily="18" charset="0"/>
              </a:rPr>
              <a:t>process can reinforce neural connections between different tasks and correct responses, which enhance learning.</a:t>
            </a:r>
            <a:endParaRPr lang="en-GB" sz="2000" dirty="0">
              <a:solidFill>
                <a:schemeClr val="accent6">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Y:\PERSONNE\PERSONNE.GEN\Karl Joseph\Soft Skills Training\Stretch &amp; Connect\Train-the-Trainer\ebbinghaus-forgetting-curve_496x280.jpg"/>
          <p:cNvPicPr>
            <a:picLocks/>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67544" y="1700808"/>
            <a:ext cx="8352928" cy="4536504"/>
          </a:xfrm>
          <a:prstGeom prst="rect">
            <a:avLst/>
          </a:prstGeom>
          <a:noFill/>
          <a:ln>
            <a:noFill/>
          </a:ln>
        </p:spPr>
      </p:pic>
      <p:sp>
        <p:nvSpPr>
          <p:cNvPr id="3" name="Rectangle 2"/>
          <p:cNvSpPr/>
          <p:nvPr/>
        </p:nvSpPr>
        <p:spPr>
          <a:xfrm>
            <a:off x="467544" y="505681"/>
            <a:ext cx="8298105" cy="646331"/>
          </a:xfrm>
          <a:prstGeom prst="rect">
            <a:avLst/>
          </a:prstGeom>
        </p:spPr>
        <p:txBody>
          <a:bodyPr wrap="none">
            <a:spAutoFit/>
          </a:bodyPr>
          <a:lstStyle/>
          <a:p>
            <a:r>
              <a:rPr lang="en-GB" sz="3600" b="1" dirty="0" smtClean="0">
                <a:solidFill>
                  <a:schemeClr val="accent5">
                    <a:lumMod val="50000"/>
                  </a:schemeClr>
                </a:solidFill>
                <a:latin typeface="+mj-lt"/>
              </a:rPr>
              <a:t>Maintaining, reinforcing and consolidating</a:t>
            </a:r>
            <a:endParaRPr lang="en-GB" sz="3600" b="1" dirty="0">
              <a:solidFill>
                <a:schemeClr val="accent5">
                  <a:lumMod val="50000"/>
                </a:schemeClr>
              </a:solidFill>
              <a:latin typeface="+mj-lt"/>
            </a:endParaRPr>
          </a:p>
        </p:txBody>
      </p:sp>
    </p:spTree>
    <p:extLst>
      <p:ext uri="{BB962C8B-B14F-4D97-AF65-F5344CB8AC3E}">
        <p14:creationId xmlns="" xmlns:p14="http://schemas.microsoft.com/office/powerpoint/2010/main" val="26976203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024758" y="599090"/>
          <a:ext cx="7283670" cy="3474720"/>
        </p:xfrm>
        <a:graphic>
          <a:graphicData uri="http://schemas.openxmlformats.org/drawingml/2006/table">
            <a:tbl>
              <a:tblPr firstRow="1" bandRow="1">
                <a:tableStyleId>{68D230F3-CF80-4859-8CE7-A43EE81993B5}</a:tableStyleId>
              </a:tblPr>
              <a:tblGrid>
                <a:gridCol w="2427890"/>
                <a:gridCol w="2427890"/>
                <a:gridCol w="2427890"/>
              </a:tblGrid>
              <a:tr h="683462">
                <a:tc>
                  <a:txBody>
                    <a:bodyPr/>
                    <a:lstStyle/>
                    <a:p>
                      <a:r>
                        <a:rPr lang="en-GB" sz="2400" dirty="0" smtClean="0">
                          <a:solidFill>
                            <a:schemeClr val="accent5">
                              <a:lumMod val="50000"/>
                            </a:schemeClr>
                          </a:solidFill>
                        </a:rPr>
                        <a:t>READINESS </a:t>
                      </a:r>
                      <a:endParaRPr lang="en-GB" sz="2400" dirty="0">
                        <a:solidFill>
                          <a:schemeClr val="accent5">
                            <a:lumMod val="50000"/>
                          </a:schemeClr>
                        </a:solidFill>
                      </a:endParaRPr>
                    </a:p>
                  </a:txBody>
                  <a:tcPr/>
                </a:tc>
                <a:tc>
                  <a:txBody>
                    <a:bodyPr/>
                    <a:lstStyle/>
                    <a:p>
                      <a:r>
                        <a:rPr lang="en-GB" sz="2400" dirty="0" smtClean="0">
                          <a:solidFill>
                            <a:schemeClr val="accent5">
                              <a:lumMod val="50000"/>
                            </a:schemeClr>
                          </a:solidFill>
                        </a:rPr>
                        <a:t>INTEREST </a:t>
                      </a:r>
                      <a:endParaRPr lang="en-GB" sz="2400" dirty="0">
                        <a:solidFill>
                          <a:schemeClr val="accent5">
                            <a:lumMod val="50000"/>
                          </a:schemeClr>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2400" dirty="0" smtClean="0">
                          <a:solidFill>
                            <a:schemeClr val="accent5">
                              <a:lumMod val="50000"/>
                            </a:schemeClr>
                          </a:solidFill>
                        </a:rPr>
                        <a:t>LEARNING NEEDS</a:t>
                      </a:r>
                    </a:p>
                    <a:p>
                      <a:endParaRPr lang="en-GB" sz="2400" dirty="0">
                        <a:solidFill>
                          <a:schemeClr val="accent5">
                            <a:lumMod val="50000"/>
                          </a:schemeClr>
                        </a:solidFill>
                      </a:endParaRPr>
                    </a:p>
                  </a:txBody>
                  <a:tcPr/>
                </a:tc>
              </a:tr>
              <a:tr h="1269286">
                <a:tc>
                  <a:txBody>
                    <a:bodyPr/>
                    <a:lstStyle/>
                    <a:p>
                      <a:pPr>
                        <a:buFont typeface="Arial" pitchFamily="34" charset="0"/>
                        <a:buChar char="•"/>
                      </a:pPr>
                      <a:r>
                        <a:rPr lang="en-GB" sz="2400" dirty="0" smtClean="0">
                          <a:solidFill>
                            <a:schemeClr val="accent5">
                              <a:lumMod val="50000"/>
                            </a:schemeClr>
                          </a:solidFill>
                        </a:rPr>
                        <a:t>Content  knowledge  </a:t>
                      </a:r>
                    </a:p>
                    <a:p>
                      <a:pPr>
                        <a:buFont typeface="Arial" pitchFamily="34" charset="0"/>
                        <a:buChar char="•"/>
                      </a:pPr>
                      <a:r>
                        <a:rPr lang="en-GB" sz="2400" dirty="0" smtClean="0">
                          <a:solidFill>
                            <a:schemeClr val="accent5">
                              <a:lumMod val="50000"/>
                            </a:schemeClr>
                          </a:solidFill>
                        </a:rPr>
                        <a:t>Skills     </a:t>
                      </a:r>
                    </a:p>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GB" sz="2400" dirty="0" smtClean="0">
                          <a:solidFill>
                            <a:schemeClr val="accent5">
                              <a:lumMod val="50000"/>
                            </a:schemeClr>
                          </a:solidFill>
                        </a:rPr>
                        <a:t>Concepts</a:t>
                      </a:r>
                    </a:p>
                    <a:p>
                      <a:endParaRPr lang="en-GB" sz="2400" dirty="0">
                        <a:solidFill>
                          <a:schemeClr val="accent5">
                            <a:lumMod val="50000"/>
                          </a:schemeClr>
                        </a:solidFill>
                      </a:endParaRPr>
                    </a:p>
                  </a:txBody>
                  <a:tcPr/>
                </a:tc>
                <a:tc>
                  <a:txBody>
                    <a:bodyPr/>
                    <a:lstStyle/>
                    <a:p>
                      <a:r>
                        <a:rPr lang="en-GB" sz="2400" dirty="0" smtClean="0">
                          <a:solidFill>
                            <a:schemeClr val="accent5">
                              <a:lumMod val="50000"/>
                            </a:schemeClr>
                          </a:solidFill>
                        </a:rPr>
                        <a:t>• Interest Surveys </a:t>
                      </a:r>
                    </a:p>
                    <a:p>
                      <a:r>
                        <a:rPr lang="en-GB" sz="2400" dirty="0" smtClean="0">
                          <a:solidFill>
                            <a:schemeClr val="accent5">
                              <a:lumMod val="50000"/>
                            </a:schemeClr>
                          </a:solidFill>
                        </a:rPr>
                        <a:t>• Interest Centres </a:t>
                      </a:r>
                    </a:p>
                    <a:p>
                      <a:r>
                        <a:rPr lang="en-GB" sz="2400" dirty="0" smtClean="0">
                          <a:solidFill>
                            <a:schemeClr val="accent5">
                              <a:lumMod val="50000"/>
                            </a:schemeClr>
                          </a:solidFill>
                        </a:rPr>
                        <a:t>• Self-Selection</a:t>
                      </a:r>
                    </a:p>
                    <a:p>
                      <a:endParaRPr lang="en-GB" sz="2400" dirty="0">
                        <a:solidFill>
                          <a:schemeClr val="accent5">
                            <a:lumMod val="50000"/>
                          </a:schemeClr>
                        </a:solidFill>
                      </a:endParaRPr>
                    </a:p>
                  </a:txBody>
                  <a:tcPr/>
                </a:tc>
                <a:tc>
                  <a:txBody>
                    <a:bodyPr/>
                    <a:lstStyle/>
                    <a:p>
                      <a:r>
                        <a:rPr lang="en-GB" sz="2400" dirty="0" smtClean="0">
                          <a:solidFill>
                            <a:schemeClr val="accent5">
                              <a:lumMod val="50000"/>
                            </a:schemeClr>
                          </a:solidFill>
                        </a:rPr>
                        <a:t>• Areas of Strength  and Weakness </a:t>
                      </a:r>
                    </a:p>
                    <a:p>
                      <a:r>
                        <a:rPr lang="en-GB" sz="2400" dirty="0" smtClean="0">
                          <a:solidFill>
                            <a:schemeClr val="accent5">
                              <a:lumMod val="50000"/>
                            </a:schemeClr>
                          </a:solidFill>
                        </a:rPr>
                        <a:t>• Work Preferences </a:t>
                      </a:r>
                    </a:p>
                    <a:p>
                      <a:r>
                        <a:rPr lang="en-GB" sz="2400" dirty="0" smtClean="0">
                          <a:solidFill>
                            <a:schemeClr val="accent5">
                              <a:lumMod val="50000"/>
                            </a:schemeClr>
                          </a:solidFill>
                        </a:rPr>
                        <a:t>• Self Awareness</a:t>
                      </a:r>
                    </a:p>
                    <a:p>
                      <a:endParaRPr lang="en-GB" sz="2400" dirty="0">
                        <a:solidFill>
                          <a:schemeClr val="accent5">
                            <a:lumMod val="50000"/>
                          </a:schemeClr>
                        </a:solidFill>
                      </a:endParaRPr>
                    </a:p>
                  </a:txBody>
                  <a:tcPr/>
                </a:tc>
              </a:tr>
            </a:tbl>
          </a:graphicData>
        </a:graphic>
      </p:graphicFrame>
      <p:pic>
        <p:nvPicPr>
          <p:cNvPr id="4098" name="Picture 2" descr="C:\Users\Clair\AppData\Local\Microsoft\Windows\INetCache\IE\9ZP0XFER\silhouette-men-turning-pushing-cogs-illustration-group-lifting-gears-32642737[1].jpg"/>
          <p:cNvPicPr>
            <a:picLocks noChangeAspect="1" noChangeArrowheads="1"/>
          </p:cNvPicPr>
          <p:nvPr/>
        </p:nvPicPr>
        <p:blipFill>
          <a:blip r:embed="rId2"/>
          <a:srcRect/>
          <a:stretch>
            <a:fillRect/>
          </a:stretch>
        </p:blipFill>
        <p:spPr bwMode="auto">
          <a:xfrm>
            <a:off x="646386" y="4224896"/>
            <a:ext cx="2326741" cy="1639877"/>
          </a:xfrm>
          <a:prstGeom prst="rect">
            <a:avLst/>
          </a:prstGeom>
          <a:noFill/>
        </p:spPr>
      </p:pic>
      <p:pic>
        <p:nvPicPr>
          <p:cNvPr id="4099" name="Picture 3" descr="C:\Users\Clair\AppData\Local\Microsoft\Windows\INetCache\IE\RABPRE7S\marketing-target-winner-2-4677015[1].jpg"/>
          <p:cNvPicPr>
            <a:picLocks noChangeAspect="1" noChangeArrowheads="1"/>
          </p:cNvPicPr>
          <p:nvPr/>
        </p:nvPicPr>
        <p:blipFill>
          <a:blip r:embed="rId3"/>
          <a:srcRect/>
          <a:stretch>
            <a:fillRect/>
          </a:stretch>
        </p:blipFill>
        <p:spPr bwMode="auto">
          <a:xfrm>
            <a:off x="3310759" y="4533403"/>
            <a:ext cx="2396359" cy="1909553"/>
          </a:xfrm>
          <a:prstGeom prst="rect">
            <a:avLst/>
          </a:prstGeom>
          <a:noFill/>
        </p:spPr>
      </p:pic>
      <p:pic>
        <p:nvPicPr>
          <p:cNvPr id="4101" name="Picture 5" descr="C:\Users\Clair\AppData\Local\Microsoft\Windows\INetCache\IE\9ZP0XFER\group-296572_960_720[1].png"/>
          <p:cNvPicPr>
            <a:picLocks noChangeAspect="1" noChangeArrowheads="1"/>
          </p:cNvPicPr>
          <p:nvPr/>
        </p:nvPicPr>
        <p:blipFill>
          <a:blip r:embed="rId4"/>
          <a:srcRect/>
          <a:stretch>
            <a:fillRect/>
          </a:stretch>
        </p:blipFill>
        <p:spPr bwMode="auto">
          <a:xfrm>
            <a:off x="5707118" y="4224897"/>
            <a:ext cx="2932386" cy="163987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276" y="599090"/>
            <a:ext cx="7315200" cy="5201424"/>
          </a:xfrm>
          <a:prstGeom prst="rect">
            <a:avLst/>
          </a:prstGeom>
        </p:spPr>
        <p:txBody>
          <a:bodyPr wrap="square">
            <a:spAutoFit/>
          </a:bodyPr>
          <a:lstStyle/>
          <a:p>
            <a:r>
              <a:rPr lang="en-GB" sz="4400" b="1" dirty="0" smtClean="0">
                <a:solidFill>
                  <a:schemeClr val="accent6">
                    <a:lumMod val="50000"/>
                  </a:schemeClr>
                </a:solidFill>
              </a:rPr>
              <a:t>Pre-assessment Is... </a:t>
            </a:r>
            <a:endParaRPr lang="en-GB" sz="4400" b="1" dirty="0" smtClean="0">
              <a:solidFill>
                <a:schemeClr val="accent6">
                  <a:lumMod val="50000"/>
                </a:schemeClr>
              </a:solidFill>
            </a:endParaRPr>
          </a:p>
          <a:p>
            <a:r>
              <a:rPr lang="en-GB" sz="2400" dirty="0" smtClean="0">
                <a:solidFill>
                  <a:schemeClr val="accent6">
                    <a:lumMod val="50000"/>
                  </a:schemeClr>
                </a:solidFill>
              </a:rPr>
              <a:t>Any </a:t>
            </a:r>
            <a:r>
              <a:rPr lang="en-GB" sz="2400" dirty="0" smtClean="0">
                <a:solidFill>
                  <a:schemeClr val="accent6">
                    <a:lumMod val="50000"/>
                  </a:schemeClr>
                </a:solidFill>
              </a:rPr>
              <a:t>method, strategy or process used to determine a </a:t>
            </a:r>
            <a:r>
              <a:rPr lang="en-GB" sz="2400" dirty="0" smtClean="0">
                <a:solidFill>
                  <a:schemeClr val="accent6">
                    <a:lumMod val="50000"/>
                  </a:schemeClr>
                </a:solidFill>
              </a:rPr>
              <a:t>pupil’s </a:t>
            </a:r>
            <a:r>
              <a:rPr lang="en-GB" sz="2400" dirty="0" smtClean="0">
                <a:solidFill>
                  <a:schemeClr val="accent6">
                    <a:lumMod val="50000"/>
                  </a:schemeClr>
                </a:solidFill>
              </a:rPr>
              <a:t>current level of readiness or interest in order to plan for appropriate instruction</a:t>
            </a:r>
            <a:r>
              <a:rPr lang="en-GB" sz="2400" dirty="0" smtClean="0">
                <a:solidFill>
                  <a:schemeClr val="accent6">
                    <a:lumMod val="50000"/>
                  </a:schemeClr>
                </a:solidFill>
              </a:rPr>
              <a:t>.</a:t>
            </a:r>
          </a:p>
          <a:p>
            <a:endParaRPr lang="en-GB" sz="2400" dirty="0" smtClean="0">
              <a:solidFill>
                <a:schemeClr val="accent6">
                  <a:lumMod val="50000"/>
                </a:schemeClr>
              </a:solidFill>
            </a:endParaRPr>
          </a:p>
          <a:p>
            <a:r>
              <a:rPr lang="en-GB" sz="2400" dirty="0" smtClean="0">
                <a:solidFill>
                  <a:schemeClr val="accent6">
                    <a:lumMod val="50000"/>
                  </a:schemeClr>
                </a:solidFill>
              </a:rPr>
              <a:t>• provides data to determine options for </a:t>
            </a:r>
            <a:r>
              <a:rPr lang="en-GB" sz="2400" dirty="0" smtClean="0">
                <a:solidFill>
                  <a:schemeClr val="accent6">
                    <a:lumMod val="50000"/>
                  </a:schemeClr>
                </a:solidFill>
              </a:rPr>
              <a:t>pupils </a:t>
            </a:r>
          </a:p>
          <a:p>
            <a:r>
              <a:rPr lang="en-GB" sz="2400" dirty="0" smtClean="0">
                <a:solidFill>
                  <a:schemeClr val="accent6">
                    <a:lumMod val="50000"/>
                  </a:schemeClr>
                </a:solidFill>
              </a:rPr>
              <a:t>• </a:t>
            </a:r>
            <a:r>
              <a:rPr lang="en-GB" sz="2400" dirty="0" smtClean="0">
                <a:solidFill>
                  <a:schemeClr val="accent6">
                    <a:lumMod val="50000"/>
                  </a:schemeClr>
                </a:solidFill>
              </a:rPr>
              <a:t>helps determine differences before planning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helps teacher design activities that are meaningful and challenging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allows teachers to meet </a:t>
            </a:r>
            <a:r>
              <a:rPr lang="en-GB" sz="2400" dirty="0" smtClean="0">
                <a:solidFill>
                  <a:schemeClr val="accent6">
                    <a:lumMod val="50000"/>
                  </a:schemeClr>
                </a:solidFill>
              </a:rPr>
              <a:t>pupils </a:t>
            </a:r>
            <a:r>
              <a:rPr lang="en-GB" sz="2400" dirty="0" smtClean="0">
                <a:solidFill>
                  <a:schemeClr val="accent6">
                    <a:lumMod val="50000"/>
                  </a:schemeClr>
                </a:solidFill>
              </a:rPr>
              <a:t>where they are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identifies starting point for instruction </a:t>
            </a:r>
            <a:endParaRPr lang="en-GB" sz="2400" dirty="0" smtClean="0">
              <a:solidFill>
                <a:schemeClr val="accent6">
                  <a:lumMod val="50000"/>
                </a:schemeClr>
              </a:solidFill>
            </a:endParaRPr>
          </a:p>
          <a:p>
            <a:r>
              <a:rPr lang="en-GB" sz="2400" dirty="0" smtClean="0">
                <a:solidFill>
                  <a:schemeClr val="accent6">
                    <a:lumMod val="50000"/>
                  </a:schemeClr>
                </a:solidFill>
              </a:rPr>
              <a:t>• </a:t>
            </a:r>
            <a:r>
              <a:rPr lang="en-GB" sz="2400" dirty="0" smtClean="0">
                <a:solidFill>
                  <a:schemeClr val="accent6">
                    <a:lumMod val="50000"/>
                  </a:schemeClr>
                </a:solidFill>
              </a:rPr>
              <a:t>identifies learning gaps </a:t>
            </a:r>
            <a:endParaRPr lang="en-GB" sz="2400" dirty="0" smtClean="0">
              <a:solidFill>
                <a:schemeClr val="accent6">
                  <a:lumMod val="50000"/>
                </a:schemeClr>
              </a:solidFill>
            </a:endParaRPr>
          </a:p>
          <a:p>
            <a:r>
              <a:rPr lang="en-GB" sz="2400" dirty="0" smtClean="0">
                <a:solidFill>
                  <a:schemeClr val="accent6">
                    <a:lumMod val="50000"/>
                  </a:schemeClr>
                </a:solidFill>
              </a:rPr>
              <a:t>• makes </a:t>
            </a:r>
            <a:r>
              <a:rPr lang="en-GB" sz="2400" dirty="0" smtClean="0">
                <a:solidFill>
                  <a:schemeClr val="accent6">
                    <a:lumMod val="50000"/>
                  </a:schemeClr>
                </a:solidFill>
              </a:rPr>
              <a:t>efficient use of instructional time</a:t>
            </a:r>
            <a:endParaRPr lang="en-GB" sz="2400" dirty="0">
              <a:solidFill>
                <a:schemeClr val="accent6">
                  <a:lumMod val="50000"/>
                </a:schemeClr>
              </a:solidFill>
            </a:endParaRPr>
          </a:p>
        </p:txBody>
      </p:sp>
      <p:pic>
        <p:nvPicPr>
          <p:cNvPr id="3" name="Picture 2" descr="C:\Users\Clair\AppData\Local\Microsoft\Windows\INetCache\IE\RABPRE7S\assessment_in[1].jpg"/>
          <p:cNvPicPr>
            <a:picLocks noChangeAspect="1" noChangeArrowheads="1"/>
          </p:cNvPicPr>
          <p:nvPr/>
        </p:nvPicPr>
        <p:blipFill>
          <a:blip r:embed="rId3"/>
          <a:srcRect/>
          <a:stretch>
            <a:fillRect/>
          </a:stretch>
        </p:blipFill>
        <p:spPr bwMode="auto">
          <a:xfrm>
            <a:off x="7707396" y="0"/>
            <a:ext cx="1436604" cy="1308227"/>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descr="http://265725080178138949.weebly.com/uploads/1/6/7/0/16700076/9134049_orig.jpg"/>
          <p:cNvPicPr>
            <a:picLocks/>
          </p:cNvPicPr>
          <p:nvPr/>
        </p:nvPicPr>
        <p:blipFill>
          <a:blip r:embed="rId2" cstate="print"/>
          <a:srcRect/>
          <a:stretch>
            <a:fillRect/>
          </a:stretch>
        </p:blipFill>
        <p:spPr bwMode="auto">
          <a:xfrm>
            <a:off x="1368294" y="1600200"/>
            <a:ext cx="6407412" cy="4525963"/>
          </a:xfrm>
          <a:prstGeom prst="rect">
            <a:avLst/>
          </a:prstGeom>
          <a:noFill/>
          <a:ln w="9525">
            <a:noFill/>
            <a:miter lim="800000"/>
            <a:headEnd/>
            <a:tailEnd/>
          </a:ln>
        </p:spPr>
      </p:pic>
      <p:sp>
        <p:nvSpPr>
          <p:cNvPr id="3" name="Rectangle 2"/>
          <p:cNvSpPr/>
          <p:nvPr/>
        </p:nvSpPr>
        <p:spPr>
          <a:xfrm>
            <a:off x="2729668" y="693683"/>
            <a:ext cx="3028393" cy="830997"/>
          </a:xfrm>
          <a:prstGeom prst="rect">
            <a:avLst/>
          </a:prstGeom>
        </p:spPr>
        <p:txBody>
          <a:bodyPr wrap="none">
            <a:spAutoFit/>
          </a:bodyPr>
          <a:lstStyle/>
          <a:p>
            <a:r>
              <a:rPr lang="en-GB" sz="4800" b="1" dirty="0" smtClean="0">
                <a:solidFill>
                  <a:srgbClr val="008000"/>
                </a:solidFill>
              </a:rPr>
              <a:t>Consider….</a:t>
            </a:r>
            <a:endParaRPr lang="en-GB" sz="4800" b="1" dirty="0">
              <a:solidFill>
                <a:srgbClr val="008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5931" y="409904"/>
            <a:ext cx="7252138" cy="5139869"/>
          </a:xfrm>
          <a:prstGeom prst="rect">
            <a:avLst/>
          </a:prstGeom>
        </p:spPr>
        <p:txBody>
          <a:bodyPr wrap="square">
            <a:spAutoFit/>
          </a:bodyPr>
          <a:lstStyle/>
          <a:p>
            <a:r>
              <a:rPr lang="en-GB" sz="4000" b="1" dirty="0" smtClean="0">
                <a:solidFill>
                  <a:srgbClr val="C00000"/>
                </a:solidFill>
              </a:rPr>
              <a:t>Formative Assessment </a:t>
            </a:r>
            <a:r>
              <a:rPr lang="en-GB" sz="4000" b="1" dirty="0" smtClean="0">
                <a:solidFill>
                  <a:srgbClr val="C00000"/>
                </a:solidFill>
              </a:rPr>
              <a:t>is…</a:t>
            </a:r>
          </a:p>
          <a:p>
            <a:r>
              <a:rPr lang="en-GB" sz="2400" dirty="0" smtClean="0">
                <a:solidFill>
                  <a:srgbClr val="C00000"/>
                </a:solidFill>
              </a:rPr>
              <a:t>A </a:t>
            </a:r>
            <a:r>
              <a:rPr lang="en-GB" sz="2400" dirty="0" smtClean="0">
                <a:solidFill>
                  <a:srgbClr val="C00000"/>
                </a:solidFill>
              </a:rPr>
              <a:t>process of accumulating information about a </a:t>
            </a:r>
            <a:r>
              <a:rPr lang="en-GB" sz="2400" dirty="0" smtClean="0">
                <a:solidFill>
                  <a:srgbClr val="C00000"/>
                </a:solidFill>
              </a:rPr>
              <a:t>pupil’s </a:t>
            </a:r>
            <a:r>
              <a:rPr lang="en-GB" sz="2400" dirty="0" smtClean="0">
                <a:solidFill>
                  <a:srgbClr val="C00000"/>
                </a:solidFill>
              </a:rPr>
              <a:t>progress to help make instructional decisions that will improve his/her understandings and achievement levels</a:t>
            </a:r>
            <a:r>
              <a:rPr lang="en-GB" sz="2400" dirty="0" smtClean="0">
                <a:solidFill>
                  <a:srgbClr val="C00000"/>
                </a:solidFill>
              </a:rPr>
              <a:t>.</a:t>
            </a:r>
          </a:p>
          <a:p>
            <a:endParaRPr lang="en-GB" sz="2400" dirty="0" smtClean="0">
              <a:solidFill>
                <a:srgbClr val="C00000"/>
              </a:solidFill>
            </a:endParaRPr>
          </a:p>
          <a:p>
            <a:r>
              <a:rPr lang="en-GB" sz="2400" dirty="0" smtClean="0">
                <a:solidFill>
                  <a:srgbClr val="C00000"/>
                </a:solidFill>
              </a:rPr>
              <a:t>• Depicts </a:t>
            </a:r>
            <a:r>
              <a:rPr lang="en-GB" sz="2400" dirty="0" smtClean="0">
                <a:solidFill>
                  <a:srgbClr val="C00000"/>
                </a:solidFill>
              </a:rPr>
              <a:t>pupil’s </a:t>
            </a:r>
            <a:r>
              <a:rPr lang="en-GB" sz="2400" dirty="0" smtClean="0">
                <a:solidFill>
                  <a:srgbClr val="C00000"/>
                </a:solidFill>
              </a:rPr>
              <a:t>life as a learner </a:t>
            </a:r>
            <a:endParaRPr lang="en-GB" sz="2400" dirty="0" smtClean="0">
              <a:solidFill>
                <a:srgbClr val="C00000"/>
              </a:solidFill>
            </a:endParaRPr>
          </a:p>
          <a:p>
            <a:r>
              <a:rPr lang="en-GB" sz="2400" dirty="0" smtClean="0">
                <a:solidFill>
                  <a:srgbClr val="C00000"/>
                </a:solidFill>
              </a:rPr>
              <a:t>• </a:t>
            </a:r>
            <a:r>
              <a:rPr lang="en-GB" sz="2400" dirty="0" smtClean="0">
                <a:solidFill>
                  <a:srgbClr val="C00000"/>
                </a:solidFill>
              </a:rPr>
              <a:t>used to make instructional adjustments </a:t>
            </a:r>
            <a:endParaRPr lang="en-GB" sz="2400" dirty="0" smtClean="0">
              <a:solidFill>
                <a:srgbClr val="C00000"/>
              </a:solidFill>
            </a:endParaRPr>
          </a:p>
          <a:p>
            <a:r>
              <a:rPr lang="en-GB" sz="2400" dirty="0" smtClean="0">
                <a:solidFill>
                  <a:srgbClr val="C00000"/>
                </a:solidFill>
              </a:rPr>
              <a:t>• </a:t>
            </a:r>
            <a:r>
              <a:rPr lang="en-GB" sz="2400" dirty="0" smtClean="0">
                <a:solidFill>
                  <a:srgbClr val="C00000"/>
                </a:solidFill>
              </a:rPr>
              <a:t>alerts the teacher about </a:t>
            </a:r>
            <a:r>
              <a:rPr lang="en-GB" sz="2400" dirty="0" smtClean="0">
                <a:solidFill>
                  <a:srgbClr val="C00000"/>
                </a:solidFill>
              </a:rPr>
              <a:t>pupil </a:t>
            </a:r>
            <a:r>
              <a:rPr lang="en-GB" sz="2400" dirty="0" smtClean="0">
                <a:solidFill>
                  <a:srgbClr val="C00000"/>
                </a:solidFill>
              </a:rPr>
              <a:t>misconceptions  “ early warning signal” </a:t>
            </a:r>
            <a:endParaRPr lang="en-GB" sz="2400" dirty="0" smtClean="0">
              <a:solidFill>
                <a:srgbClr val="C00000"/>
              </a:solidFill>
            </a:endParaRPr>
          </a:p>
          <a:p>
            <a:r>
              <a:rPr lang="en-GB" sz="2400" dirty="0" smtClean="0">
                <a:solidFill>
                  <a:srgbClr val="C00000"/>
                </a:solidFill>
              </a:rPr>
              <a:t>• </a:t>
            </a:r>
            <a:r>
              <a:rPr lang="en-GB" sz="2400" dirty="0" smtClean="0">
                <a:solidFill>
                  <a:srgbClr val="C00000"/>
                </a:solidFill>
              </a:rPr>
              <a:t>allows </a:t>
            </a:r>
            <a:r>
              <a:rPr lang="en-GB" sz="2400" dirty="0" smtClean="0">
                <a:solidFill>
                  <a:srgbClr val="C00000"/>
                </a:solidFill>
              </a:rPr>
              <a:t>pupils </a:t>
            </a:r>
            <a:r>
              <a:rPr lang="en-GB" sz="2400" dirty="0" smtClean="0">
                <a:solidFill>
                  <a:srgbClr val="C00000"/>
                </a:solidFill>
              </a:rPr>
              <a:t>to build on previous experiences </a:t>
            </a:r>
            <a:endParaRPr lang="en-GB" sz="2400" dirty="0" smtClean="0">
              <a:solidFill>
                <a:srgbClr val="C00000"/>
              </a:solidFill>
            </a:endParaRPr>
          </a:p>
          <a:p>
            <a:r>
              <a:rPr lang="en-GB" sz="2400" dirty="0" smtClean="0">
                <a:solidFill>
                  <a:srgbClr val="C00000"/>
                </a:solidFill>
              </a:rPr>
              <a:t>• </a:t>
            </a:r>
            <a:r>
              <a:rPr lang="en-GB" sz="2400" dirty="0" smtClean="0">
                <a:solidFill>
                  <a:srgbClr val="C00000"/>
                </a:solidFill>
              </a:rPr>
              <a:t>provides regular feedback </a:t>
            </a:r>
            <a:endParaRPr lang="en-GB" sz="2400" dirty="0" smtClean="0">
              <a:solidFill>
                <a:srgbClr val="C00000"/>
              </a:solidFill>
            </a:endParaRPr>
          </a:p>
          <a:p>
            <a:r>
              <a:rPr lang="en-GB" sz="2400" dirty="0" smtClean="0">
                <a:solidFill>
                  <a:srgbClr val="C00000"/>
                </a:solidFill>
              </a:rPr>
              <a:t>• </a:t>
            </a:r>
            <a:r>
              <a:rPr lang="en-GB" sz="2400" dirty="0" smtClean="0">
                <a:solidFill>
                  <a:srgbClr val="C00000"/>
                </a:solidFill>
              </a:rPr>
              <a:t>provides evidence of progress </a:t>
            </a:r>
            <a:endParaRPr lang="en-GB" sz="2400" dirty="0" smtClean="0">
              <a:solidFill>
                <a:srgbClr val="C00000"/>
              </a:solidFill>
            </a:endParaRPr>
          </a:p>
          <a:p>
            <a:r>
              <a:rPr lang="en-GB" sz="2400" dirty="0" smtClean="0">
                <a:solidFill>
                  <a:srgbClr val="C00000"/>
                </a:solidFill>
              </a:rPr>
              <a:t>• aligns </a:t>
            </a:r>
            <a:r>
              <a:rPr lang="en-GB" sz="2400" dirty="0" smtClean="0">
                <a:solidFill>
                  <a:srgbClr val="C00000"/>
                </a:solidFill>
              </a:rPr>
              <a:t>with instructional/curricular outcomes</a:t>
            </a:r>
            <a:endParaRPr lang="en-GB" sz="2400" dirty="0">
              <a:solidFill>
                <a:srgbClr val="C00000"/>
              </a:solidFill>
            </a:endParaRPr>
          </a:p>
        </p:txBody>
      </p:sp>
      <p:pic>
        <p:nvPicPr>
          <p:cNvPr id="2050" name="Picture 2" descr="C:\Users\Clair\AppData\Local\Microsoft\Windows\INetCache\IE\RABPRE7S\assessment_in[1].jpg"/>
          <p:cNvPicPr>
            <a:picLocks noChangeAspect="1" noChangeArrowheads="1"/>
          </p:cNvPicPr>
          <p:nvPr/>
        </p:nvPicPr>
        <p:blipFill>
          <a:blip r:embed="rId2"/>
          <a:srcRect/>
          <a:stretch>
            <a:fillRect/>
          </a:stretch>
        </p:blipFill>
        <p:spPr bwMode="auto">
          <a:xfrm>
            <a:off x="549851" y="5329055"/>
            <a:ext cx="1436604" cy="1308227"/>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Image result for KWL grids"/>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87624" y="1284864"/>
            <a:ext cx="6552728" cy="4880440"/>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p:cNvSpPr/>
          <p:nvPr/>
        </p:nvSpPr>
        <p:spPr>
          <a:xfrm>
            <a:off x="2850855" y="504497"/>
            <a:ext cx="2373407" cy="707886"/>
          </a:xfrm>
          <a:prstGeom prst="rect">
            <a:avLst/>
          </a:prstGeom>
        </p:spPr>
        <p:txBody>
          <a:bodyPr wrap="none">
            <a:spAutoFit/>
          </a:bodyPr>
          <a:lstStyle/>
          <a:p>
            <a:pPr algn="ctr"/>
            <a:r>
              <a:rPr lang="en-GB" sz="4000" b="1" dirty="0" smtClean="0">
                <a:latin typeface="+mj-lt"/>
              </a:rPr>
              <a:t>KWL Grids</a:t>
            </a:r>
            <a:endParaRPr lang="en-GB" sz="4000" b="1" dirty="0">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262" y="1"/>
            <a:ext cx="8040414" cy="6432530"/>
          </a:xfrm>
          <a:prstGeom prst="rect">
            <a:avLst/>
          </a:prstGeom>
        </p:spPr>
        <p:txBody>
          <a:bodyPr wrap="square">
            <a:spAutoFit/>
          </a:bodyPr>
          <a:lstStyle/>
          <a:p>
            <a:r>
              <a:rPr lang="en-GB" sz="3600" b="1" dirty="0" smtClean="0">
                <a:solidFill>
                  <a:schemeClr val="tx2">
                    <a:lumMod val="75000"/>
                  </a:schemeClr>
                </a:solidFill>
              </a:rPr>
              <a:t>Some examples of pre-assessment and formative assessment techniques</a:t>
            </a:r>
          </a:p>
          <a:p>
            <a:r>
              <a:rPr lang="en-GB" sz="2000" dirty="0" smtClean="0">
                <a:solidFill>
                  <a:schemeClr val="tx2">
                    <a:lumMod val="75000"/>
                  </a:schemeClr>
                </a:solidFill>
              </a:rPr>
              <a:t>Teacher </a:t>
            </a:r>
            <a:r>
              <a:rPr lang="en-GB" sz="2000" dirty="0" smtClean="0">
                <a:solidFill>
                  <a:schemeClr val="tx2">
                    <a:lumMod val="75000"/>
                  </a:schemeClr>
                </a:solidFill>
              </a:rPr>
              <a:t>prepared </a:t>
            </a:r>
            <a:r>
              <a:rPr lang="en-GB" sz="2000" dirty="0" smtClean="0">
                <a:solidFill>
                  <a:schemeClr val="tx2">
                    <a:lumMod val="75000"/>
                  </a:schemeClr>
                </a:solidFill>
              </a:rPr>
              <a:t>pre-tests </a:t>
            </a:r>
          </a:p>
          <a:p>
            <a:r>
              <a:rPr lang="en-GB" sz="2000" dirty="0" smtClean="0">
                <a:solidFill>
                  <a:schemeClr val="tx2">
                    <a:lumMod val="75000"/>
                  </a:schemeClr>
                </a:solidFill>
              </a:rPr>
              <a:t>KWL </a:t>
            </a:r>
            <a:r>
              <a:rPr lang="en-GB" sz="2000" dirty="0" smtClean="0">
                <a:solidFill>
                  <a:schemeClr val="tx2">
                    <a:lumMod val="75000"/>
                  </a:schemeClr>
                </a:solidFill>
              </a:rPr>
              <a:t>charts and other graphic </a:t>
            </a:r>
            <a:r>
              <a:rPr lang="en-GB" sz="2000" dirty="0" smtClean="0">
                <a:solidFill>
                  <a:schemeClr val="tx2">
                    <a:lumMod val="75000"/>
                  </a:schemeClr>
                </a:solidFill>
              </a:rPr>
              <a:t>organisers </a:t>
            </a:r>
          </a:p>
          <a:p>
            <a:r>
              <a:rPr lang="en-GB" sz="2000" dirty="0" smtClean="0">
                <a:solidFill>
                  <a:schemeClr val="tx2">
                    <a:lumMod val="75000"/>
                  </a:schemeClr>
                </a:solidFill>
              </a:rPr>
              <a:t>Writing </a:t>
            </a:r>
            <a:r>
              <a:rPr lang="en-GB" sz="2000" dirty="0" smtClean="0">
                <a:solidFill>
                  <a:schemeClr val="tx2">
                    <a:lumMod val="75000"/>
                  </a:schemeClr>
                </a:solidFill>
              </a:rPr>
              <a:t>prompts/samples </a:t>
            </a:r>
            <a:endParaRPr lang="en-GB" sz="2000" dirty="0" smtClean="0">
              <a:solidFill>
                <a:schemeClr val="tx2">
                  <a:lumMod val="75000"/>
                </a:schemeClr>
              </a:solidFill>
            </a:endParaRPr>
          </a:p>
          <a:p>
            <a:r>
              <a:rPr lang="en-GB" sz="2000" dirty="0" smtClean="0">
                <a:solidFill>
                  <a:schemeClr val="tx2">
                    <a:lumMod val="75000"/>
                  </a:schemeClr>
                </a:solidFill>
              </a:rPr>
              <a:t>Questioning </a:t>
            </a:r>
          </a:p>
          <a:p>
            <a:r>
              <a:rPr lang="en-GB" sz="2000" dirty="0" smtClean="0">
                <a:solidFill>
                  <a:schemeClr val="tx2">
                    <a:lumMod val="75000"/>
                  </a:schemeClr>
                </a:solidFill>
              </a:rPr>
              <a:t>Guess </a:t>
            </a:r>
            <a:r>
              <a:rPr lang="en-GB" sz="2000" dirty="0" smtClean="0">
                <a:solidFill>
                  <a:schemeClr val="tx2">
                    <a:lumMod val="75000"/>
                  </a:schemeClr>
                </a:solidFill>
              </a:rPr>
              <a:t>Box </a:t>
            </a:r>
            <a:endParaRPr lang="en-GB" sz="2000" dirty="0" smtClean="0">
              <a:solidFill>
                <a:schemeClr val="tx2">
                  <a:lumMod val="75000"/>
                </a:schemeClr>
              </a:solidFill>
            </a:endParaRPr>
          </a:p>
          <a:p>
            <a:r>
              <a:rPr lang="en-GB" sz="2000" dirty="0" smtClean="0">
                <a:solidFill>
                  <a:schemeClr val="tx2">
                    <a:lumMod val="75000"/>
                  </a:schemeClr>
                </a:solidFill>
              </a:rPr>
              <a:t>Picture </a:t>
            </a:r>
            <a:r>
              <a:rPr lang="en-GB" sz="2000" dirty="0" smtClean="0">
                <a:solidFill>
                  <a:schemeClr val="tx2">
                    <a:lumMod val="75000"/>
                  </a:schemeClr>
                </a:solidFill>
              </a:rPr>
              <a:t>Interpretation </a:t>
            </a:r>
            <a:endParaRPr lang="en-GB" sz="2000" dirty="0" smtClean="0">
              <a:solidFill>
                <a:schemeClr val="tx2">
                  <a:lumMod val="75000"/>
                </a:schemeClr>
              </a:solidFill>
            </a:endParaRPr>
          </a:p>
          <a:p>
            <a:r>
              <a:rPr lang="en-GB" sz="2000" dirty="0" smtClean="0">
                <a:solidFill>
                  <a:schemeClr val="tx2">
                    <a:lumMod val="75000"/>
                  </a:schemeClr>
                </a:solidFill>
              </a:rPr>
              <a:t>Prediction </a:t>
            </a:r>
          </a:p>
          <a:p>
            <a:r>
              <a:rPr lang="en-GB" sz="2000" dirty="0" smtClean="0">
                <a:solidFill>
                  <a:schemeClr val="tx2">
                    <a:lumMod val="75000"/>
                  </a:schemeClr>
                </a:solidFill>
              </a:rPr>
              <a:t>Teacher </a:t>
            </a:r>
            <a:r>
              <a:rPr lang="en-GB" sz="2000" dirty="0" smtClean="0">
                <a:solidFill>
                  <a:schemeClr val="tx2">
                    <a:lumMod val="75000"/>
                  </a:schemeClr>
                </a:solidFill>
              </a:rPr>
              <a:t>observation/checklists </a:t>
            </a:r>
            <a:r>
              <a:rPr lang="en-GB" sz="2000" dirty="0" smtClean="0">
                <a:solidFill>
                  <a:schemeClr val="tx2">
                    <a:lumMod val="75000"/>
                  </a:schemeClr>
                </a:solidFill>
              </a:rPr>
              <a:t>pupil </a:t>
            </a:r>
            <a:r>
              <a:rPr lang="en-GB" sz="2000" dirty="0" smtClean="0">
                <a:solidFill>
                  <a:schemeClr val="tx2">
                    <a:lumMod val="75000"/>
                  </a:schemeClr>
                </a:solidFill>
              </a:rPr>
              <a:t>demonstrations and discussions </a:t>
            </a:r>
            <a:endParaRPr lang="en-GB" sz="2000" dirty="0" smtClean="0">
              <a:solidFill>
                <a:schemeClr val="tx2">
                  <a:lumMod val="75000"/>
                </a:schemeClr>
              </a:solidFill>
            </a:endParaRPr>
          </a:p>
          <a:p>
            <a:r>
              <a:rPr lang="en-GB" sz="2000" dirty="0" smtClean="0">
                <a:solidFill>
                  <a:schemeClr val="tx2">
                    <a:lumMod val="75000"/>
                  </a:schemeClr>
                </a:solidFill>
              </a:rPr>
              <a:t>Initiating </a:t>
            </a:r>
            <a:r>
              <a:rPr lang="en-GB" sz="2000" dirty="0" smtClean="0">
                <a:solidFill>
                  <a:schemeClr val="tx2">
                    <a:lumMod val="75000"/>
                  </a:schemeClr>
                </a:solidFill>
              </a:rPr>
              <a:t>activities </a:t>
            </a:r>
            <a:endParaRPr lang="en-GB" sz="2000" dirty="0" smtClean="0">
              <a:solidFill>
                <a:schemeClr val="tx2">
                  <a:lumMod val="75000"/>
                </a:schemeClr>
              </a:solidFill>
            </a:endParaRPr>
          </a:p>
          <a:p>
            <a:r>
              <a:rPr lang="en-GB" sz="2000" dirty="0" smtClean="0">
                <a:solidFill>
                  <a:schemeClr val="tx2">
                    <a:lumMod val="75000"/>
                  </a:schemeClr>
                </a:solidFill>
              </a:rPr>
              <a:t>Informational </a:t>
            </a:r>
            <a:r>
              <a:rPr lang="en-GB" sz="2000" dirty="0" smtClean="0">
                <a:solidFill>
                  <a:schemeClr val="tx2">
                    <a:lumMod val="75000"/>
                  </a:schemeClr>
                </a:solidFill>
              </a:rPr>
              <a:t>surveys/Questionnaires/Inventories </a:t>
            </a:r>
            <a:r>
              <a:rPr lang="en-GB" sz="2000" dirty="0" smtClean="0">
                <a:solidFill>
                  <a:schemeClr val="tx2">
                    <a:lumMod val="75000"/>
                  </a:schemeClr>
                </a:solidFill>
              </a:rPr>
              <a:t>pupil </a:t>
            </a:r>
            <a:r>
              <a:rPr lang="en-GB" sz="2000" dirty="0" smtClean="0">
                <a:solidFill>
                  <a:schemeClr val="tx2">
                    <a:lumMod val="75000"/>
                  </a:schemeClr>
                </a:solidFill>
              </a:rPr>
              <a:t>interviews </a:t>
            </a:r>
            <a:r>
              <a:rPr lang="en-GB" sz="2000" dirty="0" smtClean="0">
                <a:solidFill>
                  <a:schemeClr val="tx2">
                    <a:lumMod val="75000"/>
                  </a:schemeClr>
                </a:solidFill>
              </a:rPr>
              <a:t>pupil </a:t>
            </a:r>
            <a:r>
              <a:rPr lang="en-GB" sz="2000" dirty="0" smtClean="0">
                <a:solidFill>
                  <a:schemeClr val="tx2">
                    <a:lumMod val="75000"/>
                  </a:schemeClr>
                </a:solidFill>
              </a:rPr>
              <a:t>products and work samples </a:t>
            </a:r>
            <a:endParaRPr lang="en-GB" sz="2000" dirty="0" smtClean="0">
              <a:solidFill>
                <a:schemeClr val="tx2">
                  <a:lumMod val="75000"/>
                </a:schemeClr>
              </a:solidFill>
            </a:endParaRPr>
          </a:p>
          <a:p>
            <a:r>
              <a:rPr lang="en-GB" sz="2000" dirty="0" smtClean="0">
                <a:solidFill>
                  <a:schemeClr val="tx2">
                    <a:lumMod val="75000"/>
                  </a:schemeClr>
                </a:solidFill>
              </a:rPr>
              <a:t>Self-evaluations </a:t>
            </a:r>
          </a:p>
          <a:p>
            <a:r>
              <a:rPr lang="en-GB" sz="2000" dirty="0" smtClean="0">
                <a:solidFill>
                  <a:schemeClr val="tx2">
                    <a:lumMod val="75000"/>
                  </a:schemeClr>
                </a:solidFill>
              </a:rPr>
              <a:t>Portfolio </a:t>
            </a:r>
            <a:r>
              <a:rPr lang="en-GB" sz="2000" dirty="0" smtClean="0">
                <a:solidFill>
                  <a:schemeClr val="tx2">
                    <a:lumMod val="75000"/>
                  </a:schemeClr>
                </a:solidFill>
              </a:rPr>
              <a:t>analysis </a:t>
            </a:r>
            <a:r>
              <a:rPr lang="en-GB" sz="2000" dirty="0" smtClean="0">
                <a:solidFill>
                  <a:schemeClr val="tx2">
                    <a:lumMod val="75000"/>
                  </a:schemeClr>
                </a:solidFill>
              </a:rPr>
              <a:t> (EYFS)</a:t>
            </a:r>
          </a:p>
          <a:p>
            <a:r>
              <a:rPr lang="en-GB" sz="2000" dirty="0" smtClean="0">
                <a:solidFill>
                  <a:schemeClr val="tx2">
                    <a:lumMod val="75000"/>
                  </a:schemeClr>
                </a:solidFill>
              </a:rPr>
              <a:t>Game </a:t>
            </a:r>
            <a:r>
              <a:rPr lang="en-GB" sz="2000" dirty="0" smtClean="0">
                <a:solidFill>
                  <a:schemeClr val="tx2">
                    <a:lumMod val="75000"/>
                  </a:schemeClr>
                </a:solidFill>
              </a:rPr>
              <a:t>activities </a:t>
            </a:r>
            <a:endParaRPr lang="en-GB" sz="2000" dirty="0" smtClean="0">
              <a:solidFill>
                <a:schemeClr val="tx2">
                  <a:lumMod val="75000"/>
                </a:schemeClr>
              </a:solidFill>
            </a:endParaRPr>
          </a:p>
          <a:p>
            <a:r>
              <a:rPr lang="en-GB" sz="2000" dirty="0" smtClean="0">
                <a:solidFill>
                  <a:schemeClr val="tx2">
                    <a:lumMod val="75000"/>
                  </a:schemeClr>
                </a:solidFill>
              </a:rPr>
              <a:t>Show </a:t>
            </a:r>
            <a:r>
              <a:rPr lang="en-GB" sz="2000" dirty="0" smtClean="0">
                <a:solidFill>
                  <a:schemeClr val="tx2">
                    <a:lumMod val="75000"/>
                  </a:schemeClr>
                </a:solidFill>
              </a:rPr>
              <a:t>of hands to determine understanding </a:t>
            </a:r>
            <a:endParaRPr lang="en-GB" sz="2000" dirty="0" smtClean="0">
              <a:solidFill>
                <a:schemeClr val="tx2">
                  <a:lumMod val="75000"/>
                </a:schemeClr>
              </a:solidFill>
            </a:endParaRPr>
          </a:p>
          <a:p>
            <a:r>
              <a:rPr lang="en-GB" sz="2000" dirty="0" smtClean="0">
                <a:solidFill>
                  <a:schemeClr val="tx2">
                    <a:lumMod val="75000"/>
                  </a:schemeClr>
                </a:solidFill>
              </a:rPr>
              <a:t>Drawing </a:t>
            </a:r>
            <a:r>
              <a:rPr lang="en-GB" sz="2000" dirty="0" smtClean="0">
                <a:solidFill>
                  <a:schemeClr val="tx2">
                    <a:lumMod val="75000"/>
                  </a:schemeClr>
                </a:solidFill>
              </a:rPr>
              <a:t>related to topic or content </a:t>
            </a:r>
            <a:endParaRPr lang="en-GB" sz="2000" dirty="0" smtClean="0">
              <a:solidFill>
                <a:schemeClr val="tx2">
                  <a:lumMod val="75000"/>
                </a:schemeClr>
              </a:solidFill>
            </a:endParaRPr>
          </a:p>
          <a:p>
            <a:r>
              <a:rPr lang="en-GB" sz="2000" dirty="0" smtClean="0">
                <a:solidFill>
                  <a:schemeClr val="tx2">
                    <a:lumMod val="75000"/>
                  </a:schemeClr>
                </a:solidFill>
              </a:rPr>
              <a:t>Standardised </a:t>
            </a:r>
            <a:r>
              <a:rPr lang="en-GB" sz="2000" dirty="0" smtClean="0">
                <a:solidFill>
                  <a:schemeClr val="tx2">
                    <a:lumMod val="75000"/>
                  </a:schemeClr>
                </a:solidFill>
              </a:rPr>
              <a:t>test information </a:t>
            </a:r>
            <a:endParaRPr lang="en-GB" sz="2000" dirty="0">
              <a:solidFill>
                <a:schemeClr val="tx2">
                  <a:lumMod val="75000"/>
                </a:schemeClr>
              </a:solidFill>
            </a:endParaRPr>
          </a:p>
        </p:txBody>
      </p:sp>
      <p:pic>
        <p:nvPicPr>
          <p:cNvPr id="3" name="Picture 2" descr="C:\Users\Clair\AppData\Local\Microsoft\Windows\INetCache\IE\RABPRE7S\assessment_in[1].jpg"/>
          <p:cNvPicPr>
            <a:picLocks noChangeAspect="1" noChangeArrowheads="1"/>
          </p:cNvPicPr>
          <p:nvPr/>
        </p:nvPicPr>
        <p:blipFill>
          <a:blip r:embed="rId2"/>
          <a:srcRect/>
          <a:stretch>
            <a:fillRect/>
          </a:stretch>
        </p:blipFill>
        <p:spPr bwMode="auto">
          <a:xfrm>
            <a:off x="5171089" y="1576862"/>
            <a:ext cx="1436604" cy="130822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1145" y="677917"/>
            <a:ext cx="5470634" cy="4708981"/>
          </a:xfrm>
          <a:prstGeom prst="rect">
            <a:avLst/>
          </a:prstGeom>
          <a:noFill/>
        </p:spPr>
        <p:txBody>
          <a:bodyPr wrap="square" rtlCol="0">
            <a:spAutoFit/>
          </a:bodyPr>
          <a:lstStyle/>
          <a:p>
            <a:pPr algn="ctr"/>
            <a:endParaRPr lang="en-GB" sz="6000" b="1" dirty="0" smtClean="0"/>
          </a:p>
          <a:p>
            <a:pPr algn="ctr"/>
            <a:r>
              <a:rPr lang="en-GB" sz="6000" b="1" dirty="0" smtClean="0"/>
              <a:t>HOW?</a:t>
            </a:r>
          </a:p>
          <a:p>
            <a:pPr algn="ctr"/>
            <a:endParaRPr lang="en-GB" sz="6000" b="1" dirty="0" smtClean="0"/>
          </a:p>
          <a:p>
            <a:pPr algn="ctr"/>
            <a:r>
              <a:rPr lang="en-GB" sz="6000" b="1" dirty="0" smtClean="0"/>
              <a:t>Planning &amp; Doing</a:t>
            </a:r>
            <a:endParaRPr lang="en-GB" sz="60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9788" y="725214"/>
            <a:ext cx="4684424" cy="707886"/>
          </a:xfrm>
          <a:prstGeom prst="rect">
            <a:avLst/>
          </a:prstGeom>
        </p:spPr>
        <p:txBody>
          <a:bodyPr wrap="none">
            <a:spAutoFit/>
          </a:bodyPr>
          <a:lstStyle/>
          <a:p>
            <a:pPr algn="ctr">
              <a:spcBef>
                <a:spcPct val="50000"/>
              </a:spcBef>
            </a:pPr>
            <a:r>
              <a:rPr lang="en-GB" altLang="en-US" sz="4000" b="1" dirty="0" smtClean="0">
                <a:solidFill>
                  <a:schemeClr val="tx1">
                    <a:lumMod val="85000"/>
                    <a:lumOff val="15000"/>
                  </a:schemeClr>
                </a:solidFill>
                <a:latin typeface="+mj-lt"/>
              </a:rPr>
              <a:t>High quality teaching</a:t>
            </a:r>
            <a:endParaRPr lang="en-GB" altLang="en-US" sz="4000" b="1" dirty="0">
              <a:solidFill>
                <a:schemeClr val="tx1">
                  <a:lumMod val="85000"/>
                  <a:lumOff val="15000"/>
                </a:schemeClr>
              </a:solidFill>
              <a:latin typeface="+mj-lt"/>
            </a:endParaRPr>
          </a:p>
        </p:txBody>
      </p:sp>
      <p:sp>
        <p:nvSpPr>
          <p:cNvPr id="3" name="Rectangle 2"/>
          <p:cNvSpPr/>
          <p:nvPr/>
        </p:nvSpPr>
        <p:spPr>
          <a:xfrm>
            <a:off x="1026680" y="1434662"/>
            <a:ext cx="6997967" cy="4524315"/>
          </a:xfrm>
          <a:prstGeom prst="rect">
            <a:avLst/>
          </a:prstGeom>
        </p:spPr>
        <p:txBody>
          <a:bodyPr wrap="square">
            <a:spAutoFit/>
          </a:bodyPr>
          <a:lstStyle/>
          <a:p>
            <a:r>
              <a:rPr lang="en-GB" sz="3200" dirty="0" smtClean="0">
                <a:solidFill>
                  <a:schemeClr val="tx1">
                    <a:lumMod val="65000"/>
                    <a:lumOff val="35000"/>
                  </a:schemeClr>
                </a:solidFill>
              </a:rPr>
              <a:t>High quality teaching, differentiated for individual pupils:</a:t>
            </a:r>
          </a:p>
          <a:p>
            <a:endParaRPr lang="en-GB" sz="3200" dirty="0" smtClean="0">
              <a:solidFill>
                <a:schemeClr val="tx1">
                  <a:lumMod val="65000"/>
                  <a:lumOff val="35000"/>
                </a:schemeClr>
              </a:solidFill>
            </a:endParaRPr>
          </a:p>
          <a:p>
            <a:r>
              <a:rPr lang="en-GB" sz="3200" b="1" dirty="0" smtClean="0">
                <a:solidFill>
                  <a:schemeClr val="tx1">
                    <a:lumMod val="65000"/>
                    <a:lumOff val="35000"/>
                  </a:schemeClr>
                </a:solidFill>
              </a:rPr>
              <a:t>Task</a:t>
            </a:r>
          </a:p>
          <a:p>
            <a:r>
              <a:rPr lang="en-GB" sz="3200" b="1" dirty="0" smtClean="0">
                <a:solidFill>
                  <a:schemeClr val="tx1">
                    <a:lumMod val="65000"/>
                    <a:lumOff val="35000"/>
                  </a:schemeClr>
                </a:solidFill>
              </a:rPr>
              <a:t>Grouping</a:t>
            </a:r>
          </a:p>
          <a:p>
            <a:r>
              <a:rPr lang="en-GB" sz="3200" b="1" dirty="0" smtClean="0">
                <a:solidFill>
                  <a:schemeClr val="tx1">
                    <a:lumMod val="65000"/>
                    <a:lumOff val="35000"/>
                  </a:schemeClr>
                </a:solidFill>
              </a:rPr>
              <a:t>Pace</a:t>
            </a:r>
          </a:p>
          <a:p>
            <a:r>
              <a:rPr lang="en-GB" sz="3200" b="1" dirty="0" smtClean="0">
                <a:solidFill>
                  <a:schemeClr val="tx1">
                    <a:lumMod val="65000"/>
                    <a:lumOff val="35000"/>
                  </a:schemeClr>
                </a:solidFill>
              </a:rPr>
              <a:t>Resources</a:t>
            </a:r>
          </a:p>
          <a:p>
            <a:r>
              <a:rPr lang="en-GB" sz="3200" b="1" dirty="0" smtClean="0">
                <a:solidFill>
                  <a:schemeClr val="tx1">
                    <a:lumMod val="65000"/>
                    <a:lumOff val="35000"/>
                  </a:schemeClr>
                </a:solidFill>
              </a:rPr>
              <a:t>Support</a:t>
            </a:r>
          </a:p>
          <a:p>
            <a:r>
              <a:rPr lang="en-GB" sz="3200" b="1" dirty="0" smtClean="0">
                <a:solidFill>
                  <a:schemeClr val="tx1">
                    <a:lumMod val="65000"/>
                    <a:lumOff val="35000"/>
                  </a:schemeClr>
                </a:solidFill>
              </a:rPr>
              <a:t>Outcome</a:t>
            </a:r>
            <a:endParaRPr lang="en-GB" sz="3200" b="1" dirty="0">
              <a:solidFill>
                <a:schemeClr val="tx1">
                  <a:lumMod val="65000"/>
                  <a:lumOff val="35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7819" y="536028"/>
            <a:ext cx="7047187" cy="5509200"/>
          </a:xfrm>
          <a:prstGeom prst="rect">
            <a:avLst/>
          </a:prstGeom>
        </p:spPr>
        <p:txBody>
          <a:bodyPr wrap="square">
            <a:spAutoFit/>
          </a:bodyPr>
          <a:lstStyle/>
          <a:p>
            <a:endParaRPr lang="en-GB" sz="3600" dirty="0" smtClean="0">
              <a:solidFill>
                <a:schemeClr val="bg2">
                  <a:lumMod val="50000"/>
                </a:schemeClr>
              </a:solidFill>
              <a:latin typeface="+mj-lt"/>
            </a:endParaRPr>
          </a:p>
          <a:p>
            <a:endParaRPr lang="en-GB" sz="3600" dirty="0" smtClean="0">
              <a:solidFill>
                <a:schemeClr val="bg2">
                  <a:lumMod val="50000"/>
                </a:schemeClr>
              </a:solidFill>
              <a:latin typeface="+mj-lt"/>
            </a:endParaRPr>
          </a:p>
          <a:p>
            <a:r>
              <a:rPr lang="en-GB" sz="4000" b="1" dirty="0" smtClean="0">
                <a:solidFill>
                  <a:schemeClr val="bg2">
                    <a:lumMod val="50000"/>
                  </a:schemeClr>
                </a:solidFill>
                <a:latin typeface="+mj-lt"/>
              </a:rPr>
              <a:t>What is task differentiation?</a:t>
            </a:r>
            <a:r>
              <a:rPr lang="en-GB" sz="4000" b="1" dirty="0" smtClean="0">
                <a:latin typeface="+mj-lt"/>
              </a:rPr>
              <a:t/>
            </a:r>
            <a:br>
              <a:rPr lang="en-GB" sz="4000" b="1" dirty="0" smtClean="0">
                <a:latin typeface="+mj-lt"/>
              </a:rPr>
            </a:br>
            <a:r>
              <a:rPr lang="en-GB" sz="4000" b="1" dirty="0" smtClean="0">
                <a:latin typeface="+mj-lt"/>
              </a:rPr>
              <a:t/>
            </a:r>
            <a:br>
              <a:rPr lang="en-GB" sz="4000" b="1" dirty="0" smtClean="0">
                <a:latin typeface="+mj-lt"/>
              </a:rPr>
            </a:br>
            <a:r>
              <a:rPr lang="en-GB" sz="4000" b="1" dirty="0" smtClean="0">
                <a:solidFill>
                  <a:srgbClr val="833F8C"/>
                </a:solidFill>
                <a:latin typeface="+mj-lt"/>
              </a:rPr>
              <a:t>What might some of the  difficulties be?</a:t>
            </a:r>
            <a:r>
              <a:rPr lang="en-GB" sz="4000" b="1" dirty="0" smtClean="0">
                <a:latin typeface="+mj-lt"/>
              </a:rPr>
              <a:t/>
            </a:r>
            <a:br>
              <a:rPr lang="en-GB" sz="4000" b="1" dirty="0" smtClean="0">
                <a:latin typeface="+mj-lt"/>
              </a:rPr>
            </a:br>
            <a:r>
              <a:rPr lang="en-GB" sz="4000" b="1" dirty="0" smtClean="0">
                <a:latin typeface="+mj-lt"/>
              </a:rPr>
              <a:t/>
            </a:r>
            <a:br>
              <a:rPr lang="en-GB" sz="4000" b="1" dirty="0" smtClean="0">
                <a:latin typeface="+mj-lt"/>
              </a:rPr>
            </a:br>
            <a:r>
              <a:rPr lang="en-GB" sz="4000" b="1" dirty="0" smtClean="0">
                <a:solidFill>
                  <a:schemeClr val="bg2">
                    <a:lumMod val="25000"/>
                  </a:schemeClr>
                </a:solidFill>
                <a:latin typeface="+mj-lt"/>
              </a:rPr>
              <a:t>Ideas to make it more manageable?</a:t>
            </a:r>
            <a:endParaRPr lang="en-GB" sz="4000" b="1"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6745" y="614856"/>
            <a:ext cx="7693572" cy="4031873"/>
          </a:xfrm>
          <a:prstGeom prst="rect">
            <a:avLst/>
          </a:prstGeom>
        </p:spPr>
        <p:txBody>
          <a:bodyPr wrap="square">
            <a:spAutoFit/>
          </a:bodyPr>
          <a:lstStyle/>
          <a:p>
            <a:r>
              <a:rPr lang="en-GB" sz="4000" b="1" dirty="0" smtClean="0">
                <a:solidFill>
                  <a:schemeClr val="tx2">
                    <a:lumMod val="75000"/>
                  </a:schemeClr>
                </a:solidFill>
              </a:rPr>
              <a:t>RAFT </a:t>
            </a:r>
            <a:endParaRPr lang="en-GB" sz="4000" b="1" dirty="0" smtClean="0">
              <a:solidFill>
                <a:schemeClr val="tx2">
                  <a:lumMod val="75000"/>
                </a:schemeClr>
              </a:solidFill>
            </a:endParaRPr>
          </a:p>
          <a:p>
            <a:r>
              <a:rPr lang="en-GB" sz="2400" dirty="0" smtClean="0">
                <a:solidFill>
                  <a:srgbClr val="0070C0"/>
                </a:solidFill>
              </a:rPr>
              <a:t>RAFT </a:t>
            </a:r>
            <a:r>
              <a:rPr lang="en-GB" sz="2400" dirty="0" smtClean="0">
                <a:solidFill>
                  <a:srgbClr val="0070C0"/>
                </a:solidFill>
              </a:rPr>
              <a:t>is an acronym that stands for </a:t>
            </a:r>
            <a:r>
              <a:rPr lang="en-GB" sz="2400" b="1" dirty="0" smtClean="0">
                <a:solidFill>
                  <a:srgbClr val="0070C0"/>
                </a:solidFill>
              </a:rPr>
              <a:t>Role</a:t>
            </a:r>
            <a:r>
              <a:rPr lang="en-GB" sz="2400" dirty="0" smtClean="0">
                <a:solidFill>
                  <a:srgbClr val="0070C0"/>
                </a:solidFill>
              </a:rPr>
              <a:t> of the </a:t>
            </a:r>
            <a:r>
              <a:rPr lang="en-GB" sz="2400" dirty="0" smtClean="0">
                <a:solidFill>
                  <a:srgbClr val="0070C0"/>
                </a:solidFill>
              </a:rPr>
              <a:t>pupil.  </a:t>
            </a:r>
            <a:r>
              <a:rPr lang="en-GB" sz="2400" dirty="0" smtClean="0">
                <a:solidFill>
                  <a:srgbClr val="0070C0"/>
                </a:solidFill>
              </a:rPr>
              <a:t>What is the </a:t>
            </a:r>
            <a:r>
              <a:rPr lang="en-GB" sz="2400" dirty="0" smtClean="0">
                <a:solidFill>
                  <a:srgbClr val="0070C0"/>
                </a:solidFill>
              </a:rPr>
              <a:t>pupil’s </a:t>
            </a:r>
            <a:r>
              <a:rPr lang="en-GB" sz="2400" dirty="0" smtClean="0">
                <a:solidFill>
                  <a:srgbClr val="0070C0"/>
                </a:solidFill>
              </a:rPr>
              <a:t>role:  reporter, observer, eyewitness, object? </a:t>
            </a:r>
            <a:r>
              <a:rPr lang="en-GB" sz="2400" b="1" dirty="0" smtClean="0">
                <a:solidFill>
                  <a:srgbClr val="0070C0"/>
                </a:solidFill>
              </a:rPr>
              <a:t>Audience.  </a:t>
            </a:r>
            <a:r>
              <a:rPr lang="en-GB" sz="2400" dirty="0" smtClean="0">
                <a:solidFill>
                  <a:srgbClr val="0070C0"/>
                </a:solidFill>
              </a:rPr>
              <a:t>Who will be addressed by this raft:  the teacher, other </a:t>
            </a:r>
            <a:r>
              <a:rPr lang="en-GB" sz="2400" dirty="0" smtClean="0">
                <a:solidFill>
                  <a:srgbClr val="0070C0"/>
                </a:solidFill>
              </a:rPr>
              <a:t>pupils</a:t>
            </a:r>
            <a:r>
              <a:rPr lang="en-GB" sz="2400" dirty="0" smtClean="0">
                <a:solidFill>
                  <a:srgbClr val="0070C0"/>
                </a:solidFill>
              </a:rPr>
              <a:t>, a parent, people in the community, an editor, another object? </a:t>
            </a:r>
            <a:r>
              <a:rPr lang="en-GB" sz="2400" b="1" dirty="0" smtClean="0">
                <a:solidFill>
                  <a:srgbClr val="0070C0"/>
                </a:solidFill>
              </a:rPr>
              <a:t>Format.  </a:t>
            </a:r>
            <a:r>
              <a:rPr lang="en-GB" sz="2400" dirty="0" smtClean="0">
                <a:solidFill>
                  <a:srgbClr val="0070C0"/>
                </a:solidFill>
              </a:rPr>
              <a:t>What is the best way to present this information:  in a letter, an article, a report, a poem, a monologue, a picture, a song? </a:t>
            </a:r>
            <a:r>
              <a:rPr lang="en-GB" sz="2400" b="1" dirty="0" smtClean="0">
                <a:solidFill>
                  <a:srgbClr val="0070C0"/>
                </a:solidFill>
              </a:rPr>
              <a:t>Topic.  </a:t>
            </a:r>
            <a:r>
              <a:rPr lang="en-GB" sz="2400" dirty="0" smtClean="0">
                <a:solidFill>
                  <a:srgbClr val="0070C0"/>
                </a:solidFill>
              </a:rPr>
              <a:t>Who or what is the subject of this writing:  a famous mathematician, a prehistoric cave dweller, a reaction to a specific event?</a:t>
            </a:r>
            <a:endParaRPr lang="en-GB" sz="2400" dirty="0">
              <a:solidFill>
                <a:srgbClr val="0070C0"/>
              </a:solidFill>
            </a:endParaRPr>
          </a:p>
        </p:txBody>
      </p:sp>
      <p:pic>
        <p:nvPicPr>
          <p:cNvPr id="3074" name="Picture 2" descr="C:\Users\Clair\AppData\Local\Microsoft\Windows\INetCache\IE\9ZP0XFER\200px-Raft_KH[1].png"/>
          <p:cNvPicPr>
            <a:picLocks noChangeAspect="1" noChangeArrowheads="1"/>
          </p:cNvPicPr>
          <p:nvPr/>
        </p:nvPicPr>
        <p:blipFill>
          <a:blip r:embed="rId3"/>
          <a:srcRect/>
          <a:stretch>
            <a:fillRect/>
          </a:stretch>
        </p:blipFill>
        <p:spPr bwMode="auto">
          <a:xfrm>
            <a:off x="2666230" y="4646729"/>
            <a:ext cx="1905770" cy="215352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7559" y="536028"/>
            <a:ext cx="5517931" cy="5262979"/>
          </a:xfrm>
          <a:prstGeom prst="rect">
            <a:avLst/>
          </a:prstGeom>
          <a:noFill/>
        </p:spPr>
        <p:txBody>
          <a:bodyPr wrap="square" rtlCol="0">
            <a:spAutoFit/>
          </a:bodyPr>
          <a:lstStyle/>
          <a:p>
            <a:r>
              <a:rPr lang="en-GB" sz="4800" b="1" dirty="0" smtClean="0">
                <a:solidFill>
                  <a:srgbClr val="CC3399"/>
                </a:solidFill>
              </a:rPr>
              <a:t>Concept Menu</a:t>
            </a:r>
          </a:p>
          <a:p>
            <a:endParaRPr lang="en-GB" sz="4800" b="1" dirty="0" smtClean="0">
              <a:solidFill>
                <a:srgbClr val="CC3399"/>
              </a:solidFill>
            </a:endParaRPr>
          </a:p>
          <a:p>
            <a:endParaRPr lang="en-GB" sz="4800" b="1" dirty="0" smtClean="0">
              <a:solidFill>
                <a:srgbClr val="CC3399"/>
              </a:solidFill>
            </a:endParaRPr>
          </a:p>
          <a:p>
            <a:r>
              <a:rPr lang="en-GB" sz="4800" b="1" dirty="0" smtClean="0">
                <a:solidFill>
                  <a:srgbClr val="CC3399"/>
                </a:solidFill>
              </a:rPr>
              <a:t>Think-</a:t>
            </a:r>
            <a:r>
              <a:rPr lang="en-GB" sz="4800" b="1" dirty="0" smtClean="0">
                <a:solidFill>
                  <a:srgbClr val="CC3399"/>
                </a:solidFill>
              </a:rPr>
              <a:t>Tac</a:t>
            </a:r>
            <a:r>
              <a:rPr lang="en-GB" sz="4800" b="1" dirty="0" smtClean="0">
                <a:solidFill>
                  <a:srgbClr val="CC3399"/>
                </a:solidFill>
              </a:rPr>
              <a:t>-Toe</a:t>
            </a:r>
          </a:p>
          <a:p>
            <a:endParaRPr lang="en-GB" sz="4800" b="1" dirty="0" smtClean="0">
              <a:solidFill>
                <a:srgbClr val="CC3399"/>
              </a:solidFill>
            </a:endParaRPr>
          </a:p>
          <a:p>
            <a:endParaRPr lang="en-GB" sz="4800" b="1" dirty="0" smtClean="0">
              <a:solidFill>
                <a:srgbClr val="CC3399"/>
              </a:solidFill>
            </a:endParaRPr>
          </a:p>
          <a:p>
            <a:r>
              <a:rPr lang="en-GB" sz="4800" b="1" dirty="0" smtClean="0">
                <a:solidFill>
                  <a:srgbClr val="CC3399"/>
                </a:solidFill>
              </a:rPr>
              <a:t>Learning Contract</a:t>
            </a:r>
            <a:endParaRPr lang="en-GB" sz="4800" b="1" dirty="0">
              <a:solidFill>
                <a:srgbClr val="CC3399"/>
              </a:solidFill>
            </a:endParaRPr>
          </a:p>
        </p:txBody>
      </p:sp>
      <p:pic>
        <p:nvPicPr>
          <p:cNvPr id="5124" name="Picture 4" descr="C:\Users\Clair\AppData\Local\Microsoft\Windows\INetCache\IE\UE55AERD\0511-0809-0703-4604_Signing_a_Contract_Clip_Art_clipart_image[1].jpg"/>
          <p:cNvPicPr>
            <a:picLocks noChangeAspect="1" noChangeArrowheads="1"/>
          </p:cNvPicPr>
          <p:nvPr/>
        </p:nvPicPr>
        <p:blipFill>
          <a:blip r:embed="rId3"/>
          <a:srcRect/>
          <a:stretch>
            <a:fillRect/>
          </a:stretch>
        </p:blipFill>
        <p:spPr bwMode="auto">
          <a:xfrm>
            <a:off x="6311558" y="4497253"/>
            <a:ext cx="2233352" cy="2220589"/>
          </a:xfrm>
          <a:prstGeom prst="rect">
            <a:avLst/>
          </a:prstGeom>
          <a:noFill/>
        </p:spPr>
      </p:pic>
      <p:pic>
        <p:nvPicPr>
          <p:cNvPr id="5125" name="Picture 5" descr="C:\Users\Clair\AppData\Local\Microsoft\Windows\INetCache\IE\9ZP0XFER\smash_maidcafe_menu_by_hehalana[1].jpg"/>
          <p:cNvPicPr>
            <a:picLocks noChangeAspect="1" noChangeArrowheads="1"/>
          </p:cNvPicPr>
          <p:nvPr/>
        </p:nvPicPr>
        <p:blipFill>
          <a:blip r:embed="rId4"/>
          <a:srcRect/>
          <a:stretch>
            <a:fillRect/>
          </a:stretch>
        </p:blipFill>
        <p:spPr bwMode="auto">
          <a:xfrm>
            <a:off x="6085490" y="239015"/>
            <a:ext cx="2858814" cy="2017986"/>
          </a:xfrm>
          <a:prstGeom prst="rect">
            <a:avLst/>
          </a:prstGeom>
          <a:noFill/>
        </p:spPr>
      </p:pic>
      <p:pic>
        <p:nvPicPr>
          <p:cNvPr id="5126" name="Picture 6" descr="C:\Users\Clair\AppData\Local\Microsoft\Windows\INetCache\IE\UE55AERD\unbranded-magnetic-tic-tac-toe[1].jpg"/>
          <p:cNvPicPr>
            <a:picLocks noChangeAspect="1" noChangeArrowheads="1"/>
          </p:cNvPicPr>
          <p:nvPr/>
        </p:nvPicPr>
        <p:blipFill>
          <a:blip r:embed="rId5"/>
          <a:srcRect/>
          <a:stretch>
            <a:fillRect/>
          </a:stretch>
        </p:blipFill>
        <p:spPr bwMode="auto">
          <a:xfrm>
            <a:off x="4497114" y="2257001"/>
            <a:ext cx="2550072" cy="230451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310" y="220717"/>
            <a:ext cx="8576441" cy="6309420"/>
          </a:xfrm>
          <a:prstGeom prst="rect">
            <a:avLst/>
          </a:prstGeom>
        </p:spPr>
        <p:txBody>
          <a:bodyPr wrap="square">
            <a:spAutoFit/>
          </a:bodyPr>
          <a:lstStyle/>
          <a:p>
            <a:r>
              <a:rPr lang="en-GB" sz="4000" b="1" dirty="0" smtClean="0"/>
              <a:t>Get Creative with Tasks</a:t>
            </a:r>
          </a:p>
          <a:p>
            <a:pPr algn="just"/>
            <a:r>
              <a:rPr lang="en-GB" sz="2800" dirty="0" smtClean="0"/>
              <a:t>Map </a:t>
            </a:r>
            <a:r>
              <a:rPr lang="en-GB" sz="2800" dirty="0" smtClean="0"/>
              <a:t>Diagram </a:t>
            </a:r>
            <a:r>
              <a:rPr lang="en-GB" sz="2800" dirty="0" smtClean="0">
                <a:solidFill>
                  <a:srgbClr val="0070C0"/>
                </a:solidFill>
              </a:rPr>
              <a:t>Sculpture</a:t>
            </a:r>
            <a:r>
              <a:rPr lang="en-GB" sz="2800" dirty="0" smtClean="0"/>
              <a:t> Discussion Demonstration Poem Profile Chart Play Dance Campaign </a:t>
            </a:r>
            <a:r>
              <a:rPr lang="en-GB" sz="2800" dirty="0" smtClean="0"/>
              <a:t>Recording</a:t>
            </a:r>
            <a:r>
              <a:rPr lang="en-GB" sz="2800" dirty="0" smtClean="0"/>
              <a:t> </a:t>
            </a:r>
            <a:r>
              <a:rPr lang="en-GB" sz="2800" dirty="0" smtClean="0"/>
              <a:t>Quiz Show Banner Brochure </a:t>
            </a:r>
            <a:r>
              <a:rPr lang="en-GB" sz="2800" dirty="0" smtClean="0">
                <a:solidFill>
                  <a:schemeClr val="accent3">
                    <a:lumMod val="60000"/>
                    <a:lumOff val="40000"/>
                  </a:schemeClr>
                </a:solidFill>
              </a:rPr>
              <a:t>Debate</a:t>
            </a:r>
            <a:r>
              <a:rPr lang="en-GB" sz="2800" dirty="0" smtClean="0"/>
              <a:t> Flow Chart </a:t>
            </a:r>
            <a:r>
              <a:rPr lang="en-GB" sz="2800" dirty="0" smtClean="0">
                <a:solidFill>
                  <a:schemeClr val="accent5">
                    <a:lumMod val="60000"/>
                    <a:lumOff val="40000"/>
                  </a:schemeClr>
                </a:solidFill>
              </a:rPr>
              <a:t>Puppet Show </a:t>
            </a:r>
            <a:r>
              <a:rPr lang="en-GB" sz="2800" dirty="0" smtClean="0"/>
              <a:t>Tour</a:t>
            </a:r>
          </a:p>
          <a:p>
            <a:pPr algn="just"/>
            <a:r>
              <a:rPr lang="en-GB" sz="2800" dirty="0" smtClean="0"/>
              <a:t>Presentation</a:t>
            </a:r>
            <a:r>
              <a:rPr lang="en-GB" sz="2800" dirty="0" smtClean="0"/>
              <a:t> </a:t>
            </a:r>
            <a:r>
              <a:rPr lang="en-GB" sz="2800" dirty="0" smtClean="0"/>
              <a:t>Editorial Painting Costume Placement Blueprint Catalogue Dialogue Newspaper </a:t>
            </a:r>
            <a:r>
              <a:rPr lang="en-GB" sz="2800" dirty="0" smtClean="0">
                <a:solidFill>
                  <a:schemeClr val="accent6">
                    <a:lumMod val="75000"/>
                  </a:schemeClr>
                </a:solidFill>
              </a:rPr>
              <a:t>Scrapbook</a:t>
            </a:r>
            <a:r>
              <a:rPr lang="en-GB" sz="2800" dirty="0" smtClean="0"/>
              <a:t> </a:t>
            </a:r>
            <a:r>
              <a:rPr lang="en-GB" sz="2800" dirty="0" smtClean="0">
                <a:solidFill>
                  <a:srgbClr val="F4C239"/>
                </a:solidFill>
              </a:rPr>
              <a:t>Questionnaire</a:t>
            </a:r>
            <a:r>
              <a:rPr lang="en-GB" sz="2800" dirty="0" smtClean="0"/>
              <a:t> </a:t>
            </a:r>
            <a:r>
              <a:rPr lang="en-GB" sz="2800" dirty="0" smtClean="0"/>
              <a:t>Flag </a:t>
            </a:r>
            <a:r>
              <a:rPr lang="en-GB" sz="2800" dirty="0" smtClean="0">
                <a:solidFill>
                  <a:schemeClr val="accent5">
                    <a:lumMod val="50000"/>
                  </a:schemeClr>
                </a:solidFill>
              </a:rPr>
              <a:t>Scrapbook</a:t>
            </a:r>
            <a:r>
              <a:rPr lang="en-GB" sz="2800" dirty="0" smtClean="0"/>
              <a:t> </a:t>
            </a:r>
            <a:r>
              <a:rPr lang="en-GB" sz="2800" dirty="0" smtClean="0"/>
              <a:t>Graph </a:t>
            </a:r>
            <a:r>
              <a:rPr lang="en-GB" sz="2800" dirty="0" smtClean="0"/>
              <a:t>Museum Learning </a:t>
            </a:r>
            <a:r>
              <a:rPr lang="en-GB" sz="2800" dirty="0" smtClean="0"/>
              <a:t>C</a:t>
            </a:r>
            <a:r>
              <a:rPr lang="en-GB" sz="2800" dirty="0" smtClean="0"/>
              <a:t>entre Advertisement Book </a:t>
            </a:r>
            <a:r>
              <a:rPr lang="en-GB" sz="2800" dirty="0" smtClean="0"/>
              <a:t>List </a:t>
            </a:r>
            <a:r>
              <a:rPr lang="en-GB" sz="2800" dirty="0" smtClean="0">
                <a:solidFill>
                  <a:schemeClr val="accent2">
                    <a:lumMod val="75000"/>
                  </a:schemeClr>
                </a:solidFill>
              </a:rPr>
              <a:t>Calendar</a:t>
            </a:r>
            <a:r>
              <a:rPr lang="en-GB" sz="2800" dirty="0" smtClean="0"/>
              <a:t> </a:t>
            </a:r>
            <a:r>
              <a:rPr lang="en-GB" sz="2800" dirty="0" smtClean="0"/>
              <a:t>Colouring </a:t>
            </a:r>
            <a:r>
              <a:rPr lang="en-GB" sz="2800" dirty="0" smtClean="0"/>
              <a:t>Book Game Research Project TV Show Song </a:t>
            </a:r>
            <a:r>
              <a:rPr lang="en-GB" sz="2800" dirty="0" smtClean="0">
                <a:solidFill>
                  <a:schemeClr val="accent1">
                    <a:lumMod val="50000"/>
                  </a:schemeClr>
                </a:solidFill>
              </a:rPr>
              <a:t>Dictionary</a:t>
            </a:r>
            <a:r>
              <a:rPr lang="en-GB" sz="2800" dirty="0" smtClean="0"/>
              <a:t> Film Collection Trial Machine Book Mural Award Recipe </a:t>
            </a:r>
            <a:r>
              <a:rPr lang="en-GB" sz="2800" dirty="0" smtClean="0"/>
              <a:t>Test Puzzle </a:t>
            </a:r>
            <a:r>
              <a:rPr lang="en-GB" sz="2800" dirty="0" smtClean="0"/>
              <a:t>Model </a:t>
            </a:r>
            <a:r>
              <a:rPr lang="en-GB" sz="2800" dirty="0" smtClean="0">
                <a:solidFill>
                  <a:srgbClr val="FF0000"/>
                </a:solidFill>
              </a:rPr>
              <a:t>Timeline</a:t>
            </a:r>
            <a:r>
              <a:rPr lang="en-GB" sz="2800" dirty="0" smtClean="0"/>
              <a:t> Toy Article Diary Poster Magazine Computer Program Photographs </a:t>
            </a:r>
            <a:r>
              <a:rPr lang="en-GB" sz="2800" dirty="0" smtClean="0"/>
              <a:t>Petition </a:t>
            </a:r>
            <a:r>
              <a:rPr lang="en-GB" sz="2800" dirty="0" smtClean="0"/>
              <a:t>Teaching Lesson Prototype Speech Club Cartoon </a:t>
            </a:r>
            <a:r>
              <a:rPr lang="en-GB" sz="2800" dirty="0" smtClean="0">
                <a:solidFill>
                  <a:schemeClr val="bg2">
                    <a:lumMod val="50000"/>
                  </a:schemeClr>
                </a:solidFill>
              </a:rPr>
              <a:t>Biography</a:t>
            </a:r>
            <a:r>
              <a:rPr lang="en-GB" sz="2800" dirty="0" smtClean="0"/>
              <a:t> Review </a:t>
            </a:r>
            <a:r>
              <a:rPr lang="en-GB" sz="2800" dirty="0" smtClean="0">
                <a:solidFill>
                  <a:srgbClr val="C00000"/>
                </a:solidFill>
              </a:rPr>
              <a:t>Invention</a:t>
            </a:r>
            <a:endParaRPr lang="en-GB" sz="2800" dirty="0">
              <a:solidFill>
                <a:srgbClr val="C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979" y="567559"/>
            <a:ext cx="7630511" cy="4462760"/>
          </a:xfrm>
          <a:prstGeom prst="rect">
            <a:avLst/>
          </a:prstGeom>
        </p:spPr>
        <p:txBody>
          <a:bodyPr wrap="square">
            <a:spAutoFit/>
          </a:bodyPr>
          <a:lstStyle/>
          <a:p>
            <a:r>
              <a:rPr lang="en-GB" sz="4400" b="1" dirty="0" smtClean="0">
                <a:solidFill>
                  <a:schemeClr val="bg2">
                    <a:lumMod val="25000"/>
                  </a:schemeClr>
                </a:solidFill>
              </a:rPr>
              <a:t>Flexible Grouping</a:t>
            </a:r>
          </a:p>
          <a:p>
            <a:r>
              <a:rPr lang="en-GB" sz="2400" dirty="0" smtClean="0">
                <a:solidFill>
                  <a:schemeClr val="bg2">
                    <a:lumMod val="25000"/>
                  </a:schemeClr>
                </a:solidFill>
              </a:rPr>
              <a:t>P</a:t>
            </a:r>
            <a:r>
              <a:rPr lang="en-GB" sz="2400" dirty="0" smtClean="0">
                <a:solidFill>
                  <a:schemeClr val="bg2">
                    <a:lumMod val="25000"/>
                  </a:schemeClr>
                </a:solidFill>
              </a:rPr>
              <a:t>upils </a:t>
            </a:r>
            <a:r>
              <a:rPr lang="en-GB" sz="2400" dirty="0" smtClean="0">
                <a:solidFill>
                  <a:schemeClr val="bg2">
                    <a:lumMod val="25000"/>
                  </a:schemeClr>
                </a:solidFill>
              </a:rPr>
              <a:t>are part of many different groups (and also work alone) based on the match of the task to </a:t>
            </a:r>
            <a:r>
              <a:rPr lang="en-GB" sz="2400" dirty="0" smtClean="0">
                <a:solidFill>
                  <a:schemeClr val="bg2">
                    <a:lumMod val="25000"/>
                  </a:schemeClr>
                </a:solidFill>
              </a:rPr>
              <a:t>pupil </a:t>
            </a:r>
            <a:r>
              <a:rPr lang="en-GB" sz="2400" dirty="0" smtClean="0">
                <a:solidFill>
                  <a:schemeClr val="bg2">
                    <a:lumMod val="25000"/>
                  </a:schemeClr>
                </a:solidFill>
              </a:rPr>
              <a:t>readiness, interest, or learning   </a:t>
            </a:r>
            <a:r>
              <a:rPr lang="en-GB" sz="2400" dirty="0" smtClean="0">
                <a:solidFill>
                  <a:schemeClr val="bg2">
                    <a:lumMod val="25000"/>
                  </a:schemeClr>
                </a:solidFill>
              </a:rPr>
              <a:t>needs</a:t>
            </a:r>
            <a:r>
              <a:rPr lang="en-GB" sz="2400" dirty="0" smtClean="0">
                <a:solidFill>
                  <a:schemeClr val="bg2">
                    <a:lumMod val="25000"/>
                  </a:schemeClr>
                </a:solidFill>
              </a:rPr>
              <a:t>. </a:t>
            </a:r>
          </a:p>
          <a:p>
            <a:endParaRPr lang="en-GB" sz="2400" dirty="0" smtClean="0">
              <a:solidFill>
                <a:schemeClr val="bg2">
                  <a:lumMod val="25000"/>
                </a:schemeClr>
              </a:solidFill>
            </a:endParaRPr>
          </a:p>
          <a:p>
            <a:r>
              <a:rPr lang="en-GB" sz="2400" dirty="0" smtClean="0">
                <a:solidFill>
                  <a:schemeClr val="bg2">
                    <a:lumMod val="25000"/>
                  </a:schemeClr>
                </a:solidFill>
              </a:rPr>
              <a:t>Teachers may create skills based or interest based groups that are heterogeneous   or homogeneous in readiness level. </a:t>
            </a:r>
            <a:endParaRPr lang="en-GB" sz="2400" dirty="0" smtClean="0">
              <a:solidFill>
                <a:schemeClr val="bg2">
                  <a:lumMod val="25000"/>
                </a:schemeClr>
              </a:solidFill>
            </a:endParaRPr>
          </a:p>
          <a:p>
            <a:r>
              <a:rPr lang="en-GB" sz="2400" dirty="0" smtClean="0">
                <a:solidFill>
                  <a:schemeClr val="bg2">
                    <a:lumMod val="25000"/>
                  </a:schemeClr>
                </a:solidFill>
              </a:rPr>
              <a:t>Sometimes pupils </a:t>
            </a:r>
            <a:r>
              <a:rPr lang="en-GB" sz="2400" dirty="0" smtClean="0">
                <a:solidFill>
                  <a:schemeClr val="bg2">
                    <a:lumMod val="25000"/>
                  </a:schemeClr>
                </a:solidFill>
              </a:rPr>
              <a:t>select work groups, and sometimes teachers select them. Sometimes </a:t>
            </a:r>
            <a:r>
              <a:rPr lang="en-GB" sz="2400" dirty="0" smtClean="0">
                <a:solidFill>
                  <a:schemeClr val="bg2">
                    <a:lumMod val="25000"/>
                  </a:schemeClr>
                </a:solidFill>
              </a:rPr>
              <a:t>pupil   group </a:t>
            </a:r>
            <a:r>
              <a:rPr lang="en-GB" sz="2400" dirty="0" smtClean="0">
                <a:solidFill>
                  <a:schemeClr val="bg2">
                    <a:lumMod val="25000"/>
                  </a:schemeClr>
                </a:solidFill>
              </a:rPr>
              <a:t>assignments are purposeful and </a:t>
            </a:r>
            <a:r>
              <a:rPr lang="en-GB" sz="2400" dirty="0" smtClean="0">
                <a:solidFill>
                  <a:schemeClr val="bg2">
                    <a:lumMod val="25000"/>
                  </a:schemeClr>
                </a:solidFill>
              </a:rPr>
              <a:t> </a:t>
            </a:r>
            <a:r>
              <a:rPr lang="en-GB" sz="2400" dirty="0" smtClean="0">
                <a:solidFill>
                  <a:schemeClr val="bg2">
                    <a:lumMod val="25000"/>
                  </a:schemeClr>
                </a:solidFill>
              </a:rPr>
              <a:t>sometimes random.</a:t>
            </a:r>
            <a:endParaRPr lang="en-GB" sz="2400" dirty="0">
              <a:solidFill>
                <a:schemeClr val="bg2">
                  <a:lumMod val="25000"/>
                </a:schemeClr>
              </a:solidFill>
            </a:endParaRPr>
          </a:p>
        </p:txBody>
      </p:sp>
      <p:pic>
        <p:nvPicPr>
          <p:cNvPr id="1027" name="Picture 3" descr="C:\Users\Clair\AppData\Local\Microsoft\Windows\INetCache\IE\UE55AERD\PROFES~1[1].PNG"/>
          <p:cNvPicPr>
            <a:picLocks noChangeAspect="1" noChangeArrowheads="1"/>
          </p:cNvPicPr>
          <p:nvPr/>
        </p:nvPicPr>
        <p:blipFill>
          <a:blip r:embed="rId2"/>
          <a:srcRect/>
          <a:stretch>
            <a:fillRect/>
          </a:stretch>
        </p:blipFill>
        <p:spPr bwMode="auto">
          <a:xfrm>
            <a:off x="740979" y="4968764"/>
            <a:ext cx="1235377" cy="1609068"/>
          </a:xfrm>
          <a:prstGeom prst="rect">
            <a:avLst/>
          </a:prstGeom>
          <a:noFill/>
        </p:spPr>
      </p:pic>
      <p:pic>
        <p:nvPicPr>
          <p:cNvPr id="1028" name="Picture 4" descr="C:\Users\Clair\AppData\Local\Microsoft\Windows\INetCache\IE\35SC1DTE\hands-up-color[1].gif"/>
          <p:cNvPicPr>
            <a:picLocks noChangeAspect="1" noChangeArrowheads="1"/>
          </p:cNvPicPr>
          <p:nvPr/>
        </p:nvPicPr>
        <p:blipFill>
          <a:blip r:embed="rId3"/>
          <a:srcRect/>
          <a:stretch>
            <a:fillRect/>
          </a:stretch>
        </p:blipFill>
        <p:spPr bwMode="auto">
          <a:xfrm>
            <a:off x="3628204" y="4968764"/>
            <a:ext cx="1446158" cy="1487477"/>
          </a:xfrm>
          <a:prstGeom prst="rect">
            <a:avLst/>
          </a:prstGeom>
          <a:noFill/>
        </p:spPr>
      </p:pic>
      <p:pic>
        <p:nvPicPr>
          <p:cNvPr id="1029" name="Picture 5" descr="C:\Users\Clair\AppData\Local\Microsoft\Windows\INetCache\IE\RABPRE7S\smiling-face-of-a-child-2[1].png"/>
          <p:cNvPicPr>
            <a:picLocks noChangeAspect="1" noChangeArrowheads="1"/>
          </p:cNvPicPr>
          <p:nvPr/>
        </p:nvPicPr>
        <p:blipFill>
          <a:blip r:embed="rId4"/>
          <a:srcRect/>
          <a:stretch>
            <a:fillRect/>
          </a:stretch>
        </p:blipFill>
        <p:spPr bwMode="auto">
          <a:xfrm>
            <a:off x="6530020" y="4968764"/>
            <a:ext cx="1287542" cy="1287542"/>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9353" y="1652310"/>
            <a:ext cx="6873764" cy="4154984"/>
          </a:xfrm>
          <a:prstGeom prst="rect">
            <a:avLst/>
          </a:prstGeom>
        </p:spPr>
        <p:txBody>
          <a:bodyPr wrap="square">
            <a:spAutoFit/>
          </a:bodyPr>
          <a:lstStyle/>
          <a:p>
            <a:pPr algn="just"/>
            <a:r>
              <a:rPr lang="en-GB" sz="2800" dirty="0" smtClean="0">
                <a:solidFill>
                  <a:srgbClr val="833F8C"/>
                </a:solidFill>
              </a:rPr>
              <a:t>Small, mixed-ability groups allow lower achievers to take advantage of peer support whilst higher achievers gain the opportunity to organise and voice their thoughts for the benefit of the whole group </a:t>
            </a:r>
          </a:p>
          <a:p>
            <a:pPr algn="just"/>
            <a:r>
              <a:rPr lang="en-GB" sz="2800" dirty="0" smtClean="0">
                <a:solidFill>
                  <a:srgbClr val="833F8C"/>
                </a:solidFill>
              </a:rPr>
              <a:t>( peer modelling). </a:t>
            </a:r>
          </a:p>
          <a:p>
            <a:pPr algn="just"/>
            <a:endParaRPr lang="en-GB" sz="1200" dirty="0" smtClean="0">
              <a:solidFill>
                <a:srgbClr val="833F8C"/>
              </a:solidFill>
            </a:endParaRPr>
          </a:p>
          <a:p>
            <a:pPr algn="just"/>
            <a:r>
              <a:rPr lang="en-GB" sz="2800" dirty="0" smtClean="0">
                <a:solidFill>
                  <a:srgbClr val="833F8C"/>
                </a:solidFill>
              </a:rPr>
              <a:t>Grouping also allows roles to be allocated within the team which cater for each member’s skill set and learning needs.</a:t>
            </a:r>
            <a:endParaRPr lang="en-GB" sz="2800" dirty="0">
              <a:solidFill>
                <a:srgbClr val="833F8C"/>
              </a:solidFill>
            </a:endParaRPr>
          </a:p>
        </p:txBody>
      </p:sp>
      <p:sp>
        <p:nvSpPr>
          <p:cNvPr id="3" name="Rectangle 2"/>
          <p:cNvSpPr/>
          <p:nvPr/>
        </p:nvSpPr>
        <p:spPr>
          <a:xfrm>
            <a:off x="2987719" y="498148"/>
            <a:ext cx="2552815" cy="830997"/>
          </a:xfrm>
          <a:prstGeom prst="rect">
            <a:avLst/>
          </a:prstGeom>
        </p:spPr>
        <p:txBody>
          <a:bodyPr wrap="none">
            <a:spAutoFit/>
          </a:bodyPr>
          <a:lstStyle/>
          <a:p>
            <a:r>
              <a:rPr lang="en-GB" sz="4800" b="1" dirty="0" smtClean="0">
                <a:solidFill>
                  <a:schemeClr val="accent4">
                    <a:lumMod val="75000"/>
                  </a:schemeClr>
                </a:solidFill>
                <a:latin typeface="+mj-lt"/>
              </a:rPr>
              <a:t>Grouping</a:t>
            </a:r>
            <a:endParaRPr lang="en-GB" sz="4800" b="1" dirty="0">
              <a:solidFill>
                <a:schemeClr val="accent4">
                  <a:lumMod val="75000"/>
                </a:schemeClr>
              </a:solidFill>
              <a:latin typeface="+mj-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46621" y="3244334"/>
            <a:ext cx="4650761" cy="707886"/>
          </a:xfrm>
          <a:prstGeom prst="rect">
            <a:avLst/>
          </a:prstGeom>
        </p:spPr>
        <p:txBody>
          <a:bodyPr wrap="none">
            <a:spAutoFit/>
          </a:bodyPr>
          <a:lstStyle/>
          <a:p>
            <a:pPr algn="ctr"/>
            <a:r>
              <a:rPr lang="en-GB" sz="4000" dirty="0" smtClean="0">
                <a:solidFill>
                  <a:schemeClr val="accent3">
                    <a:lumMod val="75000"/>
                  </a:schemeClr>
                </a:solidFill>
              </a:rPr>
              <a:t>How is this achieved?</a:t>
            </a:r>
            <a:endParaRPr lang="en-GB" sz="4000" dirty="0">
              <a:solidFill>
                <a:schemeClr val="accent3">
                  <a:lumMod val="75000"/>
                </a:schemeClr>
              </a:solidFill>
            </a:endParaRPr>
          </a:p>
        </p:txBody>
      </p:sp>
      <p:sp>
        <p:nvSpPr>
          <p:cNvPr id="3" name="Rectangle 2"/>
          <p:cNvSpPr/>
          <p:nvPr/>
        </p:nvSpPr>
        <p:spPr>
          <a:xfrm>
            <a:off x="3405353" y="1418897"/>
            <a:ext cx="2051024" cy="1107996"/>
          </a:xfrm>
          <a:prstGeom prst="rect">
            <a:avLst/>
          </a:prstGeom>
        </p:spPr>
        <p:txBody>
          <a:bodyPr wrap="square">
            <a:spAutoFit/>
          </a:bodyPr>
          <a:lstStyle/>
          <a:p>
            <a:pPr algn="ctr"/>
            <a:r>
              <a:rPr lang="en-GB" sz="6600" b="1" dirty="0" smtClean="0">
                <a:solidFill>
                  <a:schemeClr val="accent3">
                    <a:lumMod val="50000"/>
                  </a:schemeClr>
                </a:solidFill>
                <a:latin typeface="+mj-lt"/>
              </a:rPr>
              <a:t>Pace</a:t>
            </a:r>
            <a:endParaRPr lang="en-GB" sz="6600" b="1" dirty="0">
              <a:solidFill>
                <a:schemeClr val="accent3">
                  <a:lumMod val="50000"/>
                </a:schemeClr>
              </a:solidFill>
              <a:latin typeface="+mj-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7461" y="2274838"/>
            <a:ext cx="7299435" cy="3539430"/>
          </a:xfrm>
          <a:prstGeom prst="rect">
            <a:avLst/>
          </a:prstGeom>
        </p:spPr>
        <p:txBody>
          <a:bodyPr wrap="square">
            <a:spAutoFit/>
          </a:bodyPr>
          <a:lstStyle/>
          <a:p>
            <a:pPr algn="ctr"/>
            <a:r>
              <a:rPr lang="en-GB" sz="2800" dirty="0" smtClean="0">
                <a:solidFill>
                  <a:srgbClr val="833F8C"/>
                </a:solidFill>
              </a:rPr>
              <a:t>In this method it’s important to recognise that some </a:t>
            </a:r>
            <a:r>
              <a:rPr lang="en-GB" sz="2800" dirty="0" smtClean="0">
                <a:solidFill>
                  <a:srgbClr val="833F8C"/>
                </a:solidFill>
              </a:rPr>
              <a:t>pupils </a:t>
            </a:r>
            <a:r>
              <a:rPr lang="en-GB" sz="2800" dirty="0" smtClean="0">
                <a:solidFill>
                  <a:srgbClr val="833F8C"/>
                </a:solidFill>
              </a:rPr>
              <a:t>can work with more advanced resources than others, and that it is possible to use multiple materials in order to approach a topic from different angles. </a:t>
            </a:r>
          </a:p>
          <a:p>
            <a:pPr algn="ctr"/>
            <a:endParaRPr lang="en-GB" sz="2800" dirty="0" smtClean="0">
              <a:solidFill>
                <a:srgbClr val="833F8C"/>
              </a:solidFill>
            </a:endParaRPr>
          </a:p>
          <a:p>
            <a:pPr algn="ctr"/>
            <a:r>
              <a:rPr lang="en-GB" sz="2800" b="1" dirty="0" smtClean="0">
                <a:solidFill>
                  <a:srgbClr val="833F8C"/>
                </a:solidFill>
              </a:rPr>
              <a:t>What resources do you have in your </a:t>
            </a:r>
          </a:p>
          <a:p>
            <a:pPr algn="ctr"/>
            <a:r>
              <a:rPr lang="en-GB" sz="2800" b="1" dirty="0" smtClean="0">
                <a:solidFill>
                  <a:srgbClr val="833F8C"/>
                </a:solidFill>
              </a:rPr>
              <a:t>class to help different learners?</a:t>
            </a:r>
            <a:endParaRPr lang="en-GB" sz="2800" b="1" dirty="0">
              <a:solidFill>
                <a:srgbClr val="833F8C"/>
              </a:solidFill>
            </a:endParaRPr>
          </a:p>
        </p:txBody>
      </p:sp>
      <p:sp>
        <p:nvSpPr>
          <p:cNvPr id="3" name="Rectangle 2"/>
          <p:cNvSpPr/>
          <p:nvPr/>
        </p:nvSpPr>
        <p:spPr>
          <a:xfrm>
            <a:off x="2885090" y="1166648"/>
            <a:ext cx="3313252" cy="830997"/>
          </a:xfrm>
          <a:prstGeom prst="rect">
            <a:avLst/>
          </a:prstGeom>
        </p:spPr>
        <p:txBody>
          <a:bodyPr wrap="square">
            <a:spAutoFit/>
          </a:bodyPr>
          <a:lstStyle/>
          <a:p>
            <a:pPr algn="ctr"/>
            <a:r>
              <a:rPr lang="en-GB" sz="4800" b="1" dirty="0" smtClean="0">
                <a:solidFill>
                  <a:schemeClr val="accent4">
                    <a:lumMod val="75000"/>
                  </a:schemeClr>
                </a:solidFill>
              </a:rPr>
              <a:t>Resources</a:t>
            </a:r>
            <a:endParaRPr lang="en-GB" sz="4800" b="1" dirty="0">
              <a:solidFill>
                <a:schemeClr val="accent4">
                  <a:lumMod val="75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1338" y="1020183"/>
            <a:ext cx="3074276" cy="5016758"/>
          </a:xfrm>
          <a:prstGeom prst="rect">
            <a:avLst/>
          </a:prstGeom>
        </p:spPr>
        <p:txBody>
          <a:bodyPr wrap="square">
            <a:spAutoFit/>
          </a:bodyPr>
          <a:lstStyle/>
          <a:p>
            <a:r>
              <a:rPr lang="en-GB" sz="4000" dirty="0" smtClean="0">
                <a:solidFill>
                  <a:schemeClr val="accent4">
                    <a:lumMod val="75000"/>
                  </a:schemeClr>
                </a:solidFill>
              </a:rPr>
              <a:t>Visual support</a:t>
            </a:r>
          </a:p>
          <a:p>
            <a:endParaRPr lang="en-GB" sz="4000" dirty="0" smtClean="0">
              <a:solidFill>
                <a:schemeClr val="accent4">
                  <a:lumMod val="75000"/>
                </a:schemeClr>
              </a:solidFill>
            </a:endParaRPr>
          </a:p>
          <a:p>
            <a:r>
              <a:rPr lang="en-GB" sz="4000" dirty="0" smtClean="0">
                <a:solidFill>
                  <a:schemeClr val="accent4">
                    <a:lumMod val="75000"/>
                  </a:schemeClr>
                </a:solidFill>
              </a:rPr>
              <a:t> Physical    </a:t>
            </a:r>
            <a:r>
              <a:rPr lang="en-GB" sz="4000" dirty="0" smtClean="0">
                <a:solidFill>
                  <a:schemeClr val="accent4">
                    <a:lumMod val="75000"/>
                  </a:schemeClr>
                </a:solidFill>
              </a:rPr>
              <a:t>support</a:t>
            </a:r>
          </a:p>
          <a:p>
            <a:r>
              <a:rPr lang="en-GB" sz="4000" dirty="0" smtClean="0">
                <a:solidFill>
                  <a:schemeClr val="accent4">
                    <a:lumMod val="75000"/>
                  </a:schemeClr>
                </a:solidFill>
              </a:rPr>
              <a:t> </a:t>
            </a:r>
          </a:p>
          <a:p>
            <a:r>
              <a:rPr lang="en-GB" sz="4000" dirty="0" smtClean="0">
                <a:solidFill>
                  <a:schemeClr val="accent4">
                    <a:lumMod val="75000"/>
                  </a:schemeClr>
                </a:solidFill>
              </a:rPr>
              <a:t>Auditory support</a:t>
            </a:r>
            <a:r>
              <a:rPr lang="en-GB" sz="4000" dirty="0" smtClean="0">
                <a:solidFill>
                  <a:schemeClr val="accent4">
                    <a:lumMod val="75000"/>
                  </a:schemeClr>
                </a:solidFill>
              </a:rPr>
              <a:t> </a:t>
            </a:r>
            <a:endParaRPr lang="en-GB" sz="4000" dirty="0">
              <a:solidFill>
                <a:schemeClr val="accent4">
                  <a:lumMod val="75000"/>
                </a:schemeClr>
              </a:solidFill>
            </a:endParaRPr>
          </a:p>
        </p:txBody>
      </p:sp>
      <p:sp>
        <p:nvSpPr>
          <p:cNvPr id="3" name="Rectangle 2"/>
          <p:cNvSpPr/>
          <p:nvPr/>
        </p:nvSpPr>
        <p:spPr>
          <a:xfrm>
            <a:off x="5454868" y="1999151"/>
            <a:ext cx="2790498" cy="3416320"/>
          </a:xfrm>
          <a:prstGeom prst="rect">
            <a:avLst/>
          </a:prstGeom>
        </p:spPr>
        <p:txBody>
          <a:bodyPr wrap="square">
            <a:spAutoFit/>
          </a:bodyPr>
          <a:lstStyle/>
          <a:p>
            <a:r>
              <a:rPr lang="en-GB" sz="4000" dirty="0" smtClean="0">
                <a:solidFill>
                  <a:schemeClr val="accent4">
                    <a:lumMod val="75000"/>
                  </a:schemeClr>
                </a:solidFill>
              </a:rPr>
              <a:t>Scaffolding</a:t>
            </a:r>
            <a:endParaRPr lang="en-GB" sz="4400" dirty="0" smtClean="0">
              <a:solidFill>
                <a:schemeClr val="accent4">
                  <a:lumMod val="75000"/>
                </a:schemeClr>
              </a:solidFill>
            </a:endParaRPr>
          </a:p>
          <a:p>
            <a:endParaRPr lang="en-GB" sz="4400" dirty="0" smtClean="0">
              <a:solidFill>
                <a:schemeClr val="accent4">
                  <a:lumMod val="75000"/>
                </a:schemeClr>
              </a:solidFill>
            </a:endParaRPr>
          </a:p>
          <a:p>
            <a:r>
              <a:rPr lang="en-GB" sz="4400" dirty="0" smtClean="0">
                <a:solidFill>
                  <a:schemeClr val="accent4">
                    <a:lumMod val="75000"/>
                  </a:schemeClr>
                </a:solidFill>
              </a:rPr>
              <a:t>Verbal</a:t>
            </a:r>
          </a:p>
          <a:p>
            <a:endParaRPr lang="en-GB" sz="4400" dirty="0" smtClean="0">
              <a:solidFill>
                <a:schemeClr val="accent4">
                  <a:lumMod val="75000"/>
                </a:schemeClr>
              </a:solidFill>
            </a:endParaRPr>
          </a:p>
          <a:p>
            <a:r>
              <a:rPr lang="en-GB" sz="4400" dirty="0" smtClean="0">
                <a:solidFill>
                  <a:schemeClr val="accent4">
                    <a:lumMod val="75000"/>
                  </a:schemeClr>
                </a:solidFill>
              </a:rPr>
              <a:t>Technology</a:t>
            </a:r>
            <a:endParaRPr lang="en-GB" sz="4400" dirty="0">
              <a:solidFill>
                <a:schemeClr val="accent4">
                  <a:lumMod val="75000"/>
                </a:schemeClr>
              </a:solidFill>
            </a:endParaRPr>
          </a:p>
        </p:txBody>
      </p:sp>
      <p:sp>
        <p:nvSpPr>
          <p:cNvPr id="4" name="Rectangle 3"/>
          <p:cNvSpPr/>
          <p:nvPr/>
        </p:nvSpPr>
        <p:spPr>
          <a:xfrm>
            <a:off x="614856" y="189186"/>
            <a:ext cx="8014822" cy="830997"/>
          </a:xfrm>
          <a:prstGeom prst="rect">
            <a:avLst/>
          </a:prstGeom>
        </p:spPr>
        <p:txBody>
          <a:bodyPr wrap="square">
            <a:spAutoFit/>
          </a:bodyPr>
          <a:lstStyle/>
          <a:p>
            <a:pPr algn="ctr"/>
            <a:r>
              <a:rPr lang="en-GB" sz="4800" b="1" dirty="0" smtClean="0">
                <a:solidFill>
                  <a:schemeClr val="accent4">
                    <a:lumMod val="50000"/>
                  </a:schemeClr>
                </a:solidFill>
                <a:latin typeface="+mj-lt"/>
              </a:rPr>
              <a:t>Different types of resources</a:t>
            </a:r>
            <a:endParaRPr lang="en-GB" sz="4800" b="1" dirty="0">
              <a:solidFill>
                <a:schemeClr val="accent4">
                  <a:lumMod val="50000"/>
                </a:schemeClr>
              </a:solidFill>
              <a:latin typeface="+mj-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5379" y="1245476"/>
            <a:ext cx="5912069" cy="4370427"/>
          </a:xfrm>
          <a:prstGeom prst="rect">
            <a:avLst/>
          </a:prstGeom>
          <a:noFill/>
        </p:spPr>
        <p:txBody>
          <a:bodyPr wrap="square" rtlCol="0">
            <a:spAutoFit/>
          </a:bodyPr>
          <a:lstStyle/>
          <a:p>
            <a:r>
              <a:rPr lang="en-GB" sz="6000" b="1" dirty="0" smtClean="0">
                <a:solidFill>
                  <a:schemeClr val="accent2">
                    <a:lumMod val="75000"/>
                  </a:schemeClr>
                </a:solidFill>
              </a:rPr>
              <a:t>Support</a:t>
            </a:r>
          </a:p>
          <a:p>
            <a:endParaRPr lang="en-GB" dirty="0" smtClean="0">
              <a:solidFill>
                <a:schemeClr val="accent2">
                  <a:lumMod val="75000"/>
                </a:schemeClr>
              </a:solidFill>
            </a:endParaRPr>
          </a:p>
          <a:p>
            <a:r>
              <a:rPr lang="en-GB" sz="4000" dirty="0" smtClean="0">
                <a:solidFill>
                  <a:schemeClr val="accent2">
                    <a:lumMod val="75000"/>
                  </a:schemeClr>
                </a:solidFill>
              </a:rPr>
              <a:t>Teacher </a:t>
            </a:r>
          </a:p>
          <a:p>
            <a:r>
              <a:rPr lang="en-GB" sz="4000" dirty="0" smtClean="0">
                <a:solidFill>
                  <a:schemeClr val="accent2">
                    <a:lumMod val="75000"/>
                  </a:schemeClr>
                </a:solidFill>
              </a:rPr>
              <a:t>TA using WDEP method</a:t>
            </a:r>
          </a:p>
          <a:p>
            <a:r>
              <a:rPr lang="en-GB" sz="4000" dirty="0" smtClean="0">
                <a:solidFill>
                  <a:schemeClr val="accent2">
                    <a:lumMod val="75000"/>
                  </a:schemeClr>
                </a:solidFill>
              </a:rPr>
              <a:t>Peers</a:t>
            </a:r>
          </a:p>
          <a:p>
            <a:r>
              <a:rPr lang="en-GB" sz="4000" dirty="0" smtClean="0">
                <a:solidFill>
                  <a:schemeClr val="accent2">
                    <a:lumMod val="75000"/>
                  </a:schemeClr>
                </a:solidFill>
              </a:rPr>
              <a:t>Buddy system</a:t>
            </a:r>
          </a:p>
          <a:p>
            <a:r>
              <a:rPr lang="en-GB" sz="4000" dirty="0" smtClean="0">
                <a:solidFill>
                  <a:schemeClr val="accent2">
                    <a:lumMod val="75000"/>
                  </a:schemeClr>
                </a:solidFill>
              </a:rPr>
              <a:t>Parental</a:t>
            </a:r>
            <a:endParaRPr lang="en-GB" sz="4000" dirty="0">
              <a:solidFill>
                <a:schemeClr val="accent2">
                  <a:lumMod val="75000"/>
                </a:scheme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4294967295"/>
          </p:nvPr>
        </p:nvSpPr>
        <p:spPr>
          <a:xfrm>
            <a:off x="605555" y="2388266"/>
            <a:ext cx="8196153" cy="2812384"/>
          </a:xfrm>
        </p:spPr>
        <p:txBody>
          <a:bodyPr>
            <a:normAutofit/>
          </a:bodyPr>
          <a:lstStyle/>
          <a:p>
            <a:pPr marL="0" indent="0">
              <a:buNone/>
            </a:pPr>
            <a:r>
              <a:rPr lang="en-GB" sz="4000" dirty="0"/>
              <a:t> </a:t>
            </a:r>
          </a:p>
          <a:p>
            <a:pPr marL="0" indent="0" algn="ctr">
              <a:buNone/>
            </a:pPr>
            <a:endParaRPr lang="en-GB" sz="4000" b="1" dirty="0" smtClean="0">
              <a:solidFill>
                <a:srgbClr val="47434F"/>
              </a:solidFill>
              <a:latin typeface="+mn-lt"/>
            </a:endParaRPr>
          </a:p>
        </p:txBody>
      </p:sp>
      <p:sp>
        <p:nvSpPr>
          <p:cNvPr id="5" name="Rectangle 4"/>
          <p:cNvSpPr/>
          <p:nvPr/>
        </p:nvSpPr>
        <p:spPr>
          <a:xfrm>
            <a:off x="4745421" y="1695712"/>
            <a:ext cx="3828423" cy="4401205"/>
          </a:xfrm>
          <a:prstGeom prst="rect">
            <a:avLst/>
          </a:prstGeom>
        </p:spPr>
        <p:txBody>
          <a:bodyPr wrap="square">
            <a:spAutoFit/>
          </a:bodyPr>
          <a:lstStyle/>
          <a:p>
            <a:r>
              <a:rPr lang="en-GB" sz="4000" b="1" dirty="0" smtClean="0">
                <a:solidFill>
                  <a:schemeClr val="accent4">
                    <a:lumMod val="50000"/>
                  </a:schemeClr>
                </a:solidFill>
              </a:rPr>
              <a:t>Teaching Assistants should not be used as an informal teaching resource for low-attaining pupils.</a:t>
            </a:r>
          </a:p>
        </p:txBody>
      </p:sp>
      <p:pic>
        <p:nvPicPr>
          <p:cNvPr id="6"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rot="20852234">
            <a:off x="688105" y="1974927"/>
            <a:ext cx="3059233" cy="43189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7" name="Content Placeholder 3"/>
          <p:cNvPicPr>
            <a:picLocks noGrp="1" noChangeAspect="1" noChangeArrowheads="1"/>
          </p:cNvPicPr>
          <p:nvPr>
            <p:ph idx="1"/>
          </p:nvPr>
        </p:nvPicPr>
        <p:blipFill>
          <a:blip r:embed="rId4" cstate="print">
            <a:extLst>
              <a:ext uri="{28A0092B-C50C-407E-A947-70E740481C1C}">
                <a14:useLocalDpi xmlns="" xmlns:a14="http://schemas.microsoft.com/office/drawing/2010/main" val="0"/>
              </a:ext>
            </a:extLst>
          </a:blip>
          <a:srcRect/>
          <a:stretch>
            <a:fillRect/>
          </a:stretch>
        </p:blipFill>
        <p:spPr bwMode="auto">
          <a:xfrm>
            <a:off x="467544" y="332655"/>
            <a:ext cx="8106300" cy="100811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9741923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42925" y="1695450"/>
            <a:ext cx="8058150" cy="446985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3" name="Rectangle 2"/>
          <p:cNvSpPr/>
          <p:nvPr/>
        </p:nvSpPr>
        <p:spPr>
          <a:xfrm>
            <a:off x="2198491" y="214369"/>
            <a:ext cx="4733027" cy="769441"/>
          </a:xfrm>
          <a:prstGeom prst="rect">
            <a:avLst/>
          </a:prstGeom>
        </p:spPr>
        <p:txBody>
          <a:bodyPr wrap="none">
            <a:spAutoFit/>
          </a:bodyPr>
          <a:lstStyle/>
          <a:p>
            <a:r>
              <a:rPr lang="en-GB" sz="4400" b="1" dirty="0" smtClean="0">
                <a:solidFill>
                  <a:schemeClr val="accent6">
                    <a:lumMod val="75000"/>
                  </a:schemeClr>
                </a:solidFill>
                <a:latin typeface="+mj-lt"/>
              </a:rPr>
              <a:t>Effective Use of TAs</a:t>
            </a:r>
            <a:endParaRPr lang="en-GB" sz="4400" b="1" dirty="0">
              <a:solidFill>
                <a:schemeClr val="accent6">
                  <a:lumMod val="75000"/>
                </a:schemeClr>
              </a:solidFill>
              <a:latin typeface="+mj-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1959" y="2967335"/>
            <a:ext cx="6243144" cy="1754326"/>
          </a:xfrm>
          <a:prstGeom prst="rect">
            <a:avLst/>
          </a:prstGeom>
        </p:spPr>
        <p:txBody>
          <a:bodyPr wrap="square">
            <a:spAutoFit/>
          </a:bodyPr>
          <a:lstStyle/>
          <a:p>
            <a:pPr algn="ctr"/>
            <a:r>
              <a:rPr lang="en-GB" sz="3600" dirty="0" smtClean="0">
                <a:solidFill>
                  <a:schemeClr val="bg2">
                    <a:lumMod val="25000"/>
                  </a:schemeClr>
                </a:solidFill>
              </a:rPr>
              <a:t>What is it?</a:t>
            </a:r>
          </a:p>
          <a:p>
            <a:endParaRPr lang="en-GB" sz="3600" dirty="0" smtClean="0">
              <a:solidFill>
                <a:schemeClr val="bg2">
                  <a:lumMod val="25000"/>
                </a:schemeClr>
              </a:solidFill>
            </a:endParaRPr>
          </a:p>
          <a:p>
            <a:pPr algn="ctr"/>
            <a:r>
              <a:rPr lang="en-GB" sz="3600" dirty="0" smtClean="0">
                <a:solidFill>
                  <a:schemeClr val="bg2">
                    <a:lumMod val="25000"/>
                  </a:schemeClr>
                </a:solidFill>
              </a:rPr>
              <a:t>Are there any drawbacks?</a:t>
            </a:r>
            <a:endParaRPr lang="en-GB" sz="3600" dirty="0">
              <a:solidFill>
                <a:schemeClr val="bg2">
                  <a:lumMod val="25000"/>
                </a:schemeClr>
              </a:solidFill>
            </a:endParaRPr>
          </a:p>
        </p:txBody>
      </p:sp>
      <p:sp>
        <p:nvSpPr>
          <p:cNvPr id="3" name="Rectangle 2"/>
          <p:cNvSpPr/>
          <p:nvPr/>
        </p:nvSpPr>
        <p:spPr>
          <a:xfrm>
            <a:off x="2996472" y="1112627"/>
            <a:ext cx="2884066" cy="830997"/>
          </a:xfrm>
          <a:prstGeom prst="rect">
            <a:avLst/>
          </a:prstGeom>
        </p:spPr>
        <p:txBody>
          <a:bodyPr wrap="square">
            <a:spAutoFit/>
          </a:bodyPr>
          <a:lstStyle/>
          <a:p>
            <a:pPr algn="ctr"/>
            <a:r>
              <a:rPr lang="en-GB" sz="4800" b="1" dirty="0" smtClean="0">
                <a:solidFill>
                  <a:schemeClr val="tx1">
                    <a:lumMod val="65000"/>
                    <a:lumOff val="35000"/>
                  </a:schemeClr>
                </a:solidFill>
                <a:latin typeface="+mj-lt"/>
              </a:rPr>
              <a:t>Outcome</a:t>
            </a:r>
            <a:endParaRPr lang="en-GB" sz="4800" b="1" dirty="0">
              <a:solidFill>
                <a:schemeClr val="tx1">
                  <a:lumMod val="65000"/>
                  <a:lumOff val="35000"/>
                </a:schemeClr>
              </a:solidFill>
              <a:latin typeface="+mj-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9254" y="1481959"/>
            <a:ext cx="5912069" cy="1862048"/>
          </a:xfrm>
          <a:prstGeom prst="rect">
            <a:avLst/>
          </a:prstGeom>
          <a:noFill/>
        </p:spPr>
        <p:txBody>
          <a:bodyPr wrap="square" rtlCol="0">
            <a:spAutoFit/>
          </a:bodyPr>
          <a:lstStyle/>
          <a:p>
            <a:pPr algn="ctr"/>
            <a:r>
              <a:rPr lang="en-GB" sz="11500" b="1" dirty="0" smtClean="0"/>
              <a:t>Review</a:t>
            </a:r>
            <a:endParaRPr lang="en-GB" sz="115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2869" y="772510"/>
            <a:ext cx="7330965" cy="4401205"/>
          </a:xfrm>
          <a:prstGeom prst="rect">
            <a:avLst/>
          </a:prstGeom>
        </p:spPr>
        <p:txBody>
          <a:bodyPr wrap="square">
            <a:spAutoFit/>
          </a:bodyPr>
          <a:lstStyle/>
          <a:p>
            <a:r>
              <a:rPr lang="en-GB" sz="4000" b="1" dirty="0" smtClean="0">
                <a:solidFill>
                  <a:schemeClr val="accent5">
                    <a:lumMod val="50000"/>
                  </a:schemeClr>
                </a:solidFill>
              </a:rPr>
              <a:t>Summative Assessment Is...</a:t>
            </a:r>
          </a:p>
          <a:p>
            <a:r>
              <a:rPr lang="en-GB" sz="2400" dirty="0" smtClean="0">
                <a:solidFill>
                  <a:schemeClr val="accent5">
                    <a:lumMod val="50000"/>
                  </a:schemeClr>
                </a:solidFill>
              </a:rPr>
              <a:t>A means to determine a </a:t>
            </a:r>
            <a:r>
              <a:rPr lang="en-GB" sz="2400" dirty="0" smtClean="0">
                <a:solidFill>
                  <a:schemeClr val="accent5">
                    <a:lumMod val="50000"/>
                  </a:schemeClr>
                </a:solidFill>
              </a:rPr>
              <a:t>pupil’s </a:t>
            </a:r>
            <a:r>
              <a:rPr lang="en-GB" sz="2400" dirty="0" smtClean="0">
                <a:solidFill>
                  <a:schemeClr val="accent5">
                    <a:lumMod val="50000"/>
                  </a:schemeClr>
                </a:solidFill>
              </a:rPr>
              <a:t>mastery and understanding of information, skills, concepts, or processes</a:t>
            </a:r>
            <a:r>
              <a:rPr lang="en-GB" sz="2400" dirty="0" smtClean="0">
                <a:solidFill>
                  <a:schemeClr val="accent5">
                    <a:lumMod val="50000"/>
                  </a:schemeClr>
                </a:solidFill>
              </a:rPr>
              <a:t>.</a:t>
            </a:r>
          </a:p>
          <a:p>
            <a:endParaRPr lang="en-GB" sz="2400" dirty="0" smtClean="0">
              <a:solidFill>
                <a:schemeClr val="accent5">
                  <a:lumMod val="50000"/>
                </a:schemeClr>
              </a:solidFill>
            </a:endParaRPr>
          </a:p>
          <a:p>
            <a:r>
              <a:rPr lang="en-GB" sz="2400" dirty="0" smtClean="0">
                <a:solidFill>
                  <a:schemeClr val="accent5">
                    <a:lumMod val="50000"/>
                  </a:schemeClr>
                </a:solidFill>
              </a:rPr>
              <a:t>• Should reflect formative assessments that precede it </a:t>
            </a:r>
            <a:endParaRPr lang="en-GB" sz="2400" dirty="0" smtClean="0">
              <a:solidFill>
                <a:schemeClr val="accent5">
                  <a:lumMod val="50000"/>
                </a:schemeClr>
              </a:solidFill>
            </a:endParaRPr>
          </a:p>
          <a:p>
            <a:r>
              <a:rPr lang="en-GB" sz="2400" dirty="0" smtClean="0">
                <a:solidFill>
                  <a:schemeClr val="accent5">
                    <a:lumMod val="50000"/>
                  </a:schemeClr>
                </a:solidFill>
              </a:rPr>
              <a:t>• </a:t>
            </a:r>
            <a:r>
              <a:rPr lang="en-GB" sz="2400" dirty="0" smtClean="0">
                <a:solidFill>
                  <a:schemeClr val="accent5">
                    <a:lumMod val="50000"/>
                  </a:schemeClr>
                </a:solidFill>
              </a:rPr>
              <a:t>should match material taught </a:t>
            </a:r>
            <a:endParaRPr lang="en-GB" sz="2400" dirty="0" smtClean="0">
              <a:solidFill>
                <a:schemeClr val="accent5">
                  <a:lumMod val="50000"/>
                </a:schemeClr>
              </a:solidFill>
            </a:endParaRPr>
          </a:p>
          <a:p>
            <a:r>
              <a:rPr lang="en-GB" sz="2400" dirty="0" smtClean="0">
                <a:solidFill>
                  <a:schemeClr val="accent5">
                    <a:lumMod val="50000"/>
                  </a:schemeClr>
                </a:solidFill>
              </a:rPr>
              <a:t>• </a:t>
            </a:r>
            <a:r>
              <a:rPr lang="en-GB" sz="2400" dirty="0" smtClean="0">
                <a:solidFill>
                  <a:schemeClr val="accent5">
                    <a:lumMod val="50000"/>
                  </a:schemeClr>
                </a:solidFill>
              </a:rPr>
              <a:t>may determine </a:t>
            </a:r>
            <a:r>
              <a:rPr lang="en-GB" sz="2400" dirty="0" smtClean="0">
                <a:solidFill>
                  <a:schemeClr val="accent5">
                    <a:lumMod val="50000"/>
                  </a:schemeClr>
                </a:solidFill>
              </a:rPr>
              <a:t>pupil’s </a:t>
            </a:r>
            <a:r>
              <a:rPr lang="en-GB" sz="2400" dirty="0" smtClean="0">
                <a:solidFill>
                  <a:schemeClr val="accent5">
                    <a:lumMod val="50000"/>
                  </a:schemeClr>
                </a:solidFill>
              </a:rPr>
              <a:t>exit achievement </a:t>
            </a:r>
            <a:endParaRPr lang="en-GB" sz="2400" dirty="0" smtClean="0">
              <a:solidFill>
                <a:schemeClr val="accent5">
                  <a:lumMod val="50000"/>
                </a:schemeClr>
              </a:solidFill>
            </a:endParaRPr>
          </a:p>
          <a:p>
            <a:r>
              <a:rPr lang="en-GB" sz="2400" dirty="0" smtClean="0">
                <a:solidFill>
                  <a:schemeClr val="accent5">
                    <a:lumMod val="50000"/>
                  </a:schemeClr>
                </a:solidFill>
              </a:rPr>
              <a:t>• </a:t>
            </a:r>
            <a:r>
              <a:rPr lang="en-GB" sz="2400" dirty="0" smtClean="0">
                <a:solidFill>
                  <a:schemeClr val="accent5">
                    <a:lumMod val="50000"/>
                  </a:schemeClr>
                </a:solidFill>
              </a:rPr>
              <a:t>may be tied to a final decision, </a:t>
            </a:r>
            <a:r>
              <a:rPr lang="en-GB" sz="2400" dirty="0" smtClean="0">
                <a:solidFill>
                  <a:schemeClr val="accent5">
                    <a:lumMod val="50000"/>
                  </a:schemeClr>
                </a:solidFill>
              </a:rPr>
              <a:t>level </a:t>
            </a:r>
            <a:r>
              <a:rPr lang="en-GB" sz="2400" dirty="0" smtClean="0">
                <a:solidFill>
                  <a:schemeClr val="accent5">
                    <a:lumMod val="50000"/>
                  </a:schemeClr>
                </a:solidFill>
              </a:rPr>
              <a:t>or report </a:t>
            </a:r>
            <a:endParaRPr lang="en-GB" sz="2400" dirty="0" smtClean="0">
              <a:solidFill>
                <a:schemeClr val="accent5">
                  <a:lumMod val="50000"/>
                </a:schemeClr>
              </a:solidFill>
            </a:endParaRPr>
          </a:p>
          <a:p>
            <a:r>
              <a:rPr lang="en-GB" sz="2400" dirty="0" smtClean="0">
                <a:solidFill>
                  <a:schemeClr val="accent5">
                    <a:lumMod val="50000"/>
                  </a:schemeClr>
                </a:solidFill>
              </a:rPr>
              <a:t>• </a:t>
            </a:r>
            <a:r>
              <a:rPr lang="en-GB" sz="2400" dirty="0" smtClean="0">
                <a:solidFill>
                  <a:schemeClr val="accent5">
                    <a:lumMod val="50000"/>
                  </a:schemeClr>
                </a:solidFill>
              </a:rPr>
              <a:t>should align with instructional/curricular outcomes </a:t>
            </a:r>
            <a:endParaRPr lang="en-GB" sz="2400" dirty="0" smtClean="0">
              <a:solidFill>
                <a:schemeClr val="accent5">
                  <a:lumMod val="50000"/>
                </a:schemeClr>
              </a:solidFill>
            </a:endParaRPr>
          </a:p>
          <a:p>
            <a:r>
              <a:rPr lang="en-GB" sz="2400" dirty="0" smtClean="0">
                <a:solidFill>
                  <a:schemeClr val="accent5">
                    <a:lumMod val="50000"/>
                  </a:schemeClr>
                </a:solidFill>
              </a:rPr>
              <a:t>• </a:t>
            </a:r>
            <a:r>
              <a:rPr lang="en-GB" sz="2400" dirty="0" smtClean="0">
                <a:solidFill>
                  <a:schemeClr val="accent5">
                    <a:lumMod val="50000"/>
                  </a:schemeClr>
                </a:solidFill>
              </a:rPr>
              <a:t>may be a form of alternative </a:t>
            </a:r>
            <a:r>
              <a:rPr lang="en-GB" sz="2400" dirty="0" smtClean="0">
                <a:solidFill>
                  <a:schemeClr val="accent5">
                    <a:lumMod val="50000"/>
                  </a:schemeClr>
                </a:solidFill>
              </a:rPr>
              <a:t>standardised assessment</a:t>
            </a:r>
            <a:endParaRPr lang="en-GB" sz="2400" dirty="0">
              <a:solidFill>
                <a:schemeClr val="accent5">
                  <a:lumMod val="50000"/>
                </a:schemeClr>
              </a:solidFill>
            </a:endParaRPr>
          </a:p>
        </p:txBody>
      </p:sp>
      <p:pic>
        <p:nvPicPr>
          <p:cNvPr id="3" name="Picture 2" descr="C:\Users\Clair\AppData\Local\Microsoft\Windows\INetCache\IE\RABPRE7S\assessment_in[1].jpg"/>
          <p:cNvPicPr>
            <a:picLocks noChangeAspect="1" noChangeArrowheads="1"/>
          </p:cNvPicPr>
          <p:nvPr/>
        </p:nvPicPr>
        <p:blipFill>
          <a:blip r:embed="rId2"/>
          <a:srcRect/>
          <a:stretch>
            <a:fillRect/>
          </a:stretch>
        </p:blipFill>
        <p:spPr bwMode="auto">
          <a:xfrm>
            <a:off x="3734485" y="5329055"/>
            <a:ext cx="1436604" cy="1308227"/>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1698" y="409903"/>
            <a:ext cx="3704896" cy="5509200"/>
          </a:xfrm>
          <a:prstGeom prst="rect">
            <a:avLst/>
          </a:prstGeom>
          <a:noFill/>
        </p:spPr>
        <p:txBody>
          <a:bodyPr wrap="square" rtlCol="0">
            <a:spAutoFit/>
          </a:bodyPr>
          <a:lstStyle/>
          <a:p>
            <a:r>
              <a:rPr lang="en-GB" sz="4400" b="1" dirty="0" smtClean="0">
                <a:solidFill>
                  <a:schemeClr val="accent3">
                    <a:lumMod val="50000"/>
                  </a:schemeClr>
                </a:solidFill>
              </a:rPr>
              <a:t>Squaring Off</a:t>
            </a:r>
          </a:p>
          <a:p>
            <a:endParaRPr lang="en-GB" sz="4400" b="1" dirty="0" smtClean="0">
              <a:solidFill>
                <a:schemeClr val="accent3">
                  <a:lumMod val="50000"/>
                </a:schemeClr>
              </a:solidFill>
            </a:endParaRPr>
          </a:p>
          <a:p>
            <a:r>
              <a:rPr lang="en-GB" sz="4400" b="1" dirty="0" smtClean="0">
                <a:solidFill>
                  <a:schemeClr val="accent3">
                    <a:lumMod val="50000"/>
                  </a:schemeClr>
                </a:solidFill>
              </a:rPr>
              <a:t>Yes or No cards</a:t>
            </a:r>
          </a:p>
          <a:p>
            <a:endParaRPr lang="en-GB" sz="4400" b="1" dirty="0" smtClean="0">
              <a:solidFill>
                <a:schemeClr val="accent3">
                  <a:lumMod val="50000"/>
                </a:schemeClr>
              </a:solidFill>
            </a:endParaRPr>
          </a:p>
          <a:p>
            <a:r>
              <a:rPr lang="en-GB" sz="4400" b="1" dirty="0" smtClean="0">
                <a:solidFill>
                  <a:schemeClr val="accent3">
                    <a:lumMod val="50000"/>
                  </a:schemeClr>
                </a:solidFill>
              </a:rPr>
              <a:t>Thumbs and Fingers</a:t>
            </a:r>
          </a:p>
          <a:p>
            <a:endParaRPr lang="en-GB" sz="4400" b="1" dirty="0" smtClean="0">
              <a:solidFill>
                <a:schemeClr val="accent3">
                  <a:lumMod val="50000"/>
                </a:schemeClr>
              </a:solidFill>
            </a:endParaRPr>
          </a:p>
          <a:p>
            <a:r>
              <a:rPr lang="en-GB" sz="4400" b="1" dirty="0" smtClean="0">
                <a:solidFill>
                  <a:schemeClr val="accent3">
                    <a:lumMod val="50000"/>
                  </a:schemeClr>
                </a:solidFill>
              </a:rPr>
              <a:t>Cubing</a:t>
            </a:r>
            <a:endParaRPr lang="en-GB" sz="4400" b="1" dirty="0">
              <a:solidFill>
                <a:schemeClr val="accent3">
                  <a:lumMod val="50000"/>
                </a:schemeClr>
              </a:solidFill>
            </a:endParaRPr>
          </a:p>
        </p:txBody>
      </p:sp>
      <p:pic>
        <p:nvPicPr>
          <p:cNvPr id="3" name="Picture 2" descr="C:\Users\Clair\AppData\Local\Microsoft\Windows\INetCache\IE\RABPRE7S\image[1].png"/>
          <p:cNvPicPr/>
          <p:nvPr/>
        </p:nvPicPr>
        <p:blipFill>
          <a:blip r:embed="rId3" cstate="print"/>
          <a:srcRect/>
          <a:stretch>
            <a:fillRect/>
          </a:stretch>
        </p:blipFill>
        <p:spPr bwMode="auto">
          <a:xfrm>
            <a:off x="6734174" y="409903"/>
            <a:ext cx="1643555" cy="1702676"/>
          </a:xfrm>
          <a:prstGeom prst="rect">
            <a:avLst/>
          </a:prstGeom>
          <a:noFill/>
          <a:ln w="9525">
            <a:noFill/>
            <a:miter lim="800000"/>
            <a:headEnd/>
            <a:tailEnd/>
          </a:ln>
        </p:spPr>
      </p:pic>
      <p:pic>
        <p:nvPicPr>
          <p:cNvPr id="4" name="Picture 3" descr="C:\Users\Clair\AppData\Local\Microsoft\Windows\INetCache\IE\RABPRE7S\Fotolia_42014284_XS[1].jpg"/>
          <p:cNvPicPr/>
          <p:nvPr/>
        </p:nvPicPr>
        <p:blipFill>
          <a:blip r:embed="rId4" cstate="print"/>
          <a:srcRect/>
          <a:stretch>
            <a:fillRect/>
          </a:stretch>
        </p:blipFill>
        <p:spPr bwMode="auto">
          <a:xfrm>
            <a:off x="4855780" y="1734207"/>
            <a:ext cx="1680668" cy="1562769"/>
          </a:xfrm>
          <a:prstGeom prst="rect">
            <a:avLst/>
          </a:prstGeom>
          <a:noFill/>
          <a:ln w="9525">
            <a:noFill/>
            <a:miter lim="800000"/>
            <a:headEnd/>
            <a:tailEnd/>
          </a:ln>
        </p:spPr>
      </p:pic>
      <p:pic>
        <p:nvPicPr>
          <p:cNvPr id="5" name="Picture 4" descr="C:\Users\Clair\AppData\Local\Microsoft\Windows\INetCache\IE\9ZP0XFER\shutterstock_74641882[1].jpg"/>
          <p:cNvPicPr/>
          <p:nvPr/>
        </p:nvPicPr>
        <p:blipFill>
          <a:blip r:embed="rId5" cstate="print"/>
          <a:srcRect/>
          <a:stretch>
            <a:fillRect/>
          </a:stretch>
        </p:blipFill>
        <p:spPr bwMode="auto">
          <a:xfrm>
            <a:off x="3612878" y="4303987"/>
            <a:ext cx="2078474" cy="2144110"/>
          </a:xfrm>
          <a:prstGeom prst="rect">
            <a:avLst/>
          </a:prstGeom>
          <a:noFill/>
          <a:ln w="9525">
            <a:noFill/>
            <a:miter lim="800000"/>
            <a:headEnd/>
            <a:tailEnd/>
          </a:ln>
        </p:spPr>
      </p:pic>
      <p:pic>
        <p:nvPicPr>
          <p:cNvPr id="6146" name="Picture 2" descr="C:\Users\Clair\AppData\Local\Microsoft\Windows\INetCache\IE\9ZP0XFER\finger-160597_640[1].png"/>
          <p:cNvPicPr>
            <a:picLocks noChangeAspect="1" noChangeArrowheads="1"/>
          </p:cNvPicPr>
          <p:nvPr/>
        </p:nvPicPr>
        <p:blipFill>
          <a:blip r:embed="rId6"/>
          <a:srcRect/>
          <a:stretch>
            <a:fillRect/>
          </a:stretch>
        </p:blipFill>
        <p:spPr bwMode="auto">
          <a:xfrm>
            <a:off x="6734174" y="2927097"/>
            <a:ext cx="1559472" cy="1579212"/>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7917" y="258902"/>
            <a:ext cx="7835462" cy="6617196"/>
          </a:xfrm>
          <a:prstGeom prst="rect">
            <a:avLst/>
          </a:prstGeom>
        </p:spPr>
        <p:txBody>
          <a:bodyPr wrap="square">
            <a:spAutoFit/>
          </a:bodyPr>
          <a:lstStyle/>
          <a:p>
            <a:r>
              <a:rPr lang="en-GB" sz="4000" b="1" dirty="0" smtClean="0">
                <a:solidFill>
                  <a:schemeClr val="accent4">
                    <a:lumMod val="75000"/>
                  </a:schemeClr>
                </a:solidFill>
              </a:rPr>
              <a:t>Reflection and readiness – Assess</a:t>
            </a:r>
          </a:p>
          <a:p>
            <a:r>
              <a:rPr lang="en-GB" sz="2400" dirty="0" smtClean="0">
                <a:solidFill>
                  <a:schemeClr val="accent4">
                    <a:lumMod val="75000"/>
                  </a:schemeClr>
                </a:solidFill>
              </a:rPr>
              <a:t>Use these questions to assess your school’s readiness for this </a:t>
            </a:r>
          </a:p>
          <a:p>
            <a:r>
              <a:rPr lang="en-GB" sz="2400" dirty="0" smtClean="0">
                <a:solidFill>
                  <a:schemeClr val="accent4">
                    <a:lumMod val="75000"/>
                  </a:schemeClr>
                </a:solidFill>
              </a:rPr>
              <a:t>aspect of the graduated approach:</a:t>
            </a:r>
          </a:p>
          <a:p>
            <a:endParaRPr lang="en-GB" sz="2400" dirty="0" smtClean="0">
              <a:solidFill>
                <a:schemeClr val="accent4">
                  <a:lumMod val="75000"/>
                </a:schemeClr>
              </a:solidFill>
            </a:endParaRPr>
          </a:p>
          <a:p>
            <a:r>
              <a:rPr lang="en-GB" sz="2400" dirty="0" smtClean="0">
                <a:solidFill>
                  <a:schemeClr val="accent4">
                    <a:lumMod val="75000"/>
                  </a:schemeClr>
                </a:solidFill>
              </a:rPr>
              <a:t>• How are we ensuring that we are identifying pupils’ needs as early as possible?</a:t>
            </a:r>
          </a:p>
          <a:p>
            <a:r>
              <a:rPr lang="en-GB" sz="2400" dirty="0" smtClean="0">
                <a:solidFill>
                  <a:schemeClr val="accent4">
                    <a:lumMod val="75000"/>
                  </a:schemeClr>
                </a:solidFill>
              </a:rPr>
              <a:t>• Can we improve our liaison with pre-school/feeder schools to prepare for pupils with SEN as soon as they arrive?</a:t>
            </a:r>
          </a:p>
          <a:p>
            <a:r>
              <a:rPr lang="en-GB" sz="2400" dirty="0" smtClean="0">
                <a:solidFill>
                  <a:schemeClr val="accent4">
                    <a:lumMod val="75000"/>
                  </a:schemeClr>
                </a:solidFill>
              </a:rPr>
              <a:t>• Do we have systems, tools and expertise to support identification and assessment?</a:t>
            </a:r>
          </a:p>
          <a:p>
            <a:r>
              <a:rPr lang="en-GB" sz="2400" dirty="0" smtClean="0">
                <a:solidFill>
                  <a:schemeClr val="accent4">
                    <a:lumMod val="75000"/>
                  </a:schemeClr>
                </a:solidFill>
              </a:rPr>
              <a:t>• Do class/subject teachers make effective use of these tools to identify pupils’ gaps in and barriers to learning, adapting their core teaching in the light of these findings?</a:t>
            </a:r>
          </a:p>
          <a:p>
            <a:r>
              <a:rPr lang="en-GB" sz="2400" dirty="0" smtClean="0">
                <a:solidFill>
                  <a:schemeClr val="accent4">
                    <a:lumMod val="75000"/>
                  </a:schemeClr>
                </a:solidFill>
              </a:rPr>
              <a:t>• Do we call on the support of a range of external specialists as and when we need it?</a:t>
            </a:r>
          </a:p>
          <a:p>
            <a:r>
              <a:rPr lang="en-GB" sz="2400" dirty="0" smtClean="0">
                <a:solidFill>
                  <a:schemeClr val="accent4">
                    <a:lumMod val="75000"/>
                  </a:schemeClr>
                </a:solidFill>
              </a:rPr>
              <a:t>• Are there any areas where our staff need training to support identification?</a:t>
            </a:r>
            <a:endParaRPr lang="en-GB" sz="2400" dirty="0">
              <a:solidFill>
                <a:schemeClr val="accent4">
                  <a:lumMod val="75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5931" y="1443841"/>
            <a:ext cx="7204841" cy="3785652"/>
          </a:xfrm>
          <a:prstGeom prst="rect">
            <a:avLst/>
          </a:prstGeom>
        </p:spPr>
        <p:txBody>
          <a:bodyPr wrap="square">
            <a:spAutoFit/>
          </a:bodyPr>
          <a:lstStyle/>
          <a:p>
            <a:r>
              <a:rPr lang="en-GB" sz="2400" b="1" dirty="0" smtClean="0">
                <a:solidFill>
                  <a:schemeClr val="tx1">
                    <a:lumMod val="50000"/>
                    <a:lumOff val="50000"/>
                  </a:schemeClr>
                </a:solidFill>
              </a:rPr>
              <a:t>What works for children with literacy difficulties </a:t>
            </a:r>
            <a:endParaRPr lang="en-GB" sz="2400" dirty="0" smtClean="0">
              <a:solidFill>
                <a:schemeClr val="tx1">
                  <a:lumMod val="50000"/>
                  <a:lumOff val="50000"/>
                </a:schemeClr>
              </a:solidFill>
            </a:endParaRPr>
          </a:p>
          <a:p>
            <a:endParaRPr lang="en-GB" sz="2400" dirty="0" smtClean="0">
              <a:solidFill>
                <a:schemeClr val="tx1">
                  <a:lumMod val="50000"/>
                  <a:lumOff val="50000"/>
                </a:schemeClr>
              </a:solidFill>
            </a:endParaRPr>
          </a:p>
          <a:p>
            <a:r>
              <a:rPr lang="en-GB" sz="2400" b="1" dirty="0" smtClean="0">
                <a:solidFill>
                  <a:schemeClr val="tx1">
                    <a:lumMod val="50000"/>
                    <a:lumOff val="50000"/>
                  </a:schemeClr>
                </a:solidFill>
              </a:rPr>
              <a:t>What works for children with mathematical difficulties </a:t>
            </a:r>
            <a:endParaRPr lang="en-GB" sz="2400" dirty="0" smtClean="0">
              <a:solidFill>
                <a:schemeClr val="tx1">
                  <a:lumMod val="50000"/>
                  <a:lumOff val="50000"/>
                </a:schemeClr>
              </a:solidFill>
            </a:endParaRPr>
          </a:p>
          <a:p>
            <a:endParaRPr lang="en-GB" sz="2400" b="1" dirty="0" smtClean="0">
              <a:solidFill>
                <a:schemeClr val="tx1">
                  <a:lumMod val="50000"/>
                  <a:lumOff val="50000"/>
                </a:schemeClr>
              </a:solidFill>
            </a:endParaRPr>
          </a:p>
          <a:p>
            <a:r>
              <a:rPr lang="en-GB" sz="2400" b="1" dirty="0" smtClean="0">
                <a:solidFill>
                  <a:schemeClr val="tx1">
                    <a:lumMod val="50000"/>
                    <a:lumOff val="50000"/>
                  </a:schemeClr>
                </a:solidFill>
              </a:rPr>
              <a:t>The effective management of teaching assistants to improve standards in literacy and mathematics</a:t>
            </a:r>
          </a:p>
          <a:p>
            <a:endParaRPr lang="en-GB" sz="2400" b="1" dirty="0" smtClean="0">
              <a:solidFill>
                <a:schemeClr val="bg2">
                  <a:lumMod val="25000"/>
                </a:schemeClr>
              </a:solidFill>
            </a:endParaRPr>
          </a:p>
          <a:p>
            <a:r>
              <a:rPr lang="en-GB" sz="2400" b="1" dirty="0" smtClean="0">
                <a:solidFill>
                  <a:schemeClr val="bg2">
                    <a:lumMod val="25000"/>
                  </a:schemeClr>
                </a:solidFill>
                <a:hlinkClick r:id="rId3"/>
              </a:rPr>
              <a:t>www.visualaidsforlearning.com</a:t>
            </a:r>
            <a:endParaRPr lang="en-GB" sz="2400" b="1" dirty="0" smtClean="0">
              <a:solidFill>
                <a:schemeClr val="bg2">
                  <a:lumMod val="25000"/>
                </a:schemeClr>
              </a:solidFill>
            </a:endParaRPr>
          </a:p>
          <a:p>
            <a:r>
              <a:rPr lang="en-GB" sz="2400" b="1" dirty="0" smtClean="0">
                <a:solidFill>
                  <a:schemeClr val="bg2">
                    <a:lumMod val="25000"/>
                  </a:schemeClr>
                </a:solidFill>
                <a:hlinkClick r:id="rId4"/>
              </a:rPr>
              <a:t>http://mrcrammond.com/writing_frames.htm</a:t>
            </a:r>
            <a:endParaRPr lang="en-GB" sz="2400" b="1" dirty="0" smtClean="0">
              <a:solidFill>
                <a:schemeClr val="bg2">
                  <a:lumMod val="25000"/>
                </a:schemeClr>
              </a:solidFill>
            </a:endParaRPr>
          </a:p>
          <a:p>
            <a:r>
              <a:rPr lang="en-GB" sz="2400" b="1" dirty="0" smtClean="0">
                <a:solidFill>
                  <a:schemeClr val="bg2">
                    <a:lumMod val="25000"/>
                  </a:schemeClr>
                </a:solidFill>
                <a:hlinkClick r:id="rId5"/>
              </a:rPr>
              <a:t>www.eal.britishcouncil.org</a:t>
            </a:r>
            <a:endParaRPr lang="en-GB" sz="2400" b="1" dirty="0" smtClean="0">
              <a:solidFill>
                <a:schemeClr val="bg2">
                  <a:lumMod val="25000"/>
                </a:schemeClr>
              </a:solidFill>
            </a:endParaRPr>
          </a:p>
        </p:txBody>
      </p:sp>
      <p:sp>
        <p:nvSpPr>
          <p:cNvPr id="3" name="Rectangle 2"/>
          <p:cNvSpPr/>
          <p:nvPr/>
        </p:nvSpPr>
        <p:spPr>
          <a:xfrm>
            <a:off x="2286000" y="305068"/>
            <a:ext cx="4048672" cy="769441"/>
          </a:xfrm>
          <a:prstGeom prst="rect">
            <a:avLst/>
          </a:prstGeom>
        </p:spPr>
        <p:txBody>
          <a:bodyPr wrap="none">
            <a:spAutoFit/>
          </a:bodyPr>
          <a:lstStyle/>
          <a:p>
            <a:r>
              <a:rPr lang="en-GB" sz="4400" b="1" dirty="0" smtClean="0">
                <a:solidFill>
                  <a:schemeClr val="tx1">
                    <a:lumMod val="50000"/>
                    <a:lumOff val="50000"/>
                  </a:schemeClr>
                </a:solidFill>
                <a:latin typeface="+mj-lt"/>
              </a:rPr>
              <a:t>Useful resources</a:t>
            </a:r>
            <a:endParaRPr lang="en-GB" sz="4400" b="1" dirty="0">
              <a:solidFill>
                <a:schemeClr val="tx1">
                  <a:lumMod val="50000"/>
                  <a:lumOff val="50000"/>
                </a:schemeClr>
              </a:solidFill>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788276" y="536028"/>
            <a:ext cx="6584593" cy="2871745"/>
          </a:xfrm>
        </p:spPr>
        <p:txBody>
          <a:bodyPr/>
          <a:lstStyle/>
          <a:p>
            <a:r>
              <a:rPr lang="en-US" dirty="0" smtClean="0">
                <a:latin typeface="+mj-lt"/>
              </a:rPr>
              <a:t> </a:t>
            </a:r>
            <a:endParaRPr lang="en-US" dirty="0">
              <a:latin typeface="+mj-lt"/>
            </a:endParaRPr>
          </a:p>
        </p:txBody>
      </p:sp>
      <p:sp>
        <p:nvSpPr>
          <p:cNvPr id="3" name="Rectangle 2"/>
          <p:cNvSpPr/>
          <p:nvPr/>
        </p:nvSpPr>
        <p:spPr>
          <a:xfrm>
            <a:off x="788275" y="536029"/>
            <a:ext cx="7488621" cy="3046988"/>
          </a:xfrm>
          <a:prstGeom prst="rect">
            <a:avLst/>
          </a:prstGeom>
        </p:spPr>
        <p:txBody>
          <a:bodyPr wrap="square">
            <a:spAutoFit/>
          </a:bodyPr>
          <a:lstStyle/>
          <a:p>
            <a:pPr defTabSz="914400">
              <a:defRPr/>
            </a:pPr>
            <a:r>
              <a:rPr lang="en-GB" sz="2400" dirty="0" smtClean="0">
                <a:solidFill>
                  <a:srgbClr val="FFFF00"/>
                </a:solidFill>
              </a:rPr>
              <a:t>Differentiation in the classroom is all about understanding that we are dealing with a group of diverse individuals and adapting our teaching to ensure that all of them have access to learn. It should be an on-going and flexible process which not only profiles pupils initially but also recognises progress and areas for improvement and adjusts accordingly to ensure learning needs continue to be met</a:t>
            </a:r>
          </a:p>
        </p:txBody>
      </p:sp>
      <p:sp>
        <p:nvSpPr>
          <p:cNvPr id="5" name="Rectangle 4"/>
          <p:cNvSpPr/>
          <p:nvPr/>
        </p:nvSpPr>
        <p:spPr>
          <a:xfrm>
            <a:off x="788276" y="3752166"/>
            <a:ext cx="7488620" cy="954107"/>
          </a:xfrm>
          <a:prstGeom prst="rect">
            <a:avLst/>
          </a:prstGeom>
        </p:spPr>
        <p:txBody>
          <a:bodyPr wrap="square">
            <a:spAutoFit/>
          </a:bodyPr>
          <a:lstStyle/>
          <a:p>
            <a:pPr algn="ctr"/>
            <a:r>
              <a:rPr lang="en-GB" sz="2800" b="1" dirty="0" smtClean="0">
                <a:solidFill>
                  <a:schemeClr val="bg1">
                    <a:lumMod val="95000"/>
                  </a:schemeClr>
                </a:solidFill>
              </a:rPr>
              <a:t>In short, it shifts the focus from teaching a subject to teaching the pupils. </a:t>
            </a:r>
            <a:endParaRPr lang="en-GB" sz="2800" dirty="0">
              <a:solidFill>
                <a:schemeClr val="bg1">
                  <a:lumMod val="95000"/>
                </a:schemeClr>
              </a:solidFill>
            </a:endParaRPr>
          </a:p>
        </p:txBody>
      </p:sp>
    </p:spTree>
    <p:extLst>
      <p:ext uri="{BB962C8B-B14F-4D97-AF65-F5344CB8AC3E}">
        <p14:creationId xmlns=""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AFC Supporting your child at ho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AFC Supporting your child at home</Template>
  <TotalTime>1272</TotalTime>
  <Words>3818</Words>
  <Application>Microsoft Office PowerPoint</Application>
  <PresentationFormat>On-screen Show (4:3)</PresentationFormat>
  <Paragraphs>374</Paragraphs>
  <Slides>46</Slides>
  <Notes>19</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AFC Supporting your child at home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Clair</dc:creator>
  <cp:lastModifiedBy>Clair</cp:lastModifiedBy>
  <cp:revision>9</cp:revision>
  <cp:lastPrinted>2015-09-16T14:47:36Z</cp:lastPrinted>
  <dcterms:created xsi:type="dcterms:W3CDTF">2017-10-28T13:58:24Z</dcterms:created>
  <dcterms:modified xsi:type="dcterms:W3CDTF">2018-01-03T02:03:15Z</dcterms:modified>
</cp:coreProperties>
</file>