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0"/>
  </p:notesMasterIdLst>
  <p:handoutMasterIdLst>
    <p:handoutMasterId r:id="rId31"/>
  </p:handoutMasterIdLst>
  <p:sldIdLst>
    <p:sldId id="341" r:id="rId5"/>
    <p:sldId id="32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5" r:id="rId18"/>
    <p:sldId id="356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0" r:id="rId29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417" autoAdjust="0"/>
  </p:normalViewPr>
  <p:slideViewPr>
    <p:cSldViewPr>
      <p:cViewPr varScale="1">
        <p:scale>
          <a:sx n="83" d="100"/>
          <a:sy n="83" d="100"/>
        </p:scale>
        <p:origin x="-17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2A17BC-41AD-44AE-816B-DC062DEA6D3C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4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  <a:p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u="sng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baseline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GB" noProof="0" smtClean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E78F-C0B2-42DC-B52F-A67248C34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E0E66-93CD-475A-8B3A-E7E92DE6E255}" type="datetimeFigureOut">
              <a:rPr lang="en-US"/>
              <a:pPr>
                <a:defRPr/>
              </a:pPr>
              <a:t>6/22/2017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30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4" y="4510608"/>
            <a:ext cx="2447297" cy="172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8" name="Text Box 8"/>
          <p:cNvSpPr txBox="1">
            <a:spLocks noChangeArrowheads="1"/>
          </p:cNvSpPr>
          <p:nvPr/>
        </p:nvSpPr>
        <p:spPr bwMode="auto">
          <a:xfrm>
            <a:off x="637073" y="666736"/>
            <a:ext cx="7704856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u="sng" dirty="0" smtClean="0">
                <a:ea typeface="ＭＳ Ｐゴシック" pitchFamily="110" charset="-128"/>
              </a:rPr>
              <a:t>Precision Teaching: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 smtClean="0">
                <a:ea typeface="ＭＳ Ｐゴシック" pitchFamily="110" charset="-128"/>
              </a:rPr>
              <a:t>An Introduction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Datchet </a:t>
            </a:r>
            <a:r>
              <a:rPr lang="en-US" altLang="en-US" sz="2400" smtClean="0">
                <a:ea typeface="ＭＳ Ｐゴシック" pitchFamily="110" charset="-128"/>
              </a:rPr>
              <a:t>St Mary’s - Bespoke </a:t>
            </a:r>
            <a:r>
              <a:rPr lang="en-US" altLang="en-US" sz="2400" dirty="0" smtClean="0">
                <a:ea typeface="ＭＳ Ｐゴシック" pitchFamily="110" charset="-128"/>
              </a:rPr>
              <a:t>for S Phillips</a:t>
            </a:r>
            <a:endParaRPr lang="en-US" altLang="en-US" sz="2400" dirty="0" smtClean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ea typeface="ＭＳ Ｐゴシック" pitchFamily="110" charset="-128"/>
              </a:rPr>
              <a:t>Scott </a:t>
            </a:r>
            <a:r>
              <a:rPr lang="en-US" altLang="en-US" sz="2400" dirty="0" smtClean="0">
                <a:ea typeface="ＭＳ Ｐゴシック" pitchFamily="110" charset="-128"/>
              </a:rPr>
              <a:t>I-Patrick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Tuesday </a:t>
            </a:r>
            <a:r>
              <a:rPr lang="en-US" altLang="en-US" sz="2400" dirty="0" smtClean="0">
                <a:ea typeface="ＭＳ Ｐゴシック" pitchFamily="110" charset="-128"/>
              </a:rPr>
              <a:t>22</a:t>
            </a:r>
            <a:r>
              <a:rPr lang="en-US" altLang="en-US" sz="2400" baseline="30000" dirty="0" smtClean="0">
                <a:ea typeface="ＭＳ Ｐゴシック" pitchFamily="110" charset="-128"/>
              </a:rPr>
              <a:t>nd</a:t>
            </a:r>
            <a:r>
              <a:rPr lang="en-US" altLang="en-US" sz="2400" dirty="0" smtClean="0">
                <a:ea typeface="ＭＳ Ｐゴシック" pitchFamily="110" charset="-128"/>
              </a:rPr>
              <a:t> June </a:t>
            </a:r>
            <a:r>
              <a:rPr lang="en-US" altLang="en-US" sz="2400" dirty="0" smtClean="0">
                <a:ea typeface="ＭＳ Ｐゴシック" pitchFamily="110" charset="-128"/>
              </a:rPr>
              <a:t>2017</a:t>
            </a:r>
            <a:endParaRPr lang="en-US" altLang="en-US" sz="24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8043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How do you do PT?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Target 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9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25860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0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8497888" cy="1143000"/>
          </a:xfrm>
        </p:spPr>
        <p:txBody>
          <a:bodyPr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defRPr/>
            </a:pPr>
            <a:r>
              <a:rPr lang="en-GB" altLang="en-US" sz="2400" dirty="0" smtClean="0"/>
              <a:t>1</a:t>
            </a:r>
            <a:r>
              <a:rPr lang="en-GB" altLang="en-US" sz="2700" dirty="0" smtClean="0"/>
              <a:t>. Identifying the difficulty </a:t>
            </a:r>
            <a:br>
              <a:rPr lang="en-GB" altLang="en-US" sz="2700" dirty="0" smtClean="0"/>
            </a:br>
            <a:r>
              <a:rPr lang="en-GB" altLang="en-US" sz="2700" dirty="0" smtClean="0"/>
              <a:t>– </a:t>
            </a:r>
            <a:r>
              <a:rPr lang="en-GB" altLang="en-US" sz="2700" dirty="0" smtClean="0"/>
              <a:t>Phase 2 set-1 </a:t>
            </a:r>
            <a:r>
              <a:rPr lang="en-GB" altLang="en-US" sz="2700" dirty="0" smtClean="0"/>
              <a:t>words example</a:t>
            </a:r>
          </a:p>
        </p:txBody>
      </p:sp>
      <p:sp>
        <p:nvSpPr>
          <p:cNvPr id="10243" name="Line 30"/>
          <p:cNvSpPr>
            <a:spLocks noChangeShapeType="1"/>
          </p:cNvSpPr>
          <p:nvPr/>
        </p:nvSpPr>
        <p:spPr bwMode="auto">
          <a:xfrm>
            <a:off x="1331913" y="1557338"/>
            <a:ext cx="633571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Rectangle 47"/>
          <p:cNvSpPr>
            <a:spLocks noChangeArrowheads="1"/>
          </p:cNvSpPr>
          <p:nvPr/>
        </p:nvSpPr>
        <p:spPr bwMode="auto">
          <a:xfrm>
            <a:off x="827088" y="5241974"/>
            <a:ext cx="7775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was tested with the 7 phase 2 set-1words to identify the specific difficulties.</a:t>
            </a:r>
          </a:p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can read 3/7 words.</a:t>
            </a:r>
          </a:p>
          <a:p>
            <a:pPr algn="l" eaLnBrk="1" hangingPunct="1"/>
            <a:r>
              <a:rPr lang="en-GB" altLang="en-US" sz="1800" dirty="0" smtClean="0">
                <a:latin typeface="Arial" pitchFamily="34" charset="0"/>
              </a:rPr>
              <a:t>.</a:t>
            </a:r>
            <a:endParaRPr lang="en-GB" altLang="en-US" sz="1800" dirty="0">
              <a:latin typeface="Arial" pitchFamily="34" charset="0"/>
            </a:endParaRPr>
          </a:p>
        </p:txBody>
      </p:sp>
      <p:grpSp>
        <p:nvGrpSpPr>
          <p:cNvPr id="10245" name="Group 174"/>
          <p:cNvGrpSpPr>
            <a:grpSpLocks/>
          </p:cNvGrpSpPr>
          <p:nvPr/>
        </p:nvGrpSpPr>
        <p:grpSpPr bwMode="auto">
          <a:xfrm>
            <a:off x="1331913" y="1557338"/>
            <a:ext cx="6335712" cy="3600450"/>
            <a:chOff x="839" y="1026"/>
            <a:chExt cx="3991" cy="2268"/>
          </a:xfrm>
        </p:grpSpPr>
        <p:sp>
          <p:nvSpPr>
            <p:cNvPr id="10247" name="Rectangle 64"/>
            <p:cNvSpPr>
              <a:spLocks noChangeArrowheads="1"/>
            </p:cNvSpPr>
            <p:nvPr/>
          </p:nvSpPr>
          <p:spPr bwMode="auto">
            <a:xfrm>
              <a:off x="839" y="1026"/>
              <a:ext cx="1298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8" name="Rectangle 65"/>
            <p:cNvSpPr>
              <a:spLocks noChangeArrowheads="1"/>
            </p:cNvSpPr>
            <p:nvPr/>
          </p:nvSpPr>
          <p:spPr bwMode="auto">
            <a:xfrm>
              <a:off x="2137" y="1026"/>
              <a:ext cx="126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9" name="Rectangle 66"/>
            <p:cNvSpPr>
              <a:spLocks noChangeArrowheads="1"/>
            </p:cNvSpPr>
            <p:nvPr/>
          </p:nvSpPr>
          <p:spPr bwMode="auto">
            <a:xfrm>
              <a:off x="3404" y="1026"/>
              <a:ext cx="14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/>
            </a:p>
          </p:txBody>
        </p:sp>
        <p:sp>
          <p:nvSpPr>
            <p:cNvPr id="10250" name="Rectangle 67"/>
            <p:cNvSpPr>
              <a:spLocks noChangeArrowheads="1"/>
            </p:cNvSpPr>
            <p:nvPr/>
          </p:nvSpPr>
          <p:spPr bwMode="auto">
            <a:xfrm>
              <a:off x="839" y="1396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tap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1" name="Rectangle 68"/>
            <p:cNvSpPr>
              <a:spLocks noChangeArrowheads="1"/>
            </p:cNvSpPr>
            <p:nvPr/>
          </p:nvSpPr>
          <p:spPr bwMode="auto">
            <a:xfrm>
              <a:off x="2137" y="1396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2" name="Rectangle 69"/>
            <p:cNvSpPr>
              <a:spLocks noChangeArrowheads="1"/>
            </p:cNvSpPr>
            <p:nvPr/>
          </p:nvSpPr>
          <p:spPr bwMode="auto">
            <a:xfrm>
              <a:off x="3404" y="1396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/>
            </a:p>
          </p:txBody>
        </p:sp>
        <p:sp>
          <p:nvSpPr>
            <p:cNvPr id="10253" name="Rectangle 70"/>
            <p:cNvSpPr>
              <a:spLocks noChangeArrowheads="1"/>
            </p:cNvSpPr>
            <p:nvPr/>
          </p:nvSpPr>
          <p:spPr bwMode="auto">
            <a:xfrm>
              <a:off x="839" y="177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4" name="Rectangle 71"/>
            <p:cNvSpPr>
              <a:spLocks noChangeArrowheads="1"/>
            </p:cNvSpPr>
            <p:nvPr/>
          </p:nvSpPr>
          <p:spPr bwMode="auto">
            <a:xfrm>
              <a:off x="2137" y="177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5" name="Rectangle 72"/>
            <p:cNvSpPr>
              <a:spLocks noChangeArrowheads="1"/>
            </p:cNvSpPr>
            <p:nvPr/>
          </p:nvSpPr>
          <p:spPr bwMode="auto">
            <a:xfrm>
              <a:off x="3404" y="177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6" name="Rectangle 73"/>
            <p:cNvSpPr>
              <a:spLocks noChangeArrowheads="1"/>
            </p:cNvSpPr>
            <p:nvPr/>
          </p:nvSpPr>
          <p:spPr bwMode="auto">
            <a:xfrm>
              <a:off x="839" y="215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7" name="Rectangle 74"/>
            <p:cNvSpPr>
              <a:spLocks noChangeArrowheads="1"/>
            </p:cNvSpPr>
            <p:nvPr/>
          </p:nvSpPr>
          <p:spPr bwMode="auto">
            <a:xfrm>
              <a:off x="2137" y="215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8" name="Rectangle 75"/>
            <p:cNvSpPr>
              <a:spLocks noChangeArrowheads="1"/>
            </p:cNvSpPr>
            <p:nvPr/>
          </p:nvSpPr>
          <p:spPr bwMode="auto">
            <a:xfrm>
              <a:off x="3404" y="215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9" name="Rectangle 76"/>
            <p:cNvSpPr>
              <a:spLocks noChangeArrowheads="1"/>
            </p:cNvSpPr>
            <p:nvPr/>
          </p:nvSpPr>
          <p:spPr bwMode="auto">
            <a:xfrm>
              <a:off x="839" y="253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Arial" pitchFamily="34" charset="0"/>
                </a:rPr>
                <a:t>at</a:t>
              </a:r>
              <a:endParaRPr lang="en-GB" altLang="en-US" sz="2800" dirty="0">
                <a:latin typeface="Arial" pitchFamily="34" charset="0"/>
              </a:endParaRPr>
            </a:p>
          </p:txBody>
        </p:sp>
        <p:sp>
          <p:nvSpPr>
            <p:cNvPr id="10260" name="Rectangle 77"/>
            <p:cNvSpPr>
              <a:spLocks noChangeArrowheads="1"/>
            </p:cNvSpPr>
            <p:nvPr/>
          </p:nvSpPr>
          <p:spPr bwMode="auto">
            <a:xfrm>
              <a:off x="2137" y="253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1" name="Rectangle 78"/>
            <p:cNvSpPr>
              <a:spLocks noChangeArrowheads="1"/>
            </p:cNvSpPr>
            <p:nvPr/>
          </p:nvSpPr>
          <p:spPr bwMode="auto">
            <a:xfrm>
              <a:off x="3404" y="253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/>
            </a:p>
          </p:txBody>
        </p:sp>
        <p:sp>
          <p:nvSpPr>
            <p:cNvPr id="10262" name="Rectangle 79"/>
            <p:cNvSpPr>
              <a:spLocks noChangeArrowheads="1"/>
            </p:cNvSpPr>
            <p:nvPr/>
          </p:nvSpPr>
          <p:spPr bwMode="auto">
            <a:xfrm>
              <a:off x="839" y="2915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/>
            </a:p>
          </p:txBody>
        </p:sp>
        <p:sp>
          <p:nvSpPr>
            <p:cNvPr id="10263" name="Rectangle 80"/>
            <p:cNvSpPr>
              <a:spLocks noChangeArrowheads="1"/>
            </p:cNvSpPr>
            <p:nvPr/>
          </p:nvSpPr>
          <p:spPr bwMode="auto">
            <a:xfrm>
              <a:off x="2137" y="2915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4" name="Rectangle 81"/>
            <p:cNvSpPr>
              <a:spLocks noChangeArrowheads="1"/>
            </p:cNvSpPr>
            <p:nvPr/>
          </p:nvSpPr>
          <p:spPr bwMode="auto">
            <a:xfrm>
              <a:off x="3404" y="2915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5" name="Line 82"/>
            <p:cNvSpPr>
              <a:spLocks noChangeShapeType="1"/>
            </p:cNvSpPr>
            <p:nvPr/>
          </p:nvSpPr>
          <p:spPr bwMode="auto">
            <a:xfrm>
              <a:off x="2137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Line 83"/>
            <p:cNvSpPr>
              <a:spLocks noChangeShapeType="1"/>
            </p:cNvSpPr>
            <p:nvPr/>
          </p:nvSpPr>
          <p:spPr bwMode="auto">
            <a:xfrm>
              <a:off x="3404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7" name="Line 84"/>
            <p:cNvSpPr>
              <a:spLocks noChangeShapeType="1"/>
            </p:cNvSpPr>
            <p:nvPr/>
          </p:nvSpPr>
          <p:spPr bwMode="auto">
            <a:xfrm>
              <a:off x="839" y="1396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8" name="Line 85"/>
            <p:cNvSpPr>
              <a:spLocks noChangeShapeType="1"/>
            </p:cNvSpPr>
            <p:nvPr/>
          </p:nvSpPr>
          <p:spPr bwMode="auto">
            <a:xfrm>
              <a:off x="839" y="177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9" name="Line 86"/>
            <p:cNvSpPr>
              <a:spLocks noChangeShapeType="1"/>
            </p:cNvSpPr>
            <p:nvPr/>
          </p:nvSpPr>
          <p:spPr bwMode="auto">
            <a:xfrm>
              <a:off x="839" y="215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0" name="Line 87"/>
            <p:cNvSpPr>
              <a:spLocks noChangeShapeType="1"/>
            </p:cNvSpPr>
            <p:nvPr/>
          </p:nvSpPr>
          <p:spPr bwMode="auto">
            <a:xfrm>
              <a:off x="839" y="253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1" name="Line 88"/>
            <p:cNvSpPr>
              <a:spLocks noChangeShapeType="1"/>
            </p:cNvSpPr>
            <p:nvPr/>
          </p:nvSpPr>
          <p:spPr bwMode="auto">
            <a:xfrm>
              <a:off x="839" y="291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2" name="Line 89"/>
            <p:cNvSpPr>
              <a:spLocks noChangeShapeType="1"/>
            </p:cNvSpPr>
            <p:nvPr/>
          </p:nvSpPr>
          <p:spPr bwMode="auto">
            <a:xfrm>
              <a:off x="839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3" name="Line 90"/>
            <p:cNvSpPr>
              <a:spLocks noChangeShapeType="1"/>
            </p:cNvSpPr>
            <p:nvPr/>
          </p:nvSpPr>
          <p:spPr bwMode="auto">
            <a:xfrm>
              <a:off x="4830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4" name="Line 92"/>
            <p:cNvSpPr>
              <a:spLocks noChangeShapeType="1"/>
            </p:cNvSpPr>
            <p:nvPr/>
          </p:nvSpPr>
          <p:spPr bwMode="auto">
            <a:xfrm>
              <a:off x="839" y="3294"/>
              <a:ext cx="3991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5" name="Line 1059"/>
            <p:cNvSpPr>
              <a:spLocks noChangeShapeType="1"/>
            </p:cNvSpPr>
            <p:nvPr/>
          </p:nvSpPr>
          <p:spPr bwMode="auto">
            <a:xfrm flipH="1">
              <a:off x="1689" y="1154"/>
              <a:ext cx="30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6" name="Line 1060"/>
            <p:cNvSpPr>
              <a:spLocks noChangeShapeType="1"/>
            </p:cNvSpPr>
            <p:nvPr/>
          </p:nvSpPr>
          <p:spPr bwMode="auto">
            <a:xfrm flipH="1" flipV="1">
              <a:off x="1638" y="1200"/>
              <a:ext cx="5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7" name="Line 1062"/>
            <p:cNvSpPr>
              <a:spLocks noChangeShapeType="1"/>
            </p:cNvSpPr>
            <p:nvPr/>
          </p:nvSpPr>
          <p:spPr bwMode="auto">
            <a:xfrm flipH="1">
              <a:off x="3012" y="1539"/>
              <a:ext cx="305" cy="1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8" name="Line 1063"/>
            <p:cNvSpPr>
              <a:spLocks noChangeShapeType="1"/>
            </p:cNvSpPr>
            <p:nvPr/>
          </p:nvSpPr>
          <p:spPr bwMode="auto">
            <a:xfrm flipH="1" flipV="1">
              <a:off x="2967" y="1582"/>
              <a:ext cx="51" cy="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279" name="Group 97"/>
            <p:cNvGrpSpPr>
              <a:grpSpLocks/>
            </p:cNvGrpSpPr>
            <p:nvPr/>
          </p:nvGrpSpPr>
          <p:grpSpPr bwMode="auto">
            <a:xfrm>
              <a:off x="1638" y="2695"/>
              <a:ext cx="356" cy="136"/>
              <a:chOff x="1565" y="3117"/>
              <a:chExt cx="364" cy="144"/>
            </a:xfrm>
          </p:grpSpPr>
          <p:sp>
            <p:nvSpPr>
              <p:cNvPr id="10298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9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0" name="Oval 1067"/>
            <p:cNvSpPr>
              <a:spLocks noChangeArrowheads="1"/>
            </p:cNvSpPr>
            <p:nvPr/>
          </p:nvSpPr>
          <p:spPr bwMode="auto">
            <a:xfrm>
              <a:off x="1771" y="1582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1" name="Oval 1068"/>
            <p:cNvSpPr>
              <a:spLocks noChangeArrowheads="1"/>
            </p:cNvSpPr>
            <p:nvPr/>
          </p:nvSpPr>
          <p:spPr bwMode="auto">
            <a:xfrm>
              <a:off x="4422" y="157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2" name="Oval 1069"/>
            <p:cNvSpPr>
              <a:spLocks noChangeArrowheads="1"/>
            </p:cNvSpPr>
            <p:nvPr/>
          </p:nvSpPr>
          <p:spPr bwMode="auto">
            <a:xfrm>
              <a:off x="443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3" name="Oval 1070"/>
            <p:cNvSpPr>
              <a:spLocks noChangeArrowheads="1"/>
            </p:cNvSpPr>
            <p:nvPr/>
          </p:nvSpPr>
          <p:spPr bwMode="auto">
            <a:xfrm>
              <a:off x="3100" y="2737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 dirty="0">
                <a:latin typeface="Calibri" pitchFamily="34" charset="0"/>
              </a:endParaRPr>
            </a:p>
          </p:txBody>
        </p:sp>
        <p:sp>
          <p:nvSpPr>
            <p:cNvPr id="10284" name="Oval 1071"/>
            <p:cNvSpPr>
              <a:spLocks noChangeArrowheads="1"/>
            </p:cNvSpPr>
            <p:nvPr/>
          </p:nvSpPr>
          <p:spPr bwMode="auto">
            <a:xfrm>
              <a:off x="1771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5" name="Oval 1072"/>
            <p:cNvSpPr>
              <a:spLocks noChangeArrowheads="1"/>
            </p:cNvSpPr>
            <p:nvPr/>
          </p:nvSpPr>
          <p:spPr bwMode="auto">
            <a:xfrm>
              <a:off x="4476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6" name="Oval 1073"/>
            <p:cNvSpPr>
              <a:spLocks noChangeArrowheads="1"/>
            </p:cNvSpPr>
            <p:nvPr/>
          </p:nvSpPr>
          <p:spPr bwMode="auto">
            <a:xfrm>
              <a:off x="3100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grpSp>
          <p:nvGrpSpPr>
            <p:cNvPr id="10287" name="Group 107"/>
            <p:cNvGrpSpPr>
              <a:grpSpLocks/>
            </p:cNvGrpSpPr>
            <p:nvPr/>
          </p:nvGrpSpPr>
          <p:grpSpPr bwMode="auto">
            <a:xfrm>
              <a:off x="2967" y="2310"/>
              <a:ext cx="356" cy="136"/>
              <a:chOff x="1565" y="3117"/>
              <a:chExt cx="364" cy="144"/>
            </a:xfrm>
          </p:grpSpPr>
          <p:sp>
            <p:nvSpPr>
              <p:cNvPr id="10296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7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88" name="Group 110"/>
            <p:cNvGrpSpPr>
              <a:grpSpLocks/>
            </p:cNvGrpSpPr>
            <p:nvPr/>
          </p:nvGrpSpPr>
          <p:grpSpPr bwMode="auto">
            <a:xfrm>
              <a:off x="4298" y="2737"/>
              <a:ext cx="356" cy="136"/>
              <a:chOff x="1565" y="3117"/>
              <a:chExt cx="364" cy="144"/>
            </a:xfrm>
          </p:grpSpPr>
          <p:sp>
            <p:nvSpPr>
              <p:cNvPr id="10294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5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9" name="Oval 1070"/>
            <p:cNvSpPr>
              <a:spLocks noChangeArrowheads="1"/>
            </p:cNvSpPr>
            <p:nvPr/>
          </p:nvSpPr>
          <p:spPr bwMode="auto">
            <a:xfrm>
              <a:off x="4422" y="2387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0" name="Oval 1070"/>
            <p:cNvSpPr>
              <a:spLocks noChangeArrowheads="1"/>
            </p:cNvSpPr>
            <p:nvPr/>
          </p:nvSpPr>
          <p:spPr bwMode="auto">
            <a:xfrm>
              <a:off x="1771" y="235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1" name="Oval 1070"/>
            <p:cNvSpPr>
              <a:spLocks noChangeArrowheads="1"/>
            </p:cNvSpPr>
            <p:nvPr/>
          </p:nvSpPr>
          <p:spPr bwMode="auto">
            <a:xfrm>
              <a:off x="177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2" name="Oval 1070"/>
            <p:cNvSpPr>
              <a:spLocks noChangeArrowheads="1"/>
            </p:cNvSpPr>
            <p:nvPr/>
          </p:nvSpPr>
          <p:spPr bwMode="auto">
            <a:xfrm>
              <a:off x="3100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3" name="Oval 1070"/>
            <p:cNvSpPr>
              <a:spLocks noChangeArrowheads="1"/>
            </p:cNvSpPr>
            <p:nvPr/>
          </p:nvSpPr>
          <p:spPr bwMode="auto">
            <a:xfrm>
              <a:off x="3145" y="124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</p:grpSp>
      <p:sp>
        <p:nvSpPr>
          <p:cNvPr id="10246" name="Oval 1070"/>
          <p:cNvSpPr>
            <a:spLocks noChangeArrowheads="1"/>
          </p:cNvSpPr>
          <p:nvPr/>
        </p:nvSpPr>
        <p:spPr bwMode="auto">
          <a:xfrm>
            <a:off x="7019925" y="1916113"/>
            <a:ext cx="80963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GB" altLang="en-US" sz="1800">
              <a:latin typeface="Calibri" pitchFamily="34" charset="0"/>
            </a:endParaRPr>
          </a:p>
        </p:txBody>
      </p:sp>
      <p:sp>
        <p:nvSpPr>
          <p:cNvPr id="60" name="Rectangle 74"/>
          <p:cNvSpPr>
            <a:spLocks noChangeArrowheads="1"/>
          </p:cNvSpPr>
          <p:nvPr/>
        </p:nvSpPr>
        <p:spPr bwMode="auto">
          <a:xfrm>
            <a:off x="3347864" y="3933056"/>
            <a:ext cx="20113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60" rIns="99060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800" dirty="0" smtClean="0">
                <a:latin typeface="MSTT31c525"/>
              </a:rPr>
              <a:t>tap</a:t>
            </a:r>
            <a:endParaRPr lang="en-GB" altLang="en-US" sz="2800" dirty="0">
              <a:latin typeface="MSTT31c525"/>
            </a:endParaRPr>
          </a:p>
        </p:txBody>
      </p:sp>
    </p:spTree>
    <p:extLst>
      <p:ext uri="{BB962C8B-B14F-4D97-AF65-F5344CB8AC3E}">
        <p14:creationId xmlns:p14="http://schemas.microsoft.com/office/powerpoint/2010/main" val="16637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874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 smtClean="0"/>
              <a:t>1. How to get baseline</a:t>
            </a:r>
          </a:p>
        </p:txBody>
      </p:sp>
      <p:graphicFrame>
        <p:nvGraphicFramePr>
          <p:cNvPr id="74796" name="Group 4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38018948"/>
              </p:ext>
            </p:extLst>
          </p:nvPr>
        </p:nvGraphicFramePr>
        <p:xfrm>
          <a:off x="755650" y="1196975"/>
          <a:ext cx="7772400" cy="3425826"/>
        </p:xfrm>
        <a:graphic>
          <a:graphicData uri="http://schemas.openxmlformats.org/drawingml/2006/table">
            <a:tbl>
              <a:tblPr/>
              <a:tblGrid>
                <a:gridCol w="2528888"/>
                <a:gridCol w="2465387"/>
                <a:gridCol w="2778125"/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43"/>
          <p:cNvSpPr txBox="1">
            <a:spLocks noChangeArrowheads="1"/>
          </p:cNvSpPr>
          <p:nvPr/>
        </p:nvSpPr>
        <p:spPr bwMode="auto">
          <a:xfrm>
            <a:off x="611188" y="4797425"/>
            <a:ext cx="77771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itchFamily="34" charset="0"/>
              </a:rPr>
              <a:t>To gain a baseline the child is presented with a sheet of words they are already fluent in and asked to read as many as they can in 1 minute. This is the baseline.</a:t>
            </a:r>
          </a:p>
        </p:txBody>
      </p:sp>
    </p:spTree>
    <p:extLst>
      <p:ext uri="{BB962C8B-B14F-4D97-AF65-F5344CB8AC3E}">
        <p14:creationId xmlns:p14="http://schemas.microsoft.com/office/powerpoint/2010/main" val="888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42443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33520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“Blake </a:t>
            </a:r>
            <a:r>
              <a:rPr lang="en-GB" altLang="en-US" sz="2800" dirty="0" smtClean="0"/>
              <a:t>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4</a:t>
            </a:r>
            <a:r>
              <a:rPr lang="en-GB" altLang="en-US" sz="2800" dirty="0" smtClean="0"/>
              <a:t> </a:t>
            </a:r>
            <a:r>
              <a:rPr lang="en-GB" altLang="en-US" sz="2800" dirty="0" smtClean="0"/>
              <a:t>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6149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(6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dirty="0" smtClean="0"/>
              <a:t>1. </a:t>
            </a:r>
            <a:r>
              <a:rPr lang="en-GB" altLang="en-US" dirty="0" smtClean="0"/>
              <a:t>Choose three words the child struggled with from your baseline assessment (NB: the number of words chosen to focus on may vary according to child’s difficulties).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2</a:t>
            </a:r>
            <a:r>
              <a:rPr lang="en-GB" altLang="en-US" dirty="0" smtClean="0"/>
              <a:t>. </a:t>
            </a:r>
            <a:r>
              <a:rPr lang="en-GB" altLang="en-US" dirty="0" smtClean="0"/>
              <a:t>Introduce the target words to child.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3</a:t>
            </a:r>
            <a:r>
              <a:rPr lang="en-GB" altLang="en-US" dirty="0" smtClean="0"/>
              <a:t>. </a:t>
            </a: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391031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4120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9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722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4 -</a:t>
            </a:r>
            <a:r>
              <a:rPr lang="en-GB" altLang="en-US" sz="3200" dirty="0" smtClean="0"/>
              <a:t> Monitoring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3382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1091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1786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eaLnBrk="1" hangingPunct="1"/>
            <a:r>
              <a:rPr lang="en-US" altLang="en-US" u="sng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1196975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u="sng" dirty="0" smtClean="0">
                <a:solidFill>
                  <a:srgbClr val="009999"/>
                </a:solidFill>
                <a:hlinkClick r:id="rId3"/>
              </a:rPr>
              <a:t>http://johnandgwyn.co.uk/probe.html</a:t>
            </a:r>
            <a:r>
              <a:rPr lang="en-US" altLang="en-US" dirty="0" smtClean="0"/>
              <a:t> 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5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56723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2819400" y="17526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352800" y="24384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3352800" y="51816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3352800" y="5410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3352800" y="4800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3352800" y="4419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>
            <a:off x="3352800" y="4038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33528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>
            <a:off x="33528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33528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Rectangle 11"/>
          <p:cNvSpPr>
            <a:spLocks/>
          </p:cNvSpPr>
          <p:nvPr/>
        </p:nvSpPr>
        <p:spPr bwMode="auto">
          <a:xfrm>
            <a:off x="3352800" y="55626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33528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2" name="Rectangle 13"/>
          <p:cNvSpPr>
            <a:spLocks/>
          </p:cNvSpPr>
          <p:nvPr/>
        </p:nvSpPr>
        <p:spPr bwMode="auto">
          <a:xfrm>
            <a:off x="2971800" y="24384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2543" name="Rectangle 14"/>
          <p:cNvSpPr>
            <a:spLocks/>
          </p:cNvSpPr>
          <p:nvPr/>
        </p:nvSpPr>
        <p:spPr bwMode="auto">
          <a:xfrm>
            <a:off x="3124200" y="5029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2544" name="Rectangle 15"/>
          <p:cNvSpPr>
            <a:spLocks/>
          </p:cNvSpPr>
          <p:nvPr/>
        </p:nvSpPr>
        <p:spPr bwMode="auto">
          <a:xfrm>
            <a:off x="3124200" y="46482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2545" name="Rectangle 16"/>
          <p:cNvSpPr>
            <a:spLocks/>
          </p:cNvSpPr>
          <p:nvPr/>
        </p:nvSpPr>
        <p:spPr bwMode="auto">
          <a:xfrm>
            <a:off x="3124200" y="4267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2546" name="Rectangle 17"/>
          <p:cNvSpPr>
            <a:spLocks/>
          </p:cNvSpPr>
          <p:nvPr/>
        </p:nvSpPr>
        <p:spPr bwMode="auto">
          <a:xfrm>
            <a:off x="3124200" y="3886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2547" name="Rectangle 18"/>
          <p:cNvSpPr>
            <a:spLocks/>
          </p:cNvSpPr>
          <p:nvPr/>
        </p:nvSpPr>
        <p:spPr bwMode="auto">
          <a:xfrm>
            <a:off x="3048000" y="3505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2548" name="Rectangle 19"/>
          <p:cNvSpPr>
            <a:spLocks/>
          </p:cNvSpPr>
          <p:nvPr/>
        </p:nvSpPr>
        <p:spPr bwMode="auto">
          <a:xfrm>
            <a:off x="3048000" y="3124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2549" name="Rectangle 20"/>
          <p:cNvSpPr>
            <a:spLocks/>
          </p:cNvSpPr>
          <p:nvPr/>
        </p:nvSpPr>
        <p:spPr bwMode="auto">
          <a:xfrm>
            <a:off x="3048000" y="2743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3352800" y="2590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>
            <a:off x="33528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>
            <a:off x="32766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>
            <a:off x="33528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3528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3528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33528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33528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>
            <a:off x="33528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>
            <a:off x="33528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33528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3352800" y="2667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>
            <a:off x="3352800" y="2743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33528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>
            <a:off x="3429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3505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>
            <a:off x="3581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657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3733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3810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>
            <a:off x="3886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3962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>
            <a:off x="4038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4114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4191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>
            <a:off x="4267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343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419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495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572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648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1" name="Line 52"/>
          <p:cNvSpPr>
            <a:spLocks noChangeShapeType="1"/>
          </p:cNvSpPr>
          <p:nvPr/>
        </p:nvSpPr>
        <p:spPr bwMode="auto">
          <a:xfrm>
            <a:off x="4724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2" name="Line 53"/>
          <p:cNvSpPr>
            <a:spLocks noChangeShapeType="1"/>
          </p:cNvSpPr>
          <p:nvPr/>
        </p:nvSpPr>
        <p:spPr bwMode="auto">
          <a:xfrm>
            <a:off x="4800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3" name="Line 54"/>
          <p:cNvSpPr>
            <a:spLocks noChangeShapeType="1"/>
          </p:cNvSpPr>
          <p:nvPr/>
        </p:nvSpPr>
        <p:spPr bwMode="auto">
          <a:xfrm>
            <a:off x="4876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4" name="Line 55"/>
          <p:cNvSpPr>
            <a:spLocks noChangeShapeType="1"/>
          </p:cNvSpPr>
          <p:nvPr/>
        </p:nvSpPr>
        <p:spPr bwMode="auto">
          <a:xfrm>
            <a:off x="4953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5" name="Line 56"/>
          <p:cNvSpPr>
            <a:spLocks noChangeShapeType="1"/>
          </p:cNvSpPr>
          <p:nvPr/>
        </p:nvSpPr>
        <p:spPr bwMode="auto">
          <a:xfrm>
            <a:off x="5029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6" name="Line 57"/>
          <p:cNvSpPr>
            <a:spLocks noChangeShapeType="1"/>
          </p:cNvSpPr>
          <p:nvPr/>
        </p:nvSpPr>
        <p:spPr bwMode="auto">
          <a:xfrm>
            <a:off x="5105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7" name="Line 58"/>
          <p:cNvSpPr>
            <a:spLocks noChangeShapeType="1"/>
          </p:cNvSpPr>
          <p:nvPr/>
        </p:nvSpPr>
        <p:spPr bwMode="auto">
          <a:xfrm>
            <a:off x="5181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8" name="Line 59"/>
          <p:cNvSpPr>
            <a:spLocks noChangeShapeType="1"/>
          </p:cNvSpPr>
          <p:nvPr/>
        </p:nvSpPr>
        <p:spPr bwMode="auto">
          <a:xfrm>
            <a:off x="5257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60"/>
          <p:cNvSpPr>
            <a:spLocks noChangeShapeType="1"/>
          </p:cNvSpPr>
          <p:nvPr/>
        </p:nvSpPr>
        <p:spPr bwMode="auto">
          <a:xfrm>
            <a:off x="5334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Rectangle 61"/>
          <p:cNvSpPr>
            <a:spLocks/>
          </p:cNvSpPr>
          <p:nvPr/>
        </p:nvSpPr>
        <p:spPr bwMode="auto">
          <a:xfrm>
            <a:off x="6372225" y="1844675"/>
            <a:ext cx="223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Proportional chart - showing % gains</a:t>
            </a:r>
          </a:p>
        </p:txBody>
      </p:sp>
      <p:sp>
        <p:nvSpPr>
          <p:cNvPr id="22591" name="Rectangle 62"/>
          <p:cNvSpPr>
            <a:spLocks/>
          </p:cNvSpPr>
          <p:nvPr/>
        </p:nvSpPr>
        <p:spPr bwMode="auto">
          <a:xfrm>
            <a:off x="533400" y="4572000"/>
            <a:ext cx="1600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Correct</a:t>
            </a:r>
          </a:p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Errors</a:t>
            </a:r>
          </a:p>
        </p:txBody>
      </p:sp>
      <p:sp>
        <p:nvSpPr>
          <p:cNvPr id="22592" name="Line 63"/>
          <p:cNvSpPr>
            <a:spLocks noChangeShapeType="1"/>
          </p:cNvSpPr>
          <p:nvPr/>
        </p:nvSpPr>
        <p:spPr bwMode="auto">
          <a:xfrm>
            <a:off x="1600200" y="4800600"/>
            <a:ext cx="1676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64"/>
          <p:cNvSpPr>
            <a:spLocks noChangeShapeType="1"/>
          </p:cNvSpPr>
          <p:nvPr/>
        </p:nvSpPr>
        <p:spPr bwMode="auto">
          <a:xfrm>
            <a:off x="1447800" y="5334000"/>
            <a:ext cx="1828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Rectangle 65"/>
          <p:cNvSpPr>
            <a:spLocks/>
          </p:cNvSpPr>
          <p:nvPr/>
        </p:nvSpPr>
        <p:spPr bwMode="auto">
          <a:xfrm>
            <a:off x="5580063" y="836613"/>
            <a:ext cx="1905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Days of the week or ‘trials’ (5)</a:t>
            </a:r>
          </a:p>
        </p:txBody>
      </p:sp>
      <p:sp>
        <p:nvSpPr>
          <p:cNvPr id="22595" name="Line 66"/>
          <p:cNvSpPr>
            <a:spLocks noChangeShapeType="1"/>
          </p:cNvSpPr>
          <p:nvPr/>
        </p:nvSpPr>
        <p:spPr bwMode="auto">
          <a:xfrm flipH="1">
            <a:off x="3962400" y="1484313"/>
            <a:ext cx="1257300" cy="8001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6" name="Line 67"/>
          <p:cNvSpPr>
            <a:spLocks noChangeShapeType="1"/>
          </p:cNvSpPr>
          <p:nvPr/>
        </p:nvSpPr>
        <p:spPr bwMode="auto">
          <a:xfrm>
            <a:off x="2819400" y="5334000"/>
            <a:ext cx="457200" cy="2286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7" name="Line 68"/>
          <p:cNvSpPr>
            <a:spLocks noChangeShapeType="1"/>
          </p:cNvSpPr>
          <p:nvPr/>
        </p:nvSpPr>
        <p:spPr bwMode="auto">
          <a:xfrm>
            <a:off x="2819400" y="5562600"/>
            <a:ext cx="457200" cy="762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8" name="Rectangle 69"/>
          <p:cNvSpPr>
            <a:spLocks/>
          </p:cNvSpPr>
          <p:nvPr/>
        </p:nvSpPr>
        <p:spPr bwMode="auto">
          <a:xfrm>
            <a:off x="457200" y="3124200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Responses per minute</a:t>
            </a:r>
          </a:p>
        </p:txBody>
      </p:sp>
      <p:sp>
        <p:nvSpPr>
          <p:cNvPr id="22599" name="Line 70"/>
          <p:cNvSpPr>
            <a:spLocks noChangeShapeType="1"/>
          </p:cNvSpPr>
          <p:nvPr/>
        </p:nvSpPr>
        <p:spPr bwMode="auto">
          <a:xfrm rot="10800000" flipH="1">
            <a:off x="1828800" y="3276600"/>
            <a:ext cx="1219200" cy="3048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0" name="Line 71"/>
          <p:cNvSpPr>
            <a:spLocks noChangeShapeType="1"/>
          </p:cNvSpPr>
          <p:nvPr/>
        </p:nvSpPr>
        <p:spPr bwMode="auto">
          <a:xfrm flipH="1">
            <a:off x="1828800" y="3352800"/>
            <a:ext cx="83820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1" name="Rectangle 72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The Chart</a:t>
            </a:r>
          </a:p>
        </p:txBody>
      </p:sp>
    </p:spTree>
    <p:extLst>
      <p:ext uri="{BB962C8B-B14F-4D97-AF65-F5344CB8AC3E}">
        <p14:creationId xmlns:p14="http://schemas.microsoft.com/office/powerpoint/2010/main" val="32280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1331913" y="889000"/>
            <a:ext cx="5765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Precision Teaching</a:t>
            </a:r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3048000" y="19050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3581400" y="26670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3581400" y="54102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35814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581400" y="5029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581400" y="4648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35814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35814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35814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35814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2"/>
          <p:cNvSpPr>
            <a:spLocks/>
          </p:cNvSpPr>
          <p:nvPr/>
        </p:nvSpPr>
        <p:spPr bwMode="auto">
          <a:xfrm>
            <a:off x="3581400" y="57912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3581400" y="5867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Rectangle 14"/>
          <p:cNvSpPr>
            <a:spLocks/>
          </p:cNvSpPr>
          <p:nvPr/>
        </p:nvSpPr>
        <p:spPr bwMode="auto">
          <a:xfrm>
            <a:off x="3200400" y="26670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3568" name="Rectangle 15"/>
          <p:cNvSpPr>
            <a:spLocks/>
          </p:cNvSpPr>
          <p:nvPr/>
        </p:nvSpPr>
        <p:spPr bwMode="auto">
          <a:xfrm>
            <a:off x="3352800" y="5257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3569" name="Rectangle 16"/>
          <p:cNvSpPr>
            <a:spLocks/>
          </p:cNvSpPr>
          <p:nvPr/>
        </p:nvSpPr>
        <p:spPr bwMode="auto">
          <a:xfrm>
            <a:off x="3352800" y="48768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3570" name="Rectangle 17"/>
          <p:cNvSpPr>
            <a:spLocks/>
          </p:cNvSpPr>
          <p:nvPr/>
        </p:nvSpPr>
        <p:spPr bwMode="auto">
          <a:xfrm>
            <a:off x="3352800" y="4495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3571" name="Rectangle 18"/>
          <p:cNvSpPr>
            <a:spLocks/>
          </p:cNvSpPr>
          <p:nvPr/>
        </p:nvSpPr>
        <p:spPr bwMode="auto">
          <a:xfrm>
            <a:off x="3352800" y="4114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3572" name="Rectangle 19"/>
          <p:cNvSpPr>
            <a:spLocks/>
          </p:cNvSpPr>
          <p:nvPr/>
        </p:nvSpPr>
        <p:spPr bwMode="auto">
          <a:xfrm>
            <a:off x="3276600" y="3733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3573" name="Rectangle 20"/>
          <p:cNvSpPr>
            <a:spLocks/>
          </p:cNvSpPr>
          <p:nvPr/>
        </p:nvSpPr>
        <p:spPr bwMode="auto">
          <a:xfrm>
            <a:off x="3276600" y="3352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3574" name="Rectangle 21"/>
          <p:cNvSpPr>
            <a:spLocks/>
          </p:cNvSpPr>
          <p:nvPr/>
        </p:nvSpPr>
        <p:spPr bwMode="auto">
          <a:xfrm>
            <a:off x="3276600" y="2971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35814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35814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7" name="Line 24"/>
          <p:cNvSpPr>
            <a:spLocks noChangeShapeType="1"/>
          </p:cNvSpPr>
          <p:nvPr/>
        </p:nvSpPr>
        <p:spPr bwMode="auto">
          <a:xfrm>
            <a:off x="3505200" y="4953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8" name="Line 25"/>
          <p:cNvSpPr>
            <a:spLocks noChangeShapeType="1"/>
          </p:cNvSpPr>
          <p:nvPr/>
        </p:nvSpPr>
        <p:spPr bwMode="auto">
          <a:xfrm>
            <a:off x="35814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Line 26"/>
          <p:cNvSpPr>
            <a:spLocks noChangeShapeType="1"/>
          </p:cNvSpPr>
          <p:nvPr/>
        </p:nvSpPr>
        <p:spPr bwMode="auto">
          <a:xfrm>
            <a:off x="3581400" y="4114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0" name="Line 27"/>
          <p:cNvSpPr>
            <a:spLocks noChangeShapeType="1"/>
          </p:cNvSpPr>
          <p:nvPr/>
        </p:nvSpPr>
        <p:spPr bwMode="auto">
          <a:xfrm>
            <a:off x="3581400" y="3733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28"/>
          <p:cNvSpPr>
            <a:spLocks noChangeShapeType="1"/>
          </p:cNvSpPr>
          <p:nvPr/>
        </p:nvSpPr>
        <p:spPr bwMode="auto">
          <a:xfrm>
            <a:off x="35814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35814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3581400" y="3352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>
            <a:off x="35814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35814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>
            <a:off x="35814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>
            <a:off x="35814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8" name="Line 35"/>
          <p:cNvSpPr>
            <a:spLocks noChangeShapeType="1"/>
          </p:cNvSpPr>
          <p:nvPr/>
        </p:nvSpPr>
        <p:spPr bwMode="auto">
          <a:xfrm>
            <a:off x="35814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9" name="Line 36"/>
          <p:cNvSpPr>
            <a:spLocks noChangeShapeType="1"/>
          </p:cNvSpPr>
          <p:nvPr/>
        </p:nvSpPr>
        <p:spPr bwMode="auto">
          <a:xfrm>
            <a:off x="3657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0" name="Line 37"/>
          <p:cNvSpPr>
            <a:spLocks noChangeShapeType="1"/>
          </p:cNvSpPr>
          <p:nvPr/>
        </p:nvSpPr>
        <p:spPr bwMode="auto">
          <a:xfrm>
            <a:off x="3733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3810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3886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3" name="Line 40"/>
          <p:cNvSpPr>
            <a:spLocks noChangeShapeType="1"/>
          </p:cNvSpPr>
          <p:nvPr/>
        </p:nvSpPr>
        <p:spPr bwMode="auto">
          <a:xfrm>
            <a:off x="3962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41"/>
          <p:cNvSpPr>
            <a:spLocks noChangeShapeType="1"/>
          </p:cNvSpPr>
          <p:nvPr/>
        </p:nvSpPr>
        <p:spPr bwMode="auto">
          <a:xfrm>
            <a:off x="4038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5" name="Line 42"/>
          <p:cNvSpPr>
            <a:spLocks noChangeShapeType="1"/>
          </p:cNvSpPr>
          <p:nvPr/>
        </p:nvSpPr>
        <p:spPr bwMode="auto">
          <a:xfrm>
            <a:off x="4114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6" name="Line 43"/>
          <p:cNvSpPr>
            <a:spLocks noChangeShapeType="1"/>
          </p:cNvSpPr>
          <p:nvPr/>
        </p:nvSpPr>
        <p:spPr bwMode="auto">
          <a:xfrm>
            <a:off x="4191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7" name="Line 44"/>
          <p:cNvSpPr>
            <a:spLocks noChangeShapeType="1"/>
          </p:cNvSpPr>
          <p:nvPr/>
        </p:nvSpPr>
        <p:spPr bwMode="auto">
          <a:xfrm>
            <a:off x="4267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8" name="Line 45"/>
          <p:cNvSpPr>
            <a:spLocks noChangeShapeType="1"/>
          </p:cNvSpPr>
          <p:nvPr/>
        </p:nvSpPr>
        <p:spPr bwMode="auto">
          <a:xfrm>
            <a:off x="4343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9" name="Line 46"/>
          <p:cNvSpPr>
            <a:spLocks noChangeShapeType="1"/>
          </p:cNvSpPr>
          <p:nvPr/>
        </p:nvSpPr>
        <p:spPr bwMode="auto">
          <a:xfrm>
            <a:off x="4419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0" name="Line 47"/>
          <p:cNvSpPr>
            <a:spLocks noChangeShapeType="1"/>
          </p:cNvSpPr>
          <p:nvPr/>
        </p:nvSpPr>
        <p:spPr bwMode="auto">
          <a:xfrm>
            <a:off x="4495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1" name="Line 48"/>
          <p:cNvSpPr>
            <a:spLocks noChangeShapeType="1"/>
          </p:cNvSpPr>
          <p:nvPr/>
        </p:nvSpPr>
        <p:spPr bwMode="auto">
          <a:xfrm>
            <a:off x="4572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49"/>
          <p:cNvSpPr>
            <a:spLocks noChangeShapeType="1"/>
          </p:cNvSpPr>
          <p:nvPr/>
        </p:nvSpPr>
        <p:spPr bwMode="auto">
          <a:xfrm>
            <a:off x="4648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50"/>
          <p:cNvSpPr>
            <a:spLocks noChangeShapeType="1"/>
          </p:cNvSpPr>
          <p:nvPr/>
        </p:nvSpPr>
        <p:spPr bwMode="auto">
          <a:xfrm>
            <a:off x="4724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51"/>
          <p:cNvSpPr>
            <a:spLocks noChangeShapeType="1"/>
          </p:cNvSpPr>
          <p:nvPr/>
        </p:nvSpPr>
        <p:spPr bwMode="auto">
          <a:xfrm>
            <a:off x="4800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52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53"/>
          <p:cNvSpPr>
            <a:spLocks noChangeShapeType="1"/>
          </p:cNvSpPr>
          <p:nvPr/>
        </p:nvSpPr>
        <p:spPr bwMode="auto">
          <a:xfrm>
            <a:off x="4953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54"/>
          <p:cNvSpPr>
            <a:spLocks noChangeShapeType="1"/>
          </p:cNvSpPr>
          <p:nvPr/>
        </p:nvSpPr>
        <p:spPr bwMode="auto">
          <a:xfrm>
            <a:off x="5029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Line 55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9" name="Line 56"/>
          <p:cNvSpPr>
            <a:spLocks noChangeShapeType="1"/>
          </p:cNvSpPr>
          <p:nvPr/>
        </p:nvSpPr>
        <p:spPr bwMode="auto">
          <a:xfrm>
            <a:off x="5181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0" name="Line 57"/>
          <p:cNvSpPr>
            <a:spLocks noChangeShapeType="1"/>
          </p:cNvSpPr>
          <p:nvPr/>
        </p:nvSpPr>
        <p:spPr bwMode="auto">
          <a:xfrm>
            <a:off x="5257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1" name="Line 58"/>
          <p:cNvSpPr>
            <a:spLocks noChangeShapeType="1"/>
          </p:cNvSpPr>
          <p:nvPr/>
        </p:nvSpPr>
        <p:spPr bwMode="auto">
          <a:xfrm>
            <a:off x="5334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2" name="Line 59"/>
          <p:cNvSpPr>
            <a:spLocks noChangeShapeType="1"/>
          </p:cNvSpPr>
          <p:nvPr/>
        </p:nvSpPr>
        <p:spPr bwMode="auto">
          <a:xfrm>
            <a:off x="5410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3" name="Line 60"/>
          <p:cNvSpPr>
            <a:spLocks noChangeShapeType="1"/>
          </p:cNvSpPr>
          <p:nvPr/>
        </p:nvSpPr>
        <p:spPr bwMode="auto">
          <a:xfrm>
            <a:off x="5486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4" name="Line 61"/>
          <p:cNvSpPr>
            <a:spLocks noChangeShapeType="1"/>
          </p:cNvSpPr>
          <p:nvPr/>
        </p:nvSpPr>
        <p:spPr bwMode="auto">
          <a:xfrm>
            <a:off x="4876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5" name="Line 62"/>
          <p:cNvSpPr>
            <a:spLocks noChangeShapeType="1"/>
          </p:cNvSpPr>
          <p:nvPr/>
        </p:nvSpPr>
        <p:spPr bwMode="auto">
          <a:xfrm>
            <a:off x="2133600" y="4419600"/>
            <a:ext cx="1676400" cy="762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6" name="Line 63"/>
          <p:cNvSpPr>
            <a:spLocks noChangeShapeType="1"/>
          </p:cNvSpPr>
          <p:nvPr/>
        </p:nvSpPr>
        <p:spPr bwMode="auto">
          <a:xfrm rot="10800000" flipH="1">
            <a:off x="2057400" y="3352800"/>
            <a:ext cx="1676400" cy="4572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7" name="Line 64"/>
          <p:cNvSpPr>
            <a:spLocks noChangeShapeType="1"/>
          </p:cNvSpPr>
          <p:nvPr/>
        </p:nvSpPr>
        <p:spPr bwMode="auto">
          <a:xfrm rot="10800000" flipH="1">
            <a:off x="3810000" y="31242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8" name="Line 65"/>
          <p:cNvSpPr>
            <a:spLocks noChangeShapeType="1"/>
          </p:cNvSpPr>
          <p:nvPr/>
        </p:nvSpPr>
        <p:spPr bwMode="auto">
          <a:xfrm>
            <a:off x="3962400" y="3124200"/>
            <a:ext cx="304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9" name="Line 66"/>
          <p:cNvSpPr>
            <a:spLocks noChangeShapeType="1"/>
          </p:cNvSpPr>
          <p:nvPr/>
        </p:nvSpPr>
        <p:spPr bwMode="auto">
          <a:xfrm>
            <a:off x="3810000" y="4572000"/>
            <a:ext cx="228600" cy="1066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0" name="Line 67"/>
          <p:cNvSpPr>
            <a:spLocks noChangeShapeType="1"/>
          </p:cNvSpPr>
          <p:nvPr/>
        </p:nvSpPr>
        <p:spPr bwMode="auto">
          <a:xfrm rot="10800000" flipH="1">
            <a:off x="4038600" y="5562600"/>
            <a:ext cx="228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1" name="Rectangle 68"/>
          <p:cNvSpPr>
            <a:spLocks/>
          </p:cNvSpPr>
          <p:nvPr/>
        </p:nvSpPr>
        <p:spPr bwMode="auto">
          <a:xfrm>
            <a:off x="1066800" y="1752600"/>
            <a:ext cx="2209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4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LEARNING CURVES</a:t>
            </a:r>
          </a:p>
        </p:txBody>
      </p:sp>
      <p:sp>
        <p:nvSpPr>
          <p:cNvPr id="23622" name="Rectangle 69"/>
          <p:cNvSpPr>
            <a:spLocks/>
          </p:cNvSpPr>
          <p:nvPr/>
        </p:nvSpPr>
        <p:spPr bwMode="auto">
          <a:xfrm>
            <a:off x="609600" y="3352800"/>
            <a:ext cx="13716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FLUENCY</a:t>
            </a:r>
          </a:p>
        </p:txBody>
      </p:sp>
      <p:sp>
        <p:nvSpPr>
          <p:cNvPr id="23623" name="Rectangle 70"/>
          <p:cNvSpPr>
            <a:spLocks/>
          </p:cNvSpPr>
          <p:nvPr/>
        </p:nvSpPr>
        <p:spPr bwMode="auto">
          <a:xfrm>
            <a:off x="609600" y="4267200"/>
            <a:ext cx="16764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ACCURACY</a:t>
            </a:r>
          </a:p>
        </p:txBody>
      </p:sp>
      <p:sp>
        <p:nvSpPr>
          <p:cNvPr id="23624" name="Rectangle 71"/>
          <p:cNvSpPr>
            <a:spLocks/>
          </p:cNvSpPr>
          <p:nvPr/>
        </p:nvSpPr>
        <p:spPr bwMode="auto">
          <a:xfrm>
            <a:off x="6705600" y="2362200"/>
            <a:ext cx="1752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MASTERY</a:t>
            </a:r>
          </a:p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(aim rate)</a:t>
            </a:r>
          </a:p>
        </p:txBody>
      </p:sp>
      <p:sp>
        <p:nvSpPr>
          <p:cNvPr id="23625" name="Line 72"/>
          <p:cNvSpPr>
            <a:spLocks noChangeShapeType="1"/>
          </p:cNvSpPr>
          <p:nvPr/>
        </p:nvSpPr>
        <p:spPr bwMode="auto">
          <a:xfrm flipH="1">
            <a:off x="4191000" y="2590800"/>
            <a:ext cx="2514600" cy="3810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6" name="Rectangle 73"/>
          <p:cNvSpPr>
            <a:spLocks/>
          </p:cNvSpPr>
          <p:nvPr/>
        </p:nvSpPr>
        <p:spPr bwMode="auto">
          <a:xfrm>
            <a:off x="3733800" y="2286000"/>
            <a:ext cx="20574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DAYS AND WEEKS</a:t>
            </a:r>
          </a:p>
        </p:txBody>
      </p:sp>
    </p:spTree>
    <p:extLst>
      <p:ext uri="{BB962C8B-B14F-4D97-AF65-F5344CB8AC3E}">
        <p14:creationId xmlns:p14="http://schemas.microsoft.com/office/powerpoint/2010/main" val="27814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2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187897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7773988" cy="1223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6. Change - response to data analysis</a:t>
            </a:r>
          </a:p>
        </p:txBody>
      </p:sp>
      <p:grpSp>
        <p:nvGrpSpPr>
          <p:cNvPr id="32771" name="Group 312"/>
          <p:cNvGrpSpPr>
            <a:grpSpLocks/>
          </p:cNvGrpSpPr>
          <p:nvPr/>
        </p:nvGrpSpPr>
        <p:grpSpPr bwMode="auto">
          <a:xfrm>
            <a:off x="323850" y="1700213"/>
            <a:ext cx="8642350" cy="4264025"/>
            <a:chOff x="455" y="1071"/>
            <a:chExt cx="5056" cy="2686"/>
          </a:xfrm>
        </p:grpSpPr>
        <p:sp>
          <p:nvSpPr>
            <p:cNvPr id="32772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Increasing motivation through rewards/ incentives or alter teaching methods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3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en-GB" altLang="en-US" sz="8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endParaRPr lang="en-GB" altLang="en-US" sz="2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74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is likely to be appropriate but progress not fast enough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5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Some progress; accurate but shallow correct rate slope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6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Slow child down; accurate before speed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7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Child is merely getting faster attempting more on the probe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8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</a:t>
              </a: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 x</a:t>
              </a:r>
              <a:endParaRPr lang="en-GB" altLang="en-US" sz="1000">
                <a:cs typeface="Times New Roman" pitchFamily="18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79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Both correct and incorrect rates increasing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0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May need to 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1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probably appropriate. Monitor progress, may be a blip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2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000">
                  <a:cs typeface="Times New Roman" pitchFamily="18" charset="0"/>
                </a:rPr>
                <a:t/>
              </a:r>
              <a:br>
                <a:rPr lang="en-GB" altLang="en-US" sz="1000">
                  <a:cs typeface="Times New Roman" pitchFamily="18" charset="0"/>
                </a:rPr>
              </a:br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</a:t>
              </a:r>
              <a:endParaRPr lang="en-GB" altLang="en-US" sz="8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83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Switch within first 3 days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4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5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inappropriate</a:t>
              </a:r>
              <a:endParaRPr lang="en-GB" altLang="en-US" sz="1000">
                <a:ea typeface="Times New Roman" pitchFamily="18" charset="0"/>
                <a:cs typeface="Arial" pitchFamily="34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3 day rule applies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6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87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More errors than correct: No sign of a switch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8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Intervention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9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Interpretation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0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1600" u="sng">
                  <a:latin typeface="Arial" pitchFamily="34" charset="0"/>
                </a:rPr>
                <a:t>Chart Picture</a:t>
              </a:r>
            </a:p>
          </p:txBody>
        </p:sp>
        <p:sp>
          <p:nvSpPr>
            <p:cNvPr id="32791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2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8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1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2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803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32814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5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6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grpSp>
          <p:nvGrpSpPr>
            <p:cNvPr id="32804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32811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2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3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sp>
          <p:nvSpPr>
            <p:cNvPr id="32805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32808" name="Line 167"/>
            <p:cNvSpPr>
              <a:spLocks noChangeShapeType="1"/>
            </p:cNvSpPr>
            <p:nvPr/>
          </p:nvSpPr>
          <p:spPr bwMode="auto">
            <a:xfrm flipV="1">
              <a:off x="1696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65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24813" cy="1584176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u="sng" dirty="0" smtClean="0"/>
              <a:t>Monitoring</a:t>
            </a:r>
            <a:br>
              <a:rPr lang="en-US" altLang="en-US" u="sng" dirty="0" smtClean="0"/>
            </a:br>
            <a:r>
              <a:rPr lang="en-US" altLang="en-US" sz="3200" dirty="0" smtClean="0"/>
              <a:t>When do I change the probe?</a:t>
            </a:r>
            <a:endParaRPr lang="en-US" altLang="en-US" u="sng" dirty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7113" cy="3024336"/>
          </a:xfrm>
        </p:spPr>
        <p:txBody>
          <a:bodyPr rIns="31750"/>
          <a:lstStyle/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You must continue to teach and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probe the same set of new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letters/words/numbers until the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target has been met for 3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consecutive days,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which indicates the skill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has been mastered.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Remember…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New Probe – New Chart!</a:t>
            </a:r>
            <a:endParaRPr lang="en-US" altLang="en-US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dirty="0" smtClean="0">
                <a:latin typeface="ヒラギノ明朝 ProN W3" charset="0"/>
                <a:sym typeface="ヒラギノ明朝 ProN W3" charset="0"/>
              </a:rPr>
              <a:t>	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0665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 Maintenance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Once a child has reached fluency (hit target 3 days consecutively), check for maintenance at regular intervals.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  <a:p>
            <a:pPr eaLnBrk="1" hangingPunct="1"/>
            <a:r>
              <a:rPr lang="en-GB" altLang="en-US" dirty="0" smtClean="0"/>
              <a:t>Use an old probe to check they are still fluent with these words or interleave previously learnt words with new words.</a:t>
            </a:r>
          </a:p>
        </p:txBody>
      </p:sp>
    </p:spTree>
    <p:extLst>
      <p:ext uri="{BB962C8B-B14F-4D97-AF65-F5344CB8AC3E}">
        <p14:creationId xmlns:p14="http://schemas.microsoft.com/office/powerpoint/2010/main" val="689957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1159</Words>
  <Application>Microsoft Office PowerPoint</Application>
  <PresentationFormat>On-screen Show (4:3)</PresentationFormat>
  <Paragraphs>274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1. Identifying the difficulty  – Phase 2 set-1 words example</vt:lpstr>
      <vt:lpstr>1. How to get baseline</vt:lpstr>
      <vt:lpstr>Step 2 - Setting a Target</vt:lpstr>
      <vt:lpstr>2. Targets</vt:lpstr>
      <vt:lpstr>2. Targets</vt:lpstr>
      <vt:lpstr>Step 3- Teaching  (6 to 10 mins per day)</vt:lpstr>
      <vt:lpstr>3. Teaching methods</vt:lpstr>
      <vt:lpstr>3. Examples of some teaching methods:</vt:lpstr>
      <vt:lpstr>3. Examples of some teaching methods:</vt:lpstr>
      <vt:lpstr>Step 4 - Monitoring</vt:lpstr>
      <vt:lpstr>PowerPoint Presentation</vt:lpstr>
      <vt:lpstr>Types of probe:</vt:lpstr>
      <vt:lpstr>PT Probe Generator</vt:lpstr>
      <vt:lpstr>Step 5- Chart Results</vt:lpstr>
      <vt:lpstr>PowerPoint Presentation</vt:lpstr>
      <vt:lpstr>PowerPoint Presentation</vt:lpstr>
      <vt:lpstr>PowerPoint Presentation</vt:lpstr>
      <vt:lpstr>Step 6- Analyse the Data</vt:lpstr>
      <vt:lpstr>6. Change - response to data analysis</vt:lpstr>
      <vt:lpstr> Monitoring When do I change the probe?</vt:lpstr>
      <vt:lpstr> Maintenance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277</cp:revision>
  <cp:lastPrinted>2017-06-22T07:21:53Z</cp:lastPrinted>
  <dcterms:created xsi:type="dcterms:W3CDTF">2009-10-14T09:14:19Z</dcterms:created>
  <dcterms:modified xsi:type="dcterms:W3CDTF">2017-06-22T14:12:28Z</dcterms:modified>
</cp:coreProperties>
</file>