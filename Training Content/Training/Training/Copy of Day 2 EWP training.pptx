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handoutMasterIdLst>
    <p:handoutMasterId r:id="rId39"/>
  </p:handoutMasterIdLst>
  <p:sldIdLst>
    <p:sldId id="256" r:id="rId2"/>
    <p:sldId id="306" r:id="rId3"/>
    <p:sldId id="302" r:id="rId4"/>
    <p:sldId id="278" r:id="rId5"/>
    <p:sldId id="288" r:id="rId6"/>
    <p:sldId id="301" r:id="rId7"/>
    <p:sldId id="289" r:id="rId8"/>
    <p:sldId id="290" r:id="rId9"/>
    <p:sldId id="291" r:id="rId10"/>
    <p:sldId id="292" r:id="rId11"/>
    <p:sldId id="293" r:id="rId12"/>
    <p:sldId id="294" r:id="rId13"/>
    <p:sldId id="295" r:id="rId14"/>
    <p:sldId id="296" r:id="rId15"/>
    <p:sldId id="297" r:id="rId16"/>
    <p:sldId id="298" r:id="rId17"/>
    <p:sldId id="299" r:id="rId18"/>
    <p:sldId id="300" r:id="rId19"/>
    <p:sldId id="308" r:id="rId20"/>
    <p:sldId id="303" r:id="rId21"/>
    <p:sldId id="307" r:id="rId22"/>
    <p:sldId id="305" r:id="rId23"/>
    <p:sldId id="304" r:id="rId24"/>
    <p:sldId id="309" r:id="rId25"/>
    <p:sldId id="310" r:id="rId26"/>
    <p:sldId id="260" r:id="rId27"/>
    <p:sldId id="271" r:id="rId28"/>
    <p:sldId id="273" r:id="rId29"/>
    <p:sldId id="277" r:id="rId30"/>
    <p:sldId id="259" r:id="rId31"/>
    <p:sldId id="258" r:id="rId32"/>
    <p:sldId id="286" r:id="rId33"/>
    <p:sldId id="272" r:id="rId34"/>
    <p:sldId id="281" r:id="rId35"/>
    <p:sldId id="311" r:id="rId36"/>
    <p:sldId id="263" r:id="rId37"/>
  </p:sldIdLst>
  <p:sldSz cx="9144000" cy="6858000" type="screen4x3"/>
  <p:notesSz cx="9872663" cy="6742113"/>
  <p:defaultTextStyle>
    <a:defPPr>
      <a:defRPr lang="en-GB"/>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457200" rtl="0" eaLnBrk="1" latinLnBrk="0" hangingPunct="1">
      <a:defRPr kern="1200">
        <a:solidFill>
          <a:schemeClr val="tx1"/>
        </a:solidFill>
        <a:latin typeface="Arial" charset="0"/>
        <a:ea typeface="+mn-ea"/>
        <a:cs typeface="+mn-cs"/>
      </a:defRPr>
    </a:lvl6pPr>
    <a:lvl7pPr marL="2743200" algn="l" defTabSz="457200" rtl="0" eaLnBrk="1" latinLnBrk="0" hangingPunct="1">
      <a:defRPr kern="1200">
        <a:solidFill>
          <a:schemeClr val="tx1"/>
        </a:solidFill>
        <a:latin typeface="Arial" charset="0"/>
        <a:ea typeface="+mn-ea"/>
        <a:cs typeface="+mn-cs"/>
      </a:defRPr>
    </a:lvl7pPr>
    <a:lvl8pPr marL="3200400" algn="l" defTabSz="457200" rtl="0" eaLnBrk="1" latinLnBrk="0" hangingPunct="1">
      <a:defRPr kern="1200">
        <a:solidFill>
          <a:schemeClr val="tx1"/>
        </a:solidFill>
        <a:latin typeface="Arial" charset="0"/>
        <a:ea typeface="+mn-ea"/>
        <a:cs typeface="+mn-cs"/>
      </a:defRPr>
    </a:lvl8pPr>
    <a:lvl9pPr marL="3657600" algn="l" defTabSz="4572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E2E95"/>
    <a:srgbClr val="CC00FF"/>
    <a:srgbClr val="5F5F5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3" d="100"/>
          <a:sy n="63" d="100"/>
        </p:scale>
        <p:origin x="-120" y="-13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6" d="100"/>
          <a:sy n="56" d="100"/>
        </p:scale>
        <p:origin x="-972" y="-84"/>
      </p:cViewPr>
      <p:guideLst>
        <p:guide orient="horz" pos="2124"/>
        <p:guide pos="311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1A20B95-5B42-C146-952C-AC89F9763058}" type="doc">
      <dgm:prSet loTypeId="urn:microsoft.com/office/officeart/2005/8/layout/cycle5" loCatId="cycle" qsTypeId="urn:microsoft.com/office/officeart/2005/8/quickstyle/simple4" qsCatId="simple" csTypeId="urn:microsoft.com/office/officeart/2005/8/colors/accent1_2" csCatId="accent1" phldr="1"/>
      <dgm:spPr/>
      <dgm:t>
        <a:bodyPr/>
        <a:lstStyle/>
        <a:p>
          <a:endParaRPr lang="en-US"/>
        </a:p>
      </dgm:t>
    </dgm:pt>
    <dgm:pt modelId="{4698A3E1-8D5B-864F-ABF1-23E44082A127}">
      <dgm:prSet phldrT="[Text]"/>
      <dgm:spPr>
        <a:solidFill>
          <a:schemeClr val="accent1">
            <a:lumMod val="25000"/>
          </a:schemeClr>
        </a:solidFill>
      </dgm:spPr>
      <dgm:t>
        <a:bodyPr/>
        <a:lstStyle/>
        <a:p>
          <a:r>
            <a:rPr lang="en-US" dirty="0" smtClean="0"/>
            <a:t>Complete observation checklist</a:t>
          </a:r>
          <a:endParaRPr lang="en-US" dirty="0"/>
        </a:p>
      </dgm:t>
    </dgm:pt>
    <dgm:pt modelId="{A5094626-7D9D-0248-9D40-D8462B519CBB}" type="parTrans" cxnId="{AE02693E-7461-B54B-B20C-A7DC03AE5746}">
      <dgm:prSet/>
      <dgm:spPr/>
      <dgm:t>
        <a:bodyPr/>
        <a:lstStyle/>
        <a:p>
          <a:endParaRPr lang="en-US"/>
        </a:p>
      </dgm:t>
    </dgm:pt>
    <dgm:pt modelId="{65B149B2-78B5-0940-9D77-53B5B71A14F5}" type="sibTrans" cxnId="{AE02693E-7461-B54B-B20C-A7DC03AE5746}">
      <dgm:prSet/>
      <dgm:spPr>
        <a:ln w="28575" cmpd="sng"/>
      </dgm:spPr>
      <dgm:t>
        <a:bodyPr/>
        <a:lstStyle/>
        <a:p>
          <a:endParaRPr lang="en-US"/>
        </a:p>
      </dgm:t>
    </dgm:pt>
    <dgm:pt modelId="{F2F6A578-EC00-E24D-AD00-A0C724BE5B4C}">
      <dgm:prSet phldrT="[Text]"/>
      <dgm:spPr>
        <a:solidFill>
          <a:schemeClr val="accent1">
            <a:lumMod val="25000"/>
          </a:schemeClr>
        </a:solidFill>
      </dgm:spPr>
      <dgm:t>
        <a:bodyPr/>
        <a:lstStyle/>
        <a:p>
          <a:r>
            <a:rPr lang="en-US" dirty="0" err="1" smtClean="0"/>
            <a:t>Analyse</a:t>
          </a:r>
          <a:r>
            <a:rPr lang="en-US" dirty="0" smtClean="0"/>
            <a:t> and build profile of emotional needs</a:t>
          </a:r>
          <a:endParaRPr lang="en-US" dirty="0"/>
        </a:p>
      </dgm:t>
    </dgm:pt>
    <dgm:pt modelId="{28FE3FF2-8906-084B-9998-B987F34EFB2C}" type="parTrans" cxnId="{A1883FFD-E848-604A-B204-DEED0AB6EC6D}">
      <dgm:prSet/>
      <dgm:spPr/>
      <dgm:t>
        <a:bodyPr/>
        <a:lstStyle/>
        <a:p>
          <a:endParaRPr lang="en-US"/>
        </a:p>
      </dgm:t>
    </dgm:pt>
    <dgm:pt modelId="{8349F455-035F-3A42-96C9-B2483FA38A2C}" type="sibTrans" cxnId="{A1883FFD-E848-604A-B204-DEED0AB6EC6D}">
      <dgm:prSet/>
      <dgm:spPr>
        <a:ln w="28575" cmpd="sng"/>
      </dgm:spPr>
      <dgm:t>
        <a:bodyPr/>
        <a:lstStyle/>
        <a:p>
          <a:endParaRPr lang="en-US"/>
        </a:p>
      </dgm:t>
    </dgm:pt>
    <dgm:pt modelId="{20D86415-84C3-354A-9E3A-B24ED9A306C6}">
      <dgm:prSet phldrT="[Text]"/>
      <dgm:spPr>
        <a:solidFill>
          <a:schemeClr val="accent1">
            <a:lumMod val="25000"/>
          </a:schemeClr>
        </a:solidFill>
      </dgm:spPr>
      <dgm:t>
        <a:bodyPr/>
        <a:lstStyle/>
        <a:p>
          <a:r>
            <a:rPr lang="en-US" dirty="0" smtClean="0"/>
            <a:t>Select targets and develop an action plan</a:t>
          </a:r>
          <a:endParaRPr lang="en-US" dirty="0"/>
        </a:p>
      </dgm:t>
    </dgm:pt>
    <dgm:pt modelId="{3CBECA30-7DE8-4D4A-93B6-AEABA19A7911}" type="parTrans" cxnId="{EB40E05A-AC9F-A848-BFBE-D6C5EDCBA4C9}">
      <dgm:prSet/>
      <dgm:spPr/>
      <dgm:t>
        <a:bodyPr/>
        <a:lstStyle/>
        <a:p>
          <a:endParaRPr lang="en-US"/>
        </a:p>
      </dgm:t>
    </dgm:pt>
    <dgm:pt modelId="{FDD3FA9A-8182-5945-B88C-F24E029D9C38}" type="sibTrans" cxnId="{EB40E05A-AC9F-A848-BFBE-D6C5EDCBA4C9}">
      <dgm:prSet/>
      <dgm:spPr>
        <a:ln w="28575" cmpd="sng"/>
      </dgm:spPr>
      <dgm:t>
        <a:bodyPr/>
        <a:lstStyle/>
        <a:p>
          <a:endParaRPr lang="en-US"/>
        </a:p>
      </dgm:t>
    </dgm:pt>
    <dgm:pt modelId="{30D5805E-0592-AB47-B5F1-EF574685EEF1}">
      <dgm:prSet phldrT="[Text]"/>
      <dgm:spPr>
        <a:solidFill>
          <a:schemeClr val="accent1">
            <a:lumMod val="25000"/>
          </a:schemeClr>
        </a:solidFill>
      </dgm:spPr>
      <dgm:t>
        <a:bodyPr/>
        <a:lstStyle/>
        <a:p>
          <a:r>
            <a:rPr lang="en-US" dirty="0" smtClean="0"/>
            <a:t>Implement action plan and review progress</a:t>
          </a:r>
          <a:endParaRPr lang="en-US" dirty="0"/>
        </a:p>
      </dgm:t>
    </dgm:pt>
    <dgm:pt modelId="{035FD141-1E54-BF4C-BDC3-E2CC0942ED92}" type="parTrans" cxnId="{4483905C-EE7C-884E-8B47-214EDFEB40DE}">
      <dgm:prSet/>
      <dgm:spPr/>
      <dgm:t>
        <a:bodyPr/>
        <a:lstStyle/>
        <a:p>
          <a:endParaRPr lang="en-US"/>
        </a:p>
      </dgm:t>
    </dgm:pt>
    <dgm:pt modelId="{51B6EC5B-E8B5-6A46-A87C-77AB7165DA6F}" type="sibTrans" cxnId="{4483905C-EE7C-884E-8B47-214EDFEB40DE}">
      <dgm:prSet/>
      <dgm:spPr>
        <a:ln w="38100" cmpd="sng"/>
      </dgm:spPr>
      <dgm:t>
        <a:bodyPr/>
        <a:lstStyle/>
        <a:p>
          <a:endParaRPr lang="en-US"/>
        </a:p>
      </dgm:t>
    </dgm:pt>
    <dgm:pt modelId="{9ACBA6BA-7980-1948-8A66-79E5A153C4E6}">
      <dgm:prSet phldrT="[Text]"/>
      <dgm:spPr>
        <a:solidFill>
          <a:schemeClr val="accent1">
            <a:lumMod val="25000"/>
          </a:schemeClr>
        </a:solidFill>
      </dgm:spPr>
      <dgm:t>
        <a:bodyPr/>
        <a:lstStyle/>
        <a:p>
          <a:r>
            <a:rPr lang="en-US" dirty="0" smtClean="0"/>
            <a:t>Collect contextual information</a:t>
          </a:r>
          <a:endParaRPr lang="en-US" dirty="0"/>
        </a:p>
      </dgm:t>
    </dgm:pt>
    <dgm:pt modelId="{D5537227-71E7-6D49-AB07-336C1B8745A9}" type="sibTrans" cxnId="{12B24930-4885-6843-A674-41EB98E16309}">
      <dgm:prSet/>
      <dgm:spPr>
        <a:ln w="28575" cmpd="sng"/>
      </dgm:spPr>
      <dgm:t>
        <a:bodyPr/>
        <a:lstStyle/>
        <a:p>
          <a:endParaRPr lang="en-US"/>
        </a:p>
      </dgm:t>
    </dgm:pt>
    <dgm:pt modelId="{EBDD2E4D-9DEF-0C45-BEBE-0380BDD1F929}" type="parTrans" cxnId="{12B24930-4885-6843-A674-41EB98E16309}">
      <dgm:prSet/>
      <dgm:spPr/>
      <dgm:t>
        <a:bodyPr/>
        <a:lstStyle/>
        <a:p>
          <a:endParaRPr lang="en-US"/>
        </a:p>
      </dgm:t>
    </dgm:pt>
    <dgm:pt modelId="{EF8C53D1-7A61-5942-9CA1-85F78CE191EC}" type="pres">
      <dgm:prSet presAssocID="{A1A20B95-5B42-C146-952C-AC89F9763058}" presName="cycle" presStyleCnt="0">
        <dgm:presLayoutVars>
          <dgm:dir/>
          <dgm:resizeHandles val="exact"/>
        </dgm:presLayoutVars>
      </dgm:prSet>
      <dgm:spPr/>
      <dgm:t>
        <a:bodyPr/>
        <a:lstStyle/>
        <a:p>
          <a:endParaRPr lang="en-US"/>
        </a:p>
      </dgm:t>
    </dgm:pt>
    <dgm:pt modelId="{3B216041-0E5D-FE48-91B4-A9C1D02A3D6E}" type="pres">
      <dgm:prSet presAssocID="{9ACBA6BA-7980-1948-8A66-79E5A153C4E6}" presName="node" presStyleLbl="node1" presStyleIdx="0" presStyleCnt="5">
        <dgm:presLayoutVars>
          <dgm:bulletEnabled val="1"/>
        </dgm:presLayoutVars>
      </dgm:prSet>
      <dgm:spPr/>
      <dgm:t>
        <a:bodyPr/>
        <a:lstStyle/>
        <a:p>
          <a:endParaRPr lang="en-US"/>
        </a:p>
      </dgm:t>
    </dgm:pt>
    <dgm:pt modelId="{B8907345-B757-314F-B556-40C8E0DCE972}" type="pres">
      <dgm:prSet presAssocID="{9ACBA6BA-7980-1948-8A66-79E5A153C4E6}" presName="spNode" presStyleCnt="0"/>
      <dgm:spPr/>
    </dgm:pt>
    <dgm:pt modelId="{53774082-AA62-474A-B5D0-C0A2D7AFC171}" type="pres">
      <dgm:prSet presAssocID="{D5537227-71E7-6D49-AB07-336C1B8745A9}" presName="sibTrans" presStyleLbl="sibTrans1D1" presStyleIdx="0" presStyleCnt="5"/>
      <dgm:spPr/>
      <dgm:t>
        <a:bodyPr/>
        <a:lstStyle/>
        <a:p>
          <a:endParaRPr lang="en-US"/>
        </a:p>
      </dgm:t>
    </dgm:pt>
    <dgm:pt modelId="{36321EE2-9130-654C-8953-A7589A856523}" type="pres">
      <dgm:prSet presAssocID="{4698A3E1-8D5B-864F-ABF1-23E44082A127}" presName="node" presStyleLbl="node1" presStyleIdx="1" presStyleCnt="5">
        <dgm:presLayoutVars>
          <dgm:bulletEnabled val="1"/>
        </dgm:presLayoutVars>
      </dgm:prSet>
      <dgm:spPr/>
      <dgm:t>
        <a:bodyPr/>
        <a:lstStyle/>
        <a:p>
          <a:endParaRPr lang="en-US"/>
        </a:p>
      </dgm:t>
    </dgm:pt>
    <dgm:pt modelId="{9DB6490C-A2FF-1742-8CC1-63769BADBCCA}" type="pres">
      <dgm:prSet presAssocID="{4698A3E1-8D5B-864F-ABF1-23E44082A127}" presName="spNode" presStyleCnt="0"/>
      <dgm:spPr/>
    </dgm:pt>
    <dgm:pt modelId="{8E183B91-5E2D-7F4F-8A18-2AE8D4A2C66C}" type="pres">
      <dgm:prSet presAssocID="{65B149B2-78B5-0940-9D77-53B5B71A14F5}" presName="sibTrans" presStyleLbl="sibTrans1D1" presStyleIdx="1" presStyleCnt="5"/>
      <dgm:spPr/>
      <dgm:t>
        <a:bodyPr/>
        <a:lstStyle/>
        <a:p>
          <a:endParaRPr lang="en-US"/>
        </a:p>
      </dgm:t>
    </dgm:pt>
    <dgm:pt modelId="{EEE5E44D-692B-A044-A2AE-4100A3AD394C}" type="pres">
      <dgm:prSet presAssocID="{F2F6A578-EC00-E24D-AD00-A0C724BE5B4C}" presName="node" presStyleLbl="node1" presStyleIdx="2" presStyleCnt="5">
        <dgm:presLayoutVars>
          <dgm:bulletEnabled val="1"/>
        </dgm:presLayoutVars>
      </dgm:prSet>
      <dgm:spPr/>
      <dgm:t>
        <a:bodyPr/>
        <a:lstStyle/>
        <a:p>
          <a:endParaRPr lang="en-US"/>
        </a:p>
      </dgm:t>
    </dgm:pt>
    <dgm:pt modelId="{3C03018D-9F02-0848-A1FA-EBD067A52143}" type="pres">
      <dgm:prSet presAssocID="{F2F6A578-EC00-E24D-AD00-A0C724BE5B4C}" presName="spNode" presStyleCnt="0"/>
      <dgm:spPr/>
    </dgm:pt>
    <dgm:pt modelId="{BA28D4B2-870B-634A-B8E8-C265C9689880}" type="pres">
      <dgm:prSet presAssocID="{8349F455-035F-3A42-96C9-B2483FA38A2C}" presName="sibTrans" presStyleLbl="sibTrans1D1" presStyleIdx="2" presStyleCnt="5"/>
      <dgm:spPr/>
      <dgm:t>
        <a:bodyPr/>
        <a:lstStyle/>
        <a:p>
          <a:endParaRPr lang="en-US"/>
        </a:p>
      </dgm:t>
    </dgm:pt>
    <dgm:pt modelId="{8E0FEA63-90B0-204B-B801-D25F2F609D81}" type="pres">
      <dgm:prSet presAssocID="{20D86415-84C3-354A-9E3A-B24ED9A306C6}" presName="node" presStyleLbl="node1" presStyleIdx="3" presStyleCnt="5">
        <dgm:presLayoutVars>
          <dgm:bulletEnabled val="1"/>
        </dgm:presLayoutVars>
      </dgm:prSet>
      <dgm:spPr/>
      <dgm:t>
        <a:bodyPr/>
        <a:lstStyle/>
        <a:p>
          <a:endParaRPr lang="en-US"/>
        </a:p>
      </dgm:t>
    </dgm:pt>
    <dgm:pt modelId="{17932D41-505F-6C4F-8719-79E097B001D9}" type="pres">
      <dgm:prSet presAssocID="{20D86415-84C3-354A-9E3A-B24ED9A306C6}" presName="spNode" presStyleCnt="0"/>
      <dgm:spPr/>
    </dgm:pt>
    <dgm:pt modelId="{0C097607-5C58-3E45-A743-701110BF59F4}" type="pres">
      <dgm:prSet presAssocID="{FDD3FA9A-8182-5945-B88C-F24E029D9C38}" presName="sibTrans" presStyleLbl="sibTrans1D1" presStyleIdx="3" presStyleCnt="5"/>
      <dgm:spPr/>
      <dgm:t>
        <a:bodyPr/>
        <a:lstStyle/>
        <a:p>
          <a:endParaRPr lang="en-US"/>
        </a:p>
      </dgm:t>
    </dgm:pt>
    <dgm:pt modelId="{1E3A0B8D-2E56-F640-81E0-337E4BEC4205}" type="pres">
      <dgm:prSet presAssocID="{30D5805E-0592-AB47-B5F1-EF574685EEF1}" presName="node" presStyleLbl="node1" presStyleIdx="4" presStyleCnt="5">
        <dgm:presLayoutVars>
          <dgm:bulletEnabled val="1"/>
        </dgm:presLayoutVars>
      </dgm:prSet>
      <dgm:spPr/>
      <dgm:t>
        <a:bodyPr/>
        <a:lstStyle/>
        <a:p>
          <a:endParaRPr lang="en-US"/>
        </a:p>
      </dgm:t>
    </dgm:pt>
    <dgm:pt modelId="{3841A05F-C7CB-6048-AE94-DEA0FD235F25}" type="pres">
      <dgm:prSet presAssocID="{30D5805E-0592-AB47-B5F1-EF574685EEF1}" presName="spNode" presStyleCnt="0"/>
      <dgm:spPr/>
    </dgm:pt>
    <dgm:pt modelId="{2C083A76-CD86-724D-88EB-FD4DCBBDA4A8}" type="pres">
      <dgm:prSet presAssocID="{51B6EC5B-E8B5-6A46-A87C-77AB7165DA6F}" presName="sibTrans" presStyleLbl="sibTrans1D1" presStyleIdx="4" presStyleCnt="5"/>
      <dgm:spPr/>
      <dgm:t>
        <a:bodyPr/>
        <a:lstStyle/>
        <a:p>
          <a:endParaRPr lang="en-US"/>
        </a:p>
      </dgm:t>
    </dgm:pt>
  </dgm:ptLst>
  <dgm:cxnLst>
    <dgm:cxn modelId="{3DDC62EA-5E0D-5F46-9FB2-416299148403}" type="presOf" srcId="{9ACBA6BA-7980-1948-8A66-79E5A153C4E6}" destId="{3B216041-0E5D-FE48-91B4-A9C1D02A3D6E}" srcOrd="0" destOrd="0" presId="urn:microsoft.com/office/officeart/2005/8/layout/cycle5"/>
    <dgm:cxn modelId="{D3999703-A87C-D246-9E28-87B99F7E256C}" type="presOf" srcId="{20D86415-84C3-354A-9E3A-B24ED9A306C6}" destId="{8E0FEA63-90B0-204B-B801-D25F2F609D81}" srcOrd="0" destOrd="0" presId="urn:microsoft.com/office/officeart/2005/8/layout/cycle5"/>
    <dgm:cxn modelId="{6E9681C4-6B56-E340-9B3D-346F623D6111}" type="presOf" srcId="{FDD3FA9A-8182-5945-B88C-F24E029D9C38}" destId="{0C097607-5C58-3E45-A743-701110BF59F4}" srcOrd="0" destOrd="0" presId="urn:microsoft.com/office/officeart/2005/8/layout/cycle5"/>
    <dgm:cxn modelId="{EBD64632-59E2-B148-AFCB-8669F7FE3306}" type="presOf" srcId="{4698A3E1-8D5B-864F-ABF1-23E44082A127}" destId="{36321EE2-9130-654C-8953-A7589A856523}" srcOrd="0" destOrd="0" presId="urn:microsoft.com/office/officeart/2005/8/layout/cycle5"/>
    <dgm:cxn modelId="{AE02693E-7461-B54B-B20C-A7DC03AE5746}" srcId="{A1A20B95-5B42-C146-952C-AC89F9763058}" destId="{4698A3E1-8D5B-864F-ABF1-23E44082A127}" srcOrd="1" destOrd="0" parTransId="{A5094626-7D9D-0248-9D40-D8462B519CBB}" sibTransId="{65B149B2-78B5-0940-9D77-53B5B71A14F5}"/>
    <dgm:cxn modelId="{3705E1C9-99EF-1D47-98AE-515B3D0112A8}" type="presOf" srcId="{A1A20B95-5B42-C146-952C-AC89F9763058}" destId="{EF8C53D1-7A61-5942-9CA1-85F78CE191EC}" srcOrd="0" destOrd="0" presId="urn:microsoft.com/office/officeart/2005/8/layout/cycle5"/>
    <dgm:cxn modelId="{63214B64-E77A-4C46-891E-138A8B523DB3}" type="presOf" srcId="{51B6EC5B-E8B5-6A46-A87C-77AB7165DA6F}" destId="{2C083A76-CD86-724D-88EB-FD4DCBBDA4A8}" srcOrd="0" destOrd="0" presId="urn:microsoft.com/office/officeart/2005/8/layout/cycle5"/>
    <dgm:cxn modelId="{D030291B-AEBB-0144-9C0C-342C491AC523}" type="presOf" srcId="{F2F6A578-EC00-E24D-AD00-A0C724BE5B4C}" destId="{EEE5E44D-692B-A044-A2AE-4100A3AD394C}" srcOrd="0" destOrd="0" presId="urn:microsoft.com/office/officeart/2005/8/layout/cycle5"/>
    <dgm:cxn modelId="{0B2A83CD-D83A-8D41-8892-C4F87A62F192}" type="presOf" srcId="{30D5805E-0592-AB47-B5F1-EF574685EEF1}" destId="{1E3A0B8D-2E56-F640-81E0-337E4BEC4205}" srcOrd="0" destOrd="0" presId="urn:microsoft.com/office/officeart/2005/8/layout/cycle5"/>
    <dgm:cxn modelId="{A1883FFD-E848-604A-B204-DEED0AB6EC6D}" srcId="{A1A20B95-5B42-C146-952C-AC89F9763058}" destId="{F2F6A578-EC00-E24D-AD00-A0C724BE5B4C}" srcOrd="2" destOrd="0" parTransId="{28FE3FF2-8906-084B-9998-B987F34EFB2C}" sibTransId="{8349F455-035F-3A42-96C9-B2483FA38A2C}"/>
    <dgm:cxn modelId="{18BAEF85-5371-594E-BB53-39508F5082BB}" type="presOf" srcId="{D5537227-71E7-6D49-AB07-336C1B8745A9}" destId="{53774082-AA62-474A-B5D0-C0A2D7AFC171}" srcOrd="0" destOrd="0" presId="urn:microsoft.com/office/officeart/2005/8/layout/cycle5"/>
    <dgm:cxn modelId="{88CE6951-E29F-F745-9AB9-6C69E9C62844}" type="presOf" srcId="{65B149B2-78B5-0940-9D77-53B5B71A14F5}" destId="{8E183B91-5E2D-7F4F-8A18-2AE8D4A2C66C}" srcOrd="0" destOrd="0" presId="urn:microsoft.com/office/officeart/2005/8/layout/cycle5"/>
    <dgm:cxn modelId="{EB40E05A-AC9F-A848-BFBE-D6C5EDCBA4C9}" srcId="{A1A20B95-5B42-C146-952C-AC89F9763058}" destId="{20D86415-84C3-354A-9E3A-B24ED9A306C6}" srcOrd="3" destOrd="0" parTransId="{3CBECA30-7DE8-4D4A-93B6-AEABA19A7911}" sibTransId="{FDD3FA9A-8182-5945-B88C-F24E029D9C38}"/>
    <dgm:cxn modelId="{76C28FEC-48F3-F54B-A577-2A17B7D7EA69}" type="presOf" srcId="{8349F455-035F-3A42-96C9-B2483FA38A2C}" destId="{BA28D4B2-870B-634A-B8E8-C265C9689880}" srcOrd="0" destOrd="0" presId="urn:microsoft.com/office/officeart/2005/8/layout/cycle5"/>
    <dgm:cxn modelId="{12B24930-4885-6843-A674-41EB98E16309}" srcId="{A1A20B95-5B42-C146-952C-AC89F9763058}" destId="{9ACBA6BA-7980-1948-8A66-79E5A153C4E6}" srcOrd="0" destOrd="0" parTransId="{EBDD2E4D-9DEF-0C45-BEBE-0380BDD1F929}" sibTransId="{D5537227-71E7-6D49-AB07-336C1B8745A9}"/>
    <dgm:cxn modelId="{4483905C-EE7C-884E-8B47-214EDFEB40DE}" srcId="{A1A20B95-5B42-C146-952C-AC89F9763058}" destId="{30D5805E-0592-AB47-B5F1-EF574685EEF1}" srcOrd="4" destOrd="0" parTransId="{035FD141-1E54-BF4C-BDC3-E2CC0942ED92}" sibTransId="{51B6EC5B-E8B5-6A46-A87C-77AB7165DA6F}"/>
    <dgm:cxn modelId="{9FB38B6F-46BC-F842-9921-1F58B1928515}" type="presParOf" srcId="{EF8C53D1-7A61-5942-9CA1-85F78CE191EC}" destId="{3B216041-0E5D-FE48-91B4-A9C1D02A3D6E}" srcOrd="0" destOrd="0" presId="urn:microsoft.com/office/officeart/2005/8/layout/cycle5"/>
    <dgm:cxn modelId="{07B04BE7-E6AF-9548-AF08-4DAED51719D1}" type="presParOf" srcId="{EF8C53D1-7A61-5942-9CA1-85F78CE191EC}" destId="{B8907345-B757-314F-B556-40C8E0DCE972}" srcOrd="1" destOrd="0" presId="urn:microsoft.com/office/officeart/2005/8/layout/cycle5"/>
    <dgm:cxn modelId="{50F694C3-3C68-1048-9981-128B272F7F61}" type="presParOf" srcId="{EF8C53D1-7A61-5942-9CA1-85F78CE191EC}" destId="{53774082-AA62-474A-B5D0-C0A2D7AFC171}" srcOrd="2" destOrd="0" presId="urn:microsoft.com/office/officeart/2005/8/layout/cycle5"/>
    <dgm:cxn modelId="{049A0261-3F06-C74D-9577-CCC87D745DB8}" type="presParOf" srcId="{EF8C53D1-7A61-5942-9CA1-85F78CE191EC}" destId="{36321EE2-9130-654C-8953-A7589A856523}" srcOrd="3" destOrd="0" presId="urn:microsoft.com/office/officeart/2005/8/layout/cycle5"/>
    <dgm:cxn modelId="{57D85C1B-5F7E-4D44-BE94-AFD10C8F58D9}" type="presParOf" srcId="{EF8C53D1-7A61-5942-9CA1-85F78CE191EC}" destId="{9DB6490C-A2FF-1742-8CC1-63769BADBCCA}" srcOrd="4" destOrd="0" presId="urn:microsoft.com/office/officeart/2005/8/layout/cycle5"/>
    <dgm:cxn modelId="{56160B78-4D67-AE43-868E-D7CF8E85E276}" type="presParOf" srcId="{EF8C53D1-7A61-5942-9CA1-85F78CE191EC}" destId="{8E183B91-5E2D-7F4F-8A18-2AE8D4A2C66C}" srcOrd="5" destOrd="0" presId="urn:microsoft.com/office/officeart/2005/8/layout/cycle5"/>
    <dgm:cxn modelId="{5359BCF6-493D-8D46-A5CA-0AF75260FB68}" type="presParOf" srcId="{EF8C53D1-7A61-5942-9CA1-85F78CE191EC}" destId="{EEE5E44D-692B-A044-A2AE-4100A3AD394C}" srcOrd="6" destOrd="0" presId="urn:microsoft.com/office/officeart/2005/8/layout/cycle5"/>
    <dgm:cxn modelId="{12B3447E-BD38-DC41-8FC1-E8F15E95A2F2}" type="presParOf" srcId="{EF8C53D1-7A61-5942-9CA1-85F78CE191EC}" destId="{3C03018D-9F02-0848-A1FA-EBD067A52143}" srcOrd="7" destOrd="0" presId="urn:microsoft.com/office/officeart/2005/8/layout/cycle5"/>
    <dgm:cxn modelId="{BA31261B-7C57-4A47-AE5F-A5AACF584411}" type="presParOf" srcId="{EF8C53D1-7A61-5942-9CA1-85F78CE191EC}" destId="{BA28D4B2-870B-634A-B8E8-C265C9689880}" srcOrd="8" destOrd="0" presId="urn:microsoft.com/office/officeart/2005/8/layout/cycle5"/>
    <dgm:cxn modelId="{CBDD0466-5AFA-2042-91A8-04BF4F4DDE22}" type="presParOf" srcId="{EF8C53D1-7A61-5942-9CA1-85F78CE191EC}" destId="{8E0FEA63-90B0-204B-B801-D25F2F609D81}" srcOrd="9" destOrd="0" presId="urn:microsoft.com/office/officeart/2005/8/layout/cycle5"/>
    <dgm:cxn modelId="{CBCB533A-6935-5A47-B164-F81866B4279A}" type="presParOf" srcId="{EF8C53D1-7A61-5942-9CA1-85F78CE191EC}" destId="{17932D41-505F-6C4F-8719-79E097B001D9}" srcOrd="10" destOrd="0" presId="urn:microsoft.com/office/officeart/2005/8/layout/cycle5"/>
    <dgm:cxn modelId="{C01DB30A-8E7A-3A49-ACB9-076C33EB0441}" type="presParOf" srcId="{EF8C53D1-7A61-5942-9CA1-85F78CE191EC}" destId="{0C097607-5C58-3E45-A743-701110BF59F4}" srcOrd="11" destOrd="0" presId="urn:microsoft.com/office/officeart/2005/8/layout/cycle5"/>
    <dgm:cxn modelId="{1D087DA4-1B71-7044-801D-BA071C67B39F}" type="presParOf" srcId="{EF8C53D1-7A61-5942-9CA1-85F78CE191EC}" destId="{1E3A0B8D-2E56-F640-81E0-337E4BEC4205}" srcOrd="12" destOrd="0" presId="urn:microsoft.com/office/officeart/2005/8/layout/cycle5"/>
    <dgm:cxn modelId="{102B03C9-14BC-A349-BEDD-7F37E48B9418}" type="presParOf" srcId="{EF8C53D1-7A61-5942-9CA1-85F78CE191EC}" destId="{3841A05F-C7CB-6048-AE94-DEA0FD235F25}" srcOrd="13" destOrd="0" presId="urn:microsoft.com/office/officeart/2005/8/layout/cycle5"/>
    <dgm:cxn modelId="{AC4A90F7-E13F-6E43-9760-BE49AD2AAD84}" type="presParOf" srcId="{EF8C53D1-7A61-5942-9CA1-85F78CE191EC}" destId="{2C083A76-CD86-724D-88EB-FD4DCBBDA4A8}" srcOrd="14" destOrd="0" presId="urn:microsoft.com/office/officeart/2005/8/layout/cycle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4278154" cy="337106"/>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5592225" y="1"/>
            <a:ext cx="4278154" cy="337106"/>
          </a:xfrm>
          <a:prstGeom prst="rect">
            <a:avLst/>
          </a:prstGeom>
        </p:spPr>
        <p:txBody>
          <a:bodyPr vert="horz" lIns="91440" tIns="45720" rIns="91440" bIns="45720" rtlCol="0"/>
          <a:lstStyle>
            <a:lvl1pPr algn="r">
              <a:defRPr sz="1200"/>
            </a:lvl1pPr>
          </a:lstStyle>
          <a:p>
            <a:fld id="{B983DBF4-B0B9-458E-AD57-F011F3FFA793}" type="datetimeFigureOut">
              <a:rPr lang="en-GB" smtClean="0"/>
              <a:t>20/04/2017</a:t>
            </a:fld>
            <a:endParaRPr lang="en-GB"/>
          </a:p>
        </p:txBody>
      </p:sp>
      <p:sp>
        <p:nvSpPr>
          <p:cNvPr id="4" name="Footer Placeholder 3"/>
          <p:cNvSpPr>
            <a:spLocks noGrp="1"/>
          </p:cNvSpPr>
          <p:nvPr>
            <p:ph type="ftr" sz="quarter" idx="2"/>
          </p:nvPr>
        </p:nvSpPr>
        <p:spPr>
          <a:xfrm>
            <a:off x="0" y="6403838"/>
            <a:ext cx="4278154" cy="337106"/>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5592225" y="6403838"/>
            <a:ext cx="4278154" cy="337106"/>
          </a:xfrm>
          <a:prstGeom prst="rect">
            <a:avLst/>
          </a:prstGeom>
        </p:spPr>
        <p:txBody>
          <a:bodyPr vert="horz" lIns="91440" tIns="45720" rIns="91440" bIns="45720" rtlCol="0" anchor="b"/>
          <a:lstStyle>
            <a:lvl1pPr algn="r">
              <a:defRPr sz="1200"/>
            </a:lvl1pPr>
          </a:lstStyle>
          <a:p>
            <a:fld id="{5530A963-40A6-4F10-84F4-842BFE0A45E5}" type="slidenum">
              <a:rPr lang="en-GB" smtClean="0"/>
              <a:t>‹#›</a:t>
            </a:fld>
            <a:endParaRPr lang="en-GB"/>
          </a:p>
        </p:txBody>
      </p:sp>
    </p:spTree>
    <p:extLst>
      <p:ext uri="{BB962C8B-B14F-4D97-AF65-F5344CB8AC3E}">
        <p14:creationId xmlns:p14="http://schemas.microsoft.com/office/powerpoint/2010/main" val="5361127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1"/>
            <a:ext cx="4278154" cy="33710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GB"/>
          </a:p>
        </p:txBody>
      </p:sp>
      <p:sp>
        <p:nvSpPr>
          <p:cNvPr id="3075" name="Rectangle 3"/>
          <p:cNvSpPr>
            <a:spLocks noGrp="1" noChangeArrowheads="1"/>
          </p:cNvSpPr>
          <p:nvPr>
            <p:ph type="dt" idx="1"/>
          </p:nvPr>
        </p:nvSpPr>
        <p:spPr bwMode="auto">
          <a:xfrm>
            <a:off x="5592225" y="1"/>
            <a:ext cx="4278154" cy="33710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GB"/>
          </a:p>
        </p:txBody>
      </p:sp>
      <p:sp>
        <p:nvSpPr>
          <p:cNvPr id="13316" name="Rectangle 4"/>
          <p:cNvSpPr>
            <a:spLocks noGrp="1" noRot="1" noChangeAspect="1" noChangeArrowheads="1" noTextEdit="1"/>
          </p:cNvSpPr>
          <p:nvPr>
            <p:ph type="sldImg" idx="2"/>
          </p:nvPr>
        </p:nvSpPr>
        <p:spPr bwMode="auto">
          <a:xfrm>
            <a:off x="3249613" y="504825"/>
            <a:ext cx="3373437" cy="2528888"/>
          </a:xfrm>
          <a:prstGeom prst="rect">
            <a:avLst/>
          </a:prstGeom>
          <a:noFill/>
          <a:ln w="9525">
            <a:solidFill>
              <a:srgbClr val="000000"/>
            </a:solidFill>
            <a:miter lim="800000"/>
            <a:headEnd/>
            <a:tailEnd/>
          </a:ln>
        </p:spPr>
      </p:sp>
      <p:sp>
        <p:nvSpPr>
          <p:cNvPr id="3077" name="Rectangle 5"/>
          <p:cNvSpPr>
            <a:spLocks noGrp="1" noChangeArrowheads="1"/>
          </p:cNvSpPr>
          <p:nvPr>
            <p:ph type="body" sz="quarter" idx="3"/>
          </p:nvPr>
        </p:nvSpPr>
        <p:spPr bwMode="auto">
          <a:xfrm>
            <a:off x="987267" y="3202504"/>
            <a:ext cx="7898130" cy="303395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3078" name="Rectangle 6"/>
          <p:cNvSpPr>
            <a:spLocks noGrp="1" noChangeArrowheads="1"/>
          </p:cNvSpPr>
          <p:nvPr>
            <p:ph type="ftr" sz="quarter" idx="4"/>
          </p:nvPr>
        </p:nvSpPr>
        <p:spPr bwMode="auto">
          <a:xfrm>
            <a:off x="0" y="6403838"/>
            <a:ext cx="4278154" cy="337106"/>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GB"/>
          </a:p>
        </p:txBody>
      </p:sp>
      <p:sp>
        <p:nvSpPr>
          <p:cNvPr id="3079" name="Rectangle 7"/>
          <p:cNvSpPr>
            <a:spLocks noGrp="1" noChangeArrowheads="1"/>
          </p:cNvSpPr>
          <p:nvPr>
            <p:ph type="sldNum" sz="quarter" idx="5"/>
          </p:nvPr>
        </p:nvSpPr>
        <p:spPr bwMode="auto">
          <a:xfrm>
            <a:off x="5592225" y="6403838"/>
            <a:ext cx="4278154" cy="337106"/>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08506DA6-E6AB-BA46-881A-E338C3E41877}" type="slidenum">
              <a:rPr lang="en-GB"/>
              <a:pPr>
                <a:defRPr/>
              </a:pPr>
              <a:t>‹#›</a:t>
            </a:fld>
            <a:endParaRPr lang="en-GB"/>
          </a:p>
        </p:txBody>
      </p:sp>
    </p:spTree>
    <p:extLst>
      <p:ext uri="{BB962C8B-B14F-4D97-AF65-F5344CB8AC3E}">
        <p14:creationId xmlns:p14="http://schemas.microsoft.com/office/powerpoint/2010/main" val="157985013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www.childwelfare.gov/survey/disclaimerAskme.cfm?target=http://www.childtrauma.org/&amp;referrer=http://www.childwelfare.gov/pubs/issue_briefs/brain_development/effects.cfm" TargetMode="External"/><Relationship Id="rId2" Type="http://schemas.openxmlformats.org/officeDocument/2006/relationships/slide" Target="../slides/slide5.xml"/><Relationship Id="rId1" Type="http://schemas.openxmlformats.org/officeDocument/2006/relationships/notesMaster" Target="../notesMasters/notesMaster1.xml"/><Relationship Id="rId6" Type="http://schemas.openxmlformats.org/officeDocument/2006/relationships/hyperlink" Target="http://www.childwelfare.gov/pubs/issue_briefs/brain_development/implications.cfm" TargetMode="External"/><Relationship Id="rId5" Type="http://schemas.openxmlformats.org/officeDocument/2006/relationships/hyperlink" Target="http://www.childwelfare.gov/pubs/issue_briefs/brain_development/how.cfm" TargetMode="External"/><Relationship Id="rId4" Type="http://schemas.openxmlformats.org/officeDocument/2006/relationships/hyperlink" Target="http://www.childwelfare.gov/privacypolicy.cfm#dis_endorse"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p:spPr>
        <p:txBody>
          <a:bodyPr/>
          <a:lstStyle/>
          <a:p>
            <a:fld id="{939D7235-8ECB-E24B-96F4-98295D00DFC6}" type="slidenum">
              <a:rPr lang="en-GB"/>
              <a:pPr/>
              <a:t>1</a:t>
            </a:fld>
            <a:endParaRPr lang="en-GB"/>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Our experiences of being parented are unique (even in the same family)</a:t>
            </a:r>
            <a:endParaRPr lang="en-US" dirty="0"/>
          </a:p>
        </p:txBody>
      </p:sp>
      <p:sp>
        <p:nvSpPr>
          <p:cNvPr id="4" name="Slide Number Placeholder 3"/>
          <p:cNvSpPr>
            <a:spLocks noGrp="1"/>
          </p:cNvSpPr>
          <p:nvPr>
            <p:ph type="sldNum" sz="quarter" idx="10"/>
          </p:nvPr>
        </p:nvSpPr>
        <p:spPr/>
        <p:txBody>
          <a:bodyPr/>
          <a:lstStyle/>
          <a:p>
            <a:pPr>
              <a:defRPr/>
            </a:pPr>
            <a:fld id="{08506DA6-E6AB-BA46-881A-E338C3E41877}" type="slidenum">
              <a:rPr lang="en-GB" smtClean="0"/>
              <a:pPr>
                <a:defRPr/>
              </a:pPr>
              <a:t>3</a:t>
            </a:fld>
            <a:endParaRPr 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p:spPr>
        <p:txBody>
          <a:bodyPr/>
          <a:lstStyle/>
          <a:p>
            <a:fld id="{EFFD907A-2567-4544-BC6C-322D45DB1B1C}" type="slidenum">
              <a:rPr lang="en-GB"/>
              <a:pPr/>
              <a:t>5</a:t>
            </a:fld>
            <a:endParaRPr lang="en-GB"/>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a:ln/>
        </p:spPr>
        <p:txBody>
          <a:bodyPr/>
          <a:lstStyle/>
          <a:p>
            <a:pPr eaLnBrk="1" hangingPunct="1">
              <a:lnSpc>
                <a:spcPct val="80000"/>
              </a:lnSpc>
              <a:spcBef>
                <a:spcPct val="50000"/>
              </a:spcBef>
            </a:pPr>
            <a:r>
              <a:rPr lang="en-US" b="1">
                <a:latin typeface="Arial" charset="0"/>
              </a:rPr>
              <a:t>It is smaller than average and abnormal development of cortical, limbic and midbrain structures.</a:t>
            </a:r>
          </a:p>
          <a:p>
            <a:pPr eaLnBrk="1" hangingPunct="1">
              <a:lnSpc>
                <a:spcPct val="80000"/>
              </a:lnSpc>
              <a:spcBef>
                <a:spcPct val="50000"/>
              </a:spcBef>
            </a:pPr>
            <a:r>
              <a:rPr lang="en-US" sz="800">
                <a:latin typeface="Arial" charset="0"/>
              </a:rPr>
              <a:t>such as those children from Romanian orphanages</a:t>
            </a:r>
            <a:endParaRPr lang="en-US" b="1">
              <a:latin typeface="Arial" charset="0"/>
            </a:endParaRPr>
          </a:p>
          <a:p>
            <a:pPr eaLnBrk="1" hangingPunct="1">
              <a:lnSpc>
                <a:spcPct val="80000"/>
              </a:lnSpc>
            </a:pPr>
            <a:r>
              <a:rPr lang="en-US" sz="800" b="1"/>
              <a:t>Understanding the Effects of Maltreatment on Brain Development</a:t>
            </a:r>
          </a:p>
          <a:p>
            <a:pPr eaLnBrk="1" hangingPunct="1">
              <a:lnSpc>
                <a:spcPct val="80000"/>
              </a:lnSpc>
            </a:pPr>
            <a:r>
              <a:rPr lang="en-US" sz="800"/>
              <a:t>Author's): Child Welfare Information Gateway </a:t>
            </a:r>
            <a:br>
              <a:rPr lang="en-US" sz="800"/>
            </a:br>
            <a:r>
              <a:rPr lang="en-US" sz="800"/>
              <a:t>Year Published: 2009 </a:t>
            </a:r>
          </a:p>
          <a:p>
            <a:pPr eaLnBrk="1" hangingPunct="1">
              <a:lnSpc>
                <a:spcPct val="80000"/>
              </a:lnSpc>
            </a:pPr>
            <a:r>
              <a:rPr lang="en-US" sz="800" i="1"/>
              <a:t/>
            </a:r>
            <a:br>
              <a:rPr lang="en-US" sz="800" i="1"/>
            </a:br>
            <a:r>
              <a:rPr lang="en-US" sz="800" b="1"/>
              <a:t>Effects of Maltreatment on Brain Development</a:t>
            </a:r>
          </a:p>
          <a:p>
            <a:pPr eaLnBrk="1" hangingPunct="1">
              <a:lnSpc>
                <a:spcPct val="80000"/>
              </a:lnSpc>
            </a:pPr>
            <a:r>
              <a:rPr lang="en-US" sz="800" b="1"/>
              <a:t>Babies' brains grow and develop as they interact with their environment and learn how to function within it. When babies' cries bring food or comfort, they are strengthening the neuronal pathways that help them learn how to get their needs met, both physically and emotionally. But babies who do not get responses to their cries, and babies whose cries are met with abuse, learn different lessons. The neuronal pathways that are developed and strengthened under negative conditions prepare children to cope in that negative environment, and their ability to respond to nurturing and kindness may be impaired (Shonkoff &amp; Phillips, 2000).</a:t>
            </a:r>
          </a:p>
          <a:p>
            <a:pPr eaLnBrk="1" hangingPunct="1">
              <a:lnSpc>
                <a:spcPct val="80000"/>
              </a:lnSpc>
            </a:pPr>
            <a:r>
              <a:rPr lang="en-US" sz="800" b="1"/>
              <a:t>Brief periods of moderate, predictable stress are not problematic; in fact, they prepare a child to cope with the general world. The body's survival actually depends upon the ability to mount a response to stress (Shonkoff &amp; Phillips, 2000). Children learn to deal with moderate stress in the context of positive relationships with reliable adult caregivers. Greater amounts of stress may also be tolerable if a child has a reliable adult who can help to buffer the child. But prolonged, severe, or unpredictable stress—including abuse and neglect—during a child's early years </a:t>
            </a:r>
            <a:r>
              <a:rPr lang="en-US" sz="800" b="1" i="1"/>
              <a:t>is</a:t>
            </a:r>
            <a:r>
              <a:rPr lang="en-US" sz="800" b="1"/>
              <a:t> problematic. In fact, the brain's development can literally be altered by this type of toxic stress, resulting in negative impacts on the child's physical, cognitive, emotional, and social growth.</a:t>
            </a:r>
          </a:p>
          <a:p>
            <a:pPr eaLnBrk="1" hangingPunct="1">
              <a:lnSpc>
                <a:spcPct val="80000"/>
              </a:lnSpc>
            </a:pPr>
            <a:r>
              <a:rPr lang="en-US" sz="800" b="1"/>
              <a:t>The specific effects of maltreatment may depend on such factors as the age of the baby or child at the time of the abuse or neglect, whether the maltreatment was a one-time incident or chronic, the identity of the abuser (e.g., parent or other adult), whether the child had a dependable nurturing individual in his or her life, the type and severity of the abuse, the intervention, and how long the maltreatment lasted.</a:t>
            </a:r>
          </a:p>
          <a:p>
            <a:pPr eaLnBrk="1" hangingPunct="1">
              <a:lnSpc>
                <a:spcPct val="80000"/>
              </a:lnSpc>
            </a:pPr>
            <a:r>
              <a:rPr lang="en-US" sz="800" b="1"/>
              <a:t>The sections below give a brief description of abuse and neglect and are followed by descriptions of some of the consequences of maltreatment.</a:t>
            </a:r>
            <a:endParaRPr lang="en-US" sz="800"/>
          </a:p>
          <a:p>
            <a:pPr eaLnBrk="1" hangingPunct="1">
              <a:lnSpc>
                <a:spcPct val="80000"/>
              </a:lnSpc>
            </a:pPr>
            <a:r>
              <a:rPr lang="en-US" sz="800" b="1">
                <a:hlinkClick r:id="" action="ppaction://noaction"/>
              </a:rPr>
              <a:t>Abuse—Physical, Sexual, and Emotional</a:t>
            </a:r>
            <a:r>
              <a:rPr lang="en-US" sz="800" b="1"/>
              <a:t> </a:t>
            </a:r>
          </a:p>
          <a:p>
            <a:pPr eaLnBrk="1" hangingPunct="1">
              <a:lnSpc>
                <a:spcPct val="80000"/>
              </a:lnSpc>
            </a:pPr>
            <a:r>
              <a:rPr lang="en-US" sz="800" b="1">
                <a:hlinkClick r:id="" action="ppaction://noaction"/>
              </a:rPr>
              <a:t>Neglect—Lack of Stimulation</a:t>
            </a:r>
            <a:r>
              <a:rPr lang="en-US" sz="800" b="1"/>
              <a:t> </a:t>
            </a:r>
          </a:p>
          <a:p>
            <a:pPr eaLnBrk="1" hangingPunct="1">
              <a:lnSpc>
                <a:spcPct val="80000"/>
              </a:lnSpc>
            </a:pPr>
            <a:r>
              <a:rPr lang="en-US" sz="800" b="1">
                <a:hlinkClick r:id="" action="ppaction://noaction"/>
              </a:rPr>
              <a:t>Global Neglect</a:t>
            </a:r>
            <a:r>
              <a:rPr lang="en-US" sz="800" b="1"/>
              <a:t> </a:t>
            </a:r>
          </a:p>
          <a:p>
            <a:pPr eaLnBrk="1" hangingPunct="1">
              <a:lnSpc>
                <a:spcPct val="80000"/>
              </a:lnSpc>
            </a:pPr>
            <a:r>
              <a:rPr lang="en-US" sz="800" b="1">
                <a:hlinkClick r:id="" action="ppaction://noaction"/>
              </a:rPr>
              <a:t>Emotional and Behavioral Impact</a:t>
            </a:r>
            <a:r>
              <a:rPr lang="en-US" sz="800" b="1"/>
              <a:t> </a:t>
            </a:r>
          </a:p>
          <a:p>
            <a:pPr eaLnBrk="1" hangingPunct="1">
              <a:lnSpc>
                <a:spcPct val="80000"/>
              </a:lnSpc>
            </a:pPr>
            <a:r>
              <a:rPr lang="en-US" sz="800" b="1">
                <a:hlinkClick r:id="" action="ppaction://noaction"/>
              </a:rPr>
              <a:t>Impact of Abuse and Neglect on Adolescents</a:t>
            </a:r>
            <a:r>
              <a:rPr lang="en-US" sz="800" b="1"/>
              <a:t> </a:t>
            </a:r>
          </a:p>
          <a:p>
            <a:pPr eaLnBrk="1" hangingPunct="1">
              <a:lnSpc>
                <a:spcPct val="80000"/>
              </a:lnSpc>
            </a:pPr>
            <a:r>
              <a:rPr lang="en-US" sz="800" b="1">
                <a:hlinkClick r:id="" action="ppaction://noaction"/>
              </a:rPr>
              <a:t>Long-Term Effects of Abuse and Neglect</a:t>
            </a:r>
            <a:endParaRPr lang="en-US" sz="800" b="1"/>
          </a:p>
          <a:p>
            <a:pPr eaLnBrk="1" hangingPunct="1">
              <a:lnSpc>
                <a:spcPct val="80000"/>
              </a:lnSpc>
            </a:pPr>
            <a:r>
              <a:rPr lang="en-US" sz="800" b="1"/>
              <a:t>(</a:t>
            </a:r>
            <a:r>
              <a:rPr lang="en-US" sz="800" b="1">
                <a:hlinkClick r:id="" action="ppaction://noaction"/>
              </a:rPr>
              <a:t>Back to Top</a:t>
            </a:r>
            <a:r>
              <a:rPr lang="en-US" sz="800" b="1"/>
              <a:t>)</a:t>
            </a:r>
          </a:p>
          <a:p>
            <a:pPr eaLnBrk="1" hangingPunct="1">
              <a:lnSpc>
                <a:spcPct val="80000"/>
              </a:lnSpc>
            </a:pPr>
            <a:r>
              <a:rPr lang="en-US" sz="800" b="1"/>
              <a:t>Abuse—Physical, Sexual, and Emotional</a:t>
            </a:r>
          </a:p>
          <a:p>
            <a:pPr eaLnBrk="1" hangingPunct="1">
              <a:lnSpc>
                <a:spcPct val="80000"/>
              </a:lnSpc>
            </a:pPr>
            <a:r>
              <a:rPr lang="en-US" sz="800" b="1"/>
              <a:t>Abuse can refer to physical abuse, such as hitting, shaking, burning, or other forms of maltreatment that a parent or other caregiver might inflict. Sexual abuse is a subset of abuse that refers to any type of sexual behavior with a minor, while emotional abuse generally refers to any injury to a child's psychological or emotional stability (Child Welfare Information Gateway, 2008). Chronic stress may also qualify as emotional abuse. In some States, alcohol or substance abuse or domestic violence that affects the unborn child is considered child abuse.</a:t>
            </a:r>
          </a:p>
          <a:p>
            <a:pPr eaLnBrk="1" hangingPunct="1">
              <a:lnSpc>
                <a:spcPct val="80000"/>
              </a:lnSpc>
            </a:pPr>
            <a:r>
              <a:rPr lang="en-US" sz="800" b="1"/>
              <a:t>Physical abuse can cause direct damage to a baby's or child's developing brain. For instance, we now have extensive evidence of the damage that shaking a baby can cause. According to the National Center on Shaken Baby Syndrome (2009), shaking can destroy brain tissue and tear blood vessels. In the short-term, shaking can lead to seizures, loss of consciousness, or even death. In the long-term, shaking can damage the fragile brain so that a child develops a range of sensory impairments, as well as cognitive, learning, and behavioral disabilities.</a:t>
            </a:r>
          </a:p>
          <a:p>
            <a:pPr eaLnBrk="1" hangingPunct="1">
              <a:lnSpc>
                <a:spcPct val="80000"/>
              </a:lnSpc>
            </a:pPr>
            <a:r>
              <a:rPr lang="en-US" sz="800" b="1"/>
              <a:t>Babies and children who suffer abuse may also experience trauma that is unrelated to direct physical damage. Exposure to domestic violence, disaster, or other traumatic events can have long-lasting effects. An enormous body of research now exists that provides evidence for the long-term damage of physical, sexual, and emotional abuse on babies and children. We know that children who experience the stress of abuse will focus their brains' resources on survival and responding to threats in their environment. This chronic stimulation of the brain's fear response means that the regions of the brain involved in this response are frequently activated (Perry, 2001a). Other regions of the brain, such as those involved in complex thought and abstract cognition, are less frequently activated, and the child becomes less competent at processing this type of information.</a:t>
            </a:r>
          </a:p>
          <a:p>
            <a:pPr eaLnBrk="1" hangingPunct="1">
              <a:lnSpc>
                <a:spcPct val="80000"/>
              </a:lnSpc>
            </a:pPr>
            <a:r>
              <a:rPr lang="en-US" sz="800" b="1"/>
              <a:t>One way that early maltreatment experiences may alter a child's ability to interact positively with others is by altering brain neurochemical balance. Research on children who suffered early emotional abuse or severe deprivation indicates that such maltreatment may permanently alter the brain's ability to use serotonin, which helps produce feelings of well-being and emotional stability (Healy, 2004).</a:t>
            </a:r>
          </a:p>
          <a:p>
            <a:pPr eaLnBrk="1" hangingPunct="1">
              <a:lnSpc>
                <a:spcPct val="80000"/>
              </a:lnSpc>
            </a:pPr>
            <a:r>
              <a:rPr lang="en-US" sz="800" b="1"/>
              <a:t>Altered brain development in children who have been maltreated may be the result of their brains adapting to their negative environment. If a child lives in a threatening, chaotic world, the child's brain may be hyperalert for danger because survival may depend on it. But if this environment persists, and the child's brain is focused on developing and strengthening its strategies for survival, other strategies may not develop as fully. The result may be a child who has difficulty functioning when presented with a world of kindness, nurturing, and stimulation.</a:t>
            </a:r>
          </a:p>
          <a:p>
            <a:pPr eaLnBrk="1" hangingPunct="1">
              <a:lnSpc>
                <a:spcPct val="80000"/>
              </a:lnSpc>
            </a:pPr>
            <a:r>
              <a:rPr lang="en-US" sz="800" b="1"/>
              <a:t>(</a:t>
            </a:r>
            <a:r>
              <a:rPr lang="en-US" sz="800" b="1">
                <a:hlinkClick r:id="" action="ppaction://noaction"/>
              </a:rPr>
              <a:t>Back to Top</a:t>
            </a:r>
            <a:r>
              <a:rPr lang="en-US" sz="800" b="1"/>
              <a:t>)</a:t>
            </a:r>
          </a:p>
          <a:p>
            <a:pPr eaLnBrk="1" hangingPunct="1">
              <a:lnSpc>
                <a:spcPct val="80000"/>
              </a:lnSpc>
            </a:pPr>
            <a:r>
              <a:rPr lang="en-US" sz="800" b="1"/>
              <a:t>Neglect—Lack of Stimulation</a:t>
            </a:r>
          </a:p>
          <a:p>
            <a:pPr eaLnBrk="1" hangingPunct="1">
              <a:lnSpc>
                <a:spcPct val="80000"/>
              </a:lnSpc>
            </a:pPr>
            <a:r>
              <a:rPr lang="en-US" sz="800" b="1"/>
              <a:t>While chronic abuse and neglect can result in sensitized fear response patterns, neglect alone also can result in other problems. Malnutrition is a classic example of neglect. Malnutrition, both before and during the first few years after birth, can result in stunted brain growth and slower passage of electrical signals in the brain (Shonkoff &amp; Phillips, 2000). This is due, in part, to the negative effect of malnutrition on the myelination process in the developing brain (ZERO TO THREE, 2009). The most common form of malnutrition in the United States, iron deficiency, can affect the growing brain and result in cognitive and motor delays, anxiety, depression, social problems, and attention problems (Shonkoff &amp; Phillips, 2000).</a:t>
            </a:r>
          </a:p>
          <a:p>
            <a:pPr eaLnBrk="1" hangingPunct="1">
              <a:lnSpc>
                <a:spcPct val="80000"/>
              </a:lnSpc>
            </a:pPr>
            <a:r>
              <a:rPr lang="en-US" sz="800" b="1"/>
              <a:t>Although neglect often is thought of as a failure to meet a child's physical needs for food, shelter, and safety, neglect also can be a failure to meet a child's cognitive, emotional, or social needs. For children to master developmental tasks in these areas, they need opportunities, encouragement, and acknowledgment from their caregivers. If this stimulation is lacking during children's early years, the weak neuronal pathways that had been developed in expectation of these experiences may wither and die, and the children may not achieve the usual developmental milestones.</a:t>
            </a:r>
          </a:p>
          <a:p>
            <a:pPr eaLnBrk="1" hangingPunct="1">
              <a:lnSpc>
                <a:spcPct val="80000"/>
              </a:lnSpc>
            </a:pPr>
            <a:r>
              <a:rPr lang="en-US" sz="800" b="1"/>
              <a:t>For example, babies need to experience face-to-face baby talk and hear countless repetitions of sounds in order to build the brain circuitry that will enable them to start making sounds and eventually say words. If babies' sounds are ignored repeatedly when they begin to babble at around 6 months, their language may be delayed. In fact, neglected children often do not show the rapid growth that normally occurs in language development at 18-24 months (Scannapieco, 2008). These types of delays may extend to all types of normal development for neglected children, including their cognitive-behavioral, socio-emotional, and physical development (Scannapieco, 2008).</a:t>
            </a:r>
          </a:p>
          <a:p>
            <a:pPr eaLnBrk="1" hangingPunct="1">
              <a:lnSpc>
                <a:spcPct val="80000"/>
              </a:lnSpc>
            </a:pPr>
            <a:r>
              <a:rPr lang="en-US" sz="800" b="1"/>
              <a:t>(</a:t>
            </a:r>
            <a:r>
              <a:rPr lang="en-US" sz="800" b="1">
                <a:hlinkClick r:id="" action="ppaction://noaction"/>
              </a:rPr>
              <a:t>Back to Top</a:t>
            </a:r>
            <a:r>
              <a:rPr lang="en-US" sz="800" b="1"/>
              <a:t>)</a:t>
            </a:r>
          </a:p>
          <a:p>
            <a:pPr eaLnBrk="1" hangingPunct="1">
              <a:lnSpc>
                <a:spcPct val="80000"/>
              </a:lnSpc>
            </a:pPr>
            <a:r>
              <a:rPr lang="en-US" sz="800" b="1"/>
              <a:t>Global Neglect</a:t>
            </a:r>
          </a:p>
          <a:p>
            <a:pPr eaLnBrk="1" hangingPunct="1">
              <a:lnSpc>
                <a:spcPct val="80000"/>
              </a:lnSpc>
            </a:pPr>
            <a:r>
              <a:rPr lang="en-US" sz="800" b="1"/>
              <a:t>Researchers use the term "global neglect" to refer to deprivations in more than one domain, i.e., language, touch, and interaction with others. Children who were adopted from Romanian orphanages in the early 1990s were often considered to be globally neglected; they had little contact with caregivers and little to no stimulation from their environment—little of anything required for healthy development. One study found that these children had significantly smaller brains than the norm, suggesting decreased brain growth (Perry, 2002). (See </a:t>
            </a:r>
            <a:r>
              <a:rPr lang="en-US" sz="800" b="1">
                <a:hlinkClick r:id="" action="ppaction://noaction"/>
              </a:rPr>
              <a:t>Exhibit 2</a:t>
            </a:r>
            <a:r>
              <a:rPr lang="en-US" sz="800" b="1"/>
              <a:t>.)</a:t>
            </a:r>
            <a:endParaRPr lang="en-US" sz="800"/>
          </a:p>
          <a:p>
            <a:pPr eaLnBrk="1" hangingPunct="1">
              <a:lnSpc>
                <a:spcPct val="80000"/>
              </a:lnSpc>
            </a:pPr>
            <a:r>
              <a:rPr lang="en-US" sz="800" b="1"/>
              <a:t>Exhibit 2</a:t>
            </a:r>
          </a:p>
          <a:p>
            <a:pPr eaLnBrk="1" hangingPunct="1">
              <a:lnSpc>
                <a:spcPct val="80000"/>
              </a:lnSpc>
            </a:pPr>
            <a:r>
              <a:rPr lang="en-US" sz="800" b="1"/>
              <a:t> </a:t>
            </a:r>
          </a:p>
          <a:p>
            <a:pPr eaLnBrk="1" hangingPunct="1">
              <a:lnSpc>
                <a:spcPct val="80000"/>
              </a:lnSpc>
            </a:pPr>
            <a:r>
              <a:rPr lang="en-US" sz="800" b="1"/>
              <a:t>"These images illustrate the negative impact of neglect on the developing brain. In the CT scan on the left is an image from a healthy 3-year-old with an average head size. The image on the right is from a 3-year-old suffering from severe sensory-deprivation neglect. This child's brain is significantly smaller than average and has abnormal development of cortex." These images are from studies conducted by a team of researchers from the </a:t>
            </a:r>
            <a:r>
              <a:rPr lang="en-US" sz="800" b="1">
                <a:hlinkClick r:id="rId3"/>
              </a:rPr>
              <a:t>Child Trauma Academy</a:t>
            </a:r>
            <a:r>
              <a:rPr lang="en-US" sz="800" b="1">
                <a:hlinkClick r:id="rId4"/>
              </a:rPr>
              <a:t> </a:t>
            </a:r>
            <a:r>
              <a:rPr lang="en-US" sz="800" b="1"/>
              <a:t> led by Bruce D. Perry, M.D., Ph.D. (Reprinted with permission.)</a:t>
            </a:r>
          </a:p>
          <a:p>
            <a:pPr eaLnBrk="1" hangingPunct="1">
              <a:lnSpc>
                <a:spcPct val="80000"/>
              </a:lnSpc>
            </a:pPr>
            <a:r>
              <a:rPr lang="en-US" sz="800" b="1"/>
              <a:t>This type of severe, global neglect can have devastating consequences. The extreme lack of stimulation may result in fewer neuronal pathways available for learning. The lack of opportunity to form an attachment with a nurturing caregiver during infancy may mean that some of these children will always have difficulties forming meaningful relationships with others (Perry, 2001a). But these studies also found that time played a factor—children who were adopted as young infants have shown more recovery than children who were adopted as toddlers (Rutter, et al., 2000).</a:t>
            </a:r>
          </a:p>
          <a:p>
            <a:pPr eaLnBrk="1" hangingPunct="1">
              <a:lnSpc>
                <a:spcPct val="80000"/>
              </a:lnSpc>
            </a:pPr>
            <a:r>
              <a:rPr lang="en-US" sz="800" b="1"/>
              <a:t>(</a:t>
            </a:r>
            <a:r>
              <a:rPr lang="en-US" sz="800" b="1">
                <a:hlinkClick r:id="" action="ppaction://noaction"/>
              </a:rPr>
              <a:t>Back to Top</a:t>
            </a:r>
            <a:r>
              <a:rPr lang="en-US" sz="800" b="1"/>
              <a:t>)</a:t>
            </a:r>
          </a:p>
          <a:p>
            <a:pPr eaLnBrk="1" hangingPunct="1">
              <a:lnSpc>
                <a:spcPct val="80000"/>
              </a:lnSpc>
            </a:pPr>
            <a:r>
              <a:rPr lang="en-US" sz="800" b="1"/>
              <a:t>Emotional and Behavioral Impact</a:t>
            </a:r>
          </a:p>
          <a:p>
            <a:pPr eaLnBrk="1" hangingPunct="1">
              <a:lnSpc>
                <a:spcPct val="80000"/>
              </a:lnSpc>
            </a:pPr>
            <a:r>
              <a:rPr lang="en-US" sz="800" b="1"/>
              <a:t>New brain imaging technologies, research with animals, and studies of human growth in optimal and deprived conditions (such as institutions) continue to shed light on the impact of abuse and neglect on brain development. The sections below describe some of the major effects.</a:t>
            </a:r>
          </a:p>
          <a:p>
            <a:pPr eaLnBrk="1" hangingPunct="1">
              <a:lnSpc>
                <a:spcPct val="80000"/>
              </a:lnSpc>
            </a:pPr>
            <a:r>
              <a:rPr lang="en-US" sz="800" b="1"/>
              <a:t>Persistent Fear Response. Chronic stress or repeated traumas can result in a number of biological reactions, including a persistent fear state (Perry, 2006). Neurochemical systems are affected, which can cause a cascade of changes in attention, impulse control, sleep, and fine motor control (Perry, 2000a; 2000b). Chronic activation of certain parts of the brain involved in the fear response (such as the hypothalamic-pituitary-adrenal [HPA] axis) can "wear out" other parts of the brain such as the hippocampus, which is involved in cognition and memory (Perry, 2000b). The HPA axis may react to chronic fear or stress by producing excess cortisol—a hormone that may damage or destroy neurons in critical brain areas (Putnam, 2006). Chronic activation of the neuronal pathways involved in the fear response can create permanent memories that shape the child's perception of and response to the environment. While this adaptation may be necessary for survival in a hostile world, it can become a way of life that is difficult to change, even if the environment improves.</a:t>
            </a:r>
          </a:p>
          <a:p>
            <a:pPr eaLnBrk="1" hangingPunct="1">
              <a:lnSpc>
                <a:spcPct val="80000"/>
              </a:lnSpc>
            </a:pPr>
            <a:r>
              <a:rPr lang="en-US" sz="800" b="1"/>
              <a:t>Hyperarousal. When children are exposed to chronic, traumatic stress, their brains sensitize the pathways for the fear response and create memories that automatically trigger that response without conscious thought. This is called </a:t>
            </a:r>
            <a:r>
              <a:rPr lang="en-US" sz="800" b="1" i="1"/>
              <a:t>hyperarousal</a:t>
            </a:r>
            <a:r>
              <a:rPr lang="en-US" sz="800" b="1"/>
              <a:t>. These children have an altered baseline for arousal, and they tend to overreact to triggers that other children find nonthreatening (Child Trauma Academy, n.d.). These children may be highly sensitive to nonverbal cues, such as eye contact or a touch on the arm, and they may read these actions as threats. Consumed with a need to monitor nonverbal cues for threats, their brains are less able to interpret and respond to verbal cues, even when they are in a supposedly nonthreatening environment, like a classroom. While these children are often labeled as learning disabled, the reality is that their brains have developed so that they are constantly alert and are unable to achieve the relative calm necessary for learning (Child Trauma Academy, n.d.).</a:t>
            </a:r>
          </a:p>
          <a:p>
            <a:pPr eaLnBrk="1" hangingPunct="1">
              <a:lnSpc>
                <a:spcPct val="80000"/>
              </a:lnSpc>
            </a:pPr>
            <a:r>
              <a:rPr lang="en-US" sz="800" b="1"/>
              <a:t>Dissociation. Infants or children who are the victims of repeated abuse may respond to that abuse—and later in life to other unpleasantness—by mentally and emotionally removing themselves from the situation. This coping mechanism of </a:t>
            </a:r>
            <a:r>
              <a:rPr lang="en-US" sz="800" b="1" i="1"/>
              <a:t>dissociation</a:t>
            </a:r>
            <a:r>
              <a:rPr lang="en-US" sz="800" b="1"/>
              <a:t> allows the child to pretend that what is happening is not real. Children who "zone out" or often seem overly detached may be experiencing dissociation. In some cases, it may be a form of self-hypnosis (Stien &amp; Kendall, 2004). Dissociation is characterized by first attempting to bring caretakers to help, and if this is unsuccessful, becoming motionless (freezing) and compliant and, eventually, dissociating. Dissociation may be a reaction to childhood sexual abuse, as well as other kinds of active, physical abuse or trauma. Children who suffer from dissociation may retreat to the dissociative state when they encounter other stresses later in life.</a:t>
            </a:r>
          </a:p>
          <a:p>
            <a:pPr eaLnBrk="1" hangingPunct="1">
              <a:lnSpc>
                <a:spcPct val="80000"/>
              </a:lnSpc>
            </a:pPr>
            <a:r>
              <a:rPr lang="en-US" sz="800" b="1"/>
              <a:t>This type of response may have implications for the child's memory creation and retention. The brain may use dissociation to smother the memories of a parent's abuse in order to preserve an attachment to the parent, resulting in amnesia for the abuse (Stien &amp; Kendall, 2004). However, the implicit memories of the abuse remain, and the child may experience them in response to triggers or as flashbacks or nightmares. In its most extreme form, the child may develop multiple personalities, known as dissociative identity disorder.</a:t>
            </a:r>
          </a:p>
          <a:p>
            <a:pPr eaLnBrk="1" hangingPunct="1">
              <a:lnSpc>
                <a:spcPct val="80000"/>
              </a:lnSpc>
            </a:pPr>
            <a:r>
              <a:rPr lang="en-US" sz="800" b="1"/>
              <a:t>Disrupted Attachment Process. At the foundation of much of our development is the concept of attachment, which refers to the emotional relationships we have with other people. An infant's early attachment to his or her primary caregiver provides the foundation for future emotional relationships. It also provides the base for other learning, because babies and children learn best when they feel safe, calm, protected, and nurtured by their caregivers. If the attachment process is disrupted or never allowed to develop in a healthy manner, as can occur with abusive and neglectful caretakers, the child's brain will be more focused on meeting the child's day-to-day needs for survival rather than building the foundation for future growth (Applegate &amp; Shapiro, 2005).</a:t>
            </a:r>
          </a:p>
          <a:p>
            <a:pPr eaLnBrk="1" hangingPunct="1">
              <a:lnSpc>
                <a:spcPct val="80000"/>
              </a:lnSpc>
            </a:pPr>
            <a:r>
              <a:rPr lang="en-US" sz="800" b="1"/>
              <a:t>Disrupted attachment may lead to impairments in three major areas for the developing child (Cook et al., 2005):</a:t>
            </a:r>
            <a:endParaRPr lang="en-US" sz="800"/>
          </a:p>
          <a:p>
            <a:pPr eaLnBrk="1" hangingPunct="1">
              <a:lnSpc>
                <a:spcPct val="80000"/>
              </a:lnSpc>
            </a:pPr>
            <a:r>
              <a:rPr lang="en-US" sz="800" b="1"/>
              <a:t>Increased susceptibility to stress </a:t>
            </a:r>
          </a:p>
          <a:p>
            <a:pPr eaLnBrk="1" hangingPunct="1">
              <a:lnSpc>
                <a:spcPct val="80000"/>
              </a:lnSpc>
            </a:pPr>
            <a:r>
              <a:rPr lang="en-US" sz="800" b="1"/>
              <a:t>Excessive help-seeking and dependency or excessive social isolation </a:t>
            </a:r>
          </a:p>
          <a:p>
            <a:pPr eaLnBrk="1" hangingPunct="1">
              <a:lnSpc>
                <a:spcPct val="80000"/>
              </a:lnSpc>
            </a:pPr>
            <a:r>
              <a:rPr lang="en-US" sz="800" b="1"/>
              <a:t>Inability to regulate emotions</a:t>
            </a:r>
          </a:p>
          <a:p>
            <a:pPr eaLnBrk="1" hangingPunct="1">
              <a:lnSpc>
                <a:spcPct val="80000"/>
              </a:lnSpc>
            </a:pPr>
            <a:r>
              <a:rPr lang="en-US" sz="800" b="1"/>
              <a:t>Young infants depend on positive interactions with caregivers to begin to develop appropriate emotional control and response (affect regulation) (Applegate &amp; Shapiro, 2005). For instance, lots of appropriate face-to-face and other contact helps infants recognize and respond to emotional cues. Infants whose caregivers are neglectful or abusive may experience affect dysregulation—meaning that these children are not able to identify and respond appropriately to emotional cues (Applegate &amp; Shapiro, 2005). Ongoing maltreatment may result in insecure or anxious attachment because the child is not able to derive a feeling of security and consistency from the caregiver. Children who have experienced insecure or anxious attachments may have more difficulties regulating their emotions and showing empathy for others' feelings (Applegate &amp; Shapiro, 2005). These children may have difficulties forming attachments later in life as well.</a:t>
            </a:r>
          </a:p>
          <a:p>
            <a:pPr eaLnBrk="1" hangingPunct="1">
              <a:lnSpc>
                <a:spcPct val="80000"/>
              </a:lnSpc>
            </a:pPr>
            <a:r>
              <a:rPr lang="en-US" sz="800" b="1"/>
              <a:t>(</a:t>
            </a:r>
            <a:r>
              <a:rPr lang="en-US" sz="800" b="1">
                <a:hlinkClick r:id="" action="ppaction://noaction"/>
              </a:rPr>
              <a:t>Back to Top</a:t>
            </a:r>
            <a:r>
              <a:rPr lang="en-US" sz="800" b="1"/>
              <a:t>)</a:t>
            </a:r>
          </a:p>
          <a:p>
            <a:pPr eaLnBrk="1" hangingPunct="1">
              <a:lnSpc>
                <a:spcPct val="80000"/>
              </a:lnSpc>
            </a:pPr>
            <a:r>
              <a:rPr lang="en-US" sz="800" b="1"/>
              <a:t>Impact of Abuse and Neglect on Adolescents</a:t>
            </a:r>
          </a:p>
          <a:p>
            <a:pPr eaLnBrk="1" hangingPunct="1">
              <a:lnSpc>
                <a:spcPct val="80000"/>
              </a:lnSpc>
            </a:pPr>
            <a:r>
              <a:rPr lang="en-US" sz="800" b="1"/>
              <a:t>Adolescents who are abused or neglected were often maltreated at younger ages, as well. It can be difficult to isolate the effects of abuse and neglect during the adolescent years, because these youth often suffer from the cumulative effects of a lifetime of abuse and neglect.</a:t>
            </a:r>
          </a:p>
          <a:p>
            <a:pPr eaLnBrk="1" hangingPunct="1">
              <a:lnSpc>
                <a:spcPct val="80000"/>
              </a:lnSpc>
            </a:pPr>
            <a:r>
              <a:rPr lang="en-US" sz="800" b="1"/>
              <a:t>Most teenagers who have not been victims of abuse or neglect find their teenage years to be exciting and challenging. Normal puberty and adolescence lead to the maturation of a physical body, but the brain lags behind in development, especially in the areas that allow teenagers to reason and think logically. Most teenagers act impulsively at times, using a lower area of their brain—their "gut reaction"—because their frontal lobe is not yet mature. Impulsive behavior, poor decisions, and increased risk-taking are all part of the normal teenage experience.</a:t>
            </a:r>
          </a:p>
          <a:p>
            <a:pPr eaLnBrk="1" hangingPunct="1">
              <a:lnSpc>
                <a:spcPct val="80000"/>
              </a:lnSpc>
            </a:pPr>
            <a:r>
              <a:rPr lang="en-US" sz="800" b="1"/>
              <a:t>For teens who have been abused, neglected, or traumatized, this impulsive behavior may be even more apparent. Often, these youth have developed brains that focus on survival, at the expense of the more advanced thinking that happens in the brain's cortex (Chamberlain, 2009). An underdeveloped cortex can lead to increased impulsive behavior, as well as difficulties with tasks that require higher-level thinking and feeling. These teens may show delays in school and in social skills as well (Chamberlain, 2009). They may be more drawn to taking risks, and they may have more opportunity to experiment with drugs and crime if they live in environments that put them at increased risk for these behaviors. Teenagers who lack stable relationships with caring adults who can provide guidance and model appropriate behavior may never have the opportunity to develop the relationship skills necessary for healthy adult relationships or for becoming good parents.</a:t>
            </a:r>
          </a:p>
          <a:p>
            <a:pPr eaLnBrk="1" hangingPunct="1">
              <a:lnSpc>
                <a:spcPct val="80000"/>
              </a:lnSpc>
            </a:pPr>
            <a:r>
              <a:rPr lang="en-US" sz="800" b="1"/>
              <a:t>(</a:t>
            </a:r>
            <a:r>
              <a:rPr lang="en-US" sz="800" b="1">
                <a:hlinkClick r:id="" action="ppaction://noaction"/>
              </a:rPr>
              <a:t>Back to Top</a:t>
            </a:r>
            <a:r>
              <a:rPr lang="en-US" sz="800" b="1"/>
              <a:t>)</a:t>
            </a:r>
          </a:p>
          <a:p>
            <a:pPr eaLnBrk="1" hangingPunct="1">
              <a:lnSpc>
                <a:spcPct val="80000"/>
              </a:lnSpc>
            </a:pPr>
            <a:r>
              <a:rPr lang="en-US" sz="800" b="1"/>
              <a:t>Long-Term Effects of Abuse and Neglect</a:t>
            </a:r>
          </a:p>
          <a:p>
            <a:pPr eaLnBrk="1" hangingPunct="1">
              <a:lnSpc>
                <a:spcPct val="80000"/>
              </a:lnSpc>
            </a:pPr>
            <a:r>
              <a:rPr lang="en-US" sz="800" b="1"/>
              <a:t>Maltreatment during infancy and early childhood can have enduring repercussions into adolescence and adulthood. As mentioned earlier, the experiences of infancy and early childhood provide the organizing framework for the expression of children's intelligence, emotions, and personalities. When those experiences are primarily negative, children may develop emotional, behavioral, and learning problems that persist throughout their lifetime, especially in the absence of targeted interventions. The Adverse Childhood Experiences (ACE) study is a large-scale, long-term study that has documented the link between childhood abuse and neglect and later adverse experiences, such as physical and mental illness and high-risk behaviors (Centers for Disease Control and Prevention, n.d.).</a:t>
            </a:r>
          </a:p>
          <a:p>
            <a:pPr eaLnBrk="1" hangingPunct="1">
              <a:lnSpc>
                <a:spcPct val="80000"/>
              </a:lnSpc>
            </a:pPr>
            <a:r>
              <a:rPr lang="en-US" sz="800" b="1"/>
              <a:t>Some of the specific long-term effects of abuse and neglect on the developing brain can include (Teicher, 2000):</a:t>
            </a:r>
            <a:endParaRPr lang="en-US" sz="800"/>
          </a:p>
          <a:p>
            <a:pPr eaLnBrk="1" hangingPunct="1">
              <a:lnSpc>
                <a:spcPct val="80000"/>
              </a:lnSpc>
            </a:pPr>
            <a:r>
              <a:rPr lang="en-US" sz="800" b="1"/>
              <a:t>Diminished growth in the left hemisphere, which may increase the risk for depression </a:t>
            </a:r>
          </a:p>
          <a:p>
            <a:pPr eaLnBrk="1" hangingPunct="1">
              <a:lnSpc>
                <a:spcPct val="80000"/>
              </a:lnSpc>
            </a:pPr>
            <a:r>
              <a:rPr lang="en-US" sz="800" b="1"/>
              <a:t>Irritability in the limbic system, setting the stage for the emergence of panic disorder and posttraumatic stress disorder </a:t>
            </a:r>
          </a:p>
          <a:p>
            <a:pPr eaLnBrk="1" hangingPunct="1">
              <a:lnSpc>
                <a:spcPct val="80000"/>
              </a:lnSpc>
            </a:pPr>
            <a:r>
              <a:rPr lang="en-US" sz="800" b="1"/>
              <a:t>Smaller growth in the hippocampus and limbic abnormalities, which can increase the risk for dissociative disorders and memory impairments </a:t>
            </a:r>
          </a:p>
          <a:p>
            <a:pPr eaLnBrk="1" hangingPunct="1">
              <a:lnSpc>
                <a:spcPct val="80000"/>
              </a:lnSpc>
            </a:pPr>
            <a:r>
              <a:rPr lang="en-US" sz="800" b="1"/>
              <a:t>Impairment in the connection between the two brain hemispheres, which has been linked to symptoms of attention-deficit/hyperactivity disorder</a:t>
            </a:r>
          </a:p>
          <a:p>
            <a:pPr eaLnBrk="1" hangingPunct="1">
              <a:lnSpc>
                <a:spcPct val="80000"/>
              </a:lnSpc>
            </a:pPr>
            <a:r>
              <a:rPr lang="en-US" sz="800" b="1"/>
              <a:t>(</a:t>
            </a:r>
            <a:r>
              <a:rPr lang="en-US" sz="800" b="1">
                <a:hlinkClick r:id="" action="ppaction://noaction"/>
              </a:rPr>
              <a:t>Back to Top</a:t>
            </a:r>
            <a:r>
              <a:rPr lang="en-US" sz="800" b="1"/>
              <a:t>)</a:t>
            </a:r>
            <a:endParaRPr lang="en-US" sz="800"/>
          </a:p>
          <a:p>
            <a:pPr eaLnBrk="1" hangingPunct="1">
              <a:lnSpc>
                <a:spcPct val="80000"/>
              </a:lnSpc>
            </a:pPr>
            <a:r>
              <a:rPr lang="en-US" sz="800">
                <a:hlinkClick r:id="rId5"/>
              </a:rPr>
              <a:t>  previous </a:t>
            </a:r>
            <a:r>
              <a:rPr lang="en-US" sz="800" i="1"/>
              <a:t>You are in section:</a:t>
            </a:r>
            <a:br>
              <a:rPr lang="en-US" sz="800" i="1"/>
            </a:br>
            <a:r>
              <a:rPr lang="en-US" sz="800">
                <a:hlinkClick r:id="rId6"/>
              </a:rPr>
              <a:t>next   </a:t>
            </a:r>
            <a:endParaRPr lang="en-US" sz="800"/>
          </a:p>
          <a:p>
            <a:pPr eaLnBrk="1" hangingPunct="1">
              <a:lnSpc>
                <a:spcPct val="80000"/>
              </a:lnSpc>
            </a:pPr>
            <a:r>
              <a:rPr lang="en-US" sz="800" b="1" i="1"/>
              <a:t>This material may be freely reproduced and distributed. However, when doing so, please credit Child Welfare Information Gateway</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p:spPr>
        <p:txBody>
          <a:bodyPr/>
          <a:lstStyle/>
          <a:p>
            <a:fld id="{537727D1-4C1D-9146-9BB2-A48C2BFF08E8}" type="slidenum">
              <a:rPr lang="en-GB" smtClean="0"/>
              <a:pPr/>
              <a:t>7</a:t>
            </a:fld>
            <a:endParaRPr lang="en-GB" smtClean="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p:spPr>
        <p:txBody>
          <a:bodyPr/>
          <a:lstStyle/>
          <a:p>
            <a:fld id="{DF1A1C9D-911E-C242-BBB5-0D4867621404}" type="slidenum">
              <a:rPr lang="en-GB"/>
              <a:pPr/>
              <a:t>8</a:t>
            </a:fld>
            <a:endParaRPr lang="en-GB"/>
          </a:p>
        </p:txBody>
      </p:sp>
      <p:sp>
        <p:nvSpPr>
          <p:cNvPr id="27651" name="Rectangle 2"/>
          <p:cNvSpPr>
            <a:spLocks noGrp="1" noRot="1" noChangeAspect="1" noChangeArrowheads="1" noTextEdit="1"/>
          </p:cNvSpPr>
          <p:nvPr>
            <p:ph type="sldImg"/>
          </p:nvPr>
        </p:nvSpPr>
        <p:spPr>
          <a:ln/>
        </p:spPr>
      </p:sp>
      <p:sp>
        <p:nvSpPr>
          <p:cNvPr id="2765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p>
            <a:fld id="{93085C24-EEEB-3C44-9D87-DD7001D80E66}" type="slidenum">
              <a:rPr lang="en-GB"/>
              <a:pPr/>
              <a:t>9</a:t>
            </a:fld>
            <a:endParaRPr lang="en-GB"/>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p:spPr>
        <p:txBody>
          <a:bodyPr/>
          <a:lstStyle/>
          <a:p>
            <a:fld id="{426BD552-D3F6-BF4E-B60E-C131E3AED65B}" type="slidenum">
              <a:rPr lang="en-GB"/>
              <a:pPr/>
              <a:t>10</a:t>
            </a:fld>
            <a:endParaRPr lang="en-GB"/>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p:spPr>
        <p:txBody>
          <a:bodyPr/>
          <a:lstStyle/>
          <a:p>
            <a:fld id="{D1D18CD2-E381-0141-A147-072156B2E481}" type="slidenum">
              <a:rPr lang="en-GB" smtClean="0"/>
              <a:pPr/>
              <a:t>11</a:t>
            </a:fld>
            <a:endParaRPr lang="en-GB" smtClean="0"/>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p:spPr>
        <p:txBody>
          <a:bodyPr/>
          <a:lstStyle/>
          <a:p>
            <a:fld id="{16AB6E0F-0C69-CA4F-B992-52034653419C}" type="slidenum">
              <a:rPr lang="en-GB"/>
              <a:pPr/>
              <a:t>12</a:t>
            </a:fld>
            <a:endParaRPr lang="en-GB"/>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p:spPr>
        <p:txBody>
          <a:bodyPr/>
          <a:lstStyle/>
          <a:p>
            <a:fld id="{E3C20824-113E-2E48-981A-A3B4B0EC6BD2}" type="slidenum">
              <a:rPr lang="en-GB"/>
              <a:pPr/>
              <a:t>13</a:t>
            </a:fld>
            <a:endParaRPr lang="en-GB"/>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p:spPr>
        <p:txBody>
          <a:bodyPr/>
          <a:lstStyle/>
          <a:p>
            <a:fld id="{1E667E84-7B7F-3E47-A31B-FDECF7EC52A4}" type="slidenum">
              <a:rPr lang="en-GB"/>
              <a:pPr/>
              <a:t>14</a:t>
            </a:fld>
            <a:endParaRPr lang="en-GB"/>
          </a:p>
        </p:txBody>
      </p:sp>
      <p:sp>
        <p:nvSpPr>
          <p:cNvPr id="39939" name="Rectangle 2"/>
          <p:cNvSpPr>
            <a:spLocks noGrp="1" noRot="1" noChangeAspect="1" noChangeArrowheads="1" noTextEdit="1"/>
          </p:cNvSpPr>
          <p:nvPr>
            <p:ph type="sldImg"/>
          </p:nvPr>
        </p:nvSpPr>
        <p:spPr>
          <a:ln/>
        </p:spPr>
      </p:sp>
      <p:sp>
        <p:nvSpPr>
          <p:cNvPr id="3994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p:spPr>
        <p:txBody>
          <a:bodyPr/>
          <a:lstStyle/>
          <a:p>
            <a:fld id="{6749384E-66ED-1F40-88E7-B7F9F7B2A714}" type="slidenum">
              <a:rPr lang="en-GB"/>
              <a:pPr/>
              <a:t>15</a:t>
            </a:fld>
            <a:endParaRPr lang="en-GB"/>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p>
            <a:fld id="{3FB50CC3-9326-024B-AC2B-933579E907FB}" type="slidenum">
              <a:rPr lang="en-GB" smtClean="0"/>
              <a:pPr/>
              <a:t>16</a:t>
            </a:fld>
            <a:endParaRPr lang="en-GB" smtClean="0"/>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p:spPr>
        <p:txBody>
          <a:bodyPr/>
          <a:lstStyle/>
          <a:p>
            <a:fld id="{AB0BF78E-57A9-894C-AEF0-2A9481C7B2D7}" type="slidenum">
              <a:rPr lang="en-GB"/>
              <a:pPr/>
              <a:t>17</a:t>
            </a:fld>
            <a:endParaRPr lang="en-GB"/>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p:spPr>
        <p:txBody>
          <a:bodyPr/>
          <a:lstStyle/>
          <a:p>
            <a:fld id="{1B05E827-8B6F-E346-B693-24779AE70742}" type="slidenum">
              <a:rPr lang="en-GB"/>
              <a:pPr/>
              <a:t>18</a:t>
            </a:fld>
            <a:endParaRPr lang="en-GB"/>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p>
            <a:fld id="{3FB50CC3-9326-024B-AC2B-933579E907FB}" type="slidenum">
              <a:rPr lang="en-GB" smtClean="0"/>
              <a:pPr/>
              <a:t>19</a:t>
            </a:fld>
            <a:endParaRPr lang="en-GB" smtClean="0"/>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p:spPr>
        <p:txBody>
          <a:bodyPr/>
          <a:lstStyle/>
          <a:p>
            <a:fld id="{46F3E8FA-A893-D84B-B5B0-DD22C428951D}" type="slidenum">
              <a:rPr lang="en-GB"/>
              <a:pPr/>
              <a:t>34</a:t>
            </a:fld>
            <a:endParaRPr lang="en-GB"/>
          </a:p>
        </p:txBody>
      </p:sp>
      <p:sp>
        <p:nvSpPr>
          <p:cNvPr id="31747" name="Rectangle 7"/>
          <p:cNvSpPr txBox="1">
            <a:spLocks noGrp="1" noChangeArrowheads="1"/>
          </p:cNvSpPr>
          <p:nvPr/>
        </p:nvSpPr>
        <p:spPr bwMode="auto">
          <a:xfrm>
            <a:off x="5592225" y="6403838"/>
            <a:ext cx="4278154" cy="337106"/>
          </a:xfrm>
          <a:prstGeom prst="rect">
            <a:avLst/>
          </a:prstGeom>
          <a:noFill/>
          <a:ln w="9525">
            <a:noFill/>
            <a:miter lim="800000"/>
            <a:headEnd/>
            <a:tailEnd/>
          </a:ln>
        </p:spPr>
        <p:txBody>
          <a:bodyPr anchor="b">
            <a:prstTxWarp prst="textNoShape">
              <a:avLst/>
            </a:prstTxWarp>
          </a:bodyPr>
          <a:lstStyle/>
          <a:p>
            <a:pPr algn="r"/>
            <a:fld id="{EBF970FE-671C-954B-A5C3-8D9B526E45F2}" type="slidenum">
              <a:rPr lang="en-GB" sz="1200">
                <a:latin typeface="Times New Roman" charset="0"/>
              </a:rPr>
              <a:pPr algn="r"/>
              <a:t>34</a:t>
            </a:fld>
            <a:endParaRPr lang="en-GB" sz="1200">
              <a:latin typeface="Times New Roman" charset="0"/>
            </a:endParaRPr>
          </a:p>
        </p:txBody>
      </p:sp>
      <p:sp>
        <p:nvSpPr>
          <p:cNvPr id="31748" name="Rectangle 2"/>
          <p:cNvSpPr>
            <a:spLocks noGrp="1" noRot="1" noChangeAspect="1" noChangeArrowheads="1" noTextEdit="1"/>
          </p:cNvSpPr>
          <p:nvPr>
            <p:ph type="sldImg"/>
          </p:nvPr>
        </p:nvSpPr>
        <p:spPr>
          <a:ln/>
        </p:spPr>
      </p:sp>
      <p:sp>
        <p:nvSpPr>
          <p:cNvPr id="31749"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GB" smtClean="0"/>
              <a:t>Click to edit Master subtitle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idx="1"/>
          </p:nvPr>
        </p:nvSpPr>
        <p:spPr/>
        <p:txBody>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GB"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GB"/>
              <a:t>Click to edit Master text styles</a:t>
            </a:r>
          </a:p>
        </p:txBody>
      </p:sp>
      <p:grpSp>
        <p:nvGrpSpPr>
          <p:cNvPr id="1028" name="Group 7"/>
          <p:cNvGrpSpPr>
            <a:grpSpLocks/>
          </p:cNvGrpSpPr>
          <p:nvPr userDrawn="1"/>
        </p:nvGrpSpPr>
        <p:grpSpPr bwMode="auto">
          <a:xfrm>
            <a:off x="0" y="0"/>
            <a:ext cx="9144000" cy="6537325"/>
            <a:chOff x="0" y="0"/>
            <a:chExt cx="5760" cy="4118"/>
          </a:xfrm>
        </p:grpSpPr>
        <p:pic>
          <p:nvPicPr>
            <p:cNvPr id="1029" name="Picture 8" descr="blocksrgb"/>
            <p:cNvPicPr>
              <a:picLocks noChangeAspect="1" noChangeArrowheads="1"/>
            </p:cNvPicPr>
            <p:nvPr/>
          </p:nvPicPr>
          <p:blipFill>
            <a:blip r:embed="rId13"/>
            <a:srcRect/>
            <a:stretch>
              <a:fillRect/>
            </a:stretch>
          </p:blipFill>
          <p:spPr bwMode="auto">
            <a:xfrm>
              <a:off x="4604" y="3430"/>
              <a:ext cx="975" cy="688"/>
            </a:xfrm>
            <a:prstGeom prst="rect">
              <a:avLst/>
            </a:prstGeom>
            <a:noFill/>
            <a:ln w="9525">
              <a:noFill/>
              <a:miter lim="800000"/>
              <a:headEnd/>
              <a:tailEnd/>
            </a:ln>
          </p:spPr>
        </p:pic>
        <p:sp>
          <p:nvSpPr>
            <p:cNvPr id="1033" name="Rectangle 9"/>
            <p:cNvSpPr>
              <a:spLocks noChangeArrowheads="1"/>
            </p:cNvSpPr>
            <p:nvPr/>
          </p:nvSpPr>
          <p:spPr bwMode="auto">
            <a:xfrm>
              <a:off x="0" y="0"/>
              <a:ext cx="5760" cy="336"/>
            </a:xfrm>
            <a:prstGeom prst="rect">
              <a:avLst/>
            </a:prstGeom>
            <a:solidFill>
              <a:srgbClr val="6D2FAB"/>
            </a:solidFill>
            <a:ln w="0">
              <a:noFill/>
              <a:miter lim="800000"/>
              <a:headEnd/>
              <a:tailEnd/>
            </a:ln>
          </p:spPr>
          <p:txBody>
            <a:bodyPr wrap="none" anchor="ctr">
              <a:prstTxWarp prst="textNoShape">
                <a:avLst/>
              </a:prstTxWarp>
            </a:bodyPr>
            <a:lstStyle/>
            <a:p>
              <a:pPr>
                <a:defRPr/>
              </a:pPr>
              <a:endParaRPr lang="en-US"/>
            </a:p>
          </p:txBody>
        </p:sp>
        <p:sp>
          <p:nvSpPr>
            <p:cNvPr id="1034" name="Text Box 10"/>
            <p:cNvSpPr txBox="1">
              <a:spLocks noChangeArrowheads="1"/>
            </p:cNvSpPr>
            <p:nvPr/>
          </p:nvSpPr>
          <p:spPr bwMode="auto">
            <a:xfrm>
              <a:off x="0" y="79"/>
              <a:ext cx="5760" cy="192"/>
            </a:xfrm>
            <a:prstGeom prst="rect">
              <a:avLst/>
            </a:prstGeom>
            <a:noFill/>
            <a:ln w="9525">
              <a:noFill/>
              <a:miter lim="800000"/>
              <a:headEnd/>
              <a:tailEnd/>
            </a:ln>
          </p:spPr>
          <p:txBody>
            <a:bodyPr>
              <a:prstTxWarp prst="textNoShape">
                <a:avLst/>
              </a:prstTxWarp>
              <a:spAutoFit/>
            </a:bodyPr>
            <a:lstStyle/>
            <a:p>
              <a:pPr algn="ctr" eaLnBrk="0" hangingPunct="0">
                <a:defRPr/>
              </a:pPr>
              <a:r>
                <a:rPr lang="en-US" sz="1400">
                  <a:solidFill>
                    <a:schemeClr val="bg1"/>
                  </a:solidFill>
                  <a:latin typeface="Arial Black" charset="0"/>
                  <a:ea typeface="ＭＳ Ｐゴシック" charset="-128"/>
                  <a:cs typeface="ＭＳ Ｐゴシック" charset="-128"/>
                </a:rPr>
                <a:t>E D U C A T I O N A L   P S Y C H O L O G Y   S E R V I C E</a:t>
              </a:r>
            </a:p>
          </p:txBody>
        </p:sp>
        <p:pic>
          <p:nvPicPr>
            <p:cNvPr id="1032" name="Picture 11" descr="Image windsor and Maidenhead"/>
            <p:cNvPicPr>
              <a:picLocks noChangeAspect="1" noChangeArrowheads="1"/>
            </p:cNvPicPr>
            <p:nvPr/>
          </p:nvPicPr>
          <p:blipFill>
            <a:blip r:embed="rId14"/>
            <a:srcRect/>
            <a:stretch>
              <a:fillRect/>
            </a:stretch>
          </p:blipFill>
          <p:spPr bwMode="auto">
            <a:xfrm>
              <a:off x="5441" y="0"/>
              <a:ext cx="319" cy="384"/>
            </a:xfrm>
            <a:prstGeom prst="rect">
              <a:avLst/>
            </a:prstGeom>
            <a:noFill/>
            <a:ln w="3175">
              <a:noFill/>
              <a:miter lim="800000"/>
              <a:headEnd/>
              <a:tailEnd/>
            </a:ln>
          </p:spPr>
        </p:pic>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b="1">
          <a:solidFill>
            <a:schemeClr val="tx2"/>
          </a:solidFill>
          <a:latin typeface="+mj-lt"/>
          <a:ea typeface="ＭＳ Ｐゴシック" charset="-128"/>
          <a:cs typeface="ＭＳ Ｐゴシック" charset="-128"/>
        </a:defRPr>
      </a:lvl1pPr>
      <a:lvl2pPr algn="ctr" rtl="0" eaLnBrk="0" fontAlgn="base" hangingPunct="0">
        <a:spcBef>
          <a:spcPct val="0"/>
        </a:spcBef>
        <a:spcAft>
          <a:spcPct val="0"/>
        </a:spcAft>
        <a:defRPr sz="4400" b="1">
          <a:solidFill>
            <a:schemeClr val="tx2"/>
          </a:solidFill>
          <a:latin typeface="Arial" charset="0"/>
          <a:ea typeface="ＭＳ Ｐゴシック" charset="-128"/>
          <a:cs typeface="ＭＳ Ｐゴシック" charset="-128"/>
        </a:defRPr>
      </a:lvl2pPr>
      <a:lvl3pPr algn="ctr" rtl="0" eaLnBrk="0" fontAlgn="base" hangingPunct="0">
        <a:spcBef>
          <a:spcPct val="0"/>
        </a:spcBef>
        <a:spcAft>
          <a:spcPct val="0"/>
        </a:spcAft>
        <a:defRPr sz="4400" b="1">
          <a:solidFill>
            <a:schemeClr val="tx2"/>
          </a:solidFill>
          <a:latin typeface="Arial" charset="0"/>
          <a:ea typeface="ＭＳ Ｐゴシック" charset="-128"/>
          <a:cs typeface="ＭＳ Ｐゴシック" charset="-128"/>
        </a:defRPr>
      </a:lvl3pPr>
      <a:lvl4pPr algn="ctr" rtl="0" eaLnBrk="0" fontAlgn="base" hangingPunct="0">
        <a:spcBef>
          <a:spcPct val="0"/>
        </a:spcBef>
        <a:spcAft>
          <a:spcPct val="0"/>
        </a:spcAft>
        <a:defRPr sz="4400" b="1">
          <a:solidFill>
            <a:schemeClr val="tx2"/>
          </a:solidFill>
          <a:latin typeface="Arial" charset="0"/>
          <a:ea typeface="ＭＳ Ｐゴシック" charset="-128"/>
          <a:cs typeface="ＭＳ Ｐゴシック" charset="-128"/>
        </a:defRPr>
      </a:lvl4pPr>
      <a:lvl5pPr algn="ctr" rtl="0" eaLnBrk="0" fontAlgn="base" hangingPunct="0">
        <a:spcBef>
          <a:spcPct val="0"/>
        </a:spcBef>
        <a:spcAft>
          <a:spcPct val="0"/>
        </a:spcAft>
        <a:defRPr sz="4400" b="1">
          <a:solidFill>
            <a:schemeClr val="tx2"/>
          </a:solidFill>
          <a:latin typeface="Arial" charset="0"/>
          <a:ea typeface="ＭＳ Ｐゴシック" charset="-128"/>
          <a:cs typeface="ＭＳ Ｐゴシック" charset="-128"/>
        </a:defRPr>
      </a:lvl5pPr>
      <a:lvl6pPr marL="457200" algn="ctr" rtl="0" fontAlgn="base">
        <a:spcBef>
          <a:spcPct val="0"/>
        </a:spcBef>
        <a:spcAft>
          <a:spcPct val="0"/>
        </a:spcAft>
        <a:defRPr sz="4400" b="1">
          <a:solidFill>
            <a:schemeClr val="tx2"/>
          </a:solidFill>
          <a:latin typeface="Arial" charset="0"/>
        </a:defRPr>
      </a:lvl6pPr>
      <a:lvl7pPr marL="914400" algn="ctr" rtl="0" fontAlgn="base">
        <a:spcBef>
          <a:spcPct val="0"/>
        </a:spcBef>
        <a:spcAft>
          <a:spcPct val="0"/>
        </a:spcAft>
        <a:defRPr sz="4400" b="1">
          <a:solidFill>
            <a:schemeClr val="tx2"/>
          </a:solidFill>
          <a:latin typeface="Arial" charset="0"/>
        </a:defRPr>
      </a:lvl7pPr>
      <a:lvl8pPr marL="1371600" algn="ctr" rtl="0" fontAlgn="base">
        <a:spcBef>
          <a:spcPct val="0"/>
        </a:spcBef>
        <a:spcAft>
          <a:spcPct val="0"/>
        </a:spcAft>
        <a:defRPr sz="4400" b="1">
          <a:solidFill>
            <a:schemeClr val="tx2"/>
          </a:solidFill>
          <a:latin typeface="Arial" charset="0"/>
        </a:defRPr>
      </a:lvl8pPr>
      <a:lvl9pPr marL="1828800" algn="ctr" rtl="0" fontAlgn="base">
        <a:spcBef>
          <a:spcPct val="0"/>
        </a:spcBef>
        <a:spcAft>
          <a:spcPct val="0"/>
        </a:spcAft>
        <a:defRPr sz="4400" b="1">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ＭＳ Ｐゴシック" charset="-128"/>
          <a:cs typeface="ＭＳ Ｐゴシック" charset="-128"/>
        </a:defRPr>
      </a:lvl1pPr>
      <a:lvl2pPr marL="742950" indent="-285750" algn="l" rtl="0" eaLnBrk="0" fontAlgn="base" hangingPunct="0">
        <a:spcBef>
          <a:spcPct val="20000"/>
        </a:spcBef>
        <a:spcAft>
          <a:spcPct val="0"/>
        </a:spcAft>
        <a:buChar char="–"/>
        <a:defRPr sz="2800">
          <a:solidFill>
            <a:schemeClr val="tx1"/>
          </a:solidFill>
          <a:latin typeface="+mn-lt"/>
          <a:ea typeface="ＭＳ Ｐゴシック" charset="-128"/>
        </a:defRPr>
      </a:lvl2pPr>
      <a:lvl3pPr marL="1143000" indent="-228600" algn="l" rtl="0" eaLnBrk="0" fontAlgn="base" hangingPunct="0">
        <a:spcBef>
          <a:spcPct val="20000"/>
        </a:spcBef>
        <a:spcAft>
          <a:spcPct val="0"/>
        </a:spcAft>
        <a:buChar char="•"/>
        <a:defRPr sz="2400">
          <a:solidFill>
            <a:schemeClr val="tx1"/>
          </a:solidFill>
          <a:latin typeface="+mn-lt"/>
          <a:ea typeface="ＭＳ Ｐゴシック" charset="-128"/>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128"/>
        </a:defRPr>
      </a:lvl5pPr>
      <a:lvl6pPr marL="2514600" indent="-228600" algn="l" rtl="0" fontAlgn="base">
        <a:spcBef>
          <a:spcPct val="20000"/>
        </a:spcBef>
        <a:spcAft>
          <a:spcPct val="0"/>
        </a:spcAft>
        <a:buChar char="»"/>
        <a:defRPr sz="2000">
          <a:solidFill>
            <a:schemeClr val="tx1"/>
          </a:solidFill>
          <a:latin typeface="+mn-lt"/>
          <a:ea typeface="ＭＳ Ｐゴシック" charset="-128"/>
        </a:defRPr>
      </a:lvl6pPr>
      <a:lvl7pPr marL="2971800" indent="-228600" algn="l" rtl="0" fontAlgn="base">
        <a:spcBef>
          <a:spcPct val="20000"/>
        </a:spcBef>
        <a:spcAft>
          <a:spcPct val="0"/>
        </a:spcAft>
        <a:buChar char="»"/>
        <a:defRPr sz="2000">
          <a:solidFill>
            <a:schemeClr val="tx1"/>
          </a:solidFill>
          <a:latin typeface="+mn-lt"/>
          <a:ea typeface="ＭＳ Ｐゴシック" charset="-128"/>
        </a:defRPr>
      </a:lvl7pPr>
      <a:lvl8pPr marL="3429000" indent="-228600" algn="l" rtl="0" fontAlgn="base">
        <a:spcBef>
          <a:spcPct val="20000"/>
        </a:spcBef>
        <a:spcAft>
          <a:spcPct val="0"/>
        </a:spcAft>
        <a:buChar char="»"/>
        <a:defRPr sz="2000">
          <a:solidFill>
            <a:schemeClr val="tx1"/>
          </a:solidFill>
          <a:latin typeface="+mn-lt"/>
          <a:ea typeface="ＭＳ Ｐゴシック" charset="-128"/>
        </a:defRPr>
      </a:lvl8pPr>
      <a:lvl9pPr marL="3886200" indent="-228600" algn="l" rtl="0" fontAlgn="base">
        <a:spcBef>
          <a:spcPct val="20000"/>
        </a:spcBef>
        <a:spcAft>
          <a:spcPct val="0"/>
        </a:spcAft>
        <a:buChar char="»"/>
        <a:defRPr sz="2000">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jpeg"/></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7.xml"/><Relationship Id="rId1" Type="http://schemas.openxmlformats.org/officeDocument/2006/relationships/audio" Target="file:///\\localhost\Volumes\KINGSTON\presentations\01%20-%20JAWS_Main%20Title.aif" TargetMode="External"/><Relationship Id="rId6" Type="http://schemas.openxmlformats.org/officeDocument/2006/relationships/image" Target="../media/image14.png"/><Relationship Id="rId5" Type="http://schemas.openxmlformats.org/officeDocument/2006/relationships/image" Target="../media/image2.png"/><Relationship Id="rId4" Type="http://schemas.openxmlformats.org/officeDocument/2006/relationships/image" Target="../media/image1.jpeg"/></Relationships>
</file>

<file path=ppt/slides/_rels/slide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15" descr="blocksrgb"/>
          <p:cNvPicPr>
            <a:picLocks noChangeAspect="1" noChangeArrowheads="1"/>
          </p:cNvPicPr>
          <p:nvPr/>
        </p:nvPicPr>
        <p:blipFill>
          <a:blip r:embed="rId3"/>
          <a:srcRect/>
          <a:stretch>
            <a:fillRect/>
          </a:stretch>
        </p:blipFill>
        <p:spPr bwMode="auto">
          <a:xfrm>
            <a:off x="0" y="838200"/>
            <a:ext cx="4572000" cy="3225800"/>
          </a:xfrm>
          <a:prstGeom prst="rect">
            <a:avLst/>
          </a:prstGeom>
          <a:noFill/>
          <a:ln w="9525">
            <a:noFill/>
            <a:miter lim="800000"/>
            <a:headEnd/>
            <a:tailEnd/>
          </a:ln>
        </p:spPr>
      </p:pic>
      <p:sp>
        <p:nvSpPr>
          <p:cNvPr id="14339" name="Text Box 16"/>
          <p:cNvSpPr txBox="1">
            <a:spLocks noChangeArrowheads="1"/>
          </p:cNvSpPr>
          <p:nvPr/>
        </p:nvSpPr>
        <p:spPr bwMode="auto">
          <a:xfrm>
            <a:off x="4419600" y="1989138"/>
            <a:ext cx="4343400" cy="3046988"/>
          </a:xfrm>
          <a:prstGeom prst="rect">
            <a:avLst/>
          </a:prstGeom>
          <a:noFill/>
          <a:ln w="9525">
            <a:noFill/>
            <a:miter lim="800000"/>
            <a:headEnd/>
            <a:tailEnd/>
          </a:ln>
        </p:spPr>
        <p:txBody>
          <a:bodyPr wrap="square">
            <a:prstTxWarp prst="textNoShape">
              <a:avLst/>
            </a:prstTxWarp>
            <a:spAutoFit/>
          </a:bodyPr>
          <a:lstStyle/>
          <a:p>
            <a:pPr eaLnBrk="0" hangingPunct="0"/>
            <a:r>
              <a:rPr lang="en-US" sz="3200" b="1" dirty="0" smtClean="0">
                <a:ea typeface="ＭＳ Ｐゴシック" charset="-128"/>
                <a:cs typeface="ＭＳ Ｐゴシック" charset="-128"/>
              </a:rPr>
              <a:t>Early Years </a:t>
            </a:r>
          </a:p>
          <a:p>
            <a:pPr eaLnBrk="0" hangingPunct="0"/>
            <a:r>
              <a:rPr lang="en-US" sz="3200" b="1" dirty="0" smtClean="0">
                <a:ea typeface="ＭＳ Ｐゴシック" charset="-128"/>
                <a:cs typeface="ＭＳ Ｐゴシック" charset="-128"/>
              </a:rPr>
              <a:t>Emotional Wellbeing Practitioner (EWP) </a:t>
            </a:r>
            <a:r>
              <a:rPr lang="en-US" sz="3200" b="1" dirty="0" err="1" smtClean="0">
                <a:ea typeface="ＭＳ Ｐゴシック" charset="-128"/>
                <a:cs typeface="ＭＳ Ｐゴシック" charset="-128"/>
              </a:rPr>
              <a:t>Programme</a:t>
            </a:r>
            <a:r>
              <a:rPr lang="en-US" sz="3200" b="1" dirty="0" smtClean="0">
                <a:ea typeface="ＭＳ Ｐゴシック" charset="-128"/>
                <a:cs typeface="ＭＳ Ｐゴシック" charset="-128"/>
              </a:rPr>
              <a:t> </a:t>
            </a:r>
          </a:p>
          <a:p>
            <a:pPr eaLnBrk="0" hangingPunct="0"/>
            <a:endParaRPr lang="en-US" sz="3200" b="1" dirty="0" smtClean="0">
              <a:ea typeface="ＭＳ Ｐゴシック" charset="-128"/>
              <a:cs typeface="ＭＳ Ｐゴシック" charset="-128"/>
            </a:endParaRPr>
          </a:p>
          <a:p>
            <a:pPr eaLnBrk="0" hangingPunct="0"/>
            <a:r>
              <a:rPr lang="en-US" sz="3200" b="1" dirty="0" smtClean="0">
                <a:ea typeface="ＭＳ Ｐゴシック" charset="-128"/>
                <a:cs typeface="ＭＳ Ｐゴシック" charset="-128"/>
              </a:rPr>
              <a:t>Day 2</a:t>
            </a:r>
            <a:endParaRPr lang="en-US" sz="3200" b="1" dirty="0">
              <a:ea typeface="ＭＳ Ｐゴシック" charset="-128"/>
              <a:cs typeface="ＭＳ Ｐゴシック" charset="-128"/>
            </a:endParaRPr>
          </a:p>
        </p:txBody>
      </p:sp>
      <p:sp>
        <p:nvSpPr>
          <p:cNvPr id="14340" name="Text Box 17"/>
          <p:cNvSpPr txBox="1">
            <a:spLocks noChangeArrowheads="1"/>
          </p:cNvSpPr>
          <p:nvPr/>
        </p:nvSpPr>
        <p:spPr bwMode="auto">
          <a:xfrm>
            <a:off x="457200" y="5334000"/>
            <a:ext cx="4105275" cy="862013"/>
          </a:xfrm>
          <a:prstGeom prst="rect">
            <a:avLst/>
          </a:prstGeom>
          <a:noFill/>
          <a:ln w="9525">
            <a:noFill/>
            <a:miter lim="800000"/>
            <a:headEnd/>
            <a:tailEnd/>
          </a:ln>
        </p:spPr>
        <p:txBody>
          <a:bodyPr>
            <a:prstTxWarp prst="textNoShape">
              <a:avLst/>
            </a:prstTxWarp>
            <a:spAutoFit/>
          </a:bodyPr>
          <a:lstStyle/>
          <a:p>
            <a:pPr>
              <a:spcBef>
                <a:spcPct val="50000"/>
              </a:spcBef>
            </a:pPr>
            <a:r>
              <a:rPr lang="en-GB" sz="2000" dirty="0"/>
              <a:t>Alison Crossick</a:t>
            </a:r>
          </a:p>
          <a:p>
            <a:pPr>
              <a:spcBef>
                <a:spcPct val="50000"/>
              </a:spcBef>
            </a:pPr>
            <a:r>
              <a:rPr lang="en-GB" sz="2000" dirty="0"/>
              <a:t>Senior Educational Psychologist</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755650" y="908050"/>
            <a:ext cx="7699375" cy="1319213"/>
          </a:xfrm>
          <a:solidFill>
            <a:schemeClr val="bg1">
              <a:lumMod val="50000"/>
            </a:schemeClr>
          </a:solidFill>
        </p:spPr>
        <p:txBody>
          <a:bodyPr/>
          <a:lstStyle/>
          <a:p>
            <a:pPr eaLnBrk="1" hangingPunct="1">
              <a:defRPr/>
            </a:pPr>
            <a:r>
              <a:rPr lang="en-US" dirty="0" err="1">
                <a:solidFill>
                  <a:schemeClr val="bg1"/>
                </a:solidFill>
                <a:ea typeface="+mj-ea"/>
                <a:cs typeface="+mj-cs"/>
              </a:rPr>
              <a:t>Programme</a:t>
            </a:r>
            <a:r>
              <a:rPr lang="en-US" dirty="0">
                <a:solidFill>
                  <a:schemeClr val="bg1"/>
                </a:solidFill>
                <a:ea typeface="+mj-ea"/>
                <a:cs typeface="+mj-cs"/>
              </a:rPr>
              <a:t> for Day</a:t>
            </a:r>
            <a:r>
              <a:rPr lang="en-US" dirty="0" smtClean="0">
                <a:solidFill>
                  <a:schemeClr val="bg1"/>
                </a:solidFill>
                <a:ea typeface="+mj-ea"/>
                <a:cs typeface="+mj-cs"/>
              </a:rPr>
              <a:t> 2</a:t>
            </a:r>
            <a:endParaRPr lang="en-US" sz="3200" dirty="0">
              <a:solidFill>
                <a:schemeClr val="bg1"/>
              </a:solidFill>
              <a:ea typeface="+mj-ea"/>
              <a:cs typeface="+mj-cs"/>
            </a:endParaRPr>
          </a:p>
        </p:txBody>
      </p:sp>
      <p:sp>
        <p:nvSpPr>
          <p:cNvPr id="18435" name="Rectangle 3"/>
          <p:cNvSpPr>
            <a:spLocks noGrp="1" noChangeArrowheads="1"/>
          </p:cNvSpPr>
          <p:nvPr>
            <p:ph type="subTitle" idx="1"/>
          </p:nvPr>
        </p:nvSpPr>
        <p:spPr>
          <a:xfrm>
            <a:off x="611188" y="2276475"/>
            <a:ext cx="7824787" cy="4048125"/>
          </a:xfrm>
        </p:spPr>
        <p:txBody>
          <a:bodyPr/>
          <a:lstStyle/>
          <a:p>
            <a:pPr algn="l" eaLnBrk="1" hangingPunct="1">
              <a:lnSpc>
                <a:spcPct val="80000"/>
              </a:lnSpc>
            </a:pPr>
            <a:r>
              <a:rPr lang="en-US" sz="1600" dirty="0"/>
              <a:t>9.15am		Welcome</a:t>
            </a:r>
          </a:p>
          <a:p>
            <a:pPr algn="l" eaLnBrk="1" hangingPunct="1">
              <a:lnSpc>
                <a:spcPct val="80000"/>
              </a:lnSpc>
            </a:pPr>
            <a:r>
              <a:rPr lang="en-US" sz="1600" dirty="0"/>
              <a:t>		</a:t>
            </a:r>
            <a:r>
              <a:rPr lang="en-US" sz="1600" dirty="0" smtClean="0"/>
              <a:t>Activity</a:t>
            </a:r>
          </a:p>
          <a:p>
            <a:pPr algn="l" eaLnBrk="1" hangingPunct="1">
              <a:lnSpc>
                <a:spcPct val="80000"/>
              </a:lnSpc>
            </a:pPr>
            <a:r>
              <a:rPr lang="en-US" sz="1600" dirty="0"/>
              <a:t>9.40am</a:t>
            </a:r>
            <a:r>
              <a:rPr lang="en-US" sz="1600" i="1" dirty="0"/>
              <a:t>	</a:t>
            </a:r>
            <a:r>
              <a:rPr lang="en-US" sz="1600" i="1" dirty="0" smtClean="0"/>
              <a:t>	</a:t>
            </a:r>
            <a:r>
              <a:rPr lang="en-US" sz="1600" dirty="0" smtClean="0"/>
              <a:t>Importance of Early Years</a:t>
            </a:r>
          </a:p>
          <a:p>
            <a:pPr algn="l" eaLnBrk="1" hangingPunct="1">
              <a:lnSpc>
                <a:spcPct val="80000"/>
              </a:lnSpc>
            </a:pPr>
            <a:r>
              <a:rPr lang="en-US" sz="1600" dirty="0"/>
              <a:t>	</a:t>
            </a:r>
            <a:r>
              <a:rPr lang="en-US" sz="1600" dirty="0" smtClean="0"/>
              <a:t>	Activity</a:t>
            </a:r>
          </a:p>
          <a:p>
            <a:pPr algn="l" eaLnBrk="1" hangingPunct="1">
              <a:lnSpc>
                <a:spcPct val="80000"/>
              </a:lnSpc>
            </a:pPr>
            <a:r>
              <a:rPr lang="en-US" sz="1600" dirty="0" smtClean="0"/>
              <a:t>		Understanding Attachments</a:t>
            </a:r>
          </a:p>
          <a:p>
            <a:pPr algn="l" eaLnBrk="1" hangingPunct="1">
              <a:lnSpc>
                <a:spcPct val="80000"/>
              </a:lnSpc>
            </a:pPr>
            <a:endParaRPr lang="en-US" sz="1600" dirty="0"/>
          </a:p>
          <a:p>
            <a:pPr algn="l" eaLnBrk="1" hangingPunct="1">
              <a:lnSpc>
                <a:spcPct val="80000"/>
              </a:lnSpc>
            </a:pPr>
            <a:r>
              <a:rPr lang="en-US" sz="1600" dirty="0"/>
              <a:t>11.00am		</a:t>
            </a:r>
            <a:r>
              <a:rPr lang="en-US" sz="1600" i="1" dirty="0"/>
              <a:t>Break</a:t>
            </a:r>
          </a:p>
          <a:p>
            <a:pPr algn="l" eaLnBrk="1" hangingPunct="1">
              <a:lnSpc>
                <a:spcPct val="80000"/>
              </a:lnSpc>
            </a:pPr>
            <a:endParaRPr lang="en-US" sz="1600" dirty="0"/>
          </a:p>
          <a:p>
            <a:pPr algn="l" eaLnBrk="1" hangingPunct="1">
              <a:lnSpc>
                <a:spcPct val="80000"/>
              </a:lnSpc>
            </a:pPr>
            <a:r>
              <a:rPr lang="en-US" sz="1600" dirty="0"/>
              <a:t>11.15am	</a:t>
            </a:r>
            <a:r>
              <a:rPr lang="en-US" sz="1600" dirty="0" smtClean="0"/>
              <a:t>	Observation Schedule</a:t>
            </a:r>
          </a:p>
          <a:p>
            <a:pPr algn="l" eaLnBrk="1" hangingPunct="1">
              <a:lnSpc>
                <a:spcPct val="80000"/>
              </a:lnSpc>
            </a:pPr>
            <a:r>
              <a:rPr lang="en-GB" sz="1600" dirty="0"/>
              <a:t>12.00pm		Activity</a:t>
            </a:r>
          </a:p>
          <a:p>
            <a:pPr algn="l" eaLnBrk="1" hangingPunct="1">
              <a:lnSpc>
                <a:spcPct val="80000"/>
              </a:lnSpc>
            </a:pPr>
            <a:endParaRPr lang="en-GB" sz="1600" dirty="0"/>
          </a:p>
          <a:p>
            <a:pPr algn="l" eaLnBrk="1" hangingPunct="1">
              <a:lnSpc>
                <a:spcPct val="80000"/>
              </a:lnSpc>
            </a:pPr>
            <a:r>
              <a:rPr lang="en-GB" sz="1600" dirty="0"/>
              <a:t>13.00pm		</a:t>
            </a:r>
            <a:r>
              <a:rPr lang="en-GB" sz="1600" i="1" dirty="0"/>
              <a:t>Lunch</a:t>
            </a:r>
          </a:p>
          <a:p>
            <a:pPr algn="l" eaLnBrk="1" hangingPunct="1">
              <a:lnSpc>
                <a:spcPct val="80000"/>
              </a:lnSpc>
            </a:pPr>
            <a:endParaRPr lang="en-GB" sz="1600" dirty="0"/>
          </a:p>
          <a:p>
            <a:pPr algn="l" eaLnBrk="1" hangingPunct="1">
              <a:lnSpc>
                <a:spcPct val="80000"/>
              </a:lnSpc>
            </a:pPr>
            <a:r>
              <a:rPr lang="en-GB" sz="1600" dirty="0"/>
              <a:t>13.45pm	</a:t>
            </a:r>
            <a:r>
              <a:rPr lang="en-GB" sz="1600" dirty="0" smtClean="0"/>
              <a:t>	Analysis of Information from the observation</a:t>
            </a:r>
          </a:p>
          <a:p>
            <a:pPr algn="l" eaLnBrk="1" hangingPunct="1">
              <a:lnSpc>
                <a:spcPct val="80000"/>
              </a:lnSpc>
            </a:pPr>
            <a:r>
              <a:rPr lang="en-GB" sz="1600" dirty="0"/>
              <a:t>14.00pm		</a:t>
            </a:r>
            <a:r>
              <a:rPr lang="en-GB" sz="1600" dirty="0" smtClean="0"/>
              <a:t>Activity</a:t>
            </a:r>
          </a:p>
          <a:p>
            <a:pPr algn="l" eaLnBrk="1" hangingPunct="1">
              <a:lnSpc>
                <a:spcPct val="80000"/>
              </a:lnSpc>
            </a:pPr>
            <a:r>
              <a:rPr lang="en-US" sz="1600" dirty="0" smtClean="0"/>
              <a:t>14.30pm</a:t>
            </a:r>
            <a:r>
              <a:rPr lang="en-US" sz="1600" dirty="0"/>
              <a:t>	</a:t>
            </a:r>
            <a:r>
              <a:rPr lang="en-US" sz="1600" dirty="0" smtClean="0"/>
              <a:t>	Building Resilience</a:t>
            </a:r>
          </a:p>
          <a:p>
            <a:pPr algn="l" eaLnBrk="1" hangingPunct="1">
              <a:lnSpc>
                <a:spcPct val="80000"/>
              </a:lnSpc>
            </a:pPr>
            <a:endParaRPr lang="en-US" sz="1000" i="1" dirty="0"/>
          </a:p>
          <a:p>
            <a:pPr algn="l" eaLnBrk="1" hangingPunct="1">
              <a:lnSpc>
                <a:spcPct val="80000"/>
              </a:lnSpc>
            </a:pPr>
            <a:endParaRPr lang="en-US" sz="1000" i="1" dirty="0"/>
          </a:p>
          <a:p>
            <a:pPr algn="l" eaLnBrk="1" hangingPunct="1">
              <a:lnSpc>
                <a:spcPct val="80000"/>
              </a:lnSpc>
            </a:pPr>
            <a:r>
              <a:rPr lang="en-US" sz="800" i="1" smtClean="0"/>
              <a:t>Handout: Attachment book</a:t>
            </a:r>
            <a:endParaRPr lang="en-US" sz="800" i="1"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1143000"/>
          </a:xfrm>
        </p:spPr>
        <p:txBody>
          <a:bodyPr/>
          <a:lstStyle/>
          <a:p>
            <a:r>
              <a:rPr lang="en-US" dirty="0" smtClean="0"/>
              <a:t>Activity</a:t>
            </a:r>
            <a:endParaRPr lang="en-US" dirty="0"/>
          </a:p>
        </p:txBody>
      </p:sp>
      <p:sp>
        <p:nvSpPr>
          <p:cNvPr id="3" name="Content Placeholder 2"/>
          <p:cNvSpPr>
            <a:spLocks noGrp="1"/>
          </p:cNvSpPr>
          <p:nvPr>
            <p:ph idx="1"/>
          </p:nvPr>
        </p:nvSpPr>
        <p:spPr/>
        <p:txBody>
          <a:bodyPr/>
          <a:lstStyle/>
          <a:p>
            <a:pPr>
              <a:buNone/>
            </a:pPr>
            <a:r>
              <a:rPr lang="en-US" dirty="0" smtClean="0"/>
              <a:t>In groups discuss:</a:t>
            </a:r>
          </a:p>
          <a:p>
            <a:pPr>
              <a:buFont typeface="Arial"/>
              <a:buChar char="•"/>
            </a:pPr>
            <a:r>
              <a:rPr lang="en-US" dirty="0" smtClean="0"/>
              <a:t> Your ‘place in family’ </a:t>
            </a:r>
          </a:p>
          <a:p>
            <a:pPr>
              <a:buNone/>
            </a:pPr>
            <a:r>
              <a:rPr lang="en-US" dirty="0" smtClean="0"/>
              <a:t>	</a:t>
            </a:r>
            <a:r>
              <a:rPr lang="en-US" i="1" dirty="0" smtClean="0"/>
              <a:t>Eldest/middle/youngest/only child</a:t>
            </a:r>
          </a:p>
          <a:p>
            <a:pPr>
              <a:buNone/>
            </a:pPr>
            <a:endParaRPr lang="en-US" i="1" dirty="0" smtClean="0"/>
          </a:p>
          <a:p>
            <a:pPr>
              <a:buFont typeface="Arial"/>
              <a:buChar char="•"/>
            </a:pPr>
            <a:r>
              <a:rPr lang="en-US" dirty="0" smtClean="0"/>
              <a:t>Your own first day at school</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457200" y="457200"/>
            <a:ext cx="8229600" cy="1143000"/>
          </a:xfrm>
        </p:spPr>
        <p:txBody>
          <a:bodyPr/>
          <a:lstStyle/>
          <a:p>
            <a:pPr eaLnBrk="1" hangingPunct="1"/>
            <a:r>
              <a:rPr lang="en-GB" sz="3200" dirty="0" smtClean="0"/>
              <a:t>Importance of Early Years Experience</a:t>
            </a:r>
            <a:endParaRPr lang="en-GB" sz="3200" dirty="0"/>
          </a:p>
        </p:txBody>
      </p:sp>
      <p:sp>
        <p:nvSpPr>
          <p:cNvPr id="21507" name="Rectangle 3"/>
          <p:cNvSpPr>
            <a:spLocks noGrp="1" noChangeArrowheads="1"/>
          </p:cNvSpPr>
          <p:nvPr>
            <p:ph type="body" idx="1"/>
          </p:nvPr>
        </p:nvSpPr>
        <p:spPr>
          <a:xfrm>
            <a:off x="304800" y="2514600"/>
            <a:ext cx="8229600" cy="3200400"/>
          </a:xfrm>
        </p:spPr>
        <p:txBody>
          <a:bodyPr/>
          <a:lstStyle/>
          <a:p>
            <a:pPr eaLnBrk="1" hangingPunct="1">
              <a:buFontTx/>
              <a:buNone/>
            </a:pPr>
            <a:endParaRPr lang="en-GB" sz="2400" dirty="0" smtClean="0"/>
          </a:p>
          <a:p>
            <a:pPr eaLnBrk="1" hangingPunct="1">
              <a:buFont typeface="Arial"/>
              <a:buChar char="•"/>
            </a:pPr>
            <a:r>
              <a:rPr lang="en-GB" sz="2400" dirty="0" smtClean="0"/>
              <a:t>Year 1 brain doubles in size</a:t>
            </a:r>
          </a:p>
          <a:p>
            <a:pPr eaLnBrk="1" hangingPunct="1">
              <a:buFont typeface="Arial"/>
              <a:buChar char="•"/>
            </a:pPr>
            <a:r>
              <a:rPr lang="en-GB" sz="2400" dirty="0" smtClean="0"/>
              <a:t>Between 0-2 years is a critical time for emotional growth</a:t>
            </a:r>
          </a:p>
          <a:p>
            <a:pPr eaLnBrk="1" hangingPunct="1">
              <a:buFont typeface="Arial"/>
              <a:buChar char="•"/>
            </a:pPr>
            <a:r>
              <a:rPr lang="en-GB" sz="2400" dirty="0" smtClean="0"/>
              <a:t>By 3 years there is a dense network of neurons</a:t>
            </a:r>
          </a:p>
          <a:p>
            <a:pPr eaLnBrk="1" hangingPunct="1">
              <a:buFont typeface="Arial"/>
              <a:buChar char="•"/>
            </a:pPr>
            <a:r>
              <a:rPr lang="en-GB" sz="2400" dirty="0" smtClean="0"/>
              <a:t>Experience triggers the electrical activity</a:t>
            </a:r>
          </a:p>
          <a:p>
            <a:pPr eaLnBrk="1" hangingPunct="1">
              <a:buFont typeface="Arial"/>
              <a:buChar char="•"/>
            </a:pPr>
            <a:r>
              <a:rPr lang="en-GB" sz="2400" dirty="0" smtClean="0"/>
              <a:t>The brain is experience-dependent</a:t>
            </a:r>
          </a:p>
          <a:p>
            <a:pPr eaLnBrk="1" hangingPunct="1">
              <a:buFont typeface="Arial"/>
              <a:buChar char="•"/>
            </a:pPr>
            <a:r>
              <a:rPr lang="en-GB" sz="2400" dirty="0" smtClean="0"/>
              <a:t>A child living in fear has an altered brain chemistry</a:t>
            </a:r>
          </a:p>
          <a:p>
            <a:pPr eaLnBrk="1" hangingPunct="1">
              <a:buNone/>
            </a:pPr>
            <a:endParaRPr lang="en-GB" sz="2400" dirty="0" smtClean="0"/>
          </a:p>
          <a:p>
            <a:pPr eaLnBrk="1" hangingPunct="1">
              <a:buNone/>
            </a:pPr>
            <a:r>
              <a:rPr lang="en-GB" sz="1600" dirty="0" smtClean="0"/>
              <a:t>Observing Children with attachment Difficulties in Preschool Settings (p.16)</a:t>
            </a:r>
          </a:p>
          <a:p>
            <a:pPr eaLnBrk="1" hangingPunct="1">
              <a:buFont typeface="Arial"/>
              <a:buChar char="•"/>
            </a:pPr>
            <a:endParaRPr lang="en-GB" sz="2400" dirty="0" smtClean="0"/>
          </a:p>
          <a:p>
            <a:pPr eaLnBrk="1" hangingPunct="1">
              <a:buFont typeface="Arial"/>
              <a:buChar char="•"/>
            </a:pPr>
            <a:endParaRPr lang="en-GB" sz="2400" dirty="0" smtClean="0"/>
          </a:p>
          <a:p>
            <a:pPr eaLnBrk="1" hangingPunct="1">
              <a:buFont typeface="Arial"/>
              <a:buChar char="•"/>
            </a:pPr>
            <a:endParaRPr lang="en-GB" sz="2400" dirty="0" smtClean="0"/>
          </a:p>
          <a:p>
            <a:pPr eaLnBrk="1" hangingPunct="1">
              <a:buFontTx/>
              <a:buNone/>
            </a:pPr>
            <a:endParaRPr lang="en-GB" sz="2400" dirty="0"/>
          </a:p>
        </p:txBody>
      </p:sp>
      <p:pic>
        <p:nvPicPr>
          <p:cNvPr id="21508" name="Picture 5" descr="115-sImg"/>
          <p:cNvPicPr>
            <a:picLocks noChangeAspect="1" noChangeArrowheads="1"/>
          </p:cNvPicPr>
          <p:nvPr/>
        </p:nvPicPr>
        <p:blipFill>
          <a:blip r:embed="rId2"/>
          <a:srcRect/>
          <a:stretch>
            <a:fillRect/>
          </a:stretch>
        </p:blipFill>
        <p:spPr bwMode="auto">
          <a:xfrm>
            <a:off x="3200400" y="1524000"/>
            <a:ext cx="2327275" cy="123250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3"/>
          <p:cNvSpPr>
            <a:spLocks noChangeArrowheads="1"/>
          </p:cNvSpPr>
          <p:nvPr/>
        </p:nvSpPr>
        <p:spPr bwMode="auto">
          <a:xfrm>
            <a:off x="0" y="0"/>
            <a:ext cx="9144000" cy="533400"/>
          </a:xfrm>
          <a:prstGeom prst="rect">
            <a:avLst/>
          </a:prstGeom>
          <a:solidFill>
            <a:srgbClr val="6D2FAB"/>
          </a:solidFill>
          <a:ln w="0">
            <a:noFill/>
            <a:miter lim="800000"/>
            <a:headEnd/>
            <a:tailEnd/>
          </a:ln>
        </p:spPr>
        <p:txBody>
          <a:bodyPr wrap="none" anchor="ctr">
            <a:prstTxWarp prst="textNoShape">
              <a:avLst/>
            </a:prstTxWarp>
          </a:bodyPr>
          <a:lstStyle/>
          <a:p>
            <a:endParaRPr lang="en-US"/>
          </a:p>
        </p:txBody>
      </p:sp>
      <p:sp>
        <p:nvSpPr>
          <p:cNvPr id="22531" name="Text Box 4"/>
          <p:cNvSpPr txBox="1">
            <a:spLocks noChangeArrowheads="1"/>
          </p:cNvSpPr>
          <p:nvPr/>
        </p:nvSpPr>
        <p:spPr bwMode="auto">
          <a:xfrm>
            <a:off x="0" y="125413"/>
            <a:ext cx="9144000" cy="304800"/>
          </a:xfrm>
          <a:prstGeom prst="rect">
            <a:avLst/>
          </a:prstGeom>
          <a:noFill/>
          <a:ln w="9525">
            <a:noFill/>
            <a:miter lim="800000"/>
            <a:headEnd/>
            <a:tailEnd/>
          </a:ln>
        </p:spPr>
        <p:txBody>
          <a:bodyPr>
            <a:prstTxWarp prst="textNoShape">
              <a:avLst/>
            </a:prstTxWarp>
            <a:spAutoFit/>
          </a:bodyPr>
          <a:lstStyle/>
          <a:p>
            <a:pPr algn="ctr" eaLnBrk="0" hangingPunct="0"/>
            <a:r>
              <a:rPr lang="en-US" sz="1400">
                <a:solidFill>
                  <a:schemeClr val="bg1"/>
                </a:solidFill>
                <a:latin typeface="Arial Black" charset="0"/>
                <a:ea typeface="ＭＳ Ｐゴシック" charset="-128"/>
                <a:cs typeface="ＭＳ Ｐゴシック" charset="-128"/>
              </a:rPr>
              <a:t>E D U C A T I O N A L   P S Y C H O L O G Y   S E R V I C E</a:t>
            </a:r>
          </a:p>
        </p:txBody>
      </p:sp>
      <p:pic>
        <p:nvPicPr>
          <p:cNvPr id="22532" name="Picture 5" descr="Image windsor and Maidenhead"/>
          <p:cNvPicPr>
            <a:picLocks noChangeAspect="1" noChangeArrowheads="1"/>
          </p:cNvPicPr>
          <p:nvPr/>
        </p:nvPicPr>
        <p:blipFill>
          <a:blip r:embed="rId3"/>
          <a:srcRect/>
          <a:stretch>
            <a:fillRect/>
          </a:stretch>
        </p:blipFill>
        <p:spPr bwMode="auto">
          <a:xfrm>
            <a:off x="8637588" y="0"/>
            <a:ext cx="506412" cy="609600"/>
          </a:xfrm>
          <a:prstGeom prst="rect">
            <a:avLst/>
          </a:prstGeom>
          <a:noFill/>
          <a:ln w="3175">
            <a:noFill/>
            <a:miter lim="800000"/>
            <a:headEnd/>
            <a:tailEnd/>
          </a:ln>
        </p:spPr>
      </p:pic>
      <p:sp>
        <p:nvSpPr>
          <p:cNvPr id="22533" name="Rectangle 6"/>
          <p:cNvSpPr>
            <a:spLocks noChangeArrowheads="1"/>
          </p:cNvSpPr>
          <p:nvPr/>
        </p:nvSpPr>
        <p:spPr bwMode="auto">
          <a:xfrm>
            <a:off x="755650" y="1196975"/>
            <a:ext cx="7704138" cy="762000"/>
          </a:xfrm>
          <a:prstGeom prst="rect">
            <a:avLst/>
          </a:prstGeom>
          <a:noFill/>
          <a:ln w="9525">
            <a:noFill/>
            <a:miter lim="800000"/>
            <a:headEnd/>
            <a:tailEnd/>
          </a:ln>
        </p:spPr>
        <p:txBody>
          <a:bodyPr>
            <a:prstTxWarp prst="textNoShape">
              <a:avLst/>
            </a:prstTxWarp>
            <a:spAutoFit/>
          </a:bodyPr>
          <a:lstStyle/>
          <a:p>
            <a:endParaRPr lang="en-US" sz="4400">
              <a:solidFill>
                <a:schemeClr val="tx2"/>
              </a:solidFill>
            </a:endParaRPr>
          </a:p>
        </p:txBody>
      </p:sp>
      <p:sp>
        <p:nvSpPr>
          <p:cNvPr id="66568" name="Text Box 8"/>
          <p:cNvSpPr>
            <a:spLocks noGrp="1" noChangeArrowheads="1"/>
          </p:cNvSpPr>
          <p:nvPr>
            <p:ph type="body" idx="1"/>
          </p:nvPr>
        </p:nvSpPr>
        <p:spPr>
          <a:xfrm>
            <a:off x="381000" y="4876800"/>
            <a:ext cx="7750175" cy="1247775"/>
          </a:xfrm>
          <a:noFill/>
        </p:spPr>
        <p:txBody>
          <a:bodyPr/>
          <a:lstStyle/>
          <a:p>
            <a:pPr marL="0" indent="0" eaLnBrk="1" hangingPunct="1">
              <a:spcBef>
                <a:spcPts val="0"/>
              </a:spcBef>
              <a:buFontTx/>
              <a:buNone/>
            </a:pPr>
            <a:r>
              <a:rPr lang="en-US" sz="2000" dirty="0" smtClean="0">
                <a:latin typeface="Arial" charset="0"/>
              </a:rPr>
              <a:t>The </a:t>
            </a:r>
            <a:r>
              <a:rPr lang="en-US" sz="2000" dirty="0">
                <a:latin typeface="Arial" charset="0"/>
              </a:rPr>
              <a:t>CT scan on the left shows an average developing brain. </a:t>
            </a:r>
            <a:r>
              <a:rPr lang="en-US" sz="2000" dirty="0" smtClean="0">
                <a:latin typeface="Arial" charset="0"/>
              </a:rPr>
              <a:t/>
            </a:r>
            <a:br>
              <a:rPr lang="en-US" sz="2000" dirty="0" smtClean="0">
                <a:latin typeface="Arial" charset="0"/>
              </a:rPr>
            </a:br>
            <a:r>
              <a:rPr lang="en-US" sz="2000" dirty="0" smtClean="0">
                <a:latin typeface="Arial" charset="0"/>
              </a:rPr>
              <a:t>The </a:t>
            </a:r>
            <a:r>
              <a:rPr lang="en-US" sz="2000" dirty="0">
                <a:latin typeface="Arial" charset="0"/>
              </a:rPr>
              <a:t>scan on the right is from a 3 year old suffering extreme</a:t>
            </a:r>
            <a:r>
              <a:rPr lang="en-US" sz="2000" dirty="0" smtClean="0">
                <a:latin typeface="Arial" charset="0"/>
              </a:rPr>
              <a:t> </a:t>
            </a:r>
          </a:p>
          <a:p>
            <a:pPr marL="0" indent="0" eaLnBrk="1" hangingPunct="1">
              <a:spcBef>
                <a:spcPts val="0"/>
              </a:spcBef>
              <a:buFontTx/>
              <a:buNone/>
            </a:pPr>
            <a:r>
              <a:rPr lang="en-US" sz="2000" dirty="0" smtClean="0">
                <a:latin typeface="Arial" charset="0"/>
              </a:rPr>
              <a:t>global </a:t>
            </a:r>
            <a:r>
              <a:rPr lang="en-US" sz="2000" dirty="0">
                <a:latin typeface="Arial" charset="0"/>
              </a:rPr>
              <a:t>neglect.</a:t>
            </a:r>
            <a:r>
              <a:rPr lang="en-US" sz="2000" dirty="0" smtClean="0">
                <a:latin typeface="Arial" charset="0"/>
              </a:rPr>
              <a:t> </a:t>
            </a:r>
          </a:p>
          <a:p>
            <a:pPr marL="0" indent="0" eaLnBrk="1" hangingPunct="1">
              <a:spcBef>
                <a:spcPts val="0"/>
              </a:spcBef>
              <a:buFontTx/>
              <a:buNone/>
            </a:pPr>
            <a:endParaRPr lang="en-US" sz="2000" dirty="0" smtClean="0">
              <a:latin typeface="Arial" charset="0"/>
            </a:endParaRPr>
          </a:p>
          <a:p>
            <a:pPr marL="0" indent="0" eaLnBrk="1" hangingPunct="1">
              <a:spcBef>
                <a:spcPts val="0"/>
              </a:spcBef>
              <a:buFontTx/>
              <a:buNone/>
            </a:pPr>
            <a:r>
              <a:rPr lang="en-US" sz="2000" dirty="0" smtClean="0">
                <a:latin typeface="Arial" charset="0"/>
              </a:rPr>
              <a:t>				</a:t>
            </a:r>
            <a:r>
              <a:rPr lang="en-US" sz="1600" dirty="0" smtClean="0">
                <a:latin typeface="Arial" charset="0"/>
              </a:rPr>
              <a:t>From</a:t>
            </a:r>
            <a:r>
              <a:rPr lang="en-US" sz="1600" dirty="0">
                <a:latin typeface="Arial" charset="0"/>
              </a:rPr>
              <a:t>: Child Welfare Information Gateway</a:t>
            </a:r>
          </a:p>
        </p:txBody>
      </p:sp>
      <p:sp>
        <p:nvSpPr>
          <p:cNvPr id="22535" name="Text Box 9"/>
          <p:cNvSpPr txBox="1">
            <a:spLocks noChangeArrowheads="1"/>
          </p:cNvSpPr>
          <p:nvPr/>
        </p:nvSpPr>
        <p:spPr bwMode="auto">
          <a:xfrm>
            <a:off x="684213" y="620713"/>
            <a:ext cx="7559675" cy="1311275"/>
          </a:xfrm>
          <a:prstGeom prst="rect">
            <a:avLst/>
          </a:prstGeom>
          <a:noFill/>
          <a:ln w="9525">
            <a:noFill/>
            <a:miter lim="800000"/>
            <a:headEnd/>
            <a:tailEnd/>
          </a:ln>
        </p:spPr>
        <p:txBody>
          <a:bodyPr>
            <a:prstTxWarp prst="textNoShape">
              <a:avLst/>
            </a:prstTxWarp>
            <a:spAutoFit/>
          </a:bodyPr>
          <a:lstStyle/>
          <a:p>
            <a:pPr algn="ctr">
              <a:spcBef>
                <a:spcPct val="50000"/>
              </a:spcBef>
            </a:pPr>
            <a:r>
              <a:rPr lang="en-US" sz="4000">
                <a:latin typeface="Arial" charset="0"/>
              </a:rPr>
              <a:t>Impact of neglect on the developing brain of a 3 yr old</a:t>
            </a:r>
          </a:p>
        </p:txBody>
      </p:sp>
      <p:pic>
        <p:nvPicPr>
          <p:cNvPr id="22536" name="Picture 11" descr="exhibit_2"/>
          <p:cNvPicPr>
            <a:picLocks noChangeAspect="1" noChangeArrowheads="1"/>
          </p:cNvPicPr>
          <p:nvPr/>
        </p:nvPicPr>
        <p:blipFill>
          <a:blip r:embed="rId4"/>
          <a:srcRect/>
          <a:stretch>
            <a:fillRect/>
          </a:stretch>
        </p:blipFill>
        <p:spPr bwMode="auto">
          <a:xfrm>
            <a:off x="2627313" y="2084296"/>
            <a:ext cx="3468687" cy="2640104"/>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656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656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656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smtClean="0"/>
              <a:t>Activity</a:t>
            </a:r>
            <a:endParaRPr lang="en-US" sz="3600" dirty="0"/>
          </a:p>
        </p:txBody>
      </p:sp>
      <p:sp>
        <p:nvSpPr>
          <p:cNvPr id="3" name="Content Placeholder 2"/>
          <p:cNvSpPr>
            <a:spLocks noGrp="1"/>
          </p:cNvSpPr>
          <p:nvPr>
            <p:ph idx="1"/>
          </p:nvPr>
        </p:nvSpPr>
        <p:spPr>
          <a:xfrm>
            <a:off x="457200" y="1371600"/>
            <a:ext cx="8229600" cy="5029200"/>
          </a:xfrm>
        </p:spPr>
        <p:txBody>
          <a:bodyPr/>
          <a:lstStyle/>
          <a:p>
            <a:pPr>
              <a:buNone/>
            </a:pPr>
            <a:r>
              <a:rPr lang="en-US" dirty="0" smtClean="0"/>
              <a:t>Early Years setting is the first formal setting outside of home where children have to build new relationships</a:t>
            </a:r>
          </a:p>
          <a:p>
            <a:pPr>
              <a:buNone/>
            </a:pPr>
            <a:r>
              <a:rPr lang="en-US" dirty="0" smtClean="0"/>
              <a:t>Children use early attachment experiences to build up a template of how relationships work, what to expect from others and what to believe about ourselves</a:t>
            </a:r>
          </a:p>
          <a:p>
            <a:pPr>
              <a:buNone/>
            </a:pPr>
            <a:endParaRPr lang="en-US" dirty="0" smtClean="0"/>
          </a:p>
          <a:p>
            <a:pPr>
              <a:buNone/>
            </a:pPr>
            <a:r>
              <a:rPr lang="en-US" sz="2400" i="1" dirty="0" smtClean="0"/>
              <a:t>p.77 – Read the summary and in groups discuss </a:t>
            </a:r>
          </a:p>
          <a:p>
            <a:pPr>
              <a:buNone/>
            </a:pPr>
            <a:r>
              <a:rPr lang="en-US" sz="2400" i="1" dirty="0" smtClean="0"/>
              <a:t>		how we can meet these needs</a:t>
            </a:r>
            <a:endParaRPr lang="en-US" sz="2400" i="1"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descr="blocksrgb"/>
          <p:cNvPicPr>
            <a:picLocks noChangeAspect="1" noChangeArrowheads="1"/>
          </p:cNvPicPr>
          <p:nvPr/>
        </p:nvPicPr>
        <p:blipFill>
          <a:blip r:embed="rId3"/>
          <a:srcRect/>
          <a:stretch>
            <a:fillRect/>
          </a:stretch>
        </p:blipFill>
        <p:spPr bwMode="auto">
          <a:xfrm>
            <a:off x="7885113" y="5851525"/>
            <a:ext cx="971550" cy="685800"/>
          </a:xfrm>
          <a:prstGeom prst="rect">
            <a:avLst/>
          </a:prstGeom>
          <a:noFill/>
          <a:ln w="9525">
            <a:noFill/>
            <a:miter lim="800000"/>
            <a:headEnd/>
            <a:tailEnd/>
          </a:ln>
        </p:spPr>
      </p:pic>
      <p:sp>
        <p:nvSpPr>
          <p:cNvPr id="24579" name="Rectangle 3"/>
          <p:cNvSpPr>
            <a:spLocks noChangeArrowheads="1"/>
          </p:cNvSpPr>
          <p:nvPr/>
        </p:nvSpPr>
        <p:spPr bwMode="auto">
          <a:xfrm>
            <a:off x="0" y="0"/>
            <a:ext cx="9144000" cy="533400"/>
          </a:xfrm>
          <a:prstGeom prst="rect">
            <a:avLst/>
          </a:prstGeom>
          <a:solidFill>
            <a:srgbClr val="6D2FAB"/>
          </a:solidFill>
          <a:ln w="0">
            <a:noFill/>
            <a:miter lim="800000"/>
            <a:headEnd/>
            <a:tailEnd/>
          </a:ln>
        </p:spPr>
        <p:txBody>
          <a:bodyPr wrap="none" anchor="ctr">
            <a:prstTxWarp prst="textNoShape">
              <a:avLst/>
            </a:prstTxWarp>
          </a:bodyPr>
          <a:lstStyle/>
          <a:p>
            <a:endParaRPr lang="en-US"/>
          </a:p>
        </p:txBody>
      </p:sp>
      <p:sp>
        <p:nvSpPr>
          <p:cNvPr id="24580" name="Text Box 4"/>
          <p:cNvSpPr txBox="1">
            <a:spLocks noChangeArrowheads="1"/>
          </p:cNvSpPr>
          <p:nvPr/>
        </p:nvSpPr>
        <p:spPr bwMode="auto">
          <a:xfrm>
            <a:off x="0" y="125413"/>
            <a:ext cx="9144000" cy="304800"/>
          </a:xfrm>
          <a:prstGeom prst="rect">
            <a:avLst/>
          </a:prstGeom>
          <a:noFill/>
          <a:ln w="9525">
            <a:noFill/>
            <a:miter lim="800000"/>
            <a:headEnd/>
            <a:tailEnd/>
          </a:ln>
        </p:spPr>
        <p:txBody>
          <a:bodyPr>
            <a:prstTxWarp prst="textNoShape">
              <a:avLst/>
            </a:prstTxWarp>
            <a:spAutoFit/>
          </a:bodyPr>
          <a:lstStyle/>
          <a:p>
            <a:pPr algn="ctr" eaLnBrk="0" hangingPunct="0"/>
            <a:r>
              <a:rPr lang="en-US" sz="1400">
                <a:solidFill>
                  <a:schemeClr val="bg1"/>
                </a:solidFill>
                <a:latin typeface="Arial Black" charset="0"/>
                <a:ea typeface="ＭＳ Ｐゴシック" charset="-128"/>
                <a:cs typeface="ＭＳ Ｐゴシック" charset="-128"/>
              </a:rPr>
              <a:t>E D U C A T I O N A L   P S Y C H O L O G Y   S E R V I C E</a:t>
            </a:r>
          </a:p>
        </p:txBody>
      </p:sp>
      <p:pic>
        <p:nvPicPr>
          <p:cNvPr id="24581" name="Picture 5" descr="Image windsor and Maidenhead"/>
          <p:cNvPicPr>
            <a:picLocks noChangeAspect="1" noChangeArrowheads="1"/>
          </p:cNvPicPr>
          <p:nvPr/>
        </p:nvPicPr>
        <p:blipFill>
          <a:blip r:embed="rId4"/>
          <a:srcRect/>
          <a:stretch>
            <a:fillRect/>
          </a:stretch>
        </p:blipFill>
        <p:spPr bwMode="auto">
          <a:xfrm>
            <a:off x="8637588" y="0"/>
            <a:ext cx="506412" cy="609600"/>
          </a:xfrm>
          <a:prstGeom prst="rect">
            <a:avLst/>
          </a:prstGeom>
          <a:noFill/>
          <a:ln w="3175">
            <a:noFill/>
            <a:miter lim="800000"/>
            <a:headEnd/>
            <a:tailEnd/>
          </a:ln>
        </p:spPr>
      </p:pic>
      <p:sp>
        <p:nvSpPr>
          <p:cNvPr id="24582" name="Rectangle 6"/>
          <p:cNvSpPr>
            <a:spLocks noChangeArrowheads="1"/>
          </p:cNvSpPr>
          <p:nvPr/>
        </p:nvSpPr>
        <p:spPr bwMode="auto">
          <a:xfrm>
            <a:off x="611188" y="981075"/>
            <a:ext cx="7704137" cy="762000"/>
          </a:xfrm>
          <a:prstGeom prst="rect">
            <a:avLst/>
          </a:prstGeom>
          <a:noFill/>
          <a:ln w="9525">
            <a:noFill/>
            <a:miter lim="800000"/>
            <a:headEnd/>
            <a:tailEnd/>
          </a:ln>
        </p:spPr>
        <p:txBody>
          <a:bodyPr>
            <a:prstTxWarp prst="textNoShape">
              <a:avLst/>
            </a:prstTxWarp>
            <a:spAutoFit/>
          </a:bodyPr>
          <a:lstStyle/>
          <a:p>
            <a:endParaRPr lang="en-US" sz="4400">
              <a:solidFill>
                <a:schemeClr val="tx2"/>
              </a:solidFill>
            </a:endParaRPr>
          </a:p>
        </p:txBody>
      </p:sp>
      <p:sp>
        <p:nvSpPr>
          <p:cNvPr id="24583" name="Text Box 7"/>
          <p:cNvSpPr txBox="1">
            <a:spLocks noChangeArrowheads="1"/>
          </p:cNvSpPr>
          <p:nvPr/>
        </p:nvSpPr>
        <p:spPr bwMode="auto">
          <a:xfrm>
            <a:off x="1187450" y="1052513"/>
            <a:ext cx="6553200" cy="701675"/>
          </a:xfrm>
          <a:prstGeom prst="rect">
            <a:avLst/>
          </a:prstGeom>
          <a:noFill/>
          <a:ln w="9525">
            <a:noFill/>
            <a:miter lim="800000"/>
            <a:headEnd/>
            <a:tailEnd/>
          </a:ln>
        </p:spPr>
        <p:txBody>
          <a:bodyPr>
            <a:prstTxWarp prst="textNoShape">
              <a:avLst/>
            </a:prstTxWarp>
            <a:spAutoFit/>
          </a:bodyPr>
          <a:lstStyle/>
          <a:p>
            <a:pPr algn="ctr">
              <a:spcBef>
                <a:spcPct val="50000"/>
              </a:spcBef>
            </a:pPr>
            <a:endParaRPr lang="en-US" sz="4000">
              <a:latin typeface="Arial" charset="0"/>
            </a:endParaRPr>
          </a:p>
        </p:txBody>
      </p:sp>
      <p:sp>
        <p:nvSpPr>
          <p:cNvPr id="24584" name="Text Box 8"/>
          <p:cNvSpPr txBox="1">
            <a:spLocks noChangeArrowheads="1"/>
          </p:cNvSpPr>
          <p:nvPr/>
        </p:nvSpPr>
        <p:spPr bwMode="auto">
          <a:xfrm>
            <a:off x="1763713" y="2420938"/>
            <a:ext cx="2160587" cy="701675"/>
          </a:xfrm>
          <a:prstGeom prst="rect">
            <a:avLst/>
          </a:prstGeom>
          <a:noFill/>
          <a:ln w="9525">
            <a:noFill/>
            <a:miter lim="800000"/>
            <a:headEnd/>
            <a:tailEnd/>
          </a:ln>
        </p:spPr>
        <p:txBody>
          <a:bodyPr>
            <a:prstTxWarp prst="textNoShape">
              <a:avLst/>
            </a:prstTxWarp>
            <a:spAutoFit/>
          </a:bodyPr>
          <a:lstStyle/>
          <a:p>
            <a:pPr algn="ctr">
              <a:spcBef>
                <a:spcPct val="50000"/>
              </a:spcBef>
            </a:pPr>
            <a:endParaRPr lang="en-US" sz="4000">
              <a:latin typeface="Arial" charset="0"/>
            </a:endParaRPr>
          </a:p>
        </p:txBody>
      </p:sp>
      <p:sp>
        <p:nvSpPr>
          <p:cNvPr id="24585" name="Text Box 10"/>
          <p:cNvSpPr txBox="1">
            <a:spLocks noChangeArrowheads="1"/>
          </p:cNvSpPr>
          <p:nvPr/>
        </p:nvSpPr>
        <p:spPr bwMode="auto">
          <a:xfrm>
            <a:off x="1752600" y="2209800"/>
            <a:ext cx="5256213" cy="2554288"/>
          </a:xfrm>
          <a:prstGeom prst="rect">
            <a:avLst/>
          </a:prstGeom>
          <a:noFill/>
          <a:ln w="9525">
            <a:noFill/>
            <a:miter lim="800000"/>
            <a:headEnd/>
            <a:tailEnd/>
          </a:ln>
        </p:spPr>
        <p:txBody>
          <a:bodyPr>
            <a:prstTxWarp prst="textNoShape">
              <a:avLst/>
            </a:prstTxWarp>
            <a:spAutoFit/>
          </a:bodyPr>
          <a:lstStyle/>
          <a:p>
            <a:pPr algn="ctr">
              <a:spcBef>
                <a:spcPct val="50000"/>
              </a:spcBef>
            </a:pPr>
            <a:r>
              <a:rPr lang="en-US" sz="4000" dirty="0">
                <a:latin typeface="Arial" charset="0"/>
              </a:rPr>
              <a:t>Understanding </a:t>
            </a:r>
          </a:p>
          <a:p>
            <a:pPr algn="ctr">
              <a:spcBef>
                <a:spcPct val="50000"/>
              </a:spcBef>
            </a:pPr>
            <a:r>
              <a:rPr lang="en-US" sz="4000" dirty="0">
                <a:latin typeface="Arial" charset="0"/>
              </a:rPr>
              <a:t>and </a:t>
            </a:r>
          </a:p>
          <a:p>
            <a:pPr algn="ctr">
              <a:spcBef>
                <a:spcPct val="50000"/>
              </a:spcBef>
            </a:pPr>
            <a:r>
              <a:rPr lang="en-US" sz="4000" dirty="0">
                <a:latin typeface="Arial" charset="0"/>
              </a:rPr>
              <a:t>Building Attachment</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descr="blocksrgb"/>
          <p:cNvPicPr>
            <a:picLocks noChangeAspect="1" noChangeArrowheads="1"/>
          </p:cNvPicPr>
          <p:nvPr/>
        </p:nvPicPr>
        <p:blipFill>
          <a:blip r:embed="rId3"/>
          <a:srcRect/>
          <a:stretch>
            <a:fillRect/>
          </a:stretch>
        </p:blipFill>
        <p:spPr bwMode="auto">
          <a:xfrm>
            <a:off x="7740650" y="5749925"/>
            <a:ext cx="1116013" cy="787400"/>
          </a:xfrm>
          <a:prstGeom prst="rect">
            <a:avLst/>
          </a:prstGeom>
          <a:noFill/>
          <a:ln w="9525">
            <a:noFill/>
            <a:miter lim="800000"/>
            <a:headEnd/>
            <a:tailEnd/>
          </a:ln>
        </p:spPr>
      </p:pic>
      <p:sp>
        <p:nvSpPr>
          <p:cNvPr id="26627" name="Rectangle 3"/>
          <p:cNvSpPr>
            <a:spLocks noChangeArrowheads="1"/>
          </p:cNvSpPr>
          <p:nvPr/>
        </p:nvSpPr>
        <p:spPr bwMode="auto">
          <a:xfrm>
            <a:off x="0" y="0"/>
            <a:ext cx="9144000" cy="533400"/>
          </a:xfrm>
          <a:prstGeom prst="rect">
            <a:avLst/>
          </a:prstGeom>
          <a:solidFill>
            <a:srgbClr val="6D2FAB"/>
          </a:solidFill>
          <a:ln w="0">
            <a:noFill/>
            <a:miter lim="800000"/>
            <a:headEnd/>
            <a:tailEnd/>
          </a:ln>
        </p:spPr>
        <p:txBody>
          <a:bodyPr wrap="none" anchor="ctr">
            <a:prstTxWarp prst="textNoShape">
              <a:avLst/>
            </a:prstTxWarp>
          </a:bodyPr>
          <a:lstStyle/>
          <a:p>
            <a:endParaRPr lang="en-US"/>
          </a:p>
        </p:txBody>
      </p:sp>
      <p:sp>
        <p:nvSpPr>
          <p:cNvPr id="26628" name="Text Box 4"/>
          <p:cNvSpPr txBox="1">
            <a:spLocks noChangeArrowheads="1"/>
          </p:cNvSpPr>
          <p:nvPr/>
        </p:nvSpPr>
        <p:spPr bwMode="auto">
          <a:xfrm>
            <a:off x="0" y="125413"/>
            <a:ext cx="9144000" cy="304800"/>
          </a:xfrm>
          <a:prstGeom prst="rect">
            <a:avLst/>
          </a:prstGeom>
          <a:noFill/>
          <a:ln w="9525">
            <a:noFill/>
            <a:miter lim="800000"/>
            <a:headEnd/>
            <a:tailEnd/>
          </a:ln>
        </p:spPr>
        <p:txBody>
          <a:bodyPr>
            <a:prstTxWarp prst="textNoShape">
              <a:avLst/>
            </a:prstTxWarp>
            <a:spAutoFit/>
          </a:bodyPr>
          <a:lstStyle/>
          <a:p>
            <a:pPr algn="ctr" eaLnBrk="0" hangingPunct="0"/>
            <a:r>
              <a:rPr lang="en-US" sz="1400">
                <a:solidFill>
                  <a:schemeClr val="bg1"/>
                </a:solidFill>
                <a:latin typeface="Arial Black" charset="0"/>
                <a:ea typeface="ＭＳ Ｐゴシック" charset="-128"/>
                <a:cs typeface="ＭＳ Ｐゴシック" charset="-128"/>
              </a:rPr>
              <a:t>E D U C A T I O N A L   P S Y C H O L O G Y   S E R V I C E</a:t>
            </a:r>
          </a:p>
        </p:txBody>
      </p:sp>
      <p:pic>
        <p:nvPicPr>
          <p:cNvPr id="26629" name="Picture 5" descr="Image windsor and Maidenhead"/>
          <p:cNvPicPr>
            <a:picLocks noChangeAspect="1" noChangeArrowheads="1"/>
          </p:cNvPicPr>
          <p:nvPr/>
        </p:nvPicPr>
        <p:blipFill>
          <a:blip r:embed="rId4"/>
          <a:srcRect/>
          <a:stretch>
            <a:fillRect/>
          </a:stretch>
        </p:blipFill>
        <p:spPr bwMode="auto">
          <a:xfrm>
            <a:off x="8637588" y="0"/>
            <a:ext cx="506412" cy="609600"/>
          </a:xfrm>
          <a:prstGeom prst="rect">
            <a:avLst/>
          </a:prstGeom>
          <a:noFill/>
          <a:ln w="3175">
            <a:noFill/>
            <a:miter lim="800000"/>
            <a:headEnd/>
            <a:tailEnd/>
          </a:ln>
        </p:spPr>
      </p:pic>
      <p:sp>
        <p:nvSpPr>
          <p:cNvPr id="26630" name="Rectangle 6"/>
          <p:cNvSpPr>
            <a:spLocks noChangeArrowheads="1"/>
          </p:cNvSpPr>
          <p:nvPr/>
        </p:nvSpPr>
        <p:spPr bwMode="auto">
          <a:xfrm>
            <a:off x="755650" y="1196975"/>
            <a:ext cx="7704138" cy="762000"/>
          </a:xfrm>
          <a:prstGeom prst="rect">
            <a:avLst/>
          </a:prstGeom>
          <a:noFill/>
          <a:ln w="9525">
            <a:noFill/>
            <a:miter lim="800000"/>
            <a:headEnd/>
            <a:tailEnd/>
          </a:ln>
        </p:spPr>
        <p:txBody>
          <a:bodyPr>
            <a:prstTxWarp prst="textNoShape">
              <a:avLst/>
            </a:prstTxWarp>
            <a:spAutoFit/>
          </a:bodyPr>
          <a:lstStyle/>
          <a:p>
            <a:endParaRPr lang="en-US" sz="4400">
              <a:solidFill>
                <a:schemeClr val="tx2"/>
              </a:solidFill>
            </a:endParaRPr>
          </a:p>
        </p:txBody>
      </p:sp>
      <p:sp>
        <p:nvSpPr>
          <p:cNvPr id="26631" name="Rectangle 7"/>
          <p:cNvSpPr>
            <a:spLocks noGrp="1" noChangeArrowheads="1"/>
          </p:cNvSpPr>
          <p:nvPr>
            <p:ph type="title"/>
          </p:nvPr>
        </p:nvSpPr>
        <p:spPr>
          <a:xfrm>
            <a:off x="457200" y="609600"/>
            <a:ext cx="8229600" cy="1143000"/>
          </a:xfrm>
        </p:spPr>
        <p:txBody>
          <a:bodyPr/>
          <a:lstStyle/>
          <a:p>
            <a:pPr eaLnBrk="1" hangingPunct="1"/>
            <a:r>
              <a:rPr lang="en-US" sz="4000" dirty="0">
                <a:latin typeface="Arial" charset="0"/>
              </a:rPr>
              <a:t>The story of the 3 mice</a:t>
            </a:r>
          </a:p>
        </p:txBody>
      </p:sp>
      <p:sp>
        <p:nvSpPr>
          <p:cNvPr id="10248" name="Rectangle 8"/>
          <p:cNvSpPr>
            <a:spLocks noGrp="1" noChangeArrowheads="1"/>
          </p:cNvSpPr>
          <p:nvPr>
            <p:ph type="body" idx="1"/>
          </p:nvPr>
        </p:nvSpPr>
        <p:spPr>
          <a:xfrm>
            <a:off x="900113" y="1989138"/>
            <a:ext cx="7415212" cy="3890962"/>
          </a:xfrm>
        </p:spPr>
        <p:txBody>
          <a:bodyPr/>
          <a:lstStyle/>
          <a:p>
            <a:pPr eaLnBrk="1" hangingPunct="1"/>
            <a:r>
              <a:rPr lang="en-US" sz="2800" b="1" dirty="0">
                <a:latin typeface="Arial" charset="0"/>
              </a:rPr>
              <a:t>First mouse</a:t>
            </a:r>
            <a:r>
              <a:rPr lang="en-US" sz="2800" dirty="0">
                <a:latin typeface="Arial" charset="0"/>
              </a:rPr>
              <a:t> – Each time he pressed the button a tasty morsel of food was delivered.</a:t>
            </a:r>
          </a:p>
          <a:p>
            <a:pPr eaLnBrk="1" hangingPunct="1">
              <a:buFontTx/>
              <a:buNone/>
            </a:pPr>
            <a:endParaRPr lang="en-US" sz="2800" dirty="0">
              <a:latin typeface="Arial" charset="0"/>
            </a:endParaRPr>
          </a:p>
          <a:p>
            <a:pPr eaLnBrk="1" hangingPunct="1"/>
            <a:r>
              <a:rPr lang="en-US" sz="2800" b="1" dirty="0">
                <a:latin typeface="Arial" charset="0"/>
              </a:rPr>
              <a:t>Second mouse</a:t>
            </a:r>
            <a:r>
              <a:rPr lang="en-US" sz="2800" dirty="0">
                <a:latin typeface="Arial" charset="0"/>
              </a:rPr>
              <a:t> – Faulty button delivered food inconsistently.</a:t>
            </a:r>
          </a:p>
          <a:p>
            <a:pPr eaLnBrk="1" hangingPunct="1">
              <a:buFontTx/>
              <a:buNone/>
            </a:pPr>
            <a:endParaRPr lang="en-US" sz="2800" dirty="0">
              <a:latin typeface="Arial" charset="0"/>
            </a:endParaRPr>
          </a:p>
          <a:p>
            <a:pPr eaLnBrk="1" hangingPunct="1"/>
            <a:r>
              <a:rPr lang="en-US" sz="2800" b="1" dirty="0">
                <a:latin typeface="Arial" charset="0"/>
              </a:rPr>
              <a:t>Third mouse</a:t>
            </a:r>
            <a:r>
              <a:rPr lang="en-US" sz="2800" dirty="0">
                <a:latin typeface="Arial" charset="0"/>
              </a:rPr>
              <a:t> – Button didn’t work at all.</a:t>
            </a:r>
          </a:p>
          <a:p>
            <a:pPr algn="r" eaLnBrk="1" hangingPunct="1">
              <a:buFontTx/>
              <a:buNone/>
            </a:pPr>
            <a:r>
              <a:rPr lang="en-US" sz="1400" dirty="0" err="1">
                <a:latin typeface="Arial" charset="0"/>
              </a:rPr>
              <a:t>From:Pearce</a:t>
            </a:r>
            <a:r>
              <a:rPr lang="en-US" sz="1400" dirty="0">
                <a:latin typeface="Arial" charset="0"/>
              </a:rPr>
              <a:t> (2009)</a:t>
            </a:r>
          </a:p>
          <a:p>
            <a:pPr eaLnBrk="1" hangingPunct="1"/>
            <a:endParaRPr lang="en-US" sz="1400" dirty="0">
              <a:latin typeface="Arial" charset="0"/>
            </a:endParaRPr>
          </a:p>
          <a:p>
            <a:pPr eaLnBrk="1" hangingPunct="1"/>
            <a:endParaRPr lang="en-US" sz="2800" dirty="0">
              <a:latin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4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4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4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24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descr="blocksrgb"/>
          <p:cNvPicPr>
            <a:picLocks noChangeAspect="1" noChangeArrowheads="1"/>
          </p:cNvPicPr>
          <p:nvPr/>
        </p:nvPicPr>
        <p:blipFill>
          <a:blip r:embed="rId3"/>
          <a:srcRect/>
          <a:stretch>
            <a:fillRect/>
          </a:stretch>
        </p:blipFill>
        <p:spPr bwMode="auto">
          <a:xfrm>
            <a:off x="7667625" y="5697538"/>
            <a:ext cx="1189038" cy="839787"/>
          </a:xfrm>
          <a:prstGeom prst="rect">
            <a:avLst/>
          </a:prstGeom>
          <a:noFill/>
          <a:ln w="9525">
            <a:noFill/>
            <a:miter lim="800000"/>
            <a:headEnd/>
            <a:tailEnd/>
          </a:ln>
        </p:spPr>
      </p:pic>
      <p:sp>
        <p:nvSpPr>
          <p:cNvPr id="28675" name="Rectangle 3"/>
          <p:cNvSpPr>
            <a:spLocks noChangeArrowheads="1"/>
          </p:cNvSpPr>
          <p:nvPr/>
        </p:nvSpPr>
        <p:spPr bwMode="auto">
          <a:xfrm>
            <a:off x="0" y="0"/>
            <a:ext cx="9144000" cy="533400"/>
          </a:xfrm>
          <a:prstGeom prst="rect">
            <a:avLst/>
          </a:prstGeom>
          <a:solidFill>
            <a:srgbClr val="6D2FAB"/>
          </a:solidFill>
          <a:ln w="0">
            <a:noFill/>
            <a:miter lim="800000"/>
            <a:headEnd/>
            <a:tailEnd/>
          </a:ln>
        </p:spPr>
        <p:txBody>
          <a:bodyPr wrap="none" anchor="ctr">
            <a:prstTxWarp prst="textNoShape">
              <a:avLst/>
            </a:prstTxWarp>
          </a:bodyPr>
          <a:lstStyle/>
          <a:p>
            <a:endParaRPr lang="en-US"/>
          </a:p>
        </p:txBody>
      </p:sp>
      <p:sp>
        <p:nvSpPr>
          <p:cNvPr id="28676" name="Text Box 4"/>
          <p:cNvSpPr txBox="1">
            <a:spLocks noChangeArrowheads="1"/>
          </p:cNvSpPr>
          <p:nvPr/>
        </p:nvSpPr>
        <p:spPr bwMode="auto">
          <a:xfrm>
            <a:off x="0" y="125413"/>
            <a:ext cx="9144000" cy="304800"/>
          </a:xfrm>
          <a:prstGeom prst="rect">
            <a:avLst/>
          </a:prstGeom>
          <a:noFill/>
          <a:ln w="9525">
            <a:noFill/>
            <a:miter lim="800000"/>
            <a:headEnd/>
            <a:tailEnd/>
          </a:ln>
        </p:spPr>
        <p:txBody>
          <a:bodyPr>
            <a:prstTxWarp prst="textNoShape">
              <a:avLst/>
            </a:prstTxWarp>
            <a:spAutoFit/>
          </a:bodyPr>
          <a:lstStyle/>
          <a:p>
            <a:pPr algn="ctr" eaLnBrk="0" hangingPunct="0"/>
            <a:r>
              <a:rPr lang="en-US" sz="1400">
                <a:solidFill>
                  <a:schemeClr val="bg1"/>
                </a:solidFill>
                <a:latin typeface="Arial Black" charset="0"/>
                <a:ea typeface="ＭＳ Ｐゴシック" charset="-128"/>
                <a:cs typeface="ＭＳ Ｐゴシック" charset="-128"/>
              </a:rPr>
              <a:t>E D U C A T I O N A L   P S Y C H O L O G Y   S E R V I C E</a:t>
            </a:r>
          </a:p>
        </p:txBody>
      </p:sp>
      <p:pic>
        <p:nvPicPr>
          <p:cNvPr id="28677" name="Picture 5" descr="Image windsor and Maidenhead"/>
          <p:cNvPicPr>
            <a:picLocks noChangeAspect="1" noChangeArrowheads="1"/>
          </p:cNvPicPr>
          <p:nvPr/>
        </p:nvPicPr>
        <p:blipFill>
          <a:blip r:embed="rId4"/>
          <a:srcRect/>
          <a:stretch>
            <a:fillRect/>
          </a:stretch>
        </p:blipFill>
        <p:spPr bwMode="auto">
          <a:xfrm>
            <a:off x="8637588" y="0"/>
            <a:ext cx="506412" cy="609600"/>
          </a:xfrm>
          <a:prstGeom prst="rect">
            <a:avLst/>
          </a:prstGeom>
          <a:noFill/>
          <a:ln w="3175">
            <a:noFill/>
            <a:miter lim="800000"/>
            <a:headEnd/>
            <a:tailEnd/>
          </a:ln>
        </p:spPr>
      </p:pic>
      <p:sp>
        <p:nvSpPr>
          <p:cNvPr id="28678" name="AutoShape 27"/>
          <p:cNvSpPr>
            <a:spLocks noChangeArrowheads="1"/>
          </p:cNvSpPr>
          <p:nvPr/>
        </p:nvSpPr>
        <p:spPr bwMode="auto">
          <a:xfrm rot="2289048">
            <a:off x="977900" y="1484313"/>
            <a:ext cx="1233488" cy="3060700"/>
          </a:xfrm>
          <a:prstGeom prst="triangle">
            <a:avLst>
              <a:gd name="adj" fmla="val 0"/>
            </a:avLst>
          </a:prstGeom>
          <a:solidFill>
            <a:srgbClr val="CC9900"/>
          </a:solidFill>
          <a:ln w="9525">
            <a:solidFill>
              <a:srgbClr val="CC9900"/>
            </a:solidFill>
            <a:miter lim="800000"/>
            <a:headEnd/>
            <a:tailEnd/>
          </a:ln>
        </p:spPr>
        <p:txBody>
          <a:bodyPr wrap="none" anchor="ctr">
            <a:prstTxWarp prst="textNoShape">
              <a:avLst/>
            </a:prstTxWarp>
          </a:bodyPr>
          <a:lstStyle/>
          <a:p>
            <a:endParaRPr lang="en-US"/>
          </a:p>
        </p:txBody>
      </p:sp>
      <p:sp>
        <p:nvSpPr>
          <p:cNvPr id="28679" name="AutoShape 28"/>
          <p:cNvSpPr>
            <a:spLocks noChangeArrowheads="1"/>
          </p:cNvSpPr>
          <p:nvPr/>
        </p:nvSpPr>
        <p:spPr bwMode="auto">
          <a:xfrm rot="-345548">
            <a:off x="971550" y="1412875"/>
            <a:ext cx="2941638" cy="3052763"/>
          </a:xfrm>
          <a:prstGeom prst="triangle">
            <a:avLst>
              <a:gd name="adj" fmla="val 42204"/>
            </a:avLst>
          </a:prstGeom>
          <a:solidFill>
            <a:srgbClr val="FCDE04"/>
          </a:solidFill>
          <a:ln w="9525">
            <a:solidFill>
              <a:srgbClr val="CC9900"/>
            </a:solidFill>
            <a:miter lim="800000"/>
            <a:headEnd/>
            <a:tailEnd/>
          </a:ln>
        </p:spPr>
        <p:txBody>
          <a:bodyPr wrap="none" anchor="ctr">
            <a:prstTxWarp prst="textNoShape">
              <a:avLst/>
            </a:prstTxWarp>
          </a:bodyPr>
          <a:lstStyle/>
          <a:p>
            <a:endParaRPr lang="en-US"/>
          </a:p>
        </p:txBody>
      </p:sp>
      <p:sp>
        <p:nvSpPr>
          <p:cNvPr id="28680" name="Rectangle 29"/>
          <p:cNvSpPr>
            <a:spLocks noGrp="1" noChangeArrowheads="1"/>
          </p:cNvSpPr>
          <p:nvPr>
            <p:ph type="title"/>
          </p:nvPr>
        </p:nvSpPr>
        <p:spPr>
          <a:xfrm>
            <a:off x="2916238" y="862013"/>
            <a:ext cx="5562600" cy="838200"/>
          </a:xfrm>
          <a:noFill/>
        </p:spPr>
        <p:txBody>
          <a:bodyPr lIns="90000" tIns="46800" rIns="90000" bIns="46800"/>
          <a:lstStyle/>
          <a:p>
            <a:pPr eaLnBrk="1" hangingPunct="1"/>
            <a:r>
              <a:rPr lang="en-GB" sz="4000">
                <a:latin typeface="Arial" charset="0"/>
              </a:rPr>
              <a:t>Maslow’s hierarchy</a:t>
            </a:r>
          </a:p>
        </p:txBody>
      </p:sp>
      <p:sp>
        <p:nvSpPr>
          <p:cNvPr id="28681" name="Line 30"/>
          <p:cNvSpPr>
            <a:spLocks noChangeShapeType="1"/>
          </p:cNvSpPr>
          <p:nvPr/>
        </p:nvSpPr>
        <p:spPr bwMode="auto">
          <a:xfrm flipV="1">
            <a:off x="1257300" y="3903663"/>
            <a:ext cx="2517775" cy="234950"/>
          </a:xfrm>
          <a:prstGeom prst="line">
            <a:avLst/>
          </a:prstGeom>
          <a:noFill/>
          <a:ln w="9525">
            <a:solidFill>
              <a:srgbClr val="CC9900">
                <a:alpha val="81960"/>
              </a:srgbClr>
            </a:solidFill>
            <a:round/>
            <a:headEnd/>
            <a:tailEnd/>
          </a:ln>
        </p:spPr>
        <p:txBody>
          <a:bodyPr>
            <a:prstTxWarp prst="textNoShape">
              <a:avLst/>
            </a:prstTxWarp>
          </a:bodyPr>
          <a:lstStyle/>
          <a:p>
            <a:endParaRPr lang="en-US"/>
          </a:p>
        </p:txBody>
      </p:sp>
      <p:sp>
        <p:nvSpPr>
          <p:cNvPr id="28682" name="Line 31"/>
          <p:cNvSpPr>
            <a:spLocks noChangeShapeType="1"/>
          </p:cNvSpPr>
          <p:nvPr/>
        </p:nvSpPr>
        <p:spPr bwMode="auto">
          <a:xfrm flipV="1">
            <a:off x="1404938" y="3454400"/>
            <a:ext cx="2055812" cy="206375"/>
          </a:xfrm>
          <a:prstGeom prst="line">
            <a:avLst/>
          </a:prstGeom>
          <a:noFill/>
          <a:ln w="9525">
            <a:solidFill>
              <a:srgbClr val="CC9900">
                <a:alpha val="81960"/>
              </a:srgbClr>
            </a:solidFill>
            <a:round/>
            <a:headEnd/>
            <a:tailEnd/>
          </a:ln>
        </p:spPr>
        <p:txBody>
          <a:bodyPr>
            <a:prstTxWarp prst="textNoShape">
              <a:avLst/>
            </a:prstTxWarp>
          </a:bodyPr>
          <a:lstStyle/>
          <a:p>
            <a:endParaRPr lang="en-US"/>
          </a:p>
        </p:txBody>
      </p:sp>
      <p:sp>
        <p:nvSpPr>
          <p:cNvPr id="28683" name="Line 32"/>
          <p:cNvSpPr>
            <a:spLocks noChangeShapeType="1"/>
          </p:cNvSpPr>
          <p:nvPr/>
        </p:nvSpPr>
        <p:spPr bwMode="auto">
          <a:xfrm flipV="1">
            <a:off x="1538288" y="3044825"/>
            <a:ext cx="1635125" cy="142875"/>
          </a:xfrm>
          <a:prstGeom prst="line">
            <a:avLst/>
          </a:prstGeom>
          <a:noFill/>
          <a:ln w="9525">
            <a:solidFill>
              <a:srgbClr val="CC9900">
                <a:alpha val="81960"/>
              </a:srgbClr>
            </a:solidFill>
            <a:round/>
            <a:headEnd/>
            <a:tailEnd/>
          </a:ln>
        </p:spPr>
        <p:txBody>
          <a:bodyPr>
            <a:prstTxWarp prst="textNoShape">
              <a:avLst/>
            </a:prstTxWarp>
          </a:bodyPr>
          <a:lstStyle/>
          <a:p>
            <a:endParaRPr lang="en-US"/>
          </a:p>
        </p:txBody>
      </p:sp>
      <p:sp>
        <p:nvSpPr>
          <p:cNvPr id="28684" name="Line 33"/>
          <p:cNvSpPr>
            <a:spLocks noChangeShapeType="1"/>
          </p:cNvSpPr>
          <p:nvPr/>
        </p:nvSpPr>
        <p:spPr bwMode="auto">
          <a:xfrm flipV="1">
            <a:off x="1677988" y="2592388"/>
            <a:ext cx="1182687" cy="122237"/>
          </a:xfrm>
          <a:prstGeom prst="line">
            <a:avLst/>
          </a:prstGeom>
          <a:noFill/>
          <a:ln w="9525">
            <a:solidFill>
              <a:srgbClr val="CC9900">
                <a:alpha val="81960"/>
              </a:srgbClr>
            </a:solidFill>
            <a:round/>
            <a:headEnd/>
            <a:tailEnd/>
          </a:ln>
        </p:spPr>
        <p:txBody>
          <a:bodyPr>
            <a:prstTxWarp prst="textNoShape">
              <a:avLst/>
            </a:prstTxWarp>
          </a:bodyPr>
          <a:lstStyle/>
          <a:p>
            <a:endParaRPr lang="en-US"/>
          </a:p>
        </p:txBody>
      </p:sp>
      <p:sp>
        <p:nvSpPr>
          <p:cNvPr id="28685" name="Line 34"/>
          <p:cNvSpPr>
            <a:spLocks noChangeShapeType="1"/>
          </p:cNvSpPr>
          <p:nvPr/>
        </p:nvSpPr>
        <p:spPr bwMode="auto">
          <a:xfrm>
            <a:off x="2379663" y="2430463"/>
            <a:ext cx="1903412" cy="0"/>
          </a:xfrm>
          <a:prstGeom prst="line">
            <a:avLst/>
          </a:prstGeom>
          <a:noFill/>
          <a:ln w="15875">
            <a:solidFill>
              <a:srgbClr val="99CCFF"/>
            </a:solidFill>
            <a:round/>
            <a:headEnd/>
            <a:tailEnd/>
          </a:ln>
        </p:spPr>
        <p:txBody>
          <a:bodyPr>
            <a:prstTxWarp prst="textNoShape">
              <a:avLst/>
            </a:prstTxWarp>
          </a:bodyPr>
          <a:lstStyle/>
          <a:p>
            <a:endParaRPr lang="en-US"/>
          </a:p>
        </p:txBody>
      </p:sp>
      <p:sp>
        <p:nvSpPr>
          <p:cNvPr id="28686" name="Line 35"/>
          <p:cNvSpPr>
            <a:spLocks noChangeShapeType="1"/>
          </p:cNvSpPr>
          <p:nvPr/>
        </p:nvSpPr>
        <p:spPr bwMode="auto">
          <a:xfrm>
            <a:off x="2384425" y="2890838"/>
            <a:ext cx="1903413" cy="0"/>
          </a:xfrm>
          <a:prstGeom prst="line">
            <a:avLst/>
          </a:prstGeom>
          <a:noFill/>
          <a:ln w="15875">
            <a:solidFill>
              <a:srgbClr val="99CCFF"/>
            </a:solidFill>
            <a:round/>
            <a:headEnd/>
            <a:tailEnd/>
          </a:ln>
        </p:spPr>
        <p:txBody>
          <a:bodyPr>
            <a:prstTxWarp prst="textNoShape">
              <a:avLst/>
            </a:prstTxWarp>
          </a:bodyPr>
          <a:lstStyle/>
          <a:p>
            <a:endParaRPr lang="en-US"/>
          </a:p>
        </p:txBody>
      </p:sp>
      <p:sp>
        <p:nvSpPr>
          <p:cNvPr id="28687" name="Line 36"/>
          <p:cNvSpPr>
            <a:spLocks noChangeShapeType="1"/>
          </p:cNvSpPr>
          <p:nvPr/>
        </p:nvSpPr>
        <p:spPr bwMode="auto">
          <a:xfrm>
            <a:off x="2395538" y="3335338"/>
            <a:ext cx="1903412" cy="0"/>
          </a:xfrm>
          <a:prstGeom prst="line">
            <a:avLst/>
          </a:prstGeom>
          <a:noFill/>
          <a:ln w="15875">
            <a:solidFill>
              <a:srgbClr val="99CCFF"/>
            </a:solidFill>
            <a:round/>
            <a:headEnd/>
            <a:tailEnd/>
          </a:ln>
        </p:spPr>
        <p:txBody>
          <a:bodyPr>
            <a:prstTxWarp prst="textNoShape">
              <a:avLst/>
            </a:prstTxWarp>
          </a:bodyPr>
          <a:lstStyle/>
          <a:p>
            <a:endParaRPr lang="en-US"/>
          </a:p>
        </p:txBody>
      </p:sp>
      <p:sp>
        <p:nvSpPr>
          <p:cNvPr id="28688" name="Line 37"/>
          <p:cNvSpPr>
            <a:spLocks noChangeShapeType="1"/>
          </p:cNvSpPr>
          <p:nvPr/>
        </p:nvSpPr>
        <p:spPr bwMode="auto">
          <a:xfrm>
            <a:off x="2400300" y="3773488"/>
            <a:ext cx="1903413" cy="0"/>
          </a:xfrm>
          <a:prstGeom prst="line">
            <a:avLst/>
          </a:prstGeom>
          <a:noFill/>
          <a:ln w="15875">
            <a:solidFill>
              <a:srgbClr val="99CCFF"/>
            </a:solidFill>
            <a:round/>
            <a:headEnd/>
            <a:tailEnd/>
          </a:ln>
        </p:spPr>
        <p:txBody>
          <a:bodyPr>
            <a:prstTxWarp prst="textNoShape">
              <a:avLst/>
            </a:prstTxWarp>
          </a:bodyPr>
          <a:lstStyle/>
          <a:p>
            <a:endParaRPr lang="en-US"/>
          </a:p>
        </p:txBody>
      </p:sp>
      <p:sp>
        <p:nvSpPr>
          <p:cNvPr id="28689" name="Line 38"/>
          <p:cNvSpPr>
            <a:spLocks noChangeShapeType="1"/>
          </p:cNvSpPr>
          <p:nvPr/>
        </p:nvSpPr>
        <p:spPr bwMode="auto">
          <a:xfrm>
            <a:off x="2393950" y="4233863"/>
            <a:ext cx="1903413" cy="0"/>
          </a:xfrm>
          <a:prstGeom prst="line">
            <a:avLst/>
          </a:prstGeom>
          <a:noFill/>
          <a:ln w="15875">
            <a:solidFill>
              <a:srgbClr val="99CCFF"/>
            </a:solidFill>
            <a:round/>
            <a:headEnd/>
            <a:tailEnd/>
          </a:ln>
        </p:spPr>
        <p:txBody>
          <a:bodyPr>
            <a:prstTxWarp prst="textNoShape">
              <a:avLst/>
            </a:prstTxWarp>
          </a:bodyPr>
          <a:lstStyle/>
          <a:p>
            <a:endParaRPr lang="en-US"/>
          </a:p>
        </p:txBody>
      </p:sp>
      <p:sp>
        <p:nvSpPr>
          <p:cNvPr id="28690" name="Text Box 39"/>
          <p:cNvSpPr txBox="1">
            <a:spLocks noChangeArrowheads="1"/>
          </p:cNvSpPr>
          <p:nvPr/>
        </p:nvSpPr>
        <p:spPr bwMode="auto">
          <a:xfrm>
            <a:off x="4389438" y="2208213"/>
            <a:ext cx="3009900" cy="420687"/>
          </a:xfrm>
          <a:prstGeom prst="rect">
            <a:avLst/>
          </a:prstGeom>
          <a:noFill/>
          <a:ln w="9525">
            <a:noFill/>
            <a:miter lim="800000"/>
            <a:headEnd/>
            <a:tailEnd/>
          </a:ln>
        </p:spPr>
        <p:txBody>
          <a:bodyPr>
            <a:prstTxWarp prst="textNoShape">
              <a:avLst/>
            </a:prstTxWarp>
            <a:spAutoFit/>
          </a:bodyPr>
          <a:lstStyle/>
          <a:p>
            <a:pPr eaLnBrk="0" hangingPunct="0">
              <a:lnSpc>
                <a:spcPct val="90000"/>
              </a:lnSpc>
              <a:spcBef>
                <a:spcPct val="50000"/>
              </a:spcBef>
              <a:buClr>
                <a:srgbClr val="000000"/>
              </a:buClr>
              <a:buSzPct val="100000"/>
              <a:buFont typeface="Times New Roman" charset="0"/>
              <a:buNone/>
            </a:pPr>
            <a:r>
              <a:rPr lang="en-GB" b="1">
                <a:solidFill>
                  <a:srgbClr val="CC9900"/>
                </a:solidFill>
                <a:latin typeface="Arial" charset="0"/>
                <a:ea typeface="Arial Unicode MS" charset="0"/>
                <a:cs typeface="Arial Unicode MS" charset="0"/>
              </a:rPr>
              <a:t>5</a:t>
            </a:r>
            <a:r>
              <a:rPr lang="en-GB" sz="2000">
                <a:latin typeface="Arial" charset="0"/>
                <a:ea typeface="Arial Unicode MS" charset="0"/>
                <a:cs typeface="Arial Unicode MS" charset="0"/>
              </a:rPr>
              <a:t> fulfilment needs</a:t>
            </a:r>
          </a:p>
        </p:txBody>
      </p:sp>
      <p:sp>
        <p:nvSpPr>
          <p:cNvPr id="28691" name="Text Box 40"/>
          <p:cNvSpPr txBox="1">
            <a:spLocks noChangeArrowheads="1"/>
          </p:cNvSpPr>
          <p:nvPr/>
        </p:nvSpPr>
        <p:spPr bwMode="auto">
          <a:xfrm>
            <a:off x="4383088" y="2679700"/>
            <a:ext cx="3009900" cy="420688"/>
          </a:xfrm>
          <a:prstGeom prst="rect">
            <a:avLst/>
          </a:prstGeom>
          <a:noFill/>
          <a:ln w="9525">
            <a:noFill/>
            <a:miter lim="800000"/>
            <a:headEnd/>
            <a:tailEnd/>
          </a:ln>
        </p:spPr>
        <p:txBody>
          <a:bodyPr>
            <a:prstTxWarp prst="textNoShape">
              <a:avLst/>
            </a:prstTxWarp>
            <a:spAutoFit/>
          </a:bodyPr>
          <a:lstStyle/>
          <a:p>
            <a:pPr eaLnBrk="0" hangingPunct="0">
              <a:lnSpc>
                <a:spcPct val="90000"/>
              </a:lnSpc>
              <a:spcBef>
                <a:spcPct val="50000"/>
              </a:spcBef>
              <a:buClr>
                <a:srgbClr val="000000"/>
              </a:buClr>
              <a:buSzPct val="100000"/>
              <a:buFont typeface="Times New Roman" charset="0"/>
              <a:buNone/>
            </a:pPr>
            <a:r>
              <a:rPr lang="en-GB" b="1">
                <a:solidFill>
                  <a:srgbClr val="CC9900"/>
                </a:solidFill>
                <a:latin typeface="Arial" charset="0"/>
                <a:ea typeface="Arial Unicode MS" charset="0"/>
                <a:cs typeface="Arial Unicode MS" charset="0"/>
              </a:rPr>
              <a:t>4</a:t>
            </a:r>
            <a:r>
              <a:rPr lang="en-GB" sz="2000">
                <a:latin typeface="Arial" charset="0"/>
                <a:ea typeface="Arial Unicode MS" charset="0"/>
                <a:cs typeface="Arial Unicode MS" charset="0"/>
              </a:rPr>
              <a:t> esteem needs</a:t>
            </a:r>
          </a:p>
        </p:txBody>
      </p:sp>
      <p:sp>
        <p:nvSpPr>
          <p:cNvPr id="28692" name="Text Box 41"/>
          <p:cNvSpPr txBox="1">
            <a:spLocks noChangeArrowheads="1"/>
          </p:cNvSpPr>
          <p:nvPr/>
        </p:nvSpPr>
        <p:spPr bwMode="auto">
          <a:xfrm>
            <a:off x="4356100" y="3141663"/>
            <a:ext cx="3009900" cy="420687"/>
          </a:xfrm>
          <a:prstGeom prst="rect">
            <a:avLst/>
          </a:prstGeom>
          <a:noFill/>
          <a:ln w="9525">
            <a:noFill/>
            <a:miter lim="800000"/>
            <a:headEnd/>
            <a:tailEnd/>
          </a:ln>
        </p:spPr>
        <p:txBody>
          <a:bodyPr>
            <a:prstTxWarp prst="textNoShape">
              <a:avLst/>
            </a:prstTxWarp>
            <a:spAutoFit/>
          </a:bodyPr>
          <a:lstStyle/>
          <a:p>
            <a:pPr eaLnBrk="0" hangingPunct="0">
              <a:lnSpc>
                <a:spcPct val="90000"/>
              </a:lnSpc>
              <a:spcBef>
                <a:spcPct val="50000"/>
              </a:spcBef>
              <a:buClr>
                <a:srgbClr val="000000"/>
              </a:buClr>
              <a:buSzPct val="100000"/>
              <a:buFont typeface="Times New Roman" charset="0"/>
              <a:buNone/>
            </a:pPr>
            <a:r>
              <a:rPr lang="en-GB" b="1">
                <a:solidFill>
                  <a:srgbClr val="CC9900"/>
                </a:solidFill>
                <a:latin typeface="Arial" charset="0"/>
                <a:ea typeface="Arial Unicode MS" charset="0"/>
                <a:cs typeface="Arial Unicode MS" charset="0"/>
              </a:rPr>
              <a:t>3</a:t>
            </a:r>
            <a:r>
              <a:rPr lang="en-GB" sz="2000">
                <a:latin typeface="Arial" charset="0"/>
                <a:ea typeface="Arial Unicode MS" charset="0"/>
                <a:cs typeface="Arial Unicode MS" charset="0"/>
              </a:rPr>
              <a:t> social needs</a:t>
            </a:r>
          </a:p>
        </p:txBody>
      </p:sp>
      <p:sp>
        <p:nvSpPr>
          <p:cNvPr id="28693" name="Text Box 42"/>
          <p:cNvSpPr txBox="1">
            <a:spLocks noChangeArrowheads="1"/>
          </p:cNvSpPr>
          <p:nvPr/>
        </p:nvSpPr>
        <p:spPr bwMode="auto">
          <a:xfrm>
            <a:off x="4381500" y="3556000"/>
            <a:ext cx="3009900" cy="420688"/>
          </a:xfrm>
          <a:prstGeom prst="rect">
            <a:avLst/>
          </a:prstGeom>
          <a:noFill/>
          <a:ln w="9525">
            <a:noFill/>
            <a:miter lim="800000"/>
            <a:headEnd/>
            <a:tailEnd/>
          </a:ln>
        </p:spPr>
        <p:txBody>
          <a:bodyPr>
            <a:prstTxWarp prst="textNoShape">
              <a:avLst/>
            </a:prstTxWarp>
            <a:spAutoFit/>
          </a:bodyPr>
          <a:lstStyle/>
          <a:p>
            <a:pPr eaLnBrk="0" hangingPunct="0">
              <a:lnSpc>
                <a:spcPct val="90000"/>
              </a:lnSpc>
              <a:spcBef>
                <a:spcPct val="50000"/>
              </a:spcBef>
              <a:buClr>
                <a:srgbClr val="000000"/>
              </a:buClr>
              <a:buSzPct val="100000"/>
              <a:buFont typeface="Times New Roman" charset="0"/>
              <a:buNone/>
            </a:pPr>
            <a:r>
              <a:rPr lang="en-GB" b="1">
                <a:solidFill>
                  <a:srgbClr val="CC9900"/>
                </a:solidFill>
                <a:latin typeface="Arial" charset="0"/>
                <a:ea typeface="Arial Unicode MS" charset="0"/>
                <a:cs typeface="Arial Unicode MS" charset="0"/>
              </a:rPr>
              <a:t>2</a:t>
            </a:r>
            <a:r>
              <a:rPr lang="en-GB" sz="2000">
                <a:latin typeface="Arial" charset="0"/>
                <a:ea typeface="Arial Unicode MS" charset="0"/>
                <a:cs typeface="Arial Unicode MS" charset="0"/>
              </a:rPr>
              <a:t> safety needs</a:t>
            </a:r>
          </a:p>
        </p:txBody>
      </p:sp>
      <p:sp>
        <p:nvSpPr>
          <p:cNvPr id="28694" name="Text Box 43"/>
          <p:cNvSpPr txBox="1">
            <a:spLocks noChangeArrowheads="1"/>
          </p:cNvSpPr>
          <p:nvPr/>
        </p:nvSpPr>
        <p:spPr bwMode="auto">
          <a:xfrm>
            <a:off x="4386263" y="4016375"/>
            <a:ext cx="3009900" cy="420688"/>
          </a:xfrm>
          <a:prstGeom prst="rect">
            <a:avLst/>
          </a:prstGeom>
          <a:noFill/>
          <a:ln w="9525">
            <a:noFill/>
            <a:miter lim="800000"/>
            <a:headEnd/>
            <a:tailEnd/>
          </a:ln>
        </p:spPr>
        <p:txBody>
          <a:bodyPr>
            <a:prstTxWarp prst="textNoShape">
              <a:avLst/>
            </a:prstTxWarp>
            <a:spAutoFit/>
          </a:bodyPr>
          <a:lstStyle/>
          <a:p>
            <a:pPr eaLnBrk="0" hangingPunct="0">
              <a:lnSpc>
                <a:spcPct val="90000"/>
              </a:lnSpc>
              <a:spcBef>
                <a:spcPct val="50000"/>
              </a:spcBef>
              <a:buClr>
                <a:srgbClr val="000000"/>
              </a:buClr>
              <a:buSzPct val="100000"/>
              <a:buFont typeface="Times New Roman" charset="0"/>
              <a:buNone/>
            </a:pPr>
            <a:r>
              <a:rPr lang="en-GB" b="1">
                <a:solidFill>
                  <a:srgbClr val="CC9900"/>
                </a:solidFill>
                <a:latin typeface="Arial" charset="0"/>
                <a:ea typeface="Arial Unicode MS" charset="0"/>
                <a:cs typeface="Arial Unicode MS" charset="0"/>
              </a:rPr>
              <a:t>1</a:t>
            </a:r>
            <a:r>
              <a:rPr lang="en-GB" sz="2000">
                <a:latin typeface="Arial" charset="0"/>
                <a:ea typeface="Arial Unicode MS" charset="0"/>
                <a:cs typeface="Arial Unicode MS" charset="0"/>
              </a:rPr>
              <a:t> physiological needs</a:t>
            </a:r>
          </a:p>
        </p:txBody>
      </p:sp>
      <p:sp>
        <p:nvSpPr>
          <p:cNvPr id="28695" name="AutoShape 46"/>
          <p:cNvSpPr>
            <a:spLocks/>
          </p:cNvSpPr>
          <p:nvPr/>
        </p:nvSpPr>
        <p:spPr bwMode="auto">
          <a:xfrm>
            <a:off x="6877050" y="2060575"/>
            <a:ext cx="431800" cy="1512888"/>
          </a:xfrm>
          <a:prstGeom prst="rightBrace">
            <a:avLst>
              <a:gd name="adj1" fmla="val 29197"/>
              <a:gd name="adj2" fmla="val 50000"/>
            </a:avLst>
          </a:prstGeom>
          <a:noFill/>
          <a:ln w="9525">
            <a:solidFill>
              <a:schemeClr val="tx1"/>
            </a:solidFill>
            <a:round/>
            <a:headEnd/>
            <a:tailEnd/>
          </a:ln>
        </p:spPr>
        <p:txBody>
          <a:bodyPr wrap="none" anchor="ctr">
            <a:prstTxWarp prst="textNoShape">
              <a:avLst/>
            </a:prstTxWarp>
          </a:bodyPr>
          <a:lstStyle/>
          <a:p>
            <a:endParaRPr lang="en-US"/>
          </a:p>
        </p:txBody>
      </p:sp>
      <p:sp>
        <p:nvSpPr>
          <p:cNvPr id="28696" name="AutoShape 48"/>
          <p:cNvSpPr>
            <a:spLocks/>
          </p:cNvSpPr>
          <p:nvPr/>
        </p:nvSpPr>
        <p:spPr bwMode="auto">
          <a:xfrm>
            <a:off x="6877050" y="3644900"/>
            <a:ext cx="360363" cy="936625"/>
          </a:xfrm>
          <a:prstGeom prst="rightBrace">
            <a:avLst>
              <a:gd name="adj1" fmla="val 21659"/>
              <a:gd name="adj2" fmla="val 50000"/>
            </a:avLst>
          </a:prstGeom>
          <a:noFill/>
          <a:ln w="9525">
            <a:solidFill>
              <a:schemeClr val="tx1"/>
            </a:solidFill>
            <a:round/>
            <a:headEnd/>
            <a:tailEnd/>
          </a:ln>
        </p:spPr>
        <p:txBody>
          <a:bodyPr wrap="none" anchor="ctr">
            <a:prstTxWarp prst="textNoShape">
              <a:avLst/>
            </a:prstTxWarp>
          </a:bodyPr>
          <a:lstStyle/>
          <a:p>
            <a:endParaRPr lang="en-US"/>
          </a:p>
        </p:txBody>
      </p:sp>
      <p:sp>
        <p:nvSpPr>
          <p:cNvPr id="50225" name="Text Box 49"/>
          <p:cNvSpPr txBox="1">
            <a:spLocks noChangeArrowheads="1"/>
          </p:cNvSpPr>
          <p:nvPr/>
        </p:nvSpPr>
        <p:spPr bwMode="auto">
          <a:xfrm>
            <a:off x="7524750" y="2133600"/>
            <a:ext cx="1223963" cy="1187450"/>
          </a:xfrm>
          <a:prstGeom prst="rect">
            <a:avLst/>
          </a:prstGeom>
          <a:noFill/>
          <a:ln w="9525">
            <a:noFill/>
            <a:miter lim="800000"/>
            <a:headEnd/>
            <a:tailEnd/>
          </a:ln>
        </p:spPr>
        <p:txBody>
          <a:bodyPr>
            <a:prstTxWarp prst="textNoShape">
              <a:avLst/>
            </a:prstTxWarp>
            <a:spAutoFit/>
          </a:bodyPr>
          <a:lstStyle/>
          <a:p>
            <a:pPr>
              <a:spcBef>
                <a:spcPct val="50000"/>
              </a:spcBef>
            </a:pPr>
            <a:r>
              <a:rPr lang="en-US" b="1">
                <a:latin typeface="Arial" charset="0"/>
              </a:rPr>
              <a:t>Higher level needs</a:t>
            </a:r>
          </a:p>
        </p:txBody>
      </p:sp>
      <p:sp>
        <p:nvSpPr>
          <p:cNvPr id="50226" name="Text Box 50"/>
          <p:cNvSpPr txBox="1">
            <a:spLocks noChangeArrowheads="1"/>
          </p:cNvSpPr>
          <p:nvPr/>
        </p:nvSpPr>
        <p:spPr bwMode="auto">
          <a:xfrm>
            <a:off x="7451725" y="3716338"/>
            <a:ext cx="1152525" cy="822325"/>
          </a:xfrm>
          <a:prstGeom prst="rect">
            <a:avLst/>
          </a:prstGeom>
          <a:noFill/>
          <a:ln w="9525">
            <a:noFill/>
            <a:miter lim="800000"/>
            <a:headEnd/>
            <a:tailEnd/>
          </a:ln>
        </p:spPr>
        <p:txBody>
          <a:bodyPr>
            <a:prstTxWarp prst="textNoShape">
              <a:avLst/>
            </a:prstTxWarp>
            <a:spAutoFit/>
          </a:bodyPr>
          <a:lstStyle/>
          <a:p>
            <a:pPr>
              <a:spcBef>
                <a:spcPct val="50000"/>
              </a:spcBef>
            </a:pPr>
            <a:r>
              <a:rPr lang="en-US" b="1">
                <a:latin typeface="Arial" charset="0"/>
              </a:rPr>
              <a:t>Basic needs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2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02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225" grpId="0"/>
      <p:bldP spid="5022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2" descr="blocksrgb"/>
          <p:cNvPicPr>
            <a:picLocks noChangeAspect="1" noChangeArrowheads="1"/>
          </p:cNvPicPr>
          <p:nvPr/>
        </p:nvPicPr>
        <p:blipFill>
          <a:blip r:embed="rId3"/>
          <a:srcRect/>
          <a:stretch>
            <a:fillRect/>
          </a:stretch>
        </p:blipFill>
        <p:spPr bwMode="auto">
          <a:xfrm>
            <a:off x="7667625" y="5697538"/>
            <a:ext cx="1189038" cy="839787"/>
          </a:xfrm>
          <a:prstGeom prst="rect">
            <a:avLst/>
          </a:prstGeom>
          <a:noFill/>
          <a:ln w="9525">
            <a:noFill/>
            <a:miter lim="800000"/>
            <a:headEnd/>
            <a:tailEnd/>
          </a:ln>
        </p:spPr>
      </p:pic>
      <p:sp>
        <p:nvSpPr>
          <p:cNvPr id="30723" name="Rectangle 3"/>
          <p:cNvSpPr>
            <a:spLocks noChangeArrowheads="1"/>
          </p:cNvSpPr>
          <p:nvPr/>
        </p:nvSpPr>
        <p:spPr bwMode="auto">
          <a:xfrm>
            <a:off x="0" y="0"/>
            <a:ext cx="9144000" cy="533400"/>
          </a:xfrm>
          <a:prstGeom prst="rect">
            <a:avLst/>
          </a:prstGeom>
          <a:solidFill>
            <a:srgbClr val="6D2FAB"/>
          </a:solidFill>
          <a:ln w="0">
            <a:noFill/>
            <a:miter lim="800000"/>
            <a:headEnd/>
            <a:tailEnd/>
          </a:ln>
        </p:spPr>
        <p:txBody>
          <a:bodyPr wrap="none" anchor="ctr">
            <a:prstTxWarp prst="textNoShape">
              <a:avLst/>
            </a:prstTxWarp>
          </a:bodyPr>
          <a:lstStyle/>
          <a:p>
            <a:endParaRPr lang="en-US"/>
          </a:p>
        </p:txBody>
      </p:sp>
      <p:sp>
        <p:nvSpPr>
          <p:cNvPr id="30724" name="Text Box 4"/>
          <p:cNvSpPr txBox="1">
            <a:spLocks noChangeArrowheads="1"/>
          </p:cNvSpPr>
          <p:nvPr/>
        </p:nvSpPr>
        <p:spPr bwMode="auto">
          <a:xfrm>
            <a:off x="0" y="125413"/>
            <a:ext cx="9144000" cy="304800"/>
          </a:xfrm>
          <a:prstGeom prst="rect">
            <a:avLst/>
          </a:prstGeom>
          <a:noFill/>
          <a:ln w="9525">
            <a:noFill/>
            <a:miter lim="800000"/>
            <a:headEnd/>
            <a:tailEnd/>
          </a:ln>
        </p:spPr>
        <p:txBody>
          <a:bodyPr>
            <a:prstTxWarp prst="textNoShape">
              <a:avLst/>
            </a:prstTxWarp>
            <a:spAutoFit/>
          </a:bodyPr>
          <a:lstStyle/>
          <a:p>
            <a:pPr algn="ctr" eaLnBrk="0" hangingPunct="0"/>
            <a:r>
              <a:rPr lang="en-US" sz="1400">
                <a:solidFill>
                  <a:schemeClr val="bg1"/>
                </a:solidFill>
                <a:latin typeface="Arial Black" charset="0"/>
                <a:ea typeface="ＭＳ Ｐゴシック" charset="-128"/>
                <a:cs typeface="ＭＳ Ｐゴシック" charset="-128"/>
              </a:rPr>
              <a:t>E D U C A T I O N A L   P S Y C H O L O G Y   S E R V I C E</a:t>
            </a:r>
          </a:p>
        </p:txBody>
      </p:sp>
      <p:pic>
        <p:nvPicPr>
          <p:cNvPr id="30725" name="Picture 5" descr="Image windsor and Maidenhead"/>
          <p:cNvPicPr>
            <a:picLocks noChangeAspect="1" noChangeArrowheads="1"/>
          </p:cNvPicPr>
          <p:nvPr/>
        </p:nvPicPr>
        <p:blipFill>
          <a:blip r:embed="rId4"/>
          <a:srcRect/>
          <a:stretch>
            <a:fillRect/>
          </a:stretch>
        </p:blipFill>
        <p:spPr bwMode="auto">
          <a:xfrm>
            <a:off x="8637588" y="0"/>
            <a:ext cx="506412" cy="609600"/>
          </a:xfrm>
          <a:prstGeom prst="rect">
            <a:avLst/>
          </a:prstGeom>
          <a:noFill/>
          <a:ln w="3175">
            <a:noFill/>
            <a:miter lim="800000"/>
            <a:headEnd/>
            <a:tailEnd/>
          </a:ln>
        </p:spPr>
      </p:pic>
      <p:sp>
        <p:nvSpPr>
          <p:cNvPr id="30726" name="Rectangle 6"/>
          <p:cNvSpPr>
            <a:spLocks noChangeArrowheads="1"/>
          </p:cNvSpPr>
          <p:nvPr/>
        </p:nvSpPr>
        <p:spPr bwMode="auto">
          <a:xfrm>
            <a:off x="755650" y="1196975"/>
            <a:ext cx="7704138" cy="762000"/>
          </a:xfrm>
          <a:prstGeom prst="rect">
            <a:avLst/>
          </a:prstGeom>
          <a:noFill/>
          <a:ln w="9525">
            <a:noFill/>
            <a:miter lim="800000"/>
            <a:headEnd/>
            <a:tailEnd/>
          </a:ln>
        </p:spPr>
        <p:txBody>
          <a:bodyPr>
            <a:prstTxWarp prst="textNoShape">
              <a:avLst/>
            </a:prstTxWarp>
            <a:spAutoFit/>
          </a:bodyPr>
          <a:lstStyle/>
          <a:p>
            <a:endParaRPr lang="en-US" sz="4400">
              <a:solidFill>
                <a:schemeClr val="tx2"/>
              </a:solidFill>
            </a:endParaRPr>
          </a:p>
        </p:txBody>
      </p:sp>
      <p:sp>
        <p:nvSpPr>
          <p:cNvPr id="30727" name="Rectangle 7"/>
          <p:cNvSpPr>
            <a:spLocks noGrp="1" noChangeArrowheads="1"/>
          </p:cNvSpPr>
          <p:nvPr>
            <p:ph type="title"/>
          </p:nvPr>
        </p:nvSpPr>
        <p:spPr>
          <a:xfrm>
            <a:off x="457200" y="609600"/>
            <a:ext cx="8229600" cy="1143000"/>
          </a:xfrm>
        </p:spPr>
        <p:txBody>
          <a:bodyPr/>
          <a:lstStyle/>
          <a:p>
            <a:pPr eaLnBrk="1" hangingPunct="1"/>
            <a:r>
              <a:rPr lang="en-US" sz="4000" dirty="0">
                <a:latin typeface="Arial" charset="0"/>
              </a:rPr>
              <a:t>The continuing story…</a:t>
            </a:r>
          </a:p>
        </p:txBody>
      </p:sp>
      <p:sp>
        <p:nvSpPr>
          <p:cNvPr id="68616" name="Rectangle 8"/>
          <p:cNvSpPr>
            <a:spLocks noGrp="1" noChangeArrowheads="1"/>
          </p:cNvSpPr>
          <p:nvPr>
            <p:ph type="body" idx="1"/>
          </p:nvPr>
        </p:nvSpPr>
        <p:spPr>
          <a:xfrm>
            <a:off x="539750" y="1989138"/>
            <a:ext cx="8135938" cy="4319587"/>
          </a:xfrm>
        </p:spPr>
        <p:txBody>
          <a:bodyPr/>
          <a:lstStyle/>
          <a:p>
            <a:pPr eaLnBrk="1" hangingPunct="1">
              <a:lnSpc>
                <a:spcPct val="80000"/>
              </a:lnSpc>
            </a:pPr>
            <a:r>
              <a:rPr lang="en-US" sz="2800" b="1" dirty="0">
                <a:latin typeface="Arial" charset="0"/>
              </a:rPr>
              <a:t>First mouse</a:t>
            </a:r>
            <a:r>
              <a:rPr lang="en-US" sz="2800" dirty="0">
                <a:latin typeface="Arial" charset="0"/>
              </a:rPr>
              <a:t> – Each time he needed comforting his parent or surrogate mouse parent was there for him.</a:t>
            </a:r>
          </a:p>
          <a:p>
            <a:pPr eaLnBrk="1" hangingPunct="1">
              <a:lnSpc>
                <a:spcPct val="80000"/>
              </a:lnSpc>
              <a:buFontTx/>
              <a:buNone/>
            </a:pPr>
            <a:endParaRPr lang="en-US" sz="2800" dirty="0">
              <a:latin typeface="Arial" charset="0"/>
            </a:endParaRPr>
          </a:p>
          <a:p>
            <a:pPr eaLnBrk="1" hangingPunct="1">
              <a:lnSpc>
                <a:spcPct val="80000"/>
              </a:lnSpc>
            </a:pPr>
            <a:r>
              <a:rPr lang="en-US" sz="2800" b="1" dirty="0">
                <a:latin typeface="Arial" charset="0"/>
              </a:rPr>
              <a:t>Second mouse</a:t>
            </a:r>
            <a:r>
              <a:rPr lang="en-US" sz="2800" dirty="0">
                <a:latin typeface="Arial" charset="0"/>
              </a:rPr>
              <a:t> – Sometimes his parent or surrogate mouse responded with love and was empathic to his needs, but it varied from day to day.</a:t>
            </a:r>
          </a:p>
          <a:p>
            <a:pPr eaLnBrk="1" hangingPunct="1">
              <a:lnSpc>
                <a:spcPct val="80000"/>
              </a:lnSpc>
              <a:buFontTx/>
              <a:buNone/>
            </a:pPr>
            <a:endParaRPr lang="en-US" sz="2800" dirty="0">
              <a:latin typeface="Arial" charset="0"/>
            </a:endParaRPr>
          </a:p>
          <a:p>
            <a:pPr eaLnBrk="1" hangingPunct="1">
              <a:lnSpc>
                <a:spcPct val="80000"/>
              </a:lnSpc>
            </a:pPr>
            <a:r>
              <a:rPr lang="en-US" sz="2800" b="1" dirty="0">
                <a:latin typeface="Arial" charset="0"/>
              </a:rPr>
              <a:t>Third mouse</a:t>
            </a:r>
            <a:r>
              <a:rPr lang="en-US" sz="2800" dirty="0">
                <a:latin typeface="Arial" charset="0"/>
              </a:rPr>
              <a:t> – No-one was emotionally available to him.</a:t>
            </a:r>
          </a:p>
          <a:p>
            <a:pPr eaLnBrk="1" hangingPunct="1">
              <a:lnSpc>
                <a:spcPct val="80000"/>
              </a:lnSpc>
            </a:pPr>
            <a:endParaRPr lang="en-US" sz="2800" dirty="0">
              <a:latin typeface="Arial" charset="0"/>
            </a:endParaRPr>
          </a:p>
          <a:p>
            <a:pPr eaLnBrk="1" hangingPunct="1">
              <a:lnSpc>
                <a:spcPct val="80000"/>
              </a:lnSpc>
            </a:pPr>
            <a:endParaRPr lang="en-US" sz="2800" dirty="0">
              <a:latin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86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861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861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2" descr="blocksrgb"/>
          <p:cNvPicPr>
            <a:picLocks noChangeAspect="1" noChangeArrowheads="1"/>
          </p:cNvPicPr>
          <p:nvPr/>
        </p:nvPicPr>
        <p:blipFill>
          <a:blip r:embed="rId3"/>
          <a:srcRect/>
          <a:stretch>
            <a:fillRect/>
          </a:stretch>
        </p:blipFill>
        <p:spPr bwMode="auto">
          <a:xfrm>
            <a:off x="7596188" y="5648325"/>
            <a:ext cx="1260475" cy="889000"/>
          </a:xfrm>
          <a:prstGeom prst="rect">
            <a:avLst/>
          </a:prstGeom>
          <a:noFill/>
          <a:ln w="9525">
            <a:noFill/>
            <a:miter lim="800000"/>
            <a:headEnd/>
            <a:tailEnd/>
          </a:ln>
        </p:spPr>
      </p:pic>
      <p:sp>
        <p:nvSpPr>
          <p:cNvPr id="32771" name="Rectangle 3"/>
          <p:cNvSpPr>
            <a:spLocks noChangeArrowheads="1"/>
          </p:cNvSpPr>
          <p:nvPr/>
        </p:nvSpPr>
        <p:spPr bwMode="auto">
          <a:xfrm>
            <a:off x="0" y="0"/>
            <a:ext cx="9144000" cy="533400"/>
          </a:xfrm>
          <a:prstGeom prst="rect">
            <a:avLst/>
          </a:prstGeom>
          <a:solidFill>
            <a:srgbClr val="6D2FAB"/>
          </a:solidFill>
          <a:ln w="0">
            <a:noFill/>
            <a:miter lim="800000"/>
            <a:headEnd/>
            <a:tailEnd/>
          </a:ln>
        </p:spPr>
        <p:txBody>
          <a:bodyPr wrap="none" anchor="ctr">
            <a:prstTxWarp prst="textNoShape">
              <a:avLst/>
            </a:prstTxWarp>
          </a:bodyPr>
          <a:lstStyle/>
          <a:p>
            <a:endParaRPr lang="en-US"/>
          </a:p>
        </p:txBody>
      </p:sp>
      <p:sp>
        <p:nvSpPr>
          <p:cNvPr id="32772" name="Text Box 4"/>
          <p:cNvSpPr txBox="1">
            <a:spLocks noChangeArrowheads="1"/>
          </p:cNvSpPr>
          <p:nvPr/>
        </p:nvSpPr>
        <p:spPr bwMode="auto">
          <a:xfrm>
            <a:off x="0" y="125413"/>
            <a:ext cx="9144000" cy="304800"/>
          </a:xfrm>
          <a:prstGeom prst="rect">
            <a:avLst/>
          </a:prstGeom>
          <a:noFill/>
          <a:ln w="9525">
            <a:noFill/>
            <a:miter lim="800000"/>
            <a:headEnd/>
            <a:tailEnd/>
          </a:ln>
        </p:spPr>
        <p:txBody>
          <a:bodyPr>
            <a:prstTxWarp prst="textNoShape">
              <a:avLst/>
            </a:prstTxWarp>
            <a:spAutoFit/>
          </a:bodyPr>
          <a:lstStyle/>
          <a:p>
            <a:pPr algn="ctr" eaLnBrk="0" hangingPunct="0"/>
            <a:r>
              <a:rPr lang="en-US" sz="1400">
                <a:solidFill>
                  <a:schemeClr val="bg1"/>
                </a:solidFill>
                <a:latin typeface="Arial Black" charset="0"/>
                <a:ea typeface="ＭＳ Ｐゴシック" charset="-128"/>
                <a:cs typeface="ＭＳ Ｐゴシック" charset="-128"/>
              </a:rPr>
              <a:t>E D U C A T I O N A L   P S Y C H O L O G Y   S E R V I C E</a:t>
            </a:r>
          </a:p>
        </p:txBody>
      </p:sp>
      <p:pic>
        <p:nvPicPr>
          <p:cNvPr id="32773" name="Picture 5" descr="Image windsor and Maidenhead"/>
          <p:cNvPicPr>
            <a:picLocks noChangeAspect="1" noChangeArrowheads="1"/>
          </p:cNvPicPr>
          <p:nvPr/>
        </p:nvPicPr>
        <p:blipFill>
          <a:blip r:embed="rId4"/>
          <a:srcRect/>
          <a:stretch>
            <a:fillRect/>
          </a:stretch>
        </p:blipFill>
        <p:spPr bwMode="auto">
          <a:xfrm>
            <a:off x="8637588" y="0"/>
            <a:ext cx="506412" cy="609600"/>
          </a:xfrm>
          <a:prstGeom prst="rect">
            <a:avLst/>
          </a:prstGeom>
          <a:noFill/>
          <a:ln w="3175">
            <a:noFill/>
            <a:miter lim="800000"/>
            <a:headEnd/>
            <a:tailEnd/>
          </a:ln>
        </p:spPr>
      </p:pic>
      <p:sp>
        <p:nvSpPr>
          <p:cNvPr id="32774" name="Rectangle 6"/>
          <p:cNvSpPr>
            <a:spLocks noChangeArrowheads="1"/>
          </p:cNvSpPr>
          <p:nvPr/>
        </p:nvSpPr>
        <p:spPr bwMode="auto">
          <a:xfrm>
            <a:off x="755650" y="1196975"/>
            <a:ext cx="7704138" cy="762000"/>
          </a:xfrm>
          <a:prstGeom prst="rect">
            <a:avLst/>
          </a:prstGeom>
          <a:noFill/>
          <a:ln w="9525">
            <a:noFill/>
            <a:miter lim="800000"/>
            <a:headEnd/>
            <a:tailEnd/>
          </a:ln>
        </p:spPr>
        <p:txBody>
          <a:bodyPr>
            <a:prstTxWarp prst="textNoShape">
              <a:avLst/>
            </a:prstTxWarp>
            <a:spAutoFit/>
          </a:bodyPr>
          <a:lstStyle/>
          <a:p>
            <a:endParaRPr lang="en-US" sz="4400">
              <a:solidFill>
                <a:schemeClr val="tx2"/>
              </a:solidFill>
            </a:endParaRPr>
          </a:p>
        </p:txBody>
      </p:sp>
      <p:sp>
        <p:nvSpPr>
          <p:cNvPr id="32775" name="Text Box 7"/>
          <p:cNvSpPr txBox="1">
            <a:spLocks noChangeArrowheads="1"/>
          </p:cNvSpPr>
          <p:nvPr/>
        </p:nvSpPr>
        <p:spPr bwMode="auto">
          <a:xfrm>
            <a:off x="1258888" y="4221163"/>
            <a:ext cx="6408737" cy="1600200"/>
          </a:xfrm>
          <a:prstGeom prst="rect">
            <a:avLst/>
          </a:prstGeom>
          <a:noFill/>
          <a:ln w="9525">
            <a:noFill/>
            <a:miter lim="800000"/>
            <a:headEnd/>
            <a:tailEnd/>
          </a:ln>
        </p:spPr>
        <p:txBody>
          <a:bodyPr>
            <a:prstTxWarp prst="textNoShape">
              <a:avLst/>
            </a:prstTxWarp>
            <a:spAutoFit/>
          </a:bodyPr>
          <a:lstStyle/>
          <a:p>
            <a:pPr>
              <a:spcBef>
                <a:spcPct val="50000"/>
              </a:spcBef>
            </a:pPr>
            <a:r>
              <a:rPr lang="en-US">
                <a:latin typeface="Arial" charset="0"/>
              </a:rPr>
              <a:t>Sometimes looking sad is met with friendly concern, and sometimes you are berated and punished. But you just never know…..</a:t>
            </a:r>
          </a:p>
          <a:p>
            <a:pPr algn="r">
              <a:spcBef>
                <a:spcPct val="50000"/>
              </a:spcBef>
            </a:pPr>
            <a:r>
              <a:rPr lang="en-US" sz="1800" i="1">
                <a:latin typeface="Arial" charset="0"/>
              </a:rPr>
              <a:t>(Cameron, 1978)</a:t>
            </a:r>
          </a:p>
        </p:txBody>
      </p:sp>
      <p:pic>
        <p:nvPicPr>
          <p:cNvPr id="32776" name="Picture 10"/>
          <p:cNvPicPr>
            <a:picLocks noChangeAspect="1" noChangeArrowheads="1"/>
          </p:cNvPicPr>
          <p:nvPr/>
        </p:nvPicPr>
        <p:blipFill>
          <a:blip r:embed="rId5"/>
          <a:srcRect/>
          <a:stretch>
            <a:fillRect/>
          </a:stretch>
        </p:blipFill>
        <p:spPr bwMode="auto">
          <a:xfrm>
            <a:off x="3563938" y="836613"/>
            <a:ext cx="2265362" cy="302418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2" descr="blocksrgb"/>
          <p:cNvPicPr>
            <a:picLocks noChangeAspect="1" noChangeArrowheads="1"/>
          </p:cNvPicPr>
          <p:nvPr/>
        </p:nvPicPr>
        <p:blipFill>
          <a:blip r:embed="rId3"/>
          <a:srcRect/>
          <a:stretch>
            <a:fillRect/>
          </a:stretch>
        </p:blipFill>
        <p:spPr bwMode="auto">
          <a:xfrm>
            <a:off x="7308850" y="5445125"/>
            <a:ext cx="1547813" cy="1092200"/>
          </a:xfrm>
          <a:prstGeom prst="rect">
            <a:avLst/>
          </a:prstGeom>
          <a:noFill/>
          <a:ln w="9525">
            <a:noFill/>
            <a:miter lim="800000"/>
            <a:headEnd/>
            <a:tailEnd/>
          </a:ln>
        </p:spPr>
      </p:pic>
      <p:sp>
        <p:nvSpPr>
          <p:cNvPr id="34819" name="Rectangle 3"/>
          <p:cNvSpPr>
            <a:spLocks noChangeArrowheads="1"/>
          </p:cNvSpPr>
          <p:nvPr/>
        </p:nvSpPr>
        <p:spPr bwMode="auto">
          <a:xfrm>
            <a:off x="0" y="0"/>
            <a:ext cx="9144000" cy="533400"/>
          </a:xfrm>
          <a:prstGeom prst="rect">
            <a:avLst/>
          </a:prstGeom>
          <a:solidFill>
            <a:srgbClr val="6D2FAB"/>
          </a:solidFill>
          <a:ln w="0">
            <a:noFill/>
            <a:miter lim="800000"/>
            <a:headEnd/>
            <a:tailEnd/>
          </a:ln>
        </p:spPr>
        <p:txBody>
          <a:bodyPr wrap="none" anchor="ctr">
            <a:prstTxWarp prst="textNoShape">
              <a:avLst/>
            </a:prstTxWarp>
          </a:bodyPr>
          <a:lstStyle/>
          <a:p>
            <a:endParaRPr lang="en-US"/>
          </a:p>
        </p:txBody>
      </p:sp>
      <p:sp>
        <p:nvSpPr>
          <p:cNvPr id="34820" name="Text Box 4"/>
          <p:cNvSpPr txBox="1">
            <a:spLocks noChangeArrowheads="1"/>
          </p:cNvSpPr>
          <p:nvPr/>
        </p:nvSpPr>
        <p:spPr bwMode="auto">
          <a:xfrm>
            <a:off x="0" y="125413"/>
            <a:ext cx="9144000" cy="304800"/>
          </a:xfrm>
          <a:prstGeom prst="rect">
            <a:avLst/>
          </a:prstGeom>
          <a:noFill/>
          <a:ln w="9525">
            <a:noFill/>
            <a:miter lim="800000"/>
            <a:headEnd/>
            <a:tailEnd/>
          </a:ln>
        </p:spPr>
        <p:txBody>
          <a:bodyPr>
            <a:prstTxWarp prst="textNoShape">
              <a:avLst/>
            </a:prstTxWarp>
            <a:spAutoFit/>
          </a:bodyPr>
          <a:lstStyle/>
          <a:p>
            <a:pPr algn="ctr" eaLnBrk="0" hangingPunct="0"/>
            <a:r>
              <a:rPr lang="en-US" sz="1400">
                <a:solidFill>
                  <a:schemeClr val="bg1"/>
                </a:solidFill>
                <a:latin typeface="Arial Black" charset="0"/>
                <a:ea typeface="ＭＳ Ｐゴシック" charset="-128"/>
                <a:cs typeface="ＭＳ Ｐゴシック" charset="-128"/>
              </a:rPr>
              <a:t>E D U C A T I O N A L   P S Y C H O L O G Y   S E R V I C E</a:t>
            </a:r>
          </a:p>
        </p:txBody>
      </p:sp>
      <p:pic>
        <p:nvPicPr>
          <p:cNvPr id="34821" name="Picture 5" descr="Image windsor and Maidenhead"/>
          <p:cNvPicPr>
            <a:picLocks noChangeAspect="1" noChangeArrowheads="1"/>
          </p:cNvPicPr>
          <p:nvPr/>
        </p:nvPicPr>
        <p:blipFill>
          <a:blip r:embed="rId4"/>
          <a:srcRect/>
          <a:stretch>
            <a:fillRect/>
          </a:stretch>
        </p:blipFill>
        <p:spPr bwMode="auto">
          <a:xfrm>
            <a:off x="8637588" y="0"/>
            <a:ext cx="506412" cy="609600"/>
          </a:xfrm>
          <a:prstGeom prst="rect">
            <a:avLst/>
          </a:prstGeom>
          <a:noFill/>
          <a:ln w="3175">
            <a:noFill/>
            <a:miter lim="800000"/>
            <a:headEnd/>
            <a:tailEnd/>
          </a:ln>
        </p:spPr>
      </p:pic>
      <p:sp>
        <p:nvSpPr>
          <p:cNvPr id="34822" name="Rectangle 6"/>
          <p:cNvSpPr>
            <a:spLocks noChangeArrowheads="1"/>
          </p:cNvSpPr>
          <p:nvPr/>
        </p:nvSpPr>
        <p:spPr bwMode="auto">
          <a:xfrm>
            <a:off x="755650" y="1196975"/>
            <a:ext cx="7704138" cy="762000"/>
          </a:xfrm>
          <a:prstGeom prst="rect">
            <a:avLst/>
          </a:prstGeom>
          <a:noFill/>
          <a:ln w="9525">
            <a:noFill/>
            <a:miter lim="800000"/>
            <a:headEnd/>
            <a:tailEnd/>
          </a:ln>
        </p:spPr>
        <p:txBody>
          <a:bodyPr>
            <a:prstTxWarp prst="textNoShape">
              <a:avLst/>
            </a:prstTxWarp>
            <a:spAutoFit/>
          </a:bodyPr>
          <a:lstStyle/>
          <a:p>
            <a:endParaRPr lang="en-US" sz="4400">
              <a:solidFill>
                <a:schemeClr val="tx2"/>
              </a:solidFill>
            </a:endParaRPr>
          </a:p>
        </p:txBody>
      </p:sp>
      <p:sp>
        <p:nvSpPr>
          <p:cNvPr id="34823" name="Rectangle 7"/>
          <p:cNvSpPr>
            <a:spLocks noGrp="1" noChangeArrowheads="1"/>
          </p:cNvSpPr>
          <p:nvPr>
            <p:ph type="title"/>
          </p:nvPr>
        </p:nvSpPr>
        <p:spPr/>
        <p:txBody>
          <a:bodyPr/>
          <a:lstStyle/>
          <a:p>
            <a:pPr eaLnBrk="1" hangingPunct="1"/>
            <a:r>
              <a:rPr lang="en-US" sz="4000">
                <a:latin typeface="Arial" charset="0"/>
              </a:rPr>
              <a:t>What is attachment?</a:t>
            </a:r>
          </a:p>
        </p:txBody>
      </p:sp>
      <p:sp>
        <p:nvSpPr>
          <p:cNvPr id="17416" name="Rectangle 8"/>
          <p:cNvSpPr>
            <a:spLocks noGrp="1" noChangeArrowheads="1"/>
          </p:cNvSpPr>
          <p:nvPr>
            <p:ph type="body" idx="1"/>
          </p:nvPr>
        </p:nvSpPr>
        <p:spPr>
          <a:xfrm>
            <a:off x="685800" y="2060575"/>
            <a:ext cx="7772400" cy="4035425"/>
          </a:xfrm>
        </p:spPr>
        <p:txBody>
          <a:bodyPr/>
          <a:lstStyle/>
          <a:p>
            <a:pPr eaLnBrk="1" hangingPunct="1">
              <a:buFontTx/>
              <a:buNone/>
            </a:pPr>
            <a:r>
              <a:rPr lang="en-US">
                <a:latin typeface="Arial" charset="0"/>
              </a:rPr>
              <a:t>It is described as the dependency relationship a child develops towards his or her primary caregiver.</a:t>
            </a:r>
          </a:p>
          <a:p>
            <a:pPr eaLnBrk="1" hangingPunct="1">
              <a:buFontTx/>
              <a:buNone/>
            </a:pPr>
            <a:endParaRPr lang="en-US">
              <a:latin typeface="Arial" charset="0"/>
            </a:endParaRPr>
          </a:p>
          <a:p>
            <a:pPr eaLnBrk="1" hangingPunct="1">
              <a:buFontTx/>
              <a:buNone/>
            </a:pPr>
            <a:r>
              <a:rPr lang="en-US">
                <a:latin typeface="Arial" charset="0"/>
              </a:rPr>
              <a:t>A deep, loving human relationship in early life is at the very core of self-esteem.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41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 descr="blocksrgb"/>
          <p:cNvPicPr>
            <a:picLocks noChangeAspect="1" noChangeArrowheads="1"/>
          </p:cNvPicPr>
          <p:nvPr/>
        </p:nvPicPr>
        <p:blipFill>
          <a:blip r:embed="rId3"/>
          <a:srcRect/>
          <a:stretch>
            <a:fillRect/>
          </a:stretch>
        </p:blipFill>
        <p:spPr bwMode="auto">
          <a:xfrm>
            <a:off x="7740650" y="5749925"/>
            <a:ext cx="1116013" cy="787400"/>
          </a:xfrm>
          <a:prstGeom prst="rect">
            <a:avLst/>
          </a:prstGeom>
          <a:noFill/>
          <a:ln w="9525">
            <a:noFill/>
            <a:miter lim="800000"/>
            <a:headEnd/>
            <a:tailEnd/>
          </a:ln>
        </p:spPr>
      </p:pic>
      <p:sp>
        <p:nvSpPr>
          <p:cNvPr id="36867" name="Rectangle 3"/>
          <p:cNvSpPr>
            <a:spLocks noChangeArrowheads="1"/>
          </p:cNvSpPr>
          <p:nvPr/>
        </p:nvSpPr>
        <p:spPr bwMode="auto">
          <a:xfrm>
            <a:off x="0" y="0"/>
            <a:ext cx="9144000" cy="533400"/>
          </a:xfrm>
          <a:prstGeom prst="rect">
            <a:avLst/>
          </a:prstGeom>
          <a:solidFill>
            <a:srgbClr val="6D2FAB"/>
          </a:solidFill>
          <a:ln w="0">
            <a:noFill/>
            <a:miter lim="800000"/>
            <a:headEnd/>
            <a:tailEnd/>
          </a:ln>
        </p:spPr>
        <p:txBody>
          <a:bodyPr wrap="none" anchor="ctr">
            <a:prstTxWarp prst="textNoShape">
              <a:avLst/>
            </a:prstTxWarp>
          </a:bodyPr>
          <a:lstStyle/>
          <a:p>
            <a:endParaRPr lang="en-US"/>
          </a:p>
        </p:txBody>
      </p:sp>
      <p:sp>
        <p:nvSpPr>
          <p:cNvPr id="36868" name="Text Box 4"/>
          <p:cNvSpPr txBox="1">
            <a:spLocks noChangeArrowheads="1"/>
          </p:cNvSpPr>
          <p:nvPr/>
        </p:nvSpPr>
        <p:spPr bwMode="auto">
          <a:xfrm>
            <a:off x="0" y="125413"/>
            <a:ext cx="9144000" cy="304800"/>
          </a:xfrm>
          <a:prstGeom prst="rect">
            <a:avLst/>
          </a:prstGeom>
          <a:noFill/>
          <a:ln w="9525">
            <a:noFill/>
            <a:miter lim="800000"/>
            <a:headEnd/>
            <a:tailEnd/>
          </a:ln>
        </p:spPr>
        <p:txBody>
          <a:bodyPr>
            <a:prstTxWarp prst="textNoShape">
              <a:avLst/>
            </a:prstTxWarp>
            <a:spAutoFit/>
          </a:bodyPr>
          <a:lstStyle/>
          <a:p>
            <a:pPr algn="ctr" eaLnBrk="0" hangingPunct="0"/>
            <a:r>
              <a:rPr lang="en-US" sz="1400">
                <a:solidFill>
                  <a:schemeClr val="bg1"/>
                </a:solidFill>
                <a:latin typeface="Arial Black" charset="0"/>
                <a:ea typeface="ＭＳ Ｐゴシック" charset="-128"/>
                <a:cs typeface="ＭＳ Ｐゴシック" charset="-128"/>
              </a:rPr>
              <a:t>E D U C A T I O N A L   P S Y C H O L O G Y   S E R V I C E</a:t>
            </a:r>
          </a:p>
        </p:txBody>
      </p:sp>
      <p:pic>
        <p:nvPicPr>
          <p:cNvPr id="36869" name="Picture 5" descr="Image windsor and Maidenhead"/>
          <p:cNvPicPr>
            <a:picLocks noChangeAspect="1" noChangeArrowheads="1"/>
          </p:cNvPicPr>
          <p:nvPr/>
        </p:nvPicPr>
        <p:blipFill>
          <a:blip r:embed="rId4"/>
          <a:srcRect/>
          <a:stretch>
            <a:fillRect/>
          </a:stretch>
        </p:blipFill>
        <p:spPr bwMode="auto">
          <a:xfrm>
            <a:off x="8637588" y="0"/>
            <a:ext cx="506412" cy="609600"/>
          </a:xfrm>
          <a:prstGeom prst="rect">
            <a:avLst/>
          </a:prstGeom>
          <a:noFill/>
          <a:ln w="3175">
            <a:noFill/>
            <a:miter lim="800000"/>
            <a:headEnd/>
            <a:tailEnd/>
          </a:ln>
        </p:spPr>
      </p:pic>
      <p:sp>
        <p:nvSpPr>
          <p:cNvPr id="36870" name="Rectangle 6"/>
          <p:cNvSpPr>
            <a:spLocks noChangeArrowheads="1"/>
          </p:cNvSpPr>
          <p:nvPr/>
        </p:nvSpPr>
        <p:spPr bwMode="auto">
          <a:xfrm>
            <a:off x="755650" y="1196975"/>
            <a:ext cx="7704138" cy="762000"/>
          </a:xfrm>
          <a:prstGeom prst="rect">
            <a:avLst/>
          </a:prstGeom>
          <a:noFill/>
          <a:ln w="9525">
            <a:noFill/>
            <a:miter lim="800000"/>
            <a:headEnd/>
            <a:tailEnd/>
          </a:ln>
        </p:spPr>
        <p:txBody>
          <a:bodyPr>
            <a:prstTxWarp prst="textNoShape">
              <a:avLst/>
            </a:prstTxWarp>
            <a:spAutoFit/>
          </a:bodyPr>
          <a:lstStyle/>
          <a:p>
            <a:endParaRPr lang="en-US" sz="4400">
              <a:solidFill>
                <a:schemeClr val="tx2"/>
              </a:solidFill>
            </a:endParaRPr>
          </a:p>
        </p:txBody>
      </p:sp>
      <p:sp>
        <p:nvSpPr>
          <p:cNvPr id="36871" name="Rectangle 7"/>
          <p:cNvSpPr>
            <a:spLocks noGrp="1" noChangeArrowheads="1"/>
          </p:cNvSpPr>
          <p:nvPr>
            <p:ph type="title"/>
          </p:nvPr>
        </p:nvSpPr>
        <p:spPr>
          <a:xfrm>
            <a:off x="457200" y="457200"/>
            <a:ext cx="8229600" cy="1143000"/>
          </a:xfrm>
        </p:spPr>
        <p:txBody>
          <a:bodyPr/>
          <a:lstStyle/>
          <a:p>
            <a:pPr eaLnBrk="1" hangingPunct="1"/>
            <a:r>
              <a:rPr lang="en-US" sz="4000" dirty="0">
                <a:latin typeface="Arial" charset="0"/>
              </a:rPr>
              <a:t>Why is it important?</a:t>
            </a:r>
          </a:p>
        </p:txBody>
      </p:sp>
      <p:sp>
        <p:nvSpPr>
          <p:cNvPr id="12296" name="Rectangle 8"/>
          <p:cNvSpPr>
            <a:spLocks noGrp="1" noChangeArrowheads="1"/>
          </p:cNvSpPr>
          <p:nvPr>
            <p:ph type="body" idx="1"/>
          </p:nvPr>
        </p:nvSpPr>
        <p:spPr/>
        <p:txBody>
          <a:bodyPr/>
          <a:lstStyle/>
          <a:p>
            <a:pPr eaLnBrk="1" hangingPunct="1"/>
            <a:r>
              <a:rPr lang="en-US">
                <a:latin typeface="Arial" charset="0"/>
              </a:rPr>
              <a:t>It is thought that the success or failure of early attachments affect young children’s beliefs &amp; expectations about relationships.</a:t>
            </a:r>
          </a:p>
          <a:p>
            <a:pPr eaLnBrk="1" hangingPunct="1"/>
            <a:r>
              <a:rPr lang="en-US">
                <a:latin typeface="Arial" charset="0"/>
              </a:rPr>
              <a:t>This representation of relationships influences the way children interact with others &amp; evaluate themselves.</a:t>
            </a:r>
          </a:p>
          <a:p>
            <a:pPr eaLnBrk="1" hangingPunct="1"/>
            <a:endParaRPr lang="en-US">
              <a:latin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29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29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descr="blocksrgb"/>
          <p:cNvPicPr>
            <a:picLocks noChangeAspect="1" noChangeArrowheads="1"/>
          </p:cNvPicPr>
          <p:nvPr/>
        </p:nvPicPr>
        <p:blipFill>
          <a:blip r:embed="rId3"/>
          <a:srcRect/>
          <a:stretch>
            <a:fillRect/>
          </a:stretch>
        </p:blipFill>
        <p:spPr bwMode="auto">
          <a:xfrm>
            <a:off x="7956550" y="5902325"/>
            <a:ext cx="900113" cy="635000"/>
          </a:xfrm>
          <a:prstGeom prst="rect">
            <a:avLst/>
          </a:prstGeom>
          <a:noFill/>
          <a:ln w="9525">
            <a:noFill/>
            <a:miter lim="800000"/>
            <a:headEnd/>
            <a:tailEnd/>
          </a:ln>
        </p:spPr>
      </p:pic>
      <p:sp>
        <p:nvSpPr>
          <p:cNvPr id="38915" name="Rectangle 3"/>
          <p:cNvSpPr>
            <a:spLocks noChangeArrowheads="1"/>
          </p:cNvSpPr>
          <p:nvPr/>
        </p:nvSpPr>
        <p:spPr bwMode="auto">
          <a:xfrm>
            <a:off x="0" y="0"/>
            <a:ext cx="9144000" cy="533400"/>
          </a:xfrm>
          <a:prstGeom prst="rect">
            <a:avLst/>
          </a:prstGeom>
          <a:solidFill>
            <a:srgbClr val="6D2FAB"/>
          </a:solidFill>
          <a:ln w="0">
            <a:noFill/>
            <a:miter lim="800000"/>
            <a:headEnd/>
            <a:tailEnd/>
          </a:ln>
        </p:spPr>
        <p:txBody>
          <a:bodyPr wrap="none" anchor="ctr">
            <a:prstTxWarp prst="textNoShape">
              <a:avLst/>
            </a:prstTxWarp>
          </a:bodyPr>
          <a:lstStyle/>
          <a:p>
            <a:endParaRPr lang="en-US"/>
          </a:p>
        </p:txBody>
      </p:sp>
      <p:sp>
        <p:nvSpPr>
          <p:cNvPr id="38916" name="Text Box 4"/>
          <p:cNvSpPr txBox="1">
            <a:spLocks noChangeArrowheads="1"/>
          </p:cNvSpPr>
          <p:nvPr/>
        </p:nvSpPr>
        <p:spPr bwMode="auto">
          <a:xfrm>
            <a:off x="0" y="125413"/>
            <a:ext cx="9144000" cy="304800"/>
          </a:xfrm>
          <a:prstGeom prst="rect">
            <a:avLst/>
          </a:prstGeom>
          <a:noFill/>
          <a:ln w="9525">
            <a:noFill/>
            <a:miter lim="800000"/>
            <a:headEnd/>
            <a:tailEnd/>
          </a:ln>
        </p:spPr>
        <p:txBody>
          <a:bodyPr>
            <a:prstTxWarp prst="textNoShape">
              <a:avLst/>
            </a:prstTxWarp>
            <a:spAutoFit/>
          </a:bodyPr>
          <a:lstStyle/>
          <a:p>
            <a:pPr algn="ctr" eaLnBrk="0" hangingPunct="0"/>
            <a:r>
              <a:rPr lang="en-US" sz="1400">
                <a:solidFill>
                  <a:schemeClr val="bg1"/>
                </a:solidFill>
                <a:latin typeface="Arial Black" charset="0"/>
                <a:ea typeface="ＭＳ Ｐゴシック" charset="-128"/>
                <a:cs typeface="ＭＳ Ｐゴシック" charset="-128"/>
              </a:rPr>
              <a:t>E D U C A T I O N A L   P S Y C H O L O G Y   S E R V I C E</a:t>
            </a:r>
          </a:p>
        </p:txBody>
      </p:sp>
      <p:pic>
        <p:nvPicPr>
          <p:cNvPr id="38917" name="Picture 5" descr="Image windsor and Maidenhead"/>
          <p:cNvPicPr>
            <a:picLocks noChangeAspect="1" noChangeArrowheads="1"/>
          </p:cNvPicPr>
          <p:nvPr/>
        </p:nvPicPr>
        <p:blipFill>
          <a:blip r:embed="rId4"/>
          <a:srcRect/>
          <a:stretch>
            <a:fillRect/>
          </a:stretch>
        </p:blipFill>
        <p:spPr bwMode="auto">
          <a:xfrm>
            <a:off x="8637588" y="0"/>
            <a:ext cx="506412" cy="609600"/>
          </a:xfrm>
          <a:prstGeom prst="rect">
            <a:avLst/>
          </a:prstGeom>
          <a:noFill/>
          <a:ln w="3175">
            <a:noFill/>
            <a:miter lim="800000"/>
            <a:headEnd/>
            <a:tailEnd/>
          </a:ln>
        </p:spPr>
      </p:pic>
      <p:sp>
        <p:nvSpPr>
          <p:cNvPr id="38918" name="Rectangle 6"/>
          <p:cNvSpPr>
            <a:spLocks noChangeArrowheads="1"/>
          </p:cNvSpPr>
          <p:nvPr/>
        </p:nvSpPr>
        <p:spPr bwMode="auto">
          <a:xfrm>
            <a:off x="755650" y="1196975"/>
            <a:ext cx="7704138" cy="762000"/>
          </a:xfrm>
          <a:prstGeom prst="rect">
            <a:avLst/>
          </a:prstGeom>
          <a:noFill/>
          <a:ln w="9525">
            <a:noFill/>
            <a:miter lim="800000"/>
            <a:headEnd/>
            <a:tailEnd/>
          </a:ln>
        </p:spPr>
        <p:txBody>
          <a:bodyPr>
            <a:prstTxWarp prst="textNoShape">
              <a:avLst/>
            </a:prstTxWarp>
            <a:spAutoFit/>
          </a:bodyPr>
          <a:lstStyle/>
          <a:p>
            <a:endParaRPr lang="en-US" sz="4400">
              <a:solidFill>
                <a:schemeClr val="tx2"/>
              </a:solidFill>
            </a:endParaRPr>
          </a:p>
        </p:txBody>
      </p:sp>
      <p:sp>
        <p:nvSpPr>
          <p:cNvPr id="38919" name="Rectangle 7"/>
          <p:cNvSpPr>
            <a:spLocks noGrp="1" noChangeArrowheads="1"/>
          </p:cNvSpPr>
          <p:nvPr>
            <p:ph type="title"/>
          </p:nvPr>
        </p:nvSpPr>
        <p:spPr/>
        <p:txBody>
          <a:bodyPr/>
          <a:lstStyle/>
          <a:p>
            <a:pPr eaLnBrk="1" hangingPunct="1"/>
            <a:r>
              <a:rPr lang="en-US" sz="4000">
                <a:latin typeface="Arial" charset="0"/>
              </a:rPr>
              <a:t>Secure &amp; insecure attachments</a:t>
            </a:r>
          </a:p>
        </p:txBody>
      </p:sp>
      <p:sp>
        <p:nvSpPr>
          <p:cNvPr id="38920" name="Rectangle 9"/>
          <p:cNvSpPr>
            <a:spLocks noGrp="1" noChangeArrowheads="1"/>
          </p:cNvSpPr>
          <p:nvPr>
            <p:ph type="body" sz="half" idx="1"/>
          </p:nvPr>
        </p:nvSpPr>
        <p:spPr>
          <a:xfrm>
            <a:off x="395288" y="1916113"/>
            <a:ext cx="3816350" cy="4249737"/>
          </a:xfrm>
          <a:noFill/>
        </p:spPr>
        <p:txBody>
          <a:bodyPr/>
          <a:lstStyle/>
          <a:p>
            <a:pPr eaLnBrk="1" hangingPunct="1">
              <a:lnSpc>
                <a:spcPct val="80000"/>
              </a:lnSpc>
              <a:buFontTx/>
              <a:buNone/>
            </a:pPr>
            <a:r>
              <a:rPr lang="en-US" sz="2400" u="sng" dirty="0">
                <a:solidFill>
                  <a:srgbClr val="6600CC"/>
                </a:solidFill>
                <a:latin typeface="Arial" charset="0"/>
              </a:rPr>
              <a:t>Securely attached children</a:t>
            </a:r>
          </a:p>
          <a:p>
            <a:pPr eaLnBrk="1" hangingPunct="1">
              <a:lnSpc>
                <a:spcPct val="80000"/>
              </a:lnSpc>
              <a:buFontTx/>
              <a:buNone/>
            </a:pPr>
            <a:endParaRPr lang="en-US" sz="2000" u="sng" dirty="0">
              <a:solidFill>
                <a:srgbClr val="6600CC"/>
              </a:solidFill>
              <a:latin typeface="Arial" charset="0"/>
            </a:endParaRPr>
          </a:p>
          <a:p>
            <a:pPr eaLnBrk="1" hangingPunct="1">
              <a:lnSpc>
                <a:spcPct val="80000"/>
              </a:lnSpc>
              <a:buFontTx/>
              <a:buNone/>
            </a:pPr>
            <a:endParaRPr lang="en-US" sz="2000" u="sng" dirty="0">
              <a:solidFill>
                <a:srgbClr val="6600CC"/>
              </a:solidFill>
              <a:latin typeface="Arial" charset="0"/>
            </a:endParaRPr>
          </a:p>
          <a:p>
            <a:pPr eaLnBrk="1" hangingPunct="1">
              <a:lnSpc>
                <a:spcPct val="80000"/>
              </a:lnSpc>
            </a:pPr>
            <a:r>
              <a:rPr lang="en-US" sz="2000" dirty="0">
                <a:latin typeface="Arial" charset="0"/>
              </a:rPr>
              <a:t>Generally view the world as a safe place</a:t>
            </a:r>
          </a:p>
          <a:p>
            <a:pPr eaLnBrk="1" hangingPunct="1">
              <a:lnSpc>
                <a:spcPct val="80000"/>
              </a:lnSpc>
            </a:pPr>
            <a:r>
              <a:rPr lang="en-US" sz="2000" dirty="0">
                <a:latin typeface="Arial" charset="0"/>
              </a:rPr>
              <a:t>View other people as a source of nurture &amp; support</a:t>
            </a:r>
          </a:p>
          <a:p>
            <a:pPr eaLnBrk="1" hangingPunct="1">
              <a:lnSpc>
                <a:spcPct val="80000"/>
              </a:lnSpc>
            </a:pPr>
            <a:r>
              <a:rPr lang="en-US" sz="2000" dirty="0">
                <a:latin typeface="Arial" charset="0"/>
              </a:rPr>
              <a:t>View themselves as worthy of attention</a:t>
            </a:r>
          </a:p>
          <a:p>
            <a:pPr eaLnBrk="1" hangingPunct="1">
              <a:lnSpc>
                <a:spcPct val="80000"/>
              </a:lnSpc>
            </a:pPr>
            <a:r>
              <a:rPr lang="en-US" sz="2000" dirty="0">
                <a:latin typeface="Arial" charset="0"/>
              </a:rPr>
              <a:t>When they encounter difficulties, more likely to seek help</a:t>
            </a:r>
          </a:p>
        </p:txBody>
      </p:sp>
      <p:sp>
        <p:nvSpPr>
          <p:cNvPr id="38921" name="Rectangle 10"/>
          <p:cNvSpPr>
            <a:spLocks noChangeArrowheads="1"/>
          </p:cNvSpPr>
          <p:nvPr/>
        </p:nvSpPr>
        <p:spPr bwMode="auto">
          <a:xfrm>
            <a:off x="4572000" y="1844675"/>
            <a:ext cx="4103688" cy="4392613"/>
          </a:xfrm>
          <a:prstGeom prst="rect">
            <a:avLst/>
          </a:prstGeom>
          <a:noFill/>
          <a:ln w="9525">
            <a:noFill/>
            <a:miter lim="800000"/>
            <a:headEnd/>
            <a:tailEnd/>
          </a:ln>
        </p:spPr>
        <p:txBody>
          <a:bodyPr>
            <a:prstTxWarp prst="textNoShape">
              <a:avLst/>
            </a:prstTxWarp>
          </a:bodyPr>
          <a:lstStyle/>
          <a:p>
            <a:pPr marL="342900" indent="-342900">
              <a:spcBef>
                <a:spcPct val="20000"/>
              </a:spcBef>
            </a:pPr>
            <a:r>
              <a:rPr lang="en-US" sz="2400" u="sng" dirty="0">
                <a:solidFill>
                  <a:srgbClr val="6600CC"/>
                </a:solidFill>
                <a:latin typeface="Arial" charset="0"/>
              </a:rPr>
              <a:t>Insecurely attached children</a:t>
            </a:r>
          </a:p>
          <a:p>
            <a:pPr marL="342900" indent="-342900">
              <a:spcBef>
                <a:spcPct val="20000"/>
              </a:spcBef>
            </a:pPr>
            <a:endParaRPr lang="en-US" u="sng" dirty="0">
              <a:solidFill>
                <a:srgbClr val="6600CC"/>
              </a:solidFill>
              <a:latin typeface="Arial" charset="0"/>
            </a:endParaRPr>
          </a:p>
          <a:p>
            <a:pPr marL="342900" indent="-342900">
              <a:spcBef>
                <a:spcPct val="20000"/>
              </a:spcBef>
              <a:buFontTx/>
              <a:buChar char="•"/>
            </a:pPr>
            <a:r>
              <a:rPr lang="en-US" sz="2000" dirty="0">
                <a:latin typeface="Arial" charset="0"/>
              </a:rPr>
              <a:t>Often view the world as unpredictable and threatening</a:t>
            </a:r>
          </a:p>
          <a:p>
            <a:pPr marL="342900" indent="-342900">
              <a:spcBef>
                <a:spcPct val="20000"/>
              </a:spcBef>
              <a:buFontTx/>
              <a:buChar char="•"/>
            </a:pPr>
            <a:r>
              <a:rPr lang="en-US" sz="2000" dirty="0">
                <a:latin typeface="Arial" charset="0"/>
              </a:rPr>
              <a:t>View other people as harsh, unavailable or insensitive</a:t>
            </a:r>
          </a:p>
          <a:p>
            <a:pPr marL="342900" indent="-342900">
              <a:spcBef>
                <a:spcPct val="20000"/>
              </a:spcBef>
              <a:buFontTx/>
              <a:buChar char="•"/>
            </a:pPr>
            <a:r>
              <a:rPr lang="en-US" sz="2000" dirty="0">
                <a:latin typeface="Arial" charset="0"/>
              </a:rPr>
              <a:t>View themselves as unworthy of being nurtured</a:t>
            </a:r>
          </a:p>
          <a:p>
            <a:pPr marL="342900" indent="-342900">
              <a:spcBef>
                <a:spcPct val="20000"/>
              </a:spcBef>
              <a:buFontTx/>
              <a:buChar char="•"/>
            </a:pPr>
            <a:r>
              <a:rPr lang="en-US" sz="2000" dirty="0">
                <a:latin typeface="Arial" charset="0"/>
              </a:rPr>
              <a:t>When they encounter difficulties more likely to become frustrated, angry &amp; give up</a:t>
            </a:r>
          </a:p>
          <a:p>
            <a:pPr marL="342900" indent="-342900">
              <a:spcBef>
                <a:spcPct val="20000"/>
              </a:spcBef>
              <a:buFontTx/>
              <a:buChar char="•"/>
            </a:pPr>
            <a:endParaRPr lang="en-US" sz="2000" dirty="0">
              <a:latin typeface="Arial"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2" descr="blocksrgb"/>
          <p:cNvPicPr>
            <a:picLocks noChangeAspect="1" noChangeArrowheads="1"/>
          </p:cNvPicPr>
          <p:nvPr/>
        </p:nvPicPr>
        <p:blipFill>
          <a:blip r:embed="rId3"/>
          <a:srcRect/>
          <a:stretch>
            <a:fillRect/>
          </a:stretch>
        </p:blipFill>
        <p:spPr bwMode="auto">
          <a:xfrm>
            <a:off x="7812088" y="5800725"/>
            <a:ext cx="1044575" cy="736600"/>
          </a:xfrm>
          <a:prstGeom prst="rect">
            <a:avLst/>
          </a:prstGeom>
          <a:noFill/>
          <a:ln w="9525">
            <a:noFill/>
            <a:miter lim="800000"/>
            <a:headEnd/>
            <a:tailEnd/>
          </a:ln>
        </p:spPr>
      </p:pic>
      <p:sp>
        <p:nvSpPr>
          <p:cNvPr id="40963" name="Rectangle 3"/>
          <p:cNvSpPr>
            <a:spLocks noChangeArrowheads="1"/>
          </p:cNvSpPr>
          <p:nvPr/>
        </p:nvSpPr>
        <p:spPr bwMode="auto">
          <a:xfrm>
            <a:off x="0" y="0"/>
            <a:ext cx="9144000" cy="533400"/>
          </a:xfrm>
          <a:prstGeom prst="rect">
            <a:avLst/>
          </a:prstGeom>
          <a:solidFill>
            <a:srgbClr val="6D2FAB"/>
          </a:solidFill>
          <a:ln w="0">
            <a:noFill/>
            <a:miter lim="800000"/>
            <a:headEnd/>
            <a:tailEnd/>
          </a:ln>
        </p:spPr>
        <p:txBody>
          <a:bodyPr wrap="none" anchor="ctr">
            <a:prstTxWarp prst="textNoShape">
              <a:avLst/>
            </a:prstTxWarp>
          </a:bodyPr>
          <a:lstStyle/>
          <a:p>
            <a:endParaRPr lang="en-US"/>
          </a:p>
        </p:txBody>
      </p:sp>
      <p:sp>
        <p:nvSpPr>
          <p:cNvPr id="40964" name="Text Box 4"/>
          <p:cNvSpPr txBox="1">
            <a:spLocks noChangeArrowheads="1"/>
          </p:cNvSpPr>
          <p:nvPr/>
        </p:nvSpPr>
        <p:spPr bwMode="auto">
          <a:xfrm>
            <a:off x="0" y="125413"/>
            <a:ext cx="9144000" cy="304800"/>
          </a:xfrm>
          <a:prstGeom prst="rect">
            <a:avLst/>
          </a:prstGeom>
          <a:noFill/>
          <a:ln w="9525">
            <a:noFill/>
            <a:miter lim="800000"/>
            <a:headEnd/>
            <a:tailEnd/>
          </a:ln>
        </p:spPr>
        <p:txBody>
          <a:bodyPr>
            <a:prstTxWarp prst="textNoShape">
              <a:avLst/>
            </a:prstTxWarp>
            <a:spAutoFit/>
          </a:bodyPr>
          <a:lstStyle/>
          <a:p>
            <a:pPr algn="ctr" eaLnBrk="0" hangingPunct="0"/>
            <a:r>
              <a:rPr lang="en-US" sz="1400">
                <a:solidFill>
                  <a:schemeClr val="bg1"/>
                </a:solidFill>
                <a:latin typeface="Arial Black" charset="0"/>
                <a:ea typeface="ＭＳ Ｐゴシック" charset="-128"/>
                <a:cs typeface="ＭＳ Ｐゴシック" charset="-128"/>
              </a:rPr>
              <a:t>E D U C A T I O N A L   P S Y C H O L O G Y   S E R V I C E</a:t>
            </a:r>
          </a:p>
        </p:txBody>
      </p:sp>
      <p:pic>
        <p:nvPicPr>
          <p:cNvPr id="40965" name="Picture 5" descr="Image windsor and Maidenhead"/>
          <p:cNvPicPr>
            <a:picLocks noChangeAspect="1" noChangeArrowheads="1"/>
          </p:cNvPicPr>
          <p:nvPr/>
        </p:nvPicPr>
        <p:blipFill>
          <a:blip r:embed="rId4"/>
          <a:srcRect/>
          <a:stretch>
            <a:fillRect/>
          </a:stretch>
        </p:blipFill>
        <p:spPr bwMode="auto">
          <a:xfrm>
            <a:off x="8637588" y="0"/>
            <a:ext cx="506412" cy="609600"/>
          </a:xfrm>
          <a:prstGeom prst="rect">
            <a:avLst/>
          </a:prstGeom>
          <a:noFill/>
          <a:ln w="3175">
            <a:noFill/>
            <a:miter lim="800000"/>
            <a:headEnd/>
            <a:tailEnd/>
          </a:ln>
        </p:spPr>
      </p:pic>
      <p:sp>
        <p:nvSpPr>
          <p:cNvPr id="40966" name="Rectangle 6"/>
          <p:cNvSpPr>
            <a:spLocks noChangeArrowheads="1"/>
          </p:cNvSpPr>
          <p:nvPr/>
        </p:nvSpPr>
        <p:spPr bwMode="auto">
          <a:xfrm>
            <a:off x="755650" y="1196975"/>
            <a:ext cx="7704138" cy="762000"/>
          </a:xfrm>
          <a:prstGeom prst="rect">
            <a:avLst/>
          </a:prstGeom>
          <a:noFill/>
          <a:ln w="9525">
            <a:noFill/>
            <a:miter lim="800000"/>
            <a:headEnd/>
            <a:tailEnd/>
          </a:ln>
        </p:spPr>
        <p:txBody>
          <a:bodyPr>
            <a:prstTxWarp prst="textNoShape">
              <a:avLst/>
            </a:prstTxWarp>
            <a:spAutoFit/>
          </a:bodyPr>
          <a:lstStyle/>
          <a:p>
            <a:endParaRPr lang="en-US" sz="4400">
              <a:solidFill>
                <a:schemeClr val="tx2"/>
              </a:solidFill>
            </a:endParaRPr>
          </a:p>
        </p:txBody>
      </p:sp>
      <p:sp>
        <p:nvSpPr>
          <p:cNvPr id="40967" name="Rectangle 7"/>
          <p:cNvSpPr>
            <a:spLocks noGrp="1" noChangeArrowheads="1"/>
          </p:cNvSpPr>
          <p:nvPr>
            <p:ph type="title"/>
          </p:nvPr>
        </p:nvSpPr>
        <p:spPr>
          <a:xfrm>
            <a:off x="381000" y="533400"/>
            <a:ext cx="8229600" cy="1143000"/>
          </a:xfrm>
        </p:spPr>
        <p:txBody>
          <a:bodyPr/>
          <a:lstStyle/>
          <a:p>
            <a:pPr eaLnBrk="1" hangingPunct="1"/>
            <a:r>
              <a:rPr lang="en-US" sz="4000" dirty="0" err="1">
                <a:latin typeface="Arial" charset="0"/>
              </a:rPr>
              <a:t>Disorganised</a:t>
            </a:r>
            <a:r>
              <a:rPr lang="en-US" sz="4000" dirty="0">
                <a:latin typeface="Arial" charset="0"/>
              </a:rPr>
              <a:t> attachment</a:t>
            </a:r>
          </a:p>
        </p:txBody>
      </p:sp>
      <p:sp>
        <p:nvSpPr>
          <p:cNvPr id="40968" name="Rectangle 8"/>
          <p:cNvSpPr>
            <a:spLocks noGrp="1" noChangeArrowheads="1"/>
          </p:cNvSpPr>
          <p:nvPr>
            <p:ph type="body" idx="1"/>
          </p:nvPr>
        </p:nvSpPr>
        <p:spPr>
          <a:xfrm>
            <a:off x="457200" y="1828800"/>
            <a:ext cx="8229600" cy="4525963"/>
          </a:xfrm>
        </p:spPr>
        <p:txBody>
          <a:bodyPr/>
          <a:lstStyle/>
          <a:p>
            <a:pPr eaLnBrk="1" hangingPunct="1">
              <a:buFontTx/>
              <a:buNone/>
            </a:pPr>
            <a:r>
              <a:rPr lang="en-US" sz="2800" dirty="0">
                <a:latin typeface="Arial" charset="0"/>
              </a:rPr>
              <a:t>When a young child feels:</a:t>
            </a:r>
          </a:p>
          <a:p>
            <a:pPr eaLnBrk="1" hangingPunct="1">
              <a:buFontTx/>
              <a:buNone/>
            </a:pPr>
            <a:endParaRPr lang="en-US" sz="2800" dirty="0">
              <a:latin typeface="Arial" charset="0"/>
            </a:endParaRPr>
          </a:p>
          <a:p>
            <a:pPr lvl="1" eaLnBrk="1" hangingPunct="1"/>
            <a:r>
              <a:rPr lang="en-US" dirty="0">
                <a:latin typeface="Arial" charset="0"/>
              </a:rPr>
              <a:t>physically or psychologically unsafe</a:t>
            </a:r>
          </a:p>
          <a:p>
            <a:pPr lvl="1" eaLnBrk="1" hangingPunct="1"/>
            <a:r>
              <a:rPr lang="en-US" dirty="0">
                <a:latin typeface="Arial" charset="0"/>
              </a:rPr>
              <a:t>abandoned </a:t>
            </a:r>
          </a:p>
          <a:p>
            <a:pPr lvl="1" eaLnBrk="1" hangingPunct="1"/>
            <a:r>
              <a:rPr lang="en-US" dirty="0">
                <a:latin typeface="Arial" charset="0"/>
              </a:rPr>
              <a:t>vulnerable</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2" descr="blocksrgb"/>
          <p:cNvPicPr>
            <a:picLocks noChangeAspect="1" noChangeArrowheads="1"/>
          </p:cNvPicPr>
          <p:nvPr/>
        </p:nvPicPr>
        <p:blipFill>
          <a:blip r:embed="rId3"/>
          <a:srcRect/>
          <a:stretch>
            <a:fillRect/>
          </a:stretch>
        </p:blipFill>
        <p:spPr bwMode="auto">
          <a:xfrm>
            <a:off x="7885113" y="5851525"/>
            <a:ext cx="971550" cy="685800"/>
          </a:xfrm>
          <a:prstGeom prst="rect">
            <a:avLst/>
          </a:prstGeom>
          <a:noFill/>
          <a:ln w="9525">
            <a:noFill/>
            <a:miter lim="800000"/>
            <a:headEnd/>
            <a:tailEnd/>
          </a:ln>
        </p:spPr>
      </p:pic>
      <p:sp>
        <p:nvSpPr>
          <p:cNvPr id="43011" name="Rectangle 3"/>
          <p:cNvSpPr>
            <a:spLocks noChangeArrowheads="1"/>
          </p:cNvSpPr>
          <p:nvPr/>
        </p:nvSpPr>
        <p:spPr bwMode="auto">
          <a:xfrm>
            <a:off x="0" y="0"/>
            <a:ext cx="9144000" cy="533400"/>
          </a:xfrm>
          <a:prstGeom prst="rect">
            <a:avLst/>
          </a:prstGeom>
          <a:solidFill>
            <a:srgbClr val="6D2FAB"/>
          </a:solidFill>
          <a:ln w="0">
            <a:noFill/>
            <a:miter lim="800000"/>
            <a:headEnd/>
            <a:tailEnd/>
          </a:ln>
        </p:spPr>
        <p:txBody>
          <a:bodyPr wrap="none" anchor="ctr">
            <a:prstTxWarp prst="textNoShape">
              <a:avLst/>
            </a:prstTxWarp>
          </a:bodyPr>
          <a:lstStyle/>
          <a:p>
            <a:endParaRPr lang="en-US"/>
          </a:p>
        </p:txBody>
      </p:sp>
      <p:sp>
        <p:nvSpPr>
          <p:cNvPr id="43012" name="Text Box 4"/>
          <p:cNvSpPr txBox="1">
            <a:spLocks noChangeArrowheads="1"/>
          </p:cNvSpPr>
          <p:nvPr/>
        </p:nvSpPr>
        <p:spPr bwMode="auto">
          <a:xfrm>
            <a:off x="0" y="125413"/>
            <a:ext cx="9144000" cy="304800"/>
          </a:xfrm>
          <a:prstGeom prst="rect">
            <a:avLst/>
          </a:prstGeom>
          <a:noFill/>
          <a:ln w="9525">
            <a:noFill/>
            <a:miter lim="800000"/>
            <a:headEnd/>
            <a:tailEnd/>
          </a:ln>
        </p:spPr>
        <p:txBody>
          <a:bodyPr>
            <a:prstTxWarp prst="textNoShape">
              <a:avLst/>
            </a:prstTxWarp>
            <a:spAutoFit/>
          </a:bodyPr>
          <a:lstStyle/>
          <a:p>
            <a:pPr algn="ctr" eaLnBrk="0" hangingPunct="0"/>
            <a:r>
              <a:rPr lang="en-US" sz="1400">
                <a:solidFill>
                  <a:schemeClr val="bg1"/>
                </a:solidFill>
                <a:latin typeface="Arial Black" charset="0"/>
                <a:ea typeface="ＭＳ Ｐゴシック" charset="-128"/>
                <a:cs typeface="ＭＳ Ｐゴシック" charset="-128"/>
              </a:rPr>
              <a:t>E D U C A T I O N A L   P S Y C H O L O G Y   S E R V I C E</a:t>
            </a:r>
          </a:p>
        </p:txBody>
      </p:sp>
      <p:pic>
        <p:nvPicPr>
          <p:cNvPr id="43013" name="Picture 5" descr="Image windsor and Maidenhead"/>
          <p:cNvPicPr>
            <a:picLocks noChangeAspect="1" noChangeArrowheads="1"/>
          </p:cNvPicPr>
          <p:nvPr/>
        </p:nvPicPr>
        <p:blipFill>
          <a:blip r:embed="rId4"/>
          <a:srcRect/>
          <a:stretch>
            <a:fillRect/>
          </a:stretch>
        </p:blipFill>
        <p:spPr bwMode="auto">
          <a:xfrm>
            <a:off x="8637588" y="0"/>
            <a:ext cx="506412" cy="609600"/>
          </a:xfrm>
          <a:prstGeom prst="rect">
            <a:avLst/>
          </a:prstGeom>
          <a:noFill/>
          <a:ln w="3175">
            <a:noFill/>
            <a:miter lim="800000"/>
            <a:headEnd/>
            <a:tailEnd/>
          </a:ln>
        </p:spPr>
      </p:pic>
      <p:sp>
        <p:nvSpPr>
          <p:cNvPr id="43014" name="Rectangle 6"/>
          <p:cNvSpPr>
            <a:spLocks noChangeArrowheads="1"/>
          </p:cNvSpPr>
          <p:nvPr/>
        </p:nvSpPr>
        <p:spPr bwMode="auto">
          <a:xfrm>
            <a:off x="611188" y="981075"/>
            <a:ext cx="7704137" cy="762000"/>
          </a:xfrm>
          <a:prstGeom prst="rect">
            <a:avLst/>
          </a:prstGeom>
          <a:noFill/>
          <a:ln w="9525">
            <a:noFill/>
            <a:miter lim="800000"/>
            <a:headEnd/>
            <a:tailEnd/>
          </a:ln>
        </p:spPr>
        <p:txBody>
          <a:bodyPr>
            <a:prstTxWarp prst="textNoShape">
              <a:avLst/>
            </a:prstTxWarp>
            <a:spAutoFit/>
          </a:bodyPr>
          <a:lstStyle/>
          <a:p>
            <a:endParaRPr lang="en-US" sz="4400">
              <a:solidFill>
                <a:schemeClr val="tx2"/>
              </a:solidFill>
            </a:endParaRPr>
          </a:p>
        </p:txBody>
      </p:sp>
      <p:sp>
        <p:nvSpPr>
          <p:cNvPr id="43015" name="Text Box 7"/>
          <p:cNvSpPr txBox="1">
            <a:spLocks noChangeArrowheads="1"/>
          </p:cNvSpPr>
          <p:nvPr/>
        </p:nvSpPr>
        <p:spPr bwMode="auto">
          <a:xfrm>
            <a:off x="1187450" y="1052513"/>
            <a:ext cx="6553200" cy="701675"/>
          </a:xfrm>
          <a:prstGeom prst="rect">
            <a:avLst/>
          </a:prstGeom>
          <a:noFill/>
          <a:ln w="9525">
            <a:noFill/>
            <a:miter lim="800000"/>
            <a:headEnd/>
            <a:tailEnd/>
          </a:ln>
        </p:spPr>
        <p:txBody>
          <a:bodyPr>
            <a:prstTxWarp prst="textNoShape">
              <a:avLst/>
            </a:prstTxWarp>
            <a:spAutoFit/>
          </a:bodyPr>
          <a:lstStyle/>
          <a:p>
            <a:pPr algn="ctr">
              <a:spcBef>
                <a:spcPct val="50000"/>
              </a:spcBef>
            </a:pPr>
            <a:endParaRPr lang="en-US" sz="4000">
              <a:latin typeface="Arial" charset="0"/>
            </a:endParaRPr>
          </a:p>
        </p:txBody>
      </p:sp>
      <p:sp>
        <p:nvSpPr>
          <p:cNvPr id="43016" name="Text Box 8"/>
          <p:cNvSpPr txBox="1">
            <a:spLocks noChangeArrowheads="1"/>
          </p:cNvSpPr>
          <p:nvPr/>
        </p:nvSpPr>
        <p:spPr bwMode="auto">
          <a:xfrm>
            <a:off x="1763713" y="2420938"/>
            <a:ext cx="2160587" cy="701675"/>
          </a:xfrm>
          <a:prstGeom prst="rect">
            <a:avLst/>
          </a:prstGeom>
          <a:noFill/>
          <a:ln w="9525">
            <a:noFill/>
            <a:miter lim="800000"/>
            <a:headEnd/>
            <a:tailEnd/>
          </a:ln>
        </p:spPr>
        <p:txBody>
          <a:bodyPr>
            <a:prstTxWarp prst="textNoShape">
              <a:avLst/>
            </a:prstTxWarp>
            <a:spAutoFit/>
          </a:bodyPr>
          <a:lstStyle/>
          <a:p>
            <a:pPr algn="ctr">
              <a:spcBef>
                <a:spcPct val="50000"/>
              </a:spcBef>
            </a:pPr>
            <a:endParaRPr lang="en-US" sz="4000">
              <a:latin typeface="Arial" charset="0"/>
            </a:endParaRPr>
          </a:p>
        </p:txBody>
      </p:sp>
      <p:sp>
        <p:nvSpPr>
          <p:cNvPr id="43017" name="Text Box 10"/>
          <p:cNvSpPr txBox="1">
            <a:spLocks noChangeArrowheads="1"/>
          </p:cNvSpPr>
          <p:nvPr/>
        </p:nvSpPr>
        <p:spPr bwMode="auto">
          <a:xfrm>
            <a:off x="1835150" y="2492375"/>
            <a:ext cx="5256213" cy="708025"/>
          </a:xfrm>
          <a:prstGeom prst="rect">
            <a:avLst/>
          </a:prstGeom>
          <a:noFill/>
          <a:ln w="9525">
            <a:noFill/>
            <a:miter lim="800000"/>
            <a:headEnd/>
            <a:tailEnd/>
          </a:ln>
        </p:spPr>
        <p:txBody>
          <a:bodyPr>
            <a:prstTxWarp prst="textNoShape">
              <a:avLst/>
            </a:prstTxWarp>
            <a:spAutoFit/>
          </a:bodyPr>
          <a:lstStyle/>
          <a:p>
            <a:pPr algn="ctr">
              <a:spcBef>
                <a:spcPct val="50000"/>
              </a:spcBef>
            </a:pPr>
            <a:r>
              <a:rPr lang="en-US" sz="4000">
                <a:latin typeface="Arial" charset="0"/>
              </a:rPr>
              <a:t>Self Regulation</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8" name="Picture 2" descr="blocksrgb"/>
          <p:cNvPicPr>
            <a:picLocks noChangeAspect="1" noChangeArrowheads="1"/>
          </p:cNvPicPr>
          <p:nvPr/>
        </p:nvPicPr>
        <p:blipFill>
          <a:blip r:embed="rId3"/>
          <a:srcRect/>
          <a:stretch>
            <a:fillRect/>
          </a:stretch>
        </p:blipFill>
        <p:spPr bwMode="auto">
          <a:xfrm>
            <a:off x="8027988" y="6029325"/>
            <a:ext cx="900112" cy="635000"/>
          </a:xfrm>
          <a:prstGeom prst="rect">
            <a:avLst/>
          </a:prstGeom>
          <a:noFill/>
          <a:ln w="9525">
            <a:noFill/>
            <a:miter lim="800000"/>
            <a:headEnd/>
            <a:tailEnd/>
          </a:ln>
        </p:spPr>
      </p:pic>
      <p:sp>
        <p:nvSpPr>
          <p:cNvPr id="45059" name="Rectangle 3"/>
          <p:cNvSpPr>
            <a:spLocks noChangeArrowheads="1"/>
          </p:cNvSpPr>
          <p:nvPr/>
        </p:nvSpPr>
        <p:spPr bwMode="auto">
          <a:xfrm>
            <a:off x="0" y="0"/>
            <a:ext cx="9144000" cy="533400"/>
          </a:xfrm>
          <a:prstGeom prst="rect">
            <a:avLst/>
          </a:prstGeom>
          <a:solidFill>
            <a:srgbClr val="6D2FAB"/>
          </a:solidFill>
          <a:ln w="0">
            <a:noFill/>
            <a:miter lim="800000"/>
            <a:headEnd/>
            <a:tailEnd/>
          </a:ln>
        </p:spPr>
        <p:txBody>
          <a:bodyPr wrap="none" anchor="ctr">
            <a:prstTxWarp prst="textNoShape">
              <a:avLst/>
            </a:prstTxWarp>
          </a:bodyPr>
          <a:lstStyle/>
          <a:p>
            <a:endParaRPr lang="en-US"/>
          </a:p>
        </p:txBody>
      </p:sp>
      <p:sp>
        <p:nvSpPr>
          <p:cNvPr id="45060" name="Text Box 4"/>
          <p:cNvSpPr txBox="1">
            <a:spLocks noChangeArrowheads="1"/>
          </p:cNvSpPr>
          <p:nvPr/>
        </p:nvSpPr>
        <p:spPr bwMode="auto">
          <a:xfrm>
            <a:off x="0" y="125413"/>
            <a:ext cx="9144000" cy="304800"/>
          </a:xfrm>
          <a:prstGeom prst="rect">
            <a:avLst/>
          </a:prstGeom>
          <a:noFill/>
          <a:ln w="9525">
            <a:noFill/>
            <a:miter lim="800000"/>
            <a:headEnd/>
            <a:tailEnd/>
          </a:ln>
        </p:spPr>
        <p:txBody>
          <a:bodyPr>
            <a:prstTxWarp prst="textNoShape">
              <a:avLst/>
            </a:prstTxWarp>
            <a:spAutoFit/>
          </a:bodyPr>
          <a:lstStyle/>
          <a:p>
            <a:pPr algn="ctr" eaLnBrk="0" hangingPunct="0"/>
            <a:r>
              <a:rPr lang="en-US" sz="1400">
                <a:solidFill>
                  <a:schemeClr val="bg1"/>
                </a:solidFill>
                <a:latin typeface="Arial Black" charset="0"/>
                <a:ea typeface="ＭＳ Ｐゴシック" charset="-128"/>
                <a:cs typeface="ＭＳ Ｐゴシック" charset="-128"/>
              </a:rPr>
              <a:t>E D U C A T I O N A L   P S Y C H O L O G Y   S E R V I C E</a:t>
            </a:r>
          </a:p>
        </p:txBody>
      </p:sp>
      <p:pic>
        <p:nvPicPr>
          <p:cNvPr id="45061" name="Picture 5" descr="Image windsor and Maidenhead"/>
          <p:cNvPicPr>
            <a:picLocks noChangeAspect="1" noChangeArrowheads="1"/>
          </p:cNvPicPr>
          <p:nvPr/>
        </p:nvPicPr>
        <p:blipFill>
          <a:blip r:embed="rId4"/>
          <a:srcRect/>
          <a:stretch>
            <a:fillRect/>
          </a:stretch>
        </p:blipFill>
        <p:spPr bwMode="auto">
          <a:xfrm>
            <a:off x="8637588" y="0"/>
            <a:ext cx="506412" cy="609600"/>
          </a:xfrm>
          <a:prstGeom prst="rect">
            <a:avLst/>
          </a:prstGeom>
          <a:noFill/>
          <a:ln w="3175">
            <a:noFill/>
            <a:miter lim="800000"/>
            <a:headEnd/>
            <a:tailEnd/>
          </a:ln>
        </p:spPr>
      </p:pic>
      <p:sp>
        <p:nvSpPr>
          <p:cNvPr id="45062" name="Rectangle 6"/>
          <p:cNvSpPr>
            <a:spLocks noChangeArrowheads="1"/>
          </p:cNvSpPr>
          <p:nvPr/>
        </p:nvSpPr>
        <p:spPr bwMode="auto">
          <a:xfrm>
            <a:off x="755650" y="1196975"/>
            <a:ext cx="7704138" cy="762000"/>
          </a:xfrm>
          <a:prstGeom prst="rect">
            <a:avLst/>
          </a:prstGeom>
          <a:noFill/>
          <a:ln w="9525">
            <a:noFill/>
            <a:miter lim="800000"/>
            <a:headEnd/>
            <a:tailEnd/>
          </a:ln>
        </p:spPr>
        <p:txBody>
          <a:bodyPr>
            <a:prstTxWarp prst="textNoShape">
              <a:avLst/>
            </a:prstTxWarp>
            <a:spAutoFit/>
          </a:bodyPr>
          <a:lstStyle/>
          <a:p>
            <a:endParaRPr lang="en-US" sz="4400">
              <a:solidFill>
                <a:schemeClr val="tx2"/>
              </a:solidFill>
            </a:endParaRPr>
          </a:p>
        </p:txBody>
      </p:sp>
      <p:sp>
        <p:nvSpPr>
          <p:cNvPr id="45063" name="AutoShape 12"/>
          <p:cNvSpPr>
            <a:spLocks noChangeArrowheads="1"/>
          </p:cNvSpPr>
          <p:nvPr/>
        </p:nvSpPr>
        <p:spPr bwMode="auto">
          <a:xfrm>
            <a:off x="3203575" y="2349500"/>
            <a:ext cx="2951163" cy="2232025"/>
          </a:xfrm>
          <a:prstGeom prst="triangle">
            <a:avLst>
              <a:gd name="adj" fmla="val 50000"/>
            </a:avLst>
          </a:prstGeom>
          <a:solidFill>
            <a:schemeClr val="hlink"/>
          </a:solidFill>
          <a:ln w="9525">
            <a:solidFill>
              <a:schemeClr val="tx1"/>
            </a:solidFill>
            <a:miter lim="800000"/>
            <a:headEnd/>
            <a:tailEnd/>
          </a:ln>
        </p:spPr>
        <p:txBody>
          <a:bodyPr wrap="none" anchor="ctr">
            <a:prstTxWarp prst="textNoShape">
              <a:avLst/>
            </a:prstTxWarp>
          </a:bodyPr>
          <a:lstStyle/>
          <a:p>
            <a:endParaRPr lang="en-US"/>
          </a:p>
        </p:txBody>
      </p:sp>
      <p:sp>
        <p:nvSpPr>
          <p:cNvPr id="45064" name="Text Box 13"/>
          <p:cNvSpPr txBox="1">
            <a:spLocks noChangeArrowheads="1"/>
          </p:cNvSpPr>
          <p:nvPr/>
        </p:nvSpPr>
        <p:spPr bwMode="auto">
          <a:xfrm>
            <a:off x="3851275" y="3644900"/>
            <a:ext cx="1943100" cy="457200"/>
          </a:xfrm>
          <a:prstGeom prst="rect">
            <a:avLst/>
          </a:prstGeom>
          <a:noFill/>
          <a:ln w="9525">
            <a:noFill/>
            <a:miter lim="800000"/>
            <a:headEnd/>
            <a:tailEnd/>
          </a:ln>
        </p:spPr>
        <p:txBody>
          <a:bodyPr>
            <a:prstTxWarp prst="textNoShape">
              <a:avLst/>
            </a:prstTxWarp>
            <a:spAutoFit/>
          </a:bodyPr>
          <a:lstStyle/>
          <a:p>
            <a:pPr>
              <a:spcBef>
                <a:spcPct val="50000"/>
              </a:spcBef>
            </a:pPr>
            <a:r>
              <a:rPr lang="en-US">
                <a:latin typeface="Arial" charset="0"/>
              </a:rPr>
              <a:t>Regulation</a:t>
            </a:r>
          </a:p>
        </p:txBody>
      </p:sp>
      <p:pic>
        <p:nvPicPr>
          <p:cNvPr id="45065" name="Picture 14" descr="MC900439805[1]"/>
          <p:cNvPicPr>
            <a:picLocks noChangeAspect="1" noChangeArrowheads="1"/>
          </p:cNvPicPr>
          <p:nvPr/>
        </p:nvPicPr>
        <p:blipFill>
          <a:blip r:embed="rId5"/>
          <a:srcRect/>
          <a:stretch>
            <a:fillRect/>
          </a:stretch>
        </p:blipFill>
        <p:spPr bwMode="auto">
          <a:xfrm rot="-455062">
            <a:off x="2339975" y="2420938"/>
            <a:ext cx="1584325" cy="1584325"/>
          </a:xfrm>
          <a:prstGeom prst="rect">
            <a:avLst/>
          </a:prstGeom>
          <a:noFill/>
          <a:ln w="9525">
            <a:noFill/>
            <a:miter lim="800000"/>
            <a:headEnd/>
            <a:tailEnd/>
          </a:ln>
        </p:spPr>
      </p:pic>
      <p:pic>
        <p:nvPicPr>
          <p:cNvPr id="45066" name="Picture 15" descr="MC900439805[1]"/>
          <p:cNvPicPr>
            <a:picLocks noChangeAspect="1" noChangeArrowheads="1"/>
          </p:cNvPicPr>
          <p:nvPr/>
        </p:nvPicPr>
        <p:blipFill>
          <a:blip r:embed="rId5"/>
          <a:srcRect/>
          <a:stretch>
            <a:fillRect/>
          </a:stretch>
        </p:blipFill>
        <p:spPr bwMode="auto">
          <a:xfrm rot="6794946">
            <a:off x="5292725" y="2420938"/>
            <a:ext cx="1800225" cy="1800225"/>
          </a:xfrm>
          <a:prstGeom prst="rect">
            <a:avLst/>
          </a:prstGeom>
          <a:noFill/>
          <a:ln w="9525">
            <a:noFill/>
            <a:miter lim="800000"/>
            <a:headEnd/>
            <a:tailEnd/>
          </a:ln>
        </p:spPr>
      </p:pic>
      <p:pic>
        <p:nvPicPr>
          <p:cNvPr id="45067" name="Picture 16" descr="MC900439805[1]"/>
          <p:cNvPicPr>
            <a:picLocks noChangeAspect="1" noChangeArrowheads="1"/>
          </p:cNvPicPr>
          <p:nvPr/>
        </p:nvPicPr>
        <p:blipFill>
          <a:blip r:embed="rId5"/>
          <a:srcRect/>
          <a:stretch>
            <a:fillRect/>
          </a:stretch>
        </p:blipFill>
        <p:spPr bwMode="auto">
          <a:xfrm rot="-7766226">
            <a:off x="3708400" y="4365625"/>
            <a:ext cx="1871663" cy="1871663"/>
          </a:xfrm>
          <a:prstGeom prst="rect">
            <a:avLst/>
          </a:prstGeom>
          <a:noFill/>
          <a:ln w="9525">
            <a:noFill/>
            <a:miter lim="800000"/>
            <a:headEnd/>
            <a:tailEnd/>
          </a:ln>
        </p:spPr>
      </p:pic>
      <p:sp>
        <p:nvSpPr>
          <p:cNvPr id="45068" name="Text Box 17"/>
          <p:cNvSpPr txBox="1">
            <a:spLocks noChangeArrowheads="1"/>
          </p:cNvSpPr>
          <p:nvPr/>
        </p:nvSpPr>
        <p:spPr bwMode="auto">
          <a:xfrm>
            <a:off x="3995738" y="1773238"/>
            <a:ext cx="1655762" cy="519112"/>
          </a:xfrm>
          <a:prstGeom prst="rect">
            <a:avLst/>
          </a:prstGeom>
          <a:noFill/>
          <a:ln w="9525">
            <a:noFill/>
            <a:miter lim="800000"/>
            <a:headEnd/>
            <a:tailEnd/>
          </a:ln>
        </p:spPr>
        <p:txBody>
          <a:bodyPr>
            <a:prstTxWarp prst="textNoShape">
              <a:avLst/>
            </a:prstTxWarp>
            <a:spAutoFit/>
          </a:bodyPr>
          <a:lstStyle/>
          <a:p>
            <a:pPr>
              <a:spcBef>
                <a:spcPct val="50000"/>
              </a:spcBef>
            </a:pPr>
            <a:r>
              <a:rPr lang="en-US" sz="2800">
                <a:latin typeface="Arial" charset="0"/>
              </a:rPr>
              <a:t>Emotion</a:t>
            </a:r>
          </a:p>
        </p:txBody>
      </p:sp>
      <p:sp>
        <p:nvSpPr>
          <p:cNvPr id="13330" name="Text Box 18"/>
          <p:cNvSpPr txBox="1">
            <a:spLocks noChangeArrowheads="1"/>
          </p:cNvSpPr>
          <p:nvPr/>
        </p:nvSpPr>
        <p:spPr bwMode="auto">
          <a:xfrm>
            <a:off x="1476375" y="4437063"/>
            <a:ext cx="1871663" cy="519112"/>
          </a:xfrm>
          <a:prstGeom prst="rect">
            <a:avLst/>
          </a:prstGeom>
          <a:noFill/>
          <a:ln w="9525">
            <a:noFill/>
            <a:miter lim="800000"/>
            <a:headEnd/>
            <a:tailEnd/>
          </a:ln>
        </p:spPr>
        <p:txBody>
          <a:bodyPr>
            <a:prstTxWarp prst="textNoShape">
              <a:avLst/>
            </a:prstTxWarp>
            <a:spAutoFit/>
          </a:bodyPr>
          <a:lstStyle/>
          <a:p>
            <a:pPr>
              <a:spcBef>
                <a:spcPct val="50000"/>
              </a:spcBef>
            </a:pPr>
            <a:r>
              <a:rPr lang="en-US" sz="2800">
                <a:latin typeface="Arial" charset="0"/>
              </a:rPr>
              <a:t>Behaviour</a:t>
            </a:r>
          </a:p>
        </p:txBody>
      </p:sp>
      <p:sp>
        <p:nvSpPr>
          <p:cNvPr id="13331" name="Text Box 19"/>
          <p:cNvSpPr txBox="1">
            <a:spLocks noChangeArrowheads="1"/>
          </p:cNvSpPr>
          <p:nvPr/>
        </p:nvSpPr>
        <p:spPr bwMode="auto">
          <a:xfrm>
            <a:off x="6084888" y="4365625"/>
            <a:ext cx="1943100" cy="519113"/>
          </a:xfrm>
          <a:prstGeom prst="rect">
            <a:avLst/>
          </a:prstGeom>
          <a:noFill/>
          <a:ln w="9525">
            <a:noFill/>
            <a:miter lim="800000"/>
            <a:headEnd/>
            <a:tailEnd/>
          </a:ln>
        </p:spPr>
        <p:txBody>
          <a:bodyPr>
            <a:prstTxWarp prst="textNoShape">
              <a:avLst/>
            </a:prstTxWarp>
            <a:spAutoFit/>
          </a:bodyPr>
          <a:lstStyle/>
          <a:p>
            <a:pPr>
              <a:spcBef>
                <a:spcPct val="50000"/>
              </a:spcBef>
            </a:pPr>
            <a:r>
              <a:rPr lang="en-US" sz="2800">
                <a:latin typeface="Arial" charset="0"/>
              </a:rPr>
              <a:t>Cognition</a:t>
            </a:r>
          </a:p>
        </p:txBody>
      </p:sp>
      <p:sp>
        <p:nvSpPr>
          <p:cNvPr id="45072" name="Text Box 21"/>
          <p:cNvSpPr txBox="1">
            <a:spLocks noChangeArrowheads="1"/>
          </p:cNvSpPr>
          <p:nvPr/>
        </p:nvSpPr>
        <p:spPr bwMode="auto">
          <a:xfrm>
            <a:off x="468313" y="765175"/>
            <a:ext cx="8208962" cy="701675"/>
          </a:xfrm>
          <a:prstGeom prst="rect">
            <a:avLst/>
          </a:prstGeom>
          <a:noFill/>
          <a:ln w="9525">
            <a:noFill/>
            <a:miter lim="800000"/>
            <a:headEnd/>
            <a:tailEnd/>
          </a:ln>
        </p:spPr>
        <p:txBody>
          <a:bodyPr>
            <a:prstTxWarp prst="textNoShape">
              <a:avLst/>
            </a:prstTxWarp>
            <a:spAutoFit/>
          </a:bodyPr>
          <a:lstStyle/>
          <a:p>
            <a:pPr>
              <a:spcBef>
                <a:spcPct val="50000"/>
              </a:spcBef>
            </a:pPr>
            <a:r>
              <a:rPr lang="en-US" sz="4000">
                <a:latin typeface="Arial" charset="0"/>
              </a:rPr>
              <a:t>Attachment as a Regulatory system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3331"/>
                                        </p:tgtEl>
                                        <p:attrNameLst>
                                          <p:attrName>style.visibility</p:attrName>
                                        </p:attrNameLst>
                                      </p:cBhvr>
                                      <p:to>
                                        <p:strVal val="visible"/>
                                      </p:to>
                                    </p:set>
                                    <p:animEffect transition="in" filter="box(in)">
                                      <p:cBhvr>
                                        <p:cTn id="7" dur="500"/>
                                        <p:tgtEl>
                                          <p:spTgt spid="13331"/>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3330"/>
                                        </p:tgtEl>
                                        <p:attrNameLst>
                                          <p:attrName>style.visibility</p:attrName>
                                        </p:attrNameLst>
                                      </p:cBhvr>
                                      <p:to>
                                        <p:strVal val="visible"/>
                                      </p:to>
                                    </p:set>
                                    <p:animEffect transition="in" filter="box(in)">
                                      <p:cBhvr>
                                        <p:cTn id="12" dur="500"/>
                                        <p:tgtEl>
                                          <p:spTgt spid="133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30" grpId="0"/>
      <p:bldP spid="1333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3"/>
          <p:cNvSpPr>
            <a:spLocks noChangeArrowheads="1"/>
          </p:cNvSpPr>
          <p:nvPr/>
        </p:nvSpPr>
        <p:spPr bwMode="auto">
          <a:xfrm>
            <a:off x="0" y="0"/>
            <a:ext cx="9144000" cy="533400"/>
          </a:xfrm>
          <a:prstGeom prst="rect">
            <a:avLst/>
          </a:prstGeom>
          <a:solidFill>
            <a:srgbClr val="6D2FAB"/>
          </a:solidFill>
          <a:ln w="0">
            <a:noFill/>
            <a:miter lim="800000"/>
            <a:headEnd/>
            <a:tailEnd/>
          </a:ln>
        </p:spPr>
        <p:txBody>
          <a:bodyPr wrap="none" anchor="ctr">
            <a:prstTxWarp prst="textNoShape">
              <a:avLst/>
            </a:prstTxWarp>
          </a:bodyPr>
          <a:lstStyle/>
          <a:p>
            <a:endParaRPr lang="en-US"/>
          </a:p>
        </p:txBody>
      </p:sp>
      <p:sp>
        <p:nvSpPr>
          <p:cNvPr id="47107" name="Text Box 4"/>
          <p:cNvSpPr txBox="1">
            <a:spLocks noChangeArrowheads="1"/>
          </p:cNvSpPr>
          <p:nvPr/>
        </p:nvSpPr>
        <p:spPr bwMode="auto">
          <a:xfrm>
            <a:off x="0" y="125413"/>
            <a:ext cx="9144000" cy="304800"/>
          </a:xfrm>
          <a:prstGeom prst="rect">
            <a:avLst/>
          </a:prstGeom>
          <a:noFill/>
          <a:ln w="9525">
            <a:noFill/>
            <a:miter lim="800000"/>
            <a:headEnd/>
            <a:tailEnd/>
          </a:ln>
        </p:spPr>
        <p:txBody>
          <a:bodyPr>
            <a:prstTxWarp prst="textNoShape">
              <a:avLst/>
            </a:prstTxWarp>
            <a:spAutoFit/>
          </a:bodyPr>
          <a:lstStyle/>
          <a:p>
            <a:pPr algn="ctr" eaLnBrk="0" hangingPunct="0"/>
            <a:r>
              <a:rPr lang="en-US" sz="1400">
                <a:solidFill>
                  <a:schemeClr val="bg1"/>
                </a:solidFill>
                <a:latin typeface="Arial Black" charset="0"/>
                <a:ea typeface="ＭＳ Ｐゴシック" charset="-128"/>
                <a:cs typeface="ＭＳ Ｐゴシック" charset="-128"/>
              </a:rPr>
              <a:t>E D U C A T I O N A L   P S Y C H O L O G Y   S E R V I C E</a:t>
            </a:r>
          </a:p>
        </p:txBody>
      </p:sp>
      <p:pic>
        <p:nvPicPr>
          <p:cNvPr id="47108" name="Picture 5" descr="Image windsor and Maidenhead"/>
          <p:cNvPicPr>
            <a:picLocks noChangeAspect="1" noChangeArrowheads="1"/>
          </p:cNvPicPr>
          <p:nvPr/>
        </p:nvPicPr>
        <p:blipFill>
          <a:blip r:embed="rId3"/>
          <a:srcRect/>
          <a:stretch>
            <a:fillRect/>
          </a:stretch>
        </p:blipFill>
        <p:spPr bwMode="auto">
          <a:xfrm>
            <a:off x="8637588" y="0"/>
            <a:ext cx="506412" cy="609600"/>
          </a:xfrm>
          <a:prstGeom prst="rect">
            <a:avLst/>
          </a:prstGeom>
          <a:noFill/>
          <a:ln w="3175">
            <a:noFill/>
            <a:miter lim="800000"/>
            <a:headEnd/>
            <a:tailEnd/>
          </a:ln>
        </p:spPr>
      </p:pic>
      <p:sp>
        <p:nvSpPr>
          <p:cNvPr id="47109" name="Rectangle 6"/>
          <p:cNvSpPr>
            <a:spLocks noChangeArrowheads="1"/>
          </p:cNvSpPr>
          <p:nvPr/>
        </p:nvSpPr>
        <p:spPr bwMode="auto">
          <a:xfrm>
            <a:off x="755650" y="1196975"/>
            <a:ext cx="7704138" cy="762000"/>
          </a:xfrm>
          <a:prstGeom prst="rect">
            <a:avLst/>
          </a:prstGeom>
          <a:noFill/>
          <a:ln w="9525">
            <a:noFill/>
            <a:miter lim="800000"/>
            <a:headEnd/>
            <a:tailEnd/>
          </a:ln>
        </p:spPr>
        <p:txBody>
          <a:bodyPr>
            <a:prstTxWarp prst="textNoShape">
              <a:avLst/>
            </a:prstTxWarp>
            <a:spAutoFit/>
          </a:bodyPr>
          <a:lstStyle/>
          <a:p>
            <a:endParaRPr lang="en-US" sz="4400">
              <a:solidFill>
                <a:schemeClr val="tx2"/>
              </a:solidFill>
            </a:endParaRPr>
          </a:p>
        </p:txBody>
      </p:sp>
      <p:sp>
        <p:nvSpPr>
          <p:cNvPr id="47110" name="Rectangle 7"/>
          <p:cNvSpPr>
            <a:spLocks noGrp="1" noChangeArrowheads="1"/>
          </p:cNvSpPr>
          <p:nvPr>
            <p:ph type="title"/>
          </p:nvPr>
        </p:nvSpPr>
        <p:spPr>
          <a:xfrm>
            <a:off x="468313" y="692150"/>
            <a:ext cx="8278812" cy="1143000"/>
          </a:xfrm>
        </p:spPr>
        <p:txBody>
          <a:bodyPr/>
          <a:lstStyle/>
          <a:p>
            <a:pPr eaLnBrk="1" hangingPunct="1"/>
            <a:r>
              <a:rPr lang="en-US" sz="4000">
                <a:latin typeface="Arial" charset="0"/>
              </a:rPr>
              <a:t>Over arousal in attachment-disordered children</a:t>
            </a:r>
          </a:p>
        </p:txBody>
      </p:sp>
      <p:pic>
        <p:nvPicPr>
          <p:cNvPr id="15369" name="Picture 9" descr="balance-beam2"/>
          <p:cNvPicPr>
            <a:picLocks noChangeAspect="1" noChangeArrowheads="1"/>
          </p:cNvPicPr>
          <p:nvPr/>
        </p:nvPicPr>
        <p:blipFill>
          <a:blip r:embed="rId4"/>
          <a:srcRect/>
          <a:stretch>
            <a:fillRect/>
          </a:stretch>
        </p:blipFill>
        <p:spPr bwMode="auto">
          <a:xfrm>
            <a:off x="4859338" y="2781300"/>
            <a:ext cx="3527425" cy="2651125"/>
          </a:xfrm>
          <a:prstGeom prst="rect">
            <a:avLst/>
          </a:prstGeom>
          <a:noFill/>
          <a:ln w="9525">
            <a:noFill/>
            <a:miter lim="800000"/>
            <a:headEnd/>
            <a:tailEnd/>
          </a:ln>
        </p:spPr>
      </p:pic>
      <p:sp>
        <p:nvSpPr>
          <p:cNvPr id="47112" name="AutoShape 12" descr="2Q=="/>
          <p:cNvSpPr>
            <a:spLocks noChangeAspect="1" noChangeArrowheads="1"/>
          </p:cNvSpPr>
          <p:nvPr/>
        </p:nvSpPr>
        <p:spPr bwMode="auto">
          <a:xfrm>
            <a:off x="3505200" y="2362200"/>
            <a:ext cx="2133600" cy="2133600"/>
          </a:xfrm>
          <a:prstGeom prst="rect">
            <a:avLst/>
          </a:prstGeom>
          <a:noFill/>
          <a:ln w="9525">
            <a:noFill/>
            <a:miter lim="800000"/>
            <a:headEnd/>
            <a:tailEnd/>
          </a:ln>
        </p:spPr>
        <p:txBody>
          <a:bodyPr>
            <a:prstTxWarp prst="textNoShape">
              <a:avLst/>
            </a:prstTxWarp>
          </a:bodyPr>
          <a:lstStyle/>
          <a:p>
            <a:endParaRPr lang="en-US"/>
          </a:p>
        </p:txBody>
      </p:sp>
      <p:sp>
        <p:nvSpPr>
          <p:cNvPr id="47113" name="AutoShape 14" descr="2Q=="/>
          <p:cNvSpPr>
            <a:spLocks noChangeAspect="1" noChangeArrowheads="1"/>
          </p:cNvSpPr>
          <p:nvPr/>
        </p:nvSpPr>
        <p:spPr bwMode="auto">
          <a:xfrm>
            <a:off x="3505200" y="2362200"/>
            <a:ext cx="2133600" cy="2133600"/>
          </a:xfrm>
          <a:prstGeom prst="rect">
            <a:avLst/>
          </a:prstGeom>
          <a:noFill/>
          <a:ln w="9525">
            <a:noFill/>
            <a:miter lim="800000"/>
            <a:headEnd/>
            <a:tailEnd/>
          </a:ln>
        </p:spPr>
        <p:txBody>
          <a:bodyPr>
            <a:prstTxWarp prst="textNoShape">
              <a:avLst/>
            </a:prstTxWarp>
          </a:bodyPr>
          <a:lstStyle/>
          <a:p>
            <a:endParaRPr lang="en-US"/>
          </a:p>
        </p:txBody>
      </p:sp>
      <p:pic>
        <p:nvPicPr>
          <p:cNvPr id="47114" name="Picture 18" descr="timber_bench_8_foot_9_inch"/>
          <p:cNvPicPr>
            <a:picLocks noChangeAspect="1" noChangeArrowheads="1"/>
          </p:cNvPicPr>
          <p:nvPr/>
        </p:nvPicPr>
        <p:blipFill>
          <a:blip r:embed="rId5"/>
          <a:srcRect/>
          <a:stretch>
            <a:fillRect/>
          </a:stretch>
        </p:blipFill>
        <p:spPr bwMode="auto">
          <a:xfrm>
            <a:off x="395288" y="3429000"/>
            <a:ext cx="4356100" cy="2179638"/>
          </a:xfrm>
          <a:prstGeom prst="rect">
            <a:avLst/>
          </a:prstGeom>
          <a:noFill/>
          <a:ln w="9525">
            <a:noFill/>
            <a:miter lim="800000"/>
            <a:headEnd/>
            <a:tailEnd/>
          </a:ln>
        </p:spPr>
      </p:pic>
      <p:pic>
        <p:nvPicPr>
          <p:cNvPr id="15379" name="Picture 19" descr="ANd9GcRYSdOF4d5pd-aTekXZC0Ae2rukO3jdP2irLxnG1iFrI0elxIk&amp;t=1&amp;usg=__87fl7Y4hObfDmxkykawN8n7oXpU="/>
          <p:cNvPicPr>
            <a:picLocks noChangeAspect="1" noChangeArrowheads="1"/>
          </p:cNvPicPr>
          <p:nvPr/>
        </p:nvPicPr>
        <p:blipFill>
          <a:blip r:embed="rId6"/>
          <a:srcRect/>
          <a:stretch>
            <a:fillRect/>
          </a:stretch>
        </p:blipFill>
        <p:spPr bwMode="auto">
          <a:xfrm>
            <a:off x="755650" y="1946275"/>
            <a:ext cx="7705725" cy="4722813"/>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6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15379"/>
                                        </p:tgtEl>
                                        <p:attrNameLst>
                                          <p:attrName>style.visibility</p:attrName>
                                        </p:attrNameLst>
                                      </p:cBhvr>
                                      <p:to>
                                        <p:strVal val="visible"/>
                                      </p:to>
                                    </p:set>
                                    <p:anim calcmode="lin" valueType="num">
                                      <p:cBhvr additive="base">
                                        <p:cTn id="11" dur="2000" fill="hold"/>
                                        <p:tgtEl>
                                          <p:spTgt spid="15379"/>
                                        </p:tgtEl>
                                        <p:attrNameLst>
                                          <p:attrName>ppt_x</p:attrName>
                                        </p:attrNameLst>
                                      </p:cBhvr>
                                      <p:tavLst>
                                        <p:tav tm="0">
                                          <p:val>
                                            <p:strVal val="#ppt_x"/>
                                          </p:val>
                                        </p:tav>
                                        <p:tav tm="100000">
                                          <p:val>
                                            <p:strVal val="#ppt_x"/>
                                          </p:val>
                                        </p:tav>
                                      </p:tavLst>
                                    </p:anim>
                                    <p:anim calcmode="lin" valueType="num">
                                      <p:cBhvr additive="base">
                                        <p:cTn id="12" dur="2000" fill="hold"/>
                                        <p:tgtEl>
                                          <p:spTgt spid="1537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2" descr="blocksrgb"/>
          <p:cNvPicPr>
            <a:picLocks noChangeAspect="1" noChangeArrowheads="1"/>
          </p:cNvPicPr>
          <p:nvPr/>
        </p:nvPicPr>
        <p:blipFill>
          <a:blip r:embed="rId3"/>
          <a:srcRect/>
          <a:stretch>
            <a:fillRect/>
          </a:stretch>
        </p:blipFill>
        <p:spPr bwMode="auto">
          <a:xfrm>
            <a:off x="7885113" y="5851525"/>
            <a:ext cx="971550" cy="685800"/>
          </a:xfrm>
          <a:prstGeom prst="rect">
            <a:avLst/>
          </a:prstGeom>
          <a:noFill/>
          <a:ln w="9525">
            <a:noFill/>
            <a:miter lim="800000"/>
            <a:headEnd/>
            <a:tailEnd/>
          </a:ln>
        </p:spPr>
      </p:pic>
      <p:sp>
        <p:nvSpPr>
          <p:cNvPr id="43011" name="Rectangle 3"/>
          <p:cNvSpPr>
            <a:spLocks noChangeArrowheads="1"/>
          </p:cNvSpPr>
          <p:nvPr/>
        </p:nvSpPr>
        <p:spPr bwMode="auto">
          <a:xfrm>
            <a:off x="0" y="0"/>
            <a:ext cx="9144000" cy="533400"/>
          </a:xfrm>
          <a:prstGeom prst="rect">
            <a:avLst/>
          </a:prstGeom>
          <a:solidFill>
            <a:srgbClr val="6D2FAB"/>
          </a:solidFill>
          <a:ln w="0">
            <a:noFill/>
            <a:miter lim="800000"/>
            <a:headEnd/>
            <a:tailEnd/>
          </a:ln>
        </p:spPr>
        <p:txBody>
          <a:bodyPr wrap="none" anchor="ctr">
            <a:prstTxWarp prst="textNoShape">
              <a:avLst/>
            </a:prstTxWarp>
          </a:bodyPr>
          <a:lstStyle/>
          <a:p>
            <a:endParaRPr lang="en-US"/>
          </a:p>
        </p:txBody>
      </p:sp>
      <p:sp>
        <p:nvSpPr>
          <p:cNvPr id="43012" name="Text Box 4"/>
          <p:cNvSpPr txBox="1">
            <a:spLocks noChangeArrowheads="1"/>
          </p:cNvSpPr>
          <p:nvPr/>
        </p:nvSpPr>
        <p:spPr bwMode="auto">
          <a:xfrm>
            <a:off x="0" y="125413"/>
            <a:ext cx="9144000" cy="304800"/>
          </a:xfrm>
          <a:prstGeom prst="rect">
            <a:avLst/>
          </a:prstGeom>
          <a:noFill/>
          <a:ln w="9525">
            <a:noFill/>
            <a:miter lim="800000"/>
            <a:headEnd/>
            <a:tailEnd/>
          </a:ln>
        </p:spPr>
        <p:txBody>
          <a:bodyPr>
            <a:prstTxWarp prst="textNoShape">
              <a:avLst/>
            </a:prstTxWarp>
            <a:spAutoFit/>
          </a:bodyPr>
          <a:lstStyle/>
          <a:p>
            <a:pPr algn="ctr" eaLnBrk="0" hangingPunct="0"/>
            <a:r>
              <a:rPr lang="en-US" sz="1400">
                <a:solidFill>
                  <a:schemeClr val="bg1"/>
                </a:solidFill>
                <a:latin typeface="Arial Black" charset="0"/>
                <a:ea typeface="ＭＳ Ｐゴシック" charset="-128"/>
                <a:cs typeface="ＭＳ Ｐゴシック" charset="-128"/>
              </a:rPr>
              <a:t>E D U C A T I O N A L   P S Y C H O L O G Y   S E R V I C E</a:t>
            </a:r>
          </a:p>
        </p:txBody>
      </p:sp>
      <p:pic>
        <p:nvPicPr>
          <p:cNvPr id="43013" name="Picture 5" descr="Image windsor and Maidenhead"/>
          <p:cNvPicPr>
            <a:picLocks noChangeAspect="1" noChangeArrowheads="1"/>
          </p:cNvPicPr>
          <p:nvPr/>
        </p:nvPicPr>
        <p:blipFill>
          <a:blip r:embed="rId4"/>
          <a:srcRect/>
          <a:stretch>
            <a:fillRect/>
          </a:stretch>
        </p:blipFill>
        <p:spPr bwMode="auto">
          <a:xfrm>
            <a:off x="8637588" y="0"/>
            <a:ext cx="506412" cy="609600"/>
          </a:xfrm>
          <a:prstGeom prst="rect">
            <a:avLst/>
          </a:prstGeom>
          <a:noFill/>
          <a:ln w="3175">
            <a:noFill/>
            <a:miter lim="800000"/>
            <a:headEnd/>
            <a:tailEnd/>
          </a:ln>
        </p:spPr>
      </p:pic>
      <p:sp>
        <p:nvSpPr>
          <p:cNvPr id="43014" name="Rectangle 6"/>
          <p:cNvSpPr>
            <a:spLocks noChangeArrowheads="1"/>
          </p:cNvSpPr>
          <p:nvPr/>
        </p:nvSpPr>
        <p:spPr bwMode="auto">
          <a:xfrm>
            <a:off x="611188" y="981075"/>
            <a:ext cx="7704137" cy="762000"/>
          </a:xfrm>
          <a:prstGeom prst="rect">
            <a:avLst/>
          </a:prstGeom>
          <a:noFill/>
          <a:ln w="9525">
            <a:noFill/>
            <a:miter lim="800000"/>
            <a:headEnd/>
            <a:tailEnd/>
          </a:ln>
        </p:spPr>
        <p:txBody>
          <a:bodyPr>
            <a:prstTxWarp prst="textNoShape">
              <a:avLst/>
            </a:prstTxWarp>
            <a:spAutoFit/>
          </a:bodyPr>
          <a:lstStyle/>
          <a:p>
            <a:endParaRPr lang="en-US" sz="4400">
              <a:solidFill>
                <a:schemeClr val="tx2"/>
              </a:solidFill>
            </a:endParaRPr>
          </a:p>
        </p:txBody>
      </p:sp>
      <p:sp>
        <p:nvSpPr>
          <p:cNvPr id="43015" name="Text Box 7"/>
          <p:cNvSpPr txBox="1">
            <a:spLocks noChangeArrowheads="1"/>
          </p:cNvSpPr>
          <p:nvPr/>
        </p:nvSpPr>
        <p:spPr bwMode="auto">
          <a:xfrm>
            <a:off x="1187450" y="1052513"/>
            <a:ext cx="6553200" cy="701675"/>
          </a:xfrm>
          <a:prstGeom prst="rect">
            <a:avLst/>
          </a:prstGeom>
          <a:noFill/>
          <a:ln w="9525">
            <a:noFill/>
            <a:miter lim="800000"/>
            <a:headEnd/>
            <a:tailEnd/>
          </a:ln>
        </p:spPr>
        <p:txBody>
          <a:bodyPr>
            <a:prstTxWarp prst="textNoShape">
              <a:avLst/>
            </a:prstTxWarp>
            <a:spAutoFit/>
          </a:bodyPr>
          <a:lstStyle/>
          <a:p>
            <a:pPr algn="ctr">
              <a:spcBef>
                <a:spcPct val="50000"/>
              </a:spcBef>
            </a:pPr>
            <a:endParaRPr lang="en-US" sz="4000">
              <a:latin typeface="Arial" charset="0"/>
            </a:endParaRPr>
          </a:p>
        </p:txBody>
      </p:sp>
      <p:sp>
        <p:nvSpPr>
          <p:cNvPr id="43016" name="Text Box 8"/>
          <p:cNvSpPr txBox="1">
            <a:spLocks noChangeArrowheads="1"/>
          </p:cNvSpPr>
          <p:nvPr/>
        </p:nvSpPr>
        <p:spPr bwMode="auto">
          <a:xfrm>
            <a:off x="1763713" y="2420938"/>
            <a:ext cx="2160587" cy="701675"/>
          </a:xfrm>
          <a:prstGeom prst="rect">
            <a:avLst/>
          </a:prstGeom>
          <a:noFill/>
          <a:ln w="9525">
            <a:noFill/>
            <a:miter lim="800000"/>
            <a:headEnd/>
            <a:tailEnd/>
          </a:ln>
        </p:spPr>
        <p:txBody>
          <a:bodyPr>
            <a:prstTxWarp prst="textNoShape">
              <a:avLst/>
            </a:prstTxWarp>
            <a:spAutoFit/>
          </a:bodyPr>
          <a:lstStyle/>
          <a:p>
            <a:pPr algn="ctr">
              <a:spcBef>
                <a:spcPct val="50000"/>
              </a:spcBef>
            </a:pPr>
            <a:endParaRPr lang="en-US" sz="4000">
              <a:latin typeface="Arial" charset="0"/>
            </a:endParaRPr>
          </a:p>
        </p:txBody>
      </p:sp>
      <p:sp>
        <p:nvSpPr>
          <p:cNvPr id="43017" name="Text Box 10"/>
          <p:cNvSpPr txBox="1">
            <a:spLocks noChangeArrowheads="1"/>
          </p:cNvSpPr>
          <p:nvPr/>
        </p:nvSpPr>
        <p:spPr bwMode="auto">
          <a:xfrm>
            <a:off x="1835150" y="2492375"/>
            <a:ext cx="5256213" cy="708025"/>
          </a:xfrm>
          <a:prstGeom prst="rect">
            <a:avLst/>
          </a:prstGeom>
          <a:noFill/>
          <a:ln w="9525">
            <a:noFill/>
            <a:miter lim="800000"/>
            <a:headEnd/>
            <a:tailEnd/>
          </a:ln>
        </p:spPr>
        <p:txBody>
          <a:bodyPr>
            <a:prstTxWarp prst="textNoShape">
              <a:avLst/>
            </a:prstTxWarp>
            <a:spAutoFit/>
          </a:bodyPr>
          <a:lstStyle/>
          <a:p>
            <a:pPr algn="ctr">
              <a:spcBef>
                <a:spcPct val="50000"/>
              </a:spcBef>
            </a:pPr>
            <a:r>
              <a:rPr lang="en-US" sz="4000" dirty="0" smtClean="0">
                <a:latin typeface="Arial" charset="0"/>
              </a:rPr>
              <a:t>Observation Schedule </a:t>
            </a:r>
            <a:endParaRPr lang="en-US" sz="4000" dirty="0">
              <a:latin typeface="Arial"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143000"/>
          </a:xfrm>
        </p:spPr>
        <p:txBody>
          <a:bodyPr/>
          <a:lstStyle/>
          <a:p>
            <a:r>
              <a:rPr lang="en-US" dirty="0" smtClean="0"/>
              <a:t>Observation Checklist</a:t>
            </a:r>
            <a:endParaRPr lang="en-US" dirty="0"/>
          </a:p>
        </p:txBody>
      </p:sp>
      <p:graphicFrame>
        <p:nvGraphicFramePr>
          <p:cNvPr id="4" name="Content Placeholder 3"/>
          <p:cNvGraphicFramePr>
            <a:graphicFrameLocks noGrp="1"/>
          </p:cNvGraphicFramePr>
          <p:nvPr>
            <p:ph idx="1"/>
          </p:nvPr>
        </p:nvGraphicFramePr>
        <p:xfrm>
          <a:off x="609600" y="17526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143000"/>
          </a:xfrm>
        </p:spPr>
        <p:txBody>
          <a:bodyPr/>
          <a:lstStyle/>
          <a:p>
            <a:r>
              <a:rPr lang="en-US" sz="3600" dirty="0" smtClean="0"/>
              <a:t>Observation Schedule</a:t>
            </a:r>
            <a:endParaRPr lang="en-US" sz="3600" dirty="0"/>
          </a:p>
        </p:txBody>
      </p:sp>
      <p:sp>
        <p:nvSpPr>
          <p:cNvPr id="3" name="Content Placeholder 2"/>
          <p:cNvSpPr>
            <a:spLocks noGrp="1"/>
          </p:cNvSpPr>
          <p:nvPr>
            <p:ph idx="1"/>
          </p:nvPr>
        </p:nvSpPr>
        <p:spPr>
          <a:xfrm>
            <a:off x="533400" y="1447800"/>
            <a:ext cx="8229600" cy="4525963"/>
          </a:xfrm>
        </p:spPr>
        <p:txBody>
          <a:bodyPr/>
          <a:lstStyle/>
          <a:p>
            <a:pPr>
              <a:lnSpc>
                <a:spcPct val="150000"/>
              </a:lnSpc>
              <a:buFont typeface="Wingdings" charset="2"/>
              <a:buChar char="Ø"/>
            </a:pPr>
            <a:r>
              <a:rPr lang="en-US" sz="2800" dirty="0" smtClean="0"/>
              <a:t>Purpose -    What it is…	What it isn’t…</a:t>
            </a:r>
          </a:p>
          <a:p>
            <a:pPr>
              <a:lnSpc>
                <a:spcPct val="150000"/>
              </a:lnSpc>
              <a:buFont typeface="Wingdings" charset="2"/>
              <a:buChar char="Ø"/>
            </a:pPr>
            <a:r>
              <a:rPr lang="en-US" sz="2800" dirty="0" smtClean="0"/>
              <a:t>When to use it</a:t>
            </a:r>
          </a:p>
          <a:p>
            <a:pPr>
              <a:lnSpc>
                <a:spcPct val="150000"/>
              </a:lnSpc>
              <a:buFont typeface="Wingdings" charset="2"/>
              <a:buChar char="Ø"/>
            </a:pPr>
            <a:r>
              <a:rPr lang="en-US" sz="2800" dirty="0" smtClean="0"/>
              <a:t>Who can complete it</a:t>
            </a:r>
          </a:p>
          <a:p>
            <a:pPr>
              <a:lnSpc>
                <a:spcPct val="150000"/>
              </a:lnSpc>
              <a:buFont typeface="Wingdings" charset="2"/>
              <a:buChar char="Ø"/>
            </a:pPr>
            <a:r>
              <a:rPr lang="en-US" sz="2800" dirty="0" smtClean="0"/>
              <a:t>Time scale</a:t>
            </a:r>
          </a:p>
          <a:p>
            <a:pPr>
              <a:lnSpc>
                <a:spcPct val="150000"/>
              </a:lnSpc>
              <a:buFont typeface="Wingdings" charset="2"/>
              <a:buChar char="Ø"/>
            </a:pPr>
            <a:r>
              <a:rPr lang="en-US" sz="2800" dirty="0" smtClean="0"/>
              <a:t>Contextual information</a:t>
            </a:r>
          </a:p>
          <a:p>
            <a:pPr>
              <a:lnSpc>
                <a:spcPct val="150000"/>
              </a:lnSpc>
              <a:buFont typeface="Wingdings" charset="2"/>
              <a:buChar char="Ø"/>
            </a:pPr>
            <a:r>
              <a:rPr lang="en-US" sz="2800" dirty="0" smtClean="0"/>
              <a:t>Frequency &amp; intensity of </a:t>
            </a:r>
            <a:r>
              <a:rPr lang="en-US" sz="2800" dirty="0" err="1" smtClean="0"/>
              <a:t>behaviour</a:t>
            </a:r>
            <a:endParaRPr lang="en-US" sz="2800" dirty="0" smtClean="0"/>
          </a:p>
          <a:p>
            <a:pPr>
              <a:lnSpc>
                <a:spcPct val="150000"/>
              </a:lnSpc>
              <a:buFont typeface="Wingdings" charset="2"/>
              <a:buChar char="Ø"/>
            </a:pPr>
            <a:endParaRPr lang="en-US" sz="2800"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143000"/>
          </a:xfrm>
        </p:spPr>
        <p:txBody>
          <a:bodyPr/>
          <a:lstStyle/>
          <a:p>
            <a:r>
              <a:rPr lang="en-US" sz="3600" dirty="0" smtClean="0"/>
              <a:t>Observation Schedule</a:t>
            </a:r>
            <a:endParaRPr lang="en-US" sz="3600" dirty="0"/>
          </a:p>
        </p:txBody>
      </p:sp>
      <p:sp>
        <p:nvSpPr>
          <p:cNvPr id="3" name="Content Placeholder 2"/>
          <p:cNvSpPr>
            <a:spLocks noGrp="1"/>
          </p:cNvSpPr>
          <p:nvPr>
            <p:ph idx="1"/>
          </p:nvPr>
        </p:nvSpPr>
        <p:spPr/>
        <p:txBody>
          <a:bodyPr/>
          <a:lstStyle/>
          <a:p>
            <a:pPr marL="514350" indent="-514350">
              <a:lnSpc>
                <a:spcPct val="150000"/>
              </a:lnSpc>
              <a:buFont typeface="Wingdings" charset="2"/>
              <a:buAutoNum type="arabicPlain"/>
            </a:pPr>
            <a:r>
              <a:rPr lang="en-US" sz="2800" dirty="0" err="1" smtClean="0"/>
              <a:t>Behaviour</a:t>
            </a:r>
            <a:endParaRPr lang="en-US" sz="2800" dirty="0" smtClean="0"/>
          </a:p>
          <a:p>
            <a:pPr marL="514350" indent="-514350">
              <a:lnSpc>
                <a:spcPct val="150000"/>
              </a:lnSpc>
              <a:buFont typeface="Wingdings" charset="2"/>
              <a:buAutoNum type="arabicPlain"/>
            </a:pPr>
            <a:r>
              <a:rPr lang="en-US" sz="2800" dirty="0" smtClean="0"/>
              <a:t>Play &amp; relationship with peers</a:t>
            </a:r>
          </a:p>
          <a:p>
            <a:pPr marL="514350" indent="-514350">
              <a:lnSpc>
                <a:spcPct val="150000"/>
              </a:lnSpc>
              <a:buFont typeface="Wingdings" charset="2"/>
              <a:buAutoNum type="arabicPlain"/>
            </a:pPr>
            <a:r>
              <a:rPr lang="en-US" sz="2800" dirty="0" smtClean="0"/>
              <a:t>Attachment </a:t>
            </a:r>
            <a:r>
              <a:rPr lang="en-US" sz="2800" dirty="0" err="1" smtClean="0"/>
              <a:t>behaviours</a:t>
            </a:r>
            <a:endParaRPr lang="en-US" sz="2800" dirty="0" smtClean="0"/>
          </a:p>
          <a:p>
            <a:pPr marL="514350" indent="-514350">
              <a:lnSpc>
                <a:spcPct val="150000"/>
              </a:lnSpc>
              <a:buFont typeface="Wingdings" charset="2"/>
              <a:buAutoNum type="arabicPlain"/>
            </a:pPr>
            <a:r>
              <a:rPr lang="en-US" sz="2800" dirty="0" smtClean="0"/>
              <a:t>Emotional state</a:t>
            </a:r>
          </a:p>
          <a:p>
            <a:pPr marL="514350" indent="-514350">
              <a:lnSpc>
                <a:spcPct val="150000"/>
              </a:lnSpc>
              <a:buFont typeface="Wingdings" charset="2"/>
              <a:buAutoNum type="arabicPlain"/>
            </a:pPr>
            <a:r>
              <a:rPr lang="en-US" sz="2800" dirty="0" smtClean="0"/>
              <a:t>Attitude to attending Early Years setting</a:t>
            </a:r>
            <a:endParaRPr lang="en-US" sz="280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1143000"/>
          </a:xfrm>
        </p:spPr>
        <p:txBody>
          <a:bodyPr/>
          <a:lstStyle/>
          <a:p>
            <a:r>
              <a:rPr lang="en-US" sz="3600" dirty="0" smtClean="0"/>
              <a:t>Activity – Emily’s Observation</a:t>
            </a:r>
            <a:endParaRPr lang="en-US" sz="3600" dirty="0"/>
          </a:p>
        </p:txBody>
      </p:sp>
      <p:sp>
        <p:nvSpPr>
          <p:cNvPr id="3" name="Content Placeholder 2"/>
          <p:cNvSpPr>
            <a:spLocks noGrp="1"/>
          </p:cNvSpPr>
          <p:nvPr>
            <p:ph idx="1"/>
          </p:nvPr>
        </p:nvSpPr>
        <p:spPr>
          <a:xfrm>
            <a:off x="457200" y="2332037"/>
            <a:ext cx="8229600" cy="4525963"/>
          </a:xfrm>
        </p:spPr>
        <p:txBody>
          <a:bodyPr/>
          <a:lstStyle/>
          <a:p>
            <a:pPr>
              <a:buNone/>
            </a:pPr>
            <a:r>
              <a:rPr lang="en-US" dirty="0" smtClean="0"/>
              <a:t>Read through the worked example of the observation checklist on page 46 and discuss what this tells us about Emily</a:t>
            </a:r>
          </a:p>
          <a:p>
            <a:pPr>
              <a:buNone/>
            </a:pPr>
            <a:endParaRPr lang="en-US" dirty="0" smtClean="0"/>
          </a:p>
          <a:p>
            <a:pPr>
              <a:buNone/>
            </a:pPr>
            <a:endParaRPr 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143000"/>
          </a:xfrm>
        </p:spPr>
        <p:txBody>
          <a:bodyPr/>
          <a:lstStyle/>
          <a:p>
            <a:r>
              <a:rPr lang="en-US" sz="3600" dirty="0" smtClean="0"/>
              <a:t>Analysis of Information</a:t>
            </a:r>
            <a:endParaRPr lang="en-US" sz="3600" dirty="0"/>
          </a:p>
        </p:txBody>
      </p:sp>
      <p:sp>
        <p:nvSpPr>
          <p:cNvPr id="3" name="Content Placeholder 2"/>
          <p:cNvSpPr>
            <a:spLocks noGrp="1"/>
          </p:cNvSpPr>
          <p:nvPr>
            <p:ph idx="1"/>
          </p:nvPr>
        </p:nvSpPr>
        <p:spPr/>
        <p:txBody>
          <a:bodyPr/>
          <a:lstStyle/>
          <a:p>
            <a:r>
              <a:rPr lang="en-US" dirty="0" smtClean="0"/>
              <a:t>Note the pattern of ticks</a:t>
            </a:r>
          </a:p>
          <a:p>
            <a:pPr>
              <a:buNone/>
            </a:pPr>
            <a:r>
              <a:rPr lang="en-US" sz="2400" dirty="0" smtClean="0"/>
              <a:t>		R – insecure avoidant style &amp; strategies</a:t>
            </a:r>
          </a:p>
          <a:p>
            <a:pPr>
              <a:buNone/>
            </a:pPr>
            <a:r>
              <a:rPr lang="en-US" sz="2400" dirty="0" smtClean="0"/>
              <a:t>		L – Insecure ambivalent style</a:t>
            </a:r>
          </a:p>
          <a:p>
            <a:pPr>
              <a:buNone/>
            </a:pPr>
            <a:r>
              <a:rPr lang="en-US" sz="2400" dirty="0" smtClean="0"/>
              <a:t>		Mainly centre, focus on the individual difficulties</a:t>
            </a:r>
          </a:p>
          <a:p>
            <a:pPr>
              <a:buNone/>
            </a:pPr>
            <a:endParaRPr lang="en-US" sz="2400" dirty="0" smtClean="0"/>
          </a:p>
          <a:p>
            <a:pPr>
              <a:lnSpc>
                <a:spcPct val="150000"/>
              </a:lnSpc>
              <a:buFont typeface="Arial"/>
              <a:buChar char="•"/>
            </a:pPr>
            <a:r>
              <a:rPr lang="en-US" sz="2800" dirty="0" smtClean="0"/>
              <a:t>Work from the outside to the centre</a:t>
            </a:r>
          </a:p>
          <a:p>
            <a:pPr>
              <a:lnSpc>
                <a:spcPct val="150000"/>
              </a:lnSpc>
              <a:buFont typeface="Arial"/>
              <a:buChar char="•"/>
            </a:pPr>
            <a:r>
              <a:rPr lang="en-US" sz="2800" dirty="0" smtClean="0"/>
              <a:t>Look at </a:t>
            </a:r>
            <a:r>
              <a:rPr lang="en-US" sz="2800" dirty="0" err="1" smtClean="0"/>
              <a:t>behaviours</a:t>
            </a:r>
            <a:r>
              <a:rPr lang="en-US" sz="2800" dirty="0" smtClean="0"/>
              <a:t>/triggers</a:t>
            </a:r>
          </a:p>
          <a:p>
            <a:pPr>
              <a:lnSpc>
                <a:spcPct val="150000"/>
              </a:lnSpc>
              <a:buFont typeface="Arial"/>
              <a:buChar char="•"/>
            </a:pPr>
            <a:r>
              <a:rPr lang="en-US" sz="2800" dirty="0" smtClean="0"/>
              <a:t>Try and answer the 4 questions p.61</a:t>
            </a:r>
            <a:endParaRPr lang="en-US" sz="2800"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1143000"/>
          </a:xfrm>
        </p:spPr>
        <p:txBody>
          <a:bodyPr/>
          <a:lstStyle/>
          <a:p>
            <a:r>
              <a:rPr lang="en-US" sz="3600" dirty="0" smtClean="0"/>
              <a:t>Action Plan for Emily</a:t>
            </a:r>
            <a:endParaRPr lang="en-US" sz="3600" dirty="0"/>
          </a:p>
        </p:txBody>
      </p:sp>
      <p:sp>
        <p:nvSpPr>
          <p:cNvPr id="3" name="Content Placeholder 2"/>
          <p:cNvSpPr>
            <a:spLocks noGrp="1"/>
          </p:cNvSpPr>
          <p:nvPr>
            <p:ph idx="1"/>
          </p:nvPr>
        </p:nvSpPr>
        <p:spPr>
          <a:xfrm>
            <a:off x="457200" y="2332037"/>
            <a:ext cx="8229600" cy="4525963"/>
          </a:xfrm>
        </p:spPr>
        <p:txBody>
          <a:bodyPr/>
          <a:lstStyle/>
          <a:p>
            <a:pPr>
              <a:buNone/>
            </a:pPr>
            <a:r>
              <a:rPr lang="en-US" dirty="0" smtClean="0"/>
              <a:t>In groups discuss the completed Observation Schedule and analysis and have a go at completing the Action Plan for Emily </a:t>
            </a:r>
            <a:endParaRPr 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4"/>
          <p:cNvPicPr>
            <a:picLocks noChangeAspect="1" noChangeArrowheads="1"/>
          </p:cNvPicPr>
          <p:nvPr/>
        </p:nvPicPr>
        <p:blipFill>
          <a:blip r:embed="rId2"/>
          <a:srcRect/>
          <a:stretch>
            <a:fillRect/>
          </a:stretch>
        </p:blipFill>
        <p:spPr bwMode="auto">
          <a:xfrm>
            <a:off x="4500563" y="1989138"/>
            <a:ext cx="3849687" cy="3201987"/>
          </a:xfrm>
          <a:prstGeom prst="rect">
            <a:avLst/>
          </a:prstGeom>
          <a:noFill/>
          <a:ln w="9525">
            <a:noFill/>
            <a:miter lim="800000"/>
            <a:headEnd/>
            <a:tailEnd/>
          </a:ln>
        </p:spPr>
      </p:pic>
      <p:sp>
        <p:nvSpPr>
          <p:cNvPr id="16387" name="Rectangle 2"/>
          <p:cNvSpPr>
            <a:spLocks noGrp="1" noChangeArrowheads="1"/>
          </p:cNvSpPr>
          <p:nvPr>
            <p:ph type="title"/>
          </p:nvPr>
        </p:nvSpPr>
        <p:spPr>
          <a:xfrm>
            <a:off x="323850" y="692150"/>
            <a:ext cx="8569325" cy="1143000"/>
          </a:xfrm>
        </p:spPr>
        <p:txBody>
          <a:bodyPr/>
          <a:lstStyle/>
          <a:p>
            <a:pPr eaLnBrk="1" hangingPunct="1"/>
            <a:r>
              <a:rPr lang="en-GB"/>
              <a:t>Concept of Resilience</a:t>
            </a:r>
          </a:p>
        </p:txBody>
      </p:sp>
      <p:sp>
        <p:nvSpPr>
          <p:cNvPr id="16388" name="Rectangle 3"/>
          <p:cNvSpPr>
            <a:spLocks noGrp="1" noChangeArrowheads="1"/>
          </p:cNvSpPr>
          <p:nvPr>
            <p:ph type="body" idx="1"/>
          </p:nvPr>
        </p:nvSpPr>
        <p:spPr>
          <a:xfrm>
            <a:off x="468313" y="2005013"/>
            <a:ext cx="3827462" cy="4852987"/>
          </a:xfrm>
        </p:spPr>
        <p:txBody>
          <a:bodyPr/>
          <a:lstStyle/>
          <a:p>
            <a:pPr eaLnBrk="1" hangingPunct="1">
              <a:lnSpc>
                <a:spcPct val="80000"/>
              </a:lnSpc>
              <a:buFontTx/>
              <a:buNone/>
            </a:pPr>
            <a:r>
              <a:rPr lang="en-GB" sz="2000"/>
              <a:t>The concept of resilience dates back to the Second World War when clinicians noted that some evacuated children appeared to suffer more psychological damage than those who stayed at home to face the bombing. </a:t>
            </a:r>
          </a:p>
          <a:p>
            <a:pPr eaLnBrk="1" hangingPunct="1">
              <a:lnSpc>
                <a:spcPct val="80000"/>
              </a:lnSpc>
              <a:buFontTx/>
              <a:buNone/>
            </a:pPr>
            <a:endParaRPr lang="en-GB" sz="2000"/>
          </a:p>
          <a:p>
            <a:pPr eaLnBrk="1" hangingPunct="1">
              <a:lnSpc>
                <a:spcPct val="80000"/>
              </a:lnSpc>
              <a:buFontTx/>
              <a:buNone/>
            </a:pPr>
            <a:r>
              <a:rPr lang="en-GB" sz="2000"/>
              <a:t>The concept has evolved over 50 years, and now informs and influences economics and politics at the highest levels.</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468313" y="620713"/>
            <a:ext cx="8229600" cy="1143000"/>
          </a:xfrm>
        </p:spPr>
        <p:txBody>
          <a:bodyPr/>
          <a:lstStyle/>
          <a:p>
            <a:pPr eaLnBrk="1" hangingPunct="1"/>
            <a:r>
              <a:rPr lang="en-GB"/>
              <a:t>Definition</a:t>
            </a:r>
          </a:p>
        </p:txBody>
      </p:sp>
      <p:sp>
        <p:nvSpPr>
          <p:cNvPr id="18435" name="Rectangle 3"/>
          <p:cNvSpPr>
            <a:spLocks noGrp="1" noChangeArrowheads="1"/>
          </p:cNvSpPr>
          <p:nvPr>
            <p:ph type="body" idx="1"/>
          </p:nvPr>
        </p:nvSpPr>
        <p:spPr>
          <a:xfrm>
            <a:off x="457200" y="1600200"/>
            <a:ext cx="8229600" cy="1905000"/>
          </a:xfrm>
        </p:spPr>
        <p:txBody>
          <a:bodyPr/>
          <a:lstStyle/>
          <a:p>
            <a:pPr eaLnBrk="1" hangingPunct="1">
              <a:buFontTx/>
              <a:buNone/>
            </a:pPr>
            <a:r>
              <a:rPr lang="en-GB"/>
              <a:t>Resilience is understood internationally</a:t>
            </a:r>
          </a:p>
          <a:p>
            <a:pPr eaLnBrk="1" hangingPunct="1">
              <a:buFontTx/>
              <a:buNone/>
            </a:pPr>
            <a:r>
              <a:rPr lang="en-GB"/>
              <a:t>as having the capacity to resist or </a:t>
            </a:r>
          </a:p>
          <a:p>
            <a:pPr eaLnBrk="1" hangingPunct="1">
              <a:buFontTx/>
              <a:buNone/>
            </a:pPr>
            <a:r>
              <a:rPr lang="en-GB">
                <a:solidFill>
                  <a:srgbClr val="FF0000"/>
                </a:solidFill>
                <a:latin typeface="Showcard Gothic" pitchFamily="82" charset="0"/>
              </a:rPr>
              <a:t>‘bounce  back’</a:t>
            </a:r>
            <a:r>
              <a:rPr lang="en-GB"/>
              <a:t> following adversity. </a:t>
            </a:r>
          </a:p>
          <a:p>
            <a:pPr eaLnBrk="1" hangingPunct="1">
              <a:buFontTx/>
              <a:buNone/>
            </a:pPr>
            <a:endParaRPr lang="en-GB" sz="2400"/>
          </a:p>
        </p:txBody>
      </p:sp>
      <p:pic>
        <p:nvPicPr>
          <p:cNvPr id="18436" name="Picture 4" descr="uk-0902-283498-front"/>
          <p:cNvPicPr>
            <a:picLocks noChangeAspect="1" noChangeArrowheads="1"/>
          </p:cNvPicPr>
          <p:nvPr/>
        </p:nvPicPr>
        <p:blipFill>
          <a:blip r:embed="rId2"/>
          <a:srcRect/>
          <a:stretch>
            <a:fillRect/>
          </a:stretch>
        </p:blipFill>
        <p:spPr bwMode="auto">
          <a:xfrm>
            <a:off x="6934200" y="3857625"/>
            <a:ext cx="1871663" cy="2641600"/>
          </a:xfrm>
          <a:prstGeom prst="rect">
            <a:avLst/>
          </a:prstGeom>
          <a:noFill/>
          <a:ln w="9525">
            <a:noFill/>
            <a:miter lim="800000"/>
            <a:headEnd/>
            <a:tailEnd/>
          </a:ln>
        </p:spPr>
      </p:pic>
      <p:sp>
        <p:nvSpPr>
          <p:cNvPr id="18437" name="TextBox 4"/>
          <p:cNvSpPr txBox="1">
            <a:spLocks noChangeArrowheads="1"/>
          </p:cNvSpPr>
          <p:nvPr/>
        </p:nvSpPr>
        <p:spPr bwMode="auto">
          <a:xfrm>
            <a:off x="533400" y="3810000"/>
            <a:ext cx="6019800" cy="1938338"/>
          </a:xfrm>
          <a:prstGeom prst="rect">
            <a:avLst/>
          </a:prstGeom>
          <a:noFill/>
          <a:ln w="9525">
            <a:noFill/>
            <a:miter lim="800000"/>
            <a:headEnd/>
            <a:tailEnd/>
          </a:ln>
        </p:spPr>
        <p:txBody>
          <a:bodyPr>
            <a:prstTxWarp prst="textNoShape">
              <a:avLst/>
            </a:prstTxWarp>
            <a:spAutoFit/>
          </a:bodyPr>
          <a:lstStyle/>
          <a:p>
            <a:r>
              <a:rPr lang="en-GB" sz="2400"/>
              <a:t>It is generally considered to be made up of:</a:t>
            </a:r>
          </a:p>
          <a:p>
            <a:endParaRPr lang="en-GB" sz="2400"/>
          </a:p>
          <a:p>
            <a:pPr>
              <a:buFont typeface="Arial" charset="0"/>
              <a:buChar char="•"/>
            </a:pPr>
            <a:r>
              <a:rPr lang="en-GB" sz="2400"/>
              <a:t>individual</a:t>
            </a:r>
          </a:p>
          <a:p>
            <a:pPr>
              <a:buFont typeface="Arial" charset="0"/>
              <a:buChar char="•"/>
            </a:pPr>
            <a:r>
              <a:rPr lang="en-GB" sz="2400"/>
              <a:t>family </a:t>
            </a:r>
          </a:p>
          <a:p>
            <a:pPr>
              <a:buFont typeface="Arial" charset="0"/>
              <a:buChar char="•"/>
            </a:pPr>
            <a:r>
              <a:rPr lang="en-GB" sz="2400"/>
              <a:t>community factors.</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468313" y="549275"/>
            <a:ext cx="8229600" cy="1143000"/>
          </a:xfrm>
        </p:spPr>
        <p:txBody>
          <a:bodyPr/>
          <a:lstStyle/>
          <a:p>
            <a:pPr eaLnBrk="1" hangingPunct="1"/>
            <a:r>
              <a:rPr lang="en-GB"/>
              <a:t>Trauma &amp; Loss</a:t>
            </a:r>
          </a:p>
        </p:txBody>
      </p:sp>
      <p:sp>
        <p:nvSpPr>
          <p:cNvPr id="26627" name="Rectangle 3"/>
          <p:cNvSpPr>
            <a:spLocks noGrp="1" noChangeArrowheads="1"/>
          </p:cNvSpPr>
          <p:nvPr>
            <p:ph type="body" idx="1"/>
          </p:nvPr>
        </p:nvSpPr>
        <p:spPr>
          <a:xfrm>
            <a:off x="457200" y="1905000"/>
            <a:ext cx="8229600" cy="4525963"/>
          </a:xfrm>
        </p:spPr>
        <p:txBody>
          <a:bodyPr/>
          <a:lstStyle/>
          <a:p>
            <a:pPr eaLnBrk="1" hangingPunct="1"/>
            <a:r>
              <a:rPr lang="en-GB" sz="2400" dirty="0"/>
              <a:t>Childhood trauma has both physiological &amp;</a:t>
            </a:r>
            <a:r>
              <a:rPr lang="en-GB" sz="2400" dirty="0" smtClean="0"/>
              <a:t> </a:t>
            </a:r>
            <a:br>
              <a:rPr lang="en-GB" sz="2400" dirty="0" smtClean="0"/>
            </a:br>
            <a:r>
              <a:rPr lang="en-GB" sz="2400" dirty="0" smtClean="0"/>
              <a:t>psychological </a:t>
            </a:r>
            <a:r>
              <a:rPr lang="en-GB" sz="2400" dirty="0"/>
              <a:t>effects.</a:t>
            </a:r>
          </a:p>
          <a:p>
            <a:pPr eaLnBrk="1" hangingPunct="1">
              <a:buFontTx/>
              <a:buNone/>
            </a:pPr>
            <a:endParaRPr lang="en-GB" sz="2400" dirty="0"/>
          </a:p>
          <a:p>
            <a:pPr eaLnBrk="1" hangingPunct="1"/>
            <a:r>
              <a:rPr lang="en-GB" sz="2400" dirty="0"/>
              <a:t>Trauma does not generally get better by itself and</a:t>
            </a:r>
            <a:r>
              <a:rPr lang="en-GB" sz="2400" dirty="0" smtClean="0"/>
              <a:t> </a:t>
            </a:r>
            <a:br>
              <a:rPr lang="en-GB" sz="2400" dirty="0" smtClean="0"/>
            </a:br>
            <a:r>
              <a:rPr lang="en-GB" sz="2400" dirty="0" smtClean="0"/>
              <a:t>can </a:t>
            </a:r>
            <a:r>
              <a:rPr lang="en-GB" sz="2400" dirty="0"/>
              <a:t>burrow further under the child’s defences &amp;</a:t>
            </a:r>
            <a:r>
              <a:rPr lang="en-GB" sz="2400" dirty="0" smtClean="0"/>
              <a:t> </a:t>
            </a:r>
            <a:br>
              <a:rPr lang="en-GB" sz="2400" dirty="0" smtClean="0"/>
            </a:br>
            <a:r>
              <a:rPr lang="en-GB" sz="2400" dirty="0" smtClean="0"/>
              <a:t>coping </a:t>
            </a:r>
            <a:r>
              <a:rPr lang="en-GB" sz="2400" dirty="0"/>
              <a:t>strategies.</a:t>
            </a:r>
          </a:p>
          <a:p>
            <a:pPr eaLnBrk="1" hangingPunct="1">
              <a:buFontTx/>
              <a:buNone/>
            </a:pPr>
            <a:endParaRPr lang="en-GB" sz="2400" dirty="0"/>
          </a:p>
          <a:p>
            <a:pPr eaLnBrk="1" hangingPunct="1"/>
            <a:r>
              <a:rPr lang="en-GB" sz="2400" dirty="0"/>
              <a:t>Traumatised children often feel helpless, confused</a:t>
            </a:r>
            <a:r>
              <a:rPr lang="en-GB" sz="2400" dirty="0" smtClean="0"/>
              <a:t> </a:t>
            </a:r>
            <a:br>
              <a:rPr lang="en-GB" sz="2400" dirty="0" smtClean="0"/>
            </a:br>
            <a:r>
              <a:rPr lang="en-GB" sz="2400" dirty="0" smtClean="0"/>
              <a:t>and </a:t>
            </a:r>
            <a:r>
              <a:rPr lang="en-GB" sz="2400" dirty="0"/>
              <a:t>afraid to trust.</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8" descr="brain-fitness-2"/>
          <p:cNvPicPr>
            <a:picLocks noChangeAspect="1" noChangeArrowheads="1"/>
          </p:cNvPicPr>
          <p:nvPr/>
        </p:nvPicPr>
        <p:blipFill>
          <a:blip r:embed="rId2"/>
          <a:srcRect/>
          <a:stretch>
            <a:fillRect/>
          </a:stretch>
        </p:blipFill>
        <p:spPr bwMode="auto">
          <a:xfrm>
            <a:off x="1763713" y="1341438"/>
            <a:ext cx="6142037" cy="5668962"/>
          </a:xfrm>
          <a:prstGeom prst="rect">
            <a:avLst/>
          </a:prstGeom>
          <a:noFill/>
          <a:ln w="9525">
            <a:noFill/>
            <a:miter lim="800000"/>
            <a:headEnd/>
            <a:tailEnd/>
          </a:ln>
        </p:spPr>
      </p:pic>
      <p:sp>
        <p:nvSpPr>
          <p:cNvPr id="27651" name="Rectangle 2"/>
          <p:cNvSpPr>
            <a:spLocks noGrp="1" noChangeArrowheads="1"/>
          </p:cNvSpPr>
          <p:nvPr>
            <p:ph type="title"/>
          </p:nvPr>
        </p:nvSpPr>
        <p:spPr>
          <a:xfrm>
            <a:off x="468313" y="404813"/>
            <a:ext cx="8229600" cy="1143000"/>
          </a:xfrm>
        </p:spPr>
        <p:txBody>
          <a:bodyPr/>
          <a:lstStyle/>
          <a:p>
            <a:pPr eaLnBrk="1" hangingPunct="1"/>
            <a:r>
              <a:rPr lang="en-GB"/>
              <a:t>Brain wave</a:t>
            </a:r>
          </a:p>
        </p:txBody>
      </p:sp>
      <p:sp>
        <p:nvSpPr>
          <p:cNvPr id="25603" name="Rectangle 3"/>
          <p:cNvSpPr>
            <a:spLocks noGrp="1" noChangeArrowheads="1"/>
          </p:cNvSpPr>
          <p:nvPr>
            <p:ph type="body" idx="1"/>
          </p:nvPr>
        </p:nvSpPr>
        <p:spPr>
          <a:xfrm>
            <a:off x="1447800" y="3805238"/>
            <a:ext cx="5788025" cy="3052762"/>
          </a:xfrm>
        </p:spPr>
        <p:txBody>
          <a:bodyPr/>
          <a:lstStyle/>
          <a:p>
            <a:pPr algn="ctr" eaLnBrk="1" hangingPunct="1">
              <a:buFontTx/>
              <a:buNone/>
            </a:pPr>
            <a:r>
              <a:rPr lang="en-GB" sz="2000" dirty="0"/>
              <a:t>     </a:t>
            </a:r>
            <a:r>
              <a:rPr lang="en-GB" sz="2000" dirty="0" err="1">
                <a:solidFill>
                  <a:schemeClr val="bg1"/>
                </a:solidFill>
              </a:rPr>
              <a:t>Neuroplasticity</a:t>
            </a:r>
            <a:r>
              <a:rPr lang="en-GB" sz="2000" dirty="0">
                <a:solidFill>
                  <a:schemeClr val="bg1"/>
                </a:solidFill>
              </a:rPr>
              <a:t> is the brain’s ability to change         throughout our life in response to experience.</a:t>
            </a:r>
          </a:p>
          <a:p>
            <a:pPr algn="ctr" eaLnBrk="1" hangingPunct="1">
              <a:buFontTx/>
              <a:buNone/>
            </a:pPr>
            <a:r>
              <a:rPr lang="en-GB" sz="2000" dirty="0">
                <a:solidFill>
                  <a:schemeClr val="bg1"/>
                </a:solidFill>
              </a:rPr>
              <a:t>	We need to stimulate and</a:t>
            </a:r>
            <a:r>
              <a:rPr lang="en-GB" sz="2000" dirty="0" smtClean="0">
                <a:solidFill>
                  <a:schemeClr val="bg1"/>
                </a:solidFill>
              </a:rPr>
              <a:t> </a:t>
            </a:r>
            <a:br>
              <a:rPr lang="en-GB" sz="2000" dirty="0" smtClean="0">
                <a:solidFill>
                  <a:schemeClr val="bg1"/>
                </a:solidFill>
              </a:rPr>
            </a:br>
            <a:r>
              <a:rPr lang="en-GB" sz="2000" dirty="0" smtClean="0">
                <a:solidFill>
                  <a:schemeClr val="bg1"/>
                </a:solidFill>
              </a:rPr>
              <a:t>strengthen </a:t>
            </a:r>
            <a:r>
              <a:rPr lang="en-GB" sz="2000" dirty="0">
                <a:solidFill>
                  <a:schemeClr val="bg1"/>
                </a:solidFill>
              </a:rPr>
              <a:t>the brain.</a:t>
            </a:r>
          </a:p>
          <a:p>
            <a:pPr algn="ctr" eaLnBrk="1" hangingPunct="1">
              <a:buFontTx/>
              <a:buNone/>
            </a:pPr>
            <a:r>
              <a:rPr lang="en-GB" sz="2000" i="1" dirty="0">
                <a:solidFill>
                  <a:schemeClr val="bg1"/>
                </a:solidFill>
              </a:rPr>
              <a:t>		We have more connections in </a:t>
            </a:r>
            <a:r>
              <a:rPr lang="en-GB" sz="2000" i="1">
                <a:solidFill>
                  <a:schemeClr val="bg1"/>
                </a:solidFill>
              </a:rPr>
              <a:t>the </a:t>
            </a:r>
            <a:r>
              <a:rPr lang="en-GB" sz="2000" i="1" smtClean="0">
                <a:solidFill>
                  <a:schemeClr val="bg1"/>
                </a:solidFill>
              </a:rPr>
              <a:t> </a:t>
            </a:r>
            <a:br>
              <a:rPr lang="en-GB" sz="2000" i="1" smtClean="0">
                <a:solidFill>
                  <a:schemeClr val="bg1"/>
                </a:solidFill>
              </a:rPr>
            </a:br>
            <a:r>
              <a:rPr lang="en-GB" sz="2000" i="1" smtClean="0">
                <a:solidFill>
                  <a:schemeClr val="bg1"/>
                </a:solidFill>
              </a:rPr>
              <a:t>brain </a:t>
            </a:r>
            <a:r>
              <a:rPr lang="en-GB" sz="2000" i="1" dirty="0">
                <a:solidFill>
                  <a:schemeClr val="bg1"/>
                </a:solidFill>
              </a:rPr>
              <a:t>than there are </a:t>
            </a:r>
            <a:r>
              <a:rPr lang="en-GB" sz="2000" i="1">
                <a:solidFill>
                  <a:schemeClr val="bg1"/>
                </a:solidFill>
              </a:rPr>
              <a:t>stars</a:t>
            </a:r>
            <a:r>
              <a:rPr lang="en-GB" sz="2000" i="1" smtClean="0">
                <a:solidFill>
                  <a:schemeClr val="bg1"/>
                </a:solidFill>
              </a:rPr>
              <a:t> </a:t>
            </a:r>
            <a:br>
              <a:rPr lang="en-GB" sz="2000" i="1" smtClean="0">
                <a:solidFill>
                  <a:schemeClr val="bg1"/>
                </a:solidFill>
              </a:rPr>
            </a:br>
            <a:r>
              <a:rPr lang="en-GB" sz="2000" i="1" smtClean="0">
                <a:solidFill>
                  <a:schemeClr val="bg1"/>
                </a:solidFill>
              </a:rPr>
              <a:t>in </a:t>
            </a:r>
            <a:r>
              <a:rPr lang="en-GB" sz="2000" i="1" dirty="0">
                <a:solidFill>
                  <a:schemeClr val="bg1"/>
                </a:solidFill>
              </a:rPr>
              <a:t>the galaxy….</a:t>
            </a:r>
            <a:endParaRPr lang="en-GB" sz="2400" dirty="0">
              <a:solidFill>
                <a:schemeClr val="bg1"/>
              </a:solidFill>
            </a:endParaRPr>
          </a:p>
        </p:txBody>
      </p:sp>
      <p:sp>
        <p:nvSpPr>
          <p:cNvPr id="25609" name="Text Box 9"/>
          <p:cNvSpPr txBox="1">
            <a:spLocks noChangeArrowheads="1"/>
          </p:cNvSpPr>
          <p:nvPr/>
        </p:nvSpPr>
        <p:spPr bwMode="auto">
          <a:xfrm>
            <a:off x="6732588" y="1341438"/>
            <a:ext cx="2089150" cy="2282825"/>
          </a:xfrm>
          <a:prstGeom prst="rect">
            <a:avLst/>
          </a:prstGeom>
          <a:noFill/>
          <a:ln w="9525">
            <a:noFill/>
            <a:miter lim="800000"/>
            <a:headEnd/>
            <a:tailEnd/>
          </a:ln>
        </p:spPr>
        <p:txBody>
          <a:bodyPr>
            <a:prstTxWarp prst="textNoShape">
              <a:avLst/>
            </a:prstTxWarp>
            <a:spAutoFit/>
          </a:bodyPr>
          <a:lstStyle/>
          <a:p>
            <a:pPr algn="ctr">
              <a:lnSpc>
                <a:spcPct val="90000"/>
              </a:lnSpc>
              <a:spcBef>
                <a:spcPct val="20000"/>
              </a:spcBef>
            </a:pPr>
            <a:r>
              <a:rPr lang="en-GB" sz="2400"/>
              <a:t>Our brain shapes us, but we also shape our brain.</a:t>
            </a:r>
          </a:p>
          <a:p>
            <a:pPr>
              <a:spcBef>
                <a:spcPct val="50000"/>
              </a:spcBef>
            </a:pPr>
            <a:endParaRPr lang="en-GB" sz="2400"/>
          </a:p>
        </p:txBody>
      </p:sp>
      <p:sp>
        <p:nvSpPr>
          <p:cNvPr id="25610" name="Rectangle 10"/>
          <p:cNvSpPr>
            <a:spLocks noChangeArrowheads="1"/>
          </p:cNvSpPr>
          <p:nvPr/>
        </p:nvSpPr>
        <p:spPr bwMode="auto">
          <a:xfrm>
            <a:off x="179388" y="1125538"/>
            <a:ext cx="4572000" cy="2282825"/>
          </a:xfrm>
          <a:prstGeom prst="rect">
            <a:avLst/>
          </a:prstGeom>
          <a:noFill/>
          <a:ln w="9525">
            <a:noFill/>
            <a:miter lim="800000"/>
            <a:headEnd/>
            <a:tailEnd/>
          </a:ln>
        </p:spPr>
        <p:txBody>
          <a:bodyPr>
            <a:prstTxWarp prst="textNoShape">
              <a:avLst/>
            </a:prstTxWarp>
            <a:spAutoFit/>
          </a:bodyPr>
          <a:lstStyle/>
          <a:p>
            <a:r>
              <a:rPr lang="en-GB" sz="2400"/>
              <a:t>Resilience </a:t>
            </a:r>
          </a:p>
          <a:p>
            <a:r>
              <a:rPr lang="en-GB" sz="2400"/>
              <a:t>is a skill, </a:t>
            </a:r>
          </a:p>
          <a:p>
            <a:r>
              <a:rPr lang="en-GB" sz="2400"/>
              <a:t>it is our drive </a:t>
            </a:r>
          </a:p>
          <a:p>
            <a:r>
              <a:rPr lang="en-GB" sz="2400"/>
              <a:t>to survive, </a:t>
            </a:r>
          </a:p>
          <a:p>
            <a:r>
              <a:rPr lang="en-GB" sz="2400"/>
              <a:t>but also </a:t>
            </a:r>
          </a:p>
          <a:p>
            <a:r>
              <a:rPr lang="en-GB" sz="2400"/>
              <a:t>to strive.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6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60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60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560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56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build="p"/>
      <p:bldP spid="25609" grpId="0"/>
      <p:bldP spid="2561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468313" y="549275"/>
            <a:ext cx="8229600" cy="1143000"/>
          </a:xfrm>
        </p:spPr>
        <p:txBody>
          <a:bodyPr/>
          <a:lstStyle/>
          <a:p>
            <a:pPr eaLnBrk="1" hangingPunct="1"/>
            <a:r>
              <a:rPr lang="en-GB" sz="4000" dirty="0"/>
              <a:t>Building Blocks for Resilience</a:t>
            </a:r>
          </a:p>
        </p:txBody>
      </p:sp>
      <p:sp>
        <p:nvSpPr>
          <p:cNvPr id="7171" name="Rectangle 3"/>
          <p:cNvSpPr>
            <a:spLocks noGrp="1" noChangeArrowheads="1"/>
          </p:cNvSpPr>
          <p:nvPr>
            <p:ph type="body" idx="1"/>
          </p:nvPr>
        </p:nvSpPr>
        <p:spPr>
          <a:xfrm>
            <a:off x="457200" y="1828800"/>
            <a:ext cx="8229600" cy="4525963"/>
          </a:xfrm>
        </p:spPr>
        <p:txBody>
          <a:bodyPr/>
          <a:lstStyle/>
          <a:p>
            <a:pPr eaLnBrk="1" hangingPunct="1">
              <a:lnSpc>
                <a:spcPct val="80000"/>
              </a:lnSpc>
              <a:buFontTx/>
              <a:buNone/>
            </a:pPr>
            <a:r>
              <a:rPr lang="en-GB" sz="2800" dirty="0"/>
              <a:t>The </a:t>
            </a:r>
            <a:r>
              <a:rPr lang="en-GB" sz="2800" dirty="0" smtClean="0"/>
              <a:t>internal </a:t>
            </a:r>
            <a:r>
              <a:rPr lang="en-GB" sz="2800" dirty="0"/>
              <a:t>factors are:</a:t>
            </a:r>
          </a:p>
          <a:p>
            <a:pPr eaLnBrk="1" hangingPunct="1">
              <a:lnSpc>
                <a:spcPct val="80000"/>
              </a:lnSpc>
              <a:buFontTx/>
              <a:buNone/>
            </a:pPr>
            <a:endParaRPr lang="en-GB" sz="2400" dirty="0"/>
          </a:p>
          <a:p>
            <a:pPr eaLnBrk="1" hangingPunct="1">
              <a:lnSpc>
                <a:spcPct val="80000"/>
              </a:lnSpc>
            </a:pPr>
            <a:r>
              <a:rPr lang="en-GB" sz="2400" b="1" dirty="0"/>
              <a:t>a secure base </a:t>
            </a:r>
            <a:r>
              <a:rPr lang="en-GB" sz="2400" dirty="0"/>
              <a:t>– the child feels a sense of belonging and </a:t>
            </a:r>
            <a:r>
              <a:rPr lang="en-GB" sz="2400" dirty="0" smtClean="0"/>
              <a:t>security</a:t>
            </a:r>
          </a:p>
          <a:p>
            <a:pPr eaLnBrk="1" hangingPunct="1">
              <a:lnSpc>
                <a:spcPct val="80000"/>
              </a:lnSpc>
              <a:buNone/>
            </a:pPr>
            <a:endParaRPr lang="en-GB" sz="2400" dirty="0" smtClean="0"/>
          </a:p>
          <a:p>
            <a:pPr eaLnBrk="1" hangingPunct="1">
              <a:lnSpc>
                <a:spcPct val="80000"/>
              </a:lnSpc>
            </a:pPr>
            <a:r>
              <a:rPr lang="en-GB" sz="2400" b="1" dirty="0"/>
              <a:t>a sense of self-efficacy </a:t>
            </a:r>
            <a:r>
              <a:rPr lang="en-GB" sz="2400" dirty="0"/>
              <a:t>– a</a:t>
            </a:r>
            <a:r>
              <a:rPr lang="en-GB" sz="2400" dirty="0" smtClean="0"/>
              <a:t> belief in one’s </a:t>
            </a:r>
            <a:r>
              <a:rPr lang="en-GB" sz="2400" smtClean="0"/>
              <a:t>own ability </a:t>
            </a:r>
            <a:r>
              <a:rPr lang="en-GB" sz="2400" dirty="0" smtClean="0"/>
              <a:t>to complete tasks and reach goals, and recover quickly from setbacks</a:t>
            </a:r>
          </a:p>
          <a:p>
            <a:pPr eaLnBrk="1" hangingPunct="1">
              <a:lnSpc>
                <a:spcPct val="80000"/>
              </a:lnSpc>
              <a:buNone/>
            </a:pPr>
            <a:endParaRPr lang="en-GB" sz="2400" dirty="0" smtClean="0"/>
          </a:p>
          <a:p>
            <a:pPr eaLnBrk="1" hangingPunct="1">
              <a:lnSpc>
                <a:spcPct val="80000"/>
              </a:lnSpc>
            </a:pPr>
            <a:r>
              <a:rPr lang="en-GB" sz="2400" b="1" dirty="0"/>
              <a:t>self-esteem </a:t>
            </a:r>
            <a:r>
              <a:rPr lang="en-GB" sz="2400" dirty="0"/>
              <a:t>– an internal sense of worth and competence.</a:t>
            </a:r>
            <a:endParaRPr lang="en-GB" sz="2400" dirty="0" smtClean="0"/>
          </a:p>
          <a:p>
            <a:pPr eaLnBrk="1" hangingPunct="1">
              <a:lnSpc>
                <a:spcPct val="80000"/>
              </a:lnSpc>
              <a:buFontTx/>
              <a:buNone/>
            </a:pPr>
            <a:endParaRPr lang="en-GB" sz="2400" dirty="0"/>
          </a:p>
        </p:txBody>
      </p:sp>
      <p:pic>
        <p:nvPicPr>
          <p:cNvPr id="4" name="Picture 3"/>
          <p:cNvPicPr>
            <a:picLocks noChangeAspect="1"/>
          </p:cNvPicPr>
          <p:nvPr/>
        </p:nvPicPr>
        <p:blipFill>
          <a:blip r:embed="rId2">
            <a:alphaModFix amt="17000"/>
          </a:blip>
          <a:srcRect/>
          <a:stretch>
            <a:fillRect/>
          </a:stretch>
        </p:blipFill>
        <p:spPr bwMode="auto">
          <a:xfrm>
            <a:off x="-1" y="533400"/>
            <a:ext cx="9158173" cy="63246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17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17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17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a:xfrm>
            <a:off x="179388" y="549275"/>
            <a:ext cx="8964612" cy="6048375"/>
          </a:xfrm>
        </p:spPr>
        <p:txBody>
          <a:bodyPr/>
          <a:lstStyle/>
          <a:p>
            <a:pPr algn="ctr" eaLnBrk="1" hangingPunct="1">
              <a:lnSpc>
                <a:spcPct val="80000"/>
              </a:lnSpc>
              <a:spcBef>
                <a:spcPct val="0"/>
              </a:spcBef>
              <a:buFontTx/>
              <a:buNone/>
            </a:pPr>
            <a:endParaRPr lang="en-GB" sz="3400"/>
          </a:p>
          <a:p>
            <a:pPr algn="ctr" eaLnBrk="1" hangingPunct="1">
              <a:lnSpc>
                <a:spcPct val="80000"/>
              </a:lnSpc>
              <a:spcBef>
                <a:spcPct val="0"/>
              </a:spcBef>
              <a:buFontTx/>
              <a:buNone/>
            </a:pPr>
            <a:endParaRPr lang="en-GB"/>
          </a:p>
        </p:txBody>
      </p:sp>
      <p:sp>
        <p:nvSpPr>
          <p:cNvPr id="25603" name="Oval 4"/>
          <p:cNvSpPr>
            <a:spLocks noChangeArrowheads="1"/>
          </p:cNvSpPr>
          <p:nvPr/>
        </p:nvSpPr>
        <p:spPr bwMode="auto">
          <a:xfrm>
            <a:off x="2484438" y="1268413"/>
            <a:ext cx="4103687" cy="5400675"/>
          </a:xfrm>
          <a:prstGeom prst="ellipse">
            <a:avLst/>
          </a:prstGeom>
          <a:solidFill>
            <a:schemeClr val="accent1"/>
          </a:solidFill>
          <a:ln w="9525">
            <a:solidFill>
              <a:schemeClr val="tx1"/>
            </a:solidFill>
            <a:round/>
            <a:headEnd/>
            <a:tailEnd/>
          </a:ln>
        </p:spPr>
        <p:txBody>
          <a:bodyPr wrap="none" anchor="ctr">
            <a:prstTxWarp prst="textNoShape">
              <a:avLst/>
            </a:prstTxWarp>
          </a:bodyPr>
          <a:lstStyle/>
          <a:p>
            <a:pPr algn="ctr"/>
            <a:endParaRPr lang="en-US"/>
          </a:p>
        </p:txBody>
      </p:sp>
      <p:sp>
        <p:nvSpPr>
          <p:cNvPr id="25604" name="Text Box 5"/>
          <p:cNvSpPr txBox="1">
            <a:spLocks noChangeArrowheads="1"/>
          </p:cNvSpPr>
          <p:nvPr/>
        </p:nvSpPr>
        <p:spPr bwMode="auto">
          <a:xfrm>
            <a:off x="3419475" y="1412875"/>
            <a:ext cx="2303463" cy="519113"/>
          </a:xfrm>
          <a:prstGeom prst="rect">
            <a:avLst/>
          </a:prstGeom>
          <a:noFill/>
          <a:ln w="9525">
            <a:noFill/>
            <a:miter lim="800000"/>
            <a:headEnd/>
            <a:tailEnd/>
          </a:ln>
        </p:spPr>
        <p:txBody>
          <a:bodyPr>
            <a:prstTxWarp prst="textNoShape">
              <a:avLst/>
            </a:prstTxWarp>
            <a:spAutoFit/>
          </a:bodyPr>
          <a:lstStyle/>
          <a:p>
            <a:pPr algn="ctr">
              <a:spcBef>
                <a:spcPct val="50000"/>
              </a:spcBef>
            </a:pPr>
            <a:r>
              <a:rPr lang="en-GB" sz="2800" b="1"/>
              <a:t>Ideal self</a:t>
            </a:r>
          </a:p>
        </p:txBody>
      </p:sp>
      <p:sp>
        <p:nvSpPr>
          <p:cNvPr id="25605" name="Text Box 7"/>
          <p:cNvSpPr txBox="1">
            <a:spLocks noChangeArrowheads="1"/>
          </p:cNvSpPr>
          <p:nvPr/>
        </p:nvSpPr>
        <p:spPr bwMode="auto">
          <a:xfrm>
            <a:off x="3419475" y="5876925"/>
            <a:ext cx="2303463" cy="519113"/>
          </a:xfrm>
          <a:prstGeom prst="rect">
            <a:avLst/>
          </a:prstGeom>
          <a:noFill/>
          <a:ln w="9525">
            <a:noFill/>
            <a:miter lim="800000"/>
            <a:headEnd/>
            <a:tailEnd/>
          </a:ln>
        </p:spPr>
        <p:txBody>
          <a:bodyPr>
            <a:prstTxWarp prst="textNoShape">
              <a:avLst/>
            </a:prstTxWarp>
            <a:spAutoFit/>
          </a:bodyPr>
          <a:lstStyle/>
          <a:p>
            <a:pPr algn="ctr">
              <a:spcBef>
                <a:spcPct val="50000"/>
              </a:spcBef>
            </a:pPr>
            <a:r>
              <a:rPr lang="en-GB" sz="2800" b="1"/>
              <a:t>Self image</a:t>
            </a:r>
          </a:p>
        </p:txBody>
      </p:sp>
      <p:sp>
        <p:nvSpPr>
          <p:cNvPr id="6154" name="WordArt 10"/>
          <p:cNvSpPr>
            <a:spLocks noChangeArrowheads="1" noChangeShapeType="1" noTextEdit="1"/>
          </p:cNvSpPr>
          <p:nvPr/>
        </p:nvSpPr>
        <p:spPr bwMode="auto">
          <a:xfrm rot="5400000">
            <a:off x="3203576" y="3716337"/>
            <a:ext cx="2736850" cy="288925"/>
          </a:xfrm>
          <a:prstGeom prst="rect">
            <a:avLst/>
          </a:prstGeom>
        </p:spPr>
        <p:txBody>
          <a:bodyPr vert="wordArtVert" wrap="none" fromWordArt="1">
            <a:prstTxWarp prst="textPlain">
              <a:avLst>
                <a:gd name="adj" fmla="val 50000"/>
              </a:avLst>
            </a:prstTxWarp>
          </a:bodyPr>
          <a:lstStyle/>
          <a:p>
            <a:pPr algn="ctr" fontAlgn="auto"/>
            <a:r>
              <a:rPr lang="en-US" sz="2400" kern="10" spc="1200" normalizeH="1">
                <a:ln w="9525">
                  <a:solidFill>
                    <a:srgbClr val="000000"/>
                  </a:solidFill>
                  <a:round/>
                  <a:headEnd/>
                  <a:tailEnd/>
                </a:ln>
                <a:solidFill>
                  <a:srgbClr val="000000"/>
                </a:solidFill>
                <a:latin typeface="Arial"/>
                <a:ea typeface="Arial"/>
                <a:cs typeface="Arial"/>
              </a:rPr>
              <a:t>SELF ESTEEM</a:t>
            </a:r>
          </a:p>
        </p:txBody>
      </p:sp>
      <p:sp>
        <p:nvSpPr>
          <p:cNvPr id="6156" name="Line 12"/>
          <p:cNvSpPr>
            <a:spLocks noChangeShapeType="1"/>
          </p:cNvSpPr>
          <p:nvPr/>
        </p:nvSpPr>
        <p:spPr bwMode="auto">
          <a:xfrm flipV="1">
            <a:off x="4572000" y="1916113"/>
            <a:ext cx="0" cy="504825"/>
          </a:xfrm>
          <a:prstGeom prst="line">
            <a:avLst/>
          </a:prstGeom>
          <a:noFill/>
          <a:ln w="76200">
            <a:solidFill>
              <a:schemeClr val="tx1"/>
            </a:solidFill>
            <a:round/>
            <a:headEnd/>
            <a:tailEnd type="triangle" w="med" len="med"/>
          </a:ln>
        </p:spPr>
        <p:txBody>
          <a:bodyPr>
            <a:prstTxWarp prst="textNoShape">
              <a:avLst/>
            </a:prstTxWarp>
          </a:bodyPr>
          <a:lstStyle/>
          <a:p>
            <a:endParaRPr lang="en-US"/>
          </a:p>
        </p:txBody>
      </p:sp>
      <p:sp>
        <p:nvSpPr>
          <p:cNvPr id="6158" name="Line 14"/>
          <p:cNvSpPr>
            <a:spLocks noChangeShapeType="1"/>
          </p:cNvSpPr>
          <p:nvPr/>
        </p:nvSpPr>
        <p:spPr bwMode="auto">
          <a:xfrm>
            <a:off x="4572000" y="5373688"/>
            <a:ext cx="0" cy="503237"/>
          </a:xfrm>
          <a:prstGeom prst="line">
            <a:avLst/>
          </a:prstGeom>
          <a:noFill/>
          <a:ln w="76200">
            <a:solidFill>
              <a:schemeClr val="tx1"/>
            </a:solidFill>
            <a:round/>
            <a:headEnd/>
            <a:tailEnd type="triangle" w="med" len="med"/>
          </a:ln>
        </p:spPr>
        <p:txBody>
          <a:bodyPr>
            <a:prstTxWarp prst="textNoShape">
              <a:avLst/>
            </a:prstTxWarp>
          </a:bodyPr>
          <a:lstStyle/>
          <a:p>
            <a:endParaRPr lang="en-US"/>
          </a:p>
        </p:txBody>
      </p:sp>
      <p:sp>
        <p:nvSpPr>
          <p:cNvPr id="6159" name="Text Box 15"/>
          <p:cNvSpPr txBox="1">
            <a:spLocks noChangeArrowheads="1"/>
          </p:cNvSpPr>
          <p:nvPr/>
        </p:nvSpPr>
        <p:spPr bwMode="auto">
          <a:xfrm>
            <a:off x="684213" y="2852738"/>
            <a:ext cx="2663825" cy="1311275"/>
          </a:xfrm>
          <a:prstGeom prst="rect">
            <a:avLst/>
          </a:prstGeom>
          <a:solidFill>
            <a:schemeClr val="accent2"/>
          </a:solidFill>
          <a:ln w="9525">
            <a:noFill/>
            <a:miter lim="800000"/>
            <a:headEnd/>
            <a:tailEnd/>
          </a:ln>
        </p:spPr>
        <p:txBody>
          <a:bodyPr>
            <a:prstTxWarp prst="textNoShape">
              <a:avLst/>
            </a:prstTxWarp>
            <a:spAutoFit/>
          </a:bodyPr>
          <a:lstStyle/>
          <a:p>
            <a:pPr>
              <a:spcBef>
                <a:spcPct val="50000"/>
              </a:spcBef>
            </a:pPr>
            <a:r>
              <a:rPr lang="en-GB" sz="2000">
                <a:solidFill>
                  <a:schemeClr val="bg1"/>
                </a:solidFill>
              </a:rPr>
              <a:t>The bigger the gap between self-image and ideal-self, the lower the self-esteem</a:t>
            </a:r>
          </a:p>
        </p:txBody>
      </p:sp>
      <p:sp>
        <p:nvSpPr>
          <p:cNvPr id="25610" name="Rectangle 16"/>
          <p:cNvSpPr>
            <a:spLocks noGrp="1" noChangeArrowheads="1"/>
          </p:cNvSpPr>
          <p:nvPr>
            <p:ph type="title"/>
          </p:nvPr>
        </p:nvSpPr>
        <p:spPr>
          <a:xfrm>
            <a:off x="468313" y="260350"/>
            <a:ext cx="8229600" cy="1143000"/>
          </a:xfrm>
          <a:noFill/>
        </p:spPr>
        <p:txBody>
          <a:bodyPr/>
          <a:lstStyle/>
          <a:p>
            <a:pPr eaLnBrk="1" hangingPunct="1"/>
            <a:r>
              <a:rPr lang="en-GB" sz="4000"/>
              <a:t>Self concept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5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5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15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1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4" grpId="0"/>
      <p:bldP spid="6156" grpId="0" animBg="1"/>
      <p:bldP spid="6158" grpId="0" animBg="1"/>
      <p:bldP spid="6159"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468313" y="549275"/>
            <a:ext cx="8229600" cy="1143000"/>
          </a:xfrm>
        </p:spPr>
        <p:txBody>
          <a:bodyPr/>
          <a:lstStyle/>
          <a:p>
            <a:pPr eaLnBrk="1" hangingPunct="1"/>
            <a:r>
              <a:rPr lang="en-GB" sz="4000" dirty="0"/>
              <a:t>Building Blocks for Resilience</a:t>
            </a:r>
          </a:p>
        </p:txBody>
      </p:sp>
      <p:sp>
        <p:nvSpPr>
          <p:cNvPr id="7171" name="Rectangle 3"/>
          <p:cNvSpPr>
            <a:spLocks noGrp="1" noChangeArrowheads="1"/>
          </p:cNvSpPr>
          <p:nvPr>
            <p:ph type="body" idx="1"/>
          </p:nvPr>
        </p:nvSpPr>
        <p:spPr>
          <a:xfrm>
            <a:off x="457200" y="1828800"/>
            <a:ext cx="8229600" cy="4525963"/>
          </a:xfrm>
        </p:spPr>
        <p:txBody>
          <a:bodyPr/>
          <a:lstStyle/>
          <a:p>
            <a:pPr eaLnBrk="1" hangingPunct="1">
              <a:lnSpc>
                <a:spcPct val="80000"/>
              </a:lnSpc>
              <a:buFontTx/>
              <a:buNone/>
            </a:pPr>
            <a:endParaRPr lang="en-GB" sz="2000" dirty="0" smtClean="0"/>
          </a:p>
          <a:p>
            <a:pPr eaLnBrk="1" hangingPunct="1">
              <a:lnSpc>
                <a:spcPct val="80000"/>
              </a:lnSpc>
              <a:buFontTx/>
              <a:buNone/>
            </a:pPr>
            <a:r>
              <a:rPr lang="en-GB" sz="2800" dirty="0"/>
              <a:t>The </a:t>
            </a:r>
            <a:r>
              <a:rPr lang="en-GB" sz="2800" dirty="0" smtClean="0"/>
              <a:t>external </a:t>
            </a:r>
            <a:r>
              <a:rPr lang="en-GB" sz="2800" dirty="0"/>
              <a:t>factors are:</a:t>
            </a:r>
          </a:p>
          <a:p>
            <a:pPr eaLnBrk="1" hangingPunct="1">
              <a:lnSpc>
                <a:spcPct val="80000"/>
              </a:lnSpc>
              <a:buFontTx/>
              <a:buNone/>
            </a:pPr>
            <a:endParaRPr lang="en-GB" sz="2400" dirty="0"/>
          </a:p>
          <a:p>
            <a:pPr eaLnBrk="1" hangingPunct="1">
              <a:lnSpc>
                <a:spcPct val="80000"/>
              </a:lnSpc>
            </a:pPr>
            <a:r>
              <a:rPr lang="en-GB" sz="2400" dirty="0"/>
              <a:t>at least one secure attachment relationship</a:t>
            </a:r>
            <a:r>
              <a:rPr lang="en-GB" sz="2400" dirty="0" smtClean="0"/>
              <a:t>,</a:t>
            </a:r>
          </a:p>
          <a:p>
            <a:pPr eaLnBrk="1" hangingPunct="1">
              <a:lnSpc>
                <a:spcPct val="80000"/>
              </a:lnSpc>
              <a:buNone/>
            </a:pPr>
            <a:endParaRPr lang="en-GB" sz="2400" dirty="0" smtClean="0"/>
          </a:p>
          <a:p>
            <a:pPr eaLnBrk="1" hangingPunct="1">
              <a:lnSpc>
                <a:spcPct val="80000"/>
              </a:lnSpc>
            </a:pPr>
            <a:r>
              <a:rPr lang="en-GB" sz="2400" dirty="0"/>
              <a:t>access to wider supports such as extended family and friends</a:t>
            </a:r>
            <a:r>
              <a:rPr lang="en-GB" sz="2400" dirty="0" smtClean="0"/>
              <a:t>,</a:t>
            </a:r>
          </a:p>
          <a:p>
            <a:pPr eaLnBrk="1" hangingPunct="1">
              <a:lnSpc>
                <a:spcPct val="80000"/>
              </a:lnSpc>
              <a:buNone/>
            </a:pPr>
            <a:endParaRPr lang="en-GB" sz="2400" dirty="0" smtClean="0"/>
          </a:p>
          <a:p>
            <a:pPr eaLnBrk="1" hangingPunct="1">
              <a:lnSpc>
                <a:spcPct val="80000"/>
              </a:lnSpc>
            </a:pPr>
            <a:r>
              <a:rPr lang="en-GB" sz="2400" dirty="0"/>
              <a:t>positive nursery, school and/or community experiences.</a:t>
            </a:r>
          </a:p>
        </p:txBody>
      </p:sp>
      <p:pic>
        <p:nvPicPr>
          <p:cNvPr id="4" name="Picture 3"/>
          <p:cNvPicPr>
            <a:picLocks noChangeAspect="1"/>
          </p:cNvPicPr>
          <p:nvPr/>
        </p:nvPicPr>
        <p:blipFill>
          <a:blip r:embed="rId2">
            <a:alphaModFix amt="17000"/>
          </a:blip>
          <a:srcRect/>
          <a:stretch>
            <a:fillRect/>
          </a:stretch>
        </p:blipFill>
        <p:spPr bwMode="auto">
          <a:xfrm>
            <a:off x="-1" y="533400"/>
            <a:ext cx="9158173" cy="63246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17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171">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171">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17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468313" y="1196975"/>
            <a:ext cx="8229600" cy="1143000"/>
          </a:xfrm>
        </p:spPr>
        <p:txBody>
          <a:bodyPr/>
          <a:lstStyle/>
          <a:p>
            <a:pPr eaLnBrk="1" hangingPunct="1"/>
            <a:r>
              <a:rPr lang="en-GB"/>
              <a:t>Promoting resilience in the home environment</a:t>
            </a:r>
            <a:br>
              <a:rPr lang="en-GB"/>
            </a:br>
            <a:endParaRPr lang="en-GB"/>
          </a:p>
        </p:txBody>
      </p:sp>
      <p:sp>
        <p:nvSpPr>
          <p:cNvPr id="32771" name="Rectangle 3"/>
          <p:cNvSpPr>
            <a:spLocks noGrp="1" noChangeArrowheads="1"/>
          </p:cNvSpPr>
          <p:nvPr>
            <p:ph type="body" idx="1"/>
          </p:nvPr>
        </p:nvSpPr>
        <p:spPr>
          <a:xfrm>
            <a:off x="457200" y="2514600"/>
            <a:ext cx="8229600" cy="4525963"/>
          </a:xfrm>
        </p:spPr>
        <p:txBody>
          <a:bodyPr/>
          <a:lstStyle/>
          <a:p>
            <a:pPr eaLnBrk="1" hangingPunct="1"/>
            <a:r>
              <a:rPr lang="en-GB" sz="2400" dirty="0"/>
              <a:t>The presence of at least one unconditionally supportive parent or reliable adult.</a:t>
            </a:r>
          </a:p>
          <a:p>
            <a:pPr eaLnBrk="1" hangingPunct="1">
              <a:buFontTx/>
              <a:buNone/>
            </a:pPr>
            <a:endParaRPr lang="en-GB" sz="2400" dirty="0"/>
          </a:p>
          <a:p>
            <a:pPr eaLnBrk="1" hangingPunct="1"/>
            <a:r>
              <a:rPr lang="en-GB" sz="2400" dirty="0"/>
              <a:t>Maintenance of family routines and rituals.</a:t>
            </a:r>
          </a:p>
          <a:p>
            <a:pPr eaLnBrk="1" hangingPunct="1">
              <a:buFontTx/>
              <a:buNone/>
            </a:pPr>
            <a:endParaRPr lang="en-GB" sz="2400" dirty="0"/>
          </a:p>
          <a:p>
            <a:pPr eaLnBrk="1" hangingPunct="1"/>
            <a:r>
              <a:rPr lang="en-GB" sz="2400" dirty="0"/>
              <a:t>Manageable contributions to the household that promote competencies, self-esteem and problem-solving.</a:t>
            </a:r>
          </a:p>
        </p:txBody>
      </p:sp>
      <p:pic>
        <p:nvPicPr>
          <p:cNvPr id="4" name="Picture 3"/>
          <p:cNvPicPr>
            <a:picLocks noChangeAspect="1"/>
          </p:cNvPicPr>
          <p:nvPr/>
        </p:nvPicPr>
        <p:blipFill>
          <a:blip r:embed="rId2">
            <a:alphaModFix amt="17000"/>
          </a:blip>
          <a:srcRect/>
          <a:stretch>
            <a:fillRect/>
          </a:stretch>
        </p:blipFill>
        <p:spPr bwMode="auto">
          <a:xfrm>
            <a:off x="-1" y="533400"/>
            <a:ext cx="9158173" cy="6324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2" descr="blocksrgb"/>
          <p:cNvPicPr>
            <a:picLocks noChangeAspect="1" noChangeArrowheads="1"/>
          </p:cNvPicPr>
          <p:nvPr/>
        </p:nvPicPr>
        <p:blipFill>
          <a:blip r:embed="rId4"/>
          <a:srcRect/>
          <a:stretch>
            <a:fillRect/>
          </a:stretch>
        </p:blipFill>
        <p:spPr bwMode="auto">
          <a:xfrm>
            <a:off x="7812088" y="5800725"/>
            <a:ext cx="1044575" cy="736600"/>
          </a:xfrm>
          <a:prstGeom prst="rect">
            <a:avLst/>
          </a:prstGeom>
          <a:noFill/>
          <a:ln w="9525">
            <a:noFill/>
            <a:miter lim="800000"/>
            <a:headEnd/>
            <a:tailEnd/>
          </a:ln>
        </p:spPr>
      </p:pic>
      <p:sp>
        <p:nvSpPr>
          <p:cNvPr id="30723" name="Rectangle 3"/>
          <p:cNvSpPr>
            <a:spLocks noChangeArrowheads="1"/>
          </p:cNvSpPr>
          <p:nvPr/>
        </p:nvSpPr>
        <p:spPr bwMode="auto">
          <a:xfrm>
            <a:off x="0" y="0"/>
            <a:ext cx="9144000" cy="533400"/>
          </a:xfrm>
          <a:prstGeom prst="rect">
            <a:avLst/>
          </a:prstGeom>
          <a:solidFill>
            <a:srgbClr val="6D2FAB"/>
          </a:solidFill>
          <a:ln w="0">
            <a:noFill/>
            <a:miter lim="800000"/>
            <a:headEnd/>
            <a:tailEnd/>
          </a:ln>
        </p:spPr>
        <p:txBody>
          <a:bodyPr wrap="none" anchor="ctr">
            <a:prstTxWarp prst="textNoShape">
              <a:avLst/>
            </a:prstTxWarp>
          </a:bodyPr>
          <a:lstStyle/>
          <a:p>
            <a:endParaRPr lang="en-US" sz="2400">
              <a:latin typeface="Times New Roman" charset="0"/>
            </a:endParaRPr>
          </a:p>
        </p:txBody>
      </p:sp>
      <p:sp>
        <p:nvSpPr>
          <p:cNvPr id="30724" name="Text Box 4"/>
          <p:cNvSpPr txBox="1">
            <a:spLocks noChangeArrowheads="1"/>
          </p:cNvSpPr>
          <p:nvPr/>
        </p:nvSpPr>
        <p:spPr bwMode="auto">
          <a:xfrm>
            <a:off x="0" y="125413"/>
            <a:ext cx="9144000" cy="304800"/>
          </a:xfrm>
          <a:prstGeom prst="rect">
            <a:avLst/>
          </a:prstGeom>
          <a:noFill/>
          <a:ln w="9525">
            <a:noFill/>
            <a:miter lim="800000"/>
            <a:headEnd/>
            <a:tailEnd/>
          </a:ln>
        </p:spPr>
        <p:txBody>
          <a:bodyPr>
            <a:prstTxWarp prst="textNoShape">
              <a:avLst/>
            </a:prstTxWarp>
            <a:spAutoFit/>
          </a:bodyPr>
          <a:lstStyle/>
          <a:p>
            <a:pPr algn="ctr" eaLnBrk="0" hangingPunct="0"/>
            <a:r>
              <a:rPr lang="en-US" sz="1400">
                <a:solidFill>
                  <a:schemeClr val="bg1"/>
                </a:solidFill>
                <a:latin typeface="Arial Black" charset="0"/>
                <a:ea typeface="ＭＳ Ｐゴシック" charset="-128"/>
                <a:cs typeface="ＭＳ Ｐゴシック" charset="-128"/>
              </a:rPr>
              <a:t>E D U C A T I O N A L   P S Y C H O L O G Y   S E R V I C E</a:t>
            </a:r>
          </a:p>
        </p:txBody>
      </p:sp>
      <p:pic>
        <p:nvPicPr>
          <p:cNvPr id="30725" name="Picture 5" descr="Image windsor and Maidenhead"/>
          <p:cNvPicPr>
            <a:picLocks noChangeAspect="1" noChangeArrowheads="1"/>
          </p:cNvPicPr>
          <p:nvPr/>
        </p:nvPicPr>
        <p:blipFill>
          <a:blip r:embed="rId5"/>
          <a:srcRect/>
          <a:stretch>
            <a:fillRect/>
          </a:stretch>
        </p:blipFill>
        <p:spPr bwMode="auto">
          <a:xfrm>
            <a:off x="8637588" y="0"/>
            <a:ext cx="506412" cy="609600"/>
          </a:xfrm>
          <a:prstGeom prst="rect">
            <a:avLst/>
          </a:prstGeom>
          <a:noFill/>
          <a:ln w="3175">
            <a:noFill/>
            <a:miter lim="800000"/>
            <a:headEnd/>
            <a:tailEnd/>
          </a:ln>
        </p:spPr>
      </p:pic>
      <p:sp>
        <p:nvSpPr>
          <p:cNvPr id="30726" name="Rectangle 6"/>
          <p:cNvSpPr>
            <a:spLocks noChangeArrowheads="1"/>
          </p:cNvSpPr>
          <p:nvPr/>
        </p:nvSpPr>
        <p:spPr bwMode="auto">
          <a:xfrm>
            <a:off x="755650" y="1196975"/>
            <a:ext cx="7704138" cy="762000"/>
          </a:xfrm>
          <a:prstGeom prst="rect">
            <a:avLst/>
          </a:prstGeom>
          <a:noFill/>
          <a:ln w="9525">
            <a:noFill/>
            <a:miter lim="800000"/>
            <a:headEnd/>
            <a:tailEnd/>
          </a:ln>
        </p:spPr>
        <p:txBody>
          <a:bodyPr>
            <a:prstTxWarp prst="textNoShape">
              <a:avLst/>
            </a:prstTxWarp>
            <a:spAutoFit/>
          </a:bodyPr>
          <a:lstStyle/>
          <a:p>
            <a:endParaRPr lang="en-US" sz="4400">
              <a:solidFill>
                <a:schemeClr val="tx2"/>
              </a:solidFill>
              <a:latin typeface="Times New Roman" charset="0"/>
            </a:endParaRPr>
          </a:p>
        </p:txBody>
      </p:sp>
      <p:sp>
        <p:nvSpPr>
          <p:cNvPr id="30727" name="Rectangle 7"/>
          <p:cNvSpPr>
            <a:spLocks noGrp="1" noChangeArrowheads="1"/>
          </p:cNvSpPr>
          <p:nvPr>
            <p:ph type="title" idx="4294967295"/>
          </p:nvPr>
        </p:nvSpPr>
        <p:spPr>
          <a:xfrm>
            <a:off x="468313" y="2205038"/>
            <a:ext cx="8280400" cy="2078037"/>
          </a:xfrm>
        </p:spPr>
        <p:txBody>
          <a:bodyPr/>
          <a:lstStyle/>
          <a:p>
            <a:pPr eaLnBrk="1" hangingPunct="1"/>
            <a:r>
              <a:rPr lang="en-US" sz="4000" dirty="0" smtClean="0"/>
              <a:t>Never assume you know what a young child is feeling…..</a:t>
            </a:r>
            <a:endParaRPr lang="en-US" sz="2000" dirty="0"/>
          </a:p>
        </p:txBody>
      </p:sp>
      <p:pic>
        <p:nvPicPr>
          <p:cNvPr id="9" name="01 - JAWS_Main Title.aif">
            <a:hlinkClick r:id="" action="ppaction://media"/>
          </p:cNvPr>
          <p:cNvPicPr>
            <a:picLocks noRot="1" noChangeAspect="1"/>
          </p:cNvPicPr>
          <p:nvPr>
            <a:audioFile r:link="rId1"/>
          </p:nvPr>
        </p:nvPicPr>
        <p:blipFill>
          <a:blip r:embed="rId6"/>
          <a:stretch>
            <a:fillRect/>
          </a:stretch>
        </p:blipFill>
        <p:spPr>
          <a:xfrm>
            <a:off x="4191000" y="1752600"/>
            <a:ext cx="282575" cy="282575"/>
          </a:xfrm>
          <a:prstGeom prst="rect">
            <a:avLst/>
          </a:prstGeom>
        </p:spPr>
      </p:pic>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9"/>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35100" fill="hold"/>
                                        <p:tgtEl>
                                          <p:spTgt spid="9"/>
                                        </p:tgtEl>
                                      </p:cBhvr>
                                    </p:cmd>
                                  </p:childTnLst>
                                </p:cTn>
                              </p:par>
                            </p:childTnLst>
                          </p:cTn>
                        </p:par>
                      </p:childTnLst>
                    </p:cTn>
                  </p:par>
                </p:childTnLst>
              </p:cTn>
              <p:nextCondLst>
                <p:cond evt="onClick" delay="0">
                  <p:tgtEl>
                    <p:spTgt spid="9"/>
                  </p:tgtEl>
                </p:cond>
              </p:nextCondLst>
            </p:seq>
            <p:audio>
              <p:cMediaNode>
                <p:cTn id="7" fill="hold" display="0">
                  <p:stCondLst>
                    <p:cond delay="indefinite"/>
                  </p:stCondLst>
                  <p:endCondLst>
                    <p:cond evt="onNext" delay="0">
                      <p:tgtEl>
                        <p:sldTgt/>
                      </p:tgtEl>
                    </p:cond>
                    <p:cond evt="onPrev" delay="0">
                      <p:tgtEl>
                        <p:sldTgt/>
                      </p:tgtEl>
                    </p:cond>
                    <p:cond evt="onStopAudio" delay="0">
                      <p:tgtEl>
                        <p:sldTgt/>
                      </p:tgtEl>
                    </p:cond>
                  </p:endCondLst>
                </p:cTn>
                <p:tgtEl>
                  <p:spTgt spid="9"/>
                </p:tgtEl>
              </p:cMediaNode>
            </p:audio>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3"/>
          <p:cNvSpPr>
            <a:spLocks noChangeArrowheads="1"/>
          </p:cNvSpPr>
          <p:nvPr/>
        </p:nvSpPr>
        <p:spPr bwMode="auto">
          <a:xfrm>
            <a:off x="0" y="0"/>
            <a:ext cx="9144000" cy="533400"/>
          </a:xfrm>
          <a:prstGeom prst="rect">
            <a:avLst/>
          </a:prstGeom>
          <a:solidFill>
            <a:srgbClr val="6D2FAB"/>
          </a:solidFill>
          <a:ln w="0">
            <a:noFill/>
            <a:miter lim="800000"/>
            <a:headEnd/>
            <a:tailEnd/>
          </a:ln>
        </p:spPr>
        <p:txBody>
          <a:bodyPr wrap="none" anchor="ctr">
            <a:prstTxWarp prst="textNoShape">
              <a:avLst/>
            </a:prstTxWarp>
          </a:bodyPr>
          <a:lstStyle/>
          <a:p>
            <a:endParaRPr lang="en-US"/>
          </a:p>
        </p:txBody>
      </p:sp>
      <p:sp>
        <p:nvSpPr>
          <p:cNvPr id="55300" name="Text Box 4"/>
          <p:cNvSpPr txBox="1">
            <a:spLocks noChangeArrowheads="1"/>
          </p:cNvSpPr>
          <p:nvPr/>
        </p:nvSpPr>
        <p:spPr bwMode="auto">
          <a:xfrm>
            <a:off x="0" y="125413"/>
            <a:ext cx="9144000" cy="304800"/>
          </a:xfrm>
          <a:prstGeom prst="rect">
            <a:avLst/>
          </a:prstGeom>
          <a:noFill/>
          <a:ln w="9525">
            <a:noFill/>
            <a:miter lim="800000"/>
            <a:headEnd/>
            <a:tailEnd/>
          </a:ln>
        </p:spPr>
        <p:txBody>
          <a:bodyPr>
            <a:prstTxWarp prst="textNoShape">
              <a:avLst/>
            </a:prstTxWarp>
            <a:spAutoFit/>
          </a:bodyPr>
          <a:lstStyle/>
          <a:p>
            <a:pPr algn="ctr" eaLnBrk="0" hangingPunct="0"/>
            <a:r>
              <a:rPr lang="en-US" sz="1400">
                <a:solidFill>
                  <a:schemeClr val="bg1"/>
                </a:solidFill>
                <a:latin typeface="Arial Black" charset="0"/>
                <a:ea typeface="ＭＳ Ｐゴシック" charset="-128"/>
                <a:cs typeface="ＭＳ Ｐゴシック" charset="-128"/>
              </a:rPr>
              <a:t>E D U C A T I O N A L   P S Y C H O L O G Y   S E R V I C E</a:t>
            </a:r>
          </a:p>
        </p:txBody>
      </p:sp>
      <p:pic>
        <p:nvPicPr>
          <p:cNvPr id="55301" name="Picture 5" descr="Image windsor and Maidenhead"/>
          <p:cNvPicPr>
            <a:picLocks noChangeAspect="1" noChangeArrowheads="1"/>
          </p:cNvPicPr>
          <p:nvPr/>
        </p:nvPicPr>
        <p:blipFill>
          <a:blip r:embed="rId2"/>
          <a:srcRect/>
          <a:stretch>
            <a:fillRect/>
          </a:stretch>
        </p:blipFill>
        <p:spPr bwMode="auto">
          <a:xfrm>
            <a:off x="8637588" y="0"/>
            <a:ext cx="506412" cy="609600"/>
          </a:xfrm>
          <a:prstGeom prst="rect">
            <a:avLst/>
          </a:prstGeom>
          <a:noFill/>
          <a:ln w="3175">
            <a:noFill/>
            <a:miter lim="800000"/>
            <a:headEnd/>
            <a:tailEnd/>
          </a:ln>
        </p:spPr>
      </p:pic>
      <p:sp>
        <p:nvSpPr>
          <p:cNvPr id="55302" name="Rectangle 6"/>
          <p:cNvSpPr>
            <a:spLocks noChangeArrowheads="1"/>
          </p:cNvSpPr>
          <p:nvPr/>
        </p:nvSpPr>
        <p:spPr bwMode="auto">
          <a:xfrm>
            <a:off x="755650" y="1196975"/>
            <a:ext cx="7704138" cy="762000"/>
          </a:xfrm>
          <a:prstGeom prst="rect">
            <a:avLst/>
          </a:prstGeom>
          <a:noFill/>
          <a:ln w="9525">
            <a:noFill/>
            <a:miter lim="800000"/>
            <a:headEnd/>
            <a:tailEnd/>
          </a:ln>
          <a:effectLst/>
        </p:spPr>
        <p:txBody>
          <a:bodyPr>
            <a:prstTxWarp prst="textNoShape">
              <a:avLst/>
            </a:prstTxWarp>
            <a:spAutoFit/>
          </a:bodyPr>
          <a:lstStyle/>
          <a:p>
            <a:endParaRPr lang="en-US" sz="4400">
              <a:solidFill>
                <a:schemeClr val="tx2"/>
              </a:solidFill>
            </a:endParaRPr>
          </a:p>
        </p:txBody>
      </p:sp>
      <p:sp>
        <p:nvSpPr>
          <p:cNvPr id="55308" name="Text Box 12"/>
          <p:cNvSpPr txBox="1">
            <a:spLocks noChangeArrowheads="1"/>
          </p:cNvSpPr>
          <p:nvPr/>
        </p:nvSpPr>
        <p:spPr bwMode="auto">
          <a:xfrm>
            <a:off x="1600200" y="609600"/>
            <a:ext cx="5832475" cy="701675"/>
          </a:xfrm>
          <a:prstGeom prst="rect">
            <a:avLst/>
          </a:prstGeom>
          <a:noFill/>
          <a:ln w="9525">
            <a:noFill/>
            <a:miter lim="800000"/>
            <a:headEnd/>
            <a:tailEnd/>
          </a:ln>
          <a:effectLst/>
        </p:spPr>
        <p:txBody>
          <a:bodyPr>
            <a:prstTxWarp prst="textNoShape">
              <a:avLst/>
            </a:prstTxWarp>
            <a:spAutoFit/>
          </a:bodyPr>
          <a:lstStyle/>
          <a:p>
            <a:pPr algn="ctr">
              <a:spcBef>
                <a:spcPct val="50000"/>
              </a:spcBef>
            </a:pPr>
            <a:r>
              <a:rPr lang="en-US" sz="4000" dirty="0">
                <a:latin typeface="Arial" charset="0"/>
              </a:rPr>
              <a:t>What can we do?</a:t>
            </a:r>
          </a:p>
        </p:txBody>
      </p:sp>
      <p:sp>
        <p:nvSpPr>
          <p:cNvPr id="55309" name="Text Box 13"/>
          <p:cNvSpPr txBox="1">
            <a:spLocks noChangeArrowheads="1"/>
          </p:cNvSpPr>
          <p:nvPr/>
        </p:nvSpPr>
        <p:spPr bwMode="auto">
          <a:xfrm>
            <a:off x="1116013" y="2060575"/>
            <a:ext cx="6769100" cy="457200"/>
          </a:xfrm>
          <a:prstGeom prst="rect">
            <a:avLst/>
          </a:prstGeom>
          <a:noFill/>
          <a:ln w="9525">
            <a:noFill/>
            <a:miter lim="800000"/>
            <a:headEnd/>
            <a:tailEnd/>
          </a:ln>
          <a:effectLst/>
        </p:spPr>
        <p:txBody>
          <a:bodyPr>
            <a:prstTxWarp prst="textNoShape">
              <a:avLst/>
            </a:prstTxWarp>
            <a:spAutoFit/>
          </a:bodyPr>
          <a:lstStyle/>
          <a:p>
            <a:pPr>
              <a:spcBef>
                <a:spcPct val="50000"/>
              </a:spcBef>
            </a:pPr>
            <a:endParaRPr lang="en-US"/>
          </a:p>
        </p:txBody>
      </p:sp>
      <p:sp>
        <p:nvSpPr>
          <p:cNvPr id="55310" name="WordArt 14"/>
          <p:cNvSpPr>
            <a:spLocks noChangeArrowheads="1" noChangeShapeType="1" noTextEdit="1"/>
          </p:cNvSpPr>
          <p:nvPr/>
        </p:nvSpPr>
        <p:spPr bwMode="auto">
          <a:xfrm rot="5400000">
            <a:off x="-778669" y="3378994"/>
            <a:ext cx="4249738" cy="749300"/>
          </a:xfrm>
          <a:prstGeom prst="rect">
            <a:avLst/>
          </a:prstGeom>
        </p:spPr>
        <p:txBody>
          <a:bodyPr vert="wordArtVert" wrap="none" fromWordArt="1">
            <a:prstTxWarp prst="textPlain">
              <a:avLst>
                <a:gd name="adj" fmla="val 50000"/>
              </a:avLst>
            </a:prstTxWarp>
          </a:bodyPr>
          <a:lstStyle/>
          <a:p>
            <a:pPr algn="ctr" fontAlgn="auto"/>
            <a:r>
              <a:rPr lang="en-US" sz="4400" kern="10">
                <a:ln w="9525">
                  <a:solidFill>
                    <a:srgbClr val="333399"/>
                  </a:solidFill>
                  <a:round/>
                  <a:headEnd/>
                  <a:tailEnd/>
                </a:ln>
                <a:solidFill>
                  <a:srgbClr val="333399"/>
                </a:solidFill>
                <a:latin typeface="Berlin Sans FB Demi"/>
                <a:ea typeface="Berlin Sans FB Demi"/>
                <a:cs typeface="Berlin Sans FB Demi"/>
              </a:rPr>
              <a:t>PACE</a:t>
            </a:r>
          </a:p>
        </p:txBody>
      </p:sp>
      <p:sp>
        <p:nvSpPr>
          <p:cNvPr id="55312" name="Text Box 16"/>
          <p:cNvSpPr txBox="1">
            <a:spLocks noChangeArrowheads="1"/>
          </p:cNvSpPr>
          <p:nvPr/>
        </p:nvSpPr>
        <p:spPr bwMode="auto">
          <a:xfrm>
            <a:off x="2057400" y="1600200"/>
            <a:ext cx="6697663" cy="4385816"/>
          </a:xfrm>
          <a:prstGeom prst="rect">
            <a:avLst/>
          </a:prstGeom>
          <a:noFill/>
          <a:ln w="9525">
            <a:noFill/>
            <a:miter lim="800000"/>
            <a:headEnd/>
            <a:tailEnd/>
          </a:ln>
          <a:effectLst/>
        </p:spPr>
        <p:txBody>
          <a:bodyPr>
            <a:prstTxWarp prst="textNoShape">
              <a:avLst/>
            </a:prstTxWarp>
            <a:spAutoFit/>
          </a:bodyPr>
          <a:lstStyle/>
          <a:p>
            <a:pPr>
              <a:spcBef>
                <a:spcPct val="50000"/>
              </a:spcBef>
            </a:pPr>
            <a:r>
              <a:rPr lang="en-US" dirty="0">
                <a:solidFill>
                  <a:schemeClr val="accent2"/>
                </a:solidFill>
                <a:latin typeface="Arial" charset="0"/>
              </a:rPr>
              <a:t>Playfulness </a:t>
            </a:r>
            <a:r>
              <a:rPr lang="en-US" dirty="0">
                <a:latin typeface="Arial" charset="0"/>
              </a:rPr>
              <a:t>– </a:t>
            </a:r>
            <a:r>
              <a:rPr lang="en-US" sz="2000" dirty="0">
                <a:latin typeface="Arial" charset="0"/>
              </a:rPr>
              <a:t>A lighthearted relaxed &amp; playful attitude to help the child experience fun &amp; love.</a:t>
            </a:r>
            <a:endParaRPr lang="en-US" sz="2000" dirty="0" smtClean="0">
              <a:latin typeface="Arial" charset="0"/>
            </a:endParaRPr>
          </a:p>
          <a:p>
            <a:pPr>
              <a:spcBef>
                <a:spcPct val="50000"/>
              </a:spcBef>
            </a:pPr>
            <a:endParaRPr lang="en-US" sz="1000" dirty="0" smtClean="0">
              <a:solidFill>
                <a:schemeClr val="accent2"/>
              </a:solidFill>
              <a:latin typeface="Arial" charset="0"/>
            </a:endParaRPr>
          </a:p>
          <a:p>
            <a:pPr>
              <a:spcBef>
                <a:spcPct val="50000"/>
              </a:spcBef>
            </a:pPr>
            <a:r>
              <a:rPr lang="en-US" dirty="0" smtClean="0">
                <a:solidFill>
                  <a:schemeClr val="accent2"/>
                </a:solidFill>
                <a:latin typeface="Arial" charset="0"/>
              </a:rPr>
              <a:t>Acceptance </a:t>
            </a:r>
            <a:r>
              <a:rPr lang="en-US" dirty="0">
                <a:latin typeface="Arial" charset="0"/>
              </a:rPr>
              <a:t>– </a:t>
            </a:r>
            <a:r>
              <a:rPr lang="en-US" sz="2000" dirty="0">
                <a:latin typeface="Arial" charset="0"/>
              </a:rPr>
              <a:t>Accepting the child’s </a:t>
            </a:r>
            <a:r>
              <a:rPr lang="en-US" sz="2000" dirty="0" err="1">
                <a:latin typeface="Arial" charset="0"/>
              </a:rPr>
              <a:t>behavioural</a:t>
            </a:r>
            <a:r>
              <a:rPr lang="en-US" sz="2000" dirty="0">
                <a:latin typeface="Arial" charset="0"/>
              </a:rPr>
              <a:t> choices and his/her feelings. Show your understanding and help the child with the consequences of these choices.</a:t>
            </a:r>
            <a:endParaRPr lang="en-US" sz="2000" dirty="0" smtClean="0">
              <a:latin typeface="Arial" charset="0"/>
            </a:endParaRPr>
          </a:p>
          <a:p>
            <a:pPr>
              <a:spcBef>
                <a:spcPct val="50000"/>
              </a:spcBef>
            </a:pPr>
            <a:endParaRPr lang="en-US" sz="1000" dirty="0" smtClean="0">
              <a:solidFill>
                <a:schemeClr val="accent2"/>
              </a:solidFill>
              <a:latin typeface="Arial" charset="0"/>
            </a:endParaRPr>
          </a:p>
          <a:p>
            <a:pPr>
              <a:spcBef>
                <a:spcPct val="50000"/>
              </a:spcBef>
            </a:pPr>
            <a:r>
              <a:rPr lang="en-US" dirty="0" smtClean="0">
                <a:solidFill>
                  <a:schemeClr val="accent2"/>
                </a:solidFill>
                <a:latin typeface="Arial" charset="0"/>
              </a:rPr>
              <a:t>Curiosity </a:t>
            </a:r>
            <a:r>
              <a:rPr lang="en-US" sz="2000" dirty="0">
                <a:latin typeface="Arial" charset="0"/>
              </a:rPr>
              <a:t>– Wonder together with the child the meaning behind their </a:t>
            </a:r>
            <a:r>
              <a:rPr lang="en-US" sz="2000" dirty="0" err="1">
                <a:latin typeface="Arial" charset="0"/>
              </a:rPr>
              <a:t>behaviour</a:t>
            </a:r>
            <a:r>
              <a:rPr lang="en-US" sz="2000" dirty="0">
                <a:latin typeface="Arial" charset="0"/>
              </a:rPr>
              <a:t>. This can mean making a ‘best guess’.</a:t>
            </a:r>
            <a:endParaRPr lang="en-US" sz="2000" dirty="0" smtClean="0">
              <a:latin typeface="Arial" charset="0"/>
            </a:endParaRPr>
          </a:p>
          <a:p>
            <a:pPr>
              <a:spcBef>
                <a:spcPct val="50000"/>
              </a:spcBef>
            </a:pPr>
            <a:endParaRPr lang="en-US" sz="1000" dirty="0" smtClean="0">
              <a:solidFill>
                <a:schemeClr val="accent2"/>
              </a:solidFill>
              <a:latin typeface="Arial" charset="0"/>
            </a:endParaRPr>
          </a:p>
          <a:p>
            <a:pPr>
              <a:spcBef>
                <a:spcPct val="50000"/>
              </a:spcBef>
            </a:pPr>
            <a:r>
              <a:rPr lang="en-US" dirty="0" smtClean="0">
                <a:solidFill>
                  <a:schemeClr val="accent2"/>
                </a:solidFill>
                <a:latin typeface="Arial" charset="0"/>
              </a:rPr>
              <a:t>Empathy</a:t>
            </a:r>
            <a:r>
              <a:rPr lang="en-US" dirty="0" smtClean="0">
                <a:latin typeface="Arial" charset="0"/>
              </a:rPr>
              <a:t> </a:t>
            </a:r>
            <a:r>
              <a:rPr lang="en-US" sz="2000" dirty="0">
                <a:latin typeface="Arial" charset="0"/>
              </a:rPr>
              <a:t>– Convey acceptance of the inner child.</a:t>
            </a:r>
          </a:p>
          <a:p>
            <a:pPr algn="r">
              <a:spcBef>
                <a:spcPct val="50000"/>
              </a:spcBef>
            </a:pPr>
            <a:r>
              <a:rPr lang="en-US" sz="1600" dirty="0">
                <a:latin typeface="Arial" charset="0"/>
              </a:rPr>
              <a:t>Dan Hughes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312">
                                            <p:txEl>
                                              <p:pRg st="7" end="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53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531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531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531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5" descr="blocksrgb"/>
          <p:cNvPicPr>
            <a:picLocks noChangeAspect="1" noChangeArrowheads="1"/>
          </p:cNvPicPr>
          <p:nvPr/>
        </p:nvPicPr>
        <p:blipFill>
          <a:blip r:embed="rId2"/>
          <a:srcRect/>
          <a:stretch>
            <a:fillRect/>
          </a:stretch>
        </p:blipFill>
        <p:spPr bwMode="auto">
          <a:xfrm>
            <a:off x="179388" y="838200"/>
            <a:ext cx="4572000" cy="3225800"/>
          </a:xfrm>
          <a:prstGeom prst="rect">
            <a:avLst/>
          </a:prstGeom>
          <a:noFill/>
          <a:ln w="9525">
            <a:noFill/>
            <a:miter lim="800000"/>
            <a:headEnd/>
            <a:tailEnd/>
          </a:ln>
        </p:spPr>
      </p:pic>
      <p:sp>
        <p:nvSpPr>
          <p:cNvPr id="38915" name="Text Box 9"/>
          <p:cNvSpPr txBox="1">
            <a:spLocks noChangeArrowheads="1"/>
          </p:cNvSpPr>
          <p:nvPr/>
        </p:nvSpPr>
        <p:spPr bwMode="auto">
          <a:xfrm>
            <a:off x="863600" y="4797425"/>
            <a:ext cx="7705725" cy="822325"/>
          </a:xfrm>
          <a:prstGeom prst="rect">
            <a:avLst/>
          </a:prstGeom>
          <a:noFill/>
          <a:ln w="9525">
            <a:noFill/>
            <a:miter lim="800000"/>
            <a:headEnd/>
            <a:tailEnd/>
          </a:ln>
        </p:spPr>
        <p:txBody>
          <a:bodyPr>
            <a:prstTxWarp prst="textNoShape">
              <a:avLst/>
            </a:prstTxWarp>
            <a:spAutoFit/>
          </a:bodyPr>
          <a:lstStyle/>
          <a:p>
            <a:pPr algn="ctr" eaLnBrk="0" hangingPunct="0">
              <a:spcBef>
                <a:spcPct val="50000"/>
              </a:spcBef>
            </a:pPr>
            <a:r>
              <a:rPr lang="en-US" sz="2400">
                <a:ea typeface="ＭＳ Ｐゴシック" charset="-128"/>
                <a:cs typeface="ＭＳ Ｐゴシック" charset="-128"/>
              </a:rPr>
              <a:t>Please do not use or copy any slides without prior permission from RBWM EPS</a:t>
            </a:r>
          </a:p>
        </p:txBody>
      </p:sp>
      <p:sp>
        <p:nvSpPr>
          <p:cNvPr id="38916" name="Text Box 10"/>
          <p:cNvSpPr txBox="1">
            <a:spLocks noChangeArrowheads="1"/>
          </p:cNvSpPr>
          <p:nvPr/>
        </p:nvSpPr>
        <p:spPr bwMode="auto">
          <a:xfrm>
            <a:off x="4751388" y="2852738"/>
            <a:ext cx="2952750" cy="641350"/>
          </a:xfrm>
          <a:prstGeom prst="rect">
            <a:avLst/>
          </a:prstGeom>
          <a:noFill/>
          <a:ln w="9525">
            <a:noFill/>
            <a:miter lim="800000"/>
            <a:headEnd/>
            <a:tailEnd/>
          </a:ln>
        </p:spPr>
        <p:txBody>
          <a:bodyPr>
            <a:prstTxWarp prst="textNoShape">
              <a:avLst/>
            </a:prstTxWarp>
            <a:spAutoFit/>
          </a:bodyPr>
          <a:lstStyle/>
          <a:p>
            <a:pPr eaLnBrk="0" hangingPunct="0">
              <a:spcBef>
                <a:spcPct val="50000"/>
              </a:spcBef>
            </a:pPr>
            <a:r>
              <a:rPr lang="en-US" sz="3600">
                <a:latin typeface="Arial Black" charset="0"/>
                <a:ea typeface="ＭＳ Ｐゴシック" charset="-128"/>
                <a:cs typeface="ＭＳ Ｐゴシック" charset="-128"/>
              </a:rPr>
              <a:t>Thank you</a:t>
            </a:r>
            <a:endParaRPr lang="en-US" sz="3600">
              <a:ea typeface="ＭＳ Ｐゴシック" charset="-128"/>
              <a:cs typeface="ＭＳ Ｐゴシック" charset="-128"/>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947</TotalTime>
  <Words>1557</Words>
  <Application>Microsoft Office PowerPoint</Application>
  <PresentationFormat>On-screen Show (4:3)</PresentationFormat>
  <Paragraphs>317</Paragraphs>
  <Slides>36</Slides>
  <Notes>17</Notes>
  <HiddenSlides>0</HiddenSlides>
  <MMClips>1</MMClips>
  <ScaleCrop>false</ScaleCrop>
  <HeadingPairs>
    <vt:vector size="4" baseType="variant">
      <vt:variant>
        <vt:lpstr>Theme</vt:lpstr>
      </vt:variant>
      <vt:variant>
        <vt:i4>1</vt:i4>
      </vt:variant>
      <vt:variant>
        <vt:lpstr>Slide Titles</vt:lpstr>
      </vt:variant>
      <vt:variant>
        <vt:i4>36</vt:i4>
      </vt:variant>
    </vt:vector>
  </HeadingPairs>
  <TitlesOfParts>
    <vt:vector size="37" baseType="lpstr">
      <vt:lpstr>Default Design</vt:lpstr>
      <vt:lpstr>PowerPoint Presentation</vt:lpstr>
      <vt:lpstr>Programme for Day 2</vt:lpstr>
      <vt:lpstr>Activity</vt:lpstr>
      <vt:lpstr>Importance of Early Years Experience</vt:lpstr>
      <vt:lpstr>PowerPoint Presentation</vt:lpstr>
      <vt:lpstr>Activity</vt:lpstr>
      <vt:lpstr>PowerPoint Presentation</vt:lpstr>
      <vt:lpstr>The story of the 3 mice</vt:lpstr>
      <vt:lpstr>Maslow’s hierarchy</vt:lpstr>
      <vt:lpstr>The continuing story…</vt:lpstr>
      <vt:lpstr>PowerPoint Presentation</vt:lpstr>
      <vt:lpstr>What is attachment?</vt:lpstr>
      <vt:lpstr>Why is it important?</vt:lpstr>
      <vt:lpstr>Secure &amp; insecure attachments</vt:lpstr>
      <vt:lpstr>Disorganised attachment</vt:lpstr>
      <vt:lpstr>PowerPoint Presentation</vt:lpstr>
      <vt:lpstr>PowerPoint Presentation</vt:lpstr>
      <vt:lpstr>Over arousal in attachment-disordered children</vt:lpstr>
      <vt:lpstr>PowerPoint Presentation</vt:lpstr>
      <vt:lpstr>Observation Checklist</vt:lpstr>
      <vt:lpstr>Observation Schedule</vt:lpstr>
      <vt:lpstr>Observation Schedule</vt:lpstr>
      <vt:lpstr>Activity – Emily’s Observation</vt:lpstr>
      <vt:lpstr>Analysis of Information</vt:lpstr>
      <vt:lpstr>Action Plan for Emily</vt:lpstr>
      <vt:lpstr>Concept of Resilience</vt:lpstr>
      <vt:lpstr>Definition</vt:lpstr>
      <vt:lpstr>Trauma &amp; Loss</vt:lpstr>
      <vt:lpstr>Brain wave</vt:lpstr>
      <vt:lpstr>Building Blocks for Resilience</vt:lpstr>
      <vt:lpstr>Self concept</vt:lpstr>
      <vt:lpstr>Building Blocks for Resilience</vt:lpstr>
      <vt:lpstr>Promoting resilience in the home environment </vt:lpstr>
      <vt:lpstr>Never assume you know what a young child is feeling…..</vt:lpstr>
      <vt:lpstr>PowerPoint Presentation</vt:lpstr>
      <vt:lpstr>PowerPoint Presentation</vt:lpstr>
    </vt:vector>
  </TitlesOfParts>
  <Company>RBWM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RBWM</dc:creator>
  <cp:lastModifiedBy>localprofile</cp:lastModifiedBy>
  <cp:revision>44</cp:revision>
  <cp:lastPrinted>2015-06-10T14:00:24Z</cp:lastPrinted>
  <dcterms:created xsi:type="dcterms:W3CDTF">2015-06-08T20:00:06Z</dcterms:created>
  <dcterms:modified xsi:type="dcterms:W3CDTF">2017-04-20T15:28:58Z</dcterms:modified>
</cp:coreProperties>
</file>