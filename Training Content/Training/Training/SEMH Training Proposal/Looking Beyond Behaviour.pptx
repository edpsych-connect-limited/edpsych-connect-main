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350285-EB36-E457-D9DD-F01CCA4469DB}" v="335" dt="2023-12-10T22:44:39.5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4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4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87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09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2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5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1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324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12/10/2023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73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 pos="360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528">
          <p15:clr>
            <a:srgbClr val="F26B43"/>
          </p15:clr>
        </p15:guide>
        <p15:guide id="22" orient="horz" pos="3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4C8E3-71E0-3D70-0734-0E5ECB3E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B7304F-E6C0-414A-A6DA-6D87129AC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64CBB3-B2CC-D485-F4A8-0A3460D0C3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7892" r="-2" b="1682"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713156D2-C88C-0C5A-A2DC-7013B355E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12" y="66262"/>
            <a:ext cx="12013097" cy="4974636"/>
          </a:xfrm>
        </p:spPr>
        <p:txBody>
          <a:bodyPr anchor="t">
            <a:normAutofit fontScale="90000"/>
          </a:bodyPr>
          <a:lstStyle/>
          <a:p>
            <a:br>
              <a:rPr lang="en-US" sz="11500" dirty="0">
                <a:solidFill>
                  <a:srgbClr val="FFFFFF"/>
                </a:solidFill>
              </a:rPr>
            </a:br>
            <a:br>
              <a:rPr lang="en-US" sz="11500" dirty="0"/>
            </a:br>
            <a:r>
              <a:rPr lang="en-US" sz="11500" dirty="0">
                <a:solidFill>
                  <a:srgbClr val="FFFFFF"/>
                </a:solidFill>
              </a:rPr>
              <a:t>Introduction</a:t>
            </a:r>
            <a:br>
              <a:rPr lang="en-US" sz="11500" dirty="0">
                <a:solidFill>
                  <a:srgbClr val="FFFFFF"/>
                </a:solidFill>
              </a:rPr>
            </a:br>
            <a:br>
              <a:rPr lang="en-US" sz="11500" dirty="0"/>
            </a:br>
            <a:r>
              <a:rPr lang="en-US" sz="2800" dirty="0">
                <a:solidFill>
                  <a:srgbClr val="FFFFFF"/>
                </a:solidFill>
              </a:rPr>
              <a:t>Delving deeper into the World of Student </a:t>
            </a:r>
            <a:r>
              <a:rPr lang="en-US" sz="2800" dirty="0" err="1">
                <a:solidFill>
                  <a:srgbClr val="FFFFFF"/>
                </a:solidFill>
              </a:rPr>
              <a:t>Behaviour</a:t>
            </a:r>
            <a:endParaRPr lang="en-US" sz="280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63B6C4-0500-4B1A-9149-4A6C7EDAF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59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473B7-645B-391A-3C98-047E0F2D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E87A66B-8AB1-26B7-8279-A4C204D34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4" y="1091868"/>
            <a:ext cx="3785596" cy="2042160"/>
          </a:xfrm>
        </p:spPr>
        <p:txBody>
          <a:bodyPr>
            <a:normAutofit fontScale="90000"/>
          </a:bodyPr>
          <a:lstStyle/>
          <a:p>
            <a:r>
              <a:rPr lang="en-US" sz="4000"/>
              <a:t>Beyond </a:t>
            </a:r>
            <a:r>
              <a:rPr lang="en-US" sz="4000" err="1"/>
              <a:t>Behaviour</a:t>
            </a:r>
            <a:r>
              <a:rPr lang="en-US" sz="4000"/>
              <a:t>: Understanding Our Students</a:t>
            </a:r>
          </a:p>
          <a:p>
            <a:endParaRPr lang="en-US" sz="4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8DBAE26F-B1A1-D1EE-5BED-51280A0A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204755"/>
            <a:ext cx="3675826" cy="2957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Dr Scott </a:t>
            </a:r>
            <a:r>
              <a:rPr lang="en-US" sz="2000" err="1"/>
              <a:t>Ighavongbe</a:t>
            </a:r>
            <a:r>
              <a:rPr lang="en-US" sz="2000" dirty="0"/>
              <a:t>-Patrick 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Senior Educational Psychologist</a:t>
            </a:r>
            <a:endParaRPr lang="en-US" sz="2000"/>
          </a:p>
          <a:p>
            <a:pPr lvl="0">
              <a:lnSpc>
                <a:spcPct val="120000"/>
              </a:lnSpc>
            </a:pP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9C4499-0603-C1E2-F83F-C14D550F9B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21" r="29209" b="6250"/>
          <a:stretch/>
        </p:blipFill>
        <p:spPr>
          <a:xfrm>
            <a:off x="5524500" y="10"/>
            <a:ext cx="66675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9D1E8-D1E5-F932-9F57-983277B6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1B1731-39D9-4145-8343-C209E1F0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BA05FE9-7C4B-7935-652D-C94A9057E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3" y="1069848"/>
            <a:ext cx="6308775" cy="2049620"/>
          </a:xfrm>
        </p:spPr>
        <p:txBody>
          <a:bodyPr>
            <a:normAutofit/>
          </a:bodyPr>
          <a:lstStyle/>
          <a:p>
            <a:r>
              <a:rPr lang="en-US" sz="4700" dirty="0"/>
              <a:t>The Iceberg Model of </a:t>
            </a:r>
            <a:r>
              <a:rPr lang="en-US" sz="4700" dirty="0" err="1"/>
              <a:t>Behaviour</a:t>
            </a:r>
            <a:endParaRPr lang="en-US" sz="47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683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BE21B750-5B1C-5D59-4772-88186730A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80522"/>
            <a:ext cx="6223996" cy="3105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sz="3200" dirty="0"/>
              <a:t>Seeing Beneath the Surface</a:t>
            </a:r>
          </a:p>
          <a:p>
            <a:pPr lvl="1"/>
            <a:r>
              <a:rPr lang="en-US" sz="2400" dirty="0"/>
              <a:t>Visible </a:t>
            </a:r>
            <a:r>
              <a:rPr lang="en-US" sz="2400" err="1"/>
              <a:t>Behaviours</a:t>
            </a:r>
            <a:r>
              <a:rPr lang="en-US" sz="2400" dirty="0"/>
              <a:t>: What we see</a:t>
            </a:r>
          </a:p>
          <a:p>
            <a:pPr lvl="1"/>
            <a:r>
              <a:rPr lang="en-US" sz="2400" dirty="0"/>
              <a:t>Hidden Factors: What we often miss</a:t>
            </a:r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6" name="Picture 5" descr="Underwater view of a floating iceberg">
            <a:extLst>
              <a:ext uri="{FF2B5EF4-FFF2-40B4-BE49-F238E27FC236}">
                <a16:creationId xmlns:a16="http://schemas.microsoft.com/office/drawing/2014/main" id="{54766866-6FDD-8657-9843-F5FB3EBD3D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17" r="48579" b="-4"/>
          <a:stretch/>
        </p:blipFill>
        <p:spPr>
          <a:xfrm>
            <a:off x="8534400" y="10"/>
            <a:ext cx="36576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6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4F912-8320-A92D-16BC-EC3098B6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1B1731-39D9-4145-8343-C209E1F0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14681A0-C818-5A78-03D6-843C14DE3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3" y="1069848"/>
            <a:ext cx="6308775" cy="2049620"/>
          </a:xfrm>
        </p:spPr>
        <p:txBody>
          <a:bodyPr>
            <a:normAutofit/>
          </a:bodyPr>
          <a:lstStyle/>
          <a:p>
            <a:r>
              <a:rPr lang="en-US" sz="5100" dirty="0"/>
              <a:t>The Impact of the Pandemic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683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9404BB2E-A9A4-CA77-25EF-C66CB4899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80522"/>
            <a:ext cx="6223996" cy="310597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US" sz="3200" dirty="0"/>
              <a:t>Unprecedented Times: The Pandemic’s Impact on Students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lvl="1">
              <a:lnSpc>
                <a:spcPct val="120000"/>
              </a:lnSpc>
            </a:pPr>
            <a:r>
              <a:rPr lang="en-US" sz="2400" dirty="0"/>
              <a:t>Increase in Anxiety and Depression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Social and Emotional Development Disruptions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Impact on Learning and </a:t>
            </a:r>
            <a:r>
              <a:rPr lang="en-US" sz="2400" dirty="0" err="1"/>
              <a:t>Behaviour</a:t>
            </a:r>
          </a:p>
          <a:p>
            <a:pPr marL="0" lvl="0" indent="0">
              <a:lnSpc>
                <a:spcPct val="120000"/>
              </a:lnSpc>
              <a:buNone/>
            </a:pPr>
            <a:endParaRPr lang="en-US" sz="1400" dirty="0"/>
          </a:p>
        </p:txBody>
      </p:sp>
      <p:pic>
        <p:nvPicPr>
          <p:cNvPr id="6" name="Picture 5" descr="A calculus formula">
            <a:extLst>
              <a:ext uri="{FF2B5EF4-FFF2-40B4-BE49-F238E27FC236}">
                <a16:creationId xmlns:a16="http://schemas.microsoft.com/office/drawing/2014/main" id="{8FF37723-4EC3-7DA7-96E9-DA51AA6EB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980" r="29444" b="-10"/>
          <a:stretch/>
        </p:blipFill>
        <p:spPr>
          <a:xfrm>
            <a:off x="8534400" y="10"/>
            <a:ext cx="36576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6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E1D82-BC5A-1A63-9E3D-7C8B7F17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1B1731-39D9-4145-8343-C209E1F0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01DCD8D-AE1D-C5A6-AA89-65368AA3A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3" y="1069848"/>
            <a:ext cx="6308775" cy="2049620"/>
          </a:xfrm>
        </p:spPr>
        <p:txBody>
          <a:bodyPr>
            <a:normAutofit/>
          </a:bodyPr>
          <a:lstStyle/>
          <a:p>
            <a:r>
              <a:rPr lang="en-US" sz="4800" dirty="0"/>
              <a:t>Understanding Affect Scripts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683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5A882470-A4EB-D62D-F337-9BA05EBCE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80522"/>
            <a:ext cx="6223996" cy="310597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US" sz="2800" dirty="0"/>
              <a:t>Decoding </a:t>
            </a:r>
            <a:r>
              <a:rPr lang="en-US" sz="2800" dirty="0" err="1"/>
              <a:t>Behaviour</a:t>
            </a:r>
            <a:r>
              <a:rPr lang="en-US" sz="2800" dirty="0"/>
              <a:t>: Affect Scripts Theory and Compass of Shame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Tomkins' Affect Theory: The Blueprint of Emotions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Nathanson's Compass of Shame: Understanding Responses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Connecting Emotions to </a:t>
            </a:r>
            <a:r>
              <a:rPr lang="en-US" sz="2000" err="1"/>
              <a:t>Behaviours</a:t>
            </a:r>
            <a:endParaRPr lang="en-US" sz="2000" dirty="0" err="1"/>
          </a:p>
          <a:p>
            <a:pPr marL="0" lvl="0" indent="0">
              <a:lnSpc>
                <a:spcPct val="120000"/>
              </a:lnSpc>
              <a:buNone/>
            </a:pPr>
            <a:endParaRPr lang="en-US" sz="1300" dirty="0"/>
          </a:p>
        </p:txBody>
      </p:sp>
      <p:pic>
        <p:nvPicPr>
          <p:cNvPr id="6" name="Picture 5" descr="A group of multi coloured wooden stick figures">
            <a:extLst>
              <a:ext uri="{FF2B5EF4-FFF2-40B4-BE49-F238E27FC236}">
                <a16:creationId xmlns:a16="http://schemas.microsoft.com/office/drawing/2014/main" id="{236EDFE2-B530-F054-60AA-6BA2BD386A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17" r="34307" b="9"/>
          <a:stretch/>
        </p:blipFill>
        <p:spPr>
          <a:xfrm>
            <a:off x="8534400" y="10"/>
            <a:ext cx="36576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7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43EA8-50EF-A210-28D6-4C5B79FE8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1B1731-39D9-4145-8343-C209E1F0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F5E324C-A002-636D-DF89-44B800FDA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3" y="1069848"/>
            <a:ext cx="6308775" cy="2049620"/>
          </a:xfrm>
        </p:spPr>
        <p:txBody>
          <a:bodyPr>
            <a:normAutofit/>
          </a:bodyPr>
          <a:lstStyle/>
          <a:p>
            <a:r>
              <a:rPr lang="en-US" sz="4700" dirty="0"/>
              <a:t>Interactive Case Study Analysis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683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F5AA8433-83E9-DB1A-6455-1DA2393CF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80522"/>
            <a:ext cx="6223996" cy="310597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US" sz="3200" dirty="0"/>
              <a:t>Interactive Exploration: Case Study Analysis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lvl="1">
              <a:lnSpc>
                <a:spcPct val="120000"/>
              </a:lnSpc>
            </a:pPr>
            <a:r>
              <a:rPr lang="en-US" sz="2400" dirty="0"/>
              <a:t>Applying Affect Scripts in Real Scenarios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Group Activity: Analyse and Discuss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Identify </a:t>
            </a:r>
            <a:r>
              <a:rPr lang="en-US" sz="2400" err="1"/>
              <a:t>Behaviours</a:t>
            </a:r>
            <a:r>
              <a:rPr lang="en-US" sz="2400" dirty="0"/>
              <a:t> and Underlying Emotions</a:t>
            </a:r>
          </a:p>
          <a:p>
            <a:pPr marL="0" lvl="0" indent="0">
              <a:lnSpc>
                <a:spcPct val="120000"/>
              </a:lnSpc>
              <a:buNone/>
            </a:pPr>
            <a:endParaRPr lang="en-US" sz="1400" dirty="0"/>
          </a:p>
        </p:txBody>
      </p:sp>
      <p:pic>
        <p:nvPicPr>
          <p:cNvPr id="6" name="Picture 5" descr="Connected lines and dots on a purple and orange gradient background">
            <a:extLst>
              <a:ext uri="{FF2B5EF4-FFF2-40B4-BE49-F238E27FC236}">
                <a16:creationId xmlns:a16="http://schemas.microsoft.com/office/drawing/2014/main" id="{85188D0C-CFB0-69C6-F436-4C3F6DB689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43" r="37959" b="4"/>
          <a:stretch/>
        </p:blipFill>
        <p:spPr>
          <a:xfrm>
            <a:off x="8534400" y="10"/>
            <a:ext cx="36576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6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73B90-043F-4A37-7D87-DB1FAEFFC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1B1731-39D9-4145-8343-C209E1F0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7552C72-511C-41C4-1356-87CA0E39E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3" y="1069848"/>
            <a:ext cx="6308775" cy="2049620"/>
          </a:xfrm>
        </p:spPr>
        <p:txBody>
          <a:bodyPr>
            <a:normAutofit/>
          </a:bodyPr>
          <a:lstStyle/>
          <a:p>
            <a:r>
              <a:rPr lang="en-US" sz="4700" dirty="0"/>
              <a:t>Applying Insights from My Research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683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F6FE871E-3891-F10B-9BF1-043EEC7C0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80522"/>
            <a:ext cx="6223996" cy="310597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US" sz="3200" dirty="0"/>
              <a:t>Understanding Classroom Dynamics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lvl="1">
              <a:lnSpc>
                <a:spcPct val="120000"/>
              </a:lnSpc>
            </a:pPr>
            <a:r>
              <a:rPr lang="en-US" sz="2400" dirty="0"/>
              <a:t>Impact of School Environment on </a:t>
            </a:r>
            <a:r>
              <a:rPr lang="en-US" sz="2400" err="1"/>
              <a:t>Behaviour</a:t>
            </a:r>
            <a:endParaRPr lang="en-US" sz="2400"/>
          </a:p>
          <a:p>
            <a:pPr lvl="1">
              <a:lnSpc>
                <a:spcPct val="120000"/>
              </a:lnSpc>
            </a:pPr>
            <a:r>
              <a:rPr lang="en-US" sz="2400" dirty="0"/>
              <a:t>Role of Relationships in Student Development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Effective Strategies for Classroom Management</a:t>
            </a:r>
          </a:p>
          <a:p>
            <a:pPr marL="0" lvl="0" indent="0">
              <a:lnSpc>
                <a:spcPct val="120000"/>
              </a:lnSpc>
              <a:buNone/>
            </a:pP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D1D9D5-D479-3B72-F887-391BE7C7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66" r="55286" b="-3"/>
          <a:stretch/>
        </p:blipFill>
        <p:spPr>
          <a:xfrm>
            <a:off x="8534400" y="10"/>
            <a:ext cx="36576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6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BA135-B7BD-9906-3737-D415E7CD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1B1731-39D9-4145-8343-C209E1F0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5E059AB-0D84-6349-2658-F058CA88E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3" y="1069848"/>
            <a:ext cx="6308775" cy="2049620"/>
          </a:xfrm>
        </p:spPr>
        <p:txBody>
          <a:bodyPr>
            <a:normAutofit/>
          </a:bodyPr>
          <a:lstStyle/>
          <a:p>
            <a:r>
              <a:rPr lang="en-US" sz="4700" dirty="0"/>
              <a:t>Strategies for Positive Engagement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683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AD4E5C2-504B-A8F8-4818-80BC4D58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80522"/>
            <a:ext cx="6223996" cy="310597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en-US" sz="3200" dirty="0"/>
              <a:t>Fostering Trust and Empathy: Key Strategies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lvl="1">
              <a:lnSpc>
                <a:spcPct val="120000"/>
              </a:lnSpc>
            </a:pPr>
            <a:r>
              <a:rPr lang="en-US" sz="2400" dirty="0"/>
              <a:t>Creating an Empathetic Classroom Environment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Building Trust Through Open Communication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Practical Tips for Positive Student Engagement</a:t>
            </a:r>
          </a:p>
          <a:p>
            <a:pPr marL="0" lvl="0" indent="0">
              <a:lnSpc>
                <a:spcPct val="120000"/>
              </a:lnSpc>
              <a:buNone/>
            </a:pPr>
            <a:endParaRPr lang="en-US" sz="1400" dirty="0"/>
          </a:p>
        </p:txBody>
      </p:sp>
      <p:pic>
        <p:nvPicPr>
          <p:cNvPr id="6" name="Picture 5" descr="Connected lines and dots on a purple and orange gradient background">
            <a:extLst>
              <a:ext uri="{FF2B5EF4-FFF2-40B4-BE49-F238E27FC236}">
                <a16:creationId xmlns:a16="http://schemas.microsoft.com/office/drawing/2014/main" id="{FCA1E9E3-9A36-7229-3A2F-31BF53B2AB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43" r="37959" b="4"/>
          <a:stretch/>
        </p:blipFill>
        <p:spPr>
          <a:xfrm>
            <a:off x="8534400" y="10"/>
            <a:ext cx="36576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71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BEE76-1F6A-B596-44A7-660CF09B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A840BA3-1C2C-F448-BC1B-055628307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4" y="1091868"/>
            <a:ext cx="3785596" cy="2042160"/>
          </a:xfrm>
        </p:spPr>
        <p:txBody>
          <a:bodyPr>
            <a:normAutofit/>
          </a:bodyPr>
          <a:lstStyle/>
          <a:p>
            <a:r>
              <a:rPr lang="en-US" sz="4000" dirty="0"/>
              <a:t>Q&amp;A and Discussion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A2C523D-DD63-F655-33E7-BD5F658F3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204755"/>
            <a:ext cx="3675826" cy="29575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lnSpc>
                <a:spcPct val="120000"/>
              </a:lnSpc>
              <a:buNone/>
            </a:pP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3600" dirty="0"/>
              <a:t>Your Thoughts and Insights</a:t>
            </a:r>
          </a:p>
          <a:p>
            <a:pPr lvl="0">
              <a:lnSpc>
                <a:spcPct val="120000"/>
              </a:lnSpc>
            </a:pPr>
            <a:endParaRPr lang="en-US" sz="1400" dirty="0"/>
          </a:p>
        </p:txBody>
      </p:sp>
      <p:pic>
        <p:nvPicPr>
          <p:cNvPr id="6" name="Picture 5" descr="Different coloured question marks">
            <a:extLst>
              <a:ext uri="{FF2B5EF4-FFF2-40B4-BE49-F238E27FC236}">
                <a16:creationId xmlns:a16="http://schemas.microsoft.com/office/drawing/2014/main" id="{E47395EE-6085-CA5E-EAAD-AA32ADD9EB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91" r="23221" b="-2"/>
          <a:stretch/>
        </p:blipFill>
        <p:spPr>
          <a:xfrm>
            <a:off x="5524500" y="10"/>
            <a:ext cx="66675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91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87042-1A40-BA74-FF57-4EAF0881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7FA1893-4D7C-BE6A-D6A3-9101D9125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204" y="1091868"/>
            <a:ext cx="3785596" cy="2042160"/>
          </a:xfrm>
        </p:spPr>
        <p:txBody>
          <a:bodyPr>
            <a:normAutofit/>
          </a:bodyPr>
          <a:lstStyle/>
          <a:p>
            <a:r>
              <a:rPr lang="en-US" sz="4000" dirty="0"/>
              <a:t>Conclusion and Next Steps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4AC98FCA-2AF5-9D9A-6989-AFF74DB8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204755"/>
            <a:ext cx="3675826" cy="2957506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lnSpc>
                <a:spcPct val="120000"/>
              </a:lnSpc>
            </a:pPr>
            <a:endParaRPr lang="en-US" sz="1100" dirty="0"/>
          </a:p>
          <a:p>
            <a:pPr lvl="1">
              <a:lnSpc>
                <a:spcPct val="120000"/>
              </a:lnSpc>
            </a:pPr>
            <a:r>
              <a:rPr lang="en-US" sz="2000" dirty="0"/>
              <a:t>Recap of Key Learnings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Applying Insights in Your Practice</a:t>
            </a:r>
          </a:p>
          <a:p>
            <a:pPr lvl="1">
              <a:lnSpc>
                <a:spcPct val="120000"/>
              </a:lnSpc>
            </a:pPr>
            <a:r>
              <a:rPr lang="en-US" sz="2000" dirty="0"/>
              <a:t>Stay Connected for Further Learning</a:t>
            </a:r>
          </a:p>
          <a:p>
            <a:pPr lvl="0">
              <a:lnSpc>
                <a:spcPct val="120000"/>
              </a:lnSpc>
            </a:pP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BC07E8-A568-0DA7-1E3A-C4658CE177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37" r="-3" b="-3"/>
          <a:stretch/>
        </p:blipFill>
        <p:spPr>
          <a:xfrm>
            <a:off x="5524500" y="10"/>
            <a:ext cx="666750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81694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AnalogousFromDarkSeedLeftStep">
      <a:dk1>
        <a:srgbClr val="000000"/>
      </a:dk1>
      <a:lt1>
        <a:srgbClr val="FFFFFF"/>
      </a:lt1>
      <a:dk2>
        <a:srgbClr val="2F1B30"/>
      </a:dk2>
      <a:lt2>
        <a:srgbClr val="F0F3F3"/>
      </a:lt2>
      <a:accent1>
        <a:srgbClr val="C34D63"/>
      </a:accent1>
      <a:accent2>
        <a:srgbClr val="B13B82"/>
      </a:accent2>
      <a:accent3>
        <a:srgbClr val="C14DC3"/>
      </a:accent3>
      <a:accent4>
        <a:srgbClr val="7E3BB1"/>
      </a:accent4>
      <a:accent5>
        <a:srgbClr val="5E4DC3"/>
      </a:accent5>
      <a:accent6>
        <a:srgbClr val="3B5BB1"/>
      </a:accent6>
      <a:hlink>
        <a:srgbClr val="7956C6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BjornVTI</vt:lpstr>
      <vt:lpstr>  Introduction  Delving deeper into the World of Student Behaviour</vt:lpstr>
      <vt:lpstr>Beyond Behaviour: Understanding Our Students </vt:lpstr>
      <vt:lpstr>The Iceberg Model of Behaviour</vt:lpstr>
      <vt:lpstr>The Impact of the Pandemic</vt:lpstr>
      <vt:lpstr>Understanding Affect Scripts</vt:lpstr>
      <vt:lpstr>Interactive Case Study Analysis</vt:lpstr>
      <vt:lpstr>Applying Insights from My Research</vt:lpstr>
      <vt:lpstr>Strategies for Positive Engagement</vt:lpstr>
      <vt:lpstr>Q&amp;A and Discussion</vt:lpstr>
      <vt:lpstr>Conclusion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Dr Scott Ighavongbe-Patrick</cp:lastModifiedBy>
  <cp:revision>174</cp:revision>
  <dcterms:created xsi:type="dcterms:W3CDTF">2023-12-10T22:15:26Z</dcterms:created>
  <dcterms:modified xsi:type="dcterms:W3CDTF">2023-12-10T22:52:44Z</dcterms:modified>
</cp:coreProperties>
</file>