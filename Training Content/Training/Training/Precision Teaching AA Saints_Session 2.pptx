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1"/>
  </p:notesMasterIdLst>
  <p:handoutMasterIdLst>
    <p:handoutMasterId r:id="rId32"/>
  </p:handoutMasterIdLst>
  <p:sldIdLst>
    <p:sldId id="327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69" r:id="rId14"/>
    <p:sldId id="351" r:id="rId15"/>
    <p:sldId id="353" r:id="rId16"/>
    <p:sldId id="352" r:id="rId17"/>
    <p:sldId id="354" r:id="rId18"/>
    <p:sldId id="355" r:id="rId19"/>
    <p:sldId id="365" r:id="rId20"/>
    <p:sldId id="357" r:id="rId21"/>
    <p:sldId id="358" r:id="rId22"/>
    <p:sldId id="363" r:id="rId23"/>
    <p:sldId id="364" r:id="rId24"/>
    <p:sldId id="361" r:id="rId25"/>
    <p:sldId id="362" r:id="rId26"/>
    <p:sldId id="366" r:id="rId27"/>
    <p:sldId id="367" r:id="rId28"/>
    <p:sldId id="368" r:id="rId29"/>
    <p:sldId id="340" r:id="rId30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90" autoAdjust="0"/>
  </p:normalViewPr>
  <p:slideViewPr>
    <p:cSldViewPr>
      <p:cViewPr varScale="1">
        <p:scale>
          <a:sx n="131" d="100"/>
          <a:sy n="131" d="100"/>
        </p:scale>
        <p:origin x="-10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3B3AC1E-C878-4633-B4CF-C25025A3F561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36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80000"/>
              </a:lnSpc>
            </a:pPr>
            <a:endParaRPr lang="en-GB" altLang="en-US" sz="1000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8320F-5195-4F69-9875-D65899583AE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606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29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13/06/2018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4510088"/>
            <a:ext cx="2446337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36588" y="692150"/>
            <a:ext cx="77057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dirty="0">
                <a:ea typeface="ＭＳ Ｐゴシック" pitchFamily="110" charset="-128"/>
              </a:rPr>
              <a:t>Precision Teaching with ‘Letters and Sounds’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>
                <a:ea typeface="ＭＳ Ｐゴシック" pitchFamily="110" charset="-128"/>
              </a:rPr>
              <a:t>Session 2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 smtClean="0">
                <a:ea typeface="ＭＳ Ｐゴシック" pitchFamily="110" charset="-128"/>
              </a:rPr>
              <a:t>All Saint’s Junior </a:t>
            </a:r>
            <a:r>
              <a:rPr lang="en-US" altLang="en-US" sz="3200" dirty="0" smtClean="0">
                <a:ea typeface="ＭＳ Ｐゴシック" pitchFamily="110" charset="-128"/>
              </a:rPr>
              <a:t>School </a:t>
            </a:r>
            <a:endParaRPr lang="en-US" altLang="en-US" sz="3200" dirty="0">
              <a:ea typeface="ＭＳ Ｐゴシック" pitchFamily="110" charset="-128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>
                <a:ea typeface="ＭＳ Ｐゴシック" pitchFamily="110" charset="-128"/>
              </a:rPr>
              <a:t>Scott </a:t>
            </a:r>
            <a:r>
              <a:rPr lang="en-US" altLang="en-US" sz="3200" dirty="0" smtClean="0">
                <a:ea typeface="ＭＳ Ｐゴシック" pitchFamily="110" charset="-128"/>
              </a:rPr>
              <a:t>I-Patrick</a:t>
            </a:r>
            <a:endParaRPr lang="en-US" altLang="en-US" sz="32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8954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How </a:t>
            </a:r>
            <a:r>
              <a:rPr lang="en-US" altLang="en-US" sz="2400" dirty="0"/>
              <a:t>do </a:t>
            </a:r>
            <a:r>
              <a:rPr lang="en-US" altLang="en-US" sz="2400" dirty="0" smtClean="0"/>
              <a:t>I deliver PT</a:t>
            </a:r>
            <a:r>
              <a:rPr lang="en-US" altLang="en-US" sz="2400" dirty="0"/>
              <a:t>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Target </a:t>
            </a:r>
            <a:r>
              <a:rPr lang="en-US" altLang="en-US" sz="2400" dirty="0"/>
              <a:t>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797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206084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379146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497887" cy="649287"/>
          </a:xfrm>
        </p:spPr>
        <p:txBody>
          <a:bodyPr/>
          <a:lstStyle/>
          <a:p>
            <a:pPr algn="ctr"/>
            <a:r>
              <a:rPr lang="en-GB" altLang="en-US" sz="5400" dirty="0" smtClean="0"/>
              <a:t>STEP 1</a:t>
            </a:r>
            <a:endParaRPr lang="en-GB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132856"/>
            <a:ext cx="7632700" cy="4968875"/>
          </a:xfrm>
        </p:spPr>
        <p:txBody>
          <a:bodyPr/>
          <a:lstStyle/>
          <a:p>
            <a:pPr marL="0" indent="0" algn="ctr">
              <a:buNone/>
            </a:pPr>
            <a:r>
              <a:rPr lang="en-GB" altLang="en-US" sz="5400" dirty="0" smtClean="0"/>
              <a:t>Identify </a:t>
            </a:r>
            <a:r>
              <a:rPr lang="en-GB" altLang="en-US" sz="5400" dirty="0"/>
              <a:t>a specific difficulty and acquire a baseline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61950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308001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192687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“Scott 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50</a:t>
            </a:r>
            <a:r>
              <a:rPr lang="en-GB" altLang="en-US" sz="2800" dirty="0" smtClean="0"/>
              <a:t> 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2599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(Up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Choose up to three words the child struggled with from your baseline assessment (NB: the number of words chosen to focus on may vary according to child’s difficulties).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 Introduce the target words to child.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153724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8746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7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5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0040" y="549275"/>
            <a:ext cx="7772400" cy="10080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Points to remember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Make sure the pace is good- keep things flowing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pointing, to signal the pupil’s turn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intonation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Praise must be immediate, specific, positive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Avoid word-building- just give the sight word</a:t>
            </a:r>
          </a:p>
        </p:txBody>
      </p:sp>
    </p:spTree>
    <p:extLst>
      <p:ext uri="{BB962C8B-B14F-4D97-AF65-F5344CB8AC3E}">
        <p14:creationId xmlns:p14="http://schemas.microsoft.com/office/powerpoint/2010/main" val="1618427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–</a:t>
            </a:r>
            <a:r>
              <a:rPr lang="en-GB" altLang="en-US" sz="3200" dirty="0" smtClean="0"/>
              <a:t> Monitoring Performance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628800"/>
            <a:ext cx="7632700" cy="4968875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418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189486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373470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9" y="259904"/>
            <a:ext cx="8353176" cy="864840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Designing Probes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High Frequency</a:t>
            </a:r>
          </a:p>
          <a:p>
            <a:pPr eaLnBrk="1" hangingPunct="1"/>
            <a:r>
              <a:rPr lang="en-GB" altLang="en-US" sz="2400" dirty="0" smtClean="0"/>
              <a:t>Progression through high frequency </a:t>
            </a:r>
            <a:r>
              <a:rPr lang="en-GB" altLang="en-US" sz="2400" dirty="0" err="1" smtClean="0"/>
              <a:t>sightwords</a:t>
            </a:r>
            <a:r>
              <a:rPr lang="en-GB" altLang="en-US" sz="2400" dirty="0" smtClean="0"/>
              <a:t> listed in ‘Letters and Sounds’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4008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Phonic Development</a:t>
            </a:r>
          </a:p>
          <a:p>
            <a:pPr eaLnBrk="1" hangingPunct="1"/>
            <a:r>
              <a:rPr lang="en-GB" altLang="en-US" sz="2400" dirty="0" smtClean="0"/>
              <a:t>The content of the probe is rule bound i.e. the probe should include as many examples as possible to test the rule</a:t>
            </a:r>
          </a:p>
        </p:txBody>
      </p:sp>
    </p:spTree>
    <p:extLst>
      <p:ext uri="{BB962C8B-B14F-4D97-AF65-F5344CB8AC3E}">
        <p14:creationId xmlns:p14="http://schemas.microsoft.com/office/powerpoint/2010/main" val="39974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algn="l" eaLnBrk="1" hangingPunct="1"/>
            <a:r>
              <a:rPr lang="en-US" altLang="en-US" u="sng" dirty="0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259632" y="1268760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dirty="0">
                <a:hlinkClick r:id="rId3"/>
              </a:rPr>
              <a:t>http://</a:t>
            </a:r>
            <a:r>
              <a:rPr lang="en-US" altLang="en-US" dirty="0" smtClean="0">
                <a:hlinkClick r:id="rId3"/>
              </a:rPr>
              <a:t>johnandgwyn.co.uk/probe.html</a:t>
            </a: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2984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6572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 5. Recording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1196429"/>
            <a:ext cx="7632700" cy="4968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Pupil_______________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Criterion: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_____ correct with 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max ____errors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Key: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Correct answers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Incorrect answers</a:t>
            </a: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Remember: Do not join across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weekends or across days when 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 was not tested.</a:t>
            </a:r>
          </a:p>
        </p:txBody>
      </p:sp>
      <p:pic>
        <p:nvPicPr>
          <p:cNvPr id="25604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06" y="3429000"/>
            <a:ext cx="4095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268413"/>
            <a:ext cx="3870325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167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5. Ratio charts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424862" cy="4475163"/>
          </a:xfrm>
        </p:spPr>
        <p:txBody>
          <a:bodyPr rtlCol="0">
            <a:normAutofit lnSpcReduction="10000"/>
          </a:bodyPr>
          <a:lstStyle/>
          <a:p>
            <a:pPr marL="0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dirty="0" smtClean="0">
                <a:latin typeface="Tahoma" pitchFamily="34" charset="0"/>
                <a:cs typeface="Arial" pitchFamily="34" charset="0"/>
              </a:rPr>
              <a:t>  </a:t>
            </a: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The days the information is collected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horizontal</a:t>
            </a:r>
            <a:r>
              <a:rPr lang="en-GB" altLang="en-US" sz="2400" dirty="0" smtClean="0">
                <a:solidFill>
                  <a:srgbClr val="00CC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There is a line for each school day.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result is filled in on the line (</a:t>
            </a:r>
            <a:r>
              <a:rPr lang="en-GB" altLang="en-US" sz="2400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NOT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space).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If you are unable to do the probe on a particular day, that line is left blank.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That day is known as a </a:t>
            </a:r>
            <a:r>
              <a:rPr lang="en-GB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Chance Day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.         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400" u="sng" dirty="0" smtClean="0">
              <a:latin typeface="Arial" pitchFamily="34" charset="0"/>
              <a:cs typeface="Arial" pitchFamily="34" charset="0"/>
            </a:endParaRP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A description of the pupil’s performance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vertical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It tells you the accuracy at which the pupil does the task.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expressed as a </a:t>
            </a:r>
            <a:r>
              <a:rPr lang="en-GB" altLang="en-US" sz="24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rate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measurement i.e. the number of responses per minute.</a:t>
            </a:r>
          </a:p>
        </p:txBody>
      </p:sp>
    </p:spTree>
    <p:extLst>
      <p:ext uri="{BB962C8B-B14F-4D97-AF65-F5344CB8AC3E}">
        <p14:creationId xmlns:p14="http://schemas.microsoft.com/office/powerpoint/2010/main" val="391698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34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333498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0" y="476250"/>
            <a:ext cx="7773988" cy="12239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6a. </a:t>
            </a: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Change - response to data analysis</a:t>
            </a:r>
          </a:p>
        </p:txBody>
      </p:sp>
      <p:grpSp>
        <p:nvGrpSpPr>
          <p:cNvPr id="29699" name="Group 312"/>
          <p:cNvGrpSpPr>
            <a:grpSpLocks/>
          </p:cNvGrpSpPr>
          <p:nvPr/>
        </p:nvGrpSpPr>
        <p:grpSpPr bwMode="auto">
          <a:xfrm>
            <a:off x="250825" y="1483029"/>
            <a:ext cx="8642350" cy="4264025"/>
            <a:chOff x="455" y="1071"/>
            <a:chExt cx="5056" cy="2686"/>
          </a:xfrm>
        </p:grpSpPr>
        <p:sp>
          <p:nvSpPr>
            <p:cNvPr id="29700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Increasing motivation through rewards/ incentives or alter teaching methods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1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r>
                <a:rPr lang="en-GB" altLang="en-US" sz="8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endParaRPr lang="en-GB" altLang="en-US" sz="20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2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is likely to be appropriate but progress not fast enough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3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Some progress; accurate but shallow correct rate slope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4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Slow pupil down; encourage accuracy before speed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5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Pupil is merely getting faster attempting more on the probe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6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</a:t>
              </a: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   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7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Both correct and incorrect rates increasing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8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May need to 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9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probably inappropriate. Monitor progress, may be a blip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0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  <a:t/>
              </a:r>
              <a:b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</a:b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</a:t>
              </a:r>
              <a:endParaRPr lang="en-GB" altLang="en-US" sz="8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1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Switch within first 3 days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2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3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inappropriate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3 day rule applies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4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 smtClean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5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More errors than correct: No sign of a switch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6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Intervention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7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Interpretation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8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Arial" pitchFamily="34" charset="0"/>
                </a:rPr>
                <a:t>Chart Picture</a:t>
              </a:r>
            </a:p>
          </p:txBody>
        </p:sp>
        <p:sp>
          <p:nvSpPr>
            <p:cNvPr id="29719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20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1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2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3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4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5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6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7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8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9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0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9731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29742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3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4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grpSp>
          <p:nvGrpSpPr>
            <p:cNvPr id="29732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29739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0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1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sp>
          <p:nvSpPr>
            <p:cNvPr id="29733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4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5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  <p:sp>
          <p:nvSpPr>
            <p:cNvPr id="29736" name="Line 167"/>
            <p:cNvSpPr>
              <a:spLocks noChangeShapeType="1"/>
            </p:cNvSpPr>
            <p:nvPr/>
          </p:nvSpPr>
          <p:spPr bwMode="auto">
            <a:xfrm flipV="1">
              <a:off x="1695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7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8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9039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6b. Maintenance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Once a pupil has reached fluency (hit target 3 days consecutively), change target</a:t>
            </a:r>
          </a:p>
          <a:p>
            <a:pPr>
              <a:buFontTx/>
              <a:buNone/>
            </a:pPr>
            <a:endParaRPr lang="en-GB" alt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Check for maintenance at regular intervals by using an old probe to check they are still fluent with these words or interleave previously learnt words with new words</a:t>
            </a:r>
          </a:p>
        </p:txBody>
      </p:sp>
    </p:spTree>
    <p:extLst>
      <p:ext uri="{BB962C8B-B14F-4D97-AF65-F5344CB8AC3E}">
        <p14:creationId xmlns:p14="http://schemas.microsoft.com/office/powerpoint/2010/main" val="190917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548680"/>
            <a:ext cx="7958137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Recap of the steps of precision monitoring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73238"/>
            <a:ext cx="7669213" cy="4467225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Identify a specific difficulty and acquire a baseline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2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Set a target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Teaching sessions (DI): short, frequent and target specific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Monitor pupil’s daily performance using a probe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5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Chart results (PM) and make note of teaching methods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6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Analyse the data to determine if a change of target is needed or change in teaching method</a:t>
            </a:r>
          </a:p>
        </p:txBody>
      </p:sp>
    </p:spTree>
    <p:extLst>
      <p:ext uri="{BB962C8B-B14F-4D97-AF65-F5344CB8AC3E}">
        <p14:creationId xmlns:p14="http://schemas.microsoft.com/office/powerpoint/2010/main" val="20379872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</TotalTime>
  <Words>1254</Words>
  <Application>Microsoft Office PowerPoint</Application>
  <PresentationFormat>On-screen Show (4:3)</PresentationFormat>
  <Paragraphs>237</Paragraphs>
  <Slides>26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STEP 1</vt:lpstr>
      <vt:lpstr>Step 2 - Setting a Target</vt:lpstr>
      <vt:lpstr>2. Targets</vt:lpstr>
      <vt:lpstr>2. Targets</vt:lpstr>
      <vt:lpstr>Step 3- Teaching  (Up to 10 mins per day)</vt:lpstr>
      <vt:lpstr>3. Teaching methods</vt:lpstr>
      <vt:lpstr>3. Examples of some teaching methods:</vt:lpstr>
      <vt:lpstr>3. Examples of some teaching methods:</vt:lpstr>
      <vt:lpstr>Points to remember</vt:lpstr>
      <vt:lpstr>Step 4 – Monitoring Performance</vt:lpstr>
      <vt:lpstr>PowerPoint Presentation</vt:lpstr>
      <vt:lpstr>Types of probe:</vt:lpstr>
      <vt:lpstr>Designing Probes</vt:lpstr>
      <vt:lpstr>PT Probe Generator</vt:lpstr>
      <vt:lpstr>Step 5- Chart Results</vt:lpstr>
      <vt:lpstr> 5. Recording</vt:lpstr>
      <vt:lpstr>5. Ratio charts </vt:lpstr>
      <vt:lpstr>PowerPoint Presentation</vt:lpstr>
      <vt:lpstr>Step 6- Analyse the Data</vt:lpstr>
      <vt:lpstr>6a. Change - response to data analysis</vt:lpstr>
      <vt:lpstr>6b. Maintenance</vt:lpstr>
      <vt:lpstr>Recap of the steps of precision monitoring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262</cp:revision>
  <cp:lastPrinted>2018-06-13T06:49:18Z</cp:lastPrinted>
  <dcterms:created xsi:type="dcterms:W3CDTF">2009-10-14T09:14:19Z</dcterms:created>
  <dcterms:modified xsi:type="dcterms:W3CDTF">2018-06-13T06:51:02Z</dcterms:modified>
</cp:coreProperties>
</file>