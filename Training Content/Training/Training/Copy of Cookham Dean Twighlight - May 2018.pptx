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302" r:id="rId2"/>
    <p:sldId id="256" r:id="rId3"/>
    <p:sldId id="298" r:id="rId4"/>
    <p:sldId id="277" r:id="rId5"/>
    <p:sldId id="308" r:id="rId6"/>
    <p:sldId id="306" r:id="rId7"/>
    <p:sldId id="307" r:id="rId8"/>
    <p:sldId id="309" r:id="rId9"/>
    <p:sldId id="310" r:id="rId10"/>
    <p:sldId id="327" r:id="rId11"/>
    <p:sldId id="311" r:id="rId12"/>
    <p:sldId id="312" r:id="rId13"/>
    <p:sldId id="314" r:id="rId14"/>
    <p:sldId id="313" r:id="rId15"/>
    <p:sldId id="315" r:id="rId16"/>
    <p:sldId id="316" r:id="rId17"/>
    <p:sldId id="317" r:id="rId18"/>
    <p:sldId id="318" r:id="rId19"/>
    <p:sldId id="319" r:id="rId20"/>
    <p:sldId id="324" r:id="rId21"/>
    <p:sldId id="320" r:id="rId22"/>
    <p:sldId id="328" r:id="rId23"/>
    <p:sldId id="321" r:id="rId24"/>
    <p:sldId id="322" r:id="rId25"/>
    <p:sldId id="323" r:id="rId26"/>
    <p:sldId id="325" r:id="rId27"/>
    <p:sldId id="330" r:id="rId28"/>
    <p:sldId id="326" r:id="rId29"/>
    <p:sldId id="331" r:id="rId30"/>
    <p:sldId id="332" r:id="rId31"/>
    <p:sldId id="333" r:id="rId32"/>
    <p:sldId id="334" r:id="rId33"/>
    <p:sldId id="335" r:id="rId34"/>
    <p:sldId id="336" r:id="rId35"/>
    <p:sldId id="27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8" autoAdjust="0"/>
    <p:restoredTop sz="82604" autoAdjust="0"/>
  </p:normalViewPr>
  <p:slideViewPr>
    <p:cSldViewPr snapToGrid="0" snapToObjects="1">
      <p:cViewPr varScale="1">
        <p:scale>
          <a:sx n="110" d="100"/>
          <a:sy n="110" d="100"/>
        </p:scale>
        <p:origin x="-16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15/05/2018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FFE3A08-2D8A-4CC7-8D01-4EBC874E0EF7}" type="slidenum">
              <a:rPr lang="en-GB" altLang="en-US" sz="1200"/>
              <a:pPr/>
              <a:t>5</a:t>
            </a:fld>
            <a:endParaRPr lang="en-GB" altLang="en-US" sz="1200"/>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en-US"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3997315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404388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extLst>
      <p:ext uri="{BB962C8B-B14F-4D97-AF65-F5344CB8AC3E}">
        <p14:creationId xmlns:p14="http://schemas.microsoft.com/office/powerpoint/2010/main" val="1088961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Insecure Attachment</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13</a:t>
            </a:fld>
            <a:endParaRPr lang="en-GB"/>
          </a:p>
        </p:txBody>
      </p:sp>
    </p:spTree>
    <p:extLst>
      <p:ext uri="{BB962C8B-B14F-4D97-AF65-F5344CB8AC3E}">
        <p14:creationId xmlns:p14="http://schemas.microsoft.com/office/powerpoint/2010/main" val="306011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3834367-119C-4847-8929-62B83CE12A5E}" type="slidenum">
              <a:rPr lang="en-GB" altLang="en-US" sz="1200"/>
              <a:pPr/>
              <a:t>27</a:t>
            </a:fld>
            <a:endParaRPr lang="en-GB" altLang="en-US" sz="1200"/>
          </a:p>
        </p:txBody>
      </p:sp>
      <p:sp>
        <p:nvSpPr>
          <p:cNvPr id="66563" name="Rectangle 2"/>
          <p:cNvSpPr>
            <a:spLocks noRo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r>
              <a:rPr lang="en-US" altLang="en-US" smtClean="0"/>
              <a:t>In any learning experience, there is a triangle between teacher, pupil and task. Child must feel secure and trust the relationship with the teacher in order for them to learn.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p:spPr>
        <p:txBody>
          <a:bodyPr/>
          <a:lstStyle/>
          <a:p>
            <a:endParaRPr lang="en-GB" altLang="en-US" dirty="0" smtClean="0"/>
          </a:p>
        </p:txBody>
      </p:sp>
      <p:sp>
        <p:nvSpPr>
          <p:cNvPr id="60420" name="Slide Number Placeholder 3"/>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3CD66A5-8D3C-4C54-8DFE-8EC846B4F521}" type="slidenum">
              <a:rPr lang="en-GB" altLang="en-US" sz="1200"/>
              <a:pPr/>
              <a:t>28</a:t>
            </a:fld>
            <a:endParaRPr lang="en-GB"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p:spPr>
        <p:txBody>
          <a:bodyPr/>
          <a:lstStyle/>
          <a:p>
            <a:endParaRPr lang="en-US" altLang="en-US" smtClean="0"/>
          </a:p>
        </p:txBody>
      </p:sp>
      <p:sp>
        <p:nvSpPr>
          <p:cNvPr id="69636" name="Slide Number Placeholder 3"/>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746D6AF-E376-4109-A89F-1F44A50B1C95}" type="slidenum">
              <a:rPr lang="en-GB" altLang="en-US" sz="1200"/>
              <a:pPr/>
              <a:t>33</a:t>
            </a:fld>
            <a:endParaRPr lang="en-GB"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35</a:t>
            </a:fld>
            <a:endParaRPr lang="en-GB"/>
          </a:p>
        </p:txBody>
      </p:sp>
    </p:spTree>
    <p:extLst>
      <p:ext uri="{BB962C8B-B14F-4D97-AF65-F5344CB8AC3E}">
        <p14:creationId xmlns:p14="http://schemas.microsoft.com/office/powerpoint/2010/main" val="19271438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6"/>
          <p:cNvSpPr>
            <a:spLocks noGrp="1" noChangeArrowheads="1"/>
          </p:cNvSpPr>
          <p:nvPr>
            <p:ph type="sldNum" sz="quarter" idx="12"/>
          </p:nvPr>
        </p:nvSpPr>
        <p:spPr>
          <a:ln/>
        </p:spPr>
        <p:txBody>
          <a:bodyPr/>
          <a:lstStyle>
            <a:lvl1pPr>
              <a:defRPr/>
            </a:lvl1pPr>
          </a:lstStyle>
          <a:p>
            <a:pPr>
              <a:defRPr/>
            </a:pPr>
            <a:fld id="{8EDC0589-3A23-452C-B43A-CF92A1C758F7}" type="slidenum">
              <a:rPr lang="en-GB" altLang="en-US"/>
              <a:pPr>
                <a:defRPr/>
              </a:pPr>
              <a:t>‹#›</a:t>
            </a:fld>
            <a:endParaRPr lang="en-GB" altLang="en-US"/>
          </a:p>
        </p:txBody>
      </p:sp>
    </p:spTree>
    <p:extLst>
      <p:ext uri="{BB962C8B-B14F-4D97-AF65-F5344CB8AC3E}">
        <p14:creationId xmlns:p14="http://schemas.microsoft.com/office/powerpoint/2010/main" val="489272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5/15/2018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ideo" Target="https://www.youtube.com/embed/ZFmqKGEcidg?rel=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821094" y="1604865"/>
            <a:ext cx="7240555" cy="2117281"/>
          </a:xfrm>
        </p:spPr>
        <p:txBody>
          <a:bodyPr>
            <a:normAutofit fontScale="85000" lnSpcReduction="20000"/>
          </a:bodyPr>
          <a:lstStyle/>
          <a:p>
            <a:pPr marL="0" indent="0">
              <a:buNone/>
            </a:pPr>
            <a:r>
              <a:rPr lang="en-GB" sz="5100" b="1" dirty="0" smtClean="0">
                <a:solidFill>
                  <a:schemeClr val="bg1"/>
                </a:solidFill>
              </a:rPr>
              <a:t>Understanding Attachment</a:t>
            </a:r>
          </a:p>
          <a:p>
            <a:pPr marL="0" indent="0" algn="ctr">
              <a:buNone/>
            </a:pPr>
            <a:endParaRPr lang="en-GB" dirty="0">
              <a:solidFill>
                <a:schemeClr val="bg1"/>
              </a:solidFill>
            </a:endParaRPr>
          </a:p>
          <a:p>
            <a:pPr marL="0" indent="0" algn="ctr">
              <a:buNone/>
            </a:pPr>
            <a:r>
              <a:rPr lang="en-GB" sz="3900" b="1" dirty="0" smtClean="0">
                <a:solidFill>
                  <a:schemeClr val="bg1"/>
                </a:solidFill>
              </a:rPr>
              <a:t>Cookham Dean School  </a:t>
            </a:r>
          </a:p>
          <a:p>
            <a:pPr marL="0" indent="0" algn="ctr">
              <a:buNone/>
            </a:pPr>
            <a:r>
              <a:rPr lang="en-GB" dirty="0" smtClean="0">
                <a:solidFill>
                  <a:schemeClr val="bg1"/>
                </a:solidFill>
              </a:rPr>
              <a:t>Twilight session - May 2018</a:t>
            </a:r>
          </a:p>
          <a:p>
            <a:endParaRPr lang="en-GB" dirty="0">
              <a:solidFill>
                <a:schemeClr val="bg1"/>
              </a:solidFill>
            </a:endParaRPr>
          </a:p>
          <a:p>
            <a:endParaRPr lang="en-GB" dirty="0">
              <a:solidFill>
                <a:schemeClr val="bg1"/>
              </a:solidFill>
            </a:endParaRPr>
          </a:p>
        </p:txBody>
      </p:sp>
      <p:sp>
        <p:nvSpPr>
          <p:cNvPr id="3" name="Text Placeholder 2"/>
          <p:cNvSpPr>
            <a:spLocks noGrp="1"/>
          </p:cNvSpPr>
          <p:nvPr>
            <p:ph type="body" sz="quarter" idx="4294967295"/>
          </p:nvPr>
        </p:nvSpPr>
        <p:spPr>
          <a:xfrm>
            <a:off x="1939925" y="3999305"/>
            <a:ext cx="5280025" cy="695325"/>
          </a:xfrm>
        </p:spPr>
        <p:txBody>
          <a:bodyPr/>
          <a:lstStyle/>
          <a:p>
            <a:pPr marL="0" indent="0">
              <a:buNone/>
            </a:pPr>
            <a:r>
              <a:rPr lang="en-GB" dirty="0" smtClean="0">
                <a:solidFill>
                  <a:schemeClr val="bg1"/>
                </a:solidFill>
              </a:rPr>
              <a:t>Scott I-Patrick </a:t>
            </a:r>
            <a:endParaRPr lang="en-GB" dirty="0">
              <a:solidFill>
                <a:schemeClr val="bg1"/>
              </a:solidFill>
            </a:endParaRPr>
          </a:p>
        </p:txBody>
      </p:sp>
      <p:sp>
        <p:nvSpPr>
          <p:cNvPr id="5" name="Text Placeholder 2"/>
          <p:cNvSpPr txBox="1">
            <a:spLocks/>
          </p:cNvSpPr>
          <p:nvPr/>
        </p:nvSpPr>
        <p:spPr>
          <a:xfrm>
            <a:off x="1939925" y="4524906"/>
            <a:ext cx="5280025" cy="69532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smtClean="0">
                <a:solidFill>
                  <a:schemeClr val="bg1"/>
                </a:solidFill>
              </a:rPr>
              <a:t>Educational Psychologist</a:t>
            </a:r>
            <a:endParaRPr lang="en-GB" dirty="0">
              <a:solidFill>
                <a:schemeClr val="bg1"/>
              </a:solidFill>
            </a:endParaRPr>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1689" y="3897477"/>
            <a:ext cx="1526956" cy="369332"/>
          </a:xfrm>
          <a:prstGeom prst="rect">
            <a:avLst/>
          </a:prstGeom>
        </p:spPr>
        <p:txBody>
          <a:bodyPr wrap="none">
            <a:spAutoFit/>
          </a:bodyPr>
          <a:lstStyle/>
          <a:p>
            <a:r>
              <a:rPr lang="en-GB" dirty="0">
                <a:solidFill>
                  <a:schemeClr val="bg1"/>
                </a:solidFill>
              </a:rPr>
              <a:t>Scott I-Patrick </a:t>
            </a:r>
            <a:endParaRPr lang="en-GB" dirty="0">
              <a:solidFill>
                <a:schemeClr val="bg1"/>
              </a:solidFill>
            </a:endParaRPr>
          </a:p>
        </p:txBody>
      </p:sp>
      <p:sp>
        <p:nvSpPr>
          <p:cNvPr id="7" name="Title 1"/>
          <p:cNvSpPr txBox="1">
            <a:spLocks/>
          </p:cNvSpPr>
          <p:nvPr/>
        </p:nvSpPr>
        <p:spPr>
          <a:xfrm>
            <a:off x="446088" y="701675"/>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t>Session Aim</a:t>
            </a:r>
            <a:endParaRPr lang="en-US" altLang="en-US" dirty="0" smtClean="0"/>
          </a:p>
        </p:txBody>
      </p:sp>
      <p:sp>
        <p:nvSpPr>
          <p:cNvPr id="8" name="Content Placeholder 2"/>
          <p:cNvSpPr txBox="1">
            <a:spLocks/>
          </p:cNvSpPr>
          <p:nvPr/>
        </p:nvSpPr>
        <p:spPr>
          <a:xfrm>
            <a:off x="1331913" y="1696357"/>
            <a:ext cx="7200900" cy="37766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dirty="0" smtClean="0"/>
              <a:t>To equip staff at Cookham Dean Primary School to be able to identify children with different attachment profile. </a:t>
            </a:r>
          </a:p>
          <a:p>
            <a:pPr marL="0" indent="0">
              <a:buNone/>
            </a:pPr>
            <a:endParaRPr lang="en-GB" altLang="en-US" dirty="0" smtClean="0"/>
          </a:p>
          <a:p>
            <a:r>
              <a:rPr lang="en-GB" altLang="en-US" dirty="0"/>
              <a:t>T</a:t>
            </a:r>
            <a:r>
              <a:rPr lang="en-GB" altLang="en-US" dirty="0" smtClean="0"/>
              <a:t>o understand how to respond to these children in the classroom in order to enhance their learning and performance.</a:t>
            </a:r>
            <a:endParaRPr lang="en-US" altLang="en-US" dirty="0" smtClean="0"/>
          </a:p>
        </p:txBody>
      </p:sp>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pacificwavejiujitsu.com/blog/wp-content/uploads/2012/04/Success-Fail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017" y="789020"/>
            <a:ext cx="7673975"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1"/>
          <p:cNvSpPr txBox="1">
            <a:spLocks/>
          </p:cNvSpPr>
          <p:nvPr/>
        </p:nvSpPr>
        <p:spPr>
          <a:xfrm>
            <a:off x="721017" y="4143797"/>
            <a:ext cx="7772400" cy="139858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pPr>
            <a:r>
              <a:rPr lang="en-GB" altLang="en-US" dirty="0" smtClean="0"/>
              <a:t>Understanding who can learn and who </a:t>
            </a:r>
            <a:r>
              <a:rPr lang="en-GB" altLang="en-US" dirty="0" smtClean="0">
                <a:solidFill>
                  <a:srgbClr val="FF6600"/>
                </a:solidFill>
              </a:rPr>
              <a:t>can’t</a:t>
            </a:r>
            <a:r>
              <a:rPr lang="en-GB" altLang="en-US" dirty="0" smtClean="0"/>
              <a:t> and how to bring about </a:t>
            </a:r>
            <a:r>
              <a:rPr lang="en-GB" altLang="en-US" dirty="0" smtClean="0">
                <a:solidFill>
                  <a:srgbClr val="FF6600"/>
                </a:solidFill>
              </a:rPr>
              <a:t>positive change</a:t>
            </a:r>
          </a:p>
          <a:p>
            <a:pPr marL="0" indent="0">
              <a:buFontTx/>
              <a:buNone/>
            </a:pPr>
            <a:endParaRPr lang="en-GB" altLang="en-US" dirty="0" smtClean="0"/>
          </a:p>
        </p:txBody>
      </p:sp>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AutoShape 27"/>
          <p:cNvSpPr>
            <a:spLocks noChangeArrowheads="1"/>
          </p:cNvSpPr>
          <p:nvPr/>
        </p:nvSpPr>
        <p:spPr bwMode="auto">
          <a:xfrm rot="2289048">
            <a:off x="977900" y="1484313"/>
            <a:ext cx="1233488" cy="3060700"/>
          </a:xfrm>
          <a:prstGeom prst="triangle">
            <a:avLst>
              <a:gd name="adj" fmla="val 0"/>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sp>
        <p:nvSpPr>
          <p:cNvPr id="5127" name="AutoShape 28"/>
          <p:cNvSpPr>
            <a:spLocks noChangeArrowheads="1"/>
          </p:cNvSpPr>
          <p:nvPr/>
        </p:nvSpPr>
        <p:spPr bwMode="auto">
          <a:xfrm rot="-345548">
            <a:off x="971550" y="1412875"/>
            <a:ext cx="2941638" cy="3052763"/>
          </a:xfrm>
          <a:prstGeom prst="triangle">
            <a:avLst>
              <a:gd name="adj" fmla="val 42204"/>
            </a:avLst>
          </a:prstGeom>
          <a:solidFill>
            <a:srgbClr val="FCDE04"/>
          </a:solidFill>
          <a:ln w="9525">
            <a:solidFill>
              <a:srgbClr val="CC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sp>
        <p:nvSpPr>
          <p:cNvPr id="5128" name="Rectangle 29"/>
          <p:cNvSpPr>
            <a:spLocks noGrp="1" noChangeArrowheads="1"/>
          </p:cNvSpPr>
          <p:nvPr>
            <p:ph type="title"/>
          </p:nvPr>
        </p:nvSpPr>
        <p:spPr>
          <a:xfrm>
            <a:off x="2916238" y="862013"/>
            <a:ext cx="5562600" cy="838200"/>
          </a:xfrm>
          <a:noFill/>
          <a:extLst>
            <a:ext uri="{91240B29-F687-4F45-9708-019B960494DF}">
              <a14:hiddenLine xmlns:a14="http://schemas.microsoft.com/office/drawing/2010/main" w="9525">
                <a:solidFill>
                  <a:schemeClr val="tx1"/>
                </a:solidFill>
                <a:round/>
                <a:headEnd/>
                <a:tailEnd/>
              </a14:hiddenLine>
            </a:ext>
          </a:extLst>
        </p:spPr>
        <p:txBody>
          <a:bodyPr lIns="90000" tIns="46800" rIns="90000" bIns="46800">
            <a:normAutofit fontScale="90000"/>
          </a:bodyPr>
          <a:lstStyle/>
          <a:p>
            <a:pPr eaLnBrk="1" hangingPunct="1"/>
            <a:r>
              <a:rPr lang="en-GB" altLang="en-US" sz="4000" dirty="0" smtClean="0"/>
              <a:t>Innate </a:t>
            </a:r>
            <a:r>
              <a:rPr lang="en-GB" altLang="en-US" sz="4000" dirty="0" smtClean="0"/>
              <a:t>Priorities come first</a:t>
            </a:r>
            <a:endParaRPr lang="en-GB" altLang="en-US" sz="4000" dirty="0" smtClean="0"/>
          </a:p>
        </p:txBody>
      </p:sp>
      <p:sp>
        <p:nvSpPr>
          <p:cNvPr id="5129" name="Line 30"/>
          <p:cNvSpPr>
            <a:spLocks noChangeShapeType="1"/>
          </p:cNvSpPr>
          <p:nvPr/>
        </p:nvSpPr>
        <p:spPr bwMode="auto">
          <a:xfrm flipV="1">
            <a:off x="1257300" y="3903663"/>
            <a:ext cx="2517775" cy="234950"/>
          </a:xfrm>
          <a:prstGeom prst="line">
            <a:avLst/>
          </a:prstGeom>
          <a:noFill/>
          <a:ln w="9525">
            <a:solidFill>
              <a:srgbClr val="CC9900">
                <a:alpha val="8196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0" name="Line 31"/>
          <p:cNvSpPr>
            <a:spLocks noChangeShapeType="1"/>
          </p:cNvSpPr>
          <p:nvPr/>
        </p:nvSpPr>
        <p:spPr bwMode="auto">
          <a:xfrm flipV="1">
            <a:off x="1404938" y="3454400"/>
            <a:ext cx="2055812" cy="206375"/>
          </a:xfrm>
          <a:prstGeom prst="line">
            <a:avLst/>
          </a:prstGeom>
          <a:noFill/>
          <a:ln w="9525">
            <a:solidFill>
              <a:srgbClr val="CC9900">
                <a:alpha val="8196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1" name="Line 32"/>
          <p:cNvSpPr>
            <a:spLocks noChangeShapeType="1"/>
          </p:cNvSpPr>
          <p:nvPr/>
        </p:nvSpPr>
        <p:spPr bwMode="auto">
          <a:xfrm flipV="1">
            <a:off x="1538288" y="3044825"/>
            <a:ext cx="1635125" cy="142875"/>
          </a:xfrm>
          <a:prstGeom prst="line">
            <a:avLst/>
          </a:prstGeom>
          <a:noFill/>
          <a:ln w="9525">
            <a:solidFill>
              <a:srgbClr val="CC9900">
                <a:alpha val="8196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2" name="Line 33"/>
          <p:cNvSpPr>
            <a:spLocks noChangeShapeType="1"/>
          </p:cNvSpPr>
          <p:nvPr/>
        </p:nvSpPr>
        <p:spPr bwMode="auto">
          <a:xfrm flipV="1">
            <a:off x="1677988" y="2592388"/>
            <a:ext cx="1182687" cy="122237"/>
          </a:xfrm>
          <a:prstGeom prst="line">
            <a:avLst/>
          </a:prstGeom>
          <a:noFill/>
          <a:ln w="9525">
            <a:solidFill>
              <a:srgbClr val="CC9900">
                <a:alpha val="8196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3" name="Line 34"/>
          <p:cNvSpPr>
            <a:spLocks noChangeShapeType="1"/>
          </p:cNvSpPr>
          <p:nvPr/>
        </p:nvSpPr>
        <p:spPr bwMode="auto">
          <a:xfrm>
            <a:off x="2379663" y="2430463"/>
            <a:ext cx="1903412" cy="0"/>
          </a:xfrm>
          <a:prstGeom prst="line">
            <a:avLst/>
          </a:prstGeom>
          <a:noFill/>
          <a:ln w="1587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4" name="Line 35"/>
          <p:cNvSpPr>
            <a:spLocks noChangeShapeType="1"/>
          </p:cNvSpPr>
          <p:nvPr/>
        </p:nvSpPr>
        <p:spPr bwMode="auto">
          <a:xfrm>
            <a:off x="2384425" y="2890838"/>
            <a:ext cx="1903413" cy="0"/>
          </a:xfrm>
          <a:prstGeom prst="line">
            <a:avLst/>
          </a:prstGeom>
          <a:noFill/>
          <a:ln w="1587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5" name="Line 36"/>
          <p:cNvSpPr>
            <a:spLocks noChangeShapeType="1"/>
          </p:cNvSpPr>
          <p:nvPr/>
        </p:nvSpPr>
        <p:spPr bwMode="auto">
          <a:xfrm>
            <a:off x="2395538" y="3335338"/>
            <a:ext cx="1903412" cy="0"/>
          </a:xfrm>
          <a:prstGeom prst="line">
            <a:avLst/>
          </a:prstGeom>
          <a:noFill/>
          <a:ln w="1587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6" name="Line 37"/>
          <p:cNvSpPr>
            <a:spLocks noChangeShapeType="1"/>
          </p:cNvSpPr>
          <p:nvPr/>
        </p:nvSpPr>
        <p:spPr bwMode="auto">
          <a:xfrm>
            <a:off x="2400300" y="3773488"/>
            <a:ext cx="1903413" cy="0"/>
          </a:xfrm>
          <a:prstGeom prst="line">
            <a:avLst/>
          </a:prstGeom>
          <a:noFill/>
          <a:ln w="1587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37" name="Line 38"/>
          <p:cNvSpPr>
            <a:spLocks noChangeShapeType="1"/>
          </p:cNvSpPr>
          <p:nvPr/>
        </p:nvSpPr>
        <p:spPr bwMode="auto">
          <a:xfrm>
            <a:off x="2393950" y="4233863"/>
            <a:ext cx="1903413" cy="0"/>
          </a:xfrm>
          <a:prstGeom prst="line">
            <a:avLst/>
          </a:prstGeom>
          <a:noFill/>
          <a:ln w="1587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14" name="Text Box 39"/>
          <p:cNvSpPr txBox="1">
            <a:spLocks noChangeArrowheads="1"/>
          </p:cNvSpPr>
          <p:nvPr/>
        </p:nvSpPr>
        <p:spPr bwMode="auto">
          <a:xfrm>
            <a:off x="4389438" y="2208213"/>
            <a:ext cx="3009900" cy="4206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50000"/>
              </a:spcBef>
              <a:buClr>
                <a:srgbClr val="000000"/>
              </a:buClr>
              <a:buFont typeface="Times New Roman" panose="02020603050405020304" pitchFamily="18" charset="0"/>
              <a:buNone/>
              <a:defRPr/>
            </a:pPr>
            <a:r>
              <a:rPr lang="en-GB" altLang="en-US" sz="2400" b="1" dirty="0" smtClean="0">
                <a:solidFill>
                  <a:srgbClr val="CC9900"/>
                </a:solidFill>
                <a:latin typeface="Arial" panose="020B0604020202020204" pitchFamily="34" charset="0"/>
                <a:ea typeface="Arial Unicode MS" panose="020B0604020202020204" pitchFamily="34" charset="-128"/>
                <a:cs typeface="Arial Unicode MS" panose="020B0604020202020204" pitchFamily="34" charset="-128"/>
              </a:rPr>
              <a:t>5</a:t>
            </a:r>
            <a:r>
              <a:rPr lang="en-GB" altLang="en-US" sz="2000" dirty="0" smtClean="0">
                <a:latin typeface="Arial" panose="020B0604020202020204" pitchFamily="34" charset="0"/>
                <a:ea typeface="Arial Unicode MS" panose="020B0604020202020204" pitchFamily="34" charset="-128"/>
                <a:cs typeface="Arial Unicode MS" panose="020B0604020202020204" pitchFamily="34" charset="-128"/>
              </a:rPr>
              <a:t> </a:t>
            </a:r>
            <a:r>
              <a:rPr lang="en-GB" altLang="en-US" sz="2000" dirty="0" smtClean="0">
                <a:latin typeface="+mj-lt"/>
                <a:ea typeface="Arial Unicode MS" panose="020B0604020202020204" pitchFamily="34" charset="-128"/>
                <a:cs typeface="Arial Unicode MS" panose="020B0604020202020204" pitchFamily="34" charset="-128"/>
              </a:rPr>
              <a:t>fulfilment needs</a:t>
            </a:r>
          </a:p>
        </p:txBody>
      </p:sp>
      <p:sp>
        <p:nvSpPr>
          <p:cNvPr id="4115" name="Text Box 40"/>
          <p:cNvSpPr txBox="1">
            <a:spLocks noChangeArrowheads="1"/>
          </p:cNvSpPr>
          <p:nvPr/>
        </p:nvSpPr>
        <p:spPr bwMode="auto">
          <a:xfrm>
            <a:off x="4383088" y="2679700"/>
            <a:ext cx="3009900" cy="42068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50000"/>
              </a:spcBef>
              <a:buClr>
                <a:srgbClr val="000000"/>
              </a:buClr>
              <a:buFont typeface="Times New Roman" panose="02020603050405020304" pitchFamily="18" charset="0"/>
              <a:buNone/>
              <a:defRPr/>
            </a:pPr>
            <a:r>
              <a:rPr lang="en-GB" altLang="en-US" sz="2400" b="1" dirty="0" smtClean="0">
                <a:solidFill>
                  <a:srgbClr val="CC9900"/>
                </a:solidFill>
                <a:latin typeface="Arial" panose="020B0604020202020204" pitchFamily="34" charset="0"/>
                <a:ea typeface="Arial Unicode MS" panose="020B0604020202020204" pitchFamily="34" charset="-128"/>
                <a:cs typeface="Arial Unicode MS" panose="020B0604020202020204" pitchFamily="34" charset="-128"/>
              </a:rPr>
              <a:t>4</a:t>
            </a:r>
            <a:r>
              <a:rPr lang="en-GB" altLang="en-US" sz="2000" dirty="0" smtClean="0">
                <a:latin typeface="Arial" panose="020B0604020202020204" pitchFamily="34" charset="0"/>
                <a:ea typeface="Arial Unicode MS" panose="020B0604020202020204" pitchFamily="34" charset="-128"/>
                <a:cs typeface="Arial Unicode MS" panose="020B0604020202020204" pitchFamily="34" charset="-128"/>
              </a:rPr>
              <a:t> </a:t>
            </a:r>
            <a:r>
              <a:rPr lang="en-GB" altLang="en-US" sz="2000" dirty="0" smtClean="0">
                <a:latin typeface="+mj-lt"/>
                <a:ea typeface="Arial Unicode MS" panose="020B0604020202020204" pitchFamily="34" charset="-128"/>
                <a:cs typeface="Arial Unicode MS" panose="020B0604020202020204" pitchFamily="34" charset="-128"/>
              </a:rPr>
              <a:t>esteem needs</a:t>
            </a:r>
          </a:p>
        </p:txBody>
      </p:sp>
      <p:sp>
        <p:nvSpPr>
          <p:cNvPr id="4116" name="Text Box 41"/>
          <p:cNvSpPr txBox="1">
            <a:spLocks noChangeArrowheads="1"/>
          </p:cNvSpPr>
          <p:nvPr/>
        </p:nvSpPr>
        <p:spPr bwMode="auto">
          <a:xfrm>
            <a:off x="4356100" y="3141663"/>
            <a:ext cx="3009900" cy="4206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50000"/>
              </a:spcBef>
              <a:buClr>
                <a:srgbClr val="000000"/>
              </a:buClr>
              <a:buFont typeface="Times New Roman" panose="02020603050405020304" pitchFamily="18" charset="0"/>
              <a:buNone/>
              <a:defRPr/>
            </a:pPr>
            <a:r>
              <a:rPr lang="en-GB" altLang="en-US" sz="2400" b="1" dirty="0" smtClean="0">
                <a:solidFill>
                  <a:srgbClr val="CC9900"/>
                </a:solidFill>
                <a:latin typeface="Arial" panose="020B0604020202020204" pitchFamily="34" charset="0"/>
                <a:ea typeface="Arial Unicode MS" panose="020B0604020202020204" pitchFamily="34" charset="-128"/>
                <a:cs typeface="Arial Unicode MS" panose="020B0604020202020204" pitchFamily="34" charset="-128"/>
              </a:rPr>
              <a:t>3</a:t>
            </a:r>
            <a:r>
              <a:rPr lang="en-GB" altLang="en-US" sz="2000" dirty="0" smtClean="0">
                <a:latin typeface="Arial" panose="020B0604020202020204" pitchFamily="34" charset="0"/>
                <a:ea typeface="Arial Unicode MS" panose="020B0604020202020204" pitchFamily="34" charset="-128"/>
                <a:cs typeface="Arial Unicode MS" panose="020B0604020202020204" pitchFamily="34" charset="-128"/>
              </a:rPr>
              <a:t> </a:t>
            </a:r>
            <a:r>
              <a:rPr lang="en-GB" altLang="en-US" sz="2000" dirty="0" smtClean="0">
                <a:latin typeface="+mj-lt"/>
                <a:ea typeface="Arial Unicode MS" panose="020B0604020202020204" pitchFamily="34" charset="-128"/>
                <a:cs typeface="Arial Unicode MS" panose="020B0604020202020204" pitchFamily="34" charset="-128"/>
              </a:rPr>
              <a:t>social needs</a:t>
            </a:r>
          </a:p>
        </p:txBody>
      </p:sp>
      <p:sp>
        <p:nvSpPr>
          <p:cNvPr id="4117" name="Text Box 42"/>
          <p:cNvSpPr txBox="1">
            <a:spLocks noChangeArrowheads="1"/>
          </p:cNvSpPr>
          <p:nvPr/>
        </p:nvSpPr>
        <p:spPr bwMode="auto">
          <a:xfrm>
            <a:off x="4381500" y="3556000"/>
            <a:ext cx="3009900" cy="42068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50000"/>
              </a:spcBef>
              <a:buClr>
                <a:srgbClr val="000000"/>
              </a:buClr>
              <a:buFont typeface="Times New Roman" panose="02020603050405020304" pitchFamily="18" charset="0"/>
              <a:buNone/>
              <a:defRPr/>
            </a:pPr>
            <a:r>
              <a:rPr lang="en-GB" altLang="en-US" sz="2400" b="1" dirty="0" smtClean="0">
                <a:solidFill>
                  <a:srgbClr val="CC9900"/>
                </a:solidFill>
                <a:latin typeface="Arial" panose="020B0604020202020204" pitchFamily="34" charset="0"/>
                <a:ea typeface="Arial Unicode MS" panose="020B0604020202020204" pitchFamily="34" charset="-128"/>
                <a:cs typeface="Arial Unicode MS" panose="020B0604020202020204" pitchFamily="34" charset="-128"/>
              </a:rPr>
              <a:t>2</a:t>
            </a:r>
            <a:r>
              <a:rPr lang="en-GB" altLang="en-US" sz="2000" dirty="0" smtClean="0">
                <a:latin typeface="Arial" panose="020B0604020202020204" pitchFamily="34" charset="0"/>
                <a:ea typeface="Arial Unicode MS" panose="020B0604020202020204" pitchFamily="34" charset="-128"/>
                <a:cs typeface="Arial Unicode MS" panose="020B0604020202020204" pitchFamily="34" charset="-128"/>
              </a:rPr>
              <a:t> </a:t>
            </a:r>
            <a:r>
              <a:rPr lang="en-GB" altLang="en-US" sz="2000" dirty="0" smtClean="0">
                <a:latin typeface="+mj-lt"/>
                <a:ea typeface="Arial Unicode MS" panose="020B0604020202020204" pitchFamily="34" charset="-128"/>
                <a:cs typeface="Arial Unicode MS" panose="020B0604020202020204" pitchFamily="34" charset="-128"/>
              </a:rPr>
              <a:t>safety needs</a:t>
            </a:r>
          </a:p>
        </p:txBody>
      </p:sp>
      <p:sp>
        <p:nvSpPr>
          <p:cNvPr id="4118" name="Text Box 43"/>
          <p:cNvSpPr txBox="1">
            <a:spLocks noChangeArrowheads="1"/>
          </p:cNvSpPr>
          <p:nvPr/>
        </p:nvSpPr>
        <p:spPr bwMode="auto">
          <a:xfrm>
            <a:off x="4386263" y="4016375"/>
            <a:ext cx="3009900" cy="42068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50000"/>
              </a:spcBef>
              <a:buClr>
                <a:srgbClr val="000000"/>
              </a:buClr>
              <a:buFont typeface="Times New Roman" panose="02020603050405020304" pitchFamily="18" charset="0"/>
              <a:buNone/>
              <a:defRPr/>
            </a:pPr>
            <a:r>
              <a:rPr lang="en-GB" altLang="en-US" sz="2400" b="1" dirty="0" smtClean="0">
                <a:solidFill>
                  <a:srgbClr val="CC9900"/>
                </a:solidFill>
                <a:latin typeface="Arial" panose="020B0604020202020204" pitchFamily="34" charset="0"/>
                <a:ea typeface="Arial Unicode MS" panose="020B0604020202020204" pitchFamily="34" charset="-128"/>
                <a:cs typeface="Arial Unicode MS" panose="020B0604020202020204" pitchFamily="34" charset="-128"/>
              </a:rPr>
              <a:t>1</a:t>
            </a:r>
            <a:r>
              <a:rPr lang="en-GB" altLang="en-US" sz="2000" dirty="0" smtClean="0">
                <a:latin typeface="Arial" panose="020B0604020202020204" pitchFamily="34" charset="0"/>
                <a:ea typeface="Arial Unicode MS" panose="020B0604020202020204" pitchFamily="34" charset="-128"/>
                <a:cs typeface="Arial Unicode MS" panose="020B0604020202020204" pitchFamily="34" charset="-128"/>
              </a:rPr>
              <a:t> </a:t>
            </a:r>
            <a:r>
              <a:rPr lang="en-GB" altLang="en-US" sz="2000" dirty="0" smtClean="0">
                <a:latin typeface="+mj-lt"/>
                <a:ea typeface="Arial Unicode MS" panose="020B0604020202020204" pitchFamily="34" charset="-128"/>
                <a:cs typeface="Arial Unicode MS" panose="020B0604020202020204" pitchFamily="34" charset="-128"/>
              </a:rPr>
              <a:t>physiological needs</a:t>
            </a:r>
          </a:p>
        </p:txBody>
      </p:sp>
      <p:sp>
        <p:nvSpPr>
          <p:cNvPr id="5143" name="AutoShape 46"/>
          <p:cNvSpPr>
            <a:spLocks/>
          </p:cNvSpPr>
          <p:nvPr/>
        </p:nvSpPr>
        <p:spPr bwMode="auto">
          <a:xfrm>
            <a:off x="6877050" y="2060575"/>
            <a:ext cx="431800" cy="1512888"/>
          </a:xfrm>
          <a:prstGeom prst="rightBrace">
            <a:avLst>
              <a:gd name="adj1" fmla="val 2919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sp>
        <p:nvSpPr>
          <p:cNvPr id="5144" name="AutoShape 48"/>
          <p:cNvSpPr>
            <a:spLocks/>
          </p:cNvSpPr>
          <p:nvPr/>
        </p:nvSpPr>
        <p:spPr bwMode="auto">
          <a:xfrm>
            <a:off x="6877050" y="3644900"/>
            <a:ext cx="360363" cy="936625"/>
          </a:xfrm>
          <a:prstGeom prst="rightBrace">
            <a:avLst>
              <a:gd name="adj1" fmla="val 2165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sp>
        <p:nvSpPr>
          <p:cNvPr id="50225" name="Text Box 49"/>
          <p:cNvSpPr txBox="1">
            <a:spLocks noChangeArrowheads="1"/>
          </p:cNvSpPr>
          <p:nvPr/>
        </p:nvSpPr>
        <p:spPr bwMode="auto">
          <a:xfrm>
            <a:off x="7524750" y="2133600"/>
            <a:ext cx="12239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2400" b="1" dirty="0" smtClean="0">
                <a:latin typeface="+mj-lt"/>
              </a:rPr>
              <a:t>Higher level needs</a:t>
            </a:r>
          </a:p>
        </p:txBody>
      </p:sp>
      <p:sp>
        <p:nvSpPr>
          <p:cNvPr id="50226" name="Text Box 50"/>
          <p:cNvSpPr txBox="1">
            <a:spLocks noChangeArrowheads="1"/>
          </p:cNvSpPr>
          <p:nvPr/>
        </p:nvSpPr>
        <p:spPr bwMode="auto">
          <a:xfrm>
            <a:off x="7451725" y="3716338"/>
            <a:ext cx="115252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2400" b="1" dirty="0" smtClean="0">
                <a:latin typeface="+mj-lt"/>
              </a:rPr>
              <a:t>Basic needs</a:t>
            </a:r>
          </a:p>
        </p:txBody>
      </p:sp>
      <p:sp>
        <p:nvSpPr>
          <p:cNvPr id="4123" name="Rectangle 29"/>
          <p:cNvSpPr txBox="1">
            <a:spLocks noChangeArrowheads="1"/>
          </p:cNvSpPr>
          <p:nvPr/>
        </p:nvSpPr>
        <p:spPr bwMode="auto">
          <a:xfrm>
            <a:off x="954088" y="5614988"/>
            <a:ext cx="5562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defRPr/>
            </a:pPr>
            <a:r>
              <a:rPr lang="en-GB" altLang="en-US" sz="2400" i="1" dirty="0" smtClean="0">
                <a:solidFill>
                  <a:schemeClr val="tx2"/>
                </a:solidFill>
                <a:latin typeface="+mj-lt"/>
              </a:rPr>
              <a:t>Maslow’s hierarchy of needs</a:t>
            </a:r>
          </a:p>
        </p:txBody>
      </p:sp>
    </p:spTree>
    <p:extLst>
      <p:ext uri="{BB962C8B-B14F-4D97-AF65-F5344CB8AC3E}">
        <p14:creationId xmlns:p14="http://schemas.microsoft.com/office/powerpoint/2010/main" val="3685780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2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5" grpId="0"/>
      <p:bldP spid="502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txBox="1">
            <a:spLocks/>
          </p:cNvSpPr>
          <p:nvPr/>
        </p:nvSpPr>
        <p:spPr>
          <a:xfrm>
            <a:off x="4662757" y="1516226"/>
            <a:ext cx="38100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2400" dirty="0" smtClean="0">
                <a:solidFill>
                  <a:srgbClr val="FF0000"/>
                </a:solidFill>
                <a:latin typeface="+mj-lt"/>
                <a:cs typeface="Arial" panose="020B0604020202020204" pitchFamily="34" charset="0"/>
              </a:rPr>
              <a:t>Reptilian brain is about avoiding harm and seeking resource for sustenance. </a:t>
            </a:r>
          </a:p>
          <a:p>
            <a:pPr>
              <a:defRPr/>
            </a:pPr>
            <a:r>
              <a:rPr lang="en-GB" altLang="en-US" sz="2400" dirty="0" smtClean="0">
                <a:solidFill>
                  <a:srgbClr val="FFFF00"/>
                </a:solidFill>
                <a:latin typeface="+mj-lt"/>
                <a:cs typeface="Arial" panose="020B0604020202020204" pitchFamily="34" charset="0"/>
              </a:rPr>
              <a:t>Mid-brain is centre for emotion.</a:t>
            </a:r>
          </a:p>
          <a:p>
            <a:pPr>
              <a:defRPr/>
            </a:pPr>
            <a:r>
              <a:rPr lang="en-GB" altLang="en-US" sz="2400" dirty="0" smtClean="0">
                <a:solidFill>
                  <a:schemeClr val="accent1"/>
                </a:solidFill>
                <a:latin typeface="+mj-lt"/>
                <a:cs typeface="Arial" panose="020B0604020202020204" pitchFamily="34" charset="0"/>
              </a:rPr>
              <a:t>Prefrontal-cortex for thinking.</a:t>
            </a:r>
            <a:endParaRPr lang="en-GB" altLang="en-US" sz="2400" dirty="0" smtClean="0">
              <a:solidFill>
                <a:schemeClr val="accent1"/>
              </a:solidFill>
              <a:latin typeface="+mj-lt"/>
              <a:cs typeface="Arial" panose="020B0604020202020204" pitchFamily="34" charset="0"/>
            </a:endParaRPr>
          </a:p>
        </p:txBody>
      </p:sp>
      <p:pic>
        <p:nvPicPr>
          <p:cNvPr id="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9196" y="821094"/>
            <a:ext cx="3729038"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888465" y="5599599"/>
            <a:ext cx="1365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defRPr/>
            </a:pPr>
            <a:r>
              <a:rPr lang="en-GB" altLang="en-US" sz="1400" i="1" dirty="0" smtClean="0">
                <a:latin typeface="+mj-lt"/>
                <a:cs typeface="Arial" panose="020B0604020202020204" pitchFamily="34" charset="0"/>
              </a:rPr>
              <a:t>(Paul MacLean)</a:t>
            </a:r>
          </a:p>
        </p:txBody>
      </p:sp>
    </p:spTree>
    <p:extLst>
      <p:ext uri="{BB962C8B-B14F-4D97-AF65-F5344CB8AC3E}">
        <p14:creationId xmlns:p14="http://schemas.microsoft.com/office/powerpoint/2010/main" val="234489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t>Firstly…</a:t>
            </a:r>
            <a:endParaRPr lang="en-US" altLang="en-US" dirty="0" smtClean="0"/>
          </a:p>
        </p:txBody>
      </p:sp>
      <p:sp>
        <p:nvSpPr>
          <p:cNvPr id="4" name="Content Placeholder 1"/>
          <p:cNvSpPr txBox="1">
            <a:spLocks/>
          </p:cNvSpPr>
          <p:nvPr/>
        </p:nvSpPr>
        <p:spPr>
          <a:xfrm>
            <a:off x="755650" y="183515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2800" smtClean="0"/>
              <a:t>Attachment is a subject that we all know about; it is the core of all human relationships.  This training material may touch on your own emotions and experience.  Please take care of yourself and tend to your own needs.</a:t>
            </a:r>
          </a:p>
          <a:p>
            <a:pPr>
              <a:buFont typeface="Arial" panose="020B0604020202020204" pitchFamily="34" charset="0"/>
              <a:buNone/>
              <a:defRPr/>
            </a:pPr>
            <a:endParaRPr lang="en-GB" altLang="en-US" sz="2800" smtClean="0"/>
          </a:p>
          <a:p>
            <a:pPr>
              <a:defRPr/>
            </a:pPr>
            <a:r>
              <a:rPr lang="en-GB" altLang="en-US" sz="2800" smtClean="0"/>
              <a:t>If you would like to raise a case for discussion or questions, please anonymise the child and be sensitive to each other’s feelings.</a:t>
            </a:r>
          </a:p>
          <a:p>
            <a:pPr marL="0" indent="0">
              <a:buFontTx/>
              <a:buNone/>
              <a:defRPr/>
            </a:pPr>
            <a:endParaRPr lang="en-GB" dirty="0"/>
          </a:p>
        </p:txBody>
      </p:sp>
    </p:spTree>
    <p:extLst>
      <p:ext uri="{BB962C8B-B14F-4D97-AF65-F5344CB8AC3E}">
        <p14:creationId xmlns:p14="http://schemas.microsoft.com/office/powerpoint/2010/main" val="2132416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836613"/>
            <a:ext cx="51847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4000" dirty="0" smtClean="0">
                <a:latin typeface="+mj-lt"/>
              </a:rPr>
              <a:t>What is attachment?</a:t>
            </a:r>
          </a:p>
        </p:txBody>
      </p:sp>
      <p:sp>
        <p:nvSpPr>
          <p:cNvPr id="3" name="Rectangle 10"/>
          <p:cNvSpPr txBox="1">
            <a:spLocks noChangeArrowheads="1"/>
          </p:cNvSpPr>
          <p:nvPr/>
        </p:nvSpPr>
        <p:spPr>
          <a:xfrm>
            <a:off x="611188" y="17732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2400" dirty="0" smtClean="0">
                <a:latin typeface="+mj-lt"/>
                <a:cs typeface="Arial" panose="020B0604020202020204" pitchFamily="34" charset="0"/>
              </a:rPr>
              <a:t>The bond between a caregiver and a child </a:t>
            </a:r>
          </a:p>
          <a:p>
            <a:pPr>
              <a:defRPr/>
            </a:pPr>
            <a:r>
              <a:rPr lang="en-US" altLang="en-US" sz="2400" dirty="0" smtClean="0">
                <a:latin typeface="+mj-lt"/>
                <a:cs typeface="Arial" panose="020B0604020202020204" pitchFamily="34" charset="0"/>
              </a:rPr>
              <a:t>The relationship a child makes with an adult in response to caregiving</a:t>
            </a:r>
          </a:p>
          <a:p>
            <a:pPr>
              <a:defRPr/>
            </a:pPr>
            <a:r>
              <a:rPr lang="en-US" altLang="en-US" sz="2400" dirty="0">
                <a:latin typeface="+mj-lt"/>
              </a:rPr>
              <a:t>It is described as the dependency relationship a child develops towards his or her primary caregivers</a:t>
            </a:r>
            <a:r>
              <a:rPr lang="en-US" altLang="en-US" sz="2400" dirty="0" smtClean="0">
                <a:latin typeface="+mj-lt"/>
              </a:rPr>
              <a:t>.</a:t>
            </a:r>
            <a:endParaRPr lang="en-GB" altLang="en-US" sz="2400" dirty="0" smtClean="0">
              <a:latin typeface="+mj-lt"/>
              <a:cs typeface="Arial" panose="020B0604020202020204" pitchFamily="34" charset="0"/>
            </a:endParaRPr>
          </a:p>
          <a:p>
            <a:pPr>
              <a:defRPr/>
            </a:pPr>
            <a:r>
              <a:rPr lang="en-GB" altLang="en-US" sz="2400" dirty="0" smtClean="0">
                <a:latin typeface="+mj-lt"/>
                <a:cs typeface="Arial" panose="020B0604020202020204" pitchFamily="34" charset="0"/>
              </a:rPr>
              <a:t>A pattern that affects us all and determines how safe we feel.</a:t>
            </a:r>
          </a:p>
          <a:p>
            <a:pPr>
              <a:defRPr/>
            </a:pPr>
            <a:r>
              <a:rPr lang="en-GB" altLang="en-US" sz="2400" dirty="0" smtClean="0">
                <a:solidFill>
                  <a:srgbClr val="FF6600"/>
                </a:solidFill>
                <a:latin typeface="+mj-lt"/>
                <a:cs typeface="Arial" panose="020B0604020202020204" pitchFamily="34" charset="0"/>
              </a:rPr>
              <a:t>Woven in to the pathways of our brain in the earliest phase of life.</a:t>
            </a:r>
          </a:p>
          <a:p>
            <a:pPr>
              <a:defRPr/>
            </a:pPr>
            <a:endParaRPr lang="en-US" altLang="en-US" dirty="0" smtClean="0">
              <a:latin typeface="+mj-lt"/>
            </a:endParaRPr>
          </a:p>
        </p:txBody>
      </p:sp>
    </p:spTree>
    <p:extLst>
      <p:ext uri="{BB962C8B-B14F-4D97-AF65-F5344CB8AC3E}">
        <p14:creationId xmlns:p14="http://schemas.microsoft.com/office/powerpoint/2010/main" val="134521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981075"/>
            <a:ext cx="594201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4000" dirty="0" smtClean="0">
                <a:latin typeface="+mj-lt"/>
              </a:rPr>
              <a:t>Dimensions of caregiving</a:t>
            </a:r>
            <a:endParaRPr lang="en-US" altLang="en-US" sz="4000" dirty="0" smtClean="0">
              <a:latin typeface="+mj-lt"/>
            </a:endParaRP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en-US" dirty="0" smtClean="0">
                <a:latin typeface="+mj-lt"/>
                <a:cs typeface="Arial" panose="020B0604020202020204" pitchFamily="34" charset="0"/>
              </a:rPr>
              <a:t>Attachment theory outlines how the internal life of a child is </a:t>
            </a:r>
            <a:r>
              <a:rPr lang="en-US" altLang="en-US" dirty="0" err="1" smtClean="0">
                <a:latin typeface="+mj-lt"/>
                <a:cs typeface="Arial" panose="020B0604020202020204" pitchFamily="34" charset="0"/>
              </a:rPr>
              <a:t>organised</a:t>
            </a:r>
            <a:r>
              <a:rPr lang="en-US" altLang="en-US" dirty="0" smtClean="0">
                <a:latin typeface="+mj-lt"/>
                <a:cs typeface="Arial" panose="020B0604020202020204" pitchFamily="34" charset="0"/>
              </a:rPr>
              <a:t> around the early experiences of caregiving received.  </a:t>
            </a:r>
          </a:p>
          <a:p>
            <a:pPr>
              <a:defRPr/>
            </a:pPr>
            <a:r>
              <a:rPr lang="en-US" altLang="en-US" dirty="0" smtClean="0">
                <a:latin typeface="+mj-lt"/>
                <a:cs typeface="Arial" panose="020B0604020202020204" pitchFamily="34" charset="0"/>
              </a:rPr>
              <a:t>There are different dimensions to </a:t>
            </a:r>
            <a:r>
              <a:rPr lang="en-US" altLang="en-US" b="1" dirty="0" smtClean="0">
                <a:latin typeface="+mj-lt"/>
                <a:cs typeface="Arial" panose="020B0604020202020204" pitchFamily="34" charset="0"/>
              </a:rPr>
              <a:t>caregiving</a:t>
            </a:r>
            <a:endParaRPr lang="en-US" altLang="en-US" dirty="0" smtClean="0">
              <a:latin typeface="+mj-lt"/>
              <a:cs typeface="Arial" panose="020B0604020202020204" pitchFamily="34" charset="0"/>
            </a:endParaRPr>
          </a:p>
        </p:txBody>
      </p:sp>
    </p:spTree>
    <p:extLst>
      <p:ext uri="{BB962C8B-B14F-4D97-AF65-F5344CB8AC3E}">
        <p14:creationId xmlns:p14="http://schemas.microsoft.com/office/powerpoint/2010/main" val="102462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836613"/>
            <a:ext cx="51847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dirty="0">
                <a:latin typeface="Arial" charset="0"/>
              </a:rPr>
              <a:t>Dimensions to caregiving</a:t>
            </a:r>
          </a:p>
        </p:txBody>
      </p:sp>
      <p:graphicFrame>
        <p:nvGraphicFramePr>
          <p:cNvPr id="3" name="Table 2"/>
          <p:cNvGraphicFramePr>
            <a:graphicFrameLocks noGrp="1"/>
          </p:cNvGraphicFramePr>
          <p:nvPr/>
        </p:nvGraphicFramePr>
        <p:xfrm>
          <a:off x="719138" y="1773238"/>
          <a:ext cx="7359650" cy="3948175"/>
        </p:xfrm>
        <a:graphic>
          <a:graphicData uri="http://schemas.openxmlformats.org/drawingml/2006/table">
            <a:tbl>
              <a:tblPr firstRow="1" firstCol="1" lastRow="1" lastCol="1" bandRow="1" bandCol="1">
                <a:tableStyleId>{5C22544A-7EE6-4342-B048-85BDC9FD1C3A}</a:tableStyleId>
              </a:tblPr>
              <a:tblGrid>
                <a:gridCol w="3816139">
                  <a:extLst>
                    <a:ext uri="{9D8B030D-6E8A-4147-A177-3AD203B41FA5}"/>
                  </a:extLst>
                </a:gridCol>
                <a:gridCol w="3543511">
                  <a:extLst>
                    <a:ext uri="{9D8B030D-6E8A-4147-A177-3AD203B41FA5}"/>
                  </a:extLst>
                </a:gridCol>
              </a:tblGrid>
              <a:tr h="240283">
                <a:tc>
                  <a:txBody>
                    <a:bodyPr/>
                    <a:lstStyle/>
                    <a:p>
                      <a:pPr algn="ctr">
                        <a:spcAft>
                          <a:spcPts val="0"/>
                        </a:spcAft>
                      </a:pPr>
                      <a:r>
                        <a:rPr lang="en-US" sz="1400" dirty="0">
                          <a:effectLst/>
                          <a:latin typeface="Arial" panose="020B0604020202020204" pitchFamily="34" charset="0"/>
                          <a:cs typeface="Arial" panose="020B0604020202020204" pitchFamily="34" charset="0"/>
                        </a:rPr>
                        <a:t>Positive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lgn="ctr">
                        <a:spcAft>
                          <a:spcPts val="0"/>
                        </a:spcAft>
                      </a:pPr>
                      <a:r>
                        <a:rPr lang="en-US" sz="1400">
                          <a:effectLst/>
                          <a:latin typeface="Arial" panose="020B0604020202020204" pitchFamily="34" charset="0"/>
                          <a:cs typeface="Arial" panose="020B0604020202020204" pitchFamily="34" charset="0"/>
                        </a:rPr>
                        <a:t>Negative</a:t>
                      </a:r>
                      <a:endParaRPr lang="en-GB" sz="140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extLst>
              </a:tr>
              <a:tr h="720852">
                <a:tc>
                  <a:txBody>
                    <a:bodyPr/>
                    <a:lstStyle/>
                    <a:p>
                      <a:pPr>
                        <a:spcAft>
                          <a:spcPts val="0"/>
                        </a:spcAft>
                      </a:pPr>
                      <a:r>
                        <a:rPr lang="en-US" sz="1400" dirty="0">
                          <a:effectLst/>
                          <a:latin typeface="Arial" panose="020B0604020202020204" pitchFamily="34" charset="0"/>
                          <a:cs typeface="Arial" panose="020B0604020202020204" pitchFamily="34" charset="0"/>
                        </a:rPr>
                        <a:t>Sensitivity - mother </a:t>
                      </a:r>
                      <a:r>
                        <a:rPr lang="en-US" sz="1400" dirty="0" err="1">
                          <a:effectLst/>
                          <a:latin typeface="Arial" panose="020B0604020202020204" pitchFamily="34" charset="0"/>
                          <a:cs typeface="Arial" panose="020B0604020202020204" pitchFamily="34" charset="0"/>
                        </a:rPr>
                        <a:t>recognises</a:t>
                      </a:r>
                      <a:r>
                        <a:rPr lang="en-US" sz="1400" dirty="0">
                          <a:effectLst/>
                          <a:latin typeface="Arial" panose="020B0604020202020204" pitchFamily="34" charset="0"/>
                          <a:cs typeface="Arial" panose="020B0604020202020204" pitchFamily="34" charset="0"/>
                        </a:rPr>
                        <a:t> baby’s needs and responds appropriately to his signals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Insensitivity -mother fails to reads baby’s signals and interacts according to her own needs and wants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extLst>
              </a:tr>
              <a:tr h="1280133">
                <a:tc>
                  <a:txBody>
                    <a:bodyPr/>
                    <a:lstStyle/>
                    <a:p>
                      <a:pPr>
                        <a:spcAft>
                          <a:spcPts val="0"/>
                        </a:spcAft>
                      </a:pPr>
                      <a:r>
                        <a:rPr lang="en-US" sz="1400" dirty="0">
                          <a:effectLst/>
                          <a:latin typeface="Arial" panose="020B0604020202020204" pitchFamily="34" charset="0"/>
                          <a:cs typeface="Arial" panose="020B0604020202020204" pitchFamily="34" charset="0"/>
                        </a:rPr>
                        <a:t>Acceptance – mother accepts her responsibilities, responds to baby’s needs, and acknowledges that parenthood involves constraints on her lifestyle and </a:t>
                      </a:r>
                      <a:r>
                        <a:rPr lang="en-US" sz="1400" dirty="0" err="1">
                          <a:effectLst/>
                          <a:latin typeface="Arial" panose="020B0604020202020204" pitchFamily="34" charset="0"/>
                          <a:cs typeface="Arial" panose="020B0604020202020204" pitchFamily="34" charset="0"/>
                        </a:rPr>
                        <a:t>behaviour</a:t>
                      </a:r>
                      <a:r>
                        <a:rPr lang="en-US" sz="1400" dirty="0">
                          <a:effectLst/>
                          <a:latin typeface="Arial" panose="020B0604020202020204" pitchFamily="34" charset="0"/>
                          <a:cs typeface="Arial" panose="020B0604020202020204" pitchFamily="34" charset="0"/>
                        </a:rPr>
                        <a:t>.  She accepts her baby regardless of his mood.</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Rejection – mother resents the emotional demands made on her by baby, and rejects the baby.  She may feel guilty about this and become irritable with baby’s refusal to be satisfied and responsive to her.</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extLst>
              </a:tr>
              <a:tr h="1066778">
                <a:tc>
                  <a:txBody>
                    <a:bodyPr/>
                    <a:lstStyle/>
                    <a:p>
                      <a:pPr>
                        <a:spcAft>
                          <a:spcPts val="0"/>
                        </a:spcAft>
                      </a:pPr>
                      <a:r>
                        <a:rPr lang="en-US" sz="1400">
                          <a:effectLst/>
                          <a:latin typeface="Arial" panose="020B0604020202020204" pitchFamily="34" charset="0"/>
                          <a:cs typeface="Arial" panose="020B0604020202020204" pitchFamily="34" charset="0"/>
                        </a:rPr>
                        <a:t>Cooperation – mother recognises, supports and respects her baby’s autonomy and appears to ‘co-operate’ with his needs and accomplishments.</a:t>
                      </a:r>
                      <a:endParaRPr lang="en-GB" sz="140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Interference – mother does not </a:t>
                      </a:r>
                      <a:r>
                        <a:rPr lang="en-US" sz="1400" dirty="0" err="1">
                          <a:effectLst/>
                          <a:latin typeface="Arial" panose="020B0604020202020204" pitchFamily="34" charset="0"/>
                          <a:cs typeface="Arial" panose="020B0604020202020204" pitchFamily="34" charset="0"/>
                        </a:rPr>
                        <a:t>recognise</a:t>
                      </a:r>
                      <a:r>
                        <a:rPr lang="en-US" sz="1400" dirty="0">
                          <a:effectLst/>
                          <a:latin typeface="Arial" panose="020B0604020202020204" pitchFamily="34" charset="0"/>
                          <a:cs typeface="Arial" panose="020B0604020202020204" pitchFamily="34" charset="0"/>
                        </a:rPr>
                        <a:t> or respect baby’s independence and seeks to define his experience.  Mother is often abrupt, impatient and aggressive.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extLst>
              </a:tr>
              <a:tr h="640067">
                <a:tc>
                  <a:txBody>
                    <a:bodyPr/>
                    <a:lstStyle/>
                    <a:p>
                      <a:pPr>
                        <a:spcAft>
                          <a:spcPts val="0"/>
                        </a:spcAft>
                      </a:pPr>
                      <a:r>
                        <a:rPr lang="en-US" sz="1400" dirty="0">
                          <a:effectLst/>
                          <a:latin typeface="Arial" panose="020B0604020202020204" pitchFamily="34" charset="0"/>
                          <a:cs typeface="Arial" panose="020B0604020202020204" pitchFamily="34" charset="0"/>
                        </a:rPr>
                        <a:t>Accessibility – mother is physically and emotionally available and accessible to baby</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Ignoring – mother is either physically or emotionally unavailable and with-holding</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extLst>
              </a:tr>
            </a:tbl>
          </a:graphicData>
        </a:graphic>
      </p:graphicFrame>
    </p:spTree>
    <p:extLst>
      <p:ext uri="{BB962C8B-B14F-4D97-AF65-F5344CB8AC3E}">
        <p14:creationId xmlns:p14="http://schemas.microsoft.com/office/powerpoint/2010/main" val="2099237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600" smtClean="0"/>
              <a:t>Positive dimension to care giving</a:t>
            </a:r>
            <a:endParaRPr lang="en-US" altLang="en-US" sz="3600" dirty="0" smtClean="0"/>
          </a:p>
        </p:txBody>
      </p:sp>
      <p:sp>
        <p:nvSpPr>
          <p:cNvPr id="3" name="Content Placeholder 9"/>
          <p:cNvSpPr txBox="1">
            <a:spLocks/>
          </p:cNvSpPr>
          <p:nvPr/>
        </p:nvSpPr>
        <p:spPr>
          <a:xfrm>
            <a:off x="755650" y="1725613"/>
            <a:ext cx="2520950" cy="46561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1200" dirty="0" smtClean="0"/>
              <a:t>I feed, nourish and nurture you with my whole self</a:t>
            </a:r>
          </a:p>
          <a:p>
            <a:r>
              <a:rPr lang="en-GB" altLang="en-US" sz="1200" u="sng" dirty="0" smtClean="0"/>
              <a:t>CONTAINMENT</a:t>
            </a:r>
            <a:r>
              <a:rPr lang="en-GB" altLang="en-US" sz="1200" dirty="0" smtClean="0"/>
              <a:t>: I hold your whole being in mine and reflect your experience back to you in manageable doses whilst soothing you</a:t>
            </a:r>
          </a:p>
          <a:p>
            <a:r>
              <a:rPr lang="en-GB" altLang="en-US" sz="1200" u="sng" dirty="0" smtClean="0"/>
              <a:t>ATTUNEMENT</a:t>
            </a:r>
            <a:r>
              <a:rPr lang="en-GB" altLang="en-US" sz="1200" dirty="0" smtClean="0"/>
              <a:t>:  I tune in to what you are feeling so I can meet your every need.</a:t>
            </a:r>
          </a:p>
          <a:p>
            <a:r>
              <a:rPr lang="en-GB" altLang="en-US" sz="1200" u="sng" dirty="0" smtClean="0"/>
              <a:t>REGULATION</a:t>
            </a:r>
            <a:r>
              <a:rPr lang="en-GB" altLang="en-US" sz="1200" dirty="0" smtClean="0"/>
              <a:t>: My physiology matches yours and calms you.  I use my tone of voice and my person to calm you.</a:t>
            </a:r>
          </a:p>
          <a:p>
            <a:r>
              <a:rPr lang="en-GB" altLang="en-US" sz="1200" u="sng" dirty="0" smtClean="0"/>
              <a:t>TOLERATION</a:t>
            </a:r>
            <a:r>
              <a:rPr lang="en-GB" altLang="en-US" sz="1200" dirty="0" smtClean="0"/>
              <a:t>:  I help you to tolerate your feelings and sensations.</a:t>
            </a:r>
          </a:p>
          <a:p>
            <a:r>
              <a:rPr lang="en-GB" altLang="en-US" sz="1200" u="sng" dirty="0" smtClean="0"/>
              <a:t>SAFETY:</a:t>
            </a:r>
            <a:r>
              <a:rPr lang="en-GB" altLang="en-US" sz="1200" dirty="0" smtClean="0"/>
              <a:t>  I keep you safe from harm and protect you from any impingement on your growing self so that you know you are a whole and beautiful human being.</a:t>
            </a:r>
          </a:p>
          <a:p>
            <a:pPr>
              <a:buFontTx/>
              <a:buNone/>
            </a:pPr>
            <a:endParaRPr lang="en-GB" altLang="en-US" sz="1200" dirty="0" smtClean="0">
              <a:solidFill>
                <a:srgbClr val="FF0000"/>
              </a:solidFill>
            </a:endParaRPr>
          </a:p>
          <a:p>
            <a:endParaRPr lang="en-US" altLang="en-US" sz="1200" dirty="0" smtClean="0">
              <a:solidFill>
                <a:srgbClr val="FF0000"/>
              </a:solidFill>
            </a:endParaRPr>
          </a:p>
        </p:txBody>
      </p:sp>
      <p:pic>
        <p:nvPicPr>
          <p:cNvPr id="4" name="Picture 4" descr="https://encrypted-tbn3.gstatic.com/images?q=tbn:ANd9GcS-WtbBJPNeTILc6lWM_ZLkJG8n2HHf1k9Q43EnhabUoKenZCko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5038" y="2276475"/>
            <a:ext cx="2238375"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10"/>
          <p:cNvSpPr txBox="1">
            <a:spLocks/>
          </p:cNvSpPr>
          <p:nvPr/>
        </p:nvSpPr>
        <p:spPr bwMode="auto">
          <a:xfrm>
            <a:off x="5713413" y="1725613"/>
            <a:ext cx="296227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r>
              <a:rPr lang="en-GB" altLang="en-US" sz="1100" dirty="0"/>
              <a:t>Every interaction between us is helping me to organise my experiences of the world so I can build a model of how to relate to everyone and everything outside of me.</a:t>
            </a:r>
          </a:p>
          <a:p>
            <a:pPr eaLnBrk="1" hangingPunct="1"/>
            <a:r>
              <a:rPr lang="en-GB" altLang="en-US" sz="1100" u="sng" dirty="0"/>
              <a:t>SENSE OF SELF</a:t>
            </a:r>
            <a:r>
              <a:rPr lang="en-GB" altLang="en-US" sz="1100" dirty="0"/>
              <a:t>: I feel completely connected to you and don’t know where I start or end.  You help me to understand I am a separate human being who exists continuously through time.  I see in your eyes and your manner who I am and whether I’m loveable.</a:t>
            </a:r>
          </a:p>
          <a:p>
            <a:pPr eaLnBrk="1" hangingPunct="1"/>
            <a:r>
              <a:rPr lang="en-GB" altLang="en-US" sz="1100" u="sng" dirty="0"/>
              <a:t>TOLERATION AND REGULATION:  </a:t>
            </a:r>
            <a:r>
              <a:rPr lang="en-GB" altLang="en-US" sz="1100" dirty="0"/>
              <a:t>There are all these sensations and</a:t>
            </a:r>
            <a:r>
              <a:rPr lang="en-GB" altLang="en-US" sz="1100" u="sng" dirty="0"/>
              <a:t> </a:t>
            </a:r>
            <a:r>
              <a:rPr lang="en-GB" altLang="en-US" sz="1100" dirty="0"/>
              <a:t>feelings in me and I can’t hold them.  I give them all to you and learn about them by how you respond. Pathways are created in my brain so I know how to deal with these feelings throughout my life.</a:t>
            </a:r>
          </a:p>
          <a:p>
            <a:pPr eaLnBrk="1" hangingPunct="1"/>
            <a:r>
              <a:rPr lang="en-GB" altLang="en-US" sz="1100" u="sng" dirty="0"/>
              <a:t>SAFE BASE</a:t>
            </a:r>
            <a:r>
              <a:rPr lang="en-GB" altLang="en-US" sz="1100" dirty="0"/>
              <a:t>: You keep me safe and make the world safe for me.  I learn from you how to manage challenges. </a:t>
            </a:r>
          </a:p>
          <a:p>
            <a:pPr eaLnBrk="1" hangingPunct="1"/>
            <a:r>
              <a:rPr lang="en-GB" altLang="en-US" sz="1100" u="sng" dirty="0"/>
              <a:t>INTEGRATION</a:t>
            </a:r>
            <a:r>
              <a:rPr lang="en-GB" altLang="en-US" sz="1100" dirty="0"/>
              <a:t>:  You make sense of the world for me and feed back the thoughts, feelings and wishes behind my behaviour so that I understand I have an inner realm of experience.  From this I learn how to think</a:t>
            </a:r>
            <a:r>
              <a:rPr lang="en-GB" altLang="en-US" sz="1000" dirty="0"/>
              <a:t>.</a:t>
            </a:r>
            <a:endParaRPr lang="en-US" altLang="en-US" sz="1000" dirty="0"/>
          </a:p>
        </p:txBody>
      </p:sp>
      <p:sp>
        <p:nvSpPr>
          <p:cNvPr id="6" name="TextBox 5"/>
          <p:cNvSpPr txBox="1"/>
          <p:nvPr/>
        </p:nvSpPr>
        <p:spPr>
          <a:xfrm>
            <a:off x="1418257" y="1324949"/>
            <a:ext cx="1123577" cy="369332"/>
          </a:xfrm>
          <a:prstGeom prst="rect">
            <a:avLst/>
          </a:prstGeom>
          <a:noFill/>
        </p:spPr>
        <p:txBody>
          <a:bodyPr wrap="none" rtlCol="0">
            <a:spAutoFit/>
          </a:bodyPr>
          <a:lstStyle/>
          <a:p>
            <a:r>
              <a:rPr lang="en-GB" dirty="0" smtClean="0"/>
              <a:t>Care giver</a:t>
            </a:r>
            <a:endParaRPr lang="en-GB" dirty="0"/>
          </a:p>
        </p:txBody>
      </p:sp>
      <p:sp>
        <p:nvSpPr>
          <p:cNvPr id="7" name="TextBox 6"/>
          <p:cNvSpPr txBox="1"/>
          <p:nvPr/>
        </p:nvSpPr>
        <p:spPr>
          <a:xfrm>
            <a:off x="6702432" y="1328061"/>
            <a:ext cx="657552" cy="369332"/>
          </a:xfrm>
          <a:prstGeom prst="rect">
            <a:avLst/>
          </a:prstGeom>
          <a:noFill/>
        </p:spPr>
        <p:txBody>
          <a:bodyPr wrap="none" rtlCol="0">
            <a:spAutoFit/>
          </a:bodyPr>
          <a:lstStyle/>
          <a:p>
            <a:r>
              <a:rPr lang="en-GB" dirty="0" smtClean="0"/>
              <a:t>Child</a:t>
            </a:r>
            <a:endParaRPr lang="en-GB" dirty="0"/>
          </a:p>
        </p:txBody>
      </p:sp>
    </p:spTree>
    <p:extLst>
      <p:ext uri="{BB962C8B-B14F-4D97-AF65-F5344CB8AC3E}">
        <p14:creationId xmlns:p14="http://schemas.microsoft.com/office/powerpoint/2010/main" val="81178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blinds(horizontal)">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blinds(horizontal)">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blinds(horizontal)">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blinds(horizontal)">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blinds(horizontal)">
                                      <p:cBhvr>
                                        <p:cTn id="5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solidFill>
                  <a:srgbClr val="FF6600"/>
                </a:solidFill>
              </a:rPr>
              <a:t>Safe secure attachment</a:t>
            </a:r>
            <a:endParaRPr lang="en-US" altLang="en-US" dirty="0" smtClean="0"/>
          </a:p>
        </p:txBody>
      </p:sp>
      <p:sp>
        <p:nvSpPr>
          <p:cNvPr id="4" name="Content Placeholder 8"/>
          <p:cNvSpPr txBox="1">
            <a:spLocks/>
          </p:cNvSpPr>
          <p:nvPr/>
        </p:nvSpPr>
        <p:spPr bwMode="auto">
          <a:xfrm>
            <a:off x="457200" y="1600200"/>
            <a:ext cx="296227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lnSpc>
                <a:spcPct val="80000"/>
              </a:lnSpc>
            </a:pPr>
            <a:r>
              <a:rPr lang="en-GB" altLang="en-US" sz="1400" dirty="0">
                <a:solidFill>
                  <a:srgbClr val="00B050"/>
                </a:solidFill>
              </a:rPr>
              <a:t>I live in a nice house with my parents who work together and support each other and me</a:t>
            </a:r>
          </a:p>
          <a:p>
            <a:pPr eaLnBrk="1" hangingPunct="1">
              <a:lnSpc>
                <a:spcPct val="80000"/>
              </a:lnSpc>
              <a:buFontTx/>
              <a:buNone/>
            </a:pPr>
            <a:endParaRPr lang="en-GB" altLang="en-US" sz="1400" dirty="0"/>
          </a:p>
          <a:p>
            <a:pPr eaLnBrk="1" hangingPunct="1">
              <a:lnSpc>
                <a:spcPct val="80000"/>
              </a:lnSpc>
            </a:pPr>
            <a:r>
              <a:rPr lang="en-GB" altLang="en-US" sz="1400" dirty="0">
                <a:solidFill>
                  <a:srgbClr val="FF6600"/>
                </a:solidFill>
              </a:rPr>
              <a:t>My mum has always understood what I am thinking and feeling.  She plays with me and helps me to understand what is going on inside me and in the world around me</a:t>
            </a:r>
          </a:p>
          <a:p>
            <a:pPr eaLnBrk="1" hangingPunct="1">
              <a:lnSpc>
                <a:spcPct val="80000"/>
              </a:lnSpc>
            </a:pPr>
            <a:r>
              <a:rPr lang="en-GB" altLang="en-US" sz="1400" dirty="0">
                <a:solidFill>
                  <a:srgbClr val="FF6600"/>
                </a:solidFill>
              </a:rPr>
              <a:t>My dad takes me out to explore and introduces me to new and exciting things  </a:t>
            </a:r>
            <a:r>
              <a:rPr lang="en-GB" altLang="en-US" sz="1400" dirty="0"/>
              <a:t> </a:t>
            </a:r>
          </a:p>
          <a:p>
            <a:pPr eaLnBrk="1" hangingPunct="1">
              <a:lnSpc>
                <a:spcPct val="80000"/>
              </a:lnSpc>
              <a:buFontTx/>
              <a:buNone/>
            </a:pPr>
            <a:endParaRPr lang="en-GB" altLang="en-US" sz="1400" dirty="0"/>
          </a:p>
          <a:p>
            <a:pPr eaLnBrk="1" hangingPunct="1">
              <a:lnSpc>
                <a:spcPct val="80000"/>
              </a:lnSpc>
            </a:pPr>
            <a:r>
              <a:rPr lang="en-GB" altLang="en-US" sz="1400" dirty="0">
                <a:solidFill>
                  <a:srgbClr val="7030A0"/>
                </a:solidFill>
              </a:rPr>
              <a:t>When there is a problem, my mum understands how that feels for me and always finds a solution</a:t>
            </a:r>
          </a:p>
          <a:p>
            <a:pPr eaLnBrk="1" hangingPunct="1">
              <a:lnSpc>
                <a:spcPct val="80000"/>
              </a:lnSpc>
            </a:pPr>
            <a:endParaRPr lang="en-GB" altLang="en-US" sz="1400" dirty="0"/>
          </a:p>
          <a:p>
            <a:pPr eaLnBrk="1" hangingPunct="1">
              <a:lnSpc>
                <a:spcPct val="80000"/>
              </a:lnSpc>
            </a:pPr>
            <a:r>
              <a:rPr lang="en-GB" altLang="en-US" sz="1400" dirty="0"/>
              <a:t>My mum and dad enjoy being with me and tell me how much they love me.  They delight in what I do well and my successes.</a:t>
            </a:r>
          </a:p>
          <a:p>
            <a:pPr eaLnBrk="1" hangingPunct="1">
              <a:lnSpc>
                <a:spcPct val="80000"/>
              </a:lnSpc>
            </a:pPr>
            <a:endParaRPr lang="en-US" altLang="en-US" sz="1000" dirty="0"/>
          </a:p>
        </p:txBody>
      </p:sp>
      <p:pic>
        <p:nvPicPr>
          <p:cNvPr id="5" name="Picture 2" descr="http://sites.psu.edu/siowfa14/wp-content/uploads/sites/13467/2014/09/Happy_Baby_Is_Happy39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440113" y="2767013"/>
            <a:ext cx="2127250" cy="1878012"/>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9"/>
          <p:cNvSpPr txBox="1">
            <a:spLocks/>
          </p:cNvSpPr>
          <p:nvPr/>
        </p:nvSpPr>
        <p:spPr bwMode="auto">
          <a:xfrm>
            <a:off x="5580063" y="1600200"/>
            <a:ext cx="310673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lnSpc>
                <a:spcPct val="80000"/>
              </a:lnSpc>
            </a:pPr>
            <a:r>
              <a:rPr lang="en-GB" altLang="en-US" sz="1500" dirty="0">
                <a:solidFill>
                  <a:srgbClr val="00B050"/>
                </a:solidFill>
              </a:rPr>
              <a:t>I trust my needs will be met and adults are capable of and happy to take care of me</a:t>
            </a:r>
          </a:p>
          <a:p>
            <a:pPr eaLnBrk="1" hangingPunct="1">
              <a:lnSpc>
                <a:spcPct val="80000"/>
              </a:lnSpc>
            </a:pPr>
            <a:endParaRPr lang="en-GB" altLang="en-US" sz="1500" dirty="0"/>
          </a:p>
          <a:p>
            <a:pPr eaLnBrk="1" hangingPunct="1">
              <a:lnSpc>
                <a:spcPct val="80000"/>
              </a:lnSpc>
            </a:pPr>
            <a:r>
              <a:rPr lang="en-GB" altLang="en-US" sz="1500" dirty="0">
                <a:solidFill>
                  <a:srgbClr val="FF6600"/>
                </a:solidFill>
              </a:rPr>
              <a:t>I trust I have the ability to learn and live in the world</a:t>
            </a:r>
          </a:p>
          <a:p>
            <a:pPr eaLnBrk="1" hangingPunct="1">
              <a:lnSpc>
                <a:spcPct val="80000"/>
              </a:lnSpc>
            </a:pPr>
            <a:r>
              <a:rPr lang="en-GB" altLang="en-US" sz="1500" dirty="0">
                <a:solidFill>
                  <a:srgbClr val="FF6600"/>
                </a:solidFill>
              </a:rPr>
              <a:t>I have confidence in my thoughts and actions</a:t>
            </a:r>
          </a:p>
          <a:p>
            <a:pPr eaLnBrk="1" hangingPunct="1">
              <a:lnSpc>
                <a:spcPct val="80000"/>
              </a:lnSpc>
            </a:pPr>
            <a:r>
              <a:rPr lang="en-GB" altLang="en-US" sz="1500" dirty="0">
                <a:solidFill>
                  <a:srgbClr val="FF6600"/>
                </a:solidFill>
              </a:rPr>
              <a:t>I find it easy and fun to learn and make mistakes along the way</a:t>
            </a:r>
          </a:p>
          <a:p>
            <a:pPr eaLnBrk="1" hangingPunct="1">
              <a:lnSpc>
                <a:spcPct val="80000"/>
              </a:lnSpc>
            </a:pPr>
            <a:r>
              <a:rPr lang="en-GB" altLang="en-US" sz="1500" dirty="0">
                <a:solidFill>
                  <a:srgbClr val="FF6600"/>
                </a:solidFill>
              </a:rPr>
              <a:t>I see the world out there as safe and exciting</a:t>
            </a:r>
          </a:p>
          <a:p>
            <a:pPr eaLnBrk="1" hangingPunct="1">
              <a:lnSpc>
                <a:spcPct val="80000"/>
              </a:lnSpc>
              <a:buFontTx/>
              <a:buNone/>
            </a:pPr>
            <a:endParaRPr lang="en-GB" altLang="en-US" sz="1500" dirty="0"/>
          </a:p>
          <a:p>
            <a:pPr eaLnBrk="1" hangingPunct="1">
              <a:lnSpc>
                <a:spcPct val="80000"/>
              </a:lnSpc>
            </a:pPr>
            <a:r>
              <a:rPr lang="en-GB" altLang="en-US" sz="1500" dirty="0">
                <a:solidFill>
                  <a:srgbClr val="7030A0"/>
                </a:solidFill>
              </a:rPr>
              <a:t>When something is hard I ask for help and know it will be given</a:t>
            </a:r>
          </a:p>
          <a:p>
            <a:pPr eaLnBrk="1" hangingPunct="1">
              <a:lnSpc>
                <a:spcPct val="80000"/>
              </a:lnSpc>
              <a:buFontTx/>
              <a:buNone/>
            </a:pPr>
            <a:endParaRPr lang="en-GB" altLang="en-US" sz="1500" dirty="0"/>
          </a:p>
          <a:p>
            <a:pPr eaLnBrk="1" hangingPunct="1">
              <a:lnSpc>
                <a:spcPct val="80000"/>
              </a:lnSpc>
            </a:pPr>
            <a:r>
              <a:rPr lang="en-GB" altLang="en-US" sz="1500" dirty="0"/>
              <a:t>I am a good boy who is easy to love</a:t>
            </a:r>
          </a:p>
          <a:p>
            <a:pPr eaLnBrk="1" hangingPunct="1">
              <a:lnSpc>
                <a:spcPct val="80000"/>
              </a:lnSpc>
            </a:pPr>
            <a:r>
              <a:rPr lang="en-GB" altLang="en-US" sz="1500" dirty="0"/>
              <a:t>I can succeed in life and it is noticed and celebrated.</a:t>
            </a:r>
          </a:p>
          <a:p>
            <a:pPr eaLnBrk="1" hangingPunct="1">
              <a:lnSpc>
                <a:spcPct val="80000"/>
              </a:lnSpc>
              <a:buFontTx/>
              <a:buNone/>
            </a:pPr>
            <a:endParaRPr lang="en-US" altLang="en-US" sz="1500" dirty="0"/>
          </a:p>
        </p:txBody>
      </p:sp>
    </p:spTree>
    <p:extLst>
      <p:ext uri="{BB962C8B-B14F-4D97-AF65-F5344CB8AC3E}">
        <p14:creationId xmlns:p14="http://schemas.microsoft.com/office/powerpoint/2010/main" val="36691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ox(in)">
                                      <p:cBhvr>
                                        <p:cTn id="12" dur="500"/>
                                        <p:tgtEl>
                                          <p:spTgt spid="4">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box(in)">
                                      <p:cBhvr>
                                        <p:cTn id="15" dur="5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box(in)">
                                      <p:cBhvr>
                                        <p:cTn id="20" dur="500"/>
                                        <p:tgtEl>
                                          <p:spTgt spid="4">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box(in)">
                                      <p:cBhvr>
                                        <p:cTn id="25" dur="500"/>
                                        <p:tgtEl>
                                          <p:spTgt spid="4">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1"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additive="base">
                                        <p:cTn id="3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 calcmode="lin" valueType="num">
                                      <p:cBhvr additive="base">
                                        <p:cTn id="36"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7">
                                            <p:txEl>
                                              <p:pRg st="2" end="2"/>
                                            </p:txEl>
                                          </p:spTgt>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 calcmode="lin" valueType="num">
                                      <p:cBhvr additive="base">
                                        <p:cTn id="40"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7">
                                            <p:txEl>
                                              <p:pRg st="3" end="3"/>
                                            </p:txEl>
                                          </p:spTgt>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 calcmode="lin" valueType="num">
                                      <p:cBhvr additive="base">
                                        <p:cTn id="44"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7">
                                            <p:txEl>
                                              <p:pRg st="4" end="4"/>
                                            </p:txEl>
                                          </p:spTgt>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0"/>
                                  </p:stCondLst>
                                  <p:childTnLst>
                                    <p:set>
                                      <p:cBhvr>
                                        <p:cTn id="47" dur="1" fill="hold">
                                          <p:stCondLst>
                                            <p:cond delay="0"/>
                                          </p:stCondLst>
                                        </p:cTn>
                                        <p:tgtEl>
                                          <p:spTgt spid="7">
                                            <p:txEl>
                                              <p:pRg st="5" end="5"/>
                                            </p:txEl>
                                          </p:spTgt>
                                        </p:tgtEl>
                                        <p:attrNameLst>
                                          <p:attrName>style.visibility</p:attrName>
                                        </p:attrNameLst>
                                      </p:cBhvr>
                                      <p:to>
                                        <p:strVal val="visible"/>
                                      </p:to>
                                    </p:set>
                                    <p:anim calcmode="lin" valueType="num">
                                      <p:cBhvr additive="base">
                                        <p:cTn id="48" dur="500" fill="hold"/>
                                        <p:tgtEl>
                                          <p:spTgt spid="7">
                                            <p:txEl>
                                              <p:pRg st="5" end="5"/>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7">
                                            <p:txEl>
                                              <p:pRg st="7" end="7"/>
                                            </p:txEl>
                                          </p:spTgt>
                                        </p:tgtEl>
                                        <p:attrNameLst>
                                          <p:attrName>style.visibility</p:attrName>
                                        </p:attrNameLst>
                                      </p:cBhvr>
                                      <p:to>
                                        <p:strVal val="visible"/>
                                      </p:to>
                                    </p:set>
                                    <p:anim calcmode="lin" valueType="num">
                                      <p:cBhvr additive="base">
                                        <p:cTn id="54" dur="500" fill="hold"/>
                                        <p:tgtEl>
                                          <p:spTgt spid="7">
                                            <p:txEl>
                                              <p:pRg st="7" end="7"/>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7">
                                            <p:txEl>
                                              <p:pRg st="9" end="9"/>
                                            </p:txEl>
                                          </p:spTgt>
                                        </p:tgtEl>
                                        <p:attrNameLst>
                                          <p:attrName>style.visibility</p:attrName>
                                        </p:attrNameLst>
                                      </p:cBhvr>
                                      <p:to>
                                        <p:strVal val="visible"/>
                                      </p:to>
                                    </p:set>
                                    <p:anim calcmode="lin" valueType="num">
                                      <p:cBhvr additive="base">
                                        <p:cTn id="60"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7">
                                            <p:txEl>
                                              <p:pRg st="9" end="9"/>
                                            </p:txEl>
                                          </p:spTgt>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7">
                                            <p:txEl>
                                              <p:pRg st="10" end="10"/>
                                            </p:txEl>
                                          </p:spTgt>
                                        </p:tgtEl>
                                        <p:attrNameLst>
                                          <p:attrName>style.visibility</p:attrName>
                                        </p:attrNameLst>
                                      </p:cBhvr>
                                      <p:to>
                                        <p:strVal val="visible"/>
                                      </p:to>
                                    </p:set>
                                    <p:anim calcmode="lin" valueType="num">
                                      <p:cBhvr additive="base">
                                        <p:cTn id="64"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Rel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Rel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6" descr="Related imag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053" y="1212981"/>
            <a:ext cx="2901334" cy="5057190"/>
          </a:xfrm>
          <a:prstGeom prst="rect">
            <a:avLst/>
          </a:prstGeom>
        </p:spPr>
      </p:pic>
      <p:sp>
        <p:nvSpPr>
          <p:cNvPr id="6" name="Content Placeholder 6"/>
          <p:cNvSpPr txBox="1">
            <a:spLocks/>
          </p:cNvSpPr>
          <p:nvPr/>
        </p:nvSpPr>
        <p:spPr>
          <a:xfrm>
            <a:off x="685800" y="1212981"/>
            <a:ext cx="2561253" cy="5057190"/>
          </a:xfrm>
          <a:prstGeom prst="rect">
            <a:avLst/>
          </a:prstGeom>
        </p:spPr>
        <p:txBody>
          <a:bodyPr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dirty="0" smtClean="0"/>
              <a:t>Consistently insensitive parenting</a:t>
            </a:r>
          </a:p>
          <a:p>
            <a:pPr>
              <a:defRPr/>
            </a:pPr>
            <a:endParaRPr lang="en-GB" dirty="0" smtClean="0"/>
          </a:p>
          <a:p>
            <a:pPr>
              <a:defRPr/>
            </a:pPr>
            <a:r>
              <a:rPr lang="en-GB" dirty="0" smtClean="0"/>
              <a:t>Inconsistently insensitive parenting</a:t>
            </a:r>
          </a:p>
          <a:p>
            <a:pPr>
              <a:defRPr/>
            </a:pPr>
            <a:endParaRPr lang="en-GB" dirty="0" smtClean="0"/>
          </a:p>
          <a:p>
            <a:pPr>
              <a:defRPr/>
            </a:pPr>
            <a:r>
              <a:rPr lang="en-GB" dirty="0" smtClean="0"/>
              <a:t>Abusive caregiving</a:t>
            </a:r>
          </a:p>
          <a:p>
            <a:pPr>
              <a:defRPr/>
            </a:pPr>
            <a:endParaRPr lang="en-GB" dirty="0" smtClean="0"/>
          </a:p>
          <a:p>
            <a:pPr>
              <a:defRPr/>
            </a:pPr>
            <a:r>
              <a:rPr lang="en-GB" dirty="0" smtClean="0"/>
              <a:t>Breaks in caregiving</a:t>
            </a:r>
          </a:p>
          <a:p>
            <a:pPr>
              <a:defRPr/>
            </a:pPr>
            <a:endParaRPr lang="en-GB" dirty="0" smtClean="0"/>
          </a:p>
          <a:p>
            <a:pPr>
              <a:defRPr/>
            </a:pPr>
            <a:r>
              <a:rPr lang="en-GB" dirty="0" smtClean="0"/>
              <a:t>Unmanaged stresses</a:t>
            </a:r>
          </a:p>
          <a:p>
            <a:pPr>
              <a:defRPr/>
            </a:pPr>
            <a:endParaRPr lang="en-GB" dirty="0" smtClean="0"/>
          </a:p>
          <a:p>
            <a:pPr>
              <a:defRPr/>
            </a:pPr>
            <a:r>
              <a:rPr lang="en-GB" dirty="0" smtClean="0"/>
              <a:t>Traumatic episodes</a:t>
            </a:r>
            <a:endParaRPr lang="en-US" dirty="0" smtClean="0"/>
          </a:p>
        </p:txBody>
      </p:sp>
      <p:sp>
        <p:nvSpPr>
          <p:cNvPr id="7" name="Content Placeholder 7"/>
          <p:cNvSpPr txBox="1">
            <a:spLocks/>
          </p:cNvSpPr>
          <p:nvPr/>
        </p:nvSpPr>
        <p:spPr>
          <a:xfrm>
            <a:off x="6148386" y="1212981"/>
            <a:ext cx="2538413" cy="5057189"/>
          </a:xfrm>
          <a:prstGeom prst="rect">
            <a:avLst/>
          </a:prstGeom>
        </p:spPr>
        <p:txBody>
          <a:bodyPr>
            <a:normAutofit fontScale="55000" lnSpcReduction="20000"/>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defRPr/>
            </a:pPr>
            <a:r>
              <a:rPr lang="en-GB" dirty="0" smtClean="0">
                <a:solidFill>
                  <a:srgbClr val="00B0F0"/>
                </a:solidFill>
              </a:rPr>
              <a:t>I have no faith in adults to meet my needs.</a:t>
            </a:r>
          </a:p>
          <a:p>
            <a:pPr eaLnBrk="1" fontAlgn="auto" hangingPunct="1">
              <a:spcAft>
                <a:spcPts val="0"/>
              </a:spcAft>
              <a:defRPr/>
            </a:pPr>
            <a:r>
              <a:rPr lang="en-GB" dirty="0" smtClean="0">
                <a:solidFill>
                  <a:srgbClr val="00B0F0"/>
                </a:solidFill>
              </a:rPr>
              <a:t>I do not know how to learn, I am just surviving however I can.</a:t>
            </a:r>
          </a:p>
          <a:p>
            <a:pPr eaLnBrk="1" fontAlgn="auto" hangingPunct="1">
              <a:spcAft>
                <a:spcPts val="0"/>
              </a:spcAft>
              <a:defRPr/>
            </a:pPr>
            <a:r>
              <a:rPr lang="en-GB" dirty="0" smtClean="0">
                <a:solidFill>
                  <a:srgbClr val="00B0F0"/>
                </a:solidFill>
              </a:rPr>
              <a:t>I am a bad child that nobody can like or love.</a:t>
            </a:r>
          </a:p>
          <a:p>
            <a:pPr eaLnBrk="1" fontAlgn="auto" hangingPunct="1">
              <a:spcAft>
                <a:spcPts val="0"/>
              </a:spcAft>
              <a:defRPr/>
            </a:pPr>
            <a:r>
              <a:rPr lang="en-GB" dirty="0" smtClean="0">
                <a:solidFill>
                  <a:srgbClr val="00B0F0"/>
                </a:solidFill>
              </a:rPr>
              <a:t>The world is unsafe and new situations are scary.</a:t>
            </a:r>
          </a:p>
          <a:p>
            <a:pPr eaLnBrk="1" fontAlgn="auto" hangingPunct="1">
              <a:spcAft>
                <a:spcPts val="0"/>
              </a:spcAft>
              <a:defRPr/>
            </a:pPr>
            <a:r>
              <a:rPr lang="en-GB" dirty="0" smtClean="0">
                <a:solidFill>
                  <a:srgbClr val="00B0F0"/>
                </a:solidFill>
              </a:rPr>
              <a:t>Learning is unknown and dangerous and may expose me.</a:t>
            </a:r>
          </a:p>
          <a:p>
            <a:pPr eaLnBrk="1" fontAlgn="auto" hangingPunct="1">
              <a:spcAft>
                <a:spcPts val="0"/>
              </a:spcAft>
              <a:defRPr/>
            </a:pPr>
            <a:r>
              <a:rPr lang="en-GB" dirty="0" smtClean="0">
                <a:solidFill>
                  <a:srgbClr val="00B0F0"/>
                </a:solidFill>
              </a:rPr>
              <a:t>When something is hard I handle it my own way because nobody helps me.</a:t>
            </a:r>
            <a:endParaRPr lang="en-US" dirty="0" smtClean="0">
              <a:solidFill>
                <a:srgbClr val="00B0F0"/>
              </a:solidFill>
            </a:endParaRPr>
          </a:p>
        </p:txBody>
      </p:sp>
      <p:sp>
        <p:nvSpPr>
          <p:cNvPr id="8" name="Title 1"/>
          <p:cNvSpPr txBox="1">
            <a:spLocks/>
          </p:cNvSpPr>
          <p:nvPr/>
        </p:nvSpPr>
        <p:spPr>
          <a:xfrm>
            <a:off x="446088" y="69981"/>
            <a:ext cx="8229600" cy="825758"/>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Negative dimension to care giving</a:t>
            </a:r>
            <a:endParaRPr lang="en-US" altLang="en-US" dirty="0" smtClean="0"/>
          </a:p>
        </p:txBody>
      </p:sp>
      <p:sp>
        <p:nvSpPr>
          <p:cNvPr id="9" name="TextBox 8"/>
          <p:cNvSpPr txBox="1"/>
          <p:nvPr/>
        </p:nvSpPr>
        <p:spPr>
          <a:xfrm>
            <a:off x="1326019" y="843649"/>
            <a:ext cx="691408" cy="369332"/>
          </a:xfrm>
          <a:prstGeom prst="rect">
            <a:avLst/>
          </a:prstGeom>
          <a:noFill/>
        </p:spPr>
        <p:txBody>
          <a:bodyPr wrap="none" rtlCol="0">
            <a:spAutoFit/>
          </a:bodyPr>
          <a:lstStyle/>
          <a:p>
            <a:r>
              <a:rPr lang="en-GB" u="sng" dirty="0" smtClean="0"/>
              <a:t>Carer</a:t>
            </a:r>
            <a:endParaRPr lang="en-GB" u="sng" dirty="0"/>
          </a:p>
        </p:txBody>
      </p:sp>
      <p:sp>
        <p:nvSpPr>
          <p:cNvPr id="10" name="TextBox 9"/>
          <p:cNvSpPr txBox="1"/>
          <p:nvPr/>
        </p:nvSpPr>
        <p:spPr>
          <a:xfrm>
            <a:off x="7127156" y="843649"/>
            <a:ext cx="657552" cy="369332"/>
          </a:xfrm>
          <a:prstGeom prst="rect">
            <a:avLst/>
          </a:prstGeom>
          <a:noFill/>
        </p:spPr>
        <p:txBody>
          <a:bodyPr wrap="none" rtlCol="0">
            <a:spAutoFit/>
          </a:bodyPr>
          <a:lstStyle/>
          <a:p>
            <a:r>
              <a:rPr lang="en-GB" u="sng" dirty="0" smtClean="0"/>
              <a:t>Child</a:t>
            </a:r>
            <a:endParaRPr lang="en-GB" u="sng" dirty="0"/>
          </a:p>
        </p:txBody>
      </p:sp>
    </p:spTree>
    <p:extLst>
      <p:ext uri="{BB962C8B-B14F-4D97-AF65-F5344CB8AC3E}">
        <p14:creationId xmlns:p14="http://schemas.microsoft.com/office/powerpoint/2010/main" val="37605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ox(i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ox(i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ox(in)">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box(in)">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box(in)">
                                      <p:cBhvr>
                                        <p:cTn id="27" dur="500"/>
                                        <p:tgtEl>
                                          <p:spTgt spid="6">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animEffect transition="in" filter="box(in)">
                                      <p:cBhvr>
                                        <p:cTn id="32" dur="500"/>
                                        <p:tgtEl>
                                          <p:spTgt spid="6">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checkerboard(across)">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checkerboard(across)">
                                      <p:cBhvr>
                                        <p:cTn id="42" dur="500"/>
                                        <p:tgtEl>
                                          <p:spTgt spid="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Effect transition="in" filter="checkerboard(across)">
                                      <p:cBhvr>
                                        <p:cTn id="47" dur="500"/>
                                        <p:tgtEl>
                                          <p:spTgt spid="7">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7">
                                            <p:txEl>
                                              <p:pRg st="3" end="3"/>
                                            </p:txEl>
                                          </p:spTgt>
                                        </p:tgtEl>
                                        <p:attrNameLst>
                                          <p:attrName>style.visibility</p:attrName>
                                        </p:attrNameLst>
                                      </p:cBhvr>
                                      <p:to>
                                        <p:strVal val="visible"/>
                                      </p:to>
                                    </p:set>
                                    <p:animEffect transition="in" filter="checkerboard(across)">
                                      <p:cBhvr>
                                        <p:cTn id="52" dur="500"/>
                                        <p:tgtEl>
                                          <p:spTgt spid="7">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7">
                                            <p:txEl>
                                              <p:pRg st="4" end="4"/>
                                            </p:txEl>
                                          </p:spTgt>
                                        </p:tgtEl>
                                        <p:attrNameLst>
                                          <p:attrName>style.visibility</p:attrName>
                                        </p:attrNameLst>
                                      </p:cBhvr>
                                      <p:to>
                                        <p:strVal val="visible"/>
                                      </p:to>
                                    </p:set>
                                    <p:animEffect transition="in" filter="checkerboard(across)">
                                      <p:cBhvr>
                                        <p:cTn id="57" dur="500"/>
                                        <p:tgtEl>
                                          <p:spTgt spid="7">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7">
                                            <p:txEl>
                                              <p:pRg st="5" end="5"/>
                                            </p:txEl>
                                          </p:spTgt>
                                        </p:tgtEl>
                                        <p:attrNameLst>
                                          <p:attrName>style.visibility</p:attrName>
                                        </p:attrNameLst>
                                      </p:cBhvr>
                                      <p:to>
                                        <p:strVal val="visible"/>
                                      </p:to>
                                    </p:set>
                                    <p:animEffect transition="in" filter="checkerboard(across)">
                                      <p:cBhvr>
                                        <p:cTn id="6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The Picture on Attachment</a:t>
            </a:r>
            <a:endParaRPr lang="en-US" altLang="en-US" dirty="0" smtClean="0"/>
          </a:p>
        </p:txBody>
      </p:sp>
      <p:sp>
        <p:nvSpPr>
          <p:cNvPr id="3" name="Content Placeholder 1"/>
          <p:cNvSpPr txBox="1">
            <a:spLocks/>
          </p:cNvSpPr>
          <p:nvPr/>
        </p:nvSpPr>
        <p:spPr>
          <a:xfrm>
            <a:off x="685800" y="1628775"/>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400" smtClean="0">
                <a:solidFill>
                  <a:srgbClr val="FF6600"/>
                </a:solidFill>
              </a:rPr>
              <a:t>55-65% (approx.) of the UK population are securely attached like Scotty</a:t>
            </a:r>
          </a:p>
          <a:p>
            <a:pPr>
              <a:buFontTx/>
              <a:buNone/>
            </a:pPr>
            <a:endParaRPr lang="en-GB" altLang="en-US" sz="2400" smtClean="0"/>
          </a:p>
          <a:p>
            <a:pPr algn="ctr">
              <a:buFontTx/>
              <a:buNone/>
            </a:pPr>
            <a:r>
              <a:rPr lang="en-GB" altLang="en-US" sz="2400" b="1" i="1" smtClean="0"/>
              <a:t>What about the other 35-45%?</a:t>
            </a:r>
          </a:p>
          <a:p>
            <a:endParaRPr lang="en-GB" altLang="en-US" sz="2400" smtClean="0"/>
          </a:p>
          <a:p>
            <a:pPr lvl="4">
              <a:buFontTx/>
              <a:buNone/>
            </a:pPr>
            <a:endParaRPr lang="en-GB" altLang="en-US" sz="2400" smtClean="0"/>
          </a:p>
          <a:p>
            <a:pPr lvl="4">
              <a:buFontTx/>
              <a:buNone/>
            </a:pPr>
            <a:endParaRPr lang="en-GB" altLang="en-US" sz="1200" smtClean="0"/>
          </a:p>
          <a:p>
            <a:pPr lvl="4">
              <a:buFontTx/>
              <a:buNone/>
            </a:pPr>
            <a:endParaRPr lang="en-GB" altLang="en-US" sz="1200" smtClean="0"/>
          </a:p>
          <a:p>
            <a:pPr lvl="4">
              <a:buFontTx/>
              <a:buNone/>
            </a:pPr>
            <a:endParaRPr lang="en-GB" altLang="en-US" sz="1200" smtClean="0"/>
          </a:p>
          <a:p>
            <a:pPr lvl="4">
              <a:buFontTx/>
              <a:buNone/>
            </a:pPr>
            <a:endParaRPr lang="en-GB" altLang="en-US" sz="1200" smtClean="0"/>
          </a:p>
          <a:p>
            <a:pPr lvl="4">
              <a:buFontTx/>
              <a:buNone/>
            </a:pPr>
            <a:endParaRPr lang="en-GB" altLang="en-US" sz="1200" smtClean="0"/>
          </a:p>
          <a:p>
            <a:pPr lvl="4">
              <a:buFontTx/>
              <a:buNone/>
            </a:pPr>
            <a:endParaRPr lang="en-GB" altLang="en-US" sz="1200" smtClean="0"/>
          </a:p>
          <a:p>
            <a:pPr lvl="4" algn="r">
              <a:buFontTx/>
              <a:buNone/>
            </a:pPr>
            <a:r>
              <a:rPr lang="en-GB" altLang="en-US" sz="1200" smtClean="0"/>
              <a:t>Stats from Keys Attachment Centre, 2009</a:t>
            </a:r>
          </a:p>
          <a:p>
            <a:endParaRPr lang="en-GB" altLang="en-US" dirty="0" smtClean="0"/>
          </a:p>
        </p:txBody>
      </p:sp>
    </p:spTree>
    <p:extLst>
      <p:ext uri="{BB962C8B-B14F-4D97-AF65-F5344CB8AC3E}">
        <p14:creationId xmlns:p14="http://schemas.microsoft.com/office/powerpoint/2010/main" val="137284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The Picture on Attachment</a:t>
            </a:r>
            <a:endParaRPr lang="en-US" altLang="en-US" dirty="0" smtClean="0"/>
          </a:p>
        </p:txBody>
      </p:sp>
      <p:sp>
        <p:nvSpPr>
          <p:cNvPr id="3" name="Content Placeholder 1"/>
          <p:cNvSpPr txBox="1">
            <a:spLocks/>
          </p:cNvSpPr>
          <p:nvPr/>
        </p:nvSpPr>
        <p:spPr>
          <a:xfrm>
            <a:off x="685800" y="1628775"/>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Tx/>
              <a:buNone/>
            </a:pPr>
            <a:endParaRPr lang="en-GB" altLang="en-US" sz="2400" dirty="0" smtClean="0"/>
          </a:p>
          <a:p>
            <a:pPr algn="ctr">
              <a:buFontTx/>
              <a:buNone/>
            </a:pPr>
            <a:r>
              <a:rPr lang="en-GB" altLang="en-US" sz="2400" b="1" i="1" dirty="0" smtClean="0"/>
              <a:t>The other 35-45% are argued to develop an insecure attachment style</a:t>
            </a:r>
          </a:p>
          <a:p>
            <a:endParaRPr lang="en-GB" altLang="en-US" sz="2400" dirty="0" smtClean="0"/>
          </a:p>
          <a:p>
            <a:r>
              <a:rPr lang="en-GB" altLang="en-US" sz="2400" dirty="0" smtClean="0">
                <a:solidFill>
                  <a:srgbClr val="FF0000"/>
                </a:solidFill>
              </a:rPr>
              <a:t>Insecure attachment models</a:t>
            </a:r>
          </a:p>
          <a:p>
            <a:pPr lvl="1"/>
            <a:r>
              <a:rPr lang="en-GB" altLang="en-US" sz="2400" dirty="0" smtClean="0"/>
              <a:t>Insecure attachment </a:t>
            </a:r>
          </a:p>
          <a:p>
            <a:pPr lvl="2">
              <a:buFont typeface="Arial" panose="020B0604020202020204" pitchFamily="34" charset="0"/>
              <a:buChar char="•"/>
            </a:pPr>
            <a:r>
              <a:rPr lang="en-GB" altLang="en-US" dirty="0"/>
              <a:t>Avoidant (</a:t>
            </a:r>
            <a:r>
              <a:rPr lang="en-GB" altLang="en-US" dirty="0" err="1"/>
              <a:t>approx</a:t>
            </a:r>
            <a:r>
              <a:rPr lang="en-GB" altLang="en-US" dirty="0"/>
              <a:t> 15-23%) </a:t>
            </a:r>
          </a:p>
          <a:p>
            <a:pPr lvl="2">
              <a:buFont typeface="Arial" panose="020B0604020202020204" pitchFamily="34" charset="0"/>
              <a:buChar char="•"/>
            </a:pPr>
            <a:r>
              <a:rPr lang="en-GB" altLang="en-US" dirty="0"/>
              <a:t>Ambivalent (</a:t>
            </a:r>
            <a:r>
              <a:rPr lang="en-GB" altLang="en-US" dirty="0" err="1"/>
              <a:t>approx</a:t>
            </a:r>
            <a:r>
              <a:rPr lang="en-GB" altLang="en-US" dirty="0"/>
              <a:t> 8-12</a:t>
            </a:r>
            <a:r>
              <a:rPr lang="en-GB" altLang="en-US" dirty="0" smtClean="0"/>
              <a:t>%)</a:t>
            </a:r>
          </a:p>
          <a:p>
            <a:pPr lvl="1"/>
            <a:r>
              <a:rPr lang="en-GB" altLang="en-US" sz="2400" dirty="0" smtClean="0"/>
              <a:t>Disorganised attachment (</a:t>
            </a:r>
            <a:r>
              <a:rPr lang="en-GB" altLang="en-US" sz="2400" dirty="0" err="1" smtClean="0"/>
              <a:t>approx</a:t>
            </a:r>
            <a:r>
              <a:rPr lang="en-GB" altLang="en-US" sz="2400" dirty="0" smtClean="0"/>
              <a:t> 10-15%)  </a:t>
            </a:r>
          </a:p>
          <a:p>
            <a:pPr lvl="3"/>
            <a:endParaRPr lang="en-GB" altLang="en-US" sz="2400" dirty="0" smtClean="0"/>
          </a:p>
          <a:p>
            <a:pPr lvl="4">
              <a:buFontTx/>
              <a:buNone/>
            </a:pPr>
            <a:endParaRPr lang="en-GB" altLang="en-US" sz="2400" dirty="0" smtClean="0"/>
          </a:p>
          <a:p>
            <a:pPr marL="0" indent="0">
              <a:buNone/>
            </a:pPr>
            <a:endParaRPr lang="en-GB" altLang="en-US" dirty="0" smtClean="0"/>
          </a:p>
        </p:txBody>
      </p:sp>
    </p:spTree>
    <p:extLst>
      <p:ext uri="{BB962C8B-B14F-4D97-AF65-F5344CB8AC3E}">
        <p14:creationId xmlns:p14="http://schemas.microsoft.com/office/powerpoint/2010/main" val="4601734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738188" y="1012825"/>
            <a:ext cx="77057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defRPr/>
            </a:pPr>
            <a:r>
              <a:rPr lang="en-GB" altLang="en-US" sz="3600" dirty="0">
                <a:latin typeface="+mj-lt"/>
                <a:cs typeface="Arial" panose="020B0604020202020204" pitchFamily="34" charset="0"/>
              </a:rPr>
              <a:t>M</a:t>
            </a:r>
            <a:r>
              <a:rPr lang="en-GB" altLang="en-US" sz="3600" dirty="0" smtClean="0">
                <a:latin typeface="+mj-lt"/>
                <a:cs typeface="Arial" panose="020B0604020202020204" pitchFamily="34" charset="0"/>
              </a:rPr>
              <a:t>anifestation of early care giving experiences</a:t>
            </a:r>
            <a:endParaRPr lang="en-GB" altLang="en-US" sz="3600" dirty="0" smtClean="0">
              <a:latin typeface="+mj-lt"/>
              <a:cs typeface="Arial" panose="020B0604020202020204" pitchFamily="34" charset="0"/>
            </a:endParaRPr>
          </a:p>
        </p:txBody>
      </p:sp>
      <p:sp>
        <p:nvSpPr>
          <p:cNvPr id="3" name="Rectangle 10"/>
          <p:cNvSpPr txBox="1">
            <a:spLocks noChangeArrowheads="1"/>
          </p:cNvSpPr>
          <p:nvPr/>
        </p:nvSpPr>
        <p:spPr>
          <a:xfrm>
            <a:off x="611188" y="2708275"/>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GB" altLang="en-US" b="1" smtClean="0">
                <a:latin typeface="+mj-lt"/>
                <a:cs typeface="Arial" charset="0"/>
              </a:rPr>
              <a:t>Two dimensions:</a:t>
            </a:r>
          </a:p>
          <a:p>
            <a:pPr>
              <a:defRPr/>
            </a:pPr>
            <a:r>
              <a:rPr lang="en-US" altLang="en-US" smtClean="0">
                <a:latin typeface="+mj-lt"/>
              </a:rPr>
              <a:t>Internal constellation – working model</a:t>
            </a:r>
          </a:p>
          <a:p>
            <a:pPr>
              <a:defRPr/>
            </a:pPr>
            <a:r>
              <a:rPr lang="en-US" altLang="en-US" smtClean="0">
                <a:latin typeface="+mj-lt"/>
              </a:rPr>
              <a:t>External manifestation - Behaviour</a:t>
            </a:r>
          </a:p>
          <a:p>
            <a:pPr marL="0" indent="0">
              <a:buFontTx/>
              <a:buNone/>
              <a:defRPr/>
            </a:pPr>
            <a:endParaRPr lang="en-US" altLang="en-US" b="1" i="1" smtClean="0">
              <a:latin typeface="+mj-lt"/>
            </a:endParaRPr>
          </a:p>
          <a:p>
            <a:pPr marL="0" indent="0">
              <a:buFontTx/>
              <a:buNone/>
              <a:defRPr/>
            </a:pPr>
            <a:r>
              <a:rPr lang="en-US" altLang="en-US" b="1" i="1" smtClean="0">
                <a:latin typeface="+mj-lt"/>
              </a:rPr>
              <a:t>Behaviour is driven by the internal working model </a:t>
            </a:r>
            <a:endParaRPr lang="en-US" altLang="en-US" b="1" i="1" dirty="0" smtClean="0">
              <a:latin typeface="+mj-lt"/>
            </a:endParaRPr>
          </a:p>
        </p:txBody>
      </p:sp>
    </p:spTree>
    <p:extLst>
      <p:ext uri="{BB962C8B-B14F-4D97-AF65-F5344CB8AC3E}">
        <p14:creationId xmlns:p14="http://schemas.microsoft.com/office/powerpoint/2010/main" val="155651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981075"/>
            <a:ext cx="5184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dirty="0" smtClean="0">
                <a:latin typeface="+mj-lt"/>
              </a:rPr>
              <a:t>Internal working model</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US" sz="2800" b="1" smtClean="0">
                <a:latin typeface="+mj-lt"/>
                <a:cs typeface="Arial" panose="020B0604020202020204" pitchFamily="34" charset="0"/>
              </a:rPr>
              <a:t>A child’s experience of caregiving helps create;</a:t>
            </a:r>
          </a:p>
          <a:p>
            <a:pPr>
              <a:defRPr/>
            </a:pPr>
            <a:r>
              <a:rPr lang="en-US" sz="2800" smtClean="0">
                <a:latin typeface="+mj-lt"/>
                <a:cs typeface="Arial" panose="020B0604020202020204" pitchFamily="34" charset="0"/>
              </a:rPr>
              <a:t>A working model to help the child survive  </a:t>
            </a:r>
          </a:p>
          <a:p>
            <a:pPr>
              <a:defRPr/>
            </a:pPr>
            <a:r>
              <a:rPr lang="en-US" sz="2800" smtClean="0">
                <a:latin typeface="+mj-lt"/>
                <a:cs typeface="Arial" panose="020B0604020202020204" pitchFamily="34" charset="0"/>
              </a:rPr>
              <a:t>A map of the self and of the world which is needed in order to be able to predict, control and manipulate the environment.’  </a:t>
            </a:r>
          </a:p>
          <a:p>
            <a:pPr>
              <a:defRPr/>
            </a:pPr>
            <a:r>
              <a:rPr lang="en-US" sz="2800" smtClean="0">
                <a:latin typeface="+mj-lt"/>
                <a:cs typeface="Arial" panose="020B0604020202020204" pitchFamily="34" charset="0"/>
              </a:rPr>
              <a:t>An internal model that  consists of the child’s concept of self, others, the world and relationships</a:t>
            </a:r>
            <a:endParaRPr lang="en-US" altLang="en-US" sz="2800" dirty="0" smtClean="0">
              <a:latin typeface="+mj-lt"/>
              <a:cs typeface="Arial" panose="020B0604020202020204" pitchFamily="34" charset="0"/>
            </a:endParaRPr>
          </a:p>
        </p:txBody>
      </p:sp>
    </p:spTree>
    <p:extLst>
      <p:ext uri="{BB962C8B-B14F-4D97-AF65-F5344CB8AC3E}">
        <p14:creationId xmlns:p14="http://schemas.microsoft.com/office/powerpoint/2010/main" val="344113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981075"/>
            <a:ext cx="51847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dirty="0" smtClean="0">
                <a:latin typeface="+mj-lt"/>
              </a:rPr>
              <a:t>Internal working model</a:t>
            </a:r>
          </a:p>
        </p:txBody>
      </p:sp>
      <p:graphicFrame>
        <p:nvGraphicFramePr>
          <p:cNvPr id="4" name="Table 3"/>
          <p:cNvGraphicFramePr>
            <a:graphicFrameLocks noGrp="1"/>
          </p:cNvGraphicFramePr>
          <p:nvPr/>
        </p:nvGraphicFramePr>
        <p:xfrm>
          <a:off x="719138" y="1774825"/>
          <a:ext cx="7705726" cy="4090988"/>
        </p:xfrm>
        <a:graphic>
          <a:graphicData uri="http://schemas.openxmlformats.org/drawingml/2006/table">
            <a:tbl>
              <a:tblPr firstRow="1" firstCol="1" lastRow="1" lastCol="1" bandRow="1" bandCol="1">
                <a:tableStyleId>{5C22544A-7EE6-4342-B048-85BDC9FD1C3A}</a:tableStyleId>
              </a:tblPr>
              <a:tblGrid>
                <a:gridCol w="3852863">
                  <a:extLst>
                    <a:ext uri="{9D8B030D-6E8A-4147-A177-3AD203B41FA5}"/>
                  </a:extLst>
                </a:gridCol>
                <a:gridCol w="3852863">
                  <a:extLst>
                    <a:ext uri="{9D8B030D-6E8A-4147-A177-3AD203B41FA5}"/>
                  </a:extLst>
                </a:gridCol>
              </a:tblGrid>
              <a:tr h="629383">
                <a:tc gridSpan="2">
                  <a:txBody>
                    <a:bodyPr/>
                    <a:lstStyle/>
                    <a:p>
                      <a:pPr algn="ctr">
                        <a:spcAft>
                          <a:spcPts val="0"/>
                        </a:spcAft>
                      </a:pPr>
                      <a:r>
                        <a:rPr lang="en-US" sz="1800" dirty="0">
                          <a:effectLst/>
                          <a:latin typeface="Arial" panose="020B0604020202020204" pitchFamily="34" charset="0"/>
                          <a:cs typeface="Arial" panose="020B0604020202020204" pitchFamily="34" charset="0"/>
                        </a:rPr>
                        <a:t>Internal Working Model</a:t>
                      </a:r>
                      <a:endParaRPr lang="en-GB" sz="1800" dirty="0">
                        <a:effectLst/>
                        <a:latin typeface="Arial" panose="020B0604020202020204" pitchFamily="34" charset="0"/>
                        <a:cs typeface="Arial" panose="020B0604020202020204" pitchFamily="34" charset="0"/>
                      </a:endParaRPr>
                    </a:p>
                    <a:p>
                      <a:pPr algn="ctr">
                        <a:spcAft>
                          <a:spcPts val="0"/>
                        </a:spcAft>
                      </a:pPr>
                      <a:r>
                        <a:rPr lang="en-US" sz="1800" dirty="0">
                          <a:effectLst/>
                          <a:latin typeface="Arial" panose="020B0604020202020204" pitchFamily="34" charset="0"/>
                          <a:cs typeface="Arial" panose="020B0604020202020204" pitchFamily="34" charset="0"/>
                        </a:rPr>
                        <a:t>(</a:t>
                      </a:r>
                      <a:r>
                        <a:rPr lang="en-US" sz="1800" dirty="0" err="1">
                          <a:effectLst/>
                          <a:latin typeface="Arial" panose="020B0604020202020204" pitchFamily="34" charset="0"/>
                          <a:cs typeface="Arial" panose="020B0604020202020204" pitchFamily="34" charset="0"/>
                        </a:rPr>
                        <a:t>organised</a:t>
                      </a:r>
                      <a:r>
                        <a:rPr lang="en-US" sz="1800" dirty="0">
                          <a:effectLst/>
                          <a:latin typeface="Arial" panose="020B0604020202020204" pitchFamily="34" charset="0"/>
                          <a:cs typeface="Arial" panose="020B0604020202020204" pitchFamily="34" charset="0"/>
                        </a:rPr>
                        <a:t> mental representations of the self and others)</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hMerge="1">
                  <a:txBody>
                    <a:bodyPr/>
                    <a:lstStyle/>
                    <a:p>
                      <a:endParaRPr lang="en-GB"/>
                    </a:p>
                  </a:txBody>
                  <a:tcPr/>
                </a:tc>
                <a:extLst>
                  <a:ext uri="{0D108BD9-81ED-4DB2-BD59-A6C34878D82A}"/>
                </a:extLst>
              </a:tr>
              <a:tr h="314692">
                <a:tc>
                  <a:txBody>
                    <a:bodyPr/>
                    <a:lstStyle/>
                    <a:p>
                      <a:pPr algn="ctr">
                        <a:spcAft>
                          <a:spcPts val="0"/>
                        </a:spcAft>
                      </a:pPr>
                      <a:r>
                        <a:rPr lang="en-US" sz="1800" dirty="0">
                          <a:effectLst/>
                          <a:latin typeface="Arial" panose="020B0604020202020204" pitchFamily="34" charset="0"/>
                          <a:cs typeface="Arial" panose="020B0604020202020204" pitchFamily="34" charset="0"/>
                        </a:rPr>
                        <a:t>Positive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spcAft>
                          <a:spcPts val="0"/>
                        </a:spcAft>
                      </a:pPr>
                      <a:r>
                        <a:rPr lang="en-US" sz="1800">
                          <a:effectLst/>
                          <a:latin typeface="Arial" panose="020B0604020202020204" pitchFamily="34" charset="0"/>
                          <a:cs typeface="Arial" panose="020B0604020202020204" pitchFamily="34" charset="0"/>
                        </a:rPr>
                        <a:t>Negative</a:t>
                      </a:r>
                      <a:endParaRPr lang="en-GB" sz="18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extLst>
              </a:tr>
              <a:tr h="1258765">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worthwhile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capable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worthless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unsafe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impotent</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extLst>
              </a:tr>
              <a:tr h="1888148">
                <a:tc>
                  <a:txBody>
                    <a:bodyPr/>
                    <a:lstStyle/>
                    <a:p>
                      <a:pPr>
                        <a:spcAft>
                          <a:spcPts val="0"/>
                        </a:spcAft>
                      </a:pPr>
                      <a:r>
                        <a:rPr lang="en-US" sz="1800" u="sng">
                          <a:effectLst/>
                          <a:latin typeface="Arial" panose="020B0604020202020204" pitchFamily="34" charset="0"/>
                          <a:cs typeface="Arial" panose="020B0604020202020204" pitchFamily="34" charset="0"/>
                        </a:rPr>
                        <a:t>Carers/others</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available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responsive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meet my needs</a:t>
                      </a:r>
                      <a:endParaRPr lang="en-GB" sz="18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err="1">
                          <a:effectLst/>
                          <a:latin typeface="Arial" panose="020B0604020202020204" pitchFamily="34" charset="0"/>
                          <a:cs typeface="Arial" panose="020B0604020202020204" pitchFamily="34" charset="0"/>
                        </a:rPr>
                        <a:t>Carers</a:t>
                      </a:r>
                      <a:r>
                        <a:rPr lang="en-US" sz="1800" u="sng" dirty="0">
                          <a:effectLst/>
                          <a:latin typeface="Arial" panose="020B0604020202020204" pitchFamily="34" charset="0"/>
                          <a:cs typeface="Arial" panose="020B0604020202020204" pitchFamily="34" charset="0"/>
                        </a:rPr>
                        <a:t>/others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unresponsive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unreliable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threatening</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dangerous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rejecting</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extLst>
              </a:tr>
            </a:tbl>
          </a:graphicData>
        </a:graphic>
      </p:graphicFrame>
    </p:spTree>
    <p:extLst>
      <p:ext uri="{BB962C8B-B14F-4D97-AF65-F5344CB8AC3E}">
        <p14:creationId xmlns:p14="http://schemas.microsoft.com/office/powerpoint/2010/main" val="17821536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719138" y="981075"/>
            <a:ext cx="723741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dirty="0" smtClean="0">
                <a:latin typeface="+mj-lt"/>
              </a:rPr>
              <a:t>External </a:t>
            </a:r>
            <a:r>
              <a:rPr lang="en-US" altLang="en-US" sz="3600" dirty="0" smtClean="0">
                <a:latin typeface="+mj-lt"/>
              </a:rPr>
              <a:t>manifestation - </a:t>
            </a:r>
            <a:r>
              <a:rPr lang="en-US" altLang="en-US" sz="3600" dirty="0" smtClean="0">
                <a:latin typeface="+mj-lt"/>
              </a:rPr>
              <a:t>Behaviour</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3600" dirty="0" smtClean="0">
                <a:latin typeface="+mj-lt"/>
                <a:cs typeface="Arial" charset="0"/>
              </a:rPr>
              <a:t>Understanding behaviour associated with insecure patterns of attachment</a:t>
            </a:r>
            <a:endParaRPr lang="en-US" altLang="en-US" dirty="0" smtClean="0">
              <a:latin typeface="+mj-lt"/>
            </a:endParaRPr>
          </a:p>
        </p:txBody>
      </p:sp>
    </p:spTree>
    <p:extLst>
      <p:ext uri="{BB962C8B-B14F-4D97-AF65-F5344CB8AC3E}">
        <p14:creationId xmlns:p14="http://schemas.microsoft.com/office/powerpoint/2010/main" val="16242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None/>
              <a:defRPr/>
            </a:pPr>
            <a:r>
              <a:rPr lang="en-GB" altLang="en-US" sz="4400" b="1" smtClean="0">
                <a:solidFill>
                  <a:srgbClr val="FF6600"/>
                </a:solidFill>
              </a:rPr>
              <a:t>BEHAVIOUR HAS MEANING</a:t>
            </a:r>
          </a:p>
          <a:p>
            <a:pPr>
              <a:defRPr/>
            </a:pPr>
            <a:endParaRPr lang="en-GB" altLang="en-US" smtClean="0"/>
          </a:p>
          <a:p>
            <a:pPr>
              <a:defRPr/>
            </a:pPr>
            <a:r>
              <a:rPr lang="en-GB" altLang="en-US" smtClean="0"/>
              <a:t>A </a:t>
            </a:r>
            <a:r>
              <a:rPr lang="en-GB" altLang="en-US" b="1" i="1" smtClean="0">
                <a:solidFill>
                  <a:srgbClr val="FF6600"/>
                </a:solidFill>
              </a:rPr>
              <a:t>trigger</a:t>
            </a:r>
            <a:r>
              <a:rPr lang="en-GB" altLang="en-US" smtClean="0"/>
              <a:t> activates the </a:t>
            </a:r>
            <a:r>
              <a:rPr lang="en-GB" altLang="en-US" b="1" i="1" smtClean="0">
                <a:solidFill>
                  <a:srgbClr val="FF6600"/>
                </a:solidFill>
              </a:rPr>
              <a:t>attachment system </a:t>
            </a:r>
            <a:r>
              <a:rPr lang="en-GB" altLang="en-US" smtClean="0"/>
              <a:t>and generates </a:t>
            </a:r>
            <a:r>
              <a:rPr lang="en-GB" altLang="en-US" b="1" i="1" smtClean="0">
                <a:solidFill>
                  <a:srgbClr val="FF6600"/>
                </a:solidFill>
              </a:rPr>
              <a:t>attachment behaviours</a:t>
            </a:r>
            <a:r>
              <a:rPr lang="en-GB" altLang="en-US" smtClean="0"/>
              <a:t> to bring the </a:t>
            </a:r>
            <a:r>
              <a:rPr lang="en-GB" altLang="en-US" b="1" i="1" smtClean="0">
                <a:solidFill>
                  <a:srgbClr val="FF6600"/>
                </a:solidFill>
              </a:rPr>
              <a:t>attachment figure </a:t>
            </a:r>
            <a:r>
              <a:rPr lang="en-GB" altLang="en-US" smtClean="0"/>
              <a:t>close and restore a sense of </a:t>
            </a:r>
            <a:r>
              <a:rPr lang="en-GB" altLang="en-US" b="1" i="1" smtClean="0">
                <a:solidFill>
                  <a:srgbClr val="FF6600"/>
                </a:solidFill>
              </a:rPr>
              <a:t>safety</a:t>
            </a:r>
            <a:endParaRPr lang="en-US" altLang="en-US" b="1" i="1" smtClean="0">
              <a:solidFill>
                <a:srgbClr val="FF6600"/>
              </a:solidFill>
            </a:endParaRPr>
          </a:p>
          <a:p>
            <a:pPr marL="0" indent="0">
              <a:buFontTx/>
              <a:buNone/>
              <a:defRPr/>
            </a:pPr>
            <a:endParaRPr lang="en-GB" dirty="0"/>
          </a:p>
        </p:txBody>
      </p:sp>
    </p:spTree>
    <p:extLst>
      <p:ext uri="{BB962C8B-B14F-4D97-AF65-F5344CB8AC3E}">
        <p14:creationId xmlns:p14="http://schemas.microsoft.com/office/powerpoint/2010/main" val="17641976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6"/>
          <p:cNvSpPr txBox="1">
            <a:spLocks/>
          </p:cNvSpPr>
          <p:nvPr/>
        </p:nvSpPr>
        <p:spPr>
          <a:xfrm>
            <a:off x="685800" y="2051050"/>
            <a:ext cx="8001000" cy="4114800"/>
          </a:xfrm>
          <a:prstGeom prst="rect">
            <a:avLst/>
          </a:prstGeom>
        </p:spPr>
        <p:txBody>
          <a:bodyPr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Tx/>
              <a:buNone/>
              <a:defRPr/>
            </a:pPr>
            <a:r>
              <a:rPr lang="en-GB" altLang="en-US" smtClean="0"/>
              <a:t>“The less secure child may have so much uncertainty about the availability of the attachment figure that he/ she is preoccupied with keeping proximity to the detriment of exploration activity”</a:t>
            </a:r>
          </a:p>
          <a:p>
            <a:pPr marL="0" indent="0" algn="ctr">
              <a:buFontTx/>
              <a:buNone/>
              <a:defRPr/>
            </a:pPr>
            <a:endParaRPr lang="en-GB" altLang="en-US" sz="1800" smtClean="0"/>
          </a:p>
          <a:p>
            <a:pPr marL="0" indent="0" algn="ctr">
              <a:buFontTx/>
              <a:buNone/>
              <a:defRPr/>
            </a:pPr>
            <a:endParaRPr lang="en-GB" altLang="en-US" sz="1800" smtClean="0"/>
          </a:p>
          <a:p>
            <a:pPr marL="0" indent="0" algn="ctr">
              <a:buFontTx/>
              <a:buNone/>
              <a:defRPr/>
            </a:pPr>
            <a:endParaRPr lang="en-GB" altLang="en-US" sz="1800" smtClean="0"/>
          </a:p>
          <a:p>
            <a:pPr marL="0" indent="0" algn="r">
              <a:buFontTx/>
              <a:buNone/>
              <a:defRPr/>
            </a:pPr>
            <a:r>
              <a:rPr lang="en-GB" altLang="en-US" sz="1800" smtClean="0"/>
              <a:t>(Ainsworth et al) </a:t>
            </a:r>
            <a:endParaRPr lang="en-GB" altLang="en-US" sz="1800" i="1" smtClean="0">
              <a:solidFill>
                <a:srgbClr val="00B0F0"/>
              </a:solidFill>
            </a:endParaRPr>
          </a:p>
          <a:p>
            <a:pPr>
              <a:defRPr/>
            </a:pPr>
            <a:endParaRPr lang="en-US" dirty="0" smtClean="0"/>
          </a:p>
        </p:txBody>
      </p:sp>
    </p:spTree>
    <p:extLst>
      <p:ext uri="{BB962C8B-B14F-4D97-AF65-F5344CB8AC3E}">
        <p14:creationId xmlns:p14="http://schemas.microsoft.com/office/powerpoint/2010/main" val="238741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ox(in)">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dirty="0" smtClean="0"/>
              <a:t>Caregiving  experience</a:t>
            </a:r>
          </a:p>
          <a:p>
            <a:pPr>
              <a:defRPr/>
            </a:pPr>
            <a:r>
              <a:rPr lang="en-GB" altLang="en-US" dirty="0" smtClean="0"/>
              <a:t>Internal working model</a:t>
            </a:r>
          </a:p>
          <a:p>
            <a:pPr>
              <a:defRPr/>
            </a:pPr>
            <a:r>
              <a:rPr lang="en-GB" altLang="en-US" dirty="0" smtClean="0"/>
              <a:t>Behaviours</a:t>
            </a:r>
          </a:p>
          <a:p>
            <a:pPr>
              <a:defRPr/>
            </a:pPr>
            <a:r>
              <a:rPr lang="en-GB" altLang="en-US" dirty="0" smtClean="0"/>
              <a:t>Possible indicators to look out for  in school.  </a:t>
            </a:r>
          </a:p>
          <a:p>
            <a:pPr marL="0" indent="0">
              <a:buFontTx/>
              <a:buNone/>
              <a:defRPr/>
            </a:pPr>
            <a:endParaRPr lang="en-GB" dirty="0"/>
          </a:p>
        </p:txBody>
      </p:sp>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t>Putting it all together</a:t>
            </a:r>
            <a:endParaRPr lang="en-US" altLang="en-US" dirty="0" smtClean="0"/>
          </a:p>
        </p:txBody>
      </p:sp>
    </p:spTree>
    <p:extLst>
      <p:ext uri="{BB962C8B-B14F-4D97-AF65-F5344CB8AC3E}">
        <p14:creationId xmlns:p14="http://schemas.microsoft.com/office/powerpoint/2010/main" val="342531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Avoidant</a:t>
            </a:r>
            <a:endParaRPr lang="en-US" altLang="en-US" dirty="0" smtClean="0"/>
          </a:p>
        </p:txBody>
      </p:sp>
      <p:sp>
        <p:nvSpPr>
          <p:cNvPr id="3"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1800" dirty="0" smtClean="0"/>
              <a:t>Organised around </a:t>
            </a:r>
          </a:p>
          <a:p>
            <a:pPr lvl="1">
              <a:defRPr/>
            </a:pPr>
            <a:r>
              <a:rPr lang="en-GB" altLang="en-US" sz="1600" dirty="0" smtClean="0">
                <a:solidFill>
                  <a:srgbClr val="FF6600"/>
                </a:solidFill>
              </a:rPr>
              <a:t>Caregiving: </a:t>
            </a:r>
            <a:r>
              <a:rPr lang="en-GB" altLang="en-US" sz="1600" dirty="0" smtClean="0"/>
              <a:t>consistent unavailability of mother and needs consistently not met (e.g. depressed mother, preoccupied mother, emotionally dismissive or avoidant mother)</a:t>
            </a:r>
          </a:p>
          <a:p>
            <a:pPr lvl="1">
              <a:defRPr/>
            </a:pPr>
            <a:r>
              <a:rPr lang="en-GB" altLang="en-US" sz="1600" dirty="0" smtClean="0">
                <a:solidFill>
                  <a:srgbClr val="FF6600"/>
                </a:solidFill>
              </a:rPr>
              <a:t>Internal Working model: </a:t>
            </a:r>
            <a:r>
              <a:rPr lang="en-GB" altLang="en-US" sz="1600" dirty="0" smtClean="0"/>
              <a:t>others are not available and reject me.  I will try not to need them even though I do; I cannot be helpless or be reminded of my own vulnerability.  There must be something wrong with me for my mother to reject me.  I am so angry and scared but know I have to rely on myself and nobody else.</a:t>
            </a:r>
          </a:p>
          <a:p>
            <a:pPr lvl="1">
              <a:defRPr/>
            </a:pPr>
            <a:r>
              <a:rPr lang="en-GB" altLang="en-US" sz="1600" dirty="0" smtClean="0">
                <a:solidFill>
                  <a:srgbClr val="FF6600"/>
                </a:solidFill>
              </a:rPr>
              <a:t>Behaviours: </a:t>
            </a:r>
            <a:r>
              <a:rPr lang="en-GB" altLang="en-US" sz="1600" dirty="0" smtClean="0"/>
              <a:t>avoid or ignore contact with the attachment figure and seek to manage self, usually by denying and suppressing feelings, trying to get away from the situation, or directing anger elsewhere.</a:t>
            </a:r>
          </a:p>
          <a:p>
            <a:pPr lvl="1">
              <a:buFont typeface="Arial" panose="020B0604020202020204" pitchFamily="34" charset="0"/>
              <a:buNone/>
              <a:defRPr/>
            </a:pPr>
            <a:endParaRPr lang="en-GB" altLang="en-US" sz="1600" dirty="0" smtClean="0"/>
          </a:p>
          <a:p>
            <a:pPr>
              <a:defRPr/>
            </a:pPr>
            <a:r>
              <a:rPr lang="en-GB" altLang="en-US" sz="1800" dirty="0" smtClean="0">
                <a:solidFill>
                  <a:srgbClr val="FF6600"/>
                </a:solidFill>
              </a:rPr>
              <a:t>Indicators in school:  </a:t>
            </a:r>
            <a:r>
              <a:rPr lang="en-GB" altLang="en-US" sz="1800" dirty="0" smtClean="0"/>
              <a:t>Withdrawn, socially isolated, appears self-sufficient, rejects or avoids help, bullying others, cannot tolerate vulnerability or positive praise.</a:t>
            </a:r>
          </a:p>
          <a:p>
            <a:pPr marL="0" indent="0">
              <a:buFontTx/>
              <a:buNone/>
              <a:defRPr/>
            </a:pPr>
            <a:endParaRPr lang="en-GB" dirty="0"/>
          </a:p>
        </p:txBody>
      </p:sp>
    </p:spTree>
    <p:extLst>
      <p:ext uri="{BB962C8B-B14F-4D97-AF65-F5344CB8AC3E}">
        <p14:creationId xmlns:p14="http://schemas.microsoft.com/office/powerpoint/2010/main" val="40951585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Ambivalent</a:t>
            </a:r>
            <a:endParaRPr lang="en-US" altLang="en-US" dirty="0" smtClean="0"/>
          </a:p>
        </p:txBody>
      </p:sp>
      <p:sp>
        <p:nvSpPr>
          <p:cNvPr id="3"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1600" smtClean="0"/>
              <a:t>Organised around </a:t>
            </a:r>
          </a:p>
          <a:p>
            <a:pPr lvl="1">
              <a:defRPr/>
            </a:pPr>
            <a:r>
              <a:rPr lang="en-GB" altLang="en-US" sz="1400" smtClean="0">
                <a:solidFill>
                  <a:srgbClr val="FF6600"/>
                </a:solidFill>
              </a:rPr>
              <a:t>Caregiving: </a:t>
            </a:r>
            <a:r>
              <a:rPr lang="en-GB" altLang="en-US" sz="1400" smtClean="0"/>
              <a:t>responses to child’s needs are inconsistent and intrusive, and needs consistently not met (e.g. emotionally insensitive and misattuned mother, overwhelming and unresolved needs in the mother taking precedence over the child’s needs)</a:t>
            </a:r>
          </a:p>
          <a:p>
            <a:pPr lvl="1">
              <a:defRPr/>
            </a:pPr>
            <a:r>
              <a:rPr lang="en-GB" altLang="en-US" sz="1400" smtClean="0">
                <a:solidFill>
                  <a:srgbClr val="FF6600"/>
                </a:solidFill>
              </a:rPr>
              <a:t>Internal Working model:  </a:t>
            </a:r>
            <a:r>
              <a:rPr lang="en-GB" altLang="en-US" sz="1400" smtClean="0"/>
              <a:t>I cannot trust another to meet my needs and yet I cannot be alone.  I need to constantly read what is going on around me so that I can adapt and keep people close. My value in this world lies in how valuable I am to another, and yet I can become really angry that others don’t see ME.  I need to be close to someone in order to hold myself together and I am scared I will disintegrate without them.</a:t>
            </a:r>
          </a:p>
          <a:p>
            <a:pPr lvl="1">
              <a:defRPr/>
            </a:pPr>
            <a:r>
              <a:rPr lang="en-GB" altLang="en-US" sz="1400" smtClean="0">
                <a:solidFill>
                  <a:srgbClr val="FF6600"/>
                </a:solidFill>
              </a:rPr>
              <a:t>Behaviours: </a:t>
            </a:r>
            <a:r>
              <a:rPr lang="en-GB" altLang="en-US" sz="1400" smtClean="0"/>
              <a:t>Seeking proximity and resisting separation yet anxious even when in caregiver’s presence….Ambivalence -actively seeks closeness with over-clingy and submissive behaviours towards the caregiver, and then becomes angry, rejecting and controlling of them.</a:t>
            </a:r>
            <a:endParaRPr lang="en-GB" altLang="en-US" sz="1400" smtClean="0">
              <a:solidFill>
                <a:srgbClr val="FF6600"/>
              </a:solidFill>
            </a:endParaRPr>
          </a:p>
          <a:p>
            <a:pPr lvl="1">
              <a:buFont typeface="Arial" panose="020B0604020202020204" pitchFamily="34" charset="0"/>
              <a:buNone/>
              <a:defRPr/>
            </a:pPr>
            <a:endParaRPr lang="en-GB" altLang="en-US" sz="1400" smtClean="0"/>
          </a:p>
          <a:p>
            <a:pPr>
              <a:defRPr/>
            </a:pPr>
            <a:r>
              <a:rPr lang="en-GB" altLang="en-US" sz="1600" smtClean="0">
                <a:solidFill>
                  <a:srgbClr val="FF6600"/>
                </a:solidFill>
              </a:rPr>
              <a:t>Indicators in school:  </a:t>
            </a:r>
            <a:r>
              <a:rPr lang="en-GB" altLang="en-US" sz="1600" smtClean="0"/>
              <a:t>Poor school attendance, frequent illness (emotions are experienced bodily – ‘somatised’ – rather than endured), anxiety, wanting an adult close all the time, inappropriate boundaries (enmeshing), taking care of others (including the teacher), controlling and bossy behaviour, hostility towards teacher.</a:t>
            </a:r>
          </a:p>
          <a:p>
            <a:pPr>
              <a:defRPr/>
            </a:pPr>
            <a:endParaRPr lang="en-US" altLang="en-US" sz="2800" smtClean="0"/>
          </a:p>
          <a:p>
            <a:pPr marL="0" indent="0">
              <a:buFontTx/>
              <a:buNone/>
              <a:defRPr/>
            </a:pPr>
            <a:endParaRPr lang="en-GB" dirty="0"/>
          </a:p>
        </p:txBody>
      </p:sp>
    </p:spTree>
    <p:extLst>
      <p:ext uri="{BB962C8B-B14F-4D97-AF65-F5344CB8AC3E}">
        <p14:creationId xmlns:p14="http://schemas.microsoft.com/office/powerpoint/2010/main" val="18620934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Disorganised</a:t>
            </a:r>
            <a:endParaRPr lang="en-US" altLang="en-US" dirty="0" smtClean="0"/>
          </a:p>
        </p:txBody>
      </p:sp>
      <p:sp>
        <p:nvSpPr>
          <p:cNvPr id="4"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1600" smtClean="0"/>
              <a:t>Disorganised</a:t>
            </a:r>
          </a:p>
          <a:p>
            <a:pPr lvl="1">
              <a:defRPr/>
            </a:pPr>
            <a:r>
              <a:rPr lang="en-GB" altLang="en-US" sz="1400" smtClean="0">
                <a:solidFill>
                  <a:srgbClr val="FF6600"/>
                </a:solidFill>
              </a:rPr>
              <a:t>Caregiving: </a:t>
            </a:r>
            <a:r>
              <a:rPr lang="en-GB" altLang="en-US" sz="1400" smtClean="0"/>
              <a:t>Inconsistency in the caregiving and environment as a whole where relationship is dominated by high levels of stress and distress (e.g. abusive or neglectful caregiving, periods of major pre-occupation or emotional absence, abandonment, frequent change and/or lack of continuity in caregiving)</a:t>
            </a:r>
          </a:p>
          <a:p>
            <a:pPr lvl="1">
              <a:defRPr/>
            </a:pPr>
            <a:r>
              <a:rPr lang="en-GB" altLang="en-US" sz="1400" smtClean="0">
                <a:solidFill>
                  <a:srgbClr val="FF6600"/>
                </a:solidFill>
              </a:rPr>
              <a:t>Internal Working model:  </a:t>
            </a:r>
            <a:r>
              <a:rPr lang="en-GB" altLang="en-US" sz="1400" smtClean="0"/>
              <a:t>I am bad and not at all worthy of love or care.  The world is dangerous and hostile and nobody cares about me.  I have to survive at whatever cost</a:t>
            </a:r>
          </a:p>
          <a:p>
            <a:pPr lvl="1">
              <a:defRPr/>
            </a:pPr>
            <a:r>
              <a:rPr lang="en-GB" altLang="en-US" sz="1400" smtClean="0">
                <a:solidFill>
                  <a:srgbClr val="FF6600"/>
                </a:solidFill>
              </a:rPr>
              <a:t>Behaviours: </a:t>
            </a:r>
            <a:r>
              <a:rPr lang="en-GB" altLang="en-US" sz="1400" smtClean="0"/>
              <a:t>Disorientated and not consistent.  Elements of avoidant and ambivalent styles evident but in no predictable pattern. Considerable hyper-vigilance in the face of uncontained anxiety and fear.  High state of arousal with no means of regulating – behaviour entirely focused upon survival and defending against overwhelming fear and uncertainty (from inside and outside self).</a:t>
            </a:r>
            <a:endParaRPr lang="en-GB" altLang="en-US" sz="1400" smtClean="0">
              <a:solidFill>
                <a:srgbClr val="FF6600"/>
              </a:solidFill>
            </a:endParaRPr>
          </a:p>
          <a:p>
            <a:pPr lvl="1">
              <a:buFont typeface="Arial" panose="020B0604020202020204" pitchFamily="34" charset="0"/>
              <a:buNone/>
              <a:defRPr/>
            </a:pPr>
            <a:endParaRPr lang="en-GB" altLang="en-US" sz="1400" smtClean="0"/>
          </a:p>
          <a:p>
            <a:pPr>
              <a:defRPr/>
            </a:pPr>
            <a:r>
              <a:rPr lang="en-GB" altLang="en-US" sz="1600" smtClean="0">
                <a:solidFill>
                  <a:srgbClr val="FF6600"/>
                </a:solidFill>
              </a:rPr>
              <a:t>Indicators in school:  </a:t>
            </a:r>
            <a:r>
              <a:rPr lang="en-GB" altLang="en-US" sz="1600" smtClean="0"/>
              <a:t>Looked after child, poor memory and concentration, intense anxiety, always on alert and distracted by slightest thing, aggression and violence, anger/rage, lack of empathy, insensitivity to others, bullying, trouble making, stealing, sudden eruption of behaviour, over-sensitive to criticism or correction, never seems happy or settled.</a:t>
            </a:r>
          </a:p>
          <a:p>
            <a:pPr>
              <a:defRPr/>
            </a:pPr>
            <a:endParaRPr lang="en-US" altLang="en-US" sz="2800" smtClean="0"/>
          </a:p>
          <a:p>
            <a:pPr marL="0" indent="0">
              <a:buFontTx/>
              <a:buNone/>
              <a:defRPr/>
            </a:pPr>
            <a:endParaRPr lang="en-GB" dirty="0"/>
          </a:p>
        </p:txBody>
      </p:sp>
    </p:spTree>
    <p:extLst>
      <p:ext uri="{BB962C8B-B14F-4D97-AF65-F5344CB8AC3E}">
        <p14:creationId xmlns:p14="http://schemas.microsoft.com/office/powerpoint/2010/main" val="81840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solidFill>
                  <a:srgbClr val="FF6600"/>
                </a:solidFill>
              </a:rPr>
              <a:t>Recipe for learning</a:t>
            </a:r>
            <a:endParaRPr lang="en-US" altLang="en-US" dirty="0" smtClean="0"/>
          </a:p>
        </p:txBody>
      </p:sp>
      <p:sp>
        <p:nvSpPr>
          <p:cNvPr id="3" name="Content Placeholder 1"/>
          <p:cNvSpPr txBox="1">
            <a:spLocks/>
          </p:cNvSpPr>
          <p:nvPr/>
        </p:nvSpPr>
        <p:spPr>
          <a:xfrm>
            <a:off x="685800" y="1557338"/>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endParaRPr lang="en-US" altLang="en-US" sz="2800" smtClean="0"/>
          </a:p>
          <a:p>
            <a:pPr>
              <a:buFont typeface="Wingdings" panose="05000000000000000000" pitchFamily="2" charset="2"/>
              <a:buChar char="ü"/>
              <a:defRPr/>
            </a:pPr>
            <a:r>
              <a:rPr lang="en-GB" altLang="en-US" smtClean="0"/>
              <a:t>Development of the capacity to think</a:t>
            </a:r>
          </a:p>
          <a:p>
            <a:pPr>
              <a:buFont typeface="Wingdings" panose="05000000000000000000" pitchFamily="2" charset="2"/>
              <a:buChar char="ü"/>
              <a:defRPr/>
            </a:pPr>
            <a:r>
              <a:rPr lang="en-GB" altLang="en-US" smtClean="0"/>
              <a:t>Secure base enables the move from the attachment system to exploration</a:t>
            </a:r>
          </a:p>
          <a:p>
            <a:pPr>
              <a:buFont typeface="Wingdings" panose="05000000000000000000" pitchFamily="2" charset="2"/>
              <a:buChar char="ü"/>
              <a:defRPr/>
            </a:pPr>
            <a:r>
              <a:rPr lang="en-GB" altLang="en-US" smtClean="0"/>
              <a:t>Positive sense of self and of others (peers and adults)</a:t>
            </a:r>
          </a:p>
          <a:p>
            <a:pPr>
              <a:buFont typeface="Wingdings" panose="05000000000000000000" pitchFamily="2" charset="2"/>
              <a:buChar char="ü"/>
              <a:defRPr/>
            </a:pPr>
            <a:r>
              <a:rPr lang="en-GB" altLang="en-US" smtClean="0"/>
              <a:t>Positive and attuned input from key adults to ensure task is appropriate for ability</a:t>
            </a:r>
          </a:p>
          <a:p>
            <a:pPr marL="0" indent="0">
              <a:buFontTx/>
              <a:buNone/>
              <a:defRPr/>
            </a:pPr>
            <a:endParaRPr lang="en-GB" dirty="0"/>
          </a:p>
        </p:txBody>
      </p:sp>
    </p:spTree>
    <p:extLst>
      <p:ext uri="{BB962C8B-B14F-4D97-AF65-F5344CB8AC3E}">
        <p14:creationId xmlns:p14="http://schemas.microsoft.com/office/powerpoint/2010/main" val="13280374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1400" dirty="0">
                <a:solidFill>
                  <a:schemeClr val="bg1"/>
                </a:solidFill>
                <a:latin typeface="Arial Black" pitchFamily="34" charset="0"/>
                <a:ea typeface="ＭＳ Ｐゴシック" pitchFamily="34" charset="-128"/>
              </a:rPr>
              <a:t>E D U C A T I O N A L   P S Y C H O L O G </a:t>
            </a:r>
            <a:r>
              <a:rPr lang="en-US" altLang="en-US" sz="1400" dirty="0" smtClean="0">
                <a:solidFill>
                  <a:schemeClr val="bg1"/>
                </a:solidFill>
                <a:latin typeface="Arial Black" pitchFamily="34" charset="0"/>
                <a:ea typeface="ＭＳ Ｐゴシック" pitchFamily="34" charset="-128"/>
              </a:rPr>
              <a:t> </a:t>
            </a:r>
            <a:r>
              <a:rPr lang="en-US" altLang="en-US" sz="1400" dirty="0">
                <a:solidFill>
                  <a:schemeClr val="bg1"/>
                </a:solidFill>
                <a:latin typeface="Arial Black" pitchFamily="34" charset="0"/>
                <a:ea typeface="ＭＳ Ｐゴシック" pitchFamily="34" charset="-128"/>
              </a:rPr>
              <a:t>S E R V I C E</a:t>
            </a:r>
          </a:p>
        </p:txBody>
      </p:sp>
      <p:sp>
        <p:nvSpPr>
          <p:cNvPr id="7175" name="Rectangle 7"/>
          <p:cNvSpPr>
            <a:spLocks noChangeArrowheads="1"/>
          </p:cNvSpPr>
          <p:nvPr/>
        </p:nvSpPr>
        <p:spPr bwMode="auto">
          <a:xfrm>
            <a:off x="719138" y="1012825"/>
            <a:ext cx="77057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30727" name="Text Box 13"/>
          <p:cNvSpPr txBox="1">
            <a:spLocks noChangeArrowheads="1"/>
          </p:cNvSpPr>
          <p:nvPr/>
        </p:nvSpPr>
        <p:spPr bwMode="auto">
          <a:xfrm>
            <a:off x="1619250" y="981075"/>
            <a:ext cx="51847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a:latin typeface="Arial" charset="0"/>
              </a:rPr>
              <a:t>Attachment and learning</a:t>
            </a:r>
          </a:p>
        </p:txBody>
      </p:sp>
      <p:cxnSp>
        <p:nvCxnSpPr>
          <p:cNvPr id="10" name="Straight Arrow Connector 9"/>
          <p:cNvCxnSpPr/>
          <p:nvPr/>
        </p:nvCxnSpPr>
        <p:spPr>
          <a:xfrm rot="5400000" flipH="1" flipV="1">
            <a:off x="2303463" y="2528887"/>
            <a:ext cx="1944688" cy="1439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2159000" y="2457451"/>
            <a:ext cx="1944687" cy="14398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30" name="TextBox 15"/>
          <p:cNvSpPr txBox="1">
            <a:spLocks noChangeArrowheads="1"/>
          </p:cNvSpPr>
          <p:nvPr/>
        </p:nvSpPr>
        <p:spPr bwMode="auto">
          <a:xfrm>
            <a:off x="3852863" y="1700213"/>
            <a:ext cx="1223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2400">
                <a:latin typeface="Arial" charset="0"/>
              </a:rPr>
              <a:t>PUPIL</a:t>
            </a:r>
            <a:endParaRPr lang="en-US" altLang="en-US" sz="2400">
              <a:latin typeface="Arial" charset="0"/>
            </a:endParaRPr>
          </a:p>
        </p:txBody>
      </p:sp>
      <p:sp>
        <p:nvSpPr>
          <p:cNvPr id="30731" name="TextBox 18"/>
          <p:cNvSpPr txBox="1">
            <a:spLocks noChangeArrowheads="1"/>
          </p:cNvSpPr>
          <p:nvPr/>
        </p:nvSpPr>
        <p:spPr bwMode="auto">
          <a:xfrm>
            <a:off x="971550" y="4356100"/>
            <a:ext cx="2087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2400">
                <a:latin typeface="Arial" charset="0"/>
              </a:rPr>
              <a:t>TEACHER</a:t>
            </a:r>
            <a:endParaRPr lang="en-US" altLang="en-US" sz="2400">
              <a:latin typeface="Arial" charset="0"/>
            </a:endParaRPr>
          </a:p>
        </p:txBody>
      </p:sp>
      <p:cxnSp>
        <p:nvCxnSpPr>
          <p:cNvPr id="14" name="Straight Arrow Connector 13"/>
          <p:cNvCxnSpPr/>
          <p:nvPr/>
        </p:nvCxnSpPr>
        <p:spPr>
          <a:xfrm rot="16200000" flipH="1">
            <a:off x="4716463" y="2492375"/>
            <a:ext cx="2016125"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V="1">
            <a:off x="4572000" y="2565400"/>
            <a:ext cx="2016125"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34" name="TextBox 31"/>
          <p:cNvSpPr txBox="1">
            <a:spLocks noChangeArrowheads="1"/>
          </p:cNvSpPr>
          <p:nvPr/>
        </p:nvSpPr>
        <p:spPr bwMode="auto">
          <a:xfrm>
            <a:off x="6372225" y="4427538"/>
            <a:ext cx="1189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2400">
                <a:latin typeface="Arial" charset="0"/>
              </a:rPr>
              <a:t>TASK</a:t>
            </a:r>
            <a:endParaRPr lang="en-US" altLang="en-US" sz="2400">
              <a:latin typeface="Arial" charset="0"/>
            </a:endParaRPr>
          </a:p>
        </p:txBody>
      </p:sp>
      <p:cxnSp>
        <p:nvCxnSpPr>
          <p:cNvPr id="17" name="Straight Arrow Connector 16"/>
          <p:cNvCxnSpPr/>
          <p:nvPr/>
        </p:nvCxnSpPr>
        <p:spPr>
          <a:xfrm flipV="1">
            <a:off x="2771775" y="4652963"/>
            <a:ext cx="3384550" cy="730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771775" y="4508500"/>
            <a:ext cx="3313113" cy="39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37" name="TextBox 48"/>
          <p:cNvSpPr txBox="1">
            <a:spLocks noChangeArrowheads="1"/>
          </p:cNvSpPr>
          <p:nvPr/>
        </p:nvSpPr>
        <p:spPr bwMode="auto">
          <a:xfrm>
            <a:off x="3563938" y="3213100"/>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GB" altLang="en-US" sz="2400" b="1">
                <a:solidFill>
                  <a:schemeClr val="tx2"/>
                </a:solidFill>
                <a:latin typeface="Arial" charset="0"/>
              </a:rPr>
              <a:t>The Learning Triangle</a:t>
            </a:r>
            <a:endParaRPr lang="en-US" altLang="en-US" sz="2400" b="1">
              <a:solidFill>
                <a:schemeClr val="tx2"/>
              </a:solidFill>
              <a:latin typeface="Arial" charset="0"/>
            </a:endParaRPr>
          </a:p>
        </p:txBody>
      </p:sp>
      <p:sp>
        <p:nvSpPr>
          <p:cNvPr id="30738" name="TextBox 8"/>
          <p:cNvSpPr txBox="1">
            <a:spLocks noChangeArrowheads="1"/>
          </p:cNvSpPr>
          <p:nvPr/>
        </p:nvSpPr>
        <p:spPr bwMode="auto">
          <a:xfrm>
            <a:off x="6276975" y="5445125"/>
            <a:ext cx="2543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GB" altLang="en-US" sz="2400"/>
              <a:t>(Geddes 2006, p.4)</a:t>
            </a:r>
          </a:p>
        </p:txBody>
      </p:sp>
    </p:spTree>
    <p:extLst>
      <p:ext uri="{BB962C8B-B14F-4D97-AF65-F5344CB8AC3E}">
        <p14:creationId xmlns:p14="http://schemas.microsoft.com/office/powerpoint/2010/main" val="2879307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7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85800" y="188913"/>
            <a:ext cx="7772400" cy="1143000"/>
          </a:xfrm>
        </p:spPr>
        <p:txBody>
          <a:bodyPr/>
          <a:lstStyle/>
          <a:p>
            <a:r>
              <a:rPr lang="en-GB" altLang="en-US" sz="3600" smtClean="0"/>
              <a:t>Attachment and Exploration</a:t>
            </a:r>
            <a:endParaRPr lang="en-US" altLang="en-US" sz="3600" smtClean="0"/>
          </a:p>
        </p:txBody>
      </p:sp>
      <p:sp>
        <p:nvSpPr>
          <p:cNvPr id="24579"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F6A1A1BD-DDF9-4469-B76E-D87EE26154DC}" type="slidenum">
              <a:rPr lang="en-US" altLang="en-US" sz="1400">
                <a:solidFill>
                  <a:srgbClr val="FF6600"/>
                </a:solidFill>
                <a:latin typeface="Arial" charset="0"/>
              </a:rPr>
              <a:pPr>
                <a:spcBef>
                  <a:spcPct val="0"/>
                </a:spcBef>
                <a:buFontTx/>
                <a:buNone/>
              </a:pPr>
              <a:t>28</a:t>
            </a:fld>
            <a:endParaRPr lang="en-US" altLang="en-US" sz="1400">
              <a:solidFill>
                <a:srgbClr val="FF6600"/>
              </a:solidFill>
              <a:latin typeface="Arial" charset="0"/>
            </a:endParaRPr>
          </a:p>
        </p:txBody>
      </p:sp>
      <p:cxnSp>
        <p:nvCxnSpPr>
          <p:cNvPr id="11" name="Straight Arrow Connector 10"/>
          <p:cNvCxnSpPr/>
          <p:nvPr/>
        </p:nvCxnSpPr>
        <p:spPr>
          <a:xfrm rot="5400000" flipH="1" flipV="1">
            <a:off x="2303463" y="2528887"/>
            <a:ext cx="1944688" cy="1439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a:off x="2159000" y="2457451"/>
            <a:ext cx="1944687" cy="14398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582" name="TextBox 15"/>
          <p:cNvSpPr txBox="1">
            <a:spLocks noChangeArrowheads="1"/>
          </p:cNvSpPr>
          <p:nvPr/>
        </p:nvSpPr>
        <p:spPr bwMode="auto">
          <a:xfrm>
            <a:off x="4067175" y="1916113"/>
            <a:ext cx="865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200">
                <a:latin typeface="Arial" charset="0"/>
              </a:rPr>
              <a:t>PUPIL</a:t>
            </a:r>
            <a:endParaRPr lang="en-US" altLang="en-US" sz="1200">
              <a:latin typeface="Arial" charset="0"/>
            </a:endParaRPr>
          </a:p>
        </p:txBody>
      </p:sp>
      <p:sp>
        <p:nvSpPr>
          <p:cNvPr id="24583" name="TextBox 18"/>
          <p:cNvSpPr txBox="1">
            <a:spLocks noChangeArrowheads="1"/>
          </p:cNvSpPr>
          <p:nvPr/>
        </p:nvSpPr>
        <p:spPr bwMode="auto">
          <a:xfrm>
            <a:off x="1763713" y="4356100"/>
            <a:ext cx="1295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a:latin typeface="Arial" charset="0"/>
              </a:rPr>
              <a:t>TEACHER</a:t>
            </a:r>
            <a:endParaRPr lang="en-US" altLang="en-US" sz="1400">
              <a:latin typeface="Arial" charset="0"/>
            </a:endParaRPr>
          </a:p>
        </p:txBody>
      </p:sp>
      <p:cxnSp>
        <p:nvCxnSpPr>
          <p:cNvPr id="27" name="Straight Arrow Connector 26"/>
          <p:cNvCxnSpPr/>
          <p:nvPr/>
        </p:nvCxnSpPr>
        <p:spPr>
          <a:xfrm rot="16200000" flipH="1">
            <a:off x="4716463" y="2492375"/>
            <a:ext cx="2016125"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V="1">
            <a:off x="4572000" y="2565400"/>
            <a:ext cx="2016125"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586" name="TextBox 31"/>
          <p:cNvSpPr txBox="1">
            <a:spLocks noChangeArrowheads="1"/>
          </p:cNvSpPr>
          <p:nvPr/>
        </p:nvSpPr>
        <p:spPr bwMode="auto">
          <a:xfrm>
            <a:off x="6372225" y="4427538"/>
            <a:ext cx="93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a:latin typeface="Arial" charset="0"/>
              </a:rPr>
              <a:t>TASK</a:t>
            </a:r>
            <a:endParaRPr lang="en-US" altLang="en-US" sz="1400">
              <a:latin typeface="Arial" charset="0"/>
            </a:endParaRPr>
          </a:p>
        </p:txBody>
      </p:sp>
      <p:cxnSp>
        <p:nvCxnSpPr>
          <p:cNvPr id="37" name="Straight Arrow Connector 36"/>
          <p:cNvCxnSpPr/>
          <p:nvPr/>
        </p:nvCxnSpPr>
        <p:spPr>
          <a:xfrm flipV="1">
            <a:off x="3059113" y="4652963"/>
            <a:ext cx="3097212" cy="31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24583" idx="3"/>
          </p:cNvCxnSpPr>
          <p:nvPr/>
        </p:nvCxnSpPr>
        <p:spPr>
          <a:xfrm flipH="1">
            <a:off x="3059113" y="4508500"/>
            <a:ext cx="30257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a:spLocks noChangeArrowheads="1"/>
          </p:cNvSpPr>
          <p:nvPr/>
        </p:nvSpPr>
        <p:spPr bwMode="auto">
          <a:xfrm>
            <a:off x="3995738" y="1484313"/>
            <a:ext cx="863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i="1">
                <a:latin typeface="Arial" charset="0"/>
              </a:rPr>
              <a:t>Baby</a:t>
            </a:r>
            <a:endParaRPr lang="en-US" altLang="en-US" sz="1400" i="1">
              <a:latin typeface="Arial" charset="0"/>
            </a:endParaRPr>
          </a:p>
        </p:txBody>
      </p:sp>
      <p:sp>
        <p:nvSpPr>
          <p:cNvPr id="41" name="TextBox 40"/>
          <p:cNvSpPr txBox="1">
            <a:spLocks noChangeArrowheads="1"/>
          </p:cNvSpPr>
          <p:nvPr/>
        </p:nvSpPr>
        <p:spPr bwMode="auto">
          <a:xfrm>
            <a:off x="1187450" y="4787900"/>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i="1">
                <a:latin typeface="Arial" charset="0"/>
              </a:rPr>
              <a:t>Mother/Carer</a:t>
            </a:r>
            <a:endParaRPr lang="en-US" altLang="en-US" sz="1400" i="1">
              <a:latin typeface="Arial" charset="0"/>
            </a:endParaRPr>
          </a:p>
        </p:txBody>
      </p:sp>
      <p:sp>
        <p:nvSpPr>
          <p:cNvPr id="42" name="TextBox 41"/>
          <p:cNvSpPr txBox="1">
            <a:spLocks noChangeArrowheads="1"/>
          </p:cNvSpPr>
          <p:nvPr/>
        </p:nvSpPr>
        <p:spPr bwMode="auto">
          <a:xfrm>
            <a:off x="5219700" y="4797425"/>
            <a:ext cx="216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GB" altLang="en-US" sz="1400" i="1">
                <a:latin typeface="Arial" charset="0"/>
              </a:rPr>
              <a:t>Play </a:t>
            </a:r>
          </a:p>
          <a:p>
            <a:pPr eaLnBrk="1" hangingPunct="1">
              <a:spcBef>
                <a:spcPct val="0"/>
              </a:spcBef>
              <a:buFontTx/>
              <a:buNone/>
            </a:pPr>
            <a:r>
              <a:rPr lang="en-GB" altLang="en-US" sz="1400" i="1">
                <a:latin typeface="Arial" charset="0"/>
              </a:rPr>
              <a:t>‘transitional space’</a:t>
            </a:r>
            <a:endParaRPr lang="en-US" altLang="en-US" sz="1400" i="1">
              <a:latin typeface="Arial" charset="0"/>
            </a:endParaRPr>
          </a:p>
        </p:txBody>
      </p:sp>
      <p:sp>
        <p:nvSpPr>
          <p:cNvPr id="43" name="TextBox 42"/>
          <p:cNvSpPr txBox="1">
            <a:spLocks noChangeArrowheads="1"/>
          </p:cNvSpPr>
          <p:nvPr/>
        </p:nvSpPr>
        <p:spPr bwMode="auto">
          <a:xfrm>
            <a:off x="323850" y="2205038"/>
            <a:ext cx="22320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r" eaLnBrk="1" hangingPunct="1">
              <a:spcBef>
                <a:spcPct val="0"/>
              </a:spcBef>
              <a:buFontTx/>
              <a:buNone/>
            </a:pPr>
            <a:r>
              <a:rPr lang="en-GB" altLang="en-US" sz="1400">
                <a:solidFill>
                  <a:srgbClr val="FF6600"/>
                </a:solidFill>
                <a:latin typeface="Arial" charset="0"/>
              </a:rPr>
              <a:t>Reassure</a:t>
            </a:r>
          </a:p>
          <a:p>
            <a:pPr algn="r" eaLnBrk="1" hangingPunct="1">
              <a:spcBef>
                <a:spcPct val="0"/>
              </a:spcBef>
              <a:buFontTx/>
              <a:buNone/>
            </a:pPr>
            <a:endParaRPr lang="en-GB" altLang="en-US" sz="1400">
              <a:solidFill>
                <a:srgbClr val="FF6600"/>
              </a:solidFill>
              <a:latin typeface="Arial" charset="0"/>
            </a:endParaRPr>
          </a:p>
          <a:p>
            <a:pPr algn="r" eaLnBrk="1" hangingPunct="1">
              <a:spcBef>
                <a:spcPct val="0"/>
              </a:spcBef>
              <a:buFontTx/>
              <a:buNone/>
            </a:pPr>
            <a:r>
              <a:rPr lang="en-GB" altLang="en-US" sz="1400">
                <a:solidFill>
                  <a:srgbClr val="FF6600"/>
                </a:solidFill>
                <a:latin typeface="Arial" charset="0"/>
              </a:rPr>
              <a:t>Make safe</a:t>
            </a:r>
          </a:p>
          <a:p>
            <a:pPr algn="r" eaLnBrk="1" hangingPunct="1">
              <a:spcBef>
                <a:spcPct val="0"/>
              </a:spcBef>
              <a:buFontTx/>
              <a:buNone/>
            </a:pPr>
            <a:endParaRPr lang="en-GB" altLang="en-US" sz="1400">
              <a:solidFill>
                <a:srgbClr val="FF6600"/>
              </a:solidFill>
              <a:latin typeface="Arial" charset="0"/>
            </a:endParaRPr>
          </a:p>
          <a:p>
            <a:pPr algn="r" eaLnBrk="1" hangingPunct="1">
              <a:spcBef>
                <a:spcPct val="0"/>
              </a:spcBef>
              <a:buFontTx/>
              <a:buNone/>
            </a:pPr>
            <a:r>
              <a:rPr lang="en-GB" altLang="en-US" sz="1400">
                <a:solidFill>
                  <a:srgbClr val="FF6600"/>
                </a:solidFill>
                <a:latin typeface="Arial" charset="0"/>
              </a:rPr>
              <a:t>Make the new manageable and exciting</a:t>
            </a:r>
          </a:p>
          <a:p>
            <a:pPr algn="r" eaLnBrk="1" hangingPunct="1">
              <a:spcBef>
                <a:spcPct val="0"/>
              </a:spcBef>
              <a:buFontTx/>
              <a:buNone/>
            </a:pPr>
            <a:endParaRPr lang="en-GB" altLang="en-US" sz="1400">
              <a:solidFill>
                <a:srgbClr val="FF6600"/>
              </a:solidFill>
              <a:latin typeface="Arial" charset="0"/>
            </a:endParaRPr>
          </a:p>
          <a:p>
            <a:pPr algn="r" eaLnBrk="1" hangingPunct="1">
              <a:spcBef>
                <a:spcPct val="0"/>
              </a:spcBef>
              <a:buFontTx/>
              <a:buNone/>
            </a:pPr>
            <a:r>
              <a:rPr lang="en-GB" altLang="en-US" sz="1400">
                <a:solidFill>
                  <a:srgbClr val="FF6600"/>
                </a:solidFill>
                <a:latin typeface="Arial" charset="0"/>
              </a:rPr>
              <a:t>Contain anxiety and fear</a:t>
            </a:r>
            <a:endParaRPr lang="en-US" altLang="en-US" sz="1400">
              <a:solidFill>
                <a:srgbClr val="FF6600"/>
              </a:solidFill>
              <a:latin typeface="Arial" charset="0"/>
            </a:endParaRPr>
          </a:p>
        </p:txBody>
      </p:sp>
      <p:sp>
        <p:nvSpPr>
          <p:cNvPr id="44" name="TextBox 43"/>
          <p:cNvSpPr txBox="1">
            <a:spLocks noChangeArrowheads="1"/>
          </p:cNvSpPr>
          <p:nvPr/>
        </p:nvSpPr>
        <p:spPr bwMode="auto">
          <a:xfrm>
            <a:off x="5470525" y="1368425"/>
            <a:ext cx="33115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a:solidFill>
                  <a:srgbClr val="FF6600"/>
                </a:solidFill>
                <a:latin typeface="Arial" charset="0"/>
              </a:rPr>
              <a:t>Trust in others to be sensitive</a:t>
            </a:r>
          </a:p>
          <a:p>
            <a:pPr eaLnBrk="1" hangingPunct="1">
              <a:spcBef>
                <a:spcPct val="0"/>
              </a:spcBef>
              <a:buFontTx/>
              <a:buNone/>
            </a:pPr>
            <a:endParaRPr lang="en-GB" altLang="en-US" sz="1400">
              <a:solidFill>
                <a:srgbClr val="FF6600"/>
              </a:solidFill>
              <a:latin typeface="Arial" charset="0"/>
            </a:endParaRPr>
          </a:p>
          <a:p>
            <a:pPr eaLnBrk="1" hangingPunct="1">
              <a:spcBef>
                <a:spcPct val="0"/>
              </a:spcBef>
              <a:buFontTx/>
              <a:buNone/>
            </a:pPr>
            <a:r>
              <a:rPr lang="en-GB" altLang="en-US" sz="1400">
                <a:solidFill>
                  <a:srgbClr val="FF6600"/>
                </a:solidFill>
                <a:latin typeface="Arial" charset="0"/>
              </a:rPr>
              <a:t>Confidence in own ability</a:t>
            </a:r>
          </a:p>
          <a:p>
            <a:pPr eaLnBrk="1" hangingPunct="1">
              <a:spcBef>
                <a:spcPct val="0"/>
              </a:spcBef>
              <a:buFontTx/>
              <a:buNone/>
            </a:pPr>
            <a:endParaRPr lang="en-GB" altLang="en-US" sz="1400">
              <a:solidFill>
                <a:srgbClr val="FF6600"/>
              </a:solidFill>
              <a:latin typeface="Arial" charset="0"/>
            </a:endParaRPr>
          </a:p>
          <a:p>
            <a:pPr eaLnBrk="1" hangingPunct="1">
              <a:spcBef>
                <a:spcPct val="0"/>
              </a:spcBef>
              <a:buFontTx/>
              <a:buNone/>
            </a:pPr>
            <a:r>
              <a:rPr lang="en-GB" altLang="en-US" sz="1400">
                <a:solidFill>
                  <a:srgbClr val="FF6600"/>
                </a:solidFill>
                <a:latin typeface="Arial" charset="0"/>
              </a:rPr>
              <a:t>Faith that adults will be available and help</a:t>
            </a:r>
            <a:endParaRPr lang="en-US" altLang="en-US" sz="1400">
              <a:solidFill>
                <a:srgbClr val="FF6600"/>
              </a:solidFill>
              <a:latin typeface="Arial" charset="0"/>
            </a:endParaRPr>
          </a:p>
        </p:txBody>
      </p:sp>
      <p:sp>
        <p:nvSpPr>
          <p:cNvPr id="45" name="TextBox 44"/>
          <p:cNvSpPr txBox="1">
            <a:spLocks noChangeArrowheads="1"/>
          </p:cNvSpPr>
          <p:nvPr/>
        </p:nvSpPr>
        <p:spPr bwMode="auto">
          <a:xfrm>
            <a:off x="179388" y="5842000"/>
            <a:ext cx="8785225" cy="3238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500" b="1">
                <a:latin typeface="Arial" charset="0"/>
              </a:rPr>
              <a:t>Teacher (classroom and school) become the ‘holding environment’ or educational secure base </a:t>
            </a:r>
            <a:endParaRPr lang="en-US" altLang="en-US" sz="1500" b="1">
              <a:latin typeface="Arial" charset="0"/>
            </a:endParaRPr>
          </a:p>
        </p:txBody>
      </p:sp>
      <p:sp>
        <p:nvSpPr>
          <p:cNvPr id="48" name="TextBox 47"/>
          <p:cNvSpPr txBox="1">
            <a:spLocks noChangeArrowheads="1"/>
          </p:cNvSpPr>
          <p:nvPr/>
        </p:nvSpPr>
        <p:spPr bwMode="auto">
          <a:xfrm>
            <a:off x="7164388" y="3141663"/>
            <a:ext cx="1871662"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400">
                <a:solidFill>
                  <a:srgbClr val="FF6600"/>
                </a:solidFill>
                <a:latin typeface="Arial" charset="0"/>
              </a:rPr>
              <a:t>Bear the presence of a third</a:t>
            </a:r>
          </a:p>
          <a:p>
            <a:pPr eaLnBrk="1" hangingPunct="1">
              <a:spcBef>
                <a:spcPct val="0"/>
              </a:spcBef>
              <a:buFontTx/>
              <a:buNone/>
            </a:pPr>
            <a:endParaRPr lang="en-GB" altLang="en-US" sz="1400">
              <a:solidFill>
                <a:srgbClr val="FF6600"/>
              </a:solidFill>
              <a:latin typeface="Arial" charset="0"/>
            </a:endParaRPr>
          </a:p>
          <a:p>
            <a:pPr eaLnBrk="1" hangingPunct="1">
              <a:spcBef>
                <a:spcPct val="0"/>
              </a:spcBef>
              <a:buFontTx/>
              <a:buNone/>
            </a:pPr>
            <a:r>
              <a:rPr lang="en-GB" altLang="en-US" sz="1400">
                <a:solidFill>
                  <a:srgbClr val="FF6600"/>
                </a:solidFill>
                <a:latin typeface="Arial" charset="0"/>
              </a:rPr>
              <a:t>Tolerate uncertainty and ‘not knowing’</a:t>
            </a:r>
          </a:p>
          <a:p>
            <a:pPr algn="r" eaLnBrk="1" hangingPunct="1">
              <a:spcBef>
                <a:spcPct val="0"/>
              </a:spcBef>
              <a:buFontTx/>
              <a:buNone/>
            </a:pPr>
            <a:endParaRPr lang="en-GB" altLang="en-US" sz="1400">
              <a:solidFill>
                <a:srgbClr val="FF6600"/>
              </a:solidFill>
              <a:latin typeface="Arial" charset="0"/>
            </a:endParaRPr>
          </a:p>
          <a:p>
            <a:pPr algn="r" eaLnBrk="1" hangingPunct="1">
              <a:spcBef>
                <a:spcPct val="0"/>
              </a:spcBef>
              <a:buFontTx/>
              <a:buNone/>
            </a:pPr>
            <a:r>
              <a:rPr lang="en-GB" altLang="en-US" sz="1400">
                <a:solidFill>
                  <a:srgbClr val="FF6600"/>
                </a:solidFill>
                <a:latin typeface="Arial" charset="0"/>
              </a:rPr>
              <a:t>Engage with curiosity and creativity</a:t>
            </a:r>
          </a:p>
          <a:p>
            <a:pPr eaLnBrk="1" hangingPunct="1">
              <a:spcBef>
                <a:spcPct val="0"/>
              </a:spcBef>
              <a:buFontTx/>
              <a:buNone/>
            </a:pPr>
            <a:endParaRPr lang="en-GB" altLang="en-US" sz="1400">
              <a:solidFill>
                <a:srgbClr val="FF6600"/>
              </a:solidFill>
              <a:latin typeface="Arial" charset="0"/>
            </a:endParaRPr>
          </a:p>
          <a:p>
            <a:pPr algn="r" eaLnBrk="1" hangingPunct="1">
              <a:spcBef>
                <a:spcPct val="0"/>
              </a:spcBef>
              <a:buFontTx/>
              <a:buNone/>
            </a:pPr>
            <a:r>
              <a:rPr lang="en-GB" altLang="en-US" sz="1400">
                <a:solidFill>
                  <a:srgbClr val="FF6600"/>
                </a:solidFill>
                <a:latin typeface="Arial" charset="0"/>
              </a:rPr>
              <a:t>Explore and find solutions, with help</a:t>
            </a:r>
            <a:endParaRPr lang="en-US" altLang="en-US" sz="1400">
              <a:solidFill>
                <a:srgbClr val="FF6600"/>
              </a:solidFill>
              <a:latin typeface="Arial" charset="0"/>
            </a:endParaRPr>
          </a:p>
        </p:txBody>
      </p:sp>
      <p:sp>
        <p:nvSpPr>
          <p:cNvPr id="24596" name="TextBox 48"/>
          <p:cNvSpPr txBox="1">
            <a:spLocks noChangeArrowheads="1"/>
          </p:cNvSpPr>
          <p:nvPr/>
        </p:nvSpPr>
        <p:spPr bwMode="auto">
          <a:xfrm>
            <a:off x="3563938" y="3213100"/>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GB" altLang="en-US" sz="2400" b="1">
                <a:solidFill>
                  <a:schemeClr val="tx2"/>
                </a:solidFill>
                <a:latin typeface="Arial" charset="0"/>
              </a:rPr>
              <a:t>The Learning Triangle</a:t>
            </a:r>
            <a:endParaRPr lang="en-US" altLang="en-US" sz="2400" b="1">
              <a:solidFill>
                <a:schemeClr val="tx2"/>
              </a:solidFill>
              <a:latin typeface="Arial" charset="0"/>
            </a:endParaRPr>
          </a:p>
        </p:txBody>
      </p:sp>
    </p:spTree>
    <p:extLst>
      <p:ext uri="{BB962C8B-B14F-4D97-AF65-F5344CB8AC3E}">
        <p14:creationId xmlns:p14="http://schemas.microsoft.com/office/powerpoint/2010/main" val="1066259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ox(in)">
                                      <p:cBhvr>
                                        <p:cTn id="7" dur="500"/>
                                        <p:tgtEl>
                                          <p:spTgt spid="4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box(in)">
                                      <p:cBhvr>
                                        <p:cTn id="10" dur="500"/>
                                        <p:tgtEl>
                                          <p:spTgt spid="4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box(in)">
                                      <p:cBhvr>
                                        <p:cTn id="13" dur="500"/>
                                        <p:tgtEl>
                                          <p:spTgt spid="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diamond(in)">
                                      <p:cBhvr>
                                        <p:cTn id="18" dur="2000"/>
                                        <p:tgtEl>
                                          <p:spTgt spid="4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checkerboard(across)">
                                      <p:cBhvr>
                                        <p:cTn id="23" dur="500"/>
                                        <p:tgtEl>
                                          <p:spTgt spid="4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diamond(in)">
                                      <p:cBhvr>
                                        <p:cTn id="28" dur="2000"/>
                                        <p:tgtEl>
                                          <p:spTgt spid="4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box(in)">
                                      <p:cBhvr>
                                        <p:cTn id="3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animBg="1"/>
      <p:bldP spid="4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ZFmqKGEcidg?rel=0"/>
          <p:cNvPicPr>
            <a:picLocks noRot="1" noChangeAspect="1"/>
          </p:cNvPicPr>
          <p:nvPr>
            <a:videoFile r:link="rId1"/>
          </p:nvPr>
        </p:nvPicPr>
        <p:blipFill>
          <a:blip r:embed="rId3"/>
          <a:stretch>
            <a:fillRect/>
          </a:stretch>
        </p:blipFill>
        <p:spPr>
          <a:xfrm>
            <a:off x="2286000" y="2143125"/>
            <a:ext cx="4572000" cy="2571750"/>
          </a:xfrm>
          <a:prstGeom prst="rect">
            <a:avLst/>
          </a:prstGeom>
        </p:spPr>
      </p:pic>
    </p:spTree>
    <p:extLst>
      <p:ext uri="{BB962C8B-B14F-4D97-AF65-F5344CB8AC3E}">
        <p14:creationId xmlns:p14="http://schemas.microsoft.com/office/powerpoint/2010/main" val="42177245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692150"/>
            <a:ext cx="5184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3600" b="1" dirty="0">
                <a:latin typeface="Arial" charset="0"/>
              </a:rPr>
              <a:t>Task</a:t>
            </a:r>
          </a:p>
        </p:txBody>
      </p:sp>
      <p:sp>
        <p:nvSpPr>
          <p:cNvPr id="3" name="Rectangle 10"/>
          <p:cNvSpPr txBox="1">
            <a:spLocks noChangeArrowheads="1"/>
          </p:cNvSpPr>
          <p:nvPr/>
        </p:nvSpPr>
        <p:spPr>
          <a:xfrm>
            <a:off x="611188" y="15573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b="1" dirty="0" smtClean="0">
                <a:latin typeface="Arial" charset="0"/>
                <a:cs typeface="Arial" charset="0"/>
              </a:rPr>
              <a:t>How might  these four different external manifestations / patterns of attachment affect a child’s ability to learn?</a:t>
            </a:r>
          </a:p>
          <a:p>
            <a:pPr>
              <a:buFontTx/>
              <a:buChar char="-"/>
              <a:defRPr/>
            </a:pPr>
            <a:r>
              <a:rPr lang="en-US" altLang="en-US" dirty="0" smtClean="0">
                <a:latin typeface="Arial" charset="0"/>
              </a:rPr>
              <a:t>Securely attached</a:t>
            </a:r>
          </a:p>
          <a:p>
            <a:pPr>
              <a:buFontTx/>
              <a:buChar char="-"/>
              <a:defRPr/>
            </a:pPr>
            <a:r>
              <a:rPr lang="en-US" altLang="en-US" dirty="0" smtClean="0">
                <a:latin typeface="Arial" charset="0"/>
              </a:rPr>
              <a:t>Insecure/ ambivalent-resistant</a:t>
            </a:r>
          </a:p>
          <a:p>
            <a:pPr>
              <a:buFontTx/>
              <a:buChar char="-"/>
              <a:defRPr/>
            </a:pPr>
            <a:r>
              <a:rPr lang="en-US" altLang="en-US" dirty="0" smtClean="0">
                <a:latin typeface="Arial" charset="0"/>
              </a:rPr>
              <a:t>Insecure/ avoidant</a:t>
            </a:r>
          </a:p>
          <a:p>
            <a:pPr>
              <a:buFontTx/>
              <a:buChar char="-"/>
              <a:defRPr/>
            </a:pPr>
            <a:r>
              <a:rPr lang="en-US" altLang="en-US" dirty="0" smtClean="0">
                <a:latin typeface="Arial" charset="0"/>
              </a:rPr>
              <a:t>Insecure/ </a:t>
            </a:r>
            <a:r>
              <a:rPr lang="en-US" altLang="en-US" dirty="0" err="1" smtClean="0">
                <a:latin typeface="Arial" charset="0"/>
              </a:rPr>
              <a:t>disorganised</a:t>
            </a:r>
            <a:endParaRPr lang="en-GB" altLang="en-US" dirty="0" smtClean="0">
              <a:latin typeface="Arial" charset="0"/>
              <a:cs typeface="Arial" charset="0"/>
            </a:endParaRPr>
          </a:p>
          <a:p>
            <a:pPr marL="0" indent="0">
              <a:buFontTx/>
              <a:buNone/>
              <a:defRPr/>
            </a:pPr>
            <a:endParaRPr lang="en-US" altLang="en-US" dirty="0" smtClean="0">
              <a:latin typeface="Arial" charset="0"/>
            </a:endParaRPr>
          </a:p>
          <a:p>
            <a:pPr marL="0" indent="0">
              <a:buFontTx/>
              <a:buNone/>
              <a:defRPr/>
            </a:pPr>
            <a:endParaRPr lang="en-US" altLang="en-US" dirty="0" smtClean="0">
              <a:latin typeface="Arial" charset="0"/>
            </a:endParaRPr>
          </a:p>
        </p:txBody>
      </p:sp>
    </p:spTree>
    <p:extLst>
      <p:ext uri="{BB962C8B-B14F-4D97-AF65-F5344CB8AC3E}">
        <p14:creationId xmlns:p14="http://schemas.microsoft.com/office/powerpoint/2010/main" val="18480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738188" y="836613"/>
            <a:ext cx="7705725"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buFontTx/>
              <a:buNone/>
            </a:pPr>
            <a:r>
              <a:rPr lang="en-GB" altLang="en-US" dirty="0">
                <a:latin typeface="Arial" charset="0"/>
                <a:cs typeface="Arial" charset="0"/>
              </a:rPr>
              <a:t>Summary</a:t>
            </a:r>
          </a:p>
          <a:p>
            <a:pPr eaLnBrk="1" hangingPunct="1">
              <a:buFontTx/>
              <a:buNone/>
            </a:pPr>
            <a:r>
              <a:rPr lang="en-GB" altLang="en-US" dirty="0">
                <a:latin typeface="Arial" charset="0"/>
                <a:cs typeface="Arial" charset="0"/>
              </a:rPr>
              <a:t> </a:t>
            </a:r>
            <a:r>
              <a:rPr lang="en-GB" altLang="en-US" sz="2800" dirty="0">
                <a:latin typeface="Arial" charset="0"/>
                <a:cs typeface="Arial" charset="0"/>
              </a:rPr>
              <a:t>Attachment is…</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1800" smtClean="0">
                <a:latin typeface="Arial" charset="0"/>
                <a:cs typeface="Arial" charset="0"/>
              </a:rPr>
              <a:t>A living breathing pattern that affects us all throughout the lifespan and determines how safe we feel.</a:t>
            </a:r>
          </a:p>
          <a:p>
            <a:r>
              <a:rPr lang="en-GB" altLang="en-US" sz="1800" smtClean="0">
                <a:solidFill>
                  <a:srgbClr val="FF6600"/>
                </a:solidFill>
                <a:latin typeface="Arial" charset="0"/>
                <a:cs typeface="Arial" charset="0"/>
              </a:rPr>
              <a:t>Woven in to the pathways of our brain in the earliest phase of life and determines  to a great degree our capacity for learning</a:t>
            </a:r>
          </a:p>
          <a:p>
            <a:r>
              <a:rPr lang="en-GB" altLang="en-US" sz="1800" smtClean="0">
                <a:latin typeface="Arial" charset="0"/>
                <a:cs typeface="Arial" charset="0"/>
              </a:rPr>
              <a:t> A response to the caregiving received as a baby and a means of survival in that early ‘holding environment</a:t>
            </a:r>
          </a:p>
          <a:p>
            <a:r>
              <a:rPr lang="en-GB" altLang="en-US" sz="1800" smtClean="0">
                <a:solidFill>
                  <a:srgbClr val="FF6600"/>
                </a:solidFill>
                <a:latin typeface="Arial" charset="0"/>
                <a:cs typeface="Arial" charset="0"/>
              </a:rPr>
              <a:t>Represented in our thoughts, feelings and wishes by an internal working model which shapes our behaviour.</a:t>
            </a:r>
          </a:p>
          <a:p>
            <a:r>
              <a:rPr lang="en-GB" altLang="en-US" sz="1800" smtClean="0">
                <a:latin typeface="Arial" charset="0"/>
                <a:cs typeface="Arial" charset="0"/>
              </a:rPr>
              <a:t>How we learn to think, understand and make sense of the world.  It determines our attitude towards exploring the unknown.</a:t>
            </a:r>
          </a:p>
          <a:p>
            <a:r>
              <a:rPr lang="en-GB" altLang="en-US" sz="1800" smtClean="0">
                <a:solidFill>
                  <a:srgbClr val="FF6600"/>
                </a:solidFill>
                <a:latin typeface="Arial" charset="0"/>
                <a:cs typeface="Arial" charset="0"/>
              </a:rPr>
              <a:t>The organising principle for a set of thoughts, feelings and beliefs and a system of behaviours which can be activated by particular triggers at any point in time.</a:t>
            </a:r>
          </a:p>
          <a:p>
            <a:r>
              <a:rPr lang="en-GB" altLang="en-US" sz="1800" smtClean="0">
                <a:latin typeface="Arial" charset="0"/>
                <a:cs typeface="Arial" charset="0"/>
              </a:rPr>
              <a:t>Secure for 55-65% of the population and insecure for the rest, be it either avoidant, ambivalent, or disorganised</a:t>
            </a:r>
            <a:endParaRPr lang="en-US" altLang="en-US" sz="1800" dirty="0" smtClean="0">
              <a:latin typeface="Arial" charset="0"/>
            </a:endParaRPr>
          </a:p>
        </p:txBody>
      </p:sp>
    </p:spTree>
    <p:extLst>
      <p:ext uri="{BB962C8B-B14F-4D97-AF65-F5344CB8AC3E}">
        <p14:creationId xmlns:p14="http://schemas.microsoft.com/office/powerpoint/2010/main" val="175889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ChangeArrowheads="1"/>
          </p:cNvSpPr>
          <p:nvPr/>
        </p:nvSpPr>
        <p:spPr>
          <a:xfrm>
            <a:off x="685800" y="1412875"/>
            <a:ext cx="7772400" cy="468312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Tx/>
              <a:buNone/>
            </a:pPr>
            <a:r>
              <a:rPr lang="en-US" altLang="en-US" smtClean="0">
                <a:latin typeface="Arial" charset="0"/>
              </a:rPr>
              <a:t>If a duck walks like a duck, talks like a duck, behaves like a duck….. </a:t>
            </a:r>
            <a:br>
              <a:rPr lang="en-US" altLang="en-US" smtClean="0">
                <a:latin typeface="Arial" charset="0"/>
              </a:rPr>
            </a:br>
            <a:r>
              <a:rPr lang="en-US" altLang="en-US" smtClean="0">
                <a:latin typeface="Arial" charset="0"/>
              </a:rPr>
              <a:t/>
            </a:r>
            <a:br>
              <a:rPr lang="en-US" altLang="en-US" smtClean="0">
                <a:latin typeface="Arial" charset="0"/>
              </a:rPr>
            </a:br>
            <a:r>
              <a:rPr lang="en-US" altLang="en-US" smtClean="0">
                <a:latin typeface="Arial" charset="0"/>
              </a:rPr>
              <a:t>…..it must be a duck</a:t>
            </a:r>
            <a:br>
              <a:rPr lang="en-US" altLang="en-US" smtClean="0">
                <a:latin typeface="Arial" charset="0"/>
              </a:rPr>
            </a:br>
            <a:r>
              <a:rPr lang="en-US" altLang="en-US" smtClean="0">
                <a:latin typeface="Arial" charset="0"/>
              </a:rPr>
              <a:t/>
            </a:r>
            <a:br>
              <a:rPr lang="en-US" altLang="en-US" smtClean="0">
                <a:latin typeface="Arial" charset="0"/>
              </a:rPr>
            </a:br>
            <a:r>
              <a:rPr lang="en-US" altLang="en-US" smtClean="0">
                <a:latin typeface="Arial" charset="0"/>
              </a:rPr>
              <a:t>Our knowledge &amp; experience of ducks tell us what to expect from the duck and how to relate to it</a:t>
            </a:r>
          </a:p>
          <a:p>
            <a:pPr>
              <a:buFontTx/>
              <a:buNone/>
            </a:pPr>
            <a:endParaRPr lang="en-US" altLang="en-US" dirty="0" smtClean="0">
              <a:latin typeface="Arial" charset="0"/>
            </a:endParaRPr>
          </a:p>
        </p:txBody>
      </p:sp>
    </p:spTree>
    <p:extLst>
      <p:ext uri="{BB962C8B-B14F-4D97-AF65-F5344CB8AC3E}">
        <p14:creationId xmlns:p14="http://schemas.microsoft.com/office/powerpoint/2010/main" val="42839793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6"/>
          <p:cNvSpPr>
            <a:spLocks noGrp="1" noChangeArrowheads="1"/>
          </p:cNvSpPr>
          <p:nvPr>
            <p:ph type="title"/>
          </p:nvPr>
        </p:nvSpPr>
        <p:spPr>
          <a:xfrm>
            <a:off x="755650" y="620713"/>
            <a:ext cx="7772400" cy="1574800"/>
          </a:xfrm>
        </p:spPr>
        <p:txBody>
          <a:bodyPr/>
          <a:lstStyle/>
          <a:p>
            <a:pPr algn="l" eaLnBrk="1" hangingPunct="1"/>
            <a:r>
              <a:rPr lang="en-US" altLang="en-US" sz="4000" smtClean="0">
                <a:latin typeface="Arial" charset="0"/>
              </a:rPr>
              <a:t>But what if the duck thinks it’s a swan?</a:t>
            </a:r>
          </a:p>
        </p:txBody>
      </p:sp>
      <p:sp>
        <p:nvSpPr>
          <p:cNvPr id="33799" name="Rectangle 7"/>
          <p:cNvSpPr>
            <a:spLocks noGrp="1" noChangeArrowheads="1"/>
          </p:cNvSpPr>
          <p:nvPr>
            <p:ph type="body" idx="1"/>
          </p:nvPr>
        </p:nvSpPr>
        <p:spPr>
          <a:xfrm>
            <a:off x="323850" y="4292600"/>
            <a:ext cx="7772400" cy="1803400"/>
          </a:xfrm>
        </p:spPr>
        <p:txBody>
          <a:bodyPr/>
          <a:lstStyle/>
          <a:p>
            <a:pPr eaLnBrk="1" hangingPunct="1">
              <a:buFontTx/>
              <a:buNone/>
            </a:pPr>
            <a:r>
              <a:rPr lang="en-US" altLang="en-US" smtClean="0">
                <a:latin typeface="Arial" charset="0"/>
              </a:rPr>
              <a:t>It’s not </a:t>
            </a:r>
            <a:r>
              <a:rPr lang="en-US" altLang="en-US" b="1" u="sng" smtClean="0">
                <a:latin typeface="Arial" charset="0"/>
              </a:rPr>
              <a:t>what</a:t>
            </a:r>
            <a:r>
              <a:rPr lang="en-US" altLang="en-US" smtClean="0">
                <a:latin typeface="Arial" charset="0"/>
              </a:rPr>
              <a:t> children do, but </a:t>
            </a:r>
            <a:r>
              <a:rPr lang="en-US" altLang="en-US" b="1" u="sng" smtClean="0">
                <a:latin typeface="Arial" charset="0"/>
              </a:rPr>
              <a:t>why</a:t>
            </a:r>
            <a:r>
              <a:rPr lang="en-US" altLang="en-US" smtClean="0">
                <a:latin typeface="Arial" charset="0"/>
              </a:rPr>
              <a:t> they do it that is crucial to being able to relate effectively and intervene successfully.</a:t>
            </a:r>
          </a:p>
          <a:p>
            <a:pPr eaLnBrk="1" hangingPunct="1"/>
            <a:endParaRPr lang="en-US" altLang="en-US" smtClean="0">
              <a:latin typeface="Arial" charset="0"/>
            </a:endParaRPr>
          </a:p>
        </p:txBody>
      </p:sp>
      <p:pic>
        <p:nvPicPr>
          <p:cNvPr id="33800" name="Picture 8" descr="TRUS_RNDU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757363"/>
            <a:ext cx="2952750" cy="224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21623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1763713" y="836613"/>
            <a:ext cx="54737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4000" dirty="0">
                <a:latin typeface="Arial" charset="0"/>
              </a:rPr>
              <a:t>References</a:t>
            </a:r>
          </a:p>
        </p:txBody>
      </p:sp>
      <p:sp>
        <p:nvSpPr>
          <p:cNvPr id="3" name="Text Box 8"/>
          <p:cNvSpPr txBox="1">
            <a:spLocks noChangeArrowheads="1"/>
          </p:cNvSpPr>
          <p:nvPr/>
        </p:nvSpPr>
        <p:spPr bwMode="auto">
          <a:xfrm>
            <a:off x="684213" y="1700213"/>
            <a:ext cx="7991475"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GB" altLang="en-US" sz="1800" dirty="0" err="1">
                <a:latin typeface="Arial" charset="0"/>
              </a:rPr>
              <a:t>Barna,G</a:t>
            </a:r>
            <a:r>
              <a:rPr lang="en-GB" altLang="en-US" sz="1800" dirty="0">
                <a:latin typeface="Arial" charset="0"/>
              </a:rPr>
              <a:t>. (2007) </a:t>
            </a:r>
            <a:r>
              <a:rPr lang="en-GB" altLang="en-US" sz="1800" i="1" dirty="0">
                <a:latin typeface="Arial" charset="0"/>
              </a:rPr>
              <a:t>Revolutionary Parenting: What Research Shows Really Works</a:t>
            </a:r>
            <a:r>
              <a:rPr lang="en-GB" altLang="en-US" sz="1800" dirty="0">
                <a:latin typeface="Arial" charset="0"/>
              </a:rPr>
              <a:t>. Ventura, </a:t>
            </a:r>
            <a:r>
              <a:rPr lang="en-GB" altLang="en-US" sz="1800" dirty="0" err="1">
                <a:latin typeface="Arial" charset="0"/>
              </a:rPr>
              <a:t>C.A:Barna</a:t>
            </a:r>
            <a:r>
              <a:rPr lang="en-GB" altLang="en-US" sz="1800" dirty="0">
                <a:latin typeface="Arial" charset="0"/>
              </a:rPr>
              <a:t> Group</a:t>
            </a:r>
          </a:p>
          <a:p>
            <a:pPr eaLnBrk="1" hangingPunct="1">
              <a:spcBef>
                <a:spcPct val="0"/>
              </a:spcBef>
              <a:buFontTx/>
              <a:buNone/>
            </a:pPr>
            <a:r>
              <a:rPr lang="en-GB" altLang="en-US" sz="1800" dirty="0" err="1">
                <a:latin typeface="Arial" charset="0"/>
              </a:rPr>
              <a:t>Cameron,R.J</a:t>
            </a:r>
            <a:r>
              <a:rPr lang="en-GB" altLang="en-US" sz="1800" dirty="0">
                <a:latin typeface="Arial" charset="0"/>
              </a:rPr>
              <a:t> &amp; </a:t>
            </a:r>
            <a:r>
              <a:rPr lang="en-GB" altLang="en-US" sz="1800" dirty="0" err="1">
                <a:latin typeface="Arial" charset="0"/>
              </a:rPr>
              <a:t>Maginn,C</a:t>
            </a:r>
            <a:r>
              <a:rPr lang="en-GB" altLang="en-US" sz="1800" dirty="0">
                <a:latin typeface="Arial" charset="0"/>
              </a:rPr>
              <a:t> (2009)</a:t>
            </a:r>
            <a:r>
              <a:rPr lang="en-GB" altLang="en-US" sz="1800" i="1" dirty="0">
                <a:latin typeface="Arial" charset="0"/>
              </a:rPr>
              <a:t> Achieving Positive Outcomes for Children in Care. </a:t>
            </a:r>
            <a:r>
              <a:rPr lang="en-GB" altLang="en-US" sz="1800" dirty="0">
                <a:latin typeface="Arial" charset="0"/>
              </a:rPr>
              <a:t>Sage Publications </a:t>
            </a:r>
          </a:p>
          <a:p>
            <a:pPr eaLnBrk="1" hangingPunct="1">
              <a:spcBef>
                <a:spcPct val="0"/>
              </a:spcBef>
              <a:buFontTx/>
              <a:buNone/>
            </a:pPr>
            <a:r>
              <a:rPr lang="en-US" altLang="en-US" sz="1800" dirty="0">
                <a:latin typeface="Arial" charset="0"/>
              </a:rPr>
              <a:t>Child Cruelty in the UK 2011. www. nspcc.org.uk</a:t>
            </a:r>
          </a:p>
          <a:p>
            <a:pPr eaLnBrk="1" hangingPunct="1">
              <a:spcBef>
                <a:spcPct val="0"/>
              </a:spcBef>
              <a:buFontTx/>
              <a:buNone/>
            </a:pPr>
            <a:r>
              <a:rPr lang="en-US" altLang="en-US" sz="1800" dirty="0">
                <a:latin typeface="Arial" charset="0"/>
              </a:rPr>
              <a:t>Child Welfare Information Gateway</a:t>
            </a:r>
            <a:endParaRPr lang="en-GB" altLang="en-US" sz="1800" dirty="0">
              <a:latin typeface="Arial" charset="0"/>
            </a:endParaRPr>
          </a:p>
          <a:p>
            <a:pPr eaLnBrk="1" hangingPunct="1">
              <a:spcBef>
                <a:spcPct val="0"/>
              </a:spcBef>
              <a:buFontTx/>
              <a:buNone/>
            </a:pPr>
            <a:r>
              <a:rPr lang="en-GB" altLang="en-US" sz="1800" dirty="0">
                <a:latin typeface="Arial" charset="0"/>
              </a:rPr>
              <a:t>DCSF: Children Looked After in England </a:t>
            </a:r>
          </a:p>
          <a:p>
            <a:pPr eaLnBrk="1" hangingPunct="1">
              <a:spcBef>
                <a:spcPct val="0"/>
              </a:spcBef>
              <a:buFontTx/>
              <a:buNone/>
            </a:pPr>
            <a:r>
              <a:rPr lang="en-GB" altLang="en-US" sz="1800" dirty="0">
                <a:latin typeface="Arial" charset="0"/>
              </a:rPr>
              <a:t>Geddes, H. (2006) </a:t>
            </a:r>
            <a:r>
              <a:rPr lang="en-GB" altLang="en-US" sz="1800" i="1" dirty="0">
                <a:latin typeface="Arial" charset="0"/>
              </a:rPr>
              <a:t>Attachment in the Classroom.</a:t>
            </a:r>
            <a:r>
              <a:rPr lang="en-GB" altLang="en-US" sz="1800" dirty="0">
                <a:latin typeface="Arial" charset="0"/>
              </a:rPr>
              <a:t> Worth Publishing</a:t>
            </a:r>
          </a:p>
          <a:p>
            <a:pPr eaLnBrk="1" hangingPunct="1">
              <a:spcBef>
                <a:spcPct val="0"/>
              </a:spcBef>
              <a:buFontTx/>
              <a:buNone/>
            </a:pPr>
            <a:r>
              <a:rPr lang="en-GB" altLang="en-US" sz="1800" dirty="0" err="1">
                <a:latin typeface="Arial" charset="0"/>
              </a:rPr>
              <a:t>Golding,K</a:t>
            </a:r>
            <a:r>
              <a:rPr lang="en-GB" altLang="en-US" sz="1800" dirty="0">
                <a:latin typeface="Arial" charset="0"/>
              </a:rPr>
              <a:t> et al (2008) Thinking Psychologically About Children who are Looked After and Adopted. Wiley</a:t>
            </a:r>
          </a:p>
          <a:p>
            <a:pPr eaLnBrk="1" hangingPunct="1">
              <a:spcBef>
                <a:spcPct val="0"/>
              </a:spcBef>
              <a:buFontTx/>
              <a:buNone/>
            </a:pPr>
            <a:r>
              <a:rPr lang="en-GB" altLang="en-US" sz="1800" dirty="0" err="1">
                <a:latin typeface="Arial" charset="0"/>
              </a:rPr>
              <a:t>Hughes,D</a:t>
            </a:r>
            <a:r>
              <a:rPr lang="en-GB" altLang="en-US" sz="1800" dirty="0">
                <a:latin typeface="Arial" charset="0"/>
              </a:rPr>
              <a:t>. (2006) </a:t>
            </a:r>
            <a:r>
              <a:rPr lang="en-GB" altLang="en-US" sz="1800" i="1" dirty="0">
                <a:latin typeface="Arial" charset="0"/>
              </a:rPr>
              <a:t>Building the Bonds of Attachment</a:t>
            </a:r>
            <a:r>
              <a:rPr lang="en-GB" altLang="en-US" sz="1800" dirty="0">
                <a:latin typeface="Arial" charset="0"/>
              </a:rPr>
              <a:t>. Jason Aronson </a:t>
            </a:r>
          </a:p>
          <a:p>
            <a:pPr eaLnBrk="1" hangingPunct="1">
              <a:spcBef>
                <a:spcPct val="0"/>
              </a:spcBef>
              <a:buFontTx/>
              <a:buNone/>
            </a:pPr>
            <a:r>
              <a:rPr lang="en-GB" altLang="en-US" sz="1800" dirty="0">
                <a:latin typeface="Arial" charset="0"/>
              </a:rPr>
              <a:t>Pearce, C. (2009) Attachment &amp; Attachment Disorder. Jessica Kingsley Publishers</a:t>
            </a:r>
          </a:p>
          <a:p>
            <a:pPr eaLnBrk="1" hangingPunct="1">
              <a:spcBef>
                <a:spcPct val="0"/>
              </a:spcBef>
              <a:buFontTx/>
              <a:buNone/>
            </a:pPr>
            <a:r>
              <a:rPr lang="en-GB" altLang="en-US" sz="1800" dirty="0">
                <a:latin typeface="Arial" charset="0"/>
              </a:rPr>
              <a:t>Perry, A. (2009) </a:t>
            </a:r>
            <a:r>
              <a:rPr lang="en-GB" altLang="en-US" sz="1800" i="1" dirty="0">
                <a:latin typeface="Arial" charset="0"/>
              </a:rPr>
              <a:t>Teenagers and Attachment.</a:t>
            </a:r>
            <a:r>
              <a:rPr lang="en-GB" altLang="en-US" sz="1800" dirty="0">
                <a:latin typeface="Arial" charset="0"/>
              </a:rPr>
              <a:t> Worth Publishing</a:t>
            </a:r>
          </a:p>
        </p:txBody>
      </p:sp>
    </p:spTree>
    <p:extLst>
      <p:ext uri="{BB962C8B-B14F-4D97-AF65-F5344CB8AC3E}">
        <p14:creationId xmlns:p14="http://schemas.microsoft.com/office/powerpoint/2010/main" val="29531658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210</TotalTime>
  <Words>2621</Words>
  <Application>Microsoft Office PowerPoint</Application>
  <PresentationFormat>On-screen Show (4:3)</PresentationFormat>
  <Paragraphs>280</Paragraphs>
  <Slides>35</Slides>
  <Notes>9</Notes>
  <HiddenSlides>0</HiddenSlides>
  <MMClips>1</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Powerpoint_master_template</vt:lpstr>
      <vt:lpstr>PowerPoint Presentation</vt:lpstr>
      <vt:lpstr>PowerPoint Presentation</vt:lpstr>
      <vt:lpstr>PowerPoint Presentation</vt:lpstr>
      <vt:lpstr>PowerPoint Presentation</vt:lpstr>
      <vt:lpstr>Innate Priorities come first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Attachment and Exploration</vt:lpstr>
      <vt:lpstr>PowerPoint Presentation</vt:lpstr>
      <vt:lpstr>PowerPoint Presentation</vt:lpstr>
      <vt:lpstr>PowerPoint Presentation</vt:lpstr>
      <vt:lpstr>PowerPoint Presentation</vt:lpstr>
      <vt:lpstr>But what if the duck thinks it’s a swan?</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19</cp:revision>
  <cp:lastPrinted>2015-09-16T14:47:36Z</cp:lastPrinted>
  <dcterms:created xsi:type="dcterms:W3CDTF">2017-09-05T13:13:18Z</dcterms:created>
  <dcterms:modified xsi:type="dcterms:W3CDTF">2018-05-15T09:04:50Z</dcterms:modified>
</cp:coreProperties>
</file>