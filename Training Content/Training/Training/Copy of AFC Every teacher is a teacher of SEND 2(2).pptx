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02" r:id="rId3"/>
    <p:sldId id="298" r:id="rId4"/>
    <p:sldId id="308" r:id="rId5"/>
    <p:sldId id="277" r:id="rId6"/>
    <p:sldId id="306" r:id="rId7"/>
    <p:sldId id="307" r:id="rId8"/>
    <p:sldId id="309" r:id="rId9"/>
    <p:sldId id="310" r:id="rId10"/>
    <p:sldId id="311" r:id="rId11"/>
    <p:sldId id="312" r:id="rId12"/>
    <p:sldId id="313" r:id="rId13"/>
    <p:sldId id="338" r:id="rId14"/>
    <p:sldId id="315" r:id="rId15"/>
    <p:sldId id="318" r:id="rId16"/>
    <p:sldId id="321" r:id="rId17"/>
    <p:sldId id="322" r:id="rId18"/>
    <p:sldId id="320" r:id="rId19"/>
    <p:sldId id="324" r:id="rId20"/>
    <p:sldId id="325" r:id="rId21"/>
    <p:sldId id="326" r:id="rId22"/>
    <p:sldId id="327" r:id="rId23"/>
    <p:sldId id="328" r:id="rId24"/>
    <p:sldId id="339" r:id="rId25"/>
    <p:sldId id="331" r:id="rId26"/>
    <p:sldId id="332" r:id="rId27"/>
    <p:sldId id="333" r:id="rId28"/>
    <p:sldId id="334" r:id="rId29"/>
    <p:sldId id="336" r:id="rId30"/>
    <p:sldId id="335" r:id="rId31"/>
    <p:sldId id="329" r:id="rId32"/>
    <p:sldId id="274"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autoAdjust="0"/>
    <p:restoredTop sz="91960" autoAdjust="0"/>
  </p:normalViewPr>
  <p:slideViewPr>
    <p:cSldViewPr snapToGrid="0" snapToObjects="1">
      <p:cViewPr>
        <p:scale>
          <a:sx n="116" d="100"/>
          <a:sy n="116" d="100"/>
        </p:scale>
        <p:origin x="-72"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07/12/2017</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Pupils struggle with……</a:t>
            </a:r>
          </a:p>
          <a:p>
            <a:r>
              <a:rPr lang="en-GB" dirty="0" smtClean="0"/>
              <a:t>Can be more than one problem due to the co-morbidity of special needs – a continuum</a:t>
            </a:r>
          </a:p>
          <a:p>
            <a:endParaRPr lang="en-GB" dirty="0"/>
          </a:p>
        </p:txBody>
      </p:sp>
      <p:sp>
        <p:nvSpPr>
          <p:cNvPr id="4" name="Slide Number Placeholder 3"/>
          <p:cNvSpPr>
            <a:spLocks noGrp="1"/>
          </p:cNvSpPr>
          <p:nvPr>
            <p:ph type="sldNum" sz="quarter" idx="10"/>
          </p:nvPr>
        </p:nvSpPr>
        <p:spPr/>
        <p:txBody>
          <a:bodyPr/>
          <a:lstStyle/>
          <a:p>
            <a:fld id="{290F3870-A434-4A7C-8F2D-071318B8D3B9}" type="slidenum">
              <a:rPr lang="en-GB" smtClean="0"/>
              <a:pPr/>
              <a:t>14</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GB" sz="1200" dirty="0" smtClean="0">
                <a:solidFill>
                  <a:schemeClr val="accent6">
                    <a:lumMod val="75000"/>
                  </a:schemeClr>
                </a:solidFill>
              </a:rPr>
              <a:t>10% of children have some form of Dyslexia  </a:t>
            </a:r>
            <a:r>
              <a:rPr lang="en-GB" sz="1200" dirty="0" smtClean="0"/>
              <a:t>→this means around 3 out of every 30 students in school may have inherent difficulties with written language, in terms of reading texts and expressing themselves in writing.  They will also likely have poor working memory and organisational skills. </a:t>
            </a:r>
          </a:p>
          <a:p>
            <a:r>
              <a:rPr lang="en-GB" sz="1200" dirty="0" smtClean="0"/>
              <a:t> </a:t>
            </a:r>
            <a:r>
              <a:rPr lang="en-GB" sz="1200" dirty="0" smtClean="0">
                <a:solidFill>
                  <a:srgbClr val="00B050"/>
                </a:solidFill>
              </a:rPr>
              <a:t>5% of children have some form of ADD/ADHD </a:t>
            </a:r>
            <a:r>
              <a:rPr lang="en-GB" sz="1200" dirty="0" smtClean="0"/>
              <a:t>(Attention Deficit / Hyperactivity Disorder) →this means 1 out of every 20 students in school may have inherent difficulties with concentration - struggling to focus for 20mins without support. They will also have poor working memory, poor organisational skills and poor sleep patterns. </a:t>
            </a:r>
          </a:p>
          <a:p>
            <a:r>
              <a:rPr lang="en-GB" sz="1200" dirty="0" smtClean="0"/>
              <a:t> </a:t>
            </a:r>
            <a:r>
              <a:rPr lang="en-GB" sz="1200" dirty="0" smtClean="0">
                <a:solidFill>
                  <a:srgbClr val="0070C0"/>
                </a:solidFill>
              </a:rPr>
              <a:t>6% of children have some form of Dyspraxia  </a:t>
            </a:r>
            <a:r>
              <a:rPr lang="en-GB" sz="1200" dirty="0" smtClean="0"/>
              <a:t>→ this means 1 out of every 20 students in school may have inherent difficulties with the acquisition and use of spoken language and fine motor skills (seen mainly in handwriting). They may also struggle with everyday adult language, understanding abstract concepts, interpreting different opinions, taking part in group work. </a:t>
            </a:r>
          </a:p>
          <a:p>
            <a:r>
              <a:rPr lang="en-GB" sz="1200" dirty="0" smtClean="0"/>
              <a:t> </a:t>
            </a:r>
            <a:r>
              <a:rPr lang="en-GB" sz="1200" dirty="0" smtClean="0">
                <a:solidFill>
                  <a:schemeClr val="accent6">
                    <a:lumMod val="75000"/>
                  </a:schemeClr>
                </a:solidFill>
              </a:rPr>
              <a:t>7% of children have some form of SLCN </a:t>
            </a:r>
            <a:r>
              <a:rPr lang="en-GB" sz="1200" dirty="0" smtClean="0"/>
              <a:t>(Speech, Language and Communication Needs) →this means 1 out of every 20 students in school may have inherent difficulties with the continued acquisition, understanding and expression of spoken language. </a:t>
            </a:r>
          </a:p>
          <a:p>
            <a:r>
              <a:rPr lang="en-GB" sz="1200" dirty="0" smtClean="0"/>
              <a:t> </a:t>
            </a:r>
            <a:r>
              <a:rPr lang="en-GB" sz="1200" dirty="0" smtClean="0">
                <a:solidFill>
                  <a:srgbClr val="00B050"/>
                </a:solidFill>
              </a:rPr>
              <a:t>12% of children have some form of Optical difficulty including Scotopic Sensitivity (Irlen Syndrome) </a:t>
            </a:r>
            <a:r>
              <a:rPr lang="en-GB" sz="1200" dirty="0" smtClean="0"/>
              <a:t>→this means 2 out of every 20 students in school will have inherent difficulties with seeing or processing certain types of visual information – particularly when there is glare, high contrast, complex patterns (including text) and colours. </a:t>
            </a:r>
          </a:p>
          <a:p>
            <a:r>
              <a:rPr lang="en-GB" sz="1200" dirty="0" smtClean="0"/>
              <a:t> </a:t>
            </a:r>
            <a:r>
              <a:rPr lang="en-GB" sz="1200" dirty="0" smtClean="0">
                <a:solidFill>
                  <a:srgbClr val="0070C0"/>
                </a:solidFill>
              </a:rPr>
              <a:t>1% of children have some form of Autistic Spectrum Disorder (ASD) </a:t>
            </a:r>
            <a:r>
              <a:rPr lang="en-GB" sz="1200" dirty="0" smtClean="0"/>
              <a:t>→this means 1 out of 3 – 4 classes in school will have a student with substantial, inherent difficulties with the understanding of abstract concepts, empathy, interpretation of different opinions, group work and imaginative writing.</a:t>
            </a:r>
          </a:p>
          <a:p>
            <a:endParaRPr lang="en-GB" dirty="0"/>
          </a:p>
        </p:txBody>
      </p:sp>
      <p:sp>
        <p:nvSpPr>
          <p:cNvPr id="4" name="Slide Number Placeholder 3"/>
          <p:cNvSpPr>
            <a:spLocks noGrp="1"/>
          </p:cNvSpPr>
          <p:nvPr>
            <p:ph type="sldNum" sz="quarter" idx="10"/>
          </p:nvPr>
        </p:nvSpPr>
        <p:spPr/>
        <p:txBody>
          <a:bodyPr/>
          <a:lstStyle/>
          <a:p>
            <a:fld id="{290F3870-A434-4A7C-8F2D-071318B8D3B9}" type="slidenum">
              <a:rPr lang="en-GB" smtClean="0"/>
              <a:pPr/>
              <a:t>15</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Discuss the difficulties when copying</a:t>
            </a:r>
            <a:r>
              <a:rPr lang="en-GB" baseline="0" dirty="0" smtClean="0"/>
              <a:t> from a vertical to a horizontal plain.</a:t>
            </a:r>
            <a:endParaRPr lang="en-GB" dirty="0"/>
          </a:p>
        </p:txBody>
      </p:sp>
      <p:sp>
        <p:nvSpPr>
          <p:cNvPr id="4" name="Slide Number Placeholder 3"/>
          <p:cNvSpPr>
            <a:spLocks noGrp="1"/>
          </p:cNvSpPr>
          <p:nvPr>
            <p:ph type="sldNum" sz="quarter" idx="10"/>
          </p:nvPr>
        </p:nvSpPr>
        <p:spPr/>
        <p:txBody>
          <a:bodyPr/>
          <a:lstStyle/>
          <a:p>
            <a:fld id="{290F3870-A434-4A7C-8F2D-071318B8D3B9}" type="slidenum">
              <a:rPr lang="en-GB" smtClean="0"/>
              <a:pPr/>
              <a:t>17</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None/>
            </a:pPr>
            <a:r>
              <a:rPr lang="en-GB" sz="1200" dirty="0" smtClean="0"/>
              <a:t>Structure – Students with ASD need a very clear structure in terms of timetable, predictable lesson routines, clearly demarcated transitions during the day etc. </a:t>
            </a:r>
          </a:p>
          <a:p>
            <a:pPr>
              <a:buNone/>
            </a:pPr>
            <a:r>
              <a:rPr lang="en-GB" sz="1200" dirty="0" smtClean="0"/>
              <a:t> • Positivity – Students with ASD will have often found themselves regularly in conflict with the culture and systems of the school environment – and are likely to have encountered much advice starting with  “you can’t” , “you shouldn’t” etc. They need positive targets and language for behaviour and learning expectation. </a:t>
            </a:r>
          </a:p>
          <a:p>
            <a:pPr>
              <a:buNone/>
            </a:pPr>
            <a:r>
              <a:rPr lang="en-GB" sz="1200" dirty="0" smtClean="0"/>
              <a:t> • Empathy – Staff working with students with ASD need to constantly place themselves in each student’s shoes because they see the world differently and therefore act differently. Staff need to regularly meet and ‘de-brief’ each other act as a way of reflecting and checking each other’s emotions. </a:t>
            </a:r>
          </a:p>
          <a:p>
            <a:pPr>
              <a:buNone/>
            </a:pPr>
            <a:r>
              <a:rPr lang="en-GB" sz="1200" dirty="0" smtClean="0"/>
              <a:t> • Low Arousal - The approaches and environment need to be calm and ordered in such a way so as to reduce anxiety and aid concentration. Lighting, volume, background noise all need to be considered. </a:t>
            </a:r>
          </a:p>
          <a:p>
            <a:pPr>
              <a:buNone/>
            </a:pPr>
            <a:r>
              <a:rPr lang="en-GB" sz="1200" dirty="0" smtClean="0"/>
              <a:t> • Links – A consistent approach between all staff and, as much as possible, with families is needed to provide security for the students</a:t>
            </a:r>
            <a:endParaRPr lang="en-GB" dirty="0"/>
          </a:p>
        </p:txBody>
      </p:sp>
      <p:sp>
        <p:nvSpPr>
          <p:cNvPr id="4" name="Slide Number Placeholder 3"/>
          <p:cNvSpPr>
            <a:spLocks noGrp="1"/>
          </p:cNvSpPr>
          <p:nvPr>
            <p:ph type="sldNum" sz="quarter" idx="10"/>
          </p:nvPr>
        </p:nvSpPr>
        <p:spPr/>
        <p:txBody>
          <a:bodyPr/>
          <a:lstStyle/>
          <a:p>
            <a:fld id="{290F3870-A434-4A7C-8F2D-071318B8D3B9}" type="slidenum">
              <a:rPr lang="en-GB" smtClean="0"/>
              <a:pPr/>
              <a:t>22</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Interesting to note that after a week</a:t>
            </a:r>
            <a:r>
              <a:rPr lang="en-GB" baseline="0" dirty="0" smtClean="0"/>
              <a:t> only a quarter of the information has been retained</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25</a:t>
            </a:fld>
            <a:endParaRPr lang="en-GB"/>
          </a:p>
        </p:txBody>
      </p:sp>
    </p:spTree>
    <p:extLst>
      <p:ext uri="{BB962C8B-B14F-4D97-AF65-F5344CB8AC3E}">
        <p14:creationId xmlns:p14="http://schemas.microsoft.com/office/powerpoint/2010/main" val="869197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26</a:t>
            </a:fld>
            <a:endParaRPr lang="en-GB"/>
          </a:p>
        </p:txBody>
      </p:sp>
    </p:spTree>
    <p:extLst>
      <p:ext uri="{BB962C8B-B14F-4D97-AF65-F5344CB8AC3E}">
        <p14:creationId xmlns:p14="http://schemas.microsoft.com/office/powerpoint/2010/main" val="2271050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I would like to add, “Place in middle sets and not bottom sets as they need  good models of language and learning/ behaviour.” </a:t>
            </a:r>
          </a:p>
          <a:p>
            <a:r>
              <a:rPr lang="en-GB" sz="1200" kern="1200" dirty="0" smtClean="0">
                <a:solidFill>
                  <a:schemeClr val="tx1"/>
                </a:solidFill>
                <a:effectLst/>
                <a:latin typeface="+mn-lt"/>
                <a:ea typeface="+mn-ea"/>
                <a:cs typeface="+mn-cs"/>
              </a:rPr>
              <a:t>What about advanced EAL learners who need support, including born &amp; brought up here, fluent speakers, quite literate but requiring support with developing formal/ academic English?  Is this an issue for Cox Green?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27</a:t>
            </a:fld>
            <a:endParaRPr lang="en-GB"/>
          </a:p>
        </p:txBody>
      </p:sp>
    </p:spTree>
    <p:extLst>
      <p:ext uri="{BB962C8B-B14F-4D97-AF65-F5344CB8AC3E}">
        <p14:creationId xmlns:p14="http://schemas.microsoft.com/office/powerpoint/2010/main" val="306084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GB" sz="1200" dirty="0" smtClean="0"/>
              <a:t>Allow regular check-in time to key adult/ secure base. This needs to be on a </a:t>
            </a:r>
            <a:r>
              <a:rPr lang="en-GB" sz="1200" b="1" dirty="0" smtClean="0"/>
              <a:t>regular</a:t>
            </a:r>
            <a:r>
              <a:rPr lang="en-GB" sz="1200" dirty="0" smtClean="0"/>
              <a:t> basis – once is not enough it needs to be built into both yours and students daily/weekly routine. </a:t>
            </a:r>
          </a:p>
          <a:p>
            <a:pPr marL="285750" indent="-285750">
              <a:buFont typeface="Arial" panose="020B0604020202020204" pitchFamily="34" charset="0"/>
              <a:buChar char="•"/>
            </a:pPr>
            <a:r>
              <a:rPr lang="en-GB" sz="1200" dirty="0" smtClean="0"/>
              <a:t>Differentiate according to developmental (not chronological) age. </a:t>
            </a:r>
          </a:p>
          <a:p>
            <a:pPr marL="285750" indent="-285750">
              <a:buFont typeface="Arial" panose="020B0604020202020204" pitchFamily="34" charset="0"/>
              <a:buChar char="•"/>
            </a:pPr>
            <a:r>
              <a:rPr lang="en-GB" sz="1200" dirty="0" smtClean="0"/>
              <a:t>Do not insist on eye contact. This does not mean that a child is being rude or not listening. It is a very difficult thing to do. Try and do this firstly with someone you know and then with a new acquaintance. How do you feel? </a:t>
            </a:r>
          </a:p>
          <a:p>
            <a:pPr marL="285750" indent="-285750">
              <a:buFont typeface="Arial" panose="020B0604020202020204" pitchFamily="34" charset="0"/>
              <a:buChar char="•"/>
            </a:pPr>
            <a:r>
              <a:rPr lang="en-GB" sz="1200" dirty="0" smtClean="0"/>
              <a:t>Be sensitive to possible emotive curriculum content. </a:t>
            </a:r>
            <a:r>
              <a:rPr lang="en-GB" sz="1200" b="1" dirty="0" smtClean="0"/>
              <a:t>We don’t always know how emotions and memories can be triggered. </a:t>
            </a:r>
            <a:r>
              <a:rPr lang="en-GB" sz="1200" dirty="0" smtClean="0"/>
              <a:t>By knowing our students we will not bring subject content which is difficult for them to hear into the lesson content. </a:t>
            </a:r>
          </a:p>
          <a:p>
            <a:pPr marL="285750" indent="-285750">
              <a:buFont typeface="Arial" panose="020B0604020202020204" pitchFamily="34" charset="0"/>
              <a:buChar char="•"/>
            </a:pPr>
            <a:r>
              <a:rPr lang="en-GB" sz="1200" dirty="0" smtClean="0"/>
              <a:t>Keep your voice and body language grounded and </a:t>
            </a:r>
            <a:r>
              <a:rPr lang="en-GB" sz="1200" b="1" dirty="0" smtClean="0"/>
              <a:t>calm at all times</a:t>
            </a:r>
            <a:r>
              <a:rPr lang="en-GB" sz="1200" dirty="0" smtClean="0"/>
              <a:t>. Students can see weakness very quickly and they pounce on this very quickly. </a:t>
            </a:r>
          </a:p>
          <a:p>
            <a:pPr marL="285750" indent="-285750">
              <a:buFont typeface="Arial" panose="020B0604020202020204" pitchFamily="34" charset="0"/>
              <a:buChar char="•"/>
            </a:pPr>
            <a:r>
              <a:rPr lang="en-GB" sz="1200" dirty="0" smtClean="0"/>
              <a:t>Present the pupil with two or </a:t>
            </a:r>
            <a:r>
              <a:rPr lang="en-GB" sz="1200" b="1" dirty="0" smtClean="0"/>
              <a:t>three choices</a:t>
            </a:r>
            <a:r>
              <a:rPr lang="en-GB" sz="1200" dirty="0" smtClean="0"/>
              <a:t>, rather than engaging in control battles. Once the options have been given, don’t negotiate be firm on what you have offered. </a:t>
            </a:r>
          </a:p>
          <a:p>
            <a:pPr marL="285750" indent="-285750">
              <a:buFont typeface="Arial" panose="020B0604020202020204" pitchFamily="34" charset="0"/>
              <a:buChar char="•"/>
            </a:pPr>
            <a:r>
              <a:rPr lang="en-GB" sz="1200" dirty="0" smtClean="0"/>
              <a:t>Offer opportunities for reparation as close to the incident/conflict as possible. </a:t>
            </a:r>
            <a:r>
              <a:rPr lang="en-GB" sz="1200" b="1" dirty="0" smtClean="0"/>
              <a:t>Provide time for the students to de-escalate their feelings </a:t>
            </a:r>
            <a:r>
              <a:rPr lang="en-GB" sz="1200" dirty="0" smtClean="0"/>
              <a:t>and then discuss calmly. Use ‘we’ not you </a:t>
            </a:r>
          </a:p>
          <a:p>
            <a:pPr marL="285750" indent="-285750">
              <a:buFont typeface="Arial" panose="020B0604020202020204" pitchFamily="34" charset="0"/>
              <a:buChar char="•"/>
            </a:pPr>
            <a:r>
              <a:rPr lang="en-GB" sz="1200" b="1" dirty="0" smtClean="0"/>
              <a:t>Use language that builds a pupil up</a:t>
            </a:r>
            <a:r>
              <a:rPr lang="en-GB" sz="1200" dirty="0" smtClean="0"/>
              <a:t>, such as ‘practising’ and ‘getting stronger at’. </a:t>
            </a:r>
          </a:p>
          <a:p>
            <a:pPr marL="285750" indent="-285750">
              <a:buFont typeface="Arial" panose="020B0604020202020204" pitchFamily="34" charset="0"/>
              <a:buChar char="•"/>
            </a:pPr>
            <a:r>
              <a:rPr lang="en-GB" sz="1200" b="1" dirty="0" smtClean="0"/>
              <a:t>Give prior warning </a:t>
            </a:r>
            <a:r>
              <a:rPr lang="en-GB" sz="1200" dirty="0" smtClean="0"/>
              <a:t>and preparation if there are changes to routine, or transitions coming up. Students who are very anxious struggle with change, provide them with as much warning as you can and offer support for those changes.</a:t>
            </a:r>
          </a:p>
          <a:p>
            <a:pPr marL="285750" indent="-285750">
              <a:buFont typeface="Arial" panose="020B0604020202020204" pitchFamily="34" charset="0"/>
              <a:buChar char="•"/>
            </a:pPr>
            <a:r>
              <a:rPr lang="en-GB" sz="1200" dirty="0" smtClean="0"/>
              <a:t>Use “</a:t>
            </a:r>
            <a:r>
              <a:rPr lang="en-GB" sz="1200" b="1" dirty="0" smtClean="0"/>
              <a:t>Let’s</a:t>
            </a:r>
            <a:r>
              <a:rPr lang="en-GB" sz="1200" dirty="0" smtClean="0"/>
              <a:t>” rather than “Don’t”.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30</a:t>
            </a:fld>
            <a:endParaRPr lang="en-GB"/>
          </a:p>
        </p:txBody>
      </p:sp>
    </p:spTree>
    <p:extLst>
      <p:ext uri="{BB962C8B-B14F-4D97-AF65-F5344CB8AC3E}">
        <p14:creationId xmlns:p14="http://schemas.microsoft.com/office/powerpoint/2010/main" val="3521130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Twilight on ‘Setting the priorities for our students with EHCP and EAL and sharing strategies for lessons to support these students effectively’ – 25/09</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32</a:t>
            </a:fld>
            <a:endParaRPr lang="en-GB"/>
          </a:p>
        </p:txBody>
      </p:sp>
    </p:spTree>
    <p:extLst>
      <p:ext uri="{BB962C8B-B14F-4D97-AF65-F5344CB8AC3E}">
        <p14:creationId xmlns:p14="http://schemas.microsoft.com/office/powerpoint/2010/main" val="36724350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CCC61E8-F843-4A6B-A08E-1CA4A4800E1A}" type="datetimeFigureOut">
              <a:rPr lang="en-GB" smtClean="0"/>
              <a:pPr/>
              <a:t>07/12/2017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5D859BC0-7D65-4620-B191-2514862DD904}" type="slidenum">
              <a:rPr lang="en-GB" smtClean="0"/>
              <a:pPr/>
              <a:t>‹#›</a:t>
            </a:fld>
            <a:endParaRPr lang="en-GB" dirty="0"/>
          </a:p>
        </p:txBody>
      </p:sp>
    </p:spTree>
    <p:extLst>
      <p:ext uri="{BB962C8B-B14F-4D97-AF65-F5344CB8AC3E}">
        <p14:creationId xmlns:p14="http://schemas.microsoft.com/office/powerpoint/2010/main" val="2617382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12/7/2017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9.jpeg"/><Relationship Id="rId9"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www.visuallearningforlife.com/" TargetMode="External"/><Relationship Id="rId3" Type="http://schemas.openxmlformats.org/officeDocument/2006/relationships/hyperlink" Target="http://www.suepalmer.co.uk/" TargetMode="External"/><Relationship Id="rId7" Type="http://schemas.openxmlformats.org/officeDocument/2006/relationships/hyperlink" Target="http://www.eyecanlearn.co.uk/" TargetMode="External"/><Relationship Id="rId2" Type="http://schemas.openxmlformats.org/officeDocument/2006/relationships/hyperlink" Target="http://www.dyspraxiafoundation.co.uk/" TargetMode="External"/><Relationship Id="rId1" Type="http://schemas.openxmlformats.org/officeDocument/2006/relationships/slideLayout" Target="../slideLayouts/slideLayout7.xml"/><Relationship Id="rId6" Type="http://schemas.openxmlformats.org/officeDocument/2006/relationships/hyperlink" Target="http://www.specialeducationalneeds.co.uk/" TargetMode="External"/><Relationship Id="rId5" Type="http://schemas.openxmlformats.org/officeDocument/2006/relationships/hyperlink" Target="http://www.talk4writing.co.uk/" TargetMode="External"/><Relationship Id="rId4" Type="http://schemas.openxmlformats.org/officeDocument/2006/relationships/hyperlink" Target="http://www.tts-group.co.uk/"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510746" y="980303"/>
            <a:ext cx="8048367" cy="2741842"/>
          </a:xfrm>
        </p:spPr>
        <p:txBody>
          <a:bodyPr>
            <a:normAutofit/>
          </a:bodyPr>
          <a:lstStyle/>
          <a:p>
            <a:pPr marL="0" indent="0" algn="ctr">
              <a:buNone/>
            </a:pPr>
            <a:r>
              <a:rPr lang="en-GB" sz="5400" dirty="0">
                <a:solidFill>
                  <a:schemeClr val="bg1"/>
                </a:solidFill>
                <a:latin typeface="Arial" pitchFamily="34" charset="0"/>
                <a:cs typeface="Arial" pitchFamily="34" charset="0"/>
              </a:rPr>
              <a:t>‘Every Teacher is a Teacher of Special Needs’</a:t>
            </a:r>
            <a:endParaRPr lang="en-GB" sz="5400" dirty="0">
              <a:solidFill>
                <a:schemeClr val="bg1"/>
              </a:solidFill>
            </a:endParaRPr>
          </a:p>
        </p:txBody>
      </p:sp>
      <p:sp>
        <p:nvSpPr>
          <p:cNvPr id="3" name="Text Placeholder 2"/>
          <p:cNvSpPr>
            <a:spLocks noGrp="1"/>
          </p:cNvSpPr>
          <p:nvPr>
            <p:ph type="body" sz="quarter" idx="4294967295"/>
          </p:nvPr>
        </p:nvSpPr>
        <p:spPr>
          <a:xfrm>
            <a:off x="1939925" y="3929449"/>
            <a:ext cx="5280025" cy="1911178"/>
          </a:xfrm>
        </p:spPr>
        <p:txBody>
          <a:bodyPr>
            <a:normAutofit fontScale="70000" lnSpcReduction="20000"/>
          </a:bodyPr>
          <a:lstStyle/>
          <a:p>
            <a:r>
              <a:rPr lang="en-GB" dirty="0">
                <a:solidFill>
                  <a:schemeClr val="accent6">
                    <a:lumMod val="75000"/>
                  </a:schemeClr>
                </a:solidFill>
                <a:latin typeface="Arial" pitchFamily="34" charset="0"/>
                <a:cs typeface="Arial" pitchFamily="34" charset="0"/>
              </a:rPr>
              <a:t>The role of SENCo</a:t>
            </a:r>
          </a:p>
          <a:p>
            <a:r>
              <a:rPr lang="en-GB" dirty="0">
                <a:solidFill>
                  <a:schemeClr val="accent6">
                    <a:lumMod val="75000"/>
                  </a:schemeClr>
                </a:solidFill>
                <a:latin typeface="Arial" pitchFamily="34" charset="0"/>
                <a:cs typeface="Arial" pitchFamily="34" charset="0"/>
              </a:rPr>
              <a:t>Policy and practice</a:t>
            </a:r>
          </a:p>
          <a:p>
            <a:r>
              <a:rPr lang="en-GB" dirty="0">
                <a:solidFill>
                  <a:schemeClr val="accent6">
                    <a:lumMod val="75000"/>
                  </a:schemeClr>
                </a:solidFill>
                <a:latin typeface="Arial" pitchFamily="34" charset="0"/>
                <a:cs typeface="Arial" pitchFamily="34" charset="0"/>
              </a:rPr>
              <a:t>Quality First Teaching</a:t>
            </a:r>
          </a:p>
          <a:p>
            <a:r>
              <a:rPr lang="en-GB" dirty="0">
                <a:solidFill>
                  <a:schemeClr val="accent6">
                    <a:lumMod val="75000"/>
                  </a:schemeClr>
                </a:solidFill>
                <a:latin typeface="Arial" pitchFamily="34" charset="0"/>
                <a:cs typeface="Arial" pitchFamily="34" charset="0"/>
              </a:rPr>
              <a:t>Identification</a:t>
            </a:r>
          </a:p>
          <a:p>
            <a:r>
              <a:rPr lang="en-GB" dirty="0">
                <a:solidFill>
                  <a:schemeClr val="accent6">
                    <a:lumMod val="75000"/>
                  </a:schemeClr>
                </a:solidFill>
                <a:latin typeface="Arial" pitchFamily="34" charset="0"/>
                <a:cs typeface="Arial" pitchFamily="34" charset="0"/>
              </a:rPr>
              <a:t>Strategies</a:t>
            </a: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4294967295"/>
          </p:nvPr>
        </p:nvSpPr>
        <p:spPr>
          <a:xfrm>
            <a:off x="1228725" y="192088"/>
            <a:ext cx="7915275" cy="1166812"/>
          </a:xfrm>
        </p:spPr>
        <p:txBody>
          <a:bodyPr/>
          <a:lstStyle/>
          <a:p>
            <a:pPr marL="0" indent="0" algn="r">
              <a:buNone/>
            </a:pPr>
            <a:r>
              <a:rPr lang="en-GB" sz="4400" b="1" dirty="0">
                <a:solidFill>
                  <a:srgbClr val="C00000"/>
                </a:solidFill>
                <a:latin typeface="Arial" pitchFamily="34" charset="0"/>
                <a:cs typeface="Arial" pitchFamily="34" charset="0"/>
              </a:rPr>
              <a:t>The SENCO</a:t>
            </a:r>
            <a:endParaRPr lang="en-US" sz="4400" dirty="0">
              <a:solidFill>
                <a:srgbClr val="47434F"/>
              </a:solidFill>
              <a:latin typeface="+mj-lt"/>
            </a:endParaRPr>
          </a:p>
        </p:txBody>
      </p:sp>
      <p:sp>
        <p:nvSpPr>
          <p:cNvPr id="10" name="Text Placeholder 9"/>
          <p:cNvSpPr>
            <a:spLocks noGrp="1"/>
          </p:cNvSpPr>
          <p:nvPr>
            <p:ph type="body" sz="quarter" idx="4294967295"/>
          </p:nvPr>
        </p:nvSpPr>
        <p:spPr>
          <a:xfrm>
            <a:off x="947738" y="1062038"/>
            <a:ext cx="8196262" cy="5272087"/>
          </a:xfrm>
        </p:spPr>
        <p:txBody>
          <a:bodyPr>
            <a:normAutofit fontScale="55000" lnSpcReduction="20000"/>
          </a:bodyPr>
          <a:lstStyle/>
          <a:p>
            <a:pPr>
              <a:buNone/>
            </a:pPr>
            <a:r>
              <a:rPr lang="en-GB" sz="4000" dirty="0">
                <a:solidFill>
                  <a:schemeClr val="accent6">
                    <a:lumMod val="75000"/>
                  </a:schemeClr>
                </a:solidFill>
                <a:latin typeface="Arial" pitchFamily="34" charset="0"/>
                <a:cs typeface="Arial" pitchFamily="34" charset="0"/>
              </a:rPr>
              <a:t>The National Standards for Special </a:t>
            </a:r>
          </a:p>
          <a:p>
            <a:pPr>
              <a:buNone/>
            </a:pPr>
            <a:r>
              <a:rPr lang="en-GB" sz="4000" dirty="0">
                <a:solidFill>
                  <a:schemeClr val="accent6">
                    <a:lumMod val="75000"/>
                  </a:schemeClr>
                </a:solidFill>
                <a:latin typeface="Arial" pitchFamily="34" charset="0"/>
                <a:cs typeface="Arial" pitchFamily="34" charset="0"/>
              </a:rPr>
              <a:t>Educational Needs Coordinators (2014), sets out </a:t>
            </a:r>
          </a:p>
          <a:p>
            <a:pPr>
              <a:buNone/>
            </a:pPr>
            <a:r>
              <a:rPr lang="en-GB" sz="4000" dirty="0">
                <a:solidFill>
                  <a:schemeClr val="accent6">
                    <a:lumMod val="75000"/>
                  </a:schemeClr>
                </a:solidFill>
                <a:latin typeface="Arial" pitchFamily="34" charset="0"/>
                <a:cs typeface="Arial" pitchFamily="34" charset="0"/>
              </a:rPr>
              <a:t>four suggested areas of SEN coordination:</a:t>
            </a:r>
          </a:p>
          <a:p>
            <a:pPr>
              <a:buNone/>
            </a:pPr>
            <a:endParaRPr lang="en-GB" sz="4000" dirty="0">
              <a:solidFill>
                <a:schemeClr val="accent6">
                  <a:lumMod val="75000"/>
                </a:schemeClr>
              </a:solidFill>
              <a:latin typeface="Arial" pitchFamily="34" charset="0"/>
              <a:cs typeface="Arial" pitchFamily="34" charset="0"/>
            </a:endParaRPr>
          </a:p>
          <a:p>
            <a:r>
              <a:rPr lang="en-GB" sz="4000" dirty="0">
                <a:solidFill>
                  <a:schemeClr val="accent6">
                    <a:lumMod val="75000"/>
                  </a:schemeClr>
                </a:solidFill>
                <a:latin typeface="Arial" pitchFamily="34" charset="0"/>
                <a:cs typeface="Arial" pitchFamily="34" charset="0"/>
              </a:rPr>
              <a:t>Strategic direction/ development of SEN provision in school</a:t>
            </a:r>
          </a:p>
          <a:p>
            <a:r>
              <a:rPr lang="en-GB" sz="4000" dirty="0">
                <a:solidFill>
                  <a:schemeClr val="accent6">
                    <a:lumMod val="75000"/>
                  </a:schemeClr>
                </a:solidFill>
                <a:latin typeface="Arial" pitchFamily="34" charset="0"/>
                <a:cs typeface="Arial" pitchFamily="34" charset="0"/>
              </a:rPr>
              <a:t>Teaching/learning</a:t>
            </a:r>
          </a:p>
          <a:p>
            <a:r>
              <a:rPr lang="en-GB" sz="4000" dirty="0">
                <a:solidFill>
                  <a:schemeClr val="accent6">
                    <a:lumMod val="75000"/>
                  </a:schemeClr>
                </a:solidFill>
                <a:latin typeface="Arial" pitchFamily="34" charset="0"/>
                <a:cs typeface="Arial" pitchFamily="34" charset="0"/>
              </a:rPr>
              <a:t>Leading and managing staff</a:t>
            </a:r>
          </a:p>
          <a:p>
            <a:r>
              <a:rPr lang="en-GB" sz="4000" dirty="0">
                <a:solidFill>
                  <a:schemeClr val="accent6">
                    <a:lumMod val="75000"/>
                  </a:schemeClr>
                </a:solidFill>
                <a:latin typeface="Arial" pitchFamily="34" charset="0"/>
                <a:cs typeface="Arial" pitchFamily="34" charset="0"/>
              </a:rPr>
              <a:t>Efficient/effective deployment of staff and resources</a:t>
            </a:r>
          </a:p>
          <a:p>
            <a:pPr>
              <a:buNone/>
            </a:pPr>
            <a:endParaRPr lang="en-GB" sz="4000" dirty="0">
              <a:solidFill>
                <a:schemeClr val="accent6">
                  <a:lumMod val="75000"/>
                </a:schemeClr>
              </a:solidFill>
              <a:latin typeface="Arial" pitchFamily="34" charset="0"/>
              <a:cs typeface="Arial" pitchFamily="34" charset="0"/>
            </a:endParaRPr>
          </a:p>
          <a:p>
            <a:pPr>
              <a:buNone/>
            </a:pPr>
            <a:endParaRPr lang="en-GB" sz="4000" dirty="0">
              <a:solidFill>
                <a:schemeClr val="accent6">
                  <a:lumMod val="75000"/>
                </a:schemeClr>
              </a:solidFill>
              <a:latin typeface="Arial" pitchFamily="34" charset="0"/>
              <a:cs typeface="Arial" pitchFamily="34" charset="0"/>
            </a:endParaRPr>
          </a:p>
          <a:p>
            <a:pPr>
              <a:buNone/>
            </a:pPr>
            <a:r>
              <a:rPr lang="en-GB" sz="4000" dirty="0">
                <a:solidFill>
                  <a:schemeClr val="accent6">
                    <a:lumMod val="75000"/>
                  </a:schemeClr>
                </a:solidFill>
                <a:latin typeface="Arial" pitchFamily="34" charset="0"/>
                <a:cs typeface="Arial" pitchFamily="34" charset="0"/>
              </a:rPr>
              <a:t>The key pieces of SEN legislation that SENCos must be familiar with are Part 3 of the Children and Families Act 2014 and  the ‘SEND Code of Practice’ [2015] (‘</a:t>
            </a:r>
            <a:r>
              <a:rPr lang="en-GB" sz="4000" dirty="0" err="1">
                <a:solidFill>
                  <a:schemeClr val="accent6">
                    <a:lumMod val="75000"/>
                  </a:schemeClr>
                </a:solidFill>
                <a:latin typeface="Arial" pitchFamily="34" charset="0"/>
                <a:cs typeface="Arial" pitchFamily="34" charset="0"/>
              </a:rPr>
              <a:t>CoP</a:t>
            </a:r>
            <a:r>
              <a:rPr lang="en-GB" sz="4000" dirty="0">
                <a:solidFill>
                  <a:schemeClr val="accent6">
                    <a:lumMod val="75000"/>
                  </a:schemeClr>
                </a:solidFill>
                <a:latin typeface="Arial" pitchFamily="34" charset="0"/>
                <a:cs typeface="Arial" pitchFamily="34" charset="0"/>
              </a:rPr>
              <a:t>’), which elaborates on their legal requirements and provides guidance on education of children with SEND.</a:t>
            </a:r>
          </a:p>
          <a:p>
            <a:pPr marL="0" indent="0" algn="ctr">
              <a:buNone/>
            </a:pPr>
            <a:endParaRPr lang="en-GB" sz="4000" b="1" dirty="0" smtClean="0">
              <a:solidFill>
                <a:srgbClr val="47434F"/>
              </a:solidFill>
              <a:latin typeface="+mn-lt"/>
            </a:endParaRPr>
          </a:p>
        </p:txBody>
      </p:sp>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324" y="576649"/>
            <a:ext cx="7933038" cy="5078313"/>
          </a:xfrm>
          <a:prstGeom prst="rect">
            <a:avLst/>
          </a:prstGeom>
          <a:noFill/>
        </p:spPr>
        <p:txBody>
          <a:bodyPr wrap="square" rtlCol="0">
            <a:spAutoFit/>
          </a:bodyPr>
          <a:lstStyle/>
          <a:p>
            <a:pPr algn="ctr"/>
            <a:r>
              <a:rPr lang="en-GB" sz="3600" dirty="0" smtClean="0"/>
              <a:t>SENCos seek to develop, with the support of the headteacher and colleagues, </a:t>
            </a:r>
            <a:r>
              <a:rPr lang="en-GB" sz="3600" i="1" dirty="0" smtClean="0">
                <a:solidFill>
                  <a:schemeClr val="accent2">
                    <a:lumMod val="75000"/>
                  </a:schemeClr>
                </a:solidFill>
              </a:rPr>
              <a:t>effective ways of overcoming barriers </a:t>
            </a:r>
            <a:r>
              <a:rPr lang="en-GB" sz="3600" dirty="0" smtClean="0"/>
              <a:t>to learning and </a:t>
            </a:r>
            <a:r>
              <a:rPr lang="en-GB" sz="3600" i="1" dirty="0" smtClean="0">
                <a:solidFill>
                  <a:schemeClr val="accent2">
                    <a:lumMod val="75000"/>
                  </a:schemeClr>
                </a:solidFill>
              </a:rPr>
              <a:t>sustaining effective teaching </a:t>
            </a:r>
            <a:r>
              <a:rPr lang="en-GB" sz="3600" dirty="0" smtClean="0"/>
              <a:t>through the </a:t>
            </a:r>
            <a:r>
              <a:rPr lang="en-GB" sz="3600" i="1" dirty="0" smtClean="0">
                <a:solidFill>
                  <a:schemeClr val="accent2">
                    <a:lumMod val="75000"/>
                  </a:schemeClr>
                </a:solidFill>
              </a:rPr>
              <a:t>analysis and assessment </a:t>
            </a:r>
            <a:r>
              <a:rPr lang="en-GB" sz="3600" dirty="0" smtClean="0"/>
              <a:t>of pupils’ needs, by </a:t>
            </a:r>
            <a:r>
              <a:rPr lang="en-GB" sz="3600" i="1" dirty="0" smtClean="0">
                <a:solidFill>
                  <a:schemeClr val="accent2">
                    <a:lumMod val="75000"/>
                  </a:schemeClr>
                </a:solidFill>
              </a:rPr>
              <a:t>monitoring the quality </a:t>
            </a:r>
            <a:r>
              <a:rPr lang="en-GB" sz="3600" dirty="0" smtClean="0"/>
              <a:t>of teaching and standards of pupils’ achievements, and by </a:t>
            </a:r>
            <a:r>
              <a:rPr lang="en-GB" sz="3600" i="1" dirty="0" smtClean="0">
                <a:solidFill>
                  <a:schemeClr val="accent2">
                    <a:lumMod val="75000"/>
                  </a:schemeClr>
                </a:solidFill>
              </a:rPr>
              <a:t>setting targets </a:t>
            </a:r>
            <a:r>
              <a:rPr lang="en-GB" sz="3600" dirty="0" smtClean="0"/>
              <a:t>for improvement.</a:t>
            </a:r>
            <a:endParaRPr lang="en-GB" sz="3600" dirty="0"/>
          </a:p>
        </p:txBody>
      </p:sp>
    </p:spTree>
    <p:extLst>
      <p:ext uri="{BB962C8B-B14F-4D97-AF65-F5344CB8AC3E}">
        <p14:creationId xmlns:p14="http://schemas.microsoft.com/office/powerpoint/2010/main" val="36200014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9"/>
          <p:cNvSpPr>
            <a:spLocks noGrp="1"/>
          </p:cNvSpPr>
          <p:nvPr>
            <p:ph type="body" sz="quarter" idx="4294967295"/>
          </p:nvPr>
        </p:nvSpPr>
        <p:spPr>
          <a:xfrm>
            <a:off x="255373" y="584886"/>
            <a:ext cx="8221653" cy="5546973"/>
          </a:xfrm>
        </p:spPr>
        <p:txBody>
          <a:bodyPr>
            <a:normAutofit/>
          </a:bodyPr>
          <a:lstStyle/>
          <a:p>
            <a:pPr algn="ctr">
              <a:buNone/>
            </a:pPr>
            <a:r>
              <a:rPr lang="en-GB" sz="4000" b="1" dirty="0">
                <a:solidFill>
                  <a:srgbClr val="C00000"/>
                </a:solidFill>
                <a:latin typeface="Arial" pitchFamily="34" charset="0"/>
                <a:cs typeface="Arial" pitchFamily="34" charset="0"/>
              </a:rPr>
              <a:t>Children’s and Families Act 2014</a:t>
            </a:r>
          </a:p>
          <a:p>
            <a:pPr algn="ctr">
              <a:buNone/>
            </a:pPr>
            <a:r>
              <a:rPr lang="en-GB" sz="2400" dirty="0">
                <a:solidFill>
                  <a:schemeClr val="accent6">
                    <a:lumMod val="75000"/>
                  </a:schemeClr>
                </a:solidFill>
                <a:latin typeface="Arial" pitchFamily="34" charset="0"/>
                <a:cs typeface="Arial" pitchFamily="34" charset="0"/>
              </a:rPr>
              <a:t>How the Act helps children and young people with special educational needs or a </a:t>
            </a:r>
            <a:r>
              <a:rPr lang="en-GB" sz="2400" dirty="0" smtClean="0">
                <a:solidFill>
                  <a:schemeClr val="accent6">
                    <a:lumMod val="75000"/>
                  </a:schemeClr>
                </a:solidFill>
                <a:latin typeface="Arial" pitchFamily="34" charset="0"/>
                <a:cs typeface="Arial" pitchFamily="34" charset="0"/>
              </a:rPr>
              <a:t>disability</a:t>
            </a:r>
          </a:p>
          <a:p>
            <a:pPr algn="ctr">
              <a:buNone/>
            </a:pPr>
            <a:endParaRPr lang="en-GB" sz="2400" dirty="0">
              <a:solidFill>
                <a:schemeClr val="accent6">
                  <a:lumMod val="75000"/>
                </a:schemeClr>
              </a:solidFill>
              <a:latin typeface="Arial" pitchFamily="34" charset="0"/>
              <a:cs typeface="Arial" pitchFamily="34" charset="0"/>
            </a:endParaRPr>
          </a:p>
          <a:p>
            <a:pPr>
              <a:lnSpc>
                <a:spcPts val="3000"/>
              </a:lnSpc>
              <a:spcAft>
                <a:spcPts val="1200"/>
              </a:spcAft>
            </a:pPr>
            <a:r>
              <a:rPr lang="en-GB" sz="2400" dirty="0">
                <a:solidFill>
                  <a:schemeClr val="accent6"/>
                </a:solidFill>
                <a:latin typeface="Arial" pitchFamily="34" charset="0"/>
                <a:cs typeface="Arial" pitchFamily="34" charset="0"/>
              </a:rPr>
              <a:t>It means simpler ways of assessing what children and young people need. </a:t>
            </a:r>
            <a:endParaRPr lang="en-GB" sz="2400" dirty="0" smtClean="0">
              <a:solidFill>
                <a:schemeClr val="accent6"/>
              </a:solidFill>
              <a:latin typeface="Arial" pitchFamily="34" charset="0"/>
              <a:cs typeface="Arial" pitchFamily="34" charset="0"/>
            </a:endParaRPr>
          </a:p>
          <a:p>
            <a:pPr>
              <a:lnSpc>
                <a:spcPts val="3000"/>
              </a:lnSpc>
              <a:spcAft>
                <a:spcPts val="1200"/>
              </a:spcAft>
            </a:pPr>
            <a:r>
              <a:rPr lang="en-GB" sz="2400" dirty="0" smtClean="0">
                <a:solidFill>
                  <a:schemeClr val="accent6"/>
                </a:solidFill>
                <a:latin typeface="Arial" pitchFamily="34" charset="0"/>
                <a:cs typeface="Arial" pitchFamily="34" charset="0"/>
              </a:rPr>
              <a:t>It </a:t>
            </a:r>
            <a:r>
              <a:rPr lang="en-GB" sz="2400" dirty="0">
                <a:solidFill>
                  <a:schemeClr val="accent6"/>
                </a:solidFill>
                <a:latin typeface="Arial" pitchFamily="34" charset="0"/>
                <a:cs typeface="Arial" pitchFamily="34" charset="0"/>
              </a:rPr>
              <a:t>means getting health and social care services to work together better. </a:t>
            </a:r>
            <a:endParaRPr lang="en-GB" sz="2400" dirty="0" smtClean="0">
              <a:solidFill>
                <a:schemeClr val="accent6"/>
              </a:solidFill>
              <a:latin typeface="Arial" pitchFamily="34" charset="0"/>
              <a:cs typeface="Arial" pitchFamily="34" charset="0"/>
            </a:endParaRPr>
          </a:p>
          <a:p>
            <a:pPr>
              <a:lnSpc>
                <a:spcPts val="3000"/>
              </a:lnSpc>
              <a:spcAft>
                <a:spcPts val="1200"/>
              </a:spcAft>
            </a:pPr>
            <a:r>
              <a:rPr lang="en-GB" sz="2400" dirty="0" smtClean="0">
                <a:solidFill>
                  <a:schemeClr val="accent6"/>
                </a:solidFill>
                <a:latin typeface="Arial" pitchFamily="34" charset="0"/>
                <a:cs typeface="Arial" pitchFamily="34" charset="0"/>
              </a:rPr>
              <a:t>And </a:t>
            </a:r>
            <a:r>
              <a:rPr lang="en-GB" sz="2400" dirty="0">
                <a:solidFill>
                  <a:schemeClr val="accent6"/>
                </a:solidFill>
                <a:latin typeface="Arial" pitchFamily="34" charset="0"/>
                <a:cs typeface="Arial" pitchFamily="34" charset="0"/>
              </a:rPr>
              <a:t>it means giving children and young people themselves, as well as their parents, more choices about the help they get. </a:t>
            </a:r>
          </a:p>
          <a:p>
            <a:pPr marL="0" indent="0">
              <a:lnSpc>
                <a:spcPts val="3000"/>
              </a:lnSpc>
              <a:spcAft>
                <a:spcPts val="1200"/>
              </a:spcAft>
              <a:buNone/>
            </a:pPr>
            <a:endParaRPr lang="en-GB" sz="2200" dirty="0" smtClean="0">
              <a:solidFill>
                <a:srgbClr val="47434F"/>
              </a:solidFill>
              <a:latin typeface="+mn-lt"/>
            </a:endParaRPr>
          </a:p>
        </p:txBody>
      </p:sp>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4294967295"/>
          </p:nvPr>
        </p:nvSpPr>
        <p:spPr>
          <a:xfrm>
            <a:off x="469557" y="459738"/>
            <a:ext cx="8103831" cy="519113"/>
          </a:xfrm>
        </p:spPr>
        <p:txBody>
          <a:bodyPr>
            <a:noAutofit/>
          </a:bodyPr>
          <a:lstStyle/>
          <a:p>
            <a:pPr marL="0" indent="0">
              <a:buNone/>
            </a:pPr>
            <a:r>
              <a:rPr lang="en-GB" sz="4400" b="1" dirty="0">
                <a:solidFill>
                  <a:srgbClr val="C00000"/>
                </a:solidFill>
                <a:latin typeface="Arial" pitchFamily="34" charset="0"/>
                <a:cs typeface="Arial" pitchFamily="34" charset="0"/>
              </a:rPr>
              <a:t>SEN Code of Practice 2014</a:t>
            </a:r>
            <a:endParaRPr lang="en-GB" sz="4400" dirty="0"/>
          </a:p>
        </p:txBody>
      </p:sp>
      <p:sp>
        <p:nvSpPr>
          <p:cNvPr id="3" name="Text Placeholder 2"/>
          <p:cNvSpPr>
            <a:spLocks noGrp="1"/>
          </p:cNvSpPr>
          <p:nvPr>
            <p:ph type="body" sz="quarter" idx="4294967295"/>
          </p:nvPr>
        </p:nvSpPr>
        <p:spPr>
          <a:xfrm>
            <a:off x="238896" y="1540476"/>
            <a:ext cx="8625017" cy="4392772"/>
          </a:xfrm>
        </p:spPr>
        <p:txBody>
          <a:bodyPr>
            <a:normAutofit/>
          </a:bodyPr>
          <a:lstStyle/>
          <a:p>
            <a:pPr marL="0" indent="0">
              <a:buNone/>
            </a:pPr>
            <a:r>
              <a:rPr lang="en-GB" dirty="0">
                <a:solidFill>
                  <a:schemeClr val="accent6">
                    <a:lumMod val="75000"/>
                  </a:schemeClr>
                </a:solidFill>
                <a:latin typeface="Arial" pitchFamily="34" charset="0"/>
                <a:cs typeface="Arial" pitchFamily="34" charset="0"/>
              </a:rPr>
              <a:t>Special educational provision is educational or training provision that is additional to or different from that made generally for others of the same age. This means provision that goes beyond the differentiated approaches and learning arrangements normally provided as part of high quality, personalised teaching.</a:t>
            </a:r>
          </a:p>
          <a:p>
            <a:endParaRPr lang="en-GB" dirty="0"/>
          </a:p>
        </p:txBody>
      </p:sp>
    </p:spTree>
    <p:extLst>
      <p:ext uri="{BB962C8B-B14F-4D97-AF65-F5344CB8AC3E}">
        <p14:creationId xmlns:p14="http://schemas.microsoft.com/office/powerpoint/2010/main" val="23448954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5372" y="560173"/>
            <a:ext cx="7875373" cy="4770537"/>
          </a:xfrm>
          <a:prstGeom prst="rect">
            <a:avLst/>
          </a:prstGeom>
        </p:spPr>
        <p:txBody>
          <a:bodyPr wrap="square">
            <a:spAutoFit/>
          </a:bodyPr>
          <a:lstStyle/>
          <a:p>
            <a:r>
              <a:rPr lang="en-GB" sz="3600" dirty="0" smtClean="0">
                <a:solidFill>
                  <a:schemeClr val="accent2">
                    <a:lumMod val="75000"/>
                  </a:schemeClr>
                </a:solidFill>
                <a:latin typeface="Arial" pitchFamily="34" charset="0"/>
                <a:cs typeface="Arial" pitchFamily="34" charset="0"/>
              </a:rPr>
              <a:t>Special Educational Needs and provision is divided into 4 categories</a:t>
            </a:r>
          </a:p>
          <a:p>
            <a:endParaRPr lang="en-GB" sz="3600" dirty="0" smtClean="0">
              <a:solidFill>
                <a:schemeClr val="accent2">
                  <a:lumMod val="75000"/>
                </a:schemeClr>
              </a:solidFill>
              <a:latin typeface="Arial" pitchFamily="34" charset="0"/>
              <a:cs typeface="Arial" pitchFamily="34" charset="0"/>
            </a:endParaRPr>
          </a:p>
          <a:p>
            <a:r>
              <a:rPr lang="en-GB" sz="2800" dirty="0" smtClean="0">
                <a:solidFill>
                  <a:schemeClr val="accent2">
                    <a:lumMod val="75000"/>
                  </a:schemeClr>
                </a:solidFill>
                <a:latin typeface="Arial" pitchFamily="34" charset="0"/>
                <a:cs typeface="Arial" pitchFamily="34" charset="0"/>
              </a:rPr>
              <a:t>1. Cognition </a:t>
            </a:r>
            <a:r>
              <a:rPr lang="en-GB" sz="2800" dirty="0">
                <a:solidFill>
                  <a:schemeClr val="accent2">
                    <a:lumMod val="75000"/>
                  </a:schemeClr>
                </a:solidFill>
                <a:latin typeface="Arial" pitchFamily="34" charset="0"/>
                <a:cs typeface="Arial" pitchFamily="34" charset="0"/>
              </a:rPr>
              <a:t>and </a:t>
            </a:r>
            <a:r>
              <a:rPr lang="en-GB" sz="2800" dirty="0" smtClean="0">
                <a:solidFill>
                  <a:schemeClr val="accent2">
                    <a:lumMod val="75000"/>
                  </a:schemeClr>
                </a:solidFill>
                <a:latin typeface="Arial" pitchFamily="34" charset="0"/>
                <a:cs typeface="Arial" pitchFamily="34" charset="0"/>
              </a:rPr>
              <a:t>Learning</a:t>
            </a:r>
          </a:p>
          <a:p>
            <a:endParaRPr lang="en-GB" sz="2800" dirty="0">
              <a:solidFill>
                <a:schemeClr val="accent2">
                  <a:lumMod val="75000"/>
                </a:schemeClr>
              </a:solidFill>
              <a:latin typeface="Arial" pitchFamily="34" charset="0"/>
              <a:cs typeface="Arial" pitchFamily="34" charset="0"/>
            </a:endParaRPr>
          </a:p>
          <a:p>
            <a:pPr>
              <a:buNone/>
            </a:pPr>
            <a:r>
              <a:rPr lang="en-GB" sz="2800" dirty="0" smtClean="0">
                <a:solidFill>
                  <a:schemeClr val="accent2">
                    <a:lumMod val="75000"/>
                  </a:schemeClr>
                </a:solidFill>
                <a:latin typeface="Arial" pitchFamily="34" charset="0"/>
                <a:cs typeface="Arial" pitchFamily="34" charset="0"/>
              </a:rPr>
              <a:t>2. </a:t>
            </a:r>
            <a:r>
              <a:rPr lang="en-GB" sz="2800" dirty="0">
                <a:solidFill>
                  <a:schemeClr val="accent2">
                    <a:lumMod val="75000"/>
                  </a:schemeClr>
                </a:solidFill>
                <a:latin typeface="Arial" pitchFamily="34" charset="0"/>
                <a:cs typeface="Arial" pitchFamily="34" charset="0"/>
              </a:rPr>
              <a:t>Social, Emotional and </a:t>
            </a:r>
            <a:r>
              <a:rPr lang="en-GB" sz="2800" dirty="0" smtClean="0">
                <a:solidFill>
                  <a:schemeClr val="accent2">
                    <a:lumMod val="75000"/>
                  </a:schemeClr>
                </a:solidFill>
                <a:latin typeface="Arial" pitchFamily="34" charset="0"/>
                <a:cs typeface="Arial" pitchFamily="34" charset="0"/>
              </a:rPr>
              <a:t>Mental Health</a:t>
            </a:r>
          </a:p>
          <a:p>
            <a:pPr>
              <a:buNone/>
            </a:pPr>
            <a:endParaRPr lang="en-GB" sz="2800" dirty="0">
              <a:solidFill>
                <a:schemeClr val="accent2">
                  <a:lumMod val="75000"/>
                </a:schemeClr>
              </a:solidFill>
              <a:latin typeface="Arial" pitchFamily="34" charset="0"/>
              <a:cs typeface="Arial" pitchFamily="34" charset="0"/>
            </a:endParaRPr>
          </a:p>
          <a:p>
            <a:pPr>
              <a:buNone/>
            </a:pPr>
            <a:r>
              <a:rPr lang="en-GB" sz="2800" dirty="0">
                <a:solidFill>
                  <a:schemeClr val="accent2">
                    <a:lumMod val="75000"/>
                  </a:schemeClr>
                </a:solidFill>
                <a:latin typeface="Arial" pitchFamily="34" charset="0"/>
                <a:cs typeface="Arial" pitchFamily="34" charset="0"/>
              </a:rPr>
              <a:t>3. Communication and Interaction </a:t>
            </a:r>
            <a:r>
              <a:rPr lang="en-GB" sz="2800" dirty="0" smtClean="0">
                <a:solidFill>
                  <a:schemeClr val="accent2">
                    <a:lumMod val="75000"/>
                  </a:schemeClr>
                </a:solidFill>
                <a:latin typeface="Arial" pitchFamily="34" charset="0"/>
                <a:cs typeface="Arial" pitchFamily="34" charset="0"/>
              </a:rPr>
              <a:t>Needs</a:t>
            </a:r>
          </a:p>
          <a:p>
            <a:pPr>
              <a:buNone/>
            </a:pPr>
            <a:endParaRPr lang="en-GB" sz="2800" dirty="0">
              <a:solidFill>
                <a:schemeClr val="accent2">
                  <a:lumMod val="75000"/>
                </a:schemeClr>
              </a:solidFill>
              <a:latin typeface="Arial" pitchFamily="34" charset="0"/>
              <a:cs typeface="Arial" pitchFamily="34" charset="0"/>
            </a:endParaRPr>
          </a:p>
          <a:p>
            <a:pPr>
              <a:buNone/>
            </a:pPr>
            <a:r>
              <a:rPr lang="en-GB" sz="2800" dirty="0">
                <a:solidFill>
                  <a:schemeClr val="accent2">
                    <a:lumMod val="75000"/>
                  </a:schemeClr>
                </a:solidFill>
                <a:latin typeface="Arial" pitchFamily="34" charset="0"/>
                <a:cs typeface="Arial" pitchFamily="34" charset="0"/>
              </a:rPr>
              <a:t>4 Sensory and Physical Needs</a:t>
            </a:r>
          </a:p>
        </p:txBody>
      </p:sp>
    </p:spTree>
    <p:extLst>
      <p:ext uri="{BB962C8B-B14F-4D97-AF65-F5344CB8AC3E}">
        <p14:creationId xmlns:p14="http://schemas.microsoft.com/office/powerpoint/2010/main" val="23031074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how much do you know about special educational needs?"/>
          <p:cNvPicPr/>
          <p:nvPr/>
        </p:nvPicPr>
        <p:blipFill>
          <a:blip r:embed="rId2" cstate="print"/>
          <a:srcRect/>
          <a:stretch>
            <a:fillRect/>
          </a:stretch>
        </p:blipFill>
        <p:spPr bwMode="auto">
          <a:xfrm>
            <a:off x="457200" y="560174"/>
            <a:ext cx="8305800" cy="5758248"/>
          </a:xfrm>
          <a:prstGeom prst="rect">
            <a:avLst/>
          </a:prstGeom>
          <a:noFill/>
          <a:ln w="9525">
            <a:noFill/>
            <a:miter lim="800000"/>
            <a:headEnd/>
            <a:tailEnd/>
          </a:ln>
        </p:spPr>
      </p:pic>
    </p:spTree>
    <p:extLst>
      <p:ext uri="{BB962C8B-B14F-4D97-AF65-F5344CB8AC3E}">
        <p14:creationId xmlns:p14="http://schemas.microsoft.com/office/powerpoint/2010/main" val="26563437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166843"/>
            <a:ext cx="4572000" cy="4524315"/>
          </a:xfrm>
          <a:prstGeom prst="rect">
            <a:avLst/>
          </a:prstGeom>
        </p:spPr>
        <p:txBody>
          <a:bodyPr>
            <a:spAutoFit/>
          </a:bodyPr>
          <a:lstStyle/>
          <a:p>
            <a:r>
              <a:rPr lang="en-GB" dirty="0">
                <a:solidFill>
                  <a:schemeClr val="accent6">
                    <a:lumMod val="75000"/>
                  </a:schemeClr>
                </a:solidFill>
                <a:latin typeface="Arial" pitchFamily="34" charset="0"/>
                <a:cs typeface="Arial" pitchFamily="34" charset="0"/>
              </a:rPr>
              <a:t>Teachers are responsible and accountable for the progress and development of the pupils in their class, including where pupils access support from teaching assistants or specialist staff. </a:t>
            </a:r>
          </a:p>
          <a:p>
            <a:endParaRPr lang="en-GB" dirty="0">
              <a:latin typeface="Arial" pitchFamily="34" charset="0"/>
              <a:cs typeface="Arial" pitchFamily="34" charset="0"/>
            </a:endParaRPr>
          </a:p>
          <a:p>
            <a:r>
              <a:rPr lang="en-GB" dirty="0">
                <a:solidFill>
                  <a:schemeClr val="accent6">
                    <a:lumMod val="75000"/>
                  </a:schemeClr>
                </a:solidFill>
                <a:latin typeface="Arial" pitchFamily="34" charset="0"/>
                <a:cs typeface="Arial" pitchFamily="34" charset="0"/>
              </a:rPr>
              <a:t>High quality teaching, differentiated for individual pupils, is the first step in responding to pupils who have or may have SEN. Additional intervention and support cannot compensate for a lack of good quality teaching. </a:t>
            </a:r>
          </a:p>
          <a:p>
            <a:endParaRPr lang="en-GB" dirty="0">
              <a:latin typeface="Arial" pitchFamily="34" charset="0"/>
              <a:cs typeface="Arial" pitchFamily="34" charset="0"/>
            </a:endParaRPr>
          </a:p>
          <a:p>
            <a:r>
              <a:rPr lang="en-GB" dirty="0">
                <a:solidFill>
                  <a:schemeClr val="accent6">
                    <a:lumMod val="75000"/>
                  </a:schemeClr>
                </a:solidFill>
                <a:latin typeface="Arial" pitchFamily="34" charset="0"/>
                <a:cs typeface="Arial" pitchFamily="34" charset="0"/>
              </a:rPr>
              <a:t>The identification of SEN should be built into the overall approach to monitoring the progress and development of all pupils.</a:t>
            </a:r>
            <a:endParaRPr lang="en-GB" i="1" dirty="0">
              <a:solidFill>
                <a:srgbClr val="C00000"/>
              </a:solidFill>
              <a:latin typeface="Arial" pitchFamily="34" charset="0"/>
              <a:cs typeface="Arial" pitchFamily="34" charset="0"/>
            </a:endParaRPr>
          </a:p>
        </p:txBody>
      </p:sp>
      <p:sp>
        <p:nvSpPr>
          <p:cNvPr id="3" name="Rectangle 2"/>
          <p:cNvSpPr/>
          <p:nvPr/>
        </p:nvSpPr>
        <p:spPr>
          <a:xfrm>
            <a:off x="914400" y="560173"/>
            <a:ext cx="7339914" cy="369332"/>
          </a:xfrm>
          <a:prstGeom prst="rect">
            <a:avLst/>
          </a:prstGeom>
        </p:spPr>
        <p:txBody>
          <a:bodyPr wrap="square">
            <a:spAutoFit/>
          </a:bodyPr>
          <a:lstStyle/>
          <a:p>
            <a:pPr algn="ctr"/>
            <a:r>
              <a:rPr lang="en-GB" b="1" dirty="0">
                <a:solidFill>
                  <a:srgbClr val="C00000"/>
                </a:solidFill>
                <a:latin typeface="Arial" pitchFamily="34" charset="0"/>
                <a:cs typeface="Arial" pitchFamily="34" charset="0"/>
              </a:rPr>
              <a:t>Special education provision in schools</a:t>
            </a:r>
            <a:endParaRPr lang="en-GB" dirty="0"/>
          </a:p>
        </p:txBody>
      </p:sp>
    </p:spTree>
    <p:extLst>
      <p:ext uri="{BB962C8B-B14F-4D97-AF65-F5344CB8AC3E}">
        <p14:creationId xmlns:p14="http://schemas.microsoft.com/office/powerpoint/2010/main" val="41204149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7210" y="1305342"/>
            <a:ext cx="4460789" cy="4154984"/>
          </a:xfrm>
          <a:prstGeom prst="rect">
            <a:avLst/>
          </a:prstGeom>
        </p:spPr>
        <p:txBody>
          <a:bodyPr wrap="square">
            <a:spAutoFit/>
          </a:bodyPr>
          <a:lstStyle/>
          <a:p>
            <a:r>
              <a:rPr lang="en-GB" sz="2400" dirty="0">
                <a:solidFill>
                  <a:schemeClr val="accent6">
                    <a:lumMod val="75000"/>
                  </a:schemeClr>
                </a:solidFill>
                <a:latin typeface="Arial" pitchFamily="34" charset="0"/>
                <a:cs typeface="Arial" pitchFamily="34" charset="0"/>
              </a:rPr>
              <a:t>Once a potential special educational need is identified, schools should take action to remove barriers to learning and put effective special educational provision in place, This SEN Support should take the form of a four - part cycle – assess, plan, do, review This is known as the graduated approach. </a:t>
            </a:r>
            <a:endParaRPr lang="en-GB" sz="2400" dirty="0">
              <a:latin typeface="Arial" pitchFamily="34" charset="0"/>
              <a:cs typeface="Arial" pitchFamily="34" charset="0"/>
            </a:endParaRPr>
          </a:p>
        </p:txBody>
      </p:sp>
    </p:spTree>
    <p:extLst>
      <p:ext uri="{BB962C8B-B14F-4D97-AF65-F5344CB8AC3E}">
        <p14:creationId xmlns:p14="http://schemas.microsoft.com/office/powerpoint/2010/main" val="39059929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413338"/>
            <a:ext cx="4572000" cy="2031325"/>
          </a:xfrm>
          <a:prstGeom prst="rect">
            <a:avLst/>
          </a:prstGeom>
        </p:spPr>
        <p:txBody>
          <a:bodyPr>
            <a:spAutoFit/>
          </a:bodyPr>
          <a:lstStyle/>
          <a:p>
            <a:r>
              <a:rPr lang="en-GB" dirty="0">
                <a:solidFill>
                  <a:schemeClr val="accent6">
                    <a:lumMod val="75000"/>
                  </a:schemeClr>
                </a:solidFill>
                <a:latin typeface="Arial" pitchFamily="34" charset="0"/>
                <a:cs typeface="Arial" pitchFamily="34" charset="0"/>
              </a:rPr>
              <a:t>Schools must use their best endeavours to offer </a:t>
            </a:r>
            <a:r>
              <a:rPr lang="en-GB" b="1" dirty="0">
                <a:solidFill>
                  <a:schemeClr val="accent6">
                    <a:lumMod val="75000"/>
                  </a:schemeClr>
                </a:solidFill>
                <a:latin typeface="Arial" pitchFamily="34" charset="0"/>
                <a:cs typeface="Arial" pitchFamily="34" charset="0"/>
              </a:rPr>
              <a:t>quality first teaching </a:t>
            </a:r>
            <a:r>
              <a:rPr lang="en-GB" dirty="0">
                <a:solidFill>
                  <a:schemeClr val="accent6">
                    <a:lumMod val="75000"/>
                  </a:schemeClr>
                </a:solidFill>
                <a:latin typeface="Arial" pitchFamily="34" charset="0"/>
                <a:cs typeface="Arial" pitchFamily="34" charset="0"/>
              </a:rPr>
              <a:t>which is differentiated and personalised for all pupils and in addition high quality special educational provision - that which is additional to or different from what is provided to all – for those who need it. </a:t>
            </a:r>
            <a:endParaRPr lang="en-GB" dirty="0"/>
          </a:p>
        </p:txBody>
      </p:sp>
    </p:spTree>
    <p:extLst>
      <p:ext uri="{BB962C8B-B14F-4D97-AF65-F5344CB8AC3E}">
        <p14:creationId xmlns:p14="http://schemas.microsoft.com/office/powerpoint/2010/main" val="36736001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6593" y="253999"/>
            <a:ext cx="6072303" cy="769441"/>
          </a:xfrm>
          <a:prstGeom prst="rect">
            <a:avLst/>
          </a:prstGeom>
        </p:spPr>
        <p:txBody>
          <a:bodyPr wrap="none">
            <a:spAutoFit/>
          </a:bodyPr>
          <a:lstStyle/>
          <a:p>
            <a:r>
              <a:rPr lang="en-GB" sz="4400" b="1" dirty="0">
                <a:solidFill>
                  <a:srgbClr val="C00000"/>
                </a:solidFill>
                <a:latin typeface="Arial" pitchFamily="34" charset="0"/>
                <a:cs typeface="Arial" pitchFamily="34" charset="0"/>
              </a:rPr>
              <a:t>Quality First Teaching</a:t>
            </a:r>
            <a:endParaRPr lang="en-GB" sz="4400" dirty="0"/>
          </a:p>
        </p:txBody>
      </p:sp>
      <p:pic>
        <p:nvPicPr>
          <p:cNvPr id="3" name="Picture 2" descr="Image result for every teacher is a teacher of sen"/>
          <p:cNvPicPr/>
          <p:nvPr/>
        </p:nvPicPr>
        <p:blipFill>
          <a:blip r:embed="rId2" cstate="print"/>
          <a:srcRect/>
          <a:stretch>
            <a:fillRect/>
          </a:stretch>
        </p:blipFill>
        <p:spPr bwMode="auto">
          <a:xfrm>
            <a:off x="6629400" y="173182"/>
            <a:ext cx="2196147" cy="2286000"/>
          </a:xfrm>
          <a:prstGeom prst="rect">
            <a:avLst/>
          </a:prstGeom>
          <a:noFill/>
          <a:ln w="9525">
            <a:noFill/>
            <a:miter lim="800000"/>
            <a:headEnd/>
            <a:tailEnd/>
          </a:ln>
        </p:spPr>
      </p:pic>
      <p:sp>
        <p:nvSpPr>
          <p:cNvPr id="4" name="Content Placeholder 2"/>
          <p:cNvSpPr txBox="1">
            <a:spLocks/>
          </p:cNvSpPr>
          <p:nvPr/>
        </p:nvSpPr>
        <p:spPr>
          <a:xfrm>
            <a:off x="236593" y="1491047"/>
            <a:ext cx="8229600" cy="4217773"/>
          </a:xfrm>
          <a:prstGeom prst="rect">
            <a:avLst/>
          </a:prstGeom>
        </p:spPr>
        <p:txBody>
          <a:bodyPr>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buFont typeface="Arial"/>
              <a:buNone/>
            </a:pPr>
            <a:r>
              <a:rPr lang="en-GB" dirty="0" smtClean="0"/>
              <a:t> </a:t>
            </a:r>
          </a:p>
          <a:p>
            <a:pPr algn="ctr">
              <a:buFont typeface="Arial"/>
              <a:buNone/>
            </a:pPr>
            <a:endParaRPr lang="en-GB" sz="2400" dirty="0" smtClean="0"/>
          </a:p>
          <a:p>
            <a:pPr algn="ctr">
              <a:buFont typeface="Arial"/>
              <a:buNone/>
            </a:pPr>
            <a:r>
              <a:rPr lang="en-GB" sz="2400" dirty="0" smtClean="0">
                <a:solidFill>
                  <a:schemeClr val="accent6">
                    <a:lumMod val="75000"/>
                  </a:schemeClr>
                </a:solidFill>
                <a:latin typeface="Arial" pitchFamily="34" charset="0"/>
                <a:cs typeface="Arial" pitchFamily="34" charset="0"/>
              </a:rPr>
              <a:t>“</a:t>
            </a:r>
            <a:r>
              <a:rPr lang="en-GB" sz="2600" dirty="0" smtClean="0">
                <a:solidFill>
                  <a:schemeClr val="accent6">
                    <a:lumMod val="75000"/>
                  </a:schemeClr>
                </a:solidFill>
                <a:latin typeface="Arial" pitchFamily="34" charset="0"/>
                <a:cs typeface="Arial" pitchFamily="34" charset="0"/>
              </a:rPr>
              <a:t>Every teacher is a teacher of special needs.” </a:t>
            </a:r>
          </a:p>
          <a:p>
            <a:pPr algn="ctr">
              <a:buFont typeface="Arial"/>
              <a:buNone/>
            </a:pPr>
            <a:r>
              <a:rPr lang="en-GB" sz="2600" dirty="0" smtClean="0">
                <a:solidFill>
                  <a:schemeClr val="accent6">
                    <a:lumMod val="75000"/>
                  </a:schemeClr>
                </a:solidFill>
                <a:latin typeface="Arial" pitchFamily="34" charset="0"/>
                <a:cs typeface="Arial" pitchFamily="34" charset="0"/>
              </a:rPr>
              <a:t>‘Quality First Teaching’ is key to ‘narrowing the gap’. By this they mean mainstream classroom teachers have a crucial role to play - as subject specialists and professionals who typically know most about their students - in addressing barriers to learning, long before a student is referred for additional intervention &amp; support. </a:t>
            </a:r>
          </a:p>
          <a:p>
            <a:r>
              <a:rPr lang="en-GB" sz="2600" dirty="0" smtClean="0">
                <a:solidFill>
                  <a:schemeClr val="accent6">
                    <a:lumMod val="75000"/>
                  </a:schemeClr>
                </a:solidFill>
                <a:latin typeface="Arial" pitchFamily="34" charset="0"/>
                <a:cs typeface="Arial" pitchFamily="34" charset="0"/>
              </a:rPr>
              <a:t>Step 1 - Identify the barriers… </a:t>
            </a:r>
          </a:p>
          <a:p>
            <a:r>
              <a:rPr lang="en-GB" sz="2600" dirty="0" smtClean="0">
                <a:solidFill>
                  <a:schemeClr val="accent6">
                    <a:lumMod val="75000"/>
                  </a:schemeClr>
                </a:solidFill>
                <a:latin typeface="Arial" pitchFamily="34" charset="0"/>
                <a:cs typeface="Arial" pitchFamily="34" charset="0"/>
              </a:rPr>
              <a:t>Step 2 - Reflect on why the barriers occur… </a:t>
            </a:r>
          </a:p>
          <a:p>
            <a:r>
              <a:rPr lang="en-GB" sz="2600" dirty="0" smtClean="0">
                <a:solidFill>
                  <a:schemeClr val="accent6">
                    <a:lumMod val="75000"/>
                  </a:schemeClr>
                </a:solidFill>
                <a:latin typeface="Arial" pitchFamily="34" charset="0"/>
                <a:cs typeface="Arial" pitchFamily="34" charset="0"/>
              </a:rPr>
              <a:t>Step 3 – Respond with interventions within the classroom…</a:t>
            </a:r>
            <a:endParaRPr lang="en-GB" sz="2600" dirty="0">
              <a:solidFill>
                <a:schemeClr val="accent6">
                  <a:lumMod val="75000"/>
                </a:schemeClr>
              </a:solidFill>
              <a:latin typeface="Arial" pitchFamily="34" charset="0"/>
              <a:cs typeface="Arial" pitchFamily="34" charset="0"/>
            </a:endParaRPr>
          </a:p>
        </p:txBody>
      </p:sp>
    </p:spTree>
    <p:extLst>
      <p:ext uri="{BB962C8B-B14F-4D97-AF65-F5344CB8AC3E}">
        <p14:creationId xmlns:p14="http://schemas.microsoft.com/office/powerpoint/2010/main" val="8986591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051" y="1950994"/>
            <a:ext cx="8186857" cy="2308324"/>
          </a:xfrm>
          <a:prstGeom prst="rect">
            <a:avLst/>
          </a:prstGeom>
        </p:spPr>
        <p:txBody>
          <a:bodyPr wrap="none">
            <a:spAutoFit/>
          </a:bodyPr>
          <a:lstStyle/>
          <a:p>
            <a:pPr algn="ctr"/>
            <a:r>
              <a:rPr lang="en-GB" sz="7200" b="1" dirty="0">
                <a:solidFill>
                  <a:srgbClr val="C00000"/>
                </a:solidFill>
                <a:latin typeface="Arial" pitchFamily="34" charset="0"/>
                <a:cs typeface="Arial" pitchFamily="34" charset="0"/>
              </a:rPr>
              <a:t>So what is </a:t>
            </a:r>
            <a:r>
              <a:rPr lang="en-GB" sz="7200" b="1" dirty="0" smtClean="0">
                <a:solidFill>
                  <a:srgbClr val="C00000"/>
                </a:solidFill>
                <a:latin typeface="Arial" pitchFamily="34" charset="0"/>
                <a:cs typeface="Arial" pitchFamily="34" charset="0"/>
              </a:rPr>
              <a:t>it</a:t>
            </a:r>
          </a:p>
          <a:p>
            <a:pPr algn="ctr"/>
            <a:r>
              <a:rPr lang="en-GB" sz="7200" b="1" dirty="0" smtClean="0">
                <a:solidFill>
                  <a:srgbClr val="C00000"/>
                </a:solidFill>
                <a:latin typeface="Arial" pitchFamily="34" charset="0"/>
                <a:cs typeface="Arial" pitchFamily="34" charset="0"/>
              </a:rPr>
              <a:t> </a:t>
            </a:r>
            <a:r>
              <a:rPr lang="en-GB" sz="7200" b="1" dirty="0">
                <a:solidFill>
                  <a:srgbClr val="C00000"/>
                </a:solidFill>
                <a:latin typeface="Arial" pitchFamily="34" charset="0"/>
                <a:cs typeface="Arial" pitchFamily="34" charset="0"/>
              </a:rPr>
              <a:t>like to have SEN?</a:t>
            </a:r>
            <a:endParaRPr lang="en-GB" sz="7200" dirty="0"/>
          </a:p>
        </p:txBody>
      </p:sp>
    </p:spTree>
    <p:extLst>
      <p:ext uri="{BB962C8B-B14F-4D97-AF65-F5344CB8AC3E}">
        <p14:creationId xmlns:p14="http://schemas.microsoft.com/office/powerpoint/2010/main" val="2644026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Autofit/>
          </a:bodyPr>
          <a:lstStyle/>
          <a:p>
            <a:r>
              <a:rPr lang="en-GB" sz="4800" b="1" dirty="0" smtClean="0">
                <a:solidFill>
                  <a:srgbClr val="C00000"/>
                </a:solidFill>
                <a:latin typeface="Arial" pitchFamily="34" charset="0"/>
                <a:cs typeface="Arial" pitchFamily="34" charset="0"/>
              </a:rPr>
              <a:t>Barriers to Learning </a:t>
            </a:r>
            <a:endParaRPr lang="en-GB" sz="48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p:txBody>
          <a:bodyPr>
            <a:noAutofit/>
          </a:bodyPr>
          <a:lstStyle/>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a:p>
            <a:endParaRPr lang="en-GB" sz="1050" dirty="0" smtClean="0"/>
          </a:p>
        </p:txBody>
      </p:sp>
      <p:graphicFrame>
        <p:nvGraphicFramePr>
          <p:cNvPr id="4" name="Table 3"/>
          <p:cNvGraphicFramePr>
            <a:graphicFrameLocks noGrp="1"/>
          </p:cNvGraphicFramePr>
          <p:nvPr/>
        </p:nvGraphicFramePr>
        <p:xfrm>
          <a:off x="685800" y="1371600"/>
          <a:ext cx="7939405" cy="5105400"/>
        </p:xfrm>
        <a:graphic>
          <a:graphicData uri="http://schemas.openxmlformats.org/drawingml/2006/table">
            <a:tbl>
              <a:tblPr firstRow="1" bandRow="1">
                <a:tableStyleId>{5940675A-B579-460E-94D1-54222C63F5DA}</a:tableStyleId>
              </a:tblPr>
              <a:tblGrid>
                <a:gridCol w="2000250"/>
                <a:gridCol w="1938655"/>
                <a:gridCol w="2000250"/>
                <a:gridCol w="2000250"/>
              </a:tblGrid>
              <a:tr h="2552700">
                <a:tc>
                  <a:txBody>
                    <a:bodyPr/>
                    <a:lstStyle/>
                    <a:p>
                      <a:pPr algn="ctr"/>
                      <a:r>
                        <a:rPr lang="en-GB" dirty="0" smtClean="0">
                          <a:solidFill>
                            <a:schemeClr val="accent6">
                              <a:lumMod val="50000"/>
                            </a:schemeClr>
                          </a:solidFill>
                          <a:latin typeface="Arial" pitchFamily="34" charset="0"/>
                          <a:cs typeface="Arial" pitchFamily="34" charset="0"/>
                        </a:rPr>
                        <a:t>READING</a:t>
                      </a:r>
                      <a:endParaRPr lang="en-GB" dirty="0">
                        <a:solidFill>
                          <a:schemeClr val="accent6">
                            <a:lumMod val="50000"/>
                          </a:schemeClr>
                        </a:solidFill>
                        <a:latin typeface="Arial" pitchFamily="34" charset="0"/>
                        <a:cs typeface="Arial" pitchFamily="34" charset="0"/>
                      </a:endParaRPr>
                    </a:p>
                  </a:txBody>
                  <a:tcPr/>
                </a:tc>
                <a:tc>
                  <a:txBody>
                    <a:bodyPr/>
                    <a:lstStyle/>
                    <a:p>
                      <a:pPr algn="ctr"/>
                      <a:r>
                        <a:rPr lang="en-GB" dirty="0" smtClean="0">
                          <a:solidFill>
                            <a:schemeClr val="accent6">
                              <a:lumMod val="50000"/>
                            </a:schemeClr>
                          </a:solidFill>
                          <a:latin typeface="Arial" pitchFamily="34" charset="0"/>
                          <a:cs typeface="Arial" pitchFamily="34" charset="0"/>
                        </a:rPr>
                        <a:t>LISTENING</a:t>
                      </a:r>
                      <a:endParaRPr lang="en-GB" dirty="0">
                        <a:solidFill>
                          <a:schemeClr val="accent6">
                            <a:lumMod val="50000"/>
                          </a:schemeClr>
                        </a:solidFill>
                        <a:latin typeface="Arial" pitchFamily="34" charset="0"/>
                        <a:cs typeface="Arial" pitchFamily="34" charset="0"/>
                      </a:endParaRPr>
                    </a:p>
                  </a:txBody>
                  <a:tcPr/>
                </a:tc>
                <a:tc>
                  <a:txBody>
                    <a:bodyPr/>
                    <a:lstStyle/>
                    <a:p>
                      <a:pPr algn="ctr"/>
                      <a:r>
                        <a:rPr lang="en-GB" dirty="0" smtClean="0">
                          <a:solidFill>
                            <a:schemeClr val="accent6">
                              <a:lumMod val="50000"/>
                            </a:schemeClr>
                          </a:solidFill>
                          <a:latin typeface="Arial" pitchFamily="34" charset="0"/>
                          <a:cs typeface="Arial" pitchFamily="34" charset="0"/>
                        </a:rPr>
                        <a:t>WITH</a:t>
                      </a:r>
                      <a:r>
                        <a:rPr lang="en-GB" baseline="0" dirty="0" smtClean="0">
                          <a:solidFill>
                            <a:schemeClr val="accent6">
                              <a:lumMod val="50000"/>
                            </a:schemeClr>
                          </a:solidFill>
                          <a:latin typeface="Arial" pitchFamily="34" charset="0"/>
                          <a:cs typeface="Arial" pitchFamily="34" charset="0"/>
                        </a:rPr>
                        <a:t> INSTRUCTIONS</a:t>
                      </a:r>
                      <a:endParaRPr lang="en-GB" dirty="0">
                        <a:solidFill>
                          <a:schemeClr val="accent6">
                            <a:lumMod val="50000"/>
                          </a:schemeClr>
                        </a:solidFill>
                        <a:latin typeface="Arial" pitchFamily="34" charset="0"/>
                        <a:cs typeface="Arial" pitchFamily="34" charset="0"/>
                      </a:endParaRPr>
                    </a:p>
                  </a:txBody>
                  <a:tcPr/>
                </a:tc>
                <a:tc>
                  <a:txBody>
                    <a:bodyPr/>
                    <a:lstStyle/>
                    <a:p>
                      <a:pPr algn="ctr"/>
                      <a:r>
                        <a:rPr lang="en-GB" dirty="0" smtClean="0">
                          <a:solidFill>
                            <a:schemeClr val="accent6">
                              <a:lumMod val="50000"/>
                            </a:schemeClr>
                          </a:solidFill>
                          <a:latin typeface="Arial" pitchFamily="34" charset="0"/>
                          <a:cs typeface="Arial" pitchFamily="34" charset="0"/>
                        </a:rPr>
                        <a:t>WRITING</a:t>
                      </a:r>
                      <a:endParaRPr lang="en-GB" dirty="0">
                        <a:solidFill>
                          <a:schemeClr val="accent6">
                            <a:lumMod val="50000"/>
                          </a:schemeClr>
                        </a:solidFill>
                        <a:latin typeface="Arial" pitchFamily="34" charset="0"/>
                        <a:cs typeface="Arial" pitchFamily="34" charset="0"/>
                      </a:endParaRPr>
                    </a:p>
                  </a:txBody>
                  <a:tcPr/>
                </a:tc>
              </a:tr>
              <a:tr h="2552700">
                <a:tc>
                  <a:txBody>
                    <a:bodyPr/>
                    <a:lstStyle/>
                    <a:p>
                      <a:pPr algn="ctr"/>
                      <a:r>
                        <a:rPr lang="en-GB" dirty="0" smtClean="0">
                          <a:solidFill>
                            <a:schemeClr val="accent6">
                              <a:lumMod val="50000"/>
                            </a:schemeClr>
                          </a:solidFill>
                          <a:latin typeface="Arial" pitchFamily="34" charset="0"/>
                          <a:cs typeface="Arial" pitchFamily="34" charset="0"/>
                        </a:rPr>
                        <a:t>VOCABULARY</a:t>
                      </a:r>
                      <a:endParaRPr lang="en-GB" dirty="0">
                        <a:solidFill>
                          <a:schemeClr val="accent6">
                            <a:lumMod val="50000"/>
                          </a:schemeClr>
                        </a:solidFill>
                        <a:latin typeface="Arial" pitchFamily="34" charset="0"/>
                        <a:cs typeface="Arial" pitchFamily="34" charset="0"/>
                      </a:endParaRPr>
                    </a:p>
                  </a:txBody>
                  <a:tcPr/>
                </a:tc>
                <a:tc>
                  <a:txBody>
                    <a:bodyPr/>
                    <a:lstStyle/>
                    <a:p>
                      <a:pPr algn="ctr"/>
                      <a:r>
                        <a:rPr lang="en-GB" dirty="0" smtClean="0">
                          <a:solidFill>
                            <a:schemeClr val="accent6">
                              <a:lumMod val="50000"/>
                            </a:schemeClr>
                          </a:solidFill>
                          <a:latin typeface="Arial" pitchFamily="34" charset="0"/>
                          <a:cs typeface="Arial" pitchFamily="34" charset="0"/>
                        </a:rPr>
                        <a:t>KEY CONCEPTS</a:t>
                      </a:r>
                      <a:endParaRPr lang="en-GB" dirty="0">
                        <a:solidFill>
                          <a:schemeClr val="accent6">
                            <a:lumMod val="50000"/>
                          </a:schemeClr>
                        </a:solidFill>
                        <a:latin typeface="Arial" pitchFamily="34" charset="0"/>
                        <a:cs typeface="Arial" pitchFamily="34" charset="0"/>
                      </a:endParaRPr>
                    </a:p>
                  </a:txBody>
                  <a:tcPr/>
                </a:tc>
                <a:tc>
                  <a:txBody>
                    <a:bodyPr/>
                    <a:lstStyle/>
                    <a:p>
                      <a:pPr algn="ctr"/>
                      <a:r>
                        <a:rPr lang="en-GB" dirty="0" smtClean="0">
                          <a:solidFill>
                            <a:schemeClr val="accent6">
                              <a:lumMod val="50000"/>
                            </a:schemeClr>
                          </a:solidFill>
                          <a:latin typeface="Arial" pitchFamily="34" charset="0"/>
                          <a:cs typeface="Arial" pitchFamily="34" charset="0"/>
                        </a:rPr>
                        <a:t>REMEMBERING</a:t>
                      </a:r>
                      <a:endParaRPr lang="en-GB" dirty="0">
                        <a:solidFill>
                          <a:schemeClr val="accent6">
                            <a:lumMod val="50000"/>
                          </a:schemeClr>
                        </a:solidFill>
                        <a:latin typeface="Arial" pitchFamily="34" charset="0"/>
                        <a:cs typeface="Arial" pitchFamily="34" charset="0"/>
                      </a:endParaRPr>
                    </a:p>
                  </a:txBody>
                  <a:tcPr/>
                </a:tc>
                <a:tc>
                  <a:txBody>
                    <a:bodyPr/>
                    <a:lstStyle/>
                    <a:p>
                      <a:pPr algn="ctr"/>
                      <a:r>
                        <a:rPr lang="en-GB" sz="1800" dirty="0" smtClean="0">
                          <a:solidFill>
                            <a:schemeClr val="accent6">
                              <a:lumMod val="50000"/>
                            </a:schemeClr>
                          </a:solidFill>
                          <a:latin typeface="Arial" pitchFamily="34" charset="0"/>
                          <a:cs typeface="Arial" pitchFamily="34" charset="0"/>
                        </a:rPr>
                        <a:t>PHYSICALLY</a:t>
                      </a:r>
                      <a:endParaRPr lang="en-GB" dirty="0">
                        <a:solidFill>
                          <a:schemeClr val="accent6">
                            <a:lumMod val="50000"/>
                          </a:schemeClr>
                        </a:solidFill>
                        <a:latin typeface="Arial" pitchFamily="34" charset="0"/>
                        <a:cs typeface="Arial" pitchFamily="34" charset="0"/>
                      </a:endParaRPr>
                    </a:p>
                  </a:txBody>
                  <a:tcPr/>
                </a:tc>
              </a:tr>
            </a:tbl>
          </a:graphicData>
        </a:graphic>
      </p:graphicFrame>
      <p:pic>
        <p:nvPicPr>
          <p:cNvPr id="5" name="img" descr="http://ilslearningcorner.com/wp-content/uploads/2016/02/poor-movement-adult-1274x800.jpg"/>
          <p:cNvPicPr/>
          <p:nvPr/>
        </p:nvPicPr>
        <p:blipFill>
          <a:blip r:embed="rId3" cstate="print"/>
          <a:srcRect/>
          <a:stretch>
            <a:fillRect/>
          </a:stretch>
        </p:blipFill>
        <p:spPr bwMode="auto">
          <a:xfrm>
            <a:off x="6781800" y="4648200"/>
            <a:ext cx="1752600" cy="1752600"/>
          </a:xfrm>
          <a:prstGeom prst="rect">
            <a:avLst/>
          </a:prstGeom>
          <a:noFill/>
          <a:ln w="9525">
            <a:noFill/>
            <a:miter lim="800000"/>
            <a:headEnd/>
            <a:tailEnd/>
          </a:ln>
        </p:spPr>
      </p:pic>
      <p:pic>
        <p:nvPicPr>
          <p:cNvPr id="6" name="img" descr="http://cdn.images.express.co.uk/img/dynamic/11/590x/Man-struggling-to-remember-663423.jpg"/>
          <p:cNvPicPr/>
          <p:nvPr/>
        </p:nvPicPr>
        <p:blipFill>
          <a:blip r:embed="rId4" cstate="print"/>
          <a:srcRect/>
          <a:stretch>
            <a:fillRect/>
          </a:stretch>
        </p:blipFill>
        <p:spPr bwMode="auto">
          <a:xfrm>
            <a:off x="4724400" y="4648200"/>
            <a:ext cx="1828800" cy="1752600"/>
          </a:xfrm>
          <a:prstGeom prst="rect">
            <a:avLst/>
          </a:prstGeom>
          <a:noFill/>
          <a:ln w="9525">
            <a:noFill/>
            <a:miter lim="800000"/>
            <a:headEnd/>
            <a:tailEnd/>
          </a:ln>
        </p:spPr>
      </p:pic>
      <p:pic>
        <p:nvPicPr>
          <p:cNvPr id="7" name="img" descr="http://www.sps186.org/images/basic/352790_1370972187.jpg"/>
          <p:cNvPicPr/>
          <p:nvPr/>
        </p:nvPicPr>
        <p:blipFill>
          <a:blip r:embed="rId5" cstate="print"/>
          <a:srcRect/>
          <a:stretch>
            <a:fillRect/>
          </a:stretch>
        </p:blipFill>
        <p:spPr bwMode="auto">
          <a:xfrm>
            <a:off x="2743200" y="4572000"/>
            <a:ext cx="1828800" cy="1828800"/>
          </a:xfrm>
          <a:prstGeom prst="rect">
            <a:avLst/>
          </a:prstGeom>
          <a:noFill/>
          <a:ln w="9525">
            <a:noFill/>
            <a:miter lim="800000"/>
            <a:headEnd/>
            <a:tailEnd/>
          </a:ln>
        </p:spPr>
      </p:pic>
      <p:pic>
        <p:nvPicPr>
          <p:cNvPr id="8" name="img" descr="http://1.bp.blogspot.com/-A_Euq7gxzHs/UGwiuYOqXPI/AAAAAAAABJI/7w6RbYgMMt0/w1200-h630-p-k-nu/struggle.jpg"/>
          <p:cNvPicPr/>
          <p:nvPr/>
        </p:nvPicPr>
        <p:blipFill>
          <a:blip r:embed="rId6" cstate="print"/>
          <a:srcRect/>
          <a:stretch>
            <a:fillRect/>
          </a:stretch>
        </p:blipFill>
        <p:spPr bwMode="auto">
          <a:xfrm>
            <a:off x="762000" y="4648200"/>
            <a:ext cx="1905000" cy="1752600"/>
          </a:xfrm>
          <a:prstGeom prst="rect">
            <a:avLst/>
          </a:prstGeom>
          <a:noFill/>
          <a:ln w="9525">
            <a:noFill/>
            <a:miter lim="800000"/>
            <a:headEnd/>
            <a:tailEnd/>
          </a:ln>
        </p:spPr>
      </p:pic>
      <p:pic>
        <p:nvPicPr>
          <p:cNvPr id="9" name="img" descr="https://ndcint.org/wp-content/uploads/2015/12/Follow-the-Instructions-1.jpg"/>
          <p:cNvPicPr/>
          <p:nvPr/>
        </p:nvPicPr>
        <p:blipFill>
          <a:blip r:embed="rId7" cstate="print"/>
          <a:srcRect/>
          <a:stretch>
            <a:fillRect/>
          </a:stretch>
        </p:blipFill>
        <p:spPr bwMode="auto">
          <a:xfrm>
            <a:off x="4800600" y="2057400"/>
            <a:ext cx="1752600" cy="1828800"/>
          </a:xfrm>
          <a:prstGeom prst="rect">
            <a:avLst/>
          </a:prstGeom>
          <a:noFill/>
          <a:ln w="9525">
            <a:noFill/>
            <a:miter lim="800000"/>
            <a:headEnd/>
            <a:tailEnd/>
          </a:ln>
        </p:spPr>
      </p:pic>
      <p:pic>
        <p:nvPicPr>
          <p:cNvPr id="10" name="img" descr="http://3.bp.blogspot.com/-58xBjwJ6GIM/T7RYy_C8G1I/AAAAAAAAAFE/qlxhYTVmqME/s1600/boy-struggling-reading.jpg"/>
          <p:cNvPicPr/>
          <p:nvPr/>
        </p:nvPicPr>
        <p:blipFill>
          <a:blip r:embed="rId8" cstate="print"/>
          <a:srcRect/>
          <a:stretch>
            <a:fillRect/>
          </a:stretch>
        </p:blipFill>
        <p:spPr bwMode="auto">
          <a:xfrm>
            <a:off x="762000" y="1981200"/>
            <a:ext cx="1828800" cy="1905000"/>
          </a:xfrm>
          <a:prstGeom prst="rect">
            <a:avLst/>
          </a:prstGeom>
          <a:noFill/>
          <a:ln w="9525">
            <a:noFill/>
            <a:miter lim="800000"/>
            <a:headEnd/>
            <a:tailEnd/>
          </a:ln>
        </p:spPr>
      </p:pic>
      <p:pic>
        <p:nvPicPr>
          <p:cNvPr id="11" name="img" descr="http://pridelearningcenter.com/wp-content/uploads/struggling-with-writing.jpg"/>
          <p:cNvPicPr/>
          <p:nvPr/>
        </p:nvPicPr>
        <p:blipFill>
          <a:blip r:embed="rId9" cstate="print"/>
          <a:srcRect/>
          <a:stretch>
            <a:fillRect/>
          </a:stretch>
        </p:blipFill>
        <p:spPr bwMode="auto">
          <a:xfrm>
            <a:off x="6781800" y="2057400"/>
            <a:ext cx="1828800" cy="1828800"/>
          </a:xfrm>
          <a:prstGeom prst="rect">
            <a:avLst/>
          </a:prstGeom>
          <a:noFill/>
          <a:ln w="9525">
            <a:noFill/>
            <a:miter lim="800000"/>
            <a:headEnd/>
            <a:tailEnd/>
          </a:ln>
        </p:spPr>
      </p:pic>
      <p:pic>
        <p:nvPicPr>
          <p:cNvPr id="12" name="img" descr="https://www.drzimmerman.com/wp-content/uploads/2016/08/Listening-Icon-Image-1400x800.png"/>
          <p:cNvPicPr/>
          <p:nvPr/>
        </p:nvPicPr>
        <p:blipFill>
          <a:blip r:embed="rId10" cstate="print"/>
          <a:srcRect/>
          <a:stretch>
            <a:fillRect/>
          </a:stretch>
        </p:blipFill>
        <p:spPr bwMode="auto">
          <a:xfrm>
            <a:off x="2743200" y="2057400"/>
            <a:ext cx="1828800" cy="1828800"/>
          </a:xfrm>
          <a:prstGeom prst="rect">
            <a:avLst/>
          </a:prstGeom>
          <a:noFill/>
          <a:ln w="9525">
            <a:noFill/>
            <a:miter lim="800000"/>
            <a:headEnd/>
            <a:tailEnd/>
          </a:ln>
        </p:spPr>
      </p:pic>
    </p:spTree>
    <p:extLst>
      <p:ext uri="{BB962C8B-B14F-4D97-AF65-F5344CB8AC3E}">
        <p14:creationId xmlns:p14="http://schemas.microsoft.com/office/powerpoint/2010/main" val="5409484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066800"/>
          </a:xfrm>
        </p:spPr>
        <p:txBody>
          <a:bodyPr>
            <a:normAutofit fontScale="90000"/>
          </a:bodyPr>
          <a:lstStyle/>
          <a:p>
            <a:r>
              <a:rPr lang="en-GB" sz="6000" b="1" dirty="0" smtClean="0">
                <a:solidFill>
                  <a:srgbClr val="C00000"/>
                </a:solidFill>
                <a:latin typeface="Arial" pitchFamily="34" charset="0"/>
                <a:cs typeface="Arial" pitchFamily="34" charset="0"/>
              </a:rPr>
              <a:t>Research suggests… </a:t>
            </a:r>
            <a:r>
              <a:rPr lang="en-GB" dirty="0" smtClean="0"/>
              <a:t/>
            </a:r>
            <a:br>
              <a:rPr lang="en-GB" dirty="0" smtClean="0"/>
            </a:br>
            <a:endParaRPr lang="en-GB" dirty="0"/>
          </a:p>
        </p:txBody>
      </p:sp>
      <p:sp>
        <p:nvSpPr>
          <p:cNvPr id="3" name="Content Placeholder 2"/>
          <p:cNvSpPr>
            <a:spLocks noGrp="1"/>
          </p:cNvSpPr>
          <p:nvPr>
            <p:ph idx="1"/>
          </p:nvPr>
        </p:nvSpPr>
        <p:spPr>
          <a:xfrm>
            <a:off x="457200" y="1371600"/>
            <a:ext cx="8229600" cy="5105400"/>
          </a:xfrm>
        </p:spPr>
        <p:txBody>
          <a:bodyPr>
            <a:noAutofit/>
          </a:bodyPr>
          <a:lstStyle/>
          <a:p>
            <a:r>
              <a:rPr lang="en-GB" sz="3000" dirty="0" smtClean="0">
                <a:solidFill>
                  <a:schemeClr val="accent6">
                    <a:lumMod val="75000"/>
                  </a:schemeClr>
                </a:solidFill>
                <a:latin typeface="Arial" pitchFamily="34" charset="0"/>
                <a:cs typeface="Arial" pitchFamily="34" charset="0"/>
              </a:rPr>
              <a:t>10% of children have some form of Dyslexia</a:t>
            </a:r>
          </a:p>
          <a:p>
            <a:r>
              <a:rPr lang="en-GB" sz="3000" dirty="0" smtClean="0">
                <a:solidFill>
                  <a:schemeClr val="accent6">
                    <a:lumMod val="75000"/>
                  </a:schemeClr>
                </a:solidFill>
                <a:latin typeface="Arial" pitchFamily="34" charset="0"/>
                <a:cs typeface="Arial" pitchFamily="34" charset="0"/>
              </a:rPr>
              <a:t> </a:t>
            </a:r>
            <a:r>
              <a:rPr lang="en-GB" sz="3000" dirty="0" smtClean="0">
                <a:solidFill>
                  <a:schemeClr val="accent6">
                    <a:lumMod val="50000"/>
                  </a:schemeClr>
                </a:solidFill>
                <a:latin typeface="Arial" pitchFamily="34" charset="0"/>
                <a:cs typeface="Arial" pitchFamily="34" charset="0"/>
              </a:rPr>
              <a:t>5% of children have some form of ADD/ADHD</a:t>
            </a:r>
          </a:p>
          <a:p>
            <a:r>
              <a:rPr lang="en-GB" sz="3000" dirty="0" smtClean="0">
                <a:solidFill>
                  <a:schemeClr val="accent6">
                    <a:lumMod val="75000"/>
                  </a:schemeClr>
                </a:solidFill>
                <a:latin typeface="Arial" pitchFamily="34" charset="0"/>
                <a:cs typeface="Arial" pitchFamily="34" charset="0"/>
              </a:rPr>
              <a:t> 6% of children have some form of DCD</a:t>
            </a:r>
          </a:p>
          <a:p>
            <a:r>
              <a:rPr lang="en-GB" sz="3000" dirty="0" smtClean="0">
                <a:solidFill>
                  <a:schemeClr val="accent6">
                    <a:lumMod val="75000"/>
                  </a:schemeClr>
                </a:solidFill>
                <a:latin typeface="Arial" pitchFamily="34" charset="0"/>
                <a:cs typeface="Arial" pitchFamily="34" charset="0"/>
              </a:rPr>
              <a:t> </a:t>
            </a:r>
            <a:r>
              <a:rPr lang="en-GB" sz="3000" dirty="0" smtClean="0">
                <a:solidFill>
                  <a:schemeClr val="accent6">
                    <a:lumMod val="50000"/>
                  </a:schemeClr>
                </a:solidFill>
                <a:latin typeface="Arial" pitchFamily="34" charset="0"/>
                <a:cs typeface="Arial" pitchFamily="34" charset="0"/>
              </a:rPr>
              <a:t>7% of children have some form of SLCN</a:t>
            </a:r>
          </a:p>
          <a:p>
            <a:r>
              <a:rPr lang="en-GB" sz="3000" dirty="0" smtClean="0">
                <a:solidFill>
                  <a:schemeClr val="accent6">
                    <a:lumMod val="75000"/>
                  </a:schemeClr>
                </a:solidFill>
                <a:latin typeface="Arial" pitchFamily="34" charset="0"/>
                <a:cs typeface="Arial" pitchFamily="34" charset="0"/>
              </a:rPr>
              <a:t> 12% of children have some form of Optical difficulty including Scotopic Sensitivity (Irlen Syndrome)</a:t>
            </a:r>
          </a:p>
          <a:p>
            <a:r>
              <a:rPr lang="en-GB" sz="3000" dirty="0" smtClean="0">
                <a:solidFill>
                  <a:schemeClr val="accent6">
                    <a:lumMod val="75000"/>
                  </a:schemeClr>
                </a:solidFill>
                <a:latin typeface="Arial" pitchFamily="34" charset="0"/>
                <a:cs typeface="Arial" pitchFamily="34" charset="0"/>
              </a:rPr>
              <a:t> </a:t>
            </a:r>
            <a:r>
              <a:rPr lang="en-GB" sz="3000" dirty="0" smtClean="0">
                <a:solidFill>
                  <a:schemeClr val="accent6">
                    <a:lumMod val="50000"/>
                  </a:schemeClr>
                </a:solidFill>
                <a:latin typeface="Arial" pitchFamily="34" charset="0"/>
                <a:cs typeface="Arial" pitchFamily="34" charset="0"/>
              </a:rPr>
              <a:t>1% of children have some form of Autistic Spectrum Disorder (ASD)</a:t>
            </a:r>
            <a:endParaRPr lang="en-GB" sz="3000" dirty="0">
              <a:solidFill>
                <a:schemeClr val="accent6">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955673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normAutofit/>
          </a:bodyPr>
          <a:lstStyle/>
          <a:p>
            <a:pPr algn="ctr"/>
            <a:r>
              <a:rPr lang="en-GB" sz="5400" b="1" dirty="0" smtClean="0">
                <a:solidFill>
                  <a:srgbClr val="C00000"/>
                </a:solidFill>
                <a:latin typeface="Arial" pitchFamily="34" charset="0"/>
                <a:cs typeface="Arial" pitchFamily="34" charset="0"/>
              </a:rPr>
              <a:t>Speaking and Listening</a:t>
            </a:r>
            <a:endParaRPr lang="en-GB" sz="54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457200" y="1600200"/>
            <a:ext cx="8229600" cy="4974336"/>
          </a:xfrm>
        </p:spPr>
        <p:txBody>
          <a:bodyPr>
            <a:noAutofit/>
          </a:bodyPr>
          <a:lstStyle/>
          <a:p>
            <a:pPr algn="ctr">
              <a:buNone/>
            </a:pPr>
            <a:endParaRPr lang="en-GB" sz="4000" dirty="0" smtClean="0">
              <a:latin typeface="Arial" pitchFamily="34" charset="0"/>
              <a:cs typeface="Arial" pitchFamily="34" charset="0"/>
            </a:endParaRPr>
          </a:p>
          <a:p>
            <a:pPr algn="ctr">
              <a:buNone/>
            </a:pPr>
            <a:r>
              <a:rPr lang="en-GB" sz="4000" dirty="0" smtClean="0">
                <a:solidFill>
                  <a:schemeClr val="accent6">
                    <a:lumMod val="75000"/>
                  </a:schemeClr>
                </a:solidFill>
                <a:latin typeface="Arial" pitchFamily="34" charset="0"/>
                <a:cs typeface="Arial" pitchFamily="34" charset="0"/>
              </a:rPr>
              <a:t>Pupil A tell Pupil B about your holiday without using the letter ‘t’.</a:t>
            </a:r>
          </a:p>
          <a:p>
            <a:pPr algn="ctr"/>
            <a:endParaRPr lang="en-GB" sz="4000" dirty="0" smtClean="0">
              <a:solidFill>
                <a:schemeClr val="accent6">
                  <a:lumMod val="75000"/>
                </a:schemeClr>
              </a:solidFill>
              <a:latin typeface="Arial" pitchFamily="34" charset="0"/>
              <a:cs typeface="Arial" pitchFamily="34" charset="0"/>
            </a:endParaRPr>
          </a:p>
          <a:p>
            <a:pPr algn="ctr">
              <a:buNone/>
            </a:pPr>
            <a:r>
              <a:rPr lang="en-GB" sz="4000" dirty="0" smtClean="0">
                <a:solidFill>
                  <a:schemeClr val="accent6">
                    <a:lumMod val="75000"/>
                  </a:schemeClr>
                </a:solidFill>
                <a:latin typeface="Arial" pitchFamily="34" charset="0"/>
                <a:cs typeface="Arial" pitchFamily="34" charset="0"/>
              </a:rPr>
              <a:t>Pupil B tell Pupil A what you would like to do if you were a millionaire without using the letter ‘n’.</a:t>
            </a:r>
            <a:endParaRPr lang="en-GB" sz="4000" dirty="0">
              <a:solidFill>
                <a:schemeClr val="accent6">
                  <a:lumMod val="75000"/>
                </a:schemeClr>
              </a:solidFill>
              <a:latin typeface="Arial" pitchFamily="34" charset="0"/>
              <a:cs typeface="Arial" pitchFamily="34" charset="0"/>
            </a:endParaRPr>
          </a:p>
        </p:txBody>
      </p:sp>
    </p:spTree>
    <p:extLst>
      <p:ext uri="{BB962C8B-B14F-4D97-AF65-F5344CB8AC3E}">
        <p14:creationId xmlns:p14="http://schemas.microsoft.com/office/powerpoint/2010/main" val="1099548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447800"/>
          </a:xfrm>
        </p:spPr>
        <p:txBody>
          <a:bodyPr>
            <a:normAutofit/>
          </a:bodyPr>
          <a:lstStyle/>
          <a:p>
            <a:pPr algn="ctr"/>
            <a:r>
              <a:rPr lang="en-GB" sz="5400" b="1" dirty="0" smtClean="0">
                <a:solidFill>
                  <a:srgbClr val="C00000"/>
                </a:solidFill>
                <a:latin typeface="Arial" pitchFamily="34" charset="0"/>
                <a:cs typeface="Arial" pitchFamily="34" charset="0"/>
              </a:rPr>
              <a:t>Copy the date and L.O</a:t>
            </a:r>
            <a:endParaRPr lang="en-GB" sz="54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457200" y="1828800"/>
            <a:ext cx="8229600" cy="4745736"/>
          </a:xfrm>
        </p:spPr>
        <p:txBody>
          <a:bodyPr>
            <a:normAutofit/>
          </a:bodyPr>
          <a:lstStyle/>
          <a:p>
            <a:pPr algn="ctr">
              <a:buNone/>
            </a:pPr>
            <a:r>
              <a:rPr lang="en-US" altLang="zh-CN" sz="7200" dirty="0" smtClean="0"/>
              <a:t>2017</a:t>
            </a:r>
            <a:r>
              <a:rPr lang="zh-CN" altLang="en-US" sz="7200" dirty="0" smtClean="0"/>
              <a:t>年</a:t>
            </a:r>
            <a:r>
              <a:rPr lang="en-US" altLang="zh-CN" sz="7200" dirty="0" smtClean="0"/>
              <a:t>9</a:t>
            </a:r>
            <a:r>
              <a:rPr lang="zh-CN" altLang="en-US" sz="7200" dirty="0" smtClean="0"/>
              <a:t>月</a:t>
            </a:r>
            <a:r>
              <a:rPr lang="en-US" altLang="zh-CN" sz="7200" dirty="0" smtClean="0"/>
              <a:t>5</a:t>
            </a:r>
            <a:r>
              <a:rPr lang="zh-CN" altLang="en-US" sz="7200" dirty="0" smtClean="0"/>
              <a:t>日</a:t>
            </a:r>
            <a:endParaRPr lang="en-GB" altLang="zh-CN" sz="7200" dirty="0" smtClean="0"/>
          </a:p>
          <a:p>
            <a:pPr algn="ctr">
              <a:buNone/>
            </a:pPr>
            <a:r>
              <a:rPr lang="zh-CN" altLang="en-US" sz="7200" dirty="0" smtClean="0"/>
              <a:t>讨论从垂直平面复制到水平面的困难</a:t>
            </a:r>
            <a:r>
              <a:rPr lang="zh-CN" altLang="en-US" sz="6600" dirty="0" smtClean="0"/>
              <a:t>。</a:t>
            </a:r>
            <a:endParaRPr lang="en-GB" sz="6600" dirty="0"/>
          </a:p>
        </p:txBody>
      </p:sp>
    </p:spTree>
    <p:extLst>
      <p:ext uri="{BB962C8B-B14F-4D97-AF65-F5344CB8AC3E}">
        <p14:creationId xmlns:p14="http://schemas.microsoft.com/office/powerpoint/2010/main" val="397397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219200"/>
          </a:xfrm>
        </p:spPr>
        <p:txBody>
          <a:bodyPr>
            <a:normAutofit/>
          </a:bodyPr>
          <a:lstStyle/>
          <a:p>
            <a:r>
              <a:rPr lang="en-GB" sz="6600" b="1" dirty="0" smtClean="0">
                <a:solidFill>
                  <a:srgbClr val="C00000"/>
                </a:solidFill>
                <a:latin typeface="Arial" pitchFamily="34" charset="0"/>
                <a:cs typeface="Arial" pitchFamily="34" charset="0"/>
              </a:rPr>
              <a:t>Spellings</a:t>
            </a:r>
            <a:endParaRPr lang="en-GB" sz="66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Bourgeoisie  </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Chamois  </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fuchsia </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facetious </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discombobulated </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queuing </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diarrhoea</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onomatopoeia</a:t>
            </a:r>
          </a:p>
          <a:p>
            <a:pPr marL="514350" indent="-514350">
              <a:buFont typeface="+mj-lt"/>
              <a:buAutoNum type="arabicPeriod"/>
            </a:pPr>
            <a:r>
              <a:rPr lang="en-GB" dirty="0" smtClean="0">
                <a:solidFill>
                  <a:schemeClr val="accent6">
                    <a:lumMod val="75000"/>
                  </a:schemeClr>
                </a:solidFill>
                <a:latin typeface="Arial" pitchFamily="34" charset="0"/>
                <a:cs typeface="Arial" pitchFamily="34" charset="0"/>
              </a:rPr>
              <a:t>Baccalaureate</a:t>
            </a:r>
          </a:p>
          <a:p>
            <a:pPr marL="514350" indent="-514350">
              <a:buFont typeface="+mj-lt"/>
              <a:buAutoNum type="arabicPeriod"/>
            </a:pPr>
            <a:r>
              <a:rPr lang="en-GB" dirty="0" smtClean="0">
                <a:latin typeface="Arial" pitchFamily="34" charset="0"/>
                <a:cs typeface="Arial" pitchFamily="34" charset="0"/>
              </a:rPr>
              <a:t> </a:t>
            </a:r>
            <a:endParaRPr lang="en-GB" dirty="0">
              <a:latin typeface="Arial" pitchFamily="34" charset="0"/>
              <a:cs typeface="Arial" pitchFamily="34" charset="0"/>
            </a:endParaRPr>
          </a:p>
        </p:txBody>
      </p:sp>
    </p:spTree>
    <p:extLst>
      <p:ext uri="{BB962C8B-B14F-4D97-AF65-F5344CB8AC3E}">
        <p14:creationId xmlns:p14="http://schemas.microsoft.com/office/powerpoint/2010/main" val="1407125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752600"/>
          </a:xfrm>
        </p:spPr>
        <p:txBody>
          <a:bodyPr>
            <a:normAutofit/>
          </a:bodyPr>
          <a:lstStyle/>
          <a:p>
            <a:pPr algn="ctr"/>
            <a:r>
              <a:rPr lang="en-GB" sz="4400" b="1" dirty="0" smtClean="0">
                <a:solidFill>
                  <a:srgbClr val="C00000"/>
                </a:solidFill>
                <a:latin typeface="Arial" pitchFamily="34" charset="0"/>
                <a:cs typeface="Arial" pitchFamily="34" charset="0"/>
              </a:rPr>
              <a:t>Write a paragraph about your holiday</a:t>
            </a:r>
            <a:endParaRPr lang="en-GB" sz="44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p:txBody>
          <a:bodyPr>
            <a:normAutofit fontScale="77500" lnSpcReduction="20000"/>
          </a:bodyPr>
          <a:lstStyle/>
          <a:p>
            <a:pPr>
              <a:buNone/>
            </a:pPr>
            <a:r>
              <a:rPr lang="en-GB" dirty="0" smtClean="0">
                <a:solidFill>
                  <a:schemeClr val="accent6">
                    <a:lumMod val="75000"/>
                  </a:schemeClr>
                </a:solidFill>
                <a:latin typeface="Arial" pitchFamily="34" charset="0"/>
                <a:cs typeface="Arial" pitchFamily="34" charset="0"/>
              </a:rPr>
              <a:t>The Rules… </a:t>
            </a:r>
          </a:p>
          <a:p>
            <a:pPr>
              <a:buNone/>
            </a:pPr>
            <a:endParaRPr lang="en-GB" dirty="0" smtClean="0">
              <a:solidFill>
                <a:schemeClr val="accent6">
                  <a:lumMod val="75000"/>
                </a:schemeClr>
              </a:solidFill>
              <a:latin typeface="Arial" pitchFamily="34" charset="0"/>
              <a:cs typeface="Arial" pitchFamily="34" charset="0"/>
            </a:endParaRPr>
          </a:p>
          <a:p>
            <a:pPr>
              <a:buNone/>
            </a:pPr>
            <a:r>
              <a:rPr lang="en-GB" dirty="0" smtClean="0">
                <a:solidFill>
                  <a:schemeClr val="accent6">
                    <a:lumMod val="75000"/>
                  </a:schemeClr>
                </a:solidFill>
                <a:latin typeface="Arial" pitchFamily="34" charset="0"/>
                <a:cs typeface="Arial" pitchFamily="34" charset="0"/>
              </a:rPr>
              <a:t>•Write with your non-writing hand. </a:t>
            </a:r>
          </a:p>
          <a:p>
            <a:pPr>
              <a:buNone/>
            </a:pPr>
            <a:r>
              <a:rPr lang="en-GB" dirty="0" smtClean="0">
                <a:solidFill>
                  <a:schemeClr val="accent6">
                    <a:lumMod val="75000"/>
                  </a:schemeClr>
                </a:solidFill>
                <a:latin typeface="Arial" pitchFamily="34" charset="0"/>
                <a:cs typeface="Arial" pitchFamily="34" charset="0"/>
              </a:rPr>
              <a:t> </a:t>
            </a:r>
          </a:p>
          <a:p>
            <a:pPr>
              <a:buNone/>
            </a:pPr>
            <a:r>
              <a:rPr lang="en-GB" dirty="0" smtClean="0">
                <a:solidFill>
                  <a:schemeClr val="accent6">
                    <a:lumMod val="75000"/>
                  </a:schemeClr>
                </a:solidFill>
                <a:latin typeface="Arial" pitchFamily="34" charset="0"/>
                <a:cs typeface="Arial" pitchFamily="34" charset="0"/>
              </a:rPr>
              <a:t>•Do not use any punctuation. </a:t>
            </a:r>
          </a:p>
          <a:p>
            <a:pPr>
              <a:buNone/>
            </a:pPr>
            <a:r>
              <a:rPr lang="en-GB" dirty="0" smtClean="0">
                <a:solidFill>
                  <a:schemeClr val="accent6">
                    <a:lumMod val="75000"/>
                  </a:schemeClr>
                </a:solidFill>
                <a:latin typeface="Arial" pitchFamily="34" charset="0"/>
                <a:cs typeface="Arial" pitchFamily="34" charset="0"/>
              </a:rPr>
              <a:t> </a:t>
            </a:r>
          </a:p>
          <a:p>
            <a:pPr>
              <a:buNone/>
            </a:pPr>
            <a:r>
              <a:rPr lang="en-GB" dirty="0" smtClean="0">
                <a:solidFill>
                  <a:schemeClr val="accent6">
                    <a:lumMod val="75000"/>
                  </a:schemeClr>
                </a:solidFill>
                <a:latin typeface="Arial" pitchFamily="34" charset="0"/>
                <a:cs typeface="Arial" pitchFamily="34" charset="0"/>
              </a:rPr>
              <a:t>•Do not use any words over three syllables. </a:t>
            </a:r>
          </a:p>
          <a:p>
            <a:pPr>
              <a:buNone/>
            </a:pPr>
            <a:r>
              <a:rPr lang="en-GB" dirty="0" smtClean="0">
                <a:solidFill>
                  <a:schemeClr val="accent6">
                    <a:lumMod val="75000"/>
                  </a:schemeClr>
                </a:solidFill>
                <a:latin typeface="Arial" pitchFamily="34" charset="0"/>
                <a:cs typeface="Arial" pitchFamily="34" charset="0"/>
              </a:rPr>
              <a:t> </a:t>
            </a:r>
          </a:p>
          <a:p>
            <a:pPr>
              <a:buNone/>
            </a:pPr>
            <a:r>
              <a:rPr lang="en-GB" dirty="0" smtClean="0">
                <a:solidFill>
                  <a:schemeClr val="accent6">
                    <a:lumMod val="75000"/>
                  </a:schemeClr>
                </a:solidFill>
                <a:latin typeface="Arial" pitchFamily="34" charset="0"/>
                <a:cs typeface="Arial" pitchFamily="34" charset="0"/>
              </a:rPr>
              <a:t>•Count to five before writing any two-syllable words. </a:t>
            </a:r>
          </a:p>
          <a:p>
            <a:pPr>
              <a:buNone/>
            </a:pPr>
            <a:r>
              <a:rPr lang="en-GB" dirty="0" smtClean="0">
                <a:solidFill>
                  <a:schemeClr val="accent6">
                    <a:lumMod val="75000"/>
                  </a:schemeClr>
                </a:solidFill>
                <a:latin typeface="Arial" pitchFamily="34" charset="0"/>
                <a:cs typeface="Arial" pitchFamily="34" charset="0"/>
              </a:rPr>
              <a:t> </a:t>
            </a:r>
          </a:p>
          <a:p>
            <a:pPr>
              <a:buNone/>
            </a:pPr>
            <a:r>
              <a:rPr lang="en-GB" dirty="0" smtClean="0">
                <a:solidFill>
                  <a:schemeClr val="accent6">
                    <a:lumMod val="75000"/>
                  </a:schemeClr>
                </a:solidFill>
                <a:latin typeface="Arial" pitchFamily="34" charset="0"/>
                <a:cs typeface="Arial" pitchFamily="34" charset="0"/>
              </a:rPr>
              <a:t>•Count to three before writing ‘p’, ‘q’, ‘d’ and ‘b’.</a:t>
            </a:r>
            <a:endParaRPr lang="en-GB" dirty="0">
              <a:solidFill>
                <a:schemeClr val="accent6">
                  <a:lumMod val="75000"/>
                </a:schemeClr>
              </a:solidFill>
              <a:latin typeface="Arial" pitchFamily="34" charset="0"/>
              <a:cs typeface="Arial" pitchFamily="34" charset="0"/>
            </a:endParaRPr>
          </a:p>
        </p:txBody>
      </p:sp>
    </p:spTree>
    <p:extLst>
      <p:ext uri="{BB962C8B-B14F-4D97-AF65-F5344CB8AC3E}">
        <p14:creationId xmlns:p14="http://schemas.microsoft.com/office/powerpoint/2010/main" val="3993255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a:bodyPr>
          <a:lstStyle/>
          <a:p>
            <a:r>
              <a:rPr lang="en-GB" sz="6000" b="1" dirty="0" smtClean="0">
                <a:solidFill>
                  <a:srgbClr val="C00000"/>
                </a:solidFill>
                <a:latin typeface="Arial" pitchFamily="34" charset="0"/>
                <a:cs typeface="Arial" pitchFamily="34" charset="0"/>
              </a:rPr>
              <a:t>Reading</a:t>
            </a:r>
            <a:endParaRPr lang="en-GB" sz="6000" b="1" dirty="0">
              <a:solidFill>
                <a:srgbClr val="C00000"/>
              </a:solidFill>
              <a:latin typeface="Arial" pitchFamily="34" charset="0"/>
              <a:cs typeface="Arial" pitchFamily="34" charset="0"/>
            </a:endParaRPr>
          </a:p>
        </p:txBody>
      </p:sp>
      <p:pic>
        <p:nvPicPr>
          <p:cNvPr id="4" name="img" descr="http://www.waikato.ac.nz/sasd/health/disability/awareness/images/exercise.gif"/>
          <p:cNvPicPr>
            <a:picLocks noGrp="1"/>
          </p:cNvPicPr>
          <p:nvPr>
            <p:ph idx="1"/>
          </p:nvPr>
        </p:nvPicPr>
        <p:blipFill>
          <a:blip r:embed="rId2" cstate="print"/>
          <a:stretch>
            <a:fillRect/>
          </a:stretch>
        </p:blipFill>
        <p:spPr bwMode="auto">
          <a:xfrm>
            <a:off x="914400" y="1828800"/>
            <a:ext cx="7391400" cy="4343400"/>
          </a:xfrm>
          <a:prstGeom prst="rect">
            <a:avLst/>
          </a:prstGeom>
          <a:noFill/>
          <a:ln w="9525">
            <a:noFill/>
            <a:miter lim="800000"/>
            <a:headEnd/>
            <a:tailEnd/>
          </a:ln>
        </p:spPr>
      </p:pic>
    </p:spTree>
    <p:extLst>
      <p:ext uri="{BB962C8B-B14F-4D97-AF65-F5344CB8AC3E}">
        <p14:creationId xmlns:p14="http://schemas.microsoft.com/office/powerpoint/2010/main" val="2206340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normAutofit/>
          </a:bodyPr>
          <a:lstStyle/>
          <a:p>
            <a:r>
              <a:rPr lang="en-GB" sz="6000" b="1" dirty="0" smtClean="0">
                <a:solidFill>
                  <a:srgbClr val="C00000"/>
                </a:solidFill>
                <a:latin typeface="Arial" pitchFamily="34" charset="0"/>
                <a:cs typeface="Arial" pitchFamily="34" charset="0"/>
              </a:rPr>
              <a:t>Reality</a:t>
            </a:r>
            <a:endParaRPr lang="en-GB" sz="6000" b="1" dirty="0">
              <a:solidFill>
                <a:srgbClr val="C00000"/>
              </a:solidFill>
              <a:latin typeface="Arial" pitchFamily="34" charset="0"/>
              <a:cs typeface="Arial" pitchFamily="34" charset="0"/>
            </a:endParaRPr>
          </a:p>
        </p:txBody>
      </p:sp>
      <p:pic>
        <p:nvPicPr>
          <p:cNvPr id="4" name="img" descr="http://www.dyslexiaonline.com/images/error-analysis-large.gif"/>
          <p:cNvPicPr>
            <a:picLocks noGrp="1"/>
          </p:cNvPicPr>
          <p:nvPr>
            <p:ph idx="1"/>
          </p:nvPr>
        </p:nvPicPr>
        <p:blipFill>
          <a:blip r:embed="rId2" cstate="print"/>
          <a:stretch>
            <a:fillRect/>
          </a:stretch>
        </p:blipFill>
        <p:spPr bwMode="auto">
          <a:xfrm>
            <a:off x="632815" y="1676400"/>
            <a:ext cx="7878370" cy="4897438"/>
          </a:xfrm>
          <a:prstGeom prst="rect">
            <a:avLst/>
          </a:prstGeom>
          <a:noFill/>
          <a:ln w="9525">
            <a:noFill/>
            <a:miter lim="800000"/>
            <a:headEnd/>
            <a:tailEnd/>
          </a:ln>
        </p:spPr>
      </p:pic>
    </p:spTree>
    <p:extLst>
      <p:ext uri="{BB962C8B-B14F-4D97-AF65-F5344CB8AC3E}">
        <p14:creationId xmlns:p14="http://schemas.microsoft.com/office/powerpoint/2010/main" val="163888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746"/>
            <a:ext cx="8229600" cy="1524000"/>
          </a:xfrm>
        </p:spPr>
        <p:txBody>
          <a:bodyPr>
            <a:normAutofit/>
          </a:bodyPr>
          <a:lstStyle/>
          <a:p>
            <a:pPr algn="ctr"/>
            <a:r>
              <a:rPr lang="en-GB" sz="4400" b="1" dirty="0" smtClean="0">
                <a:solidFill>
                  <a:srgbClr val="C00000"/>
                </a:solidFill>
                <a:latin typeface="Arial" pitchFamily="34" charset="0"/>
                <a:cs typeface="Arial" pitchFamily="34" charset="0"/>
              </a:rPr>
              <a:t>Autistic Spectrum Disorders</a:t>
            </a:r>
            <a:endParaRPr lang="en-GB" sz="44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556054" y="1447800"/>
            <a:ext cx="8229600" cy="4572000"/>
          </a:xfrm>
        </p:spPr>
        <p:txBody>
          <a:bodyPr>
            <a:normAutofit fontScale="85000" lnSpcReduction="20000"/>
          </a:bodyPr>
          <a:lstStyle/>
          <a:p>
            <a:pPr algn="ctr">
              <a:buNone/>
            </a:pPr>
            <a:r>
              <a:rPr lang="en-GB" dirty="0" smtClean="0">
                <a:solidFill>
                  <a:schemeClr val="accent6">
                    <a:lumMod val="75000"/>
                  </a:schemeClr>
                </a:solidFill>
                <a:latin typeface="Arial" pitchFamily="34" charset="0"/>
                <a:cs typeface="Arial" pitchFamily="34" charset="0"/>
              </a:rPr>
              <a:t>The SPELL framework was developed by The National Autistic Society’s schools and services to understand and respond to the needs of people with ASD. </a:t>
            </a:r>
          </a:p>
          <a:p>
            <a:pPr algn="ctr">
              <a:buNone/>
            </a:pPr>
            <a:r>
              <a:rPr lang="en-GB" dirty="0" smtClean="0">
                <a:solidFill>
                  <a:schemeClr val="accent6">
                    <a:lumMod val="75000"/>
                  </a:schemeClr>
                </a:solidFill>
                <a:latin typeface="Arial" pitchFamily="34" charset="0"/>
                <a:cs typeface="Arial" pitchFamily="34" charset="0"/>
              </a:rPr>
              <a:t> </a:t>
            </a:r>
            <a:r>
              <a:rPr lang="en-GB" b="1" dirty="0" smtClean="0">
                <a:solidFill>
                  <a:schemeClr val="accent6">
                    <a:lumMod val="75000"/>
                  </a:schemeClr>
                </a:solidFill>
                <a:latin typeface="Arial" pitchFamily="34" charset="0"/>
                <a:cs typeface="Arial" pitchFamily="34" charset="0"/>
              </a:rPr>
              <a:t>SPELL stands for:</a:t>
            </a:r>
          </a:p>
          <a:p>
            <a:pPr algn="ctr">
              <a:buNone/>
            </a:pPr>
            <a:r>
              <a:rPr lang="en-GB" sz="4200" dirty="0" smtClean="0">
                <a:solidFill>
                  <a:srgbClr val="FF0000"/>
                </a:solidFill>
                <a:latin typeface="Arial" pitchFamily="34" charset="0"/>
                <a:cs typeface="Arial" pitchFamily="34" charset="0"/>
              </a:rPr>
              <a:t>Structure</a:t>
            </a:r>
          </a:p>
          <a:p>
            <a:pPr algn="ctr">
              <a:buNone/>
            </a:pPr>
            <a:r>
              <a:rPr lang="en-GB" sz="4200" dirty="0" smtClean="0">
                <a:solidFill>
                  <a:srgbClr val="00B0F0"/>
                </a:solidFill>
                <a:latin typeface="Arial" pitchFamily="34" charset="0"/>
                <a:cs typeface="Arial" pitchFamily="34" charset="0"/>
              </a:rPr>
              <a:t>Positivity</a:t>
            </a:r>
          </a:p>
          <a:p>
            <a:pPr algn="ctr">
              <a:buNone/>
            </a:pPr>
            <a:r>
              <a:rPr lang="en-GB" sz="4200" dirty="0" smtClean="0">
                <a:solidFill>
                  <a:srgbClr val="0070C0"/>
                </a:solidFill>
                <a:latin typeface="Arial" pitchFamily="34" charset="0"/>
                <a:cs typeface="Arial" pitchFamily="34" charset="0"/>
              </a:rPr>
              <a:t>Empathy</a:t>
            </a:r>
            <a:r>
              <a:rPr lang="en-GB" sz="4200" dirty="0" smtClean="0">
                <a:latin typeface="Arial" pitchFamily="34" charset="0"/>
                <a:cs typeface="Arial" pitchFamily="34" charset="0"/>
              </a:rPr>
              <a:t> </a:t>
            </a:r>
          </a:p>
          <a:p>
            <a:pPr algn="ctr">
              <a:buNone/>
            </a:pPr>
            <a:r>
              <a:rPr lang="en-GB" sz="4200" dirty="0" smtClean="0">
                <a:solidFill>
                  <a:srgbClr val="FFC000"/>
                </a:solidFill>
                <a:latin typeface="Arial" pitchFamily="34" charset="0"/>
                <a:cs typeface="Arial" pitchFamily="34" charset="0"/>
              </a:rPr>
              <a:t>Low Arousal</a:t>
            </a:r>
          </a:p>
          <a:p>
            <a:pPr algn="ctr">
              <a:buNone/>
            </a:pPr>
            <a:r>
              <a:rPr lang="en-GB" sz="4200" dirty="0" smtClean="0">
                <a:solidFill>
                  <a:srgbClr val="C00000"/>
                </a:solidFill>
                <a:latin typeface="Arial" pitchFamily="34" charset="0"/>
                <a:cs typeface="Arial" pitchFamily="34" charset="0"/>
              </a:rPr>
              <a:t>Links</a:t>
            </a:r>
            <a:endParaRPr lang="en-GB" sz="4200" dirty="0">
              <a:solidFill>
                <a:srgbClr val="C00000"/>
              </a:solidFill>
              <a:latin typeface="Arial" pitchFamily="34" charset="0"/>
              <a:cs typeface="Arial" pitchFamily="34" charset="0"/>
            </a:endParaRPr>
          </a:p>
        </p:txBody>
      </p:sp>
      <p:pic>
        <p:nvPicPr>
          <p:cNvPr id="5" name="Picture 4" descr="Image result for Autism image"/>
          <p:cNvPicPr/>
          <p:nvPr/>
        </p:nvPicPr>
        <p:blipFill>
          <a:blip r:embed="rId3" cstate="print"/>
          <a:srcRect/>
          <a:stretch>
            <a:fillRect/>
          </a:stretch>
        </p:blipFill>
        <p:spPr bwMode="auto">
          <a:xfrm>
            <a:off x="1066800" y="3733800"/>
            <a:ext cx="914399" cy="1752599"/>
          </a:xfrm>
          <a:prstGeom prst="rect">
            <a:avLst/>
          </a:prstGeom>
          <a:noFill/>
          <a:ln w="9525">
            <a:noFill/>
            <a:miter lim="800000"/>
            <a:headEnd/>
            <a:tailEnd/>
          </a:ln>
        </p:spPr>
      </p:pic>
    </p:spTree>
    <p:extLst>
      <p:ext uri="{BB962C8B-B14F-4D97-AF65-F5344CB8AC3E}">
        <p14:creationId xmlns:p14="http://schemas.microsoft.com/office/powerpoint/2010/main" val="2373498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0065" y="140043"/>
            <a:ext cx="8229600" cy="6019800"/>
          </a:xfrm>
        </p:spPr>
        <p:txBody>
          <a:bodyPr>
            <a:noAutofit/>
          </a:bodyPr>
          <a:lstStyle/>
          <a:p>
            <a:pPr>
              <a:buNone/>
            </a:pPr>
            <a:r>
              <a:rPr lang="en-GB" sz="1900" b="1" dirty="0" smtClean="0">
                <a:solidFill>
                  <a:srgbClr val="C00000"/>
                </a:solidFill>
                <a:latin typeface="Arial" pitchFamily="34" charset="0"/>
                <a:cs typeface="Arial" pitchFamily="34" charset="0"/>
              </a:rPr>
              <a:t>Based on the TEACCH model, a specific ASD classroom should be set-up as follows: </a:t>
            </a:r>
          </a:p>
          <a:p>
            <a:pPr>
              <a:buNone/>
            </a:pPr>
            <a:r>
              <a:rPr lang="en-GB" sz="1900" dirty="0" smtClean="0">
                <a:solidFill>
                  <a:schemeClr val="accent6">
                    <a:lumMod val="75000"/>
                  </a:schemeClr>
                </a:solidFill>
                <a:latin typeface="Arial" pitchFamily="34" charset="0"/>
                <a:cs typeface="Arial" pitchFamily="34" charset="0"/>
              </a:rPr>
              <a:t>• Dimmed / natural lighting – no flickering lights! </a:t>
            </a:r>
          </a:p>
          <a:p>
            <a:pPr>
              <a:buNone/>
            </a:pPr>
            <a:r>
              <a:rPr lang="en-GB" sz="1900" dirty="0" smtClean="0">
                <a:solidFill>
                  <a:schemeClr val="accent6">
                    <a:lumMod val="75000"/>
                  </a:schemeClr>
                </a:solidFill>
                <a:latin typeface="Arial" pitchFamily="34" charset="0"/>
                <a:cs typeface="Arial" pitchFamily="34" charset="0"/>
              </a:rPr>
              <a:t>• Pastel coloured display boards – no bright contrasts. </a:t>
            </a:r>
          </a:p>
          <a:p>
            <a:pPr>
              <a:buNone/>
            </a:pPr>
            <a:r>
              <a:rPr lang="en-GB" sz="1900" dirty="0" smtClean="0">
                <a:solidFill>
                  <a:schemeClr val="accent6">
                    <a:lumMod val="75000"/>
                  </a:schemeClr>
                </a:solidFill>
                <a:latin typeface="Arial" pitchFamily="34" charset="0"/>
                <a:cs typeface="Arial" pitchFamily="34" charset="0"/>
              </a:rPr>
              <a:t>• No ‘busy’ displays or posters around the whiteboard. </a:t>
            </a:r>
          </a:p>
          <a:p>
            <a:pPr>
              <a:buNone/>
            </a:pPr>
            <a:r>
              <a:rPr lang="en-GB" sz="1900" dirty="0" smtClean="0">
                <a:solidFill>
                  <a:schemeClr val="accent6">
                    <a:lumMod val="75000"/>
                  </a:schemeClr>
                </a:solidFill>
                <a:latin typeface="Arial" pitchFamily="34" charset="0"/>
                <a:cs typeface="Arial" pitchFamily="34" charset="0"/>
              </a:rPr>
              <a:t>• Minimal background noise. </a:t>
            </a:r>
          </a:p>
          <a:p>
            <a:pPr>
              <a:buNone/>
            </a:pPr>
            <a:r>
              <a:rPr lang="en-GB" sz="1900" dirty="0" smtClean="0">
                <a:solidFill>
                  <a:schemeClr val="accent6">
                    <a:lumMod val="75000"/>
                  </a:schemeClr>
                </a:solidFill>
                <a:latin typeface="Arial" pitchFamily="34" charset="0"/>
                <a:cs typeface="Arial" pitchFamily="34" charset="0"/>
              </a:rPr>
              <a:t>• Clearly defined working areas for each student. </a:t>
            </a:r>
          </a:p>
          <a:p>
            <a:pPr>
              <a:buNone/>
            </a:pPr>
            <a:r>
              <a:rPr lang="en-GB" sz="1900" dirty="0" smtClean="0">
                <a:solidFill>
                  <a:schemeClr val="accent6">
                    <a:lumMod val="75000"/>
                  </a:schemeClr>
                </a:solidFill>
                <a:latin typeface="Arial" pitchFamily="34" charset="0"/>
                <a:cs typeface="Arial" pitchFamily="34" charset="0"/>
              </a:rPr>
              <a:t>• A visual / colour coded timetable - either on a wall or on each desk. </a:t>
            </a:r>
          </a:p>
          <a:p>
            <a:pPr>
              <a:buNone/>
            </a:pPr>
            <a:r>
              <a:rPr lang="en-GB" sz="1900" dirty="0" smtClean="0">
                <a:solidFill>
                  <a:schemeClr val="accent6">
                    <a:lumMod val="75000"/>
                  </a:schemeClr>
                </a:solidFill>
                <a:latin typeface="Arial" pitchFamily="34" charset="0"/>
                <a:cs typeface="Arial" pitchFamily="34" charset="0"/>
              </a:rPr>
              <a:t>• A daily schedule including times of transitions – either on a wall or on each desk. Include a digital clock on the wall to help students track time and prepare for changes. </a:t>
            </a:r>
          </a:p>
          <a:p>
            <a:pPr>
              <a:buNone/>
            </a:pPr>
            <a:r>
              <a:rPr lang="en-GB" sz="1900" dirty="0" smtClean="0">
                <a:solidFill>
                  <a:schemeClr val="accent6">
                    <a:lumMod val="75000"/>
                  </a:schemeClr>
                </a:solidFill>
                <a:latin typeface="Arial" pitchFamily="34" charset="0"/>
                <a:cs typeface="Arial" pitchFamily="34" charset="0"/>
              </a:rPr>
              <a:t>• A simple, positive rules / behaviour targets list -  either on a wall or on each desk. </a:t>
            </a:r>
          </a:p>
          <a:p>
            <a:pPr>
              <a:buNone/>
            </a:pPr>
            <a:r>
              <a:rPr lang="en-GB" sz="1900" dirty="0" smtClean="0">
                <a:solidFill>
                  <a:schemeClr val="accent6">
                    <a:lumMod val="75000"/>
                  </a:schemeClr>
                </a:solidFill>
                <a:latin typeface="Arial" pitchFamily="34" charset="0"/>
                <a:cs typeface="Arial" pitchFamily="34" charset="0"/>
              </a:rPr>
              <a:t>• A ‘job list’ for each lesson, either for each student or for the entire group – put up at the beginning and tick as you go. </a:t>
            </a:r>
          </a:p>
          <a:p>
            <a:pPr>
              <a:buNone/>
            </a:pPr>
            <a:r>
              <a:rPr lang="en-GB" sz="1900" dirty="0" smtClean="0">
                <a:solidFill>
                  <a:schemeClr val="accent6">
                    <a:lumMod val="75000"/>
                  </a:schemeClr>
                </a:solidFill>
                <a:latin typeface="Arial" pitchFamily="34" charset="0"/>
                <a:cs typeface="Arial" pitchFamily="34" charset="0"/>
              </a:rPr>
              <a:t>• Secluded, quiet working area/s for ‘time out’ or ‘independent study’. </a:t>
            </a:r>
          </a:p>
          <a:p>
            <a:pPr>
              <a:buNone/>
            </a:pPr>
            <a:r>
              <a:rPr lang="en-GB" sz="1900" dirty="0" smtClean="0">
                <a:solidFill>
                  <a:schemeClr val="accent6">
                    <a:lumMod val="75000"/>
                  </a:schemeClr>
                </a:solidFill>
                <a:latin typeface="Arial" pitchFamily="34" charset="0"/>
                <a:cs typeface="Arial" pitchFamily="34" charset="0"/>
              </a:rPr>
              <a:t>• Clearly labelled areas for equipment, books, students to put their belongings. </a:t>
            </a:r>
          </a:p>
          <a:p>
            <a:pPr algn="ctr">
              <a:buNone/>
            </a:pPr>
            <a:r>
              <a:rPr lang="en-GB" sz="1600" i="1" dirty="0" smtClean="0">
                <a:solidFill>
                  <a:schemeClr val="accent6">
                    <a:lumMod val="75000"/>
                  </a:schemeClr>
                </a:solidFill>
                <a:latin typeface="Arial" pitchFamily="34" charset="0"/>
                <a:cs typeface="Arial" pitchFamily="34" charset="0"/>
              </a:rPr>
              <a:t>Elements of this approach can be adopted in mainstream classrooms to make them more ‘ASD-friendly</a:t>
            </a:r>
            <a:endParaRPr lang="en-GB" sz="1600" i="1" dirty="0">
              <a:solidFill>
                <a:schemeClr val="accent6">
                  <a:lumMod val="75000"/>
                </a:schemeClr>
              </a:solidFill>
              <a:latin typeface="Arial" pitchFamily="34" charset="0"/>
              <a:cs typeface="Arial" pitchFamily="34" charset="0"/>
            </a:endParaRPr>
          </a:p>
        </p:txBody>
      </p:sp>
      <p:pic>
        <p:nvPicPr>
          <p:cNvPr id="4" name="Picture 3" descr="Image result for Autism image"/>
          <p:cNvPicPr/>
          <p:nvPr/>
        </p:nvPicPr>
        <p:blipFill>
          <a:blip r:embed="rId2" cstate="print"/>
          <a:srcRect/>
          <a:stretch>
            <a:fillRect/>
          </a:stretch>
        </p:blipFill>
        <p:spPr bwMode="auto">
          <a:xfrm>
            <a:off x="7696201" y="1295400"/>
            <a:ext cx="990600" cy="1600199"/>
          </a:xfrm>
          <a:prstGeom prst="rect">
            <a:avLst/>
          </a:prstGeom>
          <a:noFill/>
          <a:ln w="9525">
            <a:noFill/>
            <a:miter lim="800000"/>
            <a:headEnd/>
            <a:tailEnd/>
          </a:ln>
        </p:spPr>
      </p:pic>
    </p:spTree>
    <p:extLst>
      <p:ext uri="{BB962C8B-B14F-4D97-AF65-F5344CB8AC3E}">
        <p14:creationId xmlns:p14="http://schemas.microsoft.com/office/powerpoint/2010/main" val="3799977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colorTemperature colorTemp="3575"/>
                    </a14:imgEffect>
                    <a14:imgEffect>
                      <a14:saturation sat="338000"/>
                    </a14:imgEffect>
                  </a14:imgLayer>
                </a14:imgProps>
              </a:ext>
              <a:ext uri="{28A0092B-C50C-407E-A947-70E740481C1C}">
                <a14:useLocalDpi xmlns:a14="http://schemas.microsoft.com/office/drawing/2010/main" val="0"/>
              </a:ext>
            </a:extLst>
          </a:blip>
          <a:srcRect/>
          <a:stretch>
            <a:fillRect/>
          </a:stretch>
        </p:blipFill>
        <p:spPr bwMode="auto">
          <a:xfrm>
            <a:off x="370822" y="1178011"/>
            <a:ext cx="4217653" cy="5387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448188" y="501134"/>
            <a:ext cx="7254190" cy="769441"/>
          </a:xfrm>
          <a:prstGeom prst="rect">
            <a:avLst/>
          </a:prstGeom>
        </p:spPr>
        <p:txBody>
          <a:bodyPr wrap="square">
            <a:spAutoFit/>
          </a:bodyPr>
          <a:lstStyle/>
          <a:p>
            <a:r>
              <a:rPr lang="en-GB" sz="4400" b="1" dirty="0">
                <a:solidFill>
                  <a:schemeClr val="accent6">
                    <a:lumMod val="75000"/>
                  </a:schemeClr>
                </a:solidFill>
              </a:rPr>
              <a:t>Barak </a:t>
            </a:r>
            <a:r>
              <a:rPr lang="en-GB" sz="4400" b="1" dirty="0" err="1">
                <a:solidFill>
                  <a:schemeClr val="accent6">
                    <a:lumMod val="75000"/>
                  </a:schemeClr>
                </a:solidFill>
              </a:rPr>
              <a:t>Rosenshine</a:t>
            </a:r>
            <a:endParaRPr lang="en-GB" sz="4400" dirty="0"/>
          </a:p>
        </p:txBody>
      </p:sp>
      <p:sp>
        <p:nvSpPr>
          <p:cNvPr id="4" name="Rectangle 3"/>
          <p:cNvSpPr/>
          <p:nvPr/>
        </p:nvSpPr>
        <p:spPr>
          <a:xfrm>
            <a:off x="5259859" y="1287913"/>
            <a:ext cx="2664941" cy="3693319"/>
          </a:xfrm>
          <a:prstGeom prst="rect">
            <a:avLst/>
          </a:prstGeom>
        </p:spPr>
        <p:txBody>
          <a:bodyPr wrap="square">
            <a:spAutoFit/>
          </a:bodyPr>
          <a:lstStyle/>
          <a:p>
            <a:r>
              <a:rPr lang="en-GB" sz="3600" dirty="0">
                <a:solidFill>
                  <a:schemeClr val="accent6">
                    <a:lumMod val="75000"/>
                  </a:schemeClr>
                </a:solidFill>
              </a:rPr>
              <a:t>How long is it before you forget what you have been told</a:t>
            </a:r>
            <a:r>
              <a:rPr lang="en-GB" sz="3600" dirty="0" smtClean="0">
                <a:solidFill>
                  <a:schemeClr val="accent6">
                    <a:lumMod val="75000"/>
                  </a:schemeClr>
                </a:solidFill>
              </a:rPr>
              <a:t>?</a:t>
            </a:r>
          </a:p>
          <a:p>
            <a:endParaRPr lang="en-GB" sz="3600" dirty="0">
              <a:solidFill>
                <a:schemeClr val="accent6">
                  <a:lumMod val="75000"/>
                </a:schemeClr>
              </a:solidFill>
            </a:endParaRPr>
          </a:p>
          <a:p>
            <a:r>
              <a:rPr lang="en-GB" dirty="0" smtClean="0">
                <a:solidFill>
                  <a:schemeClr val="accent6">
                    <a:lumMod val="75000"/>
                  </a:schemeClr>
                </a:solidFill>
              </a:rPr>
              <a:t>Ask </a:t>
            </a:r>
            <a:r>
              <a:rPr lang="en-GB" dirty="0" err="1" smtClean="0">
                <a:solidFill>
                  <a:schemeClr val="accent6">
                    <a:lumMod val="75000"/>
                  </a:schemeClr>
                </a:solidFill>
              </a:rPr>
              <a:t>Ebbinghaus</a:t>
            </a:r>
            <a:endParaRPr lang="en-GB" dirty="0">
              <a:solidFill>
                <a:schemeClr val="accent6">
                  <a:lumMod val="75000"/>
                </a:schemeClr>
              </a:solidFill>
            </a:endParaRPr>
          </a:p>
        </p:txBody>
      </p:sp>
    </p:spTree>
    <p:extLst>
      <p:ext uri="{BB962C8B-B14F-4D97-AF65-F5344CB8AC3E}">
        <p14:creationId xmlns:p14="http://schemas.microsoft.com/office/powerpoint/2010/main" val="4251237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ebbinghaus curve"/>
          <p:cNvPicPr/>
          <p:nvPr/>
        </p:nvPicPr>
        <p:blipFill>
          <a:blip r:embed="rId3">
            <a:extLst>
              <a:ext uri="{28A0092B-C50C-407E-A947-70E740481C1C}">
                <a14:useLocalDpi xmlns:a14="http://schemas.microsoft.com/office/drawing/2010/main" val="0"/>
              </a:ext>
            </a:extLst>
          </a:blip>
          <a:srcRect/>
          <a:stretch>
            <a:fillRect/>
          </a:stretch>
        </p:blipFill>
        <p:spPr bwMode="auto">
          <a:xfrm>
            <a:off x="700216" y="1346090"/>
            <a:ext cx="7760043" cy="4898191"/>
          </a:xfrm>
          <a:prstGeom prst="rect">
            <a:avLst/>
          </a:prstGeom>
          <a:noFill/>
          <a:ln>
            <a:noFill/>
          </a:ln>
        </p:spPr>
      </p:pic>
      <p:sp>
        <p:nvSpPr>
          <p:cNvPr id="3" name="TextBox 2"/>
          <p:cNvSpPr txBox="1"/>
          <p:nvPr/>
        </p:nvSpPr>
        <p:spPr>
          <a:xfrm>
            <a:off x="972065" y="576649"/>
            <a:ext cx="4769708" cy="830997"/>
          </a:xfrm>
          <a:prstGeom prst="rect">
            <a:avLst/>
          </a:prstGeom>
          <a:noFill/>
        </p:spPr>
        <p:txBody>
          <a:bodyPr wrap="square" rtlCol="0">
            <a:spAutoFit/>
          </a:bodyPr>
          <a:lstStyle/>
          <a:p>
            <a:r>
              <a:rPr lang="en-GB" sz="4800" b="1" dirty="0" smtClean="0">
                <a:solidFill>
                  <a:schemeClr val="accent6">
                    <a:lumMod val="75000"/>
                  </a:schemeClr>
                </a:solidFill>
              </a:rPr>
              <a:t>Ebbing who?</a:t>
            </a:r>
            <a:endParaRPr lang="en-GB" sz="4800" b="1" dirty="0">
              <a:solidFill>
                <a:schemeClr val="accent6">
                  <a:lumMod val="75000"/>
                </a:schemeClr>
              </a:solidFill>
            </a:endParaRPr>
          </a:p>
        </p:txBody>
      </p:sp>
    </p:spTree>
    <p:extLst>
      <p:ext uri="{BB962C8B-B14F-4D97-AF65-F5344CB8AC3E}">
        <p14:creationId xmlns:p14="http://schemas.microsoft.com/office/powerpoint/2010/main" val="1418695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828477211"/>
              </p:ext>
            </p:extLst>
          </p:nvPr>
        </p:nvGraphicFramePr>
        <p:xfrm>
          <a:off x="914401" y="1449859"/>
          <a:ext cx="7273366" cy="4828272"/>
        </p:xfrm>
        <a:graphic>
          <a:graphicData uri="http://schemas.openxmlformats.org/drawingml/2006/table">
            <a:tbl>
              <a:tblPr firstRow="1" firstCol="1" bandRow="1">
                <a:tableStyleId>{5C22544A-7EE6-4342-B048-85BDC9FD1C3A}</a:tableStyleId>
              </a:tblPr>
              <a:tblGrid>
                <a:gridCol w="2087705"/>
                <a:gridCol w="709632"/>
                <a:gridCol w="650375"/>
                <a:gridCol w="650375"/>
                <a:gridCol w="713245"/>
                <a:gridCol w="710355"/>
                <a:gridCol w="700238"/>
                <a:gridCol w="523914"/>
                <a:gridCol w="527527"/>
              </a:tblGrid>
              <a:tr h="657653">
                <a:tc>
                  <a:txBody>
                    <a:bodyPr/>
                    <a:lstStyle/>
                    <a:p>
                      <a:pPr>
                        <a:spcAft>
                          <a:spcPts val="0"/>
                        </a:spcAft>
                      </a:pPr>
                      <a:r>
                        <a:rPr lang="en-GB" sz="1000" dirty="0">
                          <a:effectLst/>
                        </a:rPr>
                        <a:t> </a:t>
                      </a:r>
                      <a:endParaRPr lang="en-GB" sz="1100" dirty="0">
                        <a:effectLst/>
                        <a:latin typeface="Arial"/>
                        <a:ea typeface="Times New Roman"/>
                        <a:cs typeface="Times New Roman"/>
                      </a:endParaRPr>
                    </a:p>
                  </a:txBody>
                  <a:tcPr marL="68580" marR="68580" marT="0" marB="0"/>
                </a:tc>
                <a:tc>
                  <a:txBody>
                    <a:bodyPr/>
                    <a:lstStyle/>
                    <a:p>
                      <a:pPr algn="ctr">
                        <a:spcAft>
                          <a:spcPts val="0"/>
                        </a:spcAft>
                      </a:pPr>
                      <a:r>
                        <a:rPr lang="en-GB" sz="1000">
                          <a:effectLst/>
                        </a:rPr>
                        <a:t>Year 7</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Year 8</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Year 9</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Year 10</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Year 11</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Year 12</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Year 13</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Total students</a:t>
                      </a:r>
                      <a:endParaRPr lang="en-GB" sz="1100">
                        <a:effectLst/>
                        <a:latin typeface="Arial"/>
                        <a:ea typeface="Times New Roman"/>
                        <a:cs typeface="Times New Roman"/>
                      </a:endParaRPr>
                    </a:p>
                  </a:txBody>
                  <a:tcPr marL="68580" marR="68580" marT="0" marB="0"/>
                </a:tc>
              </a:tr>
              <a:tr h="474058">
                <a:tc>
                  <a:txBody>
                    <a:bodyPr/>
                    <a:lstStyle/>
                    <a:p>
                      <a:pPr>
                        <a:spcAft>
                          <a:spcPts val="0"/>
                        </a:spcAft>
                      </a:pPr>
                      <a:r>
                        <a:rPr lang="en-GB" sz="1000">
                          <a:effectLst/>
                        </a:rPr>
                        <a:t>Specific learning difficulties </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11/202= 5.4%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10/162= 6.1%</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15/166= 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13/`151= 8.6%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3/145= 2%</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2/68= 2.9%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54</a:t>
                      </a:r>
                      <a:endParaRPr lang="en-GB" sz="1100">
                        <a:effectLst/>
                        <a:latin typeface="Arial"/>
                        <a:ea typeface="Times New Roman"/>
                        <a:cs typeface="Times New Roman"/>
                      </a:endParaRPr>
                    </a:p>
                  </a:txBody>
                  <a:tcPr marL="68580" marR="68580" marT="0" marB="0"/>
                </a:tc>
              </a:tr>
              <a:tr h="519729">
                <a:tc>
                  <a:txBody>
                    <a:bodyPr/>
                    <a:lstStyle/>
                    <a:p>
                      <a:pPr>
                        <a:spcAft>
                          <a:spcPts val="0"/>
                        </a:spcAft>
                      </a:pPr>
                      <a:r>
                        <a:rPr lang="en-GB" sz="1000" dirty="0">
                          <a:effectLst/>
                        </a:rPr>
                        <a:t>Cognitive and learning difficulties</a:t>
                      </a:r>
                      <a:endParaRPr lang="en-GB" sz="1100" dirty="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17/202= 8.4%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2/166= 1.2%</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5/151= 3.3%</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1/145= 0.6%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25</a:t>
                      </a:r>
                      <a:endParaRPr lang="en-GB" sz="1100">
                        <a:effectLst/>
                        <a:latin typeface="Arial"/>
                        <a:ea typeface="Times New Roman"/>
                        <a:cs typeface="Times New Roman"/>
                      </a:endParaRPr>
                    </a:p>
                  </a:txBody>
                  <a:tcPr marL="68580" marR="68580" marT="0" marB="0"/>
                </a:tc>
              </a:tr>
              <a:tr h="643952">
                <a:tc>
                  <a:txBody>
                    <a:bodyPr/>
                    <a:lstStyle/>
                    <a:p>
                      <a:pPr>
                        <a:spcAft>
                          <a:spcPts val="0"/>
                        </a:spcAft>
                      </a:pPr>
                      <a:r>
                        <a:rPr lang="en-GB" sz="1000">
                          <a:effectLst/>
                        </a:rPr>
                        <a:t>Social, emotional and mental health difficulties (SEMH)</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8/202= 3.9%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dirty="0">
                          <a:effectLst/>
                        </a:rPr>
                        <a:t>14/162= 8.6%</a:t>
                      </a:r>
                      <a:endParaRPr lang="en-GB" sz="1100" dirty="0">
                        <a:effectLst/>
                        <a:latin typeface="Arial"/>
                        <a:ea typeface="Times New Roman"/>
                        <a:cs typeface="Times New Roman"/>
                      </a:endParaRPr>
                    </a:p>
                  </a:txBody>
                  <a:tcPr marL="68580" marR="68580" marT="0" marB="0"/>
                </a:tc>
                <a:tc>
                  <a:txBody>
                    <a:bodyPr/>
                    <a:lstStyle/>
                    <a:p>
                      <a:pPr algn="ctr">
                        <a:spcAft>
                          <a:spcPts val="0"/>
                        </a:spcAft>
                      </a:pPr>
                      <a:r>
                        <a:rPr lang="en-GB" sz="1000">
                          <a:effectLst/>
                        </a:rPr>
                        <a:t>5/166= 3%</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13/`151= 8.6%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11/145= 7.5%</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1/82= 1.2%</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52</a:t>
                      </a:r>
                      <a:endParaRPr lang="en-GB" sz="1100">
                        <a:effectLst/>
                        <a:latin typeface="Arial"/>
                        <a:ea typeface="Times New Roman"/>
                        <a:cs typeface="Times New Roman"/>
                      </a:endParaRPr>
                    </a:p>
                  </a:txBody>
                  <a:tcPr marL="68580" marR="68580" marT="0" marB="0"/>
                </a:tc>
              </a:tr>
              <a:tr h="525209">
                <a:tc>
                  <a:txBody>
                    <a:bodyPr/>
                    <a:lstStyle/>
                    <a:p>
                      <a:pPr>
                        <a:spcAft>
                          <a:spcPts val="0"/>
                        </a:spcAft>
                      </a:pPr>
                      <a:r>
                        <a:rPr lang="en-GB" sz="1000">
                          <a:effectLst/>
                        </a:rPr>
                        <a:t>Speech, language and communication needs</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2/162= 1.2%</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3/151= 1.9%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3/145= 2%</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1/68= 1.4%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9</a:t>
                      </a:r>
                      <a:endParaRPr lang="en-GB" sz="1100">
                        <a:effectLst/>
                        <a:latin typeface="Arial"/>
                        <a:ea typeface="Times New Roman"/>
                        <a:cs typeface="Times New Roman"/>
                      </a:endParaRPr>
                    </a:p>
                  </a:txBody>
                  <a:tcPr marL="68580" marR="68580" marT="0" marB="0"/>
                </a:tc>
              </a:tr>
              <a:tr h="438436">
                <a:tc>
                  <a:txBody>
                    <a:bodyPr/>
                    <a:lstStyle/>
                    <a:p>
                      <a:pPr>
                        <a:spcAft>
                          <a:spcPts val="0"/>
                        </a:spcAft>
                      </a:pPr>
                      <a:r>
                        <a:rPr lang="en-GB" sz="1000">
                          <a:effectLst/>
                        </a:rPr>
                        <a:t>Sensory impairment</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1/202= 0.4%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1/162= 0.6%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1/151= 0.6%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2/145= 1.3%</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5</a:t>
                      </a:r>
                      <a:endParaRPr lang="en-GB" sz="1100">
                        <a:effectLst/>
                        <a:latin typeface="Arial"/>
                        <a:ea typeface="Times New Roman"/>
                        <a:cs typeface="Times New Roman"/>
                      </a:endParaRPr>
                    </a:p>
                  </a:txBody>
                  <a:tcPr marL="68580" marR="68580" marT="0" marB="0"/>
                </a:tc>
              </a:tr>
              <a:tr h="438436">
                <a:tc>
                  <a:txBody>
                    <a:bodyPr/>
                    <a:lstStyle/>
                    <a:p>
                      <a:pPr>
                        <a:spcAft>
                          <a:spcPts val="0"/>
                        </a:spcAft>
                      </a:pPr>
                      <a:r>
                        <a:rPr lang="en-GB" sz="1000">
                          <a:effectLst/>
                        </a:rPr>
                        <a:t>Physical and medical needs</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2/202= 0.99%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1/162= 0.6%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3/166= 1.8%</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1/151= 0.6%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1/145= 0.6%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1/82= 1.2%</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9</a:t>
                      </a:r>
                      <a:endParaRPr lang="en-GB" sz="1100">
                        <a:effectLst/>
                        <a:latin typeface="Arial"/>
                        <a:ea typeface="Times New Roman"/>
                        <a:cs typeface="Times New Roman"/>
                      </a:endParaRPr>
                    </a:p>
                  </a:txBody>
                  <a:tcPr marL="68580" marR="68580" marT="0" marB="0"/>
                </a:tc>
              </a:tr>
              <a:tr h="438436">
                <a:tc>
                  <a:txBody>
                    <a:bodyPr/>
                    <a:lstStyle/>
                    <a:p>
                      <a:pPr>
                        <a:spcAft>
                          <a:spcPts val="0"/>
                        </a:spcAft>
                      </a:pPr>
                      <a:r>
                        <a:rPr lang="en-GB" sz="1000">
                          <a:effectLst/>
                        </a:rPr>
                        <a:t>Autistic Spectrum Disorder (ASD)</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3/151= 1.9%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3/82= 3.6%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2/68= 2.9%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8</a:t>
                      </a:r>
                      <a:endParaRPr lang="en-GB" sz="1100">
                        <a:effectLst/>
                        <a:latin typeface="Arial"/>
                        <a:ea typeface="Times New Roman"/>
                        <a:cs typeface="Times New Roman"/>
                      </a:endParaRPr>
                    </a:p>
                  </a:txBody>
                  <a:tcPr marL="68580" marR="68580" marT="0" marB="0"/>
                </a:tc>
              </a:tr>
              <a:tr h="438436">
                <a:tc>
                  <a:txBody>
                    <a:bodyPr/>
                    <a:lstStyle/>
                    <a:p>
                      <a:pPr>
                        <a:spcAft>
                          <a:spcPts val="0"/>
                        </a:spcAft>
                      </a:pPr>
                      <a:r>
                        <a:rPr lang="en-GB" sz="1000">
                          <a:effectLst/>
                        </a:rPr>
                        <a:t>Other</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7/202= 3.4%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6/162= 3.7%</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4/166= 2.4%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4/151= 2.6%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2/145= 1.3%</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2/82= 2.4%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0%</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25</a:t>
                      </a:r>
                      <a:endParaRPr lang="en-GB" sz="1100">
                        <a:effectLst/>
                        <a:latin typeface="Arial"/>
                        <a:ea typeface="Times New Roman"/>
                        <a:cs typeface="Times New Roman"/>
                      </a:endParaRPr>
                    </a:p>
                  </a:txBody>
                  <a:tcPr marL="68580" marR="68580" marT="0" marB="0"/>
                </a:tc>
              </a:tr>
              <a:tr h="253927">
                <a:tc>
                  <a:txBody>
                    <a:bodyPr/>
                    <a:lstStyle/>
                    <a:p>
                      <a:pPr>
                        <a:spcAft>
                          <a:spcPts val="0"/>
                        </a:spcAft>
                      </a:pPr>
                      <a:r>
                        <a:rPr lang="en-GB" sz="1000">
                          <a:effectLst/>
                        </a:rPr>
                        <a:t>Total</a:t>
                      </a:r>
                      <a:endParaRPr lang="en-GB" sz="1100">
                        <a:effectLst/>
                        <a:latin typeface="Arial"/>
                        <a:ea typeface="Times New Roman"/>
                        <a:cs typeface="Times New Roman"/>
                      </a:endParaRPr>
                    </a:p>
                  </a:txBody>
                  <a:tcPr marL="68580" marR="68580" marT="0" marB="0" anchor="ctr"/>
                </a:tc>
                <a:tc>
                  <a:txBody>
                    <a:bodyPr/>
                    <a:lstStyle/>
                    <a:p>
                      <a:pPr algn="ctr">
                        <a:spcAft>
                          <a:spcPts val="0"/>
                        </a:spcAft>
                      </a:pPr>
                      <a:r>
                        <a:rPr lang="en-GB" sz="1000">
                          <a:effectLst/>
                        </a:rPr>
                        <a:t>46</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34</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29</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43</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23</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7</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a:effectLst/>
                        </a:rPr>
                        <a:t>5</a:t>
                      </a:r>
                      <a:endParaRPr lang="en-GB" sz="1100">
                        <a:effectLst/>
                        <a:latin typeface="Arial"/>
                        <a:ea typeface="Times New Roman"/>
                        <a:cs typeface="Times New Roman"/>
                      </a:endParaRPr>
                    </a:p>
                  </a:txBody>
                  <a:tcPr marL="68580" marR="68580" marT="0" marB="0"/>
                </a:tc>
                <a:tc>
                  <a:txBody>
                    <a:bodyPr/>
                    <a:lstStyle/>
                    <a:p>
                      <a:pPr algn="ctr">
                        <a:spcAft>
                          <a:spcPts val="0"/>
                        </a:spcAft>
                      </a:pPr>
                      <a:r>
                        <a:rPr lang="en-GB" sz="1000" dirty="0">
                          <a:effectLst/>
                        </a:rPr>
                        <a:t>187</a:t>
                      </a:r>
                      <a:endParaRPr lang="en-GB" sz="1100" dirty="0">
                        <a:effectLst/>
                        <a:latin typeface="Arial"/>
                        <a:ea typeface="Times New Roman"/>
                        <a:cs typeface="Times New Roman"/>
                      </a:endParaRPr>
                    </a:p>
                  </a:txBody>
                  <a:tcPr marL="68580" marR="68580" marT="0" marB="0"/>
                </a:tc>
              </a:tr>
            </a:tbl>
          </a:graphicData>
        </a:graphic>
      </p:graphicFrame>
      <p:sp>
        <p:nvSpPr>
          <p:cNvPr id="3" name="Rectangle 1"/>
          <p:cNvSpPr>
            <a:spLocks noChangeArrowheads="1"/>
          </p:cNvSpPr>
          <p:nvPr/>
        </p:nvSpPr>
        <p:spPr bwMode="auto">
          <a:xfrm>
            <a:off x="420130" y="384946"/>
            <a:ext cx="829550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smtClean="0">
                <a:ln>
                  <a:noFill/>
                </a:ln>
                <a:solidFill>
                  <a:schemeClr val="accent6">
                    <a:lumMod val="50000"/>
                  </a:schemeClr>
                </a:solidFill>
                <a:effectLst/>
                <a:latin typeface="Calibri" pitchFamily="34" charset="0"/>
                <a:ea typeface="Times New Roman" pitchFamily="18" charset="0"/>
                <a:cs typeface="Arial" pitchFamily="34" charset="0"/>
              </a:rPr>
              <a:t>At our school, pupils’ SEND requirements are separated into </a:t>
            </a:r>
            <a:r>
              <a:rPr kumimoji="0" lang="en-GB" altLang="en-US" sz="2000" b="1" i="0" u="none" strike="noStrike" cap="none" normalizeH="0" baseline="0" dirty="0" smtClean="0">
                <a:ln>
                  <a:noFill/>
                </a:ln>
                <a:solidFill>
                  <a:schemeClr val="accent6">
                    <a:lumMod val="50000"/>
                  </a:schemeClr>
                </a:solidFill>
                <a:effectLst/>
                <a:latin typeface="Calibri" pitchFamily="34" charset="0"/>
                <a:ea typeface="Times New Roman" pitchFamily="18" charset="0"/>
                <a:cs typeface="Arial" pitchFamily="34" charset="0"/>
              </a:rPr>
              <a:t>eight</a:t>
            </a:r>
            <a:r>
              <a:rPr kumimoji="0" lang="en-GB" altLang="en-US" sz="2000" b="0" i="0" u="none" strike="noStrike" cap="none" normalizeH="0" baseline="0" dirty="0" smtClean="0">
                <a:ln>
                  <a:noFill/>
                </a:ln>
                <a:solidFill>
                  <a:schemeClr val="accent6">
                    <a:lumMod val="50000"/>
                  </a:schemeClr>
                </a:solidFill>
                <a:effectLst/>
                <a:latin typeface="Calibri" pitchFamily="34" charset="0"/>
                <a:ea typeface="Times New Roman" pitchFamily="18" charset="0"/>
                <a:cs typeface="Arial" pitchFamily="34" charset="0"/>
              </a:rPr>
              <a:t> areas of need. The table below displays the percentage of pupils with each need per year group.</a:t>
            </a:r>
            <a:endParaRPr kumimoji="0" lang="en-GB" altLang="en-US" sz="1050" b="0" i="0" u="none" strike="noStrike" cap="none" normalizeH="0" baseline="0" dirty="0" smtClean="0">
              <a:ln>
                <a:noFill/>
              </a:ln>
              <a:solidFill>
                <a:schemeClr val="accent6">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18496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9090" y="1973772"/>
            <a:ext cx="7278131" cy="4524315"/>
          </a:xfrm>
          <a:prstGeom prst="rect">
            <a:avLst/>
          </a:prstGeom>
        </p:spPr>
        <p:txBody>
          <a:bodyPr wrap="square">
            <a:spAutoFit/>
          </a:bodyPr>
          <a:lstStyle/>
          <a:p>
            <a:r>
              <a:rPr lang="en-GB" b="1" dirty="0"/>
              <a:t>Strategies to support </a:t>
            </a:r>
            <a:r>
              <a:rPr lang="en-GB" b="1" u="sng" dirty="0"/>
              <a:t>new arrivals/early stage learners of English</a:t>
            </a:r>
            <a:r>
              <a:rPr lang="en-GB" b="1" dirty="0"/>
              <a:t> in the mainstream classroom</a:t>
            </a:r>
            <a:endParaRPr lang="en-GB" dirty="0"/>
          </a:p>
          <a:p>
            <a:r>
              <a:rPr lang="en-GB" b="1" dirty="0"/>
              <a:t>NB: these pupils are regular learners who need time &amp; support to access &amp; understand, they do not have learning difficulties.</a:t>
            </a:r>
            <a:endParaRPr lang="en-GB" dirty="0"/>
          </a:p>
          <a:p>
            <a:r>
              <a:rPr lang="en-GB" dirty="0"/>
              <a:t> </a:t>
            </a:r>
          </a:p>
          <a:p>
            <a:pPr marL="171450" lvl="0" indent="-171450">
              <a:buFont typeface="Arial" panose="020B0604020202020204" pitchFamily="34" charset="0"/>
              <a:buChar char="•"/>
            </a:pPr>
            <a:r>
              <a:rPr lang="en-GB" dirty="0"/>
              <a:t>Seat </a:t>
            </a:r>
            <a:r>
              <a:rPr lang="en-GB" dirty="0" smtClean="0"/>
              <a:t> next </a:t>
            </a:r>
            <a:r>
              <a:rPr lang="en-GB" dirty="0"/>
              <a:t>to supportive pupils who can provide good models of language and behaviour</a:t>
            </a:r>
          </a:p>
          <a:p>
            <a:pPr marL="171450" lvl="0" indent="-171450">
              <a:buFont typeface="Arial" panose="020B0604020202020204" pitchFamily="34" charset="0"/>
              <a:buChar char="•"/>
            </a:pPr>
            <a:r>
              <a:rPr lang="en-GB" dirty="0" smtClean="0"/>
              <a:t>write </a:t>
            </a:r>
            <a:r>
              <a:rPr lang="en-GB" dirty="0"/>
              <a:t>key words and phrases on the </a:t>
            </a:r>
            <a:r>
              <a:rPr lang="en-GB" dirty="0" smtClean="0"/>
              <a:t>board</a:t>
            </a:r>
            <a:endParaRPr lang="en-GB" dirty="0"/>
          </a:p>
          <a:p>
            <a:pPr marL="171450" lvl="0" indent="-171450">
              <a:buFont typeface="Arial" panose="020B0604020202020204" pitchFamily="34" charset="0"/>
              <a:buChar char="•"/>
            </a:pPr>
            <a:r>
              <a:rPr lang="en-GB" dirty="0"/>
              <a:t>Use plenty of visuals  </a:t>
            </a:r>
            <a:r>
              <a:rPr lang="en-GB" dirty="0" smtClean="0"/>
              <a:t>to </a:t>
            </a:r>
            <a:r>
              <a:rPr lang="en-GB" dirty="0"/>
              <a:t>contextualise the learning. </a:t>
            </a:r>
          </a:p>
          <a:p>
            <a:pPr marL="171450" lvl="0" indent="-171450">
              <a:buFont typeface="Arial" panose="020B0604020202020204" pitchFamily="34" charset="0"/>
              <a:buChar char="•"/>
            </a:pPr>
            <a:r>
              <a:rPr lang="en-GB" dirty="0"/>
              <a:t>Demonstrate and model. 		</a:t>
            </a:r>
          </a:p>
          <a:p>
            <a:pPr marL="171450" lvl="0" indent="-171450">
              <a:buFont typeface="Arial" panose="020B0604020202020204" pitchFamily="34" charset="0"/>
              <a:buChar char="•"/>
            </a:pPr>
            <a:r>
              <a:rPr lang="en-GB" dirty="0"/>
              <a:t>Repeat and show individually. </a:t>
            </a:r>
            <a:endParaRPr lang="en-GB" dirty="0" smtClean="0"/>
          </a:p>
          <a:p>
            <a:pPr marL="171450" lvl="0" indent="-171450">
              <a:buFont typeface="Arial" panose="020B0604020202020204" pitchFamily="34" charset="0"/>
              <a:buChar char="•"/>
            </a:pPr>
            <a:r>
              <a:rPr lang="en-GB" dirty="0" smtClean="0"/>
              <a:t>Encourage </a:t>
            </a:r>
            <a:r>
              <a:rPr lang="en-GB" dirty="0"/>
              <a:t>the use of a dual language dictionary (if literate in home language) </a:t>
            </a:r>
            <a:endParaRPr lang="en-GB" dirty="0" smtClean="0"/>
          </a:p>
          <a:p>
            <a:pPr marL="171450" lvl="0" indent="-171450">
              <a:buFont typeface="Arial" panose="020B0604020202020204" pitchFamily="34" charset="0"/>
              <a:buChar char="•"/>
            </a:pPr>
            <a:r>
              <a:rPr lang="en-GB" dirty="0" smtClean="0"/>
              <a:t>Begin </a:t>
            </a:r>
            <a:r>
              <a:rPr lang="en-GB" dirty="0"/>
              <a:t>with closed questions to enable single word responses </a:t>
            </a:r>
            <a:endParaRPr lang="en-GB" dirty="0" smtClean="0"/>
          </a:p>
          <a:p>
            <a:pPr marL="171450" lvl="0" indent="-171450">
              <a:buFont typeface="Arial" panose="020B0604020202020204" pitchFamily="34" charset="0"/>
              <a:buChar char="•"/>
            </a:pPr>
            <a:r>
              <a:rPr lang="en-GB" dirty="0" smtClean="0"/>
              <a:t>Expect </a:t>
            </a:r>
            <a:r>
              <a:rPr lang="en-GB" dirty="0"/>
              <a:t>that she/he may be silent </a:t>
            </a:r>
            <a:endParaRPr lang="en-GB" dirty="0" smtClean="0"/>
          </a:p>
          <a:p>
            <a:pPr marL="171450" lvl="0" indent="-171450">
              <a:buFont typeface="Arial" panose="020B0604020202020204" pitchFamily="34" charset="0"/>
              <a:buChar char="•"/>
            </a:pPr>
            <a:r>
              <a:rPr lang="en-GB" dirty="0" smtClean="0"/>
              <a:t>Use </a:t>
            </a:r>
            <a:r>
              <a:rPr lang="en-GB" dirty="0"/>
              <a:t>writing </a:t>
            </a:r>
            <a:r>
              <a:rPr lang="en-GB" dirty="0" smtClean="0"/>
              <a:t>frames</a:t>
            </a:r>
            <a:endParaRPr lang="en-GB" dirty="0"/>
          </a:p>
        </p:txBody>
      </p:sp>
      <p:sp>
        <p:nvSpPr>
          <p:cNvPr id="3" name="TextBox 2"/>
          <p:cNvSpPr txBox="1"/>
          <p:nvPr/>
        </p:nvSpPr>
        <p:spPr>
          <a:xfrm>
            <a:off x="972064" y="321276"/>
            <a:ext cx="7175157" cy="1446550"/>
          </a:xfrm>
          <a:prstGeom prst="rect">
            <a:avLst/>
          </a:prstGeom>
          <a:noFill/>
        </p:spPr>
        <p:txBody>
          <a:bodyPr wrap="square" rtlCol="0">
            <a:spAutoFit/>
          </a:bodyPr>
          <a:lstStyle/>
          <a:p>
            <a:r>
              <a:rPr lang="en-GB" sz="4400" b="1" dirty="0" smtClean="0">
                <a:solidFill>
                  <a:schemeClr val="accent6">
                    <a:lumMod val="50000"/>
                  </a:schemeClr>
                </a:solidFill>
              </a:rPr>
              <a:t>EAL learners and New Arrivals to the UK</a:t>
            </a:r>
            <a:endParaRPr lang="en-GB" sz="4400" b="1" dirty="0">
              <a:solidFill>
                <a:schemeClr val="accent6">
                  <a:lumMod val="50000"/>
                </a:schemeClr>
              </a:solidFill>
            </a:endParaRPr>
          </a:p>
        </p:txBody>
      </p:sp>
    </p:spTree>
    <p:extLst>
      <p:ext uri="{BB962C8B-B14F-4D97-AF65-F5344CB8AC3E}">
        <p14:creationId xmlns:p14="http://schemas.microsoft.com/office/powerpoint/2010/main" val="1872480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309816" y="272914"/>
            <a:ext cx="673031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800" b="1" i="0" u="none" strike="noStrike" cap="none" normalizeH="0" baseline="0" dirty="0" smtClean="0">
                <a:ln>
                  <a:noFill/>
                </a:ln>
                <a:solidFill>
                  <a:schemeClr val="accent6">
                    <a:lumMod val="50000"/>
                  </a:schemeClr>
                </a:solidFill>
                <a:effectLst/>
                <a:latin typeface="Calibri" pitchFamily="34" charset="0"/>
                <a:ea typeface="Times New Roman" pitchFamily="18" charset="0"/>
                <a:cs typeface="Times New Roman" pitchFamily="18" charset="0"/>
              </a:rPr>
              <a:t>ADHD Non-Medical Routes → Teaching Approaches </a:t>
            </a:r>
            <a:endParaRPr kumimoji="0" lang="en-GB" altLang="en-US" sz="2800" b="0" i="0" u="none" strike="noStrike" cap="none" normalizeH="0" baseline="0" dirty="0" smtClean="0">
              <a:ln>
                <a:noFill/>
              </a:ln>
              <a:solidFill>
                <a:schemeClr val="accent6">
                  <a:lumMod val="50000"/>
                </a:schemeClr>
              </a:solidFill>
              <a:effectLst/>
              <a:latin typeface="Arial" pitchFamily="34" charset="0"/>
              <a:cs typeface="Arial" pitchFamily="34" charset="0"/>
            </a:endParaRPr>
          </a:p>
        </p:txBody>
      </p:sp>
      <p:pic>
        <p:nvPicPr>
          <p:cNvPr id="3073"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2746" y="5200013"/>
            <a:ext cx="955590" cy="94728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96562" y="1318178"/>
            <a:ext cx="8550876"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Have clear routines that mark the start and end of a lesson – standing behind chairs, fixing uniforms etc. Praise students for keeping to it.</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Decide whether to line-up outside or come straight in to a task on arrival – both have benefits, both can be counter-productive.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Try to settle students with a ‘do now’ activity on immediate entry to the class - this doesn’t necessarily have to be the most mentally challenging – can be a routine such as copying down the date, title, B.Q</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Discreetly build in ‘movement breaks’- give them classroom-based errands, allow them to go to a nearby toilet etc.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Use checklists and ‘mini-rewards’ on completion to structure your lesson.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Try to avoid text-heavy worksheets and Smart board presentations.    → use visuals but keep them separate from text.</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Place the student somewhere in which eye contact with information sources is easy to maintain.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Position near good role models and/or students who will support them in repeating information they may miss.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Avoid automatically sitting them at the front, as this can be seen as a punitive measure.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Try to sit them away from areas where students walk past, near door windows, near colourful displays etc.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Consider whether being seated near an outside window helps / hinders them (some students benefit from this because it’s a better alternative than switching their attention to peers!).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Encourage eye contact.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Keep language simple – one or two parts.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Ask them to repeat information back.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Repeat calmly and positively if needed.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Say what you want rather than what you don’t want.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Use language of expectation “thank you” rather than “please”. </a:t>
            </a:r>
            <a:endParaRPr kumimoji="0" lang="en-GB" altLang="en-US" sz="7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US" sz="1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Give advance warning of consequences of poor choices. </a:t>
            </a:r>
            <a:endParaRPr kumimoji="0" lang="en-GB" altLang="en-US" sz="2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5933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30658" y="-1946"/>
            <a:ext cx="8707395"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44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Anxiety Disorders</a:t>
            </a:r>
            <a:endParaRPr kumimoji="0" lang="en-GB" alt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097" name="Picture 6" descr="Image result for Anxiety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9475" y="2431964"/>
            <a:ext cx="1914525" cy="11144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30658" y="592116"/>
            <a:ext cx="7323439"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fontAlgn="base">
              <a:spcBef>
                <a:spcPct val="0"/>
              </a:spcBef>
              <a:spcAft>
                <a:spcPct val="0"/>
              </a:spcAft>
              <a:tabLst>
                <a:tab pos="457200" algn="l"/>
              </a:tabLst>
              <a:defRPr>
                <a:solidFill>
                  <a:schemeClr val="tx1"/>
                </a:solidFill>
                <a:latin typeface="Arial" pitchFamily="34" charset="0"/>
                <a:cs typeface="Arial" pitchFamily="34" charset="0"/>
              </a:defRPr>
            </a:lvl1pPr>
            <a:lvl2pPr fontAlgn="base">
              <a:spcBef>
                <a:spcPct val="0"/>
              </a:spcBef>
              <a:spcAft>
                <a:spcPct val="0"/>
              </a:spcAft>
              <a:tabLst>
                <a:tab pos="457200" algn="l"/>
              </a:tabLst>
              <a:defRPr>
                <a:solidFill>
                  <a:schemeClr val="tx1"/>
                </a:solidFill>
                <a:latin typeface="Arial" pitchFamily="34" charset="0"/>
                <a:cs typeface="Arial" pitchFamily="34" charset="0"/>
              </a:defRPr>
            </a:lvl2pPr>
            <a:lvl3pPr fontAlgn="base">
              <a:spcBef>
                <a:spcPct val="0"/>
              </a:spcBef>
              <a:spcAft>
                <a:spcPct val="0"/>
              </a:spcAft>
              <a:tabLst>
                <a:tab pos="457200" algn="l"/>
              </a:tabLst>
              <a:defRPr>
                <a:solidFill>
                  <a:schemeClr val="tx1"/>
                </a:solidFill>
                <a:latin typeface="Arial" pitchFamily="34" charset="0"/>
                <a:cs typeface="Arial" pitchFamily="34" charset="0"/>
              </a:defRPr>
            </a:lvl3pPr>
            <a:lvl4pPr fontAlgn="base">
              <a:spcBef>
                <a:spcPct val="0"/>
              </a:spcBef>
              <a:spcAft>
                <a:spcPct val="0"/>
              </a:spcAft>
              <a:tabLst>
                <a:tab pos="457200" algn="l"/>
              </a:tabLst>
              <a:defRPr>
                <a:solidFill>
                  <a:schemeClr val="tx1"/>
                </a:solidFill>
                <a:latin typeface="Arial" pitchFamily="34" charset="0"/>
                <a:cs typeface="Arial" pitchFamily="34" charset="0"/>
              </a:defRPr>
            </a:lvl4pPr>
            <a:lvl5pPr fontAlgn="base">
              <a:spcBef>
                <a:spcPct val="0"/>
              </a:spcBef>
              <a:spcAft>
                <a:spcPct val="0"/>
              </a:spcAft>
              <a:tabLst>
                <a:tab pos="457200" algn="l"/>
              </a:tabLst>
              <a:defRPr>
                <a:solidFill>
                  <a:schemeClr val="tx1"/>
                </a:solidFill>
                <a:latin typeface="Arial" pitchFamily="34" charset="0"/>
                <a:cs typeface="Arial" pitchFamily="34" charset="0"/>
              </a:defRPr>
            </a:lvl5pPr>
            <a:lvl6pPr fontAlgn="base">
              <a:spcBef>
                <a:spcPct val="0"/>
              </a:spcBef>
              <a:spcAft>
                <a:spcPct val="0"/>
              </a:spcAft>
              <a:tabLst>
                <a:tab pos="457200" algn="l"/>
              </a:tabLst>
              <a:defRPr>
                <a:solidFill>
                  <a:schemeClr val="tx1"/>
                </a:solidFill>
                <a:latin typeface="Arial" pitchFamily="34" charset="0"/>
                <a:cs typeface="Arial" pitchFamily="34" charset="0"/>
              </a:defRPr>
            </a:lvl6pPr>
            <a:lvl7pPr fontAlgn="base">
              <a:spcBef>
                <a:spcPct val="0"/>
              </a:spcBef>
              <a:spcAft>
                <a:spcPct val="0"/>
              </a:spcAft>
              <a:tabLst>
                <a:tab pos="457200" algn="l"/>
              </a:tabLst>
              <a:defRPr>
                <a:solidFill>
                  <a:schemeClr val="tx1"/>
                </a:solidFill>
                <a:latin typeface="Arial" pitchFamily="34" charset="0"/>
                <a:cs typeface="Arial" pitchFamily="34" charset="0"/>
              </a:defRPr>
            </a:lvl7pPr>
            <a:lvl8pPr fontAlgn="base">
              <a:spcBef>
                <a:spcPct val="0"/>
              </a:spcBef>
              <a:spcAft>
                <a:spcPct val="0"/>
              </a:spcAft>
              <a:tabLst>
                <a:tab pos="457200" algn="l"/>
              </a:tabLst>
              <a:defRPr>
                <a:solidFill>
                  <a:schemeClr val="tx1"/>
                </a:solidFill>
                <a:latin typeface="Arial" pitchFamily="34" charset="0"/>
                <a:cs typeface="Arial" pitchFamily="34" charset="0"/>
              </a:defRPr>
            </a:lvl8pPr>
            <a:lvl9pPr fontAlgn="base">
              <a:spcBef>
                <a:spcPct val="0"/>
              </a:spcBef>
              <a:spcAft>
                <a:spcPct val="0"/>
              </a:spcAft>
              <a:tabLst>
                <a:tab pos="457200" algn="l"/>
              </a:tabLs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GB" altLang="en-US" sz="11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In the classroom… with hyperactivity</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The young person may rush somewhat carelessly through work to ‘get it done’ and achieve praise. Provide them with some specific criteria around the quality of their work as well as quantity. i.e. “I want you to write in full sentences…” and/or “I want you to use the following key words in your writing…”</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When establishing boundaries / reminding of rules, focus on what you what them to do rather than what you don’t want them to do.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Provide models of work that the young person should aim towards – this will also help prevent careless rushing.</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Give them ‘jobs’ such as handing out or collecting in equipment to help channel their need to be active.</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Allowing the young person to go for a toilet break (with a time limit of 3 minutes) may offer a discreet way for them to gather their emotions / calm down.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If they go off on a tangent, use phrases such as “Right now we are focusing on…” and “First let’s answer / complete this… Then we will…”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11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In the classroom…with perfectionism</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Gently put in place time limits around pieces work – coach the young person around what ‘can be done’ in a given time limit not what ‘should be done’.</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Provide examples of finished products of work – of different quantities and qualities – providing a variety of positive points about them. Set specific targets around when a piece of work is ‘good enough’ rather than ‘perfect’.</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Give specific praise – “I like what you did with…” rather than general praise. Include within this any praise that can be given for overcoming / moving on from mistakes (this could be as simple as crossing something out without ripping out the page).</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Show examples of your own mistakes in piece of work to normalise it.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11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In the classroom… with distraction</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Provide homework instructions on a written post-it. Keep them simple and step-by-step.</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Spend some time 1-to-1 to check understanding of task instructions – ask them to tell (or show) you what they’re meant to be doing rather than just repeating yourself.</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Gently provide a specific, visible time limit to tasks – possibly even using an egg timer or whiteboard timer (this will benefit the whole class).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Allowing the young person to go for a toilet break (with a time limit of 3 minutes) may offer a discreet way for them some ‘take up time’ on the task ahead</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altLang="en-US" sz="11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In the classroom…withdrawn</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Try to encourage them to contribute to class discussion through ‘easy win’ questions focusing on what, where, when rather than how, why. This may help build up their trust and confidence.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Use the ‘language of choice’ if they are being resistant / defiant – giving guidance / forewarning on the consequences of those choices. </a:t>
            </a:r>
            <a:endParaRPr kumimoji="0" lang="en-GB" alt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GB" altLang="en-US" sz="11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Give specific praise – “I like what you did with…” rather than general praise. </a:t>
            </a:r>
            <a:endParaRPr kumimoji="0" lang="en-GB" altLang="en-US" sz="1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783785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8898" y="408941"/>
            <a:ext cx="6853881" cy="5955476"/>
          </a:xfrm>
          <a:prstGeom prst="rect">
            <a:avLst/>
          </a:prstGeom>
        </p:spPr>
        <p:txBody>
          <a:bodyPr wrap="square">
            <a:spAutoFit/>
          </a:bodyPr>
          <a:lstStyle/>
          <a:p>
            <a:r>
              <a:rPr lang="en-GB" sz="4400" b="1" dirty="0"/>
              <a:t>Attachment </a:t>
            </a:r>
            <a:r>
              <a:rPr lang="en-GB" sz="4400" b="1" dirty="0" smtClean="0"/>
              <a:t>Disorder</a:t>
            </a:r>
          </a:p>
          <a:p>
            <a:endParaRPr lang="en-GB" sz="500" dirty="0" smtClean="0"/>
          </a:p>
          <a:p>
            <a:endParaRPr lang="en-GB" sz="500" dirty="0"/>
          </a:p>
          <a:p>
            <a:endParaRPr lang="en-GB" sz="500" dirty="0" smtClean="0"/>
          </a:p>
          <a:p>
            <a:endParaRPr lang="en-GB" sz="500" dirty="0"/>
          </a:p>
          <a:p>
            <a:endParaRPr lang="en-GB" sz="500" dirty="0" smtClean="0"/>
          </a:p>
          <a:p>
            <a:endParaRPr lang="en-GB" sz="500" dirty="0"/>
          </a:p>
          <a:p>
            <a:endParaRPr lang="en-GB" sz="500" dirty="0" smtClean="0"/>
          </a:p>
          <a:p>
            <a:endParaRPr lang="en-GB" sz="500" dirty="0"/>
          </a:p>
          <a:p>
            <a:endParaRPr lang="en-GB" sz="500" dirty="0" smtClean="0"/>
          </a:p>
          <a:p>
            <a:endParaRPr lang="en-GB" sz="500" dirty="0"/>
          </a:p>
          <a:p>
            <a:endParaRPr lang="en-GB" sz="500" dirty="0" smtClean="0"/>
          </a:p>
          <a:p>
            <a:endParaRPr lang="en-GB" sz="500" dirty="0"/>
          </a:p>
          <a:p>
            <a:endParaRPr lang="en-GB" sz="500" dirty="0" smtClean="0"/>
          </a:p>
          <a:p>
            <a:endParaRPr lang="en-GB" sz="500" dirty="0"/>
          </a:p>
          <a:p>
            <a:endParaRPr lang="en-GB" sz="500" dirty="0" smtClean="0"/>
          </a:p>
          <a:p>
            <a:endParaRPr lang="en-GB" sz="500" dirty="0"/>
          </a:p>
          <a:p>
            <a:endParaRPr lang="en-GB" sz="500" dirty="0"/>
          </a:p>
          <a:p>
            <a:pPr marL="285750" indent="-285750">
              <a:buFont typeface="Arial" panose="020B0604020202020204" pitchFamily="34" charset="0"/>
              <a:buChar char="•"/>
            </a:pPr>
            <a:r>
              <a:rPr lang="en-GB" dirty="0"/>
              <a:t>Allow regular check-in time to key adult/ secure base. </a:t>
            </a:r>
            <a:r>
              <a:rPr lang="en-GB" dirty="0" smtClean="0"/>
              <a:t>Differentiate </a:t>
            </a:r>
            <a:r>
              <a:rPr lang="en-GB" dirty="0"/>
              <a:t>according to developmental (not chronological) age. </a:t>
            </a:r>
          </a:p>
          <a:p>
            <a:pPr marL="285750" indent="-285750">
              <a:buFont typeface="Arial" panose="020B0604020202020204" pitchFamily="34" charset="0"/>
              <a:buChar char="•"/>
            </a:pPr>
            <a:r>
              <a:rPr lang="en-GB" dirty="0" smtClean="0"/>
              <a:t>Do </a:t>
            </a:r>
            <a:r>
              <a:rPr lang="en-GB" dirty="0"/>
              <a:t>not insist on eye contact. </a:t>
            </a:r>
            <a:endParaRPr lang="en-GB" dirty="0" smtClean="0"/>
          </a:p>
          <a:p>
            <a:pPr marL="285750" indent="-285750">
              <a:buFont typeface="Arial" panose="020B0604020202020204" pitchFamily="34" charset="0"/>
              <a:buChar char="•"/>
            </a:pPr>
            <a:r>
              <a:rPr lang="en-GB" dirty="0" smtClean="0"/>
              <a:t>Be </a:t>
            </a:r>
            <a:r>
              <a:rPr lang="en-GB" dirty="0"/>
              <a:t>sensitive to possible emotive curriculum content. </a:t>
            </a:r>
          </a:p>
          <a:p>
            <a:pPr marL="285750" indent="-285750">
              <a:buFont typeface="Arial" panose="020B0604020202020204" pitchFamily="34" charset="0"/>
              <a:buChar char="•"/>
            </a:pPr>
            <a:r>
              <a:rPr lang="en-GB" dirty="0" smtClean="0"/>
              <a:t>Keep </a:t>
            </a:r>
            <a:r>
              <a:rPr lang="en-GB" dirty="0"/>
              <a:t>your voice and body language grounded and </a:t>
            </a:r>
            <a:r>
              <a:rPr lang="en-GB" b="1" dirty="0"/>
              <a:t>calm at all times</a:t>
            </a:r>
            <a:r>
              <a:rPr lang="en-GB" dirty="0"/>
              <a:t>. </a:t>
            </a:r>
            <a:endParaRPr lang="en-GB" dirty="0" smtClean="0"/>
          </a:p>
          <a:p>
            <a:pPr marL="285750" indent="-285750">
              <a:buFont typeface="Arial" panose="020B0604020202020204" pitchFamily="34" charset="0"/>
              <a:buChar char="•"/>
            </a:pPr>
            <a:r>
              <a:rPr lang="en-GB" dirty="0" smtClean="0"/>
              <a:t>Present </a:t>
            </a:r>
            <a:r>
              <a:rPr lang="en-GB" dirty="0"/>
              <a:t>the pupil with two or </a:t>
            </a:r>
            <a:r>
              <a:rPr lang="en-GB" b="1" dirty="0"/>
              <a:t>three choices</a:t>
            </a:r>
            <a:r>
              <a:rPr lang="en-GB" dirty="0"/>
              <a:t>, rather than engaging in control battles. </a:t>
            </a:r>
            <a:r>
              <a:rPr lang="en-GB" dirty="0" smtClean="0"/>
              <a:t>Offer </a:t>
            </a:r>
            <a:r>
              <a:rPr lang="en-GB" dirty="0"/>
              <a:t>opportunities for reparation as close to the incident/conflict as possible. </a:t>
            </a:r>
            <a:endParaRPr lang="en-GB" dirty="0" smtClean="0"/>
          </a:p>
          <a:p>
            <a:pPr marL="285750" indent="-285750">
              <a:buFont typeface="Arial" panose="020B0604020202020204" pitchFamily="34" charset="0"/>
              <a:buChar char="•"/>
            </a:pPr>
            <a:r>
              <a:rPr lang="en-GB" dirty="0" smtClean="0"/>
              <a:t>P</a:t>
            </a:r>
            <a:r>
              <a:rPr lang="en-GB" b="1" dirty="0" smtClean="0"/>
              <a:t>rovide </a:t>
            </a:r>
            <a:r>
              <a:rPr lang="en-GB" b="1" dirty="0"/>
              <a:t>time for the students to de-escalate their feelings </a:t>
            </a:r>
            <a:r>
              <a:rPr lang="en-GB" dirty="0"/>
              <a:t>and then discuss calmly. Use ‘we’ not you </a:t>
            </a:r>
          </a:p>
          <a:p>
            <a:pPr marL="285750" indent="-285750">
              <a:buFont typeface="Arial" panose="020B0604020202020204" pitchFamily="34" charset="0"/>
              <a:buChar char="•"/>
            </a:pPr>
            <a:r>
              <a:rPr lang="en-GB" b="1" dirty="0" smtClean="0"/>
              <a:t>Use </a:t>
            </a:r>
            <a:r>
              <a:rPr lang="en-GB" b="1" dirty="0"/>
              <a:t>language that builds a pupil </a:t>
            </a:r>
            <a:r>
              <a:rPr lang="en-GB" b="1" dirty="0" smtClean="0"/>
              <a:t>up</a:t>
            </a:r>
            <a:endParaRPr lang="en-GB" dirty="0"/>
          </a:p>
          <a:p>
            <a:pPr marL="285750" indent="-285750">
              <a:buFont typeface="Arial" panose="020B0604020202020204" pitchFamily="34" charset="0"/>
              <a:buChar char="•"/>
            </a:pPr>
            <a:r>
              <a:rPr lang="en-GB" b="1" dirty="0" smtClean="0"/>
              <a:t>Give </a:t>
            </a:r>
            <a:r>
              <a:rPr lang="en-GB" b="1" dirty="0"/>
              <a:t>prior warning </a:t>
            </a:r>
            <a:r>
              <a:rPr lang="en-GB" dirty="0"/>
              <a:t>and preparation if there are changes to routine, or transitions coming up. </a:t>
            </a:r>
          </a:p>
          <a:p>
            <a:pPr marL="285750" indent="-285750">
              <a:buFont typeface="Arial" panose="020B0604020202020204" pitchFamily="34" charset="0"/>
              <a:buChar char="•"/>
            </a:pPr>
            <a:r>
              <a:rPr lang="en-GB" dirty="0" smtClean="0"/>
              <a:t>Use </a:t>
            </a:r>
            <a:r>
              <a:rPr lang="en-GB" dirty="0"/>
              <a:t>“</a:t>
            </a:r>
            <a:r>
              <a:rPr lang="en-GB" b="1" dirty="0"/>
              <a:t>Let’s</a:t>
            </a:r>
            <a:r>
              <a:rPr lang="en-GB" dirty="0"/>
              <a:t>” rather than “Don’t”. </a:t>
            </a:r>
          </a:p>
        </p:txBody>
      </p:sp>
      <p:pic>
        <p:nvPicPr>
          <p:cNvPr id="3" name="Picture 2" descr="Image result for Attachment disorder image"/>
          <p:cNvPicPr/>
          <p:nvPr/>
        </p:nvPicPr>
        <p:blipFill>
          <a:blip r:embed="rId3" cstate="print"/>
          <a:srcRect/>
          <a:stretch>
            <a:fillRect/>
          </a:stretch>
        </p:blipFill>
        <p:spPr bwMode="auto">
          <a:xfrm>
            <a:off x="5534986" y="207945"/>
            <a:ext cx="3247390" cy="2191385"/>
          </a:xfrm>
          <a:prstGeom prst="rect">
            <a:avLst/>
          </a:prstGeom>
          <a:noFill/>
          <a:ln w="9525">
            <a:noFill/>
            <a:miter lim="800000"/>
            <a:headEnd/>
            <a:tailEnd/>
          </a:ln>
        </p:spPr>
      </p:pic>
    </p:spTree>
    <p:extLst>
      <p:ext uri="{BB962C8B-B14F-4D97-AF65-F5344CB8AC3E}">
        <p14:creationId xmlns:p14="http://schemas.microsoft.com/office/powerpoint/2010/main" val="1531660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normAutofit fontScale="90000"/>
          </a:bodyPr>
          <a:lstStyle/>
          <a:p>
            <a:pPr algn="ctr"/>
            <a:r>
              <a:rPr lang="en-GB" b="1" dirty="0" smtClean="0">
                <a:solidFill>
                  <a:srgbClr val="C00000"/>
                </a:solidFill>
                <a:latin typeface="Arial" pitchFamily="34" charset="0"/>
                <a:cs typeface="Arial" pitchFamily="34" charset="0"/>
              </a:rPr>
              <a:t>Every teacher is a teacher of SEN</a:t>
            </a:r>
            <a:r>
              <a:rPr lang="en-GB" dirty="0" smtClean="0"/>
              <a:t/>
            </a:r>
            <a:br>
              <a:rPr lang="en-GB" dirty="0" smtClean="0"/>
            </a:br>
            <a:endParaRPr lang="en-GB" dirty="0"/>
          </a:p>
        </p:txBody>
      </p:sp>
      <p:sp>
        <p:nvSpPr>
          <p:cNvPr id="3" name="Content Placeholder 2"/>
          <p:cNvSpPr>
            <a:spLocks noGrp="1"/>
          </p:cNvSpPr>
          <p:nvPr>
            <p:ph idx="1"/>
          </p:nvPr>
        </p:nvSpPr>
        <p:spPr>
          <a:xfrm>
            <a:off x="457200" y="1447800"/>
            <a:ext cx="8229600" cy="4876800"/>
          </a:xfrm>
        </p:spPr>
        <p:txBody>
          <a:bodyPr>
            <a:normAutofit fontScale="77500" lnSpcReduction="20000"/>
          </a:bodyPr>
          <a:lstStyle/>
          <a:p>
            <a:pPr algn="ctr">
              <a:buNone/>
            </a:pPr>
            <a:r>
              <a:rPr lang="en-GB" sz="3000" b="1" dirty="0" smtClean="0">
                <a:solidFill>
                  <a:schemeClr val="accent6">
                    <a:lumMod val="75000"/>
                  </a:schemeClr>
                </a:solidFill>
                <a:latin typeface="Arial" pitchFamily="34" charset="0"/>
                <a:cs typeface="Arial" pitchFamily="34" charset="0"/>
              </a:rPr>
              <a:t>Useful resources</a:t>
            </a:r>
          </a:p>
          <a:p>
            <a:r>
              <a:rPr lang="en-GB" dirty="0" smtClean="0">
                <a:solidFill>
                  <a:schemeClr val="accent6">
                    <a:lumMod val="75000"/>
                  </a:schemeClr>
                </a:solidFill>
                <a:latin typeface="Arial" pitchFamily="34" charset="0"/>
                <a:cs typeface="Arial" pitchFamily="34" charset="0"/>
              </a:rPr>
              <a:t>www.read-able.com </a:t>
            </a:r>
          </a:p>
          <a:p>
            <a:r>
              <a:rPr lang="en-GB" dirty="0" smtClean="0">
                <a:solidFill>
                  <a:schemeClr val="accent6">
                    <a:lumMod val="75000"/>
                  </a:schemeClr>
                </a:solidFill>
                <a:latin typeface="Arial" pitchFamily="34" charset="0"/>
                <a:cs typeface="Arial" pitchFamily="34" charset="0"/>
              </a:rPr>
              <a:t>www.humansnotrobots.co.uk </a:t>
            </a:r>
          </a:p>
          <a:p>
            <a:r>
              <a:rPr lang="en-GB" dirty="0" smtClean="0">
                <a:solidFill>
                  <a:schemeClr val="accent6">
                    <a:lumMod val="75000"/>
                  </a:schemeClr>
                </a:solidFill>
                <a:latin typeface="Arial" pitchFamily="34" charset="0"/>
                <a:cs typeface="Arial" pitchFamily="34" charset="0"/>
              </a:rPr>
              <a:t>www.dyslexiaaction.org.uk</a:t>
            </a:r>
          </a:p>
          <a:p>
            <a:r>
              <a:rPr lang="en-GB" dirty="0" smtClean="0">
                <a:solidFill>
                  <a:schemeClr val="accent6">
                    <a:lumMod val="75000"/>
                  </a:schemeClr>
                </a:solidFill>
                <a:latin typeface="Arial" pitchFamily="34" charset="0"/>
                <a:cs typeface="Arial" pitchFamily="34" charset="0"/>
                <a:hlinkClick r:id="rId2"/>
              </a:rPr>
              <a:t>www.dyspraxiafoundation.co.uk</a:t>
            </a:r>
            <a:endParaRPr lang="en-GB" dirty="0" smtClean="0">
              <a:solidFill>
                <a:schemeClr val="accent6">
                  <a:lumMod val="75000"/>
                </a:schemeClr>
              </a:solidFill>
              <a:latin typeface="Arial" pitchFamily="34" charset="0"/>
              <a:cs typeface="Arial" pitchFamily="34" charset="0"/>
            </a:endParaRPr>
          </a:p>
          <a:p>
            <a:r>
              <a:rPr lang="en-GB" dirty="0" smtClean="0">
                <a:solidFill>
                  <a:schemeClr val="accent6">
                    <a:lumMod val="75000"/>
                  </a:schemeClr>
                </a:solidFill>
                <a:latin typeface="Arial" pitchFamily="34" charset="0"/>
                <a:cs typeface="Arial" pitchFamily="34" charset="0"/>
                <a:hlinkClick r:id="rId3"/>
              </a:rPr>
              <a:t>www.suepalmer.co.uk</a:t>
            </a:r>
            <a:endParaRPr lang="en-GB" dirty="0" smtClean="0">
              <a:solidFill>
                <a:schemeClr val="accent6">
                  <a:lumMod val="75000"/>
                </a:schemeClr>
              </a:solidFill>
              <a:latin typeface="Arial" pitchFamily="34" charset="0"/>
              <a:cs typeface="Arial" pitchFamily="34" charset="0"/>
            </a:endParaRPr>
          </a:p>
          <a:p>
            <a:r>
              <a:rPr lang="en-GB" dirty="0" smtClean="0">
                <a:solidFill>
                  <a:schemeClr val="accent6">
                    <a:lumMod val="75000"/>
                  </a:schemeClr>
                </a:solidFill>
                <a:latin typeface="Arial" pitchFamily="34" charset="0"/>
                <a:cs typeface="Arial" pitchFamily="34" charset="0"/>
                <a:hlinkClick r:id="rId4"/>
              </a:rPr>
              <a:t>www.tts-group.co.uk</a:t>
            </a:r>
            <a:endParaRPr lang="en-GB" dirty="0" smtClean="0">
              <a:solidFill>
                <a:schemeClr val="accent6">
                  <a:lumMod val="75000"/>
                </a:schemeClr>
              </a:solidFill>
              <a:latin typeface="Arial" pitchFamily="34" charset="0"/>
              <a:cs typeface="Arial" pitchFamily="34" charset="0"/>
            </a:endParaRPr>
          </a:p>
          <a:p>
            <a:r>
              <a:rPr lang="en-GB" dirty="0" smtClean="0">
                <a:solidFill>
                  <a:schemeClr val="accent6">
                    <a:lumMod val="75000"/>
                  </a:schemeClr>
                </a:solidFill>
                <a:latin typeface="Arial" pitchFamily="34" charset="0"/>
                <a:cs typeface="Arial" pitchFamily="34" charset="0"/>
              </a:rPr>
              <a:t>www.ldalearning.com</a:t>
            </a:r>
          </a:p>
          <a:p>
            <a:r>
              <a:rPr lang="en-GB" dirty="0" smtClean="0">
                <a:solidFill>
                  <a:schemeClr val="accent6">
                    <a:lumMod val="75000"/>
                  </a:schemeClr>
                </a:solidFill>
                <a:latin typeface="Arial" pitchFamily="34" charset="0"/>
                <a:cs typeface="Arial" pitchFamily="34" charset="0"/>
                <a:hlinkClick r:id="rId5"/>
              </a:rPr>
              <a:t>www.talk4writing.co.uk</a:t>
            </a:r>
            <a:endParaRPr lang="en-GB" dirty="0" smtClean="0">
              <a:solidFill>
                <a:schemeClr val="accent6">
                  <a:lumMod val="75000"/>
                </a:schemeClr>
              </a:solidFill>
              <a:latin typeface="Arial" pitchFamily="34" charset="0"/>
              <a:cs typeface="Arial" pitchFamily="34" charset="0"/>
            </a:endParaRPr>
          </a:p>
          <a:p>
            <a:r>
              <a:rPr lang="en-GB" dirty="0" smtClean="0">
                <a:solidFill>
                  <a:schemeClr val="accent6">
                    <a:lumMod val="75000"/>
                  </a:schemeClr>
                </a:solidFill>
                <a:latin typeface="Arial" pitchFamily="34" charset="0"/>
                <a:cs typeface="Arial" pitchFamily="34" charset="0"/>
                <a:hlinkClick r:id="rId6"/>
              </a:rPr>
              <a:t>www.specialeducationalneeds.co.uk</a:t>
            </a:r>
            <a:r>
              <a:rPr lang="en-GB" dirty="0" smtClean="0">
                <a:solidFill>
                  <a:schemeClr val="accent6">
                    <a:lumMod val="75000"/>
                  </a:schemeClr>
                </a:solidFill>
                <a:latin typeface="Arial" pitchFamily="34" charset="0"/>
                <a:cs typeface="Arial" pitchFamily="34" charset="0"/>
              </a:rPr>
              <a:t>   Douglas Silas</a:t>
            </a:r>
          </a:p>
          <a:p>
            <a:r>
              <a:rPr lang="en-GB" dirty="0" smtClean="0">
                <a:solidFill>
                  <a:schemeClr val="accent6">
                    <a:lumMod val="75000"/>
                  </a:schemeClr>
                </a:solidFill>
                <a:latin typeface="Arial" pitchFamily="34" charset="0"/>
                <a:cs typeface="Arial" pitchFamily="34" charset="0"/>
                <a:hlinkClick r:id="rId7"/>
              </a:rPr>
              <a:t>www.eyecanlearn.co.uk</a:t>
            </a:r>
            <a:endParaRPr lang="en-GB" dirty="0" smtClean="0">
              <a:solidFill>
                <a:schemeClr val="accent6">
                  <a:lumMod val="75000"/>
                </a:schemeClr>
              </a:solidFill>
              <a:latin typeface="Arial" pitchFamily="34" charset="0"/>
              <a:cs typeface="Arial" pitchFamily="34" charset="0"/>
            </a:endParaRPr>
          </a:p>
          <a:p>
            <a:r>
              <a:rPr lang="en-GB" dirty="0" smtClean="0">
                <a:solidFill>
                  <a:schemeClr val="accent6">
                    <a:lumMod val="75000"/>
                  </a:schemeClr>
                </a:solidFill>
                <a:latin typeface="Arial" pitchFamily="34" charset="0"/>
                <a:cs typeface="Arial" pitchFamily="34" charset="0"/>
                <a:hlinkClick r:id="rId8"/>
              </a:rPr>
              <a:t>www.visuallearningforlife.com</a:t>
            </a:r>
            <a:endParaRPr lang="en-GB" dirty="0" smtClean="0">
              <a:solidFill>
                <a:schemeClr val="accent6">
                  <a:lumMod val="75000"/>
                </a:schemeClr>
              </a:solidFill>
              <a:latin typeface="Arial" pitchFamily="34" charset="0"/>
              <a:cs typeface="Arial" pitchFamily="34" charset="0"/>
            </a:endParaRPr>
          </a:p>
          <a:p>
            <a:endParaRPr lang="en-GB" dirty="0" smtClean="0"/>
          </a:p>
          <a:p>
            <a:endParaRPr lang="en-GB" dirty="0" smtClean="0"/>
          </a:p>
          <a:p>
            <a:endParaRPr lang="en-GB" dirty="0"/>
          </a:p>
        </p:txBody>
      </p:sp>
    </p:spTree>
    <p:extLst>
      <p:ext uri="{BB962C8B-B14F-4D97-AF65-F5344CB8AC3E}">
        <p14:creationId xmlns:p14="http://schemas.microsoft.com/office/powerpoint/2010/main" val="15449663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947350" y="494270"/>
            <a:ext cx="7199871" cy="2913504"/>
          </a:xfrm>
        </p:spPr>
        <p:txBody>
          <a:bodyPr>
            <a:normAutofit fontScale="70000" lnSpcReduction="20000"/>
          </a:bodyPr>
          <a:lstStyle/>
          <a:p>
            <a:r>
              <a:rPr lang="en-GB" dirty="0">
                <a:solidFill>
                  <a:schemeClr val="accent6">
                    <a:lumMod val="75000"/>
                  </a:schemeClr>
                </a:solidFill>
                <a:latin typeface="Arial" pitchFamily="34" charset="0"/>
                <a:cs typeface="Arial" pitchFamily="34" charset="0"/>
              </a:rPr>
              <a:t>We have a duty of care and legal responsibility to teach children with SEN</a:t>
            </a:r>
          </a:p>
          <a:p>
            <a:endParaRPr lang="en-GB" dirty="0">
              <a:solidFill>
                <a:schemeClr val="accent6">
                  <a:lumMod val="75000"/>
                </a:schemeClr>
              </a:solidFill>
              <a:latin typeface="Arial" pitchFamily="34" charset="0"/>
              <a:cs typeface="Arial" pitchFamily="34" charset="0"/>
            </a:endParaRPr>
          </a:p>
          <a:p>
            <a:r>
              <a:rPr lang="en-GB" dirty="0">
                <a:solidFill>
                  <a:schemeClr val="accent6">
                    <a:lumMod val="75000"/>
                  </a:schemeClr>
                </a:solidFill>
                <a:latin typeface="Arial" pitchFamily="34" charset="0"/>
                <a:cs typeface="Arial" pitchFamily="34" charset="0"/>
              </a:rPr>
              <a:t>We will use differentiation and Quality First Teaching which looks at the barriers to learning and a graduated approach.</a:t>
            </a:r>
          </a:p>
          <a:p>
            <a:endParaRPr lang="en-GB" dirty="0">
              <a:solidFill>
                <a:schemeClr val="accent6">
                  <a:lumMod val="75000"/>
                </a:schemeClr>
              </a:solidFill>
              <a:latin typeface="Arial" pitchFamily="34" charset="0"/>
              <a:cs typeface="Arial" pitchFamily="34" charset="0"/>
            </a:endParaRPr>
          </a:p>
          <a:p>
            <a:r>
              <a:rPr lang="en-GB" dirty="0">
                <a:solidFill>
                  <a:schemeClr val="accent6">
                    <a:lumMod val="75000"/>
                  </a:schemeClr>
                </a:solidFill>
                <a:latin typeface="Arial" pitchFamily="34" charset="0"/>
                <a:cs typeface="Arial" pitchFamily="34" charset="0"/>
              </a:rPr>
              <a:t>All children are unique</a:t>
            </a:r>
          </a:p>
          <a:p>
            <a:endParaRPr lang="en-US" dirty="0">
              <a:latin typeface="+mj-lt"/>
            </a:endParaRPr>
          </a:p>
        </p:txBody>
      </p:sp>
      <p:sp>
        <p:nvSpPr>
          <p:cNvPr id="2" name="TextBox 1"/>
          <p:cNvSpPr txBox="1"/>
          <p:nvPr/>
        </p:nvSpPr>
        <p:spPr>
          <a:xfrm>
            <a:off x="1688757" y="4193059"/>
            <a:ext cx="5741773" cy="923330"/>
          </a:xfrm>
          <a:prstGeom prst="rect">
            <a:avLst/>
          </a:prstGeom>
          <a:noFill/>
        </p:spPr>
        <p:txBody>
          <a:bodyPr wrap="square" rtlCol="0">
            <a:spAutoFit/>
          </a:bodyPr>
          <a:lstStyle/>
          <a:p>
            <a:pPr algn="ctr"/>
            <a:r>
              <a:rPr lang="en-GB" sz="5400" dirty="0" smtClean="0">
                <a:solidFill>
                  <a:schemeClr val="accent6">
                    <a:lumMod val="75000"/>
                  </a:schemeClr>
                </a:solidFill>
              </a:rPr>
              <a:t>Thank You</a:t>
            </a:r>
            <a:endParaRPr lang="en-GB" sz="5400" dirty="0">
              <a:solidFill>
                <a:schemeClr val="accent6">
                  <a:lumMod val="75000"/>
                </a:schemeClr>
              </a:solidFill>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Powerpoint_master_template</Template>
  <TotalTime>318</TotalTime>
  <Words>3483</Words>
  <Application>Microsoft Office PowerPoint</Application>
  <PresentationFormat>On-screen Show (4:3)</PresentationFormat>
  <Paragraphs>370</Paragraphs>
  <Slides>32</Slides>
  <Notes>9</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Powerpoint_master_template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Barriers to Learning </vt:lpstr>
      <vt:lpstr>Research suggests…  </vt:lpstr>
      <vt:lpstr>Speaking and Listening</vt:lpstr>
      <vt:lpstr>Copy the date and L.O</vt:lpstr>
      <vt:lpstr>Spellings</vt:lpstr>
      <vt:lpstr>Write a paragraph about your holiday</vt:lpstr>
      <vt:lpstr>Reading</vt:lpstr>
      <vt:lpstr>Reality</vt:lpstr>
      <vt:lpstr>Autistic Spectrum Disorders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Every teacher is a teacher of SEN </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21</cp:revision>
  <cp:lastPrinted>2015-09-16T14:47:36Z</cp:lastPrinted>
  <dcterms:created xsi:type="dcterms:W3CDTF">2017-09-05T13:13:18Z</dcterms:created>
  <dcterms:modified xsi:type="dcterms:W3CDTF">2017-12-07T15:00:46Z</dcterms:modified>
</cp:coreProperties>
</file>