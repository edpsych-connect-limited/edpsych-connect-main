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9144000"/>
  <p:notesSz cx="6669075" cy="9872650"/>
  <p:embeddedFontLst>
    <p:embeddedFont>
      <p:font typeface="Arial Black"/>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ArialBlack-regular.fnt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889250" cy="493712"/>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778250" y="0"/>
            <a:ext cx="2889250" cy="493712"/>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66750" y="4689475"/>
            <a:ext cx="5335587" cy="4443412"/>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377362"/>
            <a:ext cx="2889250" cy="493712"/>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666750" y="4689475"/>
            <a:ext cx="5335587" cy="4443412"/>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4: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
        <p:nvSpPr>
          <p:cNvPr id="97" name="Google Shape;97;p4: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66750" y="4689475"/>
            <a:ext cx="5335587" cy="4443412"/>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6: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
        <p:nvSpPr>
          <p:cNvPr id="114" name="Google Shape;114;p6: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 name="Shape 120"/>
        <p:cNvGrpSpPr/>
        <p:nvPr/>
      </p:nvGrpSpPr>
      <p:grpSpPr>
        <a:xfrm>
          <a:off x="0" y="0"/>
          <a:ext cx="0" cy="0"/>
          <a:chOff x="0" y="0"/>
          <a:chExt cx="0" cy="0"/>
        </a:xfrm>
      </p:grpSpPr>
      <p:sp>
        <p:nvSpPr>
          <p:cNvPr id="121" name="Google Shape;121;p7: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22" name="Google Shape;122;p7: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7: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SzPts val="1800"/>
              <a:buFont typeface="Arial"/>
              <a:buNone/>
            </a:pPr>
            <a:r>
              <a:rPr b="0" i="0" lang="en-US" sz="1800" u="none" cap="none" strike="noStrike"/>
              <a:t>It is not suitable for all children.  Children who are perhaps quiet by nature and who do not stand out in the group and who definitely do not want any attention drawn to them and who do not see themselves as different.</a:t>
            </a:r>
            <a:endParaRPr/>
          </a:p>
          <a:p>
            <a:pPr indent="0" lvl="0" marL="0" marR="0" rtl="0" algn="l">
              <a:spcBef>
                <a:spcPts val="0"/>
              </a:spcBef>
              <a:spcAft>
                <a:spcPts val="0"/>
              </a:spcAft>
              <a:buSzPts val="1800"/>
              <a:buFont typeface="Arial"/>
              <a:buNone/>
            </a:pPr>
            <a:r>
              <a:rPr b="0" i="0" lang="en-US" sz="1800" u="none" cap="none" strike="noStrike">
                <a:latin typeface="Arial"/>
                <a:ea typeface="Arial"/>
                <a:cs typeface="Arial"/>
                <a:sym typeface="Arial"/>
              </a:rPr>
              <a:t>It is designed to share information on and develop empathy for a child who has become isolated.</a:t>
            </a:r>
            <a:endParaRPr/>
          </a:p>
          <a:p>
            <a:pPr indent="0" lvl="0" marL="0" marR="0" rtl="0" algn="l">
              <a:spcBef>
                <a:spcPts val="0"/>
              </a:spcBef>
              <a:spcAft>
                <a:spcPts val="0"/>
              </a:spcAft>
              <a:buNone/>
            </a:pPr>
            <a:r>
              <a:t/>
            </a:r>
            <a:endParaRPr b="0" i="0" sz="1800" u="none" cap="none"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66750" y="4689475"/>
            <a:ext cx="5335587" cy="4443412"/>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p9: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40" name="Google Shape;140;p9: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9: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SzPts val="1800"/>
              <a:buFont typeface="Arial"/>
              <a:buNone/>
            </a:pPr>
            <a:r>
              <a:rPr b="0" i="0" lang="en-US" sz="1800" u="none" cap="none" strike="noStrike"/>
              <a:t>The children’s parents would already have received a letter and given permission for their child to be included if required.  The class teacher would then take the names of the volunteers and compile a list of about 6 to 8 youngsters who are willing to meet.  The other volunteers are thanked and are invited to give  any ideas they may have to the teacher throughout the week.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0: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
        <p:nvSpPr>
          <p:cNvPr id="150" name="Google Shape;150;p10: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6" name="Shape 156"/>
        <p:cNvGrpSpPr/>
        <p:nvPr/>
      </p:nvGrpSpPr>
      <p:grpSpPr>
        <a:xfrm>
          <a:off x="0" y="0"/>
          <a:ext cx="0" cy="0"/>
          <a:chOff x="0" y="0"/>
          <a:chExt cx="0" cy="0"/>
        </a:xfrm>
      </p:grpSpPr>
      <p:sp>
        <p:nvSpPr>
          <p:cNvPr id="157" name="Google Shape;157;p11: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8" name="Google Shape;158;p11: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11: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SzPts val="1800"/>
              <a:buFont typeface="Arial"/>
              <a:buNone/>
            </a:pPr>
            <a:r>
              <a:rPr b="0" i="0" lang="en-US" sz="1800" u="none" cap="none" strike="noStrike"/>
              <a:t>We ask the children to think of all the people in their lives. Starting with their family.  Then thinking about the outer circle, people who are paid to look after them.  The next circle, people who are paid to do something fun with them.  And then their friends.    How would it be if we had no names to put in the friends section.  How might someone feel if they had no friends.?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p12: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78" name="Google Shape;178;p12: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2: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5" name="Shape 185"/>
        <p:cNvGrpSpPr/>
        <p:nvPr/>
      </p:nvGrpSpPr>
      <p:grpSpPr>
        <a:xfrm>
          <a:off x="0" y="0"/>
          <a:ext cx="0" cy="0"/>
          <a:chOff x="0" y="0"/>
          <a:chExt cx="0" cy="0"/>
        </a:xfrm>
      </p:grpSpPr>
      <p:sp>
        <p:nvSpPr>
          <p:cNvPr id="186" name="Google Shape;186;p13: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3: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
        <p:nvSpPr>
          <p:cNvPr id="188" name="Google Shape;188;p13: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4" name="Shape 194"/>
        <p:cNvGrpSpPr/>
        <p:nvPr/>
      </p:nvGrpSpPr>
      <p:grpSpPr>
        <a:xfrm>
          <a:off x="0" y="0"/>
          <a:ext cx="0" cy="0"/>
          <a:chOff x="0" y="0"/>
          <a:chExt cx="0" cy="0"/>
        </a:xfrm>
      </p:grpSpPr>
      <p:sp>
        <p:nvSpPr>
          <p:cNvPr id="195" name="Google Shape;195;p14: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4: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
        <p:nvSpPr>
          <p:cNvPr id="197" name="Google Shape;197;p14: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p15: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5: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
        <p:nvSpPr>
          <p:cNvPr id="206" name="Google Shape;206;p15: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3" name="Shape 213"/>
        <p:cNvGrpSpPr/>
        <p:nvPr/>
      </p:nvGrpSpPr>
      <p:grpSpPr>
        <a:xfrm>
          <a:off x="0" y="0"/>
          <a:ext cx="0" cy="0"/>
          <a:chOff x="0" y="0"/>
          <a:chExt cx="0" cy="0"/>
        </a:xfrm>
      </p:grpSpPr>
      <p:sp>
        <p:nvSpPr>
          <p:cNvPr id="214" name="Google Shape;214;p16: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215" name="Google Shape;215;p16: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SzPts val="1800"/>
              <a:buFont typeface="Arial"/>
              <a:buNone/>
            </a:pPr>
            <a:r>
              <a:rPr b="0" i="0" lang="en-US" sz="1800" u="none" cap="none" strike="noStrike"/>
              <a:t>Pre requisites</a:t>
            </a:r>
            <a:endParaRPr/>
          </a:p>
          <a:p>
            <a:pPr indent="0" lvl="0" marL="0" marR="0" rtl="0" algn="l">
              <a:spcBef>
                <a:spcPts val="0"/>
              </a:spcBef>
              <a:spcAft>
                <a:spcPts val="0"/>
              </a:spcAft>
              <a:buSzPts val="1800"/>
              <a:buFont typeface="Arial"/>
              <a:buNone/>
            </a:pPr>
            <a:r>
              <a:t/>
            </a:r>
            <a:endParaRPr b="0" i="0" sz="1800" u="none" cap="none" strike="noStrike"/>
          </a:p>
          <a:p>
            <a:pPr indent="0" lvl="0" marL="0" marR="0" rtl="0" algn="l">
              <a:lnSpc>
                <a:spcPct val="90000"/>
              </a:lnSpc>
              <a:spcBef>
                <a:spcPts val="0"/>
              </a:spcBef>
              <a:spcAft>
                <a:spcPts val="0"/>
              </a:spcAft>
              <a:buSzPts val="1800"/>
              <a:buFont typeface="Arial"/>
              <a:buNone/>
            </a:pPr>
            <a:r>
              <a:rPr b="0" i="0" lang="en-US" sz="1800" u="none" cap="none" strike="noStrike">
                <a:latin typeface="Arial"/>
                <a:ea typeface="Arial"/>
                <a:cs typeface="Arial"/>
                <a:sym typeface="Arial"/>
              </a:rPr>
              <a:t>The target child is in need of the strategy and that their need is apparent to the children. That this child has the cognitive and emotional skills to make use of the strategy.</a:t>
            </a:r>
            <a:endParaRPr/>
          </a:p>
          <a:p>
            <a:pPr indent="0" lvl="0" marL="0" marR="0" rtl="0" algn="l">
              <a:lnSpc>
                <a:spcPct val="90000"/>
              </a:lnSpc>
              <a:spcBef>
                <a:spcPts val="0"/>
              </a:spcBef>
              <a:spcAft>
                <a:spcPts val="0"/>
              </a:spcAft>
              <a:buSzPts val="1800"/>
              <a:buFont typeface="Arial"/>
              <a:buNone/>
            </a:pPr>
            <a:r>
              <a:rPr b="0" i="0" lang="en-US" sz="1800" u="none" cap="none" strike="noStrike">
                <a:latin typeface="Arial"/>
                <a:ea typeface="Arial"/>
                <a:cs typeface="Arial"/>
                <a:sym typeface="Arial"/>
              </a:rPr>
              <a:t>That the children are old enough to reflect on their own and other children’s behaviours.</a:t>
            </a:r>
            <a:endParaRPr/>
          </a:p>
          <a:p>
            <a:pPr indent="0" lvl="0" marL="0" marR="0" rtl="0" algn="l">
              <a:lnSpc>
                <a:spcPct val="90000"/>
              </a:lnSpc>
              <a:spcBef>
                <a:spcPts val="0"/>
              </a:spcBef>
              <a:spcAft>
                <a:spcPts val="0"/>
              </a:spcAft>
              <a:buSzPts val="1800"/>
              <a:buFont typeface="Arial"/>
              <a:buNone/>
            </a:pPr>
            <a:r>
              <a:rPr b="0" i="0" lang="en-US" sz="1800" u="none" cap="none" strike="noStrike">
                <a:latin typeface="Arial"/>
                <a:ea typeface="Arial"/>
                <a:cs typeface="Arial"/>
                <a:sym typeface="Arial"/>
              </a:rPr>
              <a:t>That they are likely to remember the issues discussed and the strategies discussed.</a:t>
            </a:r>
            <a:endParaRPr/>
          </a:p>
          <a:p>
            <a:pPr indent="0" lvl="0" marL="0" marR="0" rtl="0" algn="l">
              <a:lnSpc>
                <a:spcPct val="90000"/>
              </a:lnSpc>
              <a:spcBef>
                <a:spcPts val="0"/>
              </a:spcBef>
              <a:spcAft>
                <a:spcPts val="0"/>
              </a:spcAft>
              <a:buSzPts val="1800"/>
              <a:buFont typeface="Arial"/>
              <a:buNone/>
            </a:pPr>
            <a:r>
              <a:rPr b="0" i="0" lang="en-US" sz="1800" u="none" cap="none" strike="noStrike">
                <a:latin typeface="Arial"/>
                <a:ea typeface="Arial"/>
                <a:cs typeface="Arial"/>
                <a:sym typeface="Arial"/>
              </a:rPr>
              <a:t>Parents  and the child in question understand the process and have given permission.</a:t>
            </a:r>
            <a:endParaRPr/>
          </a:p>
          <a:p>
            <a:pPr indent="0" lvl="0" marL="0" marR="0" rtl="0" algn="l">
              <a:spcBef>
                <a:spcPts val="0"/>
              </a:spcBef>
              <a:spcAft>
                <a:spcPts val="0"/>
              </a:spcAft>
              <a:buSzPts val="1800"/>
              <a:buFont typeface="Arial"/>
              <a:buNone/>
            </a:pPr>
            <a:r>
              <a:t/>
            </a:r>
            <a:endParaRPr b="0" i="0" sz="1800" u="none" cap="none" strike="noStrike"/>
          </a:p>
          <a:p>
            <a:pPr indent="0" lvl="0" marL="0" marR="0" rtl="0" algn="l">
              <a:spcBef>
                <a:spcPts val="0"/>
              </a:spcBef>
              <a:spcAft>
                <a:spcPts val="0"/>
              </a:spcAft>
              <a:buSzPts val="1800"/>
              <a:buFont typeface="Arial"/>
              <a:buNone/>
            </a:pPr>
            <a:r>
              <a:t/>
            </a:r>
            <a:endParaRPr b="0" i="0" sz="1800" u="none" cap="none" strike="noStrike"/>
          </a:p>
          <a:p>
            <a:pPr indent="0" lvl="0" marL="0" marR="0" rtl="0" algn="l">
              <a:spcBef>
                <a:spcPts val="0"/>
              </a:spcBef>
              <a:spcAft>
                <a:spcPts val="0"/>
              </a:spcAft>
              <a:buSzPts val="1800"/>
              <a:buFont typeface="Arial"/>
              <a:buNone/>
            </a:pPr>
            <a:r>
              <a:t/>
            </a:r>
            <a:endParaRPr b="0" i="0" sz="1800" u="none" cap="none" strike="noStrike"/>
          </a:p>
          <a:p>
            <a:pPr indent="0" lvl="0" marL="0" marR="0" rtl="0" algn="l">
              <a:spcBef>
                <a:spcPts val="0"/>
              </a:spcBef>
              <a:spcAft>
                <a:spcPts val="0"/>
              </a:spcAft>
              <a:buSzPts val="1800"/>
              <a:buFont typeface="Arial"/>
              <a:buNone/>
            </a:pPr>
            <a:r>
              <a:t/>
            </a:r>
            <a:endParaRPr b="0" i="0" sz="1800" u="none" cap="none" strike="noStrike"/>
          </a:p>
          <a:p>
            <a:pPr indent="0" lvl="0" marL="0" marR="0" rtl="0" algn="l">
              <a:spcBef>
                <a:spcPts val="0"/>
              </a:spcBef>
              <a:spcAft>
                <a:spcPts val="0"/>
              </a:spcAft>
              <a:buSzPts val="1800"/>
              <a:buFont typeface="Arial"/>
              <a:buNone/>
            </a:pPr>
            <a:r>
              <a:t/>
            </a:r>
            <a:endParaRPr b="0" i="0" sz="1800" u="none" cap="none" strike="noStrike"/>
          </a:p>
          <a:p>
            <a:pPr indent="0" lvl="0" marL="0" marR="0" rtl="0" algn="l">
              <a:spcBef>
                <a:spcPts val="0"/>
              </a:spcBef>
              <a:spcAft>
                <a:spcPts val="0"/>
              </a:spcAft>
              <a:buSzPts val="1800"/>
              <a:buFont typeface="Arial"/>
              <a:buNone/>
            </a:pPr>
            <a:r>
              <a:rPr b="0" i="0" lang="en-US" sz="1800" u="none" cap="none" strike="noStrike"/>
              <a:t>The target child’s behaviour is such that they are standing out in the group and it is obvious to the class that the child has difficulty.</a:t>
            </a:r>
            <a:endParaRPr/>
          </a:p>
          <a:p>
            <a:pPr indent="0" lvl="0" marL="0" marR="0" rtl="0" algn="l">
              <a:spcBef>
                <a:spcPts val="0"/>
              </a:spcBef>
              <a:spcAft>
                <a:spcPts val="0"/>
              </a:spcAft>
              <a:buSzPts val="1800"/>
              <a:buFont typeface="Arial"/>
              <a:buNone/>
            </a:pPr>
            <a:r>
              <a:rPr b="0" i="0" lang="en-US" sz="1800" u="none" cap="none" strike="noStrike"/>
              <a:t>The targe</a:t>
            </a:r>
            <a:endParaRPr/>
          </a:p>
          <a:p>
            <a:pPr indent="0" lvl="0" marL="0" marR="0" rtl="0" algn="l">
              <a:spcBef>
                <a:spcPts val="0"/>
              </a:spcBef>
              <a:spcAft>
                <a:spcPts val="0"/>
              </a:spcAft>
              <a:buSzPts val="1800"/>
              <a:buFont typeface="Arial"/>
              <a:buNone/>
            </a:pPr>
            <a:r>
              <a:t/>
            </a:r>
            <a:endParaRPr b="0" i="0" sz="1800" u="none" cap="none" strike="noStrike"/>
          </a:p>
          <a:p>
            <a:pPr indent="0" lvl="0" marL="0" marR="0" rtl="0" algn="l">
              <a:spcBef>
                <a:spcPts val="0"/>
              </a:spcBef>
              <a:spcAft>
                <a:spcPts val="0"/>
              </a:spcAft>
              <a:buSzPts val="1800"/>
              <a:buFont typeface="Arial"/>
              <a:buNone/>
            </a:pPr>
            <a:r>
              <a:rPr b="0" i="0" lang="en-US" sz="1800" u="none" cap="none" strike="noStrike"/>
              <a:t>The target child and their parents want the process to take place and fully understand the process.  They need to have been given written information on the whole process and in particular know that their child’s and their child’s behaviour will be discussed openly with the child’s classmates without the child being present.</a:t>
            </a:r>
            <a:endParaRPr/>
          </a:p>
          <a:p>
            <a:pPr indent="0" lvl="0" marL="0" marR="0" rtl="0" algn="l">
              <a:spcBef>
                <a:spcPts val="0"/>
              </a:spcBef>
              <a:spcAft>
                <a:spcPts val="0"/>
              </a:spcAft>
              <a:buSzPts val="1800"/>
              <a:buFont typeface="Arial"/>
              <a:buNone/>
            </a:pPr>
            <a:r>
              <a:rPr b="0" i="0" lang="en-US" sz="1800" u="none" cap="none" strike="noStrike"/>
              <a:t>We have sample letters that can go out to parents and information.  A meeting with the parents of the target child would be set up to explain the process and answer questions etc.</a:t>
            </a:r>
            <a:endParaRPr/>
          </a:p>
          <a:p>
            <a:pPr indent="0" lvl="0" marL="0" marR="0" rtl="0" algn="l">
              <a:spcBef>
                <a:spcPts val="0"/>
              </a:spcBef>
              <a:spcAft>
                <a:spcPts val="0"/>
              </a:spcAft>
              <a:buSzPts val="1800"/>
              <a:buFont typeface="Arial"/>
              <a:buNone/>
            </a:pPr>
            <a:r>
              <a:rPr b="0" i="0" lang="en-US" sz="1800" u="none" cap="none" strike="noStrike"/>
              <a:t>This is an unusual strategy and for this reason it would only be undertaken if the child’s behaviour was such that they are standing out in the peer group and becoming isolated as a result of their behaivour.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7: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
        <p:nvSpPr>
          <p:cNvPr id="226" name="Google Shape;226;p17: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p18:notes"/>
          <p:cNvSpPr txBox="1"/>
          <p:nvPr>
            <p:ph idx="1" type="body"/>
          </p:nvPr>
        </p:nvSpPr>
        <p:spPr>
          <a:xfrm>
            <a:off x="666750" y="4689475"/>
            <a:ext cx="5335587" cy="4443412"/>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8: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p19:notes"/>
          <p:cNvSpPr txBox="1"/>
          <p:nvPr/>
        </p:nvSpPr>
        <p:spPr>
          <a:xfrm>
            <a:off x="3778250" y="9377362"/>
            <a:ext cx="2889250" cy="4937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242" name="Google Shape;242;p19: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9:notes"/>
          <p:cNvSpPr txBox="1"/>
          <p:nvPr>
            <p:ph idx="1" type="body"/>
          </p:nvPr>
        </p:nvSpPr>
        <p:spPr>
          <a:xfrm>
            <a:off x="666750" y="4689475"/>
            <a:ext cx="5335587" cy="44434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685800" y="609600"/>
            <a:ext cx="7772400" cy="114300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7" name="Google Shape;17;p2"/>
          <p:cNvSpPr txBox="1"/>
          <p:nvPr>
            <p:ph idx="1" type="body"/>
          </p:nvPr>
        </p:nvSpPr>
        <p:spPr>
          <a:xfrm>
            <a:off x="685800" y="1981200"/>
            <a:ext cx="7772400" cy="41148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8" name="Google Shape;18;p2"/>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9" name="Google Shape;19;p2"/>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0" name="Google Shape;20;p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21" name="Shape 21"/>
        <p:cNvGrpSpPr/>
        <p:nvPr/>
      </p:nvGrpSpPr>
      <p:grpSpPr>
        <a:xfrm>
          <a:off x="0" y="0"/>
          <a:ext cx="0" cy="0"/>
          <a:chOff x="0" y="0"/>
          <a:chExt cx="0" cy="0"/>
        </a:xfrm>
      </p:grpSpPr>
      <p:sp>
        <p:nvSpPr>
          <p:cNvPr id="22" name="Google Shape;22;p3"/>
          <p:cNvSpPr txBox="1"/>
          <p:nvPr>
            <p:ph type="title"/>
          </p:nvPr>
        </p:nvSpPr>
        <p:spPr>
          <a:xfrm rot="5400000">
            <a:off x="4743450" y="2381250"/>
            <a:ext cx="5486400" cy="194310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23" name="Google Shape;23;p3"/>
          <p:cNvSpPr txBox="1"/>
          <p:nvPr>
            <p:ph idx="1" type="body"/>
          </p:nvPr>
        </p:nvSpPr>
        <p:spPr>
          <a:xfrm rot="5400000">
            <a:off x="781050" y="514350"/>
            <a:ext cx="5486400" cy="56769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Times New Roman"/>
              <a:buChar char="•"/>
              <a:defRPr sz="3200">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24" name="Google Shape;24;p3"/>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5" name="Google Shape;25;p3"/>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6" name="Google Shape;26;p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27" name="Shape 27"/>
        <p:cNvGrpSpPr/>
        <p:nvPr/>
      </p:nvGrpSpPr>
      <p:grpSpPr>
        <a:xfrm>
          <a:off x="0" y="0"/>
          <a:ext cx="0" cy="0"/>
          <a:chOff x="0" y="0"/>
          <a:chExt cx="0" cy="0"/>
        </a:xfrm>
      </p:grpSpPr>
      <p:sp>
        <p:nvSpPr>
          <p:cNvPr id="28" name="Google Shape;28;p4"/>
          <p:cNvSpPr txBox="1"/>
          <p:nvPr>
            <p:ph type="title"/>
          </p:nvPr>
        </p:nvSpPr>
        <p:spPr>
          <a:xfrm>
            <a:off x="685800" y="609600"/>
            <a:ext cx="7772400" cy="114300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29" name="Google Shape;29;p4"/>
          <p:cNvSpPr txBox="1"/>
          <p:nvPr>
            <p:ph idx="1" type="body"/>
          </p:nvPr>
        </p:nvSpPr>
        <p:spPr>
          <a:xfrm rot="5400000">
            <a:off x="2514600" y="152400"/>
            <a:ext cx="4114800" cy="77724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Times New Roman"/>
              <a:buChar char="•"/>
              <a:defRPr sz="3200">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0" name="Google Shape;30;p4"/>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1" name="Google Shape;31;p4"/>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2" name="Google Shape;32;p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33" name="Shape 33"/>
        <p:cNvGrpSpPr/>
        <p:nvPr/>
      </p:nvGrpSpPr>
      <p:grpSpPr>
        <a:xfrm>
          <a:off x="0" y="0"/>
          <a:ext cx="0" cy="0"/>
          <a:chOff x="0" y="0"/>
          <a:chExt cx="0" cy="0"/>
        </a:xfrm>
      </p:grpSpPr>
      <p:sp>
        <p:nvSpPr>
          <p:cNvPr id="34" name="Google Shape;34;p5"/>
          <p:cNvSpPr txBox="1"/>
          <p:nvPr>
            <p:ph type="title"/>
          </p:nvPr>
        </p:nvSpPr>
        <p:spPr>
          <a:xfrm>
            <a:off x="1792288" y="4800600"/>
            <a:ext cx="5486400" cy="566738"/>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1" i="0" sz="2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35" name="Google Shape;35;p5"/>
          <p:cNvSpPr/>
          <p:nvPr>
            <p:ph idx="2" type="pic"/>
          </p:nvPr>
        </p:nvSpPr>
        <p:spPr>
          <a:xfrm>
            <a:off x="1792288" y="612775"/>
            <a:ext cx="5486400" cy="41148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36" name="Google Shape;36;p5"/>
          <p:cNvSpPr txBox="1"/>
          <p:nvPr>
            <p:ph idx="1" type="body"/>
          </p:nvPr>
        </p:nvSpPr>
        <p:spPr>
          <a:xfrm>
            <a:off x="1792288" y="5367338"/>
            <a:ext cx="5486400" cy="804862"/>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280"/>
              </a:spcBef>
              <a:spcAft>
                <a:spcPts val="0"/>
              </a:spcAft>
              <a:buClr>
                <a:schemeClr val="dk1"/>
              </a:buClr>
              <a:buSzPts val="1400"/>
              <a:buFont typeface="Times New Roman"/>
              <a:buNone/>
              <a:defRPr sz="1400">
                <a:solidFill>
                  <a:schemeClr val="dk1"/>
                </a:solidFill>
                <a:latin typeface="Times New Roman"/>
                <a:ea typeface="Times New Roman"/>
                <a:cs typeface="Times New Roman"/>
                <a:sym typeface="Times New Roman"/>
              </a:defRPr>
            </a:lvl1pPr>
            <a:lvl2pPr indent="-228600" lvl="1" marL="914400" marR="0" rtl="0" algn="l">
              <a:spcBef>
                <a:spcPts val="24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20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9pPr>
          </a:lstStyle>
          <a:p/>
        </p:txBody>
      </p:sp>
      <p:sp>
        <p:nvSpPr>
          <p:cNvPr id="37" name="Google Shape;37;p5"/>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8" name="Google Shape;38;p5"/>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9" name="Google Shape;39;p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3050"/>
            <a:ext cx="3008313" cy="116205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1" i="0" sz="2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42" name="Google Shape;42;p6"/>
          <p:cNvSpPr txBox="1"/>
          <p:nvPr>
            <p:ph idx="1" type="body"/>
          </p:nvPr>
        </p:nvSpPr>
        <p:spPr>
          <a:xfrm>
            <a:off x="3575050" y="273050"/>
            <a:ext cx="5111750" cy="5853113"/>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Times New Roman"/>
              <a:buChar char="•"/>
              <a:defRPr sz="3200">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43" name="Google Shape;43;p6"/>
          <p:cNvSpPr txBox="1"/>
          <p:nvPr>
            <p:ph idx="2" type="body"/>
          </p:nvPr>
        </p:nvSpPr>
        <p:spPr>
          <a:xfrm>
            <a:off x="457200" y="1435100"/>
            <a:ext cx="3008313" cy="4691063"/>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280"/>
              </a:spcBef>
              <a:spcAft>
                <a:spcPts val="0"/>
              </a:spcAft>
              <a:buClr>
                <a:schemeClr val="dk1"/>
              </a:buClr>
              <a:buSzPts val="1400"/>
              <a:buFont typeface="Times New Roman"/>
              <a:buNone/>
              <a:defRPr sz="1400">
                <a:solidFill>
                  <a:schemeClr val="dk1"/>
                </a:solidFill>
                <a:latin typeface="Times New Roman"/>
                <a:ea typeface="Times New Roman"/>
                <a:cs typeface="Times New Roman"/>
                <a:sym typeface="Times New Roman"/>
              </a:defRPr>
            </a:lvl1pPr>
            <a:lvl2pPr indent="-228600" lvl="1" marL="914400" marR="0" rtl="0" algn="l">
              <a:spcBef>
                <a:spcPts val="24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200"/>
              </a:spcBef>
              <a:spcAft>
                <a:spcPts val="0"/>
              </a:spcAft>
              <a:buClr>
                <a:schemeClr val="dk1"/>
              </a:buClr>
              <a:buSzPts val="1000"/>
              <a:buFont typeface="Times New Roman"/>
              <a:buNone/>
              <a:defRPr b="0" i="0" sz="10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180"/>
              </a:spcBef>
              <a:spcAft>
                <a:spcPts val="0"/>
              </a:spcAft>
              <a:buClr>
                <a:schemeClr val="dk1"/>
              </a:buClr>
              <a:buSzPts val="900"/>
              <a:buFont typeface="Times New Roman"/>
              <a:buNone/>
              <a:defRPr b="0" i="0" sz="900" u="none" cap="none" strike="noStrike">
                <a:solidFill>
                  <a:schemeClr val="dk1"/>
                </a:solidFill>
                <a:latin typeface="Times New Roman"/>
                <a:ea typeface="Times New Roman"/>
                <a:cs typeface="Times New Roman"/>
                <a:sym typeface="Times New Roman"/>
              </a:defRPr>
            </a:lvl9pPr>
          </a:lstStyle>
          <a:p/>
        </p:txBody>
      </p:sp>
      <p:sp>
        <p:nvSpPr>
          <p:cNvPr id="44" name="Google Shape;44;p6"/>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5" name="Google Shape;45;p6"/>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6" name="Google Shape;46;p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7" name="Shape 47"/>
        <p:cNvGrpSpPr/>
        <p:nvPr/>
      </p:nvGrpSpPr>
      <p:grpSpPr>
        <a:xfrm>
          <a:off x="0" y="0"/>
          <a:ext cx="0" cy="0"/>
          <a:chOff x="0" y="0"/>
          <a:chExt cx="0" cy="0"/>
        </a:xfrm>
      </p:grpSpPr>
      <p:sp>
        <p:nvSpPr>
          <p:cNvPr id="48" name="Google Shape;48;p7"/>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9" name="Google Shape;49;p7"/>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0" name="Google Shape;50;p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685800" y="609600"/>
            <a:ext cx="7772400" cy="114300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53" name="Google Shape;53;p8"/>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4" name="Google Shape;54;p8"/>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5" name="Google Shape;55;p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8"/>
            <a:ext cx="8229600" cy="114300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58" name="Google Shape;58;p9"/>
          <p:cNvSpPr txBox="1"/>
          <p:nvPr>
            <p:ph idx="1" type="body"/>
          </p:nvPr>
        </p:nvSpPr>
        <p:spPr>
          <a:xfrm>
            <a:off x="457200" y="1535113"/>
            <a:ext cx="4040188" cy="63976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dk1"/>
              </a:buClr>
              <a:buSzPts val="2400"/>
              <a:buFont typeface="Times New Roman"/>
              <a:buNone/>
              <a:defRPr b="1" sz="2400">
                <a:solidFill>
                  <a:schemeClr val="dk1"/>
                </a:solidFill>
                <a:latin typeface="Times New Roman"/>
                <a:ea typeface="Times New Roman"/>
                <a:cs typeface="Times New Roman"/>
                <a:sym typeface="Times New Roman"/>
              </a:defRPr>
            </a:lvl1pPr>
            <a:lvl2pPr indent="-228600" lvl="1" marL="914400" marR="0" rtl="0" algn="l">
              <a:spcBef>
                <a:spcPts val="4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Clr>
                <a:schemeClr val="dk1"/>
              </a:buClr>
              <a:buSzPts val="1800"/>
              <a:buFont typeface="Times New Roman"/>
              <a:buNone/>
              <a:defRPr b="1" i="0" sz="18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9pPr>
          </a:lstStyle>
          <a:p/>
        </p:txBody>
      </p:sp>
      <p:sp>
        <p:nvSpPr>
          <p:cNvPr id="59" name="Google Shape;59;p9"/>
          <p:cNvSpPr txBox="1"/>
          <p:nvPr>
            <p:ph idx="2" type="body"/>
          </p:nvPr>
        </p:nvSpPr>
        <p:spPr>
          <a:xfrm>
            <a:off x="457200" y="2174875"/>
            <a:ext cx="4040188" cy="3951288"/>
          </a:xfrm>
          <a:prstGeom prst="rect">
            <a:avLst/>
          </a:prstGeom>
          <a:noFill/>
          <a:ln>
            <a:noFill/>
          </a:ln>
        </p:spPr>
        <p:txBody>
          <a:bodyPr anchorCtr="0" anchor="t" bIns="91425" lIns="91425" spcFirstLastPara="1" rIns="91425" wrap="square" tIns="91425">
            <a:noAutofit/>
          </a:bodyPr>
          <a:lstStyle>
            <a:lvl1pPr indent="-381000" lvl="0" marL="457200" marR="0" rtl="0" algn="l">
              <a:spcBef>
                <a:spcPts val="480"/>
              </a:spcBef>
              <a:spcAft>
                <a:spcPts val="0"/>
              </a:spcAft>
              <a:buClr>
                <a:schemeClr val="dk1"/>
              </a:buClr>
              <a:buSzPts val="2400"/>
              <a:buFont typeface="Times New Roman"/>
              <a:buChar char="•"/>
              <a:defRPr sz="2400">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4pPr>
            <a:lvl5pPr indent="-330200" lvl="4" marL="22860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5pPr>
            <a:lvl6pPr indent="-330200" lvl="5" marL="27432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6pPr>
            <a:lvl7pPr indent="-330200" lvl="6" marL="32004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7pPr>
            <a:lvl8pPr indent="-330200" lvl="7" marL="36576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8pPr>
            <a:lvl9pPr indent="-330200" lvl="8" marL="41148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9pPr>
          </a:lstStyle>
          <a:p/>
        </p:txBody>
      </p:sp>
      <p:sp>
        <p:nvSpPr>
          <p:cNvPr id="60" name="Google Shape;60;p9"/>
          <p:cNvSpPr txBox="1"/>
          <p:nvPr>
            <p:ph idx="3" type="body"/>
          </p:nvPr>
        </p:nvSpPr>
        <p:spPr>
          <a:xfrm>
            <a:off x="4645025" y="1535113"/>
            <a:ext cx="4041775" cy="63976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dk1"/>
              </a:buClr>
              <a:buSzPts val="2400"/>
              <a:buFont typeface="Times New Roman"/>
              <a:buNone/>
              <a:defRPr b="1" sz="2400">
                <a:solidFill>
                  <a:schemeClr val="dk1"/>
                </a:solidFill>
                <a:latin typeface="Times New Roman"/>
                <a:ea typeface="Times New Roman"/>
                <a:cs typeface="Times New Roman"/>
                <a:sym typeface="Times New Roman"/>
              </a:defRPr>
            </a:lvl1pPr>
            <a:lvl2pPr indent="-228600" lvl="1" marL="914400" marR="0" rtl="0" algn="l">
              <a:spcBef>
                <a:spcPts val="4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Clr>
                <a:schemeClr val="dk1"/>
              </a:buClr>
              <a:buSzPts val="1800"/>
              <a:buFont typeface="Times New Roman"/>
              <a:buNone/>
              <a:defRPr b="1" i="0" sz="18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320"/>
              </a:spcBef>
              <a:spcAft>
                <a:spcPts val="0"/>
              </a:spcAft>
              <a:buClr>
                <a:schemeClr val="dk1"/>
              </a:buClr>
              <a:buSzPts val="1600"/>
              <a:buFont typeface="Times New Roman"/>
              <a:buNone/>
              <a:defRPr b="1" i="0" sz="1600" u="none" cap="none" strike="noStrike">
                <a:solidFill>
                  <a:schemeClr val="dk1"/>
                </a:solidFill>
                <a:latin typeface="Times New Roman"/>
                <a:ea typeface="Times New Roman"/>
                <a:cs typeface="Times New Roman"/>
                <a:sym typeface="Times New Roman"/>
              </a:defRPr>
            </a:lvl9pPr>
          </a:lstStyle>
          <a:p/>
        </p:txBody>
      </p:sp>
      <p:sp>
        <p:nvSpPr>
          <p:cNvPr id="61" name="Google Shape;61;p9"/>
          <p:cNvSpPr txBox="1"/>
          <p:nvPr>
            <p:ph idx="4" type="body"/>
          </p:nvPr>
        </p:nvSpPr>
        <p:spPr>
          <a:xfrm>
            <a:off x="4645025" y="2174875"/>
            <a:ext cx="4041775" cy="3951288"/>
          </a:xfrm>
          <a:prstGeom prst="rect">
            <a:avLst/>
          </a:prstGeom>
          <a:noFill/>
          <a:ln>
            <a:noFill/>
          </a:ln>
        </p:spPr>
        <p:txBody>
          <a:bodyPr anchorCtr="0" anchor="t" bIns="91425" lIns="91425" spcFirstLastPara="1" rIns="91425" wrap="square" tIns="91425">
            <a:noAutofit/>
          </a:bodyPr>
          <a:lstStyle>
            <a:lvl1pPr indent="-381000" lvl="0" marL="457200" marR="0" rtl="0" algn="l">
              <a:spcBef>
                <a:spcPts val="480"/>
              </a:spcBef>
              <a:spcAft>
                <a:spcPts val="0"/>
              </a:spcAft>
              <a:buClr>
                <a:schemeClr val="dk1"/>
              </a:buClr>
              <a:buSzPts val="2400"/>
              <a:buFont typeface="Times New Roman"/>
              <a:buChar char="•"/>
              <a:defRPr sz="2400">
                <a:solidFill>
                  <a:schemeClr val="dk1"/>
                </a:solidFill>
                <a:latin typeface="Times New Roman"/>
                <a:ea typeface="Times New Roman"/>
                <a:cs typeface="Times New Roman"/>
                <a:sym typeface="Times New Roman"/>
              </a:defRPr>
            </a:lvl1pPr>
            <a:lvl2pPr indent="-355600" lvl="1" marL="914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2pPr>
            <a:lvl3pPr indent="-342900" lvl="2" marL="13716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3pPr>
            <a:lvl4pPr indent="-330200" lvl="3" marL="18288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4pPr>
            <a:lvl5pPr indent="-330200" lvl="4" marL="22860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5pPr>
            <a:lvl6pPr indent="-330200" lvl="5" marL="27432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6pPr>
            <a:lvl7pPr indent="-330200" lvl="6" marL="32004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7pPr>
            <a:lvl8pPr indent="-330200" lvl="7" marL="36576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8pPr>
            <a:lvl9pPr indent="-330200" lvl="8" marL="4114800" marR="0" rtl="0" algn="l">
              <a:spcBef>
                <a:spcPts val="320"/>
              </a:spcBef>
              <a:spcAft>
                <a:spcPts val="0"/>
              </a:spcAft>
              <a:buClr>
                <a:schemeClr val="dk1"/>
              </a:buClr>
              <a:buSzPts val="1600"/>
              <a:buFont typeface="Times New Roman"/>
              <a:buChar char="»"/>
              <a:defRPr b="0" i="0" sz="1600" u="none" cap="none" strike="noStrike">
                <a:solidFill>
                  <a:schemeClr val="dk1"/>
                </a:solidFill>
                <a:latin typeface="Times New Roman"/>
                <a:ea typeface="Times New Roman"/>
                <a:cs typeface="Times New Roman"/>
                <a:sym typeface="Times New Roman"/>
              </a:defRPr>
            </a:lvl9pPr>
          </a:lstStyle>
          <a:p/>
        </p:txBody>
      </p:sp>
      <p:sp>
        <p:nvSpPr>
          <p:cNvPr id="62" name="Google Shape;62;p9"/>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3" name="Google Shape;63;p9"/>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4" name="Google Shape;64;p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685800" y="609600"/>
            <a:ext cx="7772400" cy="114300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67" name="Google Shape;67;p10"/>
          <p:cNvSpPr txBox="1"/>
          <p:nvPr>
            <p:ph idx="1" type="body"/>
          </p:nvPr>
        </p:nvSpPr>
        <p:spPr>
          <a:xfrm>
            <a:off x="685800" y="1981200"/>
            <a:ext cx="3810000" cy="4114800"/>
          </a:xfrm>
          <a:prstGeom prst="rect">
            <a:avLst/>
          </a:prstGeom>
          <a:noFill/>
          <a:ln>
            <a:noFill/>
          </a:ln>
        </p:spPr>
        <p:txBody>
          <a:bodyPr anchorCtr="0" anchor="t" bIns="91425" lIns="91425" spcFirstLastPara="1" rIns="91425" wrap="square" tIns="91425">
            <a:noAutofit/>
          </a:bodyPr>
          <a:lstStyle>
            <a:lvl1pPr indent="-406400" lvl="0" marL="457200" marR="0" rtl="0" algn="l">
              <a:spcBef>
                <a:spcPts val="560"/>
              </a:spcBef>
              <a:spcAft>
                <a:spcPts val="0"/>
              </a:spcAft>
              <a:buClr>
                <a:schemeClr val="dk1"/>
              </a:buClr>
              <a:buSzPts val="2800"/>
              <a:buFont typeface="Times New Roman"/>
              <a:buChar char="•"/>
              <a:defRPr sz="2800">
                <a:solidFill>
                  <a:schemeClr val="dk1"/>
                </a:solidFill>
                <a:latin typeface="Times New Roman"/>
                <a:ea typeface="Times New Roman"/>
                <a:cs typeface="Times New Roman"/>
                <a:sym typeface="Times New Roman"/>
              </a:defRPr>
            </a:lvl1pPr>
            <a:lvl2pPr indent="-381000" lvl="1" marL="9144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68" name="Google Shape;68;p10"/>
          <p:cNvSpPr txBox="1"/>
          <p:nvPr>
            <p:ph idx="2" type="body"/>
          </p:nvPr>
        </p:nvSpPr>
        <p:spPr>
          <a:xfrm>
            <a:off x="4648200" y="1981200"/>
            <a:ext cx="3810000" cy="4114800"/>
          </a:xfrm>
          <a:prstGeom prst="rect">
            <a:avLst/>
          </a:prstGeom>
          <a:noFill/>
          <a:ln>
            <a:noFill/>
          </a:ln>
        </p:spPr>
        <p:txBody>
          <a:bodyPr anchorCtr="0" anchor="t" bIns="91425" lIns="91425" spcFirstLastPara="1" rIns="91425" wrap="square" tIns="91425">
            <a:noAutofit/>
          </a:bodyPr>
          <a:lstStyle>
            <a:lvl1pPr indent="-406400" lvl="0" marL="457200" marR="0" rtl="0" algn="l">
              <a:spcBef>
                <a:spcPts val="560"/>
              </a:spcBef>
              <a:spcAft>
                <a:spcPts val="0"/>
              </a:spcAft>
              <a:buClr>
                <a:schemeClr val="dk1"/>
              </a:buClr>
              <a:buSzPts val="2800"/>
              <a:buFont typeface="Times New Roman"/>
              <a:buChar char="•"/>
              <a:defRPr sz="2800">
                <a:solidFill>
                  <a:schemeClr val="dk1"/>
                </a:solidFill>
                <a:latin typeface="Times New Roman"/>
                <a:ea typeface="Times New Roman"/>
                <a:cs typeface="Times New Roman"/>
                <a:sym typeface="Times New Roman"/>
              </a:defRPr>
            </a:lvl1pPr>
            <a:lvl2pPr indent="-381000" lvl="1" marL="9144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spcBef>
                <a:spcPts val="360"/>
              </a:spcBef>
              <a:spcAft>
                <a:spcPts val="0"/>
              </a:spcAft>
              <a:buClr>
                <a:schemeClr val="dk1"/>
              </a:buClr>
              <a:buSzPts val="1800"/>
              <a:buFont typeface="Times New Roman"/>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69" name="Google Shape;69;p10"/>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0" name="Google Shape;70;p10"/>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1" name="Google Shape;71;p1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00"/>
            <a:ext cx="7772400" cy="1362075"/>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1"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74" name="Google Shape;74;p11"/>
          <p:cNvSpPr txBox="1"/>
          <p:nvPr>
            <p:ph idx="1" type="body"/>
          </p:nvPr>
        </p:nvSpPr>
        <p:spPr>
          <a:xfrm>
            <a:off x="722313" y="2906713"/>
            <a:ext cx="7772400" cy="1500187"/>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00"/>
              </a:spcBef>
              <a:spcAft>
                <a:spcPts val="0"/>
              </a:spcAft>
              <a:buClr>
                <a:schemeClr val="dk1"/>
              </a:buClr>
              <a:buSzPts val="2000"/>
              <a:buFont typeface="Times New Roman"/>
              <a:buNone/>
              <a:defRPr sz="2000">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Clr>
                <a:schemeClr val="dk1"/>
              </a:buClr>
              <a:buSzPts val="1800"/>
              <a:buFont typeface="Times New Roman"/>
              <a:buNone/>
              <a:defRPr b="0" i="0" sz="18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28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28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28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228600" lvl="6" marL="3200400" marR="0" rtl="0" algn="l">
              <a:spcBef>
                <a:spcPts val="28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228600" lvl="7" marL="3657600" marR="0" rtl="0" algn="l">
              <a:spcBef>
                <a:spcPts val="28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228600" lvl="8" marL="4114800" marR="0" rtl="0" algn="l">
              <a:spcBef>
                <a:spcPts val="28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p:txBody>
      </p:sp>
      <p:sp>
        <p:nvSpPr>
          <p:cNvPr id="75" name="Google Shape;75;p11"/>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6" name="Google Shape;76;p11"/>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7" name="Google Shape;77;p1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685800" y="2130425"/>
            <a:ext cx="7772400" cy="1470025"/>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80" name="Google Shape;80;p12"/>
          <p:cNvSpPr txBox="1"/>
          <p:nvPr>
            <p:ph idx="1" type="subTitle"/>
          </p:nvPr>
        </p:nvSpPr>
        <p:spPr>
          <a:xfrm>
            <a:off x="1371600" y="3886200"/>
            <a:ext cx="6400800" cy="1752600"/>
          </a:xfrm>
          <a:prstGeom prst="rect">
            <a:avLst/>
          </a:prstGeom>
          <a:noFill/>
          <a:ln>
            <a:noFill/>
          </a:ln>
        </p:spPr>
        <p:txBody>
          <a:bodyPr anchorCtr="0" anchor="t" bIns="91425" lIns="91425" spcFirstLastPara="1" rIns="91425" wrap="square" tIns="91425">
            <a:noAutofit/>
          </a:bodyPr>
          <a:lstStyle>
            <a:lvl1pPr lvl="0" marR="0" rtl="0" algn="ctr">
              <a:spcBef>
                <a:spcPts val="640"/>
              </a:spcBef>
              <a:spcAft>
                <a:spcPts val="0"/>
              </a:spcAft>
              <a:buClr>
                <a:schemeClr val="dk1"/>
              </a:buClr>
              <a:buSzPts val="3200"/>
              <a:buFont typeface="Times New Roman"/>
              <a:buNone/>
              <a:defRPr sz="3200">
                <a:solidFill>
                  <a:schemeClr val="dk1"/>
                </a:solidFill>
                <a:latin typeface="Times New Roman"/>
                <a:ea typeface="Times New Roman"/>
                <a:cs typeface="Times New Roman"/>
                <a:sym typeface="Times New Roman"/>
              </a:defRPr>
            </a:lvl1pPr>
            <a:lvl2pPr lvl="1" marR="0" rtl="0" algn="ctr">
              <a:spcBef>
                <a:spcPts val="56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2pPr>
            <a:lvl3pPr lvl="2" marR="0" rtl="0" algn="ctr">
              <a:spcBef>
                <a:spcPts val="480"/>
              </a:spcBef>
              <a:spcAft>
                <a:spcPts val="0"/>
              </a:spcAft>
              <a:buClr>
                <a:schemeClr val="dk1"/>
              </a:buClr>
              <a:buSzPts val="2400"/>
              <a:buFont typeface="Times New Roman"/>
              <a:buNone/>
              <a:defRPr b="0" i="0" sz="2400" u="none" cap="none" strike="noStrike">
                <a:solidFill>
                  <a:schemeClr val="dk1"/>
                </a:solidFill>
                <a:latin typeface="Times New Roman"/>
                <a:ea typeface="Times New Roman"/>
                <a:cs typeface="Times New Roman"/>
                <a:sym typeface="Times New Roman"/>
              </a:defRPr>
            </a:lvl3pPr>
            <a:lvl4pPr lvl="3"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4pPr>
            <a:lvl5pPr lvl="4"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5pPr>
            <a:lvl6pPr lvl="5"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6pPr>
            <a:lvl7pPr lvl="6"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7pPr>
            <a:lvl8pPr lvl="7"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8pPr>
            <a:lvl9pPr lvl="8" marR="0" rtl="0" algn="ctr">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9pPr>
          </a:lstStyle>
          <a:p/>
        </p:txBody>
      </p:sp>
      <p:sp>
        <p:nvSpPr>
          <p:cNvPr id="81" name="Google Shape;81;p12"/>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2" name="Google Shape;82;p12"/>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3" name="Google Shape;83;p1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609600"/>
            <a:ext cx="7772400" cy="114300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685800" y="1981200"/>
            <a:ext cx="7772400" cy="41148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685800" y="6248400"/>
            <a:ext cx="19050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3124200" y="624840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 name="Shape 87"/>
        <p:cNvGrpSpPr/>
        <p:nvPr/>
      </p:nvGrpSpPr>
      <p:grpSpPr>
        <a:xfrm>
          <a:off x="0" y="0"/>
          <a:ext cx="0" cy="0"/>
          <a:chOff x="0" y="0"/>
          <a:chExt cx="0" cy="0"/>
        </a:xfrm>
      </p:grpSpPr>
      <p:pic>
        <p:nvPicPr>
          <p:cNvPr descr="C:\Users\dep652\AppData\Local\Microsoft\Windows\Temporary Internet Files\Content.IE5\T2N38M1Z\blockpage[1].gif" id="88" name="Google Shape;88;p13"/>
          <p:cNvPicPr preferRelativeResize="0"/>
          <p:nvPr/>
        </p:nvPicPr>
        <p:blipFill rotWithShape="1">
          <a:blip r:embed="rId3">
            <a:alphaModFix/>
          </a:blip>
          <a:srcRect b="0" l="0" r="0" t="0"/>
          <a:stretch/>
        </p:blipFill>
        <p:spPr>
          <a:xfrm>
            <a:off x="4562475" y="3424237"/>
            <a:ext cx="19050" cy="9525"/>
          </a:xfrm>
          <a:prstGeom prst="rect">
            <a:avLst/>
          </a:prstGeom>
          <a:noFill/>
          <a:ln>
            <a:noFill/>
          </a:ln>
        </p:spPr>
      </p:pic>
      <p:sp>
        <p:nvSpPr>
          <p:cNvPr id="89" name="Google Shape;89;p13"/>
          <p:cNvSpPr txBox="1"/>
          <p:nvPr/>
        </p:nvSpPr>
        <p:spPr>
          <a:xfrm>
            <a:off x="2354262" y="4221162"/>
            <a:ext cx="4927600" cy="24320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imes New Roman"/>
              <a:buNone/>
            </a:pPr>
            <a:r>
              <a:t/>
            </a:r>
            <a:endParaRPr b="0" i="0" sz="3200" u="none" cap="none" strike="noStrike">
              <a:solidFill>
                <a:schemeClr val="dk1"/>
              </a:solidFill>
              <a:latin typeface="Arial"/>
              <a:ea typeface="Arial"/>
              <a:cs typeface="Arial"/>
              <a:sym typeface="Arial"/>
            </a:endParaRPr>
          </a:p>
          <a:p>
            <a:pPr indent="0" lvl="0" marL="0" marR="0" rtl="0" algn="ctr">
              <a:lnSpc>
                <a:spcPct val="100000"/>
              </a:lnSpc>
              <a:spcBef>
                <a:spcPts val="220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Circle of Friends</a:t>
            </a:r>
            <a:endParaRPr/>
          </a:p>
          <a:p>
            <a:pPr indent="0" lvl="0" marL="0" marR="0" rtl="0" algn="ctr">
              <a:lnSpc>
                <a:spcPct val="100000"/>
              </a:lnSpc>
              <a:spcBef>
                <a:spcPts val="900"/>
              </a:spcBef>
              <a:spcAft>
                <a:spcPts val="0"/>
              </a:spcAft>
              <a:buClr>
                <a:srgbClr val="262699"/>
              </a:buClr>
              <a:buSzPts val="1800"/>
              <a:buFont typeface="Arial"/>
              <a:buNone/>
            </a:pPr>
            <a:r>
              <a:rPr b="0" i="0" lang="en-US" sz="1800" u="none" cap="none" strike="noStrike">
                <a:solidFill>
                  <a:srgbClr val="262699"/>
                </a:solidFill>
                <a:latin typeface="Arial"/>
                <a:ea typeface="Arial"/>
                <a:cs typeface="Arial"/>
                <a:sym typeface="Arial"/>
              </a:rPr>
              <a:t>Dr Beth Turner</a:t>
            </a:r>
            <a:endParaRPr/>
          </a:p>
          <a:p>
            <a:pPr indent="0" lvl="0" marL="0" marR="0" rtl="0" algn="ctr">
              <a:lnSpc>
                <a:spcPct val="100000"/>
              </a:lnSpc>
              <a:spcBef>
                <a:spcPts val="900"/>
              </a:spcBef>
              <a:spcAft>
                <a:spcPts val="0"/>
              </a:spcAft>
              <a:buClr>
                <a:srgbClr val="262699"/>
              </a:buClr>
              <a:buSzPts val="1800"/>
              <a:buFont typeface="Arial"/>
              <a:buNone/>
            </a:pPr>
            <a:r>
              <a:rPr b="0" i="0" lang="en-US" sz="1800" u="none" cap="none" strike="noStrike">
                <a:solidFill>
                  <a:srgbClr val="262699"/>
                </a:solidFill>
                <a:latin typeface="Arial"/>
                <a:ea typeface="Arial"/>
                <a:cs typeface="Arial"/>
                <a:sym typeface="Arial"/>
              </a:rPr>
              <a:t>Educational Psychologist</a:t>
            </a:r>
            <a:endParaRPr/>
          </a:p>
        </p:txBody>
      </p:sp>
      <p:pic>
        <p:nvPicPr>
          <p:cNvPr descr="C:\Users\dep652\AppData\Local\Microsoft\Windows\Temporary Internet Files\Content.IE5\09510A5D\blockpage[1].gif" id="90" name="Google Shape;90;p13"/>
          <p:cNvPicPr preferRelativeResize="0"/>
          <p:nvPr/>
        </p:nvPicPr>
        <p:blipFill rotWithShape="1">
          <a:blip r:embed="rId3">
            <a:alphaModFix/>
          </a:blip>
          <a:srcRect b="0" l="0" r="0" t="0"/>
          <a:stretch/>
        </p:blipFill>
        <p:spPr>
          <a:xfrm>
            <a:off x="1476375" y="1341437"/>
            <a:ext cx="4491037" cy="2244725"/>
          </a:xfrm>
          <a:prstGeom prst="rect">
            <a:avLst/>
          </a:prstGeom>
          <a:noFill/>
          <a:ln>
            <a:noFill/>
          </a:ln>
        </p:spPr>
      </p:pic>
      <p:pic>
        <p:nvPicPr>
          <p:cNvPr descr="C:\Users\dep652\AppData\Local\Microsoft\Windows\Temporary Internet Files\Content.IE5\34VTW2X0\blockpage[1].gif" id="91" name="Google Shape;91;p13"/>
          <p:cNvPicPr preferRelativeResize="0"/>
          <p:nvPr/>
        </p:nvPicPr>
        <p:blipFill rotWithShape="1">
          <a:blip r:embed="rId3">
            <a:alphaModFix/>
          </a:blip>
          <a:srcRect b="0" l="0" r="0" t="0"/>
          <a:stretch/>
        </p:blipFill>
        <p:spPr>
          <a:xfrm>
            <a:off x="4562475" y="3424237"/>
            <a:ext cx="19050" cy="9525"/>
          </a:xfrm>
          <a:prstGeom prst="rect">
            <a:avLst/>
          </a:prstGeom>
          <a:noFill/>
          <a:ln>
            <a:noFill/>
          </a:ln>
        </p:spPr>
      </p:pic>
      <p:pic>
        <p:nvPicPr>
          <p:cNvPr descr="C:\Users\dep652\AppData\Local\Microsoft\Windows\Temporary Internet Files\Content.IE5\09510A5D\blockpage[2].gif" id="92" name="Google Shape;92;p13"/>
          <p:cNvPicPr preferRelativeResize="0"/>
          <p:nvPr/>
        </p:nvPicPr>
        <p:blipFill rotWithShape="1">
          <a:blip r:embed="rId3">
            <a:alphaModFix/>
          </a:blip>
          <a:srcRect b="0" l="0" r="0" t="0"/>
          <a:stretch/>
        </p:blipFill>
        <p:spPr>
          <a:xfrm>
            <a:off x="4562475" y="3424237"/>
            <a:ext cx="19050" cy="9525"/>
          </a:xfrm>
          <a:prstGeom prst="rect">
            <a:avLst/>
          </a:prstGeom>
          <a:noFill/>
          <a:ln>
            <a:noFill/>
          </a:ln>
        </p:spPr>
      </p:pic>
      <p:pic>
        <p:nvPicPr>
          <p:cNvPr descr="C:\Users\dep652\AppData\Local\Microsoft\Windows\Temporary Internet Files\Content.IE5\8W7DT1LZ\circle_of_friends[1].jpg" id="93" name="Google Shape;93;p13"/>
          <p:cNvPicPr preferRelativeResize="0"/>
          <p:nvPr/>
        </p:nvPicPr>
        <p:blipFill rotWithShape="1">
          <a:blip r:embed="rId4">
            <a:alphaModFix/>
          </a:blip>
          <a:srcRect b="0" l="0" r="0" t="0"/>
          <a:stretch/>
        </p:blipFill>
        <p:spPr>
          <a:xfrm>
            <a:off x="1881187" y="188912"/>
            <a:ext cx="5400675" cy="4464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4"/>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0" name="Google Shape;100;p1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Circle of Friends</a:t>
            </a:r>
            <a:endParaRPr/>
          </a:p>
        </p:txBody>
      </p:sp>
      <p:sp>
        <p:nvSpPr>
          <p:cNvPr id="101" name="Google Shape;101;p1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90000"/>
              </a:lnSpc>
              <a:spcBef>
                <a:spcPts val="0"/>
              </a:spcBef>
              <a:spcAft>
                <a:spcPts val="0"/>
              </a:spcAft>
              <a:buClr>
                <a:srgbClr val="00664D"/>
              </a:buClr>
              <a:buSzPts val="2800"/>
              <a:buFont typeface="Arial"/>
              <a:buNone/>
            </a:pPr>
            <a:r>
              <a:rPr b="0" i="1" lang="en-US" sz="2800" u="none" cap="none" strike="noStrike">
                <a:solidFill>
                  <a:srgbClr val="00664D"/>
                </a:solidFill>
                <a:latin typeface="Arial"/>
                <a:ea typeface="Arial"/>
                <a:cs typeface="Arial"/>
                <a:sym typeface="Arial"/>
              </a:rPr>
              <a:t>The Circle of Friends approach is a method of supporting individual children by harnessing the power of the peer group.</a:t>
            </a:r>
            <a:endParaRPr/>
          </a:p>
          <a:p>
            <a:pPr indent="-165100" lvl="0" marL="342900" marR="0" rtl="0" algn="l">
              <a:spcBef>
                <a:spcPts val="560"/>
              </a:spcBef>
              <a:spcAft>
                <a:spcPts val="0"/>
              </a:spcAft>
              <a:buClr>
                <a:schemeClr val="dk1"/>
              </a:buClr>
              <a:buSzPts val="2800"/>
              <a:buFont typeface="Times New Roman"/>
              <a:buNone/>
            </a:pPr>
            <a:r>
              <a:t/>
            </a:r>
            <a:endParaRPr b="0" i="1" sz="2800" u="none">
              <a:solidFill>
                <a:srgbClr val="00664D"/>
              </a:solidFill>
              <a:latin typeface="Arial"/>
              <a:ea typeface="Arial"/>
              <a:cs typeface="Arial"/>
              <a:sym typeface="Arial"/>
            </a:endParaRPr>
          </a:p>
        </p:txBody>
      </p:sp>
      <p:pic>
        <p:nvPicPr>
          <p:cNvPr descr="C:\Users\dep652\AppData\Local\Microsoft\Windows\Temporary Internet Files\Content.IE5\09510A5D\pegangan-tangan[1].jpg" id="102" name="Google Shape;102;p14"/>
          <p:cNvPicPr preferRelativeResize="0"/>
          <p:nvPr/>
        </p:nvPicPr>
        <p:blipFill rotWithShape="1">
          <a:blip r:embed="rId3">
            <a:alphaModFix/>
          </a:blip>
          <a:srcRect b="0" l="0" r="0" t="0"/>
          <a:stretch/>
        </p:blipFill>
        <p:spPr>
          <a:xfrm>
            <a:off x="2339975" y="3573462"/>
            <a:ext cx="4876800" cy="2670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 name="Shape 106"/>
        <p:cNvGrpSpPr/>
        <p:nvPr/>
      </p:nvGrpSpPr>
      <p:grpSpPr>
        <a:xfrm>
          <a:off x="0" y="0"/>
          <a:ext cx="0" cy="0"/>
          <a:chOff x="0" y="0"/>
          <a:chExt cx="0" cy="0"/>
        </a:xfrm>
      </p:grpSpPr>
      <p:sp>
        <p:nvSpPr>
          <p:cNvPr id="107" name="Google Shape;107;p15"/>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 name="Google Shape;108;p1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Circle of Friends ~ misnomer?</a:t>
            </a:r>
            <a:endParaRPr/>
          </a:p>
        </p:txBody>
      </p:sp>
      <p:sp>
        <p:nvSpPr>
          <p:cNvPr id="109" name="Google Shape;109;p1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The purpose is to </a:t>
            </a:r>
            <a:r>
              <a:rPr b="0" i="0" lang="en-US" sz="2000" u="none">
                <a:solidFill>
                  <a:srgbClr val="FF0000"/>
                </a:solidFill>
                <a:latin typeface="Arial"/>
                <a:ea typeface="Arial"/>
                <a:cs typeface="Arial"/>
                <a:sym typeface="Arial"/>
              </a:rPr>
              <a:t>elicit understanding </a:t>
            </a:r>
            <a:r>
              <a:rPr b="0" i="0" lang="en-US" sz="2000" u="none">
                <a:solidFill>
                  <a:schemeClr val="dk1"/>
                </a:solidFill>
                <a:latin typeface="Arial"/>
                <a:ea typeface="Arial"/>
                <a:cs typeface="Arial"/>
                <a:sym typeface="Arial"/>
              </a:rPr>
              <a:t>in the children and make it more likely that the isolated child will be </a:t>
            </a:r>
            <a:r>
              <a:rPr b="0" i="0" lang="en-US" sz="2000" u="none">
                <a:solidFill>
                  <a:srgbClr val="FF0000"/>
                </a:solidFill>
                <a:latin typeface="Arial"/>
                <a:ea typeface="Arial"/>
                <a:cs typeface="Arial"/>
                <a:sym typeface="Arial"/>
              </a:rPr>
              <a:t>included</a:t>
            </a:r>
            <a:r>
              <a:rPr b="0" i="0" lang="en-US" sz="2000" u="none">
                <a:solidFill>
                  <a:schemeClr val="dk1"/>
                </a:solidFill>
                <a:latin typeface="Arial"/>
                <a:ea typeface="Arial"/>
                <a:cs typeface="Arial"/>
                <a:sym typeface="Arial"/>
              </a:rPr>
              <a:t> and less likely to show behaviours of distress.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It is </a:t>
            </a:r>
            <a:r>
              <a:rPr b="0" i="0" lang="en-US" sz="2000" u="none">
                <a:solidFill>
                  <a:srgbClr val="FF0000"/>
                </a:solidFill>
                <a:latin typeface="Arial"/>
                <a:ea typeface="Arial"/>
                <a:cs typeface="Arial"/>
                <a:sym typeface="Arial"/>
              </a:rPr>
              <a:t>NOT</a:t>
            </a:r>
            <a:r>
              <a:rPr b="0" i="0" lang="en-US" sz="2000" u="none">
                <a:solidFill>
                  <a:schemeClr val="dk1"/>
                </a:solidFill>
                <a:latin typeface="Arial"/>
                <a:ea typeface="Arial"/>
                <a:cs typeface="Arial"/>
                <a:sym typeface="Arial"/>
              </a:rPr>
              <a:t> about the children becoming the child’s friend but making friendly suggestions and being helpful</a:t>
            </a:r>
            <a:endParaRPr/>
          </a:p>
        </p:txBody>
      </p:sp>
      <p:pic>
        <p:nvPicPr>
          <p:cNvPr descr="C:\Users\dep652\AppData\Local\Microsoft\Windows\Temporary Internet Files\Content.IE5\09510A5D\image-20150415-31660-ufi6v7[1].jpg" id="110" name="Google Shape;110;p15"/>
          <p:cNvPicPr preferRelativeResize="0"/>
          <p:nvPr/>
        </p:nvPicPr>
        <p:blipFill rotWithShape="1">
          <a:blip r:embed="rId3">
            <a:alphaModFix/>
          </a:blip>
          <a:srcRect b="0" l="0" r="0" t="0"/>
          <a:stretch/>
        </p:blipFill>
        <p:spPr>
          <a:xfrm>
            <a:off x="2541587" y="4005262"/>
            <a:ext cx="4132262" cy="2035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 name="Shape 115"/>
        <p:cNvGrpSpPr/>
        <p:nvPr/>
      </p:nvGrpSpPr>
      <p:grpSpPr>
        <a:xfrm>
          <a:off x="0" y="0"/>
          <a:ext cx="0" cy="0"/>
          <a:chOff x="0" y="0"/>
          <a:chExt cx="0" cy="0"/>
        </a:xfrm>
      </p:grpSpPr>
      <p:sp>
        <p:nvSpPr>
          <p:cNvPr id="116" name="Google Shape;116;p16"/>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7" name="Google Shape;117;p1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First steps</a:t>
            </a:r>
            <a:endParaRPr/>
          </a:p>
        </p:txBody>
      </p:sp>
      <p:sp>
        <p:nvSpPr>
          <p:cNvPr id="118" name="Google Shape;118;p1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90000"/>
              </a:lnSpc>
              <a:spcBef>
                <a:spcPts val="0"/>
              </a:spcBef>
              <a:spcAft>
                <a:spcPts val="0"/>
              </a:spcAft>
              <a:buClr>
                <a:schemeClr val="dk1"/>
              </a:buClr>
              <a:buSzPts val="2400"/>
              <a:buFont typeface="Times New Roman"/>
              <a:buNone/>
            </a:pPr>
            <a:r>
              <a:t/>
            </a:r>
            <a:endParaRPr b="0" i="0" sz="2400" u="none">
              <a:solidFill>
                <a:schemeClr val="dk1"/>
              </a:solidFill>
              <a:latin typeface="Arial"/>
              <a:ea typeface="Arial"/>
              <a:cs typeface="Arial"/>
              <a:sym typeface="Arial"/>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Cognitive and emotional skills</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Old enough to reflect on their own and other children’s behaviours.</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Likely to remember the issues discussed and the strategies discussed.</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Parents  and the child in question understand the process and have given permission.</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Ed Psych/SENCo</a:t>
            </a:r>
            <a:endParaRPr/>
          </a:p>
        </p:txBody>
      </p:sp>
      <p:pic>
        <p:nvPicPr>
          <p:cNvPr descr="C:\Users\dep652\AppData\Local\Microsoft\Windows\Temporary Internet Files\Content.IE5\T2N38M1Z\Sondage-Open-clip-art[1].png" id="119" name="Google Shape;119;p16"/>
          <p:cNvPicPr preferRelativeResize="0"/>
          <p:nvPr/>
        </p:nvPicPr>
        <p:blipFill rotWithShape="1">
          <a:blip r:embed="rId3">
            <a:alphaModFix/>
          </a:blip>
          <a:srcRect b="0" l="0" r="0" t="0"/>
          <a:stretch/>
        </p:blipFill>
        <p:spPr>
          <a:xfrm>
            <a:off x="7092950" y="333375"/>
            <a:ext cx="1749425" cy="2238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17"/>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 name="Google Shape;126;p1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Process</a:t>
            </a:r>
            <a:endParaRPr/>
          </a:p>
        </p:txBody>
      </p:sp>
      <p:sp>
        <p:nvSpPr>
          <p:cNvPr id="127" name="Google Shape;127;p17"/>
          <p:cNvSpPr txBox="1"/>
          <p:nvPr>
            <p:ph idx="1" type="body"/>
          </p:nvPr>
        </p:nvSpPr>
        <p:spPr>
          <a:xfrm>
            <a:off x="722312" y="4216400"/>
            <a:ext cx="7772400" cy="18748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A whole class meeting taken by the EP with the other children but without the target child (about 40 minutes)</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Subsequent weekly meetings of a small group, with the target child and with a staff member present to review progress and discuss new strategies (about 15 minutes)</a:t>
            </a:r>
            <a:endParaRPr/>
          </a:p>
        </p:txBody>
      </p:sp>
      <p:pic>
        <p:nvPicPr>
          <p:cNvPr descr="C:\Users\dep652\AppData\Local\Microsoft\Windows\Temporary Internet Files\Content.IE5\09510A5D\2031[1].gif" id="128" name="Google Shape;128;p17"/>
          <p:cNvPicPr preferRelativeResize="0"/>
          <p:nvPr/>
        </p:nvPicPr>
        <p:blipFill rotWithShape="1">
          <a:blip r:embed="rId3">
            <a:alphaModFix/>
          </a:blip>
          <a:srcRect b="0" l="0" r="0" t="0"/>
          <a:stretch/>
        </p:blipFill>
        <p:spPr>
          <a:xfrm>
            <a:off x="1943100" y="1577975"/>
            <a:ext cx="2016125" cy="2100262"/>
          </a:xfrm>
          <a:prstGeom prst="rect">
            <a:avLst/>
          </a:prstGeom>
          <a:noFill/>
          <a:ln>
            <a:noFill/>
          </a:ln>
        </p:spPr>
      </p:pic>
      <p:pic>
        <p:nvPicPr>
          <p:cNvPr descr="C:\Users\dep652\AppData\Local\Microsoft\Windows\Temporary Internet Files\Content.IE5\09510A5D\20121231-community-ring[1].jpg" id="129" name="Google Shape;129;p17"/>
          <p:cNvPicPr preferRelativeResize="0"/>
          <p:nvPr/>
        </p:nvPicPr>
        <p:blipFill rotWithShape="1">
          <a:blip r:embed="rId4">
            <a:alphaModFix/>
          </a:blip>
          <a:srcRect b="0" l="0" r="0" t="0"/>
          <a:stretch/>
        </p:blipFill>
        <p:spPr>
          <a:xfrm>
            <a:off x="5364162" y="1773237"/>
            <a:ext cx="2233612" cy="21320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8"/>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5" name="Google Shape;135;p1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The whole class meeting</a:t>
            </a:r>
            <a:endParaRPr/>
          </a:p>
        </p:txBody>
      </p:sp>
      <p:sp>
        <p:nvSpPr>
          <p:cNvPr id="136" name="Google Shape;136;p1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This meeting and the subsequent meetings begins and ends with a game for a few minutes.</a:t>
            </a:r>
            <a:endParaRPr/>
          </a:p>
          <a:p>
            <a:pPr indent="-342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Arial"/>
              <a:ea typeface="Arial"/>
              <a:cs typeface="Arial"/>
              <a:sym typeface="Arial"/>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Three sheets are prepared</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~Fred’s strengths</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~Fred’s difficulties</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~Circles in our lives</a:t>
            </a:r>
            <a:endParaRPr/>
          </a:p>
          <a:p>
            <a:pPr indent="-215900" lvl="0" marL="342900" marR="0" rtl="0" algn="l">
              <a:spcBef>
                <a:spcPts val="400"/>
              </a:spcBef>
              <a:spcAft>
                <a:spcPts val="0"/>
              </a:spcAft>
              <a:buClr>
                <a:schemeClr val="dk1"/>
              </a:buClr>
              <a:buSzPts val="2000"/>
              <a:buFont typeface="Times New Roman"/>
              <a:buNone/>
            </a:pPr>
            <a:r>
              <a:t/>
            </a:r>
            <a:endParaRPr b="0" i="0" sz="2000" u="none">
              <a:solidFill>
                <a:schemeClr val="dk1"/>
              </a:solidFill>
              <a:latin typeface="Arial"/>
              <a:ea typeface="Arial"/>
              <a:cs typeface="Arial"/>
              <a:sym typeface="Arial"/>
            </a:endParaRPr>
          </a:p>
        </p:txBody>
      </p:sp>
      <p:pic>
        <p:nvPicPr>
          <p:cNvPr descr="C:\Users\dep652\AppData\Local\Microsoft\Windows\Temporary Internet Files\Content.IE5\34VTW2X0\FocusGroup-ridgetopvirtualsolutions[1].png" id="137" name="Google Shape;137;p18"/>
          <p:cNvPicPr preferRelativeResize="0"/>
          <p:nvPr/>
        </p:nvPicPr>
        <p:blipFill rotWithShape="1">
          <a:blip r:embed="rId3">
            <a:alphaModFix/>
          </a:blip>
          <a:srcRect b="0" l="0" r="0" t="0"/>
          <a:stretch/>
        </p:blipFill>
        <p:spPr>
          <a:xfrm>
            <a:off x="4787900" y="3221037"/>
            <a:ext cx="3810000" cy="3181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sp>
        <p:nvSpPr>
          <p:cNvPr id="143" name="Google Shape;143;p19"/>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4" name="Google Shape;144;p1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Fred’s strengths</a:t>
            </a:r>
            <a:endParaRPr/>
          </a:p>
        </p:txBody>
      </p:sp>
      <p:sp>
        <p:nvSpPr>
          <p:cNvPr id="145" name="Google Shape;145;p19"/>
          <p:cNvSpPr txBox="1"/>
          <p:nvPr>
            <p:ph idx="1" type="body"/>
          </p:nvPr>
        </p:nvSpPr>
        <p:spPr>
          <a:xfrm>
            <a:off x="4356100" y="1981200"/>
            <a:ext cx="41021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These are elicited from the children and written on a flip chart.</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Adults present can prompt the children on suitable responses but they usually have no difficulty in coming up with these e.g. Shares his things, has a good sense of humour, is good at maths</a:t>
            </a:r>
            <a:endParaRPr/>
          </a:p>
        </p:txBody>
      </p:sp>
      <p:pic>
        <p:nvPicPr>
          <p:cNvPr descr="C:\Users\dep652\AppData\Local\Microsoft\Windows\Temporary Internet Files\Content.IE5\34VTW2X0\0025-0805-2821-5266_clip_art_graphic_of_a_yellow_star_cartoon_character_flexing_his_arm_muscles[1].jpg" id="146" name="Google Shape;146;p19"/>
          <p:cNvPicPr preferRelativeResize="0"/>
          <p:nvPr/>
        </p:nvPicPr>
        <p:blipFill rotWithShape="1">
          <a:blip r:embed="rId3">
            <a:alphaModFix/>
          </a:blip>
          <a:srcRect b="0" l="0" r="0" t="0"/>
          <a:stretch/>
        </p:blipFill>
        <p:spPr>
          <a:xfrm>
            <a:off x="971550" y="2846387"/>
            <a:ext cx="3240087" cy="2317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20"/>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3" name="Google Shape;153;p2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Things that Fred find’s difficult</a:t>
            </a:r>
            <a:endParaRPr/>
          </a:p>
        </p:txBody>
      </p:sp>
      <p:sp>
        <p:nvSpPr>
          <p:cNvPr id="154" name="Google Shape;154;p20"/>
          <p:cNvSpPr txBox="1"/>
          <p:nvPr>
            <p:ph idx="1" type="body"/>
          </p:nvPr>
        </p:nvSpPr>
        <p:spPr>
          <a:xfrm>
            <a:off x="685800" y="2276475"/>
            <a:ext cx="5326062" cy="38195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A second list is compiled, again elicited from the children on things that Fred find’s difficult.  These are phrased in a suitable way and put onto a flip chart.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The children are reminded that Fred and his parents have given permission and that we are discussing this to help Fred.</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Contributions might include, loses his temper, pushes in the line, took my sweets.</a:t>
            </a:r>
            <a:endParaRPr/>
          </a:p>
        </p:txBody>
      </p:sp>
      <p:pic>
        <p:nvPicPr>
          <p:cNvPr descr="C:\Users\dep652\AppData\Local\Microsoft\Windows\Temporary Internet Files\Content.IE5\34VTW2X0\coloring-page-difficult-p13520[1].jpg" id="155" name="Google Shape;155;p20"/>
          <p:cNvPicPr preferRelativeResize="0"/>
          <p:nvPr/>
        </p:nvPicPr>
        <p:blipFill rotWithShape="1">
          <a:blip r:embed="rId3">
            <a:alphaModFix/>
          </a:blip>
          <a:srcRect b="0" l="0" r="0" t="0"/>
          <a:stretch/>
        </p:blipFill>
        <p:spPr>
          <a:xfrm>
            <a:off x="6443662" y="2971800"/>
            <a:ext cx="2500312" cy="2498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0" name="Shape 160"/>
        <p:cNvGrpSpPr/>
        <p:nvPr/>
      </p:nvGrpSpPr>
      <p:grpSpPr>
        <a:xfrm>
          <a:off x="0" y="0"/>
          <a:ext cx="0" cy="0"/>
          <a:chOff x="0" y="0"/>
          <a:chExt cx="0" cy="0"/>
        </a:xfrm>
      </p:grpSpPr>
      <p:sp>
        <p:nvSpPr>
          <p:cNvPr id="161" name="Google Shape;161;p21"/>
          <p:cNvSpPr txBox="1"/>
          <p:nvPr>
            <p:ph type="title"/>
          </p:nvPr>
        </p:nvSpPr>
        <p:spPr>
          <a:xfrm>
            <a:off x="611187" y="269875"/>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The circles in our lives</a:t>
            </a:r>
            <a:endParaRPr/>
          </a:p>
        </p:txBody>
      </p:sp>
      <p:sp>
        <p:nvSpPr>
          <p:cNvPr id="162" name="Google Shape;162;p2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               </a:t>
            </a:r>
            <a:endParaRPr/>
          </a:p>
        </p:txBody>
      </p:sp>
      <p:sp>
        <p:nvSpPr>
          <p:cNvPr id="163" name="Google Shape;163;p21"/>
          <p:cNvSpPr/>
          <p:nvPr/>
        </p:nvSpPr>
        <p:spPr>
          <a:xfrm>
            <a:off x="468312" y="1412875"/>
            <a:ext cx="6983412" cy="5256212"/>
          </a:xfrm>
          <a:custGeom>
            <a:rect b="b" l="l" r="r" t="t"/>
            <a:pathLst>
              <a:path extrusionOk="0" h="21600" w="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4" name="Google Shape;164;p21"/>
          <p:cNvSpPr/>
          <p:nvPr/>
        </p:nvSpPr>
        <p:spPr>
          <a:xfrm>
            <a:off x="2987675" y="3429000"/>
            <a:ext cx="1778000" cy="1706562"/>
          </a:xfrm>
          <a:prstGeom prst="ellipse">
            <a:avLst/>
          </a:prstGeom>
          <a:solidFill>
            <a:schemeClr val="lt1"/>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5" name="Google Shape;165;p21"/>
          <p:cNvSpPr/>
          <p:nvPr/>
        </p:nvSpPr>
        <p:spPr>
          <a:xfrm>
            <a:off x="2700337" y="3141662"/>
            <a:ext cx="2571750" cy="1800225"/>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6" name="Google Shape;166;p21"/>
          <p:cNvSpPr/>
          <p:nvPr/>
        </p:nvSpPr>
        <p:spPr>
          <a:xfrm>
            <a:off x="1403350" y="2133600"/>
            <a:ext cx="5113337" cy="3887787"/>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7" name="Google Shape;167;p21"/>
          <p:cNvSpPr/>
          <p:nvPr/>
        </p:nvSpPr>
        <p:spPr>
          <a:xfrm>
            <a:off x="2411412" y="2781300"/>
            <a:ext cx="2952750" cy="2376487"/>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8" name="Google Shape;168;p21"/>
          <p:cNvSpPr/>
          <p:nvPr/>
        </p:nvSpPr>
        <p:spPr>
          <a:xfrm>
            <a:off x="3419475" y="3644900"/>
            <a:ext cx="914400" cy="841375"/>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Family</a:t>
            </a:r>
            <a:endParaRPr/>
          </a:p>
        </p:txBody>
      </p:sp>
      <p:sp>
        <p:nvSpPr>
          <p:cNvPr id="169" name="Google Shape;169;p21"/>
          <p:cNvSpPr txBox="1"/>
          <p:nvPr/>
        </p:nvSpPr>
        <p:spPr>
          <a:xfrm>
            <a:off x="2124075" y="1557337"/>
            <a:ext cx="2087562"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0" name="Google Shape;170;p21"/>
          <p:cNvSpPr txBox="1"/>
          <p:nvPr/>
        </p:nvSpPr>
        <p:spPr>
          <a:xfrm>
            <a:off x="3184525" y="1433512"/>
            <a:ext cx="1747837"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Teachers</a:t>
            </a:r>
            <a:endParaRPr/>
          </a:p>
        </p:txBody>
      </p:sp>
      <p:sp>
        <p:nvSpPr>
          <p:cNvPr id="171" name="Google Shape;171;p21"/>
          <p:cNvSpPr txBox="1"/>
          <p:nvPr/>
        </p:nvSpPr>
        <p:spPr>
          <a:xfrm>
            <a:off x="2967037" y="2225675"/>
            <a:ext cx="1749425"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Beavers</a:t>
            </a:r>
            <a:endParaRPr/>
          </a:p>
        </p:txBody>
      </p:sp>
      <p:sp>
        <p:nvSpPr>
          <p:cNvPr id="172" name="Google Shape;172;p21"/>
          <p:cNvSpPr txBox="1"/>
          <p:nvPr/>
        </p:nvSpPr>
        <p:spPr>
          <a:xfrm>
            <a:off x="1600200" y="3881437"/>
            <a:ext cx="895350" cy="822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Swim</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Club</a:t>
            </a:r>
            <a:endParaRPr/>
          </a:p>
        </p:txBody>
      </p:sp>
      <p:sp>
        <p:nvSpPr>
          <p:cNvPr id="173" name="Google Shape;173;p21"/>
          <p:cNvSpPr txBox="1"/>
          <p:nvPr/>
        </p:nvSpPr>
        <p:spPr>
          <a:xfrm>
            <a:off x="827087" y="2205037"/>
            <a:ext cx="1223962" cy="822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Child</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Minder</a:t>
            </a:r>
            <a:endParaRPr/>
          </a:p>
        </p:txBody>
      </p:sp>
      <p:sp>
        <p:nvSpPr>
          <p:cNvPr id="174" name="Google Shape;174;p21"/>
          <p:cNvSpPr txBox="1"/>
          <p:nvPr/>
        </p:nvSpPr>
        <p:spPr>
          <a:xfrm>
            <a:off x="5992812" y="2152650"/>
            <a:ext cx="1231900" cy="822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Lollipop</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Lady</a:t>
            </a:r>
            <a:endParaRPr/>
          </a:p>
        </p:txBody>
      </p:sp>
      <p:sp>
        <p:nvSpPr>
          <p:cNvPr id="175" name="Google Shape;175;p21"/>
          <p:cNvSpPr txBox="1"/>
          <p:nvPr/>
        </p:nvSpPr>
        <p:spPr>
          <a:xfrm>
            <a:off x="3184525" y="2944812"/>
            <a:ext cx="10985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Friends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0" name="Shape 180"/>
        <p:cNvGrpSpPr/>
        <p:nvPr/>
      </p:nvGrpSpPr>
      <p:grpSpPr>
        <a:xfrm>
          <a:off x="0" y="0"/>
          <a:ext cx="0" cy="0"/>
          <a:chOff x="0" y="0"/>
          <a:chExt cx="0" cy="0"/>
        </a:xfrm>
      </p:grpSpPr>
      <p:sp>
        <p:nvSpPr>
          <p:cNvPr id="181" name="Google Shape;181;p22"/>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2" name="Google Shape;182;p2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The psychology bit</a:t>
            </a:r>
            <a:endParaRPr/>
          </a:p>
        </p:txBody>
      </p:sp>
      <p:sp>
        <p:nvSpPr>
          <p:cNvPr id="183" name="Google Shape;183;p22"/>
          <p:cNvSpPr txBox="1"/>
          <p:nvPr>
            <p:ph idx="1" type="body"/>
          </p:nvPr>
        </p:nvSpPr>
        <p:spPr>
          <a:xfrm>
            <a:off x="976312" y="1773237"/>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It is explained to the children that sometimes, when people are doing things that are hurting other people, it is because they don’t feel so good themselves and they may not feel that they have friends.</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It is suggested that maybe some of the things Fred has difficulty with are because he does not feel that he has many friends.</a:t>
            </a:r>
            <a:endParaRPr/>
          </a:p>
          <a:p>
            <a:pPr indent="-342900" lvl="0" marL="342900" marR="0" rtl="0" algn="l">
              <a:lnSpc>
                <a:spcPct val="100000"/>
              </a:lnSpc>
              <a:spcBef>
                <a:spcPts val="400"/>
              </a:spcBef>
              <a:spcAft>
                <a:spcPts val="0"/>
              </a:spcAft>
              <a:buClr>
                <a:schemeClr val="dk1"/>
              </a:buClr>
              <a:buSzPts val="2000"/>
              <a:buFont typeface="Arial"/>
              <a:buChar char="•"/>
            </a:pPr>
            <a:r>
              <a:rPr b="1" i="0" lang="en-US" sz="2000" u="none">
                <a:solidFill>
                  <a:schemeClr val="dk1"/>
                </a:solidFill>
                <a:latin typeface="Arial"/>
                <a:ea typeface="Arial"/>
                <a:cs typeface="Arial"/>
                <a:sym typeface="Arial"/>
              </a:rPr>
              <a:t>THIS IS THE MOST IMPORTANT PART!</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It is important not to rush this part and to create empathy in the class towards the target child. </a:t>
            </a:r>
            <a:endParaRPr/>
          </a:p>
          <a:p>
            <a:pPr indent="-3429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Arial"/>
              <a:ea typeface="Arial"/>
              <a:cs typeface="Arial"/>
              <a:sym typeface="Arial"/>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Arial"/>
              <a:ea typeface="Arial"/>
              <a:cs typeface="Arial"/>
              <a:sym typeface="Arial"/>
            </a:endParaRPr>
          </a:p>
        </p:txBody>
      </p:sp>
      <p:pic>
        <p:nvPicPr>
          <p:cNvPr descr="C:\Users\dep652\AppData\Local\Microsoft\Windows\Temporary Internet Files\Content.IE5\8W7DT1LZ\be-empathetic[1].png" id="184" name="Google Shape;184;p22"/>
          <p:cNvPicPr preferRelativeResize="0"/>
          <p:nvPr/>
        </p:nvPicPr>
        <p:blipFill rotWithShape="1">
          <a:blip r:embed="rId3">
            <a:alphaModFix/>
          </a:blip>
          <a:srcRect b="0" l="0" r="0" t="0"/>
          <a:stretch/>
        </p:blipFill>
        <p:spPr>
          <a:xfrm>
            <a:off x="5867400" y="4408487"/>
            <a:ext cx="2808287" cy="226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 calcmode="lin" valueType="num">
                                      <p:cBhvr additive="base">
                                        <p:cTn dur="500"/>
                                        <p:tgtEl>
                                          <p:spTgt spid="1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 calcmode="lin" valueType="num">
                                      <p:cBhvr additive="base">
                                        <p:cTn dur="500"/>
                                        <p:tgtEl>
                                          <p:spTgt spid="18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 calcmode="lin" valueType="num">
                                      <p:cBhvr additive="base">
                                        <p:cTn dur="500"/>
                                        <p:tgtEl>
                                          <p:spTgt spid="18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anim calcmode="lin" valueType="num">
                                      <p:cBhvr additive="base">
                                        <p:cTn dur="500"/>
                                        <p:tgtEl>
                                          <p:spTgt spid="18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anim calcmode="lin" valueType="num">
                                      <p:cBhvr additive="base">
                                        <p:cTn dur="500"/>
                                        <p:tgtEl>
                                          <p:spTgt spid="18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anim calcmode="lin" valueType="num">
                                      <p:cBhvr additive="base">
                                        <p:cTn dur="500"/>
                                        <p:tgtEl>
                                          <p:spTgt spid="18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9" name="Shape 189"/>
        <p:cNvGrpSpPr/>
        <p:nvPr/>
      </p:nvGrpSpPr>
      <p:grpSpPr>
        <a:xfrm>
          <a:off x="0" y="0"/>
          <a:ext cx="0" cy="0"/>
          <a:chOff x="0" y="0"/>
          <a:chExt cx="0" cy="0"/>
        </a:xfrm>
      </p:grpSpPr>
      <p:sp>
        <p:nvSpPr>
          <p:cNvPr id="190" name="Google Shape;190;p23"/>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1" name="Google Shape;191;p2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Eliciting support</a:t>
            </a:r>
            <a:endParaRPr/>
          </a:p>
        </p:txBody>
      </p:sp>
      <p:sp>
        <p:nvSpPr>
          <p:cNvPr id="192" name="Google Shape;192;p2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The children are asked to think of ways in which Fred could be helped.</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They are then invited to be part of a support group which would meet each week for a short time with Fred and a staff member to see if they can think of ways of supporting Fred and each other.</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Arial"/>
              <a:ea typeface="Arial"/>
              <a:cs typeface="Arial"/>
              <a:sym typeface="Arial"/>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Arial"/>
              <a:ea typeface="Arial"/>
              <a:cs typeface="Arial"/>
              <a:sym typeface="Arial"/>
            </a:endParaRPr>
          </a:p>
        </p:txBody>
      </p:sp>
      <p:pic>
        <p:nvPicPr>
          <p:cNvPr descr="C:\Users\dep652\AppData\Local\Microsoft\Windows\Temporary Internet Files\Content.IE5\8W7DT1LZ\team-support[1].jpg" id="193" name="Google Shape;193;p23"/>
          <p:cNvPicPr preferRelativeResize="0"/>
          <p:nvPr/>
        </p:nvPicPr>
        <p:blipFill rotWithShape="1">
          <a:blip r:embed="rId3">
            <a:alphaModFix/>
          </a:blip>
          <a:srcRect b="0" l="0" r="0" t="0"/>
          <a:stretch/>
        </p:blipFill>
        <p:spPr>
          <a:xfrm>
            <a:off x="2268537" y="3933825"/>
            <a:ext cx="5111750" cy="271303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8" name="Shape 198"/>
        <p:cNvGrpSpPr/>
        <p:nvPr/>
      </p:nvGrpSpPr>
      <p:grpSpPr>
        <a:xfrm>
          <a:off x="0" y="0"/>
          <a:ext cx="0" cy="0"/>
          <a:chOff x="0" y="0"/>
          <a:chExt cx="0" cy="0"/>
        </a:xfrm>
      </p:grpSpPr>
      <p:sp>
        <p:nvSpPr>
          <p:cNvPr id="199" name="Google Shape;199;p24"/>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0" name="Google Shape;200;p2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The weekly meeting</a:t>
            </a:r>
            <a:endParaRPr/>
          </a:p>
        </p:txBody>
      </p:sp>
      <p:pic>
        <p:nvPicPr>
          <p:cNvPr descr="C:\Users\dep652\AppData\Local\Microsoft\Windows\Temporary Internet Files\Content.IE5\34VTW2X0\1326172190_80b33a0d97_z[1].jpg" id="201" name="Google Shape;201;p24"/>
          <p:cNvPicPr preferRelativeResize="0"/>
          <p:nvPr/>
        </p:nvPicPr>
        <p:blipFill rotWithShape="1">
          <a:blip r:embed="rId3">
            <a:alphaModFix/>
          </a:blip>
          <a:srcRect b="0" l="0" r="0" t="0"/>
          <a:stretch/>
        </p:blipFill>
        <p:spPr>
          <a:xfrm>
            <a:off x="5516562" y="2492375"/>
            <a:ext cx="2976562" cy="2971800"/>
          </a:xfrm>
          <a:prstGeom prst="rect">
            <a:avLst/>
          </a:prstGeom>
          <a:noFill/>
          <a:ln>
            <a:noFill/>
          </a:ln>
        </p:spPr>
      </p:pic>
      <p:sp>
        <p:nvSpPr>
          <p:cNvPr id="202" name="Google Shape;202;p24"/>
          <p:cNvSpPr txBox="1"/>
          <p:nvPr>
            <p:ph idx="1" type="body"/>
          </p:nvPr>
        </p:nvSpPr>
        <p:spPr>
          <a:xfrm>
            <a:off x="685800" y="1981200"/>
            <a:ext cx="5038725"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Game to begin</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Target child asked ‘What has gone well’</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Other children invited to contribute</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All children asked whether there have been any difficulties</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All asked to think of any ideas that might help</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Suggestions taken ~ all thanked</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Game to end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25"/>
          <p:cNvSpPr txBox="1"/>
          <p:nvPr/>
        </p:nvSpPr>
        <p:spPr>
          <a:xfrm>
            <a:off x="0" y="125412"/>
            <a:ext cx="9144000" cy="30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Black"/>
              <a:buNone/>
            </a:pPr>
            <a:r>
              <a:rPr b="0" i="0" lang="en-US" sz="1400" u="none">
                <a:solidFill>
                  <a:schemeClr val="lt1"/>
                </a:solidFill>
                <a:latin typeface="Arial Black"/>
                <a:ea typeface="Arial Black"/>
                <a:cs typeface="Arial Black"/>
                <a:sym typeface="Arial Black"/>
              </a:rPr>
              <a:t>E D U C A T I O N A L   P S Y C H O L O G Y   S E R V I C E</a:t>
            </a:r>
            <a:endParaRPr/>
          </a:p>
        </p:txBody>
      </p:sp>
      <p:sp>
        <p:nvSpPr>
          <p:cNvPr id="209" name="Google Shape;209;p25"/>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0" name="Google Shape;210;p2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Safety measures</a:t>
            </a:r>
            <a:endParaRPr/>
          </a:p>
        </p:txBody>
      </p:sp>
      <p:sp>
        <p:nvSpPr>
          <p:cNvPr id="211" name="Google Shape;211;p2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Contact with home to ensure that parents are happy with process, and they </a:t>
            </a:r>
            <a:r>
              <a:rPr b="1" i="0" lang="en-US" sz="2000" u="none">
                <a:solidFill>
                  <a:schemeClr val="dk1"/>
                </a:solidFill>
                <a:latin typeface="Arial"/>
                <a:ea typeface="Arial"/>
                <a:cs typeface="Arial"/>
                <a:sym typeface="Arial"/>
              </a:rPr>
              <a:t>fully understand </a:t>
            </a:r>
            <a:r>
              <a:rPr b="0" i="0" lang="en-US" sz="2000" u="none">
                <a:solidFill>
                  <a:schemeClr val="dk1"/>
                </a:solidFill>
                <a:latin typeface="Arial"/>
                <a:ea typeface="Arial"/>
                <a:cs typeface="Arial"/>
                <a:sym typeface="Arial"/>
              </a:rPr>
              <a:t>what a circle of friends is and that the target child is benefitting throughout</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Ensuring that the process has a definite end</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Making sure the group are emotionally safe and not taking on too much</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Making sure that there is an element of fun.</a:t>
            </a:r>
            <a:endParaRPr/>
          </a:p>
        </p:txBody>
      </p:sp>
      <p:pic>
        <p:nvPicPr>
          <p:cNvPr descr="C:\Users\dep652\AppData\Local\Microsoft\Windows\Temporary Internet Files\Content.IE5\T2N38M1Z\large_safety_first_banner[1].jpg" id="212" name="Google Shape;212;p25"/>
          <p:cNvPicPr preferRelativeResize="0"/>
          <p:nvPr/>
        </p:nvPicPr>
        <p:blipFill rotWithShape="1">
          <a:blip r:embed="rId3">
            <a:alphaModFix/>
          </a:blip>
          <a:srcRect b="0" l="0" r="0" t="0"/>
          <a:stretch/>
        </p:blipFill>
        <p:spPr>
          <a:xfrm>
            <a:off x="6084887" y="4581525"/>
            <a:ext cx="2865437" cy="1835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Google Shape;218;p26"/>
          <p:cNvSpPr txBox="1"/>
          <p:nvPr/>
        </p:nvSpPr>
        <p:spPr>
          <a:xfrm>
            <a:off x="0" y="125412"/>
            <a:ext cx="9144000" cy="30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Black"/>
              <a:buNone/>
            </a:pPr>
            <a:r>
              <a:rPr b="0" i="0" lang="en-US" sz="1400" u="none">
                <a:solidFill>
                  <a:schemeClr val="lt1"/>
                </a:solidFill>
                <a:latin typeface="Arial Black"/>
                <a:ea typeface="Arial Black"/>
                <a:cs typeface="Arial Black"/>
                <a:sym typeface="Arial Black"/>
              </a:rPr>
              <a:t>E D U C A T I O N A L   P S Y C H O L O G Y   S E R V I C E</a:t>
            </a:r>
            <a:endParaRPr/>
          </a:p>
        </p:txBody>
      </p:sp>
      <p:sp>
        <p:nvSpPr>
          <p:cNvPr id="219" name="Google Shape;219;p26"/>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0" name="Google Shape;220;p2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Supplementary ideas</a:t>
            </a:r>
            <a:endParaRPr/>
          </a:p>
        </p:txBody>
      </p:sp>
      <p:sp>
        <p:nvSpPr>
          <p:cNvPr id="221" name="Google Shape;221;p26"/>
          <p:cNvSpPr txBox="1"/>
          <p:nvPr>
            <p:ph idx="1" type="body"/>
          </p:nvPr>
        </p:nvSpPr>
        <p:spPr>
          <a:xfrm>
            <a:off x="685800" y="1981200"/>
            <a:ext cx="5470525"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SEAL ~Getting on and falling out section</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Befriender systems – older children</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Buddy bench</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Group buddy system</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Lunchtime clubs- structured activities- craft clubs, running a tuck shop. </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Safe places/drop-ins during lunch and break times</a:t>
            </a:r>
            <a:endParaRPr/>
          </a:p>
          <a:p>
            <a:pPr indent="-215900" lvl="0" marL="342900" marR="0" rtl="0" algn="l">
              <a:spcBef>
                <a:spcPts val="400"/>
              </a:spcBef>
              <a:spcAft>
                <a:spcPts val="0"/>
              </a:spcAft>
              <a:buClr>
                <a:schemeClr val="dk1"/>
              </a:buClr>
              <a:buSzPts val="2000"/>
              <a:buFont typeface="Times New Roman"/>
              <a:buNone/>
            </a:pPr>
            <a:r>
              <a:t/>
            </a:r>
            <a:endParaRPr b="0" i="0" sz="2000" u="none">
              <a:solidFill>
                <a:schemeClr val="dk1"/>
              </a:solidFill>
              <a:latin typeface="Arial"/>
              <a:ea typeface="Arial"/>
              <a:cs typeface="Arial"/>
              <a:sym typeface="Arial"/>
            </a:endParaRPr>
          </a:p>
        </p:txBody>
      </p:sp>
      <p:pic>
        <p:nvPicPr>
          <p:cNvPr descr="C:\Users\dep652\AppData\Local\Microsoft\Windows\Temporary Internet Files\Content.IE5\8W7DT1LZ\Idea[1].jpg" id="222" name="Google Shape;222;p26"/>
          <p:cNvPicPr preferRelativeResize="0"/>
          <p:nvPr/>
        </p:nvPicPr>
        <p:blipFill rotWithShape="1">
          <a:blip r:embed="rId3">
            <a:alphaModFix/>
          </a:blip>
          <a:srcRect b="0" l="0" r="0" t="0"/>
          <a:stretch/>
        </p:blipFill>
        <p:spPr>
          <a:xfrm>
            <a:off x="6372225" y="2852737"/>
            <a:ext cx="2544762" cy="1908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7" name="Shape 227"/>
        <p:cNvGrpSpPr/>
        <p:nvPr/>
      </p:nvGrpSpPr>
      <p:grpSpPr>
        <a:xfrm>
          <a:off x="0" y="0"/>
          <a:ext cx="0" cy="0"/>
          <a:chOff x="0" y="0"/>
          <a:chExt cx="0" cy="0"/>
        </a:xfrm>
      </p:grpSpPr>
      <p:sp>
        <p:nvSpPr>
          <p:cNvPr id="228" name="Google Shape;228;p27"/>
          <p:cNvSpPr txBox="1"/>
          <p:nvPr/>
        </p:nvSpPr>
        <p:spPr>
          <a:xfrm>
            <a:off x="0" y="125412"/>
            <a:ext cx="9144000" cy="30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Black"/>
              <a:buNone/>
            </a:pPr>
            <a:r>
              <a:rPr b="0" i="0" lang="en-US" sz="1400" u="none">
                <a:solidFill>
                  <a:schemeClr val="lt1"/>
                </a:solidFill>
                <a:latin typeface="Arial Black"/>
                <a:ea typeface="Arial Black"/>
                <a:cs typeface="Arial Black"/>
                <a:sym typeface="Arial Black"/>
              </a:rPr>
              <a:t>E D U C A T I O N A L   P S Y C H O L O G Y   S E R V I C E</a:t>
            </a:r>
            <a:endParaRPr/>
          </a:p>
        </p:txBody>
      </p:sp>
      <p:sp>
        <p:nvSpPr>
          <p:cNvPr id="229" name="Google Shape;229;p27"/>
          <p:cNvSpPr txBox="1"/>
          <p:nvPr/>
        </p:nvSpPr>
        <p:spPr>
          <a:xfrm>
            <a:off x="755650" y="1196975"/>
            <a:ext cx="7704137"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0" name="Google Shape;230;p2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Arial"/>
              <a:buNone/>
            </a:pPr>
            <a:r>
              <a:rPr b="0" i="0" lang="en-US" sz="4400" u="none" cap="none" strike="noStrike">
                <a:solidFill>
                  <a:srgbClr val="262699"/>
                </a:solidFill>
                <a:latin typeface="Arial"/>
                <a:ea typeface="Arial"/>
                <a:cs typeface="Arial"/>
                <a:sym typeface="Arial"/>
              </a:rPr>
              <a:t>Evaluating progress</a:t>
            </a:r>
            <a:endParaRPr/>
          </a:p>
        </p:txBody>
      </p:sp>
      <p:sp>
        <p:nvSpPr>
          <p:cNvPr id="231" name="Google Shape;231;p2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Comments from the group, child, class teacher and/or child’s parents</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Sociograms</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a:solidFill>
                  <a:schemeClr val="dk1"/>
                </a:solidFill>
                <a:latin typeface="Arial"/>
                <a:ea typeface="Arial"/>
                <a:cs typeface="Arial"/>
                <a:sym typeface="Arial"/>
              </a:rPr>
              <a:t>Questionnaires</a:t>
            </a:r>
            <a:endParaRPr/>
          </a:p>
        </p:txBody>
      </p:sp>
      <p:pic>
        <p:nvPicPr>
          <p:cNvPr descr="C:\Users\dep652\AppData\Local\Microsoft\Windows\Temporary Internet Files\Content.IE5\34VTW2X0\evaluacion[1].jpg" id="232" name="Google Shape;232;p27"/>
          <p:cNvPicPr preferRelativeResize="0"/>
          <p:nvPr/>
        </p:nvPicPr>
        <p:blipFill rotWithShape="1">
          <a:blip r:embed="rId3">
            <a:alphaModFix/>
          </a:blip>
          <a:srcRect b="0" l="0" r="0" t="0"/>
          <a:stretch/>
        </p:blipFill>
        <p:spPr>
          <a:xfrm>
            <a:off x="1924050" y="3644900"/>
            <a:ext cx="5295900" cy="2857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62699"/>
              </a:buClr>
              <a:buSzPts val="4400"/>
              <a:buFont typeface="Calibri"/>
              <a:buNone/>
            </a:pPr>
            <a:r>
              <a:rPr b="0" i="0" lang="en-US" sz="4400" u="none" cap="none" strike="noStrike">
                <a:solidFill>
                  <a:srgbClr val="262699"/>
                </a:solidFill>
                <a:latin typeface="Calibri"/>
                <a:ea typeface="Calibri"/>
                <a:cs typeface="Calibri"/>
                <a:sym typeface="Calibri"/>
              </a:rPr>
              <a:t>Psychological Theory</a:t>
            </a:r>
            <a:endParaRPr/>
          </a:p>
        </p:txBody>
      </p:sp>
      <p:sp>
        <p:nvSpPr>
          <p:cNvPr id="238" name="Google Shape;238;p28"/>
          <p:cNvSpPr txBox="1"/>
          <p:nvPr>
            <p:ph idx="1" type="body"/>
          </p:nvPr>
        </p:nvSpPr>
        <p:spPr>
          <a:xfrm>
            <a:off x="4716462" y="1981200"/>
            <a:ext cx="3741737"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Calibri"/>
              <a:buChar char="•"/>
            </a:pPr>
            <a:r>
              <a:rPr b="0" i="0" lang="en-US" sz="2000" u="none">
                <a:solidFill>
                  <a:schemeClr val="dk1"/>
                </a:solidFill>
                <a:latin typeface="Calibri"/>
                <a:ea typeface="Calibri"/>
                <a:cs typeface="Calibri"/>
                <a:sym typeface="Calibri"/>
              </a:rPr>
              <a:t>Maslow’s hierarchy of needs</a:t>
            </a:r>
            <a:endParaRPr/>
          </a:p>
          <a:p>
            <a:pPr indent="-342900" lvl="0" marL="342900" marR="0" rtl="0" algn="l">
              <a:lnSpc>
                <a:spcPct val="100000"/>
              </a:lnSpc>
              <a:spcBef>
                <a:spcPts val="400"/>
              </a:spcBef>
              <a:spcAft>
                <a:spcPts val="0"/>
              </a:spcAft>
              <a:buClr>
                <a:schemeClr val="dk1"/>
              </a:buClr>
              <a:buSzPts val="2000"/>
              <a:buFont typeface="Calibri"/>
              <a:buChar char="•"/>
            </a:pPr>
            <a:r>
              <a:rPr b="0" i="0" lang="en-US" sz="2000" u="none">
                <a:solidFill>
                  <a:schemeClr val="dk1"/>
                </a:solidFill>
                <a:latin typeface="Calibri"/>
                <a:ea typeface="Calibri"/>
                <a:cs typeface="Calibri"/>
                <a:sym typeface="Calibri"/>
              </a:rPr>
              <a:t>Humanistic psychology</a:t>
            </a:r>
            <a:endParaRPr/>
          </a:p>
          <a:p>
            <a:pPr indent="-342900" lvl="0" marL="342900" marR="0" rtl="0" algn="l">
              <a:lnSpc>
                <a:spcPct val="100000"/>
              </a:lnSpc>
              <a:spcBef>
                <a:spcPts val="400"/>
              </a:spcBef>
              <a:spcAft>
                <a:spcPts val="0"/>
              </a:spcAft>
              <a:buClr>
                <a:schemeClr val="dk1"/>
              </a:buClr>
              <a:buSzPts val="2000"/>
              <a:buFont typeface="Calibri"/>
              <a:buChar char="•"/>
            </a:pPr>
            <a:r>
              <a:rPr b="0" i="0" lang="en-US" sz="2000" u="none">
                <a:solidFill>
                  <a:schemeClr val="dk1"/>
                </a:solidFill>
                <a:latin typeface="Calibri"/>
                <a:ea typeface="Calibri"/>
                <a:cs typeface="Calibri"/>
                <a:sym typeface="Calibri"/>
              </a:rPr>
              <a:t>Dodge’s model of social interaction</a:t>
            </a:r>
            <a:endParaRPr/>
          </a:p>
          <a:p>
            <a:pPr indent="-342900" lvl="0" marL="342900" marR="0" rtl="0" algn="l">
              <a:lnSpc>
                <a:spcPct val="100000"/>
              </a:lnSpc>
              <a:spcBef>
                <a:spcPts val="400"/>
              </a:spcBef>
              <a:spcAft>
                <a:spcPts val="0"/>
              </a:spcAft>
              <a:buClr>
                <a:schemeClr val="dk1"/>
              </a:buClr>
              <a:buSzPts val="2000"/>
              <a:buFont typeface="Calibri"/>
              <a:buChar char="•"/>
            </a:pPr>
            <a:r>
              <a:rPr b="0" i="0" lang="en-US" sz="2000" u="none">
                <a:solidFill>
                  <a:schemeClr val="dk1"/>
                </a:solidFill>
                <a:latin typeface="Calibri"/>
                <a:ea typeface="Calibri"/>
                <a:cs typeface="Calibri"/>
                <a:sym typeface="Calibri"/>
              </a:rPr>
              <a:t>Social learning theory</a:t>
            </a:r>
            <a:endParaRPr/>
          </a:p>
        </p:txBody>
      </p:sp>
      <p:pic>
        <p:nvPicPr>
          <p:cNvPr descr="C:\Users\dep652\AppData\Local\Microsoft\Windows\Temporary Internet Files\Content.IE5\34VTW2X0\psychology[1].jpg" id="239" name="Google Shape;239;p28"/>
          <p:cNvPicPr preferRelativeResize="0"/>
          <p:nvPr/>
        </p:nvPicPr>
        <p:blipFill rotWithShape="1">
          <a:blip r:embed="rId3">
            <a:alphaModFix/>
          </a:blip>
          <a:srcRect b="0" l="0" r="0" t="0"/>
          <a:stretch/>
        </p:blipFill>
        <p:spPr>
          <a:xfrm>
            <a:off x="566737" y="2133600"/>
            <a:ext cx="4025900" cy="336708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pic>
        <p:nvPicPr>
          <p:cNvPr descr="C:\Users\dep652\AppData\Local\Microsoft\Windows\Temporary Internet Files\Content.IE5\8W7DT1LZ\10582_bigstock-Questions-8[1].jpg" id="245" name="Google Shape;245;p29"/>
          <p:cNvPicPr preferRelativeResize="0"/>
          <p:nvPr/>
        </p:nvPicPr>
        <p:blipFill rotWithShape="1">
          <a:blip r:embed="rId3">
            <a:alphaModFix/>
          </a:blip>
          <a:srcRect b="0" l="0" r="0" t="0"/>
          <a:stretch/>
        </p:blipFill>
        <p:spPr>
          <a:xfrm>
            <a:off x="1143000" y="857250"/>
            <a:ext cx="6858000" cy="5143500"/>
          </a:xfrm>
          <a:prstGeom prst="rect">
            <a:avLst/>
          </a:prstGeom>
          <a:noFill/>
          <a:ln>
            <a:noFill/>
          </a:ln>
        </p:spPr>
      </p:pic>
      <p:sp>
        <p:nvSpPr>
          <p:cNvPr id="246" name="Google Shape;246;p29"/>
          <p:cNvSpPr txBox="1"/>
          <p:nvPr/>
        </p:nvSpPr>
        <p:spPr>
          <a:xfrm>
            <a:off x="2771775" y="1412875"/>
            <a:ext cx="3600450" cy="584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rPr b="0" i="0" lang="en-US" sz="3200" u="none">
                <a:solidFill>
                  <a:schemeClr val="lt1"/>
                </a:solidFill>
                <a:latin typeface="Calibri"/>
                <a:ea typeface="Calibri"/>
                <a:cs typeface="Calibri"/>
                <a:sym typeface="Calibri"/>
              </a:rPr>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