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31"/>
  </p:notesMasterIdLst>
  <p:handoutMasterIdLst>
    <p:handoutMasterId r:id="rId32"/>
  </p:handoutMasterIdLst>
  <p:sldIdLst>
    <p:sldId id="327" r:id="rId5"/>
    <p:sldId id="342" r:id="rId6"/>
    <p:sldId id="343" r:id="rId7"/>
    <p:sldId id="344" r:id="rId8"/>
    <p:sldId id="345" r:id="rId9"/>
    <p:sldId id="346" r:id="rId10"/>
    <p:sldId id="347" r:id="rId11"/>
    <p:sldId id="348" r:id="rId12"/>
    <p:sldId id="349" r:id="rId13"/>
    <p:sldId id="369" r:id="rId14"/>
    <p:sldId id="351" r:id="rId15"/>
    <p:sldId id="353" r:id="rId16"/>
    <p:sldId id="352" r:id="rId17"/>
    <p:sldId id="354" r:id="rId18"/>
    <p:sldId id="355" r:id="rId19"/>
    <p:sldId id="365" r:id="rId20"/>
    <p:sldId id="357" r:id="rId21"/>
    <p:sldId id="358" r:id="rId22"/>
    <p:sldId id="363" r:id="rId23"/>
    <p:sldId id="364" r:id="rId24"/>
    <p:sldId id="361" r:id="rId25"/>
    <p:sldId id="362" r:id="rId26"/>
    <p:sldId id="366" r:id="rId27"/>
    <p:sldId id="367" r:id="rId28"/>
    <p:sldId id="368" r:id="rId29"/>
    <p:sldId id="340" r:id="rId30"/>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6935" autoAdjust="0"/>
  </p:normalViewPr>
  <p:slideViewPr>
    <p:cSldViewPr>
      <p:cViewPr varScale="1">
        <p:scale>
          <a:sx n="60" d="100"/>
          <a:sy n="60" d="100"/>
        </p:scale>
        <p:origin x="-307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p:spPr>
        <p:txBody>
          <a:bodyPr/>
          <a:lstStyle/>
          <a:p>
            <a:pPr eaLnBrk="1" hangingPunct="1"/>
            <a:endParaRPr lang="en-US" altLang="en-US" smtClean="0"/>
          </a:p>
        </p:txBody>
      </p:sp>
      <p:sp>
        <p:nvSpPr>
          <p:cNvPr id="184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3B3AC1E-C878-4633-B4CF-C25025A3F561}"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smtClean="0"/>
          </a:p>
          <a:p>
            <a:r>
              <a:rPr lang="en-GB" altLang="en-US" smtClean="0"/>
              <a:t>There are 6 steps to delivering precision monitoring;</a:t>
            </a:r>
          </a:p>
          <a:p>
            <a:endParaRPr lang="en-GB" altLang="en-US" smtClean="0"/>
          </a:p>
          <a:p>
            <a:pPr>
              <a:lnSpc>
                <a:spcPct val="80000"/>
              </a:lnSpc>
              <a:buFontTx/>
              <a:buAutoNum type="arabicPeriod"/>
            </a:pPr>
            <a:r>
              <a:rPr lang="en-GB" altLang="en-US" smtClean="0"/>
              <a:t>Identify a specific difficulty and acquire a baseline.</a:t>
            </a:r>
          </a:p>
          <a:p>
            <a:pPr>
              <a:lnSpc>
                <a:spcPct val="80000"/>
              </a:lnSpc>
            </a:pPr>
            <a:endParaRPr lang="en-GB" altLang="en-US" smtClean="0"/>
          </a:p>
          <a:p>
            <a:pPr>
              <a:lnSpc>
                <a:spcPct val="80000"/>
              </a:lnSpc>
              <a:buFontTx/>
              <a:buAutoNum type="arabicPeriod" startAt="2"/>
            </a:pPr>
            <a:r>
              <a:rPr lang="en-GB" altLang="en-US" smtClean="0"/>
              <a:t>Setting a target.</a:t>
            </a:r>
          </a:p>
          <a:p>
            <a:pPr>
              <a:lnSpc>
                <a:spcPct val="80000"/>
              </a:lnSpc>
            </a:pPr>
            <a:endParaRPr lang="en-GB" altLang="en-US" smtClean="0"/>
          </a:p>
          <a:p>
            <a:pPr>
              <a:lnSpc>
                <a:spcPct val="80000"/>
              </a:lnSpc>
              <a:buFontTx/>
              <a:buAutoNum type="arabicPeriod" startAt="3"/>
            </a:pPr>
            <a:r>
              <a:rPr lang="en-GB" altLang="en-US" smtClean="0"/>
              <a:t>Teaching </a:t>
            </a:r>
          </a:p>
          <a:p>
            <a:pPr>
              <a:lnSpc>
                <a:spcPct val="80000"/>
              </a:lnSpc>
              <a:buFontTx/>
              <a:buAutoNum type="arabicPeriod" startAt="3"/>
            </a:pPr>
            <a:endParaRPr lang="en-GB" altLang="en-US" smtClean="0"/>
          </a:p>
          <a:p>
            <a:pPr>
              <a:lnSpc>
                <a:spcPct val="80000"/>
              </a:lnSpc>
              <a:buFontTx/>
              <a:buAutoNum type="arabicPeriod" startAt="3"/>
            </a:pPr>
            <a:r>
              <a:rPr lang="en-GB" altLang="en-US" smtClean="0"/>
              <a:t>Monitor child’s performance daily. (We’ve used the word PROBE here – we’ll come back to this)</a:t>
            </a:r>
          </a:p>
          <a:p>
            <a:pPr>
              <a:lnSpc>
                <a:spcPct val="80000"/>
              </a:lnSpc>
              <a:buFontTx/>
              <a:buAutoNum type="arabicPeriod" startAt="3"/>
            </a:pPr>
            <a:endParaRPr lang="en-GB" altLang="en-US" smtClean="0"/>
          </a:p>
          <a:p>
            <a:pPr>
              <a:lnSpc>
                <a:spcPct val="80000"/>
              </a:lnSpc>
              <a:buFontTx/>
              <a:buAutoNum type="arabicPeriod" startAt="5"/>
            </a:pPr>
            <a:r>
              <a:rPr lang="en-GB" altLang="en-US" smtClean="0"/>
              <a:t>Charting results and making a note of teaching methods.</a:t>
            </a:r>
          </a:p>
          <a:p>
            <a:pPr>
              <a:lnSpc>
                <a:spcPct val="80000"/>
              </a:lnSpc>
              <a:buFontTx/>
              <a:buAutoNum type="arabicPeriod" startAt="5"/>
            </a:pPr>
            <a:endParaRPr lang="en-GB" altLang="en-US" smtClean="0"/>
          </a:p>
          <a:p>
            <a:pPr>
              <a:lnSpc>
                <a:spcPct val="80000"/>
              </a:lnSpc>
              <a:buFontTx/>
              <a:buAutoNum type="arabicPeriod" startAt="6"/>
            </a:pPr>
            <a:r>
              <a:rPr lang="en-GB" altLang="en-US" smtClean="0"/>
              <a:t>Analysing  data to determine if a change of target or  teaching method is needed.</a:t>
            </a:r>
            <a:endParaRPr lang="en-GB" altLang="en-US" i="1"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altLang="en-US" dirty="0" smtClean="0"/>
              <a:t>The next stage is to look at the placement probes results from the baseline assessment that you have carried out. </a:t>
            </a:r>
          </a:p>
          <a:p>
            <a:pPr>
              <a:buFont typeface="Arial" panose="020B0604020202020204" pitchFamily="34" charset="0"/>
              <a:buChar char="•"/>
            </a:pPr>
            <a:r>
              <a:rPr lang="en-GB" altLang="en-US" dirty="0" smtClean="0"/>
              <a:t>Decide which area needs to be focused on next (sight words or phonic development)</a:t>
            </a:r>
          </a:p>
          <a:p>
            <a:endParaRPr lang="en-GB" dirty="0" smtClean="0"/>
          </a:p>
          <a:p>
            <a:pPr eaLnBrk="1" hangingPunct="1"/>
            <a:r>
              <a:rPr lang="en-GB" altLang="en-US" dirty="0" smtClean="0"/>
              <a:t>Identify from your assessment data where the pupil is on the cusp of achieving the rate of 50 words per minute with no more than 2 errors.  This is your starting point for the next step</a:t>
            </a:r>
          </a:p>
          <a:p>
            <a:pPr eaLnBrk="1" hangingPunct="1"/>
            <a:r>
              <a:rPr lang="en-GB" altLang="en-US" dirty="0" smtClean="0"/>
              <a:t>Use the sublevel probes for the phase that you are working on as each one covers a smaller set of sounds/phonemes.</a:t>
            </a:r>
          </a:p>
          <a:p>
            <a:pPr eaLnBrk="1" hangingPunct="1"/>
            <a:r>
              <a:rPr lang="en-GB" altLang="en-US" dirty="0" smtClean="0"/>
              <a:t>You can also construct your own probe sheets. </a:t>
            </a:r>
          </a:p>
          <a:p>
            <a:endParaRPr lang="en-GB" dirty="0"/>
          </a:p>
        </p:txBody>
      </p:sp>
    </p:spTree>
    <p:extLst>
      <p:ext uri="{BB962C8B-B14F-4D97-AF65-F5344CB8AC3E}">
        <p14:creationId xmlns:p14="http://schemas.microsoft.com/office/powerpoint/2010/main" val="3349367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p:spPr>
        <p:txBody>
          <a:bodyPr/>
          <a:lstStyle/>
          <a:p>
            <a:endParaRPr lang="en-GB" altLang="en-US" dirty="0" smtClean="0"/>
          </a:p>
          <a:p>
            <a:endParaRPr lang="en-GB" altLang="en-US" dirty="0" smtClean="0"/>
          </a:p>
          <a:p>
            <a:pPr eaLnBrk="1" hangingPunct="1">
              <a:lnSpc>
                <a:spcPct val="90000"/>
              </a:lnSpc>
            </a:pPr>
            <a:r>
              <a:rPr lang="en-GB" altLang="en-US" sz="1200" b="1" dirty="0" smtClean="0"/>
              <a:t>SPECIFIC </a:t>
            </a:r>
            <a:r>
              <a:rPr lang="en-GB" altLang="en-US" sz="1200" dirty="0" smtClean="0"/>
              <a:t>-Clear objectives, start with small steps but vary step-size according to data</a:t>
            </a:r>
          </a:p>
          <a:p>
            <a:pPr eaLnBrk="1" hangingPunct="1">
              <a:lnSpc>
                <a:spcPct val="90000"/>
              </a:lnSpc>
            </a:pPr>
            <a:r>
              <a:rPr lang="en-GB" altLang="en-US" sz="1200" b="1" dirty="0" smtClean="0"/>
              <a:t>MEASURABLE – </a:t>
            </a:r>
            <a:r>
              <a:rPr lang="en-GB" altLang="en-US" sz="1200" dirty="0" smtClean="0"/>
              <a:t>set an appropriate aim rate and monitor progress daily by probing and charting results</a:t>
            </a:r>
          </a:p>
          <a:p>
            <a:pPr eaLnBrk="1" hangingPunct="1">
              <a:lnSpc>
                <a:spcPct val="90000"/>
              </a:lnSpc>
            </a:pPr>
            <a:r>
              <a:rPr lang="en-GB" altLang="en-US" sz="1200" b="1" dirty="0" smtClean="0"/>
              <a:t>ACHIEVABLE – </a:t>
            </a:r>
            <a:r>
              <a:rPr lang="en-GB" altLang="en-US" sz="1200" dirty="0" smtClean="0"/>
              <a:t>get the task difficulty right</a:t>
            </a:r>
          </a:p>
          <a:p>
            <a:pPr eaLnBrk="1" hangingPunct="1">
              <a:lnSpc>
                <a:spcPct val="90000"/>
              </a:lnSpc>
            </a:pPr>
            <a:r>
              <a:rPr lang="en-GB" altLang="en-US" sz="1200" b="1" dirty="0" smtClean="0"/>
              <a:t>REALISTIC – </a:t>
            </a:r>
            <a:r>
              <a:rPr lang="en-GB" altLang="en-US" sz="1200" dirty="0" smtClean="0"/>
              <a:t>Is the task appropriate? Check pre-requisite skills</a:t>
            </a:r>
          </a:p>
          <a:p>
            <a:pPr eaLnBrk="1" hangingPunct="1">
              <a:lnSpc>
                <a:spcPct val="90000"/>
              </a:lnSpc>
            </a:pPr>
            <a:r>
              <a:rPr lang="en-GB" altLang="en-US" sz="1200" b="1" dirty="0" smtClean="0"/>
              <a:t>TIME-RELATED – </a:t>
            </a:r>
            <a:r>
              <a:rPr lang="en-GB" altLang="en-US" sz="1200" dirty="0" smtClean="0"/>
              <a:t>Evaluate carefully over an agreed period of time</a:t>
            </a:r>
            <a:endParaRPr lang="en-GB" altLang="en-US" sz="1200" b="1" dirty="0" smtClean="0"/>
          </a:p>
          <a:p>
            <a:pPr eaLnBrk="1" hangingPunct="1">
              <a:lnSpc>
                <a:spcPct val="90000"/>
              </a:lnSpc>
            </a:pPr>
            <a:endParaRPr lang="en-GB" altLang="en-US" sz="1200" b="1"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endParaRPr lang="en-GB"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p:spPr>
        <p:txBody>
          <a:bodyPr/>
          <a:lstStyle/>
          <a:p>
            <a:endParaRPr lang="en-GB" altLang="en-US" smtClean="0"/>
          </a:p>
          <a:p>
            <a:r>
              <a:rPr lang="en-GB" altLang="en-US" smtClean="0"/>
              <a:t>So… In practice…. The target might sound like this….</a:t>
            </a:r>
          </a:p>
          <a:p>
            <a:endParaRPr lang="en-GB" altLang="en-US" smtClean="0"/>
          </a:p>
          <a:p>
            <a:r>
              <a:rPr lang="en-GB" altLang="en-US" smtClean="0"/>
              <a:t>“Scott will read aloud </a:t>
            </a:r>
            <a:r>
              <a:rPr lang="en-GB" altLang="en-US" sz="900" b="1" i="1" smtClean="0">
                <a:solidFill>
                  <a:srgbClr val="FF0000"/>
                </a:solidFill>
              </a:rPr>
              <a:t>(observable verb)</a:t>
            </a:r>
            <a:r>
              <a:rPr lang="en-GB" altLang="en-US" sz="900" smtClean="0"/>
              <a:t> </a:t>
            </a:r>
            <a:r>
              <a:rPr lang="en-GB" altLang="en-US" b="1" smtClean="0"/>
              <a:t>50</a:t>
            </a:r>
            <a:r>
              <a:rPr lang="en-GB" altLang="en-US" smtClean="0"/>
              <a:t> words per minute with no more than </a:t>
            </a:r>
            <a:r>
              <a:rPr lang="en-GB" altLang="en-US" b="1" smtClean="0"/>
              <a:t>2</a:t>
            </a:r>
            <a:r>
              <a:rPr lang="en-GB" altLang="en-US" smtClean="0"/>
              <a:t> errors </a:t>
            </a:r>
            <a:r>
              <a:rPr lang="en-GB" altLang="en-US" sz="900" b="1" i="1" smtClean="0">
                <a:solidFill>
                  <a:schemeClr val="accent1"/>
                </a:solidFill>
              </a:rPr>
              <a:t>(conditions)</a:t>
            </a:r>
            <a:r>
              <a:rPr lang="en-GB" altLang="en-US" sz="900" smtClean="0">
                <a:solidFill>
                  <a:schemeClr val="accent1"/>
                </a:solidFill>
              </a:rPr>
              <a:t> </a:t>
            </a:r>
            <a:r>
              <a:rPr lang="en-GB" altLang="en-US" smtClean="0"/>
              <a:t>on three consecutive days </a:t>
            </a:r>
            <a:r>
              <a:rPr lang="en-GB" altLang="en-US" sz="900" b="1" i="1" smtClean="0">
                <a:solidFill>
                  <a:srgbClr val="0000FF"/>
                </a:solidFill>
              </a:rPr>
              <a:t>(criterion).</a:t>
            </a:r>
            <a:r>
              <a:rPr lang="en-GB" altLang="en-US" smtClean="0"/>
              <a:t>”</a:t>
            </a:r>
          </a:p>
          <a:p>
            <a:endParaRPr lang="en-GB" altLang="en-US" smtClean="0"/>
          </a:p>
          <a:p>
            <a:r>
              <a:rPr lang="en-GB" altLang="en-US" smtClean="0"/>
              <a:t>So within this target we can see….</a:t>
            </a:r>
          </a:p>
          <a:p>
            <a:endParaRPr lang="en-GB" altLang="en-US" smtClean="0"/>
          </a:p>
          <a:p>
            <a:r>
              <a:rPr lang="en-GB" altLang="en-US" smtClean="0"/>
              <a:t>What we want the child to do (read 50 words per minute)</a:t>
            </a:r>
          </a:p>
          <a:p>
            <a:endParaRPr lang="en-GB" altLang="en-US" smtClean="0"/>
          </a:p>
          <a:p>
            <a:r>
              <a:rPr lang="en-GB" altLang="en-US" smtClean="0"/>
              <a:t>Teacher instructions (no more than 2 errors)</a:t>
            </a:r>
          </a:p>
          <a:p>
            <a:endParaRPr lang="en-GB" altLang="en-US" smtClean="0"/>
          </a:p>
          <a:p>
            <a:r>
              <a:rPr lang="en-GB" altLang="en-US" smtClean="0"/>
              <a:t>Success Criteria (3 consecutive days)</a:t>
            </a:r>
          </a:p>
          <a:p>
            <a:endParaRPr lang="en-GB" altLang="en-US" smtClean="0"/>
          </a:p>
          <a:p>
            <a:r>
              <a:rPr lang="en-GB" altLang="en-US" smtClean="0"/>
              <a:t>….. Any questions</a:t>
            </a:r>
          </a:p>
          <a:p>
            <a:endParaRPr lang="en-GB" altLang="en-US" smtClean="0"/>
          </a:p>
          <a:p>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pPr eaLnBrk="1" hangingPunct="1"/>
            <a:r>
              <a:rPr lang="en-GB" altLang="en-US" sz="1200" dirty="0" smtClean="0"/>
              <a:t>Sessions should include around 10 minutes of specific teaching input</a:t>
            </a:r>
          </a:p>
          <a:p>
            <a:pPr eaLnBrk="1" hangingPunct="1"/>
            <a:r>
              <a:rPr lang="en-GB" altLang="en-US" sz="1200" dirty="0" smtClean="0"/>
              <a:t>The teaching input is followed by a 1 minute timed test - known as a probe</a:t>
            </a:r>
          </a:p>
          <a:p>
            <a:endParaRPr lang="en-GB" altLang="en-US" dirty="0" smtClean="0"/>
          </a:p>
          <a:p>
            <a:endParaRPr lang="en-GB" altLang="en-US" dirty="0" smtClean="0"/>
          </a:p>
          <a:p>
            <a:r>
              <a:rPr lang="en-GB" altLang="en-US" dirty="0" smtClean="0"/>
              <a:t>Direct teaching’ is a useful approach to acquire skills such as</a:t>
            </a:r>
          </a:p>
          <a:p>
            <a:endParaRPr lang="en-GB" altLang="en-US" dirty="0" smtClean="0"/>
          </a:p>
          <a:p>
            <a:r>
              <a:rPr lang="en-GB" altLang="en-US" dirty="0" smtClean="0"/>
              <a:t>When ‘teaching’ do choose some words that the child already knows</a:t>
            </a:r>
          </a:p>
          <a:p>
            <a:r>
              <a:rPr lang="en-GB" altLang="en-US" dirty="0" smtClean="0"/>
              <a:t>Note the teaching method on the chart, keep the teaching method the same so you can equate progress to the child, not the method.</a:t>
            </a:r>
          </a:p>
          <a:p>
            <a:endParaRPr lang="en-GB" altLang="en-US" dirty="0" smtClean="0"/>
          </a:p>
          <a:p>
            <a:r>
              <a:rPr lang="en-GB" altLang="en-US" dirty="0" smtClean="0"/>
              <a:t>Number bonds</a:t>
            </a:r>
          </a:p>
          <a:p>
            <a:r>
              <a:rPr lang="en-GB" altLang="en-US" dirty="0" smtClean="0"/>
              <a:t>High frequency words</a:t>
            </a:r>
          </a:p>
          <a:p>
            <a:r>
              <a:rPr lang="en-GB" altLang="en-US" dirty="0" smtClean="0"/>
              <a:t>Phonemes</a:t>
            </a:r>
          </a:p>
          <a:p>
            <a:endParaRPr lang="en-GB" altLang="en-US" dirty="0" smtClean="0"/>
          </a:p>
          <a:p>
            <a:endParaRPr lang="en-GB"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r>
              <a:rPr lang="en-GB" altLang="en-US" smtClean="0"/>
              <a:t>One teaching method that has been used widely, and has been researched widely is direct teaching.</a:t>
            </a:r>
          </a:p>
          <a:p>
            <a:r>
              <a:rPr lang="en-GB" altLang="en-US" smtClean="0"/>
              <a:t>The basic structure is ‘the teacher’ model the word, you say it together, then the child tries on their own. </a:t>
            </a:r>
          </a:p>
          <a:p>
            <a:r>
              <a:rPr lang="en-GB" altLang="en-US" smtClean="0"/>
              <a:t>Doing it this way, allows the child to hear the word before they attempt it and reduces the possibility and anxiety of failing.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r>
              <a:rPr lang="en-GB" altLang="en-US" smtClean="0"/>
              <a:t>Here is another teaching method that could be used, magnetic letters.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r>
              <a:rPr lang="en-GB" altLang="en-US" smtClean="0"/>
              <a:t>Another teaching method is can you find the word within the jumbled words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smtClean="0"/>
          </a:p>
          <a:p>
            <a:r>
              <a:rPr lang="en-GB" altLang="en-US" smtClean="0"/>
              <a:t>So we’ve mentioned the word … Probe a few times… and you’ve been using probes. Are you happy that you understand the concept of the probe?</a:t>
            </a:r>
          </a:p>
          <a:p>
            <a:endParaRPr lang="en-GB" altLang="en-US" smtClean="0"/>
          </a:p>
          <a:p>
            <a:r>
              <a:rPr lang="en-GB" altLang="en-US" smtClean="0"/>
              <a:t>A tool for assessment…</a:t>
            </a:r>
          </a:p>
          <a:p>
            <a:endParaRPr lang="en-GB" altLang="en-US" smtClean="0"/>
          </a:p>
          <a:p>
            <a:r>
              <a:rPr lang="en-GB" altLang="en-US" smtClean="0"/>
              <a:t>We have provided a CD rom with a useful tool for designing probes….</a:t>
            </a:r>
          </a:p>
          <a:p>
            <a:endParaRPr lang="en-GB" altLang="en-US" smtClean="0"/>
          </a:p>
          <a:p>
            <a:r>
              <a:rPr lang="en-GB" altLang="en-US" smtClean="0"/>
              <a:t>GIVE EXAMPLE!! – refer to website…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[Refer to probes sheets already with pairs]</a:t>
            </a:r>
          </a:p>
          <a:p>
            <a:endParaRPr lang="en-GB" altLang="en-US" b="1" dirty="0" smtClean="0">
              <a:latin typeface="Times New Roman" pitchFamily="18" charset="0"/>
            </a:endParaRPr>
          </a:p>
          <a:p>
            <a:r>
              <a:rPr lang="en-GB" altLang="en-US" dirty="0" smtClean="0">
                <a:latin typeface="Times New Roman" pitchFamily="18" charset="0"/>
              </a:rPr>
              <a:t>Explain that these probes require the child to look at the word- See and say the word- therefore probes for </a:t>
            </a:r>
            <a:r>
              <a:rPr lang="en-GB" altLang="en-US" b="1" dirty="0" smtClean="0">
                <a:latin typeface="Times New Roman" pitchFamily="18" charset="0"/>
              </a:rPr>
              <a:t>word reading </a:t>
            </a:r>
            <a:r>
              <a:rPr lang="en-GB" altLang="en-US" dirty="0" smtClean="0">
                <a:latin typeface="Times New Roman" pitchFamily="18" charset="0"/>
              </a:rPr>
              <a:t>are referred to as </a:t>
            </a:r>
            <a:r>
              <a:rPr lang="en-GB" altLang="en-US" b="1" dirty="0" smtClean="0">
                <a:latin typeface="Times New Roman" pitchFamily="18" charset="0"/>
              </a:rPr>
              <a:t>See-to-say </a:t>
            </a:r>
            <a:r>
              <a:rPr lang="en-GB" altLang="en-US" dirty="0" smtClean="0">
                <a:latin typeface="Times New Roman" pitchFamily="18" charset="0"/>
              </a:rPr>
              <a:t>probes. </a:t>
            </a:r>
          </a:p>
          <a:p>
            <a:endParaRPr lang="en-GB" altLang="en-US" dirty="0" smtClean="0">
              <a:latin typeface="Times New Roman" pitchFamily="18" charset="0"/>
            </a:endParaRPr>
          </a:p>
          <a:p>
            <a:r>
              <a:rPr lang="en-GB" altLang="en-US" dirty="0" smtClean="0">
                <a:latin typeface="Times New Roman" pitchFamily="18" charset="0"/>
              </a:rPr>
              <a:t>This is a blank probe but if you were testing words the probe would be filled randomly with the words you had decided to focus on. </a:t>
            </a:r>
          </a:p>
          <a:p>
            <a:endParaRPr lang="en-GB" altLang="en-US" dirty="0"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solidFill>
            <a:srgbClr val="FFFFFF"/>
          </a:solidFill>
          <a:ln/>
        </p:spPr>
      </p:sp>
      <p:sp>
        <p:nvSpPr>
          <p:cNvPr id="5017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2425" indent="-228600" eaLnBrk="1" hangingPunct="1">
              <a:spcBef>
                <a:spcPts val="413"/>
              </a:spcBef>
            </a:pPr>
            <a:r>
              <a:rPr lang="en-US" altLang="en-US" b="1" dirty="0" smtClean="0">
                <a:solidFill>
                  <a:srgbClr val="000000"/>
                </a:solidFill>
                <a:latin typeface="Arial" charset="0"/>
                <a:cs typeface="Arial" charset="0"/>
                <a:sym typeface="Arial" charset="0"/>
              </a:rPr>
              <a:t>Sharon</a:t>
            </a:r>
          </a:p>
          <a:p>
            <a:pPr marL="352425" indent="-228600" eaLnBrk="1" hangingPunct="1">
              <a:spcBef>
                <a:spcPts val="413"/>
              </a:spcBef>
            </a:pPr>
            <a:endParaRPr lang="en-US" altLang="en-US" b="1" dirty="0" smtClean="0">
              <a:solidFill>
                <a:srgbClr val="000000"/>
              </a:solidFill>
              <a:latin typeface="Arial" charset="0"/>
              <a:cs typeface="Arial" charset="0"/>
              <a:sym typeface="Arial" charset="0"/>
            </a:endParaRPr>
          </a:p>
          <a:p>
            <a:pPr marL="352425" indent="-228600" eaLnBrk="1" hangingPunct="1">
              <a:spcBef>
                <a:spcPts val="413"/>
              </a:spcBef>
            </a:pPr>
            <a:r>
              <a:rPr lang="en-US" altLang="en-US" b="1" dirty="0" smtClean="0">
                <a:solidFill>
                  <a:srgbClr val="000000"/>
                </a:solidFill>
                <a:latin typeface="Arial" charset="0"/>
                <a:cs typeface="Arial" charset="0"/>
                <a:sym typeface="Arial" charset="0"/>
              </a:rPr>
              <a:t>[1 minute]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Char char="•"/>
            </a:pPr>
            <a:r>
              <a:rPr lang="en-US" altLang="en-US" b="1" dirty="0" smtClean="0">
                <a:solidFill>
                  <a:srgbClr val="000000"/>
                </a:solidFill>
                <a:latin typeface="Arial" charset="0"/>
                <a:cs typeface="Arial" charset="0"/>
                <a:sym typeface="Arial" charset="0"/>
              </a:rPr>
              <a:t>Explain that in order to keep things simple for our condensed training, we’ll be focusing on ‘see to say’ probes – relate back to Learning Hierarchy – want to develop confidence in see-to-say before adapting technique to other types of probe</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Talk about setting aim rates</a:t>
            </a: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r>
              <a:rPr lang="en-US" altLang="en-US" dirty="0" smtClean="0">
                <a:solidFill>
                  <a:srgbClr val="000000"/>
                </a:solidFill>
                <a:latin typeface="Arial" charset="0"/>
                <a:cs typeface="Arial" charset="0"/>
                <a:sym typeface="Arial" charset="0"/>
              </a:rPr>
              <a:t>See to say  50 </a:t>
            </a:r>
            <a:r>
              <a:rPr lang="en-US" altLang="en-US" dirty="0" err="1" smtClean="0">
                <a:solidFill>
                  <a:srgbClr val="000000"/>
                </a:solidFill>
                <a:latin typeface="Arial" charset="0"/>
                <a:cs typeface="Arial" charset="0"/>
                <a:sym typeface="Arial" charset="0"/>
              </a:rPr>
              <a:t>cpm</a:t>
            </a:r>
            <a:r>
              <a:rPr lang="en-US" altLang="en-US" dirty="0" smtClean="0">
                <a:solidFill>
                  <a:srgbClr val="000000"/>
                </a:solidFill>
                <a:latin typeface="Arial" charset="0"/>
                <a:cs typeface="Arial" charset="0"/>
                <a:sym typeface="Arial" charset="0"/>
              </a:rPr>
              <a:t> ( for Junior children) </a:t>
            </a:r>
            <a:r>
              <a:rPr lang="en-US" altLang="en-US" b="1" dirty="0" smtClean="0">
                <a:solidFill>
                  <a:srgbClr val="000000"/>
                </a:solidFill>
                <a:latin typeface="Arial" charset="0"/>
                <a:cs typeface="Arial" charset="0"/>
                <a:sym typeface="Arial" charset="0"/>
              </a:rPr>
              <a:t>Note this is for </a:t>
            </a:r>
            <a:r>
              <a:rPr lang="en-US" altLang="en-US" b="1" u="sng" dirty="0" smtClean="0">
                <a:solidFill>
                  <a:srgbClr val="000000"/>
                </a:solidFill>
                <a:latin typeface="Arial" charset="0"/>
                <a:cs typeface="Arial" charset="0"/>
                <a:sym typeface="Arial" charset="0"/>
              </a:rPr>
              <a:t>reading: letter, number, sight word recognition</a:t>
            </a:r>
            <a:r>
              <a:rPr lang="en-US" altLang="en-US" dirty="0" smtClean="0">
                <a:solidFill>
                  <a:srgbClr val="000000"/>
                </a:solidFill>
                <a:latin typeface="Arial" charset="0"/>
                <a:cs typeface="Arial" charset="0"/>
                <a:sym typeface="Arial" charset="0"/>
              </a:rPr>
              <a:t> If working with number bonds for example the aim rate would need to be adjusted (demands more than just reading) – easiest way is to try probe on a child whose achieved an acceptable level of competence in that area – this will give you an idea of appropriate aim rate</a:t>
            </a: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r>
              <a:rPr lang="en-US" altLang="en-US" u="none" dirty="0" smtClean="0">
                <a:solidFill>
                  <a:srgbClr val="000000"/>
                </a:solidFill>
                <a:latin typeface="Arial" charset="0"/>
                <a:cs typeface="Arial" charset="0"/>
                <a:sym typeface="Arial" charset="0"/>
              </a:rPr>
              <a:t>Explain that aim rates are set for accuracy as well as fluency –  no</a:t>
            </a:r>
            <a:r>
              <a:rPr lang="en-US" altLang="en-US" u="none" baseline="0" dirty="0" smtClean="0">
                <a:solidFill>
                  <a:srgbClr val="000000"/>
                </a:solidFill>
                <a:latin typeface="Arial" charset="0"/>
                <a:cs typeface="Arial" charset="0"/>
                <a:sym typeface="Arial" charset="0"/>
              </a:rPr>
              <a:t> more than 3 errors – i.e. 3 errors or less</a:t>
            </a:r>
            <a:endParaRPr lang="en-US" altLang="en-US" u="none"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u="sng"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pPr>
            <a:endParaRPr lang="en-US" altLang="en-US" dirty="0" smtClean="0">
              <a:solidFill>
                <a:srgbClr val="000000"/>
              </a:solidFill>
              <a:latin typeface="Arial" charset="0"/>
              <a:cs typeface="Arial" charset="0"/>
              <a:sym typeface="Arial" charset="0"/>
            </a:endParaRPr>
          </a:p>
          <a:p>
            <a:pPr marL="352425" indent="-228600" eaLnBrk="1" hangingPunct="1">
              <a:spcBef>
                <a:spcPts val="413"/>
              </a:spcBef>
              <a:buFontTx/>
              <a:buAutoNum type="arabicPeriod"/>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5</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marL="171450" indent="-171450">
              <a:buFont typeface="Arial" pitchFamily="34" charset="0"/>
              <a:buChar char="•"/>
            </a:pPr>
            <a:r>
              <a:rPr lang="en-GB" altLang="en-US" b="0" dirty="0" smtClean="0">
                <a:latin typeface="Times New Roman" pitchFamily="18" charset="0"/>
              </a:rPr>
              <a:t>Demonstrate how to make probes </a:t>
            </a:r>
            <a:r>
              <a:rPr lang="en-GB" altLang="en-US" b="0" baseline="0" dirty="0" smtClean="0">
                <a:latin typeface="Times New Roman" pitchFamily="18" charset="0"/>
              </a:rPr>
              <a:t>using the First 100 High Frequency Words </a:t>
            </a:r>
          </a:p>
          <a:p>
            <a:pPr marL="171450" indent="-171450">
              <a:buFont typeface="Arial" pitchFamily="34" charset="0"/>
              <a:buChar char="•"/>
            </a:pPr>
            <a:endParaRPr lang="en-GB" altLang="en-US" b="0" baseline="0" dirty="0" smtClean="0">
              <a:latin typeface="Times New Roman" pitchFamily="18" charset="0"/>
            </a:endParaRPr>
          </a:p>
          <a:p>
            <a:pPr marL="171450" indent="-171450">
              <a:buFont typeface="Arial" pitchFamily="34" charset="0"/>
              <a:buChar char="•"/>
            </a:pPr>
            <a:r>
              <a:rPr lang="en-GB" altLang="en-US" b="0" baseline="0" dirty="0" smtClean="0">
                <a:latin typeface="Times New Roman" pitchFamily="18" charset="0"/>
              </a:rPr>
              <a:t>Explain how to use an assessment probe to determine which words are secure, and which need to be worked on</a:t>
            </a:r>
          </a:p>
          <a:p>
            <a:pPr>
              <a:buFont typeface="Arial" pitchFamily="34" charset="0"/>
              <a:buChar char="•"/>
            </a:pPr>
            <a:endParaRPr lang="en-GB" altLang="en-US" b="0" baseline="0" dirty="0" smtClean="0">
              <a:latin typeface="Times New Roman" pitchFamily="18" charset="0"/>
            </a:endParaRPr>
          </a:p>
          <a:p>
            <a:pPr>
              <a:buFont typeface="Arial" pitchFamily="34" charset="0"/>
              <a:buNone/>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dirty="0"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endParaRPr lang="en-GB" altLang="en-US" dirty="0" smtClean="0"/>
          </a:p>
          <a:p>
            <a:r>
              <a:rPr lang="en-GB" altLang="en-US" dirty="0" smtClean="0"/>
              <a:t>Step 5. A useful way to monitor performance is to chart the results.</a:t>
            </a:r>
          </a:p>
          <a:p>
            <a:endParaRPr lang="en-GB" altLang="en-US" dirty="0" smtClean="0"/>
          </a:p>
          <a:p>
            <a:r>
              <a:rPr lang="en-GB" altLang="en-US" dirty="0" smtClean="0"/>
              <a:t>Charting the results enables;</a:t>
            </a:r>
          </a:p>
          <a:p>
            <a:endParaRPr lang="en-GB" altLang="en-US" dirty="0" smtClean="0"/>
          </a:p>
          <a:p>
            <a:r>
              <a:rPr lang="en-GB" altLang="en-US" dirty="0" smtClean="0"/>
              <a:t>Quick and easy recording.</a:t>
            </a:r>
          </a:p>
          <a:p>
            <a:r>
              <a:rPr lang="en-GB" altLang="en-US" dirty="0" smtClean="0"/>
              <a:t>The children can see how well they are progressing.</a:t>
            </a:r>
          </a:p>
          <a:p>
            <a:r>
              <a:rPr lang="en-GB" altLang="en-US" dirty="0" smtClean="0"/>
              <a:t>The teachers can see how effective their teaching has been.</a:t>
            </a:r>
          </a:p>
          <a:p>
            <a:endParaRPr lang="en-GB" alt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rrowheads="1" noTextEdit="1"/>
          </p:cNvSpPr>
          <p:nvPr>
            <p:ph type="sldImg"/>
          </p:nvPr>
        </p:nvSpPr>
        <p:spPr>
          <a:ln/>
        </p:spPr>
      </p:sp>
      <p:sp>
        <p:nvSpPr>
          <p:cNvPr id="56323" name="Rectangle 3"/>
          <p:cNvSpPr>
            <a:spLocks noGrp="1" noChangeArrowheads="1"/>
          </p:cNvSpPr>
          <p:nvPr>
            <p:ph type="body" idx="1"/>
          </p:nvPr>
        </p:nvSpPr>
        <p:spPr>
          <a:noFill/>
        </p:spPr>
        <p:txBody>
          <a:bodyPr/>
          <a:lstStyle/>
          <a:p>
            <a:pPr>
              <a:lnSpc>
                <a:spcPct val="80000"/>
              </a:lnSpc>
            </a:pPr>
            <a:r>
              <a:rPr lang="en-GB" altLang="en-US" sz="1000" smtClean="0"/>
              <a:t>So in your pack there should be a blank chart.</a:t>
            </a:r>
          </a:p>
          <a:p>
            <a:pPr>
              <a:lnSpc>
                <a:spcPct val="80000"/>
              </a:lnSpc>
            </a:pPr>
            <a:endParaRPr lang="en-GB" altLang="en-US" sz="1000" smtClean="0"/>
          </a:p>
          <a:p>
            <a:pPr>
              <a:lnSpc>
                <a:spcPct val="80000"/>
              </a:lnSpc>
            </a:pPr>
            <a:r>
              <a:rPr lang="en-GB" altLang="en-US" sz="1000" smtClean="0"/>
              <a:t>So… as you can see the lines at the bottom are further apart than the lines in the middle.</a:t>
            </a:r>
          </a:p>
          <a:p>
            <a:pPr>
              <a:lnSpc>
                <a:spcPct val="80000"/>
              </a:lnSpc>
            </a:pPr>
            <a:endParaRPr lang="en-GB" altLang="en-US" sz="1000" smtClean="0"/>
          </a:p>
          <a:p>
            <a:pPr>
              <a:lnSpc>
                <a:spcPct val="80000"/>
              </a:lnSpc>
            </a:pPr>
            <a:r>
              <a:rPr lang="en-GB" altLang="en-US" sz="1000" smtClean="0"/>
              <a:t>This is because the proportion of progress is larger from 1 to 10 than from 10 to 20. </a:t>
            </a:r>
          </a:p>
          <a:p>
            <a:pPr>
              <a:lnSpc>
                <a:spcPct val="80000"/>
              </a:lnSpc>
            </a:pPr>
            <a:endParaRPr lang="en-GB" altLang="en-US" sz="1000" smtClean="0"/>
          </a:p>
          <a:p>
            <a:pPr>
              <a:lnSpc>
                <a:spcPct val="80000"/>
              </a:lnSpc>
            </a:pPr>
            <a:r>
              <a:rPr lang="en-GB" altLang="en-US" sz="1000" smtClean="0"/>
              <a:t>So… there is a greater percentage of progress from learning 1 to 2 words than from learning 8 to 10 words.</a:t>
            </a:r>
          </a:p>
          <a:p>
            <a:pPr>
              <a:lnSpc>
                <a:spcPct val="80000"/>
              </a:lnSpc>
            </a:pPr>
            <a:endParaRPr lang="en-GB" altLang="en-US" sz="1000" smtClean="0"/>
          </a:p>
          <a:p>
            <a:pPr>
              <a:lnSpc>
                <a:spcPct val="80000"/>
              </a:lnSpc>
            </a:pPr>
            <a:r>
              <a:rPr lang="en-GB" altLang="en-US" sz="1000" smtClean="0"/>
              <a:t>Explain the chart – You would fill in the date along the bottom. </a:t>
            </a:r>
          </a:p>
          <a:p>
            <a:pPr>
              <a:lnSpc>
                <a:spcPct val="80000"/>
              </a:lnSpc>
            </a:pPr>
            <a:r>
              <a:rPr lang="en-GB" altLang="en-US" sz="1000" smtClean="0"/>
              <a:t>                         -  A dot    = Correct</a:t>
            </a:r>
          </a:p>
          <a:p>
            <a:pPr>
              <a:lnSpc>
                <a:spcPct val="80000"/>
              </a:lnSpc>
            </a:pPr>
            <a:r>
              <a:rPr lang="en-GB" altLang="en-US" sz="1000" smtClean="0"/>
              <a:t>                         -  A cross = Errors</a:t>
            </a:r>
          </a:p>
          <a:p>
            <a:pPr>
              <a:lnSpc>
                <a:spcPct val="80000"/>
              </a:lnSpc>
            </a:pPr>
            <a:endParaRPr lang="en-GB" altLang="en-US" sz="1000" smtClean="0"/>
          </a:p>
          <a:p>
            <a:pPr>
              <a:lnSpc>
                <a:spcPct val="80000"/>
              </a:lnSpc>
            </a:pPr>
            <a:r>
              <a:rPr lang="en-GB" altLang="en-US" sz="1000" smtClean="0"/>
              <a:t>The scale runs along the left hand side. ( So in your case number of signs, but it could be numbers of words, number bonds…etc)</a:t>
            </a:r>
          </a:p>
          <a:p>
            <a:pPr>
              <a:lnSpc>
                <a:spcPct val="80000"/>
              </a:lnSpc>
            </a:pPr>
            <a:endParaRPr lang="en-GB" altLang="en-US" sz="1000" smtClean="0"/>
          </a:p>
          <a:p>
            <a:pPr>
              <a:lnSpc>
                <a:spcPct val="80000"/>
              </a:lnSpc>
            </a:pPr>
            <a:r>
              <a:rPr lang="en-GB" altLang="en-US" sz="1000" smtClean="0"/>
              <a:t>As its stands its not child friendly – be creative – feel free to add stickers, cut it up and mount it on the wall in the classroom. I’m sure you’ll have plenty of ideas.</a:t>
            </a:r>
          </a:p>
          <a:p>
            <a:pPr>
              <a:lnSpc>
                <a:spcPct val="80000"/>
              </a:lnSpc>
            </a:pPr>
            <a:r>
              <a:rPr lang="en-GB" altLang="en-US" sz="1000" smtClean="0"/>
              <a:t>The child being able to see their results clearly and see what progress they have made should be used as a way of motivating the child. The child should be given praise and encouraged to increase their number of successes the following session.</a:t>
            </a:r>
          </a:p>
          <a:p>
            <a:pPr>
              <a:lnSpc>
                <a:spcPct val="80000"/>
              </a:lnSpc>
            </a:pPr>
            <a:endParaRPr lang="en-GB" altLang="en-US" sz="1000" smtClean="0"/>
          </a:p>
          <a:p>
            <a:pPr>
              <a:lnSpc>
                <a:spcPct val="80000"/>
              </a:lnSpc>
            </a:pPr>
            <a:r>
              <a:rPr lang="en-GB" altLang="en-US" sz="1000" smtClean="0"/>
              <a:t>Aim is for a crocodile mouth or increases in correct responses and decreases in errors </a:t>
            </a:r>
          </a:p>
          <a:p>
            <a:pPr>
              <a:lnSpc>
                <a:spcPct val="80000"/>
              </a:lnSpc>
            </a:pPr>
            <a:endParaRPr lang="en-GB" altLang="en-US" sz="1000" smtClean="0"/>
          </a:p>
          <a:p>
            <a:pPr>
              <a:lnSpc>
                <a:spcPct val="80000"/>
              </a:lnSpc>
            </a:pPr>
            <a:r>
              <a:rPr lang="en-GB" altLang="en-US" sz="1000" smtClean="0"/>
              <a:t>Remember qualitative info here is useful to see where the difficulties lie. </a:t>
            </a:r>
          </a:p>
          <a:p>
            <a:pPr>
              <a:lnSpc>
                <a:spcPct val="80000"/>
              </a:lnSpc>
            </a:pPr>
            <a:endParaRPr lang="en-GB" altLang="en-US" sz="100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r>
              <a:rPr lang="en-GB" altLang="en-US" smtClean="0"/>
              <a:t>Run through the chart, pointing and using examples.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 </a:t>
            </a:r>
            <a:r>
              <a:rPr lang="en-GB" altLang="en-US" b="1" dirty="0" smtClean="0">
                <a:latin typeface="Times New Roman" pitchFamily="18" charset="0"/>
              </a:rPr>
              <a:t>mins</a:t>
            </a:r>
            <a:endParaRPr lang="en-GB" altLang="en-US" dirty="0" smtClean="0">
              <a:latin typeface="Times New Roman" pitchFamily="18" charset="0"/>
            </a:endParaRPr>
          </a:p>
          <a:p>
            <a:pPr eaLnBrk="1" hangingPunct="1"/>
            <a:endParaRPr lang="en-US" altLang="en-US" sz="1000" dirty="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en-GB" altLang="en-US" smtClean="0"/>
          </a:p>
          <a:p>
            <a:r>
              <a:rPr lang="en-GB" altLang="en-US" smtClean="0"/>
              <a:t>These are some fairly important rules. </a:t>
            </a:r>
          </a:p>
          <a:p>
            <a:r>
              <a:rPr lang="en-GB" altLang="en-US" smtClean="0"/>
              <a:t>If the target has been reached for 3 consecutive days, then change the words and set a new target.</a:t>
            </a:r>
          </a:p>
          <a:p>
            <a:r>
              <a:rPr lang="en-GB" altLang="en-US" smtClean="0"/>
              <a:t>After 3 days of a new target, check that the child is making some progress, if there has been no progress at all, consider reducing the task.</a:t>
            </a:r>
          </a:p>
          <a:p>
            <a:r>
              <a:rPr lang="en-GB" altLang="en-US" smtClean="0"/>
              <a:t>The child should be near to or have already achieved their target by the 8</a:t>
            </a:r>
            <a:r>
              <a:rPr lang="en-GB" altLang="en-US" baseline="30000" smtClean="0"/>
              <a:t>th</a:t>
            </a:r>
            <a:r>
              <a:rPr lang="en-GB" altLang="en-US" smtClean="0"/>
              <a:t> day, this ensures the child does not get stuck on the same words forever and so that they themselves can see progress made quite quickly. If the child is nowhere near their target on the 8</a:t>
            </a:r>
            <a:r>
              <a:rPr lang="en-GB" altLang="en-US" baseline="30000" smtClean="0"/>
              <a:t>th</a:t>
            </a:r>
            <a:r>
              <a:rPr lang="en-GB" altLang="en-US" smtClean="0"/>
              <a:t> day, consider a change.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rrowheads="1" noTextEdit="1"/>
          </p:cNvSpPr>
          <p:nvPr>
            <p:ph type="sldImg"/>
          </p:nvPr>
        </p:nvSpPr>
        <p:spPr>
          <a:ln/>
        </p:spPr>
      </p:sp>
      <p:sp>
        <p:nvSpPr>
          <p:cNvPr id="60419" name="Rectangle 3"/>
          <p:cNvSpPr>
            <a:spLocks noGrp="1" noChangeArrowheads="1"/>
          </p:cNvSpPr>
          <p:nvPr>
            <p:ph type="body" idx="1"/>
          </p:nvPr>
        </p:nvSpPr>
        <p:spPr>
          <a:noFill/>
        </p:spPr>
        <p:txBody>
          <a:bodyPr/>
          <a:lstStyle/>
          <a:p>
            <a:r>
              <a:rPr lang="en-GB" altLang="en-US" dirty="0" smtClean="0"/>
              <a:t>If no progress is seen or not seen quickly enough then reset the target e.g. learn 2 words instead of 3. (interleaved words)</a:t>
            </a:r>
          </a:p>
          <a:p>
            <a:endParaRPr lang="en-GB" altLang="en-US" dirty="0" smtClean="0"/>
          </a:p>
          <a:p>
            <a:r>
              <a:rPr lang="en-GB" altLang="en-US" dirty="0" smtClean="0"/>
              <a:t>Here are a few examples of what the chart could look like. </a:t>
            </a:r>
          </a:p>
          <a:p>
            <a:r>
              <a:rPr lang="en-GB" altLang="en-US" dirty="0" smtClean="0"/>
              <a:t>We have some examples for you to try and decipher in a minute too</a:t>
            </a:r>
          </a:p>
          <a:p>
            <a:endParaRPr lang="en-GB" altLang="en-US" dirty="0" smtClean="0"/>
          </a:p>
          <a:p>
            <a:r>
              <a:rPr lang="en-GB" altLang="en-US" dirty="0" smtClean="0"/>
              <a:t>Errors are recorded by a ‘x’</a:t>
            </a:r>
          </a:p>
          <a:p>
            <a:r>
              <a:rPr lang="en-GB" altLang="en-US" dirty="0" smtClean="0"/>
              <a:t>Correct responses recorded by a ‘o’</a:t>
            </a:r>
          </a:p>
          <a:p>
            <a:endParaRPr lang="en-GB" altLang="en-US" dirty="0" smtClean="0"/>
          </a:p>
          <a:p>
            <a:r>
              <a:rPr lang="en-GB" altLang="en-US" dirty="0" smtClean="0"/>
              <a:t>Return – to a previously known skill – a pre-requisite. </a:t>
            </a:r>
          </a:p>
          <a:p>
            <a:endParaRPr lang="en-GB" altLang="en-US" dirty="0" smtClean="0"/>
          </a:p>
          <a:p>
            <a:r>
              <a:rPr lang="en-GB" altLang="en-US" dirty="0" smtClean="0"/>
              <a:t>Slice – Reduce the demands of the task, number of items to be learned/ simplify the task e.g. not all the CVC words, just CVC with the same medial vowel. </a:t>
            </a:r>
          </a:p>
          <a:p>
            <a:endParaRPr lang="en-GB" altLang="en-US" dirty="0" smtClean="0"/>
          </a:p>
          <a:p>
            <a:r>
              <a:rPr lang="en-GB" altLang="en-US" dirty="0" smtClean="0"/>
              <a:t>SHOW GOOD EXAMPLE CHART and TALK ABOUT IT.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endParaRPr lang="en-GB" altLang="en-US" smtClean="0"/>
          </a:p>
          <a:p>
            <a:r>
              <a:rPr lang="en-GB" altLang="en-US" smtClean="0"/>
              <a:t>After a child has succeeded and achieved their target, </a:t>
            </a:r>
            <a:r>
              <a:rPr lang="en-GB" altLang="en-US" b="1" smtClean="0"/>
              <a:t>keep the probe word sheet</a:t>
            </a:r>
            <a:r>
              <a:rPr lang="en-GB" altLang="en-US" smtClean="0"/>
              <a:t>, maybe a month later bring out the probe sheet randomly and ask the child to read the words, without prior teaching, make a note on a separate record chart/ sheet. </a:t>
            </a:r>
          </a:p>
          <a:p>
            <a:r>
              <a:rPr lang="en-GB" altLang="en-US" smtClean="0"/>
              <a:t>This way you can see if the child has retained the words that you taught them.</a:t>
            </a:r>
          </a:p>
          <a:p>
            <a:endParaRPr lang="en-GB" altLang="en-US" smtClean="0"/>
          </a:p>
          <a:p>
            <a:r>
              <a:rPr lang="en-GB" altLang="en-US" smtClean="0"/>
              <a:t>Generalisation: </a:t>
            </a:r>
          </a:p>
          <a:p>
            <a:r>
              <a:rPr lang="en-GB" altLang="en-US" smtClean="0"/>
              <a:t>benefits of PM- teaching method is the schools choice</a:t>
            </a:r>
          </a:p>
          <a:p>
            <a:r>
              <a:rPr lang="en-GB" altLang="en-US" smtClean="0"/>
              <a:t>Need good communication between teacher and TA to support generalisation e.g. using words/ skills in a different subject or classroom environment</a:t>
            </a:r>
          </a:p>
          <a:p>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endParaRPr lang="en-GB" altLang="en-US" dirty="0" smtClean="0"/>
          </a:p>
          <a:p>
            <a:r>
              <a:rPr lang="en-GB" altLang="en-US" dirty="0" smtClean="0"/>
              <a:t>So to recap:</a:t>
            </a:r>
          </a:p>
          <a:p>
            <a:endParaRPr lang="en-GB" altLang="en-US" dirty="0" smtClean="0"/>
          </a:p>
          <a:p>
            <a:pPr>
              <a:lnSpc>
                <a:spcPct val="80000"/>
              </a:lnSpc>
              <a:buFontTx/>
              <a:buAutoNum type="arabicPeriod"/>
            </a:pPr>
            <a:r>
              <a:rPr lang="en-GB" altLang="en-US" dirty="0" smtClean="0"/>
              <a:t>Identify a specific difficulty and acquire a baseline – needs to be quantifiable. This is where you are working from and where you compare back to.</a:t>
            </a:r>
          </a:p>
          <a:p>
            <a:pPr>
              <a:lnSpc>
                <a:spcPct val="80000"/>
              </a:lnSpc>
            </a:pPr>
            <a:endParaRPr lang="en-GB" altLang="en-US" dirty="0" smtClean="0"/>
          </a:p>
          <a:p>
            <a:pPr>
              <a:lnSpc>
                <a:spcPct val="80000"/>
              </a:lnSpc>
              <a:buFontTx/>
              <a:buAutoNum type="arabicPeriod" startAt="2"/>
            </a:pPr>
            <a:r>
              <a:rPr lang="en-GB" altLang="en-US" dirty="0" smtClean="0"/>
              <a:t>Setting a target.</a:t>
            </a:r>
          </a:p>
          <a:p>
            <a:pPr>
              <a:lnSpc>
                <a:spcPct val="80000"/>
              </a:lnSpc>
            </a:pPr>
            <a:endParaRPr lang="en-GB" altLang="en-US" dirty="0" smtClean="0"/>
          </a:p>
          <a:p>
            <a:pPr>
              <a:lnSpc>
                <a:spcPct val="80000"/>
              </a:lnSpc>
              <a:buFontTx/>
              <a:buAutoNum type="arabicPeriod" startAt="3"/>
            </a:pPr>
            <a:r>
              <a:rPr lang="en-GB" altLang="en-US" dirty="0" smtClean="0"/>
              <a:t>Teaching – appropriate to individual needs and learning styles/ preferences.</a:t>
            </a:r>
          </a:p>
          <a:p>
            <a:pPr>
              <a:lnSpc>
                <a:spcPct val="80000"/>
              </a:lnSpc>
              <a:buFontTx/>
              <a:buAutoNum type="arabicPeriod" startAt="3"/>
            </a:pPr>
            <a:endParaRPr lang="en-GB" altLang="en-US" dirty="0" smtClean="0"/>
          </a:p>
          <a:p>
            <a:pPr>
              <a:lnSpc>
                <a:spcPct val="80000"/>
              </a:lnSpc>
              <a:buFontTx/>
              <a:buAutoNum type="arabicPeriod" startAt="3"/>
            </a:pPr>
            <a:r>
              <a:rPr lang="en-GB" altLang="en-US" dirty="0" smtClean="0"/>
              <a:t>Monitor child’s performance daily.</a:t>
            </a:r>
          </a:p>
          <a:p>
            <a:pPr>
              <a:lnSpc>
                <a:spcPct val="80000"/>
              </a:lnSpc>
              <a:buFontTx/>
              <a:buAutoNum type="arabicPeriod" startAt="3"/>
            </a:pPr>
            <a:endParaRPr lang="en-GB" altLang="en-US" dirty="0" smtClean="0"/>
          </a:p>
          <a:p>
            <a:pPr>
              <a:lnSpc>
                <a:spcPct val="80000"/>
              </a:lnSpc>
              <a:buFontTx/>
              <a:buAutoNum type="arabicPeriod" startAt="5"/>
            </a:pPr>
            <a:r>
              <a:rPr lang="en-GB" altLang="en-US" dirty="0" smtClean="0"/>
              <a:t>Charting results and making a note of teaching methods (qualitative data) (noting teaching method may let you see what has worked and what hasn’t)</a:t>
            </a:r>
          </a:p>
          <a:p>
            <a:pPr>
              <a:lnSpc>
                <a:spcPct val="80000"/>
              </a:lnSpc>
              <a:buFontTx/>
              <a:buAutoNum type="arabicPeriod" startAt="5"/>
            </a:pPr>
            <a:endParaRPr lang="en-GB" altLang="en-US" dirty="0" smtClean="0"/>
          </a:p>
          <a:p>
            <a:pPr>
              <a:lnSpc>
                <a:spcPct val="80000"/>
              </a:lnSpc>
              <a:buFontTx/>
              <a:buAutoNum type="arabicPeriod" startAt="6"/>
            </a:pPr>
            <a:r>
              <a:rPr lang="en-GB" altLang="en-US" dirty="0" smtClean="0"/>
              <a:t>Analysing  data to determine if a change of target or  teaching method is needed.</a:t>
            </a:r>
            <a:endParaRPr lang="en-GB" altLang="en-US" i="1"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15/01/2018</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15/01/2018</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15/01/2018</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15/01/2018</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FA38320F-5195-4F69-9875-D65899583AE3}" type="slidenum">
              <a:rPr lang="en-GB" altLang="en-US"/>
              <a:pPr>
                <a:defRPr/>
              </a:pPr>
              <a:t>‹#›</a:t>
            </a:fld>
            <a:endParaRPr lang="en-GB" altLang="en-US"/>
          </a:p>
        </p:txBody>
      </p:sp>
    </p:spTree>
    <p:extLst>
      <p:ext uri="{BB962C8B-B14F-4D97-AF65-F5344CB8AC3E}">
        <p14:creationId xmlns:p14="http://schemas.microsoft.com/office/powerpoint/2010/main" val="506068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15/01/2018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15/01/2018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15/01/2018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15/01/2018</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15/01/2018</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15/01/2018</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15/01/2018</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15/01/2018</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15/01/2018</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15/01/2018</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15/01/2018</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15/01/2018</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15/01/2018</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29"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15/01/2018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15/01/2018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15/01/2018</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3" y="4510088"/>
            <a:ext cx="2446337"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T I O N A L   P S Y C H O L O G Y   S E R V I C E</a:t>
            </a:r>
          </a:p>
        </p:txBody>
      </p:sp>
      <p:sp>
        <p:nvSpPr>
          <p:cNvPr id="3077" name="Text Box 8"/>
          <p:cNvSpPr txBox="1">
            <a:spLocks noChangeArrowheads="1"/>
          </p:cNvSpPr>
          <p:nvPr/>
        </p:nvSpPr>
        <p:spPr bwMode="auto">
          <a:xfrm>
            <a:off x="636588" y="692150"/>
            <a:ext cx="7705725" cy="3539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4000" b="1" dirty="0">
                <a:ea typeface="ＭＳ Ｐゴシック" pitchFamily="110" charset="-128"/>
              </a:rPr>
              <a:t>Precision Teaching with ‘Letters and Sounds’</a:t>
            </a:r>
          </a:p>
          <a:p>
            <a:pPr algn="ctr">
              <a:spcBef>
                <a:spcPct val="50000"/>
              </a:spcBef>
              <a:buClrTx/>
              <a:buSzTx/>
              <a:buFontTx/>
              <a:buNone/>
            </a:pPr>
            <a:r>
              <a:rPr lang="en-US" altLang="en-US" sz="3200" b="1" dirty="0">
                <a:ea typeface="ＭＳ Ｐゴシック" pitchFamily="110" charset="-128"/>
              </a:rPr>
              <a:t>Session 2</a:t>
            </a:r>
          </a:p>
          <a:p>
            <a:pPr algn="ctr">
              <a:spcBef>
                <a:spcPct val="50000"/>
              </a:spcBef>
              <a:buClrTx/>
              <a:buSzTx/>
              <a:buFontTx/>
              <a:buNone/>
            </a:pPr>
            <a:r>
              <a:rPr lang="en-US" altLang="en-US" sz="3200" dirty="0" smtClean="0">
                <a:ea typeface="ＭＳ Ｐゴシック" pitchFamily="110" charset="-128"/>
              </a:rPr>
              <a:t>Homer First School </a:t>
            </a:r>
            <a:endParaRPr lang="en-US" altLang="en-US" sz="3200" dirty="0">
              <a:ea typeface="ＭＳ Ｐゴシック" pitchFamily="110" charset="-128"/>
            </a:endParaRPr>
          </a:p>
          <a:p>
            <a:pPr algn="ctr">
              <a:spcBef>
                <a:spcPct val="50000"/>
              </a:spcBef>
              <a:buClrTx/>
              <a:buSzTx/>
              <a:buFontTx/>
              <a:buNone/>
            </a:pPr>
            <a:r>
              <a:rPr lang="en-US" altLang="en-US" sz="3200" dirty="0">
                <a:ea typeface="ＭＳ Ｐゴシック" pitchFamily="110" charset="-128"/>
              </a:rPr>
              <a:t>Scott </a:t>
            </a:r>
            <a:r>
              <a:rPr lang="en-US" altLang="en-US" sz="3200" dirty="0" smtClean="0">
                <a:ea typeface="ＭＳ Ｐゴシック" pitchFamily="110" charset="-128"/>
              </a:rPr>
              <a:t>I-Patrick</a:t>
            </a:r>
            <a:endParaRPr lang="en-US" altLang="en-US" sz="3200" dirty="0">
              <a:ea typeface="ＭＳ Ｐゴシック" pitchFamily="110" charset="-128"/>
            </a:endParaRPr>
          </a:p>
        </p:txBody>
      </p:sp>
    </p:spTree>
    <p:extLst>
      <p:ext uri="{BB962C8B-B14F-4D97-AF65-F5344CB8AC3E}">
        <p14:creationId xmlns:p14="http://schemas.microsoft.com/office/powerpoint/2010/main" val="48895493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8" y="332656"/>
            <a:ext cx="8497887" cy="649287"/>
          </a:xfrm>
        </p:spPr>
        <p:txBody>
          <a:bodyPr/>
          <a:lstStyle/>
          <a:p>
            <a:pPr algn="ctr" eaLnBrk="1" hangingPunct="1"/>
            <a:r>
              <a:rPr lang="en-GB" altLang="en-US" sz="4000" dirty="0" smtClean="0">
                <a:latin typeface="Arial" charset="0"/>
              </a:rPr>
              <a:t>Session Aim</a:t>
            </a:r>
          </a:p>
        </p:txBody>
      </p:sp>
      <p:sp>
        <p:nvSpPr>
          <p:cNvPr id="4099" name="Rectangle 3"/>
          <p:cNvSpPr>
            <a:spLocks noGrp="1" noChangeArrowheads="1"/>
          </p:cNvSpPr>
          <p:nvPr>
            <p:ph type="body" idx="1"/>
          </p:nvPr>
        </p:nvSpPr>
        <p:spPr>
          <a:xfrm>
            <a:off x="755576" y="1628800"/>
            <a:ext cx="7632700" cy="4233267"/>
          </a:xfrm>
        </p:spPr>
        <p:txBody>
          <a:bodyPr/>
          <a:lstStyle/>
          <a:p>
            <a:pPr marL="681038" lvl="1" indent="-342900" eaLnBrk="1" hangingPunct="1">
              <a:lnSpc>
                <a:spcPct val="90000"/>
              </a:lnSpc>
              <a:buFont typeface="Wingdings" panose="05000000000000000000" pitchFamily="2" charset="2"/>
              <a:buChar char="q"/>
            </a:pPr>
            <a:r>
              <a:rPr lang="en-US" altLang="en-US" sz="2400" dirty="0"/>
              <a:t>Sharing our experiences since the last session</a:t>
            </a:r>
          </a:p>
          <a:p>
            <a:pPr marL="338138" lvl="1" indent="0" eaLnBrk="1" hangingPunct="1">
              <a:lnSpc>
                <a:spcPct val="90000"/>
              </a:lnSpc>
              <a:buNone/>
            </a:pPr>
            <a:endParaRPr lang="en-US" altLang="en-US" sz="2400" dirty="0"/>
          </a:p>
          <a:p>
            <a:pPr lvl="2" indent="-342900" eaLnBrk="1" hangingPunct="1">
              <a:lnSpc>
                <a:spcPct val="90000"/>
              </a:lnSpc>
              <a:buFont typeface="Wingdings" panose="05000000000000000000" pitchFamily="2" charset="2"/>
              <a:buChar char="ü"/>
            </a:pPr>
            <a:r>
              <a:rPr lang="en-US" altLang="en-US" sz="2400" dirty="0" smtClean="0"/>
              <a:t>How </a:t>
            </a:r>
            <a:r>
              <a:rPr lang="en-US" altLang="en-US" sz="2400" dirty="0"/>
              <a:t>do </a:t>
            </a:r>
            <a:r>
              <a:rPr lang="en-US" altLang="en-US" sz="2400" dirty="0" smtClean="0"/>
              <a:t>I deliver PT</a:t>
            </a:r>
            <a:r>
              <a:rPr lang="en-US" altLang="en-US" sz="2400" dirty="0"/>
              <a:t>?</a:t>
            </a:r>
          </a:p>
          <a:p>
            <a:pPr lvl="2" indent="-342900" eaLnBrk="1" hangingPunct="1">
              <a:lnSpc>
                <a:spcPct val="90000"/>
              </a:lnSpc>
              <a:buFont typeface="Wingdings" panose="05000000000000000000" pitchFamily="2" charset="2"/>
              <a:buChar char="ü"/>
            </a:pPr>
            <a:r>
              <a:rPr lang="en-US" altLang="en-US" sz="2400" dirty="0" smtClean="0"/>
              <a:t>Target </a:t>
            </a:r>
            <a:r>
              <a:rPr lang="en-US" altLang="en-US" sz="2400" dirty="0"/>
              <a:t>setting </a:t>
            </a:r>
          </a:p>
          <a:p>
            <a:pPr lvl="2" indent="-342900" eaLnBrk="1" hangingPunct="1">
              <a:lnSpc>
                <a:spcPct val="90000"/>
              </a:lnSpc>
              <a:buFont typeface="Wingdings" panose="05000000000000000000" pitchFamily="2" charset="2"/>
              <a:buChar char="ü"/>
            </a:pPr>
            <a:r>
              <a:rPr lang="en-US" altLang="en-US" sz="2400" dirty="0"/>
              <a:t>Teaching and probing </a:t>
            </a:r>
          </a:p>
          <a:p>
            <a:pPr lvl="2" indent="-342900" eaLnBrk="1" hangingPunct="1">
              <a:lnSpc>
                <a:spcPct val="90000"/>
              </a:lnSpc>
              <a:buFont typeface="Wingdings" panose="05000000000000000000" pitchFamily="2" charset="2"/>
              <a:buChar char="ü"/>
            </a:pPr>
            <a:r>
              <a:rPr lang="en-US" altLang="en-US" sz="2400" dirty="0"/>
              <a:t>Charting the results with target child</a:t>
            </a:r>
          </a:p>
          <a:p>
            <a:pPr lvl="2" indent="-342900" eaLnBrk="1" hangingPunct="1">
              <a:lnSpc>
                <a:spcPct val="90000"/>
              </a:lnSpc>
              <a:buFont typeface="Wingdings" panose="05000000000000000000" pitchFamily="2" charset="2"/>
              <a:buChar char="ü"/>
            </a:pPr>
            <a:r>
              <a:rPr lang="en-US" altLang="en-US" sz="2400" dirty="0"/>
              <a:t>Monitoring: Review and adapt the </a:t>
            </a:r>
            <a:r>
              <a:rPr lang="en-US" altLang="en-US" sz="2400" dirty="0" err="1"/>
              <a:t>programme</a:t>
            </a:r>
            <a:r>
              <a:rPr lang="en-US" altLang="en-US" sz="2400" dirty="0"/>
              <a:t> as needed</a:t>
            </a:r>
          </a:p>
          <a:p>
            <a:pPr eaLnBrk="1" hangingPunct="1">
              <a:buFont typeface="Wingdings" pitchFamily="2" charset="2"/>
              <a:buNone/>
            </a:pPr>
            <a:endParaRPr lang="en-GB" altLang="en-US" dirty="0" smtClean="0"/>
          </a:p>
        </p:txBody>
      </p:sp>
    </p:spTree>
    <p:extLst>
      <p:ext uri="{BB962C8B-B14F-4D97-AF65-F5344CB8AC3E}">
        <p14:creationId xmlns:p14="http://schemas.microsoft.com/office/powerpoint/2010/main" val="41179750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fontScale="90000"/>
          </a:bodyPr>
          <a:lstStyle/>
          <a:p>
            <a:pPr algn="ctr" eaLnBrk="1" fontAlgn="auto" hangingPunct="1">
              <a:spcAft>
                <a:spcPts val="0"/>
              </a:spcAft>
              <a:defRPr/>
            </a:pPr>
            <a:r>
              <a:rPr lang="en-GB" altLang="en-US" sz="4000" b="1" dirty="0" smtClean="0"/>
              <a:t>How do I deliver precision monitoring?</a:t>
            </a:r>
          </a:p>
        </p:txBody>
      </p:sp>
      <p:sp>
        <p:nvSpPr>
          <p:cNvPr id="8195" name="Rectangle 3"/>
          <p:cNvSpPr>
            <a:spLocks noGrp="1" noChangeArrowheads="1"/>
          </p:cNvSpPr>
          <p:nvPr>
            <p:ph idx="1"/>
          </p:nvPr>
        </p:nvSpPr>
        <p:spPr>
          <a:xfrm>
            <a:off x="395536" y="2060848"/>
            <a:ext cx="8353425" cy="4467225"/>
          </a:xfrm>
        </p:spPr>
        <p:txBody>
          <a:bodyPr/>
          <a:lstStyle/>
          <a:p>
            <a:pPr marL="609600" indent="-609600" eaLnBrk="1" hangingPunct="1">
              <a:lnSpc>
                <a:spcPct val="80000"/>
              </a:lnSpc>
              <a:buFontTx/>
              <a:buAutoNum type="arabicPeriod"/>
            </a:pPr>
            <a:r>
              <a:rPr lang="en-GB" altLang="en-US" sz="2000" dirty="0" smtClean="0"/>
              <a:t>Identify a specific difficulty and acquire a baseline.</a:t>
            </a:r>
          </a:p>
          <a:p>
            <a:pPr marL="609600" indent="-609600" eaLnBrk="1" hangingPunct="1">
              <a:lnSpc>
                <a:spcPct val="80000"/>
              </a:lnSpc>
              <a:buFontTx/>
              <a:buNone/>
            </a:pPr>
            <a:endParaRPr lang="en-GB" altLang="en-US" sz="2000" dirty="0" smtClean="0"/>
          </a:p>
          <a:p>
            <a:pPr marL="609600" indent="-609600" eaLnBrk="1" hangingPunct="1">
              <a:lnSpc>
                <a:spcPct val="80000"/>
              </a:lnSpc>
              <a:buFontTx/>
              <a:buAutoNum type="arabicPeriod" startAt="2"/>
            </a:pPr>
            <a:r>
              <a:rPr lang="en-GB" altLang="en-US" sz="2000" dirty="0" smtClean="0"/>
              <a:t>Set a target.</a:t>
            </a:r>
          </a:p>
          <a:p>
            <a:pPr marL="609600" indent="-609600" eaLnBrk="1" hangingPunct="1">
              <a:lnSpc>
                <a:spcPct val="80000"/>
              </a:lnSpc>
              <a:buFontTx/>
              <a:buNone/>
            </a:pPr>
            <a:endParaRPr lang="en-GB" altLang="en-US" sz="2000" dirty="0" smtClean="0"/>
          </a:p>
          <a:p>
            <a:pPr marL="609600" indent="-609600" eaLnBrk="1" hangingPunct="1">
              <a:lnSpc>
                <a:spcPct val="80000"/>
              </a:lnSpc>
              <a:buFontTx/>
              <a:buAutoNum type="arabicPeriod" startAt="3"/>
            </a:pPr>
            <a:r>
              <a:rPr lang="en-GB" altLang="en-US" sz="2000" dirty="0" smtClean="0"/>
              <a:t>Teaching sessions: short, frequent and target specific.</a:t>
            </a:r>
          </a:p>
          <a:p>
            <a:pPr marL="609600" indent="-609600" eaLnBrk="1" hangingPunct="1">
              <a:lnSpc>
                <a:spcPct val="80000"/>
              </a:lnSpc>
              <a:buFontTx/>
              <a:buAutoNum type="arabicPeriod" startAt="3"/>
            </a:pPr>
            <a:endParaRPr lang="en-GB" altLang="en-US" sz="2000" dirty="0" smtClean="0"/>
          </a:p>
          <a:p>
            <a:pPr marL="609600" indent="-609600" eaLnBrk="1" hangingPunct="1">
              <a:lnSpc>
                <a:spcPct val="80000"/>
              </a:lnSpc>
              <a:buFontTx/>
              <a:buAutoNum type="arabicPeriod" startAt="3"/>
            </a:pPr>
            <a:r>
              <a:rPr lang="en-GB" altLang="en-US" sz="2000" dirty="0" smtClean="0"/>
              <a:t>Monitor child’s daily performance using a probe.</a:t>
            </a:r>
          </a:p>
          <a:p>
            <a:pPr marL="609600" indent="-609600" eaLnBrk="1" hangingPunct="1">
              <a:lnSpc>
                <a:spcPct val="80000"/>
              </a:lnSpc>
              <a:buFontTx/>
              <a:buAutoNum type="arabicPeriod" startAt="3"/>
            </a:pPr>
            <a:endParaRPr lang="en-GB" altLang="en-US" sz="2000" dirty="0" smtClean="0"/>
          </a:p>
          <a:p>
            <a:pPr marL="609600" indent="-609600" eaLnBrk="1" hangingPunct="1">
              <a:lnSpc>
                <a:spcPct val="80000"/>
              </a:lnSpc>
              <a:buFontTx/>
              <a:buAutoNum type="arabicPeriod" startAt="5"/>
            </a:pPr>
            <a:r>
              <a:rPr lang="en-GB" altLang="en-US" sz="2000" dirty="0" smtClean="0"/>
              <a:t>Chart results and make note of teaching methods.</a:t>
            </a:r>
          </a:p>
          <a:p>
            <a:pPr marL="609600" indent="-609600" eaLnBrk="1" hangingPunct="1">
              <a:lnSpc>
                <a:spcPct val="80000"/>
              </a:lnSpc>
              <a:buFontTx/>
              <a:buAutoNum type="arabicPeriod" startAt="5"/>
            </a:pPr>
            <a:endParaRPr lang="en-GB" altLang="en-US" sz="2000" dirty="0" smtClean="0"/>
          </a:p>
          <a:p>
            <a:pPr marL="609600" indent="-609600" eaLnBrk="1" hangingPunct="1">
              <a:lnSpc>
                <a:spcPct val="80000"/>
              </a:lnSpc>
              <a:buFontTx/>
              <a:buAutoNum type="arabicPeriod" startAt="6"/>
            </a:pPr>
            <a:r>
              <a:rPr lang="en-GB" altLang="en-US" sz="2000" dirty="0" smtClean="0"/>
              <a:t>Analyse the data to determine if a change of target is needed or change in teaching method.</a:t>
            </a:r>
          </a:p>
        </p:txBody>
      </p:sp>
    </p:spTree>
    <p:extLst>
      <p:ext uri="{BB962C8B-B14F-4D97-AF65-F5344CB8AC3E}">
        <p14:creationId xmlns:p14="http://schemas.microsoft.com/office/powerpoint/2010/main" val="3791465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64704"/>
            <a:ext cx="8497887" cy="649287"/>
          </a:xfrm>
        </p:spPr>
        <p:txBody>
          <a:bodyPr/>
          <a:lstStyle/>
          <a:p>
            <a:pPr algn="ctr"/>
            <a:r>
              <a:rPr lang="en-GB" altLang="en-US" sz="5400" dirty="0" smtClean="0"/>
              <a:t>STEP 1</a:t>
            </a:r>
            <a:endParaRPr lang="en-GB" sz="5400" dirty="0"/>
          </a:p>
        </p:txBody>
      </p:sp>
      <p:sp>
        <p:nvSpPr>
          <p:cNvPr id="3" name="Content Placeholder 2"/>
          <p:cNvSpPr>
            <a:spLocks noGrp="1"/>
          </p:cNvSpPr>
          <p:nvPr>
            <p:ph idx="1"/>
          </p:nvPr>
        </p:nvSpPr>
        <p:spPr>
          <a:xfrm>
            <a:off x="467544" y="2132856"/>
            <a:ext cx="7632700" cy="4968875"/>
          </a:xfrm>
        </p:spPr>
        <p:txBody>
          <a:bodyPr/>
          <a:lstStyle/>
          <a:p>
            <a:pPr marL="0" indent="0" algn="ctr">
              <a:buNone/>
            </a:pPr>
            <a:r>
              <a:rPr lang="en-GB" altLang="en-US" sz="5400" dirty="0" smtClean="0"/>
              <a:t>Identify </a:t>
            </a:r>
            <a:r>
              <a:rPr lang="en-GB" altLang="en-US" sz="5400" dirty="0"/>
              <a:t>a specific difficulty and acquire a baseline</a:t>
            </a:r>
            <a:endParaRPr lang="en-GB" sz="5400" dirty="0"/>
          </a:p>
        </p:txBody>
      </p:sp>
    </p:spTree>
    <p:extLst>
      <p:ext uri="{BB962C8B-B14F-4D97-AF65-F5344CB8AC3E}">
        <p14:creationId xmlns:p14="http://schemas.microsoft.com/office/powerpoint/2010/main" val="16195088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1188" y="188913"/>
            <a:ext cx="7772400" cy="1143000"/>
          </a:xfrm>
        </p:spPr>
        <p:txBody>
          <a:bodyPr>
            <a:normAutofit/>
          </a:bodyPr>
          <a:lstStyle/>
          <a:p>
            <a:pPr eaLnBrk="1" fontAlgn="auto" hangingPunct="1">
              <a:spcAft>
                <a:spcPts val="0"/>
              </a:spcAft>
              <a:defRPr/>
            </a:pPr>
            <a:r>
              <a:rPr lang="en-GB" altLang="en-US" sz="4000" b="1" smtClean="0"/>
              <a:t>Step 2</a:t>
            </a:r>
            <a:r>
              <a:rPr lang="en-GB" altLang="en-US" sz="4000" smtClean="0"/>
              <a:t> </a:t>
            </a:r>
            <a:r>
              <a:rPr lang="en-GB" altLang="en-US" sz="4000" b="1" smtClean="0"/>
              <a:t>-</a:t>
            </a:r>
            <a:r>
              <a:rPr lang="en-GB" altLang="en-US" sz="4000" smtClean="0"/>
              <a:t> Setting a Target</a:t>
            </a:r>
          </a:p>
        </p:txBody>
      </p:sp>
      <p:sp>
        <p:nvSpPr>
          <p:cNvPr id="12291" name="Content Placeholder 4"/>
          <p:cNvSpPr>
            <a:spLocks noGrp="1"/>
          </p:cNvSpPr>
          <p:nvPr>
            <p:ph idx="1"/>
          </p:nvPr>
        </p:nvSpPr>
        <p:spPr>
          <a:xfrm>
            <a:off x="539750" y="2133600"/>
            <a:ext cx="3527425" cy="3467100"/>
          </a:xfrm>
        </p:spPr>
        <p:txBody>
          <a:bodyPr/>
          <a:lstStyle/>
          <a:p>
            <a:pPr eaLnBrk="1" hangingPunct="1"/>
            <a:r>
              <a:rPr lang="en-GB" altLang="en-US" b="1" dirty="0" smtClean="0"/>
              <a:t>S</a:t>
            </a:r>
            <a:r>
              <a:rPr lang="en-GB" altLang="en-US" dirty="0" smtClean="0"/>
              <a:t>pecific</a:t>
            </a:r>
          </a:p>
          <a:p>
            <a:pPr eaLnBrk="1" hangingPunct="1"/>
            <a:r>
              <a:rPr lang="en-GB" altLang="en-US" b="1" dirty="0" smtClean="0"/>
              <a:t>M</a:t>
            </a:r>
            <a:r>
              <a:rPr lang="en-GB" altLang="en-US" dirty="0" smtClean="0"/>
              <a:t>easurable</a:t>
            </a:r>
          </a:p>
          <a:p>
            <a:pPr eaLnBrk="1" hangingPunct="1"/>
            <a:r>
              <a:rPr lang="en-GB" altLang="en-US" b="1" dirty="0" smtClean="0"/>
              <a:t>A</a:t>
            </a:r>
            <a:r>
              <a:rPr lang="en-GB" altLang="en-US" dirty="0" smtClean="0"/>
              <a:t>greed</a:t>
            </a:r>
          </a:p>
          <a:p>
            <a:pPr eaLnBrk="1" hangingPunct="1"/>
            <a:r>
              <a:rPr lang="en-GB" altLang="en-US" b="1" dirty="0" smtClean="0"/>
              <a:t>R</a:t>
            </a:r>
            <a:r>
              <a:rPr lang="en-GB" altLang="en-US" dirty="0" smtClean="0"/>
              <a:t>ealistic</a:t>
            </a:r>
          </a:p>
          <a:p>
            <a:pPr eaLnBrk="1" hangingPunct="1"/>
            <a:r>
              <a:rPr lang="en-GB" altLang="en-US" b="1" dirty="0" smtClean="0"/>
              <a:t>T</a:t>
            </a:r>
            <a:r>
              <a:rPr lang="en-GB" altLang="en-US" dirty="0" smtClean="0"/>
              <a:t>ime bound</a:t>
            </a:r>
          </a:p>
        </p:txBody>
      </p:sp>
      <p:grpSp>
        <p:nvGrpSpPr>
          <p:cNvPr id="12292" name="Group 4"/>
          <p:cNvGrpSpPr>
            <a:grpSpLocks noGrp="1"/>
          </p:cNvGrpSpPr>
          <p:nvPr/>
        </p:nvGrpSpPr>
        <p:grpSpPr bwMode="auto">
          <a:xfrm>
            <a:off x="4932363" y="1700213"/>
            <a:ext cx="3573462" cy="3536950"/>
            <a:chOff x="2304" y="858"/>
            <a:chExt cx="3024" cy="3181"/>
          </a:xfrm>
        </p:grpSpPr>
        <p:sp>
          <p:nvSpPr>
            <p:cNvPr id="12294" name="Oval 5"/>
            <p:cNvSpPr>
              <a:spLocks noChangeArrowheads="1"/>
            </p:cNvSpPr>
            <p:nvPr/>
          </p:nvSpPr>
          <p:spPr bwMode="auto">
            <a:xfrm>
              <a:off x="2304" y="912"/>
              <a:ext cx="3024" cy="3024"/>
            </a:xfrm>
            <a:prstGeom prst="ellipse">
              <a:avLst/>
            </a:prstGeom>
            <a:solidFill>
              <a:srgbClr val="66CCFF"/>
            </a:solidFill>
            <a:ln w="9525">
              <a:solidFill>
                <a:srgbClr val="66CCFF"/>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5" name="Oval 6"/>
            <p:cNvSpPr>
              <a:spLocks noChangeArrowheads="1"/>
            </p:cNvSpPr>
            <p:nvPr/>
          </p:nvSpPr>
          <p:spPr bwMode="auto">
            <a:xfrm>
              <a:off x="2832" y="1440"/>
              <a:ext cx="1968" cy="1968"/>
            </a:xfrm>
            <a:prstGeom prst="ellipse">
              <a:avLst/>
            </a:prstGeom>
            <a:solidFill>
              <a:srgbClr val="FF0000"/>
            </a:solidFill>
            <a:ln w="9525">
              <a:solidFill>
                <a:srgbClr val="FF0000"/>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6" name="Oval 7"/>
            <p:cNvSpPr>
              <a:spLocks noChangeArrowheads="1"/>
            </p:cNvSpPr>
            <p:nvPr/>
          </p:nvSpPr>
          <p:spPr bwMode="auto">
            <a:xfrm>
              <a:off x="3360" y="1968"/>
              <a:ext cx="912" cy="912"/>
            </a:xfrm>
            <a:prstGeom prst="ellipse">
              <a:avLst/>
            </a:prstGeom>
            <a:solidFill>
              <a:schemeClr val="bg1"/>
            </a:solidFill>
            <a:ln w="9525">
              <a:solidFill>
                <a:schemeClr val="bg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sz="1800">
                <a:latin typeface="Calibri" pitchFamily="34" charset="0"/>
              </a:endParaRPr>
            </a:p>
          </p:txBody>
        </p:sp>
        <p:sp>
          <p:nvSpPr>
            <p:cNvPr id="12297" name="Text Box 8"/>
            <p:cNvSpPr txBox="1">
              <a:spLocks noChangeArrowheads="1"/>
            </p:cNvSpPr>
            <p:nvPr/>
          </p:nvSpPr>
          <p:spPr bwMode="auto">
            <a:xfrm>
              <a:off x="3575" y="858"/>
              <a:ext cx="471"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S</a:t>
              </a:r>
            </a:p>
          </p:txBody>
        </p:sp>
        <p:sp>
          <p:nvSpPr>
            <p:cNvPr id="12298" name="Text Box 9"/>
            <p:cNvSpPr txBox="1">
              <a:spLocks noChangeArrowheads="1"/>
            </p:cNvSpPr>
            <p:nvPr/>
          </p:nvSpPr>
          <p:spPr bwMode="auto">
            <a:xfrm>
              <a:off x="3548" y="1386"/>
              <a:ext cx="549"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M</a:t>
              </a:r>
            </a:p>
          </p:txBody>
        </p:sp>
        <p:sp>
          <p:nvSpPr>
            <p:cNvPr id="12299" name="Text Box 10"/>
            <p:cNvSpPr txBox="1">
              <a:spLocks noChangeArrowheads="1"/>
            </p:cNvSpPr>
            <p:nvPr/>
          </p:nvSpPr>
          <p:spPr bwMode="auto">
            <a:xfrm>
              <a:off x="3575" y="2059"/>
              <a:ext cx="497"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A</a:t>
              </a:r>
            </a:p>
          </p:txBody>
        </p:sp>
        <p:sp>
          <p:nvSpPr>
            <p:cNvPr id="12300" name="Text Box 11"/>
            <p:cNvSpPr txBox="1">
              <a:spLocks noChangeArrowheads="1"/>
            </p:cNvSpPr>
            <p:nvPr/>
          </p:nvSpPr>
          <p:spPr bwMode="auto">
            <a:xfrm>
              <a:off x="3575" y="2778"/>
              <a:ext cx="497" cy="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R</a:t>
              </a:r>
            </a:p>
          </p:txBody>
        </p:sp>
        <p:sp>
          <p:nvSpPr>
            <p:cNvPr id="12301" name="Text Box 12"/>
            <p:cNvSpPr txBox="1">
              <a:spLocks noChangeArrowheads="1"/>
            </p:cNvSpPr>
            <p:nvPr/>
          </p:nvSpPr>
          <p:spPr bwMode="auto">
            <a:xfrm>
              <a:off x="3603" y="3354"/>
              <a:ext cx="445" cy="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altLang="en-US" sz="4400" b="1">
                  <a:solidFill>
                    <a:srgbClr val="000066"/>
                  </a:solidFill>
                  <a:latin typeface="Arial" pitchFamily="34" charset="0"/>
                </a:rPr>
                <a:t>T</a:t>
              </a:r>
            </a:p>
          </p:txBody>
        </p:sp>
      </p:grpSp>
      <p:sp>
        <p:nvSpPr>
          <p:cNvPr id="12293" name="Text Placeholder 15"/>
          <p:cNvSpPr>
            <a:spLocks/>
          </p:cNvSpPr>
          <p:nvPr/>
        </p:nvSpPr>
        <p:spPr bwMode="auto">
          <a:xfrm>
            <a:off x="323850" y="1484313"/>
            <a:ext cx="4040188"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pPr>
            <a:r>
              <a:rPr lang="en-GB" altLang="en-US" sz="3200" b="1">
                <a:latin typeface="Arial" pitchFamily="34" charset="0"/>
              </a:rPr>
              <a:t>SMART TARGETS</a:t>
            </a:r>
          </a:p>
        </p:txBody>
      </p:sp>
    </p:spTree>
    <p:extLst>
      <p:ext uri="{BB962C8B-B14F-4D97-AF65-F5344CB8AC3E}">
        <p14:creationId xmlns:p14="http://schemas.microsoft.com/office/powerpoint/2010/main" val="30800126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0" y="188913"/>
            <a:ext cx="7772400" cy="1143000"/>
          </a:xfrm>
        </p:spPr>
        <p:txBody>
          <a:bodyPr/>
          <a:lstStyle/>
          <a:p>
            <a:pPr algn="ctr" eaLnBrk="1" fontAlgn="auto" hangingPunct="1">
              <a:spcAft>
                <a:spcPts val="0"/>
              </a:spcAft>
              <a:defRPr/>
            </a:pPr>
            <a:r>
              <a:rPr lang="en-GB" altLang="en-US" sz="3200" dirty="0" smtClean="0"/>
              <a:t>2. Targets</a:t>
            </a:r>
          </a:p>
        </p:txBody>
      </p:sp>
      <p:sp>
        <p:nvSpPr>
          <p:cNvPr id="13315" name="Content Placeholder 2"/>
          <p:cNvSpPr>
            <a:spLocks noGrp="1"/>
          </p:cNvSpPr>
          <p:nvPr>
            <p:ph idx="4294967295"/>
          </p:nvPr>
        </p:nvSpPr>
        <p:spPr>
          <a:xfrm>
            <a:off x="935038" y="1125538"/>
            <a:ext cx="8208962" cy="4967287"/>
          </a:xfrm>
        </p:spPr>
        <p:txBody>
          <a:bodyPr/>
          <a:lstStyle/>
          <a:p>
            <a:pPr eaLnBrk="1" hangingPunct="1">
              <a:buFontTx/>
              <a:buNone/>
            </a:pPr>
            <a:r>
              <a:rPr lang="en-GB" altLang="en-US" dirty="0" smtClean="0"/>
              <a:t>Target needs to contain three essential components:</a:t>
            </a:r>
          </a:p>
          <a:p>
            <a:pPr lvl="1" eaLnBrk="1" hangingPunct="1"/>
            <a:r>
              <a:rPr lang="en-GB" altLang="en-US" sz="2400" dirty="0" smtClean="0">
                <a:solidFill>
                  <a:srgbClr val="FF0000"/>
                </a:solidFill>
              </a:rPr>
              <a:t>Observable verb</a:t>
            </a:r>
            <a:r>
              <a:rPr lang="en-GB" altLang="en-US" sz="2400" dirty="0" smtClean="0"/>
              <a:t>  </a:t>
            </a:r>
          </a:p>
          <a:p>
            <a:pPr lvl="1" eaLnBrk="1" hangingPunct="1">
              <a:buFontTx/>
              <a:buNone/>
            </a:pPr>
            <a:r>
              <a:rPr lang="en-GB" altLang="en-US" sz="2400" dirty="0" smtClean="0"/>
              <a:t>(</a:t>
            </a:r>
            <a:r>
              <a:rPr lang="en-GB" altLang="en-US" sz="2400" dirty="0" err="1" smtClean="0"/>
              <a:t>ie</a:t>
            </a:r>
            <a:r>
              <a:rPr lang="en-GB" altLang="en-US" sz="2400" dirty="0" smtClean="0"/>
              <a:t>. what the child will do)</a:t>
            </a:r>
          </a:p>
          <a:p>
            <a:pPr lvl="1" eaLnBrk="1" hangingPunct="1">
              <a:buFontTx/>
              <a:buNone/>
            </a:pPr>
            <a:endParaRPr lang="en-GB" altLang="en-US" sz="2400" dirty="0" smtClean="0"/>
          </a:p>
          <a:p>
            <a:pPr lvl="1" eaLnBrk="1" hangingPunct="1"/>
            <a:r>
              <a:rPr lang="en-GB" altLang="en-US" sz="2400" dirty="0" smtClean="0">
                <a:solidFill>
                  <a:schemeClr val="accent1"/>
                </a:solidFill>
              </a:rPr>
              <a:t>Conditions</a:t>
            </a:r>
            <a:r>
              <a:rPr lang="en-GB" altLang="en-US" sz="2400" dirty="0" smtClean="0"/>
              <a:t> </a:t>
            </a:r>
          </a:p>
          <a:p>
            <a:pPr lvl="1" eaLnBrk="1" hangingPunct="1">
              <a:buFontTx/>
              <a:buNone/>
            </a:pPr>
            <a:r>
              <a:rPr lang="en-GB" altLang="en-US" sz="2400" dirty="0" smtClean="0"/>
              <a:t>(e.g. teaching materials or teacher instructions)</a:t>
            </a:r>
          </a:p>
          <a:p>
            <a:pPr lvl="1" eaLnBrk="1" hangingPunct="1">
              <a:buFontTx/>
              <a:buNone/>
            </a:pPr>
            <a:endParaRPr lang="en-GB" altLang="en-US" sz="2400" dirty="0" smtClean="0"/>
          </a:p>
          <a:p>
            <a:pPr lvl="1" eaLnBrk="1" hangingPunct="1"/>
            <a:r>
              <a:rPr lang="en-GB" altLang="en-US" sz="2400" dirty="0" smtClean="0">
                <a:solidFill>
                  <a:schemeClr val="accent2"/>
                </a:solidFill>
              </a:rPr>
              <a:t>Criterion</a:t>
            </a:r>
            <a:r>
              <a:rPr lang="en-GB" altLang="en-US" sz="2400" dirty="0" smtClean="0"/>
              <a:t> </a:t>
            </a:r>
          </a:p>
          <a:p>
            <a:pPr lvl="1" eaLnBrk="1" hangingPunct="1">
              <a:buFontTx/>
              <a:buNone/>
            </a:pPr>
            <a:r>
              <a:rPr lang="en-GB" altLang="en-US" sz="2400" dirty="0" smtClean="0"/>
              <a:t>(success criteria – how will we know it’s been successful?)</a:t>
            </a:r>
          </a:p>
        </p:txBody>
      </p:sp>
    </p:spTree>
    <p:extLst>
      <p:ext uri="{BB962C8B-B14F-4D97-AF65-F5344CB8AC3E}">
        <p14:creationId xmlns:p14="http://schemas.microsoft.com/office/powerpoint/2010/main" val="19268750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1188" y="188913"/>
            <a:ext cx="7772400" cy="1143000"/>
          </a:xfrm>
        </p:spPr>
        <p:txBody>
          <a:bodyPr/>
          <a:lstStyle/>
          <a:p>
            <a:pPr algn="ctr" eaLnBrk="1" fontAlgn="auto" hangingPunct="1">
              <a:spcAft>
                <a:spcPts val="0"/>
              </a:spcAft>
              <a:defRPr/>
            </a:pPr>
            <a:r>
              <a:rPr lang="en-GB" altLang="en-US" sz="3200" dirty="0" smtClean="0"/>
              <a:t>2. Targets</a:t>
            </a:r>
          </a:p>
        </p:txBody>
      </p:sp>
      <p:sp>
        <p:nvSpPr>
          <p:cNvPr id="14339" name="Rectangle 3"/>
          <p:cNvSpPr>
            <a:spLocks noGrp="1" noChangeArrowheads="1"/>
          </p:cNvSpPr>
          <p:nvPr>
            <p:ph idx="1"/>
          </p:nvPr>
        </p:nvSpPr>
        <p:spPr>
          <a:xfrm>
            <a:off x="684213" y="1628775"/>
            <a:ext cx="7772400" cy="4114800"/>
          </a:xfrm>
        </p:spPr>
        <p:txBody>
          <a:bodyPr/>
          <a:lstStyle/>
          <a:p>
            <a:pPr eaLnBrk="1" hangingPunct="1">
              <a:buFontTx/>
              <a:buNone/>
            </a:pPr>
            <a:r>
              <a:rPr lang="en-GB" altLang="en-US" sz="2800" dirty="0" smtClean="0"/>
              <a:t>E.g.</a:t>
            </a:r>
          </a:p>
          <a:p>
            <a:pPr eaLnBrk="1" hangingPunct="1">
              <a:buFontTx/>
              <a:buNone/>
            </a:pPr>
            <a:r>
              <a:rPr lang="en-GB" altLang="en-US" sz="2800" dirty="0" smtClean="0"/>
              <a:t>“Scott will read aloud </a:t>
            </a:r>
            <a:r>
              <a:rPr lang="en-GB" altLang="en-US" sz="2800" b="1" i="1" dirty="0" smtClean="0">
                <a:solidFill>
                  <a:srgbClr val="FF0000"/>
                </a:solidFill>
              </a:rPr>
              <a:t>(observable verb)</a:t>
            </a:r>
            <a:r>
              <a:rPr lang="en-GB" altLang="en-US" sz="2800" dirty="0" smtClean="0"/>
              <a:t> </a:t>
            </a:r>
            <a:r>
              <a:rPr lang="en-GB" altLang="en-US" sz="2800" b="1" dirty="0" smtClean="0"/>
              <a:t>50</a:t>
            </a:r>
            <a:r>
              <a:rPr lang="en-GB" altLang="en-US" sz="2800" dirty="0" smtClean="0"/>
              <a:t> words per minute with no more than </a:t>
            </a:r>
            <a:r>
              <a:rPr lang="en-GB" altLang="en-US" sz="2800" b="1" dirty="0" smtClean="0"/>
              <a:t>2</a:t>
            </a:r>
            <a:r>
              <a:rPr lang="en-GB" altLang="en-US" sz="2800" dirty="0" smtClean="0"/>
              <a:t> errors </a:t>
            </a:r>
            <a:r>
              <a:rPr lang="en-GB" altLang="en-US" sz="2800" b="1" i="1" dirty="0" smtClean="0">
                <a:solidFill>
                  <a:schemeClr val="accent1"/>
                </a:solidFill>
              </a:rPr>
              <a:t>(conditions)</a:t>
            </a:r>
            <a:r>
              <a:rPr lang="en-GB" altLang="en-US" sz="2800" dirty="0" smtClean="0">
                <a:solidFill>
                  <a:schemeClr val="accent1"/>
                </a:solidFill>
              </a:rPr>
              <a:t> </a:t>
            </a:r>
            <a:r>
              <a:rPr lang="en-GB" altLang="en-US" sz="2800" dirty="0" smtClean="0"/>
              <a:t>on three consecutive days </a:t>
            </a:r>
            <a:r>
              <a:rPr lang="en-GB" altLang="en-US" sz="2800" b="1" i="1" dirty="0" smtClean="0">
                <a:solidFill>
                  <a:srgbClr val="0000FF"/>
                </a:solidFill>
              </a:rPr>
              <a:t>(criterion).</a:t>
            </a:r>
            <a:r>
              <a:rPr lang="en-GB" altLang="en-US" sz="2800" dirty="0" smtClean="0"/>
              <a:t>”</a:t>
            </a:r>
          </a:p>
          <a:p>
            <a:pPr eaLnBrk="1" hangingPunct="1">
              <a:buFontTx/>
              <a:buNone/>
            </a:pPr>
            <a:endParaRPr lang="en-GB" altLang="en-US" sz="1800" dirty="0" smtClean="0"/>
          </a:p>
        </p:txBody>
      </p:sp>
    </p:spTree>
    <p:extLst>
      <p:ext uri="{BB962C8B-B14F-4D97-AF65-F5344CB8AC3E}">
        <p14:creationId xmlns:p14="http://schemas.microsoft.com/office/powerpoint/2010/main" val="32599986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23850" y="404813"/>
            <a:ext cx="8353425" cy="1143000"/>
          </a:xfrm>
        </p:spPr>
        <p:txBody>
          <a:bodyPr/>
          <a:lstStyle/>
          <a:p>
            <a:pPr algn="ctr" eaLnBrk="1" fontAlgn="auto" hangingPunct="1">
              <a:spcAft>
                <a:spcPts val="0"/>
              </a:spcAft>
              <a:defRPr/>
            </a:pPr>
            <a:r>
              <a:rPr lang="en-GB" altLang="en-US" sz="3200" b="1" dirty="0" smtClean="0"/>
              <a:t>Step 3-</a:t>
            </a:r>
            <a:r>
              <a:rPr lang="en-GB" altLang="en-US" sz="3200" dirty="0" smtClean="0"/>
              <a:t> Teaching </a:t>
            </a:r>
            <a:br>
              <a:rPr lang="en-GB" altLang="en-US" sz="3200" dirty="0" smtClean="0"/>
            </a:br>
            <a:r>
              <a:rPr lang="en-GB" altLang="en-US" sz="3200" dirty="0" smtClean="0"/>
              <a:t>(Up to 10 </a:t>
            </a:r>
            <a:r>
              <a:rPr lang="en-GB" altLang="en-US" sz="3200" dirty="0" smtClean="0"/>
              <a:t>mins per day)</a:t>
            </a:r>
          </a:p>
        </p:txBody>
      </p:sp>
      <p:sp>
        <p:nvSpPr>
          <p:cNvPr id="16387" name="Rectangle 3"/>
          <p:cNvSpPr>
            <a:spLocks noGrp="1" noChangeArrowheads="1"/>
          </p:cNvSpPr>
          <p:nvPr>
            <p:ph idx="1"/>
          </p:nvPr>
        </p:nvSpPr>
        <p:spPr>
          <a:xfrm>
            <a:off x="323850" y="1981200"/>
            <a:ext cx="8496300" cy="4114800"/>
          </a:xfrm>
        </p:spPr>
        <p:txBody>
          <a:bodyPr/>
          <a:lstStyle/>
          <a:p>
            <a:pPr marL="457200" indent="-457200" eaLnBrk="1" hangingPunct="1">
              <a:lnSpc>
                <a:spcPct val="80000"/>
              </a:lnSpc>
              <a:buFont typeface="+mj-lt"/>
              <a:buAutoNum type="arabicPeriod"/>
            </a:pPr>
            <a:r>
              <a:rPr lang="en-GB" altLang="en-US" dirty="0" smtClean="0"/>
              <a:t>Choose up to three </a:t>
            </a:r>
            <a:r>
              <a:rPr lang="en-GB" altLang="en-US" dirty="0" smtClean="0"/>
              <a:t>words the child struggled with from your baseline assessment (NB: the number of words chosen to focus on may vary according to child’s difficulties</a:t>
            </a:r>
            <a:r>
              <a:rPr lang="en-GB" altLang="en-US" dirty="0" smtClean="0"/>
              <a:t>).</a:t>
            </a:r>
          </a:p>
          <a:p>
            <a:pPr marL="457200" indent="-457200" eaLnBrk="1" hangingPunct="1">
              <a:lnSpc>
                <a:spcPct val="80000"/>
              </a:lnSpc>
              <a:buFont typeface="+mj-lt"/>
              <a:buAutoNum type="arabicPeriod"/>
            </a:pPr>
            <a:endParaRPr lang="en-GB" altLang="en-US" dirty="0" smtClean="0"/>
          </a:p>
          <a:p>
            <a:pPr marL="457200" indent="-457200" eaLnBrk="1" hangingPunct="1">
              <a:lnSpc>
                <a:spcPct val="80000"/>
              </a:lnSpc>
              <a:buFont typeface="+mj-lt"/>
              <a:buAutoNum type="arabicPeriod"/>
            </a:pPr>
            <a:r>
              <a:rPr lang="en-GB" altLang="en-US" dirty="0" smtClean="0"/>
              <a:t> </a:t>
            </a:r>
            <a:r>
              <a:rPr lang="en-GB" altLang="en-US" dirty="0" smtClean="0"/>
              <a:t>Introduce the target words to child</a:t>
            </a:r>
            <a:r>
              <a:rPr lang="en-GB" altLang="en-US" dirty="0" smtClean="0"/>
              <a:t>.</a:t>
            </a:r>
          </a:p>
          <a:p>
            <a:pPr marL="457200" indent="-457200" eaLnBrk="1" hangingPunct="1">
              <a:lnSpc>
                <a:spcPct val="80000"/>
              </a:lnSpc>
              <a:buFont typeface="+mj-lt"/>
              <a:buAutoNum type="arabicPeriod"/>
            </a:pPr>
            <a:endParaRPr lang="en-GB" altLang="en-US" dirty="0" smtClean="0"/>
          </a:p>
          <a:p>
            <a:pPr marL="457200" indent="-457200" eaLnBrk="1" hangingPunct="1">
              <a:lnSpc>
                <a:spcPct val="80000"/>
              </a:lnSpc>
              <a:buFont typeface="+mj-lt"/>
              <a:buAutoNum type="arabicPeriod"/>
            </a:pPr>
            <a:r>
              <a:rPr lang="en-GB" altLang="en-US" dirty="0" smtClean="0"/>
              <a:t>Use </a:t>
            </a:r>
            <a:r>
              <a:rPr lang="en-GB" altLang="en-US" dirty="0" smtClean="0"/>
              <a:t>teaching strategies which will increase opportunities for child to recognise the words.</a:t>
            </a:r>
          </a:p>
        </p:txBody>
      </p:sp>
    </p:spTree>
    <p:extLst>
      <p:ext uri="{BB962C8B-B14F-4D97-AF65-F5344CB8AC3E}">
        <p14:creationId xmlns:p14="http://schemas.microsoft.com/office/powerpoint/2010/main" val="15372452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4213" y="260350"/>
            <a:ext cx="7772400" cy="927100"/>
          </a:xfrm>
        </p:spPr>
        <p:txBody>
          <a:bodyPr/>
          <a:lstStyle/>
          <a:p>
            <a:pPr algn="ctr" eaLnBrk="1" fontAlgn="auto" hangingPunct="1">
              <a:spcAft>
                <a:spcPts val="0"/>
              </a:spcAft>
              <a:defRPr/>
            </a:pPr>
            <a:r>
              <a:rPr lang="en-GB" altLang="en-US" sz="3200" dirty="0" smtClean="0"/>
              <a:t>3. Teaching methods</a:t>
            </a:r>
          </a:p>
        </p:txBody>
      </p:sp>
      <p:sp>
        <p:nvSpPr>
          <p:cNvPr id="17411" name="Rectangle 3"/>
          <p:cNvSpPr>
            <a:spLocks noChangeArrowheads="1"/>
          </p:cNvSpPr>
          <p:nvPr/>
        </p:nvSpPr>
        <p:spPr bwMode="auto">
          <a:xfrm>
            <a:off x="0" y="3500438"/>
            <a:ext cx="8820150"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80000"/>
              </a:lnSpc>
              <a:buClrTx/>
              <a:buFontTx/>
              <a:buChar char="•"/>
            </a:pPr>
            <a:r>
              <a:rPr lang="en-GB" altLang="en-US" sz="1800" dirty="0">
                <a:latin typeface="Arial" pitchFamily="34" charset="0"/>
              </a:rPr>
              <a:t>Use the model-lead-test sequence with each sight word in turn</a:t>
            </a:r>
          </a:p>
          <a:p>
            <a:pPr algn="l" eaLnBrk="1" hangingPunct="1">
              <a:lnSpc>
                <a:spcPct val="80000"/>
              </a:lnSpc>
              <a:buClrTx/>
              <a:buFontTx/>
              <a:buChar char="•"/>
            </a:pPr>
            <a:r>
              <a:rPr lang="en-GB" altLang="en-US" sz="1800" dirty="0">
                <a:latin typeface="Arial" pitchFamily="34" charset="0"/>
              </a:rPr>
              <a:t>Alter the sequence and continue until each word has been repeated 3-5 times</a:t>
            </a:r>
          </a:p>
          <a:p>
            <a:pPr algn="l" eaLnBrk="1" hangingPunct="1">
              <a:lnSpc>
                <a:spcPct val="80000"/>
              </a:lnSpc>
              <a:buClrTx/>
              <a:buFontTx/>
              <a:buChar char="•"/>
            </a:pPr>
            <a:r>
              <a:rPr lang="en-GB" altLang="en-US" sz="1800" dirty="0">
                <a:latin typeface="Arial" pitchFamily="34" charset="0"/>
              </a:rPr>
              <a:t>Explain to the pupil that they are going to try the sight words alone- but they may have help if they want it</a:t>
            </a:r>
          </a:p>
          <a:p>
            <a:pPr algn="l" eaLnBrk="1" hangingPunct="1">
              <a:lnSpc>
                <a:spcPct val="80000"/>
              </a:lnSpc>
              <a:buClrTx/>
              <a:buFontTx/>
              <a:buChar char="•"/>
            </a:pPr>
            <a:r>
              <a:rPr lang="en-GB" altLang="en-US" sz="1800" dirty="0">
                <a:latin typeface="Arial" pitchFamily="34" charset="0"/>
              </a:rPr>
              <a:t>The pupil tries the words alone – praise correct answers.  If the word is incorrect or if the pupil hesitates more than 2 seconds use the correction procedure:</a:t>
            </a:r>
          </a:p>
          <a:p>
            <a:pPr algn="l" eaLnBrk="1" hangingPunct="1">
              <a:lnSpc>
                <a:spcPct val="80000"/>
              </a:lnSpc>
              <a:buClrTx/>
              <a:buFontTx/>
              <a:buNone/>
            </a:pPr>
            <a:endParaRPr lang="en-GB" altLang="en-US" sz="1800" dirty="0">
              <a:latin typeface="Arial" pitchFamily="34" charset="0"/>
            </a:endParaRPr>
          </a:p>
          <a:p>
            <a:pPr algn="l" eaLnBrk="1" hangingPunct="1">
              <a:lnSpc>
                <a:spcPct val="80000"/>
              </a:lnSpc>
              <a:buClrTx/>
              <a:buFontTx/>
              <a:buNone/>
            </a:pPr>
            <a:r>
              <a:rPr lang="en-GB" altLang="en-US" sz="1800" dirty="0">
                <a:latin typeface="Arial" pitchFamily="34" charset="0"/>
              </a:rPr>
              <a:t>				Model (adult) “this word says…”</a:t>
            </a:r>
          </a:p>
          <a:p>
            <a:pPr algn="l" eaLnBrk="1" hangingPunct="1">
              <a:lnSpc>
                <a:spcPct val="80000"/>
              </a:lnSpc>
              <a:buClrTx/>
              <a:buFontTx/>
              <a:buNone/>
            </a:pPr>
            <a:r>
              <a:rPr lang="en-GB" altLang="en-US" sz="1800" dirty="0">
                <a:latin typeface="Arial" pitchFamily="34" charset="0"/>
              </a:rPr>
              <a:t>				Test (child) “now you say it”… or “what word?”</a:t>
            </a:r>
          </a:p>
        </p:txBody>
      </p:sp>
      <p:sp>
        <p:nvSpPr>
          <p:cNvPr id="17412" name="Text Box 4"/>
          <p:cNvSpPr txBox="1">
            <a:spLocks noChangeArrowheads="1"/>
          </p:cNvSpPr>
          <p:nvPr/>
        </p:nvSpPr>
        <p:spPr bwMode="auto">
          <a:xfrm>
            <a:off x="2432050" y="1700213"/>
            <a:ext cx="5545138" cy="1635125"/>
          </a:xfrm>
          <a:prstGeom prst="rect">
            <a:avLst/>
          </a:prstGeom>
          <a:noFill/>
          <a:ln w="19050">
            <a:solidFill>
              <a:srgbClr val="9E0B0E"/>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en-GB" altLang="en-US" sz="2000">
                <a:latin typeface="Arial" pitchFamily="34" charset="0"/>
              </a:rPr>
              <a:t>Model (adult) – “this word says…”</a:t>
            </a:r>
          </a:p>
          <a:p>
            <a:pPr eaLnBrk="1" hangingPunct="1"/>
            <a:endParaRPr lang="en-GB" altLang="en-US" sz="2000">
              <a:latin typeface="Arial" pitchFamily="34" charset="0"/>
            </a:endParaRPr>
          </a:p>
          <a:p>
            <a:pPr eaLnBrk="1" hangingPunct="1"/>
            <a:r>
              <a:rPr lang="en-GB" altLang="en-US" sz="2000">
                <a:latin typeface="Arial" pitchFamily="34" charset="0"/>
              </a:rPr>
              <a:t>Lead (together) – “say it with me”</a:t>
            </a:r>
          </a:p>
          <a:p>
            <a:pPr eaLnBrk="1" hangingPunct="1"/>
            <a:endParaRPr lang="en-GB" altLang="en-US" sz="2000">
              <a:latin typeface="Arial" pitchFamily="34" charset="0"/>
            </a:endParaRPr>
          </a:p>
          <a:p>
            <a:pPr eaLnBrk="1" hangingPunct="1"/>
            <a:r>
              <a:rPr lang="en-GB" altLang="en-US" sz="2000">
                <a:latin typeface="Arial" pitchFamily="34" charset="0"/>
              </a:rPr>
              <a:t>Test (child) – “you say it”… or “what word?”</a:t>
            </a:r>
            <a:endParaRPr lang="en-GB" altLang="en-US" sz="2000" b="1">
              <a:latin typeface="Arial" pitchFamily="34" charset="0"/>
            </a:endParaRPr>
          </a:p>
        </p:txBody>
      </p:sp>
      <p:sp>
        <p:nvSpPr>
          <p:cNvPr id="17413" name="Text Box 5"/>
          <p:cNvSpPr txBox="1">
            <a:spLocks noChangeArrowheads="1"/>
          </p:cNvSpPr>
          <p:nvPr/>
        </p:nvSpPr>
        <p:spPr bwMode="auto">
          <a:xfrm>
            <a:off x="415925" y="1268413"/>
            <a:ext cx="3313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20000"/>
              </a:spcBef>
            </a:pPr>
            <a:r>
              <a:rPr lang="en-GB" altLang="en-US" sz="2000" b="1">
                <a:latin typeface="Arial" pitchFamily="34" charset="0"/>
              </a:rPr>
              <a:t>E.g. Direct Instruction</a:t>
            </a:r>
          </a:p>
        </p:txBody>
      </p:sp>
    </p:spTree>
    <p:extLst>
      <p:ext uri="{BB962C8B-B14F-4D97-AF65-F5344CB8AC3E}">
        <p14:creationId xmlns:p14="http://schemas.microsoft.com/office/powerpoint/2010/main" val="34874697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idx="4294967295"/>
          </p:nvPr>
        </p:nvSpPr>
        <p:spPr>
          <a:xfrm>
            <a:off x="0" y="609600"/>
            <a:ext cx="8569325" cy="1143000"/>
          </a:xfrm>
        </p:spPr>
        <p:txBody>
          <a:bodyPr/>
          <a:lstStyle/>
          <a:p>
            <a:pPr algn="ctr" eaLnBrk="1" fontAlgn="auto" hangingPunct="1">
              <a:spcAft>
                <a:spcPts val="0"/>
              </a:spcAft>
              <a:defRPr/>
            </a:pPr>
            <a:r>
              <a:rPr lang="en-GB" altLang="en-US" sz="3200" dirty="0" smtClean="0"/>
              <a:t>3. Examples of some teaching methods:</a:t>
            </a:r>
          </a:p>
        </p:txBody>
      </p:sp>
      <p:sp>
        <p:nvSpPr>
          <p:cNvPr id="18435" name="Rectangle 3"/>
          <p:cNvSpPr txBox="1">
            <a:spLocks noChangeArrowheads="1"/>
          </p:cNvSpPr>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pPr>
            <a:r>
              <a:rPr lang="en-GB" altLang="en-US" sz="3200" u="sng" dirty="0"/>
              <a:t>Magnetic Letters</a:t>
            </a:r>
          </a:p>
          <a:p>
            <a:pPr eaLnBrk="1" hangingPunct="1">
              <a:buClrTx/>
            </a:pPr>
            <a:endParaRPr lang="en-GB" altLang="en-US" sz="3200" u="sng" dirty="0"/>
          </a:p>
          <a:p>
            <a:pPr eaLnBrk="1" hangingPunct="1">
              <a:buClrTx/>
            </a:pPr>
            <a:endParaRPr lang="en-GB" altLang="en-US" sz="3200" u="sng" dirty="0"/>
          </a:p>
        </p:txBody>
      </p:sp>
      <p:sp>
        <p:nvSpPr>
          <p:cNvPr id="5" name="Rectangle 4"/>
          <p:cNvSpPr>
            <a:spLocks noChangeArrowheads="1"/>
          </p:cNvSpPr>
          <p:nvPr/>
        </p:nvSpPr>
        <p:spPr bwMode="auto">
          <a:xfrm>
            <a:off x="928688" y="2214563"/>
            <a:ext cx="7429500" cy="3846512"/>
          </a:xfrm>
          <a:prstGeom prst="rect">
            <a:avLst/>
          </a:prstGeom>
          <a:noFill/>
          <a:ln w="9525">
            <a:noFill/>
            <a:miter lim="800000"/>
            <a:headEnd/>
            <a:tailEnd/>
          </a:ln>
          <a:effectLst/>
        </p:spPr>
        <p:txBody>
          <a:bodyPr>
            <a:spAutoFit/>
          </a:bodyPr>
          <a:lstStyle/>
          <a:p>
            <a:pPr fontAlgn="auto">
              <a:lnSpc>
                <a:spcPct val="90000"/>
              </a:lnSpc>
              <a:spcBef>
                <a:spcPct val="50000"/>
              </a:spcBef>
              <a:spcAft>
                <a:spcPts val="0"/>
              </a:spcAft>
              <a:defRPr/>
            </a:pPr>
            <a:r>
              <a:rPr lang="en-GB" sz="1600" dirty="0">
                <a:effectLst>
                  <a:outerShdw blurRad="38100" dist="38100" dir="2700000" algn="tl">
                    <a:srgbClr val="C0C0C0"/>
                  </a:outerShdw>
                </a:effectLst>
                <a:latin typeface="Arial Black" pitchFamily="34" charset="0"/>
              </a:rPr>
              <a:t>Can you use the letters to make the words:  is  that  had  went</a:t>
            </a:r>
          </a:p>
          <a:p>
            <a:pPr fontAlgn="auto">
              <a:lnSpc>
                <a:spcPct val="90000"/>
              </a:lnSpc>
              <a:spcBef>
                <a:spcPct val="50000"/>
              </a:spcBef>
              <a:spcAft>
                <a:spcPts val="0"/>
              </a:spcAft>
              <a:defRPr/>
            </a:pPr>
            <a:endParaRPr lang="en-GB" sz="1600" dirty="0">
              <a:effectLst>
                <a:outerShdw blurRad="38100" dist="38100" dir="2700000" algn="tl">
                  <a:srgbClr val="C0C0C0"/>
                </a:outerShdw>
              </a:effectLst>
              <a:latin typeface="Arial Black" pitchFamily="34" charset="0"/>
            </a:endParaRPr>
          </a:p>
          <a:p>
            <a:pPr fontAlgn="auto">
              <a:lnSpc>
                <a:spcPct val="90000"/>
              </a:lnSpc>
              <a:spcBef>
                <a:spcPct val="50000"/>
              </a:spcBef>
              <a:spcAft>
                <a:spcPts val="0"/>
              </a:spcAft>
              <a:defRPr/>
            </a:pPr>
            <a:r>
              <a:rPr lang="en-GB" b="1" dirty="0">
                <a:effectLst>
                  <a:outerShdw blurRad="38100" dist="38100" dir="2700000" algn="tl">
                    <a:srgbClr val="C0C0C0"/>
                  </a:outerShdw>
                </a:effectLst>
                <a:latin typeface="Rockwell Extra Bold" pitchFamily="18" charset="0"/>
              </a:rPr>
              <a:t>		</a:t>
            </a:r>
            <a:r>
              <a:rPr lang="en-GB" sz="4400" b="1" dirty="0">
                <a:solidFill>
                  <a:schemeClr val="accent2"/>
                </a:solidFill>
                <a:effectLst>
                  <a:outerShdw blurRad="38100" dist="38100" dir="2700000" algn="tl">
                    <a:srgbClr val="C0C0C0"/>
                  </a:outerShdw>
                </a:effectLst>
                <a:latin typeface="Rockwell Extra Bold" pitchFamily="18" charset="0"/>
              </a:rPr>
              <a:t>A	  </a:t>
            </a:r>
            <a:r>
              <a:rPr lang="en-GB" sz="4400" b="1" dirty="0">
                <a:solidFill>
                  <a:srgbClr val="CCFF66"/>
                </a:solidFill>
                <a:effectLst>
                  <a:outerShdw blurRad="38100" dist="38100" dir="2700000" algn="tl">
                    <a:srgbClr val="C0C0C0"/>
                  </a:outerShdw>
                </a:effectLst>
                <a:latin typeface="Rockwell Extra Bold" pitchFamily="18" charset="0"/>
              </a:rPr>
              <a:t>S</a:t>
            </a:r>
            <a:r>
              <a:rPr lang="en-GB" sz="4400" b="1" dirty="0">
                <a:solidFill>
                  <a:schemeClr val="accent2"/>
                </a:solidFill>
                <a:effectLst>
                  <a:outerShdw blurRad="38100" dist="38100" dir="2700000" algn="tl">
                    <a:srgbClr val="C0C0C0"/>
                  </a:outerShdw>
                </a:effectLst>
                <a:latin typeface="Rockwell Extra Bold" pitchFamily="18" charset="0"/>
              </a:rPr>
              <a:t>		T</a:t>
            </a:r>
            <a:endParaRPr lang="en-GB" b="1" dirty="0">
              <a:solidFill>
                <a:schemeClr val="accent2"/>
              </a:solidFill>
              <a:effectLst>
                <a:outerShdw blurRad="38100" dist="38100" dir="2700000" algn="tl">
                  <a:srgbClr val="C0C0C0"/>
                </a:outerShdw>
              </a:effectLst>
              <a:latin typeface="Rockwell Extra Bold" pitchFamily="18" charset="0"/>
            </a:endParaRPr>
          </a:p>
          <a:p>
            <a:pPr fontAlgn="auto">
              <a:lnSpc>
                <a:spcPct val="90000"/>
              </a:lnSpc>
              <a:spcBef>
                <a:spcPct val="50000"/>
              </a:spcBef>
              <a:spcAft>
                <a:spcPts val="0"/>
              </a:spcAft>
              <a:defRPr/>
            </a:pPr>
            <a:r>
              <a:rPr lang="en-GB" sz="4400" b="1" dirty="0">
                <a:solidFill>
                  <a:srgbClr val="CCFF66"/>
                </a:solidFill>
                <a:effectLst>
                  <a:outerShdw blurRad="38100" dist="38100" dir="2700000" algn="tl">
                    <a:srgbClr val="C0C0C0"/>
                  </a:outerShdw>
                </a:effectLst>
                <a:latin typeface="Rockwell Extra Bold" pitchFamily="18" charset="0"/>
              </a:rPr>
              <a:t>D</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rgbClr val="FF0000"/>
                </a:solidFill>
                <a:effectLst>
                  <a:outerShdw blurRad="38100" dist="38100" dir="2700000" algn="tl">
                    <a:srgbClr val="C0C0C0"/>
                  </a:outerShdw>
                </a:effectLst>
                <a:latin typeface="Rockwell Extra Bold" pitchFamily="18" charset="0"/>
              </a:rPr>
              <a:t>H</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chemeClr val="accent2"/>
                </a:solidFill>
                <a:effectLst>
                  <a:outerShdw blurRad="38100" dist="38100" dir="2700000" algn="tl">
                    <a:srgbClr val="C0C0C0"/>
                  </a:outerShdw>
                </a:effectLst>
                <a:latin typeface="Rockwell Extra Bold" pitchFamily="18" charset="0"/>
              </a:rPr>
              <a:t>I		</a:t>
            </a:r>
            <a:r>
              <a:rPr lang="en-GB" sz="4400" dirty="0">
                <a:solidFill>
                  <a:srgbClr val="FF0000"/>
                </a:solidFill>
                <a:effectLst>
                  <a:outerShdw blurRad="38100" dist="38100" dir="2700000" algn="tl">
                    <a:srgbClr val="C0C0C0"/>
                  </a:outerShdw>
                </a:effectLst>
                <a:latin typeface="Rockwell Extra Bold" pitchFamily="18" charset="0"/>
              </a:rPr>
              <a:t>Y</a:t>
            </a:r>
          </a:p>
          <a:p>
            <a:pPr fontAlgn="auto">
              <a:lnSpc>
                <a:spcPct val="90000"/>
              </a:lnSpc>
              <a:spcBef>
                <a:spcPct val="50000"/>
              </a:spcBef>
              <a:spcAft>
                <a:spcPts val="0"/>
              </a:spcAft>
              <a:defRPr/>
            </a:pPr>
            <a:r>
              <a:rPr lang="en-GB" sz="1600" dirty="0">
                <a:solidFill>
                  <a:schemeClr val="accent2"/>
                </a:solidFill>
                <a:effectLst>
                  <a:outerShdw blurRad="38100" dist="38100" dir="2700000" algn="tl">
                    <a:srgbClr val="C0C0C0"/>
                  </a:outerShdw>
                </a:effectLst>
                <a:latin typeface="Arial Black" pitchFamily="34" charset="0"/>
              </a:rPr>
              <a:t>	</a:t>
            </a:r>
          </a:p>
          <a:p>
            <a:pPr fontAlgn="auto">
              <a:lnSpc>
                <a:spcPct val="90000"/>
              </a:lnSpc>
              <a:spcBef>
                <a:spcPct val="50000"/>
              </a:spcBef>
              <a:spcAft>
                <a:spcPts val="0"/>
              </a:spcAft>
              <a:defRPr/>
            </a:pP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chemeClr val="accent2"/>
                </a:solidFill>
                <a:effectLst>
                  <a:outerShdw blurRad="38100" dist="38100" dir="2700000" algn="tl">
                    <a:srgbClr val="C0C0C0"/>
                  </a:outerShdw>
                </a:effectLst>
                <a:latin typeface="Arial Black" pitchFamily="34" charset="0"/>
              </a:rPr>
              <a:t>A		E</a:t>
            </a:r>
            <a:r>
              <a:rPr lang="en-GB" sz="1600" dirty="0">
                <a:solidFill>
                  <a:schemeClr val="accent2"/>
                </a:solidFill>
                <a:effectLst>
                  <a:outerShdw blurRad="38100" dist="38100" dir="2700000" algn="tl">
                    <a:srgbClr val="C0C0C0"/>
                  </a:outerShdw>
                </a:effectLst>
                <a:latin typeface="Arial Black" pitchFamily="34" charset="0"/>
              </a:rPr>
              <a:t>	          </a:t>
            </a:r>
            <a:r>
              <a:rPr lang="en-GB" sz="4400" dirty="0">
                <a:solidFill>
                  <a:srgbClr val="FF0000"/>
                </a:solidFill>
                <a:effectLst>
                  <a:outerShdw blurRad="38100" dist="38100" dir="2700000" algn="tl">
                    <a:srgbClr val="C0C0C0"/>
                  </a:outerShdw>
                </a:effectLst>
                <a:latin typeface="Rockwell Extra Bold" pitchFamily="18" charset="0"/>
              </a:rPr>
              <a:t>W</a:t>
            </a:r>
            <a:endParaRPr lang="en-GB" sz="1600" dirty="0">
              <a:solidFill>
                <a:srgbClr val="FF0000"/>
              </a:solidFill>
              <a:effectLst>
                <a:outerShdw blurRad="38100" dist="38100" dir="2700000" algn="tl">
                  <a:srgbClr val="C0C0C0"/>
                </a:outerShdw>
              </a:effectLst>
              <a:latin typeface="Arial Black" pitchFamily="34" charset="0"/>
            </a:endParaRPr>
          </a:p>
        </p:txBody>
      </p:sp>
    </p:spTree>
    <p:extLst>
      <p:ext uri="{BB962C8B-B14F-4D97-AF65-F5344CB8AC3E}">
        <p14:creationId xmlns:p14="http://schemas.microsoft.com/office/powerpoint/2010/main" val="11939712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idx="4294967295"/>
          </p:nvPr>
        </p:nvSpPr>
        <p:spPr>
          <a:xfrm>
            <a:off x="0" y="609600"/>
            <a:ext cx="7772400" cy="1143000"/>
          </a:xfrm>
        </p:spPr>
        <p:txBody>
          <a:bodyPr/>
          <a:lstStyle/>
          <a:p>
            <a:pPr eaLnBrk="1" fontAlgn="auto" hangingPunct="1">
              <a:spcAft>
                <a:spcPts val="0"/>
              </a:spcAft>
              <a:defRPr/>
            </a:pPr>
            <a:r>
              <a:rPr lang="en-GB" altLang="en-US" sz="4000" smtClean="0"/>
              <a:t>3. Examples of some teaching methods:</a:t>
            </a:r>
          </a:p>
        </p:txBody>
      </p:sp>
      <p:sp>
        <p:nvSpPr>
          <p:cNvPr id="19459" name="Rectangle 3"/>
          <p:cNvSpPr txBox="1">
            <a:spLocks noChangeArrowheads="1"/>
          </p:cNvSpPr>
          <p:nvPr/>
        </p:nvSpPr>
        <p:spPr bwMode="auto">
          <a:xfrm>
            <a:off x="444732" y="1820068"/>
            <a:ext cx="8255000"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eaLnBrk="1" hangingPunct="1">
              <a:lnSpc>
                <a:spcPct val="90000"/>
              </a:lnSpc>
              <a:buClrTx/>
            </a:pPr>
            <a:r>
              <a:rPr lang="en-GB" altLang="en-US" sz="3200" u="sng" dirty="0"/>
              <a:t>Jumbled Letters Activity</a:t>
            </a:r>
          </a:p>
          <a:p>
            <a:pPr algn="l" eaLnBrk="1" hangingPunct="1">
              <a:lnSpc>
                <a:spcPct val="90000"/>
              </a:lnSpc>
              <a:buClrTx/>
              <a:buFontTx/>
              <a:buNone/>
            </a:pPr>
            <a:r>
              <a:rPr lang="en-GB" altLang="en-US" sz="2400" dirty="0"/>
              <a:t>	Can you find these words below?</a:t>
            </a:r>
          </a:p>
          <a:p>
            <a:pPr algn="l" eaLnBrk="1" hangingPunct="1">
              <a:lnSpc>
                <a:spcPct val="90000"/>
              </a:lnSpc>
              <a:buClrTx/>
              <a:buFontTx/>
              <a:buNone/>
            </a:pPr>
            <a:r>
              <a:rPr lang="en-GB" altLang="en-US" sz="2400" dirty="0"/>
              <a:t>	is	      that		had	    went</a:t>
            </a:r>
          </a:p>
          <a:p>
            <a:pPr algn="l" eaLnBrk="1" hangingPunct="1">
              <a:lnSpc>
                <a:spcPct val="90000"/>
              </a:lnSpc>
              <a:buClrTx/>
              <a:buFontTx/>
              <a:buNone/>
            </a:pPr>
            <a:endParaRPr lang="en-GB" altLang="en-US" sz="2400" dirty="0"/>
          </a:p>
          <a:p>
            <a:pPr algn="l" eaLnBrk="1" hangingPunct="1">
              <a:lnSpc>
                <a:spcPct val="90000"/>
              </a:lnSpc>
              <a:buClrTx/>
              <a:buFontTx/>
              <a:buNone/>
            </a:pPr>
            <a:r>
              <a:rPr lang="en-GB" altLang="en-US" sz="2000" dirty="0"/>
              <a:t>				W		D	         A T</a:t>
            </a:r>
          </a:p>
          <a:p>
            <a:pPr algn="l" eaLnBrk="1" hangingPunct="1">
              <a:lnSpc>
                <a:spcPct val="90000"/>
              </a:lnSpc>
              <a:buClrTx/>
              <a:buFontTx/>
              <a:buNone/>
            </a:pPr>
            <a:r>
              <a:rPr lang="en-GB" altLang="en-US" sz="2000" dirty="0"/>
              <a:t>	   I			 N  E		H	       T   H</a:t>
            </a:r>
          </a:p>
          <a:p>
            <a:pPr algn="l" eaLnBrk="1" hangingPunct="1">
              <a:lnSpc>
                <a:spcPct val="90000"/>
              </a:lnSpc>
              <a:buClrTx/>
              <a:buFontTx/>
              <a:buNone/>
            </a:pPr>
            <a:r>
              <a:rPr lang="en-GB" altLang="en-US" sz="2000" dirty="0"/>
              <a:t>	S   	        		   T		A</a:t>
            </a:r>
          </a:p>
          <a:p>
            <a:pPr algn="l" eaLnBrk="1" hangingPunct="1">
              <a:lnSpc>
                <a:spcPct val="90000"/>
              </a:lnSpc>
              <a:buClrTx/>
              <a:buFontTx/>
              <a:buNone/>
            </a:pPr>
            <a:r>
              <a:rPr lang="en-GB" altLang="en-US" sz="2000" dirty="0"/>
              <a:t>			T</a:t>
            </a:r>
          </a:p>
          <a:p>
            <a:pPr algn="l" eaLnBrk="1" hangingPunct="1">
              <a:lnSpc>
                <a:spcPct val="90000"/>
              </a:lnSpc>
              <a:buClrTx/>
              <a:buFontTx/>
              <a:buNone/>
            </a:pPr>
            <a:r>
              <a:rPr lang="en-GB" altLang="en-US" sz="2000" dirty="0"/>
              <a:t>		    A	H  T			T  W</a:t>
            </a:r>
          </a:p>
          <a:p>
            <a:pPr algn="l" eaLnBrk="1" hangingPunct="1">
              <a:lnSpc>
                <a:spcPct val="90000"/>
              </a:lnSpc>
              <a:buClrTx/>
              <a:buFontTx/>
              <a:buNone/>
            </a:pPr>
            <a:r>
              <a:rPr lang="en-GB" altLang="en-US" sz="2000" dirty="0"/>
              <a:t>						    N	E</a:t>
            </a:r>
          </a:p>
          <a:p>
            <a:pPr algn="l" eaLnBrk="1" hangingPunct="1">
              <a:lnSpc>
                <a:spcPct val="90000"/>
              </a:lnSpc>
              <a:buClrTx/>
              <a:buFontTx/>
              <a:buNone/>
            </a:pPr>
            <a:endParaRPr lang="en-GB" altLang="en-US" sz="2400" dirty="0"/>
          </a:p>
        </p:txBody>
      </p:sp>
      <p:grpSp>
        <p:nvGrpSpPr>
          <p:cNvPr id="19460" name="Group 20"/>
          <p:cNvGrpSpPr>
            <a:grpSpLocks/>
          </p:cNvGrpSpPr>
          <p:nvPr/>
        </p:nvGrpSpPr>
        <p:grpSpPr bwMode="auto">
          <a:xfrm>
            <a:off x="684213" y="3284538"/>
            <a:ext cx="6346825" cy="2643187"/>
            <a:chOff x="1393006" y="2857496"/>
            <a:chExt cx="6346076" cy="2643206"/>
          </a:xfrm>
        </p:grpSpPr>
        <p:sp>
          <p:nvSpPr>
            <p:cNvPr id="19461" name="Oval 21"/>
            <p:cNvSpPr>
              <a:spLocks noChangeArrowheads="1"/>
            </p:cNvSpPr>
            <p:nvPr/>
          </p:nvSpPr>
          <p:spPr bwMode="auto">
            <a:xfrm>
              <a:off x="1393006" y="3214686"/>
              <a:ext cx="851303" cy="114300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2" name="Oval 22"/>
            <p:cNvSpPr>
              <a:spLocks noChangeArrowheads="1"/>
            </p:cNvSpPr>
            <p:nvPr/>
          </p:nvSpPr>
          <p:spPr bwMode="auto">
            <a:xfrm>
              <a:off x="2095480" y="4000504"/>
              <a:ext cx="1779997" cy="1214446"/>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3" name="Oval 23"/>
            <p:cNvSpPr>
              <a:spLocks noChangeArrowheads="1"/>
            </p:cNvSpPr>
            <p:nvPr/>
          </p:nvSpPr>
          <p:spPr bwMode="auto">
            <a:xfrm>
              <a:off x="3667116" y="3000372"/>
              <a:ext cx="928694" cy="1285884"/>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4" name="Oval 24"/>
            <p:cNvSpPr>
              <a:spLocks noChangeArrowheads="1"/>
            </p:cNvSpPr>
            <p:nvPr/>
          </p:nvSpPr>
          <p:spPr bwMode="auto">
            <a:xfrm>
              <a:off x="5381628" y="2857496"/>
              <a:ext cx="928694" cy="142876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5" name="Oval 25"/>
            <p:cNvSpPr>
              <a:spLocks noChangeArrowheads="1"/>
            </p:cNvSpPr>
            <p:nvPr/>
          </p:nvSpPr>
          <p:spPr bwMode="auto">
            <a:xfrm>
              <a:off x="5310190" y="4357694"/>
              <a:ext cx="2089562" cy="1143008"/>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19466" name="Oval 26"/>
            <p:cNvSpPr>
              <a:spLocks noChangeArrowheads="1"/>
            </p:cNvSpPr>
            <p:nvPr/>
          </p:nvSpPr>
          <p:spPr bwMode="auto">
            <a:xfrm>
              <a:off x="6810388" y="2857496"/>
              <a:ext cx="928694" cy="135732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grpSp>
    </p:spTree>
    <p:extLst>
      <p:ext uri="{BB962C8B-B14F-4D97-AF65-F5344CB8AC3E}">
        <p14:creationId xmlns:p14="http://schemas.microsoft.com/office/powerpoint/2010/main" val="32775823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760040" y="549275"/>
            <a:ext cx="7772400" cy="1008063"/>
          </a:xfrm>
        </p:spPr>
        <p:txBody>
          <a:bodyPr/>
          <a:lstStyle/>
          <a:p>
            <a:pPr algn="l" fontAlgn="auto">
              <a:spcAft>
                <a:spcPts val="0"/>
              </a:spcAft>
              <a:defRPr/>
            </a:pPr>
            <a:r>
              <a:rPr lang="en-GB" altLang="en-US" sz="4000" dirty="0" smtClean="0">
                <a:latin typeface="Arial" pitchFamily="34" charset="0"/>
                <a:cs typeface="Arial" pitchFamily="34" charset="0"/>
              </a:rPr>
              <a:t>Points to </a:t>
            </a:r>
            <a:r>
              <a:rPr lang="en-GB" altLang="en-US" sz="4000" dirty="0" smtClean="0">
                <a:latin typeface="Arial" pitchFamily="34" charset="0"/>
                <a:cs typeface="Arial" pitchFamily="34" charset="0"/>
              </a:rPr>
              <a:t>remember</a:t>
            </a:r>
            <a:endParaRPr lang="en-GB" altLang="en-US" sz="4000" dirty="0" smtClean="0">
              <a:latin typeface="Arial" pitchFamily="34" charset="0"/>
              <a:cs typeface="Arial" pitchFamily="34" charset="0"/>
            </a:endParaRPr>
          </a:p>
        </p:txBody>
      </p:sp>
      <p:sp>
        <p:nvSpPr>
          <p:cNvPr id="19459" name="Rectangle 3"/>
          <p:cNvSpPr>
            <a:spLocks noGrp="1" noChangeArrowheads="1"/>
          </p:cNvSpPr>
          <p:nvPr>
            <p:ph type="body" idx="4294967295"/>
          </p:nvPr>
        </p:nvSpPr>
        <p:spPr>
          <a:xfrm>
            <a:off x="323528" y="1773238"/>
            <a:ext cx="7772400" cy="4114800"/>
          </a:xfrm>
        </p:spPr>
        <p:txBody>
          <a:bodyPr/>
          <a:lstStyle/>
          <a:p>
            <a:r>
              <a:rPr lang="en-GB" altLang="en-US" sz="2800" dirty="0" smtClean="0">
                <a:latin typeface="Arial" pitchFamily="34" charset="0"/>
                <a:cs typeface="Arial" pitchFamily="34" charset="0"/>
              </a:rPr>
              <a:t>Make sure the pace is good- keep things flowing</a:t>
            </a:r>
          </a:p>
          <a:p>
            <a:r>
              <a:rPr lang="en-GB" altLang="en-US" sz="2800" dirty="0" smtClean="0">
                <a:latin typeface="Arial" pitchFamily="34" charset="0"/>
                <a:cs typeface="Arial" pitchFamily="34" charset="0"/>
              </a:rPr>
              <a:t>Include pointing, to signal the pupil’s turn</a:t>
            </a:r>
          </a:p>
          <a:p>
            <a:r>
              <a:rPr lang="en-GB" altLang="en-US" sz="2800" dirty="0" smtClean="0">
                <a:latin typeface="Arial" pitchFamily="34" charset="0"/>
                <a:cs typeface="Arial" pitchFamily="34" charset="0"/>
              </a:rPr>
              <a:t>Include intonation</a:t>
            </a:r>
          </a:p>
          <a:p>
            <a:r>
              <a:rPr lang="en-GB" altLang="en-US" sz="2800" dirty="0" smtClean="0">
                <a:latin typeface="Arial" pitchFamily="34" charset="0"/>
                <a:cs typeface="Arial" pitchFamily="34" charset="0"/>
              </a:rPr>
              <a:t>Praise must be immediate, specific, positive</a:t>
            </a:r>
          </a:p>
          <a:p>
            <a:r>
              <a:rPr lang="en-GB" altLang="en-US" sz="2800" dirty="0" smtClean="0">
                <a:latin typeface="Arial" pitchFamily="34" charset="0"/>
                <a:cs typeface="Arial" pitchFamily="34" charset="0"/>
              </a:rPr>
              <a:t>Avoid word-building- just give the sight word</a:t>
            </a:r>
          </a:p>
        </p:txBody>
      </p:sp>
    </p:spTree>
    <p:extLst>
      <p:ext uri="{BB962C8B-B14F-4D97-AF65-F5344CB8AC3E}">
        <p14:creationId xmlns:p14="http://schemas.microsoft.com/office/powerpoint/2010/main" val="161842797"/>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3200" b="1" dirty="0" smtClean="0"/>
              <a:t>Step 4 </a:t>
            </a:r>
            <a:r>
              <a:rPr lang="en-GB" altLang="en-US" sz="3200" b="1" dirty="0" smtClean="0"/>
              <a:t>–</a:t>
            </a:r>
            <a:r>
              <a:rPr lang="en-GB" altLang="en-US" sz="3200" dirty="0" smtClean="0"/>
              <a:t> Monitoring Performance</a:t>
            </a:r>
            <a:endParaRPr lang="en-GB" altLang="en-US" sz="3200" dirty="0" smtClean="0"/>
          </a:p>
        </p:txBody>
      </p:sp>
      <p:sp>
        <p:nvSpPr>
          <p:cNvPr id="21507" name="Rectangle 3"/>
          <p:cNvSpPr>
            <a:spLocks noGrp="1" noChangeArrowheads="1"/>
          </p:cNvSpPr>
          <p:nvPr>
            <p:ph idx="1"/>
          </p:nvPr>
        </p:nvSpPr>
        <p:spPr>
          <a:xfrm>
            <a:off x="467544" y="1628800"/>
            <a:ext cx="7632700" cy="4968875"/>
          </a:xfrm>
        </p:spPr>
        <p:txBody>
          <a:bodyPr/>
          <a:lstStyle/>
          <a:p>
            <a:pPr eaLnBrk="1" hangingPunct="1"/>
            <a:r>
              <a:rPr lang="en-GB" altLang="en-US" dirty="0" smtClean="0"/>
              <a:t>Using a Probe sheet</a:t>
            </a:r>
          </a:p>
          <a:p>
            <a:pPr eaLnBrk="1" hangingPunct="1"/>
            <a:r>
              <a:rPr lang="en-GB" altLang="en-US" dirty="0" smtClean="0"/>
              <a:t>What is a probe sheet? </a:t>
            </a:r>
          </a:p>
          <a:p>
            <a:pPr eaLnBrk="1" hangingPunct="1"/>
            <a:endParaRPr lang="en-GB" altLang="en-US" dirty="0" smtClean="0"/>
          </a:p>
        </p:txBody>
      </p:sp>
    </p:spTree>
    <p:extLst>
      <p:ext uri="{BB962C8B-B14F-4D97-AF65-F5344CB8AC3E}">
        <p14:creationId xmlns:p14="http://schemas.microsoft.com/office/powerpoint/2010/main" val="3341875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p:cNvSpPr>
          <p:nvPr/>
        </p:nvSpPr>
        <p:spPr bwMode="auto">
          <a:xfrm>
            <a:off x="1258888" y="584200"/>
            <a:ext cx="6896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Basic ‘Probe’ sheet</a:t>
            </a:r>
          </a:p>
        </p:txBody>
      </p:sp>
      <p:grpSp>
        <p:nvGrpSpPr>
          <p:cNvPr id="18435" name="Group 2"/>
          <p:cNvGrpSpPr>
            <a:grpSpLocks/>
          </p:cNvGrpSpPr>
          <p:nvPr/>
        </p:nvGrpSpPr>
        <p:grpSpPr bwMode="auto">
          <a:xfrm>
            <a:off x="685800" y="1219200"/>
            <a:ext cx="3200400" cy="4572000"/>
            <a:chOff x="0" y="0"/>
            <a:chExt cx="2016" cy="2880"/>
          </a:xfrm>
        </p:grpSpPr>
        <p:sp>
          <p:nvSpPr>
            <p:cNvPr id="18437" name="Rectangle 3"/>
            <p:cNvSpPr>
              <a:spLocks/>
            </p:cNvSpPr>
            <p:nvPr/>
          </p:nvSpPr>
          <p:spPr bwMode="auto">
            <a:xfrm>
              <a:off x="0" y="0"/>
              <a:ext cx="2016" cy="288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grpSp>
          <p:nvGrpSpPr>
            <p:cNvPr id="18438" name="Group 4"/>
            <p:cNvGrpSpPr>
              <a:grpSpLocks/>
            </p:cNvGrpSpPr>
            <p:nvPr/>
          </p:nvGrpSpPr>
          <p:grpSpPr bwMode="auto">
            <a:xfrm>
              <a:off x="240" y="360"/>
              <a:ext cx="1530" cy="2314"/>
              <a:chOff x="0" y="0"/>
              <a:chExt cx="1530" cy="2314"/>
            </a:xfrm>
          </p:grpSpPr>
          <p:sp>
            <p:nvSpPr>
              <p:cNvPr id="18443" name="Rectangle 5"/>
              <p:cNvSpPr>
                <a:spLocks/>
              </p:cNvSpPr>
              <p:nvPr/>
            </p:nvSpPr>
            <p:spPr bwMode="auto">
              <a:xfrm>
                <a:off x="0" y="0"/>
                <a:ext cx="1530" cy="2314"/>
              </a:xfrm>
              <a:prstGeom prst="rect">
                <a:avLst/>
              </a:prstGeom>
              <a:solidFill>
                <a:srgbClr val="F8F8F8"/>
              </a:solidFill>
              <a:ln w="381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4" name="Line 6"/>
              <p:cNvSpPr>
                <a:spLocks noChangeShapeType="1"/>
              </p:cNvSpPr>
              <p:nvPr/>
            </p:nvSpPr>
            <p:spPr bwMode="auto">
              <a:xfrm>
                <a:off x="0" y="1132"/>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5" name="Line 7"/>
              <p:cNvSpPr>
                <a:spLocks noChangeShapeType="1"/>
              </p:cNvSpPr>
              <p:nvPr/>
            </p:nvSpPr>
            <p:spPr bwMode="auto">
              <a:xfrm>
                <a:off x="0" y="1427"/>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6" name="Line 8"/>
              <p:cNvSpPr>
                <a:spLocks noChangeShapeType="1"/>
              </p:cNvSpPr>
              <p:nvPr/>
            </p:nvSpPr>
            <p:spPr bwMode="auto">
              <a:xfrm>
                <a:off x="0" y="837"/>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7" name="Line 9"/>
              <p:cNvSpPr>
                <a:spLocks noChangeShapeType="1"/>
              </p:cNvSpPr>
              <p:nvPr/>
            </p:nvSpPr>
            <p:spPr bwMode="auto">
              <a:xfrm>
                <a:off x="0" y="541"/>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8" name="Line 10"/>
              <p:cNvSpPr>
                <a:spLocks noChangeShapeType="1"/>
              </p:cNvSpPr>
              <p:nvPr/>
            </p:nvSpPr>
            <p:spPr bwMode="auto">
              <a:xfrm>
                <a:off x="0" y="1723"/>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49" name="Line 11"/>
              <p:cNvSpPr>
                <a:spLocks noChangeShapeType="1"/>
              </p:cNvSpPr>
              <p:nvPr/>
            </p:nvSpPr>
            <p:spPr bwMode="auto">
              <a:xfrm>
                <a:off x="0" y="2018"/>
                <a:ext cx="153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0" name="Line 12"/>
              <p:cNvSpPr>
                <a:spLocks noChangeShapeType="1"/>
              </p:cNvSpPr>
              <p:nvPr/>
            </p:nvSpPr>
            <p:spPr bwMode="auto">
              <a:xfrm>
                <a:off x="0" y="246"/>
                <a:ext cx="15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1" name="Line 13"/>
              <p:cNvSpPr>
                <a:spLocks noChangeShapeType="1"/>
              </p:cNvSpPr>
              <p:nvPr/>
            </p:nvSpPr>
            <p:spPr bwMode="auto">
              <a:xfrm>
                <a:off x="278"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2" name="Line 14"/>
              <p:cNvSpPr>
                <a:spLocks noChangeShapeType="1"/>
              </p:cNvSpPr>
              <p:nvPr/>
            </p:nvSpPr>
            <p:spPr bwMode="auto">
              <a:xfrm>
                <a:off x="602"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3" name="Line 15"/>
              <p:cNvSpPr>
                <a:spLocks noChangeShapeType="1"/>
              </p:cNvSpPr>
              <p:nvPr/>
            </p:nvSpPr>
            <p:spPr bwMode="auto">
              <a:xfrm>
                <a:off x="927"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454" name="Line 16"/>
              <p:cNvSpPr>
                <a:spLocks noChangeShapeType="1"/>
              </p:cNvSpPr>
              <p:nvPr/>
            </p:nvSpPr>
            <p:spPr bwMode="auto">
              <a:xfrm>
                <a:off x="1205" y="0"/>
                <a:ext cx="1" cy="23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18439" name="Line 17"/>
            <p:cNvSpPr>
              <a:spLocks noChangeShapeType="1"/>
            </p:cNvSpPr>
            <p:nvPr/>
          </p:nvSpPr>
          <p:spPr bwMode="auto">
            <a:xfrm>
              <a:off x="240" y="308"/>
              <a:ext cx="15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18440" name="Group 18"/>
            <p:cNvGrpSpPr>
              <a:grpSpLocks/>
            </p:cNvGrpSpPr>
            <p:nvPr/>
          </p:nvGrpSpPr>
          <p:grpSpPr bwMode="auto">
            <a:xfrm>
              <a:off x="240" y="102"/>
              <a:ext cx="1488" cy="168"/>
              <a:chOff x="0" y="0"/>
              <a:chExt cx="1488" cy="168"/>
            </a:xfrm>
          </p:grpSpPr>
          <p:sp>
            <p:nvSpPr>
              <p:cNvPr id="18441" name="Rectangle 19"/>
              <p:cNvSpPr>
                <a:spLocks/>
              </p:cNvSpPr>
              <p:nvPr/>
            </p:nvSpPr>
            <p:spPr bwMode="auto">
              <a:xfrm>
                <a:off x="0" y="0"/>
                <a:ext cx="1488" cy="168"/>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18442" name="Rectangle 20"/>
              <p:cNvSpPr>
                <a:spLocks/>
              </p:cNvSpPr>
              <p:nvPr/>
            </p:nvSpPr>
            <p:spPr bwMode="auto">
              <a:xfrm>
                <a:off x="0" y="0"/>
                <a:ext cx="148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550"/>
                  </a:spcBef>
                  <a:buClrTx/>
                  <a:buSzTx/>
                  <a:buFontTx/>
                  <a:buNone/>
                </a:pPr>
                <a:r>
                  <a:rPr lang="en-US" altLang="en-US" sz="1000">
                    <a:latin typeface="Arial" charset="0"/>
                    <a:cs typeface="Arial" charset="0"/>
                    <a:sym typeface="Arial" charset="0"/>
                  </a:rPr>
                  <a:t>Name                                   aim   rate</a:t>
                </a:r>
              </a:p>
            </p:txBody>
          </p:sp>
        </p:grpSp>
      </p:grpSp>
      <p:sp>
        <p:nvSpPr>
          <p:cNvPr id="18436" name="Rectangle 21"/>
          <p:cNvSpPr>
            <a:spLocks/>
          </p:cNvSpPr>
          <p:nvPr/>
        </p:nvSpPr>
        <p:spPr bwMode="auto">
          <a:xfrm>
            <a:off x="3962400" y="1066800"/>
            <a:ext cx="4495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Font typeface="Arial" charset="0"/>
              <a:buChar char="•"/>
            </a:pPr>
            <a:endParaRPr lang="en-US" altLang="en-US" sz="2000" dirty="0">
              <a:cs typeface="Times" charset="0"/>
            </a:endParaRPr>
          </a:p>
          <a:p>
            <a:pPr eaLnBrk="1" hangingPunct="1">
              <a:spcBef>
                <a:spcPct val="0"/>
              </a:spcBef>
              <a:buClrTx/>
              <a:buSzTx/>
              <a:buFontTx/>
              <a:buNone/>
            </a:pPr>
            <a:r>
              <a:rPr lang="en-US" altLang="en-US" sz="1800" dirty="0"/>
              <a:t>The Probe sheet is the stimulus for a short timed test (a ‘Probe’) usually for 1 minute in duration</a:t>
            </a:r>
          </a:p>
          <a:p>
            <a:pPr eaLnBrk="1" hangingPunct="1">
              <a:spcBef>
                <a:spcPct val="0"/>
              </a:spcBef>
              <a:buClrTx/>
              <a:buSzTx/>
              <a:buFontTx/>
              <a:buNone/>
            </a:pPr>
            <a:endParaRPr lang="en-US" altLang="en-US" sz="1800" dirty="0"/>
          </a:p>
          <a:p>
            <a:pPr eaLnBrk="1" hangingPunct="1">
              <a:spcBef>
                <a:spcPct val="0"/>
              </a:spcBef>
              <a:buClrTx/>
              <a:buSzTx/>
              <a:buFontTx/>
              <a:buNone/>
            </a:pPr>
            <a:endParaRPr lang="en-US" altLang="en-US" sz="1800" dirty="0"/>
          </a:p>
          <a:p>
            <a:pPr eaLnBrk="1" hangingPunct="1">
              <a:spcBef>
                <a:spcPct val="0"/>
              </a:spcBef>
              <a:buClrTx/>
              <a:buSzTx/>
              <a:buFontTx/>
              <a:buNone/>
            </a:pPr>
            <a:r>
              <a:rPr lang="en-US" altLang="en-US" sz="1800" dirty="0"/>
              <a:t>A sheet with target </a:t>
            </a:r>
          </a:p>
          <a:p>
            <a:pPr eaLnBrk="1" hangingPunct="1">
              <a:spcBef>
                <a:spcPct val="0"/>
              </a:spcBef>
              <a:buClrTx/>
              <a:buSzTx/>
              <a:buFontTx/>
              <a:buNone/>
            </a:pPr>
            <a:r>
              <a:rPr lang="en-US" altLang="en-US" sz="1800" dirty="0"/>
              <a:t>words in </a:t>
            </a:r>
            <a:r>
              <a:rPr lang="en-US" altLang="en-US" sz="1800" dirty="0" err="1"/>
              <a:t>randomised</a:t>
            </a:r>
            <a:r>
              <a:rPr lang="en-US" altLang="en-US" sz="1800" dirty="0"/>
              <a:t> </a:t>
            </a:r>
          </a:p>
          <a:p>
            <a:pPr eaLnBrk="1" hangingPunct="1">
              <a:spcBef>
                <a:spcPct val="0"/>
              </a:spcBef>
              <a:buClrTx/>
              <a:buSzTx/>
              <a:buFontTx/>
              <a:buNone/>
            </a:pPr>
            <a:r>
              <a:rPr lang="en-US" altLang="en-US" sz="1800" dirty="0"/>
              <a:t>order is used for </a:t>
            </a:r>
          </a:p>
          <a:p>
            <a:pPr eaLnBrk="1" hangingPunct="1">
              <a:spcBef>
                <a:spcPct val="0"/>
              </a:spcBef>
              <a:buClrTx/>
              <a:buSzTx/>
              <a:buFontTx/>
              <a:buNone/>
            </a:pPr>
            <a:r>
              <a:rPr lang="en-US" altLang="en-US" sz="1800" dirty="0"/>
              <a:t>reading – ‘</a:t>
            </a:r>
            <a:r>
              <a:rPr lang="en-US" altLang="en-US" sz="1800" u="sng" dirty="0"/>
              <a:t>see to say</a:t>
            </a:r>
            <a:r>
              <a:rPr lang="en-US" altLang="en-US" sz="1800" u="sng" dirty="0" smtClean="0"/>
              <a:t>’</a:t>
            </a:r>
          </a:p>
          <a:p>
            <a:pPr eaLnBrk="1" hangingPunct="1">
              <a:spcBef>
                <a:spcPct val="0"/>
              </a:spcBef>
              <a:buClrTx/>
              <a:buSzTx/>
              <a:buFontTx/>
              <a:buNone/>
            </a:pPr>
            <a:endParaRPr lang="en-US" altLang="en-US" sz="1800" u="sng" dirty="0"/>
          </a:p>
          <a:p>
            <a:pPr>
              <a:spcBef>
                <a:spcPct val="0"/>
              </a:spcBef>
              <a:buClrTx/>
              <a:buSzTx/>
              <a:buNone/>
            </a:pPr>
            <a:r>
              <a:rPr lang="en-GB" altLang="en-US" sz="1800" dirty="0"/>
              <a:t>The child is timed and reads as many words as they can in 1 minute (go back to top of probe if child reads all the words in under a minute).</a:t>
            </a:r>
          </a:p>
          <a:p>
            <a:pPr eaLnBrk="1" hangingPunct="1">
              <a:spcBef>
                <a:spcPct val="0"/>
              </a:spcBef>
              <a:buClrTx/>
              <a:buSzTx/>
              <a:buFontTx/>
              <a:buNone/>
            </a:pPr>
            <a:endParaRPr lang="en-US" altLang="en-US" sz="2000" u="sng" dirty="0"/>
          </a:p>
        </p:txBody>
      </p:sp>
    </p:spTree>
    <p:extLst>
      <p:ext uri="{BB962C8B-B14F-4D97-AF65-F5344CB8AC3E}">
        <p14:creationId xmlns:p14="http://schemas.microsoft.com/office/powerpoint/2010/main" val="1894867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1157288" y="0"/>
            <a:ext cx="6870700" cy="1412875"/>
          </a:xfrm>
        </p:spPr>
        <p:txBody>
          <a:bodyPr rIns="31750" anchor="b"/>
          <a:lstStyle/>
          <a:p>
            <a:pPr indent="0" algn="ctr" eaLnBrk="1" hangingPunct="1"/>
            <a:r>
              <a:rPr lang="en-US" altLang="en-US" sz="3200" u="sng" dirty="0" smtClean="0"/>
              <a:t>Types of probe:</a:t>
            </a:r>
          </a:p>
        </p:txBody>
      </p:sp>
      <p:sp>
        <p:nvSpPr>
          <p:cNvPr id="19459" name="Rectangle 2"/>
          <p:cNvSpPr>
            <a:spLocks noGrp="1" noChangeArrowheads="1"/>
          </p:cNvSpPr>
          <p:nvPr>
            <p:ph type="body" idx="1"/>
          </p:nvPr>
        </p:nvSpPr>
        <p:spPr>
          <a:xfrm>
            <a:off x="1330325" y="1927225"/>
            <a:ext cx="5257800" cy="4930775"/>
          </a:xfrm>
        </p:spPr>
        <p:txBody>
          <a:bodyPr rIns="31750"/>
          <a:lstStyle/>
          <a:p>
            <a:pPr marL="423863" indent="-384175" eaLnBrk="1" hangingPunct="1">
              <a:lnSpc>
                <a:spcPct val="90000"/>
              </a:lnSpc>
            </a:pPr>
            <a:r>
              <a:rPr lang="en-US" altLang="en-US" sz="2800" b="1" dirty="0" smtClean="0"/>
              <a:t>See to say</a:t>
            </a:r>
            <a:r>
              <a:rPr lang="en-US" altLang="en-US" sz="2800" dirty="0" smtClean="0"/>
              <a:t> e.g. letter, number, sight word recognition</a:t>
            </a:r>
          </a:p>
          <a:p>
            <a:pPr marL="423863" indent="-384175" eaLnBrk="1" hangingPunct="1">
              <a:lnSpc>
                <a:spcPct val="90000"/>
              </a:lnSpc>
            </a:pPr>
            <a:endParaRPr lang="en-US" altLang="en-US" sz="2800" dirty="0" smtClean="0"/>
          </a:p>
          <a:p>
            <a:pPr marL="423863" indent="-384175" eaLnBrk="1" hangingPunct="1">
              <a:lnSpc>
                <a:spcPct val="90000"/>
              </a:lnSpc>
            </a:pPr>
            <a:r>
              <a:rPr lang="en-US" altLang="en-US" sz="2800" b="1" dirty="0" smtClean="0"/>
              <a:t>Hear to write</a:t>
            </a:r>
            <a:r>
              <a:rPr lang="en-US" altLang="en-US" sz="2800" dirty="0" smtClean="0"/>
              <a:t> e.g. letter sounds, numbers, spellings</a:t>
            </a:r>
          </a:p>
          <a:p>
            <a:pPr marL="423863" indent="-384175" eaLnBrk="1" hangingPunct="1">
              <a:lnSpc>
                <a:spcPct val="90000"/>
              </a:lnSpc>
            </a:pPr>
            <a:endParaRPr lang="en-US" altLang="en-US" sz="2800" dirty="0" smtClean="0"/>
          </a:p>
          <a:p>
            <a:pPr marL="423863" indent="-384175" eaLnBrk="1" hangingPunct="1">
              <a:lnSpc>
                <a:spcPct val="90000"/>
              </a:lnSpc>
            </a:pPr>
            <a:r>
              <a:rPr lang="en-US" altLang="en-US" sz="2800" b="1" dirty="0" smtClean="0"/>
              <a:t>See to write</a:t>
            </a:r>
            <a:r>
              <a:rPr lang="en-US" altLang="en-US" sz="2800" dirty="0" smtClean="0"/>
              <a:t> e.g. 3 + 6 =</a:t>
            </a:r>
          </a:p>
        </p:txBody>
      </p:sp>
    </p:spTree>
    <p:extLst>
      <p:ext uri="{BB962C8B-B14F-4D97-AF65-F5344CB8AC3E}">
        <p14:creationId xmlns:p14="http://schemas.microsoft.com/office/powerpoint/2010/main" val="3734703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95289" y="259904"/>
            <a:ext cx="8353176" cy="864840"/>
          </a:xfrm>
        </p:spPr>
        <p:txBody>
          <a:bodyPr/>
          <a:lstStyle/>
          <a:p>
            <a:pPr algn="ctr" eaLnBrk="1" hangingPunct="1"/>
            <a:r>
              <a:rPr lang="en-GB" altLang="en-US" sz="4000" dirty="0" smtClean="0">
                <a:latin typeface="Arial" charset="0"/>
              </a:rPr>
              <a:t>Designing Probes</a:t>
            </a:r>
          </a:p>
        </p:txBody>
      </p:sp>
      <p:sp>
        <p:nvSpPr>
          <p:cNvPr id="9219" name="Rectangle 4"/>
          <p:cNvSpPr>
            <a:spLocks noGrp="1" noChangeArrowheads="1"/>
          </p:cNvSpPr>
          <p:nvPr>
            <p:ph type="body" sz="half" idx="1"/>
          </p:nvPr>
        </p:nvSpPr>
        <p:spPr>
          <a:xfrm>
            <a:off x="755576" y="1600200"/>
            <a:ext cx="3810000" cy="4530725"/>
          </a:xfrm>
        </p:spPr>
        <p:txBody>
          <a:bodyPr/>
          <a:lstStyle/>
          <a:p>
            <a:pPr eaLnBrk="1" hangingPunct="1">
              <a:buFont typeface="Wingdings" pitchFamily="2" charset="2"/>
              <a:buNone/>
            </a:pPr>
            <a:r>
              <a:rPr lang="en-GB" altLang="en-US" sz="2400" b="1" dirty="0" smtClean="0"/>
              <a:t>	</a:t>
            </a:r>
            <a:r>
              <a:rPr lang="en-GB" altLang="en-US" sz="2400" b="1" u="sng" dirty="0" smtClean="0"/>
              <a:t>High Frequency</a:t>
            </a:r>
          </a:p>
          <a:p>
            <a:pPr eaLnBrk="1" hangingPunct="1"/>
            <a:r>
              <a:rPr lang="en-GB" altLang="en-US" sz="2400" dirty="0" smtClean="0"/>
              <a:t>Progression through high frequency </a:t>
            </a:r>
            <a:r>
              <a:rPr lang="en-GB" altLang="en-US" sz="2400" dirty="0" err="1" smtClean="0"/>
              <a:t>sightwords</a:t>
            </a:r>
            <a:r>
              <a:rPr lang="en-GB" altLang="en-US" sz="2400" dirty="0" smtClean="0"/>
              <a:t> listed in ‘Letters and Sounds’</a:t>
            </a:r>
          </a:p>
        </p:txBody>
      </p:sp>
      <p:sp>
        <p:nvSpPr>
          <p:cNvPr id="9220" name="Rectangle 5"/>
          <p:cNvSpPr>
            <a:spLocks noGrp="1" noChangeArrowheads="1"/>
          </p:cNvSpPr>
          <p:nvPr>
            <p:ph type="body" sz="half" idx="2"/>
          </p:nvPr>
        </p:nvSpPr>
        <p:spPr>
          <a:xfrm>
            <a:off x="4644008" y="1600200"/>
            <a:ext cx="3810000" cy="4530725"/>
          </a:xfrm>
        </p:spPr>
        <p:txBody>
          <a:bodyPr/>
          <a:lstStyle/>
          <a:p>
            <a:pPr eaLnBrk="1" hangingPunct="1">
              <a:buFont typeface="Wingdings" pitchFamily="2" charset="2"/>
              <a:buNone/>
            </a:pPr>
            <a:r>
              <a:rPr lang="en-GB" altLang="en-US" sz="2400" b="1" dirty="0" smtClean="0"/>
              <a:t>	</a:t>
            </a:r>
            <a:r>
              <a:rPr lang="en-GB" altLang="en-US" sz="2400" b="1" u="sng" dirty="0" smtClean="0"/>
              <a:t>Phonic Development</a:t>
            </a:r>
          </a:p>
          <a:p>
            <a:pPr eaLnBrk="1" hangingPunct="1"/>
            <a:r>
              <a:rPr lang="en-GB" altLang="en-US" sz="2400" dirty="0" smtClean="0"/>
              <a:t>The content of the probe is rule bound i.e. the probe should include as many examples as possible to test the rule</a:t>
            </a:r>
          </a:p>
        </p:txBody>
      </p:sp>
    </p:spTree>
    <p:extLst>
      <p:ext uri="{BB962C8B-B14F-4D97-AF65-F5344CB8AC3E}">
        <p14:creationId xmlns:p14="http://schemas.microsoft.com/office/powerpoint/2010/main" val="39974611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1187450" y="1052513"/>
            <a:ext cx="7086600" cy="731837"/>
          </a:xfrm>
        </p:spPr>
        <p:txBody>
          <a:bodyPr rIns="31750" anchor="b"/>
          <a:lstStyle/>
          <a:p>
            <a:pPr indent="0" algn="l" eaLnBrk="1" hangingPunct="1"/>
            <a:r>
              <a:rPr lang="en-US" altLang="en-US" u="sng" dirty="0" smtClean="0"/>
              <a:t>PT Probe Generator</a:t>
            </a:r>
          </a:p>
        </p:txBody>
      </p:sp>
      <p:sp>
        <p:nvSpPr>
          <p:cNvPr id="20483" name="Rectangle 2"/>
          <p:cNvSpPr>
            <a:spLocks noGrp="1" noChangeArrowheads="1"/>
          </p:cNvSpPr>
          <p:nvPr>
            <p:ph type="body" idx="4294967295"/>
          </p:nvPr>
        </p:nvSpPr>
        <p:spPr>
          <a:xfrm>
            <a:off x="1259632" y="1268760"/>
            <a:ext cx="7416800" cy="4525963"/>
          </a:xfrm>
        </p:spPr>
        <p:txBody>
          <a:bodyPr rIns="31750"/>
          <a:lstStyle/>
          <a:p>
            <a:pPr marL="423863" indent="-384175" eaLnBrk="1" hangingPunct="1"/>
            <a:endParaRPr lang="en-US" altLang="en-US" dirty="0" smtClean="0"/>
          </a:p>
          <a:p>
            <a:pPr marL="423863" indent="-384175" eaLnBrk="1" hangingPunct="1"/>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r>
              <a:rPr lang="en-US" altLang="en-US" dirty="0">
                <a:hlinkClick r:id="rId3"/>
              </a:rPr>
              <a:t>http://</a:t>
            </a:r>
            <a:r>
              <a:rPr lang="en-US" altLang="en-US" dirty="0" smtClean="0">
                <a:hlinkClick r:id="rId3"/>
              </a:rPr>
              <a:t>johnandgwyn.co.uk/probe.html</a:t>
            </a:r>
            <a:endParaRPr lang="en-US" altLang="en-US" dirty="0" smtClean="0"/>
          </a:p>
          <a:p>
            <a:pPr marL="423863" indent="-384175" eaLnBrk="1" hangingPunct="1">
              <a:buFont typeface="Century Gothic" pitchFamily="34" charset="0"/>
              <a:buNone/>
            </a:pPr>
            <a:endParaRPr lang="en-US" altLang="en-US" dirty="0" smtClean="0"/>
          </a:p>
          <a:p>
            <a:pPr marL="423863" indent="-384175" algn="ctr" eaLnBrk="1" hangingPunct="1">
              <a:buFont typeface="Century Gothic" pitchFamily="34" charset="0"/>
              <a:buNone/>
            </a:pPr>
            <a:endParaRPr lang="en-US" altLang="en-US" dirty="0" smtClean="0"/>
          </a:p>
        </p:txBody>
      </p:sp>
    </p:spTree>
    <p:extLst>
      <p:ext uri="{BB962C8B-B14F-4D97-AF65-F5344CB8AC3E}">
        <p14:creationId xmlns:p14="http://schemas.microsoft.com/office/powerpoint/2010/main" val="529849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4213" y="260350"/>
            <a:ext cx="7772400" cy="947738"/>
          </a:xfrm>
        </p:spPr>
        <p:txBody>
          <a:bodyPr/>
          <a:lstStyle/>
          <a:p>
            <a:pPr algn="ctr" eaLnBrk="1" fontAlgn="auto" hangingPunct="1">
              <a:spcAft>
                <a:spcPts val="0"/>
              </a:spcAft>
              <a:defRPr/>
            </a:pPr>
            <a:r>
              <a:rPr lang="en-GB" altLang="en-US" sz="4000" b="1" dirty="0" smtClean="0"/>
              <a:t>Step 5-</a:t>
            </a:r>
            <a:r>
              <a:rPr lang="en-GB" altLang="en-US" sz="4000" dirty="0" smtClean="0"/>
              <a:t> Chart Results</a:t>
            </a:r>
          </a:p>
        </p:txBody>
      </p:sp>
      <p:sp>
        <p:nvSpPr>
          <p:cNvPr id="24579" name="Rectangle 3"/>
          <p:cNvSpPr>
            <a:spLocks noGrp="1" noChangeArrowheads="1"/>
          </p:cNvSpPr>
          <p:nvPr>
            <p:ph idx="1"/>
          </p:nvPr>
        </p:nvSpPr>
        <p:spPr>
          <a:xfrm>
            <a:off x="250825" y="1268413"/>
            <a:ext cx="8642350" cy="4895850"/>
          </a:xfrm>
        </p:spPr>
        <p:txBody>
          <a:bodyPr/>
          <a:lstStyle/>
          <a:p>
            <a:pPr eaLnBrk="1" hangingPunct="1">
              <a:lnSpc>
                <a:spcPct val="80000"/>
              </a:lnSpc>
            </a:pPr>
            <a:r>
              <a:rPr lang="en-GB" altLang="en-US" sz="2800" smtClean="0"/>
              <a:t>Chart results with the child – helps to motivate the child &amp; increase confidence.</a:t>
            </a:r>
          </a:p>
          <a:p>
            <a:pPr eaLnBrk="1" hangingPunct="1">
              <a:lnSpc>
                <a:spcPct val="80000"/>
              </a:lnSpc>
              <a:buFontTx/>
              <a:buNone/>
            </a:pPr>
            <a:endParaRPr lang="en-GB" altLang="en-US" sz="1600" smtClean="0"/>
          </a:p>
          <a:p>
            <a:pPr eaLnBrk="1" hangingPunct="1">
              <a:lnSpc>
                <a:spcPct val="80000"/>
              </a:lnSpc>
            </a:pPr>
            <a:r>
              <a:rPr lang="en-GB" altLang="en-US" sz="2800" smtClean="0"/>
              <a:t>Helps teacher to see which teaching methods are most effective for particular pupil (record on chart).</a:t>
            </a:r>
          </a:p>
          <a:p>
            <a:pPr eaLnBrk="1" hangingPunct="1">
              <a:lnSpc>
                <a:spcPct val="80000"/>
              </a:lnSpc>
              <a:buFontTx/>
              <a:buNone/>
            </a:pPr>
            <a:endParaRPr lang="en-GB" altLang="en-US" sz="1600" smtClean="0"/>
          </a:p>
          <a:p>
            <a:pPr eaLnBrk="1" hangingPunct="1">
              <a:lnSpc>
                <a:spcPct val="80000"/>
              </a:lnSpc>
            </a:pPr>
            <a:r>
              <a:rPr lang="en-GB" altLang="en-US" sz="2800" smtClean="0"/>
              <a:t>Record any changes made to task.</a:t>
            </a:r>
          </a:p>
          <a:p>
            <a:pPr eaLnBrk="1" hangingPunct="1">
              <a:lnSpc>
                <a:spcPct val="80000"/>
              </a:lnSpc>
              <a:buFontTx/>
              <a:buNone/>
            </a:pPr>
            <a:endParaRPr lang="en-GB" altLang="en-US" sz="1600" smtClean="0"/>
          </a:p>
          <a:p>
            <a:pPr eaLnBrk="1" hangingPunct="1">
              <a:lnSpc>
                <a:spcPct val="80000"/>
              </a:lnSpc>
            </a:pPr>
            <a:r>
              <a:rPr lang="en-GB" altLang="en-US" sz="2800" smtClean="0"/>
              <a:t>Record the number of correct AND incorrect words.</a:t>
            </a:r>
          </a:p>
          <a:p>
            <a:pPr eaLnBrk="1" hangingPunct="1">
              <a:lnSpc>
                <a:spcPct val="80000"/>
              </a:lnSpc>
            </a:pPr>
            <a:endParaRPr lang="en-GB" altLang="en-US" sz="1600" smtClean="0"/>
          </a:p>
          <a:p>
            <a:pPr eaLnBrk="1" hangingPunct="1">
              <a:lnSpc>
                <a:spcPct val="80000"/>
              </a:lnSpc>
            </a:pPr>
            <a:r>
              <a:rPr lang="en-GB" altLang="en-US" sz="2800" smtClean="0"/>
              <a:t>If you are unable to do the probe on a particular day, that line is left blank.</a:t>
            </a:r>
          </a:p>
        </p:txBody>
      </p:sp>
    </p:spTree>
    <p:extLst>
      <p:ext uri="{BB962C8B-B14F-4D97-AF65-F5344CB8AC3E}">
        <p14:creationId xmlns:p14="http://schemas.microsoft.com/office/powerpoint/2010/main" val="16572304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611188" y="188913"/>
            <a:ext cx="7772400" cy="1143000"/>
          </a:xfrm>
        </p:spPr>
        <p:txBody>
          <a:bodyPr/>
          <a:lstStyle/>
          <a:p>
            <a:pPr algn="l" fontAlgn="auto">
              <a:spcAft>
                <a:spcPts val="0"/>
              </a:spcAft>
              <a:defRPr/>
            </a:pPr>
            <a:r>
              <a:rPr lang="en-GB" altLang="en-US" sz="4000" dirty="0" smtClean="0">
                <a:latin typeface="Arial" pitchFamily="34" charset="0"/>
                <a:cs typeface="Arial" pitchFamily="34" charset="0"/>
              </a:rPr>
              <a:t> 5. Recording</a:t>
            </a:r>
          </a:p>
        </p:txBody>
      </p:sp>
      <p:sp>
        <p:nvSpPr>
          <p:cNvPr id="25603" name="Rectangle 2"/>
          <p:cNvSpPr>
            <a:spLocks noGrp="1" noChangeArrowheads="1"/>
          </p:cNvSpPr>
          <p:nvPr>
            <p:ph idx="1"/>
          </p:nvPr>
        </p:nvSpPr>
        <p:spPr>
          <a:xfrm>
            <a:off x="395288" y="1196429"/>
            <a:ext cx="7632700" cy="4968875"/>
          </a:xfrm>
        </p:spPr>
        <p:txBody>
          <a:bodyPr/>
          <a:lstStyle/>
          <a:p>
            <a:pPr>
              <a:lnSpc>
                <a:spcPct val="80000"/>
              </a:lnSpc>
            </a:pPr>
            <a:r>
              <a:rPr lang="en-GB" altLang="en-US" sz="2000" dirty="0" smtClean="0">
                <a:latin typeface="Tahoma" pitchFamily="34" charset="0"/>
                <a:cs typeface="Arial" pitchFamily="34" charset="0"/>
              </a:rPr>
              <a:t>Pupil_______________</a:t>
            </a:r>
          </a:p>
          <a:p>
            <a:pPr>
              <a:lnSpc>
                <a:spcPct val="80000"/>
              </a:lnSpc>
            </a:pPr>
            <a:endParaRPr lang="en-GB" altLang="en-US" sz="2000" dirty="0" smtClean="0">
              <a:latin typeface="Tahoma" pitchFamily="34" charset="0"/>
              <a:cs typeface="Arial" pitchFamily="34" charset="0"/>
            </a:endParaRPr>
          </a:p>
          <a:p>
            <a:pPr>
              <a:lnSpc>
                <a:spcPct val="80000"/>
              </a:lnSpc>
            </a:pPr>
            <a:r>
              <a:rPr lang="en-GB" altLang="en-US" sz="2000" dirty="0" smtClean="0">
                <a:latin typeface="Tahoma" pitchFamily="34" charset="0"/>
                <a:cs typeface="Arial" pitchFamily="34" charset="0"/>
              </a:rPr>
              <a:t>Criterion</a:t>
            </a:r>
            <a:r>
              <a:rPr lang="en-GB" altLang="en-US" sz="2000" dirty="0" smtClean="0">
                <a:latin typeface="Tahoma" pitchFamily="34" charset="0"/>
                <a:cs typeface="Arial" pitchFamily="34" charset="0"/>
              </a:rPr>
              <a:t>:</a:t>
            </a:r>
          </a:p>
          <a:p>
            <a:pPr>
              <a:lnSpc>
                <a:spcPct val="80000"/>
              </a:lnSpc>
            </a:pPr>
            <a:r>
              <a:rPr lang="en-GB" altLang="en-US" dirty="0" smtClean="0">
                <a:latin typeface="Tahoma" pitchFamily="34" charset="0"/>
                <a:cs typeface="Arial" pitchFamily="34" charset="0"/>
              </a:rPr>
              <a:t>_____ </a:t>
            </a:r>
            <a:r>
              <a:rPr lang="en-GB" altLang="en-US" dirty="0" smtClean="0">
                <a:latin typeface="Tahoma" pitchFamily="34" charset="0"/>
                <a:cs typeface="Arial" pitchFamily="34" charset="0"/>
              </a:rPr>
              <a:t>correct with </a:t>
            </a:r>
            <a:endParaRPr lang="en-GB" altLang="en-US" dirty="0" smtClean="0">
              <a:latin typeface="Tahoma" pitchFamily="34" charset="0"/>
              <a:cs typeface="Arial" pitchFamily="34" charset="0"/>
            </a:endParaRPr>
          </a:p>
          <a:p>
            <a:pPr>
              <a:lnSpc>
                <a:spcPct val="80000"/>
              </a:lnSpc>
            </a:pPr>
            <a:r>
              <a:rPr lang="en-GB" altLang="en-US" dirty="0" smtClean="0">
                <a:latin typeface="Tahoma" pitchFamily="34" charset="0"/>
                <a:cs typeface="Arial" pitchFamily="34" charset="0"/>
              </a:rPr>
              <a:t>max </a:t>
            </a:r>
            <a:r>
              <a:rPr lang="en-GB" altLang="en-US" dirty="0" smtClean="0">
                <a:latin typeface="Tahoma" pitchFamily="34" charset="0"/>
                <a:cs typeface="Arial" pitchFamily="34" charset="0"/>
              </a:rPr>
              <a:t>____errors</a:t>
            </a:r>
          </a:p>
          <a:p>
            <a:pPr>
              <a:lnSpc>
                <a:spcPct val="80000"/>
              </a:lnSpc>
            </a:pPr>
            <a:endParaRPr lang="en-GB" altLang="en-US" sz="2000" dirty="0" smtClean="0">
              <a:latin typeface="Tahoma" pitchFamily="34" charset="0"/>
              <a:cs typeface="Arial" pitchFamily="34" charset="0"/>
            </a:endParaRPr>
          </a:p>
          <a:p>
            <a:pPr>
              <a:lnSpc>
                <a:spcPct val="80000"/>
              </a:lnSpc>
            </a:pPr>
            <a:r>
              <a:rPr lang="en-GB" altLang="en-US" sz="2000" dirty="0" smtClean="0">
                <a:latin typeface="Tahoma" pitchFamily="34" charset="0"/>
                <a:cs typeface="Arial" pitchFamily="34" charset="0"/>
              </a:rPr>
              <a:t>Key:</a:t>
            </a:r>
          </a:p>
          <a:p>
            <a:pPr lvl="1">
              <a:lnSpc>
                <a:spcPct val="80000"/>
              </a:lnSpc>
            </a:pPr>
            <a:r>
              <a:rPr lang="en-GB" altLang="en-US" dirty="0" smtClean="0">
                <a:latin typeface="Tahoma" pitchFamily="34" charset="0"/>
                <a:cs typeface="Arial" pitchFamily="34" charset="0"/>
              </a:rPr>
              <a:t>Correct answers</a:t>
            </a:r>
          </a:p>
          <a:p>
            <a:pPr lvl="1">
              <a:lnSpc>
                <a:spcPct val="80000"/>
              </a:lnSpc>
            </a:pPr>
            <a:r>
              <a:rPr lang="en-GB" altLang="en-US" dirty="0" smtClean="0">
                <a:latin typeface="Tahoma" pitchFamily="34" charset="0"/>
                <a:cs typeface="Arial" pitchFamily="34" charset="0"/>
              </a:rPr>
              <a:t>Incorrect answers</a:t>
            </a:r>
          </a:p>
          <a:p>
            <a:pPr lvl="1">
              <a:lnSpc>
                <a:spcPct val="80000"/>
              </a:lnSpc>
            </a:pPr>
            <a:endParaRPr lang="en-GB" altLang="en-US" dirty="0" smtClean="0">
              <a:latin typeface="Tahoma" pitchFamily="34" charset="0"/>
              <a:cs typeface="Arial" pitchFamily="34" charset="0"/>
            </a:endParaRPr>
          </a:p>
          <a:p>
            <a:pPr lvl="1">
              <a:lnSpc>
                <a:spcPct val="80000"/>
              </a:lnSpc>
            </a:pPr>
            <a:endParaRPr lang="en-GB" altLang="en-US" dirty="0" smtClean="0">
              <a:latin typeface="Tahoma" pitchFamily="34" charset="0"/>
              <a:cs typeface="Arial" pitchFamily="34" charset="0"/>
            </a:endParaRPr>
          </a:p>
          <a:p>
            <a:pPr>
              <a:lnSpc>
                <a:spcPct val="80000"/>
              </a:lnSpc>
              <a:buFontTx/>
              <a:buNone/>
            </a:pPr>
            <a:r>
              <a:rPr lang="en-GB" altLang="en-US" sz="2000" dirty="0" smtClean="0">
                <a:latin typeface="Tahoma" pitchFamily="34" charset="0"/>
                <a:cs typeface="Arial" pitchFamily="34" charset="0"/>
              </a:rPr>
              <a:t>Remember</a:t>
            </a:r>
            <a:r>
              <a:rPr lang="en-GB" altLang="en-US" sz="2000" dirty="0" smtClean="0">
                <a:latin typeface="Tahoma" pitchFamily="34" charset="0"/>
                <a:cs typeface="Arial" pitchFamily="34" charset="0"/>
              </a:rPr>
              <a:t>: Do not join across </a:t>
            </a:r>
          </a:p>
          <a:p>
            <a:pPr>
              <a:lnSpc>
                <a:spcPct val="80000"/>
              </a:lnSpc>
              <a:buFontTx/>
              <a:buNone/>
            </a:pPr>
            <a:r>
              <a:rPr lang="en-GB" altLang="en-US" sz="2000" dirty="0" smtClean="0">
                <a:latin typeface="Tahoma" pitchFamily="34" charset="0"/>
                <a:cs typeface="Arial" pitchFamily="34" charset="0"/>
              </a:rPr>
              <a:t>weekends or across days when a</a:t>
            </a:r>
          </a:p>
          <a:p>
            <a:pPr>
              <a:lnSpc>
                <a:spcPct val="80000"/>
              </a:lnSpc>
              <a:buFontTx/>
              <a:buNone/>
            </a:pPr>
            <a:r>
              <a:rPr lang="en-GB" altLang="en-US" sz="2000" dirty="0" smtClean="0">
                <a:latin typeface="Tahoma" pitchFamily="34" charset="0"/>
                <a:cs typeface="Arial" pitchFamily="34" charset="0"/>
              </a:rPr>
              <a:t>pupil was not tested.</a:t>
            </a:r>
          </a:p>
        </p:txBody>
      </p:sp>
      <p:pic>
        <p:nvPicPr>
          <p:cNvPr id="25604"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606" y="3429000"/>
            <a:ext cx="4095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1268413"/>
            <a:ext cx="3870325"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16714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11188" y="188913"/>
            <a:ext cx="7772400" cy="1143000"/>
          </a:xfrm>
        </p:spPr>
        <p:txBody>
          <a:bodyPr/>
          <a:lstStyle/>
          <a:p>
            <a:pPr algn="l" fontAlgn="auto">
              <a:spcAft>
                <a:spcPts val="0"/>
              </a:spcAft>
              <a:defRPr/>
            </a:pPr>
            <a:r>
              <a:rPr lang="en-GB" altLang="en-US" sz="4000" dirty="0" smtClean="0">
                <a:latin typeface="Arial" pitchFamily="34" charset="0"/>
                <a:cs typeface="Arial" pitchFamily="34" charset="0"/>
              </a:rPr>
              <a:t>5. Ratio charts </a:t>
            </a:r>
          </a:p>
        </p:txBody>
      </p:sp>
      <p:sp>
        <p:nvSpPr>
          <p:cNvPr id="27651" name="Rectangle 3"/>
          <p:cNvSpPr>
            <a:spLocks noGrp="1" noChangeArrowheads="1"/>
          </p:cNvSpPr>
          <p:nvPr>
            <p:ph idx="1"/>
          </p:nvPr>
        </p:nvSpPr>
        <p:spPr>
          <a:xfrm>
            <a:off x="395288" y="1412875"/>
            <a:ext cx="8424862" cy="4475163"/>
          </a:xfrm>
        </p:spPr>
        <p:txBody>
          <a:bodyPr rtlCol="0">
            <a:normAutofit lnSpcReduction="10000"/>
          </a:bodyPr>
          <a:lstStyle/>
          <a:p>
            <a:pPr marL="0" indent="0" fontAlgn="auto">
              <a:lnSpc>
                <a:spcPct val="80000"/>
              </a:lnSpc>
              <a:spcAft>
                <a:spcPts val="0"/>
              </a:spcAft>
              <a:buFontTx/>
              <a:buNone/>
              <a:defRPr/>
            </a:pPr>
            <a:r>
              <a:rPr lang="en-GB" altLang="en-US" sz="2400" dirty="0" smtClean="0">
                <a:latin typeface="Tahoma" pitchFamily="34" charset="0"/>
                <a:cs typeface="Arial" pitchFamily="34" charset="0"/>
              </a:rPr>
              <a:t>  </a:t>
            </a:r>
            <a:r>
              <a:rPr lang="en-GB" altLang="en-US" sz="2400" u="sng" dirty="0" smtClean="0">
                <a:latin typeface="Arial" pitchFamily="34" charset="0"/>
                <a:cs typeface="Arial" pitchFamily="34" charset="0"/>
              </a:rPr>
              <a:t>The days the information is collected </a:t>
            </a:r>
          </a:p>
          <a:p>
            <a:pPr marL="179388" lvl="1" indent="0" fontAlgn="auto">
              <a:lnSpc>
                <a:spcPct val="80000"/>
              </a:lnSpc>
              <a:spcAft>
                <a:spcPts val="0"/>
              </a:spcAft>
              <a:defRPr/>
            </a:pPr>
            <a:r>
              <a:rPr lang="en-GB" altLang="en-US" sz="2400" dirty="0" smtClean="0">
                <a:latin typeface="Arial" pitchFamily="34" charset="0"/>
                <a:cs typeface="Arial" pitchFamily="34" charset="0"/>
              </a:rPr>
              <a:t> This is shown on the </a:t>
            </a:r>
            <a:r>
              <a:rPr lang="en-GB" altLang="en-US" sz="2400" u="sng" dirty="0" smtClean="0">
                <a:solidFill>
                  <a:srgbClr val="33CC33"/>
                </a:solidFill>
                <a:latin typeface="Arial" pitchFamily="34" charset="0"/>
                <a:cs typeface="Arial" pitchFamily="34" charset="0"/>
              </a:rPr>
              <a:t>horizontal</a:t>
            </a:r>
            <a:r>
              <a:rPr lang="en-GB" altLang="en-US" sz="2400" dirty="0" smtClean="0">
                <a:solidFill>
                  <a:srgbClr val="00CC99"/>
                </a:solidFill>
                <a:latin typeface="Arial" pitchFamily="34" charset="0"/>
                <a:cs typeface="Arial" pitchFamily="34" charset="0"/>
              </a:rPr>
              <a:t> </a:t>
            </a:r>
            <a:r>
              <a:rPr lang="en-GB" altLang="en-US" sz="2400" dirty="0" smtClean="0">
                <a:latin typeface="Arial" pitchFamily="34" charset="0"/>
                <a:cs typeface="Arial" pitchFamily="34" charset="0"/>
              </a:rPr>
              <a:t>axis.</a:t>
            </a:r>
          </a:p>
          <a:p>
            <a:pPr marL="179388" lvl="1" indent="0" fontAlgn="auto">
              <a:lnSpc>
                <a:spcPct val="80000"/>
              </a:lnSpc>
              <a:spcAft>
                <a:spcPts val="0"/>
              </a:spcAft>
              <a:defRPr/>
            </a:pPr>
            <a:r>
              <a:rPr lang="en-GB" altLang="en-US" sz="2400" dirty="0" smtClean="0">
                <a:latin typeface="Arial" pitchFamily="34" charset="0"/>
                <a:cs typeface="Arial" pitchFamily="34" charset="0"/>
              </a:rPr>
              <a:t> There is a line for each school day.</a:t>
            </a:r>
          </a:p>
          <a:p>
            <a:pPr marL="179388" lvl="1" indent="0" fontAlgn="auto">
              <a:lnSpc>
                <a:spcPct val="80000"/>
              </a:lnSpc>
              <a:spcAft>
                <a:spcPts val="0"/>
              </a:spcAft>
              <a:defRPr/>
            </a:pPr>
            <a:r>
              <a:rPr lang="en-GB" altLang="en-US" sz="2400" dirty="0" smtClean="0">
                <a:latin typeface="Arial" pitchFamily="34" charset="0"/>
                <a:cs typeface="Arial" pitchFamily="34" charset="0"/>
              </a:rPr>
              <a:t> The result is filled in on the line (</a:t>
            </a:r>
            <a:r>
              <a:rPr lang="en-GB" altLang="en-US" sz="2400" dirty="0" smtClean="0">
                <a:solidFill>
                  <a:srgbClr val="33CC33"/>
                </a:solidFill>
                <a:latin typeface="Arial" pitchFamily="34" charset="0"/>
                <a:cs typeface="Arial" pitchFamily="34" charset="0"/>
              </a:rPr>
              <a:t>NOT</a:t>
            </a:r>
            <a:r>
              <a:rPr lang="en-GB" altLang="en-US" sz="2400" dirty="0" smtClean="0">
                <a:latin typeface="Arial" pitchFamily="34" charset="0"/>
                <a:cs typeface="Arial" pitchFamily="34" charset="0"/>
              </a:rPr>
              <a:t> the space).</a:t>
            </a:r>
          </a:p>
          <a:p>
            <a:pPr marL="179388" lvl="1" indent="0" fontAlgn="auto">
              <a:lnSpc>
                <a:spcPct val="80000"/>
              </a:lnSpc>
              <a:spcAft>
                <a:spcPts val="0"/>
              </a:spcAft>
              <a:defRPr/>
            </a:pPr>
            <a:r>
              <a:rPr lang="en-GB" altLang="en-US" sz="2400" dirty="0" smtClean="0">
                <a:latin typeface="Arial" pitchFamily="34" charset="0"/>
                <a:cs typeface="Arial" pitchFamily="34" charset="0"/>
              </a:rPr>
              <a:t> If you are unable to do the probe on a particular day, that line is left blank.</a:t>
            </a:r>
          </a:p>
          <a:p>
            <a:pPr marL="179388" lvl="1" indent="0" fontAlgn="auto">
              <a:lnSpc>
                <a:spcPct val="80000"/>
              </a:lnSpc>
              <a:spcAft>
                <a:spcPts val="0"/>
              </a:spcAft>
              <a:defRPr/>
            </a:pPr>
            <a:r>
              <a:rPr lang="en-GB" altLang="en-US" sz="2400" dirty="0" smtClean="0">
                <a:latin typeface="Arial" pitchFamily="34" charset="0"/>
                <a:cs typeface="Arial" pitchFamily="34" charset="0"/>
              </a:rPr>
              <a:t> That day is known as a </a:t>
            </a:r>
            <a:r>
              <a:rPr lang="en-GB" altLang="en-US" sz="2400" dirty="0" smtClean="0">
                <a:solidFill>
                  <a:srgbClr val="FF0000"/>
                </a:solidFill>
                <a:latin typeface="Arial" pitchFamily="34" charset="0"/>
                <a:cs typeface="Arial" pitchFamily="34" charset="0"/>
              </a:rPr>
              <a:t>No Chance Day</a:t>
            </a:r>
            <a:r>
              <a:rPr lang="en-GB" altLang="en-US" sz="2400" dirty="0" smtClean="0">
                <a:latin typeface="Arial" pitchFamily="34" charset="0"/>
                <a:cs typeface="Arial" pitchFamily="34" charset="0"/>
              </a:rPr>
              <a:t>.          </a:t>
            </a:r>
          </a:p>
          <a:p>
            <a:pPr marL="179388" lvl="1" indent="0" fontAlgn="auto">
              <a:lnSpc>
                <a:spcPct val="80000"/>
              </a:lnSpc>
              <a:spcAft>
                <a:spcPts val="0"/>
              </a:spcAft>
              <a:buFontTx/>
              <a:buNone/>
              <a:defRPr/>
            </a:pPr>
            <a:endParaRPr lang="en-GB" altLang="en-US" sz="2400" u="sng" dirty="0" smtClean="0">
              <a:latin typeface="Arial" pitchFamily="34" charset="0"/>
              <a:cs typeface="Arial" pitchFamily="34" charset="0"/>
            </a:endParaRPr>
          </a:p>
          <a:p>
            <a:pPr marL="179388" lvl="1" indent="0" fontAlgn="auto">
              <a:lnSpc>
                <a:spcPct val="80000"/>
              </a:lnSpc>
              <a:spcAft>
                <a:spcPts val="0"/>
              </a:spcAft>
              <a:buFontTx/>
              <a:buNone/>
              <a:defRPr/>
            </a:pPr>
            <a:r>
              <a:rPr lang="en-GB" altLang="en-US" sz="2400" u="sng" dirty="0" smtClean="0">
                <a:latin typeface="Arial" pitchFamily="34" charset="0"/>
                <a:cs typeface="Arial" pitchFamily="34" charset="0"/>
              </a:rPr>
              <a:t>A description of the pupil’s performance </a:t>
            </a:r>
          </a:p>
          <a:p>
            <a:pPr marL="179388" lvl="1" indent="0" fontAlgn="auto">
              <a:lnSpc>
                <a:spcPct val="80000"/>
              </a:lnSpc>
              <a:spcAft>
                <a:spcPts val="0"/>
              </a:spcAft>
              <a:defRPr/>
            </a:pPr>
            <a:r>
              <a:rPr lang="en-GB" altLang="en-US" sz="2400" dirty="0" smtClean="0">
                <a:latin typeface="Arial" pitchFamily="34" charset="0"/>
                <a:cs typeface="Arial" pitchFamily="34" charset="0"/>
              </a:rPr>
              <a:t> This is shown on the </a:t>
            </a:r>
            <a:r>
              <a:rPr lang="en-GB" altLang="en-US" sz="2400" u="sng" dirty="0" smtClean="0">
                <a:solidFill>
                  <a:srgbClr val="33CC33"/>
                </a:solidFill>
                <a:latin typeface="Arial" pitchFamily="34" charset="0"/>
                <a:cs typeface="Arial" pitchFamily="34" charset="0"/>
              </a:rPr>
              <a:t>vertical</a:t>
            </a:r>
            <a:r>
              <a:rPr lang="en-GB" altLang="en-US" sz="2400" dirty="0" smtClean="0">
                <a:latin typeface="Arial" pitchFamily="34" charset="0"/>
                <a:cs typeface="Arial" pitchFamily="34" charset="0"/>
              </a:rPr>
              <a:t> axis.</a:t>
            </a:r>
          </a:p>
          <a:p>
            <a:pPr marL="179388" lvl="1" indent="0" fontAlgn="auto">
              <a:lnSpc>
                <a:spcPct val="80000"/>
              </a:lnSpc>
              <a:spcAft>
                <a:spcPts val="0"/>
              </a:spcAft>
              <a:defRPr/>
            </a:pPr>
            <a:r>
              <a:rPr lang="en-GB" altLang="en-US" sz="2400" dirty="0" smtClean="0">
                <a:latin typeface="Arial" pitchFamily="34" charset="0"/>
                <a:cs typeface="Arial" pitchFamily="34" charset="0"/>
              </a:rPr>
              <a:t> It tells you the accuracy at which the pupil does the task.</a:t>
            </a:r>
          </a:p>
          <a:p>
            <a:pPr marL="179388" lvl="1" indent="0" fontAlgn="auto">
              <a:lnSpc>
                <a:spcPct val="80000"/>
              </a:lnSpc>
              <a:spcAft>
                <a:spcPts val="0"/>
              </a:spcAft>
              <a:defRPr/>
            </a:pPr>
            <a:r>
              <a:rPr lang="en-GB" altLang="en-US" sz="2400" dirty="0" smtClean="0">
                <a:latin typeface="Arial" pitchFamily="34" charset="0"/>
                <a:cs typeface="Arial" pitchFamily="34" charset="0"/>
              </a:rPr>
              <a:t> This is expressed as a </a:t>
            </a:r>
            <a:r>
              <a:rPr lang="en-GB" altLang="en-US" sz="2400" i="1" dirty="0" smtClean="0">
                <a:solidFill>
                  <a:srgbClr val="FF0000"/>
                </a:solidFill>
                <a:latin typeface="Arial" pitchFamily="34" charset="0"/>
                <a:cs typeface="Arial" pitchFamily="34" charset="0"/>
              </a:rPr>
              <a:t>rate</a:t>
            </a:r>
            <a:r>
              <a:rPr lang="en-GB" altLang="en-US" sz="2400" dirty="0" smtClean="0">
                <a:latin typeface="Arial" pitchFamily="34" charset="0"/>
                <a:cs typeface="Arial" pitchFamily="34" charset="0"/>
              </a:rPr>
              <a:t> measurement i.e. the number of responses per minute.</a:t>
            </a:r>
          </a:p>
        </p:txBody>
      </p:sp>
    </p:spTree>
    <p:extLst>
      <p:ext uri="{BB962C8B-B14F-4D97-AF65-F5344CB8AC3E}">
        <p14:creationId xmlns:p14="http://schemas.microsoft.com/office/powerpoint/2010/main" val="39169829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1"/>
          <p:cNvSpPr>
            <a:spLocks noGrp="1" noChangeArrowheads="1"/>
          </p:cNvSpPr>
          <p:nvPr>
            <p:ph type="body" idx="1"/>
          </p:nvPr>
        </p:nvSpPr>
        <p:spPr>
          <a:xfrm>
            <a:off x="1116013" y="1268413"/>
            <a:ext cx="7696200" cy="5334000"/>
          </a:xfrm>
        </p:spPr>
        <p:txBody>
          <a:bodyPr rIns="31750"/>
          <a:lstStyle/>
          <a:p>
            <a:pPr marL="690563" indent="-609600" eaLnBrk="1" hangingPunct="1">
              <a:buFont typeface="Century Gothic" pitchFamily="34" charset="0"/>
              <a:buNone/>
            </a:pPr>
            <a:endParaRPr lang="en-US" altLang="en-US" sz="1400" smtClean="0"/>
          </a:p>
          <a:p>
            <a:pPr marL="690563" indent="-609600" eaLnBrk="1" hangingPunct="1">
              <a:buFont typeface="Century Gothic" pitchFamily="34" charset="0"/>
              <a:buNone/>
            </a:pPr>
            <a:r>
              <a:rPr lang="en-US" altLang="en-US" sz="2400" smtClean="0"/>
              <a:t>Suggested minimum Fluency Markers:</a:t>
            </a:r>
          </a:p>
          <a:p>
            <a:pPr marL="690563" indent="-609600" eaLnBrk="1" hangingPunct="1">
              <a:buFont typeface="Century Gothic" pitchFamily="34" charset="0"/>
              <a:buNone/>
            </a:pPr>
            <a:r>
              <a:rPr lang="en-US" altLang="en-US" sz="1600" smtClean="0">
                <a:latin typeface="ヒラギノ明朝 ProN W3" charset="0"/>
                <a:sym typeface="ヒラギノ明朝 ProN W3" charset="0"/>
              </a:rPr>
              <a:t>			</a:t>
            </a:r>
            <a:r>
              <a:rPr lang="en-US" altLang="en-US" sz="1800" smtClean="0"/>
              <a:t>Infant Pupils</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40 correct per minute</a:t>
            </a:r>
            <a:endParaRPr lang="en-US" altLang="en-US" smtClean="0"/>
          </a:p>
          <a:p>
            <a:pPr marL="690563" indent="-609600" eaLnBrk="1" hangingPunct="1">
              <a:buFont typeface="Century Gothic" pitchFamily="34" charset="0"/>
              <a:buNone/>
            </a:pPr>
            <a:r>
              <a:rPr lang="en-US" altLang="en-US" sz="1800" smtClean="0">
                <a:latin typeface="ヒラギノ明朝 ProN W3" charset="0"/>
                <a:sym typeface="ヒラギノ明朝 ProN W3" charset="0"/>
              </a:rPr>
              <a:t>			</a:t>
            </a:r>
            <a:r>
              <a:rPr lang="en-US" altLang="en-US" sz="1800" smtClean="0"/>
              <a:t>Junior Pupils</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50 cpm</a:t>
            </a:r>
            <a:endParaRPr lang="en-US" altLang="en-US" smtClean="0"/>
          </a:p>
          <a:p>
            <a:pPr marL="690563" indent="-609600" eaLnBrk="1" hangingPunct="1">
              <a:buFont typeface="Century Gothic" pitchFamily="34" charset="0"/>
              <a:buNone/>
            </a:pPr>
            <a:r>
              <a:rPr lang="en-US" altLang="en-US" sz="1800" smtClean="0">
                <a:latin typeface="ヒラギノ明朝 ProN W3" charset="0"/>
                <a:sym typeface="ヒラギノ明朝 ProN W3" charset="0"/>
              </a:rPr>
              <a:t>			</a:t>
            </a:r>
            <a:r>
              <a:rPr lang="en-US" altLang="en-US" sz="1800" smtClean="0"/>
              <a:t>Secondary</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60 cpm</a:t>
            </a:r>
            <a:endParaRPr lang="en-US" altLang="en-US" smtClean="0"/>
          </a:p>
          <a:p>
            <a:pPr marL="690563" indent="-609600" eaLnBrk="1" hangingPunct="1">
              <a:buFont typeface="Century Gothic" pitchFamily="34" charset="0"/>
              <a:buNone/>
            </a:pPr>
            <a:endParaRPr lang="en-US" altLang="en-US" sz="1600" smtClean="0"/>
          </a:p>
          <a:p>
            <a:pPr marL="690563" indent="-609600" eaLnBrk="1" hangingPunct="1">
              <a:buFont typeface="Century Gothic" pitchFamily="34" charset="0"/>
              <a:buNone/>
            </a:pPr>
            <a:r>
              <a:rPr lang="en-US" altLang="en-US" sz="2400" smtClean="0"/>
              <a:t>Suggested minimum </a:t>
            </a:r>
          </a:p>
          <a:p>
            <a:pPr marL="690563" indent="-609600" eaLnBrk="1" hangingPunct="1">
              <a:buFont typeface="Century Gothic" pitchFamily="34" charset="0"/>
              <a:buNone/>
            </a:pPr>
            <a:r>
              <a:rPr lang="en-US" altLang="en-US" sz="2400" smtClean="0"/>
              <a:t>Accuracy Markers:</a:t>
            </a:r>
          </a:p>
          <a:p>
            <a:pPr marL="690563" indent="-609600" eaLnBrk="1" hangingPunct="1">
              <a:buFont typeface="Century Gothic" pitchFamily="34" charset="0"/>
              <a:buNone/>
            </a:pPr>
            <a:r>
              <a:rPr lang="en-US" altLang="en-US" sz="1800" smtClean="0"/>
              <a:t>See-to-say</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3 or less</a:t>
            </a:r>
            <a:endParaRPr lang="en-US" altLang="en-US" smtClean="0"/>
          </a:p>
          <a:p>
            <a:pPr marL="690563" indent="-609600" eaLnBrk="1" hangingPunct="1">
              <a:buFont typeface="Century Gothic" pitchFamily="34" charset="0"/>
              <a:buNone/>
            </a:pPr>
            <a:endParaRPr lang="en-US" altLang="en-US" smtClean="0"/>
          </a:p>
          <a:p>
            <a:pPr marL="690563" indent="-609600" eaLnBrk="1" hangingPunct="1">
              <a:buFont typeface="Century Gothic" pitchFamily="34" charset="0"/>
              <a:buNone/>
            </a:pPr>
            <a:r>
              <a:rPr lang="en-US" altLang="en-US" sz="1800" smtClean="0"/>
              <a:t>MAINTENANCE- ACHIEVE THE TARGET FOR 3 </a:t>
            </a:r>
          </a:p>
          <a:p>
            <a:pPr marL="690563" indent="-609600" eaLnBrk="1" hangingPunct="1">
              <a:buFont typeface="Century Gothic" pitchFamily="34" charset="0"/>
              <a:buNone/>
            </a:pPr>
            <a:r>
              <a:rPr lang="en-US" altLang="en-US" sz="1800" smtClean="0"/>
              <a:t>CONSECUTIVE DAYS</a:t>
            </a:r>
            <a:endParaRPr lang="en-US" altLang="en-US" smtClean="0"/>
          </a:p>
          <a:p>
            <a:pPr marL="690563" indent="-609600" eaLnBrk="1" hangingPunct="1">
              <a:buFont typeface="Century Gothic" pitchFamily="34" charset="0"/>
              <a:buNone/>
            </a:pPr>
            <a:endParaRPr lang="en-US" altLang="en-US" smtClean="0"/>
          </a:p>
        </p:txBody>
      </p:sp>
      <p:sp>
        <p:nvSpPr>
          <p:cNvPr id="25603" name="Rectangle 2"/>
          <p:cNvSpPr>
            <a:spLocks/>
          </p:cNvSpPr>
          <p:nvPr/>
        </p:nvSpPr>
        <p:spPr bwMode="auto">
          <a:xfrm>
            <a:off x="1258888" y="2276475"/>
            <a:ext cx="144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00"/>
              </a:spcBef>
              <a:buClrTx/>
              <a:buSzTx/>
              <a:buFontTx/>
              <a:buNone/>
            </a:pPr>
            <a:r>
              <a:rPr lang="en-US" altLang="en-US" sz="1800"/>
              <a:t>See-to-say</a:t>
            </a:r>
          </a:p>
        </p:txBody>
      </p:sp>
      <p:sp>
        <p:nvSpPr>
          <p:cNvPr id="25604" name="Rectangle 3"/>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Setting Aim Rates</a:t>
            </a:r>
          </a:p>
        </p:txBody>
      </p:sp>
      <p:sp>
        <p:nvSpPr>
          <p:cNvPr id="25605" name="AutoShape 4"/>
          <p:cNvSpPr>
            <a:spLocks/>
          </p:cNvSpPr>
          <p:nvPr/>
        </p:nvSpPr>
        <p:spPr bwMode="auto">
          <a:xfrm>
            <a:off x="2771775" y="2060575"/>
            <a:ext cx="144463" cy="8636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21600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12700">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Tree>
    <p:extLst>
      <p:ext uri="{BB962C8B-B14F-4D97-AF65-F5344CB8AC3E}">
        <p14:creationId xmlns:p14="http://schemas.microsoft.com/office/powerpoint/2010/main" val="1224342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4213" y="188913"/>
            <a:ext cx="7772400" cy="1143000"/>
          </a:xfrm>
        </p:spPr>
        <p:txBody>
          <a:bodyPr/>
          <a:lstStyle/>
          <a:p>
            <a:pPr algn="ctr" eaLnBrk="1" fontAlgn="auto" hangingPunct="1">
              <a:spcAft>
                <a:spcPts val="0"/>
              </a:spcAft>
              <a:defRPr/>
            </a:pPr>
            <a:r>
              <a:rPr lang="en-GB" altLang="en-US" sz="3600" b="1" dirty="0" smtClean="0"/>
              <a:t>Step 6-</a:t>
            </a:r>
            <a:r>
              <a:rPr lang="en-GB" altLang="en-US" sz="3600" dirty="0" smtClean="0"/>
              <a:t> Analyse the Data</a:t>
            </a:r>
          </a:p>
        </p:txBody>
      </p:sp>
      <p:sp>
        <p:nvSpPr>
          <p:cNvPr id="31747" name="Rectangle 3"/>
          <p:cNvSpPr>
            <a:spLocks noGrp="1" noChangeArrowheads="1"/>
          </p:cNvSpPr>
          <p:nvPr>
            <p:ph idx="1"/>
          </p:nvPr>
        </p:nvSpPr>
        <p:spPr>
          <a:xfrm>
            <a:off x="323850" y="1125538"/>
            <a:ext cx="8569325" cy="5183187"/>
          </a:xfrm>
        </p:spPr>
        <p:txBody>
          <a:bodyPr/>
          <a:lstStyle/>
          <a:p>
            <a:pPr eaLnBrk="1" hangingPunct="1">
              <a:lnSpc>
                <a:spcPct val="90000"/>
              </a:lnSpc>
            </a:pPr>
            <a:r>
              <a:rPr lang="en-GB" altLang="en-US" sz="2000" dirty="0" smtClean="0"/>
              <a:t>Once the child has hit their target for </a:t>
            </a:r>
            <a:r>
              <a:rPr lang="en-GB" altLang="en-US" sz="2000" u="sng" dirty="0" smtClean="0"/>
              <a:t>3</a:t>
            </a:r>
            <a:r>
              <a:rPr lang="en-GB" altLang="en-US" sz="2000" dirty="0" smtClean="0">
                <a:solidFill>
                  <a:srgbClr val="FF0000"/>
                </a:solidFill>
              </a:rPr>
              <a:t> consecutive</a:t>
            </a:r>
            <a:r>
              <a:rPr lang="en-GB" altLang="en-US" sz="2000" dirty="0" smtClean="0"/>
              <a:t> days move on to a new set of words.</a:t>
            </a:r>
          </a:p>
          <a:p>
            <a:pPr eaLnBrk="1" hangingPunct="1">
              <a:lnSpc>
                <a:spcPct val="90000"/>
              </a:lnSpc>
              <a:buFontTx/>
              <a:buNone/>
            </a:pPr>
            <a:endParaRPr lang="en-GB" altLang="en-US" sz="2000" dirty="0" smtClean="0"/>
          </a:p>
          <a:p>
            <a:pPr eaLnBrk="1" hangingPunct="1">
              <a:lnSpc>
                <a:spcPct val="90000"/>
              </a:lnSpc>
              <a:buFontTx/>
              <a:buNone/>
            </a:pPr>
            <a:r>
              <a:rPr lang="en-GB" altLang="en-US" sz="2000" u="sng" dirty="0" smtClean="0"/>
              <a:t>The 3 day rule</a:t>
            </a:r>
          </a:p>
          <a:p>
            <a:pPr eaLnBrk="1" hangingPunct="1">
              <a:lnSpc>
                <a:spcPct val="90000"/>
              </a:lnSpc>
            </a:pPr>
            <a:r>
              <a:rPr lang="en-GB" altLang="en-US" sz="2000" dirty="0" smtClean="0"/>
              <a:t>Check after </a:t>
            </a:r>
            <a:r>
              <a:rPr lang="en-GB" altLang="en-US" sz="2000" b="1" dirty="0" smtClean="0">
                <a:solidFill>
                  <a:srgbClr val="FF0000"/>
                </a:solidFill>
              </a:rPr>
              <a:t>3</a:t>
            </a:r>
            <a:r>
              <a:rPr lang="en-GB" altLang="en-US" sz="2000" dirty="0" smtClean="0"/>
              <a:t> days:</a:t>
            </a:r>
          </a:p>
          <a:p>
            <a:pPr lvl="1" eaLnBrk="1" hangingPunct="1">
              <a:lnSpc>
                <a:spcPct val="90000"/>
              </a:lnSpc>
            </a:pPr>
            <a:r>
              <a:rPr lang="en-GB" altLang="en-US" dirty="0" smtClean="0"/>
              <a:t>If the task appears too hard consider reducing the demands of the task (e.g. number of words to be learnt, types of words being learnt).</a:t>
            </a:r>
          </a:p>
          <a:p>
            <a:pPr lvl="1" eaLnBrk="1" hangingPunct="1">
              <a:lnSpc>
                <a:spcPct val="90000"/>
              </a:lnSpc>
              <a:buFontTx/>
              <a:buNone/>
            </a:pPr>
            <a:endParaRPr lang="en-GB" altLang="en-US" dirty="0" smtClean="0"/>
          </a:p>
          <a:p>
            <a:pPr eaLnBrk="1" hangingPunct="1">
              <a:lnSpc>
                <a:spcPct val="90000"/>
              </a:lnSpc>
              <a:buFontTx/>
              <a:buNone/>
            </a:pPr>
            <a:r>
              <a:rPr lang="en-GB" altLang="en-US" sz="2000" u="sng" dirty="0" smtClean="0"/>
              <a:t>The 8 day rule</a:t>
            </a:r>
          </a:p>
          <a:p>
            <a:pPr eaLnBrk="1" hangingPunct="1">
              <a:lnSpc>
                <a:spcPct val="90000"/>
              </a:lnSpc>
            </a:pPr>
            <a:r>
              <a:rPr lang="en-GB" altLang="en-US" sz="2000" dirty="0" smtClean="0"/>
              <a:t>Check after </a:t>
            </a:r>
            <a:r>
              <a:rPr lang="en-GB" altLang="en-US" sz="2000" b="1" dirty="0" smtClean="0">
                <a:solidFill>
                  <a:srgbClr val="FF0000"/>
                </a:solidFill>
              </a:rPr>
              <a:t>8</a:t>
            </a:r>
            <a:r>
              <a:rPr lang="en-GB" altLang="en-US" sz="2000" dirty="0" smtClean="0"/>
              <a:t> days:</a:t>
            </a:r>
          </a:p>
          <a:p>
            <a:pPr lvl="1" eaLnBrk="1" hangingPunct="1">
              <a:lnSpc>
                <a:spcPct val="90000"/>
              </a:lnSpc>
            </a:pPr>
            <a:r>
              <a:rPr lang="en-GB" altLang="en-US" dirty="0" smtClean="0"/>
              <a:t>If the pupil is not at or near their target after 8 days consider a change (e.g. increasing motivation, modifying teaching method, changing task).</a:t>
            </a:r>
          </a:p>
        </p:txBody>
      </p:sp>
    </p:spTree>
    <p:extLst>
      <p:ext uri="{BB962C8B-B14F-4D97-AF65-F5344CB8AC3E}">
        <p14:creationId xmlns:p14="http://schemas.microsoft.com/office/powerpoint/2010/main" val="33349825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0" y="476250"/>
            <a:ext cx="7773988" cy="1223963"/>
          </a:xfrm>
        </p:spPr>
        <p:txBody>
          <a:bodyPr/>
          <a:lstStyle/>
          <a:p>
            <a:pPr algn="l" fontAlgn="auto">
              <a:spcAft>
                <a:spcPts val="0"/>
              </a:spcAft>
              <a:defRPr/>
            </a:pPr>
            <a:r>
              <a:rPr lang="en-GB" altLang="en-US" sz="4000" dirty="0" smtClean="0">
                <a:latin typeface="Arial" pitchFamily="34" charset="0"/>
                <a:cs typeface="Arial" pitchFamily="34" charset="0"/>
              </a:rPr>
              <a:t>6a. </a:t>
            </a:r>
            <a:r>
              <a:rPr lang="en-GB" altLang="en-US" sz="3200" dirty="0" smtClean="0">
                <a:latin typeface="Arial" pitchFamily="34" charset="0"/>
                <a:cs typeface="Arial" pitchFamily="34" charset="0"/>
              </a:rPr>
              <a:t>Change - response to data analysis</a:t>
            </a:r>
          </a:p>
        </p:txBody>
      </p:sp>
      <p:grpSp>
        <p:nvGrpSpPr>
          <p:cNvPr id="29699" name="Group 312"/>
          <p:cNvGrpSpPr>
            <a:grpSpLocks/>
          </p:cNvGrpSpPr>
          <p:nvPr/>
        </p:nvGrpSpPr>
        <p:grpSpPr bwMode="auto">
          <a:xfrm>
            <a:off x="250825" y="1483029"/>
            <a:ext cx="8642350" cy="4264025"/>
            <a:chOff x="455" y="1071"/>
            <a:chExt cx="5056" cy="2686"/>
          </a:xfrm>
        </p:grpSpPr>
        <p:sp>
          <p:nvSpPr>
            <p:cNvPr id="29700" name="Rectangle 213"/>
            <p:cNvSpPr>
              <a:spLocks noChangeArrowheads="1"/>
            </p:cNvSpPr>
            <p:nvPr/>
          </p:nvSpPr>
          <p:spPr bwMode="auto">
            <a:xfrm>
              <a:off x="3687" y="3113"/>
              <a:ext cx="1824"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Increasing motivation through rewards/ incentives or alter teaching methods</a:t>
              </a:r>
              <a:endParaRPr lang="en-GB" altLang="en-US" sz="1800" dirty="0">
                <a:latin typeface="Arial" pitchFamily="34" charset="0"/>
                <a:ea typeface="MS PGothic" pitchFamily="34" charset="-128"/>
                <a:cs typeface="Times New Roman" pitchFamily="18" charset="0"/>
              </a:endParaRPr>
            </a:p>
          </p:txBody>
        </p:sp>
        <p:sp>
          <p:nvSpPr>
            <p:cNvPr id="29701" name="Rectangle 211"/>
            <p:cNvSpPr>
              <a:spLocks noChangeArrowheads="1"/>
            </p:cNvSpPr>
            <p:nvPr/>
          </p:nvSpPr>
          <p:spPr bwMode="auto">
            <a:xfrm>
              <a:off x="1505" y="3101"/>
              <a:ext cx="870" cy="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r>
                <a:rPr lang="en-GB" altLang="en-US" sz="2000" b="1" dirty="0">
                  <a:solidFill>
                    <a:srgbClr val="FF0000"/>
                  </a:solidFill>
                  <a:ea typeface="MS PGothic" pitchFamily="34" charset="-128"/>
                  <a:cs typeface="Times New Roman" pitchFamily="18" charset="0"/>
                </a:rPr>
                <a:t> </a:t>
              </a:r>
              <a:r>
                <a:rPr lang="en-GB" altLang="en-US" sz="800" b="1" dirty="0">
                  <a:solidFill>
                    <a:srgbClr val="FF0000"/>
                  </a:solidFill>
                  <a:ea typeface="MS PGothic" pitchFamily="34" charset="-128"/>
                  <a:cs typeface="Times New Roman" pitchFamily="18" charset="0"/>
                </a:rPr>
                <a:t> </a:t>
              </a:r>
              <a:endParaRPr lang="en-GB" altLang="en-US" sz="2000" b="1" dirty="0">
                <a:solidFill>
                  <a:srgbClr val="FF0000"/>
                </a:solidFill>
                <a:ea typeface="MS PGothic" pitchFamily="34" charset="-128"/>
                <a:cs typeface="Times New Roman" pitchFamily="18" charset="0"/>
              </a:endParaRPr>
            </a:p>
            <a:p>
              <a:pPr algn="l">
                <a:spcBef>
                  <a:spcPct val="0"/>
                </a:spcBef>
                <a:buClrTx/>
                <a:buFontTx/>
                <a:buNone/>
              </a:pPr>
              <a:r>
                <a:rPr lang="en-GB" altLang="en-US" sz="2000" b="1" dirty="0">
                  <a:solidFill>
                    <a:srgbClr val="FF0000"/>
                  </a:solidFill>
                  <a:ea typeface="MS PGothic" pitchFamily="34" charset="-128"/>
                  <a:cs typeface="Times New Roman" pitchFamily="18" charset="0"/>
                </a:rPr>
                <a:t>x</a:t>
              </a:r>
              <a:endParaRPr lang="en-GB" altLang="en-US" sz="1000" dirty="0">
                <a:latin typeface="Times New Roman" pitchFamily="18" charset="0"/>
                <a:ea typeface="MS PGothic" pitchFamily="34" charset="-128"/>
                <a:cs typeface="Times New Roman" pitchFamily="18" charset="0"/>
              </a:endParaRPr>
            </a:p>
          </p:txBody>
        </p:sp>
        <p:sp>
          <p:nvSpPr>
            <p:cNvPr id="29702" name="Rectangle 212"/>
            <p:cNvSpPr>
              <a:spLocks noChangeArrowheads="1"/>
            </p:cNvSpPr>
            <p:nvPr/>
          </p:nvSpPr>
          <p:spPr bwMode="auto">
            <a:xfrm>
              <a:off x="2362" y="3113"/>
              <a:ext cx="1325"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Task is likely to be appropriate but progress not fast enough</a:t>
              </a:r>
              <a:endParaRPr lang="en-GB" altLang="en-US" sz="1800" dirty="0">
                <a:latin typeface="Arial" pitchFamily="34" charset="0"/>
                <a:ea typeface="MS PGothic" pitchFamily="34" charset="-128"/>
                <a:cs typeface="Times New Roman" pitchFamily="18" charset="0"/>
              </a:endParaRPr>
            </a:p>
          </p:txBody>
        </p:sp>
        <p:sp>
          <p:nvSpPr>
            <p:cNvPr id="29703" name="Rectangle 210"/>
            <p:cNvSpPr>
              <a:spLocks noChangeArrowheads="1"/>
            </p:cNvSpPr>
            <p:nvPr/>
          </p:nvSpPr>
          <p:spPr bwMode="auto">
            <a:xfrm>
              <a:off x="455" y="3113"/>
              <a:ext cx="1036" cy="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Some progress; accurate but shallow correct rate slope</a:t>
              </a:r>
              <a:endParaRPr lang="en-GB" altLang="en-US" sz="1800" dirty="0">
                <a:latin typeface="Arial" pitchFamily="34" charset="0"/>
                <a:ea typeface="MS PGothic" pitchFamily="34" charset="-128"/>
                <a:cs typeface="Times New Roman" pitchFamily="18" charset="0"/>
              </a:endParaRPr>
            </a:p>
          </p:txBody>
        </p:sp>
        <p:sp>
          <p:nvSpPr>
            <p:cNvPr id="29704" name="Rectangle 209"/>
            <p:cNvSpPr>
              <a:spLocks noChangeArrowheads="1"/>
            </p:cNvSpPr>
            <p:nvPr/>
          </p:nvSpPr>
          <p:spPr bwMode="auto">
            <a:xfrm>
              <a:off x="3687" y="2528"/>
              <a:ext cx="1824"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Slow pupil down; encourage accuracy before speed</a:t>
              </a:r>
              <a:endParaRPr lang="en-GB" altLang="en-US" sz="1800" dirty="0">
                <a:latin typeface="Arial" pitchFamily="34" charset="0"/>
                <a:ea typeface="MS PGothic" pitchFamily="34" charset="-128"/>
                <a:cs typeface="Times New Roman" pitchFamily="18" charset="0"/>
              </a:endParaRPr>
            </a:p>
          </p:txBody>
        </p:sp>
        <p:sp>
          <p:nvSpPr>
            <p:cNvPr id="29705" name="Rectangle 208"/>
            <p:cNvSpPr>
              <a:spLocks noChangeArrowheads="1"/>
            </p:cNvSpPr>
            <p:nvPr/>
          </p:nvSpPr>
          <p:spPr bwMode="auto">
            <a:xfrm>
              <a:off x="2362" y="2528"/>
              <a:ext cx="1325"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Pupil is merely getting faster attempting more on the probe</a:t>
              </a:r>
              <a:endParaRPr lang="en-GB" altLang="en-US" sz="1800" dirty="0">
                <a:latin typeface="Arial" pitchFamily="34" charset="0"/>
                <a:ea typeface="MS PGothic" pitchFamily="34" charset="-128"/>
                <a:cs typeface="Times New Roman" pitchFamily="18" charset="0"/>
              </a:endParaRPr>
            </a:p>
          </p:txBody>
        </p:sp>
        <p:sp>
          <p:nvSpPr>
            <p:cNvPr id="29706" name="Rectangle 207"/>
            <p:cNvSpPr>
              <a:spLocks noChangeArrowheads="1"/>
            </p:cNvSpPr>
            <p:nvPr/>
          </p:nvSpPr>
          <p:spPr bwMode="auto">
            <a:xfrm>
              <a:off x="1491" y="2528"/>
              <a:ext cx="871"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2000" b="1" dirty="0">
                  <a:solidFill>
                    <a:srgbClr val="FF0000"/>
                  </a:solidFill>
                  <a:ea typeface="MS PGothic" pitchFamily="34" charset="-128"/>
                  <a:cs typeface="Times New Roman" pitchFamily="18" charset="0"/>
                </a:rPr>
                <a:t>   </a:t>
              </a:r>
            </a:p>
            <a:p>
              <a:pPr algn="l">
                <a:spcBef>
                  <a:spcPct val="0"/>
                </a:spcBef>
                <a:buClrTx/>
                <a:buFontTx/>
                <a:buNone/>
              </a:pPr>
              <a:r>
                <a:rPr lang="en-GB" altLang="en-US" sz="2000" b="1" dirty="0">
                  <a:solidFill>
                    <a:srgbClr val="FF0000"/>
                  </a:solidFill>
                  <a:ea typeface="MS PGothic" pitchFamily="34" charset="-128"/>
                  <a:cs typeface="Times New Roman" pitchFamily="18" charset="0"/>
                </a:rPr>
                <a:t>    x</a:t>
              </a:r>
              <a:endParaRPr lang="en-GB" altLang="en-US" sz="1000" dirty="0">
                <a:latin typeface="Times New Roman" pitchFamily="18" charset="0"/>
                <a:ea typeface="MS PGothic" pitchFamily="34" charset="-128"/>
                <a:cs typeface="Times New Roman" pitchFamily="18" charset="0"/>
              </a:endParaRPr>
            </a:p>
            <a:p>
              <a:pPr eaLnBrk="0" hangingPunct="0">
                <a:spcBef>
                  <a:spcPct val="0"/>
                </a:spcBef>
                <a:buClrTx/>
                <a:buFontTx/>
                <a:buNone/>
              </a:pPr>
              <a:r>
                <a:rPr lang="en-GB" altLang="en-US" sz="1400" dirty="0">
                  <a:latin typeface="Arial" pitchFamily="34" charset="0"/>
                  <a:ea typeface="MS PGothic" pitchFamily="34" charset="-128"/>
                  <a:cs typeface="Times New Roman" pitchFamily="18" charset="0"/>
                </a:rPr>
                <a:t>   </a:t>
              </a:r>
              <a:endParaRPr lang="en-GB" altLang="en-US" sz="1800" dirty="0">
                <a:latin typeface="Arial" pitchFamily="34" charset="0"/>
                <a:ea typeface="MS PGothic" pitchFamily="34" charset="-128"/>
                <a:cs typeface="Times New Roman" pitchFamily="18" charset="0"/>
              </a:endParaRPr>
            </a:p>
          </p:txBody>
        </p:sp>
        <p:sp>
          <p:nvSpPr>
            <p:cNvPr id="29707" name="Rectangle 206"/>
            <p:cNvSpPr>
              <a:spLocks noChangeArrowheads="1"/>
            </p:cNvSpPr>
            <p:nvPr/>
          </p:nvSpPr>
          <p:spPr bwMode="auto">
            <a:xfrm>
              <a:off x="455" y="2528"/>
              <a:ext cx="1036"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Both correct and incorrect rates increasing</a:t>
              </a:r>
              <a:endParaRPr lang="en-GB" altLang="en-US" sz="1800" dirty="0">
                <a:latin typeface="Arial" pitchFamily="34" charset="0"/>
                <a:ea typeface="MS PGothic" pitchFamily="34" charset="-128"/>
                <a:cs typeface="Times New Roman" pitchFamily="18" charset="0"/>
              </a:endParaRPr>
            </a:p>
          </p:txBody>
        </p:sp>
        <p:sp>
          <p:nvSpPr>
            <p:cNvPr id="29708" name="Rectangle 205"/>
            <p:cNvSpPr>
              <a:spLocks noChangeArrowheads="1"/>
            </p:cNvSpPr>
            <p:nvPr/>
          </p:nvSpPr>
          <p:spPr bwMode="auto">
            <a:xfrm>
              <a:off x="3687" y="1924"/>
              <a:ext cx="1824"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May need to return or slice the task</a:t>
              </a:r>
              <a:endParaRPr lang="en-GB" altLang="en-US" sz="1800" dirty="0">
                <a:latin typeface="Arial" pitchFamily="34" charset="0"/>
                <a:ea typeface="MS PGothic" pitchFamily="34" charset="-128"/>
                <a:cs typeface="Times New Roman" pitchFamily="18" charset="0"/>
              </a:endParaRPr>
            </a:p>
          </p:txBody>
        </p:sp>
        <p:sp>
          <p:nvSpPr>
            <p:cNvPr id="29709" name="Rectangle 204"/>
            <p:cNvSpPr>
              <a:spLocks noChangeArrowheads="1"/>
            </p:cNvSpPr>
            <p:nvPr/>
          </p:nvSpPr>
          <p:spPr bwMode="auto">
            <a:xfrm>
              <a:off x="2362" y="1924"/>
              <a:ext cx="1325"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Task probably inappropriate. Monitor progress, may be a blip</a:t>
              </a:r>
              <a:endParaRPr lang="en-GB" altLang="en-US" sz="1800" dirty="0">
                <a:latin typeface="Arial" pitchFamily="34" charset="0"/>
                <a:ea typeface="MS PGothic" pitchFamily="34" charset="-128"/>
                <a:cs typeface="Times New Roman" pitchFamily="18" charset="0"/>
              </a:endParaRPr>
            </a:p>
          </p:txBody>
        </p:sp>
        <p:sp>
          <p:nvSpPr>
            <p:cNvPr id="29710" name="Rectangle 203"/>
            <p:cNvSpPr>
              <a:spLocks noChangeArrowheads="1"/>
            </p:cNvSpPr>
            <p:nvPr/>
          </p:nvSpPr>
          <p:spPr bwMode="auto">
            <a:xfrm>
              <a:off x="1491" y="1924"/>
              <a:ext cx="871"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r>
                <a:rPr lang="en-GB" altLang="en-US" sz="1000" dirty="0">
                  <a:latin typeface="Times New Roman" pitchFamily="18" charset="0"/>
                  <a:ea typeface="MS PGothic" pitchFamily="34" charset="-128"/>
                  <a:cs typeface="Times New Roman" pitchFamily="18" charset="0"/>
                </a:rPr>
                <a:t/>
              </a:r>
              <a:br>
                <a:rPr lang="en-GB" altLang="en-US" sz="1000" dirty="0">
                  <a:latin typeface="Times New Roman" pitchFamily="18" charset="0"/>
                  <a:ea typeface="MS PGothic" pitchFamily="34" charset="-128"/>
                  <a:cs typeface="Times New Roman" pitchFamily="18" charset="0"/>
                </a:rPr>
              </a:br>
              <a:r>
                <a:rPr lang="en-GB" altLang="en-US" sz="2000" b="1" dirty="0">
                  <a:solidFill>
                    <a:srgbClr val="FF0000"/>
                  </a:solidFill>
                  <a:ea typeface="MS PGothic" pitchFamily="34" charset="-128"/>
                  <a:cs typeface="Times New Roman" pitchFamily="18" charset="0"/>
                </a:rPr>
                <a:t>  </a:t>
              </a:r>
              <a:endParaRPr lang="en-GB" altLang="en-US" sz="800" b="1" dirty="0">
                <a:solidFill>
                  <a:srgbClr val="FF0000"/>
                </a:solidFill>
                <a:ea typeface="MS PGothic" pitchFamily="34" charset="-128"/>
                <a:cs typeface="Times New Roman" pitchFamily="18" charset="0"/>
              </a:endParaRPr>
            </a:p>
            <a:p>
              <a:pPr algn="l" eaLnBrk="0" hangingPunct="0">
                <a:spcBef>
                  <a:spcPct val="0"/>
                </a:spcBef>
                <a:buClrTx/>
                <a:buFontTx/>
                <a:buNone/>
              </a:pPr>
              <a:r>
                <a:rPr lang="en-GB" altLang="en-US" sz="2000" b="1" dirty="0">
                  <a:solidFill>
                    <a:srgbClr val="FF0000"/>
                  </a:solidFill>
                  <a:ea typeface="MS PGothic" pitchFamily="34" charset="-128"/>
                  <a:cs typeface="Times New Roman" pitchFamily="18" charset="0"/>
                </a:rPr>
                <a:t>  x</a:t>
              </a:r>
              <a:endParaRPr lang="en-GB" altLang="en-US" sz="1000" dirty="0">
                <a:latin typeface="Times New Roman" pitchFamily="18" charset="0"/>
                <a:ea typeface="MS PGothic" pitchFamily="34" charset="-128"/>
                <a:cs typeface="Times New Roman" pitchFamily="18" charset="0"/>
              </a:endParaRPr>
            </a:p>
          </p:txBody>
        </p:sp>
        <p:sp>
          <p:nvSpPr>
            <p:cNvPr id="29711" name="Rectangle 202"/>
            <p:cNvSpPr>
              <a:spLocks noChangeArrowheads="1"/>
            </p:cNvSpPr>
            <p:nvPr/>
          </p:nvSpPr>
          <p:spPr bwMode="auto">
            <a:xfrm>
              <a:off x="455" y="1924"/>
              <a:ext cx="1036" cy="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Switch within first 3 days</a:t>
              </a:r>
              <a:endParaRPr lang="en-GB" altLang="en-US" sz="1800" dirty="0">
                <a:latin typeface="Arial" pitchFamily="34" charset="0"/>
                <a:ea typeface="MS PGothic" pitchFamily="34" charset="-128"/>
                <a:cs typeface="Times New Roman" pitchFamily="18" charset="0"/>
              </a:endParaRPr>
            </a:p>
          </p:txBody>
        </p:sp>
        <p:sp>
          <p:nvSpPr>
            <p:cNvPr id="29712" name="Rectangle 201"/>
            <p:cNvSpPr>
              <a:spLocks noChangeArrowheads="1"/>
            </p:cNvSpPr>
            <p:nvPr/>
          </p:nvSpPr>
          <p:spPr bwMode="auto">
            <a:xfrm>
              <a:off x="3687" y="1426"/>
              <a:ext cx="1824"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Return or slice the task</a:t>
              </a:r>
              <a:endParaRPr lang="en-GB" altLang="en-US" sz="1800" dirty="0">
                <a:latin typeface="Arial" pitchFamily="34" charset="0"/>
                <a:ea typeface="MS PGothic" pitchFamily="34" charset="-128"/>
                <a:cs typeface="Times New Roman" pitchFamily="18" charset="0"/>
              </a:endParaRPr>
            </a:p>
          </p:txBody>
        </p:sp>
        <p:sp>
          <p:nvSpPr>
            <p:cNvPr id="29713" name="Rectangle 200"/>
            <p:cNvSpPr>
              <a:spLocks noChangeArrowheads="1"/>
            </p:cNvSpPr>
            <p:nvPr/>
          </p:nvSpPr>
          <p:spPr bwMode="auto">
            <a:xfrm>
              <a:off x="2362" y="1426"/>
              <a:ext cx="1325"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Task inappropriate</a:t>
              </a:r>
              <a:endParaRPr lang="en-GB" altLang="en-US" sz="1000" dirty="0">
                <a:latin typeface="Times New Roman" pitchFamily="18" charset="0"/>
                <a:ea typeface="MS PGothic" pitchFamily="34" charset="-128"/>
                <a:cs typeface="Times New Roman" pitchFamily="18" charset="0"/>
              </a:endParaRPr>
            </a:p>
            <a:p>
              <a:pPr algn="l" eaLnBrk="0" hangingPunct="0">
                <a:spcBef>
                  <a:spcPct val="0"/>
                </a:spcBef>
                <a:buClrTx/>
                <a:buFontTx/>
                <a:buNone/>
              </a:pPr>
              <a:r>
                <a:rPr lang="en-GB" altLang="en-US" sz="1400" dirty="0">
                  <a:latin typeface="Arial" pitchFamily="34" charset="0"/>
                  <a:ea typeface="MS PGothic" pitchFamily="34" charset="-128"/>
                  <a:cs typeface="Times New Roman" pitchFamily="18" charset="0"/>
                </a:rPr>
                <a:t>3 day rule applies</a:t>
              </a:r>
              <a:endParaRPr lang="en-GB" altLang="en-US" sz="1800" dirty="0">
                <a:latin typeface="Arial" pitchFamily="34" charset="0"/>
                <a:ea typeface="MS PGothic" pitchFamily="34" charset="-128"/>
                <a:cs typeface="Times New Roman" pitchFamily="18" charset="0"/>
              </a:endParaRPr>
            </a:p>
          </p:txBody>
        </p:sp>
        <p:sp>
          <p:nvSpPr>
            <p:cNvPr id="29714" name="Rectangle 199"/>
            <p:cNvSpPr>
              <a:spLocks noChangeArrowheads="1"/>
            </p:cNvSpPr>
            <p:nvPr/>
          </p:nvSpPr>
          <p:spPr bwMode="auto">
            <a:xfrm>
              <a:off x="1505" y="1440"/>
              <a:ext cx="870"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2000" b="1" dirty="0" smtClean="0">
                  <a:solidFill>
                    <a:srgbClr val="FF0000"/>
                  </a:solidFill>
                  <a:ea typeface="MS PGothic" pitchFamily="34" charset="-128"/>
                  <a:cs typeface="Times New Roman" pitchFamily="18" charset="0"/>
                </a:rPr>
                <a:t>x</a:t>
              </a:r>
              <a:endParaRPr lang="en-GB" altLang="en-US" sz="1800" dirty="0">
                <a:latin typeface="Arial" pitchFamily="34" charset="0"/>
                <a:ea typeface="MS PGothic" pitchFamily="34" charset="-128"/>
                <a:cs typeface="Times New Roman" pitchFamily="18" charset="0"/>
              </a:endParaRPr>
            </a:p>
          </p:txBody>
        </p:sp>
        <p:sp>
          <p:nvSpPr>
            <p:cNvPr id="29715" name="Rectangle 198"/>
            <p:cNvSpPr>
              <a:spLocks noChangeArrowheads="1"/>
            </p:cNvSpPr>
            <p:nvPr/>
          </p:nvSpPr>
          <p:spPr bwMode="auto">
            <a:xfrm>
              <a:off x="455" y="1426"/>
              <a:ext cx="1036"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l">
                <a:spcBef>
                  <a:spcPct val="0"/>
                </a:spcBef>
                <a:buClrTx/>
                <a:buFontTx/>
                <a:buNone/>
              </a:pPr>
              <a:r>
                <a:rPr lang="en-GB" altLang="en-US" sz="1400" dirty="0">
                  <a:latin typeface="Arial" pitchFamily="34" charset="0"/>
                  <a:ea typeface="MS PGothic" pitchFamily="34" charset="-128"/>
                  <a:cs typeface="Times New Roman" pitchFamily="18" charset="0"/>
                </a:rPr>
                <a:t>More errors than correct: No sign of a switch</a:t>
              </a:r>
              <a:endParaRPr lang="en-GB" altLang="en-US" sz="1800" dirty="0">
                <a:latin typeface="Arial" pitchFamily="34" charset="0"/>
                <a:ea typeface="MS PGothic" pitchFamily="34" charset="-128"/>
                <a:cs typeface="Times New Roman" pitchFamily="18" charset="0"/>
              </a:endParaRPr>
            </a:p>
          </p:txBody>
        </p:sp>
        <p:sp>
          <p:nvSpPr>
            <p:cNvPr id="29716" name="Rectangle 197"/>
            <p:cNvSpPr>
              <a:spLocks noChangeArrowheads="1"/>
            </p:cNvSpPr>
            <p:nvPr/>
          </p:nvSpPr>
          <p:spPr bwMode="auto">
            <a:xfrm>
              <a:off x="3687" y="1071"/>
              <a:ext cx="18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latin typeface="Arial" pitchFamily="34" charset="0"/>
                  <a:ea typeface="MS PGothic" pitchFamily="34" charset="-128"/>
                  <a:cs typeface="Times New Roman" pitchFamily="18" charset="0"/>
                </a:rPr>
                <a:t>Intervention</a:t>
              </a:r>
              <a:endParaRPr lang="en-GB" altLang="en-US" sz="1800">
                <a:latin typeface="Arial" pitchFamily="34" charset="0"/>
                <a:ea typeface="MS PGothic" pitchFamily="34" charset="-128"/>
                <a:cs typeface="Times New Roman" pitchFamily="18" charset="0"/>
              </a:endParaRPr>
            </a:p>
          </p:txBody>
        </p:sp>
        <p:sp>
          <p:nvSpPr>
            <p:cNvPr id="29717" name="Rectangle 196"/>
            <p:cNvSpPr>
              <a:spLocks noChangeArrowheads="1"/>
            </p:cNvSpPr>
            <p:nvPr/>
          </p:nvSpPr>
          <p:spPr bwMode="auto">
            <a:xfrm>
              <a:off x="2362" y="1071"/>
              <a:ext cx="1325"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latin typeface="Arial" pitchFamily="34" charset="0"/>
                  <a:ea typeface="MS PGothic" pitchFamily="34" charset="-128"/>
                  <a:cs typeface="Times New Roman" pitchFamily="18" charset="0"/>
                </a:rPr>
                <a:t>Interpretation</a:t>
              </a:r>
              <a:endParaRPr lang="en-GB" altLang="en-US" sz="1800">
                <a:latin typeface="Arial" pitchFamily="34" charset="0"/>
                <a:ea typeface="MS PGothic" pitchFamily="34" charset="-128"/>
                <a:cs typeface="Times New Roman" pitchFamily="18" charset="0"/>
              </a:endParaRPr>
            </a:p>
          </p:txBody>
        </p:sp>
        <p:sp>
          <p:nvSpPr>
            <p:cNvPr id="29718" name="Rectangle 195"/>
            <p:cNvSpPr>
              <a:spLocks noChangeArrowheads="1"/>
            </p:cNvSpPr>
            <p:nvPr/>
          </p:nvSpPr>
          <p:spPr bwMode="auto">
            <a:xfrm>
              <a:off x="1491" y="1071"/>
              <a:ext cx="871"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buClrTx/>
                <a:buFontTx/>
                <a:buNone/>
              </a:pPr>
              <a:r>
                <a:rPr lang="en-GB" altLang="en-US" sz="1600" u="sng">
                  <a:latin typeface="Arial" pitchFamily="34" charset="0"/>
                  <a:ea typeface="MS PGothic" pitchFamily="34" charset="-128"/>
                  <a:cs typeface="Arial" pitchFamily="34" charset="0"/>
                </a:rPr>
                <a:t>Chart Picture</a:t>
              </a:r>
            </a:p>
          </p:txBody>
        </p:sp>
        <p:sp>
          <p:nvSpPr>
            <p:cNvPr id="29719" name="Rectangle 194"/>
            <p:cNvSpPr>
              <a:spLocks noChangeArrowheads="1"/>
            </p:cNvSpPr>
            <p:nvPr/>
          </p:nvSpPr>
          <p:spPr bwMode="auto">
            <a:xfrm>
              <a:off x="455" y="1071"/>
              <a:ext cx="1036"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lgn="ctr">
                <a:spcBef>
                  <a:spcPct val="0"/>
                </a:spcBef>
                <a:buClrTx/>
                <a:buFontTx/>
                <a:buNone/>
              </a:pPr>
              <a:r>
                <a:rPr lang="en-GB" altLang="en-US" sz="1600" u="sng">
                  <a:latin typeface="Arial" pitchFamily="34" charset="0"/>
                  <a:ea typeface="MS PGothic" pitchFamily="34" charset="-128"/>
                  <a:cs typeface="Times New Roman" pitchFamily="18" charset="0"/>
                </a:rPr>
                <a:t>Chart Description</a:t>
              </a:r>
              <a:endParaRPr lang="en-GB" altLang="en-US" sz="1800">
                <a:latin typeface="Arial" pitchFamily="34" charset="0"/>
                <a:ea typeface="MS PGothic" pitchFamily="34" charset="-128"/>
                <a:cs typeface="Times New Roman" pitchFamily="18" charset="0"/>
              </a:endParaRPr>
            </a:p>
          </p:txBody>
        </p:sp>
        <p:sp>
          <p:nvSpPr>
            <p:cNvPr id="29720" name="Line 214"/>
            <p:cNvSpPr>
              <a:spLocks noChangeShapeType="1"/>
            </p:cNvSpPr>
            <p:nvPr/>
          </p:nvSpPr>
          <p:spPr bwMode="auto">
            <a:xfrm>
              <a:off x="455" y="1071"/>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1" name="Line 215"/>
            <p:cNvSpPr>
              <a:spLocks noChangeShapeType="1"/>
            </p:cNvSpPr>
            <p:nvPr/>
          </p:nvSpPr>
          <p:spPr bwMode="auto">
            <a:xfrm>
              <a:off x="455" y="3757"/>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2" name="Line 216"/>
            <p:cNvSpPr>
              <a:spLocks noChangeShapeType="1"/>
            </p:cNvSpPr>
            <p:nvPr/>
          </p:nvSpPr>
          <p:spPr bwMode="auto">
            <a:xfrm>
              <a:off x="455"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3" name="Line 217"/>
            <p:cNvSpPr>
              <a:spLocks noChangeShapeType="1"/>
            </p:cNvSpPr>
            <p:nvPr/>
          </p:nvSpPr>
          <p:spPr bwMode="auto">
            <a:xfrm>
              <a:off x="551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4" name="Line 220"/>
            <p:cNvSpPr>
              <a:spLocks noChangeShapeType="1"/>
            </p:cNvSpPr>
            <p:nvPr/>
          </p:nvSpPr>
          <p:spPr bwMode="auto">
            <a:xfrm>
              <a:off x="455" y="1426"/>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5" name="Line 222"/>
            <p:cNvSpPr>
              <a:spLocks noChangeShapeType="1"/>
            </p:cNvSpPr>
            <p:nvPr/>
          </p:nvSpPr>
          <p:spPr bwMode="auto">
            <a:xfrm>
              <a:off x="1491"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6" name="Line 225"/>
            <p:cNvSpPr>
              <a:spLocks noChangeShapeType="1"/>
            </p:cNvSpPr>
            <p:nvPr/>
          </p:nvSpPr>
          <p:spPr bwMode="auto">
            <a:xfrm>
              <a:off x="2362"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7" name="Line 228"/>
            <p:cNvSpPr>
              <a:spLocks noChangeShapeType="1"/>
            </p:cNvSpPr>
            <p:nvPr/>
          </p:nvSpPr>
          <p:spPr bwMode="auto">
            <a:xfrm>
              <a:off x="3687" y="1071"/>
              <a:ext cx="0" cy="2686"/>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8" name="Line 232"/>
            <p:cNvSpPr>
              <a:spLocks noChangeShapeType="1"/>
            </p:cNvSpPr>
            <p:nvPr/>
          </p:nvSpPr>
          <p:spPr bwMode="auto">
            <a:xfrm>
              <a:off x="455" y="1924"/>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29" name="Line 250"/>
            <p:cNvSpPr>
              <a:spLocks noChangeShapeType="1"/>
            </p:cNvSpPr>
            <p:nvPr/>
          </p:nvSpPr>
          <p:spPr bwMode="auto">
            <a:xfrm>
              <a:off x="455" y="2528"/>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9730" name="Line 268"/>
            <p:cNvSpPr>
              <a:spLocks noChangeShapeType="1"/>
            </p:cNvSpPr>
            <p:nvPr/>
          </p:nvSpPr>
          <p:spPr bwMode="auto">
            <a:xfrm>
              <a:off x="455" y="3113"/>
              <a:ext cx="5056" cy="0"/>
            </a:xfrm>
            <a:prstGeom prst="line">
              <a:avLst/>
            </a:prstGeom>
            <a:noFill/>
            <a:ln w="12700" cap="rnd">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29731" name="Group 157"/>
            <p:cNvGrpSpPr>
              <a:grpSpLocks/>
            </p:cNvGrpSpPr>
            <p:nvPr/>
          </p:nvGrpSpPr>
          <p:grpSpPr bwMode="auto">
            <a:xfrm>
              <a:off x="1600" y="2594"/>
              <a:ext cx="408" cy="251"/>
              <a:chOff x="4496" y="6534"/>
              <a:chExt cx="970" cy="618"/>
            </a:xfrm>
          </p:grpSpPr>
          <p:sp>
            <p:nvSpPr>
              <p:cNvPr id="29742" name="Line 160"/>
              <p:cNvSpPr>
                <a:spLocks noChangeShapeType="1"/>
              </p:cNvSpPr>
              <p:nvPr/>
            </p:nvSpPr>
            <p:spPr bwMode="auto">
              <a:xfrm flipV="1">
                <a:off x="4722" y="653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43" name="Line 159"/>
              <p:cNvSpPr>
                <a:spLocks noChangeShapeType="1"/>
              </p:cNvSpPr>
              <p:nvPr/>
            </p:nvSpPr>
            <p:spPr bwMode="auto">
              <a:xfrm flipV="1">
                <a:off x="4854" y="6894"/>
                <a:ext cx="612" cy="2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44" name="Oval 158"/>
              <p:cNvSpPr>
                <a:spLocks noChangeArrowheads="1"/>
              </p:cNvSpPr>
              <p:nvPr/>
            </p:nvSpPr>
            <p:spPr bwMode="auto">
              <a:xfrm>
                <a:off x="4496" y="6720"/>
                <a:ext cx="240" cy="180"/>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latin typeface="Times New Roman" pitchFamily="18" charset="0"/>
                  <a:ea typeface="MS PGothic" pitchFamily="34" charset="-128"/>
                  <a:cs typeface="Arial" pitchFamily="34" charset="0"/>
                </a:endParaRPr>
              </a:p>
            </p:txBody>
          </p:sp>
        </p:grpSp>
        <p:grpSp>
          <p:nvGrpSpPr>
            <p:cNvPr id="29732" name="Group 161"/>
            <p:cNvGrpSpPr>
              <a:grpSpLocks/>
            </p:cNvGrpSpPr>
            <p:nvPr/>
          </p:nvGrpSpPr>
          <p:grpSpPr bwMode="auto">
            <a:xfrm>
              <a:off x="1648" y="2040"/>
              <a:ext cx="300" cy="289"/>
              <a:chOff x="4739" y="4873"/>
              <a:chExt cx="715" cy="709"/>
            </a:xfrm>
          </p:grpSpPr>
          <p:sp>
            <p:nvSpPr>
              <p:cNvPr id="29739" name="Line 164"/>
              <p:cNvSpPr>
                <a:spLocks noChangeShapeType="1"/>
              </p:cNvSpPr>
              <p:nvPr/>
            </p:nvSpPr>
            <p:spPr bwMode="auto">
              <a:xfrm flipV="1">
                <a:off x="4854" y="5042"/>
                <a:ext cx="60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40" name="Line 163"/>
              <p:cNvSpPr>
                <a:spLocks noChangeShapeType="1"/>
              </p:cNvSpPr>
              <p:nvPr/>
            </p:nvSpPr>
            <p:spPr bwMode="auto">
              <a:xfrm>
                <a:off x="4974" y="5042"/>
                <a:ext cx="48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41" name="Oval 162"/>
              <p:cNvSpPr>
                <a:spLocks noChangeArrowheads="1"/>
              </p:cNvSpPr>
              <p:nvPr/>
            </p:nvSpPr>
            <p:spPr bwMode="auto">
              <a:xfrm>
                <a:off x="4739" y="4873"/>
                <a:ext cx="240" cy="180"/>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latin typeface="Times New Roman" pitchFamily="18" charset="0"/>
                  <a:ea typeface="MS PGothic" pitchFamily="34" charset="-128"/>
                  <a:cs typeface="Arial" pitchFamily="34" charset="0"/>
                </a:endParaRPr>
              </a:p>
            </p:txBody>
          </p:sp>
        </p:grpSp>
        <p:sp>
          <p:nvSpPr>
            <p:cNvPr id="29733" name="Line 156"/>
            <p:cNvSpPr>
              <a:spLocks noChangeShapeType="1"/>
            </p:cNvSpPr>
            <p:nvPr/>
          </p:nvSpPr>
          <p:spPr bwMode="auto">
            <a:xfrm>
              <a:off x="1648" y="3471"/>
              <a:ext cx="355" cy="1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34" name="Line 154"/>
            <p:cNvSpPr>
              <a:spLocks noChangeShapeType="1"/>
            </p:cNvSpPr>
            <p:nvPr/>
          </p:nvSpPr>
          <p:spPr bwMode="auto">
            <a:xfrm flipV="1">
              <a:off x="1648" y="3287"/>
              <a:ext cx="358" cy="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35" name="Oval 155"/>
            <p:cNvSpPr>
              <a:spLocks noChangeArrowheads="1"/>
            </p:cNvSpPr>
            <p:nvPr/>
          </p:nvSpPr>
          <p:spPr bwMode="auto">
            <a:xfrm>
              <a:off x="1553" y="3287"/>
              <a:ext cx="101" cy="73"/>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latin typeface="Times New Roman" pitchFamily="18" charset="0"/>
                <a:ea typeface="MS PGothic" pitchFamily="34" charset="-128"/>
                <a:cs typeface="Arial" pitchFamily="34" charset="0"/>
              </a:endParaRPr>
            </a:p>
          </p:txBody>
        </p:sp>
        <p:sp>
          <p:nvSpPr>
            <p:cNvPr id="29736" name="Line 167"/>
            <p:cNvSpPr>
              <a:spLocks noChangeShapeType="1"/>
            </p:cNvSpPr>
            <p:nvPr/>
          </p:nvSpPr>
          <p:spPr bwMode="auto">
            <a:xfrm flipV="1">
              <a:off x="1695" y="1440"/>
              <a:ext cx="190" cy="14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37" name="Line 166"/>
            <p:cNvSpPr>
              <a:spLocks noChangeShapeType="1"/>
            </p:cNvSpPr>
            <p:nvPr/>
          </p:nvSpPr>
          <p:spPr bwMode="auto">
            <a:xfrm flipV="1">
              <a:off x="1696" y="1717"/>
              <a:ext cx="250" cy="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9738" name="Oval 165"/>
            <p:cNvSpPr>
              <a:spLocks noChangeArrowheads="1"/>
            </p:cNvSpPr>
            <p:nvPr/>
          </p:nvSpPr>
          <p:spPr bwMode="auto">
            <a:xfrm>
              <a:off x="1600" y="1764"/>
              <a:ext cx="101" cy="73"/>
            </a:xfrm>
            <a:prstGeom prst="ellipse">
              <a:avLst/>
            </a:prstGeom>
            <a:solidFill>
              <a:srgbClr val="339966"/>
            </a:solidFill>
            <a:ln w="9525">
              <a:solidFill>
                <a:srgbClr val="000000"/>
              </a:solidFill>
              <a:round/>
              <a:headEnd/>
              <a:tailEnd/>
            </a:ln>
          </p:spPr>
          <p:txBody>
            <a:bodyPr/>
            <a:lstStyle>
              <a:lvl1pPr>
                <a:spcBef>
                  <a:spcPct val="20000"/>
                </a:spcBef>
                <a:buClr>
                  <a:schemeClr val="accent1"/>
                </a:buClr>
                <a:buFont typeface="Arial" pitchFamily="34" charset="0"/>
                <a:buChar char="•"/>
                <a:defRPr sz="2200">
                  <a:solidFill>
                    <a:schemeClr val="tx1"/>
                  </a:solidFill>
                  <a:latin typeface="Calibri" pitchFamily="34" charset="0"/>
                </a:defRPr>
              </a:lvl1pPr>
              <a:lvl2pPr marL="742950" indent="-28575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a:spcBef>
                  <a:spcPct val="20000"/>
                </a:spcBef>
                <a:buClr>
                  <a:srgbClr val="D2CB6C"/>
                </a:buClr>
                <a:buFont typeface="Arial" pitchFamily="34" charset="0"/>
                <a:buChar char="•"/>
                <a:defRPr>
                  <a:solidFill>
                    <a:schemeClr val="tx1"/>
                  </a:solidFill>
                  <a:latin typeface="Calibri" pitchFamily="34" charset="0"/>
                </a:defRPr>
              </a:lvl3pPr>
              <a:lvl4pPr marL="1600200" indent="-228600">
                <a:spcBef>
                  <a:spcPct val="20000"/>
                </a:spcBef>
                <a:buClr>
                  <a:srgbClr val="95A39D"/>
                </a:buClr>
                <a:buFont typeface="Arial" pitchFamily="34" charset="0"/>
                <a:buChar char="•"/>
                <a:defRPr sz="1600">
                  <a:solidFill>
                    <a:schemeClr val="tx1"/>
                  </a:solidFill>
                  <a:latin typeface="Calibri" pitchFamily="34" charset="0"/>
                </a:defRPr>
              </a:lvl4pPr>
              <a:lvl5pPr marL="2057400" indent="-228600">
                <a:spcBef>
                  <a:spcPct val="20000"/>
                </a:spcBef>
                <a:buClr>
                  <a:srgbClr val="C89F5D"/>
                </a:buClr>
                <a:buFont typeface="Arial" pitchFamily="34" charset="0"/>
                <a:buChar char="•"/>
                <a:defRPr sz="1400">
                  <a:solidFill>
                    <a:schemeClr val="tx1"/>
                  </a:solidFill>
                  <a:latin typeface="Calibri" pitchFamily="34" charset="0"/>
                </a:defRPr>
              </a:lvl5pPr>
              <a:lvl6pPr marL="25146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fontAlgn="base">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a:spcBef>
                  <a:spcPct val="0"/>
                </a:spcBef>
                <a:buClrTx/>
                <a:buFontTx/>
                <a:buNone/>
              </a:pPr>
              <a:endParaRPr lang="en-GB" altLang="en-US" sz="2400">
                <a:latin typeface="Times New Roman" pitchFamily="18" charset="0"/>
                <a:ea typeface="MS PGothic" pitchFamily="34" charset="-128"/>
                <a:cs typeface="Arial" pitchFamily="34" charset="0"/>
              </a:endParaRPr>
            </a:p>
          </p:txBody>
        </p:sp>
      </p:grpSp>
    </p:spTree>
    <p:extLst>
      <p:ext uri="{BB962C8B-B14F-4D97-AF65-F5344CB8AC3E}">
        <p14:creationId xmlns:p14="http://schemas.microsoft.com/office/powerpoint/2010/main" val="1348903915"/>
      </p:ext>
    </p:extLst>
  </p:cSld>
  <p:clrMapOvr>
    <a:masterClrMapping/>
  </p:clrMapOvr>
  <p:transition spd="med">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4213" y="549275"/>
            <a:ext cx="7772400" cy="1143000"/>
          </a:xfrm>
        </p:spPr>
        <p:txBody>
          <a:bodyPr/>
          <a:lstStyle/>
          <a:p>
            <a:pPr algn="l" fontAlgn="auto">
              <a:spcAft>
                <a:spcPts val="0"/>
              </a:spcAft>
              <a:defRPr/>
            </a:pPr>
            <a:r>
              <a:rPr lang="en-GB" altLang="en-US" sz="4000" dirty="0" smtClean="0">
                <a:latin typeface="Arial" pitchFamily="34" charset="0"/>
                <a:cs typeface="Arial" pitchFamily="34" charset="0"/>
              </a:rPr>
              <a:t>6b. Maintenance</a:t>
            </a:r>
          </a:p>
        </p:txBody>
      </p:sp>
      <p:sp>
        <p:nvSpPr>
          <p:cNvPr id="30723" name="Rectangle 3"/>
          <p:cNvSpPr>
            <a:spLocks noGrp="1" noChangeArrowheads="1"/>
          </p:cNvSpPr>
          <p:nvPr>
            <p:ph idx="1"/>
          </p:nvPr>
        </p:nvSpPr>
        <p:spPr>
          <a:xfrm>
            <a:off x="684213" y="1773238"/>
            <a:ext cx="7772400" cy="4114800"/>
          </a:xfrm>
        </p:spPr>
        <p:txBody>
          <a:bodyPr/>
          <a:lstStyle/>
          <a:p>
            <a:r>
              <a:rPr lang="en-GB" altLang="en-US" sz="2800" dirty="0" smtClean="0">
                <a:latin typeface="Arial" pitchFamily="34" charset="0"/>
                <a:cs typeface="Arial" pitchFamily="34" charset="0"/>
              </a:rPr>
              <a:t>Once a pupil has reached fluency (hit target 3 days consecutively), change target</a:t>
            </a:r>
          </a:p>
          <a:p>
            <a:pPr>
              <a:buFontTx/>
              <a:buNone/>
            </a:pPr>
            <a:endParaRPr lang="en-GB" altLang="en-US" sz="2800" dirty="0" smtClean="0">
              <a:latin typeface="Arial" pitchFamily="34" charset="0"/>
              <a:cs typeface="Arial" pitchFamily="34" charset="0"/>
            </a:endParaRPr>
          </a:p>
          <a:p>
            <a:r>
              <a:rPr lang="en-GB" altLang="en-US" sz="2800" dirty="0" smtClean="0">
                <a:latin typeface="Arial" pitchFamily="34" charset="0"/>
                <a:cs typeface="Arial" pitchFamily="34" charset="0"/>
              </a:rPr>
              <a:t>Check for maintenance at regular intervals by using an old probe to check they are still fluent with these words or interleave previously learnt words with new words</a:t>
            </a:r>
          </a:p>
        </p:txBody>
      </p:sp>
    </p:spTree>
    <p:extLst>
      <p:ext uri="{BB962C8B-B14F-4D97-AF65-F5344CB8AC3E}">
        <p14:creationId xmlns:p14="http://schemas.microsoft.com/office/powerpoint/2010/main" val="19091714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251520" y="548680"/>
            <a:ext cx="7958137" cy="1143000"/>
          </a:xfrm>
        </p:spPr>
        <p:txBody>
          <a:bodyPr/>
          <a:lstStyle/>
          <a:p>
            <a:pPr algn="l" fontAlgn="auto">
              <a:spcAft>
                <a:spcPts val="0"/>
              </a:spcAft>
              <a:defRPr/>
            </a:pPr>
            <a:r>
              <a:rPr lang="en-GB" altLang="en-US" sz="3200" dirty="0" smtClean="0">
                <a:latin typeface="Arial" pitchFamily="34" charset="0"/>
                <a:cs typeface="Arial" pitchFamily="34" charset="0"/>
              </a:rPr>
              <a:t>Recap of the steps of precision monitoring</a:t>
            </a:r>
          </a:p>
        </p:txBody>
      </p:sp>
      <p:sp>
        <p:nvSpPr>
          <p:cNvPr id="31747" name="Rectangle 3"/>
          <p:cNvSpPr>
            <a:spLocks noGrp="1" noChangeArrowheads="1"/>
          </p:cNvSpPr>
          <p:nvPr>
            <p:ph type="body" idx="4294967295"/>
          </p:nvPr>
        </p:nvSpPr>
        <p:spPr>
          <a:xfrm>
            <a:off x="0" y="1773238"/>
            <a:ext cx="7669213" cy="4467225"/>
          </a:xfrm>
        </p:spPr>
        <p:txBody>
          <a:bodyPr/>
          <a:lstStyle/>
          <a:p>
            <a:pPr marL="609600" indent="-609600">
              <a:lnSpc>
                <a:spcPct val="80000"/>
              </a:lnSpc>
              <a:buFontTx/>
              <a:buAutoNum type="arabicPeriod"/>
            </a:pPr>
            <a:r>
              <a:rPr lang="en-GB" altLang="en-US" dirty="0" smtClean="0">
                <a:latin typeface="Arial" pitchFamily="34" charset="0"/>
                <a:cs typeface="Arial" pitchFamily="34" charset="0"/>
              </a:rPr>
              <a:t>Identify a specific difficulty and acquire a baseline</a:t>
            </a:r>
          </a:p>
          <a:p>
            <a:pPr marL="609600" indent="-609600">
              <a:lnSpc>
                <a:spcPct val="80000"/>
              </a:lnSpc>
              <a:buFontTx/>
              <a:buAutoNum type="arabicPeriod" startAt="2"/>
            </a:pPr>
            <a:r>
              <a:rPr lang="en-GB" altLang="en-US" dirty="0" smtClean="0">
                <a:latin typeface="Arial" pitchFamily="34" charset="0"/>
                <a:cs typeface="Arial" pitchFamily="34" charset="0"/>
              </a:rPr>
              <a:t>Set a target</a:t>
            </a:r>
          </a:p>
          <a:p>
            <a:pPr marL="609600" indent="-609600">
              <a:lnSpc>
                <a:spcPct val="80000"/>
              </a:lnSpc>
              <a:buFontTx/>
              <a:buAutoNum type="arabicPeriod" startAt="3"/>
            </a:pPr>
            <a:r>
              <a:rPr lang="en-GB" altLang="en-US" dirty="0" smtClean="0">
                <a:latin typeface="Arial" pitchFamily="34" charset="0"/>
                <a:cs typeface="Arial" pitchFamily="34" charset="0"/>
              </a:rPr>
              <a:t>Teaching sessions (DI): short, frequent and target specific</a:t>
            </a:r>
          </a:p>
          <a:p>
            <a:pPr marL="609600" indent="-609600">
              <a:lnSpc>
                <a:spcPct val="80000"/>
              </a:lnSpc>
              <a:buFontTx/>
              <a:buAutoNum type="arabicPeriod" startAt="3"/>
            </a:pPr>
            <a:r>
              <a:rPr lang="en-GB" altLang="en-US" dirty="0" smtClean="0">
                <a:latin typeface="Arial" pitchFamily="34" charset="0"/>
                <a:cs typeface="Arial" pitchFamily="34" charset="0"/>
              </a:rPr>
              <a:t>Monitor pupil’s daily performance using a probe</a:t>
            </a:r>
          </a:p>
          <a:p>
            <a:pPr marL="609600" indent="-609600">
              <a:lnSpc>
                <a:spcPct val="80000"/>
              </a:lnSpc>
              <a:buFontTx/>
              <a:buAutoNum type="arabicPeriod" startAt="5"/>
            </a:pPr>
            <a:r>
              <a:rPr lang="en-GB" altLang="en-US" dirty="0" smtClean="0">
                <a:latin typeface="Arial" pitchFamily="34" charset="0"/>
                <a:cs typeface="Arial" pitchFamily="34" charset="0"/>
              </a:rPr>
              <a:t>Chart results (PM) and make note of teaching methods</a:t>
            </a:r>
          </a:p>
          <a:p>
            <a:pPr marL="609600" indent="-609600">
              <a:lnSpc>
                <a:spcPct val="80000"/>
              </a:lnSpc>
              <a:buFontTx/>
              <a:buAutoNum type="arabicPeriod" startAt="6"/>
            </a:pPr>
            <a:r>
              <a:rPr lang="en-GB" altLang="en-US" dirty="0" smtClean="0">
                <a:latin typeface="Arial" pitchFamily="34" charset="0"/>
                <a:cs typeface="Arial" pitchFamily="34" charset="0"/>
              </a:rPr>
              <a:t>Analyse the data to determine if a change of target is needed or change in teaching method</a:t>
            </a:r>
          </a:p>
        </p:txBody>
      </p:sp>
    </p:spTree>
    <p:extLst>
      <p:ext uri="{BB962C8B-B14F-4D97-AF65-F5344CB8AC3E}">
        <p14:creationId xmlns:p14="http://schemas.microsoft.com/office/powerpoint/2010/main" val="2037987207"/>
      </p:ext>
    </p:extLst>
  </p:cSld>
  <p:clrMapOvr>
    <a:masterClrMapping/>
  </p:clrMapOvr>
  <p:transition spd="med">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blocksrg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4572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a:p>
        </p:txBody>
      </p:sp>
      <p:sp>
        <p:nvSpPr>
          <p:cNvPr id="16388" name="Text Box 4"/>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a:solidFill>
                  <a:schemeClr val="bg1"/>
                </a:solidFill>
                <a:latin typeface="Arial Black" pitchFamily="34" charset="0"/>
                <a:ea typeface="ＭＳ Ｐゴシック" pitchFamily="110" charset="-128"/>
              </a:rPr>
              <a:t>E D U C A T I O N A L   P S Y C H O L O G Y   S E R V I C E</a:t>
            </a:r>
          </a:p>
        </p:txBody>
      </p:sp>
      <p:pic>
        <p:nvPicPr>
          <p:cNvPr id="16389" name="Picture 5" descr="Image windsor and Maidenhea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6096000"/>
            <a:ext cx="5064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pic>
      <p:sp>
        <p:nvSpPr>
          <p:cNvPr id="16390" name="Text Box 6"/>
          <p:cNvSpPr txBox="1">
            <a:spLocks noChangeArrowheads="1"/>
          </p:cNvSpPr>
          <p:nvPr/>
        </p:nvSpPr>
        <p:spPr bwMode="auto">
          <a:xfrm>
            <a:off x="684213" y="4797425"/>
            <a:ext cx="7705725"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50000"/>
              </a:spcBef>
              <a:buClrTx/>
              <a:buSzTx/>
              <a:buFontTx/>
              <a:buNone/>
            </a:pPr>
            <a:r>
              <a:rPr lang="en-US" altLang="en-US" sz="2400">
                <a:ea typeface="ＭＳ Ｐゴシック" pitchFamily="110" charset="-128"/>
              </a:rPr>
              <a:t>Please do not use or copy any slides without prior permission from RBWM EPS</a:t>
            </a:r>
          </a:p>
        </p:txBody>
      </p:sp>
      <p:sp>
        <p:nvSpPr>
          <p:cNvPr id="16391" name="Text Box 7"/>
          <p:cNvSpPr txBox="1">
            <a:spLocks noChangeArrowheads="1"/>
          </p:cNvSpPr>
          <p:nvPr/>
        </p:nvSpPr>
        <p:spPr bwMode="auto">
          <a:xfrm>
            <a:off x="4572000" y="2852738"/>
            <a:ext cx="29527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3600">
                <a:latin typeface="Arial Black" pitchFamily="34" charset="0"/>
                <a:ea typeface="ＭＳ Ｐゴシック" pitchFamily="110" charset="-128"/>
              </a:rPr>
              <a:t>Thank you</a:t>
            </a:r>
            <a:endParaRPr lang="en-US" altLang="en-US" sz="3600">
              <a:ea typeface="ＭＳ Ｐゴシック" pitchFamily="110" charset="-128"/>
            </a:endParaRPr>
          </a:p>
        </p:txBody>
      </p:sp>
    </p:spTree>
    <p:extLst>
      <p:ext uri="{BB962C8B-B14F-4D97-AF65-F5344CB8AC3E}">
        <p14:creationId xmlns:p14="http://schemas.microsoft.com/office/powerpoint/2010/main" val="1324736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2412</TotalTime>
  <Words>2792</Words>
  <Application>Microsoft Office PowerPoint</Application>
  <PresentationFormat>On-screen Show (4:3)</PresentationFormat>
  <Paragraphs>393</Paragraphs>
  <Slides>26</Slides>
  <Notes>22</Notes>
  <HiddenSlides>0</HiddenSlides>
  <MMClips>0</MMClips>
  <ScaleCrop>false</ScaleCrop>
  <HeadingPairs>
    <vt:vector size="4" baseType="variant">
      <vt:variant>
        <vt:lpstr>Theme</vt:lpstr>
      </vt:variant>
      <vt:variant>
        <vt:i4>4</vt:i4>
      </vt:variant>
      <vt:variant>
        <vt:lpstr>Slide Titles</vt:lpstr>
      </vt:variant>
      <vt:variant>
        <vt:i4>26</vt:i4>
      </vt:variant>
    </vt:vector>
  </HeadingPairs>
  <TitlesOfParts>
    <vt:vector size="30" baseType="lpstr">
      <vt:lpstr>Default Design</vt:lpstr>
      <vt:lpstr>1_Custom Design</vt:lpstr>
      <vt:lpstr>Custom Design</vt:lpstr>
      <vt:lpstr>2_Custom Design</vt:lpstr>
      <vt:lpstr>PowerPoint Presentation</vt:lpstr>
      <vt:lpstr>Session Aim</vt:lpstr>
      <vt:lpstr>How do I deliver precision monitoring?</vt:lpstr>
      <vt:lpstr>STEP 1</vt:lpstr>
      <vt:lpstr>Step 2 - Setting a Target</vt:lpstr>
      <vt:lpstr>2. Targets</vt:lpstr>
      <vt:lpstr>2. Targets</vt:lpstr>
      <vt:lpstr>Step 3- Teaching  (Up to 10 mins per day)</vt:lpstr>
      <vt:lpstr>3. Teaching methods</vt:lpstr>
      <vt:lpstr>3. Examples of some teaching methods:</vt:lpstr>
      <vt:lpstr>3. Examples of some teaching methods:</vt:lpstr>
      <vt:lpstr>Points to remember</vt:lpstr>
      <vt:lpstr>Step 4 – Monitoring Performance</vt:lpstr>
      <vt:lpstr>PowerPoint Presentation</vt:lpstr>
      <vt:lpstr>Types of probe:</vt:lpstr>
      <vt:lpstr>Designing Probes</vt:lpstr>
      <vt:lpstr>PT Probe Generator</vt:lpstr>
      <vt:lpstr>Step 5- Chart Results</vt:lpstr>
      <vt:lpstr> 5. Recording</vt:lpstr>
      <vt:lpstr>5. Ratio charts </vt:lpstr>
      <vt:lpstr>PowerPoint Presentation</vt:lpstr>
      <vt:lpstr>Step 6- Analyse the Data</vt:lpstr>
      <vt:lpstr>6a. Change - response to data analysis</vt:lpstr>
      <vt:lpstr>6b. Maintenance</vt:lpstr>
      <vt:lpstr>Recap of the steps of precision monitoring</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260</cp:revision>
  <cp:lastPrinted>2016-11-14T13:27:22Z</cp:lastPrinted>
  <dcterms:created xsi:type="dcterms:W3CDTF">2009-10-14T09:14:19Z</dcterms:created>
  <dcterms:modified xsi:type="dcterms:W3CDTF">2018-01-15T09:41:45Z</dcterms:modified>
</cp:coreProperties>
</file>