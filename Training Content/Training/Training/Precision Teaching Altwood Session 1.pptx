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4"/>
  </p:notesMasterIdLst>
  <p:handoutMasterIdLst>
    <p:handoutMasterId r:id="rId25"/>
  </p:handoutMasterIdLst>
  <p:sldIdLst>
    <p:sldId id="320" r:id="rId5"/>
    <p:sldId id="340" r:id="rId6"/>
    <p:sldId id="341" r:id="rId7"/>
    <p:sldId id="343" r:id="rId8"/>
    <p:sldId id="344" r:id="rId9"/>
    <p:sldId id="345" r:id="rId10"/>
    <p:sldId id="347" r:id="rId11"/>
    <p:sldId id="350" r:id="rId12"/>
    <p:sldId id="351" r:id="rId13"/>
    <p:sldId id="352" r:id="rId14"/>
    <p:sldId id="330" r:id="rId15"/>
    <p:sldId id="331" r:id="rId16"/>
    <p:sldId id="333" r:id="rId17"/>
    <p:sldId id="334" r:id="rId18"/>
    <p:sldId id="335" r:id="rId19"/>
    <p:sldId id="336" r:id="rId20"/>
    <p:sldId id="337" r:id="rId21"/>
    <p:sldId id="338" r:id="rId22"/>
    <p:sldId id="339" r:id="rId23"/>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6" autoAdjust="0"/>
    <p:restoredTop sz="86146" autoAdjust="0"/>
  </p:normalViewPr>
  <p:slideViewPr>
    <p:cSldViewPr>
      <p:cViewPr varScale="1">
        <p:scale>
          <a:sx n="63" d="100"/>
          <a:sy n="63" d="100"/>
        </p:scale>
        <p:origin x="-159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eaLnBrk="1" hangingPunct="1"/>
            <a:endParaRPr lang="en-US" altLang="en-US" dirty="0" smtClean="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Tree>
    <p:extLst>
      <p:ext uri="{BB962C8B-B14F-4D97-AF65-F5344CB8AC3E}">
        <p14:creationId xmlns:p14="http://schemas.microsoft.com/office/powerpoint/2010/main" val="3888284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p:txBody>
      </p:sp>
    </p:spTree>
    <p:extLst>
      <p:ext uri="{BB962C8B-B14F-4D97-AF65-F5344CB8AC3E}">
        <p14:creationId xmlns:p14="http://schemas.microsoft.com/office/powerpoint/2010/main" val="405845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endParaRPr lang="en-GB" altLang="en-US" dirty="0" smtClean="0">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11</a:t>
            </a:fld>
            <a:endParaRPr lang="en-GB"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12</a:t>
            </a:fld>
            <a:endParaRPr lang="en-GB"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13</a:t>
            </a:fld>
            <a:endParaRPr lang="en-GB"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14</a:t>
            </a:fld>
            <a:endParaRPr lang="en-GB"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15</a:t>
            </a:fld>
            <a:endParaRPr lang="en-GB"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16</a:t>
            </a:fld>
            <a:endParaRPr lang="en-GB"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19</a:t>
            </a:fld>
            <a:endParaRPr lang="en-GB"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smtClean="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smtClean="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18/12/2017</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18/12/2017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18/12/2017</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18/12/2017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18/12/2017</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18/12/2017</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18/12/2017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18/12/2017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18/12/2017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18/12/2017</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18/12/2017</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18/12/2017</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18/12/2017</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18/12/2017</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18/12/2017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18/12/2017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18/12/2017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18/12/2017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18/12/2017</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18/12/2017</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18/12/2017</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18/12/2017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18/12/2017</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18/12/2017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18/12/2017</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18/12/2017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GB" altLang="en-US" smtClean="0"/>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GB"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18/12/2017</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18/12/2017</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smtClean="0">
                <a:ea typeface="ＭＳ Ｐゴシック" pitchFamily="110" charset="-128"/>
              </a:rPr>
              <a:t>Precision Teaching:</a:t>
            </a:r>
          </a:p>
          <a:p>
            <a:pPr>
              <a:spcBef>
                <a:spcPct val="50000"/>
              </a:spcBef>
              <a:buClrTx/>
              <a:buSzTx/>
              <a:buFontTx/>
              <a:buNone/>
            </a:pPr>
            <a:r>
              <a:rPr lang="en-US" altLang="en-US" sz="3200" b="1" dirty="0" smtClean="0">
                <a:ea typeface="ＭＳ Ｐゴシック" pitchFamily="110" charset="-128"/>
              </a:rPr>
              <a:t>An Introduction</a:t>
            </a:r>
          </a:p>
          <a:p>
            <a:pPr>
              <a:spcBef>
                <a:spcPct val="50000"/>
              </a:spcBef>
              <a:buClrTx/>
              <a:buSzTx/>
              <a:buFontTx/>
              <a:buNone/>
            </a:pPr>
            <a:r>
              <a:rPr lang="en-US" altLang="en-US" sz="2400" b="1" dirty="0" smtClean="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smtClean="0">
                <a:ea typeface="ＭＳ Ｐゴシック" pitchFamily="110" charset="-128"/>
              </a:rPr>
              <a:t>Altwood Secondary School</a:t>
            </a:r>
            <a:endParaRPr lang="en-US" altLang="en-US" sz="2400" dirty="0" smtClean="0">
              <a:ea typeface="ＭＳ Ｐゴシック" pitchFamily="110" charset="-128"/>
            </a:endParaRP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a:t>
            </a:r>
            <a:r>
              <a:rPr lang="en-US" altLang="en-US" sz="2400" dirty="0" smtClean="0">
                <a:ea typeface="ＭＳ Ｐゴシック" pitchFamily="110" charset="-128"/>
              </a:rPr>
              <a:t>I-Patrick </a:t>
            </a:r>
          </a:p>
          <a:p>
            <a:pPr>
              <a:spcBef>
                <a:spcPct val="50000"/>
              </a:spcBef>
              <a:buClrTx/>
              <a:buSzTx/>
              <a:buFontTx/>
              <a:buNone/>
            </a:pPr>
            <a:r>
              <a:rPr lang="en-US" altLang="en-US" sz="2400" dirty="0" smtClean="0">
                <a:ea typeface="ＭＳ Ｐゴシック" pitchFamily="110" charset="-128"/>
              </a:rPr>
              <a:t>Tuesday </a:t>
            </a:r>
            <a:r>
              <a:rPr lang="en-US" altLang="en-US" sz="2400" dirty="0" smtClean="0">
                <a:ea typeface="ＭＳ Ｐゴシック" pitchFamily="110" charset="-128"/>
              </a:rPr>
              <a:t>18</a:t>
            </a:r>
            <a:r>
              <a:rPr lang="en-US" altLang="en-US" sz="2400" baseline="30000" dirty="0" smtClean="0">
                <a:ea typeface="ＭＳ Ｐゴシック" pitchFamily="110" charset="-128"/>
              </a:rPr>
              <a:t>th</a:t>
            </a:r>
            <a:r>
              <a:rPr lang="en-US" altLang="en-US" sz="2400" dirty="0" smtClean="0">
                <a:ea typeface="ＭＳ Ｐゴシック" pitchFamily="110" charset="-128"/>
              </a:rPr>
              <a:t> December </a:t>
            </a:r>
            <a:r>
              <a:rPr lang="en-US" altLang="en-US" sz="2400" dirty="0" smtClean="0">
                <a:ea typeface="ＭＳ Ｐゴシック" pitchFamily="110" charset="-128"/>
              </a:rPr>
              <a:t>2017</a:t>
            </a:r>
            <a:endParaRPr lang="en-US" altLang="en-US" sz="2400" dirty="0">
              <a:ea typeface="ＭＳ Ｐゴシック" pitchFamily="110" charset="-128"/>
            </a:endParaRPr>
          </a:p>
        </p:txBody>
      </p:sp>
    </p:spTree>
    <p:extLst>
      <p:ext uri="{BB962C8B-B14F-4D97-AF65-F5344CB8AC3E}">
        <p14:creationId xmlns:p14="http://schemas.microsoft.com/office/powerpoint/2010/main" val="3969385266"/>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smtClean="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smtClean="0"/>
              <a:t>Focus on how to acquire </a:t>
            </a:r>
            <a:r>
              <a:rPr lang="en-GB" altLang="en-US" sz="2400" dirty="0"/>
              <a:t>a </a:t>
            </a:r>
            <a:r>
              <a:rPr lang="en-GB" altLang="en-US" sz="2400" dirty="0" smtClean="0"/>
              <a:t>baseline following identification of a specific area of difficulty.</a:t>
            </a:r>
            <a:endParaRPr lang="en-GB" altLang="en-US" sz="2400" dirty="0"/>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smtClean="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Preview of upcoming sessions</a:t>
            </a:r>
            <a:endParaRPr lang="en-GB" dirty="0"/>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smtClean="0"/>
          </a:p>
          <a:p>
            <a:pPr marL="681038" lvl="1" indent="-342900" eaLnBrk="1" hangingPunct="1">
              <a:lnSpc>
                <a:spcPct val="90000"/>
              </a:lnSpc>
              <a:buFont typeface="Wingdings" panose="05000000000000000000" pitchFamily="2" charset="2"/>
              <a:buChar char="q"/>
            </a:pPr>
            <a:r>
              <a:rPr lang="en-US" altLang="en-US" sz="2400" dirty="0" smtClean="0"/>
              <a:t>Sharing </a:t>
            </a:r>
            <a:r>
              <a:rPr lang="en-US" altLang="en-US" sz="2400" dirty="0"/>
              <a:t>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smtClean="0"/>
              <a:t>Target setting </a:t>
            </a:r>
          </a:p>
          <a:p>
            <a:pPr lvl="2" indent="-342900" eaLnBrk="1" hangingPunct="1">
              <a:lnSpc>
                <a:spcPct val="90000"/>
              </a:lnSpc>
              <a:buFont typeface="Wingdings" panose="05000000000000000000" pitchFamily="2" charset="2"/>
              <a:buChar char="ü"/>
            </a:pPr>
            <a:r>
              <a:rPr lang="en-US" altLang="en-US" sz="2400" dirty="0" smtClean="0"/>
              <a:t>Teaching and probing </a:t>
            </a:r>
          </a:p>
          <a:p>
            <a:pPr lvl="2" indent="-342900" eaLnBrk="1" hangingPunct="1">
              <a:lnSpc>
                <a:spcPct val="90000"/>
              </a:lnSpc>
              <a:buFont typeface="Wingdings" panose="05000000000000000000" pitchFamily="2" charset="2"/>
              <a:buChar char="ü"/>
            </a:pPr>
            <a:r>
              <a:rPr lang="en-US" altLang="en-US" sz="2400" dirty="0" smtClean="0"/>
              <a:t>Charting </a:t>
            </a:r>
            <a:r>
              <a:rPr lang="en-US" altLang="en-US" sz="2400" dirty="0"/>
              <a:t>the results </a:t>
            </a:r>
            <a:r>
              <a:rPr lang="en-US" altLang="en-US" sz="2400" dirty="0" smtClean="0"/>
              <a:t>with target child</a:t>
            </a:r>
          </a:p>
          <a:p>
            <a:pPr lvl="2" indent="-342900" eaLnBrk="1" hangingPunct="1">
              <a:lnSpc>
                <a:spcPct val="90000"/>
              </a:lnSpc>
              <a:buFont typeface="Wingdings" panose="05000000000000000000" pitchFamily="2" charset="2"/>
              <a:buChar char="ü"/>
            </a:pPr>
            <a:r>
              <a:rPr lang="en-US" altLang="en-US" sz="2400" dirty="0" smtClean="0"/>
              <a:t>Monitoring: </a:t>
            </a:r>
            <a:r>
              <a:rPr lang="en-US" altLang="en-US" sz="2400" dirty="0"/>
              <a:t>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r>
              <a:rPr lang="en-US" altLang="en-US" sz="2400" dirty="0" smtClean="0"/>
              <a:t>?</a:t>
            </a:r>
          </a:p>
          <a:p>
            <a:pPr marL="738188" lvl="2" indent="0" eaLnBrk="1" hangingPunct="1">
              <a:lnSpc>
                <a:spcPct val="90000"/>
              </a:lnSpc>
              <a:buNone/>
            </a:pPr>
            <a:endParaRPr lang="en-US" altLang="en-US" sz="2400" dirty="0" smtClean="0"/>
          </a:p>
          <a:p>
            <a:pPr marL="1081088" lvl="2" indent="-342900" eaLnBrk="1" hangingPunct="1">
              <a:lnSpc>
                <a:spcPct val="90000"/>
              </a:lnSpc>
              <a:buFont typeface="Wingdings" panose="05000000000000000000" pitchFamily="2" charset="2"/>
              <a:buChar char="ü"/>
            </a:pPr>
            <a:r>
              <a:rPr lang="en-US" altLang="en-US" sz="2400" dirty="0" smtClean="0"/>
              <a:t>Our </a:t>
            </a:r>
            <a:r>
              <a:rPr lang="en-US" altLang="en-US" sz="2400" dirty="0"/>
              <a:t>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a:t>
            </a:r>
            <a:r>
              <a:rPr lang="en-US" altLang="en-US" sz="2400" dirty="0" smtClean="0"/>
              <a:t>impact</a:t>
            </a:r>
            <a:endParaRPr lang="en-US" altLang="en-US" sz="2400" dirty="0"/>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What is Precision Teaching?</a:t>
            </a:r>
            <a:endParaRPr lang="en-GB" dirty="0"/>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a:t>
            </a:r>
            <a:r>
              <a:rPr lang="en-GB" altLang="en-US" dirty="0" smtClean="0"/>
              <a:t>teaching programme </a:t>
            </a:r>
            <a:r>
              <a:rPr lang="en-GB" altLang="en-US" dirty="0"/>
              <a:t>for an individual child, helping </a:t>
            </a:r>
            <a:r>
              <a:rPr lang="en-GB" altLang="en-US" dirty="0" smtClean="0"/>
              <a:t>him/her </a:t>
            </a:r>
            <a:r>
              <a:rPr lang="en-GB" altLang="en-US" dirty="0"/>
              <a:t>to learn a specific skill</a:t>
            </a:r>
            <a:r>
              <a:rPr lang="en-GB" altLang="en-US" dirty="0" smtClean="0"/>
              <a:t>.</a:t>
            </a:r>
          </a:p>
          <a:p>
            <a:pPr marL="0" indent="0" eaLnBrk="1" hangingPunct="1">
              <a:buNone/>
            </a:pPr>
            <a:endParaRPr lang="en-GB" altLang="en-US" dirty="0" smtClean="0"/>
          </a:p>
          <a:p>
            <a:pPr eaLnBrk="1" hangingPunct="1">
              <a:buFont typeface="Wingdings" panose="05000000000000000000" pitchFamily="2" charset="2"/>
              <a:buChar char="q"/>
            </a:pPr>
            <a:r>
              <a:rPr lang="en-US" altLang="en-US" dirty="0" smtClean="0"/>
              <a:t>It is </a:t>
            </a:r>
            <a:r>
              <a:rPr lang="en-US" altLang="en-US" dirty="0"/>
              <a:t>a method of </a:t>
            </a:r>
            <a:r>
              <a:rPr lang="en-US" altLang="en-US" u="sng" dirty="0"/>
              <a:t>precisely measuring</a:t>
            </a:r>
            <a:r>
              <a:rPr lang="en-US" altLang="en-US" dirty="0"/>
              <a:t> the effectiveness of teaching.</a:t>
            </a:r>
            <a:endParaRPr lang="en-GB" altLang="en-US" dirty="0" smtClean="0"/>
          </a:p>
          <a:p>
            <a:pPr marL="0" indent="0" eaLnBrk="1" hangingPunct="1">
              <a:buNone/>
            </a:pPr>
            <a:endParaRPr lang="en-GB" altLang="en-US" dirty="0"/>
          </a:p>
          <a:p>
            <a:pPr eaLnBrk="1" hangingPunct="1">
              <a:buFont typeface="Wingdings" panose="05000000000000000000" pitchFamily="2" charset="2"/>
              <a:buChar char="q"/>
            </a:pPr>
            <a:r>
              <a:rPr lang="en-GB" altLang="en-US" dirty="0"/>
              <a:t>Precision </a:t>
            </a:r>
            <a:r>
              <a:rPr lang="en-GB" altLang="en-US" dirty="0" smtClean="0"/>
              <a:t>Teaching </a:t>
            </a:r>
            <a:r>
              <a:rPr lang="en-GB" altLang="en-US" dirty="0"/>
              <a:t>is an </a:t>
            </a:r>
            <a:r>
              <a:rPr lang="en-GB" altLang="en-US" b="1" u="sng" dirty="0">
                <a:solidFill>
                  <a:srgbClr val="FF0000"/>
                </a:solidFill>
              </a:rPr>
              <a:t>ASSESSMENT</a:t>
            </a:r>
            <a:r>
              <a:rPr lang="en-GB" altLang="en-US" dirty="0"/>
              <a:t> </a:t>
            </a:r>
            <a:r>
              <a:rPr lang="en-GB" altLang="en-US" dirty="0" smtClean="0"/>
              <a:t>tool and </a:t>
            </a:r>
            <a:r>
              <a:rPr lang="en-GB" altLang="en-US" b="1" u="sng" dirty="0" smtClean="0">
                <a:solidFill>
                  <a:srgbClr val="FF0000"/>
                </a:solidFill>
              </a:rPr>
              <a:t>NOT</a:t>
            </a:r>
            <a:r>
              <a:rPr lang="en-GB" altLang="en-US" dirty="0" smtClean="0"/>
              <a:t> </a:t>
            </a:r>
            <a:r>
              <a:rPr lang="en-GB" altLang="en-US" dirty="0"/>
              <a:t>a teaching method.</a:t>
            </a:r>
          </a:p>
          <a:p>
            <a:endParaRPr lang="en-GB" dirty="0"/>
          </a:p>
        </p:txBody>
      </p:sp>
    </p:spTree>
    <p:extLst>
      <p:ext uri="{BB962C8B-B14F-4D97-AF65-F5344CB8AC3E}">
        <p14:creationId xmlns:p14="http://schemas.microsoft.com/office/powerpoint/2010/main" val="24046757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smtClean="0"/>
              <a:t>When can Precision Teaching be </a:t>
            </a:r>
            <a:r>
              <a:rPr lang="en-GB" dirty="0"/>
              <a:t>u</a:t>
            </a:r>
            <a:r>
              <a:rPr lang="en-GB" dirty="0" smtClean="0"/>
              <a:t>sed?</a:t>
            </a:r>
            <a:endParaRPr lang="en-GB" dirty="0"/>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smtClean="0"/>
              <a:t> phonics</a:t>
            </a:r>
          </a:p>
          <a:p>
            <a:pPr marL="423863" eaLnBrk="1" hangingPunct="1">
              <a:lnSpc>
                <a:spcPct val="80000"/>
              </a:lnSpc>
              <a:buFont typeface="Wingdings" panose="05000000000000000000" pitchFamily="2" charset="2"/>
              <a:buChar char="ü"/>
            </a:pPr>
            <a:r>
              <a:rPr lang="en-US" altLang="en-US" dirty="0" smtClean="0"/>
              <a:t>sight vocabulary</a:t>
            </a:r>
          </a:p>
          <a:p>
            <a:pPr marL="423863" eaLnBrk="1" hangingPunct="1">
              <a:lnSpc>
                <a:spcPct val="80000"/>
              </a:lnSpc>
              <a:buFont typeface="Wingdings" panose="05000000000000000000" pitchFamily="2" charset="2"/>
              <a:buChar char="ü"/>
            </a:pPr>
            <a:r>
              <a:rPr lang="en-US" altLang="en-US" dirty="0" smtClean="0"/>
              <a:t>spelling </a:t>
            </a:r>
            <a:r>
              <a:rPr lang="en-US" altLang="en-US" dirty="0"/>
              <a:t>high frequency </a:t>
            </a:r>
            <a:r>
              <a:rPr lang="en-US" altLang="en-US" dirty="0" smtClean="0"/>
              <a:t>words</a:t>
            </a:r>
          </a:p>
          <a:p>
            <a:pPr marL="423863" eaLnBrk="1" hangingPunct="1">
              <a:lnSpc>
                <a:spcPct val="80000"/>
              </a:lnSpc>
              <a:buFont typeface="Wingdings" panose="05000000000000000000" pitchFamily="2" charset="2"/>
              <a:buChar char="ü"/>
            </a:pPr>
            <a:r>
              <a:rPr lang="en-US" altLang="en-US" dirty="0" smtClean="0"/>
              <a:t>number recognition</a:t>
            </a:r>
          </a:p>
          <a:p>
            <a:pPr marL="423863" eaLnBrk="1" hangingPunct="1">
              <a:lnSpc>
                <a:spcPct val="80000"/>
              </a:lnSpc>
              <a:buFont typeface="Wingdings" panose="05000000000000000000" pitchFamily="2" charset="2"/>
              <a:buChar char="ü"/>
            </a:pPr>
            <a:r>
              <a:rPr lang="en-US" altLang="en-US" dirty="0" smtClean="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smtClean="0"/>
              <a:t>For </a:t>
            </a:r>
            <a:r>
              <a:rPr lang="en-US" altLang="en-US" dirty="0"/>
              <a:t>teaching skills that are </a:t>
            </a:r>
            <a:r>
              <a:rPr lang="en-US" altLang="en-US" dirty="0" smtClean="0"/>
              <a:t>measurable and </a:t>
            </a:r>
            <a:r>
              <a:rPr lang="en-US" altLang="en-US" dirty="0"/>
              <a:t>need to be acquired to </a:t>
            </a:r>
            <a:r>
              <a:rPr lang="en-US" altLang="en-US" dirty="0" smtClean="0"/>
              <a:t>make progress</a:t>
            </a:r>
            <a:endParaRPr lang="en-US" altLang="en-US" dirty="0"/>
          </a:p>
          <a:p>
            <a:endParaRPr lang="en-GB" dirty="0"/>
          </a:p>
        </p:txBody>
      </p:sp>
    </p:spTree>
    <p:extLst>
      <p:ext uri="{BB962C8B-B14F-4D97-AF65-F5344CB8AC3E}">
        <p14:creationId xmlns:p14="http://schemas.microsoft.com/office/powerpoint/2010/main" val="14861058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u="sng" dirty="0" smtClean="0"/>
              <a:t>Activity</a:t>
            </a:r>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smtClean="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smtClean="0"/>
              <a:t>How do you do Precision Teaching?</a:t>
            </a:r>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smtClean="0"/>
              <a:t>Identify a specific difficulty and acquire a baseline.</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2"/>
            </a:pPr>
            <a:r>
              <a:rPr lang="en-GB" altLang="en-US" sz="2400" dirty="0" smtClean="0"/>
              <a:t>Set a target.</a:t>
            </a:r>
          </a:p>
          <a:p>
            <a:pPr marL="609600" indent="-609600" eaLnBrk="1" hangingPunct="1">
              <a:lnSpc>
                <a:spcPct val="80000"/>
              </a:lnSpc>
              <a:buFontTx/>
              <a:buNone/>
            </a:pPr>
            <a:endParaRPr lang="en-GB" altLang="en-US" sz="2400" dirty="0" smtClean="0"/>
          </a:p>
          <a:p>
            <a:pPr marL="609600" indent="-609600" eaLnBrk="1" hangingPunct="1">
              <a:lnSpc>
                <a:spcPct val="80000"/>
              </a:lnSpc>
              <a:buFontTx/>
              <a:buAutoNum type="arabicPeriod" startAt="3"/>
            </a:pPr>
            <a:r>
              <a:rPr lang="en-GB" altLang="en-US" sz="2400" dirty="0" smtClean="0"/>
              <a:t>Teaching sessions: short, frequent and target specific.</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3"/>
            </a:pPr>
            <a:r>
              <a:rPr lang="en-GB" altLang="en-US" sz="2400" dirty="0" smtClean="0"/>
              <a:t>Monitor child’s daily performance using a probe.</a:t>
            </a:r>
          </a:p>
          <a:p>
            <a:pPr marL="609600" indent="-609600" eaLnBrk="1" hangingPunct="1">
              <a:lnSpc>
                <a:spcPct val="80000"/>
              </a:lnSpc>
              <a:buFontTx/>
              <a:buAutoNum type="arabicPeriod" startAt="3"/>
            </a:pPr>
            <a:endParaRPr lang="en-GB" altLang="en-US" sz="2400" dirty="0" smtClean="0"/>
          </a:p>
          <a:p>
            <a:pPr marL="609600" indent="-609600" eaLnBrk="1" hangingPunct="1">
              <a:lnSpc>
                <a:spcPct val="80000"/>
              </a:lnSpc>
              <a:buFontTx/>
              <a:buAutoNum type="arabicPeriod" startAt="5"/>
            </a:pPr>
            <a:r>
              <a:rPr lang="en-GB" altLang="en-US" sz="2400" dirty="0" smtClean="0"/>
              <a:t>Chart results and make note of teaching methods.</a:t>
            </a:r>
          </a:p>
          <a:p>
            <a:pPr marL="0" indent="0" eaLnBrk="1" hangingPunct="1">
              <a:lnSpc>
                <a:spcPct val="80000"/>
              </a:lnSpc>
              <a:buNone/>
            </a:pPr>
            <a:endParaRPr lang="en-GB" altLang="en-US" sz="2400" dirty="0" smtClean="0"/>
          </a:p>
          <a:p>
            <a:pPr marL="609600" indent="-609600" eaLnBrk="1" hangingPunct="1">
              <a:lnSpc>
                <a:spcPct val="80000"/>
              </a:lnSpc>
              <a:buFontTx/>
              <a:buAutoNum type="arabicPeriod" startAt="6"/>
            </a:pPr>
            <a:r>
              <a:rPr lang="en-GB" altLang="en-US" sz="2400" dirty="0" smtClean="0"/>
              <a:t>Analyse 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971600" y="1268413"/>
            <a:ext cx="7086600" cy="1554162"/>
          </a:xfrm>
        </p:spPr>
        <p:txBody>
          <a:bodyPr/>
          <a:lstStyle/>
          <a:p>
            <a:pPr algn="ctr"/>
            <a:r>
              <a:rPr lang="en-GB" altLang="en-US" sz="3600" u="sng" dirty="0" smtClean="0"/>
              <a:t>Before you start Precision Teaching</a:t>
            </a:r>
            <a:r>
              <a:rPr lang="en-GB" altLang="en-US" sz="3600" dirty="0" smtClean="0"/>
              <a:t> </a:t>
            </a:r>
          </a:p>
        </p:txBody>
      </p:sp>
      <p:sp>
        <p:nvSpPr>
          <p:cNvPr id="13315" name="Rectangle 3"/>
          <p:cNvSpPr>
            <a:spLocks noGrp="1" noChangeArrowheads="1"/>
          </p:cNvSpPr>
          <p:nvPr>
            <p:ph type="body" idx="1"/>
          </p:nvPr>
        </p:nvSpPr>
        <p:spPr>
          <a:xfrm>
            <a:off x="1331640" y="3068960"/>
            <a:ext cx="5257800" cy="2520950"/>
          </a:xfrm>
        </p:spPr>
        <p:txBody>
          <a:bodyPr/>
          <a:lstStyle/>
          <a:p>
            <a:pPr>
              <a:buFont typeface="Wingdings" panose="05000000000000000000" pitchFamily="2" charset="2"/>
              <a:buChar char="q"/>
            </a:pPr>
            <a:r>
              <a:rPr lang="en-GB" altLang="en-US" sz="2800" dirty="0" smtClean="0"/>
              <a:t>Consistency is key!</a:t>
            </a:r>
          </a:p>
          <a:p>
            <a:pPr lvl="1">
              <a:buFont typeface="Wingdings" panose="05000000000000000000" pitchFamily="2" charset="2"/>
              <a:buChar char="ü"/>
            </a:pPr>
            <a:r>
              <a:rPr lang="en-GB" altLang="en-US" sz="2800" dirty="0" smtClean="0"/>
              <a:t>When?</a:t>
            </a:r>
          </a:p>
          <a:p>
            <a:pPr lvl="1">
              <a:buFont typeface="Wingdings" panose="05000000000000000000" pitchFamily="2" charset="2"/>
              <a:buChar char="ü"/>
            </a:pPr>
            <a:r>
              <a:rPr lang="en-GB" altLang="en-US" sz="2800" dirty="0" smtClean="0"/>
              <a:t>Where?</a:t>
            </a:r>
          </a:p>
        </p:txBody>
      </p:sp>
    </p:spTree>
    <p:extLst>
      <p:ext uri="{BB962C8B-B14F-4D97-AF65-F5344CB8AC3E}">
        <p14:creationId xmlns:p14="http://schemas.microsoft.com/office/powerpoint/2010/main" val="7085627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p:nvPr>
        </p:nvSpPr>
        <p:spPr>
          <a:xfrm>
            <a:off x="827584" y="476672"/>
            <a:ext cx="7848600" cy="1563688"/>
          </a:xfrm>
        </p:spPr>
        <p:txBody>
          <a:bodyPr rIns="31750" anchor="b"/>
          <a:lstStyle/>
          <a:p>
            <a:pPr indent="0" algn="ctr" eaLnBrk="1" hangingPunct="1"/>
            <a:r>
              <a:rPr lang="en-US" altLang="en-US" sz="3200" u="sng" dirty="0" smtClean="0"/>
              <a:t>‘Task Analysis’ – where are they now? </a:t>
            </a:r>
          </a:p>
        </p:txBody>
      </p:sp>
      <p:sp>
        <p:nvSpPr>
          <p:cNvPr id="14339" name="Rectangle 2"/>
          <p:cNvSpPr>
            <a:spLocks noGrp="1" noChangeArrowheads="1"/>
          </p:cNvSpPr>
          <p:nvPr>
            <p:ph type="body" idx="1"/>
          </p:nvPr>
        </p:nvSpPr>
        <p:spPr>
          <a:xfrm>
            <a:off x="1344613"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Select a problem area, e.g. sight words, letter sounds</a:t>
            </a:r>
          </a:p>
          <a:p>
            <a:pPr marL="690563" indent="-650875" eaLnBrk="1" hangingPunct="1">
              <a:lnSpc>
                <a:spcPct val="80000"/>
              </a:lnSpc>
              <a:buSzPct val="99000"/>
              <a:buFont typeface="Century Gothic" pitchFamily="34" charset="0"/>
              <a:buAutoNum type="arabicPeriod"/>
            </a:pPr>
            <a:endParaRPr lang="en-US" altLang="en-US" sz="2800" dirty="0" smtClean="0"/>
          </a:p>
          <a:p>
            <a:pPr marL="690563" indent="-650875" eaLnBrk="1" hangingPunct="1">
              <a:lnSpc>
                <a:spcPct val="80000"/>
              </a:lnSpc>
              <a:buSzPct val="99000"/>
              <a:buFont typeface="Century Gothic" pitchFamily="34" charset="0"/>
              <a:buAutoNum type="arabicPeriod"/>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t>Find out what the child already knows, probably by doing a short test</a:t>
            </a:r>
          </a:p>
        </p:txBody>
      </p:sp>
    </p:spTree>
    <p:extLst>
      <p:ext uri="{BB962C8B-B14F-4D97-AF65-F5344CB8AC3E}">
        <p14:creationId xmlns:p14="http://schemas.microsoft.com/office/powerpoint/2010/main" val="35030322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smtClean="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smtClean="0"/>
              <a:t>Can be used with any age group but aims to start (phase 1) with 5 year olds</a:t>
            </a:r>
          </a:p>
          <a:p>
            <a:pPr eaLnBrk="1" hangingPunct="1"/>
            <a:r>
              <a:rPr lang="en-GB" altLang="en-US" sz="2400" dirty="0" smtClean="0"/>
              <a:t>6 phases - children move from one phase to next at their own pace</a:t>
            </a:r>
          </a:p>
          <a:p>
            <a:pPr eaLnBrk="1" hangingPunct="1"/>
            <a:r>
              <a:rPr lang="en-GB" altLang="en-US" sz="2400" dirty="0"/>
              <a:t>Most children would complete phase 6 by end of KS1</a:t>
            </a:r>
          </a:p>
          <a:p>
            <a:pPr eaLnBrk="1" hangingPunct="1"/>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smtClean="0"/>
              <a:t>Most SEN children will continue on programme in KS2</a:t>
            </a:r>
          </a:p>
          <a:p>
            <a:pPr eaLnBrk="1" hangingPunct="1"/>
            <a:r>
              <a:rPr lang="en-GB" altLang="en-US" sz="2400" dirty="0" smtClean="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smtClean="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smtClean="0"/>
              <a:t>Probes contain a defined set of items, often letters, words or sums on which the child is tested, usually for one minute.</a:t>
            </a:r>
          </a:p>
          <a:p>
            <a:pPr eaLnBrk="1" hangingPunct="1">
              <a:buFont typeface="Wingdings" pitchFamily="2" charset="2"/>
              <a:buNone/>
            </a:pPr>
            <a:endParaRPr lang="en-GB" altLang="en-US" dirty="0" smtClean="0"/>
          </a:p>
          <a:p>
            <a:pPr eaLnBrk="1" hangingPunct="1"/>
            <a:r>
              <a:rPr lang="en-GB" altLang="en-US" dirty="0" smtClean="0"/>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343608168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smtClean="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smtClean="0"/>
              <a:t>Top Level Probes</a:t>
            </a:r>
          </a:p>
          <a:p>
            <a:pPr eaLnBrk="1" hangingPunct="1">
              <a:buFont typeface="Wingdings" pitchFamily="2" charset="2"/>
              <a:buNone/>
            </a:pPr>
            <a:endParaRPr lang="en-GB" altLang="en-US" sz="2400" dirty="0" smtClean="0"/>
          </a:p>
          <a:p>
            <a:pPr eaLnBrk="1" hangingPunct="1"/>
            <a:r>
              <a:rPr lang="en-GB" altLang="en-US" sz="2400" dirty="0" smtClean="0"/>
              <a:t>These are wide ranging probes which contain all the items and skills taught in a particular phase</a:t>
            </a:r>
          </a:p>
          <a:p>
            <a:pPr eaLnBrk="1" hangingPunct="1"/>
            <a:r>
              <a:rPr lang="en-GB" altLang="en-US" sz="2400" dirty="0" smtClean="0"/>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smtClean="0"/>
              <a:t>Subset probes</a:t>
            </a:r>
          </a:p>
          <a:p>
            <a:pPr eaLnBrk="1" hangingPunct="1"/>
            <a:endParaRPr lang="en-GB" altLang="en-US" sz="2400" b="1" dirty="0" smtClean="0"/>
          </a:p>
          <a:p>
            <a:pPr eaLnBrk="1" hangingPunct="1"/>
            <a:r>
              <a:rPr lang="en-GB" altLang="en-US" sz="2400" dirty="0" smtClean="0"/>
              <a:t>These are probes which contain a much narrower subset of skills</a:t>
            </a:r>
          </a:p>
          <a:p>
            <a:pPr eaLnBrk="1" hangingPunct="1"/>
            <a:r>
              <a:rPr lang="en-GB" altLang="en-US" sz="2400" dirty="0" smtClean="0"/>
              <a:t>Can be used to make teaching decisions for slower learning children</a:t>
            </a:r>
          </a:p>
          <a:p>
            <a:pPr eaLnBrk="1" hangingPunct="1"/>
            <a:r>
              <a:rPr lang="en-GB" altLang="en-US" sz="2400" dirty="0" smtClean="0"/>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29620155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smtClean="0"/>
              <a:t>Use the Phase 2 Top Level Probes included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23910107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smtClean="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smtClean="0"/>
              <a:t>Tell the child you are going to show him/her a grid of words which you want them to read out loud to you, once you say “start”.</a:t>
            </a:r>
          </a:p>
          <a:p>
            <a:pPr eaLnBrk="1" hangingPunct="1"/>
            <a:r>
              <a:rPr lang="en-GB" altLang="en-US" dirty="0" smtClean="0"/>
              <a:t>Use a 1 minute </a:t>
            </a:r>
            <a:r>
              <a:rPr lang="en-GB" altLang="en-US" dirty="0" err="1" smtClean="0"/>
              <a:t>sandtimer</a:t>
            </a:r>
            <a:r>
              <a:rPr lang="en-GB" altLang="en-US" dirty="0" smtClean="0"/>
              <a:t> or </a:t>
            </a:r>
            <a:r>
              <a:rPr lang="en-GB" altLang="en-US" dirty="0" err="1" smtClean="0"/>
              <a:t>stopclock</a:t>
            </a:r>
            <a:r>
              <a:rPr lang="en-GB" altLang="en-US" dirty="0" smtClean="0"/>
              <a:t> counting down from 60 seconds to tell you when the 1 minute probe is up</a:t>
            </a:r>
          </a:p>
          <a:p>
            <a:pPr eaLnBrk="1" hangingPunct="1"/>
            <a:r>
              <a:rPr lang="en-GB" altLang="en-US" dirty="0" smtClean="0"/>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18905864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smtClean="0"/>
              <a:t>When the </a:t>
            </a:r>
            <a:r>
              <a:rPr lang="en-GB" altLang="en-US" dirty="0" err="1" smtClean="0"/>
              <a:t>sandtimer</a:t>
            </a:r>
            <a:r>
              <a:rPr lang="en-GB" altLang="en-US" dirty="0" smtClean="0"/>
              <a:t> finishes/</a:t>
            </a:r>
            <a:r>
              <a:rPr lang="en-GB" altLang="en-US" dirty="0" err="1" smtClean="0"/>
              <a:t>stopclock</a:t>
            </a:r>
            <a:r>
              <a:rPr lang="en-GB" altLang="en-US" dirty="0" smtClean="0"/>
              <a:t> beeps, stop the child, thank them, and share how they did.</a:t>
            </a:r>
          </a:p>
          <a:p>
            <a:pPr eaLnBrk="1" hangingPunct="1">
              <a:lnSpc>
                <a:spcPct val="90000"/>
              </a:lnSpc>
            </a:pPr>
            <a:r>
              <a:rPr lang="en-GB" altLang="en-US" dirty="0" smtClean="0"/>
              <a:t>On your chart, note the probe given, put in the number of correct/incorrect responses the child gives, and make a note of specific problem words.</a:t>
            </a:r>
          </a:p>
          <a:p>
            <a:pPr eaLnBrk="1" hangingPunct="1">
              <a:lnSpc>
                <a:spcPct val="90000"/>
              </a:lnSpc>
            </a:pPr>
            <a:r>
              <a:rPr lang="en-GB" altLang="en-US" dirty="0" smtClean="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smtClean="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smtClean="0"/>
              <a:t>Use the ‘</a:t>
            </a:r>
            <a:r>
              <a:rPr lang="en-GB" altLang="en-US" b="1" dirty="0" smtClean="0"/>
              <a:t>100 high-frequency words in order’, </a:t>
            </a:r>
            <a:r>
              <a:rPr lang="en-GB" altLang="en-US" dirty="0" smtClean="0"/>
              <a:t>Copies of these are in your pack.</a:t>
            </a:r>
          </a:p>
          <a:p>
            <a:pPr eaLnBrk="1" hangingPunct="1"/>
            <a:r>
              <a:rPr lang="en-GB" altLang="en-US" dirty="0" smtClean="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smtClean="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smtClean="0"/>
              <a:t>Remember to record your results for each probe sheet administered on the summary sheet in your pack.</a:t>
            </a:r>
          </a:p>
          <a:p>
            <a:pPr eaLnBrk="1" hangingPunct="1"/>
            <a:r>
              <a:rPr lang="en-GB" altLang="en-US" dirty="0" smtClean="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smtClean="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t>Please do not use or copy any slides without prior permission from RBWM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236471016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2449</TotalTime>
  <Words>929</Words>
  <Application>Microsoft Office PowerPoint</Application>
  <PresentationFormat>On-screen Show (4:3)</PresentationFormat>
  <Paragraphs>140</Paragraphs>
  <Slides>19</Slides>
  <Notes>19</Notes>
  <HiddenSlides>0</HiddenSlides>
  <MMClips>0</MMClips>
  <ScaleCrop>false</ScaleCrop>
  <HeadingPairs>
    <vt:vector size="4" baseType="variant">
      <vt:variant>
        <vt:lpstr>Theme</vt:lpstr>
      </vt:variant>
      <vt:variant>
        <vt:i4>4</vt:i4>
      </vt:variant>
      <vt:variant>
        <vt:lpstr>Slide Titles</vt:lpstr>
      </vt:variant>
      <vt:variant>
        <vt:i4>19</vt:i4>
      </vt:variant>
    </vt:vector>
  </HeadingPairs>
  <TitlesOfParts>
    <vt:vector size="23" baseType="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How do you do Precision Teaching?</vt:lpstr>
      <vt:lpstr>Before you start Precision Teaching </vt:lpstr>
      <vt:lpstr>‘Task Analysis’ – where are they now? </vt:lpstr>
      <vt:lpstr>Initial Assessment – using ‘Letters and Sounds’</vt:lpstr>
      <vt:lpstr>Probes</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localprofile</cp:lastModifiedBy>
  <cp:revision>277</cp:revision>
  <cp:lastPrinted>2017-06-06T05:53:39Z</cp:lastPrinted>
  <dcterms:created xsi:type="dcterms:W3CDTF">2009-10-14T09:14:19Z</dcterms:created>
  <dcterms:modified xsi:type="dcterms:W3CDTF">2017-12-18T07:31:56Z</dcterms:modified>
</cp:coreProperties>
</file>