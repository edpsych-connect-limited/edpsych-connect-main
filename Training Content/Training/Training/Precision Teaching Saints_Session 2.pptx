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3" r:id="rId2"/>
    <p:sldMasterId id="2147483661" r:id="rId3"/>
    <p:sldMasterId id="2147483698" r:id="rId4"/>
  </p:sldMasterIdLst>
  <p:notesMasterIdLst>
    <p:notesMasterId r:id="rId31"/>
  </p:notesMasterIdLst>
  <p:handoutMasterIdLst>
    <p:handoutMasterId r:id="rId32"/>
  </p:handoutMasterIdLst>
  <p:sldIdLst>
    <p:sldId id="327" r:id="rId5"/>
    <p:sldId id="342" r:id="rId6"/>
    <p:sldId id="343" r:id="rId7"/>
    <p:sldId id="344" r:id="rId8"/>
    <p:sldId id="345" r:id="rId9"/>
    <p:sldId id="346" r:id="rId10"/>
    <p:sldId id="347" r:id="rId11"/>
    <p:sldId id="348" r:id="rId12"/>
    <p:sldId id="349" r:id="rId13"/>
    <p:sldId id="369" r:id="rId14"/>
    <p:sldId id="351" r:id="rId15"/>
    <p:sldId id="353" r:id="rId16"/>
    <p:sldId id="352" r:id="rId17"/>
    <p:sldId id="354" r:id="rId18"/>
    <p:sldId id="355" r:id="rId19"/>
    <p:sldId id="365" r:id="rId20"/>
    <p:sldId id="357" r:id="rId21"/>
    <p:sldId id="358" r:id="rId22"/>
    <p:sldId id="363" r:id="rId23"/>
    <p:sldId id="364" r:id="rId24"/>
    <p:sldId id="361" r:id="rId25"/>
    <p:sldId id="362" r:id="rId26"/>
    <p:sldId id="366" r:id="rId27"/>
    <p:sldId id="367" r:id="rId28"/>
    <p:sldId id="368" r:id="rId29"/>
    <p:sldId id="340" r:id="rId30"/>
  </p:sldIdLst>
  <p:sldSz cx="9144000" cy="6858000" type="screen4x3"/>
  <p:notesSz cx="9872663" cy="6742113"/>
  <p:defaultTextStyle>
    <a:defPPr>
      <a:defRPr lang="en-GB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0F87"/>
    <a:srgbClr val="73267A"/>
    <a:srgbClr val="800080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090" autoAdjust="0"/>
  </p:normalViewPr>
  <p:slideViewPr>
    <p:cSldViewPr>
      <p:cViewPr varScale="1">
        <p:scale>
          <a:sx n="46" d="100"/>
          <a:sy n="46" d="100"/>
        </p:scale>
        <p:origin x="-90" y="-7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75" d="100"/>
          <a:sy n="75" d="100"/>
        </p:scale>
        <p:origin x="-2592" y="378"/>
      </p:cViewPr>
      <p:guideLst>
        <p:guide orient="horz" pos="2123"/>
        <p:guide pos="310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95362" y="0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19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04953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19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95362" y="6404953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1B90306-3157-4DAC-A9C9-596ACEE7C49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57979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4286600" cy="362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9529" y="1"/>
            <a:ext cx="4286600" cy="362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71838" y="517525"/>
            <a:ext cx="3382962" cy="2536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/>
          </a:extLst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52929" y="3208981"/>
            <a:ext cx="7220271" cy="3052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17963"/>
            <a:ext cx="4286600" cy="310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9529" y="6417963"/>
            <a:ext cx="4286600" cy="310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A767768-1694-43CB-8DB9-8C109826B36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023495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3B3AC1E-C878-4633-B4CF-C25025A3F561}" type="slidenum">
              <a:rPr lang="en-GB" altLang="en-US" smtClean="0"/>
              <a:pPr eaLnBrk="1" hangingPunct="1">
                <a:spcBef>
                  <a:spcPct val="0"/>
                </a:spcBef>
              </a:pPr>
              <a:t>1</a:t>
            </a:fld>
            <a:endParaRPr lang="en-GB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9367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endParaRPr lang="en-GB" altLang="en-US" dirty="0" smtClean="0"/>
          </a:p>
          <a:p>
            <a:pPr eaLnBrk="1" hangingPunct="1">
              <a:lnSpc>
                <a:spcPct val="90000"/>
              </a:lnSpc>
            </a:pPr>
            <a:endParaRPr lang="en-GB" altLang="en-US" sz="1200" b="1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endParaRPr lang="en-GB" altLang="en-US" dirty="0" smtClean="0"/>
          </a:p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b="1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0179" name="Rectangle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52425" indent="-228600" eaLnBrk="1" hangingPunct="1">
              <a:spcBef>
                <a:spcPts val="413"/>
              </a:spcBef>
            </a:pPr>
            <a:endParaRPr lang="en-US" altLang="en-US" dirty="0" smtClean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  <a:p>
            <a:pPr marL="352425" indent="-228600" eaLnBrk="1" hangingPunct="1">
              <a:spcBef>
                <a:spcPts val="413"/>
              </a:spcBef>
            </a:pPr>
            <a:endParaRPr lang="en-US" altLang="en-US" dirty="0" smtClean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  <a:p>
            <a:pPr marL="352425" indent="-228600" eaLnBrk="1" hangingPunct="1">
              <a:spcBef>
                <a:spcPts val="413"/>
              </a:spcBef>
              <a:buFontTx/>
              <a:buAutoNum type="arabicPeriod"/>
            </a:pPr>
            <a:endParaRPr lang="en-US" altLang="en-US" dirty="0" smtClean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 smtClean="0">
              <a:latin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GB" altLang="en-US" b="0" baseline="0" dirty="0" smtClean="0">
              <a:latin typeface="Times New Roman" pitchFamily="18" charset="0"/>
            </a:endParaRPr>
          </a:p>
          <a:p>
            <a:pPr>
              <a:buFont typeface="Arial" pitchFamily="34" charset="0"/>
              <a:buNone/>
            </a:pPr>
            <a:endParaRPr lang="en-GB" altLang="en-US" b="0" baseline="0" dirty="0" smtClean="0">
              <a:latin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GB" altLang="en-US" b="0" baseline="0" dirty="0" smtClean="0">
              <a:latin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GB" altLang="en-US" b="0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lnSpc>
                <a:spcPct val="80000"/>
              </a:lnSpc>
            </a:pPr>
            <a:endParaRPr lang="en-GB" altLang="en-US" sz="1000" dirty="0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z="1000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5" name="Picture 3" descr="RBWM 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mtClean="0"/>
            </a:lvl1pPr>
          </a:lstStyle>
          <a:p>
            <a:pPr lvl="0"/>
            <a:r>
              <a:rPr lang="en-GB" noProof="0" smtClean="0"/>
              <a:t>Click to edit Master title style</a:t>
            </a:r>
          </a:p>
        </p:txBody>
      </p:sp>
      <p:sp>
        <p:nvSpPr>
          <p:cNvPr id="7680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smtClean="0"/>
            </a:lvl1pPr>
          </a:lstStyle>
          <a:p>
            <a:pPr lvl="0"/>
            <a:r>
              <a:rPr lang="en-GB" noProof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02736697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332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5" name="Picture 3" descr="RBWM 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7886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5215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826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6F4003C-6738-41FC-BD70-AFBCE629531F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D8854724-4FFB-415E-BBC6-2B7B0C02FD8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0756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3" name="Picture 3" descr="RBWM 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8F897936-E795-4A52-BB7D-A42C4541CC71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873F35B5-BBFA-4553-9578-0B3BCDFBFFA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4454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6E7A34B-FD5E-4F5A-B0F7-A015E01D7F83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18BB7CEF-913A-4CD2-BCDB-CEFECA428A2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159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6519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02357B16-948E-4B4A-900D-38F428561B15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997A6F1-171F-4AF8-97F5-1636272C91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9666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CA572428-9FAC-4324-9994-55C8D94D3425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FEE0D5A8-55DD-4B37-923E-F5B356956D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17895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B2C003A3-ECE7-451A-A269-EC3993D07DC1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2E938A0A-4712-4445-A12D-E3A42BB07F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6377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38320F-5195-4F69-9875-D65899583AE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060689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A5168-D90F-49C0-A2E7-11A2C1B3DCBC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28CF26-C294-4E99-A965-541338BCD3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92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041A03-9E4F-4A28-BA3C-3E710AC50BFB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C8A12-96ED-4E9C-98E7-9A79975CB8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743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967D6E-5AC9-4AE8-B48F-7966E1C96FA1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C7B07B-B092-419F-8487-9BC78B49CB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07334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DA920B-EA4B-4F36-A89A-5B9321645AC6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115315-7ABB-42D4-8681-04AF0B8A40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3498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2A2316-72AC-4317-B2B9-0F141537F0F1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C61D97-E701-4210-832C-56C8BF5145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80073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C3D48B-1A0B-45F1-B9CA-9EC17A365BED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6F801-FE17-46A8-92DF-3FFA59D64D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24152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5D781D-EE82-4E6C-B265-C1E2BE85CBEB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500BD9-FFAA-48B2-9D64-DA569C62C8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587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174833-F6D9-4513-80F4-C51AC573DD52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5E664D-6DC6-47FE-A53E-8D5B344DF54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45063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832145-82AB-492B-8153-BFBD18891961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792398-66EC-4867-8AC3-F782C66F70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47239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2A705-5530-440E-94CF-9E69BC320A08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6D7D41-3D4E-4161-9304-9E4DE0E7BE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11516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2BE5CA-3623-426B-B9FD-A1AD5C87A381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597432-9985-4F80-9ADA-01A5F9BC7C8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48152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FA3326-ADAE-4A4F-9C14-8B2AD3F4DD9F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11C263-FA8D-4220-8D82-93A79A09BEB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52338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2018A1-CE7A-4EFE-A1D4-AFBB7FD2CB9B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2A6B35-EF06-4B1D-96FC-BE5C5D1AB5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98343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B67B7B-6D7F-49B7-88E8-AFC6711841A2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FB2707-D584-471B-B06E-23B2860141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0829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303D1A-B352-42F9-9844-328503C0CF1C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66A04E-0D32-4A03-9112-3A44FC6113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97348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11C94B-CF08-4F87-A4A1-B0DD84FF0D79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407A66-73FB-4060-BEA6-A6CA3616EE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007047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6FF19E-D1CE-4D5E-94B8-E8CF1A039C01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B44138-8C0D-4525-B818-B9C3642F6C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59426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198C75-5C06-4C85-9C1B-DF880317BB23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7F2BF4-4BBA-42BD-A6CE-204306C3BAB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2888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0AA59E-A2AF-4EE3-9BDA-235EB643313B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93314F-FF5D-4CBF-9DCD-3F07549EAC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63402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00E10C-C381-49B9-BAB8-9439F88A6E32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68C21-9C5C-41DF-8ABE-9B48E04435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027656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E45DCB-CC29-4A21-AA7D-6F4099201F96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D17F51-91ED-4B19-B9BA-E952C859CC2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77936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952F77-9E6D-487C-A038-5B8BB71AAE79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A69DD-0BEF-4114-9F72-8691988F25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2869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7D2EB2-9A70-486C-B712-B9E3C1DD3F59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628BC-6046-4E77-8915-D0EA327CFCC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7828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706372-AE1A-40CA-84FE-E117B61BDA1C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1B76DB-3FD4-4C1A-A167-9682C68EA1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41299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FDFC35-F16A-4C47-B53F-B3AA9017E29C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80F22C-EE71-4077-BA54-1649DFD2D4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39329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FB59BB-41EC-458D-9EC3-A3AC830CDAC5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BC957-EFF2-49EE-84AB-13DAB76A79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421260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F4B5C6-E0FA-49CE-ACC6-5AC53DE16082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F3343B-380D-4B39-912A-4AF97353837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59323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6A9273-9151-4102-BC1A-6ABD478EA0DE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0D7A55-1825-42F5-8424-2F8D914ED2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580553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EBED48-AAA2-4476-B00C-B774E4469265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09C51E-3EB4-4A6C-B489-3E348F82F8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9847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099084-5C7F-4CF5-9AE8-F3AA8F0EA9F9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A269E3-5176-4669-8431-5AAACA4E05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323547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29C012-FA62-4961-8411-9D683412FB31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09C71E-CDEE-41F3-A492-2FE32C4122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09695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89AD61-A90F-465D-8026-FC0E4A3B1483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C16109-EE3E-4DE0-9E43-EEB19D7604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257544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DD5F20-7925-44B9-8963-05167227A927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103D39-E6B5-4825-82B7-1F236515E50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9304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115888"/>
            <a:ext cx="8497887" cy="64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965200"/>
            <a:ext cx="7632700" cy="496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1029" name="Picture 3" descr="RBWM logo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21" r:id="rId1"/>
    <p:sldLayoutId id="2147484084" r:id="rId2"/>
    <p:sldLayoutId id="2147484122" r:id="rId3"/>
    <p:sldLayoutId id="2147484085" r:id="rId4"/>
    <p:sldLayoutId id="2147484086" r:id="rId5"/>
    <p:sldLayoutId id="2147484123" r:id="rId6"/>
    <p:sldLayoutId id="2147484124" r:id="rId7"/>
    <p:sldLayoutId id="2147484125" r:id="rId8"/>
    <p:sldLayoutId id="2147484087" r:id="rId9"/>
    <p:sldLayoutId id="2147484126" r:id="rId10"/>
    <p:sldLayoutId id="2147484127" r:id="rId11"/>
    <p:sldLayoutId id="2147484128" r:id="rId12"/>
    <p:sldLayoutId id="2147484129" r:id="rId13"/>
  </p:sldLayoutIdLst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MS PGothic" pitchFamily="34" charset="-128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j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j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en-GB" altLang="en-US" smtClean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GB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DDBA0D3-6193-4E0F-B453-77F65E8EBCD8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146901C-12B1-40DD-8DBE-C2246E1630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2055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2056" name="Picture 3" descr="RBWM logo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  <p:sldLayoutId id="2147484093" r:id="rId6"/>
    <p:sldLayoutId id="2147484094" r:id="rId7"/>
    <p:sldLayoutId id="2147484095" r:id="rId8"/>
    <p:sldLayoutId id="2147484096" r:id="rId9"/>
    <p:sldLayoutId id="2147484097" r:id="rId10"/>
    <p:sldLayoutId id="2147484098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en-GB" altLang="en-US" smtClean="0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GB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C8DF5DC-1168-47BE-8B87-FD4A316C87A3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8EA2DB17-9047-46F4-B9BC-DE8C9637BF1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3079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3080" name="Picture 3" descr="RBWM logo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99" r:id="rId1"/>
    <p:sldLayoutId id="2147484100" r:id="rId2"/>
    <p:sldLayoutId id="2147484101" r:id="rId3"/>
    <p:sldLayoutId id="2147484102" r:id="rId4"/>
    <p:sldLayoutId id="2147484103" r:id="rId5"/>
    <p:sldLayoutId id="2147484104" r:id="rId6"/>
    <p:sldLayoutId id="2147484105" r:id="rId7"/>
    <p:sldLayoutId id="2147484106" r:id="rId8"/>
    <p:sldLayoutId id="2147484107" r:id="rId9"/>
    <p:sldLayoutId id="2147484108" r:id="rId10"/>
    <p:sldLayoutId id="214748410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78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400"/>
            </a:lvl1pPr>
          </a:lstStyle>
          <a:p>
            <a:pPr>
              <a:defRPr/>
            </a:pPr>
            <a:fld id="{AADBC27B-261C-4C33-B4C1-9E91175A41A9}" type="datetime1">
              <a:rPr lang="en-GB"/>
              <a:pPr>
                <a:defRPr/>
              </a:pPr>
              <a:t>27/06/2018</a:t>
            </a:fld>
            <a:endParaRPr lang="en-GB"/>
          </a:p>
        </p:txBody>
      </p:sp>
      <p:sp>
        <p:nvSpPr>
          <p:cNvPr id="778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78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/>
            </a:lvl1pPr>
          </a:lstStyle>
          <a:p>
            <a:pPr>
              <a:defRPr/>
            </a:pPr>
            <a:fld id="{1660B6F1-E469-40FE-8825-5EE89E5F35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4103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4104" name="Picture 3" descr="RBWM logo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0" r:id="rId1"/>
    <p:sldLayoutId id="2147484111" r:id="rId2"/>
    <p:sldLayoutId id="2147484112" r:id="rId3"/>
    <p:sldLayoutId id="2147484113" r:id="rId4"/>
    <p:sldLayoutId id="2147484114" r:id="rId5"/>
    <p:sldLayoutId id="2147484115" r:id="rId6"/>
    <p:sldLayoutId id="2147484116" r:id="rId7"/>
    <p:sldLayoutId id="2147484117" r:id="rId8"/>
    <p:sldLayoutId id="2147484118" r:id="rId9"/>
    <p:sldLayoutId id="2147484119" r:id="rId10"/>
    <p:sldLayoutId id="2147484120" r:id="rId11"/>
  </p:sldLayoutIdLst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MS PGothic" pitchFamily="34" charset="-128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johnandgwyn.co.uk/probe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4" descr="blocksrg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4510088"/>
            <a:ext cx="2446337" cy="172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5"/>
          <p:cNvSpPr>
            <a:spLocks noChangeArrowheads="1"/>
          </p:cNvSpPr>
          <p:nvPr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076" name="Text Box 6"/>
          <p:cNvSpPr txBox="1">
            <a:spLocks noChangeArrowheads="1"/>
          </p:cNvSpPr>
          <p:nvPr/>
        </p:nvSpPr>
        <p:spPr bwMode="auto">
          <a:xfrm>
            <a:off x="0" y="125413"/>
            <a:ext cx="9144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Arial Black" pitchFamily="34" charset="0"/>
                <a:ea typeface="ＭＳ Ｐゴシック" pitchFamily="110" charset="-128"/>
              </a:rPr>
              <a:t>E D U C T I O N A L   P S Y C H O L O G Y   S E R V I C E</a:t>
            </a:r>
          </a:p>
        </p:txBody>
      </p: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36588" y="692150"/>
            <a:ext cx="7705725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4000" b="1" dirty="0">
                <a:ea typeface="ＭＳ Ｐゴシック" pitchFamily="110" charset="-128"/>
              </a:rPr>
              <a:t>Precision Teaching with ‘Letters and Sounds’</a:t>
            </a:r>
          </a:p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200" b="1" dirty="0">
                <a:ea typeface="ＭＳ Ｐゴシック" pitchFamily="110" charset="-128"/>
              </a:rPr>
              <a:t>Session 2</a:t>
            </a:r>
          </a:p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200" dirty="0" smtClean="0">
                <a:ea typeface="ＭＳ Ｐゴシック" pitchFamily="110" charset="-128"/>
              </a:rPr>
              <a:t>All Saint’s Junior School </a:t>
            </a:r>
            <a:endParaRPr lang="en-US" altLang="en-US" sz="3200" dirty="0">
              <a:ea typeface="ＭＳ Ｐゴシック" pitchFamily="110" charset="-128"/>
            </a:endParaRPr>
          </a:p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200" dirty="0">
                <a:ea typeface="ＭＳ Ｐゴシック" pitchFamily="110" charset="-128"/>
              </a:rPr>
              <a:t>Scott </a:t>
            </a:r>
            <a:r>
              <a:rPr lang="en-US" altLang="en-US" sz="3200" dirty="0" smtClean="0">
                <a:ea typeface="ＭＳ Ｐゴシック" pitchFamily="110" charset="-128"/>
              </a:rPr>
              <a:t>I-Patrick</a:t>
            </a:r>
            <a:endParaRPr lang="en-US" altLang="en-US" sz="3200" dirty="0">
              <a:ea typeface="ＭＳ Ｐゴシック" pitchFamily="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889549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332656"/>
            <a:ext cx="8497887" cy="649287"/>
          </a:xfrm>
        </p:spPr>
        <p:txBody>
          <a:bodyPr/>
          <a:lstStyle/>
          <a:p>
            <a:pPr algn="ctr" eaLnBrk="1" hangingPunct="1"/>
            <a:r>
              <a:rPr lang="en-GB" altLang="en-US" sz="4000" dirty="0" smtClean="0">
                <a:latin typeface="Arial" charset="0"/>
              </a:rPr>
              <a:t>Session Aim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1628800"/>
            <a:ext cx="7632700" cy="4233267"/>
          </a:xfrm>
        </p:spPr>
        <p:txBody>
          <a:bodyPr/>
          <a:lstStyle/>
          <a:p>
            <a:pPr marL="681038" lvl="1" indent="-342900" eaLnBrk="1" hangingPunct="1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sz="2400" dirty="0"/>
              <a:t>Sharing our experiences since the last session</a:t>
            </a:r>
          </a:p>
          <a:p>
            <a:pPr marL="338138" lvl="1" indent="0" eaLnBrk="1" hangingPunct="1">
              <a:lnSpc>
                <a:spcPct val="90000"/>
              </a:lnSpc>
              <a:buNone/>
            </a:pPr>
            <a:endParaRPr lang="en-US" altLang="en-US" sz="2400" dirty="0"/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 smtClean="0"/>
              <a:t>How </a:t>
            </a:r>
            <a:r>
              <a:rPr lang="en-US" altLang="en-US" sz="2400" dirty="0"/>
              <a:t>do </a:t>
            </a:r>
            <a:r>
              <a:rPr lang="en-US" altLang="en-US" sz="2400" dirty="0" smtClean="0"/>
              <a:t>I deliver PT</a:t>
            </a:r>
            <a:r>
              <a:rPr lang="en-US" altLang="en-US" sz="2400" dirty="0"/>
              <a:t>?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 smtClean="0"/>
              <a:t>Target </a:t>
            </a:r>
            <a:r>
              <a:rPr lang="en-US" altLang="en-US" sz="2400" dirty="0"/>
              <a:t>setting 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/>
              <a:t>Teaching and probing 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/>
              <a:t>Charting the results with target child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/>
              <a:t>Monitoring: Review and adapt the </a:t>
            </a:r>
            <a:r>
              <a:rPr lang="en-US" altLang="en-US" sz="2400" dirty="0" err="1"/>
              <a:t>programme</a:t>
            </a:r>
            <a:r>
              <a:rPr lang="en-US" altLang="en-US" sz="2400" dirty="0"/>
              <a:t> as needed</a:t>
            </a:r>
          </a:p>
          <a:p>
            <a:pPr eaLnBrk="1" hangingPunct="1">
              <a:buFont typeface="Wingdings" pitchFamily="2" charset="2"/>
              <a:buNone/>
            </a:pP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117975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476250"/>
            <a:ext cx="8569325" cy="1143000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4000" b="1" dirty="0" smtClean="0"/>
              <a:t>How do I deliver precision monitoring?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2060848"/>
            <a:ext cx="8353425" cy="4467225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GB" altLang="en-US" sz="2000" dirty="0" smtClean="0"/>
              <a:t>Identify a specific difficulty and acquire a baseline.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2"/>
            </a:pPr>
            <a:r>
              <a:rPr lang="en-GB" altLang="en-US" sz="2000" dirty="0" smtClean="0"/>
              <a:t>Set a target.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r>
              <a:rPr lang="en-GB" altLang="en-US" sz="2000" dirty="0" smtClean="0"/>
              <a:t>Teaching sessions: short, frequent and target specific.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r>
              <a:rPr lang="en-GB" altLang="en-US" sz="2000" dirty="0" smtClean="0"/>
              <a:t>Monitor child’s daily performance using a probe.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5"/>
            </a:pPr>
            <a:r>
              <a:rPr lang="en-GB" altLang="en-US" sz="2000" dirty="0" smtClean="0"/>
              <a:t>Chart results and make note of teaching methods.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5"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6"/>
            </a:pPr>
            <a:r>
              <a:rPr lang="en-GB" altLang="en-US" sz="2000" dirty="0" smtClean="0"/>
              <a:t>Analyse the data to determine if a change of target is needed or change in teaching method.</a:t>
            </a:r>
          </a:p>
        </p:txBody>
      </p:sp>
    </p:spTree>
    <p:extLst>
      <p:ext uri="{BB962C8B-B14F-4D97-AF65-F5344CB8AC3E}">
        <p14:creationId xmlns:p14="http://schemas.microsoft.com/office/powerpoint/2010/main" val="3791465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764704"/>
            <a:ext cx="8497887" cy="649287"/>
          </a:xfrm>
        </p:spPr>
        <p:txBody>
          <a:bodyPr/>
          <a:lstStyle/>
          <a:p>
            <a:pPr algn="ctr"/>
            <a:r>
              <a:rPr lang="en-GB" altLang="en-US" sz="5400" dirty="0" smtClean="0"/>
              <a:t>STEP 1</a:t>
            </a:r>
            <a:endParaRPr lang="en-GB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2132856"/>
            <a:ext cx="7632700" cy="4968875"/>
          </a:xfrm>
        </p:spPr>
        <p:txBody>
          <a:bodyPr/>
          <a:lstStyle/>
          <a:p>
            <a:pPr marL="0" indent="0" algn="ctr">
              <a:buNone/>
            </a:pPr>
            <a:r>
              <a:rPr lang="en-GB" altLang="en-US" sz="5400" dirty="0" smtClean="0"/>
              <a:t>Identify </a:t>
            </a:r>
            <a:r>
              <a:rPr lang="en-GB" altLang="en-US" sz="5400" dirty="0"/>
              <a:t>a specific difficulty and acquire a baseline</a:t>
            </a:r>
            <a:endParaRPr lang="en-GB" sz="5400" dirty="0"/>
          </a:p>
        </p:txBody>
      </p:sp>
    </p:spTree>
    <p:extLst>
      <p:ext uri="{BB962C8B-B14F-4D97-AF65-F5344CB8AC3E}">
        <p14:creationId xmlns:p14="http://schemas.microsoft.com/office/powerpoint/2010/main" val="1619508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7772400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4000" b="1" smtClean="0"/>
              <a:t>Step 2</a:t>
            </a:r>
            <a:r>
              <a:rPr lang="en-GB" altLang="en-US" sz="4000" smtClean="0"/>
              <a:t> </a:t>
            </a:r>
            <a:r>
              <a:rPr lang="en-GB" altLang="en-US" sz="4000" b="1" smtClean="0"/>
              <a:t>-</a:t>
            </a:r>
            <a:r>
              <a:rPr lang="en-GB" altLang="en-US" sz="4000" smtClean="0"/>
              <a:t> Setting a Target</a:t>
            </a:r>
          </a:p>
        </p:txBody>
      </p:sp>
      <p:sp>
        <p:nvSpPr>
          <p:cNvPr id="12291" name="Content Placeholder 4"/>
          <p:cNvSpPr>
            <a:spLocks noGrp="1"/>
          </p:cNvSpPr>
          <p:nvPr>
            <p:ph idx="1"/>
          </p:nvPr>
        </p:nvSpPr>
        <p:spPr>
          <a:xfrm>
            <a:off x="539750" y="2133600"/>
            <a:ext cx="3527425" cy="3467100"/>
          </a:xfrm>
        </p:spPr>
        <p:txBody>
          <a:bodyPr/>
          <a:lstStyle/>
          <a:p>
            <a:pPr eaLnBrk="1" hangingPunct="1"/>
            <a:r>
              <a:rPr lang="en-GB" altLang="en-US" b="1" dirty="0" smtClean="0"/>
              <a:t>S</a:t>
            </a:r>
            <a:r>
              <a:rPr lang="en-GB" altLang="en-US" dirty="0" smtClean="0"/>
              <a:t>pecific</a:t>
            </a:r>
          </a:p>
          <a:p>
            <a:pPr eaLnBrk="1" hangingPunct="1"/>
            <a:r>
              <a:rPr lang="en-GB" altLang="en-US" b="1" dirty="0" smtClean="0"/>
              <a:t>M</a:t>
            </a:r>
            <a:r>
              <a:rPr lang="en-GB" altLang="en-US" dirty="0" smtClean="0"/>
              <a:t>easurable</a:t>
            </a:r>
          </a:p>
          <a:p>
            <a:pPr eaLnBrk="1" hangingPunct="1"/>
            <a:r>
              <a:rPr lang="en-GB" altLang="en-US" b="1" dirty="0" smtClean="0"/>
              <a:t>A</a:t>
            </a:r>
            <a:r>
              <a:rPr lang="en-GB" altLang="en-US" dirty="0" smtClean="0"/>
              <a:t>greed</a:t>
            </a:r>
          </a:p>
          <a:p>
            <a:pPr eaLnBrk="1" hangingPunct="1"/>
            <a:r>
              <a:rPr lang="en-GB" altLang="en-US" b="1" dirty="0" smtClean="0"/>
              <a:t>R</a:t>
            </a:r>
            <a:r>
              <a:rPr lang="en-GB" altLang="en-US" dirty="0" smtClean="0"/>
              <a:t>ealistic</a:t>
            </a:r>
          </a:p>
          <a:p>
            <a:pPr eaLnBrk="1" hangingPunct="1"/>
            <a:r>
              <a:rPr lang="en-GB" altLang="en-US" b="1" dirty="0" smtClean="0"/>
              <a:t>T</a:t>
            </a:r>
            <a:r>
              <a:rPr lang="en-GB" altLang="en-US" dirty="0" smtClean="0"/>
              <a:t>ime bound</a:t>
            </a:r>
          </a:p>
        </p:txBody>
      </p:sp>
      <p:grpSp>
        <p:nvGrpSpPr>
          <p:cNvPr id="12292" name="Group 4"/>
          <p:cNvGrpSpPr>
            <a:grpSpLocks noGrp="1"/>
          </p:cNvGrpSpPr>
          <p:nvPr/>
        </p:nvGrpSpPr>
        <p:grpSpPr bwMode="auto">
          <a:xfrm>
            <a:off x="4932363" y="1700213"/>
            <a:ext cx="3573462" cy="3536950"/>
            <a:chOff x="2304" y="858"/>
            <a:chExt cx="3024" cy="3181"/>
          </a:xfrm>
        </p:grpSpPr>
        <p:sp>
          <p:nvSpPr>
            <p:cNvPr id="12294" name="Oval 5"/>
            <p:cNvSpPr>
              <a:spLocks noChangeArrowheads="1"/>
            </p:cNvSpPr>
            <p:nvPr/>
          </p:nvSpPr>
          <p:spPr bwMode="auto">
            <a:xfrm>
              <a:off x="2304" y="912"/>
              <a:ext cx="3024" cy="3024"/>
            </a:xfrm>
            <a:prstGeom prst="ellipse">
              <a:avLst/>
            </a:prstGeom>
            <a:solidFill>
              <a:srgbClr val="66CCFF"/>
            </a:solidFill>
            <a:ln w="9525">
              <a:solidFill>
                <a:srgbClr val="66CCFF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2295" name="Oval 6"/>
            <p:cNvSpPr>
              <a:spLocks noChangeArrowheads="1"/>
            </p:cNvSpPr>
            <p:nvPr/>
          </p:nvSpPr>
          <p:spPr bwMode="auto">
            <a:xfrm>
              <a:off x="2832" y="1440"/>
              <a:ext cx="1968" cy="19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2296" name="Oval 7"/>
            <p:cNvSpPr>
              <a:spLocks noChangeArrowheads="1"/>
            </p:cNvSpPr>
            <p:nvPr/>
          </p:nvSpPr>
          <p:spPr bwMode="auto">
            <a:xfrm>
              <a:off x="3360" y="1968"/>
              <a:ext cx="912" cy="9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2297" name="Text Box 8"/>
            <p:cNvSpPr txBox="1">
              <a:spLocks noChangeArrowheads="1"/>
            </p:cNvSpPr>
            <p:nvPr/>
          </p:nvSpPr>
          <p:spPr bwMode="auto">
            <a:xfrm>
              <a:off x="3575" y="858"/>
              <a:ext cx="471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S</a:t>
              </a:r>
            </a:p>
          </p:txBody>
        </p:sp>
        <p:sp>
          <p:nvSpPr>
            <p:cNvPr id="12298" name="Text Box 9"/>
            <p:cNvSpPr txBox="1">
              <a:spLocks noChangeArrowheads="1"/>
            </p:cNvSpPr>
            <p:nvPr/>
          </p:nvSpPr>
          <p:spPr bwMode="auto">
            <a:xfrm>
              <a:off x="3548" y="1386"/>
              <a:ext cx="549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M</a:t>
              </a:r>
            </a:p>
          </p:txBody>
        </p:sp>
        <p:sp>
          <p:nvSpPr>
            <p:cNvPr id="12299" name="Text Box 10"/>
            <p:cNvSpPr txBox="1">
              <a:spLocks noChangeArrowheads="1"/>
            </p:cNvSpPr>
            <p:nvPr/>
          </p:nvSpPr>
          <p:spPr bwMode="auto">
            <a:xfrm>
              <a:off x="3575" y="2059"/>
              <a:ext cx="497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A</a:t>
              </a:r>
            </a:p>
          </p:txBody>
        </p:sp>
        <p:sp>
          <p:nvSpPr>
            <p:cNvPr id="12300" name="Text Box 11"/>
            <p:cNvSpPr txBox="1">
              <a:spLocks noChangeArrowheads="1"/>
            </p:cNvSpPr>
            <p:nvPr/>
          </p:nvSpPr>
          <p:spPr bwMode="auto">
            <a:xfrm>
              <a:off x="3575" y="2778"/>
              <a:ext cx="497" cy="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R</a:t>
              </a:r>
            </a:p>
          </p:txBody>
        </p:sp>
        <p:sp>
          <p:nvSpPr>
            <p:cNvPr id="12301" name="Text Box 12"/>
            <p:cNvSpPr txBox="1">
              <a:spLocks noChangeArrowheads="1"/>
            </p:cNvSpPr>
            <p:nvPr/>
          </p:nvSpPr>
          <p:spPr bwMode="auto">
            <a:xfrm>
              <a:off x="3603" y="3354"/>
              <a:ext cx="445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T</a:t>
              </a:r>
            </a:p>
          </p:txBody>
        </p:sp>
      </p:grpSp>
      <p:sp>
        <p:nvSpPr>
          <p:cNvPr id="12293" name="Text Placeholder 15"/>
          <p:cNvSpPr>
            <a:spLocks/>
          </p:cNvSpPr>
          <p:nvPr/>
        </p:nvSpPr>
        <p:spPr bwMode="auto">
          <a:xfrm>
            <a:off x="323850" y="1484313"/>
            <a:ext cx="4040188" cy="63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GB" altLang="en-US" sz="3200" b="1">
                <a:latin typeface="Arial" pitchFamily="34" charset="0"/>
              </a:rPr>
              <a:t>SMART TARGETS</a:t>
            </a:r>
          </a:p>
        </p:txBody>
      </p:sp>
    </p:spTree>
    <p:extLst>
      <p:ext uri="{BB962C8B-B14F-4D97-AF65-F5344CB8AC3E}">
        <p14:creationId xmlns:p14="http://schemas.microsoft.com/office/powerpoint/2010/main" val="3080012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 idx="4294967295"/>
          </p:nvPr>
        </p:nvSpPr>
        <p:spPr>
          <a:xfrm>
            <a:off x="0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2. Targets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4294967295"/>
          </p:nvPr>
        </p:nvSpPr>
        <p:spPr>
          <a:xfrm>
            <a:off x="935038" y="1125538"/>
            <a:ext cx="8208962" cy="496728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altLang="en-US" dirty="0" smtClean="0"/>
              <a:t>Target needs to contain three essential components:</a:t>
            </a:r>
          </a:p>
          <a:p>
            <a:pPr lvl="1" eaLnBrk="1" hangingPunct="1"/>
            <a:r>
              <a:rPr lang="en-GB" altLang="en-US" sz="2400" dirty="0" smtClean="0">
                <a:solidFill>
                  <a:srgbClr val="FF0000"/>
                </a:solidFill>
              </a:rPr>
              <a:t>Observable verb</a:t>
            </a:r>
            <a:r>
              <a:rPr lang="en-GB" altLang="en-US" sz="2400" dirty="0" smtClean="0"/>
              <a:t>  </a:t>
            </a:r>
          </a:p>
          <a:p>
            <a:pPr lvl="1" eaLnBrk="1" hangingPunct="1">
              <a:buFontTx/>
              <a:buNone/>
            </a:pPr>
            <a:r>
              <a:rPr lang="en-GB" altLang="en-US" sz="2400" dirty="0" smtClean="0"/>
              <a:t>(</a:t>
            </a:r>
            <a:r>
              <a:rPr lang="en-GB" altLang="en-US" sz="2400" dirty="0" err="1" smtClean="0"/>
              <a:t>ie</a:t>
            </a:r>
            <a:r>
              <a:rPr lang="en-GB" altLang="en-US" sz="2400" dirty="0" smtClean="0"/>
              <a:t>. what the child will do)</a:t>
            </a:r>
          </a:p>
          <a:p>
            <a:pPr lvl="1" eaLnBrk="1" hangingPunct="1">
              <a:buFontTx/>
              <a:buNone/>
            </a:pPr>
            <a:endParaRPr lang="en-GB" altLang="en-US" sz="2400" dirty="0" smtClean="0"/>
          </a:p>
          <a:p>
            <a:pPr lvl="1" eaLnBrk="1" hangingPunct="1"/>
            <a:r>
              <a:rPr lang="en-GB" altLang="en-US" sz="2400" dirty="0" smtClean="0">
                <a:solidFill>
                  <a:schemeClr val="accent1"/>
                </a:solidFill>
              </a:rPr>
              <a:t>Conditions</a:t>
            </a:r>
            <a:r>
              <a:rPr lang="en-GB" altLang="en-US" sz="2400" dirty="0" smtClean="0"/>
              <a:t> </a:t>
            </a:r>
          </a:p>
          <a:p>
            <a:pPr lvl="1" eaLnBrk="1" hangingPunct="1">
              <a:buFontTx/>
              <a:buNone/>
            </a:pPr>
            <a:r>
              <a:rPr lang="en-GB" altLang="en-US" sz="2400" dirty="0" smtClean="0"/>
              <a:t>(e.g. teaching materials or teacher instructions)</a:t>
            </a:r>
          </a:p>
          <a:p>
            <a:pPr lvl="1" eaLnBrk="1" hangingPunct="1">
              <a:buFontTx/>
              <a:buNone/>
            </a:pPr>
            <a:endParaRPr lang="en-GB" altLang="en-US" sz="2400" dirty="0" smtClean="0"/>
          </a:p>
          <a:p>
            <a:pPr lvl="1" eaLnBrk="1" hangingPunct="1"/>
            <a:r>
              <a:rPr lang="en-GB" altLang="en-US" sz="2400" dirty="0" smtClean="0">
                <a:solidFill>
                  <a:schemeClr val="accent2"/>
                </a:solidFill>
              </a:rPr>
              <a:t>Criterion</a:t>
            </a:r>
            <a:r>
              <a:rPr lang="en-GB" altLang="en-US" sz="2400" dirty="0" smtClean="0"/>
              <a:t> </a:t>
            </a:r>
          </a:p>
          <a:p>
            <a:pPr lvl="1" eaLnBrk="1" hangingPunct="1">
              <a:buFontTx/>
              <a:buNone/>
            </a:pPr>
            <a:r>
              <a:rPr lang="en-GB" altLang="en-US" sz="2400" dirty="0" smtClean="0"/>
              <a:t>(success criteria – how will we know it’s been successful?)</a:t>
            </a:r>
          </a:p>
        </p:txBody>
      </p:sp>
    </p:spTree>
    <p:extLst>
      <p:ext uri="{BB962C8B-B14F-4D97-AF65-F5344CB8AC3E}">
        <p14:creationId xmlns:p14="http://schemas.microsoft.com/office/powerpoint/2010/main" val="1926875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2. Targets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628775"/>
            <a:ext cx="77724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altLang="en-US" sz="2800" dirty="0" smtClean="0"/>
              <a:t>E.g.</a:t>
            </a:r>
          </a:p>
          <a:p>
            <a:pPr eaLnBrk="1" hangingPunct="1">
              <a:buFontTx/>
              <a:buNone/>
            </a:pPr>
            <a:r>
              <a:rPr lang="en-GB" altLang="en-US" sz="2800" dirty="0" smtClean="0"/>
              <a:t>“Scott will read aloud </a:t>
            </a:r>
            <a:r>
              <a:rPr lang="en-GB" altLang="en-US" sz="2800" b="1" i="1" dirty="0" smtClean="0">
                <a:solidFill>
                  <a:srgbClr val="FF0000"/>
                </a:solidFill>
              </a:rPr>
              <a:t>(observable verb)</a:t>
            </a:r>
            <a:r>
              <a:rPr lang="en-GB" altLang="en-US" sz="2800" dirty="0" smtClean="0"/>
              <a:t> </a:t>
            </a:r>
            <a:r>
              <a:rPr lang="en-GB" altLang="en-US" sz="2800" b="1" dirty="0" smtClean="0"/>
              <a:t>50</a:t>
            </a:r>
            <a:r>
              <a:rPr lang="en-GB" altLang="en-US" sz="2800" dirty="0" smtClean="0"/>
              <a:t> words per minute with no more than </a:t>
            </a:r>
            <a:r>
              <a:rPr lang="en-GB" altLang="en-US" sz="2800" b="1" dirty="0" smtClean="0"/>
              <a:t>2</a:t>
            </a:r>
            <a:r>
              <a:rPr lang="en-GB" altLang="en-US" sz="2800" dirty="0" smtClean="0"/>
              <a:t> errors </a:t>
            </a:r>
            <a:r>
              <a:rPr lang="en-GB" altLang="en-US" sz="2800" b="1" i="1" dirty="0" smtClean="0">
                <a:solidFill>
                  <a:schemeClr val="accent1"/>
                </a:solidFill>
              </a:rPr>
              <a:t>(conditions)</a:t>
            </a:r>
            <a:r>
              <a:rPr lang="en-GB" altLang="en-US" sz="2800" dirty="0" smtClean="0">
                <a:solidFill>
                  <a:schemeClr val="accent1"/>
                </a:solidFill>
              </a:rPr>
              <a:t> </a:t>
            </a:r>
            <a:r>
              <a:rPr lang="en-GB" altLang="en-US" sz="2800" dirty="0" smtClean="0"/>
              <a:t>on three consecutive days </a:t>
            </a:r>
            <a:r>
              <a:rPr lang="en-GB" altLang="en-US" sz="2800" b="1" i="1" dirty="0" smtClean="0">
                <a:solidFill>
                  <a:srgbClr val="0000FF"/>
                </a:solidFill>
              </a:rPr>
              <a:t>(criterion).</a:t>
            </a:r>
            <a:r>
              <a:rPr lang="en-GB" altLang="en-US" sz="2800" dirty="0" smtClean="0"/>
              <a:t>”</a:t>
            </a:r>
          </a:p>
          <a:p>
            <a:pPr eaLnBrk="1" hangingPunct="1">
              <a:buFontTx/>
              <a:buNone/>
            </a:pPr>
            <a:endParaRPr lang="en-GB" alt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3259998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404813"/>
            <a:ext cx="8353425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b="1" dirty="0" smtClean="0"/>
              <a:t>Step 3-</a:t>
            </a:r>
            <a:r>
              <a:rPr lang="en-GB" altLang="en-US" sz="3200" dirty="0" smtClean="0"/>
              <a:t> Teaching </a:t>
            </a:r>
            <a:br>
              <a:rPr lang="en-GB" altLang="en-US" sz="3200" dirty="0" smtClean="0"/>
            </a:br>
            <a:r>
              <a:rPr lang="en-GB" altLang="en-US" sz="3200" dirty="0" smtClean="0"/>
              <a:t>(Up to 10 mins per day)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981200"/>
            <a:ext cx="8496300" cy="4114800"/>
          </a:xfrm>
        </p:spPr>
        <p:txBody>
          <a:bodyPr/>
          <a:lstStyle/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</a:pPr>
            <a:r>
              <a:rPr lang="en-GB" altLang="en-US" dirty="0" smtClean="0"/>
              <a:t>Choose up to three words the child struggled with from your baseline assessment (NB: the number of words chosen to focus on may vary according to child’s difficulties).</a:t>
            </a:r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</a:pPr>
            <a:endParaRPr lang="en-GB" altLang="en-US" dirty="0" smtClean="0"/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</a:pPr>
            <a:r>
              <a:rPr lang="en-GB" altLang="en-US" dirty="0" smtClean="0"/>
              <a:t> Introduce the target words to child.</a:t>
            </a:r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</a:pPr>
            <a:endParaRPr lang="en-GB" altLang="en-US" dirty="0" smtClean="0"/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</a:pPr>
            <a:r>
              <a:rPr lang="en-GB" altLang="en-US" dirty="0" smtClean="0"/>
              <a:t>Use teaching strategies which will increase opportunities for child to recognise the words.</a:t>
            </a:r>
          </a:p>
        </p:txBody>
      </p:sp>
    </p:spTree>
    <p:extLst>
      <p:ext uri="{BB962C8B-B14F-4D97-AF65-F5344CB8AC3E}">
        <p14:creationId xmlns:p14="http://schemas.microsoft.com/office/powerpoint/2010/main" val="1537245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9271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3. Teaching methods</a:t>
            </a: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0" y="3500438"/>
            <a:ext cx="8820150" cy="2481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D2CB6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5A39D"/>
              </a:buClr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Use the model-lead-test sequence with each sight word in turn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Alter the sequence and continue until each word has been repeated 3-5 times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Explain to the pupil that they are going to try the sight words alone- but they may have help if they want it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The pupil tries the words alone – praise correct answers.  If the word is incorrect or if the pupil hesitates more than 2 seconds use the correction procedure: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None/>
            </a:pPr>
            <a:endParaRPr lang="en-GB" altLang="en-US" sz="1800" dirty="0">
              <a:latin typeface="Arial" pitchFamily="34" charset="0"/>
            </a:endParaRPr>
          </a:p>
          <a:p>
            <a:pPr algn="l" eaLnBrk="1" hangingPunct="1">
              <a:lnSpc>
                <a:spcPct val="80000"/>
              </a:lnSpc>
              <a:buClrTx/>
              <a:buFontTx/>
              <a:buNone/>
            </a:pPr>
            <a:r>
              <a:rPr lang="en-GB" altLang="en-US" sz="1800" dirty="0">
                <a:latin typeface="Arial" pitchFamily="34" charset="0"/>
              </a:rPr>
              <a:t>				Model (adult) “this word says…”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None/>
            </a:pPr>
            <a:r>
              <a:rPr lang="en-GB" altLang="en-US" sz="1800" dirty="0">
                <a:latin typeface="Arial" pitchFamily="34" charset="0"/>
              </a:rPr>
              <a:t>				Test (child) “now you say it”… or “what word?”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2432050" y="1700213"/>
            <a:ext cx="5545138" cy="1635125"/>
          </a:xfrm>
          <a:prstGeom prst="rect">
            <a:avLst/>
          </a:prstGeom>
          <a:noFill/>
          <a:ln w="19050">
            <a:solidFill>
              <a:srgbClr val="9E0B0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GB" altLang="en-US" sz="2000">
                <a:latin typeface="Arial" pitchFamily="34" charset="0"/>
              </a:rPr>
              <a:t>Model (adult) – “this word says…”</a:t>
            </a:r>
          </a:p>
          <a:p>
            <a:pPr eaLnBrk="1" hangingPunct="1"/>
            <a:endParaRPr lang="en-GB" altLang="en-US" sz="2000">
              <a:latin typeface="Arial" pitchFamily="34" charset="0"/>
            </a:endParaRPr>
          </a:p>
          <a:p>
            <a:pPr eaLnBrk="1" hangingPunct="1"/>
            <a:r>
              <a:rPr lang="en-GB" altLang="en-US" sz="2000">
                <a:latin typeface="Arial" pitchFamily="34" charset="0"/>
              </a:rPr>
              <a:t>Lead (together) – “say it with me”</a:t>
            </a:r>
          </a:p>
          <a:p>
            <a:pPr eaLnBrk="1" hangingPunct="1"/>
            <a:endParaRPr lang="en-GB" altLang="en-US" sz="2000">
              <a:latin typeface="Arial" pitchFamily="34" charset="0"/>
            </a:endParaRPr>
          </a:p>
          <a:p>
            <a:pPr eaLnBrk="1" hangingPunct="1"/>
            <a:r>
              <a:rPr lang="en-GB" altLang="en-US" sz="2000">
                <a:latin typeface="Arial" pitchFamily="34" charset="0"/>
              </a:rPr>
              <a:t>Test (child) – “you say it”… or “what word?”</a:t>
            </a:r>
            <a:endParaRPr lang="en-GB" altLang="en-US" sz="2000" b="1">
              <a:latin typeface="Arial" pitchFamily="34" charset="0"/>
            </a:endParaRP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415925" y="1268413"/>
            <a:ext cx="33131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GB" altLang="en-US" sz="2000" b="1">
                <a:latin typeface="Arial" pitchFamily="34" charset="0"/>
              </a:rPr>
              <a:t>E.g. Direct Instruction</a:t>
            </a:r>
          </a:p>
        </p:txBody>
      </p:sp>
    </p:spTree>
    <p:extLst>
      <p:ext uri="{BB962C8B-B14F-4D97-AF65-F5344CB8AC3E}">
        <p14:creationId xmlns:p14="http://schemas.microsoft.com/office/powerpoint/2010/main" val="3487469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 idx="4294967295"/>
          </p:nvPr>
        </p:nvSpPr>
        <p:spPr>
          <a:xfrm>
            <a:off x="0" y="609600"/>
            <a:ext cx="8569325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3. Examples of some teaching methods:</a:t>
            </a:r>
          </a:p>
        </p:txBody>
      </p:sp>
      <p:sp>
        <p:nvSpPr>
          <p:cNvPr id="18435" name="Rectangle 3"/>
          <p:cNvSpPr txBox="1">
            <a:spLocks noChangeArrowheads="1"/>
          </p:cNvSpPr>
          <p:nvPr/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D2CB6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5A39D"/>
              </a:buClr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buClrTx/>
            </a:pPr>
            <a:r>
              <a:rPr lang="en-GB" altLang="en-US" sz="3200" u="sng" dirty="0"/>
              <a:t>Magnetic Letters</a:t>
            </a:r>
          </a:p>
          <a:p>
            <a:pPr eaLnBrk="1" hangingPunct="1">
              <a:buClrTx/>
            </a:pPr>
            <a:endParaRPr lang="en-GB" altLang="en-US" sz="3200" u="sng" dirty="0"/>
          </a:p>
          <a:p>
            <a:pPr eaLnBrk="1" hangingPunct="1">
              <a:buClrTx/>
            </a:pPr>
            <a:endParaRPr lang="en-GB" altLang="en-US" sz="3200" u="sng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28688" y="2214563"/>
            <a:ext cx="7429500" cy="3846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Can you use the letters to make the words:  is  that  had  went</a:t>
            </a: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endParaRPr lang="en-GB" sz="1600" dirty="0">
              <a:effectLst>
                <a:outerShdw blurRad="38100" dist="38100" dir="2700000" algn="tl">
                  <a:srgbClr val="C0C0C0"/>
                </a:outerShdw>
              </a:effectLst>
              <a:latin typeface="Arial Black" pitchFamily="34" charset="0"/>
            </a:endParaRP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b="1" dirty="0"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		</a:t>
            </a:r>
            <a:r>
              <a:rPr lang="en-GB" sz="4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A	  </a:t>
            </a:r>
            <a:r>
              <a:rPr lang="en-GB" sz="4400" b="1" dirty="0">
                <a:solidFill>
                  <a:srgbClr val="CCFF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S</a:t>
            </a:r>
            <a:r>
              <a:rPr lang="en-GB" sz="4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		T</a:t>
            </a:r>
            <a:endParaRPr lang="en-GB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Rockwell Extra Bold" pitchFamily="18" charset="0"/>
            </a:endParaRP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4400" b="1" dirty="0">
                <a:solidFill>
                  <a:srgbClr val="CCFF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D</a:t>
            </a: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	</a:t>
            </a:r>
            <a:r>
              <a:rPr lang="en-GB" sz="4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H</a:t>
            </a: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	</a:t>
            </a:r>
            <a:r>
              <a:rPr lang="en-GB" sz="4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I		</a:t>
            </a:r>
            <a:r>
              <a:rPr lang="en-GB" sz="4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Y</a:t>
            </a: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</a:t>
            </a: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</a:t>
            </a:r>
            <a:r>
              <a:rPr lang="en-GB" sz="4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A		E</a:t>
            </a: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          </a:t>
            </a:r>
            <a:r>
              <a:rPr lang="en-GB" sz="4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W</a:t>
            </a:r>
            <a:endParaRPr lang="en-GB" sz="16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971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4000" smtClean="0"/>
              <a:t>3. Examples of some teaching methods:</a:t>
            </a:r>
          </a:p>
        </p:txBody>
      </p:sp>
      <p:sp>
        <p:nvSpPr>
          <p:cNvPr id="19459" name="Rectangle 3"/>
          <p:cNvSpPr txBox="1">
            <a:spLocks noChangeArrowheads="1"/>
          </p:cNvSpPr>
          <p:nvPr/>
        </p:nvSpPr>
        <p:spPr bwMode="auto">
          <a:xfrm>
            <a:off x="444732" y="1820068"/>
            <a:ext cx="8255000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D2CB6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5A39D"/>
              </a:buClr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buClrTx/>
            </a:pPr>
            <a:r>
              <a:rPr lang="en-GB" altLang="en-US" sz="3200" u="sng" dirty="0"/>
              <a:t>Jumbled Letters Activity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400" dirty="0"/>
              <a:t>	Can you find these words below?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400" dirty="0"/>
              <a:t>	is	      that		had	    went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endParaRPr lang="en-GB" altLang="en-US" sz="2400" dirty="0"/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		W		D	         A T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   I			 N  E		H	       T   H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S   	        		   T		A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	T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    A	H  T			T  W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				    N	E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endParaRPr lang="en-GB" altLang="en-US" sz="2400" dirty="0"/>
          </a:p>
        </p:txBody>
      </p:sp>
      <p:grpSp>
        <p:nvGrpSpPr>
          <p:cNvPr id="19460" name="Group 20"/>
          <p:cNvGrpSpPr>
            <a:grpSpLocks/>
          </p:cNvGrpSpPr>
          <p:nvPr/>
        </p:nvGrpSpPr>
        <p:grpSpPr bwMode="auto">
          <a:xfrm>
            <a:off x="684213" y="3284538"/>
            <a:ext cx="6346825" cy="2643187"/>
            <a:chOff x="1393006" y="2857496"/>
            <a:chExt cx="6346076" cy="2643206"/>
          </a:xfrm>
        </p:grpSpPr>
        <p:sp>
          <p:nvSpPr>
            <p:cNvPr id="19461" name="Oval 21"/>
            <p:cNvSpPr>
              <a:spLocks noChangeArrowheads="1"/>
            </p:cNvSpPr>
            <p:nvPr/>
          </p:nvSpPr>
          <p:spPr bwMode="auto">
            <a:xfrm>
              <a:off x="1393006" y="3214686"/>
              <a:ext cx="851303" cy="1143008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2" name="Oval 22"/>
            <p:cNvSpPr>
              <a:spLocks noChangeArrowheads="1"/>
            </p:cNvSpPr>
            <p:nvPr/>
          </p:nvSpPr>
          <p:spPr bwMode="auto">
            <a:xfrm>
              <a:off x="2095480" y="4000504"/>
              <a:ext cx="1779997" cy="1214446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3" name="Oval 23"/>
            <p:cNvSpPr>
              <a:spLocks noChangeArrowheads="1"/>
            </p:cNvSpPr>
            <p:nvPr/>
          </p:nvSpPr>
          <p:spPr bwMode="auto">
            <a:xfrm>
              <a:off x="3667116" y="3000372"/>
              <a:ext cx="928694" cy="1285884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4" name="Oval 24"/>
            <p:cNvSpPr>
              <a:spLocks noChangeArrowheads="1"/>
            </p:cNvSpPr>
            <p:nvPr/>
          </p:nvSpPr>
          <p:spPr bwMode="auto">
            <a:xfrm>
              <a:off x="5381628" y="2857496"/>
              <a:ext cx="928694" cy="1428760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5" name="Oval 25"/>
            <p:cNvSpPr>
              <a:spLocks noChangeArrowheads="1"/>
            </p:cNvSpPr>
            <p:nvPr/>
          </p:nvSpPr>
          <p:spPr bwMode="auto">
            <a:xfrm>
              <a:off x="5310190" y="4357694"/>
              <a:ext cx="2089562" cy="1143008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6" name="Oval 26"/>
            <p:cNvSpPr>
              <a:spLocks noChangeArrowheads="1"/>
            </p:cNvSpPr>
            <p:nvPr/>
          </p:nvSpPr>
          <p:spPr bwMode="auto">
            <a:xfrm>
              <a:off x="6810388" y="2857496"/>
              <a:ext cx="928694" cy="1357322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77582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0040" y="549275"/>
            <a:ext cx="7772400" cy="1008063"/>
          </a:xfrm>
        </p:spPr>
        <p:txBody>
          <a:bodyPr/>
          <a:lstStyle/>
          <a:p>
            <a:pPr algn="l" fontAlgn="auto">
              <a:spcAft>
                <a:spcPts val="0"/>
              </a:spcAft>
              <a:defRPr/>
            </a:pPr>
            <a:r>
              <a:rPr lang="en-GB" altLang="en-US" sz="4000" dirty="0" smtClean="0">
                <a:latin typeface="Arial" pitchFamily="34" charset="0"/>
                <a:cs typeface="Arial" pitchFamily="34" charset="0"/>
              </a:rPr>
              <a:t>Points to remember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528" y="1773238"/>
            <a:ext cx="7772400" cy="4114800"/>
          </a:xfrm>
        </p:spPr>
        <p:txBody>
          <a:bodyPr/>
          <a:lstStyle/>
          <a:p>
            <a:r>
              <a:rPr lang="en-GB" altLang="en-US" sz="2800" dirty="0" smtClean="0">
                <a:latin typeface="Arial" pitchFamily="34" charset="0"/>
                <a:cs typeface="Arial" pitchFamily="34" charset="0"/>
              </a:rPr>
              <a:t>Make sure the pace is good- keep things flowing</a:t>
            </a:r>
          </a:p>
          <a:p>
            <a:r>
              <a:rPr lang="en-GB" altLang="en-US" sz="2800" dirty="0" smtClean="0">
                <a:latin typeface="Arial" pitchFamily="34" charset="0"/>
                <a:cs typeface="Arial" pitchFamily="34" charset="0"/>
              </a:rPr>
              <a:t>Include pointing, to signal the pupil’s turn</a:t>
            </a:r>
          </a:p>
          <a:p>
            <a:r>
              <a:rPr lang="en-GB" altLang="en-US" sz="2800" dirty="0" smtClean="0">
                <a:latin typeface="Arial" pitchFamily="34" charset="0"/>
                <a:cs typeface="Arial" pitchFamily="34" charset="0"/>
              </a:rPr>
              <a:t>Include intonation</a:t>
            </a:r>
          </a:p>
          <a:p>
            <a:r>
              <a:rPr lang="en-GB" altLang="en-US" sz="2800" dirty="0" smtClean="0">
                <a:latin typeface="Arial" pitchFamily="34" charset="0"/>
                <a:cs typeface="Arial" pitchFamily="34" charset="0"/>
              </a:rPr>
              <a:t>Praise must be immediate, specific, positive</a:t>
            </a:r>
          </a:p>
          <a:p>
            <a:r>
              <a:rPr lang="en-GB" altLang="en-US" sz="2800" dirty="0" smtClean="0">
                <a:latin typeface="Arial" pitchFamily="34" charset="0"/>
                <a:cs typeface="Arial" pitchFamily="34" charset="0"/>
              </a:rPr>
              <a:t>Avoid word-building- just give the sight word</a:t>
            </a:r>
          </a:p>
        </p:txBody>
      </p:sp>
    </p:spTree>
    <p:extLst>
      <p:ext uri="{BB962C8B-B14F-4D97-AF65-F5344CB8AC3E}">
        <p14:creationId xmlns:p14="http://schemas.microsoft.com/office/powerpoint/2010/main" val="16184279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b="1" dirty="0" smtClean="0"/>
              <a:t>Step 4 –</a:t>
            </a:r>
            <a:r>
              <a:rPr lang="en-GB" altLang="en-US" sz="3200" dirty="0" smtClean="0"/>
              <a:t> Monitoring Performance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628800"/>
            <a:ext cx="7632700" cy="4968875"/>
          </a:xfrm>
        </p:spPr>
        <p:txBody>
          <a:bodyPr/>
          <a:lstStyle/>
          <a:p>
            <a:pPr eaLnBrk="1" hangingPunct="1"/>
            <a:r>
              <a:rPr lang="en-GB" altLang="en-US" dirty="0" smtClean="0"/>
              <a:t>Using a Probe sheet</a:t>
            </a:r>
          </a:p>
          <a:p>
            <a:pPr eaLnBrk="1" hangingPunct="1"/>
            <a:r>
              <a:rPr lang="en-GB" altLang="en-US" dirty="0" smtClean="0"/>
              <a:t>What is a probe sheet? </a:t>
            </a:r>
          </a:p>
          <a:p>
            <a:pPr eaLnBrk="1" hangingPunct="1"/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34187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/>
          <p:cNvSpPr>
            <a:spLocks/>
          </p:cNvSpPr>
          <p:nvPr/>
        </p:nvSpPr>
        <p:spPr bwMode="auto">
          <a:xfrm>
            <a:off x="1258888" y="584200"/>
            <a:ext cx="68961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1275" bIns="0" anchor="b"/>
          <a:lstStyle>
            <a:lvl1pPr marL="41275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u="sng"/>
              <a:t>Basic ‘Probe’ sheet</a:t>
            </a:r>
          </a:p>
        </p:txBody>
      </p:sp>
      <p:grpSp>
        <p:nvGrpSpPr>
          <p:cNvPr id="18435" name="Group 2"/>
          <p:cNvGrpSpPr>
            <a:grpSpLocks/>
          </p:cNvGrpSpPr>
          <p:nvPr/>
        </p:nvGrpSpPr>
        <p:grpSpPr bwMode="auto">
          <a:xfrm>
            <a:off x="685800" y="1219200"/>
            <a:ext cx="3200400" cy="4572000"/>
            <a:chOff x="0" y="0"/>
            <a:chExt cx="2016" cy="2880"/>
          </a:xfrm>
        </p:grpSpPr>
        <p:sp>
          <p:nvSpPr>
            <p:cNvPr id="18437" name="Rectangle 3"/>
            <p:cNvSpPr>
              <a:spLocks/>
            </p:cNvSpPr>
            <p:nvPr/>
          </p:nvSpPr>
          <p:spPr bwMode="auto">
            <a:xfrm>
              <a:off x="0" y="0"/>
              <a:ext cx="2016" cy="2880"/>
            </a:xfrm>
            <a:prstGeom prst="rect">
              <a:avLst/>
            </a:prstGeom>
            <a:solidFill>
              <a:srgbClr val="F8F8F8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ts val="7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•"/>
                <a:defRPr sz="28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1pPr>
              <a:lvl2pPr marL="742950" indent="-285750">
                <a:spcBef>
                  <a:spcPts val="6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–"/>
                <a:defRPr sz="24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•"/>
                <a:defRPr sz="20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–"/>
                <a:defRPr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4pPr>
              <a:lvl5pPr marL="2057400" indent="-228600">
                <a:spcBef>
                  <a:spcPts val="4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GB" altLang="en-US" sz="120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endParaRPr>
            </a:p>
          </p:txBody>
        </p:sp>
        <p:grpSp>
          <p:nvGrpSpPr>
            <p:cNvPr id="18438" name="Group 4"/>
            <p:cNvGrpSpPr>
              <a:grpSpLocks/>
            </p:cNvGrpSpPr>
            <p:nvPr/>
          </p:nvGrpSpPr>
          <p:grpSpPr bwMode="auto">
            <a:xfrm>
              <a:off x="240" y="360"/>
              <a:ext cx="1530" cy="2314"/>
              <a:chOff x="0" y="0"/>
              <a:chExt cx="1530" cy="2314"/>
            </a:xfrm>
          </p:grpSpPr>
          <p:sp>
            <p:nvSpPr>
              <p:cNvPr id="18443" name="Rectangle 5"/>
              <p:cNvSpPr>
                <a:spLocks/>
              </p:cNvSpPr>
              <p:nvPr/>
            </p:nvSpPr>
            <p:spPr bwMode="auto">
              <a:xfrm>
                <a:off x="0" y="0"/>
                <a:ext cx="1530" cy="2314"/>
              </a:xfrm>
              <a:prstGeom prst="rect">
                <a:avLst/>
              </a:prstGeom>
              <a:solidFill>
                <a:srgbClr val="F8F8F8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8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1pPr>
                <a:lvl2pPr marL="742950" indent="-285750"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 sz="24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0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GB" altLang="en-US" sz="1200">
                  <a:solidFill>
                    <a:srgbClr val="000000"/>
                  </a:solidFill>
                  <a:latin typeface="Times New Roman" pitchFamily="18" charset="0"/>
                  <a:sym typeface="Times New Roman" pitchFamily="18" charset="0"/>
                </a:endParaRPr>
              </a:p>
            </p:txBody>
          </p:sp>
          <p:sp>
            <p:nvSpPr>
              <p:cNvPr id="18444" name="Line 6"/>
              <p:cNvSpPr>
                <a:spLocks noChangeShapeType="1"/>
              </p:cNvSpPr>
              <p:nvPr/>
            </p:nvSpPr>
            <p:spPr bwMode="auto">
              <a:xfrm>
                <a:off x="0" y="1132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5" name="Line 7"/>
              <p:cNvSpPr>
                <a:spLocks noChangeShapeType="1"/>
              </p:cNvSpPr>
              <p:nvPr/>
            </p:nvSpPr>
            <p:spPr bwMode="auto">
              <a:xfrm>
                <a:off x="0" y="1427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6" name="Line 8"/>
              <p:cNvSpPr>
                <a:spLocks noChangeShapeType="1"/>
              </p:cNvSpPr>
              <p:nvPr/>
            </p:nvSpPr>
            <p:spPr bwMode="auto">
              <a:xfrm>
                <a:off x="0" y="837"/>
                <a:ext cx="153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7" name="Line 9"/>
              <p:cNvSpPr>
                <a:spLocks noChangeShapeType="1"/>
              </p:cNvSpPr>
              <p:nvPr/>
            </p:nvSpPr>
            <p:spPr bwMode="auto">
              <a:xfrm>
                <a:off x="0" y="541"/>
                <a:ext cx="153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8" name="Line 10"/>
              <p:cNvSpPr>
                <a:spLocks noChangeShapeType="1"/>
              </p:cNvSpPr>
              <p:nvPr/>
            </p:nvSpPr>
            <p:spPr bwMode="auto">
              <a:xfrm>
                <a:off x="0" y="1723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9" name="Line 11"/>
              <p:cNvSpPr>
                <a:spLocks noChangeShapeType="1"/>
              </p:cNvSpPr>
              <p:nvPr/>
            </p:nvSpPr>
            <p:spPr bwMode="auto">
              <a:xfrm>
                <a:off x="0" y="2018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0" name="Line 12"/>
              <p:cNvSpPr>
                <a:spLocks noChangeShapeType="1"/>
              </p:cNvSpPr>
              <p:nvPr/>
            </p:nvSpPr>
            <p:spPr bwMode="auto">
              <a:xfrm>
                <a:off x="0" y="246"/>
                <a:ext cx="153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1" name="Line 13"/>
              <p:cNvSpPr>
                <a:spLocks noChangeShapeType="1"/>
              </p:cNvSpPr>
              <p:nvPr/>
            </p:nvSpPr>
            <p:spPr bwMode="auto">
              <a:xfrm>
                <a:off x="278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2" name="Line 14"/>
              <p:cNvSpPr>
                <a:spLocks noChangeShapeType="1"/>
              </p:cNvSpPr>
              <p:nvPr/>
            </p:nvSpPr>
            <p:spPr bwMode="auto">
              <a:xfrm>
                <a:off x="602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3" name="Line 15"/>
              <p:cNvSpPr>
                <a:spLocks noChangeShapeType="1"/>
              </p:cNvSpPr>
              <p:nvPr/>
            </p:nvSpPr>
            <p:spPr bwMode="auto">
              <a:xfrm>
                <a:off x="927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4" name="Line 16"/>
              <p:cNvSpPr>
                <a:spLocks noChangeShapeType="1"/>
              </p:cNvSpPr>
              <p:nvPr/>
            </p:nvSpPr>
            <p:spPr bwMode="auto">
              <a:xfrm>
                <a:off x="1205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8439" name="Line 17"/>
            <p:cNvSpPr>
              <a:spLocks noChangeShapeType="1"/>
            </p:cNvSpPr>
            <p:nvPr/>
          </p:nvSpPr>
          <p:spPr bwMode="auto">
            <a:xfrm>
              <a:off x="240" y="308"/>
              <a:ext cx="15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18440" name="Group 18"/>
            <p:cNvGrpSpPr>
              <a:grpSpLocks/>
            </p:cNvGrpSpPr>
            <p:nvPr/>
          </p:nvGrpSpPr>
          <p:grpSpPr bwMode="auto">
            <a:xfrm>
              <a:off x="240" y="102"/>
              <a:ext cx="1488" cy="168"/>
              <a:chOff x="0" y="0"/>
              <a:chExt cx="1488" cy="168"/>
            </a:xfrm>
          </p:grpSpPr>
          <p:sp>
            <p:nvSpPr>
              <p:cNvPr id="18441" name="Rectangle 19"/>
              <p:cNvSpPr>
                <a:spLocks/>
              </p:cNvSpPr>
              <p:nvPr/>
            </p:nvSpPr>
            <p:spPr bwMode="auto">
              <a:xfrm>
                <a:off x="0" y="0"/>
                <a:ext cx="1488" cy="168"/>
              </a:xfrm>
              <a:prstGeom prst="rect">
                <a:avLst/>
              </a:prstGeom>
              <a:solidFill>
                <a:srgbClr val="F8F8F8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8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1pPr>
                <a:lvl2pPr marL="742950" indent="-285750"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 sz="24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0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GB" altLang="en-US" sz="1200">
                  <a:solidFill>
                    <a:srgbClr val="000000"/>
                  </a:solidFill>
                  <a:latin typeface="Times New Roman" pitchFamily="18" charset="0"/>
                  <a:sym typeface="Times New Roman" pitchFamily="18" charset="0"/>
                </a:endParaRPr>
              </a:p>
            </p:txBody>
          </p:sp>
          <p:sp>
            <p:nvSpPr>
              <p:cNvPr id="18442" name="Rectangle 20"/>
              <p:cNvSpPr>
                <a:spLocks/>
              </p:cNvSpPr>
              <p:nvPr/>
            </p:nvSpPr>
            <p:spPr bwMode="auto">
              <a:xfrm>
                <a:off x="0" y="0"/>
                <a:ext cx="1488" cy="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40639" bIns="0"/>
              <a:lstStyle>
                <a:lvl1pPr marL="39688"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8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1pPr>
                <a:lvl2pPr marL="742950" indent="-285750"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 sz="24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0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9pPr>
              </a:lstStyle>
              <a:p>
                <a:pPr eaLnBrk="1" hangingPunct="1">
                  <a:spcBef>
                    <a:spcPts val="550"/>
                  </a:spcBef>
                  <a:buClrTx/>
                  <a:buSzTx/>
                  <a:buFontTx/>
                  <a:buNone/>
                </a:pPr>
                <a:r>
                  <a:rPr lang="en-US" altLang="en-US" sz="1000">
                    <a:latin typeface="Arial" charset="0"/>
                    <a:cs typeface="Arial" charset="0"/>
                    <a:sym typeface="Arial" charset="0"/>
                  </a:rPr>
                  <a:t>Name                                   aim   rate</a:t>
                </a:r>
              </a:p>
            </p:txBody>
          </p:sp>
        </p:grpSp>
      </p:grpSp>
      <p:sp>
        <p:nvSpPr>
          <p:cNvPr id="18436" name="Rectangle 21"/>
          <p:cNvSpPr>
            <a:spLocks/>
          </p:cNvSpPr>
          <p:nvPr/>
        </p:nvSpPr>
        <p:spPr bwMode="auto">
          <a:xfrm>
            <a:off x="3962400" y="1066800"/>
            <a:ext cx="44958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charset="0"/>
              <a:buChar char="•"/>
            </a:pPr>
            <a:endParaRPr lang="en-US" altLang="en-US" sz="2000" dirty="0">
              <a:cs typeface="Times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The Probe sheet is the stimulus for a short timed test (a ‘Probe’) usually for 1 minute in duration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A sheet with target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words in </a:t>
            </a:r>
            <a:r>
              <a:rPr lang="en-US" altLang="en-US" sz="1800" dirty="0" err="1"/>
              <a:t>randomised</a:t>
            </a:r>
            <a:r>
              <a:rPr lang="en-US" altLang="en-US" sz="1800" dirty="0"/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order is used for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reading – ‘</a:t>
            </a:r>
            <a:r>
              <a:rPr lang="en-US" altLang="en-US" sz="1800" u="sng" dirty="0"/>
              <a:t>see to say</a:t>
            </a:r>
            <a:r>
              <a:rPr lang="en-US" altLang="en-US" sz="1800" u="sng" dirty="0" smtClean="0"/>
              <a:t>’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u="sng" dirty="0"/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GB" altLang="en-US" sz="1800" dirty="0"/>
              <a:t>The child is timed and reads as many words as they can in 1 minute (go back to top of probe if child reads all the words in under a minute).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u="sng" dirty="0"/>
          </a:p>
        </p:txBody>
      </p:sp>
    </p:spTree>
    <p:extLst>
      <p:ext uri="{BB962C8B-B14F-4D97-AF65-F5344CB8AC3E}">
        <p14:creationId xmlns:p14="http://schemas.microsoft.com/office/powerpoint/2010/main" val="1894867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/>
          <p:cNvSpPr>
            <a:spLocks noGrp="1" noChangeArrowheads="1"/>
          </p:cNvSpPr>
          <p:nvPr>
            <p:ph type="title"/>
          </p:nvPr>
        </p:nvSpPr>
        <p:spPr>
          <a:xfrm>
            <a:off x="1157288" y="0"/>
            <a:ext cx="6870700" cy="1412875"/>
          </a:xfrm>
        </p:spPr>
        <p:txBody>
          <a:bodyPr rIns="31750" anchor="b"/>
          <a:lstStyle/>
          <a:p>
            <a:pPr indent="0" algn="ctr" eaLnBrk="1" hangingPunct="1"/>
            <a:r>
              <a:rPr lang="en-US" altLang="en-US" sz="3200" u="sng" dirty="0" smtClean="0"/>
              <a:t>Types of probe:</a:t>
            </a: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330325" y="1927225"/>
            <a:ext cx="5257800" cy="4930775"/>
          </a:xfrm>
        </p:spPr>
        <p:txBody>
          <a:bodyPr rIns="31750"/>
          <a:lstStyle/>
          <a:p>
            <a:pPr marL="423863" indent="-384175" eaLnBrk="1" hangingPunct="1">
              <a:lnSpc>
                <a:spcPct val="90000"/>
              </a:lnSpc>
            </a:pPr>
            <a:r>
              <a:rPr lang="en-US" altLang="en-US" sz="2800" b="1" dirty="0" smtClean="0"/>
              <a:t>See to say</a:t>
            </a:r>
            <a:r>
              <a:rPr lang="en-US" altLang="en-US" sz="2800" dirty="0" smtClean="0"/>
              <a:t> e.g. letter, number, sight word recognition</a:t>
            </a:r>
          </a:p>
          <a:p>
            <a:pPr marL="423863" indent="-384175" eaLnBrk="1" hangingPunct="1">
              <a:lnSpc>
                <a:spcPct val="90000"/>
              </a:lnSpc>
            </a:pPr>
            <a:endParaRPr lang="en-US" altLang="en-US" sz="2800" dirty="0" smtClean="0"/>
          </a:p>
          <a:p>
            <a:pPr marL="423863" indent="-384175" eaLnBrk="1" hangingPunct="1">
              <a:lnSpc>
                <a:spcPct val="90000"/>
              </a:lnSpc>
            </a:pPr>
            <a:r>
              <a:rPr lang="en-US" altLang="en-US" sz="2800" b="1" dirty="0" smtClean="0"/>
              <a:t>Hear to write</a:t>
            </a:r>
            <a:r>
              <a:rPr lang="en-US" altLang="en-US" sz="2800" dirty="0" smtClean="0"/>
              <a:t> e.g. letter sounds, numbers, spellings</a:t>
            </a:r>
          </a:p>
          <a:p>
            <a:pPr marL="423863" indent="-384175" eaLnBrk="1" hangingPunct="1">
              <a:lnSpc>
                <a:spcPct val="90000"/>
              </a:lnSpc>
            </a:pPr>
            <a:endParaRPr lang="en-US" altLang="en-US" sz="2800" dirty="0" smtClean="0"/>
          </a:p>
          <a:p>
            <a:pPr marL="423863" indent="-384175" eaLnBrk="1" hangingPunct="1">
              <a:lnSpc>
                <a:spcPct val="90000"/>
              </a:lnSpc>
            </a:pPr>
            <a:r>
              <a:rPr lang="en-US" altLang="en-US" sz="2800" b="1" dirty="0" smtClean="0"/>
              <a:t>See to write</a:t>
            </a:r>
            <a:r>
              <a:rPr lang="en-US" altLang="en-US" sz="2800" dirty="0" smtClean="0"/>
              <a:t> e.g. 3 + 6 =</a:t>
            </a:r>
          </a:p>
        </p:txBody>
      </p:sp>
    </p:spTree>
    <p:extLst>
      <p:ext uri="{BB962C8B-B14F-4D97-AF65-F5344CB8AC3E}">
        <p14:creationId xmlns:p14="http://schemas.microsoft.com/office/powerpoint/2010/main" val="3734703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9" y="259904"/>
            <a:ext cx="8353176" cy="864840"/>
          </a:xfrm>
        </p:spPr>
        <p:txBody>
          <a:bodyPr/>
          <a:lstStyle/>
          <a:p>
            <a:pPr algn="ctr" eaLnBrk="1" hangingPunct="1"/>
            <a:r>
              <a:rPr lang="en-GB" altLang="en-US" sz="4000" dirty="0" smtClean="0">
                <a:latin typeface="Arial" charset="0"/>
              </a:rPr>
              <a:t>Designing Probes</a:t>
            </a:r>
          </a:p>
        </p:txBody>
      </p:sp>
      <p:sp>
        <p:nvSpPr>
          <p:cNvPr id="9219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755576" y="1600200"/>
            <a:ext cx="3810000" cy="45307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GB" altLang="en-US" sz="2400" b="1" dirty="0" smtClean="0"/>
              <a:t>	</a:t>
            </a:r>
            <a:r>
              <a:rPr lang="en-GB" altLang="en-US" sz="2400" b="1" u="sng" dirty="0" smtClean="0"/>
              <a:t>High Frequency</a:t>
            </a:r>
          </a:p>
          <a:p>
            <a:pPr eaLnBrk="1" hangingPunct="1"/>
            <a:r>
              <a:rPr lang="en-GB" altLang="en-US" sz="2400" dirty="0" smtClean="0"/>
              <a:t>Progression through high frequency </a:t>
            </a:r>
            <a:r>
              <a:rPr lang="en-GB" altLang="en-US" sz="2400" dirty="0" err="1" smtClean="0"/>
              <a:t>sightwords</a:t>
            </a:r>
            <a:r>
              <a:rPr lang="en-GB" altLang="en-US" sz="2400" dirty="0" smtClean="0"/>
              <a:t> listed in ‘Letters and Sounds’</a:t>
            </a:r>
          </a:p>
        </p:txBody>
      </p:sp>
      <p:sp>
        <p:nvSpPr>
          <p:cNvPr id="9220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4644008" y="1600200"/>
            <a:ext cx="3810000" cy="45307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GB" altLang="en-US" sz="2400" b="1" dirty="0" smtClean="0"/>
              <a:t>	</a:t>
            </a:r>
            <a:r>
              <a:rPr lang="en-GB" altLang="en-US" sz="2400" b="1" u="sng" dirty="0" smtClean="0"/>
              <a:t>Phonic Development</a:t>
            </a:r>
          </a:p>
          <a:p>
            <a:pPr eaLnBrk="1" hangingPunct="1"/>
            <a:r>
              <a:rPr lang="en-GB" altLang="en-US" sz="2400" dirty="0" smtClean="0"/>
              <a:t>The content of the probe is rule bound i.e. the probe should include as many examples as possible to test the rule</a:t>
            </a:r>
          </a:p>
        </p:txBody>
      </p:sp>
    </p:spTree>
    <p:extLst>
      <p:ext uri="{BB962C8B-B14F-4D97-AF65-F5344CB8AC3E}">
        <p14:creationId xmlns:p14="http://schemas.microsoft.com/office/powerpoint/2010/main" val="3997461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187450" y="1052513"/>
            <a:ext cx="7086600" cy="731837"/>
          </a:xfrm>
        </p:spPr>
        <p:txBody>
          <a:bodyPr rIns="31750" anchor="b"/>
          <a:lstStyle/>
          <a:p>
            <a:pPr indent="0" algn="l" eaLnBrk="1" hangingPunct="1"/>
            <a:r>
              <a:rPr lang="en-US" altLang="en-US" u="sng" dirty="0" smtClean="0"/>
              <a:t>PT Probe Generator</a:t>
            </a: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259632" y="1268760"/>
            <a:ext cx="7416800" cy="4525963"/>
          </a:xfrm>
        </p:spPr>
        <p:txBody>
          <a:bodyPr rIns="31750"/>
          <a:lstStyle/>
          <a:p>
            <a:pPr marL="423863" indent="-384175" eaLnBrk="1" hangingPunct="1"/>
            <a:endParaRPr lang="en-US" altLang="en-US" dirty="0" smtClean="0"/>
          </a:p>
          <a:p>
            <a:pPr marL="423863" indent="-384175" eaLnBrk="1" hangingPunct="1"/>
            <a:endParaRPr lang="en-US" altLang="en-US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r>
              <a:rPr lang="en-US" altLang="en-US" dirty="0">
                <a:hlinkClick r:id="rId3"/>
              </a:rPr>
              <a:t>http://</a:t>
            </a:r>
            <a:r>
              <a:rPr lang="en-US" altLang="en-US" dirty="0" smtClean="0">
                <a:hlinkClick r:id="rId3"/>
              </a:rPr>
              <a:t>johnandgwyn.co.uk/probe.html</a:t>
            </a:r>
            <a:endParaRPr lang="en-US" altLang="en-US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dirty="0" smtClean="0"/>
          </a:p>
          <a:p>
            <a:pPr marL="423863" indent="-384175" algn="ctr" eaLnBrk="1" hangingPunct="1">
              <a:buFont typeface="Century Gothic" pitchFamily="34" charset="0"/>
              <a:buNone/>
            </a:pP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529849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947738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4000" b="1" dirty="0" smtClean="0"/>
              <a:t>Step 5-</a:t>
            </a:r>
            <a:r>
              <a:rPr lang="en-GB" altLang="en-US" sz="4000" dirty="0" smtClean="0"/>
              <a:t> Chart Results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268413"/>
            <a:ext cx="8642350" cy="48958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Chart results with the child – helps to motivate the child &amp; increase confidence.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Helps teacher to see which teaching methods are most effective for particular pupil (record on chart).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Record any changes made to task.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Record the number of correct AND incorrect words.</a:t>
            </a:r>
          </a:p>
          <a:p>
            <a:pPr eaLnBrk="1" hangingPunct="1">
              <a:lnSpc>
                <a:spcPct val="80000"/>
              </a:lnSpc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If you are unable to do the probe on a particular day, that line is left blank.</a:t>
            </a:r>
          </a:p>
        </p:txBody>
      </p:sp>
    </p:spTree>
    <p:extLst>
      <p:ext uri="{BB962C8B-B14F-4D97-AF65-F5344CB8AC3E}">
        <p14:creationId xmlns:p14="http://schemas.microsoft.com/office/powerpoint/2010/main" val="165723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611188" y="188913"/>
            <a:ext cx="7772400" cy="1143000"/>
          </a:xfrm>
        </p:spPr>
        <p:txBody>
          <a:bodyPr/>
          <a:lstStyle/>
          <a:p>
            <a:pPr algn="l" fontAlgn="auto">
              <a:spcAft>
                <a:spcPts val="0"/>
              </a:spcAft>
              <a:defRPr/>
            </a:pPr>
            <a:r>
              <a:rPr lang="en-GB" altLang="en-US" sz="4000" dirty="0" smtClean="0">
                <a:latin typeface="Arial" pitchFamily="34" charset="0"/>
                <a:cs typeface="Arial" pitchFamily="34" charset="0"/>
              </a:rPr>
              <a:t> 5. Recording</a:t>
            </a:r>
          </a:p>
        </p:txBody>
      </p:sp>
      <p:sp>
        <p:nvSpPr>
          <p:cNvPr id="25603" name="Rectangle 2"/>
          <p:cNvSpPr>
            <a:spLocks noGrp="1" noChangeArrowheads="1"/>
          </p:cNvSpPr>
          <p:nvPr>
            <p:ph idx="1"/>
          </p:nvPr>
        </p:nvSpPr>
        <p:spPr>
          <a:xfrm>
            <a:off x="395288" y="1196429"/>
            <a:ext cx="7632700" cy="49688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GB" altLang="en-US" sz="2000" dirty="0" smtClean="0">
                <a:latin typeface="Tahoma" pitchFamily="34" charset="0"/>
                <a:cs typeface="Arial" pitchFamily="34" charset="0"/>
              </a:rPr>
              <a:t>Pupil_______________</a:t>
            </a:r>
          </a:p>
          <a:p>
            <a:pPr>
              <a:lnSpc>
                <a:spcPct val="80000"/>
              </a:lnSpc>
            </a:pPr>
            <a:endParaRPr lang="en-GB" altLang="en-US" sz="2000" dirty="0" smtClean="0">
              <a:latin typeface="Tahoma" pitchFamily="34" charset="0"/>
              <a:cs typeface="Arial" pitchFamily="34" charset="0"/>
            </a:endParaRPr>
          </a:p>
          <a:p>
            <a:pPr>
              <a:lnSpc>
                <a:spcPct val="80000"/>
              </a:lnSpc>
            </a:pPr>
            <a:r>
              <a:rPr lang="en-GB" altLang="en-US" sz="2000" dirty="0" smtClean="0">
                <a:latin typeface="Tahoma" pitchFamily="34" charset="0"/>
                <a:cs typeface="Arial" pitchFamily="34" charset="0"/>
              </a:rPr>
              <a:t>Criterion:</a:t>
            </a:r>
          </a:p>
          <a:p>
            <a:pPr>
              <a:lnSpc>
                <a:spcPct val="80000"/>
              </a:lnSpc>
            </a:pPr>
            <a:r>
              <a:rPr lang="en-GB" altLang="en-US" dirty="0" smtClean="0">
                <a:latin typeface="Tahoma" pitchFamily="34" charset="0"/>
                <a:cs typeface="Arial" pitchFamily="34" charset="0"/>
              </a:rPr>
              <a:t>_____ correct with </a:t>
            </a:r>
          </a:p>
          <a:p>
            <a:pPr>
              <a:lnSpc>
                <a:spcPct val="80000"/>
              </a:lnSpc>
            </a:pPr>
            <a:r>
              <a:rPr lang="en-GB" altLang="en-US" dirty="0" smtClean="0">
                <a:latin typeface="Tahoma" pitchFamily="34" charset="0"/>
                <a:cs typeface="Arial" pitchFamily="34" charset="0"/>
              </a:rPr>
              <a:t>max ____errors</a:t>
            </a:r>
          </a:p>
          <a:p>
            <a:pPr>
              <a:lnSpc>
                <a:spcPct val="80000"/>
              </a:lnSpc>
            </a:pPr>
            <a:endParaRPr lang="en-GB" altLang="en-US" sz="2000" dirty="0" smtClean="0">
              <a:latin typeface="Tahoma" pitchFamily="34" charset="0"/>
              <a:cs typeface="Arial" pitchFamily="34" charset="0"/>
            </a:endParaRPr>
          </a:p>
          <a:p>
            <a:pPr>
              <a:lnSpc>
                <a:spcPct val="80000"/>
              </a:lnSpc>
            </a:pPr>
            <a:r>
              <a:rPr lang="en-GB" altLang="en-US" sz="2000" dirty="0" smtClean="0">
                <a:latin typeface="Tahoma" pitchFamily="34" charset="0"/>
                <a:cs typeface="Arial" pitchFamily="34" charset="0"/>
              </a:rPr>
              <a:t>Key:</a:t>
            </a:r>
          </a:p>
          <a:p>
            <a:pPr lvl="1">
              <a:lnSpc>
                <a:spcPct val="80000"/>
              </a:lnSpc>
            </a:pPr>
            <a:r>
              <a:rPr lang="en-GB" altLang="en-US" dirty="0" smtClean="0">
                <a:latin typeface="Tahoma" pitchFamily="34" charset="0"/>
                <a:cs typeface="Arial" pitchFamily="34" charset="0"/>
              </a:rPr>
              <a:t>Correct answers</a:t>
            </a:r>
          </a:p>
          <a:p>
            <a:pPr lvl="1">
              <a:lnSpc>
                <a:spcPct val="80000"/>
              </a:lnSpc>
            </a:pPr>
            <a:r>
              <a:rPr lang="en-GB" altLang="en-US" dirty="0" smtClean="0">
                <a:latin typeface="Tahoma" pitchFamily="34" charset="0"/>
                <a:cs typeface="Arial" pitchFamily="34" charset="0"/>
              </a:rPr>
              <a:t>Incorrect answers</a:t>
            </a:r>
          </a:p>
          <a:p>
            <a:pPr lvl="1">
              <a:lnSpc>
                <a:spcPct val="80000"/>
              </a:lnSpc>
            </a:pPr>
            <a:endParaRPr lang="en-GB" altLang="en-US" dirty="0" smtClean="0">
              <a:latin typeface="Tahoma" pitchFamily="34" charset="0"/>
              <a:cs typeface="Arial" pitchFamily="34" charset="0"/>
            </a:endParaRPr>
          </a:p>
          <a:p>
            <a:pPr lvl="1">
              <a:lnSpc>
                <a:spcPct val="80000"/>
              </a:lnSpc>
            </a:pPr>
            <a:endParaRPr lang="en-GB" altLang="en-US" dirty="0" smtClean="0">
              <a:latin typeface="Tahoma" pitchFamily="34" charset="0"/>
              <a:cs typeface="Arial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GB" altLang="en-US" sz="2000" dirty="0" smtClean="0">
                <a:latin typeface="Tahoma" pitchFamily="34" charset="0"/>
                <a:cs typeface="Arial" pitchFamily="34" charset="0"/>
              </a:rPr>
              <a:t>Remember: Do not join across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GB" altLang="en-US" sz="2000" dirty="0" smtClean="0">
                <a:latin typeface="Tahoma" pitchFamily="34" charset="0"/>
                <a:cs typeface="Arial" pitchFamily="34" charset="0"/>
              </a:rPr>
              <a:t>weekends or across days when a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GB" altLang="en-US" sz="2000" dirty="0" smtClean="0">
                <a:latin typeface="Tahoma" pitchFamily="34" charset="0"/>
                <a:cs typeface="Arial" pitchFamily="34" charset="0"/>
              </a:rPr>
              <a:t>pupil was not tested.</a:t>
            </a:r>
          </a:p>
        </p:txBody>
      </p:sp>
      <p:pic>
        <p:nvPicPr>
          <p:cNvPr id="25604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606" y="3429000"/>
            <a:ext cx="40957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1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1268413"/>
            <a:ext cx="3870325" cy="474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1671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7772400" cy="1143000"/>
          </a:xfrm>
        </p:spPr>
        <p:txBody>
          <a:bodyPr/>
          <a:lstStyle/>
          <a:p>
            <a:pPr algn="l" fontAlgn="auto">
              <a:spcAft>
                <a:spcPts val="0"/>
              </a:spcAft>
              <a:defRPr/>
            </a:pPr>
            <a:r>
              <a:rPr lang="en-GB" altLang="en-US" sz="4000" dirty="0" smtClean="0">
                <a:latin typeface="Arial" pitchFamily="34" charset="0"/>
                <a:cs typeface="Arial" pitchFamily="34" charset="0"/>
              </a:rPr>
              <a:t>5. Ratio charts 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412875"/>
            <a:ext cx="8424862" cy="4475163"/>
          </a:xfrm>
        </p:spPr>
        <p:txBody>
          <a:bodyPr rtlCol="0">
            <a:normAutofit lnSpcReduction="10000"/>
          </a:bodyPr>
          <a:lstStyle/>
          <a:p>
            <a:pPr marL="0" indent="0" fontAlgn="auto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en-GB" altLang="en-US" sz="2400" dirty="0" smtClean="0">
                <a:latin typeface="Tahoma" pitchFamily="34" charset="0"/>
                <a:cs typeface="Arial" pitchFamily="34" charset="0"/>
              </a:rPr>
              <a:t>  </a:t>
            </a:r>
            <a:r>
              <a:rPr lang="en-GB" altLang="en-US" sz="2400" u="sng" dirty="0" smtClean="0">
                <a:latin typeface="Arial" pitchFamily="34" charset="0"/>
                <a:cs typeface="Arial" pitchFamily="34" charset="0"/>
              </a:rPr>
              <a:t>The days the information is collected </a:t>
            </a: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This is shown on the </a:t>
            </a:r>
            <a:r>
              <a:rPr lang="en-GB" altLang="en-US" sz="2400" u="sng" dirty="0" smtClean="0">
                <a:solidFill>
                  <a:srgbClr val="33CC33"/>
                </a:solidFill>
                <a:latin typeface="Arial" pitchFamily="34" charset="0"/>
                <a:cs typeface="Arial" pitchFamily="34" charset="0"/>
              </a:rPr>
              <a:t>horizontal</a:t>
            </a:r>
            <a:r>
              <a:rPr lang="en-GB" altLang="en-US" sz="2400" dirty="0" smtClean="0">
                <a:solidFill>
                  <a:srgbClr val="00CC99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axis.</a:t>
            </a: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There is a line for each school day.</a:t>
            </a: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The result is filled in on the line (</a:t>
            </a:r>
            <a:r>
              <a:rPr lang="en-GB" altLang="en-US" sz="2400" dirty="0" smtClean="0">
                <a:solidFill>
                  <a:srgbClr val="33CC33"/>
                </a:solidFill>
                <a:latin typeface="Arial" pitchFamily="34" charset="0"/>
                <a:cs typeface="Arial" pitchFamily="34" charset="0"/>
              </a:rPr>
              <a:t>NOT</a:t>
            </a: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the space).</a:t>
            </a: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If you are unable to do the probe on a particular day, that line is left blank.</a:t>
            </a: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That day is known as a </a:t>
            </a:r>
            <a:r>
              <a:rPr lang="en-GB" alt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No Chance Day</a:t>
            </a: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.          </a:t>
            </a: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endParaRPr lang="en-GB" altLang="en-US" sz="2400" u="sng" dirty="0" smtClean="0">
              <a:latin typeface="Arial" pitchFamily="34" charset="0"/>
              <a:cs typeface="Arial" pitchFamily="34" charset="0"/>
            </a:endParaRP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en-GB" altLang="en-US" sz="2400" u="sng" dirty="0" smtClean="0">
                <a:latin typeface="Arial" pitchFamily="34" charset="0"/>
                <a:cs typeface="Arial" pitchFamily="34" charset="0"/>
              </a:rPr>
              <a:t>A description of the pupil’s performance </a:t>
            </a: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This is shown on the </a:t>
            </a:r>
            <a:r>
              <a:rPr lang="en-GB" altLang="en-US" sz="2400" u="sng" dirty="0" smtClean="0">
                <a:solidFill>
                  <a:srgbClr val="33CC33"/>
                </a:solidFill>
                <a:latin typeface="Arial" pitchFamily="34" charset="0"/>
                <a:cs typeface="Arial" pitchFamily="34" charset="0"/>
              </a:rPr>
              <a:t>vertical</a:t>
            </a: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axis.</a:t>
            </a: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It tells you the accuracy at which the pupil does the task.</a:t>
            </a:r>
          </a:p>
          <a:p>
            <a:pPr marL="179388" lvl="1" indent="0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This is expressed as a </a:t>
            </a:r>
            <a:r>
              <a:rPr lang="en-GB" altLang="en-US" sz="2400" i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rate</a:t>
            </a: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 measurement i.e. the number of responses per minute.</a:t>
            </a:r>
          </a:p>
        </p:txBody>
      </p:sp>
    </p:spTree>
    <p:extLst>
      <p:ext uri="{BB962C8B-B14F-4D97-AF65-F5344CB8AC3E}">
        <p14:creationId xmlns:p14="http://schemas.microsoft.com/office/powerpoint/2010/main" val="3916982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1116013" y="1268413"/>
            <a:ext cx="7696200" cy="5334000"/>
          </a:xfrm>
        </p:spPr>
        <p:txBody>
          <a:bodyPr rIns="31750"/>
          <a:lstStyle/>
          <a:p>
            <a:pPr marL="690563" indent="-609600" eaLnBrk="1" hangingPunct="1">
              <a:buFont typeface="Century Gothic" pitchFamily="34" charset="0"/>
              <a:buNone/>
            </a:pPr>
            <a:endParaRPr lang="en-US" altLang="en-US" sz="1400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2400" smtClean="0"/>
              <a:t>Suggested minimum Fluency Markers:</a:t>
            </a:r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600" smtClean="0">
                <a:latin typeface="ヒラギノ明朝 ProN W3" charset="0"/>
                <a:sym typeface="ヒラギノ明朝 ProN W3" charset="0"/>
              </a:rPr>
              <a:t>			</a:t>
            </a:r>
            <a:r>
              <a:rPr lang="en-US" altLang="en-US" sz="1800" smtClean="0"/>
              <a:t>Infant Pupils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=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40 correct per minute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		</a:t>
            </a:r>
            <a:r>
              <a:rPr lang="en-US" altLang="en-US" sz="1800" smtClean="0"/>
              <a:t>Junior Pupils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=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50 cpm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		</a:t>
            </a:r>
            <a:r>
              <a:rPr lang="en-US" altLang="en-US" sz="1800" smtClean="0"/>
              <a:t>Secondary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=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60 cpm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endParaRPr lang="en-US" altLang="en-US" sz="1600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2400" smtClean="0"/>
              <a:t>Suggested minimum </a:t>
            </a:r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2400" smtClean="0"/>
              <a:t>Accuracy Markers:</a:t>
            </a:r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/>
              <a:t>See-to-say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	</a:t>
            </a:r>
            <a:r>
              <a:rPr lang="en-US" altLang="en-US" sz="1800" smtClean="0"/>
              <a:t>=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3 or less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/>
              <a:t>MAINTENANCE- ACHIEVE THE TARGET FOR 3 </a:t>
            </a:r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/>
              <a:t>CONSECUTIVE DAYS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endParaRPr lang="en-US" altLang="en-US" smtClean="0"/>
          </a:p>
        </p:txBody>
      </p:sp>
      <p:sp>
        <p:nvSpPr>
          <p:cNvPr id="25603" name="Rectangle 2"/>
          <p:cNvSpPr>
            <a:spLocks/>
          </p:cNvSpPr>
          <p:nvPr/>
        </p:nvSpPr>
        <p:spPr bwMode="auto">
          <a:xfrm>
            <a:off x="1258888" y="2276475"/>
            <a:ext cx="144780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100"/>
              </a:spcBef>
              <a:buClrTx/>
              <a:buSzTx/>
              <a:buFontTx/>
              <a:buNone/>
            </a:pPr>
            <a:r>
              <a:rPr lang="en-US" altLang="en-US" sz="1800"/>
              <a:t>See-to-say</a:t>
            </a:r>
          </a:p>
        </p:txBody>
      </p:sp>
      <p:sp>
        <p:nvSpPr>
          <p:cNvPr id="25604" name="Rectangle 3"/>
          <p:cNvSpPr>
            <a:spLocks/>
          </p:cNvSpPr>
          <p:nvPr/>
        </p:nvSpPr>
        <p:spPr bwMode="auto">
          <a:xfrm>
            <a:off x="1157288" y="942975"/>
            <a:ext cx="68707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82550" bIns="0" anchor="b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u="sng"/>
              <a:t>Setting Aim Rates</a:t>
            </a:r>
          </a:p>
        </p:txBody>
      </p:sp>
      <p:sp>
        <p:nvSpPr>
          <p:cNvPr id="25605" name="AutoShape 4"/>
          <p:cNvSpPr>
            <a:spLocks/>
          </p:cNvSpPr>
          <p:nvPr/>
        </p:nvSpPr>
        <p:spPr bwMode="auto">
          <a:xfrm>
            <a:off x="2771775" y="2060575"/>
            <a:ext cx="144463" cy="8636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00"/>
              <a:gd name="T22" fmla="*/ 0 h 21600"/>
              <a:gd name="T23" fmla="*/ 21600 w 21600"/>
              <a:gd name="T24" fmla="*/ 21600 h 21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00" h="21600">
                <a:moveTo>
                  <a:pt x="21600" y="0"/>
                </a:moveTo>
                <a:cubicBezTo>
                  <a:pt x="15635" y="0"/>
                  <a:pt x="10800" y="806"/>
                  <a:pt x="10800" y="1800"/>
                </a:cubicBezTo>
                <a:lnTo>
                  <a:pt x="10800" y="9000"/>
                </a:lnTo>
                <a:cubicBezTo>
                  <a:pt x="10800" y="9994"/>
                  <a:pt x="5965" y="10800"/>
                  <a:pt x="0" y="10800"/>
                </a:cubicBezTo>
                <a:cubicBezTo>
                  <a:pt x="5965" y="10800"/>
                  <a:pt x="10800" y="11606"/>
                  <a:pt x="10800" y="12600"/>
                </a:cubicBezTo>
                <a:lnTo>
                  <a:pt x="10800" y="19800"/>
                </a:lnTo>
                <a:cubicBezTo>
                  <a:pt x="10800" y="20794"/>
                  <a:pt x="15635" y="21600"/>
                  <a:pt x="21600" y="21600"/>
                </a:cubicBezTo>
              </a:path>
            </a:pathLst>
          </a:custGeom>
          <a:noFill/>
          <a:ln w="127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4342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600" b="1" dirty="0" smtClean="0"/>
              <a:t>Step 6-</a:t>
            </a:r>
            <a:r>
              <a:rPr lang="en-GB" altLang="en-US" sz="3600" dirty="0" smtClean="0"/>
              <a:t> Analyse the Data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125538"/>
            <a:ext cx="8569325" cy="51831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000" dirty="0" smtClean="0"/>
              <a:t>Once the child has hit their target for </a:t>
            </a:r>
            <a:r>
              <a:rPr lang="en-GB" altLang="en-US" sz="2000" u="sng" dirty="0" smtClean="0"/>
              <a:t>3</a:t>
            </a:r>
            <a:r>
              <a:rPr lang="en-GB" altLang="en-US" sz="2000" dirty="0" smtClean="0">
                <a:solidFill>
                  <a:srgbClr val="FF0000"/>
                </a:solidFill>
              </a:rPr>
              <a:t> consecutive</a:t>
            </a:r>
            <a:r>
              <a:rPr lang="en-GB" altLang="en-US" sz="2000" dirty="0" smtClean="0"/>
              <a:t> days move on to a new set of words.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sz="20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000" u="sng" dirty="0" smtClean="0"/>
              <a:t>The 3 day rule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 dirty="0" smtClean="0"/>
              <a:t>Check after </a:t>
            </a:r>
            <a:r>
              <a:rPr lang="en-GB" altLang="en-US" sz="2000" b="1" dirty="0" smtClean="0">
                <a:solidFill>
                  <a:srgbClr val="FF0000"/>
                </a:solidFill>
              </a:rPr>
              <a:t>3</a:t>
            </a:r>
            <a:r>
              <a:rPr lang="en-GB" altLang="en-US" sz="2000" dirty="0" smtClean="0"/>
              <a:t> days: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 smtClean="0"/>
              <a:t>If the task appears too hard consider reducing the demands of the task (e.g. number of words to be learnt, types of words being learnt).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GB" altLang="en-US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000" u="sng" dirty="0" smtClean="0"/>
              <a:t>The 8 day rule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 dirty="0" smtClean="0"/>
              <a:t>Check after </a:t>
            </a:r>
            <a:r>
              <a:rPr lang="en-GB" altLang="en-US" sz="2000" b="1" dirty="0" smtClean="0">
                <a:solidFill>
                  <a:srgbClr val="FF0000"/>
                </a:solidFill>
              </a:rPr>
              <a:t>8</a:t>
            </a:r>
            <a:r>
              <a:rPr lang="en-GB" altLang="en-US" sz="2000" dirty="0" smtClean="0"/>
              <a:t> days: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 smtClean="0"/>
              <a:t>If the pupil is not at or near their target after 8 days consider a change (e.g. increasing motivation, modifying teaching method, changing task).</a:t>
            </a:r>
          </a:p>
        </p:txBody>
      </p:sp>
    </p:spTree>
    <p:extLst>
      <p:ext uri="{BB962C8B-B14F-4D97-AF65-F5344CB8AC3E}">
        <p14:creationId xmlns:p14="http://schemas.microsoft.com/office/powerpoint/2010/main" val="3334982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 idx="4294967295"/>
          </p:nvPr>
        </p:nvSpPr>
        <p:spPr>
          <a:xfrm>
            <a:off x="0" y="476250"/>
            <a:ext cx="7773988" cy="1223963"/>
          </a:xfrm>
        </p:spPr>
        <p:txBody>
          <a:bodyPr/>
          <a:lstStyle/>
          <a:p>
            <a:pPr algn="l" fontAlgn="auto">
              <a:spcAft>
                <a:spcPts val="0"/>
              </a:spcAft>
              <a:defRPr/>
            </a:pPr>
            <a:r>
              <a:rPr lang="en-GB" altLang="en-US" sz="4000" dirty="0" smtClean="0">
                <a:latin typeface="Arial" pitchFamily="34" charset="0"/>
                <a:cs typeface="Arial" pitchFamily="34" charset="0"/>
              </a:rPr>
              <a:t>6a. </a:t>
            </a:r>
            <a:r>
              <a:rPr lang="en-GB" altLang="en-US" sz="3200" dirty="0" smtClean="0">
                <a:latin typeface="Arial" pitchFamily="34" charset="0"/>
                <a:cs typeface="Arial" pitchFamily="34" charset="0"/>
              </a:rPr>
              <a:t>Change - response to data analysis</a:t>
            </a:r>
          </a:p>
        </p:txBody>
      </p:sp>
      <p:grpSp>
        <p:nvGrpSpPr>
          <p:cNvPr id="29699" name="Group 312"/>
          <p:cNvGrpSpPr>
            <a:grpSpLocks/>
          </p:cNvGrpSpPr>
          <p:nvPr/>
        </p:nvGrpSpPr>
        <p:grpSpPr bwMode="auto">
          <a:xfrm>
            <a:off x="250825" y="1483029"/>
            <a:ext cx="8642350" cy="4264025"/>
            <a:chOff x="455" y="1071"/>
            <a:chExt cx="5056" cy="2686"/>
          </a:xfrm>
        </p:grpSpPr>
        <p:sp>
          <p:nvSpPr>
            <p:cNvPr id="29700" name="Rectangle 213"/>
            <p:cNvSpPr>
              <a:spLocks noChangeArrowheads="1"/>
            </p:cNvSpPr>
            <p:nvPr/>
          </p:nvSpPr>
          <p:spPr bwMode="auto">
            <a:xfrm>
              <a:off x="3687" y="3113"/>
              <a:ext cx="1824" cy="6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Increasing motivation through rewards/ incentives or alter teaching methods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01" name="Rectangle 211"/>
            <p:cNvSpPr>
              <a:spLocks noChangeArrowheads="1"/>
            </p:cNvSpPr>
            <p:nvPr/>
          </p:nvSpPr>
          <p:spPr bwMode="auto">
            <a:xfrm>
              <a:off x="1505" y="3101"/>
              <a:ext cx="870" cy="6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b="1" dirty="0">
                  <a:solidFill>
                    <a:srgbClr val="FF0000"/>
                  </a:solidFill>
                  <a:ea typeface="MS PGothic" pitchFamily="34" charset="-128"/>
                  <a:cs typeface="Times New Roman" pitchFamily="18" charset="0"/>
                </a:rPr>
                <a:t> </a:t>
              </a:r>
              <a:r>
                <a:rPr lang="en-GB" altLang="en-US" sz="800" b="1" dirty="0">
                  <a:solidFill>
                    <a:srgbClr val="FF0000"/>
                  </a:solidFill>
                  <a:ea typeface="MS PGothic" pitchFamily="34" charset="-128"/>
                  <a:cs typeface="Times New Roman" pitchFamily="18" charset="0"/>
                </a:rPr>
                <a:t> </a:t>
              </a:r>
              <a:endParaRPr lang="en-GB" altLang="en-US" sz="2000" b="1" dirty="0">
                <a:solidFill>
                  <a:srgbClr val="FF0000"/>
                </a:solidFill>
                <a:ea typeface="MS PGothic" pitchFamily="34" charset="-128"/>
                <a:cs typeface="Times New Roman" pitchFamily="18" charset="0"/>
              </a:endParaRPr>
            </a:p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b="1" dirty="0">
                  <a:solidFill>
                    <a:srgbClr val="FF0000"/>
                  </a:solidFill>
                  <a:ea typeface="MS PGothic" pitchFamily="34" charset="-128"/>
                  <a:cs typeface="Times New Roman" pitchFamily="18" charset="0"/>
                </a:rPr>
                <a:t>x</a:t>
              </a:r>
              <a:endParaRPr lang="en-GB" altLang="en-US" sz="1000" dirty="0">
                <a:latin typeface="Times New Roman" pitchFamily="18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02" name="Rectangle 212"/>
            <p:cNvSpPr>
              <a:spLocks noChangeArrowheads="1"/>
            </p:cNvSpPr>
            <p:nvPr/>
          </p:nvSpPr>
          <p:spPr bwMode="auto">
            <a:xfrm>
              <a:off x="2362" y="3113"/>
              <a:ext cx="1325" cy="6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Task is likely to be appropriate but progress not fast enough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03" name="Rectangle 210"/>
            <p:cNvSpPr>
              <a:spLocks noChangeArrowheads="1"/>
            </p:cNvSpPr>
            <p:nvPr/>
          </p:nvSpPr>
          <p:spPr bwMode="auto">
            <a:xfrm>
              <a:off x="455" y="3113"/>
              <a:ext cx="1036" cy="6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Some progress; accurate but shallow correct rate slope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04" name="Rectangle 209"/>
            <p:cNvSpPr>
              <a:spLocks noChangeArrowheads="1"/>
            </p:cNvSpPr>
            <p:nvPr/>
          </p:nvSpPr>
          <p:spPr bwMode="auto">
            <a:xfrm>
              <a:off x="3687" y="2528"/>
              <a:ext cx="1824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Slow pupil down; encourage accuracy before speed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05" name="Rectangle 208"/>
            <p:cNvSpPr>
              <a:spLocks noChangeArrowheads="1"/>
            </p:cNvSpPr>
            <p:nvPr/>
          </p:nvSpPr>
          <p:spPr bwMode="auto">
            <a:xfrm>
              <a:off x="2362" y="2528"/>
              <a:ext cx="1325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Pupil is merely getting faster attempting more on the probe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06" name="Rectangle 207"/>
            <p:cNvSpPr>
              <a:spLocks noChangeArrowheads="1"/>
            </p:cNvSpPr>
            <p:nvPr/>
          </p:nvSpPr>
          <p:spPr bwMode="auto">
            <a:xfrm>
              <a:off x="1491" y="2528"/>
              <a:ext cx="871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b="1" dirty="0">
                  <a:solidFill>
                    <a:srgbClr val="FF0000"/>
                  </a:solidFill>
                  <a:ea typeface="MS PGothic" pitchFamily="34" charset="-128"/>
                  <a:cs typeface="Times New Roman" pitchFamily="18" charset="0"/>
                </a:rPr>
                <a:t>   </a:t>
              </a:r>
            </a:p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b="1" dirty="0">
                  <a:solidFill>
                    <a:srgbClr val="FF0000"/>
                  </a:solidFill>
                  <a:ea typeface="MS PGothic" pitchFamily="34" charset="-128"/>
                  <a:cs typeface="Times New Roman" pitchFamily="18" charset="0"/>
                </a:rPr>
                <a:t>    x</a:t>
              </a:r>
              <a:endParaRPr lang="en-GB" altLang="en-US" sz="1000" dirty="0">
                <a:latin typeface="Times New Roman" pitchFamily="18" charset="0"/>
                <a:ea typeface="MS PGothic" pitchFamily="34" charset="-128"/>
                <a:cs typeface="Times New Roman" pitchFamily="18" charset="0"/>
              </a:endParaRPr>
            </a:p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   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07" name="Rectangle 206"/>
            <p:cNvSpPr>
              <a:spLocks noChangeArrowheads="1"/>
            </p:cNvSpPr>
            <p:nvPr/>
          </p:nvSpPr>
          <p:spPr bwMode="auto">
            <a:xfrm>
              <a:off x="455" y="2528"/>
              <a:ext cx="1036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Both correct and incorrect rates increasing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08" name="Rectangle 205"/>
            <p:cNvSpPr>
              <a:spLocks noChangeArrowheads="1"/>
            </p:cNvSpPr>
            <p:nvPr/>
          </p:nvSpPr>
          <p:spPr bwMode="auto">
            <a:xfrm>
              <a:off x="3687" y="1924"/>
              <a:ext cx="1824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May need to return or slice the task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09" name="Rectangle 204"/>
            <p:cNvSpPr>
              <a:spLocks noChangeArrowheads="1"/>
            </p:cNvSpPr>
            <p:nvPr/>
          </p:nvSpPr>
          <p:spPr bwMode="auto">
            <a:xfrm>
              <a:off x="2362" y="1924"/>
              <a:ext cx="1325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Task probably inappropriate. Monitor progress, may be a blip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10" name="Rectangle 203"/>
            <p:cNvSpPr>
              <a:spLocks noChangeArrowheads="1"/>
            </p:cNvSpPr>
            <p:nvPr/>
          </p:nvSpPr>
          <p:spPr bwMode="auto">
            <a:xfrm>
              <a:off x="1491" y="1924"/>
              <a:ext cx="871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000" dirty="0">
                  <a:latin typeface="Times New Roman" pitchFamily="18" charset="0"/>
                  <a:ea typeface="MS PGothic" pitchFamily="34" charset="-128"/>
                  <a:cs typeface="Times New Roman" pitchFamily="18" charset="0"/>
                </a:rPr>
                <a:t/>
              </a:r>
              <a:br>
                <a:rPr lang="en-GB" altLang="en-US" sz="1000" dirty="0">
                  <a:latin typeface="Times New Roman" pitchFamily="18" charset="0"/>
                  <a:ea typeface="MS PGothic" pitchFamily="34" charset="-128"/>
                  <a:cs typeface="Times New Roman" pitchFamily="18" charset="0"/>
                </a:rPr>
              </a:br>
              <a:r>
                <a:rPr lang="en-GB" altLang="en-US" sz="2000" b="1" dirty="0">
                  <a:solidFill>
                    <a:srgbClr val="FF0000"/>
                  </a:solidFill>
                  <a:ea typeface="MS PGothic" pitchFamily="34" charset="-128"/>
                  <a:cs typeface="Times New Roman" pitchFamily="18" charset="0"/>
                </a:rPr>
                <a:t>  </a:t>
              </a:r>
              <a:endParaRPr lang="en-GB" altLang="en-US" sz="800" b="1" dirty="0">
                <a:solidFill>
                  <a:srgbClr val="FF0000"/>
                </a:solidFill>
                <a:ea typeface="MS PGothic" pitchFamily="34" charset="-128"/>
                <a:cs typeface="Times New Roman" pitchFamily="18" charset="0"/>
              </a:endParaRPr>
            </a:p>
            <a:p>
              <a:pPr algn="l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b="1" dirty="0">
                  <a:solidFill>
                    <a:srgbClr val="FF0000"/>
                  </a:solidFill>
                  <a:ea typeface="MS PGothic" pitchFamily="34" charset="-128"/>
                  <a:cs typeface="Times New Roman" pitchFamily="18" charset="0"/>
                </a:rPr>
                <a:t>  x</a:t>
              </a:r>
              <a:endParaRPr lang="en-GB" altLang="en-US" sz="1000" dirty="0">
                <a:latin typeface="Times New Roman" pitchFamily="18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11" name="Rectangle 202"/>
            <p:cNvSpPr>
              <a:spLocks noChangeArrowheads="1"/>
            </p:cNvSpPr>
            <p:nvPr/>
          </p:nvSpPr>
          <p:spPr bwMode="auto">
            <a:xfrm>
              <a:off x="455" y="1924"/>
              <a:ext cx="1036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Switch within first 3 days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12" name="Rectangle 201"/>
            <p:cNvSpPr>
              <a:spLocks noChangeArrowheads="1"/>
            </p:cNvSpPr>
            <p:nvPr/>
          </p:nvSpPr>
          <p:spPr bwMode="auto">
            <a:xfrm>
              <a:off x="3687" y="1426"/>
              <a:ext cx="1824" cy="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Return or slice the task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13" name="Rectangle 200"/>
            <p:cNvSpPr>
              <a:spLocks noChangeArrowheads="1"/>
            </p:cNvSpPr>
            <p:nvPr/>
          </p:nvSpPr>
          <p:spPr bwMode="auto">
            <a:xfrm>
              <a:off x="2362" y="1426"/>
              <a:ext cx="1325" cy="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Task inappropriate</a:t>
              </a:r>
              <a:endParaRPr lang="en-GB" altLang="en-US" sz="1000" dirty="0">
                <a:latin typeface="Times New Roman" pitchFamily="18" charset="0"/>
                <a:ea typeface="MS PGothic" pitchFamily="34" charset="-128"/>
                <a:cs typeface="Times New Roman" pitchFamily="18" charset="0"/>
              </a:endParaRPr>
            </a:p>
            <a:p>
              <a:pPr algn="l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3 day rule applies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14" name="Rectangle 199"/>
            <p:cNvSpPr>
              <a:spLocks noChangeArrowheads="1"/>
            </p:cNvSpPr>
            <p:nvPr/>
          </p:nvSpPr>
          <p:spPr bwMode="auto">
            <a:xfrm>
              <a:off x="1505" y="1440"/>
              <a:ext cx="870" cy="4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b="1" dirty="0" smtClean="0">
                  <a:solidFill>
                    <a:srgbClr val="FF0000"/>
                  </a:solidFill>
                  <a:ea typeface="MS PGothic" pitchFamily="34" charset="-128"/>
                  <a:cs typeface="Times New Roman" pitchFamily="18" charset="0"/>
                </a:rPr>
                <a:t>x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15" name="Rectangle 198"/>
            <p:cNvSpPr>
              <a:spLocks noChangeArrowheads="1"/>
            </p:cNvSpPr>
            <p:nvPr/>
          </p:nvSpPr>
          <p:spPr bwMode="auto">
            <a:xfrm>
              <a:off x="455" y="1426"/>
              <a:ext cx="1036" cy="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400" dirty="0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More errors than correct: No sign of a switch</a:t>
              </a:r>
              <a:endParaRPr lang="en-GB" altLang="en-US" sz="1800" dirty="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16" name="Rectangle 197"/>
            <p:cNvSpPr>
              <a:spLocks noChangeArrowheads="1"/>
            </p:cNvSpPr>
            <p:nvPr/>
          </p:nvSpPr>
          <p:spPr bwMode="auto">
            <a:xfrm>
              <a:off x="3687" y="1071"/>
              <a:ext cx="1824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600" u="sng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Intervention</a:t>
              </a:r>
              <a:endParaRPr lang="en-GB" altLang="en-US" sz="180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17" name="Rectangle 196"/>
            <p:cNvSpPr>
              <a:spLocks noChangeArrowheads="1"/>
            </p:cNvSpPr>
            <p:nvPr/>
          </p:nvSpPr>
          <p:spPr bwMode="auto">
            <a:xfrm>
              <a:off x="2362" y="1071"/>
              <a:ext cx="1325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600" u="sng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Interpretation</a:t>
              </a:r>
              <a:endParaRPr lang="en-GB" altLang="en-US" sz="180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18" name="Rectangle 195"/>
            <p:cNvSpPr>
              <a:spLocks noChangeArrowheads="1"/>
            </p:cNvSpPr>
            <p:nvPr/>
          </p:nvSpPr>
          <p:spPr bwMode="auto">
            <a:xfrm>
              <a:off x="1491" y="1071"/>
              <a:ext cx="871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GB" altLang="en-US" sz="1600" u="sng">
                  <a:latin typeface="Arial" pitchFamily="34" charset="0"/>
                  <a:ea typeface="MS PGothic" pitchFamily="34" charset="-128"/>
                  <a:cs typeface="Arial" pitchFamily="34" charset="0"/>
                </a:rPr>
                <a:t>Chart Picture</a:t>
              </a:r>
            </a:p>
          </p:txBody>
        </p:sp>
        <p:sp>
          <p:nvSpPr>
            <p:cNvPr id="29719" name="Rectangle 194"/>
            <p:cNvSpPr>
              <a:spLocks noChangeArrowheads="1"/>
            </p:cNvSpPr>
            <p:nvPr/>
          </p:nvSpPr>
          <p:spPr bwMode="auto">
            <a:xfrm>
              <a:off x="455" y="1071"/>
              <a:ext cx="1036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600" u="sng">
                  <a:latin typeface="Arial" pitchFamily="34" charset="0"/>
                  <a:ea typeface="MS PGothic" pitchFamily="34" charset="-128"/>
                  <a:cs typeface="Times New Roman" pitchFamily="18" charset="0"/>
                </a:rPr>
                <a:t>Chart Description</a:t>
              </a:r>
              <a:endParaRPr lang="en-GB" altLang="en-US" sz="1800">
                <a:latin typeface="Arial" pitchFamily="34" charset="0"/>
                <a:ea typeface="MS PGothic" pitchFamily="34" charset="-128"/>
                <a:cs typeface="Times New Roman" pitchFamily="18" charset="0"/>
              </a:endParaRPr>
            </a:p>
          </p:txBody>
        </p:sp>
        <p:sp>
          <p:nvSpPr>
            <p:cNvPr id="29720" name="Line 214"/>
            <p:cNvSpPr>
              <a:spLocks noChangeShapeType="1"/>
            </p:cNvSpPr>
            <p:nvPr/>
          </p:nvSpPr>
          <p:spPr bwMode="auto">
            <a:xfrm>
              <a:off x="455" y="1071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1" name="Line 215"/>
            <p:cNvSpPr>
              <a:spLocks noChangeShapeType="1"/>
            </p:cNvSpPr>
            <p:nvPr/>
          </p:nvSpPr>
          <p:spPr bwMode="auto">
            <a:xfrm>
              <a:off x="455" y="3757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2" name="Line 216"/>
            <p:cNvSpPr>
              <a:spLocks noChangeShapeType="1"/>
            </p:cNvSpPr>
            <p:nvPr/>
          </p:nvSpPr>
          <p:spPr bwMode="auto">
            <a:xfrm>
              <a:off x="455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3" name="Line 217"/>
            <p:cNvSpPr>
              <a:spLocks noChangeShapeType="1"/>
            </p:cNvSpPr>
            <p:nvPr/>
          </p:nvSpPr>
          <p:spPr bwMode="auto">
            <a:xfrm>
              <a:off x="5511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4" name="Line 220"/>
            <p:cNvSpPr>
              <a:spLocks noChangeShapeType="1"/>
            </p:cNvSpPr>
            <p:nvPr/>
          </p:nvSpPr>
          <p:spPr bwMode="auto">
            <a:xfrm>
              <a:off x="455" y="1426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5" name="Line 222"/>
            <p:cNvSpPr>
              <a:spLocks noChangeShapeType="1"/>
            </p:cNvSpPr>
            <p:nvPr/>
          </p:nvSpPr>
          <p:spPr bwMode="auto">
            <a:xfrm>
              <a:off x="1491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6" name="Line 225"/>
            <p:cNvSpPr>
              <a:spLocks noChangeShapeType="1"/>
            </p:cNvSpPr>
            <p:nvPr/>
          </p:nvSpPr>
          <p:spPr bwMode="auto">
            <a:xfrm>
              <a:off x="2362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7" name="Line 228"/>
            <p:cNvSpPr>
              <a:spLocks noChangeShapeType="1"/>
            </p:cNvSpPr>
            <p:nvPr/>
          </p:nvSpPr>
          <p:spPr bwMode="auto">
            <a:xfrm>
              <a:off x="3687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8" name="Line 232"/>
            <p:cNvSpPr>
              <a:spLocks noChangeShapeType="1"/>
            </p:cNvSpPr>
            <p:nvPr/>
          </p:nvSpPr>
          <p:spPr bwMode="auto">
            <a:xfrm>
              <a:off x="455" y="1924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9" name="Line 250"/>
            <p:cNvSpPr>
              <a:spLocks noChangeShapeType="1"/>
            </p:cNvSpPr>
            <p:nvPr/>
          </p:nvSpPr>
          <p:spPr bwMode="auto">
            <a:xfrm>
              <a:off x="455" y="2528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30" name="Line 268"/>
            <p:cNvSpPr>
              <a:spLocks noChangeShapeType="1"/>
            </p:cNvSpPr>
            <p:nvPr/>
          </p:nvSpPr>
          <p:spPr bwMode="auto">
            <a:xfrm>
              <a:off x="455" y="3113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29731" name="Group 157"/>
            <p:cNvGrpSpPr>
              <a:grpSpLocks/>
            </p:cNvGrpSpPr>
            <p:nvPr/>
          </p:nvGrpSpPr>
          <p:grpSpPr bwMode="auto">
            <a:xfrm>
              <a:off x="1600" y="2594"/>
              <a:ext cx="408" cy="251"/>
              <a:chOff x="4496" y="6534"/>
              <a:chExt cx="970" cy="618"/>
            </a:xfrm>
          </p:grpSpPr>
          <p:sp>
            <p:nvSpPr>
              <p:cNvPr id="29742" name="Line 160"/>
              <p:cNvSpPr>
                <a:spLocks noChangeShapeType="1"/>
              </p:cNvSpPr>
              <p:nvPr/>
            </p:nvSpPr>
            <p:spPr bwMode="auto">
              <a:xfrm flipV="1">
                <a:off x="4722" y="6534"/>
                <a:ext cx="612" cy="2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743" name="Line 159"/>
              <p:cNvSpPr>
                <a:spLocks noChangeShapeType="1"/>
              </p:cNvSpPr>
              <p:nvPr/>
            </p:nvSpPr>
            <p:spPr bwMode="auto">
              <a:xfrm flipV="1">
                <a:off x="4854" y="6894"/>
                <a:ext cx="612" cy="2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744" name="Oval 158"/>
              <p:cNvSpPr>
                <a:spLocks noChangeArrowheads="1"/>
              </p:cNvSpPr>
              <p:nvPr/>
            </p:nvSpPr>
            <p:spPr bwMode="auto">
              <a:xfrm>
                <a:off x="4496" y="6720"/>
                <a:ext cx="240" cy="180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2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D2CB6C"/>
                  </a:buClr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95A39D"/>
                  </a:buClr>
                  <a:buFont typeface="Arial" pitchFamily="34" charset="0"/>
                  <a:buChar char="•"/>
                  <a:defRPr sz="16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GB" altLang="en-US" sz="2400">
                  <a:latin typeface="Times New Roman" pitchFamily="18" charset="0"/>
                  <a:ea typeface="MS PGothic" pitchFamily="34" charset="-128"/>
                  <a:cs typeface="Arial" pitchFamily="34" charset="0"/>
                </a:endParaRPr>
              </a:p>
            </p:txBody>
          </p:sp>
        </p:grpSp>
        <p:grpSp>
          <p:nvGrpSpPr>
            <p:cNvPr id="29732" name="Group 161"/>
            <p:cNvGrpSpPr>
              <a:grpSpLocks/>
            </p:cNvGrpSpPr>
            <p:nvPr/>
          </p:nvGrpSpPr>
          <p:grpSpPr bwMode="auto">
            <a:xfrm>
              <a:off x="1648" y="2040"/>
              <a:ext cx="300" cy="289"/>
              <a:chOff x="4739" y="4873"/>
              <a:chExt cx="715" cy="709"/>
            </a:xfrm>
          </p:grpSpPr>
          <p:sp>
            <p:nvSpPr>
              <p:cNvPr id="29739" name="Line 164"/>
              <p:cNvSpPr>
                <a:spLocks noChangeShapeType="1"/>
              </p:cNvSpPr>
              <p:nvPr/>
            </p:nvSpPr>
            <p:spPr bwMode="auto">
              <a:xfrm flipV="1">
                <a:off x="4854" y="5042"/>
                <a:ext cx="600" cy="5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740" name="Line 163"/>
              <p:cNvSpPr>
                <a:spLocks noChangeShapeType="1"/>
              </p:cNvSpPr>
              <p:nvPr/>
            </p:nvSpPr>
            <p:spPr bwMode="auto">
              <a:xfrm>
                <a:off x="4974" y="5042"/>
                <a:ext cx="480" cy="5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741" name="Oval 162"/>
              <p:cNvSpPr>
                <a:spLocks noChangeArrowheads="1"/>
              </p:cNvSpPr>
              <p:nvPr/>
            </p:nvSpPr>
            <p:spPr bwMode="auto">
              <a:xfrm>
                <a:off x="4739" y="4873"/>
                <a:ext cx="240" cy="180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2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D2CB6C"/>
                  </a:buClr>
                  <a:buFont typeface="Arial" pitchFamily="34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95A39D"/>
                  </a:buClr>
                  <a:buFont typeface="Arial" pitchFamily="34" charset="0"/>
                  <a:buChar char="•"/>
                  <a:defRPr sz="16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C89F5D"/>
                  </a:buClr>
                  <a:buFont typeface="Arial" pitchFamily="34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GB" altLang="en-US" sz="2400">
                  <a:latin typeface="Times New Roman" pitchFamily="18" charset="0"/>
                  <a:ea typeface="MS PGothic" pitchFamily="34" charset="-128"/>
                  <a:cs typeface="Arial" pitchFamily="34" charset="0"/>
                </a:endParaRPr>
              </a:p>
            </p:txBody>
          </p:sp>
        </p:grpSp>
        <p:sp>
          <p:nvSpPr>
            <p:cNvPr id="29733" name="Line 156"/>
            <p:cNvSpPr>
              <a:spLocks noChangeShapeType="1"/>
            </p:cNvSpPr>
            <p:nvPr/>
          </p:nvSpPr>
          <p:spPr bwMode="auto">
            <a:xfrm>
              <a:off x="1648" y="3471"/>
              <a:ext cx="355" cy="1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34" name="Line 154"/>
            <p:cNvSpPr>
              <a:spLocks noChangeShapeType="1"/>
            </p:cNvSpPr>
            <p:nvPr/>
          </p:nvSpPr>
          <p:spPr bwMode="auto">
            <a:xfrm flipV="1">
              <a:off x="1648" y="3287"/>
              <a:ext cx="358" cy="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35" name="Oval 155"/>
            <p:cNvSpPr>
              <a:spLocks noChangeArrowheads="1"/>
            </p:cNvSpPr>
            <p:nvPr/>
          </p:nvSpPr>
          <p:spPr bwMode="auto">
            <a:xfrm>
              <a:off x="1553" y="3287"/>
              <a:ext cx="101" cy="73"/>
            </a:xfrm>
            <a:prstGeom prst="ellipse">
              <a:avLst/>
            </a:prstGeom>
            <a:solidFill>
              <a:srgbClr val="339966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GB" altLang="en-US" sz="2400">
                <a:latin typeface="Times New Roman" pitchFamily="18" charset="0"/>
                <a:ea typeface="MS PGothic" pitchFamily="34" charset="-128"/>
                <a:cs typeface="Arial" pitchFamily="34" charset="0"/>
              </a:endParaRPr>
            </a:p>
          </p:txBody>
        </p:sp>
        <p:sp>
          <p:nvSpPr>
            <p:cNvPr id="29736" name="Line 167"/>
            <p:cNvSpPr>
              <a:spLocks noChangeShapeType="1"/>
            </p:cNvSpPr>
            <p:nvPr/>
          </p:nvSpPr>
          <p:spPr bwMode="auto">
            <a:xfrm flipV="1">
              <a:off x="1695" y="1440"/>
              <a:ext cx="190" cy="14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37" name="Line 166"/>
            <p:cNvSpPr>
              <a:spLocks noChangeShapeType="1"/>
            </p:cNvSpPr>
            <p:nvPr/>
          </p:nvSpPr>
          <p:spPr bwMode="auto">
            <a:xfrm flipV="1">
              <a:off x="1696" y="1717"/>
              <a:ext cx="250" cy="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38" name="Oval 165"/>
            <p:cNvSpPr>
              <a:spLocks noChangeArrowheads="1"/>
            </p:cNvSpPr>
            <p:nvPr/>
          </p:nvSpPr>
          <p:spPr bwMode="auto">
            <a:xfrm>
              <a:off x="1600" y="1764"/>
              <a:ext cx="101" cy="73"/>
            </a:xfrm>
            <a:prstGeom prst="ellipse">
              <a:avLst/>
            </a:prstGeom>
            <a:solidFill>
              <a:srgbClr val="339966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itchFamily="34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itchFamily="34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itchFamily="34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itchFamily="34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GB" altLang="en-US" sz="2400">
                <a:latin typeface="Times New Roman" pitchFamily="18" charset="0"/>
                <a:ea typeface="MS PGothic" pitchFamily="34" charset="-128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890391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549275"/>
            <a:ext cx="7772400" cy="1143000"/>
          </a:xfrm>
        </p:spPr>
        <p:txBody>
          <a:bodyPr/>
          <a:lstStyle/>
          <a:p>
            <a:pPr algn="l" fontAlgn="auto">
              <a:spcAft>
                <a:spcPts val="0"/>
              </a:spcAft>
              <a:defRPr/>
            </a:pPr>
            <a:r>
              <a:rPr lang="en-GB" altLang="en-US" sz="4000" dirty="0" smtClean="0">
                <a:latin typeface="Arial" pitchFamily="34" charset="0"/>
                <a:cs typeface="Arial" pitchFamily="34" charset="0"/>
              </a:rPr>
              <a:t>6b. Maintenance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773238"/>
            <a:ext cx="7772400" cy="4114800"/>
          </a:xfrm>
        </p:spPr>
        <p:txBody>
          <a:bodyPr/>
          <a:lstStyle/>
          <a:p>
            <a:r>
              <a:rPr lang="en-GB" altLang="en-US" sz="2800" dirty="0" smtClean="0">
                <a:latin typeface="Arial" pitchFamily="34" charset="0"/>
                <a:cs typeface="Arial" pitchFamily="34" charset="0"/>
              </a:rPr>
              <a:t>Once a pupil has reached fluency (hit target 3 days consecutively), change target</a:t>
            </a:r>
          </a:p>
          <a:p>
            <a:pPr>
              <a:buFontTx/>
              <a:buNone/>
            </a:pPr>
            <a:endParaRPr lang="en-GB" altLang="en-US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en-GB" altLang="en-US" sz="2800" dirty="0" smtClean="0">
                <a:latin typeface="Arial" pitchFamily="34" charset="0"/>
                <a:cs typeface="Arial" pitchFamily="34" charset="0"/>
              </a:rPr>
              <a:t>Check for maintenance at regular intervals by using an old probe to check they are still fluent with these words or interleave previously learnt words with new words</a:t>
            </a:r>
          </a:p>
        </p:txBody>
      </p:sp>
    </p:spTree>
    <p:extLst>
      <p:ext uri="{BB962C8B-B14F-4D97-AF65-F5344CB8AC3E}">
        <p14:creationId xmlns:p14="http://schemas.microsoft.com/office/powerpoint/2010/main" val="1909171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1520" y="548680"/>
            <a:ext cx="7958137" cy="1143000"/>
          </a:xfrm>
        </p:spPr>
        <p:txBody>
          <a:bodyPr/>
          <a:lstStyle/>
          <a:p>
            <a:pPr algn="l" fontAlgn="auto">
              <a:spcAft>
                <a:spcPts val="0"/>
              </a:spcAft>
              <a:defRPr/>
            </a:pPr>
            <a:r>
              <a:rPr lang="en-GB" altLang="en-US" sz="3200" dirty="0" smtClean="0">
                <a:latin typeface="Arial" pitchFamily="34" charset="0"/>
                <a:cs typeface="Arial" pitchFamily="34" charset="0"/>
              </a:rPr>
              <a:t>Recap of the steps of precision monitoring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773238"/>
            <a:ext cx="7669213" cy="4467225"/>
          </a:xfrm>
        </p:spPr>
        <p:txBody>
          <a:bodyPr/>
          <a:lstStyle/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en-GB" altLang="en-US" dirty="0" smtClean="0">
                <a:latin typeface="Arial" pitchFamily="34" charset="0"/>
                <a:cs typeface="Arial" pitchFamily="34" charset="0"/>
              </a:rPr>
              <a:t>Identify a specific difficulty and acquire a baseline</a:t>
            </a:r>
          </a:p>
          <a:p>
            <a:pPr marL="609600" indent="-609600">
              <a:lnSpc>
                <a:spcPct val="80000"/>
              </a:lnSpc>
              <a:buFontTx/>
              <a:buAutoNum type="arabicPeriod" startAt="2"/>
            </a:pPr>
            <a:r>
              <a:rPr lang="en-GB" altLang="en-US" dirty="0" smtClean="0">
                <a:latin typeface="Arial" pitchFamily="34" charset="0"/>
                <a:cs typeface="Arial" pitchFamily="34" charset="0"/>
              </a:rPr>
              <a:t>Set a target</a:t>
            </a:r>
          </a:p>
          <a:p>
            <a:pPr marL="609600" indent="-609600">
              <a:lnSpc>
                <a:spcPct val="80000"/>
              </a:lnSpc>
              <a:buFontTx/>
              <a:buAutoNum type="arabicPeriod" startAt="3"/>
            </a:pPr>
            <a:r>
              <a:rPr lang="en-GB" altLang="en-US" dirty="0" smtClean="0">
                <a:latin typeface="Arial" pitchFamily="34" charset="0"/>
                <a:cs typeface="Arial" pitchFamily="34" charset="0"/>
              </a:rPr>
              <a:t>Teaching sessions (DI): short, frequent and target specific</a:t>
            </a:r>
          </a:p>
          <a:p>
            <a:pPr marL="609600" indent="-609600">
              <a:lnSpc>
                <a:spcPct val="80000"/>
              </a:lnSpc>
              <a:buFontTx/>
              <a:buAutoNum type="arabicPeriod" startAt="3"/>
            </a:pPr>
            <a:r>
              <a:rPr lang="en-GB" altLang="en-US" dirty="0" smtClean="0">
                <a:latin typeface="Arial" pitchFamily="34" charset="0"/>
                <a:cs typeface="Arial" pitchFamily="34" charset="0"/>
              </a:rPr>
              <a:t>Monitor pupil’s daily performance using a probe</a:t>
            </a:r>
          </a:p>
          <a:p>
            <a:pPr marL="609600" indent="-609600">
              <a:lnSpc>
                <a:spcPct val="80000"/>
              </a:lnSpc>
              <a:buFontTx/>
              <a:buAutoNum type="arabicPeriod" startAt="5"/>
            </a:pPr>
            <a:r>
              <a:rPr lang="en-GB" altLang="en-US" dirty="0" smtClean="0">
                <a:latin typeface="Arial" pitchFamily="34" charset="0"/>
                <a:cs typeface="Arial" pitchFamily="34" charset="0"/>
              </a:rPr>
              <a:t>Chart results (PM) and make note of teaching methods</a:t>
            </a:r>
          </a:p>
          <a:p>
            <a:pPr marL="609600" indent="-609600">
              <a:lnSpc>
                <a:spcPct val="80000"/>
              </a:lnSpc>
              <a:buFontTx/>
              <a:buAutoNum type="arabicPeriod" startAt="6"/>
            </a:pPr>
            <a:r>
              <a:rPr lang="en-GB" altLang="en-US" dirty="0" smtClean="0">
                <a:latin typeface="Arial" pitchFamily="34" charset="0"/>
                <a:cs typeface="Arial" pitchFamily="34" charset="0"/>
              </a:rPr>
              <a:t>Analyse the data to determine if a change of target is needed or change in teaching method</a:t>
            </a:r>
          </a:p>
        </p:txBody>
      </p:sp>
    </p:spTree>
    <p:extLst>
      <p:ext uri="{BB962C8B-B14F-4D97-AF65-F5344CB8AC3E}">
        <p14:creationId xmlns:p14="http://schemas.microsoft.com/office/powerpoint/2010/main" val="203798720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blocksrg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8200"/>
            <a:ext cx="4572000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0" y="125413"/>
            <a:ext cx="9144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Arial Black" pitchFamily="34" charset="0"/>
                <a:ea typeface="ＭＳ Ｐゴシック" pitchFamily="110" charset="-128"/>
              </a:rPr>
              <a:t>E D U C A T I O N A L   P S Y C H O L O G Y   S E R V I C E</a:t>
            </a:r>
          </a:p>
        </p:txBody>
      </p:sp>
      <p:pic>
        <p:nvPicPr>
          <p:cNvPr id="16389" name="Picture 5" descr="Image windsor and Maidenhea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6096000"/>
            <a:ext cx="50641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684213" y="4797425"/>
            <a:ext cx="77057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ea typeface="ＭＳ Ｐゴシック" pitchFamily="110" charset="-128"/>
              </a:rPr>
              <a:t>Please do not use or copy any slides without prior permission from RBWM EPS</a:t>
            </a:r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4572000" y="2852738"/>
            <a:ext cx="2952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600">
                <a:latin typeface="Arial Black" pitchFamily="34" charset="0"/>
                <a:ea typeface="ＭＳ Ｐゴシック" pitchFamily="110" charset="-128"/>
              </a:rPr>
              <a:t>Thank you</a:t>
            </a:r>
            <a:endParaRPr lang="en-US" altLang="en-US" sz="3600">
              <a:ea typeface="ＭＳ Ｐゴシック" pitchFamily="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24736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2429</TotalTime>
  <Words>1254</Words>
  <Application>Microsoft Office PowerPoint</Application>
  <PresentationFormat>On-screen Show (4:3)</PresentationFormat>
  <Paragraphs>237</Paragraphs>
  <Slides>26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Default Design</vt:lpstr>
      <vt:lpstr>1_Custom Design</vt:lpstr>
      <vt:lpstr>Custom Design</vt:lpstr>
      <vt:lpstr>2_Custom Design</vt:lpstr>
      <vt:lpstr>PowerPoint Presentation</vt:lpstr>
      <vt:lpstr>Session Aim</vt:lpstr>
      <vt:lpstr>How do I deliver precision monitoring?</vt:lpstr>
      <vt:lpstr>STEP 1</vt:lpstr>
      <vt:lpstr>Step 2 - Setting a Target</vt:lpstr>
      <vt:lpstr>2. Targets</vt:lpstr>
      <vt:lpstr>2. Targets</vt:lpstr>
      <vt:lpstr>Step 3- Teaching  (Up to 10 mins per day)</vt:lpstr>
      <vt:lpstr>3. Teaching methods</vt:lpstr>
      <vt:lpstr>3. Examples of some teaching methods:</vt:lpstr>
      <vt:lpstr>3. Examples of some teaching methods:</vt:lpstr>
      <vt:lpstr>Points to remember</vt:lpstr>
      <vt:lpstr>Step 4 – Monitoring Performance</vt:lpstr>
      <vt:lpstr>PowerPoint Presentation</vt:lpstr>
      <vt:lpstr>Types of probe:</vt:lpstr>
      <vt:lpstr>Designing Probes</vt:lpstr>
      <vt:lpstr>PT Probe Generator</vt:lpstr>
      <vt:lpstr>Step 5- Chart Results</vt:lpstr>
      <vt:lpstr> 5. Recording</vt:lpstr>
      <vt:lpstr>5. Ratio charts </vt:lpstr>
      <vt:lpstr>PowerPoint Presentation</vt:lpstr>
      <vt:lpstr>Step 6- Analyse the Data</vt:lpstr>
      <vt:lpstr>6a. Change - response to data analysis</vt:lpstr>
      <vt:lpstr>6b. Maintenance</vt:lpstr>
      <vt:lpstr>Recap of the steps of precision monitoring</vt:lpstr>
      <vt:lpstr>PowerPoint Presentation</vt:lpstr>
    </vt:vector>
  </TitlesOfParts>
  <Company>RBWM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RBWM</dc:creator>
  <cp:lastModifiedBy>localprofile</cp:lastModifiedBy>
  <cp:revision>263</cp:revision>
  <cp:lastPrinted>2018-06-27T07:16:02Z</cp:lastPrinted>
  <dcterms:created xsi:type="dcterms:W3CDTF">2009-10-14T09:14:19Z</dcterms:created>
  <dcterms:modified xsi:type="dcterms:W3CDTF">2018-06-27T07:16:36Z</dcterms:modified>
</cp:coreProperties>
</file>