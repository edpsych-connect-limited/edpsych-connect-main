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23"/>
  </p:notesMasterIdLst>
  <p:handoutMasterIdLst>
    <p:handoutMasterId r:id="rId24"/>
  </p:handoutMasterIdLst>
  <p:sldIdLst>
    <p:sldId id="256" r:id="rId3"/>
    <p:sldId id="257" r:id="rId4"/>
    <p:sldId id="305" r:id="rId5"/>
    <p:sldId id="306" r:id="rId6"/>
    <p:sldId id="258" r:id="rId7"/>
    <p:sldId id="261" r:id="rId8"/>
    <p:sldId id="262" r:id="rId9"/>
    <p:sldId id="303" r:id="rId10"/>
    <p:sldId id="265" r:id="rId11"/>
    <p:sldId id="302" r:id="rId12"/>
    <p:sldId id="292" r:id="rId13"/>
    <p:sldId id="270" r:id="rId14"/>
    <p:sldId id="293" r:id="rId15"/>
    <p:sldId id="294" r:id="rId16"/>
    <p:sldId id="296" r:id="rId17"/>
    <p:sldId id="273" r:id="rId18"/>
    <p:sldId id="275" r:id="rId19"/>
    <p:sldId id="297" r:id="rId20"/>
    <p:sldId id="307" r:id="rId21"/>
    <p:sldId id="301" r:id="rId22"/>
  </p:sldIdLst>
  <p:sldSz cx="9144000" cy="6858000" type="screen4x3"/>
  <p:notesSz cx="6797675" cy="9928225"/>
  <p:defaultTextStyle>
    <a:defPPr>
      <a:defRPr lang="en-US"/>
    </a:defPPr>
    <a:lvl1pPr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1pPr>
    <a:lvl2pPr marL="457200"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2pPr>
    <a:lvl3pPr marL="914400"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3pPr>
    <a:lvl4pPr marL="1371600"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4pPr>
    <a:lvl5pPr marL="1828800"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5pPr>
    <a:lvl6pPr marL="2286000" algn="l" defTabSz="914400" rtl="0" eaLnBrk="1" latinLnBrk="0" hangingPunct="1">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6pPr>
    <a:lvl7pPr marL="2743200" algn="l" defTabSz="914400" rtl="0" eaLnBrk="1" latinLnBrk="0" hangingPunct="1">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7pPr>
    <a:lvl8pPr marL="3200400" algn="l" defTabSz="914400" rtl="0" eaLnBrk="1" latinLnBrk="0" hangingPunct="1">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8pPr>
    <a:lvl9pPr marL="3657600" algn="l" defTabSz="914400" rtl="0" eaLnBrk="1" latinLnBrk="0" hangingPunct="1">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731" autoAdjust="0"/>
  </p:normalViewPr>
  <p:slideViewPr>
    <p:cSldViewPr>
      <p:cViewPr varScale="1">
        <p:scale>
          <a:sx n="52" d="100"/>
          <a:sy n="52" d="100"/>
        </p:scale>
        <p:origin x="-1878"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a:lvl1pPr>
          </a:lstStyle>
          <a:p>
            <a:pPr>
              <a:defRPr/>
            </a:pPr>
            <a:endParaRPr lang="en-GB" altLang="en-US"/>
          </a:p>
        </p:txBody>
      </p:sp>
      <p:sp>
        <p:nvSpPr>
          <p:cNvPr id="78851"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a:lvl1pPr>
          </a:lstStyle>
          <a:p>
            <a:pPr>
              <a:defRPr/>
            </a:pPr>
            <a:fld id="{DF533A75-005F-4D80-B1F8-61878405F965}" type="datetimeFigureOut">
              <a:rPr lang="en-GB" altLang="en-US"/>
              <a:pPr>
                <a:defRPr/>
              </a:pPr>
              <a:t>12/06/2017</a:t>
            </a:fld>
            <a:endParaRPr lang="en-GB" altLang="en-US"/>
          </a:p>
        </p:txBody>
      </p:sp>
      <p:sp>
        <p:nvSpPr>
          <p:cNvPr id="78852" name="Rectangle 4"/>
          <p:cNvSpPr>
            <a:spLocks noGrp="1" noChangeArrowheads="1"/>
          </p:cNvSpPr>
          <p:nvPr>
            <p:ph type="ftr" sz="quarter" idx="2"/>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a:lvl1pPr>
          </a:lstStyle>
          <a:p>
            <a:pPr>
              <a:defRPr/>
            </a:pPr>
            <a:endParaRPr lang="en-GB" altLang="en-US"/>
          </a:p>
        </p:txBody>
      </p:sp>
      <p:sp>
        <p:nvSpPr>
          <p:cNvPr id="78853" name="Rectangle 5"/>
          <p:cNvSpPr>
            <a:spLocks noGrp="1" noChangeArrowheads="1"/>
          </p:cNvSpPr>
          <p:nvPr>
            <p:ph type="sldNum" sz="quarter" idx="3"/>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a:lvl1pPr>
          </a:lstStyle>
          <a:p>
            <a:pPr>
              <a:defRPr/>
            </a:pPr>
            <a:fld id="{B64875E9-3735-4295-A492-B835DA10194F}" type="slidenum">
              <a:rPr lang="en-GB" altLang="en-US"/>
              <a:pPr>
                <a:defRPr/>
              </a:pPr>
              <a:t>‹#›</a:t>
            </a:fld>
            <a:endParaRPr lang="en-GB" altLang="en-US"/>
          </a:p>
        </p:txBody>
      </p:sp>
    </p:spTree>
    <p:extLst>
      <p:ext uri="{BB962C8B-B14F-4D97-AF65-F5344CB8AC3E}">
        <p14:creationId xmlns:p14="http://schemas.microsoft.com/office/powerpoint/2010/main" val="909746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1"/>
          <p:cNvSpPr>
            <a:spLocks noGrp="1" noRot="1" noChangeAspect="1" noChangeArrowheads="1" noTextEdit="1"/>
          </p:cNvSpPr>
          <p:nvPr>
            <p:ph type="sldImg"/>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6" name="Rectangle 2"/>
          <p:cNvSpPr>
            <a:spLocks noGrp="1" noChangeArrowheads="1"/>
          </p:cNvSpPr>
          <p:nvPr>
            <p:ph type="body" sz="quarter" idx="1"/>
          </p:nvPr>
        </p:nvSpPr>
        <p:spPr bwMode="auto">
          <a:xfrm>
            <a:off x="679450" y="4716463"/>
            <a:ext cx="5438775" cy="4467225"/>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extLst>
      <p:ext uri="{BB962C8B-B14F-4D97-AF65-F5344CB8AC3E}">
        <p14:creationId xmlns:p14="http://schemas.microsoft.com/office/powerpoint/2010/main" val="3022480215"/>
      </p:ext>
    </p:extLst>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altLang="en-US" dirty="0" smtClean="0">
              <a:latin typeface="Times New Roman" pitchFamily="18" charset="0"/>
            </a:endParaRPr>
          </a:p>
          <a:p>
            <a:pPr>
              <a:buFont typeface="Arial" pitchFamily="34" charset="0"/>
              <a:buChar char="•"/>
            </a:pPr>
            <a:r>
              <a:rPr lang="en-GB" altLang="en-US" baseline="0" dirty="0" smtClean="0">
                <a:latin typeface="Times New Roman" pitchFamily="18" charset="0"/>
              </a:rPr>
              <a:t> Outline my professional background</a:t>
            </a:r>
          </a:p>
          <a:p>
            <a:pPr>
              <a:buFont typeface="Arial" pitchFamily="34" charset="0"/>
              <a:buChar char="•"/>
            </a:pPr>
            <a:r>
              <a:rPr lang="en-GB" altLang="en-US" baseline="0" dirty="0" smtClean="0">
                <a:latin typeface="Times New Roman" pitchFamily="18" charset="0"/>
              </a:rPr>
              <a:t> Enquire how many TAs have:</a:t>
            </a:r>
          </a:p>
          <a:p>
            <a:pPr lvl="1">
              <a:buFont typeface="Arial" pitchFamily="34" charset="0"/>
              <a:buChar char="•"/>
            </a:pPr>
            <a:r>
              <a:rPr lang="en-GB" altLang="en-US" baseline="0" dirty="0" smtClean="0">
                <a:latin typeface="Times New Roman" pitchFamily="18" charset="0"/>
              </a:rPr>
              <a:t> heard of PT</a:t>
            </a:r>
          </a:p>
          <a:p>
            <a:pPr lvl="1">
              <a:buFont typeface="Arial" pitchFamily="34" charset="0"/>
              <a:buChar char="•"/>
            </a:pPr>
            <a:r>
              <a:rPr lang="en-GB" altLang="en-US" baseline="0" dirty="0" smtClean="0">
                <a:latin typeface="Times New Roman" pitchFamily="18" charset="0"/>
              </a:rPr>
              <a:t> done PT training</a:t>
            </a:r>
          </a:p>
          <a:p>
            <a:pPr lvl="1">
              <a:buFont typeface="Arial" pitchFamily="34" charset="0"/>
              <a:buChar char="•"/>
            </a:pPr>
            <a:r>
              <a:rPr lang="en-GB" altLang="en-US" baseline="0" dirty="0" smtClean="0">
                <a:latin typeface="Times New Roman" pitchFamily="18" charset="0"/>
              </a:rPr>
              <a:t> ever implemented a PT programme with a child</a:t>
            </a:r>
            <a:endParaRPr lang="en-GB" altLang="en-US" dirty="0" smtClean="0">
              <a:latin typeface="Times New Roman" pitchFamily="18" charset="0"/>
            </a:endParaRPr>
          </a:p>
          <a:p>
            <a:endParaRPr lang="en-GB" altLang="en-US" dirty="0"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dirty="0" smtClean="0">
                <a:latin typeface="Times New Roman" pitchFamily="18" charset="0"/>
              </a:rPr>
              <a:t>Check time-scales for training   9.00</a:t>
            </a:r>
            <a:r>
              <a:rPr lang="en-GB" altLang="en-US" baseline="0" dirty="0" smtClean="0">
                <a:latin typeface="Times New Roman" pitchFamily="18" charset="0"/>
              </a:rPr>
              <a:t> until 10.15 (break-time)</a:t>
            </a:r>
            <a:endParaRPr lang="en-GB" altLang="en-US" dirty="0" smtClean="0">
              <a:latin typeface="Times New Roman" pitchFamily="18" charset="0"/>
            </a:endParaRPr>
          </a:p>
          <a:p>
            <a:endParaRPr lang="en-GB" altLang="en-US" dirty="0" smtClean="0">
              <a:latin typeface="Times New Roman" pitchFamily="18" charset="0"/>
            </a:endParaRPr>
          </a:p>
          <a:p>
            <a:pPr>
              <a:buFont typeface="Arial" pitchFamily="34" charset="0"/>
              <a:buChar char="•"/>
            </a:pPr>
            <a:r>
              <a:rPr lang="en-GB" altLang="en-US" baseline="0" dirty="0" smtClean="0">
                <a:latin typeface="Times New Roman" pitchFamily="18" charset="0"/>
              </a:rPr>
              <a:t> What is precision teaching/when can PT be used/why does PT work? – 10 minutes</a:t>
            </a:r>
          </a:p>
          <a:p>
            <a:pPr>
              <a:buFont typeface="Arial" pitchFamily="34" charset="0"/>
              <a:buChar char="•"/>
            </a:pPr>
            <a:r>
              <a:rPr lang="en-GB" altLang="en-US" baseline="0" dirty="0" smtClean="0">
                <a:latin typeface="Times New Roman" pitchFamily="18" charset="0"/>
              </a:rPr>
              <a:t> The underlying theory (will include an activity) – 10 minutes</a:t>
            </a:r>
          </a:p>
          <a:p>
            <a:pPr>
              <a:buFont typeface="Arial" pitchFamily="34" charset="0"/>
              <a:buChar char="•"/>
            </a:pPr>
            <a:r>
              <a:rPr lang="en-GB" altLang="en-US" baseline="0" dirty="0" smtClean="0">
                <a:latin typeface="Times New Roman" pitchFamily="18" charset="0"/>
              </a:rPr>
              <a:t> How do you do PT</a:t>
            </a:r>
            <a:r>
              <a:rPr lang="en-GB" altLang="en-US" dirty="0" smtClean="0">
                <a:latin typeface="Times New Roman" pitchFamily="18" charset="0"/>
              </a:rPr>
              <a:t> – (will</a:t>
            </a:r>
            <a:r>
              <a:rPr lang="en-GB" altLang="en-US" baseline="0" dirty="0" smtClean="0">
                <a:latin typeface="Times New Roman" pitchFamily="18" charset="0"/>
              </a:rPr>
              <a:t> include two activities – one related to each part) 30 minutes</a:t>
            </a:r>
            <a:endParaRPr lang="en-GB" altLang="en-US" dirty="0" smtClean="0">
              <a:latin typeface="Times New Roman" pitchFamily="18" charset="0"/>
            </a:endParaRPr>
          </a:p>
          <a:p>
            <a:pPr>
              <a:buFont typeface="Arial" pitchFamily="34" charset="0"/>
              <a:buChar char="•"/>
            </a:pPr>
            <a:r>
              <a:rPr lang="en-GB" altLang="en-US" baseline="0" dirty="0" smtClean="0">
                <a:latin typeface="Times New Roman" pitchFamily="18" charset="0"/>
              </a:rPr>
              <a:t> Goals between now and the next session – 10 minutes – </a:t>
            </a:r>
            <a:r>
              <a:rPr lang="en-GB" altLang="en-US" b="1" baseline="0" dirty="0" smtClean="0">
                <a:latin typeface="Times New Roman" pitchFamily="18" charset="0"/>
              </a:rPr>
              <a:t>Clarify position with TAs with regards to having a child in mind – explain  that training has been designed with expectation that we can consolidate our training from each session by putting it into practice as we go along</a:t>
            </a:r>
          </a:p>
          <a:p>
            <a:pPr>
              <a:buFont typeface="Arial" pitchFamily="34" charset="0"/>
              <a:buNone/>
            </a:pPr>
            <a:endParaRPr lang="en-GB" altLang="en-US" baseline="0" dirty="0" smtClean="0">
              <a:latin typeface="Times New Roman" pitchFamily="18" charset="0"/>
            </a:endParaRPr>
          </a:p>
          <a:p>
            <a:pPr>
              <a:buFont typeface="Arial" pitchFamily="34" charset="0"/>
              <a:buChar char="•"/>
            </a:pPr>
            <a:r>
              <a:rPr lang="en-GB" altLang="en-US" baseline="0" dirty="0" smtClean="0">
                <a:latin typeface="Times New Roman" pitchFamily="18" charset="0"/>
              </a:rPr>
              <a:t> Time for questions at the end – at least 5 minutes</a:t>
            </a:r>
          </a:p>
          <a:p>
            <a:pPr>
              <a:buFont typeface="Arial" pitchFamily="34" charset="0"/>
              <a:buNone/>
            </a:pPr>
            <a:endParaRPr lang="en-GB" altLang="en-US" baseline="0" dirty="0" smtClean="0">
              <a:latin typeface="Times New Roman" pitchFamily="18" charset="0"/>
            </a:endParaRPr>
          </a:p>
          <a:p>
            <a:pPr>
              <a:buFont typeface="Arial" pitchFamily="34" charset="0"/>
              <a:buNone/>
            </a:pPr>
            <a:endParaRPr lang="en-GB" altLang="en-US" dirty="0"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dirty="0" smtClean="0">
                <a:latin typeface="Times New Roman" pitchFamily="18" charset="0"/>
              </a:rPr>
              <a:t>Looking ahead to next sessions:</a:t>
            </a:r>
          </a:p>
          <a:p>
            <a:endParaRPr lang="en-GB" altLang="en-US" dirty="0" smtClean="0">
              <a:latin typeface="Times New Roman" pitchFamily="18" charset="0"/>
            </a:endParaRPr>
          </a:p>
          <a:p>
            <a:endParaRPr lang="en-GB" altLang="en-US" dirty="0"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dirty="0" smtClean="0">
                <a:latin typeface="Times New Roman" pitchFamily="18" charset="0"/>
              </a:rPr>
              <a:t>Looking ahead to next sessions:</a:t>
            </a:r>
          </a:p>
          <a:p>
            <a:endParaRPr lang="en-GB" altLang="en-US" dirty="0" smtClean="0">
              <a:latin typeface="Times New Roman" pitchFamily="18" charset="0"/>
            </a:endParaRPr>
          </a:p>
          <a:p>
            <a:r>
              <a:rPr lang="en-GB" altLang="en-US" dirty="0" smtClean="0">
                <a:latin typeface="Times New Roman" pitchFamily="18" charset="0"/>
              </a:rPr>
              <a:t>Explain</a:t>
            </a:r>
            <a:r>
              <a:rPr lang="en-GB" altLang="en-US" baseline="0" dirty="0" smtClean="0">
                <a:latin typeface="Times New Roman" pitchFamily="18" charset="0"/>
              </a:rPr>
              <a:t> that we will meet for a final session three weeks after the second session – hopefully once we have begun to settle into a routine of daily precision teaching sessions with our target children</a:t>
            </a:r>
          </a:p>
          <a:p>
            <a:endParaRPr lang="en-GB" altLang="en-US" baseline="0" dirty="0" smtClean="0">
              <a:latin typeface="Times New Roman" pitchFamily="18" charset="0"/>
            </a:endParaRPr>
          </a:p>
          <a:p>
            <a:r>
              <a:rPr lang="en-GB" altLang="en-US" baseline="0" dirty="0" smtClean="0">
                <a:latin typeface="Times New Roman" pitchFamily="18" charset="0"/>
              </a:rPr>
              <a:t>We will be doing a form of peer supervision where we share experiences and try to problem-solve together – this will form a model of support for any future issues which arise with implementing PT programmes – emphasise colleagues as a very rich and creative resource for solving problems</a:t>
            </a:r>
            <a:endParaRPr lang="en-GB" altLang="en-US" dirty="0" smtClean="0">
              <a:latin typeface="Times New Roman" pitchFamily="18" charset="0"/>
            </a:endParaRPr>
          </a:p>
          <a:p>
            <a:endParaRPr lang="en-GB" altLang="en-US" dirty="0" smtClean="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smtClean="0">
                <a:latin typeface="Times New Roman" pitchFamily="18" charset="0"/>
              </a:rPr>
              <a:t>Although PT sessions</a:t>
            </a:r>
            <a:r>
              <a:rPr lang="en-GB" altLang="en-US" baseline="0" dirty="0" smtClean="0">
                <a:latin typeface="Times New Roman" pitchFamily="18" charset="0"/>
              </a:rPr>
              <a:t> do involve teaching PT is more accurately described as a way of precisely measuring the effectiveness of teaching, rather than an actual method of teaching.  It involves precise, daily measurement of a child’s progress towards given targets; this feedback is used to shape the programme effectively to the individual needs of the child. </a:t>
            </a:r>
            <a:endParaRPr lang="en-GB" altLang="en-US" dirty="0" smtClean="0">
              <a:latin typeface="Times New Roman" pitchFamily="18" charset="0"/>
            </a:endParaRPr>
          </a:p>
          <a:p>
            <a:endParaRPr lang="en-GB" altLang="en-US" dirty="0" smtClean="0">
              <a:latin typeface="Times New Roman" pitchFamily="18" charset="0"/>
            </a:endParaRPr>
          </a:p>
          <a:p>
            <a:r>
              <a:rPr lang="en-GB" altLang="en-US" dirty="0" smtClean="0">
                <a:latin typeface="Times New Roman" pitchFamily="18" charset="0"/>
              </a:rPr>
              <a:t>Key principle of PT is that “The child knows best” – if there is a lack of progress, the assumption is not that “the child is failing to progress, but rather that the programme is failing to progress the child” – </a:t>
            </a:r>
            <a:r>
              <a:rPr lang="en-GB" altLang="en-US" b="1" dirty="0" smtClean="0">
                <a:latin typeface="Times New Roman" pitchFamily="18" charset="0"/>
              </a:rPr>
              <a:t>emphasises that PT seeks to protect and build children’s self-esteem in the process of moving them forward in their learning; emphasise where I am an advocate for PT!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a:t>
            </a:r>
            <a:r>
              <a:rPr lang="en-GB" altLang="en-US" baseline="0" dirty="0" smtClean="0">
                <a:latin typeface="Times New Roman" pitchFamily="18" charset="0"/>
              </a:rPr>
              <a:t>One-to-one intervention for ‘st</a:t>
            </a:r>
            <a:r>
              <a:rPr lang="en-GB" altLang="en-US" dirty="0" smtClean="0">
                <a:latin typeface="Times New Roman" pitchFamily="18" charset="0"/>
              </a:rPr>
              <a:t>uck</a:t>
            </a:r>
            <a:r>
              <a:rPr lang="en-GB" altLang="en-US" baseline="0" dirty="0" smtClean="0">
                <a:latin typeface="Times New Roman" pitchFamily="18" charset="0"/>
              </a:rPr>
              <a:t> children’</a:t>
            </a: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Little/no progress despite appropriate learning opportunities </a:t>
            </a:r>
          </a:p>
          <a:p>
            <a:pPr>
              <a:buFont typeface="Arial" pitchFamily="34" charset="0"/>
              <a:buChar char="•"/>
            </a:pPr>
            <a:r>
              <a:rPr lang="en-GB" altLang="en-US" baseline="0" dirty="0" smtClean="0">
                <a:latin typeface="Times New Roman" pitchFamily="18" charset="0"/>
              </a:rPr>
              <a:t> Most often used as a literacy intervention but can also be used as a numeracy intervention</a:t>
            </a:r>
          </a:p>
          <a:p>
            <a:pPr>
              <a:buFont typeface="Arial" pitchFamily="34" charset="0"/>
              <a:buChar char="•"/>
            </a:pP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Can</a:t>
            </a:r>
            <a:r>
              <a:rPr lang="en-GB" altLang="en-US" baseline="0" dirty="0" smtClean="0">
                <a:latin typeface="Times New Roman" pitchFamily="18" charset="0"/>
              </a:rPr>
              <a:t> be applied widely to a range of learning areas </a:t>
            </a:r>
            <a:r>
              <a:rPr lang="en-GB" altLang="en-US" dirty="0" smtClean="0">
                <a:latin typeface="Times New Roman" pitchFamily="18" charset="0"/>
              </a:rPr>
              <a:t>but:</a:t>
            </a:r>
          </a:p>
          <a:p>
            <a:pPr lvl="1">
              <a:buFont typeface="Arial" pitchFamily="34" charset="0"/>
              <a:buChar char="•"/>
            </a:pPr>
            <a:r>
              <a:rPr lang="en-GB" altLang="en-US" dirty="0" smtClean="0">
                <a:latin typeface="Times New Roman" pitchFamily="18" charset="0"/>
              </a:rPr>
              <a:t>Skills</a:t>
            </a:r>
            <a:r>
              <a:rPr lang="en-GB" altLang="en-US" baseline="0" dirty="0" smtClean="0">
                <a:latin typeface="Times New Roman" pitchFamily="18" charset="0"/>
              </a:rPr>
              <a:t> must be measurable </a:t>
            </a:r>
          </a:p>
          <a:p>
            <a:pPr lvl="1">
              <a:buFont typeface="Arial" pitchFamily="34" charset="0"/>
              <a:buChar char="•"/>
            </a:pPr>
            <a:r>
              <a:rPr lang="en-GB" altLang="en-US" baseline="0" dirty="0" smtClean="0">
                <a:latin typeface="Times New Roman" pitchFamily="18" charset="0"/>
              </a:rPr>
              <a:t>Designed to support children to acquire the skills they need to make progress – building blocks</a:t>
            </a:r>
            <a:endParaRPr lang="en-GB" altLang="en-US" dirty="0" smtClean="0">
              <a:latin typeface="Times New Roman" pitchFamily="18" charset="0"/>
            </a:endParaRPr>
          </a:p>
          <a:p>
            <a:pPr lvl="1">
              <a:buFont typeface="Arial" pitchFamily="34" charset="0"/>
              <a:buNone/>
            </a:pPr>
            <a:endParaRPr lang="en-GB" altLang="en-US" dirty="0" smtClean="0">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b="1" dirty="0" smtClean="0">
                <a:latin typeface="Times New Roman" pitchFamily="18" charset="0"/>
              </a:rPr>
              <a:t>Specific: </a:t>
            </a:r>
            <a:r>
              <a:rPr lang="en-GB" altLang="en-US" b="0" dirty="0" smtClean="0">
                <a:latin typeface="Times New Roman" pitchFamily="18" charset="0"/>
              </a:rPr>
              <a:t>tailored to learning</a:t>
            </a:r>
            <a:r>
              <a:rPr lang="en-GB" altLang="en-US" b="0" baseline="0" dirty="0" smtClean="0">
                <a:latin typeface="Times New Roman" pitchFamily="18" charset="0"/>
              </a:rPr>
              <a:t> needs of the individual child, requires the adult to identify and work towards specific targets, recognising that we cannot ‘hit’ our targets effectively unless we know exactly what it is that we’re aiming for</a:t>
            </a:r>
          </a:p>
          <a:p>
            <a:endParaRPr lang="en-GB" altLang="en-US" b="0" baseline="0" dirty="0" smtClean="0">
              <a:latin typeface="Times New Roman" pitchFamily="18" charset="0"/>
            </a:endParaRPr>
          </a:p>
          <a:p>
            <a:r>
              <a:rPr lang="en-GB" altLang="en-US" b="1" baseline="0" dirty="0" smtClean="0">
                <a:latin typeface="Times New Roman" pitchFamily="18" charset="0"/>
              </a:rPr>
              <a:t>Flexible: </a:t>
            </a:r>
            <a:r>
              <a:rPr lang="en-GB" altLang="en-US" b="0" baseline="0" dirty="0" smtClean="0">
                <a:latin typeface="Times New Roman" pitchFamily="18" charset="0"/>
              </a:rPr>
              <a:t>once principles of PT are understood and you develop confidence and fluency with this technique, you can begin to appreciate that it has wide application across the curriculum; PT can be very usefully linked with IEP targets</a:t>
            </a:r>
          </a:p>
          <a:p>
            <a:endParaRPr lang="en-GB" altLang="en-US" b="0" baseline="0" dirty="0" smtClean="0">
              <a:latin typeface="Times New Roman" pitchFamily="18" charset="0"/>
            </a:endParaRPr>
          </a:p>
          <a:p>
            <a:r>
              <a:rPr lang="en-GB" altLang="en-US" b="1" baseline="0" dirty="0" smtClean="0">
                <a:latin typeface="Times New Roman" pitchFamily="18" charset="0"/>
              </a:rPr>
              <a:t>It ensures success:  </a:t>
            </a:r>
            <a:r>
              <a:rPr lang="en-GB" altLang="en-US" b="0" baseline="0" dirty="0" smtClean="0">
                <a:latin typeface="Times New Roman" pitchFamily="18" charset="0"/>
              </a:rPr>
              <a:t>emphasise immediate feedback – motivating; highlight that children improve against their own performance – emotionally protective – not competing against their peers (point out that children typically tend to increasingly compare themselves to their peers as they grow older, and negative comparisons to peers can become a daily experience for some of our children who are struggling to acquire foundational skills;  talk about children’s wider development as learners – setting goals, working towards them, evaluating progress, revising goals</a:t>
            </a:r>
          </a:p>
          <a:p>
            <a:endParaRPr lang="en-GB" altLang="en-US" b="0" baseline="0" dirty="0" smtClean="0">
              <a:latin typeface="Times New Roman" pitchFamily="18" charset="0"/>
            </a:endParaRPr>
          </a:p>
          <a:p>
            <a:r>
              <a:rPr lang="en-GB" altLang="en-US" b="1" baseline="0" dirty="0" smtClean="0">
                <a:latin typeface="Times New Roman" pitchFamily="18" charset="0"/>
              </a:rPr>
              <a:t>It can make learning fun:  </a:t>
            </a:r>
            <a:r>
              <a:rPr lang="en-GB" altLang="en-US" b="0" baseline="0" dirty="0" smtClean="0">
                <a:latin typeface="Times New Roman" pitchFamily="18" charset="0"/>
              </a:rPr>
              <a:t>we know the importance of bringing learning alive for children by making it relevant and fun</a:t>
            </a:r>
          </a:p>
          <a:p>
            <a:endParaRPr lang="en-GB" altLang="en-US" b="0" baseline="0" dirty="0" smtClean="0">
              <a:latin typeface="Times New Roman" pitchFamily="18" charset="0"/>
            </a:endParaRPr>
          </a:p>
          <a:p>
            <a:r>
              <a:rPr lang="en-GB" altLang="en-US" b="1" baseline="0" dirty="0" smtClean="0">
                <a:latin typeface="Times New Roman" pitchFamily="18" charset="0"/>
              </a:rPr>
              <a:t>It is quick and easy to run:  </a:t>
            </a:r>
            <a:r>
              <a:rPr lang="en-GB" altLang="en-US" b="0" baseline="0" dirty="0" smtClean="0">
                <a:latin typeface="Times New Roman" pitchFamily="18" charset="0"/>
              </a:rPr>
              <a:t>major part of the reason PT is successful is that it is </a:t>
            </a:r>
            <a:r>
              <a:rPr lang="en-GB" altLang="en-US" b="1" baseline="0" dirty="0" smtClean="0">
                <a:latin typeface="Times New Roman" pitchFamily="18" charset="0"/>
              </a:rPr>
              <a:t>workable; </a:t>
            </a:r>
            <a:r>
              <a:rPr lang="en-GB" altLang="en-US" b="0" baseline="0" dirty="0" smtClean="0">
                <a:latin typeface="Times New Roman" pitchFamily="18" charset="0"/>
              </a:rPr>
              <a:t>although it is a daily intervention, it isn’t time-intensive and it doesn’t require expensive resources, therefore it can provide a very cost-effective way of helping to move seemingly ‘stuck’ children forward</a:t>
            </a:r>
            <a:endParaRPr lang="en-GB" altLang="en-US" b="1" baseline="0" dirty="0" smtClean="0">
              <a:latin typeface="Times New Roman" pitchFamily="18" charset="0"/>
            </a:endParaRPr>
          </a:p>
          <a:p>
            <a:endParaRPr lang="en-GB" altLang="en-US" b="0" baseline="0"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endParaRPr lang="en-GB" altLang="en-US" dirty="0" smtClean="0">
              <a:latin typeface="Times New Roman" pitchFamily="18" charset="0"/>
            </a:endParaRPr>
          </a:p>
          <a:p>
            <a:pPr>
              <a:buFontTx/>
              <a:buChar char="-"/>
            </a:pPr>
            <a:r>
              <a:rPr lang="en-GB" altLang="en-US" baseline="0" dirty="0" smtClean="0">
                <a:latin typeface="Times New Roman" pitchFamily="18" charset="0"/>
              </a:rPr>
              <a:t>Mention that trainers vary in terms of how much they cover the theory underlying PT – point out that it is possible to implement PT programmes effectively without necessarily knowing about the psychological theory which underpins it. </a:t>
            </a:r>
          </a:p>
          <a:p>
            <a:pPr>
              <a:buFontTx/>
              <a:buChar char="-"/>
            </a:pPr>
            <a:endParaRPr lang="en-GB" altLang="en-US" baseline="0" dirty="0" smtClean="0">
              <a:latin typeface="Times New Roman" pitchFamily="18" charset="0"/>
            </a:endParaRPr>
          </a:p>
          <a:p>
            <a:pPr>
              <a:buFontTx/>
              <a:buChar char="-"/>
            </a:pPr>
            <a:r>
              <a:rPr lang="en-GB" altLang="en-US" baseline="0" dirty="0" smtClean="0">
                <a:latin typeface="Times New Roman" pitchFamily="18" charset="0"/>
              </a:rPr>
              <a:t>My view is that it’s very helpful to have a good grasp of the theory to give us a clear understanding of what the programme is about - what we are trying to do, and how we are seeking to achieve it</a:t>
            </a:r>
          </a:p>
          <a:p>
            <a:pPr>
              <a:buFontTx/>
              <a:buNone/>
            </a:pPr>
            <a:endParaRPr lang="en-GB" altLang="en-US" dirty="0" smtClean="0">
              <a:latin typeface="Times New Roman" pitchFamily="18" charset="0"/>
            </a:endParaRPr>
          </a:p>
          <a:p>
            <a:pPr>
              <a:buFontTx/>
              <a:buChar char="-"/>
            </a:pPr>
            <a:r>
              <a:rPr lang="en-GB" altLang="en-US" dirty="0" smtClean="0">
                <a:latin typeface="Times New Roman" pitchFamily="18" charset="0"/>
              </a:rPr>
              <a:t>Explain that Haring &amp; Eaton developed a theory of learning or skill development stages known as the Learning Hierarchy – as we can see this theory proposes 5 stages</a:t>
            </a:r>
          </a:p>
          <a:p>
            <a:pPr>
              <a:buFontTx/>
              <a:buChar char="-"/>
            </a:pPr>
            <a:endParaRPr lang="en-GB" altLang="en-US" dirty="0" smtClean="0">
              <a:latin typeface="Times New Roman" pitchFamily="18" charset="0"/>
            </a:endParaRPr>
          </a:p>
          <a:p>
            <a:pPr>
              <a:buFontTx/>
              <a:buChar char="-"/>
            </a:pPr>
            <a:r>
              <a:rPr lang="en-GB" altLang="en-US" dirty="0" smtClean="0">
                <a:latin typeface="Times New Roman" pitchFamily="18" charset="0"/>
              </a:rPr>
              <a:t>Explain that to get the group thinking about the theory behind PT, I’m now going ask them in groups of three to four to put the stages into order with the first stage at the bottom and the last stage at the top. </a:t>
            </a:r>
            <a:r>
              <a:rPr lang="en-GB" altLang="en-US" b="1" dirty="0" smtClean="0">
                <a:latin typeface="Times New Roman" pitchFamily="18" charset="0"/>
              </a:rPr>
              <a:t>I’m going to give you 5 minutes to do </a:t>
            </a:r>
            <a:r>
              <a:rPr lang="en-GB" altLang="en-US" b="1" smtClean="0">
                <a:latin typeface="Times New Roman" pitchFamily="18" charset="0"/>
              </a:rPr>
              <a:t>this.</a:t>
            </a:r>
            <a:endParaRPr lang="en-GB" altLang="en-US" b="1" dirty="0" smtClean="0">
              <a:latin typeface="Times New Roman" pitchFamily="18" charset="0"/>
            </a:endParaRPr>
          </a:p>
          <a:p>
            <a:pPr>
              <a:buFontTx/>
              <a:buNone/>
            </a:pPr>
            <a:endParaRPr lang="en-GB" altLang="en-US" b="1" dirty="0" smtClean="0">
              <a:latin typeface="Times New Roman" pitchFamily="18" charset="0"/>
            </a:endParaRPr>
          </a:p>
          <a:p>
            <a:endParaRPr lang="en-GB" altLang="en-US" b="1" dirty="0" smtClean="0">
              <a:latin typeface="Times New Roman" pitchFamily="18" charset="0"/>
            </a:endParaRPr>
          </a:p>
          <a:p>
            <a:pPr>
              <a:buFontTx/>
              <a:buChar char="-"/>
            </a:pPr>
            <a:r>
              <a:rPr lang="en-GB" altLang="en-US" dirty="0" smtClean="0">
                <a:latin typeface="Times New Roman" pitchFamily="18" charset="0"/>
              </a:rPr>
              <a:t> Reveal correct order – HAND OUT completed</a:t>
            </a:r>
            <a:r>
              <a:rPr lang="en-GB" altLang="en-US" baseline="0" dirty="0" smtClean="0">
                <a:latin typeface="Times New Roman" pitchFamily="18" charset="0"/>
              </a:rPr>
              <a:t> pyramids </a:t>
            </a:r>
            <a:r>
              <a:rPr lang="en-GB" altLang="en-US" baseline="0" smtClean="0">
                <a:latin typeface="Times New Roman" pitchFamily="18" charset="0"/>
              </a:rPr>
              <a:t>for Tas to </a:t>
            </a:r>
            <a:endParaRPr lang="en-GB" altLang="en-US" dirty="0" smtClean="0">
              <a:latin typeface="Times New Roman" pitchFamily="18" charset="0"/>
            </a:endParaRPr>
          </a:p>
          <a:p>
            <a:pPr>
              <a:buFontTx/>
              <a:buChar char="-"/>
            </a:pPr>
            <a:endParaRPr lang="en-GB" altLang="en-US" b="1" dirty="0" smtClean="0">
              <a:latin typeface="Times New Roman" pitchFamily="18" charset="0"/>
            </a:endParaRPr>
          </a:p>
          <a:p>
            <a:r>
              <a:rPr lang="en-GB" altLang="en-US" b="1" u="sng" dirty="0" smtClean="0">
                <a:latin typeface="Times New Roman" pitchFamily="18" charset="0"/>
              </a:rPr>
              <a:t>Acquisition</a:t>
            </a:r>
            <a:r>
              <a:rPr lang="en-GB" altLang="en-US" b="1" dirty="0" smtClean="0">
                <a:latin typeface="Times New Roman" pitchFamily="18" charset="0"/>
              </a:rPr>
              <a:t>    Just beginning to learn the skill, some degree of accuracy but performance not yet reliable – by the end of this phase performance is basically accurate but not fluid, automated</a:t>
            </a:r>
          </a:p>
          <a:p>
            <a:endParaRPr lang="en-GB" altLang="en-US" b="1" dirty="0" smtClean="0">
              <a:latin typeface="Times New Roman" pitchFamily="18" charset="0"/>
            </a:endParaRPr>
          </a:p>
          <a:p>
            <a:r>
              <a:rPr lang="en-GB" altLang="en-US" b="1" u="sng" dirty="0" smtClean="0">
                <a:latin typeface="Times New Roman" pitchFamily="18" charset="0"/>
              </a:rPr>
              <a:t>Fluency</a:t>
            </a:r>
            <a:r>
              <a:rPr lang="en-GB" altLang="en-US" b="1" dirty="0" smtClean="0">
                <a:latin typeface="Times New Roman" pitchFamily="18" charset="0"/>
              </a:rPr>
              <a:t>	Can perform the skill quickly and accurately – this phase brings speed of performance into the equation – skill becoming automated, ‘second nature’</a:t>
            </a:r>
          </a:p>
          <a:p>
            <a:r>
              <a:rPr lang="en-GB" altLang="en-US" dirty="0" smtClean="0">
                <a:latin typeface="Times New Roman" pitchFamily="18" charset="0"/>
              </a:rPr>
              <a:t>			</a:t>
            </a:r>
            <a:endParaRPr lang="en-GB" altLang="en-US" b="1" i="1" dirty="0" smtClean="0">
              <a:latin typeface="Times New Roman" pitchFamily="18" charset="0"/>
            </a:endParaRPr>
          </a:p>
          <a:p>
            <a:r>
              <a:rPr lang="en-GB" altLang="en-US" b="1" u="sng" dirty="0" smtClean="0">
                <a:latin typeface="Times New Roman" pitchFamily="18" charset="0"/>
              </a:rPr>
              <a:t>Maintenance</a:t>
            </a:r>
            <a:r>
              <a:rPr lang="en-GB" altLang="en-US" b="1" dirty="0" smtClean="0">
                <a:latin typeface="Times New Roman" pitchFamily="18" charset="0"/>
              </a:rPr>
              <a:t>   Due to regular reinforcements, can perform the skill over a lengthy period of time – fluent performance is sustained over time – often referred to as ‘mastery’ stage</a:t>
            </a:r>
          </a:p>
          <a:p>
            <a:r>
              <a:rPr lang="en-GB" altLang="en-US" b="1" dirty="0" smtClean="0">
                <a:latin typeface="Times New Roman" pitchFamily="18" charset="0"/>
              </a:rPr>
              <a:t> </a:t>
            </a:r>
          </a:p>
          <a:p>
            <a:r>
              <a:rPr lang="en-GB" altLang="en-US" b="1" u="sng" dirty="0" smtClean="0">
                <a:latin typeface="Times New Roman" pitchFamily="18" charset="0"/>
              </a:rPr>
              <a:t>Generalisation</a:t>
            </a:r>
            <a:r>
              <a:rPr lang="en-GB" altLang="en-US" b="1" dirty="0" smtClean="0">
                <a:latin typeface="Times New Roman" pitchFamily="18" charset="0"/>
              </a:rPr>
              <a:t>    Can generalise the skill to different contexts/new situations, can transfer learning across settings</a:t>
            </a:r>
          </a:p>
          <a:p>
            <a:r>
              <a:rPr lang="en-GB" altLang="en-US" b="1" dirty="0" smtClean="0">
                <a:latin typeface="Times New Roman" pitchFamily="18" charset="0"/>
              </a:rPr>
              <a:t>			</a:t>
            </a:r>
            <a:endParaRPr lang="en-GB" altLang="en-US" i="1" dirty="0" smtClean="0">
              <a:latin typeface="Times New Roman" pitchFamily="18" charset="0"/>
            </a:endParaRPr>
          </a:p>
          <a:p>
            <a:r>
              <a:rPr lang="en-GB" altLang="en-US" b="1" u="sng" dirty="0" smtClean="0">
                <a:latin typeface="Times New Roman" pitchFamily="18" charset="0"/>
              </a:rPr>
              <a:t>Adaptation</a:t>
            </a:r>
            <a:r>
              <a:rPr lang="en-GB" altLang="en-US" b="1" dirty="0" smtClean="0">
                <a:latin typeface="Times New Roman" pitchFamily="18" charset="0"/>
              </a:rPr>
              <a:t>	 Can adapt the skill appropriately to learn new skills </a:t>
            </a:r>
            <a:r>
              <a:rPr lang="en-GB" altLang="en-US" b="1" i="1" dirty="0" smtClean="0">
                <a:latin typeface="Times New Roman" pitchFamily="18" charset="0"/>
              </a:rPr>
              <a:t>NB. Overlap between generalisation &amp; adaptation stages</a:t>
            </a:r>
          </a:p>
          <a:p>
            <a:endParaRPr lang="en-GB" altLang="en-US" b="1" i="1" dirty="0" smtClean="0">
              <a:latin typeface="Times New Roman" pitchFamily="18" charset="0"/>
            </a:endParaRPr>
          </a:p>
          <a:p>
            <a:endParaRPr lang="en-GB" altLang="en-US" b="1" i="1" dirty="0" smtClean="0">
              <a:latin typeface="Times New Roman" pitchFamily="18" charset="0"/>
            </a:endParaRPr>
          </a:p>
          <a:p>
            <a:r>
              <a:rPr lang="en-GB" altLang="en-US" b="1" dirty="0" smtClean="0">
                <a:latin typeface="Times New Roman" pitchFamily="18" charset="0"/>
              </a:rPr>
              <a:t>Q. So where does Precision Teaching fit into this learning hierarchy?</a:t>
            </a:r>
          </a:p>
          <a:p>
            <a:endParaRPr lang="en-GB" altLang="en-US" b="1" dirty="0" smtClean="0">
              <a:latin typeface="Times New Roman" pitchFamily="18" charset="0"/>
            </a:endParaRPr>
          </a:p>
          <a:p>
            <a:pPr>
              <a:buFontTx/>
              <a:buChar char="•"/>
            </a:pPr>
            <a:r>
              <a:rPr lang="en-GB" altLang="en-US" dirty="0" smtClean="0">
                <a:latin typeface="Times New Roman" pitchFamily="18" charset="0"/>
              </a:rPr>
              <a:t>PT designed to </a:t>
            </a:r>
            <a:r>
              <a:rPr lang="en-GB" altLang="en-US" b="1" dirty="0" smtClean="0">
                <a:latin typeface="Times New Roman" pitchFamily="18" charset="0"/>
              </a:rPr>
              <a:t>unlock the door to maintenance and higher learning stages </a:t>
            </a:r>
            <a:r>
              <a:rPr lang="en-GB" altLang="en-US" dirty="0" smtClean="0">
                <a:latin typeface="Times New Roman" pitchFamily="18" charset="0"/>
              </a:rPr>
              <a:t>by supporting children to achieve fluency, that is fast accurate performance of a skill. </a:t>
            </a:r>
          </a:p>
          <a:p>
            <a:pPr>
              <a:buFontTx/>
              <a:buChar char="•"/>
            </a:pPr>
            <a:r>
              <a:rPr lang="en-GB" altLang="en-US" dirty="0" smtClean="0">
                <a:latin typeface="Times New Roman" pitchFamily="18" charset="0"/>
              </a:rPr>
              <a:t>Basis premise of PT: </a:t>
            </a:r>
            <a:r>
              <a:rPr lang="en-GB" altLang="en-US" b="1" dirty="0" smtClean="0">
                <a:latin typeface="Times New Roman" pitchFamily="18" charset="0"/>
              </a:rPr>
              <a:t>accuracy</a:t>
            </a:r>
            <a:r>
              <a:rPr lang="en-GB" altLang="en-US" dirty="0" smtClean="0">
                <a:latin typeface="Times New Roman" pitchFamily="18" charset="0"/>
              </a:rPr>
              <a:t> is important but not </a:t>
            </a:r>
            <a:r>
              <a:rPr lang="en-GB" altLang="en-US" b="1" dirty="0" smtClean="0">
                <a:latin typeface="Times New Roman" pitchFamily="18" charset="0"/>
              </a:rPr>
              <a:t>sufficient – basically supports children who are stuck at the acquisition stage</a:t>
            </a:r>
          </a:p>
          <a:p>
            <a:pPr>
              <a:buFontTx/>
              <a:buChar char="•"/>
            </a:pPr>
            <a:r>
              <a:rPr lang="en-GB" altLang="en-US" dirty="0" smtClean="0">
                <a:latin typeface="Times New Roman" pitchFamily="18" charset="0"/>
              </a:rPr>
              <a:t>Without development of fluent performance, progression to maintenance will not happen and the skill will be forgotten</a:t>
            </a:r>
          </a:p>
          <a:p>
            <a:pPr>
              <a:buFontTx/>
              <a:buChar char="•"/>
            </a:pPr>
            <a:r>
              <a:rPr lang="en-GB" altLang="en-US" dirty="0" smtClean="0">
                <a:latin typeface="Times New Roman" pitchFamily="18" charset="0"/>
              </a:rPr>
              <a:t>Sometimes we can make assumptions that a child ‘can’t do’ when in fact they are capable of acquiring the skill, but because they haven’t developed fluency, they lose it, and it can appear like they never learned it in the first place</a:t>
            </a:r>
            <a:endParaRPr lang="en-GB" altLang="en-US" b="1" dirty="0" smtClean="0">
              <a:latin typeface="Times New Roman" pitchFamily="18" charset="0"/>
            </a:endParaRPr>
          </a:p>
          <a:p>
            <a:pPr>
              <a:buFontTx/>
              <a:buNone/>
            </a:pPr>
            <a:endParaRPr lang="en-GB" altLang="en-US" dirty="0" smtClean="0">
              <a:latin typeface="Times New Roman" pitchFamily="18" charset="0"/>
            </a:endParaRPr>
          </a:p>
          <a:p>
            <a:r>
              <a:rPr lang="en-GB" altLang="en-US" i="1" dirty="0" smtClean="0">
                <a:latin typeface="Times New Roman" pitchFamily="18" charset="0"/>
              </a:rPr>
              <a:t>	</a:t>
            </a:r>
            <a:endParaRPr lang="en-GB" altLang="en-US" b="1" dirty="0" smtClean="0">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solidFill>
            <a:srgbClr val="FFFFFF"/>
          </a:solidFill>
          <a:ln/>
        </p:spPr>
      </p:sp>
      <p:sp>
        <p:nvSpPr>
          <p:cNvPr id="41987"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pPr>
            <a:endParaRPr lang="en-US" altLang="en-US" b="1" dirty="0" smtClean="0">
              <a:solidFill>
                <a:srgbClr val="000000"/>
              </a:solidFill>
              <a:latin typeface="Arial" charset="0"/>
              <a:cs typeface="Arial" charset="0"/>
              <a:sym typeface="Arial" charset="0"/>
            </a:endParaRPr>
          </a:p>
          <a:p>
            <a:pPr marL="123825" eaLnBrk="1" hangingPunct="1">
              <a:spcBef>
                <a:spcPts val="413"/>
              </a:spcBef>
            </a:pPr>
            <a:r>
              <a:rPr lang="en-US" altLang="en-US" dirty="0" smtClean="0">
                <a:solidFill>
                  <a:srgbClr val="000000"/>
                </a:solidFill>
                <a:latin typeface="Arial" charset="0"/>
                <a:cs typeface="Arial" charset="0"/>
                <a:sym typeface="Arial" charset="0"/>
              </a:rPr>
              <a:t>Short, DAILY sessions of 4 parts = most effective</a:t>
            </a:r>
          </a:p>
          <a:p>
            <a:pPr marL="123825" eaLnBrk="1" hangingPunct="1">
              <a:spcBef>
                <a:spcPts val="413"/>
              </a:spcBef>
            </a:pPr>
            <a:endParaRPr lang="en-US" altLang="en-US" dirty="0" smtClean="0">
              <a:solidFill>
                <a:srgbClr val="000000"/>
              </a:solidFill>
              <a:latin typeface="Arial" charset="0"/>
              <a:cs typeface="Arial" charset="0"/>
              <a:sym typeface="Arial" charset="0"/>
            </a:endParaRPr>
          </a:p>
          <a:p>
            <a:pPr marL="123825" eaLnBrk="1" hangingPunct="1">
              <a:spcBef>
                <a:spcPts val="413"/>
              </a:spcBef>
            </a:pPr>
            <a:r>
              <a:rPr lang="en-US" altLang="en-US" dirty="0" smtClean="0">
                <a:solidFill>
                  <a:srgbClr val="000000"/>
                </a:solidFill>
                <a:latin typeface="Arial" charset="0"/>
                <a:cs typeface="Arial" charset="0"/>
                <a:sym typeface="Arial" charset="0"/>
              </a:rPr>
              <a:t>Highlight that Parts</a:t>
            </a:r>
            <a:r>
              <a:rPr lang="en-US" altLang="en-US" baseline="0" dirty="0" smtClean="0">
                <a:solidFill>
                  <a:srgbClr val="000000"/>
                </a:solidFill>
                <a:latin typeface="Arial" charset="0"/>
                <a:cs typeface="Arial" charset="0"/>
                <a:sym typeface="Arial" charset="0"/>
              </a:rPr>
              <a:t> 1 to 3 are done with the child</a:t>
            </a:r>
          </a:p>
          <a:p>
            <a:pPr marL="123825" eaLnBrk="1" hangingPunct="1">
              <a:spcBef>
                <a:spcPts val="413"/>
              </a:spcBef>
            </a:pPr>
            <a:endParaRPr lang="en-US" altLang="en-US" baseline="0" dirty="0" smtClean="0">
              <a:solidFill>
                <a:srgbClr val="000000"/>
              </a:solidFill>
              <a:latin typeface="Arial" charset="0"/>
              <a:cs typeface="Arial" charset="0"/>
              <a:sym typeface="Arial" charset="0"/>
            </a:endParaRPr>
          </a:p>
          <a:p>
            <a:pPr marL="123825" eaLnBrk="1" hangingPunct="1">
              <a:spcBef>
                <a:spcPts val="413"/>
              </a:spcBef>
            </a:pPr>
            <a:r>
              <a:rPr lang="en-US" altLang="en-US" baseline="0" dirty="0" smtClean="0">
                <a:solidFill>
                  <a:srgbClr val="000000"/>
                </a:solidFill>
                <a:latin typeface="Arial" charset="0"/>
                <a:cs typeface="Arial" charset="0"/>
                <a:sym typeface="Arial" charset="0"/>
              </a:rPr>
              <a:t>Part 4 (Monitoring) is done outside of the PT session – where you review the child’s progress and make decisions around whether and how you need to adapt the programme – this will be covered in the next session</a:t>
            </a:r>
          </a:p>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0"/>
              </a:spcBef>
              <a:spcAft>
                <a:spcPct val="0"/>
              </a:spcAft>
              <a:buClrTx/>
              <a:buSzTx/>
              <a:buFontTx/>
              <a:buNone/>
              <a:tabLst/>
              <a:defRPr/>
            </a:pPr>
            <a:endParaRPr lang="en-GB" altLang="en-US" dirty="0" smtClean="0">
              <a:latin typeface="Times New Roman" pitchFamily="18" charset="0"/>
            </a:endParaRPr>
          </a:p>
          <a:p>
            <a:pPr marL="0" marR="0" indent="0" algn="l" defTabSz="914400" rtl="0" eaLnBrk="0" fontAlgn="base" latinLnBrk="0" hangingPunct="0">
              <a:lnSpc>
                <a:spcPct val="100000"/>
              </a:lnSpc>
              <a:spcBef>
                <a:spcPct val="0"/>
              </a:spcBef>
              <a:spcAft>
                <a:spcPct val="0"/>
              </a:spcAft>
              <a:buClrTx/>
              <a:buSzTx/>
              <a:buFontTx/>
              <a:buNone/>
              <a:tabLst/>
              <a:defRPr/>
            </a:pPr>
            <a:r>
              <a:rPr lang="en-US" altLang="en-US" dirty="0" smtClean="0">
                <a:solidFill>
                  <a:srgbClr val="000000"/>
                </a:solidFill>
                <a:latin typeface="Arial" charset="0"/>
                <a:cs typeface="Arial" charset="0"/>
                <a:sym typeface="Arial" charset="0"/>
              </a:rPr>
              <a:t>Approach is based upon </a:t>
            </a:r>
            <a:r>
              <a:rPr lang="en-US" altLang="en-US" u="sng" dirty="0" smtClean="0">
                <a:solidFill>
                  <a:srgbClr val="000000"/>
                </a:solidFill>
                <a:latin typeface="Arial" charset="0"/>
                <a:cs typeface="Arial" charset="0"/>
                <a:sym typeface="Arial" charset="0"/>
              </a:rPr>
              <a:t>daily repetition</a:t>
            </a:r>
            <a:r>
              <a:rPr lang="en-US" altLang="en-US" dirty="0" smtClean="0">
                <a:solidFill>
                  <a:srgbClr val="000000"/>
                </a:solidFill>
                <a:latin typeface="Arial" charset="0"/>
                <a:cs typeface="Arial" charset="0"/>
                <a:sym typeface="Arial" charset="0"/>
              </a:rPr>
              <a:t> – needs to be regular and consistent.</a:t>
            </a:r>
          </a:p>
          <a:p>
            <a:pPr marL="0" marR="0" indent="0" algn="l" defTabSz="914400" rtl="0" eaLnBrk="0" fontAlgn="base" latinLnBrk="0" hangingPunct="0">
              <a:lnSpc>
                <a:spcPct val="100000"/>
              </a:lnSpc>
              <a:spcBef>
                <a:spcPct val="0"/>
              </a:spcBef>
              <a:spcAft>
                <a:spcPct val="0"/>
              </a:spcAft>
              <a:buClrTx/>
              <a:buSzTx/>
              <a:buFontTx/>
              <a:buNone/>
              <a:tabLst/>
              <a:defRPr/>
            </a:pPr>
            <a:endParaRPr lang="en-GB" altLang="en-US" dirty="0" smtClean="0">
              <a:latin typeface="Times New Roman" pitchFamily="18" charset="0"/>
            </a:endParaRPr>
          </a:p>
          <a:p>
            <a:r>
              <a:rPr lang="en-GB" altLang="en-US" dirty="0" smtClean="0">
                <a:latin typeface="Times New Roman" pitchFamily="18" charset="0"/>
              </a:rPr>
              <a:t>Overall daily contact = 10mins (may be longer if need to settle pupil down etc.)</a:t>
            </a:r>
          </a:p>
          <a:p>
            <a:r>
              <a:rPr lang="en-GB" altLang="en-US" dirty="0" smtClean="0">
                <a:latin typeface="Times New Roman" pitchFamily="18" charset="0"/>
              </a:rPr>
              <a:t>Designed to be short and sharp</a:t>
            </a:r>
          </a:p>
          <a:p>
            <a:endParaRPr lang="en-GB" altLang="en-US" dirty="0" smtClean="0">
              <a:latin typeface="Times New Roman" pitchFamily="18" charset="0"/>
            </a:endParaRPr>
          </a:p>
          <a:p>
            <a:r>
              <a:rPr lang="en-GB" altLang="en-US" b="1" dirty="0" smtClean="0">
                <a:latin typeface="Times New Roman" pitchFamily="18" charset="0"/>
              </a:rPr>
              <a:t>Reminder</a:t>
            </a:r>
            <a:r>
              <a:rPr lang="en-GB" altLang="en-US" b="1" baseline="0" dirty="0" smtClean="0">
                <a:latin typeface="Times New Roman" pitchFamily="18" charset="0"/>
              </a:rPr>
              <a:t> about what we will be covering in today’s session (Parts 1 and 2 – Teaching and Probing)</a:t>
            </a:r>
            <a:endParaRPr lang="en-GB" altLang="en-US" b="1" dirty="0" smtClean="0">
              <a:latin typeface="Times New Roman" pitchFamily="18" charset="0"/>
            </a:endParaRPr>
          </a:p>
          <a:p>
            <a:endParaRPr lang="en-GB" altLang="en-US" dirty="0"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b="1" dirty="0" smtClean="0">
                <a:latin typeface="Times New Roman" pitchFamily="18" charset="0"/>
              </a:rPr>
              <a:t>When?   </a:t>
            </a:r>
          </a:p>
          <a:p>
            <a:pPr>
              <a:buFontTx/>
              <a:buChar char="•"/>
            </a:pPr>
            <a:r>
              <a:rPr lang="en-GB" altLang="en-US" dirty="0" smtClean="0">
                <a:latin typeface="Times New Roman" pitchFamily="18" charset="0"/>
              </a:rPr>
              <a:t>Ideally this needs to be daily, both to effectively reinforce the child’s learning and to give you a clear sense of how responsive the child is to particular teaching strategies</a:t>
            </a:r>
          </a:p>
          <a:p>
            <a:pPr>
              <a:buFontTx/>
              <a:buChar char="•"/>
            </a:pPr>
            <a:r>
              <a:rPr lang="en-GB" altLang="en-US" dirty="0" smtClean="0">
                <a:latin typeface="Times New Roman" pitchFamily="18" charset="0"/>
              </a:rPr>
              <a:t>Think about the child you will work with and consider optimum time of day to do PT; again the ideal would be to do PT at the same time each day, so that the progress picture isn’t confused by variations in time of day (perhaps child isn’t at the best in the afternoons)</a:t>
            </a:r>
          </a:p>
          <a:p>
            <a:pPr>
              <a:buFontTx/>
              <a:buChar char="•"/>
            </a:pPr>
            <a:endParaRPr lang="en-GB" altLang="en-US" dirty="0" smtClean="0">
              <a:latin typeface="Times New Roman" pitchFamily="18" charset="0"/>
            </a:endParaRPr>
          </a:p>
          <a:p>
            <a:r>
              <a:rPr lang="en-GB" altLang="en-US" b="1" dirty="0" smtClean="0">
                <a:latin typeface="Times New Roman" pitchFamily="18" charset="0"/>
              </a:rPr>
              <a:t>Where?</a:t>
            </a:r>
          </a:p>
          <a:p>
            <a:pPr>
              <a:buFontTx/>
              <a:buChar char="•"/>
            </a:pPr>
            <a:r>
              <a:rPr lang="en-GB" altLang="en-US" dirty="0" smtClean="0">
                <a:latin typeface="Times New Roman" pitchFamily="18" charset="0"/>
              </a:rPr>
              <a:t>Consider where the PT can take place – is there a quiet space in the school that will be reserved for your PT work? Best results can be achieved when you have a reliable space, free from distractions that enables you and the child to settle down to snappy PT sessions on a daily basis</a:t>
            </a:r>
          </a:p>
          <a:p>
            <a:endParaRPr lang="en-GB" altLang="en-US" dirty="0" smtClean="0">
              <a:latin typeface="Times New Roman" pitchFamily="18" charset="0"/>
            </a:endParaRPr>
          </a:p>
          <a:p>
            <a:endParaRPr lang="en-GB" altLang="en-US"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Looking at the IEP and talking with the child’s teacher/subject teacher. Select a problem area to focus on. </a:t>
            </a:r>
            <a:r>
              <a:rPr lang="en-US" altLang="en-US" b="1" dirty="0" smtClean="0">
                <a:solidFill>
                  <a:srgbClr val="000000"/>
                </a:solidFill>
                <a:latin typeface="Arial" charset="0"/>
                <a:cs typeface="Arial" charset="0"/>
                <a:sym typeface="Arial" charset="0"/>
              </a:rPr>
              <a:t>Reiterate </a:t>
            </a:r>
            <a:r>
              <a:rPr lang="en-GB" altLang="en-US" b="1" dirty="0" smtClean="0">
                <a:solidFill>
                  <a:srgbClr val="000000"/>
                </a:solidFill>
                <a:latin typeface="Arial" charset="0"/>
                <a:cs typeface="Arial" charset="0"/>
                <a:sym typeface="Arial" charset="0"/>
              </a:rPr>
              <a:t>that</a:t>
            </a:r>
            <a:r>
              <a:rPr lang="en-US" altLang="en-US" b="1" dirty="0" smtClean="0">
                <a:solidFill>
                  <a:srgbClr val="000000"/>
                </a:solidFill>
                <a:latin typeface="Arial" charset="0"/>
                <a:cs typeface="Arial" charset="0"/>
                <a:sym typeface="Arial" charset="0"/>
              </a:rPr>
              <a:t> PT is for skill development in </a:t>
            </a:r>
            <a:r>
              <a:rPr lang="en-US" altLang="en-US" b="1" u="sng" dirty="0" smtClean="0">
                <a:solidFill>
                  <a:srgbClr val="000000"/>
                </a:solidFill>
                <a:latin typeface="Arial" charset="0"/>
                <a:cs typeface="Arial" charset="0"/>
                <a:sym typeface="Arial" charset="0"/>
              </a:rPr>
              <a:t>specific</a:t>
            </a:r>
            <a:r>
              <a:rPr lang="en-US" altLang="en-US" b="1" dirty="0" smtClean="0">
                <a:solidFill>
                  <a:srgbClr val="000000"/>
                </a:solidFill>
                <a:latin typeface="Arial" charset="0"/>
                <a:cs typeface="Arial" charset="0"/>
                <a:sym typeface="Arial" charset="0"/>
              </a:rPr>
              <a:t> areas</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Show examples of precision teaching grids </a:t>
            </a:r>
            <a:r>
              <a:rPr lang="en-US" altLang="en-US" b="1" dirty="0" smtClean="0">
                <a:solidFill>
                  <a:srgbClr val="000000"/>
                </a:solidFill>
                <a:latin typeface="Arial" charset="0"/>
                <a:cs typeface="Arial" charset="0"/>
                <a:sym typeface="Arial" charset="0"/>
              </a:rPr>
              <a:t>[probes we’ll be using for activity later on</a:t>
            </a:r>
            <a:r>
              <a:rPr lang="en-US" altLang="en-US" b="1" baseline="0" dirty="0" smtClean="0">
                <a:solidFill>
                  <a:srgbClr val="000000"/>
                </a:solidFill>
                <a:latin typeface="Arial" charset="0"/>
                <a:cs typeface="Arial" charset="0"/>
                <a:sym typeface="Arial" charset="0"/>
              </a:rPr>
              <a:t> – hand out in pairs</a:t>
            </a: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In terms of considering what the child already knows, think about what the child can answer correctly - </a:t>
            </a:r>
            <a:r>
              <a:rPr lang="en-US" altLang="en-US" b="1" dirty="0" smtClean="0">
                <a:solidFill>
                  <a:srgbClr val="000000"/>
                </a:solidFill>
                <a:latin typeface="Arial" charset="0"/>
                <a:cs typeface="Arial" charset="0"/>
                <a:sym typeface="Arial" charset="0"/>
              </a:rPr>
              <a:t>without hesitation or self-correction</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If you’re not clear what the child already knows, you could use a series of ‘assessment probes’ to find out where the child is – you could liaise with the class teacher about whether you would approach this systematically, for example working through high frequency words, or a systematic phonics programme, or the teacher may have a clear idea of what the child already knows</a:t>
            </a: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b="1" dirty="0" smtClean="0">
                <a:solidFill>
                  <a:srgbClr val="000000"/>
                </a:solidFill>
                <a:latin typeface="Arial" charset="0"/>
                <a:cs typeface="Arial" charset="0"/>
                <a:sym typeface="Arial" charset="0"/>
              </a:rPr>
              <a:t>Highlight that in your packs</a:t>
            </a:r>
            <a:r>
              <a:rPr lang="en-US" altLang="en-US" b="1" baseline="0" dirty="0" smtClean="0">
                <a:solidFill>
                  <a:srgbClr val="000000"/>
                </a:solidFill>
                <a:latin typeface="Arial" charset="0"/>
                <a:cs typeface="Arial" charset="0"/>
                <a:sym typeface="Arial" charset="0"/>
              </a:rPr>
              <a:t> I’ve included a list of first 100 high frequency words based on Letters &amp; Sounds programme – you could potentially make up assessment probes help identify gaps in the child’s knowledge [we will look at how to do this towards the end of the session]</a:t>
            </a: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When using assessment probes, good idea to give easier probes, even if child is competent as a warm-up for yourself and the child, and to confirm their earlier skills</a:t>
            </a:r>
          </a:p>
          <a:p>
            <a:pPr marL="123825" eaLnBrk="1" hangingPunct="1">
              <a:spcBef>
                <a:spcPts val="413"/>
              </a:spcBef>
              <a:buFontTx/>
              <a:buNone/>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endParaRPr lang="en-GB" altLang="en-US" b="1" dirty="0" smtClean="0">
              <a:latin typeface="Times New Roman" pitchFamily="18" charset="0"/>
            </a:endParaRPr>
          </a:p>
          <a:p>
            <a:r>
              <a:rPr lang="en-GB" altLang="en-US" dirty="0" smtClean="0">
                <a:latin typeface="Times New Roman" pitchFamily="18" charset="0"/>
              </a:rPr>
              <a:t>Very important for fluency that very few pieces of information are given at one time </a:t>
            </a:r>
          </a:p>
          <a:p>
            <a:endParaRPr lang="en-GB" altLang="en-US" dirty="0" smtClean="0">
              <a:latin typeface="Times New Roman" pitchFamily="18" charset="0"/>
            </a:endParaRPr>
          </a:p>
          <a:p>
            <a:r>
              <a:rPr lang="en-GB" altLang="en-US" b="1" dirty="0" smtClean="0">
                <a:latin typeface="Times New Roman" pitchFamily="18" charset="0"/>
              </a:rPr>
              <a:t>Starting point: </a:t>
            </a:r>
            <a:r>
              <a:rPr lang="en-GB" altLang="en-US" dirty="0" smtClean="0">
                <a:latin typeface="Times New Roman" pitchFamily="18" charset="0"/>
              </a:rPr>
              <a:t>include some letters/words/numbers that the child already knows as well as some new words – might have about 8 items in total – 5 that the child already knows, 3 new items</a:t>
            </a:r>
          </a:p>
          <a:p>
            <a:endParaRPr lang="en-GB" altLang="en-US" dirty="0" smtClean="0">
              <a:latin typeface="Times New Roman" pitchFamily="18" charset="0"/>
            </a:endParaRPr>
          </a:p>
          <a:p>
            <a:endParaRPr lang="en-GB" altLang="en-US" dirty="0"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dirty="0" smtClean="0">
                <a:latin typeface="Times New Roman" pitchFamily="18" charset="0"/>
              </a:rPr>
              <a:t>Now that you have the items that you want to teach the child you need to think about how you are going to teach the child that material; introduce activity</a:t>
            </a:r>
          </a:p>
          <a:p>
            <a:endParaRPr lang="en-GB" altLang="en-US" dirty="0" smtClean="0">
              <a:latin typeface="Times New Roman" pitchFamily="18" charset="0"/>
            </a:endParaRPr>
          </a:p>
          <a:p>
            <a:r>
              <a:rPr lang="en-GB" altLang="en-US" b="1" dirty="0" smtClean="0">
                <a:latin typeface="Times New Roman" pitchFamily="18" charset="0"/>
              </a:rPr>
              <a:t>Activity:  [Refer to PT probe sheets already given out to groups]  </a:t>
            </a:r>
          </a:p>
          <a:p>
            <a:endParaRPr lang="en-GB" altLang="en-US" b="1" dirty="0" smtClean="0">
              <a:latin typeface="Times New Roman" pitchFamily="18" charset="0"/>
            </a:endParaRPr>
          </a:p>
          <a:p>
            <a:pPr>
              <a:buFontTx/>
              <a:buChar char="•"/>
            </a:pPr>
            <a:r>
              <a:rPr lang="en-GB" altLang="en-US" dirty="0" smtClean="0">
                <a:latin typeface="Times New Roman" pitchFamily="18" charset="0"/>
              </a:rPr>
              <a:t>As a whole group we brainstorm potential teaching activities</a:t>
            </a:r>
          </a:p>
          <a:p>
            <a:endParaRPr lang="en-GB" altLang="en-US" dirty="0" smtClean="0">
              <a:latin typeface="Times New Roman" pitchFamily="18" charset="0"/>
            </a:endParaRPr>
          </a:p>
          <a:p>
            <a:pPr>
              <a:buFontTx/>
              <a:buChar char="•"/>
            </a:pPr>
            <a:r>
              <a:rPr lang="en-GB" altLang="en-US" dirty="0" smtClean="0">
                <a:latin typeface="Times New Roman" pitchFamily="18" charset="0"/>
              </a:rPr>
              <a:t>Flip chart – </a:t>
            </a:r>
            <a:r>
              <a:rPr lang="en-GB" altLang="en-US" b="1" dirty="0" smtClean="0">
                <a:latin typeface="Times New Roman" pitchFamily="18" charset="0"/>
              </a:rPr>
              <a:t>Sue </a:t>
            </a:r>
            <a:r>
              <a:rPr lang="en-GB" altLang="en-US" dirty="0" smtClean="0">
                <a:latin typeface="Times New Roman" pitchFamily="18" charset="0"/>
              </a:rPr>
              <a:t>to jot down ideas as they are offered </a:t>
            </a:r>
            <a:r>
              <a:rPr lang="en-GB" altLang="en-US" b="1" dirty="0" smtClean="0">
                <a:latin typeface="Times New Roman" pitchFamily="18" charset="0"/>
              </a:rPr>
              <a:t>[4 </a:t>
            </a:r>
            <a:r>
              <a:rPr lang="en-GB" altLang="en-US" b="1" dirty="0" err="1" smtClean="0">
                <a:latin typeface="Times New Roman" pitchFamily="18" charset="0"/>
              </a:rPr>
              <a:t>mins</a:t>
            </a:r>
            <a:r>
              <a:rPr lang="en-GB" altLang="en-US" b="1" dirty="0" smtClean="0">
                <a:latin typeface="Times New Roman" pitchFamily="18" charset="0"/>
              </a:rPr>
              <a:t>]</a:t>
            </a:r>
          </a:p>
          <a:p>
            <a:pPr>
              <a:buFontTx/>
              <a:buChar char="•"/>
            </a:pPr>
            <a:endParaRPr lang="en-GB" altLang="en-US" b="1" dirty="0" smtClean="0">
              <a:latin typeface="Times New Roman" pitchFamily="18" charset="0"/>
            </a:endParaRPr>
          </a:p>
          <a:p>
            <a:pPr marL="628650" lvl="1" indent="-171450">
              <a:buFontTx/>
              <a:buChar char="•"/>
            </a:pPr>
            <a:r>
              <a:rPr lang="en-GB" altLang="en-US" b="1" dirty="0" smtClean="0">
                <a:latin typeface="Times New Roman" pitchFamily="18" charset="0"/>
              </a:rPr>
              <a:t>Own ideas: laminate cards: flash card games/matching pair games/guess my card games/recognising digits – sort card games, magnetic letters</a:t>
            </a:r>
            <a:endParaRPr lang="en-GB" altLang="en-US" dirty="0" smtClean="0">
              <a:latin typeface="Times New Roman" pitchFamily="18" charset="0"/>
            </a:endParaRPr>
          </a:p>
          <a:p>
            <a:endParaRPr lang="en-GB" altLang="en-US" dirty="0" smtClean="0">
              <a:latin typeface="Times New Roman" pitchFamily="18" charset="0"/>
            </a:endParaRPr>
          </a:p>
          <a:p>
            <a:r>
              <a:rPr lang="en-GB" altLang="en-US" b="1" dirty="0" smtClean="0">
                <a:latin typeface="Times New Roman" pitchFamily="18" charset="0"/>
              </a:rPr>
              <a:t>IMPORTANT:</a:t>
            </a:r>
            <a:r>
              <a:rPr lang="en-GB" altLang="en-US" b="1" baseline="0" dirty="0" smtClean="0">
                <a:latin typeface="Times New Roman" pitchFamily="18" charset="0"/>
              </a:rPr>
              <a:t> </a:t>
            </a:r>
            <a:r>
              <a:rPr lang="en-GB" altLang="en-US" dirty="0" smtClean="0">
                <a:latin typeface="Times New Roman" pitchFamily="18" charset="0"/>
              </a:rPr>
              <a:t>Don’t forget to write down the teaching strategies that you used with a child each day- that way you can keep track of what strategies are working best.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Sharon</a:t>
            </a:r>
          </a:p>
          <a:p>
            <a:endParaRPr lang="en-GB" altLang="en-US" b="1" dirty="0" smtClean="0">
              <a:latin typeface="Times New Roman" pitchFamily="18" charset="0"/>
            </a:endParaRPr>
          </a:p>
          <a:p>
            <a:r>
              <a:rPr lang="en-GB" altLang="en-US" dirty="0" smtClean="0">
                <a:latin typeface="Times New Roman" pitchFamily="18" charset="0"/>
              </a:rPr>
              <a:t>Introduce probing- each daily teaching session will be followed by a 1 minute test called a probe </a:t>
            </a:r>
            <a:r>
              <a:rPr lang="en-GB" altLang="en-US" b="1" dirty="0" smtClean="0">
                <a:latin typeface="Times New Roman" pitchFamily="18" charset="0"/>
              </a:rPr>
              <a:t>[move on very swiftly]</a:t>
            </a:r>
            <a:endParaRPr lang="en-GB" altLang="en-US" dirty="0"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b="1" dirty="0" smtClean="0">
                <a:latin typeface="Times New Roman" pitchFamily="18" charset="0"/>
              </a:rPr>
              <a:t>[Refer to probes sheets already with pairs]</a:t>
            </a:r>
          </a:p>
          <a:p>
            <a:endParaRPr lang="en-GB" altLang="en-US" b="1" dirty="0" smtClean="0">
              <a:latin typeface="Times New Roman" pitchFamily="18" charset="0"/>
            </a:endParaRPr>
          </a:p>
          <a:p>
            <a:r>
              <a:rPr lang="en-GB" altLang="en-US" dirty="0" smtClean="0">
                <a:latin typeface="Times New Roman" pitchFamily="18" charset="0"/>
              </a:rPr>
              <a:t>Explain that these probes require the child to look at the word- See and say the word- therefore probes for </a:t>
            </a:r>
            <a:r>
              <a:rPr lang="en-GB" altLang="en-US" b="1" dirty="0" smtClean="0">
                <a:latin typeface="Times New Roman" pitchFamily="18" charset="0"/>
              </a:rPr>
              <a:t>word reading </a:t>
            </a:r>
            <a:r>
              <a:rPr lang="en-GB" altLang="en-US" dirty="0" smtClean="0">
                <a:latin typeface="Times New Roman" pitchFamily="18" charset="0"/>
              </a:rPr>
              <a:t>are referred to as </a:t>
            </a:r>
            <a:r>
              <a:rPr lang="en-GB" altLang="en-US" b="1" dirty="0" smtClean="0">
                <a:latin typeface="Times New Roman" pitchFamily="18" charset="0"/>
              </a:rPr>
              <a:t>See-to-say </a:t>
            </a:r>
            <a:r>
              <a:rPr lang="en-GB" altLang="en-US" dirty="0" smtClean="0">
                <a:latin typeface="Times New Roman" pitchFamily="18" charset="0"/>
              </a:rPr>
              <a:t>probes. </a:t>
            </a:r>
          </a:p>
          <a:p>
            <a:endParaRPr lang="en-GB" altLang="en-US" dirty="0" smtClean="0">
              <a:latin typeface="Times New Roman" pitchFamily="18" charset="0"/>
            </a:endParaRPr>
          </a:p>
          <a:p>
            <a:r>
              <a:rPr lang="en-GB" altLang="en-US" dirty="0" smtClean="0">
                <a:latin typeface="Times New Roman" pitchFamily="18" charset="0"/>
              </a:rPr>
              <a:t>This is a blank probe but if you were testing words the probe would be filled randomly with the words you had decided to focus on. </a:t>
            </a:r>
          </a:p>
          <a:p>
            <a:endParaRPr lang="en-GB" altLang="en-US" dirty="0" smtClean="0">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a:solidFill>
            <a:srgbClr val="FFFFFF"/>
          </a:solidFill>
          <a:ln/>
        </p:spPr>
      </p:sp>
      <p:sp>
        <p:nvSpPr>
          <p:cNvPr id="5017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2425" indent="-228600" eaLnBrk="1" hangingPunct="1">
              <a:spcBef>
                <a:spcPts val="413"/>
              </a:spcBef>
            </a:pPr>
            <a:r>
              <a:rPr lang="en-US" altLang="en-US" b="1" dirty="0" smtClean="0">
                <a:solidFill>
                  <a:srgbClr val="000000"/>
                </a:solidFill>
                <a:latin typeface="Arial" charset="0"/>
                <a:cs typeface="Arial" charset="0"/>
                <a:sym typeface="Arial" charset="0"/>
              </a:rPr>
              <a:t>Sharon</a:t>
            </a:r>
          </a:p>
          <a:p>
            <a:pPr marL="352425" indent="-228600" eaLnBrk="1" hangingPunct="1">
              <a:spcBef>
                <a:spcPts val="413"/>
              </a:spcBef>
            </a:pPr>
            <a:endParaRPr lang="en-US" altLang="en-US" b="1" dirty="0" smtClean="0">
              <a:solidFill>
                <a:srgbClr val="000000"/>
              </a:solidFill>
              <a:latin typeface="Arial" charset="0"/>
              <a:cs typeface="Arial" charset="0"/>
              <a:sym typeface="Arial" charset="0"/>
            </a:endParaRPr>
          </a:p>
          <a:p>
            <a:pPr marL="352425" indent="-228600" eaLnBrk="1" hangingPunct="1">
              <a:spcBef>
                <a:spcPts val="413"/>
              </a:spcBef>
            </a:pPr>
            <a:r>
              <a:rPr lang="en-US" altLang="en-US" b="1" dirty="0" smtClean="0">
                <a:solidFill>
                  <a:srgbClr val="000000"/>
                </a:solidFill>
                <a:latin typeface="Arial" charset="0"/>
                <a:cs typeface="Arial" charset="0"/>
                <a:sym typeface="Arial" charset="0"/>
              </a:rPr>
              <a:t>[1 minute]</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buFontTx/>
              <a:buChar char="•"/>
            </a:pPr>
            <a:r>
              <a:rPr lang="en-US" altLang="en-US" b="1" dirty="0" smtClean="0">
                <a:solidFill>
                  <a:srgbClr val="000000"/>
                </a:solidFill>
                <a:latin typeface="Arial" charset="0"/>
                <a:cs typeface="Arial" charset="0"/>
                <a:sym typeface="Arial" charset="0"/>
              </a:rPr>
              <a:t>Explain that in order to keep things simple for our condensed training, we’ll be focusing on ‘see to say’ probes – relate back to Learning Hierarchy – want to develop confidence in see-to-say before adapting technique to other types of probe</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r>
              <a:rPr lang="en-US" altLang="en-US" dirty="0" smtClean="0">
                <a:solidFill>
                  <a:srgbClr val="000000"/>
                </a:solidFill>
                <a:latin typeface="Arial" charset="0"/>
                <a:cs typeface="Arial" charset="0"/>
                <a:sym typeface="Arial" charset="0"/>
              </a:rPr>
              <a:t>Talk about setting aim rates</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r>
              <a:rPr lang="en-US" altLang="en-US" dirty="0" smtClean="0">
                <a:solidFill>
                  <a:srgbClr val="000000"/>
                </a:solidFill>
                <a:latin typeface="Arial" charset="0"/>
                <a:cs typeface="Arial" charset="0"/>
                <a:sym typeface="Arial" charset="0"/>
              </a:rPr>
              <a:t>See to say  50 </a:t>
            </a:r>
            <a:r>
              <a:rPr lang="en-US" altLang="en-US" dirty="0" err="1" smtClean="0">
                <a:solidFill>
                  <a:srgbClr val="000000"/>
                </a:solidFill>
                <a:latin typeface="Arial" charset="0"/>
                <a:cs typeface="Arial" charset="0"/>
                <a:sym typeface="Arial" charset="0"/>
              </a:rPr>
              <a:t>cpm</a:t>
            </a:r>
            <a:r>
              <a:rPr lang="en-US" altLang="en-US" dirty="0" smtClean="0">
                <a:solidFill>
                  <a:srgbClr val="000000"/>
                </a:solidFill>
                <a:latin typeface="Arial" charset="0"/>
                <a:cs typeface="Arial" charset="0"/>
                <a:sym typeface="Arial" charset="0"/>
              </a:rPr>
              <a:t> ( for Junior children) </a:t>
            </a:r>
            <a:r>
              <a:rPr lang="en-US" altLang="en-US" b="1" dirty="0" smtClean="0">
                <a:solidFill>
                  <a:srgbClr val="000000"/>
                </a:solidFill>
                <a:latin typeface="Arial" charset="0"/>
                <a:cs typeface="Arial" charset="0"/>
                <a:sym typeface="Arial" charset="0"/>
              </a:rPr>
              <a:t>Note this is for </a:t>
            </a:r>
            <a:r>
              <a:rPr lang="en-US" altLang="en-US" b="1" u="sng" dirty="0" smtClean="0">
                <a:solidFill>
                  <a:srgbClr val="000000"/>
                </a:solidFill>
                <a:latin typeface="Arial" charset="0"/>
                <a:cs typeface="Arial" charset="0"/>
                <a:sym typeface="Arial" charset="0"/>
              </a:rPr>
              <a:t>reading: letter, number, sight word recognition</a:t>
            </a:r>
            <a:r>
              <a:rPr lang="en-US" altLang="en-US" dirty="0" smtClean="0">
                <a:solidFill>
                  <a:srgbClr val="000000"/>
                </a:solidFill>
                <a:latin typeface="Arial" charset="0"/>
                <a:cs typeface="Arial" charset="0"/>
                <a:sym typeface="Arial" charset="0"/>
              </a:rPr>
              <a:t> If working with number bonds for example the aim rate would need to be adjusted (demands more than just reading) – easiest way is to try probe on a child whose achieved an acceptable level of competence in that area – this will give you an idea of appropriate aim rate</a:t>
            </a:r>
          </a:p>
          <a:p>
            <a:pPr marL="352425" indent="-228600" eaLnBrk="1" hangingPunct="1">
              <a:spcBef>
                <a:spcPts val="413"/>
              </a:spcBef>
            </a:pPr>
            <a:endParaRPr lang="en-US" altLang="en-US" u="sng" dirty="0" smtClean="0">
              <a:solidFill>
                <a:srgbClr val="000000"/>
              </a:solidFill>
              <a:latin typeface="Arial" charset="0"/>
              <a:cs typeface="Arial" charset="0"/>
              <a:sym typeface="Arial" charset="0"/>
            </a:endParaRPr>
          </a:p>
          <a:p>
            <a:pPr marL="352425" indent="-228600" eaLnBrk="1" hangingPunct="1">
              <a:spcBef>
                <a:spcPts val="413"/>
              </a:spcBef>
            </a:pPr>
            <a:r>
              <a:rPr lang="en-US" altLang="en-US" u="none" dirty="0" smtClean="0">
                <a:solidFill>
                  <a:srgbClr val="000000"/>
                </a:solidFill>
                <a:latin typeface="Arial" charset="0"/>
                <a:cs typeface="Arial" charset="0"/>
                <a:sym typeface="Arial" charset="0"/>
              </a:rPr>
              <a:t>Explain that aim rates are set for accuracy as well as fluency –  no</a:t>
            </a:r>
            <a:r>
              <a:rPr lang="en-US" altLang="en-US" u="none" baseline="0" dirty="0" smtClean="0">
                <a:solidFill>
                  <a:srgbClr val="000000"/>
                </a:solidFill>
                <a:latin typeface="Arial" charset="0"/>
                <a:cs typeface="Arial" charset="0"/>
                <a:sym typeface="Arial" charset="0"/>
              </a:rPr>
              <a:t> more than 3 errors – i.e. 3 errors or less</a:t>
            </a:r>
            <a:endParaRPr lang="en-US" altLang="en-US" u="none"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u="sng"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buFontTx/>
              <a:buAutoNum type="arabicPeriod"/>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b="1" dirty="0" smtClean="0">
                <a:latin typeface="Times New Roman" pitchFamily="18" charset="0"/>
              </a:rPr>
              <a:t>Role Play Activity [8 </a:t>
            </a:r>
            <a:r>
              <a:rPr lang="en-GB" altLang="en-US" b="1" dirty="0" err="1" smtClean="0">
                <a:latin typeface="Times New Roman" pitchFamily="18" charset="0"/>
              </a:rPr>
              <a:t>mins</a:t>
            </a:r>
            <a:r>
              <a:rPr lang="en-GB" altLang="en-US" b="1" dirty="0" smtClean="0">
                <a:latin typeface="Times New Roman" pitchFamily="18" charset="0"/>
              </a:rPr>
              <a:t>] – Refer TAs to Administration Instructions for See-to-Say probes in their packs</a:t>
            </a:r>
          </a:p>
          <a:p>
            <a:endParaRPr lang="en-GB" altLang="en-US" b="1" dirty="0" smtClean="0">
              <a:latin typeface="Times New Roman" pitchFamily="18" charset="0"/>
            </a:endParaRPr>
          </a:p>
          <a:p>
            <a:pPr>
              <a:buFontTx/>
              <a:buChar char="•"/>
            </a:pPr>
            <a:r>
              <a:rPr lang="en-GB" altLang="en-US" dirty="0" smtClean="0">
                <a:latin typeface="Times New Roman" pitchFamily="18" charset="0"/>
              </a:rPr>
              <a:t>Run through instructions for </a:t>
            </a:r>
            <a:r>
              <a:rPr lang="en-GB" altLang="en-US" b="1" dirty="0" smtClean="0">
                <a:latin typeface="Times New Roman" pitchFamily="18" charset="0"/>
              </a:rPr>
              <a:t>Adults [2 </a:t>
            </a:r>
            <a:r>
              <a:rPr lang="en-GB" altLang="en-US" b="1" dirty="0" err="1" smtClean="0">
                <a:latin typeface="Times New Roman" pitchFamily="18" charset="0"/>
              </a:rPr>
              <a:t>mins</a:t>
            </a:r>
            <a:r>
              <a:rPr lang="en-GB" altLang="en-US" b="1" dirty="0" smtClean="0">
                <a:latin typeface="Times New Roman" pitchFamily="18" charset="0"/>
              </a:rPr>
              <a:t>]</a:t>
            </a:r>
          </a:p>
          <a:p>
            <a:pPr>
              <a:buFontTx/>
              <a:buChar char="•"/>
            </a:pPr>
            <a:r>
              <a:rPr lang="en-GB" altLang="en-US" dirty="0" smtClean="0">
                <a:latin typeface="Times New Roman" pitchFamily="18" charset="0"/>
              </a:rPr>
              <a:t>Run through instructions for </a:t>
            </a:r>
            <a:r>
              <a:rPr lang="en-GB" altLang="en-US" b="1" dirty="0" smtClean="0">
                <a:latin typeface="Times New Roman" pitchFamily="18" charset="0"/>
              </a:rPr>
              <a:t>Children </a:t>
            </a:r>
            <a:r>
              <a:rPr lang="en-GB" altLang="en-US" dirty="0" smtClean="0">
                <a:latin typeface="Times New Roman" pitchFamily="18" charset="0"/>
              </a:rPr>
              <a:t>(encourage to slow down, make some mistakes – if you can try to give some pattern to your errors) </a:t>
            </a:r>
            <a:r>
              <a:rPr lang="en-GB" altLang="en-US" b="1" dirty="0" smtClean="0">
                <a:latin typeface="Times New Roman" pitchFamily="18" charset="0"/>
              </a:rPr>
              <a:t>[1 min]</a:t>
            </a:r>
          </a:p>
          <a:p>
            <a:pPr>
              <a:buFontTx/>
              <a:buChar char="•"/>
            </a:pPr>
            <a:r>
              <a:rPr lang="en-GB" altLang="en-US" dirty="0" smtClean="0">
                <a:latin typeface="Times New Roman" pitchFamily="18" charset="0"/>
              </a:rPr>
              <a:t>Do</a:t>
            </a:r>
            <a:r>
              <a:rPr lang="en-GB" altLang="en-US" baseline="0" dirty="0" smtClean="0">
                <a:latin typeface="Times New Roman" pitchFamily="18" charset="0"/>
              </a:rPr>
              <a:t> </a:t>
            </a:r>
            <a:r>
              <a:rPr lang="en-GB" altLang="en-US" b="1" baseline="0" dirty="0" smtClean="0">
                <a:latin typeface="Times New Roman" pitchFamily="18" charset="0"/>
              </a:rPr>
              <a:t>collective</a:t>
            </a:r>
            <a:r>
              <a:rPr lang="en-GB" altLang="en-US" baseline="0" dirty="0" smtClean="0">
                <a:latin typeface="Times New Roman" pitchFamily="18" charset="0"/>
              </a:rPr>
              <a:t> role play for the probe (counting down 1 minute); ensure ‘adults’ have recorded number of correct/incorrect responses during the minute</a:t>
            </a:r>
          </a:p>
          <a:p>
            <a:pPr>
              <a:buFontTx/>
              <a:buChar char="•"/>
            </a:pPr>
            <a:endParaRPr lang="en-GB" altLang="en-US" dirty="0" smtClean="0">
              <a:latin typeface="Times New Roman" pitchFamily="18" charset="0"/>
            </a:endParaRPr>
          </a:p>
          <a:p>
            <a:pPr>
              <a:buFontTx/>
              <a:buNone/>
            </a:pPr>
            <a:endParaRPr lang="en-GB" altLang="en-US" dirty="0" smtClean="0">
              <a:latin typeface="Times New Roman" pitchFamily="18" charset="0"/>
            </a:endParaRPr>
          </a:p>
          <a:p>
            <a:pPr>
              <a:buFontTx/>
              <a:buChar char="•"/>
            </a:pPr>
            <a:r>
              <a:rPr lang="en-GB" altLang="en-US" b="1" dirty="0" smtClean="0">
                <a:latin typeface="Times New Roman" pitchFamily="18" charset="0"/>
              </a:rPr>
              <a:t>Feedback: how did that feel? Any concerns, queries, observations? [3 </a:t>
            </a:r>
            <a:r>
              <a:rPr lang="en-GB" altLang="en-US" b="1" dirty="0" err="1" smtClean="0">
                <a:latin typeface="Times New Roman" pitchFamily="18" charset="0"/>
              </a:rPr>
              <a:t>mins</a:t>
            </a:r>
            <a:r>
              <a:rPr lang="en-GB" altLang="en-US" b="1" dirty="0" smtClean="0">
                <a:latin typeface="Times New Roman" pitchFamily="18" charset="0"/>
              </a:rPr>
              <a:t>]</a:t>
            </a:r>
          </a:p>
          <a:p>
            <a:endParaRPr lang="en-GB" altLang="en-US" b="1" dirty="0" smtClean="0">
              <a:latin typeface="Times New Roman" pitchFamily="18" charset="0"/>
            </a:endParaRPr>
          </a:p>
          <a:p>
            <a:pPr>
              <a:buFontTx/>
              <a:buChar char="•"/>
            </a:pPr>
            <a:r>
              <a:rPr lang="en-GB" altLang="en-US" dirty="0" smtClean="0">
                <a:latin typeface="Times New Roman" pitchFamily="18" charset="0"/>
              </a:rPr>
              <a:t>Explain that this helpful website allows you to enter in the items that you wish to test and it will create probes for you with all of the items appearing randomly</a:t>
            </a:r>
          </a:p>
          <a:p>
            <a:pPr>
              <a:buFontTx/>
              <a:buNone/>
            </a:pPr>
            <a:endParaRPr lang="en-GB" altLang="en-US"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a:p>
            <a:endParaRPr lang="en-GB" altLang="en-US" dirty="0" smtClean="0">
              <a:latin typeface="Times New Roman" pitchFamily="18" charset="0"/>
            </a:endParaRPr>
          </a:p>
          <a:p>
            <a:endParaRPr lang="en-GB" altLang="en-US" dirty="0" smtClean="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endParaRPr lang="en-GB" altLang="en-US" dirty="0" smtClean="0">
              <a:latin typeface="Times New Roman" pitchFamily="18" charset="0"/>
            </a:endParaRPr>
          </a:p>
          <a:p>
            <a:pPr marL="228600" indent="-228600">
              <a:buAutoNum type="arabicPeriod"/>
            </a:pPr>
            <a:r>
              <a:rPr lang="en-GB" altLang="en-US" dirty="0" smtClean="0">
                <a:latin typeface="Times New Roman" pitchFamily="18" charset="0"/>
              </a:rPr>
              <a:t>Explain that to</a:t>
            </a:r>
            <a:r>
              <a:rPr lang="en-GB" altLang="en-US" baseline="0" dirty="0" smtClean="0">
                <a:latin typeface="Times New Roman" pitchFamily="18" charset="0"/>
              </a:rPr>
              <a:t> keep things simple, I’m asking that we stick to reading targets for the time-being – this makes it straightforward for us to set appropriate aim rates – so this applies whether the child is required to read sounds for phonics, full words (as in high-frequency) or to name numerals</a:t>
            </a:r>
          </a:p>
          <a:p>
            <a:pPr marL="228600" indent="-228600">
              <a:buAutoNum type="arabicPeriod"/>
            </a:pPr>
            <a:endParaRPr lang="en-GB" altLang="en-US" baseline="0" dirty="0" smtClean="0">
              <a:latin typeface="Times New Roman" pitchFamily="18" charset="0"/>
            </a:endParaRPr>
          </a:p>
          <a:p>
            <a:pPr marL="228600" indent="-228600">
              <a:buNone/>
            </a:pPr>
            <a:r>
              <a:rPr lang="en-GB" altLang="en-US" baseline="0" dirty="0" smtClean="0">
                <a:latin typeface="Times New Roman" pitchFamily="18" charset="0"/>
              </a:rPr>
              <a:t>Read points 2 and 3 together then demonstrate using PT probe generator with first 100 high frequency words as an example</a:t>
            </a:r>
          </a:p>
          <a:p>
            <a:pPr marL="228600" indent="-228600">
              <a:buNone/>
            </a:pPr>
            <a:endParaRPr lang="en-GB" altLang="en-US" baseline="0" dirty="0" smtClean="0">
              <a:latin typeface="Times New Roman" pitchFamily="18" charset="0"/>
            </a:endParaRPr>
          </a:p>
          <a:p>
            <a:pPr marL="228600" indent="-228600">
              <a:buNone/>
            </a:pPr>
            <a:r>
              <a:rPr lang="en-GB" altLang="en-US" baseline="0" dirty="0" smtClean="0">
                <a:latin typeface="Times New Roman" pitchFamily="18" charset="0"/>
              </a:rPr>
              <a:t>Distinguish between:</a:t>
            </a:r>
          </a:p>
          <a:p>
            <a:pPr marL="228600" indent="-228600">
              <a:buFont typeface="Arial" pitchFamily="34" charset="0"/>
              <a:buChar char="•"/>
            </a:pPr>
            <a:r>
              <a:rPr lang="en-GB" altLang="en-US" baseline="0" dirty="0" smtClean="0">
                <a:latin typeface="Times New Roman" pitchFamily="18" charset="0"/>
              </a:rPr>
              <a:t>assessment probe (with 20 items randomly distributed twice on probe sheet) – highlight that the purpose of this probe is to try to </a:t>
            </a:r>
            <a:r>
              <a:rPr lang="en-GB" altLang="en-US" b="1" baseline="0" dirty="0" smtClean="0">
                <a:latin typeface="Times New Roman" pitchFamily="18" charset="0"/>
              </a:rPr>
              <a:t>place </a:t>
            </a:r>
            <a:r>
              <a:rPr lang="en-GB" altLang="en-US" b="0" baseline="0" dirty="0" smtClean="0">
                <a:latin typeface="Times New Roman" pitchFamily="18" charset="0"/>
              </a:rPr>
              <a:t>the child in terms of what they already know well, versus what they need to learn. Assessment probe doesn’t need to be to timed – simply ask the child to read each sound, word or number and make a note of those which the child gets right without hesitation/self-correction to help you decide your starting point. </a:t>
            </a:r>
          </a:p>
          <a:p>
            <a:pPr marL="228600" indent="-228600">
              <a:buFont typeface="Arial" pitchFamily="34" charset="0"/>
              <a:buNone/>
            </a:pPr>
            <a:endParaRPr lang="en-GB" altLang="en-US" b="0" baseline="0" dirty="0" smtClean="0">
              <a:latin typeface="Times New Roman" pitchFamily="18" charset="0"/>
            </a:endParaRPr>
          </a:p>
          <a:p>
            <a:pPr marL="228600" indent="-228600">
              <a:buFont typeface="Arial" pitchFamily="34" charset="0"/>
              <a:buChar char="•"/>
            </a:pPr>
            <a:r>
              <a:rPr lang="en-GB" altLang="en-US" baseline="0" dirty="0" smtClean="0">
                <a:latin typeface="Times New Roman" pitchFamily="18" charset="0"/>
              </a:rPr>
              <a:t>PT session probe (with around 8 items, 5 known well, 3 not yet learnt)</a:t>
            </a:r>
          </a:p>
          <a:p>
            <a:pPr marL="228600" indent="-228600">
              <a:buFont typeface="Arial" pitchFamily="34" charset="0"/>
              <a:buNone/>
            </a:pPr>
            <a:endParaRPr lang="en-GB" altLang="en-US" baseline="0" dirty="0" smtClean="0">
              <a:latin typeface="Times New Roman" pitchFamily="18" charset="0"/>
            </a:endParaRPr>
          </a:p>
          <a:p>
            <a:pPr marL="228600" marR="0" indent="-228600" algn="l" defTabSz="914400" rtl="0" eaLnBrk="0" fontAlgn="base" latinLnBrk="0" hangingPunct="0">
              <a:lnSpc>
                <a:spcPct val="100000"/>
              </a:lnSpc>
              <a:spcBef>
                <a:spcPct val="0"/>
              </a:spcBef>
              <a:spcAft>
                <a:spcPct val="0"/>
              </a:spcAft>
              <a:buClrTx/>
              <a:buSzTx/>
              <a:buFont typeface="Arial" pitchFamily="34" charset="0"/>
              <a:buChar char="•"/>
              <a:tabLst/>
              <a:defRPr/>
            </a:pPr>
            <a:r>
              <a:rPr lang="en-GB" altLang="en-US" b="0" baseline="0" dirty="0" smtClean="0">
                <a:latin typeface="Times New Roman" pitchFamily="18" charset="0"/>
              </a:rPr>
              <a:t>Explain other examples – sounds in phonics programme, or whole words introduced in a particular order </a:t>
            </a:r>
            <a:endParaRPr lang="en-GB" altLang="en-US" baseline="0" dirty="0" smtClean="0">
              <a:latin typeface="Times New Roman" pitchFamily="18" charset="0"/>
            </a:endParaRPr>
          </a:p>
          <a:p>
            <a:pPr marL="228600" indent="-228600">
              <a:buFont typeface="Arial" pitchFamily="34" charset="0"/>
              <a:buChar char="•"/>
            </a:pPr>
            <a:endParaRPr lang="en-GB" altLang="en-US" baseline="0" dirty="0" smtClean="0">
              <a:latin typeface="Times New Roman" pitchFamily="18" charset="0"/>
            </a:endParaRPr>
          </a:p>
          <a:p>
            <a:pPr marL="228600" indent="-228600">
              <a:buFont typeface="Arial" pitchFamily="34" charset="0"/>
              <a:buChar char="•"/>
            </a:pPr>
            <a:r>
              <a:rPr lang="en-GB" altLang="en-US" baseline="0" dirty="0" smtClean="0">
                <a:latin typeface="Times New Roman" pitchFamily="18" charset="0"/>
              </a:rPr>
              <a:t>Underline that if using assessment probes to place the child, you’ll need to meet with the child </a:t>
            </a:r>
            <a:r>
              <a:rPr lang="en-GB" altLang="en-US" b="1" baseline="0" dirty="0" smtClean="0">
                <a:latin typeface="Times New Roman" pitchFamily="18" charset="0"/>
              </a:rPr>
              <a:t>twice </a:t>
            </a:r>
            <a:r>
              <a:rPr lang="en-GB" altLang="en-US" b="0" baseline="0" dirty="0" smtClean="0">
                <a:latin typeface="Times New Roman" pitchFamily="18" charset="0"/>
              </a:rPr>
              <a:t>– once to take them through assessment probes, and then once you’ve used this information to develop you PT probe, you will need to meet the child a second time to do your trial PT session.</a:t>
            </a:r>
          </a:p>
          <a:p>
            <a:pPr marL="228600" indent="-228600">
              <a:buFont typeface="Arial" pitchFamily="34" charset="0"/>
              <a:buNone/>
            </a:pPr>
            <a:endParaRPr lang="en-GB" altLang="en-US" baseline="0" dirty="0" smtClean="0">
              <a:latin typeface="Times New Roman" pitchFamily="18" charset="0"/>
            </a:endParaRPr>
          </a:p>
          <a:p>
            <a:pPr marL="228600" indent="-228600">
              <a:buFont typeface="Arial" pitchFamily="34" charset="0"/>
              <a:buChar char="•"/>
            </a:pPr>
            <a:r>
              <a:rPr lang="en-GB" altLang="en-US" baseline="0" dirty="0" smtClean="0">
                <a:latin typeface="Times New Roman" pitchFamily="18" charset="0"/>
              </a:rPr>
              <a:t>Ensure everybody is clear on what they need to do.</a:t>
            </a:r>
          </a:p>
          <a:p>
            <a:pPr marL="228600" indent="-228600">
              <a:buFont typeface="Arial" pitchFamily="34" charset="0"/>
              <a:buChar char="•"/>
            </a:pPr>
            <a:endParaRPr lang="en-GB" altLang="en-US" baseline="0" dirty="0" smtClean="0">
              <a:latin typeface="Times New Roman" pitchFamily="18" charset="0"/>
            </a:endParaRPr>
          </a:p>
          <a:p>
            <a:pPr marL="228600" indent="-228600">
              <a:buNone/>
            </a:pPr>
            <a:endParaRPr lang="en-GB" altLang="en-US" baseline="0" dirty="0" smtClean="0">
              <a:latin typeface="Times New Roman" pitchFamily="18" charset="0"/>
            </a:endParaRPr>
          </a:p>
          <a:p>
            <a:pPr marL="228600" indent="-228600">
              <a:buNone/>
            </a:pPr>
            <a:endParaRPr lang="en-GB" altLang="en-US" baseline="0" dirty="0" smtClean="0">
              <a:latin typeface="Times New Roman" pitchFamily="18" charset="0"/>
            </a:endParaRPr>
          </a:p>
          <a:p>
            <a:pPr marL="228600" indent="-228600">
              <a:buNone/>
            </a:pPr>
            <a:endParaRPr lang="en-GB" altLang="en-US" baseline="0" dirty="0" smtClean="0">
              <a:latin typeface="Times New Roman" pitchFamily="18" charset="0"/>
            </a:endParaRPr>
          </a:p>
          <a:p>
            <a:pPr marL="228600" indent="-228600">
              <a:buNone/>
            </a:pPr>
            <a:endParaRPr lang="en-GB" altLang="en-US" dirty="0" smtClean="0">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ED7897CE-3B34-4E94-A46A-93BE916167EB}" type="slidenum">
              <a:rPr lang="en-US" altLang="en-US"/>
              <a:pPr>
                <a:defRPr/>
              </a:pPr>
              <a:t>‹#›</a:t>
            </a:fld>
            <a:endParaRPr lang="en-US" altLang="en-US"/>
          </a:p>
        </p:txBody>
      </p:sp>
    </p:spTree>
    <p:extLst>
      <p:ext uri="{BB962C8B-B14F-4D97-AF65-F5344CB8AC3E}">
        <p14:creationId xmlns:p14="http://schemas.microsoft.com/office/powerpoint/2010/main" val="351158188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2F60CB75-C024-4A9A-943F-BB194A513C04}" type="slidenum">
              <a:rPr lang="en-US" altLang="en-US"/>
              <a:pPr>
                <a:defRPr/>
              </a:pPr>
              <a:t>‹#›</a:t>
            </a:fld>
            <a:endParaRPr lang="en-US" altLang="en-US"/>
          </a:p>
        </p:txBody>
      </p:sp>
    </p:spTree>
    <p:extLst>
      <p:ext uri="{BB962C8B-B14F-4D97-AF65-F5344CB8AC3E}">
        <p14:creationId xmlns:p14="http://schemas.microsoft.com/office/powerpoint/2010/main" val="266128455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Text Box 3"/>
          <p:cNvSpPr txBox="1">
            <a:spLocks noGrp="1" noChangeArrowheads="1"/>
          </p:cNvSpPr>
          <p:nvPr>
            <p:ph type="sldNum" sz="quarter" idx="10"/>
          </p:nvPr>
        </p:nvSpPr>
        <p:spPr>
          <a:ln/>
        </p:spPr>
        <p:txBody>
          <a:bodyPr/>
          <a:lstStyle>
            <a:lvl1pPr>
              <a:defRPr/>
            </a:lvl1pPr>
          </a:lstStyle>
          <a:p>
            <a:pPr>
              <a:defRPr/>
            </a:pPr>
            <a:fld id="{FE782EF2-1558-45B4-A723-B6E5C25E74E5}" type="slidenum">
              <a:rPr lang="en-US" altLang="en-US"/>
              <a:pPr>
                <a:defRPr/>
              </a:pPr>
              <a:t>‹#›</a:t>
            </a:fld>
            <a:endParaRPr lang="en-US" altLang="en-US"/>
          </a:p>
        </p:txBody>
      </p:sp>
    </p:spTree>
    <p:extLst>
      <p:ext uri="{BB962C8B-B14F-4D97-AF65-F5344CB8AC3E}">
        <p14:creationId xmlns:p14="http://schemas.microsoft.com/office/powerpoint/2010/main" val="49618639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279525" y="1600200"/>
            <a:ext cx="25527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984625" y="1600200"/>
            <a:ext cx="25527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Box 3"/>
          <p:cNvSpPr txBox="1">
            <a:spLocks noGrp="1" noChangeArrowheads="1"/>
          </p:cNvSpPr>
          <p:nvPr>
            <p:ph type="sldNum" sz="quarter" idx="10"/>
          </p:nvPr>
        </p:nvSpPr>
        <p:spPr>
          <a:ln/>
        </p:spPr>
        <p:txBody>
          <a:bodyPr/>
          <a:lstStyle>
            <a:lvl1pPr>
              <a:defRPr/>
            </a:lvl1pPr>
          </a:lstStyle>
          <a:p>
            <a:pPr>
              <a:defRPr/>
            </a:pPr>
            <a:fld id="{6201E01F-14F8-4242-9E40-A3B88BA8D09C}" type="slidenum">
              <a:rPr lang="en-US" altLang="en-US"/>
              <a:pPr>
                <a:defRPr/>
              </a:pPr>
              <a:t>‹#›</a:t>
            </a:fld>
            <a:endParaRPr lang="en-US" altLang="en-US"/>
          </a:p>
        </p:txBody>
      </p:sp>
    </p:spTree>
    <p:extLst>
      <p:ext uri="{BB962C8B-B14F-4D97-AF65-F5344CB8AC3E}">
        <p14:creationId xmlns:p14="http://schemas.microsoft.com/office/powerpoint/2010/main" val="301950419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Text Box 3"/>
          <p:cNvSpPr txBox="1">
            <a:spLocks noGrp="1" noChangeArrowheads="1"/>
          </p:cNvSpPr>
          <p:nvPr>
            <p:ph type="sldNum" sz="quarter" idx="10"/>
          </p:nvPr>
        </p:nvSpPr>
        <p:spPr>
          <a:ln/>
        </p:spPr>
        <p:txBody>
          <a:bodyPr/>
          <a:lstStyle>
            <a:lvl1pPr>
              <a:defRPr/>
            </a:lvl1pPr>
          </a:lstStyle>
          <a:p>
            <a:pPr>
              <a:defRPr/>
            </a:pPr>
            <a:fld id="{256917A6-DF6A-43EC-A1C4-3B0C85B5D24C}" type="slidenum">
              <a:rPr lang="en-US" altLang="en-US"/>
              <a:pPr>
                <a:defRPr/>
              </a:pPr>
              <a:t>‹#›</a:t>
            </a:fld>
            <a:endParaRPr lang="en-US" altLang="en-US"/>
          </a:p>
        </p:txBody>
      </p:sp>
    </p:spTree>
    <p:extLst>
      <p:ext uri="{BB962C8B-B14F-4D97-AF65-F5344CB8AC3E}">
        <p14:creationId xmlns:p14="http://schemas.microsoft.com/office/powerpoint/2010/main" val="109228704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Text Box 3"/>
          <p:cNvSpPr txBox="1">
            <a:spLocks noGrp="1" noChangeArrowheads="1"/>
          </p:cNvSpPr>
          <p:nvPr>
            <p:ph type="sldNum" sz="quarter" idx="10"/>
          </p:nvPr>
        </p:nvSpPr>
        <p:spPr>
          <a:ln/>
        </p:spPr>
        <p:txBody>
          <a:bodyPr/>
          <a:lstStyle>
            <a:lvl1pPr>
              <a:defRPr/>
            </a:lvl1pPr>
          </a:lstStyle>
          <a:p>
            <a:pPr>
              <a:defRPr/>
            </a:pPr>
            <a:fld id="{7F2F85BD-BA3C-4969-A315-1DC89B10B379}" type="slidenum">
              <a:rPr lang="en-US" altLang="en-US"/>
              <a:pPr>
                <a:defRPr/>
              </a:pPr>
              <a:t>‹#›</a:t>
            </a:fld>
            <a:endParaRPr lang="en-US" altLang="en-US"/>
          </a:p>
        </p:txBody>
      </p:sp>
    </p:spTree>
    <p:extLst>
      <p:ext uri="{BB962C8B-B14F-4D97-AF65-F5344CB8AC3E}">
        <p14:creationId xmlns:p14="http://schemas.microsoft.com/office/powerpoint/2010/main" val="14519832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pPr>
              <a:defRPr/>
            </a:pPr>
            <a:fld id="{9F870A17-1C5D-463A-B427-9BA08FBD033F}" type="slidenum">
              <a:rPr lang="en-US" altLang="en-US"/>
              <a:pPr>
                <a:defRPr/>
              </a:pPr>
              <a:t>‹#›</a:t>
            </a:fld>
            <a:endParaRPr lang="en-US" altLang="en-US"/>
          </a:p>
        </p:txBody>
      </p:sp>
    </p:spTree>
    <p:extLst>
      <p:ext uri="{BB962C8B-B14F-4D97-AF65-F5344CB8AC3E}">
        <p14:creationId xmlns:p14="http://schemas.microsoft.com/office/powerpoint/2010/main" val="194705636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694DD1E6-0955-412A-9B18-F274445AD869}" type="slidenum">
              <a:rPr lang="en-US" altLang="en-US"/>
              <a:pPr>
                <a:defRPr/>
              </a:pPr>
              <a:t>‹#›</a:t>
            </a:fld>
            <a:endParaRPr lang="en-US" altLang="en-US"/>
          </a:p>
        </p:txBody>
      </p:sp>
    </p:spTree>
    <p:extLst>
      <p:ext uri="{BB962C8B-B14F-4D97-AF65-F5344CB8AC3E}">
        <p14:creationId xmlns:p14="http://schemas.microsoft.com/office/powerpoint/2010/main" val="421735828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sym typeface="Century Gothic"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4A7B8D1E-0E76-4CBC-B28F-2C17D82E5F5E}" type="slidenum">
              <a:rPr lang="en-US" altLang="en-US"/>
              <a:pPr>
                <a:defRPr/>
              </a:pPr>
              <a:t>‹#›</a:t>
            </a:fld>
            <a:endParaRPr lang="en-US" altLang="en-US"/>
          </a:p>
        </p:txBody>
      </p:sp>
    </p:spTree>
    <p:extLst>
      <p:ext uri="{BB962C8B-B14F-4D97-AF65-F5344CB8AC3E}">
        <p14:creationId xmlns:p14="http://schemas.microsoft.com/office/powerpoint/2010/main" val="152592385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2BE972D1-94E1-4CCA-9F9A-02D7F5765551}" type="slidenum">
              <a:rPr lang="en-US" altLang="en-US"/>
              <a:pPr>
                <a:defRPr/>
              </a:pPr>
              <a:t>‹#›</a:t>
            </a:fld>
            <a:endParaRPr lang="en-US" altLang="en-US"/>
          </a:p>
        </p:txBody>
      </p:sp>
    </p:spTree>
    <p:extLst>
      <p:ext uri="{BB962C8B-B14F-4D97-AF65-F5344CB8AC3E}">
        <p14:creationId xmlns:p14="http://schemas.microsoft.com/office/powerpoint/2010/main" val="42658762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4475" y="274638"/>
            <a:ext cx="1771650" cy="6583362"/>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9525" y="274638"/>
            <a:ext cx="5162550" cy="6583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16B39C32-6E7E-4D9F-834A-C7A7F40DB430}" type="slidenum">
              <a:rPr lang="en-US" altLang="en-US"/>
              <a:pPr>
                <a:defRPr/>
              </a:pPr>
              <a:t>‹#›</a:t>
            </a:fld>
            <a:endParaRPr lang="en-US" altLang="en-US"/>
          </a:p>
        </p:txBody>
      </p:sp>
    </p:spTree>
    <p:extLst>
      <p:ext uri="{BB962C8B-B14F-4D97-AF65-F5344CB8AC3E}">
        <p14:creationId xmlns:p14="http://schemas.microsoft.com/office/powerpoint/2010/main" val="427078046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3EEDE0E0-1E8E-445F-B53C-37B103BBB8BA}" type="slidenum">
              <a:rPr lang="en-US" altLang="en-US"/>
              <a:pPr>
                <a:defRPr/>
              </a:pPr>
              <a:t>‹#›</a:t>
            </a:fld>
            <a:endParaRPr lang="en-US" altLang="en-US"/>
          </a:p>
        </p:txBody>
      </p:sp>
    </p:spTree>
    <p:extLst>
      <p:ext uri="{BB962C8B-B14F-4D97-AF65-F5344CB8AC3E}">
        <p14:creationId xmlns:p14="http://schemas.microsoft.com/office/powerpoint/2010/main" val="152089930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3968066F-9D1B-4A07-8F8A-C7315F98508A}" type="slidenum">
              <a:rPr lang="en-US" altLang="en-US"/>
              <a:pPr>
                <a:defRPr/>
              </a:pPr>
              <a:t>‹#›</a:t>
            </a:fld>
            <a:endParaRPr lang="en-US" altLang="en-US"/>
          </a:p>
        </p:txBody>
      </p:sp>
    </p:spTree>
    <p:extLst>
      <p:ext uri="{BB962C8B-B14F-4D97-AF65-F5344CB8AC3E}">
        <p14:creationId xmlns:p14="http://schemas.microsoft.com/office/powerpoint/2010/main" val="782378959"/>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Text Box 3"/>
          <p:cNvSpPr txBox="1">
            <a:spLocks noGrp="1" noChangeArrowheads="1"/>
          </p:cNvSpPr>
          <p:nvPr>
            <p:ph type="sldNum" sz="quarter" idx="10"/>
          </p:nvPr>
        </p:nvSpPr>
        <p:spPr>
          <a:ln/>
        </p:spPr>
        <p:txBody>
          <a:bodyPr/>
          <a:lstStyle>
            <a:lvl1pPr>
              <a:defRPr/>
            </a:lvl1pPr>
          </a:lstStyle>
          <a:p>
            <a:pPr>
              <a:defRPr/>
            </a:pPr>
            <a:fld id="{66D04535-F5D5-4765-AAC0-47D081860878}" type="slidenum">
              <a:rPr lang="en-US" altLang="en-US"/>
              <a:pPr>
                <a:defRPr/>
              </a:pPr>
              <a:t>‹#›</a:t>
            </a:fld>
            <a:endParaRPr lang="en-US" altLang="en-US"/>
          </a:p>
        </p:txBody>
      </p:sp>
    </p:spTree>
    <p:extLst>
      <p:ext uri="{BB962C8B-B14F-4D97-AF65-F5344CB8AC3E}">
        <p14:creationId xmlns:p14="http://schemas.microsoft.com/office/powerpoint/2010/main" val="170362304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279525" y="2819400"/>
            <a:ext cx="2551113"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983038" y="2819400"/>
            <a:ext cx="25527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Box 3"/>
          <p:cNvSpPr txBox="1">
            <a:spLocks noGrp="1" noChangeArrowheads="1"/>
          </p:cNvSpPr>
          <p:nvPr>
            <p:ph type="sldNum" sz="quarter" idx="10"/>
          </p:nvPr>
        </p:nvSpPr>
        <p:spPr>
          <a:ln/>
        </p:spPr>
        <p:txBody>
          <a:bodyPr/>
          <a:lstStyle>
            <a:lvl1pPr>
              <a:defRPr/>
            </a:lvl1pPr>
          </a:lstStyle>
          <a:p>
            <a:pPr>
              <a:defRPr/>
            </a:pPr>
            <a:fld id="{ED4D8179-75A8-4BBC-B679-310BB5CF2DA4}" type="slidenum">
              <a:rPr lang="en-US" altLang="en-US"/>
              <a:pPr>
                <a:defRPr/>
              </a:pPr>
              <a:t>‹#›</a:t>
            </a:fld>
            <a:endParaRPr lang="en-US" altLang="en-US"/>
          </a:p>
        </p:txBody>
      </p:sp>
    </p:spTree>
    <p:extLst>
      <p:ext uri="{BB962C8B-B14F-4D97-AF65-F5344CB8AC3E}">
        <p14:creationId xmlns:p14="http://schemas.microsoft.com/office/powerpoint/2010/main" val="278839213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Text Box 3"/>
          <p:cNvSpPr txBox="1">
            <a:spLocks noGrp="1" noChangeArrowheads="1"/>
          </p:cNvSpPr>
          <p:nvPr>
            <p:ph type="sldNum" sz="quarter" idx="10"/>
          </p:nvPr>
        </p:nvSpPr>
        <p:spPr>
          <a:ln/>
        </p:spPr>
        <p:txBody>
          <a:bodyPr/>
          <a:lstStyle>
            <a:lvl1pPr>
              <a:defRPr/>
            </a:lvl1pPr>
          </a:lstStyle>
          <a:p>
            <a:pPr>
              <a:defRPr/>
            </a:pPr>
            <a:fld id="{BF64E0E1-E1F2-4972-96A3-5686BC45F8A8}" type="slidenum">
              <a:rPr lang="en-US" altLang="en-US"/>
              <a:pPr>
                <a:defRPr/>
              </a:pPr>
              <a:t>‹#›</a:t>
            </a:fld>
            <a:endParaRPr lang="en-US" altLang="en-US"/>
          </a:p>
        </p:txBody>
      </p:sp>
    </p:spTree>
    <p:extLst>
      <p:ext uri="{BB962C8B-B14F-4D97-AF65-F5344CB8AC3E}">
        <p14:creationId xmlns:p14="http://schemas.microsoft.com/office/powerpoint/2010/main" val="18642840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Text Box 3"/>
          <p:cNvSpPr txBox="1">
            <a:spLocks noGrp="1" noChangeArrowheads="1"/>
          </p:cNvSpPr>
          <p:nvPr>
            <p:ph type="sldNum" sz="quarter" idx="10"/>
          </p:nvPr>
        </p:nvSpPr>
        <p:spPr>
          <a:ln/>
        </p:spPr>
        <p:txBody>
          <a:bodyPr/>
          <a:lstStyle>
            <a:lvl1pPr>
              <a:defRPr/>
            </a:lvl1pPr>
          </a:lstStyle>
          <a:p>
            <a:pPr>
              <a:defRPr/>
            </a:pPr>
            <a:fld id="{C1C4D0AF-FE94-46A3-BD88-6B56C31D660D}" type="slidenum">
              <a:rPr lang="en-US" altLang="en-US"/>
              <a:pPr>
                <a:defRPr/>
              </a:pPr>
              <a:t>‹#›</a:t>
            </a:fld>
            <a:endParaRPr lang="en-US" altLang="en-US"/>
          </a:p>
        </p:txBody>
      </p:sp>
    </p:spTree>
    <p:extLst>
      <p:ext uri="{BB962C8B-B14F-4D97-AF65-F5344CB8AC3E}">
        <p14:creationId xmlns:p14="http://schemas.microsoft.com/office/powerpoint/2010/main" val="133727668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pPr>
              <a:defRPr/>
            </a:pPr>
            <a:fld id="{35710A3D-B715-4D64-8AF9-7745186314DF}" type="slidenum">
              <a:rPr lang="en-US" altLang="en-US"/>
              <a:pPr>
                <a:defRPr/>
              </a:pPr>
              <a:t>‹#›</a:t>
            </a:fld>
            <a:endParaRPr lang="en-US" altLang="en-US"/>
          </a:p>
        </p:txBody>
      </p:sp>
    </p:spTree>
    <p:extLst>
      <p:ext uri="{BB962C8B-B14F-4D97-AF65-F5344CB8AC3E}">
        <p14:creationId xmlns:p14="http://schemas.microsoft.com/office/powerpoint/2010/main" val="33123652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1887D2FD-E1BC-42A0-A7FB-FCDC2A2F6B00}" type="slidenum">
              <a:rPr lang="en-US" altLang="en-US"/>
              <a:pPr>
                <a:defRPr/>
              </a:pPr>
              <a:t>‹#›</a:t>
            </a:fld>
            <a:endParaRPr lang="en-US" altLang="en-US"/>
          </a:p>
        </p:txBody>
      </p:sp>
    </p:spTree>
    <p:extLst>
      <p:ext uri="{BB962C8B-B14F-4D97-AF65-F5344CB8AC3E}">
        <p14:creationId xmlns:p14="http://schemas.microsoft.com/office/powerpoint/2010/main" val="19538930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sym typeface="Century Gothic"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5B10BEFD-38F2-4049-8313-ABCF596DE23C}" type="slidenum">
              <a:rPr lang="en-US" altLang="en-US"/>
              <a:pPr>
                <a:defRPr/>
              </a:pPr>
              <a:t>‹#›</a:t>
            </a:fld>
            <a:endParaRPr lang="en-US" altLang="en-US"/>
          </a:p>
        </p:txBody>
      </p:sp>
    </p:spTree>
    <p:extLst>
      <p:ext uri="{BB962C8B-B14F-4D97-AF65-F5344CB8AC3E}">
        <p14:creationId xmlns:p14="http://schemas.microsoft.com/office/powerpoint/2010/main" val="24095579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C4759A98-364E-4F3F-BE23-18600B0B7016}" type="slidenum">
              <a:rPr lang="en-US" altLang="en-US"/>
              <a:pPr>
                <a:defRPr/>
              </a:pPr>
              <a:t>‹#›</a:t>
            </a:fld>
            <a:endParaRPr lang="en-US" altLang="en-US"/>
          </a:p>
        </p:txBody>
      </p:sp>
    </p:spTree>
    <p:extLst>
      <p:ext uri="{BB962C8B-B14F-4D97-AF65-F5344CB8AC3E}">
        <p14:creationId xmlns:p14="http://schemas.microsoft.com/office/powerpoint/2010/main" val="1871078595"/>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4475" y="1447800"/>
            <a:ext cx="1770063" cy="5410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9525" y="1447800"/>
            <a:ext cx="516255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6B0F94C5-E79F-4166-9617-DD0780B185BF}" type="slidenum">
              <a:rPr lang="en-US" altLang="en-US"/>
              <a:pPr>
                <a:defRPr/>
              </a:pPr>
              <a:t>‹#›</a:t>
            </a:fld>
            <a:endParaRPr lang="en-US" altLang="en-US"/>
          </a:p>
        </p:txBody>
      </p:sp>
    </p:spTree>
    <p:extLst>
      <p:ext uri="{BB962C8B-B14F-4D97-AF65-F5344CB8AC3E}">
        <p14:creationId xmlns:p14="http://schemas.microsoft.com/office/powerpoint/2010/main" val="160369941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1279525" y="274638"/>
            <a:ext cx="70866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ctr" anchorCtr="0" compatLnSpc="1">
            <a:prstTxWarp prst="textNoShape">
              <a:avLst/>
            </a:prstTxWarp>
          </a:bodyPr>
          <a:lstStyle/>
          <a:p>
            <a:pPr lvl="0"/>
            <a:r>
              <a:rPr lang="en-US" altLang="en-US" smtClean="0">
                <a:sym typeface="Century Gothic" pitchFamily="34" charset="0"/>
              </a:rPr>
              <a:t>Click to edit Master title style</a:t>
            </a:r>
          </a:p>
        </p:txBody>
      </p:sp>
      <p:sp>
        <p:nvSpPr>
          <p:cNvPr id="1027" name="Rectangle 2"/>
          <p:cNvSpPr>
            <a:spLocks noGrp="1" noChangeArrowheads="1"/>
          </p:cNvSpPr>
          <p:nvPr>
            <p:ph type="body" idx="1"/>
          </p:nvPr>
        </p:nvSpPr>
        <p:spPr bwMode="auto">
          <a:xfrm>
            <a:off x="1279525" y="1600200"/>
            <a:ext cx="52578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t" anchorCtr="0" compatLnSpc="1">
            <a:prstTxWarp prst="textNoShape">
              <a:avLst/>
            </a:prstTxWarp>
          </a:bodyPr>
          <a:lstStyle/>
          <a:p>
            <a:pPr lvl="0"/>
            <a:r>
              <a:rPr lang="en-US" altLang="en-US" smtClean="0">
                <a:sym typeface="Century Gothic" pitchFamily="34" charset="0"/>
              </a:rPr>
              <a:t>Click to edit Master text styles</a:t>
            </a:r>
          </a:p>
          <a:p>
            <a:pPr lvl="1"/>
            <a:r>
              <a:rPr lang="en-US" altLang="en-US" smtClean="0">
                <a:sym typeface="Century Gothic" pitchFamily="34" charset="0"/>
              </a:rPr>
              <a:t>Second level</a:t>
            </a:r>
          </a:p>
          <a:p>
            <a:pPr lvl="2"/>
            <a:r>
              <a:rPr lang="en-US" altLang="en-US" smtClean="0">
                <a:sym typeface="Century Gothic" pitchFamily="34" charset="0"/>
              </a:rPr>
              <a:t>Third level</a:t>
            </a:r>
          </a:p>
          <a:p>
            <a:pPr lvl="3"/>
            <a:r>
              <a:rPr lang="en-US" altLang="en-US" smtClean="0">
                <a:sym typeface="Century Gothic" pitchFamily="34" charset="0"/>
              </a:rPr>
              <a:t>Fourth level</a:t>
            </a:r>
          </a:p>
          <a:p>
            <a:pPr lvl="4"/>
            <a:r>
              <a:rPr lang="en-US" altLang="en-US" smtClean="0">
                <a:sym typeface="Century Gothic" pitchFamily="34" charset="0"/>
              </a:rPr>
              <a:t>Fifth level</a:t>
            </a:r>
          </a:p>
        </p:txBody>
      </p:sp>
      <p:sp>
        <p:nvSpPr>
          <p:cNvPr id="2" name="Text Box 3"/>
          <p:cNvSpPr txBox="1">
            <a:spLocks noGrp="1" noChangeArrowheads="1"/>
          </p:cNvSpPr>
          <p:nvPr>
            <p:ph type="sldNum" sz="quarter" idx="4"/>
          </p:nvPr>
        </p:nvSpPr>
        <p:spPr bwMode="auto">
          <a:xfrm>
            <a:off x="7477125" y="6429375"/>
            <a:ext cx="282575" cy="292100"/>
          </a:xfrm>
          <a:prstGeom prst="rect">
            <a:avLst/>
          </a:prstGeom>
          <a:noFill/>
          <a:ln>
            <a:noFill/>
          </a:ln>
          <a:effectLst/>
          <a:extLst/>
        </p:spPr>
        <p:txBody>
          <a:bodyPr vert="horz" wrap="none" lIns="91440" tIns="45720" rIns="91440" bIns="45720" numCol="1" anchor="t" anchorCtr="0" compatLnSpc="1">
            <a:prstTxWarp prst="textNoShape">
              <a:avLst/>
            </a:prstTxWarp>
          </a:bodyPr>
          <a:lstStyle>
            <a:lvl1pPr algn="ctr" eaLnBrk="1" hangingPunct="1">
              <a:defRPr>
                <a:solidFill>
                  <a:schemeClr val="tx1"/>
                </a:solidFill>
                <a:latin typeface="Century Gothic" pitchFamily="34" charset="0"/>
                <a:ea typeface="Century Gothic" pitchFamily="34" charset="0"/>
                <a:cs typeface="Century Gothic" pitchFamily="34" charset="0"/>
                <a:sym typeface="Century Gothic" pitchFamily="34" charset="0"/>
              </a:defRPr>
            </a:lvl1pPr>
          </a:lstStyle>
          <a:p>
            <a:pPr>
              <a:defRPr/>
            </a:pPr>
            <a:fld id="{87838855-CBF6-4430-A0BF-B4913F09DE1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p:hf hdr="0" ftr="0" dt="0"/>
  <p:txStyles>
    <p:titleStyle>
      <a:lvl1pPr marL="39688" indent="-39688" algn="l" rtl="0" eaLnBrk="0" fontAlgn="base" hangingPunct="0">
        <a:spcBef>
          <a:spcPct val="0"/>
        </a:spcBef>
        <a:spcAft>
          <a:spcPct val="0"/>
        </a:spcAft>
        <a:defRPr sz="3600">
          <a:solidFill>
            <a:schemeClr val="tx1"/>
          </a:solidFill>
          <a:latin typeface="+mj-lt"/>
          <a:ea typeface="+mj-ea"/>
          <a:cs typeface="+mj-cs"/>
          <a:sym typeface="Century Gothic" pitchFamily="34" charset="0"/>
        </a:defRPr>
      </a:lvl1pPr>
      <a:lvl2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2pPr>
      <a:lvl3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3pPr>
      <a:lvl4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4pPr>
      <a:lvl5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5pPr>
      <a:lvl6pPr marL="4968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6pPr>
      <a:lvl7pPr marL="9540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7pPr>
      <a:lvl8pPr marL="14112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8pPr>
      <a:lvl9pPr marL="18684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9pPr>
    </p:titleStyle>
    <p:bodyStyle>
      <a:lvl1pPr marL="382588" indent="-342900" algn="l" rtl="0" eaLnBrk="0" fontAlgn="base" hangingPunct="0">
        <a:spcBef>
          <a:spcPts val="700"/>
        </a:spcBef>
        <a:spcAft>
          <a:spcPct val="0"/>
        </a:spcAft>
        <a:buClr>
          <a:srgbClr val="000000"/>
        </a:buClr>
        <a:buSzPct val="100000"/>
        <a:buFont typeface="Century Gothic" pitchFamily="34" charset="0"/>
        <a:buChar char="•"/>
        <a:defRPr sz="2800">
          <a:solidFill>
            <a:schemeClr val="tx1"/>
          </a:solidFill>
          <a:latin typeface="+mn-lt"/>
          <a:ea typeface="+mn-ea"/>
          <a:cs typeface="+mn-cs"/>
          <a:sym typeface="Century Gothic" pitchFamily="34" charset="0"/>
        </a:defRPr>
      </a:lvl1pPr>
      <a:lvl2pPr marL="681038" indent="-285750" algn="l" rtl="0" eaLnBrk="0" fontAlgn="base" hangingPunct="0">
        <a:spcBef>
          <a:spcPts val="600"/>
        </a:spcBef>
        <a:spcAft>
          <a:spcPct val="0"/>
        </a:spcAft>
        <a:buClr>
          <a:srgbClr val="000000"/>
        </a:buClr>
        <a:buSzPct val="100000"/>
        <a:buFont typeface="Century Gothic" pitchFamily="34" charset="0"/>
        <a:buChar char="–"/>
        <a:defRPr sz="2400">
          <a:solidFill>
            <a:schemeClr val="tx1"/>
          </a:solidFill>
          <a:latin typeface="+mn-lt"/>
          <a:ea typeface="+mn-ea"/>
          <a:cs typeface="+mn-cs"/>
          <a:sym typeface="Century Gothic" pitchFamily="34" charset="0"/>
        </a:defRPr>
      </a:lvl2pPr>
      <a:lvl3pPr marL="1081088" indent="-228600" algn="l" rtl="0" eaLnBrk="0" fontAlgn="base" hangingPunct="0">
        <a:spcBef>
          <a:spcPts val="500"/>
        </a:spcBef>
        <a:spcAft>
          <a:spcPct val="0"/>
        </a:spcAft>
        <a:buClr>
          <a:srgbClr val="000000"/>
        </a:buClr>
        <a:buSzPct val="100000"/>
        <a:buFont typeface="Century Gothic" pitchFamily="34" charset="0"/>
        <a:buChar char="•"/>
        <a:defRPr sz="2000">
          <a:solidFill>
            <a:schemeClr val="tx1"/>
          </a:solidFill>
          <a:latin typeface="+mn-lt"/>
          <a:ea typeface="+mn-ea"/>
          <a:cs typeface="+mn-cs"/>
          <a:sym typeface="Century Gothic" pitchFamily="34" charset="0"/>
        </a:defRPr>
      </a:lvl3pPr>
      <a:lvl4pPr marL="1538288" indent="-228600" algn="l" rtl="0" eaLnBrk="0" fontAlgn="base" hangingPunct="0">
        <a:spcBef>
          <a:spcPts val="400"/>
        </a:spcBef>
        <a:spcAft>
          <a:spcPct val="0"/>
        </a:spcAft>
        <a:buClr>
          <a:srgbClr val="000000"/>
        </a:buClr>
        <a:buSzPct val="100000"/>
        <a:buFont typeface="Century Gothic" pitchFamily="34" charset="0"/>
        <a:buChar char="–"/>
        <a:defRPr>
          <a:solidFill>
            <a:schemeClr val="tx1"/>
          </a:solidFill>
          <a:latin typeface="+mn-lt"/>
          <a:ea typeface="+mn-ea"/>
          <a:cs typeface="+mn-cs"/>
          <a:sym typeface="Century Gothic" pitchFamily="34" charset="0"/>
        </a:defRPr>
      </a:lvl4pPr>
      <a:lvl5pPr marL="1995488" indent="-228600" algn="l" rtl="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mn-lt"/>
          <a:ea typeface="+mn-ea"/>
          <a:cs typeface="+mn-cs"/>
          <a:sym typeface="Century Gothic" pitchFamily="34" charset="0"/>
        </a:defRPr>
      </a:lvl5pPr>
      <a:lvl6pPr marL="2452688" indent="-228600" algn="l" rtl="0" fontAlgn="base">
        <a:spcBef>
          <a:spcPts val="400"/>
        </a:spcBef>
        <a:spcAft>
          <a:spcPct val="0"/>
        </a:spcAft>
        <a:buClr>
          <a:srgbClr val="000000"/>
        </a:buClr>
        <a:buSzPct val="100000"/>
        <a:buFont typeface="Century Gothic" charset="0"/>
        <a:buChar char="»"/>
        <a:defRPr sz="1600">
          <a:solidFill>
            <a:schemeClr val="tx1"/>
          </a:solidFill>
          <a:latin typeface="+mn-lt"/>
          <a:ea typeface="+mn-ea"/>
          <a:cs typeface="+mn-cs"/>
          <a:sym typeface="Century Gothic" charset="0"/>
        </a:defRPr>
      </a:lvl6pPr>
      <a:lvl7pPr marL="2909888" indent="-228600" algn="l" rtl="0" fontAlgn="base">
        <a:spcBef>
          <a:spcPts val="400"/>
        </a:spcBef>
        <a:spcAft>
          <a:spcPct val="0"/>
        </a:spcAft>
        <a:buClr>
          <a:srgbClr val="000000"/>
        </a:buClr>
        <a:buSzPct val="100000"/>
        <a:buFont typeface="Century Gothic" charset="0"/>
        <a:buChar char="»"/>
        <a:defRPr sz="1600">
          <a:solidFill>
            <a:schemeClr val="tx1"/>
          </a:solidFill>
          <a:latin typeface="+mn-lt"/>
          <a:ea typeface="+mn-ea"/>
          <a:cs typeface="+mn-cs"/>
          <a:sym typeface="Century Gothic" charset="0"/>
        </a:defRPr>
      </a:lvl7pPr>
      <a:lvl8pPr marL="3367088" indent="-228600" algn="l" rtl="0" fontAlgn="base">
        <a:spcBef>
          <a:spcPts val="400"/>
        </a:spcBef>
        <a:spcAft>
          <a:spcPct val="0"/>
        </a:spcAft>
        <a:buClr>
          <a:srgbClr val="000000"/>
        </a:buClr>
        <a:buSzPct val="100000"/>
        <a:buFont typeface="Century Gothic" charset="0"/>
        <a:buChar char="»"/>
        <a:defRPr sz="1600">
          <a:solidFill>
            <a:schemeClr val="tx1"/>
          </a:solidFill>
          <a:latin typeface="+mn-lt"/>
          <a:ea typeface="+mn-ea"/>
          <a:cs typeface="+mn-cs"/>
          <a:sym typeface="Century Gothic" charset="0"/>
        </a:defRPr>
      </a:lvl8pPr>
      <a:lvl9pPr marL="3824288" indent="-228600" algn="l" rtl="0" fontAlgn="base">
        <a:spcBef>
          <a:spcPts val="400"/>
        </a:spcBef>
        <a:spcAft>
          <a:spcPct val="0"/>
        </a:spcAft>
        <a:buClr>
          <a:srgbClr val="000000"/>
        </a:buClr>
        <a:buSzPct val="100000"/>
        <a:buFont typeface="Century Gothic" charset="0"/>
        <a:buChar char="»"/>
        <a:defRPr sz="1600">
          <a:solidFill>
            <a:schemeClr val="tx1"/>
          </a:solidFill>
          <a:latin typeface="+mn-lt"/>
          <a:ea typeface="+mn-ea"/>
          <a:cs typeface="+mn-cs"/>
          <a:sym typeface="Century Gothic"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50" name="Rectangle 1"/>
          <p:cNvSpPr>
            <a:spLocks noGrp="1" noChangeArrowheads="1"/>
          </p:cNvSpPr>
          <p:nvPr>
            <p:ph type="title"/>
          </p:nvPr>
        </p:nvSpPr>
        <p:spPr bwMode="auto">
          <a:xfrm>
            <a:off x="1279525" y="1447800"/>
            <a:ext cx="70850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ctr" anchorCtr="0" compatLnSpc="1">
            <a:prstTxWarp prst="textNoShape">
              <a:avLst/>
            </a:prstTxWarp>
          </a:bodyPr>
          <a:lstStyle/>
          <a:p>
            <a:pPr lvl="0"/>
            <a:r>
              <a:rPr lang="en-US" altLang="en-US" smtClean="0">
                <a:sym typeface="Century Gothic" pitchFamily="34" charset="0"/>
              </a:rPr>
              <a:t>Click to edit Master title style</a:t>
            </a:r>
          </a:p>
        </p:txBody>
      </p:sp>
      <p:sp>
        <p:nvSpPr>
          <p:cNvPr id="2051" name="Rectangle 2"/>
          <p:cNvSpPr>
            <a:spLocks noGrp="1" noChangeArrowheads="1"/>
          </p:cNvSpPr>
          <p:nvPr>
            <p:ph type="body" idx="1"/>
          </p:nvPr>
        </p:nvSpPr>
        <p:spPr bwMode="auto">
          <a:xfrm>
            <a:off x="1279525" y="2819400"/>
            <a:ext cx="525621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t" anchorCtr="0" compatLnSpc="1">
            <a:prstTxWarp prst="textNoShape">
              <a:avLst/>
            </a:prstTxWarp>
          </a:bodyPr>
          <a:lstStyle/>
          <a:p>
            <a:pPr lvl="0"/>
            <a:r>
              <a:rPr lang="en-US" altLang="en-US" smtClean="0">
                <a:sym typeface="Century Gothic" pitchFamily="34" charset="0"/>
              </a:rPr>
              <a:t>Click to edit Master text styles</a:t>
            </a:r>
          </a:p>
          <a:p>
            <a:pPr lvl="1"/>
            <a:r>
              <a:rPr lang="en-US" altLang="en-US" smtClean="0">
                <a:sym typeface="Century Gothic" pitchFamily="34" charset="0"/>
              </a:rPr>
              <a:t>Second level</a:t>
            </a:r>
          </a:p>
          <a:p>
            <a:pPr lvl="2"/>
            <a:r>
              <a:rPr lang="en-US" altLang="en-US" smtClean="0">
                <a:sym typeface="Century Gothic" pitchFamily="34" charset="0"/>
              </a:rPr>
              <a:t>Third level</a:t>
            </a:r>
          </a:p>
          <a:p>
            <a:pPr lvl="3"/>
            <a:r>
              <a:rPr lang="en-US" altLang="en-US" smtClean="0">
                <a:sym typeface="Century Gothic" pitchFamily="34" charset="0"/>
              </a:rPr>
              <a:t>Fourth level</a:t>
            </a:r>
          </a:p>
          <a:p>
            <a:pPr lvl="4"/>
            <a:r>
              <a:rPr lang="en-US" altLang="en-US" smtClean="0">
                <a:sym typeface="Century Gothic" pitchFamily="34" charset="0"/>
              </a:rPr>
              <a:t>Fifth level</a:t>
            </a:r>
          </a:p>
        </p:txBody>
      </p:sp>
      <p:sp>
        <p:nvSpPr>
          <p:cNvPr id="2" name="Text Box 3"/>
          <p:cNvSpPr txBox="1">
            <a:spLocks noGrp="1" noChangeArrowheads="1"/>
          </p:cNvSpPr>
          <p:nvPr>
            <p:ph type="sldNum" sz="quarter" idx="4"/>
          </p:nvPr>
        </p:nvSpPr>
        <p:spPr bwMode="auto">
          <a:xfrm>
            <a:off x="7477125" y="6429375"/>
            <a:ext cx="282575" cy="292100"/>
          </a:xfrm>
          <a:prstGeom prst="rect">
            <a:avLst/>
          </a:prstGeom>
          <a:noFill/>
          <a:ln>
            <a:noFill/>
          </a:ln>
          <a:effectLst/>
          <a:extLst/>
        </p:spPr>
        <p:txBody>
          <a:bodyPr vert="horz" wrap="none" lIns="91440" tIns="45720" rIns="91440" bIns="45720" numCol="1" anchor="t" anchorCtr="0" compatLnSpc="1">
            <a:prstTxWarp prst="textNoShape">
              <a:avLst/>
            </a:prstTxWarp>
          </a:bodyPr>
          <a:lstStyle>
            <a:lvl1pPr algn="ctr" eaLnBrk="1" hangingPunct="1">
              <a:defRPr>
                <a:solidFill>
                  <a:schemeClr val="tx1"/>
                </a:solidFill>
                <a:latin typeface="Century Gothic" pitchFamily="34" charset="0"/>
                <a:ea typeface="Century Gothic" pitchFamily="34" charset="0"/>
                <a:cs typeface="Century Gothic" pitchFamily="34" charset="0"/>
                <a:sym typeface="Century Gothic" pitchFamily="34" charset="0"/>
              </a:defRPr>
            </a:lvl1pPr>
          </a:lstStyle>
          <a:p>
            <a:pPr>
              <a:defRPr/>
            </a:pPr>
            <a:fld id="{36F372C7-BFB5-4F22-A096-8366745C700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hdr="0" ftr="0" dt="0"/>
  <p:txStyles>
    <p:titleStyle>
      <a:lvl1pPr marL="39688" indent="-39688" algn="l" rtl="0" eaLnBrk="0" fontAlgn="base" hangingPunct="0">
        <a:spcBef>
          <a:spcPct val="0"/>
        </a:spcBef>
        <a:spcAft>
          <a:spcPct val="0"/>
        </a:spcAft>
        <a:defRPr sz="3600">
          <a:solidFill>
            <a:schemeClr val="tx1"/>
          </a:solidFill>
          <a:latin typeface="+mj-lt"/>
          <a:ea typeface="+mj-ea"/>
          <a:cs typeface="+mj-cs"/>
          <a:sym typeface="Century Gothic" pitchFamily="34" charset="0"/>
        </a:defRPr>
      </a:lvl1pPr>
      <a:lvl2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2pPr>
      <a:lvl3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3pPr>
      <a:lvl4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4pPr>
      <a:lvl5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5pPr>
      <a:lvl6pPr marL="4968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6pPr>
      <a:lvl7pPr marL="9540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7pPr>
      <a:lvl8pPr marL="14112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8pPr>
      <a:lvl9pPr marL="18684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9pPr>
    </p:titleStyle>
    <p:bodyStyle>
      <a:lvl1pPr marL="39688" indent="-39688" algn="l" rtl="0" eaLnBrk="0" fontAlgn="base" hangingPunct="0">
        <a:spcBef>
          <a:spcPts val="700"/>
        </a:spcBef>
        <a:spcAft>
          <a:spcPct val="0"/>
        </a:spcAft>
        <a:defRPr sz="2800">
          <a:solidFill>
            <a:schemeClr val="tx1"/>
          </a:solidFill>
          <a:latin typeface="+mn-lt"/>
          <a:ea typeface="+mn-ea"/>
          <a:cs typeface="+mn-cs"/>
          <a:sym typeface="Century Gothic" pitchFamily="34" charset="0"/>
        </a:defRPr>
      </a:lvl1pPr>
      <a:lvl2pPr marL="395288" indent="61913" algn="ctr" rtl="0" eaLnBrk="0" fontAlgn="base" hangingPunct="0">
        <a:spcBef>
          <a:spcPts val="600"/>
        </a:spcBef>
        <a:spcAft>
          <a:spcPct val="0"/>
        </a:spcAft>
        <a:defRPr sz="2400">
          <a:solidFill>
            <a:schemeClr val="tx1"/>
          </a:solidFill>
          <a:latin typeface="+mn-lt"/>
          <a:ea typeface="+mn-ea"/>
          <a:cs typeface="+mn-cs"/>
          <a:sym typeface="Century Gothic" pitchFamily="34" charset="0"/>
        </a:defRPr>
      </a:lvl2pPr>
      <a:lvl3pPr marL="852488" indent="61913" algn="ctr" rtl="0" eaLnBrk="0" fontAlgn="base" hangingPunct="0">
        <a:spcBef>
          <a:spcPts val="500"/>
        </a:spcBef>
        <a:spcAft>
          <a:spcPct val="0"/>
        </a:spcAft>
        <a:defRPr sz="2000">
          <a:solidFill>
            <a:schemeClr val="tx1"/>
          </a:solidFill>
          <a:latin typeface="+mn-lt"/>
          <a:ea typeface="+mn-ea"/>
          <a:cs typeface="+mn-cs"/>
          <a:sym typeface="Century Gothic" pitchFamily="34" charset="0"/>
        </a:defRPr>
      </a:lvl3pPr>
      <a:lvl4pPr marL="1309688" indent="61913" algn="ctr" rtl="0" eaLnBrk="0" fontAlgn="base" hangingPunct="0">
        <a:spcBef>
          <a:spcPts val="400"/>
        </a:spcBef>
        <a:spcAft>
          <a:spcPct val="0"/>
        </a:spcAft>
        <a:defRPr>
          <a:solidFill>
            <a:schemeClr val="tx1"/>
          </a:solidFill>
          <a:latin typeface="+mn-lt"/>
          <a:ea typeface="+mn-ea"/>
          <a:cs typeface="+mn-cs"/>
          <a:sym typeface="Century Gothic" pitchFamily="34" charset="0"/>
        </a:defRPr>
      </a:lvl4pPr>
      <a:lvl5pPr marL="1766888" indent="61913" algn="ctr" rtl="0" eaLnBrk="0" fontAlgn="base" hangingPunct="0">
        <a:spcBef>
          <a:spcPts val="400"/>
        </a:spcBef>
        <a:spcAft>
          <a:spcPct val="0"/>
        </a:spcAft>
        <a:defRPr sz="1600">
          <a:solidFill>
            <a:schemeClr val="tx1"/>
          </a:solidFill>
          <a:latin typeface="+mn-lt"/>
          <a:ea typeface="+mn-ea"/>
          <a:cs typeface="+mn-cs"/>
          <a:sym typeface="Century Gothic" pitchFamily="34" charset="0"/>
        </a:defRPr>
      </a:lvl5pPr>
      <a:lvl6pPr marL="2224088" algn="ctr" rtl="0" fontAlgn="base">
        <a:spcBef>
          <a:spcPts val="400"/>
        </a:spcBef>
        <a:spcAft>
          <a:spcPct val="0"/>
        </a:spcAft>
        <a:defRPr sz="1600">
          <a:solidFill>
            <a:schemeClr val="tx1"/>
          </a:solidFill>
          <a:latin typeface="+mn-lt"/>
          <a:ea typeface="+mn-ea"/>
          <a:cs typeface="+mn-cs"/>
          <a:sym typeface="Century Gothic" charset="0"/>
        </a:defRPr>
      </a:lvl6pPr>
      <a:lvl7pPr marL="2681288" algn="ctr" rtl="0" fontAlgn="base">
        <a:spcBef>
          <a:spcPts val="400"/>
        </a:spcBef>
        <a:spcAft>
          <a:spcPct val="0"/>
        </a:spcAft>
        <a:defRPr sz="1600">
          <a:solidFill>
            <a:schemeClr val="tx1"/>
          </a:solidFill>
          <a:latin typeface="+mn-lt"/>
          <a:ea typeface="+mn-ea"/>
          <a:cs typeface="+mn-cs"/>
          <a:sym typeface="Century Gothic" charset="0"/>
        </a:defRPr>
      </a:lvl7pPr>
      <a:lvl8pPr marL="3138488" algn="ctr" rtl="0" fontAlgn="base">
        <a:spcBef>
          <a:spcPts val="400"/>
        </a:spcBef>
        <a:spcAft>
          <a:spcPct val="0"/>
        </a:spcAft>
        <a:defRPr sz="1600">
          <a:solidFill>
            <a:schemeClr val="tx1"/>
          </a:solidFill>
          <a:latin typeface="+mn-lt"/>
          <a:ea typeface="+mn-ea"/>
          <a:cs typeface="+mn-cs"/>
          <a:sym typeface="Century Gothic" charset="0"/>
        </a:defRPr>
      </a:lvl8pPr>
      <a:lvl9pPr marL="3595688" algn="ctr" rtl="0" fontAlgn="base">
        <a:spcBef>
          <a:spcPts val="400"/>
        </a:spcBef>
        <a:spcAft>
          <a:spcPct val="0"/>
        </a:spcAft>
        <a:defRPr sz="1600">
          <a:solidFill>
            <a:schemeClr val="tx1"/>
          </a:solidFill>
          <a:latin typeface="+mn-lt"/>
          <a:ea typeface="+mn-ea"/>
          <a:cs typeface="+mn-cs"/>
          <a:sym typeface="Century Gothic"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johnandgwyn.co.uk/probe.html"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a:spcBef>
                <a:spcPct val="0"/>
              </a:spcBef>
              <a:buClrTx/>
              <a:buSzTx/>
              <a:buFontTx/>
              <a:buNone/>
            </a:pPr>
            <a:fld id="{BA0110CD-50B9-41E1-A0D1-0BA04FBA9AD7}" type="slidenum">
              <a:rPr lang="en-US" altLang="en-US" sz="1200" smtClean="0">
                <a:ea typeface="Century Gothic" pitchFamily="34" charset="0"/>
                <a:cs typeface="Century Gothic" pitchFamily="34" charset="0"/>
              </a:rPr>
              <a:pPr>
                <a:spcBef>
                  <a:spcPct val="0"/>
                </a:spcBef>
                <a:buClrTx/>
                <a:buSzTx/>
                <a:buFontTx/>
                <a:buNone/>
              </a:pPr>
              <a:t>1</a:t>
            </a:fld>
            <a:endParaRPr lang="en-US" altLang="en-US" sz="1200" smtClean="0">
              <a:ea typeface="Century Gothic" pitchFamily="34" charset="0"/>
              <a:cs typeface="Century Gothic" pitchFamily="34" charset="0"/>
            </a:endParaRPr>
          </a:p>
        </p:txBody>
      </p:sp>
      <p:sp>
        <p:nvSpPr>
          <p:cNvPr id="3073" name="Rectangle 1"/>
          <p:cNvSpPr>
            <a:spLocks noGrp="1" noChangeArrowheads="1"/>
          </p:cNvSpPr>
          <p:nvPr>
            <p:ph type="title"/>
          </p:nvPr>
        </p:nvSpPr>
        <p:spPr>
          <a:xfrm>
            <a:off x="1403350" y="981075"/>
            <a:ext cx="6400800" cy="911225"/>
          </a:xfrm>
          <a:effectLst>
            <a:outerShdw blurRad="63500" dist="50799" dir="2021367" algn="ctr" rotWithShape="0">
              <a:schemeClr val="bg2">
                <a:alpha val="75000"/>
              </a:schemeClr>
            </a:outerShdw>
          </a:effectLst>
        </p:spPr>
        <p:txBody>
          <a:bodyPr rIns="31750" anchor="b"/>
          <a:lstStyle/>
          <a:p>
            <a:pPr indent="0" algn="ctr" eaLnBrk="1" hangingPunct="1">
              <a:defRPr/>
            </a:pPr>
            <a:r>
              <a:rPr lang="en-US" sz="4400" u="sng" dirty="0" smtClean="0">
                <a:sym typeface="Century Gothic" charset="0"/>
              </a:rPr>
              <a:t>Precision Teaching:</a:t>
            </a:r>
          </a:p>
        </p:txBody>
      </p:sp>
      <p:sp>
        <p:nvSpPr>
          <p:cNvPr id="2" name="Rectangle 2"/>
          <p:cNvSpPr>
            <a:spLocks noGrp="1" noChangeArrowheads="1"/>
          </p:cNvSpPr>
          <p:nvPr>
            <p:ph type="body" idx="1"/>
          </p:nvPr>
        </p:nvSpPr>
        <p:spPr>
          <a:xfrm>
            <a:off x="381000" y="1814513"/>
            <a:ext cx="7924800" cy="1974850"/>
          </a:xfrm>
        </p:spPr>
        <p:txBody>
          <a:bodyPr rIns="31750"/>
          <a:lstStyle/>
          <a:p>
            <a:pPr algn="ctr" eaLnBrk="1" hangingPunct="1">
              <a:buFont typeface="Century Gothic" pitchFamily="34" charset="0"/>
              <a:buNone/>
              <a:defRPr/>
            </a:pPr>
            <a:r>
              <a:rPr lang="en-US" altLang="en-US" sz="3200" dirty="0" smtClean="0">
                <a:effectLst>
                  <a:outerShdw blurRad="38100" dist="38100" dir="2700000" algn="tl">
                    <a:srgbClr val="C0C0C0"/>
                  </a:outerShdw>
                </a:effectLst>
              </a:rPr>
              <a:t>An Introduction</a:t>
            </a:r>
          </a:p>
          <a:p>
            <a:pPr algn="ctr" eaLnBrk="1" hangingPunct="1">
              <a:buFont typeface="Century Gothic" pitchFamily="34" charset="0"/>
              <a:buNone/>
              <a:defRPr/>
            </a:pPr>
            <a:endParaRPr lang="en-US" altLang="en-US" sz="1400" dirty="0" smtClean="0">
              <a:effectLst>
                <a:outerShdw blurRad="38100" dist="38100" dir="2700000" algn="tl">
                  <a:srgbClr val="C0C0C0"/>
                </a:outerShdw>
              </a:effectLst>
            </a:endParaRPr>
          </a:p>
          <a:p>
            <a:pPr algn="ctr" eaLnBrk="1" hangingPunct="1">
              <a:buFont typeface="Century Gothic" pitchFamily="34" charset="0"/>
              <a:buNone/>
              <a:defRPr/>
            </a:pPr>
            <a:endParaRPr lang="en-US" altLang="en-US" sz="2400" dirty="0" smtClean="0">
              <a:effectLst>
                <a:outerShdw blurRad="38100" dist="38100" dir="2700000" algn="tl">
                  <a:srgbClr val="C0C0C0"/>
                </a:outerShdw>
              </a:effectLst>
            </a:endParaRPr>
          </a:p>
          <a:p>
            <a:pPr algn="ctr" eaLnBrk="1" hangingPunct="1">
              <a:buFont typeface="Century Gothic" pitchFamily="34" charset="0"/>
              <a:buNone/>
              <a:defRPr/>
            </a:pPr>
            <a:r>
              <a:rPr lang="en-US" altLang="en-US" sz="2400" dirty="0" smtClean="0">
                <a:effectLst>
                  <a:outerShdw blurRad="38100" dist="38100" dir="2700000" algn="tl">
                    <a:srgbClr val="C0C0C0"/>
                  </a:outerShdw>
                </a:effectLst>
              </a:rPr>
              <a:t>Sharon McKenzie</a:t>
            </a:r>
          </a:p>
          <a:p>
            <a:pPr algn="ctr" eaLnBrk="1" hangingPunct="1">
              <a:buFont typeface="Century Gothic" pitchFamily="34" charset="0"/>
              <a:buNone/>
              <a:defRPr/>
            </a:pPr>
            <a:r>
              <a:rPr lang="en-US" altLang="en-US" sz="2400" dirty="0" smtClean="0">
                <a:effectLst>
                  <a:outerShdw blurRad="38100" dist="38100" dir="2700000" algn="tl">
                    <a:srgbClr val="C0C0C0"/>
                  </a:outerShdw>
                </a:effectLst>
              </a:rPr>
              <a:t>Trainee Educational Psychologist</a:t>
            </a:r>
          </a:p>
          <a:p>
            <a:pPr algn="ctr" eaLnBrk="1" hangingPunct="1">
              <a:buFont typeface="Century Gothic" pitchFamily="34" charset="0"/>
              <a:buNone/>
              <a:defRPr/>
            </a:pPr>
            <a:endParaRPr lang="en-US" altLang="en-US" sz="2400" dirty="0" smtClean="0">
              <a:effectLst>
                <a:outerShdw blurRad="38100" dist="38100" dir="2700000" algn="tl">
                  <a:srgbClr val="C0C0C0"/>
                </a:outerShdw>
              </a:effectLst>
            </a:endParaRPr>
          </a:p>
          <a:p>
            <a:pPr algn="ctr" eaLnBrk="1" hangingPunct="1">
              <a:buFont typeface="Century Gothic" pitchFamily="34" charset="0"/>
              <a:buNone/>
              <a:defRPr/>
            </a:pPr>
            <a:r>
              <a:rPr lang="en-US" altLang="en-US" sz="2400" dirty="0" smtClean="0">
                <a:effectLst>
                  <a:outerShdw blurRad="38100" dist="38100" dir="2700000" algn="tl">
                    <a:srgbClr val="C0C0C0"/>
                  </a:outerShdw>
                </a:effectLst>
              </a:rPr>
              <a:t>University of Southampton</a:t>
            </a:r>
          </a:p>
          <a:p>
            <a:pPr algn="ctr" eaLnBrk="1" hangingPunct="1">
              <a:buFont typeface="Century Gothic" pitchFamily="34" charset="0"/>
              <a:buNone/>
              <a:defRPr/>
            </a:pPr>
            <a:endParaRPr lang="en-US" altLang="en-US" sz="2400" dirty="0" smtClean="0">
              <a:effectLst>
                <a:outerShdw blurRad="38100" dist="38100" dir="2700000" algn="tl">
                  <a:srgbClr val="C0C0C0"/>
                </a:outerShdw>
              </a:effectLst>
            </a:endParaRPr>
          </a:p>
          <a:p>
            <a:pPr algn="ctr" eaLnBrk="1" hangingPunct="1">
              <a:buFont typeface="Century Gothic" pitchFamily="34" charset="0"/>
              <a:buNone/>
              <a:defRPr/>
            </a:pPr>
            <a:r>
              <a:rPr lang="en-US" altLang="en-US" sz="2400" dirty="0" smtClean="0">
                <a:effectLst>
                  <a:outerShdw blurRad="38100" dist="38100" dir="2700000" algn="tl">
                    <a:srgbClr val="C0C0C0"/>
                  </a:outerShdw>
                </a:effectLst>
              </a:rPr>
              <a:t>Tuesday 4</a:t>
            </a:r>
            <a:r>
              <a:rPr lang="en-US" altLang="en-US" sz="2400" baseline="30000" dirty="0" smtClean="0">
                <a:effectLst>
                  <a:outerShdw blurRad="38100" dist="38100" dir="2700000" algn="tl">
                    <a:srgbClr val="C0C0C0"/>
                  </a:outerShdw>
                </a:effectLst>
              </a:rPr>
              <a:t>th</a:t>
            </a:r>
            <a:r>
              <a:rPr lang="en-US" altLang="en-US" sz="2400" dirty="0" smtClean="0">
                <a:effectLst>
                  <a:outerShdw blurRad="38100" dist="38100" dir="2700000" algn="tl">
                    <a:srgbClr val="C0C0C0"/>
                  </a:outerShdw>
                </a:effectLst>
              </a:rPr>
              <a:t> November 2014</a:t>
            </a:r>
          </a:p>
          <a:p>
            <a:pPr algn="ctr" eaLnBrk="1" hangingPunct="1">
              <a:buFont typeface="Century Gothic" pitchFamily="34" charset="0"/>
              <a:buNone/>
              <a:defRPr/>
            </a:pPr>
            <a:endParaRPr lang="en-US" altLang="en-US" sz="2000" dirty="0" smtClean="0">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279525" y="0"/>
            <a:ext cx="7086600" cy="1417638"/>
          </a:xfrm>
        </p:spPr>
        <p:txBody>
          <a:bodyPr rIns="31750" anchor="b"/>
          <a:lstStyle/>
          <a:p>
            <a:pPr indent="0" eaLnBrk="1" hangingPunct="1"/>
            <a:r>
              <a:rPr lang="en-US" altLang="en-US" u="sng" smtClean="0"/>
              <a:t>Aims of today:</a:t>
            </a:r>
          </a:p>
        </p:txBody>
      </p:sp>
      <p:sp>
        <p:nvSpPr>
          <p:cNvPr id="4099" name="Rectangle 2"/>
          <p:cNvSpPr>
            <a:spLocks noGrp="1" noChangeArrowheads="1"/>
          </p:cNvSpPr>
          <p:nvPr>
            <p:ph type="body" idx="1"/>
          </p:nvPr>
        </p:nvSpPr>
        <p:spPr/>
        <p:txBody>
          <a:bodyPr rIns="31750"/>
          <a:lstStyle/>
          <a:p>
            <a:pPr marL="423863" indent="-384175" eaLnBrk="1" hangingPunct="1">
              <a:lnSpc>
                <a:spcPct val="90000"/>
              </a:lnSpc>
              <a:buNone/>
            </a:pPr>
            <a:r>
              <a:rPr lang="en-US" altLang="en-US" sz="2400" dirty="0" smtClean="0"/>
              <a:t>Session 1 of 3</a:t>
            </a:r>
          </a:p>
          <a:p>
            <a:pPr marL="722313" lvl="1" indent="-384175" eaLnBrk="1" hangingPunct="1">
              <a:lnSpc>
                <a:spcPct val="90000"/>
              </a:lnSpc>
              <a:buFont typeface="Wingdings" pitchFamily="2" charset="2"/>
              <a:buChar char="Ø"/>
            </a:pPr>
            <a:r>
              <a:rPr lang="en-US" altLang="en-US" sz="2000" dirty="0" smtClean="0"/>
              <a:t>What is Precision Teaching?</a:t>
            </a:r>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PT: The underlying theory</a:t>
            </a:r>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How do you do PT?</a:t>
            </a:r>
            <a:endParaRPr lang="en-US" altLang="en-US" sz="1600" dirty="0"/>
          </a:p>
          <a:p>
            <a:pPr lvl="2" indent="-342900" eaLnBrk="1" hangingPunct="1">
              <a:lnSpc>
                <a:spcPct val="90000"/>
              </a:lnSpc>
              <a:buFont typeface="Arial" panose="020B0604020202020204" pitchFamily="34" charset="0"/>
              <a:buChar char="•"/>
            </a:pPr>
            <a:r>
              <a:rPr lang="en-US" altLang="en-US" sz="1600" dirty="0" smtClean="0"/>
              <a:t>PART 1 -  TEACHING: Teaching the skill</a:t>
            </a:r>
          </a:p>
          <a:p>
            <a:pPr lvl="2" indent="-342900" eaLnBrk="1" hangingPunct="1">
              <a:lnSpc>
                <a:spcPct val="90000"/>
              </a:lnSpc>
              <a:buFont typeface="Arial" panose="020B0604020202020204" pitchFamily="34" charset="0"/>
              <a:buChar char="•"/>
            </a:pPr>
            <a:r>
              <a:rPr lang="en-US" altLang="en-US" sz="1600" dirty="0" smtClean="0"/>
              <a:t>PART 2 -  PROBING: Testing the skill</a:t>
            </a:r>
          </a:p>
          <a:p>
            <a:pPr marL="738188" lvl="2" indent="0" eaLnBrk="1" hangingPunct="1">
              <a:lnSpc>
                <a:spcPct val="90000"/>
              </a:lnSpc>
              <a:buNone/>
            </a:pPr>
            <a:endParaRPr lang="en-US" altLang="en-US" sz="1600" dirty="0" smtClean="0"/>
          </a:p>
          <a:p>
            <a:pPr marL="722313" lvl="1" indent="-384175" eaLnBrk="1" hangingPunct="1">
              <a:lnSpc>
                <a:spcPct val="90000"/>
              </a:lnSpc>
              <a:buFont typeface="Wingdings" pitchFamily="2" charset="2"/>
              <a:buChar char="Ø"/>
            </a:pPr>
            <a:r>
              <a:rPr lang="en-US" altLang="en-US" sz="2000" dirty="0" smtClean="0"/>
              <a:t>Goals between now and the next session</a:t>
            </a:r>
          </a:p>
          <a:p>
            <a:pPr lvl="2" indent="-342900" eaLnBrk="1" hangingPunct="1">
              <a:lnSpc>
                <a:spcPct val="90000"/>
              </a:lnSpc>
              <a:buFont typeface="Arial" panose="020B0604020202020204" pitchFamily="34" charset="0"/>
              <a:buChar char="•"/>
            </a:pPr>
            <a:r>
              <a:rPr lang="en-US" altLang="en-US" sz="1600" dirty="0" smtClean="0"/>
              <a:t>Identify a child and learning focus</a:t>
            </a:r>
          </a:p>
          <a:p>
            <a:pPr lvl="2" indent="-342900" eaLnBrk="1" hangingPunct="1">
              <a:lnSpc>
                <a:spcPct val="90000"/>
              </a:lnSpc>
              <a:buFont typeface="Arial" panose="020B0604020202020204" pitchFamily="34" charset="0"/>
              <a:buChar char="•"/>
            </a:pPr>
            <a:r>
              <a:rPr lang="en-US" altLang="en-US" sz="1600" dirty="0" smtClean="0"/>
              <a:t>Create an appropriate probe sheet using PT website</a:t>
            </a:r>
          </a:p>
          <a:p>
            <a:pPr lvl="2" indent="-342900" eaLnBrk="1" hangingPunct="1">
              <a:lnSpc>
                <a:spcPct val="90000"/>
              </a:lnSpc>
              <a:buFont typeface="Arial" panose="020B0604020202020204" pitchFamily="34" charset="0"/>
              <a:buChar char="•"/>
            </a:pPr>
            <a:r>
              <a:rPr lang="en-US" altLang="en-US" sz="1600" dirty="0" smtClean="0"/>
              <a:t>Have a go! </a:t>
            </a:r>
          </a:p>
          <a:p>
            <a:pPr lvl="2" indent="-342900" eaLnBrk="1" hangingPunct="1">
              <a:lnSpc>
                <a:spcPct val="90000"/>
              </a:lnSpc>
              <a:buFont typeface="Arial" panose="020B0604020202020204" pitchFamily="34" charset="0"/>
              <a:buChar char="•"/>
            </a:pPr>
            <a:endParaRPr lang="en-US" altLang="en-US" sz="1600" dirty="0" smtClean="0"/>
          </a:p>
          <a:p>
            <a:pPr lvl="2" indent="-342900" eaLnBrk="1" hangingPunct="1">
              <a:lnSpc>
                <a:spcPct val="90000"/>
              </a:lnSpc>
              <a:buFont typeface="Arial" panose="020B0604020202020204" pitchFamily="34" charset="0"/>
              <a:buChar char="•"/>
            </a:pPr>
            <a:endParaRPr lang="en-US" altLang="en-US" sz="1600" dirty="0" smtClean="0"/>
          </a:p>
          <a:p>
            <a:pPr lvl="2" indent="-342900" eaLnBrk="1" hangingPunct="1">
              <a:lnSpc>
                <a:spcPct val="90000"/>
              </a:lnSpc>
              <a:buFont typeface="Arial" panose="020B0604020202020204" pitchFamily="34" charset="0"/>
              <a:buChar char="•"/>
            </a:pPr>
            <a:endParaRPr lang="en-US" altLang="en-US" sz="1600" dirty="0" smtClean="0"/>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endParaRPr lang="en-US" altLang="en-US" sz="1600" dirty="0"/>
          </a:p>
          <a:p>
            <a:pPr marL="738188" lvl="2" indent="0" eaLnBrk="1" hangingPunct="1">
              <a:lnSpc>
                <a:spcPct val="90000"/>
              </a:lnSpc>
              <a:buNone/>
            </a:pPr>
            <a:endParaRPr lang="en-US" altLang="en-US" sz="1600" dirty="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279525" y="0"/>
            <a:ext cx="7086600" cy="1417638"/>
          </a:xfrm>
        </p:spPr>
        <p:txBody>
          <a:bodyPr rIns="31750" anchor="b"/>
          <a:lstStyle/>
          <a:p>
            <a:pPr indent="0" eaLnBrk="1" hangingPunct="1"/>
            <a:r>
              <a:rPr lang="en-US" altLang="en-US" u="sng" dirty="0" smtClean="0"/>
              <a:t>Preview of next sessions</a:t>
            </a:r>
          </a:p>
        </p:txBody>
      </p:sp>
      <p:sp>
        <p:nvSpPr>
          <p:cNvPr id="4099" name="Rectangle 2"/>
          <p:cNvSpPr>
            <a:spLocks noGrp="1" noChangeArrowheads="1"/>
          </p:cNvSpPr>
          <p:nvPr>
            <p:ph type="body" idx="1"/>
          </p:nvPr>
        </p:nvSpPr>
        <p:spPr/>
        <p:txBody>
          <a:bodyPr rIns="31750"/>
          <a:lstStyle/>
          <a:p>
            <a:pPr marL="423863" indent="-384175" eaLnBrk="1" hangingPunct="1">
              <a:lnSpc>
                <a:spcPct val="90000"/>
              </a:lnSpc>
              <a:buNone/>
            </a:pPr>
            <a:r>
              <a:rPr lang="en-US" altLang="en-US" sz="2400" dirty="0" smtClean="0"/>
              <a:t>Session 2 of 3</a:t>
            </a:r>
          </a:p>
          <a:p>
            <a:pPr marL="423863" indent="-384175"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Sharing our experiences since the last session</a:t>
            </a:r>
          </a:p>
          <a:p>
            <a:pPr marL="722313" lvl="1" indent="-384175" eaLnBrk="1" hangingPunct="1">
              <a:lnSpc>
                <a:spcPct val="90000"/>
              </a:lnSpc>
              <a:buFont typeface="Wingdings" pitchFamily="2" charset="2"/>
              <a:buChar char="Ø"/>
            </a:pPr>
            <a:endParaRPr lang="en-US" altLang="en-US" sz="2000" dirty="0"/>
          </a:p>
          <a:p>
            <a:pPr marL="722313" lvl="1" indent="-384175" eaLnBrk="1" hangingPunct="1">
              <a:lnSpc>
                <a:spcPct val="90000"/>
              </a:lnSpc>
              <a:buFont typeface="Wingdings" pitchFamily="2" charset="2"/>
              <a:buChar char="Ø"/>
            </a:pPr>
            <a:r>
              <a:rPr lang="en-US" altLang="en-US" sz="2000" dirty="0"/>
              <a:t>How do you do PT?</a:t>
            </a:r>
          </a:p>
          <a:p>
            <a:pPr lvl="2" indent="-342900" eaLnBrk="1" hangingPunct="1">
              <a:lnSpc>
                <a:spcPct val="90000"/>
              </a:lnSpc>
              <a:buFont typeface="Arial" panose="020B0604020202020204" pitchFamily="34" charset="0"/>
              <a:buChar char="•"/>
            </a:pPr>
            <a:r>
              <a:rPr lang="en-US" altLang="en-US" sz="1600" dirty="0"/>
              <a:t>PART 3 -  CHARTING: Chart the results and discuss with the child</a:t>
            </a:r>
          </a:p>
          <a:p>
            <a:pPr lvl="2" indent="-342900" eaLnBrk="1" hangingPunct="1">
              <a:lnSpc>
                <a:spcPct val="90000"/>
              </a:lnSpc>
              <a:buFont typeface="Arial" panose="020B0604020202020204" pitchFamily="34" charset="0"/>
              <a:buChar char="•"/>
            </a:pPr>
            <a:r>
              <a:rPr lang="en-US" altLang="en-US" sz="1600" dirty="0"/>
              <a:t>PART 4 -  MONITORING: Review and adapt the programme as </a:t>
            </a:r>
            <a:r>
              <a:rPr lang="en-US" altLang="en-US" sz="1600" dirty="0" smtClean="0"/>
              <a:t>needed</a:t>
            </a:r>
            <a:endParaRPr lang="en-US" altLang="en-US" sz="2000" dirty="0" smtClean="0"/>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Evaluations on the training</a:t>
            </a:r>
          </a:p>
          <a:p>
            <a:pPr marL="722313" lvl="1" indent="-384175" eaLnBrk="1" hangingPunct="1">
              <a:lnSpc>
                <a:spcPct val="90000"/>
              </a:lnSpc>
              <a:buFont typeface="Wingdings" pitchFamily="2" charset="2"/>
              <a:buChar char="Ø"/>
            </a:pPr>
            <a:endParaRPr lang="en-US" altLang="en-US" sz="20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338138" lvl="1" indent="0" eaLnBrk="1" hangingPunct="1">
              <a:lnSpc>
                <a:spcPct val="90000"/>
              </a:lnSpc>
              <a:buNone/>
            </a:pPr>
            <a:endParaRPr lang="en-US" altLang="en-US" sz="2000" dirty="0" smtClean="0"/>
          </a:p>
          <a:p>
            <a:pPr lvl="2" indent="-342900" eaLnBrk="1" hangingPunct="1">
              <a:lnSpc>
                <a:spcPct val="90000"/>
              </a:lnSpc>
              <a:buFont typeface="Arial" panose="020B0604020202020204" pitchFamily="34" charset="0"/>
              <a:buChar char="•"/>
            </a:pPr>
            <a:endParaRPr lang="en-US" altLang="en-US" sz="1600" dirty="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p:txBody>
      </p:sp>
    </p:spTree>
    <p:extLst>
      <p:ext uri="{BB962C8B-B14F-4D97-AF65-F5344CB8AC3E}">
        <p14:creationId xmlns:p14="http://schemas.microsoft.com/office/powerpoint/2010/main" val="183530197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279525" y="0"/>
            <a:ext cx="7086600" cy="1417638"/>
          </a:xfrm>
        </p:spPr>
        <p:txBody>
          <a:bodyPr rIns="31750" anchor="b"/>
          <a:lstStyle/>
          <a:p>
            <a:pPr indent="0" eaLnBrk="1" hangingPunct="1"/>
            <a:r>
              <a:rPr lang="en-US" altLang="en-US" u="sng" dirty="0" smtClean="0"/>
              <a:t>Preview of next sessions</a:t>
            </a:r>
          </a:p>
        </p:txBody>
      </p:sp>
      <p:sp>
        <p:nvSpPr>
          <p:cNvPr id="4099" name="Rectangle 2"/>
          <p:cNvSpPr>
            <a:spLocks noGrp="1" noChangeArrowheads="1"/>
          </p:cNvSpPr>
          <p:nvPr>
            <p:ph type="body" idx="1"/>
          </p:nvPr>
        </p:nvSpPr>
        <p:spPr/>
        <p:txBody>
          <a:bodyPr rIns="31750"/>
          <a:lstStyle/>
          <a:p>
            <a:pPr marL="423863" indent="-384175" eaLnBrk="1" hangingPunct="1">
              <a:lnSpc>
                <a:spcPct val="90000"/>
              </a:lnSpc>
              <a:buNone/>
            </a:pPr>
            <a:r>
              <a:rPr lang="en-US" altLang="en-US" sz="2400" dirty="0" smtClean="0"/>
              <a:t>Session 3 of 3</a:t>
            </a:r>
          </a:p>
          <a:p>
            <a:pPr marL="423863" indent="-384175"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Peer supervision</a:t>
            </a:r>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Reflective discussions</a:t>
            </a:r>
          </a:p>
          <a:p>
            <a:pPr marL="1122363" lvl="2" indent="-384175" eaLnBrk="1" hangingPunct="1">
              <a:lnSpc>
                <a:spcPct val="90000"/>
              </a:lnSpc>
              <a:buFont typeface="Wingdings" pitchFamily="2" charset="2"/>
              <a:buChar char="Ø"/>
            </a:pPr>
            <a:r>
              <a:rPr lang="en-US" altLang="en-US" sz="1600" dirty="0"/>
              <a:t>How confident are we feeling about implementing PT?</a:t>
            </a:r>
          </a:p>
          <a:p>
            <a:pPr marL="738188" lvl="2" indent="0" eaLnBrk="1" hangingPunct="1">
              <a:lnSpc>
                <a:spcPct val="90000"/>
              </a:lnSpc>
              <a:buNone/>
            </a:pPr>
            <a:endParaRPr lang="en-US" altLang="en-US" sz="1600" dirty="0"/>
          </a:p>
          <a:p>
            <a:pPr marL="1122363" lvl="2" indent="-384175" eaLnBrk="1" hangingPunct="1">
              <a:lnSpc>
                <a:spcPct val="90000"/>
              </a:lnSpc>
              <a:buFont typeface="Wingdings" pitchFamily="2" charset="2"/>
              <a:buChar char="Ø"/>
            </a:pPr>
            <a:r>
              <a:rPr lang="en-US" altLang="en-US" sz="1600" dirty="0"/>
              <a:t>Our views on PT:</a:t>
            </a:r>
          </a:p>
          <a:p>
            <a:pPr marL="1481138" lvl="3" indent="-285750" eaLnBrk="1" hangingPunct="1">
              <a:lnSpc>
                <a:spcPct val="90000"/>
              </a:lnSpc>
              <a:buFont typeface="Arial" panose="020B0604020202020204" pitchFamily="34" charset="0"/>
              <a:buChar char="•"/>
            </a:pPr>
            <a:r>
              <a:rPr lang="en-US" altLang="en-US" sz="1400" dirty="0"/>
              <a:t>Academic </a:t>
            </a:r>
            <a:r>
              <a:rPr lang="en-US" altLang="en-US" sz="1400" dirty="0" smtClean="0"/>
              <a:t>impact</a:t>
            </a:r>
            <a:endParaRPr lang="en-US" altLang="en-US" sz="1400" dirty="0"/>
          </a:p>
          <a:p>
            <a:pPr marL="1481138" lvl="3" indent="-285750" eaLnBrk="1" hangingPunct="1">
              <a:lnSpc>
                <a:spcPct val="90000"/>
              </a:lnSpc>
              <a:buFont typeface="Arial" panose="020B0604020202020204" pitchFamily="34" charset="0"/>
              <a:buChar char="•"/>
            </a:pPr>
            <a:r>
              <a:rPr lang="en-US" altLang="en-US" sz="1400" dirty="0" smtClean="0"/>
              <a:t>Emotional/motivational impact</a:t>
            </a:r>
            <a:endParaRPr lang="en-US" altLang="en-US" sz="1400" dirty="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Evaluations on above</a:t>
            </a:r>
          </a:p>
          <a:p>
            <a:pPr marL="338138" lvl="1" indent="0" eaLnBrk="1" hangingPunct="1">
              <a:lnSpc>
                <a:spcPct val="90000"/>
              </a:lnSpc>
              <a:buNone/>
            </a:pPr>
            <a:endParaRPr lang="en-US" altLang="en-US" sz="20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338138" lvl="1" indent="0" eaLnBrk="1" hangingPunct="1">
              <a:lnSpc>
                <a:spcPct val="90000"/>
              </a:lnSpc>
              <a:buNone/>
            </a:pPr>
            <a:endParaRPr lang="en-US" altLang="en-US" sz="2000" dirty="0" smtClean="0"/>
          </a:p>
          <a:p>
            <a:pPr lvl="2" indent="-342900" eaLnBrk="1" hangingPunct="1">
              <a:lnSpc>
                <a:spcPct val="90000"/>
              </a:lnSpc>
              <a:buFont typeface="Arial" panose="020B0604020202020204" pitchFamily="34" charset="0"/>
              <a:buChar char="•"/>
            </a:pPr>
            <a:endParaRPr lang="en-US" altLang="en-US" sz="1600" dirty="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p:txBody>
      </p:sp>
    </p:spTree>
    <p:extLst>
      <p:ext uri="{BB962C8B-B14F-4D97-AF65-F5344CB8AC3E}">
        <p14:creationId xmlns:p14="http://schemas.microsoft.com/office/powerpoint/2010/main" val="194000447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1279525" y="0"/>
            <a:ext cx="7086600" cy="1417638"/>
          </a:xfrm>
        </p:spPr>
        <p:txBody>
          <a:bodyPr rIns="31750" anchor="b"/>
          <a:lstStyle/>
          <a:p>
            <a:pPr indent="0" eaLnBrk="1" hangingPunct="1"/>
            <a:r>
              <a:rPr lang="en-US" altLang="en-US" u="sng" smtClean="0"/>
              <a:t>What is Precision Teaching?</a:t>
            </a:r>
          </a:p>
        </p:txBody>
      </p:sp>
      <p:sp>
        <p:nvSpPr>
          <p:cNvPr id="5123" name="Rectangle 2"/>
          <p:cNvSpPr>
            <a:spLocks noGrp="1" noChangeArrowheads="1"/>
          </p:cNvSpPr>
          <p:nvPr>
            <p:ph type="body" idx="1"/>
          </p:nvPr>
        </p:nvSpPr>
        <p:spPr>
          <a:xfrm>
            <a:off x="1116013" y="1828800"/>
            <a:ext cx="5976937" cy="5029200"/>
          </a:xfrm>
        </p:spPr>
        <p:txBody>
          <a:bodyPr rIns="31750"/>
          <a:lstStyle/>
          <a:p>
            <a:pPr eaLnBrk="1" hangingPunct="1">
              <a:lnSpc>
                <a:spcPct val="150000"/>
              </a:lnSpc>
            </a:pPr>
            <a:endParaRPr lang="en-US" altLang="en-US" sz="600" smtClean="0"/>
          </a:p>
          <a:p>
            <a:pPr algn="ctr" eaLnBrk="1" hangingPunct="1">
              <a:lnSpc>
                <a:spcPct val="150000"/>
              </a:lnSpc>
              <a:buFont typeface="Century Gothic" pitchFamily="34" charset="0"/>
              <a:buNone/>
            </a:pPr>
            <a:r>
              <a:rPr lang="en-US" altLang="en-US" sz="2400" smtClean="0"/>
              <a:t>Precision Teaching (PT) is a method of </a:t>
            </a:r>
            <a:r>
              <a:rPr lang="en-US" altLang="en-US" sz="2400" u="sng" smtClean="0"/>
              <a:t>precisely measuring</a:t>
            </a:r>
            <a:r>
              <a:rPr lang="en-US" altLang="en-US" sz="2400" smtClean="0"/>
              <a:t> the effectiveness of teaching.  </a:t>
            </a:r>
            <a:endParaRPr lang="en-US" altLang="en-US" smtClean="0"/>
          </a:p>
          <a:p>
            <a:pPr algn="ctr" eaLnBrk="1" hangingPunct="1">
              <a:lnSpc>
                <a:spcPct val="150000"/>
              </a:lnSpc>
              <a:buFont typeface="Century Gothic" pitchFamily="34" charset="0"/>
              <a:buNone/>
            </a:pPr>
            <a:endParaRPr lang="en-US" altLang="en-US" sz="2400" smtClean="0"/>
          </a:p>
          <a:p>
            <a:pPr algn="ctr" eaLnBrk="1" hangingPunct="1">
              <a:lnSpc>
                <a:spcPct val="150000"/>
              </a:lnSpc>
              <a:buFont typeface="Century Gothic" pitchFamily="34" charset="0"/>
              <a:buNone/>
            </a:pPr>
            <a:r>
              <a:rPr lang="en-US" altLang="en-US" sz="2400" smtClean="0"/>
              <a:t>We could think of it as </a:t>
            </a:r>
            <a:r>
              <a:rPr lang="en-US" altLang="en-US" sz="2400" u="sng" smtClean="0"/>
              <a:t>precision monitoring </a:t>
            </a:r>
            <a:r>
              <a:rPr lang="en-US" altLang="en-US" sz="2400" smtClean="0"/>
              <a:t>of learning progress.  </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1333500" y="0"/>
            <a:ext cx="8204200" cy="1346200"/>
          </a:xfrm>
        </p:spPr>
        <p:txBody>
          <a:bodyPr rIns="31750" anchor="b"/>
          <a:lstStyle/>
          <a:p>
            <a:pPr indent="0" eaLnBrk="1" hangingPunct="1"/>
            <a:r>
              <a:rPr lang="en-US" altLang="en-US" u="sng" smtClean="0"/>
              <a:t>When can PT be used?</a:t>
            </a:r>
          </a:p>
        </p:txBody>
      </p:sp>
      <p:sp>
        <p:nvSpPr>
          <p:cNvPr id="7171" name="Rectangle 2"/>
          <p:cNvSpPr>
            <a:spLocks noGrp="1" noChangeArrowheads="1"/>
          </p:cNvSpPr>
          <p:nvPr>
            <p:ph type="body" idx="1"/>
          </p:nvPr>
        </p:nvSpPr>
        <p:spPr>
          <a:xfrm>
            <a:off x="1306513" y="1362075"/>
            <a:ext cx="5257800" cy="5495925"/>
          </a:xfrm>
        </p:spPr>
        <p:txBody>
          <a:bodyPr rIns="31750"/>
          <a:lstStyle/>
          <a:p>
            <a:pPr marL="423863" eaLnBrk="1" hangingPunct="1">
              <a:lnSpc>
                <a:spcPct val="80000"/>
              </a:lnSpc>
              <a:buFont typeface="Century Gothic" pitchFamily="34" charset="0"/>
              <a:buNone/>
            </a:pPr>
            <a:r>
              <a:rPr lang="en-US" altLang="en-US" sz="2000" smtClean="0"/>
              <a:t>When a child is making little or no progress in an area</a:t>
            </a:r>
          </a:p>
          <a:p>
            <a:pPr marL="423863" eaLnBrk="1" hangingPunct="1">
              <a:lnSpc>
                <a:spcPct val="80000"/>
              </a:lnSpc>
              <a:buFont typeface="Century Gothic" pitchFamily="34" charset="0"/>
              <a:buNone/>
            </a:pPr>
            <a:endParaRPr lang="en-US" altLang="en-US" sz="2000" smtClean="0"/>
          </a:p>
          <a:p>
            <a:pPr marL="423863" eaLnBrk="1" hangingPunct="1">
              <a:lnSpc>
                <a:spcPct val="80000"/>
              </a:lnSpc>
              <a:buFont typeface="Century Gothic" pitchFamily="34" charset="0"/>
              <a:buNone/>
            </a:pPr>
            <a:r>
              <a:rPr lang="en-US" altLang="en-US" sz="2000" smtClean="0"/>
              <a:t>When development of speed is essential for progress, for example:</a:t>
            </a:r>
          </a:p>
          <a:p>
            <a:pPr marL="423863" eaLnBrk="1" hangingPunct="1">
              <a:lnSpc>
                <a:spcPct val="80000"/>
              </a:lnSpc>
              <a:buFont typeface="Century Gothic" pitchFamily="34" charset="0"/>
              <a:buNone/>
            </a:pPr>
            <a:endParaRPr lang="en-US" altLang="en-US" sz="2000" smtClean="0"/>
          </a:p>
          <a:p>
            <a:pPr marL="423863" eaLnBrk="1" hangingPunct="1">
              <a:lnSpc>
                <a:spcPct val="80000"/>
              </a:lnSpc>
              <a:buFont typeface="Century Gothic" pitchFamily="34" charset="0"/>
              <a:buNone/>
            </a:pPr>
            <a:r>
              <a:rPr lang="en-US" altLang="en-US" sz="2000" smtClean="0">
                <a:latin typeface="ヒラギノ明朝 ProN W3" charset="0"/>
                <a:sym typeface="ヒラギノ明朝 ProN W3" charset="0"/>
              </a:rPr>
              <a:t>		</a:t>
            </a:r>
            <a:r>
              <a:rPr lang="en-US" altLang="en-US" sz="2000" smtClean="0"/>
              <a:t>- phonics</a:t>
            </a:r>
            <a:endParaRPr lang="en-US" altLang="en-US" smtClean="0"/>
          </a:p>
          <a:p>
            <a:pPr marL="423863" eaLnBrk="1" hangingPunct="1">
              <a:lnSpc>
                <a:spcPct val="80000"/>
              </a:lnSpc>
              <a:buFont typeface="Century Gothic" pitchFamily="34" charset="0"/>
              <a:buNone/>
            </a:pPr>
            <a:r>
              <a:rPr lang="en-US" altLang="en-US" sz="2000" smtClean="0">
                <a:latin typeface="ヒラギノ明朝 ProN W3" charset="0"/>
                <a:sym typeface="ヒラギノ明朝 ProN W3" charset="0"/>
              </a:rPr>
              <a:t>		</a:t>
            </a:r>
            <a:r>
              <a:rPr lang="en-US" altLang="en-US" sz="2000" smtClean="0"/>
              <a:t>- sight vocabulary</a:t>
            </a:r>
            <a:endParaRPr lang="en-US" altLang="en-US" smtClean="0"/>
          </a:p>
          <a:p>
            <a:pPr marL="423863" eaLnBrk="1" hangingPunct="1">
              <a:lnSpc>
                <a:spcPct val="80000"/>
              </a:lnSpc>
              <a:buFont typeface="Century Gothic" pitchFamily="34" charset="0"/>
              <a:buNone/>
            </a:pPr>
            <a:r>
              <a:rPr lang="en-US" altLang="en-US" sz="2000" smtClean="0">
                <a:latin typeface="ヒラギノ明朝 ProN W3" charset="0"/>
                <a:sym typeface="ヒラギノ明朝 ProN W3" charset="0"/>
              </a:rPr>
              <a:t>		</a:t>
            </a:r>
            <a:r>
              <a:rPr lang="en-US" altLang="en-US" sz="2000" smtClean="0"/>
              <a:t>- spelling high frequency words</a:t>
            </a:r>
            <a:endParaRPr lang="en-US" altLang="en-US" smtClean="0"/>
          </a:p>
          <a:p>
            <a:pPr marL="423863" eaLnBrk="1" hangingPunct="1">
              <a:lnSpc>
                <a:spcPct val="80000"/>
              </a:lnSpc>
              <a:buFont typeface="Century Gothic" pitchFamily="34" charset="0"/>
              <a:buNone/>
            </a:pPr>
            <a:r>
              <a:rPr lang="en-US" altLang="en-US" sz="2000" smtClean="0">
                <a:latin typeface="ヒラギノ明朝 ProN W3" charset="0"/>
                <a:sym typeface="ヒラギノ明朝 ProN W3" charset="0"/>
              </a:rPr>
              <a:t>		</a:t>
            </a:r>
            <a:r>
              <a:rPr lang="en-US" altLang="en-US" sz="2000" smtClean="0"/>
              <a:t>- number recognition</a:t>
            </a:r>
            <a:endParaRPr lang="en-US" altLang="en-US" smtClean="0"/>
          </a:p>
          <a:p>
            <a:pPr marL="423863" eaLnBrk="1" hangingPunct="1">
              <a:lnSpc>
                <a:spcPct val="80000"/>
              </a:lnSpc>
              <a:buFont typeface="Century Gothic" pitchFamily="34" charset="0"/>
              <a:buNone/>
            </a:pPr>
            <a:r>
              <a:rPr lang="en-US" altLang="en-US" sz="2000" smtClean="0">
                <a:latin typeface="ヒラギノ明朝 ProN W3" charset="0"/>
                <a:sym typeface="ヒラギノ明朝 ProN W3" charset="0"/>
              </a:rPr>
              <a:t>		</a:t>
            </a:r>
            <a:r>
              <a:rPr lang="en-US" altLang="en-US" sz="2000" smtClean="0"/>
              <a:t>- number bonds</a:t>
            </a:r>
            <a:endParaRPr lang="en-US" altLang="en-US" smtClean="0"/>
          </a:p>
          <a:p>
            <a:pPr marL="423863" eaLnBrk="1" hangingPunct="1">
              <a:lnSpc>
                <a:spcPct val="80000"/>
              </a:lnSpc>
              <a:buFont typeface="Century Gothic" pitchFamily="34" charset="0"/>
              <a:buNone/>
            </a:pPr>
            <a:endParaRPr lang="en-US" altLang="en-US" sz="2000" smtClean="0"/>
          </a:p>
          <a:p>
            <a:pPr marL="423863" algn="ctr" eaLnBrk="1" hangingPunct="1">
              <a:lnSpc>
                <a:spcPct val="80000"/>
              </a:lnSpc>
              <a:buFont typeface="Century Gothic" pitchFamily="34" charset="0"/>
              <a:buNone/>
            </a:pPr>
            <a:r>
              <a:rPr lang="en-US" altLang="en-US" sz="2000" i="1" smtClean="0"/>
              <a:t>For teaching skills that are measurable</a:t>
            </a:r>
          </a:p>
          <a:p>
            <a:pPr marL="423863" algn="ctr" eaLnBrk="1" hangingPunct="1">
              <a:lnSpc>
                <a:spcPct val="80000"/>
              </a:lnSpc>
              <a:buFont typeface="Century Gothic" pitchFamily="34" charset="0"/>
              <a:buNone/>
            </a:pPr>
            <a:r>
              <a:rPr lang="en-US" altLang="en-US" sz="2000" i="1" smtClean="0"/>
              <a:t>and need to be acquired to make</a:t>
            </a:r>
          </a:p>
          <a:p>
            <a:pPr marL="423863" algn="ctr" eaLnBrk="1" hangingPunct="1">
              <a:lnSpc>
                <a:spcPct val="80000"/>
              </a:lnSpc>
              <a:buFont typeface="Century Gothic" pitchFamily="34" charset="0"/>
              <a:buNone/>
            </a:pPr>
            <a:r>
              <a:rPr lang="en-US" altLang="en-US" sz="2000" i="1" smtClean="0"/>
              <a:t>progress</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1279525" y="0"/>
            <a:ext cx="7086600" cy="1244600"/>
          </a:xfrm>
        </p:spPr>
        <p:txBody>
          <a:bodyPr rIns="31750" anchor="b"/>
          <a:lstStyle/>
          <a:p>
            <a:pPr indent="0" eaLnBrk="1" hangingPunct="1"/>
            <a:r>
              <a:rPr lang="en-US" altLang="en-US" u="sng" smtClean="0"/>
              <a:t>Why does PT work?</a:t>
            </a:r>
          </a:p>
        </p:txBody>
      </p:sp>
      <p:sp>
        <p:nvSpPr>
          <p:cNvPr id="8195" name="Rectangle 2"/>
          <p:cNvSpPr>
            <a:spLocks noGrp="1" noChangeArrowheads="1"/>
          </p:cNvSpPr>
          <p:nvPr>
            <p:ph type="body" idx="1"/>
          </p:nvPr>
        </p:nvSpPr>
        <p:spPr>
          <a:xfrm>
            <a:off x="1103313" y="1341438"/>
            <a:ext cx="7696200" cy="5516562"/>
          </a:xfrm>
        </p:spPr>
        <p:txBody>
          <a:bodyPr rIns="31750"/>
          <a:lstStyle/>
          <a:p>
            <a:pPr eaLnBrk="1" hangingPunct="1">
              <a:lnSpc>
                <a:spcPct val="80000"/>
              </a:lnSpc>
            </a:pPr>
            <a:r>
              <a:rPr lang="en-US" altLang="en-US" sz="2000" dirty="0" smtClean="0"/>
              <a:t>It is </a:t>
            </a:r>
            <a:r>
              <a:rPr lang="en-US" altLang="en-US" sz="2000" u="sng" dirty="0" smtClean="0"/>
              <a:t>specific</a:t>
            </a:r>
            <a:r>
              <a:rPr lang="en-US" altLang="en-US" sz="2000" dirty="0" smtClean="0"/>
              <a:t>:</a:t>
            </a:r>
            <a:r>
              <a:rPr lang="en-US" altLang="en-US" sz="1800" dirty="0" smtClean="0"/>
              <a:t> </a:t>
            </a:r>
            <a:endParaRPr lang="en-US" altLang="en-US" dirty="0" smtClean="0"/>
          </a:p>
          <a:p>
            <a:pPr eaLnBrk="1" hangingPunct="1">
              <a:lnSpc>
                <a:spcPct val="80000"/>
              </a:lnSpc>
              <a:buFont typeface="Century Gothic" pitchFamily="34" charset="0"/>
              <a:buNone/>
            </a:pPr>
            <a:r>
              <a:rPr lang="en-US" altLang="en-US" sz="1800" dirty="0" smtClean="0">
                <a:latin typeface="ヒラギノ明朝 ProN W3" charset="0"/>
                <a:sym typeface="ヒラギノ明朝 ProN W3" charset="0"/>
              </a:rPr>
              <a:t>	</a:t>
            </a:r>
            <a:r>
              <a:rPr lang="en-US" altLang="en-US" sz="1600" dirty="0" smtClean="0"/>
              <a:t>Individual learning needs/targets are identified and taught/addressed</a:t>
            </a:r>
            <a:endParaRPr lang="en-US" altLang="en-US" dirty="0" smtClean="0"/>
          </a:p>
          <a:p>
            <a:pPr eaLnBrk="1" hangingPunct="1">
              <a:lnSpc>
                <a:spcPct val="80000"/>
              </a:lnSpc>
              <a:buFont typeface="Century Gothic" pitchFamily="34" charset="0"/>
              <a:buNone/>
            </a:pPr>
            <a:endParaRPr lang="en-US" altLang="en-US" sz="800" dirty="0" smtClean="0"/>
          </a:p>
          <a:p>
            <a:pPr eaLnBrk="1" hangingPunct="1">
              <a:lnSpc>
                <a:spcPct val="80000"/>
              </a:lnSpc>
            </a:pPr>
            <a:r>
              <a:rPr lang="en-US" altLang="en-US" sz="2000" dirty="0" smtClean="0"/>
              <a:t>It is </a:t>
            </a:r>
            <a:r>
              <a:rPr lang="en-US" altLang="en-US" sz="2000" u="sng" dirty="0" smtClean="0"/>
              <a:t>flexible</a:t>
            </a:r>
            <a:r>
              <a:rPr lang="en-US" altLang="en-US" sz="2000" dirty="0" smtClean="0"/>
              <a:t>: </a:t>
            </a:r>
            <a:endParaRPr lang="en-US" altLang="en-US" dirty="0" smtClean="0"/>
          </a:p>
          <a:p>
            <a:pPr eaLnBrk="1" hangingPunct="1">
              <a:lnSpc>
                <a:spcPct val="80000"/>
              </a:lnSpc>
              <a:buFont typeface="Century Gothic" pitchFamily="34" charset="0"/>
              <a:buNone/>
            </a:pPr>
            <a:r>
              <a:rPr lang="en-US" altLang="en-US" sz="1600" dirty="0" smtClean="0">
                <a:latin typeface="ヒラギノ明朝 ProN W3" charset="0"/>
                <a:sym typeface="ヒラギノ明朝 ProN W3" charset="0"/>
              </a:rPr>
              <a:t>	</a:t>
            </a:r>
            <a:r>
              <a:rPr lang="en-US" altLang="en-US" sz="1600" dirty="0" smtClean="0"/>
              <a:t>Can be used in a variety of curriculum areas to help work towards IEP targets</a:t>
            </a:r>
            <a:endParaRPr lang="en-US" altLang="en-US" dirty="0" smtClean="0"/>
          </a:p>
          <a:p>
            <a:pPr eaLnBrk="1" hangingPunct="1">
              <a:lnSpc>
                <a:spcPct val="80000"/>
              </a:lnSpc>
              <a:buFont typeface="Century Gothic" pitchFamily="34" charset="0"/>
              <a:buNone/>
            </a:pPr>
            <a:endParaRPr lang="en-US" altLang="en-US" sz="800" dirty="0" smtClean="0"/>
          </a:p>
          <a:p>
            <a:pPr eaLnBrk="1" hangingPunct="1">
              <a:lnSpc>
                <a:spcPct val="80000"/>
              </a:lnSpc>
            </a:pPr>
            <a:r>
              <a:rPr lang="en-US" altLang="en-US" sz="2000" dirty="0" smtClean="0"/>
              <a:t>It </a:t>
            </a:r>
            <a:r>
              <a:rPr lang="en-US" altLang="en-US" sz="2000" u="sng" dirty="0" smtClean="0"/>
              <a:t>ensures success</a:t>
            </a:r>
            <a:r>
              <a:rPr lang="en-US" altLang="en-US" sz="2000" dirty="0" smtClean="0"/>
              <a:t>:</a:t>
            </a:r>
            <a:endParaRPr lang="en-US" altLang="en-US" dirty="0" smtClean="0"/>
          </a:p>
          <a:p>
            <a:pPr eaLnBrk="1" hangingPunct="1">
              <a:lnSpc>
                <a:spcPct val="80000"/>
              </a:lnSpc>
              <a:buFont typeface="Century Gothic" pitchFamily="34" charset="0"/>
              <a:buNone/>
            </a:pPr>
            <a:r>
              <a:rPr lang="en-US" altLang="en-US" sz="1600" dirty="0" smtClean="0">
                <a:latin typeface="ヒラギノ明朝 ProN W3" charset="0"/>
                <a:sym typeface="ヒラギノ明朝 ProN W3" charset="0"/>
              </a:rPr>
              <a:t>	</a:t>
            </a:r>
            <a:r>
              <a:rPr lang="en-US" altLang="en-US" sz="1600" dirty="0" smtClean="0"/>
              <a:t>Children improve against their own performance </a:t>
            </a:r>
            <a:endParaRPr lang="en-US" altLang="en-US" dirty="0" smtClean="0"/>
          </a:p>
          <a:p>
            <a:pPr eaLnBrk="1" hangingPunct="1">
              <a:lnSpc>
                <a:spcPct val="80000"/>
              </a:lnSpc>
              <a:buFont typeface="Century Gothic" pitchFamily="34" charset="0"/>
              <a:buNone/>
            </a:pPr>
            <a:r>
              <a:rPr lang="en-US" altLang="en-US" sz="1600" dirty="0" smtClean="0">
                <a:latin typeface="ヒラギノ明朝 ProN W3" charset="0"/>
                <a:sym typeface="ヒラギノ明朝 ProN W3" charset="0"/>
              </a:rPr>
              <a:t>	</a:t>
            </a:r>
            <a:r>
              <a:rPr lang="en-US" altLang="en-US" sz="1600" dirty="0" smtClean="0"/>
              <a:t>and see progress on their charts each session</a:t>
            </a:r>
            <a:endParaRPr lang="en-US" altLang="en-US" dirty="0" smtClean="0"/>
          </a:p>
          <a:p>
            <a:pPr eaLnBrk="1" hangingPunct="1">
              <a:lnSpc>
                <a:spcPct val="80000"/>
              </a:lnSpc>
              <a:buFont typeface="Century Gothic" pitchFamily="34" charset="0"/>
              <a:buNone/>
            </a:pPr>
            <a:endParaRPr lang="en-US" altLang="en-US" sz="800" dirty="0" smtClean="0"/>
          </a:p>
          <a:p>
            <a:pPr eaLnBrk="1" hangingPunct="1">
              <a:lnSpc>
                <a:spcPct val="80000"/>
              </a:lnSpc>
            </a:pPr>
            <a:r>
              <a:rPr lang="en-US" altLang="en-US" sz="2000" dirty="0" smtClean="0"/>
              <a:t>It can </a:t>
            </a:r>
            <a:r>
              <a:rPr lang="en-US" altLang="en-US" sz="2000" u="sng" dirty="0" smtClean="0"/>
              <a:t>make learning fun</a:t>
            </a:r>
            <a:r>
              <a:rPr lang="en-US" altLang="en-US" sz="2000" dirty="0" smtClean="0"/>
              <a:t>:</a:t>
            </a:r>
            <a:endParaRPr lang="en-US" altLang="en-US" dirty="0" smtClean="0"/>
          </a:p>
          <a:p>
            <a:pPr eaLnBrk="1" hangingPunct="1">
              <a:lnSpc>
                <a:spcPct val="80000"/>
              </a:lnSpc>
              <a:buFont typeface="Century Gothic" pitchFamily="34" charset="0"/>
              <a:buNone/>
            </a:pPr>
            <a:r>
              <a:rPr lang="en-US" altLang="en-US" sz="1600" dirty="0" smtClean="0">
                <a:latin typeface="ヒラギノ明朝 ProN W3" charset="0"/>
                <a:sym typeface="ヒラギノ明朝 ProN W3" charset="0"/>
              </a:rPr>
              <a:t>	</a:t>
            </a:r>
            <a:r>
              <a:rPr lang="en-US" altLang="en-US" sz="1600" dirty="0" smtClean="0"/>
              <a:t>staff can use games and creative methods to </a:t>
            </a:r>
            <a:endParaRPr lang="en-US" altLang="en-US" dirty="0" smtClean="0"/>
          </a:p>
          <a:p>
            <a:pPr eaLnBrk="1" hangingPunct="1">
              <a:lnSpc>
                <a:spcPct val="80000"/>
              </a:lnSpc>
              <a:buFont typeface="Century Gothic" pitchFamily="34" charset="0"/>
              <a:buNone/>
            </a:pPr>
            <a:r>
              <a:rPr lang="en-US" altLang="en-US" sz="1600" dirty="0" smtClean="0"/>
              <a:t>	teach specific skills </a:t>
            </a:r>
          </a:p>
          <a:p>
            <a:pPr eaLnBrk="1" hangingPunct="1">
              <a:lnSpc>
                <a:spcPct val="80000"/>
              </a:lnSpc>
            </a:pPr>
            <a:endParaRPr lang="en-US" altLang="en-US" sz="1600" dirty="0" smtClean="0"/>
          </a:p>
          <a:p>
            <a:pPr eaLnBrk="1" hangingPunct="1">
              <a:lnSpc>
                <a:spcPct val="80000"/>
              </a:lnSpc>
            </a:pPr>
            <a:r>
              <a:rPr lang="en-US" altLang="en-US" sz="2000" dirty="0" smtClean="0"/>
              <a:t>It is </a:t>
            </a:r>
            <a:r>
              <a:rPr lang="en-US" altLang="en-US" sz="2000" u="sng" dirty="0" smtClean="0"/>
              <a:t>quick and easy </a:t>
            </a:r>
            <a:r>
              <a:rPr lang="en-US" altLang="en-US" sz="2000" dirty="0" smtClean="0"/>
              <a:t>to run:</a:t>
            </a:r>
            <a:endParaRPr lang="en-US" altLang="en-US" dirty="0" smtClean="0"/>
          </a:p>
          <a:p>
            <a:pPr eaLnBrk="1" hangingPunct="1">
              <a:lnSpc>
                <a:spcPct val="80000"/>
              </a:lnSpc>
              <a:buFont typeface="Century Gothic" pitchFamily="34" charset="0"/>
              <a:buNone/>
            </a:pPr>
            <a:r>
              <a:rPr lang="en-US" altLang="en-US" sz="1600" dirty="0" smtClean="0">
                <a:latin typeface="ヒラギノ明朝 ProN W3" charset="0"/>
                <a:sym typeface="ヒラギノ明朝 ProN W3" charset="0"/>
              </a:rPr>
              <a:t>	</a:t>
            </a:r>
            <a:r>
              <a:rPr lang="en-US" altLang="en-US" sz="1600" dirty="0" smtClean="0"/>
              <a:t>Only requires 10 minutes of 1-1 contact per day </a:t>
            </a:r>
            <a:endParaRPr lang="en-US" altLang="en-US" dirty="0" smtClean="0"/>
          </a:p>
          <a:p>
            <a:pPr eaLnBrk="1" hangingPunct="1">
              <a:lnSpc>
                <a:spcPct val="80000"/>
              </a:lnSpc>
              <a:buFont typeface="Century Gothic" pitchFamily="34" charset="0"/>
              <a:buNone/>
            </a:pPr>
            <a:r>
              <a:rPr lang="en-US" altLang="en-US" sz="1600" dirty="0" smtClean="0">
                <a:latin typeface="ヒラギノ明朝 ProN W3" charset="0"/>
                <a:sym typeface="ヒラギノ明朝 ProN W3" charset="0"/>
              </a:rPr>
              <a:t>	</a:t>
            </a:r>
            <a:endParaRPr lang="en-US" altLang="en-US" sz="1600" dirty="0"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algn="ctr"/>
            <a:r>
              <a:rPr lang="en-GB" altLang="en-US" b="1" smtClean="0"/>
              <a:t/>
            </a:r>
            <a:br>
              <a:rPr lang="en-GB" altLang="en-US" b="1" smtClean="0"/>
            </a:br>
            <a:r>
              <a:rPr lang="en-GB" altLang="en-US" b="1" smtClean="0"/>
              <a:t>Activity</a:t>
            </a:r>
            <a:br>
              <a:rPr lang="en-GB" altLang="en-US" b="1" smtClean="0"/>
            </a:br>
            <a:r>
              <a:rPr lang="en-GB" altLang="en-US" sz="2200" b="1" smtClean="0"/>
              <a:t>PT: The Underlying Theory: Haring &amp; Eaton, 1978</a:t>
            </a:r>
            <a:endParaRPr lang="en-US" altLang="en-US" sz="2200" b="1" smtClean="0"/>
          </a:p>
        </p:txBody>
      </p:sp>
      <p:sp>
        <p:nvSpPr>
          <p:cNvPr id="9219"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a:spcBef>
                <a:spcPct val="0"/>
              </a:spcBef>
              <a:buClrTx/>
              <a:buSzTx/>
              <a:buFontTx/>
              <a:buNone/>
            </a:pPr>
            <a:fld id="{367455C0-4DA7-4459-A15B-9DA98B5D4FB5}" type="slidenum">
              <a:rPr lang="en-US" altLang="en-US" sz="1200" smtClean="0">
                <a:ea typeface="Century Gothic" pitchFamily="34" charset="0"/>
                <a:cs typeface="Century Gothic" pitchFamily="34" charset="0"/>
              </a:rPr>
              <a:pPr>
                <a:spcBef>
                  <a:spcPct val="0"/>
                </a:spcBef>
                <a:buClrTx/>
                <a:buSzTx/>
                <a:buFontTx/>
                <a:buNone/>
              </a:pPr>
              <a:t>8</a:t>
            </a:fld>
            <a:endParaRPr lang="en-US" altLang="en-US" sz="1200" smtClean="0">
              <a:ea typeface="Century Gothic" pitchFamily="34" charset="0"/>
              <a:cs typeface="Century Gothic" pitchFamily="34" charset="0"/>
            </a:endParaRPr>
          </a:p>
        </p:txBody>
      </p:sp>
      <p:pic>
        <p:nvPicPr>
          <p:cNvPr id="9220" name="Picture 5"/>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1370013" y="2205038"/>
            <a:ext cx="4857750" cy="3633787"/>
          </a:xfrm>
          <a:noFill/>
          <a:extLst>
            <a:ext uri="{909E8E84-426E-40DD-AFC4-6F175D3DCCD1}">
              <a14:hiddenFill xmlns:a14="http://schemas.microsoft.com/office/drawing/2010/main">
                <a:solidFill>
                  <a:srgbClr val="FFEF66"/>
                </a:solidFill>
              </a14:hiddenFill>
            </a:ext>
            <a:ext uri="{91240B29-F687-4F45-9708-019B960494DF}">
              <a14:hiddenLine xmlns:a14="http://schemas.microsoft.com/office/drawing/2010/main" w="12700">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a:xfrm>
            <a:off x="1157288" y="0"/>
            <a:ext cx="6870700" cy="1501775"/>
          </a:xfrm>
        </p:spPr>
        <p:txBody>
          <a:bodyPr rIns="31750" anchor="b"/>
          <a:lstStyle/>
          <a:p>
            <a:pPr indent="0" eaLnBrk="1" hangingPunct="1"/>
            <a:r>
              <a:rPr lang="en-US" altLang="en-US" u="sng" smtClean="0"/>
              <a:t>How do you do PT?</a:t>
            </a:r>
          </a:p>
        </p:txBody>
      </p:sp>
      <p:sp>
        <p:nvSpPr>
          <p:cNvPr id="11267" name="Rectangle 2"/>
          <p:cNvSpPr>
            <a:spLocks noGrp="1" noChangeArrowheads="1"/>
          </p:cNvSpPr>
          <p:nvPr>
            <p:ph type="body" idx="1"/>
          </p:nvPr>
        </p:nvSpPr>
        <p:spPr>
          <a:xfrm>
            <a:off x="1116013" y="1844675"/>
            <a:ext cx="7345362" cy="5013325"/>
          </a:xfrm>
        </p:spPr>
        <p:txBody>
          <a:bodyPr rIns="31750"/>
          <a:lstStyle/>
          <a:p>
            <a:pPr marL="423863" indent="-384175" eaLnBrk="1" hangingPunct="1">
              <a:lnSpc>
                <a:spcPct val="90000"/>
              </a:lnSpc>
            </a:pPr>
            <a:r>
              <a:rPr lang="en-US" altLang="en-US" sz="2400" dirty="0" smtClean="0"/>
              <a:t>PART 1: Teaching</a:t>
            </a:r>
          </a:p>
          <a:p>
            <a:pPr marL="782638" lvl="1" eaLnBrk="1" hangingPunct="1">
              <a:lnSpc>
                <a:spcPct val="90000"/>
              </a:lnSpc>
            </a:pPr>
            <a:r>
              <a:rPr lang="en-US" altLang="en-US" sz="1800" dirty="0" smtClean="0"/>
              <a:t>Teach the skill</a:t>
            </a:r>
          </a:p>
          <a:p>
            <a:pPr marL="782638" lvl="1" eaLnBrk="1" hangingPunct="1">
              <a:lnSpc>
                <a:spcPct val="90000"/>
              </a:lnSpc>
            </a:pPr>
            <a:endParaRPr lang="en-US" altLang="en-US" sz="1800" dirty="0" smtClean="0"/>
          </a:p>
          <a:p>
            <a:pPr marL="423863" indent="-384175" eaLnBrk="1" hangingPunct="1">
              <a:lnSpc>
                <a:spcPct val="90000"/>
              </a:lnSpc>
            </a:pPr>
            <a:r>
              <a:rPr lang="en-US" altLang="en-US" sz="2400" dirty="0" smtClean="0"/>
              <a:t>PART 2: Probing</a:t>
            </a:r>
          </a:p>
          <a:p>
            <a:pPr marL="782638" lvl="1" eaLnBrk="1" hangingPunct="1">
              <a:lnSpc>
                <a:spcPct val="90000"/>
              </a:lnSpc>
            </a:pPr>
            <a:r>
              <a:rPr lang="en-US" altLang="en-US" sz="1800" dirty="0" smtClean="0"/>
              <a:t>Test the skill</a:t>
            </a:r>
          </a:p>
          <a:p>
            <a:pPr marL="782638" lvl="1" eaLnBrk="1" hangingPunct="1">
              <a:lnSpc>
                <a:spcPct val="90000"/>
              </a:lnSpc>
            </a:pPr>
            <a:endParaRPr lang="en-US" altLang="en-US" sz="1800" dirty="0" smtClean="0"/>
          </a:p>
          <a:p>
            <a:pPr marL="423863" indent="-384175" eaLnBrk="1" hangingPunct="1">
              <a:lnSpc>
                <a:spcPct val="90000"/>
              </a:lnSpc>
            </a:pPr>
            <a:r>
              <a:rPr lang="en-US" altLang="en-US" sz="2400" dirty="0" smtClean="0"/>
              <a:t>PART 3: Charting</a:t>
            </a:r>
          </a:p>
          <a:p>
            <a:pPr marL="782638" lvl="1" eaLnBrk="1" hangingPunct="1">
              <a:lnSpc>
                <a:spcPct val="90000"/>
              </a:lnSpc>
            </a:pPr>
            <a:r>
              <a:rPr lang="en-US" altLang="en-US" sz="1800" dirty="0" smtClean="0"/>
              <a:t>Chart the results and discuss with child</a:t>
            </a:r>
          </a:p>
          <a:p>
            <a:pPr marL="782638" lvl="1" eaLnBrk="1" hangingPunct="1">
              <a:lnSpc>
                <a:spcPct val="90000"/>
              </a:lnSpc>
            </a:pPr>
            <a:endParaRPr lang="en-US" altLang="en-US" sz="1800" dirty="0" smtClean="0"/>
          </a:p>
          <a:p>
            <a:pPr marL="423863" indent="-384175" eaLnBrk="1" hangingPunct="1">
              <a:lnSpc>
                <a:spcPct val="90000"/>
              </a:lnSpc>
            </a:pPr>
            <a:r>
              <a:rPr lang="en-US" altLang="en-US" sz="2400" dirty="0" smtClean="0"/>
              <a:t>PART 4: Monitoring</a:t>
            </a:r>
          </a:p>
          <a:p>
            <a:pPr marL="782638" lvl="1" eaLnBrk="1" hangingPunct="1">
              <a:lnSpc>
                <a:spcPct val="90000"/>
              </a:lnSpc>
            </a:pPr>
            <a:r>
              <a:rPr lang="en-US" altLang="en-US" sz="1800" dirty="0" smtClean="0"/>
              <a:t>Review and adapt as needed</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a:xfrm>
            <a:off x="1187450" y="0"/>
            <a:ext cx="6870700" cy="1430338"/>
          </a:xfrm>
        </p:spPr>
        <p:txBody>
          <a:bodyPr rIns="31750" anchor="b"/>
          <a:lstStyle/>
          <a:p>
            <a:pPr indent="0" eaLnBrk="1" hangingPunct="1"/>
            <a:r>
              <a:rPr lang="en-US" altLang="en-US" u="sng" smtClean="0"/>
              <a:t>A daily teaching model</a:t>
            </a:r>
          </a:p>
        </p:txBody>
      </p:sp>
      <p:graphicFrame>
        <p:nvGraphicFramePr>
          <p:cNvPr id="13330" name="Group 18"/>
          <p:cNvGraphicFramePr>
            <a:graphicFrameLocks noGrp="1"/>
          </p:cNvGraphicFramePr>
          <p:nvPr/>
        </p:nvGraphicFramePr>
        <p:xfrm>
          <a:off x="1187450" y="1916113"/>
          <a:ext cx="5400675" cy="3668712"/>
        </p:xfrm>
        <a:graphic>
          <a:graphicData uri="http://schemas.openxmlformats.org/drawingml/2006/table">
            <a:tbl>
              <a:tblPr/>
              <a:tblGrid>
                <a:gridCol w="1798638"/>
                <a:gridCol w="1831975"/>
                <a:gridCol w="1770062"/>
              </a:tblGrid>
              <a:tr h="549275">
                <a:tc>
                  <a:txBody>
                    <a:bodyPr/>
                    <a:lstStyle>
                      <a:lvl1pPr marL="39688">
                        <a:spcBef>
                          <a:spcPts val="700"/>
                        </a:spcBef>
                        <a:buClr>
                          <a:srgbClr val="000000"/>
                        </a:buClr>
                        <a:buSzPct val="100000"/>
                        <a:buFont typeface="Century Gothic" pitchFamily="34" charset="0"/>
                        <a:defRPr sz="24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defRPr sz="20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defRPr>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defRPr sz="1600">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9pPr>
                    </a:lstStyle>
                    <a:p>
                      <a:pPr marL="39688" marR="0" lvl="0" indent="0" algn="ctr"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2400" b="0" i="0" u="none" strike="noStrike" cap="none" normalizeH="0" baseline="0" dirty="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Teaching</a:t>
                      </a:r>
                    </a:p>
                  </a:txBody>
                  <a:tcPr marL="50800" marR="50800" marT="50804" marB="5080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9688">
                        <a:spcBef>
                          <a:spcPts val="700"/>
                        </a:spcBef>
                        <a:buClr>
                          <a:srgbClr val="000000"/>
                        </a:buClr>
                        <a:buSzPct val="100000"/>
                        <a:buFont typeface="Century Gothic" pitchFamily="34" charset="0"/>
                        <a:defRPr sz="24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defRPr sz="20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defRPr>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defRPr sz="1600">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9pPr>
                    </a:lstStyle>
                    <a:p>
                      <a:pPr marL="39688" marR="0" lvl="0" indent="0" algn="ctr"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2400" b="0" i="0"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Probing</a:t>
                      </a:r>
                    </a:p>
                  </a:txBody>
                  <a:tcPr marL="50800" marR="50800" marT="50804" marB="508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9688">
                        <a:spcBef>
                          <a:spcPts val="700"/>
                        </a:spcBef>
                        <a:buClr>
                          <a:srgbClr val="000000"/>
                        </a:buClr>
                        <a:buSzPct val="100000"/>
                        <a:buFont typeface="Century Gothic" pitchFamily="34" charset="0"/>
                        <a:defRPr sz="24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defRPr sz="20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defRPr>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defRPr sz="1600">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9pPr>
                    </a:lstStyle>
                    <a:p>
                      <a:pPr marL="39688" marR="0" lvl="0" indent="0" algn="ctr"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2400" b="0" i="0"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Charting </a:t>
                      </a:r>
                    </a:p>
                  </a:txBody>
                  <a:tcPr marL="50800" marR="50800" marT="50804" marB="5080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19437">
                <a:tc>
                  <a:txBody>
                    <a:bodyPr/>
                    <a:lstStyle>
                      <a:lvl1pPr marL="39688">
                        <a:spcBef>
                          <a:spcPts val="700"/>
                        </a:spcBef>
                        <a:buClr>
                          <a:srgbClr val="000000"/>
                        </a:buClr>
                        <a:buSzPct val="100000"/>
                        <a:buFont typeface="Century Gothic" pitchFamily="34" charset="0"/>
                        <a:defRPr sz="24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defRPr sz="20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defRPr>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defRPr sz="1600">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9pPr>
                    </a:lstStyle>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1800" b="0" i="0" u="none" strike="noStrike" cap="none" normalizeH="0" baseline="0" dirty="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Short teaching sequence. </a:t>
                      </a: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0" i="0" u="none" strike="noStrike" cap="none" normalizeH="0" baseline="0" dirty="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1800" b="0" i="0" u="none" strike="noStrike" cap="none" normalizeH="0" baseline="0" dirty="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Focused on small steps of progress.</a:t>
                      </a: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0" i="0" u="none" strike="noStrike" cap="none" normalizeH="0" baseline="0" dirty="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1" i="1" u="none" strike="noStrike" cap="none" normalizeH="0" baseline="0" dirty="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1" i="1" u="none" strike="noStrike" cap="none" normalizeH="0" baseline="0" dirty="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1" i="1" u="none" strike="noStrike" cap="none" normalizeH="0" baseline="0" dirty="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ctr"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1800" b="1" i="1" u="none" strike="noStrike" cap="none" normalizeH="0" baseline="0" dirty="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5/6 minutes</a:t>
                      </a:r>
                    </a:p>
                  </a:txBody>
                  <a:tcPr marL="50800" marR="50800" marT="50804" marB="5080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marL="39688">
                        <a:spcBef>
                          <a:spcPts val="700"/>
                        </a:spcBef>
                        <a:buClr>
                          <a:srgbClr val="000000"/>
                        </a:buClr>
                        <a:buSzPct val="100000"/>
                        <a:buFont typeface="Century Gothic" pitchFamily="34" charset="0"/>
                        <a:defRPr sz="24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defRPr sz="20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defRPr>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defRPr sz="1600">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9pPr>
                    </a:lstStyle>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1800" b="0" i="0"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Usually a one minute test of learning.</a:t>
                      </a: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0" i="0"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1" i="1"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1" i="1"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1" i="1"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1" i="1"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1" i="1"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1" i="1"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ctr"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1800" b="1" i="1"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Up to 2 minutes</a:t>
                      </a:r>
                    </a:p>
                  </a:txBody>
                  <a:tcPr marL="50800" marR="50800" marT="50804" marB="508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marL="39688">
                        <a:spcBef>
                          <a:spcPts val="700"/>
                        </a:spcBef>
                        <a:buClr>
                          <a:srgbClr val="000000"/>
                        </a:buClr>
                        <a:buSzPct val="100000"/>
                        <a:buFont typeface="Century Gothic" pitchFamily="34" charset="0"/>
                        <a:defRPr sz="24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defRPr sz="20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defRPr>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defRPr sz="1600">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defRPr sz="1400">
                          <a:solidFill>
                            <a:schemeClr val="tx1"/>
                          </a:solidFill>
                          <a:latin typeface="Century Gothic" pitchFamily="34" charset="0"/>
                          <a:ea typeface="ヒラギノ明朝 ProN W3" charset="0"/>
                          <a:cs typeface="ヒラギノ明朝 ProN W3" charset="0"/>
                          <a:sym typeface="Century Gothic" pitchFamily="34" charset="0"/>
                        </a:defRPr>
                      </a:lvl9pPr>
                    </a:lstStyle>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1800" b="0" i="0"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With the child charting the results of the test.</a:t>
                      </a: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0" i="0"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1800" b="0" i="0"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Talking about the progress and objectives. </a:t>
                      </a:r>
                    </a:p>
                    <a:p>
                      <a:pPr marL="39688" marR="0" lvl="0" indent="0" algn="l"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endParaRPr kumimoji="0" lang="en-US" altLang="en-US" sz="1800" b="0" i="0"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endParaRPr>
                    </a:p>
                    <a:p>
                      <a:pPr marL="39688" marR="0" lvl="0" indent="0" algn="ctr" defTabSz="914400" rtl="0" eaLnBrk="1" fontAlgn="base" latinLnBrk="0" hangingPunct="1">
                        <a:lnSpc>
                          <a:spcPct val="100000"/>
                        </a:lnSpc>
                        <a:spcBef>
                          <a:spcPct val="0"/>
                        </a:spcBef>
                        <a:spcAft>
                          <a:spcPct val="0"/>
                        </a:spcAft>
                        <a:buClr>
                          <a:srgbClr val="000000"/>
                        </a:buClr>
                        <a:buSzPct val="100000"/>
                        <a:buFont typeface="Century Gothic" pitchFamily="34" charset="0"/>
                        <a:buNone/>
                        <a:tabLst/>
                      </a:pPr>
                      <a:r>
                        <a:rPr kumimoji="0" lang="en-US" altLang="en-US" sz="1800" b="1" i="1" u="none" strike="noStrike" cap="none" normalizeH="0" baseline="0" smtClean="0">
                          <a:ln>
                            <a:noFill/>
                          </a:ln>
                          <a:solidFill>
                            <a:schemeClr val="tx1"/>
                          </a:solidFill>
                          <a:effectLst/>
                          <a:latin typeface="Century Gothic" pitchFamily="34" charset="0"/>
                          <a:ea typeface="ヒラギノ明朝 ProN W3" charset="0"/>
                          <a:cs typeface="ヒラギノ明朝 ProN W3" charset="0"/>
                          <a:sym typeface="Century Gothic" pitchFamily="34" charset="0"/>
                        </a:rPr>
                        <a:t>2/3 minutes</a:t>
                      </a:r>
                    </a:p>
                  </a:txBody>
                  <a:tcPr marL="50800" marR="50800" marT="50804" marB="5080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87450" y="1268413"/>
            <a:ext cx="7086600" cy="1554162"/>
          </a:xfrm>
        </p:spPr>
        <p:txBody>
          <a:bodyPr/>
          <a:lstStyle/>
          <a:p>
            <a:r>
              <a:rPr lang="en-GB" altLang="en-US" u="sng" smtClean="0"/>
              <a:t>Before you start Precision Teaching</a:t>
            </a:r>
            <a:r>
              <a:rPr lang="en-GB" altLang="en-US" smtClean="0"/>
              <a:t> </a:t>
            </a:r>
          </a:p>
        </p:txBody>
      </p:sp>
      <p:sp>
        <p:nvSpPr>
          <p:cNvPr id="13315" name="Rectangle 3"/>
          <p:cNvSpPr>
            <a:spLocks noGrp="1" noChangeArrowheads="1"/>
          </p:cNvSpPr>
          <p:nvPr>
            <p:ph type="body" idx="1"/>
          </p:nvPr>
        </p:nvSpPr>
        <p:spPr>
          <a:xfrm>
            <a:off x="1279525" y="3213100"/>
            <a:ext cx="5257800" cy="2520950"/>
          </a:xfrm>
        </p:spPr>
        <p:txBody>
          <a:bodyPr/>
          <a:lstStyle/>
          <a:p>
            <a:r>
              <a:rPr lang="en-GB" altLang="en-US" smtClean="0"/>
              <a:t>Consistency is key!</a:t>
            </a:r>
          </a:p>
          <a:p>
            <a:pPr lvl="1"/>
            <a:r>
              <a:rPr lang="en-GB" altLang="en-US" smtClean="0"/>
              <a:t>When?</a:t>
            </a:r>
          </a:p>
          <a:p>
            <a:pPr lvl="1"/>
            <a:r>
              <a:rPr lang="en-GB" altLang="en-US" smtClean="0"/>
              <a:t>Where?</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1295400" y="476250"/>
            <a:ext cx="7848600" cy="1563688"/>
          </a:xfrm>
        </p:spPr>
        <p:txBody>
          <a:bodyPr rIns="31750" anchor="b"/>
          <a:lstStyle/>
          <a:p>
            <a:pPr indent="0" eaLnBrk="1" hangingPunct="1"/>
            <a:r>
              <a:rPr lang="en-US" altLang="en-US" u="sng" smtClean="0"/>
              <a:t>‘Task Analysis’ – where are they now? </a:t>
            </a:r>
          </a:p>
        </p:txBody>
      </p:sp>
      <p:sp>
        <p:nvSpPr>
          <p:cNvPr id="14339" name="Rectangle 2"/>
          <p:cNvSpPr>
            <a:spLocks noGrp="1" noChangeArrowheads="1"/>
          </p:cNvSpPr>
          <p:nvPr>
            <p:ph type="body" idx="1"/>
          </p:nvPr>
        </p:nvSpPr>
        <p:spPr>
          <a:xfrm>
            <a:off x="1344613" y="1663700"/>
            <a:ext cx="5327650" cy="5194300"/>
          </a:xfrm>
        </p:spPr>
        <p:txBody>
          <a:bodyPr rIns="31750"/>
          <a:lstStyle/>
          <a:p>
            <a:pPr marL="690563" indent="-650875" eaLnBrk="1" hangingPunct="1">
              <a:lnSpc>
                <a:spcPct val="80000"/>
              </a:lnSpc>
              <a:buFont typeface="Century Gothic" pitchFamily="34" charset="0"/>
              <a:buNone/>
            </a:pPr>
            <a:endParaRPr lang="en-US" altLang="en-US" sz="2400" smtClean="0"/>
          </a:p>
          <a:p>
            <a:pPr marL="690563" indent="-650875" eaLnBrk="1" hangingPunct="1">
              <a:lnSpc>
                <a:spcPct val="80000"/>
              </a:lnSpc>
              <a:buFont typeface="Century Gothic" pitchFamily="34" charset="0"/>
              <a:buNone/>
            </a:pPr>
            <a:endParaRPr lang="en-US" altLang="en-US" sz="2400" smtClean="0"/>
          </a:p>
          <a:p>
            <a:pPr marL="690563" indent="-650875" eaLnBrk="1" hangingPunct="1">
              <a:lnSpc>
                <a:spcPct val="80000"/>
              </a:lnSpc>
              <a:buFont typeface="Century Gothic" pitchFamily="34" charset="0"/>
              <a:buNone/>
            </a:pPr>
            <a:endParaRPr lang="en-US" altLang="en-US" sz="2400" smtClean="0"/>
          </a:p>
          <a:p>
            <a:pPr marL="690563" indent="-650875" eaLnBrk="1" hangingPunct="1">
              <a:lnSpc>
                <a:spcPct val="80000"/>
              </a:lnSpc>
              <a:buSzPct val="99000"/>
              <a:buFont typeface="Century Gothic" pitchFamily="34" charset="0"/>
              <a:buAutoNum type="arabicPeriod"/>
            </a:pPr>
            <a:r>
              <a:rPr lang="en-US" altLang="en-US" sz="2400" smtClean="0"/>
              <a:t>Select a problem area, e.g. sight words, letter sounds</a:t>
            </a:r>
          </a:p>
          <a:p>
            <a:pPr marL="690563" indent="-650875" eaLnBrk="1" hangingPunct="1">
              <a:lnSpc>
                <a:spcPct val="80000"/>
              </a:lnSpc>
              <a:buSzPct val="99000"/>
              <a:buFont typeface="Century Gothic" pitchFamily="34" charset="0"/>
              <a:buAutoNum type="arabicPeriod"/>
            </a:pPr>
            <a:endParaRPr lang="en-US" altLang="en-US" sz="2400" smtClean="0"/>
          </a:p>
          <a:p>
            <a:pPr marL="690563" indent="-650875" eaLnBrk="1" hangingPunct="1">
              <a:lnSpc>
                <a:spcPct val="80000"/>
              </a:lnSpc>
              <a:buSzPct val="99000"/>
              <a:buFont typeface="Century Gothic" pitchFamily="34" charset="0"/>
              <a:buAutoNum type="arabicPeriod"/>
            </a:pPr>
            <a:endParaRPr lang="en-US" altLang="en-US" sz="2400" smtClean="0"/>
          </a:p>
          <a:p>
            <a:pPr marL="690563" indent="-650875" eaLnBrk="1" hangingPunct="1">
              <a:lnSpc>
                <a:spcPct val="80000"/>
              </a:lnSpc>
              <a:buSzPct val="99000"/>
              <a:buFont typeface="Century Gothic" pitchFamily="34" charset="0"/>
              <a:buAutoNum type="arabicPeriod"/>
            </a:pPr>
            <a:r>
              <a:rPr lang="en-US" altLang="en-US" sz="2400" smtClean="0"/>
              <a:t>Find out what the child already knows, probably by doing a short test</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altLang="en-US" smtClean="0"/>
              <a:t>Task Analysis cont’ </a:t>
            </a:r>
          </a:p>
        </p:txBody>
      </p:sp>
      <p:sp>
        <p:nvSpPr>
          <p:cNvPr id="15363" name="Rectangle 3"/>
          <p:cNvSpPr>
            <a:spLocks noGrp="1" noChangeArrowheads="1"/>
          </p:cNvSpPr>
          <p:nvPr>
            <p:ph type="body" idx="1"/>
          </p:nvPr>
        </p:nvSpPr>
        <p:spPr>
          <a:xfrm>
            <a:off x="900113" y="1600200"/>
            <a:ext cx="5637212" cy="4708525"/>
          </a:xfrm>
        </p:spPr>
        <p:txBody>
          <a:bodyPr/>
          <a:lstStyle/>
          <a:p>
            <a:pPr marL="573088" indent="-533400" eaLnBrk="1" hangingPunct="1">
              <a:lnSpc>
                <a:spcPct val="90000"/>
              </a:lnSpc>
              <a:buSzPct val="99000"/>
              <a:buFont typeface="Century Gothic" pitchFamily="34" charset="0"/>
              <a:buNone/>
            </a:pPr>
            <a:endParaRPr lang="en-US" altLang="en-US" sz="2400" smtClean="0"/>
          </a:p>
          <a:p>
            <a:pPr marL="573088" indent="-533400" eaLnBrk="1" hangingPunct="1">
              <a:lnSpc>
                <a:spcPct val="90000"/>
              </a:lnSpc>
              <a:buSzPct val="99000"/>
              <a:buFont typeface="Century Gothic" pitchFamily="34" charset="0"/>
              <a:buNone/>
            </a:pPr>
            <a:endParaRPr lang="en-US" altLang="en-US" sz="2400" smtClean="0"/>
          </a:p>
          <a:p>
            <a:pPr marL="573088" indent="-533400" eaLnBrk="1" hangingPunct="1">
              <a:lnSpc>
                <a:spcPct val="90000"/>
              </a:lnSpc>
              <a:buSzPct val="99000"/>
              <a:buFont typeface="Century Gothic" pitchFamily="34" charset="0"/>
              <a:buNone/>
            </a:pPr>
            <a:endParaRPr lang="en-US" altLang="en-US" sz="2400" smtClean="0"/>
          </a:p>
          <a:p>
            <a:pPr marL="573088" indent="-533400" eaLnBrk="1" hangingPunct="1">
              <a:lnSpc>
                <a:spcPct val="90000"/>
              </a:lnSpc>
              <a:buSzPct val="99000"/>
              <a:buFont typeface="Century Gothic" pitchFamily="34" charset="0"/>
              <a:buNone/>
            </a:pPr>
            <a:r>
              <a:rPr lang="en-US" altLang="en-US" sz="2400" smtClean="0"/>
              <a:t>3. Choose the next steps for the child, e.g. which are the next sight words he/she needs to know (usually between 3 and 5 new letters, words, numbers)</a:t>
            </a:r>
          </a:p>
          <a:p>
            <a:pPr marL="573088" indent="-533400" eaLnBrk="1" hangingPunct="1">
              <a:lnSpc>
                <a:spcPct val="90000"/>
              </a:lnSpc>
              <a:buSzPct val="99000"/>
            </a:pPr>
            <a:endParaRPr lang="en-US" altLang="en-US" sz="2400" smtClean="0"/>
          </a:p>
          <a:p>
            <a:pPr marL="573088" indent="-533400">
              <a:lnSpc>
                <a:spcPct val="90000"/>
              </a:lnSpc>
              <a:buFont typeface="Century Gothic" pitchFamily="34" charset="0"/>
              <a:buNone/>
            </a:pPr>
            <a:endParaRPr lang="en-GB" altLang="en-US" sz="2400" smtClean="0"/>
          </a:p>
          <a:p>
            <a:pPr marL="573088" indent="-533400">
              <a:lnSpc>
                <a:spcPct val="90000"/>
              </a:lnSpc>
              <a:buFont typeface="Century Gothic" pitchFamily="34" charset="0"/>
              <a:buNone/>
            </a:pPr>
            <a:r>
              <a:rPr lang="en-GB" altLang="en-US" sz="2400" smtClean="0"/>
              <a:t>				                  Activity </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GB" altLang="en-US" u="sng" smtClean="0"/>
              <a:t>How do you do PT?</a:t>
            </a:r>
            <a:r>
              <a:rPr lang="en-GB" altLang="en-US" smtClean="0"/>
              <a:t>  </a:t>
            </a:r>
          </a:p>
        </p:txBody>
      </p:sp>
      <p:sp>
        <p:nvSpPr>
          <p:cNvPr id="16387" name="Rectangle 3"/>
          <p:cNvSpPr>
            <a:spLocks noGrp="1" noChangeArrowheads="1"/>
          </p:cNvSpPr>
          <p:nvPr>
            <p:ph type="body" idx="1"/>
          </p:nvPr>
        </p:nvSpPr>
        <p:spPr/>
        <p:txBody>
          <a:bodyPr/>
          <a:lstStyle/>
          <a:p>
            <a:pPr eaLnBrk="1" hangingPunct="1">
              <a:buFont typeface="Century Gothic" pitchFamily="34" charset="0"/>
              <a:buNone/>
            </a:pPr>
            <a:endParaRPr lang="en-US" altLang="en-US" sz="3200" dirty="0" smtClean="0"/>
          </a:p>
          <a:p>
            <a:pPr eaLnBrk="1" hangingPunct="1">
              <a:buFont typeface="Century Gothic" pitchFamily="34" charset="0"/>
              <a:buNone/>
            </a:pPr>
            <a:r>
              <a:rPr lang="en-US" altLang="en-US" sz="3200" dirty="0" smtClean="0"/>
              <a:t>Step 1: Teaching</a:t>
            </a:r>
          </a:p>
          <a:p>
            <a:pPr eaLnBrk="1" hangingPunct="1">
              <a:buFont typeface="Century Gothic" pitchFamily="34" charset="0"/>
              <a:buNone/>
            </a:pPr>
            <a:endParaRPr lang="en-US" altLang="en-US" sz="3200" dirty="0" smtClean="0"/>
          </a:p>
          <a:p>
            <a:pPr eaLnBrk="1" hangingPunct="1">
              <a:buFont typeface="Century Gothic" pitchFamily="34" charset="0"/>
              <a:buNone/>
            </a:pPr>
            <a:r>
              <a:rPr lang="en-US" altLang="en-US" sz="3200" dirty="0" smtClean="0"/>
              <a:t>Each PT session will begin with 5 to 6 minutes of teaching</a:t>
            </a:r>
          </a:p>
          <a:p>
            <a:pPr eaLnBrk="1" hangingPunct="1">
              <a:buFont typeface="Century Gothic" pitchFamily="34" charset="0"/>
              <a:buNone/>
            </a:pPr>
            <a:endParaRPr lang="en-US" altLang="en-US" sz="3200" dirty="0" smtClean="0"/>
          </a:p>
          <a:p>
            <a:pPr algn="r" eaLnBrk="1" hangingPunct="1">
              <a:buFont typeface="Century Gothic" pitchFamily="34" charset="0"/>
              <a:buNone/>
            </a:pPr>
            <a:r>
              <a:rPr lang="en-GB" altLang="en-US" dirty="0" smtClean="0"/>
              <a:t>Activity</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Grp="1" noChangeArrowheads="1"/>
          </p:cNvSpPr>
          <p:nvPr>
            <p:ph type="body" idx="4294967295"/>
          </p:nvPr>
        </p:nvSpPr>
        <p:spPr>
          <a:xfrm>
            <a:off x="1547813" y="1828800"/>
            <a:ext cx="5256212" cy="5029200"/>
          </a:xfrm>
        </p:spPr>
        <p:txBody>
          <a:bodyPr rIns="31750"/>
          <a:lstStyle/>
          <a:p>
            <a:pPr marL="423863" indent="-384175" eaLnBrk="1" hangingPunct="1">
              <a:lnSpc>
                <a:spcPct val="90000"/>
              </a:lnSpc>
            </a:pPr>
            <a:endParaRPr lang="en-US" altLang="en-US" sz="2000" smtClean="0"/>
          </a:p>
          <a:p>
            <a:pPr marL="423863" indent="-384175" eaLnBrk="1" hangingPunct="1">
              <a:lnSpc>
                <a:spcPct val="90000"/>
              </a:lnSpc>
              <a:buFont typeface="Century Gothic" pitchFamily="34" charset="0"/>
              <a:buNone/>
            </a:pPr>
            <a:r>
              <a:rPr lang="en-US" altLang="en-US" sz="3200" smtClean="0"/>
              <a:t>Step 2: Probing</a:t>
            </a:r>
          </a:p>
          <a:p>
            <a:pPr marL="423863" indent="-384175" eaLnBrk="1" hangingPunct="1">
              <a:lnSpc>
                <a:spcPct val="90000"/>
              </a:lnSpc>
              <a:buFont typeface="Century Gothic" pitchFamily="34" charset="0"/>
              <a:buNone/>
            </a:pPr>
            <a:endParaRPr lang="en-US" altLang="en-US" sz="3200" smtClean="0"/>
          </a:p>
          <a:p>
            <a:pPr marL="423863" indent="-384175" eaLnBrk="1" hangingPunct="1">
              <a:lnSpc>
                <a:spcPct val="90000"/>
              </a:lnSpc>
              <a:buFont typeface="Century Gothic" pitchFamily="34" charset="0"/>
              <a:buNone/>
            </a:pPr>
            <a:r>
              <a:rPr lang="en-US" altLang="en-US" smtClean="0"/>
              <a:t>Each teaching session will be followed by a 1 minute test of learning called a Probe</a:t>
            </a:r>
          </a:p>
        </p:txBody>
      </p:sp>
      <p:sp>
        <p:nvSpPr>
          <p:cNvPr id="17411" name="Rectangle 2"/>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How do you do PT?</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p:cNvSpPr>
          <p:nvPr/>
        </p:nvSpPr>
        <p:spPr bwMode="auto">
          <a:xfrm>
            <a:off x="1258888" y="584200"/>
            <a:ext cx="68961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1275" bIns="0" anchor="b"/>
          <a:lstStyle>
            <a:lvl1pPr marL="41275">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Basic ‘Probe’ sheet</a:t>
            </a:r>
          </a:p>
        </p:txBody>
      </p:sp>
      <p:grpSp>
        <p:nvGrpSpPr>
          <p:cNvPr id="18435" name="Group 2"/>
          <p:cNvGrpSpPr>
            <a:grpSpLocks/>
          </p:cNvGrpSpPr>
          <p:nvPr/>
        </p:nvGrpSpPr>
        <p:grpSpPr bwMode="auto">
          <a:xfrm>
            <a:off x="685800" y="1219200"/>
            <a:ext cx="3200400" cy="4572000"/>
            <a:chOff x="0" y="0"/>
            <a:chExt cx="2016" cy="2880"/>
          </a:xfrm>
        </p:grpSpPr>
        <p:sp>
          <p:nvSpPr>
            <p:cNvPr id="18437" name="Rectangle 3"/>
            <p:cNvSpPr>
              <a:spLocks/>
            </p:cNvSpPr>
            <p:nvPr/>
          </p:nvSpPr>
          <p:spPr bwMode="auto">
            <a:xfrm>
              <a:off x="0" y="0"/>
              <a:ext cx="2016" cy="288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grpSp>
          <p:nvGrpSpPr>
            <p:cNvPr id="18438" name="Group 4"/>
            <p:cNvGrpSpPr>
              <a:grpSpLocks/>
            </p:cNvGrpSpPr>
            <p:nvPr/>
          </p:nvGrpSpPr>
          <p:grpSpPr bwMode="auto">
            <a:xfrm>
              <a:off x="240" y="360"/>
              <a:ext cx="1530" cy="2314"/>
              <a:chOff x="0" y="0"/>
              <a:chExt cx="1530" cy="2314"/>
            </a:xfrm>
          </p:grpSpPr>
          <p:sp>
            <p:nvSpPr>
              <p:cNvPr id="18443" name="Rectangle 5"/>
              <p:cNvSpPr>
                <a:spLocks/>
              </p:cNvSpPr>
              <p:nvPr/>
            </p:nvSpPr>
            <p:spPr bwMode="auto">
              <a:xfrm>
                <a:off x="0" y="0"/>
                <a:ext cx="1530" cy="2314"/>
              </a:xfrm>
              <a:prstGeom prst="rect">
                <a:avLst/>
              </a:prstGeom>
              <a:solidFill>
                <a:srgbClr val="F8F8F8"/>
              </a:solidFill>
              <a:ln w="381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18444" name="Line 6"/>
              <p:cNvSpPr>
                <a:spLocks noChangeShapeType="1"/>
              </p:cNvSpPr>
              <p:nvPr/>
            </p:nvSpPr>
            <p:spPr bwMode="auto">
              <a:xfrm>
                <a:off x="0" y="1132"/>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5" name="Line 7"/>
              <p:cNvSpPr>
                <a:spLocks noChangeShapeType="1"/>
              </p:cNvSpPr>
              <p:nvPr/>
            </p:nvSpPr>
            <p:spPr bwMode="auto">
              <a:xfrm>
                <a:off x="0" y="1427"/>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6" name="Line 8"/>
              <p:cNvSpPr>
                <a:spLocks noChangeShapeType="1"/>
              </p:cNvSpPr>
              <p:nvPr/>
            </p:nvSpPr>
            <p:spPr bwMode="auto">
              <a:xfrm>
                <a:off x="0" y="837"/>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7" name="Line 9"/>
              <p:cNvSpPr>
                <a:spLocks noChangeShapeType="1"/>
              </p:cNvSpPr>
              <p:nvPr/>
            </p:nvSpPr>
            <p:spPr bwMode="auto">
              <a:xfrm>
                <a:off x="0" y="541"/>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8" name="Line 10"/>
              <p:cNvSpPr>
                <a:spLocks noChangeShapeType="1"/>
              </p:cNvSpPr>
              <p:nvPr/>
            </p:nvSpPr>
            <p:spPr bwMode="auto">
              <a:xfrm>
                <a:off x="0" y="1723"/>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9" name="Line 11"/>
              <p:cNvSpPr>
                <a:spLocks noChangeShapeType="1"/>
              </p:cNvSpPr>
              <p:nvPr/>
            </p:nvSpPr>
            <p:spPr bwMode="auto">
              <a:xfrm>
                <a:off x="0" y="2018"/>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0" name="Line 12"/>
              <p:cNvSpPr>
                <a:spLocks noChangeShapeType="1"/>
              </p:cNvSpPr>
              <p:nvPr/>
            </p:nvSpPr>
            <p:spPr bwMode="auto">
              <a:xfrm>
                <a:off x="0" y="246"/>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1" name="Line 13"/>
              <p:cNvSpPr>
                <a:spLocks noChangeShapeType="1"/>
              </p:cNvSpPr>
              <p:nvPr/>
            </p:nvSpPr>
            <p:spPr bwMode="auto">
              <a:xfrm>
                <a:off x="278"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2" name="Line 14"/>
              <p:cNvSpPr>
                <a:spLocks noChangeShapeType="1"/>
              </p:cNvSpPr>
              <p:nvPr/>
            </p:nvSpPr>
            <p:spPr bwMode="auto">
              <a:xfrm>
                <a:off x="602"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3" name="Line 15"/>
              <p:cNvSpPr>
                <a:spLocks noChangeShapeType="1"/>
              </p:cNvSpPr>
              <p:nvPr/>
            </p:nvSpPr>
            <p:spPr bwMode="auto">
              <a:xfrm>
                <a:off x="927"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4" name="Line 16"/>
              <p:cNvSpPr>
                <a:spLocks noChangeShapeType="1"/>
              </p:cNvSpPr>
              <p:nvPr/>
            </p:nvSpPr>
            <p:spPr bwMode="auto">
              <a:xfrm>
                <a:off x="1205"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18439" name="Line 17"/>
            <p:cNvSpPr>
              <a:spLocks noChangeShapeType="1"/>
            </p:cNvSpPr>
            <p:nvPr/>
          </p:nvSpPr>
          <p:spPr bwMode="auto">
            <a:xfrm>
              <a:off x="240" y="308"/>
              <a:ext cx="15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nvGrpSpPr>
            <p:cNvPr id="18440" name="Group 18"/>
            <p:cNvGrpSpPr>
              <a:grpSpLocks/>
            </p:cNvGrpSpPr>
            <p:nvPr/>
          </p:nvGrpSpPr>
          <p:grpSpPr bwMode="auto">
            <a:xfrm>
              <a:off x="240" y="102"/>
              <a:ext cx="1488" cy="168"/>
              <a:chOff x="0" y="0"/>
              <a:chExt cx="1488" cy="168"/>
            </a:xfrm>
          </p:grpSpPr>
          <p:sp>
            <p:nvSpPr>
              <p:cNvPr id="18441" name="Rectangle 19"/>
              <p:cNvSpPr>
                <a:spLocks/>
              </p:cNvSpPr>
              <p:nvPr/>
            </p:nvSpPr>
            <p:spPr bwMode="auto">
              <a:xfrm>
                <a:off x="0" y="0"/>
                <a:ext cx="1488" cy="168"/>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18442" name="Rectangle 20"/>
              <p:cNvSpPr>
                <a:spLocks/>
              </p:cNvSpPr>
              <p:nvPr/>
            </p:nvSpPr>
            <p:spPr bwMode="auto">
              <a:xfrm>
                <a:off x="0" y="0"/>
                <a:ext cx="148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550"/>
                  </a:spcBef>
                  <a:buClrTx/>
                  <a:buSzTx/>
                  <a:buFontTx/>
                  <a:buNone/>
                </a:pPr>
                <a:r>
                  <a:rPr lang="en-US" altLang="en-US" sz="1000">
                    <a:latin typeface="Arial" charset="0"/>
                    <a:cs typeface="Arial" charset="0"/>
                    <a:sym typeface="Arial" charset="0"/>
                  </a:rPr>
                  <a:t>Name                                   aim   rate</a:t>
                </a:r>
              </a:p>
            </p:txBody>
          </p:sp>
        </p:grpSp>
      </p:grpSp>
      <p:sp>
        <p:nvSpPr>
          <p:cNvPr id="18436" name="Rectangle 21"/>
          <p:cNvSpPr>
            <a:spLocks/>
          </p:cNvSpPr>
          <p:nvPr/>
        </p:nvSpPr>
        <p:spPr bwMode="auto">
          <a:xfrm>
            <a:off x="3962400" y="1066800"/>
            <a:ext cx="4495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Font typeface="Arial" charset="0"/>
              <a:buChar char="•"/>
            </a:pPr>
            <a:endParaRPr lang="en-US" altLang="en-US" sz="2000">
              <a:cs typeface="Times" charset="0"/>
            </a:endParaRPr>
          </a:p>
          <a:p>
            <a:pPr eaLnBrk="1" hangingPunct="1">
              <a:spcBef>
                <a:spcPct val="0"/>
              </a:spcBef>
              <a:buClrTx/>
              <a:buSzTx/>
              <a:buFontTx/>
              <a:buNone/>
            </a:pPr>
            <a:r>
              <a:rPr lang="en-US" altLang="en-US" sz="2000"/>
              <a:t>The Probe sheet is the stimulus for a short timed test (a ‘Probe’) usually for 1 minute in duration</a:t>
            </a:r>
          </a:p>
          <a:p>
            <a:pPr eaLnBrk="1" hangingPunct="1">
              <a:spcBef>
                <a:spcPct val="0"/>
              </a:spcBef>
              <a:buClrTx/>
              <a:buSzTx/>
              <a:buFontTx/>
              <a:buNone/>
            </a:pPr>
            <a:endParaRPr lang="en-US" altLang="en-US" sz="2000"/>
          </a:p>
          <a:p>
            <a:pPr eaLnBrk="1" hangingPunct="1">
              <a:spcBef>
                <a:spcPct val="0"/>
              </a:spcBef>
              <a:buClrTx/>
              <a:buSzTx/>
              <a:buFontTx/>
              <a:buNone/>
            </a:pPr>
            <a:endParaRPr lang="en-US" altLang="en-US" sz="2000"/>
          </a:p>
          <a:p>
            <a:pPr eaLnBrk="1" hangingPunct="1">
              <a:spcBef>
                <a:spcPct val="0"/>
              </a:spcBef>
              <a:buClrTx/>
              <a:buSzTx/>
              <a:buFontTx/>
              <a:buNone/>
            </a:pPr>
            <a:r>
              <a:rPr lang="en-US" altLang="en-US" sz="2000"/>
              <a:t>A sheet with target </a:t>
            </a:r>
          </a:p>
          <a:p>
            <a:pPr eaLnBrk="1" hangingPunct="1">
              <a:spcBef>
                <a:spcPct val="0"/>
              </a:spcBef>
              <a:buClrTx/>
              <a:buSzTx/>
              <a:buFontTx/>
              <a:buNone/>
            </a:pPr>
            <a:r>
              <a:rPr lang="en-US" altLang="en-US" sz="2000"/>
              <a:t>words in randomised </a:t>
            </a:r>
          </a:p>
          <a:p>
            <a:pPr eaLnBrk="1" hangingPunct="1">
              <a:spcBef>
                <a:spcPct val="0"/>
              </a:spcBef>
              <a:buClrTx/>
              <a:buSzTx/>
              <a:buFontTx/>
              <a:buNone/>
            </a:pPr>
            <a:r>
              <a:rPr lang="en-US" altLang="en-US" sz="2000"/>
              <a:t>order is used for </a:t>
            </a:r>
          </a:p>
          <a:p>
            <a:pPr eaLnBrk="1" hangingPunct="1">
              <a:spcBef>
                <a:spcPct val="0"/>
              </a:spcBef>
              <a:buClrTx/>
              <a:buSzTx/>
              <a:buFontTx/>
              <a:buNone/>
            </a:pPr>
            <a:r>
              <a:rPr lang="en-US" altLang="en-US" sz="2000"/>
              <a:t>reading – ‘</a:t>
            </a:r>
            <a:r>
              <a:rPr lang="en-US" altLang="en-US" sz="2000" u="sng"/>
              <a:t>see to say’</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1157288" y="0"/>
            <a:ext cx="6870700" cy="1412875"/>
          </a:xfrm>
        </p:spPr>
        <p:txBody>
          <a:bodyPr rIns="31750" anchor="b"/>
          <a:lstStyle/>
          <a:p>
            <a:pPr indent="0" eaLnBrk="1" hangingPunct="1"/>
            <a:r>
              <a:rPr lang="en-US" altLang="en-US" u="sng" smtClean="0"/>
              <a:t>Types of probe:</a:t>
            </a:r>
          </a:p>
        </p:txBody>
      </p:sp>
      <p:sp>
        <p:nvSpPr>
          <p:cNvPr id="19459" name="Rectangle 2"/>
          <p:cNvSpPr>
            <a:spLocks noGrp="1" noChangeArrowheads="1"/>
          </p:cNvSpPr>
          <p:nvPr>
            <p:ph type="body" idx="1"/>
          </p:nvPr>
        </p:nvSpPr>
        <p:spPr>
          <a:xfrm>
            <a:off x="1330325" y="1927225"/>
            <a:ext cx="5257800" cy="4930775"/>
          </a:xfrm>
        </p:spPr>
        <p:txBody>
          <a:bodyPr rIns="31750"/>
          <a:lstStyle/>
          <a:p>
            <a:pPr marL="423863" indent="-384175" eaLnBrk="1" hangingPunct="1">
              <a:lnSpc>
                <a:spcPct val="90000"/>
              </a:lnSpc>
            </a:pPr>
            <a:r>
              <a:rPr lang="en-US" altLang="en-US" sz="2400" b="1" smtClean="0"/>
              <a:t>See to say</a:t>
            </a:r>
            <a:r>
              <a:rPr lang="en-US" altLang="en-US" sz="2400" smtClean="0"/>
              <a:t> e.g. letter, number, sight word recognition</a:t>
            </a:r>
            <a:endParaRPr lang="en-US" altLang="en-US" smtClean="0"/>
          </a:p>
          <a:p>
            <a:pPr marL="423863" indent="-384175" eaLnBrk="1" hangingPunct="1">
              <a:lnSpc>
                <a:spcPct val="90000"/>
              </a:lnSpc>
            </a:pPr>
            <a:endParaRPr lang="en-US" altLang="en-US" sz="2400" smtClean="0"/>
          </a:p>
          <a:p>
            <a:pPr marL="423863" indent="-384175" eaLnBrk="1" hangingPunct="1">
              <a:lnSpc>
                <a:spcPct val="90000"/>
              </a:lnSpc>
            </a:pPr>
            <a:r>
              <a:rPr lang="en-US" altLang="en-US" sz="2400" b="1" smtClean="0"/>
              <a:t>Hear to write</a:t>
            </a:r>
            <a:r>
              <a:rPr lang="en-US" altLang="en-US" sz="2400" smtClean="0"/>
              <a:t> e.g. letter sounds, numbers, spellings</a:t>
            </a:r>
            <a:endParaRPr lang="en-US" altLang="en-US" smtClean="0"/>
          </a:p>
          <a:p>
            <a:pPr marL="423863" indent="-384175" eaLnBrk="1" hangingPunct="1">
              <a:lnSpc>
                <a:spcPct val="90000"/>
              </a:lnSpc>
            </a:pPr>
            <a:endParaRPr lang="en-US" altLang="en-US" sz="2400" smtClean="0"/>
          </a:p>
          <a:p>
            <a:pPr marL="423863" indent="-384175" eaLnBrk="1" hangingPunct="1">
              <a:lnSpc>
                <a:spcPct val="90000"/>
              </a:lnSpc>
            </a:pPr>
            <a:r>
              <a:rPr lang="en-US" altLang="en-US" sz="2400" b="1" smtClean="0"/>
              <a:t>See to write</a:t>
            </a:r>
            <a:r>
              <a:rPr lang="en-US" altLang="en-US" sz="2400" smtClean="0"/>
              <a:t> e.g. 3 + 6 =</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idx="4294967295"/>
          </p:nvPr>
        </p:nvSpPr>
        <p:spPr>
          <a:xfrm>
            <a:off x="1187450" y="1052513"/>
            <a:ext cx="7086600" cy="731837"/>
          </a:xfrm>
        </p:spPr>
        <p:txBody>
          <a:bodyPr rIns="31750" anchor="b"/>
          <a:lstStyle/>
          <a:p>
            <a:pPr indent="0" eaLnBrk="1" hangingPunct="1"/>
            <a:r>
              <a:rPr lang="en-US" altLang="en-US" u="sng" smtClean="0"/>
              <a:t>PT Probe Generator</a:t>
            </a:r>
          </a:p>
        </p:txBody>
      </p:sp>
      <p:sp>
        <p:nvSpPr>
          <p:cNvPr id="20483" name="Rectangle 2"/>
          <p:cNvSpPr>
            <a:spLocks noGrp="1" noChangeArrowheads="1"/>
          </p:cNvSpPr>
          <p:nvPr>
            <p:ph type="body" idx="4294967295"/>
          </p:nvPr>
        </p:nvSpPr>
        <p:spPr>
          <a:xfrm>
            <a:off x="1187450" y="1196975"/>
            <a:ext cx="7416800" cy="4525963"/>
          </a:xfrm>
        </p:spPr>
        <p:txBody>
          <a:bodyPr rIns="31750"/>
          <a:lstStyle/>
          <a:p>
            <a:pPr marL="423863" indent="-384175" eaLnBrk="1" hangingPunct="1"/>
            <a:endParaRPr lang="en-US" altLang="en-US" dirty="0" smtClean="0"/>
          </a:p>
          <a:p>
            <a:pPr marL="423863" indent="-384175" eaLnBrk="1" hangingPunct="1"/>
            <a:endParaRPr lang="en-US" altLang="en-US" dirty="0" smtClean="0"/>
          </a:p>
          <a:p>
            <a:pPr marL="423863" indent="-384175" eaLnBrk="1" hangingPunct="1"/>
            <a:endParaRPr lang="en-US" altLang="en-US" dirty="0" smtClean="0"/>
          </a:p>
          <a:p>
            <a:pPr marL="423863" indent="-384175" eaLnBrk="1" hangingPunct="1">
              <a:buFont typeface="Century Gothic" pitchFamily="34" charset="0"/>
              <a:buNone/>
            </a:pPr>
            <a:r>
              <a:rPr lang="en-US" altLang="en-US" u="sng" dirty="0" smtClean="0">
                <a:solidFill>
                  <a:srgbClr val="009999"/>
                </a:solidFill>
                <a:hlinkClick r:id="rId3"/>
              </a:rPr>
              <a:t>http://johnandgwyn.co.uk/probe.html</a:t>
            </a:r>
            <a:r>
              <a:rPr lang="en-US" altLang="en-US" dirty="0" smtClean="0"/>
              <a:t> </a:t>
            </a:r>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endParaRPr lang="en-US" altLang="en-US" dirty="0" smtClean="0"/>
          </a:p>
          <a:p>
            <a:pPr marL="423863" indent="-384175" algn="ctr" eaLnBrk="1" hangingPunct="1">
              <a:buFont typeface="Century Gothic" pitchFamily="34" charset="0"/>
              <a:buNone/>
            </a:pPr>
            <a:r>
              <a:rPr lang="en-US" altLang="en-US" dirty="0" smtClean="0"/>
              <a:t>Activity</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279525" y="0"/>
            <a:ext cx="7086600" cy="1417638"/>
          </a:xfrm>
        </p:spPr>
        <p:txBody>
          <a:bodyPr rIns="31750" anchor="b"/>
          <a:lstStyle/>
          <a:p>
            <a:pPr indent="0" eaLnBrk="1" hangingPunct="1"/>
            <a:r>
              <a:rPr lang="en-US" altLang="en-US" sz="2400" u="sng" dirty="0" smtClean="0"/>
              <a:t>Goals between now and the next session</a:t>
            </a:r>
          </a:p>
        </p:txBody>
      </p:sp>
      <p:sp>
        <p:nvSpPr>
          <p:cNvPr id="4099" name="Rectangle 2"/>
          <p:cNvSpPr>
            <a:spLocks noGrp="1" noChangeArrowheads="1"/>
          </p:cNvSpPr>
          <p:nvPr>
            <p:ph type="body" idx="1"/>
          </p:nvPr>
        </p:nvSpPr>
        <p:spPr/>
        <p:txBody>
          <a:bodyPr rIns="31750"/>
          <a:lstStyle/>
          <a:p>
            <a:pPr marL="795338" lvl="1" indent="-457200" eaLnBrk="1" hangingPunct="1">
              <a:lnSpc>
                <a:spcPct val="90000"/>
              </a:lnSpc>
              <a:spcBef>
                <a:spcPts val="0"/>
              </a:spcBef>
              <a:spcAft>
                <a:spcPts val="600"/>
              </a:spcAft>
              <a:buFont typeface="+mj-lt"/>
              <a:buAutoNum type="arabicPeriod"/>
            </a:pPr>
            <a:r>
              <a:rPr lang="en-US" altLang="en-US" sz="1800" dirty="0" smtClean="0"/>
              <a:t>Liaise with class teachers to identify a focus for your precision teaching e.g. Phonics, sight vocabulary, number recognition – </a:t>
            </a:r>
            <a:r>
              <a:rPr lang="en-US" altLang="en-US" sz="1800" b="1" dirty="0" smtClean="0"/>
              <a:t>stick to </a:t>
            </a:r>
            <a:r>
              <a:rPr lang="en-US" altLang="en-US" sz="1800" b="1" u="sng" dirty="0" smtClean="0"/>
              <a:t>reading</a:t>
            </a:r>
            <a:r>
              <a:rPr lang="en-US" altLang="en-US" sz="1800" b="1" dirty="0" smtClean="0"/>
              <a:t> targets</a:t>
            </a:r>
          </a:p>
          <a:p>
            <a:pPr marL="795338" lvl="1" indent="-457200" eaLnBrk="1" hangingPunct="1">
              <a:lnSpc>
                <a:spcPct val="90000"/>
              </a:lnSpc>
              <a:spcBef>
                <a:spcPts val="0"/>
              </a:spcBef>
              <a:spcAft>
                <a:spcPts val="600"/>
              </a:spcAft>
              <a:buFont typeface="+mj-lt"/>
              <a:buAutoNum type="arabicPeriod"/>
            </a:pPr>
            <a:endParaRPr lang="en-US" altLang="en-US" sz="1800" dirty="0" smtClean="0"/>
          </a:p>
          <a:p>
            <a:pPr marL="795338" lvl="1" indent="-457200" eaLnBrk="1" hangingPunct="1">
              <a:lnSpc>
                <a:spcPct val="90000"/>
              </a:lnSpc>
              <a:spcBef>
                <a:spcPts val="0"/>
              </a:spcBef>
              <a:spcAft>
                <a:spcPts val="600"/>
              </a:spcAft>
              <a:buFont typeface="+mj-lt"/>
              <a:buAutoNum type="arabicPeriod"/>
            </a:pPr>
            <a:r>
              <a:rPr lang="en-US" altLang="en-US" sz="1800" dirty="0" smtClean="0"/>
              <a:t>Establish what the child already knows securely and where there are gaps</a:t>
            </a:r>
          </a:p>
          <a:p>
            <a:pPr marL="795338" lvl="1" indent="-457200" eaLnBrk="1" hangingPunct="1">
              <a:lnSpc>
                <a:spcPct val="90000"/>
              </a:lnSpc>
              <a:spcBef>
                <a:spcPts val="0"/>
              </a:spcBef>
              <a:spcAft>
                <a:spcPts val="600"/>
              </a:spcAft>
              <a:buFont typeface="+mj-lt"/>
              <a:buAutoNum type="arabicPeriod"/>
            </a:pPr>
            <a:endParaRPr lang="en-US" altLang="en-US" sz="1800" dirty="0" smtClean="0"/>
          </a:p>
          <a:p>
            <a:pPr marL="795338" lvl="1" indent="-457200" eaLnBrk="1" hangingPunct="1">
              <a:lnSpc>
                <a:spcPct val="90000"/>
              </a:lnSpc>
              <a:spcBef>
                <a:spcPts val="0"/>
              </a:spcBef>
              <a:spcAft>
                <a:spcPts val="600"/>
              </a:spcAft>
              <a:buFont typeface="+mj-lt"/>
              <a:buAutoNum type="arabicPeriod"/>
            </a:pPr>
            <a:r>
              <a:rPr lang="en-US" altLang="en-US" sz="1800" dirty="0" smtClean="0"/>
              <a:t>Create an appropriate probe using the PT Probe Generator</a:t>
            </a:r>
          </a:p>
          <a:p>
            <a:pPr marL="795338" lvl="1" indent="-457200" eaLnBrk="1" hangingPunct="1">
              <a:lnSpc>
                <a:spcPct val="90000"/>
              </a:lnSpc>
              <a:spcBef>
                <a:spcPts val="0"/>
              </a:spcBef>
              <a:spcAft>
                <a:spcPts val="600"/>
              </a:spcAft>
              <a:buFont typeface="+mj-lt"/>
              <a:buAutoNum type="arabicPeriod"/>
            </a:pPr>
            <a:endParaRPr lang="en-US" altLang="en-US" sz="1800" dirty="0" smtClean="0"/>
          </a:p>
          <a:p>
            <a:pPr marL="795338" lvl="1" indent="-457200" eaLnBrk="1" hangingPunct="1">
              <a:lnSpc>
                <a:spcPct val="90000"/>
              </a:lnSpc>
              <a:spcBef>
                <a:spcPts val="0"/>
              </a:spcBef>
              <a:spcAft>
                <a:spcPts val="600"/>
              </a:spcAft>
              <a:buFont typeface="+mj-lt"/>
              <a:buAutoNum type="arabicPeriod"/>
            </a:pPr>
            <a:r>
              <a:rPr lang="en-US" altLang="en-US" sz="1800" dirty="0" smtClean="0"/>
              <a:t>Have a go! 5/6 minute teaching activity then 1 minute probe.  </a:t>
            </a:r>
            <a:r>
              <a:rPr lang="en-US" altLang="en-US" sz="1800" b="1" dirty="0" smtClean="0"/>
              <a:t>Make sure you record number of correct and incorrect responses on your marked probe sheet and bring this with you </a:t>
            </a:r>
            <a:r>
              <a:rPr lang="en-US" altLang="en-US" sz="1800" b="1" smtClean="0"/>
              <a:t>to Session 2.</a:t>
            </a:r>
            <a:endParaRPr lang="en-US" altLang="en-US" sz="2000" dirty="0" smtClean="0"/>
          </a:p>
          <a:p>
            <a:pPr marL="795338" lvl="1" indent="-457200" eaLnBrk="1" hangingPunct="1">
              <a:lnSpc>
                <a:spcPct val="90000"/>
              </a:lnSpc>
              <a:buNone/>
            </a:pPr>
            <a:endParaRPr lang="en-US" altLang="en-US" sz="2000" dirty="0" smtClean="0"/>
          </a:p>
          <a:p>
            <a:pPr marL="795338" lvl="1" indent="-457200" eaLnBrk="1" hangingPunct="1">
              <a:lnSpc>
                <a:spcPct val="90000"/>
              </a:lnSpc>
              <a:buFont typeface="+mj-lt"/>
              <a:buAutoNum type="arabicPeriod"/>
            </a:pPr>
            <a:endParaRPr lang="en-US" altLang="en-US" sz="2000" dirty="0" smtClean="0"/>
          </a:p>
          <a:p>
            <a:pPr marL="795338" lvl="1" indent="-457200" eaLnBrk="1" hangingPunct="1">
              <a:lnSpc>
                <a:spcPct val="90000"/>
              </a:lnSpc>
              <a:buNone/>
            </a:pPr>
            <a:endParaRPr lang="en-US" altLang="en-US" sz="2000" dirty="0" smtClean="0"/>
          </a:p>
          <a:p>
            <a:pPr marL="795338" lvl="1" indent="-457200" eaLnBrk="1" hangingPunct="1">
              <a:lnSpc>
                <a:spcPct val="90000"/>
              </a:lnSpc>
              <a:buFont typeface="+mj-lt"/>
              <a:buAutoNum type="arabicPeriod"/>
            </a:pPr>
            <a:endParaRPr lang="en-US" altLang="en-US" sz="2000" dirty="0" smtClean="0"/>
          </a:p>
          <a:p>
            <a:pPr marL="795338" lvl="1" indent="-457200" eaLnBrk="1" hangingPunct="1">
              <a:lnSpc>
                <a:spcPct val="90000"/>
              </a:lnSpc>
              <a:buNone/>
            </a:pPr>
            <a:endParaRPr lang="en-US" altLang="en-US" sz="2000" dirty="0" smtClean="0"/>
          </a:p>
          <a:p>
            <a:pPr marL="795338" lvl="1" indent="-457200" eaLnBrk="1" hangingPunct="1">
              <a:lnSpc>
                <a:spcPct val="90000"/>
              </a:lnSpc>
              <a:buFont typeface="+mj-lt"/>
              <a:buAutoNum type="arabicPeriod"/>
            </a:pPr>
            <a:endParaRPr lang="en-US" altLang="en-US" sz="2000" dirty="0" smtClean="0"/>
          </a:p>
          <a:p>
            <a:pPr marL="338138" lvl="1" indent="0" eaLnBrk="1" hangingPunct="1">
              <a:lnSpc>
                <a:spcPct val="90000"/>
              </a:lnSpc>
              <a:buNone/>
            </a:pPr>
            <a:endParaRPr lang="en-US" altLang="en-US" sz="2000" dirty="0"/>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338138" lvl="1" indent="0" eaLnBrk="1" hangingPunct="1">
              <a:lnSpc>
                <a:spcPct val="90000"/>
              </a:lnSpc>
              <a:buNone/>
            </a:pPr>
            <a:endParaRPr lang="en-US" altLang="en-US" sz="2000" dirty="0" smtClean="0"/>
          </a:p>
          <a:p>
            <a:pPr marL="338138" lvl="1" indent="0" eaLnBrk="1" hangingPunct="1">
              <a:lnSpc>
                <a:spcPct val="90000"/>
              </a:lnSpc>
              <a:buNone/>
            </a:pPr>
            <a:endParaRPr lang="en-US" altLang="en-US" sz="20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338138" lvl="1" indent="0" eaLnBrk="1" hangingPunct="1">
              <a:lnSpc>
                <a:spcPct val="90000"/>
              </a:lnSpc>
              <a:buNone/>
            </a:pPr>
            <a:endParaRPr lang="en-US" altLang="en-US" sz="2000" dirty="0" smtClean="0"/>
          </a:p>
          <a:p>
            <a:pPr lvl="2" indent="-342900" eaLnBrk="1" hangingPunct="1">
              <a:lnSpc>
                <a:spcPct val="90000"/>
              </a:lnSpc>
              <a:buFont typeface="Arial" panose="020B0604020202020204" pitchFamily="34" charset="0"/>
              <a:buChar char="•"/>
            </a:pPr>
            <a:endParaRPr lang="en-US" altLang="en-US" sz="1600" dirty="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p:txBody>
      </p:sp>
    </p:spTree>
    <p:extLst>
      <p:ext uri="{BB962C8B-B14F-4D97-AF65-F5344CB8AC3E}">
        <p14:creationId xmlns:p14="http://schemas.microsoft.com/office/powerpoint/2010/main" val="49552784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endParaRPr lang="en-GB" altLang="en-US" dirty="0" smtClean="0"/>
          </a:p>
        </p:txBody>
      </p:sp>
      <p:sp>
        <p:nvSpPr>
          <p:cNvPr id="31747" name="Rectangle 3"/>
          <p:cNvSpPr>
            <a:spLocks noGrp="1" noChangeArrowheads="1"/>
          </p:cNvSpPr>
          <p:nvPr>
            <p:ph type="body" idx="1"/>
          </p:nvPr>
        </p:nvSpPr>
        <p:spPr/>
        <p:txBody>
          <a:bodyPr/>
          <a:lstStyle/>
          <a:p>
            <a:pPr>
              <a:buFont typeface="Century Gothic" pitchFamily="34" charset="0"/>
              <a:buNone/>
            </a:pPr>
            <a:endParaRPr lang="en-GB" altLang="en-US" dirty="0" smtClean="0"/>
          </a:p>
          <a:p>
            <a:pPr algn="ctr">
              <a:buFont typeface="Century Gothic" pitchFamily="34" charset="0"/>
              <a:buNone/>
            </a:pPr>
            <a:r>
              <a:rPr lang="en-GB" altLang="en-US" sz="4800" dirty="0" smtClean="0"/>
              <a:t>Thank you and</a:t>
            </a:r>
          </a:p>
          <a:p>
            <a:pPr algn="ctr">
              <a:buFont typeface="Century Gothic" pitchFamily="34" charset="0"/>
              <a:buNone/>
            </a:pPr>
            <a:r>
              <a:rPr lang="en-GB" altLang="en-US" sz="4800" dirty="0" smtClean="0"/>
              <a:t>see you on </a:t>
            </a:r>
          </a:p>
          <a:p>
            <a:pPr algn="ctr">
              <a:buFont typeface="Century Gothic" pitchFamily="34" charset="0"/>
              <a:buNone/>
            </a:pPr>
            <a:r>
              <a:rPr lang="en-GB" altLang="en-US" sz="4800" dirty="0" smtClean="0"/>
              <a:t>18</a:t>
            </a:r>
            <a:r>
              <a:rPr lang="en-GB" altLang="en-US" sz="4800" baseline="30000" dirty="0" smtClean="0"/>
              <a:t>th</a:t>
            </a:r>
            <a:r>
              <a:rPr lang="en-GB" altLang="en-US" sz="4800" dirty="0" smtClean="0"/>
              <a:t> November! </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S001159440">
  <a:themeElements>
    <a:clrScheme name="">
      <a:dk1>
        <a:srgbClr val="000000"/>
      </a:dk1>
      <a:lt1>
        <a:srgbClr val="FFFFFF"/>
      </a:lt1>
      <a:dk2>
        <a:srgbClr val="000000"/>
      </a:dk2>
      <a:lt2>
        <a:srgbClr val="808080"/>
      </a:lt2>
      <a:accent1>
        <a:srgbClr val="FFEF66"/>
      </a:accent1>
      <a:accent2>
        <a:srgbClr val="333399"/>
      </a:accent2>
      <a:accent3>
        <a:srgbClr val="FFFFFF"/>
      </a:accent3>
      <a:accent4>
        <a:srgbClr val="000000"/>
      </a:accent4>
      <a:accent5>
        <a:srgbClr val="FFF6B8"/>
      </a:accent5>
      <a:accent6>
        <a:srgbClr val="2D2D8A"/>
      </a:accent6>
      <a:hlink>
        <a:srgbClr val="009999"/>
      </a:hlink>
      <a:folHlink>
        <a:srgbClr val="99CC00"/>
      </a:folHlink>
    </a:clrScheme>
    <a:fontScheme name="TS001159440">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EF66"/>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spDef>
    <a:lnDef>
      <a:spPr bwMode="auto">
        <a:xfrm>
          <a:off x="0" y="0"/>
          <a:ext cx="1" cy="1"/>
        </a:xfrm>
        <a:custGeom>
          <a:avLst/>
          <a:gdLst/>
          <a:ahLst/>
          <a:cxnLst/>
          <a:rect l="0" t="0" r="0" b="0"/>
          <a:pathLst/>
        </a:custGeom>
        <a:solidFill>
          <a:srgbClr val="FFEF66"/>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lnDef>
  </a:objectDefaults>
  <a:extraClrSchemeLst>
    <a:extraClrScheme>
      <a:clrScheme name="TS00115944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itle &amp; Subtitle">
  <a:themeElements>
    <a:clrScheme name="">
      <a:dk1>
        <a:srgbClr val="000000"/>
      </a:dk1>
      <a:lt1>
        <a:srgbClr val="FFFFFF"/>
      </a:lt1>
      <a:dk2>
        <a:srgbClr val="000000"/>
      </a:dk2>
      <a:lt2>
        <a:srgbClr val="808080"/>
      </a:lt2>
      <a:accent1>
        <a:srgbClr val="FFEF66"/>
      </a:accent1>
      <a:accent2>
        <a:srgbClr val="333399"/>
      </a:accent2>
      <a:accent3>
        <a:srgbClr val="FFFFFF"/>
      </a:accent3>
      <a:accent4>
        <a:srgbClr val="000000"/>
      </a:accent4>
      <a:accent5>
        <a:srgbClr val="FFF6B8"/>
      </a:accent5>
      <a:accent6>
        <a:srgbClr val="2D2D8A"/>
      </a:accent6>
      <a:hlink>
        <a:srgbClr val="009999"/>
      </a:hlink>
      <a:folHlink>
        <a:srgbClr val="99CC00"/>
      </a:folHlink>
    </a:clrScheme>
    <a:fontScheme name="Title &amp; Subtitle">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EF66"/>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spDef>
    <a:lnDef>
      <a:spPr bwMode="auto">
        <a:xfrm>
          <a:off x="0" y="0"/>
          <a:ext cx="1" cy="1"/>
        </a:xfrm>
        <a:custGeom>
          <a:avLst/>
          <a:gdLst/>
          <a:ahLst/>
          <a:cxnLst/>
          <a:rect l="0" t="0" r="0" b="0"/>
          <a:pathLst/>
        </a:custGeom>
        <a:solidFill>
          <a:srgbClr val="FFEF66"/>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lnDef>
  </a:objectDefaults>
  <a:extraClrSchemeLst>
    <a:extraClrScheme>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1967</TotalTime>
  <Pages>0</Pages>
  <Words>2891</Words>
  <Characters>0</Characters>
  <Application>Microsoft Office PowerPoint</Application>
  <PresentationFormat>On-screen Show (4:3)</PresentationFormat>
  <Lines>0</Lines>
  <Paragraphs>425</Paragraphs>
  <Slides>20</Slides>
  <Notes>20</Notes>
  <HiddenSlides>0</HiddenSlides>
  <MMClips>0</MMClips>
  <ScaleCrop>false</ScaleCrop>
  <HeadingPairs>
    <vt:vector size="4" baseType="variant">
      <vt:variant>
        <vt:lpstr>Theme</vt:lpstr>
      </vt:variant>
      <vt:variant>
        <vt:i4>2</vt:i4>
      </vt:variant>
      <vt:variant>
        <vt:lpstr>Slide Titles</vt:lpstr>
      </vt:variant>
      <vt:variant>
        <vt:i4>20</vt:i4>
      </vt:variant>
    </vt:vector>
  </HeadingPairs>
  <TitlesOfParts>
    <vt:vector size="22" baseType="lpstr">
      <vt:lpstr>TS001159440</vt:lpstr>
      <vt:lpstr>Title &amp; Subtitle</vt:lpstr>
      <vt:lpstr>Precision Teaching:</vt:lpstr>
      <vt:lpstr>Aims of today:</vt:lpstr>
      <vt:lpstr>Preview of next sessions</vt:lpstr>
      <vt:lpstr>Preview of next sessions</vt:lpstr>
      <vt:lpstr>What is Precision Teaching?</vt:lpstr>
      <vt:lpstr>When can PT be used?</vt:lpstr>
      <vt:lpstr>Why does PT work?</vt:lpstr>
      <vt:lpstr> Activity PT: The Underlying Theory: Haring &amp; Eaton, 1978</vt:lpstr>
      <vt:lpstr>How do you do PT?</vt:lpstr>
      <vt:lpstr>A daily teaching model</vt:lpstr>
      <vt:lpstr>Before you start Precision Teaching </vt:lpstr>
      <vt:lpstr>‘Task Analysis’ – where are they now? </vt:lpstr>
      <vt:lpstr>Task Analysis cont’ </vt:lpstr>
      <vt:lpstr>How do you do PT?  </vt:lpstr>
      <vt:lpstr>PowerPoint Presentation</vt:lpstr>
      <vt:lpstr>PowerPoint Presentation</vt:lpstr>
      <vt:lpstr>Types of probe:</vt:lpstr>
      <vt:lpstr>PT Probe Generator</vt:lpstr>
      <vt:lpstr>Goals between now and the next session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Precision Teaching</dc:title>
  <dc:creator>David Lee</dc:creator>
  <cp:lastModifiedBy>localprofile</cp:lastModifiedBy>
  <cp:revision>373</cp:revision>
  <cp:lastPrinted>2014-02-23T22:08:34Z</cp:lastPrinted>
  <dcterms:modified xsi:type="dcterms:W3CDTF">2017-06-12T21:15:03Z</dcterms:modified>
</cp:coreProperties>
</file>