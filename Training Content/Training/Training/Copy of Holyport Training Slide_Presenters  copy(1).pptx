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handoutMasterIdLst>
    <p:handoutMasterId r:id="rId74"/>
  </p:handoutMasterIdLst>
  <p:sldIdLst>
    <p:sldId id="302" r:id="rId2"/>
    <p:sldId id="343" r:id="rId3"/>
    <p:sldId id="336" r:id="rId4"/>
    <p:sldId id="337" r:id="rId5"/>
    <p:sldId id="338" r:id="rId6"/>
    <p:sldId id="339" r:id="rId7"/>
    <p:sldId id="340" r:id="rId8"/>
    <p:sldId id="341" r:id="rId9"/>
    <p:sldId id="342" r:id="rId10"/>
    <p:sldId id="344" r:id="rId11"/>
    <p:sldId id="345" r:id="rId12"/>
    <p:sldId id="346" r:id="rId13"/>
    <p:sldId id="347" r:id="rId14"/>
    <p:sldId id="348" r:id="rId15"/>
    <p:sldId id="351" r:id="rId16"/>
    <p:sldId id="352" r:id="rId17"/>
    <p:sldId id="353" r:id="rId18"/>
    <p:sldId id="310" r:id="rId19"/>
    <p:sldId id="354" r:id="rId20"/>
    <p:sldId id="355" r:id="rId21"/>
    <p:sldId id="356" r:id="rId22"/>
    <p:sldId id="357" r:id="rId23"/>
    <p:sldId id="358" r:id="rId24"/>
    <p:sldId id="359" r:id="rId25"/>
    <p:sldId id="360" r:id="rId26"/>
    <p:sldId id="361" r:id="rId27"/>
    <p:sldId id="362" r:id="rId28"/>
    <p:sldId id="363" r:id="rId29"/>
    <p:sldId id="364" r:id="rId30"/>
    <p:sldId id="366" r:id="rId31"/>
    <p:sldId id="365"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4" r:id="rId60"/>
    <p:sldId id="395" r:id="rId61"/>
    <p:sldId id="396" r:id="rId62"/>
    <p:sldId id="397" r:id="rId63"/>
    <p:sldId id="398" r:id="rId64"/>
    <p:sldId id="399" r:id="rId65"/>
    <p:sldId id="400" r:id="rId66"/>
    <p:sldId id="327" r:id="rId67"/>
    <p:sldId id="401" r:id="rId68"/>
    <p:sldId id="402" r:id="rId69"/>
    <p:sldId id="403" r:id="rId70"/>
    <p:sldId id="328" r:id="rId71"/>
    <p:sldId id="274" r:id="rId72"/>
  </p:sldIdLst>
  <p:sldSz cx="9144000" cy="6858000" type="screen4x3"/>
  <p:notesSz cx="6669088"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0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3363" autoAdjust="0"/>
    <p:restoredTop sz="82604" autoAdjust="0"/>
  </p:normalViewPr>
  <p:slideViewPr>
    <p:cSldViewPr snapToGrid="0" snapToObjects="1">
      <p:cViewPr varScale="1">
        <p:scale>
          <a:sx n="108" d="100"/>
          <a:sy n="108" d="100"/>
        </p:scale>
        <p:origin x="132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01" d="100"/>
          <a:sy n="101" d="100"/>
        </p:scale>
        <p:origin x="-3576" y="-90"/>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05954-4E1F-4723-893F-26185710C8B4}" type="doc">
      <dgm:prSet loTypeId="urn:microsoft.com/office/officeart/2005/8/layout/pyramid1" loCatId="pyramid" qsTypeId="urn:microsoft.com/office/officeart/2005/8/quickstyle/simple1" qsCatId="simple" csTypeId="urn:microsoft.com/office/officeart/2005/8/colors/colorful1" csCatId="colorful" phldr="1"/>
      <dgm:spPr/>
    </dgm:pt>
    <dgm:pt modelId="{EB99FAD1-0D7F-47AF-A25D-2DB7CA131823}">
      <dgm:prSet phldrT="[Text]" custT="1"/>
      <dgm:spPr/>
      <dgm:t>
        <a:bodyPr/>
        <a:lstStyle/>
        <a:p>
          <a:pPr>
            <a:lnSpc>
              <a:spcPct val="90000"/>
            </a:lnSpc>
            <a:spcAft>
              <a:spcPct val="35000"/>
            </a:spcAft>
          </a:pPr>
          <a:endParaRPr lang="en-GB" sz="1600" dirty="0" smtClean="0"/>
        </a:p>
        <a:p>
          <a:pPr>
            <a:lnSpc>
              <a:spcPct val="100000"/>
            </a:lnSpc>
            <a:spcAft>
              <a:spcPts val="0"/>
            </a:spcAft>
          </a:pPr>
          <a:r>
            <a:rPr lang="en-GB" sz="1400" dirty="0" smtClean="0"/>
            <a:t>Self-</a:t>
          </a:r>
        </a:p>
        <a:p>
          <a:pPr>
            <a:lnSpc>
              <a:spcPct val="100000"/>
            </a:lnSpc>
            <a:spcAft>
              <a:spcPts val="0"/>
            </a:spcAft>
          </a:pPr>
          <a:r>
            <a:rPr lang="en-GB" sz="1400" dirty="0" smtClean="0"/>
            <a:t>fulfilment </a:t>
          </a:r>
        </a:p>
        <a:p>
          <a:pPr>
            <a:lnSpc>
              <a:spcPct val="100000"/>
            </a:lnSpc>
            <a:spcAft>
              <a:spcPts val="0"/>
            </a:spcAft>
          </a:pPr>
          <a:r>
            <a:rPr lang="en-GB" sz="1400" dirty="0" smtClean="0"/>
            <a:t>and actualisation</a:t>
          </a:r>
          <a:endParaRPr lang="en-GB" sz="1400" dirty="0"/>
        </a:p>
      </dgm:t>
    </dgm:pt>
    <dgm:pt modelId="{AB8D533B-E098-4299-915A-E6EE7F1198F2}" type="parTrans" cxnId="{6CF6E0FB-7B78-4272-8A30-FDCB55C28A15}">
      <dgm:prSet/>
      <dgm:spPr/>
      <dgm:t>
        <a:bodyPr/>
        <a:lstStyle/>
        <a:p>
          <a:endParaRPr lang="en-GB"/>
        </a:p>
      </dgm:t>
    </dgm:pt>
    <dgm:pt modelId="{0E6FE32B-7F57-4A76-A96E-C7981251C4FC}" type="sibTrans" cxnId="{6CF6E0FB-7B78-4272-8A30-FDCB55C28A15}">
      <dgm:prSet/>
      <dgm:spPr/>
      <dgm:t>
        <a:bodyPr/>
        <a:lstStyle/>
        <a:p>
          <a:endParaRPr lang="en-GB"/>
        </a:p>
      </dgm:t>
    </dgm:pt>
    <dgm:pt modelId="{342F943D-3CCB-4B9D-B9CE-8E9B8951C254}">
      <dgm:prSet phldrT="[Text]"/>
      <dgm:spPr/>
      <dgm:t>
        <a:bodyPr/>
        <a:lstStyle/>
        <a:p>
          <a:r>
            <a:rPr lang="en-GB" dirty="0" smtClean="0"/>
            <a:t>Esteem needs: </a:t>
          </a:r>
        </a:p>
        <a:p>
          <a:r>
            <a:rPr lang="en-GB" dirty="0" smtClean="0"/>
            <a:t>The “Value” Need. Prestige and feeling of accomplishment</a:t>
          </a:r>
          <a:endParaRPr lang="en-GB" dirty="0"/>
        </a:p>
      </dgm:t>
    </dgm:pt>
    <dgm:pt modelId="{261A9E71-B557-427D-A90D-7FEA1FA3E7FF}" type="parTrans" cxnId="{2DC3AE59-4596-4811-A376-013EA793938F}">
      <dgm:prSet/>
      <dgm:spPr/>
      <dgm:t>
        <a:bodyPr/>
        <a:lstStyle/>
        <a:p>
          <a:endParaRPr lang="en-GB"/>
        </a:p>
      </dgm:t>
    </dgm:pt>
    <dgm:pt modelId="{DF95DC0E-1F08-44FB-86DE-0F44EF5C5A8D}" type="sibTrans" cxnId="{2DC3AE59-4596-4811-A376-013EA793938F}">
      <dgm:prSet/>
      <dgm:spPr/>
      <dgm:t>
        <a:bodyPr/>
        <a:lstStyle/>
        <a:p>
          <a:endParaRPr lang="en-GB"/>
        </a:p>
      </dgm:t>
    </dgm:pt>
    <dgm:pt modelId="{846528A5-504A-42A3-AC72-7066761DE9B0}">
      <dgm:prSet phldrT="[Text]"/>
      <dgm:spPr/>
      <dgm:t>
        <a:bodyPr/>
        <a:lstStyle/>
        <a:p>
          <a:r>
            <a:rPr lang="en-GB" dirty="0" smtClean="0"/>
            <a:t>Belongingness and love needs: - intimate relationships, friends</a:t>
          </a:r>
          <a:endParaRPr lang="en-GB" dirty="0"/>
        </a:p>
      </dgm:t>
    </dgm:pt>
    <dgm:pt modelId="{F32A15A9-D345-48E1-AC7A-9599D3C41F1E}" type="parTrans" cxnId="{EEA29540-C8D0-4737-8A56-FF79611DB2C7}">
      <dgm:prSet/>
      <dgm:spPr/>
      <dgm:t>
        <a:bodyPr/>
        <a:lstStyle/>
        <a:p>
          <a:endParaRPr lang="en-GB"/>
        </a:p>
      </dgm:t>
    </dgm:pt>
    <dgm:pt modelId="{5230D842-A1F3-40F4-AA56-6A240108FE82}" type="sibTrans" cxnId="{EEA29540-C8D0-4737-8A56-FF79611DB2C7}">
      <dgm:prSet/>
      <dgm:spPr/>
      <dgm:t>
        <a:bodyPr/>
        <a:lstStyle/>
        <a:p>
          <a:endParaRPr lang="en-GB"/>
        </a:p>
      </dgm:t>
    </dgm:pt>
    <dgm:pt modelId="{476F6E08-B5F1-46C4-B343-2B2A471A8873}">
      <dgm:prSet phldrT="[Text]"/>
      <dgm:spPr/>
      <dgm:t>
        <a:bodyPr/>
        <a:lstStyle/>
        <a:p>
          <a:r>
            <a:rPr lang="en-GB" dirty="0" smtClean="0"/>
            <a:t>Physiological needs:  - food, water, warmth, rest</a:t>
          </a:r>
          <a:endParaRPr lang="en-GB" dirty="0"/>
        </a:p>
      </dgm:t>
    </dgm:pt>
    <dgm:pt modelId="{A550978E-C757-482E-8A80-F9741057C3FB}" type="parTrans" cxnId="{C532A47A-8EC3-47BA-8E31-7461E9471785}">
      <dgm:prSet/>
      <dgm:spPr/>
      <dgm:t>
        <a:bodyPr/>
        <a:lstStyle/>
        <a:p>
          <a:endParaRPr lang="en-GB"/>
        </a:p>
      </dgm:t>
    </dgm:pt>
    <dgm:pt modelId="{5A9D321C-E5C4-4596-8BD9-6FF157AEA7F3}" type="sibTrans" cxnId="{C532A47A-8EC3-47BA-8E31-7461E9471785}">
      <dgm:prSet/>
      <dgm:spPr/>
      <dgm:t>
        <a:bodyPr/>
        <a:lstStyle/>
        <a:p>
          <a:endParaRPr lang="en-GB"/>
        </a:p>
      </dgm:t>
    </dgm:pt>
    <dgm:pt modelId="{3ED661BE-0AB8-46C4-8F8F-920F8CCAAC1D}">
      <dgm:prSet phldrT="[Text]"/>
      <dgm:spPr/>
      <dgm:t>
        <a:bodyPr/>
        <a:lstStyle/>
        <a:p>
          <a:r>
            <a:rPr lang="en-GB" dirty="0" smtClean="0"/>
            <a:t>Safety needs: - Security safety</a:t>
          </a:r>
          <a:endParaRPr lang="en-GB" dirty="0"/>
        </a:p>
      </dgm:t>
    </dgm:pt>
    <dgm:pt modelId="{E0FEA161-27E8-4532-977E-B6039A73C2E9}" type="parTrans" cxnId="{F759212B-23E5-44CE-9810-6FD46E920BFB}">
      <dgm:prSet/>
      <dgm:spPr/>
      <dgm:t>
        <a:bodyPr/>
        <a:lstStyle/>
        <a:p>
          <a:endParaRPr lang="en-GB"/>
        </a:p>
      </dgm:t>
    </dgm:pt>
    <dgm:pt modelId="{7E753CA1-7038-438F-865C-12A8B5D9C598}" type="sibTrans" cxnId="{F759212B-23E5-44CE-9810-6FD46E920BFB}">
      <dgm:prSet/>
      <dgm:spPr/>
      <dgm:t>
        <a:bodyPr/>
        <a:lstStyle/>
        <a:p>
          <a:endParaRPr lang="en-GB"/>
        </a:p>
      </dgm:t>
    </dgm:pt>
    <dgm:pt modelId="{344A9CE4-32F2-4486-B1E7-F1B756D6E93A}" type="pres">
      <dgm:prSet presAssocID="{A5805954-4E1F-4723-893F-26185710C8B4}" presName="Name0" presStyleCnt="0">
        <dgm:presLayoutVars>
          <dgm:dir/>
          <dgm:animLvl val="lvl"/>
          <dgm:resizeHandles val="exact"/>
        </dgm:presLayoutVars>
      </dgm:prSet>
      <dgm:spPr/>
    </dgm:pt>
    <dgm:pt modelId="{ABEE3D2D-8ADA-4252-B7BC-EDD558012541}" type="pres">
      <dgm:prSet presAssocID="{EB99FAD1-0D7F-47AF-A25D-2DB7CA131823}" presName="Name8" presStyleCnt="0"/>
      <dgm:spPr/>
    </dgm:pt>
    <dgm:pt modelId="{E367D680-ABF5-44F9-85C2-F77A502C6472}" type="pres">
      <dgm:prSet presAssocID="{EB99FAD1-0D7F-47AF-A25D-2DB7CA131823}" presName="level" presStyleLbl="node1" presStyleIdx="0" presStyleCnt="5">
        <dgm:presLayoutVars>
          <dgm:chMax val="1"/>
          <dgm:bulletEnabled val="1"/>
        </dgm:presLayoutVars>
      </dgm:prSet>
      <dgm:spPr/>
      <dgm:t>
        <a:bodyPr/>
        <a:lstStyle/>
        <a:p>
          <a:endParaRPr lang="en-GB"/>
        </a:p>
      </dgm:t>
    </dgm:pt>
    <dgm:pt modelId="{3A1C08EE-D124-421D-9167-3FFABE489672}" type="pres">
      <dgm:prSet presAssocID="{EB99FAD1-0D7F-47AF-A25D-2DB7CA131823}" presName="levelTx" presStyleLbl="revTx" presStyleIdx="0" presStyleCnt="0">
        <dgm:presLayoutVars>
          <dgm:chMax val="1"/>
          <dgm:bulletEnabled val="1"/>
        </dgm:presLayoutVars>
      </dgm:prSet>
      <dgm:spPr/>
      <dgm:t>
        <a:bodyPr/>
        <a:lstStyle/>
        <a:p>
          <a:endParaRPr lang="en-GB"/>
        </a:p>
      </dgm:t>
    </dgm:pt>
    <dgm:pt modelId="{6FCDA72A-C83B-4231-A1A5-463CE18E94CA}" type="pres">
      <dgm:prSet presAssocID="{342F943D-3CCB-4B9D-B9CE-8E9B8951C254}" presName="Name8" presStyleCnt="0"/>
      <dgm:spPr/>
    </dgm:pt>
    <dgm:pt modelId="{A3482CD6-CDC7-4321-BB4F-CA98D061B9A0}" type="pres">
      <dgm:prSet presAssocID="{342F943D-3CCB-4B9D-B9CE-8E9B8951C254}" presName="level" presStyleLbl="node1" presStyleIdx="1" presStyleCnt="5" custLinFactNeighborX="-755" custLinFactNeighborY="-2187">
        <dgm:presLayoutVars>
          <dgm:chMax val="1"/>
          <dgm:bulletEnabled val="1"/>
        </dgm:presLayoutVars>
      </dgm:prSet>
      <dgm:spPr/>
      <dgm:t>
        <a:bodyPr/>
        <a:lstStyle/>
        <a:p>
          <a:endParaRPr lang="en-GB"/>
        </a:p>
      </dgm:t>
    </dgm:pt>
    <dgm:pt modelId="{D0AD1675-DADB-46CB-96EE-19481BBC1FEB}" type="pres">
      <dgm:prSet presAssocID="{342F943D-3CCB-4B9D-B9CE-8E9B8951C254}" presName="levelTx" presStyleLbl="revTx" presStyleIdx="0" presStyleCnt="0">
        <dgm:presLayoutVars>
          <dgm:chMax val="1"/>
          <dgm:bulletEnabled val="1"/>
        </dgm:presLayoutVars>
      </dgm:prSet>
      <dgm:spPr/>
      <dgm:t>
        <a:bodyPr/>
        <a:lstStyle/>
        <a:p>
          <a:endParaRPr lang="en-GB"/>
        </a:p>
      </dgm:t>
    </dgm:pt>
    <dgm:pt modelId="{89F415C0-43A2-4604-AEDD-46C2A2F1FD77}" type="pres">
      <dgm:prSet presAssocID="{846528A5-504A-42A3-AC72-7066761DE9B0}" presName="Name8" presStyleCnt="0"/>
      <dgm:spPr/>
    </dgm:pt>
    <dgm:pt modelId="{6ECB9E01-79C1-4617-96D1-C46C4A6F561C}" type="pres">
      <dgm:prSet presAssocID="{846528A5-504A-42A3-AC72-7066761DE9B0}" presName="level" presStyleLbl="node1" presStyleIdx="2" presStyleCnt="5">
        <dgm:presLayoutVars>
          <dgm:chMax val="1"/>
          <dgm:bulletEnabled val="1"/>
        </dgm:presLayoutVars>
      </dgm:prSet>
      <dgm:spPr/>
      <dgm:t>
        <a:bodyPr/>
        <a:lstStyle/>
        <a:p>
          <a:endParaRPr lang="en-GB"/>
        </a:p>
      </dgm:t>
    </dgm:pt>
    <dgm:pt modelId="{FE746CED-B587-458B-A40B-AB732B35DD89}" type="pres">
      <dgm:prSet presAssocID="{846528A5-504A-42A3-AC72-7066761DE9B0}" presName="levelTx" presStyleLbl="revTx" presStyleIdx="0" presStyleCnt="0">
        <dgm:presLayoutVars>
          <dgm:chMax val="1"/>
          <dgm:bulletEnabled val="1"/>
        </dgm:presLayoutVars>
      </dgm:prSet>
      <dgm:spPr/>
      <dgm:t>
        <a:bodyPr/>
        <a:lstStyle/>
        <a:p>
          <a:endParaRPr lang="en-GB"/>
        </a:p>
      </dgm:t>
    </dgm:pt>
    <dgm:pt modelId="{DDFAAC02-C0F1-4633-974A-E3D6EB5890FD}" type="pres">
      <dgm:prSet presAssocID="{3ED661BE-0AB8-46C4-8F8F-920F8CCAAC1D}" presName="Name8" presStyleCnt="0"/>
      <dgm:spPr/>
    </dgm:pt>
    <dgm:pt modelId="{6013B443-167C-41D8-A946-8920CDA00E01}" type="pres">
      <dgm:prSet presAssocID="{3ED661BE-0AB8-46C4-8F8F-920F8CCAAC1D}" presName="level" presStyleLbl="node1" presStyleIdx="3" presStyleCnt="5">
        <dgm:presLayoutVars>
          <dgm:chMax val="1"/>
          <dgm:bulletEnabled val="1"/>
        </dgm:presLayoutVars>
      </dgm:prSet>
      <dgm:spPr/>
      <dgm:t>
        <a:bodyPr/>
        <a:lstStyle/>
        <a:p>
          <a:endParaRPr lang="en-GB"/>
        </a:p>
      </dgm:t>
    </dgm:pt>
    <dgm:pt modelId="{63B72860-DCE3-4CF5-A35F-D97361B02A38}" type="pres">
      <dgm:prSet presAssocID="{3ED661BE-0AB8-46C4-8F8F-920F8CCAAC1D}" presName="levelTx" presStyleLbl="revTx" presStyleIdx="0" presStyleCnt="0">
        <dgm:presLayoutVars>
          <dgm:chMax val="1"/>
          <dgm:bulletEnabled val="1"/>
        </dgm:presLayoutVars>
      </dgm:prSet>
      <dgm:spPr/>
      <dgm:t>
        <a:bodyPr/>
        <a:lstStyle/>
        <a:p>
          <a:endParaRPr lang="en-GB"/>
        </a:p>
      </dgm:t>
    </dgm:pt>
    <dgm:pt modelId="{27C90421-E0DB-4E82-849B-18186C52DA48}" type="pres">
      <dgm:prSet presAssocID="{476F6E08-B5F1-46C4-B343-2B2A471A8873}" presName="Name8" presStyleCnt="0"/>
      <dgm:spPr/>
    </dgm:pt>
    <dgm:pt modelId="{FC1C1414-7C67-4C4A-B405-26DD890EAB51}" type="pres">
      <dgm:prSet presAssocID="{476F6E08-B5F1-46C4-B343-2B2A471A8873}" presName="level" presStyleLbl="node1" presStyleIdx="4" presStyleCnt="5">
        <dgm:presLayoutVars>
          <dgm:chMax val="1"/>
          <dgm:bulletEnabled val="1"/>
        </dgm:presLayoutVars>
      </dgm:prSet>
      <dgm:spPr/>
      <dgm:t>
        <a:bodyPr/>
        <a:lstStyle/>
        <a:p>
          <a:endParaRPr lang="en-GB"/>
        </a:p>
      </dgm:t>
    </dgm:pt>
    <dgm:pt modelId="{9E31F133-8C82-49B4-8ED0-B0E26BBC3DDF}" type="pres">
      <dgm:prSet presAssocID="{476F6E08-B5F1-46C4-B343-2B2A471A8873}" presName="levelTx" presStyleLbl="revTx" presStyleIdx="0" presStyleCnt="0">
        <dgm:presLayoutVars>
          <dgm:chMax val="1"/>
          <dgm:bulletEnabled val="1"/>
        </dgm:presLayoutVars>
      </dgm:prSet>
      <dgm:spPr/>
      <dgm:t>
        <a:bodyPr/>
        <a:lstStyle/>
        <a:p>
          <a:endParaRPr lang="en-GB"/>
        </a:p>
      </dgm:t>
    </dgm:pt>
  </dgm:ptLst>
  <dgm:cxnLst>
    <dgm:cxn modelId="{A85CE8C7-2BF6-42CE-AB39-E2297E886644}" type="presOf" srcId="{476F6E08-B5F1-46C4-B343-2B2A471A8873}" destId="{9E31F133-8C82-49B4-8ED0-B0E26BBC3DDF}" srcOrd="1" destOrd="0" presId="urn:microsoft.com/office/officeart/2005/8/layout/pyramid1"/>
    <dgm:cxn modelId="{FD78878F-C1BA-4F47-835B-7A9D4BD554C1}" type="presOf" srcId="{EB99FAD1-0D7F-47AF-A25D-2DB7CA131823}" destId="{3A1C08EE-D124-421D-9167-3FFABE489672}" srcOrd="1" destOrd="0" presId="urn:microsoft.com/office/officeart/2005/8/layout/pyramid1"/>
    <dgm:cxn modelId="{2A8D007C-B398-4494-BA6F-F809A2FB982D}" type="presOf" srcId="{342F943D-3CCB-4B9D-B9CE-8E9B8951C254}" destId="{A3482CD6-CDC7-4321-BB4F-CA98D061B9A0}" srcOrd="0" destOrd="0" presId="urn:microsoft.com/office/officeart/2005/8/layout/pyramid1"/>
    <dgm:cxn modelId="{886713F9-6CE5-49CE-860B-7DC05AB25FAA}" type="presOf" srcId="{EB99FAD1-0D7F-47AF-A25D-2DB7CA131823}" destId="{E367D680-ABF5-44F9-85C2-F77A502C6472}" srcOrd="0" destOrd="0" presId="urn:microsoft.com/office/officeart/2005/8/layout/pyramid1"/>
    <dgm:cxn modelId="{6CF6E0FB-7B78-4272-8A30-FDCB55C28A15}" srcId="{A5805954-4E1F-4723-893F-26185710C8B4}" destId="{EB99FAD1-0D7F-47AF-A25D-2DB7CA131823}" srcOrd="0" destOrd="0" parTransId="{AB8D533B-E098-4299-915A-E6EE7F1198F2}" sibTransId="{0E6FE32B-7F57-4A76-A96E-C7981251C4FC}"/>
    <dgm:cxn modelId="{C532A47A-8EC3-47BA-8E31-7461E9471785}" srcId="{A5805954-4E1F-4723-893F-26185710C8B4}" destId="{476F6E08-B5F1-46C4-B343-2B2A471A8873}" srcOrd="4" destOrd="0" parTransId="{A550978E-C757-482E-8A80-F9741057C3FB}" sibTransId="{5A9D321C-E5C4-4596-8BD9-6FF157AEA7F3}"/>
    <dgm:cxn modelId="{1411CC51-6BEA-443A-80F2-1BD7DEEA6364}" type="presOf" srcId="{846528A5-504A-42A3-AC72-7066761DE9B0}" destId="{FE746CED-B587-458B-A40B-AB732B35DD89}" srcOrd="1" destOrd="0" presId="urn:microsoft.com/office/officeart/2005/8/layout/pyramid1"/>
    <dgm:cxn modelId="{EEA29540-C8D0-4737-8A56-FF79611DB2C7}" srcId="{A5805954-4E1F-4723-893F-26185710C8B4}" destId="{846528A5-504A-42A3-AC72-7066761DE9B0}" srcOrd="2" destOrd="0" parTransId="{F32A15A9-D345-48E1-AC7A-9599D3C41F1E}" sibTransId="{5230D842-A1F3-40F4-AA56-6A240108FE82}"/>
    <dgm:cxn modelId="{F748AB18-8ED1-4918-B106-5F88904A9EE5}" type="presOf" srcId="{476F6E08-B5F1-46C4-B343-2B2A471A8873}" destId="{FC1C1414-7C67-4C4A-B405-26DD890EAB51}" srcOrd="0" destOrd="0" presId="urn:microsoft.com/office/officeart/2005/8/layout/pyramid1"/>
    <dgm:cxn modelId="{5FAF6FD4-8500-4553-9393-1508C6590BE0}" type="presOf" srcId="{342F943D-3CCB-4B9D-B9CE-8E9B8951C254}" destId="{D0AD1675-DADB-46CB-96EE-19481BBC1FEB}" srcOrd="1" destOrd="0" presId="urn:microsoft.com/office/officeart/2005/8/layout/pyramid1"/>
    <dgm:cxn modelId="{717EA0BC-1A12-4F83-86BE-B980C263F1DA}" type="presOf" srcId="{3ED661BE-0AB8-46C4-8F8F-920F8CCAAC1D}" destId="{6013B443-167C-41D8-A946-8920CDA00E01}" srcOrd="0" destOrd="0" presId="urn:microsoft.com/office/officeart/2005/8/layout/pyramid1"/>
    <dgm:cxn modelId="{F7C543E8-2280-4417-9CD1-102D49D72811}" type="presOf" srcId="{846528A5-504A-42A3-AC72-7066761DE9B0}" destId="{6ECB9E01-79C1-4617-96D1-C46C4A6F561C}" srcOrd="0" destOrd="0" presId="urn:microsoft.com/office/officeart/2005/8/layout/pyramid1"/>
    <dgm:cxn modelId="{2DC3AE59-4596-4811-A376-013EA793938F}" srcId="{A5805954-4E1F-4723-893F-26185710C8B4}" destId="{342F943D-3CCB-4B9D-B9CE-8E9B8951C254}" srcOrd="1" destOrd="0" parTransId="{261A9E71-B557-427D-A90D-7FEA1FA3E7FF}" sibTransId="{DF95DC0E-1F08-44FB-86DE-0F44EF5C5A8D}"/>
    <dgm:cxn modelId="{FD576E50-641F-4E0E-B081-4B5C3C5561C7}" type="presOf" srcId="{3ED661BE-0AB8-46C4-8F8F-920F8CCAAC1D}" destId="{63B72860-DCE3-4CF5-A35F-D97361B02A38}" srcOrd="1" destOrd="0" presId="urn:microsoft.com/office/officeart/2005/8/layout/pyramid1"/>
    <dgm:cxn modelId="{F759212B-23E5-44CE-9810-6FD46E920BFB}" srcId="{A5805954-4E1F-4723-893F-26185710C8B4}" destId="{3ED661BE-0AB8-46C4-8F8F-920F8CCAAC1D}" srcOrd="3" destOrd="0" parTransId="{E0FEA161-27E8-4532-977E-B6039A73C2E9}" sibTransId="{7E753CA1-7038-438F-865C-12A8B5D9C598}"/>
    <dgm:cxn modelId="{8642676A-500C-4612-8DE8-EB697AED810D}" type="presOf" srcId="{A5805954-4E1F-4723-893F-26185710C8B4}" destId="{344A9CE4-32F2-4486-B1E7-F1B756D6E93A}" srcOrd="0" destOrd="0" presId="urn:microsoft.com/office/officeart/2005/8/layout/pyramid1"/>
    <dgm:cxn modelId="{E8003E38-F1E3-4931-B040-1DE4251D9989}" type="presParOf" srcId="{344A9CE4-32F2-4486-B1E7-F1B756D6E93A}" destId="{ABEE3D2D-8ADA-4252-B7BC-EDD558012541}" srcOrd="0" destOrd="0" presId="urn:microsoft.com/office/officeart/2005/8/layout/pyramid1"/>
    <dgm:cxn modelId="{EE140AD9-7FAF-41B3-A10C-E5C87940CE81}" type="presParOf" srcId="{ABEE3D2D-8ADA-4252-B7BC-EDD558012541}" destId="{E367D680-ABF5-44F9-85C2-F77A502C6472}" srcOrd="0" destOrd="0" presId="urn:microsoft.com/office/officeart/2005/8/layout/pyramid1"/>
    <dgm:cxn modelId="{C337000D-259E-41C7-82AD-156539822D52}" type="presParOf" srcId="{ABEE3D2D-8ADA-4252-B7BC-EDD558012541}" destId="{3A1C08EE-D124-421D-9167-3FFABE489672}" srcOrd="1" destOrd="0" presId="urn:microsoft.com/office/officeart/2005/8/layout/pyramid1"/>
    <dgm:cxn modelId="{878BCC4A-1401-4DB3-B691-548A6D537404}" type="presParOf" srcId="{344A9CE4-32F2-4486-B1E7-F1B756D6E93A}" destId="{6FCDA72A-C83B-4231-A1A5-463CE18E94CA}" srcOrd="1" destOrd="0" presId="urn:microsoft.com/office/officeart/2005/8/layout/pyramid1"/>
    <dgm:cxn modelId="{20B694C9-DDFE-4008-AC02-DFEC11F7A7CE}" type="presParOf" srcId="{6FCDA72A-C83B-4231-A1A5-463CE18E94CA}" destId="{A3482CD6-CDC7-4321-BB4F-CA98D061B9A0}" srcOrd="0" destOrd="0" presId="urn:microsoft.com/office/officeart/2005/8/layout/pyramid1"/>
    <dgm:cxn modelId="{F47D0EF0-6CD5-40EF-AC4D-D0B0E556E913}" type="presParOf" srcId="{6FCDA72A-C83B-4231-A1A5-463CE18E94CA}" destId="{D0AD1675-DADB-46CB-96EE-19481BBC1FEB}" srcOrd="1" destOrd="0" presId="urn:microsoft.com/office/officeart/2005/8/layout/pyramid1"/>
    <dgm:cxn modelId="{94FA375B-7D04-47E2-949B-CF036E553325}" type="presParOf" srcId="{344A9CE4-32F2-4486-B1E7-F1B756D6E93A}" destId="{89F415C0-43A2-4604-AEDD-46C2A2F1FD77}" srcOrd="2" destOrd="0" presId="urn:microsoft.com/office/officeart/2005/8/layout/pyramid1"/>
    <dgm:cxn modelId="{3859CA25-F5DD-4454-BC33-AAE2B32C028C}" type="presParOf" srcId="{89F415C0-43A2-4604-AEDD-46C2A2F1FD77}" destId="{6ECB9E01-79C1-4617-96D1-C46C4A6F561C}" srcOrd="0" destOrd="0" presId="urn:microsoft.com/office/officeart/2005/8/layout/pyramid1"/>
    <dgm:cxn modelId="{37B140FC-612E-48D2-84B1-A31FA3B5835D}" type="presParOf" srcId="{89F415C0-43A2-4604-AEDD-46C2A2F1FD77}" destId="{FE746CED-B587-458B-A40B-AB732B35DD89}" srcOrd="1" destOrd="0" presId="urn:microsoft.com/office/officeart/2005/8/layout/pyramid1"/>
    <dgm:cxn modelId="{DF7C4632-9275-4E8D-8DFD-CD33B1BB43B3}" type="presParOf" srcId="{344A9CE4-32F2-4486-B1E7-F1B756D6E93A}" destId="{DDFAAC02-C0F1-4633-974A-E3D6EB5890FD}" srcOrd="3" destOrd="0" presId="urn:microsoft.com/office/officeart/2005/8/layout/pyramid1"/>
    <dgm:cxn modelId="{FB3D7739-9028-47EC-9A79-F63A2C76BAC5}" type="presParOf" srcId="{DDFAAC02-C0F1-4633-974A-E3D6EB5890FD}" destId="{6013B443-167C-41D8-A946-8920CDA00E01}" srcOrd="0" destOrd="0" presId="urn:microsoft.com/office/officeart/2005/8/layout/pyramid1"/>
    <dgm:cxn modelId="{79B85516-EAD6-4772-A834-5C59AFD075E8}" type="presParOf" srcId="{DDFAAC02-C0F1-4633-974A-E3D6EB5890FD}" destId="{63B72860-DCE3-4CF5-A35F-D97361B02A38}" srcOrd="1" destOrd="0" presId="urn:microsoft.com/office/officeart/2005/8/layout/pyramid1"/>
    <dgm:cxn modelId="{BDA9564F-A7F6-48D2-AFAB-D7C6158CAFE5}" type="presParOf" srcId="{344A9CE4-32F2-4486-B1E7-F1B756D6E93A}" destId="{27C90421-E0DB-4E82-849B-18186C52DA48}" srcOrd="4" destOrd="0" presId="urn:microsoft.com/office/officeart/2005/8/layout/pyramid1"/>
    <dgm:cxn modelId="{775291DF-EDEC-4FEB-A6BF-421A2321DF29}" type="presParOf" srcId="{27C90421-E0DB-4E82-849B-18186C52DA48}" destId="{FC1C1414-7C67-4C4A-B405-26DD890EAB51}" srcOrd="0" destOrd="0" presId="urn:microsoft.com/office/officeart/2005/8/layout/pyramid1"/>
    <dgm:cxn modelId="{EA061D84-2CEE-4CEB-96D5-3F094582E63B}" type="presParOf" srcId="{27C90421-E0DB-4E82-849B-18186C52DA48}" destId="{9E31F133-8C82-49B4-8ED0-B0E26BBC3DD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D680-ABF5-44F9-85C2-F77A502C6472}">
      <dsp:nvSpPr>
        <dsp:cNvPr id="0" name=""/>
        <dsp:cNvSpPr/>
      </dsp:nvSpPr>
      <dsp:spPr>
        <a:xfrm>
          <a:off x="2962656" y="0"/>
          <a:ext cx="1481328" cy="1019833"/>
        </a:xfrm>
        <a:prstGeom prst="trapezoid">
          <a:avLst>
            <a:gd name="adj" fmla="val 72626"/>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GB" sz="1600" kern="1200" dirty="0" smtClean="0"/>
        </a:p>
        <a:p>
          <a:pPr lvl="0" algn="ctr" defTabSz="711200">
            <a:lnSpc>
              <a:spcPct val="100000"/>
            </a:lnSpc>
            <a:spcBef>
              <a:spcPct val="0"/>
            </a:spcBef>
            <a:spcAft>
              <a:spcPts val="0"/>
            </a:spcAft>
          </a:pPr>
          <a:r>
            <a:rPr lang="en-GB" sz="1400" kern="1200" dirty="0" smtClean="0"/>
            <a:t>Self-</a:t>
          </a:r>
        </a:p>
        <a:p>
          <a:pPr lvl="0" algn="ctr" defTabSz="711200">
            <a:lnSpc>
              <a:spcPct val="100000"/>
            </a:lnSpc>
            <a:spcBef>
              <a:spcPct val="0"/>
            </a:spcBef>
            <a:spcAft>
              <a:spcPts val="0"/>
            </a:spcAft>
          </a:pPr>
          <a:r>
            <a:rPr lang="en-GB" sz="1400" kern="1200" dirty="0" smtClean="0"/>
            <a:t>fulfilment </a:t>
          </a:r>
        </a:p>
        <a:p>
          <a:pPr lvl="0" algn="ctr" defTabSz="711200">
            <a:lnSpc>
              <a:spcPct val="100000"/>
            </a:lnSpc>
            <a:spcBef>
              <a:spcPct val="0"/>
            </a:spcBef>
            <a:spcAft>
              <a:spcPts val="0"/>
            </a:spcAft>
          </a:pPr>
          <a:r>
            <a:rPr lang="en-GB" sz="1400" kern="1200" dirty="0" smtClean="0"/>
            <a:t>and actualisation</a:t>
          </a:r>
          <a:endParaRPr lang="en-GB" sz="1400" kern="1200" dirty="0"/>
        </a:p>
      </dsp:txBody>
      <dsp:txXfrm>
        <a:off x="2962656" y="0"/>
        <a:ext cx="1481328" cy="1019833"/>
      </dsp:txXfrm>
    </dsp:sp>
    <dsp:sp modelId="{A3482CD6-CDC7-4321-BB4F-CA98D061B9A0}">
      <dsp:nvSpPr>
        <dsp:cNvPr id="0" name=""/>
        <dsp:cNvSpPr/>
      </dsp:nvSpPr>
      <dsp:spPr>
        <a:xfrm>
          <a:off x="2199623" y="997529"/>
          <a:ext cx="2962656" cy="1019833"/>
        </a:xfrm>
        <a:prstGeom prst="trapezoid">
          <a:avLst>
            <a:gd name="adj" fmla="val 72626"/>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Esteem needs: </a:t>
          </a:r>
        </a:p>
        <a:p>
          <a:pPr lvl="0" algn="ctr" defTabSz="666750">
            <a:lnSpc>
              <a:spcPct val="90000"/>
            </a:lnSpc>
            <a:spcBef>
              <a:spcPct val="0"/>
            </a:spcBef>
            <a:spcAft>
              <a:spcPct val="35000"/>
            </a:spcAft>
          </a:pPr>
          <a:r>
            <a:rPr lang="en-GB" sz="1500" kern="1200" dirty="0" smtClean="0"/>
            <a:t>The “Value” Need. Prestige and feeling of accomplishment</a:t>
          </a:r>
          <a:endParaRPr lang="en-GB" sz="1500" kern="1200" dirty="0"/>
        </a:p>
      </dsp:txBody>
      <dsp:txXfrm>
        <a:off x="2718088" y="997529"/>
        <a:ext cx="1925726" cy="1019833"/>
      </dsp:txXfrm>
    </dsp:sp>
    <dsp:sp modelId="{6ECB9E01-79C1-4617-96D1-C46C4A6F561C}">
      <dsp:nvSpPr>
        <dsp:cNvPr id="0" name=""/>
        <dsp:cNvSpPr/>
      </dsp:nvSpPr>
      <dsp:spPr>
        <a:xfrm>
          <a:off x="1481327" y="2039666"/>
          <a:ext cx="4443984" cy="1019833"/>
        </a:xfrm>
        <a:prstGeom prst="trapezoid">
          <a:avLst>
            <a:gd name="adj" fmla="val 72626"/>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Belongingness and love needs: - intimate relationships, friends</a:t>
          </a:r>
          <a:endParaRPr lang="en-GB" sz="1500" kern="1200" dirty="0"/>
        </a:p>
      </dsp:txBody>
      <dsp:txXfrm>
        <a:off x="2259025" y="2039666"/>
        <a:ext cx="2888589" cy="1019833"/>
      </dsp:txXfrm>
    </dsp:sp>
    <dsp:sp modelId="{6013B443-167C-41D8-A946-8920CDA00E01}">
      <dsp:nvSpPr>
        <dsp:cNvPr id="0" name=""/>
        <dsp:cNvSpPr/>
      </dsp:nvSpPr>
      <dsp:spPr>
        <a:xfrm>
          <a:off x="740663" y="3059499"/>
          <a:ext cx="5925312" cy="1019833"/>
        </a:xfrm>
        <a:prstGeom prst="trapezoid">
          <a:avLst>
            <a:gd name="adj" fmla="val 7262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Safety needs: - Security safety</a:t>
          </a:r>
          <a:endParaRPr lang="en-GB" sz="1500" kern="1200" dirty="0"/>
        </a:p>
      </dsp:txBody>
      <dsp:txXfrm>
        <a:off x="1777593" y="3059499"/>
        <a:ext cx="3851452" cy="1019833"/>
      </dsp:txXfrm>
    </dsp:sp>
    <dsp:sp modelId="{FC1C1414-7C67-4C4A-B405-26DD890EAB51}">
      <dsp:nvSpPr>
        <dsp:cNvPr id="0" name=""/>
        <dsp:cNvSpPr/>
      </dsp:nvSpPr>
      <dsp:spPr>
        <a:xfrm>
          <a:off x="0" y="4079332"/>
          <a:ext cx="7406640" cy="1019833"/>
        </a:xfrm>
        <a:prstGeom prst="trapezoid">
          <a:avLst>
            <a:gd name="adj" fmla="val 72626"/>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GB" sz="1500" kern="1200" dirty="0" smtClean="0"/>
            <a:t>Physiological needs:  - food, water, warmth, rest</a:t>
          </a:r>
          <a:endParaRPr lang="en-GB" sz="1500" kern="1200" dirty="0"/>
        </a:p>
      </dsp:txBody>
      <dsp:txXfrm>
        <a:off x="1296161" y="4079332"/>
        <a:ext cx="4814316" cy="101983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2"/>
            <a:ext cx="2889938" cy="493633"/>
          </a:xfrm>
          <a:prstGeom prst="rect">
            <a:avLst/>
          </a:prstGeom>
        </p:spPr>
        <p:txBody>
          <a:bodyPr vert="horz" lIns="91440" tIns="45720" rIns="91440" bIns="45720" rtlCol="0"/>
          <a:lstStyle>
            <a:lvl1pPr algn="r">
              <a:defRPr sz="1200"/>
            </a:lvl1pPr>
          </a:lstStyle>
          <a:p>
            <a:fld id="{4F6C760A-2CE5-4302-AE86-C5BA6FDB5047}" type="datetimeFigureOut">
              <a:rPr lang="en-GB" smtClean="0"/>
              <a:t>08/07/2019</a:t>
            </a:fld>
            <a:endParaRPr lang="en-GB"/>
          </a:p>
        </p:txBody>
      </p:sp>
      <p:sp>
        <p:nvSpPr>
          <p:cNvPr id="4" name="Footer Placeholder 3"/>
          <p:cNvSpPr>
            <a:spLocks noGrp="1"/>
          </p:cNvSpPr>
          <p:nvPr>
            <p:ph type="ftr" sz="quarter" idx="2"/>
          </p:nvPr>
        </p:nvSpPr>
        <p:spPr>
          <a:xfrm>
            <a:off x="0" y="9377318"/>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8"/>
            <a:ext cx="2889938" cy="493633"/>
          </a:xfrm>
          <a:prstGeom prst="rect">
            <a:avLst/>
          </a:prstGeom>
        </p:spPr>
        <p:txBody>
          <a:bodyPr vert="horz" lIns="91440" tIns="45720" rIns="91440" bIns="45720" rtlCol="0" anchor="b"/>
          <a:lstStyle>
            <a:lvl1pPr algn="r">
              <a:defRPr sz="1200"/>
            </a:lvl1pPr>
          </a:lstStyle>
          <a:p>
            <a:fld id="{A7B771D0-031D-4396-B534-E54D87148D3B}" type="slidenum">
              <a:rPr lang="en-GB" smtClean="0"/>
              <a:t>‹#›</a:t>
            </a:fld>
            <a:endParaRPr lang="en-GB"/>
          </a:p>
        </p:txBody>
      </p:sp>
    </p:spTree>
    <p:extLst>
      <p:ext uri="{BB962C8B-B14F-4D97-AF65-F5344CB8AC3E}">
        <p14:creationId xmlns:p14="http://schemas.microsoft.com/office/powerpoint/2010/main" val="3134409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2"/>
            <a:ext cx="2889938" cy="493633"/>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08/07/2019</a:t>
            </a:fld>
            <a:endParaRPr lang="en-GB"/>
          </a:p>
        </p:txBody>
      </p:sp>
      <p:sp>
        <p:nvSpPr>
          <p:cNvPr id="4" name="Slide Image Placeholder 3"/>
          <p:cNvSpPr>
            <a:spLocks noGrp="1" noRot="1" noChangeAspect="1"/>
          </p:cNvSpPr>
          <p:nvPr>
            <p:ph type="sldImg" idx="2"/>
          </p:nvPr>
        </p:nvSpPr>
        <p:spPr>
          <a:xfrm>
            <a:off x="866775" y="739775"/>
            <a:ext cx="4935538"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8"/>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8"/>
            <a:ext cx="2889938" cy="493633"/>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1836087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138216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smtClean="0"/>
          </a:p>
        </p:txBody>
      </p:sp>
      <p:sp>
        <p:nvSpPr>
          <p:cNvPr id="4" name="Slide Number Placeholder 3"/>
          <p:cNvSpPr>
            <a:spLocks noGrp="1"/>
          </p:cNvSpPr>
          <p:nvPr>
            <p:ph type="sldNum" sz="quarter" idx="10"/>
          </p:nvPr>
        </p:nvSpPr>
        <p:spPr/>
        <p:txBody>
          <a:bodyPr/>
          <a:lstStyle/>
          <a:p>
            <a:fld id="{B7582B9D-753F-4FD4-BB27-488C70B508F1}" type="slidenum">
              <a:rPr lang="en-GB" smtClean="0"/>
              <a:pPr/>
              <a:t>7</a:t>
            </a:fld>
            <a:endParaRPr lang="en-GB"/>
          </a:p>
        </p:txBody>
      </p:sp>
    </p:spTree>
    <p:extLst>
      <p:ext uri="{BB962C8B-B14F-4D97-AF65-F5344CB8AC3E}">
        <p14:creationId xmlns:p14="http://schemas.microsoft.com/office/powerpoint/2010/main" val="274951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958567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extLst>
      <p:ext uri="{BB962C8B-B14F-4D97-AF65-F5344CB8AC3E}">
        <p14:creationId xmlns:p14="http://schemas.microsoft.com/office/powerpoint/2010/main" val="4017148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a:p>
        </p:txBody>
      </p:sp>
    </p:spTree>
    <p:extLst>
      <p:ext uri="{BB962C8B-B14F-4D97-AF65-F5344CB8AC3E}">
        <p14:creationId xmlns:p14="http://schemas.microsoft.com/office/powerpoint/2010/main" val="361057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GB" altLang="en-US" dirty="0" smtClean="0"/>
          </a:p>
        </p:txBody>
      </p:sp>
      <p:sp>
        <p:nvSpPr>
          <p:cNvPr id="4" name="Slide Number Placeholder 3"/>
          <p:cNvSpPr>
            <a:spLocks noGrp="1"/>
          </p:cNvSpPr>
          <p:nvPr>
            <p:ph type="sldNum" sz="quarter" idx="10"/>
          </p:nvPr>
        </p:nvSpPr>
        <p:spPr/>
        <p:txBody>
          <a:bodyPr/>
          <a:lstStyle/>
          <a:p>
            <a:fld id="{B7582B9D-753F-4FD4-BB27-488C70B508F1}" type="slidenum">
              <a:rPr lang="en-GB" smtClean="0"/>
              <a:pPr/>
              <a:t>18</a:t>
            </a:fld>
            <a:endParaRPr lang="en-GB"/>
          </a:p>
        </p:txBody>
      </p:sp>
    </p:spTree>
    <p:extLst>
      <p:ext uri="{BB962C8B-B14F-4D97-AF65-F5344CB8AC3E}">
        <p14:creationId xmlns:p14="http://schemas.microsoft.com/office/powerpoint/2010/main" val="1666194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19</a:t>
            </a:fld>
            <a:endParaRPr lang="en-GB"/>
          </a:p>
        </p:txBody>
      </p:sp>
    </p:spTree>
    <p:extLst>
      <p:ext uri="{BB962C8B-B14F-4D97-AF65-F5344CB8AC3E}">
        <p14:creationId xmlns:p14="http://schemas.microsoft.com/office/powerpoint/2010/main" val="498835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30</a:t>
            </a:fld>
            <a:endParaRPr lang="en-GB"/>
          </a:p>
        </p:txBody>
      </p:sp>
    </p:spTree>
    <p:extLst>
      <p:ext uri="{BB962C8B-B14F-4D97-AF65-F5344CB8AC3E}">
        <p14:creationId xmlns:p14="http://schemas.microsoft.com/office/powerpoint/2010/main" val="2142733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31</a:t>
            </a:fld>
            <a:endParaRPr lang="en-GB"/>
          </a:p>
        </p:txBody>
      </p:sp>
    </p:spTree>
    <p:extLst>
      <p:ext uri="{BB962C8B-B14F-4D97-AF65-F5344CB8AC3E}">
        <p14:creationId xmlns:p14="http://schemas.microsoft.com/office/powerpoint/2010/main" val="4267526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35</a:t>
            </a:fld>
            <a:endParaRPr lang="en-GB"/>
          </a:p>
        </p:txBody>
      </p:sp>
    </p:spTree>
    <p:extLst>
      <p:ext uri="{BB962C8B-B14F-4D97-AF65-F5344CB8AC3E}">
        <p14:creationId xmlns:p14="http://schemas.microsoft.com/office/powerpoint/2010/main" val="1349178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shuts down and detaches from people.  Child develops feelings of not being good enough and withdraws from close relationships, suppresses painful negative memories and fails to acknowledge negative feelings.  They are likely to develop a belief in the need for self-reliance. </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36</a:t>
            </a:fld>
            <a:endParaRPr lang="en-GB"/>
          </a:p>
        </p:txBody>
      </p:sp>
    </p:spTree>
    <p:extLst>
      <p:ext uri="{BB962C8B-B14F-4D97-AF65-F5344CB8AC3E}">
        <p14:creationId xmlns:p14="http://schemas.microsoft.com/office/powerpoint/2010/main" val="1695678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exacerbates their distress due to the belief that they have to magnify their emotions to receive support- they are intermittently rewarded for such behaviour with attention from an attachment figure.  Child craves attachment and they are likely to experience both fear and anger towards others for not providing care. </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39</a:t>
            </a:fld>
            <a:endParaRPr lang="en-GB"/>
          </a:p>
        </p:txBody>
      </p:sp>
    </p:spTree>
    <p:extLst>
      <p:ext uri="{BB962C8B-B14F-4D97-AF65-F5344CB8AC3E}">
        <p14:creationId xmlns:p14="http://schemas.microsoft.com/office/powerpoint/2010/main" val="2284498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Infant has no coherent pattern of behaviour and switches between inhibited and disinhibited behaviour.</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42</a:t>
            </a:fld>
            <a:endParaRPr lang="en-GB"/>
          </a:p>
        </p:txBody>
      </p:sp>
    </p:spTree>
    <p:extLst>
      <p:ext uri="{BB962C8B-B14F-4D97-AF65-F5344CB8AC3E}">
        <p14:creationId xmlns:p14="http://schemas.microsoft.com/office/powerpoint/2010/main" val="3396219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p:spPr>
        <p:txBody>
          <a:bodyPr/>
          <a:lstStyle/>
          <a:p>
            <a:r>
              <a:rPr lang="en-GB" altLang="en-US" dirty="0" smtClean="0"/>
              <a:t>Working with trauma: impact on staff – secondary stress.</a:t>
            </a:r>
          </a:p>
          <a:p>
            <a:endParaRPr lang="en-GB" altLang="en-US" dirty="0" smtClean="0"/>
          </a:p>
          <a:p>
            <a:r>
              <a:rPr lang="en-GB" altLang="en-US" dirty="0" smtClean="0"/>
              <a:t>Feelings that can result: hurt, angry, frustrated, intolerant, anxious, de-skilled.  Projection of feelings onto staff.</a:t>
            </a:r>
          </a:p>
        </p:txBody>
      </p:sp>
      <p:sp>
        <p:nvSpPr>
          <p:cNvPr id="686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C284398-48A1-477E-9B93-C77881CC6BDB}" type="slidenum">
              <a:rPr lang="en-GB" altLang="en-US" smtClean="0"/>
              <a:pPr eaLnBrk="1" hangingPunct="1">
                <a:spcBef>
                  <a:spcPct val="0"/>
                </a:spcBef>
              </a:pPr>
              <a:t>66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p:spPr>
        <p:txBody>
          <a:bodyPr/>
          <a:lstStyle/>
          <a:p>
            <a:endParaRPr lang="en-US" altLang="en-US" smtClean="0"/>
          </a:p>
        </p:txBody>
      </p:sp>
      <p:sp>
        <p:nvSpPr>
          <p:cNvPr id="696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AF9A306-8A6D-4941-AE40-B41D8850862B}" type="slidenum">
              <a:rPr lang="en-GB" altLang="en-US" smtClean="0"/>
              <a:pPr eaLnBrk="1" hangingPunct="1">
                <a:spcBef>
                  <a:spcPct val="0"/>
                </a:spcBef>
              </a:pPr>
              <a:t>70</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71</a:t>
            </a:fld>
            <a:endParaRPr lang="en-GB"/>
          </a:p>
        </p:txBody>
      </p:sp>
    </p:spTree>
    <p:extLst>
      <p:ext uri="{BB962C8B-B14F-4D97-AF65-F5344CB8AC3E}">
        <p14:creationId xmlns:p14="http://schemas.microsoft.com/office/powerpoint/2010/main" val="13759582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7/8/2019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masterworks.files.wordpress.com/2009/05/mother-holding-baby.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992" y="3975873"/>
            <a:ext cx="4772818" cy="2248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1"/>
          <p:cNvSpPr txBox="1">
            <a:spLocks/>
          </p:cNvSpPr>
          <p:nvPr/>
        </p:nvSpPr>
        <p:spPr>
          <a:xfrm>
            <a:off x="2114079" y="1664881"/>
            <a:ext cx="5279897" cy="1139850"/>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altLang="en-US" b="1" dirty="0" smtClean="0">
                <a:latin typeface="Arial" charset="0"/>
                <a:ea typeface="ＭＳ Ｐゴシック" pitchFamily="34" charset="-128"/>
              </a:rPr>
              <a:t>Attachment in Practice</a:t>
            </a:r>
          </a:p>
          <a:p>
            <a:pPr marL="0" indent="0" algn="ctr">
              <a:buFont typeface="Arial"/>
              <a:buNone/>
            </a:pPr>
            <a:r>
              <a:rPr lang="en-US" altLang="en-US" sz="2000" b="1" dirty="0" err="1" smtClean="0">
                <a:latin typeface="Arial" charset="0"/>
                <a:ea typeface="ＭＳ Ｐゴシック" pitchFamily="34" charset="-128"/>
              </a:rPr>
              <a:t>Holyport</a:t>
            </a:r>
            <a:r>
              <a:rPr lang="en-US" altLang="en-US" sz="2000" b="1" dirty="0" smtClean="0">
                <a:latin typeface="Arial" charset="0"/>
                <a:ea typeface="ＭＳ Ｐゴシック" pitchFamily="34" charset="-128"/>
              </a:rPr>
              <a:t> </a:t>
            </a:r>
            <a:r>
              <a:rPr lang="en-US" altLang="en-US" sz="2000" b="1" dirty="0" err="1" smtClean="0">
                <a:latin typeface="Arial" charset="0"/>
                <a:ea typeface="ＭＳ Ｐゴシック" pitchFamily="34" charset="-128"/>
              </a:rPr>
              <a:t>CofE</a:t>
            </a:r>
            <a:r>
              <a:rPr lang="en-US" altLang="en-US" sz="2000" b="1" dirty="0" smtClean="0">
                <a:latin typeface="Arial" charset="0"/>
                <a:ea typeface="ＭＳ Ｐゴシック" pitchFamily="34" charset="-128"/>
              </a:rPr>
              <a:t> Primary School</a:t>
            </a:r>
          </a:p>
          <a:p>
            <a:pPr marL="0" indent="0" algn="ctr">
              <a:buFont typeface="Arial"/>
              <a:buNone/>
            </a:pPr>
            <a:endParaRPr lang="en-GB" altLang="en-US" sz="2000" b="1" dirty="0" smtClean="0">
              <a:latin typeface="Arial" charset="0"/>
              <a:ea typeface="ＭＳ Ｐゴシック" pitchFamily="34" charset="-128"/>
            </a:endParaRPr>
          </a:p>
          <a:p>
            <a:pPr marL="0" indent="0" algn="ctr">
              <a:buFont typeface="Arial"/>
              <a:buNone/>
            </a:pPr>
            <a:r>
              <a:rPr lang="en-GB" altLang="en-US" sz="2000" b="1" dirty="0" smtClean="0">
                <a:latin typeface="Arial" charset="0"/>
                <a:ea typeface="ＭＳ Ｐゴシック" pitchFamily="34" charset="-128"/>
              </a:rPr>
              <a:t>7</a:t>
            </a:r>
            <a:r>
              <a:rPr lang="en-GB" altLang="en-US" sz="2000" b="1" baseline="30000" dirty="0" smtClean="0">
                <a:latin typeface="Arial" charset="0"/>
                <a:ea typeface="ＭＳ Ｐゴシック" pitchFamily="34" charset="-128"/>
              </a:rPr>
              <a:t>th</a:t>
            </a:r>
            <a:r>
              <a:rPr lang="en-GB" altLang="en-US" sz="2000" b="1" dirty="0" smtClean="0">
                <a:latin typeface="Arial" charset="0"/>
                <a:ea typeface="ＭＳ Ｐゴシック" pitchFamily="34" charset="-128"/>
              </a:rPr>
              <a:t> July 2019</a:t>
            </a:r>
            <a:endParaRPr lang="en-US" altLang="en-US" sz="2000" b="1" dirty="0">
              <a:latin typeface="Arial" charset="0"/>
              <a:ea typeface="ＭＳ Ｐゴシック" pitchFamily="34" charset="-128"/>
            </a:endParaRPr>
          </a:p>
        </p:txBody>
      </p:sp>
      <p:sp>
        <p:nvSpPr>
          <p:cNvPr id="6" name="Text Placeholder 2"/>
          <p:cNvSpPr txBox="1">
            <a:spLocks/>
          </p:cNvSpPr>
          <p:nvPr/>
        </p:nvSpPr>
        <p:spPr>
          <a:xfrm>
            <a:off x="2027389" y="2822512"/>
            <a:ext cx="5280025" cy="69532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GB" dirty="0" smtClean="0"/>
              <a:t>Scott I-Patrick</a:t>
            </a:r>
            <a:endParaRPr lang="en-GB" dirty="0"/>
          </a:p>
        </p:txBody>
      </p:sp>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latin typeface="Arial" panose="020B0604020202020204" pitchFamily="34" charset="0"/>
                <a:cs typeface="Arial" panose="020B0604020202020204" pitchFamily="34" charset="0"/>
              </a:rPr>
              <a:t>Training Guidelines</a:t>
            </a:r>
            <a:endParaRPr lang="en-US" altLang="en-US" dirty="0" smtClean="0">
              <a:latin typeface="Arial" panose="020B0604020202020204" pitchFamily="34" charset="0"/>
              <a:cs typeface="Arial" panose="020B0604020202020204" pitchFamily="34" charset="0"/>
            </a:endParaRPr>
          </a:p>
        </p:txBody>
      </p:sp>
      <p:sp>
        <p:nvSpPr>
          <p:cNvPr id="3" name="Content Placeholder 1"/>
          <p:cNvSpPr txBox="1">
            <a:spLocks/>
          </p:cNvSpPr>
          <p:nvPr/>
        </p:nvSpPr>
        <p:spPr>
          <a:xfrm>
            <a:off x="755650" y="183515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z="2000" dirty="0" smtClean="0">
                <a:latin typeface="Arial" panose="020B0604020202020204" pitchFamily="34" charset="0"/>
                <a:cs typeface="Arial" panose="020B0604020202020204" pitchFamily="34" charset="0"/>
              </a:rPr>
              <a:t>This training material may touch on your own emotions and experience.  Please take care of yourself and tend to your own needs</a:t>
            </a:r>
          </a:p>
          <a:p>
            <a:pPr>
              <a:buFont typeface="Arial" panose="020B0604020202020204" pitchFamily="34" charset="0"/>
              <a:buNone/>
              <a:defRPr/>
            </a:pPr>
            <a:endParaRPr lang="en-GB" altLang="en-US" sz="2000" dirty="0" smtClean="0">
              <a:latin typeface="Arial" panose="020B0604020202020204" pitchFamily="34" charset="0"/>
              <a:cs typeface="Arial" panose="020B0604020202020204" pitchFamily="34" charset="0"/>
            </a:endParaRPr>
          </a:p>
          <a:p>
            <a:pPr>
              <a:defRPr/>
            </a:pPr>
            <a:r>
              <a:rPr lang="en-GB" altLang="en-US" sz="2000" dirty="0" smtClean="0">
                <a:latin typeface="Arial" panose="020B0604020202020204" pitchFamily="34" charset="0"/>
                <a:cs typeface="Arial" panose="020B0604020202020204" pitchFamily="34" charset="0"/>
              </a:rPr>
              <a:t>If you would like to raise a case for discussion or questions, please be sensitive to each other’s feelings</a:t>
            </a:r>
          </a:p>
          <a:p>
            <a:pPr marL="0" indent="0">
              <a:buFontTx/>
              <a:buNone/>
              <a:defRPr/>
            </a:pPr>
            <a:endParaRPr lang="en-GB" dirty="0"/>
          </a:p>
        </p:txBody>
      </p:sp>
    </p:spTree>
    <p:extLst>
      <p:ext uri="{BB962C8B-B14F-4D97-AF65-F5344CB8AC3E}">
        <p14:creationId xmlns:p14="http://schemas.microsoft.com/office/powerpoint/2010/main" val="7387989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2166" y="2967335"/>
            <a:ext cx="7515922" cy="1754326"/>
          </a:xfrm>
          <a:prstGeom prst="rect">
            <a:avLst/>
          </a:prstGeom>
        </p:spPr>
        <p:txBody>
          <a:bodyPr wrap="square">
            <a:spAutoFit/>
          </a:bodyPr>
          <a:lstStyle/>
          <a:p>
            <a:r>
              <a:rPr lang="en-GB" sz="3600" dirty="0">
                <a:latin typeface="Arial" panose="020B0604020202020204" pitchFamily="34" charset="0"/>
                <a:cs typeface="Arial" panose="020B0604020202020204" pitchFamily="34" charset="0"/>
              </a:rPr>
              <a:t>Understand and practically address the implications of attachment disorder on behaviour and learning</a:t>
            </a:r>
          </a:p>
        </p:txBody>
      </p:sp>
      <p:sp>
        <p:nvSpPr>
          <p:cNvPr id="3" name="5 CuadroTexto"/>
          <p:cNvSpPr txBox="1">
            <a:spLocks noChangeArrowheads="1"/>
          </p:cNvSpPr>
          <p:nvPr/>
        </p:nvSpPr>
        <p:spPr bwMode="auto">
          <a:xfrm>
            <a:off x="135292" y="758744"/>
            <a:ext cx="883609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Training outcome</a:t>
            </a:r>
            <a:endParaRPr lang="es-ES" sz="3200" dirty="0">
              <a:solidFill>
                <a:schemeClr val="bg1">
                  <a:lumMod val="50000"/>
                </a:schemeClr>
              </a:solidFill>
              <a:latin typeface="Calibri" charset="0"/>
            </a:endParaRPr>
          </a:p>
        </p:txBody>
      </p:sp>
    </p:spTree>
    <p:extLst>
      <p:ext uri="{BB962C8B-B14F-4D97-AF65-F5344CB8AC3E}">
        <p14:creationId xmlns:p14="http://schemas.microsoft.com/office/powerpoint/2010/main" val="3403710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Aims</a:t>
            </a:r>
            <a:endParaRPr lang="es-ES" sz="4400" dirty="0">
              <a:solidFill>
                <a:schemeClr val="bg1">
                  <a:lumMod val="50000"/>
                </a:schemeClr>
              </a:solidFill>
              <a:latin typeface="Calibri" charset="0"/>
            </a:endParaRPr>
          </a:p>
        </p:txBody>
      </p:sp>
      <p:sp>
        <p:nvSpPr>
          <p:cNvPr id="4" name="Rectangle 3"/>
          <p:cNvSpPr/>
          <p:nvPr/>
        </p:nvSpPr>
        <p:spPr>
          <a:xfrm>
            <a:off x="307909" y="1551527"/>
            <a:ext cx="8490857" cy="4247317"/>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challenges to CYP with complex needs in education with attachment as a key influencing factor</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Define attachment disorder &amp; implications for </a:t>
            </a:r>
            <a:r>
              <a:rPr lang="en-GB" altLang="en-US" sz="2000" dirty="0" smtClean="0">
                <a:latin typeface="Arial" panose="020B0604020202020204" pitchFamily="34" charset="0"/>
                <a:cs typeface="Arial" panose="020B0604020202020204" pitchFamily="34" charset="0"/>
              </a:rPr>
              <a:t>learning and </a:t>
            </a:r>
            <a:r>
              <a:rPr lang="en-GB" altLang="en-US" sz="2000" dirty="0">
                <a:latin typeface="Arial" panose="020B0604020202020204" pitchFamily="34" charset="0"/>
                <a:cs typeface="Arial" panose="020B0604020202020204" pitchFamily="34" charset="0"/>
              </a:rPr>
              <a:t>behaviour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practical strategies for teachers &amp; support staff in the school context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Present Solution focussed tools and PACE as key tools and methods of supporting these children</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Consider how you might incorporate some of these strategies into your own school based support systems</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86650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Key fact</a:t>
            </a:r>
            <a:endParaRPr lang="es-ES" sz="4400" dirty="0">
              <a:solidFill>
                <a:schemeClr val="bg1">
                  <a:lumMod val="50000"/>
                </a:schemeClr>
              </a:solidFill>
              <a:latin typeface="Calibri" charset="0"/>
            </a:endParaRPr>
          </a:p>
        </p:txBody>
      </p:sp>
      <p:sp>
        <p:nvSpPr>
          <p:cNvPr id="3" name="Rectangle 2"/>
          <p:cNvSpPr/>
          <p:nvPr/>
        </p:nvSpPr>
        <p:spPr>
          <a:xfrm>
            <a:off x="699795" y="1838130"/>
            <a:ext cx="7725747" cy="2585323"/>
          </a:xfrm>
          <a:prstGeom prst="rect">
            <a:avLst/>
          </a:prstGeom>
        </p:spPr>
        <p:txBody>
          <a:bodyPr wrap="square">
            <a:spAutoFit/>
          </a:bodyPr>
          <a:lstStyle/>
          <a:p>
            <a:pPr indent="-457200">
              <a:buFont typeface="Arial" panose="020B0604020202020204" pitchFamily="34" charset="0"/>
              <a:buChar char="•"/>
            </a:pPr>
            <a:r>
              <a:rPr lang="en-GB" altLang="en-US" sz="2000" b="1" dirty="0">
                <a:latin typeface="Arial" panose="020B0604020202020204" pitchFamily="34" charset="0"/>
                <a:cs typeface="Arial" panose="020B0604020202020204" pitchFamily="34" charset="0"/>
              </a:rPr>
              <a:t>Behaviour has </a:t>
            </a:r>
            <a:r>
              <a:rPr lang="en-GB" altLang="en-US" sz="2000" b="1" dirty="0" smtClean="0">
                <a:latin typeface="Arial" panose="020B0604020202020204" pitchFamily="34" charset="0"/>
                <a:cs typeface="Arial" panose="020B0604020202020204" pitchFamily="34" charset="0"/>
              </a:rPr>
              <a:t>meaning</a:t>
            </a:r>
          </a:p>
          <a:p>
            <a:r>
              <a:rPr lang="en-GB" altLang="en-US" sz="2000" dirty="0" smtClean="0">
                <a:latin typeface="Arial" panose="020B0604020202020204" pitchFamily="34" charset="0"/>
                <a:cs typeface="Arial" panose="020B0604020202020204" pitchFamily="34" charset="0"/>
              </a:rPr>
              <a:t>	Protect </a:t>
            </a:r>
            <a:r>
              <a:rPr lang="en-GB" altLang="en-US" sz="2000" dirty="0">
                <a:latin typeface="Arial" panose="020B0604020202020204" pitchFamily="34" charset="0"/>
                <a:cs typeface="Arial" panose="020B0604020202020204" pitchFamily="34" charset="0"/>
              </a:rPr>
              <a:t>the teacher from being adversely affected by </a:t>
            </a:r>
            <a:r>
              <a:rPr lang="en-GB" altLang="en-US" sz="2000" dirty="0" smtClean="0">
                <a:latin typeface="Arial" panose="020B0604020202020204" pitchFamily="34" charset="0"/>
                <a:cs typeface="Arial" panose="020B0604020202020204" pitchFamily="34" charset="0"/>
              </a:rPr>
              <a:t>pupil’s 	feelings and defence patterns</a:t>
            </a:r>
          </a:p>
          <a:p>
            <a:endParaRPr lang="en-GB" alt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To offer an alternative understanding/explanation of behaviour</a:t>
            </a:r>
          </a:p>
          <a:p>
            <a:r>
              <a:rPr lang="en-GB" altLang="en-US" sz="2000" dirty="0">
                <a:latin typeface="Arial" panose="020B0604020202020204" pitchFamily="34" charset="0"/>
                <a:cs typeface="Arial" panose="020B0604020202020204" pitchFamily="34" charset="0"/>
              </a:rPr>
              <a:t>           </a:t>
            </a:r>
          </a:p>
          <a:p>
            <a:r>
              <a:rPr lang="en-GB" altLang="en-US" sz="2000" dirty="0" smtClean="0">
                <a:latin typeface="Arial" panose="020B0604020202020204" pitchFamily="34" charset="0"/>
                <a:cs typeface="Arial" panose="020B0604020202020204" pitchFamily="34" charset="0"/>
              </a:rPr>
              <a:t>	</a:t>
            </a:r>
            <a:r>
              <a:rPr lang="en-GB" altLang="en-US" dirty="0" smtClean="0">
                <a:latin typeface="Arial" panose="020B0604020202020204" pitchFamily="34" charset="0"/>
                <a:cs typeface="Arial" panose="020B0604020202020204" pitchFamily="34" charset="0"/>
              </a:rPr>
              <a:t>How </a:t>
            </a:r>
            <a:r>
              <a:rPr lang="en-GB" altLang="en-US" dirty="0">
                <a:latin typeface="Arial" panose="020B0604020202020204" pitchFamily="34" charset="0"/>
                <a:cs typeface="Arial" panose="020B0604020202020204" pitchFamily="34" charset="0"/>
              </a:rPr>
              <a:t>early </a:t>
            </a:r>
            <a:r>
              <a:rPr lang="en-GB" altLang="en-US" dirty="0" smtClean="0">
                <a:latin typeface="Arial" panose="020B0604020202020204" pitchFamily="34" charset="0"/>
                <a:cs typeface="Arial" panose="020B0604020202020204" pitchFamily="34" charset="0"/>
              </a:rPr>
              <a:t>                                				Impacts learning and</a:t>
            </a:r>
          </a:p>
          <a:p>
            <a:r>
              <a:rPr lang="en-GB" altLang="en-US" dirty="0" smtClean="0">
                <a:latin typeface="Arial" panose="020B0604020202020204" pitchFamily="34" charset="0"/>
                <a:cs typeface="Arial" panose="020B0604020202020204" pitchFamily="34" charset="0"/>
              </a:rPr>
              <a:t>	attachment                               				cognitive </a:t>
            </a:r>
            <a:r>
              <a:rPr lang="en-GB" altLang="en-US" dirty="0">
                <a:latin typeface="Arial" panose="020B0604020202020204" pitchFamily="34" charset="0"/>
                <a:cs typeface="Arial" panose="020B0604020202020204" pitchFamily="34" charset="0"/>
              </a:rPr>
              <a:t>development</a:t>
            </a:r>
          </a:p>
        </p:txBody>
      </p:sp>
      <p:sp>
        <p:nvSpPr>
          <p:cNvPr id="4" name="Right Arrow 3"/>
          <p:cNvSpPr/>
          <p:nvPr/>
        </p:nvSpPr>
        <p:spPr>
          <a:xfrm>
            <a:off x="3349690" y="3899545"/>
            <a:ext cx="1707502" cy="3545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95616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86565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Definitions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2554545"/>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The term </a:t>
            </a:r>
            <a:r>
              <a:rPr lang="en-GB" altLang="en-US" sz="2000" b="1" dirty="0" smtClean="0">
                <a:latin typeface="Arial" panose="020B0604020202020204" pitchFamily="34" charset="0"/>
                <a:cs typeface="Arial" panose="020B0604020202020204" pitchFamily="34" charset="0"/>
              </a:rPr>
              <a:t>attachments:</a:t>
            </a:r>
          </a:p>
          <a:p>
            <a:pPr marL="285750" indent="-285750">
              <a:buFont typeface="Arial" panose="020B0604020202020204" pitchFamily="34" charset="0"/>
              <a:buChar char="•"/>
            </a:pPr>
            <a:endParaRPr lang="en-GB" altLang="en-US" sz="2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Used </a:t>
            </a:r>
            <a:r>
              <a:rPr lang="en-GB" altLang="en-US" sz="2000" dirty="0">
                <a:latin typeface="Arial" panose="020B0604020202020204" pitchFamily="34" charset="0"/>
                <a:cs typeface="Arial" panose="020B0604020202020204" pitchFamily="34" charset="0"/>
              </a:rPr>
              <a:t>to describe the </a:t>
            </a:r>
            <a:r>
              <a:rPr lang="en-GB" altLang="en-US" sz="2000" b="1" dirty="0">
                <a:latin typeface="Arial" panose="020B0604020202020204" pitchFamily="34" charset="0"/>
                <a:cs typeface="Arial" panose="020B0604020202020204" pitchFamily="34" charset="0"/>
              </a:rPr>
              <a:t>process of bonding </a:t>
            </a:r>
            <a:r>
              <a:rPr lang="en-GB" altLang="en-US" sz="2000" dirty="0">
                <a:latin typeface="Arial" panose="020B0604020202020204" pitchFamily="34" charset="0"/>
                <a:cs typeface="Arial" panose="020B0604020202020204" pitchFamily="34" charset="0"/>
              </a:rPr>
              <a:t>that takes place between infants and caregivers in the </a:t>
            </a:r>
            <a:r>
              <a:rPr lang="en-GB" altLang="en-US" sz="2000" b="1" dirty="0">
                <a:latin typeface="Arial" panose="020B0604020202020204" pitchFamily="34" charset="0"/>
                <a:cs typeface="Arial" panose="020B0604020202020204" pitchFamily="34" charset="0"/>
              </a:rPr>
              <a:t>first two years of life</a:t>
            </a:r>
            <a:r>
              <a:rPr lang="en-GB" altLang="en-US" sz="2000" dirty="0">
                <a:latin typeface="Arial" panose="020B0604020202020204" pitchFamily="34" charset="0"/>
                <a:cs typeface="Arial" panose="020B0604020202020204" pitchFamily="34" charset="0"/>
              </a:rPr>
              <a:t>, and most </a:t>
            </a:r>
            <a:r>
              <a:rPr lang="en-GB" altLang="en-US" sz="2000" dirty="0" smtClean="0">
                <a:latin typeface="Arial" panose="020B0604020202020204" pitchFamily="34" charset="0"/>
                <a:cs typeface="Arial" panose="020B0604020202020204" pitchFamily="34" charset="0"/>
              </a:rPr>
              <a:t>importantly, </a:t>
            </a:r>
            <a:r>
              <a:rPr lang="en-GB" altLang="en-US" sz="2000" dirty="0">
                <a:latin typeface="Arial" panose="020B0604020202020204" pitchFamily="34" charset="0"/>
                <a:cs typeface="Arial" panose="020B0604020202020204" pitchFamily="34" charset="0"/>
              </a:rPr>
              <a:t>the first nine months of life. </a:t>
            </a:r>
            <a:endParaRPr lang="en-GB" altLang="en-US" sz="2000" dirty="0" smtClean="0">
              <a:latin typeface="Arial" panose="020B0604020202020204" pitchFamily="34" charset="0"/>
              <a:cs typeface="Arial" panose="020B0604020202020204" pitchFamily="34" charset="0"/>
            </a:endParaRPr>
          </a:p>
          <a:p>
            <a:endParaRPr lang="en-GB" altLang="en-US" sz="20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smtClean="0">
                <a:latin typeface="Arial" panose="020B0604020202020204" pitchFamily="34" charset="0"/>
                <a:cs typeface="Arial" panose="020B0604020202020204" pitchFamily="34" charset="0"/>
              </a:rPr>
              <a:t>…A bond that ties. It is the bond that ties the mother and baby together.</a:t>
            </a:r>
          </a:p>
          <a:p>
            <a:pPr algn="r"/>
            <a:r>
              <a:rPr lang="en-GB" altLang="en-US" sz="2000" dirty="0" smtClean="0">
                <a:latin typeface="Arial" panose="020B0604020202020204" pitchFamily="34" charset="0"/>
                <a:cs typeface="Arial" panose="020B0604020202020204" pitchFamily="34" charset="0"/>
              </a:rPr>
              <a:t>John Bowlby.  </a:t>
            </a:r>
            <a:endParaRPr lang="en-US" altLang="en-US" sz="2000" dirty="0">
              <a:latin typeface="Arial" panose="020B0604020202020204" pitchFamily="34" charset="0"/>
              <a:cs typeface="Arial" panose="020B0604020202020204" pitchFamily="34" charset="0"/>
            </a:endParaRPr>
          </a:p>
        </p:txBody>
      </p:sp>
      <p:pic>
        <p:nvPicPr>
          <p:cNvPr id="4" name="Picture 4" descr="C:\Users\ggc247\AppData\Local\Microsoft\Windows\Temporary Internet Files\Content.IE5\V0UHAFSG\Parent-and-Child-holding-hands-icon-3343-larg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024" y="4641010"/>
            <a:ext cx="2141882" cy="2052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5073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0880" y="1194287"/>
            <a:ext cx="7772400" cy="1015663"/>
          </a:xfrm>
          <a:prstGeom prst="rect">
            <a:avLst/>
          </a:prstGeom>
        </p:spPr>
        <p:txBody>
          <a:bodyPr wrap="square">
            <a:spAutoFit/>
          </a:bodyPr>
          <a:lstStyle/>
          <a:p>
            <a:pPr>
              <a:spcBef>
                <a:spcPct val="50000"/>
              </a:spcBef>
            </a:pPr>
            <a:r>
              <a:rPr lang="en-GB" altLang="en-US" sz="2000" dirty="0" smtClean="0">
                <a:latin typeface="Arial" panose="020B0604020202020204" pitchFamily="34" charset="0"/>
                <a:cs typeface="Arial" panose="020B0604020202020204" pitchFamily="34" charset="0"/>
              </a:rPr>
              <a:t>Winnicott felt </a:t>
            </a:r>
            <a:r>
              <a:rPr lang="en-GB" altLang="en-US" sz="2000" dirty="0">
                <a:latin typeface="Arial" panose="020B0604020202020204" pitchFamily="34" charset="0"/>
                <a:cs typeface="Arial" panose="020B0604020202020204" pitchFamily="34" charset="0"/>
              </a:rPr>
              <a:t>that a good-enough mother allows </a:t>
            </a:r>
            <a:r>
              <a:rPr lang="en-GB" altLang="en-US" sz="2000" dirty="0" smtClean="0">
                <a:latin typeface="Arial" panose="020B0604020202020204" pitchFamily="34" charset="0"/>
                <a:cs typeface="Arial" panose="020B0604020202020204" pitchFamily="34" charset="0"/>
              </a:rPr>
              <a:t>herself to </a:t>
            </a:r>
            <a:r>
              <a:rPr lang="en-GB" altLang="en-US" sz="2000" dirty="0">
                <a:latin typeface="Arial" panose="020B0604020202020204" pitchFamily="34" charset="0"/>
                <a:cs typeface="Arial" panose="020B0604020202020204" pitchFamily="34" charset="0"/>
              </a:rPr>
              <a:t>be used by the infant so that he or she may develop a healthy sense of omnipotence</a:t>
            </a:r>
            <a:endParaRPr lang="en-US" altLang="en-US" sz="2000" dirty="0">
              <a:latin typeface="Arial" panose="020B0604020202020204" pitchFamily="34" charset="0"/>
              <a:cs typeface="Arial" panose="020B0604020202020204" pitchFamily="34" charset="0"/>
            </a:endParaRPr>
          </a:p>
        </p:txBody>
      </p:sp>
      <p:pic>
        <p:nvPicPr>
          <p:cNvPr id="3" name="Picture 8" descr="1574R-04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395425"/>
            <a:ext cx="32400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5232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399245" y="702163"/>
            <a:ext cx="8332632"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Maslow’s “Hierarchy of </a:t>
            </a:r>
            <a:r>
              <a:rPr lang="en-GB" sz="2800" dirty="0" smtClean="0"/>
              <a:t>Need”1954 </a:t>
            </a:r>
            <a:r>
              <a:rPr lang="en-GB" sz="2800" dirty="0"/>
              <a:t>“Motivation and Personality”</a:t>
            </a:r>
            <a:endParaRPr lang="es-ES" sz="2800" dirty="0">
              <a:solidFill>
                <a:schemeClr val="bg1">
                  <a:lumMod val="50000"/>
                </a:schemeClr>
              </a:solidFill>
              <a:latin typeface="Calibri" charset="0"/>
            </a:endParaRPr>
          </a:p>
        </p:txBody>
      </p:sp>
      <p:graphicFrame>
        <p:nvGraphicFramePr>
          <p:cNvPr id="3" name="Diagram 2"/>
          <p:cNvGraphicFramePr/>
          <p:nvPr>
            <p:extLst>
              <p:ext uri="{D42A27DB-BD31-4B8C-83A1-F6EECF244321}">
                <p14:modId xmlns:p14="http://schemas.microsoft.com/office/powerpoint/2010/main" val="2263235652"/>
              </p:ext>
            </p:extLst>
          </p:nvPr>
        </p:nvGraphicFramePr>
        <p:xfrm>
          <a:off x="868680" y="1657234"/>
          <a:ext cx="7406640" cy="50991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85638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CuadroTexto"/>
          <p:cNvSpPr txBox="1">
            <a:spLocks noChangeArrowheads="1"/>
          </p:cNvSpPr>
          <p:nvPr/>
        </p:nvSpPr>
        <p:spPr bwMode="auto">
          <a:xfrm>
            <a:off x="135292" y="758744"/>
            <a:ext cx="8836090" cy="12618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The Attachment </a:t>
            </a:r>
            <a:r>
              <a:rPr lang="en-GB" sz="4000" dirty="0" smtClean="0"/>
              <a:t>Process </a:t>
            </a:r>
            <a:r>
              <a:rPr lang="en-GB" sz="4400" dirty="0" smtClean="0"/>
              <a:t>– </a:t>
            </a:r>
            <a:r>
              <a:rPr lang="en-GB" sz="3200" dirty="0" smtClean="0"/>
              <a:t>Positive and Negative dimensions of caregiving</a:t>
            </a:r>
            <a:endParaRPr lang="es-ES" sz="3200" dirty="0">
              <a:solidFill>
                <a:schemeClr val="bg1">
                  <a:lumMod val="50000"/>
                </a:schemeClr>
              </a:solidFill>
              <a:latin typeface="Calibri" charset="0"/>
            </a:endParaRPr>
          </a:p>
        </p:txBody>
      </p:sp>
      <p:sp>
        <p:nvSpPr>
          <p:cNvPr id="5" name="Rectangle 10"/>
          <p:cNvSpPr txBox="1">
            <a:spLocks noChangeArrowheads="1"/>
          </p:cNvSpPr>
          <p:nvPr/>
        </p:nvSpPr>
        <p:spPr>
          <a:xfrm>
            <a:off x="611188" y="2613598"/>
            <a:ext cx="4942119"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en-US" dirty="0" smtClean="0">
                <a:latin typeface="+mj-lt"/>
                <a:cs typeface="Arial" panose="020B0604020202020204" pitchFamily="34" charset="0"/>
              </a:rPr>
              <a:t>Positive and negative dimensions of care giving Attachment theory outlines how the internal life of a child is </a:t>
            </a:r>
            <a:r>
              <a:rPr lang="en-US" altLang="en-US" dirty="0" err="1" smtClean="0">
                <a:latin typeface="+mj-lt"/>
                <a:cs typeface="Arial" panose="020B0604020202020204" pitchFamily="34" charset="0"/>
              </a:rPr>
              <a:t>organised</a:t>
            </a:r>
            <a:r>
              <a:rPr lang="en-US" altLang="en-US" dirty="0" smtClean="0">
                <a:latin typeface="+mj-lt"/>
                <a:cs typeface="Arial" panose="020B0604020202020204" pitchFamily="34" charset="0"/>
              </a:rPr>
              <a:t> around the early experiences of caregiving received  </a:t>
            </a:r>
          </a:p>
        </p:txBody>
      </p:sp>
      <p:pic>
        <p:nvPicPr>
          <p:cNvPr id="6" name="Picture 8" descr="See full size image">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465" y="2884008"/>
            <a:ext cx="2663825" cy="317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36837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73543627"/>
              </p:ext>
            </p:extLst>
          </p:nvPr>
        </p:nvGraphicFramePr>
        <p:xfrm>
          <a:off x="719138" y="1773238"/>
          <a:ext cx="7359650" cy="3948139"/>
        </p:xfrm>
        <a:graphic>
          <a:graphicData uri="http://schemas.openxmlformats.org/drawingml/2006/table">
            <a:tbl>
              <a:tblPr firstRow="1" firstCol="1" lastRow="1" lastCol="1" bandRow="1" bandCol="1">
                <a:tableStyleId>{5C22544A-7EE6-4342-B048-85BDC9FD1C3A}</a:tableStyleId>
              </a:tblPr>
              <a:tblGrid>
                <a:gridCol w="3816139">
                  <a:extLst>
                    <a:ext uri="{9D8B030D-6E8A-4147-A177-3AD203B41FA5}">
                      <a16:colId xmlns:a16="http://schemas.microsoft.com/office/drawing/2014/main" val="20000"/>
                    </a:ext>
                  </a:extLst>
                </a:gridCol>
                <a:gridCol w="3543511">
                  <a:extLst>
                    <a:ext uri="{9D8B030D-6E8A-4147-A177-3AD203B41FA5}">
                      <a16:colId xmlns:a16="http://schemas.microsoft.com/office/drawing/2014/main" val="20001"/>
                    </a:ext>
                  </a:extLst>
                </a:gridCol>
              </a:tblGrid>
              <a:tr h="240274">
                <a:tc>
                  <a:txBody>
                    <a:bodyPr/>
                    <a:lstStyle/>
                    <a:p>
                      <a:pPr algn="ctr">
                        <a:spcAft>
                          <a:spcPts val="0"/>
                        </a:spcAft>
                      </a:pPr>
                      <a:r>
                        <a:rPr lang="en-US" sz="1400" dirty="0">
                          <a:effectLst/>
                          <a:latin typeface="Arial" panose="020B0604020202020204" pitchFamily="34" charset="0"/>
                          <a:cs typeface="Arial" panose="020B0604020202020204" pitchFamily="34" charset="0"/>
                        </a:rPr>
                        <a:t>Positive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lgn="ctr">
                        <a:spcAft>
                          <a:spcPts val="0"/>
                        </a:spcAft>
                      </a:pPr>
                      <a:r>
                        <a:rPr lang="en-US" sz="1400">
                          <a:effectLst/>
                          <a:latin typeface="Arial" panose="020B0604020202020204" pitchFamily="34" charset="0"/>
                          <a:cs typeface="Arial" panose="020B0604020202020204" pitchFamily="34" charset="0"/>
                        </a:rPr>
                        <a:t>Negative</a:t>
                      </a:r>
                      <a:endParaRPr lang="en-GB" sz="140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0"/>
                  </a:ext>
                </a:extLst>
              </a:tr>
              <a:tr h="720825">
                <a:tc>
                  <a:txBody>
                    <a:bodyPr/>
                    <a:lstStyle/>
                    <a:p>
                      <a:pPr>
                        <a:spcAft>
                          <a:spcPts val="0"/>
                        </a:spcAft>
                      </a:pPr>
                      <a:r>
                        <a:rPr lang="en-US" sz="1400" dirty="0">
                          <a:effectLst/>
                          <a:latin typeface="Arial" panose="020B0604020202020204" pitchFamily="34" charset="0"/>
                          <a:cs typeface="Arial" panose="020B0604020202020204" pitchFamily="34" charset="0"/>
                        </a:rPr>
                        <a:t>Sensitivity - mother recognises baby’s needs and responds appropriately to his signals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Insensitivity </a:t>
                      </a:r>
                      <a:r>
                        <a:rPr lang="en-US" sz="1400" dirty="0" smtClean="0">
                          <a:effectLst/>
                          <a:latin typeface="Arial" panose="020B0604020202020204" pitchFamily="34" charset="0"/>
                          <a:cs typeface="Arial" panose="020B0604020202020204" pitchFamily="34" charset="0"/>
                        </a:rPr>
                        <a:t>- mother </a:t>
                      </a:r>
                      <a:r>
                        <a:rPr lang="en-US" sz="1400" dirty="0">
                          <a:effectLst/>
                          <a:latin typeface="Arial" panose="020B0604020202020204" pitchFamily="34" charset="0"/>
                          <a:cs typeface="Arial" panose="020B0604020202020204" pitchFamily="34" charset="0"/>
                        </a:rPr>
                        <a:t>fails to </a:t>
                      </a:r>
                      <a:r>
                        <a:rPr lang="en-US" sz="1400" dirty="0" smtClean="0">
                          <a:effectLst/>
                          <a:latin typeface="Arial" panose="020B0604020202020204" pitchFamily="34" charset="0"/>
                          <a:cs typeface="Arial" panose="020B0604020202020204" pitchFamily="34" charset="0"/>
                        </a:rPr>
                        <a:t>read </a:t>
                      </a:r>
                      <a:r>
                        <a:rPr lang="en-US" sz="1400" dirty="0">
                          <a:effectLst/>
                          <a:latin typeface="Arial" panose="020B0604020202020204" pitchFamily="34" charset="0"/>
                          <a:cs typeface="Arial" panose="020B0604020202020204" pitchFamily="34" charset="0"/>
                        </a:rPr>
                        <a:t>baby’s signals and interacts according to her own needs and wants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1"/>
                  </a:ext>
                </a:extLst>
              </a:tr>
              <a:tr h="1280149">
                <a:tc>
                  <a:txBody>
                    <a:bodyPr/>
                    <a:lstStyle/>
                    <a:p>
                      <a:pPr>
                        <a:spcAft>
                          <a:spcPts val="0"/>
                        </a:spcAft>
                      </a:pPr>
                      <a:r>
                        <a:rPr lang="en-US" sz="1400" dirty="0">
                          <a:effectLst/>
                          <a:latin typeface="Arial" panose="020B0604020202020204" pitchFamily="34" charset="0"/>
                          <a:cs typeface="Arial" panose="020B0604020202020204" pitchFamily="34" charset="0"/>
                        </a:rPr>
                        <a:t>Acceptance – mother accepts her responsibilities, responds to baby’s needs, and acknowledges that parenthood involves constraints on her lifestyle and </a:t>
                      </a:r>
                      <a:r>
                        <a:rPr lang="en-US" sz="1400" dirty="0" err="1">
                          <a:effectLst/>
                          <a:latin typeface="Arial" panose="020B0604020202020204" pitchFamily="34" charset="0"/>
                          <a:cs typeface="Arial" panose="020B0604020202020204" pitchFamily="34" charset="0"/>
                        </a:rPr>
                        <a:t>behaviour</a:t>
                      </a:r>
                      <a:r>
                        <a:rPr lang="en-US" sz="1400" dirty="0">
                          <a:effectLst/>
                          <a:latin typeface="Arial" panose="020B0604020202020204" pitchFamily="34" charset="0"/>
                          <a:cs typeface="Arial" panose="020B0604020202020204" pitchFamily="34" charset="0"/>
                        </a:rPr>
                        <a:t>.  She accepts her baby regardless of his mood.</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Rejection – mother resents the emotional demands made on her by baby, and rejects the baby.  She may feel guilty about this and become irritable with baby’s refusal to be satisfied and responsive to her.</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2"/>
                  </a:ext>
                </a:extLst>
              </a:tr>
              <a:tr h="1066791">
                <a:tc>
                  <a:txBody>
                    <a:bodyPr/>
                    <a:lstStyle/>
                    <a:p>
                      <a:pPr>
                        <a:spcAft>
                          <a:spcPts val="0"/>
                        </a:spcAft>
                      </a:pPr>
                      <a:r>
                        <a:rPr lang="en-US" sz="1400" dirty="0">
                          <a:effectLst/>
                          <a:latin typeface="Arial" panose="020B0604020202020204" pitchFamily="34" charset="0"/>
                          <a:cs typeface="Arial" panose="020B0604020202020204" pitchFamily="34" charset="0"/>
                        </a:rPr>
                        <a:t>Cooperation – mother recognises, supports and respects her baby’s autonomy and appears to ‘co-operate’ with his needs and accomplishments.</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Interference – mother does not </a:t>
                      </a:r>
                      <a:r>
                        <a:rPr lang="en-US" sz="1400" dirty="0" err="1">
                          <a:effectLst/>
                          <a:latin typeface="Arial" panose="020B0604020202020204" pitchFamily="34" charset="0"/>
                          <a:cs typeface="Arial" panose="020B0604020202020204" pitchFamily="34" charset="0"/>
                        </a:rPr>
                        <a:t>recognise</a:t>
                      </a:r>
                      <a:r>
                        <a:rPr lang="en-US" sz="1400" dirty="0">
                          <a:effectLst/>
                          <a:latin typeface="Arial" panose="020B0604020202020204" pitchFamily="34" charset="0"/>
                          <a:cs typeface="Arial" panose="020B0604020202020204" pitchFamily="34" charset="0"/>
                        </a:rPr>
                        <a:t> or respect baby’s independence and seeks to define his experience.  Mother is often abrupt, impatient and aggressive.</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3"/>
                  </a:ext>
                </a:extLst>
              </a:tr>
              <a:tr h="640074">
                <a:tc>
                  <a:txBody>
                    <a:bodyPr/>
                    <a:lstStyle/>
                    <a:p>
                      <a:pPr>
                        <a:spcAft>
                          <a:spcPts val="0"/>
                        </a:spcAft>
                      </a:pPr>
                      <a:r>
                        <a:rPr lang="en-US" sz="1400" dirty="0">
                          <a:effectLst/>
                          <a:latin typeface="Arial" panose="020B0604020202020204" pitchFamily="34" charset="0"/>
                          <a:cs typeface="Arial" panose="020B0604020202020204" pitchFamily="34" charset="0"/>
                        </a:rPr>
                        <a:t>Accessibility – mother is physically and emotionally available and accessible to baby</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tc>
                  <a:txBody>
                    <a:bodyPr/>
                    <a:lstStyle/>
                    <a:p>
                      <a:pPr>
                        <a:spcAft>
                          <a:spcPts val="0"/>
                        </a:spcAft>
                      </a:pPr>
                      <a:r>
                        <a:rPr lang="en-US" sz="1400" dirty="0">
                          <a:effectLst/>
                          <a:latin typeface="Arial" panose="020B0604020202020204" pitchFamily="34" charset="0"/>
                          <a:cs typeface="Arial" panose="020B0604020202020204" pitchFamily="34" charset="0"/>
                        </a:rPr>
                        <a:t>Ignoring – mother is either physically or emotionally unavailable and with-holding</a:t>
                      </a:r>
                      <a:endParaRPr lang="en-GB" sz="1400" dirty="0">
                        <a:effectLst/>
                        <a:latin typeface="Arial" panose="020B0604020202020204" pitchFamily="34" charset="0"/>
                        <a:ea typeface="Times New Roman"/>
                        <a:cs typeface="Arial" panose="020B0604020202020204" pitchFamily="34" charset="0"/>
                      </a:endParaRPr>
                    </a:p>
                  </a:txBody>
                  <a:tcPr marL="68575" marR="68575"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498528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600" dirty="0" smtClean="0">
                <a:latin typeface="Arial" panose="020B0604020202020204" pitchFamily="34" charset="0"/>
                <a:cs typeface="Arial" panose="020B0604020202020204" pitchFamily="34" charset="0"/>
              </a:rPr>
              <a:t>Positive dimension </a:t>
            </a:r>
            <a:endParaRPr lang="en-US" altLang="en-US" sz="3600" dirty="0" smtClean="0">
              <a:latin typeface="Arial" panose="020B0604020202020204" pitchFamily="34" charset="0"/>
              <a:cs typeface="Arial" panose="020B0604020202020204" pitchFamily="34" charset="0"/>
            </a:endParaRPr>
          </a:p>
        </p:txBody>
      </p:sp>
      <p:sp>
        <p:nvSpPr>
          <p:cNvPr id="3" name="Content Placeholder 9"/>
          <p:cNvSpPr txBox="1">
            <a:spLocks/>
          </p:cNvSpPr>
          <p:nvPr/>
        </p:nvSpPr>
        <p:spPr>
          <a:xfrm>
            <a:off x="755650" y="1725613"/>
            <a:ext cx="2520950" cy="46561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1200" dirty="0" smtClean="0">
                <a:latin typeface="Arial" panose="020B0604020202020204" pitchFamily="34" charset="0"/>
                <a:cs typeface="Arial" panose="020B0604020202020204" pitchFamily="34" charset="0"/>
              </a:rPr>
              <a:t>I feed, nourish and nurture you with my whole self</a:t>
            </a:r>
          </a:p>
          <a:p>
            <a:r>
              <a:rPr lang="en-GB" altLang="en-US" sz="1200" dirty="0" smtClean="0">
                <a:latin typeface="Arial" panose="020B0604020202020204" pitchFamily="34" charset="0"/>
                <a:cs typeface="Arial" panose="020B0604020202020204" pitchFamily="34" charset="0"/>
              </a:rPr>
              <a:t>CONTAINMENT: I hold your whole being in mine and reflect your experience back to you in manageable doses whilst soothing you</a:t>
            </a:r>
          </a:p>
          <a:p>
            <a:r>
              <a:rPr lang="en-GB" altLang="en-US" sz="1200" dirty="0" smtClean="0">
                <a:latin typeface="Arial" panose="020B0604020202020204" pitchFamily="34" charset="0"/>
                <a:cs typeface="Arial" panose="020B0604020202020204" pitchFamily="34" charset="0"/>
              </a:rPr>
              <a:t>ATTUNEMENT:  I tune in to what you are feeling so I can meet your every need.</a:t>
            </a:r>
          </a:p>
          <a:p>
            <a:r>
              <a:rPr lang="en-GB" altLang="en-US" sz="1200" dirty="0" smtClean="0">
                <a:latin typeface="Arial" panose="020B0604020202020204" pitchFamily="34" charset="0"/>
                <a:cs typeface="Arial" panose="020B0604020202020204" pitchFamily="34" charset="0"/>
              </a:rPr>
              <a:t>REGULATION: My physiology matches yours and calms you.  I use my tone of voice and my person to calm you.</a:t>
            </a:r>
          </a:p>
          <a:p>
            <a:r>
              <a:rPr lang="en-GB" altLang="en-US" sz="1200" dirty="0" smtClean="0">
                <a:latin typeface="Arial" panose="020B0604020202020204" pitchFamily="34" charset="0"/>
                <a:cs typeface="Arial" panose="020B0604020202020204" pitchFamily="34" charset="0"/>
              </a:rPr>
              <a:t>TOLERATION:  I help you to tolerate your feelings and sensations.</a:t>
            </a:r>
          </a:p>
          <a:p>
            <a:r>
              <a:rPr lang="en-GB" altLang="en-US" sz="1200" dirty="0" smtClean="0">
                <a:latin typeface="Arial" panose="020B0604020202020204" pitchFamily="34" charset="0"/>
                <a:cs typeface="Arial" panose="020B0604020202020204" pitchFamily="34" charset="0"/>
              </a:rPr>
              <a:t>SAFETY:  I keep you safe from harm and protect you from any impingement on your growing self so that you know you are a whole and beautiful human being.</a:t>
            </a:r>
          </a:p>
          <a:p>
            <a:pPr>
              <a:buFontTx/>
              <a:buNone/>
            </a:pPr>
            <a:endParaRPr lang="en-GB" altLang="en-US" sz="1200" dirty="0" smtClean="0">
              <a:solidFill>
                <a:srgbClr val="FF0000"/>
              </a:solidFill>
            </a:endParaRPr>
          </a:p>
          <a:p>
            <a:endParaRPr lang="en-US" altLang="en-US" sz="1200" dirty="0" smtClean="0">
              <a:solidFill>
                <a:srgbClr val="FF0000"/>
              </a:solidFill>
            </a:endParaRPr>
          </a:p>
        </p:txBody>
      </p:sp>
      <p:pic>
        <p:nvPicPr>
          <p:cNvPr id="4" name="Picture 4" descr="https://encrypted-tbn3.gstatic.com/images?q=tbn:ANd9GcS-WtbBJPNeTILc6lWM_ZLkJG8n2HHf1k9Q43EnhabUoKenZCko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5038" y="2276475"/>
            <a:ext cx="2238375"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10"/>
          <p:cNvSpPr txBox="1">
            <a:spLocks/>
          </p:cNvSpPr>
          <p:nvPr/>
        </p:nvSpPr>
        <p:spPr bwMode="auto">
          <a:xfrm>
            <a:off x="5713413" y="1547197"/>
            <a:ext cx="296227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GB" altLang="en-US" sz="1100" dirty="0">
                <a:solidFill>
                  <a:srgbClr val="FF0000"/>
                </a:solidFill>
                <a:latin typeface="Arial" panose="020B0604020202020204" pitchFamily="34" charset="0"/>
                <a:cs typeface="Arial" panose="020B0604020202020204" pitchFamily="34" charset="0"/>
              </a:rPr>
              <a:t>Every interaction between us is helping me to organise my experiences of the world so I can build a model of how to relate to everyone and everything outside of me.</a:t>
            </a:r>
          </a:p>
          <a:p>
            <a:pPr eaLnBrk="1" hangingPunct="1"/>
            <a:r>
              <a:rPr lang="en-GB" altLang="en-US" sz="1100" dirty="0">
                <a:solidFill>
                  <a:srgbClr val="FF0000"/>
                </a:solidFill>
                <a:latin typeface="Arial" panose="020B0604020202020204" pitchFamily="34" charset="0"/>
                <a:cs typeface="Arial" panose="020B0604020202020204" pitchFamily="34" charset="0"/>
              </a:rPr>
              <a:t>SENSE OF SELF: I feel completely connected to you and don’t know where I start or end.  You help me to understand I am a separate human being who exists continuously through time.  I see in your eyes and your manner who I am and whether I’m loveable.</a:t>
            </a:r>
          </a:p>
          <a:p>
            <a:pPr eaLnBrk="1" hangingPunct="1"/>
            <a:r>
              <a:rPr lang="en-GB" altLang="en-US" sz="1100" dirty="0">
                <a:solidFill>
                  <a:srgbClr val="FF0000"/>
                </a:solidFill>
                <a:latin typeface="Arial" panose="020B0604020202020204" pitchFamily="34" charset="0"/>
                <a:cs typeface="Arial" panose="020B0604020202020204" pitchFamily="34" charset="0"/>
              </a:rPr>
              <a:t>TOLERATION AND REGULATION:  There are all these sensations and feelings in me and I can’t hold them.  I give them all to you and learn about them by how you respond. Pathways are created in my brain so I know how to deal with these feelings throughout my life.</a:t>
            </a:r>
          </a:p>
          <a:p>
            <a:pPr eaLnBrk="1" hangingPunct="1"/>
            <a:r>
              <a:rPr lang="en-GB" altLang="en-US" sz="1100" dirty="0">
                <a:solidFill>
                  <a:srgbClr val="FF0000"/>
                </a:solidFill>
                <a:latin typeface="Arial" panose="020B0604020202020204" pitchFamily="34" charset="0"/>
                <a:cs typeface="Arial" panose="020B0604020202020204" pitchFamily="34" charset="0"/>
              </a:rPr>
              <a:t>SAFE BASE: You keep me safe and make the world safe for me.  I learn from you how to manage challenges. </a:t>
            </a:r>
          </a:p>
          <a:p>
            <a:pPr eaLnBrk="1" hangingPunct="1"/>
            <a:r>
              <a:rPr lang="en-GB" altLang="en-US" sz="1100" dirty="0">
                <a:solidFill>
                  <a:srgbClr val="FF0000"/>
                </a:solidFill>
                <a:latin typeface="Arial" panose="020B0604020202020204" pitchFamily="34" charset="0"/>
                <a:cs typeface="Arial" panose="020B0604020202020204" pitchFamily="34" charset="0"/>
              </a:rPr>
              <a:t>INTEGRATION:  You make sense of the world for me and feed back the thoughts, feelings and wishes behind my behaviour so that I understand I have an inner realm of experience.  From this I learn how to think</a:t>
            </a:r>
            <a:r>
              <a:rPr lang="en-GB" altLang="en-US" sz="1000" dirty="0">
                <a:solidFill>
                  <a:srgbClr val="FF0000"/>
                </a:solidFill>
                <a:latin typeface="Arial" panose="020B0604020202020204" pitchFamily="34" charset="0"/>
                <a:cs typeface="Arial" panose="020B0604020202020204" pitchFamily="34" charset="0"/>
              </a:rPr>
              <a:t>.</a:t>
            </a:r>
            <a:endParaRPr lang="en-US" altLang="en-US" sz="1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53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blinds(horizontal)">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blinds(horizontal)">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blinds(horizontal)">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blinds(horizontal)">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blinds(horizontal)">
                                      <p:cBhvr>
                                        <p:cTn id="5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dirty="0" smtClean="0">
                <a:latin typeface="Arial" panose="020B0604020202020204" pitchFamily="34" charset="0"/>
                <a:cs typeface="Arial" panose="020B0604020202020204" pitchFamily="34" charset="0"/>
              </a:rPr>
              <a:t>Securely attached</a:t>
            </a:r>
            <a:endParaRPr lang="en-US" altLang="en-US" dirty="0" smtClean="0">
              <a:latin typeface="Arial" panose="020B0604020202020204" pitchFamily="34" charset="0"/>
              <a:cs typeface="Arial" panose="020B0604020202020204" pitchFamily="34" charset="0"/>
            </a:endParaRPr>
          </a:p>
        </p:txBody>
      </p:sp>
      <p:sp>
        <p:nvSpPr>
          <p:cNvPr id="3" name="Content Placeholder 8"/>
          <p:cNvSpPr txBox="1">
            <a:spLocks/>
          </p:cNvSpPr>
          <p:nvPr/>
        </p:nvSpPr>
        <p:spPr bwMode="auto">
          <a:xfrm>
            <a:off x="457200" y="1600200"/>
            <a:ext cx="296227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pPr>
            <a:r>
              <a:rPr lang="en-GB" altLang="en-US" sz="1400" dirty="0">
                <a:solidFill>
                  <a:srgbClr val="00B050"/>
                </a:solidFill>
                <a:latin typeface="Arial" panose="020B0604020202020204" pitchFamily="34" charset="0"/>
                <a:cs typeface="Arial" panose="020B0604020202020204" pitchFamily="34" charset="0"/>
              </a:rPr>
              <a:t>I live in a nice house with my parents who work together and support each other and me</a:t>
            </a:r>
          </a:p>
          <a:p>
            <a:pPr eaLnBrk="1" hangingPunct="1">
              <a:lnSpc>
                <a:spcPct val="80000"/>
              </a:lnSpc>
              <a:buFontTx/>
              <a:buNone/>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solidFill>
                  <a:srgbClr val="FF6600"/>
                </a:solidFill>
                <a:latin typeface="Arial" panose="020B0604020202020204" pitchFamily="34" charset="0"/>
                <a:cs typeface="Arial" panose="020B0604020202020204" pitchFamily="34" charset="0"/>
              </a:rPr>
              <a:t>My mum has always understood what I am thinking and feeling.  She plays with me and helps me to understand what is going on inside me and in the world around me</a:t>
            </a:r>
          </a:p>
          <a:p>
            <a:pPr eaLnBrk="1" hangingPunct="1">
              <a:lnSpc>
                <a:spcPct val="80000"/>
              </a:lnSpc>
            </a:pPr>
            <a:r>
              <a:rPr lang="en-GB" altLang="en-US" sz="1400" dirty="0">
                <a:solidFill>
                  <a:srgbClr val="FF6600"/>
                </a:solidFill>
                <a:latin typeface="Arial" panose="020B0604020202020204" pitchFamily="34" charset="0"/>
                <a:cs typeface="Arial" panose="020B0604020202020204" pitchFamily="34" charset="0"/>
              </a:rPr>
              <a:t>My dad takes me out to explore and introduces me to new and exciting things  </a:t>
            </a:r>
            <a:r>
              <a:rPr lang="en-GB" altLang="en-US" sz="1400" dirty="0">
                <a:latin typeface="Arial" panose="020B0604020202020204" pitchFamily="34" charset="0"/>
                <a:cs typeface="Arial" panose="020B0604020202020204" pitchFamily="34" charset="0"/>
              </a:rPr>
              <a:t> </a:t>
            </a:r>
          </a:p>
          <a:p>
            <a:pPr eaLnBrk="1" hangingPunct="1">
              <a:lnSpc>
                <a:spcPct val="80000"/>
              </a:lnSpc>
              <a:buFontTx/>
              <a:buNone/>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solidFill>
                  <a:srgbClr val="7030A0"/>
                </a:solidFill>
                <a:latin typeface="Arial" panose="020B0604020202020204" pitchFamily="34" charset="0"/>
                <a:cs typeface="Arial" panose="020B0604020202020204" pitchFamily="34" charset="0"/>
              </a:rPr>
              <a:t>When there is a problem, my mum understands how that feels for me and always finds a solution</a:t>
            </a:r>
          </a:p>
          <a:p>
            <a:pPr eaLnBrk="1" hangingPunct="1">
              <a:lnSpc>
                <a:spcPct val="80000"/>
              </a:lnSpc>
            </a:pPr>
            <a:endParaRPr lang="en-GB" altLang="en-US" sz="1400" dirty="0">
              <a:latin typeface="Arial" panose="020B0604020202020204" pitchFamily="34" charset="0"/>
              <a:cs typeface="Arial" panose="020B0604020202020204" pitchFamily="34" charset="0"/>
            </a:endParaRPr>
          </a:p>
          <a:p>
            <a:pPr eaLnBrk="1" hangingPunct="1">
              <a:lnSpc>
                <a:spcPct val="80000"/>
              </a:lnSpc>
            </a:pPr>
            <a:r>
              <a:rPr lang="en-GB" altLang="en-US" sz="1400" dirty="0">
                <a:latin typeface="Arial" panose="020B0604020202020204" pitchFamily="34" charset="0"/>
                <a:cs typeface="Arial" panose="020B0604020202020204" pitchFamily="34" charset="0"/>
              </a:rPr>
              <a:t>My mum and dad enjoy being with me and tell me how much they love me.  They delight in what I do well and my successes</a:t>
            </a:r>
            <a:r>
              <a:rPr lang="en-GB" altLang="en-US" sz="1400" dirty="0"/>
              <a:t>.</a:t>
            </a:r>
          </a:p>
          <a:p>
            <a:pPr eaLnBrk="1" hangingPunct="1">
              <a:lnSpc>
                <a:spcPct val="80000"/>
              </a:lnSpc>
            </a:pPr>
            <a:endParaRPr lang="en-US" altLang="en-US" sz="1000" dirty="0"/>
          </a:p>
        </p:txBody>
      </p:sp>
      <p:pic>
        <p:nvPicPr>
          <p:cNvPr id="4" name="Picture 2" descr="http://sites.psu.edu/siowfa14/wp-content/uploads/sites/13467/2014/09/Happy_Baby_Is_Happy39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3440113" y="2767013"/>
            <a:ext cx="2127250" cy="187801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9"/>
          <p:cNvSpPr txBox="1">
            <a:spLocks/>
          </p:cNvSpPr>
          <p:nvPr/>
        </p:nvSpPr>
        <p:spPr bwMode="auto">
          <a:xfrm>
            <a:off x="5580063" y="1600200"/>
            <a:ext cx="310673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pPr>
            <a:r>
              <a:rPr lang="en-GB" altLang="en-US" sz="1500" dirty="0" smtClean="0">
                <a:solidFill>
                  <a:srgbClr val="00B050"/>
                </a:solidFill>
                <a:latin typeface="Arial" panose="020B0604020202020204" pitchFamily="34" charset="0"/>
                <a:cs typeface="Arial" panose="020B0604020202020204" pitchFamily="34" charset="0"/>
              </a:rPr>
              <a:t>I trust my needs will be met and adults are capable of and happy to take care of me</a:t>
            </a:r>
          </a:p>
          <a:p>
            <a:pPr eaLnBrk="1" hangingPunct="1">
              <a:lnSpc>
                <a:spcPct val="80000"/>
              </a:lnSpc>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trust I have the ability to learn and live in the world</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have confidence in my thoughts and actions</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find it easy and fun to learn and make mistakes along the way</a:t>
            </a:r>
          </a:p>
          <a:p>
            <a:pPr eaLnBrk="1" hangingPunct="1">
              <a:lnSpc>
                <a:spcPct val="80000"/>
              </a:lnSpc>
            </a:pPr>
            <a:r>
              <a:rPr lang="en-GB" altLang="en-US" sz="1500" dirty="0" smtClean="0">
                <a:solidFill>
                  <a:srgbClr val="FF6600"/>
                </a:solidFill>
                <a:latin typeface="Arial" panose="020B0604020202020204" pitchFamily="34" charset="0"/>
                <a:cs typeface="Arial" panose="020B0604020202020204" pitchFamily="34" charset="0"/>
              </a:rPr>
              <a:t>I see the world out there as safe and exciting</a:t>
            </a:r>
          </a:p>
          <a:p>
            <a:pPr eaLnBrk="1" hangingPunct="1">
              <a:lnSpc>
                <a:spcPct val="80000"/>
              </a:lnSpc>
              <a:buFontTx/>
              <a:buNone/>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solidFill>
                  <a:srgbClr val="7030A0"/>
                </a:solidFill>
                <a:latin typeface="Arial" panose="020B0604020202020204" pitchFamily="34" charset="0"/>
                <a:cs typeface="Arial" panose="020B0604020202020204" pitchFamily="34" charset="0"/>
              </a:rPr>
              <a:t>When something is hard I ask for help and know it will be given</a:t>
            </a:r>
          </a:p>
          <a:p>
            <a:pPr eaLnBrk="1" hangingPunct="1">
              <a:lnSpc>
                <a:spcPct val="80000"/>
              </a:lnSpc>
              <a:buFontTx/>
              <a:buNone/>
            </a:pPr>
            <a:endParaRPr lang="en-GB" altLang="en-US" sz="1500" dirty="0" smtClean="0">
              <a:latin typeface="Arial" panose="020B0604020202020204" pitchFamily="34" charset="0"/>
              <a:cs typeface="Arial" panose="020B0604020202020204" pitchFamily="34" charset="0"/>
            </a:endParaRPr>
          </a:p>
          <a:p>
            <a:pPr eaLnBrk="1" hangingPunct="1">
              <a:lnSpc>
                <a:spcPct val="80000"/>
              </a:lnSpc>
            </a:pPr>
            <a:r>
              <a:rPr lang="en-GB" altLang="en-US" sz="1500" dirty="0" smtClean="0">
                <a:latin typeface="Arial" panose="020B0604020202020204" pitchFamily="34" charset="0"/>
                <a:cs typeface="Arial" panose="020B0604020202020204" pitchFamily="34" charset="0"/>
              </a:rPr>
              <a:t>I am a good child who is easy to love</a:t>
            </a:r>
          </a:p>
          <a:p>
            <a:pPr eaLnBrk="1" hangingPunct="1">
              <a:lnSpc>
                <a:spcPct val="80000"/>
              </a:lnSpc>
            </a:pPr>
            <a:r>
              <a:rPr lang="en-GB" altLang="en-US" sz="1500" dirty="0" smtClean="0">
                <a:latin typeface="Arial" panose="020B0604020202020204" pitchFamily="34" charset="0"/>
                <a:cs typeface="Arial" panose="020B0604020202020204" pitchFamily="34" charset="0"/>
              </a:rPr>
              <a:t>I can succeed in life and it is noticed and celebrated.</a:t>
            </a:r>
          </a:p>
          <a:p>
            <a:pPr eaLnBrk="1" hangingPunct="1">
              <a:lnSpc>
                <a:spcPct val="80000"/>
              </a:lnSpc>
              <a:buFontTx/>
              <a:buNone/>
            </a:pPr>
            <a:endParaRPr lang="en-US" altLang="en-US" sz="1500" dirty="0"/>
          </a:p>
        </p:txBody>
      </p:sp>
    </p:spTree>
    <p:extLst>
      <p:ext uri="{BB962C8B-B14F-4D97-AF65-F5344CB8AC3E}">
        <p14:creationId xmlns:p14="http://schemas.microsoft.com/office/powerpoint/2010/main" val="163590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ox(in)">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ox(in)">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1"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additive="base">
                                        <p:cTn id="3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anim calcmode="lin" valueType="num">
                                      <p:cBhvr additive="base">
                                        <p:cTn id="36" dur="5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5">
                                            <p:txEl>
                                              <p:pRg st="2" end="2"/>
                                            </p:txEl>
                                          </p:spTgt>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 calcmode="lin" valueType="num">
                                      <p:cBhvr additive="base">
                                        <p:cTn id="40" dur="50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5">
                                            <p:txEl>
                                              <p:pRg st="3" end="3"/>
                                            </p:txEl>
                                          </p:spTgt>
                                        </p:tgtEl>
                                        <p:attrNameLst>
                                          <p:attrName>ppt_y</p:attrName>
                                        </p:attrNameLst>
                                      </p:cBhvr>
                                      <p:tavLst>
                                        <p:tav tm="0">
                                          <p:val>
                                            <p:strVal val="#ppt_y"/>
                                          </p:val>
                                        </p:tav>
                                        <p:tav tm="100000">
                                          <p:val>
                                            <p:strVal val="#ppt_y"/>
                                          </p:val>
                                        </p:tav>
                                      </p:tavLst>
                                    </p:anim>
                                  </p:childTnLst>
                                </p:cTn>
                              </p:par>
                              <p:par>
                                <p:cTn id="42" presetID="2" presetClass="entr" presetSubtype="2" fill="hold" nodeType="withEffect">
                                  <p:stCondLst>
                                    <p:cond delay="0"/>
                                  </p:stCondLst>
                                  <p:childTnLst>
                                    <p:set>
                                      <p:cBhvr>
                                        <p:cTn id="43" dur="1" fill="hold">
                                          <p:stCondLst>
                                            <p:cond delay="0"/>
                                          </p:stCondLst>
                                        </p:cTn>
                                        <p:tgtEl>
                                          <p:spTgt spid="5">
                                            <p:txEl>
                                              <p:pRg st="4" end="4"/>
                                            </p:txEl>
                                          </p:spTgt>
                                        </p:tgtEl>
                                        <p:attrNameLst>
                                          <p:attrName>style.visibility</p:attrName>
                                        </p:attrNameLst>
                                      </p:cBhvr>
                                      <p:to>
                                        <p:strVal val="visible"/>
                                      </p:to>
                                    </p:set>
                                    <p:anim calcmode="lin" valueType="num">
                                      <p:cBhvr additive="base">
                                        <p:cTn id="44" dur="500" fill="hold"/>
                                        <p:tgtEl>
                                          <p:spTgt spid="5">
                                            <p:txEl>
                                              <p:pRg st="4" end="4"/>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5">
                                            <p:txEl>
                                              <p:pRg st="4" end="4"/>
                                            </p:txEl>
                                          </p:spTgt>
                                        </p:tgtEl>
                                        <p:attrNameLst>
                                          <p:attrName>ppt_y</p:attrName>
                                        </p:attrNameLst>
                                      </p:cBhvr>
                                      <p:tavLst>
                                        <p:tav tm="0">
                                          <p:val>
                                            <p:strVal val="#ppt_y"/>
                                          </p:val>
                                        </p:tav>
                                        <p:tav tm="100000">
                                          <p:val>
                                            <p:strVal val="#ppt_y"/>
                                          </p:val>
                                        </p:tav>
                                      </p:tavLst>
                                    </p:anim>
                                  </p:childTnLst>
                                </p:cTn>
                              </p:par>
                              <p:par>
                                <p:cTn id="46" presetID="2" presetClass="entr" presetSubtype="2" fill="hold" nodeType="with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anim calcmode="lin" valueType="num">
                                      <p:cBhvr additive="base">
                                        <p:cTn id="48" dur="500" fill="hold"/>
                                        <p:tgtEl>
                                          <p:spTgt spid="5">
                                            <p:txEl>
                                              <p:pRg st="5" end="5"/>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5">
                                            <p:txEl>
                                              <p:pRg st="7" end="7"/>
                                            </p:txEl>
                                          </p:spTgt>
                                        </p:tgtEl>
                                        <p:attrNameLst>
                                          <p:attrName>style.visibility</p:attrName>
                                        </p:attrNameLst>
                                      </p:cBhvr>
                                      <p:to>
                                        <p:strVal val="visible"/>
                                      </p:to>
                                    </p:set>
                                    <p:anim calcmode="lin" valueType="num">
                                      <p:cBhvr additive="base">
                                        <p:cTn id="54" dur="500" fill="hold"/>
                                        <p:tgtEl>
                                          <p:spTgt spid="5">
                                            <p:txEl>
                                              <p:pRg st="7" end="7"/>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5">
                                            <p:txEl>
                                              <p:pRg st="9" end="9"/>
                                            </p:txEl>
                                          </p:spTgt>
                                        </p:tgtEl>
                                        <p:attrNameLst>
                                          <p:attrName>style.visibility</p:attrName>
                                        </p:attrNameLst>
                                      </p:cBhvr>
                                      <p:to>
                                        <p:strVal val="visible"/>
                                      </p:to>
                                    </p:set>
                                    <p:anim calcmode="lin" valueType="num">
                                      <p:cBhvr additive="base">
                                        <p:cTn id="60"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5">
                                            <p:txEl>
                                              <p:pRg st="9" end="9"/>
                                            </p:txEl>
                                          </p:spTgt>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5">
                                            <p:txEl>
                                              <p:pRg st="10" end="10"/>
                                            </p:txEl>
                                          </p:spTgt>
                                        </p:tgtEl>
                                        <p:attrNameLst>
                                          <p:attrName>style.visibility</p:attrName>
                                        </p:attrNameLst>
                                      </p:cBhvr>
                                      <p:to>
                                        <p:strVal val="visible"/>
                                      </p:to>
                                    </p:set>
                                    <p:anim calcmode="lin" valueType="num">
                                      <p:cBhvr additive="base">
                                        <p:cTn id="64"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46088" y="557213"/>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600" dirty="0" smtClean="0">
                <a:latin typeface="Arial" panose="020B0604020202020204" pitchFamily="34" charset="0"/>
                <a:cs typeface="Arial" panose="020B0604020202020204" pitchFamily="34" charset="0"/>
              </a:rPr>
              <a:t>Negative dimension to care giving – insecurely attached</a:t>
            </a:r>
            <a:endParaRPr lang="en-US" altLang="en-US" sz="3600" dirty="0" smtClean="0">
              <a:latin typeface="Arial" panose="020B0604020202020204" pitchFamily="34" charset="0"/>
              <a:cs typeface="Arial" panose="020B0604020202020204" pitchFamily="34" charset="0"/>
            </a:endParaRPr>
          </a:p>
        </p:txBody>
      </p:sp>
      <p:sp>
        <p:nvSpPr>
          <p:cNvPr id="4" name="Content Placeholder 6"/>
          <p:cNvSpPr txBox="1">
            <a:spLocks/>
          </p:cNvSpPr>
          <p:nvPr/>
        </p:nvSpPr>
        <p:spPr>
          <a:xfrm>
            <a:off x="685800" y="1784889"/>
            <a:ext cx="3094038" cy="4114800"/>
          </a:xfrm>
          <a:prstGeom prst="rect">
            <a:avLst/>
          </a:prstGeom>
        </p:spPr>
        <p:txBody>
          <a:bodyPr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smtClean="0"/>
              <a:t>Consistently insensitive parenting</a:t>
            </a:r>
          </a:p>
          <a:p>
            <a:pPr>
              <a:defRPr/>
            </a:pPr>
            <a:endParaRPr lang="en-GB" smtClean="0"/>
          </a:p>
          <a:p>
            <a:pPr>
              <a:defRPr/>
            </a:pPr>
            <a:r>
              <a:rPr lang="en-GB" smtClean="0"/>
              <a:t>Inconsistently insensitive parenting</a:t>
            </a:r>
          </a:p>
          <a:p>
            <a:pPr>
              <a:defRPr/>
            </a:pPr>
            <a:endParaRPr lang="en-GB" smtClean="0"/>
          </a:p>
          <a:p>
            <a:pPr>
              <a:defRPr/>
            </a:pPr>
            <a:r>
              <a:rPr lang="en-GB" smtClean="0"/>
              <a:t>Abusive caregiving</a:t>
            </a:r>
          </a:p>
          <a:p>
            <a:pPr>
              <a:defRPr/>
            </a:pPr>
            <a:endParaRPr lang="en-GB" smtClean="0"/>
          </a:p>
          <a:p>
            <a:pPr>
              <a:defRPr/>
            </a:pPr>
            <a:r>
              <a:rPr lang="en-GB" smtClean="0"/>
              <a:t>Breaks in caregiving</a:t>
            </a:r>
          </a:p>
          <a:p>
            <a:pPr>
              <a:defRPr/>
            </a:pPr>
            <a:endParaRPr lang="en-GB" smtClean="0"/>
          </a:p>
          <a:p>
            <a:pPr>
              <a:defRPr/>
            </a:pPr>
            <a:r>
              <a:rPr lang="en-GB" smtClean="0"/>
              <a:t>Unmanaged stresses</a:t>
            </a:r>
          </a:p>
          <a:p>
            <a:pPr>
              <a:defRPr/>
            </a:pPr>
            <a:endParaRPr lang="en-GB" smtClean="0"/>
          </a:p>
          <a:p>
            <a:pPr>
              <a:defRPr/>
            </a:pPr>
            <a:r>
              <a:rPr lang="en-GB" smtClean="0"/>
              <a:t>Traumatic episodes</a:t>
            </a:r>
            <a:endParaRPr lang="en-US" dirty="0" smtClean="0"/>
          </a:p>
        </p:txBody>
      </p:sp>
      <p:sp>
        <p:nvSpPr>
          <p:cNvPr id="5" name="Content Placeholder 7"/>
          <p:cNvSpPr txBox="1">
            <a:spLocks/>
          </p:cNvSpPr>
          <p:nvPr/>
        </p:nvSpPr>
        <p:spPr>
          <a:xfrm>
            <a:off x="4648200" y="1756314"/>
            <a:ext cx="4038600" cy="4525963"/>
          </a:xfrm>
          <a:prstGeom prst="rect">
            <a:avLst/>
          </a:prstGeom>
        </p:spPr>
        <p:txBody>
          <a:bodyPr>
            <a:normAutofit fontScale="70000" lnSpcReduction="20000"/>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spcAft>
                <a:spcPts val="0"/>
              </a:spcAft>
              <a:defRPr/>
            </a:pPr>
            <a:r>
              <a:rPr lang="en-GB" dirty="0" smtClean="0">
                <a:solidFill>
                  <a:srgbClr val="00B0F0"/>
                </a:solidFill>
              </a:rPr>
              <a:t>I have no faith in adults to meet my needs.</a:t>
            </a:r>
          </a:p>
          <a:p>
            <a:pPr eaLnBrk="1" fontAlgn="auto" hangingPunct="1">
              <a:spcAft>
                <a:spcPts val="0"/>
              </a:spcAft>
              <a:defRPr/>
            </a:pPr>
            <a:r>
              <a:rPr lang="en-GB" dirty="0" smtClean="0">
                <a:solidFill>
                  <a:srgbClr val="00B0F0"/>
                </a:solidFill>
              </a:rPr>
              <a:t>I do not know how to learn, I am just surviving however I can.</a:t>
            </a:r>
          </a:p>
          <a:p>
            <a:pPr eaLnBrk="1" fontAlgn="auto" hangingPunct="1">
              <a:spcAft>
                <a:spcPts val="0"/>
              </a:spcAft>
              <a:defRPr/>
            </a:pPr>
            <a:r>
              <a:rPr lang="en-GB" dirty="0" smtClean="0">
                <a:solidFill>
                  <a:srgbClr val="00B0F0"/>
                </a:solidFill>
              </a:rPr>
              <a:t>I am a bad child that nobody can like or love.</a:t>
            </a:r>
          </a:p>
          <a:p>
            <a:pPr eaLnBrk="1" fontAlgn="auto" hangingPunct="1">
              <a:spcAft>
                <a:spcPts val="0"/>
              </a:spcAft>
              <a:defRPr/>
            </a:pPr>
            <a:r>
              <a:rPr lang="en-GB" dirty="0" smtClean="0">
                <a:solidFill>
                  <a:srgbClr val="00B0F0"/>
                </a:solidFill>
              </a:rPr>
              <a:t>The world is unsafe and new situations are scary.</a:t>
            </a:r>
          </a:p>
          <a:p>
            <a:pPr eaLnBrk="1" fontAlgn="auto" hangingPunct="1">
              <a:spcAft>
                <a:spcPts val="0"/>
              </a:spcAft>
              <a:defRPr/>
            </a:pPr>
            <a:r>
              <a:rPr lang="en-GB" dirty="0" smtClean="0">
                <a:solidFill>
                  <a:srgbClr val="00B0F0"/>
                </a:solidFill>
              </a:rPr>
              <a:t>Learning is unknown and dangerous and may expose me.</a:t>
            </a:r>
          </a:p>
          <a:p>
            <a:pPr eaLnBrk="1" fontAlgn="auto" hangingPunct="1">
              <a:spcAft>
                <a:spcPts val="0"/>
              </a:spcAft>
              <a:defRPr/>
            </a:pPr>
            <a:r>
              <a:rPr lang="en-GB" dirty="0" smtClean="0">
                <a:solidFill>
                  <a:srgbClr val="00B0F0"/>
                </a:solidFill>
              </a:rPr>
              <a:t>When something is hard I handle it my own way because nobody helps me.</a:t>
            </a:r>
            <a:endParaRPr lang="en-US" dirty="0" smtClean="0">
              <a:solidFill>
                <a:srgbClr val="00B0F0"/>
              </a:solidFill>
            </a:endParaRPr>
          </a:p>
        </p:txBody>
      </p:sp>
    </p:spTree>
    <p:extLst>
      <p:ext uri="{BB962C8B-B14F-4D97-AF65-F5344CB8AC3E}">
        <p14:creationId xmlns:p14="http://schemas.microsoft.com/office/powerpoint/2010/main" val="384177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ox(i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ox(in)">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ox(in)">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box(in)">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box(in)">
                                      <p:cBhvr>
                                        <p:cTn id="32" dur="500"/>
                                        <p:tgtEl>
                                          <p:spTgt spid="4">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checkerboard(across)">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checkerboard(across)">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checkerboard(across)">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checkerboard(across)">
                                      <p:cBhvr>
                                        <p:cTn id="52" dur="500"/>
                                        <p:tgtEl>
                                          <p:spTgt spid="5">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checkerboard(across)">
                                      <p:cBhvr>
                                        <p:cTn id="57" dur="500"/>
                                        <p:tgtEl>
                                          <p:spTgt spid="5">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xEl>
                                              <p:pRg st="5" end="5"/>
                                            </p:txEl>
                                          </p:spTgt>
                                        </p:tgtEl>
                                        <p:attrNameLst>
                                          <p:attrName>style.visibility</p:attrName>
                                        </p:attrNameLst>
                                      </p:cBhvr>
                                      <p:to>
                                        <p:strVal val="visible"/>
                                      </p:to>
                                    </p:set>
                                    <p:animEffect transition="in" filter="checkerboard(across)">
                                      <p:cBhvr>
                                        <p:cTn id="6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1184247"/>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Quick Activity</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416320"/>
          </a:xfrm>
          <a:prstGeom prst="rect">
            <a:avLst/>
          </a:prstGeom>
        </p:spPr>
        <p:txBody>
          <a:bodyPr wrap="square">
            <a:spAutoFit/>
          </a:bodyPr>
          <a:lstStyle/>
          <a:p>
            <a:endParaRPr lang="en-US" altLang="en-US" sz="3600" dirty="0" smtClean="0">
              <a:latin typeface="Arial" panose="020B0604020202020204" pitchFamily="34" charset="0"/>
              <a:cs typeface="Arial" panose="020B0604020202020204" pitchFamily="34" charset="0"/>
            </a:endParaRPr>
          </a:p>
          <a:p>
            <a:endParaRPr lang="en-US" altLang="en-US" sz="3600" dirty="0">
              <a:latin typeface="Arial" panose="020B0604020202020204" pitchFamily="34" charset="0"/>
              <a:cs typeface="Arial" panose="020B0604020202020204" pitchFamily="34" charset="0"/>
            </a:endParaRPr>
          </a:p>
          <a:p>
            <a:r>
              <a:rPr lang="en-US" altLang="en-US" sz="3600" dirty="0" smtClean="0">
                <a:latin typeface="Arial" panose="020B0604020202020204" pitchFamily="34" charset="0"/>
                <a:cs typeface="Arial" panose="020B0604020202020204" pitchFamily="34" charset="0"/>
              </a:rPr>
              <a:t>What can interfere with the process of developing a secure attachment bond between an infant and their significant care giver? </a:t>
            </a:r>
            <a:endParaRPr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0890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381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Research – The ‘Brain’ bit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938992"/>
          </a:xfrm>
          <a:prstGeom prst="rect">
            <a:avLst/>
          </a:prstGeom>
        </p:spPr>
        <p:txBody>
          <a:bodyPr wrap="square">
            <a:spAutoFit/>
          </a:bodyPr>
          <a:lstStyle/>
          <a:p>
            <a:endParaRPr lang="en-GB" altLang="en-US" sz="2000" dirty="0" smtClean="0">
              <a:latin typeface="Arial" panose="020B0604020202020204" pitchFamily="34" charset="0"/>
              <a:cs typeface="Arial" panose="020B0604020202020204" pitchFamily="34" charset="0"/>
            </a:endParaRPr>
          </a:p>
          <a:p>
            <a:r>
              <a:rPr lang="en-GB" altLang="en-US" sz="2000" dirty="0" smtClean="0">
                <a:latin typeface="Arial" panose="020B0604020202020204" pitchFamily="34" charset="0"/>
                <a:cs typeface="Arial" panose="020B0604020202020204" pitchFamily="34" charset="0"/>
              </a:rPr>
              <a:t>Highlighted </a:t>
            </a:r>
            <a:r>
              <a:rPr lang="en-GB" altLang="en-US" sz="2000" dirty="0">
                <a:latin typeface="Arial" panose="020B0604020202020204" pitchFamily="34" charset="0"/>
                <a:cs typeface="Arial" panose="020B0604020202020204" pitchFamily="34" charset="0"/>
              </a:rPr>
              <a:t>the importance of </a:t>
            </a:r>
            <a:r>
              <a:rPr lang="en-GB" altLang="en-US" sz="2000" b="1" dirty="0">
                <a:latin typeface="Arial" panose="020B0604020202020204" pitchFamily="34" charset="0"/>
                <a:cs typeface="Arial" panose="020B0604020202020204" pitchFamily="34" charset="0"/>
              </a:rPr>
              <a:t>early relationships and brain development </a:t>
            </a:r>
            <a:r>
              <a:rPr lang="en-GB" altLang="en-US" sz="2000" dirty="0">
                <a:latin typeface="Arial" panose="020B0604020202020204" pitchFamily="34" charset="0"/>
                <a:cs typeface="Arial" panose="020B0604020202020204" pitchFamily="34" charset="0"/>
              </a:rPr>
              <a:t>specifically emotional development.</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b="1" dirty="0" smtClean="0">
                <a:latin typeface="Arial" panose="020B0604020202020204" pitchFamily="34" charset="0"/>
                <a:cs typeface="Arial" panose="020B0604020202020204" pitchFamily="34" charset="0"/>
              </a:rPr>
              <a:t>The first </a:t>
            </a:r>
            <a:r>
              <a:rPr lang="en-GB" altLang="en-US" sz="2000" b="1" dirty="0">
                <a:latin typeface="Arial" panose="020B0604020202020204" pitchFamily="34" charset="0"/>
                <a:cs typeface="Arial" panose="020B0604020202020204" pitchFamily="34" charset="0"/>
              </a:rPr>
              <a:t>three years of </a:t>
            </a:r>
            <a:r>
              <a:rPr lang="en-GB" altLang="en-US" sz="2000" b="1" dirty="0" smtClean="0">
                <a:latin typeface="Arial" panose="020B0604020202020204" pitchFamily="34" charset="0"/>
                <a:cs typeface="Arial" panose="020B0604020202020204" pitchFamily="34" charset="0"/>
              </a:rPr>
              <a:t>life</a:t>
            </a:r>
            <a:r>
              <a:rPr lang="en-GB" altLang="en-US" sz="2000" dirty="0" smtClean="0">
                <a:latin typeface="Arial" panose="020B0604020202020204" pitchFamily="34" charset="0"/>
                <a:cs typeface="Arial" panose="020B0604020202020204" pitchFamily="34" charset="0"/>
              </a:rPr>
              <a:t> are a </a:t>
            </a:r>
            <a:r>
              <a:rPr lang="en-GB" altLang="en-US" sz="2000" dirty="0">
                <a:latin typeface="Arial" panose="020B0604020202020204" pitchFamily="34" charset="0"/>
                <a:cs typeface="Arial" panose="020B0604020202020204" pitchFamily="34" charset="0"/>
              </a:rPr>
              <a:t>critical/sensitive period in development</a:t>
            </a:r>
          </a:p>
        </p:txBody>
      </p:sp>
    </p:spTree>
    <p:extLst>
      <p:ext uri="{BB962C8B-B14F-4D97-AF65-F5344CB8AC3E}">
        <p14:creationId xmlns:p14="http://schemas.microsoft.com/office/powerpoint/2010/main" val="31114277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3075" y="1719263"/>
            <a:ext cx="5799138"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02685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902558"/>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If the ‘right’ experiences are </a:t>
            </a:r>
            <a:r>
              <a:rPr lang="en-GB" sz="4400" b="1" dirty="0" smtClean="0"/>
              <a:t>not</a:t>
            </a:r>
            <a:r>
              <a:rPr lang="en-GB" sz="4400" dirty="0" smtClean="0"/>
              <a:t> </a:t>
            </a:r>
            <a:r>
              <a:rPr lang="en-GB" sz="4400" dirty="0"/>
              <a:t>available</a:t>
            </a:r>
            <a:endParaRPr lang="es-ES" sz="4400" dirty="0">
              <a:solidFill>
                <a:schemeClr val="bg1">
                  <a:lumMod val="50000"/>
                </a:schemeClr>
              </a:solidFill>
              <a:latin typeface="Calibri" charset="0"/>
            </a:endParaRPr>
          </a:p>
        </p:txBody>
      </p:sp>
      <p:sp>
        <p:nvSpPr>
          <p:cNvPr id="3" name="Rectangle 2"/>
          <p:cNvSpPr/>
          <p:nvPr/>
        </p:nvSpPr>
        <p:spPr>
          <a:xfrm>
            <a:off x="811369" y="2790324"/>
            <a:ext cx="7431110" cy="3170099"/>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Eye contact</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Responsive face to face gazing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Vocalisation and tone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Smiling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Body language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Containing emotions</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Then the baby’s brain will not develop to realise his/her </a:t>
            </a:r>
            <a:r>
              <a:rPr lang="en-GB" altLang="en-US" sz="2000" dirty="0" smtClean="0">
                <a:latin typeface="Arial" panose="020B0604020202020204" pitchFamily="34" charset="0"/>
                <a:cs typeface="Arial" panose="020B0604020202020204" pitchFamily="34" charset="0"/>
              </a:rPr>
              <a:t>full potential</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67285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2907101" y="123076"/>
            <a:ext cx="3361067" cy="1166812"/>
          </a:xfrm>
        </p:spPr>
        <p:txBody>
          <a:bodyPr/>
          <a:lstStyle/>
          <a:p>
            <a:pPr marL="0" indent="0" algn="r">
              <a:buNone/>
            </a:pPr>
            <a:r>
              <a:rPr lang="en-US" sz="4400" dirty="0" smtClean="0">
                <a:solidFill>
                  <a:srgbClr val="47434F"/>
                </a:solidFill>
                <a:latin typeface="+mj-lt"/>
              </a:rPr>
              <a:t>Neuroscience</a:t>
            </a:r>
            <a:endParaRPr lang="en-US" sz="4400" dirty="0">
              <a:solidFill>
                <a:srgbClr val="47434F"/>
              </a:solidFill>
              <a:latin typeface="+mj-lt"/>
            </a:endParaRPr>
          </a:p>
        </p:txBody>
      </p:sp>
      <p:pic>
        <p:nvPicPr>
          <p:cNvPr id="1026" name="Picture 2" descr="See the source image"/>
          <p:cNvPicPr>
            <a:picLocks noChangeAspect="1" noChangeArrowheads="1"/>
          </p:cNvPicPr>
          <p:nvPr/>
        </p:nvPicPr>
        <p:blipFill rotWithShape="1">
          <a:blip r:embed="rId3">
            <a:extLst>
              <a:ext uri="{28A0092B-C50C-407E-A947-70E740481C1C}">
                <a14:useLocalDpi xmlns:a14="http://schemas.microsoft.com/office/drawing/2010/main" val="0"/>
              </a:ext>
            </a:extLst>
          </a:blip>
          <a:srcRect b="4255"/>
          <a:stretch/>
        </p:blipFill>
        <p:spPr bwMode="auto">
          <a:xfrm>
            <a:off x="1880558" y="1540069"/>
            <a:ext cx="5555235" cy="355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7972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7127" y="1481070"/>
            <a:ext cx="7624293" cy="3139321"/>
          </a:xfrm>
          <a:prstGeom prst="rect">
            <a:avLst/>
          </a:prstGeom>
        </p:spPr>
        <p:txBody>
          <a:bodyPr wrap="square">
            <a:spAutoFit/>
          </a:bodyPr>
          <a:lstStyle/>
          <a:p>
            <a:pPr>
              <a:lnSpc>
                <a:spcPct val="90000"/>
              </a:lnSpc>
            </a:pPr>
            <a:r>
              <a:rPr lang="en-GB" altLang="en-US" sz="3200" dirty="0">
                <a:latin typeface="Arial" panose="020B0604020202020204" pitchFamily="34" charset="0"/>
                <a:cs typeface="Arial" panose="020B0604020202020204" pitchFamily="34" charset="0"/>
              </a:rPr>
              <a:t>Children are born with a fragile sense self and are extremely vulnerable</a:t>
            </a:r>
          </a:p>
          <a:p>
            <a:pPr>
              <a:lnSpc>
                <a:spcPct val="90000"/>
              </a:lnSpc>
            </a:pPr>
            <a:endParaRPr lang="en-GB" altLang="en-US" sz="3200" dirty="0">
              <a:latin typeface="Arial" panose="020B0604020202020204" pitchFamily="34" charset="0"/>
              <a:cs typeface="Arial" panose="020B0604020202020204" pitchFamily="34" charset="0"/>
            </a:endParaRPr>
          </a:p>
          <a:p>
            <a:pPr>
              <a:lnSpc>
                <a:spcPct val="90000"/>
              </a:lnSpc>
            </a:pPr>
            <a:r>
              <a:rPr lang="en-GB" altLang="en-US" sz="3200" dirty="0">
                <a:latin typeface="Arial" panose="020B0604020202020204" pitchFamily="34" charset="0"/>
                <a:cs typeface="Arial" panose="020B0604020202020204" pitchFamily="34" charset="0"/>
              </a:rPr>
              <a:t>If they experience </a:t>
            </a:r>
            <a:r>
              <a:rPr lang="en-GB" altLang="en-US" sz="3200" b="1" dirty="0" smtClean="0">
                <a:latin typeface="Arial" panose="020B0604020202020204" pitchFamily="34" charset="0"/>
                <a:cs typeface="Arial" panose="020B0604020202020204" pitchFamily="34" charset="0"/>
              </a:rPr>
              <a:t>abuse</a:t>
            </a:r>
            <a:r>
              <a:rPr lang="en-GB" altLang="en-US" sz="3200" dirty="0" smtClean="0">
                <a:latin typeface="Arial" panose="020B0604020202020204" pitchFamily="34" charset="0"/>
                <a:cs typeface="Arial" panose="020B0604020202020204" pitchFamily="34" charset="0"/>
              </a:rPr>
              <a:t>, this </a:t>
            </a:r>
            <a:r>
              <a:rPr lang="en-GB" altLang="en-US" sz="3200" dirty="0">
                <a:latin typeface="Arial" panose="020B0604020202020204" pitchFamily="34" charset="0"/>
                <a:cs typeface="Arial" panose="020B0604020202020204" pitchFamily="34" charset="0"/>
              </a:rPr>
              <a:t>leads to </a:t>
            </a:r>
            <a:r>
              <a:rPr lang="en-GB" altLang="en-US" sz="3200" b="1" dirty="0" smtClean="0">
                <a:latin typeface="Arial" panose="020B0604020202020204" pitchFamily="34" charset="0"/>
                <a:cs typeface="Arial" panose="020B0604020202020204" pitchFamily="34" charset="0"/>
              </a:rPr>
              <a:t>fear</a:t>
            </a:r>
            <a:r>
              <a:rPr lang="en-GB" altLang="en-US" sz="3200" dirty="0" smtClean="0">
                <a:latin typeface="Arial" panose="020B0604020202020204" pitchFamily="34" charset="0"/>
                <a:cs typeface="Arial" panose="020B0604020202020204" pitchFamily="34" charset="0"/>
              </a:rPr>
              <a:t>, which </a:t>
            </a:r>
            <a:r>
              <a:rPr lang="en-GB" altLang="en-US" sz="3200" dirty="0">
                <a:latin typeface="Arial" panose="020B0604020202020204" pitchFamily="34" charset="0"/>
                <a:cs typeface="Arial" panose="020B0604020202020204" pitchFamily="34" charset="0"/>
              </a:rPr>
              <a:t>leads to abnormally high levels of </a:t>
            </a:r>
            <a:r>
              <a:rPr lang="en-GB" altLang="en-US" sz="3200" b="1" dirty="0" smtClean="0">
                <a:latin typeface="Arial" panose="020B0604020202020204" pitchFamily="34" charset="0"/>
                <a:cs typeface="Arial" panose="020B0604020202020204" pitchFamily="34" charset="0"/>
              </a:rPr>
              <a:t>stress</a:t>
            </a:r>
            <a:r>
              <a:rPr lang="en-GB" altLang="en-US" sz="3200" dirty="0" smtClean="0">
                <a:latin typeface="Arial" panose="020B0604020202020204" pitchFamily="34" charset="0"/>
                <a:cs typeface="Arial" panose="020B0604020202020204" pitchFamily="34" charset="0"/>
              </a:rPr>
              <a:t> hormones</a:t>
            </a:r>
            <a:endParaRPr lang="en-GB" altLang="en-US" sz="3200" dirty="0">
              <a:latin typeface="Arial" panose="020B0604020202020204" pitchFamily="34" charset="0"/>
              <a:cs typeface="Arial" panose="020B0604020202020204" pitchFamily="34" charset="0"/>
            </a:endParaRPr>
          </a:p>
          <a:p>
            <a:pPr>
              <a:lnSpc>
                <a:spcPct val="90000"/>
              </a:lnSpc>
            </a:pPr>
            <a:r>
              <a:rPr lang="en-GB" alt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1318226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436173" y="9910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altLang="en-US" sz="4400" dirty="0">
                <a:latin typeface="Arial" panose="020B0604020202020204" pitchFamily="34" charset="0"/>
                <a:cs typeface="Arial" panose="020B0604020202020204" pitchFamily="34" charset="0"/>
              </a:rPr>
              <a:t>These high levels can affect</a:t>
            </a:r>
          </a:p>
        </p:txBody>
      </p:sp>
      <p:sp>
        <p:nvSpPr>
          <p:cNvPr id="3" name="Rectangle 2"/>
          <p:cNvSpPr/>
          <p:nvPr/>
        </p:nvSpPr>
        <p:spPr>
          <a:xfrm>
            <a:off x="-850007" y="2391921"/>
            <a:ext cx="9672035" cy="2369880"/>
          </a:xfrm>
          <a:prstGeom prst="rect">
            <a:avLst/>
          </a:prstGeom>
        </p:spPr>
        <p:txBody>
          <a:bodyPr wrap="square">
            <a:spAutoFit/>
          </a:bodyPr>
          <a:lstStyle/>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Child’s ability to think</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Retrieve information</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Manage behaviour</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Immune system – vulnerable to infection              </a:t>
            </a:r>
            <a:endParaRPr lang="en-US" altLang="en-US" sz="3200"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78362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txBox="1">
            <a:spLocks/>
          </p:cNvSpPr>
          <p:nvPr/>
        </p:nvSpPr>
        <p:spPr>
          <a:xfrm>
            <a:off x="685800" y="1268413"/>
            <a:ext cx="38100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GB" altLang="en-US" smtClean="0">
                <a:solidFill>
                  <a:srgbClr val="FF0000"/>
                </a:solidFill>
                <a:latin typeface="+mj-lt"/>
                <a:cs typeface="Arial" panose="020B0604020202020204" pitchFamily="34" charset="0"/>
              </a:rPr>
              <a:t>Reptilian brain is about avoiding harm and seeking resource for sustenance </a:t>
            </a:r>
          </a:p>
          <a:p>
            <a:pPr>
              <a:defRPr/>
            </a:pPr>
            <a:r>
              <a:rPr lang="en-GB" altLang="en-US" smtClean="0">
                <a:solidFill>
                  <a:srgbClr val="FFFF00"/>
                </a:solidFill>
                <a:latin typeface="+mj-lt"/>
                <a:cs typeface="Arial" panose="020B0604020202020204" pitchFamily="34" charset="0"/>
              </a:rPr>
              <a:t>Mid-brain is centre for emotion</a:t>
            </a:r>
          </a:p>
          <a:p>
            <a:pPr>
              <a:defRPr/>
            </a:pPr>
            <a:r>
              <a:rPr lang="en-GB" altLang="en-US" smtClean="0">
                <a:solidFill>
                  <a:schemeClr val="accent1"/>
                </a:solidFill>
                <a:latin typeface="+mj-lt"/>
                <a:cs typeface="Arial" panose="020B0604020202020204" pitchFamily="34" charset="0"/>
              </a:rPr>
              <a:t>Prefrontal-cortex for thinking</a:t>
            </a:r>
            <a:endParaRPr lang="en-GB" altLang="en-US" dirty="0" smtClean="0">
              <a:solidFill>
                <a:schemeClr val="accent1"/>
              </a:solidFill>
              <a:latin typeface="+mj-lt"/>
              <a:cs typeface="Arial" panose="020B0604020202020204" pitchFamily="34" charset="0"/>
            </a:endParaRPr>
          </a:p>
        </p:txBody>
      </p:sp>
      <p:pic>
        <p:nvPicPr>
          <p:cNvPr id="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1341438"/>
            <a:ext cx="3729038"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5"/>
          <p:cNvSpPr txBox="1">
            <a:spLocks noChangeArrowheads="1"/>
          </p:cNvSpPr>
          <p:nvPr/>
        </p:nvSpPr>
        <p:spPr bwMode="auto">
          <a:xfrm>
            <a:off x="5076825" y="6308725"/>
            <a:ext cx="1365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defRPr/>
            </a:pPr>
            <a:r>
              <a:rPr lang="en-GB" altLang="en-US" sz="1400" i="1" dirty="0" smtClean="0">
                <a:latin typeface="+mj-lt"/>
                <a:cs typeface="Arial" panose="020B0604020202020204" pitchFamily="34" charset="0"/>
              </a:rPr>
              <a:t>(Paul MacLean)</a:t>
            </a:r>
          </a:p>
        </p:txBody>
      </p:sp>
    </p:spTree>
    <p:extLst>
      <p:ext uri="{BB962C8B-B14F-4D97-AF65-F5344CB8AC3E}">
        <p14:creationId xmlns:p14="http://schemas.microsoft.com/office/powerpoint/2010/main" val="337658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Brain Stem</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The brain stem </a:t>
            </a:r>
            <a:r>
              <a:rPr lang="en-GB" altLang="en-US" sz="3200" dirty="0" smtClean="0">
                <a:latin typeface="Arial" panose="020B0604020202020204" pitchFamily="34" charset="0"/>
                <a:cs typeface="Arial" panose="020B0604020202020204" pitchFamily="34" charset="0"/>
              </a:rPr>
              <a:t>– responsible for fight, flight and freeze responses</a:t>
            </a:r>
            <a:endParaRPr lang="en-GB" altLang="en-US" sz="3200" b="1" dirty="0" smtClean="0">
              <a:latin typeface="Arial" panose="020B0604020202020204" pitchFamily="34" charset="0"/>
              <a:cs typeface="Arial" panose="020B0604020202020204" pitchFamily="34" charset="0"/>
            </a:endParaRPr>
          </a:p>
          <a:p>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b="1" dirty="0" smtClean="0">
                <a:latin typeface="Arial" panose="020B0604020202020204" pitchFamily="34" charset="0"/>
                <a:cs typeface="Arial" panose="020B0604020202020204" pitchFamily="34" charset="0"/>
              </a:rPr>
              <a:t>Those children with attachment difficulties </a:t>
            </a:r>
            <a:r>
              <a:rPr lang="en-GB" altLang="en-US" sz="3200" dirty="0" smtClean="0">
                <a:latin typeface="Arial" panose="020B0604020202020204" pitchFamily="34" charset="0"/>
                <a:cs typeface="Arial" panose="020B0604020202020204" pitchFamily="34" charset="0"/>
              </a:rPr>
              <a:t>have a highly developed brain stem, since they use it on a continual basis</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95049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44305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So what</a:t>
            </a:r>
            <a:endParaRPr lang="es-ES" sz="4400" dirty="0">
              <a:solidFill>
                <a:schemeClr val="bg1">
                  <a:lumMod val="50000"/>
                </a:schemeClr>
              </a:solidFill>
              <a:latin typeface="Calibri" charset="0"/>
            </a:endParaRPr>
          </a:p>
        </p:txBody>
      </p:sp>
      <p:sp>
        <p:nvSpPr>
          <p:cNvPr id="3" name="Rectangle 2"/>
          <p:cNvSpPr/>
          <p:nvPr/>
        </p:nvSpPr>
        <p:spPr>
          <a:xfrm>
            <a:off x="307909" y="1511560"/>
            <a:ext cx="8490857" cy="5262979"/>
          </a:xfrm>
          <a:prstGeom prst="rect">
            <a:avLst/>
          </a:prstGeom>
        </p:spPr>
        <p:txBody>
          <a:bodyPr wrap="square">
            <a:spAutoFit/>
          </a:bodyPr>
          <a:lstStyle/>
          <a:p>
            <a:r>
              <a:rPr lang="en-GB" altLang="en-US" sz="2800" b="1" dirty="0" smtClean="0">
                <a:latin typeface="Arial" panose="020B0604020202020204" pitchFamily="34" charset="0"/>
                <a:cs typeface="Arial" panose="020B0604020202020204" pitchFamily="34" charset="0"/>
              </a:rPr>
              <a:t>Over-use of the brain stem </a:t>
            </a:r>
            <a:r>
              <a:rPr lang="en-GB" altLang="en-US" sz="2800" dirty="0" smtClean="0">
                <a:latin typeface="Arial" panose="020B0604020202020204" pitchFamily="34" charset="0"/>
                <a:cs typeface="Arial" panose="020B0604020202020204" pitchFamily="34" charset="0"/>
              </a:rPr>
              <a:t>compromises the developing pre-frontal cortex which is responsible for:</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Empathy</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Logic</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Cause and effect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Reasoning </a:t>
            </a: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Organisation</a:t>
            </a:r>
          </a:p>
          <a:p>
            <a:endParaRPr lang="en-GB" altLang="en-US" sz="2800" b="1"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Clearly there are implications for learning and behaviour in the classroom</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2346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738188" y="1012825"/>
            <a:ext cx="77057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defRPr/>
            </a:pPr>
            <a:r>
              <a:rPr lang="en-GB" altLang="en-US" sz="3600" dirty="0">
                <a:latin typeface="+mj-lt"/>
                <a:cs typeface="Arial" panose="020B0604020202020204" pitchFamily="34" charset="0"/>
              </a:rPr>
              <a:t>M</a:t>
            </a:r>
            <a:r>
              <a:rPr lang="en-GB" altLang="en-US" sz="3600" dirty="0" smtClean="0">
                <a:latin typeface="+mj-lt"/>
                <a:cs typeface="Arial" panose="020B0604020202020204" pitchFamily="34" charset="0"/>
              </a:rPr>
              <a:t>anifestation of early care giving experiences</a:t>
            </a:r>
          </a:p>
        </p:txBody>
      </p:sp>
      <p:sp>
        <p:nvSpPr>
          <p:cNvPr id="3" name="Rectangle 10"/>
          <p:cNvSpPr txBox="1">
            <a:spLocks noChangeArrowheads="1"/>
          </p:cNvSpPr>
          <p:nvPr/>
        </p:nvSpPr>
        <p:spPr>
          <a:xfrm>
            <a:off x="611188" y="2708275"/>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GB" altLang="en-US" b="1" dirty="0" smtClean="0">
                <a:latin typeface="+mj-lt"/>
                <a:cs typeface="Arial" charset="0"/>
              </a:rPr>
              <a:t>Two dimensions:</a:t>
            </a:r>
          </a:p>
          <a:p>
            <a:pPr>
              <a:defRPr/>
            </a:pPr>
            <a:r>
              <a:rPr lang="en-US" altLang="en-US" dirty="0" smtClean="0">
                <a:latin typeface="+mj-lt"/>
              </a:rPr>
              <a:t>Internal constellation – working model</a:t>
            </a:r>
          </a:p>
          <a:p>
            <a:pPr>
              <a:defRPr/>
            </a:pPr>
            <a:r>
              <a:rPr lang="en-US" altLang="en-US" dirty="0" smtClean="0">
                <a:latin typeface="+mj-lt"/>
              </a:rPr>
              <a:t>External manifestation - Behaviour</a:t>
            </a:r>
          </a:p>
        </p:txBody>
      </p:sp>
    </p:spTree>
    <p:extLst>
      <p:ext uri="{BB962C8B-B14F-4D97-AF65-F5344CB8AC3E}">
        <p14:creationId xmlns:p14="http://schemas.microsoft.com/office/powerpoint/2010/main" val="283701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1619250" y="981075"/>
            <a:ext cx="5184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u="sng" dirty="0" smtClean="0">
                <a:latin typeface="+mj-lt"/>
              </a:rPr>
              <a:t>Internal</a:t>
            </a:r>
            <a:r>
              <a:rPr lang="en-US" altLang="en-US" sz="3600" dirty="0" smtClean="0">
                <a:latin typeface="+mj-lt"/>
              </a:rPr>
              <a:t> working model</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defRPr/>
            </a:pPr>
            <a:r>
              <a:rPr lang="en-US" sz="2800" b="1" dirty="0" smtClean="0">
                <a:latin typeface="+mj-lt"/>
                <a:cs typeface="Arial" panose="020B0604020202020204" pitchFamily="34" charset="0"/>
              </a:rPr>
              <a:t>A child’s experience of caregiving helps create;</a:t>
            </a:r>
          </a:p>
          <a:p>
            <a:pPr>
              <a:defRPr/>
            </a:pPr>
            <a:r>
              <a:rPr lang="en-US" sz="2800" dirty="0" smtClean="0">
                <a:latin typeface="+mj-lt"/>
                <a:cs typeface="Arial" panose="020B0604020202020204" pitchFamily="34" charset="0"/>
              </a:rPr>
              <a:t>A working model to help the child survive  </a:t>
            </a:r>
          </a:p>
          <a:p>
            <a:pPr>
              <a:defRPr/>
            </a:pPr>
            <a:r>
              <a:rPr lang="en-US" sz="2800" dirty="0" smtClean="0">
                <a:latin typeface="+mj-lt"/>
                <a:cs typeface="Arial" panose="020B0604020202020204" pitchFamily="34" charset="0"/>
              </a:rPr>
              <a:t>A map of the self and of the world which is needed in order to be able to predict, control and manipulate the environment.’  </a:t>
            </a:r>
          </a:p>
          <a:p>
            <a:pPr>
              <a:defRPr/>
            </a:pPr>
            <a:r>
              <a:rPr lang="en-US" sz="2800" dirty="0" smtClean="0">
                <a:latin typeface="+mj-lt"/>
                <a:cs typeface="Arial" panose="020B0604020202020204" pitchFamily="34" charset="0"/>
              </a:rPr>
              <a:t>An internal model that  consists of the child’s concept of self, others, the world and relationships</a:t>
            </a:r>
            <a:endParaRPr lang="en-US" altLang="en-US" sz="2800" dirty="0" smtClean="0">
              <a:latin typeface="+mj-lt"/>
              <a:cs typeface="Arial" panose="020B0604020202020204" pitchFamily="34" charset="0"/>
            </a:endParaRPr>
          </a:p>
        </p:txBody>
      </p:sp>
    </p:spTree>
    <p:extLst>
      <p:ext uri="{BB962C8B-B14F-4D97-AF65-F5344CB8AC3E}">
        <p14:creationId xmlns:p14="http://schemas.microsoft.com/office/powerpoint/2010/main" val="305044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19138" y="1774825"/>
          <a:ext cx="7705726" cy="4090988"/>
        </p:xfrm>
        <a:graphic>
          <a:graphicData uri="http://schemas.openxmlformats.org/drawingml/2006/table">
            <a:tbl>
              <a:tblPr firstRow="1" firstCol="1" lastRow="1" lastCol="1" bandRow="1" bandCol="1">
                <a:tableStyleId>{5C22544A-7EE6-4342-B048-85BDC9FD1C3A}</a:tableStyleId>
              </a:tblPr>
              <a:tblGrid>
                <a:gridCol w="3852863">
                  <a:extLst>
                    <a:ext uri="{9D8B030D-6E8A-4147-A177-3AD203B41FA5}">
                      <a16:colId xmlns:a16="http://schemas.microsoft.com/office/drawing/2014/main" val="20000"/>
                    </a:ext>
                  </a:extLst>
                </a:gridCol>
                <a:gridCol w="3852863">
                  <a:extLst>
                    <a:ext uri="{9D8B030D-6E8A-4147-A177-3AD203B41FA5}">
                      <a16:colId xmlns:a16="http://schemas.microsoft.com/office/drawing/2014/main" val="20001"/>
                    </a:ext>
                  </a:extLst>
                </a:gridCol>
              </a:tblGrid>
              <a:tr h="629383">
                <a:tc gridSpan="2">
                  <a:txBody>
                    <a:bodyPr/>
                    <a:lstStyle/>
                    <a:p>
                      <a:pPr algn="ctr">
                        <a:spcAft>
                          <a:spcPts val="0"/>
                        </a:spcAft>
                      </a:pPr>
                      <a:r>
                        <a:rPr lang="en-US" sz="1800" dirty="0">
                          <a:effectLst/>
                          <a:latin typeface="Arial" panose="020B0604020202020204" pitchFamily="34" charset="0"/>
                          <a:cs typeface="Arial" panose="020B0604020202020204" pitchFamily="34" charset="0"/>
                        </a:rPr>
                        <a:t>Internal Working Model</a:t>
                      </a:r>
                      <a:endParaRPr lang="en-GB" sz="1800" dirty="0">
                        <a:effectLst/>
                        <a:latin typeface="Arial" panose="020B0604020202020204" pitchFamily="34" charset="0"/>
                        <a:cs typeface="Arial" panose="020B0604020202020204" pitchFamily="34" charset="0"/>
                      </a:endParaRPr>
                    </a:p>
                    <a:p>
                      <a:pPr algn="ctr">
                        <a:spcAft>
                          <a:spcPts val="0"/>
                        </a:spcAft>
                      </a:pPr>
                      <a:r>
                        <a:rPr lang="en-US" sz="1800" dirty="0">
                          <a:effectLst/>
                          <a:latin typeface="Arial" panose="020B0604020202020204" pitchFamily="34" charset="0"/>
                          <a:cs typeface="Arial" panose="020B0604020202020204" pitchFamily="34" charset="0"/>
                        </a:rPr>
                        <a:t>(</a:t>
                      </a:r>
                      <a:r>
                        <a:rPr lang="en-US" sz="1800" dirty="0" err="1">
                          <a:effectLst/>
                          <a:latin typeface="Arial" panose="020B0604020202020204" pitchFamily="34" charset="0"/>
                          <a:cs typeface="Arial" panose="020B0604020202020204" pitchFamily="34" charset="0"/>
                        </a:rPr>
                        <a:t>organised</a:t>
                      </a:r>
                      <a:r>
                        <a:rPr lang="en-US" sz="1800" dirty="0">
                          <a:effectLst/>
                          <a:latin typeface="Arial" panose="020B0604020202020204" pitchFamily="34" charset="0"/>
                          <a:cs typeface="Arial" panose="020B0604020202020204" pitchFamily="34" charset="0"/>
                        </a:rPr>
                        <a:t> mental representations of the self and others)</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hMerge="1">
                  <a:txBody>
                    <a:bodyPr/>
                    <a:lstStyle/>
                    <a:p>
                      <a:endParaRPr lang="en-GB"/>
                    </a:p>
                  </a:txBody>
                  <a:tcPr/>
                </a:tc>
                <a:extLst>
                  <a:ext uri="{0D108BD9-81ED-4DB2-BD59-A6C34878D82A}">
                    <a16:rowId xmlns:a16="http://schemas.microsoft.com/office/drawing/2014/main" val="10000"/>
                  </a:ext>
                </a:extLst>
              </a:tr>
              <a:tr h="314692">
                <a:tc>
                  <a:txBody>
                    <a:bodyPr/>
                    <a:lstStyle/>
                    <a:p>
                      <a:pPr algn="ctr">
                        <a:spcAft>
                          <a:spcPts val="0"/>
                        </a:spcAft>
                      </a:pPr>
                      <a:r>
                        <a:rPr lang="en-US" sz="1800" dirty="0">
                          <a:effectLst/>
                          <a:latin typeface="Arial" panose="020B0604020202020204" pitchFamily="34" charset="0"/>
                          <a:cs typeface="Arial" panose="020B0604020202020204" pitchFamily="34" charset="0"/>
                        </a:rPr>
                        <a:t>Positive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spcAft>
                          <a:spcPts val="0"/>
                        </a:spcAft>
                      </a:pPr>
                      <a:r>
                        <a:rPr lang="en-US" sz="1800">
                          <a:effectLst/>
                          <a:latin typeface="Arial" panose="020B0604020202020204" pitchFamily="34" charset="0"/>
                          <a:cs typeface="Arial" panose="020B0604020202020204" pitchFamily="34" charset="0"/>
                        </a:rPr>
                        <a:t>Negative</a:t>
                      </a:r>
                      <a:endParaRPr lang="en-GB" sz="18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1258765">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worthwhile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capable</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a:effectLst/>
                          <a:latin typeface="Arial" panose="020B0604020202020204" pitchFamily="34" charset="0"/>
                          <a:cs typeface="Arial" panose="020B0604020202020204" pitchFamily="34" charset="0"/>
                        </a:rPr>
                        <a:t>Self</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worthless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unsafe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I am impotent</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1888148">
                <a:tc>
                  <a:txBody>
                    <a:bodyPr/>
                    <a:lstStyle/>
                    <a:p>
                      <a:pPr>
                        <a:spcAft>
                          <a:spcPts val="0"/>
                        </a:spcAft>
                      </a:pPr>
                      <a:r>
                        <a:rPr lang="en-US" sz="1800" u="sng">
                          <a:effectLst/>
                          <a:latin typeface="Arial" panose="020B0604020202020204" pitchFamily="34" charset="0"/>
                          <a:cs typeface="Arial" panose="020B0604020202020204" pitchFamily="34" charset="0"/>
                        </a:rPr>
                        <a:t>Carers/others</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available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are responsive</a:t>
                      </a:r>
                      <a:endParaRPr lang="en-GB" sz="1800">
                        <a:effectLst/>
                        <a:latin typeface="Arial" panose="020B0604020202020204" pitchFamily="34" charset="0"/>
                        <a:cs typeface="Arial" panose="020B0604020202020204" pitchFamily="34" charset="0"/>
                      </a:endParaRPr>
                    </a:p>
                    <a:p>
                      <a:pPr>
                        <a:spcAft>
                          <a:spcPts val="0"/>
                        </a:spcAft>
                      </a:pPr>
                      <a:r>
                        <a:rPr lang="en-US" sz="1800">
                          <a:effectLst/>
                          <a:latin typeface="Arial" panose="020B0604020202020204" pitchFamily="34" charset="0"/>
                          <a:cs typeface="Arial" panose="020B0604020202020204" pitchFamily="34" charset="0"/>
                        </a:rPr>
                        <a:t>They meet my needs</a:t>
                      </a:r>
                      <a:endParaRPr lang="en-GB" sz="18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spcAft>
                          <a:spcPts val="0"/>
                        </a:spcAft>
                      </a:pPr>
                      <a:r>
                        <a:rPr lang="en-US" sz="1800" u="sng" dirty="0" err="1">
                          <a:effectLst/>
                          <a:latin typeface="Arial" panose="020B0604020202020204" pitchFamily="34" charset="0"/>
                          <a:cs typeface="Arial" panose="020B0604020202020204" pitchFamily="34" charset="0"/>
                        </a:rPr>
                        <a:t>Carers</a:t>
                      </a:r>
                      <a:r>
                        <a:rPr lang="en-US" sz="1800" u="sng" dirty="0">
                          <a:effectLst/>
                          <a:latin typeface="Arial" panose="020B0604020202020204" pitchFamily="34" charset="0"/>
                          <a:cs typeface="Arial" panose="020B0604020202020204" pitchFamily="34" charset="0"/>
                        </a:rPr>
                        <a:t>/others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unresponsive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unreliable</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threatening</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dangerous</a:t>
                      </a:r>
                      <a:endParaRPr lang="en-GB" sz="1800" dirty="0">
                        <a:effectLst/>
                        <a:latin typeface="Arial" panose="020B0604020202020204" pitchFamily="34" charset="0"/>
                        <a:cs typeface="Arial" panose="020B0604020202020204" pitchFamily="34" charset="0"/>
                      </a:endParaRPr>
                    </a:p>
                    <a:p>
                      <a:pPr>
                        <a:spcAft>
                          <a:spcPts val="0"/>
                        </a:spcAft>
                      </a:pPr>
                      <a:r>
                        <a:rPr lang="en-US" sz="1800" dirty="0">
                          <a:effectLst/>
                          <a:latin typeface="Arial" panose="020B0604020202020204" pitchFamily="34" charset="0"/>
                          <a:cs typeface="Arial" panose="020B0604020202020204" pitchFamily="34" charset="0"/>
                        </a:rPr>
                        <a:t>They are rejecting</a:t>
                      </a:r>
                      <a:endParaRPr lang="en-GB" sz="18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37996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p:cNvSpPr txBox="1">
            <a:spLocks noChangeArrowheads="1"/>
          </p:cNvSpPr>
          <p:nvPr/>
        </p:nvSpPr>
        <p:spPr bwMode="auto">
          <a:xfrm>
            <a:off x="719138" y="981075"/>
            <a:ext cx="723741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defRPr/>
            </a:pPr>
            <a:r>
              <a:rPr lang="en-US" altLang="en-US" sz="3600" u="sng" dirty="0" smtClean="0">
                <a:latin typeface="+mj-lt"/>
              </a:rPr>
              <a:t>External</a:t>
            </a:r>
            <a:r>
              <a:rPr lang="en-US" altLang="en-US" sz="3600" dirty="0" smtClean="0">
                <a:latin typeface="+mj-lt"/>
              </a:rPr>
              <a:t> Manifestation - Behaviour</a:t>
            </a:r>
          </a:p>
        </p:txBody>
      </p:sp>
      <p:sp>
        <p:nvSpPr>
          <p:cNvPr id="3" name="Rectangle 10"/>
          <p:cNvSpPr txBox="1">
            <a:spLocks noChangeArrowheads="1"/>
          </p:cNvSpPr>
          <p:nvPr/>
        </p:nvSpPr>
        <p:spPr>
          <a:xfrm>
            <a:off x="611188" y="1989138"/>
            <a:ext cx="7772400" cy="360045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Tx/>
              <a:buNone/>
            </a:pPr>
            <a:r>
              <a:rPr lang="en-GB" altLang="en-US" sz="3600" smtClean="0">
                <a:latin typeface="Arial" panose="020B0604020202020204" pitchFamily="34" charset="0"/>
                <a:cs typeface="Arial" panose="020B0604020202020204" pitchFamily="34" charset="0"/>
              </a:rPr>
              <a:t>Understanding the different types of attachment and associated behavioural responses</a:t>
            </a:r>
            <a:endParaRPr lang="en-US" altLang="en-US" smtClean="0">
              <a:latin typeface="Arial" panose="020B0604020202020204" pitchFamily="34" charset="0"/>
            </a:endParaRPr>
          </a:p>
          <a:p>
            <a:pPr marL="0" indent="0">
              <a:buFontTx/>
              <a:buNone/>
            </a:pPr>
            <a:endParaRPr lang="en-US" altLang="en-US" dirty="0" smtClean="0">
              <a:latin typeface="Arial" panose="020B0604020202020204" pitchFamily="34" charset="0"/>
            </a:endParaRPr>
          </a:p>
        </p:txBody>
      </p:sp>
    </p:spTree>
    <p:extLst>
      <p:ext uri="{BB962C8B-B14F-4D97-AF65-F5344CB8AC3E}">
        <p14:creationId xmlns:p14="http://schemas.microsoft.com/office/powerpoint/2010/main" val="104580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685800" y="1981200"/>
            <a:ext cx="7772400" cy="41148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None/>
              <a:defRPr/>
            </a:pPr>
            <a:r>
              <a:rPr lang="en-GB" altLang="en-US" sz="4400" b="1" smtClean="0">
                <a:solidFill>
                  <a:srgbClr val="FF6600"/>
                </a:solidFill>
              </a:rPr>
              <a:t>BEHAVIOUR HAS MEANING</a:t>
            </a:r>
          </a:p>
          <a:p>
            <a:pPr>
              <a:defRPr/>
            </a:pPr>
            <a:endParaRPr lang="en-GB" altLang="en-US" smtClean="0"/>
          </a:p>
          <a:p>
            <a:pPr>
              <a:defRPr/>
            </a:pPr>
            <a:r>
              <a:rPr lang="en-GB" altLang="en-US" smtClean="0"/>
              <a:t>A </a:t>
            </a:r>
            <a:r>
              <a:rPr lang="en-GB" altLang="en-US" b="1" i="1" smtClean="0">
                <a:solidFill>
                  <a:srgbClr val="FF6600"/>
                </a:solidFill>
              </a:rPr>
              <a:t>trigger</a:t>
            </a:r>
            <a:r>
              <a:rPr lang="en-GB" altLang="en-US" smtClean="0"/>
              <a:t> activates the </a:t>
            </a:r>
            <a:r>
              <a:rPr lang="en-GB" altLang="en-US" b="1" i="1" smtClean="0">
                <a:solidFill>
                  <a:srgbClr val="FF6600"/>
                </a:solidFill>
              </a:rPr>
              <a:t>attachment system </a:t>
            </a:r>
            <a:r>
              <a:rPr lang="en-GB" altLang="en-US" smtClean="0"/>
              <a:t>and generates </a:t>
            </a:r>
            <a:r>
              <a:rPr lang="en-GB" altLang="en-US" b="1" i="1" smtClean="0">
                <a:solidFill>
                  <a:srgbClr val="FF6600"/>
                </a:solidFill>
              </a:rPr>
              <a:t>attachment behaviours</a:t>
            </a:r>
            <a:r>
              <a:rPr lang="en-GB" altLang="en-US" smtClean="0"/>
              <a:t> to bring the </a:t>
            </a:r>
            <a:r>
              <a:rPr lang="en-GB" altLang="en-US" b="1" i="1" smtClean="0">
                <a:solidFill>
                  <a:srgbClr val="FF6600"/>
                </a:solidFill>
              </a:rPr>
              <a:t>attachment figure </a:t>
            </a:r>
            <a:r>
              <a:rPr lang="en-GB" altLang="en-US" smtClean="0"/>
              <a:t>close and restore a sense of </a:t>
            </a:r>
            <a:r>
              <a:rPr lang="en-GB" altLang="en-US" b="1" i="1" smtClean="0">
                <a:solidFill>
                  <a:srgbClr val="FF6600"/>
                </a:solidFill>
              </a:rPr>
              <a:t>safety</a:t>
            </a:r>
            <a:endParaRPr lang="en-US" altLang="en-US" b="1" i="1" smtClean="0">
              <a:solidFill>
                <a:srgbClr val="FF6600"/>
              </a:solidFill>
            </a:endParaRPr>
          </a:p>
          <a:p>
            <a:pPr marL="0" indent="0">
              <a:buFontTx/>
              <a:buNone/>
              <a:defRPr/>
            </a:pPr>
            <a:endParaRPr lang="en-GB" dirty="0"/>
          </a:p>
        </p:txBody>
      </p:sp>
    </p:spTree>
    <p:extLst>
      <p:ext uri="{BB962C8B-B14F-4D97-AF65-F5344CB8AC3E}">
        <p14:creationId xmlns:p14="http://schemas.microsoft.com/office/powerpoint/2010/main" val="2307442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6"/>
          <p:cNvSpPr txBox="1">
            <a:spLocks/>
          </p:cNvSpPr>
          <p:nvPr/>
        </p:nvSpPr>
        <p:spPr>
          <a:xfrm>
            <a:off x="685800" y="2051050"/>
            <a:ext cx="8001000" cy="4114800"/>
          </a:xfrm>
          <a:prstGeom prst="rect">
            <a:avLst/>
          </a:prstGeom>
        </p:spPr>
        <p:txBody>
          <a:bodyPr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Tx/>
              <a:buNone/>
              <a:defRPr/>
            </a:pPr>
            <a:r>
              <a:rPr lang="en-GB" altLang="en-US" smtClean="0"/>
              <a:t>“The less secure child may have so much uncertainty about the availability of the attachment figure that he/ she is preoccupied with keeping proximity to the detriment of exploration activity”</a:t>
            </a:r>
          </a:p>
          <a:p>
            <a:pPr marL="0" indent="0" algn="ctr">
              <a:buFontTx/>
              <a:buNone/>
              <a:defRPr/>
            </a:pPr>
            <a:endParaRPr lang="en-GB" altLang="en-US" sz="1800" smtClean="0"/>
          </a:p>
          <a:p>
            <a:pPr marL="0" indent="0" algn="ctr">
              <a:buFontTx/>
              <a:buNone/>
              <a:defRPr/>
            </a:pPr>
            <a:endParaRPr lang="en-GB" altLang="en-US" sz="1800" smtClean="0"/>
          </a:p>
          <a:p>
            <a:pPr marL="0" indent="0" algn="ctr">
              <a:buFontTx/>
              <a:buNone/>
              <a:defRPr/>
            </a:pPr>
            <a:endParaRPr lang="en-GB" altLang="en-US" sz="1800" smtClean="0"/>
          </a:p>
          <a:p>
            <a:pPr marL="0" indent="0" algn="r">
              <a:buFontTx/>
              <a:buNone/>
              <a:defRPr/>
            </a:pPr>
            <a:r>
              <a:rPr lang="en-GB" altLang="en-US" sz="1800" smtClean="0"/>
              <a:t>(Ainsworth et al) </a:t>
            </a:r>
            <a:endParaRPr lang="en-GB" altLang="en-US" sz="1800" i="1" smtClean="0">
              <a:solidFill>
                <a:srgbClr val="00B0F0"/>
              </a:solidFill>
            </a:endParaRPr>
          </a:p>
          <a:p>
            <a:pPr>
              <a:defRPr/>
            </a:pPr>
            <a:endParaRPr lang="en-US" dirty="0" smtClean="0"/>
          </a:p>
        </p:txBody>
      </p:sp>
    </p:spTree>
    <p:extLst>
      <p:ext uri="{BB962C8B-B14F-4D97-AF65-F5344CB8AC3E}">
        <p14:creationId xmlns:p14="http://schemas.microsoft.com/office/powerpoint/2010/main" val="291689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ox(in)">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658475" y="191739"/>
            <a:ext cx="7915370" cy="1167827"/>
          </a:xfrm>
        </p:spPr>
        <p:txBody>
          <a:bodyPr/>
          <a:lstStyle/>
          <a:p>
            <a:pPr marL="0" indent="0" algn="r">
              <a:buNone/>
            </a:pPr>
            <a:r>
              <a:rPr lang="en-US" sz="4400" dirty="0" smtClean="0">
                <a:solidFill>
                  <a:srgbClr val="47434F"/>
                </a:solidFill>
                <a:latin typeface="+mj-lt"/>
              </a:rPr>
              <a:t>The Story of the Three Mice</a:t>
            </a:r>
            <a:endParaRPr lang="en-US" sz="4400" dirty="0">
              <a:solidFill>
                <a:srgbClr val="47434F"/>
              </a:solidFill>
              <a:latin typeface="+mj-lt"/>
            </a:endParaRPr>
          </a:p>
        </p:txBody>
      </p:sp>
      <p:sp>
        <p:nvSpPr>
          <p:cNvPr id="10" name="Text Placeholder 9"/>
          <p:cNvSpPr>
            <a:spLocks noGrp="1"/>
          </p:cNvSpPr>
          <p:nvPr>
            <p:ph type="body" sz="quarter" idx="4294967295"/>
          </p:nvPr>
        </p:nvSpPr>
        <p:spPr>
          <a:xfrm>
            <a:off x="605555" y="1203521"/>
            <a:ext cx="8196153" cy="2812384"/>
          </a:xfrm>
        </p:spPr>
        <p:txBody>
          <a:bodyPr>
            <a:normAutofit fontScale="77500" lnSpcReduction="20000"/>
          </a:bodyPr>
          <a:lstStyle/>
          <a:p>
            <a:pPr>
              <a:lnSpc>
                <a:spcPct val="90000"/>
              </a:lnSpc>
            </a:pPr>
            <a:r>
              <a:rPr lang="en-GB" altLang="en-US" sz="4000" dirty="0">
                <a:latin typeface="Arial" charset="0"/>
              </a:rPr>
              <a:t>First mouse – each time he pressed the button a tasty morsel of food was delivered.</a:t>
            </a:r>
          </a:p>
          <a:p>
            <a:pPr>
              <a:lnSpc>
                <a:spcPct val="90000"/>
              </a:lnSpc>
            </a:pPr>
            <a:endParaRPr lang="en-GB" altLang="en-US" sz="4000" dirty="0">
              <a:latin typeface="Arial" charset="0"/>
            </a:endParaRPr>
          </a:p>
          <a:p>
            <a:pPr>
              <a:lnSpc>
                <a:spcPct val="90000"/>
              </a:lnSpc>
            </a:pPr>
            <a:r>
              <a:rPr lang="en-GB" altLang="en-US" sz="4000" dirty="0">
                <a:latin typeface="Arial" charset="0"/>
              </a:rPr>
              <a:t>Second mouse – faulty button delivered food inconsistently.</a:t>
            </a:r>
          </a:p>
          <a:p>
            <a:pPr>
              <a:lnSpc>
                <a:spcPct val="90000"/>
              </a:lnSpc>
            </a:pPr>
            <a:endParaRPr lang="en-GB" altLang="en-US" sz="4000" dirty="0">
              <a:latin typeface="Arial" charset="0"/>
            </a:endParaRPr>
          </a:p>
          <a:p>
            <a:pPr>
              <a:lnSpc>
                <a:spcPct val="90000"/>
              </a:lnSpc>
            </a:pPr>
            <a:r>
              <a:rPr lang="en-GB" altLang="en-US" sz="4000" dirty="0">
                <a:latin typeface="Arial" charset="0"/>
              </a:rPr>
              <a:t>Third mouse – Button didn’t </a:t>
            </a:r>
            <a:r>
              <a:rPr lang="en-GB" altLang="en-US" sz="4000">
                <a:latin typeface="Arial" charset="0"/>
              </a:rPr>
              <a:t>work </a:t>
            </a:r>
            <a:r>
              <a:rPr lang="en-GB" altLang="en-US" sz="4000" smtClean="0">
                <a:latin typeface="Arial" charset="0"/>
              </a:rPr>
              <a:t>at all.</a:t>
            </a:r>
            <a:endParaRPr lang="en-GB" sz="4000" b="1" dirty="0" smtClean="0">
              <a:solidFill>
                <a:srgbClr val="47434F"/>
              </a:solidFill>
              <a:latin typeface="+mn-lt"/>
            </a:endParaRPr>
          </a:p>
        </p:txBody>
      </p:sp>
      <p:pic>
        <p:nvPicPr>
          <p:cNvPr id="1026" name="Picture 2" descr="C:\Users\ggc247\AppData\Local\Microsoft\Windows\Temporary Internet Files\Content.IE5\7S5JTO0T\cheese-mic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789" y="4117371"/>
            <a:ext cx="2367004" cy="2335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224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7376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Types of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Secure Attachment</a:t>
            </a:r>
            <a:endParaRPr lang="en-GB" altLang="en-US" sz="32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altLang="en-US" sz="3200" b="1"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Insecure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Avoidant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Disorganised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smtClean="0">
                <a:latin typeface="Arial" panose="020B0604020202020204" pitchFamily="34" charset="0"/>
                <a:cs typeface="Arial" panose="020B0604020202020204" pitchFamily="34" charset="0"/>
              </a:rPr>
              <a:t>Ambivalent Attachment</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94786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093428"/>
          </a:xfrm>
          <a:prstGeom prst="rect">
            <a:avLst/>
          </a:prstGeom>
        </p:spPr>
        <p:txBody>
          <a:bodyPr wrap="square">
            <a:spAutoFit/>
          </a:bodyPr>
          <a:lstStyle/>
          <a:p>
            <a:r>
              <a:rPr lang="en-US" altLang="en-US" sz="2400" dirty="0" smtClean="0">
                <a:latin typeface="Arial" panose="020B0604020202020204" pitchFamily="34" charset="0"/>
                <a:cs typeface="Arial" panose="020B0604020202020204" pitchFamily="34" charset="0"/>
              </a:rPr>
              <a:t>Indicates a healthy and appropriate style of relating to another person</a:t>
            </a:r>
          </a:p>
          <a:p>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Bowlby</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“Good enough” parenting</a:t>
            </a:r>
          </a:p>
          <a:p>
            <a:pPr marL="342900" indent="-342900">
              <a:lnSpc>
                <a:spcPct val="15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To suggest that if a baby </a:t>
            </a:r>
            <a:r>
              <a:rPr lang="en-GB" altLang="en-US" sz="2400" dirty="0">
                <a:latin typeface="Arial" panose="020B0604020202020204" pitchFamily="34" charset="0"/>
                <a:cs typeface="Arial" panose="020B0604020202020204" pitchFamily="34" charset="0"/>
              </a:rPr>
              <a:t>had the experience of their needs </a:t>
            </a:r>
          </a:p>
          <a:p>
            <a:pPr>
              <a:lnSpc>
                <a:spcPct val="150000"/>
              </a:lnSpc>
            </a:pPr>
            <a:r>
              <a:rPr lang="en-GB" altLang="en-US" sz="2400" dirty="0">
                <a:latin typeface="Arial" panose="020B0604020202020204" pitchFamily="34" charset="0"/>
                <a:cs typeface="Arial" panose="020B0604020202020204" pitchFamily="34" charset="0"/>
              </a:rPr>
              <a:t>            being attended to and satisfied on a consistent basis, then he </a:t>
            </a:r>
            <a:r>
              <a:rPr lang="en-GB" altLang="en-US" sz="2400" dirty="0" smtClean="0">
                <a:latin typeface="Arial" panose="020B0604020202020204" pitchFamily="34" charset="0"/>
                <a:cs typeface="Arial" panose="020B0604020202020204" pitchFamily="34" charset="0"/>
              </a:rPr>
              <a:t>can develop a </a:t>
            </a:r>
            <a:r>
              <a:rPr lang="en-GB" altLang="en-US" sz="2400" b="1" dirty="0" smtClean="0">
                <a:latin typeface="Arial" panose="020B0604020202020204" pitchFamily="34" charset="0"/>
                <a:cs typeface="Arial" panose="020B0604020202020204" pitchFamily="34" charset="0"/>
              </a:rPr>
              <a:t>secure attachment </a:t>
            </a:r>
            <a:r>
              <a:rPr lang="en-GB" altLang="en-US" sz="2400" dirty="0" smtClean="0">
                <a:latin typeface="Arial" panose="020B0604020202020204" pitchFamily="34" charset="0"/>
                <a:cs typeface="Arial" panose="020B0604020202020204" pitchFamily="34" charset="0"/>
              </a:rPr>
              <a:t>to his/her parent</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7238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Secure Attachment </a:t>
            </a:r>
            <a:endParaRPr lang="es-ES" sz="4400" dirty="0">
              <a:solidFill>
                <a:schemeClr val="bg1">
                  <a:lumMod val="50000"/>
                </a:schemeClr>
              </a:solidFill>
              <a:latin typeface="Calibri" charset="0"/>
            </a:endParaRPr>
          </a:p>
        </p:txBody>
      </p:sp>
      <p:sp>
        <p:nvSpPr>
          <p:cNvPr id="3" name="Rectangle 2"/>
          <p:cNvSpPr/>
          <p:nvPr/>
        </p:nvSpPr>
        <p:spPr>
          <a:xfrm>
            <a:off x="307909" y="1820164"/>
            <a:ext cx="8490857" cy="4467057"/>
          </a:xfrm>
          <a:prstGeom prst="rect">
            <a:avLst/>
          </a:prstGeom>
        </p:spPr>
        <p:txBody>
          <a:bodyPr wrap="square">
            <a:spAutoFit/>
          </a:bodyPr>
          <a:lstStyle/>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Feel safe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Develop meaningful connections with others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Deal with stress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Balance emotions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comfort and security</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Children believe they are loveable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others can be trusted to meet their needs</a:t>
            </a:r>
          </a:p>
          <a:p>
            <a:pPr marL="342900" indent="-342900">
              <a:lnSpc>
                <a:spcPct val="15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They have the capacity to learn new things</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31808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4" y="27019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Develop</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26571" y="897972"/>
            <a:ext cx="8490857" cy="581697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 </a:t>
            </a:r>
            <a:r>
              <a:rPr lang="en-GB" altLang="en-US" sz="2400" dirty="0">
                <a:latin typeface="Arial" panose="020B0604020202020204" pitchFamily="34" charset="0"/>
                <a:cs typeface="Arial" panose="020B0604020202020204" pitchFamily="34" charset="0"/>
              </a:rPr>
              <a:t>self </a:t>
            </a:r>
            <a:r>
              <a:rPr lang="en-GB" altLang="en-US" sz="2400" dirty="0" smtClean="0">
                <a:latin typeface="Arial" panose="020B0604020202020204" pitchFamily="34" charset="0"/>
                <a:cs typeface="Arial" panose="020B0604020202020204" pitchFamily="34" charset="0"/>
              </a:rPr>
              <a:t>esteem</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Independence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Resilience</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Friendships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Social skills</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Trust</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Intimacy</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Affection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a:t>
            </a:r>
            <a:r>
              <a:rPr lang="en-GB" altLang="en-US" sz="2400" dirty="0" smtClean="0">
                <a:latin typeface="Arial" panose="020B0604020202020204" pitchFamily="34" charset="0"/>
                <a:cs typeface="Arial" panose="020B0604020202020204" pitchFamily="34" charset="0"/>
              </a:rPr>
              <a:t>mpathy</a:t>
            </a:r>
            <a:r>
              <a:rPr lang="en-GB" altLang="en-US" sz="24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Compassion</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Conscience</a:t>
            </a: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Positive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t>
            </a:r>
            <a:r>
              <a:rPr lang="en-GB" altLang="en-US" sz="2400" dirty="0" smtClean="0">
                <a:latin typeface="Arial" panose="020B0604020202020204" pitchFamily="34" charset="0"/>
                <a:cs typeface="Arial" panose="020B0604020202020204" pitchFamily="34" charset="0"/>
              </a:rPr>
              <a:t>opeful </a:t>
            </a:r>
            <a:r>
              <a:rPr lang="en-GB" altLang="en-US" sz="2400" dirty="0">
                <a:latin typeface="Arial" panose="020B0604020202020204" pitchFamily="34" charset="0"/>
                <a:cs typeface="Arial" panose="020B0604020202020204" pitchFamily="34" charset="0"/>
              </a:rPr>
              <a:t>belief </a:t>
            </a:r>
            <a:r>
              <a:rPr lang="en-GB" altLang="en-US" sz="2400" dirty="0" smtClean="0">
                <a:latin typeface="Arial" panose="020B0604020202020204" pitchFamily="34" charset="0"/>
                <a:cs typeface="Arial" panose="020B0604020202020204" pitchFamily="34" charset="0"/>
              </a:rPr>
              <a:t>systems</a:t>
            </a:r>
            <a:endParaRPr lang="en-GB"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Their behavioural performance and academic success in school is good</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00755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4" y="74408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Avoidant Attachment</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631065" y="1667413"/>
            <a:ext cx="785611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The child actively seeks to attend to their own </a:t>
            </a:r>
            <a:r>
              <a:rPr lang="en-GB" altLang="en-US" sz="2400" b="1" dirty="0" smtClean="0">
                <a:latin typeface="Arial" panose="020B0604020202020204" pitchFamily="34" charset="0"/>
                <a:cs typeface="Arial" panose="020B0604020202020204" pitchFamily="34" charset="0"/>
              </a:rPr>
              <a:t>needs</a:t>
            </a:r>
            <a:endParaRPr lang="en-GB" altLang="en-US" sz="2400" b="1" dirty="0">
              <a:latin typeface="Arial" panose="020B0604020202020204" pitchFamily="34" charset="0"/>
              <a:cs typeface="Arial" panose="020B0604020202020204" pitchFamily="34" charset="0"/>
            </a:endParaRPr>
          </a:p>
          <a:p>
            <a:pPr>
              <a:lnSpc>
                <a:spcPct val="90000"/>
              </a:lnSpc>
            </a:pPr>
            <a:endParaRPr lang="en-GB" altLang="en-US" sz="2400" b="1" dirty="0" smtClean="0">
              <a:latin typeface="Arial" panose="020B0604020202020204" pitchFamily="34" charset="0"/>
              <a:cs typeface="Arial" panose="020B0604020202020204" pitchFamily="34" charset="0"/>
            </a:endParaRPr>
          </a:p>
          <a:p>
            <a:pPr>
              <a:lnSpc>
                <a:spcPct val="90000"/>
              </a:lnSpc>
            </a:pPr>
            <a:r>
              <a:rPr lang="en-GB" altLang="en-US" sz="2400" b="1" dirty="0" smtClean="0">
                <a:latin typeface="Arial" panose="020B0604020202020204" pitchFamily="34" charset="0"/>
                <a:cs typeface="Arial" panose="020B0604020202020204" pitchFamily="34" charset="0"/>
              </a:rPr>
              <a:t>Avoidant </a:t>
            </a:r>
            <a:r>
              <a:rPr lang="en-GB" altLang="en-US" sz="2400" b="1" dirty="0">
                <a:latin typeface="Arial" panose="020B0604020202020204" pitchFamily="34" charset="0"/>
                <a:cs typeface="Arial" panose="020B0604020202020204" pitchFamily="34" charset="0"/>
              </a:rPr>
              <a:t>behaviour</a:t>
            </a:r>
            <a:r>
              <a:rPr lang="en-GB" altLang="en-US" sz="2400" b="1" dirty="0" smtClean="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relating to a depressed or abusive </a:t>
            </a:r>
            <a:r>
              <a:rPr lang="en-GB" altLang="en-US" sz="2400" dirty="0" smtClean="0">
                <a:latin typeface="Arial" panose="020B0604020202020204" pitchFamily="34" charset="0"/>
                <a:cs typeface="Arial" panose="020B0604020202020204" pitchFamily="34" charset="0"/>
              </a:rPr>
              <a:t>care-giver</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given precedence to their </a:t>
            </a:r>
            <a:r>
              <a:rPr lang="en-GB" altLang="en-US" sz="2400" dirty="0" smtClean="0">
                <a:latin typeface="Arial" panose="020B0604020202020204" pitchFamily="34" charset="0"/>
                <a:cs typeface="Arial" panose="020B0604020202020204" pitchFamily="34" charset="0"/>
              </a:rPr>
              <a:t>own needs </a:t>
            </a:r>
            <a:r>
              <a:rPr lang="en-GB" altLang="en-US" sz="2400" dirty="0">
                <a:latin typeface="Arial" panose="020B0604020202020204" pitchFamily="34" charset="0"/>
                <a:cs typeface="Arial" panose="020B0604020202020204" pitchFamily="34" charset="0"/>
              </a:rPr>
              <a:t>over the child’s </a:t>
            </a:r>
            <a:r>
              <a:rPr lang="en-GB" altLang="en-US" sz="2400" dirty="0" smtClean="0">
                <a:latin typeface="Arial" panose="020B0604020202020204" pitchFamily="34" charset="0"/>
                <a:cs typeface="Arial" panose="020B0604020202020204" pitchFamily="34" charset="0"/>
              </a:rPr>
              <a:t>needs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child </a:t>
            </a:r>
            <a:r>
              <a:rPr lang="en-GB" altLang="en-US" sz="2400" dirty="0">
                <a:latin typeface="Arial" panose="020B0604020202020204" pitchFamily="34" charset="0"/>
                <a:cs typeface="Arial" panose="020B0604020202020204" pitchFamily="34" charset="0"/>
              </a:rPr>
              <a:t>may have been viewed as </a:t>
            </a:r>
            <a:r>
              <a:rPr lang="en-GB" altLang="en-US" sz="2400" dirty="0" smtClean="0">
                <a:latin typeface="Arial" panose="020B0604020202020204" pitchFamily="34" charset="0"/>
                <a:cs typeface="Arial" panose="020B0604020202020204" pitchFamily="34" charset="0"/>
              </a:rPr>
              <a:t>annoying</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care-giver </a:t>
            </a:r>
            <a:r>
              <a:rPr lang="en-GB" altLang="en-US" sz="2400" dirty="0">
                <a:latin typeface="Arial" panose="020B0604020202020204" pitchFamily="34" charset="0"/>
                <a:cs typeface="Arial" panose="020B0604020202020204" pitchFamily="34" charset="0"/>
              </a:rPr>
              <a:t>may have been irritated or agitated by </a:t>
            </a:r>
            <a:r>
              <a:rPr lang="en-GB" altLang="en-US" sz="2400" dirty="0" smtClean="0">
                <a:latin typeface="Arial" panose="020B0604020202020204" pitchFamily="34" charset="0"/>
                <a:cs typeface="Arial" panose="020B0604020202020204" pitchFamily="34" charset="0"/>
              </a:rPr>
              <a:t>their presence</a:t>
            </a:r>
            <a:endParaRPr lang="en-US"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15423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5139869"/>
          </a:xfrm>
          <a:prstGeom prst="rect">
            <a:avLst/>
          </a:prstGeom>
        </p:spPr>
        <p:txBody>
          <a:bodyPr wrap="square">
            <a:spAutoFit/>
          </a:bodyPr>
          <a:lstStyle/>
          <a:p>
            <a:r>
              <a:rPr lang="en-US" altLang="en-US" sz="2800" b="1" dirty="0" smtClean="0">
                <a:latin typeface="Arial" panose="020B0604020202020204" pitchFamily="34" charset="0"/>
                <a:cs typeface="Arial" panose="020B0604020202020204" pitchFamily="34" charset="0"/>
              </a:rPr>
              <a:t>These children may</a:t>
            </a:r>
            <a:r>
              <a:rPr lang="en-US" altLang="en-US" sz="2400" b="1" dirty="0" smtClean="0">
                <a:latin typeface="Arial" panose="020B0604020202020204" pitchFamily="34" charset="0"/>
                <a:cs typeface="Arial" panose="020B0604020202020204" pitchFamily="34" charset="0"/>
              </a:rPr>
              <a:t>: </a:t>
            </a:r>
          </a:p>
          <a:p>
            <a:endParaRPr lang="en-US" altLang="en-US" sz="2400" b="1"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Shut </a:t>
            </a:r>
            <a:r>
              <a:rPr lang="en-GB" altLang="en-US" sz="2400" dirty="0">
                <a:latin typeface="Arial" panose="020B0604020202020204" pitchFamily="34" charset="0"/>
                <a:cs typeface="Arial" panose="020B0604020202020204" pitchFamily="34" charset="0"/>
              </a:rPr>
              <a:t>down or </a:t>
            </a:r>
            <a:r>
              <a:rPr lang="en-GB" altLang="en-US" sz="2400" dirty="0" smtClean="0">
                <a:latin typeface="Arial" panose="020B0604020202020204" pitchFamily="34" charset="0"/>
                <a:cs typeface="Arial" panose="020B0604020202020204" pitchFamily="34" charset="0"/>
              </a:rPr>
              <a:t>dissociate</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emotionally </a:t>
            </a:r>
            <a:r>
              <a:rPr lang="en-GB" altLang="en-US" sz="2400" dirty="0" smtClean="0">
                <a:latin typeface="Arial" panose="020B0604020202020204" pitchFamily="34" charset="0"/>
                <a:cs typeface="Arial" panose="020B0604020202020204" pitchFamily="34" charset="0"/>
              </a:rPr>
              <a:t>distant</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self sufficient and task </a:t>
            </a:r>
            <a:r>
              <a:rPr lang="en-GB" altLang="en-US" sz="2400" dirty="0" smtClean="0">
                <a:latin typeface="Arial" panose="020B0604020202020204" pitchFamily="34" charset="0"/>
                <a:cs typeface="Arial" panose="020B0604020202020204" pitchFamily="34" charset="0"/>
              </a:rPr>
              <a:t>orientated</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reluctant to ask for </a:t>
            </a:r>
            <a:r>
              <a:rPr lang="en-GB" altLang="en-US" sz="2400" dirty="0" smtClean="0">
                <a:latin typeface="Arial" panose="020B0604020202020204" pitchFamily="34" charset="0"/>
                <a:cs typeface="Arial" panose="020B0604020202020204" pitchFamily="34" charset="0"/>
              </a:rPr>
              <a:t>help</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in </a:t>
            </a:r>
            <a:r>
              <a:rPr lang="en-GB" altLang="en-US" sz="2400" dirty="0" smtClean="0">
                <a:latin typeface="Arial" panose="020B0604020202020204" pitchFamily="34" charset="0"/>
                <a:cs typeface="Arial" panose="020B0604020202020204" pitchFamily="34" charset="0"/>
              </a:rPr>
              <a:t>control</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Comply </a:t>
            </a:r>
            <a:r>
              <a:rPr lang="en-GB" altLang="en-US" sz="2400" dirty="0">
                <a:latin typeface="Arial" panose="020B0604020202020204" pitchFamily="34" charset="0"/>
                <a:cs typeface="Arial" panose="020B0604020202020204" pitchFamily="34" charset="0"/>
              </a:rPr>
              <a:t>and try to please </a:t>
            </a:r>
            <a:r>
              <a:rPr lang="en-GB" altLang="en-US" sz="2400" dirty="0" smtClean="0">
                <a:latin typeface="Arial" panose="020B0604020202020204" pitchFamily="34" charset="0"/>
                <a:cs typeface="Arial" panose="020B0604020202020204" pitchFamily="34" charset="0"/>
              </a:rPr>
              <a:t>us</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perfectionist and may develop compulsive tendencies</a:t>
            </a:r>
            <a:endParaRPr lang="en-US" altLang="en-US" sz="2400" dirty="0">
              <a:latin typeface="Arial" panose="020B0604020202020204" pitchFamily="34" charset="0"/>
              <a:cs typeface="Arial" panose="020B0604020202020204" pitchFamily="34" charset="0"/>
            </a:endParaRPr>
          </a:p>
          <a:p>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915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930629"/>
            <a:ext cx="8490857" cy="4893647"/>
          </a:xfrm>
          <a:prstGeom prst="rect">
            <a:avLst/>
          </a:prstGeom>
        </p:spPr>
        <p:txBody>
          <a:bodyPr wrap="square">
            <a:spAutoFit/>
          </a:bodyPr>
          <a:lstStyle/>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Do not seek to connect </a:t>
            </a:r>
            <a:r>
              <a:rPr lang="en-GB" altLang="en-US" sz="2400" dirty="0">
                <a:latin typeface="Arial" panose="020B0604020202020204" pitchFamily="34" charset="0"/>
                <a:cs typeface="Arial" panose="020B0604020202020204" pitchFamily="34" charset="0"/>
              </a:rPr>
              <a:t>with others but may experience isolation and deep sadness</a:t>
            </a:r>
          </a:p>
          <a:p>
            <a:pPr marL="342900" indent="-342900">
              <a:buFont typeface="Arial" panose="020B0604020202020204" pitchFamily="34" charset="0"/>
              <a:buChar char="•"/>
            </a:pPr>
            <a:endParaRPr lang="en-US"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Sometimes show flashes of aggression</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keep adults </a:t>
            </a:r>
            <a:r>
              <a:rPr lang="en-GB" altLang="en-US" sz="2400" i="1" dirty="0">
                <a:latin typeface="Arial" panose="020B0604020202020204" pitchFamily="34" charset="0"/>
                <a:cs typeface="Arial" panose="020B0604020202020204" pitchFamily="34" charset="0"/>
              </a:rPr>
              <a:t>sweet </a:t>
            </a:r>
            <a:r>
              <a:rPr lang="en-GB" altLang="en-US" sz="2400" dirty="0">
                <a:latin typeface="Arial" panose="020B0604020202020204" pitchFamily="34" charset="0"/>
                <a:cs typeface="Arial" panose="020B0604020202020204" pitchFamily="34" charset="0"/>
              </a:rPr>
              <a:t>so adults don’t get too close or get angry with them.  Their behaviours are </a:t>
            </a:r>
            <a:r>
              <a:rPr lang="en-GB" altLang="en-US" sz="2400" i="1" dirty="0">
                <a:latin typeface="Arial" panose="020B0604020202020204" pitchFamily="34" charset="0"/>
                <a:cs typeface="Arial" panose="020B0604020202020204" pitchFamily="34" charset="0"/>
              </a:rPr>
              <a:t>anxiety driven</a:t>
            </a:r>
          </a:p>
          <a:p>
            <a:pPr marL="342900" indent="-342900">
              <a:buFont typeface="Arial" panose="020B0604020202020204" pitchFamily="34" charset="0"/>
              <a:buChar char="•"/>
            </a:pPr>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may internalise their pain and anxiety which may </a:t>
            </a:r>
            <a:r>
              <a:rPr lang="en-GB" altLang="en-US" sz="2400" dirty="0" smtClean="0">
                <a:latin typeface="Arial" panose="020B0604020202020204" pitchFamily="34" charset="0"/>
                <a:cs typeface="Arial" panose="020B0604020202020204" pitchFamily="34" charset="0"/>
              </a:rPr>
              <a:t>affect </a:t>
            </a:r>
            <a:r>
              <a:rPr lang="en-GB" altLang="en-US" sz="2400" dirty="0">
                <a:latin typeface="Arial" panose="020B0604020202020204" pitchFamily="34" charset="0"/>
                <a:cs typeface="Arial" panose="020B0604020202020204" pitchFamily="34" charset="0"/>
              </a:rPr>
              <a:t>them at a physiological level</a:t>
            </a:r>
            <a:endParaRPr lang="en-US" altLang="en-US" sz="2400" dirty="0">
              <a:latin typeface="Arial" panose="020B0604020202020204" pitchFamily="34" charset="0"/>
              <a:cs typeface="Arial" panose="020B0604020202020204" pitchFamily="34" charset="0"/>
            </a:endParaRPr>
          </a:p>
          <a:p>
            <a:r>
              <a:rPr lang="en-US" altLang="en-US" sz="2400" b="1" dirty="0" smtClean="0">
                <a:latin typeface="Arial" panose="020B0604020202020204" pitchFamily="34" charset="0"/>
                <a:cs typeface="Arial" panose="020B0604020202020204" pitchFamily="34" charset="0"/>
              </a:rPr>
              <a:t> </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22635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6571" y="897972"/>
            <a:ext cx="8490857" cy="5570756"/>
          </a:xfrm>
          <a:prstGeom prst="rect">
            <a:avLst/>
          </a:prstGeom>
        </p:spPr>
        <p:txBody>
          <a:bodyPr wrap="square">
            <a:spAutoFit/>
          </a:bodyPr>
          <a:lstStyle/>
          <a:p>
            <a:pPr algn="ctr"/>
            <a:r>
              <a:rPr lang="en-GB" altLang="en-US" sz="4400" dirty="0" smtClean="0">
                <a:latin typeface="Arial" panose="020B0604020202020204" pitchFamily="34" charset="0"/>
                <a:cs typeface="Arial" panose="020B0604020202020204" pitchFamily="34" charset="0"/>
              </a:rPr>
              <a:t>Ambivalent Attachment</a:t>
            </a:r>
          </a:p>
          <a:p>
            <a:endParaRPr lang="en-GB" altLang="en-US" sz="2400" dirty="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These </a:t>
            </a:r>
            <a:r>
              <a:rPr lang="en-GB" altLang="en-US" sz="2400" dirty="0">
                <a:latin typeface="Arial" panose="020B0604020202020204" pitchFamily="34" charset="0"/>
                <a:cs typeface="Arial" panose="020B0604020202020204" pitchFamily="34" charset="0"/>
              </a:rPr>
              <a:t>children have become so tuned into their care-givers </a:t>
            </a:r>
            <a:r>
              <a:rPr lang="en-GB" altLang="en-US" sz="2400" dirty="0" smtClean="0">
                <a:latin typeface="Arial" panose="020B0604020202020204" pitchFamily="34" charset="0"/>
                <a:cs typeface="Arial" panose="020B0604020202020204" pitchFamily="34" charset="0"/>
              </a:rPr>
              <a:t>that they </a:t>
            </a:r>
            <a:r>
              <a:rPr lang="en-GB" altLang="en-US" sz="2400" dirty="0">
                <a:latin typeface="Arial" panose="020B0604020202020204" pitchFamily="34" charset="0"/>
                <a:cs typeface="Arial" panose="020B0604020202020204" pitchFamily="34" charset="0"/>
              </a:rPr>
              <a:t>are continually on </a:t>
            </a:r>
            <a:r>
              <a:rPr lang="en-GB" altLang="en-US" sz="2400" dirty="0" smtClean="0">
                <a:latin typeface="Arial" panose="020B0604020202020204" pitchFamily="34" charset="0"/>
                <a:cs typeface="Arial" panose="020B0604020202020204" pitchFamily="34" charset="0"/>
              </a:rPr>
              <a:t>edge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Get their needs met </a:t>
            </a:r>
            <a:r>
              <a:rPr lang="en-GB" altLang="en-US" sz="2400" dirty="0" smtClean="0">
                <a:latin typeface="Arial" panose="020B0604020202020204" pitchFamily="34" charset="0"/>
                <a:cs typeface="Arial" panose="020B0604020202020204" pitchFamily="34" charset="0"/>
              </a:rPr>
              <a:t>by consistently </a:t>
            </a:r>
            <a:r>
              <a:rPr lang="en-GB" altLang="en-US" sz="2400" dirty="0">
                <a:latin typeface="Arial" panose="020B0604020202020204" pitchFamily="34" charset="0"/>
                <a:cs typeface="Arial" panose="020B0604020202020204" pitchFamily="34" charset="0"/>
              </a:rPr>
              <a:t>working out how the care-giver is </a:t>
            </a:r>
            <a:r>
              <a:rPr lang="en-GB" altLang="en-US" sz="2400" dirty="0" smtClean="0">
                <a:latin typeface="Arial" panose="020B0604020202020204" pitchFamily="34" charset="0"/>
                <a:cs typeface="Arial" panose="020B0604020202020204" pitchFamily="34" charset="0"/>
              </a:rPr>
              <a:t>feeling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Attachment behaviour = relating to an inconsistent </a:t>
            </a:r>
            <a:r>
              <a:rPr lang="en-GB" altLang="en-US" sz="2400" dirty="0" smtClean="0">
                <a:latin typeface="Arial" panose="020B0604020202020204" pitchFamily="34" charset="0"/>
                <a:cs typeface="Arial" panose="020B0604020202020204" pitchFamily="34" charset="0"/>
              </a:rPr>
              <a:t>care-giver</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can become addicted to attempting to gain the care-givers attention in order to survive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92855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5262979"/>
          </a:xfrm>
          <a:prstGeom prst="rect">
            <a:avLst/>
          </a:prstGeom>
        </p:spPr>
        <p:txBody>
          <a:bodyPr wrap="square">
            <a:spAutoFit/>
          </a:bodyPr>
          <a:lstStyle/>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Clingy</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Rejecting</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Superficially charming</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Attention seeking and </a:t>
            </a:r>
            <a:r>
              <a:rPr lang="en-GB" altLang="en-US" sz="2400" i="1" smtClean="0">
                <a:latin typeface="Arial" panose="020B0604020202020204" pitchFamily="34" charset="0"/>
                <a:cs typeface="Arial" panose="020B0604020202020204" pitchFamily="34" charset="0"/>
              </a:rPr>
              <a:t>in your face</a:t>
            </a:r>
          </a:p>
          <a:p>
            <a:endParaRPr lang="en-GB" altLang="en-US" sz="2400" i="1"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These children have never been </a:t>
            </a:r>
            <a:r>
              <a:rPr lang="en-GB" altLang="en-US" sz="2400" i="1" smtClean="0">
                <a:latin typeface="Arial" panose="020B0604020202020204" pitchFamily="34" charset="0"/>
                <a:cs typeface="Arial" panose="020B0604020202020204" pitchFamily="34" charset="0"/>
              </a:rPr>
              <a:t>kept</a:t>
            </a:r>
            <a:r>
              <a:rPr lang="en-GB" altLang="en-US" sz="2400" smtClean="0">
                <a:latin typeface="Arial" panose="020B0604020202020204" pitchFamily="34" charset="0"/>
                <a:cs typeface="Arial" panose="020B0604020202020204" pitchFamily="34" charset="0"/>
              </a:rPr>
              <a:t> </a:t>
            </a:r>
            <a:r>
              <a:rPr lang="en-GB" altLang="en-US" sz="2400" i="1" smtClean="0">
                <a:latin typeface="Arial" panose="020B0604020202020204" pitchFamily="34" charset="0"/>
                <a:cs typeface="Arial" panose="020B0604020202020204" pitchFamily="34" charset="0"/>
              </a:rPr>
              <a:t>in mind</a:t>
            </a:r>
            <a:r>
              <a:rPr lang="en-GB" altLang="en-US" sz="2400" smtClean="0">
                <a:latin typeface="Arial" panose="020B0604020202020204" pitchFamily="34" charset="0"/>
                <a:cs typeface="Arial" panose="020B0604020202020204" pitchFamily="34" charset="0"/>
              </a:rPr>
              <a:t> or considered by another person</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They will meet their needs however they can</a:t>
            </a:r>
          </a:p>
          <a:p>
            <a:endParaRPr lang="en-GB" altLang="en-US" sz="240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smtClean="0">
                <a:latin typeface="Arial" panose="020B0604020202020204" pitchFamily="34" charset="0"/>
                <a:cs typeface="Arial" panose="020B0604020202020204" pitchFamily="34" charset="0"/>
              </a:rPr>
              <a:t>They are extremely </a:t>
            </a:r>
            <a:r>
              <a:rPr lang="en-GB" altLang="en-US" sz="2400" b="1" smtClean="0">
                <a:latin typeface="Arial" panose="020B0604020202020204" pitchFamily="34" charset="0"/>
                <a:cs typeface="Arial" panose="020B0604020202020204" pitchFamily="34" charset="0"/>
              </a:rPr>
              <a:t>anxious and insecure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51311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897972"/>
            <a:ext cx="8490857" cy="4154984"/>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Use </a:t>
            </a:r>
            <a:r>
              <a:rPr lang="en-GB" altLang="en-US" sz="2400" dirty="0">
                <a:latin typeface="Arial" panose="020B0604020202020204" pitchFamily="34" charset="0"/>
                <a:cs typeface="Arial" panose="020B0604020202020204" pitchFamily="34" charset="0"/>
              </a:rPr>
              <a:t>up most of their energy gaining the adult’s attention</a:t>
            </a: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Little </a:t>
            </a:r>
            <a:r>
              <a:rPr lang="en-GB" altLang="en-US" sz="2400" dirty="0">
                <a:latin typeface="Arial" panose="020B0604020202020204" pitchFamily="34" charset="0"/>
                <a:cs typeface="Arial" panose="020B0604020202020204" pitchFamily="34" charset="0"/>
              </a:rPr>
              <a:t>energy left for learning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quick to blame others for upsetting them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be resentful and hold grudges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are often exhausting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00196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941195"/>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Disorganised Attachment </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endParaRPr lang="en-GB" altLang="en-US" sz="2400" dirty="0" smtClean="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Their </a:t>
            </a:r>
            <a:r>
              <a:rPr lang="en-GB" altLang="en-US" sz="2800" dirty="0">
                <a:latin typeface="Arial" panose="020B0604020202020204" pitchFamily="34" charset="0"/>
                <a:cs typeface="Arial" panose="020B0604020202020204" pitchFamily="34" charset="0"/>
              </a:rPr>
              <a:t>attachment behaviours </a:t>
            </a:r>
            <a:r>
              <a:rPr lang="en-GB" altLang="en-US" sz="2800" dirty="0" smtClean="0">
                <a:latin typeface="Arial" panose="020B0604020202020204" pitchFamily="34" charset="0"/>
                <a:cs typeface="Arial" panose="020B0604020202020204" pitchFamily="34" charset="0"/>
              </a:rPr>
              <a:t>are a result </a:t>
            </a:r>
            <a:r>
              <a:rPr lang="en-GB" altLang="en-US" sz="2800" dirty="0">
                <a:latin typeface="Arial" panose="020B0604020202020204" pitchFamily="34" charset="0"/>
                <a:cs typeface="Arial" panose="020B0604020202020204" pitchFamily="34" charset="0"/>
              </a:rPr>
              <a:t>of severe neglect </a:t>
            </a:r>
            <a:r>
              <a:rPr lang="en-GB" altLang="en-US" sz="2800" dirty="0" smtClean="0">
                <a:latin typeface="Arial" panose="020B0604020202020204" pitchFamily="34" charset="0"/>
                <a:cs typeface="Arial" panose="020B0604020202020204" pitchFamily="34" charset="0"/>
              </a:rPr>
              <a:t>and chaotic terrifying </a:t>
            </a:r>
            <a:r>
              <a:rPr lang="en-GB" altLang="en-US" sz="2800" dirty="0">
                <a:latin typeface="Arial" panose="020B0604020202020204" pitchFamily="34" charset="0"/>
                <a:cs typeface="Arial" panose="020B0604020202020204" pitchFamily="34" charset="0"/>
              </a:rPr>
              <a:t>abusive environments</a:t>
            </a:r>
          </a:p>
          <a:p>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Adaptive </a:t>
            </a:r>
            <a:r>
              <a:rPr lang="en-GB" altLang="en-US" sz="2800" dirty="0" smtClean="0">
                <a:latin typeface="Arial" panose="020B0604020202020204" pitchFamily="34" charset="0"/>
                <a:cs typeface="Arial" panose="020B0604020202020204" pitchFamily="34" charset="0"/>
              </a:rPr>
              <a:t>responses are unpredictable </a:t>
            </a:r>
            <a:r>
              <a:rPr lang="en-GB" altLang="en-US" sz="2800" dirty="0">
                <a:latin typeface="Arial" panose="020B0604020202020204" pitchFamily="34" charset="0"/>
                <a:cs typeface="Arial" panose="020B0604020202020204" pitchFamily="34" charset="0"/>
              </a:rPr>
              <a:t>and frequently difficult </a:t>
            </a:r>
            <a:r>
              <a:rPr lang="en-GB" altLang="en-US" sz="2800" dirty="0" smtClean="0">
                <a:latin typeface="Arial" panose="020B0604020202020204" pitchFamily="34" charset="0"/>
                <a:cs typeface="Arial" panose="020B0604020202020204" pitchFamily="34" charset="0"/>
              </a:rPr>
              <a:t>to manage</a:t>
            </a:r>
            <a:r>
              <a:rPr lang="en-GB" altLang="en-US" sz="2800" dirty="0">
                <a:latin typeface="Arial" panose="020B0604020202020204" pitchFamily="34" charset="0"/>
                <a:cs typeface="Arial" panose="020B0604020202020204" pitchFamily="34" charset="0"/>
              </a:rPr>
              <a:t>, both emotionally and physically</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78697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838130"/>
            <a:ext cx="8490857" cy="3785652"/>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Behaviours can be bizarre, extreme and </a:t>
            </a:r>
            <a:r>
              <a:rPr lang="en-GB" altLang="en-US" sz="2400" dirty="0" smtClean="0">
                <a:latin typeface="Arial" panose="020B0604020202020204" pitchFamily="34" charset="0"/>
                <a:cs typeface="Arial" panose="020B0604020202020204" pitchFamily="34" charset="0"/>
              </a:rPr>
              <a:t>erratic</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Find </a:t>
            </a:r>
            <a:r>
              <a:rPr lang="en-GB" altLang="en-US" sz="2400" dirty="0">
                <a:latin typeface="Arial" panose="020B0604020202020204" pitchFamily="34" charset="0"/>
                <a:cs typeface="Arial" panose="020B0604020202020204" pitchFamily="34" charset="0"/>
              </a:rPr>
              <a:t>it hard to be in touch with their </a:t>
            </a:r>
            <a:r>
              <a:rPr lang="en-GB" altLang="en-US" sz="2400" dirty="0" smtClean="0">
                <a:latin typeface="Arial" panose="020B0604020202020204" pitchFamily="34" charset="0"/>
                <a:cs typeface="Arial" panose="020B0604020202020204" pitchFamily="34" charset="0"/>
              </a:rPr>
              <a:t>vulnerability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Expect the worst and think no one genuinely </a:t>
            </a:r>
            <a:r>
              <a:rPr lang="en-GB" altLang="en-US" sz="2400" dirty="0" smtClean="0">
                <a:latin typeface="Arial" panose="020B0604020202020204" pitchFamily="34" charset="0"/>
                <a:cs typeface="Arial" panose="020B0604020202020204" pitchFamily="34" charset="0"/>
              </a:rPr>
              <a:t>cares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be in control of everything and cannot bear the risk of being dependent in any </a:t>
            </a:r>
            <a:r>
              <a:rPr lang="en-GB" altLang="en-US" sz="2400" dirty="0" smtClean="0">
                <a:latin typeface="Arial" panose="020B0604020202020204" pitchFamily="34" charset="0"/>
                <a:cs typeface="Arial" panose="020B0604020202020204" pitchFamily="34" charset="0"/>
              </a:rPr>
              <a:t>way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Extremely defensive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8320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838130"/>
            <a:ext cx="8490857" cy="3083921"/>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Behind their façade of defiance there is a profound sense of fear, panic and helplessness</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not relax or get involved in the learning process as they have to survive </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hyper-vigilant</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Their self awareness is poor</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60160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Case Studies</a:t>
            </a:r>
            <a:endParaRPr lang="es-ES" sz="4400" dirty="0">
              <a:solidFill>
                <a:schemeClr val="bg1">
                  <a:lumMod val="50000"/>
                </a:schemeClr>
              </a:solidFill>
              <a:latin typeface="Calibri" charset="0"/>
            </a:endParaRPr>
          </a:p>
        </p:txBody>
      </p:sp>
      <p:sp>
        <p:nvSpPr>
          <p:cNvPr id="3" name="Rectangle 2"/>
          <p:cNvSpPr/>
          <p:nvPr/>
        </p:nvSpPr>
        <p:spPr>
          <a:xfrm>
            <a:off x="307909" y="1555107"/>
            <a:ext cx="8490857" cy="5262979"/>
          </a:xfrm>
          <a:prstGeom prst="rect">
            <a:avLst/>
          </a:prstGeom>
        </p:spPr>
        <p:txBody>
          <a:bodyPr wrap="square">
            <a:spAutoFit/>
          </a:bodyPr>
          <a:lstStyle/>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Mary </a:t>
            </a:r>
            <a:r>
              <a:rPr lang="en-GB" altLang="en-US" sz="2400" dirty="0">
                <a:latin typeface="Arial" panose="020B0604020202020204" pitchFamily="34" charset="0"/>
                <a:cs typeface="Arial" panose="020B0604020202020204" pitchFamily="34" charset="0"/>
              </a:rPr>
              <a:t>– Insecure Avoidant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Ben </a:t>
            </a:r>
            <a:r>
              <a:rPr lang="en-GB" altLang="en-US" sz="2400" dirty="0">
                <a:latin typeface="Arial" panose="020B0604020202020204" pitchFamily="34" charset="0"/>
                <a:cs typeface="Arial" panose="020B0604020202020204" pitchFamily="34" charset="0"/>
              </a:rPr>
              <a:t>– Insecure Disorganised</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Tom </a:t>
            </a:r>
            <a:r>
              <a:rPr lang="en-GB" altLang="en-US" sz="2400" dirty="0">
                <a:latin typeface="Arial" panose="020B0604020202020204" pitchFamily="34" charset="0"/>
                <a:cs typeface="Arial" panose="020B0604020202020204" pitchFamily="34" charset="0"/>
              </a:rPr>
              <a:t>– Insecure Ambivalent/resistant</a:t>
            </a:r>
          </a:p>
          <a:p>
            <a:endParaRPr lang="en-GB" altLang="en-US" sz="2400"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a:latin typeface="Arial" panose="020B0604020202020204" pitchFamily="34" charset="0"/>
                <a:cs typeface="Arial" panose="020B0604020202020204" pitchFamily="34" charset="0"/>
              </a:rPr>
              <a:t>How do you think s/he feels? What thoughts might be going through his/her </a:t>
            </a:r>
            <a:r>
              <a:rPr lang="en-GB" sz="2400" i="1" dirty="0" smtClean="0">
                <a:latin typeface="Arial" panose="020B0604020202020204" pitchFamily="34" charset="0"/>
                <a:cs typeface="Arial" panose="020B0604020202020204" pitchFamily="34" charset="0"/>
              </a:rPr>
              <a:t>mind?</a:t>
            </a:r>
          </a:p>
          <a:p>
            <a:pPr lvl="0"/>
            <a:endParaRPr lang="en-US" sz="2400" i="1"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smtClean="0">
                <a:latin typeface="Arial" panose="020B0604020202020204" pitchFamily="34" charset="0"/>
                <a:cs typeface="Arial" panose="020B0604020202020204" pitchFamily="34" charset="0"/>
              </a:rPr>
              <a:t>What </a:t>
            </a:r>
            <a:r>
              <a:rPr lang="en-GB" sz="2400" i="1" dirty="0">
                <a:latin typeface="Arial" panose="020B0604020202020204" pitchFamily="34" charset="0"/>
                <a:cs typeface="Arial" panose="020B0604020202020204" pitchFamily="34" charset="0"/>
              </a:rPr>
              <a:t>areas does s/he need support with? What skills may s/he be lacking? </a:t>
            </a:r>
            <a:endParaRPr lang="en-GB" sz="2400" i="1" dirty="0" smtClean="0">
              <a:latin typeface="Arial" panose="020B0604020202020204" pitchFamily="34" charset="0"/>
              <a:cs typeface="Arial" panose="020B0604020202020204" pitchFamily="34" charset="0"/>
            </a:endParaRPr>
          </a:p>
          <a:p>
            <a:pPr lvl="0"/>
            <a:endParaRPr lang="en-US" sz="2400" i="1" dirty="0">
              <a:latin typeface="Arial" panose="020B0604020202020204" pitchFamily="34" charset="0"/>
              <a:cs typeface="Arial" panose="020B0604020202020204" pitchFamily="34" charset="0"/>
            </a:endParaRPr>
          </a:p>
          <a:p>
            <a:pPr marL="342900" lvl="0" indent="-342900">
              <a:buFont typeface="Wingdings" panose="05000000000000000000" pitchFamily="2" charset="2"/>
              <a:buChar char="§"/>
            </a:pPr>
            <a:r>
              <a:rPr lang="en-GB" sz="2400" i="1" dirty="0" smtClean="0">
                <a:latin typeface="Arial" panose="020B0604020202020204" pitchFamily="34" charset="0"/>
                <a:cs typeface="Arial" panose="020B0604020202020204" pitchFamily="34" charset="0"/>
              </a:rPr>
              <a:t>What </a:t>
            </a:r>
            <a:r>
              <a:rPr lang="en-GB" sz="2400" i="1" dirty="0">
                <a:latin typeface="Arial" panose="020B0604020202020204" pitchFamily="34" charset="0"/>
                <a:cs typeface="Arial" panose="020B0604020202020204" pitchFamily="34" charset="0"/>
              </a:rPr>
              <a:t>classroom strategies might be helpful? </a:t>
            </a:r>
            <a:endParaRPr lang="en-US" sz="2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86721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53955" y="343888"/>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Learning Profile</a:t>
            </a:r>
          </a:p>
          <a:p>
            <a:pPr algn="ctr" eaLnBrk="1" hangingPunct="1"/>
            <a:r>
              <a:rPr lang="en-GB" sz="2800" dirty="0" smtClean="0">
                <a:latin typeface="Arial" panose="020B0604020202020204" pitchFamily="34" charset="0"/>
                <a:cs typeface="Arial" panose="020B0604020202020204" pitchFamily="34" charset="0"/>
              </a:rPr>
              <a:t>Learning profile of a child with avoidant attachment </a:t>
            </a:r>
            <a:endParaRPr lang="es-ES" sz="2800" dirty="0">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4819781"/>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a:t>
            </a:r>
            <a:r>
              <a:rPr lang="en-GB" altLang="en-US" sz="2400" b="1" dirty="0" smtClean="0">
                <a:latin typeface="Arial" panose="020B0604020202020204" pitchFamily="34" charset="0"/>
                <a:cs typeface="Arial" panose="020B0604020202020204" pitchFamily="34" charset="0"/>
              </a:rPr>
              <a:t>school/classroom</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Apparent </a:t>
            </a:r>
            <a:r>
              <a:rPr lang="en-GB" altLang="en-US" sz="2400" dirty="0">
                <a:latin typeface="Arial" panose="020B0604020202020204" pitchFamily="34" charset="0"/>
                <a:cs typeface="Arial" panose="020B0604020202020204" pitchFamily="34" charset="0"/>
              </a:rPr>
              <a:t>indifference to uncertainty </a:t>
            </a: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Denial </a:t>
            </a:r>
            <a:r>
              <a:rPr lang="en-GB" altLang="en-US" sz="2400" dirty="0">
                <a:latin typeface="Arial" panose="020B0604020202020204" pitchFamily="34" charset="0"/>
                <a:cs typeface="Arial" panose="020B0604020202020204" pitchFamily="34" charset="0"/>
              </a:rPr>
              <a:t>of need for support and help from </a:t>
            </a:r>
            <a:r>
              <a:rPr lang="en-GB" altLang="en-US" sz="2400" dirty="0" smtClean="0">
                <a:latin typeface="Arial" panose="020B0604020202020204" pitchFamily="34" charset="0"/>
                <a:cs typeface="Arial" panose="020B0604020202020204" pitchFamily="34" charset="0"/>
              </a:rPr>
              <a:t>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a:t>
            </a:r>
            <a:r>
              <a:rPr lang="en-GB" altLang="en-US" sz="2400" b="1" dirty="0" smtClean="0">
                <a:latin typeface="Arial" panose="020B0604020202020204" pitchFamily="34" charset="0"/>
                <a:cs typeface="Arial" panose="020B0604020202020204" pitchFamily="34" charset="0"/>
              </a:rPr>
              <a:t>task </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Need </a:t>
            </a:r>
            <a:r>
              <a:rPr lang="en-GB" altLang="en-US" sz="2400" dirty="0">
                <a:latin typeface="Arial" panose="020B0604020202020204" pitchFamily="34" charset="0"/>
                <a:cs typeface="Arial" panose="020B0604020202020204" pitchFamily="34" charset="0"/>
              </a:rPr>
              <a:t>to be autonomous and independent of </a:t>
            </a:r>
            <a:r>
              <a:rPr lang="en-GB" altLang="en-US" sz="2400" dirty="0" smtClean="0">
                <a:latin typeface="Arial" panose="020B0604020202020204" pitchFamily="34" charset="0"/>
                <a:cs typeface="Arial" panose="020B0604020202020204" pitchFamily="34" charset="0"/>
              </a:rPr>
              <a:t>the teacher</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Hostility </a:t>
            </a:r>
            <a:r>
              <a:rPr lang="en-GB" altLang="en-US" sz="2400" dirty="0">
                <a:latin typeface="Arial" panose="020B0604020202020204" pitchFamily="34" charset="0"/>
                <a:cs typeface="Arial" panose="020B0604020202020204" pitchFamily="34" charset="0"/>
              </a:rPr>
              <a:t>towards the teacher is directed towards </a:t>
            </a:r>
            <a:r>
              <a:rPr lang="en-GB" altLang="en-US" sz="2400" dirty="0" smtClean="0">
                <a:latin typeface="Arial" panose="020B0604020202020204" pitchFamily="34" charset="0"/>
                <a:cs typeface="Arial" panose="020B0604020202020204" pitchFamily="34" charset="0"/>
              </a:rPr>
              <a:t>the task</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task acts as an emotional safety barrier between the </a:t>
            </a:r>
            <a:r>
              <a:rPr lang="en-GB" altLang="en-US" sz="2400" dirty="0" smtClean="0">
                <a:latin typeface="Arial" panose="020B0604020202020204" pitchFamily="34" charset="0"/>
                <a:cs typeface="Arial" panose="020B0604020202020204" pitchFamily="34" charset="0"/>
              </a:rPr>
              <a:t>pupil </a:t>
            </a:r>
            <a:r>
              <a:rPr lang="en-GB" altLang="en-US" sz="2400" dirty="0">
                <a:latin typeface="Arial" panose="020B0604020202020204" pitchFamily="34" charset="0"/>
                <a:cs typeface="Arial" panose="020B0604020202020204" pitchFamily="34" charset="0"/>
              </a:rPr>
              <a:t>and the </a:t>
            </a:r>
            <a:r>
              <a:rPr lang="en-GB" altLang="en-US" sz="2400" dirty="0" smtClean="0">
                <a:latin typeface="Arial" panose="020B0604020202020204" pitchFamily="34" charset="0"/>
                <a:cs typeface="Arial" panose="020B0604020202020204" pitchFamily="34" charset="0"/>
              </a:rPr>
              <a:t>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Skills and </a:t>
            </a:r>
            <a:r>
              <a:rPr lang="en-GB" altLang="en-US" sz="2400" b="1" dirty="0" smtClean="0">
                <a:latin typeface="Arial" panose="020B0604020202020204" pitchFamily="34" charset="0"/>
                <a:cs typeface="Arial" panose="020B0604020202020204" pitchFamily="34" charset="0"/>
              </a:rPr>
              <a:t>difficulties</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creativity</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Likely </a:t>
            </a:r>
            <a:r>
              <a:rPr lang="en-GB" altLang="en-US" sz="2400" dirty="0">
                <a:latin typeface="Arial" panose="020B0604020202020204" pitchFamily="34" charset="0"/>
                <a:cs typeface="Arial" panose="020B0604020202020204" pitchFamily="34" charset="0"/>
              </a:rPr>
              <a:t>to be underachieving</a:t>
            </a: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Limited </a:t>
            </a:r>
            <a:r>
              <a:rPr lang="en-GB" altLang="en-US" sz="2400" dirty="0">
                <a:latin typeface="Arial" panose="020B0604020202020204" pitchFamily="34" charset="0"/>
                <a:cs typeface="Arial" panose="020B0604020202020204" pitchFamily="34" charset="0"/>
              </a:rPr>
              <a:t>use of language</a:t>
            </a:r>
          </a:p>
        </p:txBody>
      </p:sp>
    </p:spTree>
    <p:extLst>
      <p:ext uri="{BB962C8B-B14F-4D97-AF65-F5344CB8AC3E}">
        <p14:creationId xmlns:p14="http://schemas.microsoft.com/office/powerpoint/2010/main" val="14471844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latin typeface="Arial" panose="020B0604020202020204" pitchFamily="34" charset="0"/>
                <a:cs typeface="Arial" panose="020B0604020202020204" pitchFamily="34" charset="0"/>
              </a:rPr>
              <a:t>Strategies to use:</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3108543"/>
          </a:xfrm>
          <a:prstGeom prst="rect">
            <a:avLst/>
          </a:prstGeom>
        </p:spPr>
        <p:txBody>
          <a:bodyPr wrap="square">
            <a:spAutoFit/>
          </a:bodyPr>
          <a:lstStyle/>
          <a:p>
            <a:pPr algn="ctr"/>
            <a:r>
              <a:rPr lang="en-GB" altLang="en-US" sz="2800" dirty="0">
                <a:latin typeface="Arial" panose="020B0604020202020204" pitchFamily="34" charset="0"/>
                <a:cs typeface="Arial" panose="020B0604020202020204" pitchFamily="34" charset="0"/>
              </a:rPr>
              <a:t>R</a:t>
            </a:r>
            <a:r>
              <a:rPr lang="en-GB" altLang="en-US" sz="2800" dirty="0" smtClean="0">
                <a:latin typeface="Arial" panose="020B0604020202020204" pitchFamily="34" charset="0"/>
                <a:cs typeface="Arial" panose="020B0604020202020204" pitchFamily="34" charset="0"/>
              </a:rPr>
              <a:t>elationship between the pupil and the teacher made safe by the presence of the task</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Or</a:t>
            </a:r>
          </a:p>
          <a:p>
            <a:pPr algn="ctr"/>
            <a:endParaRPr lang="en-GB" altLang="en-US" sz="2800" dirty="0" smtClean="0">
              <a:latin typeface="Arial" panose="020B0604020202020204" pitchFamily="34" charset="0"/>
              <a:cs typeface="Arial" panose="020B0604020202020204" pitchFamily="34" charset="0"/>
            </a:endParaRPr>
          </a:p>
          <a:p>
            <a:pPr algn="ctr"/>
            <a:r>
              <a:rPr lang="en-GB" altLang="en-US" sz="2800" dirty="0" smtClean="0">
                <a:latin typeface="Arial" panose="020B0604020202020204" pitchFamily="34" charset="0"/>
                <a:cs typeface="Arial" panose="020B0604020202020204" pitchFamily="34" charset="0"/>
              </a:rPr>
              <a:t>Highly structured encounters such as games with clear rules and outcomes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40678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909" y="1001003"/>
            <a:ext cx="8490857" cy="5262979"/>
          </a:xfrm>
          <a:prstGeom prst="rect">
            <a:avLst/>
          </a:prstGeom>
        </p:spPr>
        <p:txBody>
          <a:bodyPr wrap="square">
            <a:spAutoFit/>
          </a:bodyPr>
          <a:lstStyle/>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Use of another child to moderate intensity of teacher </a:t>
            </a:r>
            <a:r>
              <a:rPr lang="en-GB" altLang="en-US" sz="2800" dirty="0" smtClean="0">
                <a:latin typeface="Arial" panose="020B0604020202020204" pitchFamily="34" charset="0"/>
                <a:cs typeface="Arial" panose="020B0604020202020204" pitchFamily="34" charset="0"/>
              </a:rPr>
              <a:t>proximity</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Paired/small group </a:t>
            </a:r>
            <a:r>
              <a:rPr lang="en-GB" altLang="en-US" sz="2800" dirty="0" smtClean="0">
                <a:latin typeface="Arial" panose="020B0604020202020204" pitchFamily="34" charset="0"/>
                <a:cs typeface="Arial" panose="020B0604020202020204" pitchFamily="34" charset="0"/>
              </a:rPr>
              <a:t>work</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Clear lesson </a:t>
            </a:r>
            <a:r>
              <a:rPr lang="en-GB" altLang="en-US" sz="2800" dirty="0" smtClean="0">
                <a:latin typeface="Arial" panose="020B0604020202020204" pitchFamily="34" charset="0"/>
                <a:cs typeface="Arial" panose="020B0604020202020204" pitchFamily="34" charset="0"/>
              </a:rPr>
              <a:t>plans</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tasks - </a:t>
            </a:r>
            <a:r>
              <a:rPr lang="en-GB" altLang="en-US" sz="2800" dirty="0">
                <a:latin typeface="Arial" panose="020B0604020202020204" pitchFamily="34" charset="0"/>
                <a:cs typeface="Arial" panose="020B0604020202020204" pitchFamily="34" charset="0"/>
              </a:rPr>
              <a:t>completed with little help from </a:t>
            </a:r>
            <a:r>
              <a:rPr lang="en-GB" altLang="en-US" sz="2800" dirty="0" smtClean="0">
                <a:latin typeface="Arial" panose="020B0604020202020204" pitchFamily="34" charset="0"/>
                <a:cs typeface="Arial" panose="020B0604020202020204" pitchFamily="34" charset="0"/>
              </a:rPr>
              <a:t>teacher</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Concrete, structured activities with little use of imaginative skills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97793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798919"/>
            <a:ext cx="8490857" cy="6124754"/>
          </a:xfrm>
          <a:prstGeom prst="rect">
            <a:avLst/>
          </a:prstGeom>
        </p:spPr>
        <p:txBody>
          <a:bodyPr wrap="square">
            <a:spAutoFit/>
          </a:bodyPr>
          <a:lstStyle/>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The curriculum provides many opportunities  to explore hidden or dangerous feelings.</a:t>
            </a:r>
          </a:p>
          <a:p>
            <a:pPr marL="342900" indent="-342900">
              <a:buFont typeface="Arial" panose="020B0604020202020204" pitchFamily="34" charset="0"/>
              <a:buChar char="•"/>
            </a:pPr>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Boxes, bridges, houses, castles, journeys are the basis of may stories and all have symbolic significance about closeness and distance, containment and fears.  Without any conscious disclosure, many strong feelings can be given words and meaning.  Emotional literacy can begin by trying to describe the experiences of characters in stories</a:t>
            </a:r>
            <a:r>
              <a:rPr lang="en-GB" altLang="en-US" sz="2800" dirty="0" smtClean="0">
                <a:latin typeface="Arial" panose="020B0604020202020204" pitchFamily="34" charset="0"/>
                <a:cs typeface="Arial" panose="020B0604020202020204" pitchFamily="34" charset="0"/>
              </a:rPr>
              <a:t>.</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a:t>
            </a:r>
            <a:r>
              <a:rPr lang="en-GB" altLang="en-US" sz="2800" dirty="0" smtClean="0">
                <a:latin typeface="Arial" panose="020B0604020202020204" pitchFamily="34" charset="0"/>
                <a:cs typeface="Arial" panose="020B0604020202020204" pitchFamily="34" charset="0"/>
              </a:rPr>
              <a:t>games </a:t>
            </a:r>
            <a:r>
              <a:rPr lang="en-GB" altLang="en-US" sz="2800" dirty="0">
                <a:latin typeface="Arial" panose="020B0604020202020204" pitchFamily="34" charset="0"/>
                <a:cs typeface="Arial" panose="020B0604020202020204" pitchFamily="34" charset="0"/>
              </a:rPr>
              <a:t>with rules likely to provide an arena for safe engagement</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68525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9959" y="688230"/>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Learning Profile Linked to Resistant/Ambivalent Attachment</a:t>
            </a:r>
            <a:endParaRPr lang="es-ES" sz="40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a:lnSpc>
                <a:spcPct val="80000"/>
              </a:lnSpc>
            </a:pPr>
            <a:endParaRPr lang="en-GB" altLang="en-US" sz="2000" b="1" dirty="0" smtClean="0">
              <a:latin typeface="Arial" panose="020B0604020202020204" pitchFamily="34" charset="0"/>
              <a:cs typeface="Arial" panose="020B0604020202020204" pitchFamily="34" charset="0"/>
            </a:endParaRPr>
          </a:p>
          <a:p>
            <a:pPr>
              <a:lnSpc>
                <a:spcPct val="80000"/>
              </a:lnSpc>
            </a:pPr>
            <a:r>
              <a:rPr lang="en-GB" altLang="en-US" sz="2000" b="1" dirty="0" smtClean="0">
                <a:latin typeface="Arial" panose="020B0604020202020204" pitchFamily="34" charset="0"/>
                <a:cs typeface="Arial" panose="020B0604020202020204" pitchFamily="34" charset="0"/>
              </a:rPr>
              <a:t>Approach </a:t>
            </a:r>
            <a:r>
              <a:rPr lang="en-GB" altLang="en-US" sz="2000" b="1" dirty="0">
                <a:latin typeface="Arial" panose="020B0604020202020204" pitchFamily="34" charset="0"/>
                <a:cs typeface="Arial" panose="020B0604020202020204" pitchFamily="34" charset="0"/>
              </a:rPr>
              <a:t>to the school and the </a:t>
            </a:r>
            <a:r>
              <a:rPr lang="en-GB" altLang="en-US" sz="2000" b="1" dirty="0" smtClean="0">
                <a:latin typeface="Arial" panose="020B0604020202020204" pitchFamily="34" charset="0"/>
                <a:cs typeface="Arial" panose="020B0604020202020204" pitchFamily="34" charset="0"/>
              </a:rPr>
              <a:t>classroom</a:t>
            </a:r>
          </a:p>
          <a:p>
            <a:pPr>
              <a:lnSpc>
                <a:spcPct val="80000"/>
              </a:lnSpc>
            </a:pPr>
            <a:r>
              <a:rPr lang="en-GB" altLang="en-US" sz="2000" dirty="0" smtClean="0">
                <a:latin typeface="Arial" panose="020B0604020202020204" pitchFamily="34" charset="0"/>
                <a:cs typeface="Arial" panose="020B0604020202020204" pitchFamily="34" charset="0"/>
              </a:rPr>
              <a:t>High </a:t>
            </a:r>
            <a:r>
              <a:rPr lang="en-GB" altLang="en-US" sz="2000" dirty="0">
                <a:latin typeface="Arial" panose="020B0604020202020204" pitchFamily="34" charset="0"/>
                <a:cs typeface="Arial" panose="020B0604020202020204" pitchFamily="34" charset="0"/>
              </a:rPr>
              <a:t>level of anxiety and </a:t>
            </a:r>
            <a:r>
              <a:rPr lang="en-GB" altLang="en-US" sz="2000" dirty="0" smtClean="0">
                <a:latin typeface="Arial" panose="020B0604020202020204" pitchFamily="34" charset="0"/>
                <a:cs typeface="Arial" panose="020B0604020202020204" pitchFamily="34" charset="0"/>
              </a:rPr>
              <a:t>uncertainty</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the teacher</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Need to hold onto the attention of the teacher</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Apparent dependence on the teacher in order to engage in learning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Expressed hostility towards the teacher when </a:t>
            </a:r>
            <a:r>
              <a:rPr lang="en-GB" altLang="en-US" sz="2000" dirty="0" smtClean="0">
                <a:latin typeface="Arial" panose="020B0604020202020204" pitchFamily="34" charset="0"/>
                <a:cs typeface="Arial" panose="020B0604020202020204" pitchFamily="34" charset="0"/>
              </a:rPr>
              <a:t>frustrated</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task</a:t>
            </a:r>
            <a:r>
              <a:rPr lang="en-GB" altLang="en-US" sz="2000" dirty="0">
                <a:latin typeface="Arial" panose="020B0604020202020204" pitchFamily="34" charset="0"/>
                <a:cs typeface="Arial" panose="020B0604020202020204" pitchFamily="34" charset="0"/>
              </a:rPr>
              <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Difficulties attempting the task if unsupported</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Unable to focus on the task for fear of losing teacher’s </a:t>
            </a:r>
            <a:r>
              <a:rPr lang="en-GB" altLang="en-US" sz="2000" dirty="0" smtClean="0">
                <a:latin typeface="Arial" panose="020B0604020202020204" pitchFamily="34" charset="0"/>
                <a:cs typeface="Arial" panose="020B0604020202020204" pitchFamily="34" charset="0"/>
              </a:rPr>
              <a:t>attention</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Skills and Difficulties</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Likely to be underachieving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Language may bee well developed but not consistent with levels of achievement</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Numeracy may be weak</a:t>
            </a:r>
          </a:p>
        </p:txBody>
      </p:sp>
    </p:spTree>
    <p:extLst>
      <p:ext uri="{BB962C8B-B14F-4D97-AF65-F5344CB8AC3E}">
        <p14:creationId xmlns:p14="http://schemas.microsoft.com/office/powerpoint/2010/main" val="9469031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81106"/>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Intervention Implications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Child</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 the first step they need to take is to </a:t>
            </a:r>
            <a:r>
              <a:rPr lang="en-GB" altLang="en-US" sz="2400" b="1" dirty="0" smtClean="0">
                <a:latin typeface="Arial" panose="020B0604020202020204" pitchFamily="34" charset="0"/>
                <a:cs typeface="Arial" panose="020B0604020202020204" pitchFamily="34" charset="0"/>
              </a:rPr>
              <a:t>engage with the task</a:t>
            </a:r>
            <a:r>
              <a:rPr lang="en-GB" altLang="en-US" sz="2400" dirty="0" smtClean="0">
                <a:latin typeface="Arial" panose="020B0604020202020204" pitchFamily="34" charset="0"/>
                <a:cs typeface="Arial" panose="020B0604020202020204" pitchFamily="34" charset="0"/>
              </a:rPr>
              <a:t>, in </a:t>
            </a:r>
            <a:r>
              <a:rPr lang="en-GB" altLang="en-US" sz="2400" dirty="0">
                <a:latin typeface="Arial" panose="020B0604020202020204" pitchFamily="34" charset="0"/>
                <a:cs typeface="Arial" panose="020B0604020202020204" pitchFamily="34" charset="0"/>
              </a:rPr>
              <a:t>order to begin the process of </a:t>
            </a:r>
            <a:r>
              <a:rPr lang="en-GB" altLang="en-US" sz="2400" dirty="0" smtClean="0">
                <a:latin typeface="Arial" panose="020B0604020202020204" pitchFamily="34" charset="0"/>
                <a:cs typeface="Arial" panose="020B0604020202020204" pitchFamily="34" charset="0"/>
              </a:rPr>
              <a:t>change</a:t>
            </a:r>
          </a:p>
          <a:p>
            <a:pPr>
              <a:lnSpc>
                <a:spcPct val="80000"/>
              </a:lnSpc>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b="1" dirty="0" smtClean="0">
                <a:latin typeface="Arial" panose="020B0604020202020204" pitchFamily="34" charset="0"/>
                <a:cs typeface="Arial" panose="020B0604020202020204" pitchFamily="34" charset="0"/>
              </a:rPr>
              <a:t>Teacher</a:t>
            </a:r>
            <a:r>
              <a:rPr lang="en-GB" altLang="en-US" sz="2400" dirty="0" smtClean="0">
                <a:latin typeface="Arial" panose="020B0604020202020204" pitchFamily="34" charset="0"/>
                <a:cs typeface="Arial" panose="020B0604020202020204" pitchFamily="34" charset="0"/>
              </a:rPr>
              <a:t> – the </a:t>
            </a:r>
            <a:r>
              <a:rPr lang="en-GB" altLang="en-US" sz="2400" dirty="0">
                <a:latin typeface="Arial" panose="020B0604020202020204" pitchFamily="34" charset="0"/>
                <a:cs typeface="Arial" panose="020B0604020202020204" pitchFamily="34" charset="0"/>
              </a:rPr>
              <a:t>first step is recognising the pupils </a:t>
            </a:r>
            <a:r>
              <a:rPr lang="en-GB" altLang="en-US" sz="2400" b="1" dirty="0" smtClean="0">
                <a:latin typeface="Arial" panose="020B0604020202020204" pitchFamily="34" charset="0"/>
                <a:cs typeface="Arial" panose="020B0604020202020204" pitchFamily="34" charset="0"/>
              </a:rPr>
              <a:t>separation anxiety</a:t>
            </a: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The </a:t>
            </a:r>
            <a:r>
              <a:rPr lang="en-GB" altLang="en-US" sz="2400" dirty="0">
                <a:latin typeface="Arial" panose="020B0604020202020204" pitchFamily="34" charset="0"/>
                <a:cs typeface="Arial" panose="020B0604020202020204" pitchFamily="34" charset="0"/>
              </a:rPr>
              <a:t>pupil can be experienced as </a:t>
            </a:r>
            <a:r>
              <a:rPr lang="en-GB" altLang="en-US" sz="2400" b="1" dirty="0" smtClean="0">
                <a:latin typeface="Arial" panose="020B0604020202020204" pitchFamily="34" charset="0"/>
                <a:cs typeface="Arial" panose="020B0604020202020204" pitchFamily="34" charset="0"/>
              </a:rPr>
              <a:t>dependent, irritating and intrusive. </a:t>
            </a:r>
            <a:r>
              <a:rPr lang="en-GB" altLang="en-US" sz="2400" dirty="0" smtClean="0">
                <a:latin typeface="Arial" panose="020B0604020202020204" pitchFamily="34" charset="0"/>
                <a:cs typeface="Arial" panose="020B0604020202020204" pitchFamily="34" charset="0"/>
              </a:rPr>
              <a:t>It </a:t>
            </a:r>
            <a:r>
              <a:rPr lang="en-GB" altLang="en-US" sz="2400" dirty="0">
                <a:latin typeface="Arial" panose="020B0604020202020204" pitchFamily="34" charset="0"/>
                <a:cs typeface="Arial" panose="020B0604020202020204" pitchFamily="34" charset="0"/>
              </a:rPr>
              <a:t>can help to be aware of the child’s powerful wish to </a:t>
            </a:r>
            <a:r>
              <a:rPr lang="en-GB" altLang="en-US" sz="2400" dirty="0" smtClean="0">
                <a:latin typeface="Arial" panose="020B0604020202020204" pitchFamily="34" charset="0"/>
                <a:cs typeface="Arial" panose="020B0604020202020204" pitchFamily="34" charset="0"/>
              </a:rPr>
              <a:t>achieve </a:t>
            </a:r>
            <a:r>
              <a:rPr lang="en-GB" altLang="en-US" sz="2400" dirty="0">
                <a:latin typeface="Arial" panose="020B0604020202020204" pitchFamily="34" charset="0"/>
                <a:cs typeface="Arial" panose="020B0604020202020204" pitchFamily="34" charset="0"/>
              </a:rPr>
              <a:t>a merged state with the </a:t>
            </a:r>
            <a:r>
              <a:rPr lang="en-GB" altLang="en-US" sz="2400" dirty="0" smtClean="0">
                <a:latin typeface="Arial" panose="020B0604020202020204" pitchFamily="34" charset="0"/>
                <a:cs typeface="Arial" panose="020B0604020202020204" pitchFamily="34" charset="0"/>
              </a:rPr>
              <a:t>adult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think of this behaviour as an </a:t>
            </a:r>
            <a:r>
              <a:rPr lang="en-GB" altLang="en-US" sz="2400" i="1" dirty="0">
                <a:latin typeface="Arial" panose="020B0604020202020204" pitchFamily="34" charset="0"/>
                <a:cs typeface="Arial" panose="020B0604020202020204" pitchFamily="34" charset="0"/>
              </a:rPr>
              <a:t>anxious dependence</a:t>
            </a:r>
            <a:r>
              <a:rPr lang="en-GB" altLang="en-US" sz="2400" dirty="0">
                <a:latin typeface="Arial" panose="020B0604020202020204" pitchFamily="34" charset="0"/>
                <a:cs typeface="Arial" panose="020B0604020202020204" pitchFamily="34" charset="0"/>
              </a:rPr>
              <a:t> and a </a:t>
            </a:r>
            <a:r>
              <a:rPr lang="en-GB" altLang="en-US" sz="2400" i="1" dirty="0">
                <a:latin typeface="Arial" panose="020B0604020202020204" pitchFamily="34" charset="0"/>
                <a:cs typeface="Arial" panose="020B0604020202020204" pitchFamily="34" charset="0"/>
              </a:rPr>
              <a:t>need to control the significant adult </a:t>
            </a:r>
            <a:r>
              <a:rPr lang="en-GB" altLang="en-US" sz="2400" dirty="0">
                <a:latin typeface="Arial" panose="020B0604020202020204" pitchFamily="34" charset="0"/>
                <a:cs typeface="Arial" panose="020B0604020202020204" pitchFamily="34" charset="0"/>
              </a:rPr>
              <a:t>who has not been experienced as reliably </a:t>
            </a:r>
            <a:r>
              <a:rPr lang="en-GB" altLang="en-US" sz="2400" dirty="0" smtClean="0">
                <a:latin typeface="Arial" panose="020B0604020202020204" pitchFamily="34" charset="0"/>
                <a:cs typeface="Arial" panose="020B0604020202020204" pitchFamily="34" charset="0"/>
              </a:rPr>
              <a:t>present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Important </a:t>
            </a:r>
            <a:r>
              <a:rPr lang="en-GB" altLang="en-US" sz="2400" dirty="0">
                <a:latin typeface="Arial" panose="020B0604020202020204" pitchFamily="34" charset="0"/>
                <a:cs typeface="Arial" panose="020B0604020202020204" pitchFamily="34" charset="0"/>
              </a:rPr>
              <a:t>adult remains the </a:t>
            </a:r>
            <a:r>
              <a:rPr lang="en-GB" altLang="en-US" sz="2400" b="1" dirty="0" smtClean="0">
                <a:latin typeface="Arial" panose="020B0604020202020204" pitchFamily="34" charset="0"/>
                <a:cs typeface="Arial" panose="020B0604020202020204" pitchFamily="34" charset="0"/>
              </a:rPr>
              <a:t>adult in charge</a:t>
            </a:r>
            <a:r>
              <a:rPr lang="en-GB" altLang="en-US" sz="2400" dirty="0">
                <a:latin typeface="Arial" panose="020B0604020202020204" pitchFamily="34" charset="0"/>
                <a:cs typeface="Arial" panose="020B0604020202020204" pitchFamily="34" charset="0"/>
              </a:rPr>
              <a:t/>
            </a:r>
            <a:br>
              <a:rPr lang="en-GB" altLang="en-US" sz="2400" dirty="0">
                <a:latin typeface="Arial" panose="020B0604020202020204" pitchFamily="34" charset="0"/>
                <a:cs typeface="Arial" panose="020B0604020202020204" pitchFamily="34" charset="0"/>
              </a:rPr>
            </a:br>
            <a:r>
              <a:rPr lang="en-GB" altLang="en-US" sz="2400" dirty="0" smtClean="0">
                <a:latin typeface="Arial" panose="020B0604020202020204" pitchFamily="34" charset="0"/>
                <a:cs typeface="Arial" panose="020B0604020202020204" pitchFamily="34" charset="0"/>
              </a:rPr>
              <a:t>Neither </a:t>
            </a:r>
            <a:r>
              <a:rPr lang="en-GB" altLang="en-US" sz="2400" dirty="0">
                <a:latin typeface="Arial" panose="020B0604020202020204" pitchFamily="34" charset="0"/>
                <a:cs typeface="Arial" panose="020B0604020202020204" pitchFamily="34" charset="0"/>
              </a:rPr>
              <a:t>replicates the neediness of the primary carer nor collude with the child’s apparent pseudo-adult helper role</a:t>
            </a:r>
          </a:p>
        </p:txBody>
      </p:sp>
    </p:spTree>
    <p:extLst>
      <p:ext uri="{BB962C8B-B14F-4D97-AF65-F5344CB8AC3E}">
        <p14:creationId xmlns:p14="http://schemas.microsoft.com/office/powerpoint/2010/main" val="32172344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 the Planning - </a:t>
            </a:r>
            <a:r>
              <a:rPr lang="en-GB" sz="4400" dirty="0" smtClean="0"/>
              <a:t>strategies </a:t>
            </a:r>
            <a:r>
              <a:rPr lang="en-GB" sz="4400" dirty="0"/>
              <a:t>to use</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22885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Planning beginnings separations and endings</a:t>
            </a:r>
          </a:p>
          <a:p>
            <a:pPr>
              <a:lnSpc>
                <a:spcPct val="80000"/>
              </a:lnSpc>
            </a:pPr>
            <a:r>
              <a:rPr lang="en-GB" altLang="en-US" sz="2400" dirty="0" smtClean="0">
                <a:latin typeface="Arial" panose="020B0604020202020204" pitchFamily="34" charset="0"/>
                <a:cs typeface="Arial" panose="020B0604020202020204" pitchFamily="34" charset="0"/>
              </a:rPr>
              <a:t>Help </a:t>
            </a:r>
            <a:r>
              <a:rPr lang="en-GB" altLang="en-US" sz="2400" dirty="0">
                <a:latin typeface="Arial" panose="020B0604020202020204" pitchFamily="34" charset="0"/>
                <a:cs typeface="Arial" panose="020B0604020202020204" pitchFamily="34" charset="0"/>
              </a:rPr>
              <a:t>transition into school and at the end of the day</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a:t>
            </a:r>
            <a:r>
              <a:rPr lang="en-GB" altLang="en-US" sz="2400" b="1" dirty="0" smtClean="0">
                <a:latin typeface="Arial" panose="020B0604020202020204" pitchFamily="34" charset="0"/>
                <a:cs typeface="Arial" panose="020B0604020202020204" pitchFamily="34" charset="0"/>
              </a:rPr>
              <a:t>lanning and warnings of changes and class movement</a:t>
            </a:r>
          </a:p>
          <a:p>
            <a:pPr>
              <a:lnSpc>
                <a:spcPct val="80000"/>
              </a:lnSpc>
            </a:pPr>
            <a:r>
              <a:rPr lang="en-GB" altLang="en-US" sz="2400" dirty="0" smtClean="0">
                <a:latin typeface="Arial" panose="020B0604020202020204" pitchFamily="34" charset="0"/>
                <a:cs typeface="Arial" panose="020B0604020202020204" pitchFamily="34" charset="0"/>
              </a:rPr>
              <a:t>Can </a:t>
            </a:r>
            <a:r>
              <a:rPr lang="en-GB" altLang="en-US" sz="2400" dirty="0">
                <a:latin typeface="Arial" panose="020B0604020202020204" pitchFamily="34" charset="0"/>
                <a:cs typeface="Arial" panose="020B0604020202020204" pitchFamily="34" charset="0"/>
              </a:rPr>
              <a:t>ease separation anxiety being triggered when </a:t>
            </a:r>
            <a:r>
              <a:rPr lang="en-GB" altLang="en-US" sz="2400" dirty="0" smtClean="0">
                <a:latin typeface="Arial" panose="020B0604020202020204" pitchFamily="34" charset="0"/>
                <a:cs typeface="Arial" panose="020B0604020202020204" pitchFamily="34" charset="0"/>
              </a:rPr>
              <a:t>changes </a:t>
            </a:r>
            <a:r>
              <a:rPr lang="en-GB" altLang="en-US" sz="2400" dirty="0">
                <a:latin typeface="Arial" panose="020B0604020202020204" pitchFamily="34" charset="0"/>
                <a:cs typeface="Arial" panose="020B0604020202020204" pitchFamily="34" charset="0"/>
              </a:rPr>
              <a:t>take place</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Regular absence from school</a:t>
            </a:r>
          </a:p>
          <a:p>
            <a:pPr>
              <a:lnSpc>
                <a:spcPct val="80000"/>
              </a:lnSpc>
            </a:pPr>
            <a:r>
              <a:rPr lang="en-GB" altLang="en-US" sz="2400" dirty="0" smtClean="0">
                <a:latin typeface="Arial" panose="020B0604020202020204" pitchFamily="34" charset="0"/>
                <a:cs typeface="Arial" panose="020B0604020202020204" pitchFamily="34" charset="0"/>
              </a:rPr>
              <a:t>Triggers </a:t>
            </a:r>
            <a:r>
              <a:rPr lang="en-GB" altLang="en-US" sz="2400" dirty="0">
                <a:latin typeface="Arial" panose="020B0604020202020204" pitchFamily="34" charset="0"/>
                <a:cs typeface="Arial" panose="020B0604020202020204" pitchFamily="34" charset="0"/>
              </a:rPr>
              <a:t>procedures that respond quickly to absence help the child to feel held in mind appropriately by the school.  This will lead to an experience of the reliability of the school </a:t>
            </a:r>
            <a:r>
              <a:rPr lang="en-GB" altLang="en-US" sz="2400" dirty="0" smtClean="0">
                <a:latin typeface="Arial" panose="020B0604020202020204" pitchFamily="34" charset="0"/>
                <a:cs typeface="Arial" panose="020B0604020202020204" pitchFamily="34" charset="0"/>
              </a:rPr>
              <a:t>system.</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205912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13356"/>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Learning Profile Linked to Disorganised Attachment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3368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Approach </a:t>
            </a:r>
            <a:r>
              <a:rPr lang="en-GB" altLang="en-US" sz="2400" b="1" dirty="0">
                <a:latin typeface="Arial" panose="020B0604020202020204" pitchFamily="34" charset="0"/>
                <a:cs typeface="Arial" panose="020B0604020202020204" pitchFamily="34" charset="0"/>
              </a:rPr>
              <a:t>to the school and the classroom</a:t>
            </a:r>
          </a:p>
          <a:p>
            <a:pPr>
              <a:lnSpc>
                <a:spcPct val="80000"/>
              </a:lnSpc>
            </a:pPr>
            <a:r>
              <a:rPr lang="en-GB" altLang="en-US" sz="2400" dirty="0" smtClean="0">
                <a:latin typeface="Arial" panose="020B0604020202020204" pitchFamily="34" charset="0"/>
                <a:cs typeface="Arial" panose="020B0604020202020204" pitchFamily="34" charset="0"/>
              </a:rPr>
              <a:t>Intense </a:t>
            </a:r>
            <a:r>
              <a:rPr lang="en-GB" altLang="en-US" sz="2400" dirty="0">
                <a:latin typeface="Arial" panose="020B0604020202020204" pitchFamily="34" charset="0"/>
                <a:cs typeface="Arial" panose="020B0604020202020204" pitchFamily="34" charset="0"/>
              </a:rPr>
              <a:t>anxiety – controlling and omnipotent </a:t>
            </a:r>
          </a:p>
          <a:p>
            <a:r>
              <a:rPr lang="en-GB" altLang="en-US" sz="2400" b="1" dirty="0">
                <a:latin typeface="Arial" panose="020B0604020202020204" pitchFamily="34" charset="0"/>
                <a:cs typeface="Arial" panose="020B0604020202020204" pitchFamily="34" charset="0"/>
              </a:rPr>
              <a:t>Response to the teacher</a:t>
            </a:r>
          </a:p>
          <a:p>
            <a:pPr>
              <a:lnSpc>
                <a:spcPct val="80000"/>
              </a:lnSpc>
            </a:pPr>
            <a:r>
              <a:rPr lang="en-GB" altLang="en-US" sz="2400" dirty="0" smtClean="0">
                <a:latin typeface="Arial" panose="020B0604020202020204" pitchFamily="34" charset="0"/>
                <a:cs typeface="Arial" panose="020B0604020202020204" pitchFamily="34" charset="0"/>
              </a:rPr>
              <a:t>Finds </a:t>
            </a:r>
            <a:r>
              <a:rPr lang="en-GB" altLang="en-US" sz="2400" dirty="0">
                <a:latin typeface="Arial" panose="020B0604020202020204" pitchFamily="34" charset="0"/>
                <a:cs typeface="Arial" panose="020B0604020202020204" pitchFamily="34" charset="0"/>
              </a:rPr>
              <a:t>it hard to accept teachers authority but may submit to Heads authority.  Finds it hard to be ‘taught’/accept teacher might know more than they </a:t>
            </a:r>
            <a:r>
              <a:rPr lang="en-GB" altLang="en-US" sz="2400" dirty="0" smtClean="0">
                <a:latin typeface="Arial" panose="020B0604020202020204" pitchFamily="34" charset="0"/>
                <a:cs typeface="Arial" panose="020B0604020202020204" pitchFamily="34" charset="0"/>
              </a:rPr>
              <a:t>do.</a:t>
            </a:r>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Response to the Task</a:t>
            </a:r>
          </a:p>
          <a:p>
            <a:pPr>
              <a:lnSpc>
                <a:spcPct val="80000"/>
              </a:lnSpc>
            </a:pPr>
            <a:r>
              <a:rPr lang="en-GB" altLang="en-US" sz="2400" dirty="0" smtClean="0">
                <a:latin typeface="Arial" panose="020B0604020202020204" pitchFamily="34" charset="0"/>
                <a:cs typeface="Arial" panose="020B0604020202020204" pitchFamily="34" charset="0"/>
              </a:rPr>
              <a:t>Produce </a:t>
            </a:r>
            <a:r>
              <a:rPr lang="en-GB" altLang="en-US" sz="2400" dirty="0">
                <a:latin typeface="Arial" panose="020B0604020202020204" pitchFamily="34" charset="0"/>
                <a:cs typeface="Arial" panose="020B0604020202020204" pitchFamily="34" charset="0"/>
              </a:rPr>
              <a:t>fears of incompetence, humiliation may have difficulty in accepting not knowing or may appear omnipotent i.e. “I know it all already”</a:t>
            </a:r>
          </a:p>
          <a:p>
            <a:r>
              <a:rPr lang="en-GB" altLang="en-US" sz="2400" b="1" dirty="0">
                <a:latin typeface="Arial" panose="020B0604020202020204" pitchFamily="34" charset="0"/>
                <a:cs typeface="Arial" panose="020B0604020202020204" pitchFamily="34" charset="0"/>
              </a:rPr>
              <a:t>Skills and Difficulties</a:t>
            </a:r>
          </a:p>
          <a:p>
            <a:pPr>
              <a:lnSpc>
                <a:spcPct val="80000"/>
              </a:lnSpc>
            </a:pPr>
            <a:r>
              <a:rPr lang="en-GB" altLang="en-US" sz="2400" dirty="0" smtClean="0">
                <a:latin typeface="Arial" panose="020B0604020202020204" pitchFamily="34" charset="0"/>
                <a:cs typeface="Arial" panose="020B0604020202020204" pitchFamily="34" charset="0"/>
              </a:rPr>
              <a:t>May </a:t>
            </a:r>
            <a:r>
              <a:rPr lang="en-GB" altLang="en-US" sz="2400" dirty="0">
                <a:latin typeface="Arial" panose="020B0604020202020204" pitchFamily="34" charset="0"/>
                <a:cs typeface="Arial" panose="020B0604020202020204" pitchFamily="34" charset="0"/>
              </a:rPr>
              <a:t>seem unimaginative and uncreative, may find conceptual thought difficult.  Likely to be underachieving and at immature stage of </a:t>
            </a:r>
            <a:r>
              <a:rPr lang="en-GB" altLang="en-US" sz="2400" dirty="0" smtClean="0">
                <a:latin typeface="Arial" panose="020B0604020202020204" pitchFamily="34" charset="0"/>
                <a:cs typeface="Arial" panose="020B0604020202020204" pitchFamily="34" charset="0"/>
              </a:rPr>
              <a:t>learning.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237549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67190"/>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Strategies </a:t>
            </a:r>
            <a:r>
              <a:rPr lang="en-GB" sz="4400" dirty="0"/>
              <a:t>to </a:t>
            </a:r>
            <a:r>
              <a:rPr lang="en-GB" sz="4400" dirty="0" smtClean="0"/>
              <a:t>use:</a:t>
            </a:r>
            <a:endParaRPr lang="es-ES" sz="4400" dirty="0">
              <a:solidFill>
                <a:schemeClr val="bg1">
                  <a:lumMod val="50000"/>
                </a:schemeClr>
              </a:solidFill>
              <a:latin typeface="Calibri" charset="0"/>
            </a:endParaRPr>
          </a:p>
        </p:txBody>
      </p:sp>
      <p:sp>
        <p:nvSpPr>
          <p:cNvPr id="3" name="Rectangle 2"/>
          <p:cNvSpPr/>
          <p:nvPr/>
        </p:nvSpPr>
        <p:spPr>
          <a:xfrm>
            <a:off x="307908" y="1153296"/>
            <a:ext cx="8490857" cy="555844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Actively practice </a:t>
            </a:r>
            <a:r>
              <a:rPr lang="en-GB" altLang="en-US" sz="2400" b="1" dirty="0" smtClean="0">
                <a:latin typeface="Arial" panose="020B0604020202020204" pitchFamily="34" charset="0"/>
                <a:cs typeface="Arial" panose="020B0604020202020204" pitchFamily="34" charset="0"/>
              </a:rPr>
              <a:t>rules</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which focus on keeping people and things </a:t>
            </a:r>
            <a:r>
              <a:rPr lang="en-GB" altLang="en-US" sz="2400" dirty="0" smtClean="0">
                <a:latin typeface="Arial" panose="020B0604020202020204" pitchFamily="34" charset="0"/>
                <a:cs typeface="Arial" panose="020B0604020202020204" pitchFamily="34" charset="0"/>
              </a:rPr>
              <a:t>safe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Frequent positive feedback can help to develop and reinforce more positive </a:t>
            </a:r>
            <a:r>
              <a:rPr lang="en-GB" altLang="en-US" sz="2400" dirty="0" smtClean="0">
                <a:latin typeface="Arial" panose="020B0604020202020204" pitchFamily="34" charset="0"/>
                <a:cs typeface="Arial" panose="020B0604020202020204" pitchFamily="34" charset="0"/>
              </a:rPr>
              <a:t>responses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t>
            </a:r>
            <a:r>
              <a:rPr lang="en-GB" altLang="en-US" sz="2400" dirty="0" smtClean="0">
                <a:latin typeface="Arial" panose="020B0604020202020204" pitchFamily="34" charset="0"/>
                <a:cs typeface="Arial" panose="020B0604020202020204" pitchFamily="34" charset="0"/>
              </a:rPr>
              <a:t>reflective network meetings </a:t>
            </a:r>
            <a:r>
              <a:rPr lang="en-GB" altLang="en-US" sz="2400" dirty="0">
                <a:latin typeface="Arial" panose="020B0604020202020204" pitchFamily="34" charset="0"/>
                <a:cs typeface="Arial" panose="020B0604020202020204" pitchFamily="34" charset="0"/>
              </a:rPr>
              <a:t>in order to avoid reactive adult responses – especially to a </a:t>
            </a:r>
            <a:r>
              <a:rPr lang="en-GB" altLang="en-US" sz="2400" dirty="0" smtClean="0">
                <a:latin typeface="Arial" panose="020B0604020202020204" pitchFamily="34" charset="0"/>
                <a:cs typeface="Arial" panose="020B0604020202020204" pitchFamily="34" charset="0"/>
              </a:rPr>
              <a:t>crisis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Concrete, mechanical and rhythmic activities which engage left brain  function can be used to sooth highly charged </a:t>
            </a:r>
            <a:r>
              <a:rPr lang="en-GB" altLang="en-US" sz="2400" dirty="0" smtClean="0">
                <a:latin typeface="Arial" panose="020B0604020202020204" pitchFamily="34" charset="0"/>
                <a:cs typeface="Arial" panose="020B0604020202020204" pitchFamily="34" charset="0"/>
              </a:rPr>
              <a:t>states – counting</a:t>
            </a:r>
            <a:r>
              <a:rPr lang="en-GB" altLang="en-US" sz="2400" dirty="0">
                <a:latin typeface="Arial" panose="020B0604020202020204" pitchFamily="34" charset="0"/>
                <a:cs typeface="Arial" panose="020B0604020202020204" pitchFamily="34" charset="0"/>
              </a:rPr>
              <a:t>, colouring, sorting, building structures sequencing sorting, building structures sequencing objects and copying.</a:t>
            </a:r>
          </a:p>
        </p:txBody>
      </p:sp>
    </p:spTree>
    <p:extLst>
      <p:ext uri="{BB962C8B-B14F-4D97-AF65-F5344CB8AC3E}">
        <p14:creationId xmlns:p14="http://schemas.microsoft.com/office/powerpoint/2010/main" val="42486604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998749"/>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Rhythmical </a:t>
            </a:r>
            <a:r>
              <a:rPr lang="en-GB" altLang="en-US" sz="2400" dirty="0">
                <a:latin typeface="Arial" panose="020B0604020202020204" pitchFamily="34" charset="0"/>
                <a:cs typeface="Arial" panose="020B0604020202020204" pitchFamily="34" charset="0"/>
              </a:rPr>
              <a:t>physical exercise also has a regulating influence on brain </a:t>
            </a:r>
            <a:r>
              <a:rPr lang="en-GB" altLang="en-US" sz="2400" dirty="0" smtClean="0">
                <a:latin typeface="Arial" panose="020B0604020202020204" pitchFamily="34" charset="0"/>
                <a:cs typeface="Arial" panose="020B0604020202020204" pitchFamily="34" charset="0"/>
              </a:rPr>
              <a:t>rhythms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Start day with brain </a:t>
            </a:r>
            <a:r>
              <a:rPr lang="en-GB" altLang="en-US" sz="2400" dirty="0" smtClean="0">
                <a:latin typeface="Arial" panose="020B0604020202020204" pitchFamily="34" charset="0"/>
                <a:cs typeface="Arial" panose="020B0604020202020204" pitchFamily="34" charset="0"/>
              </a:rPr>
              <a:t>gym/cross-stitch</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metaphors related to symbolic containment-buildings, houses, boats and </a:t>
            </a:r>
            <a:r>
              <a:rPr lang="en-GB" altLang="en-US" sz="2400" dirty="0" smtClean="0">
                <a:latin typeface="Arial" panose="020B0604020202020204" pitchFamily="34" charset="0"/>
                <a:cs typeface="Arial" panose="020B0604020202020204" pitchFamily="34" charset="0"/>
              </a:rPr>
              <a:t>bridges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Make use of rich opportunities in curriculum to explore feelings and situations </a:t>
            </a:r>
            <a:r>
              <a:rPr lang="en-GB" altLang="en-US" sz="2400" b="1" dirty="0">
                <a:latin typeface="Arial" panose="020B0604020202020204" pitchFamily="34" charset="0"/>
                <a:cs typeface="Arial" panose="020B0604020202020204" pitchFamily="34" charset="0"/>
              </a:rPr>
              <a:t>without</a:t>
            </a:r>
            <a:r>
              <a:rPr lang="en-GB" altLang="en-US" sz="2400" dirty="0">
                <a:latin typeface="Arial" panose="020B0604020202020204" pitchFamily="34" charset="0"/>
                <a:cs typeface="Arial" panose="020B0604020202020204" pitchFamily="34" charset="0"/>
              </a:rPr>
              <a:t> reference to </a:t>
            </a:r>
            <a:r>
              <a:rPr lang="en-GB" altLang="en-US" sz="2400" dirty="0" smtClean="0">
                <a:latin typeface="Arial" panose="020B0604020202020204" pitchFamily="34" charset="0"/>
                <a:cs typeface="Arial" panose="020B0604020202020204" pitchFamily="34" charset="0"/>
              </a:rPr>
              <a:t>self</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Ensure do-able/differentiated </a:t>
            </a:r>
            <a:r>
              <a:rPr lang="en-GB" altLang="en-US" sz="2400" dirty="0" smtClean="0">
                <a:latin typeface="Arial" panose="020B0604020202020204" pitchFamily="34" charset="0"/>
                <a:cs typeface="Arial" panose="020B0604020202020204" pitchFamily="34" charset="0"/>
              </a:rPr>
              <a:t>activities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Step back from aggression and use “safety routine” – accompanied “time out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Worry Box and Permission </a:t>
            </a:r>
            <a:r>
              <a:rPr lang="en-GB" altLang="en-US" sz="2400" dirty="0" smtClean="0">
                <a:latin typeface="Arial" panose="020B0604020202020204" pitchFamily="34" charset="0"/>
                <a:cs typeface="Arial" panose="020B0604020202020204" pitchFamily="34" charset="0"/>
              </a:rPr>
              <a:t>Cards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1542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Supporting </a:t>
            </a:r>
            <a:r>
              <a:rPr lang="en-GB" sz="4400" dirty="0" smtClean="0"/>
              <a:t>individuals </a:t>
            </a:r>
            <a:r>
              <a:rPr lang="en-GB" sz="4400" dirty="0"/>
              <a:t>via </a:t>
            </a:r>
            <a:r>
              <a:rPr lang="en-GB" sz="4400" b="1" dirty="0" smtClean="0"/>
              <a:t>direct input</a:t>
            </a:r>
            <a:r>
              <a:rPr lang="en-GB" sz="4400" dirty="0" smtClean="0"/>
              <a:t> </a:t>
            </a:r>
            <a:r>
              <a:rPr lang="en-GB" sz="4400" dirty="0"/>
              <a:t>across all Key Stages: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74591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Solution-focused </a:t>
            </a:r>
            <a:r>
              <a:rPr lang="en-GB" altLang="en-US" sz="2400" dirty="0">
                <a:latin typeface="Arial" panose="020B0604020202020204" pitchFamily="34" charset="0"/>
                <a:cs typeface="Arial" panose="020B0604020202020204" pitchFamily="34" charset="0"/>
              </a:rPr>
              <a:t>approaches to increase self-esteem and engagement</a:t>
            </a: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PACE </a:t>
            </a:r>
            <a:r>
              <a:rPr lang="en-GB" altLang="en-US" sz="2400" dirty="0">
                <a:latin typeface="Arial" panose="020B0604020202020204" pitchFamily="34" charset="0"/>
                <a:cs typeface="Arial" panose="020B0604020202020204" pitchFamily="34" charset="0"/>
              </a:rPr>
              <a:t>approach (Dan Hughes 2003)</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tools are particularly useful for promoting behaviour change, building aspirations and resilience and will ultimately increase learning </a:t>
            </a:r>
            <a:r>
              <a:rPr lang="en-GB" altLang="en-US" sz="2400" dirty="0" smtClean="0">
                <a:latin typeface="Arial" panose="020B0604020202020204" pitchFamily="34" charset="0"/>
                <a:cs typeface="Arial" panose="020B0604020202020204" pitchFamily="34" charset="0"/>
              </a:rPr>
              <a:t>skills. It </a:t>
            </a:r>
            <a:r>
              <a:rPr lang="en-GB" altLang="en-US" sz="2400" dirty="0">
                <a:latin typeface="Arial" panose="020B0604020202020204" pitchFamily="34" charset="0"/>
                <a:cs typeface="Arial" panose="020B0604020202020204" pitchFamily="34" charset="0"/>
              </a:rPr>
              <a:t>is </a:t>
            </a:r>
            <a:r>
              <a:rPr lang="en-GB" altLang="en-US" sz="2400" dirty="0" smtClean="0">
                <a:latin typeface="Arial" panose="020B0604020202020204" pitchFamily="34" charset="0"/>
                <a:cs typeface="Arial" panose="020B0604020202020204" pitchFamily="34" charset="0"/>
              </a:rPr>
              <a:t>all </a:t>
            </a:r>
            <a:r>
              <a:rPr lang="en-GB" altLang="en-US" sz="2400" dirty="0">
                <a:latin typeface="Arial" panose="020B0604020202020204" pitchFamily="34" charset="0"/>
                <a:cs typeface="Arial" panose="020B0604020202020204" pitchFamily="34" charset="0"/>
              </a:rPr>
              <a:t>in the </a:t>
            </a:r>
            <a:r>
              <a:rPr lang="en-GB" altLang="en-US" sz="2400" b="1" dirty="0" smtClean="0">
                <a:latin typeface="Arial" panose="020B0604020202020204" pitchFamily="34" charset="0"/>
                <a:cs typeface="Arial" panose="020B0604020202020204" pitchFamily="34" charset="0"/>
              </a:rPr>
              <a:t>relationship.</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59115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600" dirty="0"/>
              <a:t>A s</a:t>
            </a:r>
            <a:r>
              <a:rPr lang="en-GB" sz="3600" dirty="0" smtClean="0"/>
              <a:t>olution-focused approach </a:t>
            </a:r>
            <a:r>
              <a:rPr lang="en-GB" sz="3600" dirty="0"/>
              <a:t>to increase self-esteem and engagement</a:t>
            </a:r>
            <a:endParaRPr lang="es-ES" sz="3600" dirty="0">
              <a:solidFill>
                <a:schemeClr val="bg1">
                  <a:lumMod val="50000"/>
                </a:schemeClr>
              </a:solidFill>
              <a:latin typeface="Calibri" charset="0"/>
            </a:endParaRPr>
          </a:p>
        </p:txBody>
      </p:sp>
      <p:sp>
        <p:nvSpPr>
          <p:cNvPr id="3" name="Rectangle 2"/>
          <p:cNvSpPr/>
          <p:nvPr/>
        </p:nvSpPr>
        <p:spPr>
          <a:xfrm>
            <a:off x="307909" y="1436631"/>
            <a:ext cx="8490857" cy="464050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Change the focus from the problem to solution of a preferred future for the young </a:t>
            </a:r>
            <a:r>
              <a:rPr lang="en-GB" altLang="en-US" sz="2400" dirty="0" smtClean="0">
                <a:latin typeface="Arial" panose="020B0604020202020204" pitchFamily="34" charset="0"/>
                <a:cs typeface="Arial" panose="020B0604020202020204" pitchFamily="34" charset="0"/>
              </a:rPr>
              <a:t>person</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See </a:t>
            </a:r>
            <a:r>
              <a:rPr lang="en-GB" altLang="en-US" sz="2400" dirty="0">
                <a:latin typeface="Arial" panose="020B0604020202020204" pitchFamily="34" charset="0"/>
                <a:cs typeface="Arial" panose="020B0604020202020204" pitchFamily="34" charset="0"/>
              </a:rPr>
              <a:t>a person as being more than their </a:t>
            </a:r>
            <a:r>
              <a:rPr lang="en-GB" altLang="en-US" sz="2400" dirty="0" smtClean="0">
                <a:latin typeface="Arial" panose="020B0604020202020204" pitchFamily="34" charset="0"/>
                <a:cs typeface="Arial" panose="020B0604020202020204" pitchFamily="34" charset="0"/>
              </a:rPr>
              <a:t>problem</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Look </a:t>
            </a:r>
            <a:r>
              <a:rPr lang="en-GB" altLang="en-US" sz="2400" dirty="0">
                <a:latin typeface="Arial" panose="020B0604020202020204" pitchFamily="34" charset="0"/>
                <a:cs typeface="Arial" panose="020B0604020202020204" pitchFamily="34" charset="0"/>
              </a:rPr>
              <a:t>for resources rather  than </a:t>
            </a:r>
            <a:r>
              <a:rPr lang="en-GB" altLang="en-US" sz="2400" dirty="0" smtClean="0">
                <a:latin typeface="Arial" panose="020B0604020202020204" pitchFamily="34" charset="0"/>
                <a:cs typeface="Arial" panose="020B0604020202020204" pitchFamily="34" charset="0"/>
              </a:rPr>
              <a:t>deficits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To </a:t>
            </a:r>
            <a:r>
              <a:rPr lang="en-GB" altLang="en-US" sz="2400" dirty="0">
                <a:latin typeface="Arial" panose="020B0604020202020204" pitchFamily="34" charset="0"/>
                <a:cs typeface="Arial" panose="020B0604020202020204" pitchFamily="34" charset="0"/>
              </a:rPr>
              <a:t>explore possible and preferred </a:t>
            </a:r>
            <a:r>
              <a:rPr lang="en-GB" altLang="en-US" sz="2400" dirty="0" smtClean="0">
                <a:latin typeface="Arial" panose="020B0604020202020204" pitchFamily="34" charset="0"/>
                <a:cs typeface="Arial" panose="020B0604020202020204" pitchFamily="34" charset="0"/>
              </a:rPr>
              <a:t>futures</a:t>
            </a: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a:t>
            </a:r>
            <a:r>
              <a:rPr lang="en-GB" altLang="en-US" sz="2400" dirty="0" smtClean="0">
                <a:latin typeface="Arial" panose="020B0604020202020204" pitchFamily="34" charset="0"/>
                <a:cs typeface="Arial" panose="020B0604020202020204" pitchFamily="34" charset="0"/>
              </a:rPr>
              <a:t>o </a:t>
            </a:r>
            <a:r>
              <a:rPr lang="en-GB" altLang="en-US" sz="2400" dirty="0">
                <a:latin typeface="Arial" panose="020B0604020202020204" pitchFamily="34" charset="0"/>
                <a:cs typeface="Arial" panose="020B0604020202020204" pitchFamily="34" charset="0"/>
              </a:rPr>
              <a:t>treat young person as the experts in all aspects to their lives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3008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Problem-free </a:t>
            </a:r>
            <a:r>
              <a:rPr lang="en-GB" sz="4400" dirty="0"/>
              <a:t>Talk</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007251"/>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 know very little about you except what brings you here today.   How do you spend your day?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interested 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are you good at</a:t>
            </a:r>
            <a:r>
              <a:rPr lang="en-GB" altLang="en-US" sz="2400" dirty="0" smtClean="0">
                <a:latin typeface="Arial" panose="020B0604020202020204" pitchFamily="34" charset="0"/>
                <a:cs typeface="Arial" panose="020B0604020202020204" pitchFamily="34" charset="0"/>
              </a:rPr>
              <a:t>?</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Exceptions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doesn’t the problem happen?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 it seem to be less intense?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 you resist the urge to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come you still go to school/work/etc on some days?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56852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Coping</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24315"/>
          </a:xfrm>
          <a:prstGeom prst="rect">
            <a:avLst/>
          </a:prstGeom>
        </p:spPr>
        <p:txBody>
          <a:bodyPr wrap="square">
            <a:spAutoFit/>
          </a:bodyPr>
          <a:lstStyle/>
          <a:p>
            <a:pPr marL="342900" indent="-342900">
              <a:buFont typeface="Arial" panose="020B0604020202020204" pitchFamily="34" charset="0"/>
              <a:buChar char="•"/>
            </a:pPr>
            <a:endParaRPr lang="en-GB" altLang="en-US" sz="2400" b="1"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situation sounds pretty overwhelming, how do you cope?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have you been getting through?</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your friends admire about the way you have coped with this</a:t>
            </a:r>
            <a:r>
              <a:rPr lang="en-GB" altLang="en-US" sz="2400" dirty="0" smtClean="0">
                <a:latin typeface="Arial" panose="020B0604020202020204" pitchFamily="34" charset="0"/>
                <a:cs typeface="Arial" panose="020B0604020202020204" pitchFamily="34" charset="0"/>
              </a:rPr>
              <a:t>?</a:t>
            </a:r>
          </a:p>
          <a:p>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Locating resources/building on strengths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you’ve faced this problem in the past, how did you resolve it?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would you know if you were doing that again? </a:t>
            </a: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What </a:t>
            </a:r>
            <a:r>
              <a:rPr lang="en-GB" altLang="en-US" sz="2400" dirty="0">
                <a:latin typeface="Arial" panose="020B0604020202020204" pitchFamily="34" charset="0"/>
                <a:cs typeface="Arial" panose="020B0604020202020204" pitchFamily="34" charset="0"/>
              </a:rPr>
              <a:t>would it look like?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34426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67192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can help?</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410712"/>
          </a:xfrm>
          <a:prstGeom prst="rect">
            <a:avLst/>
          </a:prstGeom>
        </p:spPr>
        <p:txBody>
          <a:bodyPr wrap="square">
            <a:spAutoFit/>
          </a:bodyPr>
          <a:lstStyle/>
          <a:p>
            <a:pPr>
              <a:lnSpc>
                <a:spcPct val="80000"/>
              </a:lnSpc>
            </a:pPr>
            <a:r>
              <a:rPr lang="en-GB" altLang="en-US" sz="2400" b="1" dirty="0" smtClean="0">
                <a:latin typeface="Arial" panose="020B0604020202020204" pitchFamily="34" charset="0"/>
                <a:cs typeface="Arial" panose="020B0604020202020204" pitchFamily="34" charset="0"/>
              </a:rPr>
              <a:t>View </a:t>
            </a:r>
            <a:r>
              <a:rPr lang="en-GB" altLang="en-US" sz="2400" b="1" dirty="0">
                <a:latin typeface="Arial" panose="020B0604020202020204" pitchFamily="34" charset="0"/>
                <a:cs typeface="Arial" panose="020B0604020202020204" pitchFamily="34" charset="0"/>
              </a:rPr>
              <a:t>of Self: identify questions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does that teach you about yourself?</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 you know now about yourself that you didn’t know last week?</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If you read about someone who had been through exactly this, what would you think of them?</a:t>
            </a: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r>
              <a:rPr lang="en-GB" altLang="en-US" sz="2400" b="1" dirty="0" smtClean="0">
                <a:latin typeface="Arial" panose="020B0604020202020204" pitchFamily="34" charset="0"/>
                <a:cs typeface="Arial" panose="020B0604020202020204" pitchFamily="34" charset="0"/>
              </a:rPr>
              <a:t>Scales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On a scale of 0-10, with 0 being the worst that things have been in your life and 10 representing the achievement of your best hopes, where are you today?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is it you are doing that means you are at … and not 0?</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point on the scale would you like to reach? Who can help you? How can you help yourself?</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86879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Other </a:t>
            </a:r>
            <a:r>
              <a:rPr lang="en-GB" sz="4400" dirty="0"/>
              <a:t>people’s</a:t>
            </a:r>
            <a:r>
              <a:rPr lang="en-GB" sz="4000" dirty="0"/>
              <a:t> perspective</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699474"/>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first teacher to notice you’ve moved up one point on your scale?</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hardest to convince that you mean business this time? </a:t>
            </a:r>
            <a:endParaRPr lang="en-GB" altLang="en-US" sz="28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What </a:t>
            </a:r>
            <a:r>
              <a:rPr lang="en-GB" altLang="en-US" sz="2800" dirty="0">
                <a:latin typeface="Arial" panose="020B0604020202020204" pitchFamily="34" charset="0"/>
                <a:cs typeface="Arial" panose="020B0604020202020204" pitchFamily="34" charset="0"/>
              </a:rPr>
              <a:t>will he/she need to see?</a:t>
            </a:r>
          </a:p>
          <a:p>
            <a:endParaRPr lang="en-GB" altLang="en-US" sz="2800" dirty="0">
              <a:latin typeface="Arial" panose="020B0604020202020204" pitchFamily="34" charset="0"/>
              <a:cs typeface="Arial" panose="020B0604020202020204" pitchFamily="34" charset="0"/>
            </a:endParaRPr>
          </a:p>
          <a:p>
            <a:r>
              <a:rPr lang="en-GB" altLang="en-US" sz="2800" b="1" dirty="0">
                <a:latin typeface="Arial" panose="020B0604020202020204" pitchFamily="34" charset="0"/>
                <a:cs typeface="Arial" panose="020B0604020202020204" pitchFamily="34" charset="0"/>
              </a:rPr>
              <a:t>S</a:t>
            </a:r>
            <a:r>
              <a:rPr lang="en-GB" altLang="en-US" sz="2800" b="1" dirty="0" smtClean="0">
                <a:latin typeface="Arial" panose="020B0604020202020204" pitchFamily="34" charset="0"/>
                <a:cs typeface="Arial" panose="020B0604020202020204" pitchFamily="34" charset="0"/>
              </a:rPr>
              <a:t>imilar to CBT behavioural experiments</a:t>
            </a:r>
            <a:endParaRPr lang="en-US" alt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199767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a:t>
            </a:r>
            <a:r>
              <a:rPr lang="en-GB" sz="4400" dirty="0" smtClean="0"/>
              <a:t>truly </a:t>
            </a:r>
            <a:r>
              <a:rPr lang="en-GB" sz="4400" dirty="0"/>
              <a:t>useful </a:t>
            </a:r>
            <a:r>
              <a:rPr lang="en-GB" sz="4400" dirty="0" smtClean="0"/>
              <a:t>tool</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3342453"/>
          </a:xfrm>
          <a:prstGeom prst="rect">
            <a:avLst/>
          </a:prstGeom>
        </p:spPr>
        <p:txBody>
          <a:bodyPr wrap="square">
            <a:spAutoFit/>
          </a:bodyPr>
          <a:lstStyle/>
          <a:p>
            <a:pPr>
              <a:lnSpc>
                <a:spcPct val="80000"/>
              </a:lnSpc>
            </a:pPr>
            <a:endParaRPr lang="en-GB" altLang="en-US" sz="2400" dirty="0" smtClean="0">
              <a:latin typeface="Arial" panose="020B0604020202020204" pitchFamily="34" charset="0"/>
              <a:cs typeface="Arial" panose="020B0604020202020204" pitchFamily="34" charset="0"/>
            </a:endParaRPr>
          </a:p>
          <a:p>
            <a:r>
              <a:rPr lang="en-GB" altLang="en-US" sz="3200" b="1" dirty="0" smtClean="0">
                <a:latin typeface="Arial" panose="020B0604020202020204" pitchFamily="34" charset="0"/>
                <a:cs typeface="Arial" panose="020B0604020202020204" pitchFamily="34" charset="0"/>
              </a:rPr>
              <a:t>PACE</a:t>
            </a:r>
            <a:r>
              <a:rPr lang="en-GB" altLang="en-US" sz="3200" dirty="0" smtClean="0">
                <a:latin typeface="Arial" panose="020B0604020202020204" pitchFamily="34" charset="0"/>
                <a:cs typeface="Arial" panose="020B0604020202020204" pitchFamily="34" charset="0"/>
              </a:rPr>
              <a:t> means </a:t>
            </a:r>
            <a:r>
              <a:rPr lang="en-GB" altLang="en-US" sz="3200" dirty="0">
                <a:latin typeface="Arial" panose="020B0604020202020204" pitchFamily="34" charset="0"/>
                <a:cs typeface="Arial" panose="020B0604020202020204" pitchFamily="34" charset="0"/>
              </a:rPr>
              <a:t>of ensuring that the </a:t>
            </a:r>
            <a:r>
              <a:rPr lang="en-GB" altLang="en-US" sz="3200" b="1" dirty="0" smtClean="0">
                <a:latin typeface="Arial" panose="020B0604020202020204" pitchFamily="34" charset="0"/>
                <a:cs typeface="Arial" panose="020B0604020202020204" pitchFamily="34" charset="0"/>
              </a:rPr>
              <a:t>adult</a:t>
            </a:r>
            <a:r>
              <a:rPr lang="en-GB" altLang="en-US" sz="3200" dirty="0" smtClean="0">
                <a:latin typeface="Arial" panose="020B0604020202020204" pitchFamily="34" charset="0"/>
                <a:cs typeface="Arial" panose="020B0604020202020204" pitchFamily="34" charset="0"/>
              </a:rPr>
              <a:t> </a:t>
            </a:r>
            <a:r>
              <a:rPr lang="en-GB" altLang="en-US" sz="3200" dirty="0">
                <a:latin typeface="Arial" panose="020B0604020202020204" pitchFamily="34" charset="0"/>
                <a:cs typeface="Arial" panose="020B0604020202020204" pitchFamily="34" charset="0"/>
              </a:rPr>
              <a:t>(</a:t>
            </a:r>
            <a:r>
              <a:rPr lang="en-GB" altLang="en-US" sz="3200" dirty="0" smtClean="0">
                <a:latin typeface="Arial" panose="020B0604020202020204" pitchFamily="34" charset="0"/>
                <a:cs typeface="Arial" panose="020B0604020202020204" pitchFamily="34" charset="0"/>
              </a:rPr>
              <a:t>you) </a:t>
            </a:r>
            <a:r>
              <a:rPr lang="en-GB" altLang="en-US" sz="3200" dirty="0">
                <a:latin typeface="Arial" panose="020B0604020202020204" pitchFamily="34" charset="0"/>
                <a:cs typeface="Arial" panose="020B0604020202020204" pitchFamily="34" charset="0"/>
              </a:rPr>
              <a:t>remain emotionally engaged and available to the child – </a:t>
            </a:r>
            <a:r>
              <a:rPr lang="en-GB" altLang="en-US" sz="3200" b="1" dirty="0" smtClean="0">
                <a:latin typeface="Arial" panose="020B0604020202020204" pitchFamily="34" charset="0"/>
                <a:cs typeface="Arial" panose="020B0604020202020204" pitchFamily="34" charset="0"/>
              </a:rPr>
              <a:t>a tall order</a:t>
            </a:r>
          </a:p>
          <a:p>
            <a:endParaRPr lang="en-GB" altLang="en-US" sz="3200" dirty="0">
              <a:latin typeface="Arial" panose="020B0604020202020204" pitchFamily="34" charset="0"/>
              <a:cs typeface="Arial" panose="020B0604020202020204" pitchFamily="34" charset="0"/>
            </a:endParaRPr>
          </a:p>
          <a:p>
            <a:r>
              <a:rPr lang="en-GB" altLang="en-US" sz="3200" dirty="0" smtClean="0">
                <a:latin typeface="Arial" panose="020B0604020202020204" pitchFamily="34" charset="0"/>
                <a:cs typeface="Arial" panose="020B0604020202020204" pitchFamily="34" charset="0"/>
              </a:rPr>
              <a:t>Don’t </a:t>
            </a:r>
            <a:r>
              <a:rPr lang="en-GB" altLang="en-US" sz="3200" dirty="0">
                <a:latin typeface="Arial" panose="020B0604020202020204" pitchFamily="34" charset="0"/>
                <a:cs typeface="Arial" panose="020B0604020202020204" pitchFamily="34" charset="0"/>
              </a:rPr>
              <a:t>forget the value and importance of peer support and networks</a:t>
            </a:r>
            <a:endParaRPr lang="en-US"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00186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851043"/>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smtClean="0"/>
              <a:t>PACE </a:t>
            </a:r>
            <a:r>
              <a:rPr lang="en-GB" sz="4000" dirty="0"/>
              <a:t>– </a:t>
            </a:r>
            <a:r>
              <a:rPr lang="en-GB" sz="4000" dirty="0" smtClean="0"/>
              <a:t>Playful, Accepting</a:t>
            </a:r>
            <a:r>
              <a:rPr lang="en-GB" sz="4000" dirty="0"/>
              <a:t>, Curious and Empathic</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859518"/>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2800" dirty="0" smtClean="0">
                <a:latin typeface="Arial" panose="020B0604020202020204" pitchFamily="34" charset="0"/>
                <a:cs typeface="Arial" panose="020B0604020202020204" pitchFamily="34" charset="0"/>
              </a:rPr>
              <a:t>Teacher </a:t>
            </a:r>
            <a:r>
              <a:rPr lang="en-GB" altLang="en-US" sz="2800" dirty="0">
                <a:latin typeface="Arial" panose="020B0604020202020204" pitchFamily="34" charset="0"/>
                <a:cs typeface="Arial" panose="020B0604020202020204" pitchFamily="34" charset="0"/>
              </a:rPr>
              <a:t>becomes attuned to the child’s “subjective experiences” and reflects these back to the child by means of eye contact, facial expressions, voice tone, timing and touch – “co-regulates” emotional affect and co-constructs an alternative autobiographical narrative with child.</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95325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428341"/>
            <a:ext cx="883609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Curiosity: This is the starting point of being able to relate to the </a:t>
            </a:r>
            <a:r>
              <a:rPr lang="en-GB" sz="2800" dirty="0" smtClean="0"/>
              <a:t>young person </a:t>
            </a:r>
            <a:r>
              <a:rPr lang="en-GB" sz="2800" dirty="0"/>
              <a:t>and to help the child to learn to manage feelings and to think about experience</a:t>
            </a:r>
            <a:endParaRPr lang="es-ES" sz="2800" dirty="0">
              <a:solidFill>
                <a:schemeClr val="bg1">
                  <a:lumMod val="50000"/>
                </a:schemeClr>
              </a:solidFill>
              <a:latin typeface="Calibri" charset="0"/>
            </a:endParaRPr>
          </a:p>
        </p:txBody>
      </p:sp>
      <p:sp>
        <p:nvSpPr>
          <p:cNvPr id="3" name="Rectangle 2"/>
          <p:cNvSpPr/>
          <p:nvPr/>
        </p:nvSpPr>
        <p:spPr>
          <a:xfrm>
            <a:off x="135293" y="1337481"/>
            <a:ext cx="8663474"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Includes wondering with the YP about the meaning behind the behaviour being displayed.  It is different from asking a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why s/he did something in a confrontational manner.  It is more an attitude of figuring out what is going on</a:t>
            </a:r>
            <a:r>
              <a:rPr lang="en-GB" altLang="en-US" sz="2400" dirty="0" smtClean="0">
                <a:latin typeface="Arial" panose="020B0604020202020204" pitchFamily="34" charset="0"/>
                <a:cs typeface="Arial" panose="020B0604020202020204" pitchFamily="34" charset="0"/>
              </a:rPr>
              <a:t>.</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Having an attitude of curiosity can lead to feelings of empathy for the </a:t>
            </a:r>
            <a:r>
              <a:rPr lang="en-GB" altLang="en-US" sz="2400" dirty="0" smtClean="0">
                <a:latin typeface="Arial" panose="020B0604020202020204" pitchFamily="34" charset="0"/>
                <a:cs typeface="Arial" panose="020B0604020202020204" pitchFamily="34" charset="0"/>
              </a:rPr>
              <a:t>young person</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will then be more willing and able to think about the behaviour and the consequences that </a:t>
            </a:r>
            <a:r>
              <a:rPr lang="en-GB" altLang="en-US" sz="2400" dirty="0" smtClean="0">
                <a:latin typeface="Arial" panose="020B0604020202020204" pitchFamily="34" charset="0"/>
                <a:cs typeface="Arial" panose="020B0604020202020204" pitchFamily="34" charset="0"/>
              </a:rPr>
              <a:t>ensued</a:t>
            </a: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Curiosity sometimes means making best guesses about what is  going on.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and adult can figure it out together as </a:t>
            </a:r>
            <a:r>
              <a:rPr lang="en-GB" altLang="en-US" sz="2400" dirty="0" smtClean="0">
                <a:latin typeface="Arial" panose="020B0604020202020204" pitchFamily="34" charset="0"/>
                <a:cs typeface="Arial" panose="020B0604020202020204" pitchFamily="34" charset="0"/>
              </a:rPr>
              <a:t>the young person </a:t>
            </a:r>
            <a:r>
              <a:rPr lang="en-GB" altLang="en-US" sz="2400" dirty="0">
                <a:latin typeface="Arial" panose="020B0604020202020204" pitchFamily="34" charset="0"/>
                <a:cs typeface="Arial" panose="020B0604020202020204" pitchFamily="34" charset="0"/>
              </a:rPr>
              <a:t>may genuinely not understand the behaviour themselves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82998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526312"/>
            <a:ext cx="8836090"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Acceptance: Following curiosity come acceptance. Acceptance means understanding why the </a:t>
            </a:r>
            <a:r>
              <a:rPr lang="en-GB" sz="2800" dirty="0" smtClean="0"/>
              <a:t>young person </a:t>
            </a:r>
            <a:r>
              <a:rPr lang="en-GB" sz="2800" dirty="0"/>
              <a:t>felt s/he had to behave as s/he did</a:t>
            </a:r>
            <a:endParaRPr lang="es-ES" sz="28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adult accepts both the behavioural choices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is making and the feelings that underlie these </a:t>
            </a:r>
            <a:r>
              <a:rPr lang="en-GB" altLang="en-US" sz="2400" dirty="0" smtClean="0">
                <a:latin typeface="Arial" panose="020B0604020202020204" pitchFamily="34" charset="0"/>
                <a:cs typeface="Arial" panose="020B0604020202020204" pitchFamily="34" charset="0"/>
              </a:rPr>
              <a:t>choices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Acceptance conveys understanding rather than condoning of the behaviour.  As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feels understood s/he will be more willing to think with the adult about the consequences to the behaviour that s/he now has to </a:t>
            </a:r>
            <a:r>
              <a:rPr lang="en-GB" altLang="en-US" sz="2400" dirty="0" smtClean="0">
                <a:latin typeface="Arial" panose="020B0604020202020204" pitchFamily="34" charset="0"/>
                <a:cs typeface="Arial" panose="020B0604020202020204" pitchFamily="34" charset="0"/>
              </a:rPr>
              <a:t>face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empathise the adult needs to enter imaginatively into the experience of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Acceptance of this inner experience is communicated to adult helping the </a:t>
            </a:r>
            <a:r>
              <a:rPr lang="en-GB" altLang="en-US" sz="2400" dirty="0" smtClean="0">
                <a:latin typeface="Arial" panose="020B0604020202020204" pitchFamily="34" charset="0"/>
                <a:cs typeface="Arial" panose="020B0604020202020204" pitchFamily="34" charset="0"/>
              </a:rPr>
              <a:t>young person </a:t>
            </a:r>
            <a:r>
              <a:rPr lang="en-GB" altLang="en-US" sz="2400" dirty="0">
                <a:latin typeface="Arial" panose="020B0604020202020204" pitchFamily="34" charset="0"/>
                <a:cs typeface="Arial" panose="020B0604020202020204" pitchFamily="34" charset="0"/>
              </a:rPr>
              <a:t>to feel that his or her inner life is important and valued.</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82973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200" dirty="0"/>
              <a:t>Playfulness: At times a playful attitude can be a key factor in helping a </a:t>
            </a:r>
            <a:r>
              <a:rPr lang="en-GB" sz="3200" dirty="0" smtClean="0"/>
              <a:t>young person </a:t>
            </a:r>
            <a:r>
              <a:rPr lang="en-GB" sz="3200" dirty="0"/>
              <a:t>feel connected within the relationship</a:t>
            </a:r>
            <a:endParaRPr lang="es-ES" sz="3200" dirty="0">
              <a:solidFill>
                <a:schemeClr val="bg1">
                  <a:lumMod val="50000"/>
                </a:schemeClr>
              </a:solidFill>
              <a:latin typeface="Calibri" charset="0"/>
            </a:endParaRPr>
          </a:p>
        </p:txBody>
      </p:sp>
      <p:sp>
        <p:nvSpPr>
          <p:cNvPr id="3" name="Rectangle 2"/>
          <p:cNvSpPr/>
          <p:nvPr/>
        </p:nvSpPr>
        <p:spPr>
          <a:xfrm>
            <a:off x="307909" y="1436631"/>
            <a:ext cx="8490857" cy="3477875"/>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dirty="0" smtClean="0">
              <a:latin typeface="Arial" panose="020B0604020202020204" pitchFamily="34" charset="0"/>
              <a:cs typeface="Arial" panose="020B0604020202020204" pitchFamily="34" charset="0"/>
            </a:endParaRPr>
          </a:p>
          <a:p>
            <a:pPr>
              <a:lnSpc>
                <a:spcPct val="80000"/>
              </a:lnSpc>
            </a:pPr>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 light-hearted, relaxed and playful attitude can </a:t>
            </a:r>
            <a:r>
              <a:rPr lang="en-GB" altLang="en-US" sz="2800" b="1" dirty="0">
                <a:latin typeface="Arial" panose="020B0604020202020204" pitchFamily="34" charset="0"/>
                <a:cs typeface="Arial" panose="020B0604020202020204" pitchFamily="34" charset="0"/>
              </a:rPr>
              <a:t>help</a:t>
            </a:r>
            <a:r>
              <a:rPr lang="en-GB" altLang="en-US" sz="2800" dirty="0">
                <a:latin typeface="Arial" panose="020B0604020202020204" pitchFamily="34" charset="0"/>
                <a:cs typeface="Arial" panose="020B0604020202020204" pitchFamily="34" charset="0"/>
              </a:rPr>
              <a:t> the child, sometimes unexpectedly, to experience fun and love. </a:t>
            </a:r>
            <a:r>
              <a:rPr lang="en-GB" altLang="en-US" sz="2800" dirty="0" smtClean="0">
                <a:latin typeface="Arial" panose="020B0604020202020204" pitchFamily="34" charset="0"/>
                <a:cs typeface="Arial" panose="020B0604020202020204" pitchFamily="34" charset="0"/>
              </a:rPr>
              <a:t>If </a:t>
            </a:r>
            <a:r>
              <a:rPr lang="en-GB" altLang="en-US" sz="2800" dirty="0">
                <a:latin typeface="Arial" panose="020B0604020202020204" pitchFamily="34" charset="0"/>
                <a:cs typeface="Arial" panose="020B0604020202020204" pitchFamily="34" charset="0"/>
              </a:rPr>
              <a:t>the resistant </a:t>
            </a:r>
            <a:r>
              <a:rPr lang="en-GB" altLang="en-US" sz="2800" dirty="0" smtClean="0">
                <a:latin typeface="Arial" panose="020B0604020202020204" pitchFamily="34" charset="0"/>
                <a:cs typeface="Arial" panose="020B0604020202020204" pitchFamily="34" charset="0"/>
              </a:rPr>
              <a:t>young person </a:t>
            </a:r>
            <a:r>
              <a:rPr lang="en-GB" altLang="en-US" sz="2800" dirty="0">
                <a:latin typeface="Arial" panose="020B0604020202020204" pitchFamily="34" charset="0"/>
                <a:cs typeface="Arial" panose="020B0604020202020204" pitchFamily="34" charset="0"/>
              </a:rPr>
              <a:t>does not see it coming and if it is over quickly s/he will find it harder to avoid and disengage</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8464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32775" name="Rectangle 7"/>
          <p:cNvSpPr>
            <a:spLocks noGrp="1" noChangeArrowheads="1"/>
          </p:cNvSpPr>
          <p:nvPr>
            <p:ph type="title" idx="4294967295"/>
          </p:nvPr>
        </p:nvSpPr>
        <p:spPr>
          <a:xfrm>
            <a:off x="1078301" y="593216"/>
            <a:ext cx="7772400" cy="1143000"/>
          </a:xfrm>
        </p:spPr>
        <p:txBody>
          <a:bodyPr/>
          <a:lstStyle/>
          <a:p>
            <a:pPr eaLnBrk="1" hangingPunct="1"/>
            <a:r>
              <a:rPr lang="en-GB" altLang="en-US" sz="3600" dirty="0" smtClean="0">
                <a:latin typeface="Arial" charset="0"/>
              </a:rPr>
              <a:t>Pause for Thought</a:t>
            </a:r>
          </a:p>
        </p:txBody>
      </p:sp>
      <p:sp>
        <p:nvSpPr>
          <p:cNvPr id="32776" name="Rectangle 8"/>
          <p:cNvSpPr>
            <a:spLocks noGrp="1" noChangeArrowheads="1"/>
          </p:cNvSpPr>
          <p:nvPr>
            <p:ph type="body" idx="4294967295"/>
          </p:nvPr>
        </p:nvSpPr>
        <p:spPr>
          <a:xfrm>
            <a:off x="721519" y="1753409"/>
            <a:ext cx="7772400" cy="4395787"/>
          </a:xfrm>
        </p:spPr>
        <p:txBody>
          <a:bodyPr>
            <a:normAutofit lnSpcReduction="10000"/>
          </a:bodyPr>
          <a:lstStyle/>
          <a:p>
            <a:pPr marL="0" indent="0" eaLnBrk="1" hangingPunct="1">
              <a:buFontTx/>
              <a:buNone/>
            </a:pPr>
            <a:r>
              <a:rPr lang="en-GB" altLang="en-US" sz="2400" dirty="0" smtClean="0">
                <a:latin typeface="Arial" charset="0"/>
              </a:rPr>
              <a:t>What does a basic understanding of attachment tell you about your school’s approach to interpreting children’s behaviour?</a:t>
            </a:r>
          </a:p>
          <a:p>
            <a:pPr marL="0" indent="0" eaLnBrk="1" hangingPunct="1">
              <a:buFontTx/>
              <a:buNone/>
            </a:pPr>
            <a:endParaRPr lang="en-GB" altLang="en-US" sz="2400" dirty="0" smtClean="0">
              <a:latin typeface="Arial" charset="0"/>
            </a:endParaRPr>
          </a:p>
          <a:p>
            <a:pPr marL="0" indent="0" eaLnBrk="1" hangingPunct="1">
              <a:buFontTx/>
              <a:buNone/>
            </a:pPr>
            <a:r>
              <a:rPr lang="en-GB" altLang="en-US" sz="2400" dirty="0" smtClean="0">
                <a:latin typeface="Arial" charset="0"/>
              </a:rPr>
              <a:t>Why might some existing behaviour management systems in schools not work for children with unmet attachment needs or trauma?</a:t>
            </a:r>
          </a:p>
          <a:p>
            <a:pPr marL="0" indent="0" eaLnBrk="1" hangingPunct="1">
              <a:buFontTx/>
              <a:buNone/>
            </a:pPr>
            <a:endParaRPr lang="en-GB" altLang="en-US" sz="2400" dirty="0" smtClean="0">
              <a:latin typeface="Arial" charset="0"/>
            </a:endParaRPr>
          </a:p>
          <a:p>
            <a:pPr marL="0" indent="0" eaLnBrk="1" hangingPunct="1">
              <a:buFontTx/>
              <a:buNone/>
            </a:pPr>
            <a:r>
              <a:rPr lang="en-GB" altLang="en-US" sz="2400" dirty="0" smtClean="0">
                <a:latin typeface="Arial" charset="0"/>
              </a:rPr>
              <a:t>Think of a class of children that you work with.  How might an understanding of attachment affect how this class is supported to learn more effectively?</a:t>
            </a:r>
          </a:p>
        </p:txBody>
      </p:sp>
    </p:spTree>
    <p:extLst>
      <p:ext uri="{BB962C8B-B14F-4D97-AF65-F5344CB8AC3E}">
        <p14:creationId xmlns:p14="http://schemas.microsoft.com/office/powerpoint/2010/main" val="171845929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Back to you: You need: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61249"/>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Inclusive </a:t>
            </a:r>
            <a:r>
              <a:rPr lang="en-GB" altLang="en-US" sz="2800" dirty="0">
                <a:latin typeface="Arial" panose="020B0604020202020204" pitchFamily="34" charset="0"/>
                <a:cs typeface="Arial" panose="020B0604020202020204" pitchFamily="34" charset="0"/>
              </a:rPr>
              <a:t>school culture</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Enabling Leadership</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Differentiated curriculum – </a:t>
            </a:r>
            <a:r>
              <a:rPr lang="en-GB" altLang="en-US" sz="2800" b="1" dirty="0" smtClean="0">
                <a:latin typeface="Arial" panose="020B0604020202020204" pitchFamily="34" charset="0"/>
                <a:cs typeface="Arial" panose="020B0604020202020204" pitchFamily="34" charset="0"/>
              </a:rPr>
              <a:t>no cliches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Teaching </a:t>
            </a:r>
            <a:r>
              <a:rPr lang="en-GB" altLang="en-US" sz="2800" dirty="0">
                <a:latin typeface="Arial" panose="020B0604020202020204" pitchFamily="34" charset="0"/>
                <a:cs typeface="Arial" panose="020B0604020202020204" pitchFamily="34" charset="0"/>
              </a:rPr>
              <a:t>and learning based upon respect, consistency, structure and shared responsibility</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Explicit policies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Pupil participation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Assessment, recording and celebration of achievement</a:t>
            </a:r>
          </a:p>
        </p:txBody>
      </p:sp>
    </p:spTree>
    <p:extLst>
      <p:ext uri="{BB962C8B-B14F-4D97-AF65-F5344CB8AC3E}">
        <p14:creationId xmlns:p14="http://schemas.microsoft.com/office/powerpoint/2010/main" val="334830646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And</a:t>
            </a:r>
            <a:r>
              <a:rPr lang="en-GB" sz="4400" dirty="0"/>
              <a: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696670"/>
          </a:xfrm>
          <a:prstGeom prst="rect">
            <a:avLst/>
          </a:prstGeom>
        </p:spPr>
        <p:txBody>
          <a:bodyPr wrap="square">
            <a:spAutoFit/>
          </a:bodyPr>
          <a:lstStyle/>
          <a:p>
            <a:pPr>
              <a:lnSpc>
                <a:spcPct val="80000"/>
              </a:lnSpc>
            </a:pPr>
            <a:endParaRPr lang="en-GB" altLang="en-US" sz="2400" b="1"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Consistent </a:t>
            </a:r>
            <a:r>
              <a:rPr lang="en-GB" altLang="en-US" sz="2800" dirty="0">
                <a:latin typeface="Arial" panose="020B0604020202020204" pitchFamily="34" charset="0"/>
                <a:cs typeface="Arial" panose="020B0604020202020204" pitchFamily="34" charset="0"/>
              </a:rPr>
              <a:t>systems and approaches for transfer of information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Transition specific support systems in place at all times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On going staff training to ensure awareness and understanding and </a:t>
            </a:r>
            <a:r>
              <a:rPr lang="en-GB" altLang="en-US" sz="2800" b="1" dirty="0">
                <a:latin typeface="Arial" panose="020B0604020202020204" pitchFamily="34" charset="0"/>
                <a:cs typeface="Arial" panose="020B0604020202020204" pitchFamily="34" charset="0"/>
              </a:rPr>
              <a:t>commitment</a:t>
            </a:r>
            <a:r>
              <a:rPr lang="en-GB" altLang="en-US" sz="2800" dirty="0">
                <a:latin typeface="Arial" panose="020B0604020202020204" pitchFamily="34" charset="0"/>
                <a:cs typeface="Arial" panose="020B0604020202020204" pitchFamily="34" charset="0"/>
              </a:rPr>
              <a:t> to the inclusion of </a:t>
            </a:r>
            <a:r>
              <a:rPr lang="en-GB" altLang="en-US" sz="2800" b="1" dirty="0" smtClean="0">
                <a:latin typeface="Arial" panose="020B0604020202020204" pitchFamily="34" charset="0"/>
                <a:cs typeface="Arial" panose="020B0604020202020204" pitchFamily="34" charset="0"/>
              </a:rPr>
              <a:t>all</a:t>
            </a:r>
            <a:r>
              <a:rPr lang="en-GB" altLang="en-US" sz="2800" dirty="0" smtClean="0">
                <a:latin typeface="Arial" panose="020B0604020202020204" pitchFamily="34" charset="0"/>
                <a:cs typeface="Arial" panose="020B0604020202020204" pitchFamily="34" charset="0"/>
              </a:rPr>
              <a:t> </a:t>
            </a:r>
            <a:r>
              <a:rPr lang="en-GB" altLang="en-US" sz="2800" dirty="0">
                <a:latin typeface="Arial" panose="020B0604020202020204" pitchFamily="34" charset="0"/>
                <a:cs typeface="Arial" panose="020B0604020202020204" pitchFamily="34" charset="0"/>
              </a:rPr>
              <a:t>children with attachment disorders and complex needs</a:t>
            </a: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Need </a:t>
            </a:r>
            <a:r>
              <a:rPr lang="en-GB" altLang="en-US" sz="2800" dirty="0">
                <a:latin typeface="Arial" panose="020B0604020202020204" pitchFamily="34" charset="0"/>
                <a:cs typeface="Arial" panose="020B0604020202020204" pitchFamily="34" charset="0"/>
              </a:rPr>
              <a:t>to discuss? </a:t>
            </a:r>
            <a:endParaRPr lang="en-GB" altLang="en-US" sz="28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smtClean="0">
                <a:latin typeface="Arial" panose="020B0604020202020204" pitchFamily="34" charset="0"/>
                <a:cs typeface="Arial" panose="020B0604020202020204" pitchFamily="34" charset="0"/>
              </a:rPr>
              <a:t>Implications</a:t>
            </a:r>
            <a:r>
              <a:rPr lang="en-GB" altLang="en-US"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2292035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CuadroTexto"/>
          <p:cNvSpPr txBox="1">
            <a:spLocks noChangeArrowheads="1"/>
          </p:cNvSpPr>
          <p:nvPr/>
        </p:nvSpPr>
        <p:spPr bwMode="auto">
          <a:xfrm>
            <a:off x="135292" y="524188"/>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Bibliography</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893647"/>
          </a:xfrm>
          <a:prstGeom prst="rect">
            <a:avLst/>
          </a:prstGeom>
        </p:spPr>
        <p:txBody>
          <a:bodyPr wrap="square">
            <a:spAutoFit/>
          </a:bodyPr>
          <a:lstStyle/>
          <a:p>
            <a:pPr marL="342900" indent="-342900">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Bomber </a:t>
            </a:r>
            <a:r>
              <a:rPr lang="en-GB" altLang="en-US" sz="2400" dirty="0">
                <a:latin typeface="Arial" panose="020B0604020202020204" pitchFamily="34" charset="0"/>
                <a:cs typeface="Arial" panose="020B0604020202020204" pitchFamily="34" charset="0"/>
              </a:rPr>
              <a:t>L M (2007) “Inside I’m Hurting”,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Boyd Webb N (ed) (2006) “Working with Traumatized Youth in Child Welfare”, Guildford Press, NY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Cairns K &amp; Stanway C (2004) “Learn the Child”, British Association for Adoption and Fostering (BAAF),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Geddes H (2006) “Attachment in the Classroom”,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Hughes D (2003) “Psychological intervention for the spectrum of attachment disorders and intrafamilial trauma. Attachment and Human Development 5, 271-279</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Jemberg M and Booth P (1999) “Therapy”, 2</a:t>
            </a:r>
            <a:r>
              <a:rPr lang="en-GB" altLang="en-US" sz="2400" baseline="30000" dirty="0">
                <a:latin typeface="Arial" panose="020B0604020202020204" pitchFamily="34" charset="0"/>
                <a:cs typeface="Arial" panose="020B0604020202020204" pitchFamily="34" charset="0"/>
              </a:rPr>
              <a:t>nd</a:t>
            </a:r>
            <a:r>
              <a:rPr lang="en-GB" altLang="en-US" sz="2400" dirty="0">
                <a:latin typeface="Arial" panose="020B0604020202020204" pitchFamily="34" charset="0"/>
                <a:cs typeface="Arial" panose="020B0604020202020204" pitchFamily="34" charset="0"/>
              </a:rPr>
              <a:t> ed, Jossey-Bass, San Francisco</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12237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6"/>
          <p:cNvSpPr>
            <a:spLocks noChangeArrowheads="1"/>
          </p:cNvSpPr>
          <p:nvPr/>
        </p:nvSpPr>
        <p:spPr bwMode="auto">
          <a:xfrm>
            <a:off x="755650" y="1196975"/>
            <a:ext cx="77041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4400">
              <a:solidFill>
                <a:schemeClr val="tx2"/>
              </a:solidFill>
            </a:endParaRPr>
          </a:p>
        </p:txBody>
      </p:sp>
      <p:sp>
        <p:nvSpPr>
          <p:cNvPr id="33799" name="Rectangle 7"/>
          <p:cNvSpPr>
            <a:spLocks noGrp="1" noChangeArrowheads="1"/>
          </p:cNvSpPr>
          <p:nvPr>
            <p:ph type="title" idx="4294967295"/>
          </p:nvPr>
        </p:nvSpPr>
        <p:spPr>
          <a:xfrm>
            <a:off x="0" y="274638"/>
            <a:ext cx="8229600" cy="1143000"/>
          </a:xfrm>
        </p:spPr>
        <p:txBody>
          <a:bodyPr/>
          <a:lstStyle/>
          <a:p>
            <a:pPr eaLnBrk="1" hangingPunct="1"/>
            <a:r>
              <a:rPr lang="en-GB" altLang="en-US" sz="3600" b="1" smtClean="0">
                <a:latin typeface="Arial" charset="0"/>
              </a:rPr>
              <a:t>Summary</a:t>
            </a:r>
          </a:p>
        </p:txBody>
      </p:sp>
      <p:sp>
        <p:nvSpPr>
          <p:cNvPr id="33800" name="Rectangle 8"/>
          <p:cNvSpPr>
            <a:spLocks noGrp="1" noChangeArrowheads="1"/>
          </p:cNvSpPr>
          <p:nvPr>
            <p:ph type="body" idx="4294967295"/>
          </p:nvPr>
        </p:nvSpPr>
        <p:spPr>
          <a:xfrm>
            <a:off x="388189" y="1577975"/>
            <a:ext cx="7951788" cy="4467225"/>
          </a:xfrm>
        </p:spPr>
        <p:txBody>
          <a:bodyPr>
            <a:normAutofit fontScale="85000" lnSpcReduction="10000"/>
          </a:bodyPr>
          <a:lstStyle/>
          <a:p>
            <a:pPr eaLnBrk="1" hangingPunct="1">
              <a:lnSpc>
                <a:spcPct val="80000"/>
              </a:lnSpc>
            </a:pPr>
            <a:r>
              <a:rPr lang="en-GB" altLang="en-US" sz="2400" dirty="0" smtClean="0">
                <a:latin typeface="Arial" charset="0"/>
              </a:rPr>
              <a:t>Nurturing attachments provide children with protective, safe havens and secure bases from which to explore and engage with others and their environment.</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Attachment behaviours are very persistent and are often triggered when the child is in an anxious state </a:t>
            </a:r>
            <a:r>
              <a:rPr lang="en-GB" altLang="en-US" sz="2400" i="1" dirty="0" smtClean="0">
                <a:latin typeface="Arial" charset="0"/>
              </a:rPr>
              <a:t>(e.g. learning)</a:t>
            </a:r>
          </a:p>
          <a:p>
            <a:pPr eaLnBrk="1" hangingPunct="1">
              <a:lnSpc>
                <a:spcPct val="80000"/>
              </a:lnSpc>
            </a:pPr>
            <a:endParaRPr lang="en-GB" altLang="en-US" sz="2400" i="1" dirty="0" smtClean="0">
              <a:latin typeface="Arial" charset="0"/>
            </a:endParaRPr>
          </a:p>
          <a:p>
            <a:pPr eaLnBrk="1" hangingPunct="1">
              <a:lnSpc>
                <a:spcPct val="80000"/>
              </a:lnSpc>
            </a:pPr>
            <a:r>
              <a:rPr lang="en-GB" altLang="en-US" sz="2400" dirty="0" smtClean="0">
                <a:latin typeface="Arial" charset="0"/>
              </a:rPr>
              <a:t>Insecurely attached children may be labelled as ‘attention seeking’, ‘disruptive’, ‘withdrawn’ etc.</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Attachment theory believes that rewarding the child with attention is NOT reinforcing undesirable behaviour but actually promotes the attachment state. Once the attachment state has been achieved it facilitates more effective learning, improved sociability and better peer relationships</a:t>
            </a:r>
          </a:p>
          <a:p>
            <a:pPr eaLnBrk="1" hangingPunct="1">
              <a:lnSpc>
                <a:spcPct val="80000"/>
              </a:lnSpc>
            </a:pPr>
            <a:endParaRPr lang="en-GB" altLang="en-US" sz="2400" dirty="0" smtClean="0">
              <a:latin typeface="Arial" charset="0"/>
            </a:endParaRPr>
          </a:p>
          <a:p>
            <a:pPr eaLnBrk="1" hangingPunct="1">
              <a:lnSpc>
                <a:spcPct val="80000"/>
              </a:lnSpc>
            </a:pPr>
            <a:r>
              <a:rPr lang="en-GB" altLang="en-US" sz="2400" dirty="0" smtClean="0">
                <a:latin typeface="Arial" charset="0"/>
              </a:rPr>
              <a:t>Adults in school can provide important attachments for children.</a:t>
            </a:r>
          </a:p>
          <a:p>
            <a:pPr eaLnBrk="1" hangingPunct="1">
              <a:lnSpc>
                <a:spcPct val="80000"/>
              </a:lnSpc>
            </a:pPr>
            <a:endParaRPr lang="en-GB" altLang="en-US" sz="2400" dirty="0" smtClean="0">
              <a:latin typeface="Arial" charset="0"/>
            </a:endParaRPr>
          </a:p>
        </p:txBody>
      </p:sp>
    </p:spTree>
    <p:extLst>
      <p:ext uri="{BB962C8B-B14F-4D97-AF65-F5344CB8AC3E}">
        <p14:creationId xmlns:p14="http://schemas.microsoft.com/office/powerpoint/2010/main" val="244781632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Thank you for listening</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548</TotalTime>
  <Words>4306</Words>
  <Application>Microsoft Office PowerPoint</Application>
  <PresentationFormat>On-screen Show (4:3)</PresentationFormat>
  <Paragraphs>591</Paragraphs>
  <Slides>71</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ＭＳ Ｐゴシック</vt:lpstr>
      <vt:lpstr>Arial</vt:lpstr>
      <vt:lpstr>Calibri</vt:lpstr>
      <vt:lpstr>Times New Roman</vt:lpstr>
      <vt:lpstr>Wingdings</vt:lpstr>
      <vt:lpstr>Powerpoint_master_template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Pause for Thought</vt:lpstr>
      <vt:lpstr>PowerPoint Presentation</vt:lpstr>
      <vt:lpstr>PowerPoint Presentation</vt:lpstr>
      <vt:lpstr>PowerPoint Presentation</vt:lpstr>
      <vt:lpstr>Summary</vt:lpstr>
      <vt:lpstr>PowerPoint Presentation</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54</cp:revision>
  <cp:lastPrinted>2019-07-08T06:51:46Z</cp:lastPrinted>
  <dcterms:created xsi:type="dcterms:W3CDTF">2017-09-05T13:13:18Z</dcterms:created>
  <dcterms:modified xsi:type="dcterms:W3CDTF">2019-07-08T06:53:17Z</dcterms:modified>
</cp:coreProperties>
</file>