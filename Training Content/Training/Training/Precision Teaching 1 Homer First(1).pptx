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302" r:id="rId2"/>
    <p:sldId id="256" r:id="rId3"/>
    <p:sldId id="307" r:id="rId4"/>
    <p:sldId id="308" r:id="rId5"/>
    <p:sldId id="309" r:id="rId6"/>
    <p:sldId id="310" r:id="rId7"/>
    <p:sldId id="311" r:id="rId8"/>
    <p:sldId id="326" r:id="rId9"/>
    <p:sldId id="312" r:id="rId10"/>
    <p:sldId id="327" r:id="rId11"/>
    <p:sldId id="313" r:id="rId12"/>
    <p:sldId id="314" r:id="rId13"/>
    <p:sldId id="315" r:id="rId14"/>
    <p:sldId id="316" r:id="rId15"/>
    <p:sldId id="317" r:id="rId16"/>
    <p:sldId id="318" r:id="rId17"/>
    <p:sldId id="319" r:id="rId18"/>
    <p:sldId id="320" r:id="rId19"/>
    <p:sldId id="321" r:id="rId20"/>
    <p:sldId id="322" r:id="rId21"/>
    <p:sldId id="323" r:id="rId22"/>
    <p:sldId id="324" r:id="rId23"/>
    <p:sldId id="325" r:id="rId24"/>
    <p:sldId id="274"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1123" autoAdjust="0"/>
    <p:restoredTop sz="29548" autoAdjust="0"/>
  </p:normalViewPr>
  <p:slideViewPr>
    <p:cSldViewPr snapToGrid="0" snapToObjects="1">
      <p:cViewPr varScale="1">
        <p:scale>
          <a:sx n="36" d="100"/>
          <a:sy n="36" d="100"/>
        </p:scale>
        <p:origin x="-377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1A69C-352B-43B9-AE28-0996A6EA73E5}" type="datetimeFigureOut">
              <a:rPr lang="en-GB" smtClean="0"/>
              <a:pPr/>
              <a:t>08/01/2018</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a:p>
        </p:txBody>
      </p:sp>
    </p:spTree>
    <p:extLst>
      <p:ext uri="{BB962C8B-B14F-4D97-AF65-F5344CB8AC3E}">
        <p14:creationId xmlns:p14="http://schemas.microsoft.com/office/powerpoint/2010/main" val="4242911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smtClean="0">
                <a:latin typeface="Times New Roman" pitchFamily="18" charset="0"/>
              </a:rPr>
              <a:t>Enquire how many TAs have:</a:t>
            </a:r>
          </a:p>
          <a:p>
            <a:pPr lvl="0">
              <a:buFont typeface="Arial" pitchFamily="34" charset="0"/>
              <a:buChar char="•"/>
            </a:pPr>
            <a:r>
              <a:rPr lang="en-GB" altLang="en-US" baseline="0" dirty="0" smtClean="0">
                <a:latin typeface="Times New Roman" pitchFamily="18" charset="0"/>
              </a:rPr>
              <a:t> heard of PT</a:t>
            </a:r>
          </a:p>
          <a:p>
            <a:pPr lvl="0">
              <a:buFont typeface="Arial" pitchFamily="34" charset="0"/>
              <a:buChar char="•"/>
            </a:pPr>
            <a:r>
              <a:rPr lang="en-GB" altLang="en-US" baseline="0" dirty="0" smtClean="0">
                <a:latin typeface="Times New Roman" pitchFamily="18" charset="0"/>
              </a:rPr>
              <a:t> done PT training</a:t>
            </a:r>
          </a:p>
          <a:p>
            <a:pPr lvl="0">
              <a:buFont typeface="Arial" pitchFamily="34" charset="0"/>
              <a:buChar char="•"/>
            </a:pPr>
            <a:r>
              <a:rPr lang="en-GB" altLang="en-US" baseline="0" dirty="0" smtClean="0">
                <a:latin typeface="Times New Roman" pitchFamily="18" charset="0"/>
              </a:rPr>
              <a:t> ever implemented a PT programme with a child</a:t>
            </a:r>
            <a:endParaRPr lang="en-GB" altLang="en-US" dirty="0" smtClean="0">
              <a:latin typeface="Times New Roman" pitchFamily="18" charset="0"/>
            </a:endParaRPr>
          </a:p>
          <a:p>
            <a:pPr eaLnBrk="1" hangingPunct="1"/>
            <a:endParaRPr lang="en-US" altLang="en-US" dirty="0" smtClean="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a:t>
            </a:fld>
            <a:endParaRPr lang="en-GB"/>
          </a:p>
        </p:txBody>
      </p:sp>
    </p:spTree>
    <p:extLst>
      <p:ext uri="{BB962C8B-B14F-4D97-AF65-F5344CB8AC3E}">
        <p14:creationId xmlns:p14="http://schemas.microsoft.com/office/powerpoint/2010/main" val="2043358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1" baseline="0" dirty="0" smtClean="0">
                <a:latin typeface="Times New Roman" pitchFamily="18" charset="0"/>
              </a:rPr>
              <a:t>Clarify </a:t>
            </a:r>
            <a:r>
              <a:rPr lang="en-GB" altLang="en-US" b="1" baseline="0" dirty="0" smtClean="0">
                <a:latin typeface="Times New Roman" pitchFamily="18" charset="0"/>
              </a:rPr>
              <a:t>position with TAs with regards to having a child in mind – explain  that training has been designed with expectation that we can consolidate our training from each session by putting it into practice as we go along</a:t>
            </a:r>
          </a:p>
          <a:p>
            <a:pPr>
              <a:buFont typeface="Arial" pitchFamily="34" charset="0"/>
              <a:buNone/>
            </a:pPr>
            <a:endParaRPr lang="en-GB" altLang="en-US" baseline="0" dirty="0" smtClean="0">
              <a:latin typeface="Times New Roman" pitchFamily="18" charset="0"/>
            </a:endParaRPr>
          </a:p>
          <a:p>
            <a:pPr>
              <a:buFont typeface="Arial" pitchFamily="34" charset="0"/>
              <a:buChar char="•"/>
            </a:pPr>
            <a:r>
              <a:rPr lang="en-GB" altLang="en-US" baseline="0" dirty="0" smtClean="0">
                <a:latin typeface="Times New Roman" pitchFamily="18" charset="0"/>
              </a:rPr>
              <a:t> </a:t>
            </a:r>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4</a:t>
            </a:fld>
            <a:endParaRPr lang="en-GB"/>
          </a:p>
        </p:txBody>
      </p:sp>
    </p:spTree>
    <p:extLst>
      <p:ext uri="{BB962C8B-B14F-4D97-AF65-F5344CB8AC3E}">
        <p14:creationId xmlns:p14="http://schemas.microsoft.com/office/powerpoint/2010/main" val="3313873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smtClean="0">
                <a:latin typeface="Times New Roman" pitchFamily="18" charset="0"/>
              </a:rPr>
              <a:t>Looking ahead to next sessions:</a:t>
            </a:r>
          </a:p>
          <a:p>
            <a:endParaRPr lang="en-GB" altLang="en-US" dirty="0" smtClean="0">
              <a:latin typeface="Times New Roman" pitchFamily="18" charset="0"/>
            </a:endParaRPr>
          </a:p>
          <a:p>
            <a:r>
              <a:rPr lang="en-GB" altLang="en-US" dirty="0" smtClean="0">
                <a:latin typeface="Times New Roman" pitchFamily="18" charset="0"/>
              </a:rPr>
              <a:t>Explain</a:t>
            </a:r>
            <a:r>
              <a:rPr lang="en-GB" altLang="en-US" baseline="0" dirty="0" smtClean="0">
                <a:latin typeface="Times New Roman" pitchFamily="18" charset="0"/>
              </a:rPr>
              <a:t> that we will meet for a final session three weeks after the second session – hopefully once we have begun to settle into a routine of daily precision teaching sessions with our target children</a:t>
            </a:r>
          </a:p>
          <a:p>
            <a:endParaRPr lang="en-GB" altLang="en-US" baseline="0" dirty="0" smtClean="0">
              <a:latin typeface="Times New Roman" pitchFamily="18" charset="0"/>
            </a:endParaRPr>
          </a:p>
          <a:p>
            <a:r>
              <a:rPr lang="en-GB" altLang="en-US" baseline="0" dirty="0" smtClean="0">
                <a:latin typeface="Times New Roman" pitchFamily="18" charset="0"/>
              </a:rPr>
              <a:t>We will be doing a form of peer supervision where we share experiences and try to problem-solve together – this will form a model of support for any future issues which arise with implementing PT programmes – emphasise colleagues as a very rich and creative resource for solving problems</a:t>
            </a:r>
            <a:endParaRPr lang="en-GB" altLang="en-US" dirty="0" smtClean="0">
              <a:latin typeface="Times New Roman" pitchFamily="18" charset="0"/>
            </a:endParaRPr>
          </a:p>
          <a:p>
            <a:endParaRPr lang="en-GB" altLang="en-US" dirty="0" smtClean="0">
              <a:latin typeface="Times New Roman" pitchFamily="18" charset="0"/>
            </a:endParaRPr>
          </a:p>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en-US" dirty="0" smtClean="0">
                <a:latin typeface="Times New Roman" pitchFamily="18" charset="0"/>
              </a:rPr>
              <a:t>Although PT sessions</a:t>
            </a:r>
            <a:r>
              <a:rPr lang="en-GB" altLang="en-US" baseline="0" dirty="0" smtClean="0">
                <a:latin typeface="Times New Roman" pitchFamily="18" charset="0"/>
              </a:rPr>
              <a:t> do involve teaching PT is more accurately described as a way of precisely measuring the effectiveness of teaching, rather than an actual method of teaching.  It involves precise, daily measurement of a child’s progress towards given targets; this feedback is used to shape the programme effectively to the individual needs of the child. </a:t>
            </a:r>
            <a:endParaRPr lang="en-GB" altLang="en-US" dirty="0" smtClean="0">
              <a:latin typeface="Times New Roman" pitchFamily="18" charset="0"/>
            </a:endParaRPr>
          </a:p>
          <a:p>
            <a:endParaRPr lang="en-GB" altLang="en-US" dirty="0" smtClean="0">
              <a:latin typeface="Times New Roman" pitchFamily="18" charset="0"/>
            </a:endParaRPr>
          </a:p>
          <a:p>
            <a:r>
              <a:rPr lang="en-GB" altLang="en-US" dirty="0" smtClean="0">
                <a:latin typeface="Times New Roman" pitchFamily="18" charset="0"/>
              </a:rPr>
              <a:t>Key principle of PT is that “The child knows best” – if there is a lack of progress, the assumption is not that “the child is failing to progress, but rather that the programme is failing to progress the child” – </a:t>
            </a:r>
            <a:r>
              <a:rPr lang="en-GB" altLang="en-US" b="1" dirty="0" smtClean="0">
                <a:latin typeface="Times New Roman" pitchFamily="18" charset="0"/>
              </a:rPr>
              <a:t>emphasises that PT seeks to protect and build children’s self-esteem in the process of moving them forward in their learning; emphasise where I am an advocate for PT!</a:t>
            </a:r>
            <a:endParaRPr lang="en-GB" dirty="0"/>
          </a:p>
        </p:txBody>
      </p:sp>
    </p:spTree>
    <p:extLst>
      <p:ext uri="{BB962C8B-B14F-4D97-AF65-F5344CB8AC3E}">
        <p14:creationId xmlns:p14="http://schemas.microsoft.com/office/powerpoint/2010/main" val="4058450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smtClean="0">
                <a:latin typeface="Times New Roman" pitchFamily="18" charset="0"/>
              </a:rPr>
              <a:t>One-to-one intervention for ‘st</a:t>
            </a:r>
            <a:r>
              <a:rPr lang="en-GB" altLang="en-US" dirty="0" smtClean="0">
                <a:latin typeface="Times New Roman" pitchFamily="18" charset="0"/>
              </a:rPr>
              <a:t>uck</a:t>
            </a:r>
            <a:r>
              <a:rPr lang="en-GB" altLang="en-US" baseline="0" dirty="0" smtClean="0">
                <a:latin typeface="Times New Roman" pitchFamily="18" charset="0"/>
              </a:rPr>
              <a:t> children’</a:t>
            </a: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Little/no progress despite appropriate learning opportunities </a:t>
            </a:r>
          </a:p>
          <a:p>
            <a:pPr>
              <a:buFont typeface="Arial" pitchFamily="34" charset="0"/>
              <a:buChar char="•"/>
            </a:pPr>
            <a:r>
              <a:rPr lang="en-GB" altLang="en-US" baseline="0" dirty="0" smtClean="0">
                <a:latin typeface="Times New Roman" pitchFamily="18" charset="0"/>
              </a:rPr>
              <a:t> Most often used as a literacy intervention but can also be used as a numeracy intervention</a:t>
            </a:r>
          </a:p>
          <a:p>
            <a:pPr>
              <a:buFont typeface="Arial" pitchFamily="34" charset="0"/>
              <a:buChar char="•"/>
            </a:pP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Can</a:t>
            </a:r>
            <a:r>
              <a:rPr lang="en-GB" altLang="en-US" baseline="0" dirty="0" smtClean="0">
                <a:latin typeface="Times New Roman" pitchFamily="18" charset="0"/>
              </a:rPr>
              <a:t> be applied widely to a range of learning areas </a:t>
            </a:r>
            <a:r>
              <a:rPr lang="en-GB" altLang="en-US" dirty="0" smtClean="0">
                <a:latin typeface="Times New Roman" pitchFamily="18" charset="0"/>
              </a:rPr>
              <a:t>but:</a:t>
            </a:r>
          </a:p>
          <a:p>
            <a:pPr lvl="1">
              <a:buFont typeface="Arial" pitchFamily="34" charset="0"/>
              <a:buChar char="•"/>
            </a:pPr>
            <a:r>
              <a:rPr lang="en-GB" altLang="en-US" dirty="0" smtClean="0">
                <a:latin typeface="Times New Roman" pitchFamily="18" charset="0"/>
              </a:rPr>
              <a:t>Skills</a:t>
            </a:r>
            <a:r>
              <a:rPr lang="en-GB" altLang="en-US" baseline="0" dirty="0" smtClean="0">
                <a:latin typeface="Times New Roman" pitchFamily="18" charset="0"/>
              </a:rPr>
              <a:t> must be measurable </a:t>
            </a:r>
          </a:p>
          <a:p>
            <a:pPr lvl="1">
              <a:buFont typeface="Arial" pitchFamily="34" charset="0"/>
              <a:buChar char="•"/>
            </a:pPr>
            <a:r>
              <a:rPr lang="en-GB" altLang="en-US" baseline="0" dirty="0" smtClean="0">
                <a:latin typeface="Times New Roman" pitchFamily="18" charset="0"/>
              </a:rPr>
              <a:t>Designed to support children to acquire the skills they need to make progress – building blocks</a:t>
            </a:r>
            <a:endParaRPr lang="en-GB" altLang="en-US" dirty="0" smtClean="0">
              <a:latin typeface="Times New Roman" pitchFamily="18" charset="0"/>
            </a:endParaRPr>
          </a:p>
          <a:p>
            <a:pPr eaLnBrk="1" hangingPunct="1"/>
            <a:endParaRPr lang="en-GB" altLang="en-US" dirty="0" smtClean="0"/>
          </a:p>
          <a:p>
            <a:pPr marL="171450" indent="-171450" eaLnBrk="1" hangingPunct="1">
              <a:buFont typeface="Arial" panose="020B0604020202020204" pitchFamily="34" charset="0"/>
              <a:buChar char="•"/>
            </a:pPr>
            <a:r>
              <a:rPr lang="en-GB" altLang="en-US" dirty="0" smtClean="0"/>
              <a:t>It requires a short (</a:t>
            </a:r>
            <a:r>
              <a:rPr lang="en-GB" altLang="en-US" dirty="0" err="1" smtClean="0"/>
              <a:t>approx</a:t>
            </a:r>
            <a:r>
              <a:rPr lang="en-GB" altLang="en-US" dirty="0" smtClean="0"/>
              <a:t> 10-15 min) session daily with the child</a:t>
            </a:r>
          </a:p>
          <a:p>
            <a:pPr marL="171450" indent="-171450" eaLnBrk="1" hangingPunct="1">
              <a:buFont typeface="Arial" panose="020B0604020202020204" pitchFamily="34" charset="0"/>
              <a:buChar char="•"/>
            </a:pPr>
            <a:r>
              <a:rPr lang="en-GB" altLang="en-US" dirty="0" smtClean="0"/>
              <a:t>Each session includes a teaching activity followed by the use of a PROBE – a timed test used to check on the child’s knowledge of specific skill items</a:t>
            </a:r>
          </a:p>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p:spPr>
        <p:txBody>
          <a:bodyPr/>
          <a:lstStyle/>
          <a:p>
            <a:pPr eaLnBrk="1" hangingPunct="1"/>
            <a:r>
              <a:rPr lang="en-GB" altLang="en-US" dirty="0" smtClean="0"/>
              <a:t>When mastering new academic skills or strategies, the student learner typically progress through a predictable series of learning stages. </a:t>
            </a:r>
          </a:p>
          <a:p>
            <a:pPr eaLnBrk="1" hangingPunct="1"/>
            <a:r>
              <a:rPr lang="en-GB" altLang="en-US" dirty="0" smtClean="0"/>
              <a:t>Lets imagine when you first learn to drive</a:t>
            </a:r>
            <a:endParaRPr lang="en-US" altLang="en-US" dirty="0" smtClean="0"/>
          </a:p>
        </p:txBody>
      </p:sp>
      <p:sp>
        <p:nvSpPr>
          <p:cNvPr id="2765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EE79B2F0-3246-47C7-A52F-CDDB975A4C96}" type="slidenum">
              <a:rPr lang="en-GB" altLang="en-US" smtClean="0"/>
              <a:pPr eaLnBrk="1" hangingPunct="1">
                <a:spcBef>
                  <a:spcPct val="0"/>
                </a:spcBef>
              </a:pPr>
              <a:t>8</a:t>
            </a:fld>
            <a:endParaRPr lang="en-GB"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xfrm>
            <a:off x="913420" y="4343144"/>
            <a:ext cx="5031160" cy="4115019"/>
          </a:xfrm>
          <a:noFill/>
        </p:spPr>
        <p:txBody>
          <a:bodyPr/>
          <a:lstStyle/>
          <a:p>
            <a:r>
              <a:rPr lang="en-GB" altLang="en-US" dirty="0" smtClean="0">
                <a:latin typeface="Arial" pitchFamily="34" charset="0"/>
              </a:rPr>
              <a:t>Activity - (Learning Hierarch – Jumbled)</a:t>
            </a:r>
          </a:p>
          <a:p>
            <a:r>
              <a:rPr lang="en-GB" altLang="en-US" dirty="0" smtClean="0">
                <a:latin typeface="Arial" pitchFamily="34" charset="0"/>
              </a:rPr>
              <a:t>When you learn a new skill it has been suggested that you progress through these 5 stages</a:t>
            </a:r>
            <a:r>
              <a:rPr lang="en-GB" altLang="en-US" dirty="0" smtClean="0"/>
              <a:t>…</a:t>
            </a:r>
            <a:endParaRPr lang="en-GB" altLang="en-US" dirty="0" smtClean="0">
              <a:latin typeface="Arial" pitchFamily="34" charset="0"/>
            </a:endParaRPr>
          </a:p>
          <a:p>
            <a:endParaRPr lang="en-GB" altLang="en-US" dirty="0" smtClean="0">
              <a:latin typeface="Arial" pitchFamily="34" charset="0"/>
            </a:endParaRPr>
          </a:p>
          <a:p>
            <a:endParaRPr lang="en-GB" altLang="en-US" dirty="0" smtClean="0">
              <a:latin typeface="Arial" pitchFamily="34" charset="0"/>
            </a:endParaRPr>
          </a:p>
          <a:p>
            <a:pPr>
              <a:buFontTx/>
              <a:buChar char="•"/>
            </a:pPr>
            <a:r>
              <a:rPr lang="en-GB" altLang="en-US" dirty="0" smtClean="0">
                <a:latin typeface="Arial" pitchFamily="34" charset="0"/>
              </a:rPr>
              <a:t> Order the stages &amp; definitions</a:t>
            </a:r>
          </a:p>
          <a:p>
            <a:endParaRPr lang="en-GB" altLang="en-US" dirty="0" smtClean="0">
              <a:latin typeface="Arial" pitchFamily="34" charset="0"/>
            </a:endParaRPr>
          </a:p>
          <a:p>
            <a:pPr>
              <a:buFontTx/>
              <a:buChar char="•"/>
            </a:pPr>
            <a:r>
              <a:rPr lang="en-GB" altLang="en-US" dirty="0" smtClean="0">
                <a:latin typeface="Arial" pitchFamily="34" charset="0"/>
              </a:rPr>
              <a:t> Match the example (learning to drive a car) to the stages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GB" altLang="en-US" dirty="0" smtClean="0"/>
              <a:t>Maintenance (or mastery) is achieved when a skill can be sustained at a fluent level.  </a:t>
            </a:r>
          </a:p>
          <a:p>
            <a:pPr eaLnBrk="1" hangingPunct="1">
              <a:lnSpc>
                <a:spcPct val="90000"/>
              </a:lnSpc>
            </a:pPr>
            <a:r>
              <a:rPr lang="en-GB" altLang="en-US" dirty="0" smtClean="0"/>
              <a:t>Without fluent performance of the skill it will be forgotten.</a:t>
            </a:r>
          </a:p>
          <a:p>
            <a:pPr eaLnBrk="1" hangingPunct="1">
              <a:lnSpc>
                <a:spcPct val="90000"/>
              </a:lnSpc>
            </a:pPr>
            <a:r>
              <a:rPr lang="en-GB" altLang="en-US" dirty="0" smtClean="0"/>
              <a:t>Most children with learning difficulties don’t achieve fluency levels and therefore a level of maintenance for new skills that they are taught</a:t>
            </a:r>
          </a:p>
          <a:p>
            <a:pPr eaLnBrk="1" hangingPunct="1">
              <a:lnSpc>
                <a:spcPct val="90000"/>
              </a:lnSpc>
            </a:pPr>
            <a:r>
              <a:rPr lang="en-GB" altLang="en-US" dirty="0" smtClean="0"/>
              <a:t>Accuracy is important but not sufficient</a:t>
            </a:r>
          </a:p>
          <a:p>
            <a:pPr eaLnBrk="1" hangingPunct="1">
              <a:lnSpc>
                <a:spcPct val="90000"/>
              </a:lnSpc>
            </a:pPr>
            <a:r>
              <a:rPr lang="en-GB" altLang="en-US" dirty="0" smtClean="0"/>
              <a:t>OVERLEARNING</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10</a:t>
            </a:fld>
            <a:endParaRPr lang="en-GB"/>
          </a:p>
        </p:txBody>
      </p:sp>
    </p:spTree>
    <p:extLst>
      <p:ext uri="{BB962C8B-B14F-4D97-AF65-F5344CB8AC3E}">
        <p14:creationId xmlns:p14="http://schemas.microsoft.com/office/powerpoint/2010/main" val="2157283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ChangeArrowheads="1"/>
          </p:cNvSpPr>
          <p:nvPr/>
        </p:nvSpPr>
        <p:spPr bwMode="auto">
          <a:xfrm>
            <a:off x="885642" y="4306587"/>
            <a:ext cx="5029527" cy="3913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919" tIns="45959" rIns="91919" bIns="45959"/>
          <a:lstStyle>
            <a:lvl1pPr defTabSz="919163" eaLnBrk="0" hangingPunct="0">
              <a:spcBef>
                <a:spcPct val="30000"/>
              </a:spcBef>
              <a:defRPr sz="1200">
                <a:solidFill>
                  <a:schemeClr val="tx1"/>
                </a:solidFill>
                <a:latin typeface="Calibri" pitchFamily="34" charset="0"/>
              </a:defRPr>
            </a:lvl1pPr>
            <a:lvl2pPr marL="747713" indent="-287338" defTabSz="919163" eaLnBrk="0" hangingPunct="0">
              <a:spcBef>
                <a:spcPct val="30000"/>
              </a:spcBef>
              <a:defRPr sz="1200">
                <a:solidFill>
                  <a:schemeClr val="tx1"/>
                </a:solidFill>
                <a:latin typeface="Calibri" pitchFamily="34" charset="0"/>
              </a:defRPr>
            </a:lvl2pPr>
            <a:lvl3pPr marL="1149350" indent="-230188" defTabSz="919163" eaLnBrk="0" hangingPunct="0">
              <a:spcBef>
                <a:spcPct val="30000"/>
              </a:spcBef>
              <a:defRPr sz="1200">
                <a:solidFill>
                  <a:schemeClr val="tx1"/>
                </a:solidFill>
                <a:latin typeface="Calibri" pitchFamily="34" charset="0"/>
              </a:defRPr>
            </a:lvl3pPr>
            <a:lvl4pPr marL="1608138" indent="-228600" defTabSz="919163" eaLnBrk="0" hangingPunct="0">
              <a:spcBef>
                <a:spcPct val="30000"/>
              </a:spcBef>
              <a:defRPr sz="1200">
                <a:solidFill>
                  <a:schemeClr val="tx1"/>
                </a:solidFill>
                <a:latin typeface="Calibri" pitchFamily="34" charset="0"/>
              </a:defRPr>
            </a:lvl4pPr>
            <a:lvl5pPr marL="2068513" indent="-230188" defTabSz="919163" eaLnBrk="0" hangingPunct="0">
              <a:spcBef>
                <a:spcPct val="30000"/>
              </a:spcBef>
              <a:defRPr sz="1200">
                <a:solidFill>
                  <a:schemeClr val="tx1"/>
                </a:solidFill>
                <a:latin typeface="Calibri" pitchFamily="34" charset="0"/>
              </a:defRPr>
            </a:lvl5pPr>
            <a:lvl6pPr marL="2525713" indent="-230188" defTabSz="919163" eaLnBrk="0" fontAlgn="base" hangingPunct="0">
              <a:spcBef>
                <a:spcPct val="30000"/>
              </a:spcBef>
              <a:spcAft>
                <a:spcPct val="0"/>
              </a:spcAft>
              <a:defRPr sz="1200">
                <a:solidFill>
                  <a:schemeClr val="tx1"/>
                </a:solidFill>
                <a:latin typeface="Calibri" pitchFamily="34" charset="0"/>
              </a:defRPr>
            </a:lvl6pPr>
            <a:lvl7pPr marL="2982913" indent="-230188" defTabSz="919163" eaLnBrk="0" fontAlgn="base" hangingPunct="0">
              <a:spcBef>
                <a:spcPct val="30000"/>
              </a:spcBef>
              <a:spcAft>
                <a:spcPct val="0"/>
              </a:spcAft>
              <a:defRPr sz="1200">
                <a:solidFill>
                  <a:schemeClr val="tx1"/>
                </a:solidFill>
                <a:latin typeface="Calibri" pitchFamily="34" charset="0"/>
              </a:defRPr>
            </a:lvl7pPr>
            <a:lvl8pPr marL="3440113" indent="-230188" defTabSz="919163" eaLnBrk="0" fontAlgn="base" hangingPunct="0">
              <a:spcBef>
                <a:spcPct val="30000"/>
              </a:spcBef>
              <a:spcAft>
                <a:spcPct val="0"/>
              </a:spcAft>
              <a:defRPr sz="1200">
                <a:solidFill>
                  <a:schemeClr val="tx1"/>
                </a:solidFill>
                <a:latin typeface="Calibri" pitchFamily="34" charset="0"/>
              </a:defRPr>
            </a:lvl8pPr>
            <a:lvl9pPr marL="3897313" indent="-230188" defTabSz="919163" eaLnBrk="0" fontAlgn="base" hangingPunct="0">
              <a:spcBef>
                <a:spcPct val="30000"/>
              </a:spcBef>
              <a:spcAft>
                <a:spcPct val="0"/>
              </a:spcAft>
              <a:defRPr sz="1200">
                <a:solidFill>
                  <a:schemeClr val="tx1"/>
                </a:solidFill>
                <a:latin typeface="Calibri" pitchFamily="34" charset="0"/>
              </a:defRPr>
            </a:lvl9pPr>
          </a:lstStyle>
          <a:p>
            <a:r>
              <a:rPr lang="en-GB" altLang="en-US">
                <a:solidFill>
                  <a:srgbClr val="FF6600"/>
                </a:solidFill>
                <a:latin typeface="Arial" pitchFamily="34" charset="0"/>
              </a:rPr>
              <a:t>Gemma</a:t>
            </a:r>
          </a:p>
          <a:p>
            <a:r>
              <a:rPr lang="en-GB" altLang="en-US">
                <a:latin typeface="Arial" pitchFamily="34" charset="0"/>
              </a:rPr>
              <a:t>Ok so here</a:t>
            </a:r>
            <a:r>
              <a:rPr lang="en-GB" altLang="en-US"/>
              <a:t>’</a:t>
            </a:r>
            <a:r>
              <a:rPr lang="en-GB" altLang="en-US">
                <a:latin typeface="Arial" pitchFamily="34" charset="0"/>
              </a:rPr>
              <a:t>s the right order with some definitions</a:t>
            </a:r>
            <a:r>
              <a:rPr lang="en-GB" altLang="en-US"/>
              <a:t>…</a:t>
            </a:r>
            <a:endParaRPr lang="en-GB" altLang="en-US">
              <a:latin typeface="Arial" pitchFamily="34" charset="0"/>
            </a:endParaRPr>
          </a:p>
          <a:p>
            <a:r>
              <a:rPr lang="en-GB" altLang="en-US">
                <a:latin typeface="Arial" pitchFamily="34" charset="0"/>
              </a:rPr>
              <a:t>Once each step has been achieved, can progress to the next step </a:t>
            </a:r>
          </a:p>
          <a:p>
            <a:endParaRPr lang="en-GB" altLang="en-US">
              <a:latin typeface="Arial" pitchFamily="34" charset="0"/>
            </a:endParaRPr>
          </a:p>
          <a:p>
            <a:r>
              <a:rPr lang="en-GB" altLang="en-US" b="1">
                <a:solidFill>
                  <a:srgbClr val="FF0000"/>
                </a:solidFill>
                <a:latin typeface="Arial" pitchFamily="34" charset="0"/>
              </a:rPr>
              <a:t>PRESS MOUSE FOR RED CIRCLE</a:t>
            </a:r>
          </a:p>
          <a:p>
            <a:endParaRPr lang="en-GB" altLang="en-US">
              <a:latin typeface="Arial" pitchFamily="34" charset="0"/>
            </a:endParaRPr>
          </a:p>
          <a:p>
            <a:r>
              <a:rPr lang="en-GB" altLang="en-US">
                <a:latin typeface="Arial" pitchFamily="34" charset="0"/>
              </a:rPr>
              <a:t>The social skill sessions that you will be delivering over 6 weeks focus on the first two stages </a:t>
            </a:r>
            <a:r>
              <a:rPr lang="en-GB" altLang="en-US"/>
              <a:t>–</a:t>
            </a:r>
            <a:r>
              <a:rPr lang="en-GB" altLang="en-US">
                <a:latin typeface="Arial" pitchFamily="34" charset="0"/>
              </a:rPr>
              <a:t> the acquisition and fluency of their new skills.</a:t>
            </a:r>
          </a:p>
          <a:p>
            <a:endParaRPr lang="en-GB" altLang="en-US">
              <a:latin typeface="Arial" pitchFamily="34" charset="0"/>
            </a:endParaRPr>
          </a:p>
          <a:p>
            <a:r>
              <a:rPr lang="en-GB" altLang="en-US">
                <a:latin typeface="Arial" pitchFamily="34" charset="0"/>
              </a:rPr>
              <a:t>The other 3 stages are </a:t>
            </a:r>
            <a:r>
              <a:rPr lang="en-GB" altLang="en-US" u="sng">
                <a:latin typeface="Arial" pitchFamily="34" charset="0"/>
              </a:rPr>
              <a:t>dependant on practice</a:t>
            </a:r>
            <a:r>
              <a:rPr lang="en-GB" altLang="en-US">
                <a:latin typeface="Arial" pitchFamily="34" charset="0"/>
              </a:rPr>
              <a:t> both within the sessions but more importantly from opportunities to practice and receive feedback from outside the sessions, e.g. classroom, playground and home.</a:t>
            </a:r>
          </a:p>
          <a:p>
            <a:pPr algn="ctr"/>
            <a:endParaRPr lang="en-GB" altLang="en-US" sz="1600" b="1">
              <a:solidFill>
                <a:srgbClr val="FF0000"/>
              </a:solidFill>
              <a:latin typeface="Arial" pitchFamily="34" charset="0"/>
            </a:endParaRPr>
          </a:p>
        </p:txBody>
      </p:sp>
      <p:sp>
        <p:nvSpPr>
          <p:cNvPr id="47108" name="Rectangle 4"/>
          <p:cNvSpPr>
            <a:spLocks noGrp="1" noChangeArrowheads="1"/>
          </p:cNvSpPr>
          <p:nvPr>
            <p:ph type="body" idx="1"/>
          </p:nvPr>
        </p:nvSpPr>
        <p:spPr>
          <a:noFill/>
        </p:spPr>
        <p:txBody>
          <a:bodyPr/>
          <a:lstStyle/>
          <a:p>
            <a:pPr eaLnBrk="1" hangingPunct="1"/>
            <a:endParaRPr lang="en-GB" altLang="en-US" b="1" dirty="0" smtClean="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a:p>
            <a:r>
              <a:rPr lang="en-GB" altLang="en-US" dirty="0" smtClean="0"/>
              <a:t>There are 6 steps to delivering precision monitoring;</a:t>
            </a:r>
          </a:p>
          <a:p>
            <a:endParaRPr lang="en-GB" altLang="en-US" dirty="0" smtClean="0"/>
          </a:p>
          <a:p>
            <a:pPr>
              <a:lnSpc>
                <a:spcPct val="80000"/>
              </a:lnSpc>
              <a:buFontTx/>
              <a:buAutoNum type="arabicPeriod"/>
            </a:pPr>
            <a:r>
              <a:rPr lang="en-GB" altLang="en-US" dirty="0" smtClean="0"/>
              <a:t>Identify a specific difficulty and acquire a baseline.</a:t>
            </a:r>
          </a:p>
          <a:p>
            <a:pPr>
              <a:lnSpc>
                <a:spcPct val="80000"/>
              </a:lnSpc>
            </a:pPr>
            <a:endParaRPr lang="en-GB" altLang="en-US" dirty="0" smtClean="0"/>
          </a:p>
          <a:p>
            <a:pPr>
              <a:lnSpc>
                <a:spcPct val="80000"/>
              </a:lnSpc>
              <a:buFontTx/>
              <a:buAutoNum type="arabicPeriod" startAt="2"/>
            </a:pPr>
            <a:r>
              <a:rPr lang="en-GB" altLang="en-US" dirty="0" smtClean="0"/>
              <a:t>Setting a target.</a:t>
            </a:r>
          </a:p>
          <a:p>
            <a:pPr>
              <a:lnSpc>
                <a:spcPct val="80000"/>
              </a:lnSpc>
            </a:pPr>
            <a:endParaRPr lang="en-GB" altLang="en-US" dirty="0" smtClean="0"/>
          </a:p>
          <a:p>
            <a:pPr>
              <a:lnSpc>
                <a:spcPct val="80000"/>
              </a:lnSpc>
              <a:buFontTx/>
              <a:buAutoNum type="arabicPeriod" startAt="3"/>
            </a:pPr>
            <a:r>
              <a:rPr lang="en-GB" altLang="en-US" dirty="0" smtClean="0"/>
              <a:t>Teaching </a:t>
            </a:r>
          </a:p>
          <a:p>
            <a:pPr>
              <a:lnSpc>
                <a:spcPct val="80000"/>
              </a:lnSpc>
              <a:buFontTx/>
              <a:buAutoNum type="arabicPeriod" startAt="3"/>
            </a:pPr>
            <a:endParaRPr lang="en-GB" altLang="en-US" dirty="0" smtClean="0"/>
          </a:p>
          <a:p>
            <a:pPr>
              <a:lnSpc>
                <a:spcPct val="80000"/>
              </a:lnSpc>
              <a:buFontTx/>
              <a:buAutoNum type="arabicPeriod" startAt="3"/>
            </a:pPr>
            <a:r>
              <a:rPr lang="en-GB" altLang="en-US" dirty="0" smtClean="0"/>
              <a:t>Monitor child’s performance daily. (We’ve used the word PROBE here – we’ll come back to this)</a:t>
            </a:r>
          </a:p>
          <a:p>
            <a:pPr>
              <a:lnSpc>
                <a:spcPct val="80000"/>
              </a:lnSpc>
              <a:buFontTx/>
              <a:buAutoNum type="arabicPeriod" startAt="3"/>
            </a:pPr>
            <a:endParaRPr lang="en-GB" altLang="en-US" dirty="0" smtClean="0"/>
          </a:p>
          <a:p>
            <a:pPr>
              <a:lnSpc>
                <a:spcPct val="80000"/>
              </a:lnSpc>
              <a:buFontTx/>
              <a:buAutoNum type="arabicPeriod" startAt="5"/>
            </a:pPr>
            <a:r>
              <a:rPr lang="en-GB" altLang="en-US" dirty="0" smtClean="0"/>
              <a:t>Charting results and making a note of teaching methods.</a:t>
            </a:r>
          </a:p>
          <a:p>
            <a:pPr>
              <a:lnSpc>
                <a:spcPct val="80000"/>
              </a:lnSpc>
              <a:buFontTx/>
              <a:buAutoNum type="arabicPeriod" startAt="5"/>
            </a:pPr>
            <a:endParaRPr lang="en-GB" altLang="en-US" dirty="0" smtClean="0"/>
          </a:p>
          <a:p>
            <a:pPr>
              <a:lnSpc>
                <a:spcPct val="80000"/>
              </a:lnSpc>
              <a:buFontTx/>
              <a:buAutoNum type="arabicPeriod" startAt="6"/>
            </a:pPr>
            <a:r>
              <a:rPr lang="en-GB" altLang="en-US" dirty="0" smtClean="0"/>
              <a:t>Analysing  data to determine if a change of target or  teaching method is needed.</a:t>
            </a:r>
            <a:endParaRPr lang="en-GB" altLang="en-US" i="1"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r>
              <a:rPr lang="en-GB" altLang="en-US" b="1" dirty="0" smtClean="0">
                <a:latin typeface="Times New Roman" pitchFamily="18" charset="0"/>
              </a:rPr>
              <a:t>When?   </a:t>
            </a:r>
          </a:p>
          <a:p>
            <a:pPr>
              <a:buFontTx/>
              <a:buChar char="•"/>
            </a:pPr>
            <a:r>
              <a:rPr lang="en-GB" altLang="en-US" dirty="0" smtClean="0">
                <a:latin typeface="Times New Roman" pitchFamily="18" charset="0"/>
              </a:rPr>
              <a:t>Ideally this needs to be daily, both to effectively reinforce the child’s learning and to give you a clear sense of how responsive the child is to particular teaching strategies</a:t>
            </a:r>
          </a:p>
          <a:p>
            <a:pPr>
              <a:buFontTx/>
              <a:buChar char="•"/>
            </a:pPr>
            <a:r>
              <a:rPr lang="en-GB" altLang="en-US" dirty="0" smtClean="0">
                <a:latin typeface="Times New Roman" pitchFamily="18" charset="0"/>
              </a:rPr>
              <a:t>Think about the child you will work with and consider optimum time of day to do PT; again the ideal would be to do PT at the same time each day, so that the progress picture isn’t confused by variations in time of day (perhaps child isn’t at the best in the afternoons)</a:t>
            </a:r>
          </a:p>
          <a:p>
            <a:pPr>
              <a:buFontTx/>
              <a:buChar char="•"/>
            </a:pPr>
            <a:endParaRPr lang="en-GB" altLang="en-US" dirty="0" smtClean="0">
              <a:latin typeface="Times New Roman" pitchFamily="18" charset="0"/>
            </a:endParaRPr>
          </a:p>
          <a:p>
            <a:r>
              <a:rPr lang="en-GB" altLang="en-US" b="1" dirty="0" smtClean="0">
                <a:latin typeface="Times New Roman" pitchFamily="18" charset="0"/>
              </a:rPr>
              <a:t>Where?</a:t>
            </a:r>
          </a:p>
          <a:p>
            <a:pPr>
              <a:buFontTx/>
              <a:buChar char="•"/>
            </a:pPr>
            <a:r>
              <a:rPr lang="en-GB" altLang="en-US" dirty="0" smtClean="0">
                <a:latin typeface="Times New Roman" pitchFamily="18" charset="0"/>
              </a:rPr>
              <a:t>Consider where the PT can take place – is there a quiet space in the school that will be reserved for your PT work? Best results can be achieved when you have a reliable space, free from distractions that enables you and the child to settle down to snappy PT sessions on a daily basis</a:t>
            </a:r>
          </a:p>
          <a:p>
            <a:endParaRPr lang="en-GB" altLang="en-US" dirty="0" smtClean="0">
              <a:latin typeface="Times New Roman" pitchFamily="18" charset="0"/>
            </a:endParaRPr>
          </a:p>
          <a:p>
            <a:endParaRPr lang="en-GB" altLang="en-US"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buFontTx/>
              <a:buNone/>
            </a:pPr>
            <a:r>
              <a:rPr lang="en-US" altLang="en-US" b="1" u="sng" dirty="0" smtClean="0">
                <a:solidFill>
                  <a:srgbClr val="000000"/>
                </a:solidFill>
                <a:latin typeface="Arial" charset="0"/>
                <a:cs typeface="Arial" charset="0"/>
                <a:sym typeface="Arial" charset="0"/>
              </a:rPr>
              <a:t>Planning Stage</a:t>
            </a:r>
            <a:endParaRPr lang="en-US" altLang="en-US" b="1" u="sng"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Looking at the IEP and talking with the child’s teacher/subject teacher. Select a problem area to focus on. </a:t>
            </a:r>
            <a:r>
              <a:rPr lang="en-US" altLang="en-US" b="1" dirty="0" smtClean="0">
                <a:solidFill>
                  <a:srgbClr val="000000"/>
                </a:solidFill>
                <a:latin typeface="Arial" charset="0"/>
                <a:cs typeface="Arial" charset="0"/>
                <a:sym typeface="Arial" charset="0"/>
              </a:rPr>
              <a:t>Reiterate </a:t>
            </a:r>
            <a:r>
              <a:rPr lang="en-GB" altLang="en-US" b="1" dirty="0" smtClean="0">
                <a:solidFill>
                  <a:srgbClr val="000000"/>
                </a:solidFill>
                <a:latin typeface="Arial" charset="0"/>
                <a:cs typeface="Arial" charset="0"/>
                <a:sym typeface="Arial" charset="0"/>
              </a:rPr>
              <a:t>that</a:t>
            </a:r>
            <a:r>
              <a:rPr lang="en-US" altLang="en-US" b="1" dirty="0" smtClean="0">
                <a:solidFill>
                  <a:srgbClr val="000000"/>
                </a:solidFill>
                <a:latin typeface="Arial" charset="0"/>
                <a:cs typeface="Arial" charset="0"/>
                <a:sym typeface="Arial" charset="0"/>
              </a:rPr>
              <a:t> PT is for skill development in </a:t>
            </a:r>
            <a:r>
              <a:rPr lang="en-US" altLang="en-US" b="1" u="sng" dirty="0" smtClean="0">
                <a:solidFill>
                  <a:srgbClr val="000000"/>
                </a:solidFill>
                <a:latin typeface="Arial" charset="0"/>
                <a:cs typeface="Arial" charset="0"/>
                <a:sym typeface="Arial" charset="0"/>
              </a:rPr>
              <a:t>specific</a:t>
            </a:r>
            <a:r>
              <a:rPr lang="en-US" altLang="en-US" b="1" dirty="0" smtClean="0">
                <a:solidFill>
                  <a:srgbClr val="000000"/>
                </a:solidFill>
                <a:latin typeface="Arial" charset="0"/>
                <a:cs typeface="Arial" charset="0"/>
                <a:sym typeface="Arial" charset="0"/>
              </a:rPr>
              <a:t> areas</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Show examples of precision teaching grids </a:t>
            </a:r>
            <a:r>
              <a:rPr lang="en-US" altLang="en-US" b="1" dirty="0" smtClean="0">
                <a:solidFill>
                  <a:srgbClr val="000000"/>
                </a:solidFill>
                <a:latin typeface="Arial" charset="0"/>
                <a:cs typeface="Arial" charset="0"/>
                <a:sym typeface="Arial" charset="0"/>
              </a:rPr>
              <a:t>[probes we’ll be using for activity later on</a:t>
            </a:r>
            <a:r>
              <a:rPr lang="en-US" altLang="en-US" b="1" baseline="0" dirty="0" smtClean="0">
                <a:solidFill>
                  <a:srgbClr val="000000"/>
                </a:solidFill>
                <a:latin typeface="Arial" charset="0"/>
                <a:cs typeface="Arial" charset="0"/>
                <a:sym typeface="Arial" charset="0"/>
              </a:rPr>
              <a:t> – hand out in pairs</a:t>
            </a: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In terms of considering what the child already knows, think about what the child can answer correctly - </a:t>
            </a:r>
            <a:r>
              <a:rPr lang="en-US" altLang="en-US" b="1" dirty="0" smtClean="0">
                <a:solidFill>
                  <a:srgbClr val="000000"/>
                </a:solidFill>
                <a:latin typeface="Arial" charset="0"/>
                <a:cs typeface="Arial" charset="0"/>
                <a:sym typeface="Arial" charset="0"/>
              </a:rPr>
              <a:t>without hesitation or self-correction</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If you’re not clear what the child already knows, you could use a series of ‘assessment probes’ to find out where the child is – you could liaise with the class teacher about whether you would approach this systematically, for example working through high frequency words, or a systematic phonics programme, or the teacher may have a clear idea of what the child already knows</a:t>
            </a: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b="1" dirty="0" smtClean="0">
                <a:solidFill>
                  <a:srgbClr val="000000"/>
                </a:solidFill>
                <a:latin typeface="Arial" charset="0"/>
                <a:cs typeface="Arial" charset="0"/>
                <a:sym typeface="Arial" charset="0"/>
              </a:rPr>
              <a:t>Highlight that in your packs</a:t>
            </a:r>
            <a:r>
              <a:rPr lang="en-US" altLang="en-US" b="1" baseline="0" dirty="0" smtClean="0">
                <a:solidFill>
                  <a:srgbClr val="000000"/>
                </a:solidFill>
                <a:latin typeface="Arial" charset="0"/>
                <a:cs typeface="Arial" charset="0"/>
                <a:sym typeface="Arial" charset="0"/>
              </a:rPr>
              <a:t> I’ve included a list </a:t>
            </a:r>
            <a:r>
              <a:rPr lang="en-US" altLang="en-US" b="1" baseline="0" dirty="0" smtClean="0">
                <a:solidFill>
                  <a:srgbClr val="000000"/>
                </a:solidFill>
                <a:latin typeface="Arial" charset="0"/>
                <a:cs typeface="Arial" charset="0"/>
                <a:sym typeface="Arial" charset="0"/>
              </a:rPr>
              <a:t>of………………</a:t>
            </a: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When using assessment probes, good idea to give easier probes, even if child is competent as a warm-up for yourself and the child, and to confirm their earlier skills</a:t>
            </a:r>
          </a:p>
          <a:p>
            <a:pPr marL="123825" eaLnBrk="1" hangingPunct="1">
              <a:spcBef>
                <a:spcPts val="413"/>
              </a:spcBef>
              <a:buFontTx/>
              <a:buNone/>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15</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smtClean="0"/>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smtClean="0"/>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20</a:t>
            </a:fld>
            <a:endParaRPr lang="en-GB"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21</a:t>
            </a:fld>
            <a:endParaRPr lang="en-GB"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22</a:t>
            </a:fld>
            <a:endParaRPr lang="en-GB"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23</a:t>
            </a:fld>
            <a:endParaRPr lang="en-GB"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24</a:t>
            </a:fld>
            <a:endParaRPr lang="en-GB"/>
          </a:p>
        </p:txBody>
      </p:sp>
    </p:spTree>
    <p:extLst>
      <p:ext uri="{BB962C8B-B14F-4D97-AF65-F5344CB8AC3E}">
        <p14:creationId xmlns:p14="http://schemas.microsoft.com/office/powerpoint/2010/main" val="14567740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49083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734998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1/8/2018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 id="2147483683" r:id="rId7"/>
    <p:sldLayoutId id="2147483684" r:id="rId8"/>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1608777"/>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1750867" y="564310"/>
            <a:ext cx="5279897" cy="1139850"/>
          </a:xfrm>
        </p:spPr>
        <p:txBody>
          <a:bodyPr/>
          <a:lstStyle/>
          <a:p>
            <a:r>
              <a:rPr lang="en-US" altLang="en-US" sz="4400" b="1" u="sng" dirty="0">
                <a:solidFill>
                  <a:schemeClr val="bg1"/>
                </a:solidFill>
                <a:ea typeface="ＭＳ Ｐゴシック" pitchFamily="110" charset="-128"/>
              </a:rPr>
              <a:t>Precision Teaching:</a:t>
            </a:r>
          </a:p>
          <a:p>
            <a:endParaRPr lang="en-GB" dirty="0">
              <a:solidFill>
                <a:schemeClr val="bg1"/>
              </a:solidFill>
            </a:endParaRPr>
          </a:p>
        </p:txBody>
      </p:sp>
      <p:sp>
        <p:nvSpPr>
          <p:cNvPr id="3" name="Text Placeholder 2"/>
          <p:cNvSpPr>
            <a:spLocks noGrp="1"/>
          </p:cNvSpPr>
          <p:nvPr>
            <p:ph type="body" sz="quarter" idx="4294967295"/>
          </p:nvPr>
        </p:nvSpPr>
        <p:spPr>
          <a:xfrm>
            <a:off x="2081815" y="2107443"/>
            <a:ext cx="5280025" cy="695325"/>
          </a:xfrm>
        </p:spPr>
        <p:txBody>
          <a:bodyPr>
            <a:normAutofit fontScale="25000" lnSpcReduction="20000"/>
          </a:bodyPr>
          <a:lstStyle/>
          <a:p>
            <a:pPr>
              <a:spcBef>
                <a:spcPct val="50000"/>
              </a:spcBef>
              <a:buClrTx/>
              <a:buSzTx/>
              <a:buFontTx/>
              <a:buNone/>
            </a:pPr>
            <a:r>
              <a:rPr lang="en-US" altLang="en-US" sz="11200" b="1" dirty="0">
                <a:solidFill>
                  <a:schemeClr val="bg1"/>
                </a:solidFill>
                <a:ea typeface="ＭＳ Ｐゴシック" pitchFamily="110" charset="-128"/>
              </a:rPr>
              <a:t>An Introduction</a:t>
            </a:r>
          </a:p>
          <a:p>
            <a:pPr>
              <a:spcBef>
                <a:spcPct val="50000"/>
              </a:spcBef>
              <a:buClrTx/>
              <a:buSzTx/>
              <a:buFontTx/>
              <a:buNone/>
            </a:pPr>
            <a:r>
              <a:rPr lang="en-US" altLang="en-US" sz="11200" b="1" dirty="0">
                <a:solidFill>
                  <a:schemeClr val="bg1"/>
                </a:solidFill>
                <a:ea typeface="ＭＳ Ｐゴシック" pitchFamily="110" charset="-128"/>
              </a:rPr>
              <a:t>Session 1 of </a:t>
            </a:r>
            <a:r>
              <a:rPr lang="en-US" altLang="en-US" sz="11200" b="1" dirty="0" smtClean="0">
                <a:solidFill>
                  <a:schemeClr val="bg1"/>
                </a:solidFill>
                <a:ea typeface="ＭＳ Ｐゴシック" pitchFamily="110" charset="-128"/>
              </a:rPr>
              <a:t>3</a:t>
            </a:r>
            <a:endParaRPr lang="en-US" altLang="en-US" sz="11200" b="1" dirty="0">
              <a:solidFill>
                <a:schemeClr val="bg1"/>
              </a:solidFill>
              <a:ea typeface="ＭＳ Ｐゴシック" pitchFamily="110" charset="-128"/>
            </a:endParaRPr>
          </a:p>
          <a:p>
            <a:pPr>
              <a:spcBef>
                <a:spcPct val="50000"/>
              </a:spcBef>
              <a:buClrTx/>
              <a:buSzTx/>
              <a:buFontTx/>
              <a:buNone/>
            </a:pPr>
            <a:r>
              <a:rPr lang="en-US" altLang="en-US" sz="11200" dirty="0" smtClean="0">
                <a:solidFill>
                  <a:schemeClr val="bg1"/>
                </a:solidFill>
                <a:ea typeface="ＭＳ Ｐゴシック" pitchFamily="110" charset="-128"/>
              </a:rPr>
              <a:t>Homer First School</a:t>
            </a:r>
          </a:p>
          <a:p>
            <a:pPr>
              <a:spcBef>
                <a:spcPct val="50000"/>
              </a:spcBef>
              <a:buClrTx/>
              <a:buSzTx/>
              <a:buFontTx/>
              <a:buNone/>
            </a:pPr>
            <a:endParaRPr lang="en-US" altLang="en-US" sz="11200" dirty="0">
              <a:solidFill>
                <a:schemeClr val="bg1"/>
              </a:solidFill>
              <a:ea typeface="ＭＳ Ｐゴシック" pitchFamily="110" charset="-128"/>
            </a:endParaRPr>
          </a:p>
          <a:p>
            <a:pPr>
              <a:spcBef>
                <a:spcPct val="50000"/>
              </a:spcBef>
              <a:buClrTx/>
              <a:buSzTx/>
              <a:buFontTx/>
              <a:buNone/>
            </a:pPr>
            <a:r>
              <a:rPr lang="en-US" altLang="en-US" sz="11200" dirty="0">
                <a:solidFill>
                  <a:schemeClr val="bg1"/>
                </a:solidFill>
                <a:ea typeface="ＭＳ Ｐゴシック" pitchFamily="110" charset="-128"/>
              </a:rPr>
              <a:t>Scott </a:t>
            </a:r>
            <a:r>
              <a:rPr lang="en-US" altLang="en-US" sz="11200" dirty="0" smtClean="0">
                <a:solidFill>
                  <a:schemeClr val="bg1"/>
                </a:solidFill>
                <a:ea typeface="ＭＳ Ｐゴシック" pitchFamily="110" charset="-128"/>
              </a:rPr>
              <a:t>I-Patrick </a:t>
            </a:r>
          </a:p>
          <a:p>
            <a:pPr>
              <a:spcBef>
                <a:spcPct val="50000"/>
              </a:spcBef>
              <a:buClrTx/>
              <a:buSzTx/>
              <a:buFontTx/>
              <a:buNone/>
            </a:pPr>
            <a:r>
              <a:rPr lang="en-US" altLang="en-US" sz="11200" dirty="0" smtClean="0">
                <a:solidFill>
                  <a:schemeClr val="bg1"/>
                </a:solidFill>
                <a:ea typeface="ＭＳ Ｐゴシック" pitchFamily="110" charset="-128"/>
              </a:rPr>
              <a:t>Monday  </a:t>
            </a:r>
            <a:r>
              <a:rPr lang="en-US" altLang="en-US" sz="11200" dirty="0">
                <a:solidFill>
                  <a:schemeClr val="bg1"/>
                </a:solidFill>
                <a:ea typeface="ＭＳ Ｐゴシック" pitchFamily="110" charset="-128"/>
              </a:rPr>
              <a:t>7</a:t>
            </a:r>
            <a:r>
              <a:rPr lang="en-US" altLang="en-US" sz="11200" baseline="30000" dirty="0" smtClean="0">
                <a:solidFill>
                  <a:schemeClr val="bg1"/>
                </a:solidFill>
                <a:ea typeface="ＭＳ Ｐゴシック" pitchFamily="110" charset="-128"/>
              </a:rPr>
              <a:t>th</a:t>
            </a:r>
            <a:r>
              <a:rPr lang="en-US" altLang="en-US" sz="11200" dirty="0" smtClean="0">
                <a:solidFill>
                  <a:schemeClr val="bg1"/>
                </a:solidFill>
                <a:ea typeface="ＭＳ Ｐゴシック" pitchFamily="110" charset="-128"/>
              </a:rPr>
              <a:t> January 2017</a:t>
            </a:r>
          </a:p>
          <a:p>
            <a:endParaRPr lang="en-GB" dirty="0"/>
          </a:p>
        </p:txBody>
      </p:sp>
    </p:spTree>
    <p:extLst>
      <p:ext uri="{BB962C8B-B14F-4D97-AF65-F5344CB8AC3E}">
        <p14:creationId xmlns:p14="http://schemas.microsoft.com/office/powerpoint/2010/main" val="41886237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sz="3200" dirty="0" smtClean="0">
                <a:solidFill>
                  <a:schemeClr val="bg1"/>
                </a:solidFill>
                <a:latin typeface="Arial" charset="0"/>
              </a:rPr>
              <a:t>Aim for Session 1</a:t>
            </a:r>
            <a:endParaRPr lang="en-GB" sz="3200" dirty="0">
              <a:solidFill>
                <a:schemeClr val="bg1"/>
              </a:solidFill>
            </a:endParaRPr>
          </a:p>
        </p:txBody>
      </p:sp>
      <p:sp>
        <p:nvSpPr>
          <p:cNvPr id="3" name="Content Placeholder 2"/>
          <p:cNvSpPr>
            <a:spLocks noGrp="1"/>
          </p:cNvSpPr>
          <p:nvPr>
            <p:ph idx="4294967295"/>
          </p:nvPr>
        </p:nvSpPr>
        <p:spPr>
          <a:xfrm>
            <a:off x="0" y="1253348"/>
            <a:ext cx="8229600" cy="4525963"/>
          </a:xfrm>
        </p:spPr>
        <p:txBody>
          <a:bodyPr/>
          <a:lstStyle/>
          <a:p>
            <a:pPr marL="722313" lvl="1" indent="-384175" eaLnBrk="1" hangingPunct="1">
              <a:lnSpc>
                <a:spcPct val="90000"/>
              </a:lnSpc>
              <a:buFont typeface="Wingdings" panose="05000000000000000000" pitchFamily="2" charset="2"/>
              <a:buChar char="q"/>
            </a:pPr>
            <a:r>
              <a:rPr lang="en-US" altLang="en-US" sz="2400" dirty="0">
                <a:solidFill>
                  <a:schemeClr val="bg1"/>
                </a:solidFill>
              </a:rPr>
              <a:t>What is Precision Teaching?</a:t>
            </a:r>
          </a:p>
          <a:p>
            <a:pPr marL="681038" lvl="1" indent="-342900" eaLnBrk="1" hangingPunct="1">
              <a:lnSpc>
                <a:spcPct val="90000"/>
              </a:lnSpc>
              <a:buFont typeface="Wingdings" panose="05000000000000000000" pitchFamily="2" charset="2"/>
              <a:buChar char="q"/>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PT: The underlying theory</a:t>
            </a:r>
          </a:p>
          <a:p>
            <a:pPr marL="338138" lvl="1" indent="0" eaLnBrk="1" hangingPunct="1">
              <a:lnSpc>
                <a:spcPct val="90000"/>
              </a:lnSpc>
              <a:buNone/>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How do you do PT?</a:t>
            </a:r>
          </a:p>
          <a:p>
            <a:pPr lvl="2" indent="-342900" eaLnBrk="1" hangingPunct="1">
              <a:lnSpc>
                <a:spcPct val="90000"/>
              </a:lnSpc>
              <a:buFont typeface="Wingdings" panose="05000000000000000000" pitchFamily="2" charset="2"/>
              <a:buChar char="ü"/>
            </a:pPr>
            <a:r>
              <a:rPr lang="en-GB" altLang="en-US" sz="2400" dirty="0" smtClean="0">
                <a:solidFill>
                  <a:schemeClr val="bg1"/>
                </a:solidFill>
              </a:rPr>
              <a:t>Focus on how to acquire </a:t>
            </a:r>
            <a:r>
              <a:rPr lang="en-GB" altLang="en-US" sz="2400" dirty="0">
                <a:solidFill>
                  <a:schemeClr val="bg1"/>
                </a:solidFill>
              </a:rPr>
              <a:t>a </a:t>
            </a:r>
            <a:r>
              <a:rPr lang="en-GB" altLang="en-US" sz="2400" dirty="0" smtClean="0">
                <a:solidFill>
                  <a:schemeClr val="bg1"/>
                </a:solidFill>
              </a:rPr>
              <a:t>baseline following identification of a specific area of difficulty.</a:t>
            </a:r>
            <a:endParaRPr lang="en-GB" altLang="en-US" sz="2400" dirty="0">
              <a:solidFill>
                <a:schemeClr val="bg1"/>
              </a:solidFill>
            </a:endParaRPr>
          </a:p>
          <a:p>
            <a:pPr marL="800100" lvl="2" indent="0" eaLnBrk="1" hangingPunct="1">
              <a:lnSpc>
                <a:spcPct val="90000"/>
              </a:lnSpc>
              <a:buNone/>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Goals between now and the next session</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14243464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Preview of upcoming sessions</a:t>
            </a:r>
            <a:endParaRPr lang="en-GB" dirty="0">
              <a:solidFill>
                <a:schemeClr val="bg1"/>
              </a:solidFill>
            </a:endParaRPr>
          </a:p>
        </p:txBody>
      </p:sp>
      <p:sp>
        <p:nvSpPr>
          <p:cNvPr id="3" name="Content Placeholder 2"/>
          <p:cNvSpPr>
            <a:spLocks noGrp="1"/>
          </p:cNvSpPr>
          <p:nvPr>
            <p:ph idx="4294967295"/>
          </p:nvPr>
        </p:nvSpPr>
        <p:spPr>
          <a:xfrm>
            <a:off x="0" y="1363710"/>
            <a:ext cx="8229600" cy="4525963"/>
          </a:xfrm>
        </p:spPr>
        <p:txBody>
          <a:bodyPr/>
          <a:lstStyle/>
          <a:p>
            <a:pPr marL="423863" indent="-384175" eaLnBrk="1" hangingPunct="1">
              <a:lnSpc>
                <a:spcPct val="90000"/>
              </a:lnSpc>
              <a:buNone/>
            </a:pPr>
            <a:r>
              <a:rPr lang="en-US" altLang="en-US" dirty="0">
                <a:solidFill>
                  <a:schemeClr val="bg1"/>
                </a:solidFill>
              </a:rPr>
              <a:t>Session 2 of 3</a:t>
            </a:r>
          </a:p>
          <a:p>
            <a:pPr marL="338138" lvl="1" indent="0" eaLnBrk="1" hangingPunct="1">
              <a:lnSpc>
                <a:spcPct val="90000"/>
              </a:lnSpc>
              <a:buNone/>
            </a:pPr>
            <a:endParaRPr lang="en-US" altLang="en-US" dirty="0" smtClean="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smtClean="0">
                <a:solidFill>
                  <a:schemeClr val="bg1"/>
                </a:solidFill>
              </a:rPr>
              <a:t>Sharing </a:t>
            </a:r>
            <a:r>
              <a:rPr lang="en-US" altLang="en-US" sz="2400" dirty="0">
                <a:solidFill>
                  <a:schemeClr val="bg1"/>
                </a:solidFill>
              </a:rPr>
              <a:t>our experiences since the last session</a:t>
            </a:r>
          </a:p>
          <a:p>
            <a:pPr marL="338138" lvl="1" indent="0" eaLnBrk="1" hangingPunct="1">
              <a:lnSpc>
                <a:spcPct val="90000"/>
              </a:lnSpc>
              <a:buNone/>
            </a:pPr>
            <a:endParaRPr lang="en-US" altLang="en-US" sz="2400" dirty="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a:solidFill>
                  <a:schemeClr val="bg1"/>
                </a:solidFill>
              </a:rPr>
              <a:t>How do you do PT?</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Target setting </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Teaching and probing </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Charting </a:t>
            </a:r>
            <a:r>
              <a:rPr lang="en-US" altLang="en-US" sz="2400" dirty="0">
                <a:solidFill>
                  <a:schemeClr val="bg1"/>
                </a:solidFill>
              </a:rPr>
              <a:t>the results </a:t>
            </a:r>
            <a:r>
              <a:rPr lang="en-US" altLang="en-US" sz="2400" dirty="0" smtClean="0">
                <a:solidFill>
                  <a:schemeClr val="bg1"/>
                </a:solidFill>
              </a:rPr>
              <a:t>with target child</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Monitoring: </a:t>
            </a:r>
            <a:r>
              <a:rPr lang="en-US" altLang="en-US" sz="2400" dirty="0">
                <a:solidFill>
                  <a:schemeClr val="bg1"/>
                </a:solidFill>
              </a:rPr>
              <a:t>Review and adapt the </a:t>
            </a:r>
            <a:r>
              <a:rPr lang="en-US" altLang="en-US" sz="2400" dirty="0" err="1">
                <a:solidFill>
                  <a:schemeClr val="bg1"/>
                </a:solidFill>
              </a:rPr>
              <a:t>programme</a:t>
            </a:r>
            <a:r>
              <a:rPr lang="en-US" altLang="en-US" sz="2400" dirty="0">
                <a:solidFill>
                  <a:schemeClr val="bg1"/>
                </a:solidFill>
              </a:rPr>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13086371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a:solidFill>
                  <a:schemeClr val="bg1"/>
                </a:solidFill>
              </a:rPr>
              <a:t>Preview of upcoming sessions</a:t>
            </a:r>
          </a:p>
        </p:txBody>
      </p:sp>
      <p:sp>
        <p:nvSpPr>
          <p:cNvPr id="3" name="Content Placeholder 2"/>
          <p:cNvSpPr>
            <a:spLocks noGrp="1"/>
          </p:cNvSpPr>
          <p:nvPr>
            <p:ph idx="4294967295"/>
          </p:nvPr>
        </p:nvSpPr>
        <p:spPr>
          <a:xfrm>
            <a:off x="0" y="1395242"/>
            <a:ext cx="8229600" cy="4525963"/>
          </a:xfrm>
        </p:spPr>
        <p:txBody>
          <a:bodyPr/>
          <a:lstStyle/>
          <a:p>
            <a:pPr marL="423863" indent="-384175" eaLnBrk="1" hangingPunct="1">
              <a:lnSpc>
                <a:spcPct val="90000"/>
              </a:lnSpc>
              <a:buNone/>
            </a:pPr>
            <a:r>
              <a:rPr lang="en-US" altLang="en-US" dirty="0">
                <a:solidFill>
                  <a:schemeClr val="bg1"/>
                </a:solidFill>
              </a:rPr>
              <a:t>Session 3 of </a:t>
            </a:r>
            <a:r>
              <a:rPr lang="en-US" altLang="en-US" dirty="0" smtClean="0">
                <a:solidFill>
                  <a:schemeClr val="bg1"/>
                </a:solidFill>
              </a:rPr>
              <a:t>3</a:t>
            </a:r>
            <a:endParaRPr lang="en-US" altLang="en-US" dirty="0">
              <a:solidFill>
                <a:schemeClr val="bg1"/>
              </a:solidFill>
            </a:endParaRPr>
          </a:p>
          <a:p>
            <a:pPr marL="338138" lvl="1" indent="0" eaLnBrk="1" hangingPunct="1">
              <a:lnSpc>
                <a:spcPct val="90000"/>
              </a:lnSpc>
              <a:buNone/>
            </a:pPr>
            <a:r>
              <a:rPr lang="en-US" altLang="en-US" sz="2400" u="sng" dirty="0">
                <a:solidFill>
                  <a:schemeClr val="bg1"/>
                </a:solidFill>
              </a:rPr>
              <a:t>Peer supervision</a:t>
            </a:r>
          </a:p>
          <a:p>
            <a:pPr marL="338138" lvl="1" indent="0" eaLnBrk="1" hangingPunct="1">
              <a:lnSpc>
                <a:spcPct val="90000"/>
              </a:lnSpc>
              <a:buNone/>
            </a:pPr>
            <a:endParaRPr lang="en-US" altLang="en-US" sz="2400" dirty="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a:solidFill>
                  <a:schemeClr val="bg1"/>
                </a:solidFill>
              </a:rPr>
              <a:t>Reflective discussions</a:t>
            </a:r>
          </a:p>
          <a:p>
            <a:pPr marL="1081088" lvl="2" indent="-342900" eaLnBrk="1" hangingPunct="1">
              <a:lnSpc>
                <a:spcPct val="90000"/>
              </a:lnSpc>
              <a:buFont typeface="Wingdings" panose="05000000000000000000" pitchFamily="2" charset="2"/>
              <a:buChar char="ü"/>
            </a:pPr>
            <a:r>
              <a:rPr lang="en-US" altLang="en-US" sz="2400" dirty="0">
                <a:solidFill>
                  <a:schemeClr val="bg1"/>
                </a:solidFill>
              </a:rPr>
              <a:t>How confident are we feeling about implementing PT</a:t>
            </a:r>
            <a:r>
              <a:rPr lang="en-US" altLang="en-US" sz="2400" dirty="0" smtClean="0">
                <a:solidFill>
                  <a:schemeClr val="bg1"/>
                </a:solidFill>
              </a:rPr>
              <a:t>?</a:t>
            </a:r>
          </a:p>
          <a:p>
            <a:pPr marL="738188" lvl="2" indent="0" eaLnBrk="1" hangingPunct="1">
              <a:lnSpc>
                <a:spcPct val="90000"/>
              </a:lnSpc>
              <a:buNone/>
            </a:pPr>
            <a:endParaRPr lang="en-US" altLang="en-US" sz="2400" dirty="0" smtClean="0">
              <a:solidFill>
                <a:schemeClr val="bg1"/>
              </a:solidFill>
            </a:endParaRPr>
          </a:p>
          <a:p>
            <a:pPr marL="1081088" lvl="2" indent="-342900" eaLnBrk="1" hangingPunct="1">
              <a:lnSpc>
                <a:spcPct val="90000"/>
              </a:lnSpc>
              <a:buFont typeface="Wingdings" panose="05000000000000000000" pitchFamily="2" charset="2"/>
              <a:buChar char="ü"/>
            </a:pPr>
            <a:r>
              <a:rPr lang="en-US" altLang="en-US" sz="2400" dirty="0" smtClean="0">
                <a:solidFill>
                  <a:schemeClr val="bg1"/>
                </a:solidFill>
              </a:rPr>
              <a:t>Our </a:t>
            </a:r>
            <a:r>
              <a:rPr lang="en-US" altLang="en-US" sz="2400" dirty="0">
                <a:solidFill>
                  <a:schemeClr val="bg1"/>
                </a:solidFill>
              </a:rPr>
              <a:t>views on PT:</a:t>
            </a:r>
          </a:p>
          <a:p>
            <a:pPr marL="1481138" lvl="3" indent="-285750" eaLnBrk="1" hangingPunct="1">
              <a:lnSpc>
                <a:spcPct val="90000"/>
              </a:lnSpc>
              <a:buFont typeface="Arial" panose="020B0604020202020204" pitchFamily="34" charset="0"/>
              <a:buChar char="•"/>
            </a:pPr>
            <a:r>
              <a:rPr lang="en-US" altLang="en-US" sz="2400" dirty="0">
                <a:solidFill>
                  <a:schemeClr val="bg1"/>
                </a:solidFill>
              </a:rPr>
              <a:t>Academic impact</a:t>
            </a:r>
          </a:p>
          <a:p>
            <a:pPr marL="1481138" lvl="3" indent="-285750" eaLnBrk="1" hangingPunct="1">
              <a:lnSpc>
                <a:spcPct val="90000"/>
              </a:lnSpc>
              <a:buFont typeface="Arial" panose="020B0604020202020204" pitchFamily="34" charset="0"/>
              <a:buChar char="•"/>
            </a:pPr>
            <a:r>
              <a:rPr lang="en-US" altLang="en-US" sz="2400" dirty="0">
                <a:solidFill>
                  <a:schemeClr val="bg1"/>
                </a:solidFill>
              </a:rPr>
              <a:t>Emotional/motivational </a:t>
            </a:r>
            <a:r>
              <a:rPr lang="en-US" altLang="en-US" sz="2400" dirty="0" smtClean="0">
                <a:solidFill>
                  <a:schemeClr val="bg1"/>
                </a:solidFill>
              </a:rPr>
              <a:t>impact</a:t>
            </a:r>
            <a:endParaRPr lang="en-US" altLang="en-US" sz="2400" dirty="0">
              <a:solidFill>
                <a:schemeClr val="bg1"/>
              </a:solidFill>
            </a:endParaRPr>
          </a:p>
          <a:p>
            <a:pPr marL="0" indent="0">
              <a:buNone/>
            </a:pPr>
            <a:endParaRPr lang="en-GB" dirty="0"/>
          </a:p>
        </p:txBody>
      </p:sp>
    </p:spTree>
    <p:extLst>
      <p:ext uri="{BB962C8B-B14F-4D97-AF65-F5344CB8AC3E}">
        <p14:creationId xmlns:p14="http://schemas.microsoft.com/office/powerpoint/2010/main" val="20576994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What is Precision Teaching?</a:t>
            </a:r>
            <a:endParaRPr lang="en-GB" dirty="0">
              <a:solidFill>
                <a:schemeClr val="bg1"/>
              </a:solidFill>
            </a:endParaRPr>
          </a:p>
        </p:txBody>
      </p:sp>
      <p:sp>
        <p:nvSpPr>
          <p:cNvPr id="3" name="Content Placeholder 2"/>
          <p:cNvSpPr>
            <a:spLocks noGrp="1"/>
          </p:cNvSpPr>
          <p:nvPr>
            <p:ph idx="4294967295"/>
          </p:nvPr>
        </p:nvSpPr>
        <p:spPr>
          <a:xfrm>
            <a:off x="0" y="1600200"/>
            <a:ext cx="8229600" cy="4525963"/>
          </a:xfrm>
        </p:spPr>
        <p:txBody>
          <a:bodyPr>
            <a:normAutofit/>
          </a:bodyPr>
          <a:lstStyle/>
          <a:p>
            <a:pPr eaLnBrk="1" hangingPunct="1">
              <a:buFont typeface="Wingdings" panose="05000000000000000000" pitchFamily="2" charset="2"/>
              <a:buChar char="q"/>
            </a:pPr>
            <a:r>
              <a:rPr lang="en-GB" altLang="en-US" sz="2400" dirty="0">
                <a:solidFill>
                  <a:schemeClr val="bg1"/>
                </a:solidFill>
              </a:rPr>
              <a:t>A way to plan, monitor and evaluate a </a:t>
            </a:r>
            <a:r>
              <a:rPr lang="en-GB" altLang="en-US" sz="2400" dirty="0" smtClean="0">
                <a:solidFill>
                  <a:schemeClr val="bg1"/>
                </a:solidFill>
              </a:rPr>
              <a:t>teaching programme </a:t>
            </a:r>
            <a:r>
              <a:rPr lang="en-GB" altLang="en-US" sz="2400" dirty="0">
                <a:solidFill>
                  <a:schemeClr val="bg1"/>
                </a:solidFill>
              </a:rPr>
              <a:t>for an individual child, helping </a:t>
            </a:r>
            <a:r>
              <a:rPr lang="en-GB" altLang="en-US" sz="2400" dirty="0" smtClean="0">
                <a:solidFill>
                  <a:schemeClr val="bg1"/>
                </a:solidFill>
              </a:rPr>
              <a:t>him/her </a:t>
            </a:r>
            <a:r>
              <a:rPr lang="en-GB" altLang="en-US" sz="2400" dirty="0">
                <a:solidFill>
                  <a:schemeClr val="bg1"/>
                </a:solidFill>
              </a:rPr>
              <a:t>to learn a specific skill</a:t>
            </a:r>
            <a:r>
              <a:rPr lang="en-GB" altLang="en-US" sz="2400" dirty="0" smtClean="0">
                <a:solidFill>
                  <a:schemeClr val="bg1"/>
                </a:solidFill>
              </a:rPr>
              <a:t>.</a:t>
            </a:r>
          </a:p>
          <a:p>
            <a:pPr marL="0" indent="0" eaLnBrk="1" hangingPunct="1">
              <a:buNone/>
            </a:pPr>
            <a:endParaRPr lang="en-GB" altLang="en-US" sz="2400" dirty="0" smtClean="0">
              <a:solidFill>
                <a:schemeClr val="bg1"/>
              </a:solidFill>
            </a:endParaRPr>
          </a:p>
          <a:p>
            <a:pPr eaLnBrk="1" hangingPunct="1">
              <a:buFont typeface="Wingdings" panose="05000000000000000000" pitchFamily="2" charset="2"/>
              <a:buChar char="q"/>
            </a:pPr>
            <a:r>
              <a:rPr lang="en-US" altLang="en-US" sz="2400" dirty="0" smtClean="0">
                <a:solidFill>
                  <a:schemeClr val="bg1"/>
                </a:solidFill>
              </a:rPr>
              <a:t>It is </a:t>
            </a:r>
            <a:r>
              <a:rPr lang="en-US" altLang="en-US" sz="2400" dirty="0">
                <a:solidFill>
                  <a:schemeClr val="bg1"/>
                </a:solidFill>
              </a:rPr>
              <a:t>a method of </a:t>
            </a:r>
            <a:r>
              <a:rPr lang="en-US" altLang="en-US" sz="2400" u="sng" dirty="0">
                <a:solidFill>
                  <a:schemeClr val="bg1"/>
                </a:solidFill>
              </a:rPr>
              <a:t>precisely measuring</a:t>
            </a:r>
            <a:r>
              <a:rPr lang="en-US" altLang="en-US" sz="2400" dirty="0">
                <a:solidFill>
                  <a:schemeClr val="bg1"/>
                </a:solidFill>
              </a:rPr>
              <a:t> the effectiveness of teaching.</a:t>
            </a:r>
            <a:endParaRPr lang="en-GB" altLang="en-US" sz="2400" dirty="0" smtClean="0">
              <a:solidFill>
                <a:schemeClr val="bg1"/>
              </a:solidFill>
            </a:endParaRPr>
          </a:p>
          <a:p>
            <a:pPr marL="0" indent="0" eaLnBrk="1" hangingPunct="1">
              <a:buNone/>
            </a:pPr>
            <a:endParaRPr lang="en-GB" altLang="en-US" sz="2400" dirty="0">
              <a:solidFill>
                <a:schemeClr val="bg1"/>
              </a:solidFill>
            </a:endParaRPr>
          </a:p>
          <a:p>
            <a:pPr eaLnBrk="1" hangingPunct="1">
              <a:buFont typeface="Wingdings" panose="05000000000000000000" pitchFamily="2" charset="2"/>
              <a:buChar char="q"/>
            </a:pPr>
            <a:r>
              <a:rPr lang="en-GB" altLang="en-US" sz="2400" dirty="0">
                <a:solidFill>
                  <a:schemeClr val="bg1"/>
                </a:solidFill>
              </a:rPr>
              <a:t>Precision </a:t>
            </a:r>
            <a:r>
              <a:rPr lang="en-GB" altLang="en-US" sz="2400" dirty="0" smtClean="0">
                <a:solidFill>
                  <a:schemeClr val="bg1"/>
                </a:solidFill>
              </a:rPr>
              <a:t>Teaching </a:t>
            </a:r>
            <a:r>
              <a:rPr lang="en-GB" altLang="en-US" sz="2400" dirty="0">
                <a:solidFill>
                  <a:schemeClr val="bg1"/>
                </a:solidFill>
              </a:rPr>
              <a:t>is an</a:t>
            </a:r>
            <a:r>
              <a:rPr lang="en-GB" altLang="en-US" sz="2400" dirty="0"/>
              <a:t> </a:t>
            </a:r>
            <a:r>
              <a:rPr lang="en-GB" altLang="en-US" sz="2400" b="1" u="sng" dirty="0">
                <a:solidFill>
                  <a:srgbClr val="FF0000"/>
                </a:solidFill>
              </a:rPr>
              <a:t>ASSESSMENT</a:t>
            </a:r>
            <a:r>
              <a:rPr lang="en-GB" altLang="en-US" sz="2400" dirty="0"/>
              <a:t> </a:t>
            </a:r>
            <a:r>
              <a:rPr lang="en-GB" altLang="en-US" dirty="0" smtClean="0">
                <a:solidFill>
                  <a:schemeClr val="bg1"/>
                </a:solidFill>
              </a:rPr>
              <a:t>tool and</a:t>
            </a:r>
            <a:r>
              <a:rPr lang="en-GB" altLang="en-US" dirty="0" smtClean="0"/>
              <a:t> </a:t>
            </a:r>
            <a:r>
              <a:rPr lang="en-GB" altLang="en-US" b="1" u="sng" dirty="0" smtClean="0">
                <a:solidFill>
                  <a:srgbClr val="FF0000"/>
                </a:solidFill>
              </a:rPr>
              <a:t>NOT</a:t>
            </a:r>
            <a:r>
              <a:rPr lang="en-GB" altLang="en-US" dirty="0" smtClean="0"/>
              <a:t> </a:t>
            </a:r>
            <a:r>
              <a:rPr lang="en-GB" altLang="en-US" dirty="0">
                <a:solidFill>
                  <a:schemeClr val="bg1"/>
                </a:solidFill>
              </a:rPr>
              <a:t>a teaching method.</a:t>
            </a:r>
          </a:p>
          <a:p>
            <a:endParaRPr lang="en-GB" dirty="0"/>
          </a:p>
        </p:txBody>
      </p:sp>
    </p:spTree>
    <p:extLst>
      <p:ext uri="{BB962C8B-B14F-4D97-AF65-F5344CB8AC3E}">
        <p14:creationId xmlns:p14="http://schemas.microsoft.com/office/powerpoint/2010/main" val="29587120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pPr algn="ctr"/>
            <a:r>
              <a:rPr lang="en-GB" dirty="0" smtClean="0">
                <a:solidFill>
                  <a:schemeClr val="bg1"/>
                </a:solidFill>
              </a:rPr>
              <a:t>When can Precision Teaching be </a:t>
            </a:r>
            <a:r>
              <a:rPr lang="en-GB" dirty="0">
                <a:solidFill>
                  <a:schemeClr val="bg1"/>
                </a:solidFill>
              </a:rPr>
              <a:t>u</a:t>
            </a:r>
            <a:r>
              <a:rPr lang="en-GB" dirty="0" smtClean="0">
                <a:solidFill>
                  <a:schemeClr val="bg1"/>
                </a:solidFill>
              </a:rPr>
              <a:t>sed?</a:t>
            </a:r>
            <a:endParaRPr lang="en-GB" dirty="0">
              <a:solidFill>
                <a:schemeClr val="bg1"/>
              </a:solidFill>
            </a:endParaRPr>
          </a:p>
        </p:txBody>
      </p:sp>
      <p:sp>
        <p:nvSpPr>
          <p:cNvPr id="3" name="Content Placeholder 2"/>
          <p:cNvSpPr>
            <a:spLocks noGrp="1"/>
          </p:cNvSpPr>
          <p:nvPr>
            <p:ph idx="4294967295"/>
          </p:nvPr>
        </p:nvSpPr>
        <p:spPr>
          <a:xfrm>
            <a:off x="0" y="1505604"/>
            <a:ext cx="8229600" cy="4525963"/>
          </a:xfrm>
        </p:spPr>
        <p:txBody>
          <a:bodyPr>
            <a:normAutofit fontScale="85000" lnSpcReduction="20000"/>
          </a:bodyPr>
          <a:lstStyle/>
          <a:p>
            <a:pPr marL="423863" eaLnBrk="1" hangingPunct="1">
              <a:lnSpc>
                <a:spcPct val="80000"/>
              </a:lnSpc>
              <a:buFont typeface="Wingdings" panose="05000000000000000000" pitchFamily="2" charset="2"/>
              <a:buChar char="q"/>
            </a:pPr>
            <a:r>
              <a:rPr lang="en-US" altLang="en-US" dirty="0">
                <a:solidFill>
                  <a:schemeClr val="bg1"/>
                </a:solidFill>
              </a:rPr>
              <a:t>When a child is making little or no progress in an area</a:t>
            </a:r>
          </a:p>
          <a:p>
            <a:pPr marL="423863" eaLnBrk="1" hangingPunct="1">
              <a:lnSpc>
                <a:spcPct val="80000"/>
              </a:lnSpc>
              <a:buFont typeface="Century Gothic" pitchFamily="34" charset="0"/>
              <a:buNone/>
            </a:pPr>
            <a:endParaRPr lang="en-US" altLang="en-US" dirty="0">
              <a:solidFill>
                <a:schemeClr val="bg1"/>
              </a:solidFill>
            </a:endParaRPr>
          </a:p>
          <a:p>
            <a:pPr marL="423863" eaLnBrk="1" hangingPunct="1">
              <a:lnSpc>
                <a:spcPct val="80000"/>
              </a:lnSpc>
              <a:buFont typeface="Wingdings" panose="05000000000000000000" pitchFamily="2" charset="2"/>
              <a:buChar char="q"/>
            </a:pPr>
            <a:r>
              <a:rPr lang="en-US" altLang="en-US" dirty="0">
                <a:solidFill>
                  <a:schemeClr val="bg1"/>
                </a:solidFill>
              </a:rPr>
              <a:t>When development of speed is essential for progress, for example:</a:t>
            </a:r>
          </a:p>
          <a:p>
            <a:pPr marL="423863" eaLnBrk="1" hangingPunct="1">
              <a:lnSpc>
                <a:spcPct val="80000"/>
              </a:lnSpc>
              <a:buFont typeface="Century Gothic" pitchFamily="34" charset="0"/>
              <a:buNone/>
            </a:pPr>
            <a:endParaRPr lang="en-US" altLang="en-US" dirty="0">
              <a:solidFill>
                <a:schemeClr val="bg1"/>
              </a:solidFill>
            </a:endParaRPr>
          </a:p>
          <a:p>
            <a:pPr marL="423863" eaLnBrk="1" hangingPunct="1">
              <a:lnSpc>
                <a:spcPct val="80000"/>
              </a:lnSpc>
              <a:buFont typeface="Wingdings" panose="05000000000000000000" pitchFamily="2" charset="2"/>
              <a:buChar char="ü"/>
            </a:pPr>
            <a:r>
              <a:rPr lang="en-US" altLang="en-US" dirty="0" smtClean="0">
                <a:solidFill>
                  <a:schemeClr val="bg1"/>
                </a:solidFill>
              </a:rPr>
              <a:t> phonics</a:t>
            </a:r>
          </a:p>
          <a:p>
            <a:pPr marL="423863" eaLnBrk="1" hangingPunct="1">
              <a:lnSpc>
                <a:spcPct val="80000"/>
              </a:lnSpc>
              <a:buFont typeface="Wingdings" panose="05000000000000000000" pitchFamily="2" charset="2"/>
              <a:buChar char="ü"/>
            </a:pPr>
            <a:r>
              <a:rPr lang="en-US" altLang="en-US" dirty="0" smtClean="0">
                <a:solidFill>
                  <a:schemeClr val="bg1"/>
                </a:solidFill>
              </a:rPr>
              <a:t>sight vocabulary</a:t>
            </a:r>
          </a:p>
          <a:p>
            <a:pPr marL="423863" eaLnBrk="1" hangingPunct="1">
              <a:lnSpc>
                <a:spcPct val="80000"/>
              </a:lnSpc>
              <a:buFont typeface="Wingdings" panose="05000000000000000000" pitchFamily="2" charset="2"/>
              <a:buChar char="ü"/>
            </a:pPr>
            <a:r>
              <a:rPr lang="en-US" altLang="en-US" dirty="0" smtClean="0">
                <a:solidFill>
                  <a:schemeClr val="bg1"/>
                </a:solidFill>
              </a:rPr>
              <a:t>spelling </a:t>
            </a:r>
            <a:r>
              <a:rPr lang="en-US" altLang="en-US" dirty="0">
                <a:solidFill>
                  <a:schemeClr val="bg1"/>
                </a:solidFill>
              </a:rPr>
              <a:t>high frequency </a:t>
            </a:r>
            <a:r>
              <a:rPr lang="en-US" altLang="en-US" dirty="0" smtClean="0">
                <a:solidFill>
                  <a:schemeClr val="bg1"/>
                </a:solidFill>
              </a:rPr>
              <a:t>words</a:t>
            </a:r>
          </a:p>
          <a:p>
            <a:pPr marL="423863" eaLnBrk="1" hangingPunct="1">
              <a:lnSpc>
                <a:spcPct val="80000"/>
              </a:lnSpc>
              <a:buFont typeface="Wingdings" panose="05000000000000000000" pitchFamily="2" charset="2"/>
              <a:buChar char="ü"/>
            </a:pPr>
            <a:r>
              <a:rPr lang="en-US" altLang="en-US" dirty="0" smtClean="0">
                <a:solidFill>
                  <a:schemeClr val="bg1"/>
                </a:solidFill>
              </a:rPr>
              <a:t>number recognition</a:t>
            </a:r>
          </a:p>
          <a:p>
            <a:pPr marL="423863" eaLnBrk="1" hangingPunct="1">
              <a:lnSpc>
                <a:spcPct val="80000"/>
              </a:lnSpc>
              <a:buFont typeface="Wingdings" panose="05000000000000000000" pitchFamily="2" charset="2"/>
              <a:buChar char="ü"/>
            </a:pPr>
            <a:r>
              <a:rPr lang="en-US" altLang="en-US" dirty="0" smtClean="0">
                <a:solidFill>
                  <a:schemeClr val="bg1"/>
                </a:solidFill>
              </a:rPr>
              <a:t>number bonds</a:t>
            </a:r>
          </a:p>
          <a:p>
            <a:pPr marL="80963" indent="0" eaLnBrk="1" hangingPunct="1">
              <a:lnSpc>
                <a:spcPct val="80000"/>
              </a:lnSpc>
              <a:buNone/>
            </a:pPr>
            <a:endParaRPr lang="en-US" altLang="en-US" dirty="0">
              <a:solidFill>
                <a:schemeClr val="bg1"/>
              </a:solidFill>
            </a:endParaRPr>
          </a:p>
          <a:p>
            <a:pPr marL="423863" eaLnBrk="1" hangingPunct="1">
              <a:lnSpc>
                <a:spcPct val="80000"/>
              </a:lnSpc>
              <a:buFont typeface="Wingdings" panose="05000000000000000000" pitchFamily="2" charset="2"/>
              <a:buChar char="q"/>
            </a:pPr>
            <a:r>
              <a:rPr lang="en-US" altLang="en-US" dirty="0" smtClean="0">
                <a:solidFill>
                  <a:schemeClr val="bg1"/>
                </a:solidFill>
              </a:rPr>
              <a:t>For </a:t>
            </a:r>
            <a:r>
              <a:rPr lang="en-US" altLang="en-US" dirty="0">
                <a:solidFill>
                  <a:schemeClr val="bg1"/>
                </a:solidFill>
              </a:rPr>
              <a:t>teaching skills that are </a:t>
            </a:r>
            <a:r>
              <a:rPr lang="en-US" altLang="en-US" dirty="0" smtClean="0">
                <a:solidFill>
                  <a:schemeClr val="bg1"/>
                </a:solidFill>
              </a:rPr>
              <a:t>measurable and </a:t>
            </a:r>
            <a:r>
              <a:rPr lang="en-US" altLang="en-US" dirty="0">
                <a:solidFill>
                  <a:schemeClr val="bg1"/>
                </a:solidFill>
              </a:rPr>
              <a:t>need to be acquired to </a:t>
            </a:r>
            <a:r>
              <a:rPr lang="en-US" altLang="en-US" dirty="0" smtClean="0">
                <a:solidFill>
                  <a:schemeClr val="bg1"/>
                </a:solidFill>
              </a:rPr>
              <a:t>make progress</a:t>
            </a:r>
            <a:endParaRPr lang="en-US" altLang="en-US" dirty="0">
              <a:solidFill>
                <a:schemeClr val="bg1"/>
              </a:solidFill>
            </a:endParaRPr>
          </a:p>
          <a:p>
            <a:endParaRPr lang="en-GB" dirty="0"/>
          </a:p>
        </p:txBody>
      </p:sp>
    </p:spTree>
    <p:extLst>
      <p:ext uri="{BB962C8B-B14F-4D97-AF65-F5344CB8AC3E}">
        <p14:creationId xmlns:p14="http://schemas.microsoft.com/office/powerpoint/2010/main" val="16985796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4294967295"/>
          </p:nvPr>
        </p:nvSpPr>
        <p:spPr>
          <a:xfrm>
            <a:off x="470749" y="855054"/>
            <a:ext cx="7488238" cy="4665662"/>
          </a:xfrm>
        </p:spPr>
        <p:txBody>
          <a:bodyPr>
            <a:normAutofit fontScale="92500" lnSpcReduction="10000"/>
          </a:bodyPr>
          <a:lstStyle/>
          <a:p>
            <a:pPr eaLnBrk="1" hangingPunct="1">
              <a:lnSpc>
                <a:spcPct val="90000"/>
              </a:lnSpc>
            </a:pPr>
            <a:r>
              <a:rPr lang="en-GB" altLang="en-US" dirty="0" smtClean="0">
                <a:solidFill>
                  <a:schemeClr val="bg1"/>
                </a:solidFill>
              </a:rPr>
              <a:t>Precision Teaching is based on the principle</a:t>
            </a:r>
          </a:p>
          <a:p>
            <a:pPr eaLnBrk="1" hangingPunct="1">
              <a:lnSpc>
                <a:spcPct val="90000"/>
              </a:lnSpc>
              <a:buFont typeface="Wingdings" pitchFamily="2" charset="2"/>
              <a:buNone/>
            </a:pPr>
            <a:r>
              <a:rPr lang="en-GB" altLang="en-US" dirty="0" smtClean="0">
                <a:solidFill>
                  <a:schemeClr val="bg1"/>
                </a:solidFill>
              </a:rPr>
              <a:t>	that children (and adults) need to reach a certain level of fluency and accuracy when learning a new skill before they can maintain that skill without the need for further teaching.</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itchFamily="2" charset="2"/>
              <a:buNone/>
            </a:pPr>
            <a:r>
              <a:rPr lang="en-GB" altLang="en-US" dirty="0" smtClean="0">
                <a:solidFill>
                  <a:schemeClr val="bg1"/>
                </a:solidFill>
              </a:rPr>
              <a:t>	The Learning Hierarchy* identifies five important stages in skill development.</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itchFamily="2" charset="2"/>
              <a:buNone/>
            </a:pPr>
            <a:r>
              <a:rPr lang="en-GB" altLang="en-US" sz="1800" i="1" dirty="0" smtClean="0">
                <a:solidFill>
                  <a:schemeClr val="bg1"/>
                </a:solidFill>
              </a:rPr>
              <a:t>	*Haring N.G. &amp; Eaton M.D. (1978) Systematic Instructional Procedures: An Instructional Hierarchy</a:t>
            </a:r>
          </a:p>
          <a:p>
            <a:pPr eaLnBrk="1" hangingPunct="1">
              <a:lnSpc>
                <a:spcPct val="90000"/>
              </a:lnSpc>
              <a:buFont typeface="Wingdings" pitchFamily="2" charset="2"/>
              <a:buNone/>
            </a:pPr>
            <a:endParaRPr lang="en-GB" altLang="en-US" sz="1800" i="1" dirty="0" smtClean="0"/>
          </a:p>
          <a:p>
            <a:pPr eaLnBrk="1" hangingPunct="1">
              <a:lnSpc>
                <a:spcPct val="90000"/>
              </a:lnSpc>
              <a:buFont typeface="Wingdings" pitchFamily="2" charset="2"/>
              <a:buChar char="q"/>
            </a:pPr>
            <a:endParaRPr lang="en-GB" altLang="en-US" dirty="0" smtClean="0"/>
          </a:p>
        </p:txBody>
      </p:sp>
      <p:sp>
        <p:nvSpPr>
          <p:cNvPr id="6146"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smtClean="0">
                <a:solidFill>
                  <a:schemeClr val="bg1"/>
                </a:solidFill>
                <a:latin typeface="Arial" charset="0"/>
              </a:rPr>
              <a:t>The Learning Hierarchy</a:t>
            </a:r>
          </a:p>
        </p:txBody>
      </p:sp>
    </p:spTree>
    <p:extLst>
      <p:ext uri="{BB962C8B-B14F-4D97-AF65-F5344CB8AC3E}">
        <p14:creationId xmlns:p14="http://schemas.microsoft.com/office/powerpoint/2010/main" val="13606319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404813"/>
            <a:ext cx="7772400" cy="874712"/>
          </a:xfrm>
        </p:spPr>
        <p:txBody>
          <a:bodyPr/>
          <a:lstStyle/>
          <a:p>
            <a:pPr algn="ctr" eaLnBrk="1" fontAlgn="auto" hangingPunct="1">
              <a:spcAft>
                <a:spcPts val="0"/>
              </a:spcAft>
              <a:defRPr/>
            </a:pPr>
            <a:r>
              <a:rPr lang="en-GB" altLang="en-US" sz="4000" u="sng" dirty="0" smtClean="0">
                <a:solidFill>
                  <a:schemeClr val="bg1"/>
                </a:solidFill>
              </a:rPr>
              <a:t>Activity</a:t>
            </a:r>
          </a:p>
        </p:txBody>
      </p:sp>
      <p:sp>
        <p:nvSpPr>
          <p:cNvPr id="134147" name="Rectangle 3"/>
          <p:cNvSpPr>
            <a:spLocks noGrp="1" noChangeArrowheads="1"/>
          </p:cNvSpPr>
          <p:nvPr>
            <p:ph idx="4294967295"/>
          </p:nvPr>
        </p:nvSpPr>
        <p:spPr>
          <a:xfrm>
            <a:off x="0" y="1628775"/>
            <a:ext cx="2952750" cy="1152525"/>
          </a:xfrm>
        </p:spPr>
        <p:txBody>
          <a:bodyPr/>
          <a:lstStyle/>
          <a:p>
            <a:pPr eaLnBrk="1" hangingPunct="1">
              <a:buFontTx/>
              <a:buNone/>
            </a:pPr>
            <a:r>
              <a:rPr lang="en-GB" altLang="en-US" sz="3600" smtClean="0">
                <a:solidFill>
                  <a:srgbClr val="FF0000"/>
                </a:solidFill>
              </a:rPr>
              <a:t>Acquisition</a:t>
            </a:r>
          </a:p>
        </p:txBody>
      </p:sp>
      <p:sp>
        <p:nvSpPr>
          <p:cNvPr id="134148" name="Rectangle 4"/>
          <p:cNvSpPr>
            <a:spLocks noChangeArrowheads="1"/>
          </p:cNvSpPr>
          <p:nvPr/>
        </p:nvSpPr>
        <p:spPr bwMode="auto">
          <a:xfrm>
            <a:off x="1908175" y="3141663"/>
            <a:ext cx="360045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2"/>
                </a:solidFill>
                <a:latin typeface="Arial" pitchFamily="34" charset="0"/>
              </a:rPr>
              <a:t>Generalisation</a:t>
            </a:r>
          </a:p>
        </p:txBody>
      </p:sp>
      <p:sp>
        <p:nvSpPr>
          <p:cNvPr id="134149" name="Rectangle 5"/>
          <p:cNvSpPr>
            <a:spLocks noChangeArrowheads="1"/>
          </p:cNvSpPr>
          <p:nvPr/>
        </p:nvSpPr>
        <p:spPr bwMode="auto">
          <a:xfrm>
            <a:off x="5651500" y="3860800"/>
            <a:ext cx="31432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800080"/>
                </a:solidFill>
                <a:latin typeface="Arial" pitchFamily="34" charset="0"/>
              </a:rPr>
              <a:t>Adaptation</a:t>
            </a:r>
          </a:p>
        </p:txBody>
      </p:sp>
      <p:sp>
        <p:nvSpPr>
          <p:cNvPr id="134150" name="Rectangle 6"/>
          <p:cNvSpPr>
            <a:spLocks noChangeArrowheads="1"/>
          </p:cNvSpPr>
          <p:nvPr/>
        </p:nvSpPr>
        <p:spPr bwMode="auto">
          <a:xfrm>
            <a:off x="5148263" y="1844675"/>
            <a:ext cx="33845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1"/>
                </a:solidFill>
                <a:latin typeface="Arial" pitchFamily="34" charset="0"/>
              </a:rPr>
              <a:t>Maintenance</a:t>
            </a:r>
          </a:p>
        </p:txBody>
      </p:sp>
      <p:sp>
        <p:nvSpPr>
          <p:cNvPr id="134151" name="Rectangle 7"/>
          <p:cNvSpPr>
            <a:spLocks noChangeArrowheads="1"/>
          </p:cNvSpPr>
          <p:nvPr/>
        </p:nvSpPr>
        <p:spPr bwMode="auto">
          <a:xfrm>
            <a:off x="971550" y="4581525"/>
            <a:ext cx="25669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FF6600"/>
                </a:solidFill>
                <a:latin typeface="Arial" pitchFamily="34" charset="0"/>
              </a:rPr>
              <a:t>Fluency</a:t>
            </a:r>
          </a:p>
        </p:txBody>
      </p:sp>
    </p:spTree>
    <p:extLst>
      <p:ext uri="{BB962C8B-B14F-4D97-AF65-F5344CB8AC3E}">
        <p14:creationId xmlns:p14="http://schemas.microsoft.com/office/powerpoint/2010/main" val="5428506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fade">
                                      <p:cBhvr>
                                        <p:cTn id="7" dur="1000"/>
                                        <p:tgtEl>
                                          <p:spTgt spid="134147">
                                            <p:txEl>
                                              <p:pRg st="0" end="0"/>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4150"/>
                                        </p:tgtEl>
                                        <p:attrNameLst>
                                          <p:attrName>style.visibility</p:attrName>
                                        </p:attrNameLst>
                                      </p:cBhvr>
                                      <p:to>
                                        <p:strVal val="visible"/>
                                      </p:to>
                                    </p:set>
                                    <p:animEffect transition="in" filter="fade">
                                      <p:cBhvr>
                                        <p:cTn id="11" dur="1000"/>
                                        <p:tgtEl>
                                          <p:spTgt spid="134150"/>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34151"/>
                                        </p:tgtEl>
                                        <p:attrNameLst>
                                          <p:attrName>style.visibility</p:attrName>
                                        </p:attrNameLst>
                                      </p:cBhvr>
                                      <p:to>
                                        <p:strVal val="visible"/>
                                      </p:to>
                                    </p:set>
                                    <p:animEffect transition="in" filter="fade">
                                      <p:cBhvr>
                                        <p:cTn id="15" dur="1000"/>
                                        <p:tgtEl>
                                          <p:spTgt spid="134151"/>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34149"/>
                                        </p:tgtEl>
                                        <p:attrNameLst>
                                          <p:attrName>style.visibility</p:attrName>
                                        </p:attrNameLst>
                                      </p:cBhvr>
                                      <p:to>
                                        <p:strVal val="visible"/>
                                      </p:to>
                                    </p:set>
                                    <p:animEffect transition="in" filter="fade">
                                      <p:cBhvr>
                                        <p:cTn id="19" dur="1000"/>
                                        <p:tgtEl>
                                          <p:spTgt spid="134149"/>
                                        </p:tgtEl>
                                      </p:cBhvr>
                                    </p:animEffect>
                                  </p:childTnLst>
                                </p:cTn>
                              </p:par>
                            </p:childTnLst>
                          </p:cTn>
                        </p:par>
                        <p:par>
                          <p:cTn id="20" fill="hold" nodeType="afterGroup">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134148"/>
                                        </p:tgtEl>
                                        <p:attrNameLst>
                                          <p:attrName>style.visibility</p:attrName>
                                        </p:attrNameLst>
                                      </p:cBhvr>
                                      <p:to>
                                        <p:strVal val="visible"/>
                                      </p:to>
                                    </p:set>
                                    <p:animEffect transition="in" filter="fade">
                                      <p:cBhvr>
                                        <p:cTn id="23" dur="1000"/>
                                        <p:tgtEl>
                                          <p:spTgt spid="134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134148" grpId="0"/>
      <p:bldP spid="134149" grpId="0"/>
      <p:bldP spid="134150" grpId="0"/>
      <p:bldP spid="1341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203" y="882000"/>
            <a:ext cx="8555276" cy="4524315"/>
          </a:xfrm>
          <a:prstGeom prst="rect">
            <a:avLst/>
          </a:prstGeom>
        </p:spPr>
        <p:txBody>
          <a:bodyPr wrap="square">
            <a:spAutoFit/>
          </a:bodyPr>
          <a:lstStyle/>
          <a:p>
            <a:pPr lvl="0"/>
            <a:r>
              <a:rPr lang="en-GB" sz="1600" b="1" u="sng" dirty="0">
                <a:solidFill>
                  <a:schemeClr val="bg1"/>
                </a:solidFill>
              </a:rPr>
              <a:t>Acquisition</a:t>
            </a:r>
            <a:r>
              <a:rPr lang="en-GB" sz="1600" dirty="0">
                <a:solidFill>
                  <a:schemeClr val="bg1"/>
                </a:solidFill>
              </a:rPr>
              <a:t> – you are learning to drive and need to think carefully when changing gears, indicating </a:t>
            </a:r>
            <a:r>
              <a:rPr lang="en-GB" sz="1600" dirty="0" err="1">
                <a:solidFill>
                  <a:schemeClr val="bg1"/>
                </a:solidFill>
              </a:rPr>
              <a:t>etc</a:t>
            </a:r>
            <a:r>
              <a:rPr lang="en-GB" sz="1600" dirty="0">
                <a:solidFill>
                  <a:schemeClr val="bg1"/>
                </a:solidFill>
              </a:rPr>
              <a:t> - Just beginning to learn the skill, some degree of accuracy but performance not yet reliable – by the end of this phase performance is basically accurate but not fluid, </a:t>
            </a:r>
            <a:r>
              <a:rPr lang="en-GB" sz="1600" dirty="0" smtClean="0">
                <a:solidFill>
                  <a:schemeClr val="bg1"/>
                </a:solidFill>
              </a:rPr>
              <a:t>automated</a:t>
            </a:r>
          </a:p>
          <a:p>
            <a:pPr lvl="0"/>
            <a:endParaRPr lang="en-GB" sz="1600" dirty="0">
              <a:solidFill>
                <a:schemeClr val="bg1"/>
              </a:solidFill>
            </a:endParaRPr>
          </a:p>
          <a:p>
            <a:pPr lvl="0"/>
            <a:r>
              <a:rPr lang="en-GB" sz="1600" b="1" u="sng" dirty="0">
                <a:solidFill>
                  <a:schemeClr val="bg1"/>
                </a:solidFill>
              </a:rPr>
              <a:t>Fluency</a:t>
            </a:r>
            <a:r>
              <a:rPr lang="en-GB" sz="1600" b="1" dirty="0">
                <a:solidFill>
                  <a:schemeClr val="bg1"/>
                </a:solidFill>
              </a:rPr>
              <a:t> </a:t>
            </a:r>
            <a:r>
              <a:rPr lang="en-GB" sz="1600" dirty="0">
                <a:solidFill>
                  <a:schemeClr val="bg1"/>
                </a:solidFill>
              </a:rPr>
              <a:t>– you can change gears without thinking and can now focus on the road - Can perform the skill quickly and accurately – this phase brings speed of performance into the equation – skill becoming automated, ‘second nature</a:t>
            </a:r>
            <a:r>
              <a:rPr lang="en-GB" sz="1600" dirty="0" smtClean="0">
                <a:solidFill>
                  <a:schemeClr val="bg1"/>
                </a:solidFill>
              </a:rPr>
              <a:t>’</a:t>
            </a:r>
          </a:p>
          <a:p>
            <a:pPr lvl="0"/>
            <a:endParaRPr lang="en-GB" sz="1600" dirty="0">
              <a:solidFill>
                <a:schemeClr val="bg1"/>
              </a:solidFill>
            </a:endParaRPr>
          </a:p>
          <a:p>
            <a:pPr lvl="0"/>
            <a:r>
              <a:rPr lang="en-GB" sz="1600" b="1" u="sng" dirty="0">
                <a:solidFill>
                  <a:schemeClr val="bg1"/>
                </a:solidFill>
              </a:rPr>
              <a:t>Maintenance</a:t>
            </a:r>
            <a:r>
              <a:rPr lang="en-GB" sz="1600" dirty="0">
                <a:solidFill>
                  <a:schemeClr val="bg1"/>
                </a:solidFill>
              </a:rPr>
              <a:t> – 6 months after, when you came back from a long holiday, you can still drive - Due to regular reinforcements, can perform the skill over a lengthy period of time – fluent performance is sustained over time – often referred to as ‘mastery’ </a:t>
            </a:r>
            <a:r>
              <a:rPr lang="en-GB" sz="1600" dirty="0" smtClean="0">
                <a:solidFill>
                  <a:schemeClr val="bg1"/>
                </a:solidFill>
              </a:rPr>
              <a:t>stage</a:t>
            </a:r>
          </a:p>
          <a:p>
            <a:pPr lvl="0"/>
            <a:endParaRPr lang="en-GB" sz="1600" dirty="0">
              <a:solidFill>
                <a:schemeClr val="bg1"/>
              </a:solidFill>
            </a:endParaRPr>
          </a:p>
          <a:p>
            <a:pPr lvl="0"/>
            <a:r>
              <a:rPr lang="en-GB" sz="1600" b="1" u="sng" dirty="0">
                <a:solidFill>
                  <a:schemeClr val="bg1"/>
                </a:solidFill>
              </a:rPr>
              <a:t>Generalisation</a:t>
            </a:r>
            <a:r>
              <a:rPr lang="en-GB" sz="1600" dirty="0">
                <a:solidFill>
                  <a:schemeClr val="bg1"/>
                </a:solidFill>
              </a:rPr>
              <a:t> – Your friend ask you to drive their car and you are able to do so with some support and instruction - Can generalise the skill to different contexts/new situations, can transfer learning across </a:t>
            </a:r>
            <a:r>
              <a:rPr lang="en-GB" sz="1600" dirty="0" smtClean="0">
                <a:solidFill>
                  <a:schemeClr val="bg1"/>
                </a:solidFill>
              </a:rPr>
              <a:t>settings</a:t>
            </a:r>
          </a:p>
          <a:p>
            <a:pPr lvl="0"/>
            <a:endParaRPr lang="en-GB" sz="1600" dirty="0">
              <a:solidFill>
                <a:schemeClr val="bg1"/>
              </a:solidFill>
            </a:endParaRPr>
          </a:p>
          <a:p>
            <a:pPr lvl="0"/>
            <a:r>
              <a:rPr lang="en-GB" sz="1600" b="1" u="sng" dirty="0">
                <a:solidFill>
                  <a:schemeClr val="bg1"/>
                </a:solidFill>
              </a:rPr>
              <a:t>Adaptation</a:t>
            </a:r>
            <a:r>
              <a:rPr lang="en-GB" sz="1600" dirty="0">
                <a:solidFill>
                  <a:schemeClr val="bg1"/>
                </a:solidFill>
              </a:rPr>
              <a:t> – Driving a different car is not a problem anymore - 	 Can adapt the skill appropriately to learn new skills </a:t>
            </a:r>
            <a:r>
              <a:rPr lang="en-GB" sz="1600" i="1" dirty="0">
                <a:solidFill>
                  <a:schemeClr val="bg1"/>
                </a:solidFill>
              </a:rPr>
              <a:t>NB. Overlap between generalisation &amp; adaptation stages</a:t>
            </a:r>
            <a:endParaRPr lang="en-GB" sz="1600" dirty="0">
              <a:solidFill>
                <a:schemeClr val="bg1"/>
              </a:solidFill>
            </a:endParaRPr>
          </a:p>
        </p:txBody>
      </p:sp>
    </p:spTree>
    <p:extLst>
      <p:ext uri="{BB962C8B-B14F-4D97-AF65-F5344CB8AC3E}">
        <p14:creationId xmlns:p14="http://schemas.microsoft.com/office/powerpoint/2010/main" val="7645726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395288" y="476250"/>
            <a:ext cx="856932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2800" dirty="0">
                <a:solidFill>
                  <a:schemeClr val="bg1"/>
                </a:solidFill>
                <a:latin typeface="Arial" pitchFamily="34" charset="0"/>
              </a:rPr>
              <a:t>‘Hierarchy of Learning’</a:t>
            </a:r>
            <a:r>
              <a:rPr lang="en-GB" altLang="en-US" sz="2800" b="1" dirty="0">
                <a:solidFill>
                  <a:schemeClr val="bg1"/>
                </a:solidFill>
                <a:latin typeface="Arial" pitchFamily="34" charset="0"/>
              </a:rPr>
              <a:t> </a:t>
            </a:r>
          </a:p>
          <a:p>
            <a:pPr algn="ctr" eaLnBrk="1" hangingPunct="1"/>
            <a:r>
              <a:rPr lang="en-GB" altLang="en-US" sz="2000" dirty="0">
                <a:solidFill>
                  <a:schemeClr val="bg1"/>
                </a:solidFill>
                <a:latin typeface="Arial" pitchFamily="34" charset="0"/>
              </a:rPr>
              <a:t>(Haring and Eaton, 1978)</a:t>
            </a:r>
          </a:p>
        </p:txBody>
      </p:sp>
      <p:sp>
        <p:nvSpPr>
          <p:cNvPr id="7171" name="Rectangle 4"/>
          <p:cNvSpPr>
            <a:spLocks noChangeArrowheads="1"/>
          </p:cNvSpPr>
          <p:nvPr/>
        </p:nvSpPr>
        <p:spPr bwMode="auto">
          <a:xfrm>
            <a:off x="755650" y="1484784"/>
            <a:ext cx="3048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Acquisition</a:t>
            </a:r>
          </a:p>
          <a:p>
            <a:pPr eaLnBrk="1" hangingPunct="1">
              <a:lnSpc>
                <a:spcPct val="90000"/>
              </a:lnSpc>
              <a:buClr>
                <a:srgbClr val="73801F"/>
              </a:buClr>
              <a:buFont typeface="Wingdings" pitchFamily="2" charset="2"/>
              <a:buNone/>
            </a:pPr>
            <a:endParaRPr lang="en-GB" altLang="en-US" sz="1400" b="1"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4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Fluency</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Maintenance</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dirty="0">
                <a:solidFill>
                  <a:schemeClr val="bg1"/>
                </a:solidFill>
                <a:latin typeface="Arial" pitchFamily="34" charset="0"/>
              </a:rPr>
              <a:t>Generalisation</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dirty="0">
                <a:solidFill>
                  <a:schemeClr val="bg1"/>
                </a:solidFill>
                <a:latin typeface="Arial" pitchFamily="34" charset="0"/>
              </a:rPr>
              <a:t>Adaptation</a:t>
            </a:r>
          </a:p>
          <a:p>
            <a:pPr eaLnBrk="1" hangingPunct="1">
              <a:lnSpc>
                <a:spcPct val="90000"/>
              </a:lnSpc>
              <a:buClr>
                <a:srgbClr val="73801F"/>
              </a:buClr>
              <a:buFont typeface="Wingdings" pitchFamily="2" charset="2"/>
              <a:buChar char="§"/>
            </a:pPr>
            <a:endParaRPr lang="en-GB" altLang="en-US" sz="2000" dirty="0">
              <a:latin typeface="Arial" pitchFamily="34" charset="0"/>
            </a:endParaRPr>
          </a:p>
        </p:txBody>
      </p:sp>
      <p:sp>
        <p:nvSpPr>
          <p:cNvPr id="7172" name="Rectangle 5"/>
          <p:cNvSpPr>
            <a:spLocks noChangeArrowheads="1"/>
          </p:cNvSpPr>
          <p:nvPr/>
        </p:nvSpPr>
        <p:spPr bwMode="auto">
          <a:xfrm>
            <a:off x="3635375" y="1484784"/>
            <a:ext cx="4953000" cy="4032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1800" b="1" dirty="0">
                <a:solidFill>
                  <a:schemeClr val="bg1"/>
                </a:solidFill>
                <a:latin typeface="Arial" pitchFamily="34" charset="0"/>
              </a:rPr>
              <a:t>Pupil performs skill with accuracy.</a:t>
            </a:r>
          </a:p>
          <a:p>
            <a:pPr eaLnBrk="1" hangingPunct="1">
              <a:spcBef>
                <a:spcPct val="50000"/>
              </a:spcBef>
            </a:pPr>
            <a:endParaRPr lang="en-GB" altLang="en-US" sz="1800" b="1"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Pupil performs skill with accuracy and fluency.</a:t>
            </a:r>
            <a:endParaRPr lang="en-GB" altLang="en-US" sz="1800"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Proficiency level reached, demonstrating maintenance in terms of accuracy and fluency.</a:t>
            </a:r>
          </a:p>
          <a:p>
            <a:pPr eaLnBrk="1" hangingPunct="1">
              <a:spcBef>
                <a:spcPct val="50000"/>
              </a:spcBef>
            </a:pPr>
            <a:r>
              <a:rPr lang="en-GB" altLang="en-US" sz="1800" dirty="0">
                <a:solidFill>
                  <a:schemeClr val="bg1"/>
                </a:solidFill>
                <a:latin typeface="Arial" pitchFamily="34" charset="0"/>
              </a:rPr>
              <a:t>With support and instruction pupil can apply skill in new and different contexts.</a:t>
            </a:r>
          </a:p>
          <a:p>
            <a:pPr eaLnBrk="1" hangingPunct="1">
              <a:spcBef>
                <a:spcPct val="50000"/>
              </a:spcBef>
            </a:pPr>
            <a:endParaRPr lang="en-GB" altLang="en-US" sz="1000" dirty="0">
              <a:solidFill>
                <a:schemeClr val="bg1"/>
              </a:solidFill>
              <a:latin typeface="Arial" pitchFamily="34" charset="0"/>
            </a:endParaRPr>
          </a:p>
          <a:p>
            <a:pPr eaLnBrk="1" hangingPunct="1">
              <a:spcBef>
                <a:spcPct val="50000"/>
              </a:spcBef>
            </a:pPr>
            <a:r>
              <a:rPr lang="en-GB" altLang="en-US" sz="1800" dirty="0">
                <a:solidFill>
                  <a:schemeClr val="bg1"/>
                </a:solidFill>
                <a:latin typeface="Arial" pitchFamily="34" charset="0"/>
              </a:rPr>
              <a:t>Without specific instruction pupils applies skill in new and different contexts.</a:t>
            </a:r>
          </a:p>
        </p:txBody>
      </p:sp>
      <p:sp>
        <p:nvSpPr>
          <p:cNvPr id="7173" name="AutoShape 6"/>
          <p:cNvSpPr>
            <a:spLocks noChangeArrowheads="1"/>
          </p:cNvSpPr>
          <p:nvPr/>
        </p:nvSpPr>
        <p:spPr bwMode="auto">
          <a:xfrm>
            <a:off x="1950368" y="44371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4" name="AutoShape 7"/>
          <p:cNvSpPr>
            <a:spLocks noChangeArrowheads="1"/>
          </p:cNvSpPr>
          <p:nvPr/>
        </p:nvSpPr>
        <p:spPr bwMode="auto">
          <a:xfrm>
            <a:off x="1950368" y="3573016"/>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5" name="AutoShape 8"/>
          <p:cNvSpPr>
            <a:spLocks noChangeArrowheads="1"/>
          </p:cNvSpPr>
          <p:nvPr/>
        </p:nvSpPr>
        <p:spPr bwMode="auto">
          <a:xfrm>
            <a:off x="1950368" y="26369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6" name="AutoShape 9"/>
          <p:cNvSpPr>
            <a:spLocks noChangeArrowheads="1"/>
          </p:cNvSpPr>
          <p:nvPr/>
        </p:nvSpPr>
        <p:spPr bwMode="auto">
          <a:xfrm>
            <a:off x="1950368" y="1844824"/>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Tree>
    <p:extLst>
      <p:ext uri="{BB962C8B-B14F-4D97-AF65-F5344CB8AC3E}">
        <p14:creationId xmlns:p14="http://schemas.microsoft.com/office/powerpoint/2010/main" val="41545276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lgn="ctr" eaLnBrk="1" fontAlgn="auto" hangingPunct="1">
              <a:spcAft>
                <a:spcPts val="0"/>
              </a:spcAft>
              <a:defRPr/>
            </a:pPr>
            <a:r>
              <a:rPr lang="en-GB" altLang="en-US" dirty="0" smtClean="0">
                <a:solidFill>
                  <a:schemeClr val="bg1"/>
                </a:solidFill>
              </a:rPr>
              <a:t>How do you do Precision Teaching?</a:t>
            </a:r>
          </a:p>
        </p:txBody>
      </p:sp>
      <p:sp>
        <p:nvSpPr>
          <p:cNvPr id="8195" name="Rectangle 3"/>
          <p:cNvSpPr>
            <a:spLocks noGrp="1" noChangeArrowheads="1"/>
          </p:cNvSpPr>
          <p:nvPr>
            <p:ph idx="4294967295"/>
          </p:nvPr>
        </p:nvSpPr>
        <p:spPr>
          <a:xfrm>
            <a:off x="0" y="1698625"/>
            <a:ext cx="8353425" cy="4467225"/>
          </a:xfrm>
        </p:spPr>
        <p:txBody>
          <a:bodyPr>
            <a:normAutofit/>
          </a:bodyPr>
          <a:lstStyle/>
          <a:p>
            <a:pPr marL="609600" indent="-609600" eaLnBrk="1" hangingPunct="1">
              <a:lnSpc>
                <a:spcPct val="80000"/>
              </a:lnSpc>
              <a:buFontTx/>
              <a:buAutoNum type="arabicPeriod"/>
            </a:pPr>
            <a:r>
              <a:rPr lang="en-GB" altLang="en-US" sz="2000" dirty="0" smtClean="0">
                <a:solidFill>
                  <a:schemeClr val="bg1"/>
                </a:solidFill>
              </a:rPr>
              <a:t>Identify a specific difficulty and acquire a baseline.</a:t>
            </a:r>
          </a:p>
          <a:p>
            <a:pPr marL="609600" indent="-609600" eaLnBrk="1" hangingPunct="1">
              <a:lnSpc>
                <a:spcPct val="80000"/>
              </a:lnSpc>
              <a:buFontTx/>
              <a:buNone/>
            </a:pPr>
            <a:endParaRPr lang="en-GB" altLang="en-US" sz="2000" dirty="0" smtClean="0">
              <a:solidFill>
                <a:schemeClr val="bg1"/>
              </a:solidFill>
            </a:endParaRPr>
          </a:p>
          <a:p>
            <a:pPr marL="609600" indent="-609600" eaLnBrk="1" hangingPunct="1">
              <a:lnSpc>
                <a:spcPct val="80000"/>
              </a:lnSpc>
              <a:buFontTx/>
              <a:buAutoNum type="arabicPeriod" startAt="2"/>
            </a:pPr>
            <a:r>
              <a:rPr lang="en-GB" altLang="en-US" sz="2000" dirty="0" smtClean="0">
                <a:solidFill>
                  <a:schemeClr val="bg1"/>
                </a:solidFill>
              </a:rPr>
              <a:t>Set a target.</a:t>
            </a:r>
          </a:p>
          <a:p>
            <a:pPr marL="609600" indent="-609600" eaLnBrk="1" hangingPunct="1">
              <a:lnSpc>
                <a:spcPct val="80000"/>
              </a:lnSpc>
              <a:buFontTx/>
              <a:buNone/>
            </a:pPr>
            <a:endParaRPr lang="en-GB" altLang="en-US" sz="2000" dirty="0" smtClean="0">
              <a:solidFill>
                <a:schemeClr val="bg1"/>
              </a:solidFill>
            </a:endParaRPr>
          </a:p>
          <a:p>
            <a:pPr marL="609600" indent="-609600" eaLnBrk="1" hangingPunct="1">
              <a:lnSpc>
                <a:spcPct val="80000"/>
              </a:lnSpc>
              <a:buFontTx/>
              <a:buAutoNum type="arabicPeriod" startAt="3"/>
            </a:pPr>
            <a:r>
              <a:rPr lang="en-GB" altLang="en-US" sz="2000" dirty="0" smtClean="0">
                <a:solidFill>
                  <a:schemeClr val="bg1"/>
                </a:solidFill>
              </a:rPr>
              <a:t>Teaching sessions: short, frequent and target specific.</a:t>
            </a:r>
          </a:p>
          <a:p>
            <a:pPr marL="609600" indent="-609600" eaLnBrk="1" hangingPunct="1">
              <a:lnSpc>
                <a:spcPct val="80000"/>
              </a:lnSpc>
              <a:buFontTx/>
              <a:buAutoNum type="arabicPeriod" startAt="3"/>
            </a:pPr>
            <a:endParaRPr lang="en-GB" altLang="en-US" sz="2000" dirty="0" smtClean="0">
              <a:solidFill>
                <a:schemeClr val="bg1"/>
              </a:solidFill>
            </a:endParaRPr>
          </a:p>
          <a:p>
            <a:pPr marL="609600" indent="-609600" eaLnBrk="1" hangingPunct="1">
              <a:lnSpc>
                <a:spcPct val="80000"/>
              </a:lnSpc>
              <a:buFontTx/>
              <a:buAutoNum type="arabicPeriod" startAt="3"/>
            </a:pPr>
            <a:r>
              <a:rPr lang="en-GB" altLang="en-US" sz="2000" dirty="0" smtClean="0">
                <a:solidFill>
                  <a:schemeClr val="bg1"/>
                </a:solidFill>
              </a:rPr>
              <a:t>Monitor child’s daily performance using a probe.</a:t>
            </a:r>
          </a:p>
          <a:p>
            <a:pPr marL="609600" indent="-609600" eaLnBrk="1" hangingPunct="1">
              <a:lnSpc>
                <a:spcPct val="80000"/>
              </a:lnSpc>
              <a:buFontTx/>
              <a:buAutoNum type="arabicPeriod" startAt="3"/>
            </a:pPr>
            <a:endParaRPr lang="en-GB" altLang="en-US" sz="2000" dirty="0" smtClean="0">
              <a:solidFill>
                <a:schemeClr val="bg1"/>
              </a:solidFill>
            </a:endParaRPr>
          </a:p>
          <a:p>
            <a:pPr marL="609600" indent="-609600" eaLnBrk="1" hangingPunct="1">
              <a:lnSpc>
                <a:spcPct val="80000"/>
              </a:lnSpc>
              <a:buFontTx/>
              <a:buAutoNum type="arabicPeriod" startAt="5"/>
            </a:pPr>
            <a:r>
              <a:rPr lang="en-GB" altLang="en-US" sz="2000" dirty="0" smtClean="0">
                <a:solidFill>
                  <a:schemeClr val="bg1"/>
                </a:solidFill>
              </a:rPr>
              <a:t>Chart results and make note of teaching methods.</a:t>
            </a:r>
          </a:p>
          <a:p>
            <a:pPr marL="0" indent="0" eaLnBrk="1" hangingPunct="1">
              <a:lnSpc>
                <a:spcPct val="80000"/>
              </a:lnSpc>
              <a:buNone/>
            </a:pPr>
            <a:endParaRPr lang="en-GB" altLang="en-US" sz="2000" dirty="0" smtClean="0">
              <a:solidFill>
                <a:schemeClr val="bg1"/>
              </a:solidFill>
            </a:endParaRPr>
          </a:p>
          <a:p>
            <a:pPr marL="609600" indent="-609600" eaLnBrk="1" hangingPunct="1">
              <a:lnSpc>
                <a:spcPct val="80000"/>
              </a:lnSpc>
              <a:buFontTx/>
              <a:buAutoNum type="arabicPeriod" startAt="6"/>
            </a:pPr>
            <a:r>
              <a:rPr lang="en-GB" altLang="en-US" sz="2000" dirty="0" smtClean="0">
                <a:solidFill>
                  <a:schemeClr val="bg1"/>
                </a:solidFill>
              </a:rPr>
              <a:t>Analyse the data to determine if a change of target is needed or change in teaching method.</a:t>
            </a:r>
          </a:p>
        </p:txBody>
      </p:sp>
    </p:spTree>
    <p:extLst>
      <p:ext uri="{BB962C8B-B14F-4D97-AF65-F5344CB8AC3E}">
        <p14:creationId xmlns:p14="http://schemas.microsoft.com/office/powerpoint/2010/main" val="25548297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1268413"/>
            <a:ext cx="7086600" cy="1554162"/>
          </a:xfrm>
        </p:spPr>
        <p:txBody>
          <a:bodyPr/>
          <a:lstStyle/>
          <a:p>
            <a:pPr algn="ctr"/>
            <a:r>
              <a:rPr lang="en-GB" altLang="en-US" sz="3600" u="sng" dirty="0" smtClean="0">
                <a:solidFill>
                  <a:schemeClr val="bg1"/>
                </a:solidFill>
              </a:rPr>
              <a:t>Before you start Precision Teaching</a:t>
            </a:r>
            <a:r>
              <a:rPr lang="en-GB" altLang="en-US" sz="3600" dirty="0" smtClean="0">
                <a:solidFill>
                  <a:schemeClr val="bg1"/>
                </a:solidFill>
              </a:rPr>
              <a:t> </a:t>
            </a:r>
          </a:p>
        </p:txBody>
      </p:sp>
      <p:sp>
        <p:nvSpPr>
          <p:cNvPr id="13315" name="Rectangle 3"/>
          <p:cNvSpPr>
            <a:spLocks noGrp="1" noChangeArrowheads="1"/>
          </p:cNvSpPr>
          <p:nvPr>
            <p:ph type="body" idx="4294967295"/>
          </p:nvPr>
        </p:nvSpPr>
        <p:spPr>
          <a:xfrm>
            <a:off x="0" y="3068638"/>
            <a:ext cx="5257800" cy="2520950"/>
          </a:xfrm>
        </p:spPr>
        <p:txBody>
          <a:bodyPr/>
          <a:lstStyle/>
          <a:p>
            <a:pPr>
              <a:buFont typeface="Wingdings" panose="05000000000000000000" pitchFamily="2" charset="2"/>
              <a:buChar char="q"/>
            </a:pPr>
            <a:r>
              <a:rPr lang="en-GB" altLang="en-US" sz="2800" dirty="0" smtClean="0">
                <a:solidFill>
                  <a:schemeClr val="bg1"/>
                </a:solidFill>
              </a:rPr>
              <a:t>Consistency is key!</a:t>
            </a:r>
          </a:p>
          <a:p>
            <a:pPr lvl="1">
              <a:buFont typeface="Wingdings" panose="05000000000000000000" pitchFamily="2" charset="2"/>
              <a:buChar char="ü"/>
            </a:pPr>
            <a:r>
              <a:rPr lang="en-GB" altLang="en-US" sz="2800" dirty="0" smtClean="0">
                <a:solidFill>
                  <a:schemeClr val="bg1"/>
                </a:solidFill>
              </a:rPr>
              <a:t>When?</a:t>
            </a:r>
          </a:p>
          <a:p>
            <a:pPr lvl="1">
              <a:buFont typeface="Wingdings" panose="05000000000000000000" pitchFamily="2" charset="2"/>
              <a:buChar char="ü"/>
            </a:pPr>
            <a:r>
              <a:rPr lang="en-GB" altLang="en-US" sz="2800" dirty="0" smtClean="0">
                <a:solidFill>
                  <a:schemeClr val="bg1"/>
                </a:solidFill>
              </a:rPr>
              <a:t>Where?</a:t>
            </a:r>
          </a:p>
        </p:txBody>
      </p:sp>
    </p:spTree>
    <p:extLst>
      <p:ext uri="{BB962C8B-B14F-4D97-AF65-F5344CB8AC3E}">
        <p14:creationId xmlns:p14="http://schemas.microsoft.com/office/powerpoint/2010/main" val="3502049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idx="4294967295"/>
          </p:nvPr>
        </p:nvSpPr>
        <p:spPr>
          <a:xfrm>
            <a:off x="396738" y="476250"/>
            <a:ext cx="7848600" cy="1563688"/>
          </a:xfrm>
        </p:spPr>
        <p:txBody>
          <a:bodyPr rIns="31750" anchor="b"/>
          <a:lstStyle/>
          <a:p>
            <a:pPr indent="0" algn="ctr" eaLnBrk="1" hangingPunct="1"/>
            <a:r>
              <a:rPr lang="en-US" altLang="en-US" sz="3200" u="sng" dirty="0" smtClean="0">
                <a:solidFill>
                  <a:schemeClr val="bg1"/>
                </a:solidFill>
              </a:rPr>
              <a:t>‘Task Analysis’ – where are they now? </a:t>
            </a:r>
          </a:p>
        </p:txBody>
      </p:sp>
      <p:sp>
        <p:nvSpPr>
          <p:cNvPr id="14339" name="Rectangle 2"/>
          <p:cNvSpPr>
            <a:spLocks noGrp="1" noChangeArrowheads="1"/>
          </p:cNvSpPr>
          <p:nvPr>
            <p:ph type="body" idx="4294967295"/>
          </p:nvPr>
        </p:nvSpPr>
        <p:spPr>
          <a:xfrm>
            <a:off x="0"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Select a problem area, e.g. sight words, letter sounds</a:t>
            </a:r>
          </a:p>
          <a:p>
            <a:pPr marL="39688" indent="0" eaLnBrk="1" hangingPunct="1">
              <a:lnSpc>
                <a:spcPct val="80000"/>
              </a:lnSpc>
              <a:buSzPct val="99000"/>
              <a:buNone/>
            </a:pPr>
            <a:endParaRPr lang="en-US" altLang="en-US" sz="2800" dirty="0" smtClean="0">
              <a:solidFill>
                <a:schemeClr val="bg1"/>
              </a:solidFill>
            </a:endParaRPr>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Find out what the child already knows, probably by doing a short test</a:t>
            </a:r>
          </a:p>
        </p:txBody>
      </p:sp>
    </p:spTree>
    <p:extLst>
      <p:ext uri="{BB962C8B-B14F-4D97-AF65-F5344CB8AC3E}">
        <p14:creationId xmlns:p14="http://schemas.microsoft.com/office/powerpoint/2010/main" val="3981500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646113" y="115888"/>
            <a:ext cx="8497887" cy="1296987"/>
          </a:xfrm>
        </p:spPr>
        <p:txBody>
          <a:bodyPr/>
          <a:lstStyle/>
          <a:p>
            <a:pPr algn="ctr" eaLnBrk="1" hangingPunct="1"/>
            <a:r>
              <a:rPr lang="en-GB" altLang="en-US" sz="3200" dirty="0" smtClean="0">
                <a:solidFill>
                  <a:schemeClr val="bg1"/>
                </a:solidFill>
                <a:latin typeface="Arial" charset="0"/>
              </a:rPr>
              <a:t>Initial Assessment – using ‘Letters and Sounds’</a:t>
            </a:r>
          </a:p>
        </p:txBody>
      </p:sp>
      <p:sp>
        <p:nvSpPr>
          <p:cNvPr id="13315" name="Rectangle 4"/>
          <p:cNvSpPr>
            <a:spLocks noGrp="1" noChangeArrowheads="1"/>
          </p:cNvSpPr>
          <p:nvPr>
            <p:ph type="body" sz="half" idx="4294967295"/>
          </p:nvPr>
        </p:nvSpPr>
        <p:spPr>
          <a:xfrm>
            <a:off x="0" y="1922463"/>
            <a:ext cx="3810000" cy="4530725"/>
          </a:xfrm>
        </p:spPr>
        <p:txBody>
          <a:bodyPr/>
          <a:lstStyle/>
          <a:p>
            <a:pPr eaLnBrk="1" hangingPunct="1"/>
            <a:r>
              <a:rPr lang="en-GB" altLang="en-US" sz="2400" dirty="0" smtClean="0">
                <a:solidFill>
                  <a:schemeClr val="bg1"/>
                </a:solidFill>
              </a:rPr>
              <a:t>Can be used with any age group but aims to start (phase 1) with 5 year olds</a:t>
            </a:r>
          </a:p>
          <a:p>
            <a:pPr eaLnBrk="1" hangingPunct="1"/>
            <a:r>
              <a:rPr lang="en-GB" altLang="en-US" sz="2400" dirty="0" smtClean="0">
                <a:solidFill>
                  <a:schemeClr val="bg1"/>
                </a:solidFill>
              </a:rPr>
              <a:t>6 phases - children move from one phase to next at their own pace</a:t>
            </a:r>
          </a:p>
          <a:p>
            <a:pPr eaLnBrk="1" hangingPunct="1"/>
            <a:r>
              <a:rPr lang="en-GB" altLang="en-US" sz="2400" dirty="0">
                <a:solidFill>
                  <a:schemeClr val="bg1"/>
                </a:solidFill>
              </a:rPr>
              <a:t>Most children would complete phase 6 by end of KS1</a:t>
            </a:r>
          </a:p>
          <a:p>
            <a:pPr eaLnBrk="1" hangingPunct="1"/>
            <a:endParaRPr lang="en-GB" altLang="en-US" sz="2400" dirty="0" smtClean="0"/>
          </a:p>
          <a:p>
            <a:pPr eaLnBrk="1" hangingPunct="1"/>
            <a:endParaRPr lang="en-GB" altLang="en-US" sz="2600" dirty="0" smtClean="0"/>
          </a:p>
        </p:txBody>
      </p:sp>
      <p:sp>
        <p:nvSpPr>
          <p:cNvPr id="13316" name="Rectangle 5"/>
          <p:cNvSpPr>
            <a:spLocks noGrp="1" noChangeArrowheads="1"/>
          </p:cNvSpPr>
          <p:nvPr>
            <p:ph type="body" sz="half" idx="4294967295"/>
          </p:nvPr>
        </p:nvSpPr>
        <p:spPr>
          <a:xfrm>
            <a:off x="5334000" y="1922463"/>
            <a:ext cx="3810000" cy="4530725"/>
          </a:xfrm>
        </p:spPr>
        <p:txBody>
          <a:bodyPr/>
          <a:lstStyle/>
          <a:p>
            <a:pPr eaLnBrk="1" hangingPunct="1"/>
            <a:r>
              <a:rPr lang="en-GB" altLang="en-US" sz="2400" dirty="0" smtClean="0">
                <a:solidFill>
                  <a:schemeClr val="bg1"/>
                </a:solidFill>
              </a:rPr>
              <a:t>Most SEN children will continue on programme in KS2</a:t>
            </a:r>
          </a:p>
          <a:p>
            <a:pPr eaLnBrk="1" hangingPunct="1"/>
            <a:r>
              <a:rPr lang="en-GB" altLang="en-US" sz="2400" dirty="0" smtClean="0">
                <a:solidFill>
                  <a:schemeClr val="bg1"/>
                </a:solidFill>
              </a:rPr>
              <a:t>‘Stuck’ children can receive Precision Teaching approach</a:t>
            </a:r>
          </a:p>
        </p:txBody>
      </p:sp>
    </p:spTree>
    <p:extLst>
      <p:ext uri="{BB962C8B-B14F-4D97-AF65-F5344CB8AC3E}">
        <p14:creationId xmlns:p14="http://schemas.microsoft.com/office/powerpoint/2010/main" val="17823595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115888"/>
            <a:ext cx="8280400" cy="865187"/>
          </a:xfrm>
        </p:spPr>
        <p:txBody>
          <a:bodyPr/>
          <a:lstStyle/>
          <a:p>
            <a:pPr algn="ctr" eaLnBrk="1" hangingPunct="1"/>
            <a:r>
              <a:rPr lang="en-GB" altLang="en-US" sz="3200" dirty="0" smtClean="0">
                <a:solidFill>
                  <a:schemeClr val="bg1"/>
                </a:solidFill>
                <a:latin typeface="Arial" charset="0"/>
              </a:rPr>
              <a:t>Probes</a:t>
            </a:r>
          </a:p>
        </p:txBody>
      </p:sp>
      <p:sp>
        <p:nvSpPr>
          <p:cNvPr id="14339" name="Rectangle 3"/>
          <p:cNvSpPr>
            <a:spLocks noGrp="1" noChangeArrowheads="1"/>
          </p:cNvSpPr>
          <p:nvPr>
            <p:ph type="body" idx="4294967295"/>
          </p:nvPr>
        </p:nvSpPr>
        <p:spPr>
          <a:xfrm>
            <a:off x="0" y="916846"/>
            <a:ext cx="7343775" cy="4737100"/>
          </a:xfrm>
        </p:spPr>
        <p:txBody>
          <a:bodyPr/>
          <a:lstStyle/>
          <a:p>
            <a:pPr eaLnBrk="1" hangingPunct="1"/>
            <a:r>
              <a:rPr lang="en-GB" altLang="en-US" dirty="0" smtClean="0">
                <a:solidFill>
                  <a:schemeClr val="bg1"/>
                </a:solidFill>
              </a:rPr>
              <a:t>Probes contain a defined set of items, often letters, words or sums on which the child is tested, usually for one minute.</a:t>
            </a:r>
          </a:p>
          <a:p>
            <a:pPr eaLnBrk="1" hangingPunct="1">
              <a:buFont typeface="Wingdings" pitchFamily="2" charset="2"/>
              <a:buNone/>
            </a:pPr>
            <a:endParaRPr lang="en-GB" altLang="en-US" dirty="0" smtClean="0">
              <a:solidFill>
                <a:schemeClr val="bg1"/>
              </a:solidFill>
            </a:endParaRPr>
          </a:p>
          <a:p>
            <a:pPr eaLnBrk="1" hangingPunct="1"/>
            <a:r>
              <a:rPr lang="en-GB" altLang="en-US" dirty="0" smtClean="0">
                <a:solidFill>
                  <a:schemeClr val="bg1"/>
                </a:solidFill>
              </a:rPr>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27501598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0" y="115888"/>
            <a:ext cx="8280400" cy="649287"/>
          </a:xfrm>
        </p:spPr>
        <p:txBody>
          <a:bodyPr/>
          <a:lstStyle/>
          <a:p>
            <a:pPr algn="ctr" eaLnBrk="1" hangingPunct="1"/>
            <a:r>
              <a:rPr lang="en-GB" altLang="en-US" sz="3200" dirty="0" smtClean="0">
                <a:solidFill>
                  <a:schemeClr val="bg1"/>
                </a:solidFill>
                <a:latin typeface="Arial" charset="0"/>
              </a:rPr>
              <a:t>Letters and Probes</a:t>
            </a:r>
          </a:p>
        </p:txBody>
      </p:sp>
      <p:sp>
        <p:nvSpPr>
          <p:cNvPr id="16387" name="Rectangle 4"/>
          <p:cNvSpPr>
            <a:spLocks noGrp="1" noChangeArrowheads="1"/>
          </p:cNvSpPr>
          <p:nvPr>
            <p:ph type="body" sz="half" idx="4294967295"/>
          </p:nvPr>
        </p:nvSpPr>
        <p:spPr>
          <a:xfrm>
            <a:off x="0" y="1196975"/>
            <a:ext cx="3810000" cy="4530725"/>
          </a:xfrm>
        </p:spPr>
        <p:txBody>
          <a:bodyPr/>
          <a:lstStyle/>
          <a:p>
            <a:pPr marL="0" indent="0" eaLnBrk="1" hangingPunct="1">
              <a:buNone/>
            </a:pPr>
            <a:r>
              <a:rPr lang="en-GB" altLang="en-US" sz="2400" b="1" dirty="0" smtClean="0">
                <a:solidFill>
                  <a:schemeClr val="bg1"/>
                </a:solidFill>
              </a:rPr>
              <a:t>Top Level Probes</a:t>
            </a:r>
          </a:p>
          <a:p>
            <a:pPr eaLnBrk="1" hangingPunct="1">
              <a:buFont typeface="Wingdings" pitchFamily="2" charset="2"/>
              <a:buNone/>
            </a:pPr>
            <a:endParaRPr lang="en-GB" altLang="en-US" sz="2400" dirty="0" smtClean="0">
              <a:solidFill>
                <a:schemeClr val="bg1"/>
              </a:solidFill>
            </a:endParaRPr>
          </a:p>
          <a:p>
            <a:pPr eaLnBrk="1" hangingPunct="1"/>
            <a:r>
              <a:rPr lang="en-GB" altLang="en-US" sz="2400" dirty="0" smtClean="0">
                <a:solidFill>
                  <a:schemeClr val="bg1"/>
                </a:solidFill>
              </a:rPr>
              <a:t>These are wide ranging probes which contain all the items and skills taught in a particular phase</a:t>
            </a:r>
          </a:p>
          <a:p>
            <a:pPr eaLnBrk="1" hangingPunct="1"/>
            <a:r>
              <a:rPr lang="en-GB" altLang="en-US" sz="2400" dirty="0" smtClean="0">
                <a:solidFill>
                  <a:schemeClr val="bg1"/>
                </a:solidFill>
              </a:rPr>
              <a:t>Used for initial assessment, and end of phase skill checking</a:t>
            </a:r>
          </a:p>
          <a:p>
            <a:pPr eaLnBrk="1" hangingPunct="1"/>
            <a:endParaRPr lang="en-GB" altLang="en-US" sz="2400" dirty="0" smtClean="0"/>
          </a:p>
        </p:txBody>
      </p:sp>
      <p:sp>
        <p:nvSpPr>
          <p:cNvPr id="16388" name="Rectangle 5"/>
          <p:cNvSpPr>
            <a:spLocks noGrp="1" noChangeArrowheads="1"/>
          </p:cNvSpPr>
          <p:nvPr>
            <p:ph type="body" sz="half" idx="4294967295"/>
          </p:nvPr>
        </p:nvSpPr>
        <p:spPr>
          <a:xfrm>
            <a:off x="5334000" y="1196975"/>
            <a:ext cx="3810000" cy="4530725"/>
          </a:xfrm>
        </p:spPr>
        <p:txBody>
          <a:bodyPr/>
          <a:lstStyle/>
          <a:p>
            <a:pPr marL="0" indent="0" eaLnBrk="1" hangingPunct="1">
              <a:buNone/>
            </a:pPr>
            <a:r>
              <a:rPr lang="en-GB" altLang="en-US" sz="2400" b="1" dirty="0" smtClean="0">
                <a:solidFill>
                  <a:schemeClr val="bg1"/>
                </a:solidFill>
              </a:rPr>
              <a:t>Subset probes</a:t>
            </a:r>
          </a:p>
          <a:p>
            <a:pPr eaLnBrk="1" hangingPunct="1"/>
            <a:endParaRPr lang="en-GB" altLang="en-US" sz="2400" b="1" dirty="0" smtClean="0">
              <a:solidFill>
                <a:schemeClr val="bg1"/>
              </a:solidFill>
            </a:endParaRPr>
          </a:p>
          <a:p>
            <a:pPr eaLnBrk="1" hangingPunct="1"/>
            <a:r>
              <a:rPr lang="en-GB" altLang="en-US" sz="2400" dirty="0" smtClean="0">
                <a:solidFill>
                  <a:schemeClr val="bg1"/>
                </a:solidFill>
              </a:rPr>
              <a:t>These are probes which contain a much narrower subset of skills</a:t>
            </a:r>
          </a:p>
          <a:p>
            <a:pPr eaLnBrk="1" hangingPunct="1"/>
            <a:r>
              <a:rPr lang="en-GB" altLang="en-US" sz="2400" dirty="0" smtClean="0">
                <a:solidFill>
                  <a:schemeClr val="bg1"/>
                </a:solidFill>
              </a:rPr>
              <a:t>Can be used to make teaching decisions for slower learning children</a:t>
            </a:r>
          </a:p>
          <a:p>
            <a:pPr eaLnBrk="1" hangingPunct="1"/>
            <a:r>
              <a:rPr lang="en-GB" altLang="en-US" sz="2400" dirty="0" smtClean="0">
                <a:solidFill>
                  <a:schemeClr val="bg1"/>
                </a:solidFill>
              </a:rPr>
              <a:t>Used to check whether children have achieved ‘mastery’</a:t>
            </a:r>
          </a:p>
          <a:p>
            <a:pPr eaLnBrk="1" hangingPunct="1"/>
            <a:endParaRPr lang="en-GB" altLang="en-US" sz="2400" dirty="0" smtClean="0"/>
          </a:p>
        </p:txBody>
      </p:sp>
    </p:spTree>
    <p:extLst>
      <p:ext uri="{BB962C8B-B14F-4D97-AF65-F5344CB8AC3E}">
        <p14:creationId xmlns:p14="http://schemas.microsoft.com/office/powerpoint/2010/main" val="11589030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smtClean="0">
                <a:solidFill>
                  <a:schemeClr val="bg1"/>
                </a:solidFill>
                <a:latin typeface="Arial" charset="0"/>
              </a:rPr>
              <a:t>Initial Assessment</a:t>
            </a:r>
          </a:p>
        </p:txBody>
      </p:sp>
      <p:sp>
        <p:nvSpPr>
          <p:cNvPr id="17411" name="Rectangle 3"/>
          <p:cNvSpPr>
            <a:spLocks noGrp="1" noChangeArrowheads="1"/>
          </p:cNvSpPr>
          <p:nvPr>
            <p:ph type="body" idx="4294967295"/>
          </p:nvPr>
        </p:nvSpPr>
        <p:spPr>
          <a:xfrm>
            <a:off x="0" y="1050257"/>
            <a:ext cx="7272338" cy="4319588"/>
          </a:xfrm>
        </p:spPr>
        <p:txBody>
          <a:bodyPr>
            <a:normAutofit lnSpcReduction="10000"/>
          </a:bodyPr>
          <a:lstStyle/>
          <a:p>
            <a:pPr eaLnBrk="1" hangingPunct="1"/>
            <a:r>
              <a:rPr lang="en-GB" altLang="en-US" dirty="0" smtClean="0">
                <a:solidFill>
                  <a:schemeClr val="bg1"/>
                </a:solidFill>
              </a:rPr>
              <a:t>Use the Phase 2 Top Level Probes included in your pack.</a:t>
            </a:r>
          </a:p>
          <a:p>
            <a:pPr eaLnBrk="1" hangingPunct="1"/>
            <a:r>
              <a:rPr lang="en-GB" altLang="en-US" dirty="0" smtClean="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9403653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472938" y="260350"/>
            <a:ext cx="7772400" cy="1143000"/>
          </a:xfrm>
        </p:spPr>
        <p:txBody>
          <a:bodyPr/>
          <a:lstStyle/>
          <a:p>
            <a:pPr algn="ctr" eaLnBrk="1" hangingPunct="1"/>
            <a:r>
              <a:rPr lang="en-GB" altLang="en-US" sz="3200" dirty="0" smtClean="0">
                <a:solidFill>
                  <a:schemeClr val="bg1"/>
                </a:solidFill>
                <a:latin typeface="Arial" charset="0"/>
              </a:rPr>
              <a:t>Initial Assessment</a:t>
            </a:r>
          </a:p>
        </p:txBody>
      </p:sp>
      <p:sp>
        <p:nvSpPr>
          <p:cNvPr id="18435" name="Rectangle 3"/>
          <p:cNvSpPr>
            <a:spLocks noGrp="1" noChangeArrowheads="1"/>
          </p:cNvSpPr>
          <p:nvPr>
            <p:ph type="body" idx="4294967295"/>
          </p:nvPr>
        </p:nvSpPr>
        <p:spPr>
          <a:xfrm>
            <a:off x="0" y="1628775"/>
            <a:ext cx="7127875" cy="4305300"/>
          </a:xfrm>
        </p:spPr>
        <p:txBody>
          <a:bodyPr>
            <a:normAutofit fontScale="92500" lnSpcReduction="20000"/>
          </a:bodyPr>
          <a:lstStyle/>
          <a:p>
            <a:pPr eaLnBrk="1" hangingPunct="1"/>
            <a:r>
              <a:rPr lang="en-GB" altLang="en-US" dirty="0" smtClean="0">
                <a:solidFill>
                  <a:schemeClr val="bg1"/>
                </a:solidFill>
              </a:rPr>
              <a:t>Tell the child you are going to show him/her a grid of words which you want them to read out loud to you, once you say “start”.</a:t>
            </a:r>
          </a:p>
          <a:p>
            <a:pPr eaLnBrk="1" hangingPunct="1"/>
            <a:r>
              <a:rPr lang="en-GB" altLang="en-US" dirty="0" smtClean="0">
                <a:solidFill>
                  <a:schemeClr val="bg1"/>
                </a:solidFill>
              </a:rPr>
              <a:t>Use a 1 minute </a:t>
            </a:r>
            <a:r>
              <a:rPr lang="en-GB" altLang="en-US" dirty="0" err="1" smtClean="0">
                <a:solidFill>
                  <a:schemeClr val="bg1"/>
                </a:solidFill>
              </a:rPr>
              <a:t>sandtimer</a:t>
            </a:r>
            <a:r>
              <a:rPr lang="en-GB" altLang="en-US" dirty="0" smtClean="0">
                <a:solidFill>
                  <a:schemeClr val="bg1"/>
                </a:solidFill>
              </a:rPr>
              <a:t> or </a:t>
            </a:r>
            <a:r>
              <a:rPr lang="en-GB" altLang="en-US" dirty="0" err="1" smtClean="0">
                <a:solidFill>
                  <a:schemeClr val="bg1"/>
                </a:solidFill>
              </a:rPr>
              <a:t>stopclock</a:t>
            </a:r>
            <a:r>
              <a:rPr lang="en-GB" altLang="en-US" dirty="0" smtClean="0">
                <a:solidFill>
                  <a:schemeClr val="bg1"/>
                </a:solidFill>
              </a:rPr>
              <a:t> counting down from 60 seconds to tell you when the 1 minute probe is up</a:t>
            </a:r>
          </a:p>
          <a:p>
            <a:pPr eaLnBrk="1" hangingPunct="1"/>
            <a:r>
              <a:rPr lang="en-GB" altLang="en-US" dirty="0" smtClean="0">
                <a:solidFill>
                  <a:schemeClr val="bg1"/>
                </a:solidFill>
              </a:rPr>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24555232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19459" name="Rectangle 3"/>
          <p:cNvSpPr>
            <a:spLocks noGrp="1" noChangeArrowheads="1"/>
          </p:cNvSpPr>
          <p:nvPr>
            <p:ph type="body" idx="4294967295"/>
          </p:nvPr>
        </p:nvSpPr>
        <p:spPr>
          <a:xfrm>
            <a:off x="0" y="964144"/>
            <a:ext cx="7272338" cy="4737100"/>
          </a:xfrm>
        </p:spPr>
        <p:txBody>
          <a:bodyPr/>
          <a:lstStyle/>
          <a:p>
            <a:pPr eaLnBrk="1" hangingPunct="1">
              <a:lnSpc>
                <a:spcPct val="90000"/>
              </a:lnSpc>
            </a:pPr>
            <a:r>
              <a:rPr lang="en-GB" altLang="en-US" dirty="0" smtClean="0">
                <a:solidFill>
                  <a:schemeClr val="bg1"/>
                </a:solidFill>
              </a:rPr>
              <a:t>When the </a:t>
            </a:r>
            <a:r>
              <a:rPr lang="en-GB" altLang="en-US" dirty="0" err="1" smtClean="0">
                <a:solidFill>
                  <a:schemeClr val="bg1"/>
                </a:solidFill>
              </a:rPr>
              <a:t>sandtimer</a:t>
            </a:r>
            <a:r>
              <a:rPr lang="en-GB" altLang="en-US" dirty="0" smtClean="0">
                <a:solidFill>
                  <a:schemeClr val="bg1"/>
                </a:solidFill>
              </a:rPr>
              <a:t> finishes/</a:t>
            </a:r>
            <a:r>
              <a:rPr lang="en-GB" altLang="en-US" dirty="0" err="1" smtClean="0">
                <a:solidFill>
                  <a:schemeClr val="bg1"/>
                </a:solidFill>
              </a:rPr>
              <a:t>stopclock</a:t>
            </a:r>
            <a:r>
              <a:rPr lang="en-GB" altLang="en-US" dirty="0" smtClean="0">
                <a:solidFill>
                  <a:schemeClr val="bg1"/>
                </a:solidFill>
              </a:rPr>
              <a:t> beeps, stop the child, thank them, and share how they did.</a:t>
            </a:r>
          </a:p>
          <a:p>
            <a:pPr eaLnBrk="1" hangingPunct="1">
              <a:lnSpc>
                <a:spcPct val="90000"/>
              </a:lnSpc>
            </a:pPr>
            <a:r>
              <a:rPr lang="en-GB" altLang="en-US" dirty="0" smtClean="0">
                <a:solidFill>
                  <a:schemeClr val="bg1"/>
                </a:solidFill>
              </a:rPr>
              <a:t>On your chart, note the probe given, put in the number of correct/incorrect responses the child gives, and make a note of specific problem words.</a:t>
            </a:r>
          </a:p>
          <a:p>
            <a:pPr eaLnBrk="1" hangingPunct="1">
              <a:lnSpc>
                <a:spcPct val="90000"/>
              </a:lnSpc>
            </a:pPr>
            <a:r>
              <a:rPr lang="en-GB" altLang="en-US" dirty="0" smtClean="0">
                <a:solidFill>
                  <a:schemeClr val="bg1"/>
                </a:solidFill>
              </a:rPr>
              <a:t>Stop when the pupil shows more errors than correct responses or earlier if failure is becoming obvious.</a:t>
            </a:r>
          </a:p>
        </p:txBody>
      </p:sp>
    </p:spTree>
    <p:extLst>
      <p:ext uri="{BB962C8B-B14F-4D97-AF65-F5344CB8AC3E}">
        <p14:creationId xmlns:p14="http://schemas.microsoft.com/office/powerpoint/2010/main" val="21484204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20483" name="Rectangle 3"/>
          <p:cNvSpPr>
            <a:spLocks noGrp="1" noChangeArrowheads="1"/>
          </p:cNvSpPr>
          <p:nvPr>
            <p:ph type="body" idx="4294967295"/>
          </p:nvPr>
        </p:nvSpPr>
        <p:spPr>
          <a:xfrm>
            <a:off x="0" y="1131656"/>
            <a:ext cx="7200900" cy="4175125"/>
          </a:xfrm>
        </p:spPr>
        <p:txBody>
          <a:bodyPr>
            <a:normAutofit lnSpcReduction="10000"/>
          </a:bodyPr>
          <a:lstStyle/>
          <a:p>
            <a:pPr eaLnBrk="1" hangingPunct="1"/>
            <a:r>
              <a:rPr lang="en-GB" altLang="en-US" dirty="0" smtClean="0">
                <a:solidFill>
                  <a:schemeClr val="bg1"/>
                </a:solidFill>
              </a:rPr>
              <a:t>Use the ‘</a:t>
            </a:r>
            <a:r>
              <a:rPr lang="en-GB" altLang="en-US" b="1" dirty="0" smtClean="0">
                <a:solidFill>
                  <a:schemeClr val="bg1"/>
                </a:solidFill>
              </a:rPr>
              <a:t>100 high-frequency words in order’, </a:t>
            </a:r>
            <a:r>
              <a:rPr lang="en-GB" altLang="en-US" dirty="0" smtClean="0">
                <a:solidFill>
                  <a:schemeClr val="bg1"/>
                </a:solidFill>
              </a:rPr>
              <a:t>Copies of these are in your pack.</a:t>
            </a:r>
          </a:p>
          <a:p>
            <a:pPr eaLnBrk="1" hangingPunct="1"/>
            <a:r>
              <a:rPr lang="en-GB" altLang="en-US" dirty="0" smtClean="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7912913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94303" y="273548"/>
            <a:ext cx="8497887" cy="792162"/>
          </a:xfrm>
        </p:spPr>
        <p:txBody>
          <a:bodyPr/>
          <a:lstStyle/>
          <a:p>
            <a:pPr algn="ctr" eaLnBrk="1" hangingPunct="1"/>
            <a:r>
              <a:rPr lang="en-GB" altLang="en-US" sz="3200" dirty="0" smtClean="0">
                <a:solidFill>
                  <a:schemeClr val="bg1"/>
                </a:solidFill>
                <a:latin typeface="Arial" charset="0"/>
              </a:rPr>
              <a:t>Initial Assessment</a:t>
            </a:r>
          </a:p>
        </p:txBody>
      </p:sp>
      <p:sp>
        <p:nvSpPr>
          <p:cNvPr id="21507" name="Rectangle 3"/>
          <p:cNvSpPr>
            <a:spLocks noGrp="1" noChangeArrowheads="1"/>
          </p:cNvSpPr>
          <p:nvPr>
            <p:ph type="body" idx="4294967295"/>
          </p:nvPr>
        </p:nvSpPr>
        <p:spPr>
          <a:xfrm>
            <a:off x="0" y="1484313"/>
            <a:ext cx="7488238" cy="3529012"/>
          </a:xfrm>
        </p:spPr>
        <p:txBody>
          <a:bodyPr/>
          <a:lstStyle/>
          <a:p>
            <a:pPr eaLnBrk="1" hangingPunct="1"/>
            <a:r>
              <a:rPr lang="en-GB" altLang="en-US" dirty="0" smtClean="0">
                <a:solidFill>
                  <a:schemeClr val="bg1"/>
                </a:solidFill>
              </a:rPr>
              <a:t>Remember to record your results for each probe sheet administered on the summary sheet in your pack.</a:t>
            </a:r>
          </a:p>
          <a:p>
            <a:pPr eaLnBrk="1" hangingPunct="1"/>
            <a:r>
              <a:rPr lang="en-GB" altLang="en-US" dirty="0" smtClean="0">
                <a:solidFill>
                  <a:schemeClr val="bg1"/>
                </a:solidFill>
              </a:rPr>
              <a:t>Bring your results back to session 2.  We will use these to plan the next steps in using a Precision Teaching Programme.</a:t>
            </a:r>
          </a:p>
        </p:txBody>
      </p:sp>
    </p:spTree>
    <p:extLst>
      <p:ext uri="{BB962C8B-B14F-4D97-AF65-F5344CB8AC3E}">
        <p14:creationId xmlns:p14="http://schemas.microsoft.com/office/powerpoint/2010/main" val="29658627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09630" y="532606"/>
            <a:ext cx="8497887" cy="865187"/>
          </a:xfrm>
        </p:spPr>
        <p:txBody>
          <a:bodyPr/>
          <a:lstStyle/>
          <a:p>
            <a:pPr algn="ctr" eaLnBrk="1" hangingPunct="1"/>
            <a:r>
              <a:rPr lang="en-GB" altLang="en-US" sz="3200" dirty="0" smtClean="0">
                <a:solidFill>
                  <a:schemeClr val="bg1"/>
                </a:solidFill>
                <a:latin typeface="Arial" charset="0"/>
              </a:rPr>
              <a:t>Thank You</a:t>
            </a:r>
          </a:p>
        </p:txBody>
      </p:sp>
      <p:sp>
        <p:nvSpPr>
          <p:cNvPr id="22531" name="Rectangle 3"/>
          <p:cNvSpPr>
            <a:spLocks noGrp="1" noChangeArrowheads="1"/>
          </p:cNvSpPr>
          <p:nvPr>
            <p:ph type="body" idx="4294967295"/>
          </p:nvPr>
        </p:nvSpPr>
        <p:spPr>
          <a:xfrm>
            <a:off x="801042" y="965200"/>
            <a:ext cx="6264275" cy="3471863"/>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solidFill>
                  <a:schemeClr val="bg1"/>
                </a:solidFill>
              </a:rPr>
              <a:t>Please do not use or copy any slides without prior permission from AFC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35542564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lstStyle/>
          <a:p>
            <a:r>
              <a:rPr lang="en-US" dirty="0" smtClean="0">
                <a:latin typeface="+mj-lt"/>
              </a:rPr>
              <a:t>End slide </a:t>
            </a:r>
            <a:endParaRPr lang="en-US" dirty="0">
              <a:latin typeface="+mj-lt"/>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192</TotalTime>
  <Words>2209</Words>
  <Application>Microsoft Office PowerPoint</Application>
  <PresentationFormat>On-screen Show (4:3)</PresentationFormat>
  <Paragraphs>268</Paragraphs>
  <Slides>24</Slides>
  <Notes>24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Powerpoint_master_template</vt:lpstr>
      <vt:lpstr>PowerPoint Presentation</vt:lpstr>
      <vt:lpstr>PowerPoint Presentation</vt:lpstr>
      <vt:lpstr>Aim for Session 1</vt:lpstr>
      <vt:lpstr>Preview of upcoming sessions</vt:lpstr>
      <vt:lpstr>Preview of upcoming sessions</vt:lpstr>
      <vt:lpstr>What is Precision Teaching?</vt:lpstr>
      <vt:lpstr>When can Precision Teaching be used?</vt:lpstr>
      <vt:lpstr>The Learning Hierarchy</vt:lpstr>
      <vt:lpstr>Activity</vt:lpstr>
      <vt:lpstr>PowerPoint Presentation</vt:lpstr>
      <vt:lpstr>PowerPoint Presentation</vt:lpstr>
      <vt:lpstr>How do you do Precision Teaching?</vt:lpstr>
      <vt:lpstr>Before you start Precision Teaching </vt:lpstr>
      <vt:lpstr>‘Task Analysis’ – where are they now? </vt:lpstr>
      <vt:lpstr>Initial Assessment – using ‘Letters and Sounds’</vt:lpstr>
      <vt:lpstr>Probes</vt:lpstr>
      <vt:lpstr>Letters and Probes</vt:lpstr>
      <vt:lpstr>Initial Assessment</vt:lpstr>
      <vt:lpstr>Initial Assessment</vt:lpstr>
      <vt:lpstr>Initial Assessment</vt:lpstr>
      <vt:lpstr>Initial Assessment</vt:lpstr>
      <vt:lpstr>Initial Assessment</vt:lpstr>
      <vt:lpstr>Thank You</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localprofile</cp:lastModifiedBy>
  <cp:revision>13</cp:revision>
  <cp:lastPrinted>2015-09-16T14:47:36Z</cp:lastPrinted>
  <dcterms:created xsi:type="dcterms:W3CDTF">2017-09-05T13:13:18Z</dcterms:created>
  <dcterms:modified xsi:type="dcterms:W3CDTF">2018-01-08T08:22:33Z</dcterms:modified>
</cp:coreProperties>
</file>