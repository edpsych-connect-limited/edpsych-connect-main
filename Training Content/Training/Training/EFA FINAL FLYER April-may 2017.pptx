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75163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100" d="100"/>
          <a:sy n="100" d="100"/>
        </p:scale>
        <p:origin x="-72" y="10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2534848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3172857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2538625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3275058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4101490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2069354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3501815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1163325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3793394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2916808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9B4DB29-DCFE-4DA4-9632-0CE57373FD6C}" type="datetimeFigureOut">
              <a:rPr lang="en-GB" smtClean="0"/>
              <a:t>05/01/2017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D9387712-BCBF-4442-808F-BA1837CA8A26}" type="slidenum">
              <a:rPr lang="en-GB" smtClean="0"/>
              <a:t>‹#›</a:t>
            </a:fld>
            <a:endParaRPr lang="en-GB" dirty="0"/>
          </a:p>
        </p:txBody>
      </p:sp>
    </p:spTree>
    <p:extLst>
      <p:ext uri="{BB962C8B-B14F-4D97-AF65-F5344CB8AC3E}">
        <p14:creationId xmlns:p14="http://schemas.microsoft.com/office/powerpoint/2010/main" val="1374492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B4DB29-DCFE-4DA4-9632-0CE57373FD6C}" type="datetimeFigureOut">
              <a:rPr lang="en-GB" smtClean="0"/>
              <a:t>05/01/2017</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87712-BCBF-4442-808F-BA1837CA8A26}" type="slidenum">
              <a:rPr lang="en-GB" smtClean="0"/>
              <a:t>‹#›</a:t>
            </a:fld>
            <a:endParaRPr lang="en-GB" dirty="0"/>
          </a:p>
        </p:txBody>
      </p:sp>
    </p:spTree>
    <p:extLst>
      <p:ext uri="{BB962C8B-B14F-4D97-AF65-F5344CB8AC3E}">
        <p14:creationId xmlns:p14="http://schemas.microsoft.com/office/powerpoint/2010/main" val="3657604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5252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txBox="1">
            <a:spLocks/>
          </p:cNvSpPr>
          <p:nvPr/>
        </p:nvSpPr>
        <p:spPr>
          <a:xfrm>
            <a:off x="767947" y="210532"/>
            <a:ext cx="2651925" cy="621030"/>
          </a:xfrm>
          <a:prstGeom prst="rect">
            <a:avLst/>
          </a:prstGeom>
          <a:noFill/>
          <a:ln w="0" cmpd="sng">
            <a:noFill/>
            <a:prstDash val="solid"/>
          </a:ln>
        </p:spPr>
        <p:txBody>
          <a:bodyPr vert="horz" lIns="0" tIns="889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600"/>
              </a:lnSpc>
              <a:spcAft>
                <a:spcPts val="15"/>
              </a:spcAft>
            </a:pPr>
            <a:r>
              <a:rPr lang="en-GB" sz="1100" dirty="0">
                <a:solidFill>
                  <a:srgbClr val="000000"/>
                </a:solidFill>
                <a:latin typeface="Arial Narrow" panose="02020603050405020304" pitchFamily="2"/>
              </a:rPr>
              <a:t>I was very unsure and shy when the course </a:t>
            </a:r>
            <a:br>
              <a:rPr lang="en-GB" sz="1100" dirty="0">
                <a:solidFill>
                  <a:srgbClr val="000000"/>
                </a:solidFill>
                <a:latin typeface="Arial Narrow" panose="02020603050405020304" pitchFamily="2"/>
              </a:rPr>
            </a:br>
            <a:r>
              <a:rPr lang="en-GB" sz="1100" dirty="0">
                <a:solidFill>
                  <a:srgbClr val="000000"/>
                </a:solidFill>
                <a:latin typeface="Arial Narrow" panose="02020603050405020304" pitchFamily="2"/>
              </a:rPr>
              <a:t>started but by the end I felt more confident </a:t>
            </a:r>
            <a:br>
              <a:rPr lang="en-GB" sz="1100" dirty="0">
                <a:solidFill>
                  <a:srgbClr val="000000"/>
                </a:solidFill>
                <a:latin typeface="Arial Narrow" panose="02020603050405020304" pitchFamily="2"/>
              </a:rPr>
            </a:br>
            <a:r>
              <a:rPr lang="en-GB" sz="1100" dirty="0">
                <a:solidFill>
                  <a:srgbClr val="000000"/>
                </a:solidFill>
                <a:latin typeface="Arial Narrow" panose="02020603050405020304" pitchFamily="2"/>
              </a:rPr>
              <a:t>and was happy to join in. </a:t>
            </a:r>
          </a:p>
        </p:txBody>
      </p:sp>
      <p:sp>
        <p:nvSpPr>
          <p:cNvPr id="7" name="Text Placeholder 6"/>
          <p:cNvSpPr txBox="1">
            <a:spLocks/>
          </p:cNvSpPr>
          <p:nvPr/>
        </p:nvSpPr>
        <p:spPr>
          <a:xfrm>
            <a:off x="602616" y="965590"/>
            <a:ext cx="2167407" cy="146718"/>
          </a:xfrm>
          <a:prstGeom prst="rect">
            <a:avLst/>
          </a:prstGeom>
          <a:noFill/>
          <a:ln w="0" cmpd="sng">
            <a:noFill/>
            <a:prstDash val="solid"/>
          </a:ln>
        </p:spPr>
        <p:txBody>
          <a:bodyPr vert="horz" lIns="0" tIns="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000"/>
              </a:lnSpc>
              <a:spcAft>
                <a:spcPts val="20"/>
              </a:spcAft>
            </a:pPr>
            <a:r>
              <a:rPr lang="en-US" sz="600" spc="-5" dirty="0" smtClean="0">
                <a:solidFill>
                  <a:srgbClr val="000000"/>
                </a:solidFill>
                <a:latin typeface="Tahoma" panose="02020603050405020304" pitchFamily="2"/>
              </a:rPr>
              <a:t>Participant, Parents’ EFA (Solent NHS Trust)</a:t>
            </a:r>
            <a:endParaRPr lang="en-US" sz="600" spc="-5" dirty="0">
              <a:solidFill>
                <a:srgbClr val="000000"/>
              </a:solidFill>
              <a:latin typeface="Tahoma" panose="02020603050405020304" pitchFamily="2"/>
            </a:endParaRPr>
          </a:p>
        </p:txBody>
      </p:sp>
      <p:sp>
        <p:nvSpPr>
          <p:cNvPr id="8" name="Text Placeholder 7"/>
          <p:cNvSpPr txBox="1">
            <a:spLocks/>
          </p:cNvSpPr>
          <p:nvPr/>
        </p:nvSpPr>
        <p:spPr>
          <a:xfrm>
            <a:off x="899592" y="1484784"/>
            <a:ext cx="2664296" cy="1027430"/>
          </a:xfrm>
          <a:prstGeom prst="rect">
            <a:avLst/>
          </a:prstGeom>
          <a:noFill/>
          <a:ln w="0" cmpd="sng">
            <a:noFill/>
            <a:prstDash val="solid"/>
          </a:ln>
        </p:spPr>
        <p:txBody>
          <a:bodyPr vert="horz" lIns="0" tIns="1143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600"/>
              </a:lnSpc>
            </a:pPr>
            <a:r>
              <a:rPr lang="en-GB" sz="1100" dirty="0" smtClean="0">
                <a:solidFill>
                  <a:srgbClr val="000000"/>
                </a:solidFill>
                <a:latin typeface="Arial Narrow" panose="02020603050405020304" pitchFamily="2"/>
              </a:rPr>
              <a:t>I have realised that everyone is in a similar </a:t>
            </a:r>
            <a:r>
              <a:rPr lang="en-GB" sz="1100" dirty="0" smtClean="0"/>
              <a:t/>
            </a:r>
            <a:br>
              <a:rPr lang="en-GB" sz="1100" dirty="0" smtClean="0"/>
            </a:br>
            <a:r>
              <a:rPr lang="en-GB" sz="1100" dirty="0" smtClean="0">
                <a:solidFill>
                  <a:srgbClr val="000000"/>
                </a:solidFill>
                <a:latin typeface="Arial Narrow" panose="02020603050405020304" pitchFamily="2"/>
              </a:rPr>
              <a:t>situation, and that I am not different. </a:t>
            </a:r>
            <a:r>
              <a:rPr lang="en-GB" sz="1100" dirty="0" smtClean="0"/>
              <a:t/>
            </a:r>
            <a:br>
              <a:rPr lang="en-GB" sz="1100" dirty="0" smtClean="0"/>
            </a:br>
            <a:r>
              <a:rPr lang="en-GB" sz="1100" dirty="0" smtClean="0">
                <a:solidFill>
                  <a:srgbClr val="000000"/>
                </a:solidFill>
                <a:latin typeface="Arial Narrow" panose="02020603050405020304" pitchFamily="2"/>
              </a:rPr>
              <a:t>More positive about myself. </a:t>
            </a:r>
            <a:r>
              <a:rPr lang="en-GB" sz="1100" dirty="0" smtClean="0"/>
              <a:t/>
            </a:r>
            <a:br>
              <a:rPr lang="en-GB" sz="1100" dirty="0" smtClean="0"/>
            </a:br>
            <a:r>
              <a:rPr lang="en-GB" sz="1100" dirty="0" smtClean="0">
                <a:solidFill>
                  <a:srgbClr val="000000"/>
                </a:solidFill>
                <a:latin typeface="Arial Narrow" panose="02020603050405020304" pitchFamily="2"/>
              </a:rPr>
              <a:t>There’s a lot of good in my life </a:t>
            </a:r>
            <a:r>
              <a:rPr lang="en-GB" sz="1100" dirty="0" smtClean="0"/>
              <a:t/>
            </a:r>
            <a:br>
              <a:rPr lang="en-GB" sz="1100" dirty="0" smtClean="0"/>
            </a:br>
            <a:r>
              <a:rPr lang="en-GB" sz="1100" dirty="0" smtClean="0">
                <a:solidFill>
                  <a:srgbClr val="000000"/>
                </a:solidFill>
                <a:latin typeface="Arial Narrow" panose="02020603050405020304" pitchFamily="2"/>
              </a:rPr>
              <a:t>and people who care about me. </a:t>
            </a:r>
            <a:endParaRPr lang="en-GB" sz="1100" dirty="0">
              <a:solidFill>
                <a:srgbClr val="000000"/>
              </a:solidFill>
              <a:latin typeface="Arial Narrow" panose="02020603050405020304" pitchFamily="2"/>
            </a:endParaRPr>
          </a:p>
        </p:txBody>
      </p:sp>
      <p:sp>
        <p:nvSpPr>
          <p:cNvPr id="9" name="Text Placeholder 8"/>
          <p:cNvSpPr txBox="1">
            <a:spLocks/>
          </p:cNvSpPr>
          <p:nvPr/>
        </p:nvSpPr>
        <p:spPr>
          <a:xfrm>
            <a:off x="602616" y="2612220"/>
            <a:ext cx="1521112" cy="154957"/>
          </a:xfrm>
          <a:prstGeom prst="rect">
            <a:avLst/>
          </a:prstGeom>
          <a:noFill/>
          <a:ln w="0" cmpd="sng">
            <a:noFill/>
            <a:prstDash val="solid"/>
          </a:ln>
        </p:spPr>
        <p:txBody>
          <a:bodyPr vert="horz" lIns="0" tIns="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000"/>
              </a:lnSpc>
              <a:spcAft>
                <a:spcPts val="20"/>
              </a:spcAft>
            </a:pPr>
            <a:r>
              <a:rPr lang="en-US" sz="600" spc="-5" dirty="0">
                <a:solidFill>
                  <a:srgbClr val="000000"/>
                </a:solidFill>
                <a:latin typeface="Tahoma" panose="02020603050405020304" pitchFamily="2"/>
              </a:rPr>
              <a:t>Participant, Parents’ EFA (Solent NHS Trust)</a:t>
            </a:r>
          </a:p>
        </p:txBody>
      </p:sp>
      <p:sp>
        <p:nvSpPr>
          <p:cNvPr id="10" name="Text Placeholder 15"/>
          <p:cNvSpPr txBox="1">
            <a:spLocks/>
          </p:cNvSpPr>
          <p:nvPr/>
        </p:nvSpPr>
        <p:spPr>
          <a:xfrm>
            <a:off x="323528" y="3120130"/>
            <a:ext cx="3600400" cy="1172966"/>
          </a:xfrm>
          <a:prstGeom prst="rect">
            <a:avLst/>
          </a:prstGeom>
          <a:noFill/>
          <a:ln w="0" cmpd="sng">
            <a:noFill/>
            <a:prstDash val="solid"/>
          </a:ln>
        </p:spPr>
        <p:txBody>
          <a:bodyPr vert="horz" lIns="0" tIns="0" rIns="0" bIns="0" rtlCol="0" anchor="t"/>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ts val="1300"/>
              </a:lnSpc>
            </a:pPr>
            <a:r>
              <a:rPr lang="en-US" sz="900" b="1" dirty="0" smtClean="0">
                <a:solidFill>
                  <a:srgbClr val="000000"/>
                </a:solidFill>
                <a:latin typeface="Tahoma" panose="02020603050405020304" pitchFamily="2"/>
              </a:rPr>
              <a:t>For more information or to book a place on the course please contact: </a:t>
            </a:r>
          </a:p>
          <a:p>
            <a:pPr>
              <a:lnSpc>
                <a:spcPts val="1200"/>
              </a:lnSpc>
              <a:spcBef>
                <a:spcPts val="870"/>
              </a:spcBef>
            </a:pPr>
            <a:r>
              <a:rPr lang="en-US" sz="950" spc="-10" dirty="0" smtClean="0">
                <a:solidFill>
                  <a:srgbClr val="000000"/>
                </a:solidFill>
                <a:latin typeface="Tahoma" panose="02020603050405020304" pitchFamily="2"/>
              </a:rPr>
              <a:t>Tel: 01628 79 6688</a:t>
            </a:r>
            <a:endParaRPr lang="en-US" sz="1050" b="1" spc="-10" dirty="0" smtClean="0">
              <a:solidFill>
                <a:srgbClr val="000000"/>
              </a:solidFill>
              <a:latin typeface="Arial" panose="02020603050405020304" pitchFamily="2"/>
            </a:endParaRPr>
          </a:p>
          <a:p>
            <a:pPr>
              <a:lnSpc>
                <a:spcPts val="1200"/>
              </a:lnSpc>
              <a:spcBef>
                <a:spcPts val="870"/>
              </a:spcBef>
            </a:pPr>
            <a:r>
              <a:rPr lang="en-US" sz="950" u="sng" spc="-10" dirty="0" smtClean="0">
                <a:solidFill>
                  <a:srgbClr val="0000FF"/>
                </a:solidFill>
                <a:latin typeface="Tahoma" panose="02020603050405020304" pitchFamily="2"/>
              </a:rPr>
              <a:t>Email: ed.psych@rbwm.gov.uk</a:t>
            </a:r>
            <a:endParaRPr lang="en-US" sz="1050" b="1" u="sng" spc="-10" dirty="0" smtClean="0">
              <a:solidFill>
                <a:srgbClr val="0000FF"/>
              </a:solidFill>
              <a:latin typeface="Arial" panose="02020603050405020304" pitchFamily="2"/>
            </a:endParaRPr>
          </a:p>
          <a:p>
            <a:pPr>
              <a:lnSpc>
                <a:spcPts val="1200"/>
              </a:lnSpc>
              <a:spcBef>
                <a:spcPts val="870"/>
              </a:spcBef>
            </a:pPr>
            <a:endParaRPr lang="en-US" sz="100" b="1" spc="-10" dirty="0">
              <a:solidFill>
                <a:srgbClr val="000000"/>
              </a:solidFill>
              <a:latin typeface="Arial" panose="02020603050405020304" pitchFamily="2"/>
            </a:endParaRPr>
          </a:p>
        </p:txBody>
      </p:sp>
      <p:sp>
        <p:nvSpPr>
          <p:cNvPr id="2" name="Rectangle 1"/>
          <p:cNvSpPr/>
          <p:nvPr/>
        </p:nvSpPr>
        <p:spPr>
          <a:xfrm>
            <a:off x="899592" y="4725144"/>
            <a:ext cx="2304256" cy="1152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descr="Y:\PR\Ryan\Adhoc Requests\2016-17\Council Crest\Portrait Purpl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34536" y="72008"/>
            <a:ext cx="1045975" cy="119675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Y:\PR\Ryan\Adhoc Requests\2016-17\Council Crest\Portrait Purpl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23501" y="4653136"/>
            <a:ext cx="1636331" cy="187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360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3" name="Rounded Rectangle 2"/>
          <p:cNvSpPr/>
          <p:nvPr/>
        </p:nvSpPr>
        <p:spPr>
          <a:xfrm>
            <a:off x="251520" y="3430747"/>
            <a:ext cx="4032448" cy="266254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dirty="0" smtClean="0">
                <a:solidFill>
                  <a:schemeClr val="bg1">
                    <a:lumMod val="95000"/>
                  </a:schemeClr>
                </a:solidFill>
              </a:rPr>
              <a:t>Aims:</a:t>
            </a:r>
          </a:p>
          <a:p>
            <a:pPr marL="171450" indent="-171450">
              <a:buFont typeface="Arial" panose="020B0604020202020204" pitchFamily="34" charset="0"/>
              <a:buChar char="•"/>
            </a:pPr>
            <a:r>
              <a:rPr lang="en-US" sz="1100" spc="10" dirty="0" smtClean="0">
                <a:solidFill>
                  <a:schemeClr val="bg1">
                    <a:lumMod val="95000"/>
                  </a:schemeClr>
                </a:solidFill>
                <a:latin typeface="+mj-lt"/>
              </a:rPr>
              <a:t>Explore and rediscover your sense of self</a:t>
            </a:r>
          </a:p>
          <a:p>
            <a:pPr marL="171450" indent="-171450">
              <a:buFont typeface="Arial" panose="020B0604020202020204" pitchFamily="34" charset="0"/>
              <a:buChar char="•"/>
            </a:pPr>
            <a:r>
              <a:rPr lang="en-US" sz="1100" spc="20" dirty="0" smtClean="0">
                <a:solidFill>
                  <a:schemeClr val="bg1">
                    <a:lumMod val="95000"/>
                  </a:schemeClr>
                </a:solidFill>
                <a:latin typeface="+mj-lt"/>
              </a:rPr>
              <a:t>Identify early signs of emotional distress and the solutions we use to manage it</a:t>
            </a:r>
          </a:p>
          <a:p>
            <a:pPr marL="171450" indent="-171450">
              <a:buFont typeface="Arial" panose="020B0604020202020204" pitchFamily="34" charset="0"/>
              <a:buChar char="•"/>
            </a:pPr>
            <a:r>
              <a:rPr lang="en-US" sz="1100" spc="30" dirty="0" smtClean="0">
                <a:solidFill>
                  <a:schemeClr val="bg1">
                    <a:lumMod val="95000"/>
                  </a:schemeClr>
                </a:solidFill>
                <a:latin typeface="+mj-lt"/>
              </a:rPr>
              <a:t>Recognise and understand your own emotional needs</a:t>
            </a:r>
          </a:p>
          <a:p>
            <a:pPr marL="171450" indent="-171450">
              <a:buFont typeface="Arial" panose="020B0604020202020204" pitchFamily="34" charset="0"/>
              <a:buChar char="•"/>
            </a:pPr>
            <a:r>
              <a:rPr lang="en-US" sz="1100" spc="30" dirty="0" smtClean="0">
                <a:solidFill>
                  <a:schemeClr val="bg1">
                    <a:lumMod val="95000"/>
                  </a:schemeClr>
                </a:solidFill>
                <a:latin typeface="+mj-lt"/>
              </a:rPr>
              <a:t>Understand and develop your own positive emotional health</a:t>
            </a:r>
          </a:p>
          <a:p>
            <a:pPr marL="171450" indent="-171450">
              <a:buFont typeface="Arial" panose="020B0604020202020204" pitchFamily="34" charset="0"/>
              <a:buChar char="•"/>
            </a:pPr>
            <a:r>
              <a:rPr lang="en-US" sz="1100" spc="10" dirty="0" smtClean="0">
                <a:solidFill>
                  <a:schemeClr val="bg1">
                    <a:lumMod val="95000"/>
                  </a:schemeClr>
                </a:solidFill>
                <a:latin typeface="+mj-lt"/>
              </a:rPr>
              <a:t>Explore the risks we pose to ourselves </a:t>
            </a:r>
          </a:p>
          <a:p>
            <a:pPr marL="171450" indent="-171450">
              <a:lnSpc>
                <a:spcPts val="1300"/>
              </a:lnSpc>
              <a:buFont typeface="Arial" panose="020B0604020202020204" pitchFamily="34" charset="0"/>
              <a:buChar char="•"/>
            </a:pPr>
            <a:r>
              <a:rPr lang="en-US" sz="1100" spc="35" dirty="0" smtClean="0">
                <a:solidFill>
                  <a:schemeClr val="bg1">
                    <a:lumMod val="95000"/>
                  </a:schemeClr>
                </a:solidFill>
                <a:latin typeface="+mj-lt"/>
              </a:rPr>
              <a:t>Develop and enhance your self esteem </a:t>
            </a:r>
          </a:p>
          <a:p>
            <a:pPr marL="171450" indent="-171450">
              <a:lnSpc>
                <a:spcPts val="1200"/>
              </a:lnSpc>
              <a:spcBef>
                <a:spcPts val="755"/>
              </a:spcBef>
              <a:buFont typeface="Arial" panose="020B0604020202020204" pitchFamily="34" charset="0"/>
              <a:buChar char="•"/>
            </a:pPr>
            <a:r>
              <a:rPr lang="en-US" sz="1100" spc="30" dirty="0" smtClean="0">
                <a:solidFill>
                  <a:schemeClr val="bg1">
                    <a:lumMod val="95000"/>
                  </a:schemeClr>
                </a:solidFill>
                <a:latin typeface="+mj-lt"/>
              </a:rPr>
              <a:t>Gain strategies to manage your own emotional</a:t>
            </a:r>
            <a:br>
              <a:rPr lang="en-US" sz="1100" spc="30" dirty="0" smtClean="0">
                <a:solidFill>
                  <a:schemeClr val="bg1">
                    <a:lumMod val="95000"/>
                  </a:schemeClr>
                </a:solidFill>
                <a:latin typeface="+mj-lt"/>
              </a:rPr>
            </a:br>
            <a:r>
              <a:rPr lang="en-US" sz="1100" spc="30" dirty="0" smtClean="0">
                <a:solidFill>
                  <a:schemeClr val="bg1">
                    <a:lumMod val="95000"/>
                  </a:schemeClr>
                </a:solidFill>
                <a:latin typeface="+mj-lt"/>
              </a:rPr>
              <a:t>well-being </a:t>
            </a:r>
          </a:p>
          <a:p>
            <a:pPr marL="171450" indent="-171450">
              <a:lnSpc>
                <a:spcPts val="1200"/>
              </a:lnSpc>
              <a:spcBef>
                <a:spcPts val="755"/>
              </a:spcBef>
              <a:buFont typeface="Arial" panose="020B0604020202020204" pitchFamily="34" charset="0"/>
              <a:buChar char="•"/>
            </a:pPr>
            <a:r>
              <a:rPr lang="en-US" sz="1100" spc="30" dirty="0" smtClean="0">
                <a:solidFill>
                  <a:schemeClr val="bg1">
                    <a:lumMod val="95000"/>
                  </a:schemeClr>
                </a:solidFill>
                <a:latin typeface="+mj-lt"/>
              </a:rPr>
              <a:t>Develop a support network with other parents</a:t>
            </a:r>
            <a:r>
              <a:rPr lang="en-US" sz="1100" spc="45" dirty="0" smtClean="0">
                <a:solidFill>
                  <a:schemeClr val="bg1">
                    <a:lumMod val="95000"/>
                  </a:schemeClr>
                </a:solidFill>
                <a:latin typeface="+mj-lt"/>
              </a:rPr>
              <a:t> </a:t>
            </a:r>
          </a:p>
        </p:txBody>
      </p:sp>
      <p:sp>
        <p:nvSpPr>
          <p:cNvPr id="4" name="TextBox 3"/>
          <p:cNvSpPr txBox="1"/>
          <p:nvPr/>
        </p:nvSpPr>
        <p:spPr>
          <a:xfrm>
            <a:off x="275006" y="6309320"/>
            <a:ext cx="4080970" cy="215444"/>
          </a:xfrm>
          <a:prstGeom prst="rect">
            <a:avLst/>
          </a:prstGeom>
          <a:noFill/>
        </p:spPr>
        <p:txBody>
          <a:bodyPr wrap="square" rtlCol="0">
            <a:spAutoFit/>
          </a:bodyPr>
          <a:lstStyle/>
          <a:p>
            <a:r>
              <a:rPr lang="en-GB" sz="800" dirty="0" smtClean="0">
                <a:latin typeface="+mj-lt"/>
              </a:rPr>
              <a:t>This is not a parenting course!</a:t>
            </a:r>
            <a:endParaRPr lang="en-GB" sz="800" dirty="0">
              <a:latin typeface="+mj-lt"/>
            </a:endParaRPr>
          </a:p>
        </p:txBody>
      </p:sp>
      <p:sp>
        <p:nvSpPr>
          <p:cNvPr id="5" name="TextBox 4"/>
          <p:cNvSpPr txBox="1"/>
          <p:nvPr/>
        </p:nvSpPr>
        <p:spPr>
          <a:xfrm>
            <a:off x="5004048" y="548680"/>
            <a:ext cx="3888432" cy="3570208"/>
          </a:xfrm>
          <a:prstGeom prst="rect">
            <a:avLst/>
          </a:prstGeom>
          <a:noFill/>
        </p:spPr>
        <p:txBody>
          <a:bodyPr wrap="square" rtlCol="0">
            <a:spAutoFit/>
          </a:bodyPr>
          <a:lstStyle/>
          <a:p>
            <a:r>
              <a:rPr lang="en-GB" sz="1400" b="1" dirty="0">
                <a:solidFill>
                  <a:srgbClr val="000000"/>
                </a:solidFill>
                <a:latin typeface="Tahoma" panose="02020603050405020304" pitchFamily="2"/>
              </a:rPr>
              <a:t>Course </a:t>
            </a:r>
            <a:r>
              <a:rPr lang="en-GB" sz="1400" b="1" dirty="0" smtClean="0">
                <a:solidFill>
                  <a:srgbClr val="000000"/>
                </a:solidFill>
                <a:latin typeface="Tahoma" panose="02020603050405020304" pitchFamily="2"/>
              </a:rPr>
              <a:t>Outline</a:t>
            </a:r>
          </a:p>
          <a:p>
            <a:endParaRPr lang="en-GB" sz="1400" b="1" dirty="0">
              <a:solidFill>
                <a:srgbClr val="000000"/>
              </a:solidFill>
              <a:latin typeface="Tahoma" panose="02020603050405020304" pitchFamily="2"/>
            </a:endParaRPr>
          </a:p>
          <a:p>
            <a:r>
              <a:rPr lang="en-US" sz="900" b="1" spc="0" dirty="0" smtClean="0">
                <a:solidFill>
                  <a:srgbClr val="000000"/>
                </a:solidFill>
                <a:latin typeface="Tahoma" panose="02020603050405020304" pitchFamily="2"/>
              </a:rPr>
              <a:t>Session 1: </a:t>
            </a:r>
            <a:r>
              <a:rPr lang="en-US" sz="900" spc="0" dirty="0" smtClean="0">
                <a:solidFill>
                  <a:srgbClr val="000000"/>
                </a:solidFill>
                <a:latin typeface="Tahoma" panose="02020603050405020304" pitchFamily="2"/>
              </a:rPr>
              <a:t>What is Parents’ EFA? – Exploring our own behaviours </a:t>
            </a:r>
            <a:r>
              <a:rPr lang="en-US" sz="900" spc="-15" dirty="0" smtClean="0">
                <a:solidFill>
                  <a:srgbClr val="000000"/>
                </a:solidFill>
                <a:latin typeface="Tahoma" panose="02020603050405020304" pitchFamily="2"/>
              </a:rPr>
              <a:t>and seeing them as a solution to emotional distress. </a:t>
            </a:r>
          </a:p>
          <a:p>
            <a:endParaRPr lang="en-US" sz="900" spc="-15" dirty="0" smtClean="0">
              <a:solidFill>
                <a:srgbClr val="000000"/>
              </a:solidFill>
              <a:latin typeface="Tahoma" panose="02020603050405020304" pitchFamily="2"/>
            </a:endParaRPr>
          </a:p>
          <a:p>
            <a:r>
              <a:rPr lang="en-US" sz="900" b="1" spc="0" dirty="0" smtClean="0">
                <a:solidFill>
                  <a:srgbClr val="000000"/>
                </a:solidFill>
                <a:latin typeface="Tahoma" panose="02020603050405020304" pitchFamily="2"/>
              </a:rPr>
              <a:t>Session 2: </a:t>
            </a:r>
            <a:r>
              <a:rPr lang="en-US" sz="900" spc="0" dirty="0" smtClean="0">
                <a:solidFill>
                  <a:srgbClr val="000000"/>
                </a:solidFill>
                <a:latin typeface="Tahoma" panose="02020603050405020304" pitchFamily="2"/>
              </a:rPr>
              <a:t>Emotional Stuckness – Focusing on our own Anxiety. Understanding how it affects us and how we can overcome it.</a:t>
            </a:r>
          </a:p>
          <a:p>
            <a:endParaRPr lang="en-US" sz="900" spc="0" dirty="0" smtClean="0">
              <a:solidFill>
                <a:srgbClr val="000000"/>
              </a:solidFill>
              <a:latin typeface="Tahoma" panose="02020603050405020304" pitchFamily="2"/>
            </a:endParaRPr>
          </a:p>
          <a:p>
            <a:r>
              <a:rPr lang="en-US" sz="900" b="1" spc="-5" dirty="0" smtClean="0">
                <a:solidFill>
                  <a:srgbClr val="000000"/>
                </a:solidFill>
                <a:latin typeface="Tahoma" panose="02020603050405020304" pitchFamily="2"/>
              </a:rPr>
              <a:t>Session 3: </a:t>
            </a:r>
            <a:r>
              <a:rPr lang="en-US" sz="900" spc="-5" dirty="0" smtClean="0">
                <a:solidFill>
                  <a:srgbClr val="000000"/>
                </a:solidFill>
                <a:latin typeface="Tahoma" panose="02020603050405020304" pitchFamily="2"/>
              </a:rPr>
              <a:t>Self Esteem – Understanding the concept of Self Esteem  </a:t>
            </a:r>
            <a:r>
              <a:rPr lang="en-US" sz="900" spc="-15" dirty="0" smtClean="0">
                <a:solidFill>
                  <a:srgbClr val="000000"/>
                </a:solidFill>
                <a:latin typeface="Tahoma" panose="02020603050405020304" pitchFamily="2"/>
              </a:rPr>
              <a:t>and how we can improve our sense of self. </a:t>
            </a:r>
          </a:p>
          <a:p>
            <a:endParaRPr lang="en-US" sz="900" spc="-15" dirty="0" smtClean="0">
              <a:solidFill>
                <a:srgbClr val="000000"/>
              </a:solidFill>
              <a:latin typeface="Tahoma" panose="02020603050405020304" pitchFamily="2"/>
            </a:endParaRPr>
          </a:p>
          <a:p>
            <a:r>
              <a:rPr lang="en-US" sz="900" b="1" spc="5" dirty="0" smtClean="0">
                <a:solidFill>
                  <a:srgbClr val="000000"/>
                </a:solidFill>
                <a:latin typeface="Tahoma" panose="02020603050405020304" pitchFamily="2"/>
              </a:rPr>
              <a:t>Session 4: </a:t>
            </a:r>
            <a:r>
              <a:rPr lang="en-US" sz="900" spc="5" dirty="0" smtClean="0">
                <a:solidFill>
                  <a:srgbClr val="000000"/>
                </a:solidFill>
                <a:latin typeface="Tahoma" panose="02020603050405020304" pitchFamily="2"/>
              </a:rPr>
              <a:t>Looking at Communication – How we express ourselves </a:t>
            </a:r>
            <a:r>
              <a:rPr lang="en-US" sz="900" spc="-15" dirty="0" smtClean="0">
                <a:solidFill>
                  <a:srgbClr val="000000"/>
                </a:solidFill>
                <a:latin typeface="Tahoma" panose="02020603050405020304" pitchFamily="2"/>
              </a:rPr>
              <a:t>to others and building peer support. </a:t>
            </a:r>
          </a:p>
          <a:p>
            <a:endParaRPr lang="en-US" sz="900" spc="-15" dirty="0" smtClean="0">
              <a:solidFill>
                <a:srgbClr val="000000"/>
              </a:solidFill>
              <a:latin typeface="Tahoma" panose="02020603050405020304" pitchFamily="2"/>
            </a:endParaRPr>
          </a:p>
          <a:p>
            <a:r>
              <a:rPr lang="en-US" sz="900" b="1" spc="0" dirty="0" smtClean="0">
                <a:solidFill>
                  <a:srgbClr val="000000"/>
                </a:solidFill>
                <a:latin typeface="Tahoma" panose="02020603050405020304" pitchFamily="2"/>
              </a:rPr>
              <a:t>Session 5: </a:t>
            </a:r>
            <a:r>
              <a:rPr lang="en-US" sz="900" spc="0" dirty="0" smtClean="0">
                <a:solidFill>
                  <a:srgbClr val="000000"/>
                </a:solidFill>
                <a:latin typeface="Tahoma" panose="02020603050405020304" pitchFamily="2"/>
              </a:rPr>
              <a:t>The Risks We Pose to Ourselves – Using Peer consultancy looking at the various risks we pose to ourselves and others pose to us.</a:t>
            </a:r>
          </a:p>
          <a:p>
            <a:r>
              <a:rPr lang="en-US" sz="900" spc="0" dirty="0" smtClean="0">
                <a:solidFill>
                  <a:srgbClr val="000000"/>
                </a:solidFill>
                <a:latin typeface="Tahoma" panose="02020603050405020304" pitchFamily="2"/>
              </a:rPr>
              <a:t> </a:t>
            </a:r>
          </a:p>
          <a:p>
            <a:r>
              <a:rPr lang="en-US" sz="900" b="1" spc="0" dirty="0" smtClean="0">
                <a:solidFill>
                  <a:srgbClr val="000000"/>
                </a:solidFill>
                <a:latin typeface="Tahoma" panose="02020603050405020304" pitchFamily="2"/>
              </a:rPr>
              <a:t>Session 6: </a:t>
            </a:r>
            <a:r>
              <a:rPr lang="en-US" sz="900" spc="0" dirty="0" smtClean="0">
                <a:solidFill>
                  <a:srgbClr val="000000"/>
                </a:solidFill>
                <a:latin typeface="Tahoma" panose="02020603050405020304" pitchFamily="2"/>
              </a:rPr>
              <a:t>Looking After Yourself – Understanding the concept of Stress and how this manifests itself, especially being a Parent. What we can do to manage this and maintain our own emotional resilience. </a:t>
            </a:r>
          </a:p>
          <a:p>
            <a:endParaRPr lang="en-US" sz="900" spc="-15" dirty="0" smtClean="0">
              <a:solidFill>
                <a:srgbClr val="000000"/>
              </a:solidFill>
              <a:latin typeface="Tahoma" panose="02020603050405020304" pitchFamily="2"/>
            </a:endParaRPr>
          </a:p>
          <a:p>
            <a:r>
              <a:rPr lang="en-US" sz="900" spc="-10" dirty="0" smtClean="0">
                <a:solidFill>
                  <a:srgbClr val="000000"/>
                </a:solidFill>
                <a:latin typeface="Tahoma" panose="02020603050405020304" pitchFamily="2"/>
              </a:rPr>
              <a:t>We are using the Warwick-Edinburgh Wellbeing Scale to evaluate the </a:t>
            </a:r>
            <a:r>
              <a:rPr lang="en-US" sz="900" spc="-25" dirty="0" smtClean="0">
                <a:solidFill>
                  <a:srgbClr val="000000"/>
                </a:solidFill>
                <a:latin typeface="Tahoma" panose="02020603050405020304" pitchFamily="2"/>
              </a:rPr>
              <a:t>efficacy of this training. </a:t>
            </a:r>
            <a:endParaRPr lang="en-US" sz="900" spc="0" dirty="0" smtClean="0">
              <a:solidFill>
                <a:srgbClr val="000000"/>
              </a:solidFill>
              <a:latin typeface="Tahoma" panose="02020603050405020304" pitchFamily="2"/>
            </a:endParaRPr>
          </a:p>
          <a:p>
            <a:endParaRPr lang="en-GB" sz="900" dirty="0"/>
          </a:p>
        </p:txBody>
      </p:sp>
      <p:sp>
        <p:nvSpPr>
          <p:cNvPr id="8" name="TextBox 7"/>
          <p:cNvSpPr txBox="1"/>
          <p:nvPr/>
        </p:nvSpPr>
        <p:spPr>
          <a:xfrm>
            <a:off x="5148064" y="4465266"/>
            <a:ext cx="3456384" cy="1754326"/>
          </a:xfrm>
          <a:prstGeom prst="rect">
            <a:avLst/>
          </a:prstGeom>
          <a:solidFill>
            <a:schemeClr val="accent4">
              <a:lumMod val="40000"/>
              <a:lumOff val="60000"/>
            </a:schemeClr>
          </a:solidFill>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sz="900" dirty="0" smtClean="0">
                <a:latin typeface="Tahoma" panose="020B0604030504040204" pitchFamily="34" charset="0"/>
                <a:ea typeface="Tahoma" panose="020B0604030504040204" pitchFamily="34" charset="0"/>
                <a:cs typeface="Tahoma" panose="020B0604030504040204" pitchFamily="34" charset="0"/>
              </a:rPr>
              <a:t>Course Dates:</a:t>
            </a:r>
          </a:p>
          <a:p>
            <a:r>
              <a:rPr lang="en-GB" sz="900" dirty="0" smtClean="0">
                <a:latin typeface="Tahoma" panose="020B0604030504040204" pitchFamily="34" charset="0"/>
                <a:ea typeface="Tahoma" panose="020B0604030504040204" pitchFamily="34" charset="0"/>
                <a:cs typeface="Tahoma" panose="020B0604030504040204" pitchFamily="34" charset="0"/>
              </a:rPr>
              <a:t>Every Friday from 21</a:t>
            </a:r>
            <a:r>
              <a:rPr lang="en-GB" sz="900" baseline="30000" dirty="0" smtClean="0">
                <a:latin typeface="Tahoma" panose="020B0604030504040204" pitchFamily="34" charset="0"/>
                <a:ea typeface="Tahoma" panose="020B0604030504040204" pitchFamily="34" charset="0"/>
                <a:cs typeface="Tahoma" panose="020B0604030504040204" pitchFamily="34" charset="0"/>
              </a:rPr>
              <a:t>st</a:t>
            </a:r>
            <a:r>
              <a:rPr lang="en-GB" sz="900" dirty="0" smtClean="0">
                <a:latin typeface="Tahoma" panose="020B0604030504040204" pitchFamily="34" charset="0"/>
                <a:ea typeface="Tahoma" panose="020B0604030504040204" pitchFamily="34" charset="0"/>
                <a:cs typeface="Tahoma" panose="020B0604030504040204" pitchFamily="34" charset="0"/>
              </a:rPr>
              <a:t> April to 19</a:t>
            </a:r>
            <a:r>
              <a:rPr lang="en-GB" sz="900" baseline="30000" dirty="0" smtClean="0">
                <a:latin typeface="Tahoma" panose="020B0604030504040204" pitchFamily="34" charset="0"/>
                <a:ea typeface="Tahoma" panose="020B0604030504040204" pitchFamily="34" charset="0"/>
                <a:cs typeface="Tahoma" panose="020B0604030504040204" pitchFamily="34" charset="0"/>
              </a:rPr>
              <a:t>th</a:t>
            </a:r>
            <a:r>
              <a:rPr lang="en-GB" sz="900" dirty="0" smtClean="0">
                <a:latin typeface="Tahoma" panose="020B0604030504040204" pitchFamily="34" charset="0"/>
                <a:ea typeface="Tahoma" panose="020B0604030504040204" pitchFamily="34" charset="0"/>
                <a:cs typeface="Tahoma" panose="020B0604030504040204" pitchFamily="34" charset="0"/>
              </a:rPr>
              <a:t> May with a final session on Monday 22</a:t>
            </a:r>
            <a:r>
              <a:rPr lang="en-GB" sz="900" baseline="30000" dirty="0" smtClean="0">
                <a:latin typeface="Tahoma" panose="020B0604030504040204" pitchFamily="34" charset="0"/>
                <a:ea typeface="Tahoma" panose="020B0604030504040204" pitchFamily="34" charset="0"/>
                <a:cs typeface="Tahoma" panose="020B0604030504040204" pitchFamily="34" charset="0"/>
              </a:rPr>
              <a:t>nd</a:t>
            </a:r>
            <a:r>
              <a:rPr lang="en-GB" sz="900" dirty="0" smtClean="0">
                <a:latin typeface="Tahoma" panose="020B0604030504040204" pitchFamily="34" charset="0"/>
                <a:ea typeface="Tahoma" panose="020B0604030504040204" pitchFamily="34" charset="0"/>
                <a:cs typeface="Tahoma" panose="020B0604030504040204" pitchFamily="34" charset="0"/>
              </a:rPr>
              <a:t> May 2017. </a:t>
            </a:r>
          </a:p>
          <a:p>
            <a:r>
              <a:rPr lang="en-GB" sz="900" dirty="0" smtClean="0">
                <a:latin typeface="Tahoma" panose="020B0604030504040204" pitchFamily="34" charset="0"/>
                <a:ea typeface="Tahoma" panose="020B0604030504040204" pitchFamily="34" charset="0"/>
                <a:cs typeface="Tahoma" panose="020B0604030504040204" pitchFamily="34" charset="0"/>
              </a:rPr>
              <a:t> </a:t>
            </a:r>
          </a:p>
          <a:p>
            <a:r>
              <a:rPr lang="en-GB" sz="900" dirty="0" smtClean="0">
                <a:latin typeface="Tahoma" panose="020B0604030504040204" pitchFamily="34" charset="0"/>
                <a:ea typeface="Tahoma" panose="020B0604030504040204" pitchFamily="34" charset="0"/>
                <a:cs typeface="Tahoma" panose="020B0604030504040204" pitchFamily="34" charset="0"/>
              </a:rPr>
              <a:t>Venue: Maidenhead Town Hall</a:t>
            </a:r>
            <a:r>
              <a:rPr lang="en-GB" sz="900" dirty="0">
                <a:latin typeface="Tahoma" panose="020B0604030504040204" pitchFamily="34" charset="0"/>
                <a:ea typeface="Tahoma" panose="020B0604030504040204" pitchFamily="34" charset="0"/>
                <a:cs typeface="Tahoma" panose="020B0604030504040204" pitchFamily="34" charset="0"/>
              </a:rPr>
              <a:t>, </a:t>
            </a:r>
            <a:r>
              <a:rPr lang="en-GB" sz="900" dirty="0" smtClean="0">
                <a:latin typeface="Tahoma" panose="020B0604030504040204" pitchFamily="34" charset="0"/>
                <a:ea typeface="Tahoma" panose="020B0604030504040204" pitchFamily="34" charset="0"/>
                <a:cs typeface="Tahoma" panose="020B0604030504040204" pitchFamily="34" charset="0"/>
              </a:rPr>
              <a:t>St </a:t>
            </a:r>
            <a:r>
              <a:rPr lang="en-GB" sz="900" dirty="0">
                <a:latin typeface="Tahoma" panose="020B0604030504040204" pitchFamily="34" charset="0"/>
                <a:ea typeface="Tahoma" panose="020B0604030504040204" pitchFamily="34" charset="0"/>
                <a:cs typeface="Tahoma" panose="020B0604030504040204" pitchFamily="34" charset="0"/>
              </a:rPr>
              <a:t>Ives Road, T</a:t>
            </a:r>
            <a:r>
              <a:rPr lang="en-GB" sz="900" dirty="0" smtClean="0">
                <a:latin typeface="Tahoma" panose="020B0604030504040204" pitchFamily="34" charset="0"/>
                <a:ea typeface="Tahoma" panose="020B0604030504040204" pitchFamily="34" charset="0"/>
                <a:cs typeface="Tahoma" panose="020B0604030504040204" pitchFamily="34" charset="0"/>
              </a:rPr>
              <a:t>he </a:t>
            </a:r>
            <a:r>
              <a:rPr lang="en-GB" sz="900" dirty="0">
                <a:latin typeface="Tahoma" panose="020B0604030504040204" pitchFamily="34" charset="0"/>
                <a:ea typeface="Tahoma" panose="020B0604030504040204" pitchFamily="34" charset="0"/>
                <a:cs typeface="Tahoma" panose="020B0604030504040204" pitchFamily="34" charset="0"/>
              </a:rPr>
              <a:t>Desborough </a:t>
            </a:r>
            <a:r>
              <a:rPr lang="en-GB" sz="900">
                <a:latin typeface="Tahoma" panose="020B0604030504040204" pitchFamily="34" charset="0"/>
                <a:ea typeface="Tahoma" panose="020B0604030504040204" pitchFamily="34" charset="0"/>
                <a:cs typeface="Tahoma" panose="020B0604030504040204" pitchFamily="34" charset="0"/>
              </a:rPr>
              <a:t>Suite </a:t>
            </a:r>
            <a:r>
              <a:rPr lang="en-GB" sz="900" smtClean="0">
                <a:latin typeface="Tahoma" panose="020B0604030504040204" pitchFamily="34" charset="0"/>
                <a:ea typeface="Tahoma" panose="020B0604030504040204" pitchFamily="34" charset="0"/>
                <a:cs typeface="Tahoma" panose="020B0604030504040204" pitchFamily="34" charset="0"/>
              </a:rPr>
              <a:t>2/3.</a:t>
            </a:r>
            <a:endParaRPr lang="en-GB" sz="900" dirty="0" smtClean="0">
              <a:latin typeface="Tahoma" panose="020B0604030504040204" pitchFamily="34" charset="0"/>
              <a:ea typeface="Tahoma" panose="020B0604030504040204" pitchFamily="34" charset="0"/>
              <a:cs typeface="Tahoma" panose="020B0604030504040204" pitchFamily="34" charset="0"/>
            </a:endParaRPr>
          </a:p>
          <a:p>
            <a:r>
              <a:rPr lang="en-GB" sz="900" dirty="0" smtClean="0">
                <a:latin typeface="Tahoma" panose="020B0604030504040204" pitchFamily="34" charset="0"/>
                <a:ea typeface="Tahoma" panose="020B0604030504040204" pitchFamily="34" charset="0"/>
                <a:cs typeface="Tahoma" panose="020B0604030504040204" pitchFamily="34" charset="0"/>
              </a:rPr>
              <a:t>SL6 1RF  Maidenhead. </a:t>
            </a:r>
            <a:endParaRPr lang="en-GB" sz="900" dirty="0">
              <a:latin typeface="Tahoma" panose="020B0604030504040204" pitchFamily="34" charset="0"/>
              <a:ea typeface="Tahoma" panose="020B0604030504040204" pitchFamily="34" charset="0"/>
              <a:cs typeface="Tahoma" panose="020B0604030504040204" pitchFamily="34" charset="0"/>
            </a:endParaRPr>
          </a:p>
          <a:p>
            <a:endParaRPr lang="en-GB" sz="900" dirty="0" smtClean="0">
              <a:latin typeface="Tahoma" panose="020B0604030504040204" pitchFamily="34" charset="0"/>
              <a:ea typeface="Tahoma" panose="020B0604030504040204" pitchFamily="34" charset="0"/>
              <a:cs typeface="Tahoma" panose="020B0604030504040204" pitchFamily="34" charset="0"/>
            </a:endParaRPr>
          </a:p>
          <a:p>
            <a:r>
              <a:rPr lang="en-GB" sz="900" dirty="0" smtClean="0">
                <a:latin typeface="Tahoma" panose="020B0604030504040204" pitchFamily="34" charset="0"/>
                <a:ea typeface="Tahoma" panose="020B0604030504040204" pitchFamily="34" charset="0"/>
                <a:cs typeface="Tahoma" panose="020B0604030504040204" pitchFamily="34" charset="0"/>
              </a:rPr>
              <a:t>Facilitators: Dr Beth Turner &amp; Scott I-Patrick</a:t>
            </a:r>
          </a:p>
          <a:p>
            <a:endParaRPr lang="en-GB" sz="900" dirty="0" smtClean="0">
              <a:latin typeface="Tahoma" panose="020B0604030504040204" pitchFamily="34" charset="0"/>
              <a:ea typeface="Tahoma" panose="020B0604030504040204" pitchFamily="34" charset="0"/>
              <a:cs typeface="Tahoma" panose="020B0604030504040204" pitchFamily="34" charset="0"/>
            </a:endParaRPr>
          </a:p>
          <a:p>
            <a:r>
              <a:rPr lang="en-GB" sz="900" dirty="0" smtClean="0">
                <a:latin typeface="Tahoma" panose="020B0604030504040204" pitchFamily="34" charset="0"/>
                <a:ea typeface="Tahoma" panose="020B0604030504040204" pitchFamily="34" charset="0"/>
                <a:cs typeface="Tahoma" panose="020B0604030504040204" pitchFamily="34" charset="0"/>
              </a:rPr>
              <a:t>If you are interested please complete the expression of interest form.</a:t>
            </a:r>
            <a:endParaRPr lang="en-GB" sz="900" dirty="0">
              <a:latin typeface="Tahoma" panose="020B0604030504040204" pitchFamily="34" charset="0"/>
              <a:ea typeface="Tahoma" panose="020B0604030504040204" pitchFamily="34" charset="0"/>
              <a:cs typeface="Tahoma" panose="020B0604030504040204" pitchFamily="34" charset="0"/>
            </a:endParaRPr>
          </a:p>
        </p:txBody>
      </p:sp>
      <p:sp>
        <p:nvSpPr>
          <p:cNvPr id="6" name="Rectangle 5"/>
          <p:cNvSpPr/>
          <p:nvPr/>
        </p:nvSpPr>
        <p:spPr>
          <a:xfrm>
            <a:off x="29491" y="116632"/>
            <a:ext cx="4572000" cy="3000821"/>
          </a:xfrm>
          <a:prstGeom prst="rect">
            <a:avLst/>
          </a:prstGeom>
        </p:spPr>
        <p:txBody>
          <a:bodyPr>
            <a:spAutoFit/>
          </a:bodyPr>
          <a:lstStyle/>
          <a:p>
            <a:pPr>
              <a:lnSpc>
                <a:spcPct val="150000"/>
              </a:lnSpc>
            </a:pPr>
            <a:r>
              <a:rPr lang="en-GB" sz="900" b="1" dirty="0" smtClean="0">
                <a:latin typeface="Tahoma" panose="020B0604030504040204" pitchFamily="34" charset="0"/>
                <a:ea typeface="Tahoma" panose="020B0604030504040204" pitchFamily="34" charset="0"/>
                <a:cs typeface="Tahoma" panose="020B0604030504040204" pitchFamily="34" charset="0"/>
              </a:rPr>
              <a:t>Overview </a:t>
            </a:r>
            <a:r>
              <a:rPr lang="en-GB" sz="900" b="1" dirty="0">
                <a:latin typeface="Tahoma" panose="020B0604030504040204" pitchFamily="34" charset="0"/>
                <a:ea typeface="Tahoma" panose="020B0604030504040204" pitchFamily="34" charset="0"/>
                <a:cs typeface="Tahoma" panose="020B0604030504040204" pitchFamily="34" charset="0"/>
              </a:rPr>
              <a:t>of the </a:t>
            </a:r>
            <a:r>
              <a:rPr lang="en-GB" sz="900" b="1" dirty="0" smtClean="0">
                <a:latin typeface="Tahoma" panose="020B0604030504040204" pitchFamily="34" charset="0"/>
                <a:ea typeface="Tahoma" panose="020B0604030504040204" pitchFamily="34" charset="0"/>
                <a:cs typeface="Tahoma" panose="020B0604030504040204" pitchFamily="34" charset="0"/>
              </a:rPr>
              <a:t>course…</a:t>
            </a:r>
          </a:p>
          <a:p>
            <a:pPr>
              <a:lnSpc>
                <a:spcPct val="150000"/>
              </a:lnSpc>
            </a:pPr>
            <a:r>
              <a:rPr lang="en-GB" sz="900" b="1" dirty="0" smtClean="0">
                <a:latin typeface="Tahoma" panose="020B0604030504040204" pitchFamily="34" charset="0"/>
                <a:ea typeface="Tahoma" panose="020B0604030504040204" pitchFamily="34" charset="0"/>
                <a:cs typeface="Tahoma" panose="020B0604030504040204" pitchFamily="34" charset="0"/>
              </a:rPr>
              <a:t>Everyone </a:t>
            </a:r>
            <a:r>
              <a:rPr lang="en-GB" sz="900" b="1" dirty="0">
                <a:latin typeface="Tahoma" panose="020B0604030504040204" pitchFamily="34" charset="0"/>
                <a:ea typeface="Tahoma" panose="020B0604030504040204" pitchFamily="34" charset="0"/>
                <a:cs typeface="Tahoma" panose="020B0604030504040204" pitchFamily="34" charset="0"/>
              </a:rPr>
              <a:t>knows you’re a parent… but do you remember who you are! </a:t>
            </a:r>
            <a:r>
              <a:rPr lang="en-GB" sz="900" dirty="0">
                <a:latin typeface="Tahoma" panose="020B0604030504040204" pitchFamily="34" charset="0"/>
                <a:ea typeface="Tahoma" panose="020B0604030504040204" pitchFamily="34" charset="0"/>
                <a:cs typeface="Tahoma" panose="020B0604030504040204" pitchFamily="34" charset="0"/>
              </a:rPr>
              <a:t> </a:t>
            </a:r>
          </a:p>
          <a:p>
            <a:pPr>
              <a:lnSpc>
                <a:spcPct val="150000"/>
              </a:lnSpc>
            </a:pPr>
            <a:r>
              <a:rPr lang="en-GB" sz="900" dirty="0">
                <a:latin typeface="Tahoma" panose="020B0604030504040204" pitchFamily="34" charset="0"/>
                <a:ea typeface="Tahoma" panose="020B0604030504040204" pitchFamily="34" charset="0"/>
                <a:cs typeface="Tahoma" panose="020B0604030504040204" pitchFamily="34" charset="0"/>
              </a:rPr>
              <a:t>When we become parents our priorities change, we take on the responsibility of another little person and we tend to get so focused on this we forget we are still a person in our own </a:t>
            </a:r>
            <a:r>
              <a:rPr lang="en-GB" sz="900" dirty="0" smtClean="0">
                <a:latin typeface="Tahoma" panose="020B0604030504040204" pitchFamily="34" charset="0"/>
                <a:ea typeface="Tahoma" panose="020B0604030504040204" pitchFamily="34" charset="0"/>
                <a:cs typeface="Tahoma" panose="020B0604030504040204" pitchFamily="34" charset="0"/>
              </a:rPr>
              <a:t>right.</a:t>
            </a:r>
          </a:p>
          <a:p>
            <a:pPr>
              <a:lnSpc>
                <a:spcPct val="150000"/>
              </a:lnSpc>
            </a:pPr>
            <a:endParaRPr lang="en-GB" sz="9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GB" sz="900" b="1" dirty="0">
                <a:latin typeface="Tahoma" panose="020B0604030504040204" pitchFamily="34" charset="0"/>
                <a:ea typeface="Tahoma" panose="020B0604030504040204" pitchFamily="34" charset="0"/>
                <a:cs typeface="Tahoma" panose="020B0604030504040204" pitchFamily="34" charset="0"/>
              </a:rPr>
              <a:t>Parents’ emotional first aid will help you re-discover you</a:t>
            </a:r>
            <a:r>
              <a:rPr lang="en-GB" sz="900" b="1" dirty="0" smtClean="0">
                <a:latin typeface="Tahoma" panose="020B0604030504040204" pitchFamily="34" charset="0"/>
                <a:ea typeface="Tahoma" panose="020B0604030504040204" pitchFamily="34" charset="0"/>
                <a:cs typeface="Tahoma" panose="020B0604030504040204" pitchFamily="34" charset="0"/>
              </a:rPr>
              <a:t>!</a:t>
            </a:r>
            <a:endParaRPr lang="en-GB" sz="9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GB" sz="900" dirty="0">
                <a:latin typeface="Tahoma" panose="020B0604030504040204" pitchFamily="34" charset="0"/>
                <a:ea typeface="Tahoma" panose="020B0604030504040204" pitchFamily="34" charset="0"/>
                <a:cs typeface="Tahoma" panose="020B0604030504040204" pitchFamily="34" charset="0"/>
              </a:rPr>
              <a:t>We sometimes feel that we must be the only person in the world feeling the way we feel. Parents’ emotional first aid will help you recognise that we all share similar thoughts, feelings, emotions and behaviours to varying degrees.</a:t>
            </a:r>
          </a:p>
          <a:p>
            <a:pPr>
              <a:lnSpc>
                <a:spcPct val="150000"/>
              </a:lnSpc>
            </a:pPr>
            <a:r>
              <a:rPr lang="en-GB" sz="900" dirty="0">
                <a:latin typeface="Tahoma" panose="020B0604030504040204" pitchFamily="34" charset="0"/>
                <a:ea typeface="Tahoma" panose="020B0604030504040204" pitchFamily="34" charset="0"/>
                <a:cs typeface="Tahoma" panose="020B0604030504040204" pitchFamily="34" charset="0"/>
              </a:rPr>
              <a:t>The course helps to create strategies for our anxieties; identify the stress factors in our everyday lives; gain a better understanding of ourselves and promote a healthier sense of our own wellbeing</a:t>
            </a:r>
            <a:r>
              <a:rPr lang="en-GB" sz="900" dirty="0" smtClean="0">
                <a:latin typeface="Tahoma" panose="020B0604030504040204" pitchFamily="34" charset="0"/>
                <a:ea typeface="Tahoma" panose="020B0604030504040204" pitchFamily="34" charset="0"/>
                <a:cs typeface="Tahoma" panose="020B0604030504040204" pitchFamily="34" charset="0"/>
              </a:rPr>
              <a:t>.</a:t>
            </a:r>
          </a:p>
          <a:p>
            <a:pPr>
              <a:lnSpc>
                <a:spcPct val="150000"/>
              </a:lnSpc>
            </a:pPr>
            <a:endParaRPr lang="en-GB" sz="9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90946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TotalTime>
  <Words>376</Words>
  <Application>Microsoft Office PowerPoint</Application>
  <PresentationFormat>On-screen Show (4:3)</PresentationFormat>
  <Paragraphs>48</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Tracy Hammond</dc:creator>
  <cp:lastModifiedBy>localprofile</cp:lastModifiedBy>
  <cp:revision>21</cp:revision>
  <cp:lastPrinted>2016-11-30T09:07:21Z</cp:lastPrinted>
  <dcterms:created xsi:type="dcterms:W3CDTF">2016-11-22T13:59:57Z</dcterms:created>
  <dcterms:modified xsi:type="dcterms:W3CDTF">2017-01-05T21:06:54Z</dcterms:modified>
</cp:coreProperties>
</file>