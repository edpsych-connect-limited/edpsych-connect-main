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diagrams/layout1.xml" ContentType="application/vnd.openxmlformats-officedocument.drawingml.diagram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diagrams/quickStyle1.xml" ContentType="application/vnd.openxmlformats-officedocument.drawingml.diagramStyle+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302" r:id="rId3"/>
    <p:sldId id="344" r:id="rId4"/>
    <p:sldId id="345" r:id="rId5"/>
    <p:sldId id="348" r:id="rId6"/>
    <p:sldId id="346" r:id="rId7"/>
    <p:sldId id="313" r:id="rId8"/>
    <p:sldId id="314" r:id="rId9"/>
    <p:sldId id="315" r:id="rId10"/>
    <p:sldId id="316" r:id="rId11"/>
    <p:sldId id="318" r:id="rId12"/>
    <p:sldId id="321" r:id="rId13"/>
    <p:sldId id="323" r:id="rId14"/>
    <p:sldId id="325" r:id="rId15"/>
    <p:sldId id="327" r:id="rId16"/>
    <p:sldId id="331" r:id="rId17"/>
    <p:sldId id="332" r:id="rId18"/>
    <p:sldId id="333" r:id="rId19"/>
    <p:sldId id="334" r:id="rId20"/>
    <p:sldId id="335" r:id="rId21"/>
    <p:sldId id="336" r:id="rId22"/>
    <p:sldId id="337" r:id="rId23"/>
    <p:sldId id="338" r:id="rId24"/>
    <p:sldId id="347" r:id="rId25"/>
    <p:sldId id="341" r:id="rId26"/>
    <p:sldId id="342" r:id="rId27"/>
    <p:sldId id="343" r:id="rId28"/>
    <p:sldId id="274"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4C239"/>
    <a:srgbClr val="47434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8" autoAdjust="0"/>
    <p:restoredTop sz="56452" autoAdjust="0"/>
  </p:normalViewPr>
  <p:slideViewPr>
    <p:cSldViewPr snapToGrid="0" snapToObjects="1">
      <p:cViewPr varScale="1">
        <p:scale>
          <a:sx n="39" d="100"/>
          <a:sy n="39" d="100"/>
        </p:scale>
        <p:origin x="-2040"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3D5E48-35B6-4C3F-9744-423423412714}" type="doc">
      <dgm:prSet loTypeId="urn:microsoft.com/office/officeart/2009/3/layout/HorizontalOrganizationChart" loCatId="hierarchy" qsTypeId="urn:microsoft.com/office/officeart/2005/8/quickstyle/simple1" qsCatId="simple" csTypeId="urn:microsoft.com/office/officeart/2005/8/colors/colorful5" csCatId="colorful" phldr="1"/>
      <dgm:spPr/>
      <dgm:t>
        <a:bodyPr/>
        <a:lstStyle/>
        <a:p>
          <a:endParaRPr lang="en-GB"/>
        </a:p>
      </dgm:t>
    </dgm:pt>
    <dgm:pt modelId="{FD0A5B77-C585-498E-9982-E9F7DB17243D}">
      <dgm:prSet phldrT="[Text]"/>
      <dgm:spPr>
        <a:solidFill>
          <a:srgbClr val="73267A"/>
        </a:solidFill>
      </dgm:spPr>
      <dgm:t>
        <a:bodyPr/>
        <a:lstStyle/>
        <a:p>
          <a:r>
            <a:rPr lang="en-GB" dirty="0" smtClean="0"/>
            <a:t>Practice</a:t>
          </a:r>
          <a:endParaRPr lang="en-GB" dirty="0"/>
        </a:p>
      </dgm:t>
    </dgm:pt>
    <dgm:pt modelId="{F23B3DF6-E387-4812-985B-45E8AF8C58C7}" type="parTrans" cxnId="{278F9965-99F6-4926-A85C-61C7EA6C83BE}">
      <dgm:prSet/>
      <dgm:spPr/>
      <dgm:t>
        <a:bodyPr/>
        <a:lstStyle/>
        <a:p>
          <a:endParaRPr lang="en-GB"/>
        </a:p>
      </dgm:t>
    </dgm:pt>
    <dgm:pt modelId="{C23E7994-B71B-4573-A5E5-E03E66671E38}" type="sibTrans" cxnId="{278F9965-99F6-4926-A85C-61C7EA6C83BE}">
      <dgm:prSet/>
      <dgm:spPr/>
      <dgm:t>
        <a:bodyPr/>
        <a:lstStyle/>
        <a:p>
          <a:endParaRPr lang="en-GB"/>
        </a:p>
      </dgm:t>
    </dgm:pt>
    <dgm:pt modelId="{B0B4E00A-6165-4FDE-B32F-8836B2AB61A2}" type="asst">
      <dgm:prSet phldrT="[Text]"/>
      <dgm:spPr>
        <a:solidFill>
          <a:srgbClr val="800080"/>
        </a:solidFill>
      </dgm:spPr>
      <dgm:t>
        <a:bodyPr/>
        <a:lstStyle/>
        <a:p>
          <a:r>
            <a:rPr lang="en-GB" dirty="0" smtClean="0"/>
            <a:t>Deployment</a:t>
          </a:r>
          <a:endParaRPr lang="en-GB" dirty="0"/>
        </a:p>
      </dgm:t>
    </dgm:pt>
    <dgm:pt modelId="{7FBD5283-47FE-4AAF-9FF9-E4E237EA31B0}" type="parTrans" cxnId="{1332E873-9146-4257-929C-936F1D4F4242}">
      <dgm:prSet/>
      <dgm:spPr/>
      <dgm:t>
        <a:bodyPr/>
        <a:lstStyle/>
        <a:p>
          <a:endParaRPr lang="en-GB" dirty="0"/>
        </a:p>
      </dgm:t>
    </dgm:pt>
    <dgm:pt modelId="{4E5A3C32-D038-4DB7-A825-BB105C53FC7E}" type="sibTrans" cxnId="{1332E873-9146-4257-929C-936F1D4F4242}">
      <dgm:prSet/>
      <dgm:spPr/>
      <dgm:t>
        <a:bodyPr/>
        <a:lstStyle/>
        <a:p>
          <a:endParaRPr lang="en-GB"/>
        </a:p>
      </dgm:t>
    </dgm:pt>
    <dgm:pt modelId="{F4858900-4726-4EAE-B0C9-4F7D4E62E7AE}">
      <dgm:prSet phldrT="[Text]"/>
      <dgm:spPr>
        <a:solidFill>
          <a:srgbClr val="800080"/>
        </a:solidFill>
      </dgm:spPr>
      <dgm:t>
        <a:bodyPr/>
        <a:lstStyle/>
        <a:p>
          <a:r>
            <a:rPr lang="en-GB" dirty="0" smtClean="0"/>
            <a:t>Preparedness</a:t>
          </a:r>
          <a:endParaRPr lang="en-GB" dirty="0"/>
        </a:p>
      </dgm:t>
    </dgm:pt>
    <dgm:pt modelId="{F4047545-EAAE-4AC0-9325-FCE23773C841}" type="parTrans" cxnId="{E7D268E0-F8C9-4BF0-8350-28C101B5814C}">
      <dgm:prSet/>
      <dgm:spPr/>
      <dgm:t>
        <a:bodyPr/>
        <a:lstStyle/>
        <a:p>
          <a:endParaRPr lang="en-GB" dirty="0"/>
        </a:p>
      </dgm:t>
    </dgm:pt>
    <dgm:pt modelId="{A2AED188-79A9-4F7E-9AA4-8305768BA170}" type="sibTrans" cxnId="{E7D268E0-F8C9-4BF0-8350-28C101B5814C}">
      <dgm:prSet/>
      <dgm:spPr/>
      <dgm:t>
        <a:bodyPr/>
        <a:lstStyle/>
        <a:p>
          <a:endParaRPr lang="en-GB"/>
        </a:p>
      </dgm:t>
    </dgm:pt>
    <dgm:pt modelId="{490200F5-006C-4500-A8D6-4C3472A2FBC5}">
      <dgm:prSet phldrT="[Text]"/>
      <dgm:spPr>
        <a:solidFill>
          <a:srgbClr val="73267A"/>
        </a:solidFill>
      </dgm:spPr>
      <dgm:t>
        <a:bodyPr/>
        <a:lstStyle/>
        <a:p>
          <a:r>
            <a:rPr lang="en-GB" dirty="0" smtClean="0"/>
            <a:t>Characteristics</a:t>
          </a:r>
          <a:endParaRPr lang="en-GB" dirty="0"/>
        </a:p>
      </dgm:t>
    </dgm:pt>
    <dgm:pt modelId="{DC1DB0B0-1155-4901-AC90-92E4EF240F93}" type="parTrans" cxnId="{06C9F6F9-79CC-4AB5-B05A-35547A034B35}">
      <dgm:prSet/>
      <dgm:spPr/>
      <dgm:t>
        <a:bodyPr/>
        <a:lstStyle/>
        <a:p>
          <a:endParaRPr lang="en-GB" dirty="0"/>
        </a:p>
      </dgm:t>
    </dgm:pt>
    <dgm:pt modelId="{3A927FCC-140A-4310-8A75-17636E319B8C}" type="sibTrans" cxnId="{06C9F6F9-79CC-4AB5-B05A-35547A034B35}">
      <dgm:prSet/>
      <dgm:spPr/>
      <dgm:t>
        <a:bodyPr/>
        <a:lstStyle/>
        <a:p>
          <a:endParaRPr lang="en-GB"/>
        </a:p>
      </dgm:t>
    </dgm:pt>
    <dgm:pt modelId="{C1EF6F5C-CA6B-4A5B-AD71-E68AF6CEDF01}">
      <dgm:prSet phldrT="[Text]"/>
      <dgm:spPr>
        <a:solidFill>
          <a:srgbClr val="800080"/>
        </a:solidFill>
      </dgm:spPr>
      <dgm:t>
        <a:bodyPr/>
        <a:lstStyle/>
        <a:p>
          <a:r>
            <a:rPr lang="en-GB" dirty="0" smtClean="0"/>
            <a:t>Conditions of employment</a:t>
          </a:r>
          <a:endParaRPr lang="en-GB" dirty="0"/>
        </a:p>
      </dgm:t>
    </dgm:pt>
    <dgm:pt modelId="{52620E1F-44C2-49F6-8C6C-BC7A78C750BA}" type="parTrans" cxnId="{B09EE60B-9024-4C74-A189-17D67D6C822A}">
      <dgm:prSet/>
      <dgm:spPr/>
      <dgm:t>
        <a:bodyPr/>
        <a:lstStyle/>
        <a:p>
          <a:endParaRPr lang="en-GB" dirty="0"/>
        </a:p>
      </dgm:t>
    </dgm:pt>
    <dgm:pt modelId="{DF875FC8-FFC3-4303-B5D9-752EF9B77948}" type="sibTrans" cxnId="{B09EE60B-9024-4C74-A189-17D67D6C822A}">
      <dgm:prSet/>
      <dgm:spPr/>
      <dgm:t>
        <a:bodyPr/>
        <a:lstStyle/>
        <a:p>
          <a:endParaRPr lang="en-GB"/>
        </a:p>
      </dgm:t>
    </dgm:pt>
    <dgm:pt modelId="{A4110B4F-B42B-4315-A73B-2AB7F69B4452}" type="pres">
      <dgm:prSet presAssocID="{0E3D5E48-35B6-4C3F-9744-423423412714}" presName="hierChild1" presStyleCnt="0">
        <dgm:presLayoutVars>
          <dgm:orgChart val="1"/>
          <dgm:chPref val="1"/>
          <dgm:dir/>
          <dgm:animOne val="branch"/>
          <dgm:animLvl val="lvl"/>
          <dgm:resizeHandles/>
        </dgm:presLayoutVars>
      </dgm:prSet>
      <dgm:spPr/>
      <dgm:t>
        <a:bodyPr/>
        <a:lstStyle/>
        <a:p>
          <a:endParaRPr lang="en-GB"/>
        </a:p>
      </dgm:t>
    </dgm:pt>
    <dgm:pt modelId="{45ED8725-42A9-4D1F-B955-79305226E286}" type="pres">
      <dgm:prSet presAssocID="{FD0A5B77-C585-498E-9982-E9F7DB17243D}" presName="hierRoot1" presStyleCnt="0">
        <dgm:presLayoutVars>
          <dgm:hierBranch val="init"/>
        </dgm:presLayoutVars>
      </dgm:prSet>
      <dgm:spPr/>
      <dgm:t>
        <a:bodyPr/>
        <a:lstStyle/>
        <a:p>
          <a:endParaRPr lang="en-GB"/>
        </a:p>
      </dgm:t>
    </dgm:pt>
    <dgm:pt modelId="{0E8DAD6F-DEA5-40FB-905B-0BB32E3F902F}" type="pres">
      <dgm:prSet presAssocID="{FD0A5B77-C585-498E-9982-E9F7DB17243D}" presName="rootComposite1" presStyleCnt="0"/>
      <dgm:spPr/>
      <dgm:t>
        <a:bodyPr/>
        <a:lstStyle/>
        <a:p>
          <a:endParaRPr lang="en-GB"/>
        </a:p>
      </dgm:t>
    </dgm:pt>
    <dgm:pt modelId="{1C2829E8-19CE-4420-9B27-D9D18ADB6ED5}" type="pres">
      <dgm:prSet presAssocID="{FD0A5B77-C585-498E-9982-E9F7DB17243D}" presName="rootText1" presStyleLbl="node0" presStyleIdx="0" presStyleCnt="1">
        <dgm:presLayoutVars>
          <dgm:chPref val="3"/>
        </dgm:presLayoutVars>
      </dgm:prSet>
      <dgm:spPr/>
      <dgm:t>
        <a:bodyPr/>
        <a:lstStyle/>
        <a:p>
          <a:endParaRPr lang="en-GB"/>
        </a:p>
      </dgm:t>
    </dgm:pt>
    <dgm:pt modelId="{8F33D8A6-42A5-43DC-96C1-E83C5B7466A9}" type="pres">
      <dgm:prSet presAssocID="{FD0A5B77-C585-498E-9982-E9F7DB17243D}" presName="rootConnector1" presStyleLbl="node1" presStyleIdx="0" presStyleCnt="0"/>
      <dgm:spPr/>
      <dgm:t>
        <a:bodyPr/>
        <a:lstStyle/>
        <a:p>
          <a:endParaRPr lang="en-GB"/>
        </a:p>
      </dgm:t>
    </dgm:pt>
    <dgm:pt modelId="{7DD7F36D-24AA-4091-ACCB-1B00E9DBD3FD}" type="pres">
      <dgm:prSet presAssocID="{FD0A5B77-C585-498E-9982-E9F7DB17243D}" presName="hierChild2" presStyleCnt="0"/>
      <dgm:spPr/>
      <dgm:t>
        <a:bodyPr/>
        <a:lstStyle/>
        <a:p>
          <a:endParaRPr lang="en-GB"/>
        </a:p>
      </dgm:t>
    </dgm:pt>
    <dgm:pt modelId="{51B91C5E-8346-4416-9AB4-47557A274BD8}" type="pres">
      <dgm:prSet presAssocID="{F4047545-EAAE-4AC0-9325-FCE23773C841}" presName="Name64" presStyleLbl="parChTrans1D2" presStyleIdx="0" presStyleCnt="4"/>
      <dgm:spPr/>
      <dgm:t>
        <a:bodyPr/>
        <a:lstStyle/>
        <a:p>
          <a:endParaRPr lang="en-GB"/>
        </a:p>
      </dgm:t>
    </dgm:pt>
    <dgm:pt modelId="{16DD609C-8EB5-4899-A295-BF7CC7CE0D85}" type="pres">
      <dgm:prSet presAssocID="{F4858900-4726-4EAE-B0C9-4F7D4E62E7AE}" presName="hierRoot2" presStyleCnt="0">
        <dgm:presLayoutVars>
          <dgm:hierBranch val="init"/>
        </dgm:presLayoutVars>
      </dgm:prSet>
      <dgm:spPr/>
      <dgm:t>
        <a:bodyPr/>
        <a:lstStyle/>
        <a:p>
          <a:endParaRPr lang="en-GB"/>
        </a:p>
      </dgm:t>
    </dgm:pt>
    <dgm:pt modelId="{2B6B612D-7BF5-43EE-AE3A-24942C08CD9B}" type="pres">
      <dgm:prSet presAssocID="{F4858900-4726-4EAE-B0C9-4F7D4E62E7AE}" presName="rootComposite" presStyleCnt="0"/>
      <dgm:spPr/>
      <dgm:t>
        <a:bodyPr/>
        <a:lstStyle/>
        <a:p>
          <a:endParaRPr lang="en-GB"/>
        </a:p>
      </dgm:t>
    </dgm:pt>
    <dgm:pt modelId="{16C2D710-7EA3-4463-8665-DE01EB06C1A5}" type="pres">
      <dgm:prSet presAssocID="{F4858900-4726-4EAE-B0C9-4F7D4E62E7AE}" presName="rootText" presStyleLbl="node2" presStyleIdx="0" presStyleCnt="3">
        <dgm:presLayoutVars>
          <dgm:chPref val="3"/>
        </dgm:presLayoutVars>
      </dgm:prSet>
      <dgm:spPr/>
      <dgm:t>
        <a:bodyPr/>
        <a:lstStyle/>
        <a:p>
          <a:endParaRPr lang="en-GB"/>
        </a:p>
      </dgm:t>
    </dgm:pt>
    <dgm:pt modelId="{C8871319-82F8-430F-B5F7-13F7B9207A1C}" type="pres">
      <dgm:prSet presAssocID="{F4858900-4726-4EAE-B0C9-4F7D4E62E7AE}" presName="rootConnector" presStyleLbl="node2" presStyleIdx="0" presStyleCnt="3"/>
      <dgm:spPr/>
      <dgm:t>
        <a:bodyPr/>
        <a:lstStyle/>
        <a:p>
          <a:endParaRPr lang="en-GB"/>
        </a:p>
      </dgm:t>
    </dgm:pt>
    <dgm:pt modelId="{12D6B144-AC45-4F9A-AE35-A70DC38747B4}" type="pres">
      <dgm:prSet presAssocID="{F4858900-4726-4EAE-B0C9-4F7D4E62E7AE}" presName="hierChild4" presStyleCnt="0"/>
      <dgm:spPr/>
      <dgm:t>
        <a:bodyPr/>
        <a:lstStyle/>
        <a:p>
          <a:endParaRPr lang="en-GB"/>
        </a:p>
      </dgm:t>
    </dgm:pt>
    <dgm:pt modelId="{45A8C6AB-D3C6-4A70-A807-8E61C05275DE}" type="pres">
      <dgm:prSet presAssocID="{F4858900-4726-4EAE-B0C9-4F7D4E62E7AE}" presName="hierChild5" presStyleCnt="0"/>
      <dgm:spPr/>
      <dgm:t>
        <a:bodyPr/>
        <a:lstStyle/>
        <a:p>
          <a:endParaRPr lang="en-GB"/>
        </a:p>
      </dgm:t>
    </dgm:pt>
    <dgm:pt modelId="{92EFC38F-8BBF-4EFF-9085-8C9E3F06C7CC}" type="pres">
      <dgm:prSet presAssocID="{DC1DB0B0-1155-4901-AC90-92E4EF240F93}" presName="Name64" presStyleLbl="parChTrans1D2" presStyleIdx="1" presStyleCnt="4"/>
      <dgm:spPr/>
      <dgm:t>
        <a:bodyPr/>
        <a:lstStyle/>
        <a:p>
          <a:endParaRPr lang="en-GB"/>
        </a:p>
      </dgm:t>
    </dgm:pt>
    <dgm:pt modelId="{B545E5DB-2A0F-4DD5-AB60-E77424EE6B52}" type="pres">
      <dgm:prSet presAssocID="{490200F5-006C-4500-A8D6-4C3472A2FBC5}" presName="hierRoot2" presStyleCnt="0">
        <dgm:presLayoutVars>
          <dgm:hierBranch val="init"/>
        </dgm:presLayoutVars>
      </dgm:prSet>
      <dgm:spPr/>
      <dgm:t>
        <a:bodyPr/>
        <a:lstStyle/>
        <a:p>
          <a:endParaRPr lang="en-GB"/>
        </a:p>
      </dgm:t>
    </dgm:pt>
    <dgm:pt modelId="{013BC379-5F6D-41EC-AF82-52DC8C0A935F}" type="pres">
      <dgm:prSet presAssocID="{490200F5-006C-4500-A8D6-4C3472A2FBC5}" presName="rootComposite" presStyleCnt="0"/>
      <dgm:spPr/>
      <dgm:t>
        <a:bodyPr/>
        <a:lstStyle/>
        <a:p>
          <a:endParaRPr lang="en-GB"/>
        </a:p>
      </dgm:t>
    </dgm:pt>
    <dgm:pt modelId="{EF02F562-01FC-435E-B9A3-436177C0072A}" type="pres">
      <dgm:prSet presAssocID="{490200F5-006C-4500-A8D6-4C3472A2FBC5}" presName="rootText" presStyleLbl="node2" presStyleIdx="1" presStyleCnt="3">
        <dgm:presLayoutVars>
          <dgm:chPref val="3"/>
        </dgm:presLayoutVars>
      </dgm:prSet>
      <dgm:spPr/>
      <dgm:t>
        <a:bodyPr/>
        <a:lstStyle/>
        <a:p>
          <a:endParaRPr lang="en-GB"/>
        </a:p>
      </dgm:t>
    </dgm:pt>
    <dgm:pt modelId="{60F6ED0F-6E7C-4EB0-A3B8-497513A63F95}" type="pres">
      <dgm:prSet presAssocID="{490200F5-006C-4500-A8D6-4C3472A2FBC5}" presName="rootConnector" presStyleLbl="node2" presStyleIdx="1" presStyleCnt="3"/>
      <dgm:spPr/>
      <dgm:t>
        <a:bodyPr/>
        <a:lstStyle/>
        <a:p>
          <a:endParaRPr lang="en-GB"/>
        </a:p>
      </dgm:t>
    </dgm:pt>
    <dgm:pt modelId="{B65F4C9E-2C72-4361-9145-97A338FAC3B7}" type="pres">
      <dgm:prSet presAssocID="{490200F5-006C-4500-A8D6-4C3472A2FBC5}" presName="hierChild4" presStyleCnt="0"/>
      <dgm:spPr/>
      <dgm:t>
        <a:bodyPr/>
        <a:lstStyle/>
        <a:p>
          <a:endParaRPr lang="en-GB"/>
        </a:p>
      </dgm:t>
    </dgm:pt>
    <dgm:pt modelId="{66A1A550-E276-4F25-8AF7-8ECC26C97A8C}" type="pres">
      <dgm:prSet presAssocID="{490200F5-006C-4500-A8D6-4C3472A2FBC5}" presName="hierChild5" presStyleCnt="0"/>
      <dgm:spPr/>
      <dgm:t>
        <a:bodyPr/>
        <a:lstStyle/>
        <a:p>
          <a:endParaRPr lang="en-GB"/>
        </a:p>
      </dgm:t>
    </dgm:pt>
    <dgm:pt modelId="{4A245C77-F8A2-493B-8FCE-147AC2F72963}" type="pres">
      <dgm:prSet presAssocID="{52620E1F-44C2-49F6-8C6C-BC7A78C750BA}" presName="Name64" presStyleLbl="parChTrans1D2" presStyleIdx="2" presStyleCnt="4"/>
      <dgm:spPr/>
      <dgm:t>
        <a:bodyPr/>
        <a:lstStyle/>
        <a:p>
          <a:endParaRPr lang="en-GB"/>
        </a:p>
      </dgm:t>
    </dgm:pt>
    <dgm:pt modelId="{D3EC13DA-0289-49E4-95CD-CD2B4F6FF50E}" type="pres">
      <dgm:prSet presAssocID="{C1EF6F5C-CA6B-4A5B-AD71-E68AF6CEDF01}" presName="hierRoot2" presStyleCnt="0">
        <dgm:presLayoutVars>
          <dgm:hierBranch val="init"/>
        </dgm:presLayoutVars>
      </dgm:prSet>
      <dgm:spPr/>
      <dgm:t>
        <a:bodyPr/>
        <a:lstStyle/>
        <a:p>
          <a:endParaRPr lang="en-GB"/>
        </a:p>
      </dgm:t>
    </dgm:pt>
    <dgm:pt modelId="{0F4B0232-AFC4-441C-A25D-8B41E80E56E0}" type="pres">
      <dgm:prSet presAssocID="{C1EF6F5C-CA6B-4A5B-AD71-E68AF6CEDF01}" presName="rootComposite" presStyleCnt="0"/>
      <dgm:spPr/>
      <dgm:t>
        <a:bodyPr/>
        <a:lstStyle/>
        <a:p>
          <a:endParaRPr lang="en-GB"/>
        </a:p>
      </dgm:t>
    </dgm:pt>
    <dgm:pt modelId="{0F74ED84-6DC7-4333-A450-2E324DD657D2}" type="pres">
      <dgm:prSet presAssocID="{C1EF6F5C-CA6B-4A5B-AD71-E68AF6CEDF01}" presName="rootText" presStyleLbl="node2" presStyleIdx="2" presStyleCnt="3">
        <dgm:presLayoutVars>
          <dgm:chPref val="3"/>
        </dgm:presLayoutVars>
      </dgm:prSet>
      <dgm:spPr/>
      <dgm:t>
        <a:bodyPr/>
        <a:lstStyle/>
        <a:p>
          <a:endParaRPr lang="en-GB"/>
        </a:p>
      </dgm:t>
    </dgm:pt>
    <dgm:pt modelId="{38C84151-33CA-43C0-B233-484A92CAFB13}" type="pres">
      <dgm:prSet presAssocID="{C1EF6F5C-CA6B-4A5B-AD71-E68AF6CEDF01}" presName="rootConnector" presStyleLbl="node2" presStyleIdx="2" presStyleCnt="3"/>
      <dgm:spPr/>
      <dgm:t>
        <a:bodyPr/>
        <a:lstStyle/>
        <a:p>
          <a:endParaRPr lang="en-GB"/>
        </a:p>
      </dgm:t>
    </dgm:pt>
    <dgm:pt modelId="{21D214DF-632C-4A3E-BE30-D3522E3CB663}" type="pres">
      <dgm:prSet presAssocID="{C1EF6F5C-CA6B-4A5B-AD71-E68AF6CEDF01}" presName="hierChild4" presStyleCnt="0"/>
      <dgm:spPr/>
      <dgm:t>
        <a:bodyPr/>
        <a:lstStyle/>
        <a:p>
          <a:endParaRPr lang="en-GB"/>
        </a:p>
      </dgm:t>
    </dgm:pt>
    <dgm:pt modelId="{249F52B5-C53F-451B-B61F-BEA270F5BCD3}" type="pres">
      <dgm:prSet presAssocID="{C1EF6F5C-CA6B-4A5B-AD71-E68AF6CEDF01}" presName="hierChild5" presStyleCnt="0"/>
      <dgm:spPr/>
      <dgm:t>
        <a:bodyPr/>
        <a:lstStyle/>
        <a:p>
          <a:endParaRPr lang="en-GB"/>
        </a:p>
      </dgm:t>
    </dgm:pt>
    <dgm:pt modelId="{F2B973B0-FC1A-48B5-B123-70269D6D303D}" type="pres">
      <dgm:prSet presAssocID="{FD0A5B77-C585-498E-9982-E9F7DB17243D}" presName="hierChild3" presStyleCnt="0"/>
      <dgm:spPr/>
      <dgm:t>
        <a:bodyPr/>
        <a:lstStyle/>
        <a:p>
          <a:endParaRPr lang="en-GB"/>
        </a:p>
      </dgm:t>
    </dgm:pt>
    <dgm:pt modelId="{56A0477B-AA89-4F8D-AA4C-BBE6E21B1A46}" type="pres">
      <dgm:prSet presAssocID="{7FBD5283-47FE-4AAF-9FF9-E4E237EA31B0}" presName="Name115" presStyleLbl="parChTrans1D2" presStyleIdx="3" presStyleCnt="4"/>
      <dgm:spPr/>
      <dgm:t>
        <a:bodyPr/>
        <a:lstStyle/>
        <a:p>
          <a:endParaRPr lang="en-GB"/>
        </a:p>
      </dgm:t>
    </dgm:pt>
    <dgm:pt modelId="{FE65868A-E770-4D89-9891-54B0A80F1201}" type="pres">
      <dgm:prSet presAssocID="{B0B4E00A-6165-4FDE-B32F-8836B2AB61A2}" presName="hierRoot3" presStyleCnt="0">
        <dgm:presLayoutVars>
          <dgm:hierBranch val="init"/>
        </dgm:presLayoutVars>
      </dgm:prSet>
      <dgm:spPr/>
      <dgm:t>
        <a:bodyPr/>
        <a:lstStyle/>
        <a:p>
          <a:endParaRPr lang="en-GB"/>
        </a:p>
      </dgm:t>
    </dgm:pt>
    <dgm:pt modelId="{AAB3B5E7-2582-4861-9733-1E4B22EFFC5B}" type="pres">
      <dgm:prSet presAssocID="{B0B4E00A-6165-4FDE-B32F-8836B2AB61A2}" presName="rootComposite3" presStyleCnt="0"/>
      <dgm:spPr/>
      <dgm:t>
        <a:bodyPr/>
        <a:lstStyle/>
        <a:p>
          <a:endParaRPr lang="en-GB"/>
        </a:p>
      </dgm:t>
    </dgm:pt>
    <dgm:pt modelId="{9F724077-2EB7-4426-BF87-29457E01102E}" type="pres">
      <dgm:prSet presAssocID="{B0B4E00A-6165-4FDE-B32F-8836B2AB61A2}" presName="rootText3" presStyleLbl="asst1" presStyleIdx="0" presStyleCnt="1">
        <dgm:presLayoutVars>
          <dgm:chPref val="3"/>
        </dgm:presLayoutVars>
      </dgm:prSet>
      <dgm:spPr/>
      <dgm:t>
        <a:bodyPr/>
        <a:lstStyle/>
        <a:p>
          <a:endParaRPr lang="en-GB"/>
        </a:p>
      </dgm:t>
    </dgm:pt>
    <dgm:pt modelId="{F2095045-9410-4F18-8C98-05118FADB60C}" type="pres">
      <dgm:prSet presAssocID="{B0B4E00A-6165-4FDE-B32F-8836B2AB61A2}" presName="rootConnector3" presStyleLbl="asst1" presStyleIdx="0" presStyleCnt="1"/>
      <dgm:spPr/>
      <dgm:t>
        <a:bodyPr/>
        <a:lstStyle/>
        <a:p>
          <a:endParaRPr lang="en-GB"/>
        </a:p>
      </dgm:t>
    </dgm:pt>
    <dgm:pt modelId="{38EEB6CD-8379-4C10-8B6F-92D58C76AD5D}" type="pres">
      <dgm:prSet presAssocID="{B0B4E00A-6165-4FDE-B32F-8836B2AB61A2}" presName="hierChild6" presStyleCnt="0"/>
      <dgm:spPr/>
      <dgm:t>
        <a:bodyPr/>
        <a:lstStyle/>
        <a:p>
          <a:endParaRPr lang="en-GB"/>
        </a:p>
      </dgm:t>
    </dgm:pt>
    <dgm:pt modelId="{533A835D-FE2B-4E9E-824A-FDA1CFF79013}" type="pres">
      <dgm:prSet presAssocID="{B0B4E00A-6165-4FDE-B32F-8836B2AB61A2}" presName="hierChild7" presStyleCnt="0"/>
      <dgm:spPr/>
      <dgm:t>
        <a:bodyPr/>
        <a:lstStyle/>
        <a:p>
          <a:endParaRPr lang="en-GB"/>
        </a:p>
      </dgm:t>
    </dgm:pt>
  </dgm:ptLst>
  <dgm:cxnLst>
    <dgm:cxn modelId="{B676D096-81D9-4346-B465-00A381FE54E3}" type="presOf" srcId="{C1EF6F5C-CA6B-4A5B-AD71-E68AF6CEDF01}" destId="{0F74ED84-6DC7-4333-A450-2E324DD657D2}" srcOrd="0" destOrd="0" presId="urn:microsoft.com/office/officeart/2009/3/layout/HorizontalOrganizationChart"/>
    <dgm:cxn modelId="{99C884D3-447F-4CF2-B854-2E41FA721AF9}" type="presOf" srcId="{F4047545-EAAE-4AC0-9325-FCE23773C841}" destId="{51B91C5E-8346-4416-9AB4-47557A274BD8}" srcOrd="0" destOrd="0" presId="urn:microsoft.com/office/officeart/2009/3/layout/HorizontalOrganizationChart"/>
    <dgm:cxn modelId="{FA2B13E1-8C00-473E-85AC-D727C52A2BD7}" type="presOf" srcId="{490200F5-006C-4500-A8D6-4C3472A2FBC5}" destId="{EF02F562-01FC-435E-B9A3-436177C0072A}" srcOrd="0" destOrd="0" presId="urn:microsoft.com/office/officeart/2009/3/layout/HorizontalOrganizationChart"/>
    <dgm:cxn modelId="{6685856A-B5D3-40EA-A8AD-9A89C1F575EA}" type="presOf" srcId="{B0B4E00A-6165-4FDE-B32F-8836B2AB61A2}" destId="{9F724077-2EB7-4426-BF87-29457E01102E}" srcOrd="0" destOrd="0" presId="urn:microsoft.com/office/officeart/2009/3/layout/HorizontalOrganizationChart"/>
    <dgm:cxn modelId="{E9A7CDBF-82CD-44E3-8DD4-67DBA9A5D5C7}" type="presOf" srcId="{F4858900-4726-4EAE-B0C9-4F7D4E62E7AE}" destId="{16C2D710-7EA3-4463-8665-DE01EB06C1A5}" srcOrd="0" destOrd="0" presId="urn:microsoft.com/office/officeart/2009/3/layout/HorizontalOrganizationChart"/>
    <dgm:cxn modelId="{125545A9-00ED-4CE8-8E03-0588FC7C2411}" type="presOf" srcId="{C1EF6F5C-CA6B-4A5B-AD71-E68AF6CEDF01}" destId="{38C84151-33CA-43C0-B233-484A92CAFB13}" srcOrd="1" destOrd="0" presId="urn:microsoft.com/office/officeart/2009/3/layout/HorizontalOrganizationChart"/>
    <dgm:cxn modelId="{278F9965-99F6-4926-A85C-61C7EA6C83BE}" srcId="{0E3D5E48-35B6-4C3F-9744-423423412714}" destId="{FD0A5B77-C585-498E-9982-E9F7DB17243D}" srcOrd="0" destOrd="0" parTransId="{F23B3DF6-E387-4812-985B-45E8AF8C58C7}" sibTransId="{C23E7994-B71B-4573-A5E5-E03E66671E38}"/>
    <dgm:cxn modelId="{51C9AE1E-DD05-42BD-8179-284BBA24AAC1}" type="presOf" srcId="{F4858900-4726-4EAE-B0C9-4F7D4E62E7AE}" destId="{C8871319-82F8-430F-B5F7-13F7B9207A1C}" srcOrd="1" destOrd="0" presId="urn:microsoft.com/office/officeart/2009/3/layout/HorizontalOrganizationChart"/>
    <dgm:cxn modelId="{F74198D3-EC9A-4355-88B7-D7F4BC42926B}" type="presOf" srcId="{0E3D5E48-35B6-4C3F-9744-423423412714}" destId="{A4110B4F-B42B-4315-A73B-2AB7F69B4452}" srcOrd="0" destOrd="0" presId="urn:microsoft.com/office/officeart/2009/3/layout/HorizontalOrganizationChart"/>
    <dgm:cxn modelId="{23194953-626D-486B-86F8-B1C9B9CC1184}" type="presOf" srcId="{FD0A5B77-C585-498E-9982-E9F7DB17243D}" destId="{8F33D8A6-42A5-43DC-96C1-E83C5B7466A9}" srcOrd="1" destOrd="0" presId="urn:microsoft.com/office/officeart/2009/3/layout/HorizontalOrganizationChart"/>
    <dgm:cxn modelId="{92C85036-D9FB-47C7-9159-A23669EEF8DA}" type="presOf" srcId="{FD0A5B77-C585-498E-9982-E9F7DB17243D}" destId="{1C2829E8-19CE-4420-9B27-D9D18ADB6ED5}" srcOrd="0" destOrd="0" presId="urn:microsoft.com/office/officeart/2009/3/layout/HorizontalOrganizationChart"/>
    <dgm:cxn modelId="{204FDDBE-28D8-4048-81AE-C714E5693E80}" type="presOf" srcId="{7FBD5283-47FE-4AAF-9FF9-E4E237EA31B0}" destId="{56A0477B-AA89-4F8D-AA4C-BBE6E21B1A46}" srcOrd="0" destOrd="0" presId="urn:microsoft.com/office/officeart/2009/3/layout/HorizontalOrganizationChart"/>
    <dgm:cxn modelId="{B09EE60B-9024-4C74-A189-17D67D6C822A}" srcId="{FD0A5B77-C585-498E-9982-E9F7DB17243D}" destId="{C1EF6F5C-CA6B-4A5B-AD71-E68AF6CEDF01}" srcOrd="3" destOrd="0" parTransId="{52620E1F-44C2-49F6-8C6C-BC7A78C750BA}" sibTransId="{DF875FC8-FFC3-4303-B5D9-752EF9B77948}"/>
    <dgm:cxn modelId="{E7D268E0-F8C9-4BF0-8350-28C101B5814C}" srcId="{FD0A5B77-C585-498E-9982-E9F7DB17243D}" destId="{F4858900-4726-4EAE-B0C9-4F7D4E62E7AE}" srcOrd="1" destOrd="0" parTransId="{F4047545-EAAE-4AC0-9325-FCE23773C841}" sibTransId="{A2AED188-79A9-4F7E-9AA4-8305768BA170}"/>
    <dgm:cxn modelId="{1332E873-9146-4257-929C-936F1D4F4242}" srcId="{FD0A5B77-C585-498E-9982-E9F7DB17243D}" destId="{B0B4E00A-6165-4FDE-B32F-8836B2AB61A2}" srcOrd="0" destOrd="0" parTransId="{7FBD5283-47FE-4AAF-9FF9-E4E237EA31B0}" sibTransId="{4E5A3C32-D038-4DB7-A825-BB105C53FC7E}"/>
    <dgm:cxn modelId="{B83D380B-48CB-4320-9D93-4FB24651A47C}" type="presOf" srcId="{52620E1F-44C2-49F6-8C6C-BC7A78C750BA}" destId="{4A245C77-F8A2-493B-8FCE-147AC2F72963}" srcOrd="0" destOrd="0" presId="urn:microsoft.com/office/officeart/2009/3/layout/HorizontalOrganizationChart"/>
    <dgm:cxn modelId="{06C9F6F9-79CC-4AB5-B05A-35547A034B35}" srcId="{FD0A5B77-C585-498E-9982-E9F7DB17243D}" destId="{490200F5-006C-4500-A8D6-4C3472A2FBC5}" srcOrd="2" destOrd="0" parTransId="{DC1DB0B0-1155-4901-AC90-92E4EF240F93}" sibTransId="{3A927FCC-140A-4310-8A75-17636E319B8C}"/>
    <dgm:cxn modelId="{B8FE73DC-6028-4E8D-8AED-AAE46096BD84}" type="presOf" srcId="{B0B4E00A-6165-4FDE-B32F-8836B2AB61A2}" destId="{F2095045-9410-4F18-8C98-05118FADB60C}" srcOrd="1" destOrd="0" presId="urn:microsoft.com/office/officeart/2009/3/layout/HorizontalOrganizationChart"/>
    <dgm:cxn modelId="{3B5D5AAD-7E82-4B8C-B6FE-F20EC00F42D5}" type="presOf" srcId="{490200F5-006C-4500-A8D6-4C3472A2FBC5}" destId="{60F6ED0F-6E7C-4EB0-A3B8-497513A63F95}" srcOrd="1" destOrd="0" presId="urn:microsoft.com/office/officeart/2009/3/layout/HorizontalOrganizationChart"/>
    <dgm:cxn modelId="{D3A47C34-7F10-4B41-905D-46CBF0867999}" type="presOf" srcId="{DC1DB0B0-1155-4901-AC90-92E4EF240F93}" destId="{92EFC38F-8BBF-4EFF-9085-8C9E3F06C7CC}" srcOrd="0" destOrd="0" presId="urn:microsoft.com/office/officeart/2009/3/layout/HorizontalOrganizationChart"/>
    <dgm:cxn modelId="{82782947-E5D8-42D5-BFCE-91A10E9AF17D}" type="presParOf" srcId="{A4110B4F-B42B-4315-A73B-2AB7F69B4452}" destId="{45ED8725-42A9-4D1F-B955-79305226E286}" srcOrd="0" destOrd="0" presId="urn:microsoft.com/office/officeart/2009/3/layout/HorizontalOrganizationChart"/>
    <dgm:cxn modelId="{529ABB99-1C99-4611-A421-87DFCDDA2F49}" type="presParOf" srcId="{45ED8725-42A9-4D1F-B955-79305226E286}" destId="{0E8DAD6F-DEA5-40FB-905B-0BB32E3F902F}" srcOrd="0" destOrd="0" presId="urn:microsoft.com/office/officeart/2009/3/layout/HorizontalOrganizationChart"/>
    <dgm:cxn modelId="{5EE7EEEA-9B61-4A22-8B6D-18B3F0ECE52E}" type="presParOf" srcId="{0E8DAD6F-DEA5-40FB-905B-0BB32E3F902F}" destId="{1C2829E8-19CE-4420-9B27-D9D18ADB6ED5}" srcOrd="0" destOrd="0" presId="urn:microsoft.com/office/officeart/2009/3/layout/HorizontalOrganizationChart"/>
    <dgm:cxn modelId="{7E0AB0D4-B5C5-4C50-9C9D-B97A7F1B4ACE}" type="presParOf" srcId="{0E8DAD6F-DEA5-40FB-905B-0BB32E3F902F}" destId="{8F33D8A6-42A5-43DC-96C1-E83C5B7466A9}" srcOrd="1" destOrd="0" presId="urn:microsoft.com/office/officeart/2009/3/layout/HorizontalOrganizationChart"/>
    <dgm:cxn modelId="{E65C6765-41DB-47CD-A3B3-D6D4166F4525}" type="presParOf" srcId="{45ED8725-42A9-4D1F-B955-79305226E286}" destId="{7DD7F36D-24AA-4091-ACCB-1B00E9DBD3FD}" srcOrd="1" destOrd="0" presId="urn:microsoft.com/office/officeart/2009/3/layout/HorizontalOrganizationChart"/>
    <dgm:cxn modelId="{8F754036-76F2-4FB7-8161-4A8F09398EDB}" type="presParOf" srcId="{7DD7F36D-24AA-4091-ACCB-1B00E9DBD3FD}" destId="{51B91C5E-8346-4416-9AB4-47557A274BD8}" srcOrd="0" destOrd="0" presId="urn:microsoft.com/office/officeart/2009/3/layout/HorizontalOrganizationChart"/>
    <dgm:cxn modelId="{4E5944B8-2216-4CEB-B6BD-E7D0AA58B811}" type="presParOf" srcId="{7DD7F36D-24AA-4091-ACCB-1B00E9DBD3FD}" destId="{16DD609C-8EB5-4899-A295-BF7CC7CE0D85}" srcOrd="1" destOrd="0" presId="urn:microsoft.com/office/officeart/2009/3/layout/HorizontalOrganizationChart"/>
    <dgm:cxn modelId="{7BE434E5-F945-4327-A1D1-02A4CF98C81D}" type="presParOf" srcId="{16DD609C-8EB5-4899-A295-BF7CC7CE0D85}" destId="{2B6B612D-7BF5-43EE-AE3A-24942C08CD9B}" srcOrd="0" destOrd="0" presId="urn:microsoft.com/office/officeart/2009/3/layout/HorizontalOrganizationChart"/>
    <dgm:cxn modelId="{64351F18-EE93-43BF-9D23-CD145CD71A86}" type="presParOf" srcId="{2B6B612D-7BF5-43EE-AE3A-24942C08CD9B}" destId="{16C2D710-7EA3-4463-8665-DE01EB06C1A5}" srcOrd="0" destOrd="0" presId="urn:microsoft.com/office/officeart/2009/3/layout/HorizontalOrganizationChart"/>
    <dgm:cxn modelId="{1EFB07CE-5044-40F4-B2A3-E3F8F79EDE24}" type="presParOf" srcId="{2B6B612D-7BF5-43EE-AE3A-24942C08CD9B}" destId="{C8871319-82F8-430F-B5F7-13F7B9207A1C}" srcOrd="1" destOrd="0" presId="urn:microsoft.com/office/officeart/2009/3/layout/HorizontalOrganizationChart"/>
    <dgm:cxn modelId="{9F318029-601E-45AB-A253-BFEC86ABB925}" type="presParOf" srcId="{16DD609C-8EB5-4899-A295-BF7CC7CE0D85}" destId="{12D6B144-AC45-4F9A-AE35-A70DC38747B4}" srcOrd="1" destOrd="0" presId="urn:microsoft.com/office/officeart/2009/3/layout/HorizontalOrganizationChart"/>
    <dgm:cxn modelId="{ED570B77-E1B7-4E14-9013-07B07E64AE00}" type="presParOf" srcId="{16DD609C-8EB5-4899-A295-BF7CC7CE0D85}" destId="{45A8C6AB-D3C6-4A70-A807-8E61C05275DE}" srcOrd="2" destOrd="0" presId="urn:microsoft.com/office/officeart/2009/3/layout/HorizontalOrganizationChart"/>
    <dgm:cxn modelId="{9F354B6E-67D8-4BAA-8777-273C680D9F4E}" type="presParOf" srcId="{7DD7F36D-24AA-4091-ACCB-1B00E9DBD3FD}" destId="{92EFC38F-8BBF-4EFF-9085-8C9E3F06C7CC}" srcOrd="2" destOrd="0" presId="urn:microsoft.com/office/officeart/2009/3/layout/HorizontalOrganizationChart"/>
    <dgm:cxn modelId="{694087F2-413D-466D-A9B9-6D5D0AF550D2}" type="presParOf" srcId="{7DD7F36D-24AA-4091-ACCB-1B00E9DBD3FD}" destId="{B545E5DB-2A0F-4DD5-AB60-E77424EE6B52}" srcOrd="3" destOrd="0" presId="urn:microsoft.com/office/officeart/2009/3/layout/HorizontalOrganizationChart"/>
    <dgm:cxn modelId="{849996F3-DDF2-4E2D-B34A-106806649764}" type="presParOf" srcId="{B545E5DB-2A0F-4DD5-AB60-E77424EE6B52}" destId="{013BC379-5F6D-41EC-AF82-52DC8C0A935F}" srcOrd="0" destOrd="0" presId="urn:microsoft.com/office/officeart/2009/3/layout/HorizontalOrganizationChart"/>
    <dgm:cxn modelId="{B3E9DE81-2D3A-43EA-811B-4B1D444157F9}" type="presParOf" srcId="{013BC379-5F6D-41EC-AF82-52DC8C0A935F}" destId="{EF02F562-01FC-435E-B9A3-436177C0072A}" srcOrd="0" destOrd="0" presId="urn:microsoft.com/office/officeart/2009/3/layout/HorizontalOrganizationChart"/>
    <dgm:cxn modelId="{9A3B9231-B3C2-45BA-A9DC-A9215494AB6C}" type="presParOf" srcId="{013BC379-5F6D-41EC-AF82-52DC8C0A935F}" destId="{60F6ED0F-6E7C-4EB0-A3B8-497513A63F95}" srcOrd="1" destOrd="0" presId="urn:microsoft.com/office/officeart/2009/3/layout/HorizontalOrganizationChart"/>
    <dgm:cxn modelId="{B4491988-9611-4100-997A-BE73E8002D83}" type="presParOf" srcId="{B545E5DB-2A0F-4DD5-AB60-E77424EE6B52}" destId="{B65F4C9E-2C72-4361-9145-97A338FAC3B7}" srcOrd="1" destOrd="0" presId="urn:microsoft.com/office/officeart/2009/3/layout/HorizontalOrganizationChart"/>
    <dgm:cxn modelId="{3DF5D41D-5F5F-46B2-BBA4-1EEB0BB988C2}" type="presParOf" srcId="{B545E5DB-2A0F-4DD5-AB60-E77424EE6B52}" destId="{66A1A550-E276-4F25-8AF7-8ECC26C97A8C}" srcOrd="2" destOrd="0" presId="urn:microsoft.com/office/officeart/2009/3/layout/HorizontalOrganizationChart"/>
    <dgm:cxn modelId="{5F10B943-BD0C-4803-AA98-982F1D643870}" type="presParOf" srcId="{7DD7F36D-24AA-4091-ACCB-1B00E9DBD3FD}" destId="{4A245C77-F8A2-493B-8FCE-147AC2F72963}" srcOrd="4" destOrd="0" presId="urn:microsoft.com/office/officeart/2009/3/layout/HorizontalOrganizationChart"/>
    <dgm:cxn modelId="{D1BD99F4-7DFE-4D40-9CEA-9B1A1B99C0CB}" type="presParOf" srcId="{7DD7F36D-24AA-4091-ACCB-1B00E9DBD3FD}" destId="{D3EC13DA-0289-49E4-95CD-CD2B4F6FF50E}" srcOrd="5" destOrd="0" presId="urn:microsoft.com/office/officeart/2009/3/layout/HorizontalOrganizationChart"/>
    <dgm:cxn modelId="{5050416D-A4DA-4D0F-89BA-4F788B4634B7}" type="presParOf" srcId="{D3EC13DA-0289-49E4-95CD-CD2B4F6FF50E}" destId="{0F4B0232-AFC4-441C-A25D-8B41E80E56E0}" srcOrd="0" destOrd="0" presId="urn:microsoft.com/office/officeart/2009/3/layout/HorizontalOrganizationChart"/>
    <dgm:cxn modelId="{9DC25EC7-6569-4DC3-B908-FFD2222A1D32}" type="presParOf" srcId="{0F4B0232-AFC4-441C-A25D-8B41E80E56E0}" destId="{0F74ED84-6DC7-4333-A450-2E324DD657D2}" srcOrd="0" destOrd="0" presId="urn:microsoft.com/office/officeart/2009/3/layout/HorizontalOrganizationChart"/>
    <dgm:cxn modelId="{7871CDE2-1977-4507-B035-EA6845C948AF}" type="presParOf" srcId="{0F4B0232-AFC4-441C-A25D-8B41E80E56E0}" destId="{38C84151-33CA-43C0-B233-484A92CAFB13}" srcOrd="1" destOrd="0" presId="urn:microsoft.com/office/officeart/2009/3/layout/HorizontalOrganizationChart"/>
    <dgm:cxn modelId="{5B8C7447-2B0D-4FD2-B371-29D5DE521CCA}" type="presParOf" srcId="{D3EC13DA-0289-49E4-95CD-CD2B4F6FF50E}" destId="{21D214DF-632C-4A3E-BE30-D3522E3CB663}" srcOrd="1" destOrd="0" presId="urn:microsoft.com/office/officeart/2009/3/layout/HorizontalOrganizationChart"/>
    <dgm:cxn modelId="{AF7CC071-E9F5-4CB1-8DF1-A5CF117B76F0}" type="presParOf" srcId="{D3EC13DA-0289-49E4-95CD-CD2B4F6FF50E}" destId="{249F52B5-C53F-451B-B61F-BEA270F5BCD3}" srcOrd="2" destOrd="0" presId="urn:microsoft.com/office/officeart/2009/3/layout/HorizontalOrganizationChart"/>
    <dgm:cxn modelId="{E32D08D8-77CF-41EE-965D-4DCEC55E1D20}" type="presParOf" srcId="{45ED8725-42A9-4D1F-B955-79305226E286}" destId="{F2B973B0-FC1A-48B5-B123-70269D6D303D}" srcOrd="2" destOrd="0" presId="urn:microsoft.com/office/officeart/2009/3/layout/HorizontalOrganizationChart"/>
    <dgm:cxn modelId="{F4032B1F-9732-4CAF-9EDA-E51E305E5AF5}" type="presParOf" srcId="{F2B973B0-FC1A-48B5-B123-70269D6D303D}" destId="{56A0477B-AA89-4F8D-AA4C-BBE6E21B1A46}" srcOrd="0" destOrd="0" presId="urn:microsoft.com/office/officeart/2009/3/layout/HorizontalOrganizationChart"/>
    <dgm:cxn modelId="{84B85B6B-40F0-4819-A12D-62631F08056D}" type="presParOf" srcId="{F2B973B0-FC1A-48B5-B123-70269D6D303D}" destId="{FE65868A-E770-4D89-9891-54B0A80F1201}" srcOrd="1" destOrd="0" presId="urn:microsoft.com/office/officeart/2009/3/layout/HorizontalOrganizationChart"/>
    <dgm:cxn modelId="{DF0BEF5D-5503-4DB9-A593-7A2C46100E73}" type="presParOf" srcId="{FE65868A-E770-4D89-9891-54B0A80F1201}" destId="{AAB3B5E7-2582-4861-9733-1E4B22EFFC5B}" srcOrd="0" destOrd="0" presId="urn:microsoft.com/office/officeart/2009/3/layout/HorizontalOrganizationChart"/>
    <dgm:cxn modelId="{15396ED6-DBE4-4295-90F0-4B42D2CB3175}" type="presParOf" srcId="{AAB3B5E7-2582-4861-9733-1E4B22EFFC5B}" destId="{9F724077-2EB7-4426-BF87-29457E01102E}" srcOrd="0" destOrd="0" presId="urn:microsoft.com/office/officeart/2009/3/layout/HorizontalOrganizationChart"/>
    <dgm:cxn modelId="{E016DFF9-CE61-4956-9375-EC37410308DC}" type="presParOf" srcId="{AAB3B5E7-2582-4861-9733-1E4B22EFFC5B}" destId="{F2095045-9410-4F18-8C98-05118FADB60C}" srcOrd="1" destOrd="0" presId="urn:microsoft.com/office/officeart/2009/3/layout/HorizontalOrganizationChart"/>
    <dgm:cxn modelId="{A832C8EA-C528-4829-84C4-DD64D1C274F6}" type="presParOf" srcId="{FE65868A-E770-4D89-9891-54B0A80F1201}" destId="{38EEB6CD-8379-4C10-8B6F-92D58C76AD5D}" srcOrd="1" destOrd="0" presId="urn:microsoft.com/office/officeart/2009/3/layout/HorizontalOrganizationChart"/>
    <dgm:cxn modelId="{B000CCD3-1CA0-41A3-AECF-C11A69644F42}" type="presParOf" srcId="{FE65868A-E770-4D89-9891-54B0A80F1201}" destId="{533A835D-FE2B-4E9E-824A-FDA1CFF79013}" srcOrd="2" destOrd="0" presId="urn:microsoft.com/office/officeart/2009/3/layout/HorizontalOrganizationChart"/>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6A0477B-AA89-4F8D-AA4C-BBE6E21B1A46}">
      <dsp:nvSpPr>
        <dsp:cNvPr id="0" name=""/>
        <dsp:cNvSpPr/>
      </dsp:nvSpPr>
      <dsp:spPr>
        <a:xfrm>
          <a:off x="2090605" y="2153541"/>
          <a:ext cx="1461450" cy="130486"/>
        </a:xfrm>
        <a:custGeom>
          <a:avLst/>
          <a:gdLst/>
          <a:ahLst/>
          <a:cxnLst/>
          <a:rect l="0" t="0" r="0" b="0"/>
          <a:pathLst>
            <a:path>
              <a:moveTo>
                <a:pt x="0" y="130486"/>
              </a:moveTo>
              <a:lnTo>
                <a:pt x="1461450" y="130486"/>
              </a:lnTo>
              <a:lnTo>
                <a:pt x="1461450" y="0"/>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A245C77-F8A2-493B-8FCE-147AC2F72963}">
      <dsp:nvSpPr>
        <dsp:cNvPr id="0" name=""/>
        <dsp:cNvSpPr/>
      </dsp:nvSpPr>
      <dsp:spPr>
        <a:xfrm>
          <a:off x="2090605" y="2284028"/>
          <a:ext cx="2922901" cy="897748"/>
        </a:xfrm>
        <a:custGeom>
          <a:avLst/>
          <a:gdLst/>
          <a:ahLst/>
          <a:cxnLst/>
          <a:rect l="0" t="0" r="0" b="0"/>
          <a:pathLst>
            <a:path>
              <a:moveTo>
                <a:pt x="0" y="0"/>
              </a:moveTo>
              <a:lnTo>
                <a:pt x="2714122" y="0"/>
              </a:lnTo>
              <a:lnTo>
                <a:pt x="2714122" y="897748"/>
              </a:lnTo>
              <a:lnTo>
                <a:pt x="2922901" y="897748"/>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2EFC38F-8BBF-4EFF-9085-8C9E3F06C7CC}">
      <dsp:nvSpPr>
        <dsp:cNvPr id="0" name=""/>
        <dsp:cNvSpPr/>
      </dsp:nvSpPr>
      <dsp:spPr>
        <a:xfrm>
          <a:off x="2090605" y="2238308"/>
          <a:ext cx="2922901" cy="91440"/>
        </a:xfrm>
        <a:custGeom>
          <a:avLst/>
          <a:gdLst/>
          <a:ahLst/>
          <a:cxnLst/>
          <a:rect l="0" t="0" r="0" b="0"/>
          <a:pathLst>
            <a:path>
              <a:moveTo>
                <a:pt x="0" y="45720"/>
              </a:moveTo>
              <a:lnTo>
                <a:pt x="2922901" y="45720"/>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1B91C5E-8346-4416-9AB4-47557A274BD8}">
      <dsp:nvSpPr>
        <dsp:cNvPr id="0" name=""/>
        <dsp:cNvSpPr/>
      </dsp:nvSpPr>
      <dsp:spPr>
        <a:xfrm>
          <a:off x="2090605" y="1386279"/>
          <a:ext cx="2922901" cy="897748"/>
        </a:xfrm>
        <a:custGeom>
          <a:avLst/>
          <a:gdLst/>
          <a:ahLst/>
          <a:cxnLst/>
          <a:rect l="0" t="0" r="0" b="0"/>
          <a:pathLst>
            <a:path>
              <a:moveTo>
                <a:pt x="0" y="897748"/>
              </a:moveTo>
              <a:lnTo>
                <a:pt x="2714122" y="897748"/>
              </a:lnTo>
              <a:lnTo>
                <a:pt x="2714122" y="0"/>
              </a:lnTo>
              <a:lnTo>
                <a:pt x="2922901" y="0"/>
              </a:lnTo>
            </a:path>
          </a:pathLst>
        </a:custGeom>
        <a:noFill/>
        <a:ln w="254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2829E8-19CE-4420-9B27-D9D18ADB6ED5}">
      <dsp:nvSpPr>
        <dsp:cNvPr id="0" name=""/>
        <dsp:cNvSpPr/>
      </dsp:nvSpPr>
      <dsp:spPr>
        <a:xfrm>
          <a:off x="2818" y="1965640"/>
          <a:ext cx="2087786" cy="636774"/>
        </a:xfrm>
        <a:prstGeom prst="rect">
          <a:avLst/>
        </a:prstGeom>
        <a:solidFill>
          <a:srgbClr val="73267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GB" sz="2100" kern="1200" dirty="0" smtClean="0"/>
            <a:t>Practice</a:t>
          </a:r>
          <a:endParaRPr lang="en-GB" sz="2100" kern="1200" dirty="0"/>
        </a:p>
      </dsp:txBody>
      <dsp:txXfrm>
        <a:off x="2818" y="1965640"/>
        <a:ext cx="2087786" cy="636774"/>
      </dsp:txXfrm>
    </dsp:sp>
    <dsp:sp modelId="{16C2D710-7EA3-4463-8665-DE01EB06C1A5}">
      <dsp:nvSpPr>
        <dsp:cNvPr id="0" name=""/>
        <dsp:cNvSpPr/>
      </dsp:nvSpPr>
      <dsp:spPr>
        <a:xfrm>
          <a:off x="5013506" y="1067892"/>
          <a:ext cx="2087786" cy="636774"/>
        </a:xfrm>
        <a:prstGeom prst="rect">
          <a:avLst/>
        </a:prstGeom>
        <a:solidFill>
          <a:srgbClr val="80008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GB" sz="2100" kern="1200" dirty="0" smtClean="0"/>
            <a:t>Preparedness</a:t>
          </a:r>
          <a:endParaRPr lang="en-GB" sz="2100" kern="1200" dirty="0"/>
        </a:p>
      </dsp:txBody>
      <dsp:txXfrm>
        <a:off x="5013506" y="1067892"/>
        <a:ext cx="2087786" cy="636774"/>
      </dsp:txXfrm>
    </dsp:sp>
    <dsp:sp modelId="{EF02F562-01FC-435E-B9A3-436177C0072A}">
      <dsp:nvSpPr>
        <dsp:cNvPr id="0" name=""/>
        <dsp:cNvSpPr/>
      </dsp:nvSpPr>
      <dsp:spPr>
        <a:xfrm>
          <a:off x="5013506" y="1965640"/>
          <a:ext cx="2087786" cy="636774"/>
        </a:xfrm>
        <a:prstGeom prst="rect">
          <a:avLst/>
        </a:prstGeom>
        <a:solidFill>
          <a:srgbClr val="73267A"/>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GB" sz="2100" kern="1200" dirty="0" smtClean="0"/>
            <a:t>Characteristics</a:t>
          </a:r>
          <a:endParaRPr lang="en-GB" sz="2100" kern="1200" dirty="0"/>
        </a:p>
      </dsp:txBody>
      <dsp:txXfrm>
        <a:off x="5013506" y="1965640"/>
        <a:ext cx="2087786" cy="636774"/>
      </dsp:txXfrm>
    </dsp:sp>
    <dsp:sp modelId="{0F74ED84-6DC7-4333-A450-2E324DD657D2}">
      <dsp:nvSpPr>
        <dsp:cNvPr id="0" name=""/>
        <dsp:cNvSpPr/>
      </dsp:nvSpPr>
      <dsp:spPr>
        <a:xfrm>
          <a:off x="5013506" y="2863388"/>
          <a:ext cx="2087786" cy="636774"/>
        </a:xfrm>
        <a:prstGeom prst="rect">
          <a:avLst/>
        </a:prstGeom>
        <a:solidFill>
          <a:srgbClr val="80008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GB" sz="2100" kern="1200" dirty="0" smtClean="0"/>
            <a:t>Conditions of employment</a:t>
          </a:r>
          <a:endParaRPr lang="en-GB" sz="2100" kern="1200" dirty="0"/>
        </a:p>
      </dsp:txBody>
      <dsp:txXfrm>
        <a:off x="5013506" y="2863388"/>
        <a:ext cx="2087786" cy="636774"/>
      </dsp:txXfrm>
    </dsp:sp>
    <dsp:sp modelId="{9F724077-2EB7-4426-BF87-29457E01102E}">
      <dsp:nvSpPr>
        <dsp:cNvPr id="0" name=""/>
        <dsp:cNvSpPr/>
      </dsp:nvSpPr>
      <dsp:spPr>
        <a:xfrm>
          <a:off x="2508162" y="1516766"/>
          <a:ext cx="2087786" cy="636774"/>
        </a:xfrm>
        <a:prstGeom prst="rect">
          <a:avLst/>
        </a:prstGeom>
        <a:solidFill>
          <a:srgbClr val="800080"/>
        </a:solidFill>
        <a:ln w="25400" cap="flat" cmpd="sng" algn="ctr">
          <a:solidFill>
            <a:schemeClr val="l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lvl="0" algn="ctr" defTabSz="933450">
            <a:lnSpc>
              <a:spcPct val="90000"/>
            </a:lnSpc>
            <a:spcBef>
              <a:spcPct val="0"/>
            </a:spcBef>
            <a:spcAft>
              <a:spcPct val="35000"/>
            </a:spcAft>
          </a:pPr>
          <a:r>
            <a:rPr lang="en-GB" sz="2100" kern="1200" dirty="0" smtClean="0"/>
            <a:t>Deployment</a:t>
          </a:r>
          <a:endParaRPr lang="en-GB" sz="2100" kern="1200" dirty="0"/>
        </a:p>
      </dsp:txBody>
      <dsp:txXfrm>
        <a:off x="2508162" y="1516766"/>
        <a:ext cx="2087786" cy="636774"/>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C41A69C-352B-43B9-AE28-0996A6EA73E5}" type="datetimeFigureOut">
              <a:rPr lang="en-GB" smtClean="0"/>
              <a:pPr/>
              <a:t>04/11/2017</a:t>
            </a:fld>
            <a:endParaRPr lang="en-GB"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582B9D-753F-4FD4-BB27-488C70B508F1}" type="slidenum">
              <a:rPr lang="en-GB" smtClean="0"/>
              <a:pPr/>
              <a:t>‹#›</a:t>
            </a:fld>
            <a:endParaRPr lang="en-GB" dirty="0"/>
          </a:p>
        </p:txBody>
      </p:sp>
    </p:spTree>
    <p:extLst>
      <p:ext uri="{BB962C8B-B14F-4D97-AF65-F5344CB8AC3E}">
        <p14:creationId xmlns:p14="http://schemas.microsoft.com/office/powerpoint/2010/main" xmlns="" val="138533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Talk about your experience as a class teacher, an intervention teacher and as a SENCo and now as an ADVISORY TEACHER SEND</a:t>
            </a:r>
          </a:p>
          <a:p>
            <a:endParaRPr lang="en-GB" dirty="0" smtClean="0"/>
          </a:p>
          <a:p>
            <a:r>
              <a:rPr lang="en-GB" dirty="0" smtClean="0"/>
              <a:t>TAs have been invaluable to me, my friends,</a:t>
            </a:r>
            <a:r>
              <a:rPr lang="en-GB" baseline="0" dirty="0" smtClean="0"/>
              <a:t> my confident, my support, my PA, my advisor, my equal.</a:t>
            </a:r>
          </a:p>
          <a:p>
            <a:endParaRPr lang="en-GB" baseline="0" dirty="0" smtClean="0"/>
          </a:p>
          <a:p>
            <a:r>
              <a:rPr lang="en-GB" baseline="0" dirty="0" smtClean="0"/>
              <a:t>I have had some fantastic TAs and they have followed my plans and my instructions and have developed a greater understanding of SEN types and how to support them – however, many teachers have not had the training that I have had and this is where some of the issues are raised.</a:t>
            </a:r>
            <a:endParaRPr lang="en-GB" dirty="0" smtClean="0"/>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1</a:t>
            </a:fld>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4 projects over 3 years</a:t>
            </a:r>
          </a:p>
          <a:p>
            <a:endParaRPr lang="en-GB" dirty="0" smtClean="0"/>
          </a:p>
          <a:p>
            <a:r>
              <a:rPr lang="en-GB" dirty="0" smtClean="0"/>
              <a:t>The first three projects investigated classroom practise and interventions </a:t>
            </a:r>
          </a:p>
          <a:p>
            <a:endParaRPr lang="en-GB" dirty="0" smtClean="0"/>
          </a:p>
          <a:p>
            <a:r>
              <a:rPr lang="en-GB" dirty="0" smtClean="0"/>
              <a:t>The</a:t>
            </a:r>
            <a:r>
              <a:rPr lang="en-GB" baseline="0" dirty="0" smtClean="0"/>
              <a:t> MaST project focused on the effectiveness of TAs with Statemented pupils specifically (EHCP) it also looked at the involvement of teachers with the same pupils.</a:t>
            </a:r>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Give out the print out of the TA recommendations and the RAG system</a:t>
            </a:r>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There are 4 strands in the first section</a:t>
            </a:r>
          </a:p>
          <a:p>
            <a:r>
              <a:rPr lang="en-GB" dirty="0" smtClean="0"/>
              <a:t>2 in the second and</a:t>
            </a:r>
            <a:r>
              <a:rPr lang="en-GB" baseline="0" dirty="0" smtClean="0"/>
              <a:t> 1 in the last.</a:t>
            </a:r>
            <a:endParaRPr lang="en-GB"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We all bring something different to the mix – this is a positive</a:t>
            </a:r>
          </a:p>
          <a:p>
            <a:endParaRPr lang="en-GB" dirty="0" smtClean="0"/>
          </a:p>
          <a:p>
            <a:r>
              <a:rPr lang="en-GB" dirty="0" smtClean="0"/>
              <a:t>Qualifications do range across the settings, but most schools have asked for the minimum of a</a:t>
            </a:r>
            <a:r>
              <a:rPr lang="en-GB" baseline="0" dirty="0" smtClean="0"/>
              <a:t> level 2 NVQ and new TAs are required to have a GCSE in maths and literacy or an equivalent.</a:t>
            </a:r>
          </a:p>
          <a:p>
            <a:endParaRPr lang="en-GB" baseline="0" dirty="0" smtClean="0"/>
          </a:p>
          <a:p>
            <a:r>
              <a:rPr lang="en-GB" baseline="0" dirty="0" smtClean="0"/>
              <a:t>On the whole, TAs do provide a greater pastoral role in the school and this can be comforting for the children and enables teachers to get on with academic matters</a:t>
            </a:r>
            <a:endParaRPr lang="en-GB" dirty="0"/>
          </a:p>
        </p:txBody>
      </p:sp>
    </p:spTree>
    <p:extLst>
      <p:ext uri="{BB962C8B-B14F-4D97-AF65-F5344CB8AC3E}">
        <p14:creationId xmlns="" xmlns:p14="http://schemas.microsoft.com/office/powerpoint/2010/main" val="262012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smtClean="0"/>
              <a:t>Preparedness describes two aspects of TAs’ work:</a:t>
            </a:r>
            <a:br>
              <a:rPr lang="en-GB" sz="1200" dirty="0" smtClean="0"/>
            </a:br>
            <a:r>
              <a:rPr lang="en-GB" sz="1200" dirty="0" smtClean="0"/>
              <a:t> 1. The training and professional development of TAs and teachers (e.g., how teachers manage and organise the work of TAs)</a:t>
            </a:r>
            <a:br>
              <a:rPr lang="en-GB" sz="1200" dirty="0" smtClean="0"/>
            </a:br>
            <a:r>
              <a:rPr lang="en-GB" sz="1200" dirty="0" smtClean="0"/>
              <a:t>2. Day-to-day preparation (e.g., time for joint planning and feedback between teachers </a:t>
            </a:r>
            <a:br>
              <a:rPr lang="en-GB" sz="1200" dirty="0" smtClean="0"/>
            </a:br>
            <a:r>
              <a:rPr lang="en-GB" sz="1200" dirty="0" smtClean="0"/>
              <a:t>and TAs).</a:t>
            </a:r>
          </a:p>
          <a:p>
            <a:endParaRPr lang="en-GB" sz="1200" dirty="0" smtClean="0"/>
          </a:p>
          <a:p>
            <a:r>
              <a:rPr lang="en-GB" sz="1200" dirty="0" smtClean="0"/>
              <a:t>Currently</a:t>
            </a:r>
            <a:r>
              <a:rPr lang="en-GB" sz="1200" baseline="0" dirty="0" smtClean="0"/>
              <a:t> teachers are not given training on how to best use their TAs for either class work, interventions or 1:1 it becomes the responsibility of the school to state what they want, if not an assistant is urged to use their initiative </a:t>
            </a:r>
          </a:p>
          <a:p>
            <a:endParaRPr lang="en-GB" sz="1200" baseline="0" dirty="0" smtClean="0"/>
          </a:p>
          <a:p>
            <a:r>
              <a:rPr lang="en-GB" sz="1200" baseline="0" dirty="0" smtClean="0"/>
              <a:t>One of the biggest issues for both TAs and teachers is the sharing of their plans, not enough time before school, many assistants also cover lunch duties, needed for childcare at the end of the day, no access to emails.</a:t>
            </a:r>
          </a:p>
          <a:p>
            <a:endParaRPr lang="en-GB" sz="1200" baseline="0" dirty="0" smtClean="0"/>
          </a:p>
          <a:p>
            <a:r>
              <a:rPr lang="en-GB" sz="1200" baseline="0" dirty="0" smtClean="0"/>
              <a:t>The same issue arises with feedback from the TA to the teacher</a:t>
            </a:r>
          </a:p>
          <a:p>
            <a:endParaRPr lang="en-GB" sz="1200" baseline="0" dirty="0" smtClean="0"/>
          </a:p>
          <a:p>
            <a:r>
              <a:rPr lang="en-GB" sz="1200" baseline="0" dirty="0" smtClean="0"/>
              <a:t>This is a bigger issue in Secondary schools but some assistants struggle with the subject matter.</a:t>
            </a:r>
          </a:p>
          <a:p>
            <a:endParaRPr lang="en-GB" sz="1200" baseline="0" dirty="0" smtClean="0"/>
          </a:p>
          <a:p>
            <a:r>
              <a:rPr lang="en-GB" sz="1200" baseline="0" dirty="0" smtClean="0"/>
              <a:t>Pedagogical knowledge – the skills needed in order to assist a child with independent learning and how to extend their critical thinking</a:t>
            </a:r>
          </a:p>
          <a:p>
            <a:endParaRPr lang="en-GB" sz="1200" baseline="0" dirty="0" smtClean="0"/>
          </a:p>
          <a:p>
            <a:r>
              <a:rPr lang="en-GB" b="1" dirty="0" smtClean="0"/>
              <a:t>Recommendation 4 states that schools should 'ensure that TAs are fully prepared for their role in the classroom'. How can schools best achieve this?</a:t>
            </a:r>
          </a:p>
          <a:p>
            <a:r>
              <a:rPr lang="en-GB" dirty="0" smtClean="0"/>
              <a:t>Effective day-to-day preparation is essential. This comes down to finding ways to fully brief teaching assistants ahead of the lessons they will be supporting. All too often there are limited interactions between teachers and teaching assistants, meaning that the TA enters the lesson without a full understanding of teaching methods, strategies or planned outcomes for the lesson.</a:t>
            </a:r>
          </a:p>
          <a:p>
            <a:r>
              <a:rPr lang="en-GB" dirty="0" smtClean="0"/>
              <a:t>For TAs to be fully prepared for their role, schools need to find creative ways for teachers and TAs to liaise outside of the classroom.</a:t>
            </a:r>
          </a:p>
          <a:p>
            <a:r>
              <a:rPr lang="en-GB" dirty="0" smtClean="0"/>
              <a:t>This poses obvious challenges, as teachers and TAs are already time pressured, so building in facilitated preparation time pre-lessons can be difficult. The report makes a number of suggestions on how schools might achieve this, including adjusting TAs’ working hours (start early, finish early), using assembly time and having TAs join teachers for (part of) planning, preparation and assessment (PPA) time.</a:t>
            </a:r>
          </a:p>
          <a:p>
            <a:endParaRPr lang="en-GB" dirty="0"/>
          </a:p>
        </p:txBody>
      </p:sp>
    </p:spTree>
    <p:extLst>
      <p:ext uri="{BB962C8B-B14F-4D97-AF65-F5344CB8AC3E}">
        <p14:creationId xmlns="" xmlns:p14="http://schemas.microsoft.com/office/powerpoint/2010/main" val="11275511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smtClean="0"/>
              <a:t>The recent EEF guidance suggests the need for careful planning when rethinking the use of TAs. What steps should be taken by schools to alter their TA deployment strategy?</a:t>
            </a:r>
          </a:p>
          <a:p>
            <a:r>
              <a:rPr lang="en-GB" dirty="0" smtClean="0"/>
              <a:t>As the deployment of staff is a school leadership issue it is important they take overall responsibility for any changes to TAs' roles and practices.</a:t>
            </a:r>
          </a:p>
          <a:p>
            <a:r>
              <a:rPr lang="en-GB" dirty="0" smtClean="0"/>
              <a:t>In the report we also outline a school improvement process that schools have successfully used to review and reframe their use of TAs.</a:t>
            </a:r>
          </a:p>
          <a:p>
            <a:r>
              <a:rPr lang="en-GB" b="1" dirty="0" smtClean="0"/>
              <a:t>Step 1:</a:t>
            </a:r>
            <a:r>
              <a:rPr lang="en-GB" dirty="0" smtClean="0"/>
              <a:t> Thoroughly review current practice to understand how you are currently meeting the needs of those pupils who require additional support. An honest self-appraisal is a crucial step to recognising where change is necessary.</a:t>
            </a:r>
          </a:p>
          <a:p>
            <a:r>
              <a:rPr lang="en-GB" b="1" dirty="0" smtClean="0"/>
              <a:t>Step 2:</a:t>
            </a:r>
            <a:r>
              <a:rPr lang="en-GB" dirty="0" smtClean="0"/>
              <a:t> Define the role, purpose and contribution of teaching assistants across your school.</a:t>
            </a:r>
          </a:p>
          <a:p>
            <a:r>
              <a:rPr lang="en-GB" b="1" dirty="0" smtClean="0"/>
              <a:t>Step 3:</a:t>
            </a:r>
            <a:r>
              <a:rPr lang="en-GB" dirty="0" smtClean="0"/>
              <a:t> Develop a whole-school approach to improvements. Introduce change gradually, testing ideas and ensuring staff across the school are supporting the new system and that they themselves are also supported.</a:t>
            </a:r>
          </a:p>
          <a:p>
            <a:r>
              <a:rPr lang="en-GB" b="1" dirty="0" smtClean="0"/>
              <a:t>Step 4:</a:t>
            </a:r>
            <a:r>
              <a:rPr lang="en-GB" dirty="0" smtClean="0"/>
              <a:t> Once this whole-school approach involving all staff is in place, you can begin to provide your teaching assistants with the appropriate training and support. Providing this training before you have got the context right, for their work is unlikely to have maximum effect. But once a well thought out improvement plan is in place this training is an essential step towards pupil progress.</a:t>
            </a:r>
          </a:p>
          <a:p>
            <a:endParaRPr lang="en-GB" dirty="0"/>
          </a:p>
        </p:txBody>
      </p:sp>
    </p:spTree>
    <p:extLst>
      <p:ext uri="{BB962C8B-B14F-4D97-AF65-F5344CB8AC3E}">
        <p14:creationId xmlns="" xmlns:p14="http://schemas.microsoft.com/office/powerpoint/2010/main" val="2592041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Close down discussion</a:t>
            </a:r>
          </a:p>
          <a:p>
            <a:endParaRPr lang="en-GB" dirty="0" smtClean="0"/>
          </a:p>
          <a:p>
            <a:r>
              <a:rPr lang="en-GB" dirty="0" smtClean="0"/>
              <a:t>It’s not that TAs</a:t>
            </a:r>
            <a:r>
              <a:rPr lang="en-GB" baseline="0" dirty="0" smtClean="0"/>
              <a:t> are stopping students from talking, it’s that they give answers when the child isn’t forthcoming with ideas or that their thoughts aren’t detailed enough. This is where higher order questioning skills (Blooms Taxonomy) come in useful along with processing time for the child to generate a response.</a:t>
            </a:r>
          </a:p>
          <a:p>
            <a:endParaRPr lang="en-GB"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GB" dirty="0" smtClean="0"/>
              <a:t>Work with low attaining children</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GB" dirty="0" smtClean="0"/>
              <a:t>Evidence from</a:t>
            </a:r>
            <a:r>
              <a:rPr lang="en-GB" baseline="0" dirty="0" smtClean="0"/>
              <a:t> the DISS project </a:t>
            </a:r>
            <a:r>
              <a:rPr lang="en-GB" dirty="0" smtClean="0"/>
              <a:t>has come to light that ‘It was found that pupils who received the most support from TAs made less progress in core subjects over a school year than similar pupils who received less support from TAs.’</a:t>
            </a:r>
          </a:p>
          <a:p>
            <a:endParaRPr lang="en-GB" dirty="0" smtClean="0"/>
          </a:p>
        </p:txBody>
      </p:sp>
    </p:spTree>
    <p:extLst>
      <p:ext uri="{BB962C8B-B14F-4D97-AF65-F5344CB8AC3E}">
        <p14:creationId xmlns="" xmlns:p14="http://schemas.microsoft.com/office/powerpoint/2010/main" val="11247079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Clinical psychologists carried out and experiment</a:t>
            </a:r>
          </a:p>
          <a:p>
            <a:endParaRPr lang="en-GB" dirty="0" smtClean="0"/>
          </a:p>
          <a:p>
            <a:r>
              <a:rPr lang="en-GB" dirty="0" smtClean="0"/>
              <a:t>Two rooms, several babies in succession and a toy that had 4 functions, flashing lights, noises etc</a:t>
            </a:r>
          </a:p>
          <a:p>
            <a:endParaRPr lang="en-GB" dirty="0" smtClean="0"/>
          </a:p>
          <a:p>
            <a:r>
              <a:rPr lang="en-GB" dirty="0" smtClean="0"/>
              <a:t>One</a:t>
            </a:r>
            <a:r>
              <a:rPr lang="en-GB" baseline="0" dirty="0" smtClean="0"/>
              <a:t> group of babies were shown the toy by the psychologist, they pressed a button and the toy made a noise.</a:t>
            </a:r>
          </a:p>
          <a:p>
            <a:endParaRPr lang="en-GB" baseline="0" dirty="0" smtClean="0"/>
          </a:p>
          <a:p>
            <a:r>
              <a:rPr lang="en-GB" baseline="0" dirty="0" smtClean="0"/>
              <a:t>The second group were given the toy</a:t>
            </a:r>
          </a:p>
          <a:p>
            <a:endParaRPr lang="en-GB" baseline="0" dirty="0" smtClean="0"/>
          </a:p>
          <a:p>
            <a:r>
              <a:rPr lang="en-GB" baseline="0" dirty="0" smtClean="0"/>
              <a:t>The first babies played with the toy by continuously pressing the button to hear the noise</a:t>
            </a:r>
          </a:p>
          <a:p>
            <a:endParaRPr lang="en-GB" baseline="0" dirty="0" smtClean="0"/>
          </a:p>
          <a:p>
            <a:r>
              <a:rPr lang="en-GB" baseline="0" dirty="0" smtClean="0"/>
              <a:t>The other babies pressed, rolled and shook the toy to find that it had more than one function</a:t>
            </a:r>
            <a:endParaRPr lang="en-GB"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Blooms Taxonomy</a:t>
            </a:r>
          </a:p>
          <a:p>
            <a:endParaRPr lang="en-GB" dirty="0" smtClean="0"/>
          </a:p>
          <a:p>
            <a:r>
              <a:rPr lang="en-GB" dirty="0" smtClean="0"/>
              <a:t>WDEP</a:t>
            </a:r>
          </a:p>
          <a:p>
            <a:r>
              <a:rPr lang="en-GB" dirty="0" smtClean="0"/>
              <a:t>W= What do you want? </a:t>
            </a:r>
            <a:r>
              <a:rPr lang="en-GB" b="1" dirty="0" smtClean="0"/>
              <a:t>Want</a:t>
            </a:r>
          </a:p>
          <a:p>
            <a:r>
              <a:rPr lang="en-GB" dirty="0" smtClean="0"/>
              <a:t>D= What were you doing? </a:t>
            </a:r>
            <a:r>
              <a:rPr lang="en-GB" b="1" dirty="0" smtClean="0"/>
              <a:t>Doing</a:t>
            </a:r>
          </a:p>
          <a:p>
            <a:r>
              <a:rPr lang="en-GB" dirty="0" smtClean="0"/>
              <a:t>E= Did what you were doing get you what you wanted? </a:t>
            </a:r>
            <a:r>
              <a:rPr lang="en-GB" b="1" dirty="0" smtClean="0"/>
              <a:t>Evaluation</a:t>
            </a:r>
          </a:p>
          <a:p>
            <a:r>
              <a:rPr lang="en-GB" dirty="0" smtClean="0"/>
              <a:t>P= Do you want to make a plan</a:t>
            </a:r>
            <a:r>
              <a:rPr lang="en-GB" baseline="0" dirty="0" smtClean="0"/>
              <a:t> for next time? </a:t>
            </a:r>
            <a:r>
              <a:rPr lang="en-GB" b="1" baseline="0" dirty="0" smtClean="0"/>
              <a:t>Plan</a:t>
            </a:r>
          </a:p>
          <a:p>
            <a:endParaRPr lang="en-GB" b="1" baseline="0" dirty="0" smtClean="0"/>
          </a:p>
          <a:p>
            <a:r>
              <a:rPr lang="en-GB" b="0" baseline="0" dirty="0" smtClean="0"/>
              <a:t>Delivery time – that time when the teacher introduces the topic/objectives and success criteria</a:t>
            </a:r>
          </a:p>
          <a:p>
            <a:endParaRPr lang="en-GB" b="0" baseline="0" dirty="0" smtClean="0"/>
          </a:p>
          <a:p>
            <a:r>
              <a:rPr lang="en-GB" b="0" baseline="0" dirty="0" smtClean="0"/>
              <a:t>Whispering prompts and ideas, so that the whispers eventually become their own</a:t>
            </a:r>
          </a:p>
          <a:p>
            <a:endParaRPr lang="en-GB" b="0" baseline="0" dirty="0" smtClean="0"/>
          </a:p>
          <a:p>
            <a:r>
              <a:rPr lang="en-GB" b="0" baseline="0" dirty="0" smtClean="0"/>
              <a:t>Take the child to the side, back and talk through the points that the teacher is making, maybe look through some visuals, a scaffolding plan to aid writing, physical resources to gain answers</a:t>
            </a:r>
          </a:p>
          <a:p>
            <a:endParaRPr lang="en-GB" b="0" baseline="0" dirty="0" smtClean="0"/>
          </a:p>
          <a:p>
            <a:r>
              <a:rPr lang="en-GB" b="0" i="1" baseline="0" dirty="0" smtClean="0"/>
              <a:t>Please note that there were findings that 80% of the teachers interviewed in the research project were found to have insufficient knowledge of the types of SEN within their class, especially those with an EHCP/Statement</a:t>
            </a:r>
            <a:endParaRPr lang="en-GB" b="0" i="1" dirty="0" smtClean="0"/>
          </a:p>
          <a:p>
            <a:endParaRPr lang="en-GB"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This is an essential part of your job.</a:t>
            </a:r>
          </a:p>
          <a:p>
            <a:endParaRPr lang="en-GB" dirty="0" smtClean="0"/>
          </a:p>
          <a:p>
            <a:r>
              <a:rPr lang="en-GB" dirty="0" smtClean="0"/>
              <a:t>At the moment a percentage is given about how much support has been given. How can this be improved upon?</a:t>
            </a:r>
          </a:p>
          <a:p>
            <a:endParaRPr lang="en-GB" dirty="0" smtClean="0"/>
          </a:p>
          <a:p>
            <a:r>
              <a:rPr lang="en-GB" dirty="0" smtClean="0"/>
              <a:t>Post it notes?</a:t>
            </a:r>
          </a:p>
          <a:p>
            <a:r>
              <a:rPr lang="en-GB" dirty="0" smtClean="0"/>
              <a:t>Marking children’s work in line with the school policy </a:t>
            </a:r>
          </a:p>
          <a:p>
            <a:r>
              <a:rPr lang="en-GB" dirty="0" smtClean="0"/>
              <a:t>2 stars</a:t>
            </a:r>
            <a:r>
              <a:rPr lang="en-GB" baseline="0" dirty="0" smtClean="0"/>
              <a:t> and a wish; focusing on the objective</a:t>
            </a:r>
          </a:p>
          <a:p>
            <a:endParaRPr lang="en-GB" baseline="0" dirty="0" smtClean="0"/>
          </a:p>
          <a:p>
            <a:r>
              <a:rPr lang="en-GB" baseline="0" dirty="0" smtClean="0"/>
              <a:t>Discussing the strengths and future targets for that child can be detailed as verbal feedback but the teacher needs to know that so a comment needs to be written somewhere to inform future planning. If not written then verbal feedback to the teacher.</a:t>
            </a:r>
            <a:endParaRPr lang="en-GB"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Interventions were deemed to be good where there was a structured resource that set out an order of progression</a:t>
            </a:r>
          </a:p>
          <a:p>
            <a:endParaRPr lang="en-GB" dirty="0" smtClean="0"/>
          </a:p>
          <a:p>
            <a:r>
              <a:rPr lang="en-GB" dirty="0" smtClean="0"/>
              <a:t>Examples</a:t>
            </a:r>
          </a:p>
          <a:p>
            <a:r>
              <a:rPr lang="en-GB" dirty="0" smtClean="0"/>
              <a:t>Alpha</a:t>
            </a:r>
            <a:r>
              <a:rPr lang="en-GB" baseline="0" dirty="0" smtClean="0"/>
              <a:t> to Omega</a:t>
            </a:r>
          </a:p>
          <a:p>
            <a:r>
              <a:rPr lang="en-GB" baseline="0" dirty="0" smtClean="0"/>
              <a:t>Read, Write Inc</a:t>
            </a:r>
          </a:p>
          <a:p>
            <a:r>
              <a:rPr lang="en-GB" baseline="0" dirty="0" smtClean="0"/>
              <a:t>Blaze – Rising Stars</a:t>
            </a:r>
            <a:endParaRPr lang="en-GB"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This process is in line with the new Code of Practice 0-25</a:t>
            </a:r>
            <a:endParaRPr lang="en-GB"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20</a:t>
            </a:fld>
            <a:endParaRPr lang="en-GB"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23</a:t>
            </a:fld>
            <a:endParaRPr lang="en-GB"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24</a:t>
            </a:fld>
            <a:endParaRPr lang="en-GB"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At the very minimum, we should</a:t>
            </a:r>
            <a:r>
              <a:rPr lang="en-GB" baseline="0" dirty="0" smtClean="0"/>
              <a:t> take in to account the 3 learning styles: Visual, auditory and kinaesthetic VAK</a:t>
            </a:r>
            <a:endParaRPr lang="en-GB"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Make sure the teacher knows what you are working on with the children</a:t>
            </a:r>
          </a:p>
          <a:p>
            <a:r>
              <a:rPr lang="en-GB" dirty="0" smtClean="0"/>
              <a:t>Know what the topics are in the classroom and make tenuous links</a:t>
            </a:r>
          </a:p>
          <a:p>
            <a:r>
              <a:rPr lang="en-GB" dirty="0" smtClean="0"/>
              <a:t>Pick up on the points studied, in the intervention, while roving the class.</a:t>
            </a:r>
          </a:p>
          <a:p>
            <a:endParaRPr lang="en-GB"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27</a:t>
            </a:fld>
            <a:endParaRPr lang="en-GB"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Today we have discussed the role of the TA</a:t>
            </a:r>
            <a:r>
              <a:rPr lang="en-GB" baseline="0" dirty="0" smtClean="0"/>
              <a:t> as it is within your schools and through the research of various projects. It has highlighted the need for TAs to spend less time with the special needs children; encouraging teachers to differentiate their work and skills more appropriately. It suggests moving TAs away from the old ‘Velcro’ model and use instead the WDEP method which encourages independence in the child.</a:t>
            </a:r>
          </a:p>
          <a:p>
            <a:r>
              <a:rPr lang="en-GB" baseline="0" dirty="0" smtClean="0"/>
              <a:t>The most progress is made for a child who takes on board the suggestions made from marking or when work carried out in  intervention filter back into other areas of their learning in the classroom.</a:t>
            </a:r>
            <a:endParaRPr lang="en-GB" baseline="0" dirty="0" smtClean="0"/>
          </a:p>
          <a:p>
            <a:endParaRPr lang="en-GB" baseline="0" dirty="0" smtClean="0"/>
          </a:p>
          <a:p>
            <a:r>
              <a:rPr lang="en-GB" baseline="0" dirty="0" smtClean="0"/>
              <a:t>We have heard that interventions are only worth doing if they are structured using the APDR method where they can be monitored properly and on a regular basis.</a:t>
            </a:r>
          </a:p>
          <a:p>
            <a:endParaRPr lang="en-GB"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And finally, </a:t>
            </a:r>
            <a:r>
              <a:rPr lang="en-GB" baseline="0" dirty="0" smtClean="0"/>
              <a:t>research has also recognised that the role of the TA needs to be considered more highly within a school and this has lead to a new system of performance management.</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28</a:t>
            </a:fld>
            <a:endParaRPr lang="en-GB"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Grey Background)">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xmlns="" val="0"/>
              </a:ext>
            </a:extLst>
          </a:blip>
          <a:stretch>
            <a:fillRect/>
          </a:stretch>
        </p:blipFill>
        <p:spPr>
          <a:xfrm>
            <a:off x="0" y="0"/>
            <a:ext cx="9144000" cy="6858000"/>
          </a:xfrm>
          <a:prstGeom prst="rect">
            <a:avLst/>
          </a:prstGeom>
        </p:spPr>
      </p:pic>
      <p:pic>
        <p:nvPicPr>
          <p:cNvPr id="16" name="Picture 15" descr="AfC_RGB-Colour_ForGreyBackground.png"/>
          <p:cNvPicPr>
            <a:picLocks noChangeAspect="1"/>
          </p:cNvPicPr>
          <p:nvPr userDrawn="1"/>
        </p:nvPicPr>
        <p:blipFill>
          <a:blip r:embed="rId3">
            <a:extLst>
              <a:ext uri="{28A0092B-C50C-407E-A947-70E740481C1C}">
                <a14:useLocalDpi xmlns:a14="http://schemas.microsoft.com/office/drawing/2010/main" xmlns=""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xmlns="" val="274767392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only">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xmlns=""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xmlns="" val="149481573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rait image with text">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xmlns=""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xmlns="" val="377912620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on grey background)">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xmlns=""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xmlns="" val="159175323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trapline">
    <p:spTree>
      <p:nvGrpSpPr>
        <p:cNvPr id="1" name=""/>
        <p:cNvGrpSpPr/>
        <p:nvPr/>
      </p:nvGrpSpPr>
      <p:grpSpPr>
        <a:xfrm>
          <a:off x="0" y="0"/>
          <a:ext cx="0" cy="0"/>
          <a:chOff x="0" y="0"/>
          <a:chExt cx="0" cy="0"/>
        </a:xfrm>
      </p:grpSpPr>
      <p:pic>
        <p:nvPicPr>
          <p:cNvPr id="8" name="Picture 7" descr="AfC_PPT_Corporate_13A_backgrounds_2.eps"/>
          <p:cNvPicPr>
            <a:picLocks noChangeAspect="1"/>
          </p:cNvPicPr>
          <p:nvPr userDrawn="1"/>
        </p:nvPicPr>
        <p:blipFill>
          <a:blip r:embed="rId2">
            <a:extLst>
              <a:ext uri="{28A0092B-C50C-407E-A947-70E740481C1C}">
                <a14:useLocalDpi xmlns:a14="http://schemas.microsoft.com/office/drawing/2010/main" xmlns="" val="0"/>
              </a:ext>
            </a:extLst>
          </a:blip>
          <a:stretch>
            <a:fillRect/>
          </a:stretch>
        </p:blipFill>
        <p:spPr>
          <a:xfrm>
            <a:off x="0" y="0"/>
            <a:ext cx="9180000" cy="6885000"/>
          </a:xfrm>
          <a:prstGeom prst="rect">
            <a:avLst/>
          </a:prstGeom>
        </p:spPr>
      </p:pic>
    </p:spTree>
    <p:extLst>
      <p:ext uri="{BB962C8B-B14F-4D97-AF65-F5344CB8AC3E}">
        <p14:creationId xmlns:p14="http://schemas.microsoft.com/office/powerpoint/2010/main" xmlns="" val="226280642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d slide (on grey background)">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xmlns="" val="0"/>
              </a:ext>
            </a:extLst>
          </a:blip>
          <a:stretch>
            <a:fillRect/>
          </a:stretch>
        </p:blipFill>
        <p:spPr>
          <a:xfrm>
            <a:off x="0" y="0"/>
            <a:ext cx="9144000" cy="6858000"/>
          </a:xfrm>
          <a:prstGeom prst="rect">
            <a:avLst/>
          </a:prstGeom>
        </p:spPr>
      </p:pic>
      <p:cxnSp>
        <p:nvCxnSpPr>
          <p:cNvPr id="8" name="Straight Connector 7"/>
          <p:cNvCxnSpPr/>
          <p:nvPr userDrawn="1"/>
        </p:nvCxnSpPr>
        <p:spPr>
          <a:xfrm>
            <a:off x="3396376" y="3460261"/>
            <a:ext cx="2434231"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17" name="Text Placeholder 8"/>
          <p:cNvSpPr>
            <a:spLocks noGrp="1"/>
          </p:cNvSpPr>
          <p:nvPr>
            <p:ph type="body" sz="quarter" idx="10" hasCustomPrompt="1"/>
          </p:nvPr>
        </p:nvSpPr>
        <p:spPr>
          <a:xfrm>
            <a:off x="1849683" y="2627088"/>
            <a:ext cx="5447880" cy="780685"/>
          </a:xfrm>
        </p:spPr>
        <p:txBody>
          <a:bodyPr>
            <a:normAutofit/>
          </a:bodyPr>
          <a:lstStyle>
            <a:lvl1pPr marL="0" indent="0" algn="ctr">
              <a:buFontTx/>
              <a:buNone/>
              <a:defRPr sz="3600" b="1" baseline="0">
                <a:solidFill>
                  <a:schemeClr val="bg1"/>
                </a:solidFill>
                <a:latin typeface="+mj-lt"/>
              </a:defRPr>
            </a:lvl1pPr>
          </a:lstStyle>
          <a:p>
            <a:pPr lvl="0"/>
            <a:r>
              <a:rPr lang="en-GB" dirty="0" smtClean="0"/>
              <a:t>Thank you </a:t>
            </a:r>
            <a:endParaRPr lang="en-US" dirty="0"/>
          </a:p>
        </p:txBody>
      </p:sp>
      <p:pic>
        <p:nvPicPr>
          <p:cNvPr id="6" name="Picture 5" descr="AfC_RGB-Colour_ForGreyBackground.png"/>
          <p:cNvPicPr>
            <a:picLocks noChangeAspect="1"/>
          </p:cNvPicPr>
          <p:nvPr userDrawn="1"/>
        </p:nvPicPr>
        <p:blipFill>
          <a:blip r:embed="rId3">
            <a:extLst>
              <a:ext uri="{28A0092B-C50C-407E-A947-70E740481C1C}">
                <a14:useLocalDpi xmlns:a14="http://schemas.microsoft.com/office/drawing/2010/main" xmlns=""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xmlns="" val="29423341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612018A1-CE7A-4EFE-A1D4-AFBB7FD2CB9B}" type="datetime1">
              <a:rPr lang="en-GB"/>
              <a:pPr>
                <a:defRPr/>
              </a:pPr>
              <a:t>04/11/2017</a:t>
            </a:fld>
            <a:endParaRPr lang="en-GB" dirty="0"/>
          </a:p>
        </p:txBody>
      </p:sp>
      <p:sp>
        <p:nvSpPr>
          <p:cNvPr id="5" name="Footer Placeholder 4"/>
          <p:cNvSpPr>
            <a:spLocks noGrp="1"/>
          </p:cNvSpPr>
          <p:nvPr>
            <p:ph type="ftr" sz="quarter" idx="11"/>
          </p:nvPr>
        </p:nvSpPr>
        <p:spPr/>
        <p:txBody>
          <a:bodyPr/>
          <a:lstStyle>
            <a:lvl1pPr>
              <a:defRPr/>
            </a:lvl1pPr>
          </a:lstStyle>
          <a:p>
            <a:pPr>
              <a:defRPr/>
            </a:pPr>
            <a:endParaRPr lang="en-GB" dirty="0"/>
          </a:p>
        </p:txBody>
      </p:sp>
      <p:sp>
        <p:nvSpPr>
          <p:cNvPr id="6" name="Slide Number Placeholder 5"/>
          <p:cNvSpPr>
            <a:spLocks noGrp="1"/>
          </p:cNvSpPr>
          <p:nvPr>
            <p:ph type="sldNum" sz="quarter" idx="12"/>
          </p:nvPr>
        </p:nvSpPr>
        <p:spPr/>
        <p:txBody>
          <a:bodyPr/>
          <a:lstStyle>
            <a:lvl1pPr>
              <a:defRPr/>
            </a:lvl1pPr>
          </a:lstStyle>
          <a:p>
            <a:pPr>
              <a:defRPr/>
            </a:pPr>
            <a:fld id="{0C2A6B35-EF06-4B1D-96FC-BE5C5D1AB587}" type="slidenum">
              <a:rPr lang="en-GB"/>
              <a:pPr>
                <a:defRPr/>
              </a:pPr>
              <a:t>‹#›</a:t>
            </a:fld>
            <a:endParaRPr lang="en-GB" dirty="0"/>
          </a:p>
        </p:txBody>
      </p:sp>
    </p:spTree>
    <p:extLst>
      <p:ext uri="{BB962C8B-B14F-4D97-AF65-F5344CB8AC3E}">
        <p14:creationId xmlns="" xmlns:p14="http://schemas.microsoft.com/office/powerpoint/2010/main" val="1119834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7E6FF19E-D1CE-4D5E-94B8-E8CF1A039C01}" type="datetime1">
              <a:rPr lang="en-GB"/>
              <a:pPr>
                <a:defRPr/>
              </a:pPr>
              <a:t>04/11/2017</a:t>
            </a:fld>
            <a:endParaRPr lang="en-GB" dirty="0"/>
          </a:p>
        </p:txBody>
      </p:sp>
      <p:sp>
        <p:nvSpPr>
          <p:cNvPr id="4" name="Footer Placeholder 4"/>
          <p:cNvSpPr>
            <a:spLocks noGrp="1"/>
          </p:cNvSpPr>
          <p:nvPr>
            <p:ph type="ftr" sz="quarter" idx="11"/>
          </p:nvPr>
        </p:nvSpPr>
        <p:spPr/>
        <p:txBody>
          <a:bodyPr/>
          <a:lstStyle>
            <a:lvl1pPr>
              <a:defRPr/>
            </a:lvl1pPr>
          </a:lstStyle>
          <a:p>
            <a:pPr>
              <a:defRPr/>
            </a:pPr>
            <a:endParaRPr lang="en-GB" dirty="0"/>
          </a:p>
        </p:txBody>
      </p:sp>
      <p:sp>
        <p:nvSpPr>
          <p:cNvPr id="5" name="Slide Number Placeholder 5"/>
          <p:cNvSpPr>
            <a:spLocks noGrp="1"/>
          </p:cNvSpPr>
          <p:nvPr>
            <p:ph type="sldNum" sz="quarter" idx="12"/>
          </p:nvPr>
        </p:nvSpPr>
        <p:spPr/>
        <p:txBody>
          <a:bodyPr/>
          <a:lstStyle>
            <a:lvl1pPr>
              <a:defRPr/>
            </a:lvl1pPr>
          </a:lstStyle>
          <a:p>
            <a:pPr>
              <a:defRPr/>
            </a:pPr>
            <a:fld id="{C6B44138-8C0D-4525-B818-B9C3642F6C53}" type="slidenum">
              <a:rPr lang="en-GB"/>
              <a:pPr>
                <a:defRPr/>
              </a:pPr>
              <a:t>‹#›</a:t>
            </a:fld>
            <a:endParaRPr lang="en-GB" dirty="0"/>
          </a:p>
        </p:txBody>
      </p:sp>
    </p:spTree>
    <p:extLst>
      <p:ext uri="{BB962C8B-B14F-4D97-AF65-F5344CB8AC3E}">
        <p14:creationId xmlns="" xmlns:p14="http://schemas.microsoft.com/office/powerpoint/2010/main" val="475942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7A11C94B-CF08-4F87-A4A1-B0DD84FF0D79}" type="datetime1">
              <a:rPr lang="en-GB"/>
              <a:pPr>
                <a:defRPr/>
              </a:pPr>
              <a:t>04/11/2017</a:t>
            </a:fld>
            <a:endParaRPr lang="en-GB" dirty="0"/>
          </a:p>
        </p:txBody>
      </p:sp>
      <p:sp>
        <p:nvSpPr>
          <p:cNvPr id="8" name="Footer Placeholder 4"/>
          <p:cNvSpPr>
            <a:spLocks noGrp="1"/>
          </p:cNvSpPr>
          <p:nvPr>
            <p:ph type="ftr" sz="quarter" idx="11"/>
          </p:nvPr>
        </p:nvSpPr>
        <p:spPr/>
        <p:txBody>
          <a:bodyPr/>
          <a:lstStyle>
            <a:lvl1pPr>
              <a:defRPr/>
            </a:lvl1pPr>
          </a:lstStyle>
          <a:p>
            <a:pPr>
              <a:defRPr/>
            </a:pPr>
            <a:endParaRPr lang="en-GB" dirty="0"/>
          </a:p>
        </p:txBody>
      </p:sp>
      <p:sp>
        <p:nvSpPr>
          <p:cNvPr id="9" name="Slide Number Placeholder 5"/>
          <p:cNvSpPr>
            <a:spLocks noGrp="1"/>
          </p:cNvSpPr>
          <p:nvPr>
            <p:ph type="sldNum" sz="quarter" idx="12"/>
          </p:nvPr>
        </p:nvSpPr>
        <p:spPr/>
        <p:txBody>
          <a:bodyPr/>
          <a:lstStyle>
            <a:lvl1pPr>
              <a:defRPr/>
            </a:lvl1pPr>
          </a:lstStyle>
          <a:p>
            <a:pPr>
              <a:defRPr/>
            </a:pPr>
            <a:fld id="{38407A66-73FB-4060-BEA6-A6CA3616EE5C}" type="slidenum">
              <a:rPr lang="en-GB"/>
              <a:pPr>
                <a:defRPr/>
              </a:pPr>
              <a:t>‹#›</a:t>
            </a:fld>
            <a:endParaRPr lang="en-GB" dirty="0"/>
          </a:p>
        </p:txBody>
      </p:sp>
    </p:spTree>
    <p:extLst>
      <p:ext uri="{BB962C8B-B14F-4D97-AF65-F5344CB8AC3E}">
        <p14:creationId xmlns="" xmlns:p14="http://schemas.microsoft.com/office/powerpoint/2010/main" val="27100704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000E10C-C381-49B9-BAB8-9439F88A6E32}" type="datetime1">
              <a:rPr lang="en-GB"/>
              <a:pPr>
                <a:defRPr/>
              </a:pPr>
              <a:t>04/11/2017</a:t>
            </a:fld>
            <a:endParaRPr lang="en-GB" dirty="0"/>
          </a:p>
        </p:txBody>
      </p:sp>
      <p:sp>
        <p:nvSpPr>
          <p:cNvPr id="6" name="Footer Placeholder 4"/>
          <p:cNvSpPr>
            <a:spLocks noGrp="1"/>
          </p:cNvSpPr>
          <p:nvPr>
            <p:ph type="ftr" sz="quarter" idx="11"/>
          </p:nvPr>
        </p:nvSpPr>
        <p:spPr/>
        <p:txBody>
          <a:bodyPr/>
          <a:lstStyle>
            <a:lvl1pPr>
              <a:defRPr/>
            </a:lvl1pPr>
          </a:lstStyle>
          <a:p>
            <a:pPr>
              <a:defRPr/>
            </a:pPr>
            <a:endParaRPr lang="en-GB" dirty="0"/>
          </a:p>
        </p:txBody>
      </p:sp>
      <p:sp>
        <p:nvSpPr>
          <p:cNvPr id="7" name="Slide Number Placeholder 5"/>
          <p:cNvSpPr>
            <a:spLocks noGrp="1"/>
          </p:cNvSpPr>
          <p:nvPr>
            <p:ph type="sldNum" sz="quarter" idx="12"/>
          </p:nvPr>
        </p:nvSpPr>
        <p:spPr/>
        <p:txBody>
          <a:bodyPr/>
          <a:lstStyle>
            <a:lvl1pPr>
              <a:defRPr/>
            </a:lvl1pPr>
          </a:lstStyle>
          <a:p>
            <a:pPr>
              <a:defRPr/>
            </a:pPr>
            <a:fld id="{62268C21-9C5C-41DF-8ABE-9B48E0443565}" type="slidenum">
              <a:rPr lang="en-GB"/>
              <a:pPr>
                <a:defRPr/>
              </a:pPr>
              <a:t>‹#›</a:t>
            </a:fld>
            <a:endParaRPr lang="en-GB" dirty="0"/>
          </a:p>
        </p:txBody>
      </p:sp>
    </p:spTree>
    <p:extLst>
      <p:ext uri="{BB962C8B-B14F-4D97-AF65-F5344CB8AC3E}">
        <p14:creationId xmlns="" xmlns:p14="http://schemas.microsoft.com/office/powerpoint/2010/main" val="850276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B9303D1A-B352-42F9-9844-328503C0CF1C}" type="datetime1">
              <a:rPr lang="en-GB"/>
              <a:pPr>
                <a:defRPr/>
              </a:pPr>
              <a:t>04/11/2017</a:t>
            </a:fld>
            <a:endParaRPr lang="en-GB" dirty="0"/>
          </a:p>
        </p:txBody>
      </p:sp>
      <p:sp>
        <p:nvSpPr>
          <p:cNvPr id="6" name="Footer Placeholder 4"/>
          <p:cNvSpPr>
            <a:spLocks noGrp="1"/>
          </p:cNvSpPr>
          <p:nvPr>
            <p:ph type="ftr" sz="quarter" idx="11"/>
          </p:nvPr>
        </p:nvSpPr>
        <p:spPr/>
        <p:txBody>
          <a:bodyPr/>
          <a:lstStyle>
            <a:lvl1pPr>
              <a:defRPr/>
            </a:lvl1pPr>
          </a:lstStyle>
          <a:p>
            <a:pPr>
              <a:defRPr/>
            </a:pPr>
            <a:endParaRPr lang="en-GB" dirty="0"/>
          </a:p>
        </p:txBody>
      </p:sp>
      <p:sp>
        <p:nvSpPr>
          <p:cNvPr id="7" name="Slide Number Placeholder 5"/>
          <p:cNvSpPr>
            <a:spLocks noGrp="1"/>
          </p:cNvSpPr>
          <p:nvPr>
            <p:ph type="sldNum" sz="quarter" idx="12"/>
          </p:nvPr>
        </p:nvSpPr>
        <p:spPr/>
        <p:txBody>
          <a:bodyPr/>
          <a:lstStyle>
            <a:lvl1pPr>
              <a:defRPr/>
            </a:lvl1pPr>
          </a:lstStyle>
          <a:p>
            <a:pPr>
              <a:defRPr/>
            </a:pPr>
            <a:fld id="{DB66A04E-0D32-4A03-9112-3A44FC6113C3}" type="slidenum">
              <a:rPr lang="en-GB"/>
              <a:pPr>
                <a:defRPr/>
              </a:pPr>
              <a:t>‹#›</a:t>
            </a:fld>
            <a:endParaRPr lang="en-GB" dirty="0"/>
          </a:p>
        </p:txBody>
      </p:sp>
    </p:spTree>
    <p:extLst>
      <p:ext uri="{BB962C8B-B14F-4D97-AF65-F5344CB8AC3E}">
        <p14:creationId xmlns="" xmlns:p14="http://schemas.microsoft.com/office/powerpoint/2010/main" val="5897348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DAFA3326-ADAE-4A4F-9C14-8B2AD3F4DD9F}" type="datetime1">
              <a:rPr lang="en-GB"/>
              <a:pPr>
                <a:defRPr/>
              </a:pPr>
              <a:t>04/11/2017</a:t>
            </a:fld>
            <a:endParaRPr lang="en-GB" dirty="0"/>
          </a:p>
        </p:txBody>
      </p:sp>
      <p:sp>
        <p:nvSpPr>
          <p:cNvPr id="5" name="Footer Placeholder 4"/>
          <p:cNvSpPr>
            <a:spLocks noGrp="1"/>
          </p:cNvSpPr>
          <p:nvPr>
            <p:ph type="ftr" sz="quarter" idx="11"/>
          </p:nvPr>
        </p:nvSpPr>
        <p:spPr/>
        <p:txBody>
          <a:bodyPr/>
          <a:lstStyle>
            <a:lvl1pPr>
              <a:defRPr/>
            </a:lvl1pPr>
          </a:lstStyle>
          <a:p>
            <a:pPr>
              <a:defRPr/>
            </a:pPr>
            <a:endParaRPr lang="en-GB" dirty="0"/>
          </a:p>
        </p:txBody>
      </p:sp>
      <p:sp>
        <p:nvSpPr>
          <p:cNvPr id="6" name="Slide Number Placeholder 5"/>
          <p:cNvSpPr>
            <a:spLocks noGrp="1"/>
          </p:cNvSpPr>
          <p:nvPr>
            <p:ph type="sldNum" sz="quarter" idx="12"/>
          </p:nvPr>
        </p:nvSpPr>
        <p:spPr/>
        <p:txBody>
          <a:bodyPr/>
          <a:lstStyle>
            <a:lvl1pPr>
              <a:defRPr/>
            </a:lvl1pPr>
          </a:lstStyle>
          <a:p>
            <a:pPr>
              <a:defRPr/>
            </a:pPr>
            <a:fld id="{7711C263-FA8D-4220-8D82-93A79A09BEB0}" type="slidenum">
              <a:rPr lang="en-GB"/>
              <a:pPr>
                <a:defRPr/>
              </a:pPr>
              <a:t>‹#›</a:t>
            </a:fld>
            <a:endParaRPr lang="en-GB" dirty="0"/>
          </a:p>
        </p:txBody>
      </p:sp>
    </p:spTree>
    <p:extLst>
      <p:ext uri="{BB962C8B-B14F-4D97-AF65-F5344CB8AC3E}">
        <p14:creationId xmlns="" xmlns:p14="http://schemas.microsoft.com/office/powerpoint/2010/main" val="1845233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A823C-80D3-9242-A3DC-1A2C6C879196}" type="datetimeFigureOut">
              <a:rPr lang="en-US" smtClean="0"/>
              <a:pPr/>
              <a:t>11/4/2017</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C3231D-557D-0245-BFA8-91B4157E4FCA}" type="slidenum">
              <a:rPr lang="en-US" smtClean="0"/>
              <a:pPr/>
              <a:t>‹#›</a:t>
            </a:fld>
            <a:endParaRPr lang="en-US" dirty="0"/>
          </a:p>
        </p:txBody>
      </p:sp>
    </p:spTree>
    <p:extLst>
      <p:ext uri="{BB962C8B-B14F-4D97-AF65-F5344CB8AC3E}">
        <p14:creationId xmlns:p14="http://schemas.microsoft.com/office/powerpoint/2010/main" xmlns="" val="216653699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5" r:id="rId3"/>
    <p:sldLayoutId id="2147483661" r:id="rId4"/>
    <p:sldLayoutId id="2147483682" r:id="rId5"/>
    <p:sldLayoutId id="2147483667" r:id="rId6"/>
    <p:sldLayoutId id="2147483683" r:id="rId7"/>
    <p:sldLayoutId id="2147483684" r:id="rId8"/>
    <p:sldLayoutId id="2147483685" r:id="rId9"/>
    <p:sldLayoutId id="2147483686" r:id="rId10"/>
    <p:sldLayoutId id="2147483687" r:id="rId11"/>
    <p:sldLayoutId id="2147483689" r:id="rId12"/>
  </p:sldLayoutIdLst>
  <p:timing>
    <p:tnLst>
      <p:par>
        <p:cTn id="1" dur="indefinite" restart="never" nodeType="tmRoot"/>
      </p:par>
    </p:tnLst>
  </p:timing>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hyperlink" Target="https://www.google.co.uk/url?sa=i&amp;rct=j&amp;q=&amp;esrc=s&amp;source=images&amp;cd=&amp;cad=rja&amp;uact=8&amp;ved=0ahUKEwjOoLfV66TNAhWIIsAKHYiFCE8QjRwIBw&amp;url=https://authorbeckyjohnen.wordpress.com/2014/12/15/making-sure-our-scales-of-life-are-balanced/&amp;bvm=bv.124272578,d.ZGg&amp;psig=AFQjCNEsFZ7GziDYxNCq7uiQGUVF778VlA&amp;ust=1465901703878287"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www.google.co.uk/url?sa=i&amp;rct=j&amp;q=&amp;esrc=s&amp;source=images&amp;cd=&amp;cad=rja&amp;uact=8&amp;ved=0ahUKEwj6-byZ-7bNAhUrAsAKHT5QCc8QjRwIBw&amp;url=https://ehcp.planhub.co.uk/&amp;psig=AFQjCNHkBstB7OtB33FdNlXj10XVVo9bfg&amp;ust=1466524368121590"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www.google.co.uk/url?sa=i&amp;rct=j&amp;q=&amp;esrc=s&amp;source=images&amp;cd=&amp;cad=rja&amp;uact=8&amp;ved=0ahUKEwimpaiz7qTNAhXmLcAKHZHGDigQjRwIBw&amp;url=http://simonlovelock.com/using-s-m-a-r-t-goals-in-musical-practice/&amp;bvm=bv.124272578,d.ZGg&amp;psig=AFQjCNElTZQ8_QhOMWDZpMEQGf6cOLEXVg&amp;ust=1465902453201619" TargetMode="External"/><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1.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940053" y="3847549"/>
            <a:ext cx="5280144"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2" name="Text Placeholder 1"/>
          <p:cNvSpPr>
            <a:spLocks noGrp="1"/>
          </p:cNvSpPr>
          <p:nvPr>
            <p:ph type="body" sz="quarter" idx="4294967295"/>
          </p:nvPr>
        </p:nvSpPr>
        <p:spPr>
          <a:xfrm>
            <a:off x="1010653" y="1272480"/>
            <a:ext cx="7170821" cy="1139850"/>
          </a:xfrm>
        </p:spPr>
        <p:txBody>
          <a:bodyPr>
            <a:noAutofit/>
          </a:bodyPr>
          <a:lstStyle/>
          <a:p>
            <a:pPr marL="0" indent="0" algn="ctr">
              <a:buNone/>
            </a:pPr>
            <a:r>
              <a:rPr lang="en-GB" sz="5400" dirty="0" smtClean="0">
                <a:solidFill>
                  <a:schemeClr val="bg1"/>
                </a:solidFill>
              </a:rPr>
              <a:t>Effective Use of Teaching Assistants</a:t>
            </a:r>
            <a:endParaRPr lang="en-GB" sz="5400" dirty="0">
              <a:solidFill>
                <a:schemeClr val="bg1"/>
              </a:solidFill>
            </a:endParaRPr>
          </a:p>
        </p:txBody>
      </p:sp>
      <p:sp>
        <p:nvSpPr>
          <p:cNvPr id="3" name="Text Placeholder 2"/>
          <p:cNvSpPr>
            <a:spLocks noGrp="1"/>
          </p:cNvSpPr>
          <p:nvPr>
            <p:ph type="body" sz="quarter" idx="4294967295"/>
          </p:nvPr>
        </p:nvSpPr>
        <p:spPr>
          <a:xfrm>
            <a:off x="1010653" y="3999305"/>
            <a:ext cx="7170821" cy="695325"/>
          </a:xfrm>
        </p:spPr>
        <p:txBody>
          <a:bodyPr>
            <a:noAutofit/>
          </a:bodyPr>
          <a:lstStyle/>
          <a:p>
            <a:pPr marL="457200" indent="-457200" algn="ctr">
              <a:buNone/>
            </a:pPr>
            <a:r>
              <a:rPr lang="en-GB" sz="1600" dirty="0" smtClean="0">
                <a:solidFill>
                  <a:schemeClr val="bg1"/>
                </a:solidFill>
                <a:latin typeface="Arial" panose="020B0604020202020204" pitchFamily="34" charset="0"/>
                <a:cs typeface="Arial" panose="020B0604020202020204" pitchFamily="34" charset="0"/>
              </a:rPr>
              <a:t>Official research </a:t>
            </a:r>
          </a:p>
          <a:p>
            <a:pPr marL="457200" indent="-457200" algn="ctr">
              <a:buNone/>
            </a:pPr>
            <a:r>
              <a:rPr lang="en-GB" sz="1600" dirty="0" smtClean="0">
                <a:solidFill>
                  <a:schemeClr val="bg1"/>
                </a:solidFill>
                <a:latin typeface="Arial" panose="020B0604020202020204" pitchFamily="34" charset="0"/>
                <a:cs typeface="Arial" panose="020B0604020202020204" pitchFamily="34" charset="0"/>
              </a:rPr>
              <a:t>Classroom practice, strategies and feedback</a:t>
            </a:r>
          </a:p>
          <a:p>
            <a:pPr marL="457200" indent="-457200" algn="ctr">
              <a:buNone/>
            </a:pPr>
            <a:r>
              <a:rPr lang="en-GB" sz="1600" dirty="0" smtClean="0">
                <a:solidFill>
                  <a:schemeClr val="bg1"/>
                </a:solidFill>
                <a:latin typeface="Arial" panose="020B0604020202020204" pitchFamily="34" charset="0"/>
                <a:cs typeface="Arial" panose="020B0604020202020204" pitchFamily="34" charset="0"/>
              </a:rPr>
              <a:t>Interventions, assessment, measuring effectiveness, transition of skills and feedback</a:t>
            </a:r>
          </a:p>
          <a:p>
            <a:pPr marL="457200" indent="-457200" algn="ctr">
              <a:buNone/>
            </a:pPr>
            <a:r>
              <a:rPr lang="en-GB" sz="1600" dirty="0" smtClean="0">
                <a:solidFill>
                  <a:schemeClr val="bg1"/>
                </a:solidFill>
                <a:latin typeface="Arial" panose="020B0604020202020204" pitchFamily="34" charset="0"/>
                <a:cs typeface="Arial" panose="020B0604020202020204" pitchFamily="34" charset="0"/>
              </a:rPr>
              <a:t>TA audits, Professional Development and Appraisals</a:t>
            </a:r>
          </a:p>
          <a:p>
            <a:pPr marL="0" indent="0">
              <a:buNone/>
            </a:pPr>
            <a:endParaRPr lang="en-GB" sz="1800" dirty="0">
              <a:solidFill>
                <a:schemeClr val="bg1"/>
              </a:solidFill>
            </a:endParaRPr>
          </a:p>
        </p:txBody>
      </p:sp>
    </p:spTree>
    <p:extLst>
      <p:ext uri="{BB962C8B-B14F-4D97-AF65-F5344CB8AC3E}">
        <p14:creationId xmlns:p14="http://schemas.microsoft.com/office/powerpoint/2010/main" xmlns="" val="41886237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hildrens Services &amp; Culture\CDSI\PPC - Comms\2540 AfC Rebranding\Branding development\Matter&amp;Co\Master Logo Suite\AFC Main Logo\CMYK\PNGs\With Strapline\AfC_CMYK-Strapline_foryellowbackground.pn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717039" y="1923359"/>
            <a:ext cx="5872163" cy="276643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3393520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4C239"/>
          </a:solidFill>
        </p:spPr>
        <p:txBody>
          <a:bodyPr/>
          <a:lstStyle/>
          <a:p>
            <a:r>
              <a:rPr lang="en-GB" b="1" dirty="0" smtClean="0">
                <a:solidFill>
                  <a:schemeClr val="tx1">
                    <a:lumMod val="65000"/>
                    <a:lumOff val="35000"/>
                  </a:schemeClr>
                </a:solidFill>
              </a:rPr>
              <a:t>Research</a:t>
            </a:r>
            <a:endParaRPr lang="en-GB" b="1" dirty="0">
              <a:solidFill>
                <a:schemeClr val="tx1">
                  <a:lumMod val="65000"/>
                  <a:lumOff val="35000"/>
                </a:schemeClr>
              </a:solidFill>
            </a:endParaRPr>
          </a:p>
        </p:txBody>
      </p:sp>
      <p:sp>
        <p:nvSpPr>
          <p:cNvPr id="3" name="TextBox 2"/>
          <p:cNvSpPr txBox="1"/>
          <p:nvPr/>
        </p:nvSpPr>
        <p:spPr>
          <a:xfrm>
            <a:off x="539552" y="1772816"/>
            <a:ext cx="7776864" cy="4862870"/>
          </a:xfrm>
          <a:prstGeom prst="rect">
            <a:avLst/>
          </a:prstGeom>
          <a:noFill/>
        </p:spPr>
        <p:txBody>
          <a:bodyPr wrap="square" rtlCol="0">
            <a:spAutoFit/>
          </a:bodyPr>
          <a:lstStyle/>
          <a:p>
            <a:r>
              <a:rPr lang="en-GB" sz="1800" dirty="0" smtClean="0">
                <a:solidFill>
                  <a:schemeClr val="tx1">
                    <a:lumMod val="65000"/>
                    <a:lumOff val="35000"/>
                  </a:schemeClr>
                </a:solidFill>
                <a:latin typeface="Calibri" panose="020F0502020204030204" pitchFamily="34" charset="0"/>
              </a:rPr>
              <a:t>Effective Deployment of Teaching Assistants (</a:t>
            </a:r>
            <a:r>
              <a:rPr lang="en-GB" sz="1800" b="1" dirty="0" smtClean="0">
                <a:solidFill>
                  <a:schemeClr val="tx1">
                    <a:lumMod val="65000"/>
                    <a:lumOff val="35000"/>
                  </a:schemeClr>
                </a:solidFill>
                <a:latin typeface="Calibri" panose="020F0502020204030204" pitchFamily="34" charset="0"/>
              </a:rPr>
              <a:t>EDTA</a:t>
            </a:r>
            <a:r>
              <a:rPr lang="en-GB" sz="1800" dirty="0" smtClean="0">
                <a:solidFill>
                  <a:schemeClr val="tx1">
                    <a:lumMod val="65000"/>
                    <a:lumOff val="35000"/>
                  </a:schemeClr>
                </a:solidFill>
                <a:latin typeface="Calibri" panose="020F0502020204030204" pitchFamily="34" charset="0"/>
              </a:rPr>
              <a:t>) project</a:t>
            </a:r>
          </a:p>
          <a:p>
            <a:r>
              <a:rPr lang="en-GB" sz="1800" dirty="0" smtClean="0">
                <a:solidFill>
                  <a:schemeClr val="tx1">
                    <a:lumMod val="65000"/>
                    <a:lumOff val="35000"/>
                  </a:schemeClr>
                </a:solidFill>
                <a:latin typeface="Calibri" panose="020F0502020204030204" pitchFamily="34" charset="0"/>
              </a:rPr>
              <a:t>Peter Blatchford, Prof. Rob Webster and Dr Anthony Russell</a:t>
            </a:r>
          </a:p>
          <a:p>
            <a:endParaRPr lang="en-GB" sz="1800" dirty="0">
              <a:solidFill>
                <a:schemeClr val="tx1">
                  <a:lumMod val="65000"/>
                  <a:lumOff val="35000"/>
                </a:schemeClr>
              </a:solidFill>
              <a:latin typeface="Calibri" panose="020F0502020204030204" pitchFamily="34" charset="0"/>
            </a:endParaRPr>
          </a:p>
          <a:p>
            <a:r>
              <a:rPr lang="en-GB" sz="1800" dirty="0" smtClean="0">
                <a:solidFill>
                  <a:schemeClr val="tx1">
                    <a:lumMod val="65000"/>
                    <a:lumOff val="35000"/>
                  </a:schemeClr>
                </a:solidFill>
                <a:latin typeface="Calibri" panose="020F0502020204030204" pitchFamily="34" charset="0"/>
              </a:rPr>
              <a:t>Deployment and Impact of Support Staff (</a:t>
            </a:r>
            <a:r>
              <a:rPr lang="en-GB" sz="1800" b="1" dirty="0" smtClean="0">
                <a:solidFill>
                  <a:schemeClr val="tx1">
                    <a:lumMod val="65000"/>
                    <a:lumOff val="35000"/>
                  </a:schemeClr>
                </a:solidFill>
                <a:latin typeface="Calibri" panose="020F0502020204030204" pitchFamily="34" charset="0"/>
              </a:rPr>
              <a:t>DISS</a:t>
            </a:r>
            <a:r>
              <a:rPr lang="en-GB" sz="1800" dirty="0" smtClean="0">
                <a:solidFill>
                  <a:schemeClr val="tx1">
                    <a:lumMod val="65000"/>
                    <a:lumOff val="35000"/>
                  </a:schemeClr>
                </a:solidFill>
                <a:latin typeface="Calibri" panose="020F0502020204030204" pitchFamily="34" charset="0"/>
              </a:rPr>
              <a:t>) project</a:t>
            </a:r>
          </a:p>
          <a:p>
            <a:r>
              <a:rPr lang="en-GB" sz="1800" dirty="0">
                <a:solidFill>
                  <a:schemeClr val="tx1">
                    <a:lumMod val="65000"/>
                    <a:lumOff val="35000"/>
                  </a:schemeClr>
                </a:solidFill>
                <a:latin typeface="Calibri" panose="020F0502020204030204" pitchFamily="34" charset="0"/>
              </a:rPr>
              <a:t>Peter Blatchford, </a:t>
            </a:r>
            <a:r>
              <a:rPr lang="en-GB" sz="1800" dirty="0" smtClean="0">
                <a:solidFill>
                  <a:schemeClr val="tx1">
                    <a:lumMod val="65000"/>
                    <a:lumOff val="35000"/>
                  </a:schemeClr>
                </a:solidFill>
                <a:latin typeface="Calibri" panose="020F0502020204030204" pitchFamily="34" charset="0"/>
              </a:rPr>
              <a:t>Prof. Rob Webster, Paul Bassett, Penelope Brown and Clare Martin</a:t>
            </a:r>
          </a:p>
          <a:p>
            <a:endParaRPr lang="en-GB" sz="1800" dirty="0">
              <a:solidFill>
                <a:schemeClr val="tx1">
                  <a:lumMod val="65000"/>
                  <a:lumOff val="35000"/>
                </a:schemeClr>
              </a:solidFill>
              <a:latin typeface="Calibri" panose="020F0502020204030204" pitchFamily="34" charset="0"/>
            </a:endParaRPr>
          </a:p>
          <a:p>
            <a:r>
              <a:rPr lang="en-GB" sz="1800" dirty="0" smtClean="0">
                <a:solidFill>
                  <a:schemeClr val="tx1">
                    <a:lumMod val="65000"/>
                    <a:lumOff val="35000"/>
                  </a:schemeClr>
                </a:solidFill>
                <a:latin typeface="Calibri" panose="020F0502020204030204" pitchFamily="34" charset="0"/>
              </a:rPr>
              <a:t>The Education Endowment Foundation (</a:t>
            </a:r>
            <a:r>
              <a:rPr lang="en-GB" sz="1800" b="1" dirty="0" smtClean="0">
                <a:solidFill>
                  <a:schemeClr val="tx1">
                    <a:lumMod val="65000"/>
                    <a:lumOff val="35000"/>
                  </a:schemeClr>
                </a:solidFill>
                <a:latin typeface="Calibri" panose="020F0502020204030204" pitchFamily="34" charset="0"/>
              </a:rPr>
              <a:t>EEF</a:t>
            </a:r>
            <a:r>
              <a:rPr lang="en-GB" sz="1800" dirty="0" smtClean="0">
                <a:solidFill>
                  <a:schemeClr val="tx1">
                    <a:lumMod val="65000"/>
                    <a:lumOff val="35000"/>
                  </a:schemeClr>
                </a:solidFill>
                <a:latin typeface="Calibri" panose="020F0502020204030204" pitchFamily="34" charset="0"/>
              </a:rPr>
              <a:t>) Guidance Report</a:t>
            </a:r>
            <a:r>
              <a:rPr lang="en-GB" sz="1800" dirty="0">
                <a:solidFill>
                  <a:schemeClr val="tx1">
                    <a:lumMod val="65000"/>
                    <a:lumOff val="35000"/>
                  </a:schemeClr>
                </a:solidFill>
                <a:latin typeface="Calibri" panose="020F0502020204030204" pitchFamily="34" charset="0"/>
              </a:rPr>
              <a:t> Peter Blatchford, </a:t>
            </a:r>
            <a:r>
              <a:rPr lang="en-GB" sz="1800" dirty="0" smtClean="0">
                <a:solidFill>
                  <a:schemeClr val="tx1">
                    <a:lumMod val="65000"/>
                    <a:lumOff val="35000"/>
                  </a:schemeClr>
                </a:solidFill>
                <a:latin typeface="Calibri" panose="020F0502020204030204" pitchFamily="34" charset="0"/>
              </a:rPr>
              <a:t>Prof. </a:t>
            </a:r>
            <a:r>
              <a:rPr lang="en-GB" sz="1800" dirty="0">
                <a:solidFill>
                  <a:schemeClr val="tx1">
                    <a:lumMod val="65000"/>
                    <a:lumOff val="35000"/>
                  </a:schemeClr>
                </a:solidFill>
                <a:latin typeface="Calibri" panose="020F0502020204030204" pitchFamily="34" charset="0"/>
              </a:rPr>
              <a:t>Rob Webster </a:t>
            </a:r>
            <a:r>
              <a:rPr lang="en-GB" sz="1800" dirty="0" smtClean="0">
                <a:solidFill>
                  <a:schemeClr val="tx1">
                    <a:lumMod val="65000"/>
                    <a:lumOff val="35000"/>
                  </a:schemeClr>
                </a:solidFill>
                <a:latin typeface="Calibri" panose="020F0502020204030204" pitchFamily="34" charset="0"/>
              </a:rPr>
              <a:t>and Dr John Sharples</a:t>
            </a:r>
          </a:p>
          <a:p>
            <a:endParaRPr lang="en-GB" sz="1800" dirty="0" smtClean="0">
              <a:solidFill>
                <a:schemeClr val="tx1">
                  <a:lumMod val="65000"/>
                  <a:lumOff val="35000"/>
                </a:schemeClr>
              </a:solidFill>
              <a:latin typeface="Calibri" panose="020F0502020204030204" pitchFamily="34" charset="0"/>
            </a:endParaRPr>
          </a:p>
          <a:p>
            <a:r>
              <a:rPr lang="en-US" sz="1800" dirty="0" smtClean="0">
                <a:solidFill>
                  <a:schemeClr val="tx1">
                    <a:lumMod val="65000"/>
                    <a:lumOff val="35000"/>
                  </a:schemeClr>
                </a:solidFill>
                <a:latin typeface="+mn-lt"/>
                <a:ea typeface="Times New Roman" pitchFamily="18" charset="0"/>
                <a:cs typeface="Times New Roman" pitchFamily="18" charset="0"/>
              </a:rPr>
              <a:t>Making a Statement Project (</a:t>
            </a:r>
            <a:r>
              <a:rPr lang="en-US" sz="1800" b="1" dirty="0" smtClean="0">
                <a:solidFill>
                  <a:schemeClr val="tx1">
                    <a:lumMod val="65000"/>
                    <a:lumOff val="35000"/>
                  </a:schemeClr>
                </a:solidFill>
                <a:latin typeface="+mn-lt"/>
                <a:ea typeface="Times New Roman" pitchFamily="18" charset="0"/>
                <a:cs typeface="Times New Roman" pitchFamily="18" charset="0"/>
              </a:rPr>
              <a:t>MaST</a:t>
            </a:r>
            <a:r>
              <a:rPr lang="en-US" sz="1800" dirty="0" smtClean="0">
                <a:solidFill>
                  <a:schemeClr val="tx1">
                    <a:lumMod val="65000"/>
                    <a:lumOff val="35000"/>
                  </a:schemeClr>
                </a:solidFill>
                <a:latin typeface="+mn-lt"/>
                <a:ea typeface="Times New Roman" pitchFamily="18" charset="0"/>
                <a:cs typeface="Times New Roman" pitchFamily="18" charset="0"/>
              </a:rPr>
              <a:t>) </a:t>
            </a:r>
          </a:p>
          <a:p>
            <a:r>
              <a:rPr lang="en-GB" sz="1800" dirty="0" smtClean="0">
                <a:solidFill>
                  <a:schemeClr val="tx1">
                    <a:lumMod val="65000"/>
                    <a:lumOff val="35000"/>
                  </a:schemeClr>
                </a:solidFill>
                <a:latin typeface="+mn-lt"/>
              </a:rPr>
              <a:t>A study of the teaching and support experienced by pupils  with a statement of special educational needs in mainstream </a:t>
            </a:r>
          </a:p>
          <a:p>
            <a:r>
              <a:rPr lang="en-GB" sz="1800" dirty="0" smtClean="0">
                <a:solidFill>
                  <a:schemeClr val="tx1">
                    <a:lumMod val="65000"/>
                    <a:lumOff val="35000"/>
                  </a:schemeClr>
                </a:solidFill>
                <a:latin typeface="+mn-lt"/>
              </a:rPr>
              <a:t>primary  schools</a:t>
            </a:r>
          </a:p>
          <a:p>
            <a:r>
              <a:rPr lang="en-GB" sz="1800" dirty="0" smtClean="0">
                <a:solidFill>
                  <a:schemeClr val="tx1">
                    <a:lumMod val="65000"/>
                    <a:lumOff val="35000"/>
                  </a:schemeClr>
                </a:solidFill>
                <a:latin typeface="+mn-lt"/>
              </a:rPr>
              <a:t>Prof. Rob Webster and Peter Blatchford</a:t>
            </a:r>
          </a:p>
          <a:p>
            <a:endParaRPr lang="en-GB" sz="1600" dirty="0" smtClean="0">
              <a:latin typeface="Calibri" panose="020F0502020204030204" pitchFamily="34" charset="0"/>
            </a:endParaRPr>
          </a:p>
          <a:p>
            <a:endParaRPr lang="en-GB" dirty="0">
              <a:latin typeface="Calibri" panose="020F0502020204030204" pitchFamily="34" charset="0"/>
            </a:endParaRPr>
          </a:p>
        </p:txBody>
      </p:sp>
      <p:sp>
        <p:nvSpPr>
          <p:cNvPr id="4" name="TextBox 3"/>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extLst>
      <p:ext uri="{BB962C8B-B14F-4D97-AF65-F5344CB8AC3E}">
        <p14:creationId xmlns="" xmlns:p14="http://schemas.microsoft.com/office/powerpoint/2010/main" val="1692237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274638"/>
            <a:ext cx="8229600" cy="1426170"/>
          </a:xfrm>
          <a:solidFill>
            <a:srgbClr val="F4C239"/>
          </a:solidFill>
        </p:spPr>
        <p:txBody>
          <a:bodyPr>
            <a:normAutofit fontScale="90000"/>
          </a:bodyPr>
          <a:lstStyle/>
          <a:p>
            <a:r>
              <a:rPr lang="en-GB" b="1" dirty="0" smtClean="0">
                <a:solidFill>
                  <a:schemeClr val="tx1">
                    <a:lumMod val="65000"/>
                    <a:lumOff val="35000"/>
                  </a:schemeClr>
                </a:solidFill>
              </a:rPr>
              <a:t>What Schools will be advised to use.</a:t>
            </a:r>
            <a:endParaRPr lang="en-GB" b="1" dirty="0">
              <a:solidFill>
                <a:schemeClr val="tx1">
                  <a:lumMod val="65000"/>
                  <a:lumOff val="35000"/>
                </a:schemeClr>
              </a:solidFill>
            </a:endParaRPr>
          </a:p>
        </p:txBody>
      </p:sp>
      <p:sp>
        <p:nvSpPr>
          <p:cNvPr id="7" name="Content Placeholder 6"/>
          <p:cNvSpPr>
            <a:spLocks noGrp="1"/>
          </p:cNvSpPr>
          <p:nvPr>
            <p:ph idx="1"/>
          </p:nvPr>
        </p:nvSpPr>
        <p:spPr>
          <a:xfrm>
            <a:off x="457200" y="1844824"/>
            <a:ext cx="8229600" cy="4464496"/>
          </a:xfrm>
        </p:spPr>
        <p:txBody>
          <a:bodyPr/>
          <a:lstStyle/>
          <a:p>
            <a:r>
              <a:rPr lang="en-GB" dirty="0" smtClean="0">
                <a:solidFill>
                  <a:schemeClr val="tx1">
                    <a:lumMod val="65000"/>
                    <a:lumOff val="35000"/>
                  </a:schemeClr>
                </a:solidFill>
                <a:latin typeface="Calibri" panose="020F0502020204030204" pitchFamily="34" charset="0"/>
              </a:rPr>
              <a:t>The Education Endowment Foundation (</a:t>
            </a:r>
            <a:r>
              <a:rPr lang="en-GB" b="1" dirty="0" smtClean="0">
                <a:solidFill>
                  <a:schemeClr val="tx1">
                    <a:lumMod val="65000"/>
                    <a:lumOff val="35000"/>
                  </a:schemeClr>
                </a:solidFill>
                <a:latin typeface="Calibri" panose="020F0502020204030204" pitchFamily="34" charset="0"/>
              </a:rPr>
              <a:t>EEF</a:t>
            </a:r>
            <a:r>
              <a:rPr lang="en-GB" dirty="0" smtClean="0">
                <a:solidFill>
                  <a:schemeClr val="tx1">
                    <a:lumMod val="65000"/>
                    <a:lumOff val="35000"/>
                  </a:schemeClr>
                </a:solidFill>
                <a:latin typeface="Calibri" panose="020F0502020204030204" pitchFamily="34" charset="0"/>
              </a:rPr>
              <a:t>) Guidance Report  </a:t>
            </a:r>
            <a:r>
              <a:rPr lang="en-GB" sz="1400" dirty="0" smtClean="0">
                <a:solidFill>
                  <a:schemeClr val="tx1">
                    <a:lumMod val="65000"/>
                    <a:lumOff val="35000"/>
                  </a:schemeClr>
                </a:solidFill>
                <a:latin typeface="Calibri" panose="020F0502020204030204" pitchFamily="34" charset="0"/>
              </a:rPr>
              <a:t>by Peter Blatchford, Prof Rob Webster and Dr John Sharples </a:t>
            </a:r>
            <a:r>
              <a:rPr lang="en-GB" dirty="0" smtClean="0">
                <a:solidFill>
                  <a:schemeClr val="tx1">
                    <a:lumMod val="65000"/>
                    <a:lumOff val="35000"/>
                  </a:schemeClr>
                </a:solidFill>
                <a:latin typeface="Calibri" panose="020F0502020204030204" pitchFamily="34" charset="0"/>
              </a:rPr>
              <a:t>has suggested documents for auditing the effectiveness of their support staff.</a:t>
            </a:r>
          </a:p>
          <a:p>
            <a:r>
              <a:rPr lang="en-GB" dirty="0" smtClean="0">
                <a:solidFill>
                  <a:schemeClr val="tx1">
                    <a:lumMod val="65000"/>
                    <a:lumOff val="35000"/>
                  </a:schemeClr>
                </a:solidFill>
                <a:latin typeface="Calibri" panose="020F0502020204030204" pitchFamily="34" charset="0"/>
              </a:rPr>
              <a:t>The document is split into 3 areas that should be reviewed with staff at their performance management meetings.</a:t>
            </a:r>
          </a:p>
          <a:p>
            <a:endParaRPr lang="en-GB" dirty="0"/>
          </a:p>
        </p:txBody>
      </p:sp>
      <p:pic>
        <p:nvPicPr>
          <p:cNvPr id="8" name="img" descr="http://research.blogs.lincoln.ac.uk/files/2012/04/Education-Endowment-Foundation.jpg"/>
          <p:cNvPicPr/>
          <p:nvPr/>
        </p:nvPicPr>
        <p:blipFill>
          <a:blip r:embed="rId3" cstate="print"/>
          <a:srcRect/>
          <a:stretch>
            <a:fillRect/>
          </a:stretch>
        </p:blipFill>
        <p:spPr bwMode="auto">
          <a:xfrm>
            <a:off x="5076056" y="5085184"/>
            <a:ext cx="2315845" cy="1080770"/>
          </a:xfrm>
          <a:prstGeom prst="rect">
            <a:avLst/>
          </a:prstGeom>
          <a:noFill/>
          <a:ln w="9525">
            <a:noFill/>
            <a:miter lim="800000"/>
            <a:headEnd/>
            <a:tailEnd/>
          </a:ln>
        </p:spPr>
      </p:pic>
      <p:sp>
        <p:nvSpPr>
          <p:cNvPr id="5" name="TextBox 4"/>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94083" y="866274"/>
            <a:ext cx="7628021" cy="4616648"/>
          </a:xfrm>
          <a:prstGeom prst="rect">
            <a:avLst/>
          </a:prstGeom>
          <a:noFill/>
        </p:spPr>
        <p:txBody>
          <a:bodyPr wrap="square" rtlCol="0">
            <a:spAutoFit/>
          </a:bodyPr>
          <a:lstStyle/>
          <a:p>
            <a:r>
              <a:rPr lang="en-GB" sz="5400" b="1" dirty="0" smtClean="0">
                <a:solidFill>
                  <a:schemeClr val="tx1">
                    <a:lumMod val="65000"/>
                    <a:lumOff val="35000"/>
                  </a:schemeClr>
                </a:solidFill>
              </a:rPr>
              <a:t>TASK</a:t>
            </a:r>
          </a:p>
          <a:p>
            <a:endParaRPr lang="en-GB" sz="4000" dirty="0" smtClean="0">
              <a:solidFill>
                <a:schemeClr val="tx1">
                  <a:lumMod val="65000"/>
                  <a:lumOff val="35000"/>
                </a:schemeClr>
              </a:solidFill>
            </a:endParaRPr>
          </a:p>
          <a:p>
            <a:r>
              <a:rPr lang="en-GB" sz="4000" dirty="0" smtClean="0">
                <a:solidFill>
                  <a:schemeClr val="tx1">
                    <a:lumMod val="65000"/>
                    <a:lumOff val="35000"/>
                  </a:schemeClr>
                </a:solidFill>
              </a:rPr>
              <a:t>What does you job involve?</a:t>
            </a:r>
          </a:p>
          <a:p>
            <a:endParaRPr lang="en-GB" sz="4000" dirty="0" smtClean="0">
              <a:solidFill>
                <a:schemeClr val="tx1">
                  <a:lumMod val="65000"/>
                  <a:lumOff val="35000"/>
                </a:schemeClr>
              </a:solidFill>
            </a:endParaRPr>
          </a:p>
          <a:p>
            <a:r>
              <a:rPr lang="en-GB" sz="4000" dirty="0" smtClean="0">
                <a:solidFill>
                  <a:schemeClr val="tx1">
                    <a:lumMod val="65000"/>
                    <a:lumOff val="35000"/>
                  </a:schemeClr>
                </a:solidFill>
              </a:rPr>
              <a:t>Decide the top 3 things that you do; ranking 1 as the highest amount of your time.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467544" y="332656"/>
            <a:ext cx="8208912" cy="16561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p:cNvSpPr>
            <a:spLocks noGrp="1"/>
          </p:cNvSpPr>
          <p:nvPr>
            <p:ph type="title"/>
          </p:nvPr>
        </p:nvSpPr>
        <p:spPr>
          <a:xfrm>
            <a:off x="467544" y="332656"/>
            <a:ext cx="8208912" cy="1656184"/>
          </a:xfrm>
          <a:solidFill>
            <a:schemeClr val="accent6"/>
          </a:solidFill>
        </p:spPr>
        <p:txBody>
          <a:bodyPr>
            <a:normAutofit fontScale="90000"/>
          </a:bodyPr>
          <a:lstStyle/>
          <a:p>
            <a:r>
              <a:rPr lang="en-GB" sz="1800" dirty="0" smtClean="0"/>
              <a:t/>
            </a:r>
            <a:br>
              <a:rPr lang="en-GB" sz="1800" dirty="0" smtClean="0"/>
            </a:br>
            <a:r>
              <a:rPr lang="en-GB" sz="1800" dirty="0" smtClean="0"/>
              <a:t/>
            </a:r>
            <a:br>
              <a:rPr lang="en-GB" sz="1800" dirty="0" smtClean="0"/>
            </a:br>
            <a:r>
              <a:rPr lang="en-GB" sz="1800" dirty="0" smtClean="0"/>
              <a:t>RECOMMENDATIONS ON THE USE OF TEACHING </a:t>
            </a:r>
            <a:br>
              <a:rPr lang="en-GB" sz="1800" dirty="0" smtClean="0"/>
            </a:br>
            <a:r>
              <a:rPr lang="en-GB" sz="1800" dirty="0" smtClean="0"/>
              <a:t>ASSISTANTS IN EVERYDAY CLASSROOM CONTEXTS</a:t>
            </a:r>
            <a:r>
              <a:rPr lang="en-GB" dirty="0" smtClean="0"/>
              <a:t/>
            </a:r>
            <a:br>
              <a:rPr lang="en-GB" dirty="0" smtClean="0"/>
            </a:br>
            <a:endParaRPr lang="en-GB" dirty="0"/>
          </a:p>
        </p:txBody>
      </p:sp>
      <p:sp>
        <p:nvSpPr>
          <p:cNvPr id="9" name="Rectangle 8"/>
          <p:cNvSpPr/>
          <p:nvPr/>
        </p:nvSpPr>
        <p:spPr>
          <a:xfrm>
            <a:off x="467544" y="2204864"/>
            <a:ext cx="8208912" cy="1224136"/>
          </a:xfrm>
          <a:prstGeom prst="rect">
            <a:avLst/>
          </a:prstGeom>
          <a:solidFill>
            <a:srgbClr val="58C49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800" dirty="0" smtClean="0"/>
              <a:t>RECOMMENDATIONS ON THE USE OF TEACHING ASSISTANTS IN </a:t>
            </a:r>
          </a:p>
          <a:p>
            <a:r>
              <a:rPr lang="en-GB" sz="1800" dirty="0" smtClean="0"/>
              <a:t>DELIVERING STRUCTURED INTERVENTIONS OUT OF CLASS</a:t>
            </a:r>
            <a:endParaRPr lang="en-GB" sz="1800" dirty="0"/>
          </a:p>
        </p:txBody>
      </p:sp>
      <p:sp>
        <p:nvSpPr>
          <p:cNvPr id="10" name="Rectangle 9"/>
          <p:cNvSpPr/>
          <p:nvPr/>
        </p:nvSpPr>
        <p:spPr>
          <a:xfrm>
            <a:off x="467544" y="3789040"/>
            <a:ext cx="8208912" cy="1368152"/>
          </a:xfrm>
          <a:prstGeom prst="rect">
            <a:avLst/>
          </a:prstGeom>
          <a:solidFill>
            <a:srgbClr val="8000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800" dirty="0" smtClean="0"/>
              <a:t>RECOMMENDATIONS ON LINKING LEARNING </a:t>
            </a:r>
          </a:p>
          <a:p>
            <a:r>
              <a:rPr lang="en-GB" sz="1800" dirty="0" smtClean="0"/>
              <a:t>FROM WORK LED BY TEACHERS AND TAs</a:t>
            </a:r>
            <a:endParaRPr lang="en-GB" sz="1800" dirty="0"/>
          </a:p>
        </p:txBody>
      </p:sp>
      <p:pic>
        <p:nvPicPr>
          <p:cNvPr id="12" name="img" descr="http://research.blogs.lincoln.ac.uk/files/2012/04/Education-Endowment-Foundation.jpg"/>
          <p:cNvPicPr/>
          <p:nvPr/>
        </p:nvPicPr>
        <p:blipFill>
          <a:blip r:embed="rId3" cstate="print"/>
          <a:srcRect/>
          <a:stretch>
            <a:fillRect/>
          </a:stretch>
        </p:blipFill>
        <p:spPr bwMode="auto">
          <a:xfrm>
            <a:off x="539552" y="5517232"/>
            <a:ext cx="1517963" cy="612393"/>
          </a:xfrm>
          <a:prstGeom prst="rect">
            <a:avLst/>
          </a:prstGeom>
          <a:noFill/>
          <a:ln w="9525">
            <a:noFill/>
            <a:miter lim="800000"/>
            <a:headEnd/>
            <a:tailEnd/>
          </a:ln>
        </p:spPr>
      </p:pic>
      <p:sp>
        <p:nvSpPr>
          <p:cNvPr id="8" name="TextBox 7"/>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solidFill>
        </p:spPr>
        <p:txBody>
          <a:bodyPr/>
          <a:lstStyle/>
          <a:p>
            <a:r>
              <a:rPr lang="en-GB" b="1" dirty="0" smtClean="0"/>
              <a:t>Pedagogical Model</a:t>
            </a:r>
            <a:endParaRPr lang="en-GB" b="1" dirty="0"/>
          </a:p>
        </p:txBody>
      </p:sp>
      <p:sp>
        <p:nvSpPr>
          <p:cNvPr id="8194" name="AutoShape 2" descr="Image result for pedagogical model of teaching assistants"/>
          <p:cNvSpPr>
            <a:spLocks noChangeAspect="1" noChangeArrowheads="1"/>
          </p:cNvSpPr>
          <p:nvPr/>
        </p:nvSpPr>
        <p:spPr bwMode="auto">
          <a:xfrm>
            <a:off x="155575" y="-990600"/>
            <a:ext cx="2200275" cy="2076450"/>
          </a:xfrm>
          <a:prstGeom prst="rect">
            <a:avLst/>
          </a:prstGeom>
          <a:noFill/>
        </p:spPr>
        <p:txBody>
          <a:bodyPr vert="horz" wrap="square" lIns="91440" tIns="45720" rIns="91440" bIns="45720" numCol="1" anchor="t" anchorCtr="0" compatLnSpc="1">
            <a:prstTxWarp prst="textNoShape">
              <a:avLst/>
            </a:prstTxWarp>
          </a:bodyPr>
          <a:lstStyle/>
          <a:p>
            <a:endParaRPr lang="en-GB" dirty="0"/>
          </a:p>
        </p:txBody>
      </p:sp>
      <p:sp>
        <p:nvSpPr>
          <p:cNvPr id="8196" name="AutoShape 4" descr="data:image/jpeg;base64,/9j/4AAQSkZJRgABAQAAAQABAAD/2wCEAAkGBxAQEBQPEA8QDxAQFRcQEA8QDw8QEA8UFBYYFxQVFBQZKCggGBslHBMUITEhJSktLi4uFx8zODYwNygtMysBCgoKBQUFDgUFDisZExkrKysrKysrKysrKysrKysrKysrKysrKysrKysrKysrKysrKysrKysrKysrKysrKysrK//AABEIANoA5wMBIgACEQEDEQH/xAAbAAEAAgMBAQAAAAAAAAAAAAAABAYBAwUCB//EAEEQAAICAQEDBwgIBgEEAwAAAAECAAMEERITIQUUFTFTk9IGIjNBUVKU0VRhcXJzsbPTIzI0gaGyQgcWJJElYoL/xAAUAQEAAAAAAAAAAAAAAAAAAAAA/8QAFBEBAAAAAAAAAAAAAAAAAAAAAP/aAAwDAQACEQMRAD8A+4xEQEREBERAqWDgUtUjNVWzMilmKKSSRxJPrm/o2jsKu7WeuTvQ1/cX8hJECL0bR2FXdrHRtHYVd2slRAi9G0dhV3ax0bR2FXdrJUyBr1cYETo2jsKu7WOjaOwq7tZLI06+ExAi9G0dhV3ax0bR2FXdrJcGBE6No7Cru1jo2jsKu7WSogRejaOwq7tY6No7Cru1kqIEXo2jsKu7WOjaOwq7tZKiBHx8Wuu+gpWiEuykqoUkbqw6HT1agf8AqWScEemo/Eb9G2d6AiIgIiICIiAiIgIiICIiBW+TvQ1/cX8hJEj8nehr+4v5CSICIiAlZ/6iqxwgqDVnycavZ3r07e3cqlDYvnKDroSOrWWaebK1YaMqsAQwDAEAg6gjX1g8dYFETGzsBa66npxjnZtWPXS9t/KNeMhptLkPaVYlmrU6a6DT65izyyyU5ROMN3fUpvq3SVolm8x8drRoS28JZk0/kC+cNCdJfHrVtNpVbZO0u0Adlh1MNeo8Tx+ueDjV7W3u029QdvYTb1A0B2tNdQCYHzvK5by78bHsXlXC2mysMu+PSQuNvwTu7wW0KqdDxbU6EEDhPeP5RX1olS5GLhhnzrmyMtXsrtanL3a0Lq2oJDbXDUgDzRPoHNKtkpuqthjtMm7TZZvaV00J+uDiVaAbqvRW21BrTRXJ1LAacG1JOvXAqFXlVlHlg4OxSMcWbkgtUtx/gb3eqC28Ya+xNnZ9esus8blNrebC7emzvNldvT2bXXp9U9wEREBERA8j01H4jfo2zvTgD01H4jfo2zvwEREBERAREQEREBERAREQK3yd6Gv7i/kJIkfk70Nf3F/ISTAxEzEDETMQMRMxAxEzEDETMQMRMxAxEzEDwvpqPxG/RtnenBX01H4jfo2zvQEREBERAREQEROXfym4sdEqVghALNaU1JUNwAU+phA6kTk9J3dhX37eCOk7uwr79vBA60Tk9J3dhX37eCOk7uwr79vBA2jkTH9SuB7BdeAPsAbhM9C0eyzv7/FNPSd3YV9+3gjpO7sK+/bwQN3QtHss7+/xR0LR7LO/v8U09J3dhX37eCOk7uwr+IbwQN3QtHss7+/xR0LR7LO/v8U09J3dhX37eCOk7uwr79vBA3dC0eyzv7/FPFvJNCqW2bToCdFuyCx0GugG1xM8dJ3dhX37eCOk7uwr+IbwQOF5HI2StvOce+plsbYLWZCgoSfM12utSCD/AGlj6Fo9lnf3+KQcLLurDA01HV3f07f83LafyfXJHSd3YV9+3ggbuhaPZZ39/ijoWj2Wd/f4pp6Tu7Cvv28EdJ3dhX37eCBu6Fo9lnf3+KOhaPZZ39/imnpO7sK+/bwR0nd2Ffft4IG7oWj2Wd/f4o6Fo9lnf3+Kaek7uwr79vBHSd3YV9+3ggSaOS6UYOqttL/KWstfTUEEgMSNdCR/eTZyek7uwr79vBHSd3YV9+3ggdaJyek7uwr79vBHSd3YV9+3ggdaJyek7uwr79vBNmJyi7WCt61TaVmBWwv/ACFdQQVHviB0oiICcJ/TX/fX9JJ3Zwn9Nf8AfX9JIGYiICIiAiIgIiICJlVJ6gT9kEQMREyRAxERAREQEREBERAREQEREBM4n9TX+Hb+dUxM4v8AU1/h2/nVA7cREBOE/pr/AL6/pJO7OE/pr/vr+kkDMREBERAREQERECreXaVMcGu993RZl7Np3zUArze4gNYpBA2gvrnBv5dsw6chcB9/jjLoxsa620X107ykteotsYBlV1Cgs+gZ9NfVPoOViVWjZtqruUHULbWlig+0BgRrxPGZ5rVsbrdV7rTTdbtN3p7NjTTT6tIHzzK8tMwKrnIwcYryeM412ILRlWrZYhrpcPwDCtdNNoja4ayX03dXdkBbK8U5ObVUb8kbyrCBwK7dCpKjUsNkcQNWlubkeg385NYazdJQFZVatFrdnQqpHmsCx4j1SVZi1MGDVVsLDrYGrRhYQAAXBHnHQAcfYIFJ/wC88hKarXRGOZU9eHsI27szK7jUvHid3YrJYNeoK3GZXlnlI5G5XIxdls1+TFLYrMyslAtNx0cA8QQE4dfEy15XI9Vt1N77wnF1NNQsIoViCN5uxwLgMQD6hJXNq9drd16hjYDsJqHI0L6+9pw2uvSB86fy7zTzLZqo/jVJdftGusXFshqGWou4IPma6KGOrrrwk/p7lAttb7HFVudk8mVIMZt5Vuxduri+1oxBqHm6DX2y6jEqGxpVUN0datK0G6J6ynDzes9WnXPQxqxppXWNGNg0rTg563HDgx1PndfEwOF/0+uss5MxrLbxkO9ak2AcRwHmOdTtOOOrHiT6hLDPFNKINlERF1J2UVUXU8SdBw1M9wEREBERAREQEzi/1Nf4dv51TEzi/wBTX+Hb+dUDtxEQE4T+mv8Avr+kk7s4uRj2i2xlqLq5VlKvWOpFUggketTA8xMbu/6O/eU/ON3f9HfvKfnAzExu7/o795T843d/0d+8p+cDMSNblMtqUtSwstDFF3lOrBNNr1/XJG7v+jv3lPzgZiY3d/0d+8p+cbu/6O/eU/OBmJjd3/R37yn5xu7/AKO/eU/OBmJjd3/R37yn5xu7/o795T84GYmN3f8AR37yn5xu7/o795T84GYmN3f9HfvKfnG7v+jv3lPzgZiY3d/0d+8p+cbu/wCjv3lPzgZiY3d/0d+8p+cj15TNa9ApY2VhWdN5TqofXZ9f1f5HtgSYmN3f9HfvKfnG7v8Ao795T84GYmN3f9HfvKfnG7v+jv3lPzgZmcX+pr/Dt/Oqed3f9HfvKfnNuFRbv1dqjWqo66l0OpYppoFJ9wwOxERARKtgVBqq3ZrSzIrMecZA1JUEng0382X3rfiMjxQLFErvNl9634jI8Uc2X3rfiMjxQLFErvNl9634jI8Uc2X3rfiMjxQPPKvINdvKFGQ1lwdVZl2XAVd0V0AGnUdttfbrLJK4cNNQ2tmo1APOMjUA6a6Ha+of+pnmy+9b8RkeKBYold5svvW/EZHijmy+9b8RkeKBYold5svvW/EZHijmy+9b8RkeKBYolZvq2RtK1oIZNDv7z/zUdRbQ9cslnUfsMD1Eq+FSGqRi1pLIjE84yOJKgk/zTdzZfet+IyPFAsUSu82X3rfiMjxRzZfet+IyPFAsUSu82X3rfiMjxRzZfet+IyPFAsUrnJ/INVfKF2SHtNjIrHacbJ3hcEaadQ2F09mkzzZfet+IyPFMDDTXa1s1I0J5xkakDqGu19ZgWOJXebL71vxGR4o5svvW/EZHigWKJXebL71vxGR4o5svvW/EZHigWKJXebL71vxGR4o5svvW/EZHigWKJVOUV3de2j2qwI0O/ubr6+BbSIG7kv0FX4af6iSZG5L9BV+Gn+okmBHyc+mplSy6qt7OFaWWojOf/qCdT/aSJSeUVpqys3nmBdmc73fNjXiNkCyoVKpoDgaVEOHPEqPP11mOU7cxc3ZQ5atvMVcKmtWOC2OdjnfOGAK7QG8GrHUaLs9fELvNGRm1VnSy2us7O3o9iIdnaC7XH1bTKNfawHrlL5OTNVqLxfmO92ZmUvTczNQtI35oJQjzRtJVo2vUdBw4SuuMpv4n/wAlZkDACZByKbdEyTmYjWpSSo1Xg50XUaDh64H1k5Ne0E3ibTFlVdtdpmQauFHrIHWPVNk+acmYWTRcVoGU1wyeU22cjetRqanbFYMRs6OWUkg8T18Z7SzOamxabuUtgnBV7b1dMivJbIAyxVqAd2EI1ABQerhrA+kRPnnLHPKUyKlvz2qpzFCWAXWW2UvjBypurBsCb1joyq2h808J1uUrsnmGG1hzK1Y19INSNrOSs1t1bsa67e72io10J6uMCz35dVbIj21o1p2a1d1VrG9iA8WP1CbpQOQ+Tr7eUMTJyuclq8S8o1m0o0GVpRvl00FjVMGYcCSoPql/gacz+Q/eT9RZYLOo/YZW+VL0rqLOyooKEsxAA0dTOhd5Q4gpS43KK7iUrc6gE8ev2DzTxMCFyf6Gr8NP9BN8j8mkGmog6jdpxHH/AICSICJ5scKpY9SgsdOvQDU/lODyV5XUXmvWrJxVvra+i3KqWqm5EXbYrYCRwU7XHThAsESMOUKCFIvpIsYpWRdXpYw61Xj5x+oT0mdSz7pbqmsGoNQtQ2ArwYbAOvDXj7IG+JF6So8/+PR/CIW3+NX/AAiToA/HzSSQNDPaZtJKqLqi1gLVqLELWKOtkAOrD6xA3xObk8u41dyUNam2+82tHrK07mvePvjr/D832yXVnUuGZbqmFfpCttbCvhr55B83hx4wN8SO+fQqLY19K1voEsNtYR9erZYnRtfqntsqsOKjbWLWG0tRsQWMB1kJrqR9ekDbERAg8tehP2iI5Z9CftEQNvJfoKvw0/1EkyNyX6Cr8NP9RJMDm8vcvUYNa2XswFjbtFRdpnbQsdBqBwCk8Zzcny4w6yB/5Doa6bjdXj2WUqmRqKSxXq1I00011P26TvKPkCvNVFd2relzZVYqVWFSVKsClgKsCGPWOHA+qQ7vJClldRbYosTEr6kJUYVhsrP1lieP+IGD5aY3mAVZj2WNdXuFxXa9XxwpsV69dV0DqfZPKeWNJd32trFGNj5NLoljXWvk2WVrWE9Z1RQF011J1kfP8k7TmJkUZVtANmXkW2put5W+StKqiK6kMn8I668ZIHkXjhdhbLUApx6a2BUvU2LY1tdwYji+25J1Gh/vAnYHlLj3MlY3tbvvVK3Vms1PQFayqwH+VwrhwPWupBnP/wC/cPgdnL2dmp94MZ3RUyNRQSV102yNAOs6jh16ROXfI97cdcauxrHtyec5WdZaKr1JUJYyIi6EtXtV7I0AHtnVy/Jemx7WDuguOGdhQuzWMBi1Sr9R10P+IGjJ8ucKqlb7GurBeyo1NUVuraj022hPDZ1Gv2jTWbLvLHFS1qiMgit6a7MhMd2x6zkKjUlrRwAO8Qe3U9Uj8oeRNN2p31qWNfkZO8FeO5UZRBtrC2KV081dG01GklZHkrS6ZFYssVcqzGtbQKd2cQVCsL7QdyuuvtMDb5LcunNqssai2jd3WU6WKQH3bsoKn1kbPnew8J2ZA5H5KGMLFWx3S26zIVXCfwTaxd1UgAkbTE8ePGT4EHlnCquq2bUVxtJpqOK6uoJB6wdCeqSbvJDDNCUmrVKSWHUHfr0DuOJHH/AmMz+Q/eT9RZYLOo/YYFb5KqVKKlVQo3aHRRoOKgn/ACZKmjk/0NX4af6Cb4HjIQsjqOtlZR9pUgfnKfheQ1dPJzUrWDnPhPim177rUWyyko272yRWpbT+UDgJc4gULl7yGe44u6WtUpx1x3rW0460uHV2uQKp3hJXq80kqp1645K5EvtzLbdxRVXVypdlHKO0uXYqgqKwuzxRtoedtaaa8JfZkmB8vbyCzWFocYulta0kK6rW+zmVZGu7CDZUolg2SWOvWTrw7uf5IO3KqZiBBQrUOoFxqOOMfa8xKVXRw2vvADabUGXKIHzm7yLyyBWtWGBXXnVjKFrDIyjlo4rNw2eGhYanaPrMmcp+RLuj10LTQr4WNjkVndiy6i8WOG2RwVlGm3oevql6iB88zPIjIOJTVXXRvUbIYrZkFxUMnTUB2QpavDVhsDUnzSPXOs8lcjn9OQq4u7Q0NbZqdTuK9ghaWUlW91kdQAeIOnG6xAREQIPLXoT9oiOWvQn7REDbyX6Cr8NP9RJMkpyJWoCq94VRoALn0AHUBNOfhU01Pc9t4StS7Hfv1CB4iQPJO6vOxxdt3K4YpYgvs80jq0+oggztdDp2l/fvAiRJfQ6dpf37x0OnaX9+8CJEl9Dp2l/fvHQ6dpf37wIkSX0OnaX9+8dDp2l/fvAiRJfQ6dpf37x0OnaX9+8DnZn8n/6T9RZYLOo/YZA6Gr4avcwBB0a5yDoQRqPtAnQI1gV3k/0NX4af6Cb5JTkStQFD3gAAAC+zQAcAJ66HTtL+/eBEiS+h07S/v3jodO0v794ESJL6HTtL+/eOh07S/v3gRIkvodO0v7946HTtL+/eBEiS+h07S/v3jodO0v794ESJL6HTtL+/eOh07S/v3gRInG8ocwY2Tj0rzp0sOt7B7W2VOoXQ+3XVj9S/XLJ0OnaX9+8Dj8s+hP2iYnXbkSo8Ga1x17LXOQf7RA6cwRr18ZmIHP5BUDGr0AGqjXQaToSByF/TVfdE98q5DV17SbIYuiAsCwG24UnQEa9ftgTInE5zk9rT8M/7kc6ye1p+Gf8AcgduJxOdZPa0/DP+5HOsntafhn/cgduJxOdZPa0/DP8AuRzrJ7Wn4Z/3IHbicTnWT2tPwz/uRzrJ7Wn4Z/3IHbicTnWT2tPwz/uRzrJ7Wn4Z/wByB24nE51k9rT8M/7kc6ye1p+Gf9yB24nE51k9rT8M/wC5HOsntafhn/cgduJxOdZPa0/DP+5HOsntafhn/cgduJxOdZPa0/DP+5HOsntafhn/AHIHbicTnWT2tPwz/uRzrJ7Wn4Z/3IHbicDIzslEZ95SdhWfTm7jXZBOmu39U7qHUA+0awIWf6bH/Ef9J5PnPz/TY/4j/pPOhAREQERBgQOQv6ar7onnl70Q/Fp/VSYp5J2FCLkZCqvADarOg/usi8rYZVFY33PpbT5rmvZP8VevRRAREQEREBIXKvK1OKqvcxG22xWiI9tljaa7KVoCzHQE8B6pNnE5exbxfjZlFXOGxt6j4+9WprFvVQWRm83bBQdenBjxgb8LyhxbjUK7do370VjYdSDQAblcMBu2XaHBtDOoT/nq49f2e2VbI5JtzMjDszcSpaU53v6d4tqqtq1ioWdW2x2TrpqOEqvKPklyg+PipzcNbj0BVs39RtosrvLhdpydkFAgBr4k8GIAED6ntD2jh18Rw+2NfrH1cRx+yUDJ8lbObZJXDrsvyOULb7VZqtu7FNzvXpqdhiNoEI/AcSRqBIuD5K5aVYyZGGuaKa7aFqfLWoYjnKayu9XXjpuiijYG0uyABoYH0HEzqrdvdur7lzTZpw2HXTaU6/eHGe8vJWpHsfXZrUuwVS76AanRBxJ4HgJ865X8jLmXJSvFAV845R3L4obNx2RthBvNVBR2J0sGnnEjjN9/kdc1V+8oF145LrxMax7a7HF4FyuqudOOjou2QAdftgfQTYANokABds68NF011I+yRMDlWm/Z3TFw9S5CvsOEatyQpDEaa8D5vWB1ynXeStz8oNacZGqsUi2625HBQ426NagaWDztNaztV6anrkDB8kMpaN2MRadMPFotqFtQXLsoymfIQspOgtTQ6n3tD64H03Udeo09uo0P95mfOuX/ACYuuxqFo5NSo1tey4fOqrKsc26bBdX83ThqTWwKdS66z6BioVrRW02lRVbQsw2goB0LcSNQeJ4+2BsiIgIiIGjP9Db+G/8AqZYKf5R9g/KV/lD0Nv4b/wChnSq5PbZH/k5HUP8AlV7PuwPWf6bH/Ef9F5PkGvk7R1drbbCmpUOyaAkFSeAHqJ/9ydAREQEREBOdy96Ifi0/qpOjON5XuVxGIJBDVkEHQg7xeIMDxEpPSN/b294/zjpG/t7e8f5wLtEpPSN/b294/wA46Rv7e3vH+cC7RKT0jf29veP846Rv7e3vH+cC7RKT0jf29veP846Rv7e3vH+cC7RKT0jf29veP846Rv7e3vH+cC7RKT0jf29veP8AOOkb+3t7x/nAu0Sk9I39vb3j/OOkb+3t7x/nAu0Sk9I39vb3j/OOkb+3t7x/nAu0Sk9I39vb3j/OOkb+3t7x/nAu0Sk9I39vb3j/ADjpG/t7e8f5wLfn+ht/Df8A1MsFP8o+wflPll2fcVYG60gqwINj6HgZ9Tq/lH2CB7iIgIiIH//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dirty="0"/>
          </a:p>
        </p:txBody>
      </p:sp>
      <p:sp>
        <p:nvSpPr>
          <p:cNvPr id="8198" name="AutoShape 6" descr="Image result for pedagogical model of teaching assistant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dirty="0"/>
          </a:p>
        </p:txBody>
      </p:sp>
      <p:graphicFrame>
        <p:nvGraphicFramePr>
          <p:cNvPr id="4" name="Diagram 3"/>
          <p:cNvGraphicFramePr/>
          <p:nvPr>
            <p:extLst>
              <p:ext uri="{D42A27DB-BD31-4B8C-83A1-F6EECF244321}">
                <p14:modId xmlns="" xmlns:p14="http://schemas.microsoft.com/office/powerpoint/2010/main" val="1783972145"/>
              </p:ext>
            </p:extLst>
          </p:nvPr>
        </p:nvGraphicFramePr>
        <p:xfrm>
          <a:off x="971600" y="1268760"/>
          <a:ext cx="7104112" cy="45680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img" descr="http://research.blogs.lincoln.ac.uk/files/2012/04/Education-Endowment-Foundation.jpg"/>
          <p:cNvPicPr/>
          <p:nvPr/>
        </p:nvPicPr>
        <p:blipFill>
          <a:blip r:embed="rId8" cstate="print"/>
          <a:srcRect/>
          <a:stretch>
            <a:fillRect/>
          </a:stretch>
        </p:blipFill>
        <p:spPr bwMode="auto">
          <a:xfrm>
            <a:off x="611560" y="5013176"/>
            <a:ext cx="2315845" cy="1080770"/>
          </a:xfrm>
          <a:prstGeom prst="rect">
            <a:avLst/>
          </a:prstGeom>
          <a:noFill/>
          <a:ln w="9525">
            <a:noFill/>
            <a:miter lim="800000"/>
            <a:headEnd/>
            <a:tailEnd/>
          </a:ln>
        </p:spPr>
      </p:pic>
      <p:sp>
        <p:nvSpPr>
          <p:cNvPr id="8" name="TextBox 7"/>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solidFill>
            <a:schemeClr val="accent6"/>
          </a:solidFill>
        </p:spPr>
        <p:txBody>
          <a:bodyPr/>
          <a:lstStyle/>
          <a:p>
            <a:r>
              <a:rPr lang="en-GB" b="1" dirty="0" smtClean="0"/>
              <a:t>Characteristics</a:t>
            </a:r>
            <a:endParaRPr lang="en-GB" b="1" dirty="0"/>
          </a:p>
        </p:txBody>
      </p:sp>
      <p:sp>
        <p:nvSpPr>
          <p:cNvPr id="4" name="Text Placeholder 3"/>
          <p:cNvSpPr>
            <a:spLocks noGrp="1"/>
          </p:cNvSpPr>
          <p:nvPr>
            <p:ph type="body" idx="1"/>
          </p:nvPr>
        </p:nvSpPr>
        <p:spPr/>
        <p:txBody>
          <a:bodyPr/>
          <a:lstStyle/>
          <a:p>
            <a:pPr algn="ctr"/>
            <a:r>
              <a:rPr lang="en-GB" dirty="0" smtClean="0"/>
              <a:t>Fact</a:t>
            </a:r>
            <a:endParaRPr lang="en-GB" dirty="0"/>
          </a:p>
        </p:txBody>
      </p:sp>
      <p:sp>
        <p:nvSpPr>
          <p:cNvPr id="5" name="Content Placeholder 4"/>
          <p:cNvSpPr>
            <a:spLocks noGrp="1"/>
          </p:cNvSpPr>
          <p:nvPr>
            <p:ph sz="half" idx="2"/>
          </p:nvPr>
        </p:nvSpPr>
        <p:spPr>
          <a:xfrm>
            <a:off x="457200" y="2174875"/>
            <a:ext cx="4040188" cy="1974205"/>
          </a:xfrm>
          <a:solidFill>
            <a:schemeClr val="bg1"/>
          </a:solidFill>
        </p:spPr>
        <p:txBody>
          <a:bodyPr/>
          <a:lstStyle/>
          <a:p>
            <a:r>
              <a:rPr lang="en-GB" dirty="0" smtClean="0"/>
              <a:t>Age, gender, ethnicity, qualifications and experience</a:t>
            </a:r>
          </a:p>
          <a:p>
            <a:r>
              <a:rPr lang="en-GB" dirty="0" smtClean="0"/>
              <a:t>Emotionally responsive</a:t>
            </a:r>
            <a:endParaRPr lang="en-GB" dirty="0"/>
          </a:p>
        </p:txBody>
      </p:sp>
      <p:sp>
        <p:nvSpPr>
          <p:cNvPr id="6" name="Text Placeholder 5"/>
          <p:cNvSpPr>
            <a:spLocks noGrp="1"/>
          </p:cNvSpPr>
          <p:nvPr>
            <p:ph type="body" sz="quarter" idx="3"/>
          </p:nvPr>
        </p:nvSpPr>
        <p:spPr/>
        <p:txBody>
          <a:bodyPr/>
          <a:lstStyle/>
          <a:p>
            <a:pPr algn="ctr"/>
            <a:r>
              <a:rPr lang="en-GB" dirty="0" smtClean="0"/>
              <a:t>Thoughts</a:t>
            </a:r>
            <a:endParaRPr lang="en-GB" dirty="0"/>
          </a:p>
        </p:txBody>
      </p:sp>
      <p:sp>
        <p:nvSpPr>
          <p:cNvPr id="7" name="Content Placeholder 6"/>
          <p:cNvSpPr>
            <a:spLocks noGrp="1"/>
          </p:cNvSpPr>
          <p:nvPr>
            <p:ph sz="quarter" idx="4"/>
          </p:nvPr>
        </p:nvSpPr>
        <p:spPr>
          <a:xfrm>
            <a:off x="4645025" y="2174875"/>
            <a:ext cx="4041775" cy="2982317"/>
          </a:xfrm>
          <a:solidFill>
            <a:schemeClr val="bg1"/>
          </a:solidFill>
        </p:spPr>
        <p:txBody>
          <a:bodyPr>
            <a:normAutofit/>
          </a:bodyPr>
          <a:lstStyle/>
          <a:p>
            <a:pPr marL="0" indent="0" algn="just">
              <a:buNone/>
            </a:pPr>
            <a:r>
              <a:rPr lang="en-GB" dirty="0" smtClean="0"/>
              <a:t>TAs need to further their professional development to include:</a:t>
            </a:r>
          </a:p>
          <a:p>
            <a:r>
              <a:rPr lang="en-GB" dirty="0" smtClean="0"/>
              <a:t>A change of teacher</a:t>
            </a:r>
          </a:p>
          <a:p>
            <a:r>
              <a:rPr lang="en-GB" dirty="0" smtClean="0"/>
              <a:t>A change of year group</a:t>
            </a:r>
          </a:p>
          <a:p>
            <a:r>
              <a:rPr lang="en-GB" dirty="0" smtClean="0"/>
              <a:t>Observe good practice</a:t>
            </a:r>
          </a:p>
          <a:p>
            <a:r>
              <a:rPr lang="en-GB" dirty="0" smtClean="0"/>
              <a:t>Attend courses and training</a:t>
            </a:r>
            <a:endParaRPr lang="en-GB" dirty="0"/>
          </a:p>
        </p:txBody>
      </p:sp>
      <p:sp>
        <p:nvSpPr>
          <p:cNvPr id="8" name="TextBox 7"/>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extLst>
      <p:ext uri="{BB962C8B-B14F-4D97-AF65-F5344CB8AC3E}">
        <p14:creationId xmlns="" xmlns:p14="http://schemas.microsoft.com/office/powerpoint/2010/main" val="351724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936104"/>
          </a:xfrm>
          <a:solidFill>
            <a:schemeClr val="accent6"/>
          </a:solidFill>
        </p:spPr>
        <p:txBody>
          <a:bodyPr/>
          <a:lstStyle/>
          <a:p>
            <a:r>
              <a:rPr lang="en-GB" b="1" dirty="0" smtClean="0"/>
              <a:t>Conditions of Employment</a:t>
            </a:r>
            <a:endParaRPr lang="en-GB" b="1" dirty="0"/>
          </a:p>
        </p:txBody>
      </p:sp>
      <p:sp>
        <p:nvSpPr>
          <p:cNvPr id="3" name="Text Placeholder 2"/>
          <p:cNvSpPr>
            <a:spLocks noGrp="1"/>
          </p:cNvSpPr>
          <p:nvPr>
            <p:ph type="body" idx="1"/>
          </p:nvPr>
        </p:nvSpPr>
        <p:spPr/>
        <p:txBody>
          <a:bodyPr/>
          <a:lstStyle/>
          <a:p>
            <a:pPr algn="ctr"/>
            <a:r>
              <a:rPr lang="en-GB" dirty="0" smtClean="0"/>
              <a:t>Fact</a:t>
            </a:r>
            <a:endParaRPr lang="en-GB" dirty="0"/>
          </a:p>
        </p:txBody>
      </p:sp>
      <p:sp>
        <p:nvSpPr>
          <p:cNvPr id="4" name="Content Placeholder 3"/>
          <p:cNvSpPr>
            <a:spLocks noGrp="1"/>
          </p:cNvSpPr>
          <p:nvPr>
            <p:ph sz="half" idx="2"/>
          </p:nvPr>
        </p:nvSpPr>
        <p:spPr>
          <a:xfrm>
            <a:off x="457200" y="2174875"/>
            <a:ext cx="4040188" cy="2694285"/>
          </a:xfrm>
          <a:solidFill>
            <a:schemeClr val="bg1"/>
          </a:solidFill>
        </p:spPr>
        <p:txBody>
          <a:bodyPr/>
          <a:lstStyle/>
          <a:p>
            <a:r>
              <a:rPr lang="en-GB" dirty="0" smtClean="0"/>
              <a:t>Relies heavily on the goodwill of TAs and Support Staff</a:t>
            </a:r>
          </a:p>
          <a:p>
            <a:r>
              <a:rPr lang="en-GB" dirty="0" smtClean="0"/>
              <a:t>Line and performance management process not fully developed</a:t>
            </a:r>
            <a:endParaRPr lang="en-GB" dirty="0"/>
          </a:p>
        </p:txBody>
      </p:sp>
      <p:sp>
        <p:nvSpPr>
          <p:cNvPr id="6" name="Content Placeholder 5"/>
          <p:cNvSpPr>
            <a:spLocks noGrp="1"/>
          </p:cNvSpPr>
          <p:nvPr>
            <p:ph sz="quarter" idx="4"/>
          </p:nvPr>
        </p:nvSpPr>
        <p:spPr>
          <a:xfrm>
            <a:off x="4645025" y="1340768"/>
            <a:ext cx="3959423" cy="3816424"/>
          </a:xfrm>
          <a:solidFill>
            <a:schemeClr val="bg1"/>
          </a:solidFill>
        </p:spPr>
        <p:txBody>
          <a:bodyPr/>
          <a:lstStyle/>
          <a:p>
            <a:r>
              <a:rPr lang="en-GB" sz="2200" dirty="0" smtClean="0"/>
              <a:t>Time-tabled sessions for discussion regarding the effectiveness of your role with the class teacher, Key Stage manager, SENCo or </a:t>
            </a:r>
            <a:r>
              <a:rPr lang="en-GB" sz="2200" dirty="0"/>
              <a:t>H</a:t>
            </a:r>
            <a:r>
              <a:rPr lang="en-GB" sz="2200" dirty="0" smtClean="0"/>
              <a:t>ead teacher</a:t>
            </a:r>
          </a:p>
          <a:p>
            <a:r>
              <a:rPr lang="en-GB" sz="2200" dirty="0" smtClean="0"/>
              <a:t>Set up reviews, audit of skills and a performance management system with manageable targets</a:t>
            </a:r>
            <a:endParaRPr lang="en-GB" sz="2200" dirty="0"/>
          </a:p>
        </p:txBody>
      </p:sp>
      <p:sp>
        <p:nvSpPr>
          <p:cNvPr id="7" name="TextBox 6"/>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extLst>
      <p:ext uri="{BB962C8B-B14F-4D97-AF65-F5344CB8AC3E}">
        <p14:creationId xmlns="" xmlns:p14="http://schemas.microsoft.com/office/powerpoint/2010/main" val="3156708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1080120"/>
          </a:xfrm>
          <a:solidFill>
            <a:schemeClr val="accent6"/>
          </a:solidFill>
        </p:spPr>
        <p:txBody>
          <a:bodyPr>
            <a:normAutofit fontScale="90000"/>
          </a:bodyPr>
          <a:lstStyle/>
          <a:p>
            <a:r>
              <a:rPr lang="en-GB" b="1" u="sng" dirty="0" smtClean="0"/>
              <a:t/>
            </a:r>
            <a:br>
              <a:rPr lang="en-GB" b="1" u="sng" dirty="0" smtClean="0"/>
            </a:br>
            <a:r>
              <a:rPr lang="en-GB" sz="5300" b="1" dirty="0" smtClean="0"/>
              <a:t>Preparedness</a:t>
            </a:r>
            <a:r>
              <a:rPr lang="en-GB" sz="3200" dirty="0" smtClean="0"/>
              <a:t/>
            </a:r>
            <a:br>
              <a:rPr lang="en-GB" sz="3200" dirty="0" smtClean="0"/>
            </a:br>
            <a:r>
              <a:rPr lang="en-GB" sz="3200" dirty="0" smtClean="0"/>
              <a:t/>
            </a:r>
            <a:br>
              <a:rPr lang="en-GB" sz="3200" dirty="0" smtClean="0"/>
            </a:br>
            <a:r>
              <a:rPr lang="en-GB" sz="3200" dirty="0" smtClean="0"/>
              <a:t> </a:t>
            </a:r>
            <a:endParaRPr lang="en-GB" sz="3200" dirty="0"/>
          </a:p>
        </p:txBody>
      </p:sp>
      <p:sp>
        <p:nvSpPr>
          <p:cNvPr id="3" name="Text Placeholder 2"/>
          <p:cNvSpPr>
            <a:spLocks noGrp="1"/>
          </p:cNvSpPr>
          <p:nvPr>
            <p:ph type="body" idx="1"/>
          </p:nvPr>
        </p:nvSpPr>
        <p:spPr>
          <a:xfrm>
            <a:off x="457200" y="1412777"/>
            <a:ext cx="4040188" cy="504056"/>
          </a:xfrm>
        </p:spPr>
        <p:txBody>
          <a:bodyPr/>
          <a:lstStyle/>
          <a:p>
            <a:pPr algn="ctr"/>
            <a:r>
              <a:rPr lang="en-GB" dirty="0" smtClean="0"/>
              <a:t>Fact</a:t>
            </a:r>
            <a:endParaRPr lang="en-GB" dirty="0"/>
          </a:p>
        </p:txBody>
      </p:sp>
      <p:sp>
        <p:nvSpPr>
          <p:cNvPr id="4" name="Content Placeholder 3"/>
          <p:cNvSpPr>
            <a:spLocks noGrp="1"/>
          </p:cNvSpPr>
          <p:nvPr>
            <p:ph sz="half" idx="2"/>
          </p:nvPr>
        </p:nvSpPr>
        <p:spPr>
          <a:xfrm>
            <a:off x="457200" y="1988841"/>
            <a:ext cx="4040188" cy="3240360"/>
          </a:xfrm>
          <a:solidFill>
            <a:schemeClr val="bg1"/>
          </a:solidFill>
        </p:spPr>
        <p:txBody>
          <a:bodyPr>
            <a:normAutofit/>
          </a:bodyPr>
          <a:lstStyle/>
          <a:p>
            <a:r>
              <a:rPr lang="en-GB" dirty="0" smtClean="0"/>
              <a:t>Little training for teachers to work with/manage TAs</a:t>
            </a:r>
          </a:p>
          <a:p>
            <a:r>
              <a:rPr lang="en-GB" dirty="0" smtClean="0"/>
              <a:t>Lack of planning, preparation and feedback time with teacher</a:t>
            </a:r>
          </a:p>
          <a:p>
            <a:r>
              <a:rPr lang="en-GB" dirty="0" smtClean="0"/>
              <a:t>Limited subject knowledge and pedagogical knowledge</a:t>
            </a:r>
          </a:p>
          <a:p>
            <a:endParaRPr lang="en-GB" dirty="0"/>
          </a:p>
        </p:txBody>
      </p:sp>
      <p:sp>
        <p:nvSpPr>
          <p:cNvPr id="6" name="Content Placeholder 5"/>
          <p:cNvSpPr>
            <a:spLocks noGrp="1"/>
          </p:cNvSpPr>
          <p:nvPr>
            <p:ph sz="quarter" idx="4"/>
          </p:nvPr>
        </p:nvSpPr>
        <p:spPr>
          <a:xfrm>
            <a:off x="4645025" y="1268760"/>
            <a:ext cx="4247455" cy="4896544"/>
          </a:xfrm>
          <a:solidFill>
            <a:schemeClr val="bg1"/>
          </a:solidFill>
        </p:spPr>
        <p:txBody>
          <a:bodyPr>
            <a:normAutofit fontScale="92500"/>
          </a:bodyPr>
          <a:lstStyle/>
          <a:p>
            <a:r>
              <a:rPr lang="en-GB" dirty="0" smtClean="0"/>
              <a:t>Senior managers to clarify the role of the TA within the school</a:t>
            </a:r>
          </a:p>
          <a:p>
            <a:r>
              <a:rPr lang="en-GB" dirty="0" smtClean="0"/>
              <a:t>How are TAs given their planning?</a:t>
            </a:r>
          </a:p>
          <a:p>
            <a:r>
              <a:rPr lang="en-GB" dirty="0" smtClean="0"/>
              <a:t>How are TAs reporting the achievements of the child?</a:t>
            </a:r>
          </a:p>
          <a:p>
            <a:r>
              <a:rPr lang="en-GB" dirty="0" smtClean="0"/>
              <a:t>Access training to ensure sufficient literacy and numeracy skills</a:t>
            </a:r>
          </a:p>
          <a:p>
            <a:r>
              <a:rPr lang="en-GB" dirty="0" smtClean="0"/>
              <a:t>Training on higher order questioning and the      development of learning        styles</a:t>
            </a:r>
            <a:endParaRPr lang="en-GB" dirty="0"/>
          </a:p>
        </p:txBody>
      </p:sp>
      <p:sp>
        <p:nvSpPr>
          <p:cNvPr id="7" name="TextBox 6"/>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4"/>
          </p:nvPr>
        </p:nvSpPr>
        <p:spPr>
          <a:xfrm>
            <a:off x="4645025" y="1124744"/>
            <a:ext cx="4247455" cy="4176464"/>
          </a:xfrm>
          <a:solidFill>
            <a:schemeClr val="bg1"/>
          </a:solidFill>
        </p:spPr>
        <p:txBody>
          <a:bodyPr/>
          <a:lstStyle/>
          <a:p>
            <a:r>
              <a:rPr lang="en-GB" sz="2200" dirty="0" smtClean="0"/>
              <a:t>Teachers must work with the children who are most in need of specialist, pedagogical approaches</a:t>
            </a:r>
          </a:p>
          <a:p>
            <a:r>
              <a:rPr lang="en-GB" sz="2200" dirty="0" smtClean="0"/>
              <a:t>Children must stay in class working alongside their peers</a:t>
            </a:r>
          </a:p>
          <a:p>
            <a:r>
              <a:rPr lang="en-GB" sz="2200" dirty="0" smtClean="0"/>
              <a:t>Roving the classroom is deemed more effective than working with a group</a:t>
            </a:r>
          </a:p>
          <a:p>
            <a:r>
              <a:rPr lang="en-GB" sz="2200" dirty="0" smtClean="0"/>
              <a:t>Teachers need to take charge and responsibility   of behaviour</a:t>
            </a:r>
            <a:endParaRPr lang="en-GB" sz="2200" dirty="0"/>
          </a:p>
        </p:txBody>
      </p:sp>
      <p:sp>
        <p:nvSpPr>
          <p:cNvPr id="2" name="Title 1"/>
          <p:cNvSpPr>
            <a:spLocks noGrp="1"/>
          </p:cNvSpPr>
          <p:nvPr>
            <p:ph type="title"/>
          </p:nvPr>
        </p:nvSpPr>
        <p:spPr>
          <a:xfrm>
            <a:off x="457200" y="188640"/>
            <a:ext cx="8229600" cy="936104"/>
          </a:xfrm>
          <a:solidFill>
            <a:schemeClr val="accent6"/>
          </a:solidFill>
        </p:spPr>
        <p:txBody>
          <a:bodyPr/>
          <a:lstStyle/>
          <a:p>
            <a:r>
              <a:rPr lang="en-GB" b="1" dirty="0" smtClean="0"/>
              <a:t>Deployment</a:t>
            </a:r>
            <a:endParaRPr lang="en-GB" b="1" dirty="0"/>
          </a:p>
        </p:txBody>
      </p:sp>
      <p:sp>
        <p:nvSpPr>
          <p:cNvPr id="3" name="Text Placeholder 2"/>
          <p:cNvSpPr>
            <a:spLocks noGrp="1"/>
          </p:cNvSpPr>
          <p:nvPr>
            <p:ph type="body" idx="1"/>
          </p:nvPr>
        </p:nvSpPr>
        <p:spPr>
          <a:xfrm>
            <a:off x="457200" y="1268761"/>
            <a:ext cx="4040188" cy="360040"/>
          </a:xfrm>
        </p:spPr>
        <p:txBody>
          <a:bodyPr>
            <a:normAutofit fontScale="92500" lnSpcReduction="20000"/>
          </a:bodyPr>
          <a:lstStyle/>
          <a:p>
            <a:pPr algn="ctr"/>
            <a:r>
              <a:rPr lang="en-GB" dirty="0" smtClean="0"/>
              <a:t>Fact</a:t>
            </a:r>
            <a:endParaRPr lang="en-GB" dirty="0"/>
          </a:p>
        </p:txBody>
      </p:sp>
      <p:sp>
        <p:nvSpPr>
          <p:cNvPr id="4" name="Content Placeholder 3"/>
          <p:cNvSpPr>
            <a:spLocks noGrp="1"/>
          </p:cNvSpPr>
          <p:nvPr>
            <p:ph sz="half" idx="2"/>
          </p:nvPr>
        </p:nvSpPr>
        <p:spPr>
          <a:xfrm>
            <a:off x="457200" y="1628800"/>
            <a:ext cx="4040188" cy="4536504"/>
          </a:xfrm>
          <a:solidFill>
            <a:schemeClr val="bg1"/>
          </a:solidFill>
        </p:spPr>
        <p:txBody>
          <a:bodyPr>
            <a:normAutofit lnSpcReduction="10000"/>
          </a:bodyPr>
          <a:lstStyle/>
          <a:p>
            <a:r>
              <a:rPr lang="en-GB" dirty="0" smtClean="0"/>
              <a:t>TAs have a direct instructional, frontline pedagogical role</a:t>
            </a:r>
          </a:p>
          <a:p>
            <a:r>
              <a:rPr lang="en-GB" dirty="0" smtClean="0"/>
              <a:t>Routinely support lower attaining pupils and those with SEN</a:t>
            </a:r>
          </a:p>
          <a:p>
            <a:r>
              <a:rPr lang="en-GB" dirty="0" smtClean="0"/>
              <a:t>Support pupils 1:1 and in groups, in and away from class</a:t>
            </a:r>
          </a:p>
          <a:p>
            <a:r>
              <a:rPr lang="en-GB" dirty="0" smtClean="0"/>
              <a:t>Pupils separated from teacher and mainstream curriculum</a:t>
            </a:r>
            <a:endParaRPr lang="en-GB" dirty="0"/>
          </a:p>
        </p:txBody>
      </p:sp>
      <p:sp>
        <p:nvSpPr>
          <p:cNvPr id="7" name="TextBox 6"/>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extLst>
      <p:ext uri="{BB962C8B-B14F-4D97-AF65-F5344CB8AC3E}">
        <p14:creationId xmlns="" xmlns:p14="http://schemas.microsoft.com/office/powerpoint/2010/main" val="2592444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solidFill>
        </p:spPr>
        <p:txBody>
          <a:bodyPr/>
          <a:lstStyle/>
          <a:p>
            <a:r>
              <a:rPr lang="en-GB" b="1" dirty="0" smtClean="0"/>
              <a:t>Classroom Practice</a:t>
            </a:r>
            <a:endParaRPr lang="en-GB" b="1" dirty="0"/>
          </a:p>
        </p:txBody>
      </p:sp>
      <p:sp>
        <p:nvSpPr>
          <p:cNvPr id="19" name="Rectangle 18"/>
          <p:cNvSpPr/>
          <p:nvPr/>
        </p:nvSpPr>
        <p:spPr>
          <a:xfrm>
            <a:off x="2286000" y="1628800"/>
            <a:ext cx="4572000" cy="4524315"/>
          </a:xfrm>
          <a:prstGeom prst="rect">
            <a:avLst/>
          </a:prstGeom>
          <a:solidFill>
            <a:schemeClr val="accent6">
              <a:lumMod val="60000"/>
              <a:lumOff val="40000"/>
            </a:schemeClr>
          </a:solidFill>
        </p:spPr>
        <p:txBody>
          <a:bodyPr wrap="square">
            <a:spAutoFit/>
          </a:bodyPr>
          <a:lstStyle/>
          <a:p>
            <a:r>
              <a:rPr lang="en-GB" sz="3200" dirty="0" smtClean="0"/>
              <a:t>Work with low attaining children</a:t>
            </a:r>
          </a:p>
          <a:p>
            <a:r>
              <a:rPr lang="en-GB" sz="3200" dirty="0" smtClean="0"/>
              <a:t>Prioritise task completion over learning</a:t>
            </a:r>
          </a:p>
          <a:p>
            <a:r>
              <a:rPr lang="en-GB" sz="3200" dirty="0" smtClean="0"/>
              <a:t>Reactive not proactive role</a:t>
            </a:r>
          </a:p>
          <a:p>
            <a:r>
              <a:rPr lang="en-GB" sz="3200" dirty="0" smtClean="0"/>
              <a:t>Close down discussion</a:t>
            </a:r>
          </a:p>
          <a:p>
            <a:r>
              <a:rPr lang="en-GB" sz="3200" dirty="0" smtClean="0"/>
              <a:t>Manage unwanted behaviours</a:t>
            </a:r>
          </a:p>
        </p:txBody>
      </p:sp>
      <p:sp>
        <p:nvSpPr>
          <p:cNvPr id="4" name="TextBox 3"/>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792288" y="5173579"/>
            <a:ext cx="5486400" cy="673767"/>
          </a:xfrm>
        </p:spPr>
        <p:txBody>
          <a:bodyPr>
            <a:normAutofit/>
          </a:bodyPr>
          <a:lstStyle/>
          <a:p>
            <a:pPr algn="ctr"/>
            <a:r>
              <a:rPr lang="en-GB" sz="3600" dirty="0" smtClean="0"/>
              <a:t>Experimental Research</a:t>
            </a:r>
            <a:endParaRPr lang="en-GB" sz="3600" dirty="0"/>
          </a:p>
        </p:txBody>
      </p:sp>
      <p:pic>
        <p:nvPicPr>
          <p:cNvPr id="1026" name="Picture 2" descr="Image result for baby playing with a toy"/>
          <p:cNvPicPr>
            <a:picLocks noGrp="1" noChangeAspect="1" noChangeArrowheads="1"/>
          </p:cNvPicPr>
          <p:nvPr>
            <p:ph type="pic" idx="1"/>
          </p:nvPr>
        </p:nvPicPr>
        <p:blipFill>
          <a:blip r:embed="rId3" cstate="print"/>
          <a:srcRect t="2324" b="2324"/>
          <a:stretch>
            <a:fillRect/>
          </a:stretch>
        </p:blipFill>
        <p:spPr bwMode="auto">
          <a:xfrm>
            <a:off x="539551" y="890870"/>
            <a:ext cx="7810365" cy="4282709"/>
          </a:xfrm>
          <a:prstGeom prst="rect">
            <a:avLst/>
          </a:prstGeom>
          <a:noFill/>
        </p:spPr>
      </p:pic>
      <p:sp>
        <p:nvSpPr>
          <p:cNvPr id="4" name="TextBox 3"/>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
        <p:nvSpPr>
          <p:cNvPr id="5" name="TextBox 4"/>
          <p:cNvSpPr txBox="1"/>
          <p:nvPr/>
        </p:nvSpPr>
        <p:spPr>
          <a:xfrm>
            <a:off x="539552" y="408710"/>
            <a:ext cx="8147248" cy="369332"/>
          </a:xfrm>
          <a:prstGeom prst="rect">
            <a:avLst/>
          </a:prstGeom>
          <a:solidFill>
            <a:srgbClr val="F4C239"/>
          </a:solidFill>
        </p:spPr>
        <p:txBody>
          <a:bodyPr wrap="square" rtlCol="0">
            <a:spAutoFit/>
          </a:bodyPr>
          <a:lstStyle/>
          <a:p>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1334918"/>
          </a:xfrm>
          <a:solidFill>
            <a:schemeClr val="accent6"/>
          </a:solidFill>
        </p:spPr>
        <p:txBody>
          <a:bodyPr>
            <a:noAutofit/>
          </a:bodyPr>
          <a:lstStyle/>
          <a:p>
            <a:r>
              <a:rPr lang="en-GB" sz="5400" b="1" dirty="0" smtClean="0"/>
              <a:t>Strategies for Success</a:t>
            </a:r>
            <a:endParaRPr lang="en-GB" sz="5400" b="1" dirty="0"/>
          </a:p>
        </p:txBody>
      </p:sp>
      <p:sp>
        <p:nvSpPr>
          <p:cNvPr id="3" name="Rectangle 2"/>
          <p:cNvSpPr/>
          <p:nvPr/>
        </p:nvSpPr>
        <p:spPr>
          <a:xfrm>
            <a:off x="1043608" y="1595566"/>
            <a:ext cx="6840760" cy="4708981"/>
          </a:xfrm>
          <a:prstGeom prst="rect">
            <a:avLst/>
          </a:prstGeom>
          <a:solidFill>
            <a:schemeClr val="bg1"/>
          </a:solidFill>
        </p:spPr>
        <p:txBody>
          <a:bodyPr wrap="square">
            <a:spAutoFit/>
          </a:bodyPr>
          <a:lstStyle/>
          <a:p>
            <a:r>
              <a:rPr lang="en-GB" sz="3000" dirty="0" smtClean="0">
                <a:latin typeface="Calibri" pitchFamily="34" charset="0"/>
                <a:cs typeface="Calibri" pitchFamily="34" charset="0"/>
              </a:rPr>
              <a:t>Let the children enquire</a:t>
            </a:r>
          </a:p>
          <a:p>
            <a:endParaRPr lang="en-GB" sz="3000" dirty="0" smtClean="0">
              <a:latin typeface="Calibri" pitchFamily="34" charset="0"/>
              <a:cs typeface="Calibri" pitchFamily="34" charset="0"/>
            </a:endParaRPr>
          </a:p>
          <a:p>
            <a:r>
              <a:rPr lang="en-GB" sz="3000" dirty="0" smtClean="0">
                <a:latin typeface="Calibri" pitchFamily="34" charset="0"/>
                <a:cs typeface="Calibri" pitchFamily="34" charset="0"/>
              </a:rPr>
              <a:t>Assist with understanding through questioning</a:t>
            </a:r>
          </a:p>
          <a:p>
            <a:endParaRPr lang="en-GB" sz="3000" dirty="0" smtClean="0">
              <a:latin typeface="Calibri" pitchFamily="34" charset="0"/>
              <a:cs typeface="Calibri" pitchFamily="34" charset="0"/>
            </a:endParaRPr>
          </a:p>
          <a:p>
            <a:r>
              <a:rPr lang="en-GB" sz="3000" dirty="0" smtClean="0">
                <a:latin typeface="Calibri" pitchFamily="34" charset="0"/>
                <a:cs typeface="Calibri" pitchFamily="34" charset="0"/>
              </a:rPr>
              <a:t>Use the WDEP method to support children</a:t>
            </a:r>
          </a:p>
          <a:p>
            <a:endParaRPr lang="en-GB" sz="3000" dirty="0" smtClean="0">
              <a:latin typeface="Calibri" pitchFamily="34" charset="0"/>
              <a:cs typeface="Calibri" pitchFamily="34" charset="0"/>
            </a:endParaRPr>
          </a:p>
          <a:p>
            <a:r>
              <a:rPr lang="en-GB" sz="3000" dirty="0" smtClean="0">
                <a:latin typeface="Calibri" pitchFamily="34" charset="0"/>
                <a:cs typeface="Calibri" pitchFamily="34" charset="0"/>
              </a:rPr>
              <a:t>Rotate around ability groups</a:t>
            </a:r>
          </a:p>
          <a:p>
            <a:endParaRPr lang="en-GB" sz="3000" dirty="0" smtClean="0">
              <a:latin typeface="Calibri" pitchFamily="34" charset="0"/>
              <a:cs typeface="Calibri" pitchFamily="34" charset="0"/>
            </a:endParaRPr>
          </a:p>
          <a:p>
            <a:r>
              <a:rPr lang="en-GB" sz="3000" dirty="0" smtClean="0">
                <a:latin typeface="Calibri" pitchFamily="34" charset="0"/>
                <a:cs typeface="Calibri" pitchFamily="34" charset="0"/>
              </a:rPr>
              <a:t>Use teacher ‘delivery time’ effectively</a:t>
            </a:r>
            <a:endParaRPr lang="en-GB" sz="3000" dirty="0">
              <a:latin typeface="Calibri" pitchFamily="34" charset="0"/>
              <a:cs typeface="Calibri" pitchFamily="34" charset="0"/>
            </a:endParaRPr>
          </a:p>
        </p:txBody>
      </p:sp>
      <p:sp>
        <p:nvSpPr>
          <p:cNvPr id="4" name="TextBox 3"/>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solidFill>
        </p:spPr>
        <p:txBody>
          <a:bodyPr/>
          <a:lstStyle/>
          <a:p>
            <a:r>
              <a:rPr lang="en-GB" sz="6000" b="1" dirty="0" smtClean="0"/>
              <a:t>Feedback</a:t>
            </a:r>
            <a:r>
              <a:rPr lang="en-GB" dirty="0" smtClean="0"/>
              <a:t> </a:t>
            </a:r>
            <a:endParaRPr lang="en-GB" dirty="0"/>
          </a:p>
        </p:txBody>
      </p:sp>
      <p:sp>
        <p:nvSpPr>
          <p:cNvPr id="3" name="TextBox 2"/>
          <p:cNvSpPr txBox="1"/>
          <p:nvPr/>
        </p:nvSpPr>
        <p:spPr>
          <a:xfrm>
            <a:off x="827584" y="1844824"/>
            <a:ext cx="7560840" cy="3416320"/>
          </a:xfrm>
          <a:prstGeom prst="rect">
            <a:avLst/>
          </a:prstGeom>
          <a:solidFill>
            <a:schemeClr val="bg1"/>
          </a:solidFill>
        </p:spPr>
        <p:txBody>
          <a:bodyPr wrap="square" rtlCol="0">
            <a:spAutoFit/>
          </a:bodyPr>
          <a:lstStyle/>
          <a:p>
            <a:r>
              <a:rPr lang="en-GB" sz="5400" dirty="0" smtClean="0">
                <a:latin typeface="+mj-lt"/>
              </a:rPr>
              <a:t>To the student</a:t>
            </a:r>
          </a:p>
          <a:p>
            <a:r>
              <a:rPr lang="en-GB" sz="5400" dirty="0" smtClean="0">
                <a:latin typeface="+mj-lt"/>
              </a:rPr>
              <a:t>To the teacher</a:t>
            </a:r>
          </a:p>
          <a:p>
            <a:endParaRPr lang="en-GB" sz="5400" dirty="0" smtClean="0">
              <a:latin typeface="+mj-lt"/>
            </a:endParaRPr>
          </a:p>
          <a:p>
            <a:r>
              <a:rPr lang="en-GB" sz="5400" dirty="0" smtClean="0">
                <a:latin typeface="+mj-lt"/>
              </a:rPr>
              <a:t>What does that look like?</a:t>
            </a:r>
            <a:endParaRPr lang="en-GB" sz="5400" dirty="0">
              <a:latin typeface="+mj-lt"/>
            </a:endParaRPr>
          </a:p>
        </p:txBody>
      </p:sp>
      <p:sp>
        <p:nvSpPr>
          <p:cNvPr id="4" name="TextBox 3"/>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354162"/>
          </a:xfrm>
          <a:solidFill>
            <a:srgbClr val="58C493"/>
          </a:solidFill>
        </p:spPr>
        <p:txBody>
          <a:bodyPr/>
          <a:lstStyle/>
          <a:p>
            <a:r>
              <a:rPr lang="en-GB" sz="4000" b="1" dirty="0" smtClean="0">
                <a:solidFill>
                  <a:schemeClr val="bg1"/>
                </a:solidFill>
                <a:cs typeface="Arial" panose="020B0604020202020204" pitchFamily="34" charset="0"/>
              </a:rPr>
              <a:t>Group work &amp; </a:t>
            </a:r>
            <a:br>
              <a:rPr lang="en-GB" sz="4000" b="1" dirty="0" smtClean="0">
                <a:solidFill>
                  <a:schemeClr val="bg1"/>
                </a:solidFill>
                <a:cs typeface="Arial" panose="020B0604020202020204" pitchFamily="34" charset="0"/>
              </a:rPr>
            </a:br>
            <a:r>
              <a:rPr lang="en-GB" sz="4000" b="1" dirty="0" smtClean="0">
                <a:solidFill>
                  <a:schemeClr val="bg1"/>
                </a:solidFill>
                <a:cs typeface="Arial" panose="020B0604020202020204" pitchFamily="34" charset="0"/>
              </a:rPr>
              <a:t>focus of intervention</a:t>
            </a:r>
            <a:endParaRPr lang="en-GB" sz="4000" b="1" dirty="0">
              <a:solidFill>
                <a:schemeClr val="bg1"/>
              </a:solidFill>
              <a:cs typeface="Arial" panose="020B0604020202020204" pitchFamily="34" charset="0"/>
            </a:endParaRPr>
          </a:p>
        </p:txBody>
      </p:sp>
      <p:sp>
        <p:nvSpPr>
          <p:cNvPr id="3" name="Content Placeholder 2"/>
          <p:cNvSpPr>
            <a:spLocks noGrp="1"/>
          </p:cNvSpPr>
          <p:nvPr>
            <p:ph idx="1"/>
          </p:nvPr>
        </p:nvSpPr>
        <p:spPr>
          <a:xfrm>
            <a:off x="457200" y="1844824"/>
            <a:ext cx="8229600" cy="4281339"/>
          </a:xfrm>
        </p:spPr>
        <p:txBody>
          <a:bodyPr>
            <a:normAutofit/>
          </a:bodyPr>
          <a:lstStyle/>
          <a:p>
            <a:r>
              <a:rPr lang="en-GB" dirty="0" smtClean="0">
                <a:solidFill>
                  <a:schemeClr val="tx1">
                    <a:lumMod val="65000"/>
                    <a:lumOff val="35000"/>
                  </a:schemeClr>
                </a:solidFill>
              </a:rPr>
              <a:t>Spelling</a:t>
            </a:r>
          </a:p>
          <a:p>
            <a:r>
              <a:rPr lang="en-GB" dirty="0" smtClean="0">
                <a:solidFill>
                  <a:schemeClr val="tx1">
                    <a:lumMod val="65000"/>
                    <a:lumOff val="35000"/>
                  </a:schemeClr>
                </a:solidFill>
              </a:rPr>
              <a:t>Reading</a:t>
            </a:r>
          </a:p>
          <a:p>
            <a:r>
              <a:rPr lang="en-GB" dirty="0" smtClean="0">
                <a:solidFill>
                  <a:schemeClr val="tx1">
                    <a:lumMod val="65000"/>
                    <a:lumOff val="35000"/>
                  </a:schemeClr>
                </a:solidFill>
              </a:rPr>
              <a:t>Comprehension</a:t>
            </a:r>
          </a:p>
          <a:p>
            <a:r>
              <a:rPr lang="en-GB" dirty="0" smtClean="0">
                <a:solidFill>
                  <a:schemeClr val="tx1">
                    <a:lumMod val="65000"/>
                    <a:lumOff val="35000"/>
                  </a:schemeClr>
                </a:solidFill>
              </a:rPr>
              <a:t>Writing</a:t>
            </a:r>
          </a:p>
          <a:p>
            <a:r>
              <a:rPr lang="en-GB" dirty="0" smtClean="0">
                <a:solidFill>
                  <a:schemeClr val="tx1">
                    <a:lumMod val="65000"/>
                    <a:lumOff val="35000"/>
                  </a:schemeClr>
                </a:solidFill>
              </a:rPr>
              <a:t>Handwriting</a:t>
            </a:r>
          </a:p>
          <a:p>
            <a:endParaRPr lang="en-GB" dirty="0" smtClean="0">
              <a:solidFill>
                <a:schemeClr val="tx1">
                  <a:lumMod val="65000"/>
                  <a:lumOff val="35000"/>
                </a:schemeClr>
              </a:solidFill>
            </a:endParaRPr>
          </a:p>
          <a:p>
            <a:r>
              <a:rPr lang="en-GB" dirty="0" smtClean="0">
                <a:solidFill>
                  <a:schemeClr val="tx1">
                    <a:lumMod val="65000"/>
                    <a:lumOff val="35000"/>
                  </a:schemeClr>
                </a:solidFill>
              </a:rPr>
              <a:t>Number</a:t>
            </a:r>
          </a:p>
          <a:p>
            <a:pPr marL="0" indent="0">
              <a:buNone/>
            </a:pPr>
            <a:endParaRPr lang="en-GB" dirty="0" smtClean="0"/>
          </a:p>
          <a:p>
            <a:endParaRPr lang="en-GB" dirty="0" smtClean="0"/>
          </a:p>
        </p:txBody>
      </p:sp>
      <p:pic>
        <p:nvPicPr>
          <p:cNvPr id="1026" name="Picture 2" descr="https://authorbeckyjohnen.files.wordpress.com/2014/11/balance-scale.jpg">
            <a:hlinkClick r:id="rId3"/>
          </p:cNvPr>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4932040" y="2780928"/>
            <a:ext cx="2857500" cy="1895476"/>
          </a:xfrm>
          <a:prstGeom prst="rect">
            <a:avLst/>
          </a:prstGeom>
          <a:noFill/>
          <a:extLst>
            <a:ext uri="{909E8E84-426E-40DD-AFC4-6F175D3DCCD1}">
              <a14:hiddenFill xmlns="" xmlns:a14="http://schemas.microsoft.com/office/drawing/2010/main">
                <a:solidFill>
                  <a:srgbClr val="FFFFFF"/>
                </a:solidFill>
              </a14:hiddenFill>
            </a:ext>
          </a:extLst>
        </p:spPr>
      </p:pic>
      <p:sp>
        <p:nvSpPr>
          <p:cNvPr id="5" name="TextBox 4"/>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extLst>
      <p:ext uri="{BB962C8B-B14F-4D97-AF65-F5344CB8AC3E}">
        <p14:creationId xmlns="" xmlns:p14="http://schemas.microsoft.com/office/powerpoint/2010/main" val="3393916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8C493"/>
          </a:solidFill>
        </p:spPr>
        <p:txBody>
          <a:bodyPr/>
          <a:lstStyle/>
          <a:p>
            <a:r>
              <a:rPr lang="en-GB" b="1" dirty="0" smtClean="0">
                <a:solidFill>
                  <a:schemeClr val="bg1"/>
                </a:solidFill>
              </a:rPr>
              <a:t>Effective Interventions</a:t>
            </a:r>
            <a:endParaRPr lang="en-GB" b="1" dirty="0">
              <a:solidFill>
                <a:schemeClr val="bg1"/>
              </a:solidFill>
            </a:endParaRPr>
          </a:p>
        </p:txBody>
      </p:sp>
      <p:sp>
        <p:nvSpPr>
          <p:cNvPr id="3" name="Content Placeholder 2"/>
          <p:cNvSpPr>
            <a:spLocks noGrp="1"/>
          </p:cNvSpPr>
          <p:nvPr>
            <p:ph idx="1"/>
          </p:nvPr>
        </p:nvSpPr>
        <p:spPr/>
        <p:txBody>
          <a:bodyPr/>
          <a:lstStyle/>
          <a:p>
            <a:pPr algn="ctr">
              <a:buNone/>
            </a:pPr>
            <a:r>
              <a:rPr lang="en-GB" sz="4800" b="1" dirty="0" smtClean="0">
                <a:solidFill>
                  <a:schemeClr val="tx1">
                    <a:lumMod val="65000"/>
                    <a:lumOff val="35000"/>
                  </a:schemeClr>
                </a:solidFill>
              </a:rPr>
              <a:t>APDR</a:t>
            </a:r>
          </a:p>
          <a:p>
            <a:pPr marL="914400" indent="-914400">
              <a:buFont typeface="+mj-lt"/>
              <a:buAutoNum type="arabicPeriod"/>
            </a:pPr>
            <a:r>
              <a:rPr lang="en-GB" sz="4800" b="1" dirty="0" smtClean="0">
                <a:solidFill>
                  <a:schemeClr val="tx1">
                    <a:lumMod val="65000"/>
                    <a:lumOff val="35000"/>
                  </a:schemeClr>
                </a:solidFill>
              </a:rPr>
              <a:t>Assess</a:t>
            </a:r>
          </a:p>
          <a:p>
            <a:pPr marL="914400" indent="-914400">
              <a:buFont typeface="+mj-lt"/>
              <a:buAutoNum type="arabicPeriod"/>
            </a:pPr>
            <a:r>
              <a:rPr lang="en-GB" sz="4800" b="1" dirty="0" smtClean="0">
                <a:solidFill>
                  <a:schemeClr val="tx1">
                    <a:lumMod val="65000"/>
                    <a:lumOff val="35000"/>
                  </a:schemeClr>
                </a:solidFill>
              </a:rPr>
              <a:t>Plan</a:t>
            </a:r>
          </a:p>
          <a:p>
            <a:pPr marL="914400" indent="-914400">
              <a:buFont typeface="+mj-lt"/>
              <a:buAutoNum type="arabicPeriod"/>
            </a:pPr>
            <a:r>
              <a:rPr lang="en-GB" sz="4800" b="1" dirty="0" smtClean="0">
                <a:solidFill>
                  <a:schemeClr val="tx1">
                    <a:lumMod val="65000"/>
                    <a:lumOff val="35000"/>
                  </a:schemeClr>
                </a:solidFill>
              </a:rPr>
              <a:t>Do</a:t>
            </a:r>
          </a:p>
          <a:p>
            <a:pPr marL="914400" indent="-914400">
              <a:buFont typeface="+mj-lt"/>
              <a:buAutoNum type="arabicPeriod"/>
            </a:pPr>
            <a:r>
              <a:rPr lang="en-GB" sz="4800" b="1" dirty="0" smtClean="0">
                <a:solidFill>
                  <a:schemeClr val="tx1">
                    <a:lumMod val="65000"/>
                    <a:lumOff val="35000"/>
                  </a:schemeClr>
                </a:solidFill>
              </a:rPr>
              <a:t>Review</a:t>
            </a:r>
            <a:endParaRPr lang="en-GB" sz="4800" b="1" dirty="0">
              <a:solidFill>
                <a:schemeClr val="tx1">
                  <a:lumMod val="65000"/>
                  <a:lumOff val="35000"/>
                </a:schemeClr>
              </a:solidFill>
            </a:endParaRPr>
          </a:p>
        </p:txBody>
      </p:sp>
      <p:sp>
        <p:nvSpPr>
          <p:cNvPr id="4" name="TextBox 3"/>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Image result for assess, plan, do and review"/>
          <p:cNvPicPr>
            <a:picLocks noGrp="1"/>
          </p:cNvPicPr>
          <p:nvPr>
            <p:ph idx="1"/>
          </p:nvPr>
        </p:nvPicPr>
        <p:blipFill>
          <a:blip r:embed="rId3" cstate="print"/>
          <a:srcRect/>
          <a:stretch>
            <a:fillRect/>
          </a:stretch>
        </p:blipFill>
        <p:spPr bwMode="auto">
          <a:xfrm>
            <a:off x="1362075" y="1925053"/>
            <a:ext cx="6419850" cy="4186028"/>
          </a:xfrm>
          <a:prstGeom prst="rect">
            <a:avLst/>
          </a:prstGeom>
          <a:noFill/>
          <a:ln w="9525">
            <a:noFill/>
            <a:miter lim="800000"/>
            <a:headEnd/>
            <a:tailEnd/>
          </a:ln>
        </p:spPr>
      </p:pic>
      <p:sp>
        <p:nvSpPr>
          <p:cNvPr id="7" name="Rectangle 6"/>
          <p:cNvSpPr/>
          <p:nvPr/>
        </p:nvSpPr>
        <p:spPr>
          <a:xfrm>
            <a:off x="683568" y="548679"/>
            <a:ext cx="7704856" cy="1087615"/>
          </a:xfrm>
          <a:prstGeom prst="rect">
            <a:avLst/>
          </a:prstGeom>
          <a:solidFill>
            <a:srgbClr val="58C49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4800" b="1" dirty="0" smtClean="0"/>
              <a:t>APDR</a:t>
            </a:r>
            <a:endParaRPr lang="en-GB" sz="4800" b="1" dirty="0"/>
          </a:p>
        </p:txBody>
      </p:sp>
      <p:sp>
        <p:nvSpPr>
          <p:cNvPr id="4" name="TextBox 3"/>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229600" cy="1152128"/>
          </a:xfrm>
          <a:solidFill>
            <a:srgbClr val="58C493"/>
          </a:solidFill>
        </p:spPr>
        <p:txBody>
          <a:bodyPr>
            <a:normAutofit fontScale="90000"/>
          </a:bodyPr>
          <a:lstStyle/>
          <a:p>
            <a:r>
              <a:rPr lang="en-GB" sz="4000" b="1" u="sng" dirty="0" smtClean="0">
                <a:cs typeface="Arial" panose="020B0604020202020204" pitchFamily="34" charset="0"/>
              </a:rPr>
              <a:t/>
            </a:r>
            <a:br>
              <a:rPr lang="en-GB" sz="4000" b="1" u="sng" dirty="0" smtClean="0">
                <a:cs typeface="Arial" panose="020B0604020202020204" pitchFamily="34" charset="0"/>
              </a:rPr>
            </a:br>
            <a:r>
              <a:rPr lang="en-GB" sz="5300" b="1" dirty="0" smtClean="0">
                <a:solidFill>
                  <a:schemeClr val="bg1"/>
                </a:solidFill>
                <a:cs typeface="Arial" panose="020B0604020202020204" pitchFamily="34" charset="0"/>
              </a:rPr>
              <a:t>Assessment</a:t>
            </a:r>
            <a:r>
              <a:rPr lang="en-GB" sz="4000" b="1" u="sng" dirty="0" smtClean="0">
                <a:cs typeface="Arial" panose="020B0604020202020204" pitchFamily="34" charset="0"/>
              </a:rPr>
              <a:t> </a:t>
            </a:r>
            <a:r>
              <a:rPr lang="en-GB" sz="4000" b="1" dirty="0" smtClean="0">
                <a:latin typeface="Arial" panose="020B0604020202020204" pitchFamily="34" charset="0"/>
                <a:cs typeface="Arial" panose="020B0604020202020204" pitchFamily="34" charset="0"/>
              </a:rPr>
              <a:t>       </a:t>
            </a:r>
            <a:r>
              <a:rPr lang="en-GB" sz="4000" b="1" dirty="0">
                <a:solidFill>
                  <a:srgbClr val="650F87"/>
                </a:solidFill>
                <a:latin typeface="Arial" panose="020B0604020202020204" pitchFamily="34" charset="0"/>
                <a:cs typeface="Arial" panose="020B0604020202020204" pitchFamily="34" charset="0"/>
              </a:rPr>
              <a:t/>
            </a:r>
            <a:br>
              <a:rPr lang="en-GB" sz="4000" b="1" dirty="0">
                <a:solidFill>
                  <a:srgbClr val="650F87"/>
                </a:solidFill>
                <a:latin typeface="Arial" panose="020B0604020202020204" pitchFamily="34" charset="0"/>
                <a:cs typeface="Arial" panose="020B0604020202020204" pitchFamily="34" charset="0"/>
              </a:rPr>
            </a:br>
            <a:endParaRPr lang="en-GB" sz="40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57200" y="1628800"/>
            <a:ext cx="8229600" cy="4497363"/>
          </a:xfrm>
        </p:spPr>
        <p:txBody>
          <a:bodyPr/>
          <a:lstStyle/>
          <a:p>
            <a:pPr marL="0" indent="0" algn="ctr">
              <a:buNone/>
            </a:pPr>
            <a:r>
              <a:rPr lang="en-GB" u="sng" dirty="0">
                <a:solidFill>
                  <a:schemeClr val="tx1">
                    <a:lumMod val="65000"/>
                    <a:lumOff val="35000"/>
                  </a:schemeClr>
                </a:solidFill>
                <a:latin typeface="+mj-lt"/>
                <a:cs typeface="Arial" panose="020B0604020202020204" pitchFamily="34" charset="0"/>
              </a:rPr>
              <a:t>R</a:t>
            </a:r>
            <a:r>
              <a:rPr lang="en-GB" u="sng" dirty="0" smtClean="0">
                <a:solidFill>
                  <a:schemeClr val="tx1">
                    <a:lumMod val="65000"/>
                    <a:lumOff val="35000"/>
                  </a:schemeClr>
                </a:solidFill>
                <a:latin typeface="+mj-lt"/>
                <a:cs typeface="Arial" panose="020B0604020202020204" pitchFamily="34" charset="0"/>
              </a:rPr>
              <a:t>ecognised test with standardised score</a:t>
            </a:r>
            <a:endParaRPr lang="en-GB" u="sng" dirty="0">
              <a:solidFill>
                <a:schemeClr val="tx1">
                  <a:lumMod val="65000"/>
                  <a:lumOff val="35000"/>
                </a:schemeClr>
              </a:solidFill>
              <a:latin typeface="+mj-lt"/>
              <a:cs typeface="Arial" panose="020B0604020202020204" pitchFamily="34" charset="0"/>
            </a:endParaRPr>
          </a:p>
        </p:txBody>
      </p:sp>
      <p:sp>
        <p:nvSpPr>
          <p:cNvPr id="4" name="Rectangle 3"/>
          <p:cNvSpPr/>
          <p:nvPr/>
        </p:nvSpPr>
        <p:spPr>
          <a:xfrm>
            <a:off x="683568" y="2413338"/>
            <a:ext cx="8208912" cy="3477875"/>
          </a:xfrm>
          <a:prstGeom prst="rect">
            <a:avLst/>
          </a:prstGeom>
        </p:spPr>
        <p:txBody>
          <a:bodyPr wrap="square">
            <a:spAutoFit/>
          </a:bodyPr>
          <a:lstStyle/>
          <a:p>
            <a:pPr algn="l"/>
            <a:r>
              <a:rPr lang="en-GB" sz="2000" b="1" u="sng" dirty="0" smtClean="0">
                <a:solidFill>
                  <a:schemeClr val="tx1">
                    <a:lumMod val="65000"/>
                    <a:lumOff val="35000"/>
                  </a:schemeClr>
                </a:solidFill>
                <a:latin typeface="+mn-lt"/>
                <a:cs typeface="Arial" panose="020B0604020202020204" pitchFamily="34" charset="0"/>
              </a:rPr>
              <a:t>Spelling</a:t>
            </a:r>
            <a:r>
              <a:rPr lang="en-GB" sz="2000" dirty="0" smtClean="0">
                <a:solidFill>
                  <a:schemeClr val="tx1">
                    <a:lumMod val="65000"/>
                    <a:lumOff val="35000"/>
                  </a:schemeClr>
                </a:solidFill>
                <a:latin typeface="+mn-lt"/>
                <a:cs typeface="Arial" panose="020B0604020202020204" pitchFamily="34" charset="0"/>
              </a:rPr>
              <a:t>   SWST   HAST   VERNON</a:t>
            </a:r>
          </a:p>
          <a:p>
            <a:pPr algn="l"/>
            <a:endParaRPr lang="en-GB" sz="2000" dirty="0" smtClean="0">
              <a:solidFill>
                <a:schemeClr val="tx1">
                  <a:lumMod val="65000"/>
                  <a:lumOff val="35000"/>
                </a:schemeClr>
              </a:solidFill>
              <a:latin typeface="+mn-lt"/>
              <a:cs typeface="Arial" panose="020B0604020202020204" pitchFamily="34" charset="0"/>
            </a:endParaRPr>
          </a:p>
          <a:p>
            <a:pPr algn="l"/>
            <a:r>
              <a:rPr lang="en-GB" sz="2000" b="1" u="sng" dirty="0" smtClean="0">
                <a:solidFill>
                  <a:schemeClr val="tx1">
                    <a:lumMod val="65000"/>
                    <a:lumOff val="35000"/>
                  </a:schemeClr>
                </a:solidFill>
                <a:latin typeface="+mn-lt"/>
                <a:cs typeface="Arial" panose="020B0604020202020204" pitchFamily="34" charset="0"/>
              </a:rPr>
              <a:t>Reading &amp; Comprehension</a:t>
            </a:r>
          </a:p>
          <a:p>
            <a:pPr algn="l"/>
            <a:r>
              <a:rPr lang="en-GB" sz="2000" dirty="0" smtClean="0">
                <a:solidFill>
                  <a:schemeClr val="tx1">
                    <a:lumMod val="65000"/>
                    <a:lumOff val="35000"/>
                  </a:schemeClr>
                </a:solidFill>
                <a:latin typeface="+mn-lt"/>
                <a:cs typeface="Arial" panose="020B0604020202020204" pitchFamily="34" charset="0"/>
              </a:rPr>
              <a:t>DRA, Edinburgh, YARC, Neale Analysis,  </a:t>
            </a:r>
          </a:p>
          <a:p>
            <a:pPr algn="l"/>
            <a:r>
              <a:rPr lang="en-GB" sz="2000" dirty="0" smtClean="0">
                <a:solidFill>
                  <a:schemeClr val="tx1">
                    <a:lumMod val="65000"/>
                    <a:lumOff val="35000"/>
                  </a:schemeClr>
                </a:solidFill>
                <a:latin typeface="+mn-lt"/>
                <a:cs typeface="Arial" panose="020B0604020202020204" pitchFamily="34" charset="0"/>
              </a:rPr>
              <a:t>NFER, WRAT4 EDINBURGH </a:t>
            </a:r>
          </a:p>
          <a:p>
            <a:pPr algn="l"/>
            <a:endParaRPr lang="en-GB" sz="2000" dirty="0" smtClean="0">
              <a:solidFill>
                <a:schemeClr val="tx1">
                  <a:lumMod val="65000"/>
                  <a:lumOff val="35000"/>
                </a:schemeClr>
              </a:solidFill>
              <a:latin typeface="+mn-lt"/>
              <a:cs typeface="Arial" panose="020B0604020202020204" pitchFamily="34" charset="0"/>
            </a:endParaRPr>
          </a:p>
          <a:p>
            <a:pPr algn="l"/>
            <a:r>
              <a:rPr lang="en-GB" sz="2000" b="1" u="sng" dirty="0" smtClean="0">
                <a:solidFill>
                  <a:schemeClr val="tx1">
                    <a:lumMod val="65000"/>
                    <a:lumOff val="35000"/>
                  </a:schemeClr>
                </a:solidFill>
                <a:latin typeface="+mn-lt"/>
                <a:cs typeface="Arial" panose="020B0604020202020204" pitchFamily="34" charset="0"/>
              </a:rPr>
              <a:t>Writing</a:t>
            </a:r>
            <a:r>
              <a:rPr lang="en-GB" sz="2000" b="1" dirty="0" smtClean="0">
                <a:solidFill>
                  <a:schemeClr val="tx1">
                    <a:lumMod val="65000"/>
                    <a:lumOff val="35000"/>
                  </a:schemeClr>
                </a:solidFill>
                <a:latin typeface="+mn-lt"/>
                <a:cs typeface="Arial" panose="020B0604020202020204" pitchFamily="34" charset="0"/>
              </a:rPr>
              <a:t> </a:t>
            </a:r>
          </a:p>
          <a:p>
            <a:pPr algn="l"/>
            <a:r>
              <a:rPr lang="en-GB" sz="2000" dirty="0" smtClean="0">
                <a:solidFill>
                  <a:schemeClr val="tx1">
                    <a:lumMod val="65000"/>
                    <a:lumOff val="35000"/>
                  </a:schemeClr>
                </a:solidFill>
                <a:latin typeface="+mn-lt"/>
                <a:cs typeface="Arial" panose="020B0604020202020204" pitchFamily="34" charset="0"/>
              </a:rPr>
              <a:t>Individual assessment or DASH </a:t>
            </a:r>
          </a:p>
          <a:p>
            <a:pPr algn="l"/>
            <a:endParaRPr lang="en-GB" sz="2000" dirty="0" smtClean="0">
              <a:solidFill>
                <a:schemeClr val="tx1">
                  <a:lumMod val="65000"/>
                  <a:lumOff val="35000"/>
                </a:schemeClr>
              </a:solidFill>
              <a:latin typeface="+mn-lt"/>
              <a:cs typeface="Arial" panose="020B0604020202020204" pitchFamily="34" charset="0"/>
            </a:endParaRPr>
          </a:p>
          <a:p>
            <a:pPr algn="l"/>
            <a:r>
              <a:rPr lang="en-GB" sz="2000" b="1" u="sng" dirty="0" smtClean="0">
                <a:solidFill>
                  <a:schemeClr val="tx1">
                    <a:lumMod val="65000"/>
                    <a:lumOff val="35000"/>
                  </a:schemeClr>
                </a:solidFill>
                <a:latin typeface="+mn-lt"/>
                <a:cs typeface="Arial" panose="020B0604020202020204" pitchFamily="34" charset="0"/>
              </a:rPr>
              <a:t>Handwriting</a:t>
            </a:r>
            <a:endParaRPr lang="en-GB" sz="2000" b="1" u="sng" dirty="0">
              <a:solidFill>
                <a:schemeClr val="tx1">
                  <a:lumMod val="65000"/>
                  <a:lumOff val="35000"/>
                </a:schemeClr>
              </a:solidFill>
              <a:latin typeface="+mn-lt"/>
              <a:cs typeface="Arial" panose="020B0604020202020204" pitchFamily="34" charset="0"/>
            </a:endParaRPr>
          </a:p>
          <a:p>
            <a:pPr algn="l"/>
            <a:r>
              <a:rPr lang="en-GB" sz="2000" dirty="0" smtClean="0">
                <a:solidFill>
                  <a:schemeClr val="tx1">
                    <a:lumMod val="65000"/>
                    <a:lumOff val="35000"/>
                  </a:schemeClr>
                </a:solidFill>
                <a:latin typeface="+mn-lt"/>
                <a:cs typeface="Arial" panose="020B0604020202020204" pitchFamily="34" charset="0"/>
              </a:rPr>
              <a:t>Individual assessment</a:t>
            </a:r>
          </a:p>
        </p:txBody>
      </p:sp>
      <p:pic>
        <p:nvPicPr>
          <p:cNvPr id="1026" name="Picture 2" descr="https://ehcp.planhub.co.uk/wp-content/uploads/sites/47/2016/01/EHCP.jpg">
            <a:hlinkClick r:id="rId2"/>
          </p:cNvPr>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531423" y="3014917"/>
            <a:ext cx="2455822" cy="245582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TextBox 5"/>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extLst>
      <p:ext uri="{BB962C8B-B14F-4D97-AF65-F5344CB8AC3E}">
        <p14:creationId xmlns="" xmlns:p14="http://schemas.microsoft.com/office/powerpoint/2010/main" val="4193877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8C493"/>
          </a:solidFill>
        </p:spPr>
        <p:txBody>
          <a:bodyPr>
            <a:normAutofit/>
          </a:bodyPr>
          <a:lstStyle/>
          <a:p>
            <a:r>
              <a:rPr lang="en-GB" sz="4800" b="1" dirty="0">
                <a:solidFill>
                  <a:schemeClr val="bg1"/>
                </a:solidFill>
                <a:cs typeface="Arial" panose="020B0604020202020204" pitchFamily="34" charset="0"/>
              </a:rPr>
              <a:t>Planning</a:t>
            </a:r>
            <a:endParaRPr lang="en-GB" sz="4800" dirty="0">
              <a:solidFill>
                <a:schemeClr val="bg1"/>
              </a:solidFill>
            </a:endParaRPr>
          </a:p>
        </p:txBody>
      </p:sp>
      <p:sp>
        <p:nvSpPr>
          <p:cNvPr id="3" name="Content Placeholder 2"/>
          <p:cNvSpPr>
            <a:spLocks noGrp="1"/>
          </p:cNvSpPr>
          <p:nvPr>
            <p:ph sz="half" idx="1"/>
          </p:nvPr>
        </p:nvSpPr>
        <p:spPr/>
        <p:txBody>
          <a:bodyPr/>
          <a:lstStyle/>
          <a:p>
            <a:pPr lvl="0"/>
            <a:r>
              <a:rPr lang="en-GB" sz="3200" dirty="0">
                <a:solidFill>
                  <a:schemeClr val="tx1">
                    <a:lumMod val="65000"/>
                    <a:lumOff val="35000"/>
                  </a:schemeClr>
                </a:solidFill>
              </a:rPr>
              <a:t>Benchmark ability</a:t>
            </a:r>
          </a:p>
          <a:p>
            <a:pPr lvl="0"/>
            <a:r>
              <a:rPr lang="en-GB" sz="3200" dirty="0">
                <a:solidFill>
                  <a:schemeClr val="tx1">
                    <a:lumMod val="65000"/>
                    <a:lumOff val="35000"/>
                  </a:schemeClr>
                </a:solidFill>
              </a:rPr>
              <a:t>Strengths and weakness analysis</a:t>
            </a:r>
          </a:p>
          <a:p>
            <a:pPr lvl="0"/>
            <a:r>
              <a:rPr lang="en-GB" sz="3200" dirty="0">
                <a:solidFill>
                  <a:schemeClr val="tx1">
                    <a:lumMod val="65000"/>
                    <a:lumOff val="35000"/>
                  </a:schemeClr>
                </a:solidFill>
              </a:rPr>
              <a:t>Learning style</a:t>
            </a:r>
          </a:p>
          <a:p>
            <a:pPr lvl="0"/>
            <a:r>
              <a:rPr lang="en-GB" sz="3200" dirty="0">
                <a:solidFill>
                  <a:schemeClr val="tx1">
                    <a:lumMod val="65000"/>
                    <a:lumOff val="35000"/>
                  </a:schemeClr>
                </a:solidFill>
              </a:rPr>
              <a:t>Interests</a:t>
            </a:r>
          </a:p>
          <a:p>
            <a:pPr lvl="0"/>
            <a:r>
              <a:rPr lang="en-GB" sz="3200" dirty="0">
                <a:solidFill>
                  <a:schemeClr val="tx1">
                    <a:lumMod val="65000"/>
                    <a:lumOff val="35000"/>
                  </a:schemeClr>
                </a:solidFill>
              </a:rPr>
              <a:t>Timing (brief &amp; regular)</a:t>
            </a:r>
          </a:p>
          <a:p>
            <a:endParaRPr lang="en-GB" dirty="0"/>
          </a:p>
        </p:txBody>
      </p:sp>
      <p:sp>
        <p:nvSpPr>
          <p:cNvPr id="4" name="Content Placeholder 3"/>
          <p:cNvSpPr>
            <a:spLocks noGrp="1"/>
          </p:cNvSpPr>
          <p:nvPr>
            <p:ph sz="half" idx="2"/>
          </p:nvPr>
        </p:nvSpPr>
        <p:spPr/>
        <p:txBody>
          <a:bodyPr/>
          <a:lstStyle/>
          <a:p>
            <a:r>
              <a:rPr lang="en-GB" sz="3200" dirty="0">
                <a:solidFill>
                  <a:schemeClr val="tx1">
                    <a:lumMod val="65000"/>
                    <a:lumOff val="35000"/>
                  </a:schemeClr>
                </a:solidFill>
              </a:rPr>
              <a:t>Longevity (sustained</a:t>
            </a:r>
            <a:r>
              <a:rPr lang="en-GB" sz="3200" dirty="0" smtClean="0">
                <a:solidFill>
                  <a:schemeClr val="tx1">
                    <a:lumMod val="65000"/>
                    <a:lumOff val="35000"/>
                  </a:schemeClr>
                </a:solidFill>
              </a:rPr>
              <a:t>)</a:t>
            </a:r>
            <a:endParaRPr lang="en-GB" sz="3200" dirty="0">
              <a:solidFill>
                <a:schemeClr val="tx1">
                  <a:lumMod val="65000"/>
                  <a:lumOff val="35000"/>
                </a:schemeClr>
              </a:solidFill>
            </a:endParaRPr>
          </a:p>
          <a:p>
            <a:r>
              <a:rPr lang="en-GB" sz="3200" dirty="0">
                <a:solidFill>
                  <a:schemeClr val="tx1">
                    <a:lumMod val="65000"/>
                    <a:lumOff val="35000"/>
                  </a:schemeClr>
                </a:solidFill>
              </a:rPr>
              <a:t>Progress measured</a:t>
            </a:r>
          </a:p>
          <a:p>
            <a:r>
              <a:rPr lang="en-GB" sz="3200" dirty="0">
                <a:solidFill>
                  <a:schemeClr val="tx1">
                    <a:lumMod val="65000"/>
                    <a:lumOff val="35000"/>
                  </a:schemeClr>
                </a:solidFill>
              </a:rPr>
              <a:t>Group size</a:t>
            </a:r>
          </a:p>
          <a:p>
            <a:r>
              <a:rPr lang="en-GB" sz="3200" dirty="0">
                <a:solidFill>
                  <a:schemeClr val="tx1">
                    <a:lumMod val="65000"/>
                    <a:lumOff val="35000"/>
                  </a:schemeClr>
                </a:solidFill>
              </a:rPr>
              <a:t>Timetabled &amp; structured.</a:t>
            </a:r>
          </a:p>
          <a:p>
            <a:r>
              <a:rPr lang="en-GB" sz="3200" dirty="0">
                <a:solidFill>
                  <a:schemeClr val="tx1">
                    <a:lumMod val="65000"/>
                    <a:lumOff val="35000"/>
                  </a:schemeClr>
                </a:solidFill>
              </a:rPr>
              <a:t>Feasibility</a:t>
            </a:r>
          </a:p>
          <a:p>
            <a:endParaRPr lang="en-GB" dirty="0"/>
          </a:p>
        </p:txBody>
      </p:sp>
      <p:sp>
        <p:nvSpPr>
          <p:cNvPr id="5" name="TextBox 4"/>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extLst>
      <p:ext uri="{BB962C8B-B14F-4D97-AF65-F5344CB8AC3E}">
        <p14:creationId xmlns="" xmlns:p14="http://schemas.microsoft.com/office/powerpoint/2010/main" val="48318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8C493"/>
          </a:solidFill>
        </p:spPr>
        <p:txBody>
          <a:bodyPr/>
          <a:lstStyle/>
          <a:p>
            <a:r>
              <a:rPr lang="en-GB" b="1" dirty="0" smtClean="0">
                <a:solidFill>
                  <a:schemeClr val="bg1"/>
                </a:solidFill>
                <a:cs typeface="Arial" panose="020B0604020202020204" pitchFamily="34" charset="0"/>
              </a:rPr>
              <a:t>Devise a Programme</a:t>
            </a:r>
            <a:endParaRPr lang="en-GB" b="1" dirty="0">
              <a:solidFill>
                <a:schemeClr val="bg1"/>
              </a:solidFill>
              <a:cs typeface="Arial" panose="020B0604020202020204" pitchFamily="34" charset="0"/>
            </a:endParaRPr>
          </a:p>
        </p:txBody>
      </p:sp>
      <p:sp>
        <p:nvSpPr>
          <p:cNvPr id="3" name="Content Placeholder 2"/>
          <p:cNvSpPr>
            <a:spLocks noGrp="1"/>
          </p:cNvSpPr>
          <p:nvPr>
            <p:ph idx="1"/>
          </p:nvPr>
        </p:nvSpPr>
        <p:spPr>
          <a:xfrm>
            <a:off x="457200" y="1628800"/>
            <a:ext cx="8229600" cy="4752528"/>
          </a:xfrm>
        </p:spPr>
        <p:txBody>
          <a:bodyPr>
            <a:normAutofit fontScale="92500"/>
          </a:bodyPr>
          <a:lstStyle/>
          <a:p>
            <a:pPr marL="0" indent="0">
              <a:buNone/>
            </a:pPr>
            <a:r>
              <a:rPr lang="en-GB" sz="2000" b="1" u="sng" dirty="0" smtClean="0">
                <a:solidFill>
                  <a:schemeClr val="tx1">
                    <a:lumMod val="65000"/>
                    <a:lumOff val="35000"/>
                  </a:schemeClr>
                </a:solidFill>
                <a:cs typeface="Arial" panose="020B0604020202020204" pitchFamily="34" charset="0"/>
              </a:rPr>
              <a:t>Spelling</a:t>
            </a:r>
            <a:r>
              <a:rPr lang="en-GB" sz="2000" b="1" dirty="0" smtClean="0">
                <a:solidFill>
                  <a:schemeClr val="tx1">
                    <a:lumMod val="65000"/>
                    <a:lumOff val="35000"/>
                  </a:schemeClr>
                </a:solidFill>
                <a:cs typeface="Arial" panose="020B0604020202020204" pitchFamily="34" charset="0"/>
              </a:rPr>
              <a:t>:</a:t>
            </a:r>
            <a:r>
              <a:rPr lang="en-GB" sz="2000" dirty="0" smtClean="0">
                <a:solidFill>
                  <a:schemeClr val="tx1">
                    <a:lumMod val="65000"/>
                    <a:lumOff val="35000"/>
                  </a:schemeClr>
                </a:solidFill>
                <a:cs typeface="Arial" panose="020B0604020202020204" pitchFamily="34" charset="0"/>
              </a:rPr>
              <a:t> SWST for progression, different methods. (VAK)</a:t>
            </a:r>
          </a:p>
          <a:p>
            <a:endParaRPr lang="en-GB" sz="1000" dirty="0" smtClean="0">
              <a:solidFill>
                <a:schemeClr val="tx1">
                  <a:lumMod val="65000"/>
                  <a:lumOff val="35000"/>
                </a:schemeClr>
              </a:solidFill>
              <a:cs typeface="Arial" panose="020B0604020202020204" pitchFamily="34" charset="0"/>
            </a:endParaRPr>
          </a:p>
          <a:p>
            <a:pPr marL="0" indent="0">
              <a:buNone/>
            </a:pPr>
            <a:r>
              <a:rPr lang="en-GB" sz="2000" b="1" u="sng" dirty="0" smtClean="0">
                <a:solidFill>
                  <a:schemeClr val="tx1">
                    <a:lumMod val="65000"/>
                    <a:lumOff val="35000"/>
                  </a:schemeClr>
                </a:solidFill>
                <a:cs typeface="Arial" panose="020B0604020202020204" pitchFamily="34" charset="0"/>
              </a:rPr>
              <a:t>Reading</a:t>
            </a:r>
            <a:r>
              <a:rPr lang="en-GB" sz="2000" dirty="0" smtClean="0">
                <a:solidFill>
                  <a:schemeClr val="tx1">
                    <a:lumMod val="65000"/>
                    <a:lumOff val="35000"/>
                  </a:schemeClr>
                </a:solidFill>
                <a:cs typeface="Arial" panose="020B0604020202020204" pitchFamily="34" charset="0"/>
              </a:rPr>
              <a:t>: Phonics/Whole word approach for decoding, practise for automaticity. </a:t>
            </a:r>
          </a:p>
          <a:p>
            <a:endParaRPr lang="en-GB" sz="1000" dirty="0" smtClean="0">
              <a:solidFill>
                <a:schemeClr val="tx1">
                  <a:lumMod val="65000"/>
                  <a:lumOff val="35000"/>
                </a:schemeClr>
              </a:solidFill>
              <a:cs typeface="Arial" panose="020B0604020202020204" pitchFamily="34" charset="0"/>
            </a:endParaRPr>
          </a:p>
          <a:p>
            <a:pPr marL="0" indent="0">
              <a:buNone/>
            </a:pPr>
            <a:r>
              <a:rPr lang="en-GB" sz="2000" b="1" u="sng" dirty="0" smtClean="0">
                <a:solidFill>
                  <a:schemeClr val="tx1">
                    <a:lumMod val="65000"/>
                    <a:lumOff val="35000"/>
                  </a:schemeClr>
                </a:solidFill>
                <a:cs typeface="Arial" panose="020B0604020202020204" pitchFamily="34" charset="0"/>
              </a:rPr>
              <a:t>Comprehension</a:t>
            </a:r>
            <a:r>
              <a:rPr lang="en-GB" sz="2000" dirty="0" smtClean="0">
                <a:solidFill>
                  <a:schemeClr val="tx1">
                    <a:lumMod val="65000"/>
                    <a:lumOff val="35000"/>
                  </a:schemeClr>
                </a:solidFill>
                <a:cs typeface="Arial" panose="020B0604020202020204" pitchFamily="34" charset="0"/>
              </a:rPr>
              <a:t>: Opportunities for summarising, sequencing, inference, deduction.</a:t>
            </a:r>
          </a:p>
          <a:p>
            <a:endParaRPr lang="en-GB" sz="1000" dirty="0" smtClean="0">
              <a:solidFill>
                <a:schemeClr val="tx1">
                  <a:lumMod val="65000"/>
                  <a:lumOff val="35000"/>
                </a:schemeClr>
              </a:solidFill>
              <a:cs typeface="Arial" panose="020B0604020202020204" pitchFamily="34" charset="0"/>
            </a:endParaRPr>
          </a:p>
          <a:p>
            <a:pPr marL="0" indent="0">
              <a:buNone/>
            </a:pPr>
            <a:r>
              <a:rPr lang="en-GB" sz="2000" b="1" u="sng" dirty="0" smtClean="0">
                <a:solidFill>
                  <a:schemeClr val="tx1">
                    <a:lumMod val="65000"/>
                    <a:lumOff val="35000"/>
                  </a:schemeClr>
                </a:solidFill>
                <a:cs typeface="Arial" panose="020B0604020202020204" pitchFamily="34" charset="0"/>
              </a:rPr>
              <a:t>Writing</a:t>
            </a:r>
            <a:r>
              <a:rPr lang="en-GB" sz="2000" dirty="0" smtClean="0">
                <a:solidFill>
                  <a:schemeClr val="tx1">
                    <a:lumMod val="65000"/>
                    <a:lumOff val="35000"/>
                  </a:schemeClr>
                </a:solidFill>
                <a:cs typeface="Arial" panose="020B0604020202020204" pitchFamily="34" charset="0"/>
              </a:rPr>
              <a:t>: Structure, check understanding, orally rehearse, subject specific, model and  scaffold, orally rehearse, EXPLICIT.</a:t>
            </a:r>
          </a:p>
          <a:p>
            <a:pPr marL="0" indent="0">
              <a:buNone/>
            </a:pPr>
            <a:endParaRPr lang="en-GB" sz="1000" dirty="0">
              <a:solidFill>
                <a:schemeClr val="tx1">
                  <a:lumMod val="65000"/>
                  <a:lumOff val="35000"/>
                </a:schemeClr>
              </a:solidFill>
              <a:cs typeface="Arial" panose="020B0604020202020204" pitchFamily="34" charset="0"/>
            </a:endParaRPr>
          </a:p>
          <a:p>
            <a:pPr marL="0" indent="0">
              <a:buNone/>
            </a:pPr>
            <a:r>
              <a:rPr lang="en-GB" sz="2000" b="1" u="sng" dirty="0" smtClean="0">
                <a:solidFill>
                  <a:schemeClr val="tx1">
                    <a:lumMod val="65000"/>
                    <a:lumOff val="35000"/>
                  </a:schemeClr>
                </a:solidFill>
                <a:cs typeface="Arial" panose="020B0604020202020204" pitchFamily="34" charset="0"/>
              </a:rPr>
              <a:t>SPAG: </a:t>
            </a:r>
            <a:r>
              <a:rPr lang="en-GB" sz="2000" dirty="0" smtClean="0">
                <a:solidFill>
                  <a:schemeClr val="tx1">
                    <a:lumMod val="65000"/>
                    <a:lumOff val="35000"/>
                  </a:schemeClr>
                </a:solidFill>
                <a:cs typeface="Arial" panose="020B0604020202020204" pitchFamily="34" charset="0"/>
              </a:rPr>
              <a:t>Scaffold sentence structure and parts of speech; model the use of specific punctuation, crib sheet of grammatical terms</a:t>
            </a:r>
          </a:p>
          <a:p>
            <a:endParaRPr lang="en-GB" sz="900" dirty="0" smtClean="0">
              <a:solidFill>
                <a:schemeClr val="tx1">
                  <a:lumMod val="65000"/>
                  <a:lumOff val="35000"/>
                </a:schemeClr>
              </a:solidFill>
              <a:cs typeface="Arial" panose="020B0604020202020204" pitchFamily="34" charset="0"/>
            </a:endParaRPr>
          </a:p>
          <a:p>
            <a:pPr marL="0" indent="0">
              <a:buNone/>
            </a:pPr>
            <a:r>
              <a:rPr lang="en-GB" sz="2000" b="1" u="sng" dirty="0" smtClean="0">
                <a:solidFill>
                  <a:schemeClr val="tx1">
                    <a:lumMod val="65000"/>
                    <a:lumOff val="35000"/>
                  </a:schemeClr>
                </a:solidFill>
                <a:cs typeface="Arial" panose="020B0604020202020204" pitchFamily="34" charset="0"/>
              </a:rPr>
              <a:t>Handwriting</a:t>
            </a:r>
            <a:r>
              <a:rPr lang="en-GB" sz="2000" u="sng" dirty="0" smtClean="0">
                <a:solidFill>
                  <a:schemeClr val="tx1">
                    <a:lumMod val="65000"/>
                    <a:lumOff val="35000"/>
                  </a:schemeClr>
                </a:solidFill>
                <a:cs typeface="Arial" panose="020B0604020202020204" pitchFamily="34" charset="0"/>
              </a:rPr>
              <a:t>: </a:t>
            </a:r>
            <a:r>
              <a:rPr lang="en-GB" sz="2000" dirty="0" smtClean="0">
                <a:solidFill>
                  <a:schemeClr val="tx1">
                    <a:lumMod val="65000"/>
                    <a:lumOff val="35000"/>
                  </a:schemeClr>
                </a:solidFill>
                <a:cs typeface="Arial" panose="020B0604020202020204" pitchFamily="34" charset="0"/>
              </a:rPr>
              <a:t>Physical approach, analysis </a:t>
            </a:r>
            <a:r>
              <a:rPr lang="en-GB" sz="2000" dirty="0">
                <a:solidFill>
                  <a:schemeClr val="tx1">
                    <a:lumMod val="65000"/>
                    <a:lumOff val="35000"/>
                  </a:schemeClr>
                </a:solidFill>
                <a:cs typeface="Arial" panose="020B0604020202020204" pitchFamily="34" charset="0"/>
              </a:rPr>
              <a:t>of </a:t>
            </a:r>
            <a:r>
              <a:rPr lang="en-GB" sz="2000" dirty="0" smtClean="0">
                <a:solidFill>
                  <a:schemeClr val="tx1">
                    <a:lumMod val="65000"/>
                    <a:lumOff val="35000"/>
                  </a:schemeClr>
                </a:solidFill>
                <a:cs typeface="Arial" panose="020B0604020202020204" pitchFamily="34" charset="0"/>
              </a:rPr>
              <a:t>style</a:t>
            </a:r>
          </a:p>
          <a:p>
            <a:pPr marL="0" indent="0">
              <a:buNone/>
            </a:pPr>
            <a:endParaRPr lang="en-GB" sz="1000" dirty="0" smtClean="0">
              <a:solidFill>
                <a:schemeClr val="tx1">
                  <a:lumMod val="65000"/>
                  <a:lumOff val="35000"/>
                </a:schemeClr>
              </a:solidFill>
              <a:cs typeface="Arial" panose="020B0604020202020204" pitchFamily="34" charset="0"/>
            </a:endParaRPr>
          </a:p>
          <a:p>
            <a:pPr marL="0" indent="0">
              <a:buNone/>
            </a:pPr>
            <a:r>
              <a:rPr lang="en-GB" sz="2000" b="1" u="sng" dirty="0" smtClean="0">
                <a:solidFill>
                  <a:schemeClr val="tx1">
                    <a:lumMod val="65000"/>
                    <a:lumOff val="35000"/>
                  </a:schemeClr>
                </a:solidFill>
                <a:cs typeface="Arial" panose="020B0604020202020204" pitchFamily="34" charset="0"/>
              </a:rPr>
              <a:t>Numeracy: </a:t>
            </a:r>
            <a:r>
              <a:rPr lang="en-GB" sz="2000" dirty="0" smtClean="0">
                <a:solidFill>
                  <a:schemeClr val="tx1">
                    <a:lumMod val="65000"/>
                    <a:lumOff val="35000"/>
                  </a:schemeClr>
                </a:solidFill>
                <a:cs typeface="Arial" panose="020B0604020202020204" pitchFamily="34" charset="0"/>
              </a:rPr>
              <a:t>Repetition of number bonds 1-10, 1-20, 1-100 using different units</a:t>
            </a:r>
          </a:p>
          <a:p>
            <a:pPr marL="0" indent="0">
              <a:buNone/>
            </a:pPr>
            <a:r>
              <a:rPr lang="en-GB" sz="2000" dirty="0" smtClean="0">
                <a:solidFill>
                  <a:schemeClr val="tx1">
                    <a:lumMod val="65000"/>
                    <a:lumOff val="35000"/>
                  </a:schemeClr>
                </a:solidFill>
                <a:cs typeface="Arial" panose="020B0604020202020204" pitchFamily="34" charset="0"/>
              </a:rPr>
              <a:t>of measure, repetition of multiplication knowledge using VAK methods</a:t>
            </a:r>
            <a:endParaRPr lang="en-GB" sz="2000" dirty="0">
              <a:solidFill>
                <a:schemeClr val="tx1">
                  <a:lumMod val="65000"/>
                  <a:lumOff val="35000"/>
                </a:schemeClr>
              </a:solidFill>
              <a:cs typeface="Arial" panose="020B0604020202020204" pitchFamily="34" charset="0"/>
            </a:endParaRPr>
          </a:p>
          <a:p>
            <a:endParaRPr lang="en-GB" dirty="0" smtClean="0"/>
          </a:p>
          <a:p>
            <a:endParaRPr lang="en-GB" dirty="0" smtClean="0"/>
          </a:p>
          <a:p>
            <a:endParaRPr lang="en-GB" dirty="0"/>
          </a:p>
        </p:txBody>
      </p:sp>
      <p:sp>
        <p:nvSpPr>
          <p:cNvPr id="4" name="TextBox 3"/>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extLst>
      <p:ext uri="{BB962C8B-B14F-4D97-AF65-F5344CB8AC3E}">
        <p14:creationId xmlns="" xmlns:p14="http://schemas.microsoft.com/office/powerpoint/2010/main" val="42523521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8C493"/>
          </a:solidFill>
        </p:spPr>
        <p:txBody>
          <a:bodyPr/>
          <a:lstStyle/>
          <a:p>
            <a:r>
              <a:rPr lang="en-GB" b="1" dirty="0" smtClean="0">
                <a:solidFill>
                  <a:schemeClr val="bg1"/>
                </a:solidFill>
                <a:cs typeface="Arial" panose="020B0604020202020204" pitchFamily="34" charset="0"/>
              </a:rPr>
              <a:t>Session details</a:t>
            </a:r>
            <a:endParaRPr lang="en-GB" b="1" dirty="0">
              <a:solidFill>
                <a:schemeClr val="bg1"/>
              </a:solidFill>
              <a:cs typeface="Arial" panose="020B0604020202020204" pitchFamily="34" charset="0"/>
            </a:endParaRPr>
          </a:p>
        </p:txBody>
      </p:sp>
      <p:sp>
        <p:nvSpPr>
          <p:cNvPr id="3" name="Content Placeholder 2"/>
          <p:cNvSpPr>
            <a:spLocks noGrp="1"/>
          </p:cNvSpPr>
          <p:nvPr>
            <p:ph idx="1"/>
          </p:nvPr>
        </p:nvSpPr>
        <p:spPr>
          <a:xfrm>
            <a:off x="457200" y="1556792"/>
            <a:ext cx="7427168" cy="4464496"/>
          </a:xfrm>
          <a:solidFill>
            <a:schemeClr val="bg1"/>
          </a:solidFill>
        </p:spPr>
        <p:txBody>
          <a:bodyPr>
            <a:normAutofit/>
          </a:bodyPr>
          <a:lstStyle/>
          <a:p>
            <a:r>
              <a:rPr lang="en-GB" dirty="0" smtClean="0"/>
              <a:t>Ice breaker/settling in</a:t>
            </a:r>
          </a:p>
          <a:p>
            <a:r>
              <a:rPr lang="en-GB" dirty="0" smtClean="0"/>
              <a:t>Revision</a:t>
            </a:r>
          </a:p>
          <a:p>
            <a:r>
              <a:rPr lang="en-GB" dirty="0" smtClean="0"/>
              <a:t>New teaching point – Fun games/success</a:t>
            </a:r>
          </a:p>
          <a:p>
            <a:r>
              <a:rPr lang="en-GB" dirty="0" smtClean="0"/>
              <a:t>Whole picture/Context</a:t>
            </a:r>
          </a:p>
          <a:p>
            <a:r>
              <a:rPr lang="en-GB" dirty="0" smtClean="0"/>
              <a:t>Recap </a:t>
            </a:r>
          </a:p>
          <a:p>
            <a:r>
              <a:rPr lang="en-GB" dirty="0" smtClean="0"/>
              <a:t>Feedback</a:t>
            </a:r>
          </a:p>
          <a:p>
            <a:r>
              <a:rPr lang="en-GB" dirty="0" smtClean="0"/>
              <a:t>Follow up</a:t>
            </a:r>
          </a:p>
          <a:p>
            <a:endParaRPr lang="en-GB" dirty="0" smtClean="0"/>
          </a:p>
          <a:p>
            <a:endParaRPr lang="en-GB" dirty="0"/>
          </a:p>
        </p:txBody>
      </p:sp>
      <p:sp>
        <p:nvSpPr>
          <p:cNvPr id="4" name="TextBox 3"/>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extLst>
      <p:ext uri="{BB962C8B-B14F-4D97-AF65-F5344CB8AC3E}">
        <p14:creationId xmlns="" xmlns:p14="http://schemas.microsoft.com/office/powerpoint/2010/main" val="41857172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66130"/>
          </a:xfrm>
          <a:solidFill>
            <a:srgbClr val="58C493"/>
          </a:solidFill>
        </p:spPr>
        <p:txBody>
          <a:bodyPr/>
          <a:lstStyle/>
          <a:p>
            <a:r>
              <a:rPr lang="en-GB" b="1" dirty="0" smtClean="0">
                <a:solidFill>
                  <a:schemeClr val="bg1"/>
                </a:solidFill>
                <a:cs typeface="Arial" panose="020B0604020202020204" pitchFamily="34" charset="0"/>
              </a:rPr>
              <a:t>SMART Targets</a:t>
            </a:r>
            <a:endParaRPr lang="en-GB" b="1" dirty="0">
              <a:solidFill>
                <a:schemeClr val="bg1"/>
              </a:solidFill>
              <a:cs typeface="Arial" panose="020B0604020202020204" pitchFamily="34" charset="0"/>
            </a:endParaRPr>
          </a:p>
        </p:txBody>
      </p:sp>
      <p:pic>
        <p:nvPicPr>
          <p:cNvPr id="3" name="Picture 2" descr="http://simonlovelock.com/wp-content/uploads/2013/07/SMART-Goals.jpg">
            <a:hlinkClick r:id="rId3"/>
          </p:cNvPr>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755576" y="1556792"/>
            <a:ext cx="7272808" cy="4181475"/>
          </a:xfrm>
          <a:prstGeom prst="rect">
            <a:avLst/>
          </a:prstGeom>
          <a:noFill/>
          <a:extLst>
            <a:ext uri="{909E8E84-426E-40DD-AFC4-6F175D3DCCD1}">
              <a14:hiddenFill xmlns="" xmlns:a14="http://schemas.microsoft.com/office/drawing/2010/main">
                <a:solidFill>
                  <a:srgbClr val="FFFFFF"/>
                </a:solidFill>
              </a14:hiddenFill>
            </a:ext>
          </a:extLst>
        </p:spPr>
      </p:pic>
      <p:sp>
        <p:nvSpPr>
          <p:cNvPr id="4" name="TextBox 3"/>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extLst>
      <p:ext uri="{BB962C8B-B14F-4D97-AF65-F5344CB8AC3E}">
        <p14:creationId xmlns="" xmlns:p14="http://schemas.microsoft.com/office/powerpoint/2010/main" val="42195341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21305" y="1299411"/>
            <a:ext cx="4981074" cy="4062651"/>
          </a:xfrm>
          <a:prstGeom prst="rect">
            <a:avLst/>
          </a:prstGeom>
          <a:noFill/>
        </p:spPr>
        <p:txBody>
          <a:bodyPr wrap="square" rtlCol="0">
            <a:spAutoFit/>
          </a:bodyPr>
          <a:lstStyle/>
          <a:p>
            <a:pPr algn="ctr"/>
            <a:r>
              <a:rPr lang="en-GB" sz="13800" b="1" dirty="0" smtClean="0">
                <a:solidFill>
                  <a:schemeClr val="tx1">
                    <a:lumMod val="65000"/>
                    <a:lumOff val="35000"/>
                  </a:schemeClr>
                </a:solidFill>
              </a:rPr>
              <a:t>TASK</a:t>
            </a:r>
          </a:p>
          <a:p>
            <a:pPr algn="ctr"/>
            <a:r>
              <a:rPr lang="en-GB" sz="4000" dirty="0" smtClean="0">
                <a:solidFill>
                  <a:schemeClr val="tx1">
                    <a:lumMod val="65000"/>
                    <a:lumOff val="35000"/>
                  </a:schemeClr>
                </a:solidFill>
              </a:rPr>
              <a:t>Sort the statements into Vague and SMART targets</a:t>
            </a:r>
            <a:endParaRPr lang="en-GB" sz="4000" dirty="0">
              <a:solidFill>
                <a:schemeClr val="tx1">
                  <a:lumMod val="65000"/>
                  <a:lumOff val="35000"/>
                </a:schemeClr>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58C493"/>
          </a:solidFill>
        </p:spPr>
        <p:txBody>
          <a:bodyPr/>
          <a:lstStyle/>
          <a:p>
            <a:r>
              <a:rPr lang="en-GB" b="1" dirty="0" smtClean="0">
                <a:solidFill>
                  <a:schemeClr val="bg1"/>
                </a:solidFill>
              </a:rPr>
              <a:t>Reporting Change or Progress</a:t>
            </a:r>
            <a:endParaRPr lang="en-GB" b="1" dirty="0">
              <a:solidFill>
                <a:schemeClr val="bg1"/>
              </a:solidFill>
            </a:endParaRPr>
          </a:p>
        </p:txBody>
      </p:sp>
      <p:sp>
        <p:nvSpPr>
          <p:cNvPr id="3" name="Content Placeholder 2"/>
          <p:cNvSpPr>
            <a:spLocks noGrp="1"/>
          </p:cNvSpPr>
          <p:nvPr>
            <p:ph idx="1"/>
          </p:nvPr>
        </p:nvSpPr>
        <p:spPr>
          <a:xfrm>
            <a:off x="467544" y="1556792"/>
            <a:ext cx="8229600" cy="4781128"/>
          </a:xfrm>
        </p:spPr>
        <p:txBody>
          <a:bodyPr/>
          <a:lstStyle/>
          <a:p>
            <a:r>
              <a:rPr lang="en-GB" sz="3000" dirty="0" smtClean="0">
                <a:solidFill>
                  <a:schemeClr val="tx1">
                    <a:lumMod val="65000"/>
                    <a:lumOff val="35000"/>
                  </a:schemeClr>
                </a:solidFill>
              </a:rPr>
              <a:t>How do you report back to the teacher so that they can amend their planning to account for that child’s needs?</a:t>
            </a:r>
          </a:p>
          <a:p>
            <a:endParaRPr lang="en-GB" sz="3000" dirty="0">
              <a:solidFill>
                <a:schemeClr val="tx1">
                  <a:lumMod val="65000"/>
                  <a:lumOff val="35000"/>
                </a:schemeClr>
              </a:solidFill>
            </a:endParaRPr>
          </a:p>
          <a:p>
            <a:r>
              <a:rPr lang="en-GB" sz="3000" dirty="0" smtClean="0">
                <a:solidFill>
                  <a:schemeClr val="tx1">
                    <a:lumMod val="65000"/>
                    <a:lumOff val="35000"/>
                  </a:schemeClr>
                </a:solidFill>
              </a:rPr>
              <a:t>How do you record the progress the child has made towards their targets?</a:t>
            </a:r>
          </a:p>
          <a:p>
            <a:endParaRPr lang="en-GB" sz="3000" dirty="0">
              <a:solidFill>
                <a:schemeClr val="tx1">
                  <a:lumMod val="65000"/>
                  <a:lumOff val="35000"/>
                </a:schemeClr>
              </a:solidFill>
            </a:endParaRPr>
          </a:p>
          <a:p>
            <a:r>
              <a:rPr lang="en-GB" sz="3000" dirty="0" smtClean="0">
                <a:solidFill>
                  <a:schemeClr val="tx1">
                    <a:lumMod val="65000"/>
                    <a:lumOff val="35000"/>
                  </a:schemeClr>
                </a:solidFill>
              </a:rPr>
              <a:t>How do you amend your planning to account for different learning styles?</a:t>
            </a:r>
            <a:endParaRPr lang="en-GB" sz="3000" dirty="0">
              <a:solidFill>
                <a:schemeClr val="tx1">
                  <a:lumMod val="65000"/>
                  <a:lumOff val="35000"/>
                </a:schemeClr>
              </a:solidFill>
            </a:endParaRPr>
          </a:p>
        </p:txBody>
      </p:sp>
      <p:sp>
        <p:nvSpPr>
          <p:cNvPr id="4" name="TextBox 3"/>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642194"/>
          </a:xfrm>
          <a:solidFill>
            <a:srgbClr val="800080"/>
          </a:solidFill>
        </p:spPr>
        <p:txBody>
          <a:bodyPr/>
          <a:lstStyle/>
          <a:p>
            <a:r>
              <a:rPr lang="en-GB" b="1" dirty="0" smtClean="0">
                <a:solidFill>
                  <a:schemeClr val="bg1"/>
                </a:solidFill>
              </a:rPr>
              <a:t>Transferring Skills to the Classroom</a:t>
            </a:r>
            <a:endParaRPr lang="en-GB" b="1" dirty="0">
              <a:solidFill>
                <a:schemeClr val="bg1"/>
              </a:solidFill>
            </a:endParaRPr>
          </a:p>
        </p:txBody>
      </p:sp>
      <p:sp>
        <p:nvSpPr>
          <p:cNvPr id="3" name="Content Placeholder 2"/>
          <p:cNvSpPr>
            <a:spLocks noGrp="1"/>
          </p:cNvSpPr>
          <p:nvPr>
            <p:ph idx="1"/>
          </p:nvPr>
        </p:nvSpPr>
        <p:spPr>
          <a:xfrm>
            <a:off x="457200" y="2060848"/>
            <a:ext cx="8075240" cy="3096344"/>
          </a:xfrm>
          <a:solidFill>
            <a:schemeClr val="bg1"/>
          </a:solidFill>
        </p:spPr>
        <p:txBody>
          <a:bodyPr/>
          <a:lstStyle/>
          <a:p>
            <a:pPr algn="ctr"/>
            <a:endParaRPr lang="en-GB" sz="3600" dirty="0" smtClean="0"/>
          </a:p>
          <a:p>
            <a:pPr algn="ctr">
              <a:buNone/>
            </a:pPr>
            <a:r>
              <a:rPr lang="en-GB" sz="3600" dirty="0" smtClean="0">
                <a:solidFill>
                  <a:schemeClr val="tx1">
                    <a:lumMod val="65000"/>
                    <a:lumOff val="35000"/>
                  </a:schemeClr>
                </a:solidFill>
              </a:rPr>
              <a:t>How do you link the work of the intervention to the work that the child does in class?</a:t>
            </a:r>
          </a:p>
          <a:p>
            <a:pPr>
              <a:buNone/>
            </a:pPr>
            <a:endParaRPr lang="en-GB" dirty="0" smtClean="0"/>
          </a:p>
        </p:txBody>
      </p:sp>
      <p:sp>
        <p:nvSpPr>
          <p:cNvPr id="4" name="TextBox 3"/>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solidFill>
            <a:srgbClr val="F4C239"/>
          </a:solidFill>
        </p:spPr>
        <p:txBody>
          <a:bodyPr/>
          <a:lstStyle/>
          <a:p>
            <a:r>
              <a:rPr lang="en-GB" b="1" dirty="0" smtClean="0">
                <a:solidFill>
                  <a:schemeClr val="tx1">
                    <a:lumMod val="65000"/>
                    <a:lumOff val="35000"/>
                  </a:schemeClr>
                </a:solidFill>
              </a:rPr>
              <a:t>Future Plans</a:t>
            </a:r>
            <a:endParaRPr lang="en-GB" b="1" dirty="0">
              <a:solidFill>
                <a:schemeClr val="tx1">
                  <a:lumMod val="65000"/>
                  <a:lumOff val="35000"/>
                </a:schemeClr>
              </a:solidFill>
            </a:endParaRPr>
          </a:p>
        </p:txBody>
      </p:sp>
      <p:sp>
        <p:nvSpPr>
          <p:cNvPr id="3" name="Subtitle 2"/>
          <p:cNvSpPr>
            <a:spLocks noGrp="1"/>
          </p:cNvSpPr>
          <p:nvPr>
            <p:ph type="subTitle" idx="1"/>
          </p:nvPr>
        </p:nvSpPr>
        <p:spPr/>
        <p:txBody>
          <a:bodyPr/>
          <a:lstStyle/>
          <a:p>
            <a:r>
              <a:rPr lang="en-GB" dirty="0" smtClean="0">
                <a:solidFill>
                  <a:schemeClr val="tx1">
                    <a:lumMod val="65000"/>
                    <a:lumOff val="35000"/>
                  </a:schemeClr>
                </a:solidFill>
              </a:rPr>
              <a:t>Future training </a:t>
            </a:r>
          </a:p>
          <a:p>
            <a:r>
              <a:rPr lang="en-GB" dirty="0" smtClean="0">
                <a:solidFill>
                  <a:schemeClr val="tx1">
                    <a:lumMod val="65000"/>
                    <a:lumOff val="35000"/>
                  </a:schemeClr>
                </a:solidFill>
              </a:rPr>
              <a:t>What do you need?</a:t>
            </a:r>
            <a:endParaRPr lang="en-GB" dirty="0">
              <a:solidFill>
                <a:schemeClr val="tx1">
                  <a:lumMod val="65000"/>
                  <a:lumOff val="35000"/>
                </a:schemeClr>
              </a:solidFill>
            </a:endParaRPr>
          </a:p>
        </p:txBody>
      </p:sp>
      <p:sp>
        <p:nvSpPr>
          <p:cNvPr id="5" name="TextBox 4"/>
          <p:cNvSpPr txBox="1"/>
          <p:nvPr/>
        </p:nvSpPr>
        <p:spPr>
          <a:xfrm>
            <a:off x="539552" y="6304547"/>
            <a:ext cx="8147248" cy="369332"/>
          </a:xfrm>
          <a:prstGeom prst="rect">
            <a:avLst/>
          </a:prstGeom>
          <a:solidFill>
            <a:srgbClr val="F4C239"/>
          </a:solidFill>
        </p:spPr>
        <p:txBody>
          <a:bodyPr wrap="square" rtlCol="0">
            <a:spAutoFit/>
          </a:bodyPr>
          <a:lstStyle/>
          <a:p>
            <a:endParaRPr lang="en-GB" dirty="0"/>
          </a:p>
        </p:txBody>
      </p:sp>
    </p:spTree>
    <p:extLst>
      <p:ext uri="{BB962C8B-B14F-4D97-AF65-F5344CB8AC3E}">
        <p14:creationId xmlns="" xmlns:p14="http://schemas.microsoft.com/office/powerpoint/2010/main" val="7496124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642552" y="815546"/>
            <a:ext cx="7933038" cy="4863359"/>
          </a:xfrm>
        </p:spPr>
        <p:txBody>
          <a:bodyPr>
            <a:noAutofit/>
          </a:bodyPr>
          <a:lstStyle/>
          <a:p>
            <a:r>
              <a:rPr lang="en-US" sz="3200" dirty="0" smtClean="0"/>
              <a:t>We have discussed the move towards independence using the WDEP method.</a:t>
            </a:r>
          </a:p>
          <a:p>
            <a:r>
              <a:rPr lang="en-US" sz="3200" dirty="0" smtClean="0">
                <a:latin typeface="+mj-lt"/>
              </a:rPr>
              <a:t>Interventions must use the APDR model.</a:t>
            </a:r>
          </a:p>
          <a:p>
            <a:r>
              <a:rPr lang="en-US" sz="3200" dirty="0" smtClean="0"/>
              <a:t>Children do better when they can make links between the work they do in different lessons</a:t>
            </a:r>
          </a:p>
          <a:p>
            <a:r>
              <a:rPr lang="en-US" sz="3200" dirty="0" smtClean="0">
                <a:latin typeface="+mj-lt"/>
              </a:rPr>
              <a:t>A new professional development scheme will  acknowledge and appreciate the skills that TAs have.</a:t>
            </a:r>
            <a:endParaRPr lang="en-US" sz="3200" dirty="0">
              <a:latin typeface="+mj-lt"/>
            </a:endParaRPr>
          </a:p>
        </p:txBody>
      </p:sp>
    </p:spTree>
    <p:extLst>
      <p:ext uri="{BB962C8B-B14F-4D97-AF65-F5344CB8AC3E}">
        <p14:creationId xmlns:p14="http://schemas.microsoft.com/office/powerpoint/2010/main" xmlns="" val="4192891351"/>
      </p:ext>
    </p:extLst>
  </p:cSld>
  <p:clrMapOvr>
    <a:masterClrMapping/>
  </p:clrMapOvr>
  <p:timing>
    <p:tnLst>
      <p:par>
        <p:cTn id="1" dur="indefinite" restart="never" nodeType="tmRoot"/>
      </p:par>
    </p:tnLst>
  </p:timing>
</p:sld>
</file>

<file path=ppt/theme/theme1.xml><?xml version="1.0" encoding="utf-8"?>
<a:theme xmlns:a="http://schemas.openxmlformats.org/drawingml/2006/main" name="AFC Supporting your child at ho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AFC Supporting your child at home</Template>
  <TotalTime>144</TotalTime>
  <Words>2179</Words>
  <Application>Microsoft Office PowerPoint</Application>
  <PresentationFormat>On-screen Show (4:3)</PresentationFormat>
  <Paragraphs>283</Paragraphs>
  <Slides>28</Slides>
  <Notes>21</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AFC Supporting your child at home</vt:lpstr>
      <vt:lpstr>Slide 1</vt:lpstr>
      <vt:lpstr>Slide 2</vt:lpstr>
      <vt:lpstr>Research</vt:lpstr>
      <vt:lpstr>What Schools will be advised to use.</vt:lpstr>
      <vt:lpstr>Slide 5</vt:lpstr>
      <vt:lpstr>  RECOMMENDATIONS ON THE USE OF TEACHING  ASSISTANTS IN EVERYDAY CLASSROOM CONTEXTS </vt:lpstr>
      <vt:lpstr>Pedagogical Model</vt:lpstr>
      <vt:lpstr>Characteristics</vt:lpstr>
      <vt:lpstr>Conditions of Employment</vt:lpstr>
      <vt:lpstr> Preparedness   </vt:lpstr>
      <vt:lpstr>Deployment</vt:lpstr>
      <vt:lpstr>Classroom Practice</vt:lpstr>
      <vt:lpstr>Experimental Research</vt:lpstr>
      <vt:lpstr>Strategies for Success</vt:lpstr>
      <vt:lpstr>Feedback </vt:lpstr>
      <vt:lpstr>Group work &amp;  focus of intervention</vt:lpstr>
      <vt:lpstr>Effective Interventions</vt:lpstr>
      <vt:lpstr>Slide 18</vt:lpstr>
      <vt:lpstr> Assessment         </vt:lpstr>
      <vt:lpstr>Planning</vt:lpstr>
      <vt:lpstr>Devise a Programme</vt:lpstr>
      <vt:lpstr>Session details</vt:lpstr>
      <vt:lpstr>SMART Targets</vt:lpstr>
      <vt:lpstr>Slide 24</vt:lpstr>
      <vt:lpstr>Reporting Change or Progress</vt:lpstr>
      <vt:lpstr>Transferring Skills to the Classroom</vt:lpstr>
      <vt:lpstr>Future Plans</vt:lpstr>
      <vt:lpstr>Slide 28</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Clair</dc:creator>
  <cp:lastModifiedBy>Clair</cp:lastModifiedBy>
  <cp:revision>4</cp:revision>
  <cp:lastPrinted>2015-09-16T14:47:36Z</cp:lastPrinted>
  <dcterms:created xsi:type="dcterms:W3CDTF">2017-10-28T13:58:24Z</dcterms:created>
  <dcterms:modified xsi:type="dcterms:W3CDTF">2017-11-04T18:47:42Z</dcterms:modified>
</cp:coreProperties>
</file>