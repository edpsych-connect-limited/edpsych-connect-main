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9"/>
  </p:notesMasterIdLst>
  <p:sldIdLst>
    <p:sldId id="302" r:id="rId2"/>
    <p:sldId id="256" r:id="rId3"/>
    <p:sldId id="307" r:id="rId4"/>
    <p:sldId id="310" r:id="rId5"/>
    <p:sldId id="311" r:id="rId6"/>
    <p:sldId id="326" r:id="rId7"/>
    <p:sldId id="313" r:id="rId8"/>
    <p:sldId id="327" r:id="rId9"/>
    <p:sldId id="352" r:id="rId10"/>
    <p:sldId id="315" r:id="rId11"/>
    <p:sldId id="314" r:id="rId12"/>
    <p:sldId id="354" r:id="rId13"/>
    <p:sldId id="316" r:id="rId14"/>
    <p:sldId id="318" r:id="rId15"/>
    <p:sldId id="357" r:id="rId16"/>
    <p:sldId id="360" r:id="rId17"/>
    <p:sldId id="321" r:id="rId18"/>
    <p:sldId id="322" r:id="rId19"/>
    <p:sldId id="324" r:id="rId20"/>
    <p:sldId id="330" r:id="rId21"/>
    <p:sldId id="331" r:id="rId22"/>
    <p:sldId id="332" r:id="rId23"/>
    <p:sldId id="333" r:id="rId24"/>
    <p:sldId id="334" r:id="rId25"/>
    <p:sldId id="337" r:id="rId26"/>
    <p:sldId id="338" r:id="rId27"/>
    <p:sldId id="361" r:id="rId28"/>
    <p:sldId id="343" r:id="rId29"/>
    <p:sldId id="345" r:id="rId30"/>
    <p:sldId id="344" r:id="rId31"/>
    <p:sldId id="346" r:id="rId32"/>
    <p:sldId id="347" r:id="rId33"/>
    <p:sldId id="348" r:id="rId34"/>
    <p:sldId id="349" r:id="rId35"/>
    <p:sldId id="350" r:id="rId36"/>
    <p:sldId id="325" r:id="rId37"/>
    <p:sldId id="274" r:id="rId3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7434F"/>
    <a:srgbClr val="F4C239"/>
  </p:clrMru>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21123" autoAdjust="0"/>
    <p:restoredTop sz="98492" autoAdjust="0"/>
  </p:normalViewPr>
  <p:slideViewPr>
    <p:cSldViewPr snapToGrid="0" snapToObjects="1">
      <p:cViewPr varScale="1">
        <p:scale>
          <a:sx n="132" d="100"/>
          <a:sy n="132" d="100"/>
        </p:scale>
        <p:origin x="-276"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C41A69C-352B-43B9-AE28-0996A6EA73E5}" type="datetimeFigureOut">
              <a:rPr lang="en-GB" smtClean="0"/>
              <a:pPr/>
              <a:t>16/01/2018</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7582B9D-753F-4FD4-BB27-488C70B508F1}" type="slidenum">
              <a:rPr lang="en-GB" smtClean="0"/>
              <a:pPr/>
              <a:t>‹#›</a:t>
            </a:fld>
            <a:endParaRPr lang="en-GB"/>
          </a:p>
        </p:txBody>
      </p:sp>
    </p:spTree>
    <p:extLst>
      <p:ext uri="{BB962C8B-B14F-4D97-AF65-F5344CB8AC3E}">
        <p14:creationId xmlns:p14="http://schemas.microsoft.com/office/powerpoint/2010/main" val="13853381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B7582B9D-753F-4FD4-BB27-488C70B508F1}" type="slidenum">
              <a:rPr lang="en-GB" smtClean="0"/>
              <a:pPr/>
              <a:t>1</a:t>
            </a:fld>
            <a:endParaRPr lang="en-GB"/>
          </a:p>
        </p:txBody>
      </p:sp>
    </p:spTree>
    <p:extLst>
      <p:ext uri="{BB962C8B-B14F-4D97-AF65-F5344CB8AC3E}">
        <p14:creationId xmlns:p14="http://schemas.microsoft.com/office/powerpoint/2010/main" val="42429114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2</a:t>
            </a:fld>
            <a:endParaRPr lang="en-GB"/>
          </a:p>
        </p:txBody>
      </p:sp>
    </p:spTree>
    <p:extLst>
      <p:ext uri="{BB962C8B-B14F-4D97-AF65-F5344CB8AC3E}">
        <p14:creationId xmlns:p14="http://schemas.microsoft.com/office/powerpoint/2010/main" val="20433582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itchFamily="34" charset="0"/>
              <a:buNone/>
            </a:pPr>
            <a:endParaRPr lang="en-GB" altLang="en-US" baseline="0" dirty="0" smtClean="0">
              <a:latin typeface="Times New Roman" pitchFamily="18" charset="0"/>
            </a:endParaRPr>
          </a:p>
          <a:p>
            <a:pPr>
              <a:buFont typeface="Arial" pitchFamily="34" charset="0"/>
              <a:buChar char="•"/>
            </a:pPr>
            <a:r>
              <a:rPr lang="en-GB" altLang="en-US" baseline="0" dirty="0" smtClean="0">
                <a:latin typeface="Times New Roman" pitchFamily="18" charset="0"/>
              </a:rPr>
              <a:t> </a:t>
            </a:r>
            <a:endParaRPr lang="en-GB" dirty="0"/>
          </a:p>
        </p:txBody>
      </p:sp>
    </p:spTree>
    <p:extLst>
      <p:ext uri="{BB962C8B-B14F-4D97-AF65-F5344CB8AC3E}">
        <p14:creationId xmlns:p14="http://schemas.microsoft.com/office/powerpoint/2010/main" val="35715748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ltLang="en-US" dirty="0" smtClean="0"/>
          </a:p>
        </p:txBody>
      </p:sp>
    </p:spTree>
    <p:extLst>
      <p:ext uri="{BB962C8B-B14F-4D97-AF65-F5344CB8AC3E}">
        <p14:creationId xmlns:p14="http://schemas.microsoft.com/office/powerpoint/2010/main" val="40584507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5625925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p:cNvSpPr>
            <a:spLocks noGrp="1" noRot="1" noChangeAspect="1" noTextEdit="1"/>
          </p:cNvSpPr>
          <p:nvPr>
            <p:ph type="sldImg"/>
          </p:nvPr>
        </p:nvSpPr>
        <p:spPr>
          <a:ln/>
        </p:spPr>
      </p:sp>
      <p:sp>
        <p:nvSpPr>
          <p:cNvPr id="27651" name="Notes Placeholder 2"/>
          <p:cNvSpPr>
            <a:spLocks noGrp="1"/>
          </p:cNvSpPr>
          <p:nvPr>
            <p:ph type="body" idx="1"/>
          </p:nvPr>
        </p:nvSpPr>
        <p:spPr>
          <a:noFill/>
        </p:spPr>
        <p:txBody>
          <a:bodyPr/>
          <a:lstStyle/>
          <a:p>
            <a:pPr eaLnBrk="1" hangingPunct="1"/>
            <a:endParaRPr lang="en-US" altLang="en-US" dirty="0" smtClean="0"/>
          </a:p>
        </p:txBody>
      </p:sp>
      <p:sp>
        <p:nvSpPr>
          <p:cNvPr id="27652"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EE79B2F0-3246-47C7-A52F-CDDB975A4C96}" type="slidenum">
              <a:rPr lang="en-GB" altLang="en-US" smtClean="0"/>
              <a:pPr eaLnBrk="1" hangingPunct="1">
                <a:spcBef>
                  <a:spcPct val="0"/>
                </a:spcBef>
              </a:pPr>
              <a:t>6</a:t>
            </a:fld>
            <a:endParaRPr lang="en-GB" altLang="en-U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Rot="1" noChangeAspect="1" noChangeArrowheads="1" noTextEdit="1"/>
          </p:cNvSpPr>
          <p:nvPr>
            <p:ph type="sldImg"/>
          </p:nvPr>
        </p:nvSpPr>
        <p:spPr>
          <a:ln/>
        </p:spPr>
      </p:sp>
      <p:sp>
        <p:nvSpPr>
          <p:cNvPr id="47107" name="Rectangle 3"/>
          <p:cNvSpPr>
            <a:spLocks noChangeArrowheads="1"/>
          </p:cNvSpPr>
          <p:nvPr/>
        </p:nvSpPr>
        <p:spPr bwMode="auto">
          <a:xfrm>
            <a:off x="885642" y="4306587"/>
            <a:ext cx="5029527" cy="3913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919" tIns="45959" rIns="91919" bIns="45959"/>
          <a:lstStyle>
            <a:lvl1pPr defTabSz="919163" eaLnBrk="0" hangingPunct="0">
              <a:spcBef>
                <a:spcPct val="30000"/>
              </a:spcBef>
              <a:defRPr sz="1200">
                <a:solidFill>
                  <a:schemeClr val="tx1"/>
                </a:solidFill>
                <a:latin typeface="Calibri" pitchFamily="34" charset="0"/>
              </a:defRPr>
            </a:lvl1pPr>
            <a:lvl2pPr marL="747713" indent="-287338" defTabSz="919163" eaLnBrk="0" hangingPunct="0">
              <a:spcBef>
                <a:spcPct val="30000"/>
              </a:spcBef>
              <a:defRPr sz="1200">
                <a:solidFill>
                  <a:schemeClr val="tx1"/>
                </a:solidFill>
                <a:latin typeface="Calibri" pitchFamily="34" charset="0"/>
              </a:defRPr>
            </a:lvl2pPr>
            <a:lvl3pPr marL="1149350" indent="-230188" defTabSz="919163" eaLnBrk="0" hangingPunct="0">
              <a:spcBef>
                <a:spcPct val="30000"/>
              </a:spcBef>
              <a:defRPr sz="1200">
                <a:solidFill>
                  <a:schemeClr val="tx1"/>
                </a:solidFill>
                <a:latin typeface="Calibri" pitchFamily="34" charset="0"/>
              </a:defRPr>
            </a:lvl3pPr>
            <a:lvl4pPr marL="1608138" indent="-228600" defTabSz="919163" eaLnBrk="0" hangingPunct="0">
              <a:spcBef>
                <a:spcPct val="30000"/>
              </a:spcBef>
              <a:defRPr sz="1200">
                <a:solidFill>
                  <a:schemeClr val="tx1"/>
                </a:solidFill>
                <a:latin typeface="Calibri" pitchFamily="34" charset="0"/>
              </a:defRPr>
            </a:lvl4pPr>
            <a:lvl5pPr marL="2068513" indent="-230188" defTabSz="919163" eaLnBrk="0" hangingPunct="0">
              <a:spcBef>
                <a:spcPct val="30000"/>
              </a:spcBef>
              <a:defRPr sz="1200">
                <a:solidFill>
                  <a:schemeClr val="tx1"/>
                </a:solidFill>
                <a:latin typeface="Calibri" pitchFamily="34" charset="0"/>
              </a:defRPr>
            </a:lvl5pPr>
            <a:lvl6pPr marL="2525713" indent="-230188" defTabSz="919163" eaLnBrk="0" fontAlgn="base" hangingPunct="0">
              <a:spcBef>
                <a:spcPct val="30000"/>
              </a:spcBef>
              <a:spcAft>
                <a:spcPct val="0"/>
              </a:spcAft>
              <a:defRPr sz="1200">
                <a:solidFill>
                  <a:schemeClr val="tx1"/>
                </a:solidFill>
                <a:latin typeface="Calibri" pitchFamily="34" charset="0"/>
              </a:defRPr>
            </a:lvl6pPr>
            <a:lvl7pPr marL="2982913" indent="-230188" defTabSz="919163" eaLnBrk="0" fontAlgn="base" hangingPunct="0">
              <a:spcBef>
                <a:spcPct val="30000"/>
              </a:spcBef>
              <a:spcAft>
                <a:spcPct val="0"/>
              </a:spcAft>
              <a:defRPr sz="1200">
                <a:solidFill>
                  <a:schemeClr val="tx1"/>
                </a:solidFill>
                <a:latin typeface="Calibri" pitchFamily="34" charset="0"/>
              </a:defRPr>
            </a:lvl7pPr>
            <a:lvl8pPr marL="3440113" indent="-230188" defTabSz="919163" eaLnBrk="0" fontAlgn="base" hangingPunct="0">
              <a:spcBef>
                <a:spcPct val="30000"/>
              </a:spcBef>
              <a:spcAft>
                <a:spcPct val="0"/>
              </a:spcAft>
              <a:defRPr sz="1200">
                <a:solidFill>
                  <a:schemeClr val="tx1"/>
                </a:solidFill>
                <a:latin typeface="Calibri" pitchFamily="34" charset="0"/>
              </a:defRPr>
            </a:lvl8pPr>
            <a:lvl9pPr marL="3897313" indent="-230188" defTabSz="919163" eaLnBrk="0" fontAlgn="base" hangingPunct="0">
              <a:spcBef>
                <a:spcPct val="30000"/>
              </a:spcBef>
              <a:spcAft>
                <a:spcPct val="0"/>
              </a:spcAft>
              <a:defRPr sz="1200">
                <a:solidFill>
                  <a:schemeClr val="tx1"/>
                </a:solidFill>
                <a:latin typeface="Calibri" pitchFamily="34" charset="0"/>
              </a:defRPr>
            </a:lvl9pPr>
          </a:lstStyle>
          <a:p>
            <a:r>
              <a:rPr lang="en-GB" altLang="en-US">
                <a:solidFill>
                  <a:srgbClr val="FF6600"/>
                </a:solidFill>
                <a:latin typeface="Arial" pitchFamily="34" charset="0"/>
              </a:rPr>
              <a:t>Gemma</a:t>
            </a:r>
          </a:p>
          <a:p>
            <a:r>
              <a:rPr lang="en-GB" altLang="en-US">
                <a:latin typeface="Arial" pitchFamily="34" charset="0"/>
              </a:rPr>
              <a:t>Ok so here</a:t>
            </a:r>
            <a:r>
              <a:rPr lang="en-GB" altLang="en-US"/>
              <a:t>’</a:t>
            </a:r>
            <a:r>
              <a:rPr lang="en-GB" altLang="en-US">
                <a:latin typeface="Arial" pitchFamily="34" charset="0"/>
              </a:rPr>
              <a:t>s the right order with some definitions</a:t>
            </a:r>
            <a:r>
              <a:rPr lang="en-GB" altLang="en-US"/>
              <a:t>…</a:t>
            </a:r>
            <a:endParaRPr lang="en-GB" altLang="en-US">
              <a:latin typeface="Arial" pitchFamily="34" charset="0"/>
            </a:endParaRPr>
          </a:p>
          <a:p>
            <a:r>
              <a:rPr lang="en-GB" altLang="en-US">
                <a:latin typeface="Arial" pitchFamily="34" charset="0"/>
              </a:rPr>
              <a:t>Once each step has been achieved, can progress to the next step </a:t>
            </a:r>
          </a:p>
          <a:p>
            <a:endParaRPr lang="en-GB" altLang="en-US">
              <a:latin typeface="Arial" pitchFamily="34" charset="0"/>
            </a:endParaRPr>
          </a:p>
          <a:p>
            <a:r>
              <a:rPr lang="en-GB" altLang="en-US" b="1">
                <a:solidFill>
                  <a:srgbClr val="FF0000"/>
                </a:solidFill>
                <a:latin typeface="Arial" pitchFamily="34" charset="0"/>
              </a:rPr>
              <a:t>PRESS MOUSE FOR RED CIRCLE</a:t>
            </a:r>
          </a:p>
          <a:p>
            <a:endParaRPr lang="en-GB" altLang="en-US">
              <a:latin typeface="Arial" pitchFamily="34" charset="0"/>
            </a:endParaRPr>
          </a:p>
          <a:p>
            <a:r>
              <a:rPr lang="en-GB" altLang="en-US">
                <a:latin typeface="Arial" pitchFamily="34" charset="0"/>
              </a:rPr>
              <a:t>The social skill sessions that you will be delivering over 6 weeks focus on the first two stages </a:t>
            </a:r>
            <a:r>
              <a:rPr lang="en-GB" altLang="en-US"/>
              <a:t>–</a:t>
            </a:r>
            <a:r>
              <a:rPr lang="en-GB" altLang="en-US">
                <a:latin typeface="Arial" pitchFamily="34" charset="0"/>
              </a:rPr>
              <a:t> the acquisition and fluency of their new skills.</a:t>
            </a:r>
          </a:p>
          <a:p>
            <a:endParaRPr lang="en-GB" altLang="en-US">
              <a:latin typeface="Arial" pitchFamily="34" charset="0"/>
            </a:endParaRPr>
          </a:p>
          <a:p>
            <a:r>
              <a:rPr lang="en-GB" altLang="en-US">
                <a:latin typeface="Arial" pitchFamily="34" charset="0"/>
              </a:rPr>
              <a:t>The other 3 stages are </a:t>
            </a:r>
            <a:r>
              <a:rPr lang="en-GB" altLang="en-US" u="sng">
                <a:latin typeface="Arial" pitchFamily="34" charset="0"/>
              </a:rPr>
              <a:t>dependant on practice</a:t>
            </a:r>
            <a:r>
              <a:rPr lang="en-GB" altLang="en-US">
                <a:latin typeface="Arial" pitchFamily="34" charset="0"/>
              </a:rPr>
              <a:t> both within the sessions but more importantly from opportunities to practice and receive feedback from outside the sessions, e.g. classroom, playground and home.</a:t>
            </a:r>
          </a:p>
          <a:p>
            <a:pPr algn="ctr"/>
            <a:endParaRPr lang="en-GB" altLang="en-US" sz="1600" b="1">
              <a:solidFill>
                <a:srgbClr val="FF0000"/>
              </a:solidFill>
              <a:latin typeface="Arial" pitchFamily="34" charset="0"/>
            </a:endParaRPr>
          </a:p>
        </p:txBody>
      </p:sp>
      <p:sp>
        <p:nvSpPr>
          <p:cNvPr id="47108" name="Rectangle 4"/>
          <p:cNvSpPr>
            <a:spLocks noGrp="1" noChangeArrowheads="1"/>
          </p:cNvSpPr>
          <p:nvPr>
            <p:ph type="body" idx="1"/>
          </p:nvPr>
        </p:nvSpPr>
        <p:spPr>
          <a:noFill/>
        </p:spPr>
        <p:txBody>
          <a:bodyPr/>
          <a:lstStyle/>
          <a:p>
            <a:pPr eaLnBrk="1" hangingPunct="1"/>
            <a:endParaRPr lang="en-GB" altLang="en-US" b="1" dirty="0" smtClean="0">
              <a:latin typeface="Times New Roman"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8</a:t>
            </a:fld>
            <a:endParaRPr lang="en-GB"/>
          </a:p>
        </p:txBody>
      </p:sp>
    </p:spTree>
    <p:extLst>
      <p:ext uri="{BB962C8B-B14F-4D97-AF65-F5344CB8AC3E}">
        <p14:creationId xmlns:p14="http://schemas.microsoft.com/office/powerpoint/2010/main" val="21572836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a:ln/>
        </p:spPr>
      </p:sp>
      <p:sp>
        <p:nvSpPr>
          <p:cNvPr id="4403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b="1" dirty="0" smtClean="0">
              <a:latin typeface="Times New Roman"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Rot="1" noChangeAspect="1" noChangeArrowheads="1" noTextEdit="1"/>
          </p:cNvSpPr>
          <p:nvPr>
            <p:ph type="sldImg"/>
          </p:nvPr>
        </p:nvSpPr>
        <p:spPr>
          <a:ln/>
        </p:spPr>
      </p:sp>
      <p:sp>
        <p:nvSpPr>
          <p:cNvPr id="48131" name="Rectangle 3"/>
          <p:cNvSpPr>
            <a:spLocks noGrp="1" noChangeArrowheads="1"/>
          </p:cNvSpPr>
          <p:nvPr>
            <p:ph type="body" idx="1"/>
          </p:nvPr>
        </p:nvSpPr>
        <p:spPr>
          <a:noFill/>
        </p:spPr>
        <p:txBody>
          <a:bodyPr/>
          <a:lstStyle/>
          <a:p>
            <a:endParaRPr lang="en-GB" altLang="en-US" dirty="0"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33493678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1"/>
          <p:cNvSpPr>
            <a:spLocks noGrp="1" noRot="1" noChangeAspect="1" noChangeArrowheads="1" noTextEdit="1"/>
          </p:cNvSpPr>
          <p:nvPr>
            <p:ph type="sldImg"/>
          </p:nvPr>
        </p:nvSpPr>
        <p:spPr>
          <a:solidFill>
            <a:srgbClr val="FFFFFF"/>
          </a:solidFill>
          <a:ln/>
        </p:spPr>
      </p:sp>
      <p:sp>
        <p:nvSpPr>
          <p:cNvPr id="45059" name="Rectangle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23825" eaLnBrk="1" hangingPunct="1">
              <a:spcBef>
                <a:spcPts val="413"/>
              </a:spcBef>
            </a:pPr>
            <a:endParaRPr lang="en-US" altLang="en-US" dirty="0" smtClean="0">
              <a:solidFill>
                <a:srgbClr val="000000"/>
              </a:solidFill>
              <a:latin typeface="Arial" charset="0"/>
              <a:cs typeface="Arial" charset="0"/>
              <a:sym typeface="Arial"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p:spPr>
        <p:txBody>
          <a:bodyPr/>
          <a:lstStyle/>
          <a:p>
            <a:pPr eaLnBrk="1" hangingPunct="1"/>
            <a:endParaRPr lang="en-US" altLang="en-US" dirty="0" smtClean="0"/>
          </a:p>
        </p:txBody>
      </p:sp>
      <p:sp>
        <p:nvSpPr>
          <p:cNvPr id="35844"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FB74C01D-50B5-4FD6-8838-E8C271F30420}" type="slidenum">
              <a:rPr lang="en-GB" altLang="en-US" smtClean="0"/>
              <a:pPr eaLnBrk="1" hangingPunct="1">
                <a:spcBef>
                  <a:spcPct val="0"/>
                </a:spcBef>
              </a:pPr>
              <a:t>14</a:t>
            </a:fld>
            <a:endParaRPr lang="en-GB" altLang="en-US"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1"/>
          <p:cNvSpPr>
            <a:spLocks noGrp="1" noRot="1" noChangeAspect="1" noChangeArrowheads="1" noTextEdit="1"/>
          </p:cNvSpPr>
          <p:nvPr>
            <p:ph type="sldImg"/>
          </p:nvPr>
        </p:nvSpPr>
        <p:spPr>
          <a:solidFill>
            <a:srgbClr val="FFFFFF"/>
          </a:solidFill>
          <a:ln/>
        </p:spPr>
      </p:sp>
      <p:sp>
        <p:nvSpPr>
          <p:cNvPr id="50179" name="Rectangle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52425" indent="-228600" eaLnBrk="1" hangingPunct="1">
              <a:spcBef>
                <a:spcPts val="413"/>
              </a:spcBef>
              <a:buFontTx/>
              <a:buAutoNum type="arabicPeriod"/>
            </a:pPr>
            <a:endParaRPr lang="en-US" altLang="en-US" dirty="0" smtClean="0">
              <a:solidFill>
                <a:srgbClr val="000000"/>
              </a:solidFill>
              <a:latin typeface="Arial" charset="0"/>
              <a:cs typeface="Arial" charset="0"/>
              <a:sym typeface="Arial"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a:ln/>
        </p:spPr>
      </p:sp>
      <p:sp>
        <p:nvSpPr>
          <p:cNvPr id="41987" name="Notes Placeholder 2"/>
          <p:cNvSpPr>
            <a:spLocks noGrp="1"/>
          </p:cNvSpPr>
          <p:nvPr>
            <p:ph type="body" idx="1"/>
          </p:nvPr>
        </p:nvSpPr>
        <p:spPr>
          <a:noFill/>
        </p:spPr>
        <p:txBody>
          <a:bodyPr/>
          <a:lstStyle/>
          <a:p>
            <a:pPr eaLnBrk="1" hangingPunct="1"/>
            <a:endParaRPr lang="en-US" altLang="en-US" smtClean="0"/>
          </a:p>
        </p:txBody>
      </p:sp>
      <p:sp>
        <p:nvSpPr>
          <p:cNvPr id="41988"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6DDC164F-6D1B-4967-9DCE-6899F85E6EA5}" type="slidenum">
              <a:rPr lang="en-GB" altLang="en-US" smtClean="0"/>
              <a:pPr eaLnBrk="1" hangingPunct="1">
                <a:spcBef>
                  <a:spcPct val="0"/>
                </a:spcBef>
              </a:pPr>
              <a:t>16</a:t>
            </a:fld>
            <a:endParaRPr lang="en-GB" altLang="en-US"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a:ln/>
        </p:spPr>
      </p:sp>
      <p:sp>
        <p:nvSpPr>
          <p:cNvPr id="39939" name="Notes Placeholder 2"/>
          <p:cNvSpPr>
            <a:spLocks noGrp="1"/>
          </p:cNvSpPr>
          <p:nvPr>
            <p:ph type="body" idx="1"/>
          </p:nvPr>
        </p:nvSpPr>
        <p:spPr>
          <a:noFill/>
        </p:spPr>
        <p:txBody>
          <a:bodyPr/>
          <a:lstStyle/>
          <a:p>
            <a:pPr eaLnBrk="1" hangingPunct="1"/>
            <a:endParaRPr lang="en-US" altLang="en-US" smtClean="0"/>
          </a:p>
        </p:txBody>
      </p:sp>
      <p:sp>
        <p:nvSpPr>
          <p:cNvPr id="39940"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9971BD4A-EB73-4FF8-B1FF-B422B85B5B2D}" type="slidenum">
              <a:rPr lang="en-GB" altLang="en-US" smtClean="0"/>
              <a:pPr eaLnBrk="1" hangingPunct="1">
                <a:spcBef>
                  <a:spcPct val="0"/>
                </a:spcBef>
              </a:pPr>
              <a:t>17</a:t>
            </a:fld>
            <a:endParaRPr lang="en-GB" altLang="en-US"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p:spPr>
        <p:txBody>
          <a:bodyPr/>
          <a:lstStyle/>
          <a:p>
            <a:pPr eaLnBrk="1" hangingPunct="1"/>
            <a:endParaRPr lang="en-US" altLang="en-US" smtClean="0"/>
          </a:p>
        </p:txBody>
      </p:sp>
      <p:sp>
        <p:nvSpPr>
          <p:cNvPr id="40964"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598F9B20-7AC5-4014-97BC-8612D19874D9}" type="slidenum">
              <a:rPr lang="en-GB" altLang="en-US" smtClean="0"/>
              <a:pPr eaLnBrk="1" hangingPunct="1">
                <a:spcBef>
                  <a:spcPct val="0"/>
                </a:spcBef>
              </a:pPr>
              <a:t>18</a:t>
            </a:fld>
            <a:endParaRPr lang="en-GB" altLang="en-US"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a:ln/>
        </p:spPr>
      </p:sp>
      <p:sp>
        <p:nvSpPr>
          <p:cNvPr id="43011" name="Notes Placeholder 2"/>
          <p:cNvSpPr>
            <a:spLocks noGrp="1"/>
          </p:cNvSpPr>
          <p:nvPr>
            <p:ph type="body" idx="1"/>
          </p:nvPr>
        </p:nvSpPr>
        <p:spPr>
          <a:noFill/>
        </p:spPr>
        <p:txBody>
          <a:bodyPr/>
          <a:lstStyle/>
          <a:p>
            <a:pPr eaLnBrk="1" hangingPunct="1"/>
            <a:endParaRPr lang="en-US" altLang="en-US" smtClean="0"/>
          </a:p>
        </p:txBody>
      </p:sp>
      <p:sp>
        <p:nvSpPr>
          <p:cNvPr id="43012"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2206C5BA-2DB2-4DF7-871B-036E37BDD880}" type="slidenum">
              <a:rPr lang="en-GB" altLang="en-US" smtClean="0"/>
              <a:pPr eaLnBrk="1" hangingPunct="1">
                <a:spcBef>
                  <a:spcPct val="0"/>
                </a:spcBef>
              </a:pPr>
              <a:t>19</a:t>
            </a:fld>
            <a:endParaRPr lang="en-GB" altLang="en-US"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Rot="1" noChangeAspect="1" noChangeArrowheads="1" noTextEdit="1"/>
          </p:cNvSpPr>
          <p:nvPr>
            <p:ph type="sldImg"/>
          </p:nvPr>
        </p:nvSpPr>
        <p:spPr>
          <a:ln/>
        </p:spPr>
      </p:sp>
      <p:sp>
        <p:nvSpPr>
          <p:cNvPr id="52227" name="Rectangle 3"/>
          <p:cNvSpPr>
            <a:spLocks noGrp="1" noChangeArrowheads="1"/>
          </p:cNvSpPr>
          <p:nvPr>
            <p:ph type="body" idx="1"/>
          </p:nvPr>
        </p:nvSpPr>
        <p:spPr>
          <a:noFill/>
        </p:spPr>
        <p:txBody>
          <a:bodyPr/>
          <a:lstStyle/>
          <a:p>
            <a:endParaRPr lang="en-GB" altLang="en-US" dirty="0" smtClean="0"/>
          </a:p>
          <a:p>
            <a:endParaRPr lang="en-GB" altLang="en-US" dirty="0"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Rot="1" noChangeAspect="1" noChangeArrowheads="1" noTextEdit="1"/>
          </p:cNvSpPr>
          <p:nvPr>
            <p:ph type="sldImg"/>
          </p:nvPr>
        </p:nvSpPr>
        <p:spPr>
          <a:ln/>
        </p:spPr>
      </p:sp>
      <p:sp>
        <p:nvSpPr>
          <p:cNvPr id="53251" name="Rectangle 3"/>
          <p:cNvSpPr>
            <a:spLocks noGrp="1" noChangeArrowheads="1"/>
          </p:cNvSpPr>
          <p:nvPr>
            <p:ph type="body" idx="1"/>
          </p:nvPr>
        </p:nvSpPr>
        <p:spPr>
          <a:noFill/>
        </p:spPr>
        <p:txBody>
          <a:bodyPr/>
          <a:lstStyle/>
          <a:p>
            <a:endParaRPr lang="en-GB" altLang="en-US"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spect="1" noChangeArrowheads="1" noTextEdit="1"/>
          </p:cNvSpPr>
          <p:nvPr>
            <p:ph type="sldImg"/>
          </p:nvPr>
        </p:nvSpPr>
        <p:spPr>
          <a:ln/>
        </p:spPr>
      </p:sp>
      <p:sp>
        <p:nvSpPr>
          <p:cNvPr id="54275" name="Rectangle 3"/>
          <p:cNvSpPr>
            <a:spLocks noGrp="1" noChangeArrowheads="1"/>
          </p:cNvSpPr>
          <p:nvPr>
            <p:ph type="body" idx="1"/>
          </p:nvPr>
        </p:nvSpPr>
        <p:spPr>
          <a:noFill/>
        </p:spPr>
        <p:txBody>
          <a:bodyPr/>
          <a:lstStyle/>
          <a:p>
            <a:endParaRPr lang="en-GB" altLang="en-US" dirty="0"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Rot="1" noChangeAspect="1" noChangeArrowheads="1" noTextEdit="1"/>
          </p:cNvSpPr>
          <p:nvPr>
            <p:ph type="sldImg"/>
          </p:nvPr>
        </p:nvSpPr>
        <p:spPr>
          <a:ln/>
        </p:spPr>
      </p:sp>
      <p:sp>
        <p:nvSpPr>
          <p:cNvPr id="56323" name="Rectangle 3"/>
          <p:cNvSpPr>
            <a:spLocks noGrp="1" noChangeArrowheads="1"/>
          </p:cNvSpPr>
          <p:nvPr>
            <p:ph type="body" idx="1"/>
          </p:nvPr>
        </p:nvSpPr>
        <p:spPr>
          <a:noFill/>
        </p:spPr>
        <p:txBody>
          <a:bodyPr/>
          <a:lstStyle/>
          <a:p>
            <a:endParaRPr lang="en-GB" altLang="en-US" dirty="0"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p:spPr>
        <p:txBody>
          <a:bodyPr/>
          <a:lstStyle/>
          <a:p>
            <a:endParaRPr lang="en-GB" altLang="en-US" dirty="0"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Rot="1" noChangeAspect="1" noChangeArrowheads="1" noTextEdit="1"/>
          </p:cNvSpPr>
          <p:nvPr>
            <p:ph type="sldImg"/>
          </p:nvPr>
        </p:nvSpPr>
        <p:spPr>
          <a:ln/>
        </p:spPr>
      </p:sp>
      <p:sp>
        <p:nvSpPr>
          <p:cNvPr id="61443" name="Rectangle 3"/>
          <p:cNvSpPr>
            <a:spLocks noGrp="1" noChangeArrowheads="1"/>
          </p:cNvSpPr>
          <p:nvPr>
            <p:ph type="body" idx="1"/>
          </p:nvPr>
        </p:nvSpPr>
        <p:spPr>
          <a:noFill/>
        </p:spPr>
        <p:txBody>
          <a:bodyPr/>
          <a:lstStyle/>
          <a:p>
            <a:endParaRPr lang="en-GB" altLang="en-US" dirty="0"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Rot="1" noChangeAspect="1" noChangeArrowheads="1" noTextEdit="1"/>
          </p:cNvSpPr>
          <p:nvPr>
            <p:ph type="sldImg"/>
          </p:nvPr>
        </p:nvSpPr>
        <p:spPr>
          <a:ln/>
        </p:spPr>
      </p:sp>
      <p:sp>
        <p:nvSpPr>
          <p:cNvPr id="5120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dirty="0" smtClean="0">
              <a:latin typeface="Times New Roman"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Rot="1" noChangeAspect="1" noChangeArrowheads="1" noTextEdit="1"/>
          </p:cNvSpPr>
          <p:nvPr>
            <p:ph type="sldImg"/>
          </p:nvPr>
        </p:nvSpPr>
        <p:spPr>
          <a:ln/>
        </p:spPr>
      </p:sp>
      <p:sp>
        <p:nvSpPr>
          <p:cNvPr id="64515" name="Rectangle 3"/>
          <p:cNvSpPr>
            <a:spLocks noGrp="1" noChangeArrowheads="1"/>
          </p:cNvSpPr>
          <p:nvPr>
            <p:ph type="body" idx="1"/>
          </p:nvPr>
        </p:nvSpPr>
        <p:spPr>
          <a:noFill/>
        </p:spPr>
        <p:txBody>
          <a:bodyPr/>
          <a:lstStyle/>
          <a:p>
            <a:endParaRPr lang="en-GB" altLang="en-US" dirty="0"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p:spPr>
        <p:txBody>
          <a:bodyPr/>
          <a:lstStyle/>
          <a:p>
            <a:endParaRPr lang="en-GB" altLang="en-US" dirty="0"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Rot="1" noChangeAspect="1" noChangeArrowheads="1" noTextEdit="1"/>
          </p:cNvSpPr>
          <p:nvPr>
            <p:ph type="sldImg"/>
          </p:nvPr>
        </p:nvSpPr>
        <p:spPr>
          <a:ln/>
        </p:spPr>
      </p:sp>
      <p:sp>
        <p:nvSpPr>
          <p:cNvPr id="56323" name="Rectangle 3"/>
          <p:cNvSpPr>
            <a:spLocks noGrp="1" noChangeArrowheads="1"/>
          </p:cNvSpPr>
          <p:nvPr>
            <p:ph type="body" idx="1"/>
          </p:nvPr>
        </p:nvSpPr>
        <p:spPr>
          <a:noFill/>
        </p:spPr>
        <p:txBody>
          <a:bodyPr/>
          <a:lstStyle/>
          <a:p>
            <a:pPr>
              <a:lnSpc>
                <a:spcPct val="80000"/>
              </a:lnSpc>
            </a:pPr>
            <a:endParaRPr lang="en-GB" altLang="en-US" sz="1000" dirty="0"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Rot="1" noChangeAspect="1" noChangeArrowheads="1" noTextEdit="1"/>
          </p:cNvSpPr>
          <p:nvPr>
            <p:ph type="sldImg"/>
          </p:nvPr>
        </p:nvSpPr>
        <p:spPr>
          <a:ln/>
        </p:spPr>
      </p:sp>
      <p:sp>
        <p:nvSpPr>
          <p:cNvPr id="5632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z="1000" dirty="0">
              <a:latin typeface="Times New Roman"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Rot="1" noChangeAspect="1" noChangeArrowheads="1" noTextEdit="1"/>
          </p:cNvSpPr>
          <p:nvPr>
            <p:ph type="sldImg"/>
          </p:nvPr>
        </p:nvSpPr>
        <p:spPr>
          <a:ln/>
        </p:spPr>
      </p:sp>
      <p:sp>
        <p:nvSpPr>
          <p:cNvPr id="71683" name="Rectangle 3"/>
          <p:cNvSpPr>
            <a:spLocks noGrp="1" noChangeArrowheads="1"/>
          </p:cNvSpPr>
          <p:nvPr>
            <p:ph type="body" idx="1"/>
          </p:nvPr>
        </p:nvSpPr>
        <p:spPr>
          <a:noFill/>
        </p:spPr>
        <p:txBody>
          <a:bodyPr/>
          <a:lstStyle/>
          <a:p>
            <a:endParaRPr lang="en-GB" altLang="en-US" dirty="0"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p:spPr>
        <p:txBody>
          <a:bodyPr/>
          <a:lstStyle/>
          <a:p>
            <a:endParaRPr lang="en-GB" altLang="en-US" dirty="0" smtClean="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Rot="1" noChangeAspect="1" noChangeArrowheads="1" noTextEdit="1"/>
          </p:cNvSpPr>
          <p:nvPr>
            <p:ph type="sldImg"/>
          </p:nvPr>
        </p:nvSpPr>
        <p:spPr>
          <a:ln/>
        </p:spPr>
      </p:sp>
      <p:sp>
        <p:nvSpPr>
          <p:cNvPr id="61443" name="Rectangle 3"/>
          <p:cNvSpPr>
            <a:spLocks noGrp="1" noChangeArrowheads="1"/>
          </p:cNvSpPr>
          <p:nvPr>
            <p:ph type="body" idx="1"/>
          </p:nvPr>
        </p:nvSpPr>
        <p:spPr>
          <a:noFill/>
        </p:spPr>
        <p:txBody>
          <a:bodyPr/>
          <a:lstStyle/>
          <a:p>
            <a:endParaRPr lang="en-GB" altLang="en-US" dirty="0" smtClean="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Rot="1" noChangeAspect="1" noChangeArrowheads="1" noTextEdit="1"/>
          </p:cNvSpPr>
          <p:nvPr>
            <p:ph type="sldImg"/>
          </p:nvPr>
        </p:nvSpPr>
        <p:spPr>
          <a:ln/>
        </p:spPr>
      </p:sp>
      <p:sp>
        <p:nvSpPr>
          <p:cNvPr id="62467" name="Rectangle 3"/>
          <p:cNvSpPr>
            <a:spLocks noGrp="1" noChangeArrowheads="1"/>
          </p:cNvSpPr>
          <p:nvPr>
            <p:ph type="body" idx="1"/>
          </p:nvPr>
        </p:nvSpPr>
        <p:spPr>
          <a:noFill/>
        </p:spPr>
        <p:txBody>
          <a:bodyPr/>
          <a:lstStyle/>
          <a:p>
            <a:endParaRPr lang="en-GB" altLang="en-US" dirty="0" smtClean="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a:ln/>
        </p:spPr>
      </p:sp>
      <p:sp>
        <p:nvSpPr>
          <p:cNvPr id="44035" name="Notes Placeholder 2"/>
          <p:cNvSpPr>
            <a:spLocks noGrp="1"/>
          </p:cNvSpPr>
          <p:nvPr>
            <p:ph type="body" idx="1"/>
          </p:nvPr>
        </p:nvSpPr>
        <p:spPr>
          <a:noFill/>
        </p:spPr>
        <p:txBody>
          <a:bodyPr/>
          <a:lstStyle/>
          <a:p>
            <a:pPr eaLnBrk="1" hangingPunct="1"/>
            <a:endParaRPr lang="en-US" altLang="en-US" smtClean="0"/>
          </a:p>
        </p:txBody>
      </p:sp>
      <p:sp>
        <p:nvSpPr>
          <p:cNvPr id="44036"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DCED89B3-E876-41C1-830D-48F44DE148DD}" type="slidenum">
              <a:rPr lang="en-GB" altLang="en-US" smtClean="0"/>
              <a:pPr eaLnBrk="1" hangingPunct="1">
                <a:spcBef>
                  <a:spcPct val="0"/>
                </a:spcBef>
              </a:pPr>
              <a:t>36</a:t>
            </a:fld>
            <a:endParaRPr lang="en-GB" altLang="en-US" smtClean="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B7582B9D-753F-4FD4-BB27-488C70B508F1}" type="slidenum">
              <a:rPr lang="en-GB" smtClean="0"/>
              <a:pPr/>
              <a:t>37</a:t>
            </a:fld>
            <a:endParaRPr lang="en-GB"/>
          </a:p>
        </p:txBody>
      </p:sp>
    </p:spTree>
    <p:extLst>
      <p:ext uri="{BB962C8B-B14F-4D97-AF65-F5344CB8AC3E}">
        <p14:creationId xmlns:p14="http://schemas.microsoft.com/office/powerpoint/2010/main" val="145677408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Grey Background)">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16" name="Picture 15" descr="AfC_RGB-Colour_ForGreyBackground.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88116" y="5662725"/>
            <a:ext cx="2979704" cy="772149"/>
          </a:xfrm>
          <a:prstGeom prst="rect">
            <a:avLst/>
          </a:prstGeom>
        </p:spPr>
      </p:pic>
    </p:spTree>
    <p:extLst>
      <p:ext uri="{BB962C8B-B14F-4D97-AF65-F5344CB8AC3E}">
        <p14:creationId xmlns:p14="http://schemas.microsoft.com/office/powerpoint/2010/main" val="2747673920"/>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ullets only">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1494815736"/>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ortrait image with text">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3779126201"/>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on grey background)">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1591753239"/>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Strapline">
    <p:spTree>
      <p:nvGrpSpPr>
        <p:cNvPr id="1" name=""/>
        <p:cNvGrpSpPr/>
        <p:nvPr/>
      </p:nvGrpSpPr>
      <p:grpSpPr>
        <a:xfrm>
          <a:off x="0" y="0"/>
          <a:ext cx="0" cy="0"/>
          <a:chOff x="0" y="0"/>
          <a:chExt cx="0" cy="0"/>
        </a:xfrm>
      </p:grpSpPr>
      <p:pic>
        <p:nvPicPr>
          <p:cNvPr id="8" name="Picture 7" descr="AfC_PPT_Corporate_13A_backgrounds_2.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80000" cy="6885000"/>
          </a:xfrm>
          <a:prstGeom prst="rect">
            <a:avLst/>
          </a:prstGeom>
        </p:spPr>
      </p:pic>
    </p:spTree>
    <p:extLst>
      <p:ext uri="{BB962C8B-B14F-4D97-AF65-F5344CB8AC3E}">
        <p14:creationId xmlns:p14="http://schemas.microsoft.com/office/powerpoint/2010/main" val="2262806424"/>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End slide (on grey background)">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cxnSp>
        <p:nvCxnSpPr>
          <p:cNvPr id="8" name="Straight Connector 7"/>
          <p:cNvCxnSpPr/>
          <p:nvPr userDrawn="1"/>
        </p:nvCxnSpPr>
        <p:spPr>
          <a:xfrm>
            <a:off x="3396376" y="3460261"/>
            <a:ext cx="2434231" cy="0"/>
          </a:xfrm>
          <a:prstGeom prst="line">
            <a:avLst/>
          </a:prstGeom>
          <a:ln w="9525" cmpd="sng">
            <a:solidFill>
              <a:srgbClr val="F4C239"/>
            </a:solidFill>
          </a:ln>
          <a:effectLst/>
        </p:spPr>
        <p:style>
          <a:lnRef idx="2">
            <a:schemeClr val="accent1"/>
          </a:lnRef>
          <a:fillRef idx="0">
            <a:schemeClr val="accent1"/>
          </a:fillRef>
          <a:effectRef idx="1">
            <a:schemeClr val="accent1"/>
          </a:effectRef>
          <a:fontRef idx="minor">
            <a:schemeClr val="tx1"/>
          </a:fontRef>
        </p:style>
      </p:cxnSp>
      <p:sp>
        <p:nvSpPr>
          <p:cNvPr id="17" name="Text Placeholder 8"/>
          <p:cNvSpPr>
            <a:spLocks noGrp="1"/>
          </p:cNvSpPr>
          <p:nvPr>
            <p:ph type="body" sz="quarter" idx="10" hasCustomPrompt="1"/>
          </p:nvPr>
        </p:nvSpPr>
        <p:spPr>
          <a:xfrm>
            <a:off x="1849683" y="2627088"/>
            <a:ext cx="5447880" cy="780685"/>
          </a:xfrm>
        </p:spPr>
        <p:txBody>
          <a:bodyPr>
            <a:normAutofit/>
          </a:bodyPr>
          <a:lstStyle>
            <a:lvl1pPr marL="0" indent="0" algn="ctr">
              <a:buFontTx/>
              <a:buNone/>
              <a:defRPr sz="3600" b="1" baseline="0">
                <a:solidFill>
                  <a:schemeClr val="bg1"/>
                </a:solidFill>
                <a:latin typeface="+mj-lt"/>
              </a:defRPr>
            </a:lvl1pPr>
          </a:lstStyle>
          <a:p>
            <a:pPr lvl="0"/>
            <a:r>
              <a:rPr lang="en-GB" dirty="0" smtClean="0"/>
              <a:t>Thank you </a:t>
            </a:r>
            <a:endParaRPr lang="en-US" dirty="0"/>
          </a:p>
        </p:txBody>
      </p:sp>
      <p:pic>
        <p:nvPicPr>
          <p:cNvPr id="6" name="Picture 5" descr="AfC_RGB-Colour_ForGreyBackground.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88116" y="5662725"/>
            <a:ext cx="2979704" cy="772149"/>
          </a:xfrm>
          <a:prstGeom prst="rect">
            <a:avLst/>
          </a:prstGeom>
        </p:spPr>
      </p:pic>
    </p:spTree>
    <p:extLst>
      <p:ext uri="{BB962C8B-B14F-4D97-AF65-F5344CB8AC3E}">
        <p14:creationId xmlns:p14="http://schemas.microsoft.com/office/powerpoint/2010/main" val="294233415"/>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obj">
  <p:cSld name="Title and Content">
    <p:spTree>
      <p:nvGrpSpPr>
        <p:cNvPr id="1" name=""/>
        <p:cNvGrpSpPr/>
        <p:nvPr/>
      </p:nvGrpSpPr>
      <p:grpSpPr>
        <a:xfrm>
          <a:off x="0" y="0"/>
          <a:ext cx="0" cy="0"/>
          <a:chOff x="0" y="0"/>
          <a:chExt cx="0" cy="0"/>
        </a:xfrm>
      </p:grpSpPr>
      <p:sp>
        <p:nvSpPr>
          <p:cNvPr id="4" name="Rectangle 7"/>
          <p:cNvSpPr>
            <a:spLocks noChangeArrowheads="1"/>
          </p:cNvSpPr>
          <p:nvPr userDrawn="1"/>
        </p:nvSpPr>
        <p:spPr bwMode="auto">
          <a:xfrm>
            <a:off x="250825" y="6237288"/>
            <a:ext cx="7777163" cy="144462"/>
          </a:xfrm>
          <a:prstGeom prst="rect">
            <a:avLst/>
          </a:prstGeom>
          <a:solidFill>
            <a:srgbClr val="7326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defRPr/>
            </a:pPr>
            <a:endParaRPr lang="en-US" altLang="en-US" smtClean="0"/>
          </a:p>
        </p:txBody>
      </p:sp>
      <p:pic>
        <p:nvPicPr>
          <p:cNvPr id="5" name="Picture 3" descr="RBWM 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105775" y="5229225"/>
            <a:ext cx="7493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14908347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914400" y="1600200"/>
            <a:ext cx="38100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876800" y="1600200"/>
            <a:ext cx="38100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Rectangle 9"/>
          <p:cNvSpPr>
            <a:spLocks noGrp="1" noChangeArrowheads="1"/>
          </p:cNvSpPr>
          <p:nvPr>
            <p:ph type="dt" sz="half" idx="10"/>
          </p:nvPr>
        </p:nvSpPr>
        <p:spPr>
          <a:xfrm>
            <a:off x="914400" y="6251575"/>
            <a:ext cx="1981200" cy="457200"/>
          </a:xfrm>
          <a:prstGeom prst="rect">
            <a:avLst/>
          </a:prstGeom>
          <a:ln/>
        </p:spPr>
        <p:txBody>
          <a:bodyPr/>
          <a:lstStyle>
            <a:lvl1pPr>
              <a:defRPr/>
            </a:lvl1pPr>
          </a:lstStyle>
          <a:p>
            <a:pPr>
              <a:defRPr/>
            </a:pPr>
            <a:endParaRPr lang="en-GB" altLang="en-US"/>
          </a:p>
        </p:txBody>
      </p:sp>
      <p:sp>
        <p:nvSpPr>
          <p:cNvPr id="6" name="Rectangle 10"/>
          <p:cNvSpPr>
            <a:spLocks noGrp="1" noChangeArrowheads="1"/>
          </p:cNvSpPr>
          <p:nvPr>
            <p:ph type="ftr" sz="quarter" idx="11"/>
          </p:nvPr>
        </p:nvSpPr>
        <p:spPr>
          <a:xfrm>
            <a:off x="3352800" y="6248400"/>
            <a:ext cx="2971800" cy="457200"/>
          </a:xfrm>
          <a:prstGeom prst="rect">
            <a:avLst/>
          </a:prstGeom>
          <a:ln/>
        </p:spPr>
        <p:txBody>
          <a:bodyPr/>
          <a:lstStyle>
            <a:lvl1pPr>
              <a:defRPr/>
            </a:lvl1pPr>
          </a:lstStyle>
          <a:p>
            <a:pPr>
              <a:defRPr/>
            </a:pPr>
            <a:endParaRPr lang="en-GB" altLang="en-US"/>
          </a:p>
        </p:txBody>
      </p:sp>
      <p:sp>
        <p:nvSpPr>
          <p:cNvPr id="7" name="Rectangle 11"/>
          <p:cNvSpPr>
            <a:spLocks noGrp="1" noChangeArrowheads="1"/>
          </p:cNvSpPr>
          <p:nvPr>
            <p:ph type="sldNum" sz="quarter" idx="12"/>
          </p:nvPr>
        </p:nvSpPr>
        <p:spPr>
          <a:xfrm>
            <a:off x="6781800" y="6248400"/>
            <a:ext cx="1905000" cy="457200"/>
          </a:xfrm>
          <a:prstGeom prst="rect">
            <a:avLst/>
          </a:prstGeom>
          <a:ln/>
        </p:spPr>
        <p:txBody>
          <a:bodyPr/>
          <a:lstStyle>
            <a:lvl1pPr>
              <a:defRPr/>
            </a:lvl1pPr>
          </a:lstStyle>
          <a:p>
            <a:pPr>
              <a:defRPr/>
            </a:pPr>
            <a:fld id="{54E004DE-5924-4139-A0E5-45C13928DB9B}" type="slidenum">
              <a:rPr lang="en-GB" altLang="en-US"/>
              <a:pPr>
                <a:defRPr/>
              </a:pPr>
              <a:t>‹#›</a:t>
            </a:fld>
            <a:endParaRPr lang="en-GB" altLang="en-US"/>
          </a:p>
        </p:txBody>
      </p:sp>
    </p:spTree>
    <p:extLst>
      <p:ext uri="{BB962C8B-B14F-4D97-AF65-F5344CB8AC3E}">
        <p14:creationId xmlns:p14="http://schemas.microsoft.com/office/powerpoint/2010/main" val="7349989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blank">
  <p:cSld name="Blank">
    <p:spTree>
      <p:nvGrpSpPr>
        <p:cNvPr id="1" name=""/>
        <p:cNvGrpSpPr/>
        <p:nvPr/>
      </p:nvGrpSpPr>
      <p:grpSpPr>
        <a:xfrm>
          <a:off x="0" y="0"/>
          <a:ext cx="0" cy="0"/>
          <a:chOff x="0" y="0"/>
          <a:chExt cx="0" cy="0"/>
        </a:xfrm>
      </p:grpSpPr>
      <p:sp>
        <p:nvSpPr>
          <p:cNvPr id="2" name="Rectangle 7"/>
          <p:cNvSpPr>
            <a:spLocks noChangeArrowheads="1"/>
          </p:cNvSpPr>
          <p:nvPr userDrawn="1"/>
        </p:nvSpPr>
        <p:spPr bwMode="auto">
          <a:xfrm>
            <a:off x="250825" y="6237288"/>
            <a:ext cx="7777163" cy="144462"/>
          </a:xfrm>
          <a:prstGeom prst="rect">
            <a:avLst/>
          </a:prstGeom>
          <a:solidFill>
            <a:srgbClr val="7326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defRPr/>
            </a:pPr>
            <a:endParaRPr lang="en-US" altLang="en-US" smtClean="0"/>
          </a:p>
        </p:txBody>
      </p:sp>
      <p:pic>
        <p:nvPicPr>
          <p:cNvPr id="3" name="Picture 3" descr="RBWM 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105775" y="5229225"/>
            <a:ext cx="7493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4"/>
          <p:cNvSpPr>
            <a:spLocks noGrp="1" noChangeArrowheads="1"/>
          </p:cNvSpPr>
          <p:nvPr>
            <p:ph type="dt" sz="half" idx="10"/>
          </p:nvPr>
        </p:nvSpPr>
        <p:spPr>
          <a:xfrm>
            <a:off x="685800" y="6248400"/>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8F897936-E795-4A52-BB7D-A42C4541CC71}" type="datetime1">
              <a:rPr lang="en-GB"/>
              <a:pPr>
                <a:defRPr/>
              </a:pPr>
              <a:t>16/01/2018</a:t>
            </a:fld>
            <a:endParaRPr lang="en-GB"/>
          </a:p>
        </p:txBody>
      </p:sp>
      <p:sp>
        <p:nvSpPr>
          <p:cNvPr id="5" name="Rectangle 5"/>
          <p:cNvSpPr>
            <a:spLocks noGrp="1" noChangeArrowheads="1"/>
          </p:cNvSpPr>
          <p:nvPr>
            <p:ph type="ftr" sz="quarter" idx="11"/>
          </p:nvPr>
        </p:nvSpPr>
        <p:spPr>
          <a:xfrm>
            <a:off x="3124200" y="6248400"/>
            <a:ext cx="2895600" cy="457200"/>
          </a:xfrm>
          <a:prstGeom prst="rect">
            <a:avLst/>
          </a:prstGeom>
        </p:spPr>
        <p:txBody>
          <a:bodyPr/>
          <a:lstStyle>
            <a:lvl1pPr>
              <a:defRPr>
                <a:latin typeface="Times New Roman" pitchFamily="18" charset="0"/>
                <a:ea typeface="+mn-ea"/>
              </a:defRPr>
            </a:lvl1pPr>
          </a:lstStyle>
          <a:p>
            <a:pPr>
              <a:defRPr/>
            </a:pPr>
            <a:endParaRPr lang="en-GB"/>
          </a:p>
        </p:txBody>
      </p:sp>
      <p:sp>
        <p:nvSpPr>
          <p:cNvPr id="6" name="Rectangle 6"/>
          <p:cNvSpPr>
            <a:spLocks noGrp="1" noChangeArrowheads="1"/>
          </p:cNvSpPr>
          <p:nvPr>
            <p:ph type="sldNum" sz="quarter" idx="12"/>
          </p:nvPr>
        </p:nvSpPr>
        <p:spPr>
          <a:xfrm>
            <a:off x="6659563" y="6237288"/>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873F35B5-BBFA-4553-9578-0B3BCDFBFFAA}" type="slidenum">
              <a:rPr lang="en-GB"/>
              <a:pPr>
                <a:defRPr/>
              </a:pPr>
              <a:t>‹#›</a:t>
            </a:fld>
            <a:endParaRPr lang="en-GB"/>
          </a:p>
        </p:txBody>
      </p:sp>
    </p:spTree>
    <p:extLst>
      <p:ext uri="{BB962C8B-B14F-4D97-AF65-F5344CB8AC3E}">
        <p14:creationId xmlns:p14="http://schemas.microsoft.com/office/powerpoint/2010/main" val="33307745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18A823C-80D3-9242-A3DC-1A2C6C879196}" type="datetimeFigureOut">
              <a:rPr lang="en-US" smtClean="0"/>
              <a:pPr/>
              <a:t>1/16/2018</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C3231D-557D-0245-BFA8-91B4157E4FCA}" type="slidenum">
              <a:rPr lang="en-US" smtClean="0"/>
              <a:pPr/>
              <a:t>‹#›</a:t>
            </a:fld>
            <a:endParaRPr lang="en-US"/>
          </a:p>
        </p:txBody>
      </p:sp>
    </p:spTree>
    <p:extLst>
      <p:ext uri="{BB962C8B-B14F-4D97-AF65-F5344CB8AC3E}">
        <p14:creationId xmlns:p14="http://schemas.microsoft.com/office/powerpoint/2010/main" val="2166536998"/>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55" r:id="rId3"/>
    <p:sldLayoutId id="2147483661" r:id="rId4"/>
    <p:sldLayoutId id="2147483682" r:id="rId5"/>
    <p:sldLayoutId id="2147483667" r:id="rId6"/>
    <p:sldLayoutId id="2147483683" r:id="rId7"/>
    <p:sldLayoutId id="2147483684" r:id="rId8"/>
    <p:sldLayoutId id="2147483685" r:id="rId9"/>
  </p:sldLayoutIdLst>
  <p:timing>
    <p:tnLst>
      <p:par>
        <p:cTn id="1" dur="indefinite" restart="never" nodeType="tmRoot"/>
      </p:par>
    </p:tnLst>
  </p:timing>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hyperlink" Target="http://johnandgwyn.co.uk/probe.html" TargetMode="External"/><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Childrens Services &amp; Culture\CDSI\PPC - Comms\2540 AfC Rebranding\Branding development\Matter&amp;Co\Master Logo Suite\AFC Main Logo\CMYK\PNGs\With Strapline\AfC_CMYK-Strapline_foryellowbackground.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17039" y="1923359"/>
            <a:ext cx="5872163" cy="27664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935201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1940053" y="1608777"/>
            <a:ext cx="5280144" cy="0"/>
          </a:xfrm>
          <a:prstGeom prst="line">
            <a:avLst/>
          </a:prstGeom>
          <a:ln w="9525" cmpd="sng">
            <a:solidFill>
              <a:srgbClr val="F4C239"/>
            </a:solidFill>
          </a:ln>
          <a:effectLst/>
        </p:spPr>
        <p:style>
          <a:lnRef idx="2">
            <a:schemeClr val="accent1"/>
          </a:lnRef>
          <a:fillRef idx="0">
            <a:schemeClr val="accent1"/>
          </a:fillRef>
          <a:effectRef idx="1">
            <a:schemeClr val="accent1"/>
          </a:effectRef>
          <a:fontRef idx="minor">
            <a:schemeClr val="tx1"/>
          </a:fontRef>
        </p:style>
      </p:cxnSp>
      <p:sp>
        <p:nvSpPr>
          <p:cNvPr id="2" name="Text Placeholder 1"/>
          <p:cNvSpPr>
            <a:spLocks noGrp="1"/>
          </p:cNvSpPr>
          <p:nvPr>
            <p:ph type="body" sz="quarter" idx="4294967295"/>
          </p:nvPr>
        </p:nvSpPr>
        <p:spPr>
          <a:xfrm>
            <a:off x="1750867" y="564310"/>
            <a:ext cx="5279897" cy="1139850"/>
          </a:xfrm>
        </p:spPr>
        <p:txBody>
          <a:bodyPr/>
          <a:lstStyle/>
          <a:p>
            <a:r>
              <a:rPr lang="en-US" altLang="en-US" sz="4400" b="1" u="sng" dirty="0">
                <a:solidFill>
                  <a:schemeClr val="bg1"/>
                </a:solidFill>
                <a:ea typeface="ＭＳ Ｐゴシック" pitchFamily="110" charset="-128"/>
              </a:rPr>
              <a:t>Precision Teaching:</a:t>
            </a:r>
          </a:p>
          <a:p>
            <a:endParaRPr lang="en-GB" dirty="0">
              <a:solidFill>
                <a:schemeClr val="bg1"/>
              </a:solidFill>
            </a:endParaRPr>
          </a:p>
        </p:txBody>
      </p:sp>
      <p:sp>
        <p:nvSpPr>
          <p:cNvPr id="3" name="Text Placeholder 2"/>
          <p:cNvSpPr>
            <a:spLocks noGrp="1"/>
          </p:cNvSpPr>
          <p:nvPr>
            <p:ph type="body" sz="quarter" idx="4294967295"/>
          </p:nvPr>
        </p:nvSpPr>
        <p:spPr>
          <a:xfrm>
            <a:off x="2081815" y="2107443"/>
            <a:ext cx="5280025" cy="695325"/>
          </a:xfrm>
        </p:spPr>
        <p:txBody>
          <a:bodyPr>
            <a:normAutofit fontScale="25000" lnSpcReduction="20000"/>
          </a:bodyPr>
          <a:lstStyle/>
          <a:p>
            <a:pPr>
              <a:spcBef>
                <a:spcPct val="50000"/>
              </a:spcBef>
              <a:buClrTx/>
              <a:buSzTx/>
              <a:buFontTx/>
              <a:buNone/>
            </a:pPr>
            <a:r>
              <a:rPr lang="en-US" altLang="en-US" sz="11200" b="1" dirty="0">
                <a:solidFill>
                  <a:schemeClr val="bg1"/>
                </a:solidFill>
                <a:ea typeface="ＭＳ Ｐゴシック" pitchFamily="110" charset="-128"/>
              </a:rPr>
              <a:t>An Introduction</a:t>
            </a:r>
          </a:p>
          <a:p>
            <a:pPr>
              <a:spcBef>
                <a:spcPct val="50000"/>
              </a:spcBef>
              <a:buClrTx/>
              <a:buSzTx/>
              <a:buFontTx/>
              <a:buNone/>
            </a:pPr>
            <a:endParaRPr lang="en-US" altLang="en-US" sz="11200" dirty="0" smtClean="0">
              <a:solidFill>
                <a:schemeClr val="bg1"/>
              </a:solidFill>
              <a:ea typeface="ＭＳ Ｐゴシック" pitchFamily="110" charset="-128"/>
            </a:endParaRPr>
          </a:p>
          <a:p>
            <a:pPr>
              <a:spcBef>
                <a:spcPct val="50000"/>
              </a:spcBef>
              <a:buClrTx/>
              <a:buSzTx/>
              <a:buFontTx/>
              <a:buNone/>
            </a:pPr>
            <a:r>
              <a:rPr lang="en-US" altLang="en-US" sz="11200" dirty="0" smtClean="0">
                <a:solidFill>
                  <a:schemeClr val="bg1"/>
                </a:solidFill>
                <a:ea typeface="ＭＳ Ｐゴシック" pitchFamily="110" charset="-128"/>
              </a:rPr>
              <a:t>Altwood CofE Secondary</a:t>
            </a:r>
          </a:p>
          <a:p>
            <a:pPr>
              <a:spcBef>
                <a:spcPct val="50000"/>
              </a:spcBef>
              <a:buClrTx/>
              <a:buSzTx/>
              <a:buFontTx/>
              <a:buNone/>
            </a:pPr>
            <a:endParaRPr lang="en-US" altLang="en-US" sz="11200" dirty="0">
              <a:solidFill>
                <a:schemeClr val="bg1"/>
              </a:solidFill>
              <a:ea typeface="ＭＳ Ｐゴシック" pitchFamily="110" charset="-128"/>
            </a:endParaRPr>
          </a:p>
          <a:p>
            <a:pPr>
              <a:spcBef>
                <a:spcPct val="50000"/>
              </a:spcBef>
              <a:buClrTx/>
              <a:buSzTx/>
              <a:buFontTx/>
              <a:buNone/>
            </a:pPr>
            <a:r>
              <a:rPr lang="en-US" altLang="en-US" sz="11200" dirty="0">
                <a:solidFill>
                  <a:schemeClr val="bg1"/>
                </a:solidFill>
                <a:ea typeface="ＭＳ Ｐゴシック" pitchFamily="110" charset="-128"/>
              </a:rPr>
              <a:t>Scott </a:t>
            </a:r>
            <a:r>
              <a:rPr lang="en-US" altLang="en-US" sz="11200" dirty="0" smtClean="0">
                <a:solidFill>
                  <a:schemeClr val="bg1"/>
                </a:solidFill>
                <a:ea typeface="ＭＳ Ｐゴシック" pitchFamily="110" charset="-128"/>
              </a:rPr>
              <a:t>I-Patrick </a:t>
            </a:r>
          </a:p>
          <a:p>
            <a:pPr>
              <a:spcBef>
                <a:spcPct val="50000"/>
              </a:spcBef>
              <a:buClrTx/>
              <a:buSzTx/>
              <a:buFontTx/>
              <a:buNone/>
            </a:pPr>
            <a:r>
              <a:rPr lang="en-US" altLang="en-US" sz="11200" dirty="0" smtClean="0">
                <a:solidFill>
                  <a:schemeClr val="bg1"/>
                </a:solidFill>
                <a:ea typeface="ＭＳ Ｐゴシック" pitchFamily="110" charset="-128"/>
              </a:rPr>
              <a:t>Tuesday  16</a:t>
            </a:r>
            <a:r>
              <a:rPr lang="en-US" altLang="en-US" sz="11200" baseline="30000" dirty="0" smtClean="0">
                <a:solidFill>
                  <a:schemeClr val="bg1"/>
                </a:solidFill>
                <a:ea typeface="ＭＳ Ｐゴシック" pitchFamily="110" charset="-128"/>
              </a:rPr>
              <a:t>th</a:t>
            </a:r>
            <a:r>
              <a:rPr lang="en-US" altLang="en-US" sz="11200" dirty="0" smtClean="0">
                <a:solidFill>
                  <a:schemeClr val="bg1"/>
                </a:solidFill>
                <a:ea typeface="ＭＳ Ｐゴシック" pitchFamily="110" charset="-128"/>
              </a:rPr>
              <a:t> January 2017</a:t>
            </a:r>
          </a:p>
          <a:p>
            <a:endParaRPr lang="en-GB" dirty="0"/>
          </a:p>
        </p:txBody>
      </p:sp>
    </p:spTree>
    <p:extLst>
      <p:ext uri="{BB962C8B-B14F-4D97-AF65-F5344CB8AC3E}">
        <p14:creationId xmlns:p14="http://schemas.microsoft.com/office/powerpoint/2010/main" val="418862376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74638"/>
            <a:ext cx="8229600" cy="1143000"/>
          </a:xfrm>
        </p:spPr>
        <p:txBody>
          <a:bodyPr/>
          <a:lstStyle/>
          <a:p>
            <a:pPr algn="ctr"/>
            <a:r>
              <a:rPr lang="en-GB" sz="3200" dirty="0" smtClean="0">
                <a:solidFill>
                  <a:schemeClr val="bg1"/>
                </a:solidFill>
                <a:latin typeface="Arial" charset="0"/>
              </a:rPr>
              <a:t>Aim for Session </a:t>
            </a:r>
            <a:endParaRPr lang="en-GB" sz="3200" dirty="0">
              <a:solidFill>
                <a:schemeClr val="bg1"/>
              </a:solidFill>
            </a:endParaRPr>
          </a:p>
        </p:txBody>
      </p:sp>
      <p:sp>
        <p:nvSpPr>
          <p:cNvPr id="3" name="Content Placeholder 2"/>
          <p:cNvSpPr>
            <a:spLocks noGrp="1"/>
          </p:cNvSpPr>
          <p:nvPr>
            <p:ph idx="4294967295"/>
          </p:nvPr>
        </p:nvSpPr>
        <p:spPr>
          <a:xfrm>
            <a:off x="0" y="1432967"/>
            <a:ext cx="8229600" cy="4525963"/>
          </a:xfrm>
        </p:spPr>
        <p:txBody>
          <a:bodyPr>
            <a:normAutofit/>
          </a:bodyPr>
          <a:lstStyle/>
          <a:p>
            <a:pPr marL="722313" lvl="1" indent="-384175" eaLnBrk="1" hangingPunct="1">
              <a:lnSpc>
                <a:spcPct val="90000"/>
              </a:lnSpc>
              <a:buFont typeface="Wingdings" panose="05000000000000000000" pitchFamily="2" charset="2"/>
              <a:buChar char="q"/>
            </a:pPr>
            <a:r>
              <a:rPr lang="en-US" altLang="en-US" sz="3200" dirty="0">
                <a:solidFill>
                  <a:schemeClr val="bg1"/>
                </a:solidFill>
              </a:rPr>
              <a:t>What is Precision Teaching?</a:t>
            </a:r>
          </a:p>
          <a:p>
            <a:pPr marL="681038" lvl="1" indent="-342900" eaLnBrk="1" hangingPunct="1">
              <a:lnSpc>
                <a:spcPct val="90000"/>
              </a:lnSpc>
              <a:buFont typeface="Wingdings" panose="05000000000000000000" pitchFamily="2" charset="2"/>
              <a:buChar char="q"/>
            </a:pPr>
            <a:endParaRPr lang="en-US" altLang="en-US" sz="3200" dirty="0">
              <a:solidFill>
                <a:schemeClr val="bg1"/>
              </a:solidFill>
            </a:endParaRPr>
          </a:p>
          <a:p>
            <a:pPr marL="722313" lvl="1" indent="-384175" eaLnBrk="1" hangingPunct="1">
              <a:lnSpc>
                <a:spcPct val="90000"/>
              </a:lnSpc>
              <a:buFont typeface="Wingdings" panose="05000000000000000000" pitchFamily="2" charset="2"/>
              <a:buChar char="q"/>
            </a:pPr>
            <a:r>
              <a:rPr lang="en-US" altLang="en-US" sz="3200" dirty="0">
                <a:solidFill>
                  <a:schemeClr val="bg1"/>
                </a:solidFill>
              </a:rPr>
              <a:t>PT: The underlying theory</a:t>
            </a:r>
          </a:p>
          <a:p>
            <a:pPr marL="338138" lvl="1" indent="0" eaLnBrk="1" hangingPunct="1">
              <a:lnSpc>
                <a:spcPct val="90000"/>
              </a:lnSpc>
              <a:buNone/>
            </a:pPr>
            <a:endParaRPr lang="en-US" altLang="en-US" sz="3200" dirty="0">
              <a:solidFill>
                <a:schemeClr val="bg1"/>
              </a:solidFill>
            </a:endParaRPr>
          </a:p>
          <a:p>
            <a:pPr marL="722313" lvl="1" indent="-384175" eaLnBrk="1" hangingPunct="1">
              <a:lnSpc>
                <a:spcPct val="90000"/>
              </a:lnSpc>
              <a:buFont typeface="Wingdings" panose="05000000000000000000" pitchFamily="2" charset="2"/>
              <a:buChar char="q"/>
            </a:pPr>
            <a:r>
              <a:rPr lang="en-US" altLang="en-US" sz="3200" dirty="0">
                <a:solidFill>
                  <a:schemeClr val="bg1"/>
                </a:solidFill>
              </a:rPr>
              <a:t>How do you do PT?</a:t>
            </a:r>
          </a:p>
          <a:p>
            <a:pPr marL="800100" lvl="2" indent="0" eaLnBrk="1" hangingPunct="1">
              <a:lnSpc>
                <a:spcPct val="90000"/>
              </a:lnSpc>
              <a:buNone/>
            </a:pPr>
            <a:endParaRPr lang="en-US" altLang="en-US" sz="2400" dirty="0">
              <a:solidFill>
                <a:schemeClr val="bg1"/>
              </a:solidFill>
            </a:endParaRPr>
          </a:p>
          <a:p>
            <a:pPr marL="800100" lvl="2" indent="0" eaLnBrk="1" hangingPunct="1">
              <a:lnSpc>
                <a:spcPct val="90000"/>
              </a:lnSpc>
              <a:buNone/>
            </a:pPr>
            <a:endParaRPr lang="en-GB" sz="2400" dirty="0"/>
          </a:p>
        </p:txBody>
      </p:sp>
    </p:spTree>
    <p:extLst>
      <p:ext uri="{BB962C8B-B14F-4D97-AF65-F5344CB8AC3E}">
        <p14:creationId xmlns:p14="http://schemas.microsoft.com/office/powerpoint/2010/main" val="142434647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74638"/>
            <a:ext cx="8229600" cy="1143000"/>
          </a:xfrm>
        </p:spPr>
        <p:txBody>
          <a:bodyPr/>
          <a:lstStyle/>
          <a:p>
            <a:pPr algn="ctr"/>
            <a:r>
              <a:rPr lang="en-GB" dirty="0" smtClean="0">
                <a:solidFill>
                  <a:schemeClr val="bg1"/>
                </a:solidFill>
              </a:rPr>
              <a:t>What is Precision Teaching?</a:t>
            </a:r>
            <a:endParaRPr lang="en-GB" dirty="0">
              <a:solidFill>
                <a:schemeClr val="bg1"/>
              </a:solidFill>
            </a:endParaRPr>
          </a:p>
        </p:txBody>
      </p:sp>
      <p:sp>
        <p:nvSpPr>
          <p:cNvPr id="3" name="Content Placeholder 2"/>
          <p:cNvSpPr>
            <a:spLocks noGrp="1"/>
          </p:cNvSpPr>
          <p:nvPr>
            <p:ph idx="4294967295"/>
          </p:nvPr>
        </p:nvSpPr>
        <p:spPr>
          <a:xfrm>
            <a:off x="0" y="1600200"/>
            <a:ext cx="8229600" cy="4525963"/>
          </a:xfrm>
        </p:spPr>
        <p:txBody>
          <a:bodyPr>
            <a:normAutofit/>
          </a:bodyPr>
          <a:lstStyle/>
          <a:p>
            <a:pPr eaLnBrk="1" hangingPunct="1">
              <a:buFont typeface="Wingdings" panose="05000000000000000000" pitchFamily="2" charset="2"/>
              <a:buChar char="q"/>
            </a:pPr>
            <a:r>
              <a:rPr lang="en-GB" altLang="en-US" sz="2400" dirty="0">
                <a:solidFill>
                  <a:schemeClr val="bg1"/>
                </a:solidFill>
              </a:rPr>
              <a:t>A way to plan, monitor and evaluate a </a:t>
            </a:r>
            <a:r>
              <a:rPr lang="en-GB" altLang="en-US" sz="2400" dirty="0" smtClean="0">
                <a:solidFill>
                  <a:schemeClr val="bg1"/>
                </a:solidFill>
              </a:rPr>
              <a:t>teaching programme </a:t>
            </a:r>
            <a:r>
              <a:rPr lang="en-GB" altLang="en-US" sz="2400" dirty="0">
                <a:solidFill>
                  <a:schemeClr val="bg1"/>
                </a:solidFill>
              </a:rPr>
              <a:t>for an individual child, helping </a:t>
            </a:r>
            <a:r>
              <a:rPr lang="en-GB" altLang="en-US" sz="2400" dirty="0" smtClean="0">
                <a:solidFill>
                  <a:schemeClr val="bg1"/>
                </a:solidFill>
              </a:rPr>
              <a:t>him/her </a:t>
            </a:r>
            <a:r>
              <a:rPr lang="en-GB" altLang="en-US" sz="2400" dirty="0">
                <a:solidFill>
                  <a:schemeClr val="bg1"/>
                </a:solidFill>
              </a:rPr>
              <a:t>to learn a specific skill</a:t>
            </a:r>
            <a:r>
              <a:rPr lang="en-GB" altLang="en-US" sz="2400" dirty="0" smtClean="0">
                <a:solidFill>
                  <a:schemeClr val="bg1"/>
                </a:solidFill>
              </a:rPr>
              <a:t>.</a:t>
            </a:r>
          </a:p>
          <a:p>
            <a:pPr marL="0" indent="0" eaLnBrk="1" hangingPunct="1">
              <a:buNone/>
            </a:pPr>
            <a:endParaRPr lang="en-GB" altLang="en-US" sz="2400" dirty="0" smtClean="0">
              <a:solidFill>
                <a:schemeClr val="bg1"/>
              </a:solidFill>
            </a:endParaRPr>
          </a:p>
          <a:p>
            <a:pPr eaLnBrk="1" hangingPunct="1">
              <a:buFont typeface="Wingdings" panose="05000000000000000000" pitchFamily="2" charset="2"/>
              <a:buChar char="q"/>
            </a:pPr>
            <a:r>
              <a:rPr lang="en-US" altLang="en-US" sz="2400" dirty="0" smtClean="0">
                <a:solidFill>
                  <a:schemeClr val="bg1"/>
                </a:solidFill>
              </a:rPr>
              <a:t>It is </a:t>
            </a:r>
            <a:r>
              <a:rPr lang="en-US" altLang="en-US" sz="2400" dirty="0">
                <a:solidFill>
                  <a:schemeClr val="bg1"/>
                </a:solidFill>
              </a:rPr>
              <a:t>a method of </a:t>
            </a:r>
            <a:r>
              <a:rPr lang="en-US" altLang="en-US" sz="2400" u="sng" dirty="0">
                <a:solidFill>
                  <a:schemeClr val="bg1"/>
                </a:solidFill>
              </a:rPr>
              <a:t>precisely measuring</a:t>
            </a:r>
            <a:r>
              <a:rPr lang="en-US" altLang="en-US" sz="2400" dirty="0">
                <a:solidFill>
                  <a:schemeClr val="bg1"/>
                </a:solidFill>
              </a:rPr>
              <a:t> the effectiveness of teaching.</a:t>
            </a:r>
            <a:endParaRPr lang="en-GB" altLang="en-US" sz="2400" dirty="0" smtClean="0">
              <a:solidFill>
                <a:schemeClr val="bg1"/>
              </a:solidFill>
            </a:endParaRPr>
          </a:p>
          <a:p>
            <a:pPr marL="0" indent="0" eaLnBrk="1" hangingPunct="1">
              <a:buNone/>
            </a:pPr>
            <a:endParaRPr lang="en-GB" altLang="en-US" sz="2400" dirty="0">
              <a:solidFill>
                <a:schemeClr val="bg1"/>
              </a:solidFill>
            </a:endParaRPr>
          </a:p>
          <a:p>
            <a:pPr eaLnBrk="1" hangingPunct="1">
              <a:buFont typeface="Wingdings" panose="05000000000000000000" pitchFamily="2" charset="2"/>
              <a:buChar char="q"/>
            </a:pPr>
            <a:r>
              <a:rPr lang="en-GB" altLang="en-US" sz="2400" dirty="0">
                <a:solidFill>
                  <a:schemeClr val="bg1"/>
                </a:solidFill>
              </a:rPr>
              <a:t>Precision </a:t>
            </a:r>
            <a:r>
              <a:rPr lang="en-GB" altLang="en-US" sz="2400" dirty="0" smtClean="0">
                <a:solidFill>
                  <a:schemeClr val="bg1"/>
                </a:solidFill>
              </a:rPr>
              <a:t>Teaching </a:t>
            </a:r>
            <a:r>
              <a:rPr lang="en-GB" altLang="en-US" sz="2400" dirty="0">
                <a:solidFill>
                  <a:schemeClr val="bg1"/>
                </a:solidFill>
              </a:rPr>
              <a:t>is an</a:t>
            </a:r>
            <a:r>
              <a:rPr lang="en-GB" altLang="en-US" sz="2400" dirty="0"/>
              <a:t> </a:t>
            </a:r>
            <a:r>
              <a:rPr lang="en-GB" altLang="en-US" sz="2400" b="1" u="sng" dirty="0">
                <a:solidFill>
                  <a:srgbClr val="FF0000"/>
                </a:solidFill>
              </a:rPr>
              <a:t>ASSESSMENT</a:t>
            </a:r>
            <a:r>
              <a:rPr lang="en-GB" altLang="en-US" sz="2400" dirty="0"/>
              <a:t> </a:t>
            </a:r>
            <a:r>
              <a:rPr lang="en-GB" altLang="en-US" dirty="0" smtClean="0">
                <a:solidFill>
                  <a:schemeClr val="bg1"/>
                </a:solidFill>
              </a:rPr>
              <a:t>tool and</a:t>
            </a:r>
            <a:r>
              <a:rPr lang="en-GB" altLang="en-US" dirty="0" smtClean="0"/>
              <a:t> </a:t>
            </a:r>
            <a:r>
              <a:rPr lang="en-GB" altLang="en-US" b="1" u="sng" dirty="0" smtClean="0">
                <a:solidFill>
                  <a:srgbClr val="FF0000"/>
                </a:solidFill>
              </a:rPr>
              <a:t>NOT</a:t>
            </a:r>
            <a:r>
              <a:rPr lang="en-GB" altLang="en-US" dirty="0" smtClean="0"/>
              <a:t> </a:t>
            </a:r>
            <a:r>
              <a:rPr lang="en-GB" altLang="en-US" dirty="0">
                <a:solidFill>
                  <a:schemeClr val="bg1"/>
                </a:solidFill>
              </a:rPr>
              <a:t>a teaching method.</a:t>
            </a:r>
          </a:p>
          <a:p>
            <a:endParaRPr lang="en-GB" dirty="0"/>
          </a:p>
        </p:txBody>
      </p:sp>
    </p:spTree>
    <p:extLst>
      <p:ext uri="{BB962C8B-B14F-4D97-AF65-F5344CB8AC3E}">
        <p14:creationId xmlns:p14="http://schemas.microsoft.com/office/powerpoint/2010/main" val="295871205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28600" y="0"/>
            <a:ext cx="8229600" cy="1143000"/>
          </a:xfrm>
        </p:spPr>
        <p:txBody>
          <a:bodyPr>
            <a:normAutofit fontScale="90000"/>
          </a:bodyPr>
          <a:lstStyle/>
          <a:p>
            <a:pPr algn="ctr"/>
            <a:r>
              <a:rPr lang="en-GB" dirty="0" smtClean="0">
                <a:solidFill>
                  <a:schemeClr val="bg1"/>
                </a:solidFill>
              </a:rPr>
              <a:t>When can Precision Teaching be </a:t>
            </a:r>
            <a:r>
              <a:rPr lang="en-GB" dirty="0">
                <a:solidFill>
                  <a:schemeClr val="bg1"/>
                </a:solidFill>
              </a:rPr>
              <a:t>u</a:t>
            </a:r>
            <a:r>
              <a:rPr lang="en-GB" dirty="0" smtClean="0">
                <a:solidFill>
                  <a:schemeClr val="bg1"/>
                </a:solidFill>
              </a:rPr>
              <a:t>sed?</a:t>
            </a:r>
            <a:endParaRPr lang="en-GB" dirty="0">
              <a:solidFill>
                <a:schemeClr val="bg1"/>
              </a:solidFill>
            </a:endParaRPr>
          </a:p>
        </p:txBody>
      </p:sp>
      <p:sp>
        <p:nvSpPr>
          <p:cNvPr id="3" name="Content Placeholder 2"/>
          <p:cNvSpPr>
            <a:spLocks noGrp="1"/>
          </p:cNvSpPr>
          <p:nvPr>
            <p:ph idx="4294967295"/>
          </p:nvPr>
        </p:nvSpPr>
        <p:spPr>
          <a:xfrm>
            <a:off x="0" y="1309656"/>
            <a:ext cx="8229600" cy="4525963"/>
          </a:xfrm>
        </p:spPr>
        <p:txBody>
          <a:bodyPr>
            <a:normAutofit fontScale="85000" lnSpcReduction="20000"/>
          </a:bodyPr>
          <a:lstStyle/>
          <a:p>
            <a:pPr marL="423863" eaLnBrk="1" hangingPunct="1">
              <a:lnSpc>
                <a:spcPct val="80000"/>
              </a:lnSpc>
              <a:buFont typeface="Wingdings" panose="05000000000000000000" pitchFamily="2" charset="2"/>
              <a:buChar char="q"/>
            </a:pPr>
            <a:r>
              <a:rPr lang="en-US" altLang="en-US" dirty="0">
                <a:solidFill>
                  <a:schemeClr val="bg1"/>
                </a:solidFill>
              </a:rPr>
              <a:t>When a child is making little or no progress in an area</a:t>
            </a:r>
          </a:p>
          <a:p>
            <a:pPr marL="423863" eaLnBrk="1" hangingPunct="1">
              <a:lnSpc>
                <a:spcPct val="80000"/>
              </a:lnSpc>
              <a:buFont typeface="Century Gothic" pitchFamily="34" charset="0"/>
              <a:buNone/>
            </a:pPr>
            <a:endParaRPr lang="en-US" altLang="en-US" dirty="0">
              <a:solidFill>
                <a:schemeClr val="bg1"/>
              </a:solidFill>
            </a:endParaRPr>
          </a:p>
          <a:p>
            <a:pPr marL="423863" eaLnBrk="1" hangingPunct="1">
              <a:lnSpc>
                <a:spcPct val="80000"/>
              </a:lnSpc>
              <a:buFont typeface="Wingdings" panose="05000000000000000000" pitchFamily="2" charset="2"/>
              <a:buChar char="q"/>
            </a:pPr>
            <a:r>
              <a:rPr lang="en-US" altLang="en-US" dirty="0">
                <a:solidFill>
                  <a:schemeClr val="bg1"/>
                </a:solidFill>
              </a:rPr>
              <a:t>When development of speed is essential for progress, </a:t>
            </a:r>
            <a:endParaRPr lang="en-US" altLang="en-US" dirty="0" smtClean="0">
              <a:solidFill>
                <a:schemeClr val="bg1"/>
              </a:solidFill>
            </a:endParaRPr>
          </a:p>
          <a:p>
            <a:pPr marL="80963" indent="0" eaLnBrk="1" hangingPunct="1">
              <a:lnSpc>
                <a:spcPct val="80000"/>
              </a:lnSpc>
              <a:buNone/>
            </a:pPr>
            <a:r>
              <a:rPr lang="en-US" altLang="en-US" dirty="0">
                <a:solidFill>
                  <a:schemeClr val="bg1"/>
                </a:solidFill>
              </a:rPr>
              <a:t> </a:t>
            </a:r>
            <a:r>
              <a:rPr lang="en-US" altLang="en-US" dirty="0" smtClean="0">
                <a:solidFill>
                  <a:schemeClr val="bg1"/>
                </a:solidFill>
              </a:rPr>
              <a:t>for </a:t>
            </a:r>
            <a:r>
              <a:rPr lang="en-US" altLang="en-US" dirty="0">
                <a:solidFill>
                  <a:schemeClr val="bg1"/>
                </a:solidFill>
              </a:rPr>
              <a:t>example:</a:t>
            </a:r>
          </a:p>
          <a:p>
            <a:pPr marL="423863" eaLnBrk="1" hangingPunct="1">
              <a:lnSpc>
                <a:spcPct val="80000"/>
              </a:lnSpc>
              <a:buFont typeface="Century Gothic" pitchFamily="34" charset="0"/>
              <a:buNone/>
            </a:pPr>
            <a:endParaRPr lang="en-US" altLang="en-US" dirty="0">
              <a:solidFill>
                <a:schemeClr val="bg1"/>
              </a:solidFill>
            </a:endParaRPr>
          </a:p>
          <a:p>
            <a:pPr marL="423863" eaLnBrk="1" hangingPunct="1">
              <a:lnSpc>
                <a:spcPct val="80000"/>
              </a:lnSpc>
              <a:buFont typeface="Wingdings" panose="05000000000000000000" pitchFamily="2" charset="2"/>
              <a:buChar char="ü"/>
            </a:pPr>
            <a:r>
              <a:rPr lang="en-US" altLang="en-US" dirty="0" smtClean="0">
                <a:solidFill>
                  <a:schemeClr val="bg1"/>
                </a:solidFill>
              </a:rPr>
              <a:t> phonics</a:t>
            </a:r>
          </a:p>
          <a:p>
            <a:pPr marL="423863" eaLnBrk="1" hangingPunct="1">
              <a:lnSpc>
                <a:spcPct val="80000"/>
              </a:lnSpc>
              <a:buFont typeface="Wingdings" panose="05000000000000000000" pitchFamily="2" charset="2"/>
              <a:buChar char="ü"/>
            </a:pPr>
            <a:r>
              <a:rPr lang="en-US" altLang="en-US" dirty="0" smtClean="0">
                <a:solidFill>
                  <a:schemeClr val="bg1"/>
                </a:solidFill>
              </a:rPr>
              <a:t>sight vocabulary</a:t>
            </a:r>
          </a:p>
          <a:p>
            <a:pPr marL="423863" eaLnBrk="1" hangingPunct="1">
              <a:lnSpc>
                <a:spcPct val="80000"/>
              </a:lnSpc>
              <a:buFont typeface="Wingdings" panose="05000000000000000000" pitchFamily="2" charset="2"/>
              <a:buChar char="ü"/>
            </a:pPr>
            <a:r>
              <a:rPr lang="en-US" altLang="en-US" dirty="0" smtClean="0">
                <a:solidFill>
                  <a:schemeClr val="bg1"/>
                </a:solidFill>
              </a:rPr>
              <a:t>spelling </a:t>
            </a:r>
            <a:r>
              <a:rPr lang="en-US" altLang="en-US" dirty="0">
                <a:solidFill>
                  <a:schemeClr val="bg1"/>
                </a:solidFill>
              </a:rPr>
              <a:t>high frequency </a:t>
            </a:r>
            <a:r>
              <a:rPr lang="en-US" altLang="en-US" dirty="0" smtClean="0">
                <a:solidFill>
                  <a:schemeClr val="bg1"/>
                </a:solidFill>
              </a:rPr>
              <a:t>words</a:t>
            </a:r>
          </a:p>
          <a:p>
            <a:pPr marL="423863" eaLnBrk="1" hangingPunct="1">
              <a:lnSpc>
                <a:spcPct val="80000"/>
              </a:lnSpc>
              <a:buFont typeface="Wingdings" panose="05000000000000000000" pitchFamily="2" charset="2"/>
              <a:buChar char="ü"/>
            </a:pPr>
            <a:r>
              <a:rPr lang="en-US" altLang="en-US" dirty="0" smtClean="0">
                <a:solidFill>
                  <a:schemeClr val="bg1"/>
                </a:solidFill>
              </a:rPr>
              <a:t>number recognition</a:t>
            </a:r>
          </a:p>
          <a:p>
            <a:pPr marL="423863" eaLnBrk="1" hangingPunct="1">
              <a:lnSpc>
                <a:spcPct val="80000"/>
              </a:lnSpc>
              <a:buFont typeface="Wingdings" panose="05000000000000000000" pitchFamily="2" charset="2"/>
              <a:buChar char="ü"/>
            </a:pPr>
            <a:r>
              <a:rPr lang="en-US" altLang="en-US" dirty="0" smtClean="0">
                <a:solidFill>
                  <a:schemeClr val="bg1"/>
                </a:solidFill>
              </a:rPr>
              <a:t>number bonds</a:t>
            </a:r>
          </a:p>
          <a:p>
            <a:pPr marL="80963" indent="0" eaLnBrk="1" hangingPunct="1">
              <a:lnSpc>
                <a:spcPct val="80000"/>
              </a:lnSpc>
              <a:buNone/>
            </a:pPr>
            <a:endParaRPr lang="en-US" altLang="en-US" dirty="0">
              <a:solidFill>
                <a:schemeClr val="bg1"/>
              </a:solidFill>
            </a:endParaRPr>
          </a:p>
          <a:p>
            <a:pPr marL="423863" eaLnBrk="1" hangingPunct="1">
              <a:lnSpc>
                <a:spcPct val="80000"/>
              </a:lnSpc>
              <a:buFont typeface="Wingdings" panose="05000000000000000000" pitchFamily="2" charset="2"/>
              <a:buChar char="q"/>
            </a:pPr>
            <a:r>
              <a:rPr lang="en-US" altLang="en-US" dirty="0" smtClean="0">
                <a:solidFill>
                  <a:schemeClr val="bg1"/>
                </a:solidFill>
              </a:rPr>
              <a:t>For </a:t>
            </a:r>
            <a:r>
              <a:rPr lang="en-US" altLang="en-US" dirty="0">
                <a:solidFill>
                  <a:schemeClr val="bg1"/>
                </a:solidFill>
              </a:rPr>
              <a:t>teaching skills that are </a:t>
            </a:r>
            <a:r>
              <a:rPr lang="en-US" altLang="en-US" dirty="0" smtClean="0">
                <a:solidFill>
                  <a:schemeClr val="bg1"/>
                </a:solidFill>
              </a:rPr>
              <a:t>measurable and </a:t>
            </a:r>
            <a:r>
              <a:rPr lang="en-US" altLang="en-US" dirty="0">
                <a:solidFill>
                  <a:schemeClr val="bg1"/>
                </a:solidFill>
              </a:rPr>
              <a:t>need to be acquired to </a:t>
            </a:r>
            <a:r>
              <a:rPr lang="en-US" altLang="en-US" dirty="0" smtClean="0">
                <a:solidFill>
                  <a:schemeClr val="bg1"/>
                </a:solidFill>
              </a:rPr>
              <a:t>make progress</a:t>
            </a:r>
            <a:endParaRPr lang="en-US" altLang="en-US" dirty="0">
              <a:solidFill>
                <a:schemeClr val="bg1"/>
              </a:solidFill>
            </a:endParaRPr>
          </a:p>
          <a:p>
            <a:endParaRPr lang="en-GB" dirty="0"/>
          </a:p>
        </p:txBody>
      </p:sp>
    </p:spTree>
    <p:extLst>
      <p:ext uri="{BB962C8B-B14F-4D97-AF65-F5344CB8AC3E}">
        <p14:creationId xmlns:p14="http://schemas.microsoft.com/office/powerpoint/2010/main" val="169857964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3"/>
          <p:cNvSpPr>
            <a:spLocks noGrp="1" noChangeArrowheads="1"/>
          </p:cNvSpPr>
          <p:nvPr>
            <p:ph type="body" idx="4294967295"/>
          </p:nvPr>
        </p:nvSpPr>
        <p:spPr>
          <a:xfrm>
            <a:off x="470749" y="855054"/>
            <a:ext cx="7488238" cy="4665662"/>
          </a:xfrm>
        </p:spPr>
        <p:txBody>
          <a:bodyPr>
            <a:normAutofit fontScale="92500" lnSpcReduction="10000"/>
          </a:bodyPr>
          <a:lstStyle/>
          <a:p>
            <a:pPr eaLnBrk="1" hangingPunct="1">
              <a:lnSpc>
                <a:spcPct val="90000"/>
              </a:lnSpc>
            </a:pPr>
            <a:r>
              <a:rPr lang="en-GB" altLang="en-US" dirty="0" smtClean="0">
                <a:solidFill>
                  <a:schemeClr val="bg1"/>
                </a:solidFill>
              </a:rPr>
              <a:t>Precision Teaching is based on the principle</a:t>
            </a:r>
          </a:p>
          <a:p>
            <a:pPr eaLnBrk="1" hangingPunct="1">
              <a:lnSpc>
                <a:spcPct val="90000"/>
              </a:lnSpc>
              <a:buFont typeface="Wingdings" pitchFamily="2" charset="2"/>
              <a:buNone/>
            </a:pPr>
            <a:r>
              <a:rPr lang="en-GB" altLang="en-US" dirty="0" smtClean="0">
                <a:solidFill>
                  <a:schemeClr val="bg1"/>
                </a:solidFill>
              </a:rPr>
              <a:t>	that children (and adults) need to reach a certain level of fluency and accuracy when learning a new skill before they can maintain that skill without the need for further teaching.</a:t>
            </a:r>
          </a:p>
          <a:p>
            <a:pPr eaLnBrk="1" hangingPunct="1">
              <a:lnSpc>
                <a:spcPct val="90000"/>
              </a:lnSpc>
              <a:buFont typeface="Wingdings" pitchFamily="2" charset="2"/>
              <a:buNone/>
            </a:pPr>
            <a:endParaRPr lang="en-GB" altLang="en-US" dirty="0" smtClean="0">
              <a:solidFill>
                <a:schemeClr val="bg1"/>
              </a:solidFill>
            </a:endParaRPr>
          </a:p>
          <a:p>
            <a:pPr eaLnBrk="1" hangingPunct="1">
              <a:lnSpc>
                <a:spcPct val="90000"/>
              </a:lnSpc>
              <a:buFont typeface="Wingdings" pitchFamily="2" charset="2"/>
              <a:buNone/>
            </a:pPr>
            <a:r>
              <a:rPr lang="en-GB" altLang="en-US" dirty="0" smtClean="0">
                <a:solidFill>
                  <a:schemeClr val="bg1"/>
                </a:solidFill>
              </a:rPr>
              <a:t>	The Learning Hierarchy* identifies five important stages in skill development.</a:t>
            </a:r>
          </a:p>
          <a:p>
            <a:pPr eaLnBrk="1" hangingPunct="1">
              <a:lnSpc>
                <a:spcPct val="90000"/>
              </a:lnSpc>
              <a:buFont typeface="Wingdings" pitchFamily="2" charset="2"/>
              <a:buNone/>
            </a:pPr>
            <a:endParaRPr lang="en-GB" altLang="en-US" dirty="0" smtClean="0">
              <a:solidFill>
                <a:schemeClr val="bg1"/>
              </a:solidFill>
            </a:endParaRPr>
          </a:p>
          <a:p>
            <a:pPr eaLnBrk="1" hangingPunct="1">
              <a:lnSpc>
                <a:spcPct val="90000"/>
              </a:lnSpc>
              <a:buFont typeface="Wingdings" pitchFamily="2" charset="2"/>
              <a:buNone/>
            </a:pPr>
            <a:r>
              <a:rPr lang="en-GB" altLang="en-US" sz="1800" i="1" dirty="0" smtClean="0">
                <a:solidFill>
                  <a:schemeClr val="bg1"/>
                </a:solidFill>
              </a:rPr>
              <a:t>	*Haring N.G. &amp; Eaton M.D. (1978) Systematic Instructional Procedures: An Instructional Hierarchy</a:t>
            </a:r>
          </a:p>
          <a:p>
            <a:pPr eaLnBrk="1" hangingPunct="1">
              <a:lnSpc>
                <a:spcPct val="90000"/>
              </a:lnSpc>
              <a:buFont typeface="Wingdings" pitchFamily="2" charset="2"/>
              <a:buNone/>
            </a:pPr>
            <a:endParaRPr lang="en-GB" altLang="en-US" sz="1800" i="1" dirty="0" smtClean="0"/>
          </a:p>
          <a:p>
            <a:pPr eaLnBrk="1" hangingPunct="1">
              <a:lnSpc>
                <a:spcPct val="90000"/>
              </a:lnSpc>
              <a:buFont typeface="Wingdings" pitchFamily="2" charset="2"/>
              <a:buChar char="q"/>
            </a:pPr>
            <a:endParaRPr lang="en-GB" altLang="en-US" dirty="0" smtClean="0"/>
          </a:p>
        </p:txBody>
      </p:sp>
      <p:sp>
        <p:nvSpPr>
          <p:cNvPr id="6146" name="Rectangle 2"/>
          <p:cNvSpPr>
            <a:spLocks noGrp="1" noChangeArrowheads="1"/>
          </p:cNvSpPr>
          <p:nvPr>
            <p:ph type="title" idx="4294967295"/>
          </p:nvPr>
        </p:nvSpPr>
        <p:spPr>
          <a:xfrm>
            <a:off x="646113" y="115888"/>
            <a:ext cx="8497887" cy="792162"/>
          </a:xfrm>
        </p:spPr>
        <p:txBody>
          <a:bodyPr/>
          <a:lstStyle/>
          <a:p>
            <a:pPr algn="l" eaLnBrk="1" hangingPunct="1"/>
            <a:r>
              <a:rPr lang="en-GB" altLang="en-US" sz="3200" dirty="0" smtClean="0">
                <a:solidFill>
                  <a:schemeClr val="bg1"/>
                </a:solidFill>
                <a:latin typeface="Arial" charset="0"/>
              </a:rPr>
              <a:t>The Learning Hierarchy</a:t>
            </a:r>
          </a:p>
        </p:txBody>
      </p:sp>
    </p:spTree>
    <p:extLst>
      <p:ext uri="{BB962C8B-B14F-4D97-AF65-F5344CB8AC3E}">
        <p14:creationId xmlns:p14="http://schemas.microsoft.com/office/powerpoint/2010/main" val="136063199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3"/>
          <p:cNvSpPr>
            <a:spLocks noChangeArrowheads="1"/>
          </p:cNvSpPr>
          <p:nvPr/>
        </p:nvSpPr>
        <p:spPr bwMode="auto">
          <a:xfrm>
            <a:off x="395288" y="476250"/>
            <a:ext cx="8569325" cy="927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lang="en-GB" altLang="en-US" sz="2800" dirty="0">
                <a:solidFill>
                  <a:schemeClr val="bg1"/>
                </a:solidFill>
                <a:latin typeface="Arial" pitchFamily="34" charset="0"/>
              </a:rPr>
              <a:t>‘Hierarchy of Learning’</a:t>
            </a:r>
            <a:r>
              <a:rPr lang="en-GB" altLang="en-US" sz="2800" b="1" dirty="0">
                <a:solidFill>
                  <a:schemeClr val="bg1"/>
                </a:solidFill>
                <a:latin typeface="Arial" pitchFamily="34" charset="0"/>
              </a:rPr>
              <a:t> </a:t>
            </a:r>
          </a:p>
          <a:p>
            <a:pPr algn="ctr" eaLnBrk="1" hangingPunct="1"/>
            <a:r>
              <a:rPr lang="en-GB" altLang="en-US" sz="2000" dirty="0">
                <a:solidFill>
                  <a:schemeClr val="bg1"/>
                </a:solidFill>
                <a:latin typeface="Arial" pitchFamily="34" charset="0"/>
              </a:rPr>
              <a:t>(Haring and Eaton, 1978)</a:t>
            </a:r>
          </a:p>
        </p:txBody>
      </p:sp>
      <p:sp>
        <p:nvSpPr>
          <p:cNvPr id="7171" name="Rectangle 4"/>
          <p:cNvSpPr>
            <a:spLocks noChangeArrowheads="1"/>
          </p:cNvSpPr>
          <p:nvPr/>
        </p:nvSpPr>
        <p:spPr bwMode="auto">
          <a:xfrm>
            <a:off x="755650" y="1484784"/>
            <a:ext cx="3048000" cy="396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chemeClr val="accent1"/>
              </a:buClr>
              <a:buFont typeface="Arial" pitchFamily="34" charset="0"/>
              <a:buChar char="•"/>
              <a:defRPr sz="2200">
                <a:solidFill>
                  <a:schemeClr val="tx1"/>
                </a:solidFill>
                <a:latin typeface="Calibri" pitchFamily="34" charset="0"/>
              </a:defRPr>
            </a:lvl1pPr>
            <a:lvl2pPr marL="742950" indent="-285750" eaLnBrk="0" hangingPunct="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eaLnBrk="0" hangingPunct="0">
              <a:spcBef>
                <a:spcPct val="20000"/>
              </a:spcBef>
              <a:buClr>
                <a:srgbClr val="D2CB6C"/>
              </a:buClr>
              <a:buFont typeface="Arial" pitchFamily="34" charset="0"/>
              <a:buChar char="•"/>
              <a:defRPr>
                <a:solidFill>
                  <a:schemeClr val="tx1"/>
                </a:solidFill>
                <a:latin typeface="Calibri" pitchFamily="34" charset="0"/>
              </a:defRPr>
            </a:lvl3pPr>
            <a:lvl4pPr marL="1600200" indent="-228600" eaLnBrk="0" hangingPunct="0">
              <a:spcBef>
                <a:spcPct val="20000"/>
              </a:spcBef>
              <a:buClr>
                <a:srgbClr val="95A39D"/>
              </a:buClr>
              <a:buFont typeface="Arial" pitchFamily="34" charset="0"/>
              <a:buChar char="•"/>
              <a:defRPr sz="1600">
                <a:solidFill>
                  <a:schemeClr val="tx1"/>
                </a:solidFill>
                <a:latin typeface="Calibri" pitchFamily="34" charset="0"/>
              </a:defRPr>
            </a:lvl4pPr>
            <a:lvl5pPr marL="2057400" indent="-228600" eaLnBrk="0" hangingPunct="0">
              <a:spcBef>
                <a:spcPct val="20000"/>
              </a:spcBef>
              <a:buClr>
                <a:srgbClr val="C89F5D"/>
              </a:buClr>
              <a:buFont typeface="Arial" pitchFamily="34" charset="0"/>
              <a:buChar char="•"/>
              <a:defRPr sz="1400">
                <a:solidFill>
                  <a:schemeClr val="tx1"/>
                </a:solidFill>
                <a:latin typeface="Calibri" pitchFamily="34" charset="0"/>
              </a:defRPr>
            </a:lvl5pPr>
            <a:lvl6pPr marL="25146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eaLnBrk="1" hangingPunct="1">
              <a:lnSpc>
                <a:spcPct val="90000"/>
              </a:lnSpc>
              <a:buClr>
                <a:srgbClr val="73801F"/>
              </a:buClr>
              <a:buFont typeface="Wingdings" pitchFamily="2" charset="2"/>
              <a:buNone/>
            </a:pPr>
            <a:r>
              <a:rPr lang="en-GB" altLang="en-US" sz="1800" b="1" dirty="0">
                <a:solidFill>
                  <a:schemeClr val="bg1"/>
                </a:solidFill>
                <a:latin typeface="Arial" pitchFamily="34" charset="0"/>
              </a:rPr>
              <a:t>Acquisition</a:t>
            </a:r>
          </a:p>
          <a:p>
            <a:pPr eaLnBrk="1" hangingPunct="1">
              <a:lnSpc>
                <a:spcPct val="90000"/>
              </a:lnSpc>
              <a:buClr>
                <a:srgbClr val="73801F"/>
              </a:buClr>
              <a:buFont typeface="Wingdings" pitchFamily="2" charset="2"/>
              <a:buNone/>
            </a:pPr>
            <a:endParaRPr lang="en-GB" altLang="en-US" sz="1400" b="1" dirty="0">
              <a:solidFill>
                <a:schemeClr val="bg1"/>
              </a:solidFill>
              <a:latin typeface="Arial" pitchFamily="34" charset="0"/>
            </a:endParaRPr>
          </a:p>
          <a:p>
            <a:pPr eaLnBrk="1" hangingPunct="1">
              <a:lnSpc>
                <a:spcPct val="90000"/>
              </a:lnSpc>
              <a:buClr>
                <a:srgbClr val="73801F"/>
              </a:buClr>
              <a:buFont typeface="Wingdings" pitchFamily="2" charset="2"/>
              <a:buNone/>
            </a:pPr>
            <a:endParaRPr lang="en-GB" altLang="en-US" sz="1400" dirty="0">
              <a:solidFill>
                <a:schemeClr val="bg1"/>
              </a:solidFill>
              <a:latin typeface="Arial" pitchFamily="34" charset="0"/>
            </a:endParaRPr>
          </a:p>
          <a:p>
            <a:pPr eaLnBrk="1" hangingPunct="1">
              <a:lnSpc>
                <a:spcPct val="90000"/>
              </a:lnSpc>
              <a:buClr>
                <a:srgbClr val="73801F"/>
              </a:buClr>
              <a:buFont typeface="Wingdings" pitchFamily="2" charset="2"/>
              <a:buNone/>
            </a:pPr>
            <a:r>
              <a:rPr lang="en-GB" altLang="en-US" sz="1800" b="1" dirty="0">
                <a:solidFill>
                  <a:schemeClr val="bg1"/>
                </a:solidFill>
                <a:latin typeface="Arial" pitchFamily="34" charset="0"/>
              </a:rPr>
              <a:t>Fluency</a:t>
            </a:r>
          </a:p>
          <a:p>
            <a:pPr eaLnBrk="1" hangingPunct="1">
              <a:lnSpc>
                <a:spcPct val="90000"/>
              </a:lnSpc>
              <a:buClr>
                <a:srgbClr val="73801F"/>
              </a:buClr>
              <a:buFont typeface="Wingdings" pitchFamily="2" charset="2"/>
              <a:buNone/>
            </a:pPr>
            <a:endParaRPr lang="en-GB" altLang="en-US" sz="1800" dirty="0">
              <a:solidFill>
                <a:schemeClr val="bg1"/>
              </a:solidFill>
              <a:latin typeface="Arial" pitchFamily="34" charset="0"/>
            </a:endParaRPr>
          </a:p>
          <a:p>
            <a:pPr eaLnBrk="1" hangingPunct="1">
              <a:lnSpc>
                <a:spcPct val="90000"/>
              </a:lnSpc>
              <a:buClr>
                <a:srgbClr val="73801F"/>
              </a:buClr>
              <a:buFont typeface="Wingdings" pitchFamily="2" charset="2"/>
              <a:buNone/>
            </a:pPr>
            <a:endParaRPr lang="en-GB" altLang="en-US" sz="1800" dirty="0">
              <a:solidFill>
                <a:schemeClr val="bg1"/>
              </a:solidFill>
              <a:latin typeface="Arial" pitchFamily="34" charset="0"/>
            </a:endParaRPr>
          </a:p>
          <a:p>
            <a:pPr eaLnBrk="1" hangingPunct="1">
              <a:lnSpc>
                <a:spcPct val="90000"/>
              </a:lnSpc>
              <a:buClr>
                <a:srgbClr val="73801F"/>
              </a:buClr>
              <a:buFont typeface="Wingdings" pitchFamily="2" charset="2"/>
              <a:buNone/>
            </a:pPr>
            <a:r>
              <a:rPr lang="en-GB" altLang="en-US" sz="1800" b="1" dirty="0">
                <a:solidFill>
                  <a:schemeClr val="bg1"/>
                </a:solidFill>
                <a:latin typeface="Arial" pitchFamily="34" charset="0"/>
              </a:rPr>
              <a:t>Maintenance</a:t>
            </a:r>
          </a:p>
          <a:p>
            <a:pPr eaLnBrk="1" hangingPunct="1">
              <a:lnSpc>
                <a:spcPct val="90000"/>
              </a:lnSpc>
              <a:buClr>
                <a:srgbClr val="73801F"/>
              </a:buClr>
              <a:buFont typeface="Wingdings" pitchFamily="2" charset="2"/>
              <a:buNone/>
            </a:pPr>
            <a:endParaRPr lang="en-GB" altLang="en-US" sz="1800" dirty="0">
              <a:solidFill>
                <a:schemeClr val="bg1"/>
              </a:solidFill>
              <a:latin typeface="Arial" pitchFamily="34" charset="0"/>
            </a:endParaRPr>
          </a:p>
          <a:p>
            <a:pPr eaLnBrk="1" hangingPunct="1">
              <a:lnSpc>
                <a:spcPct val="90000"/>
              </a:lnSpc>
              <a:buClr>
                <a:srgbClr val="73801F"/>
              </a:buClr>
              <a:buFont typeface="Wingdings" pitchFamily="2" charset="2"/>
              <a:buNone/>
            </a:pPr>
            <a:endParaRPr lang="en-GB" altLang="en-US" sz="1800" dirty="0">
              <a:solidFill>
                <a:schemeClr val="bg1"/>
              </a:solidFill>
              <a:latin typeface="Arial" pitchFamily="34" charset="0"/>
            </a:endParaRPr>
          </a:p>
          <a:p>
            <a:pPr eaLnBrk="1" hangingPunct="1">
              <a:lnSpc>
                <a:spcPct val="90000"/>
              </a:lnSpc>
              <a:buClr>
                <a:srgbClr val="73801F"/>
              </a:buClr>
              <a:buFont typeface="Wingdings" pitchFamily="2" charset="2"/>
              <a:buNone/>
            </a:pPr>
            <a:r>
              <a:rPr lang="en-GB" altLang="en-US" sz="1800" b="1" dirty="0">
                <a:solidFill>
                  <a:schemeClr val="bg1"/>
                </a:solidFill>
                <a:latin typeface="Arial" pitchFamily="34" charset="0"/>
              </a:rPr>
              <a:t>Generalisation</a:t>
            </a:r>
          </a:p>
          <a:p>
            <a:pPr eaLnBrk="1" hangingPunct="1">
              <a:lnSpc>
                <a:spcPct val="90000"/>
              </a:lnSpc>
              <a:buClr>
                <a:srgbClr val="73801F"/>
              </a:buClr>
              <a:buFont typeface="Wingdings" pitchFamily="2" charset="2"/>
              <a:buNone/>
            </a:pPr>
            <a:endParaRPr lang="en-GB" altLang="en-US" sz="1800" dirty="0">
              <a:solidFill>
                <a:schemeClr val="bg1"/>
              </a:solidFill>
              <a:latin typeface="Arial" pitchFamily="34" charset="0"/>
            </a:endParaRPr>
          </a:p>
          <a:p>
            <a:pPr eaLnBrk="1" hangingPunct="1">
              <a:lnSpc>
                <a:spcPct val="90000"/>
              </a:lnSpc>
              <a:buClr>
                <a:srgbClr val="73801F"/>
              </a:buClr>
              <a:buFont typeface="Wingdings" pitchFamily="2" charset="2"/>
              <a:buNone/>
            </a:pPr>
            <a:endParaRPr lang="en-GB" altLang="en-US" sz="1800" dirty="0">
              <a:solidFill>
                <a:schemeClr val="bg1"/>
              </a:solidFill>
              <a:latin typeface="Arial" pitchFamily="34" charset="0"/>
            </a:endParaRPr>
          </a:p>
          <a:p>
            <a:pPr eaLnBrk="1" hangingPunct="1">
              <a:lnSpc>
                <a:spcPct val="90000"/>
              </a:lnSpc>
              <a:buClr>
                <a:srgbClr val="73801F"/>
              </a:buClr>
              <a:buFont typeface="Wingdings" pitchFamily="2" charset="2"/>
              <a:buNone/>
            </a:pPr>
            <a:r>
              <a:rPr lang="en-GB" altLang="en-US" sz="1800" b="1" dirty="0">
                <a:solidFill>
                  <a:schemeClr val="bg1"/>
                </a:solidFill>
                <a:latin typeface="Arial" pitchFamily="34" charset="0"/>
              </a:rPr>
              <a:t>Adaptation</a:t>
            </a:r>
          </a:p>
          <a:p>
            <a:pPr eaLnBrk="1" hangingPunct="1">
              <a:lnSpc>
                <a:spcPct val="90000"/>
              </a:lnSpc>
              <a:buClr>
                <a:srgbClr val="73801F"/>
              </a:buClr>
              <a:buFont typeface="Wingdings" pitchFamily="2" charset="2"/>
              <a:buChar char="§"/>
            </a:pPr>
            <a:endParaRPr lang="en-GB" altLang="en-US" sz="2000" dirty="0">
              <a:latin typeface="Arial" pitchFamily="34" charset="0"/>
            </a:endParaRPr>
          </a:p>
        </p:txBody>
      </p:sp>
      <p:sp>
        <p:nvSpPr>
          <p:cNvPr id="7172" name="Rectangle 5"/>
          <p:cNvSpPr>
            <a:spLocks noChangeArrowheads="1"/>
          </p:cNvSpPr>
          <p:nvPr/>
        </p:nvSpPr>
        <p:spPr bwMode="auto">
          <a:xfrm>
            <a:off x="3635375" y="1484784"/>
            <a:ext cx="4953000" cy="4032250"/>
          </a:xfrm>
          <a:prstGeom prst="rect">
            <a:avLst/>
          </a:prstGeom>
          <a:noFill/>
          <a:ln>
            <a:noFill/>
          </a:ln>
          <a:effectLst/>
          <a:extLst>
            <a:ext uri="{909E8E84-426E-40DD-AFC4-6F175D3DCCD1}">
              <a14:hiddenFill xmlns:a14="http://schemas.microsoft.com/office/drawing/2010/main">
                <a:solidFill>
                  <a:srgbClr val="FF66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spcBef>
                <a:spcPct val="50000"/>
              </a:spcBef>
            </a:pPr>
            <a:r>
              <a:rPr lang="en-GB" altLang="en-US" sz="1800" b="1" dirty="0">
                <a:solidFill>
                  <a:schemeClr val="bg1"/>
                </a:solidFill>
                <a:latin typeface="Arial" pitchFamily="34" charset="0"/>
              </a:rPr>
              <a:t>Pupil performs skill with accuracy.</a:t>
            </a:r>
          </a:p>
          <a:p>
            <a:pPr eaLnBrk="1" hangingPunct="1">
              <a:spcBef>
                <a:spcPct val="50000"/>
              </a:spcBef>
            </a:pPr>
            <a:endParaRPr lang="en-GB" altLang="en-US" sz="1800" b="1" dirty="0">
              <a:solidFill>
                <a:schemeClr val="bg1"/>
              </a:solidFill>
              <a:latin typeface="Arial" pitchFamily="34" charset="0"/>
            </a:endParaRPr>
          </a:p>
          <a:p>
            <a:pPr eaLnBrk="1" hangingPunct="1">
              <a:spcBef>
                <a:spcPct val="50000"/>
              </a:spcBef>
            </a:pPr>
            <a:r>
              <a:rPr lang="en-GB" altLang="en-US" sz="1800" b="1" dirty="0">
                <a:solidFill>
                  <a:schemeClr val="bg1"/>
                </a:solidFill>
                <a:latin typeface="Arial" pitchFamily="34" charset="0"/>
              </a:rPr>
              <a:t>Pupil performs skill with accuracy and fluency.</a:t>
            </a:r>
            <a:endParaRPr lang="en-GB" altLang="en-US" sz="1800" dirty="0">
              <a:solidFill>
                <a:schemeClr val="bg1"/>
              </a:solidFill>
              <a:latin typeface="Arial" pitchFamily="34" charset="0"/>
            </a:endParaRPr>
          </a:p>
          <a:p>
            <a:pPr eaLnBrk="1" hangingPunct="1">
              <a:spcBef>
                <a:spcPct val="50000"/>
              </a:spcBef>
            </a:pPr>
            <a:r>
              <a:rPr lang="en-GB" altLang="en-US" sz="1800" b="1" dirty="0">
                <a:solidFill>
                  <a:schemeClr val="bg1"/>
                </a:solidFill>
                <a:latin typeface="Arial" pitchFamily="34" charset="0"/>
              </a:rPr>
              <a:t>Proficiency level reached, demonstrating maintenance in terms of accuracy and fluency.</a:t>
            </a:r>
          </a:p>
          <a:p>
            <a:pPr eaLnBrk="1" hangingPunct="1">
              <a:spcBef>
                <a:spcPct val="50000"/>
              </a:spcBef>
            </a:pPr>
            <a:r>
              <a:rPr lang="en-GB" altLang="en-US" sz="1800" b="1" dirty="0">
                <a:solidFill>
                  <a:schemeClr val="bg1"/>
                </a:solidFill>
                <a:latin typeface="Arial" pitchFamily="34" charset="0"/>
              </a:rPr>
              <a:t>With support and instruction pupil can apply skill in new and different contexts.</a:t>
            </a:r>
          </a:p>
          <a:p>
            <a:pPr eaLnBrk="1" hangingPunct="1">
              <a:spcBef>
                <a:spcPct val="50000"/>
              </a:spcBef>
            </a:pPr>
            <a:endParaRPr lang="en-GB" altLang="en-US" sz="1000" b="1" dirty="0">
              <a:solidFill>
                <a:schemeClr val="bg1"/>
              </a:solidFill>
              <a:latin typeface="Arial" pitchFamily="34" charset="0"/>
            </a:endParaRPr>
          </a:p>
          <a:p>
            <a:pPr eaLnBrk="1" hangingPunct="1">
              <a:spcBef>
                <a:spcPct val="50000"/>
              </a:spcBef>
            </a:pPr>
            <a:r>
              <a:rPr lang="en-GB" altLang="en-US" sz="1800" b="1" dirty="0">
                <a:solidFill>
                  <a:schemeClr val="bg1"/>
                </a:solidFill>
                <a:latin typeface="Arial" pitchFamily="34" charset="0"/>
              </a:rPr>
              <a:t>Without specific instruction pupils applies skill in new and different contexts.</a:t>
            </a:r>
          </a:p>
        </p:txBody>
      </p:sp>
      <p:sp>
        <p:nvSpPr>
          <p:cNvPr id="7173" name="AutoShape 6"/>
          <p:cNvSpPr>
            <a:spLocks noChangeArrowheads="1"/>
          </p:cNvSpPr>
          <p:nvPr/>
        </p:nvSpPr>
        <p:spPr bwMode="auto">
          <a:xfrm>
            <a:off x="1950368" y="4437112"/>
            <a:ext cx="533400" cy="457200"/>
          </a:xfrm>
          <a:prstGeom prst="downArrow">
            <a:avLst>
              <a:gd name="adj1" fmla="val 50000"/>
              <a:gd name="adj2" fmla="val 25000"/>
            </a:avLst>
          </a:prstGeom>
          <a:solidFill>
            <a:srgbClr val="99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GB" altLang="en-US"/>
          </a:p>
        </p:txBody>
      </p:sp>
      <p:sp>
        <p:nvSpPr>
          <p:cNvPr id="7174" name="AutoShape 7"/>
          <p:cNvSpPr>
            <a:spLocks noChangeArrowheads="1"/>
          </p:cNvSpPr>
          <p:nvPr/>
        </p:nvSpPr>
        <p:spPr bwMode="auto">
          <a:xfrm>
            <a:off x="1950368" y="3573016"/>
            <a:ext cx="533400" cy="457200"/>
          </a:xfrm>
          <a:prstGeom prst="downArrow">
            <a:avLst>
              <a:gd name="adj1" fmla="val 50000"/>
              <a:gd name="adj2" fmla="val 25000"/>
            </a:avLst>
          </a:prstGeom>
          <a:solidFill>
            <a:srgbClr val="99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GB" altLang="en-US"/>
          </a:p>
        </p:txBody>
      </p:sp>
      <p:sp>
        <p:nvSpPr>
          <p:cNvPr id="7175" name="AutoShape 8"/>
          <p:cNvSpPr>
            <a:spLocks noChangeArrowheads="1"/>
          </p:cNvSpPr>
          <p:nvPr/>
        </p:nvSpPr>
        <p:spPr bwMode="auto">
          <a:xfrm>
            <a:off x="1950368" y="2636912"/>
            <a:ext cx="533400" cy="457200"/>
          </a:xfrm>
          <a:prstGeom prst="downArrow">
            <a:avLst>
              <a:gd name="adj1" fmla="val 50000"/>
              <a:gd name="adj2" fmla="val 25000"/>
            </a:avLst>
          </a:prstGeom>
          <a:solidFill>
            <a:srgbClr val="99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GB" altLang="en-US"/>
          </a:p>
        </p:txBody>
      </p:sp>
      <p:sp>
        <p:nvSpPr>
          <p:cNvPr id="7176" name="AutoShape 9"/>
          <p:cNvSpPr>
            <a:spLocks noChangeArrowheads="1"/>
          </p:cNvSpPr>
          <p:nvPr/>
        </p:nvSpPr>
        <p:spPr bwMode="auto">
          <a:xfrm>
            <a:off x="1950368" y="1844824"/>
            <a:ext cx="533400" cy="457200"/>
          </a:xfrm>
          <a:prstGeom prst="downArrow">
            <a:avLst>
              <a:gd name="adj1" fmla="val 50000"/>
              <a:gd name="adj2" fmla="val 25000"/>
            </a:avLst>
          </a:prstGeom>
          <a:solidFill>
            <a:srgbClr val="99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GB" altLang="en-US"/>
          </a:p>
        </p:txBody>
      </p:sp>
    </p:spTree>
    <p:extLst>
      <p:ext uri="{BB962C8B-B14F-4D97-AF65-F5344CB8AC3E}">
        <p14:creationId xmlns:p14="http://schemas.microsoft.com/office/powerpoint/2010/main" val="415452764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8203" y="882000"/>
            <a:ext cx="8555276" cy="4524315"/>
          </a:xfrm>
          <a:prstGeom prst="rect">
            <a:avLst/>
          </a:prstGeom>
        </p:spPr>
        <p:txBody>
          <a:bodyPr wrap="square">
            <a:spAutoFit/>
          </a:bodyPr>
          <a:lstStyle/>
          <a:p>
            <a:pPr lvl="0"/>
            <a:r>
              <a:rPr lang="en-GB" sz="1600" b="1" u="sng" dirty="0">
                <a:solidFill>
                  <a:schemeClr val="bg1"/>
                </a:solidFill>
              </a:rPr>
              <a:t>Acquisition</a:t>
            </a:r>
            <a:r>
              <a:rPr lang="en-GB" sz="1600" dirty="0">
                <a:solidFill>
                  <a:schemeClr val="bg1"/>
                </a:solidFill>
              </a:rPr>
              <a:t> – you are learning to drive and need to think carefully when changing gears, indicating </a:t>
            </a:r>
            <a:r>
              <a:rPr lang="en-GB" sz="1600" dirty="0" err="1">
                <a:solidFill>
                  <a:schemeClr val="bg1"/>
                </a:solidFill>
              </a:rPr>
              <a:t>etc</a:t>
            </a:r>
            <a:r>
              <a:rPr lang="en-GB" sz="1600" dirty="0">
                <a:solidFill>
                  <a:schemeClr val="bg1"/>
                </a:solidFill>
              </a:rPr>
              <a:t> - Just beginning to learn the skill, some degree of accuracy but performance not yet reliable – by the end of this phase performance is basically accurate but not fluid, </a:t>
            </a:r>
            <a:r>
              <a:rPr lang="en-GB" sz="1600" dirty="0" smtClean="0">
                <a:solidFill>
                  <a:schemeClr val="bg1"/>
                </a:solidFill>
              </a:rPr>
              <a:t>automated</a:t>
            </a:r>
          </a:p>
          <a:p>
            <a:pPr lvl="0"/>
            <a:endParaRPr lang="en-GB" sz="1600" dirty="0">
              <a:solidFill>
                <a:schemeClr val="bg1"/>
              </a:solidFill>
            </a:endParaRPr>
          </a:p>
          <a:p>
            <a:pPr lvl="0"/>
            <a:r>
              <a:rPr lang="en-GB" sz="1600" b="1" u="sng" dirty="0">
                <a:solidFill>
                  <a:schemeClr val="bg1"/>
                </a:solidFill>
              </a:rPr>
              <a:t>Fluency</a:t>
            </a:r>
            <a:r>
              <a:rPr lang="en-GB" sz="1600" b="1" dirty="0">
                <a:solidFill>
                  <a:schemeClr val="bg1"/>
                </a:solidFill>
              </a:rPr>
              <a:t> </a:t>
            </a:r>
            <a:r>
              <a:rPr lang="en-GB" sz="1600" dirty="0">
                <a:solidFill>
                  <a:schemeClr val="bg1"/>
                </a:solidFill>
              </a:rPr>
              <a:t>– you can change gears without thinking and can now focus on the road - Can perform the skill quickly and accurately – this phase brings speed of performance into the equation – skill becoming automated, ‘second nature</a:t>
            </a:r>
            <a:r>
              <a:rPr lang="en-GB" sz="1600" dirty="0" smtClean="0">
                <a:solidFill>
                  <a:schemeClr val="bg1"/>
                </a:solidFill>
              </a:rPr>
              <a:t>’</a:t>
            </a:r>
          </a:p>
          <a:p>
            <a:pPr lvl="0"/>
            <a:endParaRPr lang="en-GB" sz="1600" dirty="0">
              <a:solidFill>
                <a:schemeClr val="bg1"/>
              </a:solidFill>
            </a:endParaRPr>
          </a:p>
          <a:p>
            <a:pPr lvl="0"/>
            <a:r>
              <a:rPr lang="en-GB" sz="1600" b="1" u="sng" dirty="0">
                <a:solidFill>
                  <a:schemeClr val="bg1"/>
                </a:solidFill>
              </a:rPr>
              <a:t>Maintenance</a:t>
            </a:r>
            <a:r>
              <a:rPr lang="en-GB" sz="1600" dirty="0">
                <a:solidFill>
                  <a:schemeClr val="bg1"/>
                </a:solidFill>
              </a:rPr>
              <a:t> – 6 months after, when you came back from a long holiday, you can still drive - Due to regular reinforcements, can perform the skill over a lengthy period of time – fluent performance is sustained over time – often referred to as ‘mastery’ </a:t>
            </a:r>
            <a:r>
              <a:rPr lang="en-GB" sz="1600" dirty="0" smtClean="0">
                <a:solidFill>
                  <a:schemeClr val="bg1"/>
                </a:solidFill>
              </a:rPr>
              <a:t>stage</a:t>
            </a:r>
          </a:p>
          <a:p>
            <a:pPr lvl="0"/>
            <a:endParaRPr lang="en-GB" sz="1600" dirty="0">
              <a:solidFill>
                <a:schemeClr val="bg1"/>
              </a:solidFill>
            </a:endParaRPr>
          </a:p>
          <a:p>
            <a:pPr lvl="0"/>
            <a:r>
              <a:rPr lang="en-GB" sz="1600" b="1" u="sng" dirty="0">
                <a:solidFill>
                  <a:schemeClr val="bg1"/>
                </a:solidFill>
              </a:rPr>
              <a:t>Generalisation</a:t>
            </a:r>
            <a:r>
              <a:rPr lang="en-GB" sz="1600" dirty="0">
                <a:solidFill>
                  <a:schemeClr val="bg1"/>
                </a:solidFill>
              </a:rPr>
              <a:t> – Your friend ask you to drive their car and you are able to do so with some support and instruction - Can generalise the skill to different contexts/new situations, can transfer learning across </a:t>
            </a:r>
            <a:r>
              <a:rPr lang="en-GB" sz="1600" dirty="0" smtClean="0">
                <a:solidFill>
                  <a:schemeClr val="bg1"/>
                </a:solidFill>
              </a:rPr>
              <a:t>settings</a:t>
            </a:r>
          </a:p>
          <a:p>
            <a:pPr lvl="0"/>
            <a:endParaRPr lang="en-GB" sz="1600" dirty="0">
              <a:solidFill>
                <a:schemeClr val="bg1"/>
              </a:solidFill>
            </a:endParaRPr>
          </a:p>
          <a:p>
            <a:pPr lvl="0"/>
            <a:r>
              <a:rPr lang="en-GB" sz="1600" b="1" u="sng" dirty="0">
                <a:solidFill>
                  <a:schemeClr val="bg1"/>
                </a:solidFill>
              </a:rPr>
              <a:t>Adaptation</a:t>
            </a:r>
            <a:r>
              <a:rPr lang="en-GB" sz="1600" dirty="0">
                <a:solidFill>
                  <a:schemeClr val="bg1"/>
                </a:solidFill>
              </a:rPr>
              <a:t> – Driving a different car is not a problem anymore - 	 Can adapt the skill appropriately to learn new skills </a:t>
            </a:r>
            <a:r>
              <a:rPr lang="en-GB" sz="1600" i="1" dirty="0">
                <a:solidFill>
                  <a:schemeClr val="bg1"/>
                </a:solidFill>
              </a:rPr>
              <a:t>NB. Overlap between generalisation &amp; adaptation stages</a:t>
            </a:r>
            <a:endParaRPr lang="en-GB" sz="1600" dirty="0">
              <a:solidFill>
                <a:schemeClr val="bg1"/>
              </a:solidFill>
            </a:endParaRPr>
          </a:p>
        </p:txBody>
      </p:sp>
    </p:spTree>
    <p:extLst>
      <p:ext uri="{BB962C8B-B14F-4D97-AF65-F5344CB8AC3E}">
        <p14:creationId xmlns:p14="http://schemas.microsoft.com/office/powerpoint/2010/main" val="76457260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008415" y="2106385"/>
            <a:ext cx="4256293" cy="1200329"/>
          </a:xfrm>
          <a:prstGeom prst="rect">
            <a:avLst/>
          </a:prstGeom>
          <a:noFill/>
        </p:spPr>
        <p:txBody>
          <a:bodyPr wrap="none" rtlCol="0">
            <a:spAutoFit/>
          </a:bodyPr>
          <a:lstStyle/>
          <a:p>
            <a:r>
              <a:rPr lang="en-GB" sz="7200" b="1" dirty="0" smtClean="0">
                <a:solidFill>
                  <a:schemeClr val="bg1"/>
                </a:solidFill>
              </a:rPr>
              <a:t>The Doing </a:t>
            </a:r>
            <a:endParaRPr lang="en-GB" sz="7200" b="1" dirty="0">
              <a:solidFill>
                <a:schemeClr val="bg1"/>
              </a:solidFill>
            </a:endParaRPr>
          </a:p>
        </p:txBody>
      </p:sp>
    </p:spTree>
    <p:extLst>
      <p:ext uri="{BB962C8B-B14F-4D97-AF65-F5344CB8AC3E}">
        <p14:creationId xmlns:p14="http://schemas.microsoft.com/office/powerpoint/2010/main" val="291866695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idx="4294967295"/>
          </p:nvPr>
        </p:nvSpPr>
        <p:spPr>
          <a:xfrm>
            <a:off x="0" y="1268413"/>
            <a:ext cx="7086600" cy="1554162"/>
          </a:xfrm>
        </p:spPr>
        <p:txBody>
          <a:bodyPr/>
          <a:lstStyle/>
          <a:p>
            <a:pPr algn="ctr"/>
            <a:r>
              <a:rPr lang="en-GB" altLang="en-US" sz="3600" u="sng" dirty="0" smtClean="0">
                <a:solidFill>
                  <a:schemeClr val="bg1"/>
                </a:solidFill>
              </a:rPr>
              <a:t>Before you start Precision Teaching</a:t>
            </a:r>
            <a:r>
              <a:rPr lang="en-GB" altLang="en-US" sz="3600" dirty="0" smtClean="0">
                <a:solidFill>
                  <a:schemeClr val="bg1"/>
                </a:solidFill>
              </a:rPr>
              <a:t> </a:t>
            </a:r>
          </a:p>
        </p:txBody>
      </p:sp>
      <p:sp>
        <p:nvSpPr>
          <p:cNvPr id="13315" name="Rectangle 3"/>
          <p:cNvSpPr>
            <a:spLocks noGrp="1" noChangeArrowheads="1"/>
          </p:cNvSpPr>
          <p:nvPr>
            <p:ph type="body" idx="4294967295"/>
          </p:nvPr>
        </p:nvSpPr>
        <p:spPr>
          <a:xfrm>
            <a:off x="0" y="3068638"/>
            <a:ext cx="5257800" cy="2520950"/>
          </a:xfrm>
        </p:spPr>
        <p:txBody>
          <a:bodyPr/>
          <a:lstStyle/>
          <a:p>
            <a:pPr>
              <a:buFont typeface="Wingdings" panose="05000000000000000000" pitchFamily="2" charset="2"/>
              <a:buChar char="q"/>
            </a:pPr>
            <a:r>
              <a:rPr lang="en-GB" altLang="en-US" sz="2800" dirty="0" smtClean="0">
                <a:solidFill>
                  <a:schemeClr val="bg1"/>
                </a:solidFill>
              </a:rPr>
              <a:t>Consistency is key!</a:t>
            </a:r>
          </a:p>
          <a:p>
            <a:pPr lvl="1">
              <a:buFont typeface="Wingdings" panose="05000000000000000000" pitchFamily="2" charset="2"/>
              <a:buChar char="ü"/>
            </a:pPr>
            <a:r>
              <a:rPr lang="en-GB" altLang="en-US" sz="2800" dirty="0" smtClean="0">
                <a:solidFill>
                  <a:schemeClr val="bg1"/>
                </a:solidFill>
              </a:rPr>
              <a:t>When?</a:t>
            </a:r>
          </a:p>
          <a:p>
            <a:pPr lvl="1">
              <a:buFont typeface="Wingdings" panose="05000000000000000000" pitchFamily="2" charset="2"/>
              <a:buChar char="ü"/>
            </a:pPr>
            <a:r>
              <a:rPr lang="en-GB" altLang="en-US" sz="2800" dirty="0" smtClean="0">
                <a:solidFill>
                  <a:schemeClr val="bg1"/>
                </a:solidFill>
              </a:rPr>
              <a:t>Where?</a:t>
            </a:r>
          </a:p>
        </p:txBody>
      </p:sp>
    </p:spTree>
    <p:extLst>
      <p:ext uri="{BB962C8B-B14F-4D97-AF65-F5344CB8AC3E}">
        <p14:creationId xmlns:p14="http://schemas.microsoft.com/office/powerpoint/2010/main" val="350204966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idx="4294967295"/>
          </p:nvPr>
        </p:nvSpPr>
        <p:spPr>
          <a:xfrm>
            <a:off x="0" y="476250"/>
            <a:ext cx="8569325" cy="1143000"/>
          </a:xfrm>
        </p:spPr>
        <p:txBody>
          <a:bodyPr>
            <a:normAutofit/>
          </a:bodyPr>
          <a:lstStyle/>
          <a:p>
            <a:pPr algn="ctr" eaLnBrk="1" fontAlgn="auto" hangingPunct="1">
              <a:spcAft>
                <a:spcPts val="0"/>
              </a:spcAft>
              <a:defRPr/>
            </a:pPr>
            <a:r>
              <a:rPr lang="en-GB" altLang="en-US" dirty="0" smtClean="0">
                <a:solidFill>
                  <a:schemeClr val="bg1"/>
                </a:solidFill>
              </a:rPr>
              <a:t>How do you do Precision Teaching?</a:t>
            </a:r>
          </a:p>
        </p:txBody>
      </p:sp>
      <p:sp>
        <p:nvSpPr>
          <p:cNvPr id="8195" name="Rectangle 3"/>
          <p:cNvSpPr>
            <a:spLocks noGrp="1" noChangeArrowheads="1"/>
          </p:cNvSpPr>
          <p:nvPr>
            <p:ph idx="4294967295"/>
          </p:nvPr>
        </p:nvSpPr>
        <p:spPr>
          <a:xfrm>
            <a:off x="0" y="1698625"/>
            <a:ext cx="8353425" cy="4467225"/>
          </a:xfrm>
        </p:spPr>
        <p:txBody>
          <a:bodyPr>
            <a:normAutofit/>
          </a:bodyPr>
          <a:lstStyle/>
          <a:p>
            <a:pPr marL="609600" indent="-609600" eaLnBrk="1" hangingPunct="1">
              <a:lnSpc>
                <a:spcPct val="80000"/>
              </a:lnSpc>
              <a:buFontTx/>
              <a:buAutoNum type="arabicPeriod"/>
            </a:pPr>
            <a:r>
              <a:rPr lang="en-GB" altLang="en-US" sz="2000" dirty="0" smtClean="0">
                <a:solidFill>
                  <a:schemeClr val="bg1"/>
                </a:solidFill>
              </a:rPr>
              <a:t>Identify a specific difficulty and acquire a baseline.</a:t>
            </a:r>
          </a:p>
          <a:p>
            <a:pPr marL="609600" indent="-609600" eaLnBrk="1" hangingPunct="1">
              <a:lnSpc>
                <a:spcPct val="80000"/>
              </a:lnSpc>
              <a:buFontTx/>
              <a:buNone/>
            </a:pPr>
            <a:endParaRPr lang="en-GB" altLang="en-US" sz="2000" dirty="0" smtClean="0">
              <a:solidFill>
                <a:schemeClr val="bg1"/>
              </a:solidFill>
            </a:endParaRPr>
          </a:p>
          <a:p>
            <a:pPr marL="609600" indent="-609600" eaLnBrk="1" hangingPunct="1">
              <a:lnSpc>
                <a:spcPct val="80000"/>
              </a:lnSpc>
              <a:buFontTx/>
              <a:buAutoNum type="arabicPeriod" startAt="2"/>
            </a:pPr>
            <a:r>
              <a:rPr lang="en-GB" altLang="en-US" sz="2000" dirty="0" smtClean="0">
                <a:solidFill>
                  <a:schemeClr val="bg1"/>
                </a:solidFill>
              </a:rPr>
              <a:t>Set a target.</a:t>
            </a:r>
          </a:p>
          <a:p>
            <a:pPr marL="609600" indent="-609600" eaLnBrk="1" hangingPunct="1">
              <a:lnSpc>
                <a:spcPct val="80000"/>
              </a:lnSpc>
              <a:buFontTx/>
              <a:buNone/>
            </a:pPr>
            <a:endParaRPr lang="en-GB" altLang="en-US" sz="2000" dirty="0" smtClean="0">
              <a:solidFill>
                <a:schemeClr val="bg1"/>
              </a:solidFill>
            </a:endParaRPr>
          </a:p>
          <a:p>
            <a:pPr marL="609600" indent="-609600" eaLnBrk="1" hangingPunct="1">
              <a:lnSpc>
                <a:spcPct val="80000"/>
              </a:lnSpc>
              <a:buFontTx/>
              <a:buAutoNum type="arabicPeriod" startAt="3"/>
            </a:pPr>
            <a:r>
              <a:rPr lang="en-GB" altLang="en-US" sz="2000" dirty="0" smtClean="0">
                <a:solidFill>
                  <a:schemeClr val="bg1"/>
                </a:solidFill>
              </a:rPr>
              <a:t>Teaching sessions: short, frequent and target specific.</a:t>
            </a:r>
          </a:p>
          <a:p>
            <a:pPr marL="609600" indent="-609600" eaLnBrk="1" hangingPunct="1">
              <a:lnSpc>
                <a:spcPct val="80000"/>
              </a:lnSpc>
              <a:buFontTx/>
              <a:buAutoNum type="arabicPeriod" startAt="3"/>
            </a:pPr>
            <a:endParaRPr lang="en-GB" altLang="en-US" sz="2000" dirty="0" smtClean="0">
              <a:solidFill>
                <a:schemeClr val="bg1"/>
              </a:solidFill>
            </a:endParaRPr>
          </a:p>
          <a:p>
            <a:pPr marL="609600" indent="-609600" eaLnBrk="1" hangingPunct="1">
              <a:lnSpc>
                <a:spcPct val="80000"/>
              </a:lnSpc>
              <a:buFontTx/>
              <a:buAutoNum type="arabicPeriod" startAt="3"/>
            </a:pPr>
            <a:r>
              <a:rPr lang="en-GB" altLang="en-US" sz="2000" dirty="0" smtClean="0">
                <a:solidFill>
                  <a:schemeClr val="bg1"/>
                </a:solidFill>
              </a:rPr>
              <a:t>Monitor child’s daily performance using a probe.</a:t>
            </a:r>
          </a:p>
          <a:p>
            <a:pPr marL="609600" indent="-609600" eaLnBrk="1" hangingPunct="1">
              <a:lnSpc>
                <a:spcPct val="80000"/>
              </a:lnSpc>
              <a:buFontTx/>
              <a:buAutoNum type="arabicPeriod" startAt="3"/>
            </a:pPr>
            <a:endParaRPr lang="en-GB" altLang="en-US" sz="2000" dirty="0" smtClean="0">
              <a:solidFill>
                <a:schemeClr val="bg1"/>
              </a:solidFill>
            </a:endParaRPr>
          </a:p>
          <a:p>
            <a:pPr marL="609600" indent="-609600" eaLnBrk="1" hangingPunct="1">
              <a:lnSpc>
                <a:spcPct val="80000"/>
              </a:lnSpc>
              <a:buFontTx/>
              <a:buAutoNum type="arabicPeriod" startAt="5"/>
            </a:pPr>
            <a:r>
              <a:rPr lang="en-GB" altLang="en-US" sz="2000" dirty="0" smtClean="0">
                <a:solidFill>
                  <a:schemeClr val="bg1"/>
                </a:solidFill>
              </a:rPr>
              <a:t>Chart results and make note of teaching methods.</a:t>
            </a:r>
          </a:p>
          <a:p>
            <a:pPr marL="0" indent="0" eaLnBrk="1" hangingPunct="1">
              <a:lnSpc>
                <a:spcPct val="80000"/>
              </a:lnSpc>
              <a:buNone/>
            </a:pPr>
            <a:endParaRPr lang="en-GB" altLang="en-US" sz="2000" dirty="0" smtClean="0">
              <a:solidFill>
                <a:schemeClr val="bg1"/>
              </a:solidFill>
            </a:endParaRPr>
          </a:p>
          <a:p>
            <a:pPr marL="609600" indent="-609600" eaLnBrk="1" hangingPunct="1">
              <a:lnSpc>
                <a:spcPct val="80000"/>
              </a:lnSpc>
              <a:buFontTx/>
              <a:buAutoNum type="arabicPeriod" startAt="6"/>
            </a:pPr>
            <a:r>
              <a:rPr lang="en-GB" altLang="en-US" sz="2000" dirty="0" smtClean="0">
                <a:solidFill>
                  <a:schemeClr val="bg1"/>
                </a:solidFill>
              </a:rPr>
              <a:t>Analyse the data to determine if a change of target is needed or change in teaching method.</a:t>
            </a:r>
          </a:p>
        </p:txBody>
      </p:sp>
    </p:spTree>
    <p:extLst>
      <p:ext uri="{BB962C8B-B14F-4D97-AF65-F5344CB8AC3E}">
        <p14:creationId xmlns:p14="http://schemas.microsoft.com/office/powerpoint/2010/main" val="255482977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646113" y="765175"/>
            <a:ext cx="8497887" cy="649288"/>
          </a:xfrm>
        </p:spPr>
        <p:txBody>
          <a:bodyPr>
            <a:normAutofit fontScale="90000"/>
          </a:bodyPr>
          <a:lstStyle/>
          <a:p>
            <a:pPr algn="ctr"/>
            <a:r>
              <a:rPr lang="en-GB" altLang="en-US" sz="5400" dirty="0" smtClean="0">
                <a:solidFill>
                  <a:schemeClr val="bg1"/>
                </a:solidFill>
              </a:rPr>
              <a:t>STEP 1</a:t>
            </a:r>
            <a:endParaRPr lang="en-GB" sz="5400" dirty="0">
              <a:solidFill>
                <a:schemeClr val="bg1"/>
              </a:solidFill>
            </a:endParaRPr>
          </a:p>
        </p:txBody>
      </p:sp>
      <p:sp>
        <p:nvSpPr>
          <p:cNvPr id="3" name="Content Placeholder 2"/>
          <p:cNvSpPr>
            <a:spLocks noGrp="1"/>
          </p:cNvSpPr>
          <p:nvPr>
            <p:ph idx="4294967295"/>
          </p:nvPr>
        </p:nvSpPr>
        <p:spPr>
          <a:xfrm>
            <a:off x="0" y="2133600"/>
            <a:ext cx="7632700" cy="4968875"/>
          </a:xfrm>
        </p:spPr>
        <p:txBody>
          <a:bodyPr/>
          <a:lstStyle/>
          <a:p>
            <a:pPr marL="0" indent="0" algn="ctr">
              <a:buNone/>
            </a:pPr>
            <a:r>
              <a:rPr lang="en-GB" altLang="en-US" sz="5400" dirty="0" smtClean="0">
                <a:solidFill>
                  <a:schemeClr val="bg1"/>
                </a:solidFill>
              </a:rPr>
              <a:t>Identify </a:t>
            </a:r>
            <a:r>
              <a:rPr lang="en-GB" altLang="en-US" sz="5400" dirty="0">
                <a:solidFill>
                  <a:schemeClr val="bg1"/>
                </a:solidFill>
              </a:rPr>
              <a:t>a specific difficulty and acquire a baseline</a:t>
            </a:r>
            <a:endParaRPr lang="en-GB" sz="5400" dirty="0">
              <a:solidFill>
                <a:schemeClr val="bg1"/>
              </a:solidFill>
            </a:endParaRPr>
          </a:p>
        </p:txBody>
      </p:sp>
    </p:spTree>
    <p:extLst>
      <p:ext uri="{BB962C8B-B14F-4D97-AF65-F5344CB8AC3E}">
        <p14:creationId xmlns:p14="http://schemas.microsoft.com/office/powerpoint/2010/main" val="26266717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1"/>
          <p:cNvSpPr>
            <a:spLocks noGrp="1" noChangeArrowheads="1"/>
          </p:cNvSpPr>
          <p:nvPr>
            <p:ph type="title" idx="4294967295"/>
          </p:nvPr>
        </p:nvSpPr>
        <p:spPr>
          <a:xfrm>
            <a:off x="396738" y="476250"/>
            <a:ext cx="7848600" cy="1563688"/>
          </a:xfrm>
        </p:spPr>
        <p:txBody>
          <a:bodyPr rIns="31750" anchor="b"/>
          <a:lstStyle/>
          <a:p>
            <a:pPr indent="0" algn="ctr" eaLnBrk="1" hangingPunct="1"/>
            <a:r>
              <a:rPr lang="en-US" altLang="en-US" sz="3200" u="sng" dirty="0" smtClean="0">
                <a:solidFill>
                  <a:schemeClr val="bg1"/>
                </a:solidFill>
              </a:rPr>
              <a:t>‘Task Analysis’ – where are they now? </a:t>
            </a:r>
          </a:p>
        </p:txBody>
      </p:sp>
      <p:sp>
        <p:nvSpPr>
          <p:cNvPr id="14339" name="Rectangle 2"/>
          <p:cNvSpPr>
            <a:spLocks noGrp="1" noChangeArrowheads="1"/>
          </p:cNvSpPr>
          <p:nvPr>
            <p:ph type="body" idx="4294967295"/>
          </p:nvPr>
        </p:nvSpPr>
        <p:spPr>
          <a:xfrm>
            <a:off x="0" y="1663700"/>
            <a:ext cx="5327650" cy="5194300"/>
          </a:xfrm>
        </p:spPr>
        <p:txBody>
          <a:bodyPr rIns="31750"/>
          <a:lstStyle/>
          <a:p>
            <a:pPr marL="690563" indent="-650875" eaLnBrk="1" hangingPunct="1">
              <a:lnSpc>
                <a:spcPct val="80000"/>
              </a:lnSpc>
              <a:buFont typeface="Century Gothic" pitchFamily="34" charset="0"/>
              <a:buNone/>
            </a:pPr>
            <a:endParaRPr lang="en-US" altLang="en-US" sz="2400" dirty="0" smtClean="0"/>
          </a:p>
          <a:p>
            <a:pPr marL="690563" indent="-650875" eaLnBrk="1" hangingPunct="1">
              <a:lnSpc>
                <a:spcPct val="80000"/>
              </a:lnSpc>
              <a:buFont typeface="Century Gothic" pitchFamily="34" charset="0"/>
              <a:buNone/>
            </a:pPr>
            <a:endParaRPr lang="en-US" altLang="en-US" sz="2400" dirty="0" smtClean="0"/>
          </a:p>
          <a:p>
            <a:pPr marL="690563" indent="-650875" eaLnBrk="1" hangingPunct="1">
              <a:lnSpc>
                <a:spcPct val="80000"/>
              </a:lnSpc>
              <a:buFont typeface="Century Gothic" pitchFamily="34" charset="0"/>
              <a:buNone/>
            </a:pPr>
            <a:endParaRPr lang="en-US" altLang="en-US" sz="2800" dirty="0" smtClean="0"/>
          </a:p>
          <a:p>
            <a:pPr marL="382588" eaLnBrk="1" hangingPunct="1">
              <a:lnSpc>
                <a:spcPct val="80000"/>
              </a:lnSpc>
              <a:buSzPct val="99000"/>
              <a:buFont typeface="Wingdings" panose="05000000000000000000" pitchFamily="2" charset="2"/>
              <a:buChar char="q"/>
            </a:pPr>
            <a:r>
              <a:rPr lang="en-US" altLang="en-US" sz="2800" dirty="0" smtClean="0">
                <a:solidFill>
                  <a:schemeClr val="bg1"/>
                </a:solidFill>
              </a:rPr>
              <a:t>Select a problem area, e.g. sight words, letter sounds</a:t>
            </a:r>
          </a:p>
          <a:p>
            <a:pPr marL="39688" indent="0" eaLnBrk="1" hangingPunct="1">
              <a:lnSpc>
                <a:spcPct val="80000"/>
              </a:lnSpc>
              <a:buSzPct val="99000"/>
              <a:buNone/>
            </a:pPr>
            <a:endParaRPr lang="en-US" altLang="en-US" sz="2800" dirty="0" smtClean="0">
              <a:solidFill>
                <a:schemeClr val="bg1"/>
              </a:solidFill>
            </a:endParaRPr>
          </a:p>
          <a:p>
            <a:pPr marL="382588" eaLnBrk="1" hangingPunct="1">
              <a:lnSpc>
                <a:spcPct val="80000"/>
              </a:lnSpc>
              <a:buSzPct val="99000"/>
              <a:buFont typeface="Wingdings" panose="05000000000000000000" pitchFamily="2" charset="2"/>
              <a:buChar char="q"/>
            </a:pPr>
            <a:r>
              <a:rPr lang="en-US" altLang="en-US" sz="2800" dirty="0" smtClean="0">
                <a:solidFill>
                  <a:schemeClr val="bg1"/>
                </a:solidFill>
              </a:rPr>
              <a:t>Find out what the child already knows, probably by doing a short test</a:t>
            </a:r>
          </a:p>
        </p:txBody>
      </p:sp>
    </p:spTree>
    <p:extLst>
      <p:ext uri="{BB962C8B-B14F-4D97-AF65-F5344CB8AC3E}">
        <p14:creationId xmlns:p14="http://schemas.microsoft.com/office/powerpoint/2010/main" val="398150064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idx="4294967295"/>
          </p:nvPr>
        </p:nvSpPr>
        <p:spPr>
          <a:xfrm>
            <a:off x="0" y="115888"/>
            <a:ext cx="8280400" cy="865187"/>
          </a:xfrm>
        </p:spPr>
        <p:txBody>
          <a:bodyPr/>
          <a:lstStyle/>
          <a:p>
            <a:pPr algn="ctr" eaLnBrk="1" hangingPunct="1"/>
            <a:r>
              <a:rPr lang="en-GB" altLang="en-US" sz="3200" dirty="0" smtClean="0">
                <a:solidFill>
                  <a:schemeClr val="bg1"/>
                </a:solidFill>
                <a:latin typeface="Arial" charset="0"/>
              </a:rPr>
              <a:t>Probes</a:t>
            </a:r>
          </a:p>
        </p:txBody>
      </p:sp>
      <p:sp>
        <p:nvSpPr>
          <p:cNvPr id="14339" name="Rectangle 3"/>
          <p:cNvSpPr>
            <a:spLocks noGrp="1" noChangeArrowheads="1"/>
          </p:cNvSpPr>
          <p:nvPr>
            <p:ph type="body" idx="4294967295"/>
          </p:nvPr>
        </p:nvSpPr>
        <p:spPr>
          <a:xfrm>
            <a:off x="0" y="916846"/>
            <a:ext cx="7343775" cy="4737100"/>
          </a:xfrm>
        </p:spPr>
        <p:txBody>
          <a:bodyPr/>
          <a:lstStyle/>
          <a:p>
            <a:pPr eaLnBrk="1" hangingPunct="1"/>
            <a:r>
              <a:rPr lang="en-GB" altLang="en-US" dirty="0" smtClean="0">
                <a:solidFill>
                  <a:schemeClr val="bg1"/>
                </a:solidFill>
              </a:rPr>
              <a:t>Probes contain a defined set of items, often letters, words or sums on which the child is tested, usually for one minute.</a:t>
            </a:r>
          </a:p>
          <a:p>
            <a:pPr eaLnBrk="1" hangingPunct="1">
              <a:buFont typeface="Wingdings" pitchFamily="2" charset="2"/>
              <a:buNone/>
            </a:pPr>
            <a:endParaRPr lang="en-GB" altLang="en-US" dirty="0" smtClean="0">
              <a:solidFill>
                <a:schemeClr val="bg1"/>
              </a:solidFill>
            </a:endParaRPr>
          </a:p>
          <a:p>
            <a:pPr eaLnBrk="1" hangingPunct="1"/>
            <a:r>
              <a:rPr lang="en-GB" altLang="en-US" dirty="0" smtClean="0">
                <a:solidFill>
                  <a:schemeClr val="bg1"/>
                </a:solidFill>
              </a:rPr>
              <a:t>The items chosen reflect the skills the child is having difficulty acquiring, but contain some that the child knows. </a:t>
            </a:r>
          </a:p>
          <a:p>
            <a:pPr eaLnBrk="1" hangingPunct="1"/>
            <a:endParaRPr lang="en-GB" altLang="en-US" dirty="0" smtClean="0"/>
          </a:p>
        </p:txBody>
      </p:sp>
    </p:spTree>
    <p:extLst>
      <p:ext uri="{BB962C8B-B14F-4D97-AF65-F5344CB8AC3E}">
        <p14:creationId xmlns:p14="http://schemas.microsoft.com/office/powerpoint/2010/main" val="275015988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1"/>
          <p:cNvSpPr>
            <a:spLocks noGrp="1" noChangeArrowheads="1"/>
          </p:cNvSpPr>
          <p:nvPr>
            <p:ph type="title" idx="4294967295"/>
          </p:nvPr>
        </p:nvSpPr>
        <p:spPr>
          <a:xfrm>
            <a:off x="346478" y="0"/>
            <a:ext cx="6870700" cy="1412875"/>
          </a:xfrm>
        </p:spPr>
        <p:txBody>
          <a:bodyPr rIns="31750" anchor="b"/>
          <a:lstStyle/>
          <a:p>
            <a:pPr indent="0" algn="l" eaLnBrk="1" hangingPunct="1"/>
            <a:r>
              <a:rPr lang="en-US" altLang="en-US" sz="3200" u="sng" dirty="0" smtClean="0">
                <a:solidFill>
                  <a:schemeClr val="bg1"/>
                </a:solidFill>
              </a:rPr>
              <a:t>Types of probe:</a:t>
            </a:r>
          </a:p>
        </p:txBody>
      </p:sp>
      <p:sp>
        <p:nvSpPr>
          <p:cNvPr id="19459" name="Rectangle 2"/>
          <p:cNvSpPr>
            <a:spLocks noGrp="1" noChangeArrowheads="1"/>
          </p:cNvSpPr>
          <p:nvPr>
            <p:ph type="body" idx="4294967295"/>
          </p:nvPr>
        </p:nvSpPr>
        <p:spPr>
          <a:xfrm>
            <a:off x="0" y="1927225"/>
            <a:ext cx="5257800" cy="4930775"/>
          </a:xfrm>
        </p:spPr>
        <p:txBody>
          <a:bodyPr rIns="31750"/>
          <a:lstStyle/>
          <a:p>
            <a:pPr marL="423863" indent="-384175" eaLnBrk="1" hangingPunct="1">
              <a:lnSpc>
                <a:spcPct val="90000"/>
              </a:lnSpc>
            </a:pPr>
            <a:r>
              <a:rPr lang="en-US" altLang="en-US" sz="2800" b="1" dirty="0" smtClean="0">
                <a:solidFill>
                  <a:schemeClr val="bg1"/>
                </a:solidFill>
              </a:rPr>
              <a:t>See to say</a:t>
            </a:r>
            <a:r>
              <a:rPr lang="en-US" altLang="en-US" sz="2800" dirty="0" smtClean="0">
                <a:solidFill>
                  <a:schemeClr val="bg1"/>
                </a:solidFill>
              </a:rPr>
              <a:t> e.g. letter, number, sight word recognition</a:t>
            </a:r>
          </a:p>
          <a:p>
            <a:pPr marL="423863" indent="-384175" eaLnBrk="1" hangingPunct="1">
              <a:lnSpc>
                <a:spcPct val="90000"/>
              </a:lnSpc>
            </a:pPr>
            <a:endParaRPr lang="en-US" altLang="en-US" sz="2800" dirty="0" smtClean="0">
              <a:solidFill>
                <a:schemeClr val="bg1"/>
              </a:solidFill>
            </a:endParaRPr>
          </a:p>
          <a:p>
            <a:pPr marL="423863" indent="-384175" eaLnBrk="1" hangingPunct="1">
              <a:lnSpc>
                <a:spcPct val="90000"/>
              </a:lnSpc>
            </a:pPr>
            <a:r>
              <a:rPr lang="en-US" altLang="en-US" sz="2800" b="1" dirty="0" smtClean="0">
                <a:solidFill>
                  <a:schemeClr val="bg1"/>
                </a:solidFill>
              </a:rPr>
              <a:t>Hear to write</a:t>
            </a:r>
            <a:r>
              <a:rPr lang="en-US" altLang="en-US" sz="2800" dirty="0" smtClean="0">
                <a:solidFill>
                  <a:schemeClr val="bg1"/>
                </a:solidFill>
              </a:rPr>
              <a:t> e.g. letter sounds, numbers, spellings</a:t>
            </a:r>
          </a:p>
          <a:p>
            <a:pPr marL="423863" indent="-384175" eaLnBrk="1" hangingPunct="1">
              <a:lnSpc>
                <a:spcPct val="90000"/>
              </a:lnSpc>
            </a:pPr>
            <a:endParaRPr lang="en-US" altLang="en-US" sz="2800" dirty="0" smtClean="0">
              <a:solidFill>
                <a:schemeClr val="bg1"/>
              </a:solidFill>
            </a:endParaRPr>
          </a:p>
          <a:p>
            <a:pPr marL="423863" indent="-384175" eaLnBrk="1" hangingPunct="1">
              <a:lnSpc>
                <a:spcPct val="90000"/>
              </a:lnSpc>
            </a:pPr>
            <a:r>
              <a:rPr lang="en-US" altLang="en-US" sz="2800" b="1" dirty="0" smtClean="0">
                <a:solidFill>
                  <a:schemeClr val="bg1"/>
                </a:solidFill>
              </a:rPr>
              <a:t>See to write</a:t>
            </a:r>
            <a:r>
              <a:rPr lang="en-US" altLang="en-US" sz="2800" dirty="0" smtClean="0">
                <a:solidFill>
                  <a:schemeClr val="bg1"/>
                </a:solidFill>
              </a:rPr>
              <a:t> e.g. 3 + 6 =</a:t>
            </a:r>
          </a:p>
        </p:txBody>
      </p:sp>
    </p:spTree>
    <p:extLst>
      <p:ext uri="{BB962C8B-B14F-4D97-AF65-F5344CB8AC3E}">
        <p14:creationId xmlns:p14="http://schemas.microsoft.com/office/powerpoint/2010/main" val="356458130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idx="4294967295"/>
          </p:nvPr>
        </p:nvSpPr>
        <p:spPr>
          <a:xfrm>
            <a:off x="0" y="115888"/>
            <a:ext cx="8208963" cy="865187"/>
          </a:xfrm>
        </p:spPr>
        <p:txBody>
          <a:bodyPr/>
          <a:lstStyle/>
          <a:p>
            <a:pPr algn="ctr" eaLnBrk="1" hangingPunct="1"/>
            <a:r>
              <a:rPr lang="en-GB" altLang="en-US" sz="3200" dirty="0" smtClean="0">
                <a:solidFill>
                  <a:schemeClr val="bg1"/>
                </a:solidFill>
                <a:latin typeface="Arial" charset="0"/>
              </a:rPr>
              <a:t>Initial Assessment</a:t>
            </a:r>
          </a:p>
        </p:txBody>
      </p:sp>
      <p:sp>
        <p:nvSpPr>
          <p:cNvPr id="20483" name="Rectangle 3"/>
          <p:cNvSpPr>
            <a:spLocks noGrp="1" noChangeArrowheads="1"/>
          </p:cNvSpPr>
          <p:nvPr>
            <p:ph type="body" idx="4294967295"/>
          </p:nvPr>
        </p:nvSpPr>
        <p:spPr>
          <a:xfrm>
            <a:off x="0" y="1131656"/>
            <a:ext cx="7200900" cy="4175125"/>
          </a:xfrm>
        </p:spPr>
        <p:txBody>
          <a:bodyPr>
            <a:normAutofit lnSpcReduction="10000"/>
          </a:bodyPr>
          <a:lstStyle/>
          <a:p>
            <a:pPr eaLnBrk="1" hangingPunct="1"/>
            <a:r>
              <a:rPr lang="en-GB" altLang="en-US" dirty="0" smtClean="0">
                <a:solidFill>
                  <a:schemeClr val="bg1"/>
                </a:solidFill>
              </a:rPr>
              <a:t>Use the ‘</a:t>
            </a:r>
            <a:r>
              <a:rPr lang="en-GB" altLang="en-US" b="1" dirty="0" smtClean="0">
                <a:solidFill>
                  <a:schemeClr val="bg1"/>
                </a:solidFill>
              </a:rPr>
              <a:t>100 high-frequency words in order’, </a:t>
            </a:r>
            <a:r>
              <a:rPr lang="en-GB" altLang="en-US" dirty="0" smtClean="0">
                <a:solidFill>
                  <a:schemeClr val="bg1"/>
                </a:solidFill>
              </a:rPr>
              <a:t>Copies of these are in your pack.</a:t>
            </a:r>
          </a:p>
          <a:p>
            <a:pPr eaLnBrk="1" hangingPunct="1"/>
            <a:r>
              <a:rPr lang="en-GB" altLang="en-US" dirty="0" smtClean="0">
                <a:solidFill>
                  <a:schemeClr val="bg1"/>
                </a:solidFill>
              </a:rPr>
              <a:t>Start at the beginning of the probe sheets and work your way through the pack. It is worthwhile giving easier probes even if you think the pupil is already competent in those skills as this confirms earlier skills and provides the pupil for a ‘warm-up’ opportunity.</a:t>
            </a:r>
          </a:p>
        </p:txBody>
      </p:sp>
    </p:spTree>
    <p:extLst>
      <p:ext uri="{BB962C8B-B14F-4D97-AF65-F5344CB8AC3E}">
        <p14:creationId xmlns:p14="http://schemas.microsoft.com/office/powerpoint/2010/main" val="346188091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idx="4294967295"/>
          </p:nvPr>
        </p:nvSpPr>
        <p:spPr>
          <a:xfrm>
            <a:off x="472938" y="260350"/>
            <a:ext cx="7772400" cy="1143000"/>
          </a:xfrm>
        </p:spPr>
        <p:txBody>
          <a:bodyPr/>
          <a:lstStyle/>
          <a:p>
            <a:pPr algn="ctr" eaLnBrk="1" hangingPunct="1"/>
            <a:r>
              <a:rPr lang="en-GB" altLang="en-US" sz="3200" dirty="0" smtClean="0">
                <a:solidFill>
                  <a:schemeClr val="bg1"/>
                </a:solidFill>
                <a:latin typeface="Arial" charset="0"/>
              </a:rPr>
              <a:t>Initial Assessment</a:t>
            </a:r>
          </a:p>
        </p:txBody>
      </p:sp>
      <p:sp>
        <p:nvSpPr>
          <p:cNvPr id="18435" name="Rectangle 3"/>
          <p:cNvSpPr>
            <a:spLocks noGrp="1" noChangeArrowheads="1"/>
          </p:cNvSpPr>
          <p:nvPr>
            <p:ph type="body" idx="4294967295"/>
          </p:nvPr>
        </p:nvSpPr>
        <p:spPr>
          <a:xfrm>
            <a:off x="0" y="1628775"/>
            <a:ext cx="7127875" cy="4305300"/>
          </a:xfrm>
        </p:spPr>
        <p:txBody>
          <a:bodyPr>
            <a:normAutofit fontScale="92500" lnSpcReduction="20000"/>
          </a:bodyPr>
          <a:lstStyle/>
          <a:p>
            <a:pPr eaLnBrk="1" hangingPunct="1"/>
            <a:r>
              <a:rPr lang="en-GB" altLang="en-US" dirty="0" smtClean="0">
                <a:solidFill>
                  <a:schemeClr val="bg1"/>
                </a:solidFill>
              </a:rPr>
              <a:t>Tell the child you are going to show him/her a grid of words which you want them to read out loud to you, once you say “start”.</a:t>
            </a:r>
          </a:p>
          <a:p>
            <a:pPr eaLnBrk="1" hangingPunct="1"/>
            <a:r>
              <a:rPr lang="en-GB" altLang="en-US" dirty="0" smtClean="0">
                <a:solidFill>
                  <a:schemeClr val="bg1"/>
                </a:solidFill>
              </a:rPr>
              <a:t>Use a 1 minute </a:t>
            </a:r>
            <a:r>
              <a:rPr lang="en-GB" altLang="en-US" dirty="0" err="1" smtClean="0">
                <a:solidFill>
                  <a:schemeClr val="bg1"/>
                </a:solidFill>
              </a:rPr>
              <a:t>sandtimer</a:t>
            </a:r>
            <a:r>
              <a:rPr lang="en-GB" altLang="en-US" dirty="0" smtClean="0">
                <a:solidFill>
                  <a:schemeClr val="bg1"/>
                </a:solidFill>
              </a:rPr>
              <a:t> or </a:t>
            </a:r>
            <a:r>
              <a:rPr lang="en-GB" altLang="en-US" dirty="0" err="1" smtClean="0">
                <a:solidFill>
                  <a:schemeClr val="bg1"/>
                </a:solidFill>
              </a:rPr>
              <a:t>stopclock</a:t>
            </a:r>
            <a:r>
              <a:rPr lang="en-GB" altLang="en-US" dirty="0" smtClean="0">
                <a:solidFill>
                  <a:schemeClr val="bg1"/>
                </a:solidFill>
              </a:rPr>
              <a:t> counting down from 60 seconds to tell you when the 1 minute probe is up</a:t>
            </a:r>
          </a:p>
          <a:p>
            <a:pPr eaLnBrk="1" hangingPunct="1"/>
            <a:r>
              <a:rPr lang="en-GB" altLang="en-US" dirty="0" smtClean="0">
                <a:solidFill>
                  <a:schemeClr val="bg1"/>
                </a:solidFill>
              </a:rPr>
              <a:t>Keep a note of right/wrong responses as the child reads, but do not correct or help the child</a:t>
            </a:r>
          </a:p>
          <a:p>
            <a:pPr eaLnBrk="1" hangingPunct="1"/>
            <a:endParaRPr lang="en-GB" altLang="en-US" dirty="0" smtClean="0"/>
          </a:p>
        </p:txBody>
      </p:sp>
    </p:spTree>
    <p:extLst>
      <p:ext uri="{BB962C8B-B14F-4D97-AF65-F5344CB8AC3E}">
        <p14:creationId xmlns:p14="http://schemas.microsoft.com/office/powerpoint/2010/main" val="245552323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idx="4294967295"/>
          </p:nvPr>
        </p:nvSpPr>
        <p:spPr>
          <a:xfrm>
            <a:off x="0" y="115888"/>
            <a:ext cx="8208963" cy="865187"/>
          </a:xfrm>
        </p:spPr>
        <p:txBody>
          <a:bodyPr/>
          <a:lstStyle/>
          <a:p>
            <a:pPr algn="ctr" eaLnBrk="1" hangingPunct="1"/>
            <a:r>
              <a:rPr lang="en-GB" altLang="en-US" sz="3200" dirty="0" smtClean="0">
                <a:solidFill>
                  <a:schemeClr val="bg1"/>
                </a:solidFill>
                <a:latin typeface="Arial" charset="0"/>
              </a:rPr>
              <a:t>Initial Assessment</a:t>
            </a:r>
          </a:p>
        </p:txBody>
      </p:sp>
      <p:sp>
        <p:nvSpPr>
          <p:cNvPr id="19459" name="Rectangle 3"/>
          <p:cNvSpPr>
            <a:spLocks noGrp="1" noChangeArrowheads="1"/>
          </p:cNvSpPr>
          <p:nvPr>
            <p:ph type="body" idx="4294967295"/>
          </p:nvPr>
        </p:nvSpPr>
        <p:spPr>
          <a:xfrm>
            <a:off x="0" y="964144"/>
            <a:ext cx="7272338" cy="4737100"/>
          </a:xfrm>
        </p:spPr>
        <p:txBody>
          <a:bodyPr/>
          <a:lstStyle/>
          <a:p>
            <a:pPr eaLnBrk="1" hangingPunct="1">
              <a:lnSpc>
                <a:spcPct val="90000"/>
              </a:lnSpc>
            </a:pPr>
            <a:r>
              <a:rPr lang="en-GB" altLang="en-US" dirty="0" smtClean="0">
                <a:solidFill>
                  <a:schemeClr val="bg1"/>
                </a:solidFill>
              </a:rPr>
              <a:t>When the </a:t>
            </a:r>
            <a:r>
              <a:rPr lang="en-GB" altLang="en-US" dirty="0" err="1" smtClean="0">
                <a:solidFill>
                  <a:schemeClr val="bg1"/>
                </a:solidFill>
              </a:rPr>
              <a:t>sandtimer</a:t>
            </a:r>
            <a:r>
              <a:rPr lang="en-GB" altLang="en-US" dirty="0" smtClean="0">
                <a:solidFill>
                  <a:schemeClr val="bg1"/>
                </a:solidFill>
              </a:rPr>
              <a:t> finishes/</a:t>
            </a:r>
            <a:r>
              <a:rPr lang="en-GB" altLang="en-US" dirty="0" err="1" smtClean="0">
                <a:solidFill>
                  <a:schemeClr val="bg1"/>
                </a:solidFill>
              </a:rPr>
              <a:t>stopclock</a:t>
            </a:r>
            <a:r>
              <a:rPr lang="en-GB" altLang="en-US" dirty="0" smtClean="0">
                <a:solidFill>
                  <a:schemeClr val="bg1"/>
                </a:solidFill>
              </a:rPr>
              <a:t> beeps, stop the child, thank them, and share how they did.</a:t>
            </a:r>
          </a:p>
          <a:p>
            <a:pPr eaLnBrk="1" hangingPunct="1">
              <a:lnSpc>
                <a:spcPct val="90000"/>
              </a:lnSpc>
            </a:pPr>
            <a:r>
              <a:rPr lang="en-GB" altLang="en-US" dirty="0" smtClean="0">
                <a:solidFill>
                  <a:schemeClr val="bg1"/>
                </a:solidFill>
              </a:rPr>
              <a:t>On your chart, note the probe given, put in the number of correct/incorrect responses the child gives, and make a note of specific problem words.</a:t>
            </a:r>
          </a:p>
          <a:p>
            <a:pPr eaLnBrk="1" hangingPunct="1">
              <a:lnSpc>
                <a:spcPct val="90000"/>
              </a:lnSpc>
            </a:pPr>
            <a:r>
              <a:rPr lang="en-GB" altLang="en-US" dirty="0" smtClean="0">
                <a:solidFill>
                  <a:schemeClr val="bg1"/>
                </a:solidFill>
              </a:rPr>
              <a:t>Stop when the pupil shows more errors than correct responses or earlier if failure is becoming obvious.</a:t>
            </a:r>
          </a:p>
        </p:txBody>
      </p:sp>
    </p:spTree>
    <p:extLst>
      <p:ext uri="{BB962C8B-B14F-4D97-AF65-F5344CB8AC3E}">
        <p14:creationId xmlns:p14="http://schemas.microsoft.com/office/powerpoint/2010/main" val="214842044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idx="4294967295"/>
          </p:nvPr>
        </p:nvSpPr>
        <p:spPr>
          <a:xfrm>
            <a:off x="94303" y="273548"/>
            <a:ext cx="8497887" cy="792162"/>
          </a:xfrm>
        </p:spPr>
        <p:txBody>
          <a:bodyPr/>
          <a:lstStyle/>
          <a:p>
            <a:pPr algn="ctr" eaLnBrk="1" hangingPunct="1"/>
            <a:r>
              <a:rPr lang="en-GB" altLang="en-US" sz="3200" dirty="0" smtClean="0">
                <a:solidFill>
                  <a:schemeClr val="bg1"/>
                </a:solidFill>
                <a:latin typeface="Arial" charset="0"/>
              </a:rPr>
              <a:t>Initial Assessment</a:t>
            </a:r>
          </a:p>
        </p:txBody>
      </p:sp>
      <p:sp>
        <p:nvSpPr>
          <p:cNvPr id="21507" name="Rectangle 3"/>
          <p:cNvSpPr>
            <a:spLocks noGrp="1" noChangeArrowheads="1"/>
          </p:cNvSpPr>
          <p:nvPr>
            <p:ph type="body" idx="4294967295"/>
          </p:nvPr>
        </p:nvSpPr>
        <p:spPr>
          <a:xfrm>
            <a:off x="0" y="1484313"/>
            <a:ext cx="7488238" cy="3529012"/>
          </a:xfrm>
        </p:spPr>
        <p:txBody>
          <a:bodyPr/>
          <a:lstStyle/>
          <a:p>
            <a:pPr eaLnBrk="1" hangingPunct="1"/>
            <a:r>
              <a:rPr lang="en-GB" altLang="en-US" dirty="0" smtClean="0">
                <a:solidFill>
                  <a:schemeClr val="bg1"/>
                </a:solidFill>
              </a:rPr>
              <a:t>Remember to record your results for each probe sheet administered on the summary sheet in your pack.</a:t>
            </a:r>
          </a:p>
        </p:txBody>
      </p:sp>
    </p:spTree>
    <p:extLst>
      <p:ext uri="{BB962C8B-B14F-4D97-AF65-F5344CB8AC3E}">
        <p14:creationId xmlns:p14="http://schemas.microsoft.com/office/powerpoint/2010/main" val="296586274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idx="4294967295"/>
          </p:nvPr>
        </p:nvSpPr>
        <p:spPr>
          <a:xfrm>
            <a:off x="0" y="188913"/>
            <a:ext cx="7772400" cy="1143000"/>
          </a:xfrm>
        </p:spPr>
        <p:txBody>
          <a:bodyPr>
            <a:normAutofit/>
          </a:bodyPr>
          <a:lstStyle/>
          <a:p>
            <a:pPr eaLnBrk="1" fontAlgn="auto" hangingPunct="1">
              <a:spcAft>
                <a:spcPts val="0"/>
              </a:spcAft>
              <a:defRPr/>
            </a:pPr>
            <a:r>
              <a:rPr lang="en-GB" altLang="en-US" sz="4000" b="1" dirty="0" smtClean="0">
                <a:solidFill>
                  <a:schemeClr val="bg1"/>
                </a:solidFill>
              </a:rPr>
              <a:t>Step 2</a:t>
            </a:r>
            <a:r>
              <a:rPr lang="en-GB" altLang="en-US" sz="4000" dirty="0" smtClean="0">
                <a:solidFill>
                  <a:schemeClr val="bg1"/>
                </a:solidFill>
              </a:rPr>
              <a:t> </a:t>
            </a:r>
            <a:r>
              <a:rPr lang="en-GB" altLang="en-US" sz="4000" b="1" dirty="0" smtClean="0">
                <a:solidFill>
                  <a:schemeClr val="bg1"/>
                </a:solidFill>
              </a:rPr>
              <a:t>-</a:t>
            </a:r>
            <a:r>
              <a:rPr lang="en-GB" altLang="en-US" sz="4000" dirty="0" smtClean="0">
                <a:solidFill>
                  <a:schemeClr val="bg1"/>
                </a:solidFill>
              </a:rPr>
              <a:t> Setting a Target</a:t>
            </a:r>
          </a:p>
        </p:txBody>
      </p:sp>
      <p:sp>
        <p:nvSpPr>
          <p:cNvPr id="12291" name="Content Placeholder 4"/>
          <p:cNvSpPr>
            <a:spLocks noGrp="1"/>
          </p:cNvSpPr>
          <p:nvPr>
            <p:ph idx="4294967295"/>
          </p:nvPr>
        </p:nvSpPr>
        <p:spPr>
          <a:xfrm>
            <a:off x="0" y="2133600"/>
            <a:ext cx="3527425" cy="3467100"/>
          </a:xfrm>
        </p:spPr>
        <p:txBody>
          <a:bodyPr/>
          <a:lstStyle/>
          <a:p>
            <a:pPr eaLnBrk="1" hangingPunct="1"/>
            <a:r>
              <a:rPr lang="en-GB" altLang="en-US" b="1" dirty="0" smtClean="0">
                <a:solidFill>
                  <a:schemeClr val="bg1"/>
                </a:solidFill>
              </a:rPr>
              <a:t>S</a:t>
            </a:r>
            <a:r>
              <a:rPr lang="en-GB" altLang="en-US" dirty="0" smtClean="0">
                <a:solidFill>
                  <a:schemeClr val="bg1"/>
                </a:solidFill>
              </a:rPr>
              <a:t>pecific</a:t>
            </a:r>
          </a:p>
          <a:p>
            <a:pPr eaLnBrk="1" hangingPunct="1"/>
            <a:r>
              <a:rPr lang="en-GB" altLang="en-US" b="1" dirty="0" smtClean="0">
                <a:solidFill>
                  <a:schemeClr val="bg1"/>
                </a:solidFill>
              </a:rPr>
              <a:t>M</a:t>
            </a:r>
            <a:r>
              <a:rPr lang="en-GB" altLang="en-US" dirty="0" smtClean="0">
                <a:solidFill>
                  <a:schemeClr val="bg1"/>
                </a:solidFill>
              </a:rPr>
              <a:t>easurable</a:t>
            </a:r>
          </a:p>
          <a:p>
            <a:pPr eaLnBrk="1" hangingPunct="1"/>
            <a:r>
              <a:rPr lang="en-GB" altLang="en-US" b="1" dirty="0" smtClean="0">
                <a:solidFill>
                  <a:schemeClr val="bg1"/>
                </a:solidFill>
              </a:rPr>
              <a:t>A</a:t>
            </a:r>
            <a:r>
              <a:rPr lang="en-GB" altLang="en-US" dirty="0" smtClean="0">
                <a:solidFill>
                  <a:schemeClr val="bg1"/>
                </a:solidFill>
              </a:rPr>
              <a:t>greed</a:t>
            </a:r>
          </a:p>
          <a:p>
            <a:pPr eaLnBrk="1" hangingPunct="1"/>
            <a:r>
              <a:rPr lang="en-GB" altLang="en-US" b="1" dirty="0" smtClean="0">
                <a:solidFill>
                  <a:schemeClr val="bg1"/>
                </a:solidFill>
              </a:rPr>
              <a:t>R</a:t>
            </a:r>
            <a:r>
              <a:rPr lang="en-GB" altLang="en-US" dirty="0" smtClean="0">
                <a:solidFill>
                  <a:schemeClr val="bg1"/>
                </a:solidFill>
              </a:rPr>
              <a:t>ealistic</a:t>
            </a:r>
          </a:p>
          <a:p>
            <a:pPr eaLnBrk="1" hangingPunct="1"/>
            <a:r>
              <a:rPr lang="en-GB" altLang="en-US" b="1" dirty="0" smtClean="0">
                <a:solidFill>
                  <a:schemeClr val="bg1"/>
                </a:solidFill>
              </a:rPr>
              <a:t>T</a:t>
            </a:r>
            <a:r>
              <a:rPr lang="en-GB" altLang="en-US" dirty="0" smtClean="0">
                <a:solidFill>
                  <a:schemeClr val="bg1"/>
                </a:solidFill>
              </a:rPr>
              <a:t>ime bound</a:t>
            </a:r>
          </a:p>
        </p:txBody>
      </p:sp>
      <p:grpSp>
        <p:nvGrpSpPr>
          <p:cNvPr id="12292" name="Group 4"/>
          <p:cNvGrpSpPr>
            <a:grpSpLocks noGrp="1"/>
          </p:cNvGrpSpPr>
          <p:nvPr/>
        </p:nvGrpSpPr>
        <p:grpSpPr bwMode="auto">
          <a:xfrm>
            <a:off x="4932363" y="1700213"/>
            <a:ext cx="3573462" cy="3536950"/>
            <a:chOff x="2304" y="858"/>
            <a:chExt cx="3024" cy="3181"/>
          </a:xfrm>
        </p:grpSpPr>
        <p:sp>
          <p:nvSpPr>
            <p:cNvPr id="12294" name="Oval 5"/>
            <p:cNvSpPr>
              <a:spLocks noChangeArrowheads="1"/>
            </p:cNvSpPr>
            <p:nvPr/>
          </p:nvSpPr>
          <p:spPr bwMode="auto">
            <a:xfrm>
              <a:off x="2304" y="912"/>
              <a:ext cx="3024" cy="3024"/>
            </a:xfrm>
            <a:prstGeom prst="ellipse">
              <a:avLst/>
            </a:prstGeom>
            <a:solidFill>
              <a:srgbClr val="66CCFF"/>
            </a:solidFill>
            <a:ln w="9525">
              <a:solidFill>
                <a:srgbClr val="66CCFF"/>
              </a:solidFill>
              <a:round/>
              <a:headEnd/>
              <a:tailEnd/>
            </a:ln>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GB" altLang="en-US" sz="1800">
                <a:latin typeface="Calibri" pitchFamily="34" charset="0"/>
              </a:endParaRPr>
            </a:p>
          </p:txBody>
        </p:sp>
        <p:sp>
          <p:nvSpPr>
            <p:cNvPr id="12295" name="Oval 6"/>
            <p:cNvSpPr>
              <a:spLocks noChangeArrowheads="1"/>
            </p:cNvSpPr>
            <p:nvPr/>
          </p:nvSpPr>
          <p:spPr bwMode="auto">
            <a:xfrm>
              <a:off x="2832" y="1440"/>
              <a:ext cx="1968" cy="1968"/>
            </a:xfrm>
            <a:prstGeom prst="ellipse">
              <a:avLst/>
            </a:prstGeom>
            <a:solidFill>
              <a:srgbClr val="FF0000"/>
            </a:solidFill>
            <a:ln w="9525">
              <a:solidFill>
                <a:srgbClr val="FF0000"/>
              </a:solidFill>
              <a:round/>
              <a:headEnd/>
              <a:tailEnd/>
            </a:ln>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GB" altLang="en-US" sz="1800">
                <a:latin typeface="Calibri" pitchFamily="34" charset="0"/>
              </a:endParaRPr>
            </a:p>
          </p:txBody>
        </p:sp>
        <p:sp>
          <p:nvSpPr>
            <p:cNvPr id="12296" name="Oval 7"/>
            <p:cNvSpPr>
              <a:spLocks noChangeArrowheads="1"/>
            </p:cNvSpPr>
            <p:nvPr/>
          </p:nvSpPr>
          <p:spPr bwMode="auto">
            <a:xfrm>
              <a:off x="3360" y="1968"/>
              <a:ext cx="912" cy="912"/>
            </a:xfrm>
            <a:prstGeom prst="ellipse">
              <a:avLst/>
            </a:prstGeom>
            <a:solidFill>
              <a:schemeClr val="bg1"/>
            </a:solidFill>
            <a:ln w="9525">
              <a:solidFill>
                <a:schemeClr val="bg1"/>
              </a:solidFill>
              <a:round/>
              <a:headEnd/>
              <a:tailEnd/>
            </a:ln>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GB" altLang="en-US" sz="1800">
                <a:latin typeface="Calibri" pitchFamily="34" charset="0"/>
              </a:endParaRPr>
            </a:p>
          </p:txBody>
        </p:sp>
        <p:sp>
          <p:nvSpPr>
            <p:cNvPr id="12297" name="Text Box 8"/>
            <p:cNvSpPr txBox="1">
              <a:spLocks noChangeArrowheads="1"/>
            </p:cNvSpPr>
            <p:nvPr/>
          </p:nvSpPr>
          <p:spPr bwMode="auto">
            <a:xfrm>
              <a:off x="3575" y="858"/>
              <a:ext cx="471" cy="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GB" altLang="en-US" sz="4400" b="1">
                  <a:solidFill>
                    <a:srgbClr val="000066"/>
                  </a:solidFill>
                  <a:latin typeface="Arial" pitchFamily="34" charset="0"/>
                </a:rPr>
                <a:t>S</a:t>
              </a:r>
            </a:p>
          </p:txBody>
        </p:sp>
        <p:sp>
          <p:nvSpPr>
            <p:cNvPr id="12298" name="Text Box 9"/>
            <p:cNvSpPr txBox="1">
              <a:spLocks noChangeArrowheads="1"/>
            </p:cNvSpPr>
            <p:nvPr/>
          </p:nvSpPr>
          <p:spPr bwMode="auto">
            <a:xfrm>
              <a:off x="3548" y="1386"/>
              <a:ext cx="549" cy="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GB" altLang="en-US" sz="4400" b="1">
                  <a:solidFill>
                    <a:srgbClr val="000066"/>
                  </a:solidFill>
                  <a:latin typeface="Arial" pitchFamily="34" charset="0"/>
                </a:rPr>
                <a:t>M</a:t>
              </a:r>
            </a:p>
          </p:txBody>
        </p:sp>
        <p:sp>
          <p:nvSpPr>
            <p:cNvPr id="12299" name="Text Box 10"/>
            <p:cNvSpPr txBox="1">
              <a:spLocks noChangeArrowheads="1"/>
            </p:cNvSpPr>
            <p:nvPr/>
          </p:nvSpPr>
          <p:spPr bwMode="auto">
            <a:xfrm>
              <a:off x="3575" y="2059"/>
              <a:ext cx="497" cy="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GB" altLang="en-US" sz="4400" b="1">
                  <a:solidFill>
                    <a:srgbClr val="000066"/>
                  </a:solidFill>
                  <a:latin typeface="Arial" pitchFamily="34" charset="0"/>
                </a:rPr>
                <a:t>A</a:t>
              </a:r>
            </a:p>
          </p:txBody>
        </p:sp>
        <p:sp>
          <p:nvSpPr>
            <p:cNvPr id="12300" name="Text Box 11"/>
            <p:cNvSpPr txBox="1">
              <a:spLocks noChangeArrowheads="1"/>
            </p:cNvSpPr>
            <p:nvPr/>
          </p:nvSpPr>
          <p:spPr bwMode="auto">
            <a:xfrm>
              <a:off x="3575" y="2778"/>
              <a:ext cx="497" cy="6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GB" altLang="en-US" sz="4400" b="1">
                  <a:solidFill>
                    <a:srgbClr val="000066"/>
                  </a:solidFill>
                  <a:latin typeface="Arial" pitchFamily="34" charset="0"/>
                </a:rPr>
                <a:t>R</a:t>
              </a:r>
            </a:p>
          </p:txBody>
        </p:sp>
        <p:sp>
          <p:nvSpPr>
            <p:cNvPr id="12301" name="Text Box 12"/>
            <p:cNvSpPr txBox="1">
              <a:spLocks noChangeArrowheads="1"/>
            </p:cNvSpPr>
            <p:nvPr/>
          </p:nvSpPr>
          <p:spPr bwMode="auto">
            <a:xfrm>
              <a:off x="3603" y="3354"/>
              <a:ext cx="445" cy="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GB" altLang="en-US" sz="4400" b="1">
                  <a:solidFill>
                    <a:srgbClr val="000066"/>
                  </a:solidFill>
                  <a:latin typeface="Arial" pitchFamily="34" charset="0"/>
                </a:rPr>
                <a:t>T</a:t>
              </a:r>
            </a:p>
          </p:txBody>
        </p:sp>
      </p:grpSp>
      <p:sp>
        <p:nvSpPr>
          <p:cNvPr id="12293" name="Text Placeholder 15"/>
          <p:cNvSpPr>
            <a:spLocks/>
          </p:cNvSpPr>
          <p:nvPr/>
        </p:nvSpPr>
        <p:spPr bwMode="auto">
          <a:xfrm>
            <a:off x="323850" y="1484313"/>
            <a:ext cx="4040188"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spcBef>
                <a:spcPct val="20000"/>
              </a:spcBef>
            </a:pPr>
            <a:r>
              <a:rPr lang="en-GB" altLang="en-US" sz="3200" b="1" dirty="0">
                <a:solidFill>
                  <a:schemeClr val="bg1"/>
                </a:solidFill>
                <a:latin typeface="Arial" pitchFamily="34" charset="0"/>
              </a:rPr>
              <a:t>SMART TARGETS</a:t>
            </a:r>
          </a:p>
        </p:txBody>
      </p:sp>
    </p:spTree>
    <p:extLst>
      <p:ext uri="{BB962C8B-B14F-4D97-AF65-F5344CB8AC3E}">
        <p14:creationId xmlns:p14="http://schemas.microsoft.com/office/powerpoint/2010/main" val="425947087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idx="4294967295"/>
          </p:nvPr>
        </p:nvSpPr>
        <p:spPr>
          <a:xfrm>
            <a:off x="0" y="188913"/>
            <a:ext cx="7772400" cy="1143000"/>
          </a:xfrm>
        </p:spPr>
        <p:txBody>
          <a:bodyPr/>
          <a:lstStyle/>
          <a:p>
            <a:pPr algn="ctr" eaLnBrk="1" fontAlgn="auto" hangingPunct="1">
              <a:spcAft>
                <a:spcPts val="0"/>
              </a:spcAft>
              <a:defRPr/>
            </a:pPr>
            <a:r>
              <a:rPr lang="en-GB" altLang="en-US" sz="3200" dirty="0" smtClean="0">
                <a:solidFill>
                  <a:schemeClr val="bg1"/>
                </a:solidFill>
              </a:rPr>
              <a:t>2. Targets</a:t>
            </a:r>
          </a:p>
        </p:txBody>
      </p:sp>
      <p:sp>
        <p:nvSpPr>
          <p:cNvPr id="13315" name="Content Placeholder 2"/>
          <p:cNvSpPr>
            <a:spLocks noGrp="1"/>
          </p:cNvSpPr>
          <p:nvPr>
            <p:ph idx="4294967295"/>
          </p:nvPr>
        </p:nvSpPr>
        <p:spPr>
          <a:xfrm>
            <a:off x="935038" y="1125538"/>
            <a:ext cx="8208962" cy="4967287"/>
          </a:xfrm>
        </p:spPr>
        <p:txBody>
          <a:bodyPr/>
          <a:lstStyle/>
          <a:p>
            <a:pPr eaLnBrk="1" hangingPunct="1">
              <a:buFontTx/>
              <a:buNone/>
            </a:pPr>
            <a:r>
              <a:rPr lang="en-GB" altLang="en-US" dirty="0" smtClean="0">
                <a:solidFill>
                  <a:schemeClr val="bg1"/>
                </a:solidFill>
              </a:rPr>
              <a:t>Target needs to contain three essential components:</a:t>
            </a:r>
          </a:p>
          <a:p>
            <a:pPr lvl="1" eaLnBrk="1" hangingPunct="1"/>
            <a:r>
              <a:rPr lang="en-GB" altLang="en-US" sz="2400" dirty="0" smtClean="0">
                <a:solidFill>
                  <a:schemeClr val="bg1"/>
                </a:solidFill>
              </a:rPr>
              <a:t>Observable verb  </a:t>
            </a:r>
          </a:p>
          <a:p>
            <a:pPr lvl="1" eaLnBrk="1" hangingPunct="1">
              <a:buFontTx/>
              <a:buNone/>
            </a:pPr>
            <a:r>
              <a:rPr lang="en-GB" altLang="en-US" sz="2400" dirty="0" smtClean="0">
                <a:solidFill>
                  <a:schemeClr val="bg1"/>
                </a:solidFill>
              </a:rPr>
              <a:t>(</a:t>
            </a:r>
            <a:r>
              <a:rPr lang="en-GB" altLang="en-US" sz="2400" dirty="0" err="1" smtClean="0">
                <a:solidFill>
                  <a:schemeClr val="bg1"/>
                </a:solidFill>
              </a:rPr>
              <a:t>ie</a:t>
            </a:r>
            <a:r>
              <a:rPr lang="en-GB" altLang="en-US" sz="2400" dirty="0" smtClean="0">
                <a:solidFill>
                  <a:schemeClr val="bg1"/>
                </a:solidFill>
              </a:rPr>
              <a:t>. what the child will do)</a:t>
            </a:r>
          </a:p>
          <a:p>
            <a:pPr lvl="1" eaLnBrk="1" hangingPunct="1">
              <a:buFontTx/>
              <a:buNone/>
            </a:pPr>
            <a:endParaRPr lang="en-GB" altLang="en-US" sz="2400" dirty="0" smtClean="0">
              <a:solidFill>
                <a:schemeClr val="bg1"/>
              </a:solidFill>
            </a:endParaRPr>
          </a:p>
          <a:p>
            <a:pPr lvl="1" eaLnBrk="1" hangingPunct="1"/>
            <a:r>
              <a:rPr lang="en-GB" altLang="en-US" sz="2400" dirty="0" smtClean="0">
                <a:solidFill>
                  <a:schemeClr val="bg1"/>
                </a:solidFill>
              </a:rPr>
              <a:t>Conditions </a:t>
            </a:r>
          </a:p>
          <a:p>
            <a:pPr lvl="1" eaLnBrk="1" hangingPunct="1">
              <a:buFontTx/>
              <a:buNone/>
            </a:pPr>
            <a:r>
              <a:rPr lang="en-GB" altLang="en-US" sz="2400" dirty="0" smtClean="0">
                <a:solidFill>
                  <a:schemeClr val="bg1"/>
                </a:solidFill>
              </a:rPr>
              <a:t>(e.g. teaching materials or teacher instructions)</a:t>
            </a:r>
          </a:p>
          <a:p>
            <a:pPr lvl="1" eaLnBrk="1" hangingPunct="1">
              <a:buFontTx/>
              <a:buNone/>
            </a:pPr>
            <a:endParaRPr lang="en-GB" altLang="en-US" sz="2400" dirty="0" smtClean="0">
              <a:solidFill>
                <a:schemeClr val="bg1"/>
              </a:solidFill>
            </a:endParaRPr>
          </a:p>
          <a:p>
            <a:pPr lvl="1" eaLnBrk="1" hangingPunct="1"/>
            <a:r>
              <a:rPr lang="en-GB" altLang="en-US" sz="2400" dirty="0" smtClean="0">
                <a:solidFill>
                  <a:schemeClr val="bg1"/>
                </a:solidFill>
              </a:rPr>
              <a:t>Criterion </a:t>
            </a:r>
          </a:p>
          <a:p>
            <a:pPr lvl="1" eaLnBrk="1" hangingPunct="1">
              <a:buFontTx/>
              <a:buNone/>
            </a:pPr>
            <a:r>
              <a:rPr lang="en-GB" altLang="en-US" sz="2400" dirty="0" smtClean="0">
                <a:solidFill>
                  <a:schemeClr val="bg1"/>
                </a:solidFill>
              </a:rPr>
              <a:t>(success criteria – how will we know it’s been successful?)</a:t>
            </a:r>
          </a:p>
        </p:txBody>
      </p:sp>
    </p:spTree>
    <p:extLst>
      <p:ext uri="{BB962C8B-B14F-4D97-AF65-F5344CB8AC3E}">
        <p14:creationId xmlns:p14="http://schemas.microsoft.com/office/powerpoint/2010/main" val="338192254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idx="4294967295"/>
          </p:nvPr>
        </p:nvSpPr>
        <p:spPr>
          <a:xfrm>
            <a:off x="0" y="188913"/>
            <a:ext cx="7772400" cy="1143000"/>
          </a:xfrm>
        </p:spPr>
        <p:txBody>
          <a:bodyPr/>
          <a:lstStyle/>
          <a:p>
            <a:pPr algn="ctr" eaLnBrk="1" fontAlgn="auto" hangingPunct="1">
              <a:spcAft>
                <a:spcPts val="0"/>
              </a:spcAft>
              <a:defRPr/>
            </a:pPr>
            <a:r>
              <a:rPr lang="en-GB" altLang="en-US" sz="3200" dirty="0" smtClean="0">
                <a:solidFill>
                  <a:schemeClr val="bg1"/>
                </a:solidFill>
              </a:rPr>
              <a:t>2. Targets</a:t>
            </a:r>
          </a:p>
        </p:txBody>
      </p:sp>
      <p:sp>
        <p:nvSpPr>
          <p:cNvPr id="14339" name="Rectangle 3"/>
          <p:cNvSpPr>
            <a:spLocks noGrp="1" noChangeArrowheads="1"/>
          </p:cNvSpPr>
          <p:nvPr>
            <p:ph idx="4294967295"/>
          </p:nvPr>
        </p:nvSpPr>
        <p:spPr>
          <a:xfrm>
            <a:off x="0" y="1628775"/>
            <a:ext cx="7772400" cy="4114800"/>
          </a:xfrm>
        </p:spPr>
        <p:txBody>
          <a:bodyPr/>
          <a:lstStyle/>
          <a:p>
            <a:pPr eaLnBrk="1" hangingPunct="1">
              <a:buFontTx/>
              <a:buNone/>
            </a:pPr>
            <a:r>
              <a:rPr lang="en-GB" altLang="en-US" sz="2800" dirty="0" smtClean="0">
                <a:solidFill>
                  <a:schemeClr val="bg1"/>
                </a:solidFill>
              </a:rPr>
              <a:t>E.g.</a:t>
            </a:r>
          </a:p>
          <a:p>
            <a:pPr eaLnBrk="1" hangingPunct="1">
              <a:buFontTx/>
              <a:buNone/>
            </a:pPr>
            <a:r>
              <a:rPr lang="en-GB" altLang="en-US" sz="2800" dirty="0" smtClean="0">
                <a:solidFill>
                  <a:schemeClr val="bg1"/>
                </a:solidFill>
              </a:rPr>
              <a:t>“Scott will read aloud </a:t>
            </a:r>
            <a:r>
              <a:rPr lang="en-GB" altLang="en-US" sz="2800" i="1" dirty="0" smtClean="0">
                <a:solidFill>
                  <a:schemeClr val="bg1"/>
                </a:solidFill>
              </a:rPr>
              <a:t>(observable verb)</a:t>
            </a:r>
            <a:r>
              <a:rPr lang="en-GB" altLang="en-US" sz="2800" dirty="0" smtClean="0">
                <a:solidFill>
                  <a:schemeClr val="bg1"/>
                </a:solidFill>
              </a:rPr>
              <a:t> 50 words per minute with no more than 2 errors </a:t>
            </a:r>
            <a:r>
              <a:rPr lang="en-GB" altLang="en-US" sz="2800" i="1" dirty="0" smtClean="0">
                <a:solidFill>
                  <a:schemeClr val="bg1"/>
                </a:solidFill>
              </a:rPr>
              <a:t>(conditions)</a:t>
            </a:r>
            <a:r>
              <a:rPr lang="en-GB" altLang="en-US" sz="2800" dirty="0" smtClean="0">
                <a:solidFill>
                  <a:schemeClr val="bg1"/>
                </a:solidFill>
              </a:rPr>
              <a:t> on three consecutive days </a:t>
            </a:r>
            <a:r>
              <a:rPr lang="en-GB" altLang="en-US" sz="2800" i="1" dirty="0" smtClean="0">
                <a:solidFill>
                  <a:schemeClr val="bg1"/>
                </a:solidFill>
              </a:rPr>
              <a:t>(criterion).</a:t>
            </a:r>
            <a:r>
              <a:rPr lang="en-GB" altLang="en-US" sz="2800" dirty="0" smtClean="0">
                <a:solidFill>
                  <a:schemeClr val="bg1"/>
                </a:solidFill>
              </a:rPr>
              <a:t>”</a:t>
            </a:r>
          </a:p>
          <a:p>
            <a:pPr eaLnBrk="1" hangingPunct="1">
              <a:buFontTx/>
              <a:buNone/>
            </a:pPr>
            <a:endParaRPr lang="en-GB" altLang="en-US" sz="1800" dirty="0" smtClean="0"/>
          </a:p>
        </p:txBody>
      </p:sp>
    </p:spTree>
    <p:extLst>
      <p:ext uri="{BB962C8B-B14F-4D97-AF65-F5344CB8AC3E}">
        <p14:creationId xmlns:p14="http://schemas.microsoft.com/office/powerpoint/2010/main" val="21915639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idx="4294967295"/>
          </p:nvPr>
        </p:nvSpPr>
        <p:spPr>
          <a:xfrm>
            <a:off x="0" y="176213"/>
            <a:ext cx="8353425" cy="1143000"/>
          </a:xfrm>
        </p:spPr>
        <p:txBody>
          <a:bodyPr/>
          <a:lstStyle/>
          <a:p>
            <a:pPr algn="ctr" eaLnBrk="1" fontAlgn="auto" hangingPunct="1">
              <a:spcAft>
                <a:spcPts val="0"/>
              </a:spcAft>
              <a:defRPr/>
            </a:pPr>
            <a:r>
              <a:rPr lang="en-GB" altLang="en-US" sz="3200" b="1" dirty="0" smtClean="0">
                <a:solidFill>
                  <a:schemeClr val="bg1"/>
                </a:solidFill>
              </a:rPr>
              <a:t>Step 3-</a:t>
            </a:r>
            <a:r>
              <a:rPr lang="en-GB" altLang="en-US" sz="3200" dirty="0" smtClean="0">
                <a:solidFill>
                  <a:schemeClr val="bg1"/>
                </a:solidFill>
              </a:rPr>
              <a:t> Teaching </a:t>
            </a:r>
            <a:br>
              <a:rPr lang="en-GB" altLang="en-US" sz="3200" dirty="0" smtClean="0">
                <a:solidFill>
                  <a:schemeClr val="bg1"/>
                </a:solidFill>
              </a:rPr>
            </a:br>
            <a:r>
              <a:rPr lang="en-GB" altLang="en-US" sz="3200" dirty="0" smtClean="0">
                <a:solidFill>
                  <a:schemeClr val="bg1"/>
                </a:solidFill>
              </a:rPr>
              <a:t>(Up to 10 mins per day)</a:t>
            </a:r>
          </a:p>
        </p:txBody>
      </p:sp>
      <p:sp>
        <p:nvSpPr>
          <p:cNvPr id="16387" name="Rectangle 3"/>
          <p:cNvSpPr>
            <a:spLocks noGrp="1" noChangeArrowheads="1"/>
          </p:cNvSpPr>
          <p:nvPr>
            <p:ph idx="4294967295"/>
          </p:nvPr>
        </p:nvSpPr>
        <p:spPr>
          <a:xfrm>
            <a:off x="0" y="1482499"/>
            <a:ext cx="8496300" cy="4114800"/>
          </a:xfrm>
        </p:spPr>
        <p:txBody>
          <a:bodyPr/>
          <a:lstStyle/>
          <a:p>
            <a:pPr marL="457200" indent="-457200" eaLnBrk="1" hangingPunct="1">
              <a:lnSpc>
                <a:spcPct val="80000"/>
              </a:lnSpc>
              <a:buFont typeface="+mj-lt"/>
              <a:buAutoNum type="arabicPeriod"/>
            </a:pPr>
            <a:r>
              <a:rPr lang="en-GB" altLang="en-US" dirty="0" smtClean="0">
                <a:solidFill>
                  <a:schemeClr val="bg1"/>
                </a:solidFill>
              </a:rPr>
              <a:t>Choose up to three words the child struggled with from your baseline assessment (NB: the number of words chosen to focus on may vary according to child’s difficulties).</a:t>
            </a:r>
          </a:p>
          <a:p>
            <a:pPr marL="457200" indent="-457200" eaLnBrk="1" hangingPunct="1">
              <a:lnSpc>
                <a:spcPct val="80000"/>
              </a:lnSpc>
              <a:buFont typeface="+mj-lt"/>
              <a:buAutoNum type="arabicPeriod"/>
            </a:pPr>
            <a:endParaRPr lang="en-GB" altLang="en-US" dirty="0" smtClean="0">
              <a:solidFill>
                <a:schemeClr val="bg1"/>
              </a:solidFill>
            </a:endParaRPr>
          </a:p>
          <a:p>
            <a:pPr marL="457200" indent="-457200" eaLnBrk="1" hangingPunct="1">
              <a:lnSpc>
                <a:spcPct val="80000"/>
              </a:lnSpc>
              <a:buFont typeface="+mj-lt"/>
              <a:buAutoNum type="arabicPeriod"/>
            </a:pPr>
            <a:r>
              <a:rPr lang="en-GB" altLang="en-US" dirty="0" smtClean="0">
                <a:solidFill>
                  <a:schemeClr val="bg1"/>
                </a:solidFill>
              </a:rPr>
              <a:t> Introduce the target words to child.</a:t>
            </a:r>
          </a:p>
          <a:p>
            <a:pPr marL="457200" indent="-457200" eaLnBrk="1" hangingPunct="1">
              <a:lnSpc>
                <a:spcPct val="80000"/>
              </a:lnSpc>
              <a:buFont typeface="+mj-lt"/>
              <a:buAutoNum type="arabicPeriod"/>
            </a:pPr>
            <a:endParaRPr lang="en-GB" altLang="en-US" dirty="0" smtClean="0">
              <a:solidFill>
                <a:schemeClr val="bg1"/>
              </a:solidFill>
            </a:endParaRPr>
          </a:p>
          <a:p>
            <a:pPr marL="457200" indent="-457200" eaLnBrk="1" hangingPunct="1">
              <a:lnSpc>
                <a:spcPct val="80000"/>
              </a:lnSpc>
              <a:buFont typeface="+mj-lt"/>
              <a:buAutoNum type="arabicPeriod"/>
            </a:pPr>
            <a:r>
              <a:rPr lang="en-GB" altLang="en-US" dirty="0" smtClean="0">
                <a:solidFill>
                  <a:schemeClr val="bg1"/>
                </a:solidFill>
              </a:rPr>
              <a:t>Use teaching strategies which will increase opportunities for child to recognise the words</a:t>
            </a:r>
            <a:r>
              <a:rPr lang="en-GB" altLang="en-US" dirty="0" smtClean="0"/>
              <a:t>.</a:t>
            </a:r>
          </a:p>
        </p:txBody>
      </p:sp>
    </p:spTree>
    <p:extLst>
      <p:ext uri="{BB962C8B-B14F-4D97-AF65-F5344CB8AC3E}">
        <p14:creationId xmlns:p14="http://schemas.microsoft.com/office/powerpoint/2010/main" val="174285177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idx="4294967295"/>
          </p:nvPr>
        </p:nvSpPr>
        <p:spPr>
          <a:xfrm>
            <a:off x="0" y="31750"/>
            <a:ext cx="7772400" cy="927100"/>
          </a:xfrm>
        </p:spPr>
        <p:txBody>
          <a:bodyPr/>
          <a:lstStyle/>
          <a:p>
            <a:pPr algn="ctr" eaLnBrk="1" fontAlgn="auto" hangingPunct="1">
              <a:spcAft>
                <a:spcPts val="0"/>
              </a:spcAft>
              <a:defRPr/>
            </a:pPr>
            <a:r>
              <a:rPr lang="en-GB" altLang="en-US" sz="3200" dirty="0" smtClean="0">
                <a:solidFill>
                  <a:schemeClr val="bg1"/>
                </a:solidFill>
              </a:rPr>
              <a:t>3. Teaching methods</a:t>
            </a:r>
          </a:p>
        </p:txBody>
      </p:sp>
      <p:sp>
        <p:nvSpPr>
          <p:cNvPr id="17411" name="Rectangle 3"/>
          <p:cNvSpPr>
            <a:spLocks noChangeArrowheads="1"/>
          </p:cNvSpPr>
          <p:nvPr/>
        </p:nvSpPr>
        <p:spPr bwMode="auto">
          <a:xfrm>
            <a:off x="0" y="3222845"/>
            <a:ext cx="8820150" cy="2481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chemeClr val="accent1"/>
              </a:buClr>
              <a:buFont typeface="Arial" pitchFamily="34" charset="0"/>
              <a:buChar char="•"/>
              <a:defRPr sz="2200">
                <a:solidFill>
                  <a:schemeClr val="tx1"/>
                </a:solidFill>
                <a:latin typeface="Calibri" pitchFamily="34" charset="0"/>
              </a:defRPr>
            </a:lvl1pPr>
            <a:lvl2pPr marL="742950" indent="-285750" eaLnBrk="0" hangingPunct="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eaLnBrk="0" hangingPunct="0">
              <a:spcBef>
                <a:spcPct val="20000"/>
              </a:spcBef>
              <a:buClr>
                <a:srgbClr val="D2CB6C"/>
              </a:buClr>
              <a:buFont typeface="Arial" pitchFamily="34" charset="0"/>
              <a:buChar char="•"/>
              <a:defRPr>
                <a:solidFill>
                  <a:schemeClr val="tx1"/>
                </a:solidFill>
                <a:latin typeface="Calibri" pitchFamily="34" charset="0"/>
              </a:defRPr>
            </a:lvl3pPr>
            <a:lvl4pPr marL="1600200" indent="-228600" eaLnBrk="0" hangingPunct="0">
              <a:spcBef>
                <a:spcPct val="20000"/>
              </a:spcBef>
              <a:buClr>
                <a:srgbClr val="95A39D"/>
              </a:buClr>
              <a:buFont typeface="Arial" pitchFamily="34" charset="0"/>
              <a:buChar char="•"/>
              <a:defRPr sz="1600">
                <a:solidFill>
                  <a:schemeClr val="tx1"/>
                </a:solidFill>
                <a:latin typeface="Calibri" pitchFamily="34" charset="0"/>
              </a:defRPr>
            </a:lvl4pPr>
            <a:lvl5pPr marL="2057400" indent="-228600" eaLnBrk="0" hangingPunct="0">
              <a:spcBef>
                <a:spcPct val="20000"/>
              </a:spcBef>
              <a:buClr>
                <a:srgbClr val="C89F5D"/>
              </a:buClr>
              <a:buFont typeface="Arial" pitchFamily="34" charset="0"/>
              <a:buChar char="•"/>
              <a:defRPr sz="1400">
                <a:solidFill>
                  <a:schemeClr val="tx1"/>
                </a:solidFill>
                <a:latin typeface="Calibri" pitchFamily="34" charset="0"/>
              </a:defRPr>
            </a:lvl5pPr>
            <a:lvl6pPr marL="25146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algn="l" eaLnBrk="1" hangingPunct="1">
              <a:lnSpc>
                <a:spcPct val="80000"/>
              </a:lnSpc>
              <a:buClrTx/>
              <a:buFontTx/>
              <a:buChar char="•"/>
            </a:pPr>
            <a:r>
              <a:rPr lang="en-GB" altLang="en-US" sz="1800" dirty="0">
                <a:solidFill>
                  <a:schemeClr val="bg1"/>
                </a:solidFill>
                <a:latin typeface="Arial" pitchFamily="34" charset="0"/>
              </a:rPr>
              <a:t>Use the model-lead-test sequence with each sight word in turn</a:t>
            </a:r>
          </a:p>
          <a:p>
            <a:pPr algn="l" eaLnBrk="1" hangingPunct="1">
              <a:lnSpc>
                <a:spcPct val="80000"/>
              </a:lnSpc>
              <a:buClrTx/>
              <a:buFontTx/>
              <a:buChar char="•"/>
            </a:pPr>
            <a:r>
              <a:rPr lang="en-GB" altLang="en-US" sz="1800" dirty="0">
                <a:solidFill>
                  <a:schemeClr val="bg1"/>
                </a:solidFill>
                <a:latin typeface="Arial" pitchFamily="34" charset="0"/>
              </a:rPr>
              <a:t>Alter the sequence and continue until each word has been repeated 3-5 times</a:t>
            </a:r>
          </a:p>
          <a:p>
            <a:pPr algn="l" eaLnBrk="1" hangingPunct="1">
              <a:lnSpc>
                <a:spcPct val="80000"/>
              </a:lnSpc>
              <a:buClrTx/>
              <a:buFontTx/>
              <a:buChar char="•"/>
            </a:pPr>
            <a:r>
              <a:rPr lang="en-GB" altLang="en-US" sz="1800" dirty="0">
                <a:solidFill>
                  <a:schemeClr val="bg1"/>
                </a:solidFill>
                <a:latin typeface="Arial" pitchFamily="34" charset="0"/>
              </a:rPr>
              <a:t>Explain to the pupil that they are going to try the sight words alone- but they may have help if they want it</a:t>
            </a:r>
          </a:p>
          <a:p>
            <a:pPr algn="l" eaLnBrk="1" hangingPunct="1">
              <a:lnSpc>
                <a:spcPct val="80000"/>
              </a:lnSpc>
              <a:buClrTx/>
              <a:buFontTx/>
              <a:buChar char="•"/>
            </a:pPr>
            <a:r>
              <a:rPr lang="en-GB" altLang="en-US" sz="1800" dirty="0">
                <a:solidFill>
                  <a:schemeClr val="bg1"/>
                </a:solidFill>
                <a:latin typeface="Arial" pitchFamily="34" charset="0"/>
              </a:rPr>
              <a:t>The pupil tries the words alone – praise correct answers.  If the word is incorrect or if the pupil hesitates more than 2 seconds use the correction procedure:</a:t>
            </a:r>
          </a:p>
          <a:p>
            <a:pPr algn="l" eaLnBrk="1" hangingPunct="1">
              <a:lnSpc>
                <a:spcPct val="80000"/>
              </a:lnSpc>
              <a:buClrTx/>
              <a:buFontTx/>
              <a:buNone/>
            </a:pPr>
            <a:endParaRPr lang="en-GB" altLang="en-US" sz="1800" dirty="0">
              <a:solidFill>
                <a:schemeClr val="bg1"/>
              </a:solidFill>
              <a:latin typeface="Arial" pitchFamily="34" charset="0"/>
            </a:endParaRPr>
          </a:p>
          <a:p>
            <a:pPr algn="l" eaLnBrk="1" hangingPunct="1">
              <a:lnSpc>
                <a:spcPct val="80000"/>
              </a:lnSpc>
              <a:buClrTx/>
              <a:buFontTx/>
              <a:buNone/>
            </a:pPr>
            <a:r>
              <a:rPr lang="en-GB" altLang="en-US" sz="1800" dirty="0">
                <a:solidFill>
                  <a:schemeClr val="bg1"/>
                </a:solidFill>
                <a:latin typeface="Arial" pitchFamily="34" charset="0"/>
              </a:rPr>
              <a:t>				Model (adult) “this word says…”</a:t>
            </a:r>
          </a:p>
          <a:p>
            <a:pPr algn="l" eaLnBrk="1" hangingPunct="1">
              <a:lnSpc>
                <a:spcPct val="80000"/>
              </a:lnSpc>
              <a:buClrTx/>
              <a:buFontTx/>
              <a:buNone/>
            </a:pPr>
            <a:r>
              <a:rPr lang="en-GB" altLang="en-US" sz="1800" dirty="0">
                <a:solidFill>
                  <a:schemeClr val="bg1"/>
                </a:solidFill>
                <a:latin typeface="Arial" pitchFamily="34" charset="0"/>
              </a:rPr>
              <a:t>				Test (child) “now you say it”… or “what word?”</a:t>
            </a:r>
          </a:p>
        </p:txBody>
      </p:sp>
      <p:sp>
        <p:nvSpPr>
          <p:cNvPr id="17412" name="Text Box 4"/>
          <p:cNvSpPr txBox="1">
            <a:spLocks noChangeArrowheads="1"/>
          </p:cNvSpPr>
          <p:nvPr/>
        </p:nvSpPr>
        <p:spPr bwMode="auto">
          <a:xfrm>
            <a:off x="2432050" y="1357304"/>
            <a:ext cx="5545138" cy="1635125"/>
          </a:xfrm>
          <a:prstGeom prst="rect">
            <a:avLst/>
          </a:prstGeom>
          <a:noFill/>
          <a:ln w="19050">
            <a:solidFill>
              <a:srgbClr val="9E0B0E"/>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GB" altLang="en-US" sz="2000" dirty="0">
                <a:solidFill>
                  <a:schemeClr val="bg1"/>
                </a:solidFill>
                <a:latin typeface="Arial" pitchFamily="34" charset="0"/>
              </a:rPr>
              <a:t>Model (adult) – “this word says…”</a:t>
            </a:r>
          </a:p>
          <a:p>
            <a:pPr eaLnBrk="1" hangingPunct="1"/>
            <a:endParaRPr lang="en-GB" altLang="en-US" sz="2000" dirty="0">
              <a:solidFill>
                <a:schemeClr val="bg1"/>
              </a:solidFill>
              <a:latin typeface="Arial" pitchFamily="34" charset="0"/>
            </a:endParaRPr>
          </a:p>
          <a:p>
            <a:pPr eaLnBrk="1" hangingPunct="1"/>
            <a:r>
              <a:rPr lang="en-GB" altLang="en-US" sz="2000" dirty="0">
                <a:solidFill>
                  <a:schemeClr val="bg1"/>
                </a:solidFill>
                <a:latin typeface="Arial" pitchFamily="34" charset="0"/>
              </a:rPr>
              <a:t>Lead (together) – “say it with me”</a:t>
            </a:r>
          </a:p>
          <a:p>
            <a:pPr eaLnBrk="1" hangingPunct="1"/>
            <a:endParaRPr lang="en-GB" altLang="en-US" sz="2000" dirty="0">
              <a:solidFill>
                <a:schemeClr val="bg1"/>
              </a:solidFill>
              <a:latin typeface="Arial" pitchFamily="34" charset="0"/>
            </a:endParaRPr>
          </a:p>
          <a:p>
            <a:pPr eaLnBrk="1" hangingPunct="1"/>
            <a:r>
              <a:rPr lang="en-GB" altLang="en-US" sz="2000" dirty="0">
                <a:solidFill>
                  <a:schemeClr val="bg1"/>
                </a:solidFill>
                <a:latin typeface="Arial" pitchFamily="34" charset="0"/>
              </a:rPr>
              <a:t>Test (child) – “you say it”… or “what word?”</a:t>
            </a:r>
            <a:endParaRPr lang="en-GB" altLang="en-US" sz="2000" b="1" dirty="0">
              <a:solidFill>
                <a:schemeClr val="bg1"/>
              </a:solidFill>
              <a:latin typeface="Arial" pitchFamily="34" charset="0"/>
            </a:endParaRPr>
          </a:p>
        </p:txBody>
      </p:sp>
      <p:sp>
        <p:nvSpPr>
          <p:cNvPr id="17413" name="Text Box 5"/>
          <p:cNvSpPr txBox="1">
            <a:spLocks noChangeArrowheads="1"/>
          </p:cNvSpPr>
          <p:nvPr/>
        </p:nvSpPr>
        <p:spPr bwMode="auto">
          <a:xfrm>
            <a:off x="415925" y="876517"/>
            <a:ext cx="331311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lnSpc>
                <a:spcPct val="80000"/>
              </a:lnSpc>
              <a:spcBef>
                <a:spcPct val="20000"/>
              </a:spcBef>
            </a:pPr>
            <a:r>
              <a:rPr lang="en-GB" altLang="en-US" sz="2000" b="1" dirty="0">
                <a:solidFill>
                  <a:schemeClr val="bg1"/>
                </a:solidFill>
                <a:latin typeface="Arial" pitchFamily="34" charset="0"/>
              </a:rPr>
              <a:t>E.g. Direct Instruction</a:t>
            </a:r>
          </a:p>
        </p:txBody>
      </p:sp>
    </p:spTree>
    <p:extLst>
      <p:ext uri="{BB962C8B-B14F-4D97-AF65-F5344CB8AC3E}">
        <p14:creationId xmlns:p14="http://schemas.microsoft.com/office/powerpoint/2010/main" val="420795438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idx="4294967295"/>
          </p:nvPr>
        </p:nvSpPr>
        <p:spPr>
          <a:xfrm>
            <a:off x="1371600" y="549275"/>
            <a:ext cx="7772400" cy="1008063"/>
          </a:xfrm>
        </p:spPr>
        <p:txBody>
          <a:bodyPr/>
          <a:lstStyle/>
          <a:p>
            <a:pPr algn="l" fontAlgn="auto">
              <a:spcAft>
                <a:spcPts val="0"/>
              </a:spcAft>
              <a:defRPr/>
            </a:pPr>
            <a:r>
              <a:rPr lang="en-GB" altLang="en-US" sz="4000" dirty="0" smtClean="0">
                <a:solidFill>
                  <a:schemeClr val="bg1"/>
                </a:solidFill>
                <a:latin typeface="Arial" pitchFamily="34" charset="0"/>
                <a:cs typeface="Arial" pitchFamily="34" charset="0"/>
              </a:rPr>
              <a:t>Points to remember</a:t>
            </a:r>
          </a:p>
        </p:txBody>
      </p:sp>
      <p:sp>
        <p:nvSpPr>
          <p:cNvPr id="19459" name="Rectangle 3"/>
          <p:cNvSpPr>
            <a:spLocks noGrp="1" noChangeArrowheads="1"/>
          </p:cNvSpPr>
          <p:nvPr>
            <p:ph type="body" idx="4294967295"/>
          </p:nvPr>
        </p:nvSpPr>
        <p:spPr>
          <a:xfrm>
            <a:off x="0" y="1773238"/>
            <a:ext cx="7772400" cy="4114800"/>
          </a:xfrm>
        </p:spPr>
        <p:txBody>
          <a:bodyPr/>
          <a:lstStyle/>
          <a:p>
            <a:r>
              <a:rPr lang="en-GB" altLang="en-US" sz="2800" dirty="0" smtClean="0">
                <a:solidFill>
                  <a:schemeClr val="bg1"/>
                </a:solidFill>
                <a:latin typeface="Arial" pitchFamily="34" charset="0"/>
                <a:cs typeface="Arial" pitchFamily="34" charset="0"/>
              </a:rPr>
              <a:t>Make sure the pace is good- keep things flowing</a:t>
            </a:r>
          </a:p>
          <a:p>
            <a:r>
              <a:rPr lang="en-GB" altLang="en-US" sz="2800" dirty="0" smtClean="0">
                <a:solidFill>
                  <a:schemeClr val="bg1"/>
                </a:solidFill>
                <a:latin typeface="Arial" pitchFamily="34" charset="0"/>
                <a:cs typeface="Arial" pitchFamily="34" charset="0"/>
              </a:rPr>
              <a:t>Include pointing, to signal the pupil’s turn</a:t>
            </a:r>
          </a:p>
          <a:p>
            <a:r>
              <a:rPr lang="en-GB" altLang="en-US" sz="2800" dirty="0" smtClean="0">
                <a:solidFill>
                  <a:schemeClr val="bg1"/>
                </a:solidFill>
                <a:latin typeface="Arial" pitchFamily="34" charset="0"/>
                <a:cs typeface="Arial" pitchFamily="34" charset="0"/>
              </a:rPr>
              <a:t>Include intonation</a:t>
            </a:r>
          </a:p>
          <a:p>
            <a:r>
              <a:rPr lang="en-GB" altLang="en-US" sz="2800" dirty="0" smtClean="0">
                <a:solidFill>
                  <a:schemeClr val="bg1"/>
                </a:solidFill>
                <a:latin typeface="Arial" pitchFamily="34" charset="0"/>
                <a:cs typeface="Arial" pitchFamily="34" charset="0"/>
              </a:rPr>
              <a:t>Praise must be immediate, specific, positive</a:t>
            </a:r>
          </a:p>
          <a:p>
            <a:r>
              <a:rPr lang="en-GB" altLang="en-US" sz="2800" dirty="0" smtClean="0">
                <a:solidFill>
                  <a:schemeClr val="bg1"/>
                </a:solidFill>
                <a:latin typeface="Arial" pitchFamily="34" charset="0"/>
                <a:cs typeface="Arial" pitchFamily="34" charset="0"/>
              </a:rPr>
              <a:t>Avoid word-building- just give the sight word</a:t>
            </a:r>
          </a:p>
        </p:txBody>
      </p:sp>
    </p:spTree>
    <p:extLst>
      <p:ext uri="{BB962C8B-B14F-4D97-AF65-F5344CB8AC3E}">
        <p14:creationId xmlns:p14="http://schemas.microsoft.com/office/powerpoint/2010/main" val="2437807017"/>
      </p:ext>
    </p:extLst>
  </p:cSld>
  <p:clrMapOvr>
    <a:masterClrMapping/>
  </p:clrMapOvr>
  <p:transition spd="med">
    <p:fade/>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idx="4294967295"/>
          </p:nvPr>
        </p:nvSpPr>
        <p:spPr>
          <a:xfrm>
            <a:off x="0" y="188913"/>
            <a:ext cx="7772400" cy="1143000"/>
          </a:xfrm>
        </p:spPr>
        <p:txBody>
          <a:bodyPr/>
          <a:lstStyle/>
          <a:p>
            <a:pPr algn="ctr" eaLnBrk="1" fontAlgn="auto" hangingPunct="1">
              <a:spcAft>
                <a:spcPts val="0"/>
              </a:spcAft>
              <a:defRPr/>
            </a:pPr>
            <a:r>
              <a:rPr lang="en-GB" altLang="en-US" sz="3200" b="1" dirty="0" smtClean="0">
                <a:solidFill>
                  <a:schemeClr val="bg1"/>
                </a:solidFill>
              </a:rPr>
              <a:t>Step 4 –</a:t>
            </a:r>
            <a:r>
              <a:rPr lang="en-GB" altLang="en-US" sz="3200" dirty="0" smtClean="0">
                <a:solidFill>
                  <a:schemeClr val="bg1"/>
                </a:solidFill>
              </a:rPr>
              <a:t> Monitoring Performance</a:t>
            </a:r>
          </a:p>
        </p:txBody>
      </p:sp>
      <p:sp>
        <p:nvSpPr>
          <p:cNvPr id="21507" name="Rectangle 3"/>
          <p:cNvSpPr>
            <a:spLocks noGrp="1" noChangeArrowheads="1"/>
          </p:cNvSpPr>
          <p:nvPr>
            <p:ph idx="4294967295"/>
          </p:nvPr>
        </p:nvSpPr>
        <p:spPr>
          <a:xfrm>
            <a:off x="0" y="1628775"/>
            <a:ext cx="7632700" cy="4968875"/>
          </a:xfrm>
        </p:spPr>
        <p:txBody>
          <a:bodyPr/>
          <a:lstStyle/>
          <a:p>
            <a:pPr eaLnBrk="1" hangingPunct="1"/>
            <a:r>
              <a:rPr lang="en-GB" altLang="en-US" dirty="0" smtClean="0">
                <a:solidFill>
                  <a:schemeClr val="bg1"/>
                </a:solidFill>
              </a:rPr>
              <a:t>Using a Probe sheet</a:t>
            </a:r>
          </a:p>
          <a:p>
            <a:pPr eaLnBrk="1" hangingPunct="1"/>
            <a:endParaRPr lang="en-GB" altLang="en-US" dirty="0" smtClean="0">
              <a:solidFill>
                <a:schemeClr val="bg1"/>
              </a:solidFill>
            </a:endParaRPr>
          </a:p>
        </p:txBody>
      </p:sp>
    </p:spTree>
    <p:extLst>
      <p:ext uri="{BB962C8B-B14F-4D97-AF65-F5344CB8AC3E}">
        <p14:creationId xmlns:p14="http://schemas.microsoft.com/office/powerpoint/2010/main" val="338917598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
          <p:cNvSpPr>
            <a:spLocks noGrp="1" noChangeArrowheads="1"/>
          </p:cNvSpPr>
          <p:nvPr>
            <p:ph type="title" idx="4294967295"/>
          </p:nvPr>
        </p:nvSpPr>
        <p:spPr>
          <a:xfrm>
            <a:off x="2057400" y="1052513"/>
            <a:ext cx="7086600" cy="731837"/>
          </a:xfrm>
        </p:spPr>
        <p:txBody>
          <a:bodyPr rIns="31750" anchor="b">
            <a:normAutofit fontScale="90000"/>
          </a:bodyPr>
          <a:lstStyle/>
          <a:p>
            <a:pPr indent="0" algn="l" eaLnBrk="1" hangingPunct="1"/>
            <a:r>
              <a:rPr lang="en-US" altLang="en-US" u="sng" dirty="0" smtClean="0"/>
              <a:t>PT Probe Generator</a:t>
            </a:r>
          </a:p>
        </p:txBody>
      </p:sp>
      <p:sp>
        <p:nvSpPr>
          <p:cNvPr id="20483" name="Rectangle 2"/>
          <p:cNvSpPr>
            <a:spLocks noGrp="1" noChangeArrowheads="1"/>
          </p:cNvSpPr>
          <p:nvPr>
            <p:ph type="body" idx="4294967295"/>
          </p:nvPr>
        </p:nvSpPr>
        <p:spPr>
          <a:xfrm>
            <a:off x="1727200" y="1268413"/>
            <a:ext cx="7416800" cy="4525962"/>
          </a:xfrm>
        </p:spPr>
        <p:txBody>
          <a:bodyPr rIns="31750"/>
          <a:lstStyle/>
          <a:p>
            <a:pPr marL="423863" indent="-384175" eaLnBrk="1" hangingPunct="1"/>
            <a:endParaRPr lang="en-US" altLang="en-US" dirty="0" smtClean="0">
              <a:solidFill>
                <a:schemeClr val="bg1"/>
              </a:solidFill>
            </a:endParaRPr>
          </a:p>
          <a:p>
            <a:pPr marL="423863" indent="-384175" eaLnBrk="1" hangingPunct="1"/>
            <a:endParaRPr lang="en-US" altLang="en-US" dirty="0" smtClean="0"/>
          </a:p>
          <a:p>
            <a:pPr marL="423863" indent="-384175" eaLnBrk="1" hangingPunct="1">
              <a:buFont typeface="Century Gothic" pitchFamily="34" charset="0"/>
              <a:buNone/>
            </a:pPr>
            <a:endParaRPr lang="en-US" altLang="en-US" dirty="0" smtClean="0"/>
          </a:p>
          <a:p>
            <a:pPr marL="423863" indent="-384175" eaLnBrk="1" hangingPunct="1">
              <a:buFont typeface="Century Gothic" pitchFamily="34" charset="0"/>
              <a:buNone/>
            </a:pPr>
            <a:endParaRPr lang="en-US" altLang="en-US" dirty="0" smtClean="0"/>
          </a:p>
          <a:p>
            <a:pPr marL="423863" indent="-384175" eaLnBrk="1" hangingPunct="1">
              <a:buFont typeface="Century Gothic" pitchFamily="34" charset="0"/>
              <a:buNone/>
            </a:pPr>
            <a:r>
              <a:rPr lang="en-US" altLang="en-US" dirty="0">
                <a:solidFill>
                  <a:schemeClr val="bg1"/>
                </a:solidFill>
                <a:hlinkClick r:id="rId3"/>
              </a:rPr>
              <a:t>http://</a:t>
            </a:r>
            <a:r>
              <a:rPr lang="en-US" altLang="en-US" dirty="0" smtClean="0">
                <a:solidFill>
                  <a:schemeClr val="bg1"/>
                </a:solidFill>
                <a:hlinkClick r:id="rId3"/>
              </a:rPr>
              <a:t>johnandgwyn.co.uk/probe.html</a:t>
            </a:r>
            <a:endParaRPr lang="en-US" altLang="en-US" dirty="0" smtClean="0">
              <a:solidFill>
                <a:schemeClr val="bg1"/>
              </a:solidFill>
            </a:endParaRPr>
          </a:p>
          <a:p>
            <a:pPr marL="423863" indent="-384175" eaLnBrk="1" hangingPunct="1">
              <a:buFont typeface="Century Gothic" pitchFamily="34" charset="0"/>
              <a:buNone/>
            </a:pPr>
            <a:endParaRPr lang="en-US" altLang="en-US" dirty="0" smtClean="0"/>
          </a:p>
          <a:p>
            <a:pPr marL="423863" indent="-384175" algn="ctr" eaLnBrk="1" hangingPunct="1">
              <a:buFont typeface="Century Gothic" pitchFamily="34" charset="0"/>
              <a:buNone/>
            </a:pPr>
            <a:endParaRPr lang="en-US" altLang="en-US" dirty="0" smtClean="0"/>
          </a:p>
        </p:txBody>
      </p:sp>
    </p:spTree>
    <p:extLst>
      <p:ext uri="{BB962C8B-B14F-4D97-AF65-F5344CB8AC3E}">
        <p14:creationId xmlns:p14="http://schemas.microsoft.com/office/powerpoint/2010/main" val="21877446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idx="4294967295"/>
          </p:nvPr>
        </p:nvSpPr>
        <p:spPr>
          <a:xfrm>
            <a:off x="0" y="260350"/>
            <a:ext cx="7772400" cy="947738"/>
          </a:xfrm>
        </p:spPr>
        <p:txBody>
          <a:bodyPr/>
          <a:lstStyle/>
          <a:p>
            <a:pPr algn="ctr" eaLnBrk="1" fontAlgn="auto" hangingPunct="1">
              <a:spcAft>
                <a:spcPts val="0"/>
              </a:spcAft>
              <a:defRPr/>
            </a:pPr>
            <a:r>
              <a:rPr lang="en-GB" altLang="en-US" sz="4000" b="1" dirty="0" smtClean="0">
                <a:solidFill>
                  <a:schemeClr val="bg1"/>
                </a:solidFill>
              </a:rPr>
              <a:t>Step 5-</a:t>
            </a:r>
            <a:r>
              <a:rPr lang="en-GB" altLang="en-US" sz="4000" dirty="0" smtClean="0">
                <a:solidFill>
                  <a:schemeClr val="bg1"/>
                </a:solidFill>
              </a:rPr>
              <a:t> Chart Results</a:t>
            </a:r>
          </a:p>
        </p:txBody>
      </p:sp>
      <p:sp>
        <p:nvSpPr>
          <p:cNvPr id="24579" name="Rectangle 3"/>
          <p:cNvSpPr>
            <a:spLocks noGrp="1" noChangeArrowheads="1"/>
          </p:cNvSpPr>
          <p:nvPr>
            <p:ph idx="4294967295"/>
          </p:nvPr>
        </p:nvSpPr>
        <p:spPr>
          <a:xfrm>
            <a:off x="0" y="1268413"/>
            <a:ext cx="8642350" cy="4895850"/>
          </a:xfrm>
        </p:spPr>
        <p:txBody>
          <a:bodyPr/>
          <a:lstStyle/>
          <a:p>
            <a:pPr eaLnBrk="1" hangingPunct="1">
              <a:lnSpc>
                <a:spcPct val="80000"/>
              </a:lnSpc>
            </a:pPr>
            <a:r>
              <a:rPr lang="en-GB" altLang="en-US" sz="2800" dirty="0" smtClean="0">
                <a:solidFill>
                  <a:schemeClr val="bg1"/>
                </a:solidFill>
              </a:rPr>
              <a:t>Chart results with the child – helps to motivate the child &amp; increase confidence.</a:t>
            </a:r>
          </a:p>
          <a:p>
            <a:pPr eaLnBrk="1" hangingPunct="1">
              <a:lnSpc>
                <a:spcPct val="80000"/>
              </a:lnSpc>
              <a:buFontTx/>
              <a:buNone/>
            </a:pPr>
            <a:endParaRPr lang="en-GB" altLang="en-US" sz="1600" dirty="0" smtClean="0">
              <a:solidFill>
                <a:schemeClr val="bg1"/>
              </a:solidFill>
            </a:endParaRPr>
          </a:p>
          <a:p>
            <a:pPr eaLnBrk="1" hangingPunct="1">
              <a:lnSpc>
                <a:spcPct val="80000"/>
              </a:lnSpc>
            </a:pPr>
            <a:r>
              <a:rPr lang="en-GB" altLang="en-US" sz="2800" dirty="0" smtClean="0">
                <a:solidFill>
                  <a:schemeClr val="bg1"/>
                </a:solidFill>
              </a:rPr>
              <a:t>Helps teacher to see which teaching methods are most effective for particular pupil (record on chart).</a:t>
            </a:r>
          </a:p>
          <a:p>
            <a:pPr eaLnBrk="1" hangingPunct="1">
              <a:lnSpc>
                <a:spcPct val="80000"/>
              </a:lnSpc>
              <a:buFontTx/>
              <a:buNone/>
            </a:pPr>
            <a:endParaRPr lang="en-GB" altLang="en-US" sz="1600" dirty="0" smtClean="0">
              <a:solidFill>
                <a:schemeClr val="bg1"/>
              </a:solidFill>
            </a:endParaRPr>
          </a:p>
          <a:p>
            <a:pPr eaLnBrk="1" hangingPunct="1">
              <a:lnSpc>
                <a:spcPct val="80000"/>
              </a:lnSpc>
            </a:pPr>
            <a:r>
              <a:rPr lang="en-GB" altLang="en-US" sz="2800" dirty="0" smtClean="0">
                <a:solidFill>
                  <a:schemeClr val="bg1"/>
                </a:solidFill>
              </a:rPr>
              <a:t>Record any changes made to task.</a:t>
            </a:r>
          </a:p>
          <a:p>
            <a:pPr eaLnBrk="1" hangingPunct="1">
              <a:lnSpc>
                <a:spcPct val="80000"/>
              </a:lnSpc>
              <a:buFontTx/>
              <a:buNone/>
            </a:pPr>
            <a:endParaRPr lang="en-GB" altLang="en-US" sz="1600" dirty="0" smtClean="0">
              <a:solidFill>
                <a:schemeClr val="bg1"/>
              </a:solidFill>
            </a:endParaRPr>
          </a:p>
          <a:p>
            <a:pPr eaLnBrk="1" hangingPunct="1">
              <a:lnSpc>
                <a:spcPct val="80000"/>
              </a:lnSpc>
            </a:pPr>
            <a:r>
              <a:rPr lang="en-GB" altLang="en-US" sz="2800" dirty="0" smtClean="0">
                <a:solidFill>
                  <a:schemeClr val="bg1"/>
                </a:solidFill>
              </a:rPr>
              <a:t>Record the number of correct AND incorrect words.</a:t>
            </a:r>
          </a:p>
          <a:p>
            <a:pPr eaLnBrk="1" hangingPunct="1">
              <a:lnSpc>
                <a:spcPct val="80000"/>
              </a:lnSpc>
            </a:pPr>
            <a:endParaRPr lang="en-GB" altLang="en-US" sz="1600" dirty="0" smtClean="0">
              <a:solidFill>
                <a:schemeClr val="bg1"/>
              </a:solidFill>
            </a:endParaRPr>
          </a:p>
          <a:p>
            <a:pPr eaLnBrk="1" hangingPunct="1">
              <a:lnSpc>
                <a:spcPct val="80000"/>
              </a:lnSpc>
            </a:pPr>
            <a:r>
              <a:rPr lang="en-GB" altLang="en-US" sz="2800" dirty="0" smtClean="0">
                <a:solidFill>
                  <a:schemeClr val="bg1"/>
                </a:solidFill>
              </a:rPr>
              <a:t>If you are unable to do the probe on a particular day, that line is left blank.</a:t>
            </a:r>
          </a:p>
        </p:txBody>
      </p:sp>
    </p:spTree>
    <p:extLst>
      <p:ext uri="{BB962C8B-B14F-4D97-AF65-F5344CB8AC3E}">
        <p14:creationId xmlns:p14="http://schemas.microsoft.com/office/powerpoint/2010/main" val="103983367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idx="4294967295"/>
          </p:nvPr>
        </p:nvSpPr>
        <p:spPr>
          <a:xfrm>
            <a:off x="0" y="188913"/>
            <a:ext cx="7772400" cy="1143000"/>
          </a:xfrm>
        </p:spPr>
        <p:txBody>
          <a:bodyPr/>
          <a:lstStyle/>
          <a:p>
            <a:pPr algn="l" fontAlgn="auto">
              <a:spcAft>
                <a:spcPts val="0"/>
              </a:spcAft>
              <a:defRPr/>
            </a:pPr>
            <a:r>
              <a:rPr lang="en-GB" altLang="en-US" sz="4000" dirty="0" smtClean="0">
                <a:solidFill>
                  <a:schemeClr val="bg1"/>
                </a:solidFill>
                <a:latin typeface="Arial" pitchFamily="34" charset="0"/>
                <a:cs typeface="Arial" pitchFamily="34" charset="0"/>
              </a:rPr>
              <a:t>5. Ratio charts </a:t>
            </a:r>
          </a:p>
        </p:txBody>
      </p:sp>
      <p:sp>
        <p:nvSpPr>
          <p:cNvPr id="27651" name="Rectangle 3"/>
          <p:cNvSpPr>
            <a:spLocks noGrp="1" noChangeArrowheads="1"/>
          </p:cNvSpPr>
          <p:nvPr>
            <p:ph idx="4294967295"/>
          </p:nvPr>
        </p:nvSpPr>
        <p:spPr>
          <a:xfrm>
            <a:off x="719138" y="1412875"/>
            <a:ext cx="8424862" cy="4475163"/>
          </a:xfrm>
        </p:spPr>
        <p:txBody>
          <a:bodyPr rtlCol="0">
            <a:normAutofit lnSpcReduction="10000"/>
          </a:bodyPr>
          <a:lstStyle/>
          <a:p>
            <a:pPr marL="0" indent="0" fontAlgn="auto">
              <a:lnSpc>
                <a:spcPct val="80000"/>
              </a:lnSpc>
              <a:spcAft>
                <a:spcPts val="0"/>
              </a:spcAft>
              <a:buFontTx/>
              <a:buNone/>
              <a:defRPr/>
            </a:pPr>
            <a:r>
              <a:rPr lang="en-GB" altLang="en-US" sz="2400" dirty="0" smtClean="0">
                <a:latin typeface="Tahoma" pitchFamily="34" charset="0"/>
                <a:cs typeface="Arial" pitchFamily="34" charset="0"/>
              </a:rPr>
              <a:t>  </a:t>
            </a:r>
            <a:r>
              <a:rPr lang="en-GB" altLang="en-US" sz="2400" u="sng" dirty="0" smtClean="0">
                <a:solidFill>
                  <a:schemeClr val="bg1"/>
                </a:solidFill>
                <a:latin typeface="Arial" pitchFamily="34" charset="0"/>
                <a:cs typeface="Arial" pitchFamily="34" charset="0"/>
              </a:rPr>
              <a:t>The days the information is collected </a:t>
            </a:r>
          </a:p>
          <a:p>
            <a:pPr marL="179388" lvl="1" indent="0" fontAlgn="auto">
              <a:lnSpc>
                <a:spcPct val="80000"/>
              </a:lnSpc>
              <a:spcAft>
                <a:spcPts val="0"/>
              </a:spcAft>
              <a:defRPr/>
            </a:pPr>
            <a:r>
              <a:rPr lang="en-GB" altLang="en-US" sz="2400" dirty="0" smtClean="0">
                <a:solidFill>
                  <a:schemeClr val="bg1"/>
                </a:solidFill>
                <a:latin typeface="Arial" pitchFamily="34" charset="0"/>
                <a:cs typeface="Arial" pitchFamily="34" charset="0"/>
              </a:rPr>
              <a:t> This is shown on the </a:t>
            </a:r>
            <a:r>
              <a:rPr lang="en-GB" altLang="en-US" sz="2400" u="sng" dirty="0" smtClean="0">
                <a:solidFill>
                  <a:srgbClr val="33CC33"/>
                </a:solidFill>
                <a:latin typeface="Arial" pitchFamily="34" charset="0"/>
                <a:cs typeface="Arial" pitchFamily="34" charset="0"/>
              </a:rPr>
              <a:t>horizontal</a:t>
            </a:r>
            <a:r>
              <a:rPr lang="en-GB" altLang="en-US" sz="2400" dirty="0" smtClean="0">
                <a:solidFill>
                  <a:srgbClr val="00CC99"/>
                </a:solidFill>
                <a:latin typeface="Arial" pitchFamily="34" charset="0"/>
                <a:cs typeface="Arial" pitchFamily="34" charset="0"/>
              </a:rPr>
              <a:t> </a:t>
            </a:r>
            <a:r>
              <a:rPr lang="en-GB" altLang="en-US" sz="2400" dirty="0" smtClean="0">
                <a:solidFill>
                  <a:schemeClr val="bg1"/>
                </a:solidFill>
                <a:latin typeface="Arial" pitchFamily="34" charset="0"/>
                <a:cs typeface="Arial" pitchFamily="34" charset="0"/>
              </a:rPr>
              <a:t>axis.</a:t>
            </a:r>
          </a:p>
          <a:p>
            <a:pPr marL="179388" lvl="1" indent="0" fontAlgn="auto">
              <a:lnSpc>
                <a:spcPct val="80000"/>
              </a:lnSpc>
              <a:spcAft>
                <a:spcPts val="0"/>
              </a:spcAft>
              <a:defRPr/>
            </a:pPr>
            <a:r>
              <a:rPr lang="en-GB" altLang="en-US" sz="2400" dirty="0" smtClean="0">
                <a:solidFill>
                  <a:schemeClr val="bg1"/>
                </a:solidFill>
                <a:latin typeface="Arial" pitchFamily="34" charset="0"/>
                <a:cs typeface="Arial" pitchFamily="34" charset="0"/>
              </a:rPr>
              <a:t> There is a line for each school day.</a:t>
            </a:r>
          </a:p>
          <a:p>
            <a:pPr marL="179388" lvl="1" indent="0" fontAlgn="auto">
              <a:lnSpc>
                <a:spcPct val="80000"/>
              </a:lnSpc>
              <a:spcAft>
                <a:spcPts val="0"/>
              </a:spcAft>
              <a:defRPr/>
            </a:pPr>
            <a:r>
              <a:rPr lang="en-GB" altLang="en-US" sz="2400" dirty="0" smtClean="0">
                <a:solidFill>
                  <a:schemeClr val="bg1"/>
                </a:solidFill>
                <a:latin typeface="Arial" pitchFamily="34" charset="0"/>
                <a:cs typeface="Arial" pitchFamily="34" charset="0"/>
              </a:rPr>
              <a:t> The result is filled in on the line (</a:t>
            </a:r>
            <a:r>
              <a:rPr lang="en-GB" altLang="en-US" sz="2400" dirty="0" smtClean="0">
                <a:solidFill>
                  <a:srgbClr val="33CC33"/>
                </a:solidFill>
                <a:latin typeface="Arial" pitchFamily="34" charset="0"/>
                <a:cs typeface="Arial" pitchFamily="34" charset="0"/>
              </a:rPr>
              <a:t>NOT</a:t>
            </a:r>
            <a:r>
              <a:rPr lang="en-GB" altLang="en-US" sz="2400" dirty="0" smtClean="0">
                <a:latin typeface="Arial" pitchFamily="34" charset="0"/>
                <a:cs typeface="Arial" pitchFamily="34" charset="0"/>
              </a:rPr>
              <a:t> </a:t>
            </a:r>
            <a:r>
              <a:rPr lang="en-GB" altLang="en-US" sz="2400" dirty="0" smtClean="0">
                <a:solidFill>
                  <a:schemeClr val="bg1"/>
                </a:solidFill>
                <a:latin typeface="Arial" pitchFamily="34" charset="0"/>
                <a:cs typeface="Arial" pitchFamily="34" charset="0"/>
              </a:rPr>
              <a:t>the space).</a:t>
            </a:r>
          </a:p>
          <a:p>
            <a:pPr marL="179388" lvl="1" indent="0" fontAlgn="auto">
              <a:lnSpc>
                <a:spcPct val="80000"/>
              </a:lnSpc>
              <a:spcAft>
                <a:spcPts val="0"/>
              </a:spcAft>
              <a:defRPr/>
            </a:pPr>
            <a:r>
              <a:rPr lang="en-GB" altLang="en-US" sz="2400" dirty="0" smtClean="0">
                <a:solidFill>
                  <a:schemeClr val="bg1"/>
                </a:solidFill>
                <a:latin typeface="Arial" pitchFamily="34" charset="0"/>
                <a:cs typeface="Arial" pitchFamily="34" charset="0"/>
              </a:rPr>
              <a:t> If you are unable to do the probe on a particular day, that line is left blank.</a:t>
            </a:r>
          </a:p>
          <a:p>
            <a:pPr marL="179388" lvl="1" indent="0" fontAlgn="auto">
              <a:lnSpc>
                <a:spcPct val="80000"/>
              </a:lnSpc>
              <a:spcAft>
                <a:spcPts val="0"/>
              </a:spcAft>
              <a:defRPr/>
            </a:pPr>
            <a:r>
              <a:rPr lang="en-GB" altLang="en-US" sz="2400" dirty="0" smtClean="0">
                <a:solidFill>
                  <a:schemeClr val="bg1"/>
                </a:solidFill>
                <a:latin typeface="Arial" pitchFamily="34" charset="0"/>
                <a:cs typeface="Arial" pitchFamily="34" charset="0"/>
              </a:rPr>
              <a:t> That day is known as a </a:t>
            </a:r>
            <a:r>
              <a:rPr lang="en-GB" altLang="en-US" sz="2400" dirty="0" smtClean="0">
                <a:solidFill>
                  <a:srgbClr val="FF0000"/>
                </a:solidFill>
                <a:latin typeface="Arial" pitchFamily="34" charset="0"/>
                <a:cs typeface="Arial" pitchFamily="34" charset="0"/>
              </a:rPr>
              <a:t>No Chance Day</a:t>
            </a:r>
            <a:r>
              <a:rPr lang="en-GB" altLang="en-US" sz="2400" dirty="0" smtClean="0">
                <a:latin typeface="Arial" pitchFamily="34" charset="0"/>
                <a:cs typeface="Arial" pitchFamily="34" charset="0"/>
              </a:rPr>
              <a:t>.          </a:t>
            </a:r>
          </a:p>
          <a:p>
            <a:pPr marL="179388" lvl="1" indent="0" fontAlgn="auto">
              <a:lnSpc>
                <a:spcPct val="80000"/>
              </a:lnSpc>
              <a:spcAft>
                <a:spcPts val="0"/>
              </a:spcAft>
              <a:buFontTx/>
              <a:buNone/>
              <a:defRPr/>
            </a:pPr>
            <a:endParaRPr lang="en-GB" altLang="en-US" sz="2400" u="sng" dirty="0" smtClean="0">
              <a:latin typeface="Arial" pitchFamily="34" charset="0"/>
              <a:cs typeface="Arial" pitchFamily="34" charset="0"/>
            </a:endParaRPr>
          </a:p>
          <a:p>
            <a:pPr marL="179388" lvl="1" indent="0" fontAlgn="auto">
              <a:lnSpc>
                <a:spcPct val="80000"/>
              </a:lnSpc>
              <a:spcAft>
                <a:spcPts val="0"/>
              </a:spcAft>
              <a:buFontTx/>
              <a:buNone/>
              <a:defRPr/>
            </a:pPr>
            <a:r>
              <a:rPr lang="en-GB" altLang="en-US" sz="2400" u="sng" dirty="0" smtClean="0">
                <a:solidFill>
                  <a:schemeClr val="bg1"/>
                </a:solidFill>
                <a:latin typeface="Arial" pitchFamily="34" charset="0"/>
                <a:cs typeface="Arial" pitchFamily="34" charset="0"/>
              </a:rPr>
              <a:t>A description of the pupil’s performance </a:t>
            </a:r>
          </a:p>
          <a:p>
            <a:pPr marL="179388" lvl="1" indent="0" fontAlgn="auto">
              <a:lnSpc>
                <a:spcPct val="80000"/>
              </a:lnSpc>
              <a:spcAft>
                <a:spcPts val="0"/>
              </a:spcAft>
              <a:defRPr/>
            </a:pPr>
            <a:r>
              <a:rPr lang="en-GB" altLang="en-US" sz="2400" dirty="0" smtClean="0">
                <a:solidFill>
                  <a:schemeClr val="bg1"/>
                </a:solidFill>
                <a:latin typeface="Arial" pitchFamily="34" charset="0"/>
                <a:cs typeface="Arial" pitchFamily="34" charset="0"/>
              </a:rPr>
              <a:t> This is shown on the </a:t>
            </a:r>
            <a:r>
              <a:rPr lang="en-GB" altLang="en-US" sz="2400" u="sng" dirty="0" smtClean="0">
                <a:solidFill>
                  <a:srgbClr val="33CC33"/>
                </a:solidFill>
                <a:latin typeface="Arial" pitchFamily="34" charset="0"/>
                <a:cs typeface="Arial" pitchFamily="34" charset="0"/>
              </a:rPr>
              <a:t>vertical</a:t>
            </a:r>
            <a:r>
              <a:rPr lang="en-GB" altLang="en-US" sz="2400" dirty="0" smtClean="0">
                <a:latin typeface="Arial" pitchFamily="34" charset="0"/>
                <a:cs typeface="Arial" pitchFamily="34" charset="0"/>
              </a:rPr>
              <a:t> </a:t>
            </a:r>
            <a:r>
              <a:rPr lang="en-GB" altLang="en-US" sz="2400" dirty="0" smtClean="0">
                <a:solidFill>
                  <a:schemeClr val="bg1"/>
                </a:solidFill>
                <a:latin typeface="Arial" pitchFamily="34" charset="0"/>
                <a:cs typeface="Arial" pitchFamily="34" charset="0"/>
              </a:rPr>
              <a:t>axis.</a:t>
            </a:r>
          </a:p>
          <a:p>
            <a:pPr marL="179388" lvl="1" indent="0" fontAlgn="auto">
              <a:lnSpc>
                <a:spcPct val="80000"/>
              </a:lnSpc>
              <a:spcAft>
                <a:spcPts val="0"/>
              </a:spcAft>
              <a:defRPr/>
            </a:pPr>
            <a:r>
              <a:rPr lang="en-GB" altLang="en-US" sz="2400" dirty="0" smtClean="0">
                <a:solidFill>
                  <a:schemeClr val="bg1"/>
                </a:solidFill>
                <a:latin typeface="Arial" pitchFamily="34" charset="0"/>
                <a:cs typeface="Arial" pitchFamily="34" charset="0"/>
              </a:rPr>
              <a:t> It tells you the accuracy at which the pupil does the task.</a:t>
            </a:r>
          </a:p>
          <a:p>
            <a:pPr marL="179388" lvl="1" indent="0" fontAlgn="auto">
              <a:lnSpc>
                <a:spcPct val="80000"/>
              </a:lnSpc>
              <a:spcAft>
                <a:spcPts val="0"/>
              </a:spcAft>
              <a:defRPr/>
            </a:pPr>
            <a:r>
              <a:rPr lang="en-GB" altLang="en-US" sz="2400" dirty="0" smtClean="0">
                <a:solidFill>
                  <a:schemeClr val="bg1"/>
                </a:solidFill>
                <a:latin typeface="Arial" pitchFamily="34" charset="0"/>
                <a:cs typeface="Arial" pitchFamily="34" charset="0"/>
              </a:rPr>
              <a:t> This is expressed as a</a:t>
            </a:r>
            <a:r>
              <a:rPr lang="en-GB" altLang="en-US" sz="2400" dirty="0" smtClean="0">
                <a:latin typeface="Arial" pitchFamily="34" charset="0"/>
                <a:cs typeface="Arial" pitchFamily="34" charset="0"/>
              </a:rPr>
              <a:t> </a:t>
            </a:r>
            <a:r>
              <a:rPr lang="en-GB" altLang="en-US" sz="2400" i="1" dirty="0" smtClean="0">
                <a:solidFill>
                  <a:srgbClr val="FF0000"/>
                </a:solidFill>
                <a:latin typeface="Arial" pitchFamily="34" charset="0"/>
                <a:cs typeface="Arial" pitchFamily="34" charset="0"/>
              </a:rPr>
              <a:t>rate</a:t>
            </a:r>
            <a:r>
              <a:rPr lang="en-GB" altLang="en-US" sz="2400" dirty="0" smtClean="0">
                <a:latin typeface="Arial" pitchFamily="34" charset="0"/>
                <a:cs typeface="Arial" pitchFamily="34" charset="0"/>
              </a:rPr>
              <a:t> </a:t>
            </a:r>
            <a:r>
              <a:rPr lang="en-GB" altLang="en-US" sz="2400" dirty="0" smtClean="0">
                <a:solidFill>
                  <a:schemeClr val="bg1"/>
                </a:solidFill>
                <a:latin typeface="Arial" pitchFamily="34" charset="0"/>
                <a:cs typeface="Arial" pitchFamily="34" charset="0"/>
              </a:rPr>
              <a:t>measurement i.e. the number of responses per minute.</a:t>
            </a:r>
          </a:p>
        </p:txBody>
      </p:sp>
    </p:spTree>
    <p:extLst>
      <p:ext uri="{BB962C8B-B14F-4D97-AF65-F5344CB8AC3E}">
        <p14:creationId xmlns:p14="http://schemas.microsoft.com/office/powerpoint/2010/main" val="204110143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idx="4294967295"/>
          </p:nvPr>
        </p:nvSpPr>
        <p:spPr>
          <a:xfrm>
            <a:off x="0" y="-158296"/>
            <a:ext cx="7772400" cy="1143000"/>
          </a:xfrm>
        </p:spPr>
        <p:txBody>
          <a:bodyPr/>
          <a:lstStyle/>
          <a:p>
            <a:pPr algn="l" fontAlgn="auto">
              <a:spcAft>
                <a:spcPts val="0"/>
              </a:spcAft>
              <a:defRPr/>
            </a:pPr>
            <a:r>
              <a:rPr lang="en-GB" altLang="en-US" sz="4000" dirty="0" smtClean="0">
                <a:solidFill>
                  <a:schemeClr val="bg1"/>
                </a:solidFill>
                <a:latin typeface="Arial" pitchFamily="34" charset="0"/>
                <a:cs typeface="Arial" pitchFamily="34" charset="0"/>
              </a:rPr>
              <a:t> 5. Recording</a:t>
            </a:r>
          </a:p>
        </p:txBody>
      </p:sp>
      <p:sp>
        <p:nvSpPr>
          <p:cNvPr id="25603" name="Rectangle 2"/>
          <p:cNvSpPr>
            <a:spLocks noGrp="1" noChangeArrowheads="1"/>
          </p:cNvSpPr>
          <p:nvPr>
            <p:ph idx="4294967295"/>
          </p:nvPr>
        </p:nvSpPr>
        <p:spPr>
          <a:xfrm>
            <a:off x="0" y="772432"/>
            <a:ext cx="7632700" cy="4968875"/>
          </a:xfrm>
        </p:spPr>
        <p:txBody>
          <a:bodyPr>
            <a:normAutofit lnSpcReduction="10000"/>
          </a:bodyPr>
          <a:lstStyle/>
          <a:p>
            <a:pPr>
              <a:lnSpc>
                <a:spcPct val="80000"/>
              </a:lnSpc>
            </a:pPr>
            <a:r>
              <a:rPr lang="en-GB" altLang="en-US" sz="2000" dirty="0" smtClean="0">
                <a:solidFill>
                  <a:schemeClr val="bg1"/>
                </a:solidFill>
                <a:latin typeface="Tahoma" pitchFamily="34" charset="0"/>
                <a:cs typeface="Arial" pitchFamily="34" charset="0"/>
              </a:rPr>
              <a:t>Pupil_______________</a:t>
            </a:r>
          </a:p>
          <a:p>
            <a:pPr>
              <a:lnSpc>
                <a:spcPct val="80000"/>
              </a:lnSpc>
            </a:pPr>
            <a:endParaRPr lang="en-GB" altLang="en-US" sz="2000" dirty="0" smtClean="0">
              <a:solidFill>
                <a:schemeClr val="bg1"/>
              </a:solidFill>
              <a:latin typeface="Tahoma" pitchFamily="34" charset="0"/>
              <a:cs typeface="Arial" pitchFamily="34" charset="0"/>
            </a:endParaRPr>
          </a:p>
          <a:p>
            <a:pPr>
              <a:lnSpc>
                <a:spcPct val="80000"/>
              </a:lnSpc>
            </a:pPr>
            <a:r>
              <a:rPr lang="en-GB" altLang="en-US" sz="2000" dirty="0" smtClean="0">
                <a:solidFill>
                  <a:schemeClr val="bg1"/>
                </a:solidFill>
                <a:latin typeface="Tahoma" pitchFamily="34" charset="0"/>
                <a:cs typeface="Arial" pitchFamily="34" charset="0"/>
              </a:rPr>
              <a:t>Criterion:</a:t>
            </a:r>
          </a:p>
          <a:p>
            <a:pPr>
              <a:lnSpc>
                <a:spcPct val="80000"/>
              </a:lnSpc>
            </a:pPr>
            <a:r>
              <a:rPr lang="en-GB" altLang="en-US" dirty="0" smtClean="0">
                <a:solidFill>
                  <a:schemeClr val="bg1"/>
                </a:solidFill>
                <a:latin typeface="Tahoma" pitchFamily="34" charset="0"/>
                <a:cs typeface="Arial" pitchFamily="34" charset="0"/>
              </a:rPr>
              <a:t>_____ correct with </a:t>
            </a:r>
          </a:p>
          <a:p>
            <a:pPr>
              <a:lnSpc>
                <a:spcPct val="80000"/>
              </a:lnSpc>
            </a:pPr>
            <a:r>
              <a:rPr lang="en-GB" altLang="en-US" dirty="0" smtClean="0">
                <a:solidFill>
                  <a:schemeClr val="bg1"/>
                </a:solidFill>
                <a:latin typeface="Tahoma" pitchFamily="34" charset="0"/>
                <a:cs typeface="Arial" pitchFamily="34" charset="0"/>
              </a:rPr>
              <a:t>max ____errors</a:t>
            </a:r>
          </a:p>
          <a:p>
            <a:pPr>
              <a:lnSpc>
                <a:spcPct val="80000"/>
              </a:lnSpc>
            </a:pPr>
            <a:endParaRPr lang="en-GB" altLang="en-US" sz="2000" dirty="0" smtClean="0">
              <a:solidFill>
                <a:schemeClr val="bg1"/>
              </a:solidFill>
              <a:latin typeface="Tahoma" pitchFamily="34" charset="0"/>
              <a:cs typeface="Arial" pitchFamily="34" charset="0"/>
            </a:endParaRPr>
          </a:p>
          <a:p>
            <a:pPr>
              <a:lnSpc>
                <a:spcPct val="80000"/>
              </a:lnSpc>
            </a:pPr>
            <a:r>
              <a:rPr lang="en-GB" altLang="en-US" sz="2000" dirty="0" smtClean="0">
                <a:solidFill>
                  <a:schemeClr val="bg1"/>
                </a:solidFill>
                <a:latin typeface="Tahoma" pitchFamily="34" charset="0"/>
                <a:cs typeface="Arial" pitchFamily="34" charset="0"/>
              </a:rPr>
              <a:t>Key:</a:t>
            </a:r>
          </a:p>
          <a:p>
            <a:pPr lvl="1">
              <a:lnSpc>
                <a:spcPct val="80000"/>
              </a:lnSpc>
            </a:pPr>
            <a:r>
              <a:rPr lang="en-GB" altLang="en-US" dirty="0" smtClean="0">
                <a:solidFill>
                  <a:schemeClr val="bg1"/>
                </a:solidFill>
                <a:latin typeface="Tahoma" pitchFamily="34" charset="0"/>
                <a:cs typeface="Arial" pitchFamily="34" charset="0"/>
              </a:rPr>
              <a:t>Correct answers</a:t>
            </a:r>
          </a:p>
          <a:p>
            <a:pPr lvl="1">
              <a:lnSpc>
                <a:spcPct val="80000"/>
              </a:lnSpc>
            </a:pPr>
            <a:r>
              <a:rPr lang="en-GB" altLang="en-US" dirty="0" smtClean="0">
                <a:solidFill>
                  <a:schemeClr val="bg1"/>
                </a:solidFill>
                <a:latin typeface="Tahoma" pitchFamily="34" charset="0"/>
                <a:cs typeface="Arial" pitchFamily="34" charset="0"/>
              </a:rPr>
              <a:t>Incorrect answers</a:t>
            </a:r>
          </a:p>
          <a:p>
            <a:pPr lvl="1">
              <a:lnSpc>
                <a:spcPct val="80000"/>
              </a:lnSpc>
            </a:pPr>
            <a:endParaRPr lang="en-GB" altLang="en-US" dirty="0" smtClean="0">
              <a:solidFill>
                <a:schemeClr val="bg1"/>
              </a:solidFill>
              <a:latin typeface="Tahoma" pitchFamily="34" charset="0"/>
              <a:cs typeface="Arial" pitchFamily="34" charset="0"/>
            </a:endParaRPr>
          </a:p>
          <a:p>
            <a:pPr lvl="1">
              <a:lnSpc>
                <a:spcPct val="80000"/>
              </a:lnSpc>
            </a:pPr>
            <a:endParaRPr lang="en-GB" altLang="en-US" dirty="0" smtClean="0">
              <a:solidFill>
                <a:schemeClr val="bg1"/>
              </a:solidFill>
              <a:latin typeface="Tahoma" pitchFamily="34" charset="0"/>
              <a:cs typeface="Arial" pitchFamily="34" charset="0"/>
            </a:endParaRPr>
          </a:p>
          <a:p>
            <a:pPr>
              <a:lnSpc>
                <a:spcPct val="80000"/>
              </a:lnSpc>
              <a:buFontTx/>
              <a:buNone/>
            </a:pPr>
            <a:r>
              <a:rPr lang="en-GB" altLang="en-US" sz="2000" dirty="0" smtClean="0">
                <a:solidFill>
                  <a:schemeClr val="bg1"/>
                </a:solidFill>
                <a:latin typeface="Tahoma" pitchFamily="34" charset="0"/>
                <a:cs typeface="Arial" pitchFamily="34" charset="0"/>
              </a:rPr>
              <a:t>Remember: Do not join across </a:t>
            </a:r>
          </a:p>
          <a:p>
            <a:pPr>
              <a:lnSpc>
                <a:spcPct val="80000"/>
              </a:lnSpc>
              <a:buFontTx/>
              <a:buNone/>
            </a:pPr>
            <a:r>
              <a:rPr lang="en-GB" altLang="en-US" sz="2000" dirty="0" smtClean="0">
                <a:solidFill>
                  <a:schemeClr val="bg1"/>
                </a:solidFill>
                <a:latin typeface="Tahoma" pitchFamily="34" charset="0"/>
                <a:cs typeface="Arial" pitchFamily="34" charset="0"/>
              </a:rPr>
              <a:t>weekends or across days when a</a:t>
            </a:r>
          </a:p>
          <a:p>
            <a:pPr>
              <a:lnSpc>
                <a:spcPct val="80000"/>
              </a:lnSpc>
              <a:buFontTx/>
              <a:buNone/>
            </a:pPr>
            <a:r>
              <a:rPr lang="en-GB" altLang="en-US" sz="2000" dirty="0" smtClean="0">
                <a:solidFill>
                  <a:schemeClr val="bg1"/>
                </a:solidFill>
                <a:latin typeface="Tahoma" pitchFamily="34" charset="0"/>
                <a:cs typeface="Arial" pitchFamily="34" charset="0"/>
              </a:rPr>
              <a:t>pupil was not tested.</a:t>
            </a:r>
          </a:p>
        </p:txBody>
      </p:sp>
      <p:pic>
        <p:nvPicPr>
          <p:cNvPr id="25604" name="Picture 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818" y="3028950"/>
            <a:ext cx="409575"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5" name="Picture 1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03800" y="1268413"/>
            <a:ext cx="3870325" cy="4740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2695799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02" name="Rectangle 1"/>
          <p:cNvSpPr>
            <a:spLocks noGrp="1" noChangeArrowheads="1"/>
          </p:cNvSpPr>
          <p:nvPr>
            <p:ph type="body" idx="4294967295"/>
          </p:nvPr>
        </p:nvSpPr>
        <p:spPr>
          <a:xfrm>
            <a:off x="1447800" y="1268413"/>
            <a:ext cx="7696200" cy="5334000"/>
          </a:xfrm>
        </p:spPr>
        <p:txBody>
          <a:bodyPr rIns="31750"/>
          <a:lstStyle/>
          <a:p>
            <a:pPr marL="690563" indent="-609600" eaLnBrk="1" hangingPunct="1">
              <a:buFont typeface="Century Gothic" pitchFamily="34" charset="0"/>
              <a:buNone/>
            </a:pPr>
            <a:endParaRPr lang="en-US" altLang="en-US" sz="1400" dirty="0" smtClean="0"/>
          </a:p>
          <a:p>
            <a:pPr marL="690563" indent="-609600" eaLnBrk="1" hangingPunct="1">
              <a:buFont typeface="Century Gothic" pitchFamily="34" charset="0"/>
              <a:buNone/>
            </a:pPr>
            <a:r>
              <a:rPr lang="en-US" altLang="en-US" sz="2400" dirty="0" smtClean="0">
                <a:solidFill>
                  <a:schemeClr val="bg1"/>
                </a:solidFill>
              </a:rPr>
              <a:t>Suggested minimum Fluency Markers:</a:t>
            </a:r>
          </a:p>
          <a:p>
            <a:pPr marL="690563" indent="-609600" eaLnBrk="1" hangingPunct="1">
              <a:buFont typeface="Century Gothic" pitchFamily="34" charset="0"/>
              <a:buNone/>
            </a:pPr>
            <a:r>
              <a:rPr lang="en-US" altLang="en-US" sz="1600" dirty="0" smtClean="0">
                <a:solidFill>
                  <a:schemeClr val="bg1"/>
                </a:solidFill>
                <a:latin typeface="ヒラギノ明朝 ProN W3" charset="0"/>
                <a:sym typeface="ヒラギノ明朝 ProN W3" charset="0"/>
              </a:rPr>
              <a:t>			</a:t>
            </a:r>
            <a:r>
              <a:rPr lang="en-US" altLang="en-US" sz="1800" dirty="0" smtClean="0">
                <a:solidFill>
                  <a:schemeClr val="bg1"/>
                </a:solidFill>
              </a:rPr>
              <a:t>Infant Pupils</a:t>
            </a:r>
            <a:r>
              <a:rPr lang="en-US" altLang="en-US" sz="1800" dirty="0" smtClean="0">
                <a:solidFill>
                  <a:schemeClr val="bg1"/>
                </a:solidFill>
                <a:latin typeface="ヒラギノ明朝 ProN W3" charset="0"/>
                <a:sym typeface="ヒラギノ明朝 ProN W3" charset="0"/>
              </a:rPr>
              <a:t>	</a:t>
            </a:r>
            <a:r>
              <a:rPr lang="en-US" altLang="en-US" sz="1800" dirty="0" smtClean="0">
                <a:solidFill>
                  <a:schemeClr val="bg1"/>
                </a:solidFill>
              </a:rPr>
              <a:t>=</a:t>
            </a:r>
            <a:r>
              <a:rPr lang="en-US" altLang="en-US" sz="1800" dirty="0" smtClean="0">
                <a:solidFill>
                  <a:schemeClr val="bg1"/>
                </a:solidFill>
                <a:latin typeface="ヒラギノ明朝 ProN W3" charset="0"/>
                <a:sym typeface="ヒラギノ明朝 ProN W3" charset="0"/>
              </a:rPr>
              <a:t>	</a:t>
            </a:r>
            <a:r>
              <a:rPr lang="en-US" altLang="en-US" sz="1800" dirty="0" smtClean="0">
                <a:solidFill>
                  <a:schemeClr val="bg1"/>
                </a:solidFill>
              </a:rPr>
              <a:t>40 correct per minute</a:t>
            </a:r>
            <a:endParaRPr lang="en-US" altLang="en-US" dirty="0" smtClean="0">
              <a:solidFill>
                <a:schemeClr val="bg1"/>
              </a:solidFill>
            </a:endParaRPr>
          </a:p>
          <a:p>
            <a:pPr marL="690563" indent="-609600" eaLnBrk="1" hangingPunct="1">
              <a:buFont typeface="Century Gothic" pitchFamily="34" charset="0"/>
              <a:buNone/>
            </a:pPr>
            <a:r>
              <a:rPr lang="en-US" altLang="en-US" sz="1800" dirty="0" smtClean="0">
                <a:solidFill>
                  <a:schemeClr val="bg1"/>
                </a:solidFill>
                <a:latin typeface="ヒラギノ明朝 ProN W3" charset="0"/>
                <a:sym typeface="ヒラギノ明朝 ProN W3" charset="0"/>
              </a:rPr>
              <a:t>			</a:t>
            </a:r>
            <a:r>
              <a:rPr lang="en-US" altLang="en-US" sz="1800" dirty="0" smtClean="0">
                <a:solidFill>
                  <a:schemeClr val="bg1"/>
                </a:solidFill>
              </a:rPr>
              <a:t>Junior Pupils</a:t>
            </a:r>
            <a:r>
              <a:rPr lang="en-US" altLang="en-US" sz="1800" dirty="0" smtClean="0">
                <a:solidFill>
                  <a:schemeClr val="bg1"/>
                </a:solidFill>
                <a:latin typeface="ヒラギノ明朝 ProN W3" charset="0"/>
                <a:sym typeface="ヒラギノ明朝 ProN W3" charset="0"/>
              </a:rPr>
              <a:t>	</a:t>
            </a:r>
            <a:r>
              <a:rPr lang="en-US" altLang="en-US" sz="1800" dirty="0" smtClean="0">
                <a:solidFill>
                  <a:schemeClr val="bg1"/>
                </a:solidFill>
              </a:rPr>
              <a:t>=</a:t>
            </a:r>
            <a:r>
              <a:rPr lang="en-US" altLang="en-US" sz="1800" dirty="0" smtClean="0">
                <a:solidFill>
                  <a:schemeClr val="bg1"/>
                </a:solidFill>
                <a:latin typeface="ヒラギノ明朝 ProN W3" charset="0"/>
                <a:sym typeface="ヒラギノ明朝 ProN W3" charset="0"/>
              </a:rPr>
              <a:t>	</a:t>
            </a:r>
            <a:r>
              <a:rPr lang="en-US" altLang="en-US" sz="1800" dirty="0" smtClean="0">
                <a:solidFill>
                  <a:schemeClr val="bg1"/>
                </a:solidFill>
              </a:rPr>
              <a:t>50 </a:t>
            </a:r>
            <a:r>
              <a:rPr lang="en-US" altLang="en-US" sz="1800" dirty="0" err="1" smtClean="0">
                <a:solidFill>
                  <a:schemeClr val="bg1"/>
                </a:solidFill>
              </a:rPr>
              <a:t>cpm</a:t>
            </a:r>
            <a:endParaRPr lang="en-US" altLang="en-US" dirty="0" smtClean="0">
              <a:solidFill>
                <a:schemeClr val="bg1"/>
              </a:solidFill>
            </a:endParaRPr>
          </a:p>
          <a:p>
            <a:pPr marL="690563" indent="-609600" eaLnBrk="1" hangingPunct="1">
              <a:buFont typeface="Century Gothic" pitchFamily="34" charset="0"/>
              <a:buNone/>
            </a:pPr>
            <a:r>
              <a:rPr lang="en-US" altLang="en-US" sz="1800" dirty="0" smtClean="0">
                <a:solidFill>
                  <a:schemeClr val="bg1"/>
                </a:solidFill>
                <a:latin typeface="ヒラギノ明朝 ProN W3" charset="0"/>
                <a:sym typeface="ヒラギノ明朝 ProN W3" charset="0"/>
              </a:rPr>
              <a:t>			</a:t>
            </a:r>
            <a:r>
              <a:rPr lang="en-US" altLang="en-US" sz="1800" dirty="0" smtClean="0">
                <a:solidFill>
                  <a:schemeClr val="bg1"/>
                </a:solidFill>
              </a:rPr>
              <a:t>Secondary</a:t>
            </a:r>
            <a:r>
              <a:rPr lang="en-US" altLang="en-US" sz="1800" dirty="0" smtClean="0">
                <a:solidFill>
                  <a:schemeClr val="bg1"/>
                </a:solidFill>
                <a:latin typeface="ヒラギノ明朝 ProN W3" charset="0"/>
                <a:sym typeface="ヒラギノ明朝 ProN W3" charset="0"/>
              </a:rPr>
              <a:t>	</a:t>
            </a:r>
            <a:r>
              <a:rPr lang="en-US" altLang="en-US" sz="1800" dirty="0" smtClean="0">
                <a:solidFill>
                  <a:schemeClr val="bg1"/>
                </a:solidFill>
              </a:rPr>
              <a:t>=</a:t>
            </a:r>
            <a:r>
              <a:rPr lang="en-US" altLang="en-US" sz="1800" dirty="0" smtClean="0">
                <a:solidFill>
                  <a:schemeClr val="bg1"/>
                </a:solidFill>
                <a:latin typeface="ヒラギノ明朝 ProN W3" charset="0"/>
                <a:sym typeface="ヒラギノ明朝 ProN W3" charset="0"/>
              </a:rPr>
              <a:t>	</a:t>
            </a:r>
            <a:r>
              <a:rPr lang="en-US" altLang="en-US" sz="1800" dirty="0" smtClean="0">
                <a:solidFill>
                  <a:schemeClr val="bg1"/>
                </a:solidFill>
              </a:rPr>
              <a:t>60 </a:t>
            </a:r>
            <a:r>
              <a:rPr lang="en-US" altLang="en-US" sz="1800" dirty="0" err="1" smtClean="0">
                <a:solidFill>
                  <a:schemeClr val="bg1"/>
                </a:solidFill>
              </a:rPr>
              <a:t>cpm</a:t>
            </a:r>
            <a:endParaRPr lang="en-US" altLang="en-US" dirty="0" smtClean="0">
              <a:solidFill>
                <a:schemeClr val="bg1"/>
              </a:solidFill>
            </a:endParaRPr>
          </a:p>
          <a:p>
            <a:pPr marL="690563" indent="-609600" eaLnBrk="1" hangingPunct="1">
              <a:buFont typeface="Century Gothic" pitchFamily="34" charset="0"/>
              <a:buNone/>
            </a:pPr>
            <a:endParaRPr lang="en-US" altLang="en-US" sz="1600" dirty="0" smtClean="0">
              <a:solidFill>
                <a:schemeClr val="bg1"/>
              </a:solidFill>
            </a:endParaRPr>
          </a:p>
          <a:p>
            <a:pPr marL="690563" indent="-609600" eaLnBrk="1" hangingPunct="1">
              <a:buFont typeface="Century Gothic" pitchFamily="34" charset="0"/>
              <a:buNone/>
            </a:pPr>
            <a:r>
              <a:rPr lang="en-US" altLang="en-US" sz="2400" dirty="0" smtClean="0">
                <a:solidFill>
                  <a:schemeClr val="bg1"/>
                </a:solidFill>
              </a:rPr>
              <a:t>Suggested minimum </a:t>
            </a:r>
          </a:p>
          <a:p>
            <a:pPr marL="690563" indent="-609600" eaLnBrk="1" hangingPunct="1">
              <a:buFont typeface="Century Gothic" pitchFamily="34" charset="0"/>
              <a:buNone/>
            </a:pPr>
            <a:r>
              <a:rPr lang="en-US" altLang="en-US" sz="2400" dirty="0" smtClean="0">
                <a:solidFill>
                  <a:schemeClr val="bg1"/>
                </a:solidFill>
              </a:rPr>
              <a:t>Accuracy Markers:</a:t>
            </a:r>
          </a:p>
          <a:p>
            <a:pPr marL="690563" indent="-609600" eaLnBrk="1" hangingPunct="1">
              <a:buFont typeface="Century Gothic" pitchFamily="34" charset="0"/>
              <a:buNone/>
            </a:pPr>
            <a:r>
              <a:rPr lang="en-US" altLang="en-US" sz="1800" dirty="0" smtClean="0">
                <a:solidFill>
                  <a:schemeClr val="bg1"/>
                </a:solidFill>
              </a:rPr>
              <a:t>See-to-say</a:t>
            </a:r>
            <a:r>
              <a:rPr lang="en-US" altLang="en-US" sz="1800" dirty="0" smtClean="0">
                <a:solidFill>
                  <a:schemeClr val="bg1"/>
                </a:solidFill>
                <a:latin typeface="ヒラギノ明朝 ProN W3" charset="0"/>
                <a:sym typeface="ヒラギノ明朝 ProN W3" charset="0"/>
              </a:rPr>
              <a:t>		</a:t>
            </a:r>
            <a:r>
              <a:rPr lang="en-US" altLang="en-US" sz="1800" dirty="0" smtClean="0">
                <a:solidFill>
                  <a:schemeClr val="bg1"/>
                </a:solidFill>
              </a:rPr>
              <a:t>=</a:t>
            </a:r>
            <a:r>
              <a:rPr lang="en-US" altLang="en-US" sz="1800" dirty="0" smtClean="0">
                <a:solidFill>
                  <a:schemeClr val="bg1"/>
                </a:solidFill>
                <a:latin typeface="ヒラギノ明朝 ProN W3" charset="0"/>
                <a:sym typeface="ヒラギノ明朝 ProN W3" charset="0"/>
              </a:rPr>
              <a:t>	</a:t>
            </a:r>
            <a:r>
              <a:rPr lang="en-US" altLang="en-US" sz="1800" dirty="0" smtClean="0">
                <a:solidFill>
                  <a:schemeClr val="bg1"/>
                </a:solidFill>
              </a:rPr>
              <a:t>3 or less</a:t>
            </a:r>
            <a:endParaRPr lang="en-US" altLang="en-US" dirty="0" smtClean="0">
              <a:solidFill>
                <a:schemeClr val="bg1"/>
              </a:solidFill>
            </a:endParaRPr>
          </a:p>
          <a:p>
            <a:pPr marL="690563" indent="-609600" eaLnBrk="1" hangingPunct="1">
              <a:buFont typeface="Century Gothic" pitchFamily="34" charset="0"/>
              <a:buNone/>
            </a:pPr>
            <a:endParaRPr lang="en-US" altLang="en-US" dirty="0" smtClean="0">
              <a:solidFill>
                <a:schemeClr val="bg1"/>
              </a:solidFill>
            </a:endParaRPr>
          </a:p>
          <a:p>
            <a:pPr marL="690563" indent="-609600" eaLnBrk="1" hangingPunct="1">
              <a:buFont typeface="Century Gothic" pitchFamily="34" charset="0"/>
              <a:buNone/>
            </a:pPr>
            <a:r>
              <a:rPr lang="en-US" altLang="en-US" sz="1800" dirty="0" smtClean="0">
                <a:solidFill>
                  <a:schemeClr val="bg1"/>
                </a:solidFill>
              </a:rPr>
              <a:t>MAINTENANCE- ACHIEVE THE TARGET FOR 3 </a:t>
            </a:r>
          </a:p>
          <a:p>
            <a:pPr marL="690563" indent="-609600" eaLnBrk="1" hangingPunct="1">
              <a:buFont typeface="Century Gothic" pitchFamily="34" charset="0"/>
              <a:buNone/>
            </a:pPr>
            <a:r>
              <a:rPr lang="en-US" altLang="en-US" sz="1800" dirty="0" smtClean="0">
                <a:solidFill>
                  <a:schemeClr val="bg1"/>
                </a:solidFill>
              </a:rPr>
              <a:t>CONSECUTIVE DAYS</a:t>
            </a:r>
            <a:endParaRPr lang="en-US" altLang="en-US" dirty="0" smtClean="0">
              <a:solidFill>
                <a:schemeClr val="bg1"/>
              </a:solidFill>
            </a:endParaRPr>
          </a:p>
          <a:p>
            <a:pPr marL="690563" indent="-609600" eaLnBrk="1" hangingPunct="1">
              <a:buFont typeface="Century Gothic" pitchFamily="34" charset="0"/>
              <a:buNone/>
            </a:pPr>
            <a:endParaRPr lang="en-US" altLang="en-US" dirty="0" smtClean="0"/>
          </a:p>
        </p:txBody>
      </p:sp>
      <p:sp>
        <p:nvSpPr>
          <p:cNvPr id="25603" name="Rectangle 2"/>
          <p:cNvSpPr>
            <a:spLocks/>
          </p:cNvSpPr>
          <p:nvPr/>
        </p:nvSpPr>
        <p:spPr bwMode="auto">
          <a:xfrm>
            <a:off x="1258888" y="2276475"/>
            <a:ext cx="1447800"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0639" bIns="0"/>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spcBef>
                <a:spcPts val="1100"/>
              </a:spcBef>
              <a:buClrTx/>
              <a:buSzTx/>
              <a:buFontTx/>
              <a:buNone/>
            </a:pPr>
            <a:r>
              <a:rPr lang="en-US" altLang="en-US" sz="1800" dirty="0">
                <a:solidFill>
                  <a:schemeClr val="bg1"/>
                </a:solidFill>
              </a:rPr>
              <a:t>See-to-say</a:t>
            </a:r>
          </a:p>
        </p:txBody>
      </p:sp>
      <p:sp>
        <p:nvSpPr>
          <p:cNvPr id="25604" name="Rectangle 3"/>
          <p:cNvSpPr>
            <a:spLocks/>
          </p:cNvSpPr>
          <p:nvPr/>
        </p:nvSpPr>
        <p:spPr bwMode="auto">
          <a:xfrm>
            <a:off x="1157288" y="942975"/>
            <a:ext cx="68707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82550" bIns="0" anchor="b"/>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spcBef>
                <a:spcPct val="0"/>
              </a:spcBef>
              <a:buClrTx/>
              <a:buSzTx/>
              <a:buFontTx/>
              <a:buNone/>
            </a:pPr>
            <a:r>
              <a:rPr lang="en-US" altLang="en-US" sz="3600" u="sng" dirty="0">
                <a:solidFill>
                  <a:schemeClr val="bg1"/>
                </a:solidFill>
              </a:rPr>
              <a:t>Setting Aim Rates</a:t>
            </a:r>
          </a:p>
        </p:txBody>
      </p:sp>
      <p:sp>
        <p:nvSpPr>
          <p:cNvPr id="25605" name="AutoShape 4"/>
          <p:cNvSpPr>
            <a:spLocks/>
          </p:cNvSpPr>
          <p:nvPr/>
        </p:nvSpPr>
        <p:spPr bwMode="auto">
          <a:xfrm>
            <a:off x="2771775" y="2060575"/>
            <a:ext cx="144463" cy="863600"/>
          </a:xfrm>
          <a:custGeom>
            <a:avLst/>
            <a:gdLst>
              <a:gd name="T0" fmla="*/ 2147483647 w 21600"/>
              <a:gd name="T1" fmla="*/ 0 h 21600"/>
              <a:gd name="T2" fmla="*/ 2147483647 w 21600"/>
              <a:gd name="T3" fmla="*/ 2147483647 h 21600"/>
              <a:gd name="T4" fmla="*/ 2147483647 w 21600"/>
              <a:gd name="T5" fmla="*/ 2147483647 h 21600"/>
              <a:gd name="T6" fmla="*/ 0 w 21600"/>
              <a:gd name="T7" fmla="*/ 2147483647 h 21600"/>
              <a:gd name="T8" fmla="*/ 2147483647 w 21600"/>
              <a:gd name="T9" fmla="*/ 2147483647 h 21600"/>
              <a:gd name="T10" fmla="*/ 2147483647 w 21600"/>
              <a:gd name="T11" fmla="*/ 2147483647 h 21600"/>
              <a:gd name="T12" fmla="*/ 2147483647 w 21600"/>
              <a:gd name="T13" fmla="*/ 2147483647 h 21600"/>
              <a:gd name="T14" fmla="*/ 0 60000 65536"/>
              <a:gd name="T15" fmla="*/ 0 60000 65536"/>
              <a:gd name="T16" fmla="*/ 0 60000 65536"/>
              <a:gd name="T17" fmla="*/ 0 60000 65536"/>
              <a:gd name="T18" fmla="*/ 0 60000 65536"/>
              <a:gd name="T19" fmla="*/ 0 60000 65536"/>
              <a:gd name="T20" fmla="*/ 0 60000 65536"/>
              <a:gd name="T21" fmla="*/ 0 w 21600"/>
              <a:gd name="T22" fmla="*/ 0 h 21600"/>
              <a:gd name="T23" fmla="*/ 21600 w 21600"/>
              <a:gd name="T24" fmla="*/ 21600 h 216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600" h="21600">
                <a:moveTo>
                  <a:pt x="21600" y="0"/>
                </a:moveTo>
                <a:cubicBezTo>
                  <a:pt x="15635" y="0"/>
                  <a:pt x="10800" y="806"/>
                  <a:pt x="10800" y="1800"/>
                </a:cubicBezTo>
                <a:lnTo>
                  <a:pt x="10800" y="9000"/>
                </a:lnTo>
                <a:cubicBezTo>
                  <a:pt x="10800" y="9994"/>
                  <a:pt x="5965" y="10800"/>
                  <a:pt x="0" y="10800"/>
                </a:cubicBezTo>
                <a:cubicBezTo>
                  <a:pt x="5965" y="10800"/>
                  <a:pt x="10800" y="11606"/>
                  <a:pt x="10800" y="12600"/>
                </a:cubicBezTo>
                <a:lnTo>
                  <a:pt x="10800" y="19800"/>
                </a:lnTo>
                <a:cubicBezTo>
                  <a:pt x="10800" y="20794"/>
                  <a:pt x="15635" y="21600"/>
                  <a:pt x="21600" y="21600"/>
                </a:cubicBezTo>
              </a:path>
            </a:pathLst>
          </a:custGeom>
          <a:noFill/>
          <a:ln w="12700">
            <a:solidFill>
              <a:schemeClr val="tx1"/>
            </a:solidFill>
            <a:prstDash val="solid"/>
            <a:miter lim="800000"/>
            <a:headEnd type="none" w="med" len="med"/>
            <a:tailEnd type="none" w="med" len="med"/>
          </a:ln>
          <a:extLst>
            <a:ext uri="{909E8E84-426E-40DD-AFC4-6F175D3DCCD1}">
              <a14:hiddenFill xmlns:a14="http://schemas.microsoft.com/office/drawing/2010/main">
                <a:solidFill>
                  <a:srgbClr val="FFFFFF"/>
                </a:solidFill>
              </a14:hiddenFill>
            </a:ext>
          </a:extLst>
        </p:spPr>
        <p:txBody>
          <a:bodyPr lIns="0" tIns="0" rIns="0" bIns="0"/>
          <a:lstStyle/>
          <a:p>
            <a:endParaRPr lang="en-GB"/>
          </a:p>
        </p:txBody>
      </p:sp>
    </p:spTree>
    <p:extLst>
      <p:ext uri="{BB962C8B-B14F-4D97-AF65-F5344CB8AC3E}">
        <p14:creationId xmlns:p14="http://schemas.microsoft.com/office/powerpoint/2010/main" val="294999264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idx="4294967295"/>
          </p:nvPr>
        </p:nvSpPr>
        <p:spPr>
          <a:xfrm>
            <a:off x="0" y="188913"/>
            <a:ext cx="7772400" cy="1143000"/>
          </a:xfrm>
        </p:spPr>
        <p:txBody>
          <a:bodyPr/>
          <a:lstStyle/>
          <a:p>
            <a:pPr algn="ctr" eaLnBrk="1" fontAlgn="auto" hangingPunct="1">
              <a:spcAft>
                <a:spcPts val="0"/>
              </a:spcAft>
              <a:defRPr/>
            </a:pPr>
            <a:r>
              <a:rPr lang="en-GB" altLang="en-US" sz="3600" b="1" dirty="0" smtClean="0">
                <a:solidFill>
                  <a:schemeClr val="bg1"/>
                </a:solidFill>
              </a:rPr>
              <a:t>Step 6-</a:t>
            </a:r>
            <a:r>
              <a:rPr lang="en-GB" altLang="en-US" sz="3600" dirty="0" smtClean="0">
                <a:solidFill>
                  <a:schemeClr val="bg1"/>
                </a:solidFill>
              </a:rPr>
              <a:t> Analyse the Data</a:t>
            </a:r>
          </a:p>
        </p:txBody>
      </p:sp>
      <p:sp>
        <p:nvSpPr>
          <p:cNvPr id="31747" name="Rectangle 3"/>
          <p:cNvSpPr>
            <a:spLocks noGrp="1" noChangeArrowheads="1"/>
          </p:cNvSpPr>
          <p:nvPr>
            <p:ph idx="4294967295"/>
          </p:nvPr>
        </p:nvSpPr>
        <p:spPr>
          <a:xfrm>
            <a:off x="574675" y="1125538"/>
            <a:ext cx="8569325" cy="5183187"/>
          </a:xfrm>
        </p:spPr>
        <p:txBody>
          <a:bodyPr>
            <a:normAutofit/>
          </a:bodyPr>
          <a:lstStyle/>
          <a:p>
            <a:pPr eaLnBrk="1" hangingPunct="1">
              <a:lnSpc>
                <a:spcPct val="90000"/>
              </a:lnSpc>
            </a:pPr>
            <a:r>
              <a:rPr lang="en-GB" altLang="en-US" sz="2000" dirty="0" smtClean="0">
                <a:solidFill>
                  <a:schemeClr val="bg1"/>
                </a:solidFill>
              </a:rPr>
              <a:t>Once the child has hit their target for </a:t>
            </a:r>
            <a:r>
              <a:rPr lang="en-GB" altLang="en-US" sz="2000" u="sng" dirty="0" smtClean="0">
                <a:solidFill>
                  <a:schemeClr val="bg1"/>
                </a:solidFill>
              </a:rPr>
              <a:t>3</a:t>
            </a:r>
            <a:r>
              <a:rPr lang="en-GB" altLang="en-US" sz="2000" dirty="0" smtClean="0">
                <a:solidFill>
                  <a:schemeClr val="bg1"/>
                </a:solidFill>
              </a:rPr>
              <a:t> consecutive days move on to a new set of words.</a:t>
            </a:r>
          </a:p>
          <a:p>
            <a:pPr eaLnBrk="1" hangingPunct="1">
              <a:lnSpc>
                <a:spcPct val="90000"/>
              </a:lnSpc>
              <a:buFontTx/>
              <a:buNone/>
            </a:pPr>
            <a:endParaRPr lang="en-GB" altLang="en-US" sz="2000" dirty="0" smtClean="0">
              <a:solidFill>
                <a:schemeClr val="bg1"/>
              </a:solidFill>
            </a:endParaRPr>
          </a:p>
          <a:p>
            <a:pPr eaLnBrk="1" hangingPunct="1">
              <a:lnSpc>
                <a:spcPct val="90000"/>
              </a:lnSpc>
              <a:buFontTx/>
              <a:buNone/>
            </a:pPr>
            <a:r>
              <a:rPr lang="en-GB" altLang="en-US" sz="2000" u="sng" dirty="0" smtClean="0">
                <a:solidFill>
                  <a:schemeClr val="bg1"/>
                </a:solidFill>
              </a:rPr>
              <a:t>The 3 day rule</a:t>
            </a:r>
          </a:p>
          <a:p>
            <a:pPr eaLnBrk="1" hangingPunct="1">
              <a:lnSpc>
                <a:spcPct val="90000"/>
              </a:lnSpc>
            </a:pPr>
            <a:r>
              <a:rPr lang="en-GB" altLang="en-US" sz="2000" dirty="0" smtClean="0">
                <a:solidFill>
                  <a:schemeClr val="bg1"/>
                </a:solidFill>
              </a:rPr>
              <a:t>Check after </a:t>
            </a:r>
            <a:r>
              <a:rPr lang="en-GB" altLang="en-US" sz="2000" b="1" dirty="0" smtClean="0">
                <a:solidFill>
                  <a:schemeClr val="bg1"/>
                </a:solidFill>
              </a:rPr>
              <a:t>3</a:t>
            </a:r>
            <a:r>
              <a:rPr lang="en-GB" altLang="en-US" sz="2000" dirty="0" smtClean="0">
                <a:solidFill>
                  <a:schemeClr val="bg1"/>
                </a:solidFill>
              </a:rPr>
              <a:t> days:</a:t>
            </a:r>
          </a:p>
          <a:p>
            <a:pPr lvl="1" eaLnBrk="1" hangingPunct="1">
              <a:lnSpc>
                <a:spcPct val="90000"/>
              </a:lnSpc>
            </a:pPr>
            <a:r>
              <a:rPr lang="en-GB" altLang="en-US" sz="2000" dirty="0" smtClean="0">
                <a:solidFill>
                  <a:schemeClr val="bg1"/>
                </a:solidFill>
              </a:rPr>
              <a:t>If the task appears too hard consider reducing the demands of the task (e.g. number of words to be learnt, types of words being learnt).</a:t>
            </a:r>
          </a:p>
          <a:p>
            <a:pPr lvl="1" eaLnBrk="1" hangingPunct="1">
              <a:lnSpc>
                <a:spcPct val="90000"/>
              </a:lnSpc>
              <a:buFontTx/>
              <a:buNone/>
            </a:pPr>
            <a:endParaRPr lang="en-GB" altLang="en-US" sz="2000" dirty="0" smtClean="0">
              <a:solidFill>
                <a:schemeClr val="bg1"/>
              </a:solidFill>
            </a:endParaRPr>
          </a:p>
          <a:p>
            <a:pPr eaLnBrk="1" hangingPunct="1">
              <a:lnSpc>
                <a:spcPct val="90000"/>
              </a:lnSpc>
              <a:buFontTx/>
              <a:buNone/>
            </a:pPr>
            <a:r>
              <a:rPr lang="en-GB" altLang="en-US" sz="2000" u="sng" dirty="0" smtClean="0">
                <a:solidFill>
                  <a:schemeClr val="bg1"/>
                </a:solidFill>
              </a:rPr>
              <a:t>The 8 day rule</a:t>
            </a:r>
          </a:p>
          <a:p>
            <a:pPr eaLnBrk="1" hangingPunct="1">
              <a:lnSpc>
                <a:spcPct val="90000"/>
              </a:lnSpc>
            </a:pPr>
            <a:r>
              <a:rPr lang="en-GB" altLang="en-US" sz="2000" dirty="0" smtClean="0">
                <a:solidFill>
                  <a:schemeClr val="bg1"/>
                </a:solidFill>
              </a:rPr>
              <a:t>Check after </a:t>
            </a:r>
            <a:r>
              <a:rPr lang="en-GB" altLang="en-US" sz="2000" b="1" dirty="0" smtClean="0">
                <a:solidFill>
                  <a:schemeClr val="bg1"/>
                </a:solidFill>
              </a:rPr>
              <a:t>8</a:t>
            </a:r>
            <a:r>
              <a:rPr lang="en-GB" altLang="en-US" sz="2000" dirty="0" smtClean="0">
                <a:solidFill>
                  <a:schemeClr val="bg1"/>
                </a:solidFill>
              </a:rPr>
              <a:t> days:</a:t>
            </a:r>
          </a:p>
          <a:p>
            <a:pPr lvl="1" eaLnBrk="1" hangingPunct="1">
              <a:lnSpc>
                <a:spcPct val="90000"/>
              </a:lnSpc>
            </a:pPr>
            <a:r>
              <a:rPr lang="en-GB" altLang="en-US" sz="2000" dirty="0" smtClean="0">
                <a:solidFill>
                  <a:schemeClr val="bg1"/>
                </a:solidFill>
              </a:rPr>
              <a:t>If the pupil is not at or near their target after 8 days consider a change (e.g. increasing motivation, modifying teaching method, changing task).</a:t>
            </a:r>
          </a:p>
        </p:txBody>
      </p:sp>
    </p:spTree>
    <p:extLst>
      <p:ext uri="{BB962C8B-B14F-4D97-AF65-F5344CB8AC3E}">
        <p14:creationId xmlns:p14="http://schemas.microsoft.com/office/powerpoint/2010/main" val="95702451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idx="4294967295"/>
          </p:nvPr>
        </p:nvSpPr>
        <p:spPr>
          <a:xfrm>
            <a:off x="0" y="476250"/>
            <a:ext cx="7773988" cy="1223963"/>
          </a:xfrm>
        </p:spPr>
        <p:txBody>
          <a:bodyPr/>
          <a:lstStyle/>
          <a:p>
            <a:pPr algn="l" fontAlgn="auto">
              <a:spcAft>
                <a:spcPts val="0"/>
              </a:spcAft>
              <a:defRPr/>
            </a:pPr>
            <a:r>
              <a:rPr lang="en-GB" altLang="en-US" sz="4000" dirty="0" smtClean="0">
                <a:solidFill>
                  <a:schemeClr val="bg1"/>
                </a:solidFill>
                <a:latin typeface="Arial" pitchFamily="34" charset="0"/>
                <a:cs typeface="Arial" pitchFamily="34" charset="0"/>
              </a:rPr>
              <a:t>6a. </a:t>
            </a:r>
            <a:r>
              <a:rPr lang="en-GB" altLang="en-US" sz="3200" dirty="0" smtClean="0">
                <a:solidFill>
                  <a:schemeClr val="bg1"/>
                </a:solidFill>
                <a:latin typeface="Arial" pitchFamily="34" charset="0"/>
                <a:cs typeface="Arial" pitchFamily="34" charset="0"/>
              </a:rPr>
              <a:t>Change - response to data analysis</a:t>
            </a:r>
          </a:p>
        </p:txBody>
      </p:sp>
      <p:grpSp>
        <p:nvGrpSpPr>
          <p:cNvPr id="29699" name="Group 312"/>
          <p:cNvGrpSpPr>
            <a:grpSpLocks/>
          </p:cNvGrpSpPr>
          <p:nvPr/>
        </p:nvGrpSpPr>
        <p:grpSpPr bwMode="auto">
          <a:xfrm>
            <a:off x="216145" y="1348092"/>
            <a:ext cx="8642350" cy="4264025"/>
            <a:chOff x="455" y="1071"/>
            <a:chExt cx="5056" cy="2686"/>
          </a:xfrm>
        </p:grpSpPr>
        <p:sp>
          <p:nvSpPr>
            <p:cNvPr id="29700" name="Rectangle 213"/>
            <p:cNvSpPr>
              <a:spLocks noChangeArrowheads="1"/>
            </p:cNvSpPr>
            <p:nvPr/>
          </p:nvSpPr>
          <p:spPr bwMode="auto">
            <a:xfrm>
              <a:off x="3687" y="3113"/>
              <a:ext cx="1824" cy="6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Font typeface="Arial" pitchFamily="34" charset="0"/>
                <a:buChar char="•"/>
                <a:defRPr sz="2200">
                  <a:solidFill>
                    <a:schemeClr val="tx1"/>
                  </a:solidFill>
                  <a:latin typeface="Calibri" pitchFamily="34" charset="0"/>
                </a:defRPr>
              </a:lvl1pPr>
              <a:lvl2pPr marL="742950" indent="-28575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a:spcBef>
                  <a:spcPct val="20000"/>
                </a:spcBef>
                <a:buClr>
                  <a:srgbClr val="D2CB6C"/>
                </a:buClr>
                <a:buFont typeface="Arial" pitchFamily="34" charset="0"/>
                <a:buChar char="•"/>
                <a:defRPr>
                  <a:solidFill>
                    <a:schemeClr val="tx1"/>
                  </a:solidFill>
                  <a:latin typeface="Calibri" pitchFamily="34" charset="0"/>
                </a:defRPr>
              </a:lvl3pPr>
              <a:lvl4pPr marL="1600200" indent="-228600">
                <a:spcBef>
                  <a:spcPct val="20000"/>
                </a:spcBef>
                <a:buClr>
                  <a:srgbClr val="95A39D"/>
                </a:buClr>
                <a:buFont typeface="Arial" pitchFamily="34" charset="0"/>
                <a:buChar char="•"/>
                <a:defRPr sz="1600">
                  <a:solidFill>
                    <a:schemeClr val="tx1"/>
                  </a:solidFill>
                  <a:latin typeface="Calibri" pitchFamily="34" charset="0"/>
                </a:defRPr>
              </a:lvl4pPr>
              <a:lvl5pPr marL="2057400" indent="-228600">
                <a:spcBef>
                  <a:spcPct val="20000"/>
                </a:spcBef>
                <a:buClr>
                  <a:srgbClr val="C89F5D"/>
                </a:buClr>
                <a:buFont typeface="Arial" pitchFamily="34" charset="0"/>
                <a:buChar char="•"/>
                <a:defRPr sz="1400">
                  <a:solidFill>
                    <a:schemeClr val="tx1"/>
                  </a:solidFill>
                  <a:latin typeface="Calibri" pitchFamily="34" charset="0"/>
                </a:defRPr>
              </a:lvl5pPr>
              <a:lvl6pPr marL="25146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algn="l">
                <a:spcBef>
                  <a:spcPct val="0"/>
                </a:spcBef>
                <a:buClrTx/>
                <a:buFontTx/>
                <a:buNone/>
              </a:pPr>
              <a:r>
                <a:rPr lang="en-GB" altLang="en-US" sz="1400" dirty="0">
                  <a:solidFill>
                    <a:schemeClr val="bg1"/>
                  </a:solidFill>
                  <a:latin typeface="Arial" pitchFamily="34" charset="0"/>
                  <a:ea typeface="MS PGothic" pitchFamily="34" charset="-128"/>
                  <a:cs typeface="Times New Roman" pitchFamily="18" charset="0"/>
                </a:rPr>
                <a:t>Increasing motivation through rewards/ incentives or alter teaching methods</a:t>
              </a:r>
              <a:endParaRPr lang="en-GB" altLang="en-US" sz="1800" dirty="0">
                <a:solidFill>
                  <a:schemeClr val="bg1"/>
                </a:solidFill>
                <a:latin typeface="Arial" pitchFamily="34" charset="0"/>
                <a:ea typeface="MS PGothic" pitchFamily="34" charset="-128"/>
                <a:cs typeface="Times New Roman" pitchFamily="18" charset="0"/>
              </a:endParaRPr>
            </a:p>
          </p:txBody>
        </p:sp>
        <p:sp>
          <p:nvSpPr>
            <p:cNvPr id="29701" name="Rectangle 211"/>
            <p:cNvSpPr>
              <a:spLocks noChangeArrowheads="1"/>
            </p:cNvSpPr>
            <p:nvPr/>
          </p:nvSpPr>
          <p:spPr bwMode="auto">
            <a:xfrm>
              <a:off x="1505" y="3101"/>
              <a:ext cx="870" cy="6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Font typeface="Arial" pitchFamily="34" charset="0"/>
                <a:buChar char="•"/>
                <a:defRPr sz="2200">
                  <a:solidFill>
                    <a:schemeClr val="tx1"/>
                  </a:solidFill>
                  <a:latin typeface="Calibri" pitchFamily="34" charset="0"/>
                </a:defRPr>
              </a:lvl1pPr>
              <a:lvl2pPr marL="742950" indent="-28575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a:spcBef>
                  <a:spcPct val="20000"/>
                </a:spcBef>
                <a:buClr>
                  <a:srgbClr val="D2CB6C"/>
                </a:buClr>
                <a:buFont typeface="Arial" pitchFamily="34" charset="0"/>
                <a:buChar char="•"/>
                <a:defRPr>
                  <a:solidFill>
                    <a:schemeClr val="tx1"/>
                  </a:solidFill>
                  <a:latin typeface="Calibri" pitchFamily="34" charset="0"/>
                </a:defRPr>
              </a:lvl3pPr>
              <a:lvl4pPr marL="1600200" indent="-228600">
                <a:spcBef>
                  <a:spcPct val="20000"/>
                </a:spcBef>
                <a:buClr>
                  <a:srgbClr val="95A39D"/>
                </a:buClr>
                <a:buFont typeface="Arial" pitchFamily="34" charset="0"/>
                <a:buChar char="•"/>
                <a:defRPr sz="1600">
                  <a:solidFill>
                    <a:schemeClr val="tx1"/>
                  </a:solidFill>
                  <a:latin typeface="Calibri" pitchFamily="34" charset="0"/>
                </a:defRPr>
              </a:lvl4pPr>
              <a:lvl5pPr marL="2057400" indent="-228600">
                <a:spcBef>
                  <a:spcPct val="20000"/>
                </a:spcBef>
                <a:buClr>
                  <a:srgbClr val="C89F5D"/>
                </a:buClr>
                <a:buFont typeface="Arial" pitchFamily="34" charset="0"/>
                <a:buChar char="•"/>
                <a:defRPr sz="1400">
                  <a:solidFill>
                    <a:schemeClr val="tx1"/>
                  </a:solidFill>
                  <a:latin typeface="Calibri" pitchFamily="34" charset="0"/>
                </a:defRPr>
              </a:lvl5pPr>
              <a:lvl6pPr marL="25146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a:spcBef>
                  <a:spcPct val="0"/>
                </a:spcBef>
                <a:buClrTx/>
                <a:buFontTx/>
                <a:buNone/>
              </a:pPr>
              <a:r>
                <a:rPr lang="en-GB" altLang="en-US" sz="2000" b="1" dirty="0">
                  <a:solidFill>
                    <a:schemeClr val="bg1"/>
                  </a:solidFill>
                  <a:ea typeface="MS PGothic" pitchFamily="34" charset="-128"/>
                  <a:cs typeface="Times New Roman" pitchFamily="18" charset="0"/>
                </a:rPr>
                <a:t> </a:t>
              </a:r>
              <a:r>
                <a:rPr lang="en-GB" altLang="en-US" sz="800" b="1" dirty="0">
                  <a:solidFill>
                    <a:schemeClr val="bg1"/>
                  </a:solidFill>
                  <a:ea typeface="MS PGothic" pitchFamily="34" charset="-128"/>
                  <a:cs typeface="Times New Roman" pitchFamily="18" charset="0"/>
                </a:rPr>
                <a:t> </a:t>
              </a:r>
              <a:endParaRPr lang="en-GB" altLang="en-US" sz="2000" b="1" dirty="0">
                <a:solidFill>
                  <a:schemeClr val="bg1"/>
                </a:solidFill>
                <a:ea typeface="MS PGothic" pitchFamily="34" charset="-128"/>
                <a:cs typeface="Times New Roman" pitchFamily="18" charset="0"/>
              </a:endParaRPr>
            </a:p>
            <a:p>
              <a:pPr algn="l">
                <a:spcBef>
                  <a:spcPct val="0"/>
                </a:spcBef>
                <a:buClrTx/>
                <a:buFontTx/>
                <a:buNone/>
              </a:pPr>
              <a:r>
                <a:rPr lang="en-GB" altLang="en-US" sz="2000" b="1" dirty="0">
                  <a:solidFill>
                    <a:srgbClr val="FF0000"/>
                  </a:solidFill>
                  <a:ea typeface="MS PGothic" pitchFamily="34" charset="-128"/>
                  <a:cs typeface="Times New Roman" pitchFamily="18" charset="0"/>
                </a:rPr>
                <a:t>x</a:t>
              </a:r>
              <a:endParaRPr lang="en-GB" altLang="en-US" sz="1000" dirty="0">
                <a:solidFill>
                  <a:srgbClr val="FF0000"/>
                </a:solidFill>
                <a:latin typeface="Times New Roman" pitchFamily="18" charset="0"/>
                <a:ea typeface="MS PGothic" pitchFamily="34" charset="-128"/>
                <a:cs typeface="Times New Roman" pitchFamily="18" charset="0"/>
              </a:endParaRPr>
            </a:p>
          </p:txBody>
        </p:sp>
        <p:sp>
          <p:nvSpPr>
            <p:cNvPr id="29702" name="Rectangle 212"/>
            <p:cNvSpPr>
              <a:spLocks noChangeArrowheads="1"/>
            </p:cNvSpPr>
            <p:nvPr/>
          </p:nvSpPr>
          <p:spPr bwMode="auto">
            <a:xfrm>
              <a:off x="2362" y="3113"/>
              <a:ext cx="1325" cy="6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Font typeface="Arial" pitchFamily="34" charset="0"/>
                <a:buChar char="•"/>
                <a:defRPr sz="2200">
                  <a:solidFill>
                    <a:schemeClr val="tx1"/>
                  </a:solidFill>
                  <a:latin typeface="Calibri" pitchFamily="34" charset="0"/>
                </a:defRPr>
              </a:lvl1pPr>
              <a:lvl2pPr marL="742950" indent="-28575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a:spcBef>
                  <a:spcPct val="20000"/>
                </a:spcBef>
                <a:buClr>
                  <a:srgbClr val="D2CB6C"/>
                </a:buClr>
                <a:buFont typeface="Arial" pitchFamily="34" charset="0"/>
                <a:buChar char="•"/>
                <a:defRPr>
                  <a:solidFill>
                    <a:schemeClr val="tx1"/>
                  </a:solidFill>
                  <a:latin typeface="Calibri" pitchFamily="34" charset="0"/>
                </a:defRPr>
              </a:lvl3pPr>
              <a:lvl4pPr marL="1600200" indent="-228600">
                <a:spcBef>
                  <a:spcPct val="20000"/>
                </a:spcBef>
                <a:buClr>
                  <a:srgbClr val="95A39D"/>
                </a:buClr>
                <a:buFont typeface="Arial" pitchFamily="34" charset="0"/>
                <a:buChar char="•"/>
                <a:defRPr sz="1600">
                  <a:solidFill>
                    <a:schemeClr val="tx1"/>
                  </a:solidFill>
                  <a:latin typeface="Calibri" pitchFamily="34" charset="0"/>
                </a:defRPr>
              </a:lvl4pPr>
              <a:lvl5pPr marL="2057400" indent="-228600">
                <a:spcBef>
                  <a:spcPct val="20000"/>
                </a:spcBef>
                <a:buClr>
                  <a:srgbClr val="C89F5D"/>
                </a:buClr>
                <a:buFont typeface="Arial" pitchFamily="34" charset="0"/>
                <a:buChar char="•"/>
                <a:defRPr sz="1400">
                  <a:solidFill>
                    <a:schemeClr val="tx1"/>
                  </a:solidFill>
                  <a:latin typeface="Calibri" pitchFamily="34" charset="0"/>
                </a:defRPr>
              </a:lvl5pPr>
              <a:lvl6pPr marL="25146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algn="l">
                <a:spcBef>
                  <a:spcPct val="0"/>
                </a:spcBef>
                <a:buClrTx/>
                <a:buFontTx/>
                <a:buNone/>
              </a:pPr>
              <a:r>
                <a:rPr lang="en-GB" altLang="en-US" sz="1400" dirty="0">
                  <a:solidFill>
                    <a:schemeClr val="bg1"/>
                  </a:solidFill>
                  <a:latin typeface="Arial" pitchFamily="34" charset="0"/>
                  <a:ea typeface="MS PGothic" pitchFamily="34" charset="-128"/>
                  <a:cs typeface="Times New Roman" pitchFamily="18" charset="0"/>
                </a:rPr>
                <a:t>Task is likely to be appropriate but progress not fast enough</a:t>
              </a:r>
              <a:endParaRPr lang="en-GB" altLang="en-US" sz="1800" dirty="0">
                <a:solidFill>
                  <a:schemeClr val="bg1"/>
                </a:solidFill>
                <a:latin typeface="Arial" pitchFamily="34" charset="0"/>
                <a:ea typeface="MS PGothic" pitchFamily="34" charset="-128"/>
                <a:cs typeface="Times New Roman" pitchFamily="18" charset="0"/>
              </a:endParaRPr>
            </a:p>
          </p:txBody>
        </p:sp>
        <p:sp>
          <p:nvSpPr>
            <p:cNvPr id="29703" name="Rectangle 210"/>
            <p:cNvSpPr>
              <a:spLocks noChangeArrowheads="1"/>
            </p:cNvSpPr>
            <p:nvPr/>
          </p:nvSpPr>
          <p:spPr bwMode="auto">
            <a:xfrm>
              <a:off x="455" y="3113"/>
              <a:ext cx="1036" cy="6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Font typeface="Arial" pitchFamily="34" charset="0"/>
                <a:buChar char="•"/>
                <a:defRPr sz="2200">
                  <a:solidFill>
                    <a:schemeClr val="tx1"/>
                  </a:solidFill>
                  <a:latin typeface="Calibri" pitchFamily="34" charset="0"/>
                </a:defRPr>
              </a:lvl1pPr>
              <a:lvl2pPr marL="742950" indent="-28575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a:spcBef>
                  <a:spcPct val="20000"/>
                </a:spcBef>
                <a:buClr>
                  <a:srgbClr val="D2CB6C"/>
                </a:buClr>
                <a:buFont typeface="Arial" pitchFamily="34" charset="0"/>
                <a:buChar char="•"/>
                <a:defRPr>
                  <a:solidFill>
                    <a:schemeClr val="tx1"/>
                  </a:solidFill>
                  <a:latin typeface="Calibri" pitchFamily="34" charset="0"/>
                </a:defRPr>
              </a:lvl3pPr>
              <a:lvl4pPr marL="1600200" indent="-228600">
                <a:spcBef>
                  <a:spcPct val="20000"/>
                </a:spcBef>
                <a:buClr>
                  <a:srgbClr val="95A39D"/>
                </a:buClr>
                <a:buFont typeface="Arial" pitchFamily="34" charset="0"/>
                <a:buChar char="•"/>
                <a:defRPr sz="1600">
                  <a:solidFill>
                    <a:schemeClr val="tx1"/>
                  </a:solidFill>
                  <a:latin typeface="Calibri" pitchFamily="34" charset="0"/>
                </a:defRPr>
              </a:lvl4pPr>
              <a:lvl5pPr marL="2057400" indent="-228600">
                <a:spcBef>
                  <a:spcPct val="20000"/>
                </a:spcBef>
                <a:buClr>
                  <a:srgbClr val="C89F5D"/>
                </a:buClr>
                <a:buFont typeface="Arial" pitchFamily="34" charset="0"/>
                <a:buChar char="•"/>
                <a:defRPr sz="1400">
                  <a:solidFill>
                    <a:schemeClr val="tx1"/>
                  </a:solidFill>
                  <a:latin typeface="Calibri" pitchFamily="34" charset="0"/>
                </a:defRPr>
              </a:lvl5pPr>
              <a:lvl6pPr marL="25146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algn="l">
                <a:spcBef>
                  <a:spcPct val="0"/>
                </a:spcBef>
                <a:buClrTx/>
                <a:buFontTx/>
                <a:buNone/>
              </a:pPr>
              <a:r>
                <a:rPr lang="en-GB" altLang="en-US" sz="1400" dirty="0">
                  <a:solidFill>
                    <a:schemeClr val="bg1"/>
                  </a:solidFill>
                  <a:latin typeface="Arial" pitchFamily="34" charset="0"/>
                  <a:ea typeface="MS PGothic" pitchFamily="34" charset="-128"/>
                  <a:cs typeface="Times New Roman" pitchFamily="18" charset="0"/>
                </a:rPr>
                <a:t>Some progress; accurate but shallow correct rate slope</a:t>
              </a:r>
              <a:endParaRPr lang="en-GB" altLang="en-US" sz="1800" dirty="0">
                <a:solidFill>
                  <a:schemeClr val="bg1"/>
                </a:solidFill>
                <a:latin typeface="Arial" pitchFamily="34" charset="0"/>
                <a:ea typeface="MS PGothic" pitchFamily="34" charset="-128"/>
                <a:cs typeface="Times New Roman" pitchFamily="18" charset="0"/>
              </a:endParaRPr>
            </a:p>
          </p:txBody>
        </p:sp>
        <p:sp>
          <p:nvSpPr>
            <p:cNvPr id="29704" name="Rectangle 209"/>
            <p:cNvSpPr>
              <a:spLocks noChangeArrowheads="1"/>
            </p:cNvSpPr>
            <p:nvPr/>
          </p:nvSpPr>
          <p:spPr bwMode="auto">
            <a:xfrm>
              <a:off x="3687" y="2528"/>
              <a:ext cx="1824" cy="5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Font typeface="Arial" pitchFamily="34" charset="0"/>
                <a:buChar char="•"/>
                <a:defRPr sz="2200">
                  <a:solidFill>
                    <a:schemeClr val="tx1"/>
                  </a:solidFill>
                  <a:latin typeface="Calibri" pitchFamily="34" charset="0"/>
                </a:defRPr>
              </a:lvl1pPr>
              <a:lvl2pPr marL="742950" indent="-28575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a:spcBef>
                  <a:spcPct val="20000"/>
                </a:spcBef>
                <a:buClr>
                  <a:srgbClr val="D2CB6C"/>
                </a:buClr>
                <a:buFont typeface="Arial" pitchFamily="34" charset="0"/>
                <a:buChar char="•"/>
                <a:defRPr>
                  <a:solidFill>
                    <a:schemeClr val="tx1"/>
                  </a:solidFill>
                  <a:latin typeface="Calibri" pitchFamily="34" charset="0"/>
                </a:defRPr>
              </a:lvl3pPr>
              <a:lvl4pPr marL="1600200" indent="-228600">
                <a:spcBef>
                  <a:spcPct val="20000"/>
                </a:spcBef>
                <a:buClr>
                  <a:srgbClr val="95A39D"/>
                </a:buClr>
                <a:buFont typeface="Arial" pitchFamily="34" charset="0"/>
                <a:buChar char="•"/>
                <a:defRPr sz="1600">
                  <a:solidFill>
                    <a:schemeClr val="tx1"/>
                  </a:solidFill>
                  <a:latin typeface="Calibri" pitchFamily="34" charset="0"/>
                </a:defRPr>
              </a:lvl4pPr>
              <a:lvl5pPr marL="2057400" indent="-228600">
                <a:spcBef>
                  <a:spcPct val="20000"/>
                </a:spcBef>
                <a:buClr>
                  <a:srgbClr val="C89F5D"/>
                </a:buClr>
                <a:buFont typeface="Arial" pitchFamily="34" charset="0"/>
                <a:buChar char="•"/>
                <a:defRPr sz="1400">
                  <a:solidFill>
                    <a:schemeClr val="tx1"/>
                  </a:solidFill>
                  <a:latin typeface="Calibri" pitchFamily="34" charset="0"/>
                </a:defRPr>
              </a:lvl5pPr>
              <a:lvl6pPr marL="25146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algn="l">
                <a:spcBef>
                  <a:spcPct val="0"/>
                </a:spcBef>
                <a:buClrTx/>
                <a:buFontTx/>
                <a:buNone/>
              </a:pPr>
              <a:r>
                <a:rPr lang="en-GB" altLang="en-US" sz="1400" dirty="0">
                  <a:solidFill>
                    <a:schemeClr val="bg1"/>
                  </a:solidFill>
                  <a:latin typeface="Arial" pitchFamily="34" charset="0"/>
                  <a:ea typeface="MS PGothic" pitchFamily="34" charset="-128"/>
                  <a:cs typeface="Times New Roman" pitchFamily="18" charset="0"/>
                </a:rPr>
                <a:t>Slow pupil down; encourage accuracy before speed</a:t>
              </a:r>
              <a:endParaRPr lang="en-GB" altLang="en-US" sz="1800" dirty="0">
                <a:solidFill>
                  <a:schemeClr val="bg1"/>
                </a:solidFill>
                <a:latin typeface="Arial" pitchFamily="34" charset="0"/>
                <a:ea typeface="MS PGothic" pitchFamily="34" charset="-128"/>
                <a:cs typeface="Times New Roman" pitchFamily="18" charset="0"/>
              </a:endParaRPr>
            </a:p>
          </p:txBody>
        </p:sp>
        <p:sp>
          <p:nvSpPr>
            <p:cNvPr id="29705" name="Rectangle 208"/>
            <p:cNvSpPr>
              <a:spLocks noChangeArrowheads="1"/>
            </p:cNvSpPr>
            <p:nvPr/>
          </p:nvSpPr>
          <p:spPr bwMode="auto">
            <a:xfrm>
              <a:off x="2362" y="2528"/>
              <a:ext cx="1325" cy="5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Font typeface="Arial" pitchFamily="34" charset="0"/>
                <a:buChar char="•"/>
                <a:defRPr sz="2200">
                  <a:solidFill>
                    <a:schemeClr val="tx1"/>
                  </a:solidFill>
                  <a:latin typeface="Calibri" pitchFamily="34" charset="0"/>
                </a:defRPr>
              </a:lvl1pPr>
              <a:lvl2pPr marL="742950" indent="-28575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a:spcBef>
                  <a:spcPct val="20000"/>
                </a:spcBef>
                <a:buClr>
                  <a:srgbClr val="D2CB6C"/>
                </a:buClr>
                <a:buFont typeface="Arial" pitchFamily="34" charset="0"/>
                <a:buChar char="•"/>
                <a:defRPr>
                  <a:solidFill>
                    <a:schemeClr val="tx1"/>
                  </a:solidFill>
                  <a:latin typeface="Calibri" pitchFamily="34" charset="0"/>
                </a:defRPr>
              </a:lvl3pPr>
              <a:lvl4pPr marL="1600200" indent="-228600">
                <a:spcBef>
                  <a:spcPct val="20000"/>
                </a:spcBef>
                <a:buClr>
                  <a:srgbClr val="95A39D"/>
                </a:buClr>
                <a:buFont typeface="Arial" pitchFamily="34" charset="0"/>
                <a:buChar char="•"/>
                <a:defRPr sz="1600">
                  <a:solidFill>
                    <a:schemeClr val="tx1"/>
                  </a:solidFill>
                  <a:latin typeface="Calibri" pitchFamily="34" charset="0"/>
                </a:defRPr>
              </a:lvl4pPr>
              <a:lvl5pPr marL="2057400" indent="-228600">
                <a:spcBef>
                  <a:spcPct val="20000"/>
                </a:spcBef>
                <a:buClr>
                  <a:srgbClr val="C89F5D"/>
                </a:buClr>
                <a:buFont typeface="Arial" pitchFamily="34" charset="0"/>
                <a:buChar char="•"/>
                <a:defRPr sz="1400">
                  <a:solidFill>
                    <a:schemeClr val="tx1"/>
                  </a:solidFill>
                  <a:latin typeface="Calibri" pitchFamily="34" charset="0"/>
                </a:defRPr>
              </a:lvl5pPr>
              <a:lvl6pPr marL="25146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algn="l">
                <a:spcBef>
                  <a:spcPct val="0"/>
                </a:spcBef>
                <a:buClrTx/>
                <a:buFontTx/>
                <a:buNone/>
              </a:pPr>
              <a:r>
                <a:rPr lang="en-GB" altLang="en-US" sz="1400" dirty="0">
                  <a:solidFill>
                    <a:schemeClr val="bg1"/>
                  </a:solidFill>
                  <a:latin typeface="Arial" pitchFamily="34" charset="0"/>
                  <a:ea typeface="MS PGothic" pitchFamily="34" charset="-128"/>
                  <a:cs typeface="Times New Roman" pitchFamily="18" charset="0"/>
                </a:rPr>
                <a:t>Pupil is merely getting faster attempting more on the probe</a:t>
              </a:r>
              <a:endParaRPr lang="en-GB" altLang="en-US" sz="1800" dirty="0">
                <a:solidFill>
                  <a:schemeClr val="bg1"/>
                </a:solidFill>
                <a:latin typeface="Arial" pitchFamily="34" charset="0"/>
                <a:ea typeface="MS PGothic" pitchFamily="34" charset="-128"/>
                <a:cs typeface="Times New Roman" pitchFamily="18" charset="0"/>
              </a:endParaRPr>
            </a:p>
          </p:txBody>
        </p:sp>
        <p:sp>
          <p:nvSpPr>
            <p:cNvPr id="29706" name="Rectangle 207"/>
            <p:cNvSpPr>
              <a:spLocks noChangeArrowheads="1"/>
            </p:cNvSpPr>
            <p:nvPr/>
          </p:nvSpPr>
          <p:spPr bwMode="auto">
            <a:xfrm>
              <a:off x="1491" y="2528"/>
              <a:ext cx="871" cy="5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Font typeface="Arial" pitchFamily="34" charset="0"/>
                <a:buChar char="•"/>
                <a:defRPr sz="2200">
                  <a:solidFill>
                    <a:schemeClr val="tx1"/>
                  </a:solidFill>
                  <a:latin typeface="Calibri" pitchFamily="34" charset="0"/>
                </a:defRPr>
              </a:lvl1pPr>
              <a:lvl2pPr marL="742950" indent="-28575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a:spcBef>
                  <a:spcPct val="20000"/>
                </a:spcBef>
                <a:buClr>
                  <a:srgbClr val="D2CB6C"/>
                </a:buClr>
                <a:buFont typeface="Arial" pitchFamily="34" charset="0"/>
                <a:buChar char="•"/>
                <a:defRPr>
                  <a:solidFill>
                    <a:schemeClr val="tx1"/>
                  </a:solidFill>
                  <a:latin typeface="Calibri" pitchFamily="34" charset="0"/>
                </a:defRPr>
              </a:lvl3pPr>
              <a:lvl4pPr marL="1600200" indent="-228600">
                <a:spcBef>
                  <a:spcPct val="20000"/>
                </a:spcBef>
                <a:buClr>
                  <a:srgbClr val="95A39D"/>
                </a:buClr>
                <a:buFont typeface="Arial" pitchFamily="34" charset="0"/>
                <a:buChar char="•"/>
                <a:defRPr sz="1600">
                  <a:solidFill>
                    <a:schemeClr val="tx1"/>
                  </a:solidFill>
                  <a:latin typeface="Calibri" pitchFamily="34" charset="0"/>
                </a:defRPr>
              </a:lvl4pPr>
              <a:lvl5pPr marL="2057400" indent="-228600">
                <a:spcBef>
                  <a:spcPct val="20000"/>
                </a:spcBef>
                <a:buClr>
                  <a:srgbClr val="C89F5D"/>
                </a:buClr>
                <a:buFont typeface="Arial" pitchFamily="34" charset="0"/>
                <a:buChar char="•"/>
                <a:defRPr sz="1400">
                  <a:solidFill>
                    <a:schemeClr val="tx1"/>
                  </a:solidFill>
                  <a:latin typeface="Calibri" pitchFamily="34" charset="0"/>
                </a:defRPr>
              </a:lvl5pPr>
              <a:lvl6pPr marL="25146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algn="l">
                <a:spcBef>
                  <a:spcPct val="0"/>
                </a:spcBef>
                <a:buClrTx/>
                <a:buFontTx/>
                <a:buNone/>
              </a:pPr>
              <a:r>
                <a:rPr lang="en-GB" altLang="en-US" sz="2000" b="1" dirty="0">
                  <a:solidFill>
                    <a:schemeClr val="bg1"/>
                  </a:solidFill>
                  <a:ea typeface="MS PGothic" pitchFamily="34" charset="-128"/>
                  <a:cs typeface="Times New Roman" pitchFamily="18" charset="0"/>
                </a:rPr>
                <a:t>   </a:t>
              </a:r>
            </a:p>
            <a:p>
              <a:pPr algn="l">
                <a:spcBef>
                  <a:spcPct val="0"/>
                </a:spcBef>
                <a:buClrTx/>
                <a:buFontTx/>
                <a:buNone/>
              </a:pPr>
              <a:r>
                <a:rPr lang="en-GB" altLang="en-US" sz="2000" b="1" dirty="0">
                  <a:solidFill>
                    <a:schemeClr val="bg1"/>
                  </a:solidFill>
                  <a:ea typeface="MS PGothic" pitchFamily="34" charset="-128"/>
                  <a:cs typeface="Times New Roman" pitchFamily="18" charset="0"/>
                </a:rPr>
                <a:t>    </a:t>
              </a:r>
              <a:r>
                <a:rPr lang="en-GB" altLang="en-US" sz="2000" b="1" dirty="0">
                  <a:solidFill>
                    <a:srgbClr val="FF0000"/>
                  </a:solidFill>
                  <a:ea typeface="MS PGothic" pitchFamily="34" charset="-128"/>
                  <a:cs typeface="Times New Roman" pitchFamily="18" charset="0"/>
                </a:rPr>
                <a:t>x</a:t>
              </a:r>
              <a:endParaRPr lang="en-GB" altLang="en-US" sz="1000" dirty="0">
                <a:solidFill>
                  <a:srgbClr val="FF0000"/>
                </a:solidFill>
                <a:latin typeface="Times New Roman" pitchFamily="18" charset="0"/>
                <a:ea typeface="MS PGothic" pitchFamily="34" charset="-128"/>
                <a:cs typeface="Times New Roman" pitchFamily="18" charset="0"/>
              </a:endParaRPr>
            </a:p>
            <a:p>
              <a:pPr eaLnBrk="0" hangingPunct="0">
                <a:spcBef>
                  <a:spcPct val="0"/>
                </a:spcBef>
                <a:buClrTx/>
                <a:buFontTx/>
                <a:buNone/>
              </a:pPr>
              <a:r>
                <a:rPr lang="en-GB" altLang="en-US" sz="1400" dirty="0">
                  <a:solidFill>
                    <a:schemeClr val="bg1"/>
                  </a:solidFill>
                  <a:latin typeface="Arial" pitchFamily="34" charset="0"/>
                  <a:ea typeface="MS PGothic" pitchFamily="34" charset="-128"/>
                  <a:cs typeface="Times New Roman" pitchFamily="18" charset="0"/>
                </a:rPr>
                <a:t>   </a:t>
              </a:r>
              <a:endParaRPr lang="en-GB" altLang="en-US" sz="1800" dirty="0">
                <a:solidFill>
                  <a:schemeClr val="bg1"/>
                </a:solidFill>
                <a:latin typeface="Arial" pitchFamily="34" charset="0"/>
                <a:ea typeface="MS PGothic" pitchFamily="34" charset="-128"/>
                <a:cs typeface="Times New Roman" pitchFamily="18" charset="0"/>
              </a:endParaRPr>
            </a:p>
          </p:txBody>
        </p:sp>
        <p:sp>
          <p:nvSpPr>
            <p:cNvPr id="29707" name="Rectangle 206"/>
            <p:cNvSpPr>
              <a:spLocks noChangeArrowheads="1"/>
            </p:cNvSpPr>
            <p:nvPr/>
          </p:nvSpPr>
          <p:spPr bwMode="auto">
            <a:xfrm>
              <a:off x="455" y="2528"/>
              <a:ext cx="1036" cy="5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Font typeface="Arial" pitchFamily="34" charset="0"/>
                <a:buChar char="•"/>
                <a:defRPr sz="2200">
                  <a:solidFill>
                    <a:schemeClr val="tx1"/>
                  </a:solidFill>
                  <a:latin typeface="Calibri" pitchFamily="34" charset="0"/>
                </a:defRPr>
              </a:lvl1pPr>
              <a:lvl2pPr marL="742950" indent="-28575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a:spcBef>
                  <a:spcPct val="20000"/>
                </a:spcBef>
                <a:buClr>
                  <a:srgbClr val="D2CB6C"/>
                </a:buClr>
                <a:buFont typeface="Arial" pitchFamily="34" charset="0"/>
                <a:buChar char="•"/>
                <a:defRPr>
                  <a:solidFill>
                    <a:schemeClr val="tx1"/>
                  </a:solidFill>
                  <a:latin typeface="Calibri" pitchFamily="34" charset="0"/>
                </a:defRPr>
              </a:lvl3pPr>
              <a:lvl4pPr marL="1600200" indent="-228600">
                <a:spcBef>
                  <a:spcPct val="20000"/>
                </a:spcBef>
                <a:buClr>
                  <a:srgbClr val="95A39D"/>
                </a:buClr>
                <a:buFont typeface="Arial" pitchFamily="34" charset="0"/>
                <a:buChar char="•"/>
                <a:defRPr sz="1600">
                  <a:solidFill>
                    <a:schemeClr val="tx1"/>
                  </a:solidFill>
                  <a:latin typeface="Calibri" pitchFamily="34" charset="0"/>
                </a:defRPr>
              </a:lvl4pPr>
              <a:lvl5pPr marL="2057400" indent="-228600">
                <a:spcBef>
                  <a:spcPct val="20000"/>
                </a:spcBef>
                <a:buClr>
                  <a:srgbClr val="C89F5D"/>
                </a:buClr>
                <a:buFont typeface="Arial" pitchFamily="34" charset="0"/>
                <a:buChar char="•"/>
                <a:defRPr sz="1400">
                  <a:solidFill>
                    <a:schemeClr val="tx1"/>
                  </a:solidFill>
                  <a:latin typeface="Calibri" pitchFamily="34" charset="0"/>
                </a:defRPr>
              </a:lvl5pPr>
              <a:lvl6pPr marL="25146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algn="l">
                <a:spcBef>
                  <a:spcPct val="0"/>
                </a:spcBef>
                <a:buClrTx/>
                <a:buFontTx/>
                <a:buNone/>
              </a:pPr>
              <a:r>
                <a:rPr lang="en-GB" altLang="en-US" sz="1400" dirty="0">
                  <a:solidFill>
                    <a:schemeClr val="bg1"/>
                  </a:solidFill>
                  <a:latin typeface="Arial" pitchFamily="34" charset="0"/>
                  <a:ea typeface="MS PGothic" pitchFamily="34" charset="-128"/>
                  <a:cs typeface="Times New Roman" pitchFamily="18" charset="0"/>
                </a:rPr>
                <a:t>Both correct and incorrect rates increasing</a:t>
              </a:r>
              <a:endParaRPr lang="en-GB" altLang="en-US" sz="1800" dirty="0">
                <a:solidFill>
                  <a:schemeClr val="bg1"/>
                </a:solidFill>
                <a:latin typeface="Arial" pitchFamily="34" charset="0"/>
                <a:ea typeface="MS PGothic" pitchFamily="34" charset="-128"/>
                <a:cs typeface="Times New Roman" pitchFamily="18" charset="0"/>
              </a:endParaRPr>
            </a:p>
          </p:txBody>
        </p:sp>
        <p:sp>
          <p:nvSpPr>
            <p:cNvPr id="29708" name="Rectangle 205"/>
            <p:cNvSpPr>
              <a:spLocks noChangeArrowheads="1"/>
            </p:cNvSpPr>
            <p:nvPr/>
          </p:nvSpPr>
          <p:spPr bwMode="auto">
            <a:xfrm>
              <a:off x="3687" y="1924"/>
              <a:ext cx="1824" cy="6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Font typeface="Arial" pitchFamily="34" charset="0"/>
                <a:buChar char="•"/>
                <a:defRPr sz="2200">
                  <a:solidFill>
                    <a:schemeClr val="tx1"/>
                  </a:solidFill>
                  <a:latin typeface="Calibri" pitchFamily="34" charset="0"/>
                </a:defRPr>
              </a:lvl1pPr>
              <a:lvl2pPr marL="742950" indent="-28575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a:spcBef>
                  <a:spcPct val="20000"/>
                </a:spcBef>
                <a:buClr>
                  <a:srgbClr val="D2CB6C"/>
                </a:buClr>
                <a:buFont typeface="Arial" pitchFamily="34" charset="0"/>
                <a:buChar char="•"/>
                <a:defRPr>
                  <a:solidFill>
                    <a:schemeClr val="tx1"/>
                  </a:solidFill>
                  <a:latin typeface="Calibri" pitchFamily="34" charset="0"/>
                </a:defRPr>
              </a:lvl3pPr>
              <a:lvl4pPr marL="1600200" indent="-228600">
                <a:spcBef>
                  <a:spcPct val="20000"/>
                </a:spcBef>
                <a:buClr>
                  <a:srgbClr val="95A39D"/>
                </a:buClr>
                <a:buFont typeface="Arial" pitchFamily="34" charset="0"/>
                <a:buChar char="•"/>
                <a:defRPr sz="1600">
                  <a:solidFill>
                    <a:schemeClr val="tx1"/>
                  </a:solidFill>
                  <a:latin typeface="Calibri" pitchFamily="34" charset="0"/>
                </a:defRPr>
              </a:lvl4pPr>
              <a:lvl5pPr marL="2057400" indent="-228600">
                <a:spcBef>
                  <a:spcPct val="20000"/>
                </a:spcBef>
                <a:buClr>
                  <a:srgbClr val="C89F5D"/>
                </a:buClr>
                <a:buFont typeface="Arial" pitchFamily="34" charset="0"/>
                <a:buChar char="•"/>
                <a:defRPr sz="1400">
                  <a:solidFill>
                    <a:schemeClr val="tx1"/>
                  </a:solidFill>
                  <a:latin typeface="Calibri" pitchFamily="34" charset="0"/>
                </a:defRPr>
              </a:lvl5pPr>
              <a:lvl6pPr marL="25146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algn="l">
                <a:spcBef>
                  <a:spcPct val="0"/>
                </a:spcBef>
                <a:buClrTx/>
                <a:buFontTx/>
                <a:buNone/>
              </a:pPr>
              <a:r>
                <a:rPr lang="en-GB" altLang="en-US" sz="1400" dirty="0">
                  <a:solidFill>
                    <a:schemeClr val="bg1"/>
                  </a:solidFill>
                  <a:latin typeface="Arial" pitchFamily="34" charset="0"/>
                  <a:ea typeface="MS PGothic" pitchFamily="34" charset="-128"/>
                  <a:cs typeface="Times New Roman" pitchFamily="18" charset="0"/>
                </a:rPr>
                <a:t>May need to return or slice the task</a:t>
              </a:r>
              <a:endParaRPr lang="en-GB" altLang="en-US" sz="1800" dirty="0">
                <a:solidFill>
                  <a:schemeClr val="bg1"/>
                </a:solidFill>
                <a:latin typeface="Arial" pitchFamily="34" charset="0"/>
                <a:ea typeface="MS PGothic" pitchFamily="34" charset="-128"/>
                <a:cs typeface="Times New Roman" pitchFamily="18" charset="0"/>
              </a:endParaRPr>
            </a:p>
          </p:txBody>
        </p:sp>
        <p:sp>
          <p:nvSpPr>
            <p:cNvPr id="29709" name="Rectangle 204"/>
            <p:cNvSpPr>
              <a:spLocks noChangeArrowheads="1"/>
            </p:cNvSpPr>
            <p:nvPr/>
          </p:nvSpPr>
          <p:spPr bwMode="auto">
            <a:xfrm>
              <a:off x="2362" y="1924"/>
              <a:ext cx="1325" cy="6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Font typeface="Arial" pitchFamily="34" charset="0"/>
                <a:buChar char="•"/>
                <a:defRPr sz="2200">
                  <a:solidFill>
                    <a:schemeClr val="tx1"/>
                  </a:solidFill>
                  <a:latin typeface="Calibri" pitchFamily="34" charset="0"/>
                </a:defRPr>
              </a:lvl1pPr>
              <a:lvl2pPr marL="742950" indent="-28575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a:spcBef>
                  <a:spcPct val="20000"/>
                </a:spcBef>
                <a:buClr>
                  <a:srgbClr val="D2CB6C"/>
                </a:buClr>
                <a:buFont typeface="Arial" pitchFamily="34" charset="0"/>
                <a:buChar char="•"/>
                <a:defRPr>
                  <a:solidFill>
                    <a:schemeClr val="tx1"/>
                  </a:solidFill>
                  <a:latin typeface="Calibri" pitchFamily="34" charset="0"/>
                </a:defRPr>
              </a:lvl3pPr>
              <a:lvl4pPr marL="1600200" indent="-228600">
                <a:spcBef>
                  <a:spcPct val="20000"/>
                </a:spcBef>
                <a:buClr>
                  <a:srgbClr val="95A39D"/>
                </a:buClr>
                <a:buFont typeface="Arial" pitchFamily="34" charset="0"/>
                <a:buChar char="•"/>
                <a:defRPr sz="1600">
                  <a:solidFill>
                    <a:schemeClr val="tx1"/>
                  </a:solidFill>
                  <a:latin typeface="Calibri" pitchFamily="34" charset="0"/>
                </a:defRPr>
              </a:lvl4pPr>
              <a:lvl5pPr marL="2057400" indent="-228600">
                <a:spcBef>
                  <a:spcPct val="20000"/>
                </a:spcBef>
                <a:buClr>
                  <a:srgbClr val="C89F5D"/>
                </a:buClr>
                <a:buFont typeface="Arial" pitchFamily="34" charset="0"/>
                <a:buChar char="•"/>
                <a:defRPr sz="1400">
                  <a:solidFill>
                    <a:schemeClr val="tx1"/>
                  </a:solidFill>
                  <a:latin typeface="Calibri" pitchFamily="34" charset="0"/>
                </a:defRPr>
              </a:lvl5pPr>
              <a:lvl6pPr marL="25146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algn="l">
                <a:spcBef>
                  <a:spcPct val="0"/>
                </a:spcBef>
                <a:buClrTx/>
                <a:buFontTx/>
                <a:buNone/>
              </a:pPr>
              <a:r>
                <a:rPr lang="en-GB" altLang="en-US" sz="1400" dirty="0">
                  <a:solidFill>
                    <a:schemeClr val="bg1"/>
                  </a:solidFill>
                  <a:latin typeface="Arial" pitchFamily="34" charset="0"/>
                  <a:ea typeface="MS PGothic" pitchFamily="34" charset="-128"/>
                  <a:cs typeface="Times New Roman" pitchFamily="18" charset="0"/>
                </a:rPr>
                <a:t>Task probably inappropriate. Monitor progress, may be a blip</a:t>
              </a:r>
              <a:endParaRPr lang="en-GB" altLang="en-US" sz="1800" dirty="0">
                <a:solidFill>
                  <a:schemeClr val="bg1"/>
                </a:solidFill>
                <a:latin typeface="Arial" pitchFamily="34" charset="0"/>
                <a:ea typeface="MS PGothic" pitchFamily="34" charset="-128"/>
                <a:cs typeface="Times New Roman" pitchFamily="18" charset="0"/>
              </a:endParaRPr>
            </a:p>
          </p:txBody>
        </p:sp>
        <p:sp>
          <p:nvSpPr>
            <p:cNvPr id="29710" name="Rectangle 203"/>
            <p:cNvSpPr>
              <a:spLocks noChangeArrowheads="1"/>
            </p:cNvSpPr>
            <p:nvPr/>
          </p:nvSpPr>
          <p:spPr bwMode="auto">
            <a:xfrm>
              <a:off x="1491" y="1924"/>
              <a:ext cx="871" cy="6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Font typeface="Arial" pitchFamily="34" charset="0"/>
                <a:buChar char="•"/>
                <a:defRPr sz="2200">
                  <a:solidFill>
                    <a:schemeClr val="tx1"/>
                  </a:solidFill>
                  <a:latin typeface="Calibri" pitchFamily="34" charset="0"/>
                </a:defRPr>
              </a:lvl1pPr>
              <a:lvl2pPr marL="742950" indent="-28575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a:spcBef>
                  <a:spcPct val="20000"/>
                </a:spcBef>
                <a:buClr>
                  <a:srgbClr val="D2CB6C"/>
                </a:buClr>
                <a:buFont typeface="Arial" pitchFamily="34" charset="0"/>
                <a:buChar char="•"/>
                <a:defRPr>
                  <a:solidFill>
                    <a:schemeClr val="tx1"/>
                  </a:solidFill>
                  <a:latin typeface="Calibri" pitchFamily="34" charset="0"/>
                </a:defRPr>
              </a:lvl3pPr>
              <a:lvl4pPr marL="1600200" indent="-228600">
                <a:spcBef>
                  <a:spcPct val="20000"/>
                </a:spcBef>
                <a:buClr>
                  <a:srgbClr val="95A39D"/>
                </a:buClr>
                <a:buFont typeface="Arial" pitchFamily="34" charset="0"/>
                <a:buChar char="•"/>
                <a:defRPr sz="1600">
                  <a:solidFill>
                    <a:schemeClr val="tx1"/>
                  </a:solidFill>
                  <a:latin typeface="Calibri" pitchFamily="34" charset="0"/>
                </a:defRPr>
              </a:lvl4pPr>
              <a:lvl5pPr marL="2057400" indent="-228600">
                <a:spcBef>
                  <a:spcPct val="20000"/>
                </a:spcBef>
                <a:buClr>
                  <a:srgbClr val="C89F5D"/>
                </a:buClr>
                <a:buFont typeface="Arial" pitchFamily="34" charset="0"/>
                <a:buChar char="•"/>
                <a:defRPr sz="1400">
                  <a:solidFill>
                    <a:schemeClr val="tx1"/>
                  </a:solidFill>
                  <a:latin typeface="Calibri" pitchFamily="34" charset="0"/>
                </a:defRPr>
              </a:lvl5pPr>
              <a:lvl6pPr marL="25146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a:spcBef>
                  <a:spcPct val="0"/>
                </a:spcBef>
                <a:buClrTx/>
                <a:buFontTx/>
                <a:buNone/>
              </a:pPr>
              <a:r>
                <a:rPr lang="en-GB" altLang="en-US" sz="1000" dirty="0">
                  <a:solidFill>
                    <a:schemeClr val="bg1"/>
                  </a:solidFill>
                  <a:latin typeface="Times New Roman" pitchFamily="18" charset="0"/>
                  <a:ea typeface="MS PGothic" pitchFamily="34" charset="-128"/>
                  <a:cs typeface="Times New Roman" pitchFamily="18" charset="0"/>
                </a:rPr>
                <a:t/>
              </a:r>
              <a:br>
                <a:rPr lang="en-GB" altLang="en-US" sz="1000" dirty="0">
                  <a:solidFill>
                    <a:schemeClr val="bg1"/>
                  </a:solidFill>
                  <a:latin typeface="Times New Roman" pitchFamily="18" charset="0"/>
                  <a:ea typeface="MS PGothic" pitchFamily="34" charset="-128"/>
                  <a:cs typeface="Times New Roman" pitchFamily="18" charset="0"/>
                </a:rPr>
              </a:br>
              <a:r>
                <a:rPr lang="en-GB" altLang="en-US" sz="2000" b="1" dirty="0">
                  <a:solidFill>
                    <a:schemeClr val="bg1"/>
                  </a:solidFill>
                  <a:ea typeface="MS PGothic" pitchFamily="34" charset="-128"/>
                  <a:cs typeface="Times New Roman" pitchFamily="18" charset="0"/>
                </a:rPr>
                <a:t>  </a:t>
              </a:r>
              <a:endParaRPr lang="en-GB" altLang="en-US" sz="800" b="1" dirty="0">
                <a:solidFill>
                  <a:schemeClr val="bg1"/>
                </a:solidFill>
                <a:ea typeface="MS PGothic" pitchFamily="34" charset="-128"/>
                <a:cs typeface="Times New Roman" pitchFamily="18" charset="0"/>
              </a:endParaRPr>
            </a:p>
            <a:p>
              <a:pPr algn="l" eaLnBrk="0" hangingPunct="0">
                <a:spcBef>
                  <a:spcPct val="0"/>
                </a:spcBef>
                <a:buClrTx/>
                <a:buFontTx/>
                <a:buNone/>
              </a:pPr>
              <a:r>
                <a:rPr lang="en-GB" altLang="en-US" sz="2000" b="1" dirty="0">
                  <a:solidFill>
                    <a:schemeClr val="bg1"/>
                  </a:solidFill>
                  <a:ea typeface="MS PGothic" pitchFamily="34" charset="-128"/>
                  <a:cs typeface="Times New Roman" pitchFamily="18" charset="0"/>
                </a:rPr>
                <a:t>  </a:t>
              </a:r>
              <a:r>
                <a:rPr lang="en-GB" altLang="en-US" sz="2000" b="1" dirty="0">
                  <a:solidFill>
                    <a:srgbClr val="FF0000"/>
                  </a:solidFill>
                  <a:ea typeface="MS PGothic" pitchFamily="34" charset="-128"/>
                  <a:cs typeface="Times New Roman" pitchFamily="18" charset="0"/>
                </a:rPr>
                <a:t>x</a:t>
              </a:r>
              <a:endParaRPr lang="en-GB" altLang="en-US" sz="1000" dirty="0">
                <a:solidFill>
                  <a:srgbClr val="FF0000"/>
                </a:solidFill>
                <a:latin typeface="Times New Roman" pitchFamily="18" charset="0"/>
                <a:ea typeface="MS PGothic" pitchFamily="34" charset="-128"/>
                <a:cs typeface="Times New Roman" pitchFamily="18" charset="0"/>
              </a:endParaRPr>
            </a:p>
          </p:txBody>
        </p:sp>
        <p:sp>
          <p:nvSpPr>
            <p:cNvPr id="29711" name="Rectangle 202"/>
            <p:cNvSpPr>
              <a:spLocks noChangeArrowheads="1"/>
            </p:cNvSpPr>
            <p:nvPr/>
          </p:nvSpPr>
          <p:spPr bwMode="auto">
            <a:xfrm>
              <a:off x="455" y="1924"/>
              <a:ext cx="1036" cy="6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Font typeface="Arial" pitchFamily="34" charset="0"/>
                <a:buChar char="•"/>
                <a:defRPr sz="2200">
                  <a:solidFill>
                    <a:schemeClr val="tx1"/>
                  </a:solidFill>
                  <a:latin typeface="Calibri" pitchFamily="34" charset="0"/>
                </a:defRPr>
              </a:lvl1pPr>
              <a:lvl2pPr marL="742950" indent="-28575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a:spcBef>
                  <a:spcPct val="20000"/>
                </a:spcBef>
                <a:buClr>
                  <a:srgbClr val="D2CB6C"/>
                </a:buClr>
                <a:buFont typeface="Arial" pitchFamily="34" charset="0"/>
                <a:buChar char="•"/>
                <a:defRPr>
                  <a:solidFill>
                    <a:schemeClr val="tx1"/>
                  </a:solidFill>
                  <a:latin typeface="Calibri" pitchFamily="34" charset="0"/>
                </a:defRPr>
              </a:lvl3pPr>
              <a:lvl4pPr marL="1600200" indent="-228600">
                <a:spcBef>
                  <a:spcPct val="20000"/>
                </a:spcBef>
                <a:buClr>
                  <a:srgbClr val="95A39D"/>
                </a:buClr>
                <a:buFont typeface="Arial" pitchFamily="34" charset="0"/>
                <a:buChar char="•"/>
                <a:defRPr sz="1600">
                  <a:solidFill>
                    <a:schemeClr val="tx1"/>
                  </a:solidFill>
                  <a:latin typeface="Calibri" pitchFamily="34" charset="0"/>
                </a:defRPr>
              </a:lvl4pPr>
              <a:lvl5pPr marL="2057400" indent="-228600">
                <a:spcBef>
                  <a:spcPct val="20000"/>
                </a:spcBef>
                <a:buClr>
                  <a:srgbClr val="C89F5D"/>
                </a:buClr>
                <a:buFont typeface="Arial" pitchFamily="34" charset="0"/>
                <a:buChar char="•"/>
                <a:defRPr sz="1400">
                  <a:solidFill>
                    <a:schemeClr val="tx1"/>
                  </a:solidFill>
                  <a:latin typeface="Calibri" pitchFamily="34" charset="0"/>
                </a:defRPr>
              </a:lvl5pPr>
              <a:lvl6pPr marL="25146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algn="l">
                <a:spcBef>
                  <a:spcPct val="0"/>
                </a:spcBef>
                <a:buClrTx/>
                <a:buFontTx/>
                <a:buNone/>
              </a:pPr>
              <a:r>
                <a:rPr lang="en-GB" altLang="en-US" sz="1400" dirty="0">
                  <a:solidFill>
                    <a:schemeClr val="bg1"/>
                  </a:solidFill>
                  <a:latin typeface="Arial" pitchFamily="34" charset="0"/>
                  <a:ea typeface="MS PGothic" pitchFamily="34" charset="-128"/>
                  <a:cs typeface="Times New Roman" pitchFamily="18" charset="0"/>
                </a:rPr>
                <a:t>Switch within first 3 days</a:t>
              </a:r>
              <a:endParaRPr lang="en-GB" altLang="en-US" sz="1800" dirty="0">
                <a:solidFill>
                  <a:schemeClr val="bg1"/>
                </a:solidFill>
                <a:latin typeface="Arial" pitchFamily="34" charset="0"/>
                <a:ea typeface="MS PGothic" pitchFamily="34" charset="-128"/>
                <a:cs typeface="Times New Roman" pitchFamily="18" charset="0"/>
              </a:endParaRPr>
            </a:p>
          </p:txBody>
        </p:sp>
        <p:sp>
          <p:nvSpPr>
            <p:cNvPr id="29712" name="Rectangle 201"/>
            <p:cNvSpPr>
              <a:spLocks noChangeArrowheads="1"/>
            </p:cNvSpPr>
            <p:nvPr/>
          </p:nvSpPr>
          <p:spPr bwMode="auto">
            <a:xfrm>
              <a:off x="3687" y="1426"/>
              <a:ext cx="1824" cy="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Font typeface="Arial" pitchFamily="34" charset="0"/>
                <a:buChar char="•"/>
                <a:defRPr sz="2200">
                  <a:solidFill>
                    <a:schemeClr val="tx1"/>
                  </a:solidFill>
                  <a:latin typeface="Calibri" pitchFamily="34" charset="0"/>
                </a:defRPr>
              </a:lvl1pPr>
              <a:lvl2pPr marL="742950" indent="-28575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a:spcBef>
                  <a:spcPct val="20000"/>
                </a:spcBef>
                <a:buClr>
                  <a:srgbClr val="D2CB6C"/>
                </a:buClr>
                <a:buFont typeface="Arial" pitchFamily="34" charset="0"/>
                <a:buChar char="•"/>
                <a:defRPr>
                  <a:solidFill>
                    <a:schemeClr val="tx1"/>
                  </a:solidFill>
                  <a:latin typeface="Calibri" pitchFamily="34" charset="0"/>
                </a:defRPr>
              </a:lvl3pPr>
              <a:lvl4pPr marL="1600200" indent="-228600">
                <a:spcBef>
                  <a:spcPct val="20000"/>
                </a:spcBef>
                <a:buClr>
                  <a:srgbClr val="95A39D"/>
                </a:buClr>
                <a:buFont typeface="Arial" pitchFamily="34" charset="0"/>
                <a:buChar char="•"/>
                <a:defRPr sz="1600">
                  <a:solidFill>
                    <a:schemeClr val="tx1"/>
                  </a:solidFill>
                  <a:latin typeface="Calibri" pitchFamily="34" charset="0"/>
                </a:defRPr>
              </a:lvl4pPr>
              <a:lvl5pPr marL="2057400" indent="-228600">
                <a:spcBef>
                  <a:spcPct val="20000"/>
                </a:spcBef>
                <a:buClr>
                  <a:srgbClr val="C89F5D"/>
                </a:buClr>
                <a:buFont typeface="Arial" pitchFamily="34" charset="0"/>
                <a:buChar char="•"/>
                <a:defRPr sz="1400">
                  <a:solidFill>
                    <a:schemeClr val="tx1"/>
                  </a:solidFill>
                  <a:latin typeface="Calibri" pitchFamily="34" charset="0"/>
                </a:defRPr>
              </a:lvl5pPr>
              <a:lvl6pPr marL="25146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algn="l">
                <a:spcBef>
                  <a:spcPct val="0"/>
                </a:spcBef>
                <a:buClrTx/>
                <a:buFontTx/>
                <a:buNone/>
              </a:pPr>
              <a:r>
                <a:rPr lang="en-GB" altLang="en-US" sz="1400" dirty="0">
                  <a:solidFill>
                    <a:schemeClr val="bg1"/>
                  </a:solidFill>
                  <a:latin typeface="Arial" pitchFamily="34" charset="0"/>
                  <a:ea typeface="MS PGothic" pitchFamily="34" charset="-128"/>
                  <a:cs typeface="Times New Roman" pitchFamily="18" charset="0"/>
                </a:rPr>
                <a:t>Return or slice the task</a:t>
              </a:r>
              <a:endParaRPr lang="en-GB" altLang="en-US" sz="1800" dirty="0">
                <a:solidFill>
                  <a:schemeClr val="bg1"/>
                </a:solidFill>
                <a:latin typeface="Arial" pitchFamily="34" charset="0"/>
                <a:ea typeface="MS PGothic" pitchFamily="34" charset="-128"/>
                <a:cs typeface="Times New Roman" pitchFamily="18" charset="0"/>
              </a:endParaRPr>
            </a:p>
          </p:txBody>
        </p:sp>
        <p:sp>
          <p:nvSpPr>
            <p:cNvPr id="29713" name="Rectangle 200"/>
            <p:cNvSpPr>
              <a:spLocks noChangeArrowheads="1"/>
            </p:cNvSpPr>
            <p:nvPr/>
          </p:nvSpPr>
          <p:spPr bwMode="auto">
            <a:xfrm>
              <a:off x="2362" y="1426"/>
              <a:ext cx="1325" cy="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Font typeface="Arial" pitchFamily="34" charset="0"/>
                <a:buChar char="•"/>
                <a:defRPr sz="2200">
                  <a:solidFill>
                    <a:schemeClr val="tx1"/>
                  </a:solidFill>
                  <a:latin typeface="Calibri" pitchFamily="34" charset="0"/>
                </a:defRPr>
              </a:lvl1pPr>
              <a:lvl2pPr marL="742950" indent="-28575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a:spcBef>
                  <a:spcPct val="20000"/>
                </a:spcBef>
                <a:buClr>
                  <a:srgbClr val="D2CB6C"/>
                </a:buClr>
                <a:buFont typeface="Arial" pitchFamily="34" charset="0"/>
                <a:buChar char="•"/>
                <a:defRPr>
                  <a:solidFill>
                    <a:schemeClr val="tx1"/>
                  </a:solidFill>
                  <a:latin typeface="Calibri" pitchFamily="34" charset="0"/>
                </a:defRPr>
              </a:lvl3pPr>
              <a:lvl4pPr marL="1600200" indent="-228600">
                <a:spcBef>
                  <a:spcPct val="20000"/>
                </a:spcBef>
                <a:buClr>
                  <a:srgbClr val="95A39D"/>
                </a:buClr>
                <a:buFont typeface="Arial" pitchFamily="34" charset="0"/>
                <a:buChar char="•"/>
                <a:defRPr sz="1600">
                  <a:solidFill>
                    <a:schemeClr val="tx1"/>
                  </a:solidFill>
                  <a:latin typeface="Calibri" pitchFamily="34" charset="0"/>
                </a:defRPr>
              </a:lvl4pPr>
              <a:lvl5pPr marL="2057400" indent="-228600">
                <a:spcBef>
                  <a:spcPct val="20000"/>
                </a:spcBef>
                <a:buClr>
                  <a:srgbClr val="C89F5D"/>
                </a:buClr>
                <a:buFont typeface="Arial" pitchFamily="34" charset="0"/>
                <a:buChar char="•"/>
                <a:defRPr sz="1400">
                  <a:solidFill>
                    <a:schemeClr val="tx1"/>
                  </a:solidFill>
                  <a:latin typeface="Calibri" pitchFamily="34" charset="0"/>
                </a:defRPr>
              </a:lvl5pPr>
              <a:lvl6pPr marL="25146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algn="l">
                <a:spcBef>
                  <a:spcPct val="0"/>
                </a:spcBef>
                <a:buClrTx/>
                <a:buFontTx/>
                <a:buNone/>
              </a:pPr>
              <a:r>
                <a:rPr lang="en-GB" altLang="en-US" sz="1400" dirty="0">
                  <a:solidFill>
                    <a:schemeClr val="bg1"/>
                  </a:solidFill>
                  <a:latin typeface="Arial" pitchFamily="34" charset="0"/>
                  <a:ea typeface="MS PGothic" pitchFamily="34" charset="-128"/>
                  <a:cs typeface="Times New Roman" pitchFamily="18" charset="0"/>
                </a:rPr>
                <a:t>Task inappropriate</a:t>
              </a:r>
              <a:endParaRPr lang="en-GB" altLang="en-US" sz="1000" dirty="0">
                <a:solidFill>
                  <a:schemeClr val="bg1"/>
                </a:solidFill>
                <a:latin typeface="Times New Roman" pitchFamily="18" charset="0"/>
                <a:ea typeface="MS PGothic" pitchFamily="34" charset="-128"/>
                <a:cs typeface="Times New Roman" pitchFamily="18" charset="0"/>
              </a:endParaRPr>
            </a:p>
            <a:p>
              <a:pPr algn="l" eaLnBrk="0" hangingPunct="0">
                <a:spcBef>
                  <a:spcPct val="0"/>
                </a:spcBef>
                <a:buClrTx/>
                <a:buFontTx/>
                <a:buNone/>
              </a:pPr>
              <a:r>
                <a:rPr lang="en-GB" altLang="en-US" sz="1400" dirty="0">
                  <a:solidFill>
                    <a:schemeClr val="bg1"/>
                  </a:solidFill>
                  <a:latin typeface="Arial" pitchFamily="34" charset="0"/>
                  <a:ea typeface="MS PGothic" pitchFamily="34" charset="-128"/>
                  <a:cs typeface="Times New Roman" pitchFamily="18" charset="0"/>
                </a:rPr>
                <a:t>3 day rule applies</a:t>
              </a:r>
              <a:endParaRPr lang="en-GB" altLang="en-US" sz="1800" dirty="0">
                <a:solidFill>
                  <a:schemeClr val="bg1"/>
                </a:solidFill>
                <a:latin typeface="Arial" pitchFamily="34" charset="0"/>
                <a:ea typeface="MS PGothic" pitchFamily="34" charset="-128"/>
                <a:cs typeface="Times New Roman" pitchFamily="18" charset="0"/>
              </a:endParaRPr>
            </a:p>
          </p:txBody>
        </p:sp>
        <p:sp>
          <p:nvSpPr>
            <p:cNvPr id="29714" name="Rectangle 199"/>
            <p:cNvSpPr>
              <a:spLocks noChangeArrowheads="1"/>
            </p:cNvSpPr>
            <p:nvPr/>
          </p:nvSpPr>
          <p:spPr bwMode="auto">
            <a:xfrm>
              <a:off x="1505" y="1440"/>
              <a:ext cx="870"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Font typeface="Arial" pitchFamily="34" charset="0"/>
                <a:buChar char="•"/>
                <a:defRPr sz="2200">
                  <a:solidFill>
                    <a:schemeClr val="tx1"/>
                  </a:solidFill>
                  <a:latin typeface="Calibri" pitchFamily="34" charset="0"/>
                </a:defRPr>
              </a:lvl1pPr>
              <a:lvl2pPr marL="742950" indent="-28575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a:spcBef>
                  <a:spcPct val="20000"/>
                </a:spcBef>
                <a:buClr>
                  <a:srgbClr val="D2CB6C"/>
                </a:buClr>
                <a:buFont typeface="Arial" pitchFamily="34" charset="0"/>
                <a:buChar char="•"/>
                <a:defRPr>
                  <a:solidFill>
                    <a:schemeClr val="tx1"/>
                  </a:solidFill>
                  <a:latin typeface="Calibri" pitchFamily="34" charset="0"/>
                </a:defRPr>
              </a:lvl3pPr>
              <a:lvl4pPr marL="1600200" indent="-228600">
                <a:spcBef>
                  <a:spcPct val="20000"/>
                </a:spcBef>
                <a:buClr>
                  <a:srgbClr val="95A39D"/>
                </a:buClr>
                <a:buFont typeface="Arial" pitchFamily="34" charset="0"/>
                <a:buChar char="•"/>
                <a:defRPr sz="1600">
                  <a:solidFill>
                    <a:schemeClr val="tx1"/>
                  </a:solidFill>
                  <a:latin typeface="Calibri" pitchFamily="34" charset="0"/>
                </a:defRPr>
              </a:lvl4pPr>
              <a:lvl5pPr marL="2057400" indent="-228600">
                <a:spcBef>
                  <a:spcPct val="20000"/>
                </a:spcBef>
                <a:buClr>
                  <a:srgbClr val="C89F5D"/>
                </a:buClr>
                <a:buFont typeface="Arial" pitchFamily="34" charset="0"/>
                <a:buChar char="•"/>
                <a:defRPr sz="1400">
                  <a:solidFill>
                    <a:schemeClr val="tx1"/>
                  </a:solidFill>
                  <a:latin typeface="Calibri" pitchFamily="34" charset="0"/>
                </a:defRPr>
              </a:lvl5pPr>
              <a:lvl6pPr marL="25146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algn="l">
                <a:spcBef>
                  <a:spcPct val="0"/>
                </a:spcBef>
                <a:buClrTx/>
                <a:buFontTx/>
                <a:buNone/>
              </a:pPr>
              <a:r>
                <a:rPr lang="en-GB" altLang="en-US" sz="2000" b="1" dirty="0" smtClean="0">
                  <a:solidFill>
                    <a:srgbClr val="FF0000"/>
                  </a:solidFill>
                  <a:ea typeface="MS PGothic" pitchFamily="34" charset="-128"/>
                  <a:cs typeface="Times New Roman" pitchFamily="18" charset="0"/>
                </a:rPr>
                <a:t>x</a:t>
              </a:r>
              <a:endParaRPr lang="en-GB" altLang="en-US" sz="1800" dirty="0">
                <a:solidFill>
                  <a:srgbClr val="FF0000"/>
                </a:solidFill>
                <a:latin typeface="Arial" pitchFamily="34" charset="0"/>
                <a:ea typeface="MS PGothic" pitchFamily="34" charset="-128"/>
                <a:cs typeface="Times New Roman" pitchFamily="18" charset="0"/>
              </a:endParaRPr>
            </a:p>
          </p:txBody>
        </p:sp>
        <p:sp>
          <p:nvSpPr>
            <p:cNvPr id="29715" name="Rectangle 198"/>
            <p:cNvSpPr>
              <a:spLocks noChangeArrowheads="1"/>
            </p:cNvSpPr>
            <p:nvPr/>
          </p:nvSpPr>
          <p:spPr bwMode="auto">
            <a:xfrm>
              <a:off x="455" y="1426"/>
              <a:ext cx="1036" cy="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Font typeface="Arial" pitchFamily="34" charset="0"/>
                <a:buChar char="•"/>
                <a:defRPr sz="2200">
                  <a:solidFill>
                    <a:schemeClr val="tx1"/>
                  </a:solidFill>
                  <a:latin typeface="Calibri" pitchFamily="34" charset="0"/>
                </a:defRPr>
              </a:lvl1pPr>
              <a:lvl2pPr marL="742950" indent="-28575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a:spcBef>
                  <a:spcPct val="20000"/>
                </a:spcBef>
                <a:buClr>
                  <a:srgbClr val="D2CB6C"/>
                </a:buClr>
                <a:buFont typeface="Arial" pitchFamily="34" charset="0"/>
                <a:buChar char="•"/>
                <a:defRPr>
                  <a:solidFill>
                    <a:schemeClr val="tx1"/>
                  </a:solidFill>
                  <a:latin typeface="Calibri" pitchFamily="34" charset="0"/>
                </a:defRPr>
              </a:lvl3pPr>
              <a:lvl4pPr marL="1600200" indent="-228600">
                <a:spcBef>
                  <a:spcPct val="20000"/>
                </a:spcBef>
                <a:buClr>
                  <a:srgbClr val="95A39D"/>
                </a:buClr>
                <a:buFont typeface="Arial" pitchFamily="34" charset="0"/>
                <a:buChar char="•"/>
                <a:defRPr sz="1600">
                  <a:solidFill>
                    <a:schemeClr val="tx1"/>
                  </a:solidFill>
                  <a:latin typeface="Calibri" pitchFamily="34" charset="0"/>
                </a:defRPr>
              </a:lvl4pPr>
              <a:lvl5pPr marL="2057400" indent="-228600">
                <a:spcBef>
                  <a:spcPct val="20000"/>
                </a:spcBef>
                <a:buClr>
                  <a:srgbClr val="C89F5D"/>
                </a:buClr>
                <a:buFont typeface="Arial" pitchFamily="34" charset="0"/>
                <a:buChar char="•"/>
                <a:defRPr sz="1400">
                  <a:solidFill>
                    <a:schemeClr val="tx1"/>
                  </a:solidFill>
                  <a:latin typeface="Calibri" pitchFamily="34" charset="0"/>
                </a:defRPr>
              </a:lvl5pPr>
              <a:lvl6pPr marL="25146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algn="l">
                <a:spcBef>
                  <a:spcPct val="0"/>
                </a:spcBef>
                <a:buClrTx/>
                <a:buFontTx/>
                <a:buNone/>
              </a:pPr>
              <a:r>
                <a:rPr lang="en-GB" altLang="en-US" sz="1400" dirty="0">
                  <a:solidFill>
                    <a:schemeClr val="bg1"/>
                  </a:solidFill>
                  <a:latin typeface="Arial" pitchFamily="34" charset="0"/>
                  <a:ea typeface="MS PGothic" pitchFamily="34" charset="-128"/>
                  <a:cs typeface="Times New Roman" pitchFamily="18" charset="0"/>
                </a:rPr>
                <a:t>More errors than correct: No sign of a switch</a:t>
              </a:r>
              <a:endParaRPr lang="en-GB" altLang="en-US" sz="1800" dirty="0">
                <a:solidFill>
                  <a:schemeClr val="bg1"/>
                </a:solidFill>
                <a:latin typeface="Arial" pitchFamily="34" charset="0"/>
                <a:ea typeface="MS PGothic" pitchFamily="34" charset="-128"/>
                <a:cs typeface="Times New Roman" pitchFamily="18" charset="0"/>
              </a:endParaRPr>
            </a:p>
          </p:txBody>
        </p:sp>
        <p:sp>
          <p:nvSpPr>
            <p:cNvPr id="29716" name="Rectangle 197"/>
            <p:cNvSpPr>
              <a:spLocks noChangeArrowheads="1"/>
            </p:cNvSpPr>
            <p:nvPr/>
          </p:nvSpPr>
          <p:spPr bwMode="auto">
            <a:xfrm>
              <a:off x="3687" y="1071"/>
              <a:ext cx="1824" cy="3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accent1"/>
                </a:buClr>
                <a:buFont typeface="Arial" pitchFamily="34" charset="0"/>
                <a:buChar char="•"/>
                <a:defRPr sz="2200">
                  <a:solidFill>
                    <a:schemeClr val="tx1"/>
                  </a:solidFill>
                  <a:latin typeface="Calibri" pitchFamily="34" charset="0"/>
                </a:defRPr>
              </a:lvl1pPr>
              <a:lvl2pPr marL="742950" indent="-28575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a:spcBef>
                  <a:spcPct val="20000"/>
                </a:spcBef>
                <a:buClr>
                  <a:srgbClr val="D2CB6C"/>
                </a:buClr>
                <a:buFont typeface="Arial" pitchFamily="34" charset="0"/>
                <a:buChar char="•"/>
                <a:defRPr>
                  <a:solidFill>
                    <a:schemeClr val="tx1"/>
                  </a:solidFill>
                  <a:latin typeface="Calibri" pitchFamily="34" charset="0"/>
                </a:defRPr>
              </a:lvl3pPr>
              <a:lvl4pPr marL="1600200" indent="-228600">
                <a:spcBef>
                  <a:spcPct val="20000"/>
                </a:spcBef>
                <a:buClr>
                  <a:srgbClr val="95A39D"/>
                </a:buClr>
                <a:buFont typeface="Arial" pitchFamily="34" charset="0"/>
                <a:buChar char="•"/>
                <a:defRPr sz="1600">
                  <a:solidFill>
                    <a:schemeClr val="tx1"/>
                  </a:solidFill>
                  <a:latin typeface="Calibri" pitchFamily="34" charset="0"/>
                </a:defRPr>
              </a:lvl4pPr>
              <a:lvl5pPr marL="2057400" indent="-228600">
                <a:spcBef>
                  <a:spcPct val="20000"/>
                </a:spcBef>
                <a:buClr>
                  <a:srgbClr val="C89F5D"/>
                </a:buClr>
                <a:buFont typeface="Arial" pitchFamily="34" charset="0"/>
                <a:buChar char="•"/>
                <a:defRPr sz="1400">
                  <a:solidFill>
                    <a:schemeClr val="tx1"/>
                  </a:solidFill>
                  <a:latin typeface="Calibri" pitchFamily="34" charset="0"/>
                </a:defRPr>
              </a:lvl5pPr>
              <a:lvl6pPr marL="25146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algn="ctr">
                <a:spcBef>
                  <a:spcPct val="0"/>
                </a:spcBef>
                <a:buClrTx/>
                <a:buFontTx/>
                <a:buNone/>
              </a:pPr>
              <a:r>
                <a:rPr lang="en-GB" altLang="en-US" sz="1600" u="sng">
                  <a:solidFill>
                    <a:schemeClr val="bg1"/>
                  </a:solidFill>
                  <a:latin typeface="Arial" pitchFamily="34" charset="0"/>
                  <a:ea typeface="MS PGothic" pitchFamily="34" charset="-128"/>
                  <a:cs typeface="Times New Roman" pitchFamily="18" charset="0"/>
                </a:rPr>
                <a:t>Intervention</a:t>
              </a:r>
              <a:endParaRPr lang="en-GB" altLang="en-US" sz="1800">
                <a:solidFill>
                  <a:schemeClr val="bg1"/>
                </a:solidFill>
                <a:latin typeface="Arial" pitchFamily="34" charset="0"/>
                <a:ea typeface="MS PGothic" pitchFamily="34" charset="-128"/>
                <a:cs typeface="Times New Roman" pitchFamily="18" charset="0"/>
              </a:endParaRPr>
            </a:p>
          </p:txBody>
        </p:sp>
        <p:sp>
          <p:nvSpPr>
            <p:cNvPr id="29717" name="Rectangle 196"/>
            <p:cNvSpPr>
              <a:spLocks noChangeArrowheads="1"/>
            </p:cNvSpPr>
            <p:nvPr/>
          </p:nvSpPr>
          <p:spPr bwMode="auto">
            <a:xfrm>
              <a:off x="2362" y="1071"/>
              <a:ext cx="1325" cy="3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accent1"/>
                </a:buClr>
                <a:buFont typeface="Arial" pitchFamily="34" charset="0"/>
                <a:buChar char="•"/>
                <a:defRPr sz="2200">
                  <a:solidFill>
                    <a:schemeClr val="tx1"/>
                  </a:solidFill>
                  <a:latin typeface="Calibri" pitchFamily="34" charset="0"/>
                </a:defRPr>
              </a:lvl1pPr>
              <a:lvl2pPr marL="742950" indent="-28575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a:spcBef>
                  <a:spcPct val="20000"/>
                </a:spcBef>
                <a:buClr>
                  <a:srgbClr val="D2CB6C"/>
                </a:buClr>
                <a:buFont typeface="Arial" pitchFamily="34" charset="0"/>
                <a:buChar char="•"/>
                <a:defRPr>
                  <a:solidFill>
                    <a:schemeClr val="tx1"/>
                  </a:solidFill>
                  <a:latin typeface="Calibri" pitchFamily="34" charset="0"/>
                </a:defRPr>
              </a:lvl3pPr>
              <a:lvl4pPr marL="1600200" indent="-228600">
                <a:spcBef>
                  <a:spcPct val="20000"/>
                </a:spcBef>
                <a:buClr>
                  <a:srgbClr val="95A39D"/>
                </a:buClr>
                <a:buFont typeface="Arial" pitchFamily="34" charset="0"/>
                <a:buChar char="•"/>
                <a:defRPr sz="1600">
                  <a:solidFill>
                    <a:schemeClr val="tx1"/>
                  </a:solidFill>
                  <a:latin typeface="Calibri" pitchFamily="34" charset="0"/>
                </a:defRPr>
              </a:lvl4pPr>
              <a:lvl5pPr marL="2057400" indent="-228600">
                <a:spcBef>
                  <a:spcPct val="20000"/>
                </a:spcBef>
                <a:buClr>
                  <a:srgbClr val="C89F5D"/>
                </a:buClr>
                <a:buFont typeface="Arial" pitchFamily="34" charset="0"/>
                <a:buChar char="•"/>
                <a:defRPr sz="1400">
                  <a:solidFill>
                    <a:schemeClr val="tx1"/>
                  </a:solidFill>
                  <a:latin typeface="Calibri" pitchFamily="34" charset="0"/>
                </a:defRPr>
              </a:lvl5pPr>
              <a:lvl6pPr marL="25146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algn="ctr">
                <a:spcBef>
                  <a:spcPct val="0"/>
                </a:spcBef>
                <a:buClrTx/>
                <a:buFontTx/>
                <a:buNone/>
              </a:pPr>
              <a:r>
                <a:rPr lang="en-GB" altLang="en-US" sz="1600" u="sng">
                  <a:solidFill>
                    <a:schemeClr val="bg1"/>
                  </a:solidFill>
                  <a:latin typeface="Arial" pitchFamily="34" charset="0"/>
                  <a:ea typeface="MS PGothic" pitchFamily="34" charset="-128"/>
                  <a:cs typeface="Times New Roman" pitchFamily="18" charset="0"/>
                </a:rPr>
                <a:t>Interpretation</a:t>
              </a:r>
              <a:endParaRPr lang="en-GB" altLang="en-US" sz="1800">
                <a:solidFill>
                  <a:schemeClr val="bg1"/>
                </a:solidFill>
                <a:latin typeface="Arial" pitchFamily="34" charset="0"/>
                <a:ea typeface="MS PGothic" pitchFamily="34" charset="-128"/>
                <a:cs typeface="Times New Roman" pitchFamily="18" charset="0"/>
              </a:endParaRPr>
            </a:p>
          </p:txBody>
        </p:sp>
        <p:sp>
          <p:nvSpPr>
            <p:cNvPr id="29718" name="Rectangle 195"/>
            <p:cNvSpPr>
              <a:spLocks noChangeArrowheads="1"/>
            </p:cNvSpPr>
            <p:nvPr/>
          </p:nvSpPr>
          <p:spPr bwMode="auto">
            <a:xfrm>
              <a:off x="1491" y="1071"/>
              <a:ext cx="871" cy="3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accent1"/>
                </a:buClr>
                <a:buFont typeface="Arial" pitchFamily="34" charset="0"/>
                <a:buChar char="•"/>
                <a:defRPr sz="2200">
                  <a:solidFill>
                    <a:schemeClr val="tx1"/>
                  </a:solidFill>
                  <a:latin typeface="Calibri" pitchFamily="34" charset="0"/>
                </a:defRPr>
              </a:lvl1pPr>
              <a:lvl2pPr marL="742950" indent="-28575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a:spcBef>
                  <a:spcPct val="20000"/>
                </a:spcBef>
                <a:buClr>
                  <a:srgbClr val="D2CB6C"/>
                </a:buClr>
                <a:buFont typeface="Arial" pitchFamily="34" charset="0"/>
                <a:buChar char="•"/>
                <a:defRPr>
                  <a:solidFill>
                    <a:schemeClr val="tx1"/>
                  </a:solidFill>
                  <a:latin typeface="Calibri" pitchFamily="34" charset="0"/>
                </a:defRPr>
              </a:lvl3pPr>
              <a:lvl4pPr marL="1600200" indent="-228600">
                <a:spcBef>
                  <a:spcPct val="20000"/>
                </a:spcBef>
                <a:buClr>
                  <a:srgbClr val="95A39D"/>
                </a:buClr>
                <a:buFont typeface="Arial" pitchFamily="34" charset="0"/>
                <a:buChar char="•"/>
                <a:defRPr sz="1600">
                  <a:solidFill>
                    <a:schemeClr val="tx1"/>
                  </a:solidFill>
                  <a:latin typeface="Calibri" pitchFamily="34" charset="0"/>
                </a:defRPr>
              </a:lvl4pPr>
              <a:lvl5pPr marL="2057400" indent="-228600">
                <a:spcBef>
                  <a:spcPct val="20000"/>
                </a:spcBef>
                <a:buClr>
                  <a:srgbClr val="C89F5D"/>
                </a:buClr>
                <a:buFont typeface="Arial" pitchFamily="34" charset="0"/>
                <a:buChar char="•"/>
                <a:defRPr sz="1400">
                  <a:solidFill>
                    <a:schemeClr val="tx1"/>
                  </a:solidFill>
                  <a:latin typeface="Calibri" pitchFamily="34" charset="0"/>
                </a:defRPr>
              </a:lvl5pPr>
              <a:lvl6pPr marL="25146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a:buClrTx/>
                <a:buFontTx/>
                <a:buNone/>
              </a:pPr>
              <a:r>
                <a:rPr lang="en-GB" altLang="en-US" sz="1600" u="sng" dirty="0">
                  <a:solidFill>
                    <a:schemeClr val="bg1"/>
                  </a:solidFill>
                  <a:latin typeface="Arial" pitchFamily="34" charset="0"/>
                  <a:ea typeface="MS PGothic" pitchFamily="34" charset="-128"/>
                  <a:cs typeface="Arial" pitchFamily="34" charset="0"/>
                </a:rPr>
                <a:t>Chart Picture</a:t>
              </a:r>
            </a:p>
          </p:txBody>
        </p:sp>
        <p:sp>
          <p:nvSpPr>
            <p:cNvPr id="29719" name="Rectangle 194"/>
            <p:cNvSpPr>
              <a:spLocks noChangeArrowheads="1"/>
            </p:cNvSpPr>
            <p:nvPr/>
          </p:nvSpPr>
          <p:spPr bwMode="auto">
            <a:xfrm>
              <a:off x="455" y="1071"/>
              <a:ext cx="1036" cy="3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accent1"/>
                </a:buClr>
                <a:buFont typeface="Arial" pitchFamily="34" charset="0"/>
                <a:buChar char="•"/>
                <a:defRPr sz="2200">
                  <a:solidFill>
                    <a:schemeClr val="tx1"/>
                  </a:solidFill>
                  <a:latin typeface="Calibri" pitchFamily="34" charset="0"/>
                </a:defRPr>
              </a:lvl1pPr>
              <a:lvl2pPr marL="742950" indent="-28575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a:spcBef>
                  <a:spcPct val="20000"/>
                </a:spcBef>
                <a:buClr>
                  <a:srgbClr val="D2CB6C"/>
                </a:buClr>
                <a:buFont typeface="Arial" pitchFamily="34" charset="0"/>
                <a:buChar char="•"/>
                <a:defRPr>
                  <a:solidFill>
                    <a:schemeClr val="tx1"/>
                  </a:solidFill>
                  <a:latin typeface="Calibri" pitchFamily="34" charset="0"/>
                </a:defRPr>
              </a:lvl3pPr>
              <a:lvl4pPr marL="1600200" indent="-228600">
                <a:spcBef>
                  <a:spcPct val="20000"/>
                </a:spcBef>
                <a:buClr>
                  <a:srgbClr val="95A39D"/>
                </a:buClr>
                <a:buFont typeface="Arial" pitchFamily="34" charset="0"/>
                <a:buChar char="•"/>
                <a:defRPr sz="1600">
                  <a:solidFill>
                    <a:schemeClr val="tx1"/>
                  </a:solidFill>
                  <a:latin typeface="Calibri" pitchFamily="34" charset="0"/>
                </a:defRPr>
              </a:lvl4pPr>
              <a:lvl5pPr marL="2057400" indent="-228600">
                <a:spcBef>
                  <a:spcPct val="20000"/>
                </a:spcBef>
                <a:buClr>
                  <a:srgbClr val="C89F5D"/>
                </a:buClr>
                <a:buFont typeface="Arial" pitchFamily="34" charset="0"/>
                <a:buChar char="•"/>
                <a:defRPr sz="1400">
                  <a:solidFill>
                    <a:schemeClr val="tx1"/>
                  </a:solidFill>
                  <a:latin typeface="Calibri" pitchFamily="34" charset="0"/>
                </a:defRPr>
              </a:lvl5pPr>
              <a:lvl6pPr marL="25146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algn="ctr">
                <a:spcBef>
                  <a:spcPct val="0"/>
                </a:spcBef>
                <a:buClrTx/>
                <a:buFontTx/>
                <a:buNone/>
              </a:pPr>
              <a:r>
                <a:rPr lang="en-GB" altLang="en-US" sz="1600" u="sng">
                  <a:solidFill>
                    <a:schemeClr val="bg1"/>
                  </a:solidFill>
                  <a:latin typeface="Arial" pitchFamily="34" charset="0"/>
                  <a:ea typeface="MS PGothic" pitchFamily="34" charset="-128"/>
                  <a:cs typeface="Times New Roman" pitchFamily="18" charset="0"/>
                </a:rPr>
                <a:t>Chart Description</a:t>
              </a:r>
              <a:endParaRPr lang="en-GB" altLang="en-US" sz="1800">
                <a:solidFill>
                  <a:schemeClr val="bg1"/>
                </a:solidFill>
                <a:latin typeface="Arial" pitchFamily="34" charset="0"/>
                <a:ea typeface="MS PGothic" pitchFamily="34" charset="-128"/>
                <a:cs typeface="Times New Roman" pitchFamily="18" charset="0"/>
              </a:endParaRPr>
            </a:p>
          </p:txBody>
        </p:sp>
        <p:sp>
          <p:nvSpPr>
            <p:cNvPr id="29720" name="Line 214"/>
            <p:cNvSpPr>
              <a:spLocks noChangeShapeType="1"/>
            </p:cNvSpPr>
            <p:nvPr/>
          </p:nvSpPr>
          <p:spPr bwMode="auto">
            <a:xfrm>
              <a:off x="455" y="1071"/>
              <a:ext cx="5056" cy="0"/>
            </a:xfrm>
            <a:prstGeom prst="line">
              <a:avLst/>
            </a:prstGeom>
            <a:noFill/>
            <a:ln w="12700" cap="rnd">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solidFill>
                  <a:schemeClr val="bg1"/>
                </a:solidFill>
              </a:endParaRPr>
            </a:p>
          </p:txBody>
        </p:sp>
        <p:sp>
          <p:nvSpPr>
            <p:cNvPr id="29721" name="Line 215"/>
            <p:cNvSpPr>
              <a:spLocks noChangeShapeType="1"/>
            </p:cNvSpPr>
            <p:nvPr/>
          </p:nvSpPr>
          <p:spPr bwMode="auto">
            <a:xfrm>
              <a:off x="455" y="3757"/>
              <a:ext cx="5056" cy="0"/>
            </a:xfrm>
            <a:prstGeom prst="line">
              <a:avLst/>
            </a:prstGeom>
            <a:noFill/>
            <a:ln w="12700" cap="rnd">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solidFill>
                  <a:schemeClr val="bg1"/>
                </a:solidFill>
              </a:endParaRPr>
            </a:p>
          </p:txBody>
        </p:sp>
        <p:sp>
          <p:nvSpPr>
            <p:cNvPr id="29722" name="Line 216"/>
            <p:cNvSpPr>
              <a:spLocks noChangeShapeType="1"/>
            </p:cNvSpPr>
            <p:nvPr/>
          </p:nvSpPr>
          <p:spPr bwMode="auto">
            <a:xfrm>
              <a:off x="455" y="1071"/>
              <a:ext cx="0" cy="2686"/>
            </a:xfrm>
            <a:prstGeom prst="line">
              <a:avLst/>
            </a:prstGeom>
            <a:noFill/>
            <a:ln w="12700" cap="rnd">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solidFill>
                  <a:schemeClr val="bg1"/>
                </a:solidFill>
              </a:endParaRPr>
            </a:p>
          </p:txBody>
        </p:sp>
        <p:sp>
          <p:nvSpPr>
            <p:cNvPr id="29723" name="Line 217"/>
            <p:cNvSpPr>
              <a:spLocks noChangeShapeType="1"/>
            </p:cNvSpPr>
            <p:nvPr/>
          </p:nvSpPr>
          <p:spPr bwMode="auto">
            <a:xfrm>
              <a:off x="5511" y="1071"/>
              <a:ext cx="0" cy="2686"/>
            </a:xfrm>
            <a:prstGeom prst="line">
              <a:avLst/>
            </a:prstGeom>
            <a:noFill/>
            <a:ln w="12700" cap="rnd">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solidFill>
                  <a:schemeClr val="bg1"/>
                </a:solidFill>
              </a:endParaRPr>
            </a:p>
          </p:txBody>
        </p:sp>
        <p:sp>
          <p:nvSpPr>
            <p:cNvPr id="29724" name="Line 220"/>
            <p:cNvSpPr>
              <a:spLocks noChangeShapeType="1"/>
            </p:cNvSpPr>
            <p:nvPr/>
          </p:nvSpPr>
          <p:spPr bwMode="auto">
            <a:xfrm>
              <a:off x="455" y="1426"/>
              <a:ext cx="5056" cy="0"/>
            </a:xfrm>
            <a:prstGeom prst="line">
              <a:avLst/>
            </a:prstGeom>
            <a:noFill/>
            <a:ln w="12700" cap="rnd">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solidFill>
                  <a:schemeClr val="bg1"/>
                </a:solidFill>
              </a:endParaRPr>
            </a:p>
          </p:txBody>
        </p:sp>
        <p:sp>
          <p:nvSpPr>
            <p:cNvPr id="29725" name="Line 222"/>
            <p:cNvSpPr>
              <a:spLocks noChangeShapeType="1"/>
            </p:cNvSpPr>
            <p:nvPr/>
          </p:nvSpPr>
          <p:spPr bwMode="auto">
            <a:xfrm>
              <a:off x="1491" y="1071"/>
              <a:ext cx="0" cy="2686"/>
            </a:xfrm>
            <a:prstGeom prst="line">
              <a:avLst/>
            </a:prstGeom>
            <a:noFill/>
            <a:ln w="12700" cap="rnd">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solidFill>
                  <a:schemeClr val="bg1"/>
                </a:solidFill>
              </a:endParaRPr>
            </a:p>
          </p:txBody>
        </p:sp>
        <p:sp>
          <p:nvSpPr>
            <p:cNvPr id="29726" name="Line 225"/>
            <p:cNvSpPr>
              <a:spLocks noChangeShapeType="1"/>
            </p:cNvSpPr>
            <p:nvPr/>
          </p:nvSpPr>
          <p:spPr bwMode="auto">
            <a:xfrm>
              <a:off x="2362" y="1071"/>
              <a:ext cx="0" cy="2686"/>
            </a:xfrm>
            <a:prstGeom prst="line">
              <a:avLst/>
            </a:prstGeom>
            <a:noFill/>
            <a:ln w="12700" cap="rnd">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solidFill>
                  <a:schemeClr val="bg1"/>
                </a:solidFill>
              </a:endParaRPr>
            </a:p>
          </p:txBody>
        </p:sp>
        <p:sp>
          <p:nvSpPr>
            <p:cNvPr id="29727" name="Line 228"/>
            <p:cNvSpPr>
              <a:spLocks noChangeShapeType="1"/>
            </p:cNvSpPr>
            <p:nvPr/>
          </p:nvSpPr>
          <p:spPr bwMode="auto">
            <a:xfrm>
              <a:off x="3687" y="1071"/>
              <a:ext cx="0" cy="2686"/>
            </a:xfrm>
            <a:prstGeom prst="line">
              <a:avLst/>
            </a:prstGeom>
            <a:noFill/>
            <a:ln w="12700" cap="rnd">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solidFill>
                  <a:schemeClr val="bg1"/>
                </a:solidFill>
              </a:endParaRPr>
            </a:p>
          </p:txBody>
        </p:sp>
        <p:sp>
          <p:nvSpPr>
            <p:cNvPr id="29728" name="Line 232"/>
            <p:cNvSpPr>
              <a:spLocks noChangeShapeType="1"/>
            </p:cNvSpPr>
            <p:nvPr/>
          </p:nvSpPr>
          <p:spPr bwMode="auto">
            <a:xfrm>
              <a:off x="455" y="1924"/>
              <a:ext cx="5056" cy="0"/>
            </a:xfrm>
            <a:prstGeom prst="line">
              <a:avLst/>
            </a:prstGeom>
            <a:noFill/>
            <a:ln w="12700" cap="rnd">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solidFill>
                  <a:schemeClr val="bg1"/>
                </a:solidFill>
              </a:endParaRPr>
            </a:p>
          </p:txBody>
        </p:sp>
        <p:sp>
          <p:nvSpPr>
            <p:cNvPr id="29729" name="Line 250"/>
            <p:cNvSpPr>
              <a:spLocks noChangeShapeType="1"/>
            </p:cNvSpPr>
            <p:nvPr/>
          </p:nvSpPr>
          <p:spPr bwMode="auto">
            <a:xfrm>
              <a:off x="455" y="2528"/>
              <a:ext cx="5056" cy="0"/>
            </a:xfrm>
            <a:prstGeom prst="line">
              <a:avLst/>
            </a:prstGeom>
            <a:noFill/>
            <a:ln w="12700" cap="rnd">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solidFill>
                  <a:schemeClr val="bg1"/>
                </a:solidFill>
              </a:endParaRPr>
            </a:p>
          </p:txBody>
        </p:sp>
        <p:sp>
          <p:nvSpPr>
            <p:cNvPr id="29730" name="Line 268"/>
            <p:cNvSpPr>
              <a:spLocks noChangeShapeType="1"/>
            </p:cNvSpPr>
            <p:nvPr/>
          </p:nvSpPr>
          <p:spPr bwMode="auto">
            <a:xfrm>
              <a:off x="455" y="3113"/>
              <a:ext cx="5056" cy="0"/>
            </a:xfrm>
            <a:prstGeom prst="line">
              <a:avLst/>
            </a:prstGeom>
            <a:noFill/>
            <a:ln w="12700" cap="rnd">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solidFill>
                  <a:schemeClr val="bg1"/>
                </a:solidFill>
              </a:endParaRPr>
            </a:p>
          </p:txBody>
        </p:sp>
        <p:grpSp>
          <p:nvGrpSpPr>
            <p:cNvPr id="29731" name="Group 157"/>
            <p:cNvGrpSpPr>
              <a:grpSpLocks/>
            </p:cNvGrpSpPr>
            <p:nvPr/>
          </p:nvGrpSpPr>
          <p:grpSpPr bwMode="auto">
            <a:xfrm>
              <a:off x="1600" y="2594"/>
              <a:ext cx="408" cy="251"/>
              <a:chOff x="4496" y="6534"/>
              <a:chExt cx="970" cy="618"/>
            </a:xfrm>
          </p:grpSpPr>
          <p:sp>
            <p:nvSpPr>
              <p:cNvPr id="29742" name="Line 160"/>
              <p:cNvSpPr>
                <a:spLocks noChangeShapeType="1"/>
              </p:cNvSpPr>
              <p:nvPr/>
            </p:nvSpPr>
            <p:spPr bwMode="auto">
              <a:xfrm flipV="1">
                <a:off x="4722" y="6534"/>
                <a:ext cx="612" cy="25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GB">
                  <a:solidFill>
                    <a:schemeClr val="bg1"/>
                  </a:solidFill>
                </a:endParaRPr>
              </a:p>
            </p:txBody>
          </p:sp>
          <p:sp>
            <p:nvSpPr>
              <p:cNvPr id="29743" name="Line 159"/>
              <p:cNvSpPr>
                <a:spLocks noChangeShapeType="1"/>
              </p:cNvSpPr>
              <p:nvPr/>
            </p:nvSpPr>
            <p:spPr bwMode="auto">
              <a:xfrm flipV="1">
                <a:off x="4854" y="6894"/>
                <a:ext cx="612" cy="25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GB">
                  <a:solidFill>
                    <a:schemeClr val="bg1"/>
                  </a:solidFill>
                </a:endParaRPr>
              </a:p>
            </p:txBody>
          </p:sp>
          <p:sp>
            <p:nvSpPr>
              <p:cNvPr id="29744" name="Oval 158"/>
              <p:cNvSpPr>
                <a:spLocks noChangeArrowheads="1"/>
              </p:cNvSpPr>
              <p:nvPr/>
            </p:nvSpPr>
            <p:spPr bwMode="auto">
              <a:xfrm>
                <a:off x="4496" y="6720"/>
                <a:ext cx="240" cy="180"/>
              </a:xfrm>
              <a:prstGeom prst="ellipse">
                <a:avLst/>
              </a:prstGeom>
              <a:solidFill>
                <a:srgbClr val="339966"/>
              </a:solidFill>
              <a:ln w="9525">
                <a:solidFill>
                  <a:srgbClr val="000000"/>
                </a:solidFill>
                <a:round/>
                <a:headEnd/>
                <a:tailEnd/>
              </a:ln>
            </p:spPr>
            <p:txBody>
              <a:bodyPr/>
              <a:lstStyle>
                <a:lvl1pPr>
                  <a:spcBef>
                    <a:spcPct val="20000"/>
                  </a:spcBef>
                  <a:buClr>
                    <a:schemeClr val="accent1"/>
                  </a:buClr>
                  <a:buFont typeface="Arial" pitchFamily="34" charset="0"/>
                  <a:buChar char="•"/>
                  <a:defRPr sz="2200">
                    <a:solidFill>
                      <a:schemeClr val="tx1"/>
                    </a:solidFill>
                    <a:latin typeface="Calibri" pitchFamily="34" charset="0"/>
                  </a:defRPr>
                </a:lvl1pPr>
                <a:lvl2pPr marL="742950" indent="-28575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a:spcBef>
                    <a:spcPct val="20000"/>
                  </a:spcBef>
                  <a:buClr>
                    <a:srgbClr val="D2CB6C"/>
                  </a:buClr>
                  <a:buFont typeface="Arial" pitchFamily="34" charset="0"/>
                  <a:buChar char="•"/>
                  <a:defRPr>
                    <a:solidFill>
                      <a:schemeClr val="tx1"/>
                    </a:solidFill>
                    <a:latin typeface="Calibri" pitchFamily="34" charset="0"/>
                  </a:defRPr>
                </a:lvl3pPr>
                <a:lvl4pPr marL="1600200" indent="-228600">
                  <a:spcBef>
                    <a:spcPct val="20000"/>
                  </a:spcBef>
                  <a:buClr>
                    <a:srgbClr val="95A39D"/>
                  </a:buClr>
                  <a:buFont typeface="Arial" pitchFamily="34" charset="0"/>
                  <a:buChar char="•"/>
                  <a:defRPr sz="1600">
                    <a:solidFill>
                      <a:schemeClr val="tx1"/>
                    </a:solidFill>
                    <a:latin typeface="Calibri" pitchFamily="34" charset="0"/>
                  </a:defRPr>
                </a:lvl4pPr>
                <a:lvl5pPr marL="2057400" indent="-228600">
                  <a:spcBef>
                    <a:spcPct val="20000"/>
                  </a:spcBef>
                  <a:buClr>
                    <a:srgbClr val="C89F5D"/>
                  </a:buClr>
                  <a:buFont typeface="Arial" pitchFamily="34" charset="0"/>
                  <a:buChar char="•"/>
                  <a:defRPr sz="1400">
                    <a:solidFill>
                      <a:schemeClr val="tx1"/>
                    </a:solidFill>
                    <a:latin typeface="Calibri" pitchFamily="34" charset="0"/>
                  </a:defRPr>
                </a:lvl5pPr>
                <a:lvl6pPr marL="25146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a:spcBef>
                    <a:spcPct val="0"/>
                  </a:spcBef>
                  <a:buClrTx/>
                  <a:buFontTx/>
                  <a:buNone/>
                </a:pPr>
                <a:endParaRPr lang="en-GB" altLang="en-US" sz="2400">
                  <a:solidFill>
                    <a:schemeClr val="bg1"/>
                  </a:solidFill>
                  <a:latin typeface="Times New Roman" pitchFamily="18" charset="0"/>
                  <a:ea typeface="MS PGothic" pitchFamily="34" charset="-128"/>
                  <a:cs typeface="Arial" pitchFamily="34" charset="0"/>
                </a:endParaRPr>
              </a:p>
            </p:txBody>
          </p:sp>
        </p:grpSp>
        <p:grpSp>
          <p:nvGrpSpPr>
            <p:cNvPr id="29732" name="Group 161"/>
            <p:cNvGrpSpPr>
              <a:grpSpLocks/>
            </p:cNvGrpSpPr>
            <p:nvPr/>
          </p:nvGrpSpPr>
          <p:grpSpPr bwMode="auto">
            <a:xfrm>
              <a:off x="1648" y="2040"/>
              <a:ext cx="300" cy="289"/>
              <a:chOff x="4739" y="4873"/>
              <a:chExt cx="715" cy="709"/>
            </a:xfrm>
          </p:grpSpPr>
          <p:sp>
            <p:nvSpPr>
              <p:cNvPr id="29739" name="Line 164"/>
              <p:cNvSpPr>
                <a:spLocks noChangeShapeType="1"/>
              </p:cNvSpPr>
              <p:nvPr/>
            </p:nvSpPr>
            <p:spPr bwMode="auto">
              <a:xfrm flipV="1">
                <a:off x="4854" y="5042"/>
                <a:ext cx="600" cy="54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GB">
                  <a:solidFill>
                    <a:schemeClr val="bg1"/>
                  </a:solidFill>
                </a:endParaRPr>
              </a:p>
            </p:txBody>
          </p:sp>
          <p:sp>
            <p:nvSpPr>
              <p:cNvPr id="29740" name="Line 163"/>
              <p:cNvSpPr>
                <a:spLocks noChangeShapeType="1"/>
              </p:cNvSpPr>
              <p:nvPr/>
            </p:nvSpPr>
            <p:spPr bwMode="auto">
              <a:xfrm>
                <a:off x="4974" y="5042"/>
                <a:ext cx="480" cy="54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GB">
                  <a:solidFill>
                    <a:schemeClr val="bg1"/>
                  </a:solidFill>
                </a:endParaRPr>
              </a:p>
            </p:txBody>
          </p:sp>
          <p:sp>
            <p:nvSpPr>
              <p:cNvPr id="29741" name="Oval 162"/>
              <p:cNvSpPr>
                <a:spLocks noChangeArrowheads="1"/>
              </p:cNvSpPr>
              <p:nvPr/>
            </p:nvSpPr>
            <p:spPr bwMode="auto">
              <a:xfrm>
                <a:off x="4739" y="4873"/>
                <a:ext cx="240" cy="180"/>
              </a:xfrm>
              <a:prstGeom prst="ellipse">
                <a:avLst/>
              </a:prstGeom>
              <a:solidFill>
                <a:srgbClr val="339966"/>
              </a:solidFill>
              <a:ln w="9525">
                <a:solidFill>
                  <a:srgbClr val="000000"/>
                </a:solidFill>
                <a:round/>
                <a:headEnd/>
                <a:tailEnd/>
              </a:ln>
            </p:spPr>
            <p:txBody>
              <a:bodyPr/>
              <a:lstStyle>
                <a:lvl1pPr>
                  <a:spcBef>
                    <a:spcPct val="20000"/>
                  </a:spcBef>
                  <a:buClr>
                    <a:schemeClr val="accent1"/>
                  </a:buClr>
                  <a:buFont typeface="Arial" pitchFamily="34" charset="0"/>
                  <a:buChar char="•"/>
                  <a:defRPr sz="2200">
                    <a:solidFill>
                      <a:schemeClr val="tx1"/>
                    </a:solidFill>
                    <a:latin typeface="Calibri" pitchFamily="34" charset="0"/>
                  </a:defRPr>
                </a:lvl1pPr>
                <a:lvl2pPr marL="742950" indent="-28575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a:spcBef>
                    <a:spcPct val="20000"/>
                  </a:spcBef>
                  <a:buClr>
                    <a:srgbClr val="D2CB6C"/>
                  </a:buClr>
                  <a:buFont typeface="Arial" pitchFamily="34" charset="0"/>
                  <a:buChar char="•"/>
                  <a:defRPr>
                    <a:solidFill>
                      <a:schemeClr val="tx1"/>
                    </a:solidFill>
                    <a:latin typeface="Calibri" pitchFamily="34" charset="0"/>
                  </a:defRPr>
                </a:lvl3pPr>
                <a:lvl4pPr marL="1600200" indent="-228600">
                  <a:spcBef>
                    <a:spcPct val="20000"/>
                  </a:spcBef>
                  <a:buClr>
                    <a:srgbClr val="95A39D"/>
                  </a:buClr>
                  <a:buFont typeface="Arial" pitchFamily="34" charset="0"/>
                  <a:buChar char="•"/>
                  <a:defRPr sz="1600">
                    <a:solidFill>
                      <a:schemeClr val="tx1"/>
                    </a:solidFill>
                    <a:latin typeface="Calibri" pitchFamily="34" charset="0"/>
                  </a:defRPr>
                </a:lvl4pPr>
                <a:lvl5pPr marL="2057400" indent="-228600">
                  <a:spcBef>
                    <a:spcPct val="20000"/>
                  </a:spcBef>
                  <a:buClr>
                    <a:srgbClr val="C89F5D"/>
                  </a:buClr>
                  <a:buFont typeface="Arial" pitchFamily="34" charset="0"/>
                  <a:buChar char="•"/>
                  <a:defRPr sz="1400">
                    <a:solidFill>
                      <a:schemeClr val="tx1"/>
                    </a:solidFill>
                    <a:latin typeface="Calibri" pitchFamily="34" charset="0"/>
                  </a:defRPr>
                </a:lvl5pPr>
                <a:lvl6pPr marL="25146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a:spcBef>
                    <a:spcPct val="0"/>
                  </a:spcBef>
                  <a:buClrTx/>
                  <a:buFontTx/>
                  <a:buNone/>
                </a:pPr>
                <a:endParaRPr lang="en-GB" altLang="en-US" sz="2400">
                  <a:solidFill>
                    <a:schemeClr val="bg1"/>
                  </a:solidFill>
                  <a:latin typeface="Times New Roman" pitchFamily="18" charset="0"/>
                  <a:ea typeface="MS PGothic" pitchFamily="34" charset="-128"/>
                  <a:cs typeface="Arial" pitchFamily="34" charset="0"/>
                </a:endParaRPr>
              </a:p>
            </p:txBody>
          </p:sp>
        </p:grpSp>
        <p:sp>
          <p:nvSpPr>
            <p:cNvPr id="29733" name="Line 156"/>
            <p:cNvSpPr>
              <a:spLocks noChangeShapeType="1"/>
            </p:cNvSpPr>
            <p:nvPr/>
          </p:nvSpPr>
          <p:spPr bwMode="auto">
            <a:xfrm>
              <a:off x="1648" y="3471"/>
              <a:ext cx="355" cy="15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GB">
                <a:solidFill>
                  <a:schemeClr val="bg1"/>
                </a:solidFill>
              </a:endParaRPr>
            </a:p>
          </p:txBody>
        </p:sp>
        <p:sp>
          <p:nvSpPr>
            <p:cNvPr id="29734" name="Line 154"/>
            <p:cNvSpPr>
              <a:spLocks noChangeShapeType="1"/>
            </p:cNvSpPr>
            <p:nvPr/>
          </p:nvSpPr>
          <p:spPr bwMode="auto">
            <a:xfrm flipV="1">
              <a:off x="1648" y="3287"/>
              <a:ext cx="358" cy="3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GB">
                <a:solidFill>
                  <a:schemeClr val="bg1"/>
                </a:solidFill>
              </a:endParaRPr>
            </a:p>
          </p:txBody>
        </p:sp>
        <p:sp>
          <p:nvSpPr>
            <p:cNvPr id="29735" name="Oval 155"/>
            <p:cNvSpPr>
              <a:spLocks noChangeArrowheads="1"/>
            </p:cNvSpPr>
            <p:nvPr/>
          </p:nvSpPr>
          <p:spPr bwMode="auto">
            <a:xfrm>
              <a:off x="1553" y="3287"/>
              <a:ext cx="101" cy="73"/>
            </a:xfrm>
            <a:prstGeom prst="ellipse">
              <a:avLst/>
            </a:prstGeom>
            <a:solidFill>
              <a:srgbClr val="339966"/>
            </a:solidFill>
            <a:ln w="9525">
              <a:solidFill>
                <a:srgbClr val="000000"/>
              </a:solidFill>
              <a:round/>
              <a:headEnd/>
              <a:tailEnd/>
            </a:ln>
          </p:spPr>
          <p:txBody>
            <a:bodyPr/>
            <a:lstStyle>
              <a:lvl1pPr>
                <a:spcBef>
                  <a:spcPct val="20000"/>
                </a:spcBef>
                <a:buClr>
                  <a:schemeClr val="accent1"/>
                </a:buClr>
                <a:buFont typeface="Arial" pitchFamily="34" charset="0"/>
                <a:buChar char="•"/>
                <a:defRPr sz="2200">
                  <a:solidFill>
                    <a:schemeClr val="tx1"/>
                  </a:solidFill>
                  <a:latin typeface="Calibri" pitchFamily="34" charset="0"/>
                </a:defRPr>
              </a:lvl1pPr>
              <a:lvl2pPr marL="742950" indent="-28575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a:spcBef>
                  <a:spcPct val="20000"/>
                </a:spcBef>
                <a:buClr>
                  <a:srgbClr val="D2CB6C"/>
                </a:buClr>
                <a:buFont typeface="Arial" pitchFamily="34" charset="0"/>
                <a:buChar char="•"/>
                <a:defRPr>
                  <a:solidFill>
                    <a:schemeClr val="tx1"/>
                  </a:solidFill>
                  <a:latin typeface="Calibri" pitchFamily="34" charset="0"/>
                </a:defRPr>
              </a:lvl3pPr>
              <a:lvl4pPr marL="1600200" indent="-228600">
                <a:spcBef>
                  <a:spcPct val="20000"/>
                </a:spcBef>
                <a:buClr>
                  <a:srgbClr val="95A39D"/>
                </a:buClr>
                <a:buFont typeface="Arial" pitchFamily="34" charset="0"/>
                <a:buChar char="•"/>
                <a:defRPr sz="1600">
                  <a:solidFill>
                    <a:schemeClr val="tx1"/>
                  </a:solidFill>
                  <a:latin typeface="Calibri" pitchFamily="34" charset="0"/>
                </a:defRPr>
              </a:lvl4pPr>
              <a:lvl5pPr marL="2057400" indent="-228600">
                <a:spcBef>
                  <a:spcPct val="20000"/>
                </a:spcBef>
                <a:buClr>
                  <a:srgbClr val="C89F5D"/>
                </a:buClr>
                <a:buFont typeface="Arial" pitchFamily="34" charset="0"/>
                <a:buChar char="•"/>
                <a:defRPr sz="1400">
                  <a:solidFill>
                    <a:schemeClr val="tx1"/>
                  </a:solidFill>
                  <a:latin typeface="Calibri" pitchFamily="34" charset="0"/>
                </a:defRPr>
              </a:lvl5pPr>
              <a:lvl6pPr marL="25146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a:spcBef>
                  <a:spcPct val="0"/>
                </a:spcBef>
                <a:buClrTx/>
                <a:buFontTx/>
                <a:buNone/>
              </a:pPr>
              <a:endParaRPr lang="en-GB" altLang="en-US" sz="2400">
                <a:solidFill>
                  <a:schemeClr val="bg1"/>
                </a:solidFill>
                <a:latin typeface="Times New Roman" pitchFamily="18" charset="0"/>
                <a:ea typeface="MS PGothic" pitchFamily="34" charset="-128"/>
                <a:cs typeface="Arial" pitchFamily="34" charset="0"/>
              </a:endParaRPr>
            </a:p>
          </p:txBody>
        </p:sp>
        <p:sp>
          <p:nvSpPr>
            <p:cNvPr id="29736" name="Line 167"/>
            <p:cNvSpPr>
              <a:spLocks noChangeShapeType="1"/>
            </p:cNvSpPr>
            <p:nvPr/>
          </p:nvSpPr>
          <p:spPr bwMode="auto">
            <a:xfrm flipV="1">
              <a:off x="1695" y="1440"/>
              <a:ext cx="190" cy="14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GB">
                <a:solidFill>
                  <a:schemeClr val="bg1"/>
                </a:solidFill>
              </a:endParaRPr>
            </a:p>
          </p:txBody>
        </p:sp>
        <p:sp>
          <p:nvSpPr>
            <p:cNvPr id="29737" name="Line 166"/>
            <p:cNvSpPr>
              <a:spLocks noChangeShapeType="1"/>
            </p:cNvSpPr>
            <p:nvPr/>
          </p:nvSpPr>
          <p:spPr bwMode="auto">
            <a:xfrm flipV="1">
              <a:off x="1696" y="1717"/>
              <a:ext cx="250" cy="79"/>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GB">
                <a:solidFill>
                  <a:schemeClr val="bg1"/>
                </a:solidFill>
              </a:endParaRPr>
            </a:p>
          </p:txBody>
        </p:sp>
        <p:sp>
          <p:nvSpPr>
            <p:cNvPr id="29738" name="Oval 165"/>
            <p:cNvSpPr>
              <a:spLocks noChangeArrowheads="1"/>
            </p:cNvSpPr>
            <p:nvPr/>
          </p:nvSpPr>
          <p:spPr bwMode="auto">
            <a:xfrm>
              <a:off x="1600" y="1764"/>
              <a:ext cx="101" cy="73"/>
            </a:xfrm>
            <a:prstGeom prst="ellipse">
              <a:avLst/>
            </a:prstGeom>
            <a:solidFill>
              <a:srgbClr val="339966"/>
            </a:solidFill>
            <a:ln w="9525">
              <a:solidFill>
                <a:srgbClr val="000000"/>
              </a:solidFill>
              <a:round/>
              <a:headEnd/>
              <a:tailEnd/>
            </a:ln>
          </p:spPr>
          <p:txBody>
            <a:bodyPr/>
            <a:lstStyle>
              <a:lvl1pPr>
                <a:spcBef>
                  <a:spcPct val="20000"/>
                </a:spcBef>
                <a:buClr>
                  <a:schemeClr val="accent1"/>
                </a:buClr>
                <a:buFont typeface="Arial" pitchFamily="34" charset="0"/>
                <a:buChar char="•"/>
                <a:defRPr sz="2200">
                  <a:solidFill>
                    <a:schemeClr val="tx1"/>
                  </a:solidFill>
                  <a:latin typeface="Calibri" pitchFamily="34" charset="0"/>
                </a:defRPr>
              </a:lvl1pPr>
              <a:lvl2pPr marL="742950" indent="-28575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a:spcBef>
                  <a:spcPct val="20000"/>
                </a:spcBef>
                <a:buClr>
                  <a:srgbClr val="D2CB6C"/>
                </a:buClr>
                <a:buFont typeface="Arial" pitchFamily="34" charset="0"/>
                <a:buChar char="•"/>
                <a:defRPr>
                  <a:solidFill>
                    <a:schemeClr val="tx1"/>
                  </a:solidFill>
                  <a:latin typeface="Calibri" pitchFamily="34" charset="0"/>
                </a:defRPr>
              </a:lvl3pPr>
              <a:lvl4pPr marL="1600200" indent="-228600">
                <a:spcBef>
                  <a:spcPct val="20000"/>
                </a:spcBef>
                <a:buClr>
                  <a:srgbClr val="95A39D"/>
                </a:buClr>
                <a:buFont typeface="Arial" pitchFamily="34" charset="0"/>
                <a:buChar char="•"/>
                <a:defRPr sz="1600">
                  <a:solidFill>
                    <a:schemeClr val="tx1"/>
                  </a:solidFill>
                  <a:latin typeface="Calibri" pitchFamily="34" charset="0"/>
                </a:defRPr>
              </a:lvl4pPr>
              <a:lvl5pPr marL="2057400" indent="-228600">
                <a:spcBef>
                  <a:spcPct val="20000"/>
                </a:spcBef>
                <a:buClr>
                  <a:srgbClr val="C89F5D"/>
                </a:buClr>
                <a:buFont typeface="Arial" pitchFamily="34" charset="0"/>
                <a:buChar char="•"/>
                <a:defRPr sz="1400">
                  <a:solidFill>
                    <a:schemeClr val="tx1"/>
                  </a:solidFill>
                  <a:latin typeface="Calibri" pitchFamily="34" charset="0"/>
                </a:defRPr>
              </a:lvl5pPr>
              <a:lvl6pPr marL="25146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a:spcBef>
                  <a:spcPct val="0"/>
                </a:spcBef>
                <a:buClrTx/>
                <a:buFontTx/>
                <a:buNone/>
              </a:pPr>
              <a:endParaRPr lang="en-GB" altLang="en-US" sz="2400">
                <a:solidFill>
                  <a:schemeClr val="bg1"/>
                </a:solidFill>
                <a:latin typeface="Times New Roman" pitchFamily="18" charset="0"/>
                <a:ea typeface="MS PGothic" pitchFamily="34" charset="-128"/>
                <a:cs typeface="Arial" pitchFamily="34" charset="0"/>
              </a:endParaRPr>
            </a:p>
          </p:txBody>
        </p:sp>
      </p:grpSp>
    </p:spTree>
    <p:extLst>
      <p:ext uri="{BB962C8B-B14F-4D97-AF65-F5344CB8AC3E}">
        <p14:creationId xmlns:p14="http://schemas.microsoft.com/office/powerpoint/2010/main" val="1947291249"/>
      </p:ext>
    </p:extLst>
  </p:cSld>
  <p:clrMapOvr>
    <a:masterClrMapping/>
  </p:clrMapOvr>
  <p:transition spd="med">
    <p:fade/>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idx="4294967295"/>
          </p:nvPr>
        </p:nvSpPr>
        <p:spPr>
          <a:xfrm>
            <a:off x="0" y="549275"/>
            <a:ext cx="7772400" cy="1143000"/>
          </a:xfrm>
        </p:spPr>
        <p:txBody>
          <a:bodyPr/>
          <a:lstStyle/>
          <a:p>
            <a:pPr algn="l" fontAlgn="auto">
              <a:spcAft>
                <a:spcPts val="0"/>
              </a:spcAft>
              <a:defRPr/>
            </a:pPr>
            <a:r>
              <a:rPr lang="en-GB" altLang="en-US" sz="4000" dirty="0" smtClean="0">
                <a:solidFill>
                  <a:schemeClr val="bg1"/>
                </a:solidFill>
                <a:latin typeface="Arial" pitchFamily="34" charset="0"/>
                <a:cs typeface="Arial" pitchFamily="34" charset="0"/>
              </a:rPr>
              <a:t>6b. Maintenance</a:t>
            </a:r>
          </a:p>
        </p:txBody>
      </p:sp>
      <p:sp>
        <p:nvSpPr>
          <p:cNvPr id="30723" name="Rectangle 3"/>
          <p:cNvSpPr>
            <a:spLocks noGrp="1" noChangeArrowheads="1"/>
          </p:cNvSpPr>
          <p:nvPr>
            <p:ph idx="4294967295"/>
          </p:nvPr>
        </p:nvSpPr>
        <p:spPr>
          <a:xfrm>
            <a:off x="0" y="1773238"/>
            <a:ext cx="7772400" cy="4114800"/>
          </a:xfrm>
        </p:spPr>
        <p:txBody>
          <a:bodyPr/>
          <a:lstStyle/>
          <a:p>
            <a:r>
              <a:rPr lang="en-GB" altLang="en-US" sz="2800" dirty="0" smtClean="0">
                <a:solidFill>
                  <a:schemeClr val="bg1"/>
                </a:solidFill>
                <a:latin typeface="Arial" pitchFamily="34" charset="0"/>
                <a:cs typeface="Arial" pitchFamily="34" charset="0"/>
              </a:rPr>
              <a:t>Once a pupil has reached fluency (hit target 3 days consecutively), change target</a:t>
            </a:r>
          </a:p>
          <a:p>
            <a:pPr>
              <a:buFontTx/>
              <a:buNone/>
            </a:pPr>
            <a:endParaRPr lang="en-GB" altLang="en-US" sz="2800" dirty="0" smtClean="0">
              <a:solidFill>
                <a:schemeClr val="bg1"/>
              </a:solidFill>
              <a:latin typeface="Arial" pitchFamily="34" charset="0"/>
              <a:cs typeface="Arial" pitchFamily="34" charset="0"/>
            </a:endParaRPr>
          </a:p>
          <a:p>
            <a:r>
              <a:rPr lang="en-GB" altLang="en-US" sz="2800" dirty="0" smtClean="0">
                <a:solidFill>
                  <a:schemeClr val="bg1"/>
                </a:solidFill>
                <a:latin typeface="Arial" pitchFamily="34" charset="0"/>
                <a:cs typeface="Arial" pitchFamily="34" charset="0"/>
              </a:rPr>
              <a:t>Check for maintenance at regular intervals by using an old probe to check they are still fluent with these words or interleave previously learnt words with new words</a:t>
            </a:r>
          </a:p>
        </p:txBody>
      </p:sp>
    </p:spTree>
    <p:extLst>
      <p:ext uri="{BB962C8B-B14F-4D97-AF65-F5344CB8AC3E}">
        <p14:creationId xmlns:p14="http://schemas.microsoft.com/office/powerpoint/2010/main" val="174633864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idx="4294967295"/>
          </p:nvPr>
        </p:nvSpPr>
        <p:spPr>
          <a:xfrm>
            <a:off x="0" y="190046"/>
            <a:ext cx="7958138" cy="1143000"/>
          </a:xfrm>
        </p:spPr>
        <p:txBody>
          <a:bodyPr/>
          <a:lstStyle/>
          <a:p>
            <a:pPr algn="l" fontAlgn="auto">
              <a:spcAft>
                <a:spcPts val="0"/>
              </a:spcAft>
              <a:defRPr/>
            </a:pPr>
            <a:r>
              <a:rPr lang="en-GB" altLang="en-US" sz="3200" dirty="0" smtClean="0">
                <a:solidFill>
                  <a:schemeClr val="bg1"/>
                </a:solidFill>
                <a:latin typeface="Arial" pitchFamily="34" charset="0"/>
                <a:cs typeface="Arial" pitchFamily="34" charset="0"/>
              </a:rPr>
              <a:t>Recap of the steps of precision monitoring</a:t>
            </a:r>
          </a:p>
        </p:txBody>
      </p:sp>
      <p:sp>
        <p:nvSpPr>
          <p:cNvPr id="31747" name="Rectangle 3"/>
          <p:cNvSpPr>
            <a:spLocks noGrp="1" noChangeArrowheads="1"/>
          </p:cNvSpPr>
          <p:nvPr>
            <p:ph type="body" idx="4294967295"/>
          </p:nvPr>
        </p:nvSpPr>
        <p:spPr>
          <a:xfrm>
            <a:off x="0" y="1587727"/>
            <a:ext cx="7669213" cy="4467225"/>
          </a:xfrm>
        </p:spPr>
        <p:txBody>
          <a:bodyPr>
            <a:normAutofit/>
          </a:bodyPr>
          <a:lstStyle/>
          <a:p>
            <a:pPr marL="609600" indent="-609600">
              <a:lnSpc>
                <a:spcPct val="80000"/>
              </a:lnSpc>
              <a:buFontTx/>
              <a:buAutoNum type="arabicPeriod"/>
            </a:pPr>
            <a:r>
              <a:rPr lang="en-GB" altLang="en-US" sz="2400" dirty="0" smtClean="0">
                <a:solidFill>
                  <a:schemeClr val="bg1"/>
                </a:solidFill>
                <a:latin typeface="Arial" pitchFamily="34" charset="0"/>
                <a:cs typeface="Arial" pitchFamily="34" charset="0"/>
              </a:rPr>
              <a:t>Identify a specific difficulty and acquire a baseline</a:t>
            </a:r>
          </a:p>
          <a:p>
            <a:pPr marL="609600" indent="-609600">
              <a:lnSpc>
                <a:spcPct val="80000"/>
              </a:lnSpc>
              <a:buFontTx/>
              <a:buAutoNum type="arabicPeriod" startAt="2"/>
            </a:pPr>
            <a:r>
              <a:rPr lang="en-GB" altLang="en-US" sz="2400" dirty="0" smtClean="0">
                <a:solidFill>
                  <a:schemeClr val="bg1"/>
                </a:solidFill>
                <a:latin typeface="Arial" pitchFamily="34" charset="0"/>
                <a:cs typeface="Arial" pitchFamily="34" charset="0"/>
              </a:rPr>
              <a:t>Set a target</a:t>
            </a:r>
          </a:p>
          <a:p>
            <a:pPr marL="609600" indent="-609600">
              <a:lnSpc>
                <a:spcPct val="80000"/>
              </a:lnSpc>
              <a:buFontTx/>
              <a:buAutoNum type="arabicPeriod" startAt="3"/>
            </a:pPr>
            <a:r>
              <a:rPr lang="en-GB" altLang="en-US" sz="2400" dirty="0" smtClean="0">
                <a:solidFill>
                  <a:schemeClr val="bg1"/>
                </a:solidFill>
                <a:latin typeface="Arial" pitchFamily="34" charset="0"/>
                <a:cs typeface="Arial" pitchFamily="34" charset="0"/>
              </a:rPr>
              <a:t>Teaching sessions (DI): short, frequent and target specific</a:t>
            </a:r>
          </a:p>
          <a:p>
            <a:pPr marL="609600" indent="-609600">
              <a:lnSpc>
                <a:spcPct val="80000"/>
              </a:lnSpc>
              <a:buFontTx/>
              <a:buAutoNum type="arabicPeriod" startAt="3"/>
            </a:pPr>
            <a:r>
              <a:rPr lang="en-GB" altLang="en-US" sz="2400" dirty="0" smtClean="0">
                <a:solidFill>
                  <a:schemeClr val="bg1"/>
                </a:solidFill>
                <a:latin typeface="Arial" pitchFamily="34" charset="0"/>
                <a:cs typeface="Arial" pitchFamily="34" charset="0"/>
              </a:rPr>
              <a:t>Monitor pupil’s daily performance using a probe</a:t>
            </a:r>
          </a:p>
          <a:p>
            <a:pPr marL="609600" indent="-609600">
              <a:lnSpc>
                <a:spcPct val="80000"/>
              </a:lnSpc>
              <a:buFontTx/>
              <a:buAutoNum type="arabicPeriod" startAt="5"/>
            </a:pPr>
            <a:r>
              <a:rPr lang="en-GB" altLang="en-US" sz="2400" dirty="0" smtClean="0">
                <a:solidFill>
                  <a:schemeClr val="bg1"/>
                </a:solidFill>
                <a:latin typeface="Arial" pitchFamily="34" charset="0"/>
                <a:cs typeface="Arial" pitchFamily="34" charset="0"/>
              </a:rPr>
              <a:t>Chart results (PM) and make note of teaching methods</a:t>
            </a:r>
          </a:p>
          <a:p>
            <a:pPr marL="609600" indent="-609600">
              <a:lnSpc>
                <a:spcPct val="80000"/>
              </a:lnSpc>
              <a:buFontTx/>
              <a:buAutoNum type="arabicPeriod" startAt="6"/>
            </a:pPr>
            <a:r>
              <a:rPr lang="en-GB" altLang="en-US" sz="2400" dirty="0" smtClean="0">
                <a:solidFill>
                  <a:schemeClr val="bg1"/>
                </a:solidFill>
                <a:latin typeface="Arial" pitchFamily="34" charset="0"/>
                <a:cs typeface="Arial" pitchFamily="34" charset="0"/>
              </a:rPr>
              <a:t>Analyse the data to determine if a change of target is needed or change in teaching method</a:t>
            </a:r>
          </a:p>
        </p:txBody>
      </p:sp>
    </p:spTree>
    <p:extLst>
      <p:ext uri="{BB962C8B-B14F-4D97-AF65-F5344CB8AC3E}">
        <p14:creationId xmlns:p14="http://schemas.microsoft.com/office/powerpoint/2010/main" val="361559091"/>
      </p:ext>
    </p:extLst>
  </p:cSld>
  <p:clrMapOvr>
    <a:masterClrMapping/>
  </p:clrMapOvr>
  <p:transition spd="med">
    <p:fade/>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idx="4294967295"/>
          </p:nvPr>
        </p:nvSpPr>
        <p:spPr>
          <a:xfrm>
            <a:off x="409630" y="532606"/>
            <a:ext cx="8497887" cy="865187"/>
          </a:xfrm>
        </p:spPr>
        <p:txBody>
          <a:bodyPr/>
          <a:lstStyle/>
          <a:p>
            <a:pPr algn="ctr" eaLnBrk="1" hangingPunct="1"/>
            <a:r>
              <a:rPr lang="en-GB" altLang="en-US" sz="3200" dirty="0" smtClean="0">
                <a:solidFill>
                  <a:schemeClr val="bg1"/>
                </a:solidFill>
                <a:latin typeface="Arial" charset="0"/>
              </a:rPr>
              <a:t>Thank You</a:t>
            </a:r>
          </a:p>
        </p:txBody>
      </p:sp>
      <p:sp>
        <p:nvSpPr>
          <p:cNvPr id="22531" name="Rectangle 3"/>
          <p:cNvSpPr>
            <a:spLocks noGrp="1" noChangeArrowheads="1"/>
          </p:cNvSpPr>
          <p:nvPr>
            <p:ph type="body" idx="4294967295"/>
          </p:nvPr>
        </p:nvSpPr>
        <p:spPr>
          <a:xfrm>
            <a:off x="801042" y="965200"/>
            <a:ext cx="6264275" cy="3471863"/>
          </a:xfrm>
        </p:spPr>
        <p:txBody>
          <a:bodyPr/>
          <a:lstStyle/>
          <a:p>
            <a:pPr eaLnBrk="1" hangingPunct="1">
              <a:buFont typeface="Wingdings" pitchFamily="2" charset="2"/>
              <a:buNone/>
            </a:pPr>
            <a:endParaRPr lang="en-US" altLang="en-US" dirty="0" smtClean="0"/>
          </a:p>
          <a:p>
            <a:pPr eaLnBrk="1" hangingPunct="1">
              <a:buFont typeface="Wingdings" pitchFamily="2" charset="2"/>
              <a:buNone/>
            </a:pPr>
            <a:endParaRPr lang="en-US" altLang="en-US" dirty="0" smtClean="0"/>
          </a:p>
          <a:p>
            <a:pPr eaLnBrk="1" hangingPunct="1">
              <a:buFont typeface="Wingdings" pitchFamily="2" charset="2"/>
              <a:buNone/>
            </a:pPr>
            <a:endParaRPr lang="en-US" altLang="en-US" dirty="0" smtClean="0"/>
          </a:p>
          <a:p>
            <a:pPr algn="ctr" eaLnBrk="1" hangingPunct="1">
              <a:buFont typeface="Wingdings" pitchFamily="2" charset="2"/>
              <a:buNone/>
            </a:pPr>
            <a:r>
              <a:rPr lang="en-US" altLang="en-US" dirty="0" smtClean="0">
                <a:solidFill>
                  <a:schemeClr val="bg1"/>
                </a:solidFill>
              </a:rPr>
              <a:t>Please do not use or copy any slides without prior permission from AFC EPS</a:t>
            </a:r>
          </a:p>
          <a:p>
            <a:pPr eaLnBrk="1" hangingPunct="1">
              <a:buFont typeface="Wingdings" pitchFamily="2" charset="2"/>
              <a:buNone/>
            </a:pPr>
            <a:endParaRPr lang="en-US" altLang="en-US" dirty="0" smtClean="0"/>
          </a:p>
          <a:p>
            <a:pPr eaLnBrk="1" hangingPunct="1"/>
            <a:endParaRPr lang="en-GB" altLang="en-US" dirty="0" smtClean="0"/>
          </a:p>
        </p:txBody>
      </p:sp>
    </p:spTree>
    <p:extLst>
      <p:ext uri="{BB962C8B-B14F-4D97-AF65-F5344CB8AC3E}">
        <p14:creationId xmlns:p14="http://schemas.microsoft.com/office/powerpoint/2010/main" val="355425646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1924989" y="2627088"/>
            <a:ext cx="5447880" cy="780685"/>
          </a:xfrm>
        </p:spPr>
        <p:txBody>
          <a:bodyPr/>
          <a:lstStyle/>
          <a:p>
            <a:r>
              <a:rPr lang="en-US" dirty="0" smtClean="0">
                <a:latin typeface="+mj-lt"/>
              </a:rPr>
              <a:t>End slide </a:t>
            </a:r>
            <a:endParaRPr lang="en-US" dirty="0">
              <a:latin typeface="+mj-lt"/>
            </a:endParaRPr>
          </a:p>
        </p:txBody>
      </p:sp>
    </p:spTree>
    <p:extLst>
      <p:ext uri="{BB962C8B-B14F-4D97-AF65-F5344CB8AC3E}">
        <p14:creationId xmlns:p14="http://schemas.microsoft.com/office/powerpoint/2010/main" val="4192891351"/>
      </p:ext>
    </p:extLst>
  </p:cSld>
  <p:clrMapOvr>
    <a:masterClrMapping/>
  </p:clrMapOvr>
  <p:timing>
    <p:tnLst>
      <p:par>
        <p:cTn id="1" dur="indefinite" restart="never" nodeType="tmRoot"/>
      </p:par>
    </p:tnLst>
  </p:timing>
</p:sld>
</file>

<file path=ppt/theme/theme1.xml><?xml version="1.0" encoding="utf-8"?>
<a:theme xmlns:a="http://schemas.openxmlformats.org/drawingml/2006/main" name="Powerpoint_master_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Apex</Template>
  <TotalTime>297</TotalTime>
  <Words>1875</Words>
  <Application>Microsoft Office PowerPoint</Application>
  <PresentationFormat>On-screen Show (4:3)</PresentationFormat>
  <Paragraphs>304</Paragraphs>
  <Slides>37</Slides>
  <Notes>35</Notes>
  <HiddenSlides>0</HiddenSlides>
  <MMClips>0</MMClips>
  <ScaleCrop>false</ScaleCrop>
  <HeadingPairs>
    <vt:vector size="4" baseType="variant">
      <vt:variant>
        <vt:lpstr>Theme</vt:lpstr>
      </vt:variant>
      <vt:variant>
        <vt:i4>1</vt:i4>
      </vt:variant>
      <vt:variant>
        <vt:lpstr>Slide Titles</vt:lpstr>
      </vt:variant>
      <vt:variant>
        <vt:i4>37</vt:i4>
      </vt:variant>
    </vt:vector>
  </HeadingPairs>
  <TitlesOfParts>
    <vt:vector size="38" baseType="lpstr">
      <vt:lpstr>Powerpoint_master_template</vt:lpstr>
      <vt:lpstr>PowerPoint Presentation</vt:lpstr>
      <vt:lpstr>PowerPoint Presentation</vt:lpstr>
      <vt:lpstr>Aim for Session </vt:lpstr>
      <vt:lpstr>What is Precision Teaching?</vt:lpstr>
      <vt:lpstr>When can Precision Teaching be used?</vt:lpstr>
      <vt:lpstr>The Learning Hierarchy</vt:lpstr>
      <vt:lpstr>PowerPoint Presentation</vt:lpstr>
      <vt:lpstr>PowerPoint Presentation</vt:lpstr>
      <vt:lpstr>PowerPoint Presentation</vt:lpstr>
      <vt:lpstr>Before you start Precision Teaching </vt:lpstr>
      <vt:lpstr>How do you do Precision Teaching?</vt:lpstr>
      <vt:lpstr>STEP 1</vt:lpstr>
      <vt:lpstr>‘Task Analysis’ – where are they now? </vt:lpstr>
      <vt:lpstr>Probes</vt:lpstr>
      <vt:lpstr>Types of probe:</vt:lpstr>
      <vt:lpstr>Initial Assessment</vt:lpstr>
      <vt:lpstr>Initial Assessment</vt:lpstr>
      <vt:lpstr>Initial Assessment</vt:lpstr>
      <vt:lpstr>Initial Assessment</vt:lpstr>
      <vt:lpstr>Step 2 - Setting a Target</vt:lpstr>
      <vt:lpstr>2. Targets</vt:lpstr>
      <vt:lpstr>2. Targets</vt:lpstr>
      <vt:lpstr>Step 3- Teaching  (Up to 10 mins per day)</vt:lpstr>
      <vt:lpstr>3. Teaching methods</vt:lpstr>
      <vt:lpstr>Points to remember</vt:lpstr>
      <vt:lpstr>Step 4 – Monitoring Performance</vt:lpstr>
      <vt:lpstr>PT Probe Generator</vt:lpstr>
      <vt:lpstr>Step 5- Chart Results</vt:lpstr>
      <vt:lpstr>5. Ratio charts </vt:lpstr>
      <vt:lpstr> 5. Recording</vt:lpstr>
      <vt:lpstr>PowerPoint Presentation</vt:lpstr>
      <vt:lpstr>Step 6- Analyse the Data</vt:lpstr>
      <vt:lpstr>6a. Change - response to data analysis</vt:lpstr>
      <vt:lpstr>6b. Maintenance</vt:lpstr>
      <vt:lpstr>Recap of the steps of precision monitoring</vt:lpstr>
      <vt:lpstr>Thank You</vt:lpstr>
      <vt:lpstr>PowerPoint Presentation</vt:lpstr>
    </vt:vector>
  </TitlesOfParts>
  <Company>RBWM</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localprofile</dc:creator>
  <cp:lastModifiedBy>localprofile</cp:lastModifiedBy>
  <cp:revision>22</cp:revision>
  <cp:lastPrinted>2015-09-16T14:47:36Z</cp:lastPrinted>
  <dcterms:created xsi:type="dcterms:W3CDTF">2017-09-05T13:13:18Z</dcterms:created>
  <dcterms:modified xsi:type="dcterms:W3CDTF">2018-01-16T13:23:30Z</dcterms:modified>
</cp:coreProperties>
</file>