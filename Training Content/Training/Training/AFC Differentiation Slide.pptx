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2"/>
    <p:sldId id="302" r:id="rId3"/>
    <p:sldId id="353" r:id="rId4"/>
    <p:sldId id="277" r:id="rId5"/>
    <p:sldId id="308" r:id="rId6"/>
    <p:sldId id="352" r:id="rId7"/>
    <p:sldId id="320" r:id="rId8"/>
    <p:sldId id="338" r:id="rId9"/>
    <p:sldId id="344" r:id="rId10"/>
    <p:sldId id="339" r:id="rId11"/>
    <p:sldId id="357" r:id="rId12"/>
    <p:sldId id="364" r:id="rId13"/>
    <p:sldId id="351" r:id="rId14"/>
    <p:sldId id="313" r:id="rId15"/>
    <p:sldId id="335" r:id="rId16"/>
    <p:sldId id="336" r:id="rId17"/>
    <p:sldId id="334" r:id="rId18"/>
    <p:sldId id="358" r:id="rId19"/>
    <p:sldId id="311" r:id="rId20"/>
    <p:sldId id="340" r:id="rId21"/>
    <p:sldId id="343" r:id="rId22"/>
    <p:sldId id="324" r:id="rId23"/>
    <p:sldId id="345" r:id="rId24"/>
    <p:sldId id="323" r:id="rId25"/>
    <p:sldId id="349" r:id="rId26"/>
    <p:sldId id="362" r:id="rId27"/>
    <p:sldId id="322" r:id="rId28"/>
    <p:sldId id="325" r:id="rId29"/>
    <p:sldId id="348" r:id="rId30"/>
    <p:sldId id="360" r:id="rId31"/>
    <p:sldId id="350" r:id="rId32"/>
    <p:sldId id="347" r:id="rId33"/>
    <p:sldId id="326" r:id="rId34"/>
    <p:sldId id="327" r:id="rId35"/>
    <p:sldId id="328" r:id="rId36"/>
    <p:sldId id="329" r:id="rId37"/>
    <p:sldId id="363" r:id="rId38"/>
    <p:sldId id="298" r:id="rId39"/>
    <p:sldId id="330" r:id="rId40"/>
    <p:sldId id="331" r:id="rId41"/>
    <p:sldId id="365" r:id="rId42"/>
    <p:sldId id="346" r:id="rId43"/>
    <p:sldId id="361" r:id="rId44"/>
    <p:sldId id="316" r:id="rId45"/>
    <p:sldId id="333" r:id="rId46"/>
    <p:sldId id="274" r:id="rId4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CC3399"/>
    <a:srgbClr val="F4C239"/>
    <a:srgbClr val="532921"/>
    <a:srgbClr val="47434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8" autoAdjust="0"/>
    <p:restoredTop sz="84229" autoAdjust="0"/>
  </p:normalViewPr>
  <p:slideViewPr>
    <p:cSldViewPr snapToGrid="0" snapToObjects="1">
      <p:cViewPr varScale="1">
        <p:scale>
          <a:sx n="96" d="100"/>
          <a:sy n="96" d="100"/>
        </p:scale>
        <p:origin x="1632"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50" d="100"/>
        <a:sy n="50" d="100"/>
      </p:scale>
      <p:origin x="0" y="46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C41A69C-352B-43B9-AE28-0996A6EA73E5}" type="datetimeFigureOut">
              <a:rPr lang="en-GB" smtClean="0"/>
              <a:pPr/>
              <a:t>03/02/2023</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7582B9D-753F-4FD4-BB27-488C70B508F1}" type="slidenum">
              <a:rPr lang="en-GB" smtClean="0"/>
              <a:pPr/>
              <a:t>‹#›</a:t>
            </a:fld>
            <a:endParaRPr lang="en-GB"/>
          </a:p>
        </p:txBody>
      </p:sp>
    </p:spTree>
    <p:extLst>
      <p:ext uri="{BB962C8B-B14F-4D97-AF65-F5344CB8AC3E}">
        <p14:creationId xmlns:p14="http://schemas.microsoft.com/office/powerpoint/2010/main" val="1385338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GB" sz="1200" b="1" kern="1200" dirty="0">
                <a:solidFill>
                  <a:schemeClr val="tx1"/>
                </a:solidFill>
                <a:latin typeface="+mn-lt"/>
                <a:ea typeface="+mn-ea"/>
                <a:cs typeface="+mn-cs"/>
              </a:rPr>
              <a:t>Step 1: Name Your pupils.</a:t>
            </a:r>
            <a:endParaRPr lang="en-GB" sz="1200" kern="1200" dirty="0">
              <a:solidFill>
                <a:schemeClr val="tx1"/>
              </a:solidFill>
              <a:latin typeface="+mn-lt"/>
              <a:ea typeface="+mn-ea"/>
              <a:cs typeface="+mn-cs"/>
            </a:endParaRPr>
          </a:p>
          <a:p>
            <a:r>
              <a:rPr lang="en-GB" sz="1200" kern="1200" dirty="0">
                <a:solidFill>
                  <a:schemeClr val="tx1"/>
                </a:solidFill>
                <a:latin typeface="+mn-lt"/>
                <a:ea typeface="+mn-ea"/>
                <a:cs typeface="+mn-cs"/>
              </a:rPr>
              <a:t>Take a blank piece of paper or start a simple computer document, and number the left-hand margin with the number of pupils you have in your class. (If you have 25 pupils, number the paper 1-25. If you have more than one class, just choose one group of pupils for this activity.) Then, write down your pupils in the order in which you think of them. Try not to go in alphabetical order or write down all of one gender and then another. Just write them down in the order they appear in your mind.</a:t>
            </a:r>
          </a:p>
          <a:p>
            <a:r>
              <a:rPr lang="en-GB" sz="1200" kern="1200" dirty="0">
                <a:solidFill>
                  <a:schemeClr val="tx1"/>
                </a:solidFill>
                <a:latin typeface="+mn-lt"/>
                <a:ea typeface="+mn-ea"/>
                <a:cs typeface="+mn-cs"/>
              </a:rPr>
              <a:t>Just this part of the activity can be interesting. Who comes to mind first, and why? Likely they are the ones who command your attention, either because of their strengths or challenges. Who do you struggle to remember? Why do you struggle to remember them? Are they quiet, compliant, or withdrawn?</a:t>
            </a:r>
          </a:p>
          <a:p>
            <a:r>
              <a:rPr lang="en-GB" sz="1200" kern="1200" dirty="0">
                <a:solidFill>
                  <a:schemeClr val="tx1"/>
                </a:solidFill>
                <a:latin typeface="+mn-lt"/>
                <a:ea typeface="+mn-ea"/>
                <a:cs typeface="+mn-cs"/>
              </a:rPr>
              <a:t>Once you have all pupils listed, move to the next step</a:t>
            </a:r>
          </a:p>
          <a:p>
            <a:r>
              <a:rPr lang="en-GB" sz="1200" b="1" kern="1200" dirty="0">
                <a:solidFill>
                  <a:schemeClr val="tx1"/>
                </a:solidFill>
                <a:latin typeface="+mn-lt"/>
                <a:ea typeface="+mn-ea"/>
                <a:cs typeface="+mn-cs"/>
              </a:rPr>
              <a:t>Step 2: What Do You Know about Your pupils?</a:t>
            </a:r>
            <a:endParaRPr lang="en-GB" sz="1200" kern="120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1" kern="1200" dirty="0">
                <a:solidFill>
                  <a:schemeClr val="tx1"/>
                </a:solidFill>
                <a:latin typeface="+mn-lt"/>
                <a:ea typeface="+mn-ea"/>
                <a:cs typeface="+mn-cs"/>
              </a:rPr>
              <a:t>Step 3: Do Your pupils Know that You Know Them?</a:t>
            </a:r>
            <a:endParaRPr lang="en-GB" sz="1200" kern="1200" dirty="0">
              <a:solidFill>
                <a:schemeClr val="tx1"/>
              </a:solidFill>
              <a:latin typeface="+mn-lt"/>
              <a:ea typeface="+mn-ea"/>
              <a:cs typeface="+mn-cs"/>
            </a:endParaRPr>
          </a:p>
          <a:p>
            <a:r>
              <a:rPr lang="en-GB" sz="1200" b="1" kern="1200" dirty="0">
                <a:solidFill>
                  <a:schemeClr val="tx1"/>
                </a:solidFill>
                <a:latin typeface="+mn-lt"/>
                <a:ea typeface="+mn-ea"/>
                <a:cs typeface="+mn-cs"/>
              </a:rPr>
              <a:t>Now What?</a:t>
            </a:r>
            <a:endParaRPr lang="en-GB" sz="1200" kern="1200" dirty="0">
              <a:solidFill>
                <a:schemeClr val="tx1"/>
              </a:solidFill>
              <a:latin typeface="+mn-lt"/>
              <a:ea typeface="+mn-ea"/>
              <a:cs typeface="+mn-cs"/>
            </a:endParaRPr>
          </a:p>
          <a:p>
            <a:r>
              <a:rPr lang="en-GB" sz="1200" kern="1200" dirty="0">
                <a:solidFill>
                  <a:schemeClr val="tx1"/>
                </a:solidFill>
                <a:latin typeface="+mn-lt"/>
                <a:ea typeface="+mn-ea"/>
                <a:cs typeface="+mn-cs"/>
              </a:rPr>
              <a:t>Don’t feel badly if you had some blank spaces on your paper.  Even though I thought I knew my class really well, when I first tried this activity I was surprised at how much I struggled with a few pupils. This activity isn’t supposed to be a “Gotcha!”—where you feel awful for not yet knowing all of your pupils. Instead, it should be formative. It gives you valuable information. Once you know that you haven’t connected enough with several pupils, it’s time to get to work. Here are a few ideas for making those connections.</a:t>
            </a:r>
          </a:p>
          <a:p>
            <a:pPr lvl="0"/>
            <a:r>
              <a:rPr lang="en-GB" sz="1200" b="1" kern="1200" dirty="0">
                <a:solidFill>
                  <a:schemeClr val="tx1"/>
                </a:solidFill>
                <a:latin typeface="+mn-lt"/>
                <a:ea typeface="+mn-ea"/>
                <a:cs typeface="+mn-cs"/>
              </a:rPr>
              <a:t>Casual chit-chat:</a:t>
            </a:r>
            <a:r>
              <a:rPr lang="en-GB" sz="1200" kern="1200" dirty="0">
                <a:solidFill>
                  <a:schemeClr val="tx1"/>
                </a:solidFill>
                <a:latin typeface="+mn-lt"/>
                <a:ea typeface="+mn-ea"/>
                <a:cs typeface="+mn-cs"/>
              </a:rPr>
              <a:t> When pupils enter the room, when they’re in the hallway, or when they’re in-between activities, strike up a quick conversation. “Jenny, what are you up to this weekend?” “Mark, you’re into sports, right? Are you playing anything right now?”</a:t>
            </a:r>
          </a:p>
          <a:p>
            <a:pPr lvl="0"/>
            <a:r>
              <a:rPr lang="en-GB" sz="1200" b="1" kern="1200" dirty="0">
                <a:solidFill>
                  <a:schemeClr val="tx1"/>
                </a:solidFill>
                <a:latin typeface="+mn-lt"/>
                <a:ea typeface="+mn-ea"/>
                <a:cs typeface="+mn-cs"/>
              </a:rPr>
              <a:t>Morning meeting or advisory: </a:t>
            </a:r>
            <a:r>
              <a:rPr lang="en-GB" sz="1200" kern="1200" dirty="0">
                <a:solidFill>
                  <a:schemeClr val="tx1"/>
                </a:solidFill>
                <a:latin typeface="+mn-lt"/>
                <a:ea typeface="+mn-ea"/>
                <a:cs typeface="+mn-cs"/>
              </a:rPr>
              <a:t>If you run morning meetings or advisory groups, use this as a chance to get to know pupils. Have them share about their hobbies and interests. Later on, follow up with a conversation so you can learn more.</a:t>
            </a:r>
          </a:p>
          <a:p>
            <a:pPr lvl="0"/>
            <a:r>
              <a:rPr lang="en-GB" sz="1200" b="1" kern="1200" dirty="0">
                <a:solidFill>
                  <a:schemeClr val="tx1"/>
                </a:solidFill>
                <a:latin typeface="+mn-lt"/>
                <a:ea typeface="+mn-ea"/>
                <a:cs typeface="+mn-cs"/>
              </a:rPr>
              <a:t>Take notes:</a:t>
            </a:r>
            <a:r>
              <a:rPr lang="en-GB" sz="1200" kern="1200" dirty="0">
                <a:solidFill>
                  <a:schemeClr val="tx1"/>
                </a:solidFill>
                <a:latin typeface="+mn-lt"/>
                <a:ea typeface="+mn-ea"/>
                <a:cs typeface="+mn-cs"/>
              </a:rPr>
              <a:t> Especially if you have multiple classes of pupils, keep track of what you learn about pupils. Keep a simple list of information, organized by pupils’ names. Even if you don’t go back and look at the notes, the act of writing them down will help you remember them.</a:t>
            </a:r>
          </a:p>
          <a:p>
            <a:r>
              <a:rPr lang="en-GB" sz="1200" b="1" kern="1200" dirty="0">
                <a:solidFill>
                  <a:schemeClr val="tx1"/>
                </a:solidFill>
                <a:latin typeface="+mn-lt"/>
                <a:ea typeface="+mn-ea"/>
                <a:cs typeface="+mn-cs"/>
              </a:rPr>
              <a:t>Games/Activities:</a:t>
            </a:r>
            <a:r>
              <a:rPr lang="en-GB" sz="1200" kern="1200" dirty="0">
                <a:solidFill>
                  <a:schemeClr val="tx1"/>
                </a:solidFill>
                <a:latin typeface="+mn-lt"/>
                <a:ea typeface="+mn-ea"/>
                <a:cs typeface="+mn-cs"/>
              </a:rPr>
              <a:t> As a part of academic work, play some games and activities that help pupils share about themselves. For example, in the game Would You Rather, pupils respond to the prompt, </a:t>
            </a:r>
            <a:r>
              <a:rPr lang="en-GB" sz="1200" i="1" kern="1200" dirty="0">
                <a:solidFill>
                  <a:schemeClr val="tx1"/>
                </a:solidFill>
                <a:latin typeface="+mn-lt"/>
                <a:ea typeface="+mn-ea"/>
                <a:cs typeface="+mn-cs"/>
              </a:rPr>
              <a:t>Would you rather </a:t>
            </a:r>
            <a:r>
              <a:rPr lang="en-GB" sz="1200" kern="1200" dirty="0">
                <a:solidFill>
                  <a:schemeClr val="tx1"/>
                </a:solidFill>
                <a:latin typeface="+mn-lt"/>
                <a:ea typeface="+mn-ea"/>
                <a:cs typeface="+mn-cs"/>
              </a:rPr>
              <a:t>read fiction, </a:t>
            </a:r>
            <a:r>
              <a:rPr lang="en-GB" sz="1200" i="1" kern="1200" dirty="0">
                <a:solidFill>
                  <a:schemeClr val="tx1"/>
                </a:solidFill>
                <a:latin typeface="+mn-lt"/>
                <a:ea typeface="+mn-ea"/>
                <a:cs typeface="+mn-cs"/>
              </a:rPr>
              <a:t>or would you rather </a:t>
            </a:r>
            <a:r>
              <a:rPr lang="en-GB" sz="1200" kern="1200" dirty="0">
                <a:solidFill>
                  <a:schemeClr val="tx1"/>
                </a:solidFill>
                <a:latin typeface="+mn-lt"/>
                <a:ea typeface="+mn-ea"/>
                <a:cs typeface="+mn-cs"/>
              </a:rPr>
              <a:t>read non-fiction? </a:t>
            </a:r>
          </a:p>
          <a:p>
            <a:r>
              <a:rPr lang="en-GB" sz="1200" kern="1200" dirty="0">
                <a:solidFill>
                  <a:schemeClr val="tx1"/>
                </a:solidFill>
                <a:latin typeface="+mn-lt"/>
                <a:ea typeface="+mn-ea"/>
                <a:cs typeface="+mn-cs"/>
              </a:rPr>
              <a:t>Name</a:t>
            </a:r>
          </a:p>
          <a:p>
            <a:r>
              <a:rPr lang="en-GB" sz="1200" kern="1200" dirty="0">
                <a:solidFill>
                  <a:schemeClr val="tx1"/>
                </a:solidFill>
                <a:latin typeface="+mn-lt"/>
                <a:ea typeface="+mn-ea"/>
                <a:cs typeface="+mn-cs"/>
              </a:rPr>
              <a:t>What do you know about me?</a:t>
            </a:r>
          </a:p>
          <a:p>
            <a:r>
              <a:rPr lang="en-GB" sz="1200" kern="1200" dirty="0">
                <a:solidFill>
                  <a:schemeClr val="tx1"/>
                </a:solidFill>
                <a:latin typeface="+mn-lt"/>
                <a:ea typeface="+mn-ea"/>
                <a:cs typeface="+mn-cs"/>
              </a:rPr>
              <a:t>siblings</a:t>
            </a:r>
          </a:p>
          <a:p>
            <a:r>
              <a:rPr lang="en-GB" sz="1200" kern="1200" dirty="0">
                <a:solidFill>
                  <a:schemeClr val="tx1"/>
                </a:solidFill>
                <a:latin typeface="+mn-lt"/>
                <a:ea typeface="+mn-ea"/>
                <a:cs typeface="+mn-cs"/>
              </a:rPr>
              <a:t>pets</a:t>
            </a:r>
          </a:p>
          <a:p>
            <a:r>
              <a:rPr lang="en-GB" sz="1200" kern="1200" dirty="0">
                <a:solidFill>
                  <a:schemeClr val="tx1"/>
                </a:solidFill>
                <a:latin typeface="+mn-lt"/>
                <a:ea typeface="+mn-ea"/>
                <a:cs typeface="+mn-cs"/>
              </a:rPr>
              <a:t>food</a:t>
            </a:r>
          </a:p>
          <a:p>
            <a:r>
              <a:rPr lang="en-GB" sz="1200" kern="1200" dirty="0">
                <a:solidFill>
                  <a:schemeClr val="tx1"/>
                </a:solidFill>
                <a:latin typeface="+mn-lt"/>
                <a:ea typeface="+mn-ea"/>
                <a:cs typeface="+mn-cs"/>
              </a:rPr>
              <a:t>colour</a:t>
            </a:r>
          </a:p>
          <a:p>
            <a:r>
              <a:rPr lang="en-GB" sz="1200" kern="1200" dirty="0">
                <a:solidFill>
                  <a:schemeClr val="tx1"/>
                </a:solidFill>
                <a:latin typeface="+mn-lt"/>
                <a:ea typeface="+mn-ea"/>
                <a:cs typeface="+mn-cs"/>
              </a:rPr>
              <a:t>hobbies</a:t>
            </a:r>
          </a:p>
          <a:p>
            <a:r>
              <a:rPr lang="en-GB" sz="1200" kern="1200" dirty="0">
                <a:solidFill>
                  <a:schemeClr val="tx1"/>
                </a:solidFill>
                <a:latin typeface="+mn-lt"/>
                <a:ea typeface="+mn-ea"/>
                <a:cs typeface="+mn-cs"/>
              </a:rPr>
              <a:t>Film/</a:t>
            </a:r>
            <a:r>
              <a:rPr lang="en-GB" sz="1200" kern="1200" dirty="0" err="1">
                <a:solidFill>
                  <a:schemeClr val="tx1"/>
                </a:solidFill>
                <a:latin typeface="+mn-lt"/>
                <a:ea typeface="+mn-ea"/>
                <a:cs typeface="+mn-cs"/>
              </a:rPr>
              <a:t>tv</a:t>
            </a:r>
            <a:r>
              <a:rPr lang="en-GB" sz="1200" kern="1200" dirty="0">
                <a:solidFill>
                  <a:schemeClr val="tx1"/>
                </a:solidFill>
                <a:latin typeface="+mn-lt"/>
                <a:ea typeface="+mn-ea"/>
                <a:cs typeface="+mn-cs"/>
              </a:rPr>
              <a:t>/game</a:t>
            </a:r>
          </a:p>
          <a:p>
            <a:r>
              <a:rPr lang="en-GB" sz="1200" kern="1200" dirty="0">
                <a:solidFill>
                  <a:schemeClr val="tx1"/>
                </a:solidFill>
                <a:latin typeface="+mn-lt"/>
                <a:ea typeface="+mn-ea"/>
                <a:cs typeface="+mn-cs"/>
              </a:rPr>
              <a:t>ambition</a:t>
            </a:r>
          </a:p>
          <a:p>
            <a:r>
              <a:rPr lang="en-GB" dirty="0"/>
              <a:t> Use Differentiation Planning</a:t>
            </a:r>
          </a:p>
        </p:txBody>
      </p:sp>
      <p:sp>
        <p:nvSpPr>
          <p:cNvPr id="4" name="Slide Number Placeholder 3"/>
          <p:cNvSpPr>
            <a:spLocks noGrp="1"/>
          </p:cNvSpPr>
          <p:nvPr>
            <p:ph type="sldNum" sz="quarter" idx="10"/>
          </p:nvPr>
        </p:nvSpPr>
        <p:spPr/>
        <p:txBody>
          <a:bodyPr/>
          <a:lstStyle/>
          <a:p>
            <a:fld id="{B7582B9D-753F-4FD4-BB27-488C70B508F1}" type="slidenum">
              <a:rPr lang="en-GB" smtClean="0"/>
              <a:pPr/>
              <a:t>11</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a:t>Give details of teaching EXPLICIT SKILLS sheet</a:t>
            </a:r>
          </a:p>
        </p:txBody>
      </p:sp>
      <p:sp>
        <p:nvSpPr>
          <p:cNvPr id="4" name="Slide Number Placeholder 3"/>
          <p:cNvSpPr>
            <a:spLocks noGrp="1"/>
          </p:cNvSpPr>
          <p:nvPr>
            <p:ph type="sldNum" sz="quarter" idx="10"/>
          </p:nvPr>
        </p:nvSpPr>
        <p:spPr/>
        <p:txBody>
          <a:bodyPr/>
          <a:lstStyle/>
          <a:p>
            <a:fld id="{B7582B9D-753F-4FD4-BB27-488C70B508F1}" type="slidenum">
              <a:rPr lang="en-GB" smtClean="0"/>
              <a:pPr/>
              <a:t>13</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t>Schools should look carefully at all aspects of a child or young person’s performance in different areas of learning and development or subjects to establish whether lack of progress is due to limitations in their command of English or if it arises from SEN or a disability. </a:t>
            </a:r>
            <a:endParaRPr lang="en-GB" dirty="0"/>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14</a:t>
            </a:fld>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t>As a child gets older, demands placed on their working memory increase, and this can cause overload. How can we recognise poor working memory in the classroom? </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17</a:t>
            </a:fld>
            <a:endParaRPr lang="en-GB"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Ebbinghaus’ Forgetting Curve is a stark reminder of how quickly we forget information that we don’t need to access regularly.</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19</a:t>
            </a:fld>
            <a:endParaRPr lang="en-GB" dirty="0"/>
          </a:p>
        </p:txBody>
      </p:sp>
    </p:spTree>
    <p:extLst>
      <p:ext uri="{BB962C8B-B14F-4D97-AF65-F5344CB8AC3E}">
        <p14:creationId xmlns:p14="http://schemas.microsoft.com/office/powerpoint/2010/main" val="19010341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a:t>Quickly look at Rome pre-assessment sheet and Pupil as a learner sheet</a:t>
            </a:r>
          </a:p>
          <a:p>
            <a:r>
              <a:rPr lang="en-GB" dirty="0"/>
              <a:t>Will a need for slides </a:t>
            </a:r>
            <a:r>
              <a:rPr lang="en-GB" dirty="0" err="1"/>
              <a:t>abour</a:t>
            </a:r>
            <a:r>
              <a:rPr lang="en-GB" dirty="0"/>
              <a:t> information processing speed, working memory, </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21</a:t>
            </a:fld>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GB" sz="1200" b="0" i="0" u="none" strike="noStrike" kern="1200" baseline="0" dirty="0">
                <a:solidFill>
                  <a:schemeClr val="tx1"/>
                </a:solidFill>
                <a:latin typeface="Times New Roman" pitchFamily="18" charset="0"/>
                <a:ea typeface="MS PGothic" pitchFamily="34" charset="-128"/>
                <a:cs typeface="+mn-cs"/>
              </a:rPr>
              <a:t>Task</a:t>
            </a:r>
          </a:p>
          <a:p>
            <a:endParaRPr lang="en-GB" sz="1200" b="0" i="0" u="none" strike="noStrike" kern="1200" baseline="0" dirty="0">
              <a:solidFill>
                <a:schemeClr val="tx1"/>
              </a:solidFill>
              <a:latin typeface="Times New Roman" pitchFamily="18" charset="0"/>
              <a:ea typeface="MS PGothic" pitchFamily="34" charset="-128"/>
              <a:cs typeface="+mn-cs"/>
            </a:endParaRPr>
          </a:p>
          <a:p>
            <a:r>
              <a:rPr lang="en-GB" sz="1200" b="0" i="0" u="none" strike="noStrike" kern="1200" baseline="0" dirty="0">
                <a:solidFill>
                  <a:schemeClr val="tx1"/>
                </a:solidFill>
                <a:latin typeface="Times New Roman" pitchFamily="18" charset="0"/>
                <a:ea typeface="MS PGothic" pitchFamily="34" charset="-128"/>
                <a:cs typeface="+mn-cs"/>
              </a:rPr>
              <a:t>One of the core methods of differentiation, differentiation by task, involves setting different tasks for pupils of different abilities. One way to achieve this may be to produce different sets of worksheets or exercises depending on pupils’ abilities. However, some teachers are loath to employ this method because of both the social implications and the additional planning it entails. An alternative method is to use a single worksheet comprised of tasks which get progressively harder. The more advanced pupils will quickly progress to the later questions whilst the less able can concentrate on grasping the essentials.</a:t>
            </a:r>
          </a:p>
          <a:p>
            <a:endParaRPr lang="en-GB" sz="1200" b="0" i="0" u="none" strike="noStrike" kern="1200" baseline="0" dirty="0">
              <a:solidFill>
                <a:schemeClr val="tx1"/>
              </a:solidFill>
              <a:latin typeface="Times New Roman" pitchFamily="18" charset="0"/>
              <a:ea typeface="MS PGothic" pitchFamily="34" charset="-128"/>
              <a:cs typeface="+mn-cs"/>
            </a:endParaRPr>
          </a:p>
          <a:p>
            <a:r>
              <a:rPr lang="en-GB" sz="1200" b="0" i="0" u="none" strike="noStrike" kern="1200" baseline="0" dirty="0">
                <a:solidFill>
                  <a:schemeClr val="tx1"/>
                </a:solidFill>
                <a:latin typeface="Times New Roman" pitchFamily="18" charset="0"/>
                <a:ea typeface="MS PGothic" pitchFamily="34" charset="-128"/>
                <a:cs typeface="+mn-cs"/>
              </a:rPr>
              <a:t>Grouping</a:t>
            </a:r>
          </a:p>
          <a:p>
            <a:endParaRPr lang="en-GB" sz="1200" b="0" i="0" u="none" strike="noStrike" kern="1200" baseline="0" dirty="0">
              <a:solidFill>
                <a:schemeClr val="tx1"/>
              </a:solidFill>
              <a:latin typeface="Times New Roman" pitchFamily="18" charset="0"/>
              <a:ea typeface="MS PGothic" pitchFamily="34" charset="-128"/>
              <a:cs typeface="+mn-cs"/>
            </a:endParaRPr>
          </a:p>
          <a:p>
            <a:r>
              <a:rPr lang="en-GB" sz="1200" b="0" i="0" u="none" strike="noStrike" kern="1200" baseline="0" dirty="0">
                <a:solidFill>
                  <a:schemeClr val="tx1"/>
                </a:solidFill>
                <a:latin typeface="Times New Roman" pitchFamily="18" charset="0"/>
                <a:ea typeface="MS PGothic" pitchFamily="34" charset="-128"/>
                <a:cs typeface="+mn-cs"/>
              </a:rPr>
              <a:t>Collaborative learning has many well-documented benefits such as enabling shy pupils to participate more confidently in class, but it’s also a useful differentiation method. Small, mixed-ability groups allow lower achievers to take advantage of peer support whilst higher achievers gain the opportunity to organise and voice their thoughts for the benefit of the whole group (known as peer modelling). Grouping also allows roles to be allocated within the team which cater for each member’s skill set and learning needs.</a:t>
            </a:r>
          </a:p>
          <a:p>
            <a:endParaRPr lang="en-GB" sz="1200" b="0" i="0" u="none" strike="noStrike" kern="1200" baseline="0" dirty="0">
              <a:solidFill>
                <a:schemeClr val="tx1"/>
              </a:solidFill>
              <a:latin typeface="Times New Roman" pitchFamily="18" charset="0"/>
              <a:ea typeface="MS PGothic" pitchFamily="34" charset="-128"/>
              <a:cs typeface="+mn-cs"/>
            </a:endParaRPr>
          </a:p>
          <a:p>
            <a:r>
              <a:rPr lang="en-GB" sz="1200" b="0" i="0" u="none" strike="noStrike" kern="1200" baseline="0" dirty="0">
                <a:solidFill>
                  <a:schemeClr val="tx1"/>
                </a:solidFill>
                <a:latin typeface="Times New Roman" pitchFamily="18" charset="0"/>
                <a:ea typeface="MS PGothic" pitchFamily="34" charset="-128"/>
                <a:cs typeface="+mn-cs"/>
              </a:rPr>
              <a:t>Resources</a:t>
            </a:r>
          </a:p>
          <a:p>
            <a:endParaRPr lang="en-GB" sz="1200" b="0" i="0" u="none" strike="noStrike" kern="1200" baseline="0" dirty="0">
              <a:solidFill>
                <a:schemeClr val="tx1"/>
              </a:solidFill>
              <a:latin typeface="Times New Roman" pitchFamily="18" charset="0"/>
              <a:ea typeface="MS PGothic" pitchFamily="34" charset="-128"/>
              <a:cs typeface="+mn-cs"/>
            </a:endParaRPr>
          </a:p>
          <a:p>
            <a:r>
              <a:rPr lang="en-GB" sz="1200" b="0" i="0" u="none" strike="noStrike" kern="1200" baseline="0" dirty="0">
                <a:solidFill>
                  <a:schemeClr val="tx1"/>
                </a:solidFill>
                <a:latin typeface="Times New Roman" pitchFamily="18" charset="0"/>
                <a:ea typeface="MS PGothic" pitchFamily="34" charset="-128"/>
                <a:cs typeface="+mn-cs"/>
              </a:rPr>
              <a:t>Differentiation in the classroom - ipads in </a:t>
            </a:r>
            <a:r>
              <a:rPr lang="en-GB" sz="1200" b="0" i="0" u="none" strike="noStrike" kern="1200" baseline="0" dirty="0" err="1">
                <a:solidFill>
                  <a:schemeClr val="tx1"/>
                </a:solidFill>
                <a:latin typeface="Times New Roman" pitchFamily="18" charset="0"/>
                <a:ea typeface="MS PGothic" pitchFamily="34" charset="-128"/>
                <a:cs typeface="+mn-cs"/>
              </a:rPr>
              <a:t>classroomIn</a:t>
            </a:r>
            <a:r>
              <a:rPr lang="en-GB" sz="1200" b="0" i="0" u="none" strike="noStrike" kern="1200" baseline="0" dirty="0">
                <a:solidFill>
                  <a:schemeClr val="tx1"/>
                </a:solidFill>
                <a:latin typeface="Times New Roman" pitchFamily="18" charset="0"/>
                <a:ea typeface="MS PGothic" pitchFamily="34" charset="-128"/>
                <a:cs typeface="+mn-cs"/>
              </a:rPr>
              <a:t> this method it’s important to recognise that some pupils can work with more advanced resources than others, and that it is possible to use multiple materials in order to approach a topic from different angles. This means that while some may require quite basic texts with illustrations, others are capable of working with more advanced vocabulary and complex ideas. Differentiation of this kind allows a wide spectrum of materials to be used to attain a single learning outcome. It’s a method that is greatly assisted by advances in technology, and the use of educational video in the classroom, which is why it is becoming more prevalent.</a:t>
            </a:r>
          </a:p>
          <a:p>
            <a:endParaRPr lang="en-GB" sz="1200" b="0" i="0" u="none" strike="noStrike" kern="1200" baseline="0" dirty="0">
              <a:solidFill>
                <a:schemeClr val="tx1"/>
              </a:solidFill>
              <a:latin typeface="Times New Roman" pitchFamily="18" charset="0"/>
              <a:ea typeface="MS PGothic" pitchFamily="34" charset="-128"/>
              <a:cs typeface="+mn-cs"/>
            </a:endParaRPr>
          </a:p>
          <a:p>
            <a:r>
              <a:rPr lang="en-GB" sz="1200" b="0" i="0" u="none" strike="noStrike" kern="1200" baseline="0" dirty="0">
                <a:solidFill>
                  <a:schemeClr val="tx1"/>
                </a:solidFill>
                <a:latin typeface="Times New Roman" pitchFamily="18" charset="0"/>
                <a:ea typeface="MS PGothic" pitchFamily="34" charset="-128"/>
                <a:cs typeface="+mn-cs"/>
              </a:rPr>
              <a:t>Pace</a:t>
            </a:r>
          </a:p>
          <a:p>
            <a:endParaRPr lang="en-GB" sz="1200" b="0" i="0" u="none" strike="noStrike" kern="1200" baseline="0" dirty="0">
              <a:solidFill>
                <a:schemeClr val="tx1"/>
              </a:solidFill>
              <a:latin typeface="Times New Roman" pitchFamily="18" charset="0"/>
              <a:ea typeface="MS PGothic" pitchFamily="34" charset="-128"/>
              <a:cs typeface="+mn-cs"/>
            </a:endParaRPr>
          </a:p>
          <a:p>
            <a:r>
              <a:rPr lang="en-GB" sz="1200" b="0" i="0" u="none" strike="noStrike" kern="1200" baseline="0" dirty="0">
                <a:solidFill>
                  <a:schemeClr val="tx1"/>
                </a:solidFill>
                <a:latin typeface="Times New Roman" pitchFamily="18" charset="0"/>
                <a:ea typeface="MS PGothic" pitchFamily="34" charset="-128"/>
                <a:cs typeface="+mn-cs"/>
              </a:rPr>
              <a:t>In the traditional classroom, activities are completed within a single time frame, irrespective of the level of difficulty for some pupils. The result is that more advanced learners can be held back to the speed of the less able ones, and at the other end of the scale, some may simply find it impossible to keep up. When differentiation is used in lesson planning, the available time is used flexibly in order to meet all pupils’ needs. pupils who quickly grasp core activities need not be held back because their classmates need to spend more time on the fundamentals of a topic. They can instead be allocated more challenging extension tasks in order to develop a more rounded understanding of the subject matter or even to progress through the set course more quickly.</a:t>
            </a:r>
          </a:p>
          <a:p>
            <a:endParaRPr lang="en-GB" sz="1200" b="0" i="0" u="none" strike="noStrike" kern="1200" baseline="0" dirty="0">
              <a:solidFill>
                <a:schemeClr val="tx1"/>
              </a:solidFill>
              <a:latin typeface="Times New Roman" pitchFamily="18" charset="0"/>
              <a:ea typeface="MS PGothic" pitchFamily="34" charset="-128"/>
              <a:cs typeface="+mn-cs"/>
            </a:endParaRPr>
          </a:p>
          <a:p>
            <a:r>
              <a:rPr lang="en-GB" sz="1200" b="0" i="0" u="none" strike="noStrike" kern="1200" baseline="0" dirty="0">
                <a:solidFill>
                  <a:schemeClr val="tx1"/>
                </a:solidFill>
                <a:latin typeface="Times New Roman" pitchFamily="18" charset="0"/>
                <a:ea typeface="MS PGothic" pitchFamily="34" charset="-128"/>
                <a:cs typeface="+mn-cs"/>
              </a:rPr>
              <a:t>Outcome</a:t>
            </a:r>
          </a:p>
          <a:p>
            <a:endParaRPr lang="en-GB" sz="1200" b="0" i="0" u="none" strike="noStrike" kern="1200" baseline="0" dirty="0">
              <a:solidFill>
                <a:schemeClr val="tx1"/>
              </a:solidFill>
              <a:latin typeface="Times New Roman" pitchFamily="18" charset="0"/>
              <a:ea typeface="MS PGothic" pitchFamily="34" charset="-128"/>
              <a:cs typeface="+mn-cs"/>
            </a:endParaRPr>
          </a:p>
          <a:p>
            <a:r>
              <a:rPr lang="en-GB" sz="1200" b="0" i="0" u="none" strike="noStrike" kern="1200" baseline="0" dirty="0">
                <a:solidFill>
                  <a:schemeClr val="tx1"/>
                </a:solidFill>
                <a:latin typeface="Times New Roman" pitchFamily="18" charset="0"/>
                <a:ea typeface="MS PGothic" pitchFamily="34" charset="-128"/>
                <a:cs typeface="+mn-cs"/>
              </a:rPr>
              <a:t>Differentiation by outcome is a technique whereby all pupils undertake the same task but a variety of results is expected and acceptable. For example, the teacher sets a task but instead of working towards a single ‘right’ answer, the pupils arrive at a personalised outcome depending on their level of ability. It’s a method about which some teachers have reservations as there is a risk that the less able pupils will fall below an acceptable level of understanding, however that risk can be mitigated somewhat by establishing a clear set of guidelines that apply to all pupils, and it does offer one clear advantage in that no prior grouping is necessary. </a:t>
            </a:r>
          </a:p>
          <a:p>
            <a:endParaRPr lang="en-GB" sz="1200" b="0" i="0" u="none" strike="noStrike" kern="1200" baseline="0" dirty="0">
              <a:solidFill>
                <a:schemeClr val="tx1"/>
              </a:solidFill>
              <a:latin typeface="Times New Roman" pitchFamily="18" charset="0"/>
              <a:ea typeface="MS PGothic" pitchFamily="34" charset="-128"/>
              <a:cs typeface="+mn-cs"/>
            </a:endParaRPr>
          </a:p>
          <a:p>
            <a:r>
              <a:rPr lang="en-GB" sz="1200" b="0" i="0" u="none" strike="noStrike" kern="1200" baseline="0" dirty="0">
                <a:solidFill>
                  <a:schemeClr val="tx1"/>
                </a:solidFill>
                <a:latin typeface="Times New Roman" pitchFamily="18" charset="0"/>
                <a:ea typeface="MS PGothic" pitchFamily="34" charset="-128"/>
                <a:cs typeface="+mn-cs"/>
              </a:rPr>
              <a:t>Dialogue and support</a:t>
            </a:r>
          </a:p>
          <a:p>
            <a:endParaRPr lang="en-GB" sz="1200" b="0" i="0" u="none" strike="noStrike" kern="1200" baseline="0" dirty="0">
              <a:solidFill>
                <a:schemeClr val="tx1"/>
              </a:solidFill>
              <a:latin typeface="Times New Roman" pitchFamily="18" charset="0"/>
              <a:ea typeface="MS PGothic" pitchFamily="34" charset="-128"/>
              <a:cs typeface="+mn-cs"/>
            </a:endParaRPr>
          </a:p>
          <a:p>
            <a:r>
              <a:rPr lang="en-GB" sz="1200" b="0" i="0" u="none" strike="noStrike" kern="1200" baseline="0" dirty="0">
                <a:solidFill>
                  <a:schemeClr val="tx1"/>
                </a:solidFill>
                <a:latin typeface="Times New Roman" pitchFamily="18" charset="0"/>
                <a:ea typeface="MS PGothic" pitchFamily="34" charset="-128"/>
                <a:cs typeface="+mn-cs"/>
              </a:rPr>
              <a:t>Differentiation by dialogue is the most regularly used type of differentiation in the classroom. With this technique, the emphasis is on the role of the teacher, who must facilitate problem solving by identifying which pupils need detailed explanations in simple language and which pupils can engage in dialogue at a more sophisticated level. The teacher may also employ targeted questioning to produce a range of responses and to challenge the more able pupils. Verbal support and encouragement also plays a crucial part in this technique.</a:t>
            </a:r>
          </a:p>
          <a:p>
            <a:endParaRPr lang="en-GB" sz="1200" b="0" i="0" u="none" strike="noStrike" kern="1200" baseline="0" dirty="0">
              <a:solidFill>
                <a:schemeClr val="tx1"/>
              </a:solidFill>
              <a:latin typeface="Times New Roman" pitchFamily="18" charset="0"/>
              <a:ea typeface="MS PGothic" pitchFamily="34" charset="-128"/>
              <a:cs typeface="+mn-cs"/>
            </a:endParaRPr>
          </a:p>
          <a:p>
            <a:r>
              <a:rPr lang="en-GB" sz="1200" b="0" i="0" u="none" strike="noStrike" kern="1200" baseline="0" dirty="0">
                <a:solidFill>
                  <a:schemeClr val="tx1"/>
                </a:solidFill>
                <a:latin typeface="Times New Roman" pitchFamily="18" charset="0"/>
                <a:ea typeface="MS PGothic" pitchFamily="34" charset="-128"/>
                <a:cs typeface="+mn-cs"/>
              </a:rPr>
              <a:t>Assessment</a:t>
            </a:r>
          </a:p>
          <a:p>
            <a:endParaRPr lang="en-GB" sz="1200" b="0" i="0" u="none" strike="noStrike" kern="1200" baseline="0" dirty="0">
              <a:solidFill>
                <a:schemeClr val="tx1"/>
              </a:solidFill>
              <a:latin typeface="Times New Roman" pitchFamily="18" charset="0"/>
              <a:ea typeface="MS PGothic" pitchFamily="34" charset="-128"/>
              <a:cs typeface="+mn-cs"/>
            </a:endParaRPr>
          </a:p>
          <a:p>
            <a:r>
              <a:rPr lang="en-GB" sz="1200" b="0" i="0" u="none" strike="noStrike" kern="1200" baseline="0" dirty="0">
                <a:solidFill>
                  <a:schemeClr val="tx1"/>
                </a:solidFill>
                <a:latin typeface="Times New Roman" pitchFamily="18" charset="0"/>
                <a:ea typeface="MS PGothic" pitchFamily="34" charset="-128"/>
                <a:cs typeface="+mn-cs"/>
              </a:rPr>
              <a:t>In the differentiated classroom, rather than assessment taking place at the end of learning, pupils are assessed on an on-going basis so that teaching, and indeed the other methods of differentiation, can be continuously adjusted according to the learners’ needs. </a:t>
            </a:r>
          </a:p>
          <a:p>
            <a:endParaRPr lang="en-GB" sz="1200" b="0" i="0" u="none" strike="noStrike" kern="1200" baseline="0" dirty="0">
              <a:solidFill>
                <a:schemeClr val="tx1"/>
              </a:solidFill>
              <a:latin typeface="Times New Roman" pitchFamily="18" charset="0"/>
              <a:ea typeface="MS PGothic" pitchFamily="34" charset="-128"/>
              <a:cs typeface="+mn-cs"/>
            </a:endParaRPr>
          </a:p>
          <a:p>
            <a:r>
              <a:rPr lang="en-GB" sz="1200" b="0" i="0" u="none" strike="noStrike" kern="1200" baseline="0" dirty="0">
                <a:solidFill>
                  <a:schemeClr val="tx1"/>
                </a:solidFill>
                <a:latin typeface="Times New Roman" pitchFamily="18" charset="0"/>
                <a:ea typeface="MS PGothic" pitchFamily="34" charset="-128"/>
                <a:cs typeface="+mn-cs"/>
              </a:rPr>
              <a:t>Differentiation in the classroom is all about understanding that we are dealing with a group of diverse individuals and adapting our teaching to ensure that all of them have access to learn. It should be an on-going and flexible process which not only profiles pupils initially but also recognises progress and areas for improvement and adjusts accordingly to ensure learning needs continue to be met. In short, it shifts the focus from teaching a subject to teaching the pupils.</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27</a:t>
            </a:fld>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b="1" dirty="0"/>
              <a:t>What is task</a:t>
            </a:r>
            <a:r>
              <a:rPr lang="en-GB" b="1" baseline="0" dirty="0"/>
              <a:t> differentiation?</a:t>
            </a:r>
          </a:p>
          <a:p>
            <a:r>
              <a:rPr lang="en-GB" dirty="0"/>
              <a:t>One of the core methods of differentiation, differentiation by task, involves setting different tasks for pupils of different abilities. One way to achieve this may be to produce different sets of worksheets or exercises depending on pupils’ abilities. </a:t>
            </a:r>
          </a:p>
          <a:p>
            <a:endParaRPr lang="en-GB" dirty="0"/>
          </a:p>
          <a:p>
            <a:r>
              <a:rPr lang="en-GB" b="1" dirty="0"/>
              <a:t>What are the difficulties?</a:t>
            </a:r>
          </a:p>
          <a:p>
            <a:r>
              <a:rPr lang="en-GB" dirty="0"/>
              <a:t>However</a:t>
            </a:r>
            <a:r>
              <a:rPr lang="en-GB" baseline="0" dirty="0"/>
              <a:t> this can entail a LOT of additional planning.</a:t>
            </a:r>
          </a:p>
          <a:p>
            <a:endParaRPr lang="en-GB" baseline="0" dirty="0"/>
          </a:p>
          <a:p>
            <a:r>
              <a:rPr lang="en-GB" baseline="0" dirty="0"/>
              <a:t>Can also be detrimental in terms of self-esteem and confidence.</a:t>
            </a:r>
            <a:endParaRPr lang="en-GB" dirty="0"/>
          </a:p>
          <a:p>
            <a:endParaRPr lang="en-GB" dirty="0"/>
          </a:p>
          <a:p>
            <a:r>
              <a:rPr lang="en-GB" b="1" dirty="0"/>
              <a:t>Ways</a:t>
            </a:r>
            <a:r>
              <a:rPr lang="en-GB" b="1" baseline="0" dirty="0"/>
              <a:t> to make it more manageable</a:t>
            </a:r>
          </a:p>
          <a:p>
            <a:r>
              <a:rPr lang="en-GB" dirty="0"/>
              <a:t>An alternative method is to use a single worksheet comprised of tasks which get progressively harder. The more advanced pupils will quickly progress to the later questions whilst the less able can concentrate on grasping the essentials.</a:t>
            </a:r>
          </a:p>
          <a:p>
            <a:endParaRPr lang="en-GB" dirty="0"/>
          </a:p>
          <a:p>
            <a:r>
              <a:rPr lang="en-GB" b="1" dirty="0"/>
              <a:t>Take a practical and realistic approach to task differentiation. When planning group work, try to plan so that groups can access work at different times in the week, so that the less able cover the work set at the middle group level by Wednesday for example - this saves planning four different types of work for each group, each day.</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28</a:t>
            </a:fld>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a:t>Look at RAFT notes</a:t>
            </a:r>
          </a:p>
        </p:txBody>
      </p:sp>
      <p:sp>
        <p:nvSpPr>
          <p:cNvPr id="4" name="Slide Number Placeholder 3"/>
          <p:cNvSpPr>
            <a:spLocks noGrp="1"/>
          </p:cNvSpPr>
          <p:nvPr>
            <p:ph type="sldNum" sz="quarter" idx="10"/>
          </p:nvPr>
        </p:nvSpPr>
        <p:spPr/>
        <p:txBody>
          <a:bodyPr/>
          <a:lstStyle/>
          <a:p>
            <a:fld id="{B7582B9D-753F-4FD4-BB27-488C70B508F1}" type="slidenum">
              <a:rPr lang="en-GB" smtClean="0"/>
              <a:pPr/>
              <a:t>29</a:t>
            </a:fld>
            <a:endParaRPr lang="en-GB"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a:t>Look at examples of Concept menu, tic tac toe and learning contract</a:t>
            </a:r>
          </a:p>
        </p:txBody>
      </p:sp>
      <p:sp>
        <p:nvSpPr>
          <p:cNvPr id="4" name="Slide Number Placeholder 3"/>
          <p:cNvSpPr>
            <a:spLocks noGrp="1"/>
          </p:cNvSpPr>
          <p:nvPr>
            <p:ph type="sldNum" sz="quarter" idx="10"/>
          </p:nvPr>
        </p:nvSpPr>
        <p:spPr/>
        <p:txBody>
          <a:bodyPr/>
          <a:lstStyle/>
          <a:p>
            <a:fld id="{B7582B9D-753F-4FD4-BB27-488C70B508F1}" type="slidenum">
              <a:rPr lang="en-GB" smtClean="0"/>
              <a:pPr/>
              <a:t>30</a:t>
            </a:fld>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t>Peer</a:t>
            </a:r>
            <a:r>
              <a:rPr lang="en-GB" sz="1200" baseline="0" dirty="0"/>
              <a:t> support through c</a:t>
            </a:r>
            <a:r>
              <a:rPr lang="en-GB" sz="1200" dirty="0"/>
              <a:t>ollaborative learning has many well-documented benefits such as enabling shy pupils to participate more confidently in class, but it’s also a useful differentiation method. </a:t>
            </a:r>
            <a:endParaRPr lang="en-GB" dirty="0"/>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33</a:t>
            </a:fld>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t>In the traditional classroom, activities are completed within a single time frame, irrespective of the level of difficulty for some pupils. The result is that more advanced learners can be held back to the speed of the less able ones, and at the other end of the scale, some may simply find it impossible to keep up. When differentiation is used in lesson planning, the available time is used flexibly in order to meet all pupils’ needs. Pupils who quickly grasp core activities need not be held back because their classmates need to spend more time on the fundamentals of a topic. They can instead be allocated more challenging extension tasks in order to develop a more rounded understanding of the subject matter or even to progress through the set course more quickly.</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34</a:t>
            </a:fld>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t>This means that while some may require quite basic texts with illustrations, others are capable of working with more advanced vocabulary and complex ideas. Differentiation of this kind allows a wide spectrum of materials to be used to attain a single learning outcome. It’s a method that is greatly assisted by advances in technology</a:t>
            </a:r>
            <a:r>
              <a:rPr lang="en-GB" sz="1200" baseline="0" dirty="0"/>
              <a:t> and the use of educational video clips </a:t>
            </a:r>
            <a:r>
              <a:rPr lang="en-GB" sz="1200" dirty="0"/>
              <a:t>which is why it is becoming more prevalent.</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35</a:t>
            </a:fld>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dirty="0"/>
              <a:t>Think of group work using a traffic light system: green for work they can do unaided once explained; amber for work that may require support; and red for work that requires a teacher or TA to 'scaffold' it. Then you can plan around the support staff that you have."</a:t>
            </a:r>
          </a:p>
          <a:p>
            <a:endParaRPr lang="en-GB" dirty="0"/>
          </a:p>
          <a:p>
            <a:r>
              <a:rPr lang="en-GB" b="1" dirty="0"/>
              <a:t>Visual support</a:t>
            </a:r>
            <a:r>
              <a:rPr lang="en-GB" dirty="0"/>
              <a:t>– visual timetables, alphabet arcs, word mats, table/number squares, tricky words, new word lists, SCUBA cards (see Spring term 2013 </a:t>
            </a:r>
            <a:r>
              <a:rPr lang="en-GB" dirty="0" err="1"/>
              <a:t>senco</a:t>
            </a:r>
            <a:r>
              <a:rPr lang="en-GB" dirty="0"/>
              <a:t> network) </a:t>
            </a:r>
          </a:p>
          <a:p>
            <a:endParaRPr lang="en-GB" dirty="0"/>
          </a:p>
          <a:p>
            <a:r>
              <a:rPr lang="en-GB" dirty="0"/>
              <a:t>o </a:t>
            </a:r>
            <a:r>
              <a:rPr lang="en-GB" b="1" dirty="0"/>
              <a:t>Physical support </a:t>
            </a:r>
            <a:r>
              <a:rPr lang="en-GB" dirty="0"/>
              <a:t>– mini- white boards, number fans, arrow cards, counters, cubes, shapes. Support with spelling, </a:t>
            </a:r>
            <a:r>
              <a:rPr lang="en-GB" dirty="0" err="1"/>
              <a:t>cribing</a:t>
            </a:r>
            <a:r>
              <a:rPr lang="en-GB" dirty="0"/>
              <a:t> or supporting using alternatives ways to write/record, signing, ICT support, adaptive resources, practical experiences,</a:t>
            </a:r>
            <a:r>
              <a:rPr lang="en-GB" baseline="0" dirty="0"/>
              <a:t> games.</a:t>
            </a:r>
            <a:endParaRPr lang="en-GB" dirty="0"/>
          </a:p>
          <a:p>
            <a:r>
              <a:rPr lang="en-GB" dirty="0"/>
              <a:t> </a:t>
            </a:r>
          </a:p>
          <a:p>
            <a:r>
              <a:rPr lang="en-GB" dirty="0"/>
              <a:t>o </a:t>
            </a:r>
            <a:r>
              <a:rPr lang="en-GB" b="1" dirty="0"/>
              <a:t>Scaffold learning </a:t>
            </a:r>
            <a:r>
              <a:rPr lang="en-GB" dirty="0"/>
              <a:t>– mind maps, spider grams, writing frames, talking frames, role play, substitution tables. </a:t>
            </a:r>
          </a:p>
          <a:p>
            <a:endParaRPr lang="en-GB" dirty="0"/>
          </a:p>
          <a:p>
            <a:r>
              <a:rPr lang="en-GB" dirty="0"/>
              <a:t>o </a:t>
            </a:r>
            <a:r>
              <a:rPr lang="en-GB" b="1" dirty="0"/>
              <a:t>Verbal </a:t>
            </a:r>
            <a:r>
              <a:rPr lang="en-GB" dirty="0"/>
              <a:t>– develop talk for learning, rehearsing what to write verbally first, encourage peer discussion, support with reading. Model good quality talk</a:t>
            </a:r>
          </a:p>
          <a:p>
            <a:endParaRPr lang="en-GB" dirty="0"/>
          </a:p>
          <a:p>
            <a:endParaRPr lang="en-GB" dirty="0"/>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36</a:t>
            </a:fld>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dirty="0"/>
              <a:t> </a:t>
            </a:r>
            <a:r>
              <a:rPr lang="en-GB" sz="1200" b="1" i="0" u="none" strike="noStrike" kern="1200" baseline="0" dirty="0">
                <a:solidFill>
                  <a:schemeClr val="tx1"/>
                </a:solidFill>
                <a:latin typeface="Times New Roman" pitchFamily="18" charset="0"/>
                <a:ea typeface="MS PGothic" pitchFamily="34" charset="-128"/>
                <a:cs typeface="+mn-cs"/>
              </a:rPr>
              <a:t>The DISS project (Deployment and Impact of Support Staff) research  by the Education Endowment Foundation between 2003-8 </a:t>
            </a:r>
          </a:p>
          <a:p>
            <a:r>
              <a:rPr lang="en-GB" b="1" dirty="0"/>
              <a:t>Found</a:t>
            </a:r>
            <a:r>
              <a:rPr lang="en-GB" b="1" baseline="0" dirty="0"/>
              <a:t> there has</a:t>
            </a:r>
            <a:r>
              <a:rPr lang="en-GB" b="1" dirty="0"/>
              <a:t> been a drift towards TAs taking on role of ‘primary educator’ for low attaining/SEN pupils.</a:t>
            </a:r>
          </a:p>
          <a:p>
            <a:endParaRPr lang="en-GB" b="1" dirty="0"/>
          </a:p>
          <a:p>
            <a:r>
              <a:rPr lang="en-GB" b="1" dirty="0"/>
              <a:t>Well meaning but flawed. </a:t>
            </a:r>
            <a:endParaRPr lang="en-GB" dirty="0"/>
          </a:p>
          <a:p>
            <a:endParaRPr lang="en-GB" b="1" dirty="0"/>
          </a:p>
          <a:p>
            <a:r>
              <a:rPr lang="en-GB" b="1" dirty="0"/>
              <a:t>Associated with significantly lower learning outcomes.</a:t>
            </a:r>
            <a:endParaRPr lang="en-GB" sz="1200" b="1" i="0" u="none" strike="noStrike" kern="1200" baseline="0" dirty="0">
              <a:solidFill>
                <a:schemeClr val="tx1"/>
              </a:solidFill>
              <a:latin typeface="Times New Roman" pitchFamily="18" charset="0"/>
              <a:ea typeface="MS PGothic" pitchFamily="34" charset="-128"/>
              <a:cs typeface="+mn-cs"/>
            </a:endParaRPr>
          </a:p>
          <a:p>
            <a:endParaRPr lang="en-GB" sz="1200" b="0" i="0" u="none" strike="noStrike" kern="1200" baseline="0" dirty="0">
              <a:solidFill>
                <a:schemeClr val="tx1"/>
              </a:solidFill>
              <a:latin typeface="Times New Roman" pitchFamily="18" charset="0"/>
              <a:ea typeface="MS PGothic" pitchFamily="34" charset="-128"/>
              <a:cs typeface="+mn-cs"/>
            </a:endParaRPr>
          </a:p>
          <a:p>
            <a:r>
              <a:rPr lang="en-GB" sz="1200" b="1" i="0" u="none" strike="noStrike" kern="1200" baseline="0" dirty="0">
                <a:solidFill>
                  <a:schemeClr val="tx1"/>
                </a:solidFill>
                <a:latin typeface="Times New Roman" pitchFamily="18" charset="0"/>
                <a:ea typeface="MS PGothic" pitchFamily="34" charset="-128"/>
                <a:cs typeface="+mn-cs"/>
              </a:rPr>
              <a:t>Ensure that pupils with SEND receive as much time with teacher as other pupils</a:t>
            </a:r>
            <a:endParaRPr lang="en-GB" sz="1200" dirty="0"/>
          </a:p>
          <a:p>
            <a:r>
              <a:rPr lang="en-GB" sz="1200" dirty="0"/>
              <a:t> </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38</a:t>
            </a:fld>
            <a:endParaRPr lang="en-GB"/>
          </a:p>
        </p:txBody>
      </p:sp>
    </p:spTree>
    <p:extLst>
      <p:ext uri="{BB962C8B-B14F-4D97-AF65-F5344CB8AC3E}">
        <p14:creationId xmlns:p14="http://schemas.microsoft.com/office/powerpoint/2010/main" val="31626901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b="1" i="0" u="none" strike="noStrike" kern="1200" baseline="0" dirty="0">
                <a:solidFill>
                  <a:schemeClr val="tx1"/>
                </a:solidFill>
                <a:latin typeface="Times New Roman" pitchFamily="18" charset="0"/>
                <a:ea typeface="MS PGothic" pitchFamily="34" charset="-128"/>
                <a:cs typeface="+mn-cs"/>
              </a:rPr>
              <a:t>TA support works best and enhances outcomes when: </a:t>
            </a:r>
            <a:endParaRPr lang="en-GB" sz="1200" b="0" i="0" u="none" strike="noStrike" kern="1200" baseline="0" dirty="0">
              <a:solidFill>
                <a:schemeClr val="tx1"/>
              </a:solidFill>
              <a:latin typeface="Times New Roman" pitchFamily="18" charset="0"/>
              <a:ea typeface="MS PGothic" pitchFamily="34" charset="-128"/>
              <a:cs typeface="+mn-cs"/>
            </a:endParaRPr>
          </a:p>
          <a:p>
            <a:r>
              <a:rPr lang="en-GB" sz="1200" b="0" i="0" u="none" strike="noStrike" kern="1200" baseline="0" dirty="0">
                <a:solidFill>
                  <a:schemeClr val="tx1"/>
                </a:solidFill>
                <a:latin typeface="Times New Roman" pitchFamily="18" charset="0"/>
                <a:ea typeface="MS PGothic" pitchFamily="34" charset="-128"/>
                <a:cs typeface="+mn-cs"/>
              </a:rPr>
              <a:t>•</a:t>
            </a:r>
            <a:r>
              <a:rPr lang="en-GB" sz="1200" b="1" i="0" u="none" strike="noStrike" kern="1200" baseline="0" dirty="0">
                <a:solidFill>
                  <a:schemeClr val="tx1"/>
                </a:solidFill>
                <a:latin typeface="Times New Roman" pitchFamily="18" charset="0"/>
                <a:ea typeface="MS PGothic" pitchFamily="34" charset="-128"/>
                <a:cs typeface="+mn-cs"/>
              </a:rPr>
              <a:t>TAs support learning activities rather than manage tasks </a:t>
            </a:r>
            <a:endParaRPr lang="en-GB" sz="1200" b="0" i="0" u="none" strike="noStrike" kern="1200" baseline="0" dirty="0">
              <a:solidFill>
                <a:schemeClr val="tx1"/>
              </a:solidFill>
              <a:latin typeface="Times New Roman" pitchFamily="18" charset="0"/>
              <a:ea typeface="MS PGothic" pitchFamily="34" charset="-128"/>
              <a:cs typeface="+mn-cs"/>
            </a:endParaRPr>
          </a:p>
          <a:p>
            <a:r>
              <a:rPr lang="en-GB" sz="1200" b="0" i="0" u="none" strike="noStrike" kern="1200" baseline="0" dirty="0">
                <a:solidFill>
                  <a:schemeClr val="tx1"/>
                </a:solidFill>
                <a:latin typeface="Times New Roman" pitchFamily="18" charset="0"/>
                <a:ea typeface="MS PGothic" pitchFamily="34" charset="-128"/>
                <a:cs typeface="+mn-cs"/>
              </a:rPr>
              <a:t>•</a:t>
            </a:r>
            <a:r>
              <a:rPr lang="en-GB" sz="1200" b="1" i="0" u="none" strike="noStrike" kern="1200" baseline="0" dirty="0">
                <a:solidFill>
                  <a:schemeClr val="tx1"/>
                </a:solidFill>
                <a:latin typeface="Times New Roman" pitchFamily="18" charset="0"/>
                <a:ea typeface="MS PGothic" pitchFamily="34" charset="-128"/>
                <a:cs typeface="+mn-cs"/>
              </a:rPr>
              <a:t>TAs focus on the learning and not on completion of task </a:t>
            </a:r>
            <a:endParaRPr lang="en-GB" sz="1200" b="0" i="0" u="none" strike="noStrike" kern="1200" baseline="0" dirty="0">
              <a:solidFill>
                <a:schemeClr val="tx1"/>
              </a:solidFill>
              <a:latin typeface="Times New Roman" pitchFamily="18" charset="0"/>
              <a:ea typeface="MS PGothic" pitchFamily="34" charset="-128"/>
              <a:cs typeface="+mn-cs"/>
            </a:endParaRPr>
          </a:p>
          <a:p>
            <a:r>
              <a:rPr lang="en-GB" sz="1200" b="0" i="0" u="none" strike="noStrike" kern="1200" baseline="0" dirty="0">
                <a:solidFill>
                  <a:schemeClr val="tx1"/>
                </a:solidFill>
                <a:latin typeface="Times New Roman" pitchFamily="18" charset="0"/>
                <a:ea typeface="MS PGothic" pitchFamily="34" charset="-128"/>
                <a:cs typeface="+mn-cs"/>
              </a:rPr>
              <a:t>•</a:t>
            </a:r>
            <a:r>
              <a:rPr lang="en-GB" sz="1200" b="1" i="0" u="none" strike="noStrike" kern="1200" baseline="0" dirty="0">
                <a:solidFill>
                  <a:schemeClr val="tx1"/>
                </a:solidFill>
                <a:latin typeface="Times New Roman" pitchFamily="18" charset="0"/>
                <a:ea typeface="MS PGothic" pitchFamily="34" charset="-128"/>
                <a:cs typeface="+mn-cs"/>
              </a:rPr>
              <a:t>Teachers do not reduce their support to the pupil </a:t>
            </a:r>
            <a:endParaRPr lang="en-GB" sz="1200" b="0" i="0" u="none" strike="noStrike" kern="1200" baseline="0" dirty="0">
              <a:solidFill>
                <a:schemeClr val="tx1"/>
              </a:solidFill>
              <a:latin typeface="Times New Roman" pitchFamily="18" charset="0"/>
              <a:ea typeface="MS PGothic" pitchFamily="34" charset="-128"/>
              <a:cs typeface="+mn-cs"/>
            </a:endParaRPr>
          </a:p>
          <a:p>
            <a:r>
              <a:rPr lang="en-GB" sz="1200" b="0" i="0" u="none" strike="noStrike" kern="1200" baseline="0" dirty="0">
                <a:solidFill>
                  <a:schemeClr val="tx1"/>
                </a:solidFill>
                <a:latin typeface="Times New Roman" pitchFamily="18" charset="0"/>
                <a:ea typeface="MS PGothic" pitchFamily="34" charset="-128"/>
                <a:cs typeface="+mn-cs"/>
              </a:rPr>
              <a:t>•</a:t>
            </a:r>
            <a:r>
              <a:rPr lang="en-GB" sz="1200" b="1" i="0" u="none" strike="noStrike" kern="1200" baseline="0" dirty="0">
                <a:solidFill>
                  <a:schemeClr val="tx1"/>
                </a:solidFill>
                <a:latin typeface="Times New Roman" pitchFamily="18" charset="0"/>
                <a:ea typeface="MS PGothic" pitchFamily="34" charset="-128"/>
                <a:cs typeface="+mn-cs"/>
              </a:rPr>
              <a:t>Teachers and TAs have conversations about the learning. </a:t>
            </a:r>
            <a:endParaRPr lang="en-GB" sz="1200" b="0" i="0" u="none" strike="noStrike" kern="1200" baseline="0" dirty="0">
              <a:solidFill>
                <a:schemeClr val="tx1"/>
              </a:solidFill>
              <a:latin typeface="Times New Roman" pitchFamily="18" charset="0"/>
              <a:ea typeface="MS PGothic" pitchFamily="34" charset="-128"/>
              <a:cs typeface="+mn-cs"/>
            </a:endParaRP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39</a:t>
            </a:fld>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a:t>Differentiation by outcome is a technique whereby all pupils undertake the same task but a variety of results is expected and acceptable. For example, the teacher sets a task but instead of working towards a single ‘right’ answer, the pupils arrive at a personalised outcome depending on their level of ability. </a:t>
            </a:r>
          </a:p>
          <a:p>
            <a:endParaRPr lang="en-GB" dirty="0"/>
          </a:p>
          <a:p>
            <a:r>
              <a:rPr lang="en-GB" dirty="0"/>
              <a:t>It’s a method about which some teachers have reservations as there is a risk that the less able pupils will fall below an acceptable level of understanding, however that risk can be mitigated somewhat by establishing a clear set of guidelines that apply to all pupils, and it does offer one clear advantage in that no prior grouping is necessary. </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40</a:t>
            </a:fld>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a:t>Look at</a:t>
            </a:r>
            <a:r>
              <a:rPr lang="en-GB" baseline="0" dirty="0"/>
              <a:t> squaring off, y/n cards, thumbs and fingers and cubing</a:t>
            </a:r>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43</a:t>
            </a:fld>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b="1" i="0" u="none" strike="noStrike" kern="1200" baseline="0" dirty="0">
                <a:solidFill>
                  <a:schemeClr val="tx1"/>
                </a:solidFill>
                <a:latin typeface="Times New Roman" pitchFamily="18" charset="0"/>
                <a:ea typeface="MS PGothic" pitchFamily="34" charset="-128"/>
                <a:cs typeface="+mn-cs"/>
              </a:rPr>
              <a:t>The effective management of teaching assistants to improve standards in literacy and mathematics.</a:t>
            </a:r>
            <a:r>
              <a:rPr lang="en-GB" sz="1200" b="0" i="0" u="none" strike="noStrike" kern="1200" baseline="0" dirty="0">
                <a:solidFill>
                  <a:schemeClr val="tx1"/>
                </a:solidFill>
                <a:latin typeface="Times New Roman" pitchFamily="18" charset="0"/>
                <a:ea typeface="MS PGothic" pitchFamily="34" charset="-128"/>
                <a:cs typeface="+mn-cs"/>
              </a:rPr>
              <a:t> </a:t>
            </a:r>
            <a:r>
              <a:rPr lang="en-GB" sz="1200" b="0" i="0" u="none" strike="noStrike" kern="1200" baseline="0" dirty="0" err="1">
                <a:solidFill>
                  <a:schemeClr val="tx1"/>
                </a:solidFill>
                <a:latin typeface="Times New Roman" pitchFamily="18" charset="0"/>
                <a:ea typeface="MS PGothic" pitchFamily="34" charset="-128"/>
                <a:cs typeface="+mn-cs"/>
              </a:rPr>
              <a:t>DfES</a:t>
            </a:r>
            <a:r>
              <a:rPr lang="en-GB" sz="1200" b="0" i="0" u="none" strike="noStrike" kern="1200" baseline="0" dirty="0">
                <a:solidFill>
                  <a:schemeClr val="tx1"/>
                </a:solidFill>
                <a:latin typeface="Times New Roman" pitchFamily="18" charset="0"/>
                <a:ea typeface="MS PGothic" pitchFamily="34" charset="-128"/>
                <a:cs typeface="+mn-cs"/>
              </a:rPr>
              <a:t> 1228-2005 G </a:t>
            </a:r>
          </a:p>
          <a:p>
            <a:r>
              <a:rPr lang="en-GB" sz="1200" b="0" i="0" u="none" strike="noStrike" kern="1200" baseline="0" dirty="0">
                <a:solidFill>
                  <a:schemeClr val="tx1"/>
                </a:solidFill>
                <a:latin typeface="Times New Roman" pitchFamily="18" charset="0"/>
                <a:ea typeface="MS PGothic" pitchFamily="34" charset="-128"/>
                <a:cs typeface="+mn-cs"/>
              </a:rPr>
              <a:t>http://teachfind.com/search/apachesolr_search/The%20effective%20management%20of%20teaching%20assistants</a:t>
            </a:r>
          </a:p>
          <a:p>
            <a:endParaRPr lang="en-GB" sz="1200" b="0" i="0" u="none" strike="noStrike" kern="1200" baseline="0" dirty="0">
              <a:solidFill>
                <a:schemeClr val="tx1"/>
              </a:solidFill>
              <a:latin typeface="Times New Roman" pitchFamily="18" charset="0"/>
              <a:ea typeface="MS PGothic" pitchFamily="34" charset="-128"/>
              <a:cs typeface="+mn-cs"/>
            </a:endParaRPr>
          </a:p>
          <a:p>
            <a:r>
              <a:rPr lang="en-GB" sz="1200" b="1" i="0" u="none" strike="noStrike" kern="1200" baseline="0" dirty="0">
                <a:solidFill>
                  <a:schemeClr val="tx1"/>
                </a:solidFill>
                <a:latin typeface="Times New Roman" pitchFamily="18" charset="0"/>
                <a:ea typeface="MS PGothic" pitchFamily="34" charset="-128"/>
                <a:cs typeface="+mn-cs"/>
              </a:rPr>
              <a:t>Effective leadership: ensuring the progress of pupils with SEN and/ or disabilities </a:t>
            </a:r>
          </a:p>
          <a:p>
            <a:r>
              <a:rPr lang="en-GB" sz="1200" b="0" i="0" u="none" strike="noStrike" kern="1200" baseline="0" dirty="0">
                <a:solidFill>
                  <a:schemeClr val="tx1"/>
                </a:solidFill>
                <a:latin typeface="Times New Roman" pitchFamily="18" charset="0"/>
                <a:ea typeface="MS PGothic" pitchFamily="34" charset="-128"/>
                <a:cs typeface="+mn-cs"/>
              </a:rPr>
              <a:t>http://teachfind.com/national-strategies/effective-leadership-ensuring-progress-pupils-sen-–-deployment-teaching-</a:t>
            </a:r>
            <a:r>
              <a:rPr lang="en-GB" sz="1200" b="0" i="0" u="none" strike="noStrike" kern="1200" baseline="0" dirty="0" err="1">
                <a:solidFill>
                  <a:schemeClr val="tx1"/>
                </a:solidFill>
                <a:latin typeface="Times New Roman" pitchFamily="18" charset="0"/>
                <a:ea typeface="MS PGothic" pitchFamily="34" charset="-128"/>
                <a:cs typeface="+mn-cs"/>
              </a:rPr>
              <a:t>assistan?current_search</a:t>
            </a:r>
            <a:r>
              <a:rPr lang="en-GB" sz="1200" b="0" i="0" u="none" strike="noStrike" kern="1200" baseline="0" dirty="0">
                <a:solidFill>
                  <a:schemeClr val="tx1"/>
                </a:solidFill>
                <a:latin typeface="Times New Roman" pitchFamily="18" charset="0"/>
                <a:ea typeface="MS PGothic" pitchFamily="34" charset="-128"/>
                <a:cs typeface="+mn-cs"/>
              </a:rPr>
              <a:t>=Effective%20leadership%3A%20ensuring%20the%20progress </a:t>
            </a:r>
          </a:p>
          <a:p>
            <a:endParaRPr lang="en-GB" sz="1200" b="0" i="0" u="none" strike="noStrike" kern="1200" baseline="0" dirty="0">
              <a:solidFill>
                <a:schemeClr val="tx1"/>
              </a:solidFill>
              <a:latin typeface="Times New Roman" pitchFamily="18" charset="0"/>
              <a:ea typeface="MS PGothic" pitchFamily="34" charset="-128"/>
              <a:cs typeface="+mn-cs"/>
            </a:endParaRPr>
          </a:p>
          <a:p>
            <a:endParaRPr lang="en-GB" sz="1200" b="0" i="0" u="none" strike="noStrike" kern="1200" baseline="0" dirty="0">
              <a:solidFill>
                <a:schemeClr val="tx1"/>
              </a:solidFill>
              <a:latin typeface="Times New Roman" pitchFamily="18" charset="0"/>
              <a:ea typeface="MS PGothic" pitchFamily="34" charset="-128"/>
              <a:cs typeface="+mn-cs"/>
            </a:endParaRPr>
          </a:p>
          <a:p>
            <a:r>
              <a:rPr lang="en-GB" sz="1200" b="1" i="0" u="none" strike="noStrike" kern="1200" baseline="0" dirty="0">
                <a:solidFill>
                  <a:schemeClr val="tx1"/>
                </a:solidFill>
                <a:latin typeface="Times New Roman" pitchFamily="18" charset="0"/>
                <a:ea typeface="MS PGothic" pitchFamily="34" charset="-128"/>
                <a:cs typeface="+mn-cs"/>
              </a:rPr>
              <a:t>What works for children with literacy difficulties </a:t>
            </a:r>
            <a:endParaRPr lang="en-GB" sz="1200" b="0" i="0" u="none" strike="noStrike" kern="1200" baseline="0" dirty="0">
              <a:solidFill>
                <a:schemeClr val="tx1"/>
              </a:solidFill>
              <a:latin typeface="Times New Roman" pitchFamily="18" charset="0"/>
              <a:ea typeface="MS PGothic" pitchFamily="34" charset="-128"/>
              <a:cs typeface="+mn-cs"/>
            </a:endParaRPr>
          </a:p>
          <a:p>
            <a:r>
              <a:rPr lang="en-GB" sz="1200" b="0" i="0" u="none" strike="noStrike" kern="1200" baseline="0" dirty="0">
                <a:solidFill>
                  <a:schemeClr val="tx1"/>
                </a:solidFill>
                <a:latin typeface="Times New Roman" pitchFamily="18" charset="0"/>
                <a:ea typeface="MS PGothic" pitchFamily="34" charset="-128"/>
                <a:cs typeface="+mn-cs"/>
              </a:rPr>
              <a:t>http://www.interventionsforliteracy.org.uk/widgets_GregBrooks/What_works_for_children_fourth_ed.pdf </a:t>
            </a:r>
          </a:p>
          <a:p>
            <a:endParaRPr lang="en-GB" sz="1200" b="0" i="0" u="none" strike="noStrike" kern="1200" baseline="0" dirty="0">
              <a:solidFill>
                <a:schemeClr val="tx1"/>
              </a:solidFill>
              <a:latin typeface="Times New Roman" pitchFamily="18" charset="0"/>
              <a:ea typeface="MS PGothic" pitchFamily="34" charset="-128"/>
              <a:cs typeface="+mn-cs"/>
            </a:endParaRPr>
          </a:p>
          <a:p>
            <a:r>
              <a:rPr lang="en-GB" sz="1200" b="1" i="0" u="none" strike="noStrike" kern="1200" baseline="0" dirty="0">
                <a:solidFill>
                  <a:schemeClr val="tx1"/>
                </a:solidFill>
                <a:latin typeface="Times New Roman" pitchFamily="18" charset="0"/>
                <a:ea typeface="MS PGothic" pitchFamily="34" charset="-128"/>
                <a:cs typeface="+mn-cs"/>
              </a:rPr>
              <a:t>What works for children with mathematical difficulties </a:t>
            </a:r>
            <a:endParaRPr lang="en-GB" sz="1200" b="0" i="0" u="none" strike="noStrike" kern="1200" baseline="0" dirty="0">
              <a:solidFill>
                <a:schemeClr val="tx1"/>
              </a:solidFill>
              <a:latin typeface="Times New Roman" pitchFamily="18" charset="0"/>
              <a:ea typeface="MS PGothic" pitchFamily="34" charset="-128"/>
              <a:cs typeface="+mn-cs"/>
            </a:endParaRPr>
          </a:p>
          <a:p>
            <a:r>
              <a:rPr lang="en-GB" sz="1200" b="0" i="0" u="none" strike="noStrike" kern="1200" baseline="0" dirty="0">
                <a:solidFill>
                  <a:schemeClr val="tx1"/>
                </a:solidFill>
                <a:latin typeface="Times New Roman" pitchFamily="18" charset="0"/>
                <a:ea typeface="MS PGothic" pitchFamily="34" charset="-128"/>
                <a:cs typeface="+mn-cs"/>
              </a:rPr>
              <a:t>http://www.nationalnumeracy.org.uk/resources/22/index.html%20 </a:t>
            </a:r>
            <a:endParaRPr lang="en-GB" dirty="0"/>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45</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Grey Background)">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6" name="Picture 15" descr="AfC_RGB-Colour_ForGreyBackground.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val="27476739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ullets only">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494815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rtrait image with text">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779126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on grey background)">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91753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trapline">
    <p:spTree>
      <p:nvGrpSpPr>
        <p:cNvPr id="1" name=""/>
        <p:cNvGrpSpPr/>
        <p:nvPr/>
      </p:nvGrpSpPr>
      <p:grpSpPr>
        <a:xfrm>
          <a:off x="0" y="0"/>
          <a:ext cx="0" cy="0"/>
          <a:chOff x="0" y="0"/>
          <a:chExt cx="0" cy="0"/>
        </a:xfrm>
      </p:grpSpPr>
      <p:pic>
        <p:nvPicPr>
          <p:cNvPr id="8" name="Picture 7" descr="AfC_PPT_Corporate_13A_backgrounds_2.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80000" cy="6885000"/>
          </a:xfrm>
          <a:prstGeom prst="rect">
            <a:avLst/>
          </a:prstGeom>
        </p:spPr>
      </p:pic>
    </p:spTree>
    <p:extLst>
      <p:ext uri="{BB962C8B-B14F-4D97-AF65-F5344CB8AC3E}">
        <p14:creationId xmlns:p14="http://schemas.microsoft.com/office/powerpoint/2010/main" val="2262806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nd slide (on grey background)">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cxnSp>
        <p:nvCxnSpPr>
          <p:cNvPr id="8" name="Straight Connector 7"/>
          <p:cNvCxnSpPr/>
          <p:nvPr userDrawn="1"/>
        </p:nvCxnSpPr>
        <p:spPr>
          <a:xfrm>
            <a:off x="3396376" y="3460261"/>
            <a:ext cx="2434231"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17" name="Text Placeholder 8"/>
          <p:cNvSpPr>
            <a:spLocks noGrp="1"/>
          </p:cNvSpPr>
          <p:nvPr>
            <p:ph type="body" sz="quarter" idx="10" hasCustomPrompt="1"/>
          </p:nvPr>
        </p:nvSpPr>
        <p:spPr>
          <a:xfrm>
            <a:off x="1849683" y="2627088"/>
            <a:ext cx="5447880" cy="780685"/>
          </a:xfrm>
        </p:spPr>
        <p:txBody>
          <a:bodyPr>
            <a:normAutofit/>
          </a:bodyPr>
          <a:lstStyle>
            <a:lvl1pPr marL="0" indent="0" algn="ctr">
              <a:buFontTx/>
              <a:buNone/>
              <a:defRPr sz="3600" b="1" baseline="0">
                <a:solidFill>
                  <a:schemeClr val="bg1"/>
                </a:solidFill>
                <a:latin typeface="+mj-lt"/>
              </a:defRPr>
            </a:lvl1pPr>
          </a:lstStyle>
          <a:p>
            <a:pPr lvl="0"/>
            <a:r>
              <a:rPr lang="en-GB" dirty="0"/>
              <a:t>Thank you </a:t>
            </a:r>
            <a:endParaRPr lang="en-US" dirty="0"/>
          </a:p>
        </p:txBody>
      </p:sp>
      <p:pic>
        <p:nvPicPr>
          <p:cNvPr id="6" name="Picture 5" descr="AfC_RGB-Colour_ForGreyBackground.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val="29423341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8A823C-80D3-9242-A3DC-1A2C6C879196}" type="datetimeFigureOut">
              <a:rPr lang="en-US" smtClean="0"/>
              <a:pPr/>
              <a:t>2/3/2023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C3231D-557D-0245-BFA8-91B4157E4FCA}" type="slidenum">
              <a:rPr lang="en-US" smtClean="0"/>
              <a:pPr/>
              <a:t>‹#›</a:t>
            </a:fld>
            <a:endParaRPr lang="en-US"/>
          </a:p>
        </p:txBody>
      </p:sp>
    </p:spTree>
    <p:extLst>
      <p:ext uri="{BB962C8B-B14F-4D97-AF65-F5344CB8AC3E}">
        <p14:creationId xmlns:p14="http://schemas.microsoft.com/office/powerpoint/2010/main" val="216653699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5" r:id="rId3"/>
    <p:sldLayoutId id="2147483661" r:id="rId4"/>
    <p:sldLayoutId id="2147483682" r:id="rId5"/>
    <p:sldLayoutId id="2147483667" r:id="rId6"/>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20.jpeg"/><Relationship Id="rId4" Type="http://schemas.openxmlformats.org/officeDocument/2006/relationships/image" Target="../media/image19.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image" Target="../media/image21.png"/><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jpeg"/><Relationship Id="rId4" Type="http://schemas.openxmlformats.org/officeDocument/2006/relationships/image" Target="../media/image28.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hyperlink" Target="http://www.visualaidsforlearning.com/" TargetMode="External"/><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hyperlink" Target="http://www.eal.britishcouncil.org/" TargetMode="External"/><Relationship Id="rId4" Type="http://schemas.openxmlformats.org/officeDocument/2006/relationships/hyperlink" Target="http://mrcrammond.com/writing_frames.htm"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940053" y="3847549"/>
            <a:ext cx="5280144"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2" name="Text Placeholder 1"/>
          <p:cNvSpPr>
            <a:spLocks noGrp="1"/>
          </p:cNvSpPr>
          <p:nvPr>
            <p:ph type="body" sz="quarter" idx="4294967295"/>
          </p:nvPr>
        </p:nvSpPr>
        <p:spPr>
          <a:xfrm>
            <a:off x="1865913" y="1272480"/>
            <a:ext cx="5279897" cy="1139850"/>
          </a:xfrm>
        </p:spPr>
        <p:txBody>
          <a:bodyPr>
            <a:noAutofit/>
          </a:bodyPr>
          <a:lstStyle/>
          <a:p>
            <a:pPr marL="0" indent="0" algn="ctr">
              <a:buNone/>
            </a:pPr>
            <a:r>
              <a:rPr lang="en-GB" sz="4400" b="1" dirty="0">
                <a:solidFill>
                  <a:schemeClr val="bg1"/>
                </a:solidFill>
              </a:rPr>
              <a:t>Supporting pupils using differentiated instruction </a:t>
            </a:r>
            <a:endParaRPr lang="en-GB" sz="4400" dirty="0">
              <a:solidFill>
                <a:schemeClr val="bg1"/>
              </a:solidFill>
            </a:endParaRPr>
          </a:p>
        </p:txBody>
      </p:sp>
      <p:sp>
        <p:nvSpPr>
          <p:cNvPr id="3" name="Text Placeholder 2"/>
          <p:cNvSpPr>
            <a:spLocks noGrp="1"/>
          </p:cNvSpPr>
          <p:nvPr>
            <p:ph type="body" sz="quarter" idx="4294967295"/>
          </p:nvPr>
        </p:nvSpPr>
        <p:spPr>
          <a:xfrm>
            <a:off x="1939925" y="3452649"/>
            <a:ext cx="5280025" cy="1241982"/>
          </a:xfrm>
        </p:spPr>
        <p:txBody>
          <a:bodyPr>
            <a:noAutofit/>
          </a:bodyPr>
          <a:lstStyle/>
          <a:p>
            <a:pPr algn="ctr">
              <a:buNone/>
            </a:pPr>
            <a:r>
              <a:rPr lang="en-GB" sz="2000" b="1" dirty="0">
                <a:solidFill>
                  <a:schemeClr val="bg1"/>
                </a:solidFill>
              </a:rPr>
              <a:t>Aims: </a:t>
            </a:r>
          </a:p>
          <a:p>
            <a:endParaRPr lang="en-GB" sz="500" u="sng" dirty="0">
              <a:solidFill>
                <a:schemeClr val="bg1"/>
              </a:solidFill>
            </a:endParaRPr>
          </a:p>
          <a:p>
            <a:pPr>
              <a:buFont typeface="Arial" panose="020B0604020202020204" pitchFamily="34" charset="0"/>
              <a:buChar char="•"/>
            </a:pPr>
            <a:r>
              <a:rPr lang="en-GB" altLang="en-US" sz="1800" dirty="0">
                <a:solidFill>
                  <a:schemeClr val="bg1"/>
                </a:solidFill>
                <a:ea typeface="ＭＳ Ｐゴシック" pitchFamily="-111" charset="-128"/>
              </a:rPr>
              <a:t>To discuss the teaching responsibilities  in ensuring lessons meet the needs of all learners</a:t>
            </a:r>
          </a:p>
          <a:p>
            <a:endParaRPr lang="en-GB" altLang="en-US" sz="1050" dirty="0">
              <a:solidFill>
                <a:schemeClr val="bg1"/>
              </a:solidFill>
              <a:ea typeface="ＭＳ Ｐゴシック" pitchFamily="-111" charset="-128"/>
            </a:endParaRPr>
          </a:p>
          <a:p>
            <a:pPr>
              <a:buFont typeface="Arial" panose="020B0604020202020204" pitchFamily="34" charset="0"/>
              <a:buChar char="•"/>
            </a:pPr>
            <a:r>
              <a:rPr lang="en-GB" altLang="en-US" sz="1800" dirty="0">
                <a:solidFill>
                  <a:schemeClr val="bg1"/>
                </a:solidFill>
                <a:ea typeface="ＭＳ Ｐゴシック" pitchFamily="-111" charset="-128"/>
              </a:rPr>
              <a:t>To raise awareness of a range  strategies to differentiate the curriculum</a:t>
            </a:r>
          </a:p>
          <a:p>
            <a:pPr marL="0" indent="0">
              <a:buNone/>
            </a:pPr>
            <a:endParaRPr lang="en-GB" sz="1800" dirty="0">
              <a:solidFill>
                <a:schemeClr val="bg1"/>
              </a:solidFill>
            </a:endParaRPr>
          </a:p>
        </p:txBody>
      </p:sp>
    </p:spTree>
    <p:extLst>
      <p:ext uri="{BB962C8B-B14F-4D97-AF65-F5344CB8AC3E}">
        <p14:creationId xmlns:p14="http://schemas.microsoft.com/office/powerpoint/2010/main" val="4188623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hildrens Services &amp; Culture\CDSI\PPC - Comms\2540 AfC Rebranding\Branding development\Matter&amp;Co\Master Logo Suite\AFC Main Logo\CMYK\PNGs\With Strapline\AfC_CMYK-Strapline_foryellowbackgroun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7039" y="1923359"/>
            <a:ext cx="5872163" cy="2766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352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Image result for you must all climb a tree"/>
          <p:cNvPicPr>
            <a:picLocks noChangeAspect="1" noChangeArrowheads="1"/>
          </p:cNvPicPr>
          <p:nvPr/>
        </p:nvPicPr>
        <p:blipFill>
          <a:blip r:embed="rId2"/>
          <a:srcRect/>
          <a:stretch>
            <a:fillRect/>
          </a:stretch>
        </p:blipFill>
        <p:spPr bwMode="auto">
          <a:xfrm>
            <a:off x="3504325" y="589894"/>
            <a:ext cx="5148316" cy="5667474"/>
          </a:xfrm>
          <a:prstGeom prst="rect">
            <a:avLst/>
          </a:prstGeom>
          <a:noFill/>
        </p:spPr>
      </p:pic>
      <p:sp>
        <p:nvSpPr>
          <p:cNvPr id="5" name="TextBox 4"/>
          <p:cNvSpPr txBox="1"/>
          <p:nvPr/>
        </p:nvSpPr>
        <p:spPr>
          <a:xfrm>
            <a:off x="441434" y="589894"/>
            <a:ext cx="2853559" cy="5632311"/>
          </a:xfrm>
          <a:prstGeom prst="rect">
            <a:avLst/>
          </a:prstGeom>
          <a:noFill/>
        </p:spPr>
        <p:txBody>
          <a:bodyPr wrap="square" rtlCol="0">
            <a:spAutoFit/>
          </a:bodyPr>
          <a:lstStyle/>
          <a:p>
            <a:pPr algn="ctr"/>
            <a:r>
              <a:rPr lang="en-GB" sz="7200" b="1" dirty="0"/>
              <a:t>WE</a:t>
            </a:r>
          </a:p>
          <a:p>
            <a:pPr algn="ctr"/>
            <a:r>
              <a:rPr lang="en-GB" sz="7200" b="1" dirty="0"/>
              <a:t>ARE</a:t>
            </a:r>
          </a:p>
          <a:p>
            <a:pPr algn="ctr"/>
            <a:r>
              <a:rPr lang="en-GB" sz="7200" b="1" dirty="0"/>
              <a:t>NOT</a:t>
            </a:r>
          </a:p>
          <a:p>
            <a:pPr algn="ctr"/>
            <a:r>
              <a:rPr lang="en-GB" sz="7200" b="1" dirty="0"/>
              <a:t>THE</a:t>
            </a:r>
          </a:p>
          <a:p>
            <a:pPr algn="ctr"/>
            <a:r>
              <a:rPr lang="en-GB" sz="7200" b="1" dirty="0"/>
              <a:t>SAME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9"/>
          <p:cNvSpPr>
            <a:spLocks noGrp="1"/>
          </p:cNvSpPr>
          <p:nvPr>
            <p:ph type="body" sz="quarter" idx="4294967295"/>
          </p:nvPr>
        </p:nvSpPr>
        <p:spPr>
          <a:xfrm>
            <a:off x="772511" y="1176587"/>
            <a:ext cx="7704516" cy="4955272"/>
          </a:xfrm>
        </p:spPr>
        <p:txBody>
          <a:bodyPr>
            <a:normAutofit/>
          </a:bodyPr>
          <a:lstStyle/>
          <a:p>
            <a:pPr marL="0" indent="0">
              <a:lnSpc>
                <a:spcPts val="3000"/>
              </a:lnSpc>
              <a:spcAft>
                <a:spcPts val="1200"/>
              </a:spcAft>
              <a:buNone/>
            </a:pPr>
            <a:endParaRPr lang="en-GB" sz="4000" dirty="0">
              <a:solidFill>
                <a:schemeClr val="bg2">
                  <a:lumMod val="25000"/>
                </a:schemeClr>
              </a:solidFill>
            </a:endParaRPr>
          </a:p>
          <a:p>
            <a:pPr marL="0" indent="0" algn="ctr">
              <a:lnSpc>
                <a:spcPts val="3000"/>
              </a:lnSpc>
              <a:spcAft>
                <a:spcPts val="1200"/>
              </a:spcAft>
              <a:buNone/>
            </a:pPr>
            <a:r>
              <a:rPr lang="en-GB" sz="4400" dirty="0">
                <a:solidFill>
                  <a:srgbClr val="532921"/>
                </a:solidFill>
                <a:latin typeface="Calibri" pitchFamily="34" charset="0"/>
              </a:rPr>
              <a:t>Class and subject teachers, supported by the senior leadership team, should make regular assessments of progress for all pupils. These should seek to identify pupils making </a:t>
            </a:r>
            <a:r>
              <a:rPr lang="en-GB" sz="4400" b="1" dirty="0">
                <a:solidFill>
                  <a:srgbClr val="532921"/>
                </a:solidFill>
                <a:latin typeface="Calibri" pitchFamily="34" charset="0"/>
              </a:rPr>
              <a:t>above</a:t>
            </a:r>
            <a:r>
              <a:rPr lang="en-GB" sz="4400" dirty="0">
                <a:solidFill>
                  <a:srgbClr val="532921"/>
                </a:solidFill>
                <a:latin typeface="Calibri" pitchFamily="34" charset="0"/>
              </a:rPr>
              <a:t> and </a:t>
            </a:r>
            <a:r>
              <a:rPr lang="en-GB" sz="4400" b="1" dirty="0">
                <a:solidFill>
                  <a:srgbClr val="532921"/>
                </a:solidFill>
                <a:latin typeface="Calibri" pitchFamily="34" charset="0"/>
              </a:rPr>
              <a:t>below expected progress</a:t>
            </a:r>
            <a:r>
              <a:rPr lang="en-GB" sz="4400" dirty="0">
                <a:solidFill>
                  <a:srgbClr val="532921"/>
                </a:solidFill>
                <a:latin typeface="Calibri" pitchFamily="34" charset="0"/>
              </a:rPr>
              <a:t> given their age and individual circumstances. </a:t>
            </a:r>
          </a:p>
          <a:p>
            <a:pPr marL="0" indent="0">
              <a:lnSpc>
                <a:spcPts val="3000"/>
              </a:lnSpc>
              <a:spcAft>
                <a:spcPts val="1200"/>
              </a:spcAft>
              <a:buNone/>
            </a:pPr>
            <a:endParaRPr lang="en-GB" sz="2800" dirty="0">
              <a:solidFill>
                <a:srgbClr val="47434F"/>
              </a:solidFill>
              <a:latin typeface="+mn-lt"/>
            </a:endParaRPr>
          </a:p>
        </p:txBody>
      </p:sp>
      <p:sp>
        <p:nvSpPr>
          <p:cNvPr id="3" name="Rectangle 2"/>
          <p:cNvSpPr/>
          <p:nvPr/>
        </p:nvSpPr>
        <p:spPr>
          <a:xfrm>
            <a:off x="1355834" y="422534"/>
            <a:ext cx="6499565" cy="830997"/>
          </a:xfrm>
          <a:prstGeom prst="rect">
            <a:avLst/>
          </a:prstGeom>
        </p:spPr>
        <p:txBody>
          <a:bodyPr wrap="square">
            <a:spAutoFit/>
          </a:bodyPr>
          <a:lstStyle/>
          <a:p>
            <a:pPr algn="ctr"/>
            <a:r>
              <a:rPr lang="en-GB" sz="4800" b="1" dirty="0">
                <a:solidFill>
                  <a:srgbClr val="532921"/>
                </a:solidFill>
                <a:latin typeface="+mj-lt"/>
              </a:rPr>
              <a:t>Teacher responsibilities</a:t>
            </a:r>
          </a:p>
        </p:txBody>
      </p:sp>
    </p:spTree>
    <p:extLst>
      <p:ext uri="{BB962C8B-B14F-4D97-AF65-F5344CB8AC3E}">
        <p14:creationId xmlns:p14="http://schemas.microsoft.com/office/powerpoint/2010/main" val="1974192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2055" y="2585545"/>
            <a:ext cx="7283669" cy="2862322"/>
          </a:xfrm>
          <a:prstGeom prst="rect">
            <a:avLst/>
          </a:prstGeom>
        </p:spPr>
        <p:txBody>
          <a:bodyPr wrap="square">
            <a:spAutoFit/>
          </a:bodyPr>
          <a:lstStyle/>
          <a:p>
            <a:pPr algn="ctr"/>
            <a:r>
              <a:rPr lang="en-GB" sz="3600" dirty="0">
                <a:solidFill>
                  <a:schemeClr val="bg2">
                    <a:lumMod val="25000"/>
                  </a:schemeClr>
                </a:solidFill>
              </a:rPr>
              <a:t>The first response to such progress should be high quality teaching targeted at their areas of weakness. </a:t>
            </a:r>
          </a:p>
          <a:p>
            <a:pPr algn="ctr"/>
            <a:endParaRPr lang="en-GB" sz="3600" dirty="0">
              <a:solidFill>
                <a:schemeClr val="bg2">
                  <a:lumMod val="25000"/>
                </a:schemeClr>
              </a:solidFill>
            </a:endParaRPr>
          </a:p>
          <a:p>
            <a:pPr algn="ctr"/>
            <a:r>
              <a:rPr lang="en-GB" sz="3600" b="1" dirty="0">
                <a:solidFill>
                  <a:schemeClr val="bg2">
                    <a:lumMod val="25000"/>
                  </a:schemeClr>
                </a:solidFill>
              </a:rPr>
              <a:t>What does this look like in practice?</a:t>
            </a:r>
          </a:p>
        </p:txBody>
      </p:sp>
      <p:sp>
        <p:nvSpPr>
          <p:cNvPr id="3" name="Rectangle 2"/>
          <p:cNvSpPr/>
          <p:nvPr/>
        </p:nvSpPr>
        <p:spPr>
          <a:xfrm>
            <a:off x="2658784" y="765785"/>
            <a:ext cx="4472058" cy="769441"/>
          </a:xfrm>
          <a:prstGeom prst="rect">
            <a:avLst/>
          </a:prstGeom>
        </p:spPr>
        <p:txBody>
          <a:bodyPr wrap="none">
            <a:spAutoFit/>
          </a:bodyPr>
          <a:lstStyle/>
          <a:p>
            <a:r>
              <a:rPr lang="en-GB" sz="4400" b="1" dirty="0">
                <a:solidFill>
                  <a:schemeClr val="bg2">
                    <a:lumMod val="25000"/>
                  </a:schemeClr>
                </a:solidFill>
                <a:latin typeface="+mj-lt"/>
              </a:rPr>
              <a:t>Teacher responses</a:t>
            </a:r>
            <a:endParaRPr lang="en-GB" sz="4400" b="1" dirty="0">
              <a:latin typeface="+mj-lt"/>
            </a:endParaRPr>
          </a:p>
        </p:txBody>
      </p:sp>
    </p:spTree>
    <p:extLst>
      <p:ext uri="{BB962C8B-B14F-4D97-AF65-F5344CB8AC3E}">
        <p14:creationId xmlns:p14="http://schemas.microsoft.com/office/powerpoint/2010/main" val="2776889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6385" y="614856"/>
            <a:ext cx="7930055" cy="4524315"/>
          </a:xfrm>
          <a:prstGeom prst="rect">
            <a:avLst/>
          </a:prstGeom>
          <a:noFill/>
        </p:spPr>
        <p:txBody>
          <a:bodyPr wrap="square" rtlCol="0">
            <a:spAutoFit/>
          </a:bodyPr>
          <a:lstStyle/>
          <a:p>
            <a:pPr algn="ctr"/>
            <a:endParaRPr lang="en-GB" sz="9600" dirty="0"/>
          </a:p>
          <a:p>
            <a:pPr algn="ctr"/>
            <a:r>
              <a:rPr lang="en-GB" sz="9600" b="1" dirty="0">
                <a:solidFill>
                  <a:srgbClr val="0070C0"/>
                </a:solidFill>
              </a:rPr>
              <a:t>Differentiation</a:t>
            </a:r>
          </a:p>
          <a:p>
            <a:pPr algn="ctr"/>
            <a:r>
              <a:rPr lang="en-GB" sz="9600" b="1" dirty="0">
                <a:solidFill>
                  <a:srgbClr val="0070C0"/>
                </a:solidFill>
              </a:rPr>
              <a:t>APDR</a:t>
            </a:r>
          </a:p>
        </p:txBody>
      </p:sp>
      <p:pic>
        <p:nvPicPr>
          <p:cNvPr id="4" name="Picture 2" descr="C:\Users\Clair\AppData\Local\Microsoft\Windows\INetCache\IE\UE55AERD\single_file_line_pc_800_clr[1].png"/>
          <p:cNvPicPr>
            <a:picLocks noChangeAspect="1" noChangeArrowheads="1"/>
          </p:cNvPicPr>
          <p:nvPr/>
        </p:nvPicPr>
        <p:blipFill>
          <a:blip r:embed="rId2"/>
          <a:srcRect/>
          <a:stretch>
            <a:fillRect/>
          </a:stretch>
        </p:blipFill>
        <p:spPr bwMode="auto">
          <a:xfrm>
            <a:off x="2971800" y="614856"/>
            <a:ext cx="3192517" cy="1836683"/>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3683" y="2207172"/>
            <a:ext cx="7930055" cy="2554545"/>
          </a:xfrm>
          <a:prstGeom prst="rect">
            <a:avLst/>
          </a:prstGeom>
        </p:spPr>
        <p:txBody>
          <a:bodyPr wrap="square">
            <a:spAutoFit/>
          </a:bodyPr>
          <a:lstStyle/>
          <a:p>
            <a:r>
              <a:rPr lang="en-GB" sz="3200" dirty="0">
                <a:solidFill>
                  <a:srgbClr val="833F8C"/>
                </a:solidFill>
              </a:rPr>
              <a:t>Differentiation is defined by the Training and Development Agency for Schools as ‘the process by which differences between learners are accommodated so that all pupils in a group have the best possible chance of learning’. </a:t>
            </a:r>
          </a:p>
        </p:txBody>
      </p:sp>
      <p:sp>
        <p:nvSpPr>
          <p:cNvPr id="3" name="Rectangle 2"/>
          <p:cNvSpPr/>
          <p:nvPr/>
        </p:nvSpPr>
        <p:spPr>
          <a:xfrm>
            <a:off x="2903465" y="1144158"/>
            <a:ext cx="3465803" cy="923330"/>
          </a:xfrm>
          <a:prstGeom prst="rect">
            <a:avLst/>
          </a:prstGeom>
        </p:spPr>
        <p:txBody>
          <a:bodyPr wrap="square">
            <a:spAutoFit/>
          </a:bodyPr>
          <a:lstStyle/>
          <a:p>
            <a:r>
              <a:rPr lang="en-GB" sz="5400" b="1" dirty="0">
                <a:solidFill>
                  <a:srgbClr val="7030A0"/>
                </a:solidFill>
                <a:latin typeface="+mj-lt"/>
              </a:rPr>
              <a:t>Definition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5571" y="772511"/>
            <a:ext cx="7362497" cy="3477875"/>
          </a:xfrm>
          <a:prstGeom prst="rect">
            <a:avLst/>
          </a:prstGeom>
        </p:spPr>
        <p:txBody>
          <a:bodyPr wrap="square">
            <a:spAutoFit/>
          </a:bodyPr>
          <a:lstStyle/>
          <a:p>
            <a:pPr algn="ctr"/>
            <a:r>
              <a:rPr lang="en-GB" sz="4400" b="1" dirty="0">
                <a:solidFill>
                  <a:schemeClr val="bg1">
                    <a:lumMod val="50000"/>
                  </a:schemeClr>
                </a:solidFill>
              </a:rPr>
              <a:t>Discussion Question </a:t>
            </a:r>
          </a:p>
          <a:p>
            <a:pPr algn="ctr"/>
            <a:endParaRPr lang="en-GB" sz="4400" dirty="0">
              <a:solidFill>
                <a:schemeClr val="bg1">
                  <a:lumMod val="50000"/>
                </a:schemeClr>
              </a:solidFill>
            </a:endParaRPr>
          </a:p>
          <a:p>
            <a:pPr algn="ctr"/>
            <a:r>
              <a:rPr lang="en-GB" sz="4400" dirty="0">
                <a:solidFill>
                  <a:schemeClr val="bg1">
                    <a:lumMod val="50000"/>
                  </a:schemeClr>
                </a:solidFill>
              </a:rPr>
              <a:t>What are you already doing to differentiate instruction in your classroom?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83324" y="567559"/>
            <a:ext cx="7583214" cy="5632311"/>
          </a:xfrm>
          <a:prstGeom prst="rect">
            <a:avLst/>
          </a:prstGeom>
        </p:spPr>
        <p:txBody>
          <a:bodyPr wrap="square">
            <a:spAutoFit/>
          </a:bodyPr>
          <a:lstStyle/>
          <a:p>
            <a:pPr algn="ctr"/>
            <a:r>
              <a:rPr lang="en-GB" sz="4000" b="1" dirty="0">
                <a:solidFill>
                  <a:schemeClr val="accent6">
                    <a:lumMod val="50000"/>
                  </a:schemeClr>
                </a:solidFill>
              </a:rPr>
              <a:t>Key Principles of a Differentiated Classroom</a:t>
            </a:r>
          </a:p>
          <a:p>
            <a:endParaRPr lang="en-GB" sz="4000" dirty="0">
              <a:solidFill>
                <a:schemeClr val="accent6">
                  <a:lumMod val="50000"/>
                </a:schemeClr>
              </a:solidFill>
            </a:endParaRPr>
          </a:p>
          <a:p>
            <a:r>
              <a:rPr lang="en-GB" sz="2400" dirty="0">
                <a:solidFill>
                  <a:schemeClr val="accent6">
                    <a:lumMod val="50000"/>
                  </a:schemeClr>
                </a:solidFill>
              </a:rPr>
              <a:t>• The teacher is clear about what matters in subject matter. </a:t>
            </a:r>
          </a:p>
          <a:p>
            <a:r>
              <a:rPr lang="en-GB" sz="2400" dirty="0">
                <a:solidFill>
                  <a:schemeClr val="accent6">
                    <a:lumMod val="50000"/>
                  </a:schemeClr>
                </a:solidFill>
              </a:rPr>
              <a:t>• The teacher understands, appreciates, and builds upon pupil differences. </a:t>
            </a:r>
          </a:p>
          <a:p>
            <a:r>
              <a:rPr lang="en-GB" sz="2400" dirty="0">
                <a:solidFill>
                  <a:schemeClr val="accent6">
                    <a:lumMod val="50000"/>
                  </a:schemeClr>
                </a:solidFill>
              </a:rPr>
              <a:t>• Assessment and instruction are inseparable. </a:t>
            </a:r>
          </a:p>
          <a:p>
            <a:r>
              <a:rPr lang="en-GB" sz="2400" dirty="0">
                <a:solidFill>
                  <a:schemeClr val="accent6">
                    <a:lumMod val="50000"/>
                  </a:schemeClr>
                </a:solidFill>
              </a:rPr>
              <a:t>• The teacher adjusts content, process, and product in response to pupil readiness, interests, and learning profile.  </a:t>
            </a:r>
          </a:p>
          <a:p>
            <a:r>
              <a:rPr lang="en-GB" sz="2400" dirty="0">
                <a:solidFill>
                  <a:schemeClr val="accent6">
                    <a:lumMod val="50000"/>
                  </a:schemeClr>
                </a:solidFill>
              </a:rPr>
              <a:t>• Pupils and teachers are collaborators in learning. </a:t>
            </a:r>
          </a:p>
          <a:p>
            <a:r>
              <a:rPr lang="en-GB" sz="2400" dirty="0">
                <a:solidFill>
                  <a:schemeClr val="accent6">
                    <a:lumMod val="50000"/>
                  </a:schemeClr>
                </a:solidFill>
              </a:rPr>
              <a:t>• Goals of a differentiated classroom are maximum growth and individual success. </a:t>
            </a:r>
          </a:p>
          <a:p>
            <a:r>
              <a:rPr lang="en-GB" sz="2400" dirty="0">
                <a:solidFill>
                  <a:schemeClr val="accent6">
                    <a:lumMod val="50000"/>
                  </a:schemeClr>
                </a:solidFill>
              </a:rPr>
              <a:t>• Flexibility is the hallmark of a differentiated classroom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6745" y="488732"/>
            <a:ext cx="6101255" cy="5693866"/>
          </a:xfrm>
          <a:prstGeom prst="rect">
            <a:avLst/>
          </a:prstGeom>
        </p:spPr>
        <p:txBody>
          <a:bodyPr wrap="square">
            <a:spAutoFit/>
          </a:bodyPr>
          <a:lstStyle/>
          <a:p>
            <a:r>
              <a:rPr lang="en-GB" sz="4000" b="1" dirty="0">
                <a:solidFill>
                  <a:srgbClr val="0070C0"/>
                </a:solidFill>
              </a:rPr>
              <a:t>Differentiated Classroom </a:t>
            </a:r>
          </a:p>
          <a:p>
            <a:r>
              <a:rPr lang="en-GB" sz="3600" dirty="0">
                <a:solidFill>
                  <a:srgbClr val="0070C0"/>
                </a:solidFill>
              </a:rPr>
              <a:t>• Assessment drives instruction. </a:t>
            </a:r>
          </a:p>
          <a:p>
            <a:r>
              <a:rPr lang="en-GB" sz="3600" dirty="0">
                <a:solidFill>
                  <a:srgbClr val="0070C0"/>
                </a:solidFill>
              </a:rPr>
              <a:t>• Assessment occurs consistently as the unit begins, throughout the unit and as the unit ends. </a:t>
            </a:r>
          </a:p>
          <a:p>
            <a:r>
              <a:rPr lang="en-GB" sz="3600" dirty="0">
                <a:solidFill>
                  <a:srgbClr val="0070C0"/>
                </a:solidFill>
              </a:rPr>
              <a:t>• Teachers assess pupil readiness, interest and learning needs</a:t>
            </a:r>
          </a:p>
        </p:txBody>
      </p:sp>
      <p:pic>
        <p:nvPicPr>
          <p:cNvPr id="1026" name="Picture 2" descr="C:\Users\Clair\AppData\Local\Microsoft\Windows\INetCache\IE\UE55AERD\single_file_line_pc_800_clr[1].png"/>
          <p:cNvPicPr>
            <a:picLocks noChangeAspect="1" noChangeArrowheads="1"/>
          </p:cNvPicPr>
          <p:nvPr/>
        </p:nvPicPr>
        <p:blipFill>
          <a:blip r:embed="rId2"/>
          <a:srcRect/>
          <a:stretch>
            <a:fillRect/>
          </a:stretch>
        </p:blipFill>
        <p:spPr bwMode="auto">
          <a:xfrm>
            <a:off x="6258910" y="212834"/>
            <a:ext cx="2885090" cy="3192517"/>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7103" y="1008993"/>
            <a:ext cx="7252138" cy="1938992"/>
          </a:xfrm>
          <a:prstGeom prst="rect">
            <a:avLst/>
          </a:prstGeom>
          <a:noFill/>
        </p:spPr>
        <p:txBody>
          <a:bodyPr wrap="square" rtlCol="0">
            <a:spAutoFit/>
          </a:bodyPr>
          <a:lstStyle/>
          <a:p>
            <a:pPr algn="ctr"/>
            <a:r>
              <a:rPr lang="en-GB" sz="6000" b="1" dirty="0">
                <a:solidFill>
                  <a:srgbClr val="FFC000"/>
                </a:solidFill>
              </a:rPr>
              <a:t>How well do you know your class?</a:t>
            </a:r>
          </a:p>
        </p:txBody>
      </p:sp>
      <p:pic>
        <p:nvPicPr>
          <p:cNvPr id="75778" name="Picture 2" descr="C:\Users\Clair\AppData\Local\Microsoft\Windows\INetCache\IE\9ZP0XFER\happy_circle_kids_sm[1].jpg"/>
          <p:cNvPicPr>
            <a:picLocks noChangeAspect="1" noChangeArrowheads="1"/>
          </p:cNvPicPr>
          <p:nvPr/>
        </p:nvPicPr>
        <p:blipFill>
          <a:blip r:embed="rId3"/>
          <a:srcRect/>
          <a:stretch>
            <a:fillRect/>
          </a:stretch>
        </p:blipFill>
        <p:spPr bwMode="auto">
          <a:xfrm>
            <a:off x="2926080" y="3358054"/>
            <a:ext cx="3291840" cy="3011215"/>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40069" y="1765738"/>
            <a:ext cx="6621517" cy="2215991"/>
          </a:xfrm>
          <a:prstGeom prst="rect">
            <a:avLst/>
          </a:prstGeom>
          <a:noFill/>
        </p:spPr>
        <p:txBody>
          <a:bodyPr wrap="square" rtlCol="0">
            <a:spAutoFit/>
          </a:bodyPr>
          <a:lstStyle/>
          <a:p>
            <a:pPr algn="ctr"/>
            <a:r>
              <a:rPr lang="en-GB" sz="13800" dirty="0"/>
              <a:t>Assess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7917" y="504497"/>
            <a:ext cx="7598980" cy="4524315"/>
          </a:xfrm>
          <a:prstGeom prst="rect">
            <a:avLst/>
          </a:prstGeom>
        </p:spPr>
        <p:txBody>
          <a:bodyPr wrap="square">
            <a:spAutoFit/>
          </a:bodyPr>
          <a:lstStyle/>
          <a:p>
            <a:r>
              <a:rPr lang="en-GB" sz="4800" b="1" dirty="0">
                <a:solidFill>
                  <a:schemeClr val="accent5">
                    <a:lumMod val="75000"/>
                  </a:schemeClr>
                </a:solidFill>
              </a:rPr>
              <a:t>We Need To Ask Ourselves… </a:t>
            </a:r>
          </a:p>
          <a:p>
            <a:endParaRPr lang="en-GB" sz="4800" b="1" dirty="0">
              <a:solidFill>
                <a:schemeClr val="accent5">
                  <a:lumMod val="75000"/>
                </a:schemeClr>
              </a:solidFill>
            </a:endParaRPr>
          </a:p>
          <a:p>
            <a:r>
              <a:rPr lang="en-GB" sz="3200" dirty="0">
                <a:solidFill>
                  <a:schemeClr val="accent5">
                    <a:lumMod val="75000"/>
                  </a:schemeClr>
                </a:solidFill>
              </a:rPr>
              <a:t>Do all pupils have access to the to the tools, knowledge and guidance that they need to succeed? </a:t>
            </a:r>
          </a:p>
          <a:p>
            <a:endParaRPr lang="en-GB" sz="3200" dirty="0">
              <a:solidFill>
                <a:schemeClr val="accent5">
                  <a:lumMod val="75000"/>
                </a:schemeClr>
              </a:solidFill>
            </a:endParaRPr>
          </a:p>
          <a:p>
            <a:r>
              <a:rPr lang="en-GB" sz="3200" dirty="0">
                <a:solidFill>
                  <a:schemeClr val="accent5">
                    <a:lumMod val="75000"/>
                  </a:schemeClr>
                </a:solidFill>
              </a:rPr>
              <a:t> If not, what can we do to give them those tools?</a:t>
            </a:r>
          </a:p>
        </p:txBody>
      </p:sp>
      <p:pic>
        <p:nvPicPr>
          <p:cNvPr id="7170" name="Picture 2" descr="C:\Users\Clair\AppData\Local\Microsoft\Windows\INetCache\IE\RABPRE7S\4420180838_971954ef00_z[1].jpg"/>
          <p:cNvPicPr>
            <a:picLocks noChangeAspect="1" noChangeArrowheads="1"/>
          </p:cNvPicPr>
          <p:nvPr/>
        </p:nvPicPr>
        <p:blipFill>
          <a:blip r:embed="rId3"/>
          <a:srcRect/>
          <a:stretch>
            <a:fillRect/>
          </a:stretch>
        </p:blipFill>
        <p:spPr bwMode="auto">
          <a:xfrm>
            <a:off x="6060486" y="4745033"/>
            <a:ext cx="2735234" cy="1829188"/>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19807" y="1876097"/>
            <a:ext cx="7488621" cy="4031873"/>
          </a:xfrm>
          <a:prstGeom prst="rect">
            <a:avLst/>
          </a:prstGeom>
        </p:spPr>
        <p:txBody>
          <a:bodyPr wrap="square">
            <a:spAutoFit/>
          </a:bodyPr>
          <a:lstStyle/>
          <a:p>
            <a:r>
              <a:rPr lang="en-GB" sz="3200" dirty="0">
                <a:solidFill>
                  <a:srgbClr val="833F8C"/>
                </a:solidFill>
              </a:rPr>
              <a:t>Identifying and assessing SEN for children or young people whose first language is not English requires particular care. </a:t>
            </a:r>
          </a:p>
          <a:p>
            <a:endParaRPr lang="en-GB" sz="3200" dirty="0">
              <a:solidFill>
                <a:srgbClr val="833F8C"/>
              </a:solidFill>
            </a:endParaRPr>
          </a:p>
          <a:p>
            <a:endParaRPr lang="en-GB" sz="3200" dirty="0">
              <a:solidFill>
                <a:srgbClr val="833F8C"/>
              </a:solidFill>
            </a:endParaRPr>
          </a:p>
          <a:p>
            <a:r>
              <a:rPr lang="en-GB" sz="3200" dirty="0">
                <a:solidFill>
                  <a:srgbClr val="833F8C"/>
                </a:solidFill>
              </a:rPr>
              <a:t>Difficulties related solely to limitations in  English as an additional language are not SEN. </a:t>
            </a:r>
          </a:p>
        </p:txBody>
      </p:sp>
      <p:sp>
        <p:nvSpPr>
          <p:cNvPr id="3" name="Rectangle 2"/>
          <p:cNvSpPr/>
          <p:nvPr/>
        </p:nvSpPr>
        <p:spPr>
          <a:xfrm>
            <a:off x="819807" y="671192"/>
            <a:ext cx="2968633" cy="769441"/>
          </a:xfrm>
          <a:prstGeom prst="rect">
            <a:avLst/>
          </a:prstGeom>
        </p:spPr>
        <p:txBody>
          <a:bodyPr wrap="none">
            <a:spAutoFit/>
          </a:bodyPr>
          <a:lstStyle/>
          <a:p>
            <a:r>
              <a:rPr lang="en-GB" sz="4400" b="1" dirty="0">
                <a:solidFill>
                  <a:srgbClr val="7030A0"/>
                </a:solidFill>
                <a:latin typeface="+mj-lt"/>
              </a:rPr>
              <a:t>EAL or SEN?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4759" y="646386"/>
            <a:ext cx="6984124" cy="5632311"/>
          </a:xfrm>
          <a:prstGeom prst="rect">
            <a:avLst/>
          </a:prstGeom>
        </p:spPr>
        <p:txBody>
          <a:bodyPr wrap="square">
            <a:spAutoFit/>
          </a:bodyPr>
          <a:lstStyle/>
          <a:p>
            <a:r>
              <a:rPr lang="en-GB" sz="4000" b="1" dirty="0">
                <a:solidFill>
                  <a:schemeClr val="bg2">
                    <a:lumMod val="25000"/>
                  </a:schemeClr>
                </a:solidFill>
              </a:rPr>
              <a:t>Cognitive Processing Speed Cognition and Learning </a:t>
            </a:r>
          </a:p>
          <a:p>
            <a:endParaRPr lang="en-GB" sz="4000" b="1" dirty="0">
              <a:solidFill>
                <a:schemeClr val="bg2">
                  <a:lumMod val="25000"/>
                </a:schemeClr>
              </a:solidFill>
            </a:endParaRPr>
          </a:p>
          <a:p>
            <a:r>
              <a:rPr lang="en-GB" sz="2400" dirty="0">
                <a:solidFill>
                  <a:schemeClr val="bg2">
                    <a:lumMod val="25000"/>
                  </a:schemeClr>
                </a:solidFill>
              </a:rPr>
              <a:t>• The ability to perform automatically with little or no effort–improves dramatically as children get older. </a:t>
            </a:r>
          </a:p>
          <a:p>
            <a:endParaRPr lang="en-GB" sz="2400" dirty="0">
              <a:solidFill>
                <a:schemeClr val="bg2">
                  <a:lumMod val="25000"/>
                </a:schemeClr>
              </a:solidFill>
            </a:endParaRPr>
          </a:p>
          <a:p>
            <a:r>
              <a:rPr lang="en-GB" sz="2400" dirty="0">
                <a:solidFill>
                  <a:schemeClr val="bg2">
                    <a:lumMod val="25000"/>
                  </a:schemeClr>
                </a:solidFill>
              </a:rPr>
              <a:t>• Automaticity is linked to speed and processing capacity; as an activity is completed faster, it requires less processing capacity. </a:t>
            </a:r>
          </a:p>
          <a:p>
            <a:endParaRPr lang="en-GB" sz="2400" dirty="0">
              <a:solidFill>
                <a:schemeClr val="bg2">
                  <a:lumMod val="25000"/>
                </a:schemeClr>
              </a:solidFill>
            </a:endParaRPr>
          </a:p>
          <a:p>
            <a:r>
              <a:rPr lang="en-GB" sz="2400" dirty="0">
                <a:solidFill>
                  <a:schemeClr val="bg2">
                    <a:lumMod val="25000"/>
                  </a:schemeClr>
                </a:solidFill>
              </a:rPr>
              <a:t>• As processing capacity increases, it becomes easier to complete tasks that were previously considered to be difficult. (Santrock &amp; Yussen, 1992).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56290" y="646387"/>
            <a:ext cx="6842234" cy="5509200"/>
          </a:xfrm>
          <a:prstGeom prst="rect">
            <a:avLst/>
          </a:prstGeom>
        </p:spPr>
        <p:txBody>
          <a:bodyPr wrap="square">
            <a:spAutoFit/>
          </a:bodyPr>
          <a:lstStyle/>
          <a:p>
            <a:r>
              <a:rPr lang="en-GB" sz="4400" b="1" dirty="0">
                <a:solidFill>
                  <a:schemeClr val="accent3">
                    <a:lumMod val="50000"/>
                  </a:schemeClr>
                </a:solidFill>
              </a:rPr>
              <a:t>Executive Functions and  Working Memory </a:t>
            </a:r>
          </a:p>
          <a:p>
            <a:endParaRPr lang="en-GB" sz="4000" b="1" dirty="0">
              <a:solidFill>
                <a:schemeClr val="accent3">
                  <a:lumMod val="50000"/>
                </a:schemeClr>
              </a:solidFill>
            </a:endParaRPr>
          </a:p>
          <a:p>
            <a:r>
              <a:rPr lang="en-GB" sz="2800" dirty="0">
                <a:solidFill>
                  <a:schemeClr val="accent3">
                    <a:lumMod val="50000"/>
                  </a:schemeClr>
                </a:solidFill>
              </a:rPr>
              <a:t>• Many executive function tasks also require working memory—actively holding information in memory during cognitive tasks.</a:t>
            </a:r>
          </a:p>
          <a:p>
            <a:r>
              <a:rPr lang="en-GB" sz="2800" dirty="0">
                <a:solidFill>
                  <a:schemeClr val="accent3">
                    <a:lumMod val="50000"/>
                  </a:schemeClr>
                </a:solidFill>
              </a:rPr>
              <a:t> </a:t>
            </a:r>
          </a:p>
          <a:p>
            <a:r>
              <a:rPr lang="en-GB" sz="2800" dirty="0">
                <a:solidFill>
                  <a:schemeClr val="accent3">
                    <a:lumMod val="50000"/>
                  </a:schemeClr>
                </a:solidFill>
              </a:rPr>
              <a:t>• Children with poor working memory may lose the “thread” and forget parts of the instruction, or even their own intention in the face of competing stimuli.</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9090" y="-315309"/>
            <a:ext cx="7945820" cy="6863417"/>
          </a:xfrm>
          <a:prstGeom prst="rect">
            <a:avLst/>
          </a:prstGeom>
        </p:spPr>
        <p:txBody>
          <a:bodyPr wrap="square">
            <a:spAutoFit/>
          </a:bodyPr>
          <a:lstStyle/>
          <a:p>
            <a:endParaRPr lang="en-GB" dirty="0"/>
          </a:p>
          <a:p>
            <a:endParaRPr lang="en-GB" dirty="0"/>
          </a:p>
          <a:p>
            <a:r>
              <a:rPr lang="en-GB" sz="3200" b="1" dirty="0">
                <a:solidFill>
                  <a:srgbClr val="002060"/>
                </a:solidFill>
              </a:rPr>
              <a:t>Children who have significant working memory difficulties often have the following profile: </a:t>
            </a:r>
          </a:p>
          <a:p>
            <a:pPr>
              <a:buFont typeface="Arial" pitchFamily="34" charset="0"/>
              <a:buChar char="•"/>
            </a:pPr>
            <a:r>
              <a:rPr lang="en-GB" sz="2800" dirty="0">
                <a:solidFill>
                  <a:srgbClr val="002060"/>
                </a:solidFill>
              </a:rPr>
              <a:t>Normal social relationships with peers </a:t>
            </a:r>
          </a:p>
          <a:p>
            <a:pPr>
              <a:buFont typeface="Arial" pitchFamily="34" charset="0"/>
              <a:buChar char="•"/>
            </a:pPr>
            <a:r>
              <a:rPr lang="en-GB" sz="2800" dirty="0">
                <a:solidFill>
                  <a:srgbClr val="002060"/>
                </a:solidFill>
              </a:rPr>
              <a:t>Reserved in group activities </a:t>
            </a:r>
          </a:p>
          <a:p>
            <a:pPr>
              <a:buFont typeface="Arial" pitchFamily="34" charset="0"/>
              <a:buChar char="•"/>
            </a:pPr>
            <a:r>
              <a:rPr lang="en-GB" sz="2800" dirty="0">
                <a:solidFill>
                  <a:srgbClr val="002060"/>
                </a:solidFill>
              </a:rPr>
              <a:t>Poor academic progress in reading and maths </a:t>
            </a:r>
          </a:p>
          <a:p>
            <a:pPr>
              <a:buFont typeface="Arial" pitchFamily="34" charset="0"/>
              <a:buChar char="•"/>
            </a:pPr>
            <a:r>
              <a:rPr lang="en-GB" sz="2800" dirty="0">
                <a:solidFill>
                  <a:srgbClr val="002060"/>
                </a:solidFill>
              </a:rPr>
              <a:t>Difficulties in following instructions </a:t>
            </a:r>
          </a:p>
          <a:p>
            <a:pPr>
              <a:buFont typeface="Arial" pitchFamily="34" charset="0"/>
              <a:buChar char="•"/>
            </a:pPr>
            <a:r>
              <a:rPr lang="en-GB" sz="2800" dirty="0">
                <a:solidFill>
                  <a:srgbClr val="002060"/>
                </a:solidFill>
              </a:rPr>
              <a:t>Struggle to cope with learning activities that require both storage and processing demands </a:t>
            </a:r>
          </a:p>
          <a:p>
            <a:pPr>
              <a:buFont typeface="Arial" pitchFamily="34" charset="0"/>
              <a:buChar char="•"/>
            </a:pPr>
            <a:r>
              <a:rPr lang="en-GB" sz="2800" dirty="0">
                <a:solidFill>
                  <a:srgbClr val="002060"/>
                </a:solidFill>
              </a:rPr>
              <a:t>Place-keeping difficulties </a:t>
            </a:r>
          </a:p>
          <a:p>
            <a:pPr>
              <a:buFont typeface="Arial" pitchFamily="34" charset="0"/>
              <a:buChar char="•"/>
            </a:pPr>
            <a:r>
              <a:rPr lang="en-GB" sz="2800" dirty="0">
                <a:solidFill>
                  <a:srgbClr val="002060"/>
                </a:solidFill>
              </a:rPr>
              <a:t>Appears to have short attention span/ daydreaming/ lacking motivation/ distractible, behavioural difficulties. </a:t>
            </a:r>
          </a:p>
          <a:p>
            <a:pPr>
              <a:buFont typeface="Arial" pitchFamily="34" charset="0"/>
              <a:buChar char="•"/>
            </a:pPr>
            <a:r>
              <a:rPr lang="en-GB" sz="2800" dirty="0">
                <a:solidFill>
                  <a:srgbClr val="002060"/>
                </a:solidFill>
              </a:rPr>
              <a:t>Difficulty copying from the board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6385" y="1213945"/>
            <a:ext cx="7693573" cy="2554545"/>
          </a:xfrm>
          <a:prstGeom prst="rect">
            <a:avLst/>
          </a:prstGeom>
        </p:spPr>
        <p:txBody>
          <a:bodyPr wrap="square">
            <a:spAutoFit/>
          </a:bodyPr>
          <a:lstStyle/>
          <a:p>
            <a:r>
              <a:rPr lang="en-GB" sz="2000" b="1" dirty="0">
                <a:solidFill>
                  <a:schemeClr val="accent6">
                    <a:lumMod val="75000"/>
                  </a:schemeClr>
                </a:solidFill>
                <a:latin typeface="Calibri" pitchFamily="34" charset="0"/>
                <a:ea typeface="Calibri" pitchFamily="34" charset="0"/>
                <a:cs typeface="Times New Roman" pitchFamily="18" charset="0"/>
              </a:rPr>
              <a:t>Blocking</a:t>
            </a:r>
            <a:r>
              <a:rPr lang="en-GB" sz="2000" dirty="0">
                <a:solidFill>
                  <a:schemeClr val="accent6">
                    <a:lumMod val="75000"/>
                  </a:schemeClr>
                </a:solidFill>
                <a:latin typeface="Calibri" pitchFamily="34" charset="0"/>
                <a:ea typeface="Calibri" pitchFamily="34" charset="0"/>
                <a:cs typeface="Times New Roman" pitchFamily="18" charset="0"/>
              </a:rPr>
              <a:t> = the solution to use,  movement to execute, rote learning, copying </a:t>
            </a:r>
          </a:p>
          <a:p>
            <a:endParaRPr lang="en-GB" sz="2000" dirty="0">
              <a:latin typeface="Calibri" pitchFamily="34" charset="0"/>
              <a:ea typeface="Calibri" pitchFamily="34" charset="0"/>
              <a:cs typeface="Times New Roman" pitchFamily="18" charset="0"/>
            </a:endParaRPr>
          </a:p>
          <a:p>
            <a:r>
              <a:rPr lang="en-GB" sz="2000" b="1" dirty="0">
                <a:solidFill>
                  <a:schemeClr val="accent6">
                    <a:lumMod val="50000"/>
                  </a:schemeClr>
                </a:solidFill>
                <a:latin typeface="Calibri" pitchFamily="34" charset="0"/>
                <a:ea typeface="Calibri" pitchFamily="34" charset="0"/>
                <a:cs typeface="Times New Roman" pitchFamily="18" charset="0"/>
              </a:rPr>
              <a:t>Interleaving</a:t>
            </a:r>
            <a:r>
              <a:rPr lang="en-GB" sz="2000" dirty="0">
                <a:solidFill>
                  <a:schemeClr val="accent6">
                    <a:lumMod val="50000"/>
                  </a:schemeClr>
                </a:solidFill>
                <a:latin typeface="Calibri" pitchFamily="34" charset="0"/>
                <a:ea typeface="Calibri" pitchFamily="34" charset="0"/>
                <a:cs typeface="Times New Roman" pitchFamily="18" charset="0"/>
              </a:rPr>
              <a:t> = each practice attempt is different from the last; the brain must continuously focus on searching for different solutions. That process can improve your ability to learn critical features of skills and concepts, which then better enables you to select and execute the correct response.</a:t>
            </a:r>
            <a:endParaRPr lang="en-GB" sz="2000" dirty="0">
              <a:solidFill>
                <a:schemeClr val="accent6">
                  <a:lumMod val="50000"/>
                </a:schemeClr>
              </a:solidFill>
            </a:endParaRPr>
          </a:p>
        </p:txBody>
      </p:sp>
      <p:sp>
        <p:nvSpPr>
          <p:cNvPr id="3" name="Rectangle 2"/>
          <p:cNvSpPr/>
          <p:nvPr/>
        </p:nvSpPr>
        <p:spPr>
          <a:xfrm>
            <a:off x="1493498" y="567559"/>
            <a:ext cx="5274136" cy="707886"/>
          </a:xfrm>
          <a:prstGeom prst="rect">
            <a:avLst/>
          </a:prstGeom>
        </p:spPr>
        <p:txBody>
          <a:bodyPr wrap="none">
            <a:spAutoFit/>
          </a:bodyPr>
          <a:lstStyle/>
          <a:p>
            <a:pPr lvl="0" algn="ctr" defTabSz="914400" fontAlgn="base">
              <a:spcBef>
                <a:spcPct val="0"/>
              </a:spcBef>
              <a:spcAft>
                <a:spcPct val="0"/>
              </a:spcAft>
            </a:pPr>
            <a:r>
              <a:rPr lang="en-GB" sz="4000" b="1" dirty="0">
                <a:solidFill>
                  <a:schemeClr val="accent6">
                    <a:lumMod val="50000"/>
                  </a:schemeClr>
                </a:solidFill>
                <a:latin typeface="Calibri" pitchFamily="34" charset="0"/>
                <a:ea typeface="Calibri" pitchFamily="34" charset="0"/>
                <a:cs typeface="Times New Roman" pitchFamily="18" charset="0"/>
              </a:rPr>
              <a:t>Interleaving ‘v’ Blocking</a:t>
            </a:r>
          </a:p>
        </p:txBody>
      </p:sp>
      <p:sp>
        <p:nvSpPr>
          <p:cNvPr id="4" name="Rectangle 3"/>
          <p:cNvSpPr/>
          <p:nvPr/>
        </p:nvSpPr>
        <p:spPr>
          <a:xfrm>
            <a:off x="646385" y="3768489"/>
            <a:ext cx="7693573" cy="707886"/>
          </a:xfrm>
          <a:prstGeom prst="rect">
            <a:avLst/>
          </a:prstGeom>
        </p:spPr>
        <p:txBody>
          <a:bodyPr wrap="square">
            <a:spAutoFit/>
          </a:bodyPr>
          <a:lstStyle/>
          <a:p>
            <a:r>
              <a:rPr lang="en-GB" dirty="0">
                <a:latin typeface="Calibri" pitchFamily="34" charset="0"/>
                <a:ea typeface="Calibri" pitchFamily="34" charset="0"/>
                <a:cs typeface="Times New Roman" pitchFamily="18" charset="0"/>
              </a:rPr>
              <a:t> </a:t>
            </a:r>
            <a:r>
              <a:rPr lang="en-GB" sz="2000" dirty="0">
                <a:solidFill>
                  <a:schemeClr val="accent6">
                    <a:lumMod val="75000"/>
                  </a:schemeClr>
                </a:solidFill>
                <a:latin typeface="Calibri" pitchFamily="34" charset="0"/>
                <a:ea typeface="Calibri" pitchFamily="34" charset="0"/>
                <a:cs typeface="Times New Roman" pitchFamily="18" charset="0"/>
              </a:rPr>
              <a:t>Interleaving strengthens memory associations. With blocking, a single strategy, temporarily held in short-term memory, is sufficient. </a:t>
            </a:r>
            <a:endParaRPr lang="en-GB" dirty="0">
              <a:solidFill>
                <a:schemeClr val="accent6">
                  <a:lumMod val="75000"/>
                </a:schemeClr>
              </a:solidFill>
            </a:endParaRPr>
          </a:p>
        </p:txBody>
      </p:sp>
      <p:sp>
        <p:nvSpPr>
          <p:cNvPr id="5" name="Rectangle 4"/>
          <p:cNvSpPr/>
          <p:nvPr/>
        </p:nvSpPr>
        <p:spPr>
          <a:xfrm>
            <a:off x="646386" y="4997669"/>
            <a:ext cx="7693572" cy="1323439"/>
          </a:xfrm>
          <a:prstGeom prst="rect">
            <a:avLst/>
          </a:prstGeom>
        </p:spPr>
        <p:txBody>
          <a:bodyPr wrap="square">
            <a:spAutoFit/>
          </a:bodyPr>
          <a:lstStyle/>
          <a:p>
            <a:r>
              <a:rPr lang="en-GB" sz="2000" dirty="0">
                <a:solidFill>
                  <a:schemeClr val="accent6">
                    <a:lumMod val="50000"/>
                  </a:schemeClr>
                </a:solidFill>
              </a:rPr>
              <a:t>Children with </a:t>
            </a:r>
            <a:r>
              <a:rPr lang="en-GB" sz="2000" i="1" dirty="0">
                <a:solidFill>
                  <a:schemeClr val="accent6">
                    <a:lumMod val="50000"/>
                  </a:schemeClr>
                </a:solidFill>
              </a:rPr>
              <a:t>poor working memory </a:t>
            </a:r>
            <a:r>
              <a:rPr lang="en-GB" sz="2000" dirty="0">
                <a:solidFill>
                  <a:schemeClr val="accent6">
                    <a:lumMod val="50000"/>
                  </a:schemeClr>
                </a:solidFill>
              </a:rPr>
              <a:t>struggle with interleaving ; every task is new and they fail to make connections therefore ‘blocking’ and repeating a </a:t>
            </a:r>
            <a:r>
              <a:rPr lang="en-GB" sz="2000" dirty="0">
                <a:solidFill>
                  <a:schemeClr val="accent6">
                    <a:lumMod val="50000"/>
                  </a:schemeClr>
                </a:solidFill>
                <a:latin typeface="Calibri" pitchFamily="34" charset="0"/>
                <a:ea typeface="Calibri" pitchFamily="34" charset="0"/>
                <a:cs typeface="Times New Roman" pitchFamily="18" charset="0"/>
              </a:rPr>
              <a:t>process can reinforce neural connections between different tasks and correct responses, which enhance learning.</a:t>
            </a:r>
            <a:endParaRPr lang="en-GB" sz="2000" dirty="0">
              <a:solidFill>
                <a:schemeClr val="accent6">
                  <a:lumMod val="50000"/>
                </a:schemeClr>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descr="Y:\PERSONNE\PERSONNE.GEN\Karl Joseph\Soft Skills Training\Stretch &amp; Connect\Train-the-Trainer\ebbinghaus-forgetting-curve_496x280.jpg"/>
          <p:cNvPicPr>
            <a:picLock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7544" y="1700808"/>
            <a:ext cx="8352928" cy="4536504"/>
          </a:xfrm>
          <a:prstGeom prst="rect">
            <a:avLst/>
          </a:prstGeom>
          <a:noFill/>
          <a:ln>
            <a:noFill/>
          </a:ln>
        </p:spPr>
      </p:pic>
      <p:sp>
        <p:nvSpPr>
          <p:cNvPr id="3" name="Rectangle 2"/>
          <p:cNvSpPr/>
          <p:nvPr/>
        </p:nvSpPr>
        <p:spPr>
          <a:xfrm>
            <a:off x="467544" y="505681"/>
            <a:ext cx="8298105" cy="646331"/>
          </a:xfrm>
          <a:prstGeom prst="rect">
            <a:avLst/>
          </a:prstGeom>
        </p:spPr>
        <p:txBody>
          <a:bodyPr wrap="none">
            <a:spAutoFit/>
          </a:bodyPr>
          <a:lstStyle/>
          <a:p>
            <a:r>
              <a:rPr lang="en-GB" sz="3600" b="1" dirty="0">
                <a:solidFill>
                  <a:schemeClr val="accent5">
                    <a:lumMod val="50000"/>
                  </a:schemeClr>
                </a:solidFill>
                <a:latin typeface="+mj-lt"/>
              </a:rPr>
              <a:t>Maintaining, reinforcing and consolidating</a:t>
            </a:r>
          </a:p>
        </p:txBody>
      </p:sp>
    </p:spTree>
    <p:extLst>
      <p:ext uri="{BB962C8B-B14F-4D97-AF65-F5344CB8AC3E}">
        <p14:creationId xmlns:p14="http://schemas.microsoft.com/office/powerpoint/2010/main" val="26976203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1024758" y="599090"/>
          <a:ext cx="7283670" cy="3474720"/>
        </p:xfrm>
        <a:graphic>
          <a:graphicData uri="http://schemas.openxmlformats.org/drawingml/2006/table">
            <a:tbl>
              <a:tblPr firstRow="1" bandRow="1">
                <a:tableStyleId>{68D230F3-CF80-4859-8CE7-A43EE81993B5}</a:tableStyleId>
              </a:tblPr>
              <a:tblGrid>
                <a:gridCol w="2427890">
                  <a:extLst>
                    <a:ext uri="{9D8B030D-6E8A-4147-A177-3AD203B41FA5}">
                      <a16:colId xmlns:a16="http://schemas.microsoft.com/office/drawing/2014/main" val="20000"/>
                    </a:ext>
                  </a:extLst>
                </a:gridCol>
                <a:gridCol w="2427890">
                  <a:extLst>
                    <a:ext uri="{9D8B030D-6E8A-4147-A177-3AD203B41FA5}">
                      <a16:colId xmlns:a16="http://schemas.microsoft.com/office/drawing/2014/main" val="20001"/>
                    </a:ext>
                  </a:extLst>
                </a:gridCol>
                <a:gridCol w="2427890">
                  <a:extLst>
                    <a:ext uri="{9D8B030D-6E8A-4147-A177-3AD203B41FA5}">
                      <a16:colId xmlns:a16="http://schemas.microsoft.com/office/drawing/2014/main" val="20002"/>
                    </a:ext>
                  </a:extLst>
                </a:gridCol>
              </a:tblGrid>
              <a:tr h="683462">
                <a:tc>
                  <a:txBody>
                    <a:bodyPr/>
                    <a:lstStyle/>
                    <a:p>
                      <a:r>
                        <a:rPr lang="en-GB" sz="2400" dirty="0">
                          <a:solidFill>
                            <a:schemeClr val="accent5">
                              <a:lumMod val="50000"/>
                            </a:schemeClr>
                          </a:solidFill>
                        </a:rPr>
                        <a:t>READINESS </a:t>
                      </a:r>
                    </a:p>
                  </a:txBody>
                  <a:tcPr/>
                </a:tc>
                <a:tc>
                  <a:txBody>
                    <a:bodyPr/>
                    <a:lstStyle/>
                    <a:p>
                      <a:r>
                        <a:rPr lang="en-GB" sz="2400" dirty="0">
                          <a:solidFill>
                            <a:schemeClr val="accent5">
                              <a:lumMod val="50000"/>
                            </a:schemeClr>
                          </a:solidFill>
                        </a:rPr>
                        <a:t>INTEREST </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2400" dirty="0">
                          <a:solidFill>
                            <a:schemeClr val="accent5">
                              <a:lumMod val="50000"/>
                            </a:schemeClr>
                          </a:solidFill>
                        </a:rPr>
                        <a:t>LEARNING NEEDS</a:t>
                      </a:r>
                    </a:p>
                    <a:p>
                      <a:endParaRPr lang="en-GB" sz="2400" dirty="0">
                        <a:solidFill>
                          <a:schemeClr val="accent5">
                            <a:lumMod val="50000"/>
                          </a:schemeClr>
                        </a:solidFill>
                      </a:endParaRPr>
                    </a:p>
                  </a:txBody>
                  <a:tcPr/>
                </a:tc>
                <a:extLst>
                  <a:ext uri="{0D108BD9-81ED-4DB2-BD59-A6C34878D82A}">
                    <a16:rowId xmlns:a16="http://schemas.microsoft.com/office/drawing/2014/main" val="10000"/>
                  </a:ext>
                </a:extLst>
              </a:tr>
              <a:tr h="1269286">
                <a:tc>
                  <a:txBody>
                    <a:bodyPr/>
                    <a:lstStyle/>
                    <a:p>
                      <a:pPr>
                        <a:buFont typeface="Arial" pitchFamily="34" charset="0"/>
                        <a:buChar char="•"/>
                      </a:pPr>
                      <a:r>
                        <a:rPr lang="en-GB" sz="2400" dirty="0">
                          <a:solidFill>
                            <a:schemeClr val="accent5">
                              <a:lumMod val="50000"/>
                            </a:schemeClr>
                          </a:solidFill>
                        </a:rPr>
                        <a:t>Content  knowledge  </a:t>
                      </a:r>
                    </a:p>
                    <a:p>
                      <a:pPr>
                        <a:buFont typeface="Arial" pitchFamily="34" charset="0"/>
                        <a:buChar char="•"/>
                      </a:pPr>
                      <a:r>
                        <a:rPr lang="en-GB" sz="2400" dirty="0">
                          <a:solidFill>
                            <a:schemeClr val="accent5">
                              <a:lumMod val="50000"/>
                            </a:schemeClr>
                          </a:solidFill>
                        </a:rPr>
                        <a:t>Skills     </a:t>
                      </a:r>
                    </a:p>
                    <a:p>
                      <a:pPr marL="0" marR="0" indent="0" algn="l" defTabSz="457200" rtl="0" eaLnBrk="1" fontAlgn="auto" latinLnBrk="0" hangingPunct="1">
                        <a:lnSpc>
                          <a:spcPct val="100000"/>
                        </a:lnSpc>
                        <a:spcBef>
                          <a:spcPts val="0"/>
                        </a:spcBef>
                        <a:spcAft>
                          <a:spcPts val="0"/>
                        </a:spcAft>
                        <a:buClrTx/>
                        <a:buSzTx/>
                        <a:buFont typeface="Arial" pitchFamily="34" charset="0"/>
                        <a:buChar char="•"/>
                        <a:tabLst/>
                        <a:defRPr/>
                      </a:pPr>
                      <a:r>
                        <a:rPr lang="en-GB" sz="2400" dirty="0">
                          <a:solidFill>
                            <a:schemeClr val="accent5">
                              <a:lumMod val="50000"/>
                            </a:schemeClr>
                          </a:solidFill>
                        </a:rPr>
                        <a:t>Concepts</a:t>
                      </a:r>
                    </a:p>
                    <a:p>
                      <a:endParaRPr lang="en-GB" sz="2400" dirty="0">
                        <a:solidFill>
                          <a:schemeClr val="accent5">
                            <a:lumMod val="50000"/>
                          </a:schemeClr>
                        </a:solidFill>
                      </a:endParaRPr>
                    </a:p>
                  </a:txBody>
                  <a:tcPr/>
                </a:tc>
                <a:tc>
                  <a:txBody>
                    <a:bodyPr/>
                    <a:lstStyle/>
                    <a:p>
                      <a:r>
                        <a:rPr lang="en-GB" sz="2400" dirty="0">
                          <a:solidFill>
                            <a:schemeClr val="accent5">
                              <a:lumMod val="50000"/>
                            </a:schemeClr>
                          </a:solidFill>
                        </a:rPr>
                        <a:t>• Interest Surveys </a:t>
                      </a:r>
                    </a:p>
                    <a:p>
                      <a:r>
                        <a:rPr lang="en-GB" sz="2400" dirty="0">
                          <a:solidFill>
                            <a:schemeClr val="accent5">
                              <a:lumMod val="50000"/>
                            </a:schemeClr>
                          </a:solidFill>
                        </a:rPr>
                        <a:t>• Interest Centres </a:t>
                      </a:r>
                    </a:p>
                    <a:p>
                      <a:r>
                        <a:rPr lang="en-GB" sz="2400" dirty="0">
                          <a:solidFill>
                            <a:schemeClr val="accent5">
                              <a:lumMod val="50000"/>
                            </a:schemeClr>
                          </a:solidFill>
                        </a:rPr>
                        <a:t>• Self-Selection</a:t>
                      </a:r>
                    </a:p>
                    <a:p>
                      <a:endParaRPr lang="en-GB" sz="2400" dirty="0">
                        <a:solidFill>
                          <a:schemeClr val="accent5">
                            <a:lumMod val="50000"/>
                          </a:schemeClr>
                        </a:solidFill>
                      </a:endParaRPr>
                    </a:p>
                  </a:txBody>
                  <a:tcPr/>
                </a:tc>
                <a:tc>
                  <a:txBody>
                    <a:bodyPr/>
                    <a:lstStyle/>
                    <a:p>
                      <a:r>
                        <a:rPr lang="en-GB" sz="2400" dirty="0">
                          <a:solidFill>
                            <a:schemeClr val="accent5">
                              <a:lumMod val="50000"/>
                            </a:schemeClr>
                          </a:solidFill>
                        </a:rPr>
                        <a:t>• Areas of Strength  and Weakness </a:t>
                      </a:r>
                    </a:p>
                    <a:p>
                      <a:r>
                        <a:rPr lang="en-GB" sz="2400" dirty="0">
                          <a:solidFill>
                            <a:schemeClr val="accent5">
                              <a:lumMod val="50000"/>
                            </a:schemeClr>
                          </a:solidFill>
                        </a:rPr>
                        <a:t>• Work Preferences </a:t>
                      </a:r>
                    </a:p>
                    <a:p>
                      <a:r>
                        <a:rPr lang="en-GB" sz="2400" dirty="0">
                          <a:solidFill>
                            <a:schemeClr val="accent5">
                              <a:lumMod val="50000"/>
                            </a:schemeClr>
                          </a:solidFill>
                        </a:rPr>
                        <a:t>• Self Awareness</a:t>
                      </a:r>
                    </a:p>
                    <a:p>
                      <a:endParaRPr lang="en-GB" sz="2400" dirty="0">
                        <a:solidFill>
                          <a:schemeClr val="accent5">
                            <a:lumMod val="50000"/>
                          </a:schemeClr>
                        </a:solidFill>
                      </a:endParaRPr>
                    </a:p>
                  </a:txBody>
                  <a:tcPr/>
                </a:tc>
                <a:extLst>
                  <a:ext uri="{0D108BD9-81ED-4DB2-BD59-A6C34878D82A}">
                    <a16:rowId xmlns:a16="http://schemas.microsoft.com/office/drawing/2014/main" val="10001"/>
                  </a:ext>
                </a:extLst>
              </a:tr>
            </a:tbl>
          </a:graphicData>
        </a:graphic>
      </p:graphicFrame>
      <p:pic>
        <p:nvPicPr>
          <p:cNvPr id="4098" name="Picture 2" descr="C:\Users\Clair\AppData\Local\Microsoft\Windows\INetCache\IE\9ZP0XFER\silhouette-men-turning-pushing-cogs-illustration-group-lifting-gears-32642737[1].jpg"/>
          <p:cNvPicPr>
            <a:picLocks noChangeAspect="1" noChangeArrowheads="1"/>
          </p:cNvPicPr>
          <p:nvPr/>
        </p:nvPicPr>
        <p:blipFill>
          <a:blip r:embed="rId2"/>
          <a:srcRect/>
          <a:stretch>
            <a:fillRect/>
          </a:stretch>
        </p:blipFill>
        <p:spPr bwMode="auto">
          <a:xfrm>
            <a:off x="646386" y="4224896"/>
            <a:ext cx="2326741" cy="1639877"/>
          </a:xfrm>
          <a:prstGeom prst="rect">
            <a:avLst/>
          </a:prstGeom>
          <a:noFill/>
        </p:spPr>
      </p:pic>
      <p:pic>
        <p:nvPicPr>
          <p:cNvPr id="4099" name="Picture 3" descr="C:\Users\Clair\AppData\Local\Microsoft\Windows\INetCache\IE\RABPRE7S\marketing-target-winner-2-4677015[1].jpg"/>
          <p:cNvPicPr>
            <a:picLocks noChangeAspect="1" noChangeArrowheads="1"/>
          </p:cNvPicPr>
          <p:nvPr/>
        </p:nvPicPr>
        <p:blipFill>
          <a:blip r:embed="rId3"/>
          <a:srcRect/>
          <a:stretch>
            <a:fillRect/>
          </a:stretch>
        </p:blipFill>
        <p:spPr bwMode="auto">
          <a:xfrm>
            <a:off x="3310759" y="4533403"/>
            <a:ext cx="2396359" cy="1909553"/>
          </a:xfrm>
          <a:prstGeom prst="rect">
            <a:avLst/>
          </a:prstGeom>
          <a:noFill/>
        </p:spPr>
      </p:pic>
      <p:pic>
        <p:nvPicPr>
          <p:cNvPr id="4101" name="Picture 5" descr="C:\Users\Clair\AppData\Local\Microsoft\Windows\INetCache\IE\9ZP0XFER\group-296572_960_720[1].png"/>
          <p:cNvPicPr>
            <a:picLocks noChangeAspect="1" noChangeArrowheads="1"/>
          </p:cNvPicPr>
          <p:nvPr/>
        </p:nvPicPr>
        <p:blipFill>
          <a:blip r:embed="rId4"/>
          <a:srcRect/>
          <a:stretch>
            <a:fillRect/>
          </a:stretch>
        </p:blipFill>
        <p:spPr bwMode="auto">
          <a:xfrm>
            <a:off x="5707118" y="4224897"/>
            <a:ext cx="2932386" cy="1639876"/>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8276" y="599090"/>
            <a:ext cx="7315200" cy="5201424"/>
          </a:xfrm>
          <a:prstGeom prst="rect">
            <a:avLst/>
          </a:prstGeom>
        </p:spPr>
        <p:txBody>
          <a:bodyPr wrap="square">
            <a:spAutoFit/>
          </a:bodyPr>
          <a:lstStyle/>
          <a:p>
            <a:r>
              <a:rPr lang="en-GB" sz="4400" b="1" dirty="0">
                <a:solidFill>
                  <a:schemeClr val="accent6">
                    <a:lumMod val="50000"/>
                  </a:schemeClr>
                </a:solidFill>
              </a:rPr>
              <a:t>Pre-assessment Is... </a:t>
            </a:r>
          </a:p>
          <a:p>
            <a:r>
              <a:rPr lang="en-GB" sz="2400" dirty="0">
                <a:solidFill>
                  <a:schemeClr val="accent6">
                    <a:lumMod val="50000"/>
                  </a:schemeClr>
                </a:solidFill>
              </a:rPr>
              <a:t>Any method, strategy or process used to determine a pupil’s current level of readiness or interest in order to plan for appropriate instruction.</a:t>
            </a:r>
          </a:p>
          <a:p>
            <a:endParaRPr lang="en-GB" sz="2400" dirty="0">
              <a:solidFill>
                <a:schemeClr val="accent6">
                  <a:lumMod val="50000"/>
                </a:schemeClr>
              </a:solidFill>
            </a:endParaRPr>
          </a:p>
          <a:p>
            <a:r>
              <a:rPr lang="en-GB" sz="2400" dirty="0">
                <a:solidFill>
                  <a:schemeClr val="accent6">
                    <a:lumMod val="50000"/>
                  </a:schemeClr>
                </a:solidFill>
              </a:rPr>
              <a:t>• provides data to determine options for pupils </a:t>
            </a:r>
          </a:p>
          <a:p>
            <a:r>
              <a:rPr lang="en-GB" sz="2400" dirty="0">
                <a:solidFill>
                  <a:schemeClr val="accent6">
                    <a:lumMod val="50000"/>
                  </a:schemeClr>
                </a:solidFill>
              </a:rPr>
              <a:t>• helps determine differences before planning </a:t>
            </a:r>
          </a:p>
          <a:p>
            <a:r>
              <a:rPr lang="en-GB" sz="2400" dirty="0">
                <a:solidFill>
                  <a:schemeClr val="accent6">
                    <a:lumMod val="50000"/>
                  </a:schemeClr>
                </a:solidFill>
              </a:rPr>
              <a:t>• helps teacher design activities that are meaningful and challenging </a:t>
            </a:r>
          </a:p>
          <a:p>
            <a:r>
              <a:rPr lang="en-GB" sz="2400" dirty="0">
                <a:solidFill>
                  <a:schemeClr val="accent6">
                    <a:lumMod val="50000"/>
                  </a:schemeClr>
                </a:solidFill>
              </a:rPr>
              <a:t>• allows teachers to meet pupils where they are </a:t>
            </a:r>
          </a:p>
          <a:p>
            <a:r>
              <a:rPr lang="en-GB" sz="2400" dirty="0">
                <a:solidFill>
                  <a:schemeClr val="accent6">
                    <a:lumMod val="50000"/>
                  </a:schemeClr>
                </a:solidFill>
              </a:rPr>
              <a:t>• identifies starting point for instruction </a:t>
            </a:r>
          </a:p>
          <a:p>
            <a:r>
              <a:rPr lang="en-GB" sz="2400" dirty="0">
                <a:solidFill>
                  <a:schemeClr val="accent6">
                    <a:lumMod val="50000"/>
                  </a:schemeClr>
                </a:solidFill>
              </a:rPr>
              <a:t>• identifies learning gaps </a:t>
            </a:r>
          </a:p>
          <a:p>
            <a:r>
              <a:rPr lang="en-GB" sz="2400" dirty="0">
                <a:solidFill>
                  <a:schemeClr val="accent6">
                    <a:lumMod val="50000"/>
                  </a:schemeClr>
                </a:solidFill>
              </a:rPr>
              <a:t>• makes efficient use of instructional time</a:t>
            </a:r>
          </a:p>
        </p:txBody>
      </p:sp>
      <p:pic>
        <p:nvPicPr>
          <p:cNvPr id="3" name="Picture 2" descr="C:\Users\Clair\AppData\Local\Microsoft\Windows\INetCache\IE\RABPRE7S\assessment_in[1].jpg"/>
          <p:cNvPicPr>
            <a:picLocks noChangeAspect="1" noChangeArrowheads="1"/>
          </p:cNvPicPr>
          <p:nvPr/>
        </p:nvPicPr>
        <p:blipFill>
          <a:blip r:embed="rId3"/>
          <a:srcRect/>
          <a:stretch>
            <a:fillRect/>
          </a:stretch>
        </p:blipFill>
        <p:spPr bwMode="auto">
          <a:xfrm>
            <a:off x="7707396" y="0"/>
            <a:ext cx="1436604" cy="1308227"/>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descr="http://265725080178138949.weebly.com/uploads/1/6/7/0/16700076/9134049_orig.jpg"/>
          <p:cNvPicPr>
            <a:picLocks/>
          </p:cNvPicPr>
          <p:nvPr/>
        </p:nvPicPr>
        <p:blipFill>
          <a:blip r:embed="rId2" cstate="print"/>
          <a:srcRect/>
          <a:stretch>
            <a:fillRect/>
          </a:stretch>
        </p:blipFill>
        <p:spPr bwMode="auto">
          <a:xfrm>
            <a:off x="1368294" y="1600200"/>
            <a:ext cx="6407412" cy="4525963"/>
          </a:xfrm>
          <a:prstGeom prst="rect">
            <a:avLst/>
          </a:prstGeom>
          <a:noFill/>
          <a:ln w="9525">
            <a:noFill/>
            <a:miter lim="800000"/>
            <a:headEnd/>
            <a:tailEnd/>
          </a:ln>
        </p:spPr>
      </p:pic>
      <p:sp>
        <p:nvSpPr>
          <p:cNvPr id="3" name="Rectangle 2"/>
          <p:cNvSpPr/>
          <p:nvPr/>
        </p:nvSpPr>
        <p:spPr>
          <a:xfrm>
            <a:off x="2729668" y="693683"/>
            <a:ext cx="3028393" cy="830997"/>
          </a:xfrm>
          <a:prstGeom prst="rect">
            <a:avLst/>
          </a:prstGeom>
        </p:spPr>
        <p:txBody>
          <a:bodyPr wrap="none">
            <a:spAutoFit/>
          </a:bodyPr>
          <a:lstStyle/>
          <a:p>
            <a:r>
              <a:rPr lang="en-GB" sz="4800" b="1" dirty="0">
                <a:solidFill>
                  <a:srgbClr val="008000"/>
                </a:solidFill>
              </a:rPr>
              <a:t>Consider….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5931" y="409904"/>
            <a:ext cx="7252138" cy="5139869"/>
          </a:xfrm>
          <a:prstGeom prst="rect">
            <a:avLst/>
          </a:prstGeom>
        </p:spPr>
        <p:txBody>
          <a:bodyPr wrap="square">
            <a:spAutoFit/>
          </a:bodyPr>
          <a:lstStyle/>
          <a:p>
            <a:r>
              <a:rPr lang="en-GB" sz="4000" b="1" dirty="0">
                <a:solidFill>
                  <a:srgbClr val="C00000"/>
                </a:solidFill>
              </a:rPr>
              <a:t>Formative Assessment is…</a:t>
            </a:r>
          </a:p>
          <a:p>
            <a:r>
              <a:rPr lang="en-GB" sz="2400" dirty="0">
                <a:solidFill>
                  <a:srgbClr val="C00000"/>
                </a:solidFill>
              </a:rPr>
              <a:t>A process of accumulating information about a pupil’s progress to help make instructional decisions that will improve his/her understandings and achievement levels.</a:t>
            </a:r>
          </a:p>
          <a:p>
            <a:endParaRPr lang="en-GB" sz="2400" dirty="0">
              <a:solidFill>
                <a:srgbClr val="C00000"/>
              </a:solidFill>
            </a:endParaRPr>
          </a:p>
          <a:p>
            <a:r>
              <a:rPr lang="en-GB" sz="2400" dirty="0">
                <a:solidFill>
                  <a:srgbClr val="C00000"/>
                </a:solidFill>
              </a:rPr>
              <a:t>• Depicts pupil’s life as a learner </a:t>
            </a:r>
          </a:p>
          <a:p>
            <a:r>
              <a:rPr lang="en-GB" sz="2400" dirty="0">
                <a:solidFill>
                  <a:srgbClr val="C00000"/>
                </a:solidFill>
              </a:rPr>
              <a:t>• used to make instructional adjustments </a:t>
            </a:r>
          </a:p>
          <a:p>
            <a:r>
              <a:rPr lang="en-GB" sz="2400" dirty="0">
                <a:solidFill>
                  <a:srgbClr val="C00000"/>
                </a:solidFill>
              </a:rPr>
              <a:t>• alerts the teacher about pupil misconceptions  “ early warning signal” </a:t>
            </a:r>
          </a:p>
          <a:p>
            <a:r>
              <a:rPr lang="en-GB" sz="2400" dirty="0">
                <a:solidFill>
                  <a:srgbClr val="C00000"/>
                </a:solidFill>
              </a:rPr>
              <a:t>• allows pupils to build on previous experiences </a:t>
            </a:r>
          </a:p>
          <a:p>
            <a:r>
              <a:rPr lang="en-GB" sz="2400" dirty="0">
                <a:solidFill>
                  <a:srgbClr val="C00000"/>
                </a:solidFill>
              </a:rPr>
              <a:t>• provides regular feedback </a:t>
            </a:r>
          </a:p>
          <a:p>
            <a:r>
              <a:rPr lang="en-GB" sz="2400" dirty="0">
                <a:solidFill>
                  <a:srgbClr val="C00000"/>
                </a:solidFill>
              </a:rPr>
              <a:t>• provides evidence of progress </a:t>
            </a:r>
          </a:p>
          <a:p>
            <a:r>
              <a:rPr lang="en-GB" sz="2400" dirty="0">
                <a:solidFill>
                  <a:srgbClr val="C00000"/>
                </a:solidFill>
              </a:rPr>
              <a:t>• aligns with instructional/curricular outcomes</a:t>
            </a:r>
          </a:p>
        </p:txBody>
      </p:sp>
      <p:pic>
        <p:nvPicPr>
          <p:cNvPr id="2050" name="Picture 2" descr="C:\Users\Clair\AppData\Local\Microsoft\Windows\INetCache\IE\RABPRE7S\assessment_in[1].jpg"/>
          <p:cNvPicPr>
            <a:picLocks noChangeAspect="1" noChangeArrowheads="1"/>
          </p:cNvPicPr>
          <p:nvPr/>
        </p:nvPicPr>
        <p:blipFill>
          <a:blip r:embed="rId2"/>
          <a:srcRect/>
          <a:stretch>
            <a:fillRect/>
          </a:stretch>
        </p:blipFill>
        <p:spPr bwMode="auto">
          <a:xfrm>
            <a:off x="549851" y="5329055"/>
            <a:ext cx="1436604" cy="1308227"/>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Image result for KWL grid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624" y="1284864"/>
            <a:ext cx="6552728" cy="488044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850855" y="504497"/>
            <a:ext cx="2373407" cy="707886"/>
          </a:xfrm>
          <a:prstGeom prst="rect">
            <a:avLst/>
          </a:prstGeom>
        </p:spPr>
        <p:txBody>
          <a:bodyPr wrap="none">
            <a:spAutoFit/>
          </a:bodyPr>
          <a:lstStyle/>
          <a:p>
            <a:pPr algn="ctr"/>
            <a:r>
              <a:rPr lang="en-GB" sz="4000" b="1" dirty="0">
                <a:latin typeface="+mj-lt"/>
              </a:rPr>
              <a:t>KWL Grids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0262" y="1"/>
            <a:ext cx="8040414" cy="6432530"/>
          </a:xfrm>
          <a:prstGeom prst="rect">
            <a:avLst/>
          </a:prstGeom>
        </p:spPr>
        <p:txBody>
          <a:bodyPr wrap="square">
            <a:spAutoFit/>
          </a:bodyPr>
          <a:lstStyle/>
          <a:p>
            <a:r>
              <a:rPr lang="en-GB" sz="3600" b="1" dirty="0">
                <a:solidFill>
                  <a:schemeClr val="tx2">
                    <a:lumMod val="75000"/>
                  </a:schemeClr>
                </a:solidFill>
              </a:rPr>
              <a:t>Some examples of pre-assessment and formative assessment techniques</a:t>
            </a:r>
          </a:p>
          <a:p>
            <a:r>
              <a:rPr lang="en-GB" sz="2000" dirty="0">
                <a:solidFill>
                  <a:schemeClr val="tx2">
                    <a:lumMod val="75000"/>
                  </a:schemeClr>
                </a:solidFill>
              </a:rPr>
              <a:t>Teacher prepared pre-tests </a:t>
            </a:r>
          </a:p>
          <a:p>
            <a:r>
              <a:rPr lang="en-GB" sz="2000" dirty="0">
                <a:solidFill>
                  <a:schemeClr val="tx2">
                    <a:lumMod val="75000"/>
                  </a:schemeClr>
                </a:solidFill>
              </a:rPr>
              <a:t>KWL charts and other graphic organisers </a:t>
            </a:r>
          </a:p>
          <a:p>
            <a:r>
              <a:rPr lang="en-GB" sz="2000" dirty="0">
                <a:solidFill>
                  <a:schemeClr val="tx2">
                    <a:lumMod val="75000"/>
                  </a:schemeClr>
                </a:solidFill>
              </a:rPr>
              <a:t>Writing prompts/samples </a:t>
            </a:r>
          </a:p>
          <a:p>
            <a:r>
              <a:rPr lang="en-GB" sz="2000" dirty="0">
                <a:solidFill>
                  <a:schemeClr val="tx2">
                    <a:lumMod val="75000"/>
                  </a:schemeClr>
                </a:solidFill>
              </a:rPr>
              <a:t>Questioning </a:t>
            </a:r>
          </a:p>
          <a:p>
            <a:r>
              <a:rPr lang="en-GB" sz="2000" dirty="0">
                <a:solidFill>
                  <a:schemeClr val="tx2">
                    <a:lumMod val="75000"/>
                  </a:schemeClr>
                </a:solidFill>
              </a:rPr>
              <a:t>Guess Box </a:t>
            </a:r>
          </a:p>
          <a:p>
            <a:r>
              <a:rPr lang="en-GB" sz="2000" dirty="0">
                <a:solidFill>
                  <a:schemeClr val="tx2">
                    <a:lumMod val="75000"/>
                  </a:schemeClr>
                </a:solidFill>
              </a:rPr>
              <a:t>Picture Interpretation </a:t>
            </a:r>
          </a:p>
          <a:p>
            <a:r>
              <a:rPr lang="en-GB" sz="2000" dirty="0">
                <a:solidFill>
                  <a:schemeClr val="tx2">
                    <a:lumMod val="75000"/>
                  </a:schemeClr>
                </a:solidFill>
              </a:rPr>
              <a:t>Prediction </a:t>
            </a:r>
          </a:p>
          <a:p>
            <a:r>
              <a:rPr lang="en-GB" sz="2000" dirty="0">
                <a:solidFill>
                  <a:schemeClr val="tx2">
                    <a:lumMod val="75000"/>
                  </a:schemeClr>
                </a:solidFill>
              </a:rPr>
              <a:t>Teacher observation/checklists pupil demonstrations and discussions </a:t>
            </a:r>
          </a:p>
          <a:p>
            <a:r>
              <a:rPr lang="en-GB" sz="2000" dirty="0">
                <a:solidFill>
                  <a:schemeClr val="tx2">
                    <a:lumMod val="75000"/>
                  </a:schemeClr>
                </a:solidFill>
              </a:rPr>
              <a:t>Initiating activities </a:t>
            </a:r>
          </a:p>
          <a:p>
            <a:r>
              <a:rPr lang="en-GB" sz="2000" dirty="0">
                <a:solidFill>
                  <a:schemeClr val="tx2">
                    <a:lumMod val="75000"/>
                  </a:schemeClr>
                </a:solidFill>
              </a:rPr>
              <a:t>Informational surveys/Questionnaires/Inventories pupil interviews pupil products and work samples </a:t>
            </a:r>
          </a:p>
          <a:p>
            <a:r>
              <a:rPr lang="en-GB" sz="2000" dirty="0">
                <a:solidFill>
                  <a:schemeClr val="tx2">
                    <a:lumMod val="75000"/>
                  </a:schemeClr>
                </a:solidFill>
              </a:rPr>
              <a:t>Self-evaluations </a:t>
            </a:r>
          </a:p>
          <a:p>
            <a:r>
              <a:rPr lang="en-GB" sz="2000" dirty="0">
                <a:solidFill>
                  <a:schemeClr val="tx2">
                    <a:lumMod val="75000"/>
                  </a:schemeClr>
                </a:solidFill>
              </a:rPr>
              <a:t>Portfolio analysis  (EYFS)</a:t>
            </a:r>
          </a:p>
          <a:p>
            <a:r>
              <a:rPr lang="en-GB" sz="2000" dirty="0">
                <a:solidFill>
                  <a:schemeClr val="tx2">
                    <a:lumMod val="75000"/>
                  </a:schemeClr>
                </a:solidFill>
              </a:rPr>
              <a:t>Game activities </a:t>
            </a:r>
          </a:p>
          <a:p>
            <a:r>
              <a:rPr lang="en-GB" sz="2000" dirty="0">
                <a:solidFill>
                  <a:schemeClr val="tx2">
                    <a:lumMod val="75000"/>
                  </a:schemeClr>
                </a:solidFill>
              </a:rPr>
              <a:t>Show of hands to determine understanding </a:t>
            </a:r>
          </a:p>
          <a:p>
            <a:r>
              <a:rPr lang="en-GB" sz="2000" dirty="0">
                <a:solidFill>
                  <a:schemeClr val="tx2">
                    <a:lumMod val="75000"/>
                  </a:schemeClr>
                </a:solidFill>
              </a:rPr>
              <a:t>Drawing related to topic or content </a:t>
            </a:r>
          </a:p>
          <a:p>
            <a:r>
              <a:rPr lang="en-GB" sz="2000" dirty="0">
                <a:solidFill>
                  <a:schemeClr val="tx2">
                    <a:lumMod val="75000"/>
                  </a:schemeClr>
                </a:solidFill>
              </a:rPr>
              <a:t>Standardised test information </a:t>
            </a:r>
          </a:p>
        </p:txBody>
      </p:sp>
      <p:pic>
        <p:nvPicPr>
          <p:cNvPr id="3" name="Picture 2" descr="C:\Users\Clair\AppData\Local\Microsoft\Windows\INetCache\IE\RABPRE7S\assessment_in[1].jpg"/>
          <p:cNvPicPr>
            <a:picLocks noChangeAspect="1" noChangeArrowheads="1"/>
          </p:cNvPicPr>
          <p:nvPr/>
        </p:nvPicPr>
        <p:blipFill>
          <a:blip r:embed="rId2"/>
          <a:srcRect/>
          <a:stretch>
            <a:fillRect/>
          </a:stretch>
        </p:blipFill>
        <p:spPr bwMode="auto">
          <a:xfrm>
            <a:off x="5171089" y="1576862"/>
            <a:ext cx="1436604" cy="1308227"/>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71145" y="677917"/>
            <a:ext cx="5470634" cy="4708981"/>
          </a:xfrm>
          <a:prstGeom prst="rect">
            <a:avLst/>
          </a:prstGeom>
          <a:noFill/>
        </p:spPr>
        <p:txBody>
          <a:bodyPr wrap="square" rtlCol="0">
            <a:spAutoFit/>
          </a:bodyPr>
          <a:lstStyle/>
          <a:p>
            <a:pPr algn="ctr"/>
            <a:endParaRPr lang="en-GB" sz="6000" b="1" dirty="0"/>
          </a:p>
          <a:p>
            <a:pPr algn="ctr"/>
            <a:r>
              <a:rPr lang="en-GB" sz="6000" b="1" dirty="0"/>
              <a:t>HOW?</a:t>
            </a:r>
          </a:p>
          <a:p>
            <a:pPr algn="ctr"/>
            <a:endParaRPr lang="en-GB" sz="6000" b="1" dirty="0"/>
          </a:p>
          <a:p>
            <a:pPr algn="ctr"/>
            <a:r>
              <a:rPr lang="en-GB" sz="6000" b="1" dirty="0"/>
              <a:t>Planning &amp; Doing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29788" y="725214"/>
            <a:ext cx="4684424" cy="707886"/>
          </a:xfrm>
          <a:prstGeom prst="rect">
            <a:avLst/>
          </a:prstGeom>
        </p:spPr>
        <p:txBody>
          <a:bodyPr wrap="none">
            <a:spAutoFit/>
          </a:bodyPr>
          <a:lstStyle/>
          <a:p>
            <a:pPr algn="ctr">
              <a:spcBef>
                <a:spcPct val="50000"/>
              </a:spcBef>
            </a:pPr>
            <a:r>
              <a:rPr lang="en-GB" altLang="en-US" sz="4000" b="1" dirty="0">
                <a:solidFill>
                  <a:schemeClr val="tx1">
                    <a:lumMod val="85000"/>
                    <a:lumOff val="15000"/>
                  </a:schemeClr>
                </a:solidFill>
                <a:latin typeface="+mj-lt"/>
              </a:rPr>
              <a:t>High quality teaching</a:t>
            </a:r>
          </a:p>
        </p:txBody>
      </p:sp>
      <p:sp>
        <p:nvSpPr>
          <p:cNvPr id="3" name="Rectangle 2"/>
          <p:cNvSpPr/>
          <p:nvPr/>
        </p:nvSpPr>
        <p:spPr>
          <a:xfrm>
            <a:off x="1026680" y="1434662"/>
            <a:ext cx="6997967" cy="4524315"/>
          </a:xfrm>
          <a:prstGeom prst="rect">
            <a:avLst/>
          </a:prstGeom>
        </p:spPr>
        <p:txBody>
          <a:bodyPr wrap="square">
            <a:spAutoFit/>
          </a:bodyPr>
          <a:lstStyle/>
          <a:p>
            <a:r>
              <a:rPr lang="en-GB" sz="3200" dirty="0">
                <a:solidFill>
                  <a:schemeClr val="tx1">
                    <a:lumMod val="65000"/>
                    <a:lumOff val="35000"/>
                  </a:schemeClr>
                </a:solidFill>
              </a:rPr>
              <a:t>High quality teaching, differentiated for individual pupils:</a:t>
            </a:r>
          </a:p>
          <a:p>
            <a:endParaRPr lang="en-GB" sz="3200" dirty="0">
              <a:solidFill>
                <a:schemeClr val="tx1">
                  <a:lumMod val="65000"/>
                  <a:lumOff val="35000"/>
                </a:schemeClr>
              </a:solidFill>
            </a:endParaRPr>
          </a:p>
          <a:p>
            <a:r>
              <a:rPr lang="en-GB" sz="3200" b="1" dirty="0">
                <a:solidFill>
                  <a:schemeClr val="tx1">
                    <a:lumMod val="65000"/>
                    <a:lumOff val="35000"/>
                  </a:schemeClr>
                </a:solidFill>
              </a:rPr>
              <a:t>Task</a:t>
            </a:r>
          </a:p>
          <a:p>
            <a:r>
              <a:rPr lang="en-GB" sz="3200" b="1" dirty="0">
                <a:solidFill>
                  <a:schemeClr val="tx1">
                    <a:lumMod val="65000"/>
                    <a:lumOff val="35000"/>
                  </a:schemeClr>
                </a:solidFill>
              </a:rPr>
              <a:t>Grouping</a:t>
            </a:r>
          </a:p>
          <a:p>
            <a:r>
              <a:rPr lang="en-GB" sz="3200" b="1" dirty="0">
                <a:solidFill>
                  <a:schemeClr val="tx1">
                    <a:lumMod val="65000"/>
                    <a:lumOff val="35000"/>
                  </a:schemeClr>
                </a:solidFill>
              </a:rPr>
              <a:t>Pace</a:t>
            </a:r>
          </a:p>
          <a:p>
            <a:r>
              <a:rPr lang="en-GB" sz="3200" b="1" dirty="0">
                <a:solidFill>
                  <a:schemeClr val="tx1">
                    <a:lumMod val="65000"/>
                    <a:lumOff val="35000"/>
                  </a:schemeClr>
                </a:solidFill>
              </a:rPr>
              <a:t>Resources</a:t>
            </a:r>
          </a:p>
          <a:p>
            <a:r>
              <a:rPr lang="en-GB" sz="3200" b="1" dirty="0">
                <a:solidFill>
                  <a:schemeClr val="tx1">
                    <a:lumMod val="65000"/>
                    <a:lumOff val="35000"/>
                  </a:schemeClr>
                </a:solidFill>
              </a:rPr>
              <a:t>Support</a:t>
            </a:r>
          </a:p>
          <a:p>
            <a:r>
              <a:rPr lang="en-GB" sz="3200" b="1" dirty="0">
                <a:solidFill>
                  <a:schemeClr val="tx1">
                    <a:lumMod val="65000"/>
                    <a:lumOff val="35000"/>
                  </a:schemeClr>
                </a:solidFill>
              </a:rPr>
              <a:t>Outcome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87819" y="536028"/>
            <a:ext cx="7047187" cy="5509200"/>
          </a:xfrm>
          <a:prstGeom prst="rect">
            <a:avLst/>
          </a:prstGeom>
        </p:spPr>
        <p:txBody>
          <a:bodyPr wrap="square">
            <a:spAutoFit/>
          </a:bodyPr>
          <a:lstStyle/>
          <a:p>
            <a:endParaRPr lang="en-GB" sz="3600" dirty="0">
              <a:solidFill>
                <a:schemeClr val="bg2">
                  <a:lumMod val="50000"/>
                </a:schemeClr>
              </a:solidFill>
              <a:latin typeface="+mj-lt"/>
            </a:endParaRPr>
          </a:p>
          <a:p>
            <a:endParaRPr lang="en-GB" sz="3600" dirty="0">
              <a:solidFill>
                <a:schemeClr val="bg2">
                  <a:lumMod val="50000"/>
                </a:schemeClr>
              </a:solidFill>
              <a:latin typeface="+mj-lt"/>
            </a:endParaRPr>
          </a:p>
          <a:p>
            <a:r>
              <a:rPr lang="en-GB" sz="4000" b="1" dirty="0">
                <a:solidFill>
                  <a:schemeClr val="bg2">
                    <a:lumMod val="50000"/>
                  </a:schemeClr>
                </a:solidFill>
                <a:latin typeface="+mj-lt"/>
              </a:rPr>
              <a:t>What is task differentiation?</a:t>
            </a:r>
            <a:br>
              <a:rPr lang="en-GB" sz="4000" b="1" dirty="0">
                <a:latin typeface="+mj-lt"/>
              </a:rPr>
            </a:br>
            <a:br>
              <a:rPr lang="en-GB" sz="4000" b="1" dirty="0">
                <a:latin typeface="+mj-lt"/>
              </a:rPr>
            </a:br>
            <a:r>
              <a:rPr lang="en-GB" sz="4000" b="1" dirty="0">
                <a:solidFill>
                  <a:srgbClr val="833F8C"/>
                </a:solidFill>
                <a:latin typeface="+mj-lt"/>
              </a:rPr>
              <a:t>What might some of the  difficulties be?</a:t>
            </a:r>
            <a:br>
              <a:rPr lang="en-GB" sz="4000" b="1" dirty="0">
                <a:latin typeface="+mj-lt"/>
              </a:rPr>
            </a:br>
            <a:br>
              <a:rPr lang="en-GB" sz="4000" b="1" dirty="0">
                <a:latin typeface="+mj-lt"/>
              </a:rPr>
            </a:br>
            <a:r>
              <a:rPr lang="en-GB" sz="4000" b="1" dirty="0">
                <a:solidFill>
                  <a:schemeClr val="bg2">
                    <a:lumMod val="25000"/>
                  </a:schemeClr>
                </a:solidFill>
                <a:latin typeface="+mj-lt"/>
              </a:rPr>
              <a:t>Ideas to make it more manageable?</a:t>
            </a:r>
            <a:endParaRPr lang="en-GB" sz="4000" b="1" dirty="0">
              <a:latin typeface="+mj-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6745" y="614856"/>
            <a:ext cx="7693572" cy="4031873"/>
          </a:xfrm>
          <a:prstGeom prst="rect">
            <a:avLst/>
          </a:prstGeom>
        </p:spPr>
        <p:txBody>
          <a:bodyPr wrap="square">
            <a:spAutoFit/>
          </a:bodyPr>
          <a:lstStyle/>
          <a:p>
            <a:r>
              <a:rPr lang="en-GB" sz="4000" b="1" dirty="0">
                <a:solidFill>
                  <a:schemeClr val="tx2">
                    <a:lumMod val="75000"/>
                  </a:schemeClr>
                </a:solidFill>
              </a:rPr>
              <a:t>RAFT </a:t>
            </a:r>
          </a:p>
          <a:p>
            <a:r>
              <a:rPr lang="en-GB" sz="2400" dirty="0">
                <a:solidFill>
                  <a:srgbClr val="0070C0"/>
                </a:solidFill>
              </a:rPr>
              <a:t>RAFT is an acronym that stands for </a:t>
            </a:r>
            <a:r>
              <a:rPr lang="en-GB" sz="2400" b="1" dirty="0">
                <a:solidFill>
                  <a:srgbClr val="0070C0"/>
                </a:solidFill>
              </a:rPr>
              <a:t>Role</a:t>
            </a:r>
            <a:r>
              <a:rPr lang="en-GB" sz="2400" dirty="0">
                <a:solidFill>
                  <a:srgbClr val="0070C0"/>
                </a:solidFill>
              </a:rPr>
              <a:t> of the pupil.  What is the pupil’s role:  reporter, observer, eyewitness, object? </a:t>
            </a:r>
            <a:r>
              <a:rPr lang="en-GB" sz="2400" b="1" dirty="0">
                <a:solidFill>
                  <a:srgbClr val="0070C0"/>
                </a:solidFill>
              </a:rPr>
              <a:t>Audience.  </a:t>
            </a:r>
            <a:r>
              <a:rPr lang="en-GB" sz="2400" dirty="0">
                <a:solidFill>
                  <a:srgbClr val="0070C0"/>
                </a:solidFill>
              </a:rPr>
              <a:t>Who will be addressed by this raft:  the teacher, other pupils, a parent, people in the community, an editor, another object? </a:t>
            </a:r>
            <a:r>
              <a:rPr lang="en-GB" sz="2400" b="1" dirty="0">
                <a:solidFill>
                  <a:srgbClr val="0070C0"/>
                </a:solidFill>
              </a:rPr>
              <a:t>Format.  </a:t>
            </a:r>
            <a:r>
              <a:rPr lang="en-GB" sz="2400" dirty="0">
                <a:solidFill>
                  <a:srgbClr val="0070C0"/>
                </a:solidFill>
              </a:rPr>
              <a:t>What is the best way to present this information:  in a letter, an article, a report, a poem, a monologue, a picture, a song? </a:t>
            </a:r>
            <a:r>
              <a:rPr lang="en-GB" sz="2400" b="1" dirty="0">
                <a:solidFill>
                  <a:srgbClr val="0070C0"/>
                </a:solidFill>
              </a:rPr>
              <a:t>Topic.  </a:t>
            </a:r>
            <a:r>
              <a:rPr lang="en-GB" sz="2400" dirty="0">
                <a:solidFill>
                  <a:srgbClr val="0070C0"/>
                </a:solidFill>
              </a:rPr>
              <a:t>Who or what is the subject of this writing:  a famous mathematician, a prehistoric cave dweller, a reaction to a specific event?</a:t>
            </a:r>
          </a:p>
        </p:txBody>
      </p:sp>
      <p:pic>
        <p:nvPicPr>
          <p:cNvPr id="3074" name="Picture 2" descr="C:\Users\Clair\AppData\Local\Microsoft\Windows\INetCache\IE\9ZP0XFER\200px-Raft_KH[1].png"/>
          <p:cNvPicPr>
            <a:picLocks noChangeAspect="1" noChangeArrowheads="1"/>
          </p:cNvPicPr>
          <p:nvPr/>
        </p:nvPicPr>
        <p:blipFill>
          <a:blip r:embed="rId3"/>
          <a:srcRect/>
          <a:stretch>
            <a:fillRect/>
          </a:stretch>
        </p:blipFill>
        <p:spPr bwMode="auto">
          <a:xfrm>
            <a:off x="2666230" y="4646729"/>
            <a:ext cx="1905770" cy="2153520"/>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7559" y="536028"/>
            <a:ext cx="5517931" cy="5262979"/>
          </a:xfrm>
          <a:prstGeom prst="rect">
            <a:avLst/>
          </a:prstGeom>
          <a:noFill/>
        </p:spPr>
        <p:txBody>
          <a:bodyPr wrap="square" rtlCol="0">
            <a:spAutoFit/>
          </a:bodyPr>
          <a:lstStyle/>
          <a:p>
            <a:r>
              <a:rPr lang="en-GB" sz="4800" b="1" dirty="0">
                <a:solidFill>
                  <a:srgbClr val="CC3399"/>
                </a:solidFill>
              </a:rPr>
              <a:t>Concept Menu</a:t>
            </a:r>
          </a:p>
          <a:p>
            <a:endParaRPr lang="en-GB" sz="4800" b="1" dirty="0">
              <a:solidFill>
                <a:srgbClr val="CC3399"/>
              </a:solidFill>
            </a:endParaRPr>
          </a:p>
          <a:p>
            <a:endParaRPr lang="en-GB" sz="4800" b="1" dirty="0">
              <a:solidFill>
                <a:srgbClr val="CC3399"/>
              </a:solidFill>
            </a:endParaRPr>
          </a:p>
          <a:p>
            <a:r>
              <a:rPr lang="en-GB" sz="4800" b="1" dirty="0">
                <a:solidFill>
                  <a:srgbClr val="CC3399"/>
                </a:solidFill>
              </a:rPr>
              <a:t>Think-Tac-Toe</a:t>
            </a:r>
          </a:p>
          <a:p>
            <a:endParaRPr lang="en-GB" sz="4800" b="1" dirty="0">
              <a:solidFill>
                <a:srgbClr val="CC3399"/>
              </a:solidFill>
            </a:endParaRPr>
          </a:p>
          <a:p>
            <a:endParaRPr lang="en-GB" sz="4800" b="1" dirty="0">
              <a:solidFill>
                <a:srgbClr val="CC3399"/>
              </a:solidFill>
            </a:endParaRPr>
          </a:p>
          <a:p>
            <a:r>
              <a:rPr lang="en-GB" sz="4800" b="1" dirty="0">
                <a:solidFill>
                  <a:srgbClr val="CC3399"/>
                </a:solidFill>
              </a:rPr>
              <a:t>Learning Contract</a:t>
            </a:r>
          </a:p>
        </p:txBody>
      </p:sp>
      <p:pic>
        <p:nvPicPr>
          <p:cNvPr id="5124" name="Picture 4" descr="C:\Users\Clair\AppData\Local\Microsoft\Windows\INetCache\IE\UE55AERD\0511-0809-0703-4604_Signing_a_Contract_Clip_Art_clipart_image[1].jpg"/>
          <p:cNvPicPr>
            <a:picLocks noChangeAspect="1" noChangeArrowheads="1"/>
          </p:cNvPicPr>
          <p:nvPr/>
        </p:nvPicPr>
        <p:blipFill>
          <a:blip r:embed="rId3"/>
          <a:srcRect/>
          <a:stretch>
            <a:fillRect/>
          </a:stretch>
        </p:blipFill>
        <p:spPr bwMode="auto">
          <a:xfrm>
            <a:off x="6311558" y="4497253"/>
            <a:ext cx="2233352" cy="2220589"/>
          </a:xfrm>
          <a:prstGeom prst="rect">
            <a:avLst/>
          </a:prstGeom>
          <a:noFill/>
        </p:spPr>
      </p:pic>
      <p:pic>
        <p:nvPicPr>
          <p:cNvPr id="5125" name="Picture 5" descr="C:\Users\Clair\AppData\Local\Microsoft\Windows\INetCache\IE\9ZP0XFER\smash_maidcafe_menu_by_hehalana[1].jpg"/>
          <p:cNvPicPr>
            <a:picLocks noChangeAspect="1" noChangeArrowheads="1"/>
          </p:cNvPicPr>
          <p:nvPr/>
        </p:nvPicPr>
        <p:blipFill>
          <a:blip r:embed="rId4"/>
          <a:srcRect/>
          <a:stretch>
            <a:fillRect/>
          </a:stretch>
        </p:blipFill>
        <p:spPr bwMode="auto">
          <a:xfrm>
            <a:off x="6085490" y="239015"/>
            <a:ext cx="2858814" cy="2017986"/>
          </a:xfrm>
          <a:prstGeom prst="rect">
            <a:avLst/>
          </a:prstGeom>
          <a:noFill/>
        </p:spPr>
      </p:pic>
      <p:pic>
        <p:nvPicPr>
          <p:cNvPr id="5126" name="Picture 6" descr="C:\Users\Clair\AppData\Local\Microsoft\Windows\INetCache\IE\UE55AERD\unbranded-magnetic-tic-tac-toe[1].jpg"/>
          <p:cNvPicPr>
            <a:picLocks noChangeAspect="1" noChangeArrowheads="1"/>
          </p:cNvPicPr>
          <p:nvPr/>
        </p:nvPicPr>
        <p:blipFill>
          <a:blip r:embed="rId5"/>
          <a:srcRect/>
          <a:stretch>
            <a:fillRect/>
          </a:stretch>
        </p:blipFill>
        <p:spPr bwMode="auto">
          <a:xfrm>
            <a:off x="4497114" y="2257001"/>
            <a:ext cx="2550072" cy="230451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5310" y="220717"/>
            <a:ext cx="8576441" cy="6309420"/>
          </a:xfrm>
          <a:prstGeom prst="rect">
            <a:avLst/>
          </a:prstGeom>
        </p:spPr>
        <p:txBody>
          <a:bodyPr wrap="square">
            <a:spAutoFit/>
          </a:bodyPr>
          <a:lstStyle/>
          <a:p>
            <a:r>
              <a:rPr lang="en-GB" sz="4000" b="1" dirty="0"/>
              <a:t>Get Creative with Tasks</a:t>
            </a:r>
          </a:p>
          <a:p>
            <a:pPr algn="just"/>
            <a:r>
              <a:rPr lang="en-GB" sz="2800" dirty="0"/>
              <a:t>Map Diagram </a:t>
            </a:r>
            <a:r>
              <a:rPr lang="en-GB" sz="2800" dirty="0">
                <a:solidFill>
                  <a:srgbClr val="0070C0"/>
                </a:solidFill>
              </a:rPr>
              <a:t>Sculpture</a:t>
            </a:r>
            <a:r>
              <a:rPr lang="en-GB" sz="2800" dirty="0"/>
              <a:t> Discussion Demonstration Poem Profile Chart Play Dance Campaign Recording Quiz Show Banner Brochure </a:t>
            </a:r>
            <a:r>
              <a:rPr lang="en-GB" sz="2800" dirty="0">
                <a:solidFill>
                  <a:schemeClr val="accent3">
                    <a:lumMod val="60000"/>
                    <a:lumOff val="40000"/>
                  </a:schemeClr>
                </a:solidFill>
              </a:rPr>
              <a:t>Debate</a:t>
            </a:r>
            <a:r>
              <a:rPr lang="en-GB" sz="2800" dirty="0"/>
              <a:t> Flow Chart </a:t>
            </a:r>
            <a:r>
              <a:rPr lang="en-GB" sz="2800" dirty="0">
                <a:solidFill>
                  <a:schemeClr val="accent5">
                    <a:lumMod val="60000"/>
                    <a:lumOff val="40000"/>
                  </a:schemeClr>
                </a:solidFill>
              </a:rPr>
              <a:t>Puppet Show </a:t>
            </a:r>
            <a:r>
              <a:rPr lang="en-GB" sz="2800" dirty="0"/>
              <a:t>Tour</a:t>
            </a:r>
          </a:p>
          <a:p>
            <a:pPr algn="just"/>
            <a:r>
              <a:rPr lang="en-GB" sz="2800" dirty="0"/>
              <a:t>Presentation Editorial Painting Costume Placement Blueprint Catalogue Dialogue Newspaper </a:t>
            </a:r>
            <a:r>
              <a:rPr lang="en-GB" sz="2800" dirty="0">
                <a:solidFill>
                  <a:schemeClr val="accent6">
                    <a:lumMod val="75000"/>
                  </a:schemeClr>
                </a:solidFill>
              </a:rPr>
              <a:t>Scrapbook</a:t>
            </a:r>
            <a:r>
              <a:rPr lang="en-GB" sz="2800" dirty="0"/>
              <a:t> </a:t>
            </a:r>
            <a:r>
              <a:rPr lang="en-GB" sz="2800" dirty="0">
                <a:solidFill>
                  <a:srgbClr val="F4C239"/>
                </a:solidFill>
              </a:rPr>
              <a:t>Questionnaire</a:t>
            </a:r>
            <a:r>
              <a:rPr lang="en-GB" sz="2800" dirty="0"/>
              <a:t> Flag </a:t>
            </a:r>
            <a:r>
              <a:rPr lang="en-GB" sz="2800" dirty="0">
                <a:solidFill>
                  <a:schemeClr val="accent5">
                    <a:lumMod val="50000"/>
                  </a:schemeClr>
                </a:solidFill>
              </a:rPr>
              <a:t>Scrapbook</a:t>
            </a:r>
            <a:r>
              <a:rPr lang="en-GB" sz="2800" dirty="0"/>
              <a:t> Graph Museum Learning Centre Advertisement Book List </a:t>
            </a:r>
            <a:r>
              <a:rPr lang="en-GB" sz="2800" dirty="0">
                <a:solidFill>
                  <a:schemeClr val="accent2">
                    <a:lumMod val="75000"/>
                  </a:schemeClr>
                </a:solidFill>
              </a:rPr>
              <a:t>Calendar</a:t>
            </a:r>
            <a:r>
              <a:rPr lang="en-GB" sz="2800" dirty="0"/>
              <a:t> Colouring Book Game Research Project TV Show Song </a:t>
            </a:r>
            <a:r>
              <a:rPr lang="en-GB" sz="2800" dirty="0">
                <a:solidFill>
                  <a:schemeClr val="accent1">
                    <a:lumMod val="50000"/>
                  </a:schemeClr>
                </a:solidFill>
              </a:rPr>
              <a:t>Dictionary</a:t>
            </a:r>
            <a:r>
              <a:rPr lang="en-GB" sz="2800" dirty="0"/>
              <a:t> Film Collection Trial Machine Book Mural Award Recipe Test Puzzle Model </a:t>
            </a:r>
            <a:r>
              <a:rPr lang="en-GB" sz="2800" dirty="0">
                <a:solidFill>
                  <a:srgbClr val="FF0000"/>
                </a:solidFill>
              </a:rPr>
              <a:t>Timeline</a:t>
            </a:r>
            <a:r>
              <a:rPr lang="en-GB" sz="2800" dirty="0"/>
              <a:t> Toy Article Diary Poster Magazine Computer Program Photographs Petition Teaching Lesson Prototype Speech Club Cartoon </a:t>
            </a:r>
            <a:r>
              <a:rPr lang="en-GB" sz="2800" dirty="0">
                <a:solidFill>
                  <a:schemeClr val="bg2">
                    <a:lumMod val="50000"/>
                  </a:schemeClr>
                </a:solidFill>
              </a:rPr>
              <a:t>Biography</a:t>
            </a:r>
            <a:r>
              <a:rPr lang="en-GB" sz="2800" dirty="0"/>
              <a:t> Review </a:t>
            </a:r>
            <a:r>
              <a:rPr lang="en-GB" sz="2800" dirty="0">
                <a:solidFill>
                  <a:srgbClr val="C00000"/>
                </a:solidFill>
              </a:rPr>
              <a:t>Invention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0979" y="567559"/>
            <a:ext cx="7630511" cy="4462760"/>
          </a:xfrm>
          <a:prstGeom prst="rect">
            <a:avLst/>
          </a:prstGeom>
        </p:spPr>
        <p:txBody>
          <a:bodyPr wrap="square">
            <a:spAutoFit/>
          </a:bodyPr>
          <a:lstStyle/>
          <a:p>
            <a:r>
              <a:rPr lang="en-GB" sz="4400" b="1" dirty="0">
                <a:solidFill>
                  <a:schemeClr val="bg2">
                    <a:lumMod val="25000"/>
                  </a:schemeClr>
                </a:solidFill>
              </a:rPr>
              <a:t>Flexible Grouping</a:t>
            </a:r>
          </a:p>
          <a:p>
            <a:r>
              <a:rPr lang="en-GB" sz="2400" dirty="0">
                <a:solidFill>
                  <a:schemeClr val="bg2">
                    <a:lumMod val="25000"/>
                  </a:schemeClr>
                </a:solidFill>
              </a:rPr>
              <a:t>Pupils are part of many different groups (and also work alone) based on the match of the task to pupil readiness, interest, or learning   needs. </a:t>
            </a:r>
          </a:p>
          <a:p>
            <a:endParaRPr lang="en-GB" sz="2400" dirty="0">
              <a:solidFill>
                <a:schemeClr val="bg2">
                  <a:lumMod val="25000"/>
                </a:schemeClr>
              </a:solidFill>
            </a:endParaRPr>
          </a:p>
          <a:p>
            <a:r>
              <a:rPr lang="en-GB" sz="2400" dirty="0">
                <a:solidFill>
                  <a:schemeClr val="bg2">
                    <a:lumMod val="25000"/>
                  </a:schemeClr>
                </a:solidFill>
              </a:rPr>
              <a:t>Teachers may create skills based or interest based groups that are heterogeneous   or homogeneous in readiness level. </a:t>
            </a:r>
          </a:p>
          <a:p>
            <a:r>
              <a:rPr lang="en-GB" sz="2400" dirty="0">
                <a:solidFill>
                  <a:schemeClr val="bg2">
                    <a:lumMod val="25000"/>
                  </a:schemeClr>
                </a:solidFill>
              </a:rPr>
              <a:t>Sometimes pupils select work groups, and sometimes teachers select them. Sometimes pupil   group assignments are purposeful and  sometimes random.</a:t>
            </a:r>
          </a:p>
        </p:txBody>
      </p:sp>
      <p:pic>
        <p:nvPicPr>
          <p:cNvPr id="1027" name="Picture 3" descr="C:\Users\Clair\AppData\Local\Microsoft\Windows\INetCache\IE\UE55AERD\PROFES~1[1].PNG"/>
          <p:cNvPicPr>
            <a:picLocks noChangeAspect="1" noChangeArrowheads="1"/>
          </p:cNvPicPr>
          <p:nvPr/>
        </p:nvPicPr>
        <p:blipFill>
          <a:blip r:embed="rId2"/>
          <a:srcRect/>
          <a:stretch>
            <a:fillRect/>
          </a:stretch>
        </p:blipFill>
        <p:spPr bwMode="auto">
          <a:xfrm>
            <a:off x="740979" y="4968764"/>
            <a:ext cx="1235377" cy="1609068"/>
          </a:xfrm>
          <a:prstGeom prst="rect">
            <a:avLst/>
          </a:prstGeom>
          <a:noFill/>
        </p:spPr>
      </p:pic>
      <p:pic>
        <p:nvPicPr>
          <p:cNvPr id="1028" name="Picture 4" descr="C:\Users\Clair\AppData\Local\Microsoft\Windows\INetCache\IE\35SC1DTE\hands-up-color[1].gif"/>
          <p:cNvPicPr>
            <a:picLocks noChangeAspect="1" noChangeArrowheads="1"/>
          </p:cNvPicPr>
          <p:nvPr/>
        </p:nvPicPr>
        <p:blipFill>
          <a:blip r:embed="rId3"/>
          <a:srcRect/>
          <a:stretch>
            <a:fillRect/>
          </a:stretch>
        </p:blipFill>
        <p:spPr bwMode="auto">
          <a:xfrm>
            <a:off x="3628204" y="4968764"/>
            <a:ext cx="1446158" cy="1487477"/>
          </a:xfrm>
          <a:prstGeom prst="rect">
            <a:avLst/>
          </a:prstGeom>
          <a:noFill/>
        </p:spPr>
      </p:pic>
      <p:pic>
        <p:nvPicPr>
          <p:cNvPr id="1029" name="Picture 5" descr="C:\Users\Clair\AppData\Local\Microsoft\Windows\INetCache\IE\RABPRE7S\smiling-face-of-a-child-2[1].png"/>
          <p:cNvPicPr>
            <a:picLocks noChangeAspect="1" noChangeArrowheads="1"/>
          </p:cNvPicPr>
          <p:nvPr/>
        </p:nvPicPr>
        <p:blipFill>
          <a:blip r:embed="rId4"/>
          <a:srcRect/>
          <a:stretch>
            <a:fillRect/>
          </a:stretch>
        </p:blipFill>
        <p:spPr bwMode="auto">
          <a:xfrm>
            <a:off x="6530020" y="4968764"/>
            <a:ext cx="1287542" cy="1287542"/>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19353" y="1652310"/>
            <a:ext cx="6873764" cy="4154984"/>
          </a:xfrm>
          <a:prstGeom prst="rect">
            <a:avLst/>
          </a:prstGeom>
        </p:spPr>
        <p:txBody>
          <a:bodyPr wrap="square">
            <a:spAutoFit/>
          </a:bodyPr>
          <a:lstStyle/>
          <a:p>
            <a:pPr algn="just"/>
            <a:r>
              <a:rPr lang="en-GB" sz="2800" dirty="0">
                <a:solidFill>
                  <a:srgbClr val="833F8C"/>
                </a:solidFill>
              </a:rPr>
              <a:t>Small, mixed-ability groups allow lower achievers to take advantage of peer support whilst higher achievers gain the opportunity to organise and voice their thoughts for the benefit of the whole group </a:t>
            </a:r>
          </a:p>
          <a:p>
            <a:pPr algn="just"/>
            <a:r>
              <a:rPr lang="en-GB" sz="2800" dirty="0">
                <a:solidFill>
                  <a:srgbClr val="833F8C"/>
                </a:solidFill>
              </a:rPr>
              <a:t>( peer modelling). </a:t>
            </a:r>
          </a:p>
          <a:p>
            <a:pPr algn="just"/>
            <a:endParaRPr lang="en-GB" sz="1200" dirty="0">
              <a:solidFill>
                <a:srgbClr val="833F8C"/>
              </a:solidFill>
            </a:endParaRPr>
          </a:p>
          <a:p>
            <a:pPr algn="just"/>
            <a:r>
              <a:rPr lang="en-GB" sz="2800" dirty="0">
                <a:solidFill>
                  <a:srgbClr val="833F8C"/>
                </a:solidFill>
              </a:rPr>
              <a:t>Grouping also allows roles to be allocated within the team which cater for each member’s skill set and learning needs.</a:t>
            </a:r>
          </a:p>
        </p:txBody>
      </p:sp>
      <p:sp>
        <p:nvSpPr>
          <p:cNvPr id="3" name="Rectangle 2"/>
          <p:cNvSpPr/>
          <p:nvPr/>
        </p:nvSpPr>
        <p:spPr>
          <a:xfrm>
            <a:off x="2987719" y="498148"/>
            <a:ext cx="2552815" cy="830997"/>
          </a:xfrm>
          <a:prstGeom prst="rect">
            <a:avLst/>
          </a:prstGeom>
        </p:spPr>
        <p:txBody>
          <a:bodyPr wrap="none">
            <a:spAutoFit/>
          </a:bodyPr>
          <a:lstStyle/>
          <a:p>
            <a:r>
              <a:rPr lang="en-GB" sz="4800" b="1" dirty="0">
                <a:solidFill>
                  <a:schemeClr val="accent4">
                    <a:lumMod val="75000"/>
                  </a:schemeClr>
                </a:solidFill>
                <a:latin typeface="+mj-lt"/>
              </a:rPr>
              <a:t>Grouping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46621" y="3244334"/>
            <a:ext cx="4650761" cy="707886"/>
          </a:xfrm>
          <a:prstGeom prst="rect">
            <a:avLst/>
          </a:prstGeom>
        </p:spPr>
        <p:txBody>
          <a:bodyPr wrap="none">
            <a:spAutoFit/>
          </a:bodyPr>
          <a:lstStyle/>
          <a:p>
            <a:pPr algn="ctr"/>
            <a:r>
              <a:rPr lang="en-GB" sz="4000" dirty="0">
                <a:solidFill>
                  <a:schemeClr val="accent3">
                    <a:lumMod val="75000"/>
                  </a:schemeClr>
                </a:solidFill>
              </a:rPr>
              <a:t>How is this achieved?</a:t>
            </a:r>
          </a:p>
        </p:txBody>
      </p:sp>
      <p:sp>
        <p:nvSpPr>
          <p:cNvPr id="3" name="Rectangle 2"/>
          <p:cNvSpPr/>
          <p:nvPr/>
        </p:nvSpPr>
        <p:spPr>
          <a:xfrm>
            <a:off x="3405353" y="1418897"/>
            <a:ext cx="2051024" cy="1107996"/>
          </a:xfrm>
          <a:prstGeom prst="rect">
            <a:avLst/>
          </a:prstGeom>
        </p:spPr>
        <p:txBody>
          <a:bodyPr wrap="square">
            <a:spAutoFit/>
          </a:bodyPr>
          <a:lstStyle/>
          <a:p>
            <a:pPr algn="ctr"/>
            <a:r>
              <a:rPr lang="en-GB" sz="6600" b="1" dirty="0">
                <a:solidFill>
                  <a:schemeClr val="accent3">
                    <a:lumMod val="50000"/>
                  </a:schemeClr>
                </a:solidFill>
                <a:latin typeface="+mj-lt"/>
              </a:rPr>
              <a:t>Pace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77461" y="2274838"/>
            <a:ext cx="7299435" cy="3539430"/>
          </a:xfrm>
          <a:prstGeom prst="rect">
            <a:avLst/>
          </a:prstGeom>
        </p:spPr>
        <p:txBody>
          <a:bodyPr wrap="square">
            <a:spAutoFit/>
          </a:bodyPr>
          <a:lstStyle/>
          <a:p>
            <a:pPr algn="ctr"/>
            <a:r>
              <a:rPr lang="en-GB" sz="2800" dirty="0">
                <a:solidFill>
                  <a:srgbClr val="833F8C"/>
                </a:solidFill>
              </a:rPr>
              <a:t>In this method it’s important to recognise that some pupils can work with more advanced resources than others, and that it is possible to use multiple materials in order to approach a topic from different angles. </a:t>
            </a:r>
          </a:p>
          <a:p>
            <a:pPr algn="ctr"/>
            <a:endParaRPr lang="en-GB" sz="2800" dirty="0">
              <a:solidFill>
                <a:srgbClr val="833F8C"/>
              </a:solidFill>
            </a:endParaRPr>
          </a:p>
          <a:p>
            <a:pPr algn="ctr"/>
            <a:r>
              <a:rPr lang="en-GB" sz="2800" b="1" dirty="0">
                <a:solidFill>
                  <a:srgbClr val="833F8C"/>
                </a:solidFill>
              </a:rPr>
              <a:t>What resources do you have in your </a:t>
            </a:r>
          </a:p>
          <a:p>
            <a:pPr algn="ctr"/>
            <a:r>
              <a:rPr lang="en-GB" sz="2800" b="1" dirty="0">
                <a:solidFill>
                  <a:srgbClr val="833F8C"/>
                </a:solidFill>
              </a:rPr>
              <a:t>class to help different learners?</a:t>
            </a:r>
          </a:p>
        </p:txBody>
      </p:sp>
      <p:sp>
        <p:nvSpPr>
          <p:cNvPr id="3" name="Rectangle 2"/>
          <p:cNvSpPr/>
          <p:nvPr/>
        </p:nvSpPr>
        <p:spPr>
          <a:xfrm>
            <a:off x="2885090" y="1166648"/>
            <a:ext cx="3313252" cy="830997"/>
          </a:xfrm>
          <a:prstGeom prst="rect">
            <a:avLst/>
          </a:prstGeom>
        </p:spPr>
        <p:txBody>
          <a:bodyPr wrap="square">
            <a:spAutoFit/>
          </a:bodyPr>
          <a:lstStyle/>
          <a:p>
            <a:pPr algn="ctr"/>
            <a:r>
              <a:rPr lang="en-GB" sz="4800" b="1" dirty="0">
                <a:solidFill>
                  <a:schemeClr val="accent4">
                    <a:lumMod val="75000"/>
                  </a:schemeClr>
                </a:solidFill>
              </a:rPr>
              <a:t>Resources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1338" y="1020183"/>
            <a:ext cx="3074276" cy="5016758"/>
          </a:xfrm>
          <a:prstGeom prst="rect">
            <a:avLst/>
          </a:prstGeom>
        </p:spPr>
        <p:txBody>
          <a:bodyPr wrap="square">
            <a:spAutoFit/>
          </a:bodyPr>
          <a:lstStyle/>
          <a:p>
            <a:r>
              <a:rPr lang="en-GB" sz="4000" dirty="0">
                <a:solidFill>
                  <a:schemeClr val="accent4">
                    <a:lumMod val="75000"/>
                  </a:schemeClr>
                </a:solidFill>
              </a:rPr>
              <a:t>Visual support</a:t>
            </a:r>
          </a:p>
          <a:p>
            <a:endParaRPr lang="en-GB" sz="4000" dirty="0">
              <a:solidFill>
                <a:schemeClr val="accent4">
                  <a:lumMod val="75000"/>
                </a:schemeClr>
              </a:solidFill>
            </a:endParaRPr>
          </a:p>
          <a:p>
            <a:r>
              <a:rPr lang="en-GB" sz="4000" dirty="0">
                <a:solidFill>
                  <a:schemeClr val="accent4">
                    <a:lumMod val="75000"/>
                  </a:schemeClr>
                </a:solidFill>
              </a:rPr>
              <a:t> Physical    support</a:t>
            </a:r>
          </a:p>
          <a:p>
            <a:r>
              <a:rPr lang="en-GB" sz="4000" dirty="0">
                <a:solidFill>
                  <a:schemeClr val="accent4">
                    <a:lumMod val="75000"/>
                  </a:schemeClr>
                </a:solidFill>
              </a:rPr>
              <a:t> </a:t>
            </a:r>
          </a:p>
          <a:p>
            <a:r>
              <a:rPr lang="en-GB" sz="4000" dirty="0">
                <a:solidFill>
                  <a:schemeClr val="accent4">
                    <a:lumMod val="75000"/>
                  </a:schemeClr>
                </a:solidFill>
              </a:rPr>
              <a:t>Auditory support </a:t>
            </a:r>
          </a:p>
        </p:txBody>
      </p:sp>
      <p:sp>
        <p:nvSpPr>
          <p:cNvPr id="3" name="Rectangle 2"/>
          <p:cNvSpPr/>
          <p:nvPr/>
        </p:nvSpPr>
        <p:spPr>
          <a:xfrm>
            <a:off x="5454868" y="1999151"/>
            <a:ext cx="2790498" cy="3416320"/>
          </a:xfrm>
          <a:prstGeom prst="rect">
            <a:avLst/>
          </a:prstGeom>
        </p:spPr>
        <p:txBody>
          <a:bodyPr wrap="square">
            <a:spAutoFit/>
          </a:bodyPr>
          <a:lstStyle/>
          <a:p>
            <a:r>
              <a:rPr lang="en-GB" sz="4000" dirty="0">
                <a:solidFill>
                  <a:schemeClr val="accent4">
                    <a:lumMod val="75000"/>
                  </a:schemeClr>
                </a:solidFill>
              </a:rPr>
              <a:t>Scaffolding</a:t>
            </a:r>
            <a:endParaRPr lang="en-GB" sz="4400" dirty="0">
              <a:solidFill>
                <a:schemeClr val="accent4">
                  <a:lumMod val="75000"/>
                </a:schemeClr>
              </a:solidFill>
            </a:endParaRPr>
          </a:p>
          <a:p>
            <a:endParaRPr lang="en-GB" sz="4400" dirty="0">
              <a:solidFill>
                <a:schemeClr val="accent4">
                  <a:lumMod val="75000"/>
                </a:schemeClr>
              </a:solidFill>
            </a:endParaRPr>
          </a:p>
          <a:p>
            <a:r>
              <a:rPr lang="en-GB" sz="4400" dirty="0">
                <a:solidFill>
                  <a:schemeClr val="accent4">
                    <a:lumMod val="75000"/>
                  </a:schemeClr>
                </a:solidFill>
              </a:rPr>
              <a:t>Verbal</a:t>
            </a:r>
          </a:p>
          <a:p>
            <a:endParaRPr lang="en-GB" sz="4400" dirty="0">
              <a:solidFill>
                <a:schemeClr val="accent4">
                  <a:lumMod val="75000"/>
                </a:schemeClr>
              </a:solidFill>
            </a:endParaRPr>
          </a:p>
          <a:p>
            <a:r>
              <a:rPr lang="en-GB" sz="4400" dirty="0">
                <a:solidFill>
                  <a:schemeClr val="accent4">
                    <a:lumMod val="75000"/>
                  </a:schemeClr>
                </a:solidFill>
              </a:rPr>
              <a:t>Technology</a:t>
            </a:r>
          </a:p>
        </p:txBody>
      </p:sp>
      <p:sp>
        <p:nvSpPr>
          <p:cNvPr id="4" name="Rectangle 3"/>
          <p:cNvSpPr/>
          <p:nvPr/>
        </p:nvSpPr>
        <p:spPr>
          <a:xfrm>
            <a:off x="614856" y="189186"/>
            <a:ext cx="8014822" cy="830997"/>
          </a:xfrm>
          <a:prstGeom prst="rect">
            <a:avLst/>
          </a:prstGeom>
        </p:spPr>
        <p:txBody>
          <a:bodyPr wrap="square">
            <a:spAutoFit/>
          </a:bodyPr>
          <a:lstStyle/>
          <a:p>
            <a:pPr algn="ctr"/>
            <a:r>
              <a:rPr lang="en-GB" sz="4800" b="1" dirty="0">
                <a:solidFill>
                  <a:schemeClr val="accent4">
                    <a:lumMod val="50000"/>
                  </a:schemeClr>
                </a:solidFill>
                <a:latin typeface="+mj-lt"/>
              </a:rPr>
              <a:t>Different types of resources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55379" y="1245476"/>
            <a:ext cx="5912069" cy="4370427"/>
          </a:xfrm>
          <a:prstGeom prst="rect">
            <a:avLst/>
          </a:prstGeom>
          <a:noFill/>
        </p:spPr>
        <p:txBody>
          <a:bodyPr wrap="square" rtlCol="0">
            <a:spAutoFit/>
          </a:bodyPr>
          <a:lstStyle/>
          <a:p>
            <a:r>
              <a:rPr lang="en-GB" sz="6000" b="1" dirty="0">
                <a:solidFill>
                  <a:schemeClr val="accent2">
                    <a:lumMod val="75000"/>
                  </a:schemeClr>
                </a:solidFill>
              </a:rPr>
              <a:t>Support</a:t>
            </a:r>
          </a:p>
          <a:p>
            <a:endParaRPr lang="en-GB" dirty="0">
              <a:solidFill>
                <a:schemeClr val="accent2">
                  <a:lumMod val="75000"/>
                </a:schemeClr>
              </a:solidFill>
            </a:endParaRPr>
          </a:p>
          <a:p>
            <a:r>
              <a:rPr lang="en-GB" sz="4000" dirty="0">
                <a:solidFill>
                  <a:schemeClr val="accent2">
                    <a:lumMod val="75000"/>
                  </a:schemeClr>
                </a:solidFill>
              </a:rPr>
              <a:t>Teacher </a:t>
            </a:r>
          </a:p>
          <a:p>
            <a:r>
              <a:rPr lang="en-GB" sz="4000" dirty="0">
                <a:solidFill>
                  <a:schemeClr val="accent2">
                    <a:lumMod val="75000"/>
                  </a:schemeClr>
                </a:solidFill>
              </a:rPr>
              <a:t>TA using WDEP method</a:t>
            </a:r>
          </a:p>
          <a:p>
            <a:r>
              <a:rPr lang="en-GB" sz="4000" dirty="0">
                <a:solidFill>
                  <a:schemeClr val="accent2">
                    <a:lumMod val="75000"/>
                  </a:schemeClr>
                </a:solidFill>
              </a:rPr>
              <a:t>Peers</a:t>
            </a:r>
          </a:p>
          <a:p>
            <a:r>
              <a:rPr lang="en-GB" sz="4000" dirty="0">
                <a:solidFill>
                  <a:schemeClr val="accent2">
                    <a:lumMod val="75000"/>
                  </a:schemeClr>
                </a:solidFill>
              </a:rPr>
              <a:t>Buddy system</a:t>
            </a:r>
          </a:p>
          <a:p>
            <a:r>
              <a:rPr lang="en-GB" sz="4000" dirty="0">
                <a:solidFill>
                  <a:schemeClr val="accent2">
                    <a:lumMod val="75000"/>
                  </a:schemeClr>
                </a:solidFill>
              </a:rPr>
              <a:t>Parental</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sz="quarter" idx="4294967295"/>
          </p:nvPr>
        </p:nvSpPr>
        <p:spPr>
          <a:xfrm>
            <a:off x="605555" y="2388266"/>
            <a:ext cx="8196153" cy="2812384"/>
          </a:xfrm>
        </p:spPr>
        <p:txBody>
          <a:bodyPr>
            <a:normAutofit/>
          </a:bodyPr>
          <a:lstStyle/>
          <a:p>
            <a:pPr marL="0" indent="0">
              <a:buNone/>
            </a:pPr>
            <a:r>
              <a:rPr lang="en-GB" sz="4000" dirty="0"/>
              <a:t> </a:t>
            </a:r>
          </a:p>
          <a:p>
            <a:pPr marL="0" indent="0" algn="ctr">
              <a:buNone/>
            </a:pPr>
            <a:endParaRPr lang="en-GB" sz="4000" b="1" dirty="0">
              <a:solidFill>
                <a:srgbClr val="47434F"/>
              </a:solidFill>
              <a:latin typeface="+mn-lt"/>
            </a:endParaRPr>
          </a:p>
        </p:txBody>
      </p:sp>
      <p:sp>
        <p:nvSpPr>
          <p:cNvPr id="5" name="Rectangle 4"/>
          <p:cNvSpPr/>
          <p:nvPr/>
        </p:nvSpPr>
        <p:spPr>
          <a:xfrm>
            <a:off x="4745421" y="1695712"/>
            <a:ext cx="3828423" cy="4401205"/>
          </a:xfrm>
          <a:prstGeom prst="rect">
            <a:avLst/>
          </a:prstGeom>
        </p:spPr>
        <p:txBody>
          <a:bodyPr wrap="square">
            <a:spAutoFit/>
          </a:bodyPr>
          <a:lstStyle/>
          <a:p>
            <a:r>
              <a:rPr lang="en-GB" sz="4000" b="1" dirty="0">
                <a:solidFill>
                  <a:schemeClr val="accent4">
                    <a:lumMod val="50000"/>
                  </a:schemeClr>
                </a:solidFill>
              </a:rPr>
              <a:t>Teaching Assistants should not be used as an informal teaching resource for low-attaining pupils.</a:t>
            </a:r>
          </a:p>
        </p:txBody>
      </p:sp>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852234">
            <a:off x="688105" y="1974927"/>
            <a:ext cx="3059233" cy="43189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Content Placeholder 3"/>
          <p:cNvPicPr>
            <a:picLocks noGrp="1" noChangeAspect="1" noChangeArrowheads="1"/>
          </p:cNvPicPr>
          <p:nvPr>
            <p:ph idx="1"/>
          </p:nvPr>
        </p:nvPicPr>
        <p:blipFill>
          <a:blip r:embed="rId4" cstate="print">
            <a:extLst>
              <a:ext uri="{28A0092B-C50C-407E-A947-70E740481C1C}">
                <a14:useLocalDpi xmlns:a14="http://schemas.microsoft.com/office/drawing/2010/main" val="0"/>
              </a:ext>
            </a:extLst>
          </a:blip>
          <a:srcRect/>
          <a:stretch>
            <a:fillRect/>
          </a:stretch>
        </p:blipFill>
        <p:spPr bwMode="auto">
          <a:xfrm>
            <a:off x="467544" y="332655"/>
            <a:ext cx="8106300" cy="10081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741923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2925" y="1695450"/>
            <a:ext cx="8058150" cy="44698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2198491" y="214369"/>
            <a:ext cx="4733027" cy="769441"/>
          </a:xfrm>
          <a:prstGeom prst="rect">
            <a:avLst/>
          </a:prstGeom>
        </p:spPr>
        <p:txBody>
          <a:bodyPr wrap="none">
            <a:spAutoFit/>
          </a:bodyPr>
          <a:lstStyle/>
          <a:p>
            <a:r>
              <a:rPr lang="en-GB" sz="4400" b="1" dirty="0">
                <a:solidFill>
                  <a:schemeClr val="accent6">
                    <a:lumMod val="75000"/>
                  </a:schemeClr>
                </a:solidFill>
                <a:latin typeface="+mj-lt"/>
              </a:rPr>
              <a:t>Effective Use of TAs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81959" y="2967335"/>
            <a:ext cx="6243144" cy="1754326"/>
          </a:xfrm>
          <a:prstGeom prst="rect">
            <a:avLst/>
          </a:prstGeom>
        </p:spPr>
        <p:txBody>
          <a:bodyPr wrap="square">
            <a:spAutoFit/>
          </a:bodyPr>
          <a:lstStyle/>
          <a:p>
            <a:pPr algn="ctr"/>
            <a:r>
              <a:rPr lang="en-GB" sz="3600" dirty="0">
                <a:solidFill>
                  <a:schemeClr val="bg2">
                    <a:lumMod val="25000"/>
                  </a:schemeClr>
                </a:solidFill>
              </a:rPr>
              <a:t>What is it?</a:t>
            </a:r>
          </a:p>
          <a:p>
            <a:endParaRPr lang="en-GB" sz="3600" dirty="0">
              <a:solidFill>
                <a:schemeClr val="bg2">
                  <a:lumMod val="25000"/>
                </a:schemeClr>
              </a:solidFill>
            </a:endParaRPr>
          </a:p>
          <a:p>
            <a:pPr algn="ctr"/>
            <a:r>
              <a:rPr lang="en-GB" sz="3600" dirty="0">
                <a:solidFill>
                  <a:schemeClr val="bg2">
                    <a:lumMod val="25000"/>
                  </a:schemeClr>
                </a:solidFill>
              </a:rPr>
              <a:t>Are there any drawbacks?</a:t>
            </a:r>
          </a:p>
        </p:txBody>
      </p:sp>
      <p:sp>
        <p:nvSpPr>
          <p:cNvPr id="3" name="Rectangle 2"/>
          <p:cNvSpPr/>
          <p:nvPr/>
        </p:nvSpPr>
        <p:spPr>
          <a:xfrm>
            <a:off x="2996472" y="1112627"/>
            <a:ext cx="2884066" cy="830997"/>
          </a:xfrm>
          <a:prstGeom prst="rect">
            <a:avLst/>
          </a:prstGeom>
        </p:spPr>
        <p:txBody>
          <a:bodyPr wrap="square">
            <a:spAutoFit/>
          </a:bodyPr>
          <a:lstStyle/>
          <a:p>
            <a:pPr algn="ctr"/>
            <a:r>
              <a:rPr lang="en-GB" sz="4800" b="1" dirty="0">
                <a:solidFill>
                  <a:schemeClr val="tx1">
                    <a:lumMod val="65000"/>
                    <a:lumOff val="35000"/>
                  </a:schemeClr>
                </a:solidFill>
                <a:latin typeface="+mj-lt"/>
              </a:rPr>
              <a:t>Outcome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9254" y="1481959"/>
            <a:ext cx="5912069" cy="1862048"/>
          </a:xfrm>
          <a:prstGeom prst="rect">
            <a:avLst/>
          </a:prstGeom>
          <a:noFill/>
        </p:spPr>
        <p:txBody>
          <a:bodyPr wrap="square" rtlCol="0">
            <a:spAutoFit/>
          </a:bodyPr>
          <a:lstStyle/>
          <a:p>
            <a:pPr algn="ctr"/>
            <a:r>
              <a:rPr lang="en-GB" sz="11500" b="1" dirty="0"/>
              <a:t>Review</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2869" y="772510"/>
            <a:ext cx="7330965" cy="4401205"/>
          </a:xfrm>
          <a:prstGeom prst="rect">
            <a:avLst/>
          </a:prstGeom>
        </p:spPr>
        <p:txBody>
          <a:bodyPr wrap="square">
            <a:spAutoFit/>
          </a:bodyPr>
          <a:lstStyle/>
          <a:p>
            <a:r>
              <a:rPr lang="en-GB" sz="4000" b="1" dirty="0">
                <a:solidFill>
                  <a:schemeClr val="accent5">
                    <a:lumMod val="50000"/>
                  </a:schemeClr>
                </a:solidFill>
              </a:rPr>
              <a:t>Summative Assessment Is...</a:t>
            </a:r>
          </a:p>
          <a:p>
            <a:r>
              <a:rPr lang="en-GB" sz="2400" dirty="0">
                <a:solidFill>
                  <a:schemeClr val="accent5">
                    <a:lumMod val="50000"/>
                  </a:schemeClr>
                </a:solidFill>
              </a:rPr>
              <a:t>A means to determine a pupil’s mastery and understanding of information, skills, concepts, or processes.</a:t>
            </a:r>
          </a:p>
          <a:p>
            <a:endParaRPr lang="en-GB" sz="2400" dirty="0">
              <a:solidFill>
                <a:schemeClr val="accent5">
                  <a:lumMod val="50000"/>
                </a:schemeClr>
              </a:solidFill>
            </a:endParaRPr>
          </a:p>
          <a:p>
            <a:r>
              <a:rPr lang="en-GB" sz="2400" dirty="0">
                <a:solidFill>
                  <a:schemeClr val="accent5">
                    <a:lumMod val="50000"/>
                  </a:schemeClr>
                </a:solidFill>
              </a:rPr>
              <a:t>• Should reflect formative assessments that precede it </a:t>
            </a:r>
          </a:p>
          <a:p>
            <a:r>
              <a:rPr lang="en-GB" sz="2400" dirty="0">
                <a:solidFill>
                  <a:schemeClr val="accent5">
                    <a:lumMod val="50000"/>
                  </a:schemeClr>
                </a:solidFill>
              </a:rPr>
              <a:t>• should match material taught </a:t>
            </a:r>
          </a:p>
          <a:p>
            <a:r>
              <a:rPr lang="en-GB" sz="2400" dirty="0">
                <a:solidFill>
                  <a:schemeClr val="accent5">
                    <a:lumMod val="50000"/>
                  </a:schemeClr>
                </a:solidFill>
              </a:rPr>
              <a:t>• may determine pupil’s exit achievement </a:t>
            </a:r>
          </a:p>
          <a:p>
            <a:r>
              <a:rPr lang="en-GB" sz="2400" dirty="0">
                <a:solidFill>
                  <a:schemeClr val="accent5">
                    <a:lumMod val="50000"/>
                  </a:schemeClr>
                </a:solidFill>
              </a:rPr>
              <a:t>• may be tied to a final decision, level or report </a:t>
            </a:r>
          </a:p>
          <a:p>
            <a:r>
              <a:rPr lang="en-GB" sz="2400" dirty="0">
                <a:solidFill>
                  <a:schemeClr val="accent5">
                    <a:lumMod val="50000"/>
                  </a:schemeClr>
                </a:solidFill>
              </a:rPr>
              <a:t>• should align with instructional/curricular outcomes </a:t>
            </a:r>
          </a:p>
          <a:p>
            <a:r>
              <a:rPr lang="en-GB" sz="2400" dirty="0">
                <a:solidFill>
                  <a:schemeClr val="accent5">
                    <a:lumMod val="50000"/>
                  </a:schemeClr>
                </a:solidFill>
              </a:rPr>
              <a:t>• may be a form of alternative standardised assessment</a:t>
            </a:r>
          </a:p>
        </p:txBody>
      </p:sp>
      <p:pic>
        <p:nvPicPr>
          <p:cNvPr id="3" name="Picture 2" descr="C:\Users\Clair\AppData\Local\Microsoft\Windows\INetCache\IE\RABPRE7S\assessment_in[1].jpg"/>
          <p:cNvPicPr>
            <a:picLocks noChangeAspect="1" noChangeArrowheads="1"/>
          </p:cNvPicPr>
          <p:nvPr/>
        </p:nvPicPr>
        <p:blipFill>
          <a:blip r:embed="rId2"/>
          <a:srcRect/>
          <a:stretch>
            <a:fillRect/>
          </a:stretch>
        </p:blipFill>
        <p:spPr bwMode="auto">
          <a:xfrm>
            <a:off x="3734485" y="5329055"/>
            <a:ext cx="1436604" cy="1308227"/>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1698" y="409903"/>
            <a:ext cx="3704896" cy="5509200"/>
          </a:xfrm>
          <a:prstGeom prst="rect">
            <a:avLst/>
          </a:prstGeom>
          <a:noFill/>
        </p:spPr>
        <p:txBody>
          <a:bodyPr wrap="square" rtlCol="0">
            <a:spAutoFit/>
          </a:bodyPr>
          <a:lstStyle/>
          <a:p>
            <a:r>
              <a:rPr lang="en-GB" sz="4400" b="1" dirty="0">
                <a:solidFill>
                  <a:schemeClr val="accent3">
                    <a:lumMod val="50000"/>
                  </a:schemeClr>
                </a:solidFill>
              </a:rPr>
              <a:t>Squaring Off</a:t>
            </a:r>
          </a:p>
          <a:p>
            <a:endParaRPr lang="en-GB" sz="4400" b="1" dirty="0">
              <a:solidFill>
                <a:schemeClr val="accent3">
                  <a:lumMod val="50000"/>
                </a:schemeClr>
              </a:solidFill>
            </a:endParaRPr>
          </a:p>
          <a:p>
            <a:r>
              <a:rPr lang="en-GB" sz="4400" b="1" dirty="0">
                <a:solidFill>
                  <a:schemeClr val="accent3">
                    <a:lumMod val="50000"/>
                  </a:schemeClr>
                </a:solidFill>
              </a:rPr>
              <a:t>Yes or No cards</a:t>
            </a:r>
          </a:p>
          <a:p>
            <a:endParaRPr lang="en-GB" sz="4400" b="1" dirty="0">
              <a:solidFill>
                <a:schemeClr val="accent3">
                  <a:lumMod val="50000"/>
                </a:schemeClr>
              </a:solidFill>
            </a:endParaRPr>
          </a:p>
          <a:p>
            <a:r>
              <a:rPr lang="en-GB" sz="4400" b="1" dirty="0">
                <a:solidFill>
                  <a:schemeClr val="accent3">
                    <a:lumMod val="50000"/>
                  </a:schemeClr>
                </a:solidFill>
              </a:rPr>
              <a:t>Thumbs and Fingers</a:t>
            </a:r>
          </a:p>
          <a:p>
            <a:endParaRPr lang="en-GB" sz="4400" b="1" dirty="0">
              <a:solidFill>
                <a:schemeClr val="accent3">
                  <a:lumMod val="50000"/>
                </a:schemeClr>
              </a:solidFill>
            </a:endParaRPr>
          </a:p>
          <a:p>
            <a:r>
              <a:rPr lang="en-GB" sz="4400" b="1" dirty="0">
                <a:solidFill>
                  <a:schemeClr val="accent3">
                    <a:lumMod val="50000"/>
                  </a:schemeClr>
                </a:solidFill>
              </a:rPr>
              <a:t>Cubing</a:t>
            </a:r>
          </a:p>
        </p:txBody>
      </p:sp>
      <p:pic>
        <p:nvPicPr>
          <p:cNvPr id="3" name="Picture 2" descr="C:\Users\Clair\AppData\Local\Microsoft\Windows\INetCache\IE\RABPRE7S\image[1].png"/>
          <p:cNvPicPr/>
          <p:nvPr/>
        </p:nvPicPr>
        <p:blipFill>
          <a:blip r:embed="rId3" cstate="print"/>
          <a:srcRect/>
          <a:stretch>
            <a:fillRect/>
          </a:stretch>
        </p:blipFill>
        <p:spPr bwMode="auto">
          <a:xfrm>
            <a:off x="6734174" y="409903"/>
            <a:ext cx="1643555" cy="1702676"/>
          </a:xfrm>
          <a:prstGeom prst="rect">
            <a:avLst/>
          </a:prstGeom>
          <a:noFill/>
          <a:ln w="9525">
            <a:noFill/>
            <a:miter lim="800000"/>
            <a:headEnd/>
            <a:tailEnd/>
          </a:ln>
        </p:spPr>
      </p:pic>
      <p:pic>
        <p:nvPicPr>
          <p:cNvPr id="4" name="Picture 3" descr="C:\Users\Clair\AppData\Local\Microsoft\Windows\INetCache\IE\RABPRE7S\Fotolia_42014284_XS[1].jpg"/>
          <p:cNvPicPr/>
          <p:nvPr/>
        </p:nvPicPr>
        <p:blipFill>
          <a:blip r:embed="rId4" cstate="print"/>
          <a:srcRect/>
          <a:stretch>
            <a:fillRect/>
          </a:stretch>
        </p:blipFill>
        <p:spPr bwMode="auto">
          <a:xfrm>
            <a:off x="4855780" y="1734207"/>
            <a:ext cx="1680668" cy="1562769"/>
          </a:xfrm>
          <a:prstGeom prst="rect">
            <a:avLst/>
          </a:prstGeom>
          <a:noFill/>
          <a:ln w="9525">
            <a:noFill/>
            <a:miter lim="800000"/>
            <a:headEnd/>
            <a:tailEnd/>
          </a:ln>
        </p:spPr>
      </p:pic>
      <p:pic>
        <p:nvPicPr>
          <p:cNvPr id="5" name="Picture 4" descr="C:\Users\Clair\AppData\Local\Microsoft\Windows\INetCache\IE\9ZP0XFER\shutterstock_74641882[1].jpg"/>
          <p:cNvPicPr/>
          <p:nvPr/>
        </p:nvPicPr>
        <p:blipFill>
          <a:blip r:embed="rId5" cstate="print"/>
          <a:srcRect/>
          <a:stretch>
            <a:fillRect/>
          </a:stretch>
        </p:blipFill>
        <p:spPr bwMode="auto">
          <a:xfrm>
            <a:off x="3612878" y="4303987"/>
            <a:ext cx="2078474" cy="2144110"/>
          </a:xfrm>
          <a:prstGeom prst="rect">
            <a:avLst/>
          </a:prstGeom>
          <a:noFill/>
          <a:ln w="9525">
            <a:noFill/>
            <a:miter lim="800000"/>
            <a:headEnd/>
            <a:tailEnd/>
          </a:ln>
        </p:spPr>
      </p:pic>
      <p:pic>
        <p:nvPicPr>
          <p:cNvPr id="6146" name="Picture 2" descr="C:\Users\Clair\AppData\Local\Microsoft\Windows\INetCache\IE\9ZP0XFER\finger-160597_640[1].png"/>
          <p:cNvPicPr>
            <a:picLocks noChangeAspect="1" noChangeArrowheads="1"/>
          </p:cNvPicPr>
          <p:nvPr/>
        </p:nvPicPr>
        <p:blipFill>
          <a:blip r:embed="rId6"/>
          <a:srcRect/>
          <a:stretch>
            <a:fillRect/>
          </a:stretch>
        </p:blipFill>
        <p:spPr bwMode="auto">
          <a:xfrm>
            <a:off x="6734174" y="2927097"/>
            <a:ext cx="1559472" cy="1579212"/>
          </a:xfrm>
          <a:prstGeom prst="rect">
            <a:avLst/>
          </a:prstGeom>
          <a:noFill/>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7917" y="258902"/>
            <a:ext cx="7835462" cy="6617196"/>
          </a:xfrm>
          <a:prstGeom prst="rect">
            <a:avLst/>
          </a:prstGeom>
        </p:spPr>
        <p:txBody>
          <a:bodyPr wrap="square">
            <a:spAutoFit/>
          </a:bodyPr>
          <a:lstStyle/>
          <a:p>
            <a:r>
              <a:rPr lang="en-GB" sz="4000" b="1" dirty="0">
                <a:solidFill>
                  <a:schemeClr val="accent4">
                    <a:lumMod val="75000"/>
                  </a:schemeClr>
                </a:solidFill>
              </a:rPr>
              <a:t>Reflection and readiness – Assess</a:t>
            </a:r>
          </a:p>
          <a:p>
            <a:r>
              <a:rPr lang="en-GB" sz="2400" dirty="0">
                <a:solidFill>
                  <a:schemeClr val="accent4">
                    <a:lumMod val="75000"/>
                  </a:schemeClr>
                </a:solidFill>
              </a:rPr>
              <a:t>Use these questions to assess your school’s readiness for this </a:t>
            </a:r>
          </a:p>
          <a:p>
            <a:r>
              <a:rPr lang="en-GB" sz="2400" dirty="0">
                <a:solidFill>
                  <a:schemeClr val="accent4">
                    <a:lumMod val="75000"/>
                  </a:schemeClr>
                </a:solidFill>
              </a:rPr>
              <a:t>aspect of the graduated approach:</a:t>
            </a:r>
          </a:p>
          <a:p>
            <a:endParaRPr lang="en-GB" sz="2400" dirty="0">
              <a:solidFill>
                <a:schemeClr val="accent4">
                  <a:lumMod val="75000"/>
                </a:schemeClr>
              </a:solidFill>
            </a:endParaRPr>
          </a:p>
          <a:p>
            <a:r>
              <a:rPr lang="en-GB" sz="2400" dirty="0">
                <a:solidFill>
                  <a:schemeClr val="accent4">
                    <a:lumMod val="75000"/>
                  </a:schemeClr>
                </a:solidFill>
              </a:rPr>
              <a:t>• How are we ensuring that we are identifying pupils’ needs as early as possible?</a:t>
            </a:r>
          </a:p>
          <a:p>
            <a:r>
              <a:rPr lang="en-GB" sz="2400" dirty="0">
                <a:solidFill>
                  <a:schemeClr val="accent4">
                    <a:lumMod val="75000"/>
                  </a:schemeClr>
                </a:solidFill>
              </a:rPr>
              <a:t>• Can we improve our liaison with pre-school/feeder schools to prepare for pupils with SEN as soon as they arrive?</a:t>
            </a:r>
          </a:p>
          <a:p>
            <a:r>
              <a:rPr lang="en-GB" sz="2400" dirty="0">
                <a:solidFill>
                  <a:schemeClr val="accent4">
                    <a:lumMod val="75000"/>
                  </a:schemeClr>
                </a:solidFill>
              </a:rPr>
              <a:t>• Do we have systems, tools and expertise to support identification and assessment?</a:t>
            </a:r>
          </a:p>
          <a:p>
            <a:r>
              <a:rPr lang="en-GB" sz="2400" dirty="0">
                <a:solidFill>
                  <a:schemeClr val="accent4">
                    <a:lumMod val="75000"/>
                  </a:schemeClr>
                </a:solidFill>
              </a:rPr>
              <a:t>• Do class/subject teachers make effective use of these tools to identify pupils’ gaps in and barriers to learning, adapting their core teaching in the light of these findings?</a:t>
            </a:r>
          </a:p>
          <a:p>
            <a:r>
              <a:rPr lang="en-GB" sz="2400" dirty="0">
                <a:solidFill>
                  <a:schemeClr val="accent4">
                    <a:lumMod val="75000"/>
                  </a:schemeClr>
                </a:solidFill>
              </a:rPr>
              <a:t>• Do we call on the support of a range of external specialists as and when we need it?</a:t>
            </a:r>
          </a:p>
          <a:p>
            <a:r>
              <a:rPr lang="en-GB" sz="2400" dirty="0">
                <a:solidFill>
                  <a:schemeClr val="accent4">
                    <a:lumMod val="75000"/>
                  </a:schemeClr>
                </a:solidFill>
              </a:rPr>
              <a:t>• Are there any areas where our staff need training to support identification?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5931" y="1443841"/>
            <a:ext cx="7204841" cy="3785652"/>
          </a:xfrm>
          <a:prstGeom prst="rect">
            <a:avLst/>
          </a:prstGeom>
        </p:spPr>
        <p:txBody>
          <a:bodyPr wrap="square">
            <a:spAutoFit/>
          </a:bodyPr>
          <a:lstStyle/>
          <a:p>
            <a:r>
              <a:rPr lang="en-GB" sz="2400" b="1" dirty="0">
                <a:solidFill>
                  <a:schemeClr val="tx1">
                    <a:lumMod val="50000"/>
                    <a:lumOff val="50000"/>
                  </a:schemeClr>
                </a:solidFill>
              </a:rPr>
              <a:t>What works for children with literacy difficulties </a:t>
            </a:r>
            <a:endParaRPr lang="en-GB" sz="2400" dirty="0">
              <a:solidFill>
                <a:schemeClr val="tx1">
                  <a:lumMod val="50000"/>
                  <a:lumOff val="50000"/>
                </a:schemeClr>
              </a:solidFill>
            </a:endParaRPr>
          </a:p>
          <a:p>
            <a:endParaRPr lang="en-GB" sz="2400" dirty="0">
              <a:solidFill>
                <a:schemeClr val="tx1">
                  <a:lumMod val="50000"/>
                  <a:lumOff val="50000"/>
                </a:schemeClr>
              </a:solidFill>
            </a:endParaRPr>
          </a:p>
          <a:p>
            <a:r>
              <a:rPr lang="en-GB" sz="2400" b="1" dirty="0">
                <a:solidFill>
                  <a:schemeClr val="tx1">
                    <a:lumMod val="50000"/>
                    <a:lumOff val="50000"/>
                  </a:schemeClr>
                </a:solidFill>
              </a:rPr>
              <a:t>What works for children with mathematical difficulties </a:t>
            </a:r>
            <a:endParaRPr lang="en-GB" sz="2400" dirty="0">
              <a:solidFill>
                <a:schemeClr val="tx1">
                  <a:lumMod val="50000"/>
                  <a:lumOff val="50000"/>
                </a:schemeClr>
              </a:solidFill>
            </a:endParaRPr>
          </a:p>
          <a:p>
            <a:endParaRPr lang="en-GB" sz="2400" b="1" dirty="0">
              <a:solidFill>
                <a:schemeClr val="tx1">
                  <a:lumMod val="50000"/>
                  <a:lumOff val="50000"/>
                </a:schemeClr>
              </a:solidFill>
            </a:endParaRPr>
          </a:p>
          <a:p>
            <a:r>
              <a:rPr lang="en-GB" sz="2400" b="1" dirty="0">
                <a:solidFill>
                  <a:schemeClr val="tx1">
                    <a:lumMod val="50000"/>
                    <a:lumOff val="50000"/>
                  </a:schemeClr>
                </a:solidFill>
              </a:rPr>
              <a:t>The effective management of teaching assistants to improve standards in literacy and mathematics</a:t>
            </a:r>
          </a:p>
          <a:p>
            <a:endParaRPr lang="en-GB" sz="2400" b="1" dirty="0">
              <a:solidFill>
                <a:schemeClr val="bg2">
                  <a:lumMod val="25000"/>
                </a:schemeClr>
              </a:solidFill>
            </a:endParaRPr>
          </a:p>
          <a:p>
            <a:r>
              <a:rPr lang="en-GB" sz="2400" b="1" dirty="0">
                <a:solidFill>
                  <a:schemeClr val="bg2">
                    <a:lumMod val="25000"/>
                  </a:schemeClr>
                </a:solidFill>
                <a:hlinkClick r:id="rId3"/>
              </a:rPr>
              <a:t>www.visualaidsforlearning.com</a:t>
            </a:r>
            <a:endParaRPr lang="en-GB" sz="2400" b="1" dirty="0">
              <a:solidFill>
                <a:schemeClr val="bg2">
                  <a:lumMod val="25000"/>
                </a:schemeClr>
              </a:solidFill>
            </a:endParaRPr>
          </a:p>
          <a:p>
            <a:r>
              <a:rPr lang="en-GB" sz="2400" b="1" dirty="0">
                <a:solidFill>
                  <a:schemeClr val="bg2">
                    <a:lumMod val="25000"/>
                  </a:schemeClr>
                </a:solidFill>
                <a:hlinkClick r:id="rId4"/>
              </a:rPr>
              <a:t>http://mrcrammond.com/writing_frames.htm</a:t>
            </a:r>
            <a:endParaRPr lang="en-GB" sz="2400" b="1" dirty="0">
              <a:solidFill>
                <a:schemeClr val="bg2">
                  <a:lumMod val="25000"/>
                </a:schemeClr>
              </a:solidFill>
            </a:endParaRPr>
          </a:p>
          <a:p>
            <a:r>
              <a:rPr lang="en-GB" sz="2400" b="1" dirty="0">
                <a:solidFill>
                  <a:schemeClr val="bg2">
                    <a:lumMod val="25000"/>
                  </a:schemeClr>
                </a:solidFill>
                <a:hlinkClick r:id="rId5"/>
              </a:rPr>
              <a:t>www.eal.britishcouncil.org</a:t>
            </a:r>
            <a:endParaRPr lang="en-GB" sz="2400" b="1" dirty="0">
              <a:solidFill>
                <a:schemeClr val="bg2">
                  <a:lumMod val="25000"/>
                </a:schemeClr>
              </a:solidFill>
            </a:endParaRPr>
          </a:p>
        </p:txBody>
      </p:sp>
      <p:sp>
        <p:nvSpPr>
          <p:cNvPr id="3" name="Rectangle 2"/>
          <p:cNvSpPr/>
          <p:nvPr/>
        </p:nvSpPr>
        <p:spPr>
          <a:xfrm>
            <a:off x="2286000" y="305068"/>
            <a:ext cx="4048672" cy="769441"/>
          </a:xfrm>
          <a:prstGeom prst="rect">
            <a:avLst/>
          </a:prstGeom>
        </p:spPr>
        <p:txBody>
          <a:bodyPr wrap="none">
            <a:spAutoFit/>
          </a:bodyPr>
          <a:lstStyle/>
          <a:p>
            <a:r>
              <a:rPr lang="en-GB" sz="4400" b="1" dirty="0">
                <a:solidFill>
                  <a:schemeClr val="tx1">
                    <a:lumMod val="50000"/>
                    <a:lumOff val="50000"/>
                  </a:schemeClr>
                </a:solidFill>
                <a:latin typeface="+mj-lt"/>
              </a:rPr>
              <a:t>Useful resources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788276" y="536028"/>
            <a:ext cx="6584593" cy="2871745"/>
          </a:xfrm>
        </p:spPr>
        <p:txBody>
          <a:bodyPr/>
          <a:lstStyle/>
          <a:p>
            <a:r>
              <a:rPr lang="en-US" dirty="0">
                <a:latin typeface="+mj-lt"/>
              </a:rPr>
              <a:t> </a:t>
            </a:r>
          </a:p>
        </p:txBody>
      </p:sp>
      <p:sp>
        <p:nvSpPr>
          <p:cNvPr id="3" name="Rectangle 2"/>
          <p:cNvSpPr/>
          <p:nvPr/>
        </p:nvSpPr>
        <p:spPr>
          <a:xfrm>
            <a:off x="788275" y="536029"/>
            <a:ext cx="7488621" cy="3046988"/>
          </a:xfrm>
          <a:prstGeom prst="rect">
            <a:avLst/>
          </a:prstGeom>
        </p:spPr>
        <p:txBody>
          <a:bodyPr wrap="square">
            <a:spAutoFit/>
          </a:bodyPr>
          <a:lstStyle/>
          <a:p>
            <a:pPr defTabSz="914400">
              <a:defRPr/>
            </a:pPr>
            <a:r>
              <a:rPr lang="en-GB" sz="2400" dirty="0">
                <a:solidFill>
                  <a:srgbClr val="FFFF00"/>
                </a:solidFill>
              </a:rPr>
              <a:t>Differentiation in the classroom is all about understanding that we are dealing with a group of diverse individuals and adapting our teaching to ensure that all of them have access to learn. It should be an on-going and flexible process which not only profiles pupils initially but also recognises progress and areas for improvement and adjusts accordingly to ensure learning needs continue to be met</a:t>
            </a:r>
          </a:p>
        </p:txBody>
      </p:sp>
      <p:sp>
        <p:nvSpPr>
          <p:cNvPr id="5" name="Rectangle 4"/>
          <p:cNvSpPr/>
          <p:nvPr/>
        </p:nvSpPr>
        <p:spPr>
          <a:xfrm>
            <a:off x="788276" y="3752166"/>
            <a:ext cx="7488620" cy="954107"/>
          </a:xfrm>
          <a:prstGeom prst="rect">
            <a:avLst/>
          </a:prstGeom>
        </p:spPr>
        <p:txBody>
          <a:bodyPr wrap="square">
            <a:spAutoFit/>
          </a:bodyPr>
          <a:lstStyle/>
          <a:p>
            <a:pPr algn="ctr"/>
            <a:r>
              <a:rPr lang="en-GB" sz="2800" b="1" dirty="0">
                <a:solidFill>
                  <a:schemeClr val="bg1">
                    <a:lumMod val="95000"/>
                  </a:schemeClr>
                </a:solidFill>
              </a:rPr>
              <a:t>In short, it shifts the focus from teaching a subject to teaching the pupils. </a:t>
            </a:r>
            <a:endParaRPr lang="en-GB" sz="2800" dirty="0">
              <a:solidFill>
                <a:schemeClr val="bg1">
                  <a:lumMod val="95000"/>
                </a:schemeClr>
              </a:solidFill>
            </a:endParaRPr>
          </a:p>
        </p:txBody>
      </p:sp>
    </p:spTree>
    <p:extLst>
      <p:ext uri="{BB962C8B-B14F-4D97-AF65-F5344CB8AC3E}">
        <p14:creationId xmlns:p14="http://schemas.microsoft.com/office/powerpoint/2010/main" val="4192891351"/>
      </p:ext>
    </p:extLst>
  </p:cSld>
  <p:clrMapOvr>
    <a:masterClrMapping/>
  </p:clrMapOvr>
</p:sld>
</file>

<file path=ppt/theme/theme1.xml><?xml version="1.0" encoding="utf-8"?>
<a:theme xmlns:a="http://schemas.openxmlformats.org/drawingml/2006/main" name="AFC Supporting your child at ho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AFC Supporting your child at home</Template>
  <TotalTime>1653</TotalTime>
  <Words>4379</Words>
  <Application>Microsoft Office PowerPoint</Application>
  <PresentationFormat>On-screen Show (4:3)</PresentationFormat>
  <Paragraphs>375</Paragraphs>
  <Slides>46</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Calibri</vt:lpstr>
      <vt:lpstr>Times New Roman</vt:lpstr>
      <vt:lpstr>AFC Supporting your child at home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Clair</dc:creator>
  <cp:lastModifiedBy>Scott Ighavongbe-Patrick</cp:lastModifiedBy>
  <cp:revision>10</cp:revision>
  <cp:lastPrinted>2015-09-16T14:47:36Z</cp:lastPrinted>
  <dcterms:created xsi:type="dcterms:W3CDTF">2017-10-28T13:58:24Z</dcterms:created>
  <dcterms:modified xsi:type="dcterms:W3CDTF">2023-02-03T15:43:40Z</dcterms:modified>
</cp:coreProperties>
</file>