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25"/>
  </p:notesMasterIdLst>
  <p:handoutMasterIdLst>
    <p:handoutMasterId r:id="rId26"/>
  </p:handoutMasterIdLst>
  <p:sldIdLst>
    <p:sldId id="320" r:id="rId5"/>
    <p:sldId id="340" r:id="rId6"/>
    <p:sldId id="341" r:id="rId7"/>
    <p:sldId id="343" r:id="rId8"/>
    <p:sldId id="344" r:id="rId9"/>
    <p:sldId id="345" r:id="rId10"/>
    <p:sldId id="347" r:id="rId11"/>
    <p:sldId id="348" r:id="rId12"/>
    <p:sldId id="350" r:id="rId13"/>
    <p:sldId id="329" r:id="rId14"/>
    <p:sldId id="330" r:id="rId15"/>
    <p:sldId id="331" r:id="rId16"/>
    <p:sldId id="332" r:id="rId17"/>
    <p:sldId id="333" r:id="rId18"/>
    <p:sldId id="334" r:id="rId19"/>
    <p:sldId id="335" r:id="rId20"/>
    <p:sldId id="336" r:id="rId21"/>
    <p:sldId id="337" r:id="rId22"/>
    <p:sldId id="338" r:id="rId23"/>
    <p:sldId id="339" r:id="rId24"/>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36" autoAdjust="0"/>
    <p:restoredTop sz="84369" autoAdjust="0"/>
  </p:normalViewPr>
  <p:slideViewPr>
    <p:cSldViewPr>
      <p:cViewPr varScale="1">
        <p:scale>
          <a:sx n="62" d="100"/>
          <a:sy n="62" d="100"/>
        </p:scale>
        <p:origin x="-158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a:buFont typeface="Arial" pitchFamily="34" charset="0"/>
              <a:buChar char="•"/>
            </a:pPr>
            <a:r>
              <a:rPr lang="en-GB" altLang="en-US" baseline="0" dirty="0" smtClean="0">
                <a:latin typeface="Times New Roman" pitchFamily="18" charset="0"/>
              </a:rPr>
              <a:t>Enquire how many TAs have:</a:t>
            </a:r>
          </a:p>
          <a:p>
            <a:pPr lvl="0">
              <a:buFont typeface="Arial" pitchFamily="34" charset="0"/>
              <a:buChar char="•"/>
            </a:pPr>
            <a:r>
              <a:rPr lang="en-GB" altLang="en-US" baseline="0" dirty="0" smtClean="0">
                <a:latin typeface="Times New Roman" pitchFamily="18" charset="0"/>
              </a:rPr>
              <a:t> heard of PT</a:t>
            </a:r>
          </a:p>
          <a:p>
            <a:pPr lvl="0">
              <a:buFont typeface="Arial" pitchFamily="34" charset="0"/>
              <a:buChar char="•"/>
            </a:pPr>
            <a:r>
              <a:rPr lang="en-GB" altLang="en-US" baseline="0" dirty="0" smtClean="0">
                <a:latin typeface="Times New Roman" pitchFamily="18" charset="0"/>
              </a:rPr>
              <a:t> done PT training</a:t>
            </a:r>
          </a:p>
          <a:p>
            <a:pPr lvl="0">
              <a:buFont typeface="Arial" pitchFamily="34" charset="0"/>
              <a:buChar char="•"/>
            </a:pPr>
            <a:r>
              <a:rPr lang="en-GB" altLang="en-US" baseline="0" dirty="0" smtClean="0">
                <a:latin typeface="Times New Roman" pitchFamily="18" charset="0"/>
              </a:rPr>
              <a:t> ever implemented a PT programme with a child</a:t>
            </a:r>
            <a:endParaRPr lang="en-GB" altLang="en-US" dirty="0" smtClean="0">
              <a:latin typeface="Times New Roman" pitchFamily="18" charset="0"/>
            </a:endParaRPr>
          </a:p>
          <a:p>
            <a:pPr eaLnBrk="1" hangingPunct="1"/>
            <a:endParaRPr lang="en-US" altLang="en-US" dirty="0" smtClean="0"/>
          </a:p>
        </p:txBody>
      </p:sp>
      <p:sp>
        <p:nvSpPr>
          <p:cNvPr id="2458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92A17BC-41AD-44AE-816B-DC062DEA6D3C}"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What is precision teaching/when can PT be used/why does PT work? – 10 minutes</a:t>
            </a:r>
          </a:p>
          <a:p>
            <a:pPr>
              <a:buFont typeface="Arial" pitchFamily="34" charset="0"/>
              <a:buChar char="•"/>
            </a:pPr>
            <a:r>
              <a:rPr lang="en-GB" altLang="en-US" baseline="0" dirty="0" smtClean="0">
                <a:latin typeface="Times New Roman" pitchFamily="18" charset="0"/>
              </a:rPr>
              <a:t> The underlying theory (will include an activity) – 10 minutes</a:t>
            </a:r>
          </a:p>
          <a:p>
            <a:pPr>
              <a:buFont typeface="Arial" pitchFamily="34" charset="0"/>
              <a:buChar char="•"/>
            </a:pPr>
            <a:r>
              <a:rPr lang="en-GB" altLang="en-US" baseline="0" dirty="0" smtClean="0">
                <a:latin typeface="Times New Roman" pitchFamily="18" charset="0"/>
              </a:rPr>
              <a:t> How do you do PT</a:t>
            </a:r>
            <a:r>
              <a:rPr lang="en-GB" altLang="en-US" dirty="0" smtClean="0">
                <a:latin typeface="Times New Roman" pitchFamily="18" charset="0"/>
              </a:rPr>
              <a:t> – (will</a:t>
            </a:r>
            <a:r>
              <a:rPr lang="en-GB" altLang="en-US" baseline="0" dirty="0" smtClean="0">
                <a:latin typeface="Times New Roman" pitchFamily="18" charset="0"/>
              </a:rPr>
              <a:t> include two activities – one related to each part) 30 minutes</a:t>
            </a:r>
            <a:endParaRPr lang="en-GB" altLang="en-US" dirty="0" smtClean="0">
              <a:latin typeface="Times New Roman" pitchFamily="18" charset="0"/>
            </a:endParaRPr>
          </a:p>
          <a:p>
            <a:pPr>
              <a:buFont typeface="Arial" pitchFamily="34" charset="0"/>
              <a:buChar char="•"/>
            </a:pPr>
            <a:r>
              <a:rPr lang="en-GB" altLang="en-US" baseline="0" dirty="0" smtClean="0">
                <a:latin typeface="Times New Roman" pitchFamily="18" charset="0"/>
              </a:rPr>
              <a:t> Goals between now and the next session – 10 minutes – </a:t>
            </a:r>
            <a:r>
              <a:rPr lang="en-GB" altLang="en-US" b="1" baseline="0" dirty="0" smtClean="0">
                <a:latin typeface="Times New Roman" pitchFamily="18" charset="0"/>
              </a:rPr>
              <a:t>Clarify position with TAs with regards to having a child in mind – explain  that training has been designed with expectation that we can consolidate our training from each session by putting it into practice as we go along</a:t>
            </a:r>
          </a:p>
          <a:p>
            <a:pPr>
              <a:buFont typeface="Arial" pitchFamily="34" charset="0"/>
              <a:buNone/>
            </a:pPr>
            <a:endParaRPr lang="en-GB" altLang="en-US" baseline="0" dirty="0" smtClean="0">
              <a:latin typeface="Times New Roman" pitchFamily="18" charset="0"/>
            </a:endParaRPr>
          </a:p>
          <a:p>
            <a:pPr>
              <a:buFont typeface="Arial" pitchFamily="34" charset="0"/>
              <a:buChar char="•"/>
            </a:pPr>
            <a:r>
              <a:rPr lang="en-GB" altLang="en-US" baseline="0" dirty="0" smtClean="0">
                <a:latin typeface="Times New Roman" pitchFamily="18" charset="0"/>
              </a:rPr>
              <a:t> Time for questions at the end – at least 5 minutes</a:t>
            </a:r>
          </a:p>
          <a:p>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smtClean="0">
                <a:latin typeface="Times New Roman" pitchFamily="18" charset="0"/>
              </a:rPr>
              <a:t>Looking ahead to next sessions:</a:t>
            </a:r>
          </a:p>
          <a:p>
            <a:endParaRPr lang="en-GB" altLang="en-US" dirty="0" smtClean="0">
              <a:latin typeface="Times New Roman" pitchFamily="18" charset="0"/>
            </a:endParaRPr>
          </a:p>
          <a:p>
            <a:r>
              <a:rPr lang="en-GB" altLang="en-US" dirty="0" smtClean="0">
                <a:latin typeface="Times New Roman" pitchFamily="18" charset="0"/>
              </a:rPr>
              <a:t>Explain</a:t>
            </a:r>
            <a:r>
              <a:rPr lang="en-GB" altLang="en-US" baseline="0" dirty="0" smtClean="0">
                <a:latin typeface="Times New Roman" pitchFamily="18" charset="0"/>
              </a:rPr>
              <a:t> that we will meet for a final session three weeks after the second session – hopefully once we have begun to settle into a routine of daily precision teaching sessions with our target children</a:t>
            </a:r>
          </a:p>
          <a:p>
            <a:endParaRPr lang="en-GB" altLang="en-US" baseline="0" dirty="0" smtClean="0">
              <a:latin typeface="Times New Roman" pitchFamily="18" charset="0"/>
            </a:endParaRPr>
          </a:p>
          <a:p>
            <a:r>
              <a:rPr lang="en-GB" altLang="en-US" baseline="0" dirty="0" smtClean="0">
                <a:latin typeface="Times New Roman" pitchFamily="18" charset="0"/>
              </a:rPr>
              <a:t>We will be doing a form of peer supervision where we share experiences and try to problem-solve together – this will form a model of support for any future issues which arise with implementing PT programmes – emphasise colleagues as a very rich and creative resource for solving problems</a:t>
            </a:r>
            <a:endParaRPr lang="en-GB" altLang="en-US" dirty="0" smtClean="0">
              <a:latin typeface="Times New Roman" pitchFamily="18" charset="0"/>
            </a:endParaRPr>
          </a:p>
          <a:p>
            <a:endParaRPr lang="en-GB" altLang="en-US" dirty="0" smtClean="0">
              <a:latin typeface="Times New Roman" pitchFamily="18" charset="0"/>
            </a:endParaRPr>
          </a:p>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en-US" dirty="0" smtClean="0">
                <a:latin typeface="Times New Roman" pitchFamily="18" charset="0"/>
              </a:rPr>
              <a:t>Although PT sessions</a:t>
            </a:r>
            <a:r>
              <a:rPr lang="en-GB" altLang="en-US" baseline="0" dirty="0" smtClean="0">
                <a:latin typeface="Times New Roman" pitchFamily="18" charset="0"/>
              </a:rPr>
              <a:t> do involve teaching PT is more accurately described as a way of precisely measuring the effectiveness of teaching, rather than an actual method of teaching.  It involves precise, daily measurement of a child’s progress towards given targets; this feedback is used to shape the programme effectively to the individual needs of the child. </a:t>
            </a:r>
            <a:endParaRPr lang="en-GB" altLang="en-US" dirty="0" smtClean="0">
              <a:latin typeface="Times New Roman" pitchFamily="18" charset="0"/>
            </a:endParaRPr>
          </a:p>
          <a:p>
            <a:endParaRPr lang="en-GB" altLang="en-US" dirty="0" smtClean="0">
              <a:latin typeface="Times New Roman" pitchFamily="18" charset="0"/>
            </a:endParaRPr>
          </a:p>
          <a:p>
            <a:r>
              <a:rPr lang="en-GB" altLang="en-US" dirty="0" smtClean="0">
                <a:latin typeface="Times New Roman" pitchFamily="18" charset="0"/>
              </a:rPr>
              <a:t>Key principle of PT is that “The child knows best” – if there is a lack of progress, the assumption is not that “the child is failing to progress, but rather that the programme is failing to progress the child” – </a:t>
            </a:r>
            <a:r>
              <a:rPr lang="en-GB" altLang="en-US" b="1" dirty="0" smtClean="0">
                <a:latin typeface="Times New Roman" pitchFamily="18" charset="0"/>
              </a:rPr>
              <a:t>emphasises that PT seeks to protect and build children’s self-esteem in the process of moving them forward in their learning; emphasise where I am an advocate for PT!</a:t>
            </a:r>
            <a:endParaRPr lang="en-GB" dirty="0"/>
          </a:p>
        </p:txBody>
      </p:sp>
    </p:spTree>
    <p:extLst>
      <p:ext uri="{BB962C8B-B14F-4D97-AF65-F5344CB8AC3E}">
        <p14:creationId xmlns:p14="http://schemas.microsoft.com/office/powerpoint/2010/main" val="4058450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One-to-one intervention for ‘st</a:t>
            </a:r>
            <a:r>
              <a:rPr lang="en-GB" altLang="en-US" dirty="0" smtClean="0">
                <a:latin typeface="Times New Roman" pitchFamily="18" charset="0"/>
              </a:rPr>
              <a:t>uck</a:t>
            </a:r>
            <a:r>
              <a:rPr lang="en-GB" altLang="en-US" baseline="0" dirty="0" smtClean="0">
                <a:latin typeface="Times New Roman" pitchFamily="18" charset="0"/>
              </a:rPr>
              <a:t> children’</a:t>
            </a: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Little/no progress despite appropriate learning opportunities </a:t>
            </a:r>
          </a:p>
          <a:p>
            <a:pPr>
              <a:buFont typeface="Arial" pitchFamily="34" charset="0"/>
              <a:buChar char="•"/>
            </a:pPr>
            <a:r>
              <a:rPr lang="en-GB" altLang="en-US" baseline="0" dirty="0" smtClean="0">
                <a:latin typeface="Times New Roman" pitchFamily="18" charset="0"/>
              </a:rPr>
              <a:t> Most often used as a literacy intervention but can also be used as a numeracy intervention</a:t>
            </a:r>
          </a:p>
          <a:p>
            <a:pPr>
              <a:buFont typeface="Arial" pitchFamily="34" charset="0"/>
              <a:buChar char="•"/>
            </a:pP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Can</a:t>
            </a:r>
            <a:r>
              <a:rPr lang="en-GB" altLang="en-US" baseline="0" dirty="0" smtClean="0">
                <a:latin typeface="Times New Roman" pitchFamily="18" charset="0"/>
              </a:rPr>
              <a:t> be applied widely to a range of learning areas </a:t>
            </a:r>
            <a:r>
              <a:rPr lang="en-GB" altLang="en-US" dirty="0" smtClean="0">
                <a:latin typeface="Times New Roman" pitchFamily="18" charset="0"/>
              </a:rPr>
              <a:t>but:</a:t>
            </a:r>
          </a:p>
          <a:p>
            <a:pPr lvl="1">
              <a:buFont typeface="Arial" pitchFamily="34" charset="0"/>
              <a:buChar char="•"/>
            </a:pPr>
            <a:r>
              <a:rPr lang="en-GB" altLang="en-US" dirty="0" smtClean="0">
                <a:latin typeface="Times New Roman" pitchFamily="18" charset="0"/>
              </a:rPr>
              <a:t>Skills</a:t>
            </a:r>
            <a:r>
              <a:rPr lang="en-GB" altLang="en-US" baseline="0" dirty="0" smtClean="0">
                <a:latin typeface="Times New Roman" pitchFamily="18" charset="0"/>
              </a:rPr>
              <a:t> must be measurable </a:t>
            </a:r>
          </a:p>
          <a:p>
            <a:pPr lvl="1">
              <a:buFont typeface="Arial" pitchFamily="34" charset="0"/>
              <a:buChar char="•"/>
            </a:pPr>
            <a:r>
              <a:rPr lang="en-GB" altLang="en-US" baseline="0" dirty="0" smtClean="0">
                <a:latin typeface="Times New Roman" pitchFamily="18" charset="0"/>
              </a:rPr>
              <a:t>Designed to support children to acquire the skills they need to make progress – building blocks</a:t>
            </a:r>
            <a:endParaRPr lang="en-GB" altLang="en-US" dirty="0" smtClean="0">
              <a:latin typeface="Times New Roman" pitchFamily="18" charset="0"/>
            </a:endParaRPr>
          </a:p>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noTextEdit="1"/>
          </p:cNvSpPr>
          <p:nvPr>
            <p:ph type="sldImg"/>
          </p:nvPr>
        </p:nvSpPr>
        <p:spPr>
          <a:ln/>
        </p:spPr>
      </p:sp>
      <p:sp>
        <p:nvSpPr>
          <p:cNvPr id="46083" name="Rectangle 3"/>
          <p:cNvSpPr>
            <a:spLocks noGrp="1" noChangeArrowheads="1"/>
          </p:cNvSpPr>
          <p:nvPr>
            <p:ph type="body" idx="1"/>
          </p:nvPr>
        </p:nvSpPr>
        <p:spPr>
          <a:xfrm>
            <a:off x="1314945" y="3202315"/>
            <a:ext cx="7242774" cy="3034112"/>
          </a:xfrm>
          <a:noFill/>
        </p:spPr>
        <p:txBody>
          <a:bodyPr/>
          <a:lstStyle/>
          <a:p>
            <a:r>
              <a:rPr lang="en-GB" altLang="en-US" dirty="0" smtClean="0">
                <a:latin typeface="Arial" pitchFamily="34" charset="0"/>
              </a:rPr>
              <a:t>Activity - (Learning Hierarch – Jumbled)</a:t>
            </a:r>
          </a:p>
          <a:p>
            <a:r>
              <a:rPr lang="en-GB" altLang="en-US" dirty="0" smtClean="0">
                <a:latin typeface="Arial" pitchFamily="34" charset="0"/>
              </a:rPr>
              <a:t>When you learn a new skill it has been suggested that you progress through these 5 stages</a:t>
            </a:r>
            <a:r>
              <a:rPr lang="en-GB" altLang="en-US" dirty="0" smtClean="0"/>
              <a:t>…</a:t>
            </a:r>
            <a:endParaRPr lang="en-GB" altLang="en-US" dirty="0" smtClean="0">
              <a:latin typeface="Arial" pitchFamily="34" charset="0"/>
            </a:endParaRPr>
          </a:p>
          <a:p>
            <a:endParaRPr lang="en-GB" altLang="en-US" dirty="0" smtClean="0">
              <a:latin typeface="Arial" pitchFamily="34" charset="0"/>
            </a:endParaRPr>
          </a:p>
          <a:p>
            <a:endParaRPr lang="en-GB" altLang="en-US" dirty="0" smtClean="0">
              <a:latin typeface="Arial" pitchFamily="34" charset="0"/>
            </a:endParaRPr>
          </a:p>
          <a:p>
            <a:pPr>
              <a:buFontTx/>
              <a:buChar char="•"/>
            </a:pPr>
            <a:r>
              <a:rPr lang="en-GB" altLang="en-US" dirty="0" smtClean="0">
                <a:latin typeface="Arial" pitchFamily="34" charset="0"/>
              </a:rPr>
              <a:t> Order the stages &amp; definitions</a:t>
            </a:r>
          </a:p>
          <a:p>
            <a:endParaRPr lang="en-GB" altLang="en-US" dirty="0" smtClean="0">
              <a:latin typeface="Arial" pitchFamily="34" charset="0"/>
            </a:endParaRPr>
          </a:p>
          <a:p>
            <a:pPr>
              <a:buFontTx/>
              <a:buChar char="•"/>
            </a:pPr>
            <a:r>
              <a:rPr lang="en-GB" altLang="en-US" dirty="0" smtClean="0">
                <a:latin typeface="Arial" pitchFamily="34" charset="0"/>
              </a:rPr>
              <a:t> Match the example (learning to drive a car) to the stages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noTextEdit="1"/>
          </p:cNvSpPr>
          <p:nvPr>
            <p:ph type="sldImg"/>
          </p:nvPr>
        </p:nvSpPr>
        <p:spPr>
          <a:ln/>
        </p:spPr>
      </p:sp>
      <p:sp>
        <p:nvSpPr>
          <p:cNvPr id="47107" name="Rectangle 3"/>
          <p:cNvSpPr>
            <a:spLocks noChangeArrowheads="1"/>
          </p:cNvSpPr>
          <p:nvPr/>
        </p:nvSpPr>
        <p:spPr bwMode="auto">
          <a:xfrm>
            <a:off x="1274955" y="3175360"/>
            <a:ext cx="7240423" cy="2885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dirty="0" smtClean="0"/>
          </a:p>
          <a:p>
            <a:pPr eaLnBrk="1" hangingPunct="1"/>
            <a:r>
              <a:rPr lang="en-GB" altLang="en-US" dirty="0" smtClean="0"/>
              <a:t>When mastering new academic skills or strategies, the student learner typically progress through a predictable series of learning stages. </a:t>
            </a:r>
          </a:p>
          <a:p>
            <a:pPr eaLnBrk="1" hangingPunct="1"/>
            <a:r>
              <a:rPr lang="en-GB" altLang="en-US" dirty="0" smtClean="0"/>
              <a:t>Lets imagine when you first learn to drive. </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Acquisition – you are learning to drive and need to think carefully when changing gears, indicating </a:t>
            </a:r>
            <a:r>
              <a:rPr lang="en-GB" altLang="en-US" dirty="0" err="1" smtClean="0"/>
              <a:t>etc</a:t>
            </a:r>
            <a:r>
              <a:rPr lang="en-GB" altLang="en-US" baseline="0" dirty="0" smtClean="0"/>
              <a:t> - </a:t>
            </a:r>
            <a:r>
              <a:rPr lang="en-GB" altLang="en-US" b="1" dirty="0" smtClean="0">
                <a:latin typeface="Times New Roman" pitchFamily="18" charset="0"/>
              </a:rPr>
              <a:t>Just beginning to learn the skill, some degree of accuracy but performance not yet reliable – by the end of this phase performance is basically accurate but not fluid, automated</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Fluency – you can change gears without thinking and can now focus on the </a:t>
            </a:r>
            <a:r>
              <a:rPr lang="en-GB" altLang="en-US" dirty="0" smtClean="0"/>
              <a:t>road - </a:t>
            </a:r>
            <a:r>
              <a:rPr lang="en-GB" altLang="en-US" b="1" dirty="0" smtClean="0">
                <a:latin typeface="Times New Roman" pitchFamily="18" charset="0"/>
              </a:rPr>
              <a:t>Can perform the skill quickly and accurately – this phase brings speed of performance into the equation – skill becoming automated, ‘second nature’</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Maintenance – 6 months after, when you came back from a long holiday, you can still </a:t>
            </a:r>
            <a:r>
              <a:rPr lang="en-GB" altLang="en-US" dirty="0" smtClean="0"/>
              <a:t>drive - </a:t>
            </a:r>
            <a:r>
              <a:rPr lang="en-GB" altLang="en-US" b="1" dirty="0" smtClean="0">
                <a:latin typeface="Times New Roman" pitchFamily="18" charset="0"/>
              </a:rPr>
              <a:t>Due to regular reinforcements, can perform the skill over a lengthy period of time – fluent performance is sustained over time – often referred to as ‘mastery’ stage</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Generalisation – Your friend ask you to drive their car and you are able to do so with some support and </a:t>
            </a:r>
            <a:r>
              <a:rPr lang="en-GB" altLang="en-US" dirty="0" smtClean="0"/>
              <a:t>instruction - </a:t>
            </a:r>
            <a:r>
              <a:rPr lang="en-GB" altLang="en-US" b="1" dirty="0" smtClean="0">
                <a:latin typeface="Times New Roman" pitchFamily="18" charset="0"/>
              </a:rPr>
              <a:t>Can generalise the skill to different contexts/new situations, can transfer learning across settings</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Adaptation – Driving a different car is not a problem </a:t>
            </a:r>
            <a:r>
              <a:rPr lang="en-GB" altLang="en-US" dirty="0" smtClean="0"/>
              <a:t>anymore</a:t>
            </a:r>
            <a:r>
              <a:rPr lang="en-GB" altLang="en-US" baseline="0" dirty="0" smtClean="0"/>
              <a:t> - </a:t>
            </a:r>
            <a:r>
              <a:rPr lang="en-GB" altLang="en-US" b="1" u="sng" dirty="0" smtClean="0">
                <a:latin typeface="Times New Roman" pitchFamily="18" charset="0"/>
              </a:rPr>
              <a:t>Adaptation</a:t>
            </a:r>
            <a:r>
              <a:rPr lang="en-GB" altLang="en-US" b="1" dirty="0" smtClean="0">
                <a:latin typeface="Times New Roman" pitchFamily="18" charset="0"/>
              </a:rPr>
              <a:t>	 Can adapt the skill appropriately to learn new skills </a:t>
            </a:r>
            <a:r>
              <a:rPr lang="en-GB" altLang="en-US" b="1" i="1" dirty="0" smtClean="0">
                <a:latin typeface="Times New Roman" pitchFamily="18" charset="0"/>
              </a:rPr>
              <a:t>NB. Overlap between generalisation &amp; adaptation stages</a:t>
            </a:r>
          </a:p>
          <a:p>
            <a:r>
              <a:rPr lang="en-GB" altLang="en-US" dirty="0" smtClean="0"/>
              <a:t> </a:t>
            </a:r>
          </a:p>
          <a:p>
            <a:r>
              <a:rPr lang="en-GB" altLang="en-US" b="1" dirty="0" smtClean="0">
                <a:latin typeface="Times New Roman" pitchFamily="18" charset="0"/>
              </a:rPr>
              <a:t>Q. So where does Precision Teaching fit into this learning hierarchy?</a:t>
            </a:r>
          </a:p>
          <a:p>
            <a:endParaRPr lang="en-GB" altLang="en-US" b="1" dirty="0" smtClean="0">
              <a:latin typeface="Times New Roman" pitchFamily="18" charset="0"/>
            </a:endParaRPr>
          </a:p>
          <a:p>
            <a:pPr>
              <a:buFontTx/>
              <a:buChar char="•"/>
            </a:pPr>
            <a:r>
              <a:rPr lang="en-GB" altLang="en-US" dirty="0" smtClean="0">
                <a:latin typeface="Times New Roman" pitchFamily="18" charset="0"/>
              </a:rPr>
              <a:t>PT designed to </a:t>
            </a:r>
            <a:r>
              <a:rPr lang="en-GB" altLang="en-US" b="1" dirty="0" smtClean="0">
                <a:latin typeface="Times New Roman" pitchFamily="18" charset="0"/>
              </a:rPr>
              <a:t>unlock the door to maintenance and higher learning stages </a:t>
            </a:r>
            <a:r>
              <a:rPr lang="en-GB" altLang="en-US" dirty="0" smtClean="0">
                <a:latin typeface="Times New Roman" pitchFamily="18" charset="0"/>
              </a:rPr>
              <a:t>by supporting children to achieve fluency, that is fast accurate performance of a skill. </a:t>
            </a:r>
          </a:p>
          <a:p>
            <a:pPr>
              <a:buFontTx/>
              <a:buChar char="•"/>
            </a:pPr>
            <a:r>
              <a:rPr lang="en-GB" altLang="en-US" dirty="0" smtClean="0">
                <a:latin typeface="Times New Roman" pitchFamily="18" charset="0"/>
              </a:rPr>
              <a:t>Basis premise of PT: </a:t>
            </a:r>
            <a:r>
              <a:rPr lang="en-GB" altLang="en-US" b="1" dirty="0" smtClean="0">
                <a:latin typeface="Times New Roman" pitchFamily="18" charset="0"/>
              </a:rPr>
              <a:t>accuracy</a:t>
            </a:r>
            <a:r>
              <a:rPr lang="en-GB" altLang="en-US" dirty="0" smtClean="0">
                <a:latin typeface="Times New Roman" pitchFamily="18" charset="0"/>
              </a:rPr>
              <a:t> is important but not </a:t>
            </a:r>
            <a:r>
              <a:rPr lang="en-GB" altLang="en-US" b="1" dirty="0" smtClean="0">
                <a:latin typeface="Times New Roman" pitchFamily="18" charset="0"/>
              </a:rPr>
              <a:t>sufficient – basically supports children who are stuck at the acquisition stage</a:t>
            </a:r>
          </a:p>
          <a:p>
            <a:pPr>
              <a:buFontTx/>
              <a:buChar char="•"/>
            </a:pPr>
            <a:r>
              <a:rPr lang="en-GB" altLang="en-US" dirty="0" smtClean="0">
                <a:latin typeface="Times New Roman" pitchFamily="18" charset="0"/>
              </a:rPr>
              <a:t>Without development of fluent performance, progression to maintenance will not happen and the skill will be forgotten</a:t>
            </a:r>
          </a:p>
          <a:p>
            <a:pPr>
              <a:buFontTx/>
              <a:buChar char="•"/>
            </a:pPr>
            <a:r>
              <a:rPr lang="en-GB" altLang="en-US" dirty="0" smtClean="0">
                <a:latin typeface="Times New Roman" pitchFamily="18" charset="0"/>
              </a:rPr>
              <a:t>Sometimes we can make assumptions that a child ‘can’t do’ when in fact they are capable of acquiring the skill, but because they haven’t developed fluency, they lose it, and it can appear like they never learned it in the first place</a:t>
            </a:r>
            <a:endParaRPr lang="en-GB" altLang="en-US" b="1" dirty="0"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a:p>
            <a:r>
              <a:rPr lang="en-GB" altLang="en-US" dirty="0" smtClean="0"/>
              <a:t>There are 6 steps to delivering precision monitoring;</a:t>
            </a:r>
          </a:p>
          <a:p>
            <a:endParaRPr lang="en-GB" altLang="en-US" dirty="0" smtClean="0"/>
          </a:p>
          <a:p>
            <a:pPr>
              <a:lnSpc>
                <a:spcPct val="80000"/>
              </a:lnSpc>
              <a:buFontTx/>
              <a:buAutoNum type="arabicPeriod"/>
            </a:pPr>
            <a:r>
              <a:rPr lang="en-GB" altLang="en-US" dirty="0" smtClean="0"/>
              <a:t>Identify a specific difficulty and acquire a baseline.</a:t>
            </a:r>
          </a:p>
          <a:p>
            <a:pPr>
              <a:lnSpc>
                <a:spcPct val="80000"/>
              </a:lnSpc>
            </a:pPr>
            <a:endParaRPr lang="en-GB" altLang="en-US" dirty="0" smtClean="0"/>
          </a:p>
          <a:p>
            <a:pPr>
              <a:lnSpc>
                <a:spcPct val="80000"/>
              </a:lnSpc>
              <a:buFontTx/>
              <a:buAutoNum type="arabicPeriod" startAt="2"/>
            </a:pPr>
            <a:r>
              <a:rPr lang="en-GB" altLang="en-US" dirty="0" smtClean="0"/>
              <a:t>Setting a target.</a:t>
            </a:r>
          </a:p>
          <a:p>
            <a:pPr>
              <a:lnSpc>
                <a:spcPct val="80000"/>
              </a:lnSpc>
            </a:pPr>
            <a:endParaRPr lang="en-GB" altLang="en-US" dirty="0" smtClean="0"/>
          </a:p>
          <a:p>
            <a:pPr>
              <a:lnSpc>
                <a:spcPct val="80000"/>
              </a:lnSpc>
              <a:buFontTx/>
              <a:buAutoNum type="arabicPeriod" startAt="3"/>
            </a:pPr>
            <a:r>
              <a:rPr lang="en-GB" altLang="en-US" dirty="0" smtClean="0"/>
              <a:t>Teaching </a:t>
            </a:r>
          </a:p>
          <a:p>
            <a:pPr>
              <a:lnSpc>
                <a:spcPct val="80000"/>
              </a:lnSpc>
              <a:buFontTx/>
              <a:buAutoNum type="arabicPeriod" startAt="3"/>
            </a:pPr>
            <a:endParaRPr lang="en-GB" altLang="en-US" dirty="0" smtClean="0"/>
          </a:p>
          <a:p>
            <a:pPr>
              <a:lnSpc>
                <a:spcPct val="80000"/>
              </a:lnSpc>
              <a:buFontTx/>
              <a:buAutoNum type="arabicPeriod" startAt="3"/>
            </a:pPr>
            <a:r>
              <a:rPr lang="en-GB" altLang="en-US" dirty="0" smtClean="0"/>
              <a:t>Monitor child’s performance daily. (We’ve used the word PROBE here – we’ll come back to this)</a:t>
            </a:r>
          </a:p>
          <a:p>
            <a:pPr>
              <a:lnSpc>
                <a:spcPct val="80000"/>
              </a:lnSpc>
              <a:buFontTx/>
              <a:buAutoNum type="arabicPeriod" startAt="3"/>
            </a:pPr>
            <a:endParaRPr lang="en-GB" altLang="en-US" dirty="0" smtClean="0"/>
          </a:p>
          <a:p>
            <a:pPr>
              <a:lnSpc>
                <a:spcPct val="80000"/>
              </a:lnSpc>
              <a:buFontTx/>
              <a:buAutoNum type="arabicPeriod" startAt="5"/>
            </a:pPr>
            <a:r>
              <a:rPr lang="en-GB" altLang="en-US" dirty="0" smtClean="0"/>
              <a:t>Charting results and making a note of teaching methods.</a:t>
            </a:r>
          </a:p>
          <a:p>
            <a:pPr>
              <a:lnSpc>
                <a:spcPct val="80000"/>
              </a:lnSpc>
              <a:buFontTx/>
              <a:buAutoNum type="arabicPeriod" startAt="5"/>
            </a:pPr>
            <a:endParaRPr lang="en-GB" altLang="en-US" dirty="0" smtClean="0"/>
          </a:p>
          <a:p>
            <a:pPr>
              <a:lnSpc>
                <a:spcPct val="80000"/>
              </a:lnSpc>
              <a:buFontTx/>
              <a:buAutoNum type="arabicPeriod" startAt="6"/>
            </a:pPr>
            <a:r>
              <a:rPr lang="en-GB" altLang="en-US" dirty="0" smtClean="0"/>
              <a:t>Analysing  data to determine if a change of target or  teaching method is needed.</a:t>
            </a:r>
            <a:endParaRPr lang="en-GB" altLang="en-US" i="1"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p:spPr>
        <p:txBody>
          <a:bodyPr/>
          <a:lstStyle/>
          <a:p>
            <a:pPr eaLnBrk="1" hangingPunct="1"/>
            <a:endParaRPr lang="en-US" altLang="en-US" smtClean="0"/>
          </a:p>
        </p:txBody>
      </p:sp>
      <p:sp>
        <p:nvSpPr>
          <p:cNvPr id="3379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AD432B09-0467-4C72-970E-0AD4918F873B}" type="slidenum">
              <a:rPr lang="en-GB" altLang="en-US" smtClean="0"/>
              <a:pPr eaLnBrk="1" hangingPunct="1">
                <a:spcBef>
                  <a:spcPct val="0"/>
                </a:spcBef>
              </a:pPr>
              <a:t>10</a:t>
            </a:fld>
            <a:endParaRPr lang="en-GB"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11</a:t>
            </a:fld>
            <a:endParaRPr lang="en-GB"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12</a:t>
            </a:fld>
            <a:endParaRPr lang="en-GB"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p:spPr>
        <p:txBody>
          <a:bodyPr/>
          <a:lstStyle/>
          <a:p>
            <a:pPr eaLnBrk="1" hangingPunct="1"/>
            <a:endParaRPr lang="en-US" altLang="en-US" smtClean="0"/>
          </a:p>
        </p:txBody>
      </p:sp>
      <p:sp>
        <p:nvSpPr>
          <p:cNvPr id="3686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152D60A-6A3B-4D67-905F-FC2DA5C15B4E}" type="slidenum">
              <a:rPr lang="en-GB" altLang="en-US" smtClean="0"/>
              <a:pPr eaLnBrk="1" hangingPunct="1">
                <a:spcBef>
                  <a:spcPct val="0"/>
                </a:spcBef>
              </a:pPr>
              <a:t>13</a:t>
            </a:fld>
            <a:endParaRPr lang="en-GB"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15</a:t>
            </a:fld>
            <a:endParaRPr lang="en-GB"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20</a:t>
            </a:fld>
            <a:endParaRPr lang="en-GB"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05/06/2017</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05/06/2017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05/06/2017</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05/06/2017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05/06/2017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05/06/2017</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2767380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05/06/2017</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05/06/2017</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05/06/2017</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05/06/2017</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05/06/2017</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05/06/2017</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05/06/2017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05/06/2017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05/06/2017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05/06/2017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05/06/2017</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05/06/2017</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05/06/2017</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05/06/2017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05/06/2017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05/06/2017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05/06/2017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30" r:id="rId13"/>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05/06/2017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05/06/2017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05/06/2017</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464" y="4510608"/>
            <a:ext cx="2447297" cy="172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dirty="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dirty="0">
                <a:solidFill>
                  <a:schemeClr val="bg1"/>
                </a:solidFill>
                <a:latin typeface="Arial Black" pitchFamily="34" charset="0"/>
                <a:ea typeface="ＭＳ Ｐゴシック" pitchFamily="110" charset="-128"/>
              </a:rPr>
              <a:t>E D U C T I O N A L   P S Y C H O L O G Y   S E R V I C E</a:t>
            </a:r>
          </a:p>
        </p:txBody>
      </p:sp>
      <p:sp>
        <p:nvSpPr>
          <p:cNvPr id="3078" name="Text Box 8"/>
          <p:cNvSpPr txBox="1">
            <a:spLocks noChangeArrowheads="1"/>
          </p:cNvSpPr>
          <p:nvPr/>
        </p:nvSpPr>
        <p:spPr bwMode="auto">
          <a:xfrm>
            <a:off x="637073" y="692696"/>
            <a:ext cx="7704856" cy="477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4000" b="1" u="sng" dirty="0" smtClean="0">
                <a:ea typeface="ＭＳ Ｐゴシック" pitchFamily="110" charset="-128"/>
              </a:rPr>
              <a:t>Precision Teaching:</a:t>
            </a:r>
          </a:p>
          <a:p>
            <a:pPr>
              <a:spcBef>
                <a:spcPct val="50000"/>
              </a:spcBef>
              <a:buClrTx/>
              <a:buSzTx/>
              <a:buFontTx/>
              <a:buNone/>
            </a:pPr>
            <a:r>
              <a:rPr lang="en-US" altLang="en-US" sz="3200" b="1" dirty="0" smtClean="0">
                <a:ea typeface="ＭＳ Ｐゴシック" pitchFamily="110" charset="-128"/>
              </a:rPr>
              <a:t>An Introduction</a:t>
            </a:r>
          </a:p>
          <a:p>
            <a:pPr>
              <a:spcBef>
                <a:spcPct val="50000"/>
              </a:spcBef>
              <a:buClrTx/>
              <a:buSzTx/>
              <a:buFontTx/>
              <a:buNone/>
            </a:pPr>
            <a:r>
              <a:rPr lang="en-US" altLang="en-US" sz="2400" b="1" dirty="0" smtClean="0">
                <a:ea typeface="ＭＳ Ｐゴシック" pitchFamily="110" charset="-128"/>
              </a:rPr>
              <a:t>Session 1 of 3</a:t>
            </a:r>
          </a:p>
          <a:p>
            <a:pPr>
              <a:spcBef>
                <a:spcPct val="50000"/>
              </a:spcBef>
              <a:buClrTx/>
              <a:buSzTx/>
              <a:buFontTx/>
              <a:buNone/>
            </a:pPr>
            <a:endParaRPr lang="en-US" altLang="en-US" sz="2400" b="1" dirty="0">
              <a:ea typeface="ＭＳ Ｐゴシック" pitchFamily="110" charset="-128"/>
            </a:endParaRPr>
          </a:p>
          <a:p>
            <a:pPr>
              <a:spcBef>
                <a:spcPct val="50000"/>
              </a:spcBef>
              <a:buClrTx/>
              <a:buSzTx/>
              <a:buFontTx/>
              <a:buNone/>
            </a:pPr>
            <a:r>
              <a:rPr lang="en-US" altLang="en-US" sz="2400" dirty="0" smtClean="0">
                <a:ea typeface="ＭＳ Ｐゴシック" pitchFamily="110" charset="-128"/>
              </a:rPr>
              <a:t>St Luke’s Primary </a:t>
            </a:r>
          </a:p>
          <a:p>
            <a:pPr>
              <a:spcBef>
                <a:spcPct val="50000"/>
              </a:spcBef>
              <a:buClrTx/>
              <a:buSzTx/>
              <a:buFontTx/>
              <a:buNone/>
            </a:pPr>
            <a:endParaRPr lang="en-US" altLang="en-US" sz="2400" dirty="0">
              <a:ea typeface="ＭＳ Ｐゴシック" pitchFamily="110" charset="-128"/>
            </a:endParaRPr>
          </a:p>
          <a:p>
            <a:pPr>
              <a:spcBef>
                <a:spcPct val="50000"/>
              </a:spcBef>
              <a:buClrTx/>
              <a:buSzTx/>
              <a:buFontTx/>
              <a:buNone/>
            </a:pPr>
            <a:r>
              <a:rPr lang="en-US" altLang="en-US" sz="2400" dirty="0">
                <a:ea typeface="ＭＳ Ｐゴシック" pitchFamily="110" charset="-128"/>
              </a:rPr>
              <a:t>Scott </a:t>
            </a:r>
            <a:r>
              <a:rPr lang="en-US" altLang="en-US" sz="2400" dirty="0" smtClean="0">
                <a:ea typeface="ＭＳ Ｐゴシック" pitchFamily="110" charset="-128"/>
              </a:rPr>
              <a:t>I-Patrick </a:t>
            </a:r>
          </a:p>
          <a:p>
            <a:pPr>
              <a:spcBef>
                <a:spcPct val="50000"/>
              </a:spcBef>
              <a:buClrTx/>
              <a:buSzTx/>
              <a:buFontTx/>
              <a:buNone/>
            </a:pPr>
            <a:r>
              <a:rPr lang="en-US" altLang="en-US" sz="2400" dirty="0" smtClean="0">
                <a:ea typeface="ＭＳ Ｐゴシック" pitchFamily="110" charset="-128"/>
              </a:rPr>
              <a:t>Tuesday 6</a:t>
            </a:r>
            <a:r>
              <a:rPr lang="en-US" altLang="en-US" sz="2400" baseline="30000" dirty="0" smtClean="0">
                <a:ea typeface="ＭＳ Ｐゴシック" pitchFamily="110" charset="-128"/>
              </a:rPr>
              <a:t>th</a:t>
            </a:r>
            <a:r>
              <a:rPr lang="en-US" altLang="en-US" sz="2400" dirty="0" smtClean="0">
                <a:ea typeface="ＭＳ Ｐゴシック" pitchFamily="110" charset="-128"/>
              </a:rPr>
              <a:t> June 2017</a:t>
            </a:r>
            <a:endParaRPr lang="en-US" altLang="en-US" sz="2400" dirty="0">
              <a:ea typeface="ＭＳ Ｐゴシック" pitchFamily="110" charset="-128"/>
            </a:endParaRPr>
          </a:p>
        </p:txBody>
      </p:sp>
    </p:spTree>
    <p:extLst>
      <p:ext uri="{BB962C8B-B14F-4D97-AF65-F5344CB8AC3E}">
        <p14:creationId xmlns:p14="http://schemas.microsoft.com/office/powerpoint/2010/main" val="396938526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200" dirty="0" smtClean="0">
                <a:solidFill>
                  <a:srgbClr val="000000"/>
                </a:solidFill>
                <a:latin typeface="Arial" charset="0"/>
              </a:rPr>
              <a:t>Aim for Session 1</a:t>
            </a:r>
            <a:endParaRPr lang="en-GB" sz="3200" dirty="0"/>
          </a:p>
        </p:txBody>
      </p:sp>
      <p:sp>
        <p:nvSpPr>
          <p:cNvPr id="3" name="Content Placeholder 2"/>
          <p:cNvSpPr>
            <a:spLocks noGrp="1"/>
          </p:cNvSpPr>
          <p:nvPr>
            <p:ph idx="1"/>
          </p:nvPr>
        </p:nvSpPr>
        <p:spPr/>
        <p:txBody>
          <a:bodyPr/>
          <a:lstStyle/>
          <a:p>
            <a:pPr marL="722313" lvl="1" indent="-384175" eaLnBrk="1" hangingPunct="1">
              <a:lnSpc>
                <a:spcPct val="90000"/>
              </a:lnSpc>
              <a:buFont typeface="Wingdings" panose="05000000000000000000" pitchFamily="2" charset="2"/>
              <a:buChar char="q"/>
            </a:pPr>
            <a:r>
              <a:rPr lang="en-US" altLang="en-US" sz="2400" dirty="0"/>
              <a:t>What is Precision Teaching?</a:t>
            </a:r>
          </a:p>
          <a:p>
            <a:pPr marL="681038" lvl="1" indent="-342900" eaLnBrk="1" hangingPunct="1">
              <a:lnSpc>
                <a:spcPct val="90000"/>
              </a:lnSpc>
              <a:buFont typeface="Wingdings" panose="05000000000000000000" pitchFamily="2" charset="2"/>
              <a:buChar char="q"/>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PT: The underlying theory</a:t>
            </a:r>
          </a:p>
          <a:p>
            <a:pPr marL="338138" lvl="1"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GB" altLang="en-US" sz="2400" dirty="0" smtClean="0"/>
              <a:t>Focus on how to acquire </a:t>
            </a:r>
            <a:r>
              <a:rPr lang="en-GB" altLang="en-US" sz="2400" dirty="0"/>
              <a:t>a </a:t>
            </a:r>
            <a:r>
              <a:rPr lang="en-GB" altLang="en-US" sz="2400" dirty="0" smtClean="0"/>
              <a:t>baseline following identification of a specific area of difficulty.</a:t>
            </a:r>
            <a:endParaRPr lang="en-GB" altLang="en-US" sz="2400" dirty="0"/>
          </a:p>
          <a:p>
            <a:pPr marL="800100" lvl="2"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Goals between now and the next session</a:t>
            </a:r>
          </a:p>
          <a:p>
            <a:pPr lvl="2" indent="-342900" eaLnBrk="1" hangingPunct="1">
              <a:lnSpc>
                <a:spcPct val="90000"/>
              </a:lnSpc>
              <a:buFont typeface="Wingdings" panose="05000000000000000000" pitchFamily="2" charset="2"/>
              <a:buChar char="ü"/>
            </a:pPr>
            <a:r>
              <a:rPr lang="en-US" altLang="en-US" sz="2400" dirty="0" smtClean="0"/>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3668625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Preview of upcoming sessions</a:t>
            </a:r>
            <a:endParaRPr lang="en-GB" dirty="0"/>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2 of 3</a:t>
            </a:r>
          </a:p>
          <a:p>
            <a:pPr marL="338138" lvl="1" indent="0" eaLnBrk="1" hangingPunct="1">
              <a:lnSpc>
                <a:spcPct val="90000"/>
              </a:lnSpc>
              <a:buNone/>
            </a:pPr>
            <a:endParaRPr lang="en-US" altLang="en-US" dirty="0" smtClean="0"/>
          </a:p>
          <a:p>
            <a:pPr marL="681038" lvl="1" indent="-342900" eaLnBrk="1" hangingPunct="1">
              <a:lnSpc>
                <a:spcPct val="90000"/>
              </a:lnSpc>
              <a:buFont typeface="Wingdings" panose="05000000000000000000" pitchFamily="2" charset="2"/>
              <a:buChar char="q"/>
            </a:pPr>
            <a:r>
              <a:rPr lang="en-US" altLang="en-US" sz="2400" dirty="0" smtClean="0"/>
              <a:t>Sharing </a:t>
            </a:r>
            <a:r>
              <a:rPr lang="en-US" altLang="en-US" sz="2400" dirty="0"/>
              <a:t>our experiences since the last session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US" altLang="en-US" sz="2400" dirty="0" smtClean="0"/>
              <a:t>Target setting </a:t>
            </a:r>
          </a:p>
          <a:p>
            <a:pPr lvl="2" indent="-342900" eaLnBrk="1" hangingPunct="1">
              <a:lnSpc>
                <a:spcPct val="90000"/>
              </a:lnSpc>
              <a:buFont typeface="Wingdings" panose="05000000000000000000" pitchFamily="2" charset="2"/>
              <a:buChar char="ü"/>
            </a:pPr>
            <a:r>
              <a:rPr lang="en-US" altLang="en-US" sz="2400" dirty="0" smtClean="0"/>
              <a:t>Teaching and probing </a:t>
            </a:r>
          </a:p>
          <a:p>
            <a:pPr lvl="2" indent="-342900" eaLnBrk="1" hangingPunct="1">
              <a:lnSpc>
                <a:spcPct val="90000"/>
              </a:lnSpc>
              <a:buFont typeface="Wingdings" panose="05000000000000000000" pitchFamily="2" charset="2"/>
              <a:buChar char="ü"/>
            </a:pPr>
            <a:r>
              <a:rPr lang="en-US" altLang="en-US" sz="2400" dirty="0" smtClean="0"/>
              <a:t>Charting </a:t>
            </a:r>
            <a:r>
              <a:rPr lang="en-US" altLang="en-US" sz="2400" dirty="0"/>
              <a:t>the results </a:t>
            </a:r>
            <a:r>
              <a:rPr lang="en-US" altLang="en-US" sz="2400" smtClean="0"/>
              <a:t>with target </a:t>
            </a:r>
            <a:r>
              <a:rPr lang="en-US" altLang="en-US" sz="2400" dirty="0" smtClean="0"/>
              <a:t>child</a:t>
            </a:r>
          </a:p>
          <a:p>
            <a:pPr lvl="2" indent="-342900" eaLnBrk="1" hangingPunct="1">
              <a:lnSpc>
                <a:spcPct val="90000"/>
              </a:lnSpc>
              <a:buFont typeface="Wingdings" panose="05000000000000000000" pitchFamily="2" charset="2"/>
              <a:buChar char="ü"/>
            </a:pPr>
            <a:r>
              <a:rPr lang="en-US" altLang="en-US" sz="2400" dirty="0" smtClean="0"/>
              <a:t>Monitoring: </a:t>
            </a:r>
            <a:r>
              <a:rPr lang="en-US" altLang="en-US" sz="2400" dirty="0"/>
              <a:t>Review and adapt the </a:t>
            </a:r>
            <a:r>
              <a:rPr lang="en-US" altLang="en-US" sz="2400" dirty="0" err="1"/>
              <a:t>programme</a:t>
            </a:r>
            <a:r>
              <a:rPr lang="en-US" altLang="en-US" sz="2400" dirty="0"/>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3044381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Preview of upcoming sessions</a:t>
            </a:r>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3 of 3</a:t>
            </a:r>
          </a:p>
          <a:p>
            <a:pPr marL="423863" indent="-384175" eaLnBrk="1" hangingPunct="1">
              <a:lnSpc>
                <a:spcPct val="90000"/>
              </a:lnSpc>
              <a:buNone/>
            </a:pPr>
            <a:endParaRPr lang="en-US" altLang="en-US" dirty="0"/>
          </a:p>
          <a:p>
            <a:pPr marL="338138" lvl="1" indent="0" eaLnBrk="1" hangingPunct="1">
              <a:lnSpc>
                <a:spcPct val="90000"/>
              </a:lnSpc>
              <a:buNone/>
            </a:pPr>
            <a:r>
              <a:rPr lang="en-US" altLang="en-US" sz="2400" u="sng" dirty="0"/>
              <a:t>Peer supervision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Reflective discussions</a:t>
            </a:r>
          </a:p>
          <a:p>
            <a:pPr marL="1081088" lvl="2" indent="-342900" eaLnBrk="1" hangingPunct="1">
              <a:lnSpc>
                <a:spcPct val="90000"/>
              </a:lnSpc>
              <a:buFont typeface="Wingdings" panose="05000000000000000000" pitchFamily="2" charset="2"/>
              <a:buChar char="ü"/>
            </a:pPr>
            <a:r>
              <a:rPr lang="en-US" altLang="en-US" sz="2400" dirty="0"/>
              <a:t>How confident are we feeling about implementing PT</a:t>
            </a:r>
            <a:r>
              <a:rPr lang="en-US" altLang="en-US" sz="2400" dirty="0" smtClean="0"/>
              <a:t>?</a:t>
            </a:r>
          </a:p>
          <a:p>
            <a:pPr marL="738188" lvl="2" indent="0" eaLnBrk="1" hangingPunct="1">
              <a:lnSpc>
                <a:spcPct val="90000"/>
              </a:lnSpc>
              <a:buNone/>
            </a:pPr>
            <a:endParaRPr lang="en-US" altLang="en-US" sz="2400" dirty="0" smtClean="0"/>
          </a:p>
          <a:p>
            <a:pPr marL="1081088" lvl="2" indent="-342900" eaLnBrk="1" hangingPunct="1">
              <a:lnSpc>
                <a:spcPct val="90000"/>
              </a:lnSpc>
              <a:buFont typeface="Wingdings" panose="05000000000000000000" pitchFamily="2" charset="2"/>
              <a:buChar char="ü"/>
            </a:pPr>
            <a:r>
              <a:rPr lang="en-US" altLang="en-US" sz="2400" dirty="0" smtClean="0"/>
              <a:t>Our </a:t>
            </a:r>
            <a:r>
              <a:rPr lang="en-US" altLang="en-US" sz="2400" dirty="0"/>
              <a:t>views on PT:</a:t>
            </a:r>
          </a:p>
          <a:p>
            <a:pPr marL="1481138" lvl="3" indent="-285750" eaLnBrk="1" hangingPunct="1">
              <a:lnSpc>
                <a:spcPct val="90000"/>
              </a:lnSpc>
              <a:buFont typeface="Arial" panose="020B0604020202020204" pitchFamily="34" charset="0"/>
              <a:buChar char="•"/>
            </a:pPr>
            <a:r>
              <a:rPr lang="en-US" altLang="en-US" sz="2400" dirty="0"/>
              <a:t>Academic impact</a:t>
            </a:r>
          </a:p>
          <a:p>
            <a:pPr marL="1481138" lvl="3" indent="-285750" eaLnBrk="1" hangingPunct="1">
              <a:lnSpc>
                <a:spcPct val="90000"/>
              </a:lnSpc>
              <a:buFont typeface="Arial" panose="020B0604020202020204" pitchFamily="34" charset="0"/>
              <a:buChar char="•"/>
            </a:pPr>
            <a:r>
              <a:rPr lang="en-US" altLang="en-US" sz="2400" dirty="0"/>
              <a:t>Emotional/motivational </a:t>
            </a:r>
            <a:r>
              <a:rPr lang="en-US" altLang="en-US" sz="2400" dirty="0" smtClean="0"/>
              <a:t>impact</a:t>
            </a:r>
            <a:endParaRPr lang="en-US" altLang="en-US" sz="2400" dirty="0"/>
          </a:p>
          <a:p>
            <a:pPr marL="0" indent="0">
              <a:buNone/>
            </a:pPr>
            <a:endParaRPr lang="en-GB" dirty="0"/>
          </a:p>
        </p:txBody>
      </p:sp>
    </p:spTree>
    <p:extLst>
      <p:ext uri="{BB962C8B-B14F-4D97-AF65-F5344CB8AC3E}">
        <p14:creationId xmlns:p14="http://schemas.microsoft.com/office/powerpoint/2010/main" val="1671786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What is Precision Teaching?</a:t>
            </a:r>
            <a:endParaRPr lang="en-GB" dirty="0"/>
          </a:p>
        </p:txBody>
      </p:sp>
      <p:sp>
        <p:nvSpPr>
          <p:cNvPr id="3" name="Content Placeholder 2"/>
          <p:cNvSpPr>
            <a:spLocks noGrp="1"/>
          </p:cNvSpPr>
          <p:nvPr>
            <p:ph idx="1"/>
          </p:nvPr>
        </p:nvSpPr>
        <p:spPr/>
        <p:txBody>
          <a:bodyPr/>
          <a:lstStyle/>
          <a:p>
            <a:pPr eaLnBrk="1" hangingPunct="1">
              <a:buFont typeface="Wingdings" panose="05000000000000000000" pitchFamily="2" charset="2"/>
              <a:buChar char="q"/>
            </a:pPr>
            <a:r>
              <a:rPr lang="en-GB" altLang="en-US" dirty="0"/>
              <a:t>A way to plan, monitor and evaluate a </a:t>
            </a:r>
            <a:r>
              <a:rPr lang="en-GB" altLang="en-US" dirty="0" smtClean="0"/>
              <a:t>teaching programme </a:t>
            </a:r>
            <a:r>
              <a:rPr lang="en-GB" altLang="en-US" dirty="0"/>
              <a:t>for an individual child, helping </a:t>
            </a:r>
            <a:r>
              <a:rPr lang="en-GB" altLang="en-US" dirty="0" smtClean="0"/>
              <a:t>him/her </a:t>
            </a:r>
            <a:r>
              <a:rPr lang="en-GB" altLang="en-US" dirty="0"/>
              <a:t>to learn a specific skill</a:t>
            </a:r>
            <a:r>
              <a:rPr lang="en-GB" altLang="en-US" dirty="0" smtClean="0"/>
              <a:t>.</a:t>
            </a:r>
          </a:p>
          <a:p>
            <a:pPr marL="0" indent="0" eaLnBrk="1" hangingPunct="1">
              <a:buNone/>
            </a:pPr>
            <a:endParaRPr lang="en-GB" altLang="en-US" dirty="0" smtClean="0"/>
          </a:p>
          <a:p>
            <a:pPr eaLnBrk="1" hangingPunct="1">
              <a:buFont typeface="Wingdings" panose="05000000000000000000" pitchFamily="2" charset="2"/>
              <a:buChar char="q"/>
            </a:pPr>
            <a:r>
              <a:rPr lang="en-US" altLang="en-US" dirty="0" smtClean="0"/>
              <a:t>It is </a:t>
            </a:r>
            <a:r>
              <a:rPr lang="en-US" altLang="en-US" dirty="0"/>
              <a:t>a method of </a:t>
            </a:r>
            <a:r>
              <a:rPr lang="en-US" altLang="en-US" u="sng" dirty="0"/>
              <a:t>precisely measuring</a:t>
            </a:r>
            <a:r>
              <a:rPr lang="en-US" altLang="en-US" dirty="0"/>
              <a:t> the effectiveness of teaching.</a:t>
            </a:r>
            <a:endParaRPr lang="en-GB" altLang="en-US" dirty="0" smtClean="0"/>
          </a:p>
          <a:p>
            <a:pPr marL="0" indent="0" eaLnBrk="1" hangingPunct="1">
              <a:buNone/>
            </a:pPr>
            <a:endParaRPr lang="en-GB" altLang="en-US" dirty="0"/>
          </a:p>
          <a:p>
            <a:pPr eaLnBrk="1" hangingPunct="1">
              <a:buFont typeface="Wingdings" panose="05000000000000000000" pitchFamily="2" charset="2"/>
              <a:buChar char="q"/>
            </a:pPr>
            <a:r>
              <a:rPr lang="en-GB" altLang="en-US" dirty="0"/>
              <a:t>Precision </a:t>
            </a:r>
            <a:r>
              <a:rPr lang="en-GB" altLang="en-US" dirty="0" smtClean="0"/>
              <a:t>Teaching </a:t>
            </a:r>
            <a:r>
              <a:rPr lang="en-GB" altLang="en-US" dirty="0"/>
              <a:t>is an </a:t>
            </a:r>
            <a:r>
              <a:rPr lang="en-GB" altLang="en-US" b="1" u="sng" dirty="0">
                <a:solidFill>
                  <a:srgbClr val="FF0000"/>
                </a:solidFill>
              </a:rPr>
              <a:t>ASSESSMENT</a:t>
            </a:r>
            <a:r>
              <a:rPr lang="en-GB" altLang="en-US" dirty="0"/>
              <a:t> </a:t>
            </a:r>
            <a:r>
              <a:rPr lang="en-GB" altLang="en-US" dirty="0" smtClean="0"/>
              <a:t>tool and </a:t>
            </a:r>
            <a:r>
              <a:rPr lang="en-GB" altLang="en-US" b="1" u="sng" dirty="0" smtClean="0">
                <a:solidFill>
                  <a:srgbClr val="FF0000"/>
                </a:solidFill>
              </a:rPr>
              <a:t>NOT</a:t>
            </a:r>
            <a:r>
              <a:rPr lang="en-GB" altLang="en-US" dirty="0" smtClean="0"/>
              <a:t> </a:t>
            </a:r>
            <a:r>
              <a:rPr lang="en-GB" altLang="en-US" dirty="0"/>
              <a:t>a teaching method.</a:t>
            </a:r>
          </a:p>
          <a:p>
            <a:endParaRPr lang="en-GB" dirty="0"/>
          </a:p>
        </p:txBody>
      </p:sp>
    </p:spTree>
    <p:extLst>
      <p:ext uri="{BB962C8B-B14F-4D97-AF65-F5344CB8AC3E}">
        <p14:creationId xmlns:p14="http://schemas.microsoft.com/office/powerpoint/2010/main" val="24046757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When can Precision Teaching be </a:t>
            </a:r>
            <a:r>
              <a:rPr lang="en-GB" dirty="0"/>
              <a:t>u</a:t>
            </a:r>
            <a:r>
              <a:rPr lang="en-GB" dirty="0" smtClean="0"/>
              <a:t>sed?</a:t>
            </a:r>
            <a:endParaRPr lang="en-GB" dirty="0"/>
          </a:p>
        </p:txBody>
      </p:sp>
      <p:sp>
        <p:nvSpPr>
          <p:cNvPr id="3" name="Content Placeholder 2"/>
          <p:cNvSpPr>
            <a:spLocks noGrp="1"/>
          </p:cNvSpPr>
          <p:nvPr>
            <p:ph idx="1"/>
          </p:nvPr>
        </p:nvSpPr>
        <p:spPr/>
        <p:txBody>
          <a:bodyPr/>
          <a:lstStyle/>
          <a:p>
            <a:pPr marL="423863" eaLnBrk="1" hangingPunct="1">
              <a:lnSpc>
                <a:spcPct val="80000"/>
              </a:lnSpc>
              <a:buFont typeface="Wingdings" panose="05000000000000000000" pitchFamily="2" charset="2"/>
              <a:buChar char="q"/>
            </a:pPr>
            <a:r>
              <a:rPr lang="en-US" altLang="en-US" dirty="0"/>
              <a:t>When a child is making little or no progress in an area</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q"/>
            </a:pPr>
            <a:r>
              <a:rPr lang="en-US" altLang="en-US" dirty="0"/>
              <a:t>When development of speed is essential for progress, for example:</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ü"/>
            </a:pPr>
            <a:r>
              <a:rPr lang="en-US" altLang="en-US" dirty="0" smtClean="0"/>
              <a:t> phonics</a:t>
            </a:r>
          </a:p>
          <a:p>
            <a:pPr marL="423863" eaLnBrk="1" hangingPunct="1">
              <a:lnSpc>
                <a:spcPct val="80000"/>
              </a:lnSpc>
              <a:buFont typeface="Wingdings" panose="05000000000000000000" pitchFamily="2" charset="2"/>
              <a:buChar char="ü"/>
            </a:pPr>
            <a:r>
              <a:rPr lang="en-US" altLang="en-US" dirty="0" smtClean="0"/>
              <a:t>sight vocabulary</a:t>
            </a:r>
          </a:p>
          <a:p>
            <a:pPr marL="423863" eaLnBrk="1" hangingPunct="1">
              <a:lnSpc>
                <a:spcPct val="80000"/>
              </a:lnSpc>
              <a:buFont typeface="Wingdings" panose="05000000000000000000" pitchFamily="2" charset="2"/>
              <a:buChar char="ü"/>
            </a:pPr>
            <a:r>
              <a:rPr lang="en-US" altLang="en-US" dirty="0" smtClean="0"/>
              <a:t> </a:t>
            </a:r>
            <a:r>
              <a:rPr lang="en-US" altLang="en-US" dirty="0"/>
              <a:t>spelling high frequency </a:t>
            </a:r>
            <a:r>
              <a:rPr lang="en-US" altLang="en-US" dirty="0" smtClean="0"/>
              <a:t>words</a:t>
            </a:r>
          </a:p>
          <a:p>
            <a:pPr marL="423863" eaLnBrk="1" hangingPunct="1">
              <a:lnSpc>
                <a:spcPct val="80000"/>
              </a:lnSpc>
              <a:buFont typeface="Wingdings" panose="05000000000000000000" pitchFamily="2" charset="2"/>
              <a:buChar char="ü"/>
            </a:pPr>
            <a:r>
              <a:rPr lang="en-US" altLang="en-US" dirty="0" smtClean="0"/>
              <a:t>number recognition</a:t>
            </a:r>
          </a:p>
          <a:p>
            <a:pPr marL="423863" eaLnBrk="1" hangingPunct="1">
              <a:lnSpc>
                <a:spcPct val="80000"/>
              </a:lnSpc>
              <a:buFont typeface="Wingdings" panose="05000000000000000000" pitchFamily="2" charset="2"/>
              <a:buChar char="ü"/>
            </a:pPr>
            <a:r>
              <a:rPr lang="en-US" altLang="en-US" dirty="0" smtClean="0"/>
              <a:t>number bonds</a:t>
            </a:r>
          </a:p>
          <a:p>
            <a:pPr marL="80963" indent="0" eaLnBrk="1" hangingPunct="1">
              <a:lnSpc>
                <a:spcPct val="80000"/>
              </a:lnSpc>
              <a:buNone/>
            </a:pPr>
            <a:endParaRPr lang="en-US" altLang="en-US" dirty="0"/>
          </a:p>
          <a:p>
            <a:pPr marL="423863" eaLnBrk="1" hangingPunct="1">
              <a:lnSpc>
                <a:spcPct val="80000"/>
              </a:lnSpc>
              <a:buFont typeface="Wingdings" panose="05000000000000000000" pitchFamily="2" charset="2"/>
              <a:buChar char="q"/>
            </a:pPr>
            <a:r>
              <a:rPr lang="en-US" altLang="en-US" dirty="0" smtClean="0"/>
              <a:t>For </a:t>
            </a:r>
            <a:r>
              <a:rPr lang="en-US" altLang="en-US" dirty="0"/>
              <a:t>teaching skills that are </a:t>
            </a:r>
            <a:r>
              <a:rPr lang="en-US" altLang="en-US" dirty="0" smtClean="0"/>
              <a:t>measurable and </a:t>
            </a:r>
            <a:r>
              <a:rPr lang="en-US" altLang="en-US" dirty="0"/>
              <a:t>need to be acquired to </a:t>
            </a:r>
            <a:r>
              <a:rPr lang="en-US" altLang="en-US" dirty="0" smtClean="0"/>
              <a:t>make progress</a:t>
            </a:r>
            <a:endParaRPr lang="en-US" altLang="en-US" dirty="0"/>
          </a:p>
          <a:p>
            <a:endParaRPr lang="en-GB" dirty="0"/>
          </a:p>
        </p:txBody>
      </p:sp>
    </p:spTree>
    <p:extLst>
      <p:ext uri="{BB962C8B-B14F-4D97-AF65-F5344CB8AC3E}">
        <p14:creationId xmlns:p14="http://schemas.microsoft.com/office/powerpoint/2010/main" val="14861058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4213" y="404813"/>
            <a:ext cx="7772400" cy="874712"/>
          </a:xfrm>
        </p:spPr>
        <p:txBody>
          <a:bodyPr/>
          <a:lstStyle/>
          <a:p>
            <a:pPr algn="ctr" eaLnBrk="1" fontAlgn="auto" hangingPunct="1">
              <a:spcAft>
                <a:spcPts val="0"/>
              </a:spcAft>
              <a:defRPr/>
            </a:pPr>
            <a:r>
              <a:rPr lang="en-GB" altLang="en-US" sz="4000" dirty="0" smtClean="0"/>
              <a:t>Activity</a:t>
            </a:r>
            <a:endParaRPr lang="en-GB" altLang="en-US" sz="4000" dirty="0" smtClean="0"/>
          </a:p>
        </p:txBody>
      </p:sp>
      <p:sp>
        <p:nvSpPr>
          <p:cNvPr id="134147" name="Rectangle 3"/>
          <p:cNvSpPr>
            <a:spLocks noGrp="1" noChangeArrowheads="1"/>
          </p:cNvSpPr>
          <p:nvPr>
            <p:ph idx="1"/>
          </p:nvPr>
        </p:nvSpPr>
        <p:spPr>
          <a:xfrm>
            <a:off x="395288" y="1628775"/>
            <a:ext cx="2952750" cy="1152525"/>
          </a:xfrm>
        </p:spPr>
        <p:txBody>
          <a:bodyPr/>
          <a:lstStyle/>
          <a:p>
            <a:pPr eaLnBrk="1" hangingPunct="1">
              <a:buFontTx/>
              <a:buNone/>
            </a:pPr>
            <a:r>
              <a:rPr lang="en-GB" altLang="en-US" sz="3600" smtClean="0">
                <a:solidFill>
                  <a:srgbClr val="FF0000"/>
                </a:solidFill>
              </a:rPr>
              <a:t>Acquisition</a:t>
            </a:r>
          </a:p>
        </p:txBody>
      </p:sp>
      <p:sp>
        <p:nvSpPr>
          <p:cNvPr id="134148" name="Rectangle 4"/>
          <p:cNvSpPr>
            <a:spLocks noChangeArrowheads="1"/>
          </p:cNvSpPr>
          <p:nvPr/>
        </p:nvSpPr>
        <p:spPr bwMode="auto">
          <a:xfrm>
            <a:off x="1908175" y="3141663"/>
            <a:ext cx="360045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2"/>
                </a:solidFill>
                <a:latin typeface="Arial" pitchFamily="34" charset="0"/>
              </a:rPr>
              <a:t>Generalisation</a:t>
            </a:r>
          </a:p>
        </p:txBody>
      </p:sp>
      <p:sp>
        <p:nvSpPr>
          <p:cNvPr id="134149" name="Rectangle 5"/>
          <p:cNvSpPr>
            <a:spLocks noChangeArrowheads="1"/>
          </p:cNvSpPr>
          <p:nvPr/>
        </p:nvSpPr>
        <p:spPr bwMode="auto">
          <a:xfrm>
            <a:off x="5651500" y="3860800"/>
            <a:ext cx="31432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800080"/>
                </a:solidFill>
                <a:latin typeface="Arial" pitchFamily="34" charset="0"/>
              </a:rPr>
              <a:t>Adaptation</a:t>
            </a:r>
          </a:p>
        </p:txBody>
      </p:sp>
      <p:sp>
        <p:nvSpPr>
          <p:cNvPr id="134150" name="Rectangle 6"/>
          <p:cNvSpPr>
            <a:spLocks noChangeArrowheads="1"/>
          </p:cNvSpPr>
          <p:nvPr/>
        </p:nvSpPr>
        <p:spPr bwMode="auto">
          <a:xfrm>
            <a:off x="5148263" y="1844675"/>
            <a:ext cx="3384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1"/>
                </a:solidFill>
                <a:latin typeface="Arial" pitchFamily="34" charset="0"/>
              </a:rPr>
              <a:t>Maintenance</a:t>
            </a:r>
          </a:p>
        </p:txBody>
      </p:sp>
      <p:sp>
        <p:nvSpPr>
          <p:cNvPr id="134151" name="Rectangle 7"/>
          <p:cNvSpPr>
            <a:spLocks noChangeArrowheads="1"/>
          </p:cNvSpPr>
          <p:nvPr/>
        </p:nvSpPr>
        <p:spPr bwMode="auto">
          <a:xfrm>
            <a:off x="971550" y="4581525"/>
            <a:ext cx="25669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FF6600"/>
                </a:solidFill>
                <a:latin typeface="Arial" pitchFamily="34" charset="0"/>
              </a:rPr>
              <a:t>Fluency</a:t>
            </a:r>
          </a:p>
        </p:txBody>
      </p:sp>
    </p:spTree>
    <p:extLst>
      <p:ext uri="{BB962C8B-B14F-4D97-AF65-F5344CB8AC3E}">
        <p14:creationId xmlns:p14="http://schemas.microsoft.com/office/powerpoint/2010/main" val="3134373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fade">
                                      <p:cBhvr>
                                        <p:cTn id="7" dur="1000"/>
                                        <p:tgtEl>
                                          <p:spTgt spid="134147">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4150"/>
                                        </p:tgtEl>
                                        <p:attrNameLst>
                                          <p:attrName>style.visibility</p:attrName>
                                        </p:attrNameLst>
                                      </p:cBhvr>
                                      <p:to>
                                        <p:strVal val="visible"/>
                                      </p:to>
                                    </p:set>
                                    <p:animEffect transition="in" filter="fade">
                                      <p:cBhvr>
                                        <p:cTn id="11" dur="1000"/>
                                        <p:tgtEl>
                                          <p:spTgt spid="134150"/>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34151"/>
                                        </p:tgtEl>
                                        <p:attrNameLst>
                                          <p:attrName>style.visibility</p:attrName>
                                        </p:attrNameLst>
                                      </p:cBhvr>
                                      <p:to>
                                        <p:strVal val="visible"/>
                                      </p:to>
                                    </p:set>
                                    <p:animEffect transition="in" filter="fade">
                                      <p:cBhvr>
                                        <p:cTn id="15" dur="1000"/>
                                        <p:tgtEl>
                                          <p:spTgt spid="134151"/>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34149"/>
                                        </p:tgtEl>
                                        <p:attrNameLst>
                                          <p:attrName>style.visibility</p:attrName>
                                        </p:attrNameLst>
                                      </p:cBhvr>
                                      <p:to>
                                        <p:strVal val="visible"/>
                                      </p:to>
                                    </p:set>
                                    <p:animEffect transition="in" filter="fade">
                                      <p:cBhvr>
                                        <p:cTn id="19" dur="1000"/>
                                        <p:tgtEl>
                                          <p:spTgt spid="134149"/>
                                        </p:tgtEl>
                                      </p:cBhvr>
                                    </p:animEffect>
                                  </p:childTnLst>
                                </p:cTn>
                              </p:par>
                            </p:childTnLst>
                          </p:cTn>
                        </p:par>
                        <p:par>
                          <p:cTn id="20" fill="hold" nodeType="after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34148"/>
                                        </p:tgtEl>
                                        <p:attrNameLst>
                                          <p:attrName>style.visibility</p:attrName>
                                        </p:attrNameLst>
                                      </p:cBhvr>
                                      <p:to>
                                        <p:strVal val="visible"/>
                                      </p:to>
                                    </p:set>
                                    <p:animEffect transition="in" filter="fade">
                                      <p:cBhvr>
                                        <p:cTn id="23" dur="10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48" grpId="0"/>
      <p:bldP spid="134149" grpId="0"/>
      <p:bldP spid="134150" grpId="0"/>
      <p:bldP spid="1341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latin typeface="Arial" pitchFamily="34" charset="0"/>
              </a:rPr>
              <a:t>‘Hierarchy of Learning’</a:t>
            </a:r>
            <a:r>
              <a:rPr lang="en-GB" altLang="en-US" sz="2800" b="1" dirty="0">
                <a:latin typeface="Arial" pitchFamily="34" charset="0"/>
              </a:rPr>
              <a:t> </a:t>
            </a:r>
          </a:p>
          <a:p>
            <a:pPr algn="ctr" eaLnBrk="1" hangingPunct="1"/>
            <a:r>
              <a:rPr lang="en-GB" altLang="en-US" sz="2000" dirty="0">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latin typeface="Arial" pitchFamily="34" charset="0"/>
              </a:rPr>
              <a:t>Acquisition</a:t>
            </a:r>
          </a:p>
          <a:p>
            <a:pPr eaLnBrk="1" hangingPunct="1">
              <a:lnSpc>
                <a:spcPct val="90000"/>
              </a:lnSpc>
              <a:buClr>
                <a:srgbClr val="73801F"/>
              </a:buClr>
              <a:buFont typeface="Wingdings" pitchFamily="2" charset="2"/>
              <a:buNone/>
            </a:pPr>
            <a:endParaRPr lang="en-GB" altLang="en-US" sz="1400" b="1" dirty="0">
              <a:latin typeface="Arial" pitchFamily="34" charset="0"/>
            </a:endParaRPr>
          </a:p>
          <a:p>
            <a:pPr eaLnBrk="1" hangingPunct="1">
              <a:lnSpc>
                <a:spcPct val="90000"/>
              </a:lnSpc>
              <a:buClr>
                <a:srgbClr val="73801F"/>
              </a:buClr>
              <a:buFont typeface="Wingdings" pitchFamily="2" charset="2"/>
              <a:buNone/>
            </a:pPr>
            <a:endParaRPr lang="en-GB" altLang="en-US" sz="14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Fluency</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Maintenance</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Generalisation</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latin typeface="Arial" pitchFamily="34" charset="0"/>
              </a:rPr>
              <a:t>Pupil performs skill with accuracy.</a:t>
            </a:r>
          </a:p>
          <a:p>
            <a:pPr eaLnBrk="1" hangingPunct="1">
              <a:spcBef>
                <a:spcPct val="50000"/>
              </a:spcBef>
            </a:pPr>
            <a:endParaRPr lang="en-GB" altLang="en-US" sz="1800" b="1" dirty="0">
              <a:latin typeface="Arial" pitchFamily="34" charset="0"/>
            </a:endParaRPr>
          </a:p>
          <a:p>
            <a:pPr eaLnBrk="1" hangingPunct="1">
              <a:spcBef>
                <a:spcPct val="50000"/>
              </a:spcBef>
            </a:pPr>
            <a:r>
              <a:rPr lang="en-GB" altLang="en-US" sz="1800" b="1" dirty="0">
                <a:latin typeface="Arial" pitchFamily="34" charset="0"/>
              </a:rPr>
              <a:t>Pupil performs skill with accuracy and fluency.</a:t>
            </a:r>
            <a:endParaRPr lang="en-GB" altLang="en-US" sz="1800" dirty="0">
              <a:latin typeface="Arial" pitchFamily="34" charset="0"/>
            </a:endParaRPr>
          </a:p>
          <a:p>
            <a:pPr eaLnBrk="1" hangingPunct="1">
              <a:spcBef>
                <a:spcPct val="50000"/>
              </a:spcBef>
            </a:pPr>
            <a:r>
              <a:rPr lang="en-GB" altLang="en-US" sz="1800" b="1" dirty="0">
                <a:latin typeface="Arial" pitchFamily="34" charset="0"/>
              </a:rPr>
              <a:t>Proficiency level reached, demonstrating maintenance in terms of accuracy and fluency.</a:t>
            </a:r>
          </a:p>
          <a:p>
            <a:pPr eaLnBrk="1" hangingPunct="1">
              <a:spcBef>
                <a:spcPct val="50000"/>
              </a:spcBef>
            </a:pPr>
            <a:r>
              <a:rPr lang="en-GB" altLang="en-US" sz="1800" dirty="0">
                <a:latin typeface="Arial" pitchFamily="34" charset="0"/>
              </a:rPr>
              <a:t>With support and instruction pupil can apply skill in new and different contexts.</a:t>
            </a:r>
          </a:p>
          <a:p>
            <a:pPr eaLnBrk="1" hangingPunct="1">
              <a:spcBef>
                <a:spcPct val="50000"/>
              </a:spcBef>
            </a:pPr>
            <a:endParaRPr lang="en-GB" altLang="en-US" sz="1000" dirty="0">
              <a:latin typeface="Arial" pitchFamily="34" charset="0"/>
            </a:endParaRPr>
          </a:p>
          <a:p>
            <a:pPr eaLnBrk="1" hangingPunct="1">
              <a:spcBef>
                <a:spcPct val="50000"/>
              </a:spcBef>
            </a:pPr>
            <a:r>
              <a:rPr lang="en-GB" altLang="en-US" sz="1800" dirty="0">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36978839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9388" y="476250"/>
            <a:ext cx="8569325" cy="1143000"/>
          </a:xfrm>
        </p:spPr>
        <p:txBody>
          <a:bodyPr>
            <a:normAutofit/>
          </a:bodyPr>
          <a:lstStyle/>
          <a:p>
            <a:pPr algn="ctr" eaLnBrk="1" fontAlgn="auto" hangingPunct="1">
              <a:spcAft>
                <a:spcPts val="0"/>
              </a:spcAft>
              <a:defRPr/>
            </a:pPr>
            <a:r>
              <a:rPr lang="en-GB" altLang="en-US" dirty="0" smtClean="0"/>
              <a:t>How do </a:t>
            </a:r>
            <a:r>
              <a:rPr lang="en-GB" altLang="en-US" dirty="0" smtClean="0"/>
              <a:t>you do Precision Teaching?</a:t>
            </a:r>
            <a:endParaRPr lang="en-GB" altLang="en-US" dirty="0" smtClean="0"/>
          </a:p>
        </p:txBody>
      </p:sp>
      <p:sp>
        <p:nvSpPr>
          <p:cNvPr id="8195" name="Rectangle 3"/>
          <p:cNvSpPr>
            <a:spLocks noGrp="1" noChangeArrowheads="1"/>
          </p:cNvSpPr>
          <p:nvPr>
            <p:ph idx="1"/>
          </p:nvPr>
        </p:nvSpPr>
        <p:spPr>
          <a:xfrm>
            <a:off x="179512" y="1698079"/>
            <a:ext cx="8353425" cy="4467225"/>
          </a:xfrm>
        </p:spPr>
        <p:txBody>
          <a:bodyPr/>
          <a:lstStyle/>
          <a:p>
            <a:pPr marL="609600" indent="-609600" eaLnBrk="1" hangingPunct="1">
              <a:lnSpc>
                <a:spcPct val="80000"/>
              </a:lnSpc>
              <a:buFontTx/>
              <a:buAutoNum type="arabicPeriod"/>
            </a:pPr>
            <a:r>
              <a:rPr lang="en-GB" altLang="en-US" sz="2400" dirty="0" smtClean="0"/>
              <a:t>Identify a specific difficulty and acquire a baseline.</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2"/>
            </a:pPr>
            <a:r>
              <a:rPr lang="en-GB" altLang="en-US" sz="2400" dirty="0" smtClean="0"/>
              <a:t>Set a target.</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3"/>
            </a:pPr>
            <a:r>
              <a:rPr lang="en-GB" altLang="en-US" sz="2400" dirty="0" smtClean="0"/>
              <a:t>Teaching sessions: short, frequent and target specific.</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3"/>
            </a:pPr>
            <a:r>
              <a:rPr lang="en-GB" altLang="en-US" sz="2400" dirty="0" smtClean="0"/>
              <a:t>Monitor child’s daily performance using a probe.</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5"/>
            </a:pPr>
            <a:r>
              <a:rPr lang="en-GB" altLang="en-US" sz="2400" dirty="0" smtClean="0"/>
              <a:t>Chart results and make note of teaching methods</a:t>
            </a:r>
            <a:r>
              <a:rPr lang="en-GB" altLang="en-US" sz="2400" dirty="0" smtClean="0"/>
              <a:t>.</a:t>
            </a:r>
          </a:p>
          <a:p>
            <a:pPr marL="0" indent="0" eaLnBrk="1" hangingPunct="1">
              <a:lnSpc>
                <a:spcPct val="80000"/>
              </a:lnSpc>
              <a:buNone/>
            </a:pPr>
            <a:endParaRPr lang="en-GB" altLang="en-US" sz="2400" dirty="0" smtClean="0"/>
          </a:p>
          <a:p>
            <a:pPr marL="609600" indent="-609600" eaLnBrk="1" hangingPunct="1">
              <a:lnSpc>
                <a:spcPct val="80000"/>
              </a:lnSpc>
              <a:buFontTx/>
              <a:buAutoNum type="arabicPeriod" startAt="6"/>
            </a:pPr>
            <a:r>
              <a:rPr lang="en-GB" altLang="en-US" sz="2400" dirty="0" smtClean="0"/>
              <a:t>Analyse </a:t>
            </a:r>
            <a:r>
              <a:rPr lang="en-GB" altLang="en-US" sz="2400" dirty="0" smtClean="0"/>
              <a:t>the data to determine if a change of target is needed or change in teaching method.</a:t>
            </a:r>
          </a:p>
        </p:txBody>
      </p:sp>
    </p:spTree>
    <p:extLst>
      <p:ext uri="{BB962C8B-B14F-4D97-AF65-F5344CB8AC3E}">
        <p14:creationId xmlns:p14="http://schemas.microsoft.com/office/powerpoint/2010/main" val="14061869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95288" y="115888"/>
            <a:ext cx="8497887" cy="1368896"/>
          </a:xfrm>
        </p:spPr>
        <p:txBody>
          <a:bodyPr/>
          <a:lstStyle/>
          <a:p>
            <a:pPr algn="ctr" eaLnBrk="1" hangingPunct="1"/>
            <a:r>
              <a:rPr lang="en-GB" altLang="en-US" sz="3200" dirty="0" smtClean="0">
                <a:latin typeface="Arial" charset="0"/>
              </a:rPr>
              <a:t>Initial Assessment – using ‘Letters and Sounds’</a:t>
            </a:r>
          </a:p>
        </p:txBody>
      </p:sp>
      <p:sp>
        <p:nvSpPr>
          <p:cNvPr id="12291" name="Rectangle 4"/>
          <p:cNvSpPr>
            <a:spLocks noGrp="1" noChangeArrowheads="1"/>
          </p:cNvSpPr>
          <p:nvPr>
            <p:ph type="body" sz="half" idx="1"/>
          </p:nvPr>
        </p:nvSpPr>
        <p:spPr>
          <a:xfrm>
            <a:off x="914400" y="2060848"/>
            <a:ext cx="3810000" cy="4530725"/>
          </a:xfrm>
        </p:spPr>
        <p:txBody>
          <a:bodyPr/>
          <a:lstStyle/>
          <a:p>
            <a:pPr eaLnBrk="1" hangingPunct="1"/>
            <a:r>
              <a:rPr lang="en-GB" altLang="en-US" sz="2400" dirty="0" smtClean="0"/>
              <a:t>208 page manual</a:t>
            </a:r>
          </a:p>
          <a:p>
            <a:pPr eaLnBrk="1" hangingPunct="1"/>
            <a:r>
              <a:rPr lang="en-GB" altLang="en-US" sz="2400" dirty="0" smtClean="0"/>
              <a:t>DVD</a:t>
            </a:r>
          </a:p>
          <a:p>
            <a:pPr eaLnBrk="1" hangingPunct="1"/>
            <a:r>
              <a:rPr lang="en-GB" altLang="en-US" sz="2400" dirty="0" smtClean="0"/>
              <a:t>6 Phases</a:t>
            </a:r>
          </a:p>
          <a:p>
            <a:pPr eaLnBrk="1" hangingPunct="1"/>
            <a:r>
              <a:rPr lang="en-GB" altLang="en-US" sz="2400" dirty="0" smtClean="0"/>
              <a:t>Designed to start in EY Foundation</a:t>
            </a:r>
          </a:p>
          <a:p>
            <a:pPr eaLnBrk="1" hangingPunct="1"/>
            <a:r>
              <a:rPr lang="en-GB" altLang="en-US" sz="2400" dirty="0" smtClean="0"/>
              <a:t>By Phase 6, 100s of words known and most GPCs known</a:t>
            </a:r>
          </a:p>
          <a:p>
            <a:pPr eaLnBrk="1" hangingPunct="1"/>
            <a:endParaRPr lang="en-GB" altLang="en-US" sz="2400" dirty="0" smtClean="0"/>
          </a:p>
        </p:txBody>
      </p:sp>
      <p:sp>
        <p:nvSpPr>
          <p:cNvPr id="12292" name="Rectangle 5"/>
          <p:cNvSpPr>
            <a:spLocks noGrp="1" noChangeArrowheads="1"/>
          </p:cNvSpPr>
          <p:nvPr>
            <p:ph type="body" sz="half" idx="2"/>
          </p:nvPr>
        </p:nvSpPr>
        <p:spPr>
          <a:xfrm>
            <a:off x="4876800" y="1994619"/>
            <a:ext cx="3810000" cy="4530725"/>
          </a:xfrm>
        </p:spPr>
        <p:txBody>
          <a:bodyPr/>
          <a:lstStyle/>
          <a:p>
            <a:pPr eaLnBrk="1" hangingPunct="1"/>
            <a:r>
              <a:rPr lang="en-GB" altLang="en-US" sz="2400" dirty="0" smtClean="0"/>
              <a:t>Reading and writing taught together (phonemes and graphemes)</a:t>
            </a:r>
          </a:p>
          <a:p>
            <a:pPr eaLnBrk="1" hangingPunct="1"/>
            <a:r>
              <a:rPr lang="en-GB" altLang="en-US" sz="2400" dirty="0" smtClean="0"/>
              <a:t>Decodable and Tricky words</a:t>
            </a:r>
          </a:p>
          <a:p>
            <a:pPr eaLnBrk="1" hangingPunct="1"/>
            <a:r>
              <a:rPr lang="en-GB" altLang="en-US" sz="2400" dirty="0" smtClean="0"/>
              <a:t>Assessment built in at each stage</a:t>
            </a:r>
          </a:p>
          <a:p>
            <a:pPr eaLnBrk="1" hangingPunct="1"/>
            <a:endParaRPr lang="en-GB" altLang="en-US" dirty="0" smtClean="0"/>
          </a:p>
        </p:txBody>
      </p:sp>
    </p:spTree>
    <p:extLst>
      <p:ext uri="{BB962C8B-B14F-4D97-AF65-F5344CB8AC3E}">
        <p14:creationId xmlns:p14="http://schemas.microsoft.com/office/powerpoint/2010/main" val="30227337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95288" y="115888"/>
            <a:ext cx="8497887" cy="1296888"/>
          </a:xfrm>
        </p:spPr>
        <p:txBody>
          <a:bodyPr/>
          <a:lstStyle/>
          <a:p>
            <a:pPr algn="ctr" eaLnBrk="1" hangingPunct="1"/>
            <a:r>
              <a:rPr lang="en-GB" altLang="en-US" sz="3200" dirty="0" smtClean="0">
                <a:latin typeface="Arial" charset="0"/>
              </a:rPr>
              <a:t>Initial Assessment – using ‘Letters and Sounds’</a:t>
            </a:r>
          </a:p>
        </p:txBody>
      </p:sp>
      <p:sp>
        <p:nvSpPr>
          <p:cNvPr id="13315" name="Rectangle 4"/>
          <p:cNvSpPr>
            <a:spLocks noGrp="1" noChangeArrowheads="1"/>
          </p:cNvSpPr>
          <p:nvPr>
            <p:ph type="body" sz="half" idx="1"/>
          </p:nvPr>
        </p:nvSpPr>
        <p:spPr>
          <a:xfrm>
            <a:off x="611560" y="1922611"/>
            <a:ext cx="3810000" cy="4530725"/>
          </a:xfrm>
        </p:spPr>
        <p:txBody>
          <a:bodyPr/>
          <a:lstStyle/>
          <a:p>
            <a:pPr eaLnBrk="1" hangingPunct="1"/>
            <a:r>
              <a:rPr lang="en-GB" altLang="en-US" sz="2400" dirty="0" smtClean="0"/>
              <a:t>Similar in philosophy to </a:t>
            </a:r>
            <a:r>
              <a:rPr lang="en-GB" altLang="en-US" sz="2400" dirty="0" err="1" smtClean="0"/>
              <a:t>RWInc</a:t>
            </a:r>
            <a:endParaRPr lang="en-GB" altLang="en-US" sz="2400" dirty="0" smtClean="0"/>
          </a:p>
          <a:p>
            <a:pPr eaLnBrk="1" hangingPunct="1"/>
            <a:r>
              <a:rPr lang="en-GB" altLang="en-US" sz="2400" dirty="0" smtClean="0"/>
              <a:t>Can be used with any age group but aims to start (phase 1) with 5 year olds</a:t>
            </a:r>
          </a:p>
          <a:p>
            <a:pPr eaLnBrk="1" hangingPunct="1"/>
            <a:r>
              <a:rPr lang="en-GB" altLang="en-US" sz="2400" dirty="0" smtClean="0"/>
              <a:t>Children move from one phase to next at their own pace</a:t>
            </a:r>
          </a:p>
          <a:p>
            <a:pPr eaLnBrk="1" hangingPunct="1"/>
            <a:endParaRPr lang="en-GB" altLang="en-US" sz="2600" dirty="0" smtClean="0"/>
          </a:p>
        </p:txBody>
      </p:sp>
      <p:sp>
        <p:nvSpPr>
          <p:cNvPr id="13316" name="Rectangle 5"/>
          <p:cNvSpPr>
            <a:spLocks noGrp="1" noChangeArrowheads="1"/>
          </p:cNvSpPr>
          <p:nvPr>
            <p:ph type="body" sz="half" idx="2"/>
          </p:nvPr>
        </p:nvSpPr>
        <p:spPr>
          <a:xfrm>
            <a:off x="4427984" y="1922611"/>
            <a:ext cx="3810000" cy="4530725"/>
          </a:xfrm>
        </p:spPr>
        <p:txBody>
          <a:bodyPr/>
          <a:lstStyle/>
          <a:p>
            <a:pPr eaLnBrk="1" hangingPunct="1"/>
            <a:r>
              <a:rPr lang="en-GB" altLang="en-US" sz="2400" dirty="0" smtClean="0"/>
              <a:t>Most children would complete phase 6 by end of KS1</a:t>
            </a:r>
          </a:p>
          <a:p>
            <a:pPr eaLnBrk="1" hangingPunct="1"/>
            <a:r>
              <a:rPr lang="en-GB" altLang="en-US" sz="2400" dirty="0" smtClean="0"/>
              <a:t>Most SEN children will continue on programme in KS2</a:t>
            </a:r>
          </a:p>
          <a:p>
            <a:pPr eaLnBrk="1" hangingPunct="1"/>
            <a:r>
              <a:rPr lang="en-GB" altLang="en-US" sz="2400" dirty="0" smtClean="0"/>
              <a:t>‘Stuck’ children can receive Precision Teaching approach</a:t>
            </a:r>
          </a:p>
        </p:txBody>
      </p:sp>
    </p:spTree>
    <p:extLst>
      <p:ext uri="{BB962C8B-B14F-4D97-AF65-F5344CB8AC3E}">
        <p14:creationId xmlns:p14="http://schemas.microsoft.com/office/powerpoint/2010/main" val="19473880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9" y="115888"/>
            <a:ext cx="8281168" cy="864840"/>
          </a:xfrm>
        </p:spPr>
        <p:txBody>
          <a:bodyPr/>
          <a:lstStyle/>
          <a:p>
            <a:pPr algn="ctr" eaLnBrk="1" hangingPunct="1"/>
            <a:r>
              <a:rPr lang="en-GB" altLang="en-US" sz="3200" dirty="0" smtClean="0">
                <a:latin typeface="Arial" charset="0"/>
              </a:rPr>
              <a:t>Probes</a:t>
            </a:r>
          </a:p>
        </p:txBody>
      </p:sp>
      <p:sp>
        <p:nvSpPr>
          <p:cNvPr id="14339" name="Rectangle 3"/>
          <p:cNvSpPr>
            <a:spLocks noGrp="1" noChangeArrowheads="1"/>
          </p:cNvSpPr>
          <p:nvPr>
            <p:ph type="body" idx="1"/>
          </p:nvPr>
        </p:nvSpPr>
        <p:spPr>
          <a:xfrm>
            <a:off x="683568" y="1499989"/>
            <a:ext cx="7344420" cy="4737323"/>
          </a:xfrm>
        </p:spPr>
        <p:txBody>
          <a:bodyPr/>
          <a:lstStyle/>
          <a:p>
            <a:pPr eaLnBrk="1" hangingPunct="1"/>
            <a:r>
              <a:rPr lang="en-GB" altLang="en-US" dirty="0" smtClean="0"/>
              <a:t>Probes contain a defined set of items, often letters, words or sums on which the child is tested, usually for one minute.</a:t>
            </a:r>
          </a:p>
          <a:p>
            <a:pPr eaLnBrk="1" hangingPunct="1">
              <a:buFont typeface="Wingdings" pitchFamily="2" charset="2"/>
              <a:buNone/>
            </a:pPr>
            <a:endParaRPr lang="en-GB" altLang="en-US" dirty="0" smtClean="0"/>
          </a:p>
          <a:p>
            <a:pPr eaLnBrk="1" hangingPunct="1"/>
            <a:r>
              <a:rPr lang="en-GB" altLang="en-US" dirty="0" smtClean="0"/>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34360816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95289" y="115888"/>
            <a:ext cx="8209160" cy="792832"/>
          </a:xfrm>
        </p:spPr>
        <p:txBody>
          <a:bodyPr/>
          <a:lstStyle/>
          <a:p>
            <a:pPr algn="ctr" eaLnBrk="1" hangingPunct="1"/>
            <a:r>
              <a:rPr lang="en-GB" altLang="en-US" sz="3200" dirty="0" smtClean="0">
                <a:latin typeface="Arial" charset="0"/>
              </a:rPr>
              <a:t>Probes </a:t>
            </a:r>
          </a:p>
        </p:txBody>
      </p:sp>
      <p:sp>
        <p:nvSpPr>
          <p:cNvPr id="15363" name="Rectangle 3"/>
          <p:cNvSpPr>
            <a:spLocks noGrp="1" noChangeArrowheads="1"/>
          </p:cNvSpPr>
          <p:nvPr>
            <p:ph type="body" idx="1"/>
          </p:nvPr>
        </p:nvSpPr>
        <p:spPr>
          <a:xfrm>
            <a:off x="611560" y="1484461"/>
            <a:ext cx="7488436" cy="4968875"/>
          </a:xfrm>
        </p:spPr>
        <p:txBody>
          <a:bodyPr/>
          <a:lstStyle/>
          <a:p>
            <a:pPr eaLnBrk="1" hangingPunct="1"/>
            <a:r>
              <a:rPr lang="en-GB" altLang="en-US" dirty="0" smtClean="0"/>
              <a:t>Wider ranging probes can be used to make an initial assessment of what the child knows and where the gaps are.</a:t>
            </a:r>
          </a:p>
          <a:p>
            <a:pPr eaLnBrk="1" hangingPunct="1"/>
            <a:r>
              <a:rPr lang="en-GB" altLang="en-US" dirty="0" smtClean="0"/>
              <a:t>These will pinpoint a start point in the Letters and Sounds programme and show which phase to choose.</a:t>
            </a:r>
          </a:p>
          <a:p>
            <a:pPr eaLnBrk="1" hangingPunct="1"/>
            <a:r>
              <a:rPr lang="en-GB" altLang="en-US" dirty="0" smtClean="0"/>
              <a:t>The teaching programme will use more narrow range probes to teach and monitor the acquisition of skills on a step-by-step basis</a:t>
            </a:r>
          </a:p>
          <a:p>
            <a:pPr eaLnBrk="1" hangingPunct="1"/>
            <a:endParaRPr lang="en-GB" altLang="en-US" dirty="0" smtClean="0"/>
          </a:p>
        </p:txBody>
      </p:sp>
    </p:spTree>
    <p:extLst>
      <p:ext uri="{BB962C8B-B14F-4D97-AF65-F5344CB8AC3E}">
        <p14:creationId xmlns:p14="http://schemas.microsoft.com/office/powerpoint/2010/main" val="28644409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95289" y="115888"/>
            <a:ext cx="8281168" cy="649287"/>
          </a:xfrm>
        </p:spPr>
        <p:txBody>
          <a:bodyPr/>
          <a:lstStyle/>
          <a:p>
            <a:pPr algn="ctr" eaLnBrk="1" hangingPunct="1"/>
            <a:r>
              <a:rPr lang="en-GB" altLang="en-US" sz="3200" dirty="0" smtClean="0">
                <a:latin typeface="Arial" charset="0"/>
              </a:rPr>
              <a:t>Letters and Probes</a:t>
            </a:r>
          </a:p>
        </p:txBody>
      </p:sp>
      <p:sp>
        <p:nvSpPr>
          <p:cNvPr id="16387" name="Rectangle 4"/>
          <p:cNvSpPr>
            <a:spLocks noGrp="1" noChangeArrowheads="1"/>
          </p:cNvSpPr>
          <p:nvPr>
            <p:ph type="body" sz="half" idx="1"/>
          </p:nvPr>
        </p:nvSpPr>
        <p:spPr>
          <a:xfrm>
            <a:off x="473968" y="1196752"/>
            <a:ext cx="3810000" cy="4530725"/>
          </a:xfrm>
        </p:spPr>
        <p:txBody>
          <a:bodyPr/>
          <a:lstStyle/>
          <a:p>
            <a:pPr marL="0" indent="0" eaLnBrk="1" hangingPunct="1">
              <a:buNone/>
            </a:pPr>
            <a:r>
              <a:rPr lang="en-GB" altLang="en-US" sz="2400" b="1" dirty="0" smtClean="0"/>
              <a:t>Top Level Probes</a:t>
            </a:r>
          </a:p>
          <a:p>
            <a:pPr eaLnBrk="1" hangingPunct="1">
              <a:buFont typeface="Wingdings" pitchFamily="2" charset="2"/>
              <a:buNone/>
            </a:pPr>
            <a:endParaRPr lang="en-GB" altLang="en-US" sz="2400" dirty="0" smtClean="0"/>
          </a:p>
          <a:p>
            <a:pPr eaLnBrk="1" hangingPunct="1"/>
            <a:r>
              <a:rPr lang="en-GB" altLang="en-US" sz="2400" dirty="0" smtClean="0"/>
              <a:t>These are wide ranging probes which contain all the items and skills taught in a particular phase</a:t>
            </a:r>
          </a:p>
          <a:p>
            <a:pPr eaLnBrk="1" hangingPunct="1"/>
            <a:r>
              <a:rPr lang="en-GB" altLang="en-US" sz="2400" dirty="0" smtClean="0"/>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2"/>
          </p:nvPr>
        </p:nvSpPr>
        <p:spPr>
          <a:xfrm>
            <a:off x="4499992" y="1196752"/>
            <a:ext cx="3810000" cy="4530725"/>
          </a:xfrm>
        </p:spPr>
        <p:txBody>
          <a:bodyPr/>
          <a:lstStyle/>
          <a:p>
            <a:pPr marL="0" indent="0" eaLnBrk="1" hangingPunct="1">
              <a:buNone/>
            </a:pPr>
            <a:r>
              <a:rPr lang="en-GB" altLang="en-US" sz="2400" b="1" dirty="0" smtClean="0"/>
              <a:t>Subset probes</a:t>
            </a:r>
          </a:p>
          <a:p>
            <a:pPr eaLnBrk="1" hangingPunct="1"/>
            <a:endParaRPr lang="en-GB" altLang="en-US" sz="2400" b="1" dirty="0" smtClean="0"/>
          </a:p>
          <a:p>
            <a:pPr eaLnBrk="1" hangingPunct="1"/>
            <a:r>
              <a:rPr lang="en-GB" altLang="en-US" sz="2400" dirty="0" smtClean="0"/>
              <a:t>These are probes which contain a much narrower subset of skills</a:t>
            </a:r>
          </a:p>
          <a:p>
            <a:pPr eaLnBrk="1" hangingPunct="1"/>
            <a:r>
              <a:rPr lang="en-GB" altLang="en-US" sz="2400" dirty="0" smtClean="0"/>
              <a:t>Can be used to make teaching decisions for slower learning children</a:t>
            </a:r>
          </a:p>
          <a:p>
            <a:pPr eaLnBrk="1" hangingPunct="1"/>
            <a:r>
              <a:rPr lang="en-GB" altLang="en-US" sz="2400" dirty="0" smtClean="0"/>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29620155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17411" name="Rectangle 3"/>
          <p:cNvSpPr>
            <a:spLocks noGrp="1" noChangeArrowheads="1"/>
          </p:cNvSpPr>
          <p:nvPr>
            <p:ph type="body" idx="1"/>
          </p:nvPr>
        </p:nvSpPr>
        <p:spPr>
          <a:xfrm>
            <a:off x="755576" y="1412776"/>
            <a:ext cx="7272412" cy="4320480"/>
          </a:xfrm>
        </p:spPr>
        <p:txBody>
          <a:bodyPr/>
          <a:lstStyle/>
          <a:p>
            <a:pPr eaLnBrk="1" hangingPunct="1"/>
            <a:r>
              <a:rPr lang="en-GB" altLang="en-US" dirty="0" smtClean="0"/>
              <a:t>Use the Top Level Probes from </a:t>
            </a:r>
            <a:r>
              <a:rPr lang="en-GB" altLang="en-US" b="1" dirty="0" smtClean="0"/>
              <a:t>Phase 2 of </a:t>
            </a:r>
            <a:r>
              <a:rPr lang="en-GB" altLang="en-US" dirty="0" smtClean="0"/>
              <a:t>Letters and Sounds (p48, p69-70).  Copies of these are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23910107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00113" y="260350"/>
            <a:ext cx="7772400" cy="1143000"/>
          </a:xfrm>
        </p:spPr>
        <p:txBody>
          <a:bodyPr/>
          <a:lstStyle/>
          <a:p>
            <a:pPr algn="ctr" eaLnBrk="1" hangingPunct="1"/>
            <a:r>
              <a:rPr lang="en-GB" altLang="en-US" sz="3200" dirty="0" smtClean="0">
                <a:latin typeface="Arial" charset="0"/>
              </a:rPr>
              <a:t>Initial Assessment</a:t>
            </a:r>
          </a:p>
        </p:txBody>
      </p:sp>
      <p:sp>
        <p:nvSpPr>
          <p:cNvPr id="18435" name="Rectangle 3"/>
          <p:cNvSpPr>
            <a:spLocks noGrp="1" noChangeArrowheads="1"/>
          </p:cNvSpPr>
          <p:nvPr>
            <p:ph type="body" idx="1"/>
          </p:nvPr>
        </p:nvSpPr>
        <p:spPr>
          <a:xfrm>
            <a:off x="899592" y="1628800"/>
            <a:ext cx="7128396" cy="4305275"/>
          </a:xfrm>
        </p:spPr>
        <p:txBody>
          <a:bodyPr/>
          <a:lstStyle/>
          <a:p>
            <a:pPr eaLnBrk="1" hangingPunct="1"/>
            <a:r>
              <a:rPr lang="en-GB" altLang="en-US" dirty="0" smtClean="0"/>
              <a:t>Tell the child you are going to show him/her a grid of words which you want him to read out loud to you, once you say “start”.</a:t>
            </a:r>
          </a:p>
          <a:p>
            <a:pPr eaLnBrk="1" hangingPunct="1"/>
            <a:r>
              <a:rPr lang="en-GB" altLang="en-US" dirty="0" smtClean="0"/>
              <a:t>Use a 1 minute </a:t>
            </a:r>
            <a:r>
              <a:rPr lang="en-GB" altLang="en-US" dirty="0" err="1" smtClean="0"/>
              <a:t>sandtimer</a:t>
            </a:r>
            <a:r>
              <a:rPr lang="en-GB" altLang="en-US" dirty="0" smtClean="0"/>
              <a:t> or </a:t>
            </a:r>
            <a:r>
              <a:rPr lang="en-GB" altLang="en-US" dirty="0" err="1" smtClean="0"/>
              <a:t>stopclock</a:t>
            </a:r>
            <a:r>
              <a:rPr lang="en-GB" altLang="en-US" dirty="0" smtClean="0"/>
              <a:t> counting down from 60 seconds to tell you when the 1 minute probe is up</a:t>
            </a:r>
          </a:p>
          <a:p>
            <a:pPr eaLnBrk="1" hangingPunct="1"/>
            <a:r>
              <a:rPr lang="en-GB" altLang="en-US" dirty="0" smtClean="0"/>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18905864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19459" name="Rectangle 3"/>
          <p:cNvSpPr>
            <a:spLocks noGrp="1" noChangeArrowheads="1"/>
          </p:cNvSpPr>
          <p:nvPr>
            <p:ph type="body" idx="1"/>
          </p:nvPr>
        </p:nvSpPr>
        <p:spPr>
          <a:xfrm>
            <a:off x="755576" y="1499989"/>
            <a:ext cx="7272412" cy="4737323"/>
          </a:xfrm>
        </p:spPr>
        <p:txBody>
          <a:bodyPr/>
          <a:lstStyle/>
          <a:p>
            <a:pPr eaLnBrk="1" hangingPunct="1">
              <a:lnSpc>
                <a:spcPct val="90000"/>
              </a:lnSpc>
            </a:pPr>
            <a:r>
              <a:rPr lang="en-GB" altLang="en-US" dirty="0" smtClean="0"/>
              <a:t>When the </a:t>
            </a:r>
            <a:r>
              <a:rPr lang="en-GB" altLang="en-US" dirty="0" err="1" smtClean="0"/>
              <a:t>sandtimer</a:t>
            </a:r>
            <a:r>
              <a:rPr lang="en-GB" altLang="en-US" dirty="0" smtClean="0"/>
              <a:t> finishes/</a:t>
            </a:r>
            <a:r>
              <a:rPr lang="en-GB" altLang="en-US" dirty="0" err="1" smtClean="0"/>
              <a:t>stopclock</a:t>
            </a:r>
            <a:r>
              <a:rPr lang="en-GB" altLang="en-US" dirty="0" smtClean="0"/>
              <a:t> beeps, stop the child, thank them, and share how they did.</a:t>
            </a:r>
          </a:p>
          <a:p>
            <a:pPr eaLnBrk="1" hangingPunct="1">
              <a:lnSpc>
                <a:spcPct val="90000"/>
              </a:lnSpc>
            </a:pPr>
            <a:r>
              <a:rPr lang="en-GB" altLang="en-US" dirty="0" smtClean="0"/>
              <a:t>On your chart, note the probe given, put in the number of correct/incorrect responses the child gives, and make a note of specific problem words.</a:t>
            </a:r>
          </a:p>
          <a:p>
            <a:pPr eaLnBrk="1" hangingPunct="1">
              <a:lnSpc>
                <a:spcPct val="90000"/>
              </a:lnSpc>
            </a:pPr>
            <a:r>
              <a:rPr lang="en-GB" altLang="en-US" dirty="0" smtClean="0"/>
              <a:t>Stop when the pupil shows more errors than correct responses or earlier if failure is becoming obvious.</a:t>
            </a:r>
          </a:p>
        </p:txBody>
      </p:sp>
    </p:spTree>
    <p:extLst>
      <p:ext uri="{BB962C8B-B14F-4D97-AF65-F5344CB8AC3E}">
        <p14:creationId xmlns:p14="http://schemas.microsoft.com/office/powerpoint/2010/main" val="10153504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20483" name="Rectangle 3"/>
          <p:cNvSpPr>
            <a:spLocks noGrp="1" noChangeArrowheads="1"/>
          </p:cNvSpPr>
          <p:nvPr>
            <p:ph type="body" idx="1"/>
          </p:nvPr>
        </p:nvSpPr>
        <p:spPr>
          <a:xfrm>
            <a:off x="827584" y="1556792"/>
            <a:ext cx="7200404" cy="4176464"/>
          </a:xfrm>
        </p:spPr>
        <p:txBody>
          <a:bodyPr/>
          <a:lstStyle/>
          <a:p>
            <a:pPr eaLnBrk="1" hangingPunct="1"/>
            <a:r>
              <a:rPr lang="en-GB" altLang="en-US" dirty="0" smtClean="0"/>
              <a:t>Use the ‘</a:t>
            </a:r>
            <a:r>
              <a:rPr lang="en-GB" altLang="en-US" b="1" dirty="0" smtClean="0"/>
              <a:t>100 high-frequency words in order’, (Letters and Sounds Page 193). </a:t>
            </a:r>
            <a:r>
              <a:rPr lang="en-GB" altLang="en-US" dirty="0" smtClean="0"/>
              <a:t>Copies of these are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26130360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21507" name="Rectangle 3"/>
          <p:cNvSpPr>
            <a:spLocks noGrp="1" noChangeArrowheads="1"/>
          </p:cNvSpPr>
          <p:nvPr>
            <p:ph type="body" idx="1"/>
          </p:nvPr>
        </p:nvSpPr>
        <p:spPr>
          <a:xfrm>
            <a:off x="683568" y="1484784"/>
            <a:ext cx="7488684" cy="3528392"/>
          </a:xfrm>
        </p:spPr>
        <p:txBody>
          <a:bodyPr/>
          <a:lstStyle/>
          <a:p>
            <a:pPr eaLnBrk="1" hangingPunct="1"/>
            <a:r>
              <a:rPr lang="en-GB" altLang="en-US" dirty="0" smtClean="0"/>
              <a:t>Remember to record your results for each probe sheet administered on the summary sheet in your pack.</a:t>
            </a:r>
          </a:p>
          <a:p>
            <a:pPr eaLnBrk="1" hangingPunct="1"/>
            <a:r>
              <a:rPr lang="en-GB" altLang="en-US" dirty="0" smtClean="0"/>
              <a:t>Bring your results back to session 2.  We will use these to plan the next steps in using a Precision Teaching Programme.</a:t>
            </a:r>
          </a:p>
        </p:txBody>
      </p:sp>
    </p:spTree>
    <p:extLst>
      <p:ext uri="{BB962C8B-B14F-4D97-AF65-F5344CB8AC3E}">
        <p14:creationId xmlns:p14="http://schemas.microsoft.com/office/powerpoint/2010/main" val="35698432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95288" y="115888"/>
            <a:ext cx="8497887" cy="864840"/>
          </a:xfrm>
        </p:spPr>
        <p:txBody>
          <a:bodyPr/>
          <a:lstStyle/>
          <a:p>
            <a:pPr algn="ctr" eaLnBrk="1" hangingPunct="1"/>
            <a:r>
              <a:rPr lang="en-GB" altLang="en-US" sz="3200" dirty="0" smtClean="0">
                <a:latin typeface="Arial" charset="0"/>
              </a:rPr>
              <a:t>Thank You</a:t>
            </a:r>
          </a:p>
        </p:txBody>
      </p:sp>
      <p:sp>
        <p:nvSpPr>
          <p:cNvPr id="22531" name="Rectangle 3"/>
          <p:cNvSpPr>
            <a:spLocks noGrp="1" noChangeArrowheads="1"/>
          </p:cNvSpPr>
          <p:nvPr>
            <p:ph type="body" idx="1"/>
          </p:nvPr>
        </p:nvSpPr>
        <p:spPr>
          <a:xfrm>
            <a:off x="1403648" y="965201"/>
            <a:ext cx="6264696" cy="3471912"/>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t>Please do not use or copy any slides without prior permission from RBWM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2364710165"/>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2353</TotalTime>
  <Words>1947</Words>
  <Application>Microsoft Office PowerPoint</Application>
  <PresentationFormat>On-screen Show (4:3)</PresentationFormat>
  <Paragraphs>242</Paragraphs>
  <Slides>20</Slides>
  <Notes>19</Notes>
  <HiddenSlides>0</HiddenSlides>
  <MMClips>0</MMClips>
  <ScaleCrop>false</ScaleCrop>
  <HeadingPairs>
    <vt:vector size="4" baseType="variant">
      <vt:variant>
        <vt:lpstr>Theme</vt:lpstr>
      </vt:variant>
      <vt:variant>
        <vt:i4>4</vt:i4>
      </vt:variant>
      <vt:variant>
        <vt:lpstr>Slide Titles</vt:lpstr>
      </vt:variant>
      <vt:variant>
        <vt:i4>20</vt:i4>
      </vt:variant>
    </vt:vector>
  </HeadingPairs>
  <TitlesOfParts>
    <vt:vector size="24" baseType="lpstr">
      <vt:lpstr>Default Design</vt:lpstr>
      <vt:lpstr>1_Custom Design</vt:lpstr>
      <vt:lpstr>Custom Design</vt:lpstr>
      <vt:lpstr>2_Custom Design</vt:lpstr>
      <vt:lpstr>PowerPoint Presentation</vt:lpstr>
      <vt:lpstr>Aim for Session 1</vt:lpstr>
      <vt:lpstr>Preview of upcoming sessions</vt:lpstr>
      <vt:lpstr>Preview of upcoming sessions</vt:lpstr>
      <vt:lpstr>What is Precision Teaching?</vt:lpstr>
      <vt:lpstr>When can Precision Teaching be used?</vt:lpstr>
      <vt:lpstr>Activity</vt:lpstr>
      <vt:lpstr>PowerPoint Presentation</vt:lpstr>
      <vt:lpstr>How do you do Precision Teaching?</vt:lpstr>
      <vt:lpstr>Initial Assessment – using ‘Letters and Sounds’</vt:lpstr>
      <vt:lpstr>Initial Assessment – using ‘Letters and Sounds’</vt:lpstr>
      <vt:lpstr>Probes</vt:lpstr>
      <vt:lpstr>Probes </vt:lpstr>
      <vt:lpstr>Letters and Probes</vt:lpstr>
      <vt:lpstr>Initial Assessment</vt:lpstr>
      <vt:lpstr>Initial Assessment</vt:lpstr>
      <vt:lpstr>Initial Assessment</vt:lpstr>
      <vt:lpstr>Initial Assessment</vt:lpstr>
      <vt:lpstr>Initial Assessment</vt:lpstr>
      <vt:lpstr>Thank You</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270</cp:revision>
  <cp:lastPrinted>2016-10-27T13:33:55Z</cp:lastPrinted>
  <dcterms:created xsi:type="dcterms:W3CDTF">2009-10-14T09:14:19Z</dcterms:created>
  <dcterms:modified xsi:type="dcterms:W3CDTF">2017-06-05T14:14:47Z</dcterms:modified>
</cp:coreProperties>
</file>